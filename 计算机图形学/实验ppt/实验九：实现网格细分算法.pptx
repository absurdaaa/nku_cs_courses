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66" r:id="rId3"/>
    <p:sldId id="267" r:id="rId4"/>
    <p:sldId id="281" r:id="rId5"/>
    <p:sldId id="358" r:id="rId6"/>
    <p:sldId id="360" r:id="rId7"/>
    <p:sldId id="359" r:id="rId8"/>
    <p:sldId id="369" r:id="rId9"/>
    <p:sldId id="333" r:id="rId10"/>
    <p:sldId id="331" r:id="rId11"/>
    <p:sldId id="332" r:id="rId12"/>
    <p:sldId id="370" r:id="rId13"/>
    <p:sldId id="302" r:id="rId14"/>
    <p:sldId id="338" r:id="rId15"/>
    <p:sldId id="339" r:id="rId16"/>
    <p:sldId id="330" r:id="rId17"/>
    <p:sldId id="345" r:id="rId18"/>
    <p:sldId id="347" r:id="rId19"/>
    <p:sldId id="348" r:id="rId20"/>
    <p:sldId id="371" r:id="rId21"/>
    <p:sldId id="372" r:id="rId22"/>
    <p:sldId id="374" r:id="rId23"/>
    <p:sldId id="373" r:id="rId24"/>
    <p:sldId id="375" r:id="rId25"/>
    <p:sldId id="376" r:id="rId26"/>
    <p:sldId id="340" r:id="rId27"/>
    <p:sldId id="341" r:id="rId28"/>
    <p:sldId id="346" r:id="rId29"/>
    <p:sldId id="349" r:id="rId30"/>
    <p:sldId id="377" r:id="rId31"/>
    <p:sldId id="378" r:id="rId32"/>
    <p:sldId id="379" r:id="rId33"/>
    <p:sldId id="343" r:id="rId34"/>
    <p:sldId id="344" r:id="rId35"/>
    <p:sldId id="342" r:id="rId36"/>
    <p:sldId id="350"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1A1A93A-E54C-4F74-BC6D-94BF28794697}">
          <p14:sldIdLst>
            <p14:sldId id="256"/>
            <p14:sldId id="266"/>
            <p14:sldId id="267"/>
            <p14:sldId id="281"/>
            <p14:sldId id="358"/>
            <p14:sldId id="360"/>
            <p14:sldId id="359"/>
            <p14:sldId id="369"/>
            <p14:sldId id="333"/>
            <p14:sldId id="331"/>
            <p14:sldId id="332"/>
            <p14:sldId id="370"/>
            <p14:sldId id="302"/>
            <p14:sldId id="338"/>
            <p14:sldId id="339"/>
            <p14:sldId id="330"/>
            <p14:sldId id="345"/>
            <p14:sldId id="347"/>
            <p14:sldId id="348"/>
            <p14:sldId id="371"/>
            <p14:sldId id="372"/>
            <p14:sldId id="374"/>
            <p14:sldId id="373"/>
            <p14:sldId id="375"/>
            <p14:sldId id="376"/>
            <p14:sldId id="340"/>
            <p14:sldId id="341"/>
            <p14:sldId id="346"/>
            <p14:sldId id="349"/>
            <p14:sldId id="377"/>
            <p14:sldId id="378"/>
            <p14:sldId id="379"/>
            <p14:sldId id="343"/>
            <p14:sldId id="344"/>
            <p14:sldId id="342"/>
            <p14:sldId id="35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0559" autoAdjust="0"/>
  </p:normalViewPr>
  <p:slideViewPr>
    <p:cSldViewPr snapToGrid="0">
      <p:cViewPr varScale="1">
        <p:scale>
          <a:sx n="66" d="100"/>
          <a:sy n="66" d="100"/>
        </p:scale>
        <p:origin x="153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EB22FE-3380-40FC-AD51-FABA7F0B2AF2}" type="datetimeFigureOut">
              <a:rPr lang="zh-CN" altLang="en-US" smtClean="0"/>
              <a:t>2025-12-21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7261ED-8B89-4665-8824-4B8326212B1D}" type="slidenum">
              <a:rPr lang="zh-CN" altLang="en-US" smtClean="0"/>
              <a:t>‹#›</a:t>
            </a:fld>
            <a:endParaRPr lang="zh-CN" altLang="en-US"/>
          </a:p>
        </p:txBody>
      </p:sp>
    </p:spTree>
    <p:extLst>
      <p:ext uri="{BB962C8B-B14F-4D97-AF65-F5344CB8AC3E}">
        <p14:creationId xmlns:p14="http://schemas.microsoft.com/office/powerpoint/2010/main" val="3474476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4</a:t>
            </a:fld>
            <a:endParaRPr lang="zh-CN" altLang="en-US"/>
          </a:p>
        </p:txBody>
      </p:sp>
    </p:spTree>
    <p:extLst>
      <p:ext uri="{BB962C8B-B14F-4D97-AF65-F5344CB8AC3E}">
        <p14:creationId xmlns:p14="http://schemas.microsoft.com/office/powerpoint/2010/main" val="1166805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9429F-9904-CACE-4725-BBB3A963AD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FE4F841-54C9-D67B-CF2E-8B40559A53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00F0EE-D624-3201-D9D5-70C397681F3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45BF314-C5F4-1731-E63D-4E35D2FE82F1}"/>
              </a:ext>
            </a:extLst>
          </p:cNvPr>
          <p:cNvSpPr>
            <a:spLocks noGrp="1"/>
          </p:cNvSpPr>
          <p:nvPr>
            <p:ph type="sldNum" sz="quarter" idx="5"/>
          </p:nvPr>
        </p:nvSpPr>
        <p:spPr/>
        <p:txBody>
          <a:bodyPr/>
          <a:lstStyle/>
          <a:p>
            <a:fld id="{9E7261ED-8B89-4665-8824-4B8326212B1D}" type="slidenum">
              <a:rPr lang="zh-CN" altLang="en-US" smtClean="0"/>
              <a:t>5</a:t>
            </a:fld>
            <a:endParaRPr lang="zh-CN" altLang="en-US"/>
          </a:p>
        </p:txBody>
      </p:sp>
    </p:spTree>
    <p:extLst>
      <p:ext uri="{BB962C8B-B14F-4D97-AF65-F5344CB8AC3E}">
        <p14:creationId xmlns:p14="http://schemas.microsoft.com/office/powerpoint/2010/main" val="2036825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5225-9BC8-25BC-DCF6-0F2515BC94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3A6CBB2-21E3-5298-9708-4BB218D7ABA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AE9F9C-E85E-D09A-A051-D5F73A9991C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D654E30-1123-4C43-F6D0-4343B2FB08BB}"/>
              </a:ext>
            </a:extLst>
          </p:cNvPr>
          <p:cNvSpPr>
            <a:spLocks noGrp="1"/>
          </p:cNvSpPr>
          <p:nvPr>
            <p:ph type="sldNum" sz="quarter" idx="5"/>
          </p:nvPr>
        </p:nvSpPr>
        <p:spPr/>
        <p:txBody>
          <a:bodyPr/>
          <a:lstStyle/>
          <a:p>
            <a:fld id="{9E7261ED-8B89-4665-8824-4B8326212B1D}" type="slidenum">
              <a:rPr lang="zh-CN" altLang="en-US" smtClean="0"/>
              <a:t>6</a:t>
            </a:fld>
            <a:endParaRPr lang="zh-CN" altLang="en-US"/>
          </a:p>
        </p:txBody>
      </p:sp>
    </p:spTree>
    <p:extLst>
      <p:ext uri="{BB962C8B-B14F-4D97-AF65-F5344CB8AC3E}">
        <p14:creationId xmlns:p14="http://schemas.microsoft.com/office/powerpoint/2010/main" val="5019760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7</a:t>
            </a:fld>
            <a:endParaRPr lang="zh-CN" altLang="en-US"/>
          </a:p>
        </p:txBody>
      </p:sp>
    </p:spTree>
    <p:extLst>
      <p:ext uri="{BB962C8B-B14F-4D97-AF65-F5344CB8AC3E}">
        <p14:creationId xmlns:p14="http://schemas.microsoft.com/office/powerpoint/2010/main" val="1811492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9252A9-AF64-5A32-A1CD-38ADF9A92CB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9CE623-9BD9-10B4-3266-68936C94CF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EA47A7-42FD-D29C-51A0-33330C8F0F2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06F5671-CFC6-C2E3-E23E-9F36430DCD1B}"/>
              </a:ext>
            </a:extLst>
          </p:cNvPr>
          <p:cNvSpPr>
            <a:spLocks noGrp="1"/>
          </p:cNvSpPr>
          <p:nvPr>
            <p:ph type="sldNum" sz="quarter" idx="5"/>
          </p:nvPr>
        </p:nvSpPr>
        <p:spPr/>
        <p:txBody>
          <a:bodyPr/>
          <a:lstStyle/>
          <a:p>
            <a:fld id="{9E7261ED-8B89-4665-8824-4B8326212B1D}" type="slidenum">
              <a:rPr lang="zh-CN" altLang="en-US" smtClean="0"/>
              <a:t>8</a:t>
            </a:fld>
            <a:endParaRPr lang="zh-CN" altLang="en-US"/>
          </a:p>
        </p:txBody>
      </p:sp>
    </p:spTree>
    <p:extLst>
      <p:ext uri="{BB962C8B-B14F-4D97-AF65-F5344CB8AC3E}">
        <p14:creationId xmlns:p14="http://schemas.microsoft.com/office/powerpoint/2010/main" val="3388309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10</a:t>
            </a:fld>
            <a:endParaRPr lang="zh-CN" altLang="en-US"/>
          </a:p>
        </p:txBody>
      </p:sp>
    </p:spTree>
    <p:extLst>
      <p:ext uri="{BB962C8B-B14F-4D97-AF65-F5344CB8AC3E}">
        <p14:creationId xmlns:p14="http://schemas.microsoft.com/office/powerpoint/2010/main" val="36762338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EF619-ADC2-1E07-2C56-18A718D57A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A51FCE2-621E-D0E7-F5D4-01D5D82093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2D5AE5-8AD9-AC39-621B-F40C3E7B77E7}"/>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997126D-9AC3-5576-D5E3-F1FB96CB4709}"/>
              </a:ext>
            </a:extLst>
          </p:cNvPr>
          <p:cNvSpPr>
            <a:spLocks noGrp="1"/>
          </p:cNvSpPr>
          <p:nvPr>
            <p:ph type="sldNum" sz="quarter" idx="5"/>
          </p:nvPr>
        </p:nvSpPr>
        <p:spPr/>
        <p:txBody>
          <a:bodyPr/>
          <a:lstStyle/>
          <a:p>
            <a:fld id="{9E7261ED-8B89-4665-8824-4B8326212B1D}" type="slidenum">
              <a:rPr lang="zh-CN" altLang="en-US" smtClean="0"/>
              <a:t>11</a:t>
            </a:fld>
            <a:endParaRPr lang="zh-CN" altLang="en-US"/>
          </a:p>
        </p:txBody>
      </p:sp>
    </p:spTree>
    <p:extLst>
      <p:ext uri="{BB962C8B-B14F-4D97-AF65-F5344CB8AC3E}">
        <p14:creationId xmlns:p14="http://schemas.microsoft.com/office/powerpoint/2010/main" val="2054866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8A345-7E04-5A6F-DECD-DEF54FD5A5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C1813D-4DB9-86B5-494A-181A0A63E98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7FCA6B7-EB86-929B-277E-A21EDBD8269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AC83F447-8860-C3FF-B665-72BC7F6DF4A7}"/>
              </a:ext>
            </a:extLst>
          </p:cNvPr>
          <p:cNvSpPr>
            <a:spLocks noGrp="1"/>
          </p:cNvSpPr>
          <p:nvPr>
            <p:ph type="sldNum" sz="quarter" idx="5"/>
          </p:nvPr>
        </p:nvSpPr>
        <p:spPr/>
        <p:txBody>
          <a:bodyPr/>
          <a:lstStyle/>
          <a:p>
            <a:fld id="{9E7261ED-8B89-4665-8824-4B8326212B1D}" type="slidenum">
              <a:rPr lang="zh-CN" altLang="en-US" smtClean="0"/>
              <a:t>12</a:t>
            </a:fld>
            <a:endParaRPr lang="zh-CN" altLang="en-US"/>
          </a:p>
        </p:txBody>
      </p:sp>
    </p:spTree>
    <p:extLst>
      <p:ext uri="{BB962C8B-B14F-4D97-AF65-F5344CB8AC3E}">
        <p14:creationId xmlns:p14="http://schemas.microsoft.com/office/powerpoint/2010/main" val="906565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14</a:t>
            </a:fld>
            <a:endParaRPr lang="zh-CN" altLang="en-US"/>
          </a:p>
        </p:txBody>
      </p:sp>
    </p:spTree>
    <p:extLst>
      <p:ext uri="{BB962C8B-B14F-4D97-AF65-F5344CB8AC3E}">
        <p14:creationId xmlns:p14="http://schemas.microsoft.com/office/powerpoint/2010/main" val="3602175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16</a:t>
            </a:fld>
            <a:endParaRPr lang="zh-CN" altLang="en-US"/>
          </a:p>
        </p:txBody>
      </p:sp>
    </p:spTree>
    <p:extLst>
      <p:ext uri="{BB962C8B-B14F-4D97-AF65-F5344CB8AC3E}">
        <p14:creationId xmlns:p14="http://schemas.microsoft.com/office/powerpoint/2010/main" val="1439331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20</a:t>
            </a:fld>
            <a:endParaRPr lang="zh-CN" altLang="en-US"/>
          </a:p>
        </p:txBody>
      </p:sp>
    </p:spTree>
    <p:extLst>
      <p:ext uri="{BB962C8B-B14F-4D97-AF65-F5344CB8AC3E}">
        <p14:creationId xmlns:p14="http://schemas.microsoft.com/office/powerpoint/2010/main" val="3688745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21</a:t>
            </a:fld>
            <a:endParaRPr lang="zh-CN" altLang="en-US"/>
          </a:p>
        </p:txBody>
      </p:sp>
    </p:spTree>
    <p:extLst>
      <p:ext uri="{BB962C8B-B14F-4D97-AF65-F5344CB8AC3E}">
        <p14:creationId xmlns:p14="http://schemas.microsoft.com/office/powerpoint/2010/main" val="2660148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FAD83-B4FE-1108-918B-8D037B31EA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F59497-54EC-C763-AE06-DE1A3A1953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20ADDBF-B4B2-4D1E-DACE-B1E9EC81FEE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065AA97-3E5B-5008-5FC2-A8BBB6D6FBAF}"/>
              </a:ext>
            </a:extLst>
          </p:cNvPr>
          <p:cNvSpPr>
            <a:spLocks noGrp="1"/>
          </p:cNvSpPr>
          <p:nvPr>
            <p:ph type="sldNum" sz="quarter" idx="5"/>
          </p:nvPr>
        </p:nvSpPr>
        <p:spPr/>
        <p:txBody>
          <a:bodyPr/>
          <a:lstStyle/>
          <a:p>
            <a:fld id="{9E7261ED-8B89-4665-8824-4B8326212B1D}" type="slidenum">
              <a:rPr lang="zh-CN" altLang="en-US" smtClean="0"/>
              <a:t>22</a:t>
            </a:fld>
            <a:endParaRPr lang="zh-CN" altLang="en-US"/>
          </a:p>
        </p:txBody>
      </p:sp>
    </p:spTree>
    <p:extLst>
      <p:ext uri="{BB962C8B-B14F-4D97-AF65-F5344CB8AC3E}">
        <p14:creationId xmlns:p14="http://schemas.microsoft.com/office/powerpoint/2010/main" val="1522617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9E7261ED-8B89-4665-8824-4B8326212B1D}" type="slidenum">
              <a:rPr lang="zh-CN" altLang="en-US" smtClean="0"/>
              <a:t>23</a:t>
            </a:fld>
            <a:endParaRPr lang="zh-CN" altLang="en-US"/>
          </a:p>
        </p:txBody>
      </p:sp>
    </p:spTree>
    <p:extLst>
      <p:ext uri="{BB962C8B-B14F-4D97-AF65-F5344CB8AC3E}">
        <p14:creationId xmlns:p14="http://schemas.microsoft.com/office/powerpoint/2010/main" val="3871684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76A91-1F39-D45D-7C84-14066CE6EB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CD1A39-6B1B-46E0-830E-67EC614E4E1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13CC76-5906-D2E0-097D-38737C205D02}"/>
              </a:ext>
            </a:extLst>
          </p:cNvPr>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BDB75BD7-4DF2-59E5-3FA2-C5F0FC1DA8DF}"/>
              </a:ext>
            </a:extLst>
          </p:cNvPr>
          <p:cNvSpPr>
            <a:spLocks noGrp="1"/>
          </p:cNvSpPr>
          <p:nvPr>
            <p:ph type="sldNum" sz="quarter" idx="5"/>
          </p:nvPr>
        </p:nvSpPr>
        <p:spPr/>
        <p:txBody>
          <a:bodyPr/>
          <a:lstStyle/>
          <a:p>
            <a:fld id="{9E7261ED-8B89-4665-8824-4B8326212B1D}" type="slidenum">
              <a:rPr lang="zh-CN" altLang="en-US" smtClean="0"/>
              <a:t>24</a:t>
            </a:fld>
            <a:endParaRPr lang="zh-CN" altLang="en-US"/>
          </a:p>
        </p:txBody>
      </p:sp>
    </p:spTree>
    <p:extLst>
      <p:ext uri="{BB962C8B-B14F-4D97-AF65-F5344CB8AC3E}">
        <p14:creationId xmlns:p14="http://schemas.microsoft.com/office/powerpoint/2010/main" val="10488511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B6398-D93A-8426-5272-9371363AD5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E2F7A3-BF71-2BA0-7141-D6CD1805A9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487360-445F-6B88-C938-DB066D529DEA}"/>
              </a:ext>
            </a:extLst>
          </p:cNvPr>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84F6282E-0307-9434-BB7A-EBFC1180B480}"/>
              </a:ext>
            </a:extLst>
          </p:cNvPr>
          <p:cNvSpPr>
            <a:spLocks noGrp="1"/>
          </p:cNvSpPr>
          <p:nvPr>
            <p:ph type="sldNum" sz="quarter" idx="5"/>
          </p:nvPr>
        </p:nvSpPr>
        <p:spPr/>
        <p:txBody>
          <a:bodyPr/>
          <a:lstStyle/>
          <a:p>
            <a:fld id="{9E7261ED-8B89-4665-8824-4B8326212B1D}" type="slidenum">
              <a:rPr lang="zh-CN" altLang="en-US" smtClean="0"/>
              <a:t>25</a:t>
            </a:fld>
            <a:endParaRPr lang="zh-CN" altLang="en-US"/>
          </a:p>
        </p:txBody>
      </p:sp>
    </p:spTree>
    <p:extLst>
      <p:ext uri="{BB962C8B-B14F-4D97-AF65-F5344CB8AC3E}">
        <p14:creationId xmlns:p14="http://schemas.microsoft.com/office/powerpoint/2010/main" val="1182658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26</a:t>
            </a:fld>
            <a:endParaRPr lang="zh-CN" altLang="en-US"/>
          </a:p>
        </p:txBody>
      </p:sp>
    </p:spTree>
    <p:extLst>
      <p:ext uri="{BB962C8B-B14F-4D97-AF65-F5344CB8AC3E}">
        <p14:creationId xmlns:p14="http://schemas.microsoft.com/office/powerpoint/2010/main" val="42734967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34E13-2BC6-A7F1-09B5-176C1834EF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FAA220-0084-AA89-BE92-A2FC23C949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CC4676C-80C1-1920-E63A-5F7B041EA1B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4EB0C52-829F-15EC-6C62-842EDA7B14D0}"/>
              </a:ext>
            </a:extLst>
          </p:cNvPr>
          <p:cNvSpPr>
            <a:spLocks noGrp="1"/>
          </p:cNvSpPr>
          <p:nvPr>
            <p:ph type="sldNum" sz="quarter" idx="5"/>
          </p:nvPr>
        </p:nvSpPr>
        <p:spPr/>
        <p:txBody>
          <a:bodyPr/>
          <a:lstStyle/>
          <a:p>
            <a:fld id="{9E7261ED-8B89-4665-8824-4B8326212B1D}" type="slidenum">
              <a:rPr lang="zh-CN" altLang="en-US" smtClean="0"/>
              <a:t>30</a:t>
            </a:fld>
            <a:endParaRPr lang="zh-CN" altLang="en-US"/>
          </a:p>
        </p:txBody>
      </p:sp>
    </p:spTree>
    <p:extLst>
      <p:ext uri="{BB962C8B-B14F-4D97-AF65-F5344CB8AC3E}">
        <p14:creationId xmlns:p14="http://schemas.microsoft.com/office/powerpoint/2010/main" val="13011253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59E73-4D67-EA72-5112-6E16231DD9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492B05D-AB33-4270-F766-BC739BD611C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995F7C5-0349-A8DA-6FCC-8C0954B0518E}"/>
              </a:ext>
            </a:extLst>
          </p:cNvPr>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9A352E0A-B3D7-2F9A-7533-724625CD733C}"/>
              </a:ext>
            </a:extLst>
          </p:cNvPr>
          <p:cNvSpPr>
            <a:spLocks noGrp="1"/>
          </p:cNvSpPr>
          <p:nvPr>
            <p:ph type="sldNum" sz="quarter" idx="5"/>
          </p:nvPr>
        </p:nvSpPr>
        <p:spPr/>
        <p:txBody>
          <a:bodyPr/>
          <a:lstStyle/>
          <a:p>
            <a:fld id="{9E7261ED-8B89-4665-8824-4B8326212B1D}" type="slidenum">
              <a:rPr lang="zh-CN" altLang="en-US" smtClean="0"/>
              <a:t>31</a:t>
            </a:fld>
            <a:endParaRPr lang="zh-CN" altLang="en-US"/>
          </a:p>
        </p:txBody>
      </p:sp>
    </p:spTree>
    <p:extLst>
      <p:ext uri="{BB962C8B-B14F-4D97-AF65-F5344CB8AC3E}">
        <p14:creationId xmlns:p14="http://schemas.microsoft.com/office/powerpoint/2010/main" val="29579810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A3188-5527-CBDE-E910-19C6A4F9FA6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6773EC-4BF1-CAB5-E449-4DA814FE11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06F4045-6B9D-5B57-CEB6-9EEA252C8E10}"/>
              </a:ext>
            </a:extLst>
          </p:cNvPr>
          <p:cNvSpPr>
            <a:spLocks noGrp="1"/>
          </p:cNvSpPr>
          <p:nvPr>
            <p:ph type="body" idx="1"/>
          </p:nvPr>
        </p:nvSpPr>
        <p:spPr/>
        <p:txBody>
          <a:bodyPr/>
          <a:lstStyle/>
          <a:p>
            <a:endParaRPr lang="zh-CN" altLang="en-US" sz="1200" kern="1200" dirty="0">
              <a:solidFill>
                <a:schemeClr val="tx1"/>
              </a:solidFill>
              <a:effectLst/>
              <a:latin typeface="+mn-lt"/>
              <a:ea typeface="+mn-ea"/>
              <a:cs typeface="+mn-cs"/>
            </a:endParaRPr>
          </a:p>
        </p:txBody>
      </p:sp>
      <p:sp>
        <p:nvSpPr>
          <p:cNvPr id="4" name="灯片编号占位符 3">
            <a:extLst>
              <a:ext uri="{FF2B5EF4-FFF2-40B4-BE49-F238E27FC236}">
                <a16:creationId xmlns:a16="http://schemas.microsoft.com/office/drawing/2014/main" id="{55F6EFA9-AEBE-A244-9F90-4AA5F9774445}"/>
              </a:ext>
            </a:extLst>
          </p:cNvPr>
          <p:cNvSpPr>
            <a:spLocks noGrp="1"/>
          </p:cNvSpPr>
          <p:nvPr>
            <p:ph type="sldNum" sz="quarter" idx="5"/>
          </p:nvPr>
        </p:nvSpPr>
        <p:spPr/>
        <p:txBody>
          <a:bodyPr/>
          <a:lstStyle/>
          <a:p>
            <a:fld id="{9E7261ED-8B89-4665-8824-4B8326212B1D}" type="slidenum">
              <a:rPr lang="zh-CN" altLang="en-US" smtClean="0"/>
              <a:t>32</a:t>
            </a:fld>
            <a:endParaRPr lang="zh-CN" altLang="en-US"/>
          </a:p>
        </p:txBody>
      </p:sp>
    </p:spTree>
    <p:extLst>
      <p:ext uri="{BB962C8B-B14F-4D97-AF65-F5344CB8AC3E}">
        <p14:creationId xmlns:p14="http://schemas.microsoft.com/office/powerpoint/2010/main" val="6663331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E7261ED-8B89-4665-8824-4B8326212B1D}" type="slidenum">
              <a:rPr lang="zh-CN" altLang="en-US" smtClean="0"/>
              <a:t>35</a:t>
            </a:fld>
            <a:endParaRPr lang="zh-CN" altLang="en-US"/>
          </a:p>
        </p:txBody>
      </p:sp>
    </p:spTree>
    <p:extLst>
      <p:ext uri="{BB962C8B-B14F-4D97-AF65-F5344CB8AC3E}">
        <p14:creationId xmlns:p14="http://schemas.microsoft.com/office/powerpoint/2010/main" val="41447187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1DD0E-0661-D724-FA55-7B5884635BF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A0A0D90-6FA3-0266-3164-472345649D5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E4A255-FCE7-845A-5BD6-6DA5830B851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D1D830B-F804-3109-B09E-73FDA14EBB53}"/>
              </a:ext>
            </a:extLst>
          </p:cNvPr>
          <p:cNvSpPr>
            <a:spLocks noGrp="1"/>
          </p:cNvSpPr>
          <p:nvPr>
            <p:ph type="sldNum" sz="quarter" idx="5"/>
          </p:nvPr>
        </p:nvSpPr>
        <p:spPr/>
        <p:txBody>
          <a:bodyPr/>
          <a:lstStyle/>
          <a:p>
            <a:fld id="{9E7261ED-8B89-4665-8824-4B8326212B1D}" type="slidenum">
              <a:rPr lang="zh-CN" altLang="en-US" smtClean="0"/>
              <a:t>36</a:t>
            </a:fld>
            <a:endParaRPr lang="zh-CN" altLang="en-US"/>
          </a:p>
        </p:txBody>
      </p:sp>
    </p:spTree>
    <p:extLst>
      <p:ext uri="{BB962C8B-B14F-4D97-AF65-F5344CB8AC3E}">
        <p14:creationId xmlns:p14="http://schemas.microsoft.com/office/powerpoint/2010/main" val="954148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42DB742-DDDC-43C5-AF8F-BCEB0D03C077}" type="datetimeFigureOut">
              <a:rPr lang="zh-CN" altLang="en-US" smtClean="0"/>
              <a:t>2025-12-21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42DB742-DDDC-43C5-AF8F-BCEB0D03C077}" type="datetimeFigureOut">
              <a:rPr lang="zh-CN" altLang="en-US" smtClean="0"/>
              <a:t>2025-12-21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42DB742-DDDC-43C5-AF8F-BCEB0D03C077}" type="datetimeFigureOut">
              <a:rPr lang="zh-CN" altLang="en-US" smtClean="0"/>
              <a:t>2025-12-21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F42DB742-DDDC-43C5-AF8F-BCEB0D03C077}" type="datetimeFigureOut">
              <a:rPr lang="zh-CN" altLang="en-US" smtClean="0"/>
              <a:t>2025-12-21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F42DB742-DDDC-43C5-AF8F-BCEB0D03C077}" type="datetimeFigureOut">
              <a:rPr lang="zh-CN" altLang="en-US" smtClean="0"/>
              <a:t>2025-12-21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42DB742-DDDC-43C5-AF8F-BCEB0D03C077}" type="datetimeFigureOut">
              <a:rPr lang="zh-CN" altLang="en-US" smtClean="0"/>
              <a:t>2025-12-21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42DB742-DDDC-43C5-AF8F-BCEB0D03C077}" type="datetimeFigureOut">
              <a:rPr lang="zh-CN" altLang="en-US" smtClean="0"/>
              <a:t>2025-12-21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42DB742-DDDC-43C5-AF8F-BCEB0D03C077}" type="datetimeFigureOut">
              <a:rPr lang="zh-CN" altLang="en-US" smtClean="0"/>
              <a:t>2025-12-21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42DB742-DDDC-43C5-AF8F-BCEB0D03C077}" type="datetimeFigureOut">
              <a:rPr lang="zh-CN" altLang="en-US" smtClean="0"/>
              <a:t>2025-12-21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42DB742-DDDC-43C5-AF8F-BCEB0D03C077}" type="datetimeFigureOut">
              <a:rPr lang="zh-CN" altLang="en-US" smtClean="0"/>
              <a:t>2025-12-21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F42DB742-DDDC-43C5-AF8F-BCEB0D03C077}" type="datetimeFigureOut">
              <a:rPr lang="zh-CN" altLang="en-US" smtClean="0"/>
              <a:t>2025-12-21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63A6740-7301-4003-9525-7F11AF68177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2DB742-DDDC-43C5-AF8F-BCEB0D03C077}" type="datetimeFigureOut">
              <a:rPr lang="zh-CN" altLang="en-US" smtClean="0"/>
              <a:t>2025-12-21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3A6740-7301-4003-9525-7F11AF68177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itee.com/weather-forecast-hhh/geometry-algs.gi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gitee.com/weather-forecast-hhh/geometry-algs/tree/master"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Perlmint/glew-cmake.gi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0.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pn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0.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9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38476" y="2165550"/>
            <a:ext cx="10715048" cy="2387600"/>
          </a:xfrm>
        </p:spPr>
        <p:txBody>
          <a:bodyPr>
            <a:normAutofit fontScale="90000"/>
          </a:bodyPr>
          <a:lstStyle/>
          <a:p>
            <a:pPr>
              <a:lnSpc>
                <a:spcPct val="150000"/>
              </a:lnSpc>
            </a:pPr>
            <a:r>
              <a:rPr lang="zh-CN" altLang="en-US" b="1" dirty="0">
                <a:latin typeface="微软雅黑" panose="020B0503020204020204" pitchFamily="34" charset="-122"/>
                <a:ea typeface="微软雅黑" panose="020B0503020204020204" pitchFamily="34" charset="-122"/>
              </a:rPr>
              <a:t>计算机图形学</a:t>
            </a:r>
            <a:br>
              <a:rPr lang="zh-CN" altLang="en-US" b="1" dirty="0">
                <a:latin typeface="微软雅黑" panose="020B0503020204020204" pitchFamily="34" charset="-122"/>
                <a:ea typeface="微软雅黑" panose="020B0503020204020204" pitchFamily="34" charset="-122"/>
              </a:rPr>
            </a:br>
            <a:r>
              <a:rPr lang="zh-CN" altLang="en-US" b="1" dirty="0">
                <a:latin typeface="微软雅黑" panose="020B0503020204020204" pitchFamily="34" charset="-122"/>
                <a:ea typeface="微软雅黑" panose="020B0503020204020204" pitchFamily="34" charset="-122"/>
              </a:rPr>
              <a:t>实验九：</a:t>
            </a:r>
            <a:r>
              <a:rPr lang="zh-CN" altLang="en-US" b="1" dirty="0">
                <a:solidFill>
                  <a:schemeClr val="tx1"/>
                </a:solidFill>
                <a:latin typeface="微软雅黑" panose="020B0503020204020204" pitchFamily="34" charset="-122"/>
                <a:ea typeface="微软雅黑" panose="020B0503020204020204" pitchFamily="34" charset="-122"/>
              </a:rPr>
              <a:t>实现</a:t>
            </a:r>
            <a:r>
              <a:rPr lang="zh-CN" altLang="en-US" b="1">
                <a:solidFill>
                  <a:schemeClr val="tx1"/>
                </a:solidFill>
                <a:latin typeface="微软雅黑" panose="020B0503020204020204" pitchFamily="34" charset="-122"/>
                <a:ea typeface="微软雅黑" panose="020B0503020204020204" pitchFamily="34" charset="-122"/>
              </a:rPr>
              <a:t>网格细分算法</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实验内容</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lnSpc>
                    <a:spcPct val="125000"/>
                  </a:lnSpc>
                </a:pPr>
                <a:r>
                  <a:rPr lang="zh-CN" altLang="en-US" dirty="0"/>
                  <a:t>在本地安装并部署授课组开发的服务于计算机图形学课程的几何算法教学系统</a:t>
                </a:r>
                <a:endParaRPr lang="en-US" altLang="zh-CN" dirty="0"/>
              </a:p>
              <a:p>
                <a:pPr>
                  <a:lnSpc>
                    <a:spcPct val="125000"/>
                  </a:lnSpc>
                </a:pPr>
                <a:r>
                  <a:rPr lang="zh-CN" altLang="en-US" dirty="0"/>
                  <a:t>熟悉模拟框架程序的基本使用，设置演示样例参数并观察演示样例结果</a:t>
                </a:r>
                <a:endParaRPr lang="en-US" altLang="zh-CN" dirty="0"/>
              </a:p>
              <a:p>
                <a:pPr>
                  <a:lnSpc>
                    <a:spcPct val="125000"/>
                  </a:lnSpc>
                </a:pPr>
                <a:r>
                  <a:rPr lang="zh-CN" altLang="en-US" dirty="0"/>
                  <a:t>对比分析</a:t>
                </a:r>
                <a:r>
                  <a:rPr lang="en-US" altLang="zh-CN" dirty="0"/>
                  <a:t>Loop</a:t>
                </a:r>
                <a:r>
                  <a:rPr lang="zh-CN" altLang="en-US" dirty="0"/>
                  <a:t>细分和</a:t>
                </a:r>
                <a14:m>
                  <m:oMath xmlns:m="http://schemas.openxmlformats.org/officeDocument/2006/math">
                    <m:rad>
                      <m:radPr>
                        <m:degHide m:val="on"/>
                        <m:ctrlPr>
                          <a:rPr lang="en-US" altLang="zh-CN" i="1" dirty="0" smtClean="0">
                            <a:latin typeface="Cambria Math" panose="02040503050406030204" pitchFamily="18" charset="0"/>
                          </a:rPr>
                        </m:ctrlPr>
                      </m:radPr>
                      <m:deg/>
                      <m:e>
                        <m:r>
                          <a:rPr lang="en-US" altLang="zh-CN" i="1" dirty="0" smtClean="0">
                            <a:latin typeface="Cambria Math" panose="02040503050406030204" pitchFamily="18" charset="0"/>
                          </a:rPr>
                          <m:t>3</m:t>
                        </m:r>
                      </m:e>
                    </m:rad>
                  </m:oMath>
                </a14:m>
                <a:r>
                  <a:rPr lang="zh-CN" altLang="en-US" dirty="0"/>
                  <a:t>细分的实验效果</a:t>
                </a:r>
                <a:endParaRPr lang="en-US" altLang="zh-CN"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zh-CN" alt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环境配置</a:t>
            </a:r>
          </a:p>
        </p:txBody>
      </p:sp>
      <p:sp>
        <p:nvSpPr>
          <p:cNvPr id="3" name="内容占位符 2"/>
          <p:cNvSpPr>
            <a:spLocks noGrp="1"/>
          </p:cNvSpPr>
          <p:nvPr>
            <p:ph idx="1"/>
          </p:nvPr>
        </p:nvSpPr>
        <p:spPr/>
        <p:txBody>
          <a:bodyPr/>
          <a:lstStyle/>
          <a:p>
            <a:pPr>
              <a:lnSpc>
                <a:spcPct val="125000"/>
              </a:lnSpc>
            </a:pPr>
            <a:r>
              <a:rPr lang="zh-CN" altLang="en-US" dirty="0"/>
              <a:t>操作系统</a:t>
            </a:r>
            <a:r>
              <a:rPr lang="en-US" altLang="zh-CN" dirty="0"/>
              <a:t>: Ubuntu 22.04.4 LTS x86_64</a:t>
            </a:r>
          </a:p>
          <a:p>
            <a:pPr lvl="1">
              <a:lnSpc>
                <a:spcPct val="125000"/>
              </a:lnSpc>
            </a:pPr>
            <a:r>
              <a:rPr lang="zh-CN" altLang="en-US" dirty="0"/>
              <a:t>如使用虚拟机，推荐使用</a:t>
            </a:r>
            <a:r>
              <a:rPr lang="en-US" altLang="zh-CN" dirty="0"/>
              <a:t>VMware</a:t>
            </a:r>
          </a:p>
          <a:p>
            <a:pPr>
              <a:lnSpc>
                <a:spcPct val="125000"/>
              </a:lnSpc>
            </a:pPr>
            <a:r>
              <a:rPr lang="zh-CN" altLang="en-US" dirty="0"/>
              <a:t>编译器：</a:t>
            </a:r>
            <a:r>
              <a:rPr lang="en-US" altLang="zh-CN" dirty="0"/>
              <a:t>g++ (Ubuntu 11.4.0-1ubuntu1~22.04) 11.4.0</a:t>
            </a:r>
          </a:p>
          <a:p>
            <a:pPr>
              <a:lnSpc>
                <a:spcPct val="125000"/>
              </a:lnSpc>
            </a:pPr>
            <a:r>
              <a:rPr lang="en-US" altLang="zh-CN" dirty="0"/>
              <a:t>OpenGL version string: 4.6 (Compatibility Profile) Mesa 23.2.1-1ubuntu3.1~22.04.2</a:t>
            </a:r>
          </a:p>
          <a:p>
            <a:pPr>
              <a:lnSpc>
                <a:spcPct val="125000"/>
              </a:lnSpc>
            </a:pPr>
            <a:r>
              <a:rPr lang="en-US" altLang="zh-CN" dirty="0" err="1"/>
              <a:t>CMake</a:t>
            </a:r>
            <a:r>
              <a:rPr lang="en-US" altLang="zh-CN" dirty="0"/>
              <a:t> version 3.22.1</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编译说明</a:t>
            </a:r>
          </a:p>
        </p:txBody>
      </p:sp>
      <p:sp>
        <p:nvSpPr>
          <p:cNvPr id="3" name="内容占位符 2"/>
          <p:cNvSpPr>
            <a:spLocks noGrp="1"/>
          </p:cNvSpPr>
          <p:nvPr>
            <p:ph idx="1"/>
          </p:nvPr>
        </p:nvSpPr>
        <p:spPr>
          <a:xfrm>
            <a:off x="726840" y="1690725"/>
            <a:ext cx="10515600" cy="4351338"/>
          </a:xfrm>
        </p:spPr>
        <p:txBody>
          <a:bodyPr>
            <a:normAutofit/>
          </a:bodyPr>
          <a:lstStyle/>
          <a:p>
            <a:pPr>
              <a:lnSpc>
                <a:spcPct val="125000"/>
              </a:lnSpc>
            </a:pPr>
            <a:r>
              <a:rPr lang="zh-CN" altLang="en-US" sz="2400" dirty="0"/>
              <a:t>克隆代码到仓库：</a:t>
            </a:r>
            <a:r>
              <a:rPr lang="en-US" altLang="zh-CN" sz="2400" dirty="0"/>
              <a:t>git clone </a:t>
            </a:r>
            <a:r>
              <a:rPr lang="en-US" altLang="zh-CN" sz="2400" dirty="0">
                <a:hlinkClick r:id="rId3"/>
              </a:rPr>
              <a:t>https://gitee.com/weather-forecast-hhh/geometry-algs.git</a:t>
            </a:r>
            <a:r>
              <a:rPr lang="en-US" altLang="zh-CN" sz="2400" dirty="0"/>
              <a:t> </a:t>
            </a:r>
            <a:r>
              <a:rPr lang="zh-CN" altLang="en-US" sz="2400" dirty="0"/>
              <a:t>或浏览 </a:t>
            </a:r>
            <a:r>
              <a:rPr lang="en-US" altLang="zh-CN" sz="2400" dirty="0">
                <a:hlinkClick r:id="rId4"/>
              </a:rPr>
              <a:t>https://gitee.com/weather-forecast-hhh/geometry-algs/tree/master</a:t>
            </a:r>
            <a:r>
              <a:rPr lang="en-US" altLang="zh-CN" sz="2400" dirty="0"/>
              <a:t> </a:t>
            </a:r>
            <a:r>
              <a:rPr lang="zh-CN" altLang="en-US" sz="2400" dirty="0"/>
              <a:t>下载</a:t>
            </a:r>
            <a:r>
              <a:rPr lang="en-US" altLang="zh-CN" sz="2400" dirty="0"/>
              <a:t>ZIP</a:t>
            </a:r>
            <a:r>
              <a:rPr lang="zh-CN" altLang="en-US" sz="2400" dirty="0"/>
              <a:t>文件并解压</a:t>
            </a:r>
          </a:p>
          <a:p>
            <a:pPr marL="457200" lvl="1" indent="0">
              <a:lnSpc>
                <a:spcPct val="125000"/>
              </a:lnSpc>
              <a:buNone/>
            </a:pPr>
            <a:endParaRPr lang="zh-CN" altLang="en-US" dirty="0"/>
          </a:p>
        </p:txBody>
      </p:sp>
      <p:pic>
        <p:nvPicPr>
          <p:cNvPr id="6" name="图片 5" descr="图形用户界面, 文本, 应用程序, 电子邮件&#10;&#10;AI 生成的内容可能不正确。">
            <a:extLst>
              <a:ext uri="{FF2B5EF4-FFF2-40B4-BE49-F238E27FC236}">
                <a16:creationId xmlns:a16="http://schemas.microsoft.com/office/drawing/2014/main" id="{5977D549-6706-F0D2-B80E-E48940C0F882}"/>
              </a:ext>
            </a:extLst>
          </p:cNvPr>
          <p:cNvPicPr>
            <a:picLocks noChangeAspect="1"/>
          </p:cNvPicPr>
          <p:nvPr/>
        </p:nvPicPr>
        <p:blipFill>
          <a:blip r:embed="rId5"/>
          <a:stretch>
            <a:fillRect/>
          </a:stretch>
        </p:blipFill>
        <p:spPr>
          <a:xfrm>
            <a:off x="6243406" y="3491144"/>
            <a:ext cx="5448940" cy="2822403"/>
          </a:xfrm>
          <a:prstGeom prst="rect">
            <a:avLst/>
          </a:prstGeom>
        </p:spPr>
      </p:pic>
      <p:sp>
        <p:nvSpPr>
          <p:cNvPr id="5" name="文本框 4">
            <a:extLst>
              <a:ext uri="{FF2B5EF4-FFF2-40B4-BE49-F238E27FC236}">
                <a16:creationId xmlns:a16="http://schemas.microsoft.com/office/drawing/2014/main" id="{3AAFC2CA-1590-0464-9878-9A0AE588EAFC}"/>
              </a:ext>
            </a:extLst>
          </p:cNvPr>
          <p:cNvSpPr txBox="1"/>
          <p:nvPr/>
        </p:nvSpPr>
        <p:spPr>
          <a:xfrm>
            <a:off x="726840" y="3491107"/>
            <a:ext cx="5369160" cy="1569660"/>
          </a:xfrm>
          <a:prstGeom prst="rect">
            <a:avLst/>
          </a:prstGeom>
          <a:noFill/>
        </p:spPr>
        <p:txBody>
          <a:bodyPr wrap="square">
            <a:spAutoFit/>
          </a:bodyPr>
          <a:lstStyle/>
          <a:p>
            <a:pPr marL="342900" indent="-342900">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推荐使用机房电脑</a:t>
            </a:r>
            <a:r>
              <a:rPr lang="zh-CN" altLang="en-US" sz="2400" dirty="0"/>
              <a:t>，选择</a:t>
            </a:r>
            <a:r>
              <a:rPr lang="en-US" altLang="zh-CN" sz="2400" dirty="0"/>
              <a:t>UOS</a:t>
            </a:r>
            <a:r>
              <a:rPr lang="zh-CN" altLang="en-US" sz="2400" dirty="0"/>
              <a:t>系统，代码在桌面下的</a:t>
            </a:r>
            <a:r>
              <a:rPr lang="en-US" altLang="zh-CN" sz="2400" dirty="0"/>
              <a:t>CG/geometry-</a:t>
            </a:r>
            <a:r>
              <a:rPr lang="en-US" altLang="zh-CN" sz="2400" dirty="0" err="1"/>
              <a:t>algs</a:t>
            </a:r>
            <a:r>
              <a:rPr lang="zh-CN" altLang="en-US" sz="2400" dirty="0"/>
              <a:t>中，已经配置好了所需环境，可直接跳转至</a:t>
            </a:r>
            <a:r>
              <a:rPr lang="zh-CN" altLang="en-US" sz="2400" b="1" dirty="0"/>
              <a:t>编译说明</a:t>
            </a:r>
            <a:r>
              <a:rPr lang="en-US" altLang="zh-CN" sz="2400" b="1" dirty="0"/>
              <a:t>-</a:t>
            </a:r>
            <a:r>
              <a:rPr lang="zh-CN" altLang="en-US" sz="2400" b="1" dirty="0"/>
              <a:t>机房电脑</a:t>
            </a:r>
            <a:r>
              <a:rPr lang="zh-CN" altLang="en-US" sz="2400"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917E9-2E96-C021-80BC-7161B071507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59B7422-E0FA-C4B0-C403-7D21390384D0}"/>
              </a:ext>
            </a:extLst>
          </p:cNvPr>
          <p:cNvSpPr>
            <a:spLocks noGrp="1"/>
          </p:cNvSpPr>
          <p:nvPr>
            <p:ph type="title"/>
          </p:nvPr>
        </p:nvSpPr>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solidFill>
                  <a:schemeClr val="tx1"/>
                </a:solidFill>
                <a:cs typeface="Arial" panose="020B0604020202020204" pitchFamily="34" charset="0"/>
              </a:rPr>
              <a:t>-</a:t>
            </a:r>
            <a:r>
              <a:rPr lang="zh-CN" altLang="en-US" b="1" dirty="0">
                <a:solidFill>
                  <a:schemeClr val="tx1"/>
                </a:solidFill>
                <a:cs typeface="Arial" panose="020B0604020202020204" pitchFamily="34" charset="0"/>
              </a:rPr>
              <a:t>虚拟机</a:t>
            </a:r>
            <a:r>
              <a:rPr lang="en-US" altLang="zh-CN" b="1" dirty="0">
                <a:solidFill>
                  <a:schemeClr val="tx1"/>
                </a:solidFill>
                <a:cs typeface="Arial" panose="020B0604020202020204" pitchFamily="34" charset="0"/>
              </a:rPr>
              <a:t>-1</a:t>
            </a:r>
            <a:endParaRPr lang="zh-CN" altLang="en-US" dirty="0"/>
          </a:p>
        </p:txBody>
      </p:sp>
      <p:sp>
        <p:nvSpPr>
          <p:cNvPr id="5" name="内容占位符 4">
            <a:extLst>
              <a:ext uri="{FF2B5EF4-FFF2-40B4-BE49-F238E27FC236}">
                <a16:creationId xmlns:a16="http://schemas.microsoft.com/office/drawing/2014/main" id="{FEA6035F-01E4-5FBF-697E-343AA36E85EC}"/>
              </a:ext>
            </a:extLst>
          </p:cNvPr>
          <p:cNvSpPr>
            <a:spLocks noGrp="1"/>
          </p:cNvSpPr>
          <p:nvPr>
            <p:ph idx="1"/>
          </p:nvPr>
        </p:nvSpPr>
        <p:spPr>
          <a:xfrm>
            <a:off x="611429" y="1488503"/>
            <a:ext cx="11221729" cy="4351338"/>
          </a:xfrm>
        </p:spPr>
        <p:txBody>
          <a:bodyPr>
            <a:normAutofit/>
          </a:bodyPr>
          <a:lstStyle/>
          <a:p>
            <a:pPr>
              <a:lnSpc>
                <a:spcPct val="125000"/>
              </a:lnSpc>
            </a:pPr>
            <a:r>
              <a:rPr lang="zh-CN" altLang="en-US" sz="2400" dirty="0"/>
              <a:t>如使用虚拟机（</a:t>
            </a:r>
            <a:r>
              <a:rPr lang="en-US" altLang="zh-CN" sz="2400" dirty="0"/>
              <a:t>VMware</a:t>
            </a:r>
            <a:r>
              <a:rPr lang="zh-CN" altLang="en-US" sz="2400" dirty="0"/>
              <a:t>），则需按照以下步骤配置环境：</a:t>
            </a:r>
            <a:endParaRPr lang="en-US" altLang="zh-CN" sz="2400" dirty="0"/>
          </a:p>
          <a:p>
            <a:pPr lvl="1">
              <a:lnSpc>
                <a:spcPct val="125000"/>
              </a:lnSpc>
            </a:pPr>
            <a:r>
              <a:rPr lang="en-US" altLang="zh-CN" dirty="0" err="1"/>
              <a:t>sudo</a:t>
            </a:r>
            <a:r>
              <a:rPr lang="en-US" altLang="zh-CN" dirty="0"/>
              <a:t> apt-get update</a:t>
            </a:r>
          </a:p>
          <a:p>
            <a:pPr lvl="1">
              <a:lnSpc>
                <a:spcPct val="125000"/>
              </a:lnSpc>
            </a:pPr>
            <a:r>
              <a:rPr lang="en-US" altLang="zh-CN" dirty="0" err="1"/>
              <a:t>sudo</a:t>
            </a:r>
            <a:r>
              <a:rPr lang="en-US" altLang="zh-CN" dirty="0"/>
              <a:t> apt-get install build-essential </a:t>
            </a:r>
            <a:r>
              <a:rPr lang="en-US" altLang="zh-CN" dirty="0" err="1"/>
              <a:t>cmake</a:t>
            </a:r>
            <a:r>
              <a:rPr lang="en-US" altLang="zh-CN" dirty="0"/>
              <a:t> </a:t>
            </a:r>
            <a:r>
              <a:rPr lang="en-US" altLang="zh-CN" dirty="0" err="1"/>
              <a:t>libstdc</a:t>
            </a:r>
            <a:r>
              <a:rPr lang="en-US" altLang="zh-CN" dirty="0"/>
              <a:t>++6</a:t>
            </a:r>
          </a:p>
          <a:p>
            <a:pPr lvl="1">
              <a:lnSpc>
                <a:spcPct val="125000"/>
              </a:lnSpc>
            </a:pPr>
            <a:r>
              <a:rPr lang="en-US" altLang="zh-CN" dirty="0" err="1"/>
              <a:t>sudo</a:t>
            </a:r>
            <a:r>
              <a:rPr lang="en-US" altLang="zh-CN" dirty="0"/>
              <a:t> apt-get install libgl1-mesa-dev libglu1-mesa-dev freeglut3-dev </a:t>
            </a:r>
            <a:r>
              <a:rPr lang="en-US" altLang="zh-CN" dirty="0" err="1"/>
              <a:t>libxmu</a:t>
            </a:r>
            <a:r>
              <a:rPr lang="en-US" altLang="zh-CN" dirty="0"/>
              <a:t>-dev </a:t>
            </a:r>
            <a:r>
              <a:rPr lang="en-US" altLang="zh-CN" dirty="0" err="1"/>
              <a:t>libxi</a:t>
            </a:r>
            <a:r>
              <a:rPr lang="en-US" altLang="zh-CN" dirty="0"/>
              <a:t>-dev libglfw3-dev</a:t>
            </a:r>
          </a:p>
          <a:p>
            <a:pPr lvl="1">
              <a:lnSpc>
                <a:spcPct val="125000"/>
              </a:lnSpc>
            </a:pPr>
            <a:r>
              <a:rPr lang="en-US" altLang="zh-CN" dirty="0" err="1"/>
              <a:t>sudo</a:t>
            </a:r>
            <a:r>
              <a:rPr lang="en-US" altLang="zh-CN" dirty="0"/>
              <a:t> apt install mesa-utils</a:t>
            </a:r>
          </a:p>
          <a:p>
            <a:pPr lvl="1">
              <a:lnSpc>
                <a:spcPct val="125000"/>
              </a:lnSpc>
            </a:pPr>
            <a:r>
              <a:rPr lang="en-US" altLang="zh-CN" dirty="0" err="1"/>
              <a:t>glxinfo</a:t>
            </a:r>
            <a:r>
              <a:rPr lang="en-US" altLang="zh-CN" dirty="0"/>
              <a:t> | grep "OpenGL version" </a:t>
            </a:r>
            <a:r>
              <a:rPr lang="zh-CN" altLang="en-US" dirty="0"/>
              <a:t>（注意：引号需为英文引号）检查</a:t>
            </a:r>
            <a:r>
              <a:rPr lang="en-US" altLang="zh-CN" dirty="0" err="1"/>
              <a:t>opengl</a:t>
            </a:r>
            <a:r>
              <a:rPr lang="zh-CN" altLang="en-US" dirty="0"/>
              <a:t>环境是否配置成功，如成功显示</a:t>
            </a:r>
            <a:r>
              <a:rPr lang="en-US" altLang="zh-CN" dirty="0"/>
              <a:t>OpenGL version</a:t>
            </a:r>
            <a:r>
              <a:rPr lang="zh-CN" altLang="en-US" dirty="0"/>
              <a:t>详细信息则表示配置成功</a:t>
            </a:r>
            <a:endParaRPr lang="en-US" altLang="zh-CN" dirty="0"/>
          </a:p>
        </p:txBody>
      </p:sp>
      <p:pic>
        <p:nvPicPr>
          <p:cNvPr id="4" name="图片 3">
            <a:extLst>
              <a:ext uri="{FF2B5EF4-FFF2-40B4-BE49-F238E27FC236}">
                <a16:creationId xmlns:a16="http://schemas.microsoft.com/office/drawing/2014/main" id="{CF8FBFE1-5AE7-BE7B-B68A-76C30BBC2F07}"/>
              </a:ext>
            </a:extLst>
          </p:cNvPr>
          <p:cNvPicPr>
            <a:picLocks noChangeAspect="1"/>
          </p:cNvPicPr>
          <p:nvPr/>
        </p:nvPicPr>
        <p:blipFill>
          <a:blip r:embed="rId3"/>
          <a:stretch>
            <a:fillRect/>
          </a:stretch>
        </p:blipFill>
        <p:spPr>
          <a:xfrm>
            <a:off x="1499610" y="5835910"/>
            <a:ext cx="9854190" cy="587892"/>
          </a:xfrm>
          <a:prstGeom prst="rect">
            <a:avLst/>
          </a:prstGeom>
        </p:spPr>
      </p:pic>
    </p:spTree>
    <p:extLst>
      <p:ext uri="{BB962C8B-B14F-4D97-AF65-F5344CB8AC3E}">
        <p14:creationId xmlns:p14="http://schemas.microsoft.com/office/powerpoint/2010/main" val="3222476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64510-8140-B754-8553-2279EC19EA7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19FCBB3-6426-5BB2-7A83-210B2D9E486A}"/>
              </a:ext>
            </a:extLst>
          </p:cNvPr>
          <p:cNvSpPr>
            <a:spLocks noGrp="1"/>
          </p:cNvSpPr>
          <p:nvPr>
            <p:ph type="title"/>
          </p:nvPr>
        </p:nvSpPr>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solidFill>
                  <a:schemeClr val="tx1"/>
                </a:solidFill>
                <a:cs typeface="Arial" panose="020B0604020202020204" pitchFamily="34" charset="0"/>
              </a:rPr>
              <a:t>-</a:t>
            </a:r>
            <a:r>
              <a:rPr lang="zh-CN" altLang="en-US" b="1" dirty="0">
                <a:solidFill>
                  <a:schemeClr val="tx1"/>
                </a:solidFill>
                <a:cs typeface="Arial" panose="020B0604020202020204" pitchFamily="34" charset="0"/>
              </a:rPr>
              <a:t>虚拟机</a:t>
            </a:r>
            <a:r>
              <a:rPr lang="en-US" altLang="zh-CN" b="1" dirty="0">
                <a:solidFill>
                  <a:schemeClr val="tx1"/>
                </a:solidFill>
                <a:cs typeface="Arial" panose="020B0604020202020204" pitchFamily="34" charset="0"/>
              </a:rPr>
              <a:t>-2</a:t>
            </a:r>
            <a:endParaRPr lang="zh-CN" altLang="en-US" dirty="0"/>
          </a:p>
        </p:txBody>
      </p:sp>
      <p:sp>
        <p:nvSpPr>
          <p:cNvPr id="5" name="内容占位符 4">
            <a:extLst>
              <a:ext uri="{FF2B5EF4-FFF2-40B4-BE49-F238E27FC236}">
                <a16:creationId xmlns:a16="http://schemas.microsoft.com/office/drawing/2014/main" id="{2B52C7E1-C292-E52C-BC83-A0A9043AB2FE}"/>
              </a:ext>
            </a:extLst>
          </p:cNvPr>
          <p:cNvSpPr>
            <a:spLocks noGrp="1"/>
          </p:cNvSpPr>
          <p:nvPr>
            <p:ph idx="1"/>
          </p:nvPr>
        </p:nvSpPr>
        <p:spPr>
          <a:xfrm>
            <a:off x="611429" y="1488503"/>
            <a:ext cx="11221729" cy="4351338"/>
          </a:xfrm>
        </p:spPr>
        <p:txBody>
          <a:bodyPr>
            <a:normAutofit/>
          </a:bodyPr>
          <a:lstStyle/>
          <a:p>
            <a:pPr>
              <a:lnSpc>
                <a:spcPct val="125000"/>
              </a:lnSpc>
            </a:pPr>
            <a:r>
              <a:rPr lang="zh-CN" altLang="en-US" sz="2400" dirty="0"/>
              <a:t>如使用虚拟机（</a:t>
            </a:r>
            <a:r>
              <a:rPr lang="en-US" altLang="zh-CN" sz="2400" dirty="0"/>
              <a:t>VMware</a:t>
            </a:r>
            <a:r>
              <a:rPr lang="zh-CN" altLang="en-US" sz="2400" dirty="0"/>
              <a:t>），则需按照以下步骤配置环境：</a:t>
            </a:r>
            <a:endParaRPr lang="en-US" altLang="zh-CN" sz="2400" dirty="0"/>
          </a:p>
          <a:p>
            <a:pPr lvl="1">
              <a:lnSpc>
                <a:spcPct val="125000"/>
              </a:lnSpc>
            </a:pPr>
            <a:r>
              <a:rPr lang="en-US" altLang="zh-CN" dirty="0" err="1"/>
              <a:t>sudo</a:t>
            </a:r>
            <a:r>
              <a:rPr lang="en-US" altLang="zh-CN" dirty="0"/>
              <a:t> apt install </a:t>
            </a:r>
            <a:r>
              <a:rPr lang="en-US" altLang="zh-CN" dirty="0" err="1"/>
              <a:t>libwayland</a:t>
            </a:r>
            <a:r>
              <a:rPr lang="en-US" altLang="zh-CN" dirty="0"/>
              <a:t>-dev </a:t>
            </a:r>
            <a:r>
              <a:rPr lang="en-US" altLang="zh-CN" dirty="0" err="1"/>
              <a:t>libxkbcommon</a:t>
            </a:r>
            <a:r>
              <a:rPr lang="en-US" altLang="zh-CN" dirty="0"/>
              <a:t>-dev </a:t>
            </a:r>
            <a:r>
              <a:rPr lang="en-US" altLang="zh-CN" dirty="0" err="1"/>
              <a:t>xorg</a:t>
            </a:r>
            <a:r>
              <a:rPr lang="en-US" altLang="zh-CN" dirty="0"/>
              <a:t>-dev </a:t>
            </a:r>
          </a:p>
          <a:p>
            <a:pPr>
              <a:lnSpc>
                <a:spcPct val="125000"/>
              </a:lnSpc>
            </a:pPr>
            <a:r>
              <a:rPr lang="zh-CN" altLang="en-US" sz="2400" dirty="0"/>
              <a:t>系统已提供可直接运行的完整示例（该示例包含</a:t>
            </a:r>
            <a:r>
              <a:rPr lang="en-US" altLang="zh-CN" sz="2400" dirty="0"/>
              <a:t>Loop</a:t>
            </a:r>
            <a:r>
              <a:rPr lang="zh-CN" altLang="en-US" sz="2400" dirty="0"/>
              <a:t>细分、</a:t>
            </a:r>
            <a:r>
              <a:rPr lang="en-US" altLang="zh-CN" sz="2400" dirty="0"/>
              <a:t>Root3</a:t>
            </a:r>
            <a:r>
              <a:rPr lang="zh-CN" altLang="en-US" sz="2400" dirty="0"/>
              <a:t>细分等算法功能）</a:t>
            </a:r>
            <a:endParaRPr lang="en-US" altLang="zh-CN" sz="2400" dirty="0"/>
          </a:p>
          <a:p>
            <a:pPr lvl="1">
              <a:lnSpc>
                <a:spcPct val="125000"/>
              </a:lnSpc>
            </a:pPr>
            <a:r>
              <a:rPr lang="en-US" altLang="zh-CN" dirty="0"/>
              <a:t>cd elf</a:t>
            </a:r>
          </a:p>
          <a:p>
            <a:pPr lvl="1">
              <a:lnSpc>
                <a:spcPct val="125000"/>
              </a:lnSpc>
            </a:pPr>
            <a:r>
              <a:rPr lang="en-US" altLang="zh-CN" dirty="0"/>
              <a:t>export XDG_SESSION_TYPE=x11 </a:t>
            </a:r>
          </a:p>
          <a:p>
            <a:pPr lvl="2">
              <a:lnSpc>
                <a:spcPct val="125000"/>
              </a:lnSpc>
            </a:pPr>
            <a:r>
              <a:rPr lang="zh-CN" altLang="en-US" sz="2400" dirty="0"/>
              <a:t>每次新建终端运行</a:t>
            </a:r>
            <a:r>
              <a:rPr lang="en-US" altLang="zh-CN" sz="2400" dirty="0"/>
              <a:t>main</a:t>
            </a:r>
            <a:r>
              <a:rPr lang="zh-CN" altLang="en-US" sz="2400" dirty="0"/>
              <a:t>时需要重复该条指令</a:t>
            </a:r>
            <a:endParaRPr lang="en-US" altLang="zh-CN" sz="2400" dirty="0"/>
          </a:p>
          <a:p>
            <a:pPr lvl="1">
              <a:lnSpc>
                <a:spcPct val="125000"/>
              </a:lnSpc>
            </a:pPr>
            <a:r>
              <a:rPr lang="en-US" altLang="zh-CN" dirty="0"/>
              <a:t>./main </a:t>
            </a:r>
            <a:r>
              <a:rPr lang="zh-CN" altLang="en-US" dirty="0"/>
              <a:t>即可打开演示程序</a:t>
            </a:r>
            <a:endParaRPr lang="en-US" altLang="zh-CN" dirty="0"/>
          </a:p>
          <a:p>
            <a:pPr marL="457200" lvl="1" indent="0">
              <a:lnSpc>
                <a:spcPct val="125000"/>
              </a:lnSpc>
              <a:buNone/>
            </a:pPr>
            <a:endParaRPr lang="en-US" altLang="zh-CN" dirty="0"/>
          </a:p>
        </p:txBody>
      </p:sp>
    </p:spTree>
    <p:extLst>
      <p:ext uri="{BB962C8B-B14F-4D97-AF65-F5344CB8AC3E}">
        <p14:creationId xmlns:p14="http://schemas.microsoft.com/office/powerpoint/2010/main" val="1663826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solidFill>
                  <a:schemeClr val="tx1"/>
                </a:solidFill>
                <a:cs typeface="Arial" panose="020B0604020202020204" pitchFamily="34" charset="0"/>
              </a:rPr>
              <a:t>-</a:t>
            </a:r>
            <a:r>
              <a:rPr lang="zh-CN" altLang="en-US" b="1" dirty="0">
                <a:solidFill>
                  <a:schemeClr val="tx1"/>
                </a:solidFill>
                <a:cs typeface="Arial" panose="020B0604020202020204" pitchFamily="34" charset="0"/>
              </a:rPr>
              <a:t>机房电脑</a:t>
            </a:r>
            <a:endParaRPr lang="zh-CN" altLang="en-US" dirty="0"/>
          </a:p>
        </p:txBody>
      </p:sp>
      <p:sp>
        <p:nvSpPr>
          <p:cNvPr id="5" name="内容占位符 4"/>
          <p:cNvSpPr>
            <a:spLocks noGrp="1"/>
          </p:cNvSpPr>
          <p:nvPr>
            <p:ph idx="1"/>
          </p:nvPr>
        </p:nvSpPr>
        <p:spPr>
          <a:xfrm>
            <a:off x="726839" y="1690725"/>
            <a:ext cx="11221729" cy="4351338"/>
          </a:xfrm>
        </p:spPr>
        <p:txBody>
          <a:bodyPr>
            <a:noAutofit/>
          </a:bodyPr>
          <a:lstStyle/>
          <a:p>
            <a:pPr>
              <a:lnSpc>
                <a:spcPct val="125000"/>
              </a:lnSpc>
            </a:pPr>
            <a:r>
              <a:rPr lang="zh-CN" altLang="en-US" sz="2400" dirty="0"/>
              <a:t>如使用机房电脑，则需按照以下步骤配置环境：</a:t>
            </a:r>
            <a:endParaRPr lang="en-US" altLang="zh-CN" sz="2400" dirty="0"/>
          </a:p>
          <a:p>
            <a:pPr lvl="1">
              <a:lnSpc>
                <a:spcPct val="125000"/>
              </a:lnSpc>
            </a:pPr>
            <a:r>
              <a:rPr lang="en-US" altLang="zh-CN" dirty="0" err="1"/>
              <a:t>sudo</a:t>
            </a:r>
            <a:r>
              <a:rPr lang="en-US" altLang="zh-CN" dirty="0"/>
              <a:t> apt install </a:t>
            </a:r>
            <a:r>
              <a:rPr lang="en-US" altLang="zh-CN" dirty="0" err="1"/>
              <a:t>libwayland</a:t>
            </a:r>
            <a:r>
              <a:rPr lang="en-US" altLang="zh-CN" dirty="0"/>
              <a:t>-dev </a:t>
            </a:r>
            <a:r>
              <a:rPr lang="en-US" altLang="zh-CN" dirty="0" err="1"/>
              <a:t>libxkbcommon</a:t>
            </a:r>
            <a:r>
              <a:rPr lang="en-US" altLang="zh-CN" dirty="0"/>
              <a:t>-dev </a:t>
            </a:r>
            <a:r>
              <a:rPr lang="en-US" altLang="zh-CN" dirty="0" err="1"/>
              <a:t>xorg</a:t>
            </a:r>
            <a:r>
              <a:rPr lang="en-US" altLang="zh-CN" dirty="0"/>
              <a:t>-dev </a:t>
            </a:r>
          </a:p>
          <a:p>
            <a:pPr>
              <a:lnSpc>
                <a:spcPct val="125000"/>
              </a:lnSpc>
            </a:pPr>
            <a:r>
              <a:rPr lang="zh-CN" altLang="en-US" sz="2400" dirty="0"/>
              <a:t>系统已提供可直接运行的完整示例（该示例包含</a:t>
            </a:r>
            <a:r>
              <a:rPr lang="en-US" altLang="zh-CN" sz="2400" dirty="0"/>
              <a:t>Loop</a:t>
            </a:r>
            <a:r>
              <a:rPr lang="zh-CN" altLang="en-US" sz="2400" dirty="0"/>
              <a:t>细分、</a:t>
            </a:r>
            <a:r>
              <a:rPr lang="en-US" altLang="zh-CN" sz="2400" dirty="0"/>
              <a:t>Root3</a:t>
            </a:r>
            <a:r>
              <a:rPr lang="zh-CN" altLang="en-US" sz="2400" dirty="0"/>
              <a:t>细分等算法功能）</a:t>
            </a:r>
            <a:endParaRPr lang="en-US" altLang="zh-CN" sz="2400" dirty="0"/>
          </a:p>
          <a:p>
            <a:pPr lvl="1">
              <a:lnSpc>
                <a:spcPct val="125000"/>
              </a:lnSpc>
            </a:pPr>
            <a:r>
              <a:rPr lang="en-US" altLang="zh-CN" dirty="0"/>
              <a:t>cd elf-18</a:t>
            </a:r>
          </a:p>
          <a:p>
            <a:pPr lvl="1">
              <a:lnSpc>
                <a:spcPct val="125000"/>
              </a:lnSpc>
            </a:pPr>
            <a:r>
              <a:rPr lang="en-US" altLang="zh-CN" dirty="0"/>
              <a:t>./main </a:t>
            </a:r>
            <a:r>
              <a:rPr lang="zh-CN" altLang="en-US" dirty="0"/>
              <a:t>即可打开演示程序</a:t>
            </a:r>
            <a:endParaRPr lang="en-US" altLang="zh-CN" dirty="0"/>
          </a:p>
          <a:p>
            <a:pPr marL="914400" lvl="2" indent="0">
              <a:lnSpc>
                <a:spcPct val="125000"/>
              </a:lnSpc>
              <a:buNone/>
            </a:pPr>
            <a:endParaRPr lang="en-US" altLang="zh-CN" sz="2200" dirty="0"/>
          </a:p>
          <a:p>
            <a:pPr>
              <a:lnSpc>
                <a:spcPct val="125000"/>
              </a:lnSpc>
            </a:pPr>
            <a:endParaRPr lang="en-US" altLang="zh-CN" sz="2200" dirty="0"/>
          </a:p>
          <a:p>
            <a:pPr>
              <a:lnSpc>
                <a:spcPct val="125000"/>
              </a:lnSpc>
            </a:pPr>
            <a:endParaRPr lang="zh-CN" alt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5D4A3-B585-4702-2BFD-FB059C754A5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D788274-914B-8566-E2AC-E00E7F69CA67}"/>
              </a:ext>
            </a:extLst>
          </p:cNvPr>
          <p:cNvSpPr>
            <a:spLocks noGrp="1"/>
          </p:cNvSpPr>
          <p:nvPr>
            <p:ph type="title"/>
          </p:nvPr>
        </p:nvSpPr>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solidFill>
                  <a:schemeClr val="tx1"/>
                </a:solidFill>
                <a:cs typeface="Arial" panose="020B0604020202020204" pitchFamily="34" charset="0"/>
              </a:rPr>
              <a:t>-2</a:t>
            </a:r>
            <a:endParaRPr lang="zh-CN" altLang="en-US" dirty="0"/>
          </a:p>
        </p:txBody>
      </p:sp>
      <p:sp>
        <p:nvSpPr>
          <p:cNvPr id="5" name="内容占位符 4">
            <a:extLst>
              <a:ext uri="{FF2B5EF4-FFF2-40B4-BE49-F238E27FC236}">
                <a16:creationId xmlns:a16="http://schemas.microsoft.com/office/drawing/2014/main" id="{33B12DB7-B907-55C7-E1B0-E5AF6567513A}"/>
              </a:ext>
            </a:extLst>
          </p:cNvPr>
          <p:cNvSpPr>
            <a:spLocks noGrp="1"/>
          </p:cNvSpPr>
          <p:nvPr>
            <p:ph idx="1"/>
          </p:nvPr>
        </p:nvSpPr>
        <p:spPr>
          <a:xfrm>
            <a:off x="726839" y="1690725"/>
            <a:ext cx="11221729" cy="4351338"/>
          </a:xfrm>
        </p:spPr>
        <p:txBody>
          <a:bodyPr>
            <a:normAutofit/>
          </a:bodyPr>
          <a:lstStyle/>
          <a:p>
            <a:pPr>
              <a:lnSpc>
                <a:spcPct val="125000"/>
              </a:lnSpc>
            </a:pPr>
            <a:r>
              <a:rPr lang="zh-CN" altLang="en-US" dirty="0"/>
              <a:t>要基于当前系统代码（</a:t>
            </a:r>
            <a:r>
              <a:rPr lang="en-US" altLang="zh-CN" dirty="0"/>
              <a:t>Loop</a:t>
            </a:r>
            <a:r>
              <a:rPr lang="zh-CN" altLang="en-US" dirty="0"/>
              <a:t>细分、</a:t>
            </a:r>
            <a:r>
              <a:rPr lang="en-US" altLang="zh-CN" dirty="0"/>
              <a:t>Root3</a:t>
            </a:r>
            <a:r>
              <a:rPr lang="zh-CN" altLang="en-US" dirty="0"/>
              <a:t>细分等算法需手动实现）进行编译，步骤如下：</a:t>
            </a:r>
            <a:endParaRPr lang="en-US" altLang="zh-CN" dirty="0"/>
          </a:p>
          <a:p>
            <a:pPr lvl="1">
              <a:lnSpc>
                <a:spcPct val="125000"/>
              </a:lnSpc>
            </a:pPr>
            <a:r>
              <a:rPr lang="en-US" altLang="zh-CN" dirty="0" err="1"/>
              <a:t>mkdir</a:t>
            </a:r>
            <a:r>
              <a:rPr lang="en-US" altLang="zh-CN" dirty="0"/>
              <a:t> build</a:t>
            </a:r>
          </a:p>
          <a:p>
            <a:pPr lvl="1">
              <a:lnSpc>
                <a:spcPct val="125000"/>
              </a:lnSpc>
            </a:pPr>
            <a:r>
              <a:rPr lang="en-US" altLang="zh-CN" dirty="0" err="1"/>
              <a:t>cmake</a:t>
            </a:r>
            <a:r>
              <a:rPr lang="en-US" altLang="zh-CN" dirty="0"/>
              <a:t> ../source</a:t>
            </a:r>
          </a:p>
          <a:p>
            <a:pPr lvl="1">
              <a:lnSpc>
                <a:spcPct val="125000"/>
              </a:lnSpc>
            </a:pPr>
            <a:r>
              <a:rPr lang="en-US" altLang="zh-CN" dirty="0" err="1"/>
              <a:t>cmake</a:t>
            </a:r>
            <a:r>
              <a:rPr lang="en-US" altLang="zh-CN" dirty="0"/>
              <a:t> --build .</a:t>
            </a:r>
          </a:p>
          <a:p>
            <a:pPr lvl="1">
              <a:lnSpc>
                <a:spcPct val="125000"/>
              </a:lnSpc>
            </a:pPr>
            <a:r>
              <a:rPr lang="en-US" altLang="zh-CN" dirty="0"/>
              <a:t>./main</a:t>
            </a:r>
          </a:p>
          <a:p>
            <a:pPr>
              <a:lnSpc>
                <a:spcPct val="125000"/>
              </a:lnSpc>
            </a:pPr>
            <a:endParaRPr lang="zh-CN" altLang="en-US" dirty="0"/>
          </a:p>
        </p:txBody>
      </p:sp>
    </p:spTree>
    <p:extLst>
      <p:ext uri="{BB962C8B-B14F-4D97-AF65-F5344CB8AC3E}">
        <p14:creationId xmlns:p14="http://schemas.microsoft.com/office/powerpoint/2010/main" val="3019399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5486D-5D24-22BF-9EEB-5BEE9FD7930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8B7A7D1-3A3E-3C0C-231D-BE0BEBA756E1}"/>
              </a:ext>
            </a:extLst>
          </p:cNvPr>
          <p:cNvSpPr>
            <a:spLocks noGrp="1"/>
          </p:cNvSpPr>
          <p:nvPr>
            <p:ph type="title"/>
          </p:nvPr>
        </p:nvSpPr>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cs typeface="Arial" panose="020B0604020202020204" pitchFamily="34" charset="0"/>
              </a:rPr>
              <a:t>-</a:t>
            </a:r>
            <a:r>
              <a:rPr lang="zh-CN" altLang="en-US" b="1" dirty="0">
                <a:cs typeface="Arial" panose="020B0604020202020204" pitchFamily="34" charset="0"/>
              </a:rPr>
              <a:t>可能报错</a:t>
            </a:r>
            <a:r>
              <a:rPr lang="en-US" altLang="zh-CN" b="1" dirty="0">
                <a:cs typeface="Arial" panose="020B0604020202020204" pitchFamily="34" charset="0"/>
              </a:rPr>
              <a:t>&amp;</a:t>
            </a:r>
            <a:r>
              <a:rPr lang="zh-CN" altLang="en-US" b="1" dirty="0">
                <a:cs typeface="Arial" panose="020B0604020202020204" pitchFamily="34" charset="0"/>
              </a:rPr>
              <a:t>解决方法</a:t>
            </a:r>
            <a:endParaRPr lang="zh-CN" altLang="en-US" dirty="0"/>
          </a:p>
        </p:txBody>
      </p:sp>
      <p:sp>
        <p:nvSpPr>
          <p:cNvPr id="5" name="内容占位符 4">
            <a:extLst>
              <a:ext uri="{FF2B5EF4-FFF2-40B4-BE49-F238E27FC236}">
                <a16:creationId xmlns:a16="http://schemas.microsoft.com/office/drawing/2014/main" id="{906EF270-EFF8-7D45-90AD-41D0D06126C8}"/>
              </a:ext>
            </a:extLst>
          </p:cNvPr>
          <p:cNvSpPr>
            <a:spLocks noGrp="1"/>
          </p:cNvSpPr>
          <p:nvPr>
            <p:ph idx="1"/>
          </p:nvPr>
        </p:nvSpPr>
        <p:spPr>
          <a:xfrm>
            <a:off x="726839" y="1690725"/>
            <a:ext cx="11221729" cy="4351338"/>
          </a:xfrm>
        </p:spPr>
        <p:txBody>
          <a:bodyPr>
            <a:normAutofit/>
          </a:bodyPr>
          <a:lstStyle/>
          <a:p>
            <a:pPr>
              <a:lnSpc>
                <a:spcPct val="125000"/>
              </a:lnSpc>
            </a:pPr>
            <a:r>
              <a:rPr lang="zh-CN" altLang="en-US" dirty="0"/>
              <a:t>如果在</a:t>
            </a:r>
            <a:r>
              <a:rPr lang="en-US" altLang="zh-CN" dirty="0" err="1"/>
              <a:t>cmake</a:t>
            </a:r>
            <a:r>
              <a:rPr lang="en-US" altLang="zh-CN" dirty="0"/>
              <a:t> ../source</a:t>
            </a:r>
            <a:r>
              <a:rPr lang="zh-CN" altLang="en-US" dirty="0"/>
              <a:t>时报错如下：</a:t>
            </a:r>
            <a:endParaRPr lang="en-US" altLang="zh-CN" dirty="0"/>
          </a:p>
          <a:p>
            <a:pPr>
              <a:lnSpc>
                <a:spcPct val="125000"/>
              </a:lnSpc>
            </a:pPr>
            <a:endParaRPr lang="en-US" altLang="zh-CN" dirty="0"/>
          </a:p>
          <a:p>
            <a:pPr>
              <a:lnSpc>
                <a:spcPct val="125000"/>
              </a:lnSpc>
            </a:pPr>
            <a:r>
              <a:rPr lang="zh-CN" altLang="en-US" dirty="0"/>
              <a:t>修改</a:t>
            </a:r>
            <a:r>
              <a:rPr lang="en-US" altLang="zh-CN" dirty="0"/>
              <a:t>source/CMakeLists.txt</a:t>
            </a:r>
            <a:r>
              <a:rPr lang="zh-CN" altLang="en-US" dirty="0"/>
              <a:t>，注释</a:t>
            </a:r>
            <a:r>
              <a:rPr lang="en-US" altLang="zh-CN" dirty="0" err="1"/>
              <a:t>target_link_libraries</a:t>
            </a:r>
            <a:r>
              <a:rPr lang="en-US" altLang="zh-CN" dirty="0"/>
              <a:t>(</a:t>
            </a:r>
            <a:r>
              <a:rPr lang="en-US" altLang="zh-CN" dirty="0" err="1"/>
              <a:t>loadShaders</a:t>
            </a:r>
            <a:r>
              <a:rPr lang="en-US" altLang="zh-CN" dirty="0"/>
              <a:t> deps)</a:t>
            </a:r>
          </a:p>
          <a:p>
            <a:pPr>
              <a:lnSpc>
                <a:spcPct val="125000"/>
              </a:lnSpc>
            </a:pPr>
            <a:r>
              <a:rPr lang="zh-CN" altLang="en-US" dirty="0"/>
              <a:t>重新</a:t>
            </a:r>
            <a:r>
              <a:rPr lang="en-US" altLang="zh-CN" dirty="0" err="1"/>
              <a:t>cmake</a:t>
            </a:r>
            <a:r>
              <a:rPr lang="en-US" altLang="zh-CN" dirty="0"/>
              <a:t> ../source</a:t>
            </a:r>
            <a:endParaRPr lang="zh-CN" altLang="en-US" dirty="0"/>
          </a:p>
        </p:txBody>
      </p:sp>
      <p:pic>
        <p:nvPicPr>
          <p:cNvPr id="4" name="图片 3">
            <a:extLst>
              <a:ext uri="{FF2B5EF4-FFF2-40B4-BE49-F238E27FC236}">
                <a16:creationId xmlns:a16="http://schemas.microsoft.com/office/drawing/2014/main" id="{4CDF4B9B-70E6-F91A-1E3B-248596AB9105}"/>
              </a:ext>
            </a:extLst>
          </p:cNvPr>
          <p:cNvPicPr>
            <a:picLocks noChangeAspect="1"/>
          </p:cNvPicPr>
          <p:nvPr/>
        </p:nvPicPr>
        <p:blipFill>
          <a:blip r:embed="rId2"/>
          <a:stretch>
            <a:fillRect/>
          </a:stretch>
        </p:blipFill>
        <p:spPr>
          <a:xfrm>
            <a:off x="2486626" y="2357252"/>
            <a:ext cx="6810375" cy="581025"/>
          </a:xfrm>
          <a:prstGeom prst="rect">
            <a:avLst/>
          </a:prstGeom>
        </p:spPr>
      </p:pic>
    </p:spTree>
    <p:extLst>
      <p:ext uri="{BB962C8B-B14F-4D97-AF65-F5344CB8AC3E}">
        <p14:creationId xmlns:p14="http://schemas.microsoft.com/office/powerpoint/2010/main" val="1963865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C4A84-76B3-F6E9-6DD3-D2B63FE9B891}"/>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484AA0A3-4B3F-5616-5940-2A99AFF5A829}"/>
              </a:ext>
            </a:extLst>
          </p:cNvPr>
          <p:cNvSpPr>
            <a:spLocks noGrp="1"/>
          </p:cNvSpPr>
          <p:nvPr>
            <p:ph idx="1"/>
          </p:nvPr>
        </p:nvSpPr>
        <p:spPr>
          <a:xfrm>
            <a:off x="726839" y="1690725"/>
            <a:ext cx="11221729" cy="644102"/>
          </a:xfrm>
        </p:spPr>
        <p:txBody>
          <a:bodyPr>
            <a:noAutofit/>
          </a:bodyPr>
          <a:lstStyle/>
          <a:p>
            <a:pPr>
              <a:lnSpc>
                <a:spcPct val="125000"/>
              </a:lnSpc>
            </a:pPr>
            <a:r>
              <a:rPr lang="zh-CN" altLang="en-US" dirty="0"/>
              <a:t>如果在</a:t>
            </a:r>
            <a:r>
              <a:rPr lang="en-US" altLang="zh-CN" dirty="0" err="1"/>
              <a:t>cmake</a:t>
            </a:r>
            <a:r>
              <a:rPr lang="en-US" altLang="zh-CN" dirty="0"/>
              <a:t> ../source</a:t>
            </a:r>
            <a:r>
              <a:rPr lang="zh-CN" altLang="en-US" dirty="0"/>
              <a:t>时报错如下：</a:t>
            </a:r>
            <a:endParaRPr lang="en-US" altLang="zh-CN" dirty="0"/>
          </a:p>
          <a:p>
            <a:pPr>
              <a:lnSpc>
                <a:spcPct val="125000"/>
              </a:lnSpc>
            </a:pPr>
            <a:endParaRPr lang="en-US" altLang="zh-CN" dirty="0"/>
          </a:p>
          <a:p>
            <a:pPr>
              <a:lnSpc>
                <a:spcPct val="125000"/>
              </a:lnSpc>
            </a:pPr>
            <a:endParaRPr lang="en-US" altLang="zh-CN" dirty="0"/>
          </a:p>
          <a:p>
            <a:pPr>
              <a:lnSpc>
                <a:spcPct val="125000"/>
              </a:lnSpc>
            </a:pPr>
            <a:r>
              <a:rPr lang="zh-CN" altLang="en-US" dirty="0"/>
              <a:t>删除原有的</a:t>
            </a:r>
            <a:r>
              <a:rPr lang="en-US" altLang="zh-CN" dirty="0"/>
              <a:t>source/deps/</a:t>
            </a:r>
            <a:r>
              <a:rPr lang="en-US" altLang="zh-CN" dirty="0" err="1"/>
              <a:t>glew-cmake</a:t>
            </a:r>
            <a:r>
              <a:rPr lang="zh-CN" altLang="en-US" dirty="0"/>
              <a:t>，然后</a:t>
            </a:r>
            <a:r>
              <a:rPr lang="en-US" altLang="zh-CN" dirty="0"/>
              <a:t>git clone </a:t>
            </a:r>
            <a:r>
              <a:rPr lang="en-US" altLang="zh-CN" dirty="0">
                <a:hlinkClick r:id="rId3"/>
              </a:rPr>
              <a:t>https://github.com/Perlmint/glew-cmake.git</a:t>
            </a:r>
            <a:r>
              <a:rPr lang="en-US" altLang="zh-CN" dirty="0"/>
              <a:t> </a:t>
            </a:r>
            <a:r>
              <a:rPr lang="zh-CN" altLang="en-US" dirty="0"/>
              <a:t>获取新的</a:t>
            </a:r>
            <a:r>
              <a:rPr lang="en-US" altLang="zh-CN" dirty="0" err="1"/>
              <a:t>glew-cmake</a:t>
            </a:r>
            <a:endParaRPr lang="en-US" altLang="zh-CN" dirty="0"/>
          </a:p>
          <a:p>
            <a:pPr>
              <a:lnSpc>
                <a:spcPct val="125000"/>
              </a:lnSpc>
            </a:pPr>
            <a:r>
              <a:rPr lang="zh-CN" altLang="en-US" dirty="0"/>
              <a:t>重新</a:t>
            </a:r>
            <a:r>
              <a:rPr lang="en-US" altLang="zh-CN" dirty="0" err="1"/>
              <a:t>cmake</a:t>
            </a:r>
            <a:r>
              <a:rPr lang="en-US" altLang="zh-CN" dirty="0"/>
              <a:t> ../source</a:t>
            </a:r>
            <a:endParaRPr lang="zh-CN" altLang="en-US" dirty="0"/>
          </a:p>
        </p:txBody>
      </p:sp>
      <p:pic>
        <p:nvPicPr>
          <p:cNvPr id="9" name="图片 8" descr="文本&#10;&#10;AI 生成的内容可能不正确。">
            <a:extLst>
              <a:ext uri="{FF2B5EF4-FFF2-40B4-BE49-F238E27FC236}">
                <a16:creationId xmlns:a16="http://schemas.microsoft.com/office/drawing/2014/main" id="{D7FE33DD-52EF-94B6-C701-8EEF239D2758}"/>
              </a:ext>
            </a:extLst>
          </p:cNvPr>
          <p:cNvPicPr>
            <a:picLocks noChangeAspect="1"/>
          </p:cNvPicPr>
          <p:nvPr/>
        </p:nvPicPr>
        <p:blipFill>
          <a:blip r:embed="rId4"/>
          <a:stretch>
            <a:fillRect/>
          </a:stretch>
        </p:blipFill>
        <p:spPr>
          <a:xfrm>
            <a:off x="2143125" y="2455184"/>
            <a:ext cx="7905750" cy="1095375"/>
          </a:xfrm>
          <a:prstGeom prst="rect">
            <a:avLst/>
          </a:prstGeom>
        </p:spPr>
      </p:pic>
      <p:sp>
        <p:nvSpPr>
          <p:cNvPr id="13" name="标题 1">
            <a:extLst>
              <a:ext uri="{FF2B5EF4-FFF2-40B4-BE49-F238E27FC236}">
                <a16:creationId xmlns:a16="http://schemas.microsoft.com/office/drawing/2014/main" id="{60771844-CCB8-1407-66C5-360472D5A4BF}"/>
              </a:ext>
            </a:extLst>
          </p:cNvPr>
          <p:cNvSpPr>
            <a:spLocks noGrp="1"/>
          </p:cNvSpPr>
          <p:nvPr>
            <p:ph type="title"/>
          </p:nvPr>
        </p:nvSpPr>
        <p:spPr>
          <a:xfrm>
            <a:off x="838200" y="365125"/>
            <a:ext cx="10515600" cy="1325563"/>
          </a:xfrm>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cs typeface="Arial" panose="020B0604020202020204" pitchFamily="34" charset="0"/>
              </a:rPr>
              <a:t>-</a:t>
            </a:r>
            <a:r>
              <a:rPr lang="zh-CN" altLang="en-US" b="1" dirty="0">
                <a:cs typeface="Arial" panose="020B0604020202020204" pitchFamily="34" charset="0"/>
              </a:rPr>
              <a:t>可能报错</a:t>
            </a:r>
            <a:r>
              <a:rPr lang="en-US" altLang="zh-CN" b="1" dirty="0">
                <a:cs typeface="Arial" panose="020B0604020202020204" pitchFamily="34" charset="0"/>
              </a:rPr>
              <a:t>&amp;</a:t>
            </a:r>
            <a:r>
              <a:rPr lang="zh-CN" altLang="en-US" b="1" dirty="0">
                <a:cs typeface="Arial" panose="020B0604020202020204" pitchFamily="34" charset="0"/>
              </a:rPr>
              <a:t>解决方法</a:t>
            </a:r>
            <a:endParaRPr lang="zh-CN" altLang="en-US" dirty="0"/>
          </a:p>
        </p:txBody>
      </p:sp>
    </p:spTree>
    <p:extLst>
      <p:ext uri="{BB962C8B-B14F-4D97-AF65-F5344CB8AC3E}">
        <p14:creationId xmlns:p14="http://schemas.microsoft.com/office/powerpoint/2010/main" val="1586560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E5D6A-78AC-8169-FDA9-4A8843E9505B}"/>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DC7E5DFF-05A0-FFA5-64B7-48573CDE6A46}"/>
              </a:ext>
            </a:extLst>
          </p:cNvPr>
          <p:cNvSpPr>
            <a:spLocks noGrp="1"/>
          </p:cNvSpPr>
          <p:nvPr>
            <p:ph idx="1"/>
          </p:nvPr>
        </p:nvSpPr>
        <p:spPr>
          <a:xfrm>
            <a:off x="726839" y="1434774"/>
            <a:ext cx="11221729" cy="644102"/>
          </a:xfrm>
        </p:spPr>
        <p:txBody>
          <a:bodyPr>
            <a:noAutofit/>
          </a:bodyPr>
          <a:lstStyle/>
          <a:p>
            <a:pPr>
              <a:lnSpc>
                <a:spcPct val="125000"/>
              </a:lnSpc>
            </a:pPr>
            <a:r>
              <a:rPr lang="zh-CN" altLang="en-US" sz="2600" dirty="0"/>
              <a:t>如果在</a:t>
            </a:r>
            <a:r>
              <a:rPr lang="en-US" altLang="zh-CN" sz="2600" dirty="0" err="1"/>
              <a:t>cmake</a:t>
            </a:r>
            <a:r>
              <a:rPr lang="en-US" altLang="zh-CN" sz="2600" dirty="0"/>
              <a:t> --build .</a:t>
            </a:r>
            <a:r>
              <a:rPr lang="zh-CN" altLang="en-US" sz="2600" dirty="0"/>
              <a:t>时报错如下：</a:t>
            </a:r>
            <a:endParaRPr lang="en-US" altLang="zh-CN" sz="2600" dirty="0"/>
          </a:p>
          <a:p>
            <a:pPr>
              <a:lnSpc>
                <a:spcPct val="125000"/>
              </a:lnSpc>
            </a:pPr>
            <a:endParaRPr lang="en-US" altLang="zh-CN" sz="2600" dirty="0"/>
          </a:p>
          <a:p>
            <a:pPr>
              <a:lnSpc>
                <a:spcPct val="125000"/>
              </a:lnSpc>
            </a:pPr>
            <a:endParaRPr lang="en-US" altLang="zh-CN" sz="2600" dirty="0"/>
          </a:p>
          <a:p>
            <a:pPr>
              <a:lnSpc>
                <a:spcPct val="125000"/>
              </a:lnSpc>
            </a:pPr>
            <a:r>
              <a:rPr lang="zh-CN" altLang="en-US" sz="2600" dirty="0"/>
              <a:t>修改</a:t>
            </a:r>
            <a:r>
              <a:rPr lang="en-US" altLang="zh-CN" sz="2600" dirty="0"/>
              <a:t>source/lib/</a:t>
            </a:r>
            <a:r>
              <a:rPr lang="en-US" altLang="zh-CN" sz="2600" dirty="0" err="1"/>
              <a:t>loadShaders</a:t>
            </a:r>
            <a:r>
              <a:rPr lang="en-US" altLang="zh-CN" sz="2600" dirty="0"/>
              <a:t>/CmakeLists.txt</a:t>
            </a:r>
            <a:r>
              <a:rPr lang="zh-CN" altLang="en-US" sz="2600" dirty="0"/>
              <a:t>，将原本的</a:t>
            </a:r>
            <a:r>
              <a:rPr lang="en-US" altLang="zh-CN" sz="2600" dirty="0" err="1"/>
              <a:t>target_include_directories</a:t>
            </a:r>
            <a:r>
              <a:rPr lang="en-US" altLang="zh-CN" sz="2600" dirty="0"/>
              <a:t>(</a:t>
            </a:r>
            <a:r>
              <a:rPr lang="en-US" altLang="zh-CN" sz="2600" dirty="0" err="1"/>
              <a:t>loadShaders</a:t>
            </a:r>
            <a:r>
              <a:rPr lang="en-US" altLang="zh-CN" sz="2600" dirty="0"/>
              <a:t>  PUBLIC   “${CMAKE_SOURCE_DIR}/include” ) </a:t>
            </a:r>
            <a:r>
              <a:rPr lang="zh-CN" altLang="en-US" sz="2600" dirty="0"/>
              <a:t>修改为</a:t>
            </a:r>
            <a:r>
              <a:rPr lang="en-US" altLang="zh-CN" sz="2600" dirty="0" err="1"/>
              <a:t>target_include_directories</a:t>
            </a:r>
            <a:r>
              <a:rPr lang="en-US" altLang="zh-CN" sz="2600" dirty="0"/>
              <a:t>(</a:t>
            </a:r>
            <a:r>
              <a:rPr lang="en-US" altLang="zh-CN" sz="2600" dirty="0" err="1"/>
              <a:t>loadShaders</a:t>
            </a:r>
            <a:r>
              <a:rPr lang="en-US" altLang="zh-CN" sz="2600" dirty="0"/>
              <a:t>  PUBLIC   “${CMAKE_SOURCE_DIR}/include”  “${CMAKE_SOURCE_DIR}/deps/glad/include”)</a:t>
            </a:r>
            <a:r>
              <a:rPr lang="zh-CN" altLang="en-US" sz="2600" dirty="0"/>
              <a:t>，重新</a:t>
            </a:r>
            <a:r>
              <a:rPr lang="en-US" altLang="zh-CN" sz="2600" dirty="0" err="1"/>
              <a:t>cmake</a:t>
            </a:r>
            <a:r>
              <a:rPr lang="en-US" altLang="zh-CN" sz="2600" dirty="0"/>
              <a:t> –build .</a:t>
            </a:r>
          </a:p>
          <a:p>
            <a:pPr>
              <a:lnSpc>
                <a:spcPct val="125000"/>
              </a:lnSpc>
            </a:pPr>
            <a:endParaRPr lang="en-US" altLang="zh-CN" sz="2600" dirty="0"/>
          </a:p>
          <a:p>
            <a:pPr>
              <a:lnSpc>
                <a:spcPct val="125000"/>
              </a:lnSpc>
            </a:pPr>
            <a:endParaRPr lang="en-US" altLang="zh-CN" sz="2600" dirty="0"/>
          </a:p>
          <a:p>
            <a:pPr>
              <a:lnSpc>
                <a:spcPct val="125000"/>
              </a:lnSpc>
            </a:pPr>
            <a:endParaRPr lang="en-US" altLang="zh-CN" sz="2600" dirty="0"/>
          </a:p>
          <a:p>
            <a:pPr marL="0" indent="0">
              <a:lnSpc>
                <a:spcPct val="125000"/>
              </a:lnSpc>
              <a:buNone/>
            </a:pPr>
            <a:endParaRPr lang="zh-CN" altLang="en-US" sz="2600" dirty="0"/>
          </a:p>
        </p:txBody>
      </p:sp>
      <p:pic>
        <p:nvPicPr>
          <p:cNvPr id="10" name="图片 9" descr="文本&#10;&#10;AI 生成的内容可能不正确。">
            <a:extLst>
              <a:ext uri="{FF2B5EF4-FFF2-40B4-BE49-F238E27FC236}">
                <a16:creationId xmlns:a16="http://schemas.microsoft.com/office/drawing/2014/main" id="{B724B3FA-94E6-B9A4-C177-C75B40866D37}"/>
              </a:ext>
            </a:extLst>
          </p:cNvPr>
          <p:cNvPicPr>
            <a:picLocks noChangeAspect="1"/>
          </p:cNvPicPr>
          <p:nvPr/>
        </p:nvPicPr>
        <p:blipFill>
          <a:blip r:embed="rId3"/>
          <a:srcRect t="16361"/>
          <a:stretch>
            <a:fillRect/>
          </a:stretch>
        </p:blipFill>
        <p:spPr>
          <a:xfrm>
            <a:off x="1295400" y="2078876"/>
            <a:ext cx="9601200" cy="1131256"/>
          </a:xfrm>
          <a:prstGeom prst="rect">
            <a:avLst/>
          </a:prstGeom>
        </p:spPr>
      </p:pic>
      <p:sp>
        <p:nvSpPr>
          <p:cNvPr id="14" name="标题 1">
            <a:extLst>
              <a:ext uri="{FF2B5EF4-FFF2-40B4-BE49-F238E27FC236}">
                <a16:creationId xmlns:a16="http://schemas.microsoft.com/office/drawing/2014/main" id="{0D0E2713-4EFE-23E7-AB53-C0858436E054}"/>
              </a:ext>
            </a:extLst>
          </p:cNvPr>
          <p:cNvSpPr>
            <a:spLocks noGrp="1"/>
          </p:cNvSpPr>
          <p:nvPr>
            <p:ph type="title"/>
          </p:nvPr>
        </p:nvSpPr>
        <p:spPr>
          <a:xfrm>
            <a:off x="838200" y="365125"/>
            <a:ext cx="10515600" cy="1325563"/>
          </a:xfrm>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cs typeface="Arial" panose="020B0604020202020204" pitchFamily="34" charset="0"/>
              </a:rPr>
              <a:t>-</a:t>
            </a:r>
            <a:r>
              <a:rPr lang="zh-CN" altLang="en-US" b="1" dirty="0">
                <a:cs typeface="Arial" panose="020B0604020202020204" pitchFamily="34" charset="0"/>
              </a:rPr>
              <a:t>可能报错</a:t>
            </a:r>
            <a:r>
              <a:rPr lang="en-US" altLang="zh-CN" b="1" dirty="0">
                <a:cs typeface="Arial" panose="020B0604020202020204" pitchFamily="34" charset="0"/>
              </a:rPr>
              <a:t>&amp;</a:t>
            </a:r>
            <a:r>
              <a:rPr lang="zh-CN" altLang="en-US" b="1" dirty="0">
                <a:cs typeface="Arial" panose="020B0604020202020204" pitchFamily="34" charset="0"/>
              </a:rPr>
              <a:t>解决方法</a:t>
            </a:r>
            <a:endParaRPr lang="zh-CN" altLang="en-US" dirty="0"/>
          </a:p>
        </p:txBody>
      </p:sp>
    </p:spTree>
    <p:extLst>
      <p:ext uri="{BB962C8B-B14F-4D97-AF65-F5344CB8AC3E}">
        <p14:creationId xmlns:p14="http://schemas.microsoft.com/office/powerpoint/2010/main" val="684791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624D7-374A-9BE7-B925-6BC9BA409ECC}"/>
            </a:ext>
          </a:extLst>
        </p:cNvPr>
        <p:cNvGrpSpPr/>
        <p:nvPr/>
      </p:nvGrpSpPr>
      <p:grpSpPr>
        <a:xfrm>
          <a:off x="0" y="0"/>
          <a:ext cx="0" cy="0"/>
          <a:chOff x="0" y="0"/>
          <a:chExt cx="0" cy="0"/>
        </a:xfrm>
      </p:grpSpPr>
      <p:sp>
        <p:nvSpPr>
          <p:cNvPr id="5" name="内容占位符 4">
            <a:extLst>
              <a:ext uri="{FF2B5EF4-FFF2-40B4-BE49-F238E27FC236}">
                <a16:creationId xmlns:a16="http://schemas.microsoft.com/office/drawing/2014/main" id="{132338CC-F658-F7C5-80DA-90C1D9CB5779}"/>
              </a:ext>
            </a:extLst>
          </p:cNvPr>
          <p:cNvSpPr>
            <a:spLocks noGrp="1"/>
          </p:cNvSpPr>
          <p:nvPr>
            <p:ph idx="1"/>
          </p:nvPr>
        </p:nvSpPr>
        <p:spPr>
          <a:xfrm>
            <a:off x="726839" y="1434774"/>
            <a:ext cx="11221729" cy="644102"/>
          </a:xfrm>
        </p:spPr>
        <p:txBody>
          <a:bodyPr>
            <a:noAutofit/>
          </a:bodyPr>
          <a:lstStyle/>
          <a:p>
            <a:pPr>
              <a:lnSpc>
                <a:spcPct val="125000"/>
              </a:lnSpc>
            </a:pPr>
            <a:r>
              <a:rPr lang="zh-CN" altLang="en-US" sz="2400" dirty="0"/>
              <a:t>如果在 </a:t>
            </a:r>
            <a:r>
              <a:rPr lang="en-US" altLang="zh-CN" sz="2400" dirty="0"/>
              <a:t>./main </a:t>
            </a:r>
            <a:r>
              <a:rPr lang="zh-CN" altLang="en-US" sz="2400" dirty="0"/>
              <a:t>时报错：</a:t>
            </a:r>
            <a:r>
              <a:rPr lang="en-US" altLang="zh-CN" sz="2400" dirty="0"/>
              <a:t>Failed to initialize GLEW.</a:t>
            </a:r>
          </a:p>
          <a:p>
            <a:pPr>
              <a:lnSpc>
                <a:spcPct val="125000"/>
              </a:lnSpc>
            </a:pPr>
            <a:r>
              <a:rPr lang="zh-CN" altLang="en-US" sz="2400" dirty="0"/>
              <a:t>在当前终端内：</a:t>
            </a:r>
            <a:endParaRPr lang="en-US" altLang="zh-CN" sz="2400" dirty="0"/>
          </a:p>
          <a:p>
            <a:pPr lvl="1">
              <a:lnSpc>
                <a:spcPct val="125000"/>
              </a:lnSpc>
            </a:pPr>
            <a:r>
              <a:rPr lang="en-US" altLang="zh-CN" dirty="0"/>
              <a:t>export XDG_SESSION_TYPE=x11 </a:t>
            </a:r>
          </a:p>
          <a:p>
            <a:pPr lvl="1">
              <a:lnSpc>
                <a:spcPct val="125000"/>
              </a:lnSpc>
            </a:pPr>
            <a:r>
              <a:rPr lang="zh-CN" altLang="en-US" dirty="0"/>
              <a:t>重新</a:t>
            </a:r>
            <a:r>
              <a:rPr lang="en-US" altLang="zh-CN" dirty="0"/>
              <a:t> ./main</a:t>
            </a:r>
          </a:p>
          <a:p>
            <a:pPr>
              <a:lnSpc>
                <a:spcPct val="125000"/>
              </a:lnSpc>
            </a:pPr>
            <a:r>
              <a:rPr lang="zh-CN" altLang="en-US" sz="2400" dirty="0"/>
              <a:t>如果依旧报错：</a:t>
            </a:r>
            <a:r>
              <a:rPr lang="en-US" altLang="zh-CN" sz="2400" dirty="0"/>
              <a:t> Failed to initialize GLEW.</a:t>
            </a:r>
          </a:p>
          <a:p>
            <a:pPr lvl="1">
              <a:lnSpc>
                <a:spcPct val="125000"/>
              </a:lnSpc>
            </a:pPr>
            <a:r>
              <a:rPr lang="zh-CN" altLang="en-US" dirty="0"/>
              <a:t>执行 </a:t>
            </a:r>
            <a:r>
              <a:rPr lang="en-US" altLang="zh-CN" dirty="0" err="1"/>
              <a:t>sudo</a:t>
            </a:r>
            <a:r>
              <a:rPr lang="en-US" altLang="zh-CN" dirty="0"/>
              <a:t> apt install open-</a:t>
            </a:r>
            <a:r>
              <a:rPr lang="en-US" altLang="zh-CN" dirty="0" err="1"/>
              <a:t>vm</a:t>
            </a:r>
            <a:r>
              <a:rPr lang="en-US" altLang="zh-CN" dirty="0"/>
              <a:t>-tools-desktop </a:t>
            </a:r>
          </a:p>
          <a:p>
            <a:pPr lvl="1">
              <a:lnSpc>
                <a:spcPct val="125000"/>
              </a:lnSpc>
            </a:pPr>
            <a:r>
              <a:rPr lang="zh-CN" altLang="en-US" dirty="0"/>
              <a:t>重启虚拟机</a:t>
            </a:r>
            <a:endParaRPr lang="en-US" altLang="zh-CN" dirty="0"/>
          </a:p>
          <a:p>
            <a:pPr lvl="1">
              <a:lnSpc>
                <a:spcPct val="125000"/>
              </a:lnSpc>
            </a:pPr>
            <a:r>
              <a:rPr lang="zh-CN" altLang="en-US" dirty="0"/>
              <a:t>进入对应文件夹位置后 </a:t>
            </a:r>
            <a:r>
              <a:rPr lang="en-US" altLang="zh-CN" dirty="0"/>
              <a:t>export XDG_SESSION_TYPE=x11</a:t>
            </a:r>
          </a:p>
          <a:p>
            <a:pPr lvl="1">
              <a:lnSpc>
                <a:spcPct val="125000"/>
              </a:lnSpc>
            </a:pPr>
            <a:r>
              <a:rPr lang="zh-CN" altLang="en-US" dirty="0"/>
              <a:t>重新</a:t>
            </a:r>
            <a:r>
              <a:rPr lang="en-US" altLang="zh-CN" dirty="0"/>
              <a:t>./main</a:t>
            </a:r>
          </a:p>
          <a:p>
            <a:pPr lvl="1">
              <a:lnSpc>
                <a:spcPct val="125000"/>
              </a:lnSpc>
            </a:pPr>
            <a:endParaRPr lang="en-US" altLang="zh-CN" sz="2000" dirty="0"/>
          </a:p>
        </p:txBody>
      </p:sp>
      <p:sp>
        <p:nvSpPr>
          <p:cNvPr id="14" name="标题 1">
            <a:extLst>
              <a:ext uri="{FF2B5EF4-FFF2-40B4-BE49-F238E27FC236}">
                <a16:creationId xmlns:a16="http://schemas.microsoft.com/office/drawing/2014/main" id="{3C27103B-8C18-FA9B-04EA-E79A82794E7B}"/>
              </a:ext>
            </a:extLst>
          </p:cNvPr>
          <p:cNvSpPr>
            <a:spLocks noGrp="1"/>
          </p:cNvSpPr>
          <p:nvPr>
            <p:ph type="title"/>
          </p:nvPr>
        </p:nvSpPr>
        <p:spPr>
          <a:xfrm>
            <a:off x="838200" y="365125"/>
            <a:ext cx="10515600" cy="1325563"/>
          </a:xfrm>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cs typeface="Arial" panose="020B0604020202020204" pitchFamily="34" charset="0"/>
              </a:rPr>
              <a:t>-</a:t>
            </a:r>
            <a:r>
              <a:rPr lang="zh-CN" altLang="en-US" b="1" dirty="0">
                <a:cs typeface="Arial" panose="020B0604020202020204" pitchFamily="34" charset="0"/>
              </a:rPr>
              <a:t>可能报错</a:t>
            </a:r>
            <a:r>
              <a:rPr lang="en-US" altLang="zh-CN" b="1" dirty="0">
                <a:cs typeface="Arial" panose="020B0604020202020204" pitchFamily="34" charset="0"/>
              </a:rPr>
              <a:t>&amp;</a:t>
            </a:r>
            <a:r>
              <a:rPr lang="zh-CN" altLang="en-US" b="1" dirty="0">
                <a:cs typeface="Arial" panose="020B0604020202020204" pitchFamily="34" charset="0"/>
              </a:rPr>
              <a:t>解决方法</a:t>
            </a:r>
            <a:endParaRPr lang="zh-CN" altLang="en-US" dirty="0"/>
          </a:p>
        </p:txBody>
      </p:sp>
    </p:spTree>
    <p:extLst>
      <p:ext uri="{BB962C8B-B14F-4D97-AF65-F5344CB8AC3E}">
        <p14:creationId xmlns:p14="http://schemas.microsoft.com/office/powerpoint/2010/main" val="3164092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838277" y="1907148"/>
            <a:ext cx="10515600" cy="4857068"/>
          </a:xfrm>
        </p:spPr>
        <p:txBody>
          <a:bodyPr>
            <a:normAutofit fontScale="97500" lnSpcReduction="10000"/>
          </a:bodyPr>
          <a:lstStyle/>
          <a:p>
            <a:pPr marL="0" indent="0">
              <a:lnSpc>
                <a:spcPct val="125000"/>
              </a:lnSpc>
              <a:buNone/>
            </a:pPr>
            <a:endParaRPr lang="zh-CN" altLang="en-US" dirty="0"/>
          </a:p>
          <a:p>
            <a:pPr>
              <a:lnSpc>
                <a:spcPct val="125000"/>
              </a:lnSpc>
            </a:pPr>
            <a:endParaRPr lang="en-US" altLang="zh-CN" dirty="0"/>
          </a:p>
          <a:p>
            <a:pPr>
              <a:lnSpc>
                <a:spcPct val="125000"/>
              </a:lnSpc>
            </a:pPr>
            <a:endParaRPr lang="en-US" altLang="zh-CN" dirty="0"/>
          </a:p>
          <a:p>
            <a:pPr>
              <a:lnSpc>
                <a:spcPct val="125000"/>
              </a:lnSpc>
            </a:pPr>
            <a:endParaRPr lang="en-US" altLang="zh-CN" dirty="0"/>
          </a:p>
          <a:p>
            <a:pPr>
              <a:lnSpc>
                <a:spcPct val="125000"/>
              </a:lnSpc>
            </a:pPr>
            <a:endParaRPr lang="en-US" altLang="zh-CN" dirty="0"/>
          </a:p>
          <a:p>
            <a:pPr>
              <a:lnSpc>
                <a:spcPct val="125000"/>
              </a:lnSpc>
            </a:pPr>
            <a:endParaRPr lang="en-US" altLang="zh-CN" dirty="0"/>
          </a:p>
          <a:p>
            <a:pPr>
              <a:lnSpc>
                <a:spcPct val="125000"/>
              </a:lnSpc>
            </a:pPr>
            <a:r>
              <a:rPr lang="en-US" altLang="zh-CN" dirty="0">
                <a:solidFill>
                  <a:schemeClr val="tx1"/>
                </a:solidFill>
              </a:rPr>
              <a:t>成功启动的界面</a:t>
            </a:r>
            <a:r>
              <a:rPr lang="zh-CN" altLang="en-US" dirty="0">
                <a:solidFill>
                  <a:schemeClr val="tx1"/>
                </a:solidFill>
              </a:rPr>
              <a:t>（成功启动后每个模块的页面布局不一定完全一样，可以自行进行拖动、缩放）</a:t>
            </a:r>
            <a:endParaRPr lang="en-US" altLang="zh-CN" dirty="0">
              <a:solidFill>
                <a:schemeClr val="tx1"/>
              </a:solidFill>
            </a:endParaRPr>
          </a:p>
          <a:p>
            <a:pPr>
              <a:lnSpc>
                <a:spcPct val="125000"/>
              </a:lnSpc>
            </a:pPr>
            <a:endParaRPr lang="en-US" altLang="zh-CN" dirty="0"/>
          </a:p>
          <a:p>
            <a:pPr>
              <a:lnSpc>
                <a:spcPct val="125000"/>
              </a:lnSpc>
            </a:pPr>
            <a:endParaRPr lang="zh-CN" altLang="en-US" dirty="0"/>
          </a:p>
        </p:txBody>
      </p:sp>
      <p:pic>
        <p:nvPicPr>
          <p:cNvPr id="8" name="图片 7">
            <a:extLst>
              <a:ext uri="{FF2B5EF4-FFF2-40B4-BE49-F238E27FC236}">
                <a16:creationId xmlns:a16="http://schemas.microsoft.com/office/drawing/2014/main" id="{C425DC3D-0153-FE5D-4E20-40865D1B9E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96465" y="1500936"/>
            <a:ext cx="7031115" cy="3856127"/>
          </a:xfrm>
          <a:prstGeom prst="rect">
            <a:avLst/>
          </a:prstGeom>
        </p:spPr>
      </p:pic>
      <p:sp>
        <p:nvSpPr>
          <p:cNvPr id="12" name="标题 1">
            <a:extLst>
              <a:ext uri="{FF2B5EF4-FFF2-40B4-BE49-F238E27FC236}">
                <a16:creationId xmlns:a16="http://schemas.microsoft.com/office/drawing/2014/main" id="{94E5EAD6-9F47-2F0B-4F57-C80B72E46155}"/>
              </a:ext>
            </a:extLst>
          </p:cNvPr>
          <p:cNvSpPr>
            <a:spLocks noGrp="1"/>
          </p:cNvSpPr>
          <p:nvPr>
            <p:ph type="title"/>
          </p:nvPr>
        </p:nvSpPr>
        <p:spPr>
          <a:xfrm>
            <a:off x="838200" y="365125"/>
            <a:ext cx="10515600" cy="1325563"/>
          </a:xfrm>
        </p:spPr>
        <p:txBody>
          <a:bodyPr/>
          <a:lstStyle/>
          <a:p>
            <a:r>
              <a:rPr lang="zh-CN" altLang="en-US" b="1" dirty="0">
                <a:solidFill>
                  <a:schemeClr val="tx1"/>
                </a:solidFill>
              </a:rPr>
              <a:t>编译</a:t>
            </a:r>
            <a:r>
              <a:rPr lang="zh-CN" altLang="en-US" b="1" dirty="0">
                <a:solidFill>
                  <a:schemeClr val="tx1"/>
                </a:solidFill>
                <a:cs typeface="Arial" panose="020B0604020202020204" pitchFamily="34" charset="0"/>
              </a:rPr>
              <a:t>说明</a:t>
            </a:r>
            <a:r>
              <a:rPr lang="en-US" altLang="zh-CN" b="1" dirty="0">
                <a:cs typeface="Arial" panose="020B0604020202020204" pitchFamily="34" charset="0"/>
              </a:rPr>
              <a:t>-</a:t>
            </a:r>
            <a:r>
              <a:rPr lang="zh-CN" altLang="en-US" b="1" dirty="0">
                <a:cs typeface="Arial" panose="020B0604020202020204" pitchFamily="34" charset="0"/>
              </a:rPr>
              <a:t>成功界面</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FD112-6DBA-34E8-009C-82E200FDCA9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85455D7-D07E-C909-131A-1645A2354407}"/>
              </a:ext>
            </a:extLst>
          </p:cNvPr>
          <p:cNvSpPr>
            <a:spLocks noGrp="1"/>
          </p:cNvSpPr>
          <p:nvPr>
            <p:ph type="title"/>
          </p:nvPr>
        </p:nvSpPr>
        <p:spPr/>
        <p:txBody>
          <a:bodyPr/>
          <a:lstStyle/>
          <a:p>
            <a:r>
              <a:rPr lang="zh-CN" altLang="en-US" b="1" dirty="0"/>
              <a:t>使用方法</a:t>
            </a:r>
            <a:r>
              <a:rPr lang="en-US" altLang="zh-CN" b="1" dirty="0"/>
              <a:t>-Algorithms</a:t>
            </a:r>
            <a:endParaRPr lang="zh-CN" altLang="en-US" b="1" dirty="0"/>
          </a:p>
        </p:txBody>
      </p:sp>
      <p:sp>
        <p:nvSpPr>
          <p:cNvPr id="4" name="文本框 3">
            <a:extLst>
              <a:ext uri="{FF2B5EF4-FFF2-40B4-BE49-F238E27FC236}">
                <a16:creationId xmlns:a16="http://schemas.microsoft.com/office/drawing/2014/main" id="{D96B2524-D0FB-5440-2BD4-CF336CCD7780}"/>
              </a:ext>
            </a:extLst>
          </p:cNvPr>
          <p:cNvSpPr txBox="1"/>
          <p:nvPr userDrawn="1"/>
        </p:nvSpPr>
        <p:spPr>
          <a:xfrm>
            <a:off x="477079" y="1473792"/>
            <a:ext cx="5355732"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000" dirty="0"/>
              <a:t>算法文件被保存在</a:t>
            </a:r>
            <a:r>
              <a:rPr lang="en-US" altLang="zh-CN" sz="2000" dirty="0"/>
              <a:t>source/lib/algorithms </a:t>
            </a:r>
            <a:r>
              <a:rPr lang="zh-CN" altLang="en-US" sz="2000" dirty="0"/>
              <a:t>文件夹下，</a:t>
            </a:r>
            <a:r>
              <a:rPr lang="en-US" altLang="zh-CN" sz="2000" dirty="0" err="1"/>
              <a:t>CMake</a:t>
            </a:r>
            <a:r>
              <a:rPr lang="en-US" altLang="zh-CN" sz="2000" dirty="0"/>
              <a:t> </a:t>
            </a:r>
            <a:r>
              <a:rPr lang="zh-CN" altLang="en-US" sz="2000" dirty="0"/>
              <a:t>会自动读取并编译文件夹下的所有文件作为接口库供系统调用，在</a:t>
            </a:r>
            <a:r>
              <a:rPr lang="en-US" altLang="zh-CN" sz="2000" dirty="0"/>
              <a:t>main.cpp </a:t>
            </a:r>
            <a:r>
              <a:rPr lang="zh-CN" altLang="en-US" sz="2000" dirty="0"/>
              <a:t>中的</a:t>
            </a:r>
            <a:r>
              <a:rPr lang="en-US" altLang="zh-CN" sz="2000" dirty="0"/>
              <a:t>solvers </a:t>
            </a:r>
            <a:r>
              <a:rPr lang="zh-CN" altLang="en-US" sz="2000" dirty="0"/>
              <a:t>列表中注册算法函数。</a:t>
            </a:r>
            <a:endParaRPr lang="en-US" altLang="zh-CN" sz="2000" dirty="0"/>
          </a:p>
          <a:p>
            <a:pPr marL="685800" lvl="1" indent="-228600" defTabSz="0">
              <a:lnSpc>
                <a:spcPct val="145000"/>
              </a:lnSpc>
              <a:spcBef>
                <a:spcPts val="500"/>
              </a:spcBef>
              <a:spcAft>
                <a:spcPct val="0"/>
              </a:spcAft>
              <a:buFont typeface="Arial" panose="020B0604020202020204" pitchFamily="34" charset="0"/>
              <a:buChar char="•"/>
            </a:pPr>
            <a:r>
              <a:rPr lang="en-US" altLang="zh-CN" sz="2000" dirty="0"/>
              <a:t>UI</a:t>
            </a:r>
            <a:r>
              <a:rPr lang="zh-CN" altLang="en-US" sz="2000" dirty="0"/>
              <a:t>界面里读入模型后可以选择需要运行的算法。</a:t>
            </a:r>
            <a:r>
              <a:rPr lang="en-US" altLang="zh-CN" sz="2000" dirty="0"/>
              <a:t>Algorithms</a:t>
            </a:r>
            <a:r>
              <a:rPr lang="zh-CN" altLang="en-US" sz="2000" dirty="0"/>
              <a:t>列表中展示所有注册过的算法，右侧会显示当前选中的算法，未选中时显示</a:t>
            </a:r>
            <a:r>
              <a:rPr lang="en-US" altLang="zh-CN" sz="2000" dirty="0"/>
              <a:t>None</a:t>
            </a:r>
            <a:r>
              <a:rPr lang="zh-CN" altLang="en-US" sz="2000" dirty="0"/>
              <a:t>。 </a:t>
            </a:r>
            <a:endParaRPr lang="en-US" altLang="zh-CN" sz="2000" dirty="0"/>
          </a:p>
          <a:p>
            <a:pPr marL="685800" lvl="1" indent="-228600" defTabSz="0">
              <a:lnSpc>
                <a:spcPct val="145000"/>
              </a:lnSpc>
              <a:spcBef>
                <a:spcPts val="500"/>
              </a:spcBef>
              <a:spcAft>
                <a:spcPct val="0"/>
              </a:spcAft>
              <a:buFont typeface="Arial" panose="020B0604020202020204" pitchFamily="34" charset="0"/>
              <a:buChar char="•"/>
            </a:pPr>
            <a:endParaRPr lang="en-US" altLang="zh-CN" sz="2000" dirty="0"/>
          </a:p>
        </p:txBody>
      </p:sp>
      <p:pic>
        <p:nvPicPr>
          <p:cNvPr id="3" name="图片 2">
            <a:extLst>
              <a:ext uri="{FF2B5EF4-FFF2-40B4-BE49-F238E27FC236}">
                <a16:creationId xmlns:a16="http://schemas.microsoft.com/office/drawing/2014/main" id="{431D1C82-3C58-2C73-CD19-0C2C1F436D51}"/>
              </a:ext>
            </a:extLst>
          </p:cNvPr>
          <p:cNvPicPr>
            <a:picLocks noChangeAspect="1"/>
          </p:cNvPicPr>
          <p:nvPr/>
        </p:nvPicPr>
        <p:blipFill>
          <a:blip r:embed="rId3">
            <a:extLst>
              <a:ext uri="{28A0092B-C50C-407E-A947-70E740481C1C}">
                <a14:useLocalDpi xmlns:a14="http://schemas.microsoft.com/office/drawing/2010/main" val="0"/>
              </a:ext>
            </a:extLst>
          </a:blip>
          <a:srcRect b="67950"/>
          <a:stretch>
            <a:fillRect/>
          </a:stretch>
        </p:blipFill>
        <p:spPr>
          <a:xfrm>
            <a:off x="6193932" y="1473792"/>
            <a:ext cx="5355732" cy="2750468"/>
          </a:xfrm>
          <a:prstGeom prst="rect">
            <a:avLst/>
          </a:prstGeom>
        </p:spPr>
      </p:pic>
    </p:spTree>
    <p:extLst>
      <p:ext uri="{BB962C8B-B14F-4D97-AF65-F5344CB8AC3E}">
        <p14:creationId xmlns:p14="http://schemas.microsoft.com/office/powerpoint/2010/main" val="27416318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17949-8AE0-9165-0B20-0BDBCE208DC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17CACF2-8B62-C384-BCE1-014FB9277B4A}"/>
              </a:ext>
            </a:extLst>
          </p:cNvPr>
          <p:cNvSpPr>
            <a:spLocks noGrp="1"/>
          </p:cNvSpPr>
          <p:nvPr>
            <p:ph type="title"/>
          </p:nvPr>
        </p:nvSpPr>
        <p:spPr/>
        <p:txBody>
          <a:bodyPr/>
          <a:lstStyle/>
          <a:p>
            <a:r>
              <a:rPr lang="zh-CN" altLang="en-US" b="1" dirty="0"/>
              <a:t>使用方法</a:t>
            </a:r>
            <a:r>
              <a:rPr lang="en-US" altLang="zh-CN" b="1" dirty="0"/>
              <a:t>-Algorithms</a:t>
            </a:r>
            <a:endParaRPr lang="zh-CN" altLang="en-US" b="1" dirty="0"/>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B0A4CEB-F8D6-2C85-27EF-DD0F54C21F75}"/>
                  </a:ext>
                </a:extLst>
              </p:cNvPr>
              <p:cNvSpPr txBox="1"/>
              <p:nvPr userDrawn="1"/>
            </p:nvSpPr>
            <p:spPr>
              <a:xfrm>
                <a:off x="616471" y="1473792"/>
                <a:ext cx="5624531" cy="1716888"/>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选择算法后点击下方的</a:t>
                </a:r>
                <a:r>
                  <a:rPr lang="en-US" altLang="zh-CN" sz="2400" dirty="0"/>
                  <a:t>Run</a:t>
                </a:r>
                <a:r>
                  <a:rPr lang="zh-CN" altLang="en-US" sz="2400" dirty="0"/>
                  <a:t>按钮运行算法，运行结果在屏幕上展示，同时模型选项卡下的面片数量和顶点数量也会相应改变。本次实验需要同学们完成以下功能：</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Loop Subdivision</a:t>
                </a:r>
                <a:r>
                  <a:rPr lang="zh-CN" altLang="en-US" sz="2400" dirty="0"/>
                  <a:t>：</a:t>
                </a:r>
                <a:r>
                  <a:rPr lang="en-US" altLang="zh-CN" sz="2400" dirty="0"/>
                  <a:t>Loop</a:t>
                </a:r>
                <a:r>
                  <a:rPr lang="zh-CN" altLang="en-US" sz="2400" dirty="0"/>
                  <a:t>细分</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en-US" altLang="zh-CN" sz="2400" dirty="0"/>
                  <a:t>Root3 Subdivision</a:t>
                </a:r>
                <a:r>
                  <a:rPr lang="zh-CN" altLang="en-US" sz="2400" dirty="0"/>
                  <a:t>：</a:t>
                </a:r>
                <a14:m>
                  <m:oMath xmlns:m="http://schemas.openxmlformats.org/officeDocument/2006/math">
                    <m:rad>
                      <m:radPr>
                        <m:degHide m:val="on"/>
                        <m:ctrlPr>
                          <a:rPr lang="en-US" altLang="zh-CN" sz="2400" i="1" dirty="0" smtClean="0">
                            <a:latin typeface="Cambria Math" panose="02040503050406030204" pitchFamily="18" charset="0"/>
                          </a:rPr>
                        </m:ctrlPr>
                      </m:radPr>
                      <m:deg/>
                      <m:e>
                        <m:r>
                          <a:rPr lang="en-US" altLang="zh-CN" sz="2400" i="1" dirty="0" smtClean="0">
                            <a:latin typeface="Cambria Math" panose="02040503050406030204" pitchFamily="18" charset="0"/>
                          </a:rPr>
                          <m:t>3</m:t>
                        </m:r>
                      </m:e>
                    </m:rad>
                  </m:oMath>
                </a14:m>
                <a:r>
                  <a:rPr lang="zh-CN" altLang="en-US" sz="2400" dirty="0"/>
                  <a:t>细分</a:t>
                </a:r>
                <a:endParaRPr lang="en-US" altLang="zh-CN" sz="2400" dirty="0"/>
              </a:p>
            </p:txBody>
          </p:sp>
        </mc:Choice>
        <mc:Fallback xmlns="">
          <p:sp>
            <p:nvSpPr>
              <p:cNvPr id="4" name="文本框 3">
                <a:extLst>
                  <a:ext uri="{FF2B5EF4-FFF2-40B4-BE49-F238E27FC236}">
                    <a16:creationId xmlns:a16="http://schemas.microsoft.com/office/drawing/2014/main" id="{4B0A4CEB-F8D6-2C85-27EF-DD0F54C21F75}"/>
                  </a:ext>
                </a:extLst>
              </p:cNvPr>
              <p:cNvSpPr txBox="1">
                <a:spLocks noRot="1" noChangeAspect="1" noMove="1" noResize="1" noEditPoints="1" noAdjustHandles="1" noChangeArrowheads="1" noChangeShapeType="1" noTextEdit="1"/>
              </p:cNvSpPr>
              <p:nvPr userDrawn="1"/>
            </p:nvSpPr>
            <p:spPr>
              <a:xfrm>
                <a:off x="616471" y="1473792"/>
                <a:ext cx="5624531" cy="1716888"/>
              </a:xfrm>
              <a:prstGeom prst="rect">
                <a:avLst/>
              </a:prstGeom>
              <a:blipFill>
                <a:blip r:embed="rId2"/>
                <a:stretch>
                  <a:fillRect b="-137011"/>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4303E9A9-82C8-8FE2-92AA-0BD65DC73366}"/>
              </a:ext>
            </a:extLst>
          </p:cNvPr>
          <p:cNvPicPr>
            <a:picLocks noChangeAspect="1"/>
          </p:cNvPicPr>
          <p:nvPr/>
        </p:nvPicPr>
        <p:blipFill>
          <a:blip r:embed="rId3">
            <a:extLst>
              <a:ext uri="{28A0092B-C50C-407E-A947-70E740481C1C}">
                <a14:useLocalDpi xmlns:a14="http://schemas.microsoft.com/office/drawing/2010/main" val="0"/>
              </a:ext>
            </a:extLst>
          </a:blip>
          <a:srcRect r="61894"/>
          <a:stretch>
            <a:fillRect/>
          </a:stretch>
        </p:blipFill>
        <p:spPr>
          <a:xfrm>
            <a:off x="6684885" y="570221"/>
            <a:ext cx="3897297" cy="5922654"/>
          </a:xfrm>
          <a:prstGeom prst="rect">
            <a:avLst/>
          </a:prstGeom>
        </p:spPr>
      </p:pic>
    </p:spTree>
    <p:extLst>
      <p:ext uri="{BB962C8B-B14F-4D97-AF65-F5344CB8AC3E}">
        <p14:creationId xmlns:p14="http://schemas.microsoft.com/office/powerpoint/2010/main" val="139976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E07FF3C1-04B8-481C-40E9-FE6723391345}"/>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a:t>理论背景</a:t>
            </a:r>
            <a:r>
              <a:rPr lang="en-US" altLang="zh-CN" b="1" dirty="0"/>
              <a:t>-Loop</a:t>
            </a:r>
            <a:r>
              <a:rPr lang="zh-CN" altLang="en-US" b="1" dirty="0"/>
              <a:t>细分</a:t>
            </a:r>
          </a:p>
        </p:txBody>
      </p:sp>
      <p:sp>
        <p:nvSpPr>
          <p:cNvPr id="5" name="文本框 4">
            <a:extLst>
              <a:ext uri="{FF2B5EF4-FFF2-40B4-BE49-F238E27FC236}">
                <a16:creationId xmlns:a16="http://schemas.microsoft.com/office/drawing/2014/main" id="{0BEBB43D-490E-462D-A639-073D38A22A8C}"/>
              </a:ext>
            </a:extLst>
          </p:cNvPr>
          <p:cNvSpPr txBox="1"/>
          <p:nvPr/>
        </p:nvSpPr>
        <p:spPr>
          <a:xfrm>
            <a:off x="616471" y="1473792"/>
            <a:ext cx="4869929" cy="5779264"/>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en-US" altLang="zh-CN" sz="2400" dirty="0"/>
              <a:t>Loop </a:t>
            </a:r>
            <a:r>
              <a:rPr lang="zh-CN" altLang="en-US" sz="2400" dirty="0"/>
              <a:t>细分算法的核心思想是通过迭代在原本网格的每条边上面插入新的顶点以构造更多三角形。</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按照</a:t>
            </a:r>
            <a:r>
              <a:rPr lang="en-US" altLang="zh-CN" sz="2400" dirty="0"/>
              <a:t>1-4</a:t>
            </a:r>
            <a:r>
              <a:rPr lang="zh-CN" altLang="en-US" sz="2400" dirty="0"/>
              <a:t>三角形分裂，每条边计算生成一个新的顶点，同时每个原始顶点更新位置。右图为</a:t>
            </a:r>
            <a:r>
              <a:rPr lang="en-US" altLang="zh-CN" sz="2400" dirty="0"/>
              <a:t>Loop</a:t>
            </a:r>
            <a:r>
              <a:rPr lang="zh-CN" altLang="en-US" sz="2400" dirty="0"/>
              <a:t>细分格式的细分掩膜。</a:t>
            </a:r>
            <a:endParaRPr lang="en-US" altLang="zh-CN" sz="2400" dirty="0"/>
          </a:p>
        </p:txBody>
      </p:sp>
      <p:pic>
        <p:nvPicPr>
          <p:cNvPr id="1026" name="Picture 2">
            <a:extLst>
              <a:ext uri="{FF2B5EF4-FFF2-40B4-BE49-F238E27FC236}">
                <a16:creationId xmlns:a16="http://schemas.microsoft.com/office/drawing/2014/main" id="{8E3EACE9-B05D-AF16-D239-312B1EFB93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9136" y="1690688"/>
            <a:ext cx="5664664" cy="3694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3161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49D7A-8BEA-E784-552B-1C8B4E0C240E}"/>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8E573652-90B9-B966-593A-03B1E9970E74}"/>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a:t>理论背景</a:t>
            </a:r>
            <a:r>
              <a:rPr lang="en-US" altLang="zh-CN" b="1" dirty="0"/>
              <a:t>-Loop</a:t>
            </a:r>
            <a:r>
              <a:rPr lang="zh-CN" altLang="en-US" b="1" dirty="0"/>
              <a:t>细分</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32FAF07-EE16-805B-D76E-249A397568DB}"/>
                  </a:ext>
                </a:extLst>
              </p:cNvPr>
              <p:cNvSpPr txBox="1"/>
              <p:nvPr/>
            </p:nvSpPr>
            <p:spPr>
              <a:xfrm>
                <a:off x="616471" y="1473792"/>
                <a:ext cx="10515600" cy="1325563"/>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对于新增加的顶点位置以及原始顶点位置更新规则如下：</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400" dirty="0"/>
                  <a:t>网格内部</a:t>
                </a:r>
                <a:r>
                  <a:rPr lang="en-US" altLang="zh-CN" sz="2400" dirty="0"/>
                  <a:t>-</a:t>
                </a:r>
                <a:r>
                  <a:rPr lang="zh-CN" altLang="en-US" sz="2400" dirty="0"/>
                  <a:t>顶点位置：设内部顶点</a:t>
                </a:r>
                <a14:m>
                  <m:oMath xmlns:m="http://schemas.openxmlformats.org/officeDocument/2006/math">
                    <m:r>
                      <a:rPr lang="en-US" altLang="zh-CN" sz="2400" i="1" dirty="0" smtClean="0">
                        <a:latin typeface="Cambria Math" panose="02040503050406030204" pitchFamily="18" charset="0"/>
                      </a:rPr>
                      <m:t>𝑣</m:t>
                    </m:r>
                    <m:r>
                      <a:rPr lang="en-US" altLang="zh-CN" sz="2400" i="1" baseline="-25000" dirty="0">
                        <a:latin typeface="Cambria Math" panose="02040503050406030204" pitchFamily="18" charset="0"/>
                      </a:rPr>
                      <m:t>0</m:t>
                    </m:r>
                  </m:oMath>
                </a14:m>
                <a:r>
                  <a:rPr lang="zh-CN" altLang="en-US" sz="2400" dirty="0"/>
                  <a:t>的相邻点为</a:t>
                </a:r>
                <a14:m>
                  <m:oMath xmlns:m="http://schemas.openxmlformats.org/officeDocument/2006/math">
                    <m:r>
                      <a:rPr lang="en-US" altLang="zh-CN" sz="2400" i="1" dirty="0" smtClean="0">
                        <a:latin typeface="Cambria Math" panose="02040503050406030204" pitchFamily="18" charset="0"/>
                      </a:rPr>
                      <m:t>𝑣</m:t>
                    </m:r>
                    <m:r>
                      <a:rPr lang="en-US" altLang="zh-CN" sz="2400" i="1" baseline="-25000" dirty="0">
                        <a:latin typeface="Cambria Math" panose="02040503050406030204" pitchFamily="18" charset="0"/>
                      </a:rPr>
                      <m:t>1</m:t>
                    </m:r>
                  </m:oMath>
                </a14:m>
                <a:r>
                  <a:rPr lang="zh-CN" altLang="en-US" sz="2400" dirty="0"/>
                  <a:t>、</a:t>
                </a:r>
                <a14:m>
                  <m:oMath xmlns:m="http://schemas.openxmlformats.org/officeDocument/2006/math">
                    <m:r>
                      <a:rPr lang="en-US" altLang="zh-CN" sz="2400" i="1" dirty="0" smtClean="0">
                        <a:latin typeface="Cambria Math" panose="02040503050406030204" pitchFamily="18" charset="0"/>
                      </a:rPr>
                      <m:t>𝑣</m:t>
                    </m:r>
                    <m:r>
                      <a:rPr lang="en-US" altLang="zh-CN" sz="2400" i="1" baseline="-25000" dirty="0">
                        <a:latin typeface="Cambria Math" panose="02040503050406030204" pitchFamily="18" charset="0"/>
                      </a:rPr>
                      <m:t>2</m:t>
                    </m:r>
                  </m:oMath>
                </a14:m>
                <a:r>
                  <a:rPr lang="zh-CN" altLang="en-US" sz="2400" dirty="0"/>
                  <a:t>，</a:t>
                </a:r>
                <a:r>
                  <a:rPr lang="en-US" altLang="zh-CN" sz="2400" dirty="0"/>
                  <a:t>…</a:t>
                </a:r>
                <a:r>
                  <a:rPr lang="zh-CN" altLang="en-US" sz="2400" dirty="0"/>
                  <a:t>，</a:t>
                </a:r>
                <a14:m>
                  <m:oMath xmlns:m="http://schemas.openxmlformats.org/officeDocument/2006/math">
                    <m:r>
                      <a:rPr lang="en-US" altLang="zh-CN" sz="2400" i="1" dirty="0" smtClean="0">
                        <a:latin typeface="Cambria Math" panose="02040503050406030204" pitchFamily="18" charset="0"/>
                      </a:rPr>
                      <m:t>𝑣</m:t>
                    </m:r>
                    <m:r>
                      <a:rPr lang="en-US" altLang="zh-CN" sz="2400" i="1" baseline="-25000" dirty="0" err="1">
                        <a:latin typeface="Cambria Math" panose="02040503050406030204" pitchFamily="18" charset="0"/>
                      </a:rPr>
                      <m:t>𝑛</m:t>
                    </m:r>
                  </m:oMath>
                </a14:m>
                <a:r>
                  <a:rPr lang="zh-CN" altLang="en-US" sz="2400" dirty="0"/>
                  <a:t>，则该顶点更新后位置为：</a:t>
                </a:r>
              </a:p>
              <a:p>
                <a:pPr lvl="1" defTabSz="0">
                  <a:lnSpc>
                    <a:spcPct val="145000"/>
                  </a:lnSpc>
                  <a:spcBef>
                    <a:spcPts val="500"/>
                  </a:spcBef>
                  <a:spcAft>
                    <a:spcPct val="0"/>
                  </a:spcAft>
                </a:pPr>
                <a:endParaRPr lang="en-US" altLang="zh-CN" sz="2400" dirty="0"/>
              </a:p>
            </p:txBody>
          </p:sp>
        </mc:Choice>
        <mc:Fallback xmlns="">
          <p:sp>
            <p:nvSpPr>
              <p:cNvPr id="5" name="文本框 4">
                <a:extLst>
                  <a:ext uri="{FF2B5EF4-FFF2-40B4-BE49-F238E27FC236}">
                    <a16:creationId xmlns:a16="http://schemas.microsoft.com/office/drawing/2014/main" id="{532FAF07-EE16-805B-D76E-249A397568DB}"/>
                  </a:ext>
                </a:extLst>
              </p:cNvPr>
              <p:cNvSpPr txBox="1">
                <a:spLocks noRot="1" noChangeAspect="1" noMove="1" noResize="1" noEditPoints="1" noAdjustHandles="1" noChangeArrowheads="1" noChangeShapeType="1" noTextEdit="1"/>
              </p:cNvSpPr>
              <p:nvPr/>
            </p:nvSpPr>
            <p:spPr>
              <a:xfrm>
                <a:off x="616471" y="1473792"/>
                <a:ext cx="10515600" cy="1325563"/>
              </a:xfrm>
              <a:prstGeom prst="rect">
                <a:avLst/>
              </a:prstGeom>
              <a:blipFill>
                <a:blip r:embed="rId2"/>
                <a:stretch>
                  <a:fillRect r="-232" b="-391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FC20B8F-6C97-D3BA-BB86-AF893DCF3FAD}"/>
                  </a:ext>
                </a:extLst>
              </p:cNvPr>
              <p:cNvSpPr txBox="1"/>
              <p:nvPr/>
            </p:nvSpPr>
            <p:spPr>
              <a:xfrm>
                <a:off x="4277682" y="3199211"/>
                <a:ext cx="3636637" cy="13755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𝑣</m:t>
                      </m:r>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𝑛</m:t>
                          </m:r>
                          <m:r>
                            <a:rPr lang="en-US" altLang="zh-CN" sz="2400" b="0" i="1" smtClean="0">
                              <a:latin typeface="Cambria Math" panose="02040503050406030204" pitchFamily="18" charset="0"/>
                            </a:rPr>
                            <m:t>𝛽</m:t>
                          </m:r>
                        </m:e>
                      </m:d>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𝑣</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𝛽</m:t>
                      </m:r>
                      <m:nary>
                        <m:naryPr>
                          <m:chr m:val="∑"/>
                          <m:ctrlPr>
                            <a:rPr lang="en-US" altLang="zh-CN" sz="2400" b="0" i="1" smtClean="0">
                              <a:latin typeface="Cambria Math" panose="02040503050406030204" pitchFamily="18" charset="0"/>
                            </a:rPr>
                          </m:ctrlPr>
                        </m:naryPr>
                        <m:sub>
                          <m:r>
                            <m:rPr>
                              <m:sty m:val="p"/>
                              <m:brk m:alnAt="23"/>
                            </m:rPr>
                            <a:rPr lang="en-US" altLang="zh-CN" sz="2400" b="0" i="1" smtClean="0">
                              <a:latin typeface="Cambria Math" panose="02040503050406030204" pitchFamily="18" charset="0"/>
                            </a:rPr>
                            <m:t>i</m:t>
                          </m:r>
                          <m:r>
                            <a:rPr lang="en-US" altLang="zh-CN" sz="2400" b="0" i="1" smtClean="0">
                              <a:latin typeface="Cambria Math" panose="02040503050406030204" pitchFamily="18" charset="0"/>
                            </a:rPr>
                            <m:t>=1</m:t>
                          </m:r>
                        </m:sub>
                        <m:sup>
                          <m:r>
                            <m:rPr>
                              <m:sty m:val="p"/>
                            </m:rPr>
                            <a:rPr lang="en-US" altLang="zh-CN" sz="2400" b="0" i="1" smtClean="0">
                              <a:latin typeface="Cambria Math" panose="02040503050406030204" pitchFamily="18" charset="0"/>
                            </a:rPr>
                            <m:t>n</m:t>
                          </m:r>
                        </m:sup>
                        <m:e>
                          <m:sSub>
                            <m:sSubPr>
                              <m:ctrlPr>
                                <a:rPr lang="en-US" altLang="zh-CN" sz="2400" b="0" i="1" smtClean="0">
                                  <a:latin typeface="Cambria Math" panose="02040503050406030204" pitchFamily="18" charset="0"/>
                                </a:rPr>
                              </m:ctrlPr>
                            </m:sSubPr>
                            <m:e>
                              <m:r>
                                <m:rPr>
                                  <m:sty m:val="p"/>
                                </m:rPr>
                                <a:rPr lang="en-US" altLang="zh-CN" sz="2400" b="0" i="1" smtClean="0">
                                  <a:latin typeface="Cambria Math" panose="02040503050406030204" pitchFamily="18" charset="0"/>
                                </a:rPr>
                                <m:t>v</m:t>
                              </m:r>
                            </m:e>
                            <m:sub>
                              <m:r>
                                <a:rPr lang="en-US" altLang="zh-CN" sz="2400" b="0" i="1" smtClean="0">
                                  <a:latin typeface="Cambria Math" panose="02040503050406030204" pitchFamily="18" charset="0"/>
                                </a:rPr>
                                <m:t>𝑖</m:t>
                              </m:r>
                            </m:sub>
                          </m:sSub>
                        </m:e>
                      </m:nary>
                    </m:oMath>
                  </m:oMathPara>
                </a14:m>
                <a:endParaRPr lang="en-US" altLang="zh-CN" sz="2400" b="0" i="1" dirty="0"/>
              </a:p>
              <a:p>
                <a:endParaRPr lang="zh-CN" altLang="en-US" sz="2400" i="1" dirty="0"/>
              </a:p>
            </p:txBody>
          </p:sp>
        </mc:Choice>
        <mc:Fallback xmlns="">
          <p:sp>
            <p:nvSpPr>
              <p:cNvPr id="7" name="文本框 6">
                <a:extLst>
                  <a:ext uri="{FF2B5EF4-FFF2-40B4-BE49-F238E27FC236}">
                    <a16:creationId xmlns:a16="http://schemas.microsoft.com/office/drawing/2014/main" id="{4FC20B8F-6C97-D3BA-BB86-AF893DCF3FAD}"/>
                  </a:ext>
                </a:extLst>
              </p:cNvPr>
              <p:cNvSpPr txBox="1">
                <a:spLocks noRot="1" noChangeAspect="1" noMove="1" noResize="1" noEditPoints="1" noAdjustHandles="1" noChangeArrowheads="1" noChangeShapeType="1" noTextEdit="1"/>
              </p:cNvSpPr>
              <p:nvPr/>
            </p:nvSpPr>
            <p:spPr>
              <a:xfrm>
                <a:off x="4277682" y="3199211"/>
                <a:ext cx="3636637" cy="137556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4772CF0-C70F-7B53-334E-281AF2A2F3FF}"/>
                  </a:ext>
                </a:extLst>
              </p:cNvPr>
              <p:cNvSpPr txBox="1"/>
              <p:nvPr/>
            </p:nvSpPr>
            <p:spPr>
              <a:xfrm>
                <a:off x="4023541" y="4352527"/>
                <a:ext cx="4346383" cy="675891"/>
              </a:xfrm>
              <a:prstGeom prst="rect">
                <a:avLst/>
              </a:prstGeom>
              <a:noFill/>
            </p:spPr>
            <p:txBody>
              <a:bodyPr wrap="none" lIns="0" tIns="0" rIns="0" bIns="0" rtlCol="0">
                <a:spAutoFit/>
              </a:bodyPr>
              <a:lstStyle/>
              <a:p>
                <a:r>
                  <a:rPr lang="zh-CN" altLang="en-US" sz="2400" dirty="0"/>
                  <a:t>其中</a:t>
                </a:r>
                <a14:m>
                  <m:oMath xmlns:m="http://schemas.openxmlformats.org/officeDocument/2006/math">
                    <m:r>
                      <a:rPr lang="en-US" altLang="zh-CN" sz="2400" b="0" i="1" smtClean="0">
                        <a:latin typeface="Cambria Math" panose="02040503050406030204" pitchFamily="18" charset="0"/>
                      </a:rPr>
                      <m:t>𝛽</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m:rPr>
                            <m:sty m:val="p"/>
                          </m:rPr>
                          <a:rPr lang="en-US" altLang="zh-CN" sz="2400" b="0" i="1" smtClean="0">
                            <a:latin typeface="Cambria Math" panose="02040503050406030204" pitchFamily="18" charset="0"/>
                          </a:rPr>
                          <m:t>n</m:t>
                        </m:r>
                      </m:den>
                    </m:f>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f>
                          <m:fPr>
                            <m:ctrlPr>
                              <a:rPr lang="en-US" altLang="zh-CN" sz="2400" i="1">
                                <a:latin typeface="Cambria Math" panose="02040503050406030204" pitchFamily="18" charset="0"/>
                              </a:rPr>
                            </m:ctrlPr>
                          </m:fPr>
                          <m:num>
                            <m:r>
                              <a:rPr lang="en-US" altLang="zh-CN" sz="2400" b="0" i="1" smtClean="0">
                                <a:latin typeface="Cambria Math" panose="02040503050406030204" pitchFamily="18" charset="0"/>
                              </a:rPr>
                              <m:t>5</m:t>
                            </m:r>
                          </m:num>
                          <m:den>
                            <m:r>
                              <a:rPr lang="en-US" altLang="zh-CN" sz="2400" b="0" i="1" smtClean="0">
                                <a:latin typeface="Cambria Math" panose="02040503050406030204" pitchFamily="18" charset="0"/>
                              </a:rPr>
                              <m:t>8</m:t>
                            </m:r>
                          </m:den>
                        </m:f>
                        <m:r>
                          <a:rPr lang="en-US" altLang="zh-CN" sz="2400" b="0" i="1" smtClean="0">
                            <a:latin typeface="Cambria Math" panose="02040503050406030204" pitchFamily="18" charset="0"/>
                          </a:rPr>
                          <m:t>−</m:t>
                        </m:r>
                        <m:sSup>
                          <m:sSupPr>
                            <m:ctrlPr>
                              <a:rPr lang="en-US" altLang="zh-CN" sz="2400" b="0" i="1" smtClean="0">
                                <a:latin typeface="Cambria Math" panose="02040503050406030204" pitchFamily="18" charset="0"/>
                              </a:rPr>
                            </m:ctrlPr>
                          </m:sSupPr>
                          <m:e>
                            <m:d>
                              <m:dPr>
                                <m:ctrlPr>
                                  <a:rPr lang="en-US" altLang="zh-CN" sz="2400" b="0" i="1" smtClean="0">
                                    <a:latin typeface="Cambria Math" panose="02040503050406030204" pitchFamily="18" charset="0"/>
                                  </a:rPr>
                                </m:ctrlPr>
                              </m:dPr>
                              <m:e>
                                <m:f>
                                  <m:fPr>
                                    <m:ctrlPr>
                                      <a:rPr lang="en-US" altLang="zh-CN" sz="2400" i="1">
                                        <a:latin typeface="Cambria Math" panose="02040503050406030204" pitchFamily="18" charset="0"/>
                                      </a:rPr>
                                    </m:ctrlPr>
                                  </m:fPr>
                                  <m:num>
                                    <m:r>
                                      <a:rPr lang="en-US" altLang="zh-CN" sz="2400" b="0" i="1" smtClean="0">
                                        <a:latin typeface="Cambria Math" panose="02040503050406030204" pitchFamily="18" charset="0"/>
                                      </a:rPr>
                                      <m:t>3</m:t>
                                    </m:r>
                                  </m:num>
                                  <m:den>
                                    <m:r>
                                      <a:rPr lang="en-US" altLang="zh-CN" sz="2400" b="0" i="1" smtClean="0">
                                        <a:latin typeface="Cambria Math" panose="02040503050406030204" pitchFamily="18" charset="0"/>
                                      </a:rPr>
                                      <m:t>8</m:t>
                                    </m:r>
                                  </m:den>
                                </m:f>
                                <m:r>
                                  <a:rPr lang="en-US" altLang="zh-CN" sz="2400" b="0" i="1" smtClean="0">
                                    <a:latin typeface="Cambria Math" panose="02040503050406030204" pitchFamily="18" charset="0"/>
                                  </a:rPr>
                                  <m:t>+</m:t>
                                </m:r>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b="0" i="1" smtClean="0">
                                        <a:latin typeface="Cambria Math" panose="02040503050406030204" pitchFamily="18" charset="0"/>
                                      </a:rPr>
                                      <m:t>4</m:t>
                                    </m:r>
                                  </m:den>
                                </m:f>
                                <m:r>
                                  <a:rPr lang="en-US" altLang="zh-CN" sz="2400" b="0" i="1" smtClean="0">
                                    <a:latin typeface="Cambria Math" panose="02040503050406030204" pitchFamily="18" charset="0"/>
                                  </a:rPr>
                                  <m:t>𝑐𝑜𝑠</m:t>
                                </m:r>
                                <m:f>
                                  <m:fPr>
                                    <m:ctrlPr>
                                      <a:rPr lang="en-US" altLang="zh-CN" sz="2400" i="1">
                                        <a:latin typeface="Cambria Math" panose="02040503050406030204" pitchFamily="18" charset="0"/>
                                      </a:rPr>
                                    </m:ctrlPr>
                                  </m:fPr>
                                  <m:num>
                                    <m:r>
                                      <a:rPr lang="en-US" altLang="zh-CN" sz="2400" b="0" i="1" smtClean="0">
                                        <a:latin typeface="Cambria Math" panose="02040503050406030204" pitchFamily="18" charset="0"/>
                                      </a:rPr>
                                      <m:t>2</m:t>
                                    </m:r>
                                    <m:r>
                                      <m:rPr>
                                        <m:sty m:val="p"/>
                                      </m:rPr>
                                      <a:rPr lang="en-US" altLang="zh-CN" sz="2400" b="0" i="1" smtClean="0">
                                        <a:latin typeface="Cambria Math" panose="02040503050406030204" pitchFamily="18" charset="0"/>
                                      </a:rPr>
                                      <m:t>π</m:t>
                                    </m:r>
                                  </m:num>
                                  <m:den>
                                    <m:r>
                                      <m:rPr>
                                        <m:sty m:val="p"/>
                                      </m:rPr>
                                      <a:rPr lang="en-US" altLang="zh-CN" sz="2400" i="1">
                                        <a:latin typeface="Cambria Math" panose="02040503050406030204" pitchFamily="18" charset="0"/>
                                      </a:rPr>
                                      <m:t>n</m:t>
                                    </m:r>
                                  </m:den>
                                </m:f>
                              </m:e>
                            </m:d>
                          </m:e>
                          <m:sup>
                            <m:r>
                              <a:rPr lang="en-US" altLang="zh-CN" sz="2400" b="0" i="1" smtClean="0">
                                <a:latin typeface="Cambria Math" panose="02040503050406030204" pitchFamily="18" charset="0"/>
                              </a:rPr>
                              <m:t>2</m:t>
                            </m:r>
                          </m:sup>
                        </m:sSup>
                      </m:e>
                    </m:d>
                  </m:oMath>
                </a14:m>
                <a:endParaRPr lang="en-US" altLang="zh-CN" sz="2400" b="0" i="1" dirty="0">
                  <a:latin typeface="Cambria Math" panose="02040503050406030204" pitchFamily="18" charset="0"/>
                </a:endParaRPr>
              </a:p>
            </p:txBody>
          </p:sp>
        </mc:Choice>
        <mc:Fallback xmlns="">
          <p:sp>
            <p:nvSpPr>
              <p:cNvPr id="8" name="文本框 7">
                <a:extLst>
                  <a:ext uri="{FF2B5EF4-FFF2-40B4-BE49-F238E27FC236}">
                    <a16:creationId xmlns:a16="http://schemas.microsoft.com/office/drawing/2014/main" id="{C4772CF0-C70F-7B53-334E-281AF2A2F3FF}"/>
                  </a:ext>
                </a:extLst>
              </p:cNvPr>
              <p:cNvSpPr txBox="1">
                <a:spLocks noRot="1" noChangeAspect="1" noMove="1" noResize="1" noEditPoints="1" noAdjustHandles="1" noChangeArrowheads="1" noChangeShapeType="1" noTextEdit="1"/>
              </p:cNvSpPr>
              <p:nvPr/>
            </p:nvSpPr>
            <p:spPr>
              <a:xfrm>
                <a:off x="4023541" y="4352527"/>
                <a:ext cx="4346383" cy="675891"/>
              </a:xfrm>
              <a:prstGeom prst="rect">
                <a:avLst/>
              </a:prstGeom>
              <a:blipFill>
                <a:blip r:embed="rId4"/>
                <a:stretch>
                  <a:fillRect l="-4208" b="-72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248484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36AED-4E4A-A4C2-495A-400FA23F3035}"/>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C1331180-DA1E-CDC3-387D-58A517300C3C}"/>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a:t>理论背景</a:t>
            </a:r>
            <a:r>
              <a:rPr lang="en-US" altLang="zh-CN" b="1" dirty="0"/>
              <a:t>-Loop</a:t>
            </a:r>
            <a:r>
              <a:rPr lang="zh-CN" altLang="en-US" b="1" dirty="0"/>
              <a:t>细分</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CC012E7-F09A-227B-C43C-2B6BF8125F23}"/>
                  </a:ext>
                </a:extLst>
              </p:cNvPr>
              <p:cNvSpPr txBox="1"/>
              <p:nvPr/>
            </p:nvSpPr>
            <p:spPr>
              <a:xfrm>
                <a:off x="616471" y="1473792"/>
                <a:ext cx="10515600" cy="1325563"/>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对于新增加的顶点位置以及原始顶点位置更新规则如下：</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400" dirty="0"/>
                  <a:t>网格边界</a:t>
                </a:r>
                <a:r>
                  <a:rPr lang="en-US" altLang="zh-CN" sz="2400" dirty="0"/>
                  <a:t>-</a:t>
                </a:r>
                <a:r>
                  <a:rPr lang="zh-CN" altLang="en-US" sz="2400" dirty="0"/>
                  <a:t>顶点位置：设边界顶点</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smtClean="0">
                            <a:latin typeface="Cambria Math" panose="02040503050406030204" pitchFamily="18" charset="0"/>
                          </a:rPr>
                          <m:t>𝑣</m:t>
                        </m:r>
                      </m:e>
                      <m:sub>
                        <m:r>
                          <a:rPr lang="en-US" altLang="zh-CN" sz="2400" i="1" dirty="0" smtClean="0">
                            <a:latin typeface="Cambria Math" panose="02040503050406030204" pitchFamily="18" charset="0"/>
                          </a:rPr>
                          <m:t>0</m:t>
                        </m:r>
                      </m:sub>
                    </m:sSub>
                  </m:oMath>
                </a14:m>
                <a:r>
                  <a:rPr lang="zh-CN" altLang="en-US" sz="2400" dirty="0"/>
                  <a:t>的两个相邻点为</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smtClean="0">
                            <a:latin typeface="Cambria Math" panose="02040503050406030204" pitchFamily="18" charset="0"/>
                          </a:rPr>
                          <m:t>𝑣</m:t>
                        </m:r>
                      </m:e>
                      <m:sub>
                        <m:r>
                          <a:rPr lang="en-US" altLang="zh-CN" sz="2400" i="1" dirty="0" smtClean="0">
                            <a:latin typeface="Cambria Math" panose="02040503050406030204" pitchFamily="18" charset="0"/>
                          </a:rPr>
                          <m:t>1</m:t>
                        </m:r>
                      </m:sub>
                    </m:sSub>
                  </m:oMath>
                </a14:m>
                <a:r>
                  <a:rPr lang="zh-CN" altLang="en-US" sz="2400" dirty="0"/>
                  <a:t>、</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smtClean="0">
                            <a:latin typeface="Cambria Math" panose="02040503050406030204" pitchFamily="18" charset="0"/>
                          </a:rPr>
                          <m:t>𝑣</m:t>
                        </m:r>
                      </m:e>
                      <m:sub>
                        <m:r>
                          <a:rPr lang="en-US" altLang="zh-CN" sz="2400" i="1" dirty="0" smtClean="0">
                            <a:latin typeface="Cambria Math" panose="02040503050406030204" pitchFamily="18" charset="0"/>
                          </a:rPr>
                          <m:t>2</m:t>
                        </m:r>
                      </m:sub>
                    </m:sSub>
                  </m:oMath>
                </a14:m>
                <a:r>
                  <a:rPr lang="zh-CN" altLang="en-US" sz="2400" dirty="0"/>
                  <a:t>，则该顶点更新后位置为</a:t>
                </a:r>
              </a:p>
              <a:p>
                <a:pPr lvl="1" defTabSz="0">
                  <a:lnSpc>
                    <a:spcPct val="145000"/>
                  </a:lnSpc>
                  <a:spcBef>
                    <a:spcPts val="500"/>
                  </a:spcBef>
                  <a:spcAft>
                    <a:spcPct val="0"/>
                  </a:spcAft>
                </a:pPr>
                <a:endParaRPr lang="en-US" altLang="zh-CN" sz="2400" dirty="0"/>
              </a:p>
            </p:txBody>
          </p:sp>
        </mc:Choice>
        <mc:Fallback xmlns="">
          <p:sp>
            <p:nvSpPr>
              <p:cNvPr id="5" name="文本框 4">
                <a:extLst>
                  <a:ext uri="{FF2B5EF4-FFF2-40B4-BE49-F238E27FC236}">
                    <a16:creationId xmlns:a16="http://schemas.microsoft.com/office/drawing/2014/main" id="{8CC012E7-F09A-227B-C43C-2B6BF8125F23}"/>
                  </a:ext>
                </a:extLst>
              </p:cNvPr>
              <p:cNvSpPr txBox="1">
                <a:spLocks noRot="1" noChangeAspect="1" noMove="1" noResize="1" noEditPoints="1" noAdjustHandles="1" noChangeArrowheads="1" noChangeShapeType="1" noTextEdit="1"/>
              </p:cNvSpPr>
              <p:nvPr/>
            </p:nvSpPr>
            <p:spPr>
              <a:xfrm>
                <a:off x="616471" y="1473792"/>
                <a:ext cx="10515600" cy="1325563"/>
              </a:xfrm>
              <a:prstGeom prst="rect">
                <a:avLst/>
              </a:prstGeom>
              <a:blipFill>
                <a:blip r:embed="rId2"/>
                <a:stretch>
                  <a:fillRect b="-391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4ABE630-D0A7-24FF-9519-605305D43FB3}"/>
                  </a:ext>
                </a:extLst>
              </p:cNvPr>
              <p:cNvSpPr txBox="1"/>
              <p:nvPr/>
            </p:nvSpPr>
            <p:spPr>
              <a:xfrm>
                <a:off x="4389953" y="3306216"/>
                <a:ext cx="2968633"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𝑣</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3</m:t>
                          </m:r>
                        </m:num>
                        <m:den>
                          <m:r>
                            <a:rPr lang="en-US" altLang="zh-CN" sz="2400" b="0" i="1" smtClean="0">
                              <a:latin typeface="Cambria Math" panose="02040503050406030204" pitchFamily="18" charset="0"/>
                            </a:rPr>
                            <m:t>4</m:t>
                          </m:r>
                        </m:den>
                      </m:f>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𝑣</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8</m:t>
                          </m:r>
                        </m:den>
                      </m:f>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m:rPr>
                                  <m:sty m:val="p"/>
                                </m:rPr>
                                <a:rPr lang="en-US" altLang="zh-CN" sz="2400" b="0" i="1" smtClean="0">
                                  <a:latin typeface="Cambria Math" panose="02040503050406030204" pitchFamily="18" charset="0"/>
                                </a:rPr>
                                <m:t>v</m:t>
                              </m:r>
                            </m:e>
                            <m:sub>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m:rPr>
                                  <m:sty m:val="p"/>
                                </m:rPr>
                                <a:rPr lang="en-US" altLang="zh-CN" sz="2400" b="0" i="1" smtClean="0">
                                  <a:latin typeface="Cambria Math" panose="02040503050406030204" pitchFamily="18" charset="0"/>
                                </a:rPr>
                                <m:t>v</m:t>
                              </m:r>
                            </m:e>
                            <m:sub>
                              <m:r>
                                <a:rPr lang="en-US" altLang="zh-CN" sz="2400" b="0" i="1" smtClean="0">
                                  <a:latin typeface="Cambria Math" panose="02040503050406030204" pitchFamily="18" charset="0"/>
                                </a:rPr>
                                <m:t>2</m:t>
                              </m:r>
                            </m:sub>
                          </m:sSub>
                        </m:e>
                      </m:d>
                    </m:oMath>
                  </m:oMathPara>
                </a14:m>
                <a:endParaRPr lang="en-US" altLang="zh-CN" sz="2400" b="0" i="1" dirty="0">
                  <a:latin typeface="Cambria Math" panose="02040503050406030204" pitchFamily="18" charset="0"/>
                </a:endParaRPr>
              </a:p>
            </p:txBody>
          </p:sp>
        </mc:Choice>
        <mc:Fallback xmlns="">
          <p:sp>
            <p:nvSpPr>
              <p:cNvPr id="2" name="文本框 1">
                <a:extLst>
                  <a:ext uri="{FF2B5EF4-FFF2-40B4-BE49-F238E27FC236}">
                    <a16:creationId xmlns:a16="http://schemas.microsoft.com/office/drawing/2014/main" id="{54ABE630-D0A7-24FF-9519-605305D43FB3}"/>
                  </a:ext>
                </a:extLst>
              </p:cNvPr>
              <p:cNvSpPr txBox="1">
                <a:spLocks noRot="1" noChangeAspect="1" noMove="1" noResize="1" noEditPoints="1" noAdjustHandles="1" noChangeArrowheads="1" noChangeShapeType="1" noTextEdit="1"/>
              </p:cNvSpPr>
              <p:nvPr/>
            </p:nvSpPr>
            <p:spPr>
              <a:xfrm>
                <a:off x="4389953" y="3306216"/>
                <a:ext cx="2968633" cy="69384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6DFC07B-FB44-2F15-3186-7ACFDAC06C0F}"/>
                  </a:ext>
                </a:extLst>
              </p:cNvPr>
              <p:cNvSpPr txBox="1"/>
              <p:nvPr/>
            </p:nvSpPr>
            <p:spPr>
              <a:xfrm>
                <a:off x="616471" y="4293192"/>
                <a:ext cx="10515600" cy="1325563"/>
              </a:xfrm>
              <a:prstGeom prst="rect">
                <a:avLst/>
              </a:prstGeom>
            </p:spPr>
            <p:txBody>
              <a:bodyPr wrap="square" rtlCol="0">
                <a:noAutofit/>
              </a:bodyPr>
              <a:lstStyle/>
              <a:p>
                <a:pPr marL="1143000" lvl="2" indent="-228600" defTabSz="0">
                  <a:lnSpc>
                    <a:spcPct val="145000"/>
                  </a:lnSpc>
                  <a:spcBef>
                    <a:spcPts val="500"/>
                  </a:spcBef>
                  <a:spcAft>
                    <a:spcPct val="0"/>
                  </a:spcAft>
                  <a:buFont typeface="Arial" panose="020B0604020202020204" pitchFamily="34" charset="0"/>
                  <a:buChar char="•"/>
                </a:pPr>
                <a:r>
                  <a:rPr lang="zh-CN" altLang="en-US" sz="2400" dirty="0"/>
                  <a:t>网格内部</a:t>
                </a:r>
                <a:r>
                  <a:rPr lang="en-US" altLang="zh-CN" sz="2400" dirty="0"/>
                  <a:t>-</a:t>
                </a:r>
                <a:r>
                  <a:rPr lang="zh-CN" altLang="en-US" sz="2400" dirty="0"/>
                  <a:t>顶点位置：设内部边的两个端点为</a:t>
                </a:r>
                <a14:m>
                  <m:oMath xmlns:m="http://schemas.openxmlformats.org/officeDocument/2006/math">
                    <m:r>
                      <a:rPr lang="en-US" altLang="zh-CN" sz="2400" i="1" dirty="0" smtClean="0">
                        <a:latin typeface="Cambria Math" panose="02040503050406030204" pitchFamily="18" charset="0"/>
                      </a:rPr>
                      <m:t>𝑣</m:t>
                    </m:r>
                    <m:r>
                      <a:rPr lang="en-US" altLang="zh-CN" sz="2400" i="1" baseline="-25000" dirty="0">
                        <a:latin typeface="Cambria Math" panose="02040503050406030204" pitchFamily="18" charset="0"/>
                      </a:rPr>
                      <m:t>0</m:t>
                    </m:r>
                  </m:oMath>
                </a14:m>
                <a:r>
                  <a:rPr lang="zh-CN" altLang="en-US" sz="2400" dirty="0"/>
                  <a:t>、</a:t>
                </a:r>
                <a14:m>
                  <m:oMath xmlns:m="http://schemas.openxmlformats.org/officeDocument/2006/math">
                    <m:r>
                      <a:rPr lang="en-US" altLang="zh-CN" sz="2400" i="1" dirty="0" smtClean="0">
                        <a:latin typeface="Cambria Math" panose="02040503050406030204" pitchFamily="18" charset="0"/>
                      </a:rPr>
                      <m:t>𝑣</m:t>
                    </m:r>
                    <m:r>
                      <a:rPr lang="en-US" altLang="zh-CN" sz="2400" i="1" baseline="-25000" dirty="0">
                        <a:latin typeface="Cambria Math" panose="02040503050406030204" pitchFamily="18" charset="0"/>
                      </a:rPr>
                      <m:t>1</m:t>
                    </m:r>
                  </m:oMath>
                </a14:m>
                <a:r>
                  <a:rPr lang="zh-CN" altLang="en-US" sz="2400" dirty="0"/>
                  <a:t>，相对的两个顶点为</a:t>
                </a:r>
                <a14:m>
                  <m:oMath xmlns:m="http://schemas.openxmlformats.org/officeDocument/2006/math">
                    <m:r>
                      <a:rPr lang="en-US" altLang="zh-CN" sz="2400" i="1" dirty="0" smtClean="0">
                        <a:latin typeface="Cambria Math" panose="02040503050406030204" pitchFamily="18" charset="0"/>
                      </a:rPr>
                      <m:t>𝑣</m:t>
                    </m:r>
                    <m:r>
                      <a:rPr lang="en-US" altLang="zh-CN" sz="2400" i="1" baseline="-25000" dirty="0">
                        <a:latin typeface="Cambria Math" panose="02040503050406030204" pitchFamily="18" charset="0"/>
                      </a:rPr>
                      <m:t>2</m:t>
                    </m:r>
                  </m:oMath>
                </a14:m>
                <a:r>
                  <a:rPr lang="zh-CN" altLang="en-US" sz="2400" dirty="0"/>
                  <a:t>、</a:t>
                </a:r>
                <a14:m>
                  <m:oMath xmlns:m="http://schemas.openxmlformats.org/officeDocument/2006/math">
                    <m:r>
                      <a:rPr lang="en-US" altLang="zh-CN" sz="2400" i="1" dirty="0" smtClean="0">
                        <a:latin typeface="Cambria Math" panose="02040503050406030204" pitchFamily="18" charset="0"/>
                      </a:rPr>
                      <m:t>𝑣</m:t>
                    </m:r>
                    <m:r>
                      <a:rPr lang="en-US" altLang="zh-CN" sz="2400" i="1" baseline="-25000" dirty="0">
                        <a:latin typeface="Cambria Math" panose="02040503050406030204" pitchFamily="18" charset="0"/>
                      </a:rPr>
                      <m:t>3</m:t>
                    </m:r>
                  </m:oMath>
                </a14:m>
                <a:r>
                  <a:rPr lang="zh-CN" altLang="en-US" sz="2400" dirty="0"/>
                  <a:t>，则新增加的顶点位置为</a:t>
                </a:r>
              </a:p>
              <a:p>
                <a:pPr lvl="1" defTabSz="0">
                  <a:lnSpc>
                    <a:spcPct val="145000"/>
                  </a:lnSpc>
                  <a:spcBef>
                    <a:spcPts val="500"/>
                  </a:spcBef>
                  <a:spcAft>
                    <a:spcPct val="0"/>
                  </a:spcAft>
                </a:pPr>
                <a:endParaRPr lang="en-US" altLang="zh-CN" sz="2400" dirty="0"/>
              </a:p>
            </p:txBody>
          </p:sp>
        </mc:Choice>
        <mc:Fallback xmlns="">
          <p:sp>
            <p:nvSpPr>
              <p:cNvPr id="3" name="文本框 2">
                <a:extLst>
                  <a:ext uri="{FF2B5EF4-FFF2-40B4-BE49-F238E27FC236}">
                    <a16:creationId xmlns:a16="http://schemas.microsoft.com/office/drawing/2014/main" id="{66DFC07B-FB44-2F15-3186-7ACFDAC06C0F}"/>
                  </a:ext>
                </a:extLst>
              </p:cNvPr>
              <p:cNvSpPr txBox="1">
                <a:spLocks noRot="1" noChangeAspect="1" noMove="1" noResize="1" noEditPoints="1" noAdjustHandles="1" noChangeArrowheads="1" noChangeShapeType="1" noTextEdit="1"/>
              </p:cNvSpPr>
              <p:nvPr/>
            </p:nvSpPr>
            <p:spPr>
              <a:xfrm>
                <a:off x="616471" y="4293192"/>
                <a:ext cx="10515600" cy="132556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0F0CF5E-1D3F-43E0-06F2-EA757203E165}"/>
                  </a:ext>
                </a:extLst>
              </p:cNvPr>
              <p:cNvSpPr txBox="1"/>
              <p:nvPr/>
            </p:nvSpPr>
            <p:spPr>
              <a:xfrm>
                <a:off x="3586881" y="5618755"/>
                <a:ext cx="4157164" cy="106317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400" b="0" i="1" smtClean="0">
                          <a:latin typeface="Cambria Math" panose="02040503050406030204" pitchFamily="18" charset="0"/>
                        </a:rPr>
                        <m:t>v</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3</m:t>
                          </m:r>
                        </m:num>
                        <m:den>
                          <m:r>
                            <a:rPr lang="en-US" altLang="zh-CN" sz="2400" b="0" i="1" smtClean="0">
                              <a:latin typeface="Cambria Math" panose="02040503050406030204" pitchFamily="18" charset="0"/>
                            </a:rPr>
                            <m:t>8</m:t>
                          </m:r>
                        </m:den>
                      </m:f>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m:rPr>
                                  <m:sty m:val="p"/>
                                </m:rPr>
                                <a:rPr lang="en-US" altLang="zh-CN" sz="2400" b="0" i="1" smtClean="0">
                                  <a:latin typeface="Cambria Math" panose="02040503050406030204" pitchFamily="18" charset="0"/>
                                </a:rPr>
                                <m:t>v</m:t>
                              </m:r>
                            </m:e>
                            <m:sub>
                              <m:r>
                                <a:rPr lang="en-US" altLang="zh-CN" sz="2400" b="0" i="1" smtClean="0">
                                  <a:latin typeface="Cambria Math" panose="02040503050406030204" pitchFamily="18" charset="0"/>
                                </a:rPr>
                                <m:t>𝑜</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m:rPr>
                                  <m:sty m:val="p"/>
                                </m:rPr>
                                <a:rPr lang="en-US" altLang="zh-CN" sz="2400" b="0" i="1" smtClean="0">
                                  <a:latin typeface="Cambria Math" panose="02040503050406030204" pitchFamily="18" charset="0"/>
                                </a:rPr>
                                <m:t>v</m:t>
                              </m:r>
                            </m:e>
                            <m:sub>
                              <m:r>
                                <a:rPr lang="en-US" altLang="zh-CN" sz="2400" b="0" i="1" smtClean="0">
                                  <a:latin typeface="Cambria Math" panose="02040503050406030204" pitchFamily="18" charset="0"/>
                                </a:rPr>
                                <m:t>1</m:t>
                              </m:r>
                            </m:sub>
                          </m:sSub>
                        </m:e>
                      </m:d>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8</m:t>
                          </m:r>
                        </m:den>
                      </m:f>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m:rPr>
                                  <m:sty m:val="p"/>
                                </m:rPr>
                                <a:rPr lang="en-US" altLang="zh-CN" sz="2400" b="0" i="1" smtClean="0">
                                  <a:latin typeface="Cambria Math" panose="02040503050406030204" pitchFamily="18" charset="0"/>
                                </a:rPr>
                                <m:t>v</m:t>
                              </m:r>
                            </m:e>
                            <m:sub>
                              <m:r>
                                <a:rPr lang="en-US" altLang="zh-CN" sz="2400" b="0" i="1" smtClean="0">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m:rPr>
                                  <m:sty m:val="p"/>
                                </m:rPr>
                                <a:rPr lang="en-US" altLang="zh-CN" sz="2400" b="0" i="1" smtClean="0">
                                  <a:latin typeface="Cambria Math" panose="02040503050406030204" pitchFamily="18" charset="0"/>
                                </a:rPr>
                                <m:t>v</m:t>
                              </m:r>
                            </m:e>
                            <m:sub>
                              <m:r>
                                <a:rPr lang="en-US" altLang="zh-CN" sz="2400" b="0" i="1" smtClean="0">
                                  <a:latin typeface="Cambria Math" panose="02040503050406030204" pitchFamily="18" charset="0"/>
                                </a:rPr>
                                <m:t>3</m:t>
                              </m:r>
                            </m:sub>
                          </m:sSub>
                        </m:e>
                      </m:d>
                      <m:r>
                        <a:rPr lang="en-US" altLang="zh-CN" sz="2400" b="0" i="1" smtClean="0">
                          <a:latin typeface="Cambria Math" panose="02040503050406030204" pitchFamily="18" charset="0"/>
                        </a:rPr>
                        <m:t> </m:t>
                      </m:r>
                    </m:oMath>
                  </m:oMathPara>
                </a14:m>
                <a:endParaRPr lang="en-US" altLang="zh-CN" sz="2400" b="0" i="1" dirty="0"/>
              </a:p>
              <a:p>
                <a:endParaRPr lang="zh-CN" altLang="en-US" sz="2400" i="1" dirty="0"/>
              </a:p>
            </p:txBody>
          </p:sp>
        </mc:Choice>
        <mc:Fallback xmlns="">
          <p:sp>
            <p:nvSpPr>
              <p:cNvPr id="9" name="文本框 8">
                <a:extLst>
                  <a:ext uri="{FF2B5EF4-FFF2-40B4-BE49-F238E27FC236}">
                    <a16:creationId xmlns:a16="http://schemas.microsoft.com/office/drawing/2014/main" id="{A0F0CF5E-1D3F-43E0-06F2-EA757203E165}"/>
                  </a:ext>
                </a:extLst>
              </p:cNvPr>
              <p:cNvSpPr txBox="1">
                <a:spLocks noRot="1" noChangeAspect="1" noMove="1" noResize="1" noEditPoints="1" noAdjustHandles="1" noChangeArrowheads="1" noChangeShapeType="1" noTextEdit="1"/>
              </p:cNvSpPr>
              <p:nvPr/>
            </p:nvSpPr>
            <p:spPr>
              <a:xfrm>
                <a:off x="3586881" y="5618755"/>
                <a:ext cx="4157164" cy="1063176"/>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49207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DCF8F-CC13-EE4E-7EB5-9B73C028AFAB}"/>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D4FC677D-76D7-483B-58B0-6CE682713C0A}"/>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a:t>理论背景</a:t>
            </a:r>
            <a:r>
              <a:rPr lang="en-US" altLang="zh-CN" b="1" dirty="0"/>
              <a:t>-Loop</a:t>
            </a:r>
            <a:r>
              <a:rPr lang="zh-CN" altLang="en-US" b="1" dirty="0"/>
              <a:t>细分</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6C45E7D-FDF8-0E5B-2B83-A3CD119FA1F6}"/>
                  </a:ext>
                </a:extLst>
              </p:cNvPr>
              <p:cNvSpPr txBox="1"/>
              <p:nvPr/>
            </p:nvSpPr>
            <p:spPr>
              <a:xfrm>
                <a:off x="616471" y="1473792"/>
                <a:ext cx="10515600" cy="1325563"/>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对于新增加的顶点位置以及原始顶点位置更新规则如下：</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400" dirty="0"/>
                  <a:t>网格边界</a:t>
                </a:r>
                <a:r>
                  <a:rPr lang="en-US" altLang="zh-CN" sz="2400" dirty="0"/>
                  <a:t>-</a:t>
                </a:r>
                <a:r>
                  <a:rPr lang="zh-CN" altLang="en-US" sz="2400" dirty="0"/>
                  <a:t>顶点位置：设边界边的两个端点为</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smtClean="0">
                            <a:latin typeface="Cambria Math" panose="02040503050406030204" pitchFamily="18" charset="0"/>
                          </a:rPr>
                          <m:t>𝑣</m:t>
                        </m:r>
                      </m:e>
                      <m:sub>
                        <m:r>
                          <a:rPr lang="en-US" altLang="zh-CN" sz="2400" i="1" dirty="0" smtClean="0">
                            <a:latin typeface="Cambria Math" panose="02040503050406030204" pitchFamily="18" charset="0"/>
                          </a:rPr>
                          <m:t>0</m:t>
                        </m:r>
                      </m:sub>
                    </m:sSub>
                  </m:oMath>
                </a14:m>
                <a:r>
                  <a:rPr lang="zh-CN" altLang="en-US" sz="2400" dirty="0"/>
                  <a:t>、</a:t>
                </a:r>
                <a14:m>
                  <m:oMath xmlns:m="http://schemas.openxmlformats.org/officeDocument/2006/math">
                    <m:sSub>
                      <m:sSubPr>
                        <m:ctrlPr>
                          <a:rPr lang="en-US" altLang="zh-CN" sz="2400" i="1" dirty="0" smtClean="0">
                            <a:latin typeface="Cambria Math" panose="02040503050406030204" pitchFamily="18" charset="0"/>
                          </a:rPr>
                        </m:ctrlPr>
                      </m:sSubPr>
                      <m:e>
                        <m:r>
                          <a:rPr lang="en-US" altLang="zh-CN" sz="2400" i="1" dirty="0" smtClean="0">
                            <a:latin typeface="Cambria Math" panose="02040503050406030204" pitchFamily="18" charset="0"/>
                          </a:rPr>
                          <m:t>𝑣</m:t>
                        </m:r>
                      </m:e>
                      <m:sub>
                        <m:r>
                          <a:rPr lang="en-US" altLang="zh-CN" sz="2400" i="1" dirty="0" smtClean="0">
                            <a:latin typeface="Cambria Math" panose="02040503050406030204" pitchFamily="18" charset="0"/>
                          </a:rPr>
                          <m:t>1</m:t>
                        </m:r>
                      </m:sub>
                    </m:sSub>
                  </m:oMath>
                </a14:m>
                <a:r>
                  <a:rPr lang="zh-CN" altLang="en-US" sz="2400" dirty="0"/>
                  <a:t>，则新增加的顶点位置为</a:t>
                </a:r>
              </a:p>
              <a:p>
                <a:pPr lvl="1" defTabSz="0">
                  <a:lnSpc>
                    <a:spcPct val="145000"/>
                  </a:lnSpc>
                  <a:spcBef>
                    <a:spcPts val="500"/>
                  </a:spcBef>
                  <a:spcAft>
                    <a:spcPct val="0"/>
                  </a:spcAft>
                </a:pPr>
                <a:endParaRPr lang="en-US" altLang="zh-CN" sz="2400" dirty="0"/>
              </a:p>
            </p:txBody>
          </p:sp>
        </mc:Choice>
        <mc:Fallback xmlns="">
          <p:sp>
            <p:nvSpPr>
              <p:cNvPr id="5" name="文本框 4">
                <a:extLst>
                  <a:ext uri="{FF2B5EF4-FFF2-40B4-BE49-F238E27FC236}">
                    <a16:creationId xmlns:a16="http://schemas.microsoft.com/office/drawing/2014/main" id="{56C45E7D-FDF8-0E5B-2B83-A3CD119FA1F6}"/>
                  </a:ext>
                </a:extLst>
              </p:cNvPr>
              <p:cNvSpPr txBox="1">
                <a:spLocks noRot="1" noChangeAspect="1" noMove="1" noResize="1" noEditPoints="1" noAdjustHandles="1" noChangeArrowheads="1" noChangeShapeType="1" noTextEdit="1"/>
              </p:cNvSpPr>
              <p:nvPr/>
            </p:nvSpPr>
            <p:spPr>
              <a:xfrm>
                <a:off x="616471" y="1473792"/>
                <a:ext cx="10515600" cy="1325563"/>
              </a:xfrm>
              <a:prstGeom prst="rect">
                <a:avLst/>
              </a:prstGeom>
              <a:blipFill>
                <a:blip r:embed="rId2"/>
                <a:stretch>
                  <a:fillRect b="-391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7FB18F1-78F1-63D0-AF72-56648569CD36}"/>
                  </a:ext>
                </a:extLst>
              </p:cNvPr>
              <p:cNvSpPr txBox="1"/>
              <p:nvPr/>
            </p:nvSpPr>
            <p:spPr>
              <a:xfrm>
                <a:off x="4594497" y="3216551"/>
                <a:ext cx="2092689"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i="1" smtClean="0">
                          <a:latin typeface="Cambria Math" panose="02040503050406030204" pitchFamily="18" charset="0"/>
                        </a:rPr>
                        <m:t>𝑣</m:t>
                      </m:r>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2</m:t>
                          </m:r>
                        </m:den>
                      </m:f>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m:rPr>
                                  <m:sty m:val="p"/>
                                </m:rPr>
                                <a:rPr lang="en-US" altLang="zh-CN" sz="2400" b="0" i="1" smtClean="0">
                                  <a:latin typeface="Cambria Math" panose="02040503050406030204" pitchFamily="18" charset="0"/>
                                </a:rPr>
                                <m:t>v</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m:rPr>
                                  <m:sty m:val="p"/>
                                </m:rPr>
                                <a:rPr lang="en-US" altLang="zh-CN" sz="2400" b="0" i="1" smtClean="0">
                                  <a:latin typeface="Cambria Math" panose="02040503050406030204" pitchFamily="18" charset="0"/>
                                </a:rPr>
                                <m:t>v</m:t>
                              </m:r>
                            </m:e>
                            <m:sub>
                              <m:r>
                                <a:rPr lang="en-US" altLang="zh-CN" sz="2400" b="0" i="1" smtClean="0">
                                  <a:latin typeface="Cambria Math" panose="02040503050406030204" pitchFamily="18" charset="0"/>
                                </a:rPr>
                                <m:t>1</m:t>
                              </m:r>
                            </m:sub>
                          </m:sSub>
                        </m:e>
                      </m:d>
                    </m:oMath>
                  </m:oMathPara>
                </a14:m>
                <a:endParaRPr lang="en-US" altLang="zh-CN" sz="2400" b="0" i="1" dirty="0"/>
              </a:p>
            </p:txBody>
          </p:sp>
        </mc:Choice>
        <mc:Fallback xmlns="">
          <p:sp>
            <p:nvSpPr>
              <p:cNvPr id="6" name="文本框 5">
                <a:extLst>
                  <a:ext uri="{FF2B5EF4-FFF2-40B4-BE49-F238E27FC236}">
                    <a16:creationId xmlns:a16="http://schemas.microsoft.com/office/drawing/2014/main" id="{77FB18F1-78F1-63D0-AF72-56648569CD36}"/>
                  </a:ext>
                </a:extLst>
              </p:cNvPr>
              <p:cNvSpPr txBox="1">
                <a:spLocks noRot="1" noChangeAspect="1" noMove="1" noResize="1" noEditPoints="1" noAdjustHandles="1" noChangeArrowheads="1" noChangeShapeType="1" noTextEdit="1"/>
              </p:cNvSpPr>
              <p:nvPr/>
            </p:nvSpPr>
            <p:spPr>
              <a:xfrm>
                <a:off x="4594497" y="3216551"/>
                <a:ext cx="2092689" cy="691471"/>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78666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21457A6B-35CC-D4B1-4484-51E87E3CD1BA}"/>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Loop</a:t>
            </a:r>
            <a:r>
              <a:rPr lang="zh-CN" altLang="en-US" b="1" dirty="0"/>
              <a:t>细分</a:t>
            </a:r>
            <a:r>
              <a:rPr lang="en-US" altLang="zh-CN" b="1" dirty="0"/>
              <a:t>-</a:t>
            </a:r>
            <a:r>
              <a:rPr lang="zh-CN" altLang="en-US" b="1" dirty="0"/>
              <a:t>核心步骤</a:t>
            </a:r>
          </a:p>
        </p:txBody>
      </p:sp>
      <p:sp>
        <p:nvSpPr>
          <p:cNvPr id="8" name="文本框 7">
            <a:extLst>
              <a:ext uri="{FF2B5EF4-FFF2-40B4-BE49-F238E27FC236}">
                <a16:creationId xmlns:a16="http://schemas.microsoft.com/office/drawing/2014/main" id="{307ED1C3-DF5E-B666-DFAF-9CCB41556039}"/>
              </a:ext>
            </a:extLst>
          </p:cNvPr>
          <p:cNvSpPr txBox="1"/>
          <p:nvPr/>
        </p:nvSpPr>
        <p:spPr>
          <a:xfrm>
            <a:off x="838200" y="1690688"/>
            <a:ext cx="10515599" cy="4675767"/>
          </a:xfrm>
          <a:prstGeom prst="rect">
            <a:avLst/>
          </a:prstGeom>
          <a:noFill/>
        </p:spPr>
        <p:txBody>
          <a:bodyPr wrap="square">
            <a:spAutoFit/>
          </a:bodyPr>
          <a:lstStyle/>
          <a:p>
            <a:pPr marL="342900" indent="-342900">
              <a:lnSpc>
                <a:spcPct val="125000"/>
              </a:lnSpc>
              <a:buFont typeface="Arial" panose="020B0604020202020204" pitchFamily="34" charset="0"/>
              <a:buChar char="•"/>
            </a:pPr>
            <a:r>
              <a:rPr lang="en-US" altLang="zh-CN" sz="2400" dirty="0"/>
              <a:t>Loop Subdivision </a:t>
            </a:r>
            <a:r>
              <a:rPr lang="zh-CN" altLang="en-US" sz="2400" dirty="0"/>
              <a:t>的核心可以分为三个主要阶段：</a:t>
            </a:r>
            <a:endParaRPr lang="en-US" altLang="zh-CN" sz="2400" dirty="0"/>
          </a:p>
          <a:p>
            <a:pPr marL="800100" lvl="1" indent="-342900">
              <a:lnSpc>
                <a:spcPct val="125000"/>
              </a:lnSpc>
              <a:buFont typeface="Arial" panose="020B0604020202020204" pitchFamily="34" charset="0"/>
              <a:buChar char="•"/>
            </a:pPr>
            <a:r>
              <a:rPr lang="zh-CN" altLang="en-US" sz="2400" dirty="0"/>
              <a:t>更新旧顶点： </a:t>
            </a:r>
            <a:endParaRPr lang="en-US" altLang="zh-CN" sz="2400" dirty="0"/>
          </a:p>
          <a:p>
            <a:pPr marL="1257300" lvl="2" indent="-342900">
              <a:lnSpc>
                <a:spcPct val="125000"/>
              </a:lnSpc>
              <a:buFont typeface="Arial" panose="020B0604020202020204" pitchFamily="34" charset="0"/>
              <a:buChar char="•"/>
            </a:pPr>
            <a:r>
              <a:rPr lang="zh-CN" altLang="en-US" sz="2400" dirty="0"/>
              <a:t>遍历原有的所有顶点，根据其相邻顶点的权重计算新位置。需要区分内部顶点和边界顶点</a:t>
            </a:r>
            <a:endParaRPr lang="en-US" altLang="zh-CN" sz="2400" dirty="0"/>
          </a:p>
          <a:p>
            <a:pPr marL="800100" lvl="1" indent="-342900">
              <a:lnSpc>
                <a:spcPct val="125000"/>
              </a:lnSpc>
              <a:buFont typeface="Arial" panose="020B0604020202020204" pitchFamily="34" charset="0"/>
              <a:buChar char="•"/>
            </a:pPr>
            <a:r>
              <a:rPr lang="zh-CN" altLang="en-US" sz="2400" dirty="0"/>
              <a:t>生成新顶点： </a:t>
            </a:r>
            <a:endParaRPr lang="en-US" altLang="zh-CN" sz="2400" dirty="0"/>
          </a:p>
          <a:p>
            <a:pPr marL="1257300" lvl="2" indent="-342900">
              <a:lnSpc>
                <a:spcPct val="125000"/>
              </a:lnSpc>
              <a:buFont typeface="Arial" panose="020B0604020202020204" pitchFamily="34" charset="0"/>
              <a:buChar char="•"/>
            </a:pPr>
            <a:r>
              <a:rPr lang="zh-CN" altLang="en-US" sz="2400" dirty="0"/>
              <a:t>遍历原有的所有边，在每条边上生成一个新顶点。同样需要区分内部边和边界边</a:t>
            </a:r>
            <a:endParaRPr lang="en-US" altLang="zh-CN" sz="2400" dirty="0"/>
          </a:p>
          <a:p>
            <a:pPr marL="800100" lvl="1" indent="-342900">
              <a:lnSpc>
                <a:spcPct val="125000"/>
              </a:lnSpc>
              <a:buFont typeface="Arial" panose="020B0604020202020204" pitchFamily="34" charset="0"/>
              <a:buChar char="•"/>
            </a:pPr>
            <a:r>
              <a:rPr lang="zh-CN" altLang="en-US" sz="2400" dirty="0"/>
              <a:t>重建拓扑结构： </a:t>
            </a:r>
            <a:endParaRPr lang="en-US" altLang="zh-CN" sz="2400" dirty="0"/>
          </a:p>
          <a:p>
            <a:pPr marL="1257300" lvl="2" indent="-342900">
              <a:lnSpc>
                <a:spcPct val="125000"/>
              </a:lnSpc>
              <a:buFont typeface="Arial" panose="020B0604020202020204" pitchFamily="34" charset="0"/>
              <a:buChar char="•"/>
            </a:pPr>
            <a:r>
              <a:rPr lang="zh-CN" altLang="en-US" sz="2400" dirty="0"/>
              <a:t>将每个原有的三角形面拆分为 </a:t>
            </a:r>
            <a:r>
              <a:rPr lang="en-US" altLang="zh-CN" sz="2400" dirty="0"/>
              <a:t>4 </a:t>
            </a:r>
            <a:r>
              <a:rPr lang="zh-CN" altLang="en-US" sz="2400" dirty="0"/>
              <a:t>个小三角形，并更新顶点之间的邻接关系</a:t>
            </a:r>
          </a:p>
        </p:txBody>
      </p:sp>
    </p:spTree>
    <p:extLst>
      <p:ext uri="{BB962C8B-B14F-4D97-AF65-F5344CB8AC3E}">
        <p14:creationId xmlns:p14="http://schemas.microsoft.com/office/powerpoint/2010/main" val="1753355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31292-DC30-229E-D3AF-F64BF99A9A91}"/>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D6E6A771-6423-7F00-6D6D-D61A5D1AD061}"/>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Loop</a:t>
            </a:r>
            <a:r>
              <a:rPr lang="zh-CN" altLang="en-US" b="1" dirty="0"/>
              <a:t>细分</a:t>
            </a:r>
            <a:r>
              <a:rPr lang="en-US" altLang="zh-CN" b="1" dirty="0"/>
              <a:t>-</a:t>
            </a:r>
            <a:r>
              <a:rPr lang="zh-CN" altLang="en-US" b="1" dirty="0"/>
              <a:t>关键接口</a:t>
            </a:r>
            <a:r>
              <a:rPr lang="en-US" altLang="zh-CN" b="1" dirty="0"/>
              <a:t>&amp;</a:t>
            </a:r>
            <a:r>
              <a:rPr lang="zh-CN" altLang="en-US" b="1" dirty="0"/>
              <a:t>辅助函数</a:t>
            </a:r>
          </a:p>
        </p:txBody>
      </p:sp>
      <p:sp>
        <p:nvSpPr>
          <p:cNvPr id="8" name="文本框 7">
            <a:extLst>
              <a:ext uri="{FF2B5EF4-FFF2-40B4-BE49-F238E27FC236}">
                <a16:creationId xmlns:a16="http://schemas.microsoft.com/office/drawing/2014/main" id="{73E7CA11-C722-0A3D-E3B0-BAA4B763178E}"/>
              </a:ext>
            </a:extLst>
          </p:cNvPr>
          <p:cNvSpPr txBox="1"/>
          <p:nvPr/>
        </p:nvSpPr>
        <p:spPr>
          <a:xfrm>
            <a:off x="838200" y="1690688"/>
            <a:ext cx="10515600" cy="3752437"/>
          </a:xfrm>
          <a:prstGeom prst="rect">
            <a:avLst/>
          </a:prstGeom>
          <a:noFill/>
        </p:spPr>
        <p:txBody>
          <a:bodyPr wrap="square">
            <a:spAutoFit/>
          </a:bodyPr>
          <a:lstStyle/>
          <a:p>
            <a:pPr marL="285750" indent="-285750">
              <a:lnSpc>
                <a:spcPct val="125000"/>
              </a:lnSpc>
              <a:buFont typeface="Arial" panose="020B0604020202020204" pitchFamily="34" charset="0"/>
              <a:buChar char="•"/>
            </a:pPr>
            <a:r>
              <a:rPr lang="zh-CN" altLang="en-US" sz="2400" dirty="0"/>
              <a:t>以下介绍</a:t>
            </a:r>
            <a:r>
              <a:rPr lang="en-US" altLang="zh-CN" sz="2400" b="1" dirty="0" err="1"/>
              <a:t>MeshTopology.h</a:t>
            </a:r>
            <a:r>
              <a:rPr lang="zh-CN" altLang="en-US" sz="2400" dirty="0"/>
              <a:t>定义的各种结构体：</a:t>
            </a:r>
            <a:endParaRPr lang="en-US" altLang="zh-CN" sz="2400" dirty="0"/>
          </a:p>
          <a:p>
            <a:pPr marL="742950" lvl="1" indent="-285750">
              <a:lnSpc>
                <a:spcPct val="125000"/>
              </a:lnSpc>
              <a:buFont typeface="Arial" panose="020B0604020202020204" pitchFamily="34" charset="0"/>
              <a:buChar char="•"/>
            </a:pPr>
            <a:r>
              <a:rPr lang="en-US" altLang="zh-CN" sz="2400" b="1" dirty="0"/>
              <a:t>Point </a:t>
            </a:r>
            <a:r>
              <a:rPr lang="zh-CN" altLang="en-US" sz="2400" dirty="0"/>
              <a:t>：</a:t>
            </a:r>
          </a:p>
          <a:p>
            <a:pPr marL="1200150" lvl="2" indent="-285750">
              <a:lnSpc>
                <a:spcPct val="125000"/>
              </a:lnSpc>
              <a:buFont typeface="Arial" panose="020B0604020202020204" pitchFamily="34" charset="0"/>
              <a:buChar char="•"/>
            </a:pPr>
            <a:r>
              <a:rPr lang="zh-CN" altLang="en-US" sz="2400" dirty="0"/>
              <a:t>已重载 </a:t>
            </a:r>
            <a:r>
              <a:rPr lang="en-US" altLang="zh-CN" sz="2400" dirty="0"/>
              <a:t>+, -, </a:t>
            </a:r>
            <a:r>
              <a:rPr lang="zh-CN" altLang="en-US" sz="2400" dirty="0"/>
              <a:t>*</a:t>
            </a:r>
            <a:r>
              <a:rPr lang="en-US" altLang="zh-CN" sz="2400" dirty="0"/>
              <a:t>, /</a:t>
            </a:r>
            <a:r>
              <a:rPr lang="zh-CN" altLang="en-US" sz="2400" dirty="0"/>
              <a:t> 运算符</a:t>
            </a:r>
          </a:p>
          <a:p>
            <a:pPr marL="1200150" lvl="2" indent="-285750">
              <a:lnSpc>
                <a:spcPct val="125000"/>
              </a:lnSpc>
              <a:buFont typeface="Arial" panose="020B0604020202020204" pitchFamily="34" charset="0"/>
              <a:buChar char="•"/>
            </a:pPr>
            <a:r>
              <a:rPr lang="zh-CN" altLang="en-US" sz="2400" dirty="0"/>
              <a:t>计算加权位置时可直接使用：</a:t>
            </a:r>
            <a:r>
              <a:rPr lang="en-US" altLang="zh-CN" sz="2400" dirty="0" err="1"/>
              <a:t>newP</a:t>
            </a:r>
            <a:r>
              <a:rPr lang="en-US" altLang="zh-CN" sz="2400" dirty="0"/>
              <a:t> = P0 * w0 + P1 * w1;</a:t>
            </a:r>
          </a:p>
          <a:p>
            <a:pPr marL="742950" lvl="1" indent="-285750">
              <a:lnSpc>
                <a:spcPct val="125000"/>
              </a:lnSpc>
              <a:buFont typeface="Arial" panose="020B0604020202020204" pitchFamily="34" charset="0"/>
              <a:buChar char="•"/>
            </a:pPr>
            <a:r>
              <a:rPr lang="en-US" altLang="zh-CN" sz="2400" b="1" dirty="0" err="1"/>
              <a:t>SDVertex</a:t>
            </a:r>
            <a:r>
              <a:rPr lang="en-US" altLang="zh-CN" sz="2400" b="1" dirty="0"/>
              <a:t> (</a:t>
            </a:r>
            <a:r>
              <a:rPr lang="zh-CN" altLang="en-US" sz="2400" b="1" dirty="0"/>
              <a:t>顶点</a:t>
            </a:r>
            <a:r>
              <a:rPr lang="en-US" altLang="zh-CN" sz="2400" b="1" dirty="0"/>
              <a:t>)</a:t>
            </a:r>
            <a:r>
              <a:rPr lang="zh-CN" altLang="en-US" sz="2400" dirty="0"/>
              <a:t>：</a:t>
            </a:r>
          </a:p>
          <a:p>
            <a:pPr marL="1200150" lvl="2" indent="-285750">
              <a:lnSpc>
                <a:spcPct val="125000"/>
              </a:lnSpc>
              <a:buFont typeface="Arial" panose="020B0604020202020204" pitchFamily="34" charset="0"/>
              <a:buChar char="•"/>
            </a:pPr>
            <a:r>
              <a:rPr lang="en-US" altLang="zh-CN" sz="2400" dirty="0"/>
              <a:t>v-&gt;p: Point </a:t>
            </a:r>
            <a:r>
              <a:rPr lang="zh-CN" altLang="en-US" sz="2400" dirty="0"/>
              <a:t>类型坐标</a:t>
            </a:r>
          </a:p>
          <a:p>
            <a:pPr marL="1200150" lvl="2" indent="-285750">
              <a:lnSpc>
                <a:spcPct val="125000"/>
              </a:lnSpc>
              <a:buFont typeface="Arial" panose="020B0604020202020204" pitchFamily="34" charset="0"/>
              <a:buChar char="•"/>
            </a:pPr>
            <a:r>
              <a:rPr lang="en-US" altLang="zh-CN" sz="2400" dirty="0"/>
              <a:t>v-&gt;valence: </a:t>
            </a:r>
            <a:r>
              <a:rPr lang="zh-CN" altLang="en-US" sz="2400" dirty="0"/>
              <a:t>顶点的度数（在 </a:t>
            </a:r>
            <a:r>
              <a:rPr lang="en-US" altLang="zh-CN" sz="2400" dirty="0" err="1"/>
              <a:t>createSDShapes</a:t>
            </a:r>
            <a:r>
              <a:rPr lang="en-US" altLang="zh-CN" sz="2400" dirty="0"/>
              <a:t> </a:t>
            </a:r>
            <a:r>
              <a:rPr lang="zh-CN" altLang="en-US" sz="2400" dirty="0"/>
              <a:t>中已初始化）</a:t>
            </a:r>
          </a:p>
          <a:p>
            <a:pPr marL="1200150" lvl="2" indent="-285750">
              <a:lnSpc>
                <a:spcPct val="125000"/>
              </a:lnSpc>
              <a:buFont typeface="Arial" panose="020B0604020202020204" pitchFamily="34" charset="0"/>
              <a:buChar char="•"/>
            </a:pPr>
            <a:r>
              <a:rPr lang="en-US" altLang="zh-CN" sz="2400" dirty="0"/>
              <a:t>v-&gt;child: </a:t>
            </a:r>
            <a:r>
              <a:rPr lang="en-US" altLang="zh-CN" sz="2400" dirty="0" err="1"/>
              <a:t>SDVertex</a:t>
            </a:r>
            <a:r>
              <a:rPr lang="en-US" altLang="zh-CN" sz="2400" dirty="0"/>
              <a:t>*</a:t>
            </a:r>
            <a:r>
              <a:rPr lang="zh-CN" altLang="en-US" sz="2400" dirty="0"/>
              <a:t>，指向细分后生成的新顶点</a:t>
            </a:r>
          </a:p>
        </p:txBody>
      </p:sp>
    </p:spTree>
    <p:extLst>
      <p:ext uri="{BB962C8B-B14F-4D97-AF65-F5344CB8AC3E}">
        <p14:creationId xmlns:p14="http://schemas.microsoft.com/office/powerpoint/2010/main" val="1732435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C1788-9A92-EDB4-C4E7-8D6FDEAADDC6}"/>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CC8268BC-0B0D-D82E-294C-292EED4A9B75}"/>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Loop</a:t>
            </a:r>
            <a:r>
              <a:rPr lang="zh-CN" altLang="en-US" b="1" dirty="0"/>
              <a:t>细分</a:t>
            </a:r>
            <a:r>
              <a:rPr lang="en-US" altLang="zh-CN" b="1" dirty="0"/>
              <a:t>-</a:t>
            </a:r>
            <a:r>
              <a:rPr lang="zh-CN" altLang="en-US" b="1" dirty="0"/>
              <a:t>关键接口</a:t>
            </a:r>
            <a:r>
              <a:rPr lang="en-US" altLang="zh-CN" b="1" dirty="0"/>
              <a:t>&amp;</a:t>
            </a:r>
            <a:r>
              <a:rPr lang="zh-CN" altLang="en-US" b="1" dirty="0"/>
              <a:t>辅助函数</a:t>
            </a:r>
          </a:p>
        </p:txBody>
      </p:sp>
      <p:sp>
        <p:nvSpPr>
          <p:cNvPr id="8" name="文本框 7">
            <a:extLst>
              <a:ext uri="{FF2B5EF4-FFF2-40B4-BE49-F238E27FC236}">
                <a16:creationId xmlns:a16="http://schemas.microsoft.com/office/drawing/2014/main" id="{B6495196-A432-557E-8B0C-CA17D3BED40F}"/>
              </a:ext>
            </a:extLst>
          </p:cNvPr>
          <p:cNvSpPr txBox="1"/>
          <p:nvPr/>
        </p:nvSpPr>
        <p:spPr>
          <a:xfrm>
            <a:off x="838199" y="1690688"/>
            <a:ext cx="10515599" cy="5137432"/>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sz="2400" dirty="0"/>
              <a:t>以下介绍</a:t>
            </a:r>
            <a:r>
              <a:rPr lang="en-US" altLang="zh-CN" sz="2400" b="1" dirty="0" err="1"/>
              <a:t>MeshTopology.h</a:t>
            </a:r>
            <a:r>
              <a:rPr lang="zh-CN" altLang="en-US" sz="2400" dirty="0"/>
              <a:t>定义的部分结构体：</a:t>
            </a:r>
            <a:endParaRPr lang="en-US" altLang="zh-CN" sz="2400" dirty="0"/>
          </a:p>
          <a:p>
            <a:pPr marL="800100" lvl="1" indent="-342900">
              <a:lnSpc>
                <a:spcPct val="125000"/>
              </a:lnSpc>
              <a:buFont typeface="Arial" panose="020B0604020202020204" pitchFamily="34" charset="0"/>
              <a:buChar char="•"/>
            </a:pPr>
            <a:r>
              <a:rPr lang="en-US" altLang="zh-CN" sz="2400" b="1" dirty="0" err="1"/>
              <a:t>SDEdge</a:t>
            </a:r>
            <a:r>
              <a:rPr lang="en-US" altLang="zh-CN" sz="2400" b="1" dirty="0"/>
              <a:t> (</a:t>
            </a:r>
            <a:r>
              <a:rPr lang="zh-CN" altLang="en-US" sz="2400" b="1" dirty="0"/>
              <a:t>边</a:t>
            </a:r>
            <a:r>
              <a:rPr lang="en-US" altLang="zh-CN" sz="2400" b="1" dirty="0"/>
              <a:t>)</a:t>
            </a:r>
            <a:r>
              <a:rPr lang="zh-CN" altLang="en-US" sz="2400" dirty="0"/>
              <a:t>：</a:t>
            </a:r>
          </a:p>
          <a:p>
            <a:pPr marL="1257300" lvl="2" indent="-342900">
              <a:lnSpc>
                <a:spcPct val="125000"/>
              </a:lnSpc>
              <a:buFont typeface="Arial" panose="020B0604020202020204" pitchFamily="34" charset="0"/>
              <a:buChar char="•"/>
            </a:pPr>
            <a:r>
              <a:rPr lang="en-US" altLang="zh-CN" sz="2400" dirty="0" err="1"/>
              <a:t>e.verts</a:t>
            </a:r>
            <a:r>
              <a:rPr lang="en-US" altLang="zh-CN" sz="2400" dirty="0"/>
              <a:t>[0], </a:t>
            </a:r>
            <a:r>
              <a:rPr lang="en-US" altLang="zh-CN" sz="2400" dirty="0" err="1"/>
              <a:t>e.verts</a:t>
            </a:r>
            <a:r>
              <a:rPr lang="en-US" altLang="zh-CN" sz="2400" dirty="0"/>
              <a:t>[1]: </a:t>
            </a:r>
            <a:r>
              <a:rPr lang="zh-CN" altLang="en-US" sz="2400" dirty="0"/>
              <a:t>边的两个端点</a:t>
            </a:r>
          </a:p>
          <a:p>
            <a:pPr marL="1257300" lvl="2" indent="-342900">
              <a:lnSpc>
                <a:spcPct val="125000"/>
              </a:lnSpc>
              <a:buFont typeface="Arial" panose="020B0604020202020204" pitchFamily="34" charset="0"/>
              <a:buChar char="•"/>
            </a:pPr>
            <a:r>
              <a:rPr lang="en-US" altLang="zh-CN" sz="2400" dirty="0" err="1"/>
              <a:t>e.fs</a:t>
            </a:r>
            <a:r>
              <a:rPr lang="en-US" altLang="zh-CN" sz="2400" dirty="0"/>
              <a:t>[0], </a:t>
            </a:r>
            <a:r>
              <a:rPr lang="en-US" altLang="zh-CN" sz="2400" dirty="0" err="1"/>
              <a:t>e.fs</a:t>
            </a:r>
            <a:r>
              <a:rPr lang="en-US" altLang="zh-CN" sz="2400" dirty="0"/>
              <a:t>[1]: </a:t>
            </a:r>
            <a:r>
              <a:rPr lang="zh-CN" altLang="en-US" sz="2400" dirty="0"/>
              <a:t>左右相邻面。若 </a:t>
            </a:r>
            <a:r>
              <a:rPr lang="en-US" altLang="zh-CN" sz="2400" dirty="0" err="1"/>
              <a:t>e.boundary</a:t>
            </a:r>
            <a:r>
              <a:rPr lang="en-US" altLang="zh-CN" sz="2400" dirty="0"/>
              <a:t>() </a:t>
            </a:r>
            <a:r>
              <a:rPr lang="zh-CN" altLang="en-US" sz="2400" dirty="0"/>
              <a:t>为真，则 </a:t>
            </a:r>
            <a:r>
              <a:rPr lang="en-US" altLang="zh-CN" sz="2400" dirty="0"/>
              <a:t>fs[1] </a:t>
            </a:r>
            <a:r>
              <a:rPr lang="zh-CN" altLang="en-US" sz="2400" dirty="0"/>
              <a:t>为 </a:t>
            </a:r>
            <a:r>
              <a:rPr lang="en-US" altLang="zh-CN" sz="2400" dirty="0" err="1"/>
              <a:t>nullptr</a:t>
            </a:r>
            <a:endParaRPr lang="zh-CN" altLang="en-US" sz="2400" dirty="0"/>
          </a:p>
          <a:p>
            <a:pPr marL="1257300" lvl="2" indent="-342900">
              <a:lnSpc>
                <a:spcPct val="125000"/>
              </a:lnSpc>
              <a:buFont typeface="Arial" panose="020B0604020202020204" pitchFamily="34" charset="0"/>
              <a:buChar char="•"/>
            </a:pPr>
            <a:r>
              <a:rPr lang="en-US" altLang="zh-CN" sz="2400" dirty="0"/>
              <a:t>e.f0edgeNum: </a:t>
            </a:r>
            <a:r>
              <a:rPr lang="zh-CN" altLang="en-US" sz="2400" dirty="0"/>
              <a:t>该边在 </a:t>
            </a:r>
            <a:r>
              <a:rPr lang="en-US" altLang="zh-CN" sz="2400" dirty="0"/>
              <a:t>fs[0] </a:t>
            </a:r>
            <a:r>
              <a:rPr lang="zh-CN" altLang="en-US" sz="2400" dirty="0"/>
              <a:t>中的局部索引</a:t>
            </a:r>
          </a:p>
          <a:p>
            <a:pPr marL="800100" lvl="1" indent="-342900">
              <a:lnSpc>
                <a:spcPct val="125000"/>
              </a:lnSpc>
              <a:buFont typeface="Arial" panose="020B0604020202020204" pitchFamily="34" charset="0"/>
              <a:buChar char="•"/>
            </a:pPr>
            <a:r>
              <a:rPr lang="en-US" altLang="zh-CN" sz="2400" b="1" dirty="0" err="1"/>
              <a:t>SDFace</a:t>
            </a:r>
            <a:r>
              <a:rPr lang="en-US" altLang="zh-CN" sz="2400" b="1" dirty="0"/>
              <a:t> (</a:t>
            </a:r>
            <a:r>
              <a:rPr lang="zh-CN" altLang="en-US" sz="2400" b="1" dirty="0"/>
              <a:t>面</a:t>
            </a:r>
            <a:r>
              <a:rPr lang="en-US" altLang="zh-CN" sz="2400" b="1" dirty="0"/>
              <a:t>)</a:t>
            </a:r>
            <a:r>
              <a:rPr lang="zh-CN" altLang="en-US" sz="2400" dirty="0"/>
              <a:t>：</a:t>
            </a:r>
          </a:p>
          <a:p>
            <a:pPr marL="1257300" lvl="2" indent="-342900">
              <a:lnSpc>
                <a:spcPct val="125000"/>
              </a:lnSpc>
              <a:buFont typeface="Arial" panose="020B0604020202020204" pitchFamily="34" charset="0"/>
              <a:buChar char="•"/>
            </a:pPr>
            <a:r>
              <a:rPr lang="en-US" altLang="zh-CN" sz="2400" dirty="0"/>
              <a:t>f-&gt;verts[3]: </a:t>
            </a:r>
            <a:r>
              <a:rPr lang="zh-CN" altLang="en-US" sz="2400" dirty="0"/>
              <a:t>面的三个顶点指针</a:t>
            </a:r>
          </a:p>
          <a:p>
            <a:pPr marL="1257300" lvl="2" indent="-342900">
              <a:lnSpc>
                <a:spcPct val="125000"/>
              </a:lnSpc>
              <a:buFont typeface="Arial" panose="020B0604020202020204" pitchFamily="34" charset="0"/>
              <a:buChar char="•"/>
            </a:pPr>
            <a:r>
              <a:rPr lang="en-US" altLang="zh-CN" sz="2400" dirty="0"/>
              <a:t>f-&gt;</a:t>
            </a:r>
            <a:r>
              <a:rPr lang="en-US" altLang="zh-CN" sz="2400" dirty="0" err="1"/>
              <a:t>neighborFs</a:t>
            </a:r>
            <a:r>
              <a:rPr lang="en-US" altLang="zh-CN" sz="2400" dirty="0"/>
              <a:t>[3]: </a:t>
            </a:r>
            <a:r>
              <a:rPr lang="zh-CN" altLang="en-US" sz="2400" dirty="0"/>
              <a:t>三个邻接面指针</a:t>
            </a:r>
          </a:p>
          <a:p>
            <a:pPr marL="1257300" lvl="2" indent="-342900">
              <a:lnSpc>
                <a:spcPct val="125000"/>
              </a:lnSpc>
              <a:buFont typeface="Arial" panose="020B0604020202020204" pitchFamily="34" charset="0"/>
              <a:buChar char="•"/>
            </a:pPr>
            <a:r>
              <a:rPr lang="en-US" altLang="zh-CN" sz="2400" dirty="0"/>
              <a:t>f-&gt;</a:t>
            </a:r>
            <a:r>
              <a:rPr lang="en-US" altLang="zh-CN" sz="2400" dirty="0" err="1"/>
              <a:t>sdverts</a:t>
            </a:r>
            <a:r>
              <a:rPr lang="en-US" altLang="zh-CN" sz="2400" dirty="0"/>
              <a:t>[3]: </a:t>
            </a:r>
            <a:r>
              <a:rPr lang="zh-CN" altLang="en-US" sz="2400" dirty="0"/>
              <a:t>用于存储在三条边上新生成的“奇顶点”</a:t>
            </a:r>
          </a:p>
          <a:p>
            <a:pPr>
              <a:lnSpc>
                <a:spcPct val="125000"/>
              </a:lnSpc>
            </a:pPr>
            <a:endParaRPr lang="zh-CN" altLang="en-US" sz="2400" dirty="0"/>
          </a:p>
          <a:p>
            <a:pPr>
              <a:lnSpc>
                <a:spcPct val="125000"/>
              </a:lnSpc>
            </a:pPr>
            <a:endParaRPr lang="zh-CN" altLang="en-US" sz="2400" dirty="0"/>
          </a:p>
        </p:txBody>
      </p:sp>
    </p:spTree>
    <p:extLst>
      <p:ext uri="{BB962C8B-B14F-4D97-AF65-F5344CB8AC3E}">
        <p14:creationId xmlns:p14="http://schemas.microsoft.com/office/powerpoint/2010/main" val="15497244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20DA8-4616-874D-8037-A0AE33851943}"/>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48B1B594-B42E-388C-096C-EA79626A2A86}"/>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Loop</a:t>
            </a:r>
            <a:r>
              <a:rPr lang="zh-CN" altLang="en-US" b="1" dirty="0"/>
              <a:t>细分</a:t>
            </a:r>
            <a:r>
              <a:rPr lang="en-US" altLang="zh-CN" b="1" dirty="0"/>
              <a:t>-</a:t>
            </a:r>
            <a:r>
              <a:rPr lang="zh-CN" altLang="en-US" b="1" dirty="0"/>
              <a:t>关键接口</a:t>
            </a:r>
            <a:r>
              <a:rPr lang="en-US" altLang="zh-CN" b="1" dirty="0"/>
              <a:t>&amp;</a:t>
            </a:r>
            <a:r>
              <a:rPr lang="zh-CN" altLang="en-US" b="1" dirty="0"/>
              <a:t>辅助函数</a:t>
            </a:r>
          </a:p>
        </p:txBody>
      </p:sp>
      <p:sp>
        <p:nvSpPr>
          <p:cNvPr id="8" name="文本框 7">
            <a:extLst>
              <a:ext uri="{FF2B5EF4-FFF2-40B4-BE49-F238E27FC236}">
                <a16:creationId xmlns:a16="http://schemas.microsoft.com/office/drawing/2014/main" id="{1242A4B4-D112-EE38-3439-29234AA6C4FB}"/>
              </a:ext>
            </a:extLst>
          </p:cNvPr>
          <p:cNvSpPr txBox="1"/>
          <p:nvPr/>
        </p:nvSpPr>
        <p:spPr>
          <a:xfrm>
            <a:off x="838200" y="1383321"/>
            <a:ext cx="10515600" cy="3024289"/>
          </a:xfrm>
          <a:prstGeom prst="rect">
            <a:avLst/>
          </a:prstGeom>
          <a:noFill/>
        </p:spPr>
        <p:txBody>
          <a:bodyPr wrap="square">
            <a:spAutoFit/>
          </a:bodyPr>
          <a:lstStyle/>
          <a:p>
            <a:pPr marL="342900" indent="-342900">
              <a:lnSpc>
                <a:spcPct val="125000"/>
              </a:lnSpc>
              <a:buFont typeface="Arial" panose="020B0604020202020204" pitchFamily="34" charset="0"/>
              <a:buChar char="•"/>
            </a:pPr>
            <a:r>
              <a:rPr lang="zh-CN" altLang="en-US" sz="2200" b="1" dirty="0"/>
              <a:t>邻居遍历工具</a:t>
            </a:r>
            <a:r>
              <a:rPr lang="zh-CN" altLang="en-US" sz="2200" dirty="0"/>
              <a:t>：</a:t>
            </a:r>
          </a:p>
          <a:p>
            <a:pPr marL="800100" lvl="1" indent="-342900">
              <a:lnSpc>
                <a:spcPct val="125000"/>
              </a:lnSpc>
              <a:buFont typeface="Arial" panose="020B0604020202020204" pitchFamily="34" charset="0"/>
              <a:buChar char="•"/>
            </a:pPr>
            <a:r>
              <a:rPr lang="en-US" altLang="zh-CN" sz="2200" dirty="0"/>
              <a:t>f-&gt;</a:t>
            </a:r>
            <a:r>
              <a:rPr lang="en-US" altLang="zh-CN" sz="2200" dirty="0" err="1"/>
              <a:t>nextFace</a:t>
            </a:r>
            <a:r>
              <a:rPr lang="en-US" altLang="zh-CN" sz="2200" dirty="0"/>
              <a:t>(v) / f-&gt;</a:t>
            </a:r>
            <a:r>
              <a:rPr lang="en-US" altLang="zh-CN" sz="2200" dirty="0" err="1"/>
              <a:t>prevFace</a:t>
            </a:r>
            <a:r>
              <a:rPr lang="en-US" altLang="zh-CN" sz="2200" dirty="0"/>
              <a:t>(v)</a:t>
            </a:r>
            <a:r>
              <a:rPr lang="zh-CN" altLang="en-US" sz="2200" dirty="0"/>
              <a:t>：围绕顶点 </a:t>
            </a:r>
            <a:r>
              <a:rPr lang="en-US" altLang="zh-CN" sz="2200" dirty="0"/>
              <a:t>v </a:t>
            </a:r>
            <a:r>
              <a:rPr lang="zh-CN" altLang="en-US" sz="2200" dirty="0"/>
              <a:t>顺时针</a:t>
            </a:r>
            <a:r>
              <a:rPr lang="en-US" altLang="zh-CN" sz="2200" dirty="0"/>
              <a:t>/</a:t>
            </a:r>
            <a:r>
              <a:rPr lang="zh-CN" altLang="en-US" sz="2200" dirty="0"/>
              <a:t>逆时针寻找下一个面。</a:t>
            </a:r>
          </a:p>
          <a:p>
            <a:pPr marL="800100" lvl="1" indent="-342900">
              <a:lnSpc>
                <a:spcPct val="125000"/>
              </a:lnSpc>
              <a:buFont typeface="Arial" panose="020B0604020202020204" pitchFamily="34" charset="0"/>
              <a:buChar char="•"/>
            </a:pPr>
            <a:r>
              <a:rPr lang="en-US" altLang="zh-CN" sz="2200" dirty="0"/>
              <a:t>f-&gt;</a:t>
            </a:r>
            <a:r>
              <a:rPr lang="en-US" altLang="zh-CN" sz="2200" dirty="0" err="1"/>
              <a:t>getVertIndex</a:t>
            </a:r>
            <a:r>
              <a:rPr lang="en-US" altLang="zh-CN" sz="2200" dirty="0"/>
              <a:t>(v)</a:t>
            </a:r>
            <a:r>
              <a:rPr lang="zh-CN" altLang="en-US" sz="2200" dirty="0"/>
              <a:t>：获取顶点 </a:t>
            </a:r>
            <a:r>
              <a:rPr lang="en-US" altLang="zh-CN" sz="2200" dirty="0"/>
              <a:t>v </a:t>
            </a:r>
            <a:r>
              <a:rPr lang="zh-CN" altLang="en-US" sz="2200" dirty="0"/>
              <a:t>在面 </a:t>
            </a:r>
            <a:r>
              <a:rPr lang="en-US" altLang="zh-CN" sz="2200" dirty="0"/>
              <a:t>f </a:t>
            </a:r>
            <a:r>
              <a:rPr lang="zh-CN" altLang="en-US" sz="2200" dirty="0"/>
              <a:t>中的索引</a:t>
            </a:r>
          </a:p>
          <a:p>
            <a:pPr marL="342900" indent="-342900">
              <a:lnSpc>
                <a:spcPct val="125000"/>
              </a:lnSpc>
              <a:buFont typeface="Arial" panose="020B0604020202020204" pitchFamily="34" charset="0"/>
              <a:buChar char="•"/>
            </a:pPr>
            <a:r>
              <a:rPr lang="zh-CN" altLang="en-US" sz="2200" b="1" dirty="0"/>
              <a:t>拓扑查询</a:t>
            </a:r>
            <a:r>
              <a:rPr lang="zh-CN" altLang="en-US" sz="2200" dirty="0"/>
              <a:t>：</a:t>
            </a:r>
          </a:p>
          <a:p>
            <a:pPr marL="800100" lvl="1" indent="-342900">
              <a:lnSpc>
                <a:spcPct val="125000"/>
              </a:lnSpc>
              <a:buFont typeface="Arial" panose="020B0604020202020204" pitchFamily="34" charset="0"/>
              <a:buChar char="•"/>
            </a:pPr>
            <a:r>
              <a:rPr lang="en-US" altLang="zh-CN" sz="2200" dirty="0" err="1"/>
              <a:t>findAllNeighbors</a:t>
            </a:r>
            <a:r>
              <a:rPr lang="en-US" altLang="zh-CN" sz="2200" dirty="0"/>
              <a:t>(v, std::</a:t>
            </a:r>
            <a:r>
              <a:rPr lang="en-US" altLang="zh-CN" sz="2200" dirty="0" err="1"/>
              <a:t>back_inserter</a:t>
            </a:r>
            <a:r>
              <a:rPr lang="en-US" altLang="zh-CN" sz="2200" dirty="0"/>
              <a:t>(</a:t>
            </a:r>
            <a:r>
              <a:rPr lang="en-US" altLang="zh-CN" sz="2200" dirty="0" err="1"/>
              <a:t>vRing</a:t>
            </a:r>
            <a:r>
              <a:rPr lang="en-US" altLang="zh-CN" sz="2200" dirty="0"/>
              <a:t>))</a:t>
            </a:r>
            <a:r>
              <a:rPr lang="zh-CN" altLang="en-US" sz="2200" dirty="0"/>
              <a:t>：获取顶点 </a:t>
            </a:r>
            <a:r>
              <a:rPr lang="en-US" altLang="zh-CN" sz="2200" dirty="0"/>
              <a:t>v </a:t>
            </a:r>
            <a:r>
              <a:rPr lang="zh-CN" altLang="en-US" sz="2200" dirty="0"/>
              <a:t>的所有一圈邻居，并返回该点是否为边界点</a:t>
            </a:r>
          </a:p>
          <a:p>
            <a:pPr marL="800100" lvl="1" indent="-342900">
              <a:lnSpc>
                <a:spcPct val="125000"/>
              </a:lnSpc>
              <a:buFont typeface="Arial" panose="020B0604020202020204" pitchFamily="34" charset="0"/>
              <a:buChar char="•"/>
            </a:pPr>
            <a:r>
              <a:rPr lang="en-US" altLang="zh-CN" sz="2200" dirty="0" err="1"/>
              <a:t>isBoundary</a:t>
            </a:r>
            <a:r>
              <a:rPr lang="en-US" altLang="zh-CN" sz="2200" dirty="0"/>
              <a:t>(v) / </a:t>
            </a:r>
            <a:r>
              <a:rPr lang="en-US" altLang="zh-CN" sz="2200" dirty="0" err="1"/>
              <a:t>isBoundary</a:t>
            </a:r>
            <a:r>
              <a:rPr lang="en-US" altLang="zh-CN" sz="2200" dirty="0"/>
              <a:t>(e)</a:t>
            </a:r>
            <a:r>
              <a:rPr lang="zh-CN" altLang="en-US" sz="2200" dirty="0"/>
              <a:t>：快速判断边界</a:t>
            </a:r>
          </a:p>
        </p:txBody>
      </p:sp>
    </p:spTree>
    <p:extLst>
      <p:ext uri="{BB962C8B-B14F-4D97-AF65-F5344CB8AC3E}">
        <p14:creationId xmlns:p14="http://schemas.microsoft.com/office/powerpoint/2010/main" val="3773091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A60D5-D99C-62AC-6D17-90B9CE9A1AAD}"/>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B0A7EAEF-6474-2991-3E42-019330B5FDA3}"/>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Loop</a:t>
            </a:r>
            <a:r>
              <a:rPr lang="zh-CN" altLang="en-US" b="1" dirty="0"/>
              <a:t>细分</a:t>
            </a:r>
            <a:r>
              <a:rPr lang="en-US" altLang="zh-CN" b="1" dirty="0"/>
              <a:t>-</a:t>
            </a:r>
            <a:r>
              <a:rPr lang="zh-CN" altLang="en-US" b="1" dirty="0"/>
              <a:t>实现步骤</a:t>
            </a:r>
          </a:p>
        </p:txBody>
      </p:sp>
      <p:sp>
        <p:nvSpPr>
          <p:cNvPr id="8" name="文本框 7">
            <a:extLst>
              <a:ext uri="{FF2B5EF4-FFF2-40B4-BE49-F238E27FC236}">
                <a16:creationId xmlns:a16="http://schemas.microsoft.com/office/drawing/2014/main" id="{DBBBDEBE-02C3-AF9F-ECCB-D7FBE5700995}"/>
              </a:ext>
            </a:extLst>
          </p:cNvPr>
          <p:cNvSpPr txBox="1"/>
          <p:nvPr/>
        </p:nvSpPr>
        <p:spPr>
          <a:xfrm>
            <a:off x="838200" y="1245136"/>
            <a:ext cx="10515600" cy="5601918"/>
          </a:xfrm>
          <a:prstGeom prst="rect">
            <a:avLst/>
          </a:prstGeom>
          <a:noFill/>
        </p:spPr>
        <p:txBody>
          <a:bodyPr wrap="square">
            <a:spAutoFit/>
          </a:bodyPr>
          <a:lstStyle/>
          <a:p>
            <a:pPr>
              <a:lnSpc>
                <a:spcPct val="125000"/>
              </a:lnSpc>
            </a:pPr>
            <a:r>
              <a:rPr lang="en-US" altLang="zh-CN" sz="2200" b="1" dirty="0"/>
              <a:t>Loop Subdivision</a:t>
            </a:r>
            <a:r>
              <a:rPr lang="zh-CN" altLang="en-US" sz="2200" dirty="0"/>
              <a:t>的实现步骤可以归纳为：</a:t>
            </a:r>
            <a:endParaRPr lang="en-US" altLang="zh-CN" sz="2200" dirty="0"/>
          </a:p>
          <a:p>
            <a:pPr marL="342900" indent="-342900">
              <a:lnSpc>
                <a:spcPct val="125000"/>
              </a:lnSpc>
              <a:buFont typeface="Arial" panose="020B0604020202020204" pitchFamily="34" charset="0"/>
              <a:buChar char="•"/>
            </a:pPr>
            <a:r>
              <a:rPr lang="zh-CN" altLang="en-US" sz="2200" b="1" dirty="0"/>
              <a:t>第一步：更新旧顶点</a:t>
            </a:r>
            <a:endParaRPr lang="en-US" altLang="zh-CN" sz="2200" b="1" dirty="0"/>
          </a:p>
          <a:p>
            <a:pPr marL="800100" lvl="1" indent="-342900">
              <a:lnSpc>
                <a:spcPct val="125000"/>
              </a:lnSpc>
              <a:buFont typeface="Arial" panose="020B0604020202020204" pitchFamily="34" charset="0"/>
              <a:buChar char="•"/>
            </a:pPr>
            <a:r>
              <a:rPr lang="zh-CN" altLang="en-US" sz="2200" b="1" dirty="0"/>
              <a:t>目标</a:t>
            </a:r>
            <a:r>
              <a:rPr lang="zh-CN" altLang="en-US" sz="2200" dirty="0"/>
              <a:t>：计算原网格顶点在细分后的新位置</a:t>
            </a:r>
          </a:p>
          <a:p>
            <a:pPr marL="800100" lvl="1" indent="-342900">
              <a:lnSpc>
                <a:spcPct val="125000"/>
              </a:lnSpc>
              <a:buFont typeface="Arial" panose="020B0604020202020204" pitchFamily="34" charset="0"/>
              <a:buChar char="•"/>
            </a:pPr>
            <a:r>
              <a:rPr lang="en-US" altLang="zh-CN" sz="2200" b="1" dirty="0"/>
              <a:t>	</a:t>
            </a:r>
            <a:r>
              <a:rPr lang="zh-CN" altLang="en-US" sz="2200" dirty="0"/>
              <a:t>遍历 </a:t>
            </a:r>
            <a:r>
              <a:rPr lang="en-US" altLang="zh-CN" sz="2200" dirty="0" err="1"/>
              <a:t>sdattrib.vs</a:t>
            </a:r>
            <a:endParaRPr lang="zh-CN" altLang="en-US" sz="2200" dirty="0"/>
          </a:p>
          <a:p>
            <a:pPr marL="1257300" lvl="2" indent="-342900">
              <a:lnSpc>
                <a:spcPct val="125000"/>
              </a:lnSpc>
              <a:buFont typeface="Arial" panose="020B0604020202020204" pitchFamily="34" charset="0"/>
              <a:buChar char="•"/>
            </a:pPr>
            <a:r>
              <a:rPr lang="zh-CN" altLang="en-US" sz="2200" dirty="0"/>
              <a:t>使用 </a:t>
            </a:r>
            <a:r>
              <a:rPr lang="en-US" altLang="zh-CN" sz="2200" dirty="0"/>
              <a:t>v-&gt;</a:t>
            </a:r>
            <a:r>
              <a:rPr lang="en-US" altLang="zh-CN" sz="2200" dirty="0" err="1"/>
              <a:t>startFace</a:t>
            </a:r>
            <a:r>
              <a:rPr lang="zh-CN" altLang="en-US" sz="2200" dirty="0"/>
              <a:t> 和 </a:t>
            </a:r>
            <a:r>
              <a:rPr lang="en-US" altLang="zh-CN" sz="2200" dirty="0"/>
              <a:t>f-&gt;</a:t>
            </a:r>
            <a:r>
              <a:rPr lang="en-US" altLang="zh-CN" sz="2200" dirty="0" err="1"/>
              <a:t>nextFace</a:t>
            </a:r>
            <a:r>
              <a:rPr lang="en-US" altLang="zh-CN" sz="2200" dirty="0"/>
              <a:t>(v)</a:t>
            </a:r>
            <a:r>
              <a:rPr lang="zh-CN" altLang="en-US" sz="2200" dirty="0"/>
              <a:t> 找到一圈邻居顶点</a:t>
            </a:r>
          </a:p>
          <a:p>
            <a:pPr marL="1257300" lvl="2" indent="-342900">
              <a:lnSpc>
                <a:spcPct val="125000"/>
              </a:lnSpc>
              <a:buFont typeface="Arial" panose="020B0604020202020204" pitchFamily="34" charset="0"/>
              <a:buChar char="•"/>
            </a:pPr>
            <a:r>
              <a:rPr lang="zh-CN" altLang="en-US" sz="2200" dirty="0"/>
              <a:t>区分</a:t>
            </a:r>
            <a:r>
              <a:rPr lang="zh-CN" altLang="en-US" sz="2200" b="1" dirty="0"/>
              <a:t>内部顶点</a:t>
            </a:r>
            <a:r>
              <a:rPr lang="zh-CN" altLang="en-US" sz="2200" dirty="0"/>
              <a:t>和</a:t>
            </a:r>
            <a:r>
              <a:rPr lang="zh-CN" altLang="en-US" sz="2200" b="1" dirty="0"/>
              <a:t>边界顶点</a:t>
            </a:r>
            <a:r>
              <a:rPr lang="zh-CN" altLang="en-US" sz="2200" dirty="0"/>
              <a:t>，应用不同的加权公式</a:t>
            </a:r>
          </a:p>
          <a:p>
            <a:pPr marL="342900" indent="-342900">
              <a:lnSpc>
                <a:spcPct val="125000"/>
              </a:lnSpc>
              <a:buFont typeface="Arial" panose="020B0604020202020204" pitchFamily="34" charset="0"/>
              <a:buChar char="•"/>
            </a:pPr>
            <a:r>
              <a:rPr lang="zh-CN" altLang="en-US" sz="2200" b="1" dirty="0"/>
              <a:t>第二步：生成新顶点</a:t>
            </a:r>
            <a:endParaRPr lang="en-US" altLang="zh-CN" sz="2200" b="1" dirty="0"/>
          </a:p>
          <a:p>
            <a:pPr marL="800100" lvl="1" indent="-342900">
              <a:lnSpc>
                <a:spcPct val="125000"/>
              </a:lnSpc>
              <a:buFont typeface="Arial" panose="020B0604020202020204" pitchFamily="34" charset="0"/>
              <a:buChar char="•"/>
            </a:pPr>
            <a:r>
              <a:rPr lang="zh-CN" altLang="en-US" sz="2200" b="1" dirty="0"/>
              <a:t>目标</a:t>
            </a:r>
            <a:r>
              <a:rPr lang="zh-CN" altLang="en-US" sz="2200" dirty="0"/>
              <a:t>：在每一条边的中心位置生成细分点</a:t>
            </a:r>
          </a:p>
          <a:p>
            <a:pPr marL="800100" lvl="1" indent="-342900">
              <a:lnSpc>
                <a:spcPct val="125000"/>
              </a:lnSpc>
              <a:buFont typeface="Arial" panose="020B0604020202020204" pitchFamily="34" charset="0"/>
              <a:buChar char="•"/>
            </a:pPr>
            <a:r>
              <a:rPr lang="en-US" altLang="zh-CN" sz="2200" b="1" dirty="0"/>
              <a:t>	</a:t>
            </a:r>
            <a:r>
              <a:rPr lang="zh-CN" altLang="en-US" sz="2200" dirty="0"/>
              <a:t>遍历 </a:t>
            </a:r>
            <a:r>
              <a:rPr lang="en-US" altLang="zh-CN" sz="2200" dirty="0"/>
              <a:t>sdshapes.es</a:t>
            </a:r>
            <a:r>
              <a:rPr lang="zh-CN" altLang="en-US" sz="2200" dirty="0"/>
              <a:t>（边集合）</a:t>
            </a:r>
          </a:p>
          <a:p>
            <a:pPr marL="1257300" lvl="2" indent="-342900">
              <a:lnSpc>
                <a:spcPct val="125000"/>
              </a:lnSpc>
              <a:buFont typeface="Arial" panose="020B0604020202020204" pitchFamily="34" charset="0"/>
              <a:buChar char="•"/>
            </a:pPr>
            <a:r>
              <a:rPr lang="zh-CN" altLang="en-US" sz="2200" dirty="0"/>
              <a:t>将新生成的顶点指针存入该边相邻面的 </a:t>
            </a:r>
            <a:r>
              <a:rPr lang="en-US" altLang="zh-CN" sz="2200" dirty="0"/>
              <a:t>f-&gt;</a:t>
            </a:r>
            <a:r>
              <a:rPr lang="en-US" altLang="zh-CN" sz="2200" dirty="0" err="1"/>
              <a:t>sdverts</a:t>
            </a:r>
            <a:r>
              <a:rPr lang="en-US" altLang="zh-CN" sz="2200" dirty="0"/>
              <a:t>[</a:t>
            </a:r>
            <a:r>
              <a:rPr lang="en-US" altLang="zh-CN" sz="2200" dirty="0" err="1"/>
              <a:t>edgeNum</a:t>
            </a:r>
            <a:r>
              <a:rPr lang="en-US" altLang="zh-CN" sz="2200" dirty="0"/>
              <a:t>]</a:t>
            </a:r>
            <a:r>
              <a:rPr lang="zh-CN" altLang="en-US" sz="2200" dirty="0"/>
              <a:t> 中，供后续面拆分使用</a:t>
            </a:r>
          </a:p>
          <a:p>
            <a:pPr marL="1257300" lvl="2" indent="-342900">
              <a:lnSpc>
                <a:spcPct val="125000"/>
              </a:lnSpc>
              <a:buFont typeface="Arial" panose="020B0604020202020204" pitchFamily="34" charset="0"/>
              <a:buChar char="•"/>
            </a:pPr>
            <a:r>
              <a:rPr lang="zh-CN" altLang="en-US" sz="2200" dirty="0"/>
              <a:t>根据是否为边界边决定权重</a:t>
            </a:r>
          </a:p>
          <a:p>
            <a:pPr>
              <a:lnSpc>
                <a:spcPct val="125000"/>
              </a:lnSpc>
            </a:pPr>
            <a:endParaRPr lang="zh-CN" altLang="en-US" sz="2200" dirty="0"/>
          </a:p>
        </p:txBody>
      </p:sp>
    </p:spTree>
    <p:extLst>
      <p:ext uri="{BB962C8B-B14F-4D97-AF65-F5344CB8AC3E}">
        <p14:creationId xmlns:p14="http://schemas.microsoft.com/office/powerpoint/2010/main" val="1658951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D704C-591F-95A7-63A1-2DE33E1F6A6A}"/>
            </a:ext>
          </a:extLst>
        </p:cNvPr>
        <p:cNvGrpSpPr/>
        <p:nvPr/>
      </p:nvGrpSpPr>
      <p:grpSpPr>
        <a:xfrm>
          <a:off x="0" y="0"/>
          <a:ext cx="0" cy="0"/>
          <a:chOff x="0" y="0"/>
          <a:chExt cx="0" cy="0"/>
        </a:xfrm>
      </p:grpSpPr>
      <p:sp>
        <p:nvSpPr>
          <p:cNvPr id="4" name="标题 1">
            <a:extLst>
              <a:ext uri="{FF2B5EF4-FFF2-40B4-BE49-F238E27FC236}">
                <a16:creationId xmlns:a16="http://schemas.microsoft.com/office/drawing/2014/main" id="{E373A63F-439A-1B1F-4E46-557E9D98BE73}"/>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Loop</a:t>
            </a:r>
            <a:r>
              <a:rPr lang="zh-CN" altLang="en-US" b="1" dirty="0"/>
              <a:t>细分</a:t>
            </a:r>
            <a:r>
              <a:rPr lang="en-US" altLang="zh-CN" b="1" dirty="0"/>
              <a:t>-</a:t>
            </a:r>
            <a:r>
              <a:rPr lang="zh-CN" altLang="en-US" b="1" dirty="0"/>
              <a:t>实现步骤</a:t>
            </a:r>
          </a:p>
        </p:txBody>
      </p:sp>
      <p:sp>
        <p:nvSpPr>
          <p:cNvPr id="8" name="文本框 7">
            <a:extLst>
              <a:ext uri="{FF2B5EF4-FFF2-40B4-BE49-F238E27FC236}">
                <a16:creationId xmlns:a16="http://schemas.microsoft.com/office/drawing/2014/main" id="{F9F9CDD3-6768-B8D4-DB45-45D1E870EA66}"/>
              </a:ext>
            </a:extLst>
          </p:cNvPr>
          <p:cNvSpPr txBox="1"/>
          <p:nvPr/>
        </p:nvSpPr>
        <p:spPr>
          <a:xfrm>
            <a:off x="838200" y="1399141"/>
            <a:ext cx="10515599" cy="5140253"/>
          </a:xfrm>
          <a:prstGeom prst="rect">
            <a:avLst/>
          </a:prstGeom>
          <a:noFill/>
        </p:spPr>
        <p:txBody>
          <a:bodyPr wrap="square">
            <a:spAutoFit/>
          </a:bodyPr>
          <a:lstStyle/>
          <a:p>
            <a:pPr>
              <a:lnSpc>
                <a:spcPct val="125000"/>
              </a:lnSpc>
            </a:pPr>
            <a:r>
              <a:rPr lang="en-US" altLang="zh-CN" sz="2200" b="1" dirty="0"/>
              <a:t>Loop Subdivision</a:t>
            </a:r>
            <a:r>
              <a:rPr lang="zh-CN" altLang="en-US" sz="2200" dirty="0"/>
              <a:t>的实现步骤可以归纳为：</a:t>
            </a:r>
            <a:endParaRPr lang="en-US" altLang="zh-CN" sz="2200" dirty="0"/>
          </a:p>
          <a:p>
            <a:pPr marL="342900" indent="-342900">
              <a:lnSpc>
                <a:spcPct val="125000"/>
              </a:lnSpc>
              <a:buFont typeface="Arial" panose="020B0604020202020204" pitchFamily="34" charset="0"/>
              <a:buChar char="•"/>
            </a:pPr>
            <a:r>
              <a:rPr lang="zh-CN" altLang="en-US" sz="2200" b="1" dirty="0"/>
              <a:t>第三步：重建拓扑结构 </a:t>
            </a:r>
            <a:endParaRPr lang="en-US" altLang="zh-CN" sz="2200" b="1" dirty="0"/>
          </a:p>
          <a:p>
            <a:pPr marL="800100" lvl="1" indent="-342900">
              <a:lnSpc>
                <a:spcPct val="125000"/>
              </a:lnSpc>
              <a:buFont typeface="Arial" panose="020B0604020202020204" pitchFamily="34" charset="0"/>
              <a:buChar char="•"/>
            </a:pPr>
            <a:r>
              <a:rPr lang="zh-CN" altLang="en-US" sz="2200" b="1" dirty="0"/>
              <a:t>目标</a:t>
            </a:r>
            <a:r>
              <a:rPr lang="zh-CN" altLang="en-US" sz="2200" dirty="0"/>
              <a:t>：执行“</a:t>
            </a:r>
            <a:r>
              <a:rPr lang="en-US" altLang="zh-CN" sz="2200" dirty="0"/>
              <a:t>1 </a:t>
            </a:r>
            <a:r>
              <a:rPr lang="zh-CN" altLang="en-US" sz="2200" dirty="0"/>
              <a:t>拆 </a:t>
            </a:r>
            <a:r>
              <a:rPr lang="en-US" altLang="zh-CN" sz="2200" dirty="0"/>
              <a:t>4”</a:t>
            </a:r>
            <a:r>
              <a:rPr lang="zh-CN" altLang="en-US" sz="2200" dirty="0"/>
              <a:t>操作，连接新旧顶点</a:t>
            </a:r>
          </a:p>
          <a:p>
            <a:pPr marL="1257300" lvl="2" indent="-342900">
              <a:lnSpc>
                <a:spcPct val="125000"/>
              </a:lnSpc>
              <a:buFont typeface="Arial" panose="020B0604020202020204" pitchFamily="34" charset="0"/>
              <a:buChar char="•"/>
            </a:pPr>
            <a:r>
              <a:rPr lang="zh-CN" altLang="en-US" sz="2200" dirty="0"/>
              <a:t>每个原始三角形面 </a:t>
            </a:r>
            <a:r>
              <a:rPr lang="en-US" altLang="zh-CN" sz="2200" dirty="0"/>
              <a:t>f</a:t>
            </a:r>
            <a:r>
              <a:rPr lang="zh-CN" altLang="en-US" sz="2200" dirty="0"/>
              <a:t> 将派生出 </a:t>
            </a:r>
            <a:r>
              <a:rPr lang="en-US" altLang="zh-CN" sz="2200" dirty="0"/>
              <a:t>4 </a:t>
            </a:r>
            <a:r>
              <a:rPr lang="zh-CN" altLang="en-US" sz="2200" dirty="0"/>
              <a:t>个子面</a:t>
            </a:r>
          </a:p>
          <a:p>
            <a:pPr marL="1257300" lvl="2" indent="-342900">
              <a:lnSpc>
                <a:spcPct val="125000"/>
              </a:lnSpc>
              <a:buFont typeface="Arial" panose="020B0604020202020204" pitchFamily="34" charset="0"/>
              <a:buChar char="•"/>
            </a:pPr>
            <a:r>
              <a:rPr lang="en-US" altLang="zh-CN" sz="2200" dirty="0"/>
              <a:t>3 </a:t>
            </a:r>
            <a:r>
              <a:rPr lang="zh-CN" altLang="en-US" sz="2200" dirty="0"/>
              <a:t>个角部三角形 </a:t>
            </a:r>
            <a:r>
              <a:rPr lang="en-US" altLang="zh-CN" sz="2200" dirty="0"/>
              <a:t>+ 1 </a:t>
            </a:r>
            <a:r>
              <a:rPr lang="zh-CN" altLang="en-US" sz="2200" dirty="0"/>
              <a:t>个中心三角形</a:t>
            </a:r>
          </a:p>
          <a:p>
            <a:pPr marL="1257300" lvl="2" indent="-342900">
              <a:lnSpc>
                <a:spcPct val="125000"/>
              </a:lnSpc>
              <a:buFont typeface="Arial" panose="020B0604020202020204" pitchFamily="34" charset="0"/>
              <a:buChar char="•"/>
            </a:pPr>
            <a:r>
              <a:rPr lang="zh-CN" altLang="en-US" sz="2200" dirty="0"/>
              <a:t>更新新面之间的 </a:t>
            </a:r>
            <a:r>
              <a:rPr lang="en-US" altLang="zh-CN" sz="2200" dirty="0" err="1"/>
              <a:t>neighborFs</a:t>
            </a:r>
            <a:r>
              <a:rPr lang="zh-CN" altLang="en-US" sz="2200" dirty="0"/>
              <a:t> 指针，这是维持网格连通性（能够连续细分）的前提</a:t>
            </a:r>
          </a:p>
          <a:p>
            <a:pPr marL="342900" indent="-342900">
              <a:lnSpc>
                <a:spcPct val="125000"/>
              </a:lnSpc>
              <a:buFont typeface="Arial" panose="020B0604020202020204" pitchFamily="34" charset="0"/>
              <a:buChar char="•"/>
            </a:pPr>
            <a:r>
              <a:rPr lang="zh-CN" altLang="en-US" sz="2200" b="1" dirty="0"/>
              <a:t>第四步：收尾与数据交换 </a:t>
            </a:r>
            <a:endParaRPr lang="en-US" altLang="zh-CN" sz="2200" b="1" dirty="0"/>
          </a:p>
          <a:p>
            <a:pPr marL="800100" lvl="1" indent="-342900">
              <a:lnSpc>
                <a:spcPct val="125000"/>
              </a:lnSpc>
              <a:buFont typeface="Arial" panose="020B0604020202020204" pitchFamily="34" charset="0"/>
              <a:buChar char="•"/>
            </a:pPr>
            <a:r>
              <a:rPr lang="zh-CN" altLang="en-US" sz="2200" b="1" dirty="0"/>
              <a:t>目标</a:t>
            </a:r>
            <a:r>
              <a:rPr lang="zh-CN" altLang="en-US" sz="2200" dirty="0"/>
              <a:t>：更新全局属性表</a:t>
            </a:r>
          </a:p>
          <a:p>
            <a:pPr marL="1257300" lvl="2" indent="-342900">
              <a:lnSpc>
                <a:spcPct val="125000"/>
              </a:lnSpc>
              <a:buFont typeface="Arial" panose="020B0604020202020204" pitchFamily="34" charset="0"/>
              <a:buChar char="•"/>
            </a:pPr>
            <a:r>
              <a:rPr lang="zh-CN" altLang="en-US" sz="2200" dirty="0"/>
              <a:t>将新生成的顶点列表 </a:t>
            </a:r>
            <a:r>
              <a:rPr lang="en-US" altLang="zh-CN" sz="2200" dirty="0" err="1"/>
              <a:t>newSDAttrib.vs</a:t>
            </a:r>
            <a:r>
              <a:rPr lang="zh-CN" altLang="en-US" sz="2200" dirty="0"/>
              <a:t> 与旧的 </a:t>
            </a:r>
            <a:r>
              <a:rPr lang="en-US" altLang="zh-CN" sz="2200" dirty="0" err="1"/>
              <a:t>sdattrib.vs</a:t>
            </a:r>
            <a:r>
              <a:rPr lang="zh-CN" altLang="en-US" sz="2200" dirty="0"/>
              <a:t> 进行 </a:t>
            </a:r>
            <a:r>
              <a:rPr lang="en-US" altLang="zh-CN" sz="2200" dirty="0"/>
              <a:t>swap</a:t>
            </a:r>
            <a:r>
              <a:rPr lang="zh-CN" altLang="en-US" sz="2200" dirty="0"/>
              <a:t> 交换，确保函数外部能获取更新后的网格数据</a:t>
            </a:r>
          </a:p>
          <a:p>
            <a:pPr>
              <a:lnSpc>
                <a:spcPct val="125000"/>
              </a:lnSpc>
            </a:pPr>
            <a:endParaRPr lang="zh-CN" altLang="en-US" sz="2200" dirty="0"/>
          </a:p>
        </p:txBody>
      </p:sp>
    </p:spTree>
    <p:extLst>
      <p:ext uri="{BB962C8B-B14F-4D97-AF65-F5344CB8AC3E}">
        <p14:creationId xmlns:p14="http://schemas.microsoft.com/office/powerpoint/2010/main" val="2656195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758F9-14C5-FA85-A7F4-01C818B5BF9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978B45C-C470-A990-65F6-A270DA0D343C}"/>
              </a:ext>
            </a:extLst>
          </p:cNvPr>
          <p:cNvSpPr>
            <a:spLocks noGrp="1"/>
          </p:cNvSpPr>
          <p:nvPr>
            <p:ph type="title"/>
          </p:nvPr>
        </p:nvSpPr>
        <p:spPr/>
        <p:txBody>
          <a:bodyPr/>
          <a:lstStyle/>
          <a:p>
            <a:r>
              <a:rPr lang="en-US" altLang="zh-CN" b="1" dirty="0"/>
              <a:t>Loop</a:t>
            </a:r>
            <a:r>
              <a:rPr lang="zh-CN" altLang="en-US" b="1" dirty="0"/>
              <a:t>细分</a:t>
            </a:r>
            <a:r>
              <a:rPr lang="en-US" altLang="zh-CN" b="1" dirty="0"/>
              <a:t>-</a:t>
            </a:r>
            <a:r>
              <a:rPr lang="zh-CN" altLang="en-US" b="1" dirty="0"/>
              <a:t>实验流程</a:t>
            </a:r>
            <a:r>
              <a:rPr lang="en-US" altLang="zh-CN" b="1" dirty="0"/>
              <a:t>-1</a:t>
            </a:r>
            <a:endParaRPr lang="zh-CN" altLang="en-US" b="1" dirty="0"/>
          </a:p>
        </p:txBody>
      </p:sp>
      <p:sp>
        <p:nvSpPr>
          <p:cNvPr id="4" name="文本框 3">
            <a:extLst>
              <a:ext uri="{FF2B5EF4-FFF2-40B4-BE49-F238E27FC236}">
                <a16:creationId xmlns:a16="http://schemas.microsoft.com/office/drawing/2014/main" id="{ACE15844-F37F-3CE0-6755-07C64C6648D6}"/>
              </a:ext>
            </a:extLst>
          </p:cNvPr>
          <p:cNvSpPr txBox="1"/>
          <p:nvPr userDrawn="1"/>
        </p:nvSpPr>
        <p:spPr>
          <a:xfrm>
            <a:off x="616471" y="1328020"/>
            <a:ext cx="10515600" cy="5019771"/>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编写程序</a:t>
            </a:r>
            <a:r>
              <a:rPr lang="en-US" altLang="zh-CN" sz="2400" b="1" dirty="0" err="1"/>
              <a:t>loopSubdivision.h</a:t>
            </a:r>
            <a:endParaRPr lang="en-US" altLang="zh-CN" sz="2400" b="1" dirty="0"/>
          </a:p>
          <a:p>
            <a:pPr marL="1143000" lvl="2" indent="-228600" defTabSz="0">
              <a:lnSpc>
                <a:spcPct val="145000"/>
              </a:lnSpc>
              <a:spcBef>
                <a:spcPts val="500"/>
              </a:spcBef>
              <a:spcAft>
                <a:spcPct val="0"/>
              </a:spcAft>
              <a:buFont typeface="Arial" panose="020B0604020202020204" pitchFamily="34" charset="0"/>
              <a:buChar char="•"/>
            </a:pPr>
            <a:r>
              <a:rPr lang="zh-CN" altLang="en-US" sz="2000" dirty="0"/>
              <a:t>利用系统提供的模型读入接口读入模型，模型被读入后存储在系统的网格拓扑数据结构中</a:t>
            </a:r>
            <a:endParaRPr lang="en-US" altLang="zh-CN" sz="2000" dirty="0"/>
          </a:p>
          <a:p>
            <a:pPr marL="1143000" lvl="2" indent="-228600" defTabSz="0">
              <a:lnSpc>
                <a:spcPct val="145000"/>
              </a:lnSpc>
              <a:spcBef>
                <a:spcPts val="500"/>
              </a:spcBef>
              <a:spcAft>
                <a:spcPct val="0"/>
              </a:spcAft>
              <a:buFont typeface="Arial" panose="020B0604020202020204" pitchFamily="34" charset="0"/>
              <a:buChar char="•"/>
            </a:pPr>
            <a:r>
              <a:rPr lang="zh-CN" altLang="en-US" sz="2000" dirty="0"/>
              <a:t>基</a:t>
            </a:r>
            <a:r>
              <a:rPr lang="en-US" altLang="zh-CN" sz="2000" dirty="0"/>
              <a:t>	</a:t>
            </a:r>
            <a:r>
              <a:rPr lang="zh-CN" altLang="en-US" sz="2000" dirty="0"/>
              <a:t>于系统提供的网格拓扑结构实现</a:t>
            </a:r>
            <a:r>
              <a:rPr lang="en-US" altLang="zh-CN" sz="2000" dirty="0"/>
              <a:t>Loop</a:t>
            </a:r>
            <a:r>
              <a:rPr lang="zh-CN" altLang="en-US" sz="2000" dirty="0"/>
              <a:t>细分算法</a:t>
            </a:r>
            <a:endParaRPr lang="en-US" altLang="zh-CN" sz="2000" dirty="0"/>
          </a:p>
          <a:p>
            <a:pPr marL="1143000" lvl="2" indent="-228600" defTabSz="0">
              <a:lnSpc>
                <a:spcPct val="145000"/>
              </a:lnSpc>
              <a:spcBef>
                <a:spcPts val="500"/>
              </a:spcBef>
              <a:spcAft>
                <a:spcPct val="0"/>
              </a:spcAft>
              <a:buFont typeface="Arial" panose="020B0604020202020204" pitchFamily="34" charset="0"/>
              <a:buChar char="•"/>
            </a:pPr>
            <a:r>
              <a:rPr lang="zh-CN" altLang="en-US" sz="2000" dirty="0"/>
              <a:t>继承系统提供的求解器虚基类，重写基类中的虚函数来调用自己实现的</a:t>
            </a:r>
            <a:r>
              <a:rPr lang="en-US" altLang="zh-CN" sz="2000" dirty="0"/>
              <a:t>Loop</a:t>
            </a:r>
            <a:r>
              <a:rPr lang="zh-CN" altLang="en-US" sz="2000" dirty="0"/>
              <a:t>算法将 程序文件保存在</a:t>
            </a:r>
            <a:r>
              <a:rPr lang="en-US" altLang="zh-CN" sz="2000" dirty="0"/>
              <a:t>lib/algorithms </a:t>
            </a:r>
            <a:r>
              <a:rPr lang="zh-CN" altLang="en-US" sz="2000" dirty="0"/>
              <a:t>文件夹下</a:t>
            </a:r>
            <a:endParaRPr lang="en-US" altLang="zh-CN" sz="20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在</a:t>
            </a:r>
            <a:r>
              <a:rPr lang="en-US" altLang="zh-CN" sz="2400" dirty="0"/>
              <a:t>main.cpp </a:t>
            </a:r>
            <a:r>
              <a:rPr lang="zh-CN" altLang="en-US" sz="2400" dirty="0"/>
              <a:t>中注册刚才实现的算法，实例化一个求解器对象，将指针保存在列表中</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在命令行中进行系统的编译和运行。编译前可以需要在</a:t>
            </a:r>
            <a:r>
              <a:rPr lang="en-US" altLang="zh-CN" sz="2400" dirty="0"/>
              <a:t>CMakeList.txt </a:t>
            </a:r>
            <a:r>
              <a:rPr lang="zh-CN" altLang="en-US" sz="2400" dirty="0"/>
              <a:t>中添加自己需要的编译选项</a:t>
            </a:r>
            <a:endParaRPr lang="en-US" altLang="zh-CN" sz="2000" dirty="0"/>
          </a:p>
        </p:txBody>
      </p:sp>
    </p:spTree>
    <p:extLst>
      <p:ext uri="{BB962C8B-B14F-4D97-AF65-F5344CB8AC3E}">
        <p14:creationId xmlns:p14="http://schemas.microsoft.com/office/powerpoint/2010/main" val="10162852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01FF6-FF8F-F45B-2458-E97F3E2BD4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AC070B4-D4B9-98FA-977B-0C5215F8D9A6}"/>
              </a:ext>
            </a:extLst>
          </p:cNvPr>
          <p:cNvSpPr>
            <a:spLocks noGrp="1"/>
          </p:cNvSpPr>
          <p:nvPr>
            <p:ph type="title"/>
          </p:nvPr>
        </p:nvSpPr>
        <p:spPr/>
        <p:txBody>
          <a:bodyPr/>
          <a:lstStyle/>
          <a:p>
            <a:r>
              <a:rPr lang="en-US" altLang="zh-CN" b="1" dirty="0"/>
              <a:t>Loop</a:t>
            </a:r>
            <a:r>
              <a:rPr lang="zh-CN" altLang="en-US" b="1" dirty="0"/>
              <a:t>细分</a:t>
            </a:r>
            <a:r>
              <a:rPr lang="en-US" altLang="zh-CN" b="1" dirty="0"/>
              <a:t>-</a:t>
            </a:r>
            <a:r>
              <a:rPr lang="zh-CN" altLang="en-US" b="1" dirty="0"/>
              <a:t>实验流程</a:t>
            </a:r>
            <a:r>
              <a:rPr lang="en-US" altLang="zh-CN" b="1" dirty="0"/>
              <a:t>-2</a:t>
            </a:r>
            <a:endParaRPr lang="zh-CN" altLang="en-US" b="1" dirty="0"/>
          </a:p>
        </p:txBody>
      </p:sp>
      <p:sp>
        <p:nvSpPr>
          <p:cNvPr id="4" name="文本框 3">
            <a:extLst>
              <a:ext uri="{FF2B5EF4-FFF2-40B4-BE49-F238E27FC236}">
                <a16:creationId xmlns:a16="http://schemas.microsoft.com/office/drawing/2014/main" id="{CE79AE54-3CE3-AE42-68E4-CBF7A6CC7B57}"/>
              </a:ext>
            </a:extLst>
          </p:cNvPr>
          <p:cNvSpPr txBox="1"/>
          <p:nvPr userDrawn="1"/>
        </p:nvSpPr>
        <p:spPr>
          <a:xfrm>
            <a:off x="616471" y="1473792"/>
            <a:ext cx="10515600" cy="5779264"/>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在图形界面中运行算法</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000" dirty="0"/>
              <a:t>打开图形界面中的模型选项卡，任意选择一个模型，将模型加载并显示在屏幕上。随后打开图形界面中的算法选项卡，选择自己刚才注册的算法，运行算法，等待算法运行完毕后即可在屏幕上观察到结果</a:t>
            </a:r>
            <a:endParaRPr lang="en-US" altLang="zh-CN" sz="2000" dirty="0"/>
          </a:p>
        </p:txBody>
      </p:sp>
      <p:pic>
        <p:nvPicPr>
          <p:cNvPr id="5" name="图片 4" descr="图片包含 图形用户界面&#10;&#10;AI 生成的内容可能不正确。">
            <a:extLst>
              <a:ext uri="{FF2B5EF4-FFF2-40B4-BE49-F238E27FC236}">
                <a16:creationId xmlns:a16="http://schemas.microsoft.com/office/drawing/2014/main" id="{513D0763-033F-B68E-D47A-EF68FF94314B}"/>
              </a:ext>
            </a:extLst>
          </p:cNvPr>
          <p:cNvPicPr>
            <a:picLocks noChangeAspect="1"/>
          </p:cNvPicPr>
          <p:nvPr/>
        </p:nvPicPr>
        <p:blipFill>
          <a:blip r:embed="rId2"/>
          <a:stretch>
            <a:fillRect/>
          </a:stretch>
        </p:blipFill>
        <p:spPr>
          <a:xfrm>
            <a:off x="2802398" y="3601278"/>
            <a:ext cx="6587203" cy="3006065"/>
          </a:xfrm>
          <a:prstGeom prst="rect">
            <a:avLst/>
          </a:prstGeom>
        </p:spPr>
      </p:pic>
    </p:spTree>
    <p:extLst>
      <p:ext uri="{BB962C8B-B14F-4D97-AF65-F5344CB8AC3E}">
        <p14:creationId xmlns:p14="http://schemas.microsoft.com/office/powerpoint/2010/main" val="30825436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62363-3432-0188-B713-A2A80EF1438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标题 1">
                <a:extLst>
                  <a:ext uri="{FF2B5EF4-FFF2-40B4-BE49-F238E27FC236}">
                    <a16:creationId xmlns:a16="http://schemas.microsoft.com/office/drawing/2014/main" id="{20D54E3F-66C6-9C42-5FAF-8231F2713B76}"/>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a:t>理论背景</a:t>
                </a:r>
                <a:r>
                  <a:rPr lang="en-US" altLang="zh-CN" b="1" dirty="0"/>
                  <a:t>- </a:t>
                </a:r>
                <a14:m>
                  <m:oMath xmlns:m="http://schemas.openxmlformats.org/officeDocument/2006/math">
                    <m:rad>
                      <m:radPr>
                        <m:degHide m:val="on"/>
                        <m:ctrlPr>
                          <a:rPr lang="en-US" altLang="zh-CN" b="1" i="1" dirty="0">
                            <a:latin typeface="Cambria Math" panose="02040503050406030204" pitchFamily="18" charset="0"/>
                          </a:rPr>
                        </m:ctrlPr>
                      </m:radPr>
                      <m:deg/>
                      <m:e>
                        <m:r>
                          <a:rPr lang="en-US" altLang="zh-CN" b="1" i="1" dirty="0">
                            <a:latin typeface="Cambria Math" panose="02040503050406030204" pitchFamily="18" charset="0"/>
                          </a:rPr>
                          <m:t>𝟑</m:t>
                        </m:r>
                      </m:e>
                    </m:rad>
                  </m:oMath>
                </a14:m>
                <a:r>
                  <a:rPr lang="zh-CN" altLang="en-US" b="1" dirty="0"/>
                  <a:t>细分</a:t>
                </a:r>
              </a:p>
            </p:txBody>
          </p:sp>
        </mc:Choice>
        <mc:Fallback xmlns="">
          <p:sp>
            <p:nvSpPr>
              <p:cNvPr id="4" name="标题 1">
                <a:extLst>
                  <a:ext uri="{FF2B5EF4-FFF2-40B4-BE49-F238E27FC236}">
                    <a16:creationId xmlns:a16="http://schemas.microsoft.com/office/drawing/2014/main" id="{20D54E3F-66C6-9C42-5FAF-8231F2713B76}"/>
                  </a:ext>
                </a:extLst>
              </p:cNvPr>
              <p:cNvSpPr txBox="1">
                <a:spLocks noRot="1" noChangeAspect="1" noMove="1" noResize="1" noEditPoints="1" noAdjustHandles="1" noChangeArrowheads="1" noChangeShapeType="1" noTextEdit="1"/>
              </p:cNvSpPr>
              <p:nvPr/>
            </p:nvSpPr>
            <p:spPr>
              <a:xfrm>
                <a:off x="838200" y="365125"/>
                <a:ext cx="10515600" cy="1325563"/>
              </a:xfrm>
              <a:prstGeom prst="rect">
                <a:avLst/>
              </a:prstGeom>
              <a:blipFill>
                <a:blip r:embed="rId2"/>
                <a:stretch>
                  <a:fillRect l="-2377" b="-9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FC0D042-7E5A-F582-F46D-DB0BACDCB52A}"/>
                  </a:ext>
                </a:extLst>
              </p:cNvPr>
              <p:cNvSpPr txBox="1"/>
              <p:nvPr/>
            </p:nvSpPr>
            <p:spPr>
              <a:xfrm>
                <a:off x="616471" y="1473792"/>
                <a:ext cx="10515600" cy="1325563"/>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14:m>
                  <m:oMath xmlns:m="http://schemas.openxmlformats.org/officeDocument/2006/math">
                    <m:rad>
                      <m:radPr>
                        <m:degHide m:val="on"/>
                        <m:ctrlPr>
                          <a:rPr lang="en-US" altLang="zh-CN" sz="2400" i="1" dirty="0" smtClean="0">
                            <a:latin typeface="Cambria Math" panose="02040503050406030204" pitchFamily="18" charset="0"/>
                          </a:rPr>
                        </m:ctrlPr>
                      </m:radPr>
                      <m:deg/>
                      <m:e>
                        <m:r>
                          <a:rPr lang="en-US" altLang="zh-CN" sz="2400" i="1" dirty="0" smtClean="0">
                            <a:latin typeface="Cambria Math" panose="02040503050406030204" pitchFamily="18" charset="0"/>
                          </a:rPr>
                          <m:t>3</m:t>
                        </m:r>
                      </m:e>
                    </m:rad>
                  </m:oMath>
                </a14:m>
                <a:r>
                  <a:rPr lang="zh-CN" altLang="en-US" sz="2400" dirty="0"/>
                  <a:t>细分算法在原先的网格三角形中心插入新顶点，然后将它与原先三角形的三个顶点进行链接，最后选择一些边进行翻转操作。由于它包括了顶点插入和边翻转操作，被称为双方案的细分算法。</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每次细分将一个原先的三角形细分为三个，较</a:t>
                </a:r>
                <a:r>
                  <a:rPr lang="en-US" altLang="zh-CN" sz="2400" dirty="0"/>
                  <a:t>Loop</a:t>
                </a:r>
                <a:r>
                  <a:rPr lang="zh-CN" altLang="en-US" sz="2400" dirty="0"/>
                  <a:t>细分具有粒度更细的分辨率。</a:t>
                </a:r>
                <a:endParaRPr lang="en-US" altLang="zh-CN" sz="2400" dirty="0"/>
              </a:p>
            </p:txBody>
          </p:sp>
        </mc:Choice>
        <mc:Fallback xmlns="">
          <p:sp>
            <p:nvSpPr>
              <p:cNvPr id="5" name="文本框 4">
                <a:extLst>
                  <a:ext uri="{FF2B5EF4-FFF2-40B4-BE49-F238E27FC236}">
                    <a16:creationId xmlns:a16="http://schemas.microsoft.com/office/drawing/2014/main" id="{1FC0D042-7E5A-F582-F46D-DB0BACDCB52A}"/>
                  </a:ext>
                </a:extLst>
              </p:cNvPr>
              <p:cNvSpPr txBox="1">
                <a:spLocks noRot="1" noChangeAspect="1" noMove="1" noResize="1" noEditPoints="1" noAdjustHandles="1" noChangeArrowheads="1" noChangeShapeType="1" noTextEdit="1"/>
              </p:cNvSpPr>
              <p:nvPr/>
            </p:nvSpPr>
            <p:spPr>
              <a:xfrm>
                <a:off x="616471" y="1473792"/>
                <a:ext cx="10515600" cy="1325563"/>
              </a:xfrm>
              <a:prstGeom prst="rect">
                <a:avLst/>
              </a:prstGeom>
              <a:blipFill>
                <a:blip r:embed="rId3"/>
                <a:stretch>
                  <a:fillRect b="-123041"/>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0C765CE7-1FD8-4D48-8993-D81134568F40}"/>
              </a:ext>
            </a:extLst>
          </p:cNvPr>
          <p:cNvSpPr txBox="1"/>
          <p:nvPr/>
        </p:nvSpPr>
        <p:spPr>
          <a:xfrm>
            <a:off x="616471" y="3645635"/>
            <a:ext cx="10515600" cy="1325563"/>
          </a:xfrm>
          <a:prstGeom prst="rect">
            <a:avLst/>
          </a:prstGeom>
        </p:spPr>
        <p:txBody>
          <a:bodyPr wrap="square" rtlCol="0">
            <a:noAutofit/>
          </a:bodyPr>
          <a:lstStyle/>
          <a:p>
            <a:pPr lvl="1" defTabSz="0">
              <a:lnSpc>
                <a:spcPct val="145000"/>
              </a:lnSpc>
              <a:spcBef>
                <a:spcPts val="500"/>
              </a:spcBef>
              <a:spcAft>
                <a:spcPct val="0"/>
              </a:spcAft>
            </a:pPr>
            <a:endParaRPr lang="en-US" altLang="zh-CN" sz="2400" dirty="0"/>
          </a:p>
        </p:txBody>
      </p:sp>
      <p:pic>
        <p:nvPicPr>
          <p:cNvPr id="10" name="图片 9" descr="形状&#10;&#10;AI 生成的内容可能不正确。">
            <a:extLst>
              <a:ext uri="{FF2B5EF4-FFF2-40B4-BE49-F238E27FC236}">
                <a16:creationId xmlns:a16="http://schemas.microsoft.com/office/drawing/2014/main" id="{8CC2C946-EECF-94C5-B978-5E01233DE5DC}"/>
              </a:ext>
            </a:extLst>
          </p:cNvPr>
          <p:cNvPicPr>
            <a:picLocks noChangeAspect="1"/>
          </p:cNvPicPr>
          <p:nvPr/>
        </p:nvPicPr>
        <p:blipFill>
          <a:blip r:embed="rId4"/>
          <a:stretch>
            <a:fillRect/>
          </a:stretch>
        </p:blipFill>
        <p:spPr>
          <a:xfrm>
            <a:off x="2385519" y="4140199"/>
            <a:ext cx="7420961" cy="2062899"/>
          </a:xfrm>
          <a:prstGeom prst="rect">
            <a:avLst/>
          </a:prstGeom>
        </p:spPr>
      </p:pic>
    </p:spTree>
    <p:extLst>
      <p:ext uri="{BB962C8B-B14F-4D97-AF65-F5344CB8AC3E}">
        <p14:creationId xmlns:p14="http://schemas.microsoft.com/office/powerpoint/2010/main" val="3117101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597DA-8C71-1F78-2873-A371F31B86D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标题 1">
                <a:extLst>
                  <a:ext uri="{FF2B5EF4-FFF2-40B4-BE49-F238E27FC236}">
                    <a16:creationId xmlns:a16="http://schemas.microsoft.com/office/drawing/2014/main" id="{E00182BC-61E4-A67E-2248-28EFC208C114}"/>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b="1" dirty="0"/>
                  <a:t>理论背景</a:t>
                </a:r>
                <a:r>
                  <a:rPr lang="en-US" altLang="zh-CN" b="1" dirty="0"/>
                  <a:t>- </a:t>
                </a:r>
                <a14:m>
                  <m:oMath xmlns:m="http://schemas.openxmlformats.org/officeDocument/2006/math">
                    <m:rad>
                      <m:radPr>
                        <m:degHide m:val="on"/>
                        <m:ctrlPr>
                          <a:rPr lang="en-US" altLang="zh-CN" b="1" i="1" dirty="0">
                            <a:latin typeface="Cambria Math" panose="02040503050406030204" pitchFamily="18" charset="0"/>
                          </a:rPr>
                        </m:ctrlPr>
                      </m:radPr>
                      <m:deg/>
                      <m:e>
                        <m:r>
                          <a:rPr lang="en-US" altLang="zh-CN" b="1" i="1" dirty="0">
                            <a:latin typeface="Cambria Math" panose="02040503050406030204" pitchFamily="18" charset="0"/>
                          </a:rPr>
                          <m:t>𝟑</m:t>
                        </m:r>
                      </m:e>
                    </m:rad>
                  </m:oMath>
                </a14:m>
                <a:r>
                  <a:rPr lang="zh-CN" altLang="en-US" b="1" dirty="0"/>
                  <a:t>细分</a:t>
                </a:r>
              </a:p>
            </p:txBody>
          </p:sp>
        </mc:Choice>
        <mc:Fallback xmlns="">
          <p:sp>
            <p:nvSpPr>
              <p:cNvPr id="4" name="标题 1">
                <a:extLst>
                  <a:ext uri="{FF2B5EF4-FFF2-40B4-BE49-F238E27FC236}">
                    <a16:creationId xmlns:a16="http://schemas.microsoft.com/office/drawing/2014/main" id="{E00182BC-61E4-A67E-2248-28EFC208C114}"/>
                  </a:ext>
                </a:extLst>
              </p:cNvPr>
              <p:cNvSpPr txBox="1">
                <a:spLocks noRot="1" noChangeAspect="1" noMove="1" noResize="1" noEditPoints="1" noAdjustHandles="1" noChangeArrowheads="1" noChangeShapeType="1" noTextEdit="1"/>
              </p:cNvSpPr>
              <p:nvPr/>
            </p:nvSpPr>
            <p:spPr>
              <a:xfrm>
                <a:off x="838200" y="365125"/>
                <a:ext cx="10515600" cy="1325563"/>
              </a:xfrm>
              <a:prstGeom prst="rect">
                <a:avLst/>
              </a:prstGeom>
              <a:blipFill>
                <a:blip r:embed="rId2"/>
                <a:stretch>
                  <a:fillRect l="-2377" b="-9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6AFE786-85BA-3F92-3683-182E886F8B6A}"/>
                  </a:ext>
                </a:extLst>
              </p:cNvPr>
              <p:cNvSpPr txBox="1"/>
              <p:nvPr/>
            </p:nvSpPr>
            <p:spPr>
              <a:xfrm>
                <a:off x="616471" y="1473792"/>
                <a:ext cx="10515600" cy="1325563"/>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插入质心顶点并完成拓扑更新后，算法还需要对原有顶点执行位置平滑运算来保证极限曲面的连续性与光滑度。</a:t>
                </a:r>
                <a:r>
                  <a:rPr lang="en-US" altLang="zh-CN" sz="2400" dirty="0" err="1"/>
                  <a:t>Kobbelt</a:t>
                </a:r>
                <a:r>
                  <a:rPr lang="zh-CN" altLang="en-US" sz="2400" dirty="0"/>
                  <a:t>提出的几何规则如下：</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200" dirty="0"/>
                  <a:t>对每个原有顶点𝑣，收集其在细分前的所有邻居顶点集合𝑁</a:t>
                </a:r>
                <a:r>
                  <a:rPr lang="en-US" altLang="zh-CN" sz="2200" dirty="0"/>
                  <a:t>(</a:t>
                </a:r>
                <a:r>
                  <a:rPr lang="zh-CN" altLang="en-US" sz="2200" dirty="0"/>
                  <a:t>𝑣</a:t>
                </a:r>
                <a:r>
                  <a:rPr lang="en-US" altLang="zh-CN" sz="2200" dirty="0"/>
                  <a:t>)</a:t>
                </a:r>
                <a:r>
                  <a:rPr lang="zh-CN" altLang="en-US" sz="2200" dirty="0"/>
                  <a:t>。将𝑣移动到由𝑁</a:t>
                </a:r>
                <a:r>
                  <a:rPr lang="en-US" altLang="zh-CN" sz="2200" dirty="0"/>
                  <a:t>(</a:t>
                </a:r>
                <a:r>
                  <a:rPr lang="zh-CN" altLang="en-US" sz="2200" dirty="0"/>
                  <a:t>𝑣</a:t>
                </a:r>
                <a:r>
                  <a:rPr lang="en-US" altLang="zh-CN" sz="2200" dirty="0"/>
                  <a:t>)</a:t>
                </a:r>
                <a:r>
                  <a:rPr lang="zh-CN" altLang="en-US" sz="2200" dirty="0"/>
                  <a:t>均值和原位置加权组合得到的新位置：</a:t>
                </a:r>
                <a:endParaRPr lang="en-US" altLang="zh-CN" sz="2200" dirty="0"/>
              </a:p>
              <a:p>
                <a:pPr lvl="2" defTabSz="0">
                  <a:lnSpc>
                    <a:spcPct val="145000"/>
                  </a:lnSpc>
                  <a:spcBef>
                    <a:spcPts val="500"/>
                  </a:spcBef>
                  <a:spcAft>
                    <a:spcPct val="0"/>
                  </a:spcAft>
                </a:pPr>
                <a:endParaRPr lang="en-US" altLang="zh-CN" sz="2200" dirty="0"/>
              </a:p>
              <a:p>
                <a:pPr marL="1143000" lvl="2" indent="-228600" defTabSz="0">
                  <a:lnSpc>
                    <a:spcPct val="145000"/>
                  </a:lnSpc>
                  <a:spcBef>
                    <a:spcPts val="500"/>
                  </a:spcBef>
                  <a:spcAft>
                    <a:spcPct val="0"/>
                  </a:spcAft>
                  <a:buFont typeface="Arial" panose="020B0604020202020204" pitchFamily="34" charset="0"/>
                  <a:buChar char="•"/>
                </a:pPr>
                <a:r>
                  <a:rPr lang="zh-CN" altLang="en-US" sz="2200" dirty="0"/>
                  <a:t>其中权重</a:t>
                </a:r>
                <a14:m>
                  <m:oMath xmlns:m="http://schemas.openxmlformats.org/officeDocument/2006/math">
                    <m:sSub>
                      <m:sSubPr>
                        <m:ctrlPr>
                          <a:rPr lang="en-US" altLang="zh-CN" sz="2200" b="0" i="1" smtClean="0">
                            <a:latin typeface="Cambria Math" panose="02040503050406030204" pitchFamily="18" charset="0"/>
                          </a:rPr>
                        </m:ctrlPr>
                      </m:sSubPr>
                      <m:e>
                        <m:r>
                          <m:rPr>
                            <m:sty m:val="p"/>
                          </m:rPr>
                          <a:rPr lang="en-US" altLang="zh-CN" sz="2200" b="0" i="0" smtClean="0">
                            <a:latin typeface="Cambria Math" panose="02040503050406030204" pitchFamily="18" charset="0"/>
                          </a:rPr>
                          <m:t>α</m:t>
                        </m:r>
                      </m:e>
                      <m:sub>
                        <m:r>
                          <m:rPr>
                            <m:sty m:val="p"/>
                          </m:rPr>
                          <a:rPr lang="en-US" altLang="zh-CN" sz="2200" b="0" i="0" smtClean="0">
                            <a:latin typeface="Cambria Math" panose="02040503050406030204" pitchFamily="18" charset="0"/>
                          </a:rPr>
                          <m:t>n</m:t>
                        </m:r>
                      </m:sub>
                    </m:sSub>
                    <m:r>
                      <a:rPr lang="en-US" altLang="zh-CN" sz="2200" b="0" i="0" smtClean="0">
                        <a:latin typeface="Cambria Math" panose="02040503050406030204" pitchFamily="18" charset="0"/>
                      </a:rPr>
                      <m:t>=</m:t>
                    </m:r>
                    <m:d>
                      <m:dPr>
                        <m:ctrlPr>
                          <a:rPr lang="en-US" altLang="zh-CN" sz="2200" b="0" i="1" smtClean="0">
                            <a:latin typeface="Cambria Math" panose="02040503050406030204" pitchFamily="18" charset="0"/>
                          </a:rPr>
                        </m:ctrlPr>
                      </m:dPr>
                      <m:e>
                        <m:r>
                          <a:rPr lang="en-US" altLang="zh-CN" sz="2200" b="0" i="0" smtClean="0">
                            <a:latin typeface="Cambria Math" panose="02040503050406030204" pitchFamily="18" charset="0"/>
                          </a:rPr>
                          <m:t>4−2</m:t>
                        </m:r>
                        <m:r>
                          <m:rPr>
                            <m:sty m:val="p"/>
                          </m:rPr>
                          <a:rPr lang="en-US" altLang="zh-CN" sz="2200" b="0" i="0" smtClean="0">
                            <a:latin typeface="Cambria Math" panose="02040503050406030204" pitchFamily="18" charset="0"/>
                          </a:rPr>
                          <m:t>cos</m:t>
                        </m:r>
                        <m:d>
                          <m:dPr>
                            <m:ctrlPr>
                              <a:rPr lang="en-US" altLang="zh-CN" sz="2200" b="0" i="1" smtClean="0">
                                <a:latin typeface="Cambria Math" panose="02040503050406030204" pitchFamily="18" charset="0"/>
                              </a:rPr>
                            </m:ctrlPr>
                          </m:dPr>
                          <m:e>
                            <m:f>
                              <m:fPr>
                                <m:ctrlPr>
                                  <a:rPr lang="en-US" altLang="zh-CN" sz="2200" b="0" i="1" smtClean="0">
                                    <a:latin typeface="Cambria Math" panose="02040503050406030204" pitchFamily="18" charset="0"/>
                                  </a:rPr>
                                </m:ctrlPr>
                              </m:fPr>
                              <m:num>
                                <m:r>
                                  <a:rPr lang="en-US" altLang="zh-CN" sz="2200" b="0" i="0" smtClean="0">
                                    <a:latin typeface="Cambria Math" panose="02040503050406030204" pitchFamily="18" charset="0"/>
                                  </a:rPr>
                                  <m:t>2</m:t>
                                </m:r>
                                <m:r>
                                  <m:rPr>
                                    <m:sty m:val="p"/>
                                  </m:rPr>
                                  <a:rPr lang="en-US" altLang="zh-CN" sz="2200" b="0" i="0" smtClean="0">
                                    <a:latin typeface="Cambria Math" panose="02040503050406030204" pitchFamily="18" charset="0"/>
                                  </a:rPr>
                                  <m:t>π</m:t>
                                </m:r>
                              </m:num>
                              <m:den>
                                <m:r>
                                  <m:rPr>
                                    <m:sty m:val="p"/>
                                  </m:rPr>
                                  <a:rPr lang="en-US" altLang="zh-CN" sz="2200" b="0" i="0" smtClean="0">
                                    <a:latin typeface="Cambria Math" panose="02040503050406030204" pitchFamily="18" charset="0"/>
                                  </a:rPr>
                                  <m:t>n</m:t>
                                </m:r>
                              </m:den>
                            </m:f>
                          </m:e>
                        </m:d>
                      </m:e>
                    </m:d>
                    <m:r>
                      <m:rPr>
                        <m:lit/>
                      </m:rPr>
                      <a:rPr lang="en-US" altLang="zh-CN" sz="2200" b="0" i="0" smtClean="0">
                        <a:latin typeface="Cambria Math" panose="02040503050406030204" pitchFamily="18" charset="0"/>
                      </a:rPr>
                      <m:t>/</m:t>
                    </m:r>
                    <m:r>
                      <a:rPr lang="en-US" altLang="zh-CN" sz="2200" b="0" i="0" smtClean="0">
                        <a:latin typeface="Cambria Math" panose="02040503050406030204" pitchFamily="18" charset="0"/>
                      </a:rPr>
                      <m:t>9</m:t>
                    </m:r>
                    <m:r>
                      <a:rPr lang="zh-CN" altLang="en-US" sz="2200" i="0">
                        <a:latin typeface="Cambria Math" panose="02040503050406030204" pitchFamily="18" charset="0"/>
                      </a:rPr>
                      <m:t>，</m:t>
                    </m:r>
                    <m:r>
                      <m:rPr>
                        <m:sty m:val="p"/>
                      </m:rPr>
                      <a:rPr lang="en-US" altLang="zh-CN" sz="2200" b="0" i="0" smtClean="0">
                        <a:latin typeface="Cambria Math" panose="02040503050406030204" pitchFamily="18" charset="0"/>
                      </a:rPr>
                      <m:t>n</m:t>
                    </m:r>
                    <m:r>
                      <a:rPr lang="en-US" altLang="zh-CN" sz="2200" b="0" i="0" smtClean="0">
                        <a:latin typeface="Cambria Math" panose="02040503050406030204" pitchFamily="18" charset="0"/>
                      </a:rPr>
                      <m:t>=</m:t>
                    </m:r>
                    <m:d>
                      <m:dPr>
                        <m:begChr m:val="|"/>
                        <m:endChr m:val="|"/>
                        <m:ctrlPr>
                          <a:rPr lang="en-US" altLang="zh-CN" sz="2200" b="0" i="1" smtClean="0">
                            <a:latin typeface="Cambria Math" panose="02040503050406030204" pitchFamily="18" charset="0"/>
                          </a:rPr>
                        </m:ctrlPr>
                      </m:dPr>
                      <m:e>
                        <m:r>
                          <m:rPr>
                            <m:sty m:val="p"/>
                          </m:rPr>
                          <a:rPr lang="en-US" altLang="zh-CN" sz="2200" b="0" i="0" smtClean="0">
                            <a:latin typeface="Cambria Math" panose="02040503050406030204" pitchFamily="18" charset="0"/>
                          </a:rPr>
                          <m:t>N</m:t>
                        </m:r>
                        <m:d>
                          <m:dPr>
                            <m:ctrlPr>
                              <a:rPr lang="en-US" altLang="zh-CN" sz="2200" b="0" i="1" smtClean="0">
                                <a:latin typeface="Cambria Math" panose="02040503050406030204" pitchFamily="18" charset="0"/>
                              </a:rPr>
                            </m:ctrlPr>
                          </m:dPr>
                          <m:e>
                            <m:r>
                              <m:rPr>
                                <m:sty m:val="p"/>
                              </m:rPr>
                              <a:rPr lang="en-US" altLang="zh-CN" sz="2200" b="0" i="0" smtClean="0">
                                <a:latin typeface="Cambria Math" panose="02040503050406030204" pitchFamily="18" charset="0"/>
                              </a:rPr>
                              <m:t>v</m:t>
                            </m:r>
                          </m:e>
                        </m:d>
                      </m:e>
                    </m:d>
                    <m:r>
                      <a:rPr lang="zh-CN" altLang="en-US" sz="2200" i="1">
                        <a:latin typeface="Cambria Math" panose="02040503050406030204" pitchFamily="18" charset="0"/>
                      </a:rPr>
                      <m:t>是</m:t>
                    </m:r>
                  </m:oMath>
                </a14:m>
                <a:r>
                  <a:rPr lang="zh-CN" altLang="en-US" sz="2200" b="0" dirty="0"/>
                  <a:t>顶点的度</a:t>
                </a:r>
                <a:endParaRPr lang="en-US" altLang="zh-CN" sz="2200" b="0" dirty="0"/>
              </a:p>
              <a:p>
                <a:pPr marL="1143000" lvl="2" indent="-228600" defTabSz="0">
                  <a:lnSpc>
                    <a:spcPct val="145000"/>
                  </a:lnSpc>
                  <a:spcBef>
                    <a:spcPts val="500"/>
                  </a:spcBef>
                  <a:spcAft>
                    <a:spcPct val="0"/>
                  </a:spcAft>
                  <a:buFont typeface="Arial" panose="020B0604020202020204" pitchFamily="34" charset="0"/>
                  <a:buChar char="•"/>
                </a:pPr>
                <a:r>
                  <a:rPr lang="zh-CN" altLang="en-US" sz="2200" dirty="0"/>
                  <a:t>对于新增顶点，对于每个三角形面片，将它的顶点记为</a:t>
                </a:r>
                <a14:m>
                  <m:oMath xmlns:m="http://schemas.openxmlformats.org/officeDocument/2006/math">
                    <m:sSub>
                      <m:sSubPr>
                        <m:ctrlPr>
                          <a:rPr lang="en-US" altLang="zh-CN" sz="2200" i="1" dirty="0" smtClean="0">
                            <a:latin typeface="Cambria Math" panose="02040503050406030204" pitchFamily="18" charset="0"/>
                          </a:rPr>
                        </m:ctrlPr>
                      </m:sSubPr>
                      <m:e>
                        <m:r>
                          <a:rPr lang="zh-CN" altLang="en-US" sz="2200" i="1" dirty="0" smtClean="0">
                            <a:latin typeface="Cambria Math" panose="02040503050406030204" pitchFamily="18" charset="0"/>
                          </a:rPr>
                          <m:t>𝑣</m:t>
                        </m:r>
                      </m:e>
                      <m:sub>
                        <m:r>
                          <a:rPr lang="en-US" altLang="zh-CN" sz="2200" i="1" dirty="0" smtClean="0">
                            <a:latin typeface="Cambria Math" panose="02040503050406030204" pitchFamily="18" charset="0"/>
                          </a:rPr>
                          <m:t>1</m:t>
                        </m:r>
                      </m:sub>
                    </m:sSub>
                    <m:r>
                      <a:rPr lang="en-US" altLang="zh-CN" sz="2200" i="1" dirty="0">
                        <a:latin typeface="Cambria Math" panose="02040503050406030204" pitchFamily="18" charset="0"/>
                      </a:rPr>
                      <m:t>,</m:t>
                    </m:r>
                    <m:sSub>
                      <m:sSubPr>
                        <m:ctrlPr>
                          <a:rPr lang="en-US" altLang="zh-CN" sz="2200" i="1" dirty="0" smtClean="0">
                            <a:latin typeface="Cambria Math" panose="02040503050406030204" pitchFamily="18" charset="0"/>
                          </a:rPr>
                        </m:ctrlPr>
                      </m:sSubPr>
                      <m:e>
                        <m:r>
                          <a:rPr lang="zh-CN" altLang="en-US" sz="2200" i="1" dirty="0" smtClean="0">
                            <a:latin typeface="Cambria Math" panose="02040503050406030204" pitchFamily="18" charset="0"/>
                          </a:rPr>
                          <m:t>𝑣</m:t>
                        </m:r>
                      </m:e>
                      <m:sub>
                        <m:r>
                          <a:rPr lang="en-US" altLang="zh-CN" sz="2200" i="1" dirty="0" smtClean="0">
                            <a:latin typeface="Cambria Math" panose="02040503050406030204" pitchFamily="18" charset="0"/>
                          </a:rPr>
                          <m:t>2</m:t>
                        </m:r>
                      </m:sub>
                    </m:sSub>
                    <m:r>
                      <a:rPr lang="en-US" altLang="zh-CN" sz="2200" i="1" dirty="0">
                        <a:latin typeface="Cambria Math" panose="02040503050406030204" pitchFamily="18" charset="0"/>
                      </a:rPr>
                      <m:t>,</m:t>
                    </m:r>
                    <m:sSub>
                      <m:sSubPr>
                        <m:ctrlPr>
                          <a:rPr lang="en-US" altLang="zh-CN" sz="2200" i="1" dirty="0" smtClean="0">
                            <a:latin typeface="Cambria Math" panose="02040503050406030204" pitchFamily="18" charset="0"/>
                          </a:rPr>
                        </m:ctrlPr>
                      </m:sSubPr>
                      <m:e>
                        <m:r>
                          <a:rPr lang="zh-CN" altLang="en-US" sz="2200" i="1" dirty="0" smtClean="0">
                            <a:latin typeface="Cambria Math" panose="02040503050406030204" pitchFamily="18" charset="0"/>
                          </a:rPr>
                          <m:t>𝑣</m:t>
                        </m:r>
                      </m:e>
                      <m:sub>
                        <m:r>
                          <a:rPr lang="en-US" altLang="zh-CN" sz="2200" i="1" dirty="0" smtClean="0">
                            <a:latin typeface="Cambria Math" panose="02040503050406030204" pitchFamily="18" charset="0"/>
                          </a:rPr>
                          <m:t>3</m:t>
                        </m:r>
                      </m:sub>
                    </m:sSub>
                  </m:oMath>
                </a14:m>
                <a:r>
                  <a:rPr lang="zh-CN" altLang="en-US" sz="2200" dirty="0"/>
                  <a:t>，则新增顶 点的位置为：</a:t>
                </a:r>
                <a:endParaRPr lang="en-US" altLang="zh-CN" sz="2200" b="0" dirty="0"/>
              </a:p>
              <a:p>
                <a:pPr marL="1143000" lvl="2" indent="-228600" defTabSz="0">
                  <a:lnSpc>
                    <a:spcPct val="145000"/>
                  </a:lnSpc>
                  <a:spcBef>
                    <a:spcPts val="500"/>
                  </a:spcBef>
                  <a:spcAft>
                    <a:spcPct val="0"/>
                  </a:spcAft>
                  <a:buFont typeface="Arial" panose="020B0604020202020204" pitchFamily="34" charset="0"/>
                  <a:buChar char="•"/>
                </a:pPr>
                <a:endParaRPr lang="en-US" altLang="zh-CN" sz="2400" dirty="0"/>
              </a:p>
            </p:txBody>
          </p:sp>
        </mc:Choice>
        <mc:Fallback xmlns="">
          <p:sp>
            <p:nvSpPr>
              <p:cNvPr id="5" name="文本框 4">
                <a:extLst>
                  <a:ext uri="{FF2B5EF4-FFF2-40B4-BE49-F238E27FC236}">
                    <a16:creationId xmlns:a16="http://schemas.microsoft.com/office/drawing/2014/main" id="{56AFE786-85BA-3F92-3683-182E886F8B6A}"/>
                  </a:ext>
                </a:extLst>
              </p:cNvPr>
              <p:cNvSpPr txBox="1">
                <a:spLocks noRot="1" noChangeAspect="1" noMove="1" noResize="1" noEditPoints="1" noAdjustHandles="1" noChangeArrowheads="1" noChangeShapeType="1" noTextEdit="1"/>
              </p:cNvSpPr>
              <p:nvPr/>
            </p:nvSpPr>
            <p:spPr>
              <a:xfrm>
                <a:off x="616471" y="1473792"/>
                <a:ext cx="10515600" cy="1325563"/>
              </a:xfrm>
              <a:prstGeom prst="rect">
                <a:avLst/>
              </a:prstGeom>
              <a:blipFill>
                <a:blip r:embed="rId3"/>
                <a:stretch>
                  <a:fillRect r="-464" b="-2612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195EB7B-9180-FE44-AB6F-694D39C99F45}"/>
                  </a:ext>
                </a:extLst>
              </p:cNvPr>
              <p:cNvSpPr txBox="1"/>
              <p:nvPr/>
            </p:nvSpPr>
            <p:spPr>
              <a:xfrm>
                <a:off x="3729775" y="3777896"/>
                <a:ext cx="4339329" cy="514693"/>
              </a:xfrm>
              <a:prstGeom prst="rect">
                <a:avLst/>
              </a:prstGeom>
              <a:noFill/>
            </p:spPr>
            <p:txBody>
              <a:bodyPr wrap="none" lIns="0" tIns="0" rIns="0" bIns="0" rtlCol="0">
                <a:spAutoFit/>
              </a:bodyPr>
              <a:lstStyle/>
              <a:p>
                <a14:m>
                  <m:oMath xmlns:m="http://schemas.openxmlformats.org/officeDocument/2006/math">
                    <m:sSup>
                      <m:sSupPr>
                        <m:ctrlPr>
                          <a:rPr lang="en-US" altLang="zh-CN" sz="2200" b="0" i="1" smtClean="0">
                            <a:latin typeface="Cambria Math" panose="02040503050406030204" pitchFamily="18" charset="0"/>
                          </a:rPr>
                        </m:ctrlPr>
                      </m:sSupPr>
                      <m:e>
                        <m:r>
                          <a:rPr lang="en-US" altLang="zh-CN" sz="2200" b="0" i="1" smtClean="0">
                            <a:latin typeface="Cambria Math" panose="02040503050406030204" pitchFamily="18" charset="0"/>
                          </a:rPr>
                          <m:t>𝑣</m:t>
                        </m:r>
                      </m:e>
                      <m:sup>
                        <m:r>
                          <a:rPr lang="en-US" altLang="zh-CN" sz="2200" b="0" i="1" smtClean="0">
                            <a:latin typeface="Cambria Math" panose="02040503050406030204" pitchFamily="18" charset="0"/>
                          </a:rPr>
                          <m:t>′</m:t>
                        </m:r>
                      </m:sup>
                    </m:sSup>
                    <m:r>
                      <a:rPr lang="en-US" altLang="zh-CN" sz="2200" b="0" i="1" smtClean="0">
                        <a:latin typeface="Cambria Math" panose="02040503050406030204" pitchFamily="18" charset="0"/>
                      </a:rPr>
                      <m:t>=</m:t>
                    </m:r>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1−</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𝛼</m:t>
                            </m:r>
                          </m:e>
                          <m:sub>
                            <m:r>
                              <a:rPr lang="en-US" altLang="zh-CN" sz="2200" b="0" i="1" smtClean="0">
                                <a:latin typeface="Cambria Math" panose="02040503050406030204" pitchFamily="18" charset="0"/>
                              </a:rPr>
                              <m:t>𝑛</m:t>
                            </m:r>
                          </m:sub>
                        </m:sSub>
                      </m:e>
                    </m:d>
                    <m:r>
                      <a:rPr lang="en-US" altLang="zh-CN" sz="2200" b="0" i="1" smtClean="0">
                        <a:latin typeface="Cambria Math" panose="02040503050406030204" pitchFamily="18" charset="0"/>
                      </a:rPr>
                      <m:t>𝑣</m:t>
                    </m:r>
                    <m:r>
                      <a:rPr lang="en-US" altLang="zh-CN" sz="2200" b="0" i="1" smtClean="0">
                        <a:latin typeface="Cambria Math" panose="02040503050406030204" pitchFamily="18" charset="0"/>
                      </a:rPr>
                      <m:t>+</m:t>
                    </m:r>
                    <m:sSub>
                      <m:sSubPr>
                        <m:ctrlPr>
                          <a:rPr lang="en-US" altLang="zh-CN" sz="2200" b="0" i="1" smtClean="0">
                            <a:latin typeface="Cambria Math" panose="02040503050406030204" pitchFamily="18" charset="0"/>
                          </a:rPr>
                        </m:ctrlPr>
                      </m:sSubPr>
                      <m:e>
                        <m:r>
                          <a:rPr lang="en-US" altLang="zh-CN" sz="2200" b="0" i="1" smtClean="0">
                            <a:latin typeface="Cambria Math" panose="02040503050406030204" pitchFamily="18" charset="0"/>
                          </a:rPr>
                          <m:t>𝛼</m:t>
                        </m:r>
                      </m:e>
                      <m:sub>
                        <m:r>
                          <a:rPr lang="en-US" altLang="zh-CN" sz="2200" b="0" i="1" smtClean="0">
                            <a:latin typeface="Cambria Math" panose="02040503050406030204" pitchFamily="18" charset="0"/>
                          </a:rPr>
                          <m:t>𝑛</m:t>
                        </m:r>
                      </m:sub>
                    </m:sSub>
                    <m:f>
                      <m:fPr>
                        <m:ctrlPr>
                          <a:rPr lang="en-US" altLang="zh-CN" sz="2200" b="0" i="1" smtClean="0">
                            <a:latin typeface="Cambria Math" panose="02040503050406030204" pitchFamily="18" charset="0"/>
                          </a:rPr>
                        </m:ctrlPr>
                      </m:fPr>
                      <m:num>
                        <m:r>
                          <a:rPr lang="en-US" altLang="zh-CN" sz="2200" b="0" i="1" smtClean="0">
                            <a:latin typeface="Cambria Math" panose="02040503050406030204" pitchFamily="18" charset="0"/>
                          </a:rPr>
                          <m:t>1</m:t>
                        </m:r>
                      </m:num>
                      <m:den>
                        <m:d>
                          <m:dPr>
                            <m:begChr m:val="|"/>
                            <m:endChr m:val="|"/>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𝑁</m:t>
                            </m:r>
                            <m:d>
                              <m:dPr>
                                <m:ctrlPr>
                                  <a:rPr lang="en-US" altLang="zh-CN" sz="2200" b="0" i="1" smtClean="0">
                                    <a:latin typeface="Cambria Math" panose="02040503050406030204" pitchFamily="18" charset="0"/>
                                  </a:rPr>
                                </m:ctrlPr>
                              </m:dPr>
                              <m:e>
                                <m:r>
                                  <a:rPr lang="en-US" altLang="zh-CN" sz="2200" b="0" i="1" smtClean="0">
                                    <a:latin typeface="Cambria Math" panose="02040503050406030204" pitchFamily="18" charset="0"/>
                                  </a:rPr>
                                  <m:t>𝑣</m:t>
                                </m:r>
                              </m:e>
                            </m:d>
                          </m:e>
                        </m:d>
                      </m:den>
                    </m:f>
                    <m:nary>
                      <m:naryPr>
                        <m:chr m:val="∑"/>
                        <m:supHide m:val="on"/>
                        <m:ctrlPr>
                          <a:rPr lang="en-US" altLang="zh-CN" sz="2200" b="0" i="1" smtClean="0">
                            <a:latin typeface="Cambria Math" panose="02040503050406030204" pitchFamily="18" charset="0"/>
                          </a:rPr>
                        </m:ctrlPr>
                      </m:naryPr>
                      <m:sub>
                        <m:r>
                          <m:rPr>
                            <m:brk m:alnAt="7"/>
                          </m:rPr>
                          <a:rPr lang="en-US" altLang="zh-CN" sz="2200" b="0" i="1" smtClean="0">
                            <a:latin typeface="Cambria Math" panose="02040503050406030204" pitchFamily="18" charset="0"/>
                          </a:rPr>
                          <m:t>𝑢</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𝑁</m:t>
                        </m:r>
                        <m:r>
                          <a:rPr lang="en-US" altLang="zh-CN" sz="2200" b="0" i="1" smtClean="0">
                            <a:latin typeface="Cambria Math" panose="02040503050406030204" pitchFamily="18" charset="0"/>
                            <a:ea typeface="Cambria Math" panose="02040503050406030204" pitchFamily="18" charset="0"/>
                          </a:rPr>
                          <m:t>(</m:t>
                        </m:r>
                        <m:r>
                          <a:rPr lang="en-US" altLang="zh-CN" sz="2200" b="0" i="1" smtClean="0">
                            <a:latin typeface="Cambria Math" panose="02040503050406030204" pitchFamily="18" charset="0"/>
                            <a:ea typeface="Cambria Math" panose="02040503050406030204" pitchFamily="18" charset="0"/>
                          </a:rPr>
                          <m:t>𝑣</m:t>
                        </m:r>
                        <m:r>
                          <a:rPr lang="en-US" altLang="zh-CN" sz="2200" b="0" i="1" smtClean="0">
                            <a:latin typeface="Cambria Math" panose="02040503050406030204" pitchFamily="18" charset="0"/>
                            <a:ea typeface="Cambria Math" panose="02040503050406030204" pitchFamily="18" charset="0"/>
                          </a:rPr>
                          <m:t>)</m:t>
                        </m:r>
                      </m:sub>
                      <m:sup/>
                      <m:e>
                        <m:r>
                          <a:rPr lang="en-US" altLang="zh-CN" sz="2200" b="0" i="1" smtClean="0">
                            <a:latin typeface="Cambria Math" panose="02040503050406030204" pitchFamily="18" charset="0"/>
                          </a:rPr>
                          <m:t>𝑢</m:t>
                        </m:r>
                      </m:e>
                    </m:nary>
                  </m:oMath>
                </a14:m>
                <a:r>
                  <a:rPr lang="en-US" altLang="zh-CN" sz="2200" i="1" dirty="0"/>
                  <a:t> </a:t>
                </a:r>
                <a:endParaRPr lang="en-US" altLang="zh-CN" sz="2200" b="0" i="1" dirty="0"/>
              </a:p>
            </p:txBody>
          </p:sp>
        </mc:Choice>
        <mc:Fallback xmlns="">
          <p:sp>
            <p:nvSpPr>
              <p:cNvPr id="2" name="文本框 1">
                <a:extLst>
                  <a:ext uri="{FF2B5EF4-FFF2-40B4-BE49-F238E27FC236}">
                    <a16:creationId xmlns:a16="http://schemas.microsoft.com/office/drawing/2014/main" id="{B195EB7B-9180-FE44-AB6F-694D39C99F45}"/>
                  </a:ext>
                </a:extLst>
              </p:cNvPr>
              <p:cNvSpPr txBox="1">
                <a:spLocks noRot="1" noChangeAspect="1" noMove="1" noResize="1" noEditPoints="1" noAdjustHandles="1" noChangeArrowheads="1" noChangeShapeType="1" noTextEdit="1"/>
              </p:cNvSpPr>
              <p:nvPr/>
            </p:nvSpPr>
            <p:spPr>
              <a:xfrm>
                <a:off x="3729775" y="3777896"/>
                <a:ext cx="4339329" cy="514693"/>
              </a:xfrm>
              <a:prstGeom prst="rect">
                <a:avLst/>
              </a:prstGeom>
              <a:blipFill>
                <a:blip r:embed="rId4"/>
                <a:stretch>
                  <a:fillRect b="-11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A0585E6-E380-DCA7-D10C-A0B4832A07ED}"/>
                  </a:ext>
                </a:extLst>
              </p:cNvPr>
              <p:cNvSpPr txBox="1"/>
              <p:nvPr/>
            </p:nvSpPr>
            <p:spPr>
              <a:xfrm>
                <a:off x="4725079" y="5678189"/>
                <a:ext cx="2348720" cy="5782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rPr>
                        <m:t>𝑉</m:t>
                      </m:r>
                      <m:r>
                        <a:rPr lang="en-US" altLang="zh-CN" sz="2000" b="0" i="1" smtClean="0">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i="1">
                              <a:latin typeface="Cambria Math" panose="02040503050406030204" pitchFamily="18" charset="0"/>
                            </a:rPr>
                            <m:t>1</m:t>
                          </m:r>
                        </m:num>
                        <m:den>
                          <m:r>
                            <a:rPr lang="en-US" altLang="zh-CN" sz="2000" b="0" i="1" smtClean="0">
                              <a:latin typeface="Cambria Math" panose="02040503050406030204" pitchFamily="18" charset="0"/>
                            </a:rPr>
                            <m:t>3</m:t>
                          </m:r>
                        </m:den>
                      </m:f>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1</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2</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𝑣</m:t>
                              </m:r>
                            </m:e>
                            <m:sub>
                              <m:r>
                                <a:rPr lang="en-US" altLang="zh-CN" sz="2000" b="0" i="1" smtClean="0">
                                  <a:latin typeface="Cambria Math" panose="02040503050406030204" pitchFamily="18" charset="0"/>
                                </a:rPr>
                                <m:t>3</m:t>
                              </m:r>
                            </m:sub>
                          </m:sSub>
                        </m:e>
                      </m:d>
                    </m:oMath>
                  </m:oMathPara>
                </a14:m>
                <a:endParaRPr lang="en-US" altLang="zh-CN" sz="2000" b="0" dirty="0"/>
              </a:p>
            </p:txBody>
          </p:sp>
        </mc:Choice>
        <mc:Fallback xmlns="">
          <p:sp>
            <p:nvSpPr>
              <p:cNvPr id="6" name="文本框 5">
                <a:extLst>
                  <a:ext uri="{FF2B5EF4-FFF2-40B4-BE49-F238E27FC236}">
                    <a16:creationId xmlns:a16="http://schemas.microsoft.com/office/drawing/2014/main" id="{BA0585E6-E380-DCA7-D10C-A0B4832A07ED}"/>
                  </a:ext>
                </a:extLst>
              </p:cNvPr>
              <p:cNvSpPr txBox="1">
                <a:spLocks noRot="1" noChangeAspect="1" noMove="1" noResize="1" noEditPoints="1" noAdjustHandles="1" noChangeArrowheads="1" noChangeShapeType="1" noTextEdit="1"/>
              </p:cNvSpPr>
              <p:nvPr/>
            </p:nvSpPr>
            <p:spPr>
              <a:xfrm>
                <a:off x="4725079" y="5678189"/>
                <a:ext cx="2348720" cy="578235"/>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160742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9B66B-462C-5056-32FB-6943A03C526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标题 1">
                <a:extLst>
                  <a:ext uri="{FF2B5EF4-FFF2-40B4-BE49-F238E27FC236}">
                    <a16:creationId xmlns:a16="http://schemas.microsoft.com/office/drawing/2014/main" id="{137AD424-51A6-9D28-E03C-5862816D2055}"/>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ad>
                      <m:radPr>
                        <m:degHide m:val="on"/>
                        <m:ctrlPr>
                          <a:rPr lang="en-US" altLang="zh-CN" b="1" i="1" dirty="0" smtClean="0">
                            <a:latin typeface="Cambria Math" panose="02040503050406030204" pitchFamily="18" charset="0"/>
                          </a:rPr>
                        </m:ctrlPr>
                      </m:radPr>
                      <m:deg/>
                      <m:e>
                        <m:r>
                          <a:rPr lang="en-US" altLang="zh-CN" b="1" i="1" dirty="0" smtClean="0">
                            <a:latin typeface="Cambria Math" panose="02040503050406030204" pitchFamily="18" charset="0"/>
                          </a:rPr>
                          <m:t>𝟑</m:t>
                        </m:r>
                      </m:e>
                    </m:rad>
                  </m:oMath>
                </a14:m>
                <a:r>
                  <a:rPr lang="zh-CN" altLang="en-US" b="1" dirty="0"/>
                  <a:t>细分</a:t>
                </a:r>
                <a:r>
                  <a:rPr lang="en-US" altLang="zh-CN" b="1" dirty="0"/>
                  <a:t>-</a:t>
                </a:r>
                <a:r>
                  <a:rPr lang="zh-CN" altLang="en-US" b="1" dirty="0"/>
                  <a:t>关键接口与辅助函数</a:t>
                </a:r>
              </a:p>
            </p:txBody>
          </p:sp>
        </mc:Choice>
        <mc:Fallback xmlns="">
          <p:sp>
            <p:nvSpPr>
              <p:cNvPr id="4" name="标题 1">
                <a:extLst>
                  <a:ext uri="{FF2B5EF4-FFF2-40B4-BE49-F238E27FC236}">
                    <a16:creationId xmlns:a16="http://schemas.microsoft.com/office/drawing/2014/main" id="{137AD424-51A6-9D28-E03C-5862816D2055}"/>
                  </a:ext>
                </a:extLst>
              </p:cNvPr>
              <p:cNvSpPr txBox="1">
                <a:spLocks noRot="1" noChangeAspect="1" noMove="1" noResize="1" noEditPoints="1" noAdjustHandles="1" noChangeArrowheads="1" noChangeShapeType="1" noTextEdit="1"/>
              </p:cNvSpPr>
              <p:nvPr/>
            </p:nvSpPr>
            <p:spPr>
              <a:xfrm>
                <a:off x="838200" y="365125"/>
                <a:ext cx="10515600" cy="1325563"/>
              </a:xfrm>
              <a:prstGeom prst="rect">
                <a:avLst/>
              </a:prstGeom>
              <a:blipFill>
                <a:blip r:embed="rId3"/>
                <a:stretch>
                  <a:fillRect b="-9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202286A-2FCD-6308-875E-3D68D8E0DC26}"/>
                  </a:ext>
                </a:extLst>
              </p:cNvPr>
              <p:cNvSpPr txBox="1"/>
              <p:nvPr/>
            </p:nvSpPr>
            <p:spPr>
              <a:xfrm>
                <a:off x="838200" y="1252252"/>
                <a:ext cx="10515600" cy="6060762"/>
              </a:xfrm>
              <a:prstGeom prst="rect">
                <a:avLst/>
              </a:prstGeom>
              <a:noFill/>
            </p:spPr>
            <p:txBody>
              <a:bodyPr wrap="square">
                <a:spAutoFit/>
              </a:bodyPr>
              <a:lstStyle/>
              <a:p>
                <a:pPr marL="285750" indent="-285750">
                  <a:lnSpc>
                    <a:spcPct val="125000"/>
                  </a:lnSpc>
                  <a:buFont typeface="Arial" panose="020B0604020202020204" pitchFamily="34" charset="0"/>
                  <a:buChar char="•"/>
                </a:pPr>
                <a:r>
                  <a:rPr lang="zh-CN" altLang="en-US" sz="2400" dirty="0"/>
                  <a:t>以下介绍 </a:t>
                </a:r>
                <a:r>
                  <a:rPr lang="en-US" altLang="zh-CN" sz="2400" b="1" dirty="0" err="1"/>
                  <a:t>MeshTopology.h</a:t>
                </a:r>
                <a:r>
                  <a:rPr lang="en-US" altLang="zh-CN" sz="2400" b="1" dirty="0"/>
                  <a:t> </a:t>
                </a:r>
                <a:r>
                  <a:rPr lang="zh-CN" altLang="en-US" sz="2400" dirty="0"/>
                  <a:t>与</a:t>
                </a:r>
                <a:r>
                  <a:rPr lang="zh-CN" altLang="en-US" sz="2400" b="1" dirty="0"/>
                  <a:t> </a:t>
                </a:r>
                <a:r>
                  <a:rPr lang="en-US" altLang="zh-CN" sz="2400" b="1" dirty="0"/>
                  <a:t>Root3Subdivision.h </a:t>
                </a:r>
                <a:r>
                  <a:rPr lang="zh-CN" altLang="en-US" sz="2400" dirty="0"/>
                  <a:t>中定义的部分工具：</a:t>
                </a:r>
                <a:endParaRPr lang="en-US" altLang="zh-CN" sz="2400" dirty="0"/>
              </a:p>
              <a:p>
                <a:pPr marL="742950" lvl="1" indent="-285750">
                  <a:lnSpc>
                    <a:spcPct val="125000"/>
                  </a:lnSpc>
                  <a:buFont typeface="Arial" panose="020B0604020202020204" pitchFamily="34" charset="0"/>
                  <a:buChar char="•"/>
                </a:pPr>
                <a:r>
                  <a:rPr lang="en-US" altLang="zh-CN" sz="2400" b="1" dirty="0" err="1"/>
                  <a:t>oneRingRule</a:t>
                </a:r>
                <a:r>
                  <a:rPr lang="en-US" altLang="zh-CN" sz="2400" b="1" dirty="0"/>
                  <a:t>(begin, end, res, w)</a:t>
                </a:r>
                <a:r>
                  <a:rPr lang="zh-CN" altLang="en-US" sz="2400" b="1" dirty="0"/>
                  <a:t>：</a:t>
                </a:r>
              </a:p>
              <a:p>
                <a:pPr marL="1200150" lvl="2" indent="-285750">
                  <a:lnSpc>
                    <a:spcPct val="125000"/>
                  </a:lnSpc>
                  <a:buFont typeface="Arial" panose="020B0604020202020204" pitchFamily="34" charset="0"/>
                  <a:buChar char="•"/>
                </a:pPr>
                <a:r>
                  <a:rPr lang="zh-CN" altLang="en-US" sz="2400" dirty="0"/>
                  <a:t>作用：通用的加权平均函数</a:t>
                </a:r>
              </a:p>
              <a:p>
                <a:pPr marL="1200150" lvl="2" indent="-285750">
                  <a:lnSpc>
                    <a:spcPct val="125000"/>
                  </a:lnSpc>
                  <a:buFont typeface="Arial" panose="020B0604020202020204" pitchFamily="34" charset="0"/>
                  <a:buChar char="•"/>
                </a:pPr>
                <a:r>
                  <a:rPr lang="zh-CN" altLang="en-US" sz="2400" dirty="0"/>
                  <a:t>参数 </a:t>
                </a:r>
                <a:r>
                  <a:rPr lang="en-US" altLang="zh-CN" sz="2400" dirty="0"/>
                  <a:t>w </a:t>
                </a:r>
                <a:r>
                  <a:rPr lang="zh-CN" altLang="en-US" sz="2400" dirty="0"/>
                  <a:t>对应公式中的权重系数</a:t>
                </a:r>
              </a:p>
              <a:p>
                <a:pPr marL="1200150" lvl="2" indent="-285750">
                  <a:lnSpc>
                    <a:spcPct val="125000"/>
                  </a:lnSpc>
                  <a:buFont typeface="Arial" panose="020B0604020202020204" pitchFamily="34" charset="0"/>
                  <a:buChar char="•"/>
                </a:pPr>
                <a:r>
                  <a:rPr lang="zh-CN" altLang="en-US" sz="2400" dirty="0"/>
                  <a:t>会自动根据 </a:t>
                </a:r>
                <a:r>
                  <a:rPr lang="en-US" altLang="zh-CN" sz="2400" dirty="0"/>
                  <a:t>res-&gt;valence </a:t>
                </a:r>
                <a:r>
                  <a:rPr lang="zh-CN" altLang="en-US" sz="2400" dirty="0"/>
                  <a:t>计算原坐标的保留比例</a:t>
                </a:r>
              </a:p>
              <a:p>
                <a:pPr marL="742950" lvl="1" indent="-285750">
                  <a:lnSpc>
                    <a:spcPct val="125000"/>
                  </a:lnSpc>
                  <a:buFont typeface="Arial" panose="020B0604020202020204" pitchFamily="34" charset="0"/>
                  <a:buChar char="•"/>
                </a:pPr>
                <a:r>
                  <a:rPr lang="en-US" altLang="zh-CN" sz="2400" b="1" dirty="0"/>
                  <a:t>alpha(valence)</a:t>
                </a:r>
                <a:r>
                  <a:rPr lang="zh-CN" altLang="en-US" sz="2400" b="1" dirty="0"/>
                  <a:t>：</a:t>
                </a:r>
              </a:p>
              <a:p>
                <a:pPr marL="1200150" lvl="2" indent="-285750">
                  <a:lnSpc>
                    <a:spcPct val="125000"/>
                  </a:lnSpc>
                  <a:buFont typeface="Arial" panose="020B0604020202020204" pitchFamily="34" charset="0"/>
                  <a:buChar char="•"/>
                </a:pPr>
                <a:r>
                  <a:rPr lang="zh-CN" altLang="en-US" sz="2400" dirty="0"/>
                  <a:t>计算并返回 </a:t>
                </a:r>
                <a14:m>
                  <m:oMath xmlns:m="http://schemas.openxmlformats.org/officeDocument/2006/math">
                    <m:rad>
                      <m:radPr>
                        <m:degHide m:val="on"/>
                        <m:ctrlPr>
                          <a:rPr lang="en-US" altLang="zh-CN" sz="2400" i="1" dirty="0" smtClean="0">
                            <a:latin typeface="Cambria Math" panose="02040503050406030204" pitchFamily="18" charset="0"/>
                          </a:rPr>
                        </m:ctrlPr>
                      </m:radPr>
                      <m:deg/>
                      <m:e>
                        <m:r>
                          <a:rPr lang="en-US" altLang="zh-CN" sz="2400" i="1" dirty="0" smtClean="0">
                            <a:latin typeface="Cambria Math" panose="02040503050406030204" pitchFamily="18" charset="0"/>
                          </a:rPr>
                          <m:t>3</m:t>
                        </m:r>
                      </m:e>
                    </m:rad>
                  </m:oMath>
                </a14:m>
                <a:r>
                  <a:rPr lang="zh-CN" altLang="en-US" sz="2400" dirty="0"/>
                  <a:t>细分专用的 </a:t>
                </a:r>
                <a14:m>
                  <m:oMath xmlns:m="http://schemas.openxmlformats.org/officeDocument/2006/math">
                    <m:r>
                      <a:rPr lang="en-US" altLang="zh-CN" sz="2400" i="1" dirty="0" smtClean="0">
                        <a:latin typeface="Cambria Math" panose="02040503050406030204" pitchFamily="18" charset="0"/>
                      </a:rPr>
                      <m:t>𝛼</m:t>
                    </m:r>
                  </m:oMath>
                </a14:m>
                <a:r>
                  <a:rPr lang="zh-CN" altLang="en-US" sz="2400" dirty="0"/>
                  <a:t> 系数</a:t>
                </a:r>
              </a:p>
              <a:p>
                <a:pPr marL="742950" lvl="1" indent="-285750">
                  <a:lnSpc>
                    <a:spcPct val="125000"/>
                  </a:lnSpc>
                  <a:buFont typeface="Arial" panose="020B0604020202020204" pitchFamily="34" charset="0"/>
                  <a:buChar char="•"/>
                </a:pPr>
                <a:r>
                  <a:rPr lang="en-US" altLang="zh-CN" sz="2400" b="1" dirty="0"/>
                  <a:t>f-&gt;</a:t>
                </a:r>
                <a:r>
                  <a:rPr lang="en-US" altLang="zh-CN" sz="2400" b="1" dirty="0" err="1"/>
                  <a:t>sdverts</a:t>
                </a:r>
                <a:r>
                  <a:rPr lang="en-US" altLang="zh-CN" sz="2400" b="1" dirty="0"/>
                  <a:t>[0]</a:t>
                </a:r>
                <a:r>
                  <a:rPr lang="zh-CN" altLang="en-US" sz="2400" b="1" dirty="0"/>
                  <a:t>：</a:t>
                </a:r>
              </a:p>
              <a:p>
                <a:pPr marL="1200150" lvl="2" indent="-285750">
                  <a:lnSpc>
                    <a:spcPct val="125000"/>
                  </a:lnSpc>
                  <a:buFont typeface="Arial" panose="020B0604020202020204" pitchFamily="34" charset="0"/>
                  <a:buChar char="•"/>
                </a:pPr>
                <a:r>
                  <a:rPr lang="zh-CN" altLang="en-US" sz="2400" dirty="0"/>
                  <a:t>将面中心产生的新顶点暂时存放在 </a:t>
                </a:r>
                <a:r>
                  <a:rPr lang="en-US" altLang="zh-CN" sz="2400" dirty="0" err="1"/>
                  <a:t>SDFace</a:t>
                </a:r>
                <a:r>
                  <a:rPr lang="en-US" altLang="zh-CN" sz="2400" dirty="0"/>
                  <a:t> </a:t>
                </a:r>
                <a:r>
                  <a:rPr lang="zh-CN" altLang="en-US" sz="2400" dirty="0"/>
                  <a:t>的 </a:t>
                </a:r>
                <a:r>
                  <a:rPr lang="en-US" altLang="zh-CN" sz="2400" dirty="0" err="1"/>
                  <a:t>sdverts</a:t>
                </a:r>
                <a:r>
                  <a:rPr lang="en-US" altLang="zh-CN" sz="2400" dirty="0"/>
                  <a:t>[0] </a:t>
                </a:r>
                <a:r>
                  <a:rPr lang="zh-CN" altLang="en-US" sz="2400" dirty="0"/>
                  <a:t>中，方便在遍历边时取出</a:t>
                </a:r>
              </a:p>
              <a:p>
                <a:pPr marL="742950" lvl="1" indent="-285750">
                  <a:lnSpc>
                    <a:spcPct val="125000"/>
                  </a:lnSpc>
                  <a:buFont typeface="Arial" panose="020B0604020202020204" pitchFamily="34" charset="0"/>
                  <a:buChar char="•"/>
                </a:pPr>
                <a:r>
                  <a:rPr lang="en-US" altLang="zh-CN" sz="2400" b="1" dirty="0"/>
                  <a:t>v-&gt;child</a:t>
                </a:r>
                <a:r>
                  <a:rPr lang="zh-CN" altLang="en-US" sz="2400" b="1" dirty="0"/>
                  <a:t>：</a:t>
                </a:r>
              </a:p>
              <a:p>
                <a:pPr marL="1200150" lvl="2" indent="-285750">
                  <a:lnSpc>
                    <a:spcPct val="125000"/>
                  </a:lnSpc>
                  <a:buFont typeface="Arial" panose="020B0604020202020204" pitchFamily="34" charset="0"/>
                  <a:buChar char="•"/>
                </a:pPr>
                <a:r>
                  <a:rPr lang="zh-CN" altLang="en-US" sz="2400" dirty="0"/>
                  <a:t>存储平滑后的旧顶点坐标</a:t>
                </a:r>
              </a:p>
              <a:p>
                <a:pPr marL="742950" lvl="1" indent="-285750">
                  <a:lnSpc>
                    <a:spcPct val="125000"/>
                  </a:lnSpc>
                  <a:buFont typeface="Arial" panose="020B0604020202020204" pitchFamily="34" charset="0"/>
                  <a:buChar char="•"/>
                </a:pPr>
                <a:endParaRPr lang="zh-CN" altLang="en-US" sz="2400" b="1" dirty="0"/>
              </a:p>
            </p:txBody>
          </p:sp>
        </mc:Choice>
        <mc:Fallback xmlns="">
          <p:sp>
            <p:nvSpPr>
              <p:cNvPr id="8" name="文本框 7">
                <a:extLst>
                  <a:ext uri="{FF2B5EF4-FFF2-40B4-BE49-F238E27FC236}">
                    <a16:creationId xmlns:a16="http://schemas.microsoft.com/office/drawing/2014/main" id="{5202286A-2FCD-6308-875E-3D68D8E0DC26}"/>
                  </a:ext>
                </a:extLst>
              </p:cNvPr>
              <p:cNvSpPr txBox="1">
                <a:spLocks noRot="1" noChangeAspect="1" noMove="1" noResize="1" noEditPoints="1" noAdjustHandles="1" noChangeArrowheads="1" noChangeShapeType="1" noTextEdit="1"/>
              </p:cNvSpPr>
              <p:nvPr/>
            </p:nvSpPr>
            <p:spPr>
              <a:xfrm>
                <a:off x="838200" y="1252252"/>
                <a:ext cx="10515600" cy="6060762"/>
              </a:xfrm>
              <a:prstGeom prst="rect">
                <a:avLst/>
              </a:prstGeom>
              <a:blipFill>
                <a:blip r:embed="rId4"/>
                <a:stretch>
                  <a:fillRect l="-8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927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27942-538F-5864-1780-D76B599FA5E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标题 1">
                <a:extLst>
                  <a:ext uri="{FF2B5EF4-FFF2-40B4-BE49-F238E27FC236}">
                    <a16:creationId xmlns:a16="http://schemas.microsoft.com/office/drawing/2014/main" id="{5FF93D86-54B4-2EC8-D7AF-DB806140EFB6}"/>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ad>
                      <m:radPr>
                        <m:degHide m:val="on"/>
                        <m:ctrlPr>
                          <a:rPr lang="en-US" altLang="zh-CN" b="1" i="1" dirty="0" smtClean="0">
                            <a:latin typeface="Cambria Math" panose="02040503050406030204" pitchFamily="18" charset="0"/>
                          </a:rPr>
                        </m:ctrlPr>
                      </m:radPr>
                      <m:deg/>
                      <m:e>
                        <m:r>
                          <a:rPr lang="en-US" altLang="zh-CN" b="1" i="1" dirty="0" smtClean="0">
                            <a:latin typeface="Cambria Math" panose="02040503050406030204" pitchFamily="18" charset="0"/>
                          </a:rPr>
                          <m:t>𝟑</m:t>
                        </m:r>
                      </m:e>
                    </m:rad>
                  </m:oMath>
                </a14:m>
                <a:r>
                  <a:rPr lang="zh-CN" altLang="en-US" b="1" dirty="0"/>
                  <a:t>细分</a:t>
                </a:r>
                <a:r>
                  <a:rPr lang="en-US" altLang="zh-CN" b="1" dirty="0"/>
                  <a:t>-</a:t>
                </a:r>
                <a:r>
                  <a:rPr lang="zh-CN" altLang="en-US" b="1" dirty="0"/>
                  <a:t>实现步骤</a:t>
                </a:r>
              </a:p>
            </p:txBody>
          </p:sp>
        </mc:Choice>
        <mc:Fallback xmlns="">
          <p:sp>
            <p:nvSpPr>
              <p:cNvPr id="4" name="标题 1">
                <a:extLst>
                  <a:ext uri="{FF2B5EF4-FFF2-40B4-BE49-F238E27FC236}">
                    <a16:creationId xmlns:a16="http://schemas.microsoft.com/office/drawing/2014/main" id="{5FF93D86-54B4-2EC8-D7AF-DB806140EFB6}"/>
                  </a:ext>
                </a:extLst>
              </p:cNvPr>
              <p:cNvSpPr txBox="1">
                <a:spLocks noRot="1" noChangeAspect="1" noMove="1" noResize="1" noEditPoints="1" noAdjustHandles="1" noChangeArrowheads="1" noChangeShapeType="1" noTextEdit="1"/>
              </p:cNvSpPr>
              <p:nvPr/>
            </p:nvSpPr>
            <p:spPr>
              <a:xfrm>
                <a:off x="838200" y="365125"/>
                <a:ext cx="10515600" cy="1325563"/>
              </a:xfrm>
              <a:prstGeom prst="rect">
                <a:avLst/>
              </a:prstGeom>
              <a:blipFill>
                <a:blip r:embed="rId3"/>
                <a:stretch>
                  <a:fillRect b="-922"/>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AE8FED8A-3C3C-CFE3-CA00-B11221A646B0}"/>
              </a:ext>
            </a:extLst>
          </p:cNvPr>
          <p:cNvSpPr txBox="1"/>
          <p:nvPr/>
        </p:nvSpPr>
        <p:spPr>
          <a:xfrm>
            <a:off x="838200" y="1399141"/>
            <a:ext cx="10515600" cy="5137432"/>
          </a:xfrm>
          <a:prstGeom prst="rect">
            <a:avLst/>
          </a:prstGeom>
          <a:noFill/>
        </p:spPr>
        <p:txBody>
          <a:bodyPr wrap="square">
            <a:spAutoFit/>
          </a:bodyPr>
          <a:lstStyle/>
          <a:p>
            <a:pPr>
              <a:lnSpc>
                <a:spcPct val="125000"/>
              </a:lnSpc>
            </a:pPr>
            <a:r>
              <a:rPr lang="en-US" altLang="zh-CN" sz="2400" b="1" dirty="0"/>
              <a:t>root3Subdivision </a:t>
            </a:r>
            <a:r>
              <a:rPr lang="zh-CN" altLang="en-US" sz="2400" dirty="0"/>
              <a:t>的实现步骤可以归纳为：</a:t>
            </a:r>
            <a:endParaRPr lang="en-US" altLang="zh-CN" sz="2400" dirty="0"/>
          </a:p>
          <a:p>
            <a:pPr marL="342900" indent="-342900">
              <a:lnSpc>
                <a:spcPct val="125000"/>
              </a:lnSpc>
              <a:buFont typeface="Arial" panose="020B0604020202020204" pitchFamily="34" charset="0"/>
              <a:buChar char="•"/>
            </a:pPr>
            <a:r>
              <a:rPr lang="zh-CN" altLang="en-US" sz="2400" b="1" dirty="0"/>
              <a:t>第一步：生成奇顶点 </a:t>
            </a:r>
            <a:endParaRPr lang="en-US" altLang="zh-CN" sz="2400" b="1" dirty="0"/>
          </a:p>
          <a:p>
            <a:pPr marL="800100" lvl="1" indent="-342900">
              <a:lnSpc>
                <a:spcPct val="125000"/>
              </a:lnSpc>
              <a:buFont typeface="Arial" panose="020B0604020202020204" pitchFamily="34" charset="0"/>
              <a:buChar char="•"/>
            </a:pPr>
            <a:r>
              <a:rPr lang="zh-CN" altLang="en-US" sz="2400" dirty="0"/>
              <a:t>遍历 </a:t>
            </a:r>
            <a:r>
              <a:rPr lang="en-US" altLang="zh-CN" sz="2400" dirty="0" err="1"/>
              <a:t>sdshapes.fs</a:t>
            </a:r>
            <a:r>
              <a:rPr lang="zh-CN" altLang="en-US" sz="2400" dirty="0"/>
              <a:t>（所有的面）</a:t>
            </a:r>
          </a:p>
          <a:p>
            <a:pPr marL="800100" lvl="1" indent="-342900">
              <a:lnSpc>
                <a:spcPct val="125000"/>
              </a:lnSpc>
              <a:buFont typeface="Arial" panose="020B0604020202020204" pitchFamily="34" charset="0"/>
              <a:buChar char="•"/>
            </a:pPr>
            <a:r>
              <a:rPr lang="zh-CN" altLang="en-US" sz="2400" dirty="0"/>
              <a:t>计算三角形重心，创建新顶点 </a:t>
            </a:r>
            <a:r>
              <a:rPr lang="en-US" altLang="zh-CN" sz="2400" dirty="0" err="1"/>
              <a:t>newv</a:t>
            </a:r>
            <a:endParaRPr lang="zh-CN" altLang="en-US" sz="2400" dirty="0"/>
          </a:p>
          <a:p>
            <a:pPr marL="800100" lvl="1" indent="-342900">
              <a:lnSpc>
                <a:spcPct val="125000"/>
              </a:lnSpc>
              <a:buFont typeface="Arial" panose="020B0604020202020204" pitchFamily="34" charset="0"/>
              <a:buChar char="•"/>
            </a:pPr>
            <a:r>
              <a:rPr lang="zh-CN" altLang="en-US" sz="2400" dirty="0"/>
              <a:t>存储：执行 </a:t>
            </a:r>
            <a:r>
              <a:rPr lang="en-US" altLang="zh-CN" sz="2400" dirty="0"/>
              <a:t>f-&gt;</a:t>
            </a:r>
            <a:r>
              <a:rPr lang="en-US" altLang="zh-CN" sz="2400" dirty="0" err="1"/>
              <a:t>sdverts</a:t>
            </a:r>
            <a:r>
              <a:rPr lang="en-US" altLang="zh-CN" sz="2400" dirty="0"/>
              <a:t>[0] = </a:t>
            </a:r>
            <a:r>
              <a:rPr lang="en-US" altLang="zh-CN" sz="2400" dirty="0" err="1"/>
              <a:t>newv</a:t>
            </a:r>
            <a:endParaRPr lang="zh-CN" altLang="en-US" sz="2400" dirty="0"/>
          </a:p>
          <a:p>
            <a:pPr marL="342900" indent="-342900">
              <a:lnSpc>
                <a:spcPct val="125000"/>
              </a:lnSpc>
              <a:buFont typeface="Arial" panose="020B0604020202020204" pitchFamily="34" charset="0"/>
              <a:buChar char="•"/>
            </a:pPr>
            <a:r>
              <a:rPr lang="zh-CN" altLang="en-US" sz="2400" b="1" dirty="0"/>
              <a:t>第二步：更新偶顶点 </a:t>
            </a:r>
            <a:endParaRPr lang="en-US" altLang="zh-CN" sz="2400" b="1" dirty="0"/>
          </a:p>
          <a:p>
            <a:pPr marL="800100" lvl="1" indent="-342900">
              <a:lnSpc>
                <a:spcPct val="125000"/>
              </a:lnSpc>
              <a:buFont typeface="Arial" panose="020B0604020202020204" pitchFamily="34" charset="0"/>
              <a:buChar char="•"/>
            </a:pPr>
            <a:r>
              <a:rPr lang="zh-CN" altLang="en-US" sz="2400" dirty="0"/>
              <a:t>遍历 </a:t>
            </a:r>
            <a:r>
              <a:rPr lang="en-US" altLang="zh-CN" sz="2400" dirty="0" err="1"/>
              <a:t>sdattrib.vs</a:t>
            </a:r>
            <a:r>
              <a:rPr lang="zh-CN" altLang="en-US" sz="2400" dirty="0"/>
              <a:t>（所有的旧顶点）</a:t>
            </a:r>
          </a:p>
          <a:p>
            <a:pPr marL="800100" lvl="1" indent="-342900">
              <a:lnSpc>
                <a:spcPct val="125000"/>
              </a:lnSpc>
              <a:buFont typeface="Arial" panose="020B0604020202020204" pitchFamily="34" charset="0"/>
              <a:buChar char="•"/>
            </a:pPr>
            <a:r>
              <a:rPr lang="zh-CN" altLang="en-US" sz="2400" dirty="0"/>
              <a:t>使用 </a:t>
            </a:r>
            <a:r>
              <a:rPr lang="en-US" altLang="zh-CN" sz="2400" dirty="0" err="1"/>
              <a:t>findAllNeighbors</a:t>
            </a:r>
            <a:r>
              <a:rPr lang="en-US" altLang="zh-CN" sz="2400" dirty="0"/>
              <a:t> </a:t>
            </a:r>
            <a:r>
              <a:rPr lang="zh-CN" altLang="en-US" sz="2400" dirty="0"/>
              <a:t>获取一圈邻居</a:t>
            </a:r>
          </a:p>
          <a:p>
            <a:pPr marL="800100" lvl="1" indent="-342900">
              <a:lnSpc>
                <a:spcPct val="125000"/>
              </a:lnSpc>
              <a:buFont typeface="Arial" panose="020B0604020202020204" pitchFamily="34" charset="0"/>
              <a:buChar char="•"/>
            </a:pPr>
            <a:r>
              <a:rPr lang="zh-CN" altLang="en-US" sz="2400" dirty="0"/>
              <a:t>调用 </a:t>
            </a:r>
            <a:r>
              <a:rPr lang="en-US" altLang="zh-CN" sz="2400" dirty="0" err="1"/>
              <a:t>oneRingRule</a:t>
            </a:r>
            <a:r>
              <a:rPr lang="en-US" altLang="zh-CN" sz="2400" dirty="0"/>
              <a:t> </a:t>
            </a:r>
            <a:r>
              <a:rPr lang="zh-CN" altLang="en-US" sz="2400" dirty="0"/>
              <a:t>并传入 </a:t>
            </a:r>
            <a:r>
              <a:rPr lang="en-US" altLang="zh-CN" sz="2400" dirty="0"/>
              <a:t>alpha(n) </a:t>
            </a:r>
            <a:r>
              <a:rPr lang="zh-CN" altLang="en-US" sz="2400" dirty="0"/>
              <a:t>进行坐标平滑，结果存入 </a:t>
            </a:r>
            <a:r>
              <a:rPr lang="en-US" altLang="zh-CN" sz="2400" dirty="0"/>
              <a:t>v-&gt;child</a:t>
            </a:r>
            <a:endParaRPr lang="zh-CN" altLang="en-US" sz="2400" dirty="0"/>
          </a:p>
          <a:p>
            <a:pPr>
              <a:lnSpc>
                <a:spcPct val="125000"/>
              </a:lnSpc>
            </a:pPr>
            <a:endParaRPr lang="zh-CN" altLang="en-US" sz="2400" dirty="0"/>
          </a:p>
          <a:p>
            <a:pPr>
              <a:lnSpc>
                <a:spcPct val="125000"/>
              </a:lnSpc>
            </a:pPr>
            <a:endParaRPr lang="zh-CN" altLang="en-US" sz="2400" dirty="0"/>
          </a:p>
        </p:txBody>
      </p:sp>
    </p:spTree>
    <p:extLst>
      <p:ext uri="{BB962C8B-B14F-4D97-AF65-F5344CB8AC3E}">
        <p14:creationId xmlns:p14="http://schemas.microsoft.com/office/powerpoint/2010/main" val="1152781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4F9A6-06DA-B912-C98C-75D6B09CB58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标题 1">
                <a:extLst>
                  <a:ext uri="{FF2B5EF4-FFF2-40B4-BE49-F238E27FC236}">
                    <a16:creationId xmlns:a16="http://schemas.microsoft.com/office/drawing/2014/main" id="{B40B3B32-A792-B958-0D23-29969C60DCA4}"/>
                  </a:ext>
                </a:extLst>
              </p:cNvPr>
              <p:cNvSpPr txBox="1">
                <a:spLocks/>
              </p:cNvSpPr>
              <p:nvPr/>
            </p:nvSpPr>
            <p:spPr>
              <a:xfrm>
                <a:off x="838200" y="365125"/>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ad>
                      <m:radPr>
                        <m:degHide m:val="on"/>
                        <m:ctrlPr>
                          <a:rPr lang="en-US" altLang="zh-CN" b="1" i="1" dirty="0">
                            <a:latin typeface="Cambria Math" panose="02040503050406030204" pitchFamily="18" charset="0"/>
                          </a:rPr>
                        </m:ctrlPr>
                      </m:radPr>
                      <m:deg/>
                      <m:e>
                        <m:r>
                          <a:rPr lang="en-US" altLang="zh-CN" b="1" i="1" dirty="0">
                            <a:latin typeface="Cambria Math" panose="02040503050406030204" pitchFamily="18" charset="0"/>
                          </a:rPr>
                          <m:t>𝟑</m:t>
                        </m:r>
                      </m:e>
                    </m:rad>
                  </m:oMath>
                </a14:m>
                <a:r>
                  <a:rPr lang="zh-CN" altLang="en-US" b="1" dirty="0"/>
                  <a:t>细分</a:t>
                </a:r>
                <a:r>
                  <a:rPr lang="en-US" altLang="zh-CN" b="1" dirty="0"/>
                  <a:t>-</a:t>
                </a:r>
                <a:r>
                  <a:rPr lang="zh-CN" altLang="en-US" b="1" dirty="0"/>
                  <a:t>实现步骤</a:t>
                </a:r>
              </a:p>
            </p:txBody>
          </p:sp>
        </mc:Choice>
        <mc:Fallback xmlns="">
          <p:sp>
            <p:nvSpPr>
              <p:cNvPr id="4" name="标题 1">
                <a:extLst>
                  <a:ext uri="{FF2B5EF4-FFF2-40B4-BE49-F238E27FC236}">
                    <a16:creationId xmlns:a16="http://schemas.microsoft.com/office/drawing/2014/main" id="{B40B3B32-A792-B958-0D23-29969C60DCA4}"/>
                  </a:ext>
                </a:extLst>
              </p:cNvPr>
              <p:cNvSpPr txBox="1">
                <a:spLocks noRot="1" noChangeAspect="1" noMove="1" noResize="1" noEditPoints="1" noAdjustHandles="1" noChangeArrowheads="1" noChangeShapeType="1" noTextEdit="1"/>
              </p:cNvSpPr>
              <p:nvPr/>
            </p:nvSpPr>
            <p:spPr>
              <a:xfrm>
                <a:off x="838200" y="365125"/>
                <a:ext cx="10515600" cy="1325563"/>
              </a:xfrm>
              <a:prstGeom prst="rect">
                <a:avLst/>
              </a:prstGeom>
              <a:blipFill>
                <a:blip r:embed="rId3"/>
                <a:stretch>
                  <a:fillRect b="-9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75CEE9C-9E77-91C0-B56F-15679C2E6F76}"/>
                  </a:ext>
                </a:extLst>
              </p:cNvPr>
              <p:cNvSpPr txBox="1"/>
              <p:nvPr/>
            </p:nvSpPr>
            <p:spPr>
              <a:xfrm>
                <a:off x="838200" y="1399141"/>
                <a:ext cx="10515600" cy="5180970"/>
              </a:xfrm>
              <a:prstGeom prst="rect">
                <a:avLst/>
              </a:prstGeom>
              <a:noFill/>
            </p:spPr>
            <p:txBody>
              <a:bodyPr wrap="square">
                <a:spAutoFit/>
              </a:bodyPr>
              <a:lstStyle/>
              <a:p>
                <a:pPr>
                  <a:lnSpc>
                    <a:spcPct val="125000"/>
                  </a:lnSpc>
                </a:pPr>
                <a:r>
                  <a:rPr lang="en-US" altLang="zh-CN" sz="2400" b="1" dirty="0"/>
                  <a:t>root3Subdivision </a:t>
                </a:r>
                <a:r>
                  <a:rPr lang="zh-CN" altLang="en-US" sz="2400" dirty="0"/>
                  <a:t>的实现步骤可以归纳为：</a:t>
                </a:r>
                <a:endParaRPr lang="en-US" altLang="zh-CN" sz="2400" dirty="0"/>
              </a:p>
              <a:p>
                <a:pPr marL="342900" indent="-342900">
                  <a:lnSpc>
                    <a:spcPct val="125000"/>
                  </a:lnSpc>
                  <a:buFont typeface="Arial" panose="020B0604020202020204" pitchFamily="34" charset="0"/>
                  <a:buChar char="•"/>
                </a:pPr>
                <a:r>
                  <a:rPr lang="zh-CN" altLang="en-US" sz="2400" b="1" dirty="0"/>
                  <a:t>第三步：重建拓扑 </a:t>
                </a:r>
                <a:r>
                  <a:rPr lang="en-US" altLang="zh-CN" sz="2400" b="1" dirty="0"/>
                  <a:t>(Reconnect Topology)</a:t>
                </a:r>
              </a:p>
              <a:p>
                <a:pPr marL="800100" lvl="1" indent="-342900">
                  <a:lnSpc>
                    <a:spcPct val="125000"/>
                  </a:lnSpc>
                  <a:buFont typeface="Arial" panose="020B0604020202020204" pitchFamily="34" charset="0"/>
                  <a:buChar char="•"/>
                </a:pPr>
                <a:r>
                  <a:rPr lang="zh-CN" altLang="en-US" sz="2400" dirty="0"/>
                  <a:t>遍历 </a:t>
                </a:r>
                <a:r>
                  <a:rPr lang="en-US" altLang="zh-CN" sz="2400" dirty="0"/>
                  <a:t>shape.es</a:t>
                </a:r>
                <a:r>
                  <a:rPr lang="zh-CN" altLang="en-US" sz="2400" dirty="0"/>
                  <a:t>（所有的原始边）</a:t>
                </a:r>
              </a:p>
              <a:p>
                <a:pPr marL="800100" lvl="1" indent="-342900">
                  <a:lnSpc>
                    <a:spcPct val="125000"/>
                  </a:lnSpc>
                  <a:buFont typeface="Arial" panose="020B0604020202020204" pitchFamily="34" charset="0"/>
                  <a:buChar char="•"/>
                </a:pPr>
                <a:r>
                  <a:rPr lang="zh-CN" altLang="en-US" sz="2400" dirty="0"/>
                  <a:t>内部边：取出该边两侧面的中心点 </a:t>
                </a:r>
                <a:r>
                  <a:rPr lang="en-US" altLang="zh-CN" sz="2400" dirty="0"/>
                  <a:t>f0-&gt;</a:t>
                </a:r>
                <a:r>
                  <a:rPr lang="en-US" altLang="zh-CN" sz="2400" dirty="0" err="1"/>
                  <a:t>sdverts</a:t>
                </a:r>
                <a:r>
                  <a:rPr lang="en-US" altLang="zh-CN" sz="2400" dirty="0"/>
                  <a:t>[0] </a:t>
                </a:r>
                <a:r>
                  <a:rPr lang="zh-CN" altLang="en-US" sz="2400" dirty="0"/>
                  <a:t>和 </a:t>
                </a:r>
                <a:r>
                  <a:rPr lang="en-US" altLang="zh-CN" sz="2400" dirty="0"/>
                  <a:t>f1-&gt;</a:t>
                </a:r>
                <a:r>
                  <a:rPr lang="en-US" altLang="zh-CN" sz="2400" dirty="0" err="1"/>
                  <a:t>sdverts</a:t>
                </a:r>
                <a:r>
                  <a:rPr lang="en-US" altLang="zh-CN" sz="2400" dirty="0"/>
                  <a:t>[0]</a:t>
                </a:r>
                <a:r>
                  <a:rPr lang="zh-CN" altLang="en-US" sz="2400" dirty="0"/>
                  <a:t>，与端点重新连接生成两个新面</a:t>
                </a:r>
              </a:p>
              <a:p>
                <a:pPr marL="800100" lvl="1" indent="-342900">
                  <a:lnSpc>
                    <a:spcPct val="125000"/>
                  </a:lnSpc>
                  <a:buFont typeface="Arial" panose="020B0604020202020204" pitchFamily="34" charset="0"/>
                  <a:buChar char="•"/>
                </a:pPr>
                <a:r>
                  <a:rPr lang="zh-CN" altLang="en-US" sz="2400" dirty="0"/>
                  <a:t>边界边：特殊处理，保持边界不被旋转</a:t>
                </a:r>
              </a:p>
              <a:p>
                <a:pPr marL="342900" indent="-342900">
                  <a:lnSpc>
                    <a:spcPct val="125000"/>
                  </a:lnSpc>
                  <a:buFont typeface="Arial" panose="020B0604020202020204" pitchFamily="34" charset="0"/>
                  <a:buChar char="•"/>
                </a:pPr>
                <a:r>
                  <a:rPr lang="zh-CN" altLang="en-US" sz="2400" b="1" dirty="0"/>
                  <a:t>第四步：数据交换 </a:t>
                </a:r>
                <a:r>
                  <a:rPr lang="en-US" altLang="zh-CN" sz="2400" b="1" dirty="0"/>
                  <a:t>(Finalize)</a:t>
                </a:r>
              </a:p>
              <a:p>
                <a:pPr marL="800100" lvl="1" indent="-342900">
                  <a:lnSpc>
                    <a:spcPct val="125000"/>
                  </a:lnSpc>
                  <a:buFont typeface="Arial" panose="020B0604020202020204" pitchFamily="34" charset="0"/>
                  <a:buChar char="•"/>
                </a:pPr>
                <a:r>
                  <a:rPr lang="en-US" altLang="zh-CN" sz="2400" dirty="0"/>
                  <a:t>swap </a:t>
                </a:r>
                <a:r>
                  <a:rPr lang="zh-CN" altLang="en-US" sz="2400" dirty="0"/>
                  <a:t>顶点表和面表。注意 </a:t>
                </a:r>
                <a14:m>
                  <m:oMath xmlns:m="http://schemas.openxmlformats.org/officeDocument/2006/math">
                    <m:rad>
                      <m:radPr>
                        <m:degHide m:val="on"/>
                        <m:ctrlPr>
                          <a:rPr lang="en-US" altLang="zh-CN" sz="2400" i="1" dirty="0" smtClean="0">
                            <a:latin typeface="Cambria Math" panose="02040503050406030204" pitchFamily="18" charset="0"/>
                          </a:rPr>
                        </m:ctrlPr>
                      </m:radPr>
                      <m:deg/>
                      <m:e>
                        <m:r>
                          <a:rPr lang="en-US" altLang="zh-CN" sz="2400" i="1" dirty="0">
                            <a:latin typeface="Cambria Math" panose="02040503050406030204" pitchFamily="18" charset="0"/>
                          </a:rPr>
                          <m:t>3</m:t>
                        </m:r>
                      </m:e>
                    </m:rad>
                  </m:oMath>
                </a14:m>
                <a:r>
                  <a:rPr lang="zh-CN" altLang="en-US" sz="2400" dirty="0"/>
                  <a:t> 细分的 </a:t>
                </a:r>
                <a:r>
                  <a:rPr lang="en-US" altLang="zh-CN" sz="2400" dirty="0" err="1"/>
                  <a:t>newSdshape</a:t>
                </a:r>
                <a:r>
                  <a:rPr lang="en-US" altLang="zh-CN" sz="2400" dirty="0"/>
                  <a:t> </a:t>
                </a:r>
                <a:r>
                  <a:rPr lang="zh-CN" altLang="en-US" sz="2400" dirty="0"/>
                  <a:t>结构需要完全重建</a:t>
                </a:r>
              </a:p>
              <a:p>
                <a:pPr>
                  <a:lnSpc>
                    <a:spcPct val="125000"/>
                  </a:lnSpc>
                </a:pPr>
                <a:endParaRPr lang="zh-CN" altLang="en-US" sz="2400" b="1" dirty="0"/>
              </a:p>
              <a:p>
                <a:pPr>
                  <a:lnSpc>
                    <a:spcPct val="125000"/>
                  </a:lnSpc>
                </a:pPr>
                <a:endParaRPr lang="zh-CN" altLang="en-US" sz="2400" dirty="0"/>
              </a:p>
              <a:p>
                <a:pPr>
                  <a:lnSpc>
                    <a:spcPct val="125000"/>
                  </a:lnSpc>
                </a:pPr>
                <a:endParaRPr lang="zh-CN" altLang="en-US" sz="2400" dirty="0"/>
              </a:p>
            </p:txBody>
          </p:sp>
        </mc:Choice>
        <mc:Fallback xmlns="">
          <p:sp>
            <p:nvSpPr>
              <p:cNvPr id="8" name="文本框 7">
                <a:extLst>
                  <a:ext uri="{FF2B5EF4-FFF2-40B4-BE49-F238E27FC236}">
                    <a16:creationId xmlns:a16="http://schemas.microsoft.com/office/drawing/2014/main" id="{675CEE9C-9E77-91C0-B56F-15679C2E6F76}"/>
                  </a:ext>
                </a:extLst>
              </p:cNvPr>
              <p:cNvSpPr txBox="1">
                <a:spLocks noRot="1" noChangeAspect="1" noMove="1" noResize="1" noEditPoints="1" noAdjustHandles="1" noChangeArrowheads="1" noChangeShapeType="1" noTextEdit="1"/>
              </p:cNvSpPr>
              <p:nvPr/>
            </p:nvSpPr>
            <p:spPr>
              <a:xfrm>
                <a:off x="838200" y="1399141"/>
                <a:ext cx="10515600" cy="5180970"/>
              </a:xfrm>
              <a:prstGeom prst="rect">
                <a:avLst/>
              </a:prstGeom>
              <a:blipFill>
                <a:blip r:embed="rId4"/>
                <a:stretch>
                  <a:fillRect l="-928" r="-2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50311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A3549-D953-8444-B0CB-3C8F3A93844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D7408180-6C4F-30AB-2AD0-42A0D2F8F1CD}"/>
                  </a:ext>
                </a:extLst>
              </p:cNvPr>
              <p:cNvSpPr>
                <a:spLocks noGrp="1"/>
              </p:cNvSpPr>
              <p:nvPr>
                <p:ph type="title"/>
              </p:nvPr>
            </p:nvSpPr>
            <p:spPr/>
            <p:txBody>
              <a:bodyPr/>
              <a:lstStyle/>
              <a:p>
                <a14:m>
                  <m:oMath xmlns:m="http://schemas.openxmlformats.org/officeDocument/2006/math">
                    <m:rad>
                      <m:radPr>
                        <m:degHide m:val="on"/>
                        <m:ctrlPr>
                          <a:rPr lang="en-US" altLang="zh-CN" b="1" i="1" dirty="0" smtClean="0">
                            <a:latin typeface="Cambria Math" panose="02040503050406030204" pitchFamily="18" charset="0"/>
                          </a:rPr>
                        </m:ctrlPr>
                      </m:radPr>
                      <m:deg/>
                      <m:e>
                        <m:r>
                          <a:rPr lang="en-US" altLang="zh-CN" b="1" i="1" dirty="0" smtClean="0">
                            <a:latin typeface="Cambria Math" panose="02040503050406030204" pitchFamily="18" charset="0"/>
                          </a:rPr>
                          <m:t>𝟑</m:t>
                        </m:r>
                      </m:e>
                    </m:rad>
                  </m:oMath>
                </a14:m>
                <a:r>
                  <a:rPr lang="zh-CN" altLang="en-US" b="1" dirty="0"/>
                  <a:t>细分</a:t>
                </a:r>
                <a:r>
                  <a:rPr lang="en-US" altLang="zh-CN" b="1" dirty="0"/>
                  <a:t>-</a:t>
                </a:r>
                <a:r>
                  <a:rPr lang="zh-CN" altLang="en-US" b="1" dirty="0"/>
                  <a:t>实验流程</a:t>
                </a:r>
                <a:r>
                  <a:rPr lang="en-US" altLang="zh-CN" b="1" dirty="0"/>
                  <a:t>-1</a:t>
                </a:r>
                <a:endParaRPr lang="zh-CN" altLang="en-US" b="1" dirty="0"/>
              </a:p>
            </p:txBody>
          </p:sp>
        </mc:Choice>
        <mc:Fallback xmlns="">
          <p:sp>
            <p:nvSpPr>
              <p:cNvPr id="2" name="标题 1">
                <a:extLst>
                  <a:ext uri="{FF2B5EF4-FFF2-40B4-BE49-F238E27FC236}">
                    <a16:creationId xmlns:a16="http://schemas.microsoft.com/office/drawing/2014/main" id="{D7408180-6C4F-30AB-2AD0-42A0D2F8F1CD}"/>
                  </a:ext>
                </a:extLst>
              </p:cNvPr>
              <p:cNvSpPr>
                <a:spLocks noGrp="1" noRot="1" noChangeAspect="1" noMove="1" noResize="1" noEditPoints="1" noAdjustHandles="1" noChangeArrowheads="1" noChangeShapeType="1" noTextEdit="1"/>
              </p:cNvSpPr>
              <p:nvPr>
                <p:ph type="title"/>
              </p:nvPr>
            </p:nvSpPr>
            <p:spPr>
              <a:blipFill>
                <a:blip r:embed="rId2"/>
                <a:stretch>
                  <a:fillRect b="-9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70D6B7B-2BDC-BD53-4702-2ECFB07162B2}"/>
                  </a:ext>
                </a:extLst>
              </p:cNvPr>
              <p:cNvSpPr txBox="1"/>
              <p:nvPr userDrawn="1"/>
            </p:nvSpPr>
            <p:spPr>
              <a:xfrm>
                <a:off x="616471" y="1315883"/>
                <a:ext cx="10515600" cy="5779264"/>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编写程序</a:t>
                </a:r>
                <a:r>
                  <a:rPr lang="en-US" altLang="zh-CN" sz="2400" dirty="0"/>
                  <a:t>root3Subdivision.h</a:t>
                </a:r>
              </a:p>
              <a:p>
                <a:pPr marL="1143000" lvl="2" indent="-228600" defTabSz="0">
                  <a:lnSpc>
                    <a:spcPct val="145000"/>
                  </a:lnSpc>
                  <a:spcBef>
                    <a:spcPts val="500"/>
                  </a:spcBef>
                  <a:spcAft>
                    <a:spcPct val="0"/>
                  </a:spcAft>
                  <a:buFont typeface="Arial" panose="020B0604020202020204" pitchFamily="34" charset="0"/>
                  <a:buChar char="•"/>
                </a:pPr>
                <a:r>
                  <a:rPr lang="zh-CN" altLang="en-US" sz="2000" dirty="0"/>
                  <a:t>利用系统提供的模型读入接口读入模型，模型被读入后存储在系统的网格拓扑数据结构中</a:t>
                </a:r>
                <a:endParaRPr lang="en-US" altLang="zh-CN" sz="2000" dirty="0"/>
              </a:p>
              <a:p>
                <a:pPr marL="1143000" lvl="2" indent="-228600" defTabSz="0">
                  <a:lnSpc>
                    <a:spcPct val="145000"/>
                  </a:lnSpc>
                  <a:spcBef>
                    <a:spcPts val="500"/>
                  </a:spcBef>
                  <a:spcAft>
                    <a:spcPct val="0"/>
                  </a:spcAft>
                  <a:buFont typeface="Arial" panose="020B0604020202020204" pitchFamily="34" charset="0"/>
                  <a:buChar char="•"/>
                </a:pPr>
                <a:r>
                  <a:rPr lang="zh-CN" altLang="en-US" sz="2000" dirty="0"/>
                  <a:t>基于系统提供的网格拓扑结构实现</a:t>
                </a:r>
                <a14:m>
                  <m:oMath xmlns:m="http://schemas.openxmlformats.org/officeDocument/2006/math">
                    <m:rad>
                      <m:radPr>
                        <m:degHide m:val="on"/>
                        <m:ctrlPr>
                          <a:rPr lang="en-US" altLang="zh-CN" sz="2000" i="1" dirty="0" smtClean="0">
                            <a:latin typeface="Cambria Math" panose="02040503050406030204" pitchFamily="18" charset="0"/>
                          </a:rPr>
                        </m:ctrlPr>
                      </m:radPr>
                      <m:deg/>
                      <m:e>
                        <m:r>
                          <a:rPr lang="en-US" altLang="zh-CN" sz="2000" i="1" dirty="0" smtClean="0">
                            <a:latin typeface="Cambria Math" panose="02040503050406030204" pitchFamily="18" charset="0"/>
                          </a:rPr>
                          <m:t>3</m:t>
                        </m:r>
                      </m:e>
                    </m:rad>
                  </m:oMath>
                </a14:m>
                <a:r>
                  <a:rPr lang="zh-CN" altLang="en-US" sz="2000" dirty="0"/>
                  <a:t>细分算法</a:t>
                </a:r>
                <a:endParaRPr lang="en-US" altLang="zh-CN" sz="2000" dirty="0"/>
              </a:p>
              <a:p>
                <a:pPr marL="1143000" lvl="2" indent="-228600" defTabSz="0">
                  <a:lnSpc>
                    <a:spcPct val="145000"/>
                  </a:lnSpc>
                  <a:spcBef>
                    <a:spcPts val="500"/>
                  </a:spcBef>
                  <a:spcAft>
                    <a:spcPct val="0"/>
                  </a:spcAft>
                  <a:buFont typeface="Arial" panose="020B0604020202020204" pitchFamily="34" charset="0"/>
                  <a:buChar char="•"/>
                </a:pPr>
                <a:r>
                  <a:rPr lang="zh-CN" altLang="en-US" sz="2000" dirty="0"/>
                  <a:t>继承系统提供的求解器虚基类，重写基类中的虚函数来调用自己实现的</a:t>
                </a:r>
                <a14:m>
                  <m:oMath xmlns:m="http://schemas.openxmlformats.org/officeDocument/2006/math">
                    <m:rad>
                      <m:radPr>
                        <m:degHide m:val="on"/>
                        <m:ctrlPr>
                          <a:rPr lang="en-US" altLang="zh-CN" sz="2000" i="1" dirty="0">
                            <a:latin typeface="Cambria Math" panose="02040503050406030204" pitchFamily="18" charset="0"/>
                          </a:rPr>
                        </m:ctrlPr>
                      </m:radPr>
                      <m:deg/>
                      <m:e>
                        <m:r>
                          <a:rPr lang="en-US" altLang="zh-CN" sz="2000" i="1" dirty="0">
                            <a:latin typeface="Cambria Math" panose="02040503050406030204" pitchFamily="18" charset="0"/>
                          </a:rPr>
                          <m:t>3</m:t>
                        </m:r>
                      </m:e>
                    </m:rad>
                  </m:oMath>
                </a14:m>
                <a:r>
                  <a:rPr lang="zh-CN" altLang="en-US" sz="2000" dirty="0"/>
                  <a:t>算法。将 程序文件保存在</a:t>
                </a:r>
                <a:r>
                  <a:rPr lang="en-US" altLang="zh-CN" sz="2000" dirty="0"/>
                  <a:t>lib/algorithms </a:t>
                </a:r>
                <a:r>
                  <a:rPr lang="zh-CN" altLang="en-US" sz="2000" dirty="0"/>
                  <a:t>文件夹下</a:t>
                </a:r>
                <a:endParaRPr lang="en-US" altLang="zh-CN" sz="20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在</a:t>
                </a:r>
                <a:r>
                  <a:rPr lang="en-US" altLang="zh-CN" sz="2400" dirty="0"/>
                  <a:t>main.cpp </a:t>
                </a:r>
                <a:r>
                  <a:rPr lang="zh-CN" altLang="en-US" sz="2400" dirty="0"/>
                  <a:t>中注册刚才实现的算法，实例化一个求解器对象，将指针保存在列表中</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在命令行中进行系统的编译和运行。编译前可以需要在</a:t>
                </a:r>
                <a:r>
                  <a:rPr lang="en-US" altLang="zh-CN" sz="2400" dirty="0"/>
                  <a:t>CMakeList.txt </a:t>
                </a:r>
                <a:r>
                  <a:rPr lang="zh-CN" altLang="en-US" sz="2400" dirty="0"/>
                  <a:t>中添加自己需要的编译选项</a:t>
                </a:r>
                <a:endParaRPr lang="en-US" altLang="zh-CN" sz="2400" dirty="0"/>
              </a:p>
            </p:txBody>
          </p:sp>
        </mc:Choice>
        <mc:Fallback xmlns="">
          <p:sp>
            <p:nvSpPr>
              <p:cNvPr id="4" name="文本框 3">
                <a:extLst>
                  <a:ext uri="{FF2B5EF4-FFF2-40B4-BE49-F238E27FC236}">
                    <a16:creationId xmlns:a16="http://schemas.microsoft.com/office/drawing/2014/main" id="{270D6B7B-2BDC-BD53-4702-2ECFB07162B2}"/>
                  </a:ext>
                </a:extLst>
              </p:cNvPr>
              <p:cNvSpPr txBox="1">
                <a:spLocks noRot="1" noChangeAspect="1" noMove="1" noResize="1" noEditPoints="1" noAdjustHandles="1" noChangeArrowheads="1" noChangeShapeType="1" noTextEdit="1"/>
              </p:cNvSpPr>
              <p:nvPr userDrawn="1"/>
            </p:nvSpPr>
            <p:spPr>
              <a:xfrm>
                <a:off x="616471" y="1315883"/>
                <a:ext cx="10515600" cy="5779264"/>
              </a:xfrm>
              <a:prstGeom prst="rect">
                <a:avLst/>
              </a:prstGeom>
              <a:blipFill>
                <a:blip r:embed="rId3"/>
                <a:stretch>
                  <a:fillRect r="-4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32847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18B8C-61B2-05F6-790D-B20F98A213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4251B4F1-0AF6-A02E-7A70-D08820BC4064}"/>
                  </a:ext>
                </a:extLst>
              </p:cNvPr>
              <p:cNvSpPr>
                <a:spLocks noGrp="1"/>
              </p:cNvSpPr>
              <p:nvPr>
                <p:ph type="title"/>
              </p:nvPr>
            </p:nvSpPr>
            <p:spPr/>
            <p:txBody>
              <a:bodyPr/>
              <a:lstStyle/>
              <a:p>
                <a14:m>
                  <m:oMath xmlns:m="http://schemas.openxmlformats.org/officeDocument/2006/math">
                    <m:rad>
                      <m:radPr>
                        <m:degHide m:val="on"/>
                        <m:ctrlPr>
                          <a:rPr lang="en-US" altLang="zh-CN" b="1" i="1" dirty="0">
                            <a:latin typeface="Cambria Math" panose="02040503050406030204" pitchFamily="18" charset="0"/>
                          </a:rPr>
                        </m:ctrlPr>
                      </m:radPr>
                      <m:deg/>
                      <m:e>
                        <m:r>
                          <a:rPr lang="en-US" altLang="zh-CN" b="1" i="1" dirty="0">
                            <a:latin typeface="Cambria Math" panose="02040503050406030204" pitchFamily="18" charset="0"/>
                          </a:rPr>
                          <m:t>𝟑</m:t>
                        </m:r>
                      </m:e>
                    </m:rad>
                  </m:oMath>
                </a14:m>
                <a:r>
                  <a:rPr lang="zh-CN" altLang="en-US" b="1" dirty="0"/>
                  <a:t>细分</a:t>
                </a:r>
                <a:r>
                  <a:rPr lang="en-US" altLang="zh-CN" b="1" dirty="0"/>
                  <a:t>-</a:t>
                </a:r>
                <a:r>
                  <a:rPr lang="zh-CN" altLang="en-US" b="1" dirty="0"/>
                  <a:t>实验流程</a:t>
                </a:r>
                <a:r>
                  <a:rPr lang="en-US" altLang="zh-CN" b="1" dirty="0"/>
                  <a:t>-2</a:t>
                </a:r>
                <a:endParaRPr lang="zh-CN" altLang="en-US" b="1" dirty="0"/>
              </a:p>
            </p:txBody>
          </p:sp>
        </mc:Choice>
        <mc:Fallback xmlns="">
          <p:sp>
            <p:nvSpPr>
              <p:cNvPr id="2" name="标题 1">
                <a:extLst>
                  <a:ext uri="{FF2B5EF4-FFF2-40B4-BE49-F238E27FC236}">
                    <a16:creationId xmlns:a16="http://schemas.microsoft.com/office/drawing/2014/main" id="{4251B4F1-0AF6-A02E-7A70-D08820BC4064}"/>
                  </a:ext>
                </a:extLst>
              </p:cNvPr>
              <p:cNvSpPr>
                <a:spLocks noGrp="1" noRot="1" noChangeAspect="1" noMove="1" noResize="1" noEditPoints="1" noAdjustHandles="1" noChangeArrowheads="1" noChangeShapeType="1" noTextEdit="1"/>
              </p:cNvSpPr>
              <p:nvPr>
                <p:ph type="title"/>
              </p:nvPr>
            </p:nvSpPr>
            <p:spPr>
              <a:blipFill>
                <a:blip r:embed="rId2"/>
                <a:stretch>
                  <a:fillRect b="-922"/>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7C838FC7-83E8-E098-C929-BC9520C1ACFC}"/>
              </a:ext>
            </a:extLst>
          </p:cNvPr>
          <p:cNvSpPr txBox="1"/>
          <p:nvPr userDrawn="1"/>
        </p:nvSpPr>
        <p:spPr>
          <a:xfrm>
            <a:off x="616471" y="1473792"/>
            <a:ext cx="10515600" cy="5779264"/>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在图形界面中运行算法</a:t>
            </a:r>
            <a:endParaRPr lang="en-US" altLang="zh-CN" sz="2400" dirty="0"/>
          </a:p>
          <a:p>
            <a:pPr marL="1143000" lvl="2" indent="-228600" defTabSz="0">
              <a:lnSpc>
                <a:spcPct val="145000"/>
              </a:lnSpc>
              <a:spcBef>
                <a:spcPts val="500"/>
              </a:spcBef>
              <a:spcAft>
                <a:spcPct val="0"/>
              </a:spcAft>
              <a:buFont typeface="Arial" panose="020B0604020202020204" pitchFamily="34" charset="0"/>
              <a:buChar char="•"/>
            </a:pPr>
            <a:r>
              <a:rPr lang="zh-CN" altLang="en-US" sz="2000" dirty="0"/>
              <a:t>打开图形界面中的模型选项卡，任意选择一个模型，将模型加载并显示在屏幕上。随后打开图形界面中的算法选项卡，选择自己刚才注册的算法，运行算法，等待算法运行完毕后即可在屏幕上观察到结果</a:t>
            </a:r>
            <a:endParaRPr lang="en-US" altLang="zh-CN" sz="2000" dirty="0"/>
          </a:p>
        </p:txBody>
      </p:sp>
      <p:pic>
        <p:nvPicPr>
          <p:cNvPr id="8" name="图片 7" descr="图形用户界面&#10;&#10;AI 生成的内容可能不正确。">
            <a:extLst>
              <a:ext uri="{FF2B5EF4-FFF2-40B4-BE49-F238E27FC236}">
                <a16:creationId xmlns:a16="http://schemas.microsoft.com/office/drawing/2014/main" id="{4D4A48F6-5A83-16AF-68B2-BA594BF43164}"/>
              </a:ext>
            </a:extLst>
          </p:cNvPr>
          <p:cNvPicPr>
            <a:picLocks noChangeAspect="1"/>
          </p:cNvPicPr>
          <p:nvPr/>
        </p:nvPicPr>
        <p:blipFill>
          <a:blip r:embed="rId3"/>
          <a:stretch>
            <a:fillRect/>
          </a:stretch>
        </p:blipFill>
        <p:spPr>
          <a:xfrm>
            <a:off x="3565149" y="3548269"/>
            <a:ext cx="5061702" cy="3213858"/>
          </a:xfrm>
          <a:prstGeom prst="rect">
            <a:avLst/>
          </a:prstGeom>
        </p:spPr>
      </p:pic>
    </p:spTree>
    <p:extLst>
      <p:ext uri="{BB962C8B-B14F-4D97-AF65-F5344CB8AC3E}">
        <p14:creationId xmlns:p14="http://schemas.microsoft.com/office/powerpoint/2010/main" val="7431728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C0F1B-80B3-7D97-B2BB-88EED55008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14A849B-9FA7-8664-1277-3C079470E018}"/>
              </a:ext>
            </a:extLst>
          </p:cNvPr>
          <p:cNvSpPr>
            <a:spLocks noGrp="1"/>
          </p:cNvSpPr>
          <p:nvPr>
            <p:ph type="title"/>
          </p:nvPr>
        </p:nvSpPr>
        <p:spPr/>
        <p:txBody>
          <a:bodyPr/>
          <a:lstStyle/>
          <a:p>
            <a:r>
              <a:rPr lang="zh-CN" altLang="en-US" b="1" dirty="0"/>
              <a:t>结果对比</a:t>
            </a:r>
          </a:p>
        </p:txBody>
      </p:sp>
      <p:sp>
        <p:nvSpPr>
          <p:cNvPr id="4" name="文本框 3">
            <a:extLst>
              <a:ext uri="{FF2B5EF4-FFF2-40B4-BE49-F238E27FC236}">
                <a16:creationId xmlns:a16="http://schemas.microsoft.com/office/drawing/2014/main" id="{B8598F75-F682-C1E1-90C0-B63FF95A60A1}"/>
              </a:ext>
            </a:extLst>
          </p:cNvPr>
          <p:cNvSpPr txBox="1"/>
          <p:nvPr userDrawn="1"/>
        </p:nvSpPr>
        <p:spPr>
          <a:xfrm>
            <a:off x="616471" y="1328020"/>
            <a:ext cx="10515600" cy="5779264"/>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观察算法对模型顶点和面片数量的影响</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在算法选项卡中点击</a:t>
            </a:r>
            <a:r>
              <a:rPr lang="en-US" altLang="zh-CN" sz="2400" dirty="0"/>
              <a:t>Start Record </a:t>
            </a:r>
            <a:r>
              <a:rPr lang="zh-CN" altLang="en-US" sz="2400" dirty="0"/>
              <a:t>按钮开始录制，多次运行算法</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算法运行时模型顶点数量和面片数量将会被记录下来，勾选展示图像，可以观察到顶点数量和面片数量的对数曲线</a:t>
            </a:r>
            <a:endParaRPr lang="en-US" altLang="zh-CN" sz="2400" dirty="0"/>
          </a:p>
        </p:txBody>
      </p:sp>
      <p:pic>
        <p:nvPicPr>
          <p:cNvPr id="6" name="图片 5" descr="电脑萤幕画面&#10;&#10;AI 生成的内容可能不正确。">
            <a:extLst>
              <a:ext uri="{FF2B5EF4-FFF2-40B4-BE49-F238E27FC236}">
                <a16:creationId xmlns:a16="http://schemas.microsoft.com/office/drawing/2014/main" id="{F35D4745-7A8B-E853-7A1B-8A65E3B6A51E}"/>
              </a:ext>
            </a:extLst>
          </p:cNvPr>
          <p:cNvPicPr>
            <a:picLocks noChangeAspect="1"/>
          </p:cNvPicPr>
          <p:nvPr/>
        </p:nvPicPr>
        <p:blipFill>
          <a:blip r:embed="rId3"/>
          <a:stretch>
            <a:fillRect/>
          </a:stretch>
        </p:blipFill>
        <p:spPr>
          <a:xfrm>
            <a:off x="1026850" y="3822551"/>
            <a:ext cx="10138299" cy="2879338"/>
          </a:xfrm>
          <a:prstGeom prst="rect">
            <a:avLst/>
          </a:prstGeom>
        </p:spPr>
      </p:pic>
    </p:spTree>
    <p:extLst>
      <p:ext uri="{BB962C8B-B14F-4D97-AF65-F5344CB8AC3E}">
        <p14:creationId xmlns:p14="http://schemas.microsoft.com/office/powerpoint/2010/main" val="18606891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31326-695F-4A68-1824-23F0ADDDBB9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5CA7076-AAC1-3171-D9F4-993FEBEF07CA}"/>
              </a:ext>
            </a:extLst>
          </p:cNvPr>
          <p:cNvSpPr>
            <a:spLocks noGrp="1"/>
          </p:cNvSpPr>
          <p:nvPr>
            <p:ph type="title"/>
          </p:nvPr>
        </p:nvSpPr>
        <p:spPr/>
        <p:txBody>
          <a:bodyPr/>
          <a:lstStyle/>
          <a:p>
            <a:r>
              <a:rPr lang="zh-CN" altLang="en-US" b="1" dirty="0"/>
              <a:t>实验要求</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93A24B1-9E5A-27D3-F44A-A8E48E5DB996}"/>
                  </a:ext>
                </a:extLst>
              </p:cNvPr>
              <p:cNvSpPr txBox="1"/>
              <p:nvPr userDrawn="1"/>
            </p:nvSpPr>
            <p:spPr>
              <a:xfrm>
                <a:off x="616471" y="1473792"/>
                <a:ext cx="10515600" cy="5779264"/>
              </a:xfrm>
              <a:prstGeom prst="rect">
                <a:avLst/>
              </a:prstGeom>
            </p:spPr>
            <p:txBody>
              <a:bodyPr wrap="square" rtlCol="0">
                <a:noAutofit/>
              </a:bodyPr>
              <a:lstStyle/>
              <a:p>
                <a:pPr marL="685800" lvl="1" indent="-228600" defTabSz="0">
                  <a:lnSpc>
                    <a:spcPct val="145000"/>
                  </a:lnSpc>
                  <a:spcBef>
                    <a:spcPts val="500"/>
                  </a:spcBef>
                  <a:spcAft>
                    <a:spcPct val="0"/>
                  </a:spcAft>
                  <a:buFont typeface="Arial" panose="020B0604020202020204" pitchFamily="34" charset="0"/>
                  <a:buChar char="•"/>
                </a:pPr>
                <a:r>
                  <a:rPr lang="zh-CN" altLang="en-US" sz="2400" dirty="0"/>
                  <a:t>熟悉模拟框架程序的基本使用；</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使用系统中提供的网格拓扑编写网格处理的算法代码，实现</a:t>
                </a:r>
                <a:r>
                  <a:rPr lang="en-US" altLang="zh-CN" sz="2400" dirty="0"/>
                  <a:t>Loop</a:t>
                </a:r>
                <a:r>
                  <a:rPr lang="zh-CN" altLang="en-US" sz="2400" dirty="0"/>
                  <a:t>细分与</a:t>
                </a:r>
                <a14:m>
                  <m:oMath xmlns:m="http://schemas.openxmlformats.org/officeDocument/2006/math">
                    <m:rad>
                      <m:radPr>
                        <m:degHide m:val="on"/>
                        <m:ctrlPr>
                          <a:rPr lang="en-US" altLang="zh-CN" sz="2400" i="1" dirty="0" smtClean="0">
                            <a:latin typeface="Cambria Math" panose="02040503050406030204" pitchFamily="18" charset="0"/>
                          </a:rPr>
                        </m:ctrlPr>
                      </m:radPr>
                      <m:deg/>
                      <m:e>
                        <m:r>
                          <a:rPr lang="en-US" altLang="zh-CN" sz="2400" i="1" dirty="0" smtClean="0">
                            <a:latin typeface="Cambria Math" panose="02040503050406030204" pitchFamily="18" charset="0"/>
                          </a:rPr>
                          <m:t>3</m:t>
                        </m:r>
                      </m:e>
                    </m:rad>
                  </m:oMath>
                </a14:m>
                <a:r>
                  <a:rPr lang="zh-CN" altLang="en-US" sz="2400" dirty="0"/>
                  <a:t>细分方法，对比结果并进行分析；</a:t>
                </a:r>
                <a:endParaRPr lang="en-US" altLang="zh-CN" sz="2400" dirty="0"/>
              </a:p>
              <a:p>
                <a:pPr marL="685800" lvl="1" indent="-228600" defTabSz="0">
                  <a:lnSpc>
                    <a:spcPct val="145000"/>
                  </a:lnSpc>
                  <a:spcBef>
                    <a:spcPts val="500"/>
                  </a:spcBef>
                  <a:spcAft>
                    <a:spcPct val="0"/>
                  </a:spcAft>
                  <a:buFont typeface="Arial" panose="020B0604020202020204" pitchFamily="34" charset="0"/>
                  <a:buChar char="•"/>
                </a:pPr>
                <a:r>
                  <a:rPr lang="zh-CN" altLang="en-US" sz="2400" dirty="0"/>
                  <a:t>完成</a:t>
                </a:r>
                <a:r>
                  <a:rPr lang="en-US" altLang="zh-CN" sz="2400" dirty="0"/>
                  <a:t>“</a:t>
                </a:r>
                <a:r>
                  <a:rPr lang="zh-CN" altLang="en-US" sz="2400" dirty="0"/>
                  <a:t>实验总结</a:t>
                </a:r>
                <a:r>
                  <a:rPr lang="en-US" altLang="zh-CN" sz="2400" dirty="0"/>
                  <a:t>”</a:t>
                </a:r>
                <a:r>
                  <a:rPr lang="zh-CN" altLang="en-US" sz="2400" dirty="0"/>
                  <a:t>，篇幅控制在一页左右，以附件的形式上传至小雅平台。</a:t>
                </a:r>
              </a:p>
              <a:p>
                <a:pPr marL="685800" lvl="1" indent="-228600" defTabSz="0">
                  <a:lnSpc>
                    <a:spcPct val="145000"/>
                  </a:lnSpc>
                  <a:spcBef>
                    <a:spcPts val="500"/>
                  </a:spcBef>
                  <a:spcAft>
                    <a:spcPct val="0"/>
                  </a:spcAft>
                  <a:buFont typeface="Arial" panose="020B0604020202020204" pitchFamily="34" charset="0"/>
                  <a:buChar char="•"/>
                </a:pPr>
                <a:endParaRPr lang="zh-CN" altLang="en-US" sz="2400" dirty="0"/>
              </a:p>
            </p:txBody>
          </p:sp>
        </mc:Choice>
        <mc:Fallback xmlns="">
          <p:sp>
            <p:nvSpPr>
              <p:cNvPr id="4" name="文本框 3">
                <a:extLst>
                  <a:ext uri="{FF2B5EF4-FFF2-40B4-BE49-F238E27FC236}">
                    <a16:creationId xmlns:a16="http://schemas.microsoft.com/office/drawing/2014/main" id="{993A24B1-9E5A-27D3-F44A-A8E48E5DB996}"/>
                  </a:ext>
                </a:extLst>
              </p:cNvPr>
              <p:cNvSpPr txBox="1">
                <a:spLocks noRot="1" noChangeAspect="1" noMove="1" noResize="1" noEditPoints="1" noAdjustHandles="1" noChangeArrowheads="1" noChangeShapeType="1" noTextEdit="1"/>
              </p:cNvSpPr>
              <p:nvPr userDrawn="1"/>
            </p:nvSpPr>
            <p:spPr>
              <a:xfrm>
                <a:off x="616471" y="1473792"/>
                <a:ext cx="10515600" cy="5779264"/>
              </a:xfrm>
              <a:prstGeom prst="rect">
                <a:avLst/>
              </a:prstGeom>
              <a:blipFill>
                <a:blip r:embed="rId3"/>
                <a:stretch>
                  <a:fillRect r="-11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8517778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541</TotalTime>
  <Words>2815</Words>
  <Application>Microsoft Office PowerPoint</Application>
  <PresentationFormat>宽屏</PresentationFormat>
  <Paragraphs>251</Paragraphs>
  <Slides>36</Slides>
  <Notes>22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36</vt:i4>
      </vt:variant>
    </vt:vector>
  </HeadingPairs>
  <TitlesOfParts>
    <vt:vector size="42" baseType="lpstr">
      <vt:lpstr>等线</vt:lpstr>
      <vt:lpstr>等线 Light</vt:lpstr>
      <vt:lpstr>微软雅黑</vt:lpstr>
      <vt:lpstr>Arial</vt:lpstr>
      <vt:lpstr>Cambria Math</vt:lpstr>
      <vt:lpstr>Office 主题​​</vt:lpstr>
      <vt:lpstr>计算机图形学 实验九：实现网格细分算法</vt:lpstr>
      <vt:lpstr>实验内容</vt:lpstr>
      <vt:lpstr>环境配置</vt:lpstr>
      <vt:lpstr>编译说明</vt:lpstr>
      <vt:lpstr>编译说明-虚拟机-1</vt:lpstr>
      <vt:lpstr>编译说明-虚拟机-2</vt:lpstr>
      <vt:lpstr>编译说明-机房电脑</vt:lpstr>
      <vt:lpstr>编译说明-2</vt:lpstr>
      <vt:lpstr>编译说明-可能报错&amp;解决方法</vt:lpstr>
      <vt:lpstr>编译说明-可能报错&amp;解决方法</vt:lpstr>
      <vt:lpstr>编译说明-可能报错&amp;解决方法</vt:lpstr>
      <vt:lpstr>编译说明-可能报错&amp;解决方法</vt:lpstr>
      <vt:lpstr>编译说明-成功界面</vt:lpstr>
      <vt:lpstr>使用方法-Algorithms</vt:lpstr>
      <vt:lpstr>使用方法-Algorithms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Loop细分-实验流程-1</vt:lpstr>
      <vt:lpstr>Loop细分-实验流程-2</vt:lpstr>
      <vt:lpstr>PowerPoint 演示文稿</vt:lpstr>
      <vt:lpstr>PowerPoint 演示文稿</vt:lpstr>
      <vt:lpstr>PowerPoint 演示文稿</vt:lpstr>
      <vt:lpstr>PowerPoint 演示文稿</vt:lpstr>
      <vt:lpstr>PowerPoint 演示文稿</vt:lpstr>
      <vt:lpstr>√3细分-实验流程-1</vt:lpstr>
      <vt:lpstr>√3细分-实验流程-2</vt:lpstr>
      <vt:lpstr>结果对比</vt:lpstr>
      <vt:lpstr>实验要求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计算机图形学  实验五：仿真系统安装与使用</dc:title>
  <dc:creator>pc</dc:creator>
  <cp:lastModifiedBy>1193156762@qq.com</cp:lastModifiedBy>
  <cp:revision>45</cp:revision>
  <dcterms:created xsi:type="dcterms:W3CDTF">2025-11-13T08:54:04Z</dcterms:created>
  <dcterms:modified xsi:type="dcterms:W3CDTF">2025-12-21T13:51:26Z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EB416BC2F23240AAF204CC68626AB75E_42</vt:lpwstr>
  </property>
  <property fmtid="{D5CDD505-2E9C-101B-9397-08002B2CF9AE}" pid="3" name="KSOProductBuildVer">
    <vt:lpwstr>2052-12.9.0.23627</vt:lpwstr>
  </property>
</Properties>
</file>