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9" r:id="rId2"/>
    <p:sldId id="260" r:id="rId3"/>
    <p:sldId id="261" r:id="rId4"/>
    <p:sldId id="279" r:id="rId5"/>
    <p:sldId id="298" r:id="rId6"/>
    <p:sldId id="299" r:id="rId7"/>
    <p:sldId id="308" r:id="rId8"/>
    <p:sldId id="300" r:id="rId9"/>
    <p:sldId id="28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9" r:id="rId18"/>
    <p:sldId id="278" r:id="rId1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效果图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理解</a:t>
            </a:r>
            <a:r>
              <a:rPr lang="en-US" altLang="zh-CN"/>
              <a:t> Cook-Torrance BRDF </a:t>
            </a:r>
            <a:r>
              <a:rPr lang="zh-CN" altLang="en-US"/>
              <a:t>模型原理</a:t>
            </a:r>
          </a:p>
          <a:p>
            <a:r>
              <a:rPr lang="zh-CN" altLang="en-US"/>
              <a:t>实现</a:t>
            </a:r>
            <a:r>
              <a:rPr lang="en-US" altLang="zh-CN"/>
              <a:t>Cook-Torrance</a:t>
            </a:r>
            <a:r>
              <a:rPr lang="zh-CN" altLang="en-US"/>
              <a:t>模型</a:t>
            </a:r>
          </a:p>
          <a:p>
            <a:r>
              <a:rPr lang="zh-CN" altLang="en-US"/>
              <a:t>调研介质物理参数（折射率、粗糙度、反射率等），渲染锡、铜、碳、铁等材质外观</a:t>
            </a:r>
          </a:p>
          <a:p>
            <a:r>
              <a:rPr lang="zh-CN" altLang="en-US"/>
              <a:t>与</a:t>
            </a:r>
            <a:r>
              <a:rPr lang="en-US" altLang="zh-CN"/>
              <a:t>Phong</a:t>
            </a:r>
            <a:r>
              <a:rPr lang="zh-CN" altLang="en-US"/>
              <a:t>模型效果对比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61623" y="1902119"/>
            <a:ext cx="94688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800" b="1" dirty="0"/>
              <a:t>计算机图形学</a:t>
            </a:r>
            <a:br>
              <a:rPr lang="en-US" altLang="zh-CN" sz="4800" b="1" dirty="0"/>
            </a:br>
            <a:r>
              <a:rPr lang="zh-CN" altLang="en-US" sz="4800" b="1" dirty="0"/>
              <a:t>实验三：实现光线跟踪与加速算法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理解光线追踪（</a:t>
            </a:r>
            <a:r>
              <a:rPr lang="en-US" altLang="zh-CN" sz="2800" dirty="0"/>
              <a:t>Ray Tracing</a:t>
            </a:r>
            <a:r>
              <a:rPr lang="zh-CN" altLang="en-US" sz="2800" dirty="0"/>
              <a:t>）的基本原理与流程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掌握光线与几何体（球体、平面、三角形）的相交判定方法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了解全局光照的基本思想（反射、折射、阴影）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实现基础光线追踪渲染器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学习并实现光线加速结构 </a:t>
            </a:r>
            <a:r>
              <a:rPr lang="en-US" altLang="zh-CN" sz="2800" dirty="0"/>
              <a:t>KD-Tree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比较使用 </a:t>
            </a:r>
            <a:r>
              <a:rPr lang="en-US" altLang="zh-CN" sz="2800" dirty="0"/>
              <a:t>KD-Tree </a:t>
            </a:r>
            <a:r>
              <a:rPr lang="zh-CN" altLang="en-US" sz="2800" dirty="0"/>
              <a:t>前后渲染性能差异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理论背景-光线跟踪基本概念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光线追踪（</a:t>
            </a:r>
            <a:r>
              <a:rPr lang="en-US" altLang="zh-CN" sz="2800" dirty="0"/>
              <a:t>Ray Tracing</a:t>
            </a:r>
            <a:r>
              <a:rPr lang="zh-CN" altLang="en-US" sz="2800" dirty="0"/>
              <a:t>）是一种模拟光线传播的渲染算法。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通过从“相机视点”发射光线，计算与场景物体的交点及光照贡献。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核心目标：逼真地模拟反射、折射、阴影等光学现象。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2F9E-25E7-C12A-2B0D-9378A152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DA9F2-D133-3BC0-430A-6232E677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理论背景-光线追踪总体流程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0CB9B-5468-AB59-3C00-A793C67A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视点出发，每个像素发射一条或多条光线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计算光线与场景中物体的最近交点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根据交点法线、材质与光源方向计算颜色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若表面为镜面或透明，递归追踪反射</a:t>
            </a:r>
            <a:r>
              <a:rPr lang="en-US" altLang="zh-CN" sz="2800" dirty="0"/>
              <a:t>/</a:t>
            </a:r>
            <a:r>
              <a:rPr lang="zh-CN" altLang="en-US" sz="2800" dirty="0"/>
              <a:t>折射光线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合并多次结果，输出最终像素颜色</a:t>
            </a:r>
          </a:p>
        </p:txBody>
      </p:sp>
    </p:spTree>
    <p:extLst>
      <p:ext uri="{BB962C8B-B14F-4D97-AF65-F5344CB8AC3E}">
        <p14:creationId xmlns:p14="http://schemas.microsoft.com/office/powerpoint/2010/main" val="267971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22B3-F60D-F7D4-9262-AB0001ED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71186-CE87-4D7A-B812-30D44022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算法介绍-光线</a:t>
            </a:r>
            <a:r>
              <a:rPr lang="en-US" altLang="zh-CN" dirty="0"/>
              <a:t>-</a:t>
            </a:r>
            <a:r>
              <a:rPr lang="zh-CN" altLang="en-US" dirty="0"/>
              <a:t>物体相交检测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EAB2EA-3195-8E82-9237-A41E41795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核心步骤：求交运算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/>
                  <a:t>球体求交：解析方程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𝑡𝐷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/>
                  <a:t>平面求交：利用法线方程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/>
                  <a:t>三角形求交：课堂教授的算法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/>
                  <a:t>选择距离最近的交点作为像素颜色的计算基点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EAB2EA-3195-8E82-9237-A41E41795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37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CCE5-ECFB-2330-B457-E8EEBEC9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9B53F-11DB-7205-890C-4FD903F2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算法介绍-递归追踪机制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E89EB4-752F-D865-843A-2EC8D9FD32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镜面反射方向：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dirty="0"/>
                  <a:t>：入射光线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2800" dirty="0"/>
                  <a:t>：表面法线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800" dirty="0"/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2800" dirty="0"/>
                  <a:t>必须是规范化的单位向量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endParaRPr lang="en-US" altLang="zh-CN" sz="2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E89EB4-752F-D865-843A-2EC8D9FD3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72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5C2D-1A00-1BA3-F42F-C14526B5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2F1B1-837B-9538-7BFB-CC9EEDC8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算法介绍-递归追踪机制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A26C07-9133-FA65-D861-F8A4B8545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折射方向（斯涅尔定律）：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sz="2800" dirty="0"/>
                  <a:t>：入射介质与出射介质的折射率之比：</a:t>
                </a:r>
                <a:endParaRPr lang="en-US" altLang="zh-CN" sz="2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/>
                  <a:t>当折射公式根号内部不存在实数解时，程序应该放弃计算折射光线，而是将此次交互视为纯粹的镜面反射，并继续追踪反射光线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A26C07-9133-FA65-D861-F8A4B8545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28" y="1848616"/>
                <a:ext cx="10515600" cy="4351338"/>
              </a:xfrm>
              <a:blipFill>
                <a:blip r:embed="rId2"/>
                <a:stretch>
                  <a:fillRect l="-1043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C52392-FBD0-8C09-D3EC-9F5CE2F89AF2}"/>
                  </a:ext>
                </a:extLst>
              </p:cNvPr>
              <p:cNvSpPr txBox="1"/>
              <p:nvPr/>
            </p:nvSpPr>
            <p:spPr>
              <a:xfrm>
                <a:off x="2343867" y="2653269"/>
                <a:ext cx="7504234" cy="644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altLang="zh-CN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·</m:t>
                                          </m:r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sz="2800" b="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C52392-FBD0-8C09-D3EC-9F5CE2F8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867" y="2653269"/>
                <a:ext cx="7504234" cy="644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96CFF7-D2B6-8C4D-2A2A-34067AAC17AC}"/>
                  </a:ext>
                </a:extLst>
              </p:cNvPr>
              <p:cNvSpPr txBox="1"/>
              <p:nvPr/>
            </p:nvSpPr>
            <p:spPr>
              <a:xfrm>
                <a:off x="7931426" y="3293750"/>
                <a:ext cx="2940164" cy="672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000" i="0"/>
                            <m:t>入射介质折射率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000" i="0"/>
                            <m:t>出射介质折射率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96CFF7-D2B6-8C4D-2A2A-34067AAC1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426" y="3293750"/>
                <a:ext cx="2940164" cy="672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3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D52E-A41B-CCF9-4B14-38141405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031CA-CFBE-F748-F1F3-0FB14029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算法介绍-阴影与遮挡判断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B1A00-4546-C677-2C9D-E67F9F95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从交点向光源方向发射一条“阴影光线”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若光线在到达光源前与其他物体相交 → 当前点处于阴影中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阴影光线只检测其与场景中物体的相交性，若命中即停止并判断为阴影</a:t>
            </a:r>
          </a:p>
        </p:txBody>
      </p:sp>
    </p:spTree>
    <p:extLst>
      <p:ext uri="{BB962C8B-B14F-4D97-AF65-F5344CB8AC3E}">
        <p14:creationId xmlns:p14="http://schemas.microsoft.com/office/powerpoint/2010/main" val="328332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8C237-758B-DCAA-55E0-8264D47E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A6C76-C0D3-8EDB-60AD-3A8E2DD1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理论背景-为什么需要加速结构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6951D3-3765-A9F1-E9D2-316839BC3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光线追踪的瓶颈：大量的射线与物体相交计算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若场景包含上千个三角面片 → 每条光线都要检测所有物体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加速结构（</a:t>
            </a:r>
            <a:r>
              <a:rPr lang="en-US" altLang="zh-CN" sz="2800" dirty="0"/>
              <a:t>Acceleration Structure</a:t>
            </a:r>
            <a:r>
              <a:rPr lang="zh-CN" altLang="en-US" sz="2800" dirty="0"/>
              <a:t>）用于减少求交次数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KD-Tree </a:t>
            </a:r>
            <a:r>
              <a:rPr lang="zh-CN" altLang="en-US" sz="2800" dirty="0"/>
              <a:t>是一种高效的空间划分结构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995342A-4266-BBD6-85E5-53206024B1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46190E5-95AB-B03E-5AC7-3CD9E436C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08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2921-871E-83CB-B3AA-BBFEEF0B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229E6-D57B-4500-4875-B8507FC8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的基本思想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7E98-1598-C9C0-7D7B-DD12A4BEB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KD-Tree </a:t>
            </a:r>
            <a:r>
              <a:rPr lang="zh-CN" altLang="en-US" sz="2800" dirty="0"/>
              <a:t>是一种递归的二叉空间划分结构（</a:t>
            </a:r>
            <a:r>
              <a:rPr lang="en-US" altLang="zh-CN" sz="2800" dirty="0"/>
              <a:t>K-Dimensional Tree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在三维空间中划分空间的平面，通常被称为轴对齐划分平面 </a:t>
            </a:r>
            <a:r>
              <a:rPr lang="en-US" altLang="zh-CN" sz="2800" dirty="0"/>
              <a:t>(Axis-Aligned Splitting Plane)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每个节点仅包含落在该区域内的物体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射线求交时，仅访问与射线相交的子节点，大幅减少检测次数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EE3EF4B-1E3A-D8C8-9D64-FB93158CE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C9F33B53-650C-2596-5737-8C11A0044E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88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6B67-22EC-C793-DB6A-72DCE4EB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F3C6A-B3ED-1A2B-BED8-CD3C9D26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构建阶段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C27FE5-99AA-29A0-7493-39F1A3DD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从整个场景包围盒开始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选择划分轴（轮换使用</a:t>
            </a:r>
            <a:r>
              <a:rPr lang="en-US" altLang="zh-CN" sz="2800" dirty="0"/>
              <a:t>X/Y/Z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按中位数或代价函数（复杂）划分为左右两部分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递归处理，直到每个叶节点物体数小于阈值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53B5A56-710B-E002-12F8-B6DDF6100A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8AB1C18-56BD-0D6E-8D02-AB770F77C1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C785556-2726-C773-5817-94FF0FC89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743" y="3666168"/>
            <a:ext cx="3151560" cy="2996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07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4C50-B473-A51A-A86F-35AF3BDF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C0BDF-50B5-2685-07BB-83F5FD99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划分策略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8EFC9-BE2E-86E0-7895-5CF2C7BC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中值划分：保证左右节点物体数量接近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SAH (Surface Area Heuristic)</a:t>
            </a:r>
            <a:r>
              <a:rPr lang="zh-CN" altLang="en-US" sz="2800" dirty="0"/>
              <a:t>：计算不同划分下的预期代价，选择最优方案（自行研究决定是否使用）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平衡构建时间与查询效率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21E6661A-E10F-1FAA-B7A7-9F64EFA083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183D109D-1514-5A40-E0BC-18E9DD0999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15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2640-5CDC-ADE7-A3E9-E38EF9AD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5F66D-0225-07F8-3384-86DFF667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节点结构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52298F-3F15-4582-C376-0687CB062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包围盒（</a:t>
            </a:r>
            <a:r>
              <a:rPr lang="en-US" altLang="zh-CN" sz="2800" dirty="0"/>
              <a:t>Bounding Box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划分轴与划分位置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左右子节点指针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若为叶节点，存储物体索引列表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09E8525-C977-AE17-6549-1E08EFA71B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10E0EAE-C296-815A-CF31-CE2D22A30D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678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F0B5-6F22-A377-9C54-291003C8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56204-5E43-999C-9177-9D6EBD1B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查询阶段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EE9AF0-4308-B2D3-E8B9-C9C1853F7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光线与节点包围盒求交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若不相交 → 剪枝（跳过）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若相交 → 递归遍历左右子节点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在叶节点内执行光线</a:t>
            </a:r>
            <a:r>
              <a:rPr lang="en-US" altLang="zh-CN" sz="2800" dirty="0"/>
              <a:t>-</a:t>
            </a:r>
            <a:r>
              <a:rPr lang="zh-CN" altLang="en-US" sz="2800" dirty="0"/>
              <a:t>物体求交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保留距离最近的交点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D10B904E-9519-5D40-41F9-BE6E202C8C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E0C3324-C9BC-0536-3539-64D2435CCA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008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BB0F-1512-873F-1D5A-CDA92AAD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D1400-8219-84DB-9BB7-51A70C2B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3" y="523097"/>
            <a:ext cx="10872035" cy="1325563"/>
          </a:xfrm>
        </p:spPr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遍历过程</a:t>
            </a:r>
            <a:r>
              <a:rPr lang="en-US" altLang="zh-CN" dirty="0"/>
              <a:t>(</a:t>
            </a:r>
            <a:r>
              <a:rPr lang="zh-CN" altLang="en-US" dirty="0"/>
              <a:t>与</a:t>
            </a:r>
            <a:r>
              <a:rPr lang="en-US" altLang="zh-CN" dirty="0"/>
              <a:t>BSP</a:t>
            </a:r>
            <a:r>
              <a:rPr lang="zh-CN" altLang="en-US" dirty="0"/>
              <a:t>树类似）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69059-3E44-8B36-B4DD-CE12C0B9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从根节点开始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若光线未击中节点包围盒 → 返回空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若为叶节点 → 检查内部物体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否则：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递归进入靠近射线起点的子节点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若未找到命中，再进入远端子节点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C9CBBAF-F0DC-661E-9D84-6C0F450DAB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3F42E9A-A871-611F-7844-880E2D76F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723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49C2-455A-F987-D462-83883452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08595-FC4B-DAC5-537D-2099707F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理论背景-</a:t>
            </a:r>
            <a:r>
              <a:rPr lang="en-US" altLang="zh-CN" dirty="0"/>
              <a:t>KD-Tree </a:t>
            </a:r>
            <a:r>
              <a:rPr lang="zh-CN" altLang="en-US" dirty="0"/>
              <a:t>性能优势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1CC1A-A0A2-8597-3595-2C9BC718E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28" y="18486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对数级加速：从 </a:t>
            </a:r>
            <a:r>
              <a:rPr lang="en-US" altLang="zh-CN" sz="2800" dirty="0"/>
              <a:t>O(N) </a:t>
            </a:r>
            <a:r>
              <a:rPr lang="zh-CN" altLang="en-US" sz="2800" dirty="0"/>
              <a:t>降到 </a:t>
            </a:r>
            <a:r>
              <a:rPr lang="en-US" altLang="zh-CN" sz="2800" dirty="0"/>
              <a:t>O(log N) </a:t>
            </a:r>
            <a:r>
              <a:rPr lang="zh-CN" altLang="en-US" sz="2800" dirty="0"/>
              <a:t>查询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实际性能可提升 </a:t>
            </a:r>
            <a:r>
              <a:rPr lang="en-US" altLang="zh-CN" sz="2800" dirty="0"/>
              <a:t>10</a:t>
            </a:r>
            <a:r>
              <a:rPr lang="zh-CN" altLang="en-US" sz="2800" dirty="0"/>
              <a:t>～</a:t>
            </a:r>
            <a:r>
              <a:rPr lang="en-US" altLang="zh-CN" sz="2800" dirty="0"/>
              <a:t>100 </a:t>
            </a:r>
            <a:r>
              <a:rPr lang="zh-CN" altLang="en-US" sz="2800" dirty="0"/>
              <a:t>倍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特别适用于复杂场景或大量几何体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可与 </a:t>
            </a:r>
            <a:r>
              <a:rPr lang="en-US" altLang="zh-CN" sz="2800" dirty="0"/>
              <a:t>BVH</a:t>
            </a:r>
            <a:r>
              <a:rPr lang="zh-CN" altLang="en-US" sz="2800" dirty="0"/>
              <a:t>、</a:t>
            </a:r>
            <a:r>
              <a:rPr lang="en-US" altLang="zh-CN" sz="2800" dirty="0"/>
              <a:t>Grid </a:t>
            </a:r>
            <a:r>
              <a:rPr lang="zh-CN" altLang="en-US" sz="2800" dirty="0"/>
              <a:t>等结构结合进一步优化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CBB281A-15D1-72E7-B820-B138D2F26F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FDB6D79-9948-93DD-D9A8-6B0DA4A6C8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24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康奈尔盒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558356" y="1690670"/>
            <a:ext cx="6570172" cy="4472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计算机图形学领域中一个经典的虚拟场景模型，被广泛用于测试和验证各种渲染算法。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一个简单的三维封闭空间，通常由六个平面构成，内部包含一些基本几何形状以及一到两个光源。为了便于观察光线的效果，盒子的内壁通常是不同的颜色或材质，比如白色、红色和绿色。</a:t>
            </a:r>
          </a:p>
          <a:p>
            <a:pPr lvl="1">
              <a:lnSpc>
                <a:spcPct val="150000"/>
              </a:lnSpc>
            </a:pPr>
            <a:endParaRPr lang="zh-CN" altLang="en-US" sz="24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7651" name="Picture 3"/>
          <p:cNvPicPr>
            <a:picLocks noChangeAspect="1"/>
          </p:cNvPicPr>
          <p:nvPr/>
        </p:nvPicPr>
        <p:blipFill>
          <a:blip r:embed="rId3"/>
          <a:srcRect l="3694" t="1766" r="56481" b="9450"/>
          <a:stretch>
            <a:fillRect/>
          </a:stretch>
        </p:blipFill>
        <p:spPr>
          <a:xfrm>
            <a:off x="7364226" y="1690670"/>
            <a:ext cx="3989490" cy="4292205"/>
          </a:xfrm>
          <a:prstGeom prst="rect">
            <a:avLst/>
          </a:prstGeom>
          <a:noFill/>
          <a:ln w="2857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实验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要求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838297" y="1607299"/>
            <a:ext cx="10515600" cy="4472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掌握光线追踪与加速的基本原理与流程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实现基础光线追踪渲染器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学习并实现光线加速结构 </a:t>
            </a:r>
            <a:r>
              <a:rPr lang="en-US" altLang="zh-CN" dirty="0"/>
              <a:t>KD-Tree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比较使用 </a:t>
            </a:r>
            <a:r>
              <a:rPr lang="en-US" altLang="zh-CN" dirty="0"/>
              <a:t>KD-Tree </a:t>
            </a:r>
            <a:r>
              <a:rPr lang="zh-CN" altLang="en-US" dirty="0"/>
              <a:t>前后渲染性能差异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完成</a:t>
            </a:r>
            <a:r>
              <a:rPr lang="en-US" altLang="zh-CN" dirty="0"/>
              <a:t>“</a:t>
            </a:r>
            <a:r>
              <a:rPr lang="zh-CN" altLang="en-US" dirty="0"/>
              <a:t>实验总结</a:t>
            </a:r>
            <a:r>
              <a:rPr lang="en-US" altLang="zh-CN" dirty="0"/>
              <a:t>”</a:t>
            </a:r>
            <a:r>
              <a:rPr lang="zh-CN" altLang="en-US" dirty="0"/>
              <a:t>，篇幅控制在一页左右，以附件的形式上传至小雅平台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950</Words>
  <Application>Microsoft Office PowerPoint</Application>
  <PresentationFormat>宽屏</PresentationFormat>
  <Paragraphs>96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微软雅黑</vt:lpstr>
      <vt:lpstr>Arial</vt:lpstr>
      <vt:lpstr>Calibri</vt:lpstr>
      <vt:lpstr>Cambria Math</vt:lpstr>
      <vt:lpstr>Office 主题</vt:lpstr>
      <vt:lpstr>计算机图形学 实验三：实现光线跟踪与加速算法</vt:lpstr>
      <vt:lpstr>实验目标</vt:lpstr>
      <vt:lpstr>理论背景-光线跟踪基本概念</vt:lpstr>
      <vt:lpstr>理论背景-光线追踪总体流程</vt:lpstr>
      <vt:lpstr>算法介绍-光线-物体相交检测</vt:lpstr>
      <vt:lpstr>算法介绍-递归追踪机制</vt:lpstr>
      <vt:lpstr>算法介绍-递归追踪机制</vt:lpstr>
      <vt:lpstr>算法介绍-阴影与遮挡判断</vt:lpstr>
      <vt:lpstr>理论背景-为什么需要加速结构</vt:lpstr>
      <vt:lpstr>理论背景-KD-Tree 的基本思想</vt:lpstr>
      <vt:lpstr>理论背景-KD-Tree 构建阶段</vt:lpstr>
      <vt:lpstr>理论背景-KD-Tree 划分策略</vt:lpstr>
      <vt:lpstr>理论背景-KD-Tree 节点结构</vt:lpstr>
      <vt:lpstr>理论背景-KD-Tree 查询阶段</vt:lpstr>
      <vt:lpstr>理论背景-KD-Tree 遍历过程(与BSP树类似）</vt:lpstr>
      <vt:lpstr>理论背景-KD-Tree 性能优势</vt:lpstr>
      <vt:lpstr>康奈尔盒</vt:lpstr>
      <vt:lpstr>实验要求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实验三：基于Cook-Torrance模型的渲染算法实现</dc:title>
  <dc:creator>lhw</dc:creator>
  <cp:lastModifiedBy>pc</cp:lastModifiedBy>
  <cp:revision>16</cp:revision>
  <dcterms:created xsi:type="dcterms:W3CDTF">2025-09-25T03:29:54Z</dcterms:created>
  <dcterms:modified xsi:type="dcterms:W3CDTF">2025-10-22T04:47:40Z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2052-12.9.0.23097</vt:lpwstr>
  </property>
  <property fmtid="{D5CDD505-2E9C-101B-9397-08002B2CF9AE}" pid="3" name="ICV">
    <vt:lpwstr>B75C98F4C40948689CB49D1002CA5FAC</vt:lpwstr>
  </property>
</Properties>
</file>