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66" r:id="rId3"/>
    <p:sldId id="370" r:id="rId4"/>
    <p:sldId id="281" r:id="rId5"/>
    <p:sldId id="358" r:id="rId6"/>
    <p:sldId id="360" r:id="rId7"/>
    <p:sldId id="371" r:id="rId8"/>
    <p:sldId id="372" r:id="rId9"/>
    <p:sldId id="373" r:id="rId10"/>
    <p:sldId id="374" r:id="rId11"/>
    <p:sldId id="375" r:id="rId12"/>
    <p:sldId id="376" r:id="rId13"/>
    <p:sldId id="302" r:id="rId14"/>
    <p:sldId id="335" r:id="rId15"/>
    <p:sldId id="355" r:id="rId16"/>
    <p:sldId id="356" r:id="rId17"/>
    <p:sldId id="354" r:id="rId18"/>
    <p:sldId id="352" r:id="rId19"/>
    <p:sldId id="353" r:id="rId20"/>
    <p:sldId id="336" r:id="rId21"/>
    <p:sldId id="357" r:id="rId22"/>
    <p:sldId id="337" r:id="rId23"/>
    <p:sldId id="338" r:id="rId24"/>
    <p:sldId id="339" r:id="rId25"/>
    <p:sldId id="330" r:id="rId26"/>
    <p:sldId id="341" r:id="rId27"/>
    <p:sldId id="346" r:id="rId28"/>
    <p:sldId id="344" r:id="rId29"/>
    <p:sldId id="368" r:id="rId30"/>
    <p:sldId id="362" r:id="rId31"/>
    <p:sldId id="366" r:id="rId32"/>
    <p:sldId id="363" r:id="rId33"/>
    <p:sldId id="364" r:id="rId34"/>
    <p:sldId id="365" r:id="rId35"/>
    <p:sldId id="367" r:id="rId36"/>
    <p:sldId id="342" r:id="rId37"/>
    <p:sldId id="359"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1A1A93A-E54C-4F74-BC6D-94BF28794697}">
          <p14:sldIdLst>
            <p14:sldId id="256"/>
            <p14:sldId id="266"/>
            <p14:sldId id="370"/>
            <p14:sldId id="281"/>
            <p14:sldId id="358"/>
            <p14:sldId id="360"/>
            <p14:sldId id="371"/>
            <p14:sldId id="372"/>
            <p14:sldId id="373"/>
            <p14:sldId id="374"/>
            <p14:sldId id="375"/>
            <p14:sldId id="376"/>
            <p14:sldId id="302"/>
            <p14:sldId id="335"/>
            <p14:sldId id="355"/>
            <p14:sldId id="356"/>
            <p14:sldId id="354"/>
            <p14:sldId id="352"/>
            <p14:sldId id="353"/>
            <p14:sldId id="336"/>
            <p14:sldId id="357"/>
            <p14:sldId id="337"/>
            <p14:sldId id="338"/>
            <p14:sldId id="339"/>
            <p14:sldId id="330"/>
            <p14:sldId id="341"/>
            <p14:sldId id="346"/>
            <p14:sldId id="344"/>
            <p14:sldId id="368"/>
            <p14:sldId id="362"/>
            <p14:sldId id="366"/>
            <p14:sldId id="363"/>
            <p14:sldId id="364"/>
            <p14:sldId id="365"/>
            <p14:sldId id="367"/>
            <p14:sldId id="342"/>
            <p14:sldId id="3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559" autoAdjust="0"/>
  </p:normalViewPr>
  <p:slideViewPr>
    <p:cSldViewPr snapToGrid="0">
      <p:cViewPr varScale="1">
        <p:scale>
          <a:sx n="48" d="100"/>
          <a:sy n="48" d="100"/>
        </p:scale>
        <p:origin x="64"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B22FE-3380-40FC-AD51-FABA7F0B2AF2}" type="datetimeFigureOut">
              <a:rPr lang="zh-CN" altLang="en-US" smtClean="0"/>
              <a:t>2025-12-20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261ED-8B89-4665-8824-4B8326212B1D}" type="slidenum">
              <a:rPr lang="zh-CN" altLang="en-US" smtClean="0"/>
              <a:t>‹#›</a:t>
            </a:fld>
            <a:endParaRPr lang="zh-CN" altLang="en-US"/>
          </a:p>
        </p:txBody>
      </p:sp>
    </p:spTree>
    <p:extLst>
      <p:ext uri="{BB962C8B-B14F-4D97-AF65-F5344CB8AC3E}">
        <p14:creationId xmlns:p14="http://schemas.microsoft.com/office/powerpoint/2010/main" val="3474476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找不到</a:t>
            </a:r>
            <a:r>
              <a:rPr lang="en-US" altLang="zh-CN" dirty="0"/>
              <a:t>glad</a:t>
            </a:r>
          </a:p>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4</a:t>
            </a:fld>
            <a:endParaRPr lang="zh-CN" altLang="en-US"/>
          </a:p>
        </p:txBody>
      </p:sp>
    </p:spTree>
    <p:extLst>
      <p:ext uri="{BB962C8B-B14F-4D97-AF65-F5344CB8AC3E}">
        <p14:creationId xmlns:p14="http://schemas.microsoft.com/office/powerpoint/2010/main" val="1166805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429F-9904-CACE-4725-BBB3A963AD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E4F841-54C9-D67B-CF2E-8B40559A53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00F0EE-D624-3201-D9D5-70C397681F3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5BF314-C5F4-1731-E63D-4E35D2FE82F1}"/>
              </a:ext>
            </a:extLst>
          </p:cNvPr>
          <p:cNvSpPr>
            <a:spLocks noGrp="1"/>
          </p:cNvSpPr>
          <p:nvPr>
            <p:ph type="sldNum" sz="quarter" idx="5"/>
          </p:nvPr>
        </p:nvSpPr>
        <p:spPr/>
        <p:txBody>
          <a:bodyPr/>
          <a:lstStyle/>
          <a:p>
            <a:fld id="{9E7261ED-8B89-4665-8824-4B8326212B1D}" type="slidenum">
              <a:rPr lang="zh-CN" altLang="en-US" smtClean="0"/>
              <a:t>5</a:t>
            </a:fld>
            <a:endParaRPr lang="zh-CN" altLang="en-US"/>
          </a:p>
        </p:txBody>
      </p:sp>
    </p:spTree>
    <p:extLst>
      <p:ext uri="{BB962C8B-B14F-4D97-AF65-F5344CB8AC3E}">
        <p14:creationId xmlns:p14="http://schemas.microsoft.com/office/powerpoint/2010/main" val="203682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5225-9BC8-25BC-DCF6-0F2515BC94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A6CBB2-21E3-5298-9708-4BB218D7AB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AE9F9C-E85E-D09A-A051-D5F73A9991C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654E30-1123-4C43-F6D0-4343B2FB08BB}"/>
              </a:ext>
            </a:extLst>
          </p:cNvPr>
          <p:cNvSpPr>
            <a:spLocks noGrp="1"/>
          </p:cNvSpPr>
          <p:nvPr>
            <p:ph type="sldNum" sz="quarter" idx="5"/>
          </p:nvPr>
        </p:nvSpPr>
        <p:spPr/>
        <p:txBody>
          <a:bodyPr/>
          <a:lstStyle/>
          <a:p>
            <a:fld id="{9E7261ED-8B89-4665-8824-4B8326212B1D}" type="slidenum">
              <a:rPr lang="zh-CN" altLang="en-US" smtClean="0"/>
              <a:t>6</a:t>
            </a:fld>
            <a:endParaRPr lang="zh-CN" altLang="en-US"/>
          </a:p>
        </p:txBody>
      </p:sp>
    </p:spTree>
    <p:extLst>
      <p:ext uri="{BB962C8B-B14F-4D97-AF65-F5344CB8AC3E}">
        <p14:creationId xmlns:p14="http://schemas.microsoft.com/office/powerpoint/2010/main" val="50197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7</a:t>
            </a:fld>
            <a:endParaRPr lang="zh-CN" altLang="en-US"/>
          </a:p>
        </p:txBody>
      </p:sp>
    </p:spTree>
    <p:extLst>
      <p:ext uri="{BB962C8B-B14F-4D97-AF65-F5344CB8AC3E}">
        <p14:creationId xmlns:p14="http://schemas.microsoft.com/office/powerpoint/2010/main" val="1811492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52A9-AF64-5A32-A1CD-38ADF9A92C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9CE623-9BD9-10B4-3266-68936C94CF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EA47A7-42FD-D29C-51A0-33330C8F0F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6F5671-CFC6-C2E3-E23E-9F36430DCD1B}"/>
              </a:ext>
            </a:extLst>
          </p:cNvPr>
          <p:cNvSpPr>
            <a:spLocks noGrp="1"/>
          </p:cNvSpPr>
          <p:nvPr>
            <p:ph type="sldNum" sz="quarter" idx="5"/>
          </p:nvPr>
        </p:nvSpPr>
        <p:spPr/>
        <p:txBody>
          <a:bodyPr/>
          <a:lstStyle/>
          <a:p>
            <a:fld id="{9E7261ED-8B89-4665-8824-4B8326212B1D}" type="slidenum">
              <a:rPr lang="zh-CN" altLang="en-US" smtClean="0"/>
              <a:t>8</a:t>
            </a:fld>
            <a:endParaRPr lang="zh-CN" altLang="en-US"/>
          </a:p>
        </p:txBody>
      </p:sp>
    </p:spTree>
    <p:extLst>
      <p:ext uri="{BB962C8B-B14F-4D97-AF65-F5344CB8AC3E}">
        <p14:creationId xmlns:p14="http://schemas.microsoft.com/office/powerpoint/2010/main" val="3388309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10</a:t>
            </a:fld>
            <a:endParaRPr lang="zh-CN" altLang="en-US"/>
          </a:p>
        </p:txBody>
      </p:sp>
    </p:spTree>
    <p:extLst>
      <p:ext uri="{BB962C8B-B14F-4D97-AF65-F5344CB8AC3E}">
        <p14:creationId xmlns:p14="http://schemas.microsoft.com/office/powerpoint/2010/main" val="3676233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EF619-ADC2-1E07-2C56-18A718D57A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51FCE2-621E-D0E7-F5D4-01D5D82093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2D5AE5-8AD9-AC39-621B-F40C3E7B77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997126D-9AC3-5576-D5E3-F1FB96CB4709}"/>
              </a:ext>
            </a:extLst>
          </p:cNvPr>
          <p:cNvSpPr>
            <a:spLocks noGrp="1"/>
          </p:cNvSpPr>
          <p:nvPr>
            <p:ph type="sldNum" sz="quarter" idx="5"/>
          </p:nvPr>
        </p:nvSpPr>
        <p:spPr/>
        <p:txBody>
          <a:bodyPr/>
          <a:lstStyle/>
          <a:p>
            <a:fld id="{9E7261ED-8B89-4665-8824-4B8326212B1D}" type="slidenum">
              <a:rPr lang="zh-CN" altLang="en-US" smtClean="0"/>
              <a:t>11</a:t>
            </a:fld>
            <a:endParaRPr lang="zh-CN" altLang="en-US"/>
          </a:p>
        </p:txBody>
      </p:sp>
    </p:spTree>
    <p:extLst>
      <p:ext uri="{BB962C8B-B14F-4D97-AF65-F5344CB8AC3E}">
        <p14:creationId xmlns:p14="http://schemas.microsoft.com/office/powerpoint/2010/main" val="2054866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A345-7E04-5A6F-DECD-DEF54FD5A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C1813D-4DB9-86B5-494A-181A0A63E9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FCA6B7-EB86-929B-277E-A21EDBD826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C83F447-8860-C3FF-B665-72BC7F6DF4A7}"/>
              </a:ext>
            </a:extLst>
          </p:cNvPr>
          <p:cNvSpPr>
            <a:spLocks noGrp="1"/>
          </p:cNvSpPr>
          <p:nvPr>
            <p:ph type="sldNum" sz="quarter" idx="5"/>
          </p:nvPr>
        </p:nvSpPr>
        <p:spPr/>
        <p:txBody>
          <a:bodyPr/>
          <a:lstStyle/>
          <a:p>
            <a:fld id="{9E7261ED-8B89-4665-8824-4B8326212B1D}" type="slidenum">
              <a:rPr lang="zh-CN" altLang="en-US" smtClean="0"/>
              <a:t>12</a:t>
            </a:fld>
            <a:endParaRPr lang="zh-CN" altLang="en-US"/>
          </a:p>
        </p:txBody>
      </p:sp>
    </p:spTree>
    <p:extLst>
      <p:ext uri="{BB962C8B-B14F-4D97-AF65-F5344CB8AC3E}">
        <p14:creationId xmlns:p14="http://schemas.microsoft.com/office/powerpoint/2010/main" val="906565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17</a:t>
            </a:fld>
            <a:endParaRPr lang="zh-CN" altLang="en-US"/>
          </a:p>
        </p:txBody>
      </p:sp>
    </p:spTree>
    <p:extLst>
      <p:ext uri="{BB962C8B-B14F-4D97-AF65-F5344CB8AC3E}">
        <p14:creationId xmlns:p14="http://schemas.microsoft.com/office/powerpoint/2010/main" val="2613192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1E73D-597E-5417-51AE-489A0529CE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D31351-A30E-588E-8590-1A220441C8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137423-4521-EBA0-6F3A-8416D55844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82EAFA-6FC4-E0C6-AF26-08DA85A03945}"/>
              </a:ext>
            </a:extLst>
          </p:cNvPr>
          <p:cNvSpPr>
            <a:spLocks noGrp="1"/>
          </p:cNvSpPr>
          <p:nvPr>
            <p:ph type="sldNum" sz="quarter" idx="5"/>
          </p:nvPr>
        </p:nvSpPr>
        <p:spPr/>
        <p:txBody>
          <a:bodyPr/>
          <a:lstStyle/>
          <a:p>
            <a:fld id="{9E7261ED-8B89-4665-8824-4B8326212B1D}" type="slidenum">
              <a:rPr lang="zh-CN" altLang="en-US" smtClean="0"/>
              <a:t>18</a:t>
            </a:fld>
            <a:endParaRPr lang="zh-CN" altLang="en-US"/>
          </a:p>
        </p:txBody>
      </p:sp>
    </p:spTree>
    <p:extLst>
      <p:ext uri="{BB962C8B-B14F-4D97-AF65-F5344CB8AC3E}">
        <p14:creationId xmlns:p14="http://schemas.microsoft.com/office/powerpoint/2010/main" val="3166437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61770-D305-EC86-1FE8-6E8A78E593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33591B-8094-CE4C-BBD6-9B92002513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2491EC-BEEC-DC16-06E3-34E4D6CF71D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E7557D2-F412-7445-8219-C10E2A97E179}"/>
              </a:ext>
            </a:extLst>
          </p:cNvPr>
          <p:cNvSpPr>
            <a:spLocks noGrp="1"/>
          </p:cNvSpPr>
          <p:nvPr>
            <p:ph type="sldNum" sz="quarter" idx="5"/>
          </p:nvPr>
        </p:nvSpPr>
        <p:spPr/>
        <p:txBody>
          <a:bodyPr/>
          <a:lstStyle/>
          <a:p>
            <a:fld id="{9E7261ED-8B89-4665-8824-4B8326212B1D}" type="slidenum">
              <a:rPr lang="zh-CN" altLang="en-US" smtClean="0"/>
              <a:t>19</a:t>
            </a:fld>
            <a:endParaRPr lang="zh-CN" altLang="en-US"/>
          </a:p>
        </p:txBody>
      </p:sp>
    </p:spTree>
    <p:extLst>
      <p:ext uri="{BB962C8B-B14F-4D97-AF65-F5344CB8AC3E}">
        <p14:creationId xmlns:p14="http://schemas.microsoft.com/office/powerpoint/2010/main" val="1702487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23</a:t>
            </a:fld>
            <a:endParaRPr lang="zh-CN" altLang="en-US"/>
          </a:p>
        </p:txBody>
      </p:sp>
    </p:spTree>
    <p:extLst>
      <p:ext uri="{BB962C8B-B14F-4D97-AF65-F5344CB8AC3E}">
        <p14:creationId xmlns:p14="http://schemas.microsoft.com/office/powerpoint/2010/main" val="3602175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28</a:t>
            </a:fld>
            <a:endParaRPr lang="zh-CN" altLang="en-US"/>
          </a:p>
        </p:txBody>
      </p:sp>
    </p:spTree>
    <p:extLst>
      <p:ext uri="{BB962C8B-B14F-4D97-AF65-F5344CB8AC3E}">
        <p14:creationId xmlns:p14="http://schemas.microsoft.com/office/powerpoint/2010/main" val="2297607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D4A48-DD8A-A226-1089-FF11406FDE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FC8487-2307-51DD-4C39-7035D8DAFD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ACBC42-9FC1-8723-F12F-E0A00982C0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C59649-8325-F6FD-7627-7ED078ACDFA1}"/>
              </a:ext>
            </a:extLst>
          </p:cNvPr>
          <p:cNvSpPr>
            <a:spLocks noGrp="1"/>
          </p:cNvSpPr>
          <p:nvPr>
            <p:ph type="sldNum" sz="quarter" idx="5"/>
          </p:nvPr>
        </p:nvSpPr>
        <p:spPr/>
        <p:txBody>
          <a:bodyPr/>
          <a:lstStyle/>
          <a:p>
            <a:fld id="{9E7261ED-8B89-4665-8824-4B8326212B1D}" type="slidenum">
              <a:rPr lang="zh-CN" altLang="en-US" smtClean="0"/>
              <a:t>29</a:t>
            </a:fld>
            <a:endParaRPr lang="zh-CN" altLang="en-US"/>
          </a:p>
        </p:txBody>
      </p:sp>
    </p:spTree>
    <p:extLst>
      <p:ext uri="{BB962C8B-B14F-4D97-AF65-F5344CB8AC3E}">
        <p14:creationId xmlns:p14="http://schemas.microsoft.com/office/powerpoint/2010/main" val="1641549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44E5-1EE3-6982-E368-D1FA99A482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85AE45-4FF6-3179-37EC-FB6AA58827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3FE084-56DF-5158-CEC7-5E3C7809E77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89E35D-1437-064F-1D96-AA35B7589ED5}"/>
              </a:ext>
            </a:extLst>
          </p:cNvPr>
          <p:cNvSpPr>
            <a:spLocks noGrp="1"/>
          </p:cNvSpPr>
          <p:nvPr>
            <p:ph type="sldNum" sz="quarter" idx="5"/>
          </p:nvPr>
        </p:nvSpPr>
        <p:spPr/>
        <p:txBody>
          <a:bodyPr/>
          <a:lstStyle/>
          <a:p>
            <a:fld id="{9E7261ED-8B89-4665-8824-4B8326212B1D}" type="slidenum">
              <a:rPr lang="zh-CN" altLang="en-US" smtClean="0"/>
              <a:t>30</a:t>
            </a:fld>
            <a:endParaRPr lang="zh-CN" altLang="en-US"/>
          </a:p>
        </p:txBody>
      </p:sp>
    </p:spTree>
    <p:extLst>
      <p:ext uri="{BB962C8B-B14F-4D97-AF65-F5344CB8AC3E}">
        <p14:creationId xmlns:p14="http://schemas.microsoft.com/office/powerpoint/2010/main" val="968240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1A91-0FA1-A381-6E66-6661F99694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0A70B0-2FA7-477A-EA13-B850799071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F2BB20-22F3-9F85-776A-A3B1CDA285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973D73-FD04-95C1-9658-002C8E0FB06C}"/>
              </a:ext>
            </a:extLst>
          </p:cNvPr>
          <p:cNvSpPr>
            <a:spLocks noGrp="1"/>
          </p:cNvSpPr>
          <p:nvPr>
            <p:ph type="sldNum" sz="quarter" idx="5"/>
          </p:nvPr>
        </p:nvSpPr>
        <p:spPr/>
        <p:txBody>
          <a:bodyPr/>
          <a:lstStyle/>
          <a:p>
            <a:fld id="{9E7261ED-8B89-4665-8824-4B8326212B1D}" type="slidenum">
              <a:rPr lang="zh-CN" altLang="en-US" smtClean="0"/>
              <a:t>31</a:t>
            </a:fld>
            <a:endParaRPr lang="zh-CN" altLang="en-US"/>
          </a:p>
        </p:txBody>
      </p:sp>
    </p:spTree>
    <p:extLst>
      <p:ext uri="{BB962C8B-B14F-4D97-AF65-F5344CB8AC3E}">
        <p14:creationId xmlns:p14="http://schemas.microsoft.com/office/powerpoint/2010/main" val="2252165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237C-2F2E-2C42-6709-F690A12BB4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DBB52E-87CE-D9E0-C6EB-92B454CBD1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9BD202-E398-69C0-C018-0667A255B08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096A8AD-48E3-6A02-5EFF-F6873B31B8EC}"/>
              </a:ext>
            </a:extLst>
          </p:cNvPr>
          <p:cNvSpPr>
            <a:spLocks noGrp="1"/>
          </p:cNvSpPr>
          <p:nvPr>
            <p:ph type="sldNum" sz="quarter" idx="5"/>
          </p:nvPr>
        </p:nvSpPr>
        <p:spPr/>
        <p:txBody>
          <a:bodyPr/>
          <a:lstStyle/>
          <a:p>
            <a:fld id="{9E7261ED-8B89-4665-8824-4B8326212B1D}" type="slidenum">
              <a:rPr lang="zh-CN" altLang="en-US" smtClean="0"/>
              <a:t>32</a:t>
            </a:fld>
            <a:endParaRPr lang="zh-CN" altLang="en-US"/>
          </a:p>
        </p:txBody>
      </p:sp>
    </p:spTree>
    <p:extLst>
      <p:ext uri="{BB962C8B-B14F-4D97-AF65-F5344CB8AC3E}">
        <p14:creationId xmlns:p14="http://schemas.microsoft.com/office/powerpoint/2010/main" val="1547641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6DB8-F890-724E-0DF4-37C1441EE1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5451E6-370C-D0A7-4C4F-5032E05169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B3EA2B-C95D-A55F-BD5C-81A56BE2CFE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71A602-7A20-BAFE-A7DA-59BE0E734459}"/>
              </a:ext>
            </a:extLst>
          </p:cNvPr>
          <p:cNvSpPr>
            <a:spLocks noGrp="1"/>
          </p:cNvSpPr>
          <p:nvPr>
            <p:ph type="sldNum" sz="quarter" idx="5"/>
          </p:nvPr>
        </p:nvSpPr>
        <p:spPr/>
        <p:txBody>
          <a:bodyPr/>
          <a:lstStyle/>
          <a:p>
            <a:fld id="{9E7261ED-8B89-4665-8824-4B8326212B1D}" type="slidenum">
              <a:rPr lang="zh-CN" altLang="en-US" smtClean="0"/>
              <a:t>33</a:t>
            </a:fld>
            <a:endParaRPr lang="zh-CN" altLang="en-US"/>
          </a:p>
        </p:txBody>
      </p:sp>
    </p:spTree>
    <p:extLst>
      <p:ext uri="{BB962C8B-B14F-4D97-AF65-F5344CB8AC3E}">
        <p14:creationId xmlns:p14="http://schemas.microsoft.com/office/powerpoint/2010/main" val="1829192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E63-4471-D675-41C3-B627FE2725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11079-5B8D-2570-8146-C447782216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782E46-4D8F-A553-1611-A55E95F2A7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5D63D33-EC17-6129-85DF-D1729998908D}"/>
              </a:ext>
            </a:extLst>
          </p:cNvPr>
          <p:cNvSpPr>
            <a:spLocks noGrp="1"/>
          </p:cNvSpPr>
          <p:nvPr>
            <p:ph type="sldNum" sz="quarter" idx="5"/>
          </p:nvPr>
        </p:nvSpPr>
        <p:spPr/>
        <p:txBody>
          <a:bodyPr/>
          <a:lstStyle/>
          <a:p>
            <a:fld id="{9E7261ED-8B89-4665-8824-4B8326212B1D}" type="slidenum">
              <a:rPr lang="zh-CN" altLang="en-US" smtClean="0"/>
              <a:t>34</a:t>
            </a:fld>
            <a:endParaRPr lang="zh-CN" altLang="en-US"/>
          </a:p>
        </p:txBody>
      </p:sp>
    </p:spTree>
    <p:extLst>
      <p:ext uri="{BB962C8B-B14F-4D97-AF65-F5344CB8AC3E}">
        <p14:creationId xmlns:p14="http://schemas.microsoft.com/office/powerpoint/2010/main" val="427556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AB29E-ECCF-E66C-0E43-D88195A70F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668403-46C8-A3C7-1EBA-F3DC7A11A6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9A0E33-0480-225D-3755-3C11757526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65ABC3-00F5-A142-A2BF-660A1B7786D5}"/>
              </a:ext>
            </a:extLst>
          </p:cNvPr>
          <p:cNvSpPr>
            <a:spLocks noGrp="1"/>
          </p:cNvSpPr>
          <p:nvPr>
            <p:ph type="sldNum" sz="quarter" idx="5"/>
          </p:nvPr>
        </p:nvSpPr>
        <p:spPr/>
        <p:txBody>
          <a:bodyPr/>
          <a:lstStyle/>
          <a:p>
            <a:fld id="{9E7261ED-8B89-4665-8824-4B8326212B1D}" type="slidenum">
              <a:rPr lang="zh-CN" altLang="en-US" smtClean="0"/>
              <a:t>35</a:t>
            </a:fld>
            <a:endParaRPr lang="zh-CN" altLang="en-US"/>
          </a:p>
        </p:txBody>
      </p:sp>
    </p:spTree>
    <p:extLst>
      <p:ext uri="{BB962C8B-B14F-4D97-AF65-F5344CB8AC3E}">
        <p14:creationId xmlns:p14="http://schemas.microsoft.com/office/powerpoint/2010/main" val="2806909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36</a:t>
            </a:fld>
            <a:endParaRPr lang="zh-CN" altLang="en-US"/>
          </a:p>
        </p:txBody>
      </p:sp>
    </p:spTree>
    <p:extLst>
      <p:ext uri="{BB962C8B-B14F-4D97-AF65-F5344CB8AC3E}">
        <p14:creationId xmlns:p14="http://schemas.microsoft.com/office/powerpoint/2010/main" val="65078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B244A-8914-5A44-5582-9DFF842A68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71E9BC-9C5D-1338-6AE8-68ADAAB0D7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4A9B83-45C9-CDBA-127C-B602EB4B3B0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1C8815D-1484-E753-AFDC-E9DA1AD88C6E}"/>
              </a:ext>
            </a:extLst>
          </p:cNvPr>
          <p:cNvSpPr>
            <a:spLocks noGrp="1"/>
          </p:cNvSpPr>
          <p:nvPr>
            <p:ph type="sldNum" sz="quarter" idx="5"/>
          </p:nvPr>
        </p:nvSpPr>
        <p:spPr/>
        <p:txBody>
          <a:bodyPr/>
          <a:lstStyle/>
          <a:p>
            <a:fld id="{9E7261ED-8B89-4665-8824-4B8326212B1D}" type="slidenum">
              <a:rPr lang="zh-CN" altLang="en-US" smtClean="0"/>
              <a:t>37</a:t>
            </a:fld>
            <a:endParaRPr lang="zh-CN" altLang="en-US"/>
          </a:p>
        </p:txBody>
      </p:sp>
    </p:spTree>
    <p:extLst>
      <p:ext uri="{BB962C8B-B14F-4D97-AF65-F5344CB8AC3E}">
        <p14:creationId xmlns:p14="http://schemas.microsoft.com/office/powerpoint/2010/main" val="187033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DB742-DDDC-43C5-AF8F-BCEB0D03C077}" type="datetimeFigureOut">
              <a:rPr lang="zh-CN" altLang="en-US" smtClean="0"/>
              <a:t>2025-12-20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3A6740-7301-4003-9525-7F11AF68177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ee.com/weather-forecast-hhh/geometry-algs.g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gitee.com/weather-forecast-hhh/geometry-algs/tree/mast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erlmint/glew-cmake.gi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38476" y="2165550"/>
            <a:ext cx="10715048"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计算机图形学</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实验八：</a:t>
            </a:r>
            <a:r>
              <a:rPr lang="zh-CN" altLang="en-US" b="1" dirty="0">
                <a:solidFill>
                  <a:schemeClr val="tx1"/>
                </a:solidFill>
                <a:latin typeface="微软雅黑" panose="020B0503020204020204" pitchFamily="34" charset="-122"/>
                <a:ea typeface="微软雅黑" panose="020B0503020204020204" pitchFamily="34" charset="-122"/>
              </a:rPr>
              <a:t>几何算法教学系统</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实验内容</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25000"/>
                  </a:lnSpc>
                </a:pPr>
                <a:r>
                  <a:rPr lang="zh-CN" altLang="en-US" dirty="0"/>
                  <a:t>在本地安装并部署授课组开发的服务于计算机图形学课程的几何算法教学系统</a:t>
                </a:r>
                <a:endParaRPr lang="en-US" altLang="zh-CN" dirty="0"/>
              </a:p>
              <a:p>
                <a:pPr>
                  <a:lnSpc>
                    <a:spcPct val="125000"/>
                  </a:lnSpc>
                </a:pPr>
                <a:r>
                  <a:rPr lang="zh-CN" altLang="en-US" dirty="0"/>
                  <a:t>熟悉模拟框架程序的基本使用，设置演示样例参数并观察演示样例结果</a:t>
                </a:r>
                <a:endParaRPr lang="en-US" altLang="zh-CN" dirty="0"/>
              </a:p>
              <a:p>
                <a:pPr>
                  <a:lnSpc>
                    <a:spcPct val="125000"/>
                  </a:lnSpc>
                </a:pPr>
                <a:r>
                  <a:rPr lang="zh-CN" altLang="en-US" dirty="0"/>
                  <a:t>对比分析</a:t>
                </a:r>
                <a:r>
                  <a:rPr lang="en-US" altLang="zh-CN" dirty="0"/>
                  <a:t>Loop</a:t>
                </a:r>
                <a:r>
                  <a:rPr lang="zh-CN" altLang="en-US" dirty="0"/>
                  <a:t>细分和</a:t>
                </a:r>
                <a14:m>
                  <m:oMath xmlns:m="http://schemas.openxmlformats.org/officeDocument/2006/math">
                    <m:rad>
                      <m:radPr>
                        <m:degHide m:val="on"/>
                        <m:ctrlPr>
                          <a:rPr lang="en-US" altLang="zh-CN" i="1" dirty="0" smtClean="0">
                            <a:latin typeface="Cambria Math" panose="02040503050406030204" pitchFamily="18" charset="0"/>
                          </a:rPr>
                        </m:ctrlPr>
                      </m:radPr>
                      <m:deg/>
                      <m:e>
                        <m:r>
                          <a:rPr lang="en-US" altLang="zh-CN" i="1" dirty="0" smtClean="0">
                            <a:latin typeface="Cambria Math" panose="02040503050406030204" pitchFamily="18" charset="0"/>
                          </a:rPr>
                          <m:t>3</m:t>
                        </m:r>
                      </m:e>
                    </m:rad>
                  </m:oMath>
                </a14:m>
                <a:r>
                  <a:rPr lang="zh-CN" altLang="en-US" dirty="0"/>
                  <a:t>细分的实验效果</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环境配置</a:t>
            </a:r>
          </a:p>
        </p:txBody>
      </p:sp>
      <p:sp>
        <p:nvSpPr>
          <p:cNvPr id="3" name="内容占位符 2"/>
          <p:cNvSpPr>
            <a:spLocks noGrp="1"/>
          </p:cNvSpPr>
          <p:nvPr>
            <p:ph idx="1"/>
          </p:nvPr>
        </p:nvSpPr>
        <p:spPr/>
        <p:txBody>
          <a:bodyPr/>
          <a:lstStyle/>
          <a:p>
            <a:pPr>
              <a:lnSpc>
                <a:spcPct val="125000"/>
              </a:lnSpc>
            </a:pPr>
            <a:r>
              <a:rPr lang="zh-CN" altLang="en-US" dirty="0"/>
              <a:t>操作系统</a:t>
            </a:r>
            <a:r>
              <a:rPr lang="en-US" altLang="zh-CN" dirty="0"/>
              <a:t>: Ubuntu 22.04.4 LTS x86_64</a:t>
            </a:r>
          </a:p>
          <a:p>
            <a:pPr lvl="1">
              <a:lnSpc>
                <a:spcPct val="125000"/>
              </a:lnSpc>
            </a:pPr>
            <a:r>
              <a:rPr lang="zh-CN" altLang="en-US" dirty="0"/>
              <a:t>如使用虚拟机，推荐使用</a:t>
            </a:r>
            <a:r>
              <a:rPr lang="en-US" altLang="zh-CN" dirty="0"/>
              <a:t>VMware</a:t>
            </a:r>
          </a:p>
          <a:p>
            <a:pPr>
              <a:lnSpc>
                <a:spcPct val="125000"/>
              </a:lnSpc>
            </a:pPr>
            <a:r>
              <a:rPr lang="zh-CN" altLang="en-US" dirty="0"/>
              <a:t>编译器：</a:t>
            </a:r>
            <a:r>
              <a:rPr lang="en-US" altLang="zh-CN" dirty="0"/>
              <a:t>g++ (Ubuntu 11.4.0-1ubuntu1~22.04) 11.4.0</a:t>
            </a:r>
          </a:p>
          <a:p>
            <a:pPr>
              <a:lnSpc>
                <a:spcPct val="125000"/>
              </a:lnSpc>
            </a:pPr>
            <a:r>
              <a:rPr lang="en-US" altLang="zh-CN" dirty="0"/>
              <a:t>OpenGL version string: 4.6 (Compatibility Profile) Mesa 23.2.1-1ubuntu3.1~22.04.2</a:t>
            </a:r>
          </a:p>
          <a:p>
            <a:pPr>
              <a:lnSpc>
                <a:spcPct val="125000"/>
              </a:lnSpc>
            </a:pPr>
            <a:r>
              <a:rPr lang="en-US" altLang="zh-CN" dirty="0" err="1"/>
              <a:t>CMake</a:t>
            </a:r>
            <a:r>
              <a:rPr lang="en-US" altLang="zh-CN" dirty="0"/>
              <a:t> version 3.22.1</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编译说明</a:t>
            </a:r>
          </a:p>
        </p:txBody>
      </p:sp>
      <p:sp>
        <p:nvSpPr>
          <p:cNvPr id="3" name="内容占位符 2"/>
          <p:cNvSpPr>
            <a:spLocks noGrp="1"/>
          </p:cNvSpPr>
          <p:nvPr>
            <p:ph idx="1"/>
          </p:nvPr>
        </p:nvSpPr>
        <p:spPr>
          <a:xfrm>
            <a:off x="726840" y="1690725"/>
            <a:ext cx="10515600" cy="4351338"/>
          </a:xfrm>
        </p:spPr>
        <p:txBody>
          <a:bodyPr>
            <a:normAutofit/>
          </a:bodyPr>
          <a:lstStyle/>
          <a:p>
            <a:pPr>
              <a:lnSpc>
                <a:spcPct val="125000"/>
              </a:lnSpc>
            </a:pPr>
            <a:r>
              <a:rPr lang="zh-CN" altLang="en-US" sz="2400" dirty="0"/>
              <a:t>克隆代码到仓库：</a:t>
            </a:r>
            <a:r>
              <a:rPr lang="en-US" altLang="zh-CN" sz="2400" dirty="0"/>
              <a:t>git clone </a:t>
            </a:r>
            <a:r>
              <a:rPr lang="en-US" altLang="zh-CN" sz="2400" dirty="0">
                <a:hlinkClick r:id="rId3"/>
              </a:rPr>
              <a:t>https://gitee.com/weather-forecast-hhh/geometry-algs.git</a:t>
            </a:r>
            <a:r>
              <a:rPr lang="en-US" altLang="zh-CN" sz="2400" dirty="0"/>
              <a:t> </a:t>
            </a:r>
            <a:r>
              <a:rPr lang="zh-CN" altLang="en-US" sz="2400" dirty="0"/>
              <a:t>或浏览 </a:t>
            </a:r>
            <a:r>
              <a:rPr lang="en-US" altLang="zh-CN" sz="2400" dirty="0">
                <a:hlinkClick r:id="rId4"/>
              </a:rPr>
              <a:t>https://gitee.com/weather-forecast-hhh/geometry-algs/tree/master</a:t>
            </a:r>
            <a:r>
              <a:rPr lang="en-US" altLang="zh-CN" sz="2400" dirty="0"/>
              <a:t> </a:t>
            </a:r>
            <a:r>
              <a:rPr lang="zh-CN" altLang="en-US" sz="2400" dirty="0"/>
              <a:t>下载</a:t>
            </a:r>
            <a:r>
              <a:rPr lang="en-US" altLang="zh-CN" sz="2400" dirty="0"/>
              <a:t>ZIP</a:t>
            </a:r>
            <a:r>
              <a:rPr lang="zh-CN" altLang="en-US" sz="2400" dirty="0"/>
              <a:t>文件并解压</a:t>
            </a:r>
          </a:p>
          <a:p>
            <a:pPr marL="457200" lvl="1" indent="0">
              <a:lnSpc>
                <a:spcPct val="125000"/>
              </a:lnSpc>
              <a:buNone/>
            </a:pPr>
            <a:endParaRPr lang="zh-CN" altLang="en-US" dirty="0"/>
          </a:p>
        </p:txBody>
      </p:sp>
      <p:pic>
        <p:nvPicPr>
          <p:cNvPr id="6" name="图片 5" descr="图形用户界面, 文本, 应用程序, 电子邮件&#10;&#10;AI 生成的内容可能不正确。">
            <a:extLst>
              <a:ext uri="{FF2B5EF4-FFF2-40B4-BE49-F238E27FC236}">
                <a16:creationId xmlns:a16="http://schemas.microsoft.com/office/drawing/2014/main" id="{5977D549-6706-F0D2-B80E-E48940C0F882}"/>
              </a:ext>
            </a:extLst>
          </p:cNvPr>
          <p:cNvPicPr>
            <a:picLocks noChangeAspect="1"/>
          </p:cNvPicPr>
          <p:nvPr/>
        </p:nvPicPr>
        <p:blipFill>
          <a:blip r:embed="rId5"/>
          <a:stretch>
            <a:fillRect/>
          </a:stretch>
        </p:blipFill>
        <p:spPr>
          <a:xfrm>
            <a:off x="6243406" y="3491144"/>
            <a:ext cx="5448940" cy="2822403"/>
          </a:xfrm>
          <a:prstGeom prst="rect">
            <a:avLst/>
          </a:prstGeom>
        </p:spPr>
      </p:pic>
      <p:sp>
        <p:nvSpPr>
          <p:cNvPr id="5" name="文本框 4">
            <a:extLst>
              <a:ext uri="{FF2B5EF4-FFF2-40B4-BE49-F238E27FC236}">
                <a16:creationId xmlns:a16="http://schemas.microsoft.com/office/drawing/2014/main" id="{3AAFC2CA-1590-0464-9878-9A0AE588EAFC}"/>
              </a:ext>
            </a:extLst>
          </p:cNvPr>
          <p:cNvSpPr txBox="1"/>
          <p:nvPr/>
        </p:nvSpPr>
        <p:spPr>
          <a:xfrm>
            <a:off x="726840" y="3491107"/>
            <a:ext cx="5369160" cy="1569660"/>
          </a:xfrm>
          <a:prstGeom prst="rect">
            <a:avLst/>
          </a:prstGeom>
          <a:noFill/>
        </p:spPr>
        <p:txBody>
          <a:bodyPr wrap="square">
            <a:spAutoFit/>
          </a:bodyPr>
          <a:lstStyle/>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推荐使用机房电脑</a:t>
            </a:r>
            <a:r>
              <a:rPr lang="zh-CN" altLang="en-US" sz="2400" dirty="0"/>
              <a:t>，选择</a:t>
            </a:r>
            <a:r>
              <a:rPr lang="en-US" altLang="zh-CN" sz="2400" dirty="0"/>
              <a:t>UOS</a:t>
            </a:r>
            <a:r>
              <a:rPr lang="zh-CN" altLang="en-US" sz="2400" dirty="0"/>
              <a:t>系统，代码在桌面下的</a:t>
            </a:r>
            <a:r>
              <a:rPr lang="en-US" altLang="zh-CN" sz="2400" dirty="0"/>
              <a:t>CG/geometry-</a:t>
            </a:r>
            <a:r>
              <a:rPr lang="en-US" altLang="zh-CN" sz="2400" dirty="0" err="1"/>
              <a:t>algs</a:t>
            </a:r>
            <a:r>
              <a:rPr lang="zh-CN" altLang="en-US" sz="2400" dirty="0"/>
              <a:t>中，已经配置好了所需环境，可直接跳转至</a:t>
            </a:r>
            <a:r>
              <a:rPr lang="zh-CN" altLang="en-US" sz="2400" b="1" dirty="0"/>
              <a:t>编译说明</a:t>
            </a:r>
            <a:r>
              <a:rPr lang="en-US" altLang="zh-CN" sz="2400" b="1" dirty="0"/>
              <a:t>-</a:t>
            </a:r>
            <a:r>
              <a:rPr lang="zh-CN" altLang="en-US" sz="2400" b="1" dirty="0"/>
              <a:t>机房电脑</a:t>
            </a:r>
            <a:r>
              <a:rPr lang="zh-CN" altLang="en-US" sz="24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17E9-2E96-C021-80BC-7161B071507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9B7422-E0FA-C4B0-C403-7D21390384D0}"/>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虚拟机</a:t>
            </a:r>
            <a:r>
              <a:rPr lang="en-US" altLang="zh-CN" b="1" dirty="0">
                <a:solidFill>
                  <a:schemeClr val="tx1"/>
                </a:solidFill>
                <a:cs typeface="Arial" panose="020B0604020202020204" pitchFamily="34" charset="0"/>
              </a:rPr>
              <a:t>-1</a:t>
            </a:r>
            <a:endParaRPr lang="zh-CN" altLang="en-US" dirty="0"/>
          </a:p>
        </p:txBody>
      </p:sp>
      <p:sp>
        <p:nvSpPr>
          <p:cNvPr id="5" name="内容占位符 4">
            <a:extLst>
              <a:ext uri="{FF2B5EF4-FFF2-40B4-BE49-F238E27FC236}">
                <a16:creationId xmlns:a16="http://schemas.microsoft.com/office/drawing/2014/main" id="{FEA6035F-01E4-5FBF-697E-343AA36E85EC}"/>
              </a:ext>
            </a:extLst>
          </p:cNvPr>
          <p:cNvSpPr>
            <a:spLocks noGrp="1"/>
          </p:cNvSpPr>
          <p:nvPr>
            <p:ph idx="1"/>
          </p:nvPr>
        </p:nvSpPr>
        <p:spPr>
          <a:xfrm>
            <a:off x="611429" y="1488503"/>
            <a:ext cx="11221729" cy="4351338"/>
          </a:xfrm>
        </p:spPr>
        <p:txBody>
          <a:bodyPr>
            <a:normAutofit/>
          </a:bodyPr>
          <a:lstStyle/>
          <a:p>
            <a:pPr>
              <a:lnSpc>
                <a:spcPct val="125000"/>
              </a:lnSpc>
            </a:pPr>
            <a:r>
              <a:rPr lang="zh-CN" altLang="en-US" sz="2400" dirty="0"/>
              <a:t>如使用虚拟机（</a:t>
            </a:r>
            <a:r>
              <a:rPr lang="en-US" altLang="zh-CN" sz="2400" dirty="0"/>
              <a:t>VMware</a:t>
            </a:r>
            <a:r>
              <a:rPr lang="zh-CN" altLang="en-US" sz="2400" dirty="0"/>
              <a:t>），则需按照以下步骤配置环境：</a:t>
            </a:r>
            <a:endParaRPr lang="en-US" altLang="zh-CN" sz="2400" dirty="0"/>
          </a:p>
          <a:p>
            <a:pPr lvl="1">
              <a:lnSpc>
                <a:spcPct val="125000"/>
              </a:lnSpc>
            </a:pPr>
            <a:r>
              <a:rPr lang="en-US" altLang="zh-CN" dirty="0" err="1"/>
              <a:t>sudo</a:t>
            </a:r>
            <a:r>
              <a:rPr lang="en-US" altLang="zh-CN" dirty="0"/>
              <a:t> apt-get update</a:t>
            </a:r>
          </a:p>
          <a:p>
            <a:pPr lvl="1">
              <a:lnSpc>
                <a:spcPct val="125000"/>
              </a:lnSpc>
            </a:pPr>
            <a:r>
              <a:rPr lang="en-US" altLang="zh-CN" dirty="0" err="1"/>
              <a:t>sudo</a:t>
            </a:r>
            <a:r>
              <a:rPr lang="en-US" altLang="zh-CN" dirty="0"/>
              <a:t> apt-get install build-essential </a:t>
            </a:r>
            <a:r>
              <a:rPr lang="en-US" altLang="zh-CN" dirty="0" err="1"/>
              <a:t>cmake</a:t>
            </a:r>
            <a:r>
              <a:rPr lang="en-US" altLang="zh-CN" dirty="0"/>
              <a:t> </a:t>
            </a:r>
            <a:r>
              <a:rPr lang="en-US" altLang="zh-CN" dirty="0" err="1"/>
              <a:t>libstdc</a:t>
            </a:r>
            <a:r>
              <a:rPr lang="en-US" altLang="zh-CN" dirty="0"/>
              <a:t>++6</a:t>
            </a:r>
          </a:p>
          <a:p>
            <a:pPr lvl="1">
              <a:lnSpc>
                <a:spcPct val="125000"/>
              </a:lnSpc>
            </a:pPr>
            <a:r>
              <a:rPr lang="en-US" altLang="zh-CN" dirty="0" err="1"/>
              <a:t>sudo</a:t>
            </a:r>
            <a:r>
              <a:rPr lang="en-US" altLang="zh-CN" dirty="0"/>
              <a:t> apt-get install libgl1-mesa-dev libglu1-mesa-dev freeglut3-dev </a:t>
            </a:r>
            <a:r>
              <a:rPr lang="en-US" altLang="zh-CN" dirty="0" err="1"/>
              <a:t>libxmu</a:t>
            </a:r>
            <a:r>
              <a:rPr lang="en-US" altLang="zh-CN" dirty="0"/>
              <a:t>-dev </a:t>
            </a:r>
            <a:r>
              <a:rPr lang="en-US" altLang="zh-CN" dirty="0" err="1"/>
              <a:t>libxi</a:t>
            </a:r>
            <a:r>
              <a:rPr lang="en-US" altLang="zh-CN" dirty="0"/>
              <a:t>-dev libglfw3-dev</a:t>
            </a:r>
          </a:p>
          <a:p>
            <a:pPr lvl="1">
              <a:lnSpc>
                <a:spcPct val="125000"/>
              </a:lnSpc>
            </a:pPr>
            <a:r>
              <a:rPr lang="en-US" altLang="zh-CN" dirty="0" err="1"/>
              <a:t>sudo</a:t>
            </a:r>
            <a:r>
              <a:rPr lang="en-US" altLang="zh-CN" dirty="0"/>
              <a:t> apt install mesa-utils</a:t>
            </a:r>
          </a:p>
          <a:p>
            <a:pPr lvl="1">
              <a:lnSpc>
                <a:spcPct val="125000"/>
              </a:lnSpc>
            </a:pPr>
            <a:r>
              <a:rPr lang="en-US" altLang="zh-CN" dirty="0" err="1"/>
              <a:t>glxinfo</a:t>
            </a:r>
            <a:r>
              <a:rPr lang="en-US" altLang="zh-CN" dirty="0"/>
              <a:t> | grep "OpenGL version" </a:t>
            </a:r>
            <a:r>
              <a:rPr lang="zh-CN" altLang="en-US" dirty="0"/>
              <a:t>（注意：引号需为英文引号）检查</a:t>
            </a:r>
            <a:r>
              <a:rPr lang="en-US" altLang="zh-CN" dirty="0" err="1"/>
              <a:t>opengl</a:t>
            </a:r>
            <a:r>
              <a:rPr lang="zh-CN" altLang="en-US" dirty="0"/>
              <a:t>环境是否配置成功，如成功显示</a:t>
            </a:r>
            <a:r>
              <a:rPr lang="en-US" altLang="zh-CN" dirty="0"/>
              <a:t>OpenGL version</a:t>
            </a:r>
            <a:r>
              <a:rPr lang="zh-CN" altLang="en-US" dirty="0"/>
              <a:t>详细信息则表示配置成功</a:t>
            </a:r>
            <a:endParaRPr lang="en-US" altLang="zh-CN" dirty="0"/>
          </a:p>
        </p:txBody>
      </p:sp>
      <p:pic>
        <p:nvPicPr>
          <p:cNvPr id="4" name="图片 3">
            <a:extLst>
              <a:ext uri="{FF2B5EF4-FFF2-40B4-BE49-F238E27FC236}">
                <a16:creationId xmlns:a16="http://schemas.microsoft.com/office/drawing/2014/main" id="{CF8FBFE1-5AE7-BE7B-B68A-76C30BBC2F07}"/>
              </a:ext>
            </a:extLst>
          </p:cNvPr>
          <p:cNvPicPr>
            <a:picLocks noChangeAspect="1"/>
          </p:cNvPicPr>
          <p:nvPr/>
        </p:nvPicPr>
        <p:blipFill>
          <a:blip r:embed="rId3"/>
          <a:stretch>
            <a:fillRect/>
          </a:stretch>
        </p:blipFill>
        <p:spPr>
          <a:xfrm>
            <a:off x="1499610" y="5835910"/>
            <a:ext cx="9854190" cy="587892"/>
          </a:xfrm>
          <a:prstGeom prst="rect">
            <a:avLst/>
          </a:prstGeom>
        </p:spPr>
      </p:pic>
    </p:spTree>
    <p:extLst>
      <p:ext uri="{BB962C8B-B14F-4D97-AF65-F5344CB8AC3E}">
        <p14:creationId xmlns:p14="http://schemas.microsoft.com/office/powerpoint/2010/main" val="3222476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64510-8140-B754-8553-2279EC19EA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9FCBB3-6426-5BB2-7A83-210B2D9E486A}"/>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虚拟机</a:t>
            </a:r>
            <a:r>
              <a:rPr lang="en-US" altLang="zh-CN" b="1" dirty="0">
                <a:solidFill>
                  <a:schemeClr val="tx1"/>
                </a:solidFill>
                <a:cs typeface="Arial" panose="020B0604020202020204" pitchFamily="34" charset="0"/>
              </a:rPr>
              <a:t>-2</a:t>
            </a:r>
            <a:endParaRPr lang="zh-CN" altLang="en-US" dirty="0"/>
          </a:p>
        </p:txBody>
      </p:sp>
      <p:sp>
        <p:nvSpPr>
          <p:cNvPr id="5" name="内容占位符 4">
            <a:extLst>
              <a:ext uri="{FF2B5EF4-FFF2-40B4-BE49-F238E27FC236}">
                <a16:creationId xmlns:a16="http://schemas.microsoft.com/office/drawing/2014/main" id="{2B52C7E1-C292-E52C-BC83-A0A9043AB2FE}"/>
              </a:ext>
            </a:extLst>
          </p:cNvPr>
          <p:cNvSpPr>
            <a:spLocks noGrp="1"/>
          </p:cNvSpPr>
          <p:nvPr>
            <p:ph idx="1"/>
          </p:nvPr>
        </p:nvSpPr>
        <p:spPr>
          <a:xfrm>
            <a:off x="611429" y="1488503"/>
            <a:ext cx="11221729" cy="4351338"/>
          </a:xfrm>
        </p:spPr>
        <p:txBody>
          <a:bodyPr>
            <a:normAutofit/>
          </a:bodyPr>
          <a:lstStyle/>
          <a:p>
            <a:pPr>
              <a:lnSpc>
                <a:spcPct val="125000"/>
              </a:lnSpc>
            </a:pPr>
            <a:r>
              <a:rPr lang="zh-CN" altLang="en-US" sz="2400" dirty="0"/>
              <a:t>如使用虚拟机（</a:t>
            </a:r>
            <a:r>
              <a:rPr lang="en-US" altLang="zh-CN" sz="2400" dirty="0"/>
              <a:t>VMware</a:t>
            </a:r>
            <a:r>
              <a:rPr lang="zh-CN" altLang="en-US" sz="2400" dirty="0"/>
              <a:t>），则需按照以下步骤配置环境：</a:t>
            </a:r>
            <a:endParaRPr lang="en-US" altLang="zh-CN" sz="2400" dirty="0"/>
          </a:p>
          <a:p>
            <a:pPr lvl="1">
              <a:lnSpc>
                <a:spcPct val="125000"/>
              </a:lnSpc>
            </a:pPr>
            <a:r>
              <a:rPr lang="en-US" altLang="zh-CN" dirty="0" err="1"/>
              <a:t>sudo</a:t>
            </a:r>
            <a:r>
              <a:rPr lang="en-US" altLang="zh-CN" dirty="0"/>
              <a:t> apt install </a:t>
            </a:r>
            <a:r>
              <a:rPr lang="en-US" altLang="zh-CN" dirty="0" err="1"/>
              <a:t>libwayland</a:t>
            </a:r>
            <a:r>
              <a:rPr lang="en-US" altLang="zh-CN" dirty="0"/>
              <a:t>-dev </a:t>
            </a:r>
            <a:r>
              <a:rPr lang="en-US" altLang="zh-CN" dirty="0" err="1"/>
              <a:t>libxkbcommon</a:t>
            </a:r>
            <a:r>
              <a:rPr lang="en-US" altLang="zh-CN" dirty="0"/>
              <a:t>-dev </a:t>
            </a:r>
            <a:r>
              <a:rPr lang="en-US" altLang="zh-CN" dirty="0" err="1"/>
              <a:t>xorg</a:t>
            </a:r>
            <a:r>
              <a:rPr lang="en-US" altLang="zh-CN" dirty="0"/>
              <a:t>-dev </a:t>
            </a:r>
          </a:p>
          <a:p>
            <a:pPr>
              <a:lnSpc>
                <a:spcPct val="125000"/>
              </a:lnSpc>
            </a:pPr>
            <a:r>
              <a:rPr lang="zh-CN" altLang="en-US" sz="2400" dirty="0"/>
              <a:t>系统已提供可直接运行的完整示例（该示例包含</a:t>
            </a:r>
            <a:r>
              <a:rPr lang="en-US" altLang="zh-CN" sz="2400" dirty="0"/>
              <a:t>Loop</a:t>
            </a:r>
            <a:r>
              <a:rPr lang="zh-CN" altLang="en-US" sz="2400" dirty="0"/>
              <a:t>细分、</a:t>
            </a:r>
            <a:r>
              <a:rPr lang="en-US" altLang="zh-CN" sz="2400" dirty="0"/>
              <a:t>Root3</a:t>
            </a:r>
            <a:r>
              <a:rPr lang="zh-CN" altLang="en-US" sz="2400" dirty="0"/>
              <a:t>细分等算法功能）</a:t>
            </a:r>
            <a:endParaRPr lang="en-US" altLang="zh-CN" sz="2400" dirty="0"/>
          </a:p>
          <a:p>
            <a:pPr lvl="1">
              <a:lnSpc>
                <a:spcPct val="125000"/>
              </a:lnSpc>
            </a:pPr>
            <a:r>
              <a:rPr lang="en-US" altLang="zh-CN" dirty="0"/>
              <a:t>cd elf</a:t>
            </a:r>
          </a:p>
          <a:p>
            <a:pPr lvl="1">
              <a:lnSpc>
                <a:spcPct val="125000"/>
              </a:lnSpc>
            </a:pPr>
            <a:r>
              <a:rPr lang="en-US" altLang="zh-CN" dirty="0"/>
              <a:t>export XDG_SESSION_TYPE=x11 </a:t>
            </a:r>
          </a:p>
          <a:p>
            <a:pPr lvl="2">
              <a:lnSpc>
                <a:spcPct val="125000"/>
              </a:lnSpc>
            </a:pPr>
            <a:r>
              <a:rPr lang="zh-CN" altLang="en-US" sz="2400" dirty="0"/>
              <a:t>每次新建终端运行时需要重复该条指令</a:t>
            </a:r>
            <a:endParaRPr lang="en-US" altLang="zh-CN" sz="2400" dirty="0"/>
          </a:p>
          <a:p>
            <a:pPr lvl="1">
              <a:lnSpc>
                <a:spcPct val="125000"/>
              </a:lnSpc>
            </a:pPr>
            <a:r>
              <a:rPr lang="en-US" altLang="zh-CN" dirty="0"/>
              <a:t>./main </a:t>
            </a:r>
            <a:r>
              <a:rPr lang="zh-CN" altLang="en-US" dirty="0"/>
              <a:t>即可打开演示程序</a:t>
            </a:r>
            <a:endParaRPr lang="en-US" altLang="zh-CN" dirty="0"/>
          </a:p>
          <a:p>
            <a:pPr marL="457200" lvl="1" indent="0">
              <a:lnSpc>
                <a:spcPct val="125000"/>
              </a:lnSpc>
              <a:buNone/>
            </a:pPr>
            <a:endParaRPr lang="en-US" altLang="zh-CN" dirty="0"/>
          </a:p>
        </p:txBody>
      </p:sp>
    </p:spTree>
    <p:extLst>
      <p:ext uri="{BB962C8B-B14F-4D97-AF65-F5344CB8AC3E}">
        <p14:creationId xmlns:p14="http://schemas.microsoft.com/office/powerpoint/2010/main" val="1663826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机房电脑</a:t>
            </a:r>
            <a:endParaRPr lang="zh-CN" altLang="en-US" dirty="0"/>
          </a:p>
        </p:txBody>
      </p:sp>
      <p:sp>
        <p:nvSpPr>
          <p:cNvPr id="5" name="内容占位符 4"/>
          <p:cNvSpPr>
            <a:spLocks noGrp="1"/>
          </p:cNvSpPr>
          <p:nvPr>
            <p:ph idx="1"/>
          </p:nvPr>
        </p:nvSpPr>
        <p:spPr>
          <a:xfrm>
            <a:off x="726839" y="1690725"/>
            <a:ext cx="11221729" cy="4351338"/>
          </a:xfrm>
        </p:spPr>
        <p:txBody>
          <a:bodyPr>
            <a:noAutofit/>
          </a:bodyPr>
          <a:lstStyle/>
          <a:p>
            <a:pPr>
              <a:lnSpc>
                <a:spcPct val="125000"/>
              </a:lnSpc>
            </a:pPr>
            <a:r>
              <a:rPr lang="zh-CN" altLang="en-US" sz="2400" dirty="0"/>
              <a:t>如使用机房电脑，则需按照以下步骤配置环境：</a:t>
            </a:r>
            <a:endParaRPr lang="en-US" altLang="zh-CN" sz="2400" dirty="0"/>
          </a:p>
          <a:p>
            <a:pPr lvl="1">
              <a:lnSpc>
                <a:spcPct val="125000"/>
              </a:lnSpc>
            </a:pPr>
            <a:r>
              <a:rPr lang="en-US" altLang="zh-CN" dirty="0" err="1"/>
              <a:t>sudo</a:t>
            </a:r>
            <a:r>
              <a:rPr lang="en-US" altLang="zh-CN" dirty="0"/>
              <a:t> apt install </a:t>
            </a:r>
            <a:r>
              <a:rPr lang="en-US" altLang="zh-CN" dirty="0" err="1"/>
              <a:t>libwayland</a:t>
            </a:r>
            <a:r>
              <a:rPr lang="en-US" altLang="zh-CN" dirty="0"/>
              <a:t>-dev </a:t>
            </a:r>
            <a:r>
              <a:rPr lang="en-US" altLang="zh-CN" dirty="0" err="1"/>
              <a:t>libxkbcommon</a:t>
            </a:r>
            <a:r>
              <a:rPr lang="en-US" altLang="zh-CN" dirty="0"/>
              <a:t>-dev </a:t>
            </a:r>
            <a:r>
              <a:rPr lang="en-US" altLang="zh-CN" dirty="0" err="1"/>
              <a:t>xorg</a:t>
            </a:r>
            <a:r>
              <a:rPr lang="en-US" altLang="zh-CN" dirty="0"/>
              <a:t>-dev </a:t>
            </a:r>
          </a:p>
          <a:p>
            <a:pPr>
              <a:lnSpc>
                <a:spcPct val="125000"/>
              </a:lnSpc>
            </a:pPr>
            <a:r>
              <a:rPr lang="zh-CN" altLang="en-US" sz="2400" dirty="0"/>
              <a:t>系统已提供可直接运行的完整示例（该示例包含</a:t>
            </a:r>
            <a:r>
              <a:rPr lang="en-US" altLang="zh-CN" sz="2400" dirty="0"/>
              <a:t>Loop</a:t>
            </a:r>
            <a:r>
              <a:rPr lang="zh-CN" altLang="en-US" sz="2400" dirty="0"/>
              <a:t>细分、</a:t>
            </a:r>
            <a:r>
              <a:rPr lang="en-US" altLang="zh-CN" sz="2400" dirty="0"/>
              <a:t>Root3</a:t>
            </a:r>
            <a:r>
              <a:rPr lang="zh-CN" altLang="en-US" sz="2400" dirty="0"/>
              <a:t>细分等算法功能）</a:t>
            </a:r>
            <a:endParaRPr lang="en-US" altLang="zh-CN" sz="2400" dirty="0"/>
          </a:p>
          <a:p>
            <a:pPr lvl="1">
              <a:lnSpc>
                <a:spcPct val="125000"/>
              </a:lnSpc>
            </a:pPr>
            <a:r>
              <a:rPr lang="en-US" altLang="zh-CN" dirty="0"/>
              <a:t>cd elf-18</a:t>
            </a:r>
          </a:p>
          <a:p>
            <a:pPr lvl="1">
              <a:lnSpc>
                <a:spcPct val="125000"/>
              </a:lnSpc>
            </a:pPr>
            <a:r>
              <a:rPr lang="en-US" altLang="zh-CN" dirty="0"/>
              <a:t>./main </a:t>
            </a:r>
            <a:r>
              <a:rPr lang="zh-CN" altLang="en-US" dirty="0"/>
              <a:t>即可打开演示程序</a:t>
            </a:r>
            <a:endParaRPr lang="en-US" altLang="zh-CN" dirty="0"/>
          </a:p>
          <a:p>
            <a:pPr marL="914400" lvl="2" indent="0">
              <a:lnSpc>
                <a:spcPct val="125000"/>
              </a:lnSpc>
              <a:buNone/>
            </a:pPr>
            <a:endParaRPr lang="en-US" altLang="zh-CN" sz="2200" dirty="0"/>
          </a:p>
          <a:p>
            <a:pPr>
              <a:lnSpc>
                <a:spcPct val="125000"/>
              </a:lnSpc>
            </a:pPr>
            <a:endParaRPr lang="en-US" altLang="zh-CN" sz="2200" dirty="0"/>
          </a:p>
          <a:p>
            <a:pPr>
              <a:lnSpc>
                <a:spcPct val="125000"/>
              </a:lnSpc>
            </a:pPr>
            <a:endParaRPr lang="zh-CN" alt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5D4A3-B585-4702-2BFD-FB059C754A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788274-914B-8566-E2AC-E00E7F69CA67}"/>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-2</a:t>
            </a:r>
            <a:endParaRPr lang="zh-CN" altLang="en-US" dirty="0"/>
          </a:p>
        </p:txBody>
      </p:sp>
      <p:sp>
        <p:nvSpPr>
          <p:cNvPr id="5" name="内容占位符 4">
            <a:extLst>
              <a:ext uri="{FF2B5EF4-FFF2-40B4-BE49-F238E27FC236}">
                <a16:creationId xmlns:a16="http://schemas.microsoft.com/office/drawing/2014/main" id="{33B12DB7-B907-55C7-E1B0-E5AF6567513A}"/>
              </a:ext>
            </a:extLst>
          </p:cNvPr>
          <p:cNvSpPr>
            <a:spLocks noGrp="1"/>
          </p:cNvSpPr>
          <p:nvPr>
            <p:ph idx="1"/>
          </p:nvPr>
        </p:nvSpPr>
        <p:spPr>
          <a:xfrm>
            <a:off x="726839" y="1690725"/>
            <a:ext cx="11221729" cy="4351338"/>
          </a:xfrm>
        </p:spPr>
        <p:txBody>
          <a:bodyPr>
            <a:normAutofit/>
          </a:bodyPr>
          <a:lstStyle/>
          <a:p>
            <a:pPr>
              <a:lnSpc>
                <a:spcPct val="125000"/>
              </a:lnSpc>
            </a:pPr>
            <a:r>
              <a:rPr lang="zh-CN" altLang="en-US" dirty="0"/>
              <a:t>如想基于当前系统代码（</a:t>
            </a:r>
            <a:r>
              <a:rPr lang="en-US" altLang="zh-CN" dirty="0"/>
              <a:t>Loop</a:t>
            </a:r>
            <a:r>
              <a:rPr lang="zh-CN" altLang="en-US" dirty="0"/>
              <a:t>细分、</a:t>
            </a:r>
            <a:r>
              <a:rPr lang="en-US" altLang="zh-CN" dirty="0"/>
              <a:t>Root3</a:t>
            </a:r>
            <a:r>
              <a:rPr lang="zh-CN" altLang="en-US" dirty="0"/>
              <a:t>细分等算法需手动实现）进行编译，步骤如下：</a:t>
            </a:r>
            <a:endParaRPr lang="en-US" altLang="zh-CN" dirty="0"/>
          </a:p>
          <a:p>
            <a:pPr lvl="1">
              <a:lnSpc>
                <a:spcPct val="125000"/>
              </a:lnSpc>
            </a:pPr>
            <a:r>
              <a:rPr lang="en-US" altLang="zh-CN" dirty="0" err="1"/>
              <a:t>mkdir</a:t>
            </a:r>
            <a:r>
              <a:rPr lang="en-US" altLang="zh-CN" dirty="0"/>
              <a:t> build</a:t>
            </a:r>
          </a:p>
          <a:p>
            <a:pPr lvl="1">
              <a:lnSpc>
                <a:spcPct val="125000"/>
              </a:lnSpc>
            </a:pPr>
            <a:r>
              <a:rPr lang="en-US" altLang="zh-CN" dirty="0" err="1"/>
              <a:t>cmake</a:t>
            </a:r>
            <a:r>
              <a:rPr lang="en-US" altLang="zh-CN" dirty="0"/>
              <a:t> ../source</a:t>
            </a:r>
          </a:p>
          <a:p>
            <a:pPr lvl="1">
              <a:lnSpc>
                <a:spcPct val="125000"/>
              </a:lnSpc>
            </a:pPr>
            <a:r>
              <a:rPr lang="en-US" altLang="zh-CN" dirty="0" err="1"/>
              <a:t>cmake</a:t>
            </a:r>
            <a:r>
              <a:rPr lang="en-US" altLang="zh-CN" dirty="0"/>
              <a:t> --build .</a:t>
            </a:r>
          </a:p>
          <a:p>
            <a:pPr lvl="1">
              <a:lnSpc>
                <a:spcPct val="125000"/>
              </a:lnSpc>
            </a:pPr>
            <a:r>
              <a:rPr lang="en-US" altLang="zh-CN" dirty="0"/>
              <a:t>./main</a:t>
            </a:r>
          </a:p>
          <a:p>
            <a:pPr>
              <a:lnSpc>
                <a:spcPct val="125000"/>
              </a:lnSpc>
            </a:pPr>
            <a:endParaRPr lang="zh-CN" altLang="en-US" dirty="0"/>
          </a:p>
        </p:txBody>
      </p:sp>
    </p:spTree>
    <p:extLst>
      <p:ext uri="{BB962C8B-B14F-4D97-AF65-F5344CB8AC3E}">
        <p14:creationId xmlns:p14="http://schemas.microsoft.com/office/powerpoint/2010/main" val="4192106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486D-5D24-22BF-9EEB-5BEE9FD7930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B7A7D1-3A3E-3C0C-231D-BE0BEBA756E1}"/>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
        <p:nvSpPr>
          <p:cNvPr id="5" name="内容占位符 4">
            <a:extLst>
              <a:ext uri="{FF2B5EF4-FFF2-40B4-BE49-F238E27FC236}">
                <a16:creationId xmlns:a16="http://schemas.microsoft.com/office/drawing/2014/main" id="{906EF270-EFF8-7D45-90AD-41D0D06126C8}"/>
              </a:ext>
            </a:extLst>
          </p:cNvPr>
          <p:cNvSpPr>
            <a:spLocks noGrp="1"/>
          </p:cNvSpPr>
          <p:nvPr>
            <p:ph idx="1"/>
          </p:nvPr>
        </p:nvSpPr>
        <p:spPr>
          <a:xfrm>
            <a:off x="726839" y="1690725"/>
            <a:ext cx="11221729" cy="4351338"/>
          </a:xfrm>
        </p:spPr>
        <p:txBody>
          <a:bodyPr>
            <a:normAutofit/>
          </a:bodyPr>
          <a:lstStyle/>
          <a:p>
            <a:pPr>
              <a:lnSpc>
                <a:spcPct val="125000"/>
              </a:lnSpc>
            </a:pPr>
            <a:r>
              <a:rPr lang="zh-CN" altLang="en-US" dirty="0"/>
              <a:t>如果在</a:t>
            </a:r>
            <a:r>
              <a:rPr lang="en-US" altLang="zh-CN" dirty="0" err="1"/>
              <a:t>cmake</a:t>
            </a:r>
            <a:r>
              <a:rPr lang="en-US" altLang="zh-CN" dirty="0"/>
              <a:t> ../source</a:t>
            </a:r>
            <a:r>
              <a:rPr lang="zh-CN" altLang="en-US" dirty="0"/>
              <a:t>时报错如下：</a:t>
            </a:r>
            <a:endParaRPr lang="en-US" altLang="zh-CN" dirty="0"/>
          </a:p>
          <a:p>
            <a:pPr>
              <a:lnSpc>
                <a:spcPct val="125000"/>
              </a:lnSpc>
            </a:pPr>
            <a:endParaRPr lang="en-US" altLang="zh-CN" dirty="0"/>
          </a:p>
          <a:p>
            <a:pPr>
              <a:lnSpc>
                <a:spcPct val="125000"/>
              </a:lnSpc>
            </a:pPr>
            <a:r>
              <a:rPr lang="zh-CN" altLang="en-US" dirty="0"/>
              <a:t>修改</a:t>
            </a:r>
            <a:r>
              <a:rPr lang="en-US" altLang="zh-CN" dirty="0"/>
              <a:t>source/CMakeLists.txt</a:t>
            </a:r>
            <a:r>
              <a:rPr lang="zh-CN" altLang="en-US" dirty="0"/>
              <a:t>，注释</a:t>
            </a:r>
            <a:r>
              <a:rPr lang="en-US" altLang="zh-CN" dirty="0" err="1"/>
              <a:t>target_link_libraries</a:t>
            </a:r>
            <a:r>
              <a:rPr lang="en-US" altLang="zh-CN" dirty="0"/>
              <a:t>(</a:t>
            </a:r>
            <a:r>
              <a:rPr lang="en-US" altLang="zh-CN" dirty="0" err="1"/>
              <a:t>loadShaders</a:t>
            </a:r>
            <a:r>
              <a:rPr lang="en-US" altLang="zh-CN" dirty="0"/>
              <a:t> deps)</a:t>
            </a:r>
          </a:p>
          <a:p>
            <a:pPr>
              <a:lnSpc>
                <a:spcPct val="125000"/>
              </a:lnSpc>
            </a:pPr>
            <a:r>
              <a:rPr lang="zh-CN" altLang="en-US" dirty="0"/>
              <a:t>重新</a:t>
            </a:r>
            <a:r>
              <a:rPr lang="en-US" altLang="zh-CN" dirty="0" err="1"/>
              <a:t>cmake</a:t>
            </a:r>
            <a:r>
              <a:rPr lang="en-US" altLang="zh-CN" dirty="0"/>
              <a:t> ../source</a:t>
            </a:r>
            <a:endParaRPr lang="zh-CN" altLang="en-US" dirty="0"/>
          </a:p>
        </p:txBody>
      </p:sp>
      <p:pic>
        <p:nvPicPr>
          <p:cNvPr id="4" name="图片 3">
            <a:extLst>
              <a:ext uri="{FF2B5EF4-FFF2-40B4-BE49-F238E27FC236}">
                <a16:creationId xmlns:a16="http://schemas.microsoft.com/office/drawing/2014/main" id="{4CDF4B9B-70E6-F91A-1E3B-248596AB9105}"/>
              </a:ext>
            </a:extLst>
          </p:cNvPr>
          <p:cNvPicPr>
            <a:picLocks noChangeAspect="1"/>
          </p:cNvPicPr>
          <p:nvPr/>
        </p:nvPicPr>
        <p:blipFill>
          <a:blip r:embed="rId2"/>
          <a:stretch>
            <a:fillRect/>
          </a:stretch>
        </p:blipFill>
        <p:spPr>
          <a:xfrm>
            <a:off x="2486626" y="2357252"/>
            <a:ext cx="6810375" cy="581025"/>
          </a:xfrm>
          <a:prstGeom prst="rect">
            <a:avLst/>
          </a:prstGeom>
        </p:spPr>
      </p:pic>
    </p:spTree>
    <p:extLst>
      <p:ext uri="{BB962C8B-B14F-4D97-AF65-F5344CB8AC3E}">
        <p14:creationId xmlns:p14="http://schemas.microsoft.com/office/powerpoint/2010/main" val="13921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C4A84-76B3-F6E9-6DD3-D2B63FE9B891}"/>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484AA0A3-4B3F-5616-5940-2A99AFF5A829}"/>
              </a:ext>
            </a:extLst>
          </p:cNvPr>
          <p:cNvSpPr>
            <a:spLocks noGrp="1"/>
          </p:cNvSpPr>
          <p:nvPr>
            <p:ph idx="1"/>
          </p:nvPr>
        </p:nvSpPr>
        <p:spPr>
          <a:xfrm>
            <a:off x="726839" y="1690725"/>
            <a:ext cx="11221729" cy="644102"/>
          </a:xfrm>
        </p:spPr>
        <p:txBody>
          <a:bodyPr>
            <a:noAutofit/>
          </a:bodyPr>
          <a:lstStyle/>
          <a:p>
            <a:pPr>
              <a:lnSpc>
                <a:spcPct val="125000"/>
              </a:lnSpc>
            </a:pPr>
            <a:r>
              <a:rPr lang="zh-CN" altLang="en-US" dirty="0"/>
              <a:t>如果在</a:t>
            </a:r>
            <a:r>
              <a:rPr lang="en-US" altLang="zh-CN" dirty="0" err="1"/>
              <a:t>cmake</a:t>
            </a:r>
            <a:r>
              <a:rPr lang="en-US" altLang="zh-CN" dirty="0"/>
              <a:t> ../source</a:t>
            </a:r>
            <a:r>
              <a:rPr lang="zh-CN" altLang="en-US" dirty="0"/>
              <a:t>时报错如下：</a:t>
            </a:r>
            <a:endParaRPr lang="en-US" altLang="zh-CN" dirty="0"/>
          </a:p>
          <a:p>
            <a:pPr>
              <a:lnSpc>
                <a:spcPct val="125000"/>
              </a:lnSpc>
            </a:pPr>
            <a:endParaRPr lang="en-US" altLang="zh-CN" dirty="0"/>
          </a:p>
          <a:p>
            <a:pPr>
              <a:lnSpc>
                <a:spcPct val="125000"/>
              </a:lnSpc>
            </a:pPr>
            <a:endParaRPr lang="en-US" altLang="zh-CN" dirty="0"/>
          </a:p>
          <a:p>
            <a:pPr>
              <a:lnSpc>
                <a:spcPct val="125000"/>
              </a:lnSpc>
            </a:pPr>
            <a:r>
              <a:rPr lang="zh-CN" altLang="en-US" dirty="0"/>
              <a:t>删除原有的</a:t>
            </a:r>
            <a:r>
              <a:rPr lang="en-US" altLang="zh-CN" dirty="0"/>
              <a:t>source/deps/</a:t>
            </a:r>
            <a:r>
              <a:rPr lang="en-US" altLang="zh-CN" dirty="0" err="1"/>
              <a:t>glew-cmake</a:t>
            </a:r>
            <a:r>
              <a:rPr lang="zh-CN" altLang="en-US" dirty="0"/>
              <a:t>，然后</a:t>
            </a:r>
            <a:r>
              <a:rPr lang="en-US" altLang="zh-CN" dirty="0"/>
              <a:t>git clone </a:t>
            </a:r>
            <a:r>
              <a:rPr lang="en-US" altLang="zh-CN" dirty="0">
                <a:hlinkClick r:id="rId3"/>
              </a:rPr>
              <a:t>https://github.com/Perlmint/glew-cmake.git</a:t>
            </a:r>
            <a:r>
              <a:rPr lang="en-US" altLang="zh-CN" dirty="0"/>
              <a:t> </a:t>
            </a:r>
            <a:r>
              <a:rPr lang="zh-CN" altLang="en-US" dirty="0"/>
              <a:t>获取新的</a:t>
            </a:r>
            <a:r>
              <a:rPr lang="en-US" altLang="zh-CN" dirty="0" err="1"/>
              <a:t>glew-cmake</a:t>
            </a:r>
            <a:endParaRPr lang="en-US" altLang="zh-CN" dirty="0"/>
          </a:p>
          <a:p>
            <a:pPr>
              <a:lnSpc>
                <a:spcPct val="125000"/>
              </a:lnSpc>
            </a:pPr>
            <a:r>
              <a:rPr lang="zh-CN" altLang="en-US" dirty="0"/>
              <a:t>重新</a:t>
            </a:r>
            <a:r>
              <a:rPr lang="en-US" altLang="zh-CN" dirty="0" err="1"/>
              <a:t>cmake</a:t>
            </a:r>
            <a:r>
              <a:rPr lang="en-US" altLang="zh-CN" dirty="0"/>
              <a:t> ../source</a:t>
            </a:r>
            <a:endParaRPr lang="zh-CN" altLang="en-US" dirty="0"/>
          </a:p>
        </p:txBody>
      </p:sp>
      <p:pic>
        <p:nvPicPr>
          <p:cNvPr id="9" name="图片 8" descr="文本&#10;&#10;AI 生成的内容可能不正确。">
            <a:extLst>
              <a:ext uri="{FF2B5EF4-FFF2-40B4-BE49-F238E27FC236}">
                <a16:creationId xmlns:a16="http://schemas.microsoft.com/office/drawing/2014/main" id="{D7FE33DD-52EF-94B6-C701-8EEF239D2758}"/>
              </a:ext>
            </a:extLst>
          </p:cNvPr>
          <p:cNvPicPr>
            <a:picLocks noChangeAspect="1"/>
          </p:cNvPicPr>
          <p:nvPr/>
        </p:nvPicPr>
        <p:blipFill>
          <a:blip r:embed="rId4"/>
          <a:stretch>
            <a:fillRect/>
          </a:stretch>
        </p:blipFill>
        <p:spPr>
          <a:xfrm>
            <a:off x="2143125" y="2455184"/>
            <a:ext cx="7905750" cy="1095375"/>
          </a:xfrm>
          <a:prstGeom prst="rect">
            <a:avLst/>
          </a:prstGeom>
        </p:spPr>
      </p:pic>
      <p:sp>
        <p:nvSpPr>
          <p:cNvPr id="13" name="标题 1">
            <a:extLst>
              <a:ext uri="{FF2B5EF4-FFF2-40B4-BE49-F238E27FC236}">
                <a16:creationId xmlns:a16="http://schemas.microsoft.com/office/drawing/2014/main" id="{60771844-CCB8-1407-66C5-360472D5A4BF}"/>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21968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5D6A-78AC-8169-FDA9-4A8843E9505B}"/>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DC7E5DFF-05A0-FFA5-64B7-48573CDE6A46}"/>
              </a:ext>
            </a:extLst>
          </p:cNvPr>
          <p:cNvSpPr>
            <a:spLocks noGrp="1"/>
          </p:cNvSpPr>
          <p:nvPr>
            <p:ph idx="1"/>
          </p:nvPr>
        </p:nvSpPr>
        <p:spPr>
          <a:xfrm>
            <a:off x="726839" y="1434774"/>
            <a:ext cx="11221729" cy="644102"/>
          </a:xfrm>
        </p:spPr>
        <p:txBody>
          <a:bodyPr>
            <a:noAutofit/>
          </a:bodyPr>
          <a:lstStyle/>
          <a:p>
            <a:pPr>
              <a:lnSpc>
                <a:spcPct val="125000"/>
              </a:lnSpc>
            </a:pPr>
            <a:r>
              <a:rPr lang="zh-CN" altLang="en-US" sz="2600" dirty="0"/>
              <a:t>如果在</a:t>
            </a:r>
            <a:r>
              <a:rPr lang="en-US" altLang="zh-CN" sz="2600" dirty="0" err="1"/>
              <a:t>cmake</a:t>
            </a:r>
            <a:r>
              <a:rPr lang="en-US" altLang="zh-CN" sz="2600" dirty="0"/>
              <a:t> --build .</a:t>
            </a:r>
            <a:r>
              <a:rPr lang="zh-CN" altLang="en-US" sz="2600" dirty="0"/>
              <a:t>时报错如下：</a:t>
            </a:r>
            <a:endParaRPr lang="en-US" altLang="zh-CN" sz="2600" dirty="0"/>
          </a:p>
          <a:p>
            <a:pPr>
              <a:lnSpc>
                <a:spcPct val="125000"/>
              </a:lnSpc>
            </a:pPr>
            <a:endParaRPr lang="en-US" altLang="zh-CN" sz="2600" dirty="0"/>
          </a:p>
          <a:p>
            <a:pPr>
              <a:lnSpc>
                <a:spcPct val="125000"/>
              </a:lnSpc>
            </a:pPr>
            <a:endParaRPr lang="en-US" altLang="zh-CN" sz="2600" dirty="0"/>
          </a:p>
          <a:p>
            <a:pPr>
              <a:lnSpc>
                <a:spcPct val="125000"/>
              </a:lnSpc>
            </a:pPr>
            <a:r>
              <a:rPr lang="zh-CN" altLang="en-US" sz="2600" dirty="0"/>
              <a:t>修改</a:t>
            </a:r>
            <a:r>
              <a:rPr lang="en-US" altLang="zh-CN" sz="2600" dirty="0"/>
              <a:t>source/lib/</a:t>
            </a:r>
            <a:r>
              <a:rPr lang="en-US" altLang="zh-CN" sz="2600" dirty="0" err="1"/>
              <a:t>loadShaders</a:t>
            </a:r>
            <a:r>
              <a:rPr lang="en-US" altLang="zh-CN" sz="2600" dirty="0"/>
              <a:t>/CmakeLists.txt</a:t>
            </a:r>
            <a:r>
              <a:rPr lang="zh-CN" altLang="en-US" sz="2600" dirty="0"/>
              <a:t>，将原本的</a:t>
            </a:r>
            <a:r>
              <a:rPr lang="en-US" altLang="zh-CN" sz="2600" dirty="0" err="1"/>
              <a:t>target_include_directories</a:t>
            </a:r>
            <a:r>
              <a:rPr lang="en-US" altLang="zh-CN" sz="2600" dirty="0"/>
              <a:t>(</a:t>
            </a:r>
            <a:r>
              <a:rPr lang="en-US" altLang="zh-CN" sz="2600" dirty="0" err="1"/>
              <a:t>loadShaders</a:t>
            </a:r>
            <a:r>
              <a:rPr lang="en-US" altLang="zh-CN" sz="2600" dirty="0"/>
              <a:t>  PUBLIC   “${CMAKE_SOURCE_DIR}/include” ) </a:t>
            </a:r>
            <a:r>
              <a:rPr lang="zh-CN" altLang="en-US" sz="2600" dirty="0"/>
              <a:t>修改为</a:t>
            </a:r>
            <a:r>
              <a:rPr lang="en-US" altLang="zh-CN" sz="2600" dirty="0" err="1"/>
              <a:t>target_include_directories</a:t>
            </a:r>
            <a:r>
              <a:rPr lang="en-US" altLang="zh-CN" sz="2600" dirty="0"/>
              <a:t>(</a:t>
            </a:r>
            <a:r>
              <a:rPr lang="en-US" altLang="zh-CN" sz="2600" dirty="0" err="1"/>
              <a:t>loadShaders</a:t>
            </a:r>
            <a:r>
              <a:rPr lang="en-US" altLang="zh-CN" sz="2600" dirty="0"/>
              <a:t>  PUBLIC   “${CMAKE_SOURCE_DIR}/include”  “${CMAKE_SOURCE_DIR}/deps/glad/include”)</a:t>
            </a:r>
            <a:r>
              <a:rPr lang="zh-CN" altLang="en-US" sz="2600" dirty="0"/>
              <a:t>，重新</a:t>
            </a:r>
            <a:r>
              <a:rPr lang="en-US" altLang="zh-CN" sz="2600" dirty="0" err="1"/>
              <a:t>cmake</a:t>
            </a:r>
            <a:r>
              <a:rPr lang="en-US" altLang="zh-CN" sz="2600" dirty="0"/>
              <a:t> –build .</a:t>
            </a:r>
          </a:p>
          <a:p>
            <a:pPr>
              <a:lnSpc>
                <a:spcPct val="125000"/>
              </a:lnSpc>
            </a:pPr>
            <a:endParaRPr lang="en-US" altLang="zh-CN" sz="2600" dirty="0"/>
          </a:p>
          <a:p>
            <a:pPr>
              <a:lnSpc>
                <a:spcPct val="125000"/>
              </a:lnSpc>
            </a:pPr>
            <a:endParaRPr lang="en-US" altLang="zh-CN" sz="2600" dirty="0"/>
          </a:p>
          <a:p>
            <a:pPr>
              <a:lnSpc>
                <a:spcPct val="125000"/>
              </a:lnSpc>
            </a:pPr>
            <a:endParaRPr lang="en-US" altLang="zh-CN" sz="2600" dirty="0"/>
          </a:p>
          <a:p>
            <a:pPr marL="0" indent="0">
              <a:lnSpc>
                <a:spcPct val="125000"/>
              </a:lnSpc>
              <a:buNone/>
            </a:pPr>
            <a:endParaRPr lang="zh-CN" altLang="en-US" sz="2600" dirty="0"/>
          </a:p>
        </p:txBody>
      </p:sp>
      <p:pic>
        <p:nvPicPr>
          <p:cNvPr id="10" name="图片 9" descr="文本&#10;&#10;AI 生成的内容可能不正确。">
            <a:extLst>
              <a:ext uri="{FF2B5EF4-FFF2-40B4-BE49-F238E27FC236}">
                <a16:creationId xmlns:a16="http://schemas.microsoft.com/office/drawing/2014/main" id="{B724B3FA-94E6-B9A4-C177-C75B40866D37}"/>
              </a:ext>
            </a:extLst>
          </p:cNvPr>
          <p:cNvPicPr>
            <a:picLocks noChangeAspect="1"/>
          </p:cNvPicPr>
          <p:nvPr/>
        </p:nvPicPr>
        <p:blipFill>
          <a:blip r:embed="rId3"/>
          <a:srcRect t="16361"/>
          <a:stretch>
            <a:fillRect/>
          </a:stretch>
        </p:blipFill>
        <p:spPr>
          <a:xfrm>
            <a:off x="1295400" y="2078876"/>
            <a:ext cx="9601200" cy="1131256"/>
          </a:xfrm>
          <a:prstGeom prst="rect">
            <a:avLst/>
          </a:prstGeom>
        </p:spPr>
      </p:pic>
      <p:sp>
        <p:nvSpPr>
          <p:cNvPr id="14" name="标题 1">
            <a:extLst>
              <a:ext uri="{FF2B5EF4-FFF2-40B4-BE49-F238E27FC236}">
                <a16:creationId xmlns:a16="http://schemas.microsoft.com/office/drawing/2014/main" id="{0D0E2713-4EFE-23E7-AB53-C0858436E054}"/>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2965729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24D7-374A-9BE7-B925-6BC9BA409ECC}"/>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132338CC-F658-F7C5-80DA-90C1D9CB5779}"/>
              </a:ext>
            </a:extLst>
          </p:cNvPr>
          <p:cNvSpPr>
            <a:spLocks noGrp="1"/>
          </p:cNvSpPr>
          <p:nvPr>
            <p:ph idx="1"/>
          </p:nvPr>
        </p:nvSpPr>
        <p:spPr>
          <a:xfrm>
            <a:off x="726839" y="1434774"/>
            <a:ext cx="11221729" cy="644102"/>
          </a:xfrm>
        </p:spPr>
        <p:txBody>
          <a:bodyPr>
            <a:noAutofit/>
          </a:bodyPr>
          <a:lstStyle/>
          <a:p>
            <a:pPr>
              <a:lnSpc>
                <a:spcPct val="125000"/>
              </a:lnSpc>
            </a:pPr>
            <a:r>
              <a:rPr lang="zh-CN" altLang="en-US" sz="2400" dirty="0"/>
              <a:t>如果在 </a:t>
            </a:r>
            <a:r>
              <a:rPr lang="en-US" altLang="zh-CN" sz="2400" dirty="0"/>
              <a:t>./main </a:t>
            </a:r>
            <a:r>
              <a:rPr lang="zh-CN" altLang="en-US" sz="2400" dirty="0"/>
              <a:t>时报错：</a:t>
            </a:r>
            <a:r>
              <a:rPr lang="en-US" altLang="zh-CN" sz="2400" dirty="0"/>
              <a:t>Failed to initialize GLEW.</a:t>
            </a:r>
          </a:p>
          <a:p>
            <a:pPr>
              <a:lnSpc>
                <a:spcPct val="125000"/>
              </a:lnSpc>
            </a:pPr>
            <a:r>
              <a:rPr lang="zh-CN" altLang="en-US" sz="2400" dirty="0"/>
              <a:t>在当前终端内：</a:t>
            </a:r>
            <a:endParaRPr lang="en-US" altLang="zh-CN" sz="2400" dirty="0"/>
          </a:p>
          <a:p>
            <a:pPr lvl="1">
              <a:lnSpc>
                <a:spcPct val="125000"/>
              </a:lnSpc>
            </a:pPr>
            <a:r>
              <a:rPr lang="en-US" altLang="zh-CN" dirty="0"/>
              <a:t>export XDG_SESSION_TYPE=x11 </a:t>
            </a:r>
          </a:p>
          <a:p>
            <a:pPr lvl="1">
              <a:lnSpc>
                <a:spcPct val="125000"/>
              </a:lnSpc>
            </a:pPr>
            <a:r>
              <a:rPr lang="zh-CN" altLang="en-US" dirty="0"/>
              <a:t>重新</a:t>
            </a:r>
            <a:r>
              <a:rPr lang="en-US" altLang="zh-CN" dirty="0"/>
              <a:t> ./main</a:t>
            </a:r>
          </a:p>
          <a:p>
            <a:pPr>
              <a:lnSpc>
                <a:spcPct val="125000"/>
              </a:lnSpc>
            </a:pPr>
            <a:r>
              <a:rPr lang="zh-CN" altLang="en-US" sz="2400" dirty="0"/>
              <a:t>如果依旧报错：</a:t>
            </a:r>
            <a:r>
              <a:rPr lang="en-US" altLang="zh-CN" sz="2400" dirty="0"/>
              <a:t> Failed to initialize GLEW.</a:t>
            </a:r>
          </a:p>
          <a:p>
            <a:pPr lvl="1">
              <a:lnSpc>
                <a:spcPct val="125000"/>
              </a:lnSpc>
            </a:pPr>
            <a:r>
              <a:rPr lang="zh-CN" altLang="en-US" dirty="0"/>
              <a:t>执行 </a:t>
            </a:r>
            <a:r>
              <a:rPr lang="en-US" altLang="zh-CN" dirty="0" err="1"/>
              <a:t>sudo</a:t>
            </a:r>
            <a:r>
              <a:rPr lang="en-US" altLang="zh-CN" dirty="0"/>
              <a:t> apt install open-</a:t>
            </a:r>
            <a:r>
              <a:rPr lang="en-US" altLang="zh-CN" dirty="0" err="1"/>
              <a:t>vm</a:t>
            </a:r>
            <a:r>
              <a:rPr lang="en-US" altLang="zh-CN" dirty="0"/>
              <a:t>-tools-desktop </a:t>
            </a:r>
          </a:p>
          <a:p>
            <a:pPr lvl="1">
              <a:lnSpc>
                <a:spcPct val="125000"/>
              </a:lnSpc>
            </a:pPr>
            <a:r>
              <a:rPr lang="zh-CN" altLang="en-US" dirty="0"/>
              <a:t>重启虚拟机</a:t>
            </a:r>
            <a:endParaRPr lang="en-US" altLang="zh-CN" dirty="0"/>
          </a:p>
          <a:p>
            <a:pPr lvl="1">
              <a:lnSpc>
                <a:spcPct val="125000"/>
              </a:lnSpc>
            </a:pPr>
            <a:r>
              <a:rPr lang="zh-CN" altLang="en-US" dirty="0"/>
              <a:t>进入对应文件夹位置后 </a:t>
            </a:r>
            <a:r>
              <a:rPr lang="en-US" altLang="zh-CN" dirty="0"/>
              <a:t>export XDG_SESSION_TYPE=x11</a:t>
            </a:r>
          </a:p>
          <a:p>
            <a:pPr lvl="1">
              <a:lnSpc>
                <a:spcPct val="125000"/>
              </a:lnSpc>
            </a:pPr>
            <a:r>
              <a:rPr lang="zh-CN" altLang="en-US" dirty="0"/>
              <a:t>重新</a:t>
            </a:r>
            <a:r>
              <a:rPr lang="en-US" altLang="zh-CN" dirty="0"/>
              <a:t>./main</a:t>
            </a:r>
          </a:p>
          <a:p>
            <a:pPr lvl="1">
              <a:lnSpc>
                <a:spcPct val="125000"/>
              </a:lnSpc>
            </a:pPr>
            <a:endParaRPr lang="en-US" altLang="zh-CN" sz="2000" dirty="0"/>
          </a:p>
        </p:txBody>
      </p:sp>
      <p:sp>
        <p:nvSpPr>
          <p:cNvPr id="14" name="标题 1">
            <a:extLst>
              <a:ext uri="{FF2B5EF4-FFF2-40B4-BE49-F238E27FC236}">
                <a16:creationId xmlns:a16="http://schemas.microsoft.com/office/drawing/2014/main" id="{3C27103B-8C18-FA9B-04EA-E79A82794E7B}"/>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3164092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61180"/>
            <a:ext cx="10515600" cy="4857068"/>
          </a:xfrm>
        </p:spPr>
        <p:txBody>
          <a:bodyPr>
            <a:noAutofit/>
          </a:bodyPr>
          <a:lstStyle/>
          <a:p>
            <a:pPr marL="0" indent="0">
              <a:lnSpc>
                <a:spcPct val="125000"/>
              </a:lnSpc>
              <a:buNone/>
            </a:pPr>
            <a:endParaRPr lang="zh-CN" altLang="en-US" sz="2400" dirty="0"/>
          </a:p>
          <a:p>
            <a:pPr>
              <a:lnSpc>
                <a:spcPct val="125000"/>
              </a:lnSpc>
            </a:pPr>
            <a:endParaRPr lang="en-US" altLang="zh-CN" sz="2400" dirty="0"/>
          </a:p>
          <a:p>
            <a:pPr>
              <a:lnSpc>
                <a:spcPct val="125000"/>
              </a:lnSpc>
            </a:pPr>
            <a:endParaRPr lang="en-US" altLang="zh-CN" sz="2400" dirty="0"/>
          </a:p>
          <a:p>
            <a:pPr>
              <a:lnSpc>
                <a:spcPct val="125000"/>
              </a:lnSpc>
            </a:pPr>
            <a:endParaRPr lang="en-US" altLang="zh-CN" sz="2400" dirty="0"/>
          </a:p>
          <a:p>
            <a:pPr marL="0" indent="0">
              <a:lnSpc>
                <a:spcPct val="125000"/>
              </a:lnSpc>
              <a:buNone/>
            </a:pPr>
            <a:endParaRPr lang="en-US" altLang="zh-CN" sz="2400" dirty="0"/>
          </a:p>
          <a:p>
            <a:pPr marL="0" indent="0">
              <a:lnSpc>
                <a:spcPct val="125000"/>
              </a:lnSpc>
              <a:buNone/>
            </a:pPr>
            <a:endParaRPr lang="en-US" altLang="zh-CN" sz="2400" dirty="0"/>
          </a:p>
          <a:p>
            <a:pPr>
              <a:lnSpc>
                <a:spcPct val="125000"/>
              </a:lnSpc>
            </a:pPr>
            <a:r>
              <a:rPr lang="en-US" altLang="zh-CN" sz="2400" dirty="0">
                <a:solidFill>
                  <a:schemeClr val="tx1"/>
                </a:solidFill>
              </a:rPr>
              <a:t>成功启动的界面</a:t>
            </a:r>
            <a:r>
              <a:rPr lang="zh-CN" altLang="en-US" sz="2400" dirty="0">
                <a:solidFill>
                  <a:schemeClr val="tx1"/>
                </a:solidFill>
              </a:rPr>
              <a:t>（成功启动后每个模块的页面布局不一定完全一样，可以自行进行拖动、缩放）</a:t>
            </a:r>
            <a:endParaRPr lang="en-US" altLang="zh-CN" sz="2400" dirty="0"/>
          </a:p>
          <a:p>
            <a:pPr>
              <a:lnSpc>
                <a:spcPct val="125000"/>
              </a:lnSpc>
            </a:pPr>
            <a:r>
              <a:rPr lang="zh-CN" altLang="en-US" sz="2400" dirty="0">
                <a:solidFill>
                  <a:schemeClr val="tx1"/>
                </a:solidFill>
              </a:rPr>
              <a:t>后续</a:t>
            </a:r>
            <a:r>
              <a:rPr lang="zh-CN" altLang="en-US" sz="2400" b="1" dirty="0">
                <a:solidFill>
                  <a:schemeClr val="tx1"/>
                </a:solidFill>
              </a:rPr>
              <a:t>使用方法</a:t>
            </a:r>
            <a:r>
              <a:rPr lang="zh-CN" altLang="en-US" sz="2400" dirty="0">
                <a:solidFill>
                  <a:schemeClr val="tx1"/>
                </a:solidFill>
              </a:rPr>
              <a:t>的讲解均基于系统所提供</a:t>
            </a:r>
            <a:r>
              <a:rPr lang="zh-CN" altLang="en-US" sz="2400">
                <a:solidFill>
                  <a:schemeClr val="tx1"/>
                </a:solidFill>
              </a:rPr>
              <a:t>的完整示例</a:t>
            </a:r>
            <a:endParaRPr lang="en-US" altLang="zh-CN" sz="2400" dirty="0">
              <a:solidFill>
                <a:schemeClr val="tx1"/>
              </a:solidFill>
            </a:endParaRPr>
          </a:p>
          <a:p>
            <a:pPr>
              <a:lnSpc>
                <a:spcPct val="125000"/>
              </a:lnSpc>
            </a:pPr>
            <a:endParaRPr lang="en-US" altLang="zh-CN" sz="2400" dirty="0"/>
          </a:p>
          <a:p>
            <a:pPr>
              <a:lnSpc>
                <a:spcPct val="125000"/>
              </a:lnSpc>
            </a:pPr>
            <a:endParaRPr lang="zh-CN" altLang="en-US" sz="2400" dirty="0"/>
          </a:p>
        </p:txBody>
      </p:sp>
      <p:pic>
        <p:nvPicPr>
          <p:cNvPr id="8" name="图片 7">
            <a:extLst>
              <a:ext uri="{FF2B5EF4-FFF2-40B4-BE49-F238E27FC236}">
                <a16:creationId xmlns:a16="http://schemas.microsoft.com/office/drawing/2014/main" id="{C425DC3D-0153-FE5D-4E20-40865D1B9E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5798" y="1461180"/>
            <a:ext cx="6300403" cy="3455377"/>
          </a:xfrm>
          <a:prstGeom prst="rect">
            <a:avLst/>
          </a:prstGeom>
        </p:spPr>
      </p:pic>
      <p:sp>
        <p:nvSpPr>
          <p:cNvPr id="12" name="标题 1">
            <a:extLst>
              <a:ext uri="{FF2B5EF4-FFF2-40B4-BE49-F238E27FC236}">
                <a16:creationId xmlns:a16="http://schemas.microsoft.com/office/drawing/2014/main" id="{94E5EAD6-9F47-2F0B-4F57-C80B72E46155}"/>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成功界面</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C8631-AA29-6428-0FA5-CDD6180348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E817E2-3B66-9380-0B23-ADF34C7EB33C}"/>
              </a:ext>
            </a:extLst>
          </p:cNvPr>
          <p:cNvSpPr>
            <a:spLocks noGrp="1"/>
          </p:cNvSpPr>
          <p:nvPr>
            <p:ph type="title"/>
          </p:nvPr>
        </p:nvSpPr>
        <p:spPr/>
        <p:txBody>
          <a:bodyPr/>
          <a:lstStyle/>
          <a:p>
            <a:r>
              <a:rPr lang="zh-CN" altLang="en-US" b="1" dirty="0"/>
              <a:t>使用方法</a:t>
            </a:r>
            <a:r>
              <a:rPr lang="en-US" altLang="zh-CN" b="1" dirty="0"/>
              <a:t>-</a:t>
            </a:r>
            <a:r>
              <a:rPr lang="zh-CN" altLang="en-US" b="1" dirty="0"/>
              <a:t>窗口布局</a:t>
            </a:r>
          </a:p>
        </p:txBody>
      </p:sp>
      <p:sp>
        <p:nvSpPr>
          <p:cNvPr id="4" name="文本框 3">
            <a:extLst>
              <a:ext uri="{FF2B5EF4-FFF2-40B4-BE49-F238E27FC236}">
                <a16:creationId xmlns:a16="http://schemas.microsoft.com/office/drawing/2014/main" id="{66813763-1D33-6C2C-3AF5-4207B83092E1}"/>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en-US" altLang="zh-CN" sz="2400" dirty="0"/>
              <a:t>Algorithms</a:t>
            </a:r>
          </a:p>
          <a:p>
            <a:pPr marL="1143000" lvl="2" indent="-228600" defTabSz="0">
              <a:lnSpc>
                <a:spcPct val="145000"/>
              </a:lnSpc>
              <a:spcBef>
                <a:spcPts val="500"/>
              </a:spcBef>
              <a:spcAft>
                <a:spcPct val="0"/>
              </a:spcAft>
              <a:buFont typeface="Arial" panose="020B0604020202020204" pitchFamily="34" charset="0"/>
              <a:buChar char="•"/>
            </a:pPr>
            <a:r>
              <a:rPr lang="zh-CN" altLang="en-US" sz="2400" dirty="0"/>
              <a:t>算法选择列表</a:t>
            </a:r>
            <a:endParaRPr lang="en-US" altLang="zh-CN" sz="2400" dirty="0"/>
          </a:p>
          <a:p>
            <a:pPr marL="1600200" lvl="3" indent="-228600" defTabSz="0">
              <a:lnSpc>
                <a:spcPct val="145000"/>
              </a:lnSpc>
              <a:spcBef>
                <a:spcPts val="500"/>
              </a:spcBef>
              <a:spcAft>
                <a:spcPct val="0"/>
              </a:spcAft>
              <a:buFont typeface="Arial" panose="020B0604020202020204" pitchFamily="34" charset="0"/>
              <a:buChar char="•"/>
            </a:pPr>
            <a:r>
              <a:rPr lang="en-US" altLang="zh-CN" sz="2400" dirty="0"/>
              <a:t>Loop Subdivision</a:t>
            </a:r>
          </a:p>
          <a:p>
            <a:pPr marL="1600200" lvl="3" indent="-228600" defTabSz="0">
              <a:lnSpc>
                <a:spcPct val="145000"/>
              </a:lnSpc>
              <a:spcBef>
                <a:spcPts val="500"/>
              </a:spcBef>
              <a:spcAft>
                <a:spcPct val="0"/>
              </a:spcAft>
              <a:buFont typeface="Arial" panose="020B0604020202020204" pitchFamily="34" charset="0"/>
              <a:buChar char="•"/>
            </a:pPr>
            <a:r>
              <a:rPr lang="en-US" altLang="zh-CN" sz="2400" dirty="0"/>
              <a:t>Root3 Subdivision</a:t>
            </a:r>
          </a:p>
          <a:p>
            <a:pPr marL="1600200" lvl="3" indent="-228600" defTabSz="0">
              <a:lnSpc>
                <a:spcPct val="145000"/>
              </a:lnSpc>
              <a:spcBef>
                <a:spcPts val="500"/>
              </a:spcBef>
              <a:spcAft>
                <a:spcPct val="0"/>
              </a:spcAft>
              <a:buFont typeface="Arial" panose="020B0604020202020204" pitchFamily="34" charset="0"/>
              <a:buChar char="•"/>
            </a:pPr>
            <a:r>
              <a:rPr lang="en-US" altLang="zh-CN" sz="2400" dirty="0"/>
              <a:t>Mesh Optimize</a:t>
            </a:r>
          </a:p>
          <a:p>
            <a:pPr marL="685800" lvl="1" indent="-228600" defTabSz="0">
              <a:lnSpc>
                <a:spcPct val="145000"/>
              </a:lnSpc>
              <a:spcBef>
                <a:spcPts val="500"/>
              </a:spcBef>
              <a:spcAft>
                <a:spcPct val="0"/>
              </a:spcAft>
              <a:buFont typeface="Arial" panose="020B0604020202020204" pitchFamily="34" charset="0"/>
              <a:buChar char="•"/>
            </a:pPr>
            <a:r>
              <a:rPr lang="en-US" altLang="zh-CN" sz="2400" dirty="0"/>
              <a:t>Model</a:t>
            </a:r>
            <a:r>
              <a:rPr lang="zh-CN" altLang="en-US" sz="2400" dirty="0"/>
              <a:t>：模型选择列表</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提供多种模型供实验选择</a:t>
            </a:r>
            <a:endParaRPr lang="en-US" altLang="zh-CN" sz="2400" dirty="0"/>
          </a:p>
        </p:txBody>
      </p:sp>
      <p:pic>
        <p:nvPicPr>
          <p:cNvPr id="5" name="图片 4">
            <a:extLst>
              <a:ext uri="{FF2B5EF4-FFF2-40B4-BE49-F238E27FC236}">
                <a16:creationId xmlns:a16="http://schemas.microsoft.com/office/drawing/2014/main" id="{303919F4-2FC2-55C8-93E9-D8A9176554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1753" y="182562"/>
            <a:ext cx="4052047" cy="6492875"/>
          </a:xfrm>
          <a:prstGeom prst="rect">
            <a:avLst/>
          </a:prstGeom>
        </p:spPr>
      </p:pic>
    </p:spTree>
    <p:extLst>
      <p:ext uri="{BB962C8B-B14F-4D97-AF65-F5344CB8AC3E}">
        <p14:creationId xmlns:p14="http://schemas.microsoft.com/office/powerpoint/2010/main" val="674957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485D-2699-6F15-A061-A04CBFF0A0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5651A2-3F66-8762-07E8-F1F52E35DB99}"/>
              </a:ext>
            </a:extLst>
          </p:cNvPr>
          <p:cNvSpPr>
            <a:spLocks noGrp="1"/>
          </p:cNvSpPr>
          <p:nvPr>
            <p:ph type="title"/>
          </p:nvPr>
        </p:nvSpPr>
        <p:spPr/>
        <p:txBody>
          <a:bodyPr/>
          <a:lstStyle/>
          <a:p>
            <a:r>
              <a:rPr lang="zh-CN" altLang="en-US" b="1" dirty="0"/>
              <a:t>使用方法</a:t>
            </a:r>
            <a:r>
              <a:rPr lang="en-US" altLang="zh-CN" b="1" dirty="0"/>
              <a:t>-CG-Mesh</a:t>
            </a:r>
            <a:endParaRPr lang="zh-CN" altLang="en-US" b="1" dirty="0"/>
          </a:p>
        </p:txBody>
      </p:sp>
      <p:sp>
        <p:nvSpPr>
          <p:cNvPr id="4" name="文本框 3">
            <a:extLst>
              <a:ext uri="{FF2B5EF4-FFF2-40B4-BE49-F238E27FC236}">
                <a16:creationId xmlns:a16="http://schemas.microsoft.com/office/drawing/2014/main" id="{39F66B18-E691-39A3-6158-A63FD3225AA1}"/>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en-US" altLang="zh-CN" sz="2400" dirty="0"/>
              <a:t>Graph</a:t>
            </a:r>
          </a:p>
          <a:p>
            <a:pPr marL="1143000" lvl="2" indent="-228600" defTabSz="0">
              <a:lnSpc>
                <a:spcPct val="145000"/>
              </a:lnSpc>
              <a:spcBef>
                <a:spcPts val="500"/>
              </a:spcBef>
              <a:spcAft>
                <a:spcPct val="0"/>
              </a:spcAft>
              <a:buFont typeface="Arial" panose="020B0604020202020204" pitchFamily="34" charset="0"/>
              <a:buChar char="•"/>
            </a:pPr>
            <a:r>
              <a:rPr lang="zh-CN" altLang="en-US" sz="2400" dirty="0"/>
              <a:t>勾选</a:t>
            </a:r>
            <a:r>
              <a:rPr lang="en-US" altLang="zh-CN" sz="2400" dirty="0"/>
              <a:t>Display Graph</a:t>
            </a:r>
            <a:r>
              <a:rPr lang="zh-CN" altLang="en-US" sz="2400" dirty="0"/>
              <a:t>选项后显示</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供对比分析算法运行结果</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en-US" altLang="zh-CN" sz="2400" dirty="0"/>
              <a:t> Parameter Configuration</a:t>
            </a:r>
          </a:p>
          <a:p>
            <a:pPr marL="1143000" lvl="2" indent="-228600" defTabSz="0">
              <a:lnSpc>
                <a:spcPct val="145000"/>
              </a:lnSpc>
              <a:spcBef>
                <a:spcPts val="500"/>
              </a:spcBef>
              <a:spcAft>
                <a:spcPct val="0"/>
              </a:spcAft>
              <a:buFont typeface="Arial" panose="020B0604020202020204" pitchFamily="34" charset="0"/>
              <a:buChar char="•"/>
            </a:pPr>
            <a:r>
              <a:rPr lang="zh-CN" altLang="en-US" sz="2400" dirty="0"/>
              <a:t>选择</a:t>
            </a:r>
            <a:r>
              <a:rPr lang="en-US" altLang="zh-CN" sz="2400" dirty="0"/>
              <a:t>Mesh Optimize</a:t>
            </a:r>
            <a:r>
              <a:rPr lang="zh-CN" altLang="en-US" sz="2400" dirty="0"/>
              <a:t>后显示</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调整参数</a:t>
            </a:r>
          </a:p>
        </p:txBody>
      </p:sp>
      <p:pic>
        <p:nvPicPr>
          <p:cNvPr id="6" name="图片 5">
            <a:extLst>
              <a:ext uri="{FF2B5EF4-FFF2-40B4-BE49-F238E27FC236}">
                <a16:creationId xmlns:a16="http://schemas.microsoft.com/office/drawing/2014/main" id="{D2687A30-6088-CA5F-BAF5-DD580DD22AF3}"/>
              </a:ext>
            </a:extLst>
          </p:cNvPr>
          <p:cNvPicPr>
            <a:picLocks noChangeAspect="1"/>
          </p:cNvPicPr>
          <p:nvPr/>
        </p:nvPicPr>
        <p:blipFill>
          <a:blip r:embed="rId2">
            <a:extLst>
              <a:ext uri="{28A0092B-C50C-407E-A947-70E740481C1C}">
                <a14:useLocalDpi xmlns:a14="http://schemas.microsoft.com/office/drawing/2010/main" val="0"/>
              </a:ext>
            </a:extLst>
          </a:blip>
          <a:srcRect l="35613" t="5324" r="16894"/>
          <a:stretch>
            <a:fillRect/>
          </a:stretch>
        </p:blipFill>
        <p:spPr>
          <a:xfrm>
            <a:off x="6462731" y="652071"/>
            <a:ext cx="5059666" cy="5840804"/>
          </a:xfrm>
          <a:prstGeom prst="rect">
            <a:avLst/>
          </a:prstGeom>
        </p:spPr>
      </p:pic>
    </p:spTree>
    <p:extLst>
      <p:ext uri="{BB962C8B-B14F-4D97-AF65-F5344CB8AC3E}">
        <p14:creationId xmlns:p14="http://schemas.microsoft.com/office/powerpoint/2010/main" val="3178871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54EE7-91ED-D4FC-E9DE-EEC2009AD7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337477-3479-6708-D2B0-A84165CB9462}"/>
              </a:ext>
            </a:extLst>
          </p:cNvPr>
          <p:cNvSpPr>
            <a:spLocks noGrp="1"/>
          </p:cNvSpPr>
          <p:nvPr>
            <p:ph type="title"/>
          </p:nvPr>
        </p:nvSpPr>
        <p:spPr/>
        <p:txBody>
          <a:bodyPr/>
          <a:lstStyle/>
          <a:p>
            <a:r>
              <a:rPr lang="zh-CN" altLang="en-US" b="1" dirty="0"/>
              <a:t>使用方法</a:t>
            </a:r>
            <a:r>
              <a:rPr lang="en-US" altLang="zh-CN" b="1" dirty="0"/>
              <a:t>-CG-Mesh</a:t>
            </a:r>
            <a:endParaRPr lang="zh-CN" altLang="en-US" b="1" dirty="0"/>
          </a:p>
        </p:txBody>
      </p:sp>
      <p:sp>
        <p:nvSpPr>
          <p:cNvPr id="4" name="文本框 3">
            <a:extLst>
              <a:ext uri="{FF2B5EF4-FFF2-40B4-BE49-F238E27FC236}">
                <a16:creationId xmlns:a16="http://schemas.microsoft.com/office/drawing/2014/main" id="{863606C5-CC83-692F-78DB-0F374624E71B}"/>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en-US" altLang="zh-CN" sz="2400" dirty="0"/>
              <a:t>3D</a:t>
            </a:r>
            <a:r>
              <a:rPr lang="zh-CN" altLang="en-US" sz="2400" dirty="0"/>
              <a:t>渲染视口：显示网格模型</a:t>
            </a:r>
            <a:endParaRPr lang="en-US" altLang="zh-CN" sz="2400" dirty="0"/>
          </a:p>
        </p:txBody>
      </p:sp>
      <p:pic>
        <p:nvPicPr>
          <p:cNvPr id="5" name="图片 4">
            <a:extLst>
              <a:ext uri="{FF2B5EF4-FFF2-40B4-BE49-F238E27FC236}">
                <a16:creationId xmlns:a16="http://schemas.microsoft.com/office/drawing/2014/main" id="{00802F48-09B4-DD9E-F4A4-8EE8582DBB30}"/>
              </a:ext>
            </a:extLst>
          </p:cNvPr>
          <p:cNvPicPr>
            <a:picLocks noChangeAspect="1"/>
          </p:cNvPicPr>
          <p:nvPr/>
        </p:nvPicPr>
        <p:blipFill>
          <a:blip r:embed="rId2">
            <a:extLst>
              <a:ext uri="{28A0092B-C50C-407E-A947-70E740481C1C}">
                <a14:useLocalDpi xmlns:a14="http://schemas.microsoft.com/office/drawing/2010/main" val="0"/>
              </a:ext>
            </a:extLst>
          </a:blip>
          <a:srcRect l="2323" t="7432" r="593" b="3607"/>
          <a:stretch>
            <a:fillRect/>
          </a:stretch>
        </p:blipFill>
        <p:spPr>
          <a:xfrm>
            <a:off x="2375101" y="2332236"/>
            <a:ext cx="7731802" cy="4102794"/>
          </a:xfrm>
          <a:prstGeom prst="rect">
            <a:avLst/>
          </a:prstGeom>
        </p:spPr>
      </p:pic>
    </p:spTree>
    <p:extLst>
      <p:ext uri="{BB962C8B-B14F-4D97-AF65-F5344CB8AC3E}">
        <p14:creationId xmlns:p14="http://schemas.microsoft.com/office/powerpoint/2010/main" val="362068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AFEF-630E-2510-8F1C-482DA472F8B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0F4184-7403-4CC8-8336-93F61A607FD1}"/>
              </a:ext>
            </a:extLst>
          </p:cNvPr>
          <p:cNvSpPr>
            <a:spLocks noGrp="1"/>
          </p:cNvSpPr>
          <p:nvPr>
            <p:ph type="title"/>
          </p:nvPr>
        </p:nvSpPr>
        <p:spPr/>
        <p:txBody>
          <a:bodyPr/>
          <a:lstStyle/>
          <a:p>
            <a:r>
              <a:rPr lang="zh-CN" altLang="en-US" b="1" dirty="0"/>
              <a:t>使用方法</a:t>
            </a:r>
            <a:r>
              <a:rPr lang="en-US" altLang="zh-CN" b="1" dirty="0"/>
              <a:t>-Model</a:t>
            </a:r>
            <a:endParaRPr lang="zh-CN" altLang="en-US" b="1" dirty="0"/>
          </a:p>
        </p:txBody>
      </p:sp>
      <p:sp>
        <p:nvSpPr>
          <p:cNvPr id="4" name="文本框 3">
            <a:extLst>
              <a:ext uri="{FF2B5EF4-FFF2-40B4-BE49-F238E27FC236}">
                <a16:creationId xmlns:a16="http://schemas.microsoft.com/office/drawing/2014/main" id="{3C5FB7D6-83EF-E979-28A1-6EB39B6E58FD}"/>
              </a:ext>
            </a:extLst>
          </p:cNvPr>
          <p:cNvSpPr txBox="1"/>
          <p:nvPr userDrawn="1"/>
        </p:nvSpPr>
        <p:spPr>
          <a:xfrm>
            <a:off x="616472" y="1473792"/>
            <a:ext cx="4839948"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系统使用的模型文件置于</a:t>
            </a:r>
            <a:r>
              <a:rPr lang="en-US" altLang="zh-CN" sz="2400" dirty="0"/>
              <a:t>source/model</a:t>
            </a:r>
            <a:r>
              <a:rPr lang="zh-CN" altLang="en-US" sz="2400" dirty="0"/>
              <a:t>文件夹下。加载系统时，会自动读取文件夹下的</a:t>
            </a:r>
            <a:r>
              <a:rPr lang="en-US" altLang="zh-CN" sz="2400" dirty="0"/>
              <a:t>.obj</a:t>
            </a:r>
            <a:r>
              <a:rPr lang="zh-CN" altLang="en-US" sz="2400" dirty="0"/>
              <a:t>文件作为待选模型。</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选择模型时，点击待选模型，然后点击</a:t>
            </a:r>
            <a:r>
              <a:rPr lang="en-US" altLang="zh-CN" sz="2400" dirty="0"/>
              <a:t>Load/Reload </a:t>
            </a:r>
            <a:r>
              <a:rPr lang="zh-CN" altLang="en-US" sz="2400" dirty="0"/>
              <a:t>按钮，系统会渲染选择的模型。</a:t>
            </a:r>
            <a:endParaRPr lang="en-US" altLang="zh-CN" sz="2400" dirty="0"/>
          </a:p>
        </p:txBody>
      </p:sp>
      <p:pic>
        <p:nvPicPr>
          <p:cNvPr id="6" name="图片 5">
            <a:extLst>
              <a:ext uri="{FF2B5EF4-FFF2-40B4-BE49-F238E27FC236}">
                <a16:creationId xmlns:a16="http://schemas.microsoft.com/office/drawing/2014/main" id="{BE13E41C-035D-0464-CEC0-ACFEAD4B0A51}"/>
              </a:ext>
            </a:extLst>
          </p:cNvPr>
          <p:cNvPicPr>
            <a:picLocks noChangeAspect="1"/>
          </p:cNvPicPr>
          <p:nvPr/>
        </p:nvPicPr>
        <p:blipFill>
          <a:blip r:embed="rId3">
            <a:extLst>
              <a:ext uri="{28A0092B-C50C-407E-A947-70E740481C1C}">
                <a14:useLocalDpi xmlns:a14="http://schemas.microsoft.com/office/drawing/2010/main" val="0"/>
              </a:ext>
            </a:extLst>
          </a:blip>
          <a:srcRect l="3442" t="34452" r="65589" b="7596"/>
          <a:stretch>
            <a:fillRect/>
          </a:stretch>
        </p:blipFill>
        <p:spPr>
          <a:xfrm>
            <a:off x="5855417" y="365125"/>
            <a:ext cx="5624531" cy="6095204"/>
          </a:xfrm>
          <a:prstGeom prst="rect">
            <a:avLst/>
          </a:prstGeom>
        </p:spPr>
      </p:pic>
    </p:spTree>
    <p:extLst>
      <p:ext uri="{BB962C8B-B14F-4D97-AF65-F5344CB8AC3E}">
        <p14:creationId xmlns:p14="http://schemas.microsoft.com/office/powerpoint/2010/main" val="133688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74AB-72F6-6F07-504D-F4A6DB82E3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624E1E-85C1-AF0F-3084-67F5E001E007}"/>
              </a:ext>
            </a:extLst>
          </p:cNvPr>
          <p:cNvSpPr>
            <a:spLocks noGrp="1"/>
          </p:cNvSpPr>
          <p:nvPr>
            <p:ph type="title"/>
          </p:nvPr>
        </p:nvSpPr>
        <p:spPr/>
        <p:txBody>
          <a:bodyPr/>
          <a:lstStyle/>
          <a:p>
            <a:r>
              <a:rPr lang="zh-CN" altLang="en-US" b="1" dirty="0"/>
              <a:t>使用方法</a:t>
            </a:r>
            <a:r>
              <a:rPr lang="en-US" altLang="zh-CN" b="1" dirty="0"/>
              <a:t>-Model</a:t>
            </a:r>
            <a:endParaRPr lang="zh-CN" altLang="en-US" b="1" dirty="0"/>
          </a:p>
        </p:txBody>
      </p:sp>
      <p:sp>
        <p:nvSpPr>
          <p:cNvPr id="4" name="文本框 3">
            <a:extLst>
              <a:ext uri="{FF2B5EF4-FFF2-40B4-BE49-F238E27FC236}">
                <a16:creationId xmlns:a16="http://schemas.microsoft.com/office/drawing/2014/main" id="{8C422DB2-965D-DEB8-3CEB-8ECDB90FF950}"/>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基础几何形状</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angle.obj</a:t>
            </a:r>
            <a:r>
              <a:rPr lang="zh-CN" altLang="en-US" sz="2400" dirty="0"/>
              <a:t>：用于角度测试</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quad.obj</a:t>
            </a:r>
            <a:r>
              <a:rPr lang="zh-CN" altLang="en-US" sz="2400" dirty="0"/>
              <a:t>：四边形平面</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circle.obj</a:t>
            </a:r>
            <a:r>
              <a:rPr lang="zh-CN" altLang="en-US" sz="2400" dirty="0"/>
              <a:t>：平面原型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cube.obj</a:t>
            </a:r>
            <a:r>
              <a:rPr lang="zh-CN" altLang="en-US" sz="2400" dirty="0"/>
              <a:t>：立方体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cone.obj</a:t>
            </a:r>
            <a:r>
              <a:rPr lang="zh-CN" altLang="en-US" sz="2400" dirty="0"/>
              <a:t>：圆锥体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cylinder.obj</a:t>
            </a:r>
            <a:r>
              <a:rPr lang="zh-CN" altLang="en-US" sz="2400" dirty="0"/>
              <a:t>：圆柱体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grid.obj</a:t>
            </a:r>
            <a:r>
              <a:rPr lang="zh-CN" altLang="en-US" sz="2400" dirty="0"/>
              <a:t>：网格平面</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endParaRPr lang="en-US" altLang="zh-CN" sz="2400" dirty="0"/>
          </a:p>
          <a:p>
            <a:pPr lvl="2" defTabSz="0">
              <a:lnSpc>
                <a:spcPct val="145000"/>
              </a:lnSpc>
              <a:spcBef>
                <a:spcPts val="500"/>
              </a:spcBef>
              <a:spcAft>
                <a:spcPct val="0"/>
              </a:spcAft>
            </a:pPr>
            <a:endParaRPr lang="en-US" altLang="zh-CN" sz="2400" dirty="0"/>
          </a:p>
        </p:txBody>
      </p:sp>
      <p:pic>
        <p:nvPicPr>
          <p:cNvPr id="7" name="图片 6">
            <a:extLst>
              <a:ext uri="{FF2B5EF4-FFF2-40B4-BE49-F238E27FC236}">
                <a16:creationId xmlns:a16="http://schemas.microsoft.com/office/drawing/2014/main" id="{4C5B55FA-811D-0544-A96C-35AD0C0269E9}"/>
              </a:ext>
            </a:extLst>
          </p:cNvPr>
          <p:cNvPicPr>
            <a:picLocks noChangeAspect="1"/>
          </p:cNvPicPr>
          <p:nvPr/>
        </p:nvPicPr>
        <p:blipFill>
          <a:blip r:embed="rId3">
            <a:extLst>
              <a:ext uri="{28A0092B-C50C-407E-A947-70E740481C1C}">
                <a14:useLocalDpi xmlns:a14="http://schemas.microsoft.com/office/drawing/2010/main" val="0"/>
              </a:ext>
            </a:extLst>
          </a:blip>
          <a:srcRect l="3442" t="34452" r="65589" b="7596"/>
          <a:stretch>
            <a:fillRect/>
          </a:stretch>
        </p:blipFill>
        <p:spPr>
          <a:xfrm>
            <a:off x="5855417" y="365125"/>
            <a:ext cx="5624531" cy="6095204"/>
          </a:xfrm>
          <a:prstGeom prst="rect">
            <a:avLst/>
          </a:prstGeom>
        </p:spPr>
      </p:pic>
    </p:spTree>
    <p:extLst>
      <p:ext uri="{BB962C8B-B14F-4D97-AF65-F5344CB8AC3E}">
        <p14:creationId xmlns:p14="http://schemas.microsoft.com/office/powerpoint/2010/main" val="2446791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694FF-77F8-BB3A-5E9D-42A1FCF6C9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7BCB12-7781-E76C-D4C7-F9BE4CDFE56E}"/>
              </a:ext>
            </a:extLst>
          </p:cNvPr>
          <p:cNvSpPr>
            <a:spLocks noGrp="1"/>
          </p:cNvSpPr>
          <p:nvPr>
            <p:ph type="title"/>
          </p:nvPr>
        </p:nvSpPr>
        <p:spPr/>
        <p:txBody>
          <a:bodyPr/>
          <a:lstStyle/>
          <a:p>
            <a:r>
              <a:rPr lang="zh-CN" altLang="en-US" b="1" dirty="0"/>
              <a:t>使用方法</a:t>
            </a:r>
            <a:r>
              <a:rPr lang="en-US" altLang="zh-CN" b="1" dirty="0"/>
              <a:t>-Model</a:t>
            </a:r>
            <a:endParaRPr lang="zh-CN" altLang="en-US" b="1" dirty="0"/>
          </a:p>
        </p:txBody>
      </p:sp>
      <p:sp>
        <p:nvSpPr>
          <p:cNvPr id="4" name="文本框 3">
            <a:extLst>
              <a:ext uri="{FF2B5EF4-FFF2-40B4-BE49-F238E27FC236}">
                <a16:creationId xmlns:a16="http://schemas.microsoft.com/office/drawing/2014/main" id="{B57B8401-E736-AB12-454A-27637142F42B}"/>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球体类型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icoSphere.obj</a:t>
            </a:r>
            <a:r>
              <a:rPr lang="zh-CN" altLang="en-US" sz="2400" dirty="0"/>
              <a:t>：二十面球体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uvSphere.obj</a:t>
            </a:r>
            <a:r>
              <a:rPr lang="zh-CN" altLang="en-US" sz="2400" dirty="0"/>
              <a:t>：</a:t>
            </a:r>
            <a:r>
              <a:rPr lang="en-US" altLang="zh-CN" sz="2400" dirty="0"/>
              <a:t>UV</a:t>
            </a:r>
            <a:r>
              <a:rPr lang="zh-CN" altLang="en-US" sz="2400" dirty="0"/>
              <a:t>球体</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复杂几何体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glass.obj</a:t>
            </a:r>
            <a:r>
              <a:rPr lang="zh-CN" altLang="en-US" sz="2400" dirty="0"/>
              <a:t>：玻璃杯</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torus.obj</a:t>
            </a:r>
            <a:r>
              <a:rPr lang="zh-CN" altLang="en-US" sz="2400" dirty="0"/>
              <a:t>：圆环体</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donut.obj</a:t>
            </a:r>
            <a:r>
              <a:rPr lang="zh-CN" altLang="en-US" sz="2400" dirty="0"/>
              <a:t>：甜甜圈</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endParaRPr lang="en-US" altLang="zh-CN" sz="2400" dirty="0"/>
          </a:p>
        </p:txBody>
      </p:sp>
      <p:pic>
        <p:nvPicPr>
          <p:cNvPr id="7" name="图片 6">
            <a:extLst>
              <a:ext uri="{FF2B5EF4-FFF2-40B4-BE49-F238E27FC236}">
                <a16:creationId xmlns:a16="http://schemas.microsoft.com/office/drawing/2014/main" id="{5D0E238B-8E48-A694-DDF9-933F88D5ADA7}"/>
              </a:ext>
            </a:extLst>
          </p:cNvPr>
          <p:cNvPicPr>
            <a:picLocks noChangeAspect="1"/>
          </p:cNvPicPr>
          <p:nvPr/>
        </p:nvPicPr>
        <p:blipFill>
          <a:blip r:embed="rId3">
            <a:extLst>
              <a:ext uri="{28A0092B-C50C-407E-A947-70E740481C1C}">
                <a14:useLocalDpi xmlns:a14="http://schemas.microsoft.com/office/drawing/2010/main" val="0"/>
              </a:ext>
            </a:extLst>
          </a:blip>
          <a:srcRect l="3442" t="34452" r="65589" b="7596"/>
          <a:stretch>
            <a:fillRect/>
          </a:stretch>
        </p:blipFill>
        <p:spPr>
          <a:xfrm>
            <a:off x="5855417" y="365125"/>
            <a:ext cx="5624531" cy="6095204"/>
          </a:xfrm>
          <a:prstGeom prst="rect">
            <a:avLst/>
          </a:prstGeom>
        </p:spPr>
      </p:pic>
    </p:spTree>
    <p:extLst>
      <p:ext uri="{BB962C8B-B14F-4D97-AF65-F5344CB8AC3E}">
        <p14:creationId xmlns:p14="http://schemas.microsoft.com/office/powerpoint/2010/main" val="457315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0BB1-2540-24FA-0FC0-DD5080D7D0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D24BC5C-306F-1161-51EB-F0278AF448AE}"/>
              </a:ext>
            </a:extLst>
          </p:cNvPr>
          <p:cNvSpPr>
            <a:spLocks noGrp="1"/>
          </p:cNvSpPr>
          <p:nvPr>
            <p:ph type="title"/>
          </p:nvPr>
        </p:nvSpPr>
        <p:spPr/>
        <p:txBody>
          <a:bodyPr/>
          <a:lstStyle/>
          <a:p>
            <a:r>
              <a:rPr lang="zh-CN" altLang="en-US" b="1" dirty="0"/>
              <a:t>使用方法</a:t>
            </a:r>
            <a:r>
              <a:rPr lang="en-US" altLang="zh-CN" b="1" dirty="0"/>
              <a:t>-Model</a:t>
            </a:r>
            <a:endParaRPr lang="zh-CN" altLang="en-US" b="1" dirty="0"/>
          </a:p>
        </p:txBody>
      </p:sp>
      <p:sp>
        <p:nvSpPr>
          <p:cNvPr id="4" name="文本框 3">
            <a:extLst>
              <a:ext uri="{FF2B5EF4-FFF2-40B4-BE49-F238E27FC236}">
                <a16:creationId xmlns:a16="http://schemas.microsoft.com/office/drawing/2014/main" id="{DFDF2337-B932-31F0-9D75-264EDC3AB29F}"/>
              </a:ext>
            </a:extLst>
          </p:cNvPr>
          <p:cNvSpPr txBox="1"/>
          <p:nvPr userDrawn="1"/>
        </p:nvSpPr>
        <p:spPr>
          <a:xfrm>
            <a:off x="616472" y="1473792"/>
            <a:ext cx="10515600"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模型选项卡中会显示当前的面片数（</a:t>
            </a:r>
            <a:r>
              <a:rPr lang="en-US" altLang="zh-CN" sz="2400" dirty="0"/>
              <a:t>number of faces</a:t>
            </a:r>
            <a:r>
              <a:rPr lang="zh-CN" altLang="en-US" sz="2400" dirty="0"/>
              <a:t>）和顶点数（</a:t>
            </a:r>
            <a:r>
              <a:rPr lang="en-US" altLang="zh-CN" sz="2400" dirty="0"/>
              <a:t>number of vertices</a:t>
            </a:r>
            <a:r>
              <a:rPr lang="zh-CN" altLang="en-US" sz="2400" dirty="0"/>
              <a:t>）。如果模型大小不适合，可以通过拖动底部的</a:t>
            </a:r>
            <a:r>
              <a:rPr lang="en-US" altLang="zh-CN" sz="2400" dirty="0"/>
              <a:t>resize</a:t>
            </a:r>
            <a:r>
              <a:rPr lang="zh-CN" altLang="en-US" sz="2400" dirty="0"/>
              <a:t>条来缩放模型。</a:t>
            </a:r>
            <a:endParaRPr lang="en-US" altLang="zh-CN" sz="2400" dirty="0"/>
          </a:p>
        </p:txBody>
      </p:sp>
      <p:pic>
        <p:nvPicPr>
          <p:cNvPr id="3" name="图片 2">
            <a:extLst>
              <a:ext uri="{FF2B5EF4-FFF2-40B4-BE49-F238E27FC236}">
                <a16:creationId xmlns:a16="http://schemas.microsoft.com/office/drawing/2014/main" id="{8E038BFE-5FBF-7ABB-830A-79070A2C9EFE}"/>
              </a:ext>
            </a:extLst>
          </p:cNvPr>
          <p:cNvPicPr>
            <a:picLocks noChangeAspect="1"/>
          </p:cNvPicPr>
          <p:nvPr/>
        </p:nvPicPr>
        <p:blipFill>
          <a:blip r:embed="rId2"/>
          <a:srcRect t="70042" r="53755" b="10080"/>
          <a:stretch>
            <a:fillRect/>
          </a:stretch>
        </p:blipFill>
        <p:spPr>
          <a:xfrm>
            <a:off x="896911" y="3190680"/>
            <a:ext cx="10398177" cy="2799522"/>
          </a:xfrm>
          <a:prstGeom prst="rect">
            <a:avLst/>
          </a:prstGeom>
        </p:spPr>
      </p:pic>
    </p:spTree>
    <p:extLst>
      <p:ext uri="{BB962C8B-B14F-4D97-AF65-F5344CB8AC3E}">
        <p14:creationId xmlns:p14="http://schemas.microsoft.com/office/powerpoint/2010/main" val="377353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9569E-9555-2618-88EF-B509D332F0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A20E99E-7D8E-5E5C-2F45-F669EE396FC9}"/>
              </a:ext>
            </a:extLst>
          </p:cNvPr>
          <p:cNvSpPr>
            <a:spLocks noGrp="1"/>
          </p:cNvSpPr>
          <p:nvPr>
            <p:ph type="title"/>
          </p:nvPr>
        </p:nvSpPr>
        <p:spPr/>
        <p:txBody>
          <a:bodyPr/>
          <a:lstStyle/>
          <a:p>
            <a:r>
              <a:rPr lang="zh-CN" altLang="en-US" b="1" dirty="0"/>
              <a:t>使用方法</a:t>
            </a:r>
            <a:r>
              <a:rPr lang="en-US" altLang="zh-CN" b="1" dirty="0"/>
              <a:t>-Model</a:t>
            </a:r>
            <a:endParaRPr lang="zh-CN" altLang="en-US" b="1" dirty="0"/>
          </a:p>
        </p:txBody>
      </p:sp>
      <p:sp>
        <p:nvSpPr>
          <p:cNvPr id="4" name="文本框 3">
            <a:extLst>
              <a:ext uri="{FF2B5EF4-FFF2-40B4-BE49-F238E27FC236}">
                <a16:creationId xmlns:a16="http://schemas.microsoft.com/office/drawing/2014/main" id="{39703485-2C52-4B0D-2DB0-B567BAC283FD}"/>
              </a:ext>
            </a:extLst>
          </p:cNvPr>
          <p:cNvSpPr txBox="1"/>
          <p:nvPr userDrawn="1"/>
        </p:nvSpPr>
        <p:spPr>
          <a:xfrm>
            <a:off x="616472" y="1473792"/>
            <a:ext cx="10515600"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选择模型，点击</a:t>
            </a:r>
            <a:r>
              <a:rPr lang="en-US" altLang="zh-CN" sz="2400" dirty="0"/>
              <a:t>Load/Reload</a:t>
            </a:r>
            <a:r>
              <a:rPr lang="zh-CN" altLang="en-US" sz="2400" dirty="0"/>
              <a:t>按钮后的画面如下：</a:t>
            </a:r>
            <a:endParaRPr lang="en-US" altLang="zh-CN" sz="2400" dirty="0"/>
          </a:p>
        </p:txBody>
      </p:sp>
      <p:pic>
        <p:nvPicPr>
          <p:cNvPr id="6" name="图片 5">
            <a:extLst>
              <a:ext uri="{FF2B5EF4-FFF2-40B4-BE49-F238E27FC236}">
                <a16:creationId xmlns:a16="http://schemas.microsoft.com/office/drawing/2014/main" id="{14874917-A9DC-493D-D371-4CC4206BA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3450" y="2111992"/>
            <a:ext cx="7865100" cy="4554589"/>
          </a:xfrm>
          <a:prstGeom prst="rect">
            <a:avLst/>
          </a:prstGeom>
        </p:spPr>
      </p:pic>
    </p:spTree>
    <p:extLst>
      <p:ext uri="{BB962C8B-B14F-4D97-AF65-F5344CB8AC3E}">
        <p14:creationId xmlns:p14="http://schemas.microsoft.com/office/powerpoint/2010/main" val="2169658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C9F14-DAFD-6031-9442-C044AE427A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CF5BB3-EEDE-811A-6E58-C737AEE49A44}"/>
              </a:ext>
            </a:extLst>
          </p:cNvPr>
          <p:cNvSpPr>
            <a:spLocks noGrp="1"/>
          </p:cNvSpPr>
          <p:nvPr>
            <p:ph type="title"/>
          </p:nvPr>
        </p:nvSpPr>
        <p:spPr/>
        <p:txBody>
          <a:bodyPr/>
          <a:lstStyle/>
          <a:p>
            <a:r>
              <a:rPr lang="zh-CN" altLang="en-US" b="1" dirty="0"/>
              <a:t>使用方法</a:t>
            </a:r>
            <a:r>
              <a:rPr lang="en-US" altLang="zh-CN" b="1" dirty="0"/>
              <a:t>-Model </a:t>
            </a:r>
            <a:r>
              <a:rPr lang="zh-CN" altLang="en-US" b="1" dirty="0"/>
              <a:t>基本操作</a:t>
            </a:r>
          </a:p>
        </p:txBody>
      </p:sp>
      <p:sp>
        <p:nvSpPr>
          <p:cNvPr id="4" name="文本框 3">
            <a:extLst>
              <a:ext uri="{FF2B5EF4-FFF2-40B4-BE49-F238E27FC236}">
                <a16:creationId xmlns:a16="http://schemas.microsoft.com/office/drawing/2014/main" id="{C448DE17-B6DC-1644-F70A-1A34AB26002F}"/>
              </a:ext>
            </a:extLst>
          </p:cNvPr>
          <p:cNvSpPr txBox="1"/>
          <p:nvPr userDrawn="1"/>
        </p:nvSpPr>
        <p:spPr>
          <a:xfrm>
            <a:off x="616471" y="1473792"/>
            <a:ext cx="10611509"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系统运行后，按照面板加载模型，加载模型后</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按住鼠标滚轮可以拖动视角，滚动鼠标滚轮可以前后调整视角</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按下</a:t>
            </a:r>
            <a:r>
              <a:rPr lang="en-US" altLang="zh-CN" sz="2400" dirty="0"/>
              <a:t>Esc</a:t>
            </a:r>
            <a:r>
              <a:rPr lang="zh-CN" altLang="en-US" sz="2400" dirty="0"/>
              <a:t>或者</a:t>
            </a:r>
            <a:r>
              <a:rPr lang="en-US" altLang="zh-CN" sz="2400" dirty="0"/>
              <a:t>Q</a:t>
            </a:r>
            <a:r>
              <a:rPr lang="zh-CN" altLang="en-US" sz="2400" dirty="0"/>
              <a:t>可以退出程序</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按下</a:t>
            </a:r>
            <a:r>
              <a:rPr lang="en-US" altLang="zh-CN" sz="2400" dirty="0"/>
              <a:t>W</a:t>
            </a:r>
            <a:r>
              <a:rPr lang="zh-CN" altLang="en-US" sz="2400" dirty="0"/>
              <a:t>可以关闭</a:t>
            </a:r>
            <a:r>
              <a:rPr lang="en-US" altLang="zh-CN" sz="2400" dirty="0"/>
              <a:t>/</a:t>
            </a:r>
            <a:r>
              <a:rPr lang="zh-CN" altLang="en-US" sz="2400" dirty="0"/>
              <a:t>开启线框</a:t>
            </a:r>
            <a:endParaRPr lang="en-US" altLang="zh-CN" sz="2400" dirty="0"/>
          </a:p>
        </p:txBody>
      </p:sp>
      <p:pic>
        <p:nvPicPr>
          <p:cNvPr id="5" name="图片 4">
            <a:extLst>
              <a:ext uri="{FF2B5EF4-FFF2-40B4-BE49-F238E27FC236}">
                <a16:creationId xmlns:a16="http://schemas.microsoft.com/office/drawing/2014/main" id="{3ECAFD86-DEBE-A5DB-5CF2-52431EDEA72A}"/>
              </a:ext>
            </a:extLst>
          </p:cNvPr>
          <p:cNvPicPr>
            <a:picLocks noChangeAspect="1"/>
          </p:cNvPicPr>
          <p:nvPr/>
        </p:nvPicPr>
        <p:blipFill>
          <a:blip r:embed="rId2" cstate="print">
            <a:extLst>
              <a:ext uri="{28A0092B-C50C-407E-A947-70E740481C1C}">
                <a14:useLocalDpi xmlns:a14="http://schemas.microsoft.com/office/drawing/2010/main" val="0"/>
              </a:ext>
            </a:extLst>
          </a:blip>
          <a:srcRect l="39593" t="32464" r="18780" b="13237"/>
          <a:stretch>
            <a:fillRect/>
          </a:stretch>
        </p:blipFill>
        <p:spPr>
          <a:xfrm>
            <a:off x="6096000" y="3954904"/>
            <a:ext cx="3114261" cy="2352439"/>
          </a:xfrm>
          <a:prstGeom prst="rect">
            <a:avLst/>
          </a:prstGeom>
        </p:spPr>
      </p:pic>
      <p:pic>
        <p:nvPicPr>
          <p:cNvPr id="7" name="图片 6">
            <a:extLst>
              <a:ext uri="{FF2B5EF4-FFF2-40B4-BE49-F238E27FC236}">
                <a16:creationId xmlns:a16="http://schemas.microsoft.com/office/drawing/2014/main" id="{01E96B4F-A76B-B612-FA3A-F793C8913565}"/>
              </a:ext>
            </a:extLst>
          </p:cNvPr>
          <p:cNvPicPr>
            <a:picLocks noChangeAspect="1"/>
          </p:cNvPicPr>
          <p:nvPr/>
        </p:nvPicPr>
        <p:blipFill>
          <a:blip r:embed="rId3" cstate="print">
            <a:extLst>
              <a:ext uri="{28A0092B-C50C-407E-A947-70E740481C1C}">
                <a14:useLocalDpi xmlns:a14="http://schemas.microsoft.com/office/drawing/2010/main" val="0"/>
              </a:ext>
            </a:extLst>
          </a:blip>
          <a:srcRect l="38922" t="29952" r="17213" b="12464"/>
          <a:stretch>
            <a:fillRect/>
          </a:stretch>
        </p:blipFill>
        <p:spPr>
          <a:xfrm>
            <a:off x="2676937" y="3954904"/>
            <a:ext cx="3114261" cy="2367475"/>
          </a:xfrm>
          <a:prstGeom prst="rect">
            <a:avLst/>
          </a:prstGeom>
        </p:spPr>
      </p:pic>
    </p:spTree>
    <p:extLst>
      <p:ext uri="{BB962C8B-B14F-4D97-AF65-F5344CB8AC3E}">
        <p14:creationId xmlns:p14="http://schemas.microsoft.com/office/powerpoint/2010/main" val="3223488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D112-6DBA-34E8-009C-82E200FDCA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5455D7-D07E-C909-131A-1645A2354407}"/>
              </a:ext>
            </a:extLst>
          </p:cNvPr>
          <p:cNvSpPr>
            <a:spLocks noGrp="1"/>
          </p:cNvSpPr>
          <p:nvPr>
            <p:ph type="title"/>
          </p:nvPr>
        </p:nvSpPr>
        <p:spPr/>
        <p:txBody>
          <a:bodyPr/>
          <a:lstStyle/>
          <a:p>
            <a:r>
              <a:rPr lang="zh-CN" altLang="en-US" b="1" dirty="0"/>
              <a:t>使用方法</a:t>
            </a:r>
            <a:r>
              <a:rPr lang="en-US" altLang="zh-CN" b="1" dirty="0"/>
              <a:t>-Algorithms</a:t>
            </a:r>
            <a:endParaRPr lang="zh-CN" altLang="en-US" b="1" dirty="0"/>
          </a:p>
        </p:txBody>
      </p:sp>
      <p:sp>
        <p:nvSpPr>
          <p:cNvPr id="4" name="文本框 3">
            <a:extLst>
              <a:ext uri="{FF2B5EF4-FFF2-40B4-BE49-F238E27FC236}">
                <a16:creationId xmlns:a16="http://schemas.microsoft.com/office/drawing/2014/main" id="{D96B2524-D0FB-5440-2BD4-CF336CCD7780}"/>
              </a:ext>
            </a:extLst>
          </p:cNvPr>
          <p:cNvSpPr txBox="1"/>
          <p:nvPr userDrawn="1"/>
        </p:nvSpPr>
        <p:spPr>
          <a:xfrm>
            <a:off x="477079" y="1473792"/>
            <a:ext cx="5355732"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200" dirty="0"/>
              <a:t>算法文件被保存在</a:t>
            </a:r>
            <a:r>
              <a:rPr lang="en-US" altLang="zh-CN" sz="2200" dirty="0"/>
              <a:t>source/lib/algorithms </a:t>
            </a:r>
            <a:r>
              <a:rPr lang="zh-CN" altLang="en-US" sz="2200" dirty="0"/>
              <a:t>文件夹下，</a:t>
            </a:r>
            <a:r>
              <a:rPr lang="en-US" altLang="zh-CN" sz="2200" dirty="0" err="1"/>
              <a:t>CMake</a:t>
            </a:r>
            <a:r>
              <a:rPr lang="en-US" altLang="zh-CN" sz="2200" dirty="0"/>
              <a:t> </a:t>
            </a:r>
            <a:r>
              <a:rPr lang="zh-CN" altLang="en-US" sz="2200" dirty="0"/>
              <a:t>会自动读取并编译文件夹下的所有文件作为接口库供系统调用，在</a:t>
            </a:r>
            <a:r>
              <a:rPr lang="en-US" altLang="zh-CN" sz="2200" dirty="0"/>
              <a:t>main.cpp </a:t>
            </a:r>
            <a:r>
              <a:rPr lang="zh-CN" altLang="en-US" sz="2200" dirty="0"/>
              <a:t>中的</a:t>
            </a:r>
            <a:r>
              <a:rPr lang="en-US" altLang="zh-CN" sz="2200" dirty="0"/>
              <a:t>solvers </a:t>
            </a:r>
            <a:r>
              <a:rPr lang="zh-CN" altLang="en-US" sz="2200" dirty="0"/>
              <a:t>列表中注册算法函数</a:t>
            </a:r>
            <a:endParaRPr lang="en-US" altLang="zh-CN" sz="2200" dirty="0"/>
          </a:p>
          <a:p>
            <a:pPr marL="685800" lvl="1" indent="-228600" defTabSz="0">
              <a:lnSpc>
                <a:spcPct val="145000"/>
              </a:lnSpc>
              <a:spcBef>
                <a:spcPts val="500"/>
              </a:spcBef>
              <a:spcAft>
                <a:spcPct val="0"/>
              </a:spcAft>
              <a:buFont typeface="Arial" panose="020B0604020202020204" pitchFamily="34" charset="0"/>
              <a:buChar char="•"/>
            </a:pPr>
            <a:r>
              <a:rPr lang="en-US" altLang="zh-CN" sz="2200" dirty="0"/>
              <a:t>UI</a:t>
            </a:r>
            <a:r>
              <a:rPr lang="zh-CN" altLang="en-US" sz="2200" dirty="0"/>
              <a:t>界面里读入模型后可以选择需要运行的算法。</a:t>
            </a:r>
            <a:r>
              <a:rPr lang="en-US" altLang="zh-CN" sz="2200" dirty="0"/>
              <a:t>Algorithms</a:t>
            </a:r>
            <a:r>
              <a:rPr lang="zh-CN" altLang="en-US" sz="2200" dirty="0"/>
              <a:t>列表中展示所有注册过的算法，右侧会显示当前选中的算法，未选中时显示</a:t>
            </a:r>
            <a:r>
              <a:rPr lang="en-US" altLang="zh-CN" sz="2200" dirty="0"/>
              <a:t>None</a:t>
            </a:r>
          </a:p>
        </p:txBody>
      </p:sp>
      <p:pic>
        <p:nvPicPr>
          <p:cNvPr id="3" name="图片 2">
            <a:extLst>
              <a:ext uri="{FF2B5EF4-FFF2-40B4-BE49-F238E27FC236}">
                <a16:creationId xmlns:a16="http://schemas.microsoft.com/office/drawing/2014/main" id="{431D1C82-3C58-2C73-CD19-0C2C1F436D51}"/>
              </a:ext>
            </a:extLst>
          </p:cNvPr>
          <p:cNvPicPr>
            <a:picLocks noChangeAspect="1"/>
          </p:cNvPicPr>
          <p:nvPr/>
        </p:nvPicPr>
        <p:blipFill>
          <a:blip r:embed="rId3">
            <a:extLst>
              <a:ext uri="{28A0092B-C50C-407E-A947-70E740481C1C}">
                <a14:useLocalDpi xmlns:a14="http://schemas.microsoft.com/office/drawing/2010/main" val="0"/>
              </a:ext>
            </a:extLst>
          </a:blip>
          <a:srcRect b="67950"/>
          <a:stretch>
            <a:fillRect/>
          </a:stretch>
        </p:blipFill>
        <p:spPr>
          <a:xfrm>
            <a:off x="6193932" y="1473792"/>
            <a:ext cx="5355732" cy="2750468"/>
          </a:xfrm>
          <a:prstGeom prst="rect">
            <a:avLst/>
          </a:prstGeom>
        </p:spPr>
      </p:pic>
    </p:spTree>
    <p:extLst>
      <p:ext uri="{BB962C8B-B14F-4D97-AF65-F5344CB8AC3E}">
        <p14:creationId xmlns:p14="http://schemas.microsoft.com/office/powerpoint/2010/main" val="2741631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7949-8AE0-9165-0B20-0BDBCE208D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7CACF2-8B62-C384-BCE1-014FB9277B4A}"/>
              </a:ext>
            </a:extLst>
          </p:cNvPr>
          <p:cNvSpPr>
            <a:spLocks noGrp="1"/>
          </p:cNvSpPr>
          <p:nvPr>
            <p:ph type="title"/>
          </p:nvPr>
        </p:nvSpPr>
        <p:spPr/>
        <p:txBody>
          <a:bodyPr/>
          <a:lstStyle/>
          <a:p>
            <a:r>
              <a:rPr lang="zh-CN" altLang="en-US" b="1" dirty="0"/>
              <a:t>使用方法</a:t>
            </a:r>
            <a:r>
              <a:rPr lang="en-US" altLang="zh-CN" b="1" dirty="0"/>
              <a:t>-Algorithms</a:t>
            </a:r>
            <a:endParaRPr lang="zh-CN" altLang="en-US" b="1"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B0A4CEB-F8D6-2C85-27EF-DD0F54C21F75}"/>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选择算法后点击下方的</a:t>
                </a:r>
                <a:r>
                  <a:rPr lang="en-US" altLang="zh-CN" sz="2400" dirty="0"/>
                  <a:t>Run</a:t>
                </a:r>
                <a:r>
                  <a:rPr lang="zh-CN" altLang="en-US" sz="2400" dirty="0"/>
                  <a:t>按钮运行算法，运行结果在屏幕上展示，同时模型选项卡下的面片数量和顶点数量也会相应改变。</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Loop Subdivision</a:t>
                </a:r>
                <a:r>
                  <a:rPr lang="zh-CN" altLang="en-US" sz="2400" dirty="0"/>
                  <a:t>：</a:t>
                </a:r>
                <a:r>
                  <a:rPr lang="en-US" altLang="zh-CN" sz="2400" dirty="0"/>
                  <a:t>Loop</a:t>
                </a:r>
                <a:r>
                  <a:rPr lang="zh-CN" altLang="en-US" sz="2400" dirty="0"/>
                  <a:t>细分</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Root3 Subdivision</a:t>
                </a:r>
                <a:r>
                  <a:rPr lang="zh-CN" altLang="en-US" sz="2400" dirty="0"/>
                  <a:t>：</a:t>
                </a: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Mesh Optimize</a:t>
                </a:r>
                <a:r>
                  <a:rPr lang="zh-CN" altLang="en-US" sz="2400" dirty="0"/>
                  <a:t>：网格简化</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endParaRPr lang="en-US" altLang="zh-CN" sz="2400" dirty="0"/>
              </a:p>
            </p:txBody>
          </p:sp>
        </mc:Choice>
        <mc:Fallback xmlns="">
          <p:sp>
            <p:nvSpPr>
              <p:cNvPr id="4" name="文本框 3">
                <a:extLst>
                  <a:ext uri="{FF2B5EF4-FFF2-40B4-BE49-F238E27FC236}">
                    <a16:creationId xmlns:a16="http://schemas.microsoft.com/office/drawing/2014/main" id="{4B0A4CEB-F8D6-2C85-27EF-DD0F54C21F75}"/>
                  </a:ext>
                </a:extLst>
              </p:cNvPr>
              <p:cNvSpPr txBox="1">
                <a:spLocks noRot="1" noChangeAspect="1" noMove="1" noResize="1" noEditPoints="1" noAdjustHandles="1" noChangeArrowheads="1" noChangeShapeType="1" noTextEdit="1"/>
              </p:cNvSpPr>
              <p:nvPr userDrawn="1"/>
            </p:nvSpPr>
            <p:spPr>
              <a:xfrm>
                <a:off x="616471" y="1473792"/>
                <a:ext cx="5624531" cy="1716888"/>
              </a:xfrm>
              <a:prstGeom prst="rect">
                <a:avLst/>
              </a:prstGeom>
              <a:blipFill>
                <a:blip r:embed="rId2"/>
                <a:stretch>
                  <a:fillRect b="-14163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92B05BA-33FD-BB5E-0328-97D706678C56}"/>
              </a:ext>
            </a:extLst>
          </p:cNvPr>
          <p:cNvPicPr>
            <a:picLocks noChangeAspect="1"/>
          </p:cNvPicPr>
          <p:nvPr/>
        </p:nvPicPr>
        <p:blipFill>
          <a:blip r:embed="rId3">
            <a:extLst>
              <a:ext uri="{28A0092B-C50C-407E-A947-70E740481C1C}">
                <a14:useLocalDpi xmlns:a14="http://schemas.microsoft.com/office/drawing/2010/main" val="0"/>
              </a:ext>
            </a:extLst>
          </a:blip>
          <a:srcRect b="67950"/>
          <a:stretch>
            <a:fillRect/>
          </a:stretch>
        </p:blipFill>
        <p:spPr>
          <a:xfrm>
            <a:off x="6193932" y="1473792"/>
            <a:ext cx="5355732" cy="2750468"/>
          </a:xfrm>
          <a:prstGeom prst="rect">
            <a:avLst/>
          </a:prstGeom>
        </p:spPr>
      </p:pic>
    </p:spTree>
    <p:extLst>
      <p:ext uri="{BB962C8B-B14F-4D97-AF65-F5344CB8AC3E}">
        <p14:creationId xmlns:p14="http://schemas.microsoft.com/office/powerpoint/2010/main" val="139976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07FF3C1-04B8-481C-40E9-FE6723391345}"/>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-Loop</a:t>
            </a:r>
            <a:r>
              <a:rPr lang="zh-CN" altLang="en-US" b="1" dirty="0"/>
              <a:t>细分</a:t>
            </a:r>
          </a:p>
        </p:txBody>
      </p:sp>
      <p:sp>
        <p:nvSpPr>
          <p:cNvPr id="5" name="文本框 4">
            <a:extLst>
              <a:ext uri="{FF2B5EF4-FFF2-40B4-BE49-F238E27FC236}">
                <a16:creationId xmlns:a16="http://schemas.microsoft.com/office/drawing/2014/main" id="{0BEBB43D-490E-462D-A639-073D38A22A8C}"/>
              </a:ext>
            </a:extLst>
          </p:cNvPr>
          <p:cNvSpPr txBox="1"/>
          <p:nvPr/>
        </p:nvSpPr>
        <p:spPr>
          <a:xfrm>
            <a:off x="616471" y="1473792"/>
            <a:ext cx="4869929"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en-US" altLang="zh-CN" sz="2400" dirty="0"/>
              <a:t>Loop </a:t>
            </a:r>
            <a:r>
              <a:rPr lang="zh-CN" altLang="en-US" sz="2400" dirty="0"/>
              <a:t>细分算法的核心思想是通过迭代在原本网格的每条边上面插入新的顶点以构造更多三角形。</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按照</a:t>
            </a:r>
            <a:r>
              <a:rPr lang="en-US" altLang="zh-CN" sz="2400" dirty="0"/>
              <a:t>1-4</a:t>
            </a:r>
            <a:r>
              <a:rPr lang="zh-CN" altLang="en-US" sz="2400" dirty="0"/>
              <a:t>三角形分裂，每条边计算生成一个新的顶点，同时每个原始顶点更新位置。右图为</a:t>
            </a:r>
            <a:r>
              <a:rPr lang="en-US" altLang="zh-CN" sz="2400" dirty="0"/>
              <a:t>Loop</a:t>
            </a:r>
            <a:r>
              <a:rPr lang="zh-CN" altLang="en-US" sz="2400" dirty="0"/>
              <a:t>细分格式的细分掩膜。</a:t>
            </a:r>
            <a:endParaRPr lang="en-US" altLang="zh-CN" sz="2400" dirty="0"/>
          </a:p>
        </p:txBody>
      </p:sp>
      <p:pic>
        <p:nvPicPr>
          <p:cNvPr id="1026" name="Picture 2">
            <a:extLst>
              <a:ext uri="{FF2B5EF4-FFF2-40B4-BE49-F238E27FC236}">
                <a16:creationId xmlns:a16="http://schemas.microsoft.com/office/drawing/2014/main" id="{8E3EACE9-B05D-AF16-D239-312B1EFB9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9136" y="1690688"/>
            <a:ext cx="5664664" cy="3694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161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1FF6-FF8F-F45B-2458-E97F3E2BD4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C070B4-D4B9-98FA-977B-0C5215F8D9A6}"/>
              </a:ext>
            </a:extLst>
          </p:cNvPr>
          <p:cNvSpPr>
            <a:spLocks noGrp="1"/>
          </p:cNvSpPr>
          <p:nvPr>
            <p:ph type="title"/>
          </p:nvPr>
        </p:nvSpPr>
        <p:spPr/>
        <p:txBody>
          <a:bodyPr/>
          <a:lstStyle/>
          <a:p>
            <a:r>
              <a:rPr lang="zh-CN" altLang="en-US" b="1" dirty="0"/>
              <a:t>使用方法</a:t>
            </a:r>
            <a:r>
              <a:rPr lang="en-US" altLang="zh-CN" b="1" dirty="0"/>
              <a:t>-Loop Subdivision</a:t>
            </a:r>
            <a:endParaRPr lang="zh-CN" altLang="en-US" b="1" dirty="0"/>
          </a:p>
        </p:txBody>
      </p:sp>
      <p:sp>
        <p:nvSpPr>
          <p:cNvPr id="4" name="文本框 3">
            <a:extLst>
              <a:ext uri="{FF2B5EF4-FFF2-40B4-BE49-F238E27FC236}">
                <a16:creationId xmlns:a16="http://schemas.microsoft.com/office/drawing/2014/main" id="{CE79AE54-3CE3-AE42-68E4-CBF7A6CC7B57}"/>
              </a:ext>
            </a:extLst>
          </p:cNvPr>
          <p:cNvSpPr txBox="1"/>
          <p:nvPr userDrawn="1"/>
        </p:nvSpPr>
        <p:spPr>
          <a:xfrm>
            <a:off x="616471" y="1473792"/>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在图形界面中运行算法</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打开图形界面中的模型选项卡，任意选择一个模型，将模型加载并显示在屏幕上。在的算法选项卡，选择</a:t>
            </a:r>
            <a:r>
              <a:rPr lang="en-US" altLang="zh-CN" sz="2000" dirty="0"/>
              <a:t>Loop</a:t>
            </a:r>
            <a:r>
              <a:rPr lang="zh-CN" altLang="en-US" sz="2000" dirty="0"/>
              <a:t>，点击</a:t>
            </a:r>
            <a:r>
              <a:rPr lang="en-US" altLang="zh-CN" sz="2000" dirty="0"/>
              <a:t>Run</a:t>
            </a:r>
            <a:r>
              <a:rPr lang="zh-CN" altLang="en-US" sz="2000" dirty="0"/>
              <a:t>，等待算法运行完毕后即可在屏幕上观察到结果。</a:t>
            </a:r>
            <a:endParaRPr lang="en-US" altLang="zh-CN" sz="2000" dirty="0"/>
          </a:p>
        </p:txBody>
      </p:sp>
      <p:pic>
        <p:nvPicPr>
          <p:cNvPr id="5" name="图片 4" descr="图片包含 图形用户界面&#10;&#10;AI 生成的内容可能不正确。">
            <a:extLst>
              <a:ext uri="{FF2B5EF4-FFF2-40B4-BE49-F238E27FC236}">
                <a16:creationId xmlns:a16="http://schemas.microsoft.com/office/drawing/2014/main" id="{513D0763-033F-B68E-D47A-EF68FF94314B}"/>
              </a:ext>
            </a:extLst>
          </p:cNvPr>
          <p:cNvPicPr>
            <a:picLocks noChangeAspect="1"/>
          </p:cNvPicPr>
          <p:nvPr/>
        </p:nvPicPr>
        <p:blipFill>
          <a:blip r:embed="rId2"/>
          <a:stretch>
            <a:fillRect/>
          </a:stretch>
        </p:blipFill>
        <p:spPr>
          <a:xfrm>
            <a:off x="2802398" y="3601278"/>
            <a:ext cx="6587203" cy="3006065"/>
          </a:xfrm>
          <a:prstGeom prst="rect">
            <a:avLst/>
          </a:prstGeom>
        </p:spPr>
      </p:pic>
    </p:spTree>
    <p:extLst>
      <p:ext uri="{BB962C8B-B14F-4D97-AF65-F5344CB8AC3E}">
        <p14:creationId xmlns:p14="http://schemas.microsoft.com/office/powerpoint/2010/main" val="3082543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62363-3432-0188-B713-A2A80EF143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20D54E3F-66C6-9C42-5FAF-8231F2713B76}"/>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 </a:t>
                </a:r>
                <a14:m>
                  <m:oMath xmlns:m="http://schemas.openxmlformats.org/officeDocument/2006/math">
                    <m:rad>
                      <m:radPr>
                        <m:degHide m:val="on"/>
                        <m:ctrlPr>
                          <a:rPr lang="en-US" altLang="zh-CN" b="1" i="1" dirty="0">
                            <a:latin typeface="Cambria Math" panose="02040503050406030204" pitchFamily="18" charset="0"/>
                          </a:rPr>
                        </m:ctrlPr>
                      </m:radPr>
                      <m:deg/>
                      <m:e>
                        <m:r>
                          <a:rPr lang="en-US" altLang="zh-CN" b="1" i="1" dirty="0">
                            <a:latin typeface="Cambria Math" panose="02040503050406030204" pitchFamily="18" charset="0"/>
                          </a:rPr>
                          <m:t>𝟑</m:t>
                        </m:r>
                      </m:e>
                    </m:rad>
                  </m:oMath>
                </a14:m>
                <a:r>
                  <a:rPr lang="zh-CN" altLang="en-US" b="1" dirty="0"/>
                  <a:t>细分</a:t>
                </a:r>
              </a:p>
            </p:txBody>
          </p:sp>
        </mc:Choice>
        <mc:Fallback xmlns="">
          <p:sp>
            <p:nvSpPr>
              <p:cNvPr id="4" name="标题 1">
                <a:extLst>
                  <a:ext uri="{FF2B5EF4-FFF2-40B4-BE49-F238E27FC236}">
                    <a16:creationId xmlns:a16="http://schemas.microsoft.com/office/drawing/2014/main" id="{20D54E3F-66C6-9C42-5FAF-8231F2713B76}"/>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2"/>
                <a:stretch>
                  <a:fillRect l="-2377"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FC0D042-7E5A-F582-F46D-DB0BACDCB52A}"/>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细分算法在原先的网格三角形中心插入新顶点，然后将它与原先三角形的三个顶点进行链接，最后选择一些边进行翻转操作。由于它包括了顶点插入和边翻转操作，被称为双方案的细分算法。</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每次细分将一个原先的三角形细分为三个，较</a:t>
                </a:r>
                <a:r>
                  <a:rPr lang="en-US" altLang="zh-CN" sz="2400" dirty="0"/>
                  <a:t>Loop</a:t>
                </a:r>
                <a:r>
                  <a:rPr lang="zh-CN" altLang="en-US" sz="2400" dirty="0"/>
                  <a:t>细分具有粒度更细的分辨率。</a:t>
                </a:r>
                <a:endParaRPr lang="en-US" altLang="zh-CN" sz="2400" dirty="0"/>
              </a:p>
            </p:txBody>
          </p:sp>
        </mc:Choice>
        <mc:Fallback xmlns="">
          <p:sp>
            <p:nvSpPr>
              <p:cNvPr id="5" name="文本框 4">
                <a:extLst>
                  <a:ext uri="{FF2B5EF4-FFF2-40B4-BE49-F238E27FC236}">
                    <a16:creationId xmlns:a16="http://schemas.microsoft.com/office/drawing/2014/main" id="{1FC0D042-7E5A-F582-F46D-DB0BACDCB52A}"/>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3"/>
                <a:stretch>
                  <a:fillRect b="-12304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C765CE7-1FD8-4D48-8993-D81134568F40}"/>
              </a:ext>
            </a:extLst>
          </p:cNvPr>
          <p:cNvSpPr txBox="1"/>
          <p:nvPr/>
        </p:nvSpPr>
        <p:spPr>
          <a:xfrm>
            <a:off x="616471" y="3645635"/>
            <a:ext cx="10515600" cy="1325563"/>
          </a:xfrm>
          <a:prstGeom prst="rect">
            <a:avLst/>
          </a:prstGeom>
        </p:spPr>
        <p:txBody>
          <a:bodyPr wrap="square" rtlCol="0">
            <a:noAutofit/>
          </a:bodyPr>
          <a:lstStyle/>
          <a:p>
            <a:pPr lvl="1" defTabSz="0">
              <a:lnSpc>
                <a:spcPct val="145000"/>
              </a:lnSpc>
              <a:spcBef>
                <a:spcPts val="500"/>
              </a:spcBef>
              <a:spcAft>
                <a:spcPct val="0"/>
              </a:spcAft>
            </a:pPr>
            <a:endParaRPr lang="en-US" altLang="zh-CN" sz="2400" dirty="0"/>
          </a:p>
        </p:txBody>
      </p:sp>
      <p:pic>
        <p:nvPicPr>
          <p:cNvPr id="10" name="图片 9" descr="形状&#10;&#10;AI 生成的内容可能不正确。">
            <a:extLst>
              <a:ext uri="{FF2B5EF4-FFF2-40B4-BE49-F238E27FC236}">
                <a16:creationId xmlns:a16="http://schemas.microsoft.com/office/drawing/2014/main" id="{8CC2C946-EECF-94C5-B978-5E01233DE5DC}"/>
              </a:ext>
            </a:extLst>
          </p:cNvPr>
          <p:cNvPicPr>
            <a:picLocks noChangeAspect="1"/>
          </p:cNvPicPr>
          <p:nvPr/>
        </p:nvPicPr>
        <p:blipFill>
          <a:blip r:embed="rId4"/>
          <a:stretch>
            <a:fillRect/>
          </a:stretch>
        </p:blipFill>
        <p:spPr>
          <a:xfrm>
            <a:off x="2385519" y="4140199"/>
            <a:ext cx="7420961" cy="2062899"/>
          </a:xfrm>
          <a:prstGeom prst="rect">
            <a:avLst/>
          </a:prstGeom>
        </p:spPr>
      </p:pic>
    </p:spTree>
    <p:extLst>
      <p:ext uri="{BB962C8B-B14F-4D97-AF65-F5344CB8AC3E}">
        <p14:creationId xmlns:p14="http://schemas.microsoft.com/office/powerpoint/2010/main" val="311710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18B8C-61B2-05F6-790D-B20F98A213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51B4F1-0AF6-A02E-7A70-D08820BC4064}"/>
              </a:ext>
            </a:extLst>
          </p:cNvPr>
          <p:cNvSpPr>
            <a:spLocks noGrp="1"/>
          </p:cNvSpPr>
          <p:nvPr>
            <p:ph type="title"/>
          </p:nvPr>
        </p:nvSpPr>
        <p:spPr/>
        <p:txBody>
          <a:bodyPr/>
          <a:lstStyle/>
          <a:p>
            <a:r>
              <a:rPr lang="zh-CN" altLang="en-US" b="1" dirty="0"/>
              <a:t>使用方法</a:t>
            </a:r>
            <a:r>
              <a:rPr lang="en-US" altLang="zh-CN" b="1" dirty="0"/>
              <a:t>-Root3 Subdivision</a:t>
            </a:r>
            <a:endParaRPr lang="zh-CN" altLang="en-US" b="1" dirty="0"/>
          </a:p>
        </p:txBody>
      </p:sp>
      <p:sp>
        <p:nvSpPr>
          <p:cNvPr id="4" name="文本框 3">
            <a:extLst>
              <a:ext uri="{FF2B5EF4-FFF2-40B4-BE49-F238E27FC236}">
                <a16:creationId xmlns:a16="http://schemas.microsoft.com/office/drawing/2014/main" id="{7C838FC7-83E8-E098-C929-BC9520C1ACFC}"/>
              </a:ext>
            </a:extLst>
          </p:cNvPr>
          <p:cNvSpPr txBox="1"/>
          <p:nvPr userDrawn="1"/>
        </p:nvSpPr>
        <p:spPr>
          <a:xfrm>
            <a:off x="616471" y="1473792"/>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在图形界面中运行算法</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打开图形界面中的模型选项卡，任意选择一个模型，将模型加载并显示在屏幕上。在的算法选项卡，选择</a:t>
            </a:r>
            <a:r>
              <a:rPr lang="en-US" altLang="zh-CN" sz="2000" dirty="0"/>
              <a:t>Loop</a:t>
            </a:r>
            <a:r>
              <a:rPr lang="zh-CN" altLang="en-US" sz="2000" dirty="0"/>
              <a:t>，点击</a:t>
            </a:r>
            <a:r>
              <a:rPr lang="en-US" altLang="zh-CN" sz="2000" dirty="0"/>
              <a:t>Run</a:t>
            </a:r>
            <a:r>
              <a:rPr lang="zh-CN" altLang="en-US" sz="2000" dirty="0"/>
              <a:t>，等待算法运行完毕后即可在屏幕上观察到结果。</a:t>
            </a:r>
            <a:endParaRPr lang="en-US" altLang="zh-CN" sz="2000" dirty="0"/>
          </a:p>
        </p:txBody>
      </p:sp>
      <p:pic>
        <p:nvPicPr>
          <p:cNvPr id="8" name="图片 7" descr="图形用户界面&#10;&#10;AI 生成的内容可能不正确。">
            <a:extLst>
              <a:ext uri="{FF2B5EF4-FFF2-40B4-BE49-F238E27FC236}">
                <a16:creationId xmlns:a16="http://schemas.microsoft.com/office/drawing/2014/main" id="{4D4A48F6-5A83-16AF-68B2-BA594BF43164}"/>
              </a:ext>
            </a:extLst>
          </p:cNvPr>
          <p:cNvPicPr>
            <a:picLocks noChangeAspect="1"/>
          </p:cNvPicPr>
          <p:nvPr/>
        </p:nvPicPr>
        <p:blipFill>
          <a:blip r:embed="rId3"/>
          <a:stretch>
            <a:fillRect/>
          </a:stretch>
        </p:blipFill>
        <p:spPr>
          <a:xfrm>
            <a:off x="3342095" y="3158525"/>
            <a:ext cx="5507810" cy="3497108"/>
          </a:xfrm>
          <a:prstGeom prst="rect">
            <a:avLst/>
          </a:prstGeom>
        </p:spPr>
      </p:pic>
    </p:spTree>
    <p:extLst>
      <p:ext uri="{BB962C8B-B14F-4D97-AF65-F5344CB8AC3E}">
        <p14:creationId xmlns:p14="http://schemas.microsoft.com/office/powerpoint/2010/main" val="743172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67C4-FEE1-BD1C-384F-7DE5096AA3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C18E97-40FD-DC3D-F02A-7DA63EECCA75}"/>
              </a:ext>
            </a:extLst>
          </p:cNvPr>
          <p:cNvSpPr>
            <a:spLocks noGrp="1"/>
          </p:cNvSpPr>
          <p:nvPr>
            <p:ph type="title"/>
          </p:nvPr>
        </p:nvSpPr>
        <p:spPr/>
        <p:txBody>
          <a:bodyPr/>
          <a:lstStyle/>
          <a:p>
            <a:r>
              <a:rPr lang="zh-CN" altLang="en-US" b="1" dirty="0"/>
              <a:t>使用方法</a:t>
            </a:r>
          </a:p>
        </p:txBody>
      </p:sp>
      <p:sp>
        <p:nvSpPr>
          <p:cNvPr id="4" name="文本框 3">
            <a:extLst>
              <a:ext uri="{FF2B5EF4-FFF2-40B4-BE49-F238E27FC236}">
                <a16:creationId xmlns:a16="http://schemas.microsoft.com/office/drawing/2014/main" id="{640F81EF-7DA5-2FC3-85E8-A0C439302F14}"/>
              </a:ext>
            </a:extLst>
          </p:cNvPr>
          <p:cNvSpPr txBox="1"/>
          <p:nvPr userDrawn="1"/>
        </p:nvSpPr>
        <p:spPr>
          <a:xfrm>
            <a:off x="616471" y="1278922"/>
            <a:ext cx="10515600" cy="195520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a:t>
            </a:r>
            <a:r>
              <a:rPr lang="en-US" altLang="zh-CN" sz="2400" dirty="0"/>
              <a:t>Loop</a:t>
            </a:r>
            <a:r>
              <a:rPr lang="zh-CN" altLang="en-US" sz="2400" dirty="0"/>
              <a:t>和</a:t>
            </a:r>
            <a:r>
              <a:rPr lang="en-US" altLang="zh-CN" sz="2400" dirty="0"/>
              <a:t>Root3</a:t>
            </a:r>
            <a:r>
              <a:rPr lang="zh-CN" altLang="en-US" sz="2400" dirty="0"/>
              <a:t>细分算法分别运行，可结合理论对比观察效果，例如下图从上到下依次为：立方体 </a:t>
            </a:r>
            <a:r>
              <a:rPr lang="en-US" altLang="zh-CN" sz="2400" dirty="0"/>
              <a:t>Loop</a:t>
            </a:r>
            <a:r>
              <a:rPr lang="zh-CN" altLang="en-US" sz="2400" dirty="0"/>
              <a:t>细分结果（上），立方体</a:t>
            </a:r>
            <a:r>
              <a:rPr lang="en-US" altLang="zh-CN" sz="2400" dirty="0"/>
              <a:t>Roo3</a:t>
            </a:r>
            <a:r>
              <a:rPr lang="zh-CN" altLang="en-US" sz="2400" dirty="0"/>
              <a:t>细分结果</a:t>
            </a:r>
            <a:endParaRPr lang="en-US" altLang="zh-CN" sz="2000" dirty="0"/>
          </a:p>
        </p:txBody>
      </p:sp>
      <p:pic>
        <p:nvPicPr>
          <p:cNvPr id="5" name="图片 4" descr="图表&#10;&#10;AI 生成的内容可能不正确。">
            <a:extLst>
              <a:ext uri="{FF2B5EF4-FFF2-40B4-BE49-F238E27FC236}">
                <a16:creationId xmlns:a16="http://schemas.microsoft.com/office/drawing/2014/main" id="{3A1E764D-2673-2DB2-C6C8-C6629E6629BC}"/>
              </a:ext>
            </a:extLst>
          </p:cNvPr>
          <p:cNvPicPr>
            <a:picLocks noChangeAspect="1"/>
          </p:cNvPicPr>
          <p:nvPr/>
        </p:nvPicPr>
        <p:blipFill>
          <a:blip r:embed="rId3"/>
          <a:stretch>
            <a:fillRect/>
          </a:stretch>
        </p:blipFill>
        <p:spPr>
          <a:xfrm>
            <a:off x="2408419" y="2564315"/>
            <a:ext cx="6540709" cy="1973352"/>
          </a:xfrm>
          <a:prstGeom prst="rect">
            <a:avLst/>
          </a:prstGeom>
        </p:spPr>
      </p:pic>
      <p:pic>
        <p:nvPicPr>
          <p:cNvPr id="7" name="图片 6" descr="图片包含 图表&#10;&#10;AI 生成的内容可能不正确。">
            <a:extLst>
              <a:ext uri="{FF2B5EF4-FFF2-40B4-BE49-F238E27FC236}">
                <a16:creationId xmlns:a16="http://schemas.microsoft.com/office/drawing/2014/main" id="{B43DC6C2-2A1D-FFB4-D9FE-D7BBDD3E395B}"/>
              </a:ext>
            </a:extLst>
          </p:cNvPr>
          <p:cNvPicPr>
            <a:picLocks noChangeAspect="1"/>
          </p:cNvPicPr>
          <p:nvPr/>
        </p:nvPicPr>
        <p:blipFill>
          <a:blip r:embed="rId4"/>
          <a:stretch>
            <a:fillRect/>
          </a:stretch>
        </p:blipFill>
        <p:spPr>
          <a:xfrm>
            <a:off x="2408419" y="4649129"/>
            <a:ext cx="6540709" cy="2026444"/>
          </a:xfrm>
          <a:prstGeom prst="rect">
            <a:avLst/>
          </a:prstGeom>
        </p:spPr>
      </p:pic>
    </p:spTree>
    <p:extLst>
      <p:ext uri="{BB962C8B-B14F-4D97-AF65-F5344CB8AC3E}">
        <p14:creationId xmlns:p14="http://schemas.microsoft.com/office/powerpoint/2010/main" val="1980691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E168-B527-1B92-D910-E9134BABF8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B03CFC-0F6B-7FA3-FCD2-BA5B5EA847EB}"/>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EC642DC8-7A1A-D6A9-AA5E-3C01490DF264}"/>
              </a:ext>
            </a:extLst>
          </p:cNvPr>
          <p:cNvSpPr txBox="1"/>
          <p:nvPr userDrawn="1"/>
        </p:nvSpPr>
        <p:spPr>
          <a:xfrm>
            <a:off x="616472" y="1473792"/>
            <a:ext cx="11045876"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a:t>
            </a:r>
            <a:r>
              <a:rPr lang="en-US" altLang="zh-CN" sz="2400" dirty="0"/>
              <a:t>Mesh Optimize</a:t>
            </a:r>
            <a:r>
              <a:rPr lang="zh-CN" altLang="en-US" sz="2400" dirty="0"/>
              <a:t>算法后，自动弹出</a:t>
            </a:r>
            <a:r>
              <a:rPr lang="en-US" altLang="zh-CN" sz="2400" dirty="0"/>
              <a:t>Parameter Configuration</a:t>
            </a:r>
            <a:r>
              <a:rPr lang="zh-CN" altLang="en-US" sz="2400" dirty="0"/>
              <a:t>界面，可按需调整各参数，点击</a:t>
            </a:r>
            <a:r>
              <a:rPr lang="en-US" altLang="zh-CN" sz="2400" dirty="0"/>
              <a:t>Set</a:t>
            </a:r>
            <a:r>
              <a:rPr lang="zh-CN" altLang="en-US" sz="2400" dirty="0"/>
              <a:t>按钮设置配置</a:t>
            </a:r>
            <a:endParaRPr lang="en-US" altLang="zh-CN" sz="2400" dirty="0"/>
          </a:p>
        </p:txBody>
      </p:sp>
      <p:pic>
        <p:nvPicPr>
          <p:cNvPr id="9" name="图片 8" descr="图片包含 图表&#10;&#10;AI 生成的内容可能不正确。">
            <a:extLst>
              <a:ext uri="{FF2B5EF4-FFF2-40B4-BE49-F238E27FC236}">
                <a16:creationId xmlns:a16="http://schemas.microsoft.com/office/drawing/2014/main" id="{562BEBD7-1DE0-AEAB-F367-4AC198CF948D}"/>
              </a:ext>
            </a:extLst>
          </p:cNvPr>
          <p:cNvPicPr>
            <a:picLocks noChangeAspect="1"/>
          </p:cNvPicPr>
          <p:nvPr/>
        </p:nvPicPr>
        <p:blipFill>
          <a:blip r:embed="rId3"/>
          <a:stretch>
            <a:fillRect/>
          </a:stretch>
        </p:blipFill>
        <p:spPr>
          <a:xfrm>
            <a:off x="2594236" y="2754385"/>
            <a:ext cx="7090348" cy="3882986"/>
          </a:xfrm>
          <a:prstGeom prst="rect">
            <a:avLst/>
          </a:prstGeom>
        </p:spPr>
      </p:pic>
    </p:spTree>
    <p:extLst>
      <p:ext uri="{BB962C8B-B14F-4D97-AF65-F5344CB8AC3E}">
        <p14:creationId xmlns:p14="http://schemas.microsoft.com/office/powerpoint/2010/main" val="4112336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670EA-6A84-96DB-51A4-B319CF6274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41C84D-F70D-2DF3-E882-962266BD88BB}"/>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8B6A6986-AE75-F017-8DB1-994996EA8D29}"/>
              </a:ext>
            </a:extLst>
          </p:cNvPr>
          <p:cNvSpPr txBox="1"/>
          <p:nvPr userDrawn="1"/>
        </p:nvSpPr>
        <p:spPr>
          <a:xfrm>
            <a:off x="616472" y="1473792"/>
            <a:ext cx="5034820" cy="5779264"/>
          </a:xfrm>
          <a:prstGeom prst="rect">
            <a:avLst/>
          </a:prstGeom>
        </p:spPr>
        <p:txBody>
          <a:bodyPr wrap="square" rtlCol="0">
            <a:noAutofit/>
          </a:bodyPr>
          <a:lstStyle/>
          <a:p>
            <a:pPr marL="228600" indent="-228600" defTabSz="0">
              <a:lnSpc>
                <a:spcPct val="145000"/>
              </a:lnSpc>
              <a:spcBef>
                <a:spcPts val="500"/>
              </a:spcBef>
              <a:spcAft>
                <a:spcPct val="0"/>
              </a:spcAft>
              <a:buFont typeface="Arial" panose="020B0604020202020204" pitchFamily="34" charset="0"/>
              <a:buChar char="•"/>
            </a:pPr>
            <a:r>
              <a:rPr lang="en-US" altLang="zh-CN" sz="2400" dirty="0"/>
              <a:t>SPRING_CONST</a:t>
            </a:r>
            <a:r>
              <a:rPr lang="zh-CN" altLang="en-US" sz="2400"/>
              <a:t>：弹性系数</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值越大：网格更规则，边长度更均匀，但可能过度平滑</a:t>
            </a:r>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值越小：允许更大的形状变化，但可能导致不规则网格</a:t>
            </a:r>
            <a:endParaRPr lang="en-US" altLang="zh-CN" sz="2400" dirty="0"/>
          </a:p>
        </p:txBody>
      </p:sp>
      <p:pic>
        <p:nvPicPr>
          <p:cNvPr id="6" name="图片 5" descr="图片包含 图形用户界面&#10;&#10;AI 生成的内容可能不正确。">
            <a:extLst>
              <a:ext uri="{FF2B5EF4-FFF2-40B4-BE49-F238E27FC236}">
                <a16:creationId xmlns:a16="http://schemas.microsoft.com/office/drawing/2014/main" id="{3979B0A3-0A20-7BFB-CB5B-C68733B26145}"/>
              </a:ext>
            </a:extLst>
          </p:cNvPr>
          <p:cNvPicPr>
            <a:picLocks noChangeAspect="1"/>
          </p:cNvPicPr>
          <p:nvPr/>
        </p:nvPicPr>
        <p:blipFill>
          <a:blip r:embed="rId3"/>
          <a:stretch>
            <a:fillRect/>
          </a:stretch>
        </p:blipFill>
        <p:spPr>
          <a:xfrm>
            <a:off x="6068366" y="1598970"/>
            <a:ext cx="5285434" cy="1830030"/>
          </a:xfrm>
          <a:prstGeom prst="rect">
            <a:avLst/>
          </a:prstGeom>
        </p:spPr>
      </p:pic>
    </p:spTree>
    <p:extLst>
      <p:ext uri="{BB962C8B-B14F-4D97-AF65-F5344CB8AC3E}">
        <p14:creationId xmlns:p14="http://schemas.microsoft.com/office/powerpoint/2010/main" val="386610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80D17-2C52-061C-00C0-B88B1E30CC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F1DFCB-4A73-216E-DA6A-E173E03317C6}"/>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D45D2B3D-42DC-AAA4-CCE1-8A2AB45F778B}"/>
              </a:ext>
            </a:extLst>
          </p:cNvPr>
          <p:cNvSpPr txBox="1"/>
          <p:nvPr userDrawn="1"/>
        </p:nvSpPr>
        <p:spPr>
          <a:xfrm>
            <a:off x="616472" y="1473792"/>
            <a:ext cx="5285434" cy="5779264"/>
          </a:xfrm>
          <a:prstGeom prst="rect">
            <a:avLst/>
          </a:prstGeom>
        </p:spPr>
        <p:txBody>
          <a:bodyPr wrap="square" rtlCol="0">
            <a:noAutofit/>
          </a:bodyPr>
          <a:lstStyle/>
          <a:p>
            <a:pPr marL="228600" indent="-228600" defTabSz="0">
              <a:lnSpc>
                <a:spcPct val="145000"/>
              </a:lnSpc>
              <a:spcBef>
                <a:spcPts val="500"/>
              </a:spcBef>
              <a:spcAft>
                <a:spcPct val="0"/>
              </a:spcAft>
              <a:buFont typeface="Arial" panose="020B0604020202020204" pitchFamily="34" charset="0"/>
              <a:buChar char="•"/>
            </a:pPr>
            <a:r>
              <a:rPr lang="en-US" altLang="zh-CN" sz="2400" dirty="0" err="1"/>
              <a:t>Crep</a:t>
            </a:r>
            <a:r>
              <a:rPr lang="zh-CN" altLang="en-US" sz="2400" dirty="0"/>
              <a:t>：表示性常数</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值越大：更倾向于减少顶点数，网格更简化</a:t>
            </a:r>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值越小：允许更多顶点，保持更多细节</a:t>
            </a:r>
            <a:endParaRPr lang="en-US" altLang="zh-CN" sz="2400" dirty="0"/>
          </a:p>
          <a:p>
            <a:pPr lvl="1" defTabSz="0">
              <a:lnSpc>
                <a:spcPct val="145000"/>
              </a:lnSpc>
              <a:spcBef>
                <a:spcPts val="500"/>
              </a:spcBef>
              <a:spcAft>
                <a:spcPct val="0"/>
              </a:spcAft>
            </a:pPr>
            <a:endParaRPr lang="en-US" altLang="zh-CN" sz="2400" dirty="0"/>
          </a:p>
        </p:txBody>
      </p:sp>
      <p:pic>
        <p:nvPicPr>
          <p:cNvPr id="3" name="图片 2" descr="图片包含 图形用户界面&#10;&#10;AI 生成的内容可能不正确。">
            <a:extLst>
              <a:ext uri="{FF2B5EF4-FFF2-40B4-BE49-F238E27FC236}">
                <a16:creationId xmlns:a16="http://schemas.microsoft.com/office/drawing/2014/main" id="{7D2D242A-85E9-9EE5-04D3-918A86EEF1F2}"/>
              </a:ext>
            </a:extLst>
          </p:cNvPr>
          <p:cNvPicPr>
            <a:picLocks noChangeAspect="1"/>
          </p:cNvPicPr>
          <p:nvPr/>
        </p:nvPicPr>
        <p:blipFill>
          <a:blip r:embed="rId3"/>
          <a:stretch>
            <a:fillRect/>
          </a:stretch>
        </p:blipFill>
        <p:spPr>
          <a:xfrm>
            <a:off x="6068366" y="1598970"/>
            <a:ext cx="5285434" cy="1830030"/>
          </a:xfrm>
          <a:prstGeom prst="rect">
            <a:avLst/>
          </a:prstGeom>
        </p:spPr>
      </p:pic>
    </p:spTree>
    <p:extLst>
      <p:ext uri="{BB962C8B-B14F-4D97-AF65-F5344CB8AC3E}">
        <p14:creationId xmlns:p14="http://schemas.microsoft.com/office/powerpoint/2010/main" val="1296201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61CC0-A074-7230-AB07-5564AFA2C3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8A1580-61B2-B4F7-5D08-4D28533F3576}"/>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B7CAA7AF-E0D8-3AFC-A91E-DCF961E81B57}"/>
              </a:ext>
            </a:extLst>
          </p:cNvPr>
          <p:cNvSpPr txBox="1"/>
          <p:nvPr userDrawn="1"/>
        </p:nvSpPr>
        <p:spPr>
          <a:xfrm>
            <a:off x="616472" y="1473792"/>
            <a:ext cx="5154742" cy="5779264"/>
          </a:xfrm>
          <a:prstGeom prst="rect">
            <a:avLst/>
          </a:prstGeom>
        </p:spPr>
        <p:txBody>
          <a:bodyPr wrap="square" rtlCol="0">
            <a:noAutofit/>
          </a:bodyPr>
          <a:lstStyle/>
          <a:p>
            <a:pPr marL="228600" indent="-228600" defTabSz="0">
              <a:lnSpc>
                <a:spcPct val="145000"/>
              </a:lnSpc>
              <a:spcBef>
                <a:spcPts val="500"/>
              </a:spcBef>
              <a:spcAft>
                <a:spcPct val="0"/>
              </a:spcAft>
              <a:buFont typeface="Arial" panose="020B0604020202020204" pitchFamily="34" charset="0"/>
              <a:buChar char="•"/>
            </a:pPr>
            <a:r>
              <a:rPr lang="en-US" altLang="zh-CN" sz="2400" dirty="0"/>
              <a:t>improve threshold</a:t>
            </a:r>
            <a:r>
              <a:rPr lang="zh-CN" altLang="en-US" sz="2400" dirty="0"/>
              <a:t>：改进阈值</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值越大：更容易接受操作，优化更激进</a:t>
            </a:r>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值越小：更保守，只接受明显改善的操作</a:t>
            </a:r>
            <a:endParaRPr lang="en-US" altLang="zh-CN" sz="2400" dirty="0"/>
          </a:p>
          <a:p>
            <a:pPr lvl="1" defTabSz="0">
              <a:lnSpc>
                <a:spcPct val="145000"/>
              </a:lnSpc>
              <a:spcBef>
                <a:spcPts val="500"/>
              </a:spcBef>
              <a:spcAft>
                <a:spcPct val="0"/>
              </a:spcAft>
            </a:pPr>
            <a:endParaRPr lang="en-US" altLang="zh-CN" sz="2400" dirty="0"/>
          </a:p>
        </p:txBody>
      </p:sp>
      <p:pic>
        <p:nvPicPr>
          <p:cNvPr id="3" name="图片 2" descr="图片包含 图形用户界面&#10;&#10;AI 生成的内容可能不正确。">
            <a:extLst>
              <a:ext uri="{FF2B5EF4-FFF2-40B4-BE49-F238E27FC236}">
                <a16:creationId xmlns:a16="http://schemas.microsoft.com/office/drawing/2014/main" id="{CA8CF26B-3989-97B3-E56E-E686AC19BE68}"/>
              </a:ext>
            </a:extLst>
          </p:cNvPr>
          <p:cNvPicPr>
            <a:picLocks noChangeAspect="1"/>
          </p:cNvPicPr>
          <p:nvPr/>
        </p:nvPicPr>
        <p:blipFill>
          <a:blip r:embed="rId3"/>
          <a:stretch>
            <a:fillRect/>
          </a:stretch>
        </p:blipFill>
        <p:spPr>
          <a:xfrm>
            <a:off x="6068366" y="1598970"/>
            <a:ext cx="5285434" cy="1830030"/>
          </a:xfrm>
          <a:prstGeom prst="rect">
            <a:avLst/>
          </a:prstGeom>
        </p:spPr>
      </p:pic>
    </p:spTree>
    <p:extLst>
      <p:ext uri="{BB962C8B-B14F-4D97-AF65-F5344CB8AC3E}">
        <p14:creationId xmlns:p14="http://schemas.microsoft.com/office/powerpoint/2010/main" val="2040888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633CB-313F-7191-DD40-9C0F40958C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3B9D1F-AD0B-6C33-02C9-1D89462C2A1D}"/>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E1A4A7B1-944C-2510-5B24-2C54C2783492}"/>
              </a:ext>
            </a:extLst>
          </p:cNvPr>
          <p:cNvSpPr txBox="1"/>
          <p:nvPr userDrawn="1"/>
        </p:nvSpPr>
        <p:spPr>
          <a:xfrm>
            <a:off x="616472" y="1473792"/>
            <a:ext cx="5139752" cy="5779264"/>
          </a:xfrm>
          <a:prstGeom prst="rect">
            <a:avLst/>
          </a:prstGeom>
        </p:spPr>
        <p:txBody>
          <a:bodyPr wrap="square" rtlCol="0">
            <a:noAutofit/>
          </a:bodyPr>
          <a:lstStyle/>
          <a:p>
            <a:pPr marL="228600" indent="-228600" defTabSz="0">
              <a:lnSpc>
                <a:spcPct val="145000"/>
              </a:lnSpc>
              <a:spcBef>
                <a:spcPts val="500"/>
              </a:spcBef>
              <a:spcAft>
                <a:spcPct val="0"/>
              </a:spcAft>
              <a:buFont typeface="Arial" panose="020B0604020202020204" pitchFamily="34" charset="0"/>
              <a:buChar char="•"/>
            </a:pPr>
            <a:r>
              <a:rPr lang="en-US" altLang="zh-CN" sz="2400" dirty="0"/>
              <a:t>face angle</a:t>
            </a:r>
            <a:r>
              <a:rPr lang="zh-CN" altLang="en-US" sz="2400" dirty="0"/>
              <a:t>：面角度</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值越大：允许更尖锐的角度，网格变化更灵活</a:t>
            </a:r>
          </a:p>
          <a:p>
            <a:pPr marL="685800" lvl="1" indent="-228600" defTabSz="0">
              <a:lnSpc>
                <a:spcPct val="145000"/>
              </a:lnSpc>
              <a:spcBef>
                <a:spcPts val="500"/>
              </a:spcBef>
              <a:spcAft>
                <a:spcPct val="0"/>
              </a:spcAft>
              <a:buFont typeface="Arial" panose="020B0604020202020204" pitchFamily="34" charset="0"/>
              <a:buChar char="•"/>
            </a:pPr>
            <a:r>
              <a:rPr lang="zh-CN" altLang="en-US" sz="2400" dirty="0"/>
              <a:t>值越小：要求更平滑的角度，避免产生尖锐特征</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endParaRPr lang="en-US" altLang="zh-CN" sz="2400" dirty="0"/>
          </a:p>
        </p:txBody>
      </p:sp>
      <p:pic>
        <p:nvPicPr>
          <p:cNvPr id="3" name="图片 2" descr="图片包含 图形用户界面&#10;&#10;AI 生成的内容可能不正确。">
            <a:extLst>
              <a:ext uri="{FF2B5EF4-FFF2-40B4-BE49-F238E27FC236}">
                <a16:creationId xmlns:a16="http://schemas.microsoft.com/office/drawing/2014/main" id="{4CC65CB8-8502-4C47-4CEE-B77DE22702C4}"/>
              </a:ext>
            </a:extLst>
          </p:cNvPr>
          <p:cNvPicPr>
            <a:picLocks noChangeAspect="1"/>
          </p:cNvPicPr>
          <p:nvPr/>
        </p:nvPicPr>
        <p:blipFill>
          <a:blip r:embed="rId3"/>
          <a:stretch>
            <a:fillRect/>
          </a:stretch>
        </p:blipFill>
        <p:spPr>
          <a:xfrm>
            <a:off x="6068366" y="1598970"/>
            <a:ext cx="5285434" cy="1830030"/>
          </a:xfrm>
          <a:prstGeom prst="rect">
            <a:avLst/>
          </a:prstGeom>
        </p:spPr>
      </p:pic>
    </p:spTree>
    <p:extLst>
      <p:ext uri="{BB962C8B-B14F-4D97-AF65-F5344CB8AC3E}">
        <p14:creationId xmlns:p14="http://schemas.microsoft.com/office/powerpoint/2010/main" val="1756283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0EF2-BFEC-48E1-B104-8002C1CD4B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2EAA03-DDEF-1B6E-BA4E-1C98141CA559}"/>
              </a:ext>
            </a:extLst>
          </p:cNvPr>
          <p:cNvSpPr>
            <a:spLocks noGrp="1"/>
          </p:cNvSpPr>
          <p:nvPr>
            <p:ph type="title"/>
          </p:nvPr>
        </p:nvSpPr>
        <p:spPr/>
        <p:txBody>
          <a:bodyPr/>
          <a:lstStyle/>
          <a:p>
            <a:r>
              <a:rPr lang="zh-CN" altLang="en-US" b="1" dirty="0"/>
              <a:t>使用方法</a:t>
            </a:r>
            <a:r>
              <a:rPr lang="en-US" altLang="zh-CN" b="1" dirty="0"/>
              <a:t>-Mesh Optimize</a:t>
            </a:r>
            <a:endParaRPr lang="zh-CN" altLang="en-US" b="1" dirty="0"/>
          </a:p>
        </p:txBody>
      </p:sp>
      <p:sp>
        <p:nvSpPr>
          <p:cNvPr id="4" name="文本框 3">
            <a:extLst>
              <a:ext uri="{FF2B5EF4-FFF2-40B4-BE49-F238E27FC236}">
                <a16:creationId xmlns:a16="http://schemas.microsoft.com/office/drawing/2014/main" id="{18F8D38B-30CD-A34A-5C24-4CD17868C90D}"/>
              </a:ext>
            </a:extLst>
          </p:cNvPr>
          <p:cNvSpPr txBox="1"/>
          <p:nvPr userDrawn="1"/>
        </p:nvSpPr>
        <p:spPr>
          <a:xfrm>
            <a:off x="616472" y="1473792"/>
            <a:ext cx="10737328" cy="5779264"/>
          </a:xfrm>
          <a:prstGeom prst="rect">
            <a:avLst/>
          </a:prstGeom>
        </p:spPr>
        <p:txBody>
          <a:bodyPr wrap="square" rtlCol="0">
            <a:noAutofit/>
          </a:bodyPr>
          <a:lstStyle/>
          <a:p>
            <a:pPr marL="228600" indent="-228600" defTabSz="0">
              <a:lnSpc>
                <a:spcPct val="145000"/>
              </a:lnSpc>
              <a:spcBef>
                <a:spcPts val="500"/>
              </a:spcBef>
              <a:spcAft>
                <a:spcPct val="0"/>
              </a:spcAft>
              <a:buFont typeface="Arial" panose="020B0604020202020204" pitchFamily="34" charset="0"/>
              <a:buChar char="•"/>
            </a:pPr>
            <a:r>
              <a:rPr lang="zh-CN" altLang="en-US" sz="2400" dirty="0"/>
              <a:t>调整参数，多次运行，观察不同参数取值对算法结果的影响。例如下图从左上到右下依次为：原图形（左上），弹性系数 分别为</a:t>
            </a:r>
            <a:r>
              <a:rPr lang="en-US" altLang="zh-CN" sz="2400" dirty="0"/>
              <a:t>0.0001</a:t>
            </a:r>
            <a:r>
              <a:rPr lang="zh-CN" altLang="en-US" sz="2400" dirty="0"/>
              <a:t>（右上），</a:t>
            </a:r>
            <a:r>
              <a:rPr lang="en-US" altLang="zh-CN" sz="2400" dirty="0"/>
              <a:t>0.01</a:t>
            </a:r>
            <a:r>
              <a:rPr lang="zh-CN" altLang="en-US" sz="2400" dirty="0"/>
              <a:t>（左下），</a:t>
            </a:r>
            <a:r>
              <a:rPr lang="en-US" altLang="zh-CN" sz="2400" dirty="0"/>
              <a:t>0.1</a:t>
            </a:r>
            <a:r>
              <a:rPr lang="zh-CN" altLang="en-US" sz="2400" dirty="0"/>
              <a:t>（右下）的结果</a:t>
            </a:r>
            <a:endParaRPr lang="en-US" altLang="zh-CN" sz="2400" dirty="0"/>
          </a:p>
        </p:txBody>
      </p:sp>
      <p:pic>
        <p:nvPicPr>
          <p:cNvPr id="6" name="图片 5" descr="图片包含 游戏机, 热气球, 飞机, 华美&#10;&#10;AI 生成的内容可能不正确。">
            <a:extLst>
              <a:ext uri="{FF2B5EF4-FFF2-40B4-BE49-F238E27FC236}">
                <a16:creationId xmlns:a16="http://schemas.microsoft.com/office/drawing/2014/main" id="{7A4D4360-09B2-6866-8DB3-0EF7CE65E089}"/>
              </a:ext>
            </a:extLst>
          </p:cNvPr>
          <p:cNvPicPr>
            <a:picLocks noChangeAspect="1"/>
          </p:cNvPicPr>
          <p:nvPr/>
        </p:nvPicPr>
        <p:blipFill>
          <a:blip r:embed="rId3"/>
          <a:stretch>
            <a:fillRect/>
          </a:stretch>
        </p:blipFill>
        <p:spPr>
          <a:xfrm>
            <a:off x="5197830" y="2679434"/>
            <a:ext cx="4171022" cy="4061520"/>
          </a:xfrm>
          <a:prstGeom prst="rect">
            <a:avLst/>
          </a:prstGeom>
        </p:spPr>
      </p:pic>
    </p:spTree>
    <p:extLst>
      <p:ext uri="{BB962C8B-B14F-4D97-AF65-F5344CB8AC3E}">
        <p14:creationId xmlns:p14="http://schemas.microsoft.com/office/powerpoint/2010/main" val="1235559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0F1B-80B3-7D97-B2BB-88EED55008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4A849B-9FA7-8664-1277-3C079470E018}"/>
              </a:ext>
            </a:extLst>
          </p:cNvPr>
          <p:cNvSpPr>
            <a:spLocks noGrp="1"/>
          </p:cNvSpPr>
          <p:nvPr>
            <p:ph type="title"/>
          </p:nvPr>
        </p:nvSpPr>
        <p:spPr/>
        <p:txBody>
          <a:bodyPr/>
          <a:lstStyle/>
          <a:p>
            <a:r>
              <a:rPr lang="zh-CN" altLang="en-US" b="1" dirty="0"/>
              <a:t>使用方法</a:t>
            </a:r>
            <a:r>
              <a:rPr lang="en-US" altLang="zh-CN" b="1" dirty="0"/>
              <a:t>-Graph</a:t>
            </a:r>
            <a:endParaRPr lang="zh-CN" altLang="en-US" b="1" dirty="0"/>
          </a:p>
        </p:txBody>
      </p:sp>
      <p:sp>
        <p:nvSpPr>
          <p:cNvPr id="4" name="文本框 3">
            <a:extLst>
              <a:ext uri="{FF2B5EF4-FFF2-40B4-BE49-F238E27FC236}">
                <a16:creationId xmlns:a16="http://schemas.microsoft.com/office/drawing/2014/main" id="{B8598F75-F682-C1E1-90C0-B63FF95A60A1}"/>
              </a:ext>
            </a:extLst>
          </p:cNvPr>
          <p:cNvSpPr txBox="1"/>
          <p:nvPr userDrawn="1"/>
        </p:nvSpPr>
        <p:spPr>
          <a:xfrm>
            <a:off x="616471" y="1328020"/>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点击</a:t>
            </a:r>
            <a:r>
              <a:rPr lang="en-US" altLang="zh-CN" sz="2400" dirty="0"/>
              <a:t>Start Record / Stop Record</a:t>
            </a:r>
            <a:r>
              <a:rPr lang="zh-CN" altLang="en-US" sz="2400" dirty="0"/>
              <a:t>按钮开始</a:t>
            </a:r>
            <a:r>
              <a:rPr lang="en-US" altLang="zh-CN" sz="2400" dirty="0"/>
              <a:t>/</a:t>
            </a:r>
            <a:r>
              <a:rPr lang="zh-CN" altLang="en-US" sz="2400" dirty="0"/>
              <a:t>结束记录</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自由选择模型，多次运行算法，算法运行时模型顶点数量和面片数量将会被记录下来</a:t>
            </a:r>
            <a:endParaRPr lang="en-US" altLang="zh-CN" sz="2400" dirty="0"/>
          </a:p>
        </p:txBody>
      </p:sp>
      <p:pic>
        <p:nvPicPr>
          <p:cNvPr id="5" name="图片 4" descr="图形用户界面, 文本, 应用程序, 聊天或短信&#10;&#10;AI 生成的内容可能不正确。">
            <a:extLst>
              <a:ext uri="{FF2B5EF4-FFF2-40B4-BE49-F238E27FC236}">
                <a16:creationId xmlns:a16="http://schemas.microsoft.com/office/drawing/2014/main" id="{1CCB1FCE-B9CD-F2DF-6A7A-F001221D3AAD}"/>
              </a:ext>
            </a:extLst>
          </p:cNvPr>
          <p:cNvPicPr>
            <a:picLocks noChangeAspect="1"/>
          </p:cNvPicPr>
          <p:nvPr/>
        </p:nvPicPr>
        <p:blipFill>
          <a:blip r:embed="rId3"/>
          <a:stretch>
            <a:fillRect/>
          </a:stretch>
        </p:blipFill>
        <p:spPr>
          <a:xfrm>
            <a:off x="1878791" y="3236375"/>
            <a:ext cx="3877408" cy="3237213"/>
          </a:xfrm>
          <a:prstGeom prst="rect">
            <a:avLst/>
          </a:prstGeom>
        </p:spPr>
      </p:pic>
      <p:pic>
        <p:nvPicPr>
          <p:cNvPr id="8" name="图片 7" descr="图形用户界面, 文本, 应用程序&#10;&#10;AI 生成的内容可能不正确。">
            <a:extLst>
              <a:ext uri="{FF2B5EF4-FFF2-40B4-BE49-F238E27FC236}">
                <a16:creationId xmlns:a16="http://schemas.microsoft.com/office/drawing/2014/main" id="{42925A81-8297-3E77-4AF0-38072C9DED0E}"/>
              </a:ext>
            </a:extLst>
          </p:cNvPr>
          <p:cNvPicPr>
            <a:picLocks noChangeAspect="1"/>
          </p:cNvPicPr>
          <p:nvPr/>
        </p:nvPicPr>
        <p:blipFill>
          <a:blip r:embed="rId4"/>
          <a:srcRect l="6038" t="8860" b="6080"/>
          <a:stretch>
            <a:fillRect/>
          </a:stretch>
        </p:blipFill>
        <p:spPr>
          <a:xfrm>
            <a:off x="6096000" y="3255662"/>
            <a:ext cx="3470822" cy="3237212"/>
          </a:xfrm>
          <a:prstGeom prst="rect">
            <a:avLst/>
          </a:prstGeom>
        </p:spPr>
      </p:pic>
    </p:spTree>
    <p:extLst>
      <p:ext uri="{BB962C8B-B14F-4D97-AF65-F5344CB8AC3E}">
        <p14:creationId xmlns:p14="http://schemas.microsoft.com/office/powerpoint/2010/main" val="3672571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3BFFA-7A78-3DE3-56FE-CBA60DB504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E2D1E3-6E48-3253-AE05-0BA18A488E75}"/>
              </a:ext>
            </a:extLst>
          </p:cNvPr>
          <p:cNvSpPr>
            <a:spLocks noGrp="1"/>
          </p:cNvSpPr>
          <p:nvPr>
            <p:ph type="title"/>
          </p:nvPr>
        </p:nvSpPr>
        <p:spPr/>
        <p:txBody>
          <a:bodyPr/>
          <a:lstStyle/>
          <a:p>
            <a:r>
              <a:rPr lang="zh-CN" altLang="en-US" b="1" dirty="0"/>
              <a:t>使用方法</a:t>
            </a:r>
            <a:r>
              <a:rPr lang="en-US" altLang="zh-CN" b="1" dirty="0"/>
              <a:t>-Graph</a:t>
            </a:r>
            <a:endParaRPr lang="zh-CN" altLang="en-US" b="1" dirty="0"/>
          </a:p>
        </p:txBody>
      </p:sp>
      <p:sp>
        <p:nvSpPr>
          <p:cNvPr id="4" name="文本框 3">
            <a:extLst>
              <a:ext uri="{FF2B5EF4-FFF2-40B4-BE49-F238E27FC236}">
                <a16:creationId xmlns:a16="http://schemas.microsoft.com/office/drawing/2014/main" id="{8A93A28B-E6C8-FC2B-E6B5-836C66A0CC68}"/>
              </a:ext>
            </a:extLst>
          </p:cNvPr>
          <p:cNvSpPr txBox="1"/>
          <p:nvPr userDrawn="1"/>
        </p:nvSpPr>
        <p:spPr>
          <a:xfrm>
            <a:off x="616471" y="1328020"/>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勾选展示图像，可以观察到顶点数量和面片数量的对数曲线，辅助分析</a:t>
            </a:r>
          </a:p>
        </p:txBody>
      </p:sp>
      <p:pic>
        <p:nvPicPr>
          <p:cNvPr id="6" name="图片 5" descr="电脑萤幕画面&#10;&#10;AI 生成的内容可能不正确。">
            <a:extLst>
              <a:ext uri="{FF2B5EF4-FFF2-40B4-BE49-F238E27FC236}">
                <a16:creationId xmlns:a16="http://schemas.microsoft.com/office/drawing/2014/main" id="{A0A4EA2E-36DB-448E-CDA9-4F65D96905C2}"/>
              </a:ext>
            </a:extLst>
          </p:cNvPr>
          <p:cNvPicPr>
            <a:picLocks noChangeAspect="1"/>
          </p:cNvPicPr>
          <p:nvPr/>
        </p:nvPicPr>
        <p:blipFill>
          <a:blip r:embed="rId3"/>
          <a:stretch>
            <a:fillRect/>
          </a:stretch>
        </p:blipFill>
        <p:spPr>
          <a:xfrm>
            <a:off x="430367" y="2311832"/>
            <a:ext cx="11331265" cy="3218148"/>
          </a:xfrm>
          <a:prstGeom prst="rect">
            <a:avLst/>
          </a:prstGeom>
        </p:spPr>
      </p:pic>
    </p:spTree>
    <p:extLst>
      <p:ext uri="{BB962C8B-B14F-4D97-AF65-F5344CB8AC3E}">
        <p14:creationId xmlns:p14="http://schemas.microsoft.com/office/powerpoint/2010/main" val="39753261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1787</Words>
  <Application>Microsoft Office PowerPoint</Application>
  <PresentationFormat>宽屏</PresentationFormat>
  <Paragraphs>195</Paragraphs>
  <Slides>37</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等线</vt:lpstr>
      <vt:lpstr>等线 Light</vt:lpstr>
      <vt:lpstr>微软雅黑</vt:lpstr>
      <vt:lpstr>Arial</vt:lpstr>
      <vt:lpstr>Cambria Math</vt:lpstr>
      <vt:lpstr>Office 主题​​</vt:lpstr>
      <vt:lpstr>计算机图形学 实验八：几何算法教学系统</vt:lpstr>
      <vt:lpstr>实验内容</vt:lpstr>
      <vt:lpstr>环境配置</vt:lpstr>
      <vt:lpstr>编译说明</vt:lpstr>
      <vt:lpstr>编译说明-虚拟机-1</vt:lpstr>
      <vt:lpstr>编译说明-虚拟机-2</vt:lpstr>
      <vt:lpstr>编译说明-机房电脑</vt:lpstr>
      <vt:lpstr>编译说明-2</vt:lpstr>
      <vt:lpstr>编译说明-可能报错&amp;解决方法</vt:lpstr>
      <vt:lpstr>编译说明-可能报错&amp;解决方法</vt:lpstr>
      <vt:lpstr>编译说明-可能报错&amp;解决方法</vt:lpstr>
      <vt:lpstr>编译说明-可能报错&amp;解决方法</vt:lpstr>
      <vt:lpstr>编译说明-成功界面</vt:lpstr>
      <vt:lpstr>使用方法-窗口布局</vt:lpstr>
      <vt:lpstr>使用方法-CG-Mesh</vt:lpstr>
      <vt:lpstr>使用方法-CG-Mesh</vt:lpstr>
      <vt:lpstr>使用方法-Model</vt:lpstr>
      <vt:lpstr>使用方法-Model</vt:lpstr>
      <vt:lpstr>使用方法-Model</vt:lpstr>
      <vt:lpstr>使用方法-Model</vt:lpstr>
      <vt:lpstr>使用方法-Model</vt:lpstr>
      <vt:lpstr>使用方法-Model 基本操作</vt:lpstr>
      <vt:lpstr>使用方法-Algorithms</vt:lpstr>
      <vt:lpstr>使用方法-Algorithms</vt:lpstr>
      <vt:lpstr>PowerPoint 演示文稿</vt:lpstr>
      <vt:lpstr>使用方法-Loop Subdivision</vt:lpstr>
      <vt:lpstr>PowerPoint 演示文稿</vt:lpstr>
      <vt:lpstr>使用方法-Root3 Subdivision</vt:lpstr>
      <vt:lpstr>使用方法</vt:lpstr>
      <vt:lpstr>使用方法-Mesh Optimize</vt:lpstr>
      <vt:lpstr>使用方法-Mesh Optimize</vt:lpstr>
      <vt:lpstr>使用方法-Mesh Optimize</vt:lpstr>
      <vt:lpstr>使用方法-Mesh Optimize</vt:lpstr>
      <vt:lpstr>使用方法-Mesh Optimize</vt:lpstr>
      <vt:lpstr>使用方法-Mesh Optimize</vt:lpstr>
      <vt:lpstr>使用方法-Graph</vt:lpstr>
      <vt:lpstr>使用方法-Graph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  实验五：仿真系统安装与使用</dc:title>
  <dc:creator>pc</dc:creator>
  <cp:lastModifiedBy>1193156762@qq.com</cp:lastModifiedBy>
  <cp:revision>52</cp:revision>
  <dcterms:created xsi:type="dcterms:W3CDTF">2025-11-13T08:54:04Z</dcterms:created>
  <dcterms:modified xsi:type="dcterms:W3CDTF">2025-12-20T15:38:35Z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EB416BC2F23240AAF204CC68626AB75E_42</vt:lpwstr>
  </property>
  <property fmtid="{D5CDD505-2E9C-101B-9397-08002B2CF9AE}" pid="3" name="KSOProductBuildVer">
    <vt:lpwstr>2052-12.9.0.23627</vt:lpwstr>
  </property>
</Properties>
</file>