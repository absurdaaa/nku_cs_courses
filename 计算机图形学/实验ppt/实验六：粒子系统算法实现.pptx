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3"/>
    <p:sldId id="265" r:id="rId4"/>
    <p:sldId id="270" r:id="rId5"/>
    <p:sldId id="336" r:id="rId6"/>
    <p:sldId id="337" r:id="rId7"/>
    <p:sldId id="335" r:id="rId8"/>
    <p:sldId id="306" r:id="rId9"/>
    <p:sldId id="323" r:id="rId10"/>
    <p:sldId id="325" r:id="rId11"/>
    <p:sldId id="328" r:id="rId12"/>
    <p:sldId id="329" r:id="rId13"/>
    <p:sldId id="324" r:id="rId14"/>
    <p:sldId id="327" r:id="rId15"/>
    <p:sldId id="326" r:id="rId16"/>
    <p:sldId id="331" r:id="rId17"/>
    <p:sldId id="332" r:id="rId18"/>
    <p:sldId id="333" r:id="rId19"/>
    <p:sldId id="334" r:id="rId20"/>
    <p:sldId id="330" r:id="rId21"/>
    <p:sldId id="302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68" y="1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DB742-DDDC-43C5-AF8F-BCEB0D03C0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A6740-7301-4003-9525-7F11AF6817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DB742-DDDC-43C5-AF8F-BCEB0D03C0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A6740-7301-4003-9525-7F11AF6817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DB742-DDDC-43C5-AF8F-BCEB0D03C0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A6740-7301-4003-9525-7F11AF6817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DB742-DDDC-43C5-AF8F-BCEB0D03C0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A6740-7301-4003-9525-7F11AF6817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DB742-DDDC-43C5-AF8F-BCEB0D03C0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A6740-7301-4003-9525-7F11AF6817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DB742-DDDC-43C5-AF8F-BCEB0D03C0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A6740-7301-4003-9525-7F11AF6817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DB742-DDDC-43C5-AF8F-BCEB0D03C0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A6740-7301-4003-9525-7F11AF6817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DB742-DDDC-43C5-AF8F-BCEB0D03C0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A6740-7301-4003-9525-7F11AF6817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DB742-DDDC-43C5-AF8F-BCEB0D03C0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A6740-7301-4003-9525-7F11AF6817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DB742-DDDC-43C5-AF8F-BCEB0D03C0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A6740-7301-4003-9525-7F11AF6817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DB742-DDDC-43C5-AF8F-BCEB0D03C0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A6740-7301-4003-9525-7F11AF6817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2DB742-DDDC-43C5-AF8F-BCEB0D03C0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A6740-7301-4003-9525-7F11AF68177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68320" y="1966844"/>
            <a:ext cx="9144000" cy="23876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4800" b="1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计算机</a:t>
            </a:r>
            <a:r>
              <a:rPr lang="zh-CN" altLang="en-US" sz="4800" b="1" dirty="0">
                <a:solidFill>
                  <a:schemeClr val="tx1"/>
                </a:solidFill>
                <a:latin typeface="微软雅黑" charset="0"/>
                <a:ea typeface="微软雅黑" charset="0"/>
                <a:cs typeface="Arial" panose="020B0604020202020204" pitchFamily="34" charset="0"/>
              </a:rPr>
              <a:t>图形学</a:t>
            </a:r>
            <a:br>
              <a:rPr lang="zh-CN" altLang="en-US" sz="4800" b="1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4800" b="1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实验六：流体</a:t>
            </a:r>
            <a:r>
              <a:rPr lang="zh-CN" altLang="en-US" sz="4800" b="1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仿真算法 </a:t>
            </a:r>
            <a:endParaRPr lang="zh-CN" altLang="en-US" sz="4800" b="1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算法介绍</a:t>
            </a:r>
            <a:r>
              <a:rPr lang="en-US" altLang="zh-CN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-Particle</a:t>
            </a: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System</a:t>
            </a:r>
            <a:endParaRPr lang="en-US" altLang="zh-CN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00773"/>
            <a:ext cx="10515600" cy="4351338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状态保留的粒子系统：</a:t>
            </a:r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处理粒子的生成与消亡（待实现）</a:t>
            </a:r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更新速度（待实现）</a:t>
            </a:r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更新位置（待实现）</a:t>
            </a:r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粒子排序（可选操作，需多轮处理）</a:t>
            </a:r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将粒子位置从像素内存传输至顶点内存</a:t>
            </a:r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渲染粒子</a:t>
            </a:r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  <a:p>
            <a:pPr lvl="1"/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" name="AutoShape 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算法介绍</a:t>
            </a:r>
            <a:r>
              <a:rPr lang="en-US" altLang="zh-CN" dirty="0">
                <a:latin typeface="微软雅黑" charset="0"/>
                <a:ea typeface="微软雅黑" charset="0"/>
                <a:cs typeface="微软雅黑" charset="0"/>
              </a:rPr>
              <a:t>-Particle System</a:t>
            </a:r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" name="内容占位符 2"/>
          <p:cNvSpPr txBox="1"/>
          <p:nvPr/>
        </p:nvSpPr>
        <p:spPr>
          <a:xfrm>
            <a:off x="838249" y="1690670"/>
            <a:ext cx="10515600" cy="49026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粒子的生成与消亡：</a:t>
            </a:r>
            <a:endParaRPr lang="en-US" altLang="zh-CN" dirty="0">
              <a:latin typeface="微软雅黑" charset="0"/>
              <a:ea typeface="微软雅黑" charset="0"/>
              <a:cs typeface="微软雅黑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粒子生成：分配粒子资源</a:t>
            </a:r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粒子消亡：释放粒子资源（例如：坐标设为无穷远处，或移至摄像机后方）</a:t>
            </a:r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算法介绍</a:t>
            </a:r>
            <a:r>
              <a:rPr lang="en-US" altLang="zh-CN" dirty="0">
                <a:latin typeface="微软雅黑" charset="0"/>
                <a:ea typeface="微软雅黑" charset="0"/>
                <a:cs typeface="微软雅黑" charset="0"/>
              </a:rPr>
              <a:t>-Particle System</a:t>
            </a:r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" name="内容占位符 2"/>
          <p:cNvSpPr txBox="1"/>
          <p:nvPr/>
        </p:nvSpPr>
        <p:spPr>
          <a:xfrm>
            <a:off x="838249" y="1690670"/>
            <a:ext cx="10515600" cy="49026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更新速度：</a:t>
            </a:r>
            <a:endParaRPr lang="en-US" altLang="zh-CN" dirty="0">
              <a:latin typeface="微软雅黑" charset="0"/>
              <a:ea typeface="微软雅黑" charset="0"/>
              <a:cs typeface="微软雅黑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全局作用力</a:t>
            </a:r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局部作用力</a:t>
            </a:r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速度阻尼</a:t>
            </a:r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碰撞检测</a:t>
            </a:r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算法介绍</a:t>
            </a:r>
            <a:r>
              <a:rPr lang="en-US" altLang="zh-CN" dirty="0">
                <a:latin typeface="微软雅黑" charset="0"/>
                <a:ea typeface="微软雅黑" charset="0"/>
                <a:cs typeface="微软雅黑" charset="0"/>
              </a:rPr>
              <a:t>-Particle System</a:t>
            </a:r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内容占位符 2"/>
              <p:cNvSpPr txBox="1"/>
              <p:nvPr/>
            </p:nvSpPr>
            <p:spPr>
              <a:xfrm>
                <a:off x="838249" y="1690670"/>
                <a:ext cx="10515600" cy="490260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微软雅黑" charset="0"/>
                    <a:ea typeface="微软雅黑" charset="0"/>
                    <a:cs typeface="微软雅黑" charset="0"/>
                  </a:rPr>
                  <a:t>更新</a:t>
                </a:r>
                <a:r>
                  <a:rPr lang="zh-CN" altLang="en-US" dirty="0">
                    <a:latin typeface="微软雅黑" charset="0"/>
                    <a:ea typeface="微软雅黑" charset="0"/>
                    <a:cs typeface="Arial" panose="020B0604020202020204" pitchFamily="34" charset="0"/>
                  </a:rPr>
                  <a:t>位置</a:t>
                </a:r>
                <a:r>
                  <a:rPr lang="zh-CN" altLang="en-US" dirty="0">
                    <a:latin typeface="微软雅黑" charset="0"/>
                    <a:ea typeface="微软雅黑" charset="0"/>
                    <a:cs typeface="微软雅黑" charset="0"/>
                  </a:rPr>
                  <a:t>：</a:t>
                </a:r>
                <a:endParaRPr lang="en-US" altLang="zh-CN" dirty="0">
                  <a:latin typeface="微软雅黑" charset="0"/>
                  <a:ea typeface="微软雅黑" charset="0"/>
                  <a:cs typeface="微软雅黑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zh-CN" altLang="en-US" dirty="0">
                    <a:latin typeface="微软雅黑" charset="0"/>
                    <a:ea typeface="微软雅黑" charset="0"/>
                    <a:cs typeface="微软雅黑" charset="0"/>
                  </a:rPr>
                  <a:t>欧拉积分法：</a:t>
                </a:r>
                <a:endParaRPr lang="zh-CN" altLang="en-US" dirty="0">
                  <a:latin typeface="微软雅黑" charset="0"/>
                  <a:ea typeface="微软雅黑" charset="0"/>
                  <a:cs typeface="微软雅黑" charset="0"/>
                </a:endParaRPr>
              </a:p>
              <a:p>
                <a:pPr lvl="2" algn="l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𝑝𝑟𝑒𝑣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𝑣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·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𝛥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𝑡</m:t>
                    </m:r>
                  </m:oMath>
                </a14:m>
                <a:endParaRPr lang="zh-CN" altLang="en-US" dirty="0">
                  <a:latin typeface="微软雅黑" charset="0"/>
                  <a:ea typeface="微软雅黑" charset="0"/>
                  <a:cs typeface="微软雅黑" charset="0"/>
                </a:endParaRPr>
              </a:p>
              <a:p>
                <a:pPr lvl="2">
                  <a:lnSpc>
                    <a:spcPct val="150000"/>
                  </a:lnSpc>
                </a:pPr>
                <a:r>
                  <a:rPr lang="zh-CN" altLang="en-US" dirty="0">
                    <a:latin typeface="微软雅黑" charset="0"/>
                    <a:ea typeface="微软雅黑" charset="0"/>
                    <a:cs typeface="微软雅黑" charset="0"/>
                  </a:rPr>
                  <a:t>适用于简单的更新</a:t>
                </a:r>
                <a:endParaRPr lang="zh-CN" altLang="en-US" dirty="0">
                  <a:latin typeface="微软雅黑" charset="0"/>
                  <a:ea typeface="微软雅黑" charset="0"/>
                  <a:cs typeface="微软雅黑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zh-CN" altLang="en-US" dirty="0">
                    <a:latin typeface="微软雅黑" charset="0"/>
                    <a:ea typeface="微软雅黑" charset="0"/>
                    <a:cs typeface="微软雅黑" charset="0"/>
                  </a:rPr>
                  <a:t>韦尔莱积分法：</a:t>
                </a:r>
                <a:endParaRPr lang="zh-CN" altLang="en-US" dirty="0">
                  <a:latin typeface="微软雅黑" charset="0"/>
                  <a:ea typeface="微软雅黑" charset="0"/>
                  <a:cs typeface="微软雅黑" charset="0"/>
                </a:endParaRPr>
              </a:p>
              <a:p>
                <a:pPr lvl="2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+(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𝑖−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)+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·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𝛥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>
                  <a:latin typeface="微软雅黑" charset="0"/>
                  <a:ea typeface="微软雅黑" charset="0"/>
                  <a:cs typeface="微软雅黑" charset="0"/>
                </a:endParaRPr>
              </a:p>
            </p:txBody>
          </p:sp>
        </mc:Choice>
        <mc:Fallback>
          <p:sp>
            <p:nvSpPr>
              <p:cNvPr id="7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49" y="1690670"/>
                <a:ext cx="10515600" cy="4902603"/>
              </a:xfrm>
              <a:prstGeom prst="rect">
                <a:avLst/>
              </a:prstGeom>
              <a:blipFill rotWithShape="1">
                <a:blip r:embed="rId1"/>
                <a:stretch>
                  <a:fillRect t="-6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代码</a:t>
            </a:r>
            <a:r>
              <a:rPr lang="zh-CN" altLang="en-US" dirty="0">
                <a:latin typeface="微软雅黑" charset="0"/>
                <a:ea typeface="微软雅黑" charset="0"/>
                <a:cs typeface="Arial" panose="020B0604020202020204" pitchFamily="34" charset="0"/>
              </a:rPr>
              <a:t>框架</a:t>
            </a:r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介绍</a:t>
            </a:r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0" name="内容占位符 2"/>
          <p:cNvSpPr txBox="1"/>
          <p:nvPr/>
        </p:nvSpPr>
        <p:spPr>
          <a:xfrm>
            <a:off x="838164" y="1405828"/>
            <a:ext cx="9024425" cy="49026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接下来，对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Lagrangian2d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和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Eulerian2d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代码框架进行介绍。由于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Lagrangian3d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和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Eulerian3d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与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2d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的代码逻辑基本一致，在此不做重复介绍。</a:t>
            </a:r>
            <a:endParaRPr lang="en-US" altLang="zh-CN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代码</a:t>
            </a:r>
            <a:r>
              <a:rPr lang="zh-CN" altLang="en-US" dirty="0">
                <a:latin typeface="微软雅黑" charset="0"/>
                <a:ea typeface="微软雅黑" charset="0"/>
                <a:cs typeface="Arial" panose="020B0604020202020204" pitchFamily="34" charset="0"/>
              </a:rPr>
              <a:t>框架</a:t>
            </a:r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介绍</a:t>
            </a:r>
            <a:r>
              <a:rPr lang="en-US" altLang="zh-CN" dirty="0">
                <a:latin typeface="微软雅黑" charset="0"/>
                <a:ea typeface="微软雅黑" charset="0"/>
                <a:cs typeface="微软雅黑" charset="0"/>
              </a:rPr>
              <a:t>-Lagrangian2d</a:t>
            </a:r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0" name="内容占位符 2"/>
          <p:cNvSpPr txBox="1"/>
          <p:nvPr/>
        </p:nvSpPr>
        <p:spPr>
          <a:xfrm>
            <a:off x="838164" y="1405828"/>
            <a:ext cx="10515606" cy="49026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在Lagrangian方法中，我们使用粒子对流体进行表示。代码中体现为</a:t>
            </a:r>
            <a:r>
              <a:rPr lang="en-US" altLang="zh-CN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ParticleInfo2d</a:t>
            </a: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结构体：</a:t>
            </a:r>
            <a:endParaRPr lang="zh-CN" altLang="en-US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这一结构体用于储存</a:t>
            </a:r>
            <a:r>
              <a:rPr lang="en-US" altLang="zh-CN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2d</a:t>
            </a: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粒子的信息（位置、速度等）。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4" name="图片 3" descr="post_object_image_30523697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385" y="2489645"/>
            <a:ext cx="5389339" cy="29112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代码</a:t>
            </a:r>
            <a:r>
              <a:rPr lang="zh-CN" altLang="en-US" dirty="0">
                <a:latin typeface="微软雅黑" charset="0"/>
                <a:ea typeface="微软雅黑" charset="0"/>
                <a:cs typeface="Arial" panose="020B0604020202020204" pitchFamily="34" charset="0"/>
              </a:rPr>
              <a:t>框架</a:t>
            </a:r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介绍</a:t>
            </a:r>
            <a:r>
              <a:rPr lang="en-US" altLang="zh-CN" dirty="0">
                <a:latin typeface="微软雅黑" charset="0"/>
                <a:ea typeface="微软雅黑" charset="0"/>
                <a:cs typeface="微软雅黑" charset="0"/>
              </a:rPr>
              <a:t>-Lagrangian2d</a:t>
            </a:r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0" name="内容占位符 2"/>
          <p:cNvSpPr txBox="1"/>
          <p:nvPr/>
        </p:nvSpPr>
        <p:spPr>
          <a:xfrm>
            <a:off x="838164" y="1405828"/>
            <a:ext cx="10515606" cy="48100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ParticleSystem2d类：用于管理粒子参数、容器（边界）参数以及加速邻域搜索的</a:t>
            </a:r>
            <a:r>
              <a:rPr lang="en-US" altLang="zh-CN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Block</a:t>
            </a: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结构。</a:t>
            </a:r>
            <a:endParaRPr lang="zh-CN" altLang="en-US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位于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ParticleSystem2d.h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3" name="图片 2" descr="post_object_image_12466896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9544" y="2412993"/>
            <a:ext cx="8534400" cy="31051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代码</a:t>
            </a:r>
            <a:r>
              <a:rPr lang="zh-CN" altLang="en-US" dirty="0">
                <a:latin typeface="微软雅黑" charset="0"/>
                <a:ea typeface="微软雅黑" charset="0"/>
                <a:cs typeface="Arial" panose="020B0604020202020204" pitchFamily="34" charset="0"/>
              </a:rPr>
              <a:t>框架</a:t>
            </a:r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介绍</a:t>
            </a:r>
            <a:r>
              <a:rPr lang="en-US" altLang="zh-CN" dirty="0">
                <a:latin typeface="微软雅黑" charset="0"/>
                <a:ea typeface="微软雅黑" charset="0"/>
                <a:cs typeface="微软雅黑" charset="0"/>
              </a:rPr>
              <a:t>-Lagrangian2d</a:t>
            </a:r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0" name="内容占位符 2"/>
          <p:cNvSpPr txBox="1"/>
          <p:nvPr/>
        </p:nvSpPr>
        <p:spPr>
          <a:xfrm>
            <a:off x="838164" y="1405828"/>
            <a:ext cx="10515606" cy="49026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Lagrangian2dComponent::init()</a:t>
            </a: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：用于初始化的</a:t>
            </a: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函数。</a:t>
            </a:r>
            <a:endParaRPr lang="zh-CN" altLang="en-US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位于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Lagrangian2dComponent.cpp</a:t>
            </a:r>
            <a:endParaRPr lang="en-US" altLang="zh-CN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3" name="图片 2" descr="post_object_image_132423378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6408" y="2037828"/>
            <a:ext cx="7000875" cy="3638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代码</a:t>
            </a:r>
            <a:r>
              <a:rPr lang="zh-CN" altLang="en-US" dirty="0">
                <a:latin typeface="微软雅黑" charset="0"/>
                <a:ea typeface="微软雅黑" charset="0"/>
                <a:cs typeface="Arial" panose="020B0604020202020204" pitchFamily="34" charset="0"/>
              </a:rPr>
              <a:t>框架</a:t>
            </a:r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介绍</a:t>
            </a:r>
            <a:r>
              <a:rPr lang="en-US" altLang="zh-CN" dirty="0">
                <a:latin typeface="微软雅黑" charset="0"/>
                <a:ea typeface="微软雅黑" charset="0"/>
                <a:cs typeface="微软雅黑" charset="0"/>
              </a:rPr>
              <a:t>-Lagrangian2d</a:t>
            </a:r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0" name="内容占位符 2"/>
          <p:cNvSpPr txBox="1"/>
          <p:nvPr/>
        </p:nvSpPr>
        <p:spPr>
          <a:xfrm>
            <a:off x="838164" y="1405828"/>
            <a:ext cx="10560405" cy="49026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ParticleSystem2d::addFluidBlock()</a:t>
            </a: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：在</a:t>
            </a:r>
            <a:r>
              <a:rPr lang="en-US" altLang="zh-CN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Lagrangian2dComponent::init()函数中调用，</a:t>
            </a: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用于初始化时将ui中全部流体块的粒子添加到粒子系统中。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位于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Lagrangian2dComponent.cpp</a:t>
            </a:r>
            <a:endParaRPr lang="en-US" altLang="zh-CN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4" name="图片 3" descr="post_object_image_2180551435"/>
          <p:cNvPicPr>
            <a:picLocks noChangeAspect="1"/>
          </p:cNvPicPr>
          <p:nvPr/>
        </p:nvPicPr>
        <p:blipFill>
          <a:blip r:embed="rId1"/>
          <a:srcRect b="7809"/>
          <a:stretch>
            <a:fillRect/>
          </a:stretch>
        </p:blipFill>
        <p:spPr>
          <a:xfrm>
            <a:off x="838197" y="2865477"/>
            <a:ext cx="7563986" cy="392685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代码</a:t>
            </a:r>
            <a:r>
              <a:rPr lang="zh-CN" altLang="en-US" dirty="0">
                <a:latin typeface="微软雅黑" charset="0"/>
                <a:ea typeface="微软雅黑" charset="0"/>
                <a:cs typeface="Arial" panose="020B0604020202020204" pitchFamily="34" charset="0"/>
              </a:rPr>
              <a:t>框架</a:t>
            </a:r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介绍</a:t>
            </a:r>
            <a:r>
              <a:rPr lang="en-US" altLang="zh-CN" dirty="0">
                <a:latin typeface="微软雅黑" charset="0"/>
                <a:ea typeface="微软雅黑" charset="0"/>
                <a:cs typeface="微软雅黑" charset="0"/>
              </a:rPr>
              <a:t>-Lagrangian2d</a:t>
            </a:r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0" name="内容占位符 2"/>
          <p:cNvSpPr txBox="1"/>
          <p:nvPr/>
        </p:nvSpPr>
        <p:spPr>
          <a:xfrm>
            <a:off x="838164" y="1405828"/>
            <a:ext cx="10560405" cy="49026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ParticleSystem2d::addFluidBlock()</a:t>
            </a: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：如果需要实现更改初始粒子位置或者向系统中添加新粒子的操作，可以仿照这个函数实现。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en-US" altLang="zh-CN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3" name="图片 2" descr="post_object_image_4047924714"/>
          <p:cNvPicPr>
            <a:picLocks noChangeAspect="1"/>
          </p:cNvPicPr>
          <p:nvPr/>
        </p:nvPicPr>
        <p:blipFill>
          <a:blip r:embed="rId1"/>
          <a:srcRect t="14097"/>
          <a:stretch>
            <a:fillRect/>
          </a:stretch>
        </p:blipFill>
        <p:spPr>
          <a:xfrm>
            <a:off x="1097532" y="2423794"/>
            <a:ext cx="7000039" cy="419180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代码</a:t>
            </a:r>
            <a:r>
              <a:rPr lang="zh-CN" altLang="en-US" dirty="0">
                <a:latin typeface="微软雅黑" charset="0"/>
                <a:ea typeface="微软雅黑" charset="0"/>
                <a:cs typeface="Arial" panose="020B0604020202020204" pitchFamily="34" charset="0"/>
              </a:rPr>
              <a:t>框架</a:t>
            </a:r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介绍</a:t>
            </a:r>
            <a:r>
              <a:rPr lang="en-US" altLang="zh-CN" dirty="0">
                <a:latin typeface="微软雅黑" charset="0"/>
                <a:ea typeface="微软雅黑" charset="0"/>
                <a:cs typeface="微软雅黑" charset="0"/>
              </a:rPr>
              <a:t>-Lagrangian2d</a:t>
            </a:r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0" name="内容占位符 2"/>
          <p:cNvSpPr txBox="1"/>
          <p:nvPr/>
        </p:nvSpPr>
        <p:spPr>
          <a:xfrm>
            <a:off x="838164" y="1405828"/>
            <a:ext cx="10515606" cy="49026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Lagrangian2dComponent::simulate()</a:t>
            </a: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：用于执行</a:t>
            </a: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仿真的函数，每一步先更新粒子信息，然后进行求解。</a:t>
            </a:r>
            <a:endParaRPr lang="zh-CN" altLang="en-US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位于</a:t>
            </a:r>
            <a:r>
              <a:rPr lang="en-US" altLang="zh-CN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Lagrangian2dComponent.cpp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4" name="图片 3" descr="post_object_image_42577271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635" y="2709357"/>
            <a:ext cx="6524625" cy="22955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代码</a:t>
            </a:r>
            <a:r>
              <a:rPr lang="zh-CN" altLang="en-US" dirty="0">
                <a:latin typeface="微软雅黑" charset="0"/>
                <a:ea typeface="微软雅黑" charset="0"/>
                <a:cs typeface="Arial" panose="020B0604020202020204" pitchFamily="34" charset="0"/>
              </a:rPr>
              <a:t>框架</a:t>
            </a:r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介绍</a:t>
            </a:r>
            <a:r>
              <a:rPr lang="en-US" altLang="zh-CN" dirty="0">
                <a:latin typeface="微软雅黑" charset="0"/>
                <a:ea typeface="微软雅黑" charset="0"/>
                <a:cs typeface="微软雅黑" charset="0"/>
              </a:rPr>
              <a:t>-Lagrangian2d</a:t>
            </a:r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0" name="内容占位符 2"/>
          <p:cNvSpPr txBox="1"/>
          <p:nvPr/>
        </p:nvSpPr>
        <p:spPr>
          <a:xfrm>
            <a:off x="838164" y="1405828"/>
            <a:ext cx="10515606" cy="49026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ParticleSystem2d</a:t>
            </a:r>
            <a:r>
              <a:rPr lang="en-US" altLang="zh-CN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::updateBlockInfo()</a:t>
            </a: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：用于更新块中粒子的范围，以方便邻域搜索。</a:t>
            </a:r>
            <a:endParaRPr lang="zh-CN" altLang="en-US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位于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ParticleSystem2d.cpp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3" name="图片 2" descr="post_object_image_240632569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830" y="2380396"/>
            <a:ext cx="6920781" cy="44776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代码</a:t>
            </a:r>
            <a:r>
              <a:rPr lang="zh-CN" altLang="en-US" dirty="0">
                <a:latin typeface="微软雅黑" charset="0"/>
                <a:ea typeface="微软雅黑" charset="0"/>
                <a:cs typeface="Arial" panose="020B0604020202020204" pitchFamily="34" charset="0"/>
              </a:rPr>
              <a:t>框架</a:t>
            </a:r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介绍</a:t>
            </a:r>
            <a:r>
              <a:rPr lang="en-US" altLang="zh-CN" dirty="0">
                <a:latin typeface="微软雅黑" charset="0"/>
                <a:ea typeface="微软雅黑" charset="0"/>
                <a:cs typeface="微软雅黑" charset="0"/>
              </a:rPr>
              <a:t>-Lagrangian2d</a:t>
            </a:r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0" name="内容占位符 2"/>
          <p:cNvSpPr txBox="1"/>
          <p:nvPr/>
        </p:nvSpPr>
        <p:spPr>
          <a:xfrm>
            <a:off x="838164" y="1405828"/>
            <a:ext cx="10515606" cy="49026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Solver类：用于实现粒子流体的仿真计算，包含粒子速度和位置在一个时间步内的更新及相关计算。（待实现）</a:t>
            </a:r>
            <a:endParaRPr lang="zh-CN" altLang="en-US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位于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Solver.cpp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3" name="图片 2" descr="post_object_image_39085085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826" y="2559047"/>
            <a:ext cx="5600700" cy="1838325"/>
          </a:xfrm>
          <a:prstGeom prst="rect">
            <a:avLst/>
          </a:prstGeom>
        </p:spPr>
      </p:pic>
      <p:pic>
        <p:nvPicPr>
          <p:cNvPr id="5" name="图片 4" descr="post_object_image_3894333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818" y="4397369"/>
            <a:ext cx="3867150" cy="14668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代码</a:t>
            </a:r>
            <a:r>
              <a:rPr lang="zh-CN" altLang="en-US" dirty="0">
                <a:latin typeface="微软雅黑" charset="0"/>
                <a:ea typeface="微软雅黑" charset="0"/>
                <a:cs typeface="Arial" panose="020B0604020202020204" pitchFamily="34" charset="0"/>
              </a:rPr>
              <a:t>框架</a:t>
            </a:r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介绍</a:t>
            </a:r>
            <a:r>
              <a:rPr lang="en-US" altLang="zh-CN" dirty="0">
                <a:latin typeface="微软雅黑" charset="0"/>
                <a:ea typeface="微软雅黑" charset="0"/>
                <a:cs typeface="微软雅黑" charset="0"/>
              </a:rPr>
              <a:t>-Eulerian2d</a:t>
            </a:r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0" name="内容占位符 2"/>
          <p:cNvSpPr txBox="1"/>
          <p:nvPr/>
        </p:nvSpPr>
        <p:spPr>
          <a:xfrm>
            <a:off x="838164" y="1405828"/>
            <a:ext cx="10515606" cy="49026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在</a:t>
            </a:r>
            <a:r>
              <a:rPr lang="en-US" altLang="zh-CN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Eulerian</a:t>
            </a: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方法中，我们使用</a:t>
            </a:r>
            <a:r>
              <a:rPr lang="en-US" altLang="zh-CN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MAC</a:t>
            </a: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网格对流体进行表示。代码中体现为MACGrid</a:t>
            </a:r>
            <a:r>
              <a:rPr lang="en-US" altLang="zh-CN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2d</a:t>
            </a: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类：</a:t>
            </a:r>
            <a:endParaRPr lang="zh-CN" altLang="en-US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这一结构体用于储存</a:t>
            </a:r>
            <a:r>
              <a:rPr lang="en-US" altLang="zh-CN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2d</a:t>
            </a: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网格的信息（速度、密度、温度、固体标记）。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3" name="图片 2" descr="post_object_image_4788544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2344" y="2394447"/>
            <a:ext cx="3635549" cy="305998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代码</a:t>
            </a:r>
            <a:r>
              <a:rPr lang="zh-CN" altLang="en-US" dirty="0">
                <a:latin typeface="微软雅黑" charset="0"/>
                <a:ea typeface="微软雅黑" charset="0"/>
                <a:cs typeface="Arial" panose="020B0604020202020204" pitchFamily="34" charset="0"/>
              </a:rPr>
              <a:t>框架</a:t>
            </a:r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介绍</a:t>
            </a:r>
            <a:r>
              <a:rPr lang="en-US" altLang="zh-CN" dirty="0">
                <a:latin typeface="微软雅黑" charset="0"/>
                <a:ea typeface="微软雅黑" charset="0"/>
                <a:cs typeface="微软雅黑" charset="0"/>
              </a:rPr>
              <a:t>-Eulerian2d</a:t>
            </a:r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0" name="内容占位符 2"/>
          <p:cNvSpPr txBox="1"/>
          <p:nvPr/>
        </p:nvSpPr>
        <p:spPr>
          <a:xfrm>
            <a:off x="838164" y="1405828"/>
            <a:ext cx="10515606" cy="49026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Eulerian2dComponent::init()</a:t>
            </a: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：用于初始化的函数。</a:t>
            </a:r>
            <a:endParaRPr lang="zh-CN" altLang="en-US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位于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Eulerian2dComponent.cpp</a:t>
            </a:r>
            <a:endParaRPr lang="en-US" altLang="zh-CN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4" name="图片 3" descr="post_object_image_35949788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812" y="1935372"/>
            <a:ext cx="8962098" cy="362084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代码</a:t>
            </a:r>
            <a:r>
              <a:rPr lang="zh-CN" altLang="en-US" dirty="0">
                <a:latin typeface="微软雅黑" charset="0"/>
                <a:ea typeface="微软雅黑" charset="0"/>
                <a:cs typeface="Arial" panose="020B0604020202020204" pitchFamily="34" charset="0"/>
              </a:rPr>
              <a:t>框架</a:t>
            </a:r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介绍</a:t>
            </a:r>
            <a:r>
              <a:rPr lang="en-US" altLang="zh-CN" dirty="0">
                <a:latin typeface="微软雅黑" charset="0"/>
                <a:ea typeface="微软雅黑" charset="0"/>
                <a:cs typeface="微软雅黑" charset="0"/>
              </a:rPr>
              <a:t>-Eulerian2d</a:t>
            </a:r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0" name="内容占位符 2"/>
          <p:cNvSpPr txBox="1"/>
          <p:nvPr/>
        </p:nvSpPr>
        <p:spPr>
          <a:xfrm>
            <a:off x="838164" y="1405828"/>
            <a:ext cx="10515606" cy="49026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Eulerian2dComponent::simulate()</a:t>
            </a: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：用于执行一步仿真的函数，每一步先更新烟雾源，然后进行求解。</a:t>
            </a:r>
            <a:endParaRPr lang="zh-CN" altLang="en-US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位于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Eulerian2dComponent.cpp</a:t>
            </a:r>
            <a:endParaRPr lang="en-US" altLang="zh-CN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5" name="图片 4" descr="post_object_image_384295728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875" y="2703323"/>
            <a:ext cx="6649537" cy="193774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代码</a:t>
            </a:r>
            <a:r>
              <a:rPr lang="zh-CN" altLang="en-US" dirty="0">
                <a:latin typeface="微软雅黑" charset="0"/>
                <a:ea typeface="微软雅黑" charset="0"/>
                <a:cs typeface="Arial" panose="020B0604020202020204" pitchFamily="34" charset="0"/>
              </a:rPr>
              <a:t>框架</a:t>
            </a:r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介绍</a:t>
            </a:r>
            <a:r>
              <a:rPr lang="en-US" altLang="zh-CN" dirty="0">
                <a:latin typeface="微软雅黑" charset="0"/>
                <a:ea typeface="微软雅黑" charset="0"/>
                <a:cs typeface="微软雅黑" charset="0"/>
              </a:rPr>
              <a:t>-Eulerian2d</a:t>
            </a:r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0" name="内容占位符 2"/>
          <p:cNvSpPr txBox="1"/>
          <p:nvPr/>
        </p:nvSpPr>
        <p:spPr>
          <a:xfrm>
            <a:off x="838164" y="1405828"/>
            <a:ext cx="10515606" cy="49026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MACGrid2d::updateSources()</a:t>
            </a: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：在烟雾源头的位置设置最新喷出的烟雾的参数（网格位置、速度、密度、温度）。</a:t>
            </a:r>
            <a:endParaRPr lang="zh-CN" altLang="en-US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 marL="0" indent="0">
              <a:lnSpc>
                <a:spcPct val="110000"/>
              </a:lnSpc>
              <a:buNone/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3" name="图片 2" descr="post_object_image_246773289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595" y="2595443"/>
            <a:ext cx="680085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代码</a:t>
            </a:r>
            <a:r>
              <a:rPr lang="zh-CN" altLang="en-US" dirty="0">
                <a:latin typeface="微软雅黑" charset="0"/>
                <a:ea typeface="微软雅黑" charset="0"/>
                <a:cs typeface="Arial" panose="020B0604020202020204" pitchFamily="34" charset="0"/>
              </a:rPr>
              <a:t>框架</a:t>
            </a:r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介绍</a:t>
            </a:r>
            <a:r>
              <a:rPr lang="en-US" altLang="zh-CN" dirty="0">
                <a:latin typeface="微软雅黑" charset="0"/>
                <a:ea typeface="微软雅黑" charset="0"/>
                <a:cs typeface="微软雅黑" charset="0"/>
              </a:rPr>
              <a:t>-</a:t>
            </a:r>
            <a:r>
              <a:rPr lang="en-US" altLang="zh-CN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Eulerian</a:t>
            </a:r>
            <a:r>
              <a:rPr lang="en-US" altLang="zh-CN" dirty="0">
                <a:latin typeface="微软雅黑" charset="0"/>
                <a:ea typeface="微软雅黑" charset="0"/>
                <a:cs typeface="微软雅黑" charset="0"/>
              </a:rPr>
              <a:t>2d</a:t>
            </a:r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0" name="内容占位符 2"/>
          <p:cNvSpPr txBox="1"/>
          <p:nvPr/>
        </p:nvSpPr>
        <p:spPr>
          <a:xfrm>
            <a:off x="838164" y="1405828"/>
            <a:ext cx="10515606" cy="49026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Solver类：用于实现流体的仿真</a:t>
            </a: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计算。（待实现）</a:t>
            </a:r>
            <a:endParaRPr lang="zh-CN" altLang="en-US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位于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Solver.cpp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10000"/>
              </a:lnSpc>
            </a:pP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4" name="图片 3" descr="post_object_image_334332816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0209" y="1913694"/>
            <a:ext cx="4514850" cy="1952625"/>
          </a:xfrm>
          <a:prstGeom prst="rect">
            <a:avLst/>
          </a:prstGeom>
        </p:spPr>
      </p:pic>
      <p:pic>
        <p:nvPicPr>
          <p:cNvPr id="6" name="图片 5" descr="post_object_image_41255836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657" y="3866319"/>
            <a:ext cx="4524375" cy="14668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实验要求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" name="内容占位符 2"/>
          <p:cNvSpPr txBox="1"/>
          <p:nvPr/>
        </p:nvSpPr>
        <p:spPr>
          <a:xfrm>
            <a:off x="838297" y="1607299"/>
            <a:ext cx="10515600" cy="44725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在提供的</a:t>
            </a:r>
            <a:r>
              <a:rPr lang="zh-CN" altLang="en-US" dirty="0">
                <a:latin typeface="微软雅黑" charset="0"/>
                <a:ea typeface="微软雅黑" charset="0"/>
                <a:cs typeface="Arial" panose="020B0604020202020204" pitchFamily="34" charset="0"/>
              </a:rPr>
              <a:t>框架内，</a:t>
            </a:r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实现</a:t>
            </a: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一个</a:t>
            </a:r>
            <a:r>
              <a:rPr lang="en-US" altLang="zh-CN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Particle System</a:t>
            </a: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，并搭建向上喷出流体的喷泉场景。</a:t>
            </a:r>
            <a:endParaRPr lang="zh-CN" altLang="en-US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完成</a:t>
            </a:r>
            <a:r>
              <a:rPr lang="en-US" altLang="zh-CN" dirty="0">
                <a:latin typeface="微软雅黑" charset="0"/>
                <a:ea typeface="微软雅黑" charset="0"/>
                <a:cs typeface="微软雅黑" charset="0"/>
              </a:rPr>
              <a:t>“</a:t>
            </a:r>
            <a:r>
              <a:rPr lang="zh-CN" altLang="en-US" b="1" dirty="0">
                <a:latin typeface="微软雅黑" charset="0"/>
                <a:ea typeface="微软雅黑" charset="0"/>
                <a:cs typeface="微软雅黑" charset="0"/>
              </a:rPr>
              <a:t>实验总结</a:t>
            </a:r>
            <a:r>
              <a:rPr lang="en-US" altLang="zh-CN" dirty="0">
                <a:latin typeface="微软雅黑" charset="0"/>
                <a:ea typeface="微软雅黑" charset="0"/>
                <a:cs typeface="微软雅黑" charset="0"/>
              </a:rPr>
              <a:t>”</a:t>
            </a:r>
            <a:r>
              <a:rPr lang="zh-CN" altLang="en-US" dirty="0">
                <a:latin typeface="微软雅黑" charset="0"/>
                <a:ea typeface="微软雅黑" charset="0"/>
                <a:cs typeface="微软雅黑" charset="0"/>
              </a:rPr>
              <a:t>，篇幅控制在一页左右，以附件的形式上传至小雅平台</a:t>
            </a:r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1732</Words>
  <Application>WPS Office WWO_wpscloud_20251105180149-0b0f449aab</Application>
  <PresentationFormat>宽屏</PresentationFormat>
  <Paragraphs>190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3" baseType="lpstr">
      <vt:lpstr>Arial</vt:lpstr>
      <vt:lpstr>宋体</vt:lpstr>
      <vt:lpstr>Wingdings</vt:lpstr>
      <vt:lpstr>微软雅黑</vt:lpstr>
      <vt:lpstr>汉仪旗黑KW 55S</vt:lpstr>
      <vt:lpstr>Times New Roman</vt:lpstr>
      <vt:lpstr>宋体</vt:lpstr>
      <vt:lpstr>华文中宋</vt:lpstr>
      <vt:lpstr>汉仪书宋二KW</vt:lpstr>
      <vt:lpstr>Kingsoft Confetti</vt:lpstr>
      <vt:lpstr>Cambria Math</vt:lpstr>
      <vt:lpstr>Kingsoft Math</vt:lpstr>
      <vt:lpstr>Office 主题​​</vt:lpstr>
      <vt:lpstr>计算机图形学 实验六：流体仿真算法 </vt:lpstr>
      <vt:lpstr>算法介绍-Particle System</vt:lpstr>
      <vt:lpstr>算法介绍-Particle System</vt:lpstr>
      <vt:lpstr>算法介绍-Particle System</vt:lpstr>
      <vt:lpstr>算法介绍-Particle System</vt:lpstr>
      <vt:lpstr>代码框架介绍</vt:lpstr>
      <vt:lpstr>代码框架介绍-Lagrangian2d</vt:lpstr>
      <vt:lpstr>代码框架介绍-Lagrangian2d</vt:lpstr>
      <vt:lpstr>代码框架介绍-Lagrangian2d</vt:lpstr>
      <vt:lpstr>代码框架介绍-Lagrangian2d</vt:lpstr>
      <vt:lpstr>代码框架介绍-Lagrangian2d</vt:lpstr>
      <vt:lpstr>代码框架介绍-Lagrangian2d</vt:lpstr>
      <vt:lpstr>代码框架介绍-Lagrangian2d</vt:lpstr>
      <vt:lpstr>代码框架介绍-Lagrangian2d</vt:lpstr>
      <vt:lpstr>代码框架介绍-Eulerian2d</vt:lpstr>
      <vt:lpstr>代码框架介绍-Eulerian2d</vt:lpstr>
      <vt:lpstr>代码框架介绍-Eulerian2d</vt:lpstr>
      <vt:lpstr>代码框架介绍-Eulerian2d</vt:lpstr>
      <vt:lpstr>代码框架介绍-Eulerian2d</vt:lpstr>
      <vt:lpstr>实验要求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计算机图形学 实验六：流体仿真算法 </dc:title>
  <dc:creator>pc</dc:creator>
  <cp:lastModifiedBy>1193156762@qq.com</cp:lastModifiedBy>
  <dcterms:created xsi:type="dcterms:W3CDTF">2025-11-19T06:12:53Z</dcterms:created>
  <dcterms:modified xsi:type="dcterms:W3CDTF">2025-11-19T06:12:53Z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022CEE462944DF7BED06CC689DA0CAB2_42</vt:lpwstr>
  </property>
  <property fmtid="{D5CDD505-2E9C-101B-9397-08002B2CF9AE}" pid="3" name="KSOProductBuildVer">
    <vt:lpwstr>2052-12.9.0.23627</vt:lpwstr>
  </property>
</Properties>
</file>