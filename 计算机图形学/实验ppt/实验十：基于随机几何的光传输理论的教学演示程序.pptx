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66" r:id="rId3"/>
    <p:sldId id="267" r:id="rId4"/>
    <p:sldId id="281" r:id="rId5"/>
    <p:sldId id="337" r:id="rId6"/>
    <p:sldId id="336" r:id="rId7"/>
    <p:sldId id="283" r:id="rId8"/>
    <p:sldId id="284" r:id="rId9"/>
    <p:sldId id="285" r:id="rId10"/>
    <p:sldId id="286" r:id="rId11"/>
    <p:sldId id="316" r:id="rId12"/>
    <p:sldId id="315" r:id="rId13"/>
    <p:sldId id="317" r:id="rId14"/>
    <p:sldId id="318" r:id="rId15"/>
    <p:sldId id="319" r:id="rId16"/>
    <p:sldId id="332" r:id="rId17"/>
    <p:sldId id="320" r:id="rId18"/>
    <p:sldId id="321" r:id="rId19"/>
    <p:sldId id="333" r:id="rId20"/>
    <p:sldId id="322" r:id="rId21"/>
    <p:sldId id="323" r:id="rId22"/>
    <p:sldId id="324" r:id="rId23"/>
    <p:sldId id="325" r:id="rId24"/>
    <p:sldId id="326" r:id="rId25"/>
    <p:sldId id="334" r:id="rId26"/>
    <p:sldId id="327" r:id="rId27"/>
    <p:sldId id="335" r:id="rId28"/>
    <p:sldId id="330" r:id="rId29"/>
    <p:sldId id="328" r:id="rId30"/>
    <p:sldId id="338" r:id="rId31"/>
    <p:sldId id="331" r:id="rId32"/>
    <p:sldId id="329" r:id="rId3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823" autoAdjust="0"/>
  </p:normalViewPr>
  <p:slideViewPr>
    <p:cSldViewPr snapToGrid="0">
      <p:cViewPr varScale="1">
        <p:scale>
          <a:sx n="104" d="100"/>
          <a:sy n="104" d="100"/>
        </p:scale>
        <p:origin x="96"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16945D-0E0F-44F3-9618-867BC8548AB7}" type="datetimeFigureOut">
              <a:rPr lang="zh-CN" altLang="en-US" smtClean="0"/>
              <a:t>2026-01-08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DDA697-5FD9-48E9-9D28-9D1844457FE2}" type="slidenum">
              <a:rPr lang="zh-CN" altLang="en-US" smtClean="0"/>
              <a:t>‹#›</a:t>
            </a:fld>
            <a:endParaRPr lang="zh-CN" altLang="en-US"/>
          </a:p>
        </p:txBody>
      </p:sp>
    </p:spTree>
    <p:extLst>
      <p:ext uri="{BB962C8B-B14F-4D97-AF65-F5344CB8AC3E}">
        <p14:creationId xmlns:p14="http://schemas.microsoft.com/office/powerpoint/2010/main" val="917528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待修改，明天看一眼我电脑上的</a:t>
            </a:r>
          </a:p>
        </p:txBody>
      </p:sp>
      <p:sp>
        <p:nvSpPr>
          <p:cNvPr id="4" name="灯片编号占位符 3"/>
          <p:cNvSpPr>
            <a:spLocks noGrp="1"/>
          </p:cNvSpPr>
          <p:nvPr>
            <p:ph type="sldNum" sz="quarter" idx="5"/>
          </p:nvPr>
        </p:nvSpPr>
        <p:spPr/>
        <p:txBody>
          <a:bodyPr/>
          <a:lstStyle/>
          <a:p>
            <a:fld id="{6ADDA697-5FD9-48E9-9D28-9D1844457FE2}" type="slidenum">
              <a:rPr lang="zh-CN" altLang="en-US" smtClean="0"/>
              <a:t>3</a:t>
            </a:fld>
            <a:endParaRPr lang="zh-CN" altLang="en-US"/>
          </a:p>
        </p:txBody>
      </p:sp>
    </p:spTree>
    <p:extLst>
      <p:ext uri="{BB962C8B-B14F-4D97-AF65-F5344CB8AC3E}">
        <p14:creationId xmlns:p14="http://schemas.microsoft.com/office/powerpoint/2010/main" val="35638776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E7261ED-8B89-4665-8824-4B8326212B1D}" type="slidenum">
              <a:rPr lang="zh-CN" altLang="en-US" smtClean="0"/>
              <a:t>4</a:t>
            </a:fld>
            <a:endParaRPr lang="zh-CN" altLang="en-US"/>
          </a:p>
        </p:txBody>
      </p:sp>
    </p:spTree>
    <p:extLst>
      <p:ext uri="{BB962C8B-B14F-4D97-AF65-F5344CB8AC3E}">
        <p14:creationId xmlns:p14="http://schemas.microsoft.com/office/powerpoint/2010/main" val="11668055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D951D-6BA3-DC25-7823-3E79621D5B5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B3E8498-1333-19E5-802A-C0BA41210CA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10FA8BD-5A0F-1897-4EBE-002D5840B7D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6FE2D55-2D43-76A0-0D63-1488DB07EF63}"/>
              </a:ext>
            </a:extLst>
          </p:cNvPr>
          <p:cNvSpPr>
            <a:spLocks noGrp="1"/>
          </p:cNvSpPr>
          <p:nvPr>
            <p:ph type="sldNum" sz="quarter" idx="5"/>
          </p:nvPr>
        </p:nvSpPr>
        <p:spPr/>
        <p:txBody>
          <a:bodyPr/>
          <a:lstStyle/>
          <a:p>
            <a:fld id="{9E7261ED-8B89-4665-8824-4B8326212B1D}" type="slidenum">
              <a:rPr lang="zh-CN" altLang="en-US" smtClean="0"/>
              <a:t>5</a:t>
            </a:fld>
            <a:endParaRPr lang="zh-CN" altLang="en-US"/>
          </a:p>
        </p:txBody>
      </p:sp>
    </p:spTree>
    <p:extLst>
      <p:ext uri="{BB962C8B-B14F-4D97-AF65-F5344CB8AC3E}">
        <p14:creationId xmlns:p14="http://schemas.microsoft.com/office/powerpoint/2010/main" val="8454456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94C38-2C4B-0036-5880-EB2C4331B55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C20FA2B-2FD1-F8DC-F52F-7D5F3400ACB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087CFA5-A658-D3CE-8E9E-C2B7ADB98EC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7BAD3E0-192E-23E5-F963-BD0D191A6951}"/>
              </a:ext>
            </a:extLst>
          </p:cNvPr>
          <p:cNvSpPr>
            <a:spLocks noGrp="1"/>
          </p:cNvSpPr>
          <p:nvPr>
            <p:ph type="sldNum" sz="quarter" idx="5"/>
          </p:nvPr>
        </p:nvSpPr>
        <p:spPr/>
        <p:txBody>
          <a:bodyPr/>
          <a:lstStyle/>
          <a:p>
            <a:fld id="{9E7261ED-8B89-4665-8824-4B8326212B1D}" type="slidenum">
              <a:rPr lang="zh-CN" altLang="en-US" smtClean="0"/>
              <a:t>6</a:t>
            </a:fld>
            <a:endParaRPr lang="zh-CN" altLang="en-US"/>
          </a:p>
        </p:txBody>
      </p:sp>
    </p:spTree>
    <p:extLst>
      <p:ext uri="{BB962C8B-B14F-4D97-AF65-F5344CB8AC3E}">
        <p14:creationId xmlns:p14="http://schemas.microsoft.com/office/powerpoint/2010/main" val="40245529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EDDC3-0985-706A-5398-BD0496BFC38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5F657A5-E678-92BB-67C7-D1C3C475370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888F4F4-5886-DFD4-2EA5-93F4C8693DE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6EA1E45-C77B-8329-D49C-036E21A5E749}"/>
              </a:ext>
            </a:extLst>
          </p:cNvPr>
          <p:cNvSpPr>
            <a:spLocks noGrp="1"/>
          </p:cNvSpPr>
          <p:nvPr>
            <p:ph type="sldNum" sz="quarter" idx="5"/>
          </p:nvPr>
        </p:nvSpPr>
        <p:spPr/>
        <p:txBody>
          <a:bodyPr/>
          <a:lstStyle/>
          <a:p>
            <a:fld id="{9E7261ED-8B89-4665-8824-4B8326212B1D}" type="slidenum">
              <a:rPr lang="zh-CN" altLang="en-US" smtClean="0"/>
              <a:t>7</a:t>
            </a:fld>
            <a:endParaRPr lang="zh-CN" altLang="en-US"/>
          </a:p>
        </p:txBody>
      </p:sp>
    </p:spTree>
    <p:extLst>
      <p:ext uri="{BB962C8B-B14F-4D97-AF65-F5344CB8AC3E}">
        <p14:creationId xmlns:p14="http://schemas.microsoft.com/office/powerpoint/2010/main" val="15407628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9C661-77F1-F5FF-FF04-FF0DF764489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68EE888-E43A-E312-7810-6382457713E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93E215A-900D-CCE9-A7EA-C2AABF2FCA0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t>make -j$(</a:t>
            </a:r>
            <a:r>
              <a:rPr lang="en-US" altLang="zh-CN" sz="1200" dirty="0" err="1"/>
              <a:t>nproc</a:t>
            </a:r>
            <a:r>
              <a:rPr lang="en-US" altLang="zh-CN" sz="1200" dirty="0"/>
              <a:t>) V=1 2&gt;&amp;1 | tee compile_error.log</a:t>
            </a:r>
          </a:p>
          <a:p>
            <a:endParaRPr lang="zh-CN" altLang="en-US" dirty="0"/>
          </a:p>
        </p:txBody>
      </p:sp>
      <p:sp>
        <p:nvSpPr>
          <p:cNvPr id="4" name="灯片编号占位符 3">
            <a:extLst>
              <a:ext uri="{FF2B5EF4-FFF2-40B4-BE49-F238E27FC236}">
                <a16:creationId xmlns:a16="http://schemas.microsoft.com/office/drawing/2014/main" id="{EF71952B-EECB-5ED1-13C6-3930347C303C}"/>
              </a:ext>
            </a:extLst>
          </p:cNvPr>
          <p:cNvSpPr>
            <a:spLocks noGrp="1"/>
          </p:cNvSpPr>
          <p:nvPr>
            <p:ph type="sldNum" sz="quarter" idx="5"/>
          </p:nvPr>
        </p:nvSpPr>
        <p:spPr/>
        <p:txBody>
          <a:bodyPr/>
          <a:lstStyle/>
          <a:p>
            <a:fld id="{9E7261ED-8B89-4665-8824-4B8326212B1D}" type="slidenum">
              <a:rPr lang="zh-CN" altLang="en-US" smtClean="0"/>
              <a:t>8</a:t>
            </a:fld>
            <a:endParaRPr lang="zh-CN" altLang="en-US"/>
          </a:p>
        </p:txBody>
      </p:sp>
    </p:spTree>
    <p:extLst>
      <p:ext uri="{BB962C8B-B14F-4D97-AF65-F5344CB8AC3E}">
        <p14:creationId xmlns:p14="http://schemas.microsoft.com/office/powerpoint/2010/main" val="42221809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302CB-CCE0-69D9-FC14-46B557F9B92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B108FC-3360-683F-035B-B49881BF44E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A0269FD-8F1B-7DF6-2857-2AF344D12DC4}"/>
              </a:ext>
            </a:extLst>
          </p:cNvPr>
          <p:cNvSpPr>
            <a:spLocks noGrp="1"/>
          </p:cNvSpPr>
          <p:nvPr>
            <p:ph type="body" idx="1"/>
          </p:nvPr>
        </p:nvSpPr>
        <p:spPr/>
        <p:txBody>
          <a:bodyPr/>
          <a:lstStyle/>
          <a:p>
            <a:r>
              <a:rPr lang="en-US" altLang="zh-CN" dirty="0"/>
              <a:t>https://github.com/AcademySoftwareFoundation/openvdb.git</a:t>
            </a:r>
            <a:endParaRPr lang="zh-CN" altLang="en-US" dirty="0"/>
          </a:p>
        </p:txBody>
      </p:sp>
      <p:sp>
        <p:nvSpPr>
          <p:cNvPr id="4" name="灯片编号占位符 3">
            <a:extLst>
              <a:ext uri="{FF2B5EF4-FFF2-40B4-BE49-F238E27FC236}">
                <a16:creationId xmlns:a16="http://schemas.microsoft.com/office/drawing/2014/main" id="{9F47D7F2-8BA9-B3A3-E1F1-EAB705C91184}"/>
              </a:ext>
            </a:extLst>
          </p:cNvPr>
          <p:cNvSpPr>
            <a:spLocks noGrp="1"/>
          </p:cNvSpPr>
          <p:nvPr>
            <p:ph type="sldNum" sz="quarter" idx="5"/>
          </p:nvPr>
        </p:nvSpPr>
        <p:spPr/>
        <p:txBody>
          <a:bodyPr/>
          <a:lstStyle/>
          <a:p>
            <a:fld id="{9E7261ED-8B89-4665-8824-4B8326212B1D}" type="slidenum">
              <a:rPr lang="zh-CN" altLang="en-US" smtClean="0"/>
              <a:t>9</a:t>
            </a:fld>
            <a:endParaRPr lang="zh-CN" altLang="en-US"/>
          </a:p>
        </p:txBody>
      </p:sp>
    </p:spTree>
    <p:extLst>
      <p:ext uri="{BB962C8B-B14F-4D97-AF65-F5344CB8AC3E}">
        <p14:creationId xmlns:p14="http://schemas.microsoft.com/office/powerpoint/2010/main" val="17709543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EE208-970B-EEFF-F10F-12A5DFCF451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D146338-752E-7A60-618F-6F861220013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5820215-E3DF-CC32-0295-BD32CCD49C4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54B8829-1E3C-3CFE-56FD-FE445AB19D28}"/>
              </a:ext>
            </a:extLst>
          </p:cNvPr>
          <p:cNvSpPr>
            <a:spLocks noGrp="1"/>
          </p:cNvSpPr>
          <p:nvPr>
            <p:ph type="sldNum" sz="quarter" idx="5"/>
          </p:nvPr>
        </p:nvSpPr>
        <p:spPr/>
        <p:txBody>
          <a:bodyPr/>
          <a:lstStyle/>
          <a:p>
            <a:fld id="{9E7261ED-8B89-4665-8824-4B8326212B1D}" type="slidenum">
              <a:rPr lang="zh-CN" altLang="en-US" smtClean="0"/>
              <a:t>10</a:t>
            </a:fld>
            <a:endParaRPr lang="zh-CN" altLang="en-US"/>
          </a:p>
        </p:txBody>
      </p:sp>
    </p:spTree>
    <p:extLst>
      <p:ext uri="{BB962C8B-B14F-4D97-AF65-F5344CB8AC3E}">
        <p14:creationId xmlns:p14="http://schemas.microsoft.com/office/powerpoint/2010/main" val="6862768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8151A-5970-BCCE-20D7-97BF814C70D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D3D7E76-3EAC-BD87-B744-193D8361D3E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8A3FF75-275A-3E6D-31A9-896E9F05790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3B16649-CDA5-4796-A2AE-E052C3DCF729}"/>
              </a:ext>
            </a:extLst>
          </p:cNvPr>
          <p:cNvSpPr>
            <a:spLocks noGrp="1"/>
          </p:cNvSpPr>
          <p:nvPr>
            <p:ph type="sldNum" sz="quarter" idx="5"/>
          </p:nvPr>
        </p:nvSpPr>
        <p:spPr/>
        <p:txBody>
          <a:bodyPr/>
          <a:lstStyle/>
          <a:p>
            <a:fld id="{9E7261ED-8B89-4665-8824-4B8326212B1D}" type="slidenum">
              <a:rPr lang="zh-CN" altLang="en-US" smtClean="0"/>
              <a:t>11</a:t>
            </a:fld>
            <a:endParaRPr lang="zh-CN" altLang="en-US"/>
          </a:p>
        </p:txBody>
      </p:sp>
    </p:spTree>
    <p:extLst>
      <p:ext uri="{BB962C8B-B14F-4D97-AF65-F5344CB8AC3E}">
        <p14:creationId xmlns:p14="http://schemas.microsoft.com/office/powerpoint/2010/main" val="2011777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06F23F-948C-3137-AB04-9DE5BCB2CE7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95BF10C-5EFA-F5DE-ABFB-82CA2BA5E8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9C1707D-99BD-E4F9-88F2-04C53366DBBC}"/>
              </a:ext>
            </a:extLst>
          </p:cNvPr>
          <p:cNvSpPr>
            <a:spLocks noGrp="1"/>
          </p:cNvSpPr>
          <p:nvPr>
            <p:ph type="dt" sz="half" idx="10"/>
          </p:nvPr>
        </p:nvSpPr>
        <p:spPr/>
        <p:txBody>
          <a:bodyPr/>
          <a:lstStyle/>
          <a:p>
            <a:fld id="{E9C6DBFE-37A8-45A1-8746-A8ED0928F512}" type="datetimeFigureOut">
              <a:rPr lang="zh-CN" altLang="en-US" smtClean="0"/>
              <a:t>2026-01-08</a:t>
            </a:fld>
            <a:endParaRPr lang="zh-CN" altLang="en-US"/>
          </a:p>
        </p:txBody>
      </p:sp>
      <p:sp>
        <p:nvSpPr>
          <p:cNvPr id="5" name="页脚占位符 4">
            <a:extLst>
              <a:ext uri="{FF2B5EF4-FFF2-40B4-BE49-F238E27FC236}">
                <a16:creationId xmlns:a16="http://schemas.microsoft.com/office/drawing/2014/main" id="{57794644-B19A-1BDB-943A-93CC172FDD5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20A9845-C286-4D4F-6495-9E40B2D67EEA}"/>
              </a:ext>
            </a:extLst>
          </p:cNvPr>
          <p:cNvSpPr>
            <a:spLocks noGrp="1"/>
          </p:cNvSpPr>
          <p:nvPr>
            <p:ph type="sldNum" sz="quarter" idx="12"/>
          </p:nvPr>
        </p:nvSpPr>
        <p:spPr/>
        <p:txBody>
          <a:bodyPr/>
          <a:lstStyle/>
          <a:p>
            <a:fld id="{953070E4-468D-4D00-BA69-65905236A630}" type="slidenum">
              <a:rPr lang="zh-CN" altLang="en-US" smtClean="0"/>
              <a:t>‹#›</a:t>
            </a:fld>
            <a:endParaRPr lang="zh-CN" altLang="en-US"/>
          </a:p>
        </p:txBody>
      </p:sp>
    </p:spTree>
    <p:extLst>
      <p:ext uri="{BB962C8B-B14F-4D97-AF65-F5344CB8AC3E}">
        <p14:creationId xmlns:p14="http://schemas.microsoft.com/office/powerpoint/2010/main" val="31760998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5C85FF-1889-842B-5359-07691B298EE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D41C03D-2A07-4C6D-FF90-2E11AD353AB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699103A-14D6-0C17-EB62-C3C31CD6443C}"/>
              </a:ext>
            </a:extLst>
          </p:cNvPr>
          <p:cNvSpPr>
            <a:spLocks noGrp="1"/>
          </p:cNvSpPr>
          <p:nvPr>
            <p:ph type="dt" sz="half" idx="10"/>
          </p:nvPr>
        </p:nvSpPr>
        <p:spPr/>
        <p:txBody>
          <a:bodyPr/>
          <a:lstStyle/>
          <a:p>
            <a:fld id="{E9C6DBFE-37A8-45A1-8746-A8ED0928F512}" type="datetimeFigureOut">
              <a:rPr lang="zh-CN" altLang="en-US" smtClean="0"/>
              <a:t>2026-01-08</a:t>
            </a:fld>
            <a:endParaRPr lang="zh-CN" altLang="en-US"/>
          </a:p>
        </p:txBody>
      </p:sp>
      <p:sp>
        <p:nvSpPr>
          <p:cNvPr id="5" name="页脚占位符 4">
            <a:extLst>
              <a:ext uri="{FF2B5EF4-FFF2-40B4-BE49-F238E27FC236}">
                <a16:creationId xmlns:a16="http://schemas.microsoft.com/office/drawing/2014/main" id="{3CC2258D-DC79-8E2E-71EC-CDA393F26FB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95BAC56-6F5E-C183-F41B-398691E55535}"/>
              </a:ext>
            </a:extLst>
          </p:cNvPr>
          <p:cNvSpPr>
            <a:spLocks noGrp="1"/>
          </p:cNvSpPr>
          <p:nvPr>
            <p:ph type="sldNum" sz="quarter" idx="12"/>
          </p:nvPr>
        </p:nvSpPr>
        <p:spPr/>
        <p:txBody>
          <a:bodyPr/>
          <a:lstStyle/>
          <a:p>
            <a:fld id="{953070E4-468D-4D00-BA69-65905236A630}" type="slidenum">
              <a:rPr lang="zh-CN" altLang="en-US" smtClean="0"/>
              <a:t>‹#›</a:t>
            </a:fld>
            <a:endParaRPr lang="zh-CN" altLang="en-US"/>
          </a:p>
        </p:txBody>
      </p:sp>
    </p:spTree>
    <p:extLst>
      <p:ext uri="{BB962C8B-B14F-4D97-AF65-F5344CB8AC3E}">
        <p14:creationId xmlns:p14="http://schemas.microsoft.com/office/powerpoint/2010/main" val="2865551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537A09-7942-AF3E-4C47-796B1286357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44C46F6-D394-108F-76B0-84BDD93189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C672D8E9-4453-B63B-6684-2B72B5B9B9F1}"/>
              </a:ext>
            </a:extLst>
          </p:cNvPr>
          <p:cNvSpPr>
            <a:spLocks noGrp="1"/>
          </p:cNvSpPr>
          <p:nvPr>
            <p:ph type="dt" sz="half" idx="10"/>
          </p:nvPr>
        </p:nvSpPr>
        <p:spPr/>
        <p:txBody>
          <a:bodyPr/>
          <a:lstStyle/>
          <a:p>
            <a:fld id="{E9C6DBFE-37A8-45A1-8746-A8ED0928F512}" type="datetimeFigureOut">
              <a:rPr lang="zh-CN" altLang="en-US" smtClean="0"/>
              <a:t>2026-01-08</a:t>
            </a:fld>
            <a:endParaRPr lang="zh-CN" altLang="en-US"/>
          </a:p>
        </p:txBody>
      </p:sp>
      <p:sp>
        <p:nvSpPr>
          <p:cNvPr id="5" name="页脚占位符 4">
            <a:extLst>
              <a:ext uri="{FF2B5EF4-FFF2-40B4-BE49-F238E27FC236}">
                <a16:creationId xmlns:a16="http://schemas.microsoft.com/office/drawing/2014/main" id="{EC16EC39-FA24-2477-02BF-37A39D9668A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BC0FCFE-7E18-225B-D765-A62BB39AEAD6}"/>
              </a:ext>
            </a:extLst>
          </p:cNvPr>
          <p:cNvSpPr>
            <a:spLocks noGrp="1"/>
          </p:cNvSpPr>
          <p:nvPr>
            <p:ph type="sldNum" sz="quarter" idx="12"/>
          </p:nvPr>
        </p:nvSpPr>
        <p:spPr/>
        <p:txBody>
          <a:bodyPr/>
          <a:lstStyle/>
          <a:p>
            <a:fld id="{953070E4-468D-4D00-BA69-65905236A630}" type="slidenum">
              <a:rPr lang="zh-CN" altLang="en-US" smtClean="0"/>
              <a:t>‹#›</a:t>
            </a:fld>
            <a:endParaRPr lang="zh-CN" altLang="en-US"/>
          </a:p>
        </p:txBody>
      </p:sp>
    </p:spTree>
    <p:extLst>
      <p:ext uri="{BB962C8B-B14F-4D97-AF65-F5344CB8AC3E}">
        <p14:creationId xmlns:p14="http://schemas.microsoft.com/office/powerpoint/2010/main" val="2122460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632F04-87EA-92ED-C3F7-A044A25FAF1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4D23F2B-70AD-D48C-AFBF-D9995FDD07F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80DDEEE-E23B-2943-1591-6B187FD96A7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C0E67FA4-DF7B-1CE4-4A4C-FEB32DBDDE54}"/>
              </a:ext>
            </a:extLst>
          </p:cNvPr>
          <p:cNvSpPr>
            <a:spLocks noGrp="1"/>
          </p:cNvSpPr>
          <p:nvPr>
            <p:ph type="dt" sz="half" idx="10"/>
          </p:nvPr>
        </p:nvSpPr>
        <p:spPr/>
        <p:txBody>
          <a:bodyPr/>
          <a:lstStyle/>
          <a:p>
            <a:fld id="{E9C6DBFE-37A8-45A1-8746-A8ED0928F512}" type="datetimeFigureOut">
              <a:rPr lang="zh-CN" altLang="en-US" smtClean="0"/>
              <a:t>2026-01-08</a:t>
            </a:fld>
            <a:endParaRPr lang="zh-CN" altLang="en-US"/>
          </a:p>
        </p:txBody>
      </p:sp>
      <p:sp>
        <p:nvSpPr>
          <p:cNvPr id="6" name="页脚占位符 5">
            <a:extLst>
              <a:ext uri="{FF2B5EF4-FFF2-40B4-BE49-F238E27FC236}">
                <a16:creationId xmlns:a16="http://schemas.microsoft.com/office/drawing/2014/main" id="{11881C45-6C0F-C9DE-0B81-8AFA7062CAA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EF71C85-5FEB-335B-BA83-0E882996BB8F}"/>
              </a:ext>
            </a:extLst>
          </p:cNvPr>
          <p:cNvSpPr>
            <a:spLocks noGrp="1"/>
          </p:cNvSpPr>
          <p:nvPr>
            <p:ph type="sldNum" sz="quarter" idx="12"/>
          </p:nvPr>
        </p:nvSpPr>
        <p:spPr/>
        <p:txBody>
          <a:bodyPr/>
          <a:lstStyle/>
          <a:p>
            <a:fld id="{953070E4-468D-4D00-BA69-65905236A630}" type="slidenum">
              <a:rPr lang="zh-CN" altLang="en-US" smtClean="0"/>
              <a:t>‹#›</a:t>
            </a:fld>
            <a:endParaRPr lang="zh-CN" altLang="en-US"/>
          </a:p>
        </p:txBody>
      </p:sp>
    </p:spTree>
    <p:extLst>
      <p:ext uri="{BB962C8B-B14F-4D97-AF65-F5344CB8AC3E}">
        <p14:creationId xmlns:p14="http://schemas.microsoft.com/office/powerpoint/2010/main" val="2112190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ADC1BD-8C4E-DF62-59E6-152311BC724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4BF51E7-A799-34A5-468B-2D8B587578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FEB0B60-1A0B-59F2-F748-ECB1A00475F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D6F85CE-9C75-F420-5F7C-FA478CCDA9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8836417-F989-F2E9-DE3F-7FFD6EC5D67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01F1A5B-E688-1FDF-EFAA-B11B47B9A66F}"/>
              </a:ext>
            </a:extLst>
          </p:cNvPr>
          <p:cNvSpPr>
            <a:spLocks noGrp="1"/>
          </p:cNvSpPr>
          <p:nvPr>
            <p:ph type="dt" sz="half" idx="10"/>
          </p:nvPr>
        </p:nvSpPr>
        <p:spPr/>
        <p:txBody>
          <a:bodyPr/>
          <a:lstStyle/>
          <a:p>
            <a:fld id="{E9C6DBFE-37A8-45A1-8746-A8ED0928F512}" type="datetimeFigureOut">
              <a:rPr lang="zh-CN" altLang="en-US" smtClean="0"/>
              <a:t>2026-01-08</a:t>
            </a:fld>
            <a:endParaRPr lang="zh-CN" altLang="en-US"/>
          </a:p>
        </p:txBody>
      </p:sp>
      <p:sp>
        <p:nvSpPr>
          <p:cNvPr id="8" name="页脚占位符 7">
            <a:extLst>
              <a:ext uri="{FF2B5EF4-FFF2-40B4-BE49-F238E27FC236}">
                <a16:creationId xmlns:a16="http://schemas.microsoft.com/office/drawing/2014/main" id="{2DDBA8D6-DC05-CDF2-4822-5B42AA973DC6}"/>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C476794-0D06-0EFA-6FE1-68D2C9C1932A}"/>
              </a:ext>
            </a:extLst>
          </p:cNvPr>
          <p:cNvSpPr>
            <a:spLocks noGrp="1"/>
          </p:cNvSpPr>
          <p:nvPr>
            <p:ph type="sldNum" sz="quarter" idx="12"/>
          </p:nvPr>
        </p:nvSpPr>
        <p:spPr/>
        <p:txBody>
          <a:bodyPr/>
          <a:lstStyle/>
          <a:p>
            <a:fld id="{953070E4-468D-4D00-BA69-65905236A630}" type="slidenum">
              <a:rPr lang="zh-CN" altLang="en-US" smtClean="0"/>
              <a:t>‹#›</a:t>
            </a:fld>
            <a:endParaRPr lang="zh-CN" altLang="en-US"/>
          </a:p>
        </p:txBody>
      </p:sp>
    </p:spTree>
    <p:extLst>
      <p:ext uri="{BB962C8B-B14F-4D97-AF65-F5344CB8AC3E}">
        <p14:creationId xmlns:p14="http://schemas.microsoft.com/office/powerpoint/2010/main" val="1300503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AD8BCE-031D-06D7-F216-4696BEC6F24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E4DFC47-8458-C715-475A-B282022B5954}"/>
              </a:ext>
            </a:extLst>
          </p:cNvPr>
          <p:cNvSpPr>
            <a:spLocks noGrp="1"/>
          </p:cNvSpPr>
          <p:nvPr>
            <p:ph type="dt" sz="half" idx="10"/>
          </p:nvPr>
        </p:nvSpPr>
        <p:spPr/>
        <p:txBody>
          <a:bodyPr/>
          <a:lstStyle/>
          <a:p>
            <a:fld id="{E9C6DBFE-37A8-45A1-8746-A8ED0928F512}" type="datetimeFigureOut">
              <a:rPr lang="zh-CN" altLang="en-US" smtClean="0"/>
              <a:t>2026-01-08</a:t>
            </a:fld>
            <a:endParaRPr lang="zh-CN" altLang="en-US"/>
          </a:p>
        </p:txBody>
      </p:sp>
      <p:sp>
        <p:nvSpPr>
          <p:cNvPr id="4" name="页脚占位符 3">
            <a:extLst>
              <a:ext uri="{FF2B5EF4-FFF2-40B4-BE49-F238E27FC236}">
                <a16:creationId xmlns:a16="http://schemas.microsoft.com/office/drawing/2014/main" id="{7EDF96A1-BCC1-6E04-5A60-A1B500DB8D67}"/>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30EE8F6-2838-EFBA-FFE7-F70DFE4D886B}"/>
              </a:ext>
            </a:extLst>
          </p:cNvPr>
          <p:cNvSpPr>
            <a:spLocks noGrp="1"/>
          </p:cNvSpPr>
          <p:nvPr>
            <p:ph type="sldNum" sz="quarter" idx="12"/>
          </p:nvPr>
        </p:nvSpPr>
        <p:spPr/>
        <p:txBody>
          <a:bodyPr/>
          <a:lstStyle/>
          <a:p>
            <a:fld id="{953070E4-468D-4D00-BA69-65905236A630}" type="slidenum">
              <a:rPr lang="zh-CN" altLang="en-US" smtClean="0"/>
              <a:t>‹#›</a:t>
            </a:fld>
            <a:endParaRPr lang="zh-CN" altLang="en-US"/>
          </a:p>
        </p:txBody>
      </p:sp>
    </p:spTree>
    <p:extLst>
      <p:ext uri="{BB962C8B-B14F-4D97-AF65-F5344CB8AC3E}">
        <p14:creationId xmlns:p14="http://schemas.microsoft.com/office/powerpoint/2010/main" val="728049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AD01172-9DB3-50A7-D385-FE7806E984EE}"/>
              </a:ext>
            </a:extLst>
          </p:cNvPr>
          <p:cNvSpPr>
            <a:spLocks noGrp="1"/>
          </p:cNvSpPr>
          <p:nvPr>
            <p:ph type="dt" sz="half" idx="10"/>
          </p:nvPr>
        </p:nvSpPr>
        <p:spPr/>
        <p:txBody>
          <a:bodyPr/>
          <a:lstStyle/>
          <a:p>
            <a:fld id="{E9C6DBFE-37A8-45A1-8746-A8ED0928F512}" type="datetimeFigureOut">
              <a:rPr lang="zh-CN" altLang="en-US" smtClean="0"/>
              <a:t>2026-01-08</a:t>
            </a:fld>
            <a:endParaRPr lang="zh-CN" altLang="en-US"/>
          </a:p>
        </p:txBody>
      </p:sp>
      <p:sp>
        <p:nvSpPr>
          <p:cNvPr id="3" name="页脚占位符 2">
            <a:extLst>
              <a:ext uri="{FF2B5EF4-FFF2-40B4-BE49-F238E27FC236}">
                <a16:creationId xmlns:a16="http://schemas.microsoft.com/office/drawing/2014/main" id="{172D94BA-3079-F697-8889-B0F935FD1AD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FB2205B8-A93E-D1B5-D75A-2EAA84909AC0}"/>
              </a:ext>
            </a:extLst>
          </p:cNvPr>
          <p:cNvSpPr>
            <a:spLocks noGrp="1"/>
          </p:cNvSpPr>
          <p:nvPr>
            <p:ph type="sldNum" sz="quarter" idx="12"/>
          </p:nvPr>
        </p:nvSpPr>
        <p:spPr/>
        <p:txBody>
          <a:bodyPr/>
          <a:lstStyle/>
          <a:p>
            <a:fld id="{953070E4-468D-4D00-BA69-65905236A630}" type="slidenum">
              <a:rPr lang="zh-CN" altLang="en-US" smtClean="0"/>
              <a:t>‹#›</a:t>
            </a:fld>
            <a:endParaRPr lang="zh-CN" altLang="en-US"/>
          </a:p>
        </p:txBody>
      </p:sp>
    </p:spTree>
    <p:extLst>
      <p:ext uri="{BB962C8B-B14F-4D97-AF65-F5344CB8AC3E}">
        <p14:creationId xmlns:p14="http://schemas.microsoft.com/office/powerpoint/2010/main" val="23040915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0D70BB-0D35-1C31-FFDC-1C4E1BC4B28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5B4B78F-8FA7-F91E-9927-5F3EB001BA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EFC0241B-B294-7B62-1270-92907404C9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379A558-1A1A-CD44-35B1-011AD516CEBD}"/>
              </a:ext>
            </a:extLst>
          </p:cNvPr>
          <p:cNvSpPr>
            <a:spLocks noGrp="1"/>
          </p:cNvSpPr>
          <p:nvPr>
            <p:ph type="dt" sz="half" idx="10"/>
          </p:nvPr>
        </p:nvSpPr>
        <p:spPr/>
        <p:txBody>
          <a:bodyPr/>
          <a:lstStyle/>
          <a:p>
            <a:fld id="{E9C6DBFE-37A8-45A1-8746-A8ED0928F512}" type="datetimeFigureOut">
              <a:rPr lang="zh-CN" altLang="en-US" smtClean="0"/>
              <a:t>2026-01-08</a:t>
            </a:fld>
            <a:endParaRPr lang="zh-CN" altLang="en-US"/>
          </a:p>
        </p:txBody>
      </p:sp>
      <p:sp>
        <p:nvSpPr>
          <p:cNvPr id="6" name="页脚占位符 5">
            <a:extLst>
              <a:ext uri="{FF2B5EF4-FFF2-40B4-BE49-F238E27FC236}">
                <a16:creationId xmlns:a16="http://schemas.microsoft.com/office/drawing/2014/main" id="{819F9992-0834-EF4D-3D93-48AF533579B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2D5DEC1-D57B-88B2-95A6-4384B7D037DF}"/>
              </a:ext>
            </a:extLst>
          </p:cNvPr>
          <p:cNvSpPr>
            <a:spLocks noGrp="1"/>
          </p:cNvSpPr>
          <p:nvPr>
            <p:ph type="sldNum" sz="quarter" idx="12"/>
          </p:nvPr>
        </p:nvSpPr>
        <p:spPr/>
        <p:txBody>
          <a:bodyPr/>
          <a:lstStyle/>
          <a:p>
            <a:fld id="{953070E4-468D-4D00-BA69-65905236A630}" type="slidenum">
              <a:rPr lang="zh-CN" altLang="en-US" smtClean="0"/>
              <a:t>‹#›</a:t>
            </a:fld>
            <a:endParaRPr lang="zh-CN" altLang="en-US"/>
          </a:p>
        </p:txBody>
      </p:sp>
    </p:spTree>
    <p:extLst>
      <p:ext uri="{BB962C8B-B14F-4D97-AF65-F5344CB8AC3E}">
        <p14:creationId xmlns:p14="http://schemas.microsoft.com/office/powerpoint/2010/main" val="1471043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8E5B00-52D3-6A21-9268-AAA2A5BDED6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C9A9B10-29FC-24DA-2CBB-2503F89BEA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6B7AD614-5A9B-849F-DC15-8DAE9194BA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0E0A31C-5C48-81C6-55F8-4708F4D394A7}"/>
              </a:ext>
            </a:extLst>
          </p:cNvPr>
          <p:cNvSpPr>
            <a:spLocks noGrp="1"/>
          </p:cNvSpPr>
          <p:nvPr>
            <p:ph type="dt" sz="half" idx="10"/>
          </p:nvPr>
        </p:nvSpPr>
        <p:spPr/>
        <p:txBody>
          <a:bodyPr/>
          <a:lstStyle/>
          <a:p>
            <a:fld id="{E9C6DBFE-37A8-45A1-8746-A8ED0928F512}" type="datetimeFigureOut">
              <a:rPr lang="zh-CN" altLang="en-US" smtClean="0"/>
              <a:t>2026-01-08</a:t>
            </a:fld>
            <a:endParaRPr lang="zh-CN" altLang="en-US"/>
          </a:p>
        </p:txBody>
      </p:sp>
      <p:sp>
        <p:nvSpPr>
          <p:cNvPr id="6" name="页脚占位符 5">
            <a:extLst>
              <a:ext uri="{FF2B5EF4-FFF2-40B4-BE49-F238E27FC236}">
                <a16:creationId xmlns:a16="http://schemas.microsoft.com/office/drawing/2014/main" id="{9299FDE6-0C84-5014-01E9-B8A1E721D94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2C43216-E383-E917-0A39-293FB06A9D71}"/>
              </a:ext>
            </a:extLst>
          </p:cNvPr>
          <p:cNvSpPr>
            <a:spLocks noGrp="1"/>
          </p:cNvSpPr>
          <p:nvPr>
            <p:ph type="sldNum" sz="quarter" idx="12"/>
          </p:nvPr>
        </p:nvSpPr>
        <p:spPr/>
        <p:txBody>
          <a:bodyPr/>
          <a:lstStyle/>
          <a:p>
            <a:fld id="{953070E4-468D-4D00-BA69-65905236A630}" type="slidenum">
              <a:rPr lang="zh-CN" altLang="en-US" smtClean="0"/>
              <a:t>‹#›</a:t>
            </a:fld>
            <a:endParaRPr lang="zh-CN" altLang="en-US"/>
          </a:p>
        </p:txBody>
      </p:sp>
    </p:spTree>
    <p:extLst>
      <p:ext uri="{BB962C8B-B14F-4D97-AF65-F5344CB8AC3E}">
        <p14:creationId xmlns:p14="http://schemas.microsoft.com/office/powerpoint/2010/main" val="26847782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22434C-E228-D436-E84C-EEA6CA4982C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3912C15-B19D-A479-534A-9FD9DB1696E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D622C0C-7380-9BEB-18FE-9ACD06965D8A}"/>
              </a:ext>
            </a:extLst>
          </p:cNvPr>
          <p:cNvSpPr>
            <a:spLocks noGrp="1"/>
          </p:cNvSpPr>
          <p:nvPr>
            <p:ph type="dt" sz="half" idx="10"/>
          </p:nvPr>
        </p:nvSpPr>
        <p:spPr/>
        <p:txBody>
          <a:bodyPr/>
          <a:lstStyle/>
          <a:p>
            <a:fld id="{E9C6DBFE-37A8-45A1-8746-A8ED0928F512}" type="datetimeFigureOut">
              <a:rPr lang="zh-CN" altLang="en-US" smtClean="0"/>
              <a:t>2026-01-08</a:t>
            </a:fld>
            <a:endParaRPr lang="zh-CN" altLang="en-US"/>
          </a:p>
        </p:txBody>
      </p:sp>
      <p:sp>
        <p:nvSpPr>
          <p:cNvPr id="5" name="页脚占位符 4">
            <a:extLst>
              <a:ext uri="{FF2B5EF4-FFF2-40B4-BE49-F238E27FC236}">
                <a16:creationId xmlns:a16="http://schemas.microsoft.com/office/drawing/2014/main" id="{C7FC8E3C-01FF-6D7B-2C95-5CC6CA2AAF0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1A8398C-2781-ED07-7415-46F2DBAD597A}"/>
              </a:ext>
            </a:extLst>
          </p:cNvPr>
          <p:cNvSpPr>
            <a:spLocks noGrp="1"/>
          </p:cNvSpPr>
          <p:nvPr>
            <p:ph type="sldNum" sz="quarter" idx="12"/>
          </p:nvPr>
        </p:nvSpPr>
        <p:spPr/>
        <p:txBody>
          <a:bodyPr/>
          <a:lstStyle/>
          <a:p>
            <a:fld id="{953070E4-468D-4D00-BA69-65905236A630}" type="slidenum">
              <a:rPr lang="zh-CN" altLang="en-US" smtClean="0"/>
              <a:t>‹#›</a:t>
            </a:fld>
            <a:endParaRPr lang="zh-CN" altLang="en-US"/>
          </a:p>
        </p:txBody>
      </p:sp>
    </p:spTree>
    <p:extLst>
      <p:ext uri="{BB962C8B-B14F-4D97-AF65-F5344CB8AC3E}">
        <p14:creationId xmlns:p14="http://schemas.microsoft.com/office/powerpoint/2010/main" val="2056773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21F961B-C459-E250-FF64-C4A91FD05A1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A421EA9-67F9-A5B3-46A6-87154970DFF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1CD21A5-6097-5C44-7A84-C59873282020}"/>
              </a:ext>
            </a:extLst>
          </p:cNvPr>
          <p:cNvSpPr>
            <a:spLocks noGrp="1"/>
          </p:cNvSpPr>
          <p:nvPr>
            <p:ph type="dt" sz="half" idx="10"/>
          </p:nvPr>
        </p:nvSpPr>
        <p:spPr/>
        <p:txBody>
          <a:bodyPr/>
          <a:lstStyle/>
          <a:p>
            <a:fld id="{E9C6DBFE-37A8-45A1-8746-A8ED0928F512}" type="datetimeFigureOut">
              <a:rPr lang="zh-CN" altLang="en-US" smtClean="0"/>
              <a:t>2026-01-08</a:t>
            </a:fld>
            <a:endParaRPr lang="zh-CN" altLang="en-US"/>
          </a:p>
        </p:txBody>
      </p:sp>
      <p:sp>
        <p:nvSpPr>
          <p:cNvPr id="5" name="页脚占位符 4">
            <a:extLst>
              <a:ext uri="{FF2B5EF4-FFF2-40B4-BE49-F238E27FC236}">
                <a16:creationId xmlns:a16="http://schemas.microsoft.com/office/drawing/2014/main" id="{D82195C8-0FF9-8D2B-6158-A12E829DDA2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AC33025-EEE9-9D02-78E5-DE6413E23048}"/>
              </a:ext>
            </a:extLst>
          </p:cNvPr>
          <p:cNvSpPr>
            <a:spLocks noGrp="1"/>
          </p:cNvSpPr>
          <p:nvPr>
            <p:ph type="sldNum" sz="quarter" idx="12"/>
          </p:nvPr>
        </p:nvSpPr>
        <p:spPr/>
        <p:txBody>
          <a:bodyPr/>
          <a:lstStyle/>
          <a:p>
            <a:fld id="{953070E4-468D-4D00-BA69-65905236A630}" type="slidenum">
              <a:rPr lang="zh-CN" altLang="en-US" smtClean="0"/>
              <a:t>‹#›</a:t>
            </a:fld>
            <a:endParaRPr lang="zh-CN" altLang="en-US"/>
          </a:p>
        </p:txBody>
      </p:sp>
    </p:spTree>
    <p:extLst>
      <p:ext uri="{BB962C8B-B14F-4D97-AF65-F5344CB8AC3E}">
        <p14:creationId xmlns:p14="http://schemas.microsoft.com/office/powerpoint/2010/main" val="36628281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6F6F6EF-BCBC-62A5-A1A0-E255B74F72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6826C8C-F11F-8BF3-BA18-53F8A1D030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21B456E-5E75-3EB4-93DA-634F9670A2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6DBFE-37A8-45A1-8746-A8ED0928F512}" type="datetimeFigureOut">
              <a:rPr lang="zh-CN" altLang="en-US" smtClean="0"/>
              <a:t>2026-01-08</a:t>
            </a:fld>
            <a:endParaRPr lang="zh-CN" altLang="en-US"/>
          </a:p>
        </p:txBody>
      </p:sp>
      <p:sp>
        <p:nvSpPr>
          <p:cNvPr id="5" name="页脚占位符 4">
            <a:extLst>
              <a:ext uri="{FF2B5EF4-FFF2-40B4-BE49-F238E27FC236}">
                <a16:creationId xmlns:a16="http://schemas.microsoft.com/office/drawing/2014/main" id="{0FA11297-D30A-F31E-DBA3-7E3FA77E13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5B1E5855-637B-630F-F885-D14B4C658C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3070E4-468D-4D00-BA69-65905236A630}" type="slidenum">
              <a:rPr lang="zh-CN" altLang="en-US" smtClean="0"/>
              <a:t>‹#›</a:t>
            </a:fld>
            <a:endParaRPr lang="zh-CN" altLang="en-US"/>
          </a:p>
        </p:txBody>
      </p:sp>
    </p:spTree>
    <p:extLst>
      <p:ext uri="{BB962C8B-B14F-4D97-AF65-F5344CB8AC3E}">
        <p14:creationId xmlns:p14="http://schemas.microsoft.com/office/powerpoint/2010/main" val="37879093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gitee.com/f2r2/cg-ex10.git"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4052B7C9-79EF-6CD2-B9CF-9F21590CEF75}"/>
              </a:ext>
            </a:extLst>
          </p:cNvPr>
          <p:cNvSpPr>
            <a:spLocks noGrp="1"/>
          </p:cNvSpPr>
          <p:nvPr>
            <p:ph type="ctrTitle"/>
          </p:nvPr>
        </p:nvSpPr>
        <p:spPr>
          <a:xfrm>
            <a:off x="371061" y="2632765"/>
            <a:ext cx="11449878" cy="2387600"/>
          </a:xfrm>
        </p:spPr>
        <p:txBody>
          <a:bodyPr>
            <a:normAutofit fontScale="90000"/>
          </a:bodyPr>
          <a:lstStyle/>
          <a:p>
            <a:pPr>
              <a:lnSpc>
                <a:spcPct val="150000"/>
              </a:lnSpc>
            </a:pPr>
            <a:r>
              <a:rPr lang="zh-CN" altLang="en-US" b="1" dirty="0">
                <a:latin typeface="微软雅黑" panose="020B0503020204020204" pitchFamily="34" charset="-122"/>
                <a:ea typeface="微软雅黑" panose="020B0503020204020204" pitchFamily="34" charset="-122"/>
              </a:rPr>
              <a:t>计算机图形学</a:t>
            </a:r>
            <a:br>
              <a:rPr lang="zh-CN" altLang="en-US" b="1" dirty="0">
                <a:latin typeface="微软雅黑" panose="020B0503020204020204" pitchFamily="34" charset="-122"/>
                <a:ea typeface="微软雅黑" panose="020B0503020204020204" pitchFamily="34" charset="-122"/>
              </a:rPr>
            </a:br>
            <a:r>
              <a:rPr lang="zh-CN" altLang="en-US" b="1" dirty="0">
                <a:latin typeface="微软雅黑" panose="020B0503020204020204" pitchFamily="34" charset="-122"/>
                <a:ea typeface="微软雅黑" panose="020B0503020204020204" pitchFamily="34" charset="-122"/>
              </a:rPr>
              <a:t>实验十：</a:t>
            </a:r>
            <a:r>
              <a:rPr lang="zh-CN" altLang="en-US" b="1" dirty="0">
                <a:solidFill>
                  <a:schemeClr val="tx1"/>
                </a:solidFill>
                <a:latin typeface="微软雅黑" panose="020B0503020204020204" pitchFamily="34" charset="-122"/>
                <a:ea typeface="微软雅黑" panose="020B0503020204020204" pitchFamily="34" charset="-122"/>
              </a:rPr>
              <a:t>基于随机几何的光传输理论的教学演示程序</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476944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实验内容</a:t>
            </a:r>
          </a:p>
        </p:txBody>
      </p:sp>
      <p:sp>
        <p:nvSpPr>
          <p:cNvPr id="3" name="内容占位符 2"/>
          <p:cNvSpPr>
            <a:spLocks noGrp="1"/>
          </p:cNvSpPr>
          <p:nvPr>
            <p:ph idx="1"/>
          </p:nvPr>
        </p:nvSpPr>
        <p:spPr/>
        <p:txBody>
          <a:bodyPr/>
          <a:lstStyle/>
          <a:p>
            <a:pPr>
              <a:lnSpc>
                <a:spcPct val="125000"/>
              </a:lnSpc>
            </a:pPr>
            <a:r>
              <a:rPr lang="zh-CN" altLang="en-US" dirty="0"/>
              <a:t>在本地安装并部署授课组开发的服务于计算机图形学课程的教学系统</a:t>
            </a:r>
            <a:endParaRPr lang="en-US" altLang="zh-CN" dirty="0"/>
          </a:p>
          <a:p>
            <a:pPr>
              <a:lnSpc>
                <a:spcPct val="125000"/>
              </a:lnSpc>
            </a:pPr>
            <a:r>
              <a:rPr lang="zh-CN" altLang="en-US" dirty="0"/>
              <a:t>熟悉模拟框架程序的基本使用，调整演示样例参数并观察演示样例结果</a:t>
            </a:r>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环境配置</a:t>
            </a:r>
          </a:p>
        </p:txBody>
      </p:sp>
      <p:sp>
        <p:nvSpPr>
          <p:cNvPr id="3" name="内容占位符 2"/>
          <p:cNvSpPr>
            <a:spLocks noGrp="1"/>
          </p:cNvSpPr>
          <p:nvPr>
            <p:ph idx="1"/>
          </p:nvPr>
        </p:nvSpPr>
        <p:spPr/>
        <p:txBody>
          <a:bodyPr/>
          <a:lstStyle/>
          <a:p>
            <a:pPr>
              <a:lnSpc>
                <a:spcPct val="125000"/>
              </a:lnSpc>
            </a:pPr>
            <a:r>
              <a:rPr lang="zh-CN" altLang="en-US" dirty="0"/>
              <a:t>操作系统</a:t>
            </a:r>
            <a:r>
              <a:rPr lang="en-US" altLang="zh-CN" dirty="0"/>
              <a:t>: Ubuntu</a:t>
            </a:r>
            <a:r>
              <a:rPr lang="zh-CN" altLang="en-US" dirty="0"/>
              <a:t>（推荐使用</a:t>
            </a:r>
            <a:r>
              <a:rPr lang="en-US" altLang="zh-CN" dirty="0"/>
              <a:t>Ubuntu24</a:t>
            </a:r>
            <a:r>
              <a:rPr lang="zh-CN" altLang="en-US" dirty="0"/>
              <a:t>）</a:t>
            </a:r>
            <a:endParaRPr lang="en-US" altLang="zh-CN" dirty="0"/>
          </a:p>
          <a:p>
            <a:pPr>
              <a:lnSpc>
                <a:spcPct val="125000"/>
              </a:lnSpc>
            </a:pPr>
            <a:r>
              <a:rPr lang="zh-CN" altLang="en-US" dirty="0"/>
              <a:t>编译器：</a:t>
            </a:r>
            <a:r>
              <a:rPr lang="en-US" altLang="zh-CN" dirty="0"/>
              <a:t>g++ </a:t>
            </a:r>
          </a:p>
          <a:p>
            <a:pPr>
              <a:lnSpc>
                <a:spcPct val="125000"/>
              </a:lnSpc>
            </a:pPr>
            <a:r>
              <a:rPr lang="zh-CN" altLang="en-US" dirty="0"/>
              <a:t>环境管理</a:t>
            </a:r>
            <a:r>
              <a:rPr lang="en-US" altLang="zh-CN" dirty="0"/>
              <a:t>: Conda (</a:t>
            </a:r>
            <a:r>
              <a:rPr lang="zh-CN" altLang="en-US" dirty="0"/>
              <a:t>需预先安装 </a:t>
            </a:r>
            <a:r>
              <a:rPr lang="en-US" altLang="zh-CN" dirty="0"/>
              <a:t>Anaconda </a:t>
            </a:r>
            <a:r>
              <a:rPr lang="zh-CN" altLang="en-US" dirty="0"/>
              <a:t>或 </a:t>
            </a:r>
            <a:r>
              <a:rPr lang="en-US" altLang="zh-CN" dirty="0" err="1"/>
              <a:t>Miniconda</a:t>
            </a:r>
            <a:r>
              <a:rPr lang="en-US" altLang="zh-CN"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编译说明</a:t>
            </a:r>
            <a:r>
              <a:rPr lang="en-US" altLang="zh-CN" b="1" dirty="0"/>
              <a:t>-1</a:t>
            </a:r>
            <a:endParaRPr lang="zh-CN" altLang="en-US" b="1" dirty="0"/>
          </a:p>
        </p:txBody>
      </p:sp>
      <p:sp>
        <p:nvSpPr>
          <p:cNvPr id="3" name="内容占位符 2"/>
          <p:cNvSpPr>
            <a:spLocks noGrp="1"/>
          </p:cNvSpPr>
          <p:nvPr>
            <p:ph idx="1"/>
          </p:nvPr>
        </p:nvSpPr>
        <p:spPr>
          <a:xfrm>
            <a:off x="726840" y="1690725"/>
            <a:ext cx="10515600" cy="2053502"/>
          </a:xfrm>
        </p:spPr>
        <p:txBody>
          <a:bodyPr>
            <a:noAutofit/>
          </a:bodyPr>
          <a:lstStyle/>
          <a:p>
            <a:pPr>
              <a:lnSpc>
                <a:spcPct val="125000"/>
              </a:lnSpc>
            </a:pPr>
            <a:r>
              <a:rPr lang="zh-CN" altLang="en-US" dirty="0">
                <a:solidFill>
                  <a:schemeClr val="tx1"/>
                </a:solidFill>
              </a:rPr>
              <a:t>克隆代码到本地：</a:t>
            </a:r>
            <a:r>
              <a:rPr lang="en-US" altLang="zh-CN" dirty="0"/>
              <a:t>git clone </a:t>
            </a:r>
            <a:r>
              <a:rPr lang="en-US" altLang="zh-CN" dirty="0">
                <a:hlinkClick r:id="rId3"/>
              </a:rPr>
              <a:t>https://gitee.com/f2r2/cg-ex10.git</a:t>
            </a:r>
            <a:endParaRPr lang="en-US" altLang="zh-CN" dirty="0"/>
          </a:p>
          <a:p>
            <a:r>
              <a:rPr lang="zh-CN" altLang="en-US" dirty="0"/>
              <a:t>创建</a:t>
            </a:r>
            <a:r>
              <a:rPr lang="en-US" altLang="zh-CN" dirty="0" err="1"/>
              <a:t>conda</a:t>
            </a:r>
            <a:r>
              <a:rPr lang="zh-CN" altLang="en-US" dirty="0"/>
              <a:t>环境：</a:t>
            </a:r>
            <a:r>
              <a:rPr lang="en-US" altLang="zh-CN" dirty="0" err="1"/>
              <a:t>conda</a:t>
            </a:r>
            <a:r>
              <a:rPr lang="en-US" altLang="zh-CN" dirty="0"/>
              <a:t> env create -f env-ex10.yml</a:t>
            </a:r>
          </a:p>
          <a:p>
            <a:r>
              <a:rPr lang="zh-CN" altLang="en-US" dirty="0"/>
              <a:t>激活</a:t>
            </a:r>
            <a:r>
              <a:rPr lang="en-US" altLang="zh-CN" dirty="0" err="1"/>
              <a:t>conda</a:t>
            </a:r>
            <a:r>
              <a:rPr lang="zh-CN" altLang="en-US" dirty="0"/>
              <a:t>环境：</a:t>
            </a:r>
            <a:r>
              <a:rPr lang="en-US" altLang="zh-CN" dirty="0" err="1"/>
              <a:t>conda</a:t>
            </a:r>
            <a:r>
              <a:rPr lang="en-US" altLang="zh-CN" dirty="0"/>
              <a:t> activate env-ex10</a:t>
            </a:r>
          </a:p>
          <a:p>
            <a:r>
              <a:rPr lang="zh-CN" altLang="en-US" dirty="0"/>
              <a:t>如果是新版本的</a:t>
            </a:r>
            <a:r>
              <a:rPr lang="en-US" altLang="zh-CN" dirty="0"/>
              <a:t>ubuntu</a:t>
            </a:r>
            <a:r>
              <a:rPr lang="zh-CN" altLang="en-US" dirty="0"/>
              <a:t>（如</a:t>
            </a:r>
            <a:r>
              <a:rPr lang="en-US" altLang="zh-CN" dirty="0"/>
              <a:t>ubuntu24</a:t>
            </a:r>
            <a:r>
              <a:rPr lang="zh-CN" altLang="en-US" dirty="0"/>
              <a:t>）：跳转</a:t>
            </a:r>
            <a:r>
              <a:rPr lang="en-US" altLang="zh-CN" dirty="0"/>
              <a:t>【</a:t>
            </a:r>
            <a:r>
              <a:rPr lang="zh-CN" altLang="en-US" dirty="0"/>
              <a:t>编译说明</a:t>
            </a:r>
            <a:r>
              <a:rPr lang="en-US" altLang="zh-CN" dirty="0"/>
              <a:t>-2</a:t>
            </a:r>
            <a:r>
              <a:rPr lang="zh-CN" altLang="en-US" dirty="0"/>
              <a:t>、</a:t>
            </a:r>
            <a:r>
              <a:rPr lang="en-US" altLang="zh-CN" dirty="0"/>
              <a:t>3】</a:t>
            </a:r>
          </a:p>
          <a:p>
            <a:r>
              <a:rPr lang="zh-CN" altLang="en-US" dirty="0"/>
              <a:t>如果是老版本的</a:t>
            </a:r>
            <a:r>
              <a:rPr lang="en-US" altLang="zh-CN" dirty="0"/>
              <a:t>ubuntu</a:t>
            </a:r>
            <a:r>
              <a:rPr lang="zh-CN" altLang="en-US" dirty="0"/>
              <a:t>（如</a:t>
            </a:r>
            <a:r>
              <a:rPr lang="en-US" altLang="zh-CN" dirty="0"/>
              <a:t>ubuntu18</a:t>
            </a:r>
            <a:r>
              <a:rPr lang="zh-CN" altLang="en-US" dirty="0"/>
              <a:t>）：按照</a:t>
            </a:r>
            <a:r>
              <a:rPr lang="en-US" altLang="zh-CN" dirty="0"/>
              <a:t>【</a:t>
            </a:r>
            <a:r>
              <a:rPr lang="zh-CN" altLang="en-US" dirty="0"/>
              <a:t>编译说明</a:t>
            </a:r>
            <a:r>
              <a:rPr lang="en-US" altLang="zh-CN" dirty="0"/>
              <a:t>-4</a:t>
            </a:r>
            <a:r>
              <a:rPr lang="zh-CN" altLang="en-US" dirty="0"/>
              <a:t>、</a:t>
            </a:r>
            <a:r>
              <a:rPr lang="en-US" altLang="zh-CN" dirty="0"/>
              <a:t>5</a:t>
            </a:r>
            <a:r>
              <a:rPr lang="zh-CN" altLang="en-US" dirty="0"/>
              <a:t>、</a:t>
            </a:r>
            <a:r>
              <a:rPr lang="en-US" altLang="zh-CN" dirty="0"/>
              <a:t>6</a:t>
            </a:r>
            <a:r>
              <a:rPr lang="zh-CN" altLang="en-US" dirty="0"/>
              <a:t>、</a:t>
            </a:r>
            <a:r>
              <a:rPr lang="en-US" altLang="zh-CN" dirty="0"/>
              <a:t>7】</a:t>
            </a:r>
            <a:r>
              <a:rPr lang="zh-CN" altLang="en-US" dirty="0"/>
              <a:t>，使用源码安装对应版本</a:t>
            </a:r>
            <a:endParaRPr lang="zh-CN" altLang="en-US" dirty="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2B6FB-2DA0-6DF9-4ED1-A6D5AFEF312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9C6D883-2C65-7B4B-027A-4EE4D6415685}"/>
              </a:ext>
            </a:extLst>
          </p:cNvPr>
          <p:cNvSpPr>
            <a:spLocks noGrp="1"/>
          </p:cNvSpPr>
          <p:nvPr>
            <p:ph type="title"/>
          </p:nvPr>
        </p:nvSpPr>
        <p:spPr/>
        <p:txBody>
          <a:bodyPr/>
          <a:lstStyle/>
          <a:p>
            <a:r>
              <a:rPr lang="zh-CN" altLang="en-US" b="1" dirty="0"/>
              <a:t>编译说明</a:t>
            </a:r>
            <a:r>
              <a:rPr lang="en-US" altLang="zh-CN" b="1" dirty="0"/>
              <a:t>-2</a:t>
            </a:r>
            <a:endParaRPr lang="zh-CN" altLang="en-US" b="1" dirty="0"/>
          </a:p>
        </p:txBody>
      </p:sp>
      <p:sp>
        <p:nvSpPr>
          <p:cNvPr id="3" name="内容占位符 2">
            <a:extLst>
              <a:ext uri="{FF2B5EF4-FFF2-40B4-BE49-F238E27FC236}">
                <a16:creationId xmlns:a16="http://schemas.microsoft.com/office/drawing/2014/main" id="{8442789E-AED1-1632-6AE9-840E8EFE1384}"/>
              </a:ext>
            </a:extLst>
          </p:cNvPr>
          <p:cNvSpPr>
            <a:spLocks noGrp="1"/>
          </p:cNvSpPr>
          <p:nvPr>
            <p:ph idx="1"/>
          </p:nvPr>
        </p:nvSpPr>
        <p:spPr>
          <a:xfrm>
            <a:off x="726840" y="1690725"/>
            <a:ext cx="10515600" cy="2053502"/>
          </a:xfrm>
        </p:spPr>
        <p:txBody>
          <a:bodyPr>
            <a:noAutofit/>
          </a:bodyPr>
          <a:lstStyle/>
          <a:p>
            <a:pPr>
              <a:lnSpc>
                <a:spcPct val="125000"/>
              </a:lnSpc>
            </a:pPr>
            <a:r>
              <a:rPr lang="en-US" altLang="zh-CN" dirty="0" err="1"/>
              <a:t>conda</a:t>
            </a:r>
            <a:r>
              <a:rPr lang="en-US" altLang="zh-CN" dirty="0"/>
              <a:t> install –c </a:t>
            </a:r>
            <a:r>
              <a:rPr lang="en-US" altLang="zh-CN" dirty="0" err="1"/>
              <a:t>conda</a:t>
            </a:r>
            <a:r>
              <a:rPr lang="en-US" altLang="zh-CN" dirty="0"/>
              <a:t>-forge </a:t>
            </a:r>
            <a:r>
              <a:rPr lang="en-US" altLang="zh-CN" dirty="0" err="1"/>
              <a:t>blosc</a:t>
            </a:r>
            <a:r>
              <a:rPr lang="en-US" altLang="zh-CN" dirty="0"/>
              <a:t> </a:t>
            </a:r>
            <a:r>
              <a:rPr lang="en-US" altLang="zh-CN" dirty="0" err="1"/>
              <a:t>openvdb</a:t>
            </a:r>
            <a:endParaRPr lang="en-US" altLang="zh-CN" dirty="0"/>
          </a:p>
          <a:p>
            <a:pPr>
              <a:lnSpc>
                <a:spcPct val="125000"/>
              </a:lnSpc>
            </a:pPr>
            <a:r>
              <a:rPr lang="zh-CN" altLang="en-US" dirty="0">
                <a:solidFill>
                  <a:schemeClr val="tx1"/>
                </a:solidFill>
              </a:rPr>
              <a:t>修改</a:t>
            </a:r>
            <a:r>
              <a:rPr lang="en-US" altLang="zh-CN" dirty="0" err="1">
                <a:solidFill>
                  <a:schemeClr val="tx1"/>
                </a:solidFill>
              </a:rPr>
              <a:t>cmake</a:t>
            </a:r>
            <a:r>
              <a:rPr lang="en-US" altLang="zh-CN" dirty="0">
                <a:solidFill>
                  <a:schemeClr val="tx1"/>
                </a:solidFill>
              </a:rPr>
              <a:t>/</a:t>
            </a:r>
            <a:r>
              <a:rPr lang="en-US" altLang="zh-CN" dirty="0" err="1">
                <a:solidFill>
                  <a:schemeClr val="tx1"/>
                </a:solidFill>
              </a:rPr>
              <a:t>FindOpenVDB.cmake</a:t>
            </a:r>
            <a:r>
              <a:rPr lang="zh-CN" altLang="en-US" dirty="0">
                <a:solidFill>
                  <a:schemeClr val="tx1"/>
                </a:solidFill>
              </a:rPr>
              <a:t>为：</a:t>
            </a:r>
          </a:p>
        </p:txBody>
      </p:sp>
      <p:pic>
        <p:nvPicPr>
          <p:cNvPr id="5" name="图片 4">
            <a:extLst>
              <a:ext uri="{FF2B5EF4-FFF2-40B4-BE49-F238E27FC236}">
                <a16:creationId xmlns:a16="http://schemas.microsoft.com/office/drawing/2014/main" id="{BFB5BAE4-CA1C-9EB0-943C-C55DC7EAAD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0224" y="2298804"/>
            <a:ext cx="4473576" cy="4349692"/>
          </a:xfrm>
          <a:prstGeom prst="rect">
            <a:avLst/>
          </a:prstGeom>
        </p:spPr>
      </p:pic>
    </p:spTree>
    <p:extLst>
      <p:ext uri="{BB962C8B-B14F-4D97-AF65-F5344CB8AC3E}">
        <p14:creationId xmlns:p14="http://schemas.microsoft.com/office/powerpoint/2010/main" val="4004809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88CC4-5F1C-FE3C-6343-55E8F8552E0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CDB5EBE-01C4-4D19-23DC-C59F76384D9F}"/>
              </a:ext>
            </a:extLst>
          </p:cNvPr>
          <p:cNvSpPr>
            <a:spLocks noGrp="1"/>
          </p:cNvSpPr>
          <p:nvPr>
            <p:ph type="title"/>
          </p:nvPr>
        </p:nvSpPr>
        <p:spPr/>
        <p:txBody>
          <a:bodyPr/>
          <a:lstStyle/>
          <a:p>
            <a:r>
              <a:rPr lang="zh-CN" altLang="en-US" b="1" dirty="0"/>
              <a:t>编译说明</a:t>
            </a:r>
            <a:r>
              <a:rPr lang="en-US" altLang="zh-CN" b="1" dirty="0"/>
              <a:t>-3</a:t>
            </a:r>
            <a:endParaRPr lang="zh-CN" altLang="en-US" b="1" dirty="0"/>
          </a:p>
        </p:txBody>
      </p:sp>
      <p:sp>
        <p:nvSpPr>
          <p:cNvPr id="3" name="内容占位符 2">
            <a:extLst>
              <a:ext uri="{FF2B5EF4-FFF2-40B4-BE49-F238E27FC236}">
                <a16:creationId xmlns:a16="http://schemas.microsoft.com/office/drawing/2014/main" id="{9D05A31F-A267-1D2A-7BEA-C8BA5902217C}"/>
              </a:ext>
            </a:extLst>
          </p:cNvPr>
          <p:cNvSpPr>
            <a:spLocks noGrp="1"/>
          </p:cNvSpPr>
          <p:nvPr>
            <p:ph idx="1"/>
          </p:nvPr>
        </p:nvSpPr>
        <p:spPr>
          <a:xfrm>
            <a:off x="726840" y="1690725"/>
            <a:ext cx="4962078" cy="2053502"/>
          </a:xfrm>
        </p:spPr>
        <p:txBody>
          <a:bodyPr>
            <a:noAutofit/>
          </a:bodyPr>
          <a:lstStyle/>
          <a:p>
            <a:pPr>
              <a:lnSpc>
                <a:spcPct val="125000"/>
              </a:lnSpc>
            </a:pPr>
            <a:r>
              <a:rPr lang="zh-CN" altLang="en-US" dirty="0"/>
              <a:t>将</a:t>
            </a:r>
            <a:r>
              <a:rPr lang="en-US" altLang="zh-CN" dirty="0" err="1">
                <a:solidFill>
                  <a:schemeClr val="tx1"/>
                </a:solidFill>
              </a:rPr>
              <a:t>FindTBB.cmake</a:t>
            </a:r>
            <a:r>
              <a:rPr lang="zh-CN" altLang="en-US" dirty="0">
                <a:solidFill>
                  <a:schemeClr val="tx1"/>
                </a:solidFill>
              </a:rPr>
              <a:t>移入</a:t>
            </a:r>
            <a:r>
              <a:rPr lang="en-US" altLang="zh-CN" dirty="0" err="1">
                <a:solidFill>
                  <a:schemeClr val="tx1"/>
                </a:solidFill>
              </a:rPr>
              <a:t>cmake</a:t>
            </a:r>
            <a:r>
              <a:rPr lang="zh-CN" altLang="en-US" dirty="0">
                <a:solidFill>
                  <a:schemeClr val="tx1"/>
                </a:solidFill>
              </a:rPr>
              <a:t>文件夹中，并修改内容为：</a:t>
            </a:r>
            <a:endParaRPr lang="en-US" altLang="zh-CN" dirty="0">
              <a:solidFill>
                <a:schemeClr val="tx1"/>
              </a:solidFill>
            </a:endParaRPr>
          </a:p>
          <a:p>
            <a:pPr>
              <a:lnSpc>
                <a:spcPct val="125000"/>
              </a:lnSpc>
            </a:pPr>
            <a:r>
              <a:rPr lang="zh-CN" altLang="en-US" dirty="0">
                <a:solidFill>
                  <a:schemeClr val="tx1"/>
                </a:solidFill>
              </a:rPr>
              <a:t>后续跳转至</a:t>
            </a:r>
            <a:r>
              <a:rPr lang="en-US" altLang="zh-CN" dirty="0">
                <a:solidFill>
                  <a:schemeClr val="tx1"/>
                </a:solidFill>
              </a:rPr>
              <a:t>【</a:t>
            </a:r>
            <a:r>
              <a:rPr lang="zh-CN" altLang="en-US" dirty="0">
                <a:solidFill>
                  <a:schemeClr val="tx1"/>
                </a:solidFill>
              </a:rPr>
              <a:t>编译说明</a:t>
            </a:r>
            <a:r>
              <a:rPr lang="en-US" altLang="zh-CN" dirty="0">
                <a:solidFill>
                  <a:schemeClr val="tx1"/>
                </a:solidFill>
              </a:rPr>
              <a:t>-7】</a:t>
            </a:r>
            <a:endParaRPr lang="zh-CN" altLang="en-US" dirty="0">
              <a:solidFill>
                <a:schemeClr val="tx1"/>
              </a:solidFill>
            </a:endParaRPr>
          </a:p>
        </p:txBody>
      </p:sp>
      <p:pic>
        <p:nvPicPr>
          <p:cNvPr id="7" name="图片 6">
            <a:extLst>
              <a:ext uri="{FF2B5EF4-FFF2-40B4-BE49-F238E27FC236}">
                <a16:creationId xmlns:a16="http://schemas.microsoft.com/office/drawing/2014/main" id="{A1130A24-7D34-63F8-2E38-3919EFEFE9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50228" y="1690688"/>
            <a:ext cx="5414932" cy="4485260"/>
          </a:xfrm>
          <a:prstGeom prst="rect">
            <a:avLst/>
          </a:prstGeom>
        </p:spPr>
      </p:pic>
    </p:spTree>
    <p:extLst>
      <p:ext uri="{BB962C8B-B14F-4D97-AF65-F5344CB8AC3E}">
        <p14:creationId xmlns:p14="http://schemas.microsoft.com/office/powerpoint/2010/main" val="2038489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93575-7019-CC5D-1C50-C4467A93B73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639F5CC-70EA-9E4E-5CE5-3ECF5B969319}"/>
              </a:ext>
            </a:extLst>
          </p:cNvPr>
          <p:cNvSpPr>
            <a:spLocks noGrp="1"/>
          </p:cNvSpPr>
          <p:nvPr>
            <p:ph type="title"/>
          </p:nvPr>
        </p:nvSpPr>
        <p:spPr/>
        <p:txBody>
          <a:bodyPr/>
          <a:lstStyle/>
          <a:p>
            <a:r>
              <a:rPr lang="zh-CN" altLang="en-US" b="1" dirty="0"/>
              <a:t>编译说明</a:t>
            </a:r>
            <a:r>
              <a:rPr lang="en-US" altLang="zh-CN" b="1" dirty="0"/>
              <a:t>-4</a:t>
            </a:r>
            <a:endParaRPr lang="zh-CN" altLang="en-US" b="1" dirty="0"/>
          </a:p>
        </p:txBody>
      </p:sp>
      <p:sp>
        <p:nvSpPr>
          <p:cNvPr id="3" name="内容占位符 2">
            <a:extLst>
              <a:ext uri="{FF2B5EF4-FFF2-40B4-BE49-F238E27FC236}">
                <a16:creationId xmlns:a16="http://schemas.microsoft.com/office/drawing/2014/main" id="{DD30C7A6-880C-547E-C348-3918C3E28EC6}"/>
              </a:ext>
            </a:extLst>
          </p:cNvPr>
          <p:cNvSpPr>
            <a:spLocks noGrp="1"/>
          </p:cNvSpPr>
          <p:nvPr>
            <p:ph idx="1"/>
          </p:nvPr>
        </p:nvSpPr>
        <p:spPr>
          <a:xfrm>
            <a:off x="726839" y="1419452"/>
            <a:ext cx="10963979" cy="2053502"/>
          </a:xfrm>
        </p:spPr>
        <p:txBody>
          <a:bodyPr>
            <a:noAutofit/>
          </a:bodyPr>
          <a:lstStyle/>
          <a:p>
            <a:r>
              <a:rPr lang="zh-CN" altLang="en-US" dirty="0"/>
              <a:t>安装对应版本</a:t>
            </a:r>
            <a:r>
              <a:rPr lang="en-US" altLang="zh-CN" dirty="0"/>
              <a:t>TBB</a:t>
            </a:r>
            <a:r>
              <a:rPr lang="zh-CN" altLang="en-US" dirty="0"/>
              <a:t>：</a:t>
            </a:r>
            <a:endParaRPr lang="en-US" altLang="zh-CN" dirty="0"/>
          </a:p>
          <a:p>
            <a:pPr lvl="1"/>
            <a:r>
              <a:rPr lang="en-US" altLang="zh-CN" sz="2800" dirty="0"/>
              <a:t>cd ~</a:t>
            </a:r>
          </a:p>
          <a:p>
            <a:pPr lvl="1"/>
            <a:r>
              <a:rPr lang="en-US" altLang="zh-CN" sz="2800" dirty="0"/>
              <a:t>git clone https://github.com/oneapi-src/oneTBB.git</a:t>
            </a:r>
          </a:p>
          <a:p>
            <a:pPr lvl="1"/>
            <a:r>
              <a:rPr lang="en-US" altLang="zh-CN" sz="2800" dirty="0"/>
              <a:t>cd </a:t>
            </a:r>
            <a:r>
              <a:rPr lang="en-US" altLang="zh-CN" sz="2800" dirty="0" err="1"/>
              <a:t>oneTBB</a:t>
            </a:r>
            <a:endParaRPr lang="en-US" altLang="zh-CN" sz="2800" dirty="0"/>
          </a:p>
          <a:p>
            <a:pPr lvl="1"/>
            <a:r>
              <a:rPr lang="en-US" altLang="zh-CN" sz="2800" dirty="0"/>
              <a:t>git checkout v2021.9.0</a:t>
            </a:r>
          </a:p>
          <a:p>
            <a:pPr lvl="1"/>
            <a:r>
              <a:rPr lang="en-US" altLang="zh-CN" sz="2800" dirty="0" err="1"/>
              <a:t>mkdir</a:t>
            </a:r>
            <a:r>
              <a:rPr lang="en-US" altLang="zh-CN" sz="2800" dirty="0"/>
              <a:t> build &amp;&amp; cd build</a:t>
            </a:r>
          </a:p>
          <a:p>
            <a:pPr lvl="1"/>
            <a:r>
              <a:rPr lang="en-US" altLang="zh-CN" sz="2800" dirty="0" err="1"/>
              <a:t>cmake</a:t>
            </a:r>
            <a:r>
              <a:rPr lang="en-US" altLang="zh-CN" sz="2800" dirty="0"/>
              <a:t> .. -DCMAKE_BUILD_TYPE=Release</a:t>
            </a:r>
          </a:p>
          <a:p>
            <a:pPr lvl="1"/>
            <a:r>
              <a:rPr lang="en-US" altLang="zh-CN" sz="2800" dirty="0"/>
              <a:t>make -j$(</a:t>
            </a:r>
            <a:r>
              <a:rPr lang="en-US" altLang="zh-CN" sz="2800" dirty="0" err="1"/>
              <a:t>nproc</a:t>
            </a:r>
            <a:r>
              <a:rPr lang="en-US" altLang="zh-CN" sz="2800" dirty="0"/>
              <a:t>) V=1 2&gt;&amp;1 | tee compile_error.log</a:t>
            </a:r>
          </a:p>
          <a:p>
            <a:pPr lvl="1"/>
            <a:r>
              <a:rPr lang="en-US" altLang="zh-CN" sz="2800" dirty="0" err="1"/>
              <a:t>sudo</a:t>
            </a:r>
            <a:r>
              <a:rPr lang="en-US" altLang="zh-CN" sz="2800" dirty="0"/>
              <a:t> make install</a:t>
            </a:r>
          </a:p>
          <a:p>
            <a:pPr lvl="1"/>
            <a:endParaRPr lang="en-US" altLang="zh-CN" sz="2800" dirty="0"/>
          </a:p>
          <a:p>
            <a:pPr lvl="1"/>
            <a:endParaRPr lang="en-US" altLang="zh-CN" sz="2800" dirty="0"/>
          </a:p>
          <a:p>
            <a:pPr lvl="1"/>
            <a:endParaRPr lang="en-US" altLang="zh-CN" sz="2800" dirty="0"/>
          </a:p>
          <a:p>
            <a:pPr lvl="1"/>
            <a:endParaRPr lang="en-US" altLang="zh-CN" sz="2800" dirty="0"/>
          </a:p>
        </p:txBody>
      </p:sp>
    </p:spTree>
    <p:extLst>
      <p:ext uri="{BB962C8B-B14F-4D97-AF65-F5344CB8AC3E}">
        <p14:creationId xmlns:p14="http://schemas.microsoft.com/office/powerpoint/2010/main" val="1182565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3864A-8F60-F40D-0F48-3D666CB34BF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B761D17-C262-B7C5-4065-0A0CF559CD48}"/>
              </a:ext>
            </a:extLst>
          </p:cNvPr>
          <p:cNvSpPr>
            <a:spLocks noGrp="1"/>
          </p:cNvSpPr>
          <p:nvPr>
            <p:ph type="title"/>
          </p:nvPr>
        </p:nvSpPr>
        <p:spPr/>
        <p:txBody>
          <a:bodyPr/>
          <a:lstStyle/>
          <a:p>
            <a:r>
              <a:rPr lang="zh-CN" altLang="en-US" b="1" dirty="0"/>
              <a:t>编译说明</a:t>
            </a:r>
            <a:r>
              <a:rPr lang="en-US" altLang="zh-CN" b="1" dirty="0"/>
              <a:t>-5</a:t>
            </a:r>
            <a:endParaRPr lang="zh-CN" altLang="en-US" b="1" dirty="0"/>
          </a:p>
        </p:txBody>
      </p:sp>
      <p:sp>
        <p:nvSpPr>
          <p:cNvPr id="3" name="内容占位符 2">
            <a:extLst>
              <a:ext uri="{FF2B5EF4-FFF2-40B4-BE49-F238E27FC236}">
                <a16:creationId xmlns:a16="http://schemas.microsoft.com/office/drawing/2014/main" id="{3AB44DDE-E394-EDD0-D754-64EABBA207D6}"/>
              </a:ext>
            </a:extLst>
          </p:cNvPr>
          <p:cNvSpPr>
            <a:spLocks noGrp="1"/>
          </p:cNvSpPr>
          <p:nvPr>
            <p:ph idx="1"/>
          </p:nvPr>
        </p:nvSpPr>
        <p:spPr>
          <a:xfrm>
            <a:off x="726840" y="1422480"/>
            <a:ext cx="10515600" cy="2053502"/>
          </a:xfrm>
        </p:spPr>
        <p:txBody>
          <a:bodyPr>
            <a:noAutofit/>
          </a:bodyPr>
          <a:lstStyle/>
          <a:p>
            <a:r>
              <a:rPr lang="zh-CN" altLang="en-US" dirty="0"/>
              <a:t>安装对应版本</a:t>
            </a:r>
            <a:r>
              <a:rPr lang="en-US" altLang="zh-CN" dirty="0" err="1"/>
              <a:t>blosc</a:t>
            </a:r>
            <a:r>
              <a:rPr lang="zh-CN" altLang="en-US" dirty="0"/>
              <a:t>：</a:t>
            </a:r>
            <a:endParaRPr lang="en-US" altLang="zh-CN" dirty="0"/>
          </a:p>
          <a:p>
            <a:pPr lvl="1"/>
            <a:r>
              <a:rPr lang="en-US" altLang="zh-CN" sz="2800" dirty="0"/>
              <a:t>cd ~</a:t>
            </a:r>
          </a:p>
          <a:p>
            <a:pPr lvl="1"/>
            <a:r>
              <a:rPr lang="en-US" altLang="zh-CN" sz="2800" dirty="0"/>
              <a:t>git clone https://github.com/Blosc/c-blosc.git</a:t>
            </a:r>
          </a:p>
          <a:p>
            <a:pPr lvl="1"/>
            <a:r>
              <a:rPr lang="en-US" altLang="zh-CN" sz="2800" dirty="0"/>
              <a:t>cd c-</a:t>
            </a:r>
            <a:r>
              <a:rPr lang="en-US" altLang="zh-CN" sz="2800" dirty="0" err="1"/>
              <a:t>blosc</a:t>
            </a:r>
            <a:endParaRPr lang="en-US" altLang="zh-CN" sz="2800" dirty="0"/>
          </a:p>
          <a:p>
            <a:pPr lvl="1"/>
            <a:r>
              <a:rPr lang="en-US" altLang="zh-CN" sz="2800" dirty="0" err="1"/>
              <a:t>mkdir</a:t>
            </a:r>
            <a:r>
              <a:rPr lang="en-US" altLang="zh-CN" sz="2800" dirty="0"/>
              <a:t> build &amp;&amp; cd build</a:t>
            </a:r>
          </a:p>
          <a:p>
            <a:pPr lvl="1"/>
            <a:r>
              <a:rPr lang="en-US" altLang="zh-CN" sz="2800" dirty="0" err="1"/>
              <a:t>cmake</a:t>
            </a:r>
            <a:r>
              <a:rPr lang="en-US" altLang="zh-CN" sz="2800" dirty="0"/>
              <a:t> ..</a:t>
            </a:r>
          </a:p>
          <a:p>
            <a:pPr lvl="1"/>
            <a:r>
              <a:rPr lang="en-US" altLang="zh-CN" sz="2800" dirty="0"/>
              <a:t>make -j$(</a:t>
            </a:r>
            <a:r>
              <a:rPr lang="en-US" altLang="zh-CN" sz="2800" dirty="0" err="1"/>
              <a:t>nproc</a:t>
            </a:r>
            <a:r>
              <a:rPr lang="en-US" altLang="zh-CN" sz="2800" dirty="0"/>
              <a:t>)</a:t>
            </a:r>
          </a:p>
          <a:p>
            <a:pPr lvl="1"/>
            <a:r>
              <a:rPr lang="en-US" altLang="zh-CN" sz="2800" dirty="0" err="1"/>
              <a:t>sudo</a:t>
            </a:r>
            <a:r>
              <a:rPr lang="en-US" altLang="zh-CN" sz="2800" dirty="0"/>
              <a:t> make install</a:t>
            </a:r>
          </a:p>
          <a:p>
            <a:pPr lvl="1"/>
            <a:r>
              <a:rPr lang="en-US" altLang="zh-CN" sz="2800" dirty="0" err="1"/>
              <a:t>sudo</a:t>
            </a:r>
            <a:r>
              <a:rPr lang="en-US" altLang="zh-CN" sz="2800" dirty="0"/>
              <a:t> </a:t>
            </a:r>
            <a:r>
              <a:rPr lang="en-US" altLang="zh-CN" sz="2800" dirty="0" err="1"/>
              <a:t>ldconfig</a:t>
            </a:r>
            <a:r>
              <a:rPr lang="en-US" altLang="zh-CN" sz="2800" dirty="0"/>
              <a:t> # </a:t>
            </a:r>
            <a:r>
              <a:rPr lang="zh-CN" altLang="en-US" sz="2800" dirty="0"/>
              <a:t>更新库缓存</a:t>
            </a:r>
          </a:p>
          <a:p>
            <a:pPr lvl="1"/>
            <a:r>
              <a:rPr lang="en-US" altLang="zh-CN" sz="2800" dirty="0"/>
              <a:t>cat /</a:t>
            </a:r>
            <a:r>
              <a:rPr lang="en-US" altLang="zh-CN" sz="2800" dirty="0" err="1"/>
              <a:t>usr</a:t>
            </a:r>
            <a:r>
              <a:rPr lang="en-US" altLang="zh-CN" sz="2800" dirty="0"/>
              <a:t>/local/include/</a:t>
            </a:r>
            <a:r>
              <a:rPr lang="en-US" altLang="zh-CN" sz="2800" dirty="0" err="1"/>
              <a:t>blosc.h</a:t>
            </a:r>
            <a:r>
              <a:rPr lang="en-US" altLang="zh-CN" sz="2800" dirty="0"/>
              <a:t> | grep 'define BLOSC_VERSION_STRING’ # </a:t>
            </a:r>
            <a:r>
              <a:rPr lang="zh-CN" altLang="en-US" sz="2800" dirty="0"/>
              <a:t>验证安装版本，要求大于</a:t>
            </a:r>
            <a:r>
              <a:rPr lang="en-US" altLang="zh-CN" sz="2800" dirty="0"/>
              <a:t>1.17</a:t>
            </a:r>
          </a:p>
          <a:p>
            <a:pPr lvl="1"/>
            <a:endParaRPr lang="en-US" altLang="zh-CN" sz="2800" dirty="0"/>
          </a:p>
          <a:p>
            <a:pPr lvl="1"/>
            <a:endParaRPr lang="en-US" altLang="zh-CN" sz="2800" dirty="0"/>
          </a:p>
          <a:p>
            <a:pPr lvl="1"/>
            <a:endParaRPr lang="en-US" altLang="zh-CN" sz="2800" dirty="0"/>
          </a:p>
          <a:p>
            <a:pPr lvl="1"/>
            <a:endParaRPr lang="en-US" altLang="zh-CN" sz="2800" dirty="0"/>
          </a:p>
        </p:txBody>
      </p:sp>
    </p:spTree>
    <p:extLst>
      <p:ext uri="{BB962C8B-B14F-4D97-AF65-F5344CB8AC3E}">
        <p14:creationId xmlns:p14="http://schemas.microsoft.com/office/powerpoint/2010/main" val="39909880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9F2BB-6EFB-F920-A28E-D9EDE58EEB6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196CE89-0AB6-0877-87F9-9FFB6CEEE1EE}"/>
              </a:ext>
            </a:extLst>
          </p:cNvPr>
          <p:cNvSpPr>
            <a:spLocks noGrp="1"/>
          </p:cNvSpPr>
          <p:nvPr>
            <p:ph type="title"/>
          </p:nvPr>
        </p:nvSpPr>
        <p:spPr/>
        <p:txBody>
          <a:bodyPr/>
          <a:lstStyle/>
          <a:p>
            <a:r>
              <a:rPr lang="zh-CN" altLang="en-US" b="1" dirty="0"/>
              <a:t>编译说明</a:t>
            </a:r>
            <a:r>
              <a:rPr lang="en-US" altLang="zh-CN" b="1" dirty="0"/>
              <a:t>-6</a:t>
            </a:r>
            <a:endParaRPr lang="zh-CN" altLang="en-US" b="1" dirty="0"/>
          </a:p>
        </p:txBody>
      </p:sp>
      <p:sp>
        <p:nvSpPr>
          <p:cNvPr id="3" name="内容占位符 2">
            <a:extLst>
              <a:ext uri="{FF2B5EF4-FFF2-40B4-BE49-F238E27FC236}">
                <a16:creationId xmlns:a16="http://schemas.microsoft.com/office/drawing/2014/main" id="{1FEF8C54-A856-99EF-68C7-1136001150A2}"/>
              </a:ext>
            </a:extLst>
          </p:cNvPr>
          <p:cNvSpPr>
            <a:spLocks noGrp="1"/>
          </p:cNvSpPr>
          <p:nvPr>
            <p:ph idx="1"/>
          </p:nvPr>
        </p:nvSpPr>
        <p:spPr>
          <a:xfrm>
            <a:off x="726840" y="1690725"/>
            <a:ext cx="10515600" cy="4140232"/>
          </a:xfrm>
        </p:spPr>
        <p:txBody>
          <a:bodyPr>
            <a:noAutofit/>
          </a:bodyPr>
          <a:lstStyle/>
          <a:p>
            <a:r>
              <a:rPr lang="zh-CN" altLang="en-US" dirty="0"/>
              <a:t>安装对应版本</a:t>
            </a:r>
            <a:r>
              <a:rPr lang="en-US" altLang="zh-CN" dirty="0" err="1"/>
              <a:t>openvdb</a:t>
            </a:r>
            <a:r>
              <a:rPr lang="zh-CN" altLang="en-US" dirty="0"/>
              <a:t>：</a:t>
            </a:r>
            <a:endParaRPr lang="en-US" altLang="zh-CN" dirty="0"/>
          </a:p>
          <a:p>
            <a:pPr lvl="1"/>
            <a:r>
              <a:rPr lang="en-US" altLang="zh-CN" sz="2800" dirty="0"/>
              <a:t>cd ~</a:t>
            </a:r>
          </a:p>
          <a:p>
            <a:pPr lvl="1"/>
            <a:r>
              <a:rPr lang="en-US" altLang="zh-CN" sz="2800" dirty="0"/>
              <a:t>git clone </a:t>
            </a:r>
            <a:r>
              <a:rPr lang="en-US" altLang="zh-CN" sz="2800" dirty="0" err="1"/>
              <a:t>git@github.com:AcademySoftwareFoundation</a:t>
            </a:r>
            <a:r>
              <a:rPr lang="en-US" altLang="zh-CN" sz="2800" dirty="0"/>
              <a:t>/</a:t>
            </a:r>
            <a:r>
              <a:rPr lang="en-US" altLang="zh-CN" sz="2800" dirty="0" err="1"/>
              <a:t>openvdb.git</a:t>
            </a:r>
            <a:endParaRPr lang="en-US" altLang="zh-CN" sz="2800" dirty="0"/>
          </a:p>
          <a:p>
            <a:pPr lvl="1"/>
            <a:r>
              <a:rPr lang="en-US" altLang="zh-CN" sz="2800" dirty="0"/>
              <a:t>cd </a:t>
            </a:r>
            <a:r>
              <a:rPr lang="en-US" altLang="zh-CN" sz="2800" dirty="0" err="1"/>
              <a:t>openvdb</a:t>
            </a:r>
            <a:endParaRPr lang="en-US" altLang="zh-CN" sz="2800" dirty="0"/>
          </a:p>
          <a:p>
            <a:pPr lvl="1"/>
            <a:r>
              <a:rPr lang="en-US" altLang="zh-CN" sz="2800" dirty="0" err="1"/>
              <a:t>mkdir</a:t>
            </a:r>
            <a:r>
              <a:rPr lang="en-US" altLang="zh-CN" sz="2800" dirty="0"/>
              <a:t> build &amp;&amp; cd build</a:t>
            </a:r>
          </a:p>
          <a:p>
            <a:pPr lvl="1"/>
            <a:r>
              <a:rPr lang="en-US" altLang="zh-CN" sz="2800" dirty="0" err="1"/>
              <a:t>cmake</a:t>
            </a:r>
            <a:r>
              <a:rPr lang="en-US" altLang="zh-CN" sz="2800" dirty="0"/>
              <a:t> ..</a:t>
            </a:r>
          </a:p>
          <a:p>
            <a:pPr lvl="1"/>
            <a:r>
              <a:rPr lang="en-US" altLang="zh-CN" sz="2800" dirty="0"/>
              <a:t>make -j4 &amp;&amp; make install</a:t>
            </a:r>
          </a:p>
          <a:p>
            <a:pPr lvl="1"/>
            <a:endParaRPr lang="en-US" altLang="zh-CN" sz="2800" dirty="0"/>
          </a:p>
          <a:p>
            <a:pPr lvl="1"/>
            <a:endParaRPr lang="en-US" altLang="zh-CN" sz="2800" dirty="0"/>
          </a:p>
          <a:p>
            <a:pPr lvl="1"/>
            <a:endParaRPr lang="en-US" altLang="zh-CN" sz="2800" dirty="0"/>
          </a:p>
          <a:p>
            <a:pPr lvl="1"/>
            <a:endParaRPr lang="en-US" altLang="zh-CN" sz="2800" dirty="0"/>
          </a:p>
        </p:txBody>
      </p:sp>
    </p:spTree>
    <p:extLst>
      <p:ext uri="{BB962C8B-B14F-4D97-AF65-F5344CB8AC3E}">
        <p14:creationId xmlns:p14="http://schemas.microsoft.com/office/powerpoint/2010/main" val="3132773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886F2-8A3F-12F7-113D-684343223E5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C8499C7-FECC-F1C1-EDAF-E3C51332DA4A}"/>
              </a:ext>
            </a:extLst>
          </p:cNvPr>
          <p:cNvSpPr>
            <a:spLocks noGrp="1"/>
          </p:cNvSpPr>
          <p:nvPr>
            <p:ph type="title"/>
          </p:nvPr>
        </p:nvSpPr>
        <p:spPr/>
        <p:txBody>
          <a:bodyPr/>
          <a:lstStyle/>
          <a:p>
            <a:r>
              <a:rPr lang="zh-CN" altLang="en-US" b="1" dirty="0"/>
              <a:t>编译说明</a:t>
            </a:r>
            <a:r>
              <a:rPr lang="en-US" altLang="zh-CN" b="1" dirty="0"/>
              <a:t>-7</a:t>
            </a:r>
            <a:endParaRPr lang="zh-CN" altLang="en-US" b="1" dirty="0"/>
          </a:p>
        </p:txBody>
      </p:sp>
      <p:sp>
        <p:nvSpPr>
          <p:cNvPr id="3" name="内容占位符 2">
            <a:extLst>
              <a:ext uri="{FF2B5EF4-FFF2-40B4-BE49-F238E27FC236}">
                <a16:creationId xmlns:a16="http://schemas.microsoft.com/office/drawing/2014/main" id="{3985B4E3-BA76-C1A9-5B2A-64DB959A3A2A}"/>
              </a:ext>
            </a:extLst>
          </p:cNvPr>
          <p:cNvSpPr>
            <a:spLocks noGrp="1"/>
          </p:cNvSpPr>
          <p:nvPr>
            <p:ph idx="1"/>
          </p:nvPr>
        </p:nvSpPr>
        <p:spPr>
          <a:xfrm>
            <a:off x="726840" y="1690725"/>
            <a:ext cx="10515600" cy="2053502"/>
          </a:xfrm>
        </p:spPr>
        <p:txBody>
          <a:bodyPr>
            <a:noAutofit/>
          </a:bodyPr>
          <a:lstStyle/>
          <a:p>
            <a:r>
              <a:rPr lang="zh-CN" altLang="en-US" dirty="0"/>
              <a:t>进入</a:t>
            </a:r>
            <a:r>
              <a:rPr lang="en-US" altLang="zh-CN" dirty="0"/>
              <a:t>cg-ex10</a:t>
            </a:r>
            <a:r>
              <a:rPr lang="zh-CN" altLang="en-US" dirty="0"/>
              <a:t>文件夹：</a:t>
            </a:r>
            <a:r>
              <a:rPr lang="en-US" altLang="zh-CN" dirty="0"/>
              <a:t>cd cg-ex10</a:t>
            </a:r>
          </a:p>
          <a:p>
            <a:r>
              <a:rPr lang="en-US" altLang="zh-CN" dirty="0" err="1"/>
              <a:t>mkdir</a:t>
            </a:r>
            <a:r>
              <a:rPr lang="en-US" altLang="zh-CN" dirty="0"/>
              <a:t> build &amp;&amp; cd build</a:t>
            </a:r>
          </a:p>
          <a:p>
            <a:r>
              <a:rPr lang="en-US" altLang="zh-CN" dirty="0" err="1"/>
              <a:t>cmake</a:t>
            </a:r>
            <a:r>
              <a:rPr lang="en-US" altLang="zh-CN" dirty="0"/>
              <a:t> ..</a:t>
            </a:r>
          </a:p>
          <a:p>
            <a:r>
              <a:rPr lang="en-US" altLang="zh-CN" dirty="0"/>
              <a:t>make</a:t>
            </a:r>
          </a:p>
          <a:p>
            <a:r>
              <a:rPr lang="en-US" altLang="zh-CN" dirty="0"/>
              <a:t>./test </a:t>
            </a:r>
            <a:r>
              <a:rPr lang="zh-CN" altLang="en-US" dirty="0"/>
              <a:t>运行</a:t>
            </a:r>
            <a:endParaRPr lang="en-US" altLang="zh-CN" dirty="0"/>
          </a:p>
          <a:p>
            <a:r>
              <a:rPr lang="zh-CN" altLang="en-US" dirty="0"/>
              <a:t>如果显示：</a:t>
            </a:r>
            <a:endParaRPr lang="en-US" altLang="zh-CN" dirty="0"/>
          </a:p>
          <a:p>
            <a:endParaRPr lang="en-US" altLang="zh-CN" dirty="0"/>
          </a:p>
          <a:p>
            <a:r>
              <a:rPr lang="zh-CN" altLang="en-US" dirty="0"/>
              <a:t>终端输入：</a:t>
            </a:r>
            <a:r>
              <a:rPr lang="en-US" altLang="zh-CN" dirty="0"/>
              <a:t>export LD_LIBRARY_PATH=$CONDA_PREFIX/lib:$LD_LIBRARY_PATH</a:t>
            </a:r>
          </a:p>
          <a:p>
            <a:r>
              <a:rPr lang="zh-CN" altLang="en-US" dirty="0"/>
              <a:t>在当前终端中重新</a:t>
            </a:r>
            <a:r>
              <a:rPr lang="en-US" altLang="zh-CN" dirty="0"/>
              <a:t>./test</a:t>
            </a:r>
          </a:p>
          <a:p>
            <a:pPr lvl="1"/>
            <a:endParaRPr lang="en-US" altLang="zh-CN" sz="2800" dirty="0"/>
          </a:p>
          <a:p>
            <a:pPr lvl="1"/>
            <a:endParaRPr lang="en-US" altLang="zh-CN" sz="2800" dirty="0"/>
          </a:p>
          <a:p>
            <a:pPr lvl="1"/>
            <a:endParaRPr lang="en-US" altLang="zh-CN" sz="2800" dirty="0"/>
          </a:p>
        </p:txBody>
      </p:sp>
      <p:pic>
        <p:nvPicPr>
          <p:cNvPr id="5" name="图片 4">
            <a:extLst>
              <a:ext uri="{FF2B5EF4-FFF2-40B4-BE49-F238E27FC236}">
                <a16:creationId xmlns:a16="http://schemas.microsoft.com/office/drawing/2014/main" id="{772EA55D-CEC3-2C2E-C2F0-6CFAF9003F22}"/>
              </a:ext>
            </a:extLst>
          </p:cNvPr>
          <p:cNvPicPr>
            <a:picLocks noChangeAspect="1"/>
          </p:cNvPicPr>
          <p:nvPr/>
        </p:nvPicPr>
        <p:blipFill>
          <a:blip r:embed="rId3"/>
          <a:stretch>
            <a:fillRect/>
          </a:stretch>
        </p:blipFill>
        <p:spPr>
          <a:xfrm>
            <a:off x="615047" y="4748227"/>
            <a:ext cx="10961905" cy="419048"/>
          </a:xfrm>
          <a:prstGeom prst="rect">
            <a:avLst/>
          </a:prstGeom>
        </p:spPr>
      </p:pic>
    </p:spTree>
    <p:extLst>
      <p:ext uri="{BB962C8B-B14F-4D97-AF65-F5344CB8AC3E}">
        <p14:creationId xmlns:p14="http://schemas.microsoft.com/office/powerpoint/2010/main" val="1146585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6B47F-7793-553C-4AC7-6A57F34BB72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E0D6B2D-F27E-7415-99EA-4D92666A1FF1}"/>
              </a:ext>
            </a:extLst>
          </p:cNvPr>
          <p:cNvSpPr>
            <a:spLocks noGrp="1"/>
          </p:cNvSpPr>
          <p:nvPr>
            <p:ph type="title"/>
          </p:nvPr>
        </p:nvSpPr>
        <p:spPr/>
        <p:txBody>
          <a:bodyPr/>
          <a:lstStyle/>
          <a:p>
            <a:r>
              <a:rPr lang="zh-CN" altLang="en-US" b="1" dirty="0"/>
              <a:t>编译说明</a:t>
            </a:r>
            <a:r>
              <a:rPr lang="en-US" altLang="zh-CN" b="1" dirty="0"/>
              <a:t>-</a:t>
            </a:r>
            <a:r>
              <a:rPr lang="zh-CN" altLang="en-US" b="1" dirty="0"/>
              <a:t>成功界面</a:t>
            </a:r>
          </a:p>
        </p:txBody>
      </p:sp>
      <p:sp>
        <p:nvSpPr>
          <p:cNvPr id="3" name="内容占位符 2">
            <a:extLst>
              <a:ext uri="{FF2B5EF4-FFF2-40B4-BE49-F238E27FC236}">
                <a16:creationId xmlns:a16="http://schemas.microsoft.com/office/drawing/2014/main" id="{F5F2548C-A5C5-1F7D-B7F1-83C7F3DFD54E}"/>
              </a:ext>
            </a:extLst>
          </p:cNvPr>
          <p:cNvSpPr>
            <a:spLocks noGrp="1"/>
          </p:cNvSpPr>
          <p:nvPr>
            <p:ph idx="1"/>
          </p:nvPr>
        </p:nvSpPr>
        <p:spPr>
          <a:xfrm>
            <a:off x="726840" y="1690725"/>
            <a:ext cx="10515600" cy="2053502"/>
          </a:xfrm>
        </p:spPr>
        <p:txBody>
          <a:bodyPr>
            <a:noAutofit/>
          </a:bodyPr>
          <a:lstStyle/>
          <a:p>
            <a:r>
              <a:rPr lang="zh-CN" altLang="en-US" dirty="0"/>
              <a:t>成功运行界面如下：</a:t>
            </a:r>
            <a:endParaRPr lang="en-US" altLang="zh-CN" dirty="0"/>
          </a:p>
          <a:p>
            <a:endParaRPr lang="en-US" altLang="zh-CN" dirty="0"/>
          </a:p>
          <a:p>
            <a:pPr lvl="1"/>
            <a:endParaRPr lang="en-US" altLang="zh-CN" dirty="0"/>
          </a:p>
          <a:p>
            <a:endParaRPr lang="en-US" altLang="zh-CN" dirty="0"/>
          </a:p>
          <a:p>
            <a:pPr lvl="1"/>
            <a:endParaRPr lang="en-US" altLang="zh-CN" dirty="0"/>
          </a:p>
          <a:p>
            <a:pPr lvl="1"/>
            <a:endParaRPr lang="en-US" altLang="zh-CN" dirty="0"/>
          </a:p>
          <a:p>
            <a:pPr lvl="1"/>
            <a:endParaRPr lang="en-US" altLang="zh-CN" dirty="0"/>
          </a:p>
        </p:txBody>
      </p:sp>
      <p:pic>
        <p:nvPicPr>
          <p:cNvPr id="4" name="图片 3">
            <a:extLst>
              <a:ext uri="{FF2B5EF4-FFF2-40B4-BE49-F238E27FC236}">
                <a16:creationId xmlns:a16="http://schemas.microsoft.com/office/drawing/2014/main" id="{4CB99D5E-836B-C660-35D6-CBA3464CAA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5453" y="2321391"/>
            <a:ext cx="6581093" cy="4225155"/>
          </a:xfrm>
          <a:prstGeom prst="rect">
            <a:avLst/>
          </a:prstGeom>
        </p:spPr>
      </p:pic>
    </p:spTree>
    <p:extLst>
      <p:ext uri="{BB962C8B-B14F-4D97-AF65-F5344CB8AC3E}">
        <p14:creationId xmlns:p14="http://schemas.microsoft.com/office/powerpoint/2010/main" val="40418759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p:spPr>
        <p:txBody>
          <a:bodyPr/>
          <a:lstStyle/>
          <a:p>
            <a:r>
              <a:rPr lang="zh-CN" altLang="en-US" b="1" dirty="0"/>
              <a:t>使用方法</a:t>
            </a:r>
            <a:r>
              <a:rPr lang="en-US" altLang="zh-CN" b="1" dirty="0"/>
              <a:t>-</a:t>
            </a:r>
            <a:r>
              <a:rPr lang="zh-CN" altLang="en-US" b="1" dirty="0"/>
              <a:t>导航界面</a:t>
            </a:r>
            <a:endParaRPr lang="zh-CN" altLang="en-US" dirty="0"/>
          </a:p>
        </p:txBody>
      </p:sp>
      <p:sp>
        <p:nvSpPr>
          <p:cNvPr id="5" name="内容占位符 4"/>
          <p:cNvSpPr>
            <a:spLocks noGrp="1"/>
          </p:cNvSpPr>
          <p:nvPr>
            <p:ph idx="1"/>
          </p:nvPr>
        </p:nvSpPr>
        <p:spPr>
          <a:xfrm>
            <a:off x="677924" y="1731818"/>
            <a:ext cx="3642286" cy="4351338"/>
          </a:xfrm>
        </p:spPr>
        <p:txBody>
          <a:bodyPr>
            <a:noAutofit/>
          </a:bodyPr>
          <a:lstStyle/>
          <a:p>
            <a:pPr>
              <a:lnSpc>
                <a:spcPct val="145000"/>
              </a:lnSpc>
            </a:pPr>
            <a:r>
              <a:rPr lang="zh-CN" altLang="en-US" sz="2400" dirty="0">
                <a:solidFill>
                  <a:schemeClr val="tx1"/>
                </a:solidFill>
                <a:cs typeface="Arial" panose="020B0604020202020204" pitchFamily="34" charset="0"/>
              </a:rPr>
              <a:t>可选主题：</a:t>
            </a:r>
            <a:endParaRPr lang="en-US" altLang="zh-CN" sz="2400" dirty="0">
              <a:solidFill>
                <a:schemeClr val="tx1"/>
              </a:solidFill>
              <a:cs typeface="Arial" panose="020B0604020202020204" pitchFamily="34" charset="0"/>
            </a:endParaRPr>
          </a:p>
          <a:p>
            <a:pPr lvl="1">
              <a:lnSpc>
                <a:spcPct val="145000"/>
              </a:lnSpc>
            </a:pPr>
            <a:r>
              <a:rPr lang="zh-CN" altLang="en-US" dirty="0">
                <a:cs typeface="Arial" panose="020B0604020202020204" pitchFamily="34" charset="0"/>
              </a:rPr>
              <a:t>几何合成与体积不确定性</a:t>
            </a:r>
            <a:endParaRPr lang="en-US" altLang="zh-CN" dirty="0">
              <a:cs typeface="Arial" panose="020B0604020202020204" pitchFamily="34" charset="0"/>
            </a:endParaRPr>
          </a:p>
          <a:p>
            <a:pPr lvl="1">
              <a:lnSpc>
                <a:spcPct val="145000"/>
              </a:lnSpc>
            </a:pPr>
            <a:r>
              <a:rPr lang="zh-CN" altLang="en-US" dirty="0">
                <a:cs typeface="Arial" panose="020B0604020202020204" pitchFamily="34" charset="0"/>
              </a:rPr>
              <a:t>渲染框架与记忆模型</a:t>
            </a:r>
            <a:endParaRPr lang="en-US" altLang="zh-CN" dirty="0">
              <a:cs typeface="Arial" panose="020B0604020202020204" pitchFamily="34" charset="0"/>
            </a:endParaRPr>
          </a:p>
          <a:p>
            <a:pPr lvl="1">
              <a:lnSpc>
                <a:spcPct val="100000"/>
              </a:lnSpc>
            </a:pPr>
            <a:r>
              <a:rPr lang="zh-CN" altLang="en-US" dirty="0">
                <a:cs typeface="Arial" panose="020B0604020202020204" pitchFamily="34" charset="0"/>
              </a:rPr>
              <a:t>均值与协方差</a:t>
            </a:r>
            <a:endParaRPr lang="en-US" altLang="zh-CN" dirty="0">
              <a:cs typeface="Arial" panose="020B0604020202020204" pitchFamily="34" charset="0"/>
            </a:endParaRPr>
          </a:p>
          <a:p>
            <a:pPr lvl="1">
              <a:lnSpc>
                <a:spcPct val="145000"/>
              </a:lnSpc>
            </a:pPr>
            <a:r>
              <a:rPr lang="zh-CN" altLang="en-US" dirty="0">
                <a:cs typeface="Arial" panose="020B0604020202020204" pitchFamily="34" charset="0"/>
              </a:rPr>
              <a:t>采样密度分布</a:t>
            </a:r>
            <a:endParaRPr lang="en-US" altLang="zh-CN" dirty="0">
              <a:solidFill>
                <a:schemeClr val="tx1"/>
              </a:solidFill>
              <a:cs typeface="Arial" panose="020B0604020202020204" pitchFamily="34" charset="0"/>
            </a:endParaRPr>
          </a:p>
          <a:p>
            <a:pPr>
              <a:lnSpc>
                <a:spcPct val="145000"/>
              </a:lnSpc>
            </a:pPr>
            <a:r>
              <a:rPr lang="zh-CN" altLang="en-US" sz="2400" dirty="0">
                <a:cs typeface="Arial" panose="020B0604020202020204" pitchFamily="34" charset="0"/>
              </a:rPr>
              <a:t>点击图片下方按钮即可打开对应页面</a:t>
            </a:r>
            <a:endParaRPr lang="en-US" altLang="zh-CN" sz="2400" dirty="0">
              <a:solidFill>
                <a:schemeClr val="tx1"/>
              </a:solidFill>
              <a:cs typeface="Arial" panose="020B0604020202020204" pitchFamily="34" charset="0"/>
            </a:endParaRPr>
          </a:p>
        </p:txBody>
      </p:sp>
      <p:pic>
        <p:nvPicPr>
          <p:cNvPr id="6" name="图片 5">
            <a:extLst>
              <a:ext uri="{FF2B5EF4-FFF2-40B4-BE49-F238E27FC236}">
                <a16:creationId xmlns:a16="http://schemas.microsoft.com/office/drawing/2014/main" id="{FE3F18A8-C04E-3C59-B4D0-15B030AD64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3910" y="1731818"/>
            <a:ext cx="7251716" cy="465570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0E2B5-A020-F809-C1A3-AA25AA55662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A00EE7C-A12D-D913-2374-8CAE6E45C8B8}"/>
              </a:ext>
            </a:extLst>
          </p:cNvPr>
          <p:cNvSpPr>
            <a:spLocks noGrp="1"/>
          </p:cNvSpPr>
          <p:nvPr>
            <p:ph type="title"/>
          </p:nvPr>
        </p:nvSpPr>
        <p:spPr>
          <a:noFill/>
        </p:spPr>
        <p:txBody>
          <a:bodyPr/>
          <a:lstStyle/>
          <a:p>
            <a:r>
              <a:rPr lang="zh-CN" altLang="en-US" b="1" dirty="0"/>
              <a:t>使用方法</a:t>
            </a:r>
            <a:r>
              <a:rPr lang="en-US" altLang="zh-CN" b="1" dirty="0"/>
              <a:t>-</a:t>
            </a:r>
            <a:r>
              <a:rPr lang="zh-CN" altLang="en-US" b="1" dirty="0"/>
              <a:t>详情界面</a:t>
            </a:r>
            <a:endParaRPr lang="zh-CN" altLang="en-US" dirty="0"/>
          </a:p>
        </p:txBody>
      </p:sp>
      <p:sp>
        <p:nvSpPr>
          <p:cNvPr id="5" name="内容占位符 4">
            <a:extLst>
              <a:ext uri="{FF2B5EF4-FFF2-40B4-BE49-F238E27FC236}">
                <a16:creationId xmlns:a16="http://schemas.microsoft.com/office/drawing/2014/main" id="{5E5E2987-8CEE-9315-7112-854ED2C46242}"/>
              </a:ext>
            </a:extLst>
          </p:cNvPr>
          <p:cNvSpPr>
            <a:spLocks noGrp="1"/>
          </p:cNvSpPr>
          <p:nvPr>
            <p:ph idx="1"/>
          </p:nvPr>
        </p:nvSpPr>
        <p:spPr>
          <a:xfrm>
            <a:off x="770688" y="1731818"/>
            <a:ext cx="3416999" cy="4351338"/>
          </a:xfrm>
        </p:spPr>
        <p:txBody>
          <a:bodyPr>
            <a:noAutofit/>
          </a:bodyPr>
          <a:lstStyle/>
          <a:p>
            <a:pPr>
              <a:lnSpc>
                <a:spcPct val="145000"/>
              </a:lnSpc>
            </a:pPr>
            <a:r>
              <a:rPr lang="zh-CN" altLang="en-US" sz="2400" dirty="0"/>
              <a:t>整体可划分为上下两部分，上半部分进一步分为左、中、右三个主要区域</a:t>
            </a:r>
            <a:endParaRPr lang="en-US" altLang="zh-CN" sz="2400" dirty="0">
              <a:solidFill>
                <a:schemeClr val="tx1"/>
              </a:solidFill>
              <a:cs typeface="Arial" panose="020B0604020202020204" pitchFamily="34" charset="0"/>
            </a:endParaRPr>
          </a:p>
        </p:txBody>
      </p:sp>
      <p:pic>
        <p:nvPicPr>
          <p:cNvPr id="8" name="图片 7">
            <a:extLst>
              <a:ext uri="{FF2B5EF4-FFF2-40B4-BE49-F238E27FC236}">
                <a16:creationId xmlns:a16="http://schemas.microsoft.com/office/drawing/2014/main" id="{F188CCF6-C945-EA70-97D3-D683D74F42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1113" y="1731818"/>
            <a:ext cx="7172077" cy="4081670"/>
          </a:xfrm>
          <a:prstGeom prst="rect">
            <a:avLst/>
          </a:prstGeom>
        </p:spPr>
      </p:pic>
    </p:spTree>
    <p:extLst>
      <p:ext uri="{BB962C8B-B14F-4D97-AF65-F5344CB8AC3E}">
        <p14:creationId xmlns:p14="http://schemas.microsoft.com/office/powerpoint/2010/main" val="42900274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76755-4999-E400-4AEB-77A7B0F6184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329090A-81B9-E050-6FDA-E3FA6EA3E5DE}"/>
              </a:ext>
            </a:extLst>
          </p:cNvPr>
          <p:cNvSpPr>
            <a:spLocks noGrp="1"/>
          </p:cNvSpPr>
          <p:nvPr>
            <p:ph type="title"/>
          </p:nvPr>
        </p:nvSpPr>
        <p:spPr>
          <a:noFill/>
        </p:spPr>
        <p:txBody>
          <a:bodyPr/>
          <a:lstStyle/>
          <a:p>
            <a:r>
              <a:rPr lang="zh-CN" altLang="en-US" b="1" dirty="0"/>
              <a:t>使用方法</a:t>
            </a:r>
            <a:r>
              <a:rPr lang="en-US" altLang="zh-CN" b="1" dirty="0"/>
              <a:t>-</a:t>
            </a:r>
            <a:r>
              <a:rPr lang="zh-CN" altLang="en-US" b="1" dirty="0"/>
              <a:t>详情界面</a:t>
            </a:r>
            <a:endParaRPr lang="zh-CN" altLang="en-US" dirty="0"/>
          </a:p>
        </p:txBody>
      </p:sp>
      <p:sp>
        <p:nvSpPr>
          <p:cNvPr id="5" name="内容占位符 4">
            <a:extLst>
              <a:ext uri="{FF2B5EF4-FFF2-40B4-BE49-F238E27FC236}">
                <a16:creationId xmlns:a16="http://schemas.microsoft.com/office/drawing/2014/main" id="{E4FAD283-FC97-8EB4-E95F-038631E679DD}"/>
              </a:ext>
            </a:extLst>
          </p:cNvPr>
          <p:cNvSpPr>
            <a:spLocks noGrp="1"/>
          </p:cNvSpPr>
          <p:nvPr>
            <p:ph idx="1"/>
          </p:nvPr>
        </p:nvSpPr>
        <p:spPr>
          <a:xfrm>
            <a:off x="770688" y="1731818"/>
            <a:ext cx="5789138" cy="4351338"/>
          </a:xfrm>
        </p:spPr>
        <p:txBody>
          <a:bodyPr>
            <a:noAutofit/>
          </a:bodyPr>
          <a:lstStyle/>
          <a:p>
            <a:pPr>
              <a:lnSpc>
                <a:spcPct val="145000"/>
              </a:lnSpc>
            </a:pPr>
            <a:r>
              <a:rPr lang="zh-CN" altLang="en-US" sz="2400" dirty="0"/>
              <a:t>左侧区域默认展示当前渲染图像效果，初次加载时为空</a:t>
            </a:r>
            <a:endParaRPr lang="en-US" altLang="zh-CN" sz="2400" dirty="0"/>
          </a:p>
          <a:p>
            <a:pPr>
              <a:lnSpc>
                <a:spcPct val="145000"/>
              </a:lnSpc>
            </a:pPr>
            <a:r>
              <a:rPr lang="zh-CN" altLang="en-US" sz="2400" dirty="0">
                <a:solidFill>
                  <a:schemeClr val="tx1"/>
                </a:solidFill>
                <a:cs typeface="Arial" panose="020B0604020202020204" pitchFamily="34" charset="0"/>
              </a:rPr>
              <a:t>点击</a:t>
            </a:r>
            <a:r>
              <a:rPr lang="en-US" altLang="zh-CN" sz="2400" dirty="0">
                <a:solidFill>
                  <a:schemeClr val="tx1"/>
                </a:solidFill>
                <a:cs typeface="Arial" panose="020B0604020202020204" pitchFamily="34" charset="0"/>
              </a:rPr>
              <a:t>Run Tungsten Command</a:t>
            </a:r>
            <a:r>
              <a:rPr lang="zh-CN" altLang="en-US" sz="2400" dirty="0">
                <a:solidFill>
                  <a:schemeClr val="tx1"/>
                </a:solidFill>
                <a:cs typeface="Arial" panose="020B0604020202020204" pitchFamily="34" charset="0"/>
              </a:rPr>
              <a:t>，即可按照当前（右侧）配置渲染图像</a:t>
            </a:r>
            <a:endParaRPr lang="en-US" altLang="zh-CN" sz="2400" dirty="0">
              <a:cs typeface="Arial" panose="020B0604020202020204" pitchFamily="34" charset="0"/>
            </a:endParaRPr>
          </a:p>
          <a:p>
            <a:pPr>
              <a:lnSpc>
                <a:spcPct val="145000"/>
              </a:lnSpc>
            </a:pPr>
            <a:r>
              <a:rPr lang="zh-CN" altLang="en-US" sz="2400" dirty="0">
                <a:solidFill>
                  <a:schemeClr val="tx1"/>
                </a:solidFill>
                <a:cs typeface="Arial" panose="020B0604020202020204" pitchFamily="34" charset="0"/>
              </a:rPr>
              <a:t>点击</a:t>
            </a:r>
            <a:r>
              <a:rPr lang="en-US" altLang="zh-CN" sz="2400" dirty="0">
                <a:solidFill>
                  <a:schemeClr val="tx1"/>
                </a:solidFill>
                <a:cs typeface="Arial" panose="020B0604020202020204" pitchFamily="34" charset="0"/>
              </a:rPr>
              <a:t>Open Image</a:t>
            </a:r>
            <a:r>
              <a:rPr lang="zh-CN" altLang="en-US" sz="2400" dirty="0">
                <a:solidFill>
                  <a:schemeClr val="tx1"/>
                </a:solidFill>
                <a:cs typeface="Arial" panose="020B0604020202020204" pitchFamily="34" charset="0"/>
              </a:rPr>
              <a:t>可以自由指定打开图像</a:t>
            </a:r>
            <a:endParaRPr lang="en-US" altLang="zh-CN" sz="2400" dirty="0">
              <a:solidFill>
                <a:schemeClr val="tx1"/>
              </a:solidFill>
              <a:cs typeface="Arial" panose="020B0604020202020204" pitchFamily="34" charset="0"/>
            </a:endParaRPr>
          </a:p>
          <a:p>
            <a:pPr>
              <a:lnSpc>
                <a:spcPct val="145000"/>
              </a:lnSpc>
            </a:pPr>
            <a:r>
              <a:rPr lang="zh-CN" altLang="en-US" sz="2400" dirty="0"/>
              <a:t>最下方区域可展示渲染进度，运行时间，错误提示等输出信息</a:t>
            </a:r>
            <a:endParaRPr lang="en-US" altLang="zh-CN" sz="2400" dirty="0">
              <a:solidFill>
                <a:schemeClr val="tx1"/>
              </a:solidFill>
              <a:cs typeface="Arial" panose="020B0604020202020204" pitchFamily="34" charset="0"/>
            </a:endParaRPr>
          </a:p>
          <a:p>
            <a:pPr>
              <a:lnSpc>
                <a:spcPct val="145000"/>
              </a:lnSpc>
            </a:pPr>
            <a:endParaRPr lang="en-US" altLang="zh-CN" sz="2400" dirty="0">
              <a:solidFill>
                <a:schemeClr val="tx1"/>
              </a:solidFill>
              <a:cs typeface="Arial" panose="020B0604020202020204" pitchFamily="34" charset="0"/>
            </a:endParaRPr>
          </a:p>
        </p:txBody>
      </p:sp>
      <p:pic>
        <p:nvPicPr>
          <p:cNvPr id="8" name="图片 7">
            <a:extLst>
              <a:ext uri="{FF2B5EF4-FFF2-40B4-BE49-F238E27FC236}">
                <a16:creationId xmlns:a16="http://schemas.microsoft.com/office/drawing/2014/main" id="{41412E53-6617-C6EB-A57F-C75131AAC77C}"/>
              </a:ext>
            </a:extLst>
          </p:cNvPr>
          <p:cNvPicPr>
            <a:picLocks noChangeAspect="1"/>
          </p:cNvPicPr>
          <p:nvPr/>
        </p:nvPicPr>
        <p:blipFill>
          <a:blip r:embed="rId2">
            <a:extLst>
              <a:ext uri="{28A0092B-C50C-407E-A947-70E740481C1C}">
                <a14:useLocalDpi xmlns:a14="http://schemas.microsoft.com/office/drawing/2010/main" val="0"/>
              </a:ext>
            </a:extLst>
          </a:blip>
          <a:srcRect r="70152" b="1850"/>
          <a:stretch>
            <a:fillRect/>
          </a:stretch>
        </p:blipFill>
        <p:spPr>
          <a:xfrm>
            <a:off x="7665861" y="272708"/>
            <a:ext cx="3373201" cy="6312583"/>
          </a:xfrm>
          <a:prstGeom prst="rect">
            <a:avLst/>
          </a:prstGeom>
        </p:spPr>
      </p:pic>
    </p:spTree>
    <p:extLst>
      <p:ext uri="{BB962C8B-B14F-4D97-AF65-F5344CB8AC3E}">
        <p14:creationId xmlns:p14="http://schemas.microsoft.com/office/powerpoint/2010/main" val="24016160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A6AD6-E2DF-C6FC-C7BC-5FBEB712E40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0AEADEA-262A-04A8-2579-1FA04E9AD2FC}"/>
              </a:ext>
            </a:extLst>
          </p:cNvPr>
          <p:cNvSpPr>
            <a:spLocks noGrp="1"/>
          </p:cNvSpPr>
          <p:nvPr>
            <p:ph type="title"/>
          </p:nvPr>
        </p:nvSpPr>
        <p:spPr>
          <a:noFill/>
        </p:spPr>
        <p:txBody>
          <a:bodyPr/>
          <a:lstStyle/>
          <a:p>
            <a:r>
              <a:rPr lang="zh-CN" altLang="en-US" b="1" dirty="0"/>
              <a:t>使用方法</a:t>
            </a:r>
            <a:r>
              <a:rPr lang="en-US" altLang="zh-CN" b="1" dirty="0"/>
              <a:t>-</a:t>
            </a:r>
            <a:r>
              <a:rPr lang="zh-CN" altLang="en-US" b="1" dirty="0"/>
              <a:t>详情界面</a:t>
            </a:r>
            <a:endParaRPr lang="zh-CN" altLang="en-US" dirty="0"/>
          </a:p>
        </p:txBody>
      </p:sp>
      <p:sp>
        <p:nvSpPr>
          <p:cNvPr id="5" name="内容占位符 4">
            <a:extLst>
              <a:ext uri="{FF2B5EF4-FFF2-40B4-BE49-F238E27FC236}">
                <a16:creationId xmlns:a16="http://schemas.microsoft.com/office/drawing/2014/main" id="{E86D4D30-C9BE-B0BA-C0E5-F2B13B697AA7}"/>
              </a:ext>
            </a:extLst>
          </p:cNvPr>
          <p:cNvSpPr>
            <a:spLocks noGrp="1"/>
          </p:cNvSpPr>
          <p:nvPr>
            <p:ph idx="1"/>
          </p:nvPr>
        </p:nvSpPr>
        <p:spPr>
          <a:xfrm>
            <a:off x="704427" y="1690688"/>
            <a:ext cx="3682042" cy="4351338"/>
          </a:xfrm>
        </p:spPr>
        <p:txBody>
          <a:bodyPr>
            <a:noAutofit/>
          </a:bodyPr>
          <a:lstStyle/>
          <a:p>
            <a:pPr>
              <a:lnSpc>
                <a:spcPct val="145000"/>
              </a:lnSpc>
            </a:pPr>
            <a:r>
              <a:rPr lang="zh-CN" altLang="en-US" sz="2400" dirty="0">
                <a:cs typeface="Arial" panose="020B0604020202020204" pitchFamily="34" charset="0"/>
              </a:rPr>
              <a:t>中间和右侧区提供可调控的多种参数，具体作用将在后续详细介绍</a:t>
            </a:r>
            <a:endParaRPr lang="en-US" altLang="zh-CN" sz="2400" dirty="0">
              <a:cs typeface="Arial" panose="020B0604020202020204" pitchFamily="34" charset="0"/>
            </a:endParaRPr>
          </a:p>
          <a:p>
            <a:pPr>
              <a:lnSpc>
                <a:spcPct val="145000"/>
              </a:lnSpc>
            </a:pPr>
            <a:r>
              <a:rPr lang="zh-CN" altLang="en-US" sz="2400" dirty="0">
                <a:solidFill>
                  <a:schemeClr val="tx1"/>
                </a:solidFill>
                <a:cs typeface="Arial" panose="020B0604020202020204" pitchFamily="34" charset="0"/>
              </a:rPr>
              <a:t>初次打开时均显示当前系统的默认设置</a:t>
            </a:r>
            <a:endParaRPr lang="en-US" altLang="zh-CN" sz="2400" dirty="0">
              <a:solidFill>
                <a:schemeClr val="tx1"/>
              </a:solidFill>
              <a:cs typeface="Arial" panose="020B0604020202020204" pitchFamily="34" charset="0"/>
            </a:endParaRPr>
          </a:p>
        </p:txBody>
      </p:sp>
      <p:pic>
        <p:nvPicPr>
          <p:cNvPr id="8" name="图片 7">
            <a:extLst>
              <a:ext uri="{FF2B5EF4-FFF2-40B4-BE49-F238E27FC236}">
                <a16:creationId xmlns:a16="http://schemas.microsoft.com/office/drawing/2014/main" id="{FB2CFDA9-4787-191E-09F1-33CAB41B84B6}"/>
              </a:ext>
            </a:extLst>
          </p:cNvPr>
          <p:cNvPicPr>
            <a:picLocks noChangeAspect="1"/>
          </p:cNvPicPr>
          <p:nvPr/>
        </p:nvPicPr>
        <p:blipFill>
          <a:blip r:embed="rId2">
            <a:extLst>
              <a:ext uri="{28A0092B-C50C-407E-A947-70E740481C1C}">
                <a14:useLocalDpi xmlns:a14="http://schemas.microsoft.com/office/drawing/2010/main" val="0"/>
              </a:ext>
            </a:extLst>
          </a:blip>
          <a:srcRect l="29433" t="1855" r="850" b="9051"/>
          <a:stretch>
            <a:fillRect/>
          </a:stretch>
        </p:blipFill>
        <p:spPr>
          <a:xfrm>
            <a:off x="4453982" y="1371607"/>
            <a:ext cx="7187467" cy="5227286"/>
          </a:xfrm>
          <a:prstGeom prst="rect">
            <a:avLst/>
          </a:prstGeom>
        </p:spPr>
      </p:pic>
    </p:spTree>
    <p:extLst>
      <p:ext uri="{BB962C8B-B14F-4D97-AF65-F5344CB8AC3E}">
        <p14:creationId xmlns:p14="http://schemas.microsoft.com/office/powerpoint/2010/main" val="19938502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68F0A-A8A5-6842-5774-0F7B5791713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46D49C6-D202-ECA8-F96D-94680C49EDF2}"/>
              </a:ext>
            </a:extLst>
          </p:cNvPr>
          <p:cNvSpPr>
            <a:spLocks noGrp="1"/>
          </p:cNvSpPr>
          <p:nvPr>
            <p:ph type="title"/>
          </p:nvPr>
        </p:nvSpPr>
        <p:spPr>
          <a:noFill/>
        </p:spPr>
        <p:txBody>
          <a:bodyPr/>
          <a:lstStyle/>
          <a:p>
            <a:r>
              <a:rPr lang="zh-CN" altLang="en-US" b="1" dirty="0"/>
              <a:t>使用方法</a:t>
            </a:r>
            <a:r>
              <a:rPr lang="en-US" altLang="zh-CN" b="1" dirty="0"/>
              <a:t>-Media</a:t>
            </a:r>
            <a:endParaRPr lang="zh-CN" altLang="en-US" dirty="0"/>
          </a:p>
        </p:txBody>
      </p:sp>
      <p:sp>
        <p:nvSpPr>
          <p:cNvPr id="5" name="内容占位符 4">
            <a:extLst>
              <a:ext uri="{FF2B5EF4-FFF2-40B4-BE49-F238E27FC236}">
                <a16:creationId xmlns:a16="http://schemas.microsoft.com/office/drawing/2014/main" id="{8CF5F5EB-1BA9-A167-9307-16CDB527D823}"/>
              </a:ext>
            </a:extLst>
          </p:cNvPr>
          <p:cNvSpPr>
            <a:spLocks noGrp="1"/>
          </p:cNvSpPr>
          <p:nvPr>
            <p:ph idx="1"/>
          </p:nvPr>
        </p:nvSpPr>
        <p:spPr>
          <a:xfrm>
            <a:off x="704427" y="1385886"/>
            <a:ext cx="5802390" cy="4351338"/>
          </a:xfrm>
        </p:spPr>
        <p:txBody>
          <a:bodyPr>
            <a:noAutofit/>
          </a:bodyPr>
          <a:lstStyle/>
          <a:p>
            <a:pPr>
              <a:lnSpc>
                <a:spcPct val="145000"/>
              </a:lnSpc>
            </a:pPr>
            <a:r>
              <a:rPr lang="en-US" altLang="zh-CN" sz="2400" dirty="0">
                <a:solidFill>
                  <a:schemeClr val="tx1"/>
                </a:solidFill>
                <a:cs typeface="Arial" panose="020B0604020202020204" pitchFamily="34" charset="0"/>
              </a:rPr>
              <a:t>Sample Points</a:t>
            </a:r>
            <a:r>
              <a:rPr lang="zh-CN" altLang="en-US" sz="2400" dirty="0">
                <a:solidFill>
                  <a:schemeClr val="tx1"/>
                </a:solidFill>
                <a:cs typeface="Arial" panose="020B0604020202020204" pitchFamily="34" charset="0"/>
              </a:rPr>
              <a:t>：采样点数。数值越高，渲染噪声越小，但计算时间增加</a:t>
            </a:r>
            <a:endParaRPr lang="en-US" altLang="zh-CN" sz="2400" dirty="0">
              <a:solidFill>
                <a:schemeClr val="tx1"/>
              </a:solidFill>
              <a:cs typeface="Arial" panose="020B0604020202020204" pitchFamily="34" charset="0"/>
            </a:endParaRPr>
          </a:p>
          <a:p>
            <a:pPr>
              <a:lnSpc>
                <a:spcPct val="145000"/>
              </a:lnSpc>
            </a:pPr>
            <a:r>
              <a:rPr lang="en-US" altLang="zh-CN" sz="2400" dirty="0">
                <a:cs typeface="Arial" panose="020B0604020202020204" pitchFamily="34" charset="0"/>
              </a:rPr>
              <a:t>Step Size Cov</a:t>
            </a:r>
            <a:r>
              <a:rPr lang="zh-CN" altLang="en-US" sz="2400" dirty="0">
                <a:cs typeface="Arial" panose="020B0604020202020204" pitchFamily="34" charset="0"/>
              </a:rPr>
              <a:t>：步长协方差</a:t>
            </a:r>
            <a:endParaRPr lang="en-US" altLang="zh-CN" sz="2400" dirty="0">
              <a:cs typeface="Arial" panose="020B0604020202020204" pitchFamily="34" charset="0"/>
            </a:endParaRPr>
          </a:p>
          <a:p>
            <a:pPr>
              <a:lnSpc>
                <a:spcPct val="145000"/>
              </a:lnSpc>
            </a:pPr>
            <a:r>
              <a:rPr lang="en-US" altLang="zh-CN" sz="2400" dirty="0">
                <a:solidFill>
                  <a:schemeClr val="tx1"/>
                </a:solidFill>
                <a:cs typeface="Arial" panose="020B0604020202020204" pitchFamily="34" charset="0"/>
              </a:rPr>
              <a:t>Phase Function </a:t>
            </a:r>
            <a:r>
              <a:rPr lang="en-US" altLang="zh-CN" sz="2400" dirty="0" err="1">
                <a:solidFill>
                  <a:schemeClr val="tx1"/>
                </a:solidFill>
                <a:cs typeface="Arial" panose="020B0604020202020204" pitchFamily="34" charset="0"/>
              </a:rPr>
              <a:t>Bsdf</a:t>
            </a:r>
            <a:r>
              <a:rPr lang="en-US" altLang="zh-CN" sz="2400" dirty="0">
                <a:solidFill>
                  <a:schemeClr val="tx1"/>
                </a:solidFill>
                <a:cs typeface="Arial" panose="020B0604020202020204" pitchFamily="34" charset="0"/>
              </a:rPr>
              <a:t> Type</a:t>
            </a:r>
            <a:r>
              <a:rPr lang="zh-CN" altLang="en-US" sz="2400" dirty="0">
                <a:solidFill>
                  <a:schemeClr val="tx1"/>
                </a:solidFill>
                <a:cs typeface="Arial" panose="020B0604020202020204" pitchFamily="34" charset="0"/>
              </a:rPr>
              <a:t>：相函数类型</a:t>
            </a:r>
            <a:endParaRPr lang="en-US" altLang="zh-CN" sz="2400" dirty="0">
              <a:solidFill>
                <a:schemeClr val="tx1"/>
              </a:solidFill>
              <a:cs typeface="Arial" panose="020B0604020202020204" pitchFamily="34" charset="0"/>
            </a:endParaRPr>
          </a:p>
          <a:p>
            <a:pPr lvl="1">
              <a:lnSpc>
                <a:spcPct val="145000"/>
              </a:lnSpc>
            </a:pPr>
            <a:r>
              <a:rPr lang="en-US" altLang="zh-CN" dirty="0">
                <a:cs typeface="Arial" panose="020B0604020202020204" pitchFamily="34" charset="0"/>
              </a:rPr>
              <a:t>Mirror</a:t>
            </a:r>
            <a:r>
              <a:rPr lang="zh-CN" altLang="en-US" dirty="0">
                <a:cs typeface="Arial" panose="020B0604020202020204" pitchFamily="34" charset="0"/>
              </a:rPr>
              <a:t>：镜面反射</a:t>
            </a:r>
            <a:endParaRPr lang="en-US" altLang="zh-CN" dirty="0">
              <a:cs typeface="Arial" panose="020B0604020202020204" pitchFamily="34" charset="0"/>
            </a:endParaRPr>
          </a:p>
          <a:p>
            <a:pPr lvl="1">
              <a:lnSpc>
                <a:spcPct val="145000"/>
              </a:lnSpc>
            </a:pPr>
            <a:r>
              <a:rPr lang="en-US" altLang="zh-CN" dirty="0">
                <a:solidFill>
                  <a:schemeClr val="tx1"/>
                </a:solidFill>
                <a:cs typeface="Arial" panose="020B0604020202020204" pitchFamily="34" charset="0"/>
              </a:rPr>
              <a:t>Lambert</a:t>
            </a:r>
            <a:r>
              <a:rPr lang="zh-CN" altLang="en-US" dirty="0">
                <a:solidFill>
                  <a:schemeClr val="tx1"/>
                </a:solidFill>
                <a:cs typeface="Arial" panose="020B0604020202020204" pitchFamily="34" charset="0"/>
              </a:rPr>
              <a:t>：漫反射</a:t>
            </a:r>
            <a:endParaRPr lang="en-US" altLang="zh-CN" dirty="0">
              <a:solidFill>
                <a:schemeClr val="tx1"/>
              </a:solidFill>
              <a:cs typeface="Arial" panose="020B0604020202020204" pitchFamily="34" charset="0"/>
            </a:endParaRPr>
          </a:p>
          <a:p>
            <a:pPr>
              <a:lnSpc>
                <a:spcPct val="145000"/>
              </a:lnSpc>
            </a:pPr>
            <a:r>
              <a:rPr lang="en-US" altLang="zh-CN" sz="2400" dirty="0">
                <a:cs typeface="Arial" panose="020B0604020202020204" pitchFamily="34" charset="0"/>
              </a:rPr>
              <a:t>Normal Method</a:t>
            </a:r>
            <a:r>
              <a:rPr lang="zh-CN" altLang="en-US" sz="2400" dirty="0">
                <a:cs typeface="Arial" panose="020B0604020202020204" pitchFamily="34" charset="0"/>
              </a:rPr>
              <a:t>：法线生成方向</a:t>
            </a:r>
            <a:endParaRPr lang="en-US" altLang="zh-CN" sz="2400" dirty="0">
              <a:cs typeface="Arial" panose="020B0604020202020204" pitchFamily="34" charset="0"/>
            </a:endParaRPr>
          </a:p>
          <a:p>
            <a:pPr lvl="1">
              <a:lnSpc>
                <a:spcPct val="145000"/>
              </a:lnSpc>
            </a:pPr>
            <a:r>
              <a:rPr lang="en-US" altLang="zh-CN" dirty="0" err="1"/>
              <a:t>conditioned_gaussian</a:t>
            </a:r>
            <a:r>
              <a:rPr lang="en-US" altLang="zh-CN" dirty="0"/>
              <a:t>: </a:t>
            </a:r>
            <a:r>
              <a:rPr lang="zh-CN" altLang="en-US" dirty="0"/>
              <a:t>条件高斯分布</a:t>
            </a:r>
            <a:endParaRPr lang="en-US" altLang="zh-CN" dirty="0">
              <a:cs typeface="Arial" panose="020B0604020202020204" pitchFamily="34" charset="0"/>
            </a:endParaRPr>
          </a:p>
          <a:p>
            <a:pPr lvl="1">
              <a:lnSpc>
                <a:spcPct val="145000"/>
              </a:lnSpc>
            </a:pPr>
            <a:endParaRPr lang="en-US" altLang="zh-CN" dirty="0">
              <a:solidFill>
                <a:schemeClr val="tx1"/>
              </a:solidFill>
              <a:cs typeface="Arial" panose="020B0604020202020204" pitchFamily="34" charset="0"/>
            </a:endParaRPr>
          </a:p>
        </p:txBody>
      </p:sp>
      <p:pic>
        <p:nvPicPr>
          <p:cNvPr id="3" name="图片 2">
            <a:extLst>
              <a:ext uri="{FF2B5EF4-FFF2-40B4-BE49-F238E27FC236}">
                <a16:creationId xmlns:a16="http://schemas.microsoft.com/office/drawing/2014/main" id="{B21DA022-C65A-819A-F4F8-67FA50A03E39}"/>
              </a:ext>
            </a:extLst>
          </p:cNvPr>
          <p:cNvPicPr>
            <a:picLocks noChangeAspect="1"/>
          </p:cNvPicPr>
          <p:nvPr/>
        </p:nvPicPr>
        <p:blipFill>
          <a:blip r:embed="rId2">
            <a:extLst>
              <a:ext uri="{28A0092B-C50C-407E-A947-70E740481C1C}">
                <a14:useLocalDpi xmlns:a14="http://schemas.microsoft.com/office/drawing/2010/main" val="0"/>
              </a:ext>
            </a:extLst>
          </a:blip>
          <a:srcRect t="1" b="71135"/>
          <a:stretch>
            <a:fillRect/>
          </a:stretch>
        </p:blipFill>
        <p:spPr>
          <a:xfrm>
            <a:off x="6900546" y="1278229"/>
            <a:ext cx="4679793" cy="2909458"/>
          </a:xfrm>
          <a:prstGeom prst="rect">
            <a:avLst/>
          </a:prstGeom>
        </p:spPr>
      </p:pic>
    </p:spTree>
    <p:extLst>
      <p:ext uri="{BB962C8B-B14F-4D97-AF65-F5344CB8AC3E}">
        <p14:creationId xmlns:p14="http://schemas.microsoft.com/office/powerpoint/2010/main" val="4525256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62D63-9168-8771-3964-61AF6770862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5B1C4DB-6DFF-E6B8-0074-777B91D9754F}"/>
              </a:ext>
            </a:extLst>
          </p:cNvPr>
          <p:cNvSpPr>
            <a:spLocks noGrp="1"/>
          </p:cNvSpPr>
          <p:nvPr>
            <p:ph type="title"/>
          </p:nvPr>
        </p:nvSpPr>
        <p:spPr>
          <a:noFill/>
        </p:spPr>
        <p:txBody>
          <a:bodyPr/>
          <a:lstStyle/>
          <a:p>
            <a:r>
              <a:rPr lang="zh-CN" altLang="en-US" b="1" dirty="0"/>
              <a:t>使用方法</a:t>
            </a:r>
            <a:r>
              <a:rPr lang="en-US" altLang="zh-CN" b="1" dirty="0"/>
              <a:t>-Media</a:t>
            </a:r>
            <a:endParaRPr lang="zh-CN" altLang="en-US" dirty="0"/>
          </a:p>
        </p:txBody>
      </p:sp>
      <p:sp>
        <p:nvSpPr>
          <p:cNvPr id="5" name="内容占位符 4">
            <a:extLst>
              <a:ext uri="{FF2B5EF4-FFF2-40B4-BE49-F238E27FC236}">
                <a16:creationId xmlns:a16="http://schemas.microsoft.com/office/drawing/2014/main" id="{810CDAD6-48E0-71F6-6827-BCBAC0922B7F}"/>
              </a:ext>
            </a:extLst>
          </p:cNvPr>
          <p:cNvSpPr>
            <a:spLocks noGrp="1"/>
          </p:cNvSpPr>
          <p:nvPr>
            <p:ph idx="1"/>
          </p:nvPr>
        </p:nvSpPr>
        <p:spPr>
          <a:xfrm>
            <a:off x="704427" y="1478654"/>
            <a:ext cx="5775886" cy="4351338"/>
          </a:xfrm>
        </p:spPr>
        <p:txBody>
          <a:bodyPr>
            <a:noAutofit/>
          </a:bodyPr>
          <a:lstStyle/>
          <a:p>
            <a:pPr>
              <a:lnSpc>
                <a:spcPct val="145000"/>
              </a:lnSpc>
            </a:pPr>
            <a:r>
              <a:rPr lang="en-US" altLang="zh-CN" sz="2400" dirty="0">
                <a:solidFill>
                  <a:schemeClr val="tx1"/>
                </a:solidFill>
                <a:cs typeface="Arial" panose="020B0604020202020204" pitchFamily="34" charset="0"/>
              </a:rPr>
              <a:t>Memory Model</a:t>
            </a:r>
            <a:r>
              <a:rPr lang="zh-CN" altLang="en-US" sz="2400" dirty="0">
                <a:solidFill>
                  <a:schemeClr val="tx1"/>
                </a:solidFill>
                <a:cs typeface="Arial" panose="020B0604020202020204" pitchFamily="34" charset="0"/>
              </a:rPr>
              <a:t>：记忆模型</a:t>
            </a:r>
            <a:endParaRPr lang="en-US" altLang="zh-CN" sz="2400" dirty="0">
              <a:solidFill>
                <a:schemeClr val="tx1"/>
              </a:solidFill>
              <a:cs typeface="Arial" panose="020B0604020202020204" pitchFamily="34" charset="0"/>
            </a:endParaRPr>
          </a:p>
          <a:p>
            <a:pPr lvl="1">
              <a:lnSpc>
                <a:spcPct val="145000"/>
              </a:lnSpc>
            </a:pPr>
            <a:r>
              <a:rPr lang="en-US" altLang="zh-CN" dirty="0">
                <a:solidFill>
                  <a:schemeClr val="tx1"/>
                </a:solidFill>
                <a:cs typeface="Arial" panose="020B0604020202020204" pitchFamily="34" charset="0"/>
              </a:rPr>
              <a:t>Global-n</a:t>
            </a:r>
            <a:r>
              <a:rPr lang="zh-CN" altLang="en-US" dirty="0">
                <a:solidFill>
                  <a:schemeClr val="tx1"/>
                </a:solidFill>
                <a:cs typeface="Arial" panose="020B0604020202020204" pitchFamily="34" charset="0"/>
              </a:rPr>
              <a:t>：</a:t>
            </a:r>
            <a:r>
              <a:rPr lang="zh-CN" altLang="en-US" dirty="0"/>
              <a:t>在采样过程中动态扩展梯度数组，条件采样阶段使用全部历史数据参与协方差矩阵的构建</a:t>
            </a:r>
            <a:endParaRPr lang="en-US" altLang="zh-CN" dirty="0">
              <a:solidFill>
                <a:schemeClr val="tx1"/>
              </a:solidFill>
              <a:cs typeface="Arial" panose="020B0604020202020204" pitchFamily="34" charset="0"/>
            </a:endParaRPr>
          </a:p>
          <a:p>
            <a:pPr lvl="1">
              <a:lnSpc>
                <a:spcPct val="145000"/>
              </a:lnSpc>
            </a:pPr>
            <a:r>
              <a:rPr lang="en-US" altLang="zh-CN" dirty="0">
                <a:cs typeface="Arial" panose="020B0604020202020204" pitchFamily="34" charset="0"/>
              </a:rPr>
              <a:t>Renewal</a:t>
            </a:r>
            <a:r>
              <a:rPr lang="zh-CN" altLang="en-US" dirty="0">
                <a:cs typeface="Arial" panose="020B0604020202020204" pitchFamily="34" charset="0"/>
              </a:rPr>
              <a:t>：只保留最近一个采样值，并以此为条件点进行采样</a:t>
            </a:r>
            <a:endParaRPr lang="en-US" altLang="zh-CN" dirty="0">
              <a:cs typeface="Arial" panose="020B0604020202020204" pitchFamily="34" charset="0"/>
            </a:endParaRPr>
          </a:p>
          <a:p>
            <a:pPr lvl="1">
              <a:lnSpc>
                <a:spcPct val="145000"/>
              </a:lnSpc>
            </a:pPr>
            <a:r>
              <a:rPr lang="en-US" altLang="zh-CN" dirty="0">
                <a:solidFill>
                  <a:schemeClr val="tx1"/>
                </a:solidFill>
                <a:cs typeface="Arial" panose="020B0604020202020204" pitchFamily="34" charset="0"/>
              </a:rPr>
              <a:t>Renewal+</a:t>
            </a:r>
            <a:r>
              <a:rPr lang="zh-CN" altLang="en-US" dirty="0">
                <a:cs typeface="Arial" panose="020B0604020202020204" pitchFamily="34" charset="0"/>
              </a:rPr>
              <a:t>：引入更多信息，</a:t>
            </a:r>
            <a:r>
              <a:rPr lang="zh-CN" altLang="en-US" dirty="0"/>
              <a:t>例如采样值及其对应的法线方向导数，条件采样时同时考虑位置与方向性</a:t>
            </a:r>
            <a:endParaRPr lang="en-US" altLang="zh-CN" dirty="0">
              <a:solidFill>
                <a:schemeClr val="tx1"/>
              </a:solidFill>
              <a:cs typeface="Arial" panose="020B0604020202020204" pitchFamily="34" charset="0"/>
            </a:endParaRPr>
          </a:p>
        </p:txBody>
      </p:sp>
      <p:pic>
        <p:nvPicPr>
          <p:cNvPr id="4" name="图片 3">
            <a:extLst>
              <a:ext uri="{FF2B5EF4-FFF2-40B4-BE49-F238E27FC236}">
                <a16:creationId xmlns:a16="http://schemas.microsoft.com/office/drawing/2014/main" id="{9941212E-3797-CEA0-5632-5B1910B0A45E}"/>
              </a:ext>
            </a:extLst>
          </p:cNvPr>
          <p:cNvPicPr>
            <a:picLocks noChangeAspect="1"/>
          </p:cNvPicPr>
          <p:nvPr/>
        </p:nvPicPr>
        <p:blipFill>
          <a:blip r:embed="rId2">
            <a:extLst>
              <a:ext uri="{28A0092B-C50C-407E-A947-70E740481C1C}">
                <a14:useLocalDpi xmlns:a14="http://schemas.microsoft.com/office/drawing/2010/main" val="0"/>
              </a:ext>
            </a:extLst>
          </a:blip>
          <a:srcRect t="1" b="71135"/>
          <a:stretch>
            <a:fillRect/>
          </a:stretch>
        </p:blipFill>
        <p:spPr>
          <a:xfrm>
            <a:off x="6807780" y="1583029"/>
            <a:ext cx="4679793" cy="2909458"/>
          </a:xfrm>
          <a:prstGeom prst="rect">
            <a:avLst/>
          </a:prstGeom>
        </p:spPr>
      </p:pic>
    </p:spTree>
    <p:extLst>
      <p:ext uri="{BB962C8B-B14F-4D97-AF65-F5344CB8AC3E}">
        <p14:creationId xmlns:p14="http://schemas.microsoft.com/office/powerpoint/2010/main" val="22206546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C53CA-FC92-2F74-8747-AC8FDAC9A0B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500913F-B6FD-B4FD-C3B4-DEAD0745C993}"/>
              </a:ext>
            </a:extLst>
          </p:cNvPr>
          <p:cNvSpPr>
            <a:spLocks noGrp="1"/>
          </p:cNvSpPr>
          <p:nvPr>
            <p:ph type="title"/>
          </p:nvPr>
        </p:nvSpPr>
        <p:spPr>
          <a:noFill/>
        </p:spPr>
        <p:txBody>
          <a:bodyPr/>
          <a:lstStyle/>
          <a:p>
            <a:r>
              <a:rPr lang="zh-CN" altLang="en-US" b="1" dirty="0"/>
              <a:t>使用方法</a:t>
            </a:r>
            <a:r>
              <a:rPr lang="en-US" altLang="zh-CN" b="1" dirty="0"/>
              <a:t>-Media</a:t>
            </a:r>
            <a:endParaRPr lang="zh-CN" altLang="en-US" dirty="0"/>
          </a:p>
        </p:txBody>
      </p:sp>
      <p:sp>
        <p:nvSpPr>
          <p:cNvPr id="5" name="内容占位符 4">
            <a:extLst>
              <a:ext uri="{FF2B5EF4-FFF2-40B4-BE49-F238E27FC236}">
                <a16:creationId xmlns:a16="http://schemas.microsoft.com/office/drawing/2014/main" id="{76817FEA-2B22-0BD4-7AE2-4C175655ECC5}"/>
              </a:ext>
            </a:extLst>
          </p:cNvPr>
          <p:cNvSpPr>
            <a:spLocks noGrp="1"/>
          </p:cNvSpPr>
          <p:nvPr>
            <p:ph idx="1"/>
          </p:nvPr>
        </p:nvSpPr>
        <p:spPr>
          <a:xfrm>
            <a:off x="704426" y="1690688"/>
            <a:ext cx="5815643" cy="4351338"/>
          </a:xfrm>
        </p:spPr>
        <p:txBody>
          <a:bodyPr>
            <a:noAutofit/>
          </a:bodyPr>
          <a:lstStyle/>
          <a:p>
            <a:pPr>
              <a:lnSpc>
                <a:spcPct val="145000"/>
              </a:lnSpc>
            </a:pPr>
            <a:r>
              <a:rPr lang="en-US" altLang="zh-CN" sz="2400" dirty="0">
                <a:solidFill>
                  <a:schemeClr val="tx1"/>
                </a:solidFill>
                <a:cs typeface="Arial" panose="020B0604020202020204" pitchFamily="34" charset="0"/>
              </a:rPr>
              <a:t>Mean</a:t>
            </a:r>
            <a:r>
              <a:rPr lang="zh-CN" altLang="en-US" sz="2400" dirty="0">
                <a:solidFill>
                  <a:schemeClr val="tx1"/>
                </a:solidFill>
                <a:cs typeface="Arial" panose="020B0604020202020204" pitchFamily="34" charset="0"/>
              </a:rPr>
              <a:t>：均值</a:t>
            </a:r>
            <a:endParaRPr lang="en-US" altLang="zh-CN" sz="2400" dirty="0">
              <a:solidFill>
                <a:schemeClr val="tx1"/>
              </a:solidFill>
              <a:cs typeface="Arial" panose="020B0604020202020204" pitchFamily="34" charset="0"/>
            </a:endParaRPr>
          </a:p>
          <a:p>
            <a:pPr lvl="1">
              <a:lnSpc>
                <a:spcPct val="145000"/>
              </a:lnSpc>
            </a:pPr>
            <a:r>
              <a:rPr lang="en-US" altLang="zh-CN" dirty="0">
                <a:cs typeface="Arial" panose="020B0604020202020204" pitchFamily="34" charset="0"/>
              </a:rPr>
              <a:t>Type</a:t>
            </a:r>
            <a:r>
              <a:rPr lang="zh-CN" altLang="en-US" dirty="0">
                <a:cs typeface="Arial" panose="020B0604020202020204" pitchFamily="34" charset="0"/>
              </a:rPr>
              <a:t>：种类：</a:t>
            </a:r>
            <a:r>
              <a:rPr lang="en-US" altLang="zh-CN" dirty="0" err="1">
                <a:cs typeface="Arial" panose="020B0604020202020204" pitchFamily="34" charset="0"/>
              </a:rPr>
              <a:t>Procdural</a:t>
            </a:r>
            <a:r>
              <a:rPr lang="zh-CN" altLang="en-US" dirty="0">
                <a:cs typeface="Arial" panose="020B0604020202020204" pitchFamily="34" charset="0"/>
              </a:rPr>
              <a:t>：过程化</a:t>
            </a:r>
            <a:endParaRPr lang="en-US" altLang="zh-CN" dirty="0">
              <a:cs typeface="Arial" panose="020B0604020202020204" pitchFamily="34" charset="0"/>
            </a:endParaRPr>
          </a:p>
          <a:p>
            <a:pPr lvl="2">
              <a:lnSpc>
                <a:spcPct val="145000"/>
              </a:lnSpc>
            </a:pPr>
            <a:r>
              <a:rPr lang="en-US" altLang="zh-CN" sz="2400" dirty="0">
                <a:cs typeface="Arial" panose="020B0604020202020204" pitchFamily="34" charset="0"/>
              </a:rPr>
              <a:t>Position / Scale / Rotation: </a:t>
            </a:r>
            <a:r>
              <a:rPr lang="zh-CN" altLang="en-US" sz="2400" dirty="0">
                <a:cs typeface="Arial" panose="020B0604020202020204" pitchFamily="34" charset="0"/>
              </a:rPr>
              <a:t>这三者构成了仿射变换，定义了介质或随机场在 </a:t>
            </a:r>
            <a:r>
              <a:rPr lang="en-US" altLang="zh-CN" sz="2400" dirty="0">
                <a:cs typeface="Arial" panose="020B0604020202020204" pitchFamily="34" charset="0"/>
              </a:rPr>
              <a:t>3D </a:t>
            </a:r>
            <a:r>
              <a:rPr lang="zh-CN" altLang="en-US" sz="2400" dirty="0">
                <a:cs typeface="Arial" panose="020B0604020202020204" pitchFamily="34" charset="0"/>
              </a:rPr>
              <a:t>空间中的具体位置、大小缩放和旋转角度</a:t>
            </a:r>
            <a:endParaRPr lang="en-US" altLang="zh-CN" dirty="0">
              <a:cs typeface="Arial" panose="020B0604020202020204" pitchFamily="34" charset="0"/>
            </a:endParaRPr>
          </a:p>
        </p:txBody>
      </p:sp>
      <p:pic>
        <p:nvPicPr>
          <p:cNvPr id="3" name="图片 2">
            <a:extLst>
              <a:ext uri="{FF2B5EF4-FFF2-40B4-BE49-F238E27FC236}">
                <a16:creationId xmlns:a16="http://schemas.microsoft.com/office/drawing/2014/main" id="{DDE6A8BA-677D-53C2-DB24-967E2EE0C4F4}"/>
              </a:ext>
            </a:extLst>
          </p:cNvPr>
          <p:cNvPicPr>
            <a:picLocks noChangeAspect="1"/>
          </p:cNvPicPr>
          <p:nvPr/>
        </p:nvPicPr>
        <p:blipFill>
          <a:blip r:embed="rId2">
            <a:extLst>
              <a:ext uri="{28A0092B-C50C-407E-A947-70E740481C1C}">
                <a14:useLocalDpi xmlns:a14="http://schemas.microsoft.com/office/drawing/2010/main" val="0"/>
              </a:ext>
            </a:extLst>
          </a:blip>
          <a:srcRect t="31725" r="42377" b="54502"/>
          <a:stretch>
            <a:fillRect/>
          </a:stretch>
        </p:blipFill>
        <p:spPr>
          <a:xfrm>
            <a:off x="7023653" y="2186040"/>
            <a:ext cx="4161182" cy="2142233"/>
          </a:xfrm>
          <a:prstGeom prst="rect">
            <a:avLst/>
          </a:prstGeom>
        </p:spPr>
      </p:pic>
    </p:spTree>
    <p:extLst>
      <p:ext uri="{BB962C8B-B14F-4D97-AF65-F5344CB8AC3E}">
        <p14:creationId xmlns:p14="http://schemas.microsoft.com/office/powerpoint/2010/main" val="2460094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09718-39FA-3A1C-A67D-96771F1EF09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0EFD3CA-6AF4-268D-C7E1-FE0EF03EE168}"/>
              </a:ext>
            </a:extLst>
          </p:cNvPr>
          <p:cNvSpPr>
            <a:spLocks noGrp="1"/>
          </p:cNvSpPr>
          <p:nvPr>
            <p:ph type="title"/>
          </p:nvPr>
        </p:nvSpPr>
        <p:spPr>
          <a:noFill/>
        </p:spPr>
        <p:txBody>
          <a:bodyPr/>
          <a:lstStyle/>
          <a:p>
            <a:r>
              <a:rPr lang="zh-CN" altLang="en-US" b="1" dirty="0"/>
              <a:t>使用方法</a:t>
            </a:r>
            <a:r>
              <a:rPr lang="en-US" altLang="zh-CN" b="1" dirty="0"/>
              <a:t>-Media</a:t>
            </a:r>
            <a:endParaRPr lang="zh-CN" altLang="en-US" dirty="0"/>
          </a:p>
        </p:txBody>
      </p:sp>
      <p:sp>
        <p:nvSpPr>
          <p:cNvPr id="5" name="内容占位符 4">
            <a:extLst>
              <a:ext uri="{FF2B5EF4-FFF2-40B4-BE49-F238E27FC236}">
                <a16:creationId xmlns:a16="http://schemas.microsoft.com/office/drawing/2014/main" id="{805E58A1-3B25-48A2-8474-3C645DD9BE3F}"/>
              </a:ext>
            </a:extLst>
          </p:cNvPr>
          <p:cNvSpPr>
            <a:spLocks noGrp="1"/>
          </p:cNvSpPr>
          <p:nvPr>
            <p:ph idx="1"/>
          </p:nvPr>
        </p:nvSpPr>
        <p:spPr>
          <a:xfrm>
            <a:off x="704426" y="1690688"/>
            <a:ext cx="4898841" cy="4351338"/>
          </a:xfrm>
        </p:spPr>
        <p:txBody>
          <a:bodyPr>
            <a:noAutofit/>
          </a:bodyPr>
          <a:lstStyle/>
          <a:p>
            <a:pPr>
              <a:lnSpc>
                <a:spcPct val="145000"/>
              </a:lnSpc>
            </a:pPr>
            <a:r>
              <a:rPr lang="en-US" altLang="zh-CN" sz="2400" dirty="0">
                <a:solidFill>
                  <a:schemeClr val="tx1"/>
                </a:solidFill>
                <a:cs typeface="Arial" panose="020B0604020202020204" pitchFamily="34" charset="0"/>
              </a:rPr>
              <a:t>Mean</a:t>
            </a:r>
            <a:r>
              <a:rPr lang="zh-CN" altLang="en-US" sz="2400" dirty="0">
                <a:solidFill>
                  <a:schemeClr val="tx1"/>
                </a:solidFill>
                <a:cs typeface="Arial" panose="020B0604020202020204" pitchFamily="34" charset="0"/>
              </a:rPr>
              <a:t>：均值</a:t>
            </a:r>
            <a:endParaRPr lang="en-US" altLang="zh-CN" sz="2400" dirty="0">
              <a:solidFill>
                <a:schemeClr val="tx1"/>
              </a:solidFill>
              <a:cs typeface="Arial" panose="020B0604020202020204" pitchFamily="34" charset="0"/>
            </a:endParaRPr>
          </a:p>
          <a:p>
            <a:pPr lvl="1">
              <a:lnSpc>
                <a:spcPct val="145000"/>
              </a:lnSpc>
            </a:pPr>
            <a:r>
              <a:rPr lang="en-US" altLang="zh-CN" dirty="0">
                <a:cs typeface="Arial" panose="020B0604020202020204" pitchFamily="34" charset="0"/>
              </a:rPr>
              <a:t>Type</a:t>
            </a:r>
            <a:r>
              <a:rPr lang="zh-CN" altLang="en-US" dirty="0">
                <a:cs typeface="Arial" panose="020B0604020202020204" pitchFamily="34" charset="0"/>
              </a:rPr>
              <a:t>：种类：</a:t>
            </a:r>
            <a:r>
              <a:rPr lang="en-US" altLang="zh-CN" dirty="0">
                <a:solidFill>
                  <a:schemeClr val="tx1"/>
                </a:solidFill>
                <a:cs typeface="Arial" panose="020B0604020202020204" pitchFamily="34" charset="0"/>
              </a:rPr>
              <a:t>Spherical</a:t>
            </a:r>
            <a:r>
              <a:rPr lang="zh-CN" altLang="en-US" dirty="0">
                <a:solidFill>
                  <a:schemeClr val="tx1"/>
                </a:solidFill>
                <a:cs typeface="Arial" panose="020B0604020202020204" pitchFamily="34" charset="0"/>
              </a:rPr>
              <a:t>：介质的基础形状是一个球体</a:t>
            </a:r>
            <a:endParaRPr lang="en-US" altLang="zh-CN" dirty="0">
              <a:solidFill>
                <a:schemeClr val="tx1"/>
              </a:solidFill>
              <a:cs typeface="Arial" panose="020B0604020202020204" pitchFamily="34" charset="0"/>
            </a:endParaRPr>
          </a:p>
          <a:p>
            <a:pPr lvl="2">
              <a:lnSpc>
                <a:spcPct val="145000"/>
              </a:lnSpc>
            </a:pPr>
            <a:r>
              <a:rPr lang="en-US" altLang="zh-CN" sz="2400" dirty="0">
                <a:solidFill>
                  <a:schemeClr val="tx1"/>
                </a:solidFill>
                <a:cs typeface="Arial" panose="020B0604020202020204" pitchFamily="34" charset="0"/>
              </a:rPr>
              <a:t>Center</a:t>
            </a:r>
            <a:r>
              <a:rPr lang="zh-CN" altLang="en-US" sz="2400" dirty="0">
                <a:solidFill>
                  <a:schemeClr val="tx1"/>
                </a:solidFill>
                <a:cs typeface="Arial" panose="020B0604020202020204" pitchFamily="34" charset="0"/>
              </a:rPr>
              <a:t>：中心点</a:t>
            </a:r>
            <a:endParaRPr lang="en-US" altLang="zh-CN" sz="2400" dirty="0">
              <a:solidFill>
                <a:schemeClr val="tx1"/>
              </a:solidFill>
              <a:cs typeface="Arial" panose="020B0604020202020204" pitchFamily="34" charset="0"/>
            </a:endParaRPr>
          </a:p>
          <a:p>
            <a:pPr lvl="2">
              <a:lnSpc>
                <a:spcPct val="145000"/>
              </a:lnSpc>
            </a:pPr>
            <a:r>
              <a:rPr lang="en-US" altLang="zh-CN" sz="2400" dirty="0">
                <a:cs typeface="Arial" panose="020B0604020202020204" pitchFamily="34" charset="0"/>
              </a:rPr>
              <a:t>Radius</a:t>
            </a:r>
            <a:r>
              <a:rPr lang="zh-CN" altLang="en-US" sz="2400" dirty="0">
                <a:cs typeface="Arial" panose="020B0604020202020204" pitchFamily="34" charset="0"/>
              </a:rPr>
              <a:t>：半径，决定介质范围大小</a:t>
            </a:r>
            <a:endParaRPr lang="en-US" altLang="zh-CN" sz="2400" dirty="0">
              <a:cs typeface="Arial" panose="020B0604020202020204" pitchFamily="34" charset="0"/>
            </a:endParaRPr>
          </a:p>
        </p:txBody>
      </p:sp>
      <p:pic>
        <p:nvPicPr>
          <p:cNvPr id="8" name="图片 7">
            <a:extLst>
              <a:ext uri="{FF2B5EF4-FFF2-40B4-BE49-F238E27FC236}">
                <a16:creationId xmlns:a16="http://schemas.microsoft.com/office/drawing/2014/main" id="{F7AA4B34-3AED-05B4-26DF-D0D8D7DC4857}"/>
              </a:ext>
            </a:extLst>
          </p:cNvPr>
          <p:cNvPicPr>
            <a:picLocks noChangeAspect="1"/>
          </p:cNvPicPr>
          <p:nvPr/>
        </p:nvPicPr>
        <p:blipFill>
          <a:blip r:embed="rId2">
            <a:extLst>
              <a:ext uri="{28A0092B-C50C-407E-A947-70E740481C1C}">
                <a14:useLocalDpi xmlns:a14="http://schemas.microsoft.com/office/drawing/2010/main" val="0"/>
              </a:ext>
            </a:extLst>
          </a:blip>
          <a:srcRect l="28918" t="29603" r="55555" b="58040"/>
          <a:stretch>
            <a:fillRect/>
          </a:stretch>
        </p:blipFill>
        <p:spPr>
          <a:xfrm>
            <a:off x="6096000" y="2074828"/>
            <a:ext cx="4898841" cy="2218875"/>
          </a:xfrm>
          <a:prstGeom prst="rect">
            <a:avLst/>
          </a:prstGeom>
        </p:spPr>
      </p:pic>
    </p:spTree>
    <p:extLst>
      <p:ext uri="{BB962C8B-B14F-4D97-AF65-F5344CB8AC3E}">
        <p14:creationId xmlns:p14="http://schemas.microsoft.com/office/powerpoint/2010/main" val="15813275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76608-265D-91BD-2E06-B4610603601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E3912E1-EBB3-6EFB-682E-9AAE1B9A2DD8}"/>
              </a:ext>
            </a:extLst>
          </p:cNvPr>
          <p:cNvSpPr>
            <a:spLocks noGrp="1"/>
          </p:cNvSpPr>
          <p:nvPr>
            <p:ph type="title"/>
          </p:nvPr>
        </p:nvSpPr>
        <p:spPr>
          <a:noFill/>
        </p:spPr>
        <p:txBody>
          <a:bodyPr/>
          <a:lstStyle/>
          <a:p>
            <a:r>
              <a:rPr lang="zh-CN" altLang="en-US" b="1" dirty="0"/>
              <a:t>使用方法</a:t>
            </a:r>
            <a:r>
              <a:rPr lang="en-US" altLang="zh-CN" b="1" dirty="0"/>
              <a:t>-Media</a:t>
            </a:r>
            <a:endParaRPr lang="zh-CN" altLang="en-US" dirty="0"/>
          </a:p>
        </p:txBody>
      </p:sp>
      <p:sp>
        <p:nvSpPr>
          <p:cNvPr id="5" name="内容占位符 4">
            <a:extLst>
              <a:ext uri="{FF2B5EF4-FFF2-40B4-BE49-F238E27FC236}">
                <a16:creationId xmlns:a16="http://schemas.microsoft.com/office/drawing/2014/main" id="{1E9D8796-8F65-95B0-368C-5DF408434389}"/>
              </a:ext>
            </a:extLst>
          </p:cNvPr>
          <p:cNvSpPr>
            <a:spLocks noGrp="1"/>
          </p:cNvSpPr>
          <p:nvPr>
            <p:ph idx="1"/>
          </p:nvPr>
        </p:nvSpPr>
        <p:spPr>
          <a:xfrm>
            <a:off x="704426" y="1690688"/>
            <a:ext cx="5696373" cy="4351338"/>
          </a:xfrm>
        </p:spPr>
        <p:txBody>
          <a:bodyPr>
            <a:noAutofit/>
          </a:bodyPr>
          <a:lstStyle/>
          <a:p>
            <a:pPr>
              <a:lnSpc>
                <a:spcPct val="145000"/>
              </a:lnSpc>
            </a:pPr>
            <a:r>
              <a:rPr lang="en-US" altLang="zh-CN" sz="2400" dirty="0" err="1">
                <a:solidFill>
                  <a:schemeClr val="tx1"/>
                </a:solidFill>
                <a:cs typeface="Arial" panose="020B0604020202020204" pitchFamily="34" charset="0"/>
              </a:rPr>
              <a:t>Covarience</a:t>
            </a:r>
            <a:r>
              <a:rPr lang="en-US" altLang="zh-CN" sz="2400" dirty="0">
                <a:solidFill>
                  <a:schemeClr val="tx1"/>
                </a:solidFill>
                <a:cs typeface="Arial" panose="020B0604020202020204" pitchFamily="34" charset="0"/>
              </a:rPr>
              <a:t> </a:t>
            </a:r>
            <a:r>
              <a:rPr lang="zh-CN" altLang="en-US" sz="2400" dirty="0">
                <a:solidFill>
                  <a:schemeClr val="tx1"/>
                </a:solidFill>
                <a:cs typeface="Arial" panose="020B0604020202020204" pitchFamily="34" charset="0"/>
              </a:rPr>
              <a:t>协方差</a:t>
            </a:r>
            <a:endParaRPr lang="en-US" altLang="zh-CN" sz="2400" dirty="0">
              <a:solidFill>
                <a:schemeClr val="tx1"/>
              </a:solidFill>
              <a:cs typeface="Arial" panose="020B0604020202020204" pitchFamily="34" charset="0"/>
            </a:endParaRPr>
          </a:p>
          <a:p>
            <a:pPr lvl="1">
              <a:lnSpc>
                <a:spcPct val="145000"/>
              </a:lnSpc>
            </a:pPr>
            <a:r>
              <a:rPr lang="en-US" altLang="zh-CN" dirty="0">
                <a:cs typeface="Arial" panose="020B0604020202020204" pitchFamily="34" charset="0"/>
              </a:rPr>
              <a:t>Type</a:t>
            </a:r>
            <a:r>
              <a:rPr lang="zh-CN" altLang="en-US" dirty="0">
                <a:cs typeface="Arial" panose="020B0604020202020204" pitchFamily="34" charset="0"/>
              </a:rPr>
              <a:t>：种类：</a:t>
            </a:r>
            <a:r>
              <a:rPr lang="en-US" altLang="zh-CN" sz="2400" dirty="0" err="1">
                <a:cs typeface="Arial" panose="020B0604020202020204" pitchFamily="34" charset="0"/>
              </a:rPr>
              <a:t>squared_exponential</a:t>
            </a:r>
            <a:r>
              <a:rPr lang="zh-CN" altLang="en-US" sz="2400" dirty="0">
                <a:cs typeface="Arial" panose="020B0604020202020204" pitchFamily="34" charset="0"/>
              </a:rPr>
              <a:t>：高斯核函数</a:t>
            </a:r>
            <a:endParaRPr lang="en-US" altLang="zh-CN" sz="2400" dirty="0">
              <a:cs typeface="Arial" panose="020B0604020202020204" pitchFamily="34" charset="0"/>
            </a:endParaRPr>
          </a:p>
          <a:p>
            <a:pPr lvl="3">
              <a:lnSpc>
                <a:spcPct val="145000"/>
              </a:lnSpc>
            </a:pPr>
            <a:r>
              <a:rPr lang="en-US" altLang="zh-CN" sz="2400" dirty="0">
                <a:cs typeface="Arial" panose="020B0604020202020204" pitchFamily="34" charset="0"/>
              </a:rPr>
              <a:t>Length Scale</a:t>
            </a:r>
            <a:r>
              <a:rPr lang="zh-CN" altLang="en-US" sz="2400" dirty="0">
                <a:cs typeface="Arial" panose="020B0604020202020204" pitchFamily="34" charset="0"/>
              </a:rPr>
              <a:t>：长度尺度，控制起伏的频率</a:t>
            </a:r>
            <a:endParaRPr lang="en-US" altLang="zh-CN" sz="2400" dirty="0">
              <a:cs typeface="Arial" panose="020B0604020202020204" pitchFamily="34" charset="0"/>
            </a:endParaRPr>
          </a:p>
          <a:p>
            <a:pPr lvl="3">
              <a:lnSpc>
                <a:spcPct val="145000"/>
              </a:lnSpc>
            </a:pPr>
            <a:r>
              <a:rPr lang="en-US" altLang="zh-CN" sz="2400" dirty="0">
                <a:cs typeface="Arial" panose="020B0604020202020204" pitchFamily="34" charset="0"/>
              </a:rPr>
              <a:t>Sigma</a:t>
            </a:r>
            <a:r>
              <a:rPr lang="zh-CN" altLang="en-US" sz="2400" dirty="0">
                <a:cs typeface="Arial" panose="020B0604020202020204" pitchFamily="34" charset="0"/>
              </a:rPr>
              <a:t>：标准差，控制起伏的强度</a:t>
            </a:r>
            <a:endParaRPr lang="en-US" altLang="zh-CN" sz="2400" dirty="0">
              <a:cs typeface="Arial" panose="020B0604020202020204" pitchFamily="34" charset="0"/>
            </a:endParaRPr>
          </a:p>
        </p:txBody>
      </p:sp>
      <p:pic>
        <p:nvPicPr>
          <p:cNvPr id="6" name="图片 5">
            <a:extLst>
              <a:ext uri="{FF2B5EF4-FFF2-40B4-BE49-F238E27FC236}">
                <a16:creationId xmlns:a16="http://schemas.microsoft.com/office/drawing/2014/main" id="{43FB7B5E-D123-68A1-0764-4A01E12797BE}"/>
              </a:ext>
            </a:extLst>
          </p:cNvPr>
          <p:cNvPicPr>
            <a:picLocks noChangeAspect="1"/>
          </p:cNvPicPr>
          <p:nvPr/>
        </p:nvPicPr>
        <p:blipFill>
          <a:blip r:embed="rId2">
            <a:extLst>
              <a:ext uri="{28A0092B-C50C-407E-A947-70E740481C1C}">
                <a14:useLocalDpi xmlns:a14="http://schemas.microsoft.com/office/drawing/2010/main" val="0"/>
              </a:ext>
            </a:extLst>
          </a:blip>
          <a:srcRect l="28918" t="41960" r="53123" b="44044"/>
          <a:stretch>
            <a:fillRect/>
          </a:stretch>
        </p:blipFill>
        <p:spPr>
          <a:xfrm>
            <a:off x="7006165" y="2087148"/>
            <a:ext cx="4347635" cy="1928261"/>
          </a:xfrm>
          <a:prstGeom prst="rect">
            <a:avLst/>
          </a:prstGeom>
        </p:spPr>
      </p:pic>
    </p:spTree>
    <p:extLst>
      <p:ext uri="{BB962C8B-B14F-4D97-AF65-F5344CB8AC3E}">
        <p14:creationId xmlns:p14="http://schemas.microsoft.com/office/powerpoint/2010/main" val="2960502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1B8C7-A2A3-A870-A2B6-9C04C346F0D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B4DC9E4-B9C2-C527-F908-D9182BEA55A7}"/>
              </a:ext>
            </a:extLst>
          </p:cNvPr>
          <p:cNvSpPr>
            <a:spLocks noGrp="1"/>
          </p:cNvSpPr>
          <p:nvPr>
            <p:ph type="title"/>
          </p:nvPr>
        </p:nvSpPr>
        <p:spPr>
          <a:noFill/>
        </p:spPr>
        <p:txBody>
          <a:bodyPr/>
          <a:lstStyle/>
          <a:p>
            <a:r>
              <a:rPr lang="zh-CN" altLang="en-US" b="1" dirty="0"/>
              <a:t>使用方法</a:t>
            </a:r>
            <a:r>
              <a:rPr lang="en-US" altLang="zh-CN" b="1" dirty="0"/>
              <a:t>-Camera</a:t>
            </a:r>
            <a:endParaRPr lang="zh-CN" altLang="en-US" dirty="0"/>
          </a:p>
        </p:txBody>
      </p:sp>
      <p:sp>
        <p:nvSpPr>
          <p:cNvPr id="5" name="内容占位符 4">
            <a:extLst>
              <a:ext uri="{FF2B5EF4-FFF2-40B4-BE49-F238E27FC236}">
                <a16:creationId xmlns:a16="http://schemas.microsoft.com/office/drawing/2014/main" id="{BD453602-0CBB-D3CD-9EFA-45B796678BFD}"/>
              </a:ext>
            </a:extLst>
          </p:cNvPr>
          <p:cNvSpPr>
            <a:spLocks noGrp="1"/>
          </p:cNvSpPr>
          <p:nvPr>
            <p:ph idx="1"/>
          </p:nvPr>
        </p:nvSpPr>
        <p:spPr>
          <a:xfrm>
            <a:off x="704426" y="1690688"/>
            <a:ext cx="6120444" cy="4351338"/>
          </a:xfrm>
        </p:spPr>
        <p:txBody>
          <a:bodyPr>
            <a:noAutofit/>
          </a:bodyPr>
          <a:lstStyle/>
          <a:p>
            <a:pPr>
              <a:lnSpc>
                <a:spcPct val="145000"/>
              </a:lnSpc>
            </a:pPr>
            <a:r>
              <a:rPr lang="en-US" altLang="zh-CN" sz="2400" dirty="0">
                <a:solidFill>
                  <a:schemeClr val="tx1"/>
                </a:solidFill>
                <a:cs typeface="Arial" panose="020B0604020202020204" pitchFamily="34" charset="0"/>
              </a:rPr>
              <a:t>Camera</a:t>
            </a:r>
            <a:r>
              <a:rPr lang="zh-CN" altLang="en-US" sz="2400" dirty="0">
                <a:cs typeface="Arial" panose="020B0604020202020204" pitchFamily="34" charset="0"/>
              </a:rPr>
              <a:t> 相机</a:t>
            </a:r>
            <a:endParaRPr lang="en-US" altLang="zh-CN" sz="2400" dirty="0">
              <a:cs typeface="Arial" panose="020B0604020202020204" pitchFamily="34" charset="0"/>
            </a:endParaRPr>
          </a:p>
          <a:p>
            <a:pPr lvl="1">
              <a:lnSpc>
                <a:spcPct val="145000"/>
              </a:lnSpc>
            </a:pPr>
            <a:r>
              <a:rPr lang="en-US" altLang="zh-CN" dirty="0">
                <a:cs typeface="Arial" panose="020B0604020202020204" pitchFamily="34" charset="0"/>
              </a:rPr>
              <a:t>Position</a:t>
            </a:r>
            <a:r>
              <a:rPr lang="zh-CN" altLang="en-US" dirty="0">
                <a:cs typeface="Arial" panose="020B0604020202020204" pitchFamily="34" charset="0"/>
              </a:rPr>
              <a:t>：位置，定义相机镜头的中心点坐标</a:t>
            </a:r>
            <a:endParaRPr lang="en-US" altLang="zh-CN" dirty="0">
              <a:cs typeface="Arial" panose="020B0604020202020204" pitchFamily="34" charset="0"/>
            </a:endParaRPr>
          </a:p>
          <a:p>
            <a:pPr lvl="1">
              <a:lnSpc>
                <a:spcPct val="145000"/>
              </a:lnSpc>
            </a:pPr>
            <a:r>
              <a:rPr lang="en-US" altLang="zh-CN" dirty="0">
                <a:cs typeface="Arial" panose="020B0604020202020204" pitchFamily="34" charset="0"/>
              </a:rPr>
              <a:t>Look At</a:t>
            </a:r>
            <a:r>
              <a:rPr lang="zh-CN" altLang="en-US" dirty="0">
                <a:cs typeface="Arial" panose="020B0604020202020204" pitchFamily="34" charset="0"/>
              </a:rPr>
              <a:t>：观察点，决定镜头的指向</a:t>
            </a:r>
            <a:endParaRPr lang="en-US" altLang="zh-CN" dirty="0">
              <a:cs typeface="Arial" panose="020B0604020202020204" pitchFamily="34" charset="0"/>
            </a:endParaRPr>
          </a:p>
          <a:p>
            <a:pPr lvl="1">
              <a:lnSpc>
                <a:spcPct val="145000"/>
              </a:lnSpc>
            </a:pPr>
            <a:r>
              <a:rPr lang="en-US" altLang="zh-CN" dirty="0">
                <a:cs typeface="Arial" panose="020B0604020202020204" pitchFamily="34" charset="0"/>
              </a:rPr>
              <a:t>Up Vector</a:t>
            </a:r>
            <a:r>
              <a:rPr lang="zh-CN" altLang="en-US" dirty="0">
                <a:cs typeface="Arial" panose="020B0604020202020204" pitchFamily="34" charset="0"/>
              </a:rPr>
              <a:t>：上向量，定义相机“头顶”的朝向</a:t>
            </a:r>
            <a:endParaRPr lang="en-US" altLang="zh-CN" dirty="0">
              <a:cs typeface="Arial" panose="020B0604020202020204" pitchFamily="34" charset="0"/>
            </a:endParaRPr>
          </a:p>
          <a:p>
            <a:pPr lvl="1">
              <a:lnSpc>
                <a:spcPct val="145000"/>
              </a:lnSpc>
            </a:pPr>
            <a:r>
              <a:rPr lang="en-US" altLang="zh-CN" dirty="0">
                <a:cs typeface="Arial" panose="020B0604020202020204" pitchFamily="34" charset="0"/>
              </a:rPr>
              <a:t>FOV</a:t>
            </a:r>
            <a:r>
              <a:rPr lang="zh-CN" altLang="en-US" dirty="0">
                <a:cs typeface="Arial" panose="020B0604020202020204" pitchFamily="34" charset="0"/>
              </a:rPr>
              <a:t>：视野，相机能够看到的视野角度</a:t>
            </a:r>
            <a:endParaRPr lang="en-US" altLang="zh-CN" dirty="0">
              <a:cs typeface="Arial" panose="020B0604020202020204" pitchFamily="34" charset="0"/>
            </a:endParaRPr>
          </a:p>
          <a:p>
            <a:pPr>
              <a:lnSpc>
                <a:spcPct val="145000"/>
              </a:lnSpc>
            </a:pPr>
            <a:endParaRPr lang="en-US" altLang="zh-CN" sz="2400" dirty="0">
              <a:solidFill>
                <a:schemeClr val="tx1"/>
              </a:solidFill>
              <a:cs typeface="Arial" panose="020B0604020202020204" pitchFamily="34" charset="0"/>
            </a:endParaRPr>
          </a:p>
        </p:txBody>
      </p:sp>
      <p:pic>
        <p:nvPicPr>
          <p:cNvPr id="8" name="图片 7">
            <a:extLst>
              <a:ext uri="{FF2B5EF4-FFF2-40B4-BE49-F238E27FC236}">
                <a16:creationId xmlns:a16="http://schemas.microsoft.com/office/drawing/2014/main" id="{1834B653-3180-FA0D-9977-1BFDB92D10BE}"/>
              </a:ext>
            </a:extLst>
          </p:cNvPr>
          <p:cNvPicPr>
            <a:picLocks noChangeAspect="1"/>
          </p:cNvPicPr>
          <p:nvPr/>
        </p:nvPicPr>
        <p:blipFill>
          <a:blip r:embed="rId2">
            <a:extLst>
              <a:ext uri="{28A0092B-C50C-407E-A947-70E740481C1C}">
                <a14:useLocalDpi xmlns:a14="http://schemas.microsoft.com/office/drawing/2010/main" val="0"/>
              </a:ext>
            </a:extLst>
          </a:blip>
          <a:srcRect l="71574" t="32445" r="13244" b="50420"/>
          <a:stretch>
            <a:fillRect/>
          </a:stretch>
        </p:blipFill>
        <p:spPr>
          <a:xfrm>
            <a:off x="7181591" y="2192269"/>
            <a:ext cx="3526165" cy="2265109"/>
          </a:xfrm>
          <a:prstGeom prst="rect">
            <a:avLst/>
          </a:prstGeom>
        </p:spPr>
      </p:pic>
    </p:spTree>
    <p:extLst>
      <p:ext uri="{BB962C8B-B14F-4D97-AF65-F5344CB8AC3E}">
        <p14:creationId xmlns:p14="http://schemas.microsoft.com/office/powerpoint/2010/main" val="9513436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C4CA5-2169-CE5F-AEB3-717E3D9C421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8EAD5DB-6C02-BAF2-1001-1DAAACE5BC9A}"/>
              </a:ext>
            </a:extLst>
          </p:cNvPr>
          <p:cNvSpPr>
            <a:spLocks noGrp="1"/>
          </p:cNvSpPr>
          <p:nvPr>
            <p:ph type="title"/>
          </p:nvPr>
        </p:nvSpPr>
        <p:spPr>
          <a:noFill/>
        </p:spPr>
        <p:txBody>
          <a:bodyPr/>
          <a:lstStyle/>
          <a:p>
            <a:r>
              <a:rPr lang="zh-CN" altLang="en-US" b="1" dirty="0"/>
              <a:t>使用方法</a:t>
            </a:r>
            <a:r>
              <a:rPr lang="en-US" altLang="zh-CN" b="1" dirty="0"/>
              <a:t>-Renderer</a:t>
            </a:r>
            <a:endParaRPr lang="zh-CN" altLang="en-US" dirty="0"/>
          </a:p>
        </p:txBody>
      </p:sp>
      <p:sp>
        <p:nvSpPr>
          <p:cNvPr id="5" name="内容占位符 4">
            <a:extLst>
              <a:ext uri="{FF2B5EF4-FFF2-40B4-BE49-F238E27FC236}">
                <a16:creationId xmlns:a16="http://schemas.microsoft.com/office/drawing/2014/main" id="{E1FCD916-F759-48B3-5681-99B5FD387CCA}"/>
              </a:ext>
            </a:extLst>
          </p:cNvPr>
          <p:cNvSpPr>
            <a:spLocks noGrp="1"/>
          </p:cNvSpPr>
          <p:nvPr>
            <p:ph idx="1"/>
          </p:nvPr>
        </p:nvSpPr>
        <p:spPr>
          <a:xfrm>
            <a:off x="704426" y="1425645"/>
            <a:ext cx="5563852" cy="4351338"/>
          </a:xfrm>
        </p:spPr>
        <p:txBody>
          <a:bodyPr>
            <a:noAutofit/>
          </a:bodyPr>
          <a:lstStyle/>
          <a:p>
            <a:pPr>
              <a:lnSpc>
                <a:spcPct val="145000"/>
              </a:lnSpc>
            </a:pPr>
            <a:r>
              <a:rPr lang="en-US" altLang="zh-CN" sz="2400" dirty="0">
                <a:solidFill>
                  <a:schemeClr val="tx1"/>
                </a:solidFill>
                <a:cs typeface="Arial" panose="020B0604020202020204" pitchFamily="34" charset="0"/>
              </a:rPr>
              <a:t>Renderer </a:t>
            </a:r>
            <a:r>
              <a:rPr lang="zh-CN" altLang="en-US" sz="2400" dirty="0">
                <a:solidFill>
                  <a:schemeClr val="tx1"/>
                </a:solidFill>
                <a:cs typeface="Arial" panose="020B0604020202020204" pitchFamily="34" charset="0"/>
              </a:rPr>
              <a:t>渲染器</a:t>
            </a:r>
            <a:endParaRPr lang="en-US" altLang="zh-CN" sz="2400" dirty="0">
              <a:solidFill>
                <a:schemeClr val="tx1"/>
              </a:solidFill>
              <a:cs typeface="Arial" panose="020B0604020202020204" pitchFamily="34" charset="0"/>
            </a:endParaRPr>
          </a:p>
          <a:p>
            <a:pPr lvl="1">
              <a:lnSpc>
                <a:spcPct val="145000"/>
              </a:lnSpc>
            </a:pPr>
            <a:r>
              <a:rPr lang="en-US" altLang="zh-CN" dirty="0">
                <a:cs typeface="Arial" panose="020B0604020202020204" pitchFamily="34" charset="0"/>
              </a:rPr>
              <a:t>Overwrite Output Files</a:t>
            </a:r>
            <a:r>
              <a:rPr lang="zh-CN" altLang="en-US" dirty="0">
                <a:cs typeface="Arial" panose="020B0604020202020204" pitchFamily="34" charset="0"/>
              </a:rPr>
              <a:t>：</a:t>
            </a:r>
            <a:r>
              <a:rPr lang="zh-CN" altLang="en-US" dirty="0"/>
              <a:t>是否覆盖已经生成的渲染结果文件</a:t>
            </a:r>
            <a:endParaRPr lang="en-US" altLang="zh-CN" dirty="0">
              <a:cs typeface="Arial" panose="020B0604020202020204" pitchFamily="34" charset="0"/>
            </a:endParaRPr>
          </a:p>
          <a:p>
            <a:pPr lvl="1">
              <a:lnSpc>
                <a:spcPct val="145000"/>
              </a:lnSpc>
            </a:pPr>
            <a:r>
              <a:rPr lang="en-US" altLang="zh-CN" dirty="0">
                <a:solidFill>
                  <a:schemeClr val="tx1"/>
                </a:solidFill>
                <a:cs typeface="Arial" panose="020B0604020202020204" pitchFamily="34" charset="0"/>
              </a:rPr>
              <a:t>Adaptive Sampling</a:t>
            </a:r>
            <a:r>
              <a:rPr lang="zh-CN" altLang="en-US" dirty="0">
                <a:solidFill>
                  <a:schemeClr val="tx1"/>
                </a:solidFill>
                <a:cs typeface="Arial" panose="020B0604020202020204" pitchFamily="34" charset="0"/>
              </a:rPr>
              <a:t>：</a:t>
            </a:r>
            <a:r>
              <a:rPr lang="zh-CN" altLang="en-US" dirty="0"/>
              <a:t>自适应采样</a:t>
            </a:r>
            <a:endParaRPr lang="en-US" altLang="zh-CN" dirty="0">
              <a:solidFill>
                <a:schemeClr val="tx1"/>
              </a:solidFill>
              <a:cs typeface="Arial" panose="020B0604020202020204" pitchFamily="34" charset="0"/>
            </a:endParaRPr>
          </a:p>
          <a:p>
            <a:pPr lvl="1">
              <a:lnSpc>
                <a:spcPct val="145000"/>
              </a:lnSpc>
            </a:pPr>
            <a:r>
              <a:rPr lang="en-US" altLang="zh-CN" dirty="0" err="1">
                <a:solidFill>
                  <a:schemeClr val="tx1"/>
                </a:solidFill>
                <a:cs typeface="Arial" panose="020B0604020202020204" pitchFamily="34" charset="0"/>
              </a:rPr>
              <a:t>Spp</a:t>
            </a:r>
            <a:r>
              <a:rPr lang="en-US" altLang="zh-CN" dirty="0" err="1">
                <a:cs typeface="Arial" panose="020B0604020202020204" pitchFamily="34" charset="0"/>
              </a:rPr>
              <a:t>_</a:t>
            </a:r>
            <a:r>
              <a:rPr lang="en-US" altLang="zh-CN" dirty="0" err="1">
                <a:solidFill>
                  <a:schemeClr val="tx1"/>
                </a:solidFill>
                <a:cs typeface="Arial" panose="020B0604020202020204" pitchFamily="34" charset="0"/>
              </a:rPr>
              <a:t>step</a:t>
            </a:r>
            <a:r>
              <a:rPr lang="zh-CN" altLang="en-US" dirty="0">
                <a:solidFill>
                  <a:schemeClr val="tx1"/>
                </a:solidFill>
                <a:cs typeface="Arial" panose="020B0604020202020204" pitchFamily="34" charset="0"/>
              </a:rPr>
              <a:t>：</a:t>
            </a:r>
            <a:r>
              <a:rPr lang="zh-CN" altLang="en-US" dirty="0"/>
              <a:t>配合自适应采样或增量式渲染使用</a:t>
            </a:r>
            <a:endParaRPr lang="en-US" altLang="zh-CN" dirty="0">
              <a:solidFill>
                <a:schemeClr val="tx1"/>
              </a:solidFill>
              <a:cs typeface="Arial" panose="020B0604020202020204" pitchFamily="34" charset="0"/>
            </a:endParaRPr>
          </a:p>
          <a:p>
            <a:pPr lvl="1">
              <a:lnSpc>
                <a:spcPct val="145000"/>
              </a:lnSpc>
            </a:pPr>
            <a:r>
              <a:rPr lang="en-US" altLang="zh-CN" dirty="0" err="1">
                <a:cs typeface="Arial" panose="020B0604020202020204" pitchFamily="34" charset="0"/>
              </a:rPr>
              <a:t>Spp</a:t>
            </a:r>
            <a:r>
              <a:rPr lang="zh-CN" altLang="en-US" dirty="0">
                <a:cs typeface="Arial" panose="020B0604020202020204" pitchFamily="34" charset="0"/>
              </a:rPr>
              <a:t>：</a:t>
            </a:r>
            <a:r>
              <a:rPr lang="zh-CN" altLang="en-US" dirty="0">
                <a:solidFill>
                  <a:schemeClr val="tx1"/>
                </a:solidFill>
                <a:cs typeface="Arial" panose="020B0604020202020204" pitchFamily="34" charset="0"/>
              </a:rPr>
              <a:t>每像素采样数</a:t>
            </a:r>
            <a:endParaRPr lang="en-US" altLang="zh-CN" dirty="0">
              <a:cs typeface="Arial" panose="020B0604020202020204" pitchFamily="34" charset="0"/>
            </a:endParaRPr>
          </a:p>
          <a:p>
            <a:pPr lvl="1">
              <a:lnSpc>
                <a:spcPct val="145000"/>
              </a:lnSpc>
            </a:pPr>
            <a:r>
              <a:rPr lang="en-US" altLang="zh-CN" dirty="0" err="1">
                <a:solidFill>
                  <a:schemeClr val="tx1"/>
                </a:solidFill>
                <a:cs typeface="Arial" panose="020B0604020202020204" pitchFamily="34" charset="0"/>
              </a:rPr>
              <a:t>Checkpoint_interval</a:t>
            </a:r>
            <a:r>
              <a:rPr lang="zh-CN" altLang="en-US" dirty="0">
                <a:solidFill>
                  <a:schemeClr val="tx1"/>
                </a:solidFill>
                <a:cs typeface="Arial" panose="020B0604020202020204" pitchFamily="34" charset="0"/>
              </a:rPr>
              <a:t>：</a:t>
            </a:r>
            <a:r>
              <a:rPr lang="zh-CN" altLang="en-US" dirty="0"/>
              <a:t>存盘间隔</a:t>
            </a:r>
            <a:endParaRPr lang="en-US" altLang="zh-CN" dirty="0">
              <a:solidFill>
                <a:schemeClr val="tx1"/>
              </a:solidFill>
              <a:cs typeface="Arial" panose="020B0604020202020204" pitchFamily="34" charset="0"/>
            </a:endParaRPr>
          </a:p>
        </p:txBody>
      </p:sp>
      <p:pic>
        <p:nvPicPr>
          <p:cNvPr id="8" name="图片 7">
            <a:extLst>
              <a:ext uri="{FF2B5EF4-FFF2-40B4-BE49-F238E27FC236}">
                <a16:creationId xmlns:a16="http://schemas.microsoft.com/office/drawing/2014/main" id="{44DCE073-3536-F7C5-4454-C8EA61D4B354}"/>
              </a:ext>
            </a:extLst>
          </p:cNvPr>
          <p:cNvPicPr>
            <a:picLocks noChangeAspect="1"/>
          </p:cNvPicPr>
          <p:nvPr/>
        </p:nvPicPr>
        <p:blipFill>
          <a:blip r:embed="rId2">
            <a:extLst>
              <a:ext uri="{28A0092B-C50C-407E-A947-70E740481C1C}">
                <a14:useLocalDpi xmlns:a14="http://schemas.microsoft.com/office/drawing/2010/main" val="0"/>
              </a:ext>
            </a:extLst>
          </a:blip>
          <a:srcRect l="71051" t="62332" r="11885" b="11893"/>
          <a:stretch>
            <a:fillRect/>
          </a:stretch>
        </p:blipFill>
        <p:spPr>
          <a:xfrm>
            <a:off x="7023652" y="1562791"/>
            <a:ext cx="4068418" cy="3497610"/>
          </a:xfrm>
          <a:prstGeom prst="rect">
            <a:avLst/>
          </a:prstGeom>
        </p:spPr>
      </p:pic>
    </p:spTree>
    <p:extLst>
      <p:ext uri="{BB962C8B-B14F-4D97-AF65-F5344CB8AC3E}">
        <p14:creationId xmlns:p14="http://schemas.microsoft.com/office/powerpoint/2010/main" val="37844126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2C6C8-1751-5EDB-F7B5-4DEBC9B6B7F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ADC97CB-813C-62F7-5369-28D777E0F66B}"/>
              </a:ext>
            </a:extLst>
          </p:cNvPr>
          <p:cNvSpPr>
            <a:spLocks noGrp="1"/>
          </p:cNvSpPr>
          <p:nvPr>
            <p:ph type="title"/>
          </p:nvPr>
        </p:nvSpPr>
        <p:spPr>
          <a:noFill/>
        </p:spPr>
        <p:txBody>
          <a:bodyPr/>
          <a:lstStyle/>
          <a:p>
            <a:r>
              <a:rPr lang="zh-CN" altLang="en-US" b="1" dirty="0"/>
              <a:t>使用方法</a:t>
            </a:r>
            <a:r>
              <a:rPr lang="en-US" altLang="zh-CN" b="1" dirty="0"/>
              <a:t>-Integrator</a:t>
            </a:r>
            <a:endParaRPr lang="zh-CN" altLang="en-US" dirty="0"/>
          </a:p>
        </p:txBody>
      </p:sp>
      <p:sp>
        <p:nvSpPr>
          <p:cNvPr id="5" name="内容占位符 4">
            <a:extLst>
              <a:ext uri="{FF2B5EF4-FFF2-40B4-BE49-F238E27FC236}">
                <a16:creationId xmlns:a16="http://schemas.microsoft.com/office/drawing/2014/main" id="{2A14505F-6543-F809-6BF7-9D6D2C228E7A}"/>
              </a:ext>
            </a:extLst>
          </p:cNvPr>
          <p:cNvSpPr>
            <a:spLocks noGrp="1"/>
          </p:cNvSpPr>
          <p:nvPr>
            <p:ph idx="1"/>
          </p:nvPr>
        </p:nvSpPr>
        <p:spPr>
          <a:xfrm>
            <a:off x="704426" y="1425645"/>
            <a:ext cx="6332481" cy="4351338"/>
          </a:xfrm>
        </p:spPr>
        <p:txBody>
          <a:bodyPr>
            <a:noAutofit/>
          </a:bodyPr>
          <a:lstStyle/>
          <a:p>
            <a:pPr>
              <a:lnSpc>
                <a:spcPct val="145000"/>
              </a:lnSpc>
            </a:pPr>
            <a:r>
              <a:rPr lang="en-US" altLang="zh-CN" sz="2400" dirty="0">
                <a:solidFill>
                  <a:schemeClr val="tx1"/>
                </a:solidFill>
                <a:cs typeface="Arial" panose="020B0604020202020204" pitchFamily="34" charset="0"/>
              </a:rPr>
              <a:t>Integrator</a:t>
            </a:r>
            <a:r>
              <a:rPr lang="zh-CN" altLang="en-US" sz="2400" dirty="0">
                <a:cs typeface="Arial" panose="020B0604020202020204" pitchFamily="34" charset="0"/>
              </a:rPr>
              <a:t> 积分器</a:t>
            </a:r>
            <a:endParaRPr lang="en-US" altLang="zh-CN" sz="2400" dirty="0">
              <a:cs typeface="Arial" panose="020B0604020202020204" pitchFamily="34" charset="0"/>
            </a:endParaRPr>
          </a:p>
          <a:p>
            <a:pPr lvl="1">
              <a:lnSpc>
                <a:spcPct val="145000"/>
              </a:lnSpc>
            </a:pPr>
            <a:r>
              <a:rPr lang="en-US" altLang="zh-CN" dirty="0">
                <a:solidFill>
                  <a:schemeClr val="tx1"/>
                </a:solidFill>
                <a:cs typeface="Arial" panose="020B0604020202020204" pitchFamily="34" charset="0"/>
              </a:rPr>
              <a:t>Type</a:t>
            </a:r>
            <a:r>
              <a:rPr lang="zh-CN" altLang="en-US" dirty="0">
                <a:solidFill>
                  <a:schemeClr val="tx1"/>
                </a:solidFill>
                <a:cs typeface="Arial" panose="020B0604020202020204" pitchFamily="34" charset="0"/>
              </a:rPr>
              <a:t>：</a:t>
            </a:r>
            <a:r>
              <a:rPr lang="en-US" altLang="zh-CN" dirty="0" err="1">
                <a:solidFill>
                  <a:schemeClr val="tx1"/>
                </a:solidFill>
                <a:cs typeface="Arial" panose="020B0604020202020204" pitchFamily="34" charset="0"/>
              </a:rPr>
              <a:t>Path_tracer</a:t>
            </a:r>
            <a:r>
              <a:rPr lang="zh-CN" altLang="en-US" dirty="0">
                <a:solidFill>
                  <a:schemeClr val="tx1"/>
                </a:solidFill>
                <a:cs typeface="Arial" panose="020B0604020202020204" pitchFamily="34" charset="0"/>
              </a:rPr>
              <a:t>：路径追踪</a:t>
            </a:r>
            <a:endParaRPr lang="en-US" altLang="zh-CN" dirty="0">
              <a:solidFill>
                <a:schemeClr val="tx1"/>
              </a:solidFill>
              <a:cs typeface="Arial" panose="020B0604020202020204" pitchFamily="34" charset="0"/>
            </a:endParaRPr>
          </a:p>
          <a:p>
            <a:pPr lvl="1">
              <a:lnSpc>
                <a:spcPct val="145000"/>
              </a:lnSpc>
            </a:pPr>
            <a:r>
              <a:rPr lang="en-US" altLang="zh-CN" dirty="0">
                <a:cs typeface="Arial" panose="020B0604020202020204" pitchFamily="34" charset="0"/>
              </a:rPr>
              <a:t>Min/Max Bounces</a:t>
            </a:r>
            <a:r>
              <a:rPr lang="zh-CN" altLang="en-US" dirty="0">
                <a:cs typeface="Arial" panose="020B0604020202020204" pitchFamily="34" charset="0"/>
              </a:rPr>
              <a:t>：最小</a:t>
            </a:r>
            <a:r>
              <a:rPr lang="en-US" altLang="zh-CN" dirty="0">
                <a:cs typeface="Arial" panose="020B0604020202020204" pitchFamily="34" charset="0"/>
              </a:rPr>
              <a:t>/</a:t>
            </a:r>
            <a:r>
              <a:rPr lang="zh-CN" altLang="en-US" dirty="0">
                <a:cs typeface="Arial" panose="020B0604020202020204" pitchFamily="34" charset="0"/>
              </a:rPr>
              <a:t>最大弹跳次数</a:t>
            </a:r>
            <a:endParaRPr lang="en-US" altLang="zh-CN" dirty="0">
              <a:cs typeface="Arial" panose="020B0604020202020204" pitchFamily="34" charset="0"/>
            </a:endParaRPr>
          </a:p>
          <a:p>
            <a:pPr lvl="1">
              <a:lnSpc>
                <a:spcPct val="145000"/>
              </a:lnSpc>
            </a:pPr>
            <a:r>
              <a:rPr lang="en-US" altLang="zh-CN" dirty="0">
                <a:cs typeface="Arial" panose="020B0604020202020204" pitchFamily="34" charset="0"/>
              </a:rPr>
              <a:t>Enable Consistency Checks</a:t>
            </a:r>
            <a:r>
              <a:rPr lang="zh-CN" altLang="en-US" dirty="0">
                <a:cs typeface="Arial" panose="020B0604020202020204" pitchFamily="34" charset="0"/>
              </a:rPr>
              <a:t>：一致性检查</a:t>
            </a:r>
            <a:endParaRPr lang="en-US" altLang="zh-CN" dirty="0">
              <a:cs typeface="Arial" panose="020B0604020202020204" pitchFamily="34" charset="0"/>
            </a:endParaRPr>
          </a:p>
          <a:p>
            <a:pPr lvl="1">
              <a:lnSpc>
                <a:spcPct val="145000"/>
              </a:lnSpc>
            </a:pPr>
            <a:r>
              <a:rPr lang="en-US" altLang="zh-CN" dirty="0">
                <a:solidFill>
                  <a:schemeClr val="tx1"/>
                </a:solidFill>
                <a:cs typeface="Arial" panose="020B0604020202020204" pitchFamily="34" charset="0"/>
              </a:rPr>
              <a:t>Enable Light Sampling</a:t>
            </a:r>
            <a:r>
              <a:rPr lang="zh-CN" altLang="en-US" dirty="0">
                <a:solidFill>
                  <a:schemeClr val="tx1"/>
                </a:solidFill>
                <a:cs typeface="Arial" panose="020B0604020202020204" pitchFamily="34" charset="0"/>
              </a:rPr>
              <a:t>：光源采样</a:t>
            </a:r>
            <a:endParaRPr lang="en-US" altLang="zh-CN" dirty="0">
              <a:solidFill>
                <a:schemeClr val="tx1"/>
              </a:solidFill>
              <a:cs typeface="Arial" panose="020B0604020202020204" pitchFamily="34" charset="0"/>
            </a:endParaRPr>
          </a:p>
          <a:p>
            <a:pPr lvl="1">
              <a:lnSpc>
                <a:spcPct val="145000"/>
              </a:lnSpc>
            </a:pPr>
            <a:r>
              <a:rPr lang="en-US" altLang="zh-CN" dirty="0">
                <a:solidFill>
                  <a:schemeClr val="tx1"/>
                </a:solidFill>
                <a:cs typeface="Arial" panose="020B0604020202020204" pitchFamily="34" charset="0"/>
              </a:rPr>
              <a:t>Enable Two-sided Shading</a:t>
            </a:r>
            <a:r>
              <a:rPr lang="zh-CN" altLang="en-US" dirty="0">
                <a:solidFill>
                  <a:schemeClr val="tx1"/>
                </a:solidFill>
                <a:cs typeface="Arial" panose="020B0604020202020204" pitchFamily="34" charset="0"/>
              </a:rPr>
              <a:t>：双面着色</a:t>
            </a:r>
            <a:endParaRPr lang="en-US" altLang="zh-CN" dirty="0">
              <a:solidFill>
                <a:schemeClr val="tx1"/>
              </a:solidFill>
              <a:cs typeface="Arial" panose="020B0604020202020204" pitchFamily="34" charset="0"/>
            </a:endParaRPr>
          </a:p>
          <a:p>
            <a:pPr lvl="1">
              <a:lnSpc>
                <a:spcPct val="145000"/>
              </a:lnSpc>
            </a:pPr>
            <a:r>
              <a:rPr lang="en-US" altLang="zh-CN" dirty="0">
                <a:cs typeface="Arial" panose="020B0604020202020204" pitchFamily="34" charset="0"/>
              </a:rPr>
              <a:t>Enable Volume Light Sampling</a:t>
            </a:r>
            <a:r>
              <a:rPr lang="zh-CN" altLang="en-US" dirty="0">
                <a:cs typeface="Arial" panose="020B0604020202020204" pitchFamily="34" charset="0"/>
              </a:rPr>
              <a:t>：体积光采样</a:t>
            </a:r>
            <a:endParaRPr lang="en-US" altLang="zh-CN" dirty="0">
              <a:solidFill>
                <a:schemeClr val="tx1"/>
              </a:solidFill>
              <a:cs typeface="Arial" panose="020B0604020202020204" pitchFamily="34" charset="0"/>
            </a:endParaRPr>
          </a:p>
        </p:txBody>
      </p:sp>
      <p:pic>
        <p:nvPicPr>
          <p:cNvPr id="8" name="图片 7">
            <a:extLst>
              <a:ext uri="{FF2B5EF4-FFF2-40B4-BE49-F238E27FC236}">
                <a16:creationId xmlns:a16="http://schemas.microsoft.com/office/drawing/2014/main" id="{24FD6AEB-731B-7F97-55F9-3DE81DB28ACB}"/>
              </a:ext>
            </a:extLst>
          </p:cNvPr>
          <p:cNvPicPr>
            <a:picLocks noChangeAspect="1"/>
          </p:cNvPicPr>
          <p:nvPr/>
        </p:nvPicPr>
        <p:blipFill>
          <a:blip r:embed="rId2">
            <a:extLst>
              <a:ext uri="{28A0092B-C50C-407E-A947-70E740481C1C}">
                <a14:useLocalDpi xmlns:a14="http://schemas.microsoft.com/office/drawing/2010/main" val="0"/>
              </a:ext>
            </a:extLst>
          </a:blip>
          <a:srcRect l="71051" t="3824" r="10246" b="70401"/>
          <a:stretch>
            <a:fillRect/>
          </a:stretch>
        </p:blipFill>
        <p:spPr>
          <a:xfrm>
            <a:off x="7404817" y="2132670"/>
            <a:ext cx="4082757" cy="3202330"/>
          </a:xfrm>
          <a:prstGeom prst="rect">
            <a:avLst/>
          </a:prstGeom>
        </p:spPr>
      </p:pic>
    </p:spTree>
    <p:extLst>
      <p:ext uri="{BB962C8B-B14F-4D97-AF65-F5344CB8AC3E}">
        <p14:creationId xmlns:p14="http://schemas.microsoft.com/office/powerpoint/2010/main" val="39138249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9B804-1EA3-F205-4EB1-1470DF81D07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4220EEB-9B3C-60A0-DA05-1FD075E26ADD}"/>
              </a:ext>
            </a:extLst>
          </p:cNvPr>
          <p:cNvSpPr>
            <a:spLocks noGrp="1"/>
          </p:cNvSpPr>
          <p:nvPr>
            <p:ph type="title"/>
          </p:nvPr>
        </p:nvSpPr>
        <p:spPr>
          <a:noFill/>
        </p:spPr>
        <p:txBody>
          <a:bodyPr/>
          <a:lstStyle/>
          <a:p>
            <a:r>
              <a:rPr lang="zh-CN" altLang="en-US" b="1" dirty="0"/>
              <a:t>使用方法</a:t>
            </a:r>
            <a:r>
              <a:rPr lang="en-US" altLang="zh-CN" b="1" dirty="0"/>
              <a:t>-</a:t>
            </a:r>
            <a:r>
              <a:rPr lang="zh-CN" altLang="en-US" dirty="0"/>
              <a:t>渲染框架与记忆模型</a:t>
            </a:r>
          </a:p>
        </p:txBody>
      </p:sp>
      <p:sp>
        <p:nvSpPr>
          <p:cNvPr id="5" name="内容占位符 4">
            <a:extLst>
              <a:ext uri="{FF2B5EF4-FFF2-40B4-BE49-F238E27FC236}">
                <a16:creationId xmlns:a16="http://schemas.microsoft.com/office/drawing/2014/main" id="{AE2BC9A4-3839-AAD6-A107-9477E6482919}"/>
              </a:ext>
            </a:extLst>
          </p:cNvPr>
          <p:cNvSpPr>
            <a:spLocks noGrp="1"/>
          </p:cNvSpPr>
          <p:nvPr>
            <p:ph idx="1"/>
          </p:nvPr>
        </p:nvSpPr>
        <p:spPr>
          <a:xfrm>
            <a:off x="704426" y="1425645"/>
            <a:ext cx="10758704" cy="2003355"/>
          </a:xfrm>
        </p:spPr>
        <p:txBody>
          <a:bodyPr>
            <a:noAutofit/>
          </a:bodyPr>
          <a:lstStyle/>
          <a:p>
            <a:pPr>
              <a:lnSpc>
                <a:spcPct val="145000"/>
              </a:lnSpc>
            </a:pPr>
            <a:r>
              <a:rPr lang="zh-CN" altLang="en-US" sz="2400" dirty="0">
                <a:cs typeface="Arial" panose="020B0604020202020204" pitchFamily="34" charset="0"/>
              </a:rPr>
              <a:t>选择不同的</a:t>
            </a:r>
            <a:r>
              <a:rPr lang="en-US" altLang="zh-CN" sz="2400" dirty="0">
                <a:cs typeface="Arial" panose="020B0604020202020204" pitchFamily="34" charset="0"/>
              </a:rPr>
              <a:t>Memory Model</a:t>
            </a:r>
            <a:r>
              <a:rPr lang="zh-CN" altLang="en-US" sz="2400" dirty="0">
                <a:cs typeface="Arial" panose="020B0604020202020204" pitchFamily="34" charset="0"/>
              </a:rPr>
              <a:t>，自由调整其他配置，点击运行按钮，观察分析渲染结果和输出</a:t>
            </a:r>
            <a:endParaRPr lang="en-US" altLang="zh-CN" sz="2400" dirty="0">
              <a:cs typeface="Arial" panose="020B0604020202020204" pitchFamily="34" charset="0"/>
            </a:endParaRPr>
          </a:p>
        </p:txBody>
      </p:sp>
      <p:pic>
        <p:nvPicPr>
          <p:cNvPr id="6" name="图片 5">
            <a:extLst>
              <a:ext uri="{FF2B5EF4-FFF2-40B4-BE49-F238E27FC236}">
                <a16:creationId xmlns:a16="http://schemas.microsoft.com/office/drawing/2014/main" id="{17C0C450-E8B0-AD51-9F30-D3A1624C87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3909" y="2192569"/>
            <a:ext cx="8309891" cy="4315019"/>
          </a:xfrm>
          <a:prstGeom prst="rect">
            <a:avLst/>
          </a:prstGeom>
        </p:spPr>
      </p:pic>
    </p:spTree>
    <p:extLst>
      <p:ext uri="{BB962C8B-B14F-4D97-AF65-F5344CB8AC3E}">
        <p14:creationId xmlns:p14="http://schemas.microsoft.com/office/powerpoint/2010/main" val="28924665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E6A3B-4284-D6CC-3705-1432B81A5B9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DC7FA69-153B-1588-BB01-DCD2D256E9CE}"/>
              </a:ext>
            </a:extLst>
          </p:cNvPr>
          <p:cNvSpPr>
            <a:spLocks noGrp="1"/>
          </p:cNvSpPr>
          <p:nvPr>
            <p:ph type="title"/>
          </p:nvPr>
        </p:nvSpPr>
        <p:spPr>
          <a:noFill/>
        </p:spPr>
        <p:txBody>
          <a:bodyPr/>
          <a:lstStyle/>
          <a:p>
            <a:r>
              <a:rPr lang="zh-CN" altLang="en-US" b="1" dirty="0"/>
              <a:t>使用方法</a:t>
            </a:r>
            <a:r>
              <a:rPr lang="en-US" altLang="zh-CN" b="1" dirty="0"/>
              <a:t>-</a:t>
            </a:r>
            <a:r>
              <a:rPr lang="zh-CN" altLang="en-US" dirty="0"/>
              <a:t>渲染框架与记忆模型</a:t>
            </a:r>
          </a:p>
        </p:txBody>
      </p:sp>
      <p:sp>
        <p:nvSpPr>
          <p:cNvPr id="5" name="内容占位符 4">
            <a:extLst>
              <a:ext uri="{FF2B5EF4-FFF2-40B4-BE49-F238E27FC236}">
                <a16:creationId xmlns:a16="http://schemas.microsoft.com/office/drawing/2014/main" id="{A1583EF3-7DB5-EB90-ADF5-1C1C3BC4ACE3}"/>
              </a:ext>
            </a:extLst>
          </p:cNvPr>
          <p:cNvSpPr>
            <a:spLocks noGrp="1"/>
          </p:cNvSpPr>
          <p:nvPr>
            <p:ph idx="1"/>
          </p:nvPr>
        </p:nvSpPr>
        <p:spPr>
          <a:xfrm>
            <a:off x="704426" y="1425645"/>
            <a:ext cx="10758704" cy="2003355"/>
          </a:xfrm>
        </p:spPr>
        <p:txBody>
          <a:bodyPr>
            <a:noAutofit/>
          </a:bodyPr>
          <a:lstStyle/>
          <a:p>
            <a:pPr>
              <a:lnSpc>
                <a:spcPct val="145000"/>
              </a:lnSpc>
            </a:pPr>
            <a:r>
              <a:rPr lang="zh-CN" altLang="en-US" sz="2400" dirty="0">
                <a:solidFill>
                  <a:schemeClr val="tx1"/>
                </a:solidFill>
                <a:cs typeface="Arial" panose="020B0604020202020204" pitchFamily="34" charset="0"/>
              </a:rPr>
              <a:t>下图从左至右依次为</a:t>
            </a:r>
            <a:r>
              <a:rPr lang="en-US" altLang="zh-CN" sz="2400" dirty="0"/>
              <a:t>Renewal+ </a:t>
            </a:r>
            <a:r>
              <a:rPr lang="zh-CN" altLang="en-US" sz="2400" dirty="0"/>
              <a:t>整体、</a:t>
            </a:r>
            <a:r>
              <a:rPr lang="en-US" altLang="zh-CN" sz="2400" dirty="0"/>
              <a:t>Global-n </a:t>
            </a:r>
            <a:r>
              <a:rPr lang="zh-CN" altLang="en-US" sz="2400" dirty="0"/>
              <a:t>部分、</a:t>
            </a:r>
            <a:r>
              <a:rPr lang="en-US" altLang="zh-CN" sz="2400" dirty="0"/>
              <a:t>Renewal </a:t>
            </a:r>
            <a:r>
              <a:rPr lang="zh-CN" altLang="en-US" sz="2400" dirty="0"/>
              <a:t>部分和</a:t>
            </a:r>
            <a:r>
              <a:rPr lang="en-US" altLang="zh-CN" sz="2400" dirty="0"/>
              <a:t>Renewal+</a:t>
            </a:r>
            <a:r>
              <a:rPr lang="zh-CN" altLang="en-US" sz="2400" dirty="0"/>
              <a:t>部分渲染效果</a:t>
            </a:r>
            <a:endParaRPr lang="en-US" altLang="zh-CN" sz="2400" dirty="0">
              <a:solidFill>
                <a:schemeClr val="tx1"/>
              </a:solidFill>
              <a:cs typeface="Arial" panose="020B0604020202020204" pitchFamily="34" charset="0"/>
            </a:endParaRPr>
          </a:p>
        </p:txBody>
      </p:sp>
      <p:pic>
        <p:nvPicPr>
          <p:cNvPr id="4" name="图片 3" descr="人的脸被修图&#10;&#10;AI 生成的内容可能不正确。">
            <a:extLst>
              <a:ext uri="{FF2B5EF4-FFF2-40B4-BE49-F238E27FC236}">
                <a16:creationId xmlns:a16="http://schemas.microsoft.com/office/drawing/2014/main" id="{0393C09A-6C5D-74E5-825A-57155E7C3C27}"/>
              </a:ext>
            </a:extLst>
          </p:cNvPr>
          <p:cNvPicPr>
            <a:picLocks noChangeAspect="1"/>
          </p:cNvPicPr>
          <p:nvPr/>
        </p:nvPicPr>
        <p:blipFill>
          <a:blip r:embed="rId2"/>
          <a:stretch>
            <a:fillRect/>
          </a:stretch>
        </p:blipFill>
        <p:spPr>
          <a:xfrm>
            <a:off x="416817" y="2875722"/>
            <a:ext cx="11358366" cy="2879747"/>
          </a:xfrm>
          <a:prstGeom prst="rect">
            <a:avLst/>
          </a:prstGeom>
        </p:spPr>
      </p:pic>
    </p:spTree>
    <p:extLst>
      <p:ext uri="{BB962C8B-B14F-4D97-AF65-F5344CB8AC3E}">
        <p14:creationId xmlns:p14="http://schemas.microsoft.com/office/powerpoint/2010/main" val="36252395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7ADC6-648D-DD73-10CE-789AC06C4DF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DB8E89F-4011-0833-A3DE-FBD6DB826DCA}"/>
              </a:ext>
            </a:extLst>
          </p:cNvPr>
          <p:cNvSpPr>
            <a:spLocks noGrp="1"/>
          </p:cNvSpPr>
          <p:nvPr>
            <p:ph type="title"/>
          </p:nvPr>
        </p:nvSpPr>
        <p:spPr>
          <a:noFill/>
        </p:spPr>
        <p:txBody>
          <a:bodyPr/>
          <a:lstStyle/>
          <a:p>
            <a:r>
              <a:rPr lang="zh-CN" altLang="en-US" b="1" dirty="0"/>
              <a:t>使用方法</a:t>
            </a:r>
            <a:r>
              <a:rPr lang="en-US" altLang="zh-CN" b="1" dirty="0"/>
              <a:t>-</a:t>
            </a:r>
            <a:r>
              <a:rPr lang="zh-CN" altLang="en-US" b="1" dirty="0"/>
              <a:t>几何合成与体积不确定性</a:t>
            </a:r>
            <a:endParaRPr lang="zh-CN" altLang="en-US" dirty="0"/>
          </a:p>
        </p:txBody>
      </p:sp>
      <p:sp>
        <p:nvSpPr>
          <p:cNvPr id="5" name="内容占位符 4">
            <a:extLst>
              <a:ext uri="{FF2B5EF4-FFF2-40B4-BE49-F238E27FC236}">
                <a16:creationId xmlns:a16="http://schemas.microsoft.com/office/drawing/2014/main" id="{577642AD-3FC1-0C20-32CF-8494ECD8CD83}"/>
              </a:ext>
            </a:extLst>
          </p:cNvPr>
          <p:cNvSpPr>
            <a:spLocks noGrp="1"/>
          </p:cNvSpPr>
          <p:nvPr>
            <p:ph idx="1"/>
          </p:nvPr>
        </p:nvSpPr>
        <p:spPr>
          <a:xfrm>
            <a:off x="704426" y="1425645"/>
            <a:ext cx="10515600" cy="2003355"/>
          </a:xfrm>
        </p:spPr>
        <p:txBody>
          <a:bodyPr>
            <a:noAutofit/>
          </a:bodyPr>
          <a:lstStyle/>
          <a:p>
            <a:pPr>
              <a:lnSpc>
                <a:spcPct val="145000"/>
              </a:lnSpc>
            </a:pPr>
            <a:r>
              <a:rPr lang="zh-CN" altLang="en-US" sz="2400" dirty="0">
                <a:cs typeface="Arial" panose="020B0604020202020204" pitchFamily="34" charset="0"/>
              </a:rPr>
              <a:t>调整每像素采样数</a:t>
            </a:r>
            <a:r>
              <a:rPr lang="en-US" altLang="zh-CN" sz="2400" dirty="0" err="1">
                <a:cs typeface="Arial" panose="020B0604020202020204" pitchFamily="34" charset="0"/>
              </a:rPr>
              <a:t>spp</a:t>
            </a:r>
            <a:r>
              <a:rPr lang="zh-CN" altLang="en-US" sz="2400" dirty="0">
                <a:cs typeface="Arial" panose="020B0604020202020204" pitchFamily="34" charset="0"/>
              </a:rPr>
              <a:t>，使用默认双球体样例，自由调整其他配置，点击运行按钮，观察分析渲染结果和输出</a:t>
            </a:r>
            <a:endParaRPr lang="en-US" altLang="zh-CN" sz="2400" dirty="0">
              <a:cs typeface="Arial" panose="020B0604020202020204" pitchFamily="34" charset="0"/>
            </a:endParaRPr>
          </a:p>
        </p:txBody>
      </p:sp>
      <p:pic>
        <p:nvPicPr>
          <p:cNvPr id="8" name="图片 7">
            <a:extLst>
              <a:ext uri="{FF2B5EF4-FFF2-40B4-BE49-F238E27FC236}">
                <a16:creationId xmlns:a16="http://schemas.microsoft.com/office/drawing/2014/main" id="{76F6A876-0F37-4BB7-CD0F-63E4B1D471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7268" y="2573096"/>
            <a:ext cx="7845287" cy="4096446"/>
          </a:xfrm>
          <a:prstGeom prst="rect">
            <a:avLst/>
          </a:prstGeom>
        </p:spPr>
      </p:pic>
    </p:spTree>
    <p:extLst>
      <p:ext uri="{BB962C8B-B14F-4D97-AF65-F5344CB8AC3E}">
        <p14:creationId xmlns:p14="http://schemas.microsoft.com/office/powerpoint/2010/main" val="32067288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33B5E-9C19-A24E-1DAD-DDB905FDCCD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DEDF7A4-2F6B-F88D-98AE-F2A8FBA3C196}"/>
              </a:ext>
            </a:extLst>
          </p:cNvPr>
          <p:cNvSpPr>
            <a:spLocks noGrp="1"/>
          </p:cNvSpPr>
          <p:nvPr>
            <p:ph type="title"/>
          </p:nvPr>
        </p:nvSpPr>
        <p:spPr>
          <a:noFill/>
        </p:spPr>
        <p:txBody>
          <a:bodyPr/>
          <a:lstStyle/>
          <a:p>
            <a:r>
              <a:rPr lang="zh-CN" altLang="en-US" b="1" dirty="0"/>
              <a:t>使用方法</a:t>
            </a:r>
            <a:r>
              <a:rPr lang="en-US" altLang="zh-CN" b="1" dirty="0"/>
              <a:t>-</a:t>
            </a:r>
            <a:r>
              <a:rPr lang="zh-CN" altLang="en-US" b="1" dirty="0"/>
              <a:t>几何合成与体积不确定性</a:t>
            </a:r>
            <a:endParaRPr lang="zh-CN" altLang="en-US" dirty="0"/>
          </a:p>
        </p:txBody>
      </p:sp>
      <p:sp>
        <p:nvSpPr>
          <p:cNvPr id="5" name="内容占位符 4">
            <a:extLst>
              <a:ext uri="{FF2B5EF4-FFF2-40B4-BE49-F238E27FC236}">
                <a16:creationId xmlns:a16="http://schemas.microsoft.com/office/drawing/2014/main" id="{2D743416-8F9C-704A-27B6-6EFDC7EC66E2}"/>
              </a:ext>
            </a:extLst>
          </p:cNvPr>
          <p:cNvSpPr>
            <a:spLocks noGrp="1"/>
          </p:cNvSpPr>
          <p:nvPr>
            <p:ph idx="1"/>
          </p:nvPr>
        </p:nvSpPr>
        <p:spPr>
          <a:xfrm>
            <a:off x="704426" y="1425645"/>
            <a:ext cx="10515600" cy="2003355"/>
          </a:xfrm>
        </p:spPr>
        <p:txBody>
          <a:bodyPr>
            <a:noAutofit/>
          </a:bodyPr>
          <a:lstStyle/>
          <a:p>
            <a:pPr>
              <a:lnSpc>
                <a:spcPct val="145000"/>
              </a:lnSpc>
            </a:pPr>
            <a:r>
              <a:rPr lang="zh-CN" altLang="en-US" sz="2400" dirty="0">
                <a:cs typeface="Arial" panose="020B0604020202020204" pitchFamily="34" charset="0"/>
              </a:rPr>
              <a:t>下图从左至右依次为双球体低采样数、双球体高采样数、球体</a:t>
            </a:r>
            <a:r>
              <a:rPr lang="en-US" altLang="zh-CN" sz="2400" dirty="0">
                <a:cs typeface="Arial" panose="020B0604020202020204" pitchFamily="34" charset="0"/>
              </a:rPr>
              <a:t>-</a:t>
            </a:r>
            <a:r>
              <a:rPr lang="zh-CN" altLang="en-US" sz="2400" dirty="0">
                <a:cs typeface="Arial" panose="020B0604020202020204" pitchFamily="34" charset="0"/>
              </a:rPr>
              <a:t>立方体低采样数、球体</a:t>
            </a:r>
            <a:r>
              <a:rPr lang="en-US" altLang="zh-CN" sz="2400" dirty="0">
                <a:cs typeface="Arial" panose="020B0604020202020204" pitchFamily="34" charset="0"/>
              </a:rPr>
              <a:t>-</a:t>
            </a:r>
            <a:r>
              <a:rPr lang="zh-CN" altLang="en-US" sz="2400" dirty="0">
                <a:cs typeface="Arial" panose="020B0604020202020204" pitchFamily="34" charset="0"/>
              </a:rPr>
              <a:t>立方体高采样数的渲染效果</a:t>
            </a:r>
            <a:endParaRPr lang="en-US" altLang="zh-CN" sz="2400" dirty="0">
              <a:solidFill>
                <a:schemeClr val="tx1"/>
              </a:solidFill>
              <a:cs typeface="Arial" panose="020B0604020202020204" pitchFamily="34" charset="0"/>
            </a:endParaRPr>
          </a:p>
        </p:txBody>
      </p:sp>
      <p:grpSp>
        <p:nvGrpSpPr>
          <p:cNvPr id="13" name="组合 12">
            <a:extLst>
              <a:ext uri="{FF2B5EF4-FFF2-40B4-BE49-F238E27FC236}">
                <a16:creationId xmlns:a16="http://schemas.microsoft.com/office/drawing/2014/main" id="{2C73CC24-D7E3-D799-20F4-CF70AA5422F8}"/>
              </a:ext>
            </a:extLst>
          </p:cNvPr>
          <p:cNvGrpSpPr/>
          <p:nvPr/>
        </p:nvGrpSpPr>
        <p:grpSpPr>
          <a:xfrm>
            <a:off x="581985" y="2938720"/>
            <a:ext cx="11028029" cy="2891200"/>
            <a:chOff x="704426" y="1865243"/>
            <a:chExt cx="19507200" cy="4876800"/>
          </a:xfrm>
        </p:grpSpPr>
        <p:pic>
          <p:nvPicPr>
            <p:cNvPr id="4" name="图片 3">
              <a:extLst>
                <a:ext uri="{FF2B5EF4-FFF2-40B4-BE49-F238E27FC236}">
                  <a16:creationId xmlns:a16="http://schemas.microsoft.com/office/drawing/2014/main" id="{13B7D279-103C-7DA5-50C0-D46187D1B0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81226" y="1865243"/>
              <a:ext cx="4876800" cy="4876800"/>
            </a:xfrm>
            <a:prstGeom prst="rect">
              <a:avLst/>
            </a:prstGeom>
          </p:spPr>
        </p:pic>
        <p:pic>
          <p:nvPicPr>
            <p:cNvPr id="8" name="图片 7">
              <a:extLst>
                <a:ext uri="{FF2B5EF4-FFF2-40B4-BE49-F238E27FC236}">
                  <a16:creationId xmlns:a16="http://schemas.microsoft.com/office/drawing/2014/main" id="{3D219094-26D2-11CF-BA59-60B872646B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426" y="1865243"/>
              <a:ext cx="4876800" cy="4876800"/>
            </a:xfrm>
            <a:prstGeom prst="rect">
              <a:avLst/>
            </a:prstGeom>
          </p:spPr>
        </p:pic>
        <p:pic>
          <p:nvPicPr>
            <p:cNvPr id="10" name="图片 9">
              <a:extLst>
                <a:ext uri="{FF2B5EF4-FFF2-40B4-BE49-F238E27FC236}">
                  <a16:creationId xmlns:a16="http://schemas.microsoft.com/office/drawing/2014/main" id="{A180F53A-45F4-60A3-D2F4-52777A622A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334826" y="1865243"/>
              <a:ext cx="4876800" cy="4876800"/>
            </a:xfrm>
            <a:prstGeom prst="rect">
              <a:avLst/>
            </a:prstGeom>
          </p:spPr>
        </p:pic>
        <p:pic>
          <p:nvPicPr>
            <p:cNvPr id="12" name="图片 11">
              <a:extLst>
                <a:ext uri="{FF2B5EF4-FFF2-40B4-BE49-F238E27FC236}">
                  <a16:creationId xmlns:a16="http://schemas.microsoft.com/office/drawing/2014/main" id="{42DED4C2-E9B5-CA82-A1F1-028EDCB69C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458026" y="1865243"/>
              <a:ext cx="4876800" cy="4876800"/>
            </a:xfrm>
            <a:prstGeom prst="rect">
              <a:avLst/>
            </a:prstGeom>
          </p:spPr>
        </p:pic>
      </p:grpSp>
    </p:spTree>
    <p:extLst>
      <p:ext uri="{BB962C8B-B14F-4D97-AF65-F5344CB8AC3E}">
        <p14:creationId xmlns:p14="http://schemas.microsoft.com/office/powerpoint/2010/main" val="16272475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CB28B-C789-351E-D9E5-52E4BA2FB78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56D34D9-F25B-E034-76F7-014CAC5CBCCE}"/>
              </a:ext>
            </a:extLst>
          </p:cNvPr>
          <p:cNvSpPr>
            <a:spLocks noGrp="1"/>
          </p:cNvSpPr>
          <p:nvPr>
            <p:ph type="title"/>
          </p:nvPr>
        </p:nvSpPr>
        <p:spPr>
          <a:noFill/>
        </p:spPr>
        <p:txBody>
          <a:bodyPr/>
          <a:lstStyle/>
          <a:p>
            <a:r>
              <a:rPr lang="zh-CN" altLang="en-US" b="1" dirty="0"/>
              <a:t>使用方法</a:t>
            </a:r>
            <a:r>
              <a:rPr lang="en-US" altLang="zh-CN" b="1" dirty="0"/>
              <a:t>-</a:t>
            </a:r>
            <a:r>
              <a:rPr lang="zh-CN" altLang="en-US" b="1" dirty="0"/>
              <a:t>几何合成与体积不确定性</a:t>
            </a:r>
            <a:endParaRPr lang="zh-CN" altLang="en-US" dirty="0"/>
          </a:p>
        </p:txBody>
      </p:sp>
      <p:sp>
        <p:nvSpPr>
          <p:cNvPr id="5" name="内容占位符 4">
            <a:extLst>
              <a:ext uri="{FF2B5EF4-FFF2-40B4-BE49-F238E27FC236}">
                <a16:creationId xmlns:a16="http://schemas.microsoft.com/office/drawing/2014/main" id="{E77F2050-1473-DAD8-3FE3-5A55CF7487BF}"/>
              </a:ext>
            </a:extLst>
          </p:cNvPr>
          <p:cNvSpPr>
            <a:spLocks noGrp="1"/>
          </p:cNvSpPr>
          <p:nvPr>
            <p:ph idx="1"/>
          </p:nvPr>
        </p:nvSpPr>
        <p:spPr>
          <a:xfrm>
            <a:off x="704426" y="1425645"/>
            <a:ext cx="10515600" cy="2003355"/>
          </a:xfrm>
        </p:spPr>
        <p:txBody>
          <a:bodyPr>
            <a:noAutofit/>
          </a:bodyPr>
          <a:lstStyle/>
          <a:p>
            <a:pPr>
              <a:lnSpc>
                <a:spcPct val="145000"/>
              </a:lnSpc>
            </a:pPr>
            <a:r>
              <a:rPr lang="zh-CN" altLang="en-US" sz="2400" dirty="0">
                <a:cs typeface="Arial" panose="020B0604020202020204" pitchFamily="34" charset="0"/>
              </a:rPr>
              <a:t>调整核函数幅度参数</a:t>
            </a:r>
            <a:r>
              <a:rPr lang="en-US" altLang="zh-CN" sz="2400" dirty="0">
                <a:cs typeface="Arial" panose="020B0604020202020204" pitchFamily="34" charset="0"/>
              </a:rPr>
              <a:t>Sigma</a:t>
            </a:r>
            <a:r>
              <a:rPr lang="zh-CN" altLang="en-US" sz="2400" dirty="0">
                <a:cs typeface="Arial" panose="020B0604020202020204" pitchFamily="34" charset="0"/>
              </a:rPr>
              <a:t>，使用默认双球体样例，自由调整其他配置，点击运行按钮，观察分析渲染结果和输出</a:t>
            </a:r>
            <a:endParaRPr lang="en-US" altLang="zh-CN" sz="2400" dirty="0">
              <a:cs typeface="Arial" panose="020B0604020202020204" pitchFamily="34" charset="0"/>
            </a:endParaRPr>
          </a:p>
          <a:p>
            <a:pPr>
              <a:lnSpc>
                <a:spcPct val="145000"/>
              </a:lnSpc>
            </a:pPr>
            <a:r>
              <a:rPr lang="zh-CN" altLang="en-US" sz="2400" dirty="0">
                <a:cs typeface="Arial" panose="020B0604020202020204" pitchFamily="34" charset="0"/>
              </a:rPr>
              <a:t>下图展示右侧球体的核函数幅度从小到大的渲染效果</a:t>
            </a:r>
            <a:endParaRPr lang="en-US" altLang="zh-CN" sz="2400" dirty="0">
              <a:solidFill>
                <a:schemeClr val="tx1"/>
              </a:solidFill>
              <a:cs typeface="Arial" panose="020B0604020202020204" pitchFamily="34" charset="0"/>
            </a:endParaRPr>
          </a:p>
          <a:p>
            <a:pPr>
              <a:lnSpc>
                <a:spcPct val="145000"/>
              </a:lnSpc>
            </a:pPr>
            <a:endParaRPr lang="en-US" altLang="zh-CN" sz="2400" dirty="0">
              <a:solidFill>
                <a:schemeClr val="tx1"/>
              </a:solidFill>
              <a:cs typeface="Arial" panose="020B0604020202020204" pitchFamily="34" charset="0"/>
            </a:endParaRPr>
          </a:p>
        </p:txBody>
      </p:sp>
      <p:grpSp>
        <p:nvGrpSpPr>
          <p:cNvPr id="14" name="组合 13">
            <a:extLst>
              <a:ext uri="{FF2B5EF4-FFF2-40B4-BE49-F238E27FC236}">
                <a16:creationId xmlns:a16="http://schemas.microsoft.com/office/drawing/2014/main" id="{3C77AA53-E76A-B315-6ABF-65F507A0838F}"/>
              </a:ext>
            </a:extLst>
          </p:cNvPr>
          <p:cNvGrpSpPr/>
          <p:nvPr/>
        </p:nvGrpSpPr>
        <p:grpSpPr>
          <a:xfrm>
            <a:off x="704426" y="3429000"/>
            <a:ext cx="10827026" cy="2706757"/>
            <a:chOff x="-2880691" y="5667591"/>
            <a:chExt cx="19507200" cy="4876800"/>
          </a:xfrm>
        </p:grpSpPr>
        <p:pic>
          <p:nvPicPr>
            <p:cNvPr id="8" name="图片 7">
              <a:extLst>
                <a:ext uri="{FF2B5EF4-FFF2-40B4-BE49-F238E27FC236}">
                  <a16:creationId xmlns:a16="http://schemas.microsoft.com/office/drawing/2014/main" id="{79B973B0-AE31-DF8E-9359-CCCD3939DB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0691" y="5667591"/>
              <a:ext cx="4876800" cy="4876800"/>
            </a:xfrm>
            <a:prstGeom prst="rect">
              <a:avLst/>
            </a:prstGeom>
          </p:spPr>
        </p:pic>
        <p:grpSp>
          <p:nvGrpSpPr>
            <p:cNvPr id="13" name="组合 12">
              <a:extLst>
                <a:ext uri="{FF2B5EF4-FFF2-40B4-BE49-F238E27FC236}">
                  <a16:creationId xmlns:a16="http://schemas.microsoft.com/office/drawing/2014/main" id="{CBBB350D-A128-C937-3932-1348C0C7AC38}"/>
                </a:ext>
              </a:extLst>
            </p:cNvPr>
            <p:cNvGrpSpPr/>
            <p:nvPr/>
          </p:nvGrpSpPr>
          <p:grpSpPr>
            <a:xfrm>
              <a:off x="1996109" y="5667591"/>
              <a:ext cx="14630400" cy="4876800"/>
              <a:chOff x="1996109" y="5667591"/>
              <a:chExt cx="14630400" cy="4876800"/>
            </a:xfrm>
          </p:grpSpPr>
          <p:pic>
            <p:nvPicPr>
              <p:cNvPr id="6" name="图片 5">
                <a:extLst>
                  <a:ext uri="{FF2B5EF4-FFF2-40B4-BE49-F238E27FC236}">
                    <a16:creationId xmlns:a16="http://schemas.microsoft.com/office/drawing/2014/main" id="{10E6B588-E1BA-CAA4-8E0D-75133643A3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49709" y="5667591"/>
                <a:ext cx="4876800" cy="4876800"/>
              </a:xfrm>
              <a:prstGeom prst="rect">
                <a:avLst/>
              </a:prstGeom>
            </p:spPr>
          </p:pic>
          <p:pic>
            <p:nvPicPr>
              <p:cNvPr id="10" name="图片 9">
                <a:extLst>
                  <a:ext uri="{FF2B5EF4-FFF2-40B4-BE49-F238E27FC236}">
                    <a16:creationId xmlns:a16="http://schemas.microsoft.com/office/drawing/2014/main" id="{2C900605-6897-7E33-2DDB-379E8BE65F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96109" y="5667591"/>
                <a:ext cx="4876800" cy="4876800"/>
              </a:xfrm>
              <a:prstGeom prst="rect">
                <a:avLst/>
              </a:prstGeom>
            </p:spPr>
          </p:pic>
          <p:pic>
            <p:nvPicPr>
              <p:cNvPr id="12" name="图片 11">
                <a:extLst>
                  <a:ext uri="{FF2B5EF4-FFF2-40B4-BE49-F238E27FC236}">
                    <a16:creationId xmlns:a16="http://schemas.microsoft.com/office/drawing/2014/main" id="{360A2E4A-EEC9-AB93-A4D0-00444DE308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72909" y="5667591"/>
                <a:ext cx="4876800" cy="4876800"/>
              </a:xfrm>
              <a:prstGeom prst="rect">
                <a:avLst/>
              </a:prstGeom>
            </p:spPr>
          </p:pic>
        </p:grpSp>
      </p:grpSp>
    </p:spTree>
    <p:extLst>
      <p:ext uri="{BB962C8B-B14F-4D97-AF65-F5344CB8AC3E}">
        <p14:creationId xmlns:p14="http://schemas.microsoft.com/office/powerpoint/2010/main" val="42124495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56D54-48C5-8A09-5197-F5FA1083D40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F7ED58F-5983-394F-D4C8-B867065FAB2B}"/>
              </a:ext>
            </a:extLst>
          </p:cNvPr>
          <p:cNvSpPr>
            <a:spLocks noGrp="1"/>
          </p:cNvSpPr>
          <p:nvPr>
            <p:ph type="title"/>
          </p:nvPr>
        </p:nvSpPr>
        <p:spPr>
          <a:noFill/>
        </p:spPr>
        <p:txBody>
          <a:bodyPr/>
          <a:lstStyle/>
          <a:p>
            <a:r>
              <a:rPr lang="zh-CN" altLang="en-US" b="1" dirty="0"/>
              <a:t>使用方法</a:t>
            </a:r>
            <a:r>
              <a:rPr lang="en-US" altLang="zh-CN" b="1" dirty="0"/>
              <a:t>-</a:t>
            </a:r>
            <a:r>
              <a:rPr lang="zh-CN" altLang="en-US" b="1" dirty="0"/>
              <a:t>均值与协方差</a:t>
            </a:r>
            <a:endParaRPr lang="zh-CN" altLang="en-US" dirty="0"/>
          </a:p>
        </p:txBody>
      </p:sp>
      <p:sp>
        <p:nvSpPr>
          <p:cNvPr id="5" name="内容占位符 4">
            <a:extLst>
              <a:ext uri="{FF2B5EF4-FFF2-40B4-BE49-F238E27FC236}">
                <a16:creationId xmlns:a16="http://schemas.microsoft.com/office/drawing/2014/main" id="{32C110CC-8008-21F5-4114-104177C4782B}"/>
              </a:ext>
            </a:extLst>
          </p:cNvPr>
          <p:cNvSpPr>
            <a:spLocks noGrp="1"/>
          </p:cNvSpPr>
          <p:nvPr>
            <p:ph idx="1"/>
          </p:nvPr>
        </p:nvSpPr>
        <p:spPr>
          <a:xfrm>
            <a:off x="704426" y="1425645"/>
            <a:ext cx="10515600" cy="2003355"/>
          </a:xfrm>
        </p:spPr>
        <p:txBody>
          <a:bodyPr>
            <a:noAutofit/>
          </a:bodyPr>
          <a:lstStyle/>
          <a:p>
            <a:pPr>
              <a:lnSpc>
                <a:spcPct val="145000"/>
              </a:lnSpc>
            </a:pPr>
            <a:r>
              <a:rPr lang="zh-CN" altLang="en-US" sz="2400" dirty="0">
                <a:cs typeface="Arial" panose="020B0604020202020204" pitchFamily="34" charset="0"/>
              </a:rPr>
              <a:t>选择不同的均值函数类型，自由调整其他配置，点击运行按钮，观察分析渲染结果和输出</a:t>
            </a:r>
            <a:endParaRPr lang="en-US" altLang="zh-CN" sz="2400" dirty="0">
              <a:cs typeface="Arial" panose="020B0604020202020204" pitchFamily="34" charset="0"/>
            </a:endParaRPr>
          </a:p>
        </p:txBody>
      </p:sp>
      <p:pic>
        <p:nvPicPr>
          <p:cNvPr id="4" name="图片 3">
            <a:extLst>
              <a:ext uri="{FF2B5EF4-FFF2-40B4-BE49-F238E27FC236}">
                <a16:creationId xmlns:a16="http://schemas.microsoft.com/office/drawing/2014/main" id="{936D82CB-BFF0-8446-592B-DA956FA3C2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2344" y="2244822"/>
            <a:ext cx="7620000" cy="3895714"/>
          </a:xfrm>
          <a:prstGeom prst="rect">
            <a:avLst/>
          </a:prstGeom>
        </p:spPr>
      </p:pic>
    </p:spTree>
    <p:extLst>
      <p:ext uri="{BB962C8B-B14F-4D97-AF65-F5344CB8AC3E}">
        <p14:creationId xmlns:p14="http://schemas.microsoft.com/office/powerpoint/2010/main" val="5546866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9CF02-41A0-C6B1-770E-E7CEBD08D6C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682331A-338A-52A0-52C2-F4A6B8C2F1F5}"/>
              </a:ext>
            </a:extLst>
          </p:cNvPr>
          <p:cNvSpPr>
            <a:spLocks noGrp="1"/>
          </p:cNvSpPr>
          <p:nvPr>
            <p:ph type="title"/>
          </p:nvPr>
        </p:nvSpPr>
        <p:spPr>
          <a:noFill/>
        </p:spPr>
        <p:txBody>
          <a:bodyPr/>
          <a:lstStyle/>
          <a:p>
            <a:r>
              <a:rPr lang="zh-CN" altLang="en-US" b="1" dirty="0"/>
              <a:t>使用方法</a:t>
            </a:r>
            <a:r>
              <a:rPr lang="en-US" altLang="zh-CN" b="1" dirty="0"/>
              <a:t>-</a:t>
            </a:r>
            <a:r>
              <a:rPr lang="zh-CN" altLang="en-US" b="1" dirty="0"/>
              <a:t>均值与协方差</a:t>
            </a:r>
            <a:endParaRPr lang="zh-CN" altLang="en-US" dirty="0"/>
          </a:p>
        </p:txBody>
      </p:sp>
      <p:sp>
        <p:nvSpPr>
          <p:cNvPr id="5" name="内容占位符 4">
            <a:extLst>
              <a:ext uri="{FF2B5EF4-FFF2-40B4-BE49-F238E27FC236}">
                <a16:creationId xmlns:a16="http://schemas.microsoft.com/office/drawing/2014/main" id="{9F2010A1-A155-7963-D32B-D3BC98959C3C}"/>
              </a:ext>
            </a:extLst>
          </p:cNvPr>
          <p:cNvSpPr>
            <a:spLocks noGrp="1"/>
          </p:cNvSpPr>
          <p:nvPr>
            <p:ph idx="1"/>
          </p:nvPr>
        </p:nvSpPr>
        <p:spPr>
          <a:xfrm>
            <a:off x="704426" y="1425645"/>
            <a:ext cx="10515600" cy="2003355"/>
          </a:xfrm>
        </p:spPr>
        <p:txBody>
          <a:bodyPr>
            <a:noAutofit/>
          </a:bodyPr>
          <a:lstStyle/>
          <a:p>
            <a:pPr>
              <a:lnSpc>
                <a:spcPct val="145000"/>
              </a:lnSpc>
            </a:pPr>
            <a:r>
              <a:rPr lang="zh-CN" altLang="en-US" sz="2400" dirty="0">
                <a:solidFill>
                  <a:schemeClr val="tx1"/>
                </a:solidFill>
                <a:cs typeface="Arial" panose="020B0604020202020204" pitchFamily="34" charset="0"/>
              </a:rPr>
              <a:t>下图从左至右依次为线性均值低</a:t>
            </a:r>
            <a:r>
              <a:rPr lang="en-US" altLang="zh-CN" sz="2400" dirty="0" err="1">
                <a:solidFill>
                  <a:schemeClr val="tx1"/>
                </a:solidFill>
                <a:cs typeface="Arial" panose="020B0604020202020204" pitchFamily="34" charset="0"/>
              </a:rPr>
              <a:t>spp</a:t>
            </a:r>
            <a:r>
              <a:rPr lang="zh-CN" altLang="en-US" sz="2400" dirty="0">
                <a:solidFill>
                  <a:schemeClr val="tx1"/>
                </a:solidFill>
                <a:cs typeface="Arial" panose="020B0604020202020204" pitchFamily="34" charset="0"/>
              </a:rPr>
              <a:t>、线性均值高</a:t>
            </a:r>
            <a:r>
              <a:rPr lang="en-US" altLang="zh-CN" sz="2400" dirty="0" err="1">
                <a:solidFill>
                  <a:schemeClr val="tx1"/>
                </a:solidFill>
                <a:cs typeface="Arial" panose="020B0604020202020204" pitchFamily="34" charset="0"/>
              </a:rPr>
              <a:t>spp</a:t>
            </a:r>
            <a:r>
              <a:rPr lang="zh-CN" altLang="en-US" sz="2400" dirty="0">
                <a:solidFill>
                  <a:schemeClr val="tx1"/>
                </a:solidFill>
                <a:cs typeface="Arial" panose="020B0604020202020204" pitchFamily="34" charset="0"/>
              </a:rPr>
              <a:t>、均匀均值低</a:t>
            </a:r>
            <a:r>
              <a:rPr lang="en-US" altLang="zh-CN" sz="2400" dirty="0" err="1">
                <a:solidFill>
                  <a:schemeClr val="tx1"/>
                </a:solidFill>
                <a:cs typeface="Arial" panose="020B0604020202020204" pitchFamily="34" charset="0"/>
              </a:rPr>
              <a:t>spp</a:t>
            </a:r>
            <a:r>
              <a:rPr lang="zh-CN" altLang="en-US" sz="2400" dirty="0">
                <a:solidFill>
                  <a:schemeClr val="tx1"/>
                </a:solidFill>
                <a:cs typeface="Arial" panose="020B0604020202020204" pitchFamily="34" charset="0"/>
              </a:rPr>
              <a:t>、均匀均值高</a:t>
            </a:r>
            <a:r>
              <a:rPr lang="en-US" altLang="zh-CN" sz="2400" dirty="0" err="1">
                <a:solidFill>
                  <a:schemeClr val="tx1"/>
                </a:solidFill>
                <a:cs typeface="Arial" panose="020B0604020202020204" pitchFamily="34" charset="0"/>
              </a:rPr>
              <a:t>spp</a:t>
            </a:r>
            <a:endParaRPr lang="en-US" altLang="zh-CN" sz="2400" dirty="0">
              <a:solidFill>
                <a:schemeClr val="tx1"/>
              </a:solidFill>
              <a:cs typeface="Arial" panose="020B0604020202020204" pitchFamily="34" charset="0"/>
            </a:endParaRPr>
          </a:p>
        </p:txBody>
      </p:sp>
      <p:grpSp>
        <p:nvGrpSpPr>
          <p:cNvPr id="3" name="组合 2">
            <a:extLst>
              <a:ext uri="{FF2B5EF4-FFF2-40B4-BE49-F238E27FC236}">
                <a16:creationId xmlns:a16="http://schemas.microsoft.com/office/drawing/2014/main" id="{ECE59C9F-7384-F984-E1CA-801056D574BF}"/>
              </a:ext>
            </a:extLst>
          </p:cNvPr>
          <p:cNvGrpSpPr/>
          <p:nvPr/>
        </p:nvGrpSpPr>
        <p:grpSpPr>
          <a:xfrm>
            <a:off x="588064" y="3254587"/>
            <a:ext cx="11015872" cy="2756452"/>
            <a:chOff x="589720" y="3892826"/>
            <a:chExt cx="11015872" cy="2756452"/>
          </a:xfrm>
        </p:grpSpPr>
        <p:pic>
          <p:nvPicPr>
            <p:cNvPr id="6" name="图片 5">
              <a:extLst>
                <a:ext uri="{FF2B5EF4-FFF2-40B4-BE49-F238E27FC236}">
                  <a16:creationId xmlns:a16="http://schemas.microsoft.com/office/drawing/2014/main" id="{D4310AFD-CC92-5C3D-E895-33F1639CB2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49140" y="3892826"/>
              <a:ext cx="2756452" cy="2756452"/>
            </a:xfrm>
            <a:prstGeom prst="rect">
              <a:avLst/>
            </a:prstGeom>
          </p:spPr>
        </p:pic>
        <p:pic>
          <p:nvPicPr>
            <p:cNvPr id="8" name="图片 7">
              <a:extLst>
                <a:ext uri="{FF2B5EF4-FFF2-40B4-BE49-F238E27FC236}">
                  <a16:creationId xmlns:a16="http://schemas.microsoft.com/office/drawing/2014/main" id="{1BCF987C-31CE-D69D-A9B2-B16CD5340A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892826"/>
              <a:ext cx="2756452" cy="2756452"/>
            </a:xfrm>
            <a:prstGeom prst="rect">
              <a:avLst/>
            </a:prstGeom>
          </p:spPr>
        </p:pic>
        <p:pic>
          <p:nvPicPr>
            <p:cNvPr id="10" name="图片 9">
              <a:extLst>
                <a:ext uri="{FF2B5EF4-FFF2-40B4-BE49-F238E27FC236}">
                  <a16:creationId xmlns:a16="http://schemas.microsoft.com/office/drawing/2014/main" id="{152F80BC-2837-1187-BA6D-D661DAF8BC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9720" y="3892826"/>
              <a:ext cx="2756452" cy="2756452"/>
            </a:xfrm>
            <a:prstGeom prst="rect">
              <a:avLst/>
            </a:prstGeom>
          </p:spPr>
        </p:pic>
        <p:pic>
          <p:nvPicPr>
            <p:cNvPr id="12" name="图片 11">
              <a:extLst>
                <a:ext uri="{FF2B5EF4-FFF2-40B4-BE49-F238E27FC236}">
                  <a16:creationId xmlns:a16="http://schemas.microsoft.com/office/drawing/2014/main" id="{59B40252-3C7D-3A89-6537-621B164C4D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42860" y="3892826"/>
              <a:ext cx="2753140" cy="2753140"/>
            </a:xfrm>
            <a:prstGeom prst="rect">
              <a:avLst/>
            </a:prstGeom>
          </p:spPr>
        </p:pic>
      </p:grpSp>
    </p:spTree>
    <p:extLst>
      <p:ext uri="{BB962C8B-B14F-4D97-AF65-F5344CB8AC3E}">
        <p14:creationId xmlns:p14="http://schemas.microsoft.com/office/powerpoint/2010/main" val="33198514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D5FDC-E530-B9A2-4C29-397F306C0DB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BB3C3B2-DB25-1D24-3E59-FF2D7C0F9B0A}"/>
              </a:ext>
            </a:extLst>
          </p:cNvPr>
          <p:cNvSpPr>
            <a:spLocks noGrp="1"/>
          </p:cNvSpPr>
          <p:nvPr>
            <p:ph type="title"/>
          </p:nvPr>
        </p:nvSpPr>
        <p:spPr>
          <a:noFill/>
        </p:spPr>
        <p:txBody>
          <a:bodyPr/>
          <a:lstStyle/>
          <a:p>
            <a:r>
              <a:rPr lang="zh-CN" altLang="en-US" b="1" dirty="0"/>
              <a:t>使用方法</a:t>
            </a:r>
            <a:r>
              <a:rPr lang="en-US" altLang="zh-CN" b="1" dirty="0"/>
              <a:t>-</a:t>
            </a:r>
            <a:r>
              <a:rPr lang="zh-CN" altLang="en-US" b="1" dirty="0"/>
              <a:t>均值与协方差</a:t>
            </a:r>
            <a:endParaRPr lang="zh-CN" altLang="en-US" dirty="0"/>
          </a:p>
        </p:txBody>
      </p:sp>
      <p:sp>
        <p:nvSpPr>
          <p:cNvPr id="5" name="内容占位符 4">
            <a:extLst>
              <a:ext uri="{FF2B5EF4-FFF2-40B4-BE49-F238E27FC236}">
                <a16:creationId xmlns:a16="http://schemas.microsoft.com/office/drawing/2014/main" id="{06608A9C-60CF-1E92-2894-6C4498474A00}"/>
              </a:ext>
            </a:extLst>
          </p:cNvPr>
          <p:cNvSpPr>
            <a:spLocks noGrp="1"/>
          </p:cNvSpPr>
          <p:nvPr>
            <p:ph idx="1"/>
          </p:nvPr>
        </p:nvSpPr>
        <p:spPr>
          <a:xfrm>
            <a:off x="704426" y="1425645"/>
            <a:ext cx="10868038" cy="2003355"/>
          </a:xfrm>
        </p:spPr>
        <p:txBody>
          <a:bodyPr>
            <a:noAutofit/>
          </a:bodyPr>
          <a:lstStyle/>
          <a:p>
            <a:pPr>
              <a:lnSpc>
                <a:spcPct val="145000"/>
              </a:lnSpc>
            </a:pPr>
            <a:r>
              <a:rPr lang="zh-CN" altLang="en-US" sz="2400" dirty="0">
                <a:cs typeface="Arial" panose="020B0604020202020204" pitchFamily="34" charset="0"/>
              </a:rPr>
              <a:t>选择平方指数协方差协方差核，调控协方差长度尺度。自由调整其他配置，点击运行按钮，观察分析渲染结果和输出</a:t>
            </a:r>
            <a:endParaRPr lang="en-US" altLang="zh-CN" sz="2400" dirty="0">
              <a:cs typeface="Arial" panose="020B0604020202020204" pitchFamily="34" charset="0"/>
            </a:endParaRPr>
          </a:p>
          <a:p>
            <a:pPr>
              <a:lnSpc>
                <a:spcPct val="145000"/>
              </a:lnSpc>
            </a:pPr>
            <a:r>
              <a:rPr lang="zh-CN" altLang="en-US" sz="2400" dirty="0">
                <a:cs typeface="Arial" panose="020B0604020202020204" pitchFamily="34" charset="0"/>
              </a:rPr>
              <a:t>下图展示从小到大的协方差长度尺度下的渲染效果。、</a:t>
            </a:r>
            <a:endParaRPr lang="en-US" altLang="zh-CN" sz="2400" dirty="0">
              <a:solidFill>
                <a:schemeClr val="tx1"/>
              </a:solidFill>
              <a:cs typeface="Arial" panose="020B0604020202020204" pitchFamily="34" charset="0"/>
            </a:endParaRPr>
          </a:p>
        </p:txBody>
      </p:sp>
      <p:grpSp>
        <p:nvGrpSpPr>
          <p:cNvPr id="16" name="组合 15">
            <a:extLst>
              <a:ext uri="{FF2B5EF4-FFF2-40B4-BE49-F238E27FC236}">
                <a16:creationId xmlns:a16="http://schemas.microsoft.com/office/drawing/2014/main" id="{40285642-8926-BBF7-9673-461808F24FEC}"/>
              </a:ext>
            </a:extLst>
          </p:cNvPr>
          <p:cNvGrpSpPr/>
          <p:nvPr/>
        </p:nvGrpSpPr>
        <p:grpSpPr>
          <a:xfrm>
            <a:off x="619536" y="3565186"/>
            <a:ext cx="10952928" cy="2738232"/>
            <a:chOff x="172278" y="1425645"/>
            <a:chExt cx="19507200" cy="4876800"/>
          </a:xfrm>
        </p:grpSpPr>
        <p:pic>
          <p:nvPicPr>
            <p:cNvPr id="4" name="图片 3">
              <a:extLst>
                <a:ext uri="{FF2B5EF4-FFF2-40B4-BE49-F238E27FC236}">
                  <a16:creationId xmlns:a16="http://schemas.microsoft.com/office/drawing/2014/main" id="{30408ED8-8B5A-D4B6-6086-8E93D8CDC0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278" y="1425645"/>
              <a:ext cx="4876800" cy="4876800"/>
            </a:xfrm>
            <a:prstGeom prst="rect">
              <a:avLst/>
            </a:prstGeom>
          </p:spPr>
        </p:pic>
        <p:pic>
          <p:nvPicPr>
            <p:cNvPr id="9" name="图片 8">
              <a:extLst>
                <a:ext uri="{FF2B5EF4-FFF2-40B4-BE49-F238E27FC236}">
                  <a16:creationId xmlns:a16="http://schemas.microsoft.com/office/drawing/2014/main" id="{FCAF40D7-7D58-C33D-F3E5-202C541F04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49078" y="1425645"/>
              <a:ext cx="4876800" cy="4876800"/>
            </a:xfrm>
            <a:prstGeom prst="rect">
              <a:avLst/>
            </a:prstGeom>
          </p:spPr>
        </p:pic>
        <p:pic>
          <p:nvPicPr>
            <p:cNvPr id="13" name="图片 12">
              <a:extLst>
                <a:ext uri="{FF2B5EF4-FFF2-40B4-BE49-F238E27FC236}">
                  <a16:creationId xmlns:a16="http://schemas.microsoft.com/office/drawing/2014/main" id="{B5D2A7C2-F95A-697B-6956-4252CD0B10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25878" y="1425645"/>
              <a:ext cx="4876800" cy="4876800"/>
            </a:xfrm>
            <a:prstGeom prst="rect">
              <a:avLst/>
            </a:prstGeom>
          </p:spPr>
        </p:pic>
        <p:pic>
          <p:nvPicPr>
            <p:cNvPr id="15" name="图片 14">
              <a:extLst>
                <a:ext uri="{FF2B5EF4-FFF2-40B4-BE49-F238E27FC236}">
                  <a16:creationId xmlns:a16="http://schemas.microsoft.com/office/drawing/2014/main" id="{206D4B88-98A7-2A77-937B-BC8FF6D081F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802678" y="1425645"/>
              <a:ext cx="4876800" cy="4876800"/>
            </a:xfrm>
            <a:prstGeom prst="rect">
              <a:avLst/>
            </a:prstGeom>
          </p:spPr>
        </p:pic>
      </p:grpSp>
    </p:spTree>
    <p:extLst>
      <p:ext uri="{BB962C8B-B14F-4D97-AF65-F5344CB8AC3E}">
        <p14:creationId xmlns:p14="http://schemas.microsoft.com/office/powerpoint/2010/main" val="36033908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D39B6-5526-D91A-891D-11C8E87C624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0380161-F5EF-5DE5-883C-B0232A8824E9}"/>
              </a:ext>
            </a:extLst>
          </p:cNvPr>
          <p:cNvSpPr>
            <a:spLocks noGrp="1"/>
          </p:cNvSpPr>
          <p:nvPr>
            <p:ph type="title"/>
          </p:nvPr>
        </p:nvSpPr>
        <p:spPr>
          <a:noFill/>
        </p:spPr>
        <p:txBody>
          <a:bodyPr/>
          <a:lstStyle/>
          <a:p>
            <a:r>
              <a:rPr lang="zh-CN" altLang="en-US" b="1" dirty="0"/>
              <a:t>使用方法</a:t>
            </a:r>
            <a:r>
              <a:rPr lang="en-US" altLang="zh-CN" b="1" dirty="0"/>
              <a:t>-</a:t>
            </a:r>
            <a:r>
              <a:rPr lang="zh-CN" altLang="en-US" b="1" dirty="0"/>
              <a:t>采样密度分布</a:t>
            </a:r>
            <a:endParaRPr lang="zh-CN" altLang="en-US" dirty="0"/>
          </a:p>
        </p:txBody>
      </p:sp>
      <p:sp>
        <p:nvSpPr>
          <p:cNvPr id="5" name="内容占位符 4">
            <a:extLst>
              <a:ext uri="{FF2B5EF4-FFF2-40B4-BE49-F238E27FC236}">
                <a16:creationId xmlns:a16="http://schemas.microsoft.com/office/drawing/2014/main" id="{ECDC2A00-D3D0-7188-164A-F11A39874910}"/>
              </a:ext>
            </a:extLst>
          </p:cNvPr>
          <p:cNvSpPr>
            <a:spLocks noGrp="1"/>
          </p:cNvSpPr>
          <p:nvPr>
            <p:ph idx="1"/>
          </p:nvPr>
        </p:nvSpPr>
        <p:spPr>
          <a:xfrm>
            <a:off x="704426" y="1425645"/>
            <a:ext cx="10745452" cy="2003355"/>
          </a:xfrm>
        </p:spPr>
        <p:txBody>
          <a:bodyPr>
            <a:noAutofit/>
          </a:bodyPr>
          <a:lstStyle/>
          <a:p>
            <a:pPr>
              <a:lnSpc>
                <a:spcPct val="145000"/>
              </a:lnSpc>
            </a:pPr>
            <a:r>
              <a:rPr lang="zh-CN" altLang="en-US" sz="2400" dirty="0">
                <a:solidFill>
                  <a:schemeClr val="tx1"/>
                </a:solidFill>
                <a:cs typeface="Arial" panose="020B0604020202020204" pitchFamily="34" charset="0"/>
              </a:rPr>
              <a:t>系统默认使用由随机泊松表面</a:t>
            </a:r>
            <a:r>
              <a:rPr lang="zh-CN" altLang="en-US" sz="2400" dirty="0"/>
              <a:t>（</a:t>
            </a:r>
            <a:r>
              <a:rPr lang="en-US" altLang="zh-CN" sz="2400" dirty="0" err="1"/>
              <a:t>StochasticPoisson</a:t>
            </a:r>
            <a:r>
              <a:rPr lang="en-US" altLang="zh-CN" sz="2400" dirty="0"/>
              <a:t> Surface Reconstruction </a:t>
            </a:r>
            <a:r>
              <a:rPr lang="zh-CN" altLang="en-US" sz="2400" dirty="0"/>
              <a:t>，</a:t>
            </a:r>
            <a:r>
              <a:rPr lang="en-US" altLang="zh-CN" sz="2400" dirty="0"/>
              <a:t>SPSR</a:t>
            </a:r>
            <a:r>
              <a:rPr lang="zh-CN" altLang="en-US" sz="2400" dirty="0"/>
              <a:t>）重建的实验样例，直接加载直接加载生成包含</a:t>
            </a:r>
            <a:r>
              <a:rPr lang="en-US" altLang="zh-CN" sz="2400" dirty="0"/>
              <a:t>mean</a:t>
            </a:r>
            <a:r>
              <a:rPr lang="zh-CN" altLang="en-US" sz="2400" dirty="0"/>
              <a:t>和</a:t>
            </a:r>
            <a:r>
              <a:rPr lang="en-US" altLang="zh-CN" sz="2400" dirty="0"/>
              <a:t>variance</a:t>
            </a:r>
            <a:r>
              <a:rPr lang="zh-CN" altLang="en-US" sz="2400" dirty="0"/>
              <a:t>字段的</a:t>
            </a:r>
            <a:r>
              <a:rPr lang="en-US" altLang="zh-CN" sz="2400" dirty="0"/>
              <a:t>.</a:t>
            </a:r>
            <a:r>
              <a:rPr lang="en-US" altLang="zh-CN" sz="2400" dirty="0" err="1"/>
              <a:t>vdb</a:t>
            </a:r>
            <a:r>
              <a:rPr lang="zh-CN" altLang="en-US" sz="2400" dirty="0"/>
              <a:t>文件。</a:t>
            </a:r>
            <a:r>
              <a:rPr lang="zh-CN" altLang="en-US" sz="2400" dirty="0">
                <a:cs typeface="Arial" panose="020B0604020202020204" pitchFamily="34" charset="0"/>
              </a:rPr>
              <a:t>自由调整其他配置，点击运行按钮，观察分析渲染结果</a:t>
            </a:r>
            <a:r>
              <a:rPr lang="zh-CN" altLang="en-US" sz="2400">
                <a:cs typeface="Arial" panose="020B0604020202020204" pitchFamily="34" charset="0"/>
              </a:rPr>
              <a:t>和输出</a:t>
            </a:r>
            <a:endParaRPr lang="en-US" altLang="zh-CN" sz="2400" dirty="0">
              <a:cs typeface="Arial" panose="020B0604020202020204" pitchFamily="34" charset="0"/>
            </a:endParaRPr>
          </a:p>
          <a:p>
            <a:pPr>
              <a:lnSpc>
                <a:spcPct val="145000"/>
              </a:lnSpc>
            </a:pPr>
            <a:r>
              <a:rPr lang="zh-CN" altLang="en-US" sz="2400" dirty="0">
                <a:cs typeface="Arial" panose="020B0604020202020204" pitchFamily="34" charset="0"/>
              </a:rPr>
              <a:t>下图展示每像素采样数从小到大的渲染效果</a:t>
            </a:r>
            <a:endParaRPr lang="en-US" altLang="zh-CN" sz="2400" dirty="0">
              <a:solidFill>
                <a:schemeClr val="tx1"/>
              </a:solidFill>
              <a:cs typeface="Arial" panose="020B0604020202020204" pitchFamily="34" charset="0"/>
            </a:endParaRPr>
          </a:p>
          <a:p>
            <a:pPr>
              <a:lnSpc>
                <a:spcPct val="145000"/>
              </a:lnSpc>
            </a:pPr>
            <a:endParaRPr lang="en-US" altLang="zh-CN" sz="2400" dirty="0">
              <a:solidFill>
                <a:schemeClr val="tx1"/>
              </a:solidFill>
              <a:cs typeface="Arial" panose="020B0604020202020204" pitchFamily="34" charset="0"/>
            </a:endParaRPr>
          </a:p>
        </p:txBody>
      </p:sp>
      <p:grpSp>
        <p:nvGrpSpPr>
          <p:cNvPr id="13" name="组合 12">
            <a:extLst>
              <a:ext uri="{FF2B5EF4-FFF2-40B4-BE49-F238E27FC236}">
                <a16:creationId xmlns:a16="http://schemas.microsoft.com/office/drawing/2014/main" id="{196B12F6-E26D-6AA0-A643-AFFCA08A0758}"/>
              </a:ext>
            </a:extLst>
          </p:cNvPr>
          <p:cNvGrpSpPr/>
          <p:nvPr/>
        </p:nvGrpSpPr>
        <p:grpSpPr>
          <a:xfrm>
            <a:off x="838200" y="3863442"/>
            <a:ext cx="10517733" cy="2629433"/>
            <a:chOff x="190500" y="3959260"/>
            <a:chExt cx="19507200" cy="4876800"/>
          </a:xfrm>
        </p:grpSpPr>
        <p:pic>
          <p:nvPicPr>
            <p:cNvPr id="6" name="图片 5">
              <a:extLst>
                <a:ext uri="{FF2B5EF4-FFF2-40B4-BE49-F238E27FC236}">
                  <a16:creationId xmlns:a16="http://schemas.microsoft.com/office/drawing/2014/main" id="{8B0E054C-0195-A030-EC62-DDD4783805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20900" y="3959260"/>
              <a:ext cx="4876800" cy="4876800"/>
            </a:xfrm>
            <a:prstGeom prst="rect">
              <a:avLst/>
            </a:prstGeom>
          </p:spPr>
        </p:pic>
        <p:pic>
          <p:nvPicPr>
            <p:cNvPr id="8" name="图片 7">
              <a:extLst>
                <a:ext uri="{FF2B5EF4-FFF2-40B4-BE49-F238E27FC236}">
                  <a16:creationId xmlns:a16="http://schemas.microsoft.com/office/drawing/2014/main" id="{A7909496-B442-24F2-F754-38B0C16E04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00" y="3959260"/>
              <a:ext cx="4876800" cy="4876800"/>
            </a:xfrm>
            <a:prstGeom prst="rect">
              <a:avLst/>
            </a:prstGeom>
          </p:spPr>
        </p:pic>
        <p:pic>
          <p:nvPicPr>
            <p:cNvPr id="10" name="图片 9">
              <a:extLst>
                <a:ext uri="{FF2B5EF4-FFF2-40B4-BE49-F238E27FC236}">
                  <a16:creationId xmlns:a16="http://schemas.microsoft.com/office/drawing/2014/main" id="{7C8D22E9-3165-E1E4-765E-638348FC13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67300" y="3959260"/>
              <a:ext cx="4876800" cy="4876800"/>
            </a:xfrm>
            <a:prstGeom prst="rect">
              <a:avLst/>
            </a:prstGeom>
          </p:spPr>
        </p:pic>
        <p:pic>
          <p:nvPicPr>
            <p:cNvPr id="12" name="图片 11">
              <a:extLst>
                <a:ext uri="{FF2B5EF4-FFF2-40B4-BE49-F238E27FC236}">
                  <a16:creationId xmlns:a16="http://schemas.microsoft.com/office/drawing/2014/main" id="{F5A95635-E584-DDED-262D-394E9C69955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44100" y="3959260"/>
              <a:ext cx="4876800" cy="4876800"/>
            </a:xfrm>
            <a:prstGeom prst="rect">
              <a:avLst/>
            </a:prstGeom>
          </p:spPr>
        </p:pic>
      </p:grpSp>
    </p:spTree>
    <p:extLst>
      <p:ext uri="{BB962C8B-B14F-4D97-AF65-F5344CB8AC3E}">
        <p14:creationId xmlns:p14="http://schemas.microsoft.com/office/powerpoint/2010/main" val="95094008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469</TotalTime>
  <Words>1408</Words>
  <Application>Microsoft Office PowerPoint</Application>
  <PresentationFormat>宽屏</PresentationFormat>
  <Paragraphs>170</Paragraphs>
  <Slides>32</Slides>
  <Notes>9</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32</vt:i4>
      </vt:variant>
    </vt:vector>
  </HeadingPairs>
  <TitlesOfParts>
    <vt:vector size="37" baseType="lpstr">
      <vt:lpstr>等线</vt:lpstr>
      <vt:lpstr>等线 Light</vt:lpstr>
      <vt:lpstr>微软雅黑</vt:lpstr>
      <vt:lpstr>Arial</vt:lpstr>
      <vt:lpstr>Office 主题​​</vt:lpstr>
      <vt:lpstr>计算机图形学 实验十：基于随机几何的光传输理论的教学演示程序</vt:lpstr>
      <vt:lpstr>实验内容</vt:lpstr>
      <vt:lpstr>环境配置</vt:lpstr>
      <vt:lpstr>编译说明-1</vt:lpstr>
      <vt:lpstr>编译说明-2</vt:lpstr>
      <vt:lpstr>编译说明-3</vt:lpstr>
      <vt:lpstr>编译说明-4</vt:lpstr>
      <vt:lpstr>编译说明-5</vt:lpstr>
      <vt:lpstr>编译说明-6</vt:lpstr>
      <vt:lpstr>编译说明-7</vt:lpstr>
      <vt:lpstr>编译说明-成功界面</vt:lpstr>
      <vt:lpstr>使用方法-导航界面</vt:lpstr>
      <vt:lpstr>使用方法-详情界面</vt:lpstr>
      <vt:lpstr>使用方法-详情界面</vt:lpstr>
      <vt:lpstr>使用方法-详情界面</vt:lpstr>
      <vt:lpstr>使用方法-Media</vt:lpstr>
      <vt:lpstr>使用方法-Media</vt:lpstr>
      <vt:lpstr>使用方法-Media</vt:lpstr>
      <vt:lpstr>使用方法-Media</vt:lpstr>
      <vt:lpstr>使用方法-Media</vt:lpstr>
      <vt:lpstr>使用方法-Camera</vt:lpstr>
      <vt:lpstr>使用方法-Renderer</vt:lpstr>
      <vt:lpstr>使用方法-Integrator</vt:lpstr>
      <vt:lpstr>使用方法-渲染框架与记忆模型</vt:lpstr>
      <vt:lpstr>使用方法-渲染框架与记忆模型</vt:lpstr>
      <vt:lpstr>使用方法-几何合成与体积不确定性</vt:lpstr>
      <vt:lpstr>使用方法-几何合成与体积不确定性</vt:lpstr>
      <vt:lpstr>使用方法-几何合成与体积不确定性</vt:lpstr>
      <vt:lpstr>使用方法-均值与协方差</vt:lpstr>
      <vt:lpstr>使用方法-均值与协方差</vt:lpstr>
      <vt:lpstr>使用方法-均值与协方差</vt:lpstr>
      <vt:lpstr>使用方法-采样密度分布</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1193156762@qq.com</dc:creator>
  <cp:lastModifiedBy>1193156762@qq.com</cp:lastModifiedBy>
  <cp:revision>15</cp:revision>
  <dcterms:created xsi:type="dcterms:W3CDTF">2026-01-07T15:28:02Z</dcterms:created>
  <dcterms:modified xsi:type="dcterms:W3CDTF">2026-01-08T08:12:41Z</dcterms:modified>
</cp:coreProperties>
</file>