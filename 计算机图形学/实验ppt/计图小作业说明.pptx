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6"/>
  </p:notesMasterIdLst>
  <p:sldIdLst>
    <p:sldId id="256" r:id="rId4"/>
    <p:sldId id="257" r:id="rId5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Click to move the slide</a:t>
            </a:r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000" b="0" strike="noStrike" spc="-1">
                <a:latin typeface="Arial" panose="020B0604020202020204"/>
              </a:rPr>
              <a:t>Click to edit the notes format</a:t>
            </a:r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400" b="0" strike="noStrike" spc="-1">
                <a:latin typeface="Times New Roman" panose="02020603050405020304"/>
              </a:rPr>
              <a:t>&lt;header&gt;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r">
              <a:buNone/>
            </a:pPr>
            <a:fld id="{8AAE1744-4961-4D96-AD93-A731BF318BA1}" type="slidenum">
              <a:rPr lang="en-US" sz="1400" b="0" strike="noStrike" spc="-1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5183582-CE0A-4C2B-BF2D-E360B652E3EF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A71FE81-7B6D-44A8-BF56-7CDBD6F80805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53C4C3-EB4D-44B7-8185-43589D226339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5900" indent="-215900">
              <a:lnSpc>
                <a:spcPct val="100000"/>
              </a:lnSpc>
              <a:buNone/>
            </a:pPr>
            <a:r>
              <a:rPr lang="zh-CN" sz="2000" b="1" strike="noStrike" spc="-1">
                <a:latin typeface="Arial" panose="020B0604020202020204"/>
              </a:rPr>
              <a:t>此处进入网站详细讲。</a:t>
            </a:r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571BCC0-5B4B-4DB1-8C3D-69475A577D1F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594DBCD-DA45-4D6A-9074-48CAC0A161B8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17A65E-C794-4632-A858-2149021AABFA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DDBBE9-186B-49CB-B758-D52DA89ADCA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C3E650-FCC8-4876-AB07-25271CB86C22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4B92C3-E764-4FD6-BC24-12AA7B0A8E66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5900" indent="-215900">
              <a:lnSpc>
                <a:spcPct val="100000"/>
              </a:lnSpc>
              <a:buNone/>
            </a:pPr>
            <a:r>
              <a:rPr lang="zh-CN" sz="2000" b="0" strike="noStrike" spc="-1">
                <a:latin typeface="Arial" panose="020B0604020202020204"/>
              </a:rPr>
              <a:t>注意发布的作业中公式</a:t>
            </a:r>
            <a:r>
              <a:rPr lang="en-US" sz="2000" b="0" strike="noStrike" spc="-1">
                <a:latin typeface="Arial" panose="020B0604020202020204"/>
              </a:rPr>
              <a:t>2</a:t>
            </a:r>
            <a:r>
              <a:rPr lang="zh-CN" sz="2000" b="0" strike="noStrike" spc="-1">
                <a:latin typeface="Arial" panose="020B0604020202020204"/>
              </a:rPr>
              <a:t>是错的，平方在里面</a:t>
            </a:r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 panose="02020603050405020304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1A8EBA-27D7-40CF-9F86-921BA5D54083}" type="slidenum">
              <a:rPr lang="en-US" sz="1200" b="0" strike="noStrike" spc="-1">
                <a:latin typeface="Times New Roman" panose="02020603050405020304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en-US" altLang="zh-CN"/>
              <a:t>https://send2me.cn/EWaITmHz/R3KDLM09V0dZFw</a:t>
            </a:r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5900" indent="-215900">
              <a:lnSpc>
                <a:spcPct val="100000"/>
              </a:lnSpc>
              <a:buNone/>
            </a:pPr>
            <a:r>
              <a:rPr lang="en-US" sz="2000" b="1" strike="noStrike" spc="-1">
                <a:latin typeface="Arial" panose="020B0604020202020204"/>
              </a:rPr>
              <a:t>README</a:t>
            </a:r>
            <a:r>
              <a:rPr lang="zh-CN" sz="2000" b="1" strike="noStrike" spc="-1">
                <a:latin typeface="Arial" panose="020B0604020202020204"/>
              </a:rPr>
              <a:t>文件书写规则进入网站详细讲。 </a:t>
            </a:r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 panose="02020603050405020304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2F4FCEF-ACDD-4D50-A802-6CABCC7CE9D5}" type="slidenum">
              <a:rPr lang="en-US" sz="1200" b="0" strike="noStrike" spc="-1">
                <a:latin typeface="Times New Roman" panose="02020603050405020304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7672BE-CE20-46BF-8BBD-346976C10559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A4B341-E409-49A1-876B-8E32441B7E14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EF74E6-9F54-46CF-B1A7-644F16559B75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541EAF-958B-4DC6-9C81-25E64F84A04C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9ECDDF-D17C-4DEA-BA4A-3D5BE2421819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831960" y="1709640"/>
            <a:ext cx="10515240" cy="1322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795A90-4D3C-4429-8DBF-D81169CC8EDB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83196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7A9736-7B82-4D0B-B2E0-54B40869DD97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2008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120242-AE2A-49B5-B6CF-228C161D2985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831960" y="5373360"/>
            <a:ext cx="105152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04E782-4039-41C3-BF66-7692AA8B4080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831960" y="5373360"/>
            <a:ext cx="105152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996EE6-94AA-4C33-9FA6-EA6E9BA8A57C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3196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2008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B30090-80F1-48F8-8D49-B45B7D6B5165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387320" y="458964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7943040" y="458964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831960" y="537336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387320" y="537336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7943040" y="537336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D7AAE3-B222-4D19-8EC0-ED047EB1553A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75BB62-9F99-4D6E-9A9A-1B441D71857B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71B190-A0A3-4812-A5FF-2D2DB324F62A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12FBCE-04BE-4EBF-8BAB-55619E616A57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FBCBC8-2C2D-4464-95F4-CE966EB9FD62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4B1FA9-7505-401B-9970-8AD43ADD436D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831960" y="1709640"/>
            <a:ext cx="10515240" cy="1322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0AF0F8-DF00-422F-AFA5-E569E26301E9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83196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19ABF0-16DA-46F8-BF6B-06723E47A27E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2008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84E998-CC5D-4C47-BD5A-AF028444AAFC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831960" y="5373360"/>
            <a:ext cx="105152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ABA4E4-A33E-461E-BE75-BF8B3E840EC3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831960" y="5373360"/>
            <a:ext cx="105152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176FEC-BF48-4526-91F0-8F2FF6B5A47D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20080" y="458964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83196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220080" y="5373360"/>
            <a:ext cx="5131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B2B7D0-03BE-47DA-A641-07BC7C0A4F74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387320" y="458964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7943040" y="458964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831960" y="537336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4387320" y="537336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7943040" y="5373360"/>
            <a:ext cx="338580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FCD300-0597-486B-9708-BB776330AB18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image" Target="../media/image2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/>
          <p:cNvPicPr/>
          <p:nvPr/>
        </p:nvPicPr>
        <p:blipFill>
          <a:blip r:embed="rId13"/>
          <a:stretch>
            <a:fillRect/>
          </a:stretch>
        </p:blipFill>
        <p:spPr>
          <a:xfrm>
            <a:off x="9198000" y="82440"/>
            <a:ext cx="687960" cy="683640"/>
          </a:xfrm>
          <a:prstGeom prst="rect">
            <a:avLst/>
          </a:prstGeom>
          <a:ln w="0">
            <a:noFill/>
          </a:ln>
        </p:spPr>
      </p:pic>
      <p:pic>
        <p:nvPicPr>
          <p:cNvPr id="2" name="图形 7"/>
          <p:cNvPicPr/>
          <p:nvPr/>
        </p:nvPicPr>
        <p:blipFill>
          <a:blip r:embed="rId14"/>
          <a:stretch>
            <a:fillRect/>
          </a:stretch>
        </p:blipFill>
        <p:spPr>
          <a:xfrm>
            <a:off x="9761760" y="-52560"/>
            <a:ext cx="2591640" cy="954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lang="zh-CN" sz="6000" b="0" strike="noStrike" spc="-1">
                <a:solidFill>
                  <a:srgbClr val="000000"/>
                </a:solidFill>
                <a:latin typeface="等线 Light"/>
              </a:rPr>
              <a:t>单击</a:t>
            </a:r>
            <a:r>
              <a:rPr lang="zh-CN" sz="6000" b="0" strike="noStrike" spc="-1">
                <a:solidFill>
                  <a:srgbClr val="000000"/>
                </a:solidFill>
                <a:latin typeface="等线 Light"/>
              </a:rPr>
              <a:t>此处</a:t>
            </a:r>
            <a:r>
              <a:rPr lang="zh-CN" sz="6000" b="0" strike="noStrike" spc="-1">
                <a:solidFill>
                  <a:srgbClr val="000000"/>
                </a:solidFill>
                <a:latin typeface="等线 Light"/>
              </a:rPr>
              <a:t>编辑</a:t>
            </a:r>
            <a:r>
              <a:rPr lang="zh-CN" sz="6000" b="0" strike="noStrike" spc="-1">
                <a:solidFill>
                  <a:srgbClr val="000000"/>
                </a:solidFill>
                <a:latin typeface="等线 Light"/>
              </a:rPr>
              <a:t>母版</a:t>
            </a:r>
            <a:r>
              <a:rPr lang="zh-CN" sz="6000" b="0" strike="noStrike" spc="-1">
                <a:solidFill>
                  <a:srgbClr val="000000"/>
                </a:solidFill>
                <a:latin typeface="等线 Light"/>
              </a:rPr>
              <a:t>标题</a:t>
            </a:r>
            <a:r>
              <a:rPr lang="zh-CN" sz="6000" b="0" strike="noStrike" spc="-1">
                <a:solidFill>
                  <a:srgbClr val="000000"/>
                </a:solidFill>
                <a:latin typeface="等线 Light"/>
              </a:rPr>
              <a:t>样式</a:t>
            </a:r>
            <a:endParaRPr lang="en-US" sz="60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2400" b="0" strike="noStrike" spc="-1">
                <a:solidFill>
                  <a:srgbClr val="8B8B8B"/>
                </a:solidFill>
                <a:latin typeface="等线"/>
              </a:rPr>
              <a:t>编辑母版文本样式</a:t>
            </a:r>
            <a:endParaRPr lang="en-US" sz="2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等线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等线"/>
              </a:rPr>
              <a:t>&lt;date/time&gt;</a:t>
            </a:r>
            <a:endParaRPr lang="en-US" sz="1200" b="0" strike="noStrike" spc="-1">
              <a:latin typeface="Times New Roman" panose="02020603050405020304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等线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F10EC5-9501-4733-BC88-E1011FAE5DDE}" type="slidenum">
              <a:rPr lang="en-US" sz="1200" b="0" strike="noStrike" spc="-1">
                <a:solidFill>
                  <a:srgbClr val="8B8B8B"/>
                </a:solidFill>
                <a:latin typeface="等线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6"/>
          <p:cNvPicPr/>
          <p:nvPr/>
        </p:nvPicPr>
        <p:blipFill>
          <a:blip r:embed="rId13"/>
          <a:stretch>
            <a:fillRect/>
          </a:stretch>
        </p:blipFill>
        <p:spPr>
          <a:xfrm>
            <a:off x="9198000" y="82440"/>
            <a:ext cx="687960" cy="683640"/>
          </a:xfrm>
          <a:prstGeom prst="rect">
            <a:avLst/>
          </a:prstGeom>
          <a:ln w="0">
            <a:noFill/>
          </a:ln>
        </p:spPr>
      </p:pic>
      <p:pic>
        <p:nvPicPr>
          <p:cNvPr id="44" name="图形 7"/>
          <p:cNvPicPr/>
          <p:nvPr/>
        </p:nvPicPr>
        <p:blipFill>
          <a:blip r:embed="rId14"/>
          <a:stretch>
            <a:fillRect/>
          </a:stretch>
        </p:blipFill>
        <p:spPr>
          <a:xfrm>
            <a:off x="9761760" y="-52560"/>
            <a:ext cx="2591640" cy="95400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zh-CN" sz="4400" b="0" strike="noStrike" spc="-1">
                <a:solidFill>
                  <a:srgbClr val="000000"/>
                </a:solidFill>
                <a:latin typeface="等线 Light"/>
              </a:rPr>
              <a:t>单击此处编辑母版标题样式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编辑母版文本样式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等线"/>
              </a:rPr>
              <a:t>第二级</a:t>
            </a:r>
            <a:endParaRPr lang="en-US" sz="2400" b="0" strike="noStrike" spc="-1">
              <a:solidFill>
                <a:srgbClr val="000000"/>
              </a:solidFill>
              <a:latin typeface="等线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000" b="0" strike="noStrike" spc="-1">
                <a:solidFill>
                  <a:srgbClr val="000000"/>
                </a:solidFill>
                <a:latin typeface="等线"/>
              </a:rPr>
              <a:t>第三级</a:t>
            </a:r>
            <a:endParaRPr lang="en-US" sz="2000" b="0" strike="noStrike" spc="-1">
              <a:solidFill>
                <a:srgbClr val="000000"/>
              </a:solidFill>
              <a:latin typeface="等线"/>
            </a:endParaRP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00000"/>
                </a:solidFill>
                <a:latin typeface="等线"/>
              </a:rPr>
              <a:t>第四级</a:t>
            </a:r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00000"/>
                </a:solidFill>
                <a:latin typeface="等线"/>
              </a:rPr>
              <a:t>第五级</a:t>
            </a:r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等线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等线"/>
              </a:rPr>
              <a:t>&lt;date/time&gt;</a:t>
            </a:r>
            <a:endParaRPr lang="en-US" sz="1200" b="0" strike="noStrike" spc="-1">
              <a:latin typeface="Times New Roman" panose="02020603050405020304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等线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37FA75-473B-4C5D-997D-F7D6371B0DE6}" type="slidenum">
              <a:rPr lang="en-US" sz="1200" b="0" strike="noStrike" spc="-1">
                <a:solidFill>
                  <a:srgbClr val="8B8B8B"/>
                </a:solidFill>
                <a:latin typeface="等线"/>
              </a:rPr>
            </a:fld>
            <a:endParaRPr lang="en-US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7.png"/><Relationship Id="rId2" Type="http://schemas.openxmlformats.org/officeDocument/2006/relationships/hyperlink" Target="https://nbviewer.jupyter.org/github/Jittor/LearnJittorBasicIn60Min/tree/master/" TargetMode="Externa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hyperlink" Target="https://cg.cs.tsinghua.edu.cn/jittor/tutorial/%0D%0D" TargetMode="Externa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3.png"/><Relationship Id="rId3" Type="http://schemas.openxmlformats.org/officeDocument/2006/relationships/hyperlink" Target="https://cg.cs.tsinghua.edu.cn/jittor/assets/docs/jittor.models.html" TargetMode="External"/><Relationship Id="rId2" Type="http://schemas.openxmlformats.org/officeDocument/2006/relationships/hyperlink" Target="https://cg.cs.tsinghua.edu.cn/jittor/tutorial/2020-5-2-16-43-pytorchconvert/" TargetMode="Externa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hyperlink" Target="https://cg.cs.tsinghua.edu.cn/jittor/resources/" TargetMode="Externa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cg.cs.tsinghua.edu.cn/jittor/assets/docs/index.html%0D" TargetMode="Externa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0.png"/><Relationship Id="rId2" Type="http://schemas.openxmlformats.org/officeDocument/2006/relationships/hyperlink" Target="https://send2me.cn/EWaITmHz/R3KDLM09V0dZFw" TargetMode="External"/><Relationship Id="rId1" Type="http://schemas.openxmlformats.org/officeDocument/2006/relationships/hyperlink" Target="https://www.educoder.net/competitions/index/Jittor-5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hyperlink" Target="http://www.gitlink.org.cn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chinese.freecodecamp.org/news/how-to-write-a-good-readme-file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lang="zh-CN" sz="6000" b="0" strike="noStrike" spc="-1">
                <a:solidFill>
                  <a:srgbClr val="000000"/>
                </a:solidFill>
                <a:latin typeface="等线 Light"/>
              </a:rPr>
              <a:t>计图（</a:t>
            </a:r>
            <a:r>
              <a:rPr lang="en-US" sz="6000" b="0" strike="noStrike" spc="-1">
                <a:solidFill>
                  <a:srgbClr val="000000"/>
                </a:solidFill>
                <a:latin typeface="等线 Light"/>
              </a:rPr>
              <a:t>Jittor</a:t>
            </a:r>
            <a:r>
              <a:rPr lang="zh-CN" sz="6000" b="0" strike="noStrike" spc="-1">
                <a:solidFill>
                  <a:srgbClr val="000000"/>
                </a:solidFill>
                <a:latin typeface="等线 Light"/>
              </a:rPr>
              <a:t>）介绍</a:t>
            </a:r>
            <a:endParaRPr lang="en-US" sz="60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/>
              </a:rPr>
              <a:t>介绍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886760" cy="4516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Jittor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，中文名为“计图”，发布于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2020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年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3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月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20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日。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是一个基于</a:t>
            </a:r>
            <a:r>
              <a:rPr lang="zh-CN" sz="2800" b="1" strike="noStrike" spc="-1">
                <a:solidFill>
                  <a:srgbClr val="000000"/>
                </a:solidFill>
                <a:latin typeface="等线"/>
              </a:rPr>
              <a:t>元算子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和</a:t>
            </a:r>
            <a:r>
              <a:rPr lang="zh-CN" sz="2800" b="1" strike="noStrike" spc="-1">
                <a:solidFill>
                  <a:srgbClr val="000000"/>
                </a:solidFill>
                <a:latin typeface="等线"/>
              </a:rPr>
              <a:t>统一计算图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的深度学习框架。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在多种应用中，相比国际主流平台，性能得到大幅提升。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目前支持：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30+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骨干网络，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27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种主流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GAN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模型，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9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种图像实例分割模型，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5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种点云网络模型，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8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种检测模型，提供可微渲染功能，…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pic>
        <p:nvPicPr>
          <p:cNvPr id="96" name="图形 6"/>
          <p:cNvPicPr/>
          <p:nvPr/>
        </p:nvPicPr>
        <p:blipFill>
          <a:blip r:embed="rId1"/>
          <a:stretch>
            <a:fillRect/>
          </a:stretch>
        </p:blipFill>
        <p:spPr>
          <a:xfrm>
            <a:off x="3493080" y="4290840"/>
            <a:ext cx="5205600" cy="1916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/>
              </a:rPr>
              <a:t>介绍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以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GAN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模型库举例：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等线"/>
              </a:rPr>
              <a:t>所有模型速度比</a:t>
            </a:r>
            <a:r>
              <a:rPr lang="en-US" sz="2400" b="0" strike="noStrike" spc="-1">
                <a:solidFill>
                  <a:srgbClr val="000000"/>
                </a:solidFill>
                <a:latin typeface="等线"/>
              </a:rPr>
              <a:t>PyTorch</a:t>
            </a:r>
            <a:r>
              <a:rPr lang="zh-CN" sz="2400" b="0" strike="noStrike" spc="-1">
                <a:solidFill>
                  <a:srgbClr val="000000"/>
                </a:solidFill>
                <a:latin typeface="等线"/>
              </a:rPr>
              <a:t>均得到提升</a:t>
            </a:r>
            <a:endParaRPr lang="en-US" sz="2400" b="0" strike="noStrike" spc="-1">
              <a:solidFill>
                <a:srgbClr val="000000"/>
              </a:solidFill>
              <a:latin typeface="等线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等线"/>
              </a:rPr>
              <a:t>半数模型性能提升超过一倍</a:t>
            </a:r>
            <a:endParaRPr lang="en-US" sz="2400" b="0" strike="noStrike" spc="-1">
              <a:solidFill>
                <a:srgbClr val="000000"/>
              </a:solidFill>
              <a:latin typeface="等线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grpSp>
        <p:nvGrpSpPr>
          <p:cNvPr id="99" name="组合 3"/>
          <p:cNvGrpSpPr/>
          <p:nvPr/>
        </p:nvGrpSpPr>
        <p:grpSpPr>
          <a:xfrm>
            <a:off x="1784880" y="3171960"/>
            <a:ext cx="8622000" cy="3390480"/>
            <a:chOff x="1784880" y="3171960"/>
            <a:chExt cx="8622000" cy="3390480"/>
          </a:xfrm>
        </p:grpSpPr>
        <p:pic>
          <p:nvPicPr>
            <p:cNvPr id="100" name="图片 4"/>
            <p:cNvPicPr/>
            <p:nvPr/>
          </p:nvPicPr>
          <p:blipFill>
            <a:blip r:embed="rId1"/>
            <a:srcRect r="2844"/>
            <a:stretch>
              <a:fillRect/>
            </a:stretch>
          </p:blipFill>
          <p:spPr>
            <a:xfrm>
              <a:off x="1784880" y="3171960"/>
              <a:ext cx="8621640" cy="3390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1" name="直接连接符 5"/>
            <p:cNvSpPr/>
            <p:nvPr/>
          </p:nvSpPr>
          <p:spPr>
            <a:xfrm>
              <a:off x="2065680" y="4719600"/>
              <a:ext cx="8341200" cy="360"/>
            </a:xfrm>
            <a:prstGeom prst="line">
              <a:avLst/>
            </a:prstGeom>
            <a:ln w="28575">
              <a:solidFill>
                <a:srgbClr val="ED7D3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/>
          </p:style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03" name="矩形 5"/>
          <p:cNvSpPr/>
          <p:nvPr/>
        </p:nvSpPr>
        <p:spPr>
          <a:xfrm>
            <a:off x="2151000" y="6123600"/>
            <a:ext cx="7920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https://cg.cs.tsinghua.edu.cn/jittor/download/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104" name="图片 6"/>
          <p:cNvPicPr/>
          <p:nvPr/>
        </p:nvPicPr>
        <p:blipFill>
          <a:blip r:embed="rId1"/>
          <a:srcRect b="3714"/>
          <a:stretch>
            <a:fillRect/>
          </a:stretch>
        </p:blipFill>
        <p:spPr>
          <a:xfrm>
            <a:off x="1856520" y="2134440"/>
            <a:ext cx="9083520" cy="3910680"/>
          </a:xfrm>
          <a:prstGeom prst="rect">
            <a:avLst/>
          </a:prstGeom>
          <a:ln w="0">
            <a:noFill/>
          </a:ln>
        </p:spPr>
      </p:pic>
      <p:sp>
        <p:nvSpPr>
          <p:cNvPr id="105" name="矩形 7"/>
          <p:cNvSpPr/>
          <p:nvPr/>
        </p:nvSpPr>
        <p:spPr>
          <a:xfrm>
            <a:off x="1776240" y="1727640"/>
            <a:ext cx="13820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Linux </a:t>
            </a:r>
            <a:r>
              <a:rPr lang="zh-CN" sz="1800" b="0" strike="noStrike" spc="-1">
                <a:solidFill>
                  <a:srgbClr val="000000"/>
                </a:solidFill>
                <a:latin typeface="等线"/>
              </a:rPr>
              <a:t>安装</a:t>
            </a:r>
            <a:endParaRPr lang="en-US" sz="18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07" name="矩形 5"/>
          <p:cNvSpPr/>
          <p:nvPr/>
        </p:nvSpPr>
        <p:spPr>
          <a:xfrm>
            <a:off x="2135520" y="6123600"/>
            <a:ext cx="7920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https://cg.cs.tsinghua.edu.cn/jittor/download/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108" name="矩形 7"/>
          <p:cNvSpPr/>
          <p:nvPr/>
        </p:nvSpPr>
        <p:spPr>
          <a:xfrm>
            <a:off x="1658880" y="1777680"/>
            <a:ext cx="17859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Windows </a:t>
            </a:r>
            <a:r>
              <a:rPr lang="zh-CN" sz="1800" b="0" strike="noStrike" spc="-1">
                <a:solidFill>
                  <a:srgbClr val="000000"/>
                </a:solidFill>
                <a:latin typeface="等线"/>
              </a:rPr>
              <a:t>安装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109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1741320" y="2233800"/>
            <a:ext cx="9205560" cy="3889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782280" y="1772640"/>
            <a:ext cx="10713960" cy="452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marL="342900" indent="-342265">
              <a:lnSpc>
                <a:spcPct val="110000"/>
              </a:lnSpc>
              <a:spcBef>
                <a:spcPts val="640"/>
              </a:spcBef>
              <a:buSzPct val="100000"/>
              <a:buBlip>
                <a:blip r:embed="rId1"/>
              </a:buBlip>
            </a:pPr>
            <a:r>
              <a:rPr lang="zh-CN" sz="3200" b="0" strike="noStrike" spc="-1">
                <a:solidFill>
                  <a:srgbClr val="000000"/>
                </a:solidFill>
                <a:latin typeface="黑体"/>
                <a:ea typeface="宋体"/>
              </a:rPr>
              <a:t>在线浏览：</a:t>
            </a:r>
            <a:r>
              <a:rPr lang="en-US" sz="1800" b="0" u="sng" strike="noStrike" spc="-1">
                <a:solidFill>
                  <a:srgbClr val="00B0F0"/>
                </a:solidFill>
                <a:uFillTx/>
                <a:latin typeface="黑体"/>
                <a:ea typeface="宋体"/>
                <a:hlinkClick r:id="rId2"/>
              </a:rPr>
              <a:t>https://nbviewer.jupyter.org/github/Jittor/LearnJittorBasicIn60Min/tree/master/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112" name="矩形 3"/>
          <p:cNvSpPr/>
          <p:nvPr/>
        </p:nvSpPr>
        <p:spPr>
          <a:xfrm>
            <a:off x="7947360" y="4621680"/>
            <a:ext cx="14968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zh-CN" sz="1800" b="0" strike="noStrike" spc="-1">
                <a:solidFill>
                  <a:srgbClr val="000000"/>
                </a:solidFill>
                <a:latin typeface="黑体"/>
                <a:ea typeface="宋体"/>
              </a:rPr>
              <a:t>代码演示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113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838080" y="2827440"/>
            <a:ext cx="7108560" cy="4030200"/>
          </a:xfrm>
          <a:prstGeom prst="rect">
            <a:avLst/>
          </a:prstGeom>
          <a:ln w="0">
            <a:noFill/>
          </a:ln>
        </p:spPr>
      </p:pic>
      <p:sp>
        <p:nvSpPr>
          <p:cNvPr id="114" name="矩形 5"/>
          <p:cNvSpPr/>
          <p:nvPr/>
        </p:nvSpPr>
        <p:spPr>
          <a:xfrm>
            <a:off x="1098360" y="4930200"/>
            <a:ext cx="3466800" cy="6472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2022840" y="1989000"/>
            <a:ext cx="8105040" cy="669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2800" b="1" u="sng" strike="noStrike" spc="-1">
                <a:solidFill>
                  <a:srgbClr val="00B0F0"/>
                </a:solidFill>
                <a:uFillTx/>
                <a:latin typeface="Arial" panose="020B0604020202020204"/>
                <a:ea typeface="黑体"/>
                <a:hlinkClick r:id="rId1"/>
              </a:rPr>
              <a:t>https://cg.cs.tsinghua.edu.cn/jittor/tutorial/</a:t>
            </a:r>
            <a:endParaRPr lang="en-US" sz="2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n-US" sz="2800" b="0" strike="noStrike" spc="-1">
              <a:latin typeface="Arial" panose="020B0604020202020204"/>
            </a:endParaRPr>
          </a:p>
        </p:txBody>
      </p:sp>
      <p:pic>
        <p:nvPicPr>
          <p:cNvPr id="117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703520" y="2862720"/>
            <a:ext cx="4142880" cy="381060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5846760" y="3004200"/>
            <a:ext cx="4756680" cy="3695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1847520" y="1696320"/>
            <a:ext cx="10361880" cy="4856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marL="342900" indent="-342265">
              <a:lnSpc>
                <a:spcPct val="110000"/>
              </a:lnSpc>
              <a:spcBef>
                <a:spcPts val="640"/>
              </a:spcBef>
              <a:buSzPct val="100000"/>
              <a:buBlip>
                <a:blip r:embed="rId1"/>
              </a:buBlip>
            </a:pPr>
            <a:r>
              <a:rPr lang="zh-CN" sz="3200" b="0" strike="noStrike" spc="-1">
                <a:solidFill>
                  <a:srgbClr val="000000"/>
                </a:solidFill>
                <a:latin typeface="黑体"/>
                <a:ea typeface="黑体"/>
              </a:rPr>
              <a:t>我们提供了从</a:t>
            </a:r>
            <a:r>
              <a:rPr lang="en-US" sz="3200" b="0" strike="noStrike" spc="-1">
                <a:solidFill>
                  <a:srgbClr val="000000"/>
                </a:solidFill>
                <a:latin typeface="黑体"/>
                <a:ea typeface="黑体"/>
              </a:rPr>
              <a:t>PyTorch</a:t>
            </a:r>
            <a:r>
              <a:rPr lang="zh-CN" sz="3200" b="0" strike="noStrike" spc="-1">
                <a:solidFill>
                  <a:srgbClr val="000000"/>
                </a:solidFill>
                <a:latin typeface="黑体"/>
                <a:ea typeface="黑体"/>
              </a:rPr>
              <a:t>到</a:t>
            </a:r>
            <a:r>
              <a:rPr lang="en-US" sz="3200" b="0" strike="noStrike" spc="-1">
                <a:solidFill>
                  <a:srgbClr val="000000"/>
                </a:solidFill>
                <a:latin typeface="黑体"/>
                <a:ea typeface="黑体"/>
              </a:rPr>
              <a:t>Jittor</a:t>
            </a:r>
            <a:r>
              <a:rPr lang="zh-CN" sz="3200" b="0" strike="noStrike" spc="-1">
                <a:solidFill>
                  <a:srgbClr val="000000"/>
                </a:solidFill>
                <a:latin typeface="黑体"/>
                <a:ea typeface="黑体"/>
              </a:rPr>
              <a:t>的模型迁移工具</a:t>
            </a:r>
            <a:endParaRPr lang="en-US" sz="3200" b="0" strike="noStrike" spc="-1">
              <a:latin typeface="Arial" panose="020B0604020202020204"/>
            </a:endParaRPr>
          </a:p>
        </p:txBody>
      </p:sp>
      <p:pic>
        <p:nvPicPr>
          <p:cNvPr id="121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1847520" y="2845800"/>
            <a:ext cx="3656160" cy="3665520"/>
          </a:xfrm>
          <a:prstGeom prst="rect">
            <a:avLst/>
          </a:prstGeom>
          <a:ln w="0">
            <a:noFill/>
          </a:ln>
        </p:spPr>
      </p:pic>
      <p:pic>
        <p:nvPicPr>
          <p:cNvPr id="122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6590160" y="2850480"/>
            <a:ext cx="3932280" cy="3656160"/>
          </a:xfrm>
          <a:prstGeom prst="rect">
            <a:avLst/>
          </a:prstGeom>
          <a:ln w="0">
            <a:noFill/>
          </a:ln>
        </p:spPr>
      </p:pic>
      <p:sp>
        <p:nvSpPr>
          <p:cNvPr id="123" name="CustomShape 3"/>
          <p:cNvSpPr/>
          <p:nvPr/>
        </p:nvSpPr>
        <p:spPr>
          <a:xfrm>
            <a:off x="5361840" y="4463280"/>
            <a:ext cx="1083600" cy="21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 w="936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4" name="CustomShape 4"/>
          <p:cNvSpPr/>
          <p:nvPr/>
        </p:nvSpPr>
        <p:spPr>
          <a:xfrm>
            <a:off x="5180760" y="4614120"/>
            <a:ext cx="15526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zh-CN" sz="1800" b="1" strike="noStrike" spc="-1">
                <a:solidFill>
                  <a:srgbClr val="0070C0"/>
                </a:solidFill>
                <a:latin typeface="Garamond" panose="02020404030301010803"/>
                <a:ea typeface="黑体"/>
              </a:rPr>
              <a:t>辅助转换脚本</a:t>
            </a:r>
            <a:endParaRPr lang="en-US" sz="18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26" name="CustomShape 2"/>
          <p:cNvSpPr/>
          <p:nvPr/>
        </p:nvSpPr>
        <p:spPr>
          <a:xfrm>
            <a:off x="1847520" y="1700640"/>
            <a:ext cx="5078520" cy="4265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 marL="342900" indent="-342265">
              <a:lnSpc>
                <a:spcPct val="110000"/>
              </a:lnSpc>
              <a:spcBef>
                <a:spcPts val="560"/>
              </a:spcBef>
              <a:buSzPct val="100000"/>
              <a:buBlip>
                <a:blip r:embed="rId1"/>
              </a:buBlip>
            </a:pPr>
            <a:r>
              <a:rPr lang="zh-CN" sz="2800" b="1" strike="noStrike" spc="-1">
                <a:solidFill>
                  <a:srgbClr val="000000"/>
                </a:solidFill>
                <a:latin typeface="黑体"/>
                <a:ea typeface="黑体"/>
              </a:rPr>
              <a:t>计图支持的骨干网络一览</a:t>
            </a:r>
            <a:endParaRPr lang="en-US" sz="2800" b="0" strike="noStrike" spc="-1">
              <a:latin typeface="Arial" panose="020B0604020202020204"/>
            </a:endParaRPr>
          </a:p>
        </p:txBody>
      </p:sp>
      <p:sp>
        <p:nvSpPr>
          <p:cNvPr id="127" name="CustomShape 3"/>
          <p:cNvSpPr/>
          <p:nvPr/>
        </p:nvSpPr>
        <p:spPr>
          <a:xfrm>
            <a:off x="6428520" y="2133000"/>
            <a:ext cx="3987720" cy="4265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10000"/>
              </a:lnSpc>
              <a:spcBef>
                <a:spcPts val="560"/>
              </a:spcBef>
              <a:buNone/>
            </a:pPr>
            <a:endParaRPr lang="en-US" sz="2800" b="0" strike="noStrike" spc="-1">
              <a:latin typeface="Arial" panose="020B0604020202020204"/>
            </a:endParaRPr>
          </a:p>
          <a:p>
            <a:pPr>
              <a:lnSpc>
                <a:spcPct val="110000"/>
              </a:lnSpc>
              <a:spcBef>
                <a:spcPts val="560"/>
              </a:spcBef>
              <a:buNone/>
            </a:pPr>
            <a:r>
              <a:rPr lang="zh-CN" sz="2800" b="1" strike="noStrike" spc="-1">
                <a:solidFill>
                  <a:srgbClr val="000000"/>
                </a:solidFill>
                <a:latin typeface="黑体"/>
                <a:ea typeface="黑体"/>
              </a:rPr>
              <a:t>参考资料：</a:t>
            </a:r>
            <a:endParaRPr lang="en-US" sz="2800" b="0" strike="noStrike" spc="-1">
              <a:latin typeface="Arial" panose="020B0604020202020204"/>
            </a:endParaRPr>
          </a:p>
          <a:p>
            <a:pPr marL="342900" indent="-342265">
              <a:lnSpc>
                <a:spcPct val="110000"/>
              </a:lnSpc>
              <a:spcBef>
                <a:spcPts val="560"/>
              </a:spcBef>
              <a:buSzPct val="100000"/>
              <a:buBlip>
                <a:blip r:embed="rId1"/>
              </a:buBlip>
            </a:pPr>
            <a:r>
              <a:rPr lang="zh-CN" sz="2800" b="0" u="sng" strike="noStrike" spc="-1">
                <a:solidFill>
                  <a:srgbClr val="00B0F0"/>
                </a:solidFill>
                <a:uFillTx/>
                <a:latin typeface="黑体"/>
                <a:ea typeface="黑体"/>
                <a:hlinkClick r:id="rId2"/>
              </a:rPr>
              <a:t>模型辅助转换工具教程</a:t>
            </a:r>
            <a:endParaRPr lang="en-US" sz="2800" b="0" strike="noStrike" spc="-1">
              <a:latin typeface="Arial" panose="020B0604020202020204"/>
            </a:endParaRPr>
          </a:p>
          <a:p>
            <a:pPr marL="342900" indent="-342265">
              <a:lnSpc>
                <a:spcPct val="110000"/>
              </a:lnSpc>
              <a:spcBef>
                <a:spcPts val="560"/>
              </a:spcBef>
              <a:buSzPct val="100000"/>
              <a:buBlip>
                <a:blip r:embed="rId1"/>
              </a:buBlip>
            </a:pPr>
            <a:r>
              <a:rPr lang="zh-CN" sz="2800" b="0" u="sng" strike="noStrike" spc="-1">
                <a:solidFill>
                  <a:srgbClr val="00B0F0"/>
                </a:solidFill>
                <a:uFillTx/>
                <a:latin typeface="黑体"/>
                <a:ea typeface="黑体"/>
                <a:hlinkClick r:id="rId3"/>
              </a:rPr>
              <a:t>计图模型文档</a:t>
            </a:r>
            <a:endParaRPr lang="en-US" sz="2800" b="0" strike="noStrike" spc="-1">
              <a:latin typeface="Arial" panose="020B0604020202020204"/>
            </a:endParaRPr>
          </a:p>
          <a:p>
            <a:pPr>
              <a:lnSpc>
                <a:spcPct val="110000"/>
              </a:lnSpc>
              <a:spcBef>
                <a:spcPts val="560"/>
              </a:spcBef>
              <a:buNone/>
            </a:pPr>
            <a:endParaRPr lang="en-US" sz="2800" b="0" strike="noStrike" spc="-1">
              <a:latin typeface="Arial" panose="020B0604020202020204"/>
            </a:endParaRPr>
          </a:p>
          <a:p>
            <a:pPr>
              <a:lnSpc>
                <a:spcPct val="110000"/>
              </a:lnSpc>
              <a:spcBef>
                <a:spcPts val="560"/>
              </a:spcBef>
              <a:buNone/>
            </a:pPr>
            <a:r>
              <a:rPr lang="zh-CN" sz="2800" b="0" strike="noStrike" spc="-1">
                <a:solidFill>
                  <a:srgbClr val="000000"/>
                </a:solidFill>
                <a:latin typeface="黑体"/>
                <a:ea typeface="黑体"/>
              </a:rPr>
              <a:t>更多的模型和应用在不断完善当中，尽情期待</a:t>
            </a:r>
            <a:endParaRPr lang="en-US" sz="2800" b="0" strike="noStrike" spc="-1">
              <a:latin typeface="Arial" panose="020B0604020202020204"/>
            </a:endParaRPr>
          </a:p>
          <a:p>
            <a:pPr>
              <a:lnSpc>
                <a:spcPct val="110000"/>
              </a:lnSpc>
              <a:spcBef>
                <a:spcPts val="560"/>
              </a:spcBef>
              <a:buNone/>
            </a:pPr>
            <a:endParaRPr lang="en-US" sz="2800" b="0" strike="noStrike" spc="-1">
              <a:latin typeface="Arial" panose="020B0604020202020204"/>
            </a:endParaRPr>
          </a:p>
        </p:txBody>
      </p:sp>
      <p:pic>
        <p:nvPicPr>
          <p:cNvPr id="128" name="图片 4"/>
          <p:cNvPicPr/>
          <p:nvPr/>
        </p:nvPicPr>
        <p:blipFill>
          <a:blip r:embed="rId4"/>
          <a:stretch>
            <a:fillRect/>
          </a:stretch>
        </p:blipFill>
        <p:spPr>
          <a:xfrm>
            <a:off x="2063520" y="2727360"/>
            <a:ext cx="3701160" cy="3825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30" name="矩形 2"/>
          <p:cNvSpPr/>
          <p:nvPr/>
        </p:nvSpPr>
        <p:spPr>
          <a:xfrm>
            <a:off x="2112120" y="1845000"/>
            <a:ext cx="8159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1" u="sng" strike="noStrike" spc="-1">
                <a:solidFill>
                  <a:srgbClr val="00B0F0"/>
                </a:solidFill>
                <a:uFillTx/>
                <a:latin typeface="Arial" panose="020B0604020202020204"/>
                <a:ea typeface="黑体"/>
                <a:hlinkClick r:id="rId1"/>
              </a:rPr>
              <a:t>https://cg.cs.tsinghua.edu.cn/jittor/resources/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131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423520" y="2415600"/>
            <a:ext cx="2864880" cy="413712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383880" y="2529360"/>
            <a:ext cx="3240000" cy="4098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Jittor</a:t>
            </a:r>
            <a:r>
              <a:rPr lang="zh-CN" sz="4400" b="0" strike="noStrike" spc="-1">
                <a:solidFill>
                  <a:srgbClr val="000000"/>
                </a:solidFill>
                <a:latin typeface="等线 Light"/>
              </a:rPr>
              <a:t>安装与使用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34" name="CustomShape 2"/>
          <p:cNvSpPr/>
          <p:nvPr/>
        </p:nvSpPr>
        <p:spPr>
          <a:xfrm>
            <a:off x="2438280" y="1500120"/>
            <a:ext cx="10361880" cy="4856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135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610000" y="2042640"/>
            <a:ext cx="6510240" cy="4710240"/>
          </a:xfrm>
          <a:prstGeom prst="rect">
            <a:avLst/>
          </a:prstGeom>
          <a:ln w="0">
            <a:noFill/>
          </a:ln>
        </p:spPr>
      </p:pic>
      <p:sp>
        <p:nvSpPr>
          <p:cNvPr id="136" name="Text Box 2"/>
          <p:cNvSpPr/>
          <p:nvPr/>
        </p:nvSpPr>
        <p:spPr>
          <a:xfrm>
            <a:off x="1919520" y="1575360"/>
            <a:ext cx="8424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u="sng" strike="noStrike" spc="-1">
                <a:solidFill>
                  <a:srgbClr val="00B0F0"/>
                </a:solidFill>
                <a:uFillTx/>
                <a:latin typeface="等线"/>
                <a:hlinkClick r:id="rId2"/>
              </a:rPr>
              <a:t>https://cg.cs.tsinghua.edu.cn/jittor/assets/docs/index.html</a:t>
            </a:r>
            <a:endParaRPr lang="en-US" sz="18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rgbClr val="000000"/>
                </a:solidFill>
                <a:latin typeface="等线 Light"/>
              </a:rPr>
              <a:t>Conditional GAN</a:t>
            </a:r>
            <a:endParaRPr lang="en-US" sz="60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GAN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生成式对抗网络（</a:t>
            </a:r>
            <a:r>
              <a:rPr lang="en-US" sz="2800" b="0" i="1" strike="noStrike" spc="-1">
                <a:solidFill>
                  <a:srgbClr val="000000"/>
                </a:solidFill>
                <a:latin typeface="等线"/>
              </a:rPr>
              <a:t>GAN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, Generative Adversarial Networks 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）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一般由生成器（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Generator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）和判别器（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Discriminator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）两部分组成。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grpSp>
        <p:nvGrpSpPr>
          <p:cNvPr id="141" name="组合 8"/>
          <p:cNvGrpSpPr/>
          <p:nvPr/>
        </p:nvGrpSpPr>
        <p:grpSpPr>
          <a:xfrm>
            <a:off x="2922120" y="5262480"/>
            <a:ext cx="1341000" cy="914040"/>
            <a:chOff x="2922120" y="5262480"/>
            <a:chExt cx="1341000" cy="914040"/>
          </a:xfrm>
        </p:grpSpPr>
        <p:sp>
          <p:nvSpPr>
            <p:cNvPr id="142" name="梯形 4"/>
            <p:cNvSpPr/>
            <p:nvPr/>
          </p:nvSpPr>
          <p:spPr>
            <a:xfrm rot="5400000" flipV="1">
              <a:off x="3151800" y="5111280"/>
              <a:ext cx="914040" cy="121572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3" name="文本框 5"/>
            <p:cNvSpPr/>
            <p:nvPr/>
          </p:nvSpPr>
          <p:spPr>
            <a:xfrm>
              <a:off x="2922120" y="5535000"/>
              <a:ext cx="1341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/>
                </a:rPr>
                <a:t>Generator</a:t>
              </a:r>
              <a:endParaRPr lang="en-US" sz="1800" b="0" strike="noStrike" spc="-1">
                <a:latin typeface="Arial" panose="020B0604020202020204"/>
              </a:endParaRPr>
            </a:p>
          </p:txBody>
        </p:sp>
      </p:grpSp>
      <p:sp>
        <p:nvSpPr>
          <p:cNvPr id="144" name="矩形 6"/>
          <p:cNvSpPr/>
          <p:nvPr/>
        </p:nvSpPr>
        <p:spPr>
          <a:xfrm>
            <a:off x="2633760" y="511956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5" name="文本框 7"/>
          <p:cNvSpPr/>
          <p:nvPr/>
        </p:nvSpPr>
        <p:spPr>
          <a:xfrm>
            <a:off x="1637280" y="6308280"/>
            <a:ext cx="2118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Random vector z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146" name="图片 9"/>
          <p:cNvPicPr/>
          <p:nvPr/>
        </p:nvPicPr>
        <p:blipFill>
          <a:blip r:embed="rId1"/>
          <a:srcRect l="5140" t="7849" r="6349" b="2762"/>
          <a:stretch>
            <a:fillRect/>
          </a:stretch>
        </p:blipFill>
        <p:spPr>
          <a:xfrm>
            <a:off x="4458960" y="5155200"/>
            <a:ext cx="1073880" cy="1128600"/>
          </a:xfrm>
          <a:prstGeom prst="rect">
            <a:avLst/>
          </a:prstGeom>
          <a:ln w="0">
            <a:noFill/>
          </a:ln>
        </p:spPr>
      </p:pic>
      <p:sp>
        <p:nvSpPr>
          <p:cNvPr id="147" name="文本框 10"/>
          <p:cNvSpPr/>
          <p:nvPr/>
        </p:nvSpPr>
        <p:spPr>
          <a:xfrm>
            <a:off x="4255560" y="6324480"/>
            <a:ext cx="14810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Fake image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148" name="图片 11"/>
          <p:cNvPicPr/>
          <p:nvPr/>
        </p:nvPicPr>
        <p:blipFill>
          <a:blip r:embed="rId2"/>
          <a:srcRect l="5741" t="6079" r="5814" b="4225"/>
          <a:stretch>
            <a:fillRect/>
          </a:stretch>
        </p:blipFill>
        <p:spPr>
          <a:xfrm>
            <a:off x="4458960" y="3720240"/>
            <a:ext cx="1073880" cy="1068120"/>
          </a:xfrm>
          <a:prstGeom prst="rect">
            <a:avLst/>
          </a:prstGeom>
          <a:ln w="0">
            <a:noFill/>
          </a:ln>
        </p:spPr>
      </p:pic>
      <p:sp>
        <p:nvSpPr>
          <p:cNvPr id="149" name="文本框 12"/>
          <p:cNvSpPr/>
          <p:nvPr/>
        </p:nvSpPr>
        <p:spPr>
          <a:xfrm>
            <a:off x="4267440" y="4754880"/>
            <a:ext cx="14569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Real image</a:t>
            </a:r>
            <a:endParaRPr lang="en-US" sz="1800" b="0" strike="noStrike" spc="-1">
              <a:latin typeface="Arial" panose="020B0604020202020204"/>
            </a:endParaRPr>
          </a:p>
        </p:txBody>
      </p:sp>
      <p:grpSp>
        <p:nvGrpSpPr>
          <p:cNvPr id="150" name="组合 17"/>
          <p:cNvGrpSpPr/>
          <p:nvPr/>
        </p:nvGrpSpPr>
        <p:grpSpPr>
          <a:xfrm>
            <a:off x="6937200" y="4615920"/>
            <a:ext cx="1566000" cy="914040"/>
            <a:chOff x="6937200" y="4615920"/>
            <a:chExt cx="1566000" cy="914040"/>
          </a:xfrm>
        </p:grpSpPr>
        <p:sp>
          <p:nvSpPr>
            <p:cNvPr id="151" name="梯形 14"/>
            <p:cNvSpPr/>
            <p:nvPr/>
          </p:nvSpPr>
          <p:spPr>
            <a:xfrm rot="5400000">
              <a:off x="7217640" y="4335840"/>
              <a:ext cx="914040" cy="147420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2" name="文本框 15"/>
            <p:cNvSpPr/>
            <p:nvPr/>
          </p:nvSpPr>
          <p:spPr>
            <a:xfrm>
              <a:off x="6937200" y="4888440"/>
              <a:ext cx="1566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/>
                </a:rPr>
                <a:t>Discriminator</a:t>
              </a:r>
              <a:endParaRPr lang="en-US" sz="1800" b="0" strike="noStrike" spc="-1">
                <a:latin typeface="Arial" panose="020B0604020202020204"/>
              </a:endParaRPr>
            </a:p>
          </p:txBody>
        </p:sp>
      </p:grpSp>
      <p:sp>
        <p:nvSpPr>
          <p:cNvPr id="153" name="直接箭头连接符 19"/>
          <p:cNvSpPr/>
          <p:nvPr/>
        </p:nvSpPr>
        <p:spPr>
          <a:xfrm flipV="1">
            <a:off x="5625000" y="527148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4" name="直接箭头连接符 21"/>
          <p:cNvSpPr/>
          <p:nvPr/>
        </p:nvSpPr>
        <p:spPr>
          <a:xfrm>
            <a:off x="5652720" y="42512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5" name="直接箭头连接符 25"/>
          <p:cNvSpPr/>
          <p:nvPr/>
        </p:nvSpPr>
        <p:spPr>
          <a:xfrm>
            <a:off x="8503200" y="5073120"/>
            <a:ext cx="364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" name="文本框 26"/>
          <p:cNvSpPr/>
          <p:nvPr/>
        </p:nvSpPr>
        <p:spPr>
          <a:xfrm>
            <a:off x="8818920" y="4888440"/>
            <a:ext cx="2061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Real(1) / Fake(0)</a:t>
            </a:r>
            <a:endParaRPr lang="en-US" sz="18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GAN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分为两个部分进行训练。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Discriminator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：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grpSp>
        <p:nvGrpSpPr>
          <p:cNvPr id="159" name="组合 4"/>
          <p:cNvGrpSpPr/>
          <p:nvPr/>
        </p:nvGrpSpPr>
        <p:grpSpPr>
          <a:xfrm>
            <a:off x="2922120" y="5262480"/>
            <a:ext cx="1341000" cy="914040"/>
            <a:chOff x="2922120" y="5262480"/>
            <a:chExt cx="1341000" cy="914040"/>
          </a:xfrm>
        </p:grpSpPr>
        <p:sp>
          <p:nvSpPr>
            <p:cNvPr id="160" name="梯形 5"/>
            <p:cNvSpPr/>
            <p:nvPr/>
          </p:nvSpPr>
          <p:spPr>
            <a:xfrm rot="5400000" flipV="1">
              <a:off x="3151800" y="5111280"/>
              <a:ext cx="914040" cy="121572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1" name="文本框 6"/>
            <p:cNvSpPr/>
            <p:nvPr/>
          </p:nvSpPr>
          <p:spPr>
            <a:xfrm>
              <a:off x="2922120" y="5535000"/>
              <a:ext cx="1341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/>
                </a:rPr>
                <a:t>Generator</a:t>
              </a:r>
              <a:endParaRPr lang="en-US" sz="1800" b="0" strike="noStrike" spc="-1">
                <a:latin typeface="Arial" panose="020B0604020202020204"/>
              </a:endParaRPr>
            </a:p>
          </p:txBody>
        </p:sp>
      </p:grpSp>
      <p:sp>
        <p:nvSpPr>
          <p:cNvPr id="162" name="矩形 7"/>
          <p:cNvSpPr/>
          <p:nvPr/>
        </p:nvSpPr>
        <p:spPr>
          <a:xfrm>
            <a:off x="2633760" y="511956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" name="文本框 8"/>
          <p:cNvSpPr/>
          <p:nvPr/>
        </p:nvSpPr>
        <p:spPr>
          <a:xfrm>
            <a:off x="1637280" y="6308280"/>
            <a:ext cx="2118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Random vector z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164" name="图片 9"/>
          <p:cNvPicPr/>
          <p:nvPr/>
        </p:nvPicPr>
        <p:blipFill>
          <a:blip r:embed="rId1"/>
          <a:srcRect l="5140" t="7849" r="6349" b="2762"/>
          <a:stretch>
            <a:fillRect/>
          </a:stretch>
        </p:blipFill>
        <p:spPr>
          <a:xfrm>
            <a:off x="4458960" y="5155200"/>
            <a:ext cx="1073880" cy="1128600"/>
          </a:xfrm>
          <a:prstGeom prst="rect">
            <a:avLst/>
          </a:prstGeom>
          <a:ln w="0">
            <a:noFill/>
          </a:ln>
        </p:spPr>
      </p:pic>
      <p:sp>
        <p:nvSpPr>
          <p:cNvPr id="165" name="文本框 10"/>
          <p:cNvSpPr/>
          <p:nvPr/>
        </p:nvSpPr>
        <p:spPr>
          <a:xfrm>
            <a:off x="4232160" y="6324480"/>
            <a:ext cx="21045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Fake image, G(z)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166" name="图片 11"/>
          <p:cNvPicPr/>
          <p:nvPr/>
        </p:nvPicPr>
        <p:blipFill>
          <a:blip r:embed="rId2"/>
          <a:srcRect l="5741" t="6079" r="5814" b="4225"/>
          <a:stretch>
            <a:fillRect/>
          </a:stretch>
        </p:blipFill>
        <p:spPr>
          <a:xfrm>
            <a:off x="4458960" y="3720240"/>
            <a:ext cx="1073880" cy="1068120"/>
          </a:xfrm>
          <a:prstGeom prst="rect">
            <a:avLst/>
          </a:prstGeom>
          <a:ln w="0">
            <a:noFill/>
          </a:ln>
        </p:spPr>
      </p:pic>
      <p:sp>
        <p:nvSpPr>
          <p:cNvPr id="167" name="文本框 12"/>
          <p:cNvSpPr/>
          <p:nvPr/>
        </p:nvSpPr>
        <p:spPr>
          <a:xfrm>
            <a:off x="4216320" y="4754880"/>
            <a:ext cx="1738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Real image, x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168" name="梯形 14"/>
          <p:cNvSpPr/>
          <p:nvPr/>
        </p:nvSpPr>
        <p:spPr>
          <a:xfrm rot="5400000">
            <a:off x="7217640" y="4335840"/>
            <a:ext cx="914040" cy="1474200"/>
          </a:xfrm>
          <a:prstGeom prst="trapezoid">
            <a:avLst>
              <a:gd name="adj" fmla="val 25000"/>
            </a:avLst>
          </a:prstGeom>
          <a:solidFill>
            <a:schemeClr val="accent4">
              <a:lumMod val="75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9" name="文本框 15"/>
          <p:cNvSpPr/>
          <p:nvPr/>
        </p:nvSpPr>
        <p:spPr>
          <a:xfrm>
            <a:off x="6937200" y="4888440"/>
            <a:ext cx="1566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FFFF"/>
                </a:solidFill>
                <a:latin typeface="等线"/>
              </a:rPr>
              <a:t>Discriminator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170" name="直接箭头连接符 16"/>
          <p:cNvSpPr/>
          <p:nvPr/>
        </p:nvSpPr>
        <p:spPr>
          <a:xfrm flipV="1">
            <a:off x="5625000" y="527148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1" name="直接箭头连接符 17"/>
          <p:cNvSpPr/>
          <p:nvPr/>
        </p:nvSpPr>
        <p:spPr>
          <a:xfrm>
            <a:off x="5652720" y="42512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2" name="直接箭头连接符 18"/>
          <p:cNvSpPr/>
          <p:nvPr/>
        </p:nvSpPr>
        <p:spPr>
          <a:xfrm>
            <a:off x="8503200" y="5073120"/>
            <a:ext cx="364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3" name="文本框 19"/>
          <p:cNvSpPr/>
          <p:nvPr/>
        </p:nvSpPr>
        <p:spPr>
          <a:xfrm>
            <a:off x="8818920" y="4888440"/>
            <a:ext cx="2061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Real(1) / Fake(0)</a:t>
            </a:r>
            <a:endParaRPr lang="en-US" sz="1800" b="0" strike="noStrike" spc="-1">
              <a:latin typeface="Arial" panose="020B0604020202020204"/>
            </a:endParaRPr>
          </a:p>
        </p:txBody>
      </p:sp>
      <p:graphicFrame>
        <p:nvGraphicFramePr>
          <p:cNvPr id="174" name="Object 173"/>
          <p:cNvGraphicFramePr/>
          <p:nvPr/>
        </p:nvGraphicFramePr>
        <p:xfrm>
          <a:off x="6146640" y="3733920"/>
          <a:ext cx="914040" cy="19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2743200" imgH="4267200" progId="Equation.DSMT4">
                  <p:embed/>
                </p:oleObj>
              </mc:Choice>
              <mc:Fallback>
                <p:oleObj name="" r:id="rId3" imgW="2743200" imgH="4267200" progId="Equation.DSMT4">
                  <p:embed/>
                  <p:pic>
                    <p:nvPicPr>
                      <p:cNvPr id="0" name="Picture -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46640" y="3733920"/>
                        <a:ext cx="914040" cy="19800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6" name="Picture 175"/>
          <p:cNvPicPr/>
          <p:nvPr/>
        </p:nvPicPr>
        <p:blipFill>
          <a:blip r:embed="rId4"/>
          <a:stretch>
            <a:fillRect/>
          </a:stretch>
        </p:blipFill>
        <p:spPr>
          <a:xfrm>
            <a:off x="6146640" y="3733920"/>
            <a:ext cx="914400" cy="190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文本框 37"/>
          <p:cNvSpPr/>
          <p:nvPr/>
        </p:nvSpPr>
        <p:spPr>
          <a:xfrm>
            <a:off x="4232160" y="6324480"/>
            <a:ext cx="21045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Fake image, G(z)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178" name="文本框 38"/>
          <p:cNvSpPr/>
          <p:nvPr/>
        </p:nvSpPr>
        <p:spPr>
          <a:xfrm>
            <a:off x="4216320" y="4754880"/>
            <a:ext cx="1738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Real image, x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GAN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分为两个部分进行训练。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Generator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：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81" name="梯形 22"/>
          <p:cNvSpPr/>
          <p:nvPr/>
        </p:nvSpPr>
        <p:spPr>
          <a:xfrm rot="5400000" flipV="1">
            <a:off x="3151800" y="5111280"/>
            <a:ext cx="914040" cy="1215720"/>
          </a:xfrm>
          <a:prstGeom prst="trapezoid">
            <a:avLst>
              <a:gd name="adj" fmla="val 25000"/>
            </a:avLst>
          </a:prstGeom>
          <a:solidFill>
            <a:schemeClr val="accent4">
              <a:lumMod val="75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文本框 23"/>
          <p:cNvSpPr/>
          <p:nvPr/>
        </p:nvSpPr>
        <p:spPr>
          <a:xfrm>
            <a:off x="2922120" y="5535000"/>
            <a:ext cx="13410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FFFF"/>
                </a:solidFill>
                <a:latin typeface="等线"/>
              </a:rPr>
              <a:t>Generator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183" name="矩形 24"/>
          <p:cNvSpPr/>
          <p:nvPr/>
        </p:nvSpPr>
        <p:spPr>
          <a:xfrm>
            <a:off x="2633760" y="511956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4" name="文本框 25"/>
          <p:cNvSpPr/>
          <p:nvPr/>
        </p:nvSpPr>
        <p:spPr>
          <a:xfrm>
            <a:off x="1637280" y="6308280"/>
            <a:ext cx="2118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Random vector z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185" name="图片 26"/>
          <p:cNvPicPr/>
          <p:nvPr/>
        </p:nvPicPr>
        <p:blipFill>
          <a:blip r:embed="rId1"/>
          <a:srcRect l="5140" t="7849" r="6349" b="2762"/>
          <a:stretch>
            <a:fillRect/>
          </a:stretch>
        </p:blipFill>
        <p:spPr>
          <a:xfrm>
            <a:off x="4458960" y="5155200"/>
            <a:ext cx="1073880" cy="1128600"/>
          </a:xfrm>
          <a:prstGeom prst="rect">
            <a:avLst/>
          </a:prstGeom>
          <a:ln w="0">
            <a:noFill/>
          </a:ln>
        </p:spPr>
      </p:pic>
      <p:pic>
        <p:nvPicPr>
          <p:cNvPr id="186" name="图片 28"/>
          <p:cNvPicPr/>
          <p:nvPr/>
        </p:nvPicPr>
        <p:blipFill>
          <a:blip r:embed="rId2"/>
          <a:srcRect l="5741" t="6079" r="5814" b="4225"/>
          <a:stretch>
            <a:fillRect/>
          </a:stretch>
        </p:blipFill>
        <p:spPr>
          <a:xfrm>
            <a:off x="4458960" y="3720240"/>
            <a:ext cx="1073880" cy="1068120"/>
          </a:xfrm>
          <a:prstGeom prst="rect">
            <a:avLst/>
          </a:prstGeom>
          <a:ln w="0">
            <a:noFill/>
          </a:ln>
        </p:spPr>
      </p:pic>
      <p:grpSp>
        <p:nvGrpSpPr>
          <p:cNvPr id="187" name="组合 30"/>
          <p:cNvGrpSpPr/>
          <p:nvPr/>
        </p:nvGrpSpPr>
        <p:grpSpPr>
          <a:xfrm>
            <a:off x="6937200" y="4615920"/>
            <a:ext cx="1566000" cy="914040"/>
            <a:chOff x="6937200" y="4615920"/>
            <a:chExt cx="1566000" cy="914040"/>
          </a:xfrm>
        </p:grpSpPr>
        <p:sp>
          <p:nvSpPr>
            <p:cNvPr id="188" name="梯形 31"/>
            <p:cNvSpPr/>
            <p:nvPr/>
          </p:nvSpPr>
          <p:spPr>
            <a:xfrm rot="5400000">
              <a:off x="7217640" y="4335840"/>
              <a:ext cx="914040" cy="147420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9" name="文本框 32"/>
            <p:cNvSpPr/>
            <p:nvPr/>
          </p:nvSpPr>
          <p:spPr>
            <a:xfrm>
              <a:off x="6937200" y="4888440"/>
              <a:ext cx="1566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/>
                </a:rPr>
                <a:t>Discriminator</a:t>
              </a:r>
              <a:endParaRPr lang="en-US" sz="1800" b="0" strike="noStrike" spc="-1">
                <a:latin typeface="Arial" panose="020B0604020202020204"/>
              </a:endParaRPr>
            </a:p>
          </p:txBody>
        </p:sp>
      </p:grpSp>
      <p:sp>
        <p:nvSpPr>
          <p:cNvPr id="190" name="直接箭头连接符 33"/>
          <p:cNvSpPr/>
          <p:nvPr/>
        </p:nvSpPr>
        <p:spPr>
          <a:xfrm flipV="1">
            <a:off x="5625000" y="527148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1" name="直接箭头连接符 34"/>
          <p:cNvSpPr/>
          <p:nvPr/>
        </p:nvSpPr>
        <p:spPr>
          <a:xfrm>
            <a:off x="5652720" y="42512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2" name="直接箭头连接符 35"/>
          <p:cNvSpPr/>
          <p:nvPr/>
        </p:nvSpPr>
        <p:spPr>
          <a:xfrm>
            <a:off x="8503200" y="5073120"/>
            <a:ext cx="364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3" name="文本框 36"/>
          <p:cNvSpPr/>
          <p:nvPr/>
        </p:nvSpPr>
        <p:spPr>
          <a:xfrm>
            <a:off x="8818920" y="4888440"/>
            <a:ext cx="2061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Real(1) / Fake(0)</a:t>
            </a:r>
            <a:endParaRPr lang="en-US" sz="18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Conditional GAN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在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GAN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的基础上加上了对输出的控制。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grpSp>
        <p:nvGrpSpPr>
          <p:cNvPr id="196" name="组合 3"/>
          <p:cNvGrpSpPr/>
          <p:nvPr/>
        </p:nvGrpSpPr>
        <p:grpSpPr>
          <a:xfrm>
            <a:off x="2922120" y="5262480"/>
            <a:ext cx="1341000" cy="914040"/>
            <a:chOff x="2922120" y="5262480"/>
            <a:chExt cx="1341000" cy="914040"/>
          </a:xfrm>
        </p:grpSpPr>
        <p:sp>
          <p:nvSpPr>
            <p:cNvPr id="197" name="梯形 4"/>
            <p:cNvSpPr/>
            <p:nvPr/>
          </p:nvSpPr>
          <p:spPr>
            <a:xfrm rot="5400000" flipV="1">
              <a:off x="3151800" y="5111280"/>
              <a:ext cx="914040" cy="121572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8" name="文本框 5"/>
            <p:cNvSpPr/>
            <p:nvPr/>
          </p:nvSpPr>
          <p:spPr>
            <a:xfrm>
              <a:off x="2922120" y="5535000"/>
              <a:ext cx="1341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/>
                </a:rPr>
                <a:t>Generator</a:t>
              </a:r>
              <a:endParaRPr lang="en-US" sz="1800" b="0" strike="noStrike" spc="-1">
                <a:latin typeface="Arial" panose="020B0604020202020204"/>
              </a:endParaRPr>
            </a:p>
          </p:txBody>
        </p:sp>
      </p:grpSp>
      <p:sp>
        <p:nvSpPr>
          <p:cNvPr id="199" name="矩形 6"/>
          <p:cNvSpPr/>
          <p:nvPr/>
        </p:nvSpPr>
        <p:spPr>
          <a:xfrm>
            <a:off x="2236320" y="511956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" name="文本框 7"/>
          <p:cNvSpPr/>
          <p:nvPr/>
        </p:nvSpPr>
        <p:spPr>
          <a:xfrm>
            <a:off x="810000" y="6308280"/>
            <a:ext cx="2118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Random vector z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201" name="图片 8"/>
          <p:cNvPicPr/>
          <p:nvPr/>
        </p:nvPicPr>
        <p:blipFill>
          <a:blip r:embed="rId1"/>
          <a:srcRect l="5140" t="7849" r="6349" b="2762"/>
          <a:stretch>
            <a:fillRect/>
          </a:stretch>
        </p:blipFill>
        <p:spPr>
          <a:xfrm>
            <a:off x="4458960" y="5155200"/>
            <a:ext cx="1073880" cy="1128600"/>
          </a:xfrm>
          <a:prstGeom prst="rect">
            <a:avLst/>
          </a:prstGeom>
          <a:ln w="0">
            <a:noFill/>
          </a:ln>
        </p:spPr>
      </p:pic>
      <p:sp>
        <p:nvSpPr>
          <p:cNvPr id="202" name="文本框 9"/>
          <p:cNvSpPr/>
          <p:nvPr/>
        </p:nvSpPr>
        <p:spPr>
          <a:xfrm>
            <a:off x="4224960" y="6324480"/>
            <a:ext cx="17629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Fake image, y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203" name="图片 10"/>
          <p:cNvPicPr/>
          <p:nvPr/>
        </p:nvPicPr>
        <p:blipFill>
          <a:blip r:embed="rId2"/>
          <a:srcRect l="5741" t="6079" r="5814" b="4225"/>
          <a:stretch>
            <a:fillRect/>
          </a:stretch>
        </p:blipFill>
        <p:spPr>
          <a:xfrm>
            <a:off x="4458960" y="3720240"/>
            <a:ext cx="1073880" cy="1068120"/>
          </a:xfrm>
          <a:prstGeom prst="rect">
            <a:avLst/>
          </a:prstGeom>
          <a:ln w="0">
            <a:noFill/>
          </a:ln>
        </p:spPr>
      </p:pic>
      <p:sp>
        <p:nvSpPr>
          <p:cNvPr id="204" name="文本框 11"/>
          <p:cNvSpPr/>
          <p:nvPr/>
        </p:nvSpPr>
        <p:spPr>
          <a:xfrm>
            <a:off x="4222080" y="4754880"/>
            <a:ext cx="1747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Real image, 5</a:t>
            </a:r>
            <a:endParaRPr lang="en-US" sz="1800" b="0" strike="noStrike" spc="-1">
              <a:latin typeface="Arial" panose="020B0604020202020204"/>
            </a:endParaRPr>
          </a:p>
        </p:txBody>
      </p:sp>
      <p:grpSp>
        <p:nvGrpSpPr>
          <p:cNvPr id="205" name="组合 12"/>
          <p:cNvGrpSpPr/>
          <p:nvPr/>
        </p:nvGrpSpPr>
        <p:grpSpPr>
          <a:xfrm>
            <a:off x="6937200" y="4615920"/>
            <a:ext cx="1566000" cy="914040"/>
            <a:chOff x="6937200" y="4615920"/>
            <a:chExt cx="1566000" cy="914040"/>
          </a:xfrm>
        </p:grpSpPr>
        <p:sp>
          <p:nvSpPr>
            <p:cNvPr id="206" name="梯形 13"/>
            <p:cNvSpPr/>
            <p:nvPr/>
          </p:nvSpPr>
          <p:spPr>
            <a:xfrm rot="5400000">
              <a:off x="7217640" y="4335840"/>
              <a:ext cx="914040" cy="147420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7" name="文本框 14"/>
            <p:cNvSpPr/>
            <p:nvPr/>
          </p:nvSpPr>
          <p:spPr>
            <a:xfrm>
              <a:off x="6937200" y="4888440"/>
              <a:ext cx="1566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/>
                </a:rPr>
                <a:t>Discriminator</a:t>
              </a:r>
              <a:endParaRPr lang="en-US" sz="1800" b="0" strike="noStrike" spc="-1">
                <a:latin typeface="Arial" panose="020B0604020202020204"/>
              </a:endParaRPr>
            </a:p>
          </p:txBody>
        </p:sp>
      </p:grpSp>
      <p:sp>
        <p:nvSpPr>
          <p:cNvPr id="208" name="直接箭头连接符 15"/>
          <p:cNvSpPr/>
          <p:nvPr/>
        </p:nvSpPr>
        <p:spPr>
          <a:xfrm flipV="1">
            <a:off x="5625000" y="527148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" name="直接箭头连接符 16"/>
          <p:cNvSpPr/>
          <p:nvPr/>
        </p:nvSpPr>
        <p:spPr>
          <a:xfrm>
            <a:off x="5652720" y="42512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" name="直接箭头连接符 17"/>
          <p:cNvSpPr/>
          <p:nvPr/>
        </p:nvSpPr>
        <p:spPr>
          <a:xfrm>
            <a:off x="8503200" y="5073120"/>
            <a:ext cx="364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1" name="矩形 19"/>
          <p:cNvSpPr/>
          <p:nvPr/>
        </p:nvSpPr>
        <p:spPr>
          <a:xfrm>
            <a:off x="2236320" y="342900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" name="文本框 20"/>
          <p:cNvSpPr/>
          <p:nvPr/>
        </p:nvSpPr>
        <p:spPr>
          <a:xfrm>
            <a:off x="888120" y="4600800"/>
            <a:ext cx="1961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Random label y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213" name="直接箭头连接符 22"/>
          <p:cNvSpPr/>
          <p:nvPr/>
        </p:nvSpPr>
        <p:spPr>
          <a:xfrm flipV="1">
            <a:off x="2361600" y="5718960"/>
            <a:ext cx="63900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" name="连接符: 肘形 24"/>
          <p:cNvSpPr/>
          <p:nvPr/>
        </p:nvSpPr>
        <p:spPr>
          <a:xfrm>
            <a:off x="2361600" y="4030920"/>
            <a:ext cx="639000" cy="1688760"/>
          </a:xfrm>
          <a:prstGeom prst="bentConnector3">
            <a:avLst>
              <a:gd name="adj1" fmla="val 64898"/>
            </a:avLst>
          </a:pr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5" name="直接箭头连接符 29"/>
          <p:cNvSpPr/>
          <p:nvPr/>
        </p:nvSpPr>
        <p:spPr>
          <a:xfrm>
            <a:off x="5652720" y="41180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6" name="直接箭头连接符 30"/>
          <p:cNvSpPr/>
          <p:nvPr/>
        </p:nvSpPr>
        <p:spPr>
          <a:xfrm flipV="1">
            <a:off x="5642280" y="538416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7" name="文本框 31"/>
          <p:cNvSpPr/>
          <p:nvPr/>
        </p:nvSpPr>
        <p:spPr>
          <a:xfrm>
            <a:off x="8959320" y="4888440"/>
            <a:ext cx="32324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Fake_or_wrong(0)/ Real_and_right(1)</a:t>
            </a:r>
            <a:endParaRPr lang="en-US" sz="18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Conditional GAN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Discriminator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：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grpSp>
        <p:nvGrpSpPr>
          <p:cNvPr id="220" name="组合 3"/>
          <p:cNvGrpSpPr/>
          <p:nvPr/>
        </p:nvGrpSpPr>
        <p:grpSpPr>
          <a:xfrm>
            <a:off x="2922120" y="5262480"/>
            <a:ext cx="1341000" cy="914040"/>
            <a:chOff x="2922120" y="5262480"/>
            <a:chExt cx="1341000" cy="914040"/>
          </a:xfrm>
        </p:grpSpPr>
        <p:sp>
          <p:nvSpPr>
            <p:cNvPr id="221" name="梯形 4"/>
            <p:cNvSpPr/>
            <p:nvPr/>
          </p:nvSpPr>
          <p:spPr>
            <a:xfrm rot="5400000" flipV="1">
              <a:off x="3151800" y="5111280"/>
              <a:ext cx="914040" cy="121572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2" name="文本框 5"/>
            <p:cNvSpPr/>
            <p:nvPr/>
          </p:nvSpPr>
          <p:spPr>
            <a:xfrm>
              <a:off x="2922120" y="5535000"/>
              <a:ext cx="1341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/>
                </a:rPr>
                <a:t>Generator</a:t>
              </a:r>
              <a:endParaRPr lang="en-US" sz="1800" b="0" strike="noStrike" spc="-1">
                <a:latin typeface="Arial" panose="020B0604020202020204"/>
              </a:endParaRPr>
            </a:p>
          </p:txBody>
        </p:sp>
      </p:grpSp>
      <p:sp>
        <p:nvSpPr>
          <p:cNvPr id="223" name="矩形 6"/>
          <p:cNvSpPr/>
          <p:nvPr/>
        </p:nvSpPr>
        <p:spPr>
          <a:xfrm>
            <a:off x="2236320" y="511956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4" name="文本框 7"/>
          <p:cNvSpPr/>
          <p:nvPr/>
        </p:nvSpPr>
        <p:spPr>
          <a:xfrm>
            <a:off x="810000" y="6308280"/>
            <a:ext cx="2118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Random vector z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225" name="图片 8"/>
          <p:cNvPicPr/>
          <p:nvPr/>
        </p:nvPicPr>
        <p:blipFill>
          <a:blip r:embed="rId1"/>
          <a:srcRect l="5140" t="7849" r="6349" b="2762"/>
          <a:stretch>
            <a:fillRect/>
          </a:stretch>
        </p:blipFill>
        <p:spPr>
          <a:xfrm>
            <a:off x="4458960" y="5155200"/>
            <a:ext cx="1073880" cy="1128600"/>
          </a:xfrm>
          <a:prstGeom prst="rect">
            <a:avLst/>
          </a:prstGeom>
          <a:ln w="0">
            <a:noFill/>
          </a:ln>
        </p:spPr>
      </p:pic>
      <p:sp>
        <p:nvSpPr>
          <p:cNvPr id="226" name="文本框 9"/>
          <p:cNvSpPr/>
          <p:nvPr/>
        </p:nvSpPr>
        <p:spPr>
          <a:xfrm>
            <a:off x="4131720" y="6324480"/>
            <a:ext cx="2701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Fake image(G(z, y)), y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227" name="图片 10"/>
          <p:cNvPicPr/>
          <p:nvPr/>
        </p:nvPicPr>
        <p:blipFill>
          <a:blip r:embed="rId2"/>
          <a:srcRect l="5741" t="6079" r="5814" b="4225"/>
          <a:stretch>
            <a:fillRect/>
          </a:stretch>
        </p:blipFill>
        <p:spPr>
          <a:xfrm>
            <a:off x="4458960" y="3720240"/>
            <a:ext cx="1073880" cy="1068120"/>
          </a:xfrm>
          <a:prstGeom prst="rect">
            <a:avLst/>
          </a:prstGeom>
          <a:ln w="0">
            <a:noFill/>
          </a:ln>
        </p:spPr>
      </p:pic>
      <p:sp>
        <p:nvSpPr>
          <p:cNvPr id="228" name="文本框 11"/>
          <p:cNvSpPr/>
          <p:nvPr/>
        </p:nvSpPr>
        <p:spPr>
          <a:xfrm>
            <a:off x="4272120" y="4754880"/>
            <a:ext cx="2243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Real image(x), 5()</a:t>
            </a:r>
            <a:endParaRPr lang="en-US" sz="1800" b="0" strike="noStrike" spc="-1">
              <a:latin typeface="Arial" panose="020B0604020202020204"/>
            </a:endParaRPr>
          </a:p>
        </p:txBody>
      </p:sp>
      <p:grpSp>
        <p:nvGrpSpPr>
          <p:cNvPr id="229" name="组合 12"/>
          <p:cNvGrpSpPr/>
          <p:nvPr/>
        </p:nvGrpSpPr>
        <p:grpSpPr>
          <a:xfrm>
            <a:off x="6937200" y="4615920"/>
            <a:ext cx="1566000" cy="914040"/>
            <a:chOff x="6937200" y="4615920"/>
            <a:chExt cx="1566000" cy="914040"/>
          </a:xfrm>
        </p:grpSpPr>
        <p:sp>
          <p:nvSpPr>
            <p:cNvPr id="230" name="梯形 13"/>
            <p:cNvSpPr/>
            <p:nvPr/>
          </p:nvSpPr>
          <p:spPr>
            <a:xfrm rot="5400000">
              <a:off x="7217640" y="4335840"/>
              <a:ext cx="914040" cy="1474200"/>
            </a:xfrm>
            <a:prstGeom prst="trapezoid">
              <a:avLst>
                <a:gd name="adj" fmla="val 25000"/>
              </a:avLst>
            </a:prstGeom>
            <a:solidFill>
              <a:schemeClr val="accent4">
                <a:lumMod val="75000"/>
              </a:schemeClr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1" name="文本框 14"/>
            <p:cNvSpPr/>
            <p:nvPr/>
          </p:nvSpPr>
          <p:spPr>
            <a:xfrm>
              <a:off x="6937200" y="4888440"/>
              <a:ext cx="1566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/>
                </a:rPr>
                <a:t>Discriminator</a:t>
              </a:r>
              <a:endParaRPr lang="en-US" sz="1800" b="0" strike="noStrike" spc="-1">
                <a:latin typeface="Arial" panose="020B0604020202020204"/>
              </a:endParaRPr>
            </a:p>
          </p:txBody>
        </p:sp>
      </p:grpSp>
      <p:sp>
        <p:nvSpPr>
          <p:cNvPr id="232" name="直接箭头连接符 15"/>
          <p:cNvSpPr/>
          <p:nvPr/>
        </p:nvSpPr>
        <p:spPr>
          <a:xfrm flipV="1">
            <a:off x="5625000" y="527148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3" name="直接箭头连接符 16"/>
          <p:cNvSpPr/>
          <p:nvPr/>
        </p:nvSpPr>
        <p:spPr>
          <a:xfrm>
            <a:off x="5652720" y="42512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4" name="直接箭头连接符 17"/>
          <p:cNvSpPr/>
          <p:nvPr/>
        </p:nvSpPr>
        <p:spPr>
          <a:xfrm>
            <a:off x="8503200" y="5073120"/>
            <a:ext cx="364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5" name="矩形 19"/>
          <p:cNvSpPr/>
          <p:nvPr/>
        </p:nvSpPr>
        <p:spPr>
          <a:xfrm>
            <a:off x="2236320" y="342900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6" name="文本框 20"/>
          <p:cNvSpPr/>
          <p:nvPr/>
        </p:nvSpPr>
        <p:spPr>
          <a:xfrm>
            <a:off x="888120" y="4600800"/>
            <a:ext cx="1961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Random label y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237" name="直接箭头连接符 22"/>
          <p:cNvSpPr/>
          <p:nvPr/>
        </p:nvSpPr>
        <p:spPr>
          <a:xfrm flipV="1">
            <a:off x="2361600" y="5718960"/>
            <a:ext cx="63900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8" name="连接符: 肘形 24"/>
          <p:cNvSpPr/>
          <p:nvPr/>
        </p:nvSpPr>
        <p:spPr>
          <a:xfrm>
            <a:off x="2361600" y="4030920"/>
            <a:ext cx="639000" cy="1688760"/>
          </a:xfrm>
          <a:prstGeom prst="bentConnector3">
            <a:avLst>
              <a:gd name="adj1" fmla="val 64898"/>
            </a:avLst>
          </a:pr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9" name="直接箭头连接符 23"/>
          <p:cNvSpPr/>
          <p:nvPr/>
        </p:nvSpPr>
        <p:spPr>
          <a:xfrm>
            <a:off x="5652720" y="41180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0" name="直接箭头连接符 25"/>
          <p:cNvSpPr/>
          <p:nvPr/>
        </p:nvSpPr>
        <p:spPr>
          <a:xfrm flipV="1">
            <a:off x="5642280" y="538416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1" name="文本框 26"/>
          <p:cNvSpPr/>
          <p:nvPr/>
        </p:nvSpPr>
        <p:spPr>
          <a:xfrm>
            <a:off x="8959320" y="4888440"/>
            <a:ext cx="32324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Fake_or_wrong(0)/ Real_and_right(1)</a:t>
            </a:r>
            <a:endParaRPr lang="en-US" sz="18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等线 Light"/>
              </a:rPr>
              <a:t>Conditional GAN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Generator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：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grpSp>
        <p:nvGrpSpPr>
          <p:cNvPr id="244" name="组合 3"/>
          <p:cNvGrpSpPr/>
          <p:nvPr/>
        </p:nvGrpSpPr>
        <p:grpSpPr>
          <a:xfrm>
            <a:off x="2922120" y="5262480"/>
            <a:ext cx="1341000" cy="914040"/>
            <a:chOff x="2922120" y="5262480"/>
            <a:chExt cx="1341000" cy="914040"/>
          </a:xfrm>
        </p:grpSpPr>
        <p:sp>
          <p:nvSpPr>
            <p:cNvPr id="245" name="梯形 4"/>
            <p:cNvSpPr/>
            <p:nvPr/>
          </p:nvSpPr>
          <p:spPr>
            <a:xfrm rot="5400000" flipV="1">
              <a:off x="3151800" y="5111280"/>
              <a:ext cx="914040" cy="1215720"/>
            </a:xfrm>
            <a:prstGeom prst="trapezoid">
              <a:avLst>
                <a:gd name="adj" fmla="val 25000"/>
              </a:avLst>
            </a:prstGeom>
            <a:solidFill>
              <a:schemeClr val="accent4">
                <a:lumMod val="75000"/>
              </a:schemeClr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6" name="文本框 5"/>
            <p:cNvSpPr/>
            <p:nvPr/>
          </p:nvSpPr>
          <p:spPr>
            <a:xfrm>
              <a:off x="2922120" y="5535000"/>
              <a:ext cx="1341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/>
                </a:rPr>
                <a:t>Generator</a:t>
              </a:r>
              <a:endParaRPr lang="en-US" sz="1800" b="0" strike="noStrike" spc="-1">
                <a:latin typeface="Arial" panose="020B0604020202020204"/>
              </a:endParaRPr>
            </a:p>
          </p:txBody>
        </p:sp>
      </p:grpSp>
      <p:sp>
        <p:nvSpPr>
          <p:cNvPr id="247" name="矩形 6"/>
          <p:cNvSpPr/>
          <p:nvPr/>
        </p:nvSpPr>
        <p:spPr>
          <a:xfrm>
            <a:off x="2236320" y="511956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8" name="文本框 7"/>
          <p:cNvSpPr/>
          <p:nvPr/>
        </p:nvSpPr>
        <p:spPr>
          <a:xfrm>
            <a:off x="810000" y="6308280"/>
            <a:ext cx="2118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Random vector z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249" name="图片 8"/>
          <p:cNvPicPr/>
          <p:nvPr/>
        </p:nvPicPr>
        <p:blipFill>
          <a:blip r:embed="rId1"/>
          <a:srcRect l="5140" t="7849" r="6349" b="2762"/>
          <a:stretch>
            <a:fillRect/>
          </a:stretch>
        </p:blipFill>
        <p:spPr>
          <a:xfrm>
            <a:off x="4458960" y="5155200"/>
            <a:ext cx="1073880" cy="1128600"/>
          </a:xfrm>
          <a:prstGeom prst="rect">
            <a:avLst/>
          </a:prstGeom>
          <a:ln w="0">
            <a:noFill/>
          </a:ln>
        </p:spPr>
      </p:pic>
      <p:sp>
        <p:nvSpPr>
          <p:cNvPr id="250" name="文本框 9"/>
          <p:cNvSpPr/>
          <p:nvPr/>
        </p:nvSpPr>
        <p:spPr>
          <a:xfrm>
            <a:off x="4131720" y="6324480"/>
            <a:ext cx="2701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Fake image(G(z, y)), y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251" name="图片 10"/>
          <p:cNvPicPr/>
          <p:nvPr/>
        </p:nvPicPr>
        <p:blipFill>
          <a:blip r:embed="rId2"/>
          <a:srcRect l="5741" t="6079" r="5814" b="4225"/>
          <a:stretch>
            <a:fillRect/>
          </a:stretch>
        </p:blipFill>
        <p:spPr>
          <a:xfrm>
            <a:off x="4458960" y="3720240"/>
            <a:ext cx="1073880" cy="1068120"/>
          </a:xfrm>
          <a:prstGeom prst="rect">
            <a:avLst/>
          </a:prstGeom>
          <a:ln w="0">
            <a:noFill/>
          </a:ln>
        </p:spPr>
      </p:pic>
      <p:sp>
        <p:nvSpPr>
          <p:cNvPr id="252" name="文本框 11"/>
          <p:cNvSpPr/>
          <p:nvPr/>
        </p:nvSpPr>
        <p:spPr>
          <a:xfrm>
            <a:off x="4272120" y="4754880"/>
            <a:ext cx="2243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Real image(x), 5()</a:t>
            </a:r>
            <a:endParaRPr lang="en-US" sz="1800" b="0" strike="noStrike" spc="-1">
              <a:latin typeface="Arial" panose="020B0604020202020204"/>
            </a:endParaRPr>
          </a:p>
        </p:txBody>
      </p:sp>
      <p:grpSp>
        <p:nvGrpSpPr>
          <p:cNvPr id="253" name="组合 12"/>
          <p:cNvGrpSpPr/>
          <p:nvPr/>
        </p:nvGrpSpPr>
        <p:grpSpPr>
          <a:xfrm>
            <a:off x="6937200" y="4615920"/>
            <a:ext cx="1566000" cy="914040"/>
            <a:chOff x="6937200" y="4615920"/>
            <a:chExt cx="1566000" cy="914040"/>
          </a:xfrm>
        </p:grpSpPr>
        <p:sp>
          <p:nvSpPr>
            <p:cNvPr id="254" name="梯形 13"/>
            <p:cNvSpPr/>
            <p:nvPr/>
          </p:nvSpPr>
          <p:spPr>
            <a:xfrm rot="5400000">
              <a:off x="7217640" y="4335840"/>
              <a:ext cx="914040" cy="1474200"/>
            </a:xfrm>
            <a:prstGeom prst="trapezoid">
              <a:avLst>
                <a:gd name="adj" fmla="val 25000"/>
              </a:avLst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55" name="文本框 14"/>
            <p:cNvSpPr/>
            <p:nvPr/>
          </p:nvSpPr>
          <p:spPr>
            <a:xfrm>
              <a:off x="6937200" y="4888440"/>
              <a:ext cx="1566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FFFF"/>
                  </a:solidFill>
                  <a:latin typeface="等线"/>
                </a:rPr>
                <a:t>Discriminator</a:t>
              </a:r>
              <a:endParaRPr lang="en-US" sz="1800" b="0" strike="noStrike" spc="-1">
                <a:latin typeface="Arial" panose="020B0604020202020204"/>
              </a:endParaRPr>
            </a:p>
          </p:txBody>
        </p:sp>
      </p:grpSp>
      <p:sp>
        <p:nvSpPr>
          <p:cNvPr id="256" name="直接箭头连接符 15"/>
          <p:cNvSpPr/>
          <p:nvPr/>
        </p:nvSpPr>
        <p:spPr>
          <a:xfrm flipV="1">
            <a:off x="5625000" y="527148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7" name="直接箭头连接符 16"/>
          <p:cNvSpPr/>
          <p:nvPr/>
        </p:nvSpPr>
        <p:spPr>
          <a:xfrm>
            <a:off x="5652720" y="42512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8" name="直接箭头连接符 17"/>
          <p:cNvSpPr/>
          <p:nvPr/>
        </p:nvSpPr>
        <p:spPr>
          <a:xfrm>
            <a:off x="8503200" y="5073120"/>
            <a:ext cx="364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9" name="矩形 19"/>
          <p:cNvSpPr/>
          <p:nvPr/>
        </p:nvSpPr>
        <p:spPr>
          <a:xfrm>
            <a:off x="2236320" y="3429000"/>
            <a:ext cx="124560" cy="1203120"/>
          </a:xfrm>
          <a:prstGeom prst="rect">
            <a:avLst/>
          </a:prstGeom>
          <a:noFill/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0" name="文本框 20"/>
          <p:cNvSpPr/>
          <p:nvPr/>
        </p:nvSpPr>
        <p:spPr>
          <a:xfrm>
            <a:off x="888120" y="4600800"/>
            <a:ext cx="1961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Random label y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261" name="直接箭头连接符 22"/>
          <p:cNvSpPr/>
          <p:nvPr/>
        </p:nvSpPr>
        <p:spPr>
          <a:xfrm flipV="1">
            <a:off x="2361600" y="5718960"/>
            <a:ext cx="63900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2" name="连接符: 肘形 24"/>
          <p:cNvSpPr/>
          <p:nvPr/>
        </p:nvSpPr>
        <p:spPr>
          <a:xfrm>
            <a:off x="2361600" y="4030920"/>
            <a:ext cx="639000" cy="1688760"/>
          </a:xfrm>
          <a:prstGeom prst="bentConnector3">
            <a:avLst>
              <a:gd name="adj1" fmla="val 64898"/>
            </a:avLst>
          </a:pr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3" name="直接箭头连接符 23"/>
          <p:cNvSpPr/>
          <p:nvPr/>
        </p:nvSpPr>
        <p:spPr>
          <a:xfrm>
            <a:off x="5652720" y="4118040"/>
            <a:ext cx="1192320" cy="63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4" name="直接箭头连接符 25"/>
          <p:cNvSpPr/>
          <p:nvPr/>
        </p:nvSpPr>
        <p:spPr>
          <a:xfrm flipV="1">
            <a:off x="5642280" y="5384160"/>
            <a:ext cx="1220400" cy="447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5" name="文本框 26"/>
          <p:cNvSpPr/>
          <p:nvPr/>
        </p:nvSpPr>
        <p:spPr>
          <a:xfrm>
            <a:off x="8959320" y="4888440"/>
            <a:ext cx="32324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等线"/>
              </a:rPr>
              <a:t>Fake_or_wrong(0)/ Real_and_right(1)</a:t>
            </a:r>
            <a:endParaRPr lang="en-US" sz="18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zh-CN" sz="4400" b="0" strike="noStrike" spc="-1">
                <a:solidFill>
                  <a:srgbClr val="000000"/>
                </a:solidFill>
                <a:latin typeface="等线 Light"/>
              </a:rPr>
              <a:t>提交要求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5750" marR="0" indent="-285750" algn="l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Tx/>
              <a:buFont typeface="Arial" panose="020B0604020202020204" pitchFamily="34" charset="0"/>
              <a:buChar char="•"/>
            </a:pPr>
            <a:r>
              <a:rPr lang="zh-CN" sz="2400">
                <a:hlinkClick r:id="rId1" action="ppaction://hlinkfile"/>
              </a:rPr>
              <a:t>https://www.educoder.net/competitions/index/Jittor-5</a:t>
            </a:r>
            <a:endParaRPr lang="zh-CN" sz="2400"/>
          </a:p>
          <a:p>
            <a:pPr marL="285750" marR="0" indent="-285750" algn="l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Tx/>
              <a:buFont typeface="Arial" panose="020B0604020202020204" pitchFamily="34" charset="0"/>
              <a:buChar char="•"/>
            </a:pPr>
            <a:r>
              <a:rPr lang="zh-CN" sz="2400"/>
              <a:t>请按头歌平台中“赛题说明</a:t>
            </a:r>
            <a:r>
              <a:rPr lang="en-US" altLang="zh-CN" sz="2400"/>
              <a:t>-</a:t>
            </a:r>
            <a:r>
              <a:rPr lang="zh-CN" sz="2400"/>
              <a:t>计图挑战热身赛”的要求完成作业</a:t>
            </a:r>
            <a:endParaRPr lang="zh-CN" sz="2400"/>
          </a:p>
          <a:p>
            <a:pPr marL="285750" marR="0" indent="-285750" algn="l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ea typeface="宋体" charset="0"/>
              </a:rPr>
              <a:t>赛题说明中的</a:t>
            </a:r>
            <a:r>
              <a:rPr sz="2400"/>
              <a:t>用户随机ID</a:t>
            </a:r>
            <a:r>
              <a:rPr lang="zh-CN" altLang="en-US" sz="2400">
                <a:ea typeface="宋体" charset="0"/>
              </a:rPr>
              <a:t>设置为学号</a:t>
            </a:r>
            <a:endParaRPr sz="2400"/>
          </a:p>
          <a:p>
            <a:pPr marL="285750" marR="0" indent="-285750" algn="l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Tx/>
              <a:buFont typeface="Arial" panose="020B0604020202020204" pitchFamily="34" charset="0"/>
              <a:buChar char="•"/>
            </a:pPr>
            <a:r>
              <a:rPr lang="zh-CN" sz="2400"/>
              <a:t>提交文件应包含以下</a:t>
            </a:r>
            <a:r>
              <a:rPr lang="en-US" altLang="zh-CN" sz="2400"/>
              <a:t>3</a:t>
            </a:r>
            <a:r>
              <a:rPr lang="zh-CN" sz="2400"/>
              <a:t>个部分：</a:t>
            </a:r>
            <a:endParaRPr lang="zh-CN" sz="2400"/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/>
              <a:t>1. </a:t>
            </a:r>
            <a:r>
              <a:rPr lang="zh-CN" sz="2000"/>
              <a:t>最终生成的图片（</a:t>
            </a:r>
            <a:r>
              <a:rPr lang="en-US" sz="2000"/>
              <a:t>result.png</a:t>
            </a:r>
            <a:r>
              <a:rPr lang="zh-CN" sz="2000"/>
              <a:t>）。</a:t>
            </a:r>
            <a:endParaRPr lang="en-US" sz="2000"/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/>
              <a:t>2. </a:t>
            </a:r>
            <a:r>
              <a:rPr lang="zh-CN" altLang="en-US" sz="2000">
                <a:ea typeface="宋体" charset="0"/>
              </a:rPr>
              <a:t>训练代码（</a:t>
            </a:r>
            <a:r>
              <a:rPr lang="en-US" altLang="zh-CN" sz="2000">
                <a:ea typeface="宋体" charset="0"/>
              </a:rPr>
              <a:t>CGAN.py</a:t>
            </a:r>
            <a:r>
              <a:rPr lang="zh-CN" altLang="en-US" sz="2000">
                <a:ea typeface="宋体" charset="0"/>
              </a:rPr>
              <a:t>）</a:t>
            </a:r>
            <a:r>
              <a:rPr lang="zh-CN" sz="2000"/>
              <a:t>。</a:t>
            </a:r>
            <a:endParaRPr lang="en-US" sz="2000"/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/>
              <a:t>3. </a:t>
            </a:r>
            <a:r>
              <a:rPr lang="zh-CN" altLang="en-US" sz="2000">
                <a:ea typeface="宋体" charset="0"/>
              </a:rPr>
              <a:t>实验报告文档（</a:t>
            </a:r>
            <a:r>
              <a:rPr lang="en-US" altLang="zh-CN" sz="2000">
                <a:ea typeface="宋体" charset="0"/>
              </a:rPr>
              <a:t>report.pdf</a:t>
            </a:r>
            <a:r>
              <a:rPr lang="zh-CN" altLang="en-US" sz="2000">
                <a:ea typeface="宋体" charset="0"/>
              </a:rPr>
              <a:t>），内含</a:t>
            </a:r>
            <a:r>
              <a:rPr lang="en-US" sz="2000"/>
              <a:t>Gitlink</a:t>
            </a:r>
            <a:r>
              <a:rPr lang="zh-CN" sz="2000"/>
              <a:t>项目开源地址与主页截图。</a:t>
            </a:r>
            <a:endParaRPr lang="zh-CN" sz="2400"/>
          </a:p>
          <a:p>
            <a:pPr marL="228600" lvl="0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altLang="zh-CN" sz="2400">
                <a:hlinkClick r:id="rId2" action="ppaction://hlinkfile"/>
              </a:rPr>
              <a:t>https://c.wss.pet/s/ilslkpzixno</a:t>
            </a:r>
            <a:endParaRPr lang="zh-CN" sz="2400">
              <a:hlinkClick r:id="rId2" action="ppaction://hlinkfile"/>
            </a:endParaRPr>
          </a:p>
          <a:p>
            <a:pPr marL="228600" lvl="0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400"/>
              <a:t>请将文件打包为</a:t>
            </a:r>
            <a:r>
              <a:rPr lang="en-US" altLang="zh-CN" sz="2400"/>
              <a:t>zip</a:t>
            </a:r>
            <a:r>
              <a:rPr lang="zh-CN" altLang="en-US" sz="2400">
                <a:ea typeface="宋体" charset="0"/>
              </a:rPr>
              <a:t>格式，命名为“学号-姓名</a:t>
            </a:r>
            <a:r>
              <a:rPr lang="en-US" altLang="zh-CN" sz="2400">
                <a:ea typeface="宋体" charset="0"/>
              </a:rPr>
              <a:t>.zip</a:t>
            </a:r>
            <a:r>
              <a:rPr lang="zh-CN" altLang="en-US" sz="2400">
                <a:ea typeface="宋体" charset="0"/>
              </a:rPr>
              <a:t>”并通过以上链接提交</a:t>
            </a:r>
            <a:endParaRPr lang="zh-CN" altLang="en-US" sz="2400">
              <a:ea typeface="宋体" charset="0"/>
            </a:endParaRPr>
          </a:p>
        </p:txBody>
      </p:sp>
      <p:pic>
        <p:nvPicPr>
          <p:cNvPr id="271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2999755" y="5336685"/>
            <a:ext cx="6275160" cy="570240"/>
          </a:xfrm>
          <a:prstGeom prst="rect">
            <a:avLst/>
          </a:prstGeom>
          <a:ln w="0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2999740" y="5917565"/>
            <a:ext cx="6275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accent3"/>
                </a:solidFill>
              </a:rPr>
              <a:t>result.png</a:t>
            </a:r>
            <a:r>
              <a:rPr lang="zh-CN" altLang="en-US">
                <a:solidFill>
                  <a:schemeClr val="accent3"/>
                </a:solidFill>
                <a:ea typeface="宋体" charset="0"/>
              </a:rPr>
              <a:t>示例</a:t>
            </a:r>
            <a:endParaRPr lang="zh-CN" altLang="en-US">
              <a:solidFill>
                <a:schemeClr val="accent3"/>
              </a:solidFill>
              <a:ea typeface="宋体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zh-CN" sz="4400" b="0" strike="noStrike" spc="-1">
                <a:solidFill>
                  <a:srgbClr val="000000"/>
                </a:solidFill>
                <a:latin typeface="等线 Light"/>
              </a:rPr>
              <a:t>开源要求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为让同学们熟悉开源项目的创建和管理，本次作业要求在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Gitlink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中开源（分数上限内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+2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）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sng" strike="noStrike" spc="-1">
                <a:solidFill>
                  <a:srgbClr val="0563C1"/>
                </a:solidFill>
                <a:uFillTx/>
                <a:latin typeface="等线"/>
                <a:hlinkClick r:id="rId1"/>
              </a:rPr>
              <a:t>www.gitlink.org.cn</a:t>
            </a:r>
            <a:r>
              <a:rPr lang="zh-CN" sz="2400" b="0" strike="noStrike" spc="-1">
                <a:solidFill>
                  <a:srgbClr val="000000"/>
                </a:solidFill>
                <a:latin typeface="等线"/>
              </a:rPr>
              <a:t>。</a:t>
            </a:r>
            <a:endParaRPr lang="en-US" sz="2400" b="0" strike="noStrike" spc="-1">
              <a:solidFill>
                <a:srgbClr val="000000"/>
              </a:solidFill>
              <a:latin typeface="等线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一个好的开源项目应包含合适的项目名称、项目简介、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README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文件、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gitignore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文件以及项目的源码文件。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开源的项目名和项目简介中应包含所使用的框架，方便其他用户检索：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等线"/>
              </a:rPr>
              <a:t>项目名：</a:t>
            </a:r>
            <a:r>
              <a:rPr lang="en-US" sz="2400" b="0" strike="noStrike" spc="-1">
                <a:solidFill>
                  <a:srgbClr val="000000"/>
                </a:solidFill>
                <a:latin typeface="等线"/>
              </a:rPr>
              <a:t>CGAN_jittor</a:t>
            </a:r>
            <a:endParaRPr lang="en-US" sz="2400" b="0" strike="noStrike" spc="-1">
              <a:solidFill>
                <a:srgbClr val="000000"/>
              </a:solidFill>
              <a:latin typeface="等线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等线"/>
              </a:rPr>
              <a:t>项目简介：</a:t>
            </a:r>
            <a:r>
              <a:rPr lang="en-US" sz="2400" b="0" strike="noStrike" spc="-1">
                <a:solidFill>
                  <a:srgbClr val="000000"/>
                </a:solidFill>
                <a:latin typeface="等线"/>
              </a:rPr>
              <a:t>A Jittor implementation of Conditional GAN (CGAN).</a:t>
            </a:r>
            <a:endParaRPr lang="en-US" sz="2400" b="0" strike="noStrike" spc="-1">
              <a:solidFill>
                <a:srgbClr val="000000"/>
              </a:solidFill>
              <a:latin typeface="等线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等线"/>
              </a:rPr>
              <a:t>项目语言选择</a:t>
            </a:r>
            <a:r>
              <a:rPr lang="en-US" sz="2400" b="0" strike="noStrike" spc="-1">
                <a:solidFill>
                  <a:srgbClr val="000000"/>
                </a:solidFill>
                <a:latin typeface="等线"/>
              </a:rPr>
              <a:t>Jittor </a:t>
            </a:r>
            <a:endParaRPr lang="en-US" sz="2400" b="0" strike="noStrike" spc="-1">
              <a:solidFill>
                <a:srgbClr val="000000"/>
              </a:solidFill>
              <a:latin typeface="等线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lang="zh-CN" sz="4400" b="0" strike="noStrike" spc="-1">
                <a:solidFill>
                  <a:srgbClr val="000000"/>
                </a:solidFill>
                <a:latin typeface="等线 Light"/>
              </a:rPr>
              <a:t>开源要求</a:t>
            </a:r>
            <a:endParaRPr lang="en-US" sz="44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README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文件的主要功能是对项目的功能和使用方式进行介绍，其书写规则可以参考：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sng" strike="noStrike" spc="-1">
                <a:solidFill>
                  <a:srgbClr val="0563C1"/>
                </a:solidFill>
                <a:uFillTx/>
                <a:latin typeface="等线"/>
                <a:hlinkClick r:id="rId1"/>
              </a:rPr>
              <a:t>https://chinese.freecodecamp.org/news/how-to-write-a-good-readme-file/</a:t>
            </a:r>
            <a:endParaRPr lang="en-US" sz="2400" b="0" strike="noStrike" spc="-1">
              <a:solidFill>
                <a:srgbClr val="000000"/>
              </a:solidFill>
              <a:latin typeface="等线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gitignore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文件的主要功能是屏蔽某些文件，使得这些文件不被追踪（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tracked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），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push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后也不会上传到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gitlink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等平台，一般用于屏蔽有代码自动生成的（编译结果文件、中间结果文件等），或占用空间较大的文件（一般数据集等文件会存放在网盘，然后在</a:t>
            </a:r>
            <a:r>
              <a:rPr lang="en-US" sz="2800" b="0" strike="noStrike" spc="-1">
                <a:solidFill>
                  <a:srgbClr val="000000"/>
                </a:solidFill>
                <a:latin typeface="等线"/>
              </a:rPr>
              <a:t>README</a:t>
            </a: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中提供下载链接），其书写规则可以参考：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等线"/>
              </a:rPr>
              <a:t>https://git-scm.com/docs/gitignore</a:t>
            </a:r>
            <a:r>
              <a:rPr lang="zh-CN" sz="2400" b="0" strike="noStrike" spc="-1">
                <a:solidFill>
                  <a:srgbClr val="000000"/>
                </a:solidFill>
                <a:latin typeface="等线"/>
              </a:rPr>
              <a:t>。</a:t>
            </a:r>
            <a:endParaRPr lang="en-US" sz="2400" b="0" strike="noStrike" spc="-1">
              <a:solidFill>
                <a:srgbClr val="000000"/>
              </a:solidFill>
              <a:latin typeface="等线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lang="zh-CN" sz="6000" b="0" strike="noStrike" spc="-1">
                <a:solidFill>
                  <a:srgbClr val="000000"/>
                </a:solidFill>
                <a:latin typeface="等线 Light"/>
              </a:rPr>
              <a:t>谢谢！</a:t>
            </a:r>
            <a:endParaRPr lang="en-US" sz="60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2395</Words>
  <Application>WPS Office WWO_wpscloud_20251119194033-e37bccecd3</Application>
  <PresentationFormat/>
  <Paragraphs>205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1" baseType="lpstr">
      <vt:lpstr>Arial</vt:lpstr>
      <vt:lpstr>宋体</vt:lpstr>
      <vt:lpstr>Wingdings</vt:lpstr>
      <vt:lpstr>等线 Light</vt:lpstr>
      <vt:lpstr>汉仪中等线KW</vt:lpstr>
      <vt:lpstr>等线</vt:lpstr>
      <vt:lpstr>Times New Roman</vt:lpstr>
      <vt:lpstr>Arial</vt:lpstr>
      <vt:lpstr>黑体</vt:lpstr>
      <vt:lpstr>宋体</vt:lpstr>
      <vt:lpstr>Garamond</vt:lpstr>
      <vt:lpstr>宋体</vt:lpstr>
      <vt:lpstr>汉仪书宋二KW</vt:lpstr>
      <vt:lpstr>Kingsoft Confetti</vt:lpstr>
      <vt:lpstr>汉仪旗黑KW 55S</vt:lpstr>
      <vt:lpstr>Times New Roman</vt:lpstr>
      <vt:lpstr>Office Theme</vt:lpstr>
      <vt:lpstr>Office Theme</vt:lpstr>
      <vt:lpstr>Equation.DSMT4</vt:lpstr>
      <vt:lpstr>计图（Jittor）介绍</vt:lpstr>
      <vt:lpstr>Jittor介绍</vt:lpstr>
      <vt:lpstr>Jittor介绍</vt:lpstr>
      <vt:lpstr>Jittor安装与使用</vt:lpstr>
      <vt:lpstr>Jittor安装与使用</vt:lpstr>
      <vt:lpstr>Jittor安装与使用</vt:lpstr>
      <vt:lpstr>Jittor安装与使用</vt:lpstr>
      <vt:lpstr>Jittor安装与使用</vt:lpstr>
      <vt:lpstr>Jittor安装与使用</vt:lpstr>
      <vt:lpstr>Jittor安装与使用</vt:lpstr>
      <vt:lpstr>Jittor安装与使用</vt:lpstr>
      <vt:lpstr>Conditional GAN</vt:lpstr>
      <vt:lpstr>GAN</vt:lpstr>
      <vt:lpstr>GAN</vt:lpstr>
      <vt:lpstr>GAN</vt:lpstr>
      <vt:lpstr>Conditional GAN</vt:lpstr>
      <vt:lpstr>Conditional GAN</vt:lpstr>
      <vt:lpstr>Conditional GAN</vt:lpstr>
      <vt:lpstr>提交要求</vt:lpstr>
      <vt:lpstr>开源要求</vt:lpstr>
      <vt:lpstr>开源要求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计图（Jittor）介绍</dc:title>
  <dc:creator>cxjyxx_me</dc:creator>
  <cp:lastModifiedBy>visjiao</cp:lastModifiedBy>
  <dcterms:created xsi:type="dcterms:W3CDTF">2025-12-02T09:29:18Z</dcterms:created>
  <dcterms:modified xsi:type="dcterms:W3CDTF">2025-12-02T09:29:18Z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宽屏</vt:lpwstr>
  </property>
  <property fmtid="{D5CDD505-2E9C-101B-9397-08002B2CF9AE}" pid="4" name="Slides">
    <vt:i4>23</vt:i4>
  </property>
  <property fmtid="{D5CDD505-2E9C-101B-9397-08002B2CF9AE}" pid="5" name="ICV">
    <vt:lpwstr>90F0744D1250920F63EB32677CC81854_42</vt:lpwstr>
  </property>
  <property fmtid="{D5CDD505-2E9C-101B-9397-08002B2CF9AE}" pid="6" name="KSOProductBuildVer">
    <vt:lpwstr>2052-12.9.0.24013</vt:lpwstr>
  </property>
</Properties>
</file>