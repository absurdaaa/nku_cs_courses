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05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44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9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93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631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785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14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16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42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8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321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614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7166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953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484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36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C2F6A-85B2-4E30-91E1-FE6DAF036AA1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103BDD8-079C-4E99-A9F4-6AF68657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32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计算机图形学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任博</a:t>
            </a:r>
          </a:p>
        </p:txBody>
      </p:sp>
    </p:spTree>
    <p:extLst>
      <p:ext uri="{BB962C8B-B14F-4D97-AF65-F5344CB8AC3E}">
        <p14:creationId xmlns:p14="http://schemas.microsoft.com/office/powerpoint/2010/main" val="379032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课程评分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一揽子评分计划：</a:t>
            </a:r>
            <a:endParaRPr lang="en-US" altLang="zh-CN" dirty="0"/>
          </a:p>
          <a:p>
            <a:pPr lvl="1"/>
            <a:r>
              <a:rPr lang="zh-CN" altLang="zh-CN" dirty="0"/>
              <a:t>课堂表现 </a:t>
            </a:r>
            <a:r>
              <a:rPr lang="en-US" altLang="zh-CN" dirty="0"/>
              <a:t>&lt;10%</a:t>
            </a:r>
            <a:r>
              <a:rPr lang="zh-CN" altLang="zh-CN" dirty="0"/>
              <a:t>（课上问答，作业，出勤等）</a:t>
            </a:r>
            <a:r>
              <a:rPr lang="en-US" altLang="zh-CN" dirty="0"/>
              <a:t>【</a:t>
            </a:r>
            <a:r>
              <a:rPr lang="zh-CN" altLang="en-US" dirty="0"/>
              <a:t>填充至</a:t>
            </a:r>
            <a:r>
              <a:rPr lang="en-US" altLang="zh-CN" dirty="0"/>
              <a:t>90</a:t>
            </a:r>
            <a:r>
              <a:rPr lang="zh-CN" altLang="en-US" dirty="0"/>
              <a:t>分以上部分开根号后向上取整</a:t>
            </a:r>
            <a:r>
              <a:rPr lang="en-US" altLang="zh-CN" dirty="0"/>
              <a:t>】</a:t>
            </a:r>
            <a:endParaRPr lang="zh-CN" altLang="zh-CN" sz="1000" dirty="0"/>
          </a:p>
          <a:p>
            <a:pPr lvl="1"/>
            <a:r>
              <a:rPr lang="zh-CN" altLang="zh-CN" dirty="0"/>
              <a:t>论文阅读报告</a:t>
            </a:r>
            <a:r>
              <a:rPr lang="en-US" altLang="zh-CN" dirty="0"/>
              <a:t> &lt;20% </a:t>
            </a:r>
            <a:r>
              <a:rPr lang="zh-CN" altLang="en-US" dirty="0"/>
              <a:t>（提交总结</a:t>
            </a:r>
            <a:r>
              <a:rPr lang="en-US" altLang="zh-CN" dirty="0"/>
              <a:t>PPT</a:t>
            </a:r>
            <a:r>
              <a:rPr lang="zh-CN" altLang="en-US" dirty="0"/>
              <a:t>）</a:t>
            </a:r>
            <a:r>
              <a:rPr lang="en-US" altLang="zh-CN" dirty="0"/>
              <a:t>【</a:t>
            </a:r>
            <a:r>
              <a:rPr lang="zh-CN" altLang="en-US" dirty="0"/>
              <a:t>最低占比</a:t>
            </a:r>
            <a:r>
              <a:rPr lang="en-US" altLang="zh-CN" dirty="0"/>
              <a:t>10%】</a:t>
            </a:r>
          </a:p>
          <a:p>
            <a:pPr lvl="2"/>
            <a:r>
              <a:rPr lang="zh-CN" altLang="zh-CN" dirty="0"/>
              <a:t>前沿科研成果的论文阅读报告</a:t>
            </a:r>
            <a:r>
              <a:rPr lang="en-US" altLang="zh-CN" dirty="0"/>
              <a:t>  OR </a:t>
            </a:r>
            <a:r>
              <a:rPr lang="zh-CN" altLang="en-US" dirty="0"/>
              <a:t>光栅图形学知识的介绍性报告，不含章节标题</a:t>
            </a:r>
            <a:r>
              <a:rPr lang="en-US" altLang="zh-CN" dirty="0"/>
              <a:t>15</a:t>
            </a:r>
            <a:r>
              <a:rPr lang="zh-CN" altLang="en-US" dirty="0"/>
              <a:t>张</a:t>
            </a:r>
            <a:r>
              <a:rPr lang="en-US" altLang="zh-CN" dirty="0"/>
              <a:t>PPT</a:t>
            </a:r>
            <a:r>
              <a:rPr lang="zh-CN" altLang="en-US" dirty="0"/>
              <a:t>以上</a:t>
            </a:r>
            <a:endParaRPr lang="en-US" altLang="zh-CN" dirty="0"/>
          </a:p>
          <a:p>
            <a:pPr lvl="2"/>
            <a:r>
              <a:rPr lang="zh-CN" altLang="en-US" dirty="0"/>
              <a:t>必须是提炼总结，非复述照抄。</a:t>
            </a:r>
            <a:endParaRPr lang="en-US" altLang="zh-CN" dirty="0"/>
          </a:p>
          <a:p>
            <a:pPr lvl="1"/>
            <a:r>
              <a:rPr lang="zh-CN" altLang="zh-CN" dirty="0"/>
              <a:t>课程作业 </a:t>
            </a:r>
            <a:r>
              <a:rPr lang="en-US" altLang="zh-CN" dirty="0"/>
              <a:t>&gt;70%</a:t>
            </a:r>
            <a:r>
              <a:rPr lang="zh-CN" altLang="zh-CN" dirty="0"/>
              <a:t>（提交报告及代码）</a:t>
            </a:r>
            <a:r>
              <a:rPr lang="en-US" altLang="zh-CN" dirty="0"/>
              <a:t>【</a:t>
            </a:r>
            <a:r>
              <a:rPr lang="zh-CN" altLang="en-US" dirty="0"/>
              <a:t>最高占比</a:t>
            </a:r>
            <a:r>
              <a:rPr lang="en-US" altLang="zh-CN" dirty="0"/>
              <a:t>90%】</a:t>
            </a:r>
          </a:p>
          <a:p>
            <a:pPr lvl="2"/>
            <a:r>
              <a:rPr lang="zh-CN" altLang="en-US" dirty="0"/>
              <a:t>大作业</a:t>
            </a:r>
            <a:r>
              <a:rPr lang="en-US" altLang="zh-CN" dirty="0"/>
              <a:t>A1,A2</a:t>
            </a:r>
            <a:r>
              <a:rPr lang="zh-CN" altLang="en-US" dirty="0"/>
              <a:t>任选，小作业一个</a:t>
            </a:r>
            <a:endParaRPr lang="zh-CN" altLang="zh-CN" sz="1200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909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1682496"/>
            <a:ext cx="8915400" cy="4724400"/>
          </a:xfrm>
        </p:spPr>
        <p:txBody>
          <a:bodyPr>
            <a:normAutofit/>
          </a:bodyPr>
          <a:lstStyle/>
          <a:p>
            <a:r>
              <a:rPr lang="zh-CN" altLang="en-US" dirty="0"/>
              <a:t>共通要求：</a:t>
            </a:r>
            <a:endParaRPr lang="en-US" altLang="zh-CN" dirty="0"/>
          </a:p>
          <a:p>
            <a:pPr lvl="1"/>
            <a:r>
              <a:rPr lang="zh-CN" altLang="en-US" dirty="0"/>
              <a:t>作业报告（</a:t>
            </a:r>
            <a:r>
              <a:rPr lang="en-US" altLang="zh-CN" dirty="0"/>
              <a:t>Report</a:t>
            </a:r>
            <a:r>
              <a:rPr lang="zh-CN" altLang="en-US" dirty="0"/>
              <a:t>）：各</a:t>
            </a:r>
            <a:r>
              <a:rPr lang="en-US" altLang="zh-CN" dirty="0"/>
              <a:t>10% - </a:t>
            </a:r>
            <a:r>
              <a:rPr lang="zh-CN" altLang="en-US" dirty="0"/>
              <a:t>清晰的书面组织，完善的样例演示，可以</a:t>
            </a:r>
            <a:r>
              <a:rPr lang="zh-CN" altLang="en-US" b="1" dirty="0">
                <a:solidFill>
                  <a:srgbClr val="FF0000"/>
                </a:solidFill>
              </a:rPr>
              <a:t>直接</a:t>
            </a:r>
            <a:r>
              <a:rPr lang="zh-CN" altLang="en-US" dirty="0"/>
              <a:t>编译运行的源代码 </a:t>
            </a:r>
            <a:endParaRPr lang="en-US" altLang="zh-CN" dirty="0"/>
          </a:p>
          <a:p>
            <a:r>
              <a:rPr lang="en-US" altLang="zh-CN" dirty="0"/>
              <a:t>A1: </a:t>
            </a:r>
            <a:r>
              <a:rPr lang="zh-CN" altLang="en-US" dirty="0"/>
              <a:t>光线跟踪核心算法改进 （大作业</a:t>
            </a:r>
            <a:r>
              <a:rPr lang="en-US" altLang="zh-CN" dirty="0"/>
              <a:t>1</a:t>
            </a:r>
            <a:r>
              <a:rPr lang="zh-CN" altLang="en-US" dirty="0"/>
              <a:t>，截止日期第</a:t>
            </a:r>
            <a:r>
              <a:rPr lang="en-US" altLang="zh-CN" dirty="0"/>
              <a:t>18</a:t>
            </a:r>
            <a:r>
              <a:rPr lang="zh-CN" altLang="en-US" dirty="0"/>
              <a:t>周）</a:t>
            </a:r>
            <a:endParaRPr lang="en-US" altLang="zh-CN" dirty="0"/>
          </a:p>
          <a:p>
            <a:r>
              <a:rPr lang="zh-CN" altLang="en-US" dirty="0"/>
              <a:t>基本要求（</a:t>
            </a:r>
            <a:r>
              <a:rPr lang="en-US" altLang="zh-CN" dirty="0"/>
              <a:t>BASE 40%</a:t>
            </a:r>
            <a:r>
              <a:rPr lang="zh-CN" altLang="en-US" dirty="0"/>
              <a:t>）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zh-CN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必须</a:t>
            </a:r>
            <a:r>
              <a:rPr lang="zh-CN" altLang="en-US" b="1" dirty="0">
                <a:solidFill>
                  <a:srgbClr val="FF0000"/>
                </a:solidFill>
              </a:rPr>
              <a:t>基于所提供的演示程序框架</a:t>
            </a:r>
            <a:r>
              <a:rPr lang="zh-CN" altLang="en-US" dirty="0"/>
              <a:t>）对光线跟踪的核心算法进行改进和开发。可选不限于：增加新的核心渲染算法；提供更好的光源种类、模型支持；编写加速结构显著改进渲染速度；优化采样算法</a:t>
            </a:r>
            <a:r>
              <a:rPr lang="en-US" altLang="zh-CN" dirty="0"/>
              <a:t>……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除数学工具函数外不允许使用任何库提供的现成实现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。</a:t>
            </a:r>
            <a:endParaRPr lang="en-US" altLang="zh-CN" dirty="0"/>
          </a:p>
          <a:p>
            <a:r>
              <a:rPr lang="zh-CN" altLang="en-US" dirty="0"/>
              <a:t>额外</a:t>
            </a:r>
            <a:r>
              <a:rPr lang="en-US" altLang="zh-CN" dirty="0"/>
              <a:t>BONUS</a:t>
            </a:r>
            <a:r>
              <a:rPr lang="zh-CN" altLang="en-US" dirty="0"/>
              <a:t>分数不超过</a:t>
            </a:r>
            <a:r>
              <a:rPr lang="en-US" altLang="zh-CN" dirty="0"/>
              <a:t>20%</a:t>
            </a:r>
            <a:r>
              <a:rPr lang="zh-CN" altLang="en-US" dirty="0"/>
              <a:t>：主要基于渲染效果的质量进行评价</a:t>
            </a:r>
            <a:r>
              <a:rPr lang="en-US" altLang="zh-CN" dirty="0"/>
              <a:t>——</a:t>
            </a:r>
            <a:r>
              <a:rPr lang="zh-CN" altLang="en-US" dirty="0"/>
              <a:t>越丰富、越漂亮的结果，将得到越高的分数。</a:t>
            </a:r>
            <a:r>
              <a:rPr lang="zh-CN" altLang="en-US" dirty="0">
                <a:solidFill>
                  <a:srgbClr val="FF0000"/>
                </a:solidFill>
              </a:rPr>
              <a:t>没图或者图质量过于低劣会倒扣</a:t>
            </a:r>
            <a:r>
              <a:rPr lang="en-US" altLang="zh-CN" dirty="0">
                <a:solidFill>
                  <a:srgbClr val="FF0000"/>
                </a:solidFill>
              </a:rPr>
              <a:t>BASE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r>
              <a:rPr lang="zh-CN" altLang="en-US" dirty="0">
                <a:solidFill>
                  <a:schemeClr val="tx1"/>
                </a:solidFill>
              </a:rPr>
              <a:t>将抽查</a:t>
            </a:r>
            <a:r>
              <a:rPr lang="en-US" altLang="zh-CN" dirty="0">
                <a:solidFill>
                  <a:schemeClr val="tx1"/>
                </a:solidFill>
              </a:rPr>
              <a:t>too-good-to-be-true</a:t>
            </a:r>
            <a:r>
              <a:rPr lang="zh-CN" altLang="en-US" dirty="0">
                <a:solidFill>
                  <a:schemeClr val="tx1"/>
                </a:solidFill>
              </a:rPr>
              <a:t>的结果。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54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A2</a:t>
            </a:r>
            <a:r>
              <a:rPr lang="zh-CN" altLang="en-US" dirty="0"/>
              <a:t>：流体模拟器算法实现（大作业</a:t>
            </a:r>
            <a:r>
              <a:rPr lang="en-US" altLang="zh-CN" dirty="0"/>
              <a:t>2</a:t>
            </a:r>
            <a:r>
              <a:rPr lang="zh-CN" altLang="en-US" dirty="0"/>
              <a:t>，截止日期第</a:t>
            </a:r>
            <a:r>
              <a:rPr lang="en-US" altLang="zh-CN" dirty="0"/>
              <a:t>18</a:t>
            </a:r>
            <a:r>
              <a:rPr lang="zh-CN" altLang="en-US" dirty="0"/>
              <a:t>周）</a:t>
            </a:r>
            <a:endParaRPr lang="en-US" altLang="zh-CN" dirty="0"/>
          </a:p>
          <a:p>
            <a:r>
              <a:rPr lang="en-US" altLang="zh-CN" dirty="0"/>
              <a:t>BASE</a:t>
            </a:r>
            <a:r>
              <a:rPr lang="zh-CN" altLang="en-US" dirty="0"/>
              <a:t>：</a:t>
            </a:r>
            <a:r>
              <a:rPr lang="en-US" altLang="zh-CN" dirty="0"/>
              <a:t>40% - 1</a:t>
            </a:r>
            <a:r>
              <a:rPr lang="zh-CN" altLang="en-US" dirty="0"/>
              <a:t>）（</a:t>
            </a:r>
            <a:r>
              <a:rPr lang="zh-CN" altLang="en-US" b="1" dirty="0">
                <a:solidFill>
                  <a:srgbClr val="FF0000"/>
                </a:solidFill>
              </a:rPr>
              <a:t>必须基于课堂所给的程序框架</a:t>
            </a:r>
            <a:r>
              <a:rPr lang="zh-CN" altLang="en-US" dirty="0"/>
              <a:t>）对流体模拟的核心代码进行实现或改进；</a:t>
            </a:r>
            <a:r>
              <a:rPr lang="en-US" altLang="zh-CN" dirty="0"/>
              <a:t>2</a:t>
            </a:r>
            <a:r>
              <a:rPr lang="zh-CN" altLang="en-US" dirty="0"/>
              <a:t>）任选网格法或粒子法，实现二维与三维上的正确物理流体运动（*请勿实现浅水波仿真）；</a:t>
            </a:r>
            <a:r>
              <a:rPr lang="en-US" altLang="zh-CN" dirty="0"/>
              <a:t>3</a:t>
            </a:r>
            <a:r>
              <a:rPr lang="zh-CN" altLang="en-US" dirty="0"/>
              <a:t>）必须有充分的结果呈现；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FF0000"/>
                </a:solidFill>
              </a:rPr>
              <a:t>除数学工具函数外不得使用已有的库提供的代码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额外</a:t>
            </a:r>
            <a:r>
              <a:rPr lang="en-US" altLang="zh-CN" dirty="0"/>
              <a:t>BONUS</a:t>
            </a:r>
            <a:r>
              <a:rPr lang="zh-CN" altLang="en-US" dirty="0"/>
              <a:t>分数不超过</a:t>
            </a:r>
            <a:r>
              <a:rPr lang="en-US" altLang="zh-CN" dirty="0"/>
              <a:t>20%</a:t>
            </a:r>
            <a:r>
              <a:rPr lang="zh-CN" altLang="en-US" dirty="0"/>
              <a:t>：</a:t>
            </a:r>
            <a:r>
              <a:rPr lang="en-US" altLang="zh-CN" dirty="0"/>
              <a:t>A</a:t>
            </a:r>
            <a:r>
              <a:rPr lang="zh-CN" altLang="en-US" dirty="0"/>
              <a:t>类</a:t>
            </a:r>
            <a:r>
              <a:rPr lang="en-US" altLang="zh-CN" dirty="0"/>
              <a:t>bonus</a:t>
            </a:r>
            <a:r>
              <a:rPr lang="zh-CN" altLang="en-US" dirty="0"/>
              <a:t>：提供更高级的实现，如场景中包含运动的固体，实现粒子法上的不可压缩求解等；</a:t>
            </a:r>
            <a:r>
              <a:rPr lang="en-US" altLang="zh-CN" dirty="0"/>
              <a:t>B</a:t>
            </a:r>
            <a:r>
              <a:rPr lang="zh-CN" altLang="en-US" dirty="0"/>
              <a:t>类</a:t>
            </a:r>
            <a:r>
              <a:rPr lang="en-US" altLang="zh-CN" dirty="0"/>
              <a:t>bonus</a:t>
            </a:r>
            <a:r>
              <a:rPr lang="zh-CN" altLang="en-US" dirty="0"/>
              <a:t>：更好的结果呈现，将</a:t>
            </a:r>
            <a:r>
              <a:rPr lang="en-US" altLang="zh-CN" dirty="0"/>
              <a:t>BASE</a:t>
            </a:r>
            <a:r>
              <a:rPr lang="zh-CN" altLang="en-US" dirty="0"/>
              <a:t>中的计算结果以更真实感的方式渲染。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6799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B: </a:t>
            </a:r>
            <a:r>
              <a:rPr lang="zh-CN" altLang="en-US" dirty="0"/>
              <a:t>使用计图（</a:t>
            </a:r>
            <a:r>
              <a:rPr lang="en-US" altLang="zh-CN" dirty="0" err="1"/>
              <a:t>jittor</a:t>
            </a:r>
            <a:r>
              <a:rPr lang="zh-CN" altLang="en-US" dirty="0"/>
              <a:t>）框架实现</a:t>
            </a:r>
            <a:r>
              <a:rPr lang="en-US" altLang="zh-CN" dirty="0"/>
              <a:t>Conditional GAN</a:t>
            </a:r>
            <a:r>
              <a:rPr lang="zh-CN" altLang="en-US" dirty="0"/>
              <a:t>（小作业，随实验课发布，一周完成时间）</a:t>
            </a:r>
            <a:endParaRPr lang="en-US" altLang="zh-CN" dirty="0"/>
          </a:p>
          <a:p>
            <a:r>
              <a:rPr lang="en-US" altLang="zh-CN" dirty="0"/>
              <a:t>BASE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dirty="0">
                <a:sym typeface="Wingdings" panose="05000000000000000000" pitchFamily="2" charset="2"/>
              </a:rPr>
              <a:t>10% - 1</a:t>
            </a:r>
            <a:r>
              <a:rPr lang="zh-CN" altLang="en-US" dirty="0">
                <a:sym typeface="Wingdings" panose="05000000000000000000" pitchFamily="2" charset="2"/>
              </a:rPr>
              <a:t>）实现好网络；</a:t>
            </a: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）使用至少一个通用图像库训练并测试效果，训练集与测试集不能包含相同图像；</a:t>
            </a:r>
            <a:r>
              <a:rPr lang="en-US" altLang="zh-CN" dirty="0">
                <a:sym typeface="Wingdings" panose="05000000000000000000" pitchFamily="2" charset="2"/>
              </a:rPr>
              <a:t>3</a:t>
            </a:r>
            <a:r>
              <a:rPr lang="zh-CN" altLang="en-US" dirty="0">
                <a:sym typeface="Wingdings" panose="05000000000000000000" pitchFamily="2" charset="2"/>
              </a:rPr>
              <a:t>）对结果进行一定的数据统计，并在报告中进行分析。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3269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每小组包含</a:t>
            </a:r>
            <a:r>
              <a:rPr lang="en-US" altLang="zh-CN" dirty="0"/>
              <a:t>1</a:t>
            </a:r>
            <a:r>
              <a:rPr lang="zh-CN" altLang="en-US" dirty="0"/>
              <a:t>至</a:t>
            </a:r>
            <a:r>
              <a:rPr lang="en-US" altLang="zh-CN" dirty="0"/>
              <a:t>2</a:t>
            </a:r>
            <a:r>
              <a:rPr lang="zh-CN" altLang="en-US" dirty="0"/>
              <a:t>人，从</a:t>
            </a:r>
            <a:r>
              <a:rPr lang="en-US" altLang="zh-CN" dirty="0"/>
              <a:t>A</a:t>
            </a:r>
            <a:r>
              <a:rPr lang="zh-CN" altLang="en-US" dirty="0"/>
              <a:t>中任选一（或二）项，与</a:t>
            </a:r>
            <a:r>
              <a:rPr lang="en-US" altLang="zh-CN" dirty="0"/>
              <a:t>B</a:t>
            </a:r>
            <a:r>
              <a:rPr lang="zh-CN" altLang="en-US" dirty="0"/>
              <a:t>合并计算总分。</a:t>
            </a:r>
            <a:endParaRPr lang="en-US" altLang="zh-CN" dirty="0"/>
          </a:p>
          <a:p>
            <a:r>
              <a:rPr lang="zh-CN" altLang="en-US" dirty="0"/>
              <a:t>大作业分数计算公式：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0C0A5C6-5F2B-45DB-8AAE-41F4ABFD789A}"/>
                  </a:ext>
                </a:extLst>
              </p:cNvPr>
              <p:cNvSpPr/>
              <p:nvPr/>
            </p:nvSpPr>
            <p:spPr>
              <a:xfrm>
                <a:off x="3133344" y="3047452"/>
                <a:ext cx="5169766" cy="7630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endChr m:val="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𝑅𝑒𝑝𝑜𝑟𝑡</m:t>
                              </m:r>
                            </m:e>
                          </m:d>
                        </m:e>
                      </m:nary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𝐵𝑎𝑠𝑒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𝐵𝑜𝑛𝑢𝑠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0C0A5C6-5F2B-45DB-8AAE-41F4ABFD7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344" y="3047452"/>
                <a:ext cx="5169766" cy="7630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684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阅读报告部分建议内容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1560576"/>
            <a:ext cx="8915400" cy="5157216"/>
          </a:xfrm>
        </p:spPr>
        <p:txBody>
          <a:bodyPr>
            <a:normAutofit/>
          </a:bodyPr>
          <a:lstStyle/>
          <a:p>
            <a:r>
              <a:rPr lang="zh-CN" altLang="en-US" dirty="0"/>
              <a:t>光栅图形学中的</a:t>
            </a:r>
            <a:r>
              <a:rPr lang="zh-CN" altLang="en-US" dirty="0">
                <a:solidFill>
                  <a:srgbClr val="FF0000"/>
                </a:solidFill>
              </a:rPr>
              <a:t>复数</a:t>
            </a:r>
            <a:r>
              <a:rPr lang="zh-CN" altLang="en-US" dirty="0"/>
              <a:t>个话题（</a:t>
            </a:r>
            <a:r>
              <a:rPr lang="en-US" altLang="zh-CN" dirty="0"/>
              <a:t>PPT</a:t>
            </a:r>
            <a:r>
              <a:rPr lang="zh-CN" altLang="en-US" dirty="0"/>
              <a:t>中介绍</a:t>
            </a:r>
            <a:r>
              <a:rPr lang="zh-CN" altLang="en-US" dirty="0">
                <a:solidFill>
                  <a:srgbClr val="FF0000"/>
                </a:solidFill>
              </a:rPr>
              <a:t>复数</a:t>
            </a:r>
            <a:r>
              <a:rPr lang="zh-CN" altLang="en-US" dirty="0"/>
              <a:t>个话题）</a:t>
            </a:r>
            <a:endParaRPr lang="en-US" altLang="zh-CN" dirty="0"/>
          </a:p>
          <a:p>
            <a:pPr lvl="1"/>
            <a:r>
              <a:rPr lang="zh-CN" altLang="en-US" dirty="0"/>
              <a:t>直线与圆弧的扫描转化</a:t>
            </a:r>
            <a:endParaRPr lang="en-US" altLang="zh-CN" dirty="0"/>
          </a:p>
          <a:p>
            <a:pPr lvl="1"/>
            <a:r>
              <a:rPr lang="zh-CN" altLang="en-US" dirty="0"/>
              <a:t>多边形的扫描转化与填充</a:t>
            </a:r>
            <a:endParaRPr lang="en-US" altLang="zh-CN" dirty="0"/>
          </a:p>
          <a:p>
            <a:pPr lvl="1"/>
            <a:r>
              <a:rPr lang="zh-CN" altLang="en-US" dirty="0"/>
              <a:t>裁减</a:t>
            </a:r>
            <a:endParaRPr lang="en-US" altLang="zh-CN" dirty="0"/>
          </a:p>
          <a:p>
            <a:pPr lvl="1"/>
            <a:r>
              <a:rPr lang="zh-CN" altLang="en-US" dirty="0"/>
              <a:t>消隐</a:t>
            </a:r>
            <a:endParaRPr lang="en-US" altLang="zh-CN" dirty="0"/>
          </a:p>
          <a:p>
            <a:pPr lvl="1"/>
            <a:r>
              <a:rPr lang="zh-CN" altLang="en-US" dirty="0"/>
              <a:t>反走样</a:t>
            </a:r>
            <a:endParaRPr lang="en-US" altLang="zh-CN" dirty="0"/>
          </a:p>
          <a:p>
            <a:r>
              <a:rPr lang="en-US" altLang="zh-CN" dirty="0"/>
              <a:t>ACM SIGGRAPH, </a:t>
            </a:r>
            <a:r>
              <a:rPr lang="en-US" altLang="zh-CN" dirty="0" err="1"/>
              <a:t>EuroGraphics</a:t>
            </a:r>
            <a:r>
              <a:rPr lang="en-US" altLang="zh-CN" dirty="0"/>
              <a:t>, Pacific Graphics </a:t>
            </a:r>
            <a:r>
              <a:rPr lang="zh-CN" altLang="en-US" dirty="0"/>
              <a:t>最近十年内的文章</a:t>
            </a:r>
            <a:endParaRPr lang="en-US" altLang="zh-CN" dirty="0"/>
          </a:p>
          <a:p>
            <a:r>
              <a:rPr lang="zh-CN" altLang="en-US" dirty="0"/>
              <a:t>曲线曲面造型与参数化技术中的话题</a:t>
            </a:r>
            <a:endParaRPr lang="en-US" altLang="zh-CN" dirty="0"/>
          </a:p>
          <a:p>
            <a:r>
              <a:rPr lang="zh-CN" altLang="en-US" dirty="0"/>
              <a:t>注意：</a:t>
            </a:r>
            <a:endParaRPr lang="en-US" altLang="zh-CN" dirty="0"/>
          </a:p>
          <a:p>
            <a:pPr lvl="1"/>
            <a:r>
              <a:rPr lang="zh-CN" altLang="en-US" dirty="0"/>
              <a:t>在阅读报告开始注明所阅读的文献。正文每页</a:t>
            </a:r>
            <a:r>
              <a:rPr lang="en-US" altLang="zh-CN" dirty="0"/>
              <a:t>PPT</a:t>
            </a:r>
            <a:r>
              <a:rPr lang="zh-CN" altLang="en-US" dirty="0"/>
              <a:t>须言之有物，按整体充实程度给分。</a:t>
            </a:r>
            <a:endParaRPr lang="en-US" altLang="zh-CN" dirty="0"/>
          </a:p>
          <a:p>
            <a:pPr lvl="1"/>
            <a:r>
              <a:rPr lang="zh-CN" altLang="en-US" dirty="0"/>
              <a:t>重点报告内容：文献所做的事情；它使用了何种方法，为什么（一定）要使用这种方法；为达到目的文献设计了怎样的程序流程：其中各步骤如何处理了什么事情，原因又是什么。</a:t>
            </a:r>
            <a:endParaRPr lang="en-US" altLang="zh-CN" dirty="0"/>
          </a:p>
          <a:p>
            <a:pPr lvl="1"/>
            <a:r>
              <a:rPr lang="zh-CN" altLang="en-US" dirty="0"/>
              <a:t>截止日期</a:t>
            </a:r>
            <a:r>
              <a:rPr lang="zh-CN" altLang="en-US" dirty="0">
                <a:solidFill>
                  <a:srgbClr val="FF0000"/>
                </a:solidFill>
              </a:rPr>
              <a:t>第</a:t>
            </a:r>
            <a:r>
              <a:rPr lang="en-US" altLang="zh-CN" dirty="0">
                <a:solidFill>
                  <a:srgbClr val="FF0000"/>
                </a:solidFill>
              </a:rPr>
              <a:t>14</a:t>
            </a:r>
            <a:r>
              <a:rPr lang="zh-CN" altLang="en-US" dirty="0">
                <a:solidFill>
                  <a:srgbClr val="FF0000"/>
                </a:solidFill>
              </a:rPr>
              <a:t>周</a:t>
            </a:r>
          </a:p>
        </p:txBody>
      </p:sp>
    </p:spTree>
    <p:extLst>
      <p:ext uri="{BB962C8B-B14F-4D97-AF65-F5344CB8AC3E}">
        <p14:creationId xmlns:p14="http://schemas.microsoft.com/office/powerpoint/2010/main" val="95970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DDD24-F6A2-4E23-BE82-777EA3C2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关于大作业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CA6354-6C6A-45BB-8148-85BA10216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F4DD1A-3E34-4677-B5CA-8C9197BE3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928" y="1473257"/>
            <a:ext cx="5979072" cy="49171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9272D76-6DBC-4676-8581-3ED949305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0" y="1473257"/>
            <a:ext cx="6132628" cy="491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05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02E3C-CEA1-4A5D-ACCF-EC5B55EEB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有关最新技术发展的说明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5272F-6640-4DB0-97D8-04C5BBB9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77143"/>
            <a:ext cx="8915400" cy="3777622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允许</a:t>
            </a:r>
            <a:r>
              <a:rPr lang="zh-CN" altLang="en-US" dirty="0"/>
              <a:t>使用大模型对撰写代码或撰写报告提供支持</a:t>
            </a:r>
            <a:endParaRPr lang="en-US" altLang="zh-CN" dirty="0"/>
          </a:p>
          <a:p>
            <a:pPr lvl="1"/>
            <a:r>
              <a:rPr lang="zh-CN" altLang="en-US" dirty="0"/>
              <a:t>若使用上述</a:t>
            </a:r>
            <a:r>
              <a:rPr lang="en-US" altLang="zh-CN" dirty="0"/>
              <a:t>AI</a:t>
            </a:r>
            <a:r>
              <a:rPr lang="zh-CN" altLang="en-US" dirty="0"/>
              <a:t>手段，</a:t>
            </a:r>
            <a:r>
              <a:rPr lang="zh-CN" altLang="en-US" dirty="0">
                <a:solidFill>
                  <a:schemeClr val="tx1"/>
                </a:solidFill>
              </a:rPr>
              <a:t>必须在报告中</a:t>
            </a:r>
            <a:r>
              <a:rPr lang="zh-CN" altLang="en-US" dirty="0">
                <a:solidFill>
                  <a:srgbClr val="FF0000"/>
                </a:solidFill>
              </a:rPr>
              <a:t>专辟一章节，详细论述</a:t>
            </a:r>
            <a:r>
              <a:rPr lang="zh-CN" altLang="en-US" dirty="0">
                <a:solidFill>
                  <a:schemeClr val="tx1"/>
                </a:solidFill>
              </a:rPr>
              <a:t>所涉及的内容（如涉及何种函数或模块等）、目的、效果，以及详细操作过程。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/>
              <a:t>满足以上条件，则不影响分数（即正常按作业实现内容、效果评分），否则一旦被发现使用</a:t>
            </a:r>
            <a:r>
              <a:rPr lang="en-US" altLang="zh-CN" dirty="0"/>
              <a:t>AI</a:t>
            </a:r>
            <a:r>
              <a:rPr lang="zh-CN" altLang="en-US" dirty="0"/>
              <a:t>，按抄袭处理。</a:t>
            </a:r>
          </a:p>
        </p:txBody>
      </p:sp>
    </p:spTree>
    <p:extLst>
      <p:ext uri="{BB962C8B-B14F-4D97-AF65-F5344CB8AC3E}">
        <p14:creationId xmlns:p14="http://schemas.microsoft.com/office/powerpoint/2010/main" val="1098336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CBDE1-04A2-4351-9F76-81587C1DD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如果发现抄袭、作假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5B4A27-4BFD-4B4E-A7CE-1AE88797E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抄袭、作假的形式包括但不限于：</a:t>
            </a:r>
            <a:endParaRPr lang="en-US" altLang="zh-CN" dirty="0"/>
          </a:p>
          <a:p>
            <a:pPr lvl="1"/>
            <a:r>
              <a:rPr lang="zh-CN" altLang="en-US" dirty="0"/>
              <a:t>抄袭他人小组成果</a:t>
            </a:r>
            <a:endParaRPr lang="en-US" altLang="zh-CN" dirty="0"/>
          </a:p>
          <a:p>
            <a:pPr lvl="1"/>
            <a:r>
              <a:rPr lang="zh-CN" altLang="en-US" dirty="0"/>
              <a:t>从网上的博客文章，代码站等地复制代码</a:t>
            </a:r>
            <a:endParaRPr lang="en-US" altLang="zh-CN" dirty="0"/>
          </a:p>
          <a:p>
            <a:pPr lvl="1"/>
            <a:r>
              <a:rPr lang="zh-CN" altLang="en-US" dirty="0"/>
              <a:t>复制他人的文章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/>
              <a:t>AI</a:t>
            </a:r>
            <a:r>
              <a:rPr lang="zh-CN" altLang="en-US" dirty="0"/>
              <a:t>图</a:t>
            </a:r>
            <a:r>
              <a:rPr lang="en-US" altLang="zh-CN" dirty="0"/>
              <a:t>/</a:t>
            </a:r>
            <a:r>
              <a:rPr lang="zh-CN" altLang="en-US" dirty="0"/>
              <a:t>文声称是自己程序生成</a:t>
            </a:r>
            <a:r>
              <a:rPr lang="en-US" altLang="zh-CN" dirty="0"/>
              <a:t>/</a:t>
            </a:r>
            <a:r>
              <a:rPr lang="zh-CN" altLang="en-US" dirty="0"/>
              <a:t>自己写的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</a:t>
            </a:r>
            <a:r>
              <a:rPr lang="zh-CN" altLang="en-US" dirty="0">
                <a:solidFill>
                  <a:srgbClr val="FF0000"/>
                </a:solidFill>
              </a:rPr>
              <a:t>都</a:t>
            </a:r>
            <a:r>
              <a:rPr lang="zh-CN" altLang="en-US" dirty="0"/>
              <a:t>会很遗憾</a:t>
            </a:r>
          </a:p>
        </p:txBody>
      </p:sp>
    </p:spTree>
    <p:extLst>
      <p:ext uri="{BB962C8B-B14F-4D97-AF65-F5344CB8AC3E}">
        <p14:creationId xmlns:p14="http://schemas.microsoft.com/office/powerpoint/2010/main" val="205030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606</TotalTime>
  <Words>840</Words>
  <Application>Microsoft Office PowerPoint</Application>
  <PresentationFormat>宽屏</PresentationFormat>
  <Paragraphs>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Century Gothic</vt:lpstr>
      <vt:lpstr>Wingdings 3</vt:lpstr>
      <vt:lpstr>丝状</vt:lpstr>
      <vt:lpstr>计算机图形学</vt:lpstr>
      <vt:lpstr>课程评分</vt:lpstr>
      <vt:lpstr>课程作业</vt:lpstr>
      <vt:lpstr>课程作业</vt:lpstr>
      <vt:lpstr>课程作业</vt:lpstr>
      <vt:lpstr>课程作业</vt:lpstr>
      <vt:lpstr>阅读报告部分建议内容</vt:lpstr>
      <vt:lpstr>关于大作业</vt:lpstr>
      <vt:lpstr>有关最新技术发展的说明</vt:lpstr>
      <vt:lpstr>如果发现抄袭、作假</vt:lpstr>
    </vt:vector>
  </TitlesOfParts>
  <Company>Nankai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计算机图形学</dc:title>
  <dc:creator>RenBo</dc:creator>
  <cp:lastModifiedBy>pc</cp:lastModifiedBy>
  <cp:revision>42</cp:revision>
  <dcterms:created xsi:type="dcterms:W3CDTF">2017-09-14T07:36:40Z</dcterms:created>
  <dcterms:modified xsi:type="dcterms:W3CDTF">2025-11-05T05:24:13Z</dcterms:modified>
</cp:coreProperties>
</file>