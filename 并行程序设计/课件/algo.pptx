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4"/>
  </p:notesMasterIdLst>
  <p:handoutMasterIdLst>
    <p:handoutMasterId r:id="rId195"/>
  </p:handoutMasterIdLst>
  <p:sldIdLst>
    <p:sldId id="446" r:id="rId2"/>
    <p:sldId id="502" r:id="rId3"/>
    <p:sldId id="503" r:id="rId4"/>
    <p:sldId id="257" r:id="rId5"/>
    <p:sldId id="258" r:id="rId6"/>
    <p:sldId id="259" r:id="rId7"/>
    <p:sldId id="390" r:id="rId8"/>
    <p:sldId id="396" r:id="rId9"/>
    <p:sldId id="260" r:id="rId10"/>
    <p:sldId id="391" r:id="rId11"/>
    <p:sldId id="392" r:id="rId12"/>
    <p:sldId id="393" r:id="rId13"/>
    <p:sldId id="265" r:id="rId14"/>
    <p:sldId id="397" r:id="rId15"/>
    <p:sldId id="395" r:id="rId16"/>
    <p:sldId id="508" r:id="rId17"/>
    <p:sldId id="504" r:id="rId18"/>
    <p:sldId id="267" r:id="rId19"/>
    <p:sldId id="287" r:id="rId20"/>
    <p:sldId id="447" r:id="rId21"/>
    <p:sldId id="449" r:id="rId22"/>
    <p:sldId id="450" r:id="rId23"/>
    <p:sldId id="453" r:id="rId24"/>
    <p:sldId id="454" r:id="rId25"/>
    <p:sldId id="456" r:id="rId26"/>
    <p:sldId id="457" r:id="rId27"/>
    <p:sldId id="505" r:id="rId28"/>
    <p:sldId id="522" r:id="rId29"/>
    <p:sldId id="277" r:id="rId30"/>
    <p:sldId id="278" r:id="rId31"/>
    <p:sldId id="279" r:id="rId32"/>
    <p:sldId id="280" r:id="rId33"/>
    <p:sldId id="495" r:id="rId34"/>
    <p:sldId id="496" r:id="rId35"/>
    <p:sldId id="497" r:id="rId36"/>
    <p:sldId id="498" r:id="rId37"/>
    <p:sldId id="499" r:id="rId38"/>
    <p:sldId id="500" r:id="rId39"/>
    <p:sldId id="501" r:id="rId40"/>
    <p:sldId id="494" r:id="rId41"/>
    <p:sldId id="523" r:id="rId42"/>
    <p:sldId id="385" r:id="rId43"/>
    <p:sldId id="368" r:id="rId44"/>
    <p:sldId id="374" r:id="rId45"/>
    <p:sldId id="506" r:id="rId46"/>
    <p:sldId id="458" r:id="rId47"/>
    <p:sldId id="452" r:id="rId48"/>
    <p:sldId id="398" r:id="rId49"/>
    <p:sldId id="459" r:id="rId50"/>
    <p:sldId id="460" r:id="rId51"/>
    <p:sldId id="461" r:id="rId52"/>
    <p:sldId id="462" r:id="rId53"/>
    <p:sldId id="463" r:id="rId54"/>
    <p:sldId id="464" r:id="rId55"/>
    <p:sldId id="465" r:id="rId56"/>
    <p:sldId id="466" r:id="rId57"/>
    <p:sldId id="467" r:id="rId58"/>
    <p:sldId id="507" r:id="rId59"/>
    <p:sldId id="321" r:id="rId60"/>
    <p:sldId id="322" r:id="rId61"/>
    <p:sldId id="323" r:id="rId62"/>
    <p:sldId id="325" r:id="rId63"/>
    <p:sldId id="468" r:id="rId64"/>
    <p:sldId id="469" r:id="rId65"/>
    <p:sldId id="470" r:id="rId66"/>
    <p:sldId id="471" r:id="rId67"/>
    <p:sldId id="509" r:id="rId68"/>
    <p:sldId id="510" r:id="rId69"/>
    <p:sldId id="511" r:id="rId70"/>
    <p:sldId id="512" r:id="rId71"/>
    <p:sldId id="513" r:id="rId72"/>
    <p:sldId id="514" r:id="rId73"/>
    <p:sldId id="515" r:id="rId74"/>
    <p:sldId id="474" r:id="rId75"/>
    <p:sldId id="475" r:id="rId76"/>
    <p:sldId id="476" r:id="rId77"/>
    <p:sldId id="477" r:id="rId78"/>
    <p:sldId id="483" r:id="rId79"/>
    <p:sldId id="484" r:id="rId80"/>
    <p:sldId id="516" r:id="rId81"/>
    <p:sldId id="517" r:id="rId82"/>
    <p:sldId id="518" r:id="rId83"/>
    <p:sldId id="519" r:id="rId84"/>
    <p:sldId id="520" r:id="rId85"/>
    <p:sldId id="521" r:id="rId86"/>
    <p:sldId id="524" r:id="rId87"/>
    <p:sldId id="692" r:id="rId88"/>
    <p:sldId id="525" r:id="rId89"/>
    <p:sldId id="526" r:id="rId90"/>
    <p:sldId id="527" r:id="rId91"/>
    <p:sldId id="528" r:id="rId92"/>
    <p:sldId id="529" r:id="rId93"/>
    <p:sldId id="530" r:id="rId94"/>
    <p:sldId id="531" r:id="rId95"/>
    <p:sldId id="532" r:id="rId96"/>
    <p:sldId id="533" r:id="rId97"/>
    <p:sldId id="534" r:id="rId98"/>
    <p:sldId id="535" r:id="rId99"/>
    <p:sldId id="642" r:id="rId100"/>
    <p:sldId id="643" r:id="rId101"/>
    <p:sldId id="538" r:id="rId102"/>
    <p:sldId id="539" r:id="rId103"/>
    <p:sldId id="540" r:id="rId104"/>
    <p:sldId id="541" r:id="rId105"/>
    <p:sldId id="543" r:id="rId106"/>
    <p:sldId id="544" r:id="rId107"/>
    <p:sldId id="545" r:id="rId108"/>
    <p:sldId id="661" r:id="rId109"/>
    <p:sldId id="662" r:id="rId110"/>
    <p:sldId id="663" r:id="rId111"/>
    <p:sldId id="546" r:id="rId112"/>
    <p:sldId id="547" r:id="rId113"/>
    <p:sldId id="548" r:id="rId114"/>
    <p:sldId id="608" r:id="rId115"/>
    <p:sldId id="610" r:id="rId116"/>
    <p:sldId id="611" r:id="rId117"/>
    <p:sldId id="612" r:id="rId118"/>
    <p:sldId id="613" r:id="rId119"/>
    <p:sldId id="614" r:id="rId120"/>
    <p:sldId id="653" r:id="rId121"/>
    <p:sldId id="654" r:id="rId122"/>
    <p:sldId id="655" r:id="rId123"/>
    <p:sldId id="657" r:id="rId124"/>
    <p:sldId id="658" r:id="rId125"/>
    <p:sldId id="659" r:id="rId126"/>
    <p:sldId id="660" r:id="rId127"/>
    <p:sldId id="615" r:id="rId128"/>
    <p:sldId id="616" r:id="rId129"/>
    <p:sldId id="617" r:id="rId130"/>
    <p:sldId id="618" r:id="rId131"/>
    <p:sldId id="619" r:id="rId132"/>
    <p:sldId id="621" r:id="rId133"/>
    <p:sldId id="622" r:id="rId134"/>
    <p:sldId id="623" r:id="rId135"/>
    <p:sldId id="624" r:id="rId136"/>
    <p:sldId id="625" r:id="rId137"/>
    <p:sldId id="626" r:id="rId138"/>
    <p:sldId id="665" r:id="rId139"/>
    <p:sldId id="666" r:id="rId140"/>
    <p:sldId id="667" r:id="rId141"/>
    <p:sldId id="668" r:id="rId142"/>
    <p:sldId id="669" r:id="rId143"/>
    <p:sldId id="670" r:id="rId144"/>
    <p:sldId id="536" r:id="rId145"/>
    <p:sldId id="537" r:id="rId146"/>
    <p:sldId id="664" r:id="rId147"/>
    <p:sldId id="627" r:id="rId148"/>
    <p:sldId id="628" r:id="rId149"/>
    <p:sldId id="629" r:id="rId150"/>
    <p:sldId id="630" r:id="rId151"/>
    <p:sldId id="644" r:id="rId152"/>
    <p:sldId id="631" r:id="rId153"/>
    <p:sldId id="632" r:id="rId154"/>
    <p:sldId id="645" r:id="rId155"/>
    <p:sldId id="646" r:id="rId156"/>
    <p:sldId id="647" r:id="rId157"/>
    <p:sldId id="648" r:id="rId158"/>
    <p:sldId id="649" r:id="rId159"/>
    <p:sldId id="650" r:id="rId160"/>
    <p:sldId id="651" r:id="rId161"/>
    <p:sldId id="652" r:id="rId162"/>
    <p:sldId id="671" r:id="rId163"/>
    <p:sldId id="672" r:id="rId164"/>
    <p:sldId id="673" r:id="rId165"/>
    <p:sldId id="674" r:id="rId166"/>
    <p:sldId id="675" r:id="rId167"/>
    <p:sldId id="676" r:id="rId168"/>
    <p:sldId id="677" r:id="rId169"/>
    <p:sldId id="678" r:id="rId170"/>
    <p:sldId id="679" r:id="rId171"/>
    <p:sldId id="680" r:id="rId172"/>
    <p:sldId id="681" r:id="rId173"/>
    <p:sldId id="682" r:id="rId174"/>
    <p:sldId id="683" r:id="rId175"/>
    <p:sldId id="684" r:id="rId176"/>
    <p:sldId id="685" r:id="rId177"/>
    <p:sldId id="686" r:id="rId178"/>
    <p:sldId id="687" r:id="rId179"/>
    <p:sldId id="688" r:id="rId180"/>
    <p:sldId id="689" r:id="rId181"/>
    <p:sldId id="690" r:id="rId182"/>
    <p:sldId id="691" r:id="rId183"/>
    <p:sldId id="560" r:id="rId184"/>
    <p:sldId id="634" r:id="rId185"/>
    <p:sldId id="635" r:id="rId186"/>
    <p:sldId id="636" r:id="rId187"/>
    <p:sldId id="637" r:id="rId188"/>
    <p:sldId id="638" r:id="rId189"/>
    <p:sldId id="639" r:id="rId190"/>
    <p:sldId id="640" r:id="rId191"/>
    <p:sldId id="641" r:id="rId192"/>
    <p:sldId id="633" r:id="rId193"/>
  </p:sldIdLst>
  <p:sldSz cx="9144000" cy="6858000" type="screen4x3"/>
  <p:notesSz cx="6759575" cy="98679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5">
          <p15:clr>
            <a:srgbClr val="A4A3A4"/>
          </p15:clr>
        </p15:guide>
        <p15:guide id="2" pos="2904">
          <p15:clr>
            <a:srgbClr val="A4A3A4"/>
          </p15:clr>
        </p15:guide>
      </p15:sldGuideLst>
    </p:ext>
    <p:ext uri="{2D200454-40CA-4A62-9FC3-DE9A4176ACB9}">
      <p15:notesGuideLst xmlns:p15="http://schemas.microsoft.com/office/powerpoint/2012/main">
        <p15:guide id="1" orient="horz" pos="3115">
          <p15:clr>
            <a:srgbClr val="A4A3A4"/>
          </p15:clr>
        </p15:guide>
        <p15:guide id="2" pos="214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2F2F2"/>
    <a:srgbClr val="FFCF01"/>
    <a:srgbClr val="0000FF"/>
    <a:srgbClr val="996633"/>
    <a:srgbClr val="FF6600"/>
    <a:srgbClr val="FF00FF"/>
    <a:srgbClr val="009900"/>
    <a:srgbClr val="CC0099"/>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66" autoAdjust="0"/>
    <p:restoredTop sz="90919" autoAdjust="0"/>
  </p:normalViewPr>
  <p:slideViewPr>
    <p:cSldViewPr>
      <p:cViewPr varScale="1">
        <p:scale>
          <a:sx n="115" d="100"/>
          <a:sy n="115" d="100"/>
        </p:scale>
        <p:origin x="1062" y="108"/>
      </p:cViewPr>
      <p:guideLst>
        <p:guide orient="horz" pos="2165"/>
        <p:guide pos="2904"/>
      </p:guideLst>
    </p:cSldViewPr>
  </p:slideViewPr>
  <p:outlineViewPr>
    <p:cViewPr>
      <p:scale>
        <a:sx n="33" d="100"/>
        <a:sy n="33" d="100"/>
      </p:scale>
      <p:origin x="0" y="-144966"/>
    </p:cViewPr>
  </p:outlineViewPr>
  <p:notesTextViewPr>
    <p:cViewPr>
      <p:scale>
        <a:sx n="100" d="100"/>
        <a:sy n="100" d="100"/>
      </p:scale>
      <p:origin x="0" y="0"/>
    </p:cViewPr>
  </p:notesTextViewPr>
  <p:notesViewPr>
    <p:cSldViewPr>
      <p:cViewPr varScale="1">
        <p:scale>
          <a:sx n="46" d="100"/>
          <a:sy n="46" d="100"/>
        </p:scale>
        <p:origin x="-1469" y="-86"/>
      </p:cViewPr>
      <p:guideLst>
        <p:guide orient="horz" pos="3115"/>
        <p:guide pos="2147"/>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notesMaster" Target="notesMasters/notesMaster1.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handoutMaster" Target="handoutMasters/handout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4"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212995" name="Rectangle 3"/>
          <p:cNvSpPr>
            <a:spLocks noGrp="1" noChangeArrowheads="1"/>
          </p:cNvSpPr>
          <p:nvPr>
            <p:ph type="dt" sz="quarter"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12996" name="Rectangle 4"/>
          <p:cNvSpPr>
            <a:spLocks noGrp="1" noChangeArrowheads="1"/>
          </p:cNvSpPr>
          <p:nvPr>
            <p:ph type="ftr" sz="quarter" idx="2"/>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212997" name="Rectangle 5"/>
          <p:cNvSpPr>
            <a:spLocks noGrp="1" noChangeArrowheads="1"/>
          </p:cNvSpPr>
          <p:nvPr>
            <p:ph type="sldNum" sz="quarter" idx="3"/>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7C1FDFD1-5782-44BC-9E1A-069775799EA5}"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52227" name="Rectangle 3"/>
          <p:cNvSpPr>
            <a:spLocks noGrp="1" noChangeArrowheads="1"/>
          </p:cNvSpPr>
          <p:nvPr>
            <p:ph type="dt" idx="1"/>
          </p:nvPr>
        </p:nvSpPr>
        <p:spPr bwMode="auto">
          <a:xfrm>
            <a:off x="3830638" y="0"/>
            <a:ext cx="2928937" cy="493713"/>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2813" y="739775"/>
            <a:ext cx="4933950" cy="3700463"/>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9" name="Rectangle 5"/>
          <p:cNvSpPr>
            <a:spLocks noGrp="1" noChangeArrowheads="1"/>
          </p:cNvSpPr>
          <p:nvPr>
            <p:ph type="body" sz="quarter" idx="3"/>
          </p:nvPr>
        </p:nvSpPr>
        <p:spPr bwMode="auto">
          <a:xfrm>
            <a:off x="900113" y="4687888"/>
            <a:ext cx="4959350" cy="4440237"/>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2230" name="Rectangle 6"/>
          <p:cNvSpPr>
            <a:spLocks noGrp="1" noChangeArrowheads="1"/>
          </p:cNvSpPr>
          <p:nvPr>
            <p:ph type="ftr" sz="quarter" idx="4"/>
          </p:nvPr>
        </p:nvSpPr>
        <p:spPr bwMode="auto">
          <a:xfrm>
            <a:off x="0" y="9374188"/>
            <a:ext cx="2928938" cy="493712"/>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52231" name="Rectangle 7"/>
          <p:cNvSpPr>
            <a:spLocks noGrp="1" noChangeArrowheads="1"/>
          </p:cNvSpPr>
          <p:nvPr>
            <p:ph type="sldNum" sz="quarter" idx="5"/>
          </p:nvPr>
        </p:nvSpPr>
        <p:spPr bwMode="auto">
          <a:xfrm>
            <a:off x="3830638" y="9374188"/>
            <a:ext cx="2928937" cy="493712"/>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C17EA9C2-9018-46F2-91DE-D2B663A8BCD2}"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ChangeArrowheads="1" noTextEdit="1"/>
          </p:cNvSpPr>
          <p:nvPr>
            <p:ph type="sldImg"/>
          </p:nvPr>
        </p:nvSpPr>
        <p:spPr/>
      </p:sp>
      <p:sp>
        <p:nvSpPr>
          <p:cNvPr id="143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fld id="{43BD8A55-20E8-4E06-A521-9B8BDAB87CD7}" type="slidenum">
              <a:rPr lang="en-US" altLang="zh-CN" sz="1200" smtClean="0"/>
              <a:t>9</a:t>
            </a:fld>
            <a:endParaRPr lang="en-US" altLang="zh-CN"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p:sp>
      <p:sp>
        <p:nvSpPr>
          <p:cNvPr id="1945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fld id="{48DD3512-72BE-491C-99FC-C7663FDA6261}" type="slidenum">
              <a:rPr lang="en-US" altLang="zh-CN" sz="1200" smtClean="0"/>
              <a:t>13</a:t>
            </a:fld>
            <a:endParaRPr lang="en-US" altLang="zh-CN"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7EA9C2-9018-46F2-91DE-D2B663A8BCD2}" type="slidenum">
              <a:rPr lang="en-US" altLang="zh-CN" smtClean="0"/>
              <a:t>130</a:t>
            </a:fld>
            <a:endParaRPr lang="en-US" altLang="zh-CN"/>
          </a:p>
        </p:txBody>
      </p:sp>
    </p:spTree>
    <p:extLst>
      <p:ext uri="{BB962C8B-B14F-4D97-AF65-F5344CB8AC3E}">
        <p14:creationId xmlns:p14="http://schemas.microsoft.com/office/powerpoint/2010/main" val="161519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7EA9C2-9018-46F2-91DE-D2B663A8BCD2}" type="slidenum">
              <a:rPr lang="en-US" altLang="zh-CN" smtClean="0"/>
              <a:t>144</a:t>
            </a:fld>
            <a:endParaRPr lang="en-US" altLang="zh-CN"/>
          </a:p>
        </p:txBody>
      </p:sp>
    </p:spTree>
    <p:extLst>
      <p:ext uri="{BB962C8B-B14F-4D97-AF65-F5344CB8AC3E}">
        <p14:creationId xmlns:p14="http://schemas.microsoft.com/office/powerpoint/2010/main" val="4178841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7EA9C2-9018-46F2-91DE-D2B663A8BCD2}" type="slidenum">
              <a:rPr lang="en-US" altLang="zh-CN" smtClean="0"/>
              <a:t>161</a:t>
            </a:fld>
            <a:endParaRPr lang="en-US" altLang="zh-CN"/>
          </a:p>
        </p:txBody>
      </p:sp>
    </p:spTree>
    <p:extLst>
      <p:ext uri="{BB962C8B-B14F-4D97-AF65-F5344CB8AC3E}">
        <p14:creationId xmlns:p14="http://schemas.microsoft.com/office/powerpoint/2010/main" val="30250220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en-US"/>
            </a:p>
          </p:txBody>
        </p:sp>
      </p:grpSp>
      <p:sp>
        <p:nvSpPr>
          <p:cNvPr id="6156"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61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2E93801-A871-4069-AA67-1A81FC2599E5}" type="slidenum">
              <a:rPr lang="en-US" altLang="zh-CN"/>
              <a:t>‹#›</a:t>
            </a:fld>
            <a:fld id="{91AA9070-9D9E-4DD5-872D-6535BB8F58FD}"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54444721-48F4-4388-AD30-00E912784508}"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30643FDE-5C5C-434B-A86B-4FE9769E2EC0}"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2EB417E-FCB3-4DD3-8035-BA9F5E9D69C3}"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7B41ED27-2DA2-46AF-8C0D-DCBAA01C8EBF}"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92C9808E-72E9-4214-803D-88E5AD05797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FD0AF403-8643-4DB6-BB54-8CFFE32A89C8}"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F124683F-DA93-4C12-85F8-380648D0C4F5}"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B944567A-9007-439F-86C7-A8B68B6D49AD}"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9AC237DB-5D51-4A0E-8B09-BEAB06CB2A3E}"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76200"/>
            <a:ext cx="1951038" cy="6019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76200"/>
            <a:ext cx="5700712" cy="6019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DCC48505-8999-450A-AA5B-DAC5036F24A7}"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557213"/>
            <a:ext cx="438150" cy="474662"/>
          </a:xfrm>
          <a:prstGeom prst="rect">
            <a:avLst/>
          </a:prstGeom>
          <a:solidFill>
            <a:srgbClr val="FFCF01"/>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27" name="Rectangle 3"/>
          <p:cNvSpPr>
            <a:spLocks noChangeArrowheads="1"/>
          </p:cNvSpPr>
          <p:nvPr/>
        </p:nvSpPr>
        <p:spPr bwMode="ltGray">
          <a:xfrm>
            <a:off x="800100" y="557213"/>
            <a:ext cx="328613" cy="474662"/>
          </a:xfrm>
          <a:prstGeom prst="rect">
            <a:avLst/>
          </a:prstGeom>
          <a:gradFill rotWithShape="0">
            <a:gsLst>
              <a:gs pos="0">
                <a:srgbClr val="FFCF01"/>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28" name="Rectangle 4"/>
          <p:cNvSpPr>
            <a:spLocks noChangeArrowheads="1"/>
          </p:cNvSpPr>
          <p:nvPr/>
        </p:nvSpPr>
        <p:spPr bwMode="ltGray">
          <a:xfrm>
            <a:off x="541338" y="979488"/>
            <a:ext cx="422275" cy="474662"/>
          </a:xfrm>
          <a:prstGeom prst="rect">
            <a:avLst/>
          </a:prstGeom>
          <a:solidFill>
            <a:schemeClr val="folHlink"/>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29" name="Rectangle 5"/>
          <p:cNvSpPr>
            <a:spLocks noChangeArrowheads="1"/>
          </p:cNvSpPr>
          <p:nvPr/>
        </p:nvSpPr>
        <p:spPr bwMode="ltGray">
          <a:xfrm>
            <a:off x="911225" y="979488"/>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30" name="Rectangle 6"/>
          <p:cNvSpPr>
            <a:spLocks noChangeArrowheads="1"/>
          </p:cNvSpPr>
          <p:nvPr/>
        </p:nvSpPr>
        <p:spPr bwMode="ltGray">
          <a:xfrm>
            <a:off x="127000" y="906463"/>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31" name="Rectangle 7"/>
          <p:cNvSpPr>
            <a:spLocks noChangeArrowheads="1"/>
          </p:cNvSpPr>
          <p:nvPr/>
        </p:nvSpPr>
        <p:spPr bwMode="gray">
          <a:xfrm>
            <a:off x="762000" y="449263"/>
            <a:ext cx="31750" cy="1052512"/>
          </a:xfrm>
          <a:prstGeom prst="rect">
            <a:avLst/>
          </a:prstGeom>
          <a:solidFill>
            <a:schemeClr val="bg2"/>
          </a:soli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32" name="Rectangle 8"/>
          <p:cNvSpPr>
            <a:spLocks noChangeArrowheads="1"/>
          </p:cNvSpPr>
          <p:nvPr/>
        </p:nvSpPr>
        <p:spPr bwMode="gray">
          <a:xfrm>
            <a:off x="442913" y="1239838"/>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kumimoji="1" sz="2400">
                <a:solidFill>
                  <a:schemeClr val="tx1"/>
                </a:solidFill>
                <a:latin typeface="Tahoma" panose="020B0604030504040204" pitchFamily="34" charset="0"/>
                <a:ea typeface="宋体" pitchFamily="2" charset="-122"/>
              </a:defRPr>
            </a:lvl1pPr>
            <a:lvl2pPr marL="742950" indent="-285750">
              <a:defRPr kumimoji="1" sz="2400">
                <a:solidFill>
                  <a:schemeClr val="tx1"/>
                </a:solidFill>
                <a:latin typeface="Tahoma" panose="020B0604030504040204" pitchFamily="34" charset="0"/>
                <a:ea typeface="宋体" pitchFamily="2" charset="-122"/>
              </a:defRPr>
            </a:lvl2pPr>
            <a:lvl3pPr marL="1143000" indent="-228600">
              <a:defRPr kumimoji="1" sz="2400">
                <a:solidFill>
                  <a:schemeClr val="tx1"/>
                </a:solidFill>
                <a:latin typeface="Tahoma" panose="020B0604030504040204" pitchFamily="34" charset="0"/>
                <a:ea typeface="宋体" pitchFamily="2" charset="-122"/>
              </a:defRPr>
            </a:lvl3pPr>
            <a:lvl4pPr marL="1600200" indent="-228600">
              <a:defRPr kumimoji="1" sz="2400">
                <a:solidFill>
                  <a:schemeClr val="tx1"/>
                </a:solidFill>
                <a:latin typeface="Tahoma" panose="020B0604030504040204" pitchFamily="34" charset="0"/>
                <a:ea typeface="宋体" pitchFamily="2" charset="-122"/>
              </a:defRPr>
            </a:lvl4pPr>
            <a:lvl5pPr marL="2057400" indent="-228600">
              <a:defRPr kumimoji="1" sz="2400">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itchFamily="2" charset="-122"/>
              </a:defRPr>
            </a:lvl9pPr>
          </a:lstStyle>
          <a:p>
            <a:pPr algn="ctr" eaLnBrk="1" hangingPunct="1">
              <a:defRPr/>
            </a:pPr>
            <a:endParaRPr lang="zh-CN" altLang="zh-CN"/>
          </a:p>
        </p:txBody>
      </p:sp>
      <p:sp>
        <p:nvSpPr>
          <p:cNvPr id="1033" name="Rectangle 9"/>
          <p:cNvSpPr>
            <a:spLocks noGrp="1" noChangeArrowheads="1"/>
          </p:cNvSpPr>
          <p:nvPr>
            <p:ph type="title"/>
          </p:nvPr>
        </p:nvSpPr>
        <p:spPr bwMode="auto">
          <a:xfrm>
            <a:off x="1150938" y="762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31"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defRPr kumimoji="0" sz="1400"/>
            </a:lvl1pPr>
          </a:lstStyle>
          <a:p>
            <a:pPr>
              <a:defRPr/>
            </a:pPr>
            <a:endParaRPr lang="en-US" altLang="zh-CN"/>
          </a:p>
        </p:txBody>
      </p:sp>
      <p:sp>
        <p:nvSpPr>
          <p:cNvPr id="5132"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kumimoji="0" sz="1400"/>
            </a:lvl1pPr>
          </a:lstStyle>
          <a:p>
            <a:pPr>
              <a:defRPr/>
            </a:pPr>
            <a:endParaRPr lang="en-US" altLang="zh-CN"/>
          </a:p>
        </p:txBody>
      </p:sp>
      <p:sp>
        <p:nvSpPr>
          <p:cNvPr id="5133"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400"/>
            </a:lvl1pPr>
          </a:lstStyle>
          <a:p>
            <a:pPr>
              <a:defRPr/>
            </a:pPr>
            <a:fld id="{801152F3-C199-4AEC-80B8-4775C9DF0264}"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anose="02020603050405020304"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anose="02020603050405020304"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anose="02020603050405020304"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anose="02020603050405020304"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anose="02020603050405020304"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anose="02020603050405020304"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anose="02020603050405020304"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anose="02020603050405020304" pitchFamily="18" charset="0"/>
          <a:ea typeface="宋体" pitchFamily="2" charset="-122"/>
        </a:defRPr>
      </a:lvl9pPr>
    </p:titleStyle>
    <p:bodyStyle>
      <a:lvl1pPr marL="342900" indent="-342900" algn="l" rtl="0" eaLnBrk="0" fontAlgn="base" hangingPunct="0">
        <a:spcBef>
          <a:spcPct val="20000"/>
        </a:spcBef>
        <a:spcAft>
          <a:spcPct val="0"/>
        </a:spcAft>
        <a:buClr>
          <a:srgbClr val="FF3300"/>
        </a:buClr>
        <a:buSzPct val="75000"/>
        <a:buFont typeface="Wingdings" panose="05000000000000000000" pitchFamily="2" charset="2"/>
        <a:buChar char="m"/>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9000"/>
        <a:buFont typeface="Wingdings" panose="05000000000000000000" pitchFamily="2" charset="2"/>
        <a:buChar char="q"/>
        <a:defRPr kumimoji="1" sz="2800">
          <a:solidFill>
            <a:srgbClr val="3333CC"/>
          </a:solidFill>
          <a:latin typeface="+mn-lt"/>
          <a:ea typeface="+mn-ea"/>
        </a:defRPr>
      </a:lvl2pPr>
      <a:lvl3pPr marL="1143000" indent="-228600" algn="l" rtl="0" eaLnBrk="0" fontAlgn="base" hangingPunct="0">
        <a:spcBef>
          <a:spcPct val="20000"/>
        </a:spcBef>
        <a:spcAft>
          <a:spcPct val="0"/>
        </a:spcAft>
        <a:buClr>
          <a:srgbClr val="FF3300"/>
        </a:buClr>
        <a:buFont typeface="Wingdings" panose="05000000000000000000" pitchFamily="2" charset="2"/>
        <a:buChar char="Ø"/>
        <a:defRPr kumimoji="1" sz="2400">
          <a:solidFill>
            <a:srgbClr val="FF3300"/>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4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wmf"/><Relationship Id="rId5" Type="http://schemas.openxmlformats.org/officeDocument/2006/relationships/oleObject" Target="../embeddings/oleObject6.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9.wmf"/></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1.wmf"/></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8.wmf"/></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0.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1.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4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image" Target="../media/image58.jp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60.jpg"/></Relationships>
</file>

<file path=ppt/slides/_rels/slide149.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50938" y="2743200"/>
            <a:ext cx="7793037" cy="1143000"/>
          </a:xfrm>
        </p:spPr>
        <p:txBody>
          <a:bodyPr/>
          <a:lstStyle/>
          <a:p>
            <a:pPr algn="ctr" eaLnBrk="1" hangingPunct="1"/>
            <a:r>
              <a:rPr lang="zh-CN" altLang="en-US"/>
              <a:t>并行算法设计与分析</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a:t>提纲</a:t>
            </a:r>
          </a:p>
        </p:txBody>
      </p:sp>
      <p:sp>
        <p:nvSpPr>
          <p:cNvPr id="6147"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eaLnBrk="1" hangingPunct="1"/>
            <a:r>
              <a:rPr lang="zh-CN" altLang="en-US" dirty="0"/>
              <a:t>并行算法分析</a:t>
            </a:r>
            <a:endParaRPr lang="en-US" altLang="zh-CN" dirty="0"/>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a:t>提纲</a:t>
            </a:r>
          </a:p>
        </p:txBody>
      </p:sp>
      <p:sp>
        <p:nvSpPr>
          <p:cNvPr id="7171"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lvl="1" eaLnBrk="1" hangingPunct="1"/>
            <a:r>
              <a:rPr lang="zh-CN" altLang="en-US" dirty="0">
                <a:solidFill>
                  <a:srgbClr val="FF0000"/>
                </a:solidFill>
              </a:rPr>
              <a:t>任务分解、数据依赖、竞争条件</a:t>
            </a:r>
            <a:endParaRPr lang="en-US" altLang="zh-CN" dirty="0">
              <a:solidFill>
                <a:srgbClr val="FF0000"/>
              </a:solidFill>
            </a:endParaRPr>
          </a:p>
          <a:p>
            <a:pPr lvl="1" eaLnBrk="1" hangingPunct="1"/>
            <a:r>
              <a:rPr lang="zh-CN" altLang="en-US" dirty="0"/>
              <a:t>数据并行</a:t>
            </a:r>
            <a:endParaRPr lang="en-US" altLang="zh-CN" dirty="0"/>
          </a:p>
          <a:p>
            <a:pPr lvl="1" eaLnBrk="1" hangingPunct="1"/>
            <a:r>
              <a:rPr lang="zh-CN" altLang="en-US" dirty="0"/>
              <a:t>其他任务划分方法</a:t>
            </a:r>
            <a:endParaRPr lang="en-US" altLang="zh-CN" dirty="0"/>
          </a:p>
          <a:p>
            <a:pPr eaLnBrk="1" hangingPunct="1"/>
            <a:r>
              <a:rPr lang="zh-CN" altLang="en-US" dirty="0"/>
              <a:t>并行算法分析</a:t>
            </a:r>
            <a:endParaRPr lang="en-US" altLang="zh-CN" dirty="0"/>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t>并行算法设计</a:t>
            </a:r>
          </a:p>
        </p:txBody>
      </p:sp>
      <p:sp>
        <p:nvSpPr>
          <p:cNvPr id="8195" name="Rectangle 3"/>
          <p:cNvSpPr>
            <a:spLocks noGrp="1" noChangeArrowheads="1"/>
          </p:cNvSpPr>
          <p:nvPr>
            <p:ph type="body" idx="1"/>
          </p:nvPr>
        </p:nvSpPr>
        <p:spPr/>
        <p:txBody>
          <a:bodyPr/>
          <a:lstStyle/>
          <a:p>
            <a:pPr eaLnBrk="1" hangingPunct="1"/>
            <a:r>
              <a:rPr lang="zh-CN" altLang="en-US"/>
              <a:t>假定已有求解问题的串行算法，我们将其改为并行版本</a:t>
            </a:r>
          </a:p>
          <a:p>
            <a:pPr lvl="1" eaLnBrk="1" hangingPunct="1"/>
            <a:r>
              <a:rPr lang="zh-CN" altLang="en-US"/>
              <a:t>并不一定是最好的策略</a:t>
            </a:r>
            <a:r>
              <a:rPr lang="en-US" altLang="zh-CN"/>
              <a:t>——</a:t>
            </a:r>
            <a:r>
              <a:rPr lang="zh-CN" altLang="en-US"/>
              <a:t>有些情况下，最优并行算法与最优串行算法完全没有关系</a:t>
            </a:r>
            <a:endParaRPr lang="en-US" altLang="zh-CN"/>
          </a:p>
          <a:p>
            <a:pPr lvl="1" eaLnBrk="1" hangingPunct="1"/>
            <a:r>
              <a:rPr lang="zh-CN" altLang="en-US"/>
              <a:t>但很有用，我们很熟悉串行算法，很多时候是切实可行的方法</a:t>
            </a:r>
            <a:endParaRPr lang="en-US" altLang="zh-CN"/>
          </a:p>
          <a:p>
            <a:pPr eaLnBrk="1" hangingPunct="1"/>
            <a:r>
              <a:rPr lang="zh-CN" altLang="en-US"/>
              <a:t>并行算法与体系结构紧密相关！</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a:t>设计一个并行算法</a:t>
            </a:r>
          </a:p>
        </p:txBody>
      </p:sp>
      <p:sp>
        <p:nvSpPr>
          <p:cNvPr id="9219" name="Rectangle 3"/>
          <p:cNvSpPr>
            <a:spLocks noGrp="1" noChangeArrowheads="1"/>
          </p:cNvSpPr>
          <p:nvPr>
            <p:ph type="body" idx="1"/>
          </p:nvPr>
        </p:nvSpPr>
        <p:spPr/>
        <p:txBody>
          <a:bodyPr/>
          <a:lstStyle/>
          <a:p>
            <a:pPr eaLnBrk="1" hangingPunct="1"/>
            <a:r>
              <a:rPr lang="zh-CN" altLang="en-US"/>
              <a:t>计算任务的分解</a:t>
            </a:r>
            <a:endParaRPr lang="en-US" altLang="zh-CN"/>
          </a:p>
          <a:p>
            <a:pPr lvl="1" eaLnBrk="1" hangingPunct="1"/>
            <a:r>
              <a:rPr lang="zh-CN" altLang="en-US"/>
              <a:t>如何将并行计算工作分解，交由众多进程</a:t>
            </a:r>
            <a:r>
              <a:rPr lang="en-US" altLang="zh-CN"/>
              <a:t>/</a:t>
            </a:r>
            <a:r>
              <a:rPr lang="zh-CN" altLang="en-US"/>
              <a:t>线程并发执行</a:t>
            </a:r>
          </a:p>
          <a:p>
            <a:pPr eaLnBrk="1" hangingPunct="1"/>
            <a:r>
              <a:rPr lang="zh-CN" altLang="en-US"/>
              <a:t>保持依赖关系</a:t>
            </a:r>
            <a:endParaRPr lang="en-US" altLang="zh-CN"/>
          </a:p>
          <a:p>
            <a:pPr lvl="1" eaLnBrk="1" hangingPunct="1"/>
            <a:r>
              <a:rPr lang="zh-CN" altLang="en-US"/>
              <a:t>计算结果与串行算法保持一致</a:t>
            </a:r>
            <a:endParaRPr lang="en-US" altLang="zh-CN"/>
          </a:p>
          <a:p>
            <a:pPr eaLnBrk="1" hangingPunct="1"/>
            <a:r>
              <a:rPr lang="zh-CN" altLang="en-US"/>
              <a:t>额外开销</a:t>
            </a:r>
            <a:endParaRPr lang="en-US" altLang="zh-CN"/>
          </a:p>
          <a:p>
            <a:pPr lvl="1" eaLnBrk="1" hangingPunct="1"/>
            <a:r>
              <a:rPr lang="zh-CN" altLang="en-US"/>
              <a:t>有多种类型的开销，要尽量降低</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a:t>竞争条件与数据依赖</a:t>
            </a:r>
          </a:p>
        </p:txBody>
      </p:sp>
      <p:sp>
        <p:nvSpPr>
          <p:cNvPr id="10243" name="Rectangle 3"/>
          <p:cNvSpPr>
            <a:spLocks noGrp="1" noChangeArrowheads="1"/>
          </p:cNvSpPr>
          <p:nvPr>
            <p:ph type="body" idx="1"/>
          </p:nvPr>
        </p:nvSpPr>
        <p:spPr/>
        <p:txBody>
          <a:bodyPr/>
          <a:lstStyle/>
          <a:p>
            <a:pPr eaLnBrk="1" hangingPunct="1"/>
            <a:r>
              <a:rPr lang="zh-CN" altLang="en-US"/>
              <a:t>执行结果依赖于两个或更多事件的</a:t>
            </a:r>
            <a:r>
              <a:rPr lang="zh-CN" altLang="en-US">
                <a:solidFill>
                  <a:srgbClr val="FF0000"/>
                </a:solidFill>
                <a:latin typeface="黑体" panose="02010609060101010101" pitchFamily="49" charset="-122"/>
                <a:ea typeface="黑体" panose="02010609060101010101" pitchFamily="49" charset="-122"/>
              </a:rPr>
              <a:t>时序</a:t>
            </a:r>
            <a:r>
              <a:rPr lang="zh-CN" altLang="en-US"/>
              <a:t>，则存在</a:t>
            </a:r>
            <a:r>
              <a:rPr lang="zh-CN" altLang="en-US">
                <a:solidFill>
                  <a:srgbClr val="FF0000"/>
                </a:solidFill>
                <a:latin typeface="黑体" panose="02010609060101010101" pitchFamily="49" charset="-122"/>
                <a:ea typeface="黑体" panose="02010609060101010101" pitchFamily="49" charset="-122"/>
              </a:rPr>
              <a:t>竞争条件</a:t>
            </a:r>
            <a:r>
              <a:rPr lang="zh-CN" altLang="en-US"/>
              <a:t>（</a:t>
            </a:r>
            <a:r>
              <a:rPr lang="en-US" altLang="zh-CN"/>
              <a:t>race condition</a:t>
            </a:r>
            <a:r>
              <a:rPr lang="zh-CN" altLang="en-US"/>
              <a:t>）</a:t>
            </a:r>
          </a:p>
          <a:p>
            <a:pPr eaLnBrk="1" hangingPunct="1"/>
            <a:r>
              <a:rPr lang="zh-CN" altLang="en-US">
                <a:solidFill>
                  <a:srgbClr val="FF0000"/>
                </a:solidFill>
                <a:latin typeface="黑体" panose="02010609060101010101" pitchFamily="49" charset="-122"/>
                <a:ea typeface="黑体" panose="02010609060101010101" pitchFamily="49" charset="-122"/>
              </a:rPr>
              <a:t>数据依赖</a:t>
            </a:r>
            <a:r>
              <a:rPr lang="zh-CN" altLang="en-US"/>
              <a:t>（</a:t>
            </a:r>
            <a:r>
              <a:rPr lang="en-US" altLang="zh-CN"/>
              <a:t>data dependence</a:t>
            </a:r>
            <a:r>
              <a:rPr lang="zh-CN" altLang="en-US"/>
              <a:t>）就是两个内存操作的序，为了保证结果的正确性，必须保持这个序</a:t>
            </a:r>
            <a:endParaRPr lang="en-US" altLang="zh-CN"/>
          </a:p>
          <a:p>
            <a:pPr eaLnBrk="1" hangingPunct="1"/>
            <a:r>
              <a:rPr lang="zh-CN" altLang="en-US">
                <a:solidFill>
                  <a:srgbClr val="FF0000"/>
                </a:solidFill>
                <a:latin typeface="黑体" panose="02010609060101010101" pitchFamily="49" charset="-122"/>
                <a:ea typeface="黑体" panose="02010609060101010101" pitchFamily="49" charset="-122"/>
              </a:rPr>
              <a:t>同步</a:t>
            </a:r>
            <a:r>
              <a:rPr lang="zh-CN" altLang="en-US"/>
              <a:t>（</a:t>
            </a:r>
            <a:r>
              <a:rPr lang="en-US" altLang="zh-CN"/>
              <a:t>synchronization</a:t>
            </a:r>
            <a:r>
              <a:rPr lang="zh-CN" altLang="en-US"/>
              <a:t>）用来将多个线程的执行串行化，或是将并发数据访问串行化</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一个简单的例子</a:t>
            </a:r>
          </a:p>
        </p:txBody>
      </p:sp>
      <p:sp>
        <p:nvSpPr>
          <p:cNvPr id="12291" name="Rectangle 3"/>
          <p:cNvSpPr>
            <a:spLocks noGrp="1" noChangeArrowheads="1"/>
          </p:cNvSpPr>
          <p:nvPr>
            <p:ph type="body" idx="1"/>
          </p:nvPr>
        </p:nvSpPr>
        <p:spPr/>
        <p:txBody>
          <a:bodyPr/>
          <a:lstStyle/>
          <a:p>
            <a:pPr eaLnBrk="1" hangingPunct="1">
              <a:buFont typeface="Wingdings" panose="05000000000000000000" pitchFamily="2" charset="2"/>
              <a:buChar char="m"/>
              <a:defRPr/>
            </a:pPr>
            <a:r>
              <a:rPr lang="zh-CN" altLang="en-US" dirty="0"/>
              <a:t>计算</a:t>
            </a:r>
            <a:r>
              <a:rPr lang="en-US" altLang="zh-CN" dirty="0"/>
              <a:t>n</a:t>
            </a:r>
            <a:r>
              <a:rPr lang="zh-CN" altLang="en-US" dirty="0"/>
              <a:t>个值并求它们的和</a:t>
            </a:r>
            <a:endParaRPr lang="en-US" altLang="zh-CN" dirty="0"/>
          </a:p>
          <a:p>
            <a:pPr eaLnBrk="1" hangingPunct="1">
              <a:buFont typeface="Wingdings" panose="05000000000000000000" pitchFamily="2" charset="2"/>
              <a:buChar char="m"/>
              <a:defRPr/>
            </a:pPr>
            <a:r>
              <a:rPr lang="zh-CN" altLang="en-US" dirty="0"/>
              <a:t>串行算法：</a:t>
            </a:r>
            <a:endParaRPr lang="en-US" altLang="zh-CN" dirty="0"/>
          </a:p>
          <a:p>
            <a:pPr marL="0" indent="0" eaLnBrk="1" hangingPunct="1">
              <a:buFont typeface="Wingdings" panose="05000000000000000000" pitchFamily="2" charset="2"/>
              <a:buNone/>
              <a:defRPr/>
            </a:pPr>
            <a:endParaRPr lang="en-US" altLang="zh-CN" sz="2000" kern="100" dirty="0">
              <a:solidFill>
                <a:srgbClr val="0000FF"/>
              </a:solidFill>
              <a:latin typeface="Arial" panose="020B0604020202020204" pitchFamily="34" charset="0"/>
            </a:endParaRP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sum = 0;</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0;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&lt; n;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x = Compute next value(.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sum += x;</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endParaRPr lang="en-US" altLang="zh-CN" sz="2000" dirty="0">
              <a:solidFill>
                <a:srgbClr val="000000"/>
              </a:solidFill>
            </a:endParaRPr>
          </a:p>
          <a:p>
            <a:pPr eaLnBrk="1" hangingPunct="1">
              <a:buFont typeface="Wingdings" panose="05000000000000000000" pitchFamily="2" charset="2"/>
              <a:buChar char="m"/>
              <a:defRPr/>
            </a:pPr>
            <a:r>
              <a:rPr lang="zh-CN" altLang="en-US" dirty="0"/>
              <a:t>并行算法？</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a:t>版本</a:t>
            </a:r>
            <a:r>
              <a:rPr lang="en-US" altLang="zh-CN"/>
              <a:t>1</a:t>
            </a:r>
            <a:r>
              <a:rPr lang="zh-CN" altLang="en-US"/>
              <a:t>：计算任务划分</a:t>
            </a:r>
          </a:p>
        </p:txBody>
      </p:sp>
      <p:sp>
        <p:nvSpPr>
          <p:cNvPr id="13315" name="Rectangle 3"/>
          <p:cNvSpPr>
            <a:spLocks noGrp="1" noChangeArrowheads="1"/>
          </p:cNvSpPr>
          <p:nvPr>
            <p:ph type="body" idx="1"/>
          </p:nvPr>
        </p:nvSpPr>
        <p:spPr/>
        <p:txBody>
          <a:bodyPr/>
          <a:lstStyle/>
          <a:p>
            <a:pPr eaLnBrk="1" hangingPunct="1">
              <a:buFont typeface="Wingdings" panose="05000000000000000000" pitchFamily="2" charset="2"/>
              <a:buChar char="m"/>
              <a:defRPr/>
            </a:pPr>
            <a:r>
              <a:rPr lang="zh-CN" altLang="en-US" sz="2400" dirty="0"/>
              <a:t>假定每个核心计算连续</a:t>
            </a:r>
            <a:r>
              <a:rPr lang="en-US" altLang="zh-CN" sz="2400" dirty="0"/>
              <a:t>n/t</a:t>
            </a:r>
            <a:r>
              <a:rPr lang="zh-CN" altLang="en-US" sz="2400" dirty="0"/>
              <a:t>个元素的部分和（</a:t>
            </a:r>
            <a:r>
              <a:rPr lang="en-US" altLang="zh-CN" sz="2400" dirty="0"/>
              <a:t>t</a:t>
            </a:r>
            <a:r>
              <a:rPr lang="zh-CN" altLang="en-US" sz="2400" dirty="0"/>
              <a:t>为线程数或处理器数）</a:t>
            </a:r>
            <a:endParaRPr lang="en-US" altLang="zh-CN" sz="2400" dirty="0"/>
          </a:p>
          <a:p>
            <a:pPr eaLnBrk="1" hangingPunct="1">
              <a:buFont typeface="Wingdings" panose="05000000000000000000" pitchFamily="2" charset="2"/>
              <a:buChar char="m"/>
              <a:defRPr/>
            </a:pPr>
            <a:r>
              <a:rPr lang="zh-CN" altLang="en-US" sz="2400" dirty="0"/>
              <a:t>例子：</a:t>
            </a:r>
            <a:r>
              <a:rPr lang="en-US" altLang="zh-CN" sz="2400" dirty="0"/>
              <a:t>n=24</a:t>
            </a:r>
            <a:r>
              <a:rPr lang="zh-CN" altLang="en-US" sz="2400" dirty="0"/>
              <a:t>，</a:t>
            </a:r>
            <a:r>
              <a:rPr lang="en-US" altLang="zh-CN" sz="2400" dirty="0"/>
              <a:t>t=8</a:t>
            </a:r>
          </a:p>
          <a:p>
            <a:pPr eaLnBrk="1" hangingPunct="1">
              <a:buFont typeface="Wingdings" panose="05000000000000000000" pitchFamily="2" charset="2"/>
              <a:buChar char="m"/>
              <a:defRPr/>
            </a:pPr>
            <a:endParaRPr lang="en-US" altLang="zh-CN" sz="2400" dirty="0"/>
          </a:p>
          <a:p>
            <a:pPr eaLnBrk="1" hangingPunct="1">
              <a:buFont typeface="Wingdings" panose="05000000000000000000" pitchFamily="2" charset="2"/>
              <a:buChar char="m"/>
              <a:defRPr/>
            </a:pPr>
            <a:endParaRPr lang="en-US" altLang="zh-CN" sz="2400" dirty="0"/>
          </a:p>
          <a:p>
            <a:pPr eaLnBrk="1" hangingPunct="1">
              <a:buFont typeface="Wingdings" panose="05000000000000000000" pitchFamily="2" charset="2"/>
              <a:buChar char="m"/>
              <a:defRPr/>
            </a:pPr>
            <a:endParaRPr lang="en-US" altLang="zh-CN" sz="2400" dirty="0"/>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 n/t;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start = id *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=start;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a:t>
            </a:r>
            <a:r>
              <a:rPr lang="en-US" altLang="zh-CN" sz="2000" kern="100" dirty="0" err="1">
                <a:solidFill>
                  <a:srgbClr val="0000FF"/>
                </a:solidFill>
                <a:latin typeface="Arial" panose="020B0604020202020204" pitchFamily="34" charset="0"/>
              </a:rPr>
              <a:t>start+block_length_per_thread</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x = </a:t>
            </a:r>
            <a:r>
              <a:rPr lang="en-US" altLang="zh-CN" sz="2000" kern="100" dirty="0" err="1">
                <a:solidFill>
                  <a:srgbClr val="0000FF"/>
                </a:solidFill>
                <a:latin typeface="Arial" panose="020B0604020202020204" pitchFamily="34" charset="0"/>
              </a:rPr>
              <a:t>Compute_next_value</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sum += x;</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endParaRPr lang="en-US" altLang="zh-CN" sz="2400" dirty="0"/>
          </a:p>
        </p:txBody>
      </p:sp>
      <p:sp>
        <p:nvSpPr>
          <p:cNvPr id="12292" name="Cube 15"/>
          <p:cNvSpPr>
            <a:spLocks noChangeArrowheads="1"/>
          </p:cNvSpPr>
          <p:nvPr/>
        </p:nvSpPr>
        <p:spPr bwMode="auto">
          <a:xfrm>
            <a:off x="31750" y="2636838"/>
            <a:ext cx="334963" cy="381000"/>
          </a:xfrm>
          <a:prstGeom prst="cube">
            <a:avLst>
              <a:gd name="adj" fmla="val 25000"/>
            </a:avLst>
          </a:prstGeom>
          <a:solidFill>
            <a:srgbClr val="0080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1</a:t>
            </a:r>
          </a:p>
        </p:txBody>
      </p:sp>
      <p:sp>
        <p:nvSpPr>
          <p:cNvPr id="12293" name="TextBox 17"/>
          <p:cNvSpPr txBox="1">
            <a:spLocks noChangeArrowheads="1"/>
          </p:cNvSpPr>
          <p:nvPr/>
        </p:nvSpPr>
        <p:spPr bwMode="auto">
          <a:xfrm rot="16200000">
            <a:off x="21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46" name="TextBox 20"/>
          <p:cNvSpPr txBox="1">
            <a:spLocks noChangeArrowheads="1"/>
          </p:cNvSpPr>
          <p:nvPr/>
        </p:nvSpPr>
        <p:spPr bwMode="auto">
          <a:xfrm>
            <a:off x="336550" y="3562350"/>
            <a:ext cx="376238" cy="369888"/>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005400"/>
                </a:solidFill>
              </a:rPr>
              <a:t>t0</a:t>
            </a:r>
          </a:p>
        </p:txBody>
      </p:sp>
      <p:sp>
        <p:nvSpPr>
          <p:cNvPr id="47" name="TextBox 21"/>
          <p:cNvSpPr txBox="1">
            <a:spLocks noChangeArrowheads="1"/>
          </p:cNvSpPr>
          <p:nvPr/>
        </p:nvSpPr>
        <p:spPr bwMode="auto">
          <a:xfrm>
            <a:off x="1603375" y="3562350"/>
            <a:ext cx="377825" cy="369888"/>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333399"/>
                </a:solidFill>
              </a:rPr>
              <a:t>t1</a:t>
            </a:r>
          </a:p>
        </p:txBody>
      </p:sp>
      <p:sp>
        <p:nvSpPr>
          <p:cNvPr id="48" name="TextBox 22"/>
          <p:cNvSpPr txBox="1">
            <a:spLocks noChangeArrowheads="1"/>
          </p:cNvSpPr>
          <p:nvPr/>
        </p:nvSpPr>
        <p:spPr bwMode="auto">
          <a:xfrm>
            <a:off x="2667000"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FF9900"/>
                </a:solidFill>
              </a:rPr>
              <a:t>t2</a:t>
            </a:r>
          </a:p>
        </p:txBody>
      </p:sp>
      <p:sp>
        <p:nvSpPr>
          <p:cNvPr id="49" name="TextBox 23"/>
          <p:cNvSpPr txBox="1">
            <a:spLocks noChangeArrowheads="1"/>
          </p:cNvSpPr>
          <p:nvPr/>
        </p:nvSpPr>
        <p:spPr bwMode="auto">
          <a:xfrm>
            <a:off x="3813175"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CC3300"/>
                </a:solidFill>
              </a:rPr>
              <a:t>t3</a:t>
            </a:r>
          </a:p>
        </p:txBody>
      </p:sp>
      <p:sp>
        <p:nvSpPr>
          <p:cNvPr id="12298" name="Cube 15"/>
          <p:cNvSpPr>
            <a:spLocks noChangeArrowheads="1"/>
          </p:cNvSpPr>
          <p:nvPr/>
        </p:nvSpPr>
        <p:spPr bwMode="auto">
          <a:xfrm>
            <a:off x="412750" y="2636838"/>
            <a:ext cx="334963" cy="381000"/>
          </a:xfrm>
          <a:prstGeom prst="cube">
            <a:avLst>
              <a:gd name="adj" fmla="val 25000"/>
            </a:avLst>
          </a:prstGeom>
          <a:solidFill>
            <a:srgbClr val="0080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4</a:t>
            </a:r>
          </a:p>
        </p:txBody>
      </p:sp>
      <p:sp>
        <p:nvSpPr>
          <p:cNvPr id="51" name="Cube 15"/>
          <p:cNvSpPr>
            <a:spLocks noChangeArrowheads="1"/>
          </p:cNvSpPr>
          <p:nvPr/>
        </p:nvSpPr>
        <p:spPr bwMode="auto">
          <a:xfrm>
            <a:off x="793750" y="2636838"/>
            <a:ext cx="334963" cy="381000"/>
          </a:xfrm>
          <a:prstGeom prst="cube">
            <a:avLst>
              <a:gd name="adj" fmla="val 25000"/>
            </a:avLst>
          </a:prstGeom>
          <a:solidFill>
            <a:srgbClr val="008000"/>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34</a:t>
            </a:r>
          </a:p>
        </p:txBody>
      </p:sp>
      <p:sp>
        <p:nvSpPr>
          <p:cNvPr id="12300" name="Cube 15"/>
          <p:cNvSpPr>
            <a:spLocks noChangeArrowheads="1"/>
          </p:cNvSpPr>
          <p:nvPr/>
        </p:nvSpPr>
        <p:spPr bwMode="auto">
          <a:xfrm>
            <a:off x="1143000" y="2636838"/>
            <a:ext cx="334963" cy="381000"/>
          </a:xfrm>
          <a:prstGeom prst="cube">
            <a:avLst>
              <a:gd name="adj" fmla="val 25000"/>
            </a:avLst>
          </a:prstGeom>
          <a:solidFill>
            <a:srgbClr val="063DE8"/>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9</a:t>
            </a:r>
          </a:p>
        </p:txBody>
      </p:sp>
      <p:sp>
        <p:nvSpPr>
          <p:cNvPr id="12301" name="TextBox 17"/>
          <p:cNvSpPr txBox="1">
            <a:spLocks noChangeArrowheads="1"/>
          </p:cNvSpPr>
          <p:nvPr/>
        </p:nvSpPr>
        <p:spPr bwMode="auto">
          <a:xfrm rot="16200000">
            <a:off x="1164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02" name="Cube 15"/>
          <p:cNvSpPr>
            <a:spLocks noChangeArrowheads="1"/>
          </p:cNvSpPr>
          <p:nvPr/>
        </p:nvSpPr>
        <p:spPr bwMode="auto">
          <a:xfrm>
            <a:off x="1524000" y="2636838"/>
            <a:ext cx="334963" cy="381000"/>
          </a:xfrm>
          <a:prstGeom prst="cube">
            <a:avLst>
              <a:gd name="adj" fmla="val 25000"/>
            </a:avLst>
          </a:prstGeom>
          <a:solidFill>
            <a:srgbClr val="063DE8"/>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2</a:t>
            </a:r>
          </a:p>
        </p:txBody>
      </p:sp>
      <p:sp>
        <p:nvSpPr>
          <p:cNvPr id="55" name="Cube 15"/>
          <p:cNvSpPr>
            <a:spLocks noChangeArrowheads="1"/>
          </p:cNvSpPr>
          <p:nvPr/>
        </p:nvSpPr>
        <p:spPr bwMode="auto">
          <a:xfrm>
            <a:off x="1905000" y="2636838"/>
            <a:ext cx="334963" cy="381000"/>
          </a:xfrm>
          <a:prstGeom prst="cube">
            <a:avLst>
              <a:gd name="adj" fmla="val 25000"/>
            </a:avLst>
          </a:prstGeom>
          <a:solidFill>
            <a:srgbClr val="063DE8"/>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84</a:t>
            </a:r>
          </a:p>
        </p:txBody>
      </p:sp>
      <p:sp>
        <p:nvSpPr>
          <p:cNvPr id="12304" name="Cube 15"/>
          <p:cNvSpPr>
            <a:spLocks noChangeArrowheads="1"/>
          </p:cNvSpPr>
          <p:nvPr/>
        </p:nvSpPr>
        <p:spPr bwMode="auto">
          <a:xfrm>
            <a:off x="2317750" y="2636838"/>
            <a:ext cx="334963" cy="381000"/>
          </a:xfrm>
          <a:prstGeom prst="cube">
            <a:avLst>
              <a:gd name="adj" fmla="val 25000"/>
            </a:avLst>
          </a:prstGeom>
          <a:solidFill>
            <a:srgbClr val="FF99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5</a:t>
            </a:r>
          </a:p>
        </p:txBody>
      </p:sp>
      <p:sp>
        <p:nvSpPr>
          <p:cNvPr id="12305" name="TextBox 17"/>
          <p:cNvSpPr txBox="1">
            <a:spLocks noChangeArrowheads="1"/>
          </p:cNvSpPr>
          <p:nvPr/>
        </p:nvSpPr>
        <p:spPr bwMode="auto">
          <a:xfrm rot="16200000">
            <a:off x="2307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06" name="Cube 15"/>
          <p:cNvSpPr>
            <a:spLocks noChangeArrowheads="1"/>
          </p:cNvSpPr>
          <p:nvPr/>
        </p:nvSpPr>
        <p:spPr bwMode="auto">
          <a:xfrm>
            <a:off x="2698750" y="2636838"/>
            <a:ext cx="334963" cy="381000"/>
          </a:xfrm>
          <a:prstGeom prst="cube">
            <a:avLst>
              <a:gd name="adj" fmla="val 25000"/>
            </a:avLst>
          </a:prstGeom>
          <a:solidFill>
            <a:srgbClr val="FF99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1</a:t>
            </a:r>
          </a:p>
        </p:txBody>
      </p:sp>
      <p:sp>
        <p:nvSpPr>
          <p:cNvPr id="59" name="Cube 15"/>
          <p:cNvSpPr>
            <a:spLocks noChangeArrowheads="1"/>
          </p:cNvSpPr>
          <p:nvPr/>
        </p:nvSpPr>
        <p:spPr bwMode="auto">
          <a:xfrm>
            <a:off x="3079750" y="2636838"/>
            <a:ext cx="334963" cy="381000"/>
          </a:xfrm>
          <a:prstGeom prst="cube">
            <a:avLst>
              <a:gd name="adj" fmla="val 25000"/>
            </a:avLst>
          </a:prstGeom>
          <a:solidFill>
            <a:srgbClr val="FF9900"/>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14</a:t>
            </a:r>
          </a:p>
        </p:txBody>
      </p:sp>
      <p:sp>
        <p:nvSpPr>
          <p:cNvPr id="12308" name="Cube 15"/>
          <p:cNvSpPr>
            <a:spLocks noChangeArrowheads="1"/>
          </p:cNvSpPr>
          <p:nvPr/>
        </p:nvSpPr>
        <p:spPr bwMode="auto">
          <a:xfrm>
            <a:off x="3460750" y="2636838"/>
            <a:ext cx="334963" cy="381000"/>
          </a:xfrm>
          <a:prstGeom prst="cube">
            <a:avLst>
              <a:gd name="adj" fmla="val 25000"/>
            </a:avLst>
          </a:prstGeom>
          <a:solidFill>
            <a:srgbClr val="CC33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6</a:t>
            </a:r>
          </a:p>
        </p:txBody>
      </p:sp>
      <p:sp>
        <p:nvSpPr>
          <p:cNvPr id="12309" name="TextBox 17"/>
          <p:cNvSpPr txBox="1">
            <a:spLocks noChangeArrowheads="1"/>
          </p:cNvSpPr>
          <p:nvPr/>
        </p:nvSpPr>
        <p:spPr bwMode="auto">
          <a:xfrm rot="16200000">
            <a:off x="3450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10" name="Cube 15"/>
          <p:cNvSpPr>
            <a:spLocks noChangeArrowheads="1"/>
          </p:cNvSpPr>
          <p:nvPr/>
        </p:nvSpPr>
        <p:spPr bwMode="auto">
          <a:xfrm>
            <a:off x="3856038" y="2636838"/>
            <a:ext cx="334962" cy="381000"/>
          </a:xfrm>
          <a:prstGeom prst="cube">
            <a:avLst>
              <a:gd name="adj" fmla="val 25000"/>
            </a:avLst>
          </a:prstGeom>
          <a:solidFill>
            <a:srgbClr val="CC33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2</a:t>
            </a:r>
          </a:p>
        </p:txBody>
      </p:sp>
      <p:sp>
        <p:nvSpPr>
          <p:cNvPr id="12311" name="Cube 15"/>
          <p:cNvSpPr>
            <a:spLocks noChangeArrowheads="1"/>
          </p:cNvSpPr>
          <p:nvPr/>
        </p:nvSpPr>
        <p:spPr bwMode="auto">
          <a:xfrm>
            <a:off x="4222750" y="2636838"/>
            <a:ext cx="334963" cy="381000"/>
          </a:xfrm>
          <a:prstGeom prst="cube">
            <a:avLst>
              <a:gd name="adj" fmla="val 25000"/>
            </a:avLst>
          </a:prstGeom>
          <a:solidFill>
            <a:srgbClr val="CC33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7</a:t>
            </a:r>
          </a:p>
        </p:txBody>
      </p:sp>
      <p:sp>
        <p:nvSpPr>
          <p:cNvPr id="12312" name="Cube 15"/>
          <p:cNvSpPr>
            <a:spLocks noChangeArrowheads="1"/>
          </p:cNvSpPr>
          <p:nvPr/>
        </p:nvSpPr>
        <p:spPr bwMode="auto">
          <a:xfrm>
            <a:off x="4603750" y="2636838"/>
            <a:ext cx="334963" cy="381000"/>
          </a:xfrm>
          <a:prstGeom prst="cube">
            <a:avLst>
              <a:gd name="adj" fmla="val 25000"/>
            </a:avLst>
          </a:prstGeom>
          <a:solidFill>
            <a:srgbClr val="FF66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2</a:t>
            </a:r>
          </a:p>
        </p:txBody>
      </p:sp>
      <p:sp>
        <p:nvSpPr>
          <p:cNvPr id="12313" name="TextBox 17"/>
          <p:cNvSpPr txBox="1">
            <a:spLocks noChangeArrowheads="1"/>
          </p:cNvSpPr>
          <p:nvPr/>
        </p:nvSpPr>
        <p:spPr bwMode="auto">
          <a:xfrm rot="16200000">
            <a:off x="4593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14" name="Cube 15"/>
          <p:cNvSpPr>
            <a:spLocks noChangeArrowheads="1"/>
          </p:cNvSpPr>
          <p:nvPr/>
        </p:nvSpPr>
        <p:spPr bwMode="auto">
          <a:xfrm>
            <a:off x="4984750" y="2636838"/>
            <a:ext cx="334963" cy="381000"/>
          </a:xfrm>
          <a:prstGeom prst="cube">
            <a:avLst>
              <a:gd name="adj" fmla="val 25000"/>
            </a:avLst>
          </a:prstGeom>
          <a:solidFill>
            <a:srgbClr val="FF66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5</a:t>
            </a:r>
          </a:p>
        </p:txBody>
      </p:sp>
      <p:sp>
        <p:nvSpPr>
          <p:cNvPr id="67" name="Cube 15"/>
          <p:cNvSpPr>
            <a:spLocks noChangeArrowheads="1"/>
          </p:cNvSpPr>
          <p:nvPr/>
        </p:nvSpPr>
        <p:spPr bwMode="auto">
          <a:xfrm>
            <a:off x="5365750" y="2636838"/>
            <a:ext cx="334963" cy="381000"/>
          </a:xfrm>
          <a:prstGeom prst="cube">
            <a:avLst>
              <a:gd name="adj" fmla="val 25000"/>
            </a:avLst>
          </a:prstGeom>
          <a:solidFill>
            <a:srgbClr val="FF6600"/>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04</a:t>
            </a:r>
          </a:p>
        </p:txBody>
      </p:sp>
      <p:sp>
        <p:nvSpPr>
          <p:cNvPr id="12316" name="Cube 15"/>
          <p:cNvSpPr>
            <a:spLocks noChangeArrowheads="1"/>
          </p:cNvSpPr>
          <p:nvPr/>
        </p:nvSpPr>
        <p:spPr bwMode="auto">
          <a:xfrm>
            <a:off x="5746750" y="2636838"/>
            <a:ext cx="334963" cy="381000"/>
          </a:xfrm>
          <a:prstGeom prst="cube">
            <a:avLst>
              <a:gd name="adj" fmla="val 25000"/>
            </a:avLst>
          </a:prstGeom>
          <a:solidFill>
            <a:srgbClr val="800000"/>
          </a:solidFill>
          <a:ln w="12700">
            <a:solidFill>
              <a:srgbClr val="8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4</a:t>
            </a:r>
          </a:p>
        </p:txBody>
      </p:sp>
      <p:sp>
        <p:nvSpPr>
          <p:cNvPr id="12317" name="TextBox 17"/>
          <p:cNvSpPr txBox="1">
            <a:spLocks noChangeArrowheads="1"/>
          </p:cNvSpPr>
          <p:nvPr/>
        </p:nvSpPr>
        <p:spPr bwMode="auto">
          <a:xfrm rot="16200000">
            <a:off x="573643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18" name="Cube 15"/>
          <p:cNvSpPr>
            <a:spLocks noChangeArrowheads="1"/>
          </p:cNvSpPr>
          <p:nvPr/>
        </p:nvSpPr>
        <p:spPr bwMode="auto">
          <a:xfrm>
            <a:off x="6127750" y="2636838"/>
            <a:ext cx="334963" cy="381000"/>
          </a:xfrm>
          <a:prstGeom prst="cube">
            <a:avLst>
              <a:gd name="adj" fmla="val 25000"/>
            </a:avLst>
          </a:prstGeom>
          <a:solidFill>
            <a:srgbClr val="800000"/>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1</a:t>
            </a:r>
          </a:p>
        </p:txBody>
      </p:sp>
      <p:sp>
        <p:nvSpPr>
          <p:cNvPr id="71" name="Cube 15"/>
          <p:cNvSpPr>
            <a:spLocks noChangeArrowheads="1"/>
          </p:cNvSpPr>
          <p:nvPr/>
        </p:nvSpPr>
        <p:spPr bwMode="auto">
          <a:xfrm>
            <a:off x="6477000" y="2636838"/>
            <a:ext cx="334963" cy="381000"/>
          </a:xfrm>
          <a:prstGeom prst="cube">
            <a:avLst>
              <a:gd name="adj" fmla="val 25000"/>
            </a:avLst>
          </a:prstGeom>
          <a:solidFill>
            <a:srgbClr val="800000"/>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84</a:t>
            </a:r>
          </a:p>
        </p:txBody>
      </p:sp>
      <p:sp>
        <p:nvSpPr>
          <p:cNvPr id="12320" name="Cube 15"/>
          <p:cNvSpPr>
            <a:spLocks noChangeArrowheads="1"/>
          </p:cNvSpPr>
          <p:nvPr/>
        </p:nvSpPr>
        <p:spPr bwMode="auto">
          <a:xfrm>
            <a:off x="8001000" y="2636838"/>
            <a:ext cx="334963" cy="381000"/>
          </a:xfrm>
          <a:prstGeom prst="cube">
            <a:avLst>
              <a:gd name="adj" fmla="val 25000"/>
            </a:avLst>
          </a:prstGeom>
          <a:solidFill>
            <a:srgbClr val="7F7F7F"/>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2</a:t>
            </a:r>
          </a:p>
        </p:txBody>
      </p:sp>
      <p:sp>
        <p:nvSpPr>
          <p:cNvPr id="12321" name="TextBox 17"/>
          <p:cNvSpPr txBox="1">
            <a:spLocks noChangeArrowheads="1"/>
          </p:cNvSpPr>
          <p:nvPr/>
        </p:nvSpPr>
        <p:spPr bwMode="auto">
          <a:xfrm rot="16200000">
            <a:off x="799068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22" name="Cube 15"/>
          <p:cNvSpPr>
            <a:spLocks noChangeArrowheads="1"/>
          </p:cNvSpPr>
          <p:nvPr/>
        </p:nvSpPr>
        <p:spPr bwMode="auto">
          <a:xfrm>
            <a:off x="8382000" y="2636838"/>
            <a:ext cx="334963" cy="381000"/>
          </a:xfrm>
          <a:prstGeom prst="cube">
            <a:avLst>
              <a:gd name="adj" fmla="val 25000"/>
            </a:avLst>
          </a:prstGeom>
          <a:solidFill>
            <a:srgbClr val="7F7F7F"/>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3</a:t>
            </a:r>
          </a:p>
        </p:txBody>
      </p:sp>
      <p:sp>
        <p:nvSpPr>
          <p:cNvPr id="75" name="Cube 15"/>
          <p:cNvSpPr>
            <a:spLocks noChangeArrowheads="1"/>
          </p:cNvSpPr>
          <p:nvPr/>
        </p:nvSpPr>
        <p:spPr bwMode="auto">
          <a:xfrm>
            <a:off x="8763000" y="2636838"/>
            <a:ext cx="334963" cy="381000"/>
          </a:xfrm>
          <a:prstGeom prst="cube">
            <a:avLst>
              <a:gd name="adj" fmla="val 25000"/>
            </a:avLst>
          </a:prstGeom>
          <a:solidFill>
            <a:srgbClr val="7F7F7F"/>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94</a:t>
            </a:r>
          </a:p>
        </p:txBody>
      </p:sp>
      <p:sp>
        <p:nvSpPr>
          <p:cNvPr id="12324" name="Cube 15"/>
          <p:cNvSpPr>
            <a:spLocks noChangeArrowheads="1"/>
          </p:cNvSpPr>
          <p:nvPr/>
        </p:nvSpPr>
        <p:spPr bwMode="auto">
          <a:xfrm>
            <a:off x="6858000" y="2636838"/>
            <a:ext cx="334963" cy="381000"/>
          </a:xfrm>
          <a:prstGeom prst="cube">
            <a:avLst>
              <a:gd name="adj" fmla="val 25000"/>
            </a:avLst>
          </a:prstGeom>
          <a:solidFill>
            <a:srgbClr val="660066"/>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6</a:t>
            </a:r>
          </a:p>
        </p:txBody>
      </p:sp>
      <p:sp>
        <p:nvSpPr>
          <p:cNvPr id="12325" name="TextBox 17"/>
          <p:cNvSpPr txBox="1">
            <a:spLocks noChangeArrowheads="1"/>
          </p:cNvSpPr>
          <p:nvPr/>
        </p:nvSpPr>
        <p:spPr bwMode="auto">
          <a:xfrm rot="16200000">
            <a:off x="6847681" y="2504282"/>
            <a:ext cx="674687"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en-US" altLang="zh-CN" sz="10000">
                <a:latin typeface="Eurostile" charset="0"/>
              </a:rPr>
              <a:t>{</a:t>
            </a:r>
          </a:p>
        </p:txBody>
      </p:sp>
      <p:sp>
        <p:nvSpPr>
          <p:cNvPr id="12326" name="Cube 15"/>
          <p:cNvSpPr>
            <a:spLocks noChangeArrowheads="1"/>
          </p:cNvSpPr>
          <p:nvPr/>
        </p:nvSpPr>
        <p:spPr bwMode="auto">
          <a:xfrm>
            <a:off x="7239000" y="2636838"/>
            <a:ext cx="334963" cy="381000"/>
          </a:xfrm>
          <a:prstGeom prst="cube">
            <a:avLst>
              <a:gd name="adj" fmla="val 25000"/>
            </a:avLst>
          </a:prstGeom>
          <a:solidFill>
            <a:srgbClr val="660066"/>
          </a:solidFill>
          <a:ln w="12700">
            <a:solidFill>
              <a:srgbClr val="000000"/>
            </a:solidFill>
            <a:round/>
            <a:headEnd type="none" w="sm" len="sm"/>
            <a:tailEnd type="none" w="sm" len="sm"/>
          </a:ln>
        </p:spPr>
        <p:txBody>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lvl="0">
              <a:spcBef>
                <a:spcPct val="0"/>
              </a:spcBef>
              <a:buClrTx/>
              <a:buSzTx/>
              <a:buNone/>
            </a:pPr>
            <a:r>
              <a:rPr kumimoji="0" lang="en-US" altLang="zh-CN" sz="1400">
                <a:solidFill>
                  <a:srgbClr val="FFFFFF"/>
                </a:solidFill>
                <a:latin typeface="Tahoma" panose="020B0604030504040204" pitchFamily="34" charset="0"/>
              </a:rPr>
              <a:t>5</a:t>
            </a:r>
          </a:p>
        </p:txBody>
      </p:sp>
      <p:sp>
        <p:nvSpPr>
          <p:cNvPr id="79" name="Cube 15"/>
          <p:cNvSpPr>
            <a:spLocks noChangeArrowheads="1"/>
          </p:cNvSpPr>
          <p:nvPr/>
        </p:nvSpPr>
        <p:spPr bwMode="auto">
          <a:xfrm>
            <a:off x="7620000" y="2636838"/>
            <a:ext cx="334963" cy="381000"/>
          </a:xfrm>
          <a:prstGeom prst="cube">
            <a:avLst>
              <a:gd name="adj" fmla="val 25000"/>
            </a:avLst>
          </a:prstGeom>
          <a:solidFill>
            <a:srgbClr val="660066"/>
          </a:solidFill>
          <a:ln w="12700">
            <a:solidFill>
              <a:srgbClr val="000000"/>
            </a:solidFill>
            <a:round/>
            <a:headEnd type="none" w="sm" len="sm"/>
            <a:tailEnd type="none" w="sm" len="sm"/>
          </a:ln>
        </p:spPr>
        <p:txBody>
          <a:bodyPr/>
          <a:lstStyle/>
          <a:p>
            <a:pPr lvl="0" fontAlgn="auto">
              <a:spcBef>
                <a:spcPts val="0"/>
              </a:spcBef>
              <a:spcAft>
                <a:spcPts val="0"/>
              </a:spcAft>
              <a:defRPr/>
            </a:pPr>
            <a:r>
              <a:rPr kumimoji="0" lang="en-US" altLang="zh-CN" sz="1400" kern="0">
                <a:solidFill>
                  <a:srgbClr val="FFFFFF"/>
                </a:solidFill>
              </a:rPr>
              <a:t>14</a:t>
            </a:r>
          </a:p>
        </p:txBody>
      </p:sp>
      <p:sp>
        <p:nvSpPr>
          <p:cNvPr id="80" name="TextBox 23"/>
          <p:cNvSpPr txBox="1">
            <a:spLocks noChangeArrowheads="1"/>
          </p:cNvSpPr>
          <p:nvPr/>
        </p:nvSpPr>
        <p:spPr bwMode="auto">
          <a:xfrm>
            <a:off x="4956175"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FF6600"/>
                </a:solidFill>
              </a:rPr>
              <a:t>t4</a:t>
            </a:r>
          </a:p>
        </p:txBody>
      </p:sp>
      <p:sp>
        <p:nvSpPr>
          <p:cNvPr id="81" name="TextBox 23"/>
          <p:cNvSpPr txBox="1">
            <a:spLocks noChangeArrowheads="1"/>
          </p:cNvSpPr>
          <p:nvPr/>
        </p:nvSpPr>
        <p:spPr bwMode="auto">
          <a:xfrm>
            <a:off x="6099175"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800000"/>
                </a:solidFill>
              </a:rPr>
              <a:t>t5</a:t>
            </a:r>
          </a:p>
        </p:txBody>
      </p:sp>
      <p:sp>
        <p:nvSpPr>
          <p:cNvPr id="82" name="TextBox 23"/>
          <p:cNvSpPr txBox="1">
            <a:spLocks noChangeArrowheads="1"/>
          </p:cNvSpPr>
          <p:nvPr/>
        </p:nvSpPr>
        <p:spPr bwMode="auto">
          <a:xfrm>
            <a:off x="7242175"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800000"/>
                </a:solidFill>
              </a:rPr>
              <a:t>t6</a:t>
            </a:r>
          </a:p>
        </p:txBody>
      </p:sp>
      <p:sp>
        <p:nvSpPr>
          <p:cNvPr id="83" name="TextBox 23"/>
          <p:cNvSpPr txBox="1">
            <a:spLocks noChangeArrowheads="1"/>
          </p:cNvSpPr>
          <p:nvPr/>
        </p:nvSpPr>
        <p:spPr bwMode="auto">
          <a:xfrm>
            <a:off x="8305800" y="3551238"/>
            <a:ext cx="377825" cy="369887"/>
          </a:xfrm>
          <a:prstGeom prst="rect">
            <a:avLst/>
          </a:prstGeom>
          <a:noFill/>
          <a:ln w="9525">
            <a:noFill/>
            <a:miter lim="800000"/>
          </a:ln>
        </p:spPr>
        <p:txBody>
          <a:bodyPr wrap="none">
            <a:spAutoFit/>
          </a:bodyPr>
          <a:lstStyle/>
          <a:p>
            <a:pPr fontAlgn="auto">
              <a:spcBef>
                <a:spcPts val="0"/>
              </a:spcBef>
              <a:spcAft>
                <a:spcPts val="0"/>
              </a:spcAft>
              <a:defRPr/>
            </a:pPr>
            <a:r>
              <a:rPr kumimoji="0" lang="en-US" altLang="zh-CN" sz="1800" kern="0">
                <a:solidFill>
                  <a:srgbClr val="7F7F7F"/>
                </a:solidFill>
              </a:rPr>
              <a:t>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a:t>发生了什么？</a:t>
            </a:r>
          </a:p>
        </p:txBody>
      </p:sp>
      <p:sp>
        <p:nvSpPr>
          <p:cNvPr id="13315" name="Rectangle 3"/>
          <p:cNvSpPr>
            <a:spLocks noGrp="1" noChangeArrowheads="1"/>
          </p:cNvSpPr>
          <p:nvPr>
            <p:ph type="body" idx="1"/>
          </p:nvPr>
        </p:nvSpPr>
        <p:spPr>
          <a:xfrm>
            <a:off x="838200" y="1371600"/>
            <a:ext cx="8116888" cy="4876800"/>
          </a:xfrm>
        </p:spPr>
        <p:txBody>
          <a:bodyPr/>
          <a:lstStyle/>
          <a:p>
            <a:pPr eaLnBrk="1" hangingPunct="1"/>
            <a:r>
              <a:rPr lang="zh-CN" altLang="en-US" sz="2800"/>
              <a:t>循环步之间的求和运算存在依赖</a:t>
            </a:r>
            <a:r>
              <a:rPr lang="en-US" altLang="zh-CN" sz="2800">
                <a:sym typeface="Wingdings" panose="05000000000000000000" pitchFamily="2" charset="2"/>
              </a:rPr>
              <a:t></a:t>
            </a:r>
            <a:br>
              <a:rPr lang="en-US" altLang="zh-CN" sz="2800">
                <a:sym typeface="Wingdings" panose="05000000000000000000" pitchFamily="2" charset="2"/>
              </a:rPr>
            </a:br>
            <a:r>
              <a:rPr lang="zh-CN" altLang="en-US" sz="2800">
                <a:sym typeface="Wingdings" panose="05000000000000000000" pitchFamily="2" charset="2"/>
              </a:rPr>
              <a:t>线程间依赖</a:t>
            </a:r>
            <a:endParaRPr lang="en-US" altLang="zh-CN" sz="2800">
              <a:sym typeface="Wingdings" panose="05000000000000000000" pitchFamily="2" charset="2"/>
            </a:endParaRPr>
          </a:p>
          <a:p>
            <a:pPr lvl="1" eaLnBrk="1" hangingPunct="1"/>
            <a:r>
              <a:rPr lang="zh-CN" altLang="en-US" sz="2400">
                <a:sym typeface="Wingdings" panose="05000000000000000000" pitchFamily="2" charset="2"/>
              </a:rPr>
              <a:t>但可以重排顺序，因为加法运算满足结合律</a:t>
            </a:r>
            <a:endParaRPr lang="en-US" altLang="zh-CN" sz="2400">
              <a:sym typeface="Wingdings" panose="05000000000000000000" pitchFamily="2" charset="2"/>
            </a:endParaRPr>
          </a:p>
          <a:p>
            <a:pPr eaLnBrk="1" hangingPunct="1"/>
            <a:r>
              <a:rPr lang="zh-CN" altLang="en-US" sz="2800">
                <a:sym typeface="Wingdings" panose="05000000000000000000" pitchFamily="2" charset="2"/>
              </a:rPr>
              <a:t>取数</a:t>
            </a:r>
            <a:r>
              <a:rPr lang="en-US" altLang="zh-CN" sz="2800">
                <a:sym typeface="Wingdings" panose="05000000000000000000" pitchFamily="2" charset="2"/>
              </a:rPr>
              <a:t>-</a:t>
            </a:r>
            <a:r>
              <a:rPr lang="zh-CN" altLang="en-US" sz="2800">
                <a:sym typeface="Wingdings" panose="05000000000000000000" pitchFamily="2" charset="2"/>
              </a:rPr>
              <a:t>加法</a:t>
            </a:r>
            <a:r>
              <a:rPr lang="en-US" altLang="zh-CN" sz="2800">
                <a:sym typeface="Wingdings" panose="05000000000000000000" pitchFamily="2" charset="2"/>
              </a:rPr>
              <a:t>-</a:t>
            </a:r>
            <a:r>
              <a:rPr lang="zh-CN" altLang="en-US" sz="2800">
                <a:sym typeface="Wingdings" panose="05000000000000000000" pitchFamily="2" charset="2"/>
              </a:rPr>
              <a:t>存结果必须是</a:t>
            </a:r>
            <a:r>
              <a:rPr lang="zh-CN" altLang="en-US" sz="2800">
                <a:solidFill>
                  <a:srgbClr val="FF0000"/>
                </a:solidFill>
                <a:latin typeface="黑体" panose="02010609060101010101" pitchFamily="49" charset="-122"/>
                <a:ea typeface="黑体" panose="02010609060101010101" pitchFamily="49" charset="-122"/>
                <a:sym typeface="Wingdings" panose="05000000000000000000" pitchFamily="2" charset="2"/>
              </a:rPr>
              <a:t>原子</a:t>
            </a:r>
            <a:r>
              <a:rPr lang="zh-CN" altLang="en-US" sz="2800">
                <a:sym typeface="Wingdings" panose="05000000000000000000" pitchFamily="2" charset="2"/>
              </a:rPr>
              <a:t>操作，以保持结果与串行执行一致</a:t>
            </a:r>
            <a:endParaRPr lang="en-US" altLang="zh-CN" sz="2800">
              <a:sym typeface="Wingdings" panose="05000000000000000000" pitchFamily="2" charset="2"/>
            </a:endParaRPr>
          </a:p>
          <a:p>
            <a:pPr eaLnBrk="1" hangingPunct="1"/>
            <a:r>
              <a:rPr lang="zh-CN" altLang="en-US" sz="2800">
                <a:sym typeface="Wingdings" panose="05000000000000000000" pitchFamily="2" charset="2"/>
              </a:rPr>
              <a:t>定义</a:t>
            </a:r>
            <a:endParaRPr lang="en-US" altLang="zh-CN" sz="2800">
              <a:sym typeface="Wingdings" panose="05000000000000000000" pitchFamily="2" charset="2"/>
            </a:endParaRPr>
          </a:p>
          <a:p>
            <a:pPr lvl="1" eaLnBrk="1" hangingPunct="1"/>
            <a:r>
              <a:rPr lang="zh-CN" altLang="en-US" sz="2400">
                <a:sym typeface="Wingdings" panose="05000000000000000000" pitchFamily="2" charset="2"/>
              </a:rPr>
              <a:t>原子性（</a:t>
            </a:r>
            <a:r>
              <a:rPr lang="en-US" altLang="zh-CN" sz="2400">
                <a:sym typeface="Wingdings" panose="05000000000000000000" pitchFamily="2" charset="2"/>
              </a:rPr>
              <a:t>atomicity</a:t>
            </a:r>
            <a:r>
              <a:rPr lang="zh-CN" altLang="en-US" sz="2400">
                <a:sym typeface="Wingdings" panose="05000000000000000000" pitchFamily="2" charset="2"/>
              </a:rPr>
              <a:t>）：一组操作要么</a:t>
            </a:r>
            <a:r>
              <a:rPr lang="zh-CN" altLang="en-US" sz="2400">
                <a:solidFill>
                  <a:srgbClr val="FF0000"/>
                </a:solidFill>
                <a:sym typeface="Wingdings" panose="05000000000000000000" pitchFamily="2" charset="2"/>
              </a:rPr>
              <a:t>全部</a:t>
            </a:r>
            <a:r>
              <a:rPr lang="zh-CN" altLang="en-US" sz="2400">
                <a:sym typeface="Wingdings" panose="05000000000000000000" pitchFamily="2" charset="2"/>
              </a:rPr>
              <a:t>执行要么</a:t>
            </a:r>
            <a:r>
              <a:rPr lang="zh-CN" altLang="en-US" sz="2400">
                <a:solidFill>
                  <a:srgbClr val="FF0000"/>
                </a:solidFill>
                <a:sym typeface="Wingdings" panose="05000000000000000000" pitchFamily="2" charset="2"/>
              </a:rPr>
              <a:t>全不</a:t>
            </a:r>
            <a:r>
              <a:rPr lang="zh-CN" altLang="en-US" sz="2400">
                <a:sym typeface="Wingdings" panose="05000000000000000000" pitchFamily="2" charset="2"/>
              </a:rPr>
              <a:t>执行，则称其是原子的。即，不会得到部分执行的结果。</a:t>
            </a:r>
            <a:endParaRPr lang="en-US" altLang="zh-CN" sz="2400">
              <a:sym typeface="Wingdings" panose="05000000000000000000" pitchFamily="2" charset="2"/>
            </a:endParaRPr>
          </a:p>
          <a:p>
            <a:pPr lvl="1" eaLnBrk="1" hangingPunct="1"/>
            <a:r>
              <a:rPr lang="zh-CN" altLang="en-US" sz="2400">
                <a:sym typeface="Wingdings" panose="05000000000000000000" pitchFamily="2" charset="2"/>
              </a:rPr>
              <a:t>互斥（</a:t>
            </a:r>
            <a:r>
              <a:rPr lang="en-US" altLang="zh-CN" sz="2400">
                <a:sym typeface="Wingdings" panose="05000000000000000000" pitchFamily="2" charset="2"/>
              </a:rPr>
              <a:t>mutual exclusion</a:t>
            </a:r>
            <a:r>
              <a:rPr lang="zh-CN" altLang="en-US" sz="2400">
                <a:sym typeface="Wingdings" panose="05000000000000000000" pitchFamily="2" charset="2"/>
              </a:rPr>
              <a:t>）：任何时刻都只有一个线程在执行</a:t>
            </a:r>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a:t>版本</a:t>
            </a:r>
            <a:r>
              <a:rPr lang="en-US" altLang="zh-CN"/>
              <a:t>2</a:t>
            </a:r>
            <a:r>
              <a:rPr lang="zh-CN" altLang="en-US"/>
              <a:t>：加锁</a:t>
            </a:r>
          </a:p>
        </p:txBody>
      </p:sp>
      <p:sp>
        <p:nvSpPr>
          <p:cNvPr id="15363" name="Rectangle 3"/>
          <p:cNvSpPr>
            <a:spLocks noGrp="1" noChangeArrowheads="1"/>
          </p:cNvSpPr>
          <p:nvPr>
            <p:ph type="body" idx="1"/>
          </p:nvPr>
        </p:nvSpPr>
        <p:spPr/>
        <p:txBody>
          <a:bodyPr/>
          <a:lstStyle/>
          <a:p>
            <a:pPr eaLnBrk="1" hangingPunct="1">
              <a:buFont typeface="Wingdings" panose="05000000000000000000" pitchFamily="2" charset="2"/>
              <a:buChar char="m"/>
              <a:defRPr/>
            </a:pPr>
            <a:r>
              <a:rPr lang="zh-CN" altLang="en-US" dirty="0"/>
              <a:t>插入互斥（</a:t>
            </a:r>
            <a:r>
              <a:rPr lang="en-US" altLang="zh-CN" dirty="0" err="1"/>
              <a:t>mutex</a:t>
            </a:r>
            <a:r>
              <a:rPr lang="zh-CN" altLang="en-US" dirty="0"/>
              <a:t>），保证任何时刻只有一个线程读数</a:t>
            </a:r>
            <a:r>
              <a:rPr lang="en-US" altLang="zh-CN" dirty="0"/>
              <a:t>-</a:t>
            </a:r>
            <a:r>
              <a:rPr lang="zh-CN" altLang="en-US" dirty="0"/>
              <a:t>加法</a:t>
            </a:r>
            <a:r>
              <a:rPr lang="en-US" altLang="zh-CN" dirty="0"/>
              <a:t>-</a:t>
            </a:r>
            <a:r>
              <a:rPr lang="zh-CN" altLang="en-US" dirty="0"/>
              <a:t>存结果</a:t>
            </a:r>
            <a:r>
              <a:rPr lang="en-US" altLang="zh-CN" dirty="0"/>
              <a:t>——</a:t>
            </a:r>
            <a:r>
              <a:rPr lang="zh-CN" altLang="en-US" dirty="0"/>
              <a:t>原子操作</a:t>
            </a:r>
            <a:endParaRPr lang="en-US" altLang="zh-CN" dirty="0"/>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 n/t;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mutex</a:t>
            </a:r>
            <a:r>
              <a:rPr lang="en-US" altLang="zh-CN" sz="2000" kern="100" dirty="0">
                <a:solidFill>
                  <a:srgbClr val="0000FF"/>
                </a:solidFill>
                <a:latin typeface="Arial" panose="020B0604020202020204" pitchFamily="34" charset="0"/>
              </a:rPr>
              <a:t> m;</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start = id *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=start;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a:t>
            </a:r>
            <a:r>
              <a:rPr lang="en-US" altLang="zh-CN" sz="2000" kern="100" dirty="0" err="1">
                <a:solidFill>
                  <a:srgbClr val="0000FF"/>
                </a:solidFill>
                <a:latin typeface="Arial" panose="020B0604020202020204" pitchFamily="34" charset="0"/>
              </a:rPr>
              <a:t>start+block_length_per_thread</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 = </a:t>
            </a:r>
            <a:r>
              <a:rPr lang="en-US" altLang="zh-CN" sz="2000" kern="100" dirty="0" err="1">
                <a:solidFill>
                  <a:srgbClr val="0000FF"/>
                </a:solidFill>
                <a:latin typeface="Arial" panose="020B0604020202020204" pitchFamily="34" charset="0"/>
              </a:rPr>
              <a:t>Compute_next_value</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mutex_lock</a:t>
            </a:r>
            <a:r>
              <a:rPr lang="en-US" altLang="zh-CN" sz="2000" kern="100" dirty="0">
                <a:solidFill>
                  <a:srgbClr val="0000FF"/>
                </a:solidFill>
                <a:latin typeface="Arial" panose="020B0604020202020204" pitchFamily="34" charset="0"/>
              </a:rPr>
              <a:t>(m);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sum +=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mutex_unlock</a:t>
            </a:r>
            <a:r>
              <a:rPr lang="en-US" altLang="zh-CN" sz="2000" kern="100" dirty="0">
                <a:solidFill>
                  <a:srgbClr val="0000FF"/>
                </a:solidFill>
                <a:latin typeface="Arial" panose="020B0604020202020204" pitchFamily="34" charset="0"/>
              </a:rPr>
              <a:t>(m);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endParaRPr lang="zh-CN" altLang="zh-CN" dirty="0"/>
          </a:p>
        </p:txBody>
      </p:sp>
      <p:sp>
        <p:nvSpPr>
          <p:cNvPr id="5" name="TextBox 8"/>
          <p:cNvSpPr txBox="1">
            <a:spLocks noChangeArrowheads="1"/>
          </p:cNvSpPr>
          <p:nvPr/>
        </p:nvSpPr>
        <p:spPr bwMode="auto">
          <a:xfrm>
            <a:off x="1198563" y="5703341"/>
            <a:ext cx="3587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dirty="0">
                <a:solidFill>
                  <a:srgbClr val="333399"/>
                </a:solidFill>
                <a:latin typeface="Comic Sans MS" panose="030F0702030302020204" pitchFamily="66" charset="0"/>
              </a:rPr>
              <a:t>已是正确的。但够好吗？</a:t>
            </a:r>
            <a:endParaRPr lang="en-US" altLang="zh-CN" sz="2400" b="1" dirty="0">
              <a:solidFill>
                <a:srgbClr val="333399"/>
              </a:solidFill>
              <a:latin typeface="Comic Sans MS" panose="030F0702030302020204" pitchFamily="66" charset="0"/>
            </a:endParaRPr>
          </a:p>
        </p:txBody>
      </p:sp>
      <p:sp>
        <p:nvSpPr>
          <p:cNvPr id="6" name="TextBox 8">
            <a:extLst>
              <a:ext uri="{FF2B5EF4-FFF2-40B4-BE49-F238E27FC236}">
                <a16:creationId xmlns:a16="http://schemas.microsoft.com/office/drawing/2014/main" id="{69E3F44C-A9D5-4C5B-9323-F5E6EACD3BDD}"/>
              </a:ext>
            </a:extLst>
          </p:cNvPr>
          <p:cNvSpPr txBox="1">
            <a:spLocks noChangeArrowheads="1"/>
          </p:cNvSpPr>
          <p:nvPr/>
        </p:nvSpPr>
        <p:spPr bwMode="auto">
          <a:xfrm>
            <a:off x="1182688" y="6207397"/>
            <a:ext cx="81067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dirty="0">
                <a:solidFill>
                  <a:srgbClr val="FF0000"/>
                </a:solidFill>
                <a:latin typeface="Comic Sans MS" panose="030F0702030302020204" pitchFamily="66" charset="0"/>
              </a:rPr>
              <a:t>“重新串行化”，加解锁次数</a:t>
            </a:r>
            <a:r>
              <a:rPr lang="en-US" altLang="zh-CN" sz="2400" b="1" dirty="0">
                <a:solidFill>
                  <a:srgbClr val="FF0000"/>
                </a:solidFill>
                <a:latin typeface="Comic Sans MS" panose="030F0702030302020204" pitchFamily="66" charset="0"/>
              </a:rPr>
              <a:t>=</a:t>
            </a:r>
            <a:r>
              <a:rPr lang="zh-CN" altLang="en-US" sz="2400" b="1" dirty="0">
                <a:solidFill>
                  <a:srgbClr val="FF0000"/>
                </a:solidFill>
                <a:latin typeface="Comic Sans MS" panose="030F0702030302020204" pitchFamily="66" charset="0"/>
              </a:rPr>
              <a:t>加法次数，比串行算法差！</a:t>
            </a:r>
            <a:endParaRPr lang="en-US" altLang="zh-CN" sz="2400" b="1" dirty="0">
              <a:solidFill>
                <a:srgbClr val="FF0000"/>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a:t>版本</a:t>
            </a:r>
            <a:r>
              <a:rPr lang="en-US" altLang="zh-CN"/>
              <a:t>3</a:t>
            </a:r>
            <a:r>
              <a:rPr lang="zh-CN" altLang="en-US"/>
              <a:t>：粗粒度</a:t>
            </a:r>
            <a:endParaRPr lang="zh-CN" altLang="zh-CN"/>
          </a:p>
        </p:txBody>
      </p:sp>
      <p:sp>
        <p:nvSpPr>
          <p:cNvPr id="16387" name="Rectangle 3"/>
          <p:cNvSpPr>
            <a:spLocks noGrp="1" noChangeArrowheads="1"/>
          </p:cNvSpPr>
          <p:nvPr>
            <p:ph type="body" idx="1"/>
          </p:nvPr>
        </p:nvSpPr>
        <p:spPr/>
        <p:txBody>
          <a:bodyPr/>
          <a:lstStyle/>
          <a:p>
            <a:pPr eaLnBrk="1" hangingPunct="1">
              <a:buFont typeface="Wingdings" panose="05000000000000000000" pitchFamily="2" charset="2"/>
              <a:buChar char="m"/>
              <a:defRPr/>
            </a:pPr>
            <a:r>
              <a:rPr lang="zh-CN" altLang="en-US" dirty="0"/>
              <a:t>局部求和，局部结果加到全局和才加锁</a:t>
            </a:r>
            <a:endParaRPr lang="en-US" altLang="zh-CN" dirty="0"/>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 n/t;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mutex</a:t>
            </a:r>
            <a:r>
              <a:rPr lang="en-US" altLang="zh-CN" sz="2000" kern="100" dirty="0">
                <a:solidFill>
                  <a:srgbClr val="0000FF"/>
                </a:solidFill>
                <a:latin typeface="Arial" panose="020B0604020202020204" pitchFamily="34" charset="0"/>
              </a:rPr>
              <a:t> m;</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start = id *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=start;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a:t>
            </a:r>
            <a:r>
              <a:rPr lang="en-US" altLang="zh-CN" sz="2000" kern="100" dirty="0" err="1">
                <a:solidFill>
                  <a:srgbClr val="0000FF"/>
                </a:solidFill>
                <a:latin typeface="Arial" panose="020B0604020202020204" pitchFamily="34" charset="0"/>
              </a:rPr>
              <a:t>start+block_length_per_thread</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 = </a:t>
            </a:r>
            <a:r>
              <a:rPr lang="en-US" altLang="zh-CN" sz="2000" kern="100" dirty="0" err="1">
                <a:solidFill>
                  <a:srgbClr val="0000FF"/>
                </a:solidFill>
                <a:latin typeface="Arial" panose="020B0604020202020204" pitchFamily="34" charset="0"/>
              </a:rPr>
              <a:t>Compute_next_value</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 +=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mutex_lock</a:t>
            </a:r>
            <a:r>
              <a:rPr lang="en-US" altLang="zh-CN" sz="2000" kern="100" dirty="0">
                <a:solidFill>
                  <a:srgbClr val="0000FF"/>
                </a:solidFill>
                <a:latin typeface="Arial" panose="020B0604020202020204" pitchFamily="34" charset="0"/>
              </a:rPr>
              <a:t>(m);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sum +=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mutex_unlock</a:t>
            </a:r>
            <a:r>
              <a:rPr lang="en-US" altLang="zh-CN" sz="2000" kern="100" dirty="0">
                <a:solidFill>
                  <a:srgbClr val="0000FF"/>
                </a:solidFill>
                <a:latin typeface="Arial" panose="020B0604020202020204" pitchFamily="34" charset="0"/>
              </a:rPr>
              <a:t>(m);     </a:t>
            </a:r>
            <a:endParaRPr lang="zh-CN" altLang="zh-CN"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a:t>版本</a:t>
            </a:r>
            <a:r>
              <a:rPr lang="en-US" altLang="zh-CN"/>
              <a:t>4</a:t>
            </a:r>
            <a:r>
              <a:rPr lang="zh-CN" altLang="en-US"/>
              <a:t>：消除锁</a:t>
            </a:r>
          </a:p>
        </p:txBody>
      </p:sp>
      <p:sp>
        <p:nvSpPr>
          <p:cNvPr id="17411" name="Rectangle 3"/>
          <p:cNvSpPr>
            <a:spLocks noGrp="1" noChangeArrowheads="1"/>
          </p:cNvSpPr>
          <p:nvPr>
            <p:ph type="body" idx="1"/>
          </p:nvPr>
        </p:nvSpPr>
        <p:spPr/>
        <p:txBody>
          <a:bodyPr/>
          <a:lstStyle/>
          <a:p>
            <a:pPr eaLnBrk="1" hangingPunct="1">
              <a:buFont typeface="Wingdings" panose="05000000000000000000" pitchFamily="2" charset="2"/>
              <a:buChar char="m"/>
              <a:defRPr/>
            </a:pPr>
            <a:r>
              <a:rPr lang="zh-CN" altLang="en-US" dirty="0"/>
              <a:t>“主”线程完成部分和相加</a:t>
            </a:r>
            <a:endParaRPr lang="en-US" altLang="zh-CN" dirty="0"/>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 n/t;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shared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start = id *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=start;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a:t>
            </a:r>
            <a:r>
              <a:rPr lang="en-US" altLang="zh-CN" sz="2000" kern="100" dirty="0" err="1">
                <a:solidFill>
                  <a:srgbClr val="0000FF"/>
                </a:solidFill>
                <a:latin typeface="Arial" panose="020B0604020202020204" pitchFamily="34" charset="0"/>
              </a:rPr>
              <a:t>start+block_length_per_thread</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 = </a:t>
            </a:r>
            <a:r>
              <a:rPr lang="en-US" altLang="zh-CN" sz="2000" kern="100" dirty="0" err="1">
                <a:solidFill>
                  <a:srgbClr val="0000FF"/>
                </a:solidFill>
                <a:latin typeface="Arial" panose="020B0604020202020204" pitchFamily="34" charset="0"/>
              </a:rPr>
              <a:t>Compute_next_value</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[id] +=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if (id == 0) {		// </a:t>
            </a:r>
            <a:r>
              <a:rPr lang="zh-CN" altLang="en-US" sz="2000" kern="100" dirty="0">
                <a:solidFill>
                  <a:srgbClr val="0000FF"/>
                </a:solidFill>
                <a:latin typeface="Arial" panose="020B0604020202020204" pitchFamily="34" charset="0"/>
              </a:rPr>
              <a:t>主线程负责全局求和</a:t>
            </a:r>
            <a:endParaRPr lang="en-US" altLang="zh-CN" sz="2000" kern="100" dirty="0">
              <a:solidFill>
                <a:srgbClr val="0000FF"/>
              </a:solidFill>
              <a:latin typeface="Arial" panose="020B0604020202020204" pitchFamily="34" charset="0"/>
            </a:endParaRP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sum =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[0];</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=1;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sum +=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endParaRPr lang="zh-CN" altLang="zh-CN" dirty="0"/>
          </a:p>
        </p:txBody>
      </p:sp>
      <p:sp>
        <p:nvSpPr>
          <p:cNvPr id="7" name="TextBox 8"/>
          <p:cNvSpPr txBox="1">
            <a:spLocks noChangeArrowheads="1"/>
          </p:cNvSpPr>
          <p:nvPr/>
        </p:nvSpPr>
        <p:spPr bwMode="auto">
          <a:xfrm>
            <a:off x="5795963" y="5013325"/>
            <a:ext cx="2646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333399"/>
                </a:solidFill>
                <a:latin typeface="Comic Sans MS" panose="030F0702030302020204" pitchFamily="66" charset="0"/>
              </a:rPr>
              <a:t>正确吗？为什么？</a:t>
            </a:r>
            <a:endParaRPr lang="en-US" altLang="zh-CN" sz="2400" b="1">
              <a:solidFill>
                <a:srgbClr val="333399"/>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1">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1">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a:t>同步方法：障碍</a:t>
            </a:r>
          </a:p>
        </p:txBody>
      </p:sp>
      <p:sp>
        <p:nvSpPr>
          <p:cNvPr id="15363" name="Rectangle 3"/>
          <p:cNvSpPr>
            <a:spLocks noGrp="1" noChangeArrowheads="1"/>
          </p:cNvSpPr>
          <p:nvPr>
            <p:ph type="body" idx="1"/>
          </p:nvPr>
        </p:nvSpPr>
        <p:spPr>
          <a:xfrm>
            <a:off x="1182688" y="1371600"/>
            <a:ext cx="7772400" cy="4953000"/>
          </a:xfrm>
        </p:spPr>
        <p:txBody>
          <a:bodyPr/>
          <a:lstStyle/>
          <a:p>
            <a:pPr eaLnBrk="1" hangingPunct="1">
              <a:buFont typeface="Wingdings" panose="05000000000000000000" pitchFamily="2" charset="2"/>
              <a:buChar char="m"/>
              <a:defRPr/>
            </a:pPr>
            <a:r>
              <a:rPr lang="zh-CN" altLang="en-US" sz="2800" dirty="0"/>
              <a:t>如果主线程开始计算全局和的时候其他线程还未完成计算，就会得到不正确的结果</a:t>
            </a:r>
            <a:endParaRPr lang="en-US" altLang="zh-CN" sz="2800" dirty="0"/>
          </a:p>
          <a:p>
            <a:pPr eaLnBrk="1" hangingPunct="1">
              <a:buFont typeface="Wingdings" panose="05000000000000000000" pitchFamily="2" charset="2"/>
              <a:buChar char="m"/>
              <a:defRPr/>
            </a:pPr>
            <a:r>
              <a:rPr lang="zh-CN" altLang="en-US" sz="2800" dirty="0"/>
              <a:t>如何强制主线程等待其他线程完成之后再进行全局和计算呢？</a:t>
            </a:r>
            <a:endParaRPr lang="en-US" altLang="zh-CN" sz="2800" dirty="0"/>
          </a:p>
          <a:p>
            <a:pPr eaLnBrk="1" hangingPunct="1">
              <a:buFont typeface="Wingdings" panose="05000000000000000000" pitchFamily="2" charset="2"/>
              <a:buChar char="m"/>
              <a:defRPr/>
            </a:pPr>
            <a:r>
              <a:rPr lang="zh-CN" altLang="en-US" sz="2800" dirty="0"/>
              <a:t>定义</a:t>
            </a:r>
            <a:endParaRPr lang="en-US" altLang="zh-CN" sz="2800" dirty="0"/>
          </a:p>
          <a:p>
            <a:pPr lvl="1" eaLnBrk="1" hangingPunct="1">
              <a:buFont typeface="Wingdings" panose="05000000000000000000" pitchFamily="2" charset="2"/>
              <a:buChar char="q"/>
              <a:defRPr/>
            </a:pPr>
            <a:r>
              <a:rPr lang="zh-CN" altLang="en-US" sz="2400" dirty="0">
                <a:solidFill>
                  <a:srgbClr val="FF0000"/>
                </a:solidFill>
                <a:latin typeface="黑体" panose="02010609060101010101" pitchFamily="49" charset="-122"/>
                <a:ea typeface="黑体" panose="02010609060101010101" pitchFamily="49" charset="-122"/>
                <a:cs typeface="+mn-cs"/>
                <a:sym typeface="Wingdings" panose="05000000000000000000" pitchFamily="2" charset="2"/>
              </a:rPr>
              <a:t>障碍</a:t>
            </a:r>
            <a:r>
              <a:rPr lang="zh-CN" altLang="en-US" sz="2400" dirty="0"/>
              <a:t>（</a:t>
            </a:r>
            <a:r>
              <a:rPr lang="en-US" altLang="zh-CN" sz="2400" dirty="0"/>
              <a:t>barrier</a:t>
            </a:r>
            <a:r>
              <a:rPr lang="zh-CN" altLang="en-US" sz="2400" dirty="0"/>
              <a:t>）阻塞线程继续执行，在此程序点等待，直到所有参与线程都到达障碍点才继续执行</a:t>
            </a:r>
            <a:endParaRPr lang="en-US" altLang="zh-CN" sz="2400" dirty="0"/>
          </a:p>
          <a:p>
            <a:pPr lvl="1" eaLnBrk="1" hangingPunct="1">
              <a:buFont typeface="Wingdings" panose="05000000000000000000" pitchFamily="2" charset="2"/>
              <a:buChar char="q"/>
              <a:defRPr/>
            </a:pPr>
            <a:r>
              <a:rPr lang="zh-CN" altLang="en-US" sz="2400" dirty="0"/>
              <a:t>障碍如何实现？</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a:t>版本</a:t>
            </a:r>
            <a:r>
              <a:rPr lang="en-US" altLang="zh-CN"/>
              <a:t>5</a:t>
            </a:r>
            <a:r>
              <a:rPr lang="zh-CN" altLang="en-US"/>
              <a:t>：消除锁，但增加障碍</a:t>
            </a:r>
          </a:p>
        </p:txBody>
      </p:sp>
      <p:sp>
        <p:nvSpPr>
          <p:cNvPr id="16387" name="Rectangle 3"/>
          <p:cNvSpPr>
            <a:spLocks noGrp="1" noChangeArrowheads="1"/>
          </p:cNvSpPr>
          <p:nvPr>
            <p:ph type="body" idx="1"/>
          </p:nvPr>
        </p:nvSpPr>
        <p:spPr/>
        <p:txBody>
          <a:bodyPr/>
          <a:lstStyle/>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 n/t;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mutex</a:t>
            </a:r>
            <a:r>
              <a:rPr lang="en-US" altLang="zh-CN" sz="2000" kern="100" dirty="0">
                <a:solidFill>
                  <a:srgbClr val="0000FF"/>
                </a:solidFill>
                <a:latin typeface="Arial" panose="020B0604020202020204" pitchFamily="34" charset="0"/>
              </a:rPr>
              <a:t> m;</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shared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[t]; </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int</a:t>
            </a:r>
            <a:r>
              <a:rPr lang="en-US" altLang="zh-CN" sz="2000" kern="100" dirty="0">
                <a:solidFill>
                  <a:srgbClr val="0000FF"/>
                </a:solidFill>
                <a:latin typeface="Arial" panose="020B0604020202020204" pitchFamily="34" charset="0"/>
              </a:rPr>
              <a:t> start = id * </a:t>
            </a:r>
            <a:r>
              <a:rPr lang="en-US" altLang="zh-CN" sz="2000" kern="100" dirty="0" err="1">
                <a:solidFill>
                  <a:srgbClr val="0000FF"/>
                </a:solidFill>
                <a:latin typeface="Arial" panose="020B0604020202020204" pitchFamily="34" charset="0"/>
              </a:rPr>
              <a:t>block_length_per_thread</a:t>
            </a:r>
            <a:r>
              <a:rPr lang="en-US" altLang="zh-CN" sz="2000" kern="100" dirty="0">
                <a:solidFill>
                  <a:srgbClr val="0000FF"/>
                </a:solidFill>
                <a:latin typeface="Arial" panose="020B0604020202020204" pitchFamily="34" charset="0"/>
              </a:rPr>
              <a:t>;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=start;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a:t>
            </a:r>
            <a:r>
              <a:rPr lang="en-US" altLang="zh-CN" sz="2000" kern="100" dirty="0" err="1">
                <a:solidFill>
                  <a:srgbClr val="0000FF"/>
                </a:solidFill>
                <a:latin typeface="Arial" panose="020B0604020202020204" pitchFamily="34" charset="0"/>
              </a:rPr>
              <a:t>start+block_length_per_thread</a:t>
            </a: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           </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my_x</a:t>
            </a:r>
            <a:r>
              <a:rPr lang="en-US" altLang="zh-CN" sz="2000" kern="100" dirty="0">
                <a:solidFill>
                  <a:srgbClr val="0000FF"/>
                </a:solidFill>
                <a:latin typeface="Arial" panose="020B0604020202020204" pitchFamily="34" charset="0"/>
              </a:rPr>
              <a:t> = </a:t>
            </a:r>
            <a:r>
              <a:rPr lang="en-US" altLang="zh-CN" sz="2000" kern="100" dirty="0" err="1">
                <a:solidFill>
                  <a:srgbClr val="0000FF"/>
                </a:solidFill>
                <a:latin typeface="Arial" panose="020B0604020202020204" pitchFamily="34" charset="0"/>
              </a:rPr>
              <a:t>Compute_next_value</a:t>
            </a: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[t] += x;</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p>
          <a:p>
            <a:pPr marL="0" indent="0" eaLnBrk="1" hangingPunct="1">
              <a:buFont typeface="Wingdings" panose="05000000000000000000" pitchFamily="2" charset="2"/>
              <a:buNone/>
              <a:defRPr/>
            </a:pPr>
            <a:r>
              <a:rPr lang="en-US" altLang="zh-CN" sz="2000" kern="100" dirty="0" err="1">
                <a:solidFill>
                  <a:srgbClr val="0000FF"/>
                </a:solidFill>
                <a:latin typeface="Arial" panose="020B0604020202020204" pitchFamily="34" charset="0"/>
              </a:rPr>
              <a:t>Synchronize_cores</a:t>
            </a:r>
            <a:r>
              <a:rPr lang="en-US" altLang="zh-CN" sz="2000" kern="100" dirty="0">
                <a:solidFill>
                  <a:srgbClr val="0000FF"/>
                </a:solidFill>
                <a:latin typeface="Arial" panose="020B0604020202020204" pitchFamily="34" charset="0"/>
              </a:rPr>
              <a:t>(); // </a:t>
            </a:r>
            <a:r>
              <a:rPr lang="zh-CN" altLang="en-US" sz="2000" kern="100" dirty="0">
                <a:solidFill>
                  <a:srgbClr val="0000FF"/>
                </a:solidFill>
                <a:latin typeface="Arial" panose="020B0604020202020204" pitchFamily="34" charset="0"/>
              </a:rPr>
              <a:t>所有参与线程都设置障碍</a:t>
            </a:r>
            <a:endParaRPr lang="en-US" altLang="zh-CN" sz="2000" kern="100" dirty="0">
              <a:solidFill>
                <a:srgbClr val="0000FF"/>
              </a:solidFill>
              <a:latin typeface="Arial" panose="020B0604020202020204" pitchFamily="34" charset="0"/>
            </a:endParaRP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if (id == 0) { // </a:t>
            </a:r>
            <a:r>
              <a:rPr lang="zh-CN" altLang="en-US" sz="2000" kern="100" dirty="0">
                <a:solidFill>
                  <a:srgbClr val="0000FF"/>
                </a:solidFill>
                <a:latin typeface="Arial" panose="020B0604020202020204" pitchFamily="34" charset="0"/>
              </a:rPr>
              <a:t>主线程</a:t>
            </a:r>
            <a:endParaRPr lang="en-US" altLang="zh-CN" sz="2000" kern="100" dirty="0">
              <a:solidFill>
                <a:srgbClr val="0000FF"/>
              </a:solidFill>
              <a:latin typeface="Arial" panose="020B0604020202020204" pitchFamily="34" charset="0"/>
            </a:endParaRP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sum =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[0];</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   for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=1;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&lt;t; </a:t>
            </a:r>
            <a:r>
              <a:rPr lang="en-US" altLang="zh-CN" sz="2000" kern="100" dirty="0" err="1">
                <a:solidFill>
                  <a:srgbClr val="0000FF"/>
                </a:solidFill>
                <a:latin typeface="Arial" panose="020B0604020202020204" pitchFamily="34" charset="0"/>
              </a:rPr>
              <a:t>i</a:t>
            </a:r>
            <a:r>
              <a:rPr lang="en-US" altLang="zh-CN" sz="2000" kern="100" dirty="0">
                <a:solidFill>
                  <a:srgbClr val="0000FF"/>
                </a:solidFill>
                <a:latin typeface="Arial" panose="020B0604020202020204" pitchFamily="34" charset="0"/>
              </a:rPr>
              <a:t>++) sum += </a:t>
            </a:r>
            <a:r>
              <a:rPr lang="en-US" altLang="zh-CN" sz="2000" kern="100" dirty="0" err="1">
                <a:solidFill>
                  <a:srgbClr val="0000FF"/>
                </a:solidFill>
                <a:latin typeface="Arial" panose="020B0604020202020204" pitchFamily="34" charset="0"/>
              </a:rPr>
              <a:t>my_sum</a:t>
            </a:r>
            <a:r>
              <a:rPr lang="en-US" altLang="zh-CN" sz="2000" kern="100" dirty="0">
                <a:solidFill>
                  <a:srgbClr val="0000FF"/>
                </a:solidFill>
                <a:latin typeface="Arial" panose="020B0604020202020204" pitchFamily="34" charset="0"/>
              </a:rPr>
              <a:t>[t];</a:t>
            </a:r>
          </a:p>
          <a:p>
            <a:pPr marL="0" indent="0" eaLnBrk="1" hangingPunct="1">
              <a:buFont typeface="Wingdings" panose="05000000000000000000" pitchFamily="2" charset="2"/>
              <a:buNone/>
              <a:defRPr/>
            </a:pPr>
            <a:r>
              <a:rPr lang="en-US" altLang="zh-CN" sz="2000" kern="100" dirty="0">
                <a:solidFill>
                  <a:srgbClr val="0000FF"/>
                </a:solidFill>
                <a:latin typeface="Arial" panose="020B0604020202020204" pitchFamily="34" charset="0"/>
              </a:rPr>
              <a:t>}</a:t>
            </a:r>
            <a:endParaRPr lang="en-US" altLang="zh-CN" sz="2000" dirty="0"/>
          </a:p>
        </p:txBody>
      </p:sp>
      <p:sp>
        <p:nvSpPr>
          <p:cNvPr id="4" name="TextBox 8"/>
          <p:cNvSpPr txBox="1">
            <a:spLocks noChangeArrowheads="1"/>
          </p:cNvSpPr>
          <p:nvPr/>
        </p:nvSpPr>
        <p:spPr bwMode="auto">
          <a:xfrm>
            <a:off x="1763713" y="5949950"/>
            <a:ext cx="2041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333399"/>
                </a:solidFill>
                <a:latin typeface="Comic Sans MS" panose="030F0702030302020204" pitchFamily="66" charset="0"/>
              </a:rPr>
              <a:t>现在正确了！</a:t>
            </a:r>
            <a:endParaRPr lang="en-US" altLang="zh-CN" sz="2400" b="1">
              <a:solidFill>
                <a:srgbClr val="333399"/>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7">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87">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387">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a:t>版本</a:t>
            </a:r>
            <a:r>
              <a:rPr lang="en-US" altLang="zh-CN"/>
              <a:t>6</a:t>
            </a:r>
            <a:r>
              <a:rPr lang="zh-CN" altLang="en-US"/>
              <a:t>：多核并行求全局和</a:t>
            </a:r>
          </a:p>
        </p:txBody>
      </p:sp>
      <p:pic>
        <p:nvPicPr>
          <p:cNvPr id="215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557338"/>
            <a:ext cx="7200900"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8"/>
          <p:cNvSpPr txBox="1">
            <a:spLocks noChangeArrowheads="1"/>
          </p:cNvSpPr>
          <p:nvPr/>
        </p:nvSpPr>
        <p:spPr bwMode="auto">
          <a:xfrm>
            <a:off x="4572000" y="4652963"/>
            <a:ext cx="23510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FF0000"/>
                </a:solidFill>
                <a:latin typeface="黑体" panose="02010609060101010101" pitchFamily="49" charset="-122"/>
                <a:ea typeface="黑体" panose="02010609060101010101" pitchFamily="49" charset="-122"/>
              </a:rPr>
              <a:t>递归分解</a:t>
            </a:r>
            <a:endParaRPr lang="en-US" altLang="zh-CN" sz="2400" b="1">
              <a:solidFill>
                <a:srgbClr val="FF0000"/>
              </a:solidFill>
              <a:latin typeface="黑体" panose="02010609060101010101" pitchFamily="49" charset="-122"/>
              <a:ea typeface="黑体" panose="02010609060101010101" pitchFamily="49" charset="-122"/>
            </a:endParaRPr>
          </a:p>
          <a:p>
            <a:pPr>
              <a:spcBef>
                <a:spcPct val="0"/>
              </a:spcBef>
              <a:buClrTx/>
              <a:buSzTx/>
              <a:buFontTx/>
              <a:buNone/>
            </a:pPr>
            <a:r>
              <a:rPr lang="zh-CN" altLang="en-US" sz="2400" b="1">
                <a:solidFill>
                  <a:srgbClr val="333399"/>
                </a:solidFill>
                <a:latin typeface="Comic Sans MS" panose="030F0702030302020204" pitchFamily="66" charset="0"/>
              </a:rPr>
              <a:t>适用于分治策略</a:t>
            </a:r>
            <a:endParaRPr lang="en-US" altLang="zh-CN" sz="2400" b="1">
              <a:solidFill>
                <a:srgbClr val="333399"/>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p:txBody>
          <a:bodyPr/>
          <a:lstStyle/>
          <a:p>
            <a:r>
              <a:rPr lang="zh-CN" altLang="en-US"/>
              <a:t>求和例子的总结</a:t>
            </a:r>
          </a:p>
        </p:txBody>
      </p:sp>
      <p:sp>
        <p:nvSpPr>
          <p:cNvPr id="20483" name="内容占位符 3"/>
          <p:cNvSpPr>
            <a:spLocks noGrp="1" noChangeArrowheads="1"/>
          </p:cNvSpPr>
          <p:nvPr>
            <p:ph idx="1"/>
          </p:nvPr>
        </p:nvSpPr>
        <p:spPr/>
        <p:txBody>
          <a:bodyPr/>
          <a:lstStyle/>
          <a:p>
            <a:r>
              <a:rPr lang="zh-CN" altLang="en-US"/>
              <a:t>求和计算有竞争条件和数据依赖</a:t>
            </a:r>
            <a:endParaRPr lang="en-US" altLang="zh-CN"/>
          </a:p>
          <a:p>
            <a:r>
              <a:rPr lang="zh-CN" altLang="en-US"/>
              <a:t>使用</a:t>
            </a:r>
            <a:r>
              <a:rPr lang="en-US" altLang="zh-CN"/>
              <a:t>mutex</a:t>
            </a:r>
            <a:r>
              <a:rPr lang="zh-CN" altLang="en-US"/>
              <a:t>和障碍进行同步保证正确结果</a:t>
            </a:r>
            <a:endParaRPr lang="en-US" altLang="zh-CN"/>
          </a:p>
          <a:p>
            <a:r>
              <a:rPr lang="zh-CN" altLang="en-US"/>
              <a:t>更多地进行本地运算，以提高线程间并行计算的粒度</a:t>
            </a:r>
            <a:endParaRPr lang="en-US" altLang="zh-CN"/>
          </a:p>
          <a:p>
            <a:r>
              <a:rPr lang="zh-CN" altLang="en-US"/>
              <a:t>在这个例子中看到了哪些额外开销？</a:t>
            </a:r>
            <a:endParaRPr lang="en-US" altLang="zh-CN"/>
          </a:p>
          <a:p>
            <a:pPr lvl="1"/>
            <a:r>
              <a:rPr lang="zh-CN" altLang="en-US"/>
              <a:t>分配计算任务的额外代码</a:t>
            </a:r>
            <a:endParaRPr lang="en-US" altLang="zh-CN"/>
          </a:p>
          <a:p>
            <a:pPr lvl="1"/>
            <a:r>
              <a:rPr lang="zh-CN" altLang="en-US"/>
              <a:t>锁开销：加锁</a:t>
            </a:r>
            <a:r>
              <a:rPr lang="en-US" altLang="zh-CN"/>
              <a:t>/</a:t>
            </a:r>
            <a:r>
              <a:rPr lang="zh-CN" altLang="en-US"/>
              <a:t>解锁操作本身开销和线程间竞争导致的空闲等待</a:t>
            </a:r>
            <a:endParaRPr lang="en-US" altLang="zh-CN"/>
          </a:p>
          <a:p>
            <a:pPr lvl="1"/>
            <a:r>
              <a:rPr lang="zh-CN" altLang="en-US"/>
              <a:t>负载不均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zh-CN" altLang="en-US"/>
              <a:t>提纲</a:t>
            </a:r>
          </a:p>
        </p:txBody>
      </p:sp>
      <p:sp>
        <p:nvSpPr>
          <p:cNvPr id="23555"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lvl="1" eaLnBrk="1" hangingPunct="1"/>
            <a:r>
              <a:rPr lang="zh-CN" altLang="en-US" dirty="0"/>
              <a:t>任务分解、数据依赖、竞争条件</a:t>
            </a:r>
            <a:endParaRPr lang="en-US" altLang="zh-CN" dirty="0"/>
          </a:p>
          <a:p>
            <a:pPr lvl="1" eaLnBrk="1" hangingPunct="1"/>
            <a:r>
              <a:rPr lang="zh-CN" altLang="en-US" dirty="0">
                <a:solidFill>
                  <a:srgbClr val="FF0000"/>
                </a:solidFill>
              </a:rPr>
              <a:t>数据并行</a:t>
            </a:r>
            <a:endParaRPr lang="en-US" altLang="zh-CN" dirty="0">
              <a:solidFill>
                <a:srgbClr val="FF0000"/>
              </a:solidFill>
            </a:endParaRPr>
          </a:p>
          <a:p>
            <a:pPr lvl="1" eaLnBrk="1" hangingPunct="1"/>
            <a:r>
              <a:rPr lang="zh-CN" altLang="en-US" dirty="0"/>
              <a:t>其他任务划分方法</a:t>
            </a:r>
            <a:endParaRPr lang="en-US" altLang="zh-CN" dirty="0"/>
          </a:p>
          <a:p>
            <a:pPr eaLnBrk="1" hangingPunct="1"/>
            <a:r>
              <a:rPr lang="zh-CN" altLang="en-US" dirty="0"/>
              <a:t>并行算法分析</a:t>
            </a:r>
            <a:endParaRPr lang="en-US" altLang="zh-CN" dirty="0"/>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a:t>如何设计并行程序</a:t>
            </a:r>
          </a:p>
        </p:txBody>
      </p:sp>
      <p:sp>
        <p:nvSpPr>
          <p:cNvPr id="24579" name="Rectangle 3"/>
          <p:cNvSpPr>
            <a:spLocks noGrp="1" noChangeArrowheads="1"/>
          </p:cNvSpPr>
          <p:nvPr>
            <p:ph type="body" idx="1"/>
          </p:nvPr>
        </p:nvSpPr>
        <p:spPr/>
        <p:txBody>
          <a:bodyPr/>
          <a:lstStyle/>
          <a:p>
            <a:pPr eaLnBrk="1" hangingPunct="1"/>
            <a:r>
              <a:rPr lang="zh-CN" altLang="en-US"/>
              <a:t>任务并行</a:t>
            </a:r>
          </a:p>
          <a:p>
            <a:pPr lvl="1" eaLnBrk="1" hangingPunct="1"/>
            <a:r>
              <a:rPr lang="zh-CN" altLang="en-US"/>
              <a:t>将求解问题的计算分解为任务，分配给多个核心</a:t>
            </a:r>
            <a:endParaRPr lang="en-US" altLang="zh-CN"/>
          </a:p>
          <a:p>
            <a:pPr lvl="1" eaLnBrk="1" hangingPunct="1"/>
            <a:endParaRPr lang="zh-CN" altLang="en-US"/>
          </a:p>
          <a:p>
            <a:pPr eaLnBrk="1" hangingPunct="1"/>
            <a:r>
              <a:rPr lang="zh-CN" altLang="en-US">
                <a:solidFill>
                  <a:srgbClr val="FF0000"/>
                </a:solidFill>
                <a:latin typeface="黑体" panose="02010609060101010101" pitchFamily="49" charset="-122"/>
                <a:ea typeface="黑体" panose="02010609060101010101" pitchFamily="49" charset="-122"/>
              </a:rPr>
              <a:t>数据并行</a:t>
            </a:r>
            <a:endParaRPr lang="en-US" altLang="zh-CN">
              <a:solidFill>
                <a:srgbClr val="FF0000"/>
              </a:solidFill>
              <a:latin typeface="黑体" panose="02010609060101010101" pitchFamily="49" charset="-122"/>
              <a:ea typeface="黑体" panose="02010609060101010101" pitchFamily="49" charset="-122"/>
            </a:endParaRPr>
          </a:p>
          <a:p>
            <a:pPr lvl="1" eaLnBrk="1" hangingPunct="1"/>
            <a:r>
              <a:rPr lang="zh-CN" altLang="en-US"/>
              <a:t>将求解问题涉及的数据划分给多个核心</a:t>
            </a:r>
            <a:endParaRPr lang="en-US" altLang="zh-CN"/>
          </a:p>
          <a:p>
            <a:pPr lvl="1" eaLnBrk="1" hangingPunct="1"/>
            <a:r>
              <a:rPr lang="zh-CN" altLang="en-US"/>
              <a:t>每个核心对不同数据进行相似的计算</a:t>
            </a:r>
            <a:endParaRPr lang="en-US" altLang="zh-CN"/>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a:t>教授</a:t>
            </a:r>
            <a:r>
              <a:rPr lang="en-US" altLang="zh-CN"/>
              <a:t>P</a:t>
            </a:r>
            <a:r>
              <a:rPr lang="zh-CN" altLang="en-US"/>
              <a:t>批改试卷</a:t>
            </a:r>
          </a:p>
        </p:txBody>
      </p:sp>
      <p:sp>
        <p:nvSpPr>
          <p:cNvPr id="25603" name="Rectangle 3"/>
          <p:cNvSpPr>
            <a:spLocks noGrp="1" noChangeArrowheads="1"/>
          </p:cNvSpPr>
          <p:nvPr>
            <p:ph type="body" idx="1"/>
          </p:nvPr>
        </p:nvSpPr>
        <p:spPr>
          <a:xfrm>
            <a:off x="1182688" y="1371600"/>
            <a:ext cx="7772400" cy="5105400"/>
          </a:xfrm>
        </p:spPr>
        <p:txBody>
          <a:bodyPr/>
          <a:lstStyle/>
          <a:p>
            <a:pPr eaLnBrk="1" hangingPunct="1"/>
            <a:endParaRPr lang="en-US" altLang="zh-CN"/>
          </a:p>
        </p:txBody>
      </p:sp>
      <p:pic>
        <p:nvPicPr>
          <p:cNvPr id="25604" name="Picture 2" descr="C:\Documents and Settings\liszka\Local Settings\Temporary Internet Files\Content.IE5\1G3WK4XC\MP90042259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125538"/>
            <a:ext cx="3248025" cy="486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3" descr="C:\Documents and Settings\liszka\Local Settings\Temporary Internet Files\Content.IE5\Q7HGDQRM\MC900024275[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4292600"/>
            <a:ext cx="19462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5"/>
          <p:cNvSpPr txBox="1">
            <a:spLocks noChangeArrowheads="1"/>
          </p:cNvSpPr>
          <p:nvPr/>
        </p:nvSpPr>
        <p:spPr bwMode="auto">
          <a:xfrm>
            <a:off x="2195513" y="2565400"/>
            <a:ext cx="1323975" cy="701675"/>
          </a:xfrm>
          <a:prstGeom prst="rect">
            <a:avLst/>
          </a:prstGeom>
          <a:noFill/>
          <a:ln w="9525">
            <a:noFill/>
            <a:miter lim="800000"/>
          </a:ln>
        </p:spPr>
        <p:txBody>
          <a:bodyPr wrap="none">
            <a:spAutoFit/>
          </a:bodyPr>
          <a:lstStyle/>
          <a:p>
            <a:pPr fontAlgn="auto">
              <a:spcBef>
                <a:spcPct val="20000"/>
              </a:spcBef>
              <a:spcAft>
                <a:spcPts val="0"/>
              </a:spcAft>
              <a:buClr>
                <a:srgbClr val="000000"/>
              </a:buClr>
              <a:buSzPct val="60000"/>
              <a:buFont typeface="Wingdings" panose="05000000000000000000" pitchFamily="2" charset="2"/>
              <a:buNone/>
              <a:defRPr/>
            </a:pPr>
            <a:r>
              <a:rPr kumimoji="0" lang="en-US" altLang="zh-CN" sz="1800" b="1" kern="0" dirty="0">
                <a:solidFill>
                  <a:srgbClr val="FF0000"/>
                </a:solidFill>
              </a:rPr>
              <a:t>15</a:t>
            </a:r>
            <a:r>
              <a:rPr kumimoji="0" lang="zh-CN" altLang="en-US" sz="1800" b="1" kern="0" dirty="0">
                <a:solidFill>
                  <a:srgbClr val="FF0000"/>
                </a:solidFill>
              </a:rPr>
              <a:t>道题</a:t>
            </a:r>
            <a:endParaRPr kumimoji="0" lang="en-US" altLang="zh-CN" sz="1800" b="1" kern="0" dirty="0">
              <a:solidFill>
                <a:srgbClr val="FF0000"/>
              </a:solidFill>
            </a:endParaRPr>
          </a:p>
          <a:p>
            <a:pPr fontAlgn="auto">
              <a:spcBef>
                <a:spcPct val="20000"/>
              </a:spcBef>
              <a:spcAft>
                <a:spcPts val="0"/>
              </a:spcAft>
              <a:buClr>
                <a:srgbClr val="000000"/>
              </a:buClr>
              <a:buSzPct val="60000"/>
              <a:buFont typeface="Wingdings" panose="05000000000000000000" pitchFamily="2" charset="2"/>
              <a:buNone/>
              <a:defRPr/>
            </a:pPr>
            <a:r>
              <a:rPr kumimoji="0" lang="en-US" altLang="zh-CN" sz="1800" b="1" kern="0" dirty="0">
                <a:solidFill>
                  <a:srgbClr val="FF0000"/>
                </a:solidFill>
              </a:rPr>
              <a:t>300</a:t>
            </a:r>
            <a:r>
              <a:rPr kumimoji="0" lang="zh-CN" altLang="en-US" sz="1800" b="1" kern="0" dirty="0">
                <a:solidFill>
                  <a:srgbClr val="FF0000"/>
                </a:solidFill>
              </a:rPr>
              <a:t>份试卷</a:t>
            </a:r>
            <a:endParaRPr kumimoji="0" lang="en-US" altLang="zh-CN" sz="1800" b="1" kern="0" dirty="0">
              <a:solidFill>
                <a:srgbClr val="FF0000"/>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a:t>教授</a:t>
            </a:r>
            <a:r>
              <a:rPr lang="en-US" altLang="zh-CN"/>
              <a:t>P</a:t>
            </a:r>
            <a:r>
              <a:rPr lang="zh-CN" altLang="en-US"/>
              <a:t>有三位助教</a:t>
            </a:r>
          </a:p>
        </p:txBody>
      </p:sp>
      <p:sp>
        <p:nvSpPr>
          <p:cNvPr id="26627" name="Rectangle 3"/>
          <p:cNvSpPr>
            <a:spLocks noGrp="1" noChangeArrowheads="1"/>
          </p:cNvSpPr>
          <p:nvPr>
            <p:ph type="body" idx="1"/>
          </p:nvPr>
        </p:nvSpPr>
        <p:spPr/>
        <p:txBody>
          <a:bodyPr/>
          <a:lstStyle/>
          <a:p>
            <a:pPr eaLnBrk="1" hangingPunct="1">
              <a:lnSpc>
                <a:spcPct val="90000"/>
              </a:lnSpc>
            </a:pPr>
            <a:endParaRPr lang="zh-CN" altLang="en-US"/>
          </a:p>
        </p:txBody>
      </p:sp>
      <p:pic>
        <p:nvPicPr>
          <p:cNvPr id="26628" name="Picture 4" descr="C:\Documents and Settings\liszka\Local Settings\Temporary Internet Files\Content.IE5\1G3WK4XC\MP90043956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58913"/>
            <a:ext cx="6400800"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7"/>
          <p:cNvSpPr txBox="1">
            <a:spLocks noChangeArrowheads="1"/>
          </p:cNvSpPr>
          <p:nvPr/>
        </p:nvSpPr>
        <p:spPr bwMode="auto">
          <a:xfrm>
            <a:off x="1979613" y="48212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TA#1</a:t>
            </a:r>
          </a:p>
        </p:txBody>
      </p:sp>
      <p:sp>
        <p:nvSpPr>
          <p:cNvPr id="26630" name="TextBox 8"/>
          <p:cNvSpPr txBox="1">
            <a:spLocks noChangeArrowheads="1"/>
          </p:cNvSpPr>
          <p:nvPr/>
        </p:nvSpPr>
        <p:spPr bwMode="auto">
          <a:xfrm>
            <a:off x="3995738" y="50371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TA#2</a:t>
            </a:r>
          </a:p>
        </p:txBody>
      </p:sp>
      <p:sp>
        <p:nvSpPr>
          <p:cNvPr id="26631" name="TextBox 9"/>
          <p:cNvSpPr txBox="1">
            <a:spLocks noChangeArrowheads="1"/>
          </p:cNvSpPr>
          <p:nvPr/>
        </p:nvSpPr>
        <p:spPr bwMode="auto">
          <a:xfrm>
            <a:off x="5867400" y="4964113"/>
            <a:ext cx="1135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TA#3</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t>工作分配</a:t>
            </a:r>
            <a:r>
              <a:rPr lang="en-US" altLang="zh-CN"/>
              <a:t>——</a:t>
            </a:r>
            <a:r>
              <a:rPr lang="zh-CN" altLang="en-US"/>
              <a:t>数据划分</a:t>
            </a:r>
          </a:p>
        </p:txBody>
      </p:sp>
      <p:sp>
        <p:nvSpPr>
          <p:cNvPr id="27651" name="Rectangle 3"/>
          <p:cNvSpPr>
            <a:spLocks noGrp="1" noChangeArrowheads="1"/>
          </p:cNvSpPr>
          <p:nvPr>
            <p:ph type="body" idx="1"/>
          </p:nvPr>
        </p:nvSpPr>
        <p:spPr>
          <a:xfrm>
            <a:off x="1182688" y="1371600"/>
            <a:ext cx="7772400" cy="5181600"/>
          </a:xfrm>
        </p:spPr>
        <p:txBody>
          <a:bodyPr/>
          <a:lstStyle/>
          <a:p>
            <a:pPr eaLnBrk="1" hangingPunct="1">
              <a:lnSpc>
                <a:spcPct val="90000"/>
              </a:lnSpc>
            </a:pPr>
            <a:endParaRPr lang="en-US" altLang="zh-CN" sz="2800"/>
          </a:p>
        </p:txBody>
      </p:sp>
      <p:pic>
        <p:nvPicPr>
          <p:cNvPr id="27652"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2349500"/>
            <a:ext cx="194786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Box 4"/>
          <p:cNvSpPr txBox="1">
            <a:spLocks noChangeArrowheads="1"/>
          </p:cNvSpPr>
          <p:nvPr/>
        </p:nvSpPr>
        <p:spPr bwMode="auto">
          <a:xfrm>
            <a:off x="900113" y="19891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TA#1</a:t>
            </a:r>
          </a:p>
        </p:txBody>
      </p:sp>
      <p:sp>
        <p:nvSpPr>
          <p:cNvPr id="27654" name="TextBox 5"/>
          <p:cNvSpPr txBox="1">
            <a:spLocks noChangeArrowheads="1"/>
          </p:cNvSpPr>
          <p:nvPr/>
        </p:nvSpPr>
        <p:spPr bwMode="auto">
          <a:xfrm>
            <a:off x="5435600" y="4581525"/>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TA#2</a:t>
            </a:r>
          </a:p>
        </p:txBody>
      </p:sp>
      <p:sp>
        <p:nvSpPr>
          <p:cNvPr id="27655" name="TextBox 6"/>
          <p:cNvSpPr txBox="1">
            <a:spLocks noChangeArrowheads="1"/>
          </p:cNvSpPr>
          <p:nvPr/>
        </p:nvSpPr>
        <p:spPr bwMode="auto">
          <a:xfrm>
            <a:off x="7235825" y="24209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TA#3</a:t>
            </a:r>
          </a:p>
        </p:txBody>
      </p:sp>
      <p:pic>
        <p:nvPicPr>
          <p:cNvPr id="27656"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3860800"/>
            <a:ext cx="194786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Picture 2" descr="C:\Documents and Settings\liszka\Local Settings\Temporary Internet Files\Content.IE5\Q7HGDQRM\MC900024275[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1628775"/>
            <a:ext cx="194786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8" name="TextBox 9"/>
          <p:cNvSpPr txBox="1">
            <a:spLocks noChangeArrowheads="1"/>
          </p:cNvSpPr>
          <p:nvPr/>
        </p:nvSpPr>
        <p:spPr bwMode="auto">
          <a:xfrm>
            <a:off x="1187450" y="3429000"/>
            <a:ext cx="143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100 exams</a:t>
            </a:r>
          </a:p>
        </p:txBody>
      </p:sp>
      <p:sp>
        <p:nvSpPr>
          <p:cNvPr id="27659" name="TextBox 10"/>
          <p:cNvSpPr txBox="1">
            <a:spLocks noChangeArrowheads="1"/>
          </p:cNvSpPr>
          <p:nvPr/>
        </p:nvSpPr>
        <p:spPr bwMode="auto">
          <a:xfrm>
            <a:off x="5148263" y="2708275"/>
            <a:ext cx="143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100 exams</a:t>
            </a:r>
          </a:p>
        </p:txBody>
      </p:sp>
      <p:sp>
        <p:nvSpPr>
          <p:cNvPr id="27660" name="TextBox 11"/>
          <p:cNvSpPr txBox="1">
            <a:spLocks noChangeArrowheads="1"/>
          </p:cNvSpPr>
          <p:nvPr/>
        </p:nvSpPr>
        <p:spPr bwMode="auto">
          <a:xfrm>
            <a:off x="2987675" y="4868863"/>
            <a:ext cx="143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100 exams</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lstStyle/>
          <a:p>
            <a:r>
              <a:rPr lang="zh-CN" altLang="en-US"/>
              <a:t>工作分配</a:t>
            </a:r>
            <a:r>
              <a:rPr lang="en-US" altLang="zh-CN"/>
              <a:t>——</a:t>
            </a:r>
            <a:r>
              <a:rPr lang="zh-CN" altLang="en-US"/>
              <a:t>任务划分</a:t>
            </a:r>
          </a:p>
        </p:txBody>
      </p:sp>
      <p:sp>
        <p:nvSpPr>
          <p:cNvPr id="28675" name="内容占位符 2"/>
          <p:cNvSpPr>
            <a:spLocks noGrp="1" noChangeArrowheads="1"/>
          </p:cNvSpPr>
          <p:nvPr>
            <p:ph idx="1"/>
          </p:nvPr>
        </p:nvSpPr>
        <p:spPr/>
        <p:txBody>
          <a:bodyPr/>
          <a:lstStyle/>
          <a:p>
            <a:endParaRPr lang="zh-CN" altLang="en-US"/>
          </a:p>
        </p:txBody>
      </p:sp>
      <p:sp>
        <p:nvSpPr>
          <p:cNvPr id="28676" name="TextBox 4"/>
          <p:cNvSpPr txBox="1">
            <a:spLocks noChangeArrowheads="1"/>
          </p:cNvSpPr>
          <p:nvPr/>
        </p:nvSpPr>
        <p:spPr bwMode="auto">
          <a:xfrm>
            <a:off x="900113" y="19891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TA#1</a:t>
            </a:r>
          </a:p>
        </p:txBody>
      </p:sp>
      <p:sp>
        <p:nvSpPr>
          <p:cNvPr id="28677" name="TextBox 5"/>
          <p:cNvSpPr txBox="1">
            <a:spLocks noChangeArrowheads="1"/>
          </p:cNvSpPr>
          <p:nvPr/>
        </p:nvSpPr>
        <p:spPr bwMode="auto">
          <a:xfrm>
            <a:off x="5435600" y="4581525"/>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TA#2</a:t>
            </a:r>
          </a:p>
        </p:txBody>
      </p:sp>
      <p:sp>
        <p:nvSpPr>
          <p:cNvPr id="28678" name="TextBox 6"/>
          <p:cNvSpPr txBox="1">
            <a:spLocks noChangeArrowheads="1"/>
          </p:cNvSpPr>
          <p:nvPr/>
        </p:nvSpPr>
        <p:spPr bwMode="auto">
          <a:xfrm>
            <a:off x="7235825" y="2420938"/>
            <a:ext cx="1133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1800">
                <a:solidFill>
                  <a:srgbClr val="0066FF"/>
                </a:solidFill>
                <a:latin typeface="Tahoma" panose="020B0604030504040204" pitchFamily="34" charset="0"/>
              </a:rPr>
              <a:t>TA#3</a:t>
            </a:r>
          </a:p>
        </p:txBody>
      </p:sp>
      <p:sp>
        <p:nvSpPr>
          <p:cNvPr id="28679" name="TextBox 9"/>
          <p:cNvSpPr txBox="1">
            <a:spLocks noChangeArrowheads="1"/>
          </p:cNvSpPr>
          <p:nvPr/>
        </p:nvSpPr>
        <p:spPr bwMode="auto">
          <a:xfrm>
            <a:off x="1187450" y="3429000"/>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Questions 1 - 5</a:t>
            </a:r>
          </a:p>
        </p:txBody>
      </p:sp>
      <p:sp>
        <p:nvSpPr>
          <p:cNvPr id="28680" name="TextBox 12"/>
          <p:cNvSpPr txBox="1">
            <a:spLocks noChangeArrowheads="1"/>
          </p:cNvSpPr>
          <p:nvPr/>
        </p:nvSpPr>
        <p:spPr bwMode="auto">
          <a:xfrm>
            <a:off x="3132138" y="4941888"/>
            <a:ext cx="2063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Questions 6 - 10</a:t>
            </a:r>
          </a:p>
        </p:txBody>
      </p:sp>
      <p:sp>
        <p:nvSpPr>
          <p:cNvPr id="28681" name="TextBox 13"/>
          <p:cNvSpPr txBox="1">
            <a:spLocks noChangeArrowheads="1"/>
          </p:cNvSpPr>
          <p:nvPr/>
        </p:nvSpPr>
        <p:spPr bwMode="auto">
          <a:xfrm>
            <a:off x="5076825" y="2997200"/>
            <a:ext cx="2185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buClr>
                <a:schemeClr val="tx1"/>
              </a:buClr>
              <a:buSzPct val="60000"/>
              <a:buFont typeface="Wingdings" panose="05000000000000000000" pitchFamily="2" charset="2"/>
              <a:buNone/>
            </a:pPr>
            <a:r>
              <a:rPr lang="en-US" altLang="zh-CN" sz="2000">
                <a:solidFill>
                  <a:srgbClr val="FF0000"/>
                </a:solidFill>
                <a:latin typeface="Tahoma" panose="020B0604030504040204" pitchFamily="34" charset="0"/>
              </a:rPr>
              <a:t>Questions 11 - 15</a:t>
            </a:r>
          </a:p>
        </p:txBody>
      </p:sp>
      <p:pic>
        <p:nvPicPr>
          <p:cNvPr id="28682" name="Picture 2" descr="C:\Documents and Settings\liszka\Local Settings\Temporary Internet Files\Content.IE5\1G3WK4XC\MC900310998[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916113"/>
            <a:ext cx="1306512"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3" name="Picture 2" descr="C:\Documents and Settings\liszka\Local Settings\Temporary Internet Files\Content.IE5\1G3WK4XC\MC900310998[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3573463"/>
            <a:ext cx="1306512"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4" name="Picture 2" descr="C:\Documents and Settings\liszka\Local Settings\Temporary Internet Files\Content.IE5\1G3WK4XC\MC900310998[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628775"/>
            <a:ext cx="1306513"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a:t>商品购买频率统计</a:t>
            </a:r>
            <a:endParaRPr lang="zh-CN" altLang="zh-CN"/>
          </a:p>
        </p:txBody>
      </p:sp>
      <p:sp>
        <p:nvSpPr>
          <p:cNvPr id="29699" name="Rectangle 3"/>
          <p:cNvSpPr>
            <a:spLocks noGrp="1" noChangeArrowheads="1"/>
          </p:cNvSpPr>
          <p:nvPr>
            <p:ph type="body" idx="1"/>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r>
              <a:rPr lang="zh-CN" altLang="en-US"/>
              <a:t>已知用户购物列表</a:t>
            </a:r>
            <a:r>
              <a:rPr lang="en-US" altLang="zh-CN"/>
              <a:t>T</a:t>
            </a:r>
            <a:r>
              <a:rPr lang="zh-CN" altLang="en-US"/>
              <a:t>，商品组合列表</a:t>
            </a:r>
            <a:r>
              <a:rPr lang="en-US" altLang="zh-CN"/>
              <a:t>I</a:t>
            </a:r>
            <a:r>
              <a:rPr lang="en-US" altLang="zh-CN">
                <a:sym typeface="Wingdings" panose="05000000000000000000" pitchFamily="2" charset="2"/>
              </a:rPr>
              <a:t></a:t>
            </a:r>
            <a:br>
              <a:rPr lang="en-US" altLang="zh-CN">
                <a:sym typeface="Wingdings" panose="05000000000000000000" pitchFamily="2" charset="2"/>
              </a:rPr>
            </a:br>
            <a:r>
              <a:rPr lang="zh-CN" altLang="en-US">
                <a:sym typeface="Wingdings" panose="05000000000000000000" pitchFamily="2" charset="2"/>
              </a:rPr>
              <a:t>查询商品组合的购买频率</a:t>
            </a:r>
            <a:endParaRPr lang="zh-CN" altLang="en-US"/>
          </a:p>
        </p:txBody>
      </p:sp>
      <p:pic>
        <p:nvPicPr>
          <p:cNvPr id="29700" name="Picture 4" descr="groc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371600"/>
            <a:ext cx="472122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划分输出数据</a:t>
            </a:r>
          </a:p>
        </p:txBody>
      </p:sp>
      <p:sp>
        <p:nvSpPr>
          <p:cNvPr id="30723" name="Rectangle 3"/>
          <p:cNvSpPr>
            <a:spLocks noGrp="1" noChangeArrowheads="1"/>
          </p:cNvSpPr>
          <p:nvPr>
            <p:ph type="body" idx="1"/>
          </p:nvPr>
        </p:nvSpPr>
        <p:spPr/>
        <p:txBody>
          <a:bodyPr/>
          <a:lstStyle/>
          <a:p>
            <a:pPr eaLnBrk="1" hangingPunct="1"/>
            <a:r>
              <a:rPr lang="zh-CN" altLang="en-US"/>
              <a:t>每种组合购买频率的计算是无关的</a:t>
            </a:r>
          </a:p>
          <a:p>
            <a:pPr eaLnBrk="1" hangingPunct="1"/>
            <a:r>
              <a:rPr lang="en-US" altLang="zh-CN"/>
              <a:t>I</a:t>
            </a:r>
            <a:r>
              <a:rPr lang="zh-CN" altLang="en-US"/>
              <a:t>划分为若干部分</a:t>
            </a:r>
            <a:r>
              <a:rPr lang="zh-CN" altLang="en-US">
                <a:sym typeface="Wingdings" panose="05000000000000000000" pitchFamily="2" charset="2"/>
              </a:rPr>
              <a:t>，每部分的查询任务</a:t>
            </a:r>
            <a:endParaRPr lang="zh-CN" altLang="en-US"/>
          </a:p>
        </p:txBody>
      </p:sp>
      <p:pic>
        <p:nvPicPr>
          <p:cNvPr id="30724" name="Picture 5" descr="grocery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754313"/>
            <a:ext cx="8697913"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a:t>划分输入数据</a:t>
            </a:r>
          </a:p>
        </p:txBody>
      </p:sp>
      <p:sp>
        <p:nvSpPr>
          <p:cNvPr id="31747" name="Rectangle 3"/>
          <p:cNvSpPr>
            <a:spLocks noGrp="1" noChangeArrowheads="1"/>
          </p:cNvSpPr>
          <p:nvPr>
            <p:ph type="body" idx="1"/>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r>
              <a:rPr lang="zh-CN" altLang="en-US"/>
              <a:t>结果组合：两个频率列表需相加</a:t>
            </a:r>
          </a:p>
        </p:txBody>
      </p:sp>
      <p:pic>
        <p:nvPicPr>
          <p:cNvPr id="31748" name="Picture 4" descr="inputde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72172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a:t>同时划分输入输出数据</a:t>
            </a:r>
          </a:p>
        </p:txBody>
      </p:sp>
      <p:sp>
        <p:nvSpPr>
          <p:cNvPr id="32771" name="Rectangle 3"/>
          <p:cNvSpPr>
            <a:spLocks noGrp="1" noChangeArrowheads="1"/>
          </p:cNvSpPr>
          <p:nvPr>
            <p:ph type="body" idx="1"/>
          </p:nvPr>
        </p:nvSpPr>
        <p:spPr/>
        <p:txBody>
          <a:bodyPr/>
          <a:lstStyle/>
          <a:p>
            <a:pPr eaLnBrk="1" hangingPunct="1"/>
            <a:endParaRPr lang="en-US" altLang="zh-CN"/>
          </a:p>
        </p:txBody>
      </p:sp>
      <p:pic>
        <p:nvPicPr>
          <p:cNvPr id="32772" name="Picture 4" descr="inputdecom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4775"/>
            <a:ext cx="7848600"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t>提纲</a:t>
            </a:r>
          </a:p>
        </p:txBody>
      </p:sp>
      <p:sp>
        <p:nvSpPr>
          <p:cNvPr id="33795"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lvl="1" eaLnBrk="1" hangingPunct="1"/>
            <a:r>
              <a:rPr lang="zh-CN" altLang="en-US" dirty="0"/>
              <a:t>任务分解、数据依赖、竞争条件</a:t>
            </a:r>
            <a:endParaRPr lang="en-US" altLang="zh-CN" dirty="0"/>
          </a:p>
          <a:p>
            <a:pPr lvl="1" eaLnBrk="1" hangingPunct="1"/>
            <a:r>
              <a:rPr lang="zh-CN" altLang="en-US" dirty="0"/>
              <a:t>数据并行</a:t>
            </a:r>
            <a:endParaRPr lang="en-US" altLang="zh-CN" dirty="0"/>
          </a:p>
          <a:p>
            <a:pPr lvl="1" eaLnBrk="1" hangingPunct="1"/>
            <a:r>
              <a:rPr lang="zh-CN" altLang="en-US" dirty="0">
                <a:solidFill>
                  <a:srgbClr val="FF0000"/>
                </a:solidFill>
              </a:rPr>
              <a:t>其他任务划分方法</a:t>
            </a:r>
            <a:endParaRPr lang="en-US" altLang="zh-CN" dirty="0">
              <a:solidFill>
                <a:srgbClr val="FF0000"/>
              </a:solidFill>
            </a:endParaRPr>
          </a:p>
          <a:p>
            <a:pPr eaLnBrk="1" hangingPunct="1"/>
            <a:r>
              <a:rPr lang="zh-CN" altLang="en-US" dirty="0"/>
              <a:t>并行算法分析</a:t>
            </a:r>
            <a:endParaRPr lang="en-US" altLang="zh-CN" dirty="0"/>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a:t>递归分解</a:t>
            </a:r>
          </a:p>
        </p:txBody>
      </p:sp>
      <p:sp>
        <p:nvSpPr>
          <p:cNvPr id="38915" name="Rectangle 3"/>
          <p:cNvSpPr>
            <a:spLocks noGrp="1" noChangeArrowheads="1"/>
          </p:cNvSpPr>
          <p:nvPr>
            <p:ph type="body" idx="1"/>
          </p:nvPr>
        </p:nvSpPr>
        <p:spPr/>
        <p:txBody>
          <a:bodyPr/>
          <a:lstStyle/>
          <a:p>
            <a:pPr eaLnBrk="1" hangingPunct="1"/>
            <a:r>
              <a:rPr lang="en-US" altLang="zh-CN">
                <a:solidFill>
                  <a:schemeClr val="hlink"/>
                </a:solidFill>
              </a:rPr>
              <a:t>recursive decompostion</a:t>
            </a:r>
          </a:p>
          <a:p>
            <a:pPr eaLnBrk="1" hangingPunct="1"/>
            <a:r>
              <a:rPr lang="zh-CN" altLang="en-US"/>
              <a:t>分治策略，</a:t>
            </a:r>
            <a:r>
              <a:rPr lang="en-US" altLang="zh-CN">
                <a:solidFill>
                  <a:schemeClr val="hlink"/>
                </a:solidFill>
              </a:rPr>
              <a:t>divide-and-conquer</a:t>
            </a:r>
          </a:p>
          <a:p>
            <a:pPr eaLnBrk="1" hangingPunct="1"/>
            <a:r>
              <a:rPr lang="zh-CN" altLang="en-US"/>
              <a:t>问题求解</a:t>
            </a:r>
            <a:r>
              <a:rPr lang="en-US" altLang="zh-CN"/>
              <a:t>——</a:t>
            </a:r>
            <a:r>
              <a:rPr lang="zh-CN" altLang="en-US"/>
              <a:t>转换为子问题的求解</a:t>
            </a:r>
          </a:p>
          <a:p>
            <a:pPr eaLnBrk="1" hangingPunct="1"/>
            <a:r>
              <a:rPr lang="zh-CN" altLang="en-US"/>
              <a:t>子问题如何求解？</a:t>
            </a:r>
            <a:r>
              <a:rPr lang="en-US" altLang="zh-CN"/>
              <a:t>——</a:t>
            </a:r>
            <a:r>
              <a:rPr lang="zh-CN" altLang="en-US"/>
              <a:t>继续分而治之</a:t>
            </a:r>
          </a:p>
          <a:p>
            <a:pPr eaLnBrk="1" hangingPunct="1"/>
            <a:r>
              <a:rPr lang="zh-CN" altLang="en-US"/>
              <a:t>分解何时停止？</a:t>
            </a:r>
            <a:r>
              <a:rPr lang="en-US" altLang="zh-CN"/>
              <a:t>——</a:t>
            </a:r>
            <a:r>
              <a:rPr lang="zh-CN" altLang="en-US"/>
              <a:t>原子问题</a:t>
            </a:r>
          </a:p>
          <a:p>
            <a:pPr eaLnBrk="1" hangingPunct="1"/>
            <a:r>
              <a:rPr lang="zh-CN" altLang="en-US"/>
              <a:t>子问题解组合</a:t>
            </a:r>
            <a:r>
              <a:rPr lang="zh-CN" altLang="en-US">
                <a:sym typeface="Wingdings" panose="05000000000000000000" pitchFamily="2" charset="2"/>
              </a:rPr>
              <a:t>原始问题解</a:t>
            </a:r>
          </a:p>
          <a:p>
            <a:pPr eaLnBrk="1" hangingPunct="1"/>
            <a:r>
              <a:rPr lang="zh-CN" altLang="en-US">
                <a:sym typeface="Wingdings" panose="05000000000000000000" pitchFamily="2" charset="2"/>
              </a:rPr>
              <a:t>问题划分</a:t>
            </a:r>
            <a:r>
              <a:rPr lang="en-US" altLang="zh-CN">
                <a:sym typeface="Wingdings" panose="05000000000000000000" pitchFamily="2" charset="2"/>
              </a:rPr>
              <a:t>/</a:t>
            </a:r>
            <a:r>
              <a:rPr lang="zh-CN" altLang="en-US">
                <a:sym typeface="Wingdings" panose="05000000000000000000" pitchFamily="2" charset="2"/>
              </a:rPr>
              <a:t>解组合任务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a:t>例</a:t>
            </a:r>
            <a:r>
              <a:rPr lang="en-US" altLang="zh-CN"/>
              <a:t>3.4  </a:t>
            </a:r>
            <a:r>
              <a:rPr lang="zh-CN" altLang="en-US"/>
              <a:t>快速排序</a:t>
            </a:r>
          </a:p>
        </p:txBody>
      </p:sp>
      <p:pic>
        <p:nvPicPr>
          <p:cNvPr id="39939" name="Picture 4" descr="qs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400"/>
            <a:ext cx="8607425" cy="482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a:t>例：求最小元</a:t>
            </a:r>
          </a:p>
        </p:txBody>
      </p:sp>
      <p:sp>
        <p:nvSpPr>
          <p:cNvPr id="40963" name="Rectangle 3"/>
          <p:cNvSpPr>
            <a:spLocks noGrp="1" noChangeArrowheads="1"/>
          </p:cNvSpPr>
          <p:nvPr>
            <p:ph type="body" idx="1"/>
          </p:nvPr>
        </p:nvSpPr>
        <p:spPr/>
        <p:txBody>
          <a:bodyPr/>
          <a:lstStyle/>
          <a:p>
            <a:pPr eaLnBrk="1" hangingPunct="1"/>
            <a:r>
              <a:rPr lang="zh-CN" altLang="en-US"/>
              <a:t>串行算法不是分治策略</a:t>
            </a:r>
          </a:p>
          <a:p>
            <a:pPr eaLnBrk="1" hangingPunct="1">
              <a:buFont typeface="Wingdings" panose="05000000000000000000" pitchFamily="2" charset="2"/>
              <a:buNone/>
            </a:pPr>
            <a:r>
              <a:rPr lang="en-US" altLang="zh-CN" sz="2000"/>
              <a:t>1. </a:t>
            </a:r>
            <a:r>
              <a:rPr lang="en-US" altLang="zh-CN" sz="2000" b="1"/>
              <a:t>procedure </a:t>
            </a:r>
            <a:r>
              <a:rPr lang="en-US" altLang="zh-CN" sz="2000"/>
              <a:t>SERIAL MIN (</a:t>
            </a:r>
            <a:r>
              <a:rPr lang="en-US" altLang="zh-CN" sz="2000" i="1"/>
              <a:t>A, n</a:t>
            </a:r>
            <a:r>
              <a:rPr lang="en-US" altLang="zh-CN" sz="2000"/>
              <a:t>)</a:t>
            </a:r>
          </a:p>
          <a:p>
            <a:pPr eaLnBrk="1" hangingPunct="1">
              <a:buFont typeface="Wingdings" panose="05000000000000000000" pitchFamily="2" charset="2"/>
              <a:buNone/>
            </a:pPr>
            <a:r>
              <a:rPr lang="en-US" altLang="zh-CN" sz="2000"/>
              <a:t>2. </a:t>
            </a:r>
            <a:r>
              <a:rPr lang="en-US" altLang="zh-CN" sz="2000" b="1"/>
              <a:t>begin</a:t>
            </a:r>
          </a:p>
          <a:p>
            <a:pPr eaLnBrk="1" hangingPunct="1">
              <a:buFont typeface="Wingdings" panose="05000000000000000000" pitchFamily="2" charset="2"/>
              <a:buNone/>
            </a:pPr>
            <a:r>
              <a:rPr lang="en-US" altLang="zh-CN" sz="2000"/>
              <a:t>3. </a:t>
            </a:r>
            <a:r>
              <a:rPr lang="en-US" altLang="zh-CN" sz="2000" i="1"/>
              <a:t>min </a:t>
            </a:r>
            <a:r>
              <a:rPr lang="en-US" altLang="zh-CN" sz="2000"/>
              <a:t>= </a:t>
            </a:r>
            <a:r>
              <a:rPr lang="en-US" altLang="zh-CN" sz="2000" i="1"/>
              <a:t>A</a:t>
            </a:r>
            <a:r>
              <a:rPr lang="en-US" altLang="zh-CN" sz="2000"/>
              <a:t>[0</a:t>
            </a:r>
            <a:r>
              <a:rPr lang="en-US" altLang="zh-CN" sz="2000">
                <a:ea typeface="MTSYN" charset="-122"/>
              </a:rPr>
              <a:t>]</a:t>
            </a:r>
            <a:r>
              <a:rPr lang="en-US" altLang="zh-CN" sz="2000"/>
              <a:t>;</a:t>
            </a:r>
          </a:p>
          <a:p>
            <a:pPr eaLnBrk="1" hangingPunct="1">
              <a:buFont typeface="Wingdings" panose="05000000000000000000" pitchFamily="2" charset="2"/>
              <a:buNone/>
            </a:pPr>
            <a:r>
              <a:rPr lang="en-US" altLang="zh-CN" sz="2000"/>
              <a:t>4. </a:t>
            </a:r>
            <a:r>
              <a:rPr lang="en-US" altLang="zh-CN" sz="2000" b="1"/>
              <a:t>for </a:t>
            </a:r>
            <a:r>
              <a:rPr lang="en-US" altLang="zh-CN" sz="2000" i="1"/>
              <a:t>i </a:t>
            </a:r>
            <a:r>
              <a:rPr lang="en-US" altLang="zh-CN" sz="2000">
                <a:ea typeface="MTSYN" charset="-122"/>
              </a:rPr>
              <a:t>:= </a:t>
            </a:r>
            <a:r>
              <a:rPr lang="en-US" altLang="zh-CN" sz="2000"/>
              <a:t>1 </a:t>
            </a:r>
            <a:r>
              <a:rPr lang="en-US" altLang="zh-CN" sz="2000" b="1"/>
              <a:t>to </a:t>
            </a:r>
            <a:r>
              <a:rPr lang="en-US" altLang="zh-CN" sz="2000" i="1"/>
              <a:t>n </a:t>
            </a:r>
            <a:r>
              <a:rPr lang="en-US" altLang="zh-CN" sz="2000">
                <a:ea typeface="MTSYN" charset="-122"/>
              </a:rPr>
              <a:t>- </a:t>
            </a:r>
            <a:r>
              <a:rPr lang="en-US" altLang="zh-CN" sz="2000"/>
              <a:t>1 </a:t>
            </a:r>
            <a:r>
              <a:rPr lang="en-US" altLang="zh-CN" sz="2000" b="1"/>
              <a:t>do</a:t>
            </a:r>
          </a:p>
          <a:p>
            <a:pPr eaLnBrk="1" hangingPunct="1">
              <a:buFont typeface="Wingdings" panose="05000000000000000000" pitchFamily="2" charset="2"/>
              <a:buNone/>
            </a:pPr>
            <a:r>
              <a:rPr lang="en-US" altLang="zh-CN" sz="2000"/>
              <a:t>5. 	</a:t>
            </a:r>
            <a:r>
              <a:rPr lang="en-US" altLang="zh-CN" sz="2000" b="1"/>
              <a:t>if </a:t>
            </a:r>
            <a:r>
              <a:rPr lang="en-US" altLang="zh-CN" sz="2000"/>
              <a:t>(</a:t>
            </a:r>
            <a:r>
              <a:rPr lang="en-US" altLang="zh-CN" sz="2000" i="1"/>
              <a:t>A</a:t>
            </a:r>
            <a:r>
              <a:rPr lang="en-US" altLang="zh-CN" sz="2000">
                <a:ea typeface="MTSYN" charset="-122"/>
              </a:rPr>
              <a:t>[</a:t>
            </a:r>
            <a:r>
              <a:rPr lang="en-US" altLang="zh-CN" sz="2000" i="1"/>
              <a:t>i </a:t>
            </a:r>
            <a:r>
              <a:rPr lang="en-US" altLang="zh-CN" sz="2000">
                <a:ea typeface="MTSYN" charset="-122"/>
              </a:rPr>
              <a:t>] </a:t>
            </a:r>
            <a:r>
              <a:rPr lang="en-US" altLang="zh-CN" sz="2000" i="1">
                <a:ea typeface="RMTMI" charset="-122"/>
              </a:rPr>
              <a:t>&lt; </a:t>
            </a:r>
            <a:r>
              <a:rPr lang="en-US" altLang="zh-CN" sz="2000" i="1"/>
              <a:t>min</a:t>
            </a:r>
            <a:r>
              <a:rPr lang="en-US" altLang="zh-CN" sz="2000"/>
              <a:t>) </a:t>
            </a:r>
            <a:r>
              <a:rPr lang="en-US" altLang="zh-CN" sz="2000" i="1"/>
              <a:t>min </a:t>
            </a:r>
            <a:r>
              <a:rPr lang="en-US" altLang="zh-CN" sz="2000"/>
              <a:t>:= </a:t>
            </a:r>
            <a:r>
              <a:rPr lang="en-US" altLang="zh-CN" sz="2000" i="1"/>
              <a:t>A</a:t>
            </a:r>
            <a:r>
              <a:rPr lang="en-US" altLang="zh-CN" sz="2000">
                <a:ea typeface="MTSYN" charset="-122"/>
              </a:rPr>
              <a:t>[</a:t>
            </a:r>
            <a:r>
              <a:rPr lang="en-US" altLang="zh-CN" sz="2000" i="1"/>
              <a:t>i </a:t>
            </a:r>
            <a:r>
              <a:rPr lang="en-US" altLang="zh-CN" sz="2000">
                <a:ea typeface="MTSYN" charset="-122"/>
              </a:rPr>
              <a:t>]</a:t>
            </a:r>
            <a:r>
              <a:rPr lang="en-US" altLang="zh-CN" sz="2000"/>
              <a:t>;</a:t>
            </a:r>
          </a:p>
          <a:p>
            <a:pPr eaLnBrk="1" hangingPunct="1">
              <a:buFont typeface="Wingdings" panose="05000000000000000000" pitchFamily="2" charset="2"/>
              <a:buNone/>
            </a:pPr>
            <a:r>
              <a:rPr lang="en-US" altLang="zh-CN" sz="2000"/>
              <a:t>6. </a:t>
            </a:r>
            <a:r>
              <a:rPr lang="en-US" altLang="zh-CN" sz="2000" b="1"/>
              <a:t>endfor</a:t>
            </a:r>
            <a:r>
              <a:rPr lang="en-US" altLang="zh-CN" sz="2000"/>
              <a:t>;</a:t>
            </a:r>
          </a:p>
          <a:p>
            <a:pPr eaLnBrk="1" hangingPunct="1">
              <a:buFont typeface="Wingdings" panose="05000000000000000000" pitchFamily="2" charset="2"/>
              <a:buNone/>
            </a:pPr>
            <a:r>
              <a:rPr lang="en-US" altLang="zh-CN" sz="2000"/>
              <a:t>7. </a:t>
            </a:r>
            <a:r>
              <a:rPr lang="en-US" altLang="zh-CN" sz="2000" b="1"/>
              <a:t>return </a:t>
            </a:r>
            <a:r>
              <a:rPr lang="en-US" altLang="zh-CN" sz="2000" i="1"/>
              <a:t>min</a:t>
            </a:r>
            <a:r>
              <a:rPr lang="en-US" altLang="zh-CN" sz="2000"/>
              <a:t>;</a:t>
            </a:r>
          </a:p>
          <a:p>
            <a:pPr eaLnBrk="1" hangingPunct="1">
              <a:buFont typeface="Wingdings" panose="05000000000000000000" pitchFamily="2" charset="2"/>
              <a:buNone/>
            </a:pPr>
            <a:r>
              <a:rPr lang="en-US" altLang="zh-CN" sz="2000"/>
              <a:t>8. </a:t>
            </a:r>
            <a:r>
              <a:rPr lang="en-US" altLang="zh-CN" sz="2000" b="1"/>
              <a:t>end </a:t>
            </a:r>
            <a:r>
              <a:rPr lang="en-US" altLang="zh-CN" sz="2000"/>
              <a:t>SERIAL MIN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a:t>例：求最小元（续）</a:t>
            </a:r>
          </a:p>
        </p:txBody>
      </p:sp>
      <p:sp>
        <p:nvSpPr>
          <p:cNvPr id="41987" name="Rectangle 3"/>
          <p:cNvSpPr>
            <a:spLocks noGrp="1" noChangeArrowheads="1"/>
          </p:cNvSpPr>
          <p:nvPr>
            <p:ph type="body" idx="1"/>
          </p:nvPr>
        </p:nvSpPr>
        <p:spPr/>
        <p:txBody>
          <a:bodyPr/>
          <a:lstStyle/>
          <a:p>
            <a:pPr eaLnBrk="1" hangingPunct="1">
              <a:lnSpc>
                <a:spcPct val="90000"/>
              </a:lnSpc>
            </a:pPr>
            <a:r>
              <a:rPr lang="zh-CN" altLang="en-US"/>
              <a:t>改为分治策略</a:t>
            </a:r>
            <a:r>
              <a:rPr lang="en-US" altLang="zh-CN"/>
              <a:t>——</a:t>
            </a:r>
            <a:r>
              <a:rPr lang="zh-CN" altLang="en-US"/>
              <a:t>易于并行化</a:t>
            </a:r>
          </a:p>
          <a:p>
            <a:pPr eaLnBrk="1" hangingPunct="1">
              <a:lnSpc>
                <a:spcPct val="90000"/>
              </a:lnSpc>
              <a:buFont typeface="Wingdings" panose="05000000000000000000" pitchFamily="2" charset="2"/>
              <a:buNone/>
            </a:pPr>
            <a:r>
              <a:rPr lang="en-US" altLang="zh-CN" sz="1800"/>
              <a:t>1. </a:t>
            </a:r>
            <a:r>
              <a:rPr lang="en-US" altLang="zh-CN" sz="1800" b="1"/>
              <a:t>procedure </a:t>
            </a:r>
            <a:r>
              <a:rPr lang="en-US" altLang="zh-CN" sz="1800"/>
              <a:t>RECURSIVE_MIN (</a:t>
            </a:r>
            <a:r>
              <a:rPr lang="en-US" altLang="zh-CN" sz="1800" i="1"/>
              <a:t>A</a:t>
            </a:r>
            <a:r>
              <a:rPr lang="en-US" altLang="zh-CN" sz="1800" i="1">
                <a:ea typeface="RMTMI" charset="-122"/>
              </a:rPr>
              <a:t>, </a:t>
            </a:r>
            <a:r>
              <a:rPr lang="en-US" altLang="zh-CN" sz="1800" i="1"/>
              <a:t>n</a:t>
            </a:r>
            <a:r>
              <a:rPr lang="en-US" altLang="zh-CN" sz="1800"/>
              <a:t>)</a:t>
            </a:r>
          </a:p>
          <a:p>
            <a:pPr eaLnBrk="1" hangingPunct="1">
              <a:lnSpc>
                <a:spcPct val="90000"/>
              </a:lnSpc>
              <a:buFont typeface="Wingdings" panose="05000000000000000000" pitchFamily="2" charset="2"/>
              <a:buNone/>
            </a:pPr>
            <a:r>
              <a:rPr lang="en-US" altLang="zh-CN" sz="1800"/>
              <a:t>2. </a:t>
            </a:r>
            <a:r>
              <a:rPr lang="en-US" altLang="zh-CN" sz="1800" b="1"/>
              <a:t>begin</a:t>
            </a:r>
          </a:p>
          <a:p>
            <a:pPr eaLnBrk="1" hangingPunct="1">
              <a:lnSpc>
                <a:spcPct val="90000"/>
              </a:lnSpc>
              <a:buFont typeface="Wingdings" panose="05000000000000000000" pitchFamily="2" charset="2"/>
              <a:buNone/>
            </a:pPr>
            <a:r>
              <a:rPr lang="en-US" altLang="zh-CN" sz="1800"/>
              <a:t>3. </a:t>
            </a:r>
            <a:r>
              <a:rPr lang="en-US" altLang="zh-CN" sz="1800" b="1"/>
              <a:t>if </a:t>
            </a:r>
            <a:r>
              <a:rPr lang="en-US" altLang="zh-CN" sz="1800"/>
              <a:t>(</a:t>
            </a:r>
            <a:r>
              <a:rPr lang="en-US" altLang="zh-CN" sz="1800" i="1"/>
              <a:t>n </a:t>
            </a:r>
            <a:r>
              <a:rPr lang="en-US" altLang="zh-CN" sz="1800">
                <a:ea typeface="MTSYN" charset="-122"/>
              </a:rPr>
              <a:t>= </a:t>
            </a:r>
            <a:r>
              <a:rPr lang="en-US" altLang="zh-CN" sz="1800"/>
              <a:t>1) </a:t>
            </a:r>
            <a:r>
              <a:rPr lang="en-US" altLang="zh-CN" sz="1800" b="1"/>
              <a:t>then</a:t>
            </a:r>
          </a:p>
          <a:p>
            <a:pPr eaLnBrk="1" hangingPunct="1">
              <a:lnSpc>
                <a:spcPct val="90000"/>
              </a:lnSpc>
              <a:buFont typeface="Wingdings" panose="05000000000000000000" pitchFamily="2" charset="2"/>
              <a:buNone/>
            </a:pPr>
            <a:r>
              <a:rPr lang="en-US" altLang="zh-CN" sz="1800"/>
              <a:t>4. 	</a:t>
            </a:r>
            <a:r>
              <a:rPr lang="en-US" altLang="zh-CN" sz="1800" i="1"/>
              <a:t>min </a:t>
            </a:r>
            <a:r>
              <a:rPr lang="en-US" altLang="zh-CN" sz="1800"/>
              <a:t>:= </a:t>
            </a:r>
            <a:r>
              <a:rPr lang="en-US" altLang="zh-CN" sz="1800" i="1"/>
              <a:t>A</a:t>
            </a:r>
            <a:r>
              <a:rPr lang="en-US" altLang="zh-CN" sz="1800">
                <a:ea typeface="MTSYN" charset="-122"/>
              </a:rPr>
              <a:t>[</a:t>
            </a:r>
            <a:r>
              <a:rPr lang="en-US" altLang="zh-CN" sz="1800"/>
              <a:t>0</a:t>
            </a:r>
            <a:r>
              <a:rPr lang="en-US" altLang="zh-CN" sz="1800">
                <a:ea typeface="MTSYN" charset="-122"/>
              </a:rPr>
              <a:t>]</a:t>
            </a:r>
            <a:r>
              <a:rPr lang="en-US" altLang="zh-CN" sz="1800"/>
              <a:t>;</a:t>
            </a:r>
          </a:p>
          <a:p>
            <a:pPr eaLnBrk="1" hangingPunct="1">
              <a:lnSpc>
                <a:spcPct val="90000"/>
              </a:lnSpc>
              <a:buFont typeface="Wingdings" panose="05000000000000000000" pitchFamily="2" charset="2"/>
              <a:buNone/>
            </a:pPr>
            <a:r>
              <a:rPr lang="en-US" altLang="zh-CN" sz="1800"/>
              <a:t>5. </a:t>
            </a:r>
            <a:r>
              <a:rPr lang="en-US" altLang="zh-CN" sz="1800" b="1"/>
              <a:t>else</a:t>
            </a:r>
          </a:p>
          <a:p>
            <a:pPr eaLnBrk="1" hangingPunct="1">
              <a:lnSpc>
                <a:spcPct val="90000"/>
              </a:lnSpc>
              <a:buFont typeface="Wingdings" panose="05000000000000000000" pitchFamily="2" charset="2"/>
              <a:buNone/>
            </a:pPr>
            <a:r>
              <a:rPr lang="en-US" altLang="zh-CN" sz="1800"/>
              <a:t>6.	 </a:t>
            </a:r>
            <a:r>
              <a:rPr lang="en-US" altLang="zh-CN" sz="1800" i="1"/>
              <a:t>lmin </a:t>
            </a:r>
            <a:r>
              <a:rPr lang="en-US" altLang="zh-CN" sz="1800"/>
              <a:t>:= RECURSIVE_MIN (</a:t>
            </a:r>
            <a:r>
              <a:rPr lang="en-US" altLang="zh-CN" sz="1800" i="1"/>
              <a:t>A</a:t>
            </a:r>
            <a:r>
              <a:rPr lang="en-US" altLang="zh-CN" sz="1800" i="1">
                <a:ea typeface="RMTMI" charset="-122"/>
              </a:rPr>
              <a:t>, </a:t>
            </a:r>
            <a:r>
              <a:rPr lang="en-US" altLang="zh-CN" sz="1800" i="1"/>
              <a:t>n</a:t>
            </a:r>
            <a:r>
              <a:rPr lang="en-US" altLang="zh-CN" sz="1800" i="1">
                <a:ea typeface="RMTMI" charset="-122"/>
              </a:rPr>
              <a:t>/</a:t>
            </a:r>
            <a:r>
              <a:rPr lang="en-US" altLang="zh-CN" sz="1800"/>
              <a:t>2);</a:t>
            </a:r>
          </a:p>
          <a:p>
            <a:pPr eaLnBrk="1" hangingPunct="1">
              <a:lnSpc>
                <a:spcPct val="90000"/>
              </a:lnSpc>
              <a:buFont typeface="Wingdings" panose="05000000000000000000" pitchFamily="2" charset="2"/>
              <a:buNone/>
            </a:pPr>
            <a:r>
              <a:rPr lang="en-US" altLang="zh-CN" sz="1800"/>
              <a:t>7. 	</a:t>
            </a:r>
            <a:r>
              <a:rPr lang="en-US" altLang="zh-CN" sz="1800" i="1"/>
              <a:t>rmin </a:t>
            </a:r>
            <a:r>
              <a:rPr lang="en-US" altLang="zh-CN" sz="1800"/>
              <a:t>:= RECURSIVE_MIN (&amp;</a:t>
            </a:r>
            <a:r>
              <a:rPr lang="en-US" altLang="zh-CN" sz="1800" i="1">
                <a:ea typeface="RMTMI" charset="-122"/>
              </a:rPr>
              <a:t>(</a:t>
            </a:r>
            <a:r>
              <a:rPr lang="en-US" altLang="zh-CN" sz="1800" i="1"/>
              <a:t>A</a:t>
            </a:r>
            <a:r>
              <a:rPr lang="en-US" altLang="zh-CN" sz="1800">
                <a:ea typeface="MTSYN" charset="-122"/>
              </a:rPr>
              <a:t>[</a:t>
            </a:r>
            <a:r>
              <a:rPr lang="en-US" altLang="zh-CN" sz="1800" i="1"/>
              <a:t>n</a:t>
            </a:r>
            <a:r>
              <a:rPr lang="en-US" altLang="zh-CN" sz="1800" i="1">
                <a:ea typeface="RMTMI" charset="-122"/>
              </a:rPr>
              <a:t>/</a:t>
            </a:r>
            <a:r>
              <a:rPr lang="en-US" altLang="zh-CN" sz="1800"/>
              <a:t>2</a:t>
            </a:r>
            <a:r>
              <a:rPr lang="en-US" altLang="zh-CN" sz="1800">
                <a:ea typeface="MTSYN" charset="-122"/>
              </a:rPr>
              <a:t>]</a:t>
            </a:r>
            <a:r>
              <a:rPr lang="en-US" altLang="zh-CN" sz="1800" i="1">
                <a:ea typeface="RMTMI" charset="-122"/>
              </a:rPr>
              <a:t>), </a:t>
            </a:r>
            <a:r>
              <a:rPr lang="en-US" altLang="zh-CN" sz="1800" i="1"/>
              <a:t>n </a:t>
            </a:r>
            <a:r>
              <a:rPr lang="en-US" altLang="zh-CN" sz="1800">
                <a:ea typeface="MTSYN" charset="-122"/>
              </a:rPr>
              <a:t>- </a:t>
            </a:r>
            <a:r>
              <a:rPr lang="en-US" altLang="zh-CN" sz="1800" i="1"/>
              <a:t>n</a:t>
            </a:r>
            <a:r>
              <a:rPr lang="en-US" altLang="zh-CN" sz="1800" i="1">
                <a:ea typeface="RMTMI" charset="-122"/>
              </a:rPr>
              <a:t>/</a:t>
            </a:r>
            <a:r>
              <a:rPr lang="en-US" altLang="zh-CN" sz="1800"/>
              <a:t>2);</a:t>
            </a:r>
          </a:p>
          <a:p>
            <a:pPr eaLnBrk="1" hangingPunct="1">
              <a:lnSpc>
                <a:spcPct val="90000"/>
              </a:lnSpc>
              <a:buFont typeface="Wingdings" panose="05000000000000000000" pitchFamily="2" charset="2"/>
              <a:buNone/>
            </a:pPr>
            <a:r>
              <a:rPr lang="en-US" altLang="zh-CN" sz="1800"/>
              <a:t>8. 	</a:t>
            </a:r>
            <a:r>
              <a:rPr lang="en-US" altLang="zh-CN" sz="1800" b="1"/>
              <a:t>if </a:t>
            </a:r>
            <a:r>
              <a:rPr lang="en-US" altLang="zh-CN" sz="1800"/>
              <a:t>(</a:t>
            </a:r>
            <a:r>
              <a:rPr lang="en-US" altLang="zh-CN" sz="1800" i="1"/>
              <a:t>lmin </a:t>
            </a:r>
            <a:r>
              <a:rPr lang="en-US" altLang="zh-CN" sz="1800" i="1">
                <a:ea typeface="RMTMI" charset="-122"/>
              </a:rPr>
              <a:t>&lt; </a:t>
            </a:r>
            <a:r>
              <a:rPr lang="en-US" altLang="zh-CN" sz="1800" i="1"/>
              <a:t>rmin</a:t>
            </a:r>
            <a:r>
              <a:rPr lang="en-US" altLang="zh-CN" sz="1800"/>
              <a:t>) </a:t>
            </a:r>
            <a:r>
              <a:rPr lang="en-US" altLang="zh-CN" sz="1800" b="1"/>
              <a:t>then</a:t>
            </a:r>
          </a:p>
          <a:p>
            <a:pPr eaLnBrk="1" hangingPunct="1">
              <a:lnSpc>
                <a:spcPct val="90000"/>
              </a:lnSpc>
              <a:buFont typeface="Wingdings" panose="05000000000000000000" pitchFamily="2" charset="2"/>
              <a:buNone/>
            </a:pPr>
            <a:r>
              <a:rPr lang="en-US" altLang="zh-CN" sz="1800"/>
              <a:t>9. 		</a:t>
            </a:r>
            <a:r>
              <a:rPr lang="en-US" altLang="zh-CN" sz="1800" i="1"/>
              <a:t>min </a:t>
            </a:r>
            <a:r>
              <a:rPr lang="en-US" altLang="zh-CN" sz="1800"/>
              <a:t>:= </a:t>
            </a:r>
            <a:r>
              <a:rPr lang="en-US" altLang="zh-CN" sz="1800" i="1"/>
              <a:t>lmin</a:t>
            </a:r>
            <a:r>
              <a:rPr lang="en-US" altLang="zh-CN" sz="1800"/>
              <a:t>;</a:t>
            </a:r>
          </a:p>
          <a:p>
            <a:pPr eaLnBrk="1" hangingPunct="1">
              <a:lnSpc>
                <a:spcPct val="90000"/>
              </a:lnSpc>
              <a:buFont typeface="Wingdings" panose="05000000000000000000" pitchFamily="2" charset="2"/>
              <a:buNone/>
            </a:pPr>
            <a:r>
              <a:rPr lang="en-US" altLang="zh-CN" sz="1800"/>
              <a:t>10.	</a:t>
            </a:r>
            <a:r>
              <a:rPr lang="en-US" altLang="zh-CN" sz="1800" b="1"/>
              <a:t>else</a:t>
            </a:r>
          </a:p>
          <a:p>
            <a:pPr eaLnBrk="1" hangingPunct="1">
              <a:lnSpc>
                <a:spcPct val="90000"/>
              </a:lnSpc>
              <a:buFont typeface="Wingdings" panose="05000000000000000000" pitchFamily="2" charset="2"/>
              <a:buNone/>
            </a:pPr>
            <a:r>
              <a:rPr lang="en-US" altLang="zh-CN" sz="1800"/>
              <a:t>11. 	</a:t>
            </a:r>
            <a:r>
              <a:rPr lang="en-US" altLang="zh-CN" sz="1800" i="1"/>
              <a:t>min </a:t>
            </a:r>
            <a:r>
              <a:rPr lang="en-US" altLang="zh-CN" sz="1800"/>
              <a:t>:= </a:t>
            </a:r>
            <a:r>
              <a:rPr lang="en-US" altLang="zh-CN" sz="1800" i="1"/>
              <a:t>rmin</a:t>
            </a:r>
            <a:r>
              <a:rPr lang="en-US" altLang="zh-CN" sz="1800"/>
              <a:t>;</a:t>
            </a:r>
          </a:p>
          <a:p>
            <a:pPr eaLnBrk="1" hangingPunct="1">
              <a:lnSpc>
                <a:spcPct val="90000"/>
              </a:lnSpc>
              <a:buFont typeface="Wingdings" panose="05000000000000000000" pitchFamily="2" charset="2"/>
              <a:buNone/>
            </a:pPr>
            <a:r>
              <a:rPr lang="en-US" altLang="zh-CN" sz="1800"/>
              <a:t>12.	</a:t>
            </a:r>
            <a:r>
              <a:rPr lang="en-US" altLang="zh-CN" sz="1800" b="1"/>
              <a:t>endelse</a:t>
            </a:r>
            <a:r>
              <a:rPr lang="en-US" altLang="zh-CN" sz="1800"/>
              <a:t>;</a:t>
            </a:r>
          </a:p>
          <a:p>
            <a:pPr eaLnBrk="1" hangingPunct="1">
              <a:lnSpc>
                <a:spcPct val="90000"/>
              </a:lnSpc>
              <a:buFont typeface="Wingdings" panose="05000000000000000000" pitchFamily="2" charset="2"/>
              <a:buNone/>
            </a:pPr>
            <a:r>
              <a:rPr lang="en-US" altLang="zh-CN" sz="1800"/>
              <a:t>13.</a:t>
            </a:r>
            <a:r>
              <a:rPr lang="en-US" altLang="zh-CN" sz="1800" b="1"/>
              <a:t>endelse</a:t>
            </a:r>
            <a:r>
              <a:rPr lang="en-US" altLang="zh-CN" sz="1800"/>
              <a:t>;</a:t>
            </a:r>
          </a:p>
          <a:p>
            <a:pPr eaLnBrk="1" hangingPunct="1">
              <a:lnSpc>
                <a:spcPct val="90000"/>
              </a:lnSpc>
              <a:buFont typeface="Wingdings" panose="05000000000000000000" pitchFamily="2" charset="2"/>
              <a:buNone/>
            </a:pPr>
            <a:r>
              <a:rPr lang="en-US" altLang="zh-CN" sz="1800"/>
              <a:t>14. </a:t>
            </a:r>
            <a:r>
              <a:rPr lang="en-US" altLang="zh-CN" sz="1800" b="1"/>
              <a:t>return </a:t>
            </a:r>
            <a:r>
              <a:rPr lang="en-US" altLang="zh-CN" sz="1800" i="1"/>
              <a:t>min</a:t>
            </a:r>
            <a:r>
              <a:rPr lang="en-US" altLang="zh-CN" sz="1800"/>
              <a:t>;</a:t>
            </a:r>
          </a:p>
          <a:p>
            <a:pPr eaLnBrk="1" hangingPunct="1">
              <a:lnSpc>
                <a:spcPct val="90000"/>
              </a:lnSpc>
              <a:buFont typeface="Wingdings" panose="05000000000000000000" pitchFamily="2" charset="2"/>
              <a:buNone/>
            </a:pPr>
            <a:r>
              <a:rPr lang="en-US" altLang="zh-CN" sz="1800"/>
              <a:t>15. </a:t>
            </a:r>
            <a:r>
              <a:rPr lang="en-US" altLang="zh-CN" sz="1800" b="1"/>
              <a:t>end </a:t>
            </a:r>
            <a:r>
              <a:rPr lang="en-US" altLang="zh-CN" sz="1800"/>
              <a:t>RECURSIVE_MIN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例：求最小元（续）</a:t>
            </a:r>
          </a:p>
        </p:txBody>
      </p:sp>
      <p:pic>
        <p:nvPicPr>
          <p:cNvPr id="43011" name="Picture 5" descr="m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165350"/>
            <a:ext cx="73152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noChangeArrowheads="1"/>
          </p:cNvSpPr>
          <p:nvPr>
            <p:ph type="title"/>
          </p:nvPr>
        </p:nvSpPr>
        <p:spPr/>
        <p:txBody>
          <a:bodyPr/>
          <a:lstStyle/>
          <a:p>
            <a:r>
              <a:rPr lang="zh-CN" altLang="en-US"/>
              <a:t>搜索分解</a:t>
            </a:r>
          </a:p>
        </p:txBody>
      </p:sp>
      <p:sp>
        <p:nvSpPr>
          <p:cNvPr id="34819" name="内容占位符 2"/>
          <p:cNvSpPr>
            <a:spLocks noGrp="1" noChangeArrowheads="1"/>
          </p:cNvSpPr>
          <p:nvPr>
            <p:ph idx="1"/>
          </p:nvPr>
        </p:nvSpPr>
        <p:spPr/>
        <p:txBody>
          <a:bodyPr/>
          <a:lstStyle/>
          <a:p>
            <a:r>
              <a:rPr lang="en-US" altLang="zh-CN"/>
              <a:t>15-</a:t>
            </a:r>
            <a:r>
              <a:rPr lang="zh-CN" altLang="en-US"/>
              <a:t>数码问题</a:t>
            </a:r>
            <a:endParaRPr lang="en-US" altLang="zh-CN"/>
          </a:p>
          <a:p>
            <a:endParaRPr lang="en-US" altLang="zh-CN"/>
          </a:p>
          <a:p>
            <a:endParaRPr lang="en-US" altLang="zh-CN"/>
          </a:p>
          <a:p>
            <a:endParaRPr lang="en-US" altLang="zh-CN"/>
          </a:p>
          <a:p>
            <a:pPr eaLnBrk="1" hangingPunct="1"/>
            <a:r>
              <a:rPr lang="zh-CN" altLang="en-US"/>
              <a:t>解法</a:t>
            </a:r>
          </a:p>
          <a:p>
            <a:pPr lvl="1" eaLnBrk="1" hangingPunct="1"/>
            <a:r>
              <a:rPr lang="zh-CN" altLang="en-US"/>
              <a:t>搜索空间组织为树结构</a:t>
            </a:r>
          </a:p>
          <a:p>
            <a:pPr lvl="2" eaLnBrk="1" hangingPunct="1"/>
            <a:r>
              <a:rPr lang="zh-CN" altLang="en-US"/>
              <a:t>根节点：初始格局</a:t>
            </a:r>
          </a:p>
          <a:p>
            <a:pPr lvl="2" eaLnBrk="1" hangingPunct="1"/>
            <a:r>
              <a:rPr lang="zh-CN" altLang="en-US"/>
              <a:t>节点</a:t>
            </a:r>
            <a:r>
              <a:rPr lang="en-US" altLang="zh-CN"/>
              <a:t>A</a:t>
            </a:r>
            <a:r>
              <a:rPr lang="zh-CN" altLang="en-US"/>
              <a:t>的孩子节点</a:t>
            </a:r>
          </a:p>
          <a:p>
            <a:pPr lvl="3" eaLnBrk="1" hangingPunct="1"/>
            <a:r>
              <a:rPr lang="zh-CN" altLang="en-US"/>
              <a:t>格局</a:t>
            </a:r>
            <a:r>
              <a:rPr lang="en-US" altLang="zh-CN"/>
              <a:t>A</a:t>
            </a:r>
            <a:r>
              <a:rPr lang="zh-CN" altLang="en-US"/>
              <a:t>的后继格局，</a:t>
            </a:r>
            <a:r>
              <a:rPr lang="en-US" altLang="zh-CN"/>
              <a:t>2</a:t>
            </a:r>
            <a:r>
              <a:rPr lang="zh-CN" altLang="en-US"/>
              <a:t>～</a:t>
            </a:r>
            <a:r>
              <a:rPr lang="en-US" altLang="zh-CN"/>
              <a:t>4</a:t>
            </a:r>
            <a:r>
              <a:rPr lang="zh-CN" altLang="en-US"/>
              <a:t>个</a:t>
            </a:r>
          </a:p>
          <a:p>
            <a:pPr lvl="3" eaLnBrk="1" hangingPunct="1"/>
            <a:r>
              <a:rPr lang="zh-CN" altLang="en-US"/>
              <a:t>格局</a:t>
            </a:r>
            <a:r>
              <a:rPr lang="en-US" altLang="zh-CN"/>
              <a:t>A</a:t>
            </a:r>
            <a:r>
              <a:rPr lang="zh-CN" altLang="en-US"/>
              <a:t>中空格</a:t>
            </a:r>
            <a:r>
              <a:rPr lang="zh-CN" altLang="en-US">
                <a:sym typeface="Wingdings" panose="05000000000000000000" pitchFamily="2" charset="2"/>
              </a:rPr>
              <a:t>与相邻位置交换的结果</a:t>
            </a:r>
          </a:p>
        </p:txBody>
      </p:sp>
      <p:pic>
        <p:nvPicPr>
          <p:cNvPr id="34820" name="Picture 4" descr="15puz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916113"/>
            <a:ext cx="7212012"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noChangeArrowheads="1"/>
          </p:cNvSpPr>
          <p:nvPr>
            <p:ph type="title"/>
          </p:nvPr>
        </p:nvSpPr>
        <p:spPr/>
        <p:txBody>
          <a:bodyPr/>
          <a:lstStyle/>
          <a:p>
            <a:r>
              <a:rPr lang="en-US" altLang="zh-CN"/>
              <a:t>15</a:t>
            </a:r>
            <a:r>
              <a:rPr lang="zh-CN" altLang="en-US"/>
              <a:t>数码任务分解</a:t>
            </a:r>
          </a:p>
        </p:txBody>
      </p:sp>
      <p:sp>
        <p:nvSpPr>
          <p:cNvPr id="35843" name="内容占位符 2"/>
          <p:cNvSpPr>
            <a:spLocks noGrp="1" noChangeArrowheads="1"/>
          </p:cNvSpPr>
          <p:nvPr>
            <p:ph idx="1"/>
          </p:nvPr>
        </p:nvSpPr>
        <p:spPr/>
        <p:txBody>
          <a:bodyPr/>
          <a:lstStyle/>
          <a:p>
            <a:pPr eaLnBrk="1" hangingPunct="1"/>
            <a:r>
              <a:rPr lang="zh-CN" altLang="en-US"/>
              <a:t>先串行生成一定规模的搜索树</a:t>
            </a:r>
          </a:p>
          <a:p>
            <a:pPr eaLnBrk="1" hangingPunct="1"/>
            <a:r>
              <a:rPr lang="zh-CN" altLang="en-US"/>
              <a:t>任务分解</a:t>
            </a:r>
            <a:r>
              <a:rPr lang="en-US" altLang="zh-CN"/>
              <a:t>——</a:t>
            </a:r>
            <a:r>
              <a:rPr lang="zh-CN" altLang="en-US"/>
              <a:t>对得到的搜索树，以每个叶节点为根的子树的搜索工作作为一个任务</a:t>
            </a:r>
          </a:p>
          <a:p>
            <a:pPr eaLnBrk="1" hangingPunct="1"/>
            <a:r>
              <a:rPr lang="zh-CN" altLang="en-US"/>
              <a:t>任务协调</a:t>
            </a:r>
            <a:r>
              <a:rPr lang="en-US" altLang="zh-CN"/>
              <a:t>——</a:t>
            </a:r>
            <a:r>
              <a:rPr lang="zh-CN" altLang="en-US"/>
              <a:t>某个任务（子树）找到解，应通知其他任务（子树）停止搜索</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p:nvPr>
        </p:nvSpPr>
        <p:spPr/>
        <p:txBody>
          <a:bodyPr/>
          <a:lstStyle/>
          <a:p>
            <a:r>
              <a:rPr lang="en-US" altLang="zh-CN"/>
              <a:t>15</a:t>
            </a:r>
            <a:r>
              <a:rPr lang="zh-CN" altLang="en-US"/>
              <a:t>数码任务分解图示</a:t>
            </a:r>
          </a:p>
        </p:txBody>
      </p:sp>
      <p:sp>
        <p:nvSpPr>
          <p:cNvPr id="36867" name="内容占位符 2"/>
          <p:cNvSpPr>
            <a:spLocks noGrp="1" noChangeArrowheads="1"/>
          </p:cNvSpPr>
          <p:nvPr>
            <p:ph idx="1"/>
          </p:nvPr>
        </p:nvSpPr>
        <p:spPr/>
        <p:txBody>
          <a:bodyPr/>
          <a:lstStyle/>
          <a:p>
            <a:endParaRPr lang="zh-CN" altLang="en-US"/>
          </a:p>
        </p:txBody>
      </p:sp>
      <p:pic>
        <p:nvPicPr>
          <p:cNvPr id="36868" name="Picture 4" descr="15puzz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8672513" cy="406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p:nvPr>
        </p:nvSpPr>
        <p:spPr/>
        <p:txBody>
          <a:bodyPr/>
          <a:lstStyle/>
          <a:p>
            <a:r>
              <a:rPr lang="zh-CN" altLang="en-US"/>
              <a:t>与数据分解的区别</a:t>
            </a:r>
          </a:p>
        </p:txBody>
      </p:sp>
      <p:sp>
        <p:nvSpPr>
          <p:cNvPr id="37891" name="内容占位符 2"/>
          <p:cNvSpPr>
            <a:spLocks noGrp="1" noChangeArrowheads="1"/>
          </p:cNvSpPr>
          <p:nvPr>
            <p:ph idx="1"/>
          </p:nvPr>
        </p:nvSpPr>
        <p:spPr/>
        <p:txBody>
          <a:bodyPr/>
          <a:lstStyle/>
          <a:p>
            <a:pPr eaLnBrk="1" hangingPunct="1"/>
            <a:r>
              <a:rPr lang="zh-CN" altLang="en-US"/>
              <a:t>数据分解：每个任务的计算工作的结果对最终结果都是有用的，都要全部做完</a:t>
            </a:r>
          </a:p>
          <a:p>
            <a:pPr eaLnBrk="1" hangingPunct="1"/>
            <a:r>
              <a:rPr lang="zh-CN" altLang="en-US"/>
              <a:t>搜索分解：一旦一个任务找到解，全部任务即可停止，工作量可能大于，也可能小于串行算法</a:t>
            </a:r>
          </a:p>
        </p:txBody>
      </p:sp>
      <p:pic>
        <p:nvPicPr>
          <p:cNvPr id="37892" name="Picture 4" descr="15puzz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044950"/>
            <a:ext cx="78486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p:nvPr>
        </p:nvSpPr>
        <p:spPr/>
        <p:txBody>
          <a:bodyPr/>
          <a:lstStyle/>
          <a:p>
            <a:r>
              <a:rPr lang="zh-CN" altLang="en-US"/>
              <a:t>更多任务分解例：数据库查询</a:t>
            </a:r>
          </a:p>
        </p:txBody>
      </p:sp>
      <p:sp>
        <p:nvSpPr>
          <p:cNvPr id="38915" name="内容占位符 2"/>
          <p:cNvSpPr>
            <a:spLocks noGrp="1" noChangeArrowheads="1"/>
          </p:cNvSpPr>
          <p:nvPr>
            <p:ph idx="1"/>
          </p:nvPr>
        </p:nvSpPr>
        <p:spPr/>
        <p:txBody>
          <a:bodyPr/>
          <a:lstStyle/>
          <a:p>
            <a:pPr eaLnBrk="1" hangingPunct="1"/>
            <a:r>
              <a:rPr lang="zh-CN" altLang="en-US">
                <a:solidFill>
                  <a:srgbClr val="000000"/>
                </a:solidFill>
              </a:rPr>
              <a:t>汽车数据库，进行复杂的组合查询：</a:t>
            </a:r>
            <a:br>
              <a:rPr lang="zh-CN" altLang="en-US">
                <a:solidFill>
                  <a:srgbClr val="000000"/>
                </a:solidFill>
              </a:rPr>
            </a:br>
            <a:r>
              <a:rPr lang="en-US" altLang="zh-CN" sz="2000">
                <a:solidFill>
                  <a:srgbClr val="000000"/>
                </a:solidFill>
              </a:rPr>
              <a:t>Model=“Civic” AND Year=“2001” AND</a:t>
            </a:r>
            <a:br>
              <a:rPr lang="en-US" altLang="zh-CN" sz="2000">
                <a:solidFill>
                  <a:srgbClr val="000000"/>
                </a:solidFill>
              </a:rPr>
            </a:br>
            <a:r>
              <a:rPr lang="en-US" altLang="zh-CN" sz="2000">
                <a:solidFill>
                  <a:srgbClr val="000000"/>
                </a:solidFill>
              </a:rPr>
              <a:t>	(Color=“Green” OR Color=“White”)</a:t>
            </a:r>
            <a:endParaRPr lang="en-US" altLang="zh-CN">
              <a:solidFill>
                <a:srgbClr val="000000"/>
              </a:solidFill>
            </a:endParaRPr>
          </a:p>
          <a:p>
            <a:endParaRPr lang="zh-CN" altLang="en-US"/>
          </a:p>
        </p:txBody>
      </p:sp>
      <p:graphicFrame>
        <p:nvGraphicFramePr>
          <p:cNvPr id="5" name="Group 97"/>
          <p:cNvGraphicFramePr>
            <a:graphicFrameLocks noGrp="1"/>
          </p:cNvGraphicFramePr>
          <p:nvPr/>
        </p:nvGraphicFramePr>
        <p:xfrm>
          <a:off x="914400" y="2514600"/>
          <a:ext cx="7848600" cy="4359278"/>
        </p:xfrm>
        <a:graphic>
          <a:graphicData uri="http://schemas.openxmlformats.org/drawingml/2006/table">
            <a:tbl>
              <a:tblPr/>
              <a:tblGrid>
                <a:gridCol w="130810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308100">
                  <a:extLst>
                    <a:ext uri="{9D8B030D-6E8A-4147-A177-3AD203B41FA5}">
                      <a16:colId xmlns:a16="http://schemas.microsoft.com/office/drawing/2014/main" val="20002"/>
                    </a:ext>
                  </a:extLst>
                </a:gridCol>
                <a:gridCol w="1308100">
                  <a:extLst>
                    <a:ext uri="{9D8B030D-6E8A-4147-A177-3AD203B41FA5}">
                      <a16:colId xmlns:a16="http://schemas.microsoft.com/office/drawing/2014/main" val="20003"/>
                    </a:ext>
                  </a:extLst>
                </a:gridCol>
                <a:gridCol w="1308100">
                  <a:extLst>
                    <a:ext uri="{9D8B030D-6E8A-4147-A177-3AD203B41FA5}">
                      <a16:colId xmlns:a16="http://schemas.microsoft.com/office/drawing/2014/main" val="20004"/>
                    </a:ext>
                  </a:extLst>
                </a:gridCol>
                <a:gridCol w="1308100">
                  <a:extLst>
                    <a:ext uri="{9D8B030D-6E8A-4147-A177-3AD203B41FA5}">
                      <a16:colId xmlns:a16="http://schemas.microsoft.com/office/drawing/2014/main" val="20005"/>
                    </a:ext>
                  </a:extLst>
                </a:gridCol>
              </a:tblGrid>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rPr>
                        <a:t>ID#</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Model</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Year</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Color</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Dealer</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Price</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4523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Civic</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Blue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MN</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$18,000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3476</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Corolla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1999</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White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IL</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$15,000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7623</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Camry</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Green</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NY</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$21,000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9834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Prius</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Green</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$18,000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6734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Civic</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White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OR</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$17,000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5342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Altima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Green</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FL</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$19,000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3845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Maxima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Blue</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NY</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$22,000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8354</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Accord</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2000</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Green</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VT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$18,000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4395</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Civic</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Red</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$17,000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298">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7352</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Civic</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2002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Red</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a:ln>
                            <a:noFill/>
                          </a:ln>
                          <a:solidFill>
                            <a:schemeClr val="tx1"/>
                          </a:solidFill>
                          <a:effectLst/>
                          <a:latin typeface="Times New Roman" panose="02020603050405020304" pitchFamily="18" charset="0"/>
                          <a:ea typeface="宋体" pitchFamily="2" charset="-122"/>
                        </a:rPr>
                        <a:t>WA</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rPr>
                        <a:t>$18,000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p:nvPr>
        </p:nvSpPr>
        <p:spPr/>
        <p:txBody>
          <a:bodyPr/>
          <a:lstStyle/>
          <a:p>
            <a:r>
              <a:rPr lang="zh-CN" altLang="en-US"/>
              <a:t>一种任务分解方法</a:t>
            </a:r>
          </a:p>
        </p:txBody>
      </p:sp>
      <p:sp>
        <p:nvSpPr>
          <p:cNvPr id="39939" name="内容占位符 2"/>
          <p:cNvSpPr>
            <a:spLocks noGrp="1" noChangeArrowheads="1"/>
          </p:cNvSpPr>
          <p:nvPr>
            <p:ph idx="1"/>
          </p:nvPr>
        </p:nvSpPr>
        <p:spPr/>
        <p:txBody>
          <a:bodyPr/>
          <a:lstStyle/>
          <a:p>
            <a:endParaRPr lang="zh-CN" altLang="en-US"/>
          </a:p>
        </p:txBody>
      </p:sp>
      <p:pic>
        <p:nvPicPr>
          <p:cNvPr id="39940" name="Picture 4" descr="que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09700"/>
            <a:ext cx="8229600"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8"/>
          <p:cNvSpPr txBox="1">
            <a:spLocks noChangeArrowheads="1"/>
          </p:cNvSpPr>
          <p:nvPr/>
        </p:nvSpPr>
        <p:spPr bwMode="auto">
          <a:xfrm>
            <a:off x="4427538" y="4652963"/>
            <a:ext cx="173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FF0000"/>
                </a:solidFill>
                <a:latin typeface="黑体" panose="02010609060101010101" pitchFamily="49" charset="-122"/>
                <a:ea typeface="黑体" panose="02010609060101010101" pitchFamily="49" charset="-122"/>
              </a:rPr>
              <a:t>任务依赖图</a:t>
            </a:r>
            <a:endParaRPr lang="en-US" altLang="zh-CN" sz="2400" b="1">
              <a:solidFill>
                <a:srgbClr val="333399"/>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p:nvPr>
        </p:nvSpPr>
        <p:spPr/>
        <p:txBody>
          <a:bodyPr/>
          <a:lstStyle/>
          <a:p>
            <a:r>
              <a:rPr lang="zh-CN" altLang="en-US"/>
              <a:t>另一种任务分解</a:t>
            </a:r>
          </a:p>
        </p:txBody>
      </p:sp>
      <p:sp>
        <p:nvSpPr>
          <p:cNvPr id="40963" name="内容占位符 2"/>
          <p:cNvSpPr>
            <a:spLocks noGrp="1" noChangeArrowheads="1"/>
          </p:cNvSpPr>
          <p:nvPr>
            <p:ph idx="1"/>
          </p:nvPr>
        </p:nvSpPr>
        <p:spPr/>
        <p:txBody>
          <a:bodyPr/>
          <a:lstStyle/>
          <a:p>
            <a:endParaRPr lang="zh-CN" altLang="en-US"/>
          </a:p>
        </p:txBody>
      </p:sp>
      <p:pic>
        <p:nvPicPr>
          <p:cNvPr id="40964" name="Picture 4" descr="query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5400"/>
            <a:ext cx="7024688" cy="548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a:spLocks noChangeArrowheads="1"/>
          </p:cNvSpPr>
          <p:nvPr/>
        </p:nvSpPr>
        <p:spPr bwMode="auto">
          <a:xfrm>
            <a:off x="250825" y="3789363"/>
            <a:ext cx="1731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FF0000"/>
                </a:solidFill>
                <a:latin typeface="黑体" panose="02010609060101010101" pitchFamily="49" charset="-122"/>
                <a:ea typeface="黑体" panose="02010609060101010101" pitchFamily="49" charset="-122"/>
              </a:rPr>
              <a:t>哪种更优？</a:t>
            </a:r>
            <a:endParaRPr lang="en-US" altLang="zh-CN" sz="2400" b="1">
              <a:solidFill>
                <a:srgbClr val="333399"/>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a:t>Ian Foster</a:t>
            </a:r>
            <a:r>
              <a:rPr lang="zh-CN" altLang="en-US"/>
              <a:t>的方法学</a:t>
            </a:r>
          </a:p>
        </p:txBody>
      </p:sp>
      <p:sp>
        <p:nvSpPr>
          <p:cNvPr id="41987" name="Rectangle 3"/>
          <p:cNvSpPr>
            <a:spLocks noGrp="1" noChangeArrowheads="1"/>
          </p:cNvSpPr>
          <p:nvPr>
            <p:ph type="body" idx="1"/>
          </p:nvPr>
        </p:nvSpPr>
        <p:spPr/>
        <p:txBody>
          <a:bodyPr/>
          <a:lstStyle/>
          <a:p>
            <a:pPr eaLnBrk="1" hangingPunct="1"/>
            <a:endParaRPr lang="zh-CN" altLang="en-US"/>
          </a:p>
        </p:txBody>
      </p:sp>
      <p:pic>
        <p:nvPicPr>
          <p:cNvPr id="41988" name="Picture 5" descr="foster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295400"/>
            <a:ext cx="4714875" cy="555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通信优化</a:t>
            </a:r>
          </a:p>
        </p:txBody>
      </p:sp>
      <p:sp>
        <p:nvSpPr>
          <p:cNvPr id="3" name="内容占位符 2"/>
          <p:cNvSpPr>
            <a:spLocks noGrp="1"/>
          </p:cNvSpPr>
          <p:nvPr>
            <p:ph idx="1"/>
          </p:nvPr>
        </p:nvSpPr>
        <p:spPr/>
        <p:txBody>
          <a:bodyPr/>
          <a:lstStyle/>
          <a:p>
            <a:r>
              <a:rPr lang="zh-CN" altLang="en-US" sz="2400" dirty="0"/>
              <a:t>最大化数据局部性：</a:t>
            </a:r>
            <a:r>
              <a:rPr lang="zh-CN" altLang="en-US" sz="2400" dirty="0">
                <a:sym typeface="Wingdings" panose="05000000000000000000" pitchFamily="2" charset="2"/>
              </a:rPr>
              <a:t>更多地访问局部数据</a:t>
            </a:r>
            <a:r>
              <a:rPr lang="en-US" altLang="zh-CN" sz="2400" dirty="0">
                <a:sym typeface="Wingdings" panose="05000000000000000000" pitchFamily="2" charset="2"/>
              </a:rPr>
              <a:t>/</a:t>
            </a:r>
            <a:r>
              <a:rPr lang="zh-CN" altLang="en-US" sz="2400" dirty="0">
                <a:sym typeface="Wingdings" panose="05000000000000000000" pitchFamily="2" charset="2"/>
              </a:rPr>
              <a:t>最近访问过的数据，</a:t>
            </a:r>
            <a:r>
              <a:rPr lang="zh-CN" altLang="en-US" sz="2400" dirty="0"/>
              <a:t>类似</a:t>
            </a:r>
            <a:r>
              <a:rPr lang="en-US" altLang="zh-CN" sz="2400" dirty="0"/>
              <a:t>cache</a:t>
            </a:r>
            <a:r>
              <a:rPr lang="zh-CN" altLang="en-US" sz="2400" dirty="0"/>
              <a:t>技术</a:t>
            </a:r>
            <a:endParaRPr lang="en-US" altLang="zh-CN" sz="2400" dirty="0"/>
          </a:p>
          <a:p>
            <a:r>
              <a:rPr lang="zh-CN" altLang="en-US" sz="2400" dirty="0"/>
              <a:t>最小化数据交互量</a:t>
            </a:r>
            <a:endParaRPr lang="en-US" altLang="zh-CN" sz="2400" dirty="0"/>
          </a:p>
          <a:p>
            <a:pPr lvl="1"/>
            <a:r>
              <a:rPr lang="zh-CN" altLang="en-US" sz="2000" dirty="0"/>
              <a:t>连续访问相同的数据：类似时间局部性</a:t>
            </a:r>
            <a:endParaRPr lang="en-US" altLang="zh-CN" sz="2000" dirty="0"/>
          </a:p>
          <a:p>
            <a:pPr lvl="1"/>
            <a:r>
              <a:rPr lang="zh-CN" altLang="en-US" sz="2000" dirty="0"/>
              <a:t>中间结果保存为局部数据，最终结果计算时才通信</a:t>
            </a:r>
            <a:endParaRPr lang="en-US" altLang="zh-CN" sz="2000" dirty="0"/>
          </a:p>
          <a:p>
            <a:r>
              <a:rPr lang="zh-CN" altLang="en-US" sz="2400" dirty="0"/>
              <a:t>最小化交互频率：重构算法、大块访问数据</a:t>
            </a:r>
            <a:endParaRPr lang="en-US" altLang="zh-CN" sz="2400" dirty="0"/>
          </a:p>
          <a:p>
            <a:r>
              <a:rPr lang="zh-CN" altLang="en-US" sz="2400" dirty="0"/>
              <a:t>最小化冲突和热点：重构算法，避免多个任务同时访问共享数据、多个进程同时向一个进程发送消息等</a:t>
            </a:r>
            <a:endParaRPr lang="en-US" altLang="zh-CN" sz="2400" dirty="0"/>
          </a:p>
          <a:p>
            <a:r>
              <a:rPr lang="zh-CN" altLang="en-US" sz="2400" dirty="0"/>
              <a:t>计算与通信重叠：预取（异步通信）、多线程等</a:t>
            </a:r>
            <a:endParaRPr lang="en-US" altLang="zh-CN" sz="2400" dirty="0"/>
          </a:p>
          <a:p>
            <a:r>
              <a:rPr lang="zh-CN" altLang="en-US" sz="2400" dirty="0"/>
              <a:t>复制数据、重复计算</a:t>
            </a:r>
            <a:endParaRPr lang="en-US" altLang="zh-CN" sz="2400" dirty="0"/>
          </a:p>
          <a:p>
            <a:r>
              <a:rPr lang="zh-CN" altLang="en-US" sz="2400" dirty="0"/>
              <a:t>使用优化的组通信</a:t>
            </a:r>
            <a:endParaRPr lang="en-US" altLang="zh-CN" sz="2400" dirty="0"/>
          </a:p>
          <a:p>
            <a:r>
              <a:rPr lang="zh-CN" altLang="en-US" sz="2400" dirty="0"/>
              <a:t>通信和通信重叠</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2">
            <a:extLst>
              <a:ext uri="{FF2B5EF4-FFF2-40B4-BE49-F238E27FC236}">
                <a16:creationId xmlns:a16="http://schemas.microsoft.com/office/drawing/2014/main" id="{BCD7BCEF-FF27-47D9-B1CA-64A70932C0FA}"/>
              </a:ext>
            </a:extLst>
          </p:cNvPr>
          <p:cNvSpPr>
            <a:spLocks noGrp="1" noChangeArrowheads="1"/>
          </p:cNvSpPr>
          <p:nvPr>
            <p:ph type="title"/>
          </p:nvPr>
        </p:nvSpPr>
        <p:spPr/>
        <p:txBody>
          <a:bodyPr/>
          <a:lstStyle/>
          <a:p>
            <a:pPr eaLnBrk="1" hangingPunct="1"/>
            <a:r>
              <a:rPr lang="zh-CN" altLang="en-US" dirty="0"/>
              <a:t>最小化冲突和热点：矩阵相乘</a:t>
            </a:r>
          </a:p>
        </p:txBody>
      </p:sp>
      <p:sp>
        <p:nvSpPr>
          <p:cNvPr id="9223" name="Rectangle 3">
            <a:extLst>
              <a:ext uri="{FF2B5EF4-FFF2-40B4-BE49-F238E27FC236}">
                <a16:creationId xmlns:a16="http://schemas.microsoft.com/office/drawing/2014/main" id="{9DB84F68-A2F5-4DFD-8AF2-02FA37CA4205}"/>
              </a:ext>
            </a:extLst>
          </p:cNvPr>
          <p:cNvSpPr>
            <a:spLocks noGrp="1" noChangeArrowheads="1"/>
          </p:cNvSpPr>
          <p:nvPr>
            <p:ph type="body" idx="1"/>
          </p:nvPr>
        </p:nvSpPr>
        <p:spPr>
          <a:xfrm>
            <a:off x="1182688" y="1371600"/>
            <a:ext cx="7772400" cy="4800600"/>
          </a:xfrm>
        </p:spPr>
        <p:txBody>
          <a:bodyPr/>
          <a:lstStyle/>
          <a:p>
            <a:pPr eaLnBrk="1" hangingPunct="1"/>
            <a:r>
              <a:rPr lang="en-US" altLang="zh-CN" sz="2800" dirty="0"/>
              <a:t>C=AB</a:t>
            </a:r>
          </a:p>
          <a:p>
            <a:pPr lvl="1" eaLnBrk="1" hangingPunct="1"/>
            <a:r>
              <a:rPr lang="en-US" altLang="zh-CN" sz="2400" dirty="0"/>
              <a:t>p</a:t>
            </a:r>
            <a:r>
              <a:rPr lang="zh-CN" altLang="en-US" sz="2400" dirty="0"/>
              <a:t>个进程</a:t>
            </a:r>
            <a:r>
              <a:rPr lang="en-US" altLang="zh-CN" sz="2400" dirty="0"/>
              <a:t>(CPU)</a:t>
            </a:r>
            <a:r>
              <a:rPr lang="zh-CN" altLang="en-US" sz="2400" dirty="0"/>
              <a:t>，每个进程负责</a:t>
            </a:r>
            <a:r>
              <a:rPr lang="en-US" altLang="zh-CN" sz="2400" dirty="0"/>
              <a:t>C</a:t>
            </a:r>
            <a:r>
              <a:rPr lang="zh-CN" altLang="en-US" sz="2400" dirty="0"/>
              <a:t>的一个子矩阵运算</a:t>
            </a:r>
          </a:p>
          <a:p>
            <a:pPr lvl="1" eaLnBrk="1" hangingPunct="1"/>
            <a:endParaRPr lang="zh-CN" altLang="en-US" sz="2400" dirty="0"/>
          </a:p>
          <a:p>
            <a:pPr lvl="1" eaLnBrk="1" hangingPunct="1"/>
            <a:endParaRPr lang="zh-CN" altLang="en-US" sz="2400" dirty="0"/>
          </a:p>
          <a:p>
            <a:pPr lvl="1" eaLnBrk="1" hangingPunct="1"/>
            <a:r>
              <a:rPr lang="zh-CN" altLang="en-US" sz="2400" dirty="0"/>
              <a:t>每个步骤，   个进程同时访问</a:t>
            </a:r>
            <a:r>
              <a:rPr lang="en-US" altLang="zh-CN" sz="2400" dirty="0"/>
              <a:t>A</a:t>
            </a:r>
            <a:r>
              <a:rPr lang="zh-CN" altLang="en-US" sz="2400" dirty="0"/>
              <a:t>的一个块</a:t>
            </a:r>
          </a:p>
          <a:p>
            <a:pPr lvl="2" eaLnBrk="1" hangingPunct="1"/>
            <a:r>
              <a:rPr lang="en-US" altLang="zh-CN" sz="2000" dirty="0"/>
              <a:t>k=0</a:t>
            </a:r>
            <a:r>
              <a:rPr lang="zh-CN" altLang="en-US" sz="2000" dirty="0"/>
              <a:t>，任务</a:t>
            </a:r>
            <a:r>
              <a:rPr lang="en-US" altLang="zh-CN" sz="2000" dirty="0"/>
              <a:t>P</a:t>
            </a:r>
            <a:r>
              <a:rPr lang="en-US" altLang="zh-CN" sz="2000" baseline="-25000" dirty="0"/>
              <a:t>0 0</a:t>
            </a:r>
            <a:r>
              <a:rPr lang="zh-CN" altLang="en-US" sz="2000" dirty="0"/>
              <a:t>、</a:t>
            </a:r>
            <a:r>
              <a:rPr lang="en-US" altLang="zh-CN" sz="2000" dirty="0"/>
              <a:t>…P</a:t>
            </a:r>
            <a:r>
              <a:rPr lang="en-US" altLang="zh-CN" sz="2000" baseline="-25000" dirty="0"/>
              <a:t>0,     -1</a:t>
            </a:r>
            <a:r>
              <a:rPr lang="zh-CN" altLang="en-US" sz="2000" dirty="0"/>
              <a:t>同时访问</a:t>
            </a:r>
            <a:r>
              <a:rPr lang="en-US" altLang="zh-CN" sz="2000" dirty="0"/>
              <a:t>A</a:t>
            </a:r>
            <a:r>
              <a:rPr lang="en-US" altLang="zh-CN" sz="2000" baseline="-25000" dirty="0"/>
              <a:t>00</a:t>
            </a:r>
            <a:endParaRPr lang="en-US" altLang="zh-CN" sz="2000" dirty="0"/>
          </a:p>
          <a:p>
            <a:pPr lvl="2" eaLnBrk="1" hangingPunct="1"/>
            <a:r>
              <a:rPr lang="en-US" altLang="zh-CN" sz="2000" dirty="0"/>
              <a:t>k=1</a:t>
            </a:r>
            <a:r>
              <a:rPr lang="zh-CN" altLang="en-US" sz="2000" dirty="0"/>
              <a:t>，负责</a:t>
            </a:r>
            <a:r>
              <a:rPr lang="en-US" altLang="zh-CN" sz="2000" dirty="0"/>
              <a:t>P</a:t>
            </a:r>
            <a:r>
              <a:rPr lang="en-US" altLang="zh-CN" sz="2000" baseline="-25000" dirty="0"/>
              <a:t>0 0</a:t>
            </a:r>
            <a:r>
              <a:rPr lang="zh-CN" altLang="en-US" sz="2000" dirty="0"/>
              <a:t>、</a:t>
            </a:r>
            <a:r>
              <a:rPr lang="en-US" altLang="zh-CN" sz="2000" dirty="0"/>
              <a:t>…P</a:t>
            </a:r>
            <a:r>
              <a:rPr lang="en-US" altLang="zh-CN" sz="2000" baseline="-25000" dirty="0"/>
              <a:t>0,     -1</a:t>
            </a:r>
            <a:r>
              <a:rPr lang="zh-CN" altLang="en-US" sz="2000" dirty="0"/>
              <a:t>同时访问</a:t>
            </a:r>
            <a:r>
              <a:rPr lang="en-US" altLang="zh-CN" sz="2000" dirty="0"/>
              <a:t>A</a:t>
            </a:r>
            <a:r>
              <a:rPr lang="en-US" altLang="zh-CN" sz="2000" baseline="-25000" dirty="0"/>
              <a:t>01</a:t>
            </a:r>
            <a:endParaRPr lang="en-US" altLang="zh-CN" sz="2000" dirty="0"/>
          </a:p>
          <a:p>
            <a:pPr lvl="2" eaLnBrk="1" hangingPunct="1"/>
            <a:r>
              <a:rPr lang="en-US" altLang="zh-CN" sz="2000" dirty="0"/>
              <a:t>…</a:t>
            </a:r>
          </a:p>
          <a:p>
            <a:pPr lvl="1" eaLnBrk="1" hangingPunct="1"/>
            <a:r>
              <a:rPr lang="zh-CN" altLang="en-US" sz="2400" dirty="0"/>
              <a:t>同样，负责同一列的任务会同时访问</a:t>
            </a:r>
            <a:r>
              <a:rPr lang="en-US" altLang="zh-CN" sz="2400" dirty="0"/>
              <a:t>B</a:t>
            </a:r>
            <a:r>
              <a:rPr lang="zh-CN" altLang="en-US" sz="2400" dirty="0"/>
              <a:t>的一个块</a:t>
            </a:r>
          </a:p>
          <a:p>
            <a:pPr lvl="1" eaLnBrk="1" hangingPunct="1"/>
            <a:r>
              <a:rPr lang="en-US" altLang="zh-CN" sz="2400" dirty="0"/>
              <a:t>NUMA</a:t>
            </a:r>
            <a:r>
              <a:rPr lang="zh-CN" altLang="en-US" sz="2400" dirty="0"/>
              <a:t>结构、消息传递系统都会产生冲突</a:t>
            </a:r>
          </a:p>
        </p:txBody>
      </p:sp>
      <p:graphicFrame>
        <p:nvGraphicFramePr>
          <p:cNvPr id="9218" name="Object 4">
            <a:extLst>
              <a:ext uri="{FF2B5EF4-FFF2-40B4-BE49-F238E27FC236}">
                <a16:creationId xmlns:a16="http://schemas.microsoft.com/office/drawing/2014/main" id="{B3B6D0AD-63B4-4BEA-864F-28C4D1D225AD}"/>
              </a:ext>
            </a:extLst>
          </p:cNvPr>
          <p:cNvGraphicFramePr>
            <a:graphicFrameLocks noChangeAspect="1"/>
          </p:cNvGraphicFramePr>
          <p:nvPr/>
        </p:nvGraphicFramePr>
        <p:xfrm>
          <a:off x="2743200" y="2225675"/>
          <a:ext cx="2438400" cy="974725"/>
        </p:xfrm>
        <a:graphic>
          <a:graphicData uri="http://schemas.openxmlformats.org/presentationml/2006/ole">
            <mc:AlternateContent xmlns:mc="http://schemas.openxmlformats.org/markup-compatibility/2006">
              <mc:Choice xmlns:v="urn:schemas-microsoft-com:vml" Requires="v">
                <p:oleObj spid="_x0000_s84226" name="Equation" r:id="rId3" imgW="1143000" imgH="457200" progId="Equation.3">
                  <p:embed/>
                </p:oleObj>
              </mc:Choice>
              <mc:Fallback>
                <p:oleObj name="Equation" r:id="rId3" imgW="1143000" imgH="457200" progId="Equation.3">
                  <p:embed/>
                  <p:pic>
                    <p:nvPicPr>
                      <p:cNvPr id="9218" name="Object 4">
                        <a:extLst>
                          <a:ext uri="{FF2B5EF4-FFF2-40B4-BE49-F238E27FC236}">
                            <a16:creationId xmlns:a16="http://schemas.microsoft.com/office/drawing/2014/main" id="{B3B6D0AD-63B4-4BEA-864F-28C4D1D22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225675"/>
                        <a:ext cx="24384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 name="Object 5">
            <a:extLst>
              <a:ext uri="{FF2B5EF4-FFF2-40B4-BE49-F238E27FC236}">
                <a16:creationId xmlns:a16="http://schemas.microsoft.com/office/drawing/2014/main" id="{DB9B9B01-0605-400A-B6D3-9CF0173DAA93}"/>
              </a:ext>
            </a:extLst>
          </p:cNvPr>
          <p:cNvGraphicFramePr>
            <a:graphicFrameLocks noChangeAspect="1"/>
          </p:cNvGraphicFramePr>
          <p:nvPr/>
        </p:nvGraphicFramePr>
        <p:xfrm>
          <a:off x="3352800" y="3200400"/>
          <a:ext cx="457200" cy="436563"/>
        </p:xfrm>
        <a:graphic>
          <a:graphicData uri="http://schemas.openxmlformats.org/presentationml/2006/ole">
            <mc:AlternateContent xmlns:mc="http://schemas.openxmlformats.org/markup-compatibility/2006">
              <mc:Choice xmlns:v="urn:schemas-microsoft-com:vml" Requires="v">
                <p:oleObj spid="_x0000_s84227" name="Equation" r:id="rId5" imgW="266400" imgH="253800" progId="Equation.3">
                  <p:embed/>
                </p:oleObj>
              </mc:Choice>
              <mc:Fallback>
                <p:oleObj name="Equation" r:id="rId5" imgW="266400" imgH="253800" progId="Equation.3">
                  <p:embed/>
                  <p:pic>
                    <p:nvPicPr>
                      <p:cNvPr id="9219" name="Object 5">
                        <a:extLst>
                          <a:ext uri="{FF2B5EF4-FFF2-40B4-BE49-F238E27FC236}">
                            <a16:creationId xmlns:a16="http://schemas.microsoft.com/office/drawing/2014/main" id="{DB9B9B01-0605-400A-B6D3-9CF0173DAA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200400"/>
                        <a:ext cx="457200"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0" name="Object 6">
            <a:extLst>
              <a:ext uri="{FF2B5EF4-FFF2-40B4-BE49-F238E27FC236}">
                <a16:creationId xmlns:a16="http://schemas.microsoft.com/office/drawing/2014/main" id="{A3705547-FF09-4B93-B101-CE36F95FF2D9}"/>
              </a:ext>
            </a:extLst>
          </p:cNvPr>
          <p:cNvGraphicFramePr>
            <a:graphicFrameLocks noChangeAspect="1"/>
          </p:cNvGraphicFramePr>
          <p:nvPr/>
        </p:nvGraphicFramePr>
        <p:xfrm>
          <a:off x="4691063" y="3784600"/>
          <a:ext cx="285750" cy="273050"/>
        </p:xfrm>
        <a:graphic>
          <a:graphicData uri="http://schemas.openxmlformats.org/presentationml/2006/ole">
            <mc:AlternateContent xmlns:mc="http://schemas.openxmlformats.org/markup-compatibility/2006">
              <mc:Choice xmlns:v="urn:schemas-microsoft-com:vml" Requires="v">
                <p:oleObj spid="_x0000_s84228" name="Equation" r:id="rId7" imgW="266400" imgH="253800" progId="Equation.3">
                  <p:embed/>
                </p:oleObj>
              </mc:Choice>
              <mc:Fallback>
                <p:oleObj name="Equation" r:id="rId7" imgW="266400" imgH="253800" progId="Equation.3">
                  <p:embed/>
                  <p:pic>
                    <p:nvPicPr>
                      <p:cNvPr id="9220" name="Object 6">
                        <a:extLst>
                          <a:ext uri="{FF2B5EF4-FFF2-40B4-BE49-F238E27FC236}">
                            <a16:creationId xmlns:a16="http://schemas.microsoft.com/office/drawing/2014/main" id="{A3705547-FF09-4B93-B101-CE36F95FF2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1063" y="3784600"/>
                        <a:ext cx="28575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1" name="Object 7">
            <a:extLst>
              <a:ext uri="{FF2B5EF4-FFF2-40B4-BE49-F238E27FC236}">
                <a16:creationId xmlns:a16="http://schemas.microsoft.com/office/drawing/2014/main" id="{122CF3A1-4E7D-48B4-B1DF-DE74BAC2B025}"/>
              </a:ext>
            </a:extLst>
          </p:cNvPr>
          <p:cNvGraphicFramePr>
            <a:graphicFrameLocks noChangeAspect="1"/>
          </p:cNvGraphicFramePr>
          <p:nvPr/>
        </p:nvGraphicFramePr>
        <p:xfrm>
          <a:off x="4710113" y="4146550"/>
          <a:ext cx="285750" cy="273050"/>
        </p:xfrm>
        <a:graphic>
          <a:graphicData uri="http://schemas.openxmlformats.org/presentationml/2006/ole">
            <mc:AlternateContent xmlns:mc="http://schemas.openxmlformats.org/markup-compatibility/2006">
              <mc:Choice xmlns:v="urn:schemas-microsoft-com:vml" Requires="v">
                <p:oleObj spid="_x0000_s84229" name="Equation" r:id="rId8" imgW="266400" imgH="253800" progId="Equation.3">
                  <p:embed/>
                </p:oleObj>
              </mc:Choice>
              <mc:Fallback>
                <p:oleObj name="Equation" r:id="rId8" imgW="266400" imgH="253800" progId="Equation.3">
                  <p:embed/>
                  <p:pic>
                    <p:nvPicPr>
                      <p:cNvPr id="9221" name="Object 7">
                        <a:extLst>
                          <a:ext uri="{FF2B5EF4-FFF2-40B4-BE49-F238E27FC236}">
                            <a16:creationId xmlns:a16="http://schemas.microsoft.com/office/drawing/2014/main" id="{122CF3A1-4E7D-48B4-B1DF-DE74BAC2B0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0113" y="4146550"/>
                        <a:ext cx="285750"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2">
            <a:extLst>
              <a:ext uri="{FF2B5EF4-FFF2-40B4-BE49-F238E27FC236}">
                <a16:creationId xmlns:a16="http://schemas.microsoft.com/office/drawing/2014/main" id="{06CEAB5D-5D0F-4AFD-9EDC-09515F2C73AE}"/>
              </a:ext>
            </a:extLst>
          </p:cNvPr>
          <p:cNvSpPr>
            <a:spLocks noGrp="1" noChangeArrowheads="1"/>
          </p:cNvSpPr>
          <p:nvPr>
            <p:ph type="title"/>
          </p:nvPr>
        </p:nvSpPr>
        <p:spPr/>
        <p:txBody>
          <a:bodyPr/>
          <a:lstStyle/>
          <a:p>
            <a:pPr eaLnBrk="1" hangingPunct="1"/>
            <a:r>
              <a:rPr lang="zh-CN" altLang="en-US"/>
              <a:t>解决冲突方法</a:t>
            </a:r>
          </a:p>
        </p:txBody>
      </p:sp>
      <p:sp>
        <p:nvSpPr>
          <p:cNvPr id="10247" name="Rectangle 3">
            <a:extLst>
              <a:ext uri="{FF2B5EF4-FFF2-40B4-BE49-F238E27FC236}">
                <a16:creationId xmlns:a16="http://schemas.microsoft.com/office/drawing/2014/main" id="{51CBD3B7-3D13-44DD-AB51-68ED801BE91D}"/>
              </a:ext>
            </a:extLst>
          </p:cNvPr>
          <p:cNvSpPr>
            <a:spLocks noGrp="1" noChangeArrowheads="1"/>
          </p:cNvSpPr>
          <p:nvPr>
            <p:ph type="body" idx="1"/>
          </p:nvPr>
        </p:nvSpPr>
        <p:spPr>
          <a:xfrm>
            <a:off x="1182688" y="1371600"/>
            <a:ext cx="7772400" cy="5105400"/>
          </a:xfrm>
        </p:spPr>
        <p:txBody>
          <a:bodyPr/>
          <a:lstStyle/>
          <a:p>
            <a:pPr eaLnBrk="1" hangingPunct="1"/>
            <a:r>
              <a:rPr lang="zh-CN" altLang="en-US" dirty="0"/>
              <a:t>改写算法</a:t>
            </a:r>
          </a:p>
          <a:p>
            <a:pPr lvl="1" eaLnBrk="1" hangingPunct="1"/>
            <a:endParaRPr lang="zh-CN" altLang="en-US" dirty="0"/>
          </a:p>
          <a:p>
            <a:pPr lvl="1" eaLnBrk="1" hangingPunct="1"/>
            <a:endParaRPr lang="zh-CN" altLang="en-US" dirty="0"/>
          </a:p>
          <a:p>
            <a:pPr lvl="1" eaLnBrk="1" hangingPunct="1"/>
            <a:r>
              <a:rPr lang="en-US" altLang="zh-CN" dirty="0"/>
              <a:t>P</a:t>
            </a:r>
            <a:r>
              <a:rPr lang="en-US" altLang="zh-CN" baseline="-25000" dirty="0"/>
              <a:t>*, j</a:t>
            </a:r>
            <a:r>
              <a:rPr lang="zh-CN" altLang="en-US" dirty="0"/>
              <a:t>负责计算</a:t>
            </a:r>
            <a:r>
              <a:rPr lang="en-US" altLang="zh-CN" dirty="0"/>
              <a:t>C</a:t>
            </a:r>
            <a:r>
              <a:rPr lang="zh-CN" altLang="en-US" dirty="0"/>
              <a:t>的同一列的不同元素</a:t>
            </a:r>
          </a:p>
          <a:p>
            <a:pPr lvl="1" eaLnBrk="1" hangingPunct="1"/>
            <a:r>
              <a:rPr lang="zh-CN" altLang="en-US" dirty="0"/>
              <a:t>在某个计算步骤，分别访问</a:t>
            </a:r>
          </a:p>
          <a:p>
            <a:pPr lvl="1" eaLnBrk="1" hangingPunct="1"/>
            <a:r>
              <a:rPr lang="zh-CN" altLang="en-US" dirty="0"/>
              <a:t>由于</a:t>
            </a:r>
            <a:r>
              <a:rPr lang="en-US" altLang="zh-CN" dirty="0"/>
              <a:t>j=0, 1, …,         </a:t>
            </a:r>
            <a:r>
              <a:rPr lang="zh-CN" altLang="en-US" dirty="0"/>
              <a:t>，因此访问的是不同块</a:t>
            </a:r>
          </a:p>
          <a:p>
            <a:pPr lvl="1" eaLnBrk="1" hangingPunct="1"/>
            <a:r>
              <a:rPr lang="en-US" altLang="zh-CN" dirty="0"/>
              <a:t>P</a:t>
            </a:r>
            <a:r>
              <a:rPr lang="en-US" altLang="zh-CN" baseline="-25000" dirty="0"/>
              <a:t>i, *</a:t>
            </a:r>
            <a:r>
              <a:rPr lang="zh-CN" altLang="en-US" dirty="0"/>
              <a:t>访问                   ，同样读取不同块</a:t>
            </a:r>
          </a:p>
          <a:p>
            <a:pPr eaLnBrk="1" hangingPunct="1"/>
            <a:r>
              <a:rPr lang="zh-CN" altLang="en-US" dirty="0"/>
              <a:t>集中式动态映射容易产生冲突，共享结构</a:t>
            </a:r>
            <a:r>
              <a:rPr lang="en-US" altLang="zh-CN" dirty="0"/>
              <a:t>/master</a:t>
            </a:r>
            <a:r>
              <a:rPr lang="zh-CN" altLang="en-US" dirty="0"/>
              <a:t>进程</a:t>
            </a:r>
          </a:p>
        </p:txBody>
      </p:sp>
      <p:graphicFrame>
        <p:nvGraphicFramePr>
          <p:cNvPr id="10242" name="Object 4">
            <a:extLst>
              <a:ext uri="{FF2B5EF4-FFF2-40B4-BE49-F238E27FC236}">
                <a16:creationId xmlns:a16="http://schemas.microsoft.com/office/drawing/2014/main" id="{19F10433-39B9-4684-A7C8-D262EB498B79}"/>
              </a:ext>
            </a:extLst>
          </p:cNvPr>
          <p:cNvGraphicFramePr>
            <a:graphicFrameLocks noChangeAspect="1"/>
          </p:cNvGraphicFramePr>
          <p:nvPr/>
        </p:nvGraphicFramePr>
        <p:xfrm>
          <a:off x="2133600" y="1905000"/>
          <a:ext cx="4416425" cy="974725"/>
        </p:xfrm>
        <a:graphic>
          <a:graphicData uri="http://schemas.openxmlformats.org/presentationml/2006/ole">
            <mc:AlternateContent xmlns:mc="http://schemas.openxmlformats.org/markup-compatibility/2006">
              <mc:Choice xmlns:v="urn:schemas-microsoft-com:vml" Requires="v">
                <p:oleObj spid="_x0000_s85250" name="Equation" r:id="rId3" imgW="2070000" imgH="457200" progId="Equation.3">
                  <p:embed/>
                </p:oleObj>
              </mc:Choice>
              <mc:Fallback>
                <p:oleObj name="Equation" r:id="rId3" imgW="2070000" imgH="457200" progId="Equation.3">
                  <p:embed/>
                  <p:pic>
                    <p:nvPicPr>
                      <p:cNvPr id="10242" name="Object 4">
                        <a:extLst>
                          <a:ext uri="{FF2B5EF4-FFF2-40B4-BE49-F238E27FC236}">
                            <a16:creationId xmlns:a16="http://schemas.microsoft.com/office/drawing/2014/main" id="{19F10433-39B9-4684-A7C8-D262EB498B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905000"/>
                        <a:ext cx="4416425"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6">
            <a:extLst>
              <a:ext uri="{FF2B5EF4-FFF2-40B4-BE49-F238E27FC236}">
                <a16:creationId xmlns:a16="http://schemas.microsoft.com/office/drawing/2014/main" id="{10A0D770-BEBE-429B-8098-C45AAF4A1530}"/>
              </a:ext>
            </a:extLst>
          </p:cNvPr>
          <p:cNvGraphicFramePr>
            <a:graphicFrameLocks noChangeAspect="1"/>
          </p:cNvGraphicFramePr>
          <p:nvPr/>
        </p:nvGraphicFramePr>
        <p:xfrm>
          <a:off x="6248400" y="3505200"/>
          <a:ext cx="1676400" cy="617538"/>
        </p:xfrm>
        <a:graphic>
          <a:graphicData uri="http://schemas.openxmlformats.org/presentationml/2006/ole">
            <mc:AlternateContent xmlns:mc="http://schemas.openxmlformats.org/markup-compatibility/2006">
              <mc:Choice xmlns:v="urn:schemas-microsoft-com:vml" Requires="v">
                <p:oleObj spid="_x0000_s85251" name="Equation" r:id="rId5" imgW="723600" imgH="266400" progId="Equation.3">
                  <p:embed/>
                </p:oleObj>
              </mc:Choice>
              <mc:Fallback>
                <p:oleObj name="Equation" r:id="rId5" imgW="723600" imgH="266400" progId="Equation.3">
                  <p:embed/>
                  <p:pic>
                    <p:nvPicPr>
                      <p:cNvPr id="10243" name="Object 6">
                        <a:extLst>
                          <a:ext uri="{FF2B5EF4-FFF2-40B4-BE49-F238E27FC236}">
                            <a16:creationId xmlns:a16="http://schemas.microsoft.com/office/drawing/2014/main" id="{10A0D770-BEBE-429B-8098-C45AAF4A15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3505200"/>
                        <a:ext cx="1676400"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Object 7">
            <a:extLst>
              <a:ext uri="{FF2B5EF4-FFF2-40B4-BE49-F238E27FC236}">
                <a16:creationId xmlns:a16="http://schemas.microsoft.com/office/drawing/2014/main" id="{15328315-0FE4-4FF1-B1FC-1AC165BAEE57}"/>
              </a:ext>
            </a:extLst>
          </p:cNvPr>
          <p:cNvGraphicFramePr>
            <a:graphicFrameLocks noChangeAspect="1"/>
          </p:cNvGraphicFramePr>
          <p:nvPr/>
        </p:nvGraphicFramePr>
        <p:xfrm>
          <a:off x="4143375" y="4038600"/>
          <a:ext cx="914400" cy="508000"/>
        </p:xfrm>
        <a:graphic>
          <a:graphicData uri="http://schemas.openxmlformats.org/presentationml/2006/ole">
            <mc:AlternateContent xmlns:mc="http://schemas.openxmlformats.org/markup-compatibility/2006">
              <mc:Choice xmlns:v="urn:schemas-microsoft-com:vml" Requires="v">
                <p:oleObj spid="_x0000_s85252" name="Equation" r:id="rId7" imgW="457200" imgH="253800" progId="Equation.3">
                  <p:embed/>
                </p:oleObj>
              </mc:Choice>
              <mc:Fallback>
                <p:oleObj name="Equation" r:id="rId7" imgW="457200" imgH="253800" progId="Equation.3">
                  <p:embed/>
                  <p:pic>
                    <p:nvPicPr>
                      <p:cNvPr id="10244" name="Object 7">
                        <a:extLst>
                          <a:ext uri="{FF2B5EF4-FFF2-40B4-BE49-F238E27FC236}">
                            <a16:creationId xmlns:a16="http://schemas.microsoft.com/office/drawing/2014/main" id="{15328315-0FE4-4FF1-B1FC-1AC165BAEE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3375" y="4038600"/>
                        <a:ext cx="914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8">
            <a:extLst>
              <a:ext uri="{FF2B5EF4-FFF2-40B4-BE49-F238E27FC236}">
                <a16:creationId xmlns:a16="http://schemas.microsoft.com/office/drawing/2014/main" id="{30AA25A2-BA9F-4A46-81D9-092967B1762D}"/>
              </a:ext>
            </a:extLst>
          </p:cNvPr>
          <p:cNvGraphicFramePr>
            <a:graphicFrameLocks noChangeAspect="1"/>
          </p:cNvGraphicFramePr>
          <p:nvPr/>
        </p:nvGraphicFramePr>
        <p:xfrm>
          <a:off x="3186113" y="4495800"/>
          <a:ext cx="1706562" cy="617538"/>
        </p:xfrm>
        <a:graphic>
          <a:graphicData uri="http://schemas.openxmlformats.org/presentationml/2006/ole">
            <mc:AlternateContent xmlns:mc="http://schemas.openxmlformats.org/markup-compatibility/2006">
              <mc:Choice xmlns:v="urn:schemas-microsoft-com:vml" Requires="v">
                <p:oleObj spid="_x0000_s85253" name="Equation" r:id="rId9" imgW="736560" imgH="266400" progId="Equation.3">
                  <p:embed/>
                </p:oleObj>
              </mc:Choice>
              <mc:Fallback>
                <p:oleObj name="Equation" r:id="rId9" imgW="736560" imgH="266400" progId="Equation.3">
                  <p:embed/>
                  <p:pic>
                    <p:nvPicPr>
                      <p:cNvPr id="10245" name="Object 8">
                        <a:extLst>
                          <a:ext uri="{FF2B5EF4-FFF2-40B4-BE49-F238E27FC236}">
                            <a16:creationId xmlns:a16="http://schemas.microsoft.com/office/drawing/2014/main" id="{30AA25A2-BA9F-4A46-81D9-092967B176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6113" y="4495800"/>
                        <a:ext cx="1706562"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6AD15115-EDCB-4EE4-899C-202F8788C4FF}"/>
              </a:ext>
            </a:extLst>
          </p:cNvPr>
          <p:cNvSpPr>
            <a:spLocks noGrp="1" noChangeArrowheads="1"/>
          </p:cNvSpPr>
          <p:nvPr>
            <p:ph type="title"/>
          </p:nvPr>
        </p:nvSpPr>
        <p:spPr/>
        <p:txBody>
          <a:bodyPr/>
          <a:lstStyle/>
          <a:p>
            <a:pPr eaLnBrk="1" hangingPunct="1"/>
            <a:r>
              <a:rPr lang="zh-CN" altLang="en-US" dirty="0"/>
              <a:t>通信与通信重叠</a:t>
            </a:r>
          </a:p>
        </p:txBody>
      </p:sp>
      <p:sp>
        <p:nvSpPr>
          <p:cNvPr id="139267" name="Rectangle 3">
            <a:extLst>
              <a:ext uri="{FF2B5EF4-FFF2-40B4-BE49-F238E27FC236}">
                <a16:creationId xmlns:a16="http://schemas.microsoft.com/office/drawing/2014/main" id="{9AC952AC-5048-4BFD-A7E0-95B826BFE919}"/>
              </a:ext>
            </a:extLst>
          </p:cNvPr>
          <p:cNvSpPr>
            <a:spLocks noGrp="1" noChangeArrowheads="1"/>
          </p:cNvSpPr>
          <p:nvPr>
            <p:ph type="body" idx="1"/>
          </p:nvPr>
        </p:nvSpPr>
        <p:spPr/>
        <p:txBody>
          <a:bodyPr/>
          <a:lstStyle/>
          <a:p>
            <a:pPr eaLnBrk="1" hangingPunct="1"/>
            <a:r>
              <a:rPr lang="zh-CN" altLang="en-US" dirty="0"/>
              <a:t>广播的实现：递归方式优于串行传播</a:t>
            </a:r>
            <a:endParaRPr lang="en-US" altLang="zh-CN" dirty="0"/>
          </a:p>
          <a:p>
            <a:pPr eaLnBrk="1" hangingPunct="1"/>
            <a:r>
              <a:rPr lang="zh-CN" altLang="en-US" dirty="0"/>
              <a:t>多个并发广播：基于串行方式的流水线</a:t>
            </a:r>
          </a:p>
        </p:txBody>
      </p:sp>
      <p:pic>
        <p:nvPicPr>
          <p:cNvPr id="139268" name="Picture 5" descr="overlap">
            <a:extLst>
              <a:ext uri="{FF2B5EF4-FFF2-40B4-BE49-F238E27FC236}">
                <a16:creationId xmlns:a16="http://schemas.microsoft.com/office/drawing/2014/main" id="{F950975A-169A-4765-90B3-19AECEE2C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25" y="2636912"/>
            <a:ext cx="7524750" cy="403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a:t>提纲</a:t>
            </a:r>
          </a:p>
        </p:txBody>
      </p:sp>
      <p:sp>
        <p:nvSpPr>
          <p:cNvPr id="43011"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eaLnBrk="1" hangingPunct="1"/>
            <a:r>
              <a:rPr lang="zh-CN" altLang="en-US" dirty="0"/>
              <a:t>并行算法分析</a:t>
            </a:r>
            <a:endParaRPr lang="en-US" altLang="zh-CN" dirty="0"/>
          </a:p>
          <a:p>
            <a:pPr lvl="1" eaLnBrk="1" hangingPunct="1"/>
            <a:r>
              <a:rPr lang="zh-CN" altLang="en-US" dirty="0">
                <a:solidFill>
                  <a:srgbClr val="FF0000"/>
                </a:solidFill>
              </a:rPr>
              <a:t>基本指标</a:t>
            </a:r>
            <a:endParaRPr lang="en-US" altLang="zh-CN" dirty="0">
              <a:solidFill>
                <a:srgbClr val="FF0000"/>
              </a:solidFill>
            </a:endParaRPr>
          </a:p>
          <a:p>
            <a:pPr lvl="1" eaLnBrk="1" hangingPunct="1"/>
            <a:r>
              <a:rPr lang="zh-CN" altLang="en-US" dirty="0"/>
              <a:t>可扩展性</a:t>
            </a:r>
            <a:endParaRPr lang="en-US" altLang="zh-CN" dirty="0"/>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a:t>并行算法分析</a:t>
            </a:r>
          </a:p>
        </p:txBody>
      </p:sp>
      <p:sp>
        <p:nvSpPr>
          <p:cNvPr id="44035" name="Rectangle 3"/>
          <p:cNvSpPr>
            <a:spLocks noGrp="1" noChangeArrowheads="1"/>
          </p:cNvSpPr>
          <p:nvPr>
            <p:ph type="body" idx="1"/>
          </p:nvPr>
        </p:nvSpPr>
        <p:spPr/>
        <p:txBody>
          <a:bodyPr/>
          <a:lstStyle/>
          <a:p>
            <a:pPr marL="609600" indent="-609600" eaLnBrk="1" hangingPunct="1"/>
            <a:r>
              <a:rPr lang="zh-CN" altLang="en-US"/>
              <a:t>串行算法评价：算法时间复杂度表示为输入规模的函数</a:t>
            </a:r>
          </a:p>
          <a:p>
            <a:pPr marL="609600" indent="-609600" eaLnBrk="1" hangingPunct="1"/>
            <a:r>
              <a:rPr lang="zh-CN" altLang="en-US"/>
              <a:t>并行算法评价：除了输入规模之外，还应考虑处理器数目、处理器相对运算速度、通信速度</a:t>
            </a:r>
          </a:p>
          <a:p>
            <a:pPr marL="609600" indent="-609600" eaLnBrk="1" hangingPunct="1"/>
            <a:r>
              <a:rPr lang="zh-CN" altLang="en-US"/>
              <a:t>评价标准</a:t>
            </a:r>
          </a:p>
          <a:p>
            <a:pPr marL="990600" lvl="1" indent="-533400" eaLnBrk="1" hangingPunct="1">
              <a:buFont typeface="Wingdings" panose="05000000000000000000" pitchFamily="2" charset="2"/>
              <a:buAutoNum type="arabicPeriod"/>
            </a:pPr>
            <a:r>
              <a:rPr lang="zh-CN" altLang="en-US"/>
              <a:t>运行时间</a:t>
            </a:r>
          </a:p>
          <a:p>
            <a:pPr marL="990600" lvl="1" indent="-533400" eaLnBrk="1" hangingPunct="1">
              <a:buFont typeface="Wingdings" panose="05000000000000000000" pitchFamily="2" charset="2"/>
              <a:buAutoNum type="arabicPeriod"/>
            </a:pPr>
            <a:r>
              <a:rPr lang="zh-CN" altLang="en-US"/>
              <a:t>加速比：并行算法比串行算法快多少？</a:t>
            </a:r>
            <a:r>
              <a:rPr lang="en-US" altLang="zh-CN"/>
              <a:t>——</a:t>
            </a:r>
            <a:r>
              <a:rPr lang="zh-CN" altLang="en-US"/>
              <a:t>问题：很多串行算法，选哪一个？</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p:nvPr>
        </p:nvSpPr>
        <p:spPr/>
        <p:txBody>
          <a:bodyPr/>
          <a:lstStyle/>
          <a:p>
            <a:r>
              <a:rPr lang="zh-CN" altLang="en-US"/>
              <a:t>并行程序设计的复杂性</a:t>
            </a:r>
          </a:p>
        </p:txBody>
      </p:sp>
      <p:sp>
        <p:nvSpPr>
          <p:cNvPr id="45059" name="内容占位符 2"/>
          <p:cNvSpPr>
            <a:spLocks noGrp="1" noChangeArrowheads="1"/>
          </p:cNvSpPr>
          <p:nvPr>
            <p:ph idx="1"/>
          </p:nvPr>
        </p:nvSpPr>
        <p:spPr/>
        <p:txBody>
          <a:bodyPr/>
          <a:lstStyle/>
          <a:p>
            <a:r>
              <a:rPr lang="zh-CN" altLang="en-US"/>
              <a:t>足够的并发度（</a:t>
            </a:r>
            <a:r>
              <a:rPr lang="en-US" altLang="zh-CN">
                <a:ea typeface="MS PGothic" panose="020B0600070205080204" pitchFamily="34" charset="-128"/>
              </a:rPr>
              <a:t>Amdahl</a:t>
            </a:r>
            <a:r>
              <a:rPr lang="zh-CN" altLang="en-US"/>
              <a:t>定律）</a:t>
            </a:r>
            <a:endParaRPr lang="en-US" altLang="zh-CN"/>
          </a:p>
          <a:p>
            <a:r>
              <a:rPr lang="zh-CN" altLang="en-US"/>
              <a:t>并发粒度</a:t>
            </a:r>
            <a:endParaRPr lang="en-US" altLang="zh-CN"/>
          </a:p>
          <a:p>
            <a:pPr lvl="1"/>
            <a:r>
              <a:rPr lang="zh-CN" altLang="en-US"/>
              <a:t>独立的计算任务的大小</a:t>
            </a:r>
            <a:endParaRPr lang="en-US" altLang="zh-CN"/>
          </a:p>
          <a:p>
            <a:r>
              <a:rPr lang="zh-CN" altLang="en-US"/>
              <a:t>局部性</a:t>
            </a:r>
            <a:endParaRPr lang="en-US" altLang="zh-CN"/>
          </a:p>
          <a:p>
            <a:pPr lvl="1"/>
            <a:r>
              <a:rPr lang="zh-CN" altLang="en-US"/>
              <a:t>对临近的数据进行计算</a:t>
            </a:r>
            <a:endParaRPr lang="en-US" altLang="zh-CN"/>
          </a:p>
          <a:p>
            <a:r>
              <a:rPr lang="zh-CN" altLang="en-US"/>
              <a:t>负载均衡</a:t>
            </a:r>
            <a:endParaRPr lang="en-US" altLang="zh-CN"/>
          </a:p>
          <a:p>
            <a:pPr lvl="1"/>
            <a:r>
              <a:rPr lang="zh-CN" altLang="en-US"/>
              <a:t>处理器的工作量相近</a:t>
            </a:r>
            <a:endParaRPr lang="en-US" altLang="zh-CN"/>
          </a:p>
          <a:p>
            <a:r>
              <a:rPr lang="zh-CN" altLang="en-US"/>
              <a:t>协调和同步</a:t>
            </a:r>
            <a:endParaRPr lang="en-US" altLang="zh-CN"/>
          </a:p>
          <a:p>
            <a:pPr lvl="1"/>
            <a:r>
              <a:rPr lang="zh-CN" altLang="en-US"/>
              <a:t>谁负责？处理频率？</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a:t>并行算法额外开销</a:t>
            </a:r>
          </a:p>
        </p:txBody>
      </p:sp>
      <p:sp>
        <p:nvSpPr>
          <p:cNvPr id="46083" name="Rectangle 3"/>
          <p:cNvSpPr>
            <a:spLocks noGrp="1" noChangeArrowheads="1"/>
          </p:cNvSpPr>
          <p:nvPr>
            <p:ph type="body" idx="1"/>
          </p:nvPr>
        </p:nvSpPr>
        <p:spPr/>
        <p:txBody>
          <a:bodyPr/>
          <a:lstStyle/>
          <a:p>
            <a:pPr eaLnBrk="1" hangingPunct="1"/>
            <a:r>
              <a:rPr lang="zh-CN" altLang="en-US"/>
              <a:t>除了串行算法要做的之外的工作</a:t>
            </a:r>
          </a:p>
          <a:p>
            <a:pPr lvl="1" eaLnBrk="1" hangingPunct="1"/>
            <a:r>
              <a:rPr lang="zh-CN" altLang="en-US"/>
              <a:t>进程间通信：最大开销，大部分并行算法都需要</a:t>
            </a:r>
          </a:p>
          <a:p>
            <a:pPr lvl="1" eaLnBrk="1" hangingPunct="1"/>
            <a:r>
              <a:rPr lang="zh-CN" altLang="en-US"/>
              <a:t>进程空闲：负载不均、同步操作、不能并行化的部分</a:t>
            </a:r>
          </a:p>
          <a:p>
            <a:pPr lvl="1" eaLnBrk="1" hangingPunct="1"/>
            <a:r>
              <a:rPr lang="zh-CN" altLang="en-US"/>
              <a:t>额外计算</a:t>
            </a:r>
          </a:p>
          <a:p>
            <a:pPr lvl="2" eaLnBrk="1" hangingPunct="1"/>
            <a:r>
              <a:rPr lang="zh-CN" altLang="en-US"/>
              <a:t>最优串行算法难以并行化，将很差的串行算法并行化，并行算法计算量</a:t>
            </a:r>
            <a:r>
              <a:rPr lang="en-US" altLang="zh-CN"/>
              <a:t>&gt;</a:t>
            </a:r>
            <a:r>
              <a:rPr lang="zh-CN" altLang="en-US"/>
              <a:t>最优串行算法</a:t>
            </a:r>
          </a:p>
          <a:p>
            <a:pPr lvl="2" eaLnBrk="1" hangingPunct="1"/>
            <a:r>
              <a:rPr lang="zh-CN" altLang="en-US"/>
              <a:t>最优串行算法并行化也会产生额外计算：并行快速傅立叶变换，旋转因子的重复计算</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noChangeArrowheads="1"/>
          </p:cNvSpPr>
          <p:nvPr>
            <p:ph type="title"/>
          </p:nvPr>
        </p:nvSpPr>
        <p:spPr/>
        <p:txBody>
          <a:bodyPr/>
          <a:lstStyle/>
          <a:p>
            <a:r>
              <a:rPr lang="zh-CN" altLang="en-US"/>
              <a:t>并行算法额外开销（续）</a:t>
            </a:r>
          </a:p>
        </p:txBody>
      </p:sp>
      <p:sp>
        <p:nvSpPr>
          <p:cNvPr id="47107" name="内容占位符 2"/>
          <p:cNvSpPr>
            <a:spLocks noGrp="1" noChangeArrowheads="1"/>
          </p:cNvSpPr>
          <p:nvPr>
            <p:ph idx="1"/>
          </p:nvPr>
        </p:nvSpPr>
        <p:spPr>
          <a:xfrm>
            <a:off x="1182688" y="4365625"/>
            <a:ext cx="7772400" cy="1730375"/>
          </a:xfrm>
        </p:spPr>
        <p:txBody>
          <a:bodyPr/>
          <a:lstStyle/>
          <a:p>
            <a:endParaRPr lang="zh-CN" altLang="en-US" sz="2400"/>
          </a:p>
        </p:txBody>
      </p:sp>
      <p:pic>
        <p:nvPicPr>
          <p:cNvPr id="47108" name="Picture 4" descr="overhe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73723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p:nvPr>
        </p:nvSpPr>
        <p:spPr/>
        <p:txBody>
          <a:bodyPr/>
          <a:lstStyle/>
          <a:p>
            <a:r>
              <a:rPr lang="zh-CN" altLang="en-US"/>
              <a:t>性能评价标准</a:t>
            </a:r>
          </a:p>
        </p:txBody>
      </p:sp>
      <p:sp>
        <p:nvSpPr>
          <p:cNvPr id="48131" name="内容占位符 2"/>
          <p:cNvSpPr>
            <a:spLocks noGrp="1" noChangeArrowheads="1"/>
          </p:cNvSpPr>
          <p:nvPr>
            <p:ph idx="1"/>
          </p:nvPr>
        </p:nvSpPr>
        <p:spPr/>
        <p:txBody>
          <a:bodyPr/>
          <a:lstStyle/>
          <a:p>
            <a:pPr eaLnBrk="1" hangingPunct="1"/>
            <a:r>
              <a:rPr lang="zh-CN" altLang="en-US"/>
              <a:t>运行时间</a:t>
            </a:r>
          </a:p>
          <a:p>
            <a:pPr lvl="1" eaLnBrk="1" hangingPunct="1"/>
            <a:r>
              <a:rPr lang="zh-CN" altLang="en-US"/>
              <a:t>串行算法：</a:t>
            </a:r>
            <a:r>
              <a:rPr lang="en-US" altLang="zh-CN"/>
              <a:t>T</a:t>
            </a:r>
            <a:r>
              <a:rPr lang="en-US" altLang="zh-CN" baseline="-25000"/>
              <a:t>S</a:t>
            </a:r>
            <a:r>
              <a:rPr lang="zh-CN" altLang="en-US"/>
              <a:t>，算法开始到结束的时间流逝</a:t>
            </a:r>
          </a:p>
          <a:p>
            <a:pPr lvl="1" eaLnBrk="1" hangingPunct="1"/>
            <a:r>
              <a:rPr lang="zh-CN" altLang="en-US"/>
              <a:t>并行算法：</a:t>
            </a:r>
            <a:r>
              <a:rPr lang="en-US" altLang="zh-CN"/>
              <a:t>T</a:t>
            </a:r>
            <a:r>
              <a:rPr lang="en-US" altLang="zh-CN" baseline="-25000"/>
              <a:t>P</a:t>
            </a:r>
            <a:r>
              <a:rPr lang="zh-CN" altLang="en-US"/>
              <a:t>，并行算法开始到最后一个进程结束所经历时间</a:t>
            </a:r>
          </a:p>
          <a:p>
            <a:pPr eaLnBrk="1" hangingPunct="1"/>
            <a:r>
              <a:rPr lang="zh-CN" altLang="en-US"/>
              <a:t>并行算法总额外开销</a:t>
            </a:r>
          </a:p>
          <a:p>
            <a:pPr lvl="1" eaLnBrk="1" hangingPunct="1"/>
            <a:r>
              <a:rPr lang="en-US" altLang="zh-CN"/>
              <a:t>T</a:t>
            </a:r>
            <a:r>
              <a:rPr lang="en-US" altLang="zh-CN" baseline="-25000"/>
              <a:t>o</a:t>
            </a:r>
            <a:r>
              <a:rPr lang="en-US" altLang="zh-CN"/>
              <a:t>=pT</a:t>
            </a:r>
            <a:r>
              <a:rPr lang="en-US" altLang="zh-CN" baseline="-25000"/>
              <a:t>P </a:t>
            </a:r>
            <a:r>
              <a:rPr lang="en-US" altLang="zh-CN"/>
              <a:t>– T</a:t>
            </a:r>
            <a:r>
              <a:rPr lang="en-US" altLang="zh-CN" baseline="-25000"/>
              <a:t>S</a:t>
            </a:r>
            <a:endParaRPr lang="en-US" altLang="zh-CN"/>
          </a:p>
          <a:p>
            <a:pPr eaLnBrk="1" hangingPunct="1"/>
            <a:r>
              <a:rPr lang="zh-CN" altLang="en-US"/>
              <a:t>加速比</a:t>
            </a:r>
          </a:p>
          <a:p>
            <a:pPr lvl="1" eaLnBrk="1" hangingPunct="1"/>
            <a:r>
              <a:rPr lang="en-US" altLang="zh-CN"/>
              <a:t>S=T</a:t>
            </a:r>
            <a:r>
              <a:rPr lang="en-US" altLang="zh-CN" baseline="-25000"/>
              <a:t>S</a:t>
            </a:r>
            <a:r>
              <a:rPr lang="en-US" altLang="zh-CN"/>
              <a:t>/T</a:t>
            </a:r>
            <a:r>
              <a:rPr lang="en-US" altLang="zh-CN" baseline="-25000"/>
              <a:t>P</a:t>
            </a:r>
            <a:endParaRPr lang="en-US" altLang="zh-CN"/>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r>
              <a:rPr lang="zh-CN" altLang="en-US"/>
              <a:t>例：</a:t>
            </a:r>
            <a:r>
              <a:rPr lang="en-US" altLang="zh-CN"/>
              <a:t>n</a:t>
            </a:r>
            <a:r>
              <a:rPr lang="zh-CN" altLang="en-US"/>
              <a:t>个数相加，</a:t>
            </a:r>
            <a:r>
              <a:rPr lang="en-US" altLang="zh-CN"/>
              <a:t>n</a:t>
            </a:r>
            <a:r>
              <a:rPr lang="zh-CN" altLang="en-US"/>
              <a:t>个进程</a:t>
            </a:r>
          </a:p>
        </p:txBody>
      </p:sp>
      <p:sp>
        <p:nvSpPr>
          <p:cNvPr id="49155" name="内容占位符 2"/>
          <p:cNvSpPr>
            <a:spLocks noGrp="1" noChangeArrowheads="1"/>
          </p:cNvSpPr>
          <p:nvPr>
            <p:ph idx="1"/>
          </p:nvPr>
        </p:nvSpPr>
        <p:spPr/>
        <p:txBody>
          <a:bodyPr/>
          <a:lstStyle/>
          <a:p>
            <a:endParaRPr lang="zh-CN" altLang="en-US" sz="2800"/>
          </a:p>
        </p:txBody>
      </p:sp>
      <p:pic>
        <p:nvPicPr>
          <p:cNvPr id="49156" name="Picture 6" descr="sum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33600"/>
            <a:ext cx="8450263" cy="294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noChangeArrowheads="1"/>
          </p:cNvSpPr>
          <p:nvPr>
            <p:ph type="title"/>
          </p:nvPr>
        </p:nvSpPr>
        <p:spPr/>
        <p:txBody>
          <a:bodyPr/>
          <a:lstStyle/>
          <a:p>
            <a:r>
              <a:rPr lang="zh-CN" altLang="en-US"/>
              <a:t>例：（续）</a:t>
            </a:r>
          </a:p>
        </p:txBody>
      </p:sp>
      <p:sp>
        <p:nvSpPr>
          <p:cNvPr id="50179" name="内容占位符 2"/>
          <p:cNvSpPr>
            <a:spLocks noGrp="1" noChangeArrowheads="1"/>
          </p:cNvSpPr>
          <p:nvPr>
            <p:ph idx="1"/>
          </p:nvPr>
        </p:nvSpPr>
        <p:spPr>
          <a:xfrm>
            <a:off x="1182688" y="5137150"/>
            <a:ext cx="7772400" cy="958850"/>
          </a:xfrm>
        </p:spPr>
        <p:txBody>
          <a:bodyPr/>
          <a:lstStyle/>
          <a:p>
            <a:endParaRPr lang="zh-CN" altLang="en-US" sz="2800"/>
          </a:p>
        </p:txBody>
      </p:sp>
      <p:pic>
        <p:nvPicPr>
          <p:cNvPr id="50180" name="Picture 3" descr="sum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345488" cy="495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p:txBody>
          <a:bodyPr/>
          <a:lstStyle/>
          <a:p>
            <a:r>
              <a:rPr lang="zh-CN" altLang="en-US"/>
              <a:t>例：（续）</a:t>
            </a:r>
          </a:p>
        </p:txBody>
      </p:sp>
      <p:sp>
        <p:nvSpPr>
          <p:cNvPr id="51203" name="内容占位符 2"/>
          <p:cNvSpPr>
            <a:spLocks noGrp="1" noChangeArrowheads="1"/>
          </p:cNvSpPr>
          <p:nvPr>
            <p:ph idx="1"/>
          </p:nvPr>
        </p:nvSpPr>
        <p:spPr/>
        <p:txBody>
          <a:bodyPr/>
          <a:lstStyle/>
          <a:p>
            <a:pPr eaLnBrk="1" hangingPunct="1"/>
            <a:r>
              <a:rPr lang="zh-CN" altLang="en-US">
                <a:solidFill>
                  <a:srgbClr val="000000"/>
                </a:solidFill>
              </a:rPr>
              <a:t>初始，每个进程保存</a:t>
            </a:r>
            <a:r>
              <a:rPr lang="en-US" altLang="zh-CN">
                <a:solidFill>
                  <a:srgbClr val="000000"/>
                </a:solidFill>
              </a:rPr>
              <a:t>1</a:t>
            </a:r>
            <a:r>
              <a:rPr lang="zh-CN" altLang="en-US">
                <a:solidFill>
                  <a:srgbClr val="000000"/>
                </a:solidFill>
              </a:rPr>
              <a:t>个数；</a:t>
            </a:r>
            <a:br>
              <a:rPr lang="zh-CN" altLang="en-US">
                <a:solidFill>
                  <a:srgbClr val="000000"/>
                </a:solidFill>
              </a:rPr>
            </a:br>
            <a:r>
              <a:rPr lang="zh-CN" altLang="en-US">
                <a:solidFill>
                  <a:srgbClr val="000000"/>
                </a:solidFill>
              </a:rPr>
              <a:t>最终由</a:t>
            </a:r>
            <a:r>
              <a:rPr lang="en-US" altLang="zh-CN">
                <a:solidFill>
                  <a:srgbClr val="000000"/>
                </a:solidFill>
              </a:rPr>
              <a:t>1</a:t>
            </a:r>
            <a:r>
              <a:rPr lang="zh-CN" altLang="en-US">
                <a:solidFill>
                  <a:srgbClr val="000000"/>
                </a:solidFill>
              </a:rPr>
              <a:t>个进程保存累加和</a:t>
            </a:r>
          </a:p>
          <a:p>
            <a:pPr eaLnBrk="1" hangingPunct="1"/>
            <a:r>
              <a:rPr lang="zh-CN" altLang="en-US">
                <a:solidFill>
                  <a:srgbClr val="000000"/>
                </a:solidFill>
              </a:rPr>
              <a:t>树形结构，</a:t>
            </a:r>
            <a:r>
              <a:rPr lang="en-US" altLang="zh-CN">
                <a:solidFill>
                  <a:srgbClr val="000000"/>
                </a:solidFill>
              </a:rPr>
              <a:t>logn</a:t>
            </a:r>
            <a:r>
              <a:rPr lang="zh-CN" altLang="en-US">
                <a:solidFill>
                  <a:srgbClr val="000000"/>
                </a:solidFill>
              </a:rPr>
              <a:t>个步骤</a:t>
            </a:r>
            <a:br>
              <a:rPr lang="zh-CN" altLang="en-US">
                <a:solidFill>
                  <a:srgbClr val="000000"/>
                </a:solidFill>
              </a:rPr>
            </a:br>
            <a:r>
              <a:rPr lang="zh-CN" altLang="en-US">
                <a:solidFill>
                  <a:srgbClr val="000000"/>
                </a:solidFill>
              </a:rPr>
              <a:t>每个步骤进行一次加法：</a:t>
            </a:r>
            <a:r>
              <a:rPr lang="en-US" altLang="zh-CN">
                <a:solidFill>
                  <a:srgbClr val="000000"/>
                </a:solidFill>
              </a:rPr>
              <a:t>t</a:t>
            </a:r>
            <a:r>
              <a:rPr lang="en-US" altLang="zh-CN" baseline="-25000">
                <a:solidFill>
                  <a:srgbClr val="000000"/>
                </a:solidFill>
              </a:rPr>
              <a:t>c</a:t>
            </a:r>
            <a:br>
              <a:rPr lang="en-US" altLang="zh-CN" baseline="-25000">
                <a:solidFill>
                  <a:srgbClr val="000000"/>
                </a:solidFill>
              </a:rPr>
            </a:br>
            <a:r>
              <a:rPr lang="zh-CN" altLang="en-US">
                <a:solidFill>
                  <a:srgbClr val="000000"/>
                </a:solidFill>
              </a:rPr>
              <a:t>和一个机器字的传输：</a:t>
            </a:r>
            <a:r>
              <a:rPr lang="en-US" altLang="zh-CN">
                <a:solidFill>
                  <a:srgbClr val="000000"/>
                </a:solidFill>
              </a:rPr>
              <a:t>t</a:t>
            </a:r>
            <a:r>
              <a:rPr lang="en-US" altLang="zh-CN" baseline="-25000">
                <a:solidFill>
                  <a:srgbClr val="000000"/>
                </a:solidFill>
              </a:rPr>
              <a:t>s</a:t>
            </a:r>
            <a:r>
              <a:rPr lang="en-US" altLang="zh-CN">
                <a:solidFill>
                  <a:srgbClr val="000000"/>
                </a:solidFill>
              </a:rPr>
              <a:t>+t</a:t>
            </a:r>
            <a:r>
              <a:rPr lang="en-US" altLang="zh-CN" baseline="-25000">
                <a:solidFill>
                  <a:srgbClr val="000000"/>
                </a:solidFill>
              </a:rPr>
              <a:t>w</a:t>
            </a:r>
            <a:br>
              <a:rPr lang="en-US" altLang="zh-CN" baseline="-25000">
                <a:solidFill>
                  <a:srgbClr val="000000"/>
                </a:solidFill>
              </a:rPr>
            </a:br>
            <a:r>
              <a:rPr lang="en-US" altLang="zh-CN">
                <a:solidFill>
                  <a:srgbClr val="000000"/>
                </a:solidFill>
                <a:sym typeface="Wingdings" panose="05000000000000000000" pitchFamily="2" charset="2"/>
              </a:rPr>
              <a:t>T</a:t>
            </a:r>
            <a:r>
              <a:rPr lang="en-US" altLang="zh-CN" baseline="-25000">
                <a:solidFill>
                  <a:srgbClr val="000000"/>
                </a:solidFill>
                <a:sym typeface="Wingdings" panose="05000000000000000000" pitchFamily="2" charset="2"/>
              </a:rPr>
              <a:t>P</a:t>
            </a:r>
            <a:r>
              <a:rPr lang="en-US" altLang="zh-CN">
                <a:solidFill>
                  <a:srgbClr val="000000"/>
                </a:solidFill>
                <a:sym typeface="Wingdings" panose="05000000000000000000" pitchFamily="2" charset="2"/>
              </a:rPr>
              <a:t>=</a:t>
            </a:r>
            <a:r>
              <a:rPr lang="en-US" altLang="zh-CN">
                <a:solidFill>
                  <a:srgbClr val="000000"/>
                </a:solidFill>
                <a:latin typeface="Symbol" panose="05050102010706020507" pitchFamily="18" charset="2"/>
                <a:sym typeface="Wingdings" panose="05000000000000000000" pitchFamily="2" charset="2"/>
              </a:rPr>
              <a:t>Q</a:t>
            </a:r>
            <a:r>
              <a:rPr lang="en-US" altLang="zh-CN">
                <a:solidFill>
                  <a:srgbClr val="000000"/>
                </a:solidFill>
                <a:sym typeface="Wingdings" panose="05000000000000000000" pitchFamily="2" charset="2"/>
              </a:rPr>
              <a:t>(logn)</a:t>
            </a:r>
            <a:br>
              <a:rPr lang="en-US" altLang="zh-CN">
                <a:solidFill>
                  <a:srgbClr val="000000"/>
                </a:solidFill>
                <a:sym typeface="Wingdings" panose="05000000000000000000" pitchFamily="2" charset="2"/>
              </a:rPr>
            </a:br>
            <a:r>
              <a:rPr lang="en-US" altLang="zh-CN">
                <a:solidFill>
                  <a:srgbClr val="000000"/>
                </a:solidFill>
                <a:sym typeface="Wingdings" panose="05000000000000000000" pitchFamily="2" charset="2"/>
              </a:rPr>
              <a:t>S=</a:t>
            </a:r>
            <a:r>
              <a:rPr lang="en-US" altLang="zh-CN">
                <a:solidFill>
                  <a:srgbClr val="000000"/>
                </a:solidFill>
                <a:latin typeface="Symbol" panose="05050102010706020507" pitchFamily="18" charset="2"/>
                <a:sym typeface="Wingdings" panose="05000000000000000000" pitchFamily="2" charset="2"/>
              </a:rPr>
              <a:t>Q</a:t>
            </a:r>
            <a:r>
              <a:rPr lang="en-US" altLang="zh-CN">
                <a:solidFill>
                  <a:srgbClr val="000000"/>
                </a:solidFill>
                <a:sym typeface="Wingdings" panose="05000000000000000000" pitchFamily="2" charset="2"/>
              </a:rPr>
              <a:t>(n/logn)</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a:t>加速比</a:t>
            </a:r>
          </a:p>
        </p:txBody>
      </p:sp>
      <p:sp>
        <p:nvSpPr>
          <p:cNvPr id="39939" name="内容占位符 2"/>
          <p:cNvSpPr>
            <a:spLocks noGrp="1" noChangeArrowheads="1"/>
          </p:cNvSpPr>
          <p:nvPr>
            <p:ph idx="1"/>
          </p:nvPr>
        </p:nvSpPr>
        <p:spPr/>
        <p:txBody>
          <a:bodyPr/>
          <a:lstStyle/>
          <a:p>
            <a:pPr eaLnBrk="1" hangingPunct="1"/>
            <a:r>
              <a:rPr lang="zh-CN" altLang="en-US"/>
              <a:t>对比哪个串行算法？</a:t>
            </a:r>
            <a:r>
              <a:rPr lang="zh-CN" altLang="en-US">
                <a:solidFill>
                  <a:srgbClr val="000000"/>
                </a:solidFill>
              </a:rPr>
              <a:t>同一问题，可能存在多个串行算法，时间复杂度和并行程度可能都不一样</a:t>
            </a:r>
          </a:p>
          <a:p>
            <a:pPr eaLnBrk="1" hangingPunct="1"/>
            <a:r>
              <a:rPr lang="zh-CN" altLang="en-US"/>
              <a:t>应选择“最优”串行算法</a:t>
            </a:r>
          </a:p>
          <a:p>
            <a:pPr eaLnBrk="1" hangingPunct="1"/>
            <a:r>
              <a:rPr lang="zh-CN" altLang="en-US"/>
              <a:t>理论最优算法若不存在或难实现</a:t>
            </a:r>
            <a:r>
              <a:rPr lang="en-US" altLang="zh-CN"/>
              <a:t>——</a:t>
            </a:r>
            <a:r>
              <a:rPr lang="zh-CN" altLang="en-US"/>
              <a:t>选择已有（且可行）的算法中最优者</a:t>
            </a:r>
          </a:p>
          <a:p>
            <a:pPr eaLnBrk="1" hangingPunct="1"/>
            <a:r>
              <a:rPr lang="en-US" altLang="zh-CN"/>
              <a:t>S=</a:t>
            </a:r>
            <a:r>
              <a:rPr lang="zh-CN" altLang="en-US"/>
              <a:t>最优串行算法时间</a:t>
            </a:r>
            <a:r>
              <a:rPr lang="en-US" altLang="zh-CN"/>
              <a:t>/</a:t>
            </a:r>
            <a:r>
              <a:rPr lang="zh-CN" altLang="en-US"/>
              <a:t>并行算法时间</a:t>
            </a:r>
            <a:br>
              <a:rPr lang="zh-CN" altLang="en-US"/>
            </a:br>
            <a:r>
              <a:rPr lang="en-US" altLang="zh-CN"/>
              <a:t>——</a:t>
            </a:r>
            <a:r>
              <a:rPr lang="zh-CN" altLang="en-US"/>
              <a:t>并行算法运行于</a:t>
            </a:r>
            <a:r>
              <a:rPr lang="en-US" altLang="zh-CN"/>
              <a:t>p</a:t>
            </a:r>
            <a:r>
              <a:rPr lang="zh-CN" altLang="en-US"/>
              <a:t>个处理器的并行平台，每个处理器与运行串行算法的处理器完全相同</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noChangeArrowheads="1"/>
          </p:cNvSpPr>
          <p:nvPr>
            <p:ph type="title"/>
          </p:nvPr>
        </p:nvSpPr>
        <p:spPr/>
        <p:txBody>
          <a:bodyPr/>
          <a:lstStyle/>
          <a:p>
            <a:r>
              <a:rPr lang="zh-CN" altLang="en-US"/>
              <a:t>加速比的计算</a:t>
            </a:r>
          </a:p>
        </p:txBody>
      </p:sp>
      <p:sp>
        <p:nvSpPr>
          <p:cNvPr id="53251" name="内容占位符 2"/>
          <p:cNvSpPr>
            <a:spLocks noGrp="1" noChangeArrowheads="1"/>
          </p:cNvSpPr>
          <p:nvPr>
            <p:ph idx="1"/>
          </p:nvPr>
        </p:nvSpPr>
        <p:spPr/>
        <p:txBody>
          <a:bodyPr/>
          <a:lstStyle/>
          <a:p>
            <a:pPr eaLnBrk="1" hangingPunct="1"/>
            <a:r>
              <a:rPr lang="zh-CN" altLang="en-US"/>
              <a:t>串行起泡排序算法时间</a:t>
            </a:r>
            <a:r>
              <a:rPr lang="en-US" altLang="zh-CN"/>
              <a:t>150s</a:t>
            </a:r>
            <a:r>
              <a:rPr lang="zh-CN" altLang="en-US"/>
              <a:t>，串行快速排序算法</a:t>
            </a:r>
            <a:r>
              <a:rPr lang="en-US" altLang="zh-CN"/>
              <a:t>30s</a:t>
            </a:r>
            <a:r>
              <a:rPr lang="zh-CN" altLang="en-US"/>
              <a:t>，并行起泡排序算法</a:t>
            </a:r>
            <a:r>
              <a:rPr lang="en-US" altLang="zh-CN"/>
              <a:t>40s</a:t>
            </a:r>
          </a:p>
          <a:p>
            <a:pPr eaLnBrk="1" hangingPunct="1"/>
            <a:r>
              <a:rPr lang="en-US" altLang="zh-CN"/>
              <a:t>S=30/40=0.75</a:t>
            </a:r>
            <a:r>
              <a:rPr lang="zh-CN" altLang="en-US"/>
              <a:t>，而不是</a:t>
            </a:r>
            <a:r>
              <a:rPr lang="en-US" altLang="zh-CN"/>
              <a:t>150/40=3.75</a:t>
            </a:r>
            <a:r>
              <a:rPr lang="zh-CN" altLang="en-US"/>
              <a:t>！</a:t>
            </a:r>
          </a:p>
          <a:p>
            <a:pPr eaLnBrk="1" hangingPunct="1"/>
            <a:r>
              <a:rPr lang="zh-CN" altLang="en-US"/>
              <a:t>一般</a:t>
            </a:r>
            <a:r>
              <a:rPr lang="en-US" altLang="zh-CN"/>
              <a:t>S</a:t>
            </a:r>
            <a:r>
              <a:rPr lang="en-US" altLang="zh-CN">
                <a:latin typeface="宋体" pitchFamily="2" charset="-122"/>
              </a:rPr>
              <a:t>≤</a:t>
            </a:r>
            <a:r>
              <a:rPr lang="en-US" altLang="zh-CN"/>
              <a:t>p</a:t>
            </a:r>
          </a:p>
          <a:p>
            <a:pPr eaLnBrk="1" hangingPunct="1"/>
            <a:r>
              <a:rPr lang="en-US" altLang="zh-CN"/>
              <a:t>S&gt;p</a:t>
            </a:r>
            <a:r>
              <a:rPr lang="zh-CN" altLang="en-US"/>
              <a:t>在实践中是可能出现的</a:t>
            </a:r>
          </a:p>
          <a:p>
            <a:pPr lvl="1" eaLnBrk="1" hangingPunct="1"/>
            <a:r>
              <a:rPr lang="zh-CN" altLang="en-US"/>
              <a:t>串行算法计算量</a:t>
            </a:r>
            <a:r>
              <a:rPr lang="en-US" altLang="zh-CN"/>
              <a:t>&gt;</a:t>
            </a:r>
            <a:r>
              <a:rPr lang="zh-CN" altLang="en-US"/>
              <a:t>并行算法</a:t>
            </a:r>
          </a:p>
          <a:p>
            <a:pPr lvl="1" eaLnBrk="1" hangingPunct="1"/>
            <a:r>
              <a:rPr lang="zh-CN" altLang="en-US"/>
              <a:t>硬件问题不利于串行算法</a:t>
            </a:r>
          </a:p>
          <a:p>
            <a:pPr lvl="2" eaLnBrk="1" hangingPunct="1"/>
            <a:r>
              <a:rPr lang="zh-CN" altLang="en-US"/>
              <a:t>数据量较大，无法全部放入</a:t>
            </a:r>
            <a:r>
              <a:rPr lang="en-US" altLang="zh-CN"/>
              <a:t>cache</a:t>
            </a:r>
            <a:r>
              <a:rPr lang="zh-CN" altLang="en-US"/>
              <a:t>，命中率低</a:t>
            </a:r>
          </a:p>
          <a:p>
            <a:pPr lvl="2" eaLnBrk="1" hangingPunct="1"/>
            <a:r>
              <a:rPr lang="zh-CN" altLang="en-US"/>
              <a:t>并行算法进行数据划分，每个处理器数据量变小，可全部放入</a:t>
            </a:r>
            <a:r>
              <a:rPr lang="en-US" altLang="zh-CN"/>
              <a:t>cache</a:t>
            </a:r>
            <a:r>
              <a:rPr lang="zh-CN" altLang="en-US"/>
              <a:t>，命中率提高</a:t>
            </a:r>
            <a:r>
              <a:rPr lang="zh-CN" altLang="en-US">
                <a:sym typeface="Wingdings" panose="05000000000000000000" pitchFamily="2" charset="2"/>
              </a:rPr>
              <a:t>性能提高</a:t>
            </a:r>
            <a:endParaRPr lang="zh-CN" altLang="en-US"/>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lstStyle/>
          <a:p>
            <a:r>
              <a:rPr lang="en-US" altLang="zh-CN"/>
              <a:t>cache</a:t>
            </a:r>
            <a:r>
              <a:rPr lang="zh-CN" altLang="en-US"/>
              <a:t>引起的超线性加速</a:t>
            </a:r>
          </a:p>
        </p:txBody>
      </p:sp>
      <p:sp>
        <p:nvSpPr>
          <p:cNvPr id="54275" name="内容占位符 2"/>
          <p:cNvSpPr>
            <a:spLocks noGrp="1" noChangeArrowheads="1"/>
          </p:cNvSpPr>
          <p:nvPr>
            <p:ph idx="1"/>
          </p:nvPr>
        </p:nvSpPr>
        <p:spPr/>
        <p:txBody>
          <a:bodyPr/>
          <a:lstStyle/>
          <a:p>
            <a:pPr eaLnBrk="1" hangingPunct="1"/>
            <a:r>
              <a:rPr lang="en-US" altLang="zh-CN" sz="2800">
                <a:solidFill>
                  <a:srgbClr val="000000"/>
                </a:solidFill>
              </a:rPr>
              <a:t>2</a:t>
            </a:r>
            <a:r>
              <a:rPr lang="zh-CN" altLang="en-US" sz="2800">
                <a:solidFill>
                  <a:srgbClr val="000000"/>
                </a:solidFill>
              </a:rPr>
              <a:t>个处理器的并行系统，问题规模</a:t>
            </a:r>
            <a:r>
              <a:rPr lang="en-US" altLang="zh-CN" sz="2800">
                <a:solidFill>
                  <a:srgbClr val="000000"/>
                </a:solidFill>
              </a:rPr>
              <a:t>W</a:t>
            </a:r>
          </a:p>
          <a:p>
            <a:pPr eaLnBrk="1" hangingPunct="1"/>
            <a:r>
              <a:rPr lang="zh-CN" altLang="en-US" sz="2800">
                <a:solidFill>
                  <a:srgbClr val="000000"/>
                </a:solidFill>
              </a:rPr>
              <a:t>每个处理器由</a:t>
            </a:r>
            <a:r>
              <a:rPr lang="en-US" altLang="zh-CN" sz="2800">
                <a:solidFill>
                  <a:srgbClr val="000000"/>
                </a:solidFill>
              </a:rPr>
              <a:t>cache 64KB</a:t>
            </a:r>
            <a:r>
              <a:rPr lang="zh-CN" altLang="en-US" sz="2800">
                <a:solidFill>
                  <a:srgbClr val="000000"/>
                </a:solidFill>
              </a:rPr>
              <a:t>，命中率</a:t>
            </a:r>
            <a:r>
              <a:rPr lang="en-US" altLang="zh-CN" sz="2800">
                <a:solidFill>
                  <a:srgbClr val="000000"/>
                </a:solidFill>
              </a:rPr>
              <a:t>80%</a:t>
            </a:r>
            <a:r>
              <a:rPr lang="zh-CN" altLang="en-US" sz="2800">
                <a:solidFill>
                  <a:srgbClr val="000000"/>
                </a:solidFill>
              </a:rPr>
              <a:t>，</a:t>
            </a:r>
            <a:r>
              <a:rPr lang="en-US" altLang="zh-CN" sz="2800">
                <a:solidFill>
                  <a:srgbClr val="000000"/>
                </a:solidFill>
              </a:rPr>
              <a:t>cache</a:t>
            </a:r>
            <a:r>
              <a:rPr lang="zh-CN" altLang="en-US" sz="2800">
                <a:solidFill>
                  <a:srgbClr val="000000"/>
                </a:solidFill>
              </a:rPr>
              <a:t>延迟</a:t>
            </a:r>
            <a:r>
              <a:rPr lang="en-US" altLang="zh-CN" sz="2800">
                <a:solidFill>
                  <a:srgbClr val="000000"/>
                </a:solidFill>
              </a:rPr>
              <a:t>2ns</a:t>
            </a:r>
            <a:r>
              <a:rPr lang="zh-CN" altLang="en-US" sz="2800">
                <a:solidFill>
                  <a:srgbClr val="000000"/>
                </a:solidFill>
              </a:rPr>
              <a:t>，</a:t>
            </a:r>
            <a:r>
              <a:rPr lang="en-US" altLang="zh-CN" sz="2800">
                <a:solidFill>
                  <a:srgbClr val="000000"/>
                </a:solidFill>
              </a:rPr>
              <a:t>DRAM 100ns</a:t>
            </a:r>
            <a:r>
              <a:rPr lang="zh-CN" altLang="en-US" sz="2800">
                <a:solidFill>
                  <a:srgbClr val="000000"/>
                </a:solidFill>
              </a:rPr>
              <a:t>，平均访问时间</a:t>
            </a:r>
            <a:r>
              <a:rPr lang="en-US" altLang="zh-CN" sz="2800">
                <a:solidFill>
                  <a:srgbClr val="000000"/>
                </a:solidFill>
              </a:rPr>
              <a:t>2*0.8+100*0.2=21.6ns</a:t>
            </a:r>
          </a:p>
          <a:p>
            <a:pPr eaLnBrk="1" hangingPunct="1"/>
            <a:r>
              <a:rPr lang="zh-CN" altLang="en-US" sz="2800">
                <a:solidFill>
                  <a:srgbClr val="000000"/>
                </a:solidFill>
              </a:rPr>
              <a:t>若计算瓶颈在内存，</a:t>
            </a:r>
            <a:r>
              <a:rPr lang="en-US" altLang="zh-CN" sz="2800">
                <a:solidFill>
                  <a:srgbClr val="000000"/>
                </a:solidFill>
              </a:rPr>
              <a:t>1</a:t>
            </a:r>
            <a:r>
              <a:rPr lang="zh-CN" altLang="en-US" sz="2800">
                <a:solidFill>
                  <a:srgbClr val="000000"/>
                </a:solidFill>
              </a:rPr>
              <a:t>个内存访问可产生</a:t>
            </a:r>
            <a:r>
              <a:rPr lang="en-US" altLang="zh-CN" sz="2800">
                <a:solidFill>
                  <a:srgbClr val="000000"/>
                </a:solidFill>
              </a:rPr>
              <a:t>1</a:t>
            </a:r>
            <a:r>
              <a:rPr lang="zh-CN" altLang="en-US" sz="2800">
                <a:solidFill>
                  <a:srgbClr val="000000"/>
                </a:solidFill>
              </a:rPr>
              <a:t>个</a:t>
            </a:r>
            <a:r>
              <a:rPr lang="en-US" altLang="zh-CN" sz="2800">
                <a:solidFill>
                  <a:srgbClr val="000000"/>
                </a:solidFill>
              </a:rPr>
              <a:t>FLO</a:t>
            </a:r>
            <a:r>
              <a:rPr lang="zh-CN" altLang="en-US" sz="2800">
                <a:solidFill>
                  <a:srgbClr val="000000"/>
                </a:solidFill>
              </a:rPr>
              <a:t>，运算速度为</a:t>
            </a:r>
            <a:r>
              <a:rPr lang="en-US" altLang="zh-CN" sz="2800">
                <a:solidFill>
                  <a:srgbClr val="000000"/>
                </a:solidFill>
              </a:rPr>
              <a:t>46.3MFLOPS</a:t>
            </a:r>
          </a:p>
          <a:p>
            <a:pPr eaLnBrk="1" hangingPunct="1"/>
            <a:r>
              <a:rPr lang="zh-CN" altLang="en-US" sz="2800">
                <a:solidFill>
                  <a:srgbClr val="000000"/>
                </a:solidFill>
              </a:rPr>
              <a:t>将任务平均分配给两个进程，规模</a:t>
            </a:r>
            <a:r>
              <a:rPr lang="en-US" altLang="zh-CN" sz="2800">
                <a:solidFill>
                  <a:srgbClr val="000000"/>
                </a:solidFill>
              </a:rPr>
              <a:t>W/2</a:t>
            </a:r>
            <a:r>
              <a:rPr lang="zh-CN" altLang="en-US" sz="2800">
                <a:solidFill>
                  <a:srgbClr val="000000"/>
                </a:solidFill>
              </a:rPr>
              <a:t>，命中率</a:t>
            </a:r>
            <a:r>
              <a:rPr lang="en-US" altLang="zh-CN" sz="2800">
                <a:solidFill>
                  <a:srgbClr val="000000"/>
                </a:solidFill>
              </a:rPr>
              <a:t>90%</a:t>
            </a:r>
            <a:r>
              <a:rPr lang="zh-CN" altLang="en-US" sz="2800">
                <a:solidFill>
                  <a:srgbClr val="000000"/>
                </a:solidFill>
              </a:rPr>
              <a:t>，剩余</a:t>
            </a:r>
            <a:r>
              <a:rPr lang="en-US" altLang="zh-CN" sz="2800">
                <a:solidFill>
                  <a:srgbClr val="000000"/>
                </a:solidFill>
              </a:rPr>
              <a:t>8%</a:t>
            </a:r>
            <a:r>
              <a:rPr lang="zh-CN" altLang="en-US" sz="2800">
                <a:solidFill>
                  <a:srgbClr val="000000"/>
                </a:solidFill>
              </a:rPr>
              <a:t>为本地</a:t>
            </a:r>
            <a:r>
              <a:rPr lang="en-US" altLang="zh-CN" sz="2800">
                <a:solidFill>
                  <a:srgbClr val="000000"/>
                </a:solidFill>
              </a:rPr>
              <a:t>DRAM</a:t>
            </a:r>
            <a:r>
              <a:rPr lang="zh-CN" altLang="en-US" sz="2800">
                <a:solidFill>
                  <a:srgbClr val="000000"/>
                </a:solidFill>
              </a:rPr>
              <a:t>访问，</a:t>
            </a:r>
            <a:r>
              <a:rPr lang="en-US" altLang="zh-CN" sz="2800">
                <a:solidFill>
                  <a:srgbClr val="000000"/>
                </a:solidFill>
              </a:rPr>
              <a:t>2%</a:t>
            </a:r>
            <a:r>
              <a:rPr lang="zh-CN" altLang="en-US" sz="2800">
                <a:solidFill>
                  <a:srgbClr val="000000"/>
                </a:solidFill>
              </a:rPr>
              <a:t>为远端</a:t>
            </a:r>
            <a:r>
              <a:rPr lang="en-US" altLang="zh-CN" sz="2800">
                <a:solidFill>
                  <a:srgbClr val="000000"/>
                </a:solidFill>
              </a:rPr>
              <a:t>DRAM</a:t>
            </a:r>
            <a:r>
              <a:rPr lang="zh-CN" altLang="en-US" sz="2800">
                <a:solidFill>
                  <a:srgbClr val="000000"/>
                </a:solidFill>
              </a:rPr>
              <a:t>访问（</a:t>
            </a:r>
            <a:r>
              <a:rPr lang="en-US" altLang="zh-CN" sz="2800">
                <a:solidFill>
                  <a:srgbClr val="000000"/>
                </a:solidFill>
              </a:rPr>
              <a:t>400ns</a:t>
            </a:r>
            <a:r>
              <a:rPr lang="zh-CN" altLang="en-US" sz="2800">
                <a:solidFill>
                  <a:srgbClr val="000000"/>
                </a:solidFill>
              </a:rPr>
              <a:t>），平均访问时间</a:t>
            </a:r>
            <a:r>
              <a:rPr lang="en-US" altLang="zh-CN" sz="2800">
                <a:solidFill>
                  <a:srgbClr val="000000"/>
                </a:solidFill>
              </a:rPr>
              <a:t>2*0.9+100*0.08+400*0.02=17.8ns</a:t>
            </a:r>
            <a:r>
              <a:rPr lang="en-US" altLang="zh-CN" sz="2800">
                <a:solidFill>
                  <a:srgbClr val="000000"/>
                </a:solidFill>
                <a:sym typeface="Wingdings" panose="05000000000000000000" pitchFamily="2" charset="2"/>
              </a:rPr>
              <a:t>56.18MFLOPS2</a:t>
            </a:r>
            <a:r>
              <a:rPr lang="zh-CN" altLang="en-US" sz="2800">
                <a:solidFill>
                  <a:srgbClr val="000000"/>
                </a:solidFill>
                <a:sym typeface="Wingdings" panose="05000000000000000000" pitchFamily="2" charset="2"/>
              </a:rPr>
              <a:t>个处理器</a:t>
            </a:r>
            <a:r>
              <a:rPr lang="en-US" altLang="zh-CN" sz="2800">
                <a:solidFill>
                  <a:srgbClr val="000000"/>
                </a:solidFill>
                <a:sym typeface="Wingdings" panose="05000000000000000000" pitchFamily="2" charset="2"/>
              </a:rPr>
              <a:t>112.36MFLOPSS=2.43</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4" descr="explora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3200400"/>
            <a:ext cx="4972050"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299" name="标题 1"/>
          <p:cNvSpPr>
            <a:spLocks noGrp="1" noChangeArrowheads="1"/>
          </p:cNvSpPr>
          <p:nvPr>
            <p:ph type="title"/>
          </p:nvPr>
        </p:nvSpPr>
        <p:spPr/>
        <p:txBody>
          <a:bodyPr/>
          <a:lstStyle/>
          <a:p>
            <a:r>
              <a:rPr lang="zh-CN" altLang="en-US"/>
              <a:t>搜索分解导致超线性</a:t>
            </a:r>
          </a:p>
        </p:txBody>
      </p:sp>
      <p:sp>
        <p:nvSpPr>
          <p:cNvPr id="55300" name="内容占位符 2"/>
          <p:cNvSpPr>
            <a:spLocks noGrp="1" noChangeArrowheads="1"/>
          </p:cNvSpPr>
          <p:nvPr>
            <p:ph idx="1"/>
          </p:nvPr>
        </p:nvSpPr>
        <p:spPr>
          <a:xfrm>
            <a:off x="107950" y="1371600"/>
            <a:ext cx="8847138" cy="4724400"/>
          </a:xfrm>
        </p:spPr>
        <p:txBody>
          <a:bodyPr/>
          <a:lstStyle/>
          <a:p>
            <a:pPr eaLnBrk="1" hangingPunct="1"/>
            <a:r>
              <a:rPr lang="zh-CN" altLang="en-US" sz="2800">
                <a:solidFill>
                  <a:srgbClr val="000000"/>
                </a:solidFill>
              </a:rPr>
              <a:t>解在树的最右节点，串行算法需搜索所有节点：</a:t>
            </a:r>
            <a:r>
              <a:rPr lang="en-US" altLang="zh-CN" sz="2800">
                <a:solidFill>
                  <a:srgbClr val="000000"/>
                </a:solidFill>
              </a:rPr>
              <a:t>14t</a:t>
            </a:r>
            <a:r>
              <a:rPr lang="en-US" altLang="zh-CN" sz="2800" baseline="-25000">
                <a:solidFill>
                  <a:srgbClr val="000000"/>
                </a:solidFill>
              </a:rPr>
              <a:t>c</a:t>
            </a:r>
            <a:endParaRPr lang="en-US" altLang="zh-CN" sz="2800">
              <a:solidFill>
                <a:srgbClr val="000000"/>
              </a:solidFill>
            </a:endParaRPr>
          </a:p>
          <a:p>
            <a:pPr eaLnBrk="1" hangingPunct="1"/>
            <a:r>
              <a:rPr lang="zh-CN" altLang="en-US" sz="2800">
                <a:solidFill>
                  <a:srgbClr val="000000"/>
                </a:solidFill>
              </a:rPr>
              <a:t>并行算法：</a:t>
            </a:r>
            <a:r>
              <a:rPr lang="en-US" altLang="zh-CN" sz="2800">
                <a:solidFill>
                  <a:srgbClr val="000000"/>
                </a:solidFill>
              </a:rPr>
              <a:t>P</a:t>
            </a:r>
            <a:r>
              <a:rPr lang="en-US" altLang="zh-CN" sz="2800" baseline="-25000">
                <a:solidFill>
                  <a:srgbClr val="000000"/>
                </a:solidFill>
              </a:rPr>
              <a:t>0</a:t>
            </a:r>
            <a:r>
              <a:rPr lang="zh-CN" altLang="en-US" sz="2800">
                <a:solidFill>
                  <a:srgbClr val="000000"/>
                </a:solidFill>
              </a:rPr>
              <a:t>搜索左子树，</a:t>
            </a:r>
            <a:r>
              <a:rPr lang="en-US" altLang="zh-CN" sz="2800">
                <a:solidFill>
                  <a:srgbClr val="000000"/>
                </a:solidFill>
              </a:rPr>
              <a:t>P</a:t>
            </a:r>
            <a:r>
              <a:rPr lang="en-US" altLang="zh-CN" sz="2800" baseline="-25000">
                <a:solidFill>
                  <a:srgbClr val="000000"/>
                </a:solidFill>
              </a:rPr>
              <a:t>1</a:t>
            </a:r>
            <a:r>
              <a:rPr lang="zh-CN" altLang="en-US" sz="2800">
                <a:solidFill>
                  <a:srgbClr val="000000"/>
                </a:solidFill>
              </a:rPr>
              <a:t>搜索右子树，若速度相等，只搜索</a:t>
            </a:r>
            <a:r>
              <a:rPr lang="en-US" altLang="zh-CN" sz="2800">
                <a:solidFill>
                  <a:srgbClr val="000000"/>
                </a:solidFill>
              </a:rPr>
              <a:t>9</a:t>
            </a:r>
            <a:r>
              <a:rPr lang="zh-CN" altLang="en-US" sz="2800">
                <a:solidFill>
                  <a:srgbClr val="000000"/>
                </a:solidFill>
              </a:rPr>
              <a:t>个节点，由于并行，时间为</a:t>
            </a:r>
            <a:r>
              <a:rPr lang="en-US" altLang="zh-CN" sz="2800">
                <a:solidFill>
                  <a:srgbClr val="000000"/>
                </a:solidFill>
              </a:rPr>
              <a:t>4t</a:t>
            </a:r>
            <a:r>
              <a:rPr lang="en-US" altLang="zh-CN" sz="2800" baseline="-25000">
                <a:solidFill>
                  <a:srgbClr val="000000"/>
                </a:solidFill>
              </a:rPr>
              <a:t>c</a:t>
            </a:r>
            <a:r>
              <a:rPr lang="zh-CN" altLang="en-US" sz="2800">
                <a:solidFill>
                  <a:srgbClr val="000000"/>
                </a:solidFill>
              </a:rPr>
              <a:t>，加上根节点处理时间，共</a:t>
            </a:r>
            <a:r>
              <a:rPr lang="en-US" altLang="zh-CN" sz="2800">
                <a:solidFill>
                  <a:srgbClr val="000000"/>
                </a:solidFill>
              </a:rPr>
              <a:t>5t</a:t>
            </a:r>
            <a:r>
              <a:rPr lang="en-US" altLang="zh-CN" sz="2800" baseline="-25000">
                <a:solidFill>
                  <a:srgbClr val="000000"/>
                </a:solidFill>
              </a:rPr>
              <a:t>c </a:t>
            </a:r>
            <a:r>
              <a:rPr lang="zh-CN" altLang="en-US" sz="2800">
                <a:solidFill>
                  <a:srgbClr val="000000"/>
                </a:solidFill>
              </a:rPr>
              <a:t>，并行算法工作量少</a:t>
            </a:r>
          </a:p>
          <a:p>
            <a:pPr eaLnBrk="1" hangingPunct="1"/>
            <a:r>
              <a:rPr lang="en-US" altLang="zh-CN" sz="2800">
                <a:solidFill>
                  <a:srgbClr val="000000"/>
                </a:solidFill>
              </a:rPr>
              <a:t>S=14t</a:t>
            </a:r>
            <a:r>
              <a:rPr lang="en-US" altLang="zh-CN" sz="2800" baseline="-25000">
                <a:solidFill>
                  <a:srgbClr val="000000"/>
                </a:solidFill>
              </a:rPr>
              <a:t>c</a:t>
            </a:r>
            <a:r>
              <a:rPr lang="en-US" altLang="zh-CN" sz="2800">
                <a:solidFill>
                  <a:srgbClr val="000000"/>
                </a:solidFill>
              </a:rPr>
              <a:t>/5t</a:t>
            </a:r>
            <a:r>
              <a:rPr lang="en-US" altLang="zh-CN" sz="2800" baseline="-25000">
                <a:solidFill>
                  <a:srgbClr val="000000"/>
                </a:solidFill>
              </a:rPr>
              <a:t>c</a:t>
            </a:r>
            <a:r>
              <a:rPr lang="en-US" altLang="zh-CN" sz="2800">
                <a:solidFill>
                  <a:srgbClr val="000000"/>
                </a:solidFill>
              </a:rPr>
              <a:t>=2.8</a:t>
            </a:r>
          </a:p>
          <a:p>
            <a:pPr eaLnBrk="1" hangingPunct="1"/>
            <a:r>
              <a:rPr lang="zh-CN" altLang="en-US" sz="2800">
                <a:solidFill>
                  <a:srgbClr val="000000"/>
                </a:solidFill>
              </a:rPr>
              <a:t>若串行算法交替处理</a:t>
            </a:r>
            <a:br>
              <a:rPr lang="zh-CN" altLang="en-US" sz="2800">
                <a:solidFill>
                  <a:srgbClr val="000000"/>
                </a:solidFill>
              </a:rPr>
            </a:br>
            <a:r>
              <a:rPr lang="zh-CN" altLang="en-US" sz="2800">
                <a:solidFill>
                  <a:srgbClr val="000000"/>
                </a:solidFill>
              </a:rPr>
              <a:t>两个子树节点，工作量也为</a:t>
            </a:r>
            <a:br>
              <a:rPr lang="zh-CN" altLang="en-US" sz="2800">
                <a:solidFill>
                  <a:srgbClr val="000000"/>
                </a:solidFill>
              </a:rPr>
            </a:br>
            <a:r>
              <a:rPr lang="en-US" altLang="zh-CN" sz="2800">
                <a:solidFill>
                  <a:srgbClr val="000000"/>
                </a:solidFill>
              </a:rPr>
              <a:t>9</a:t>
            </a:r>
            <a:r>
              <a:rPr lang="zh-CN" altLang="en-US" sz="2800">
                <a:solidFill>
                  <a:srgbClr val="000000"/>
                </a:solidFill>
              </a:rPr>
              <a:t>个节点，无超线性效果</a:t>
            </a:r>
          </a:p>
          <a:p>
            <a:pPr eaLnBrk="1" hangingPunct="1"/>
            <a:r>
              <a:rPr lang="zh-CN" altLang="en-US" sz="2800">
                <a:solidFill>
                  <a:srgbClr val="000000"/>
                </a:solidFill>
              </a:rPr>
              <a:t>但解的位置完全取决于</a:t>
            </a:r>
            <a:br>
              <a:rPr lang="zh-CN" altLang="en-US" sz="2800">
                <a:solidFill>
                  <a:srgbClr val="000000"/>
                </a:solidFill>
              </a:rPr>
            </a:br>
            <a:r>
              <a:rPr lang="zh-CN" altLang="en-US" sz="2800">
                <a:solidFill>
                  <a:srgbClr val="000000"/>
                </a:solidFill>
              </a:rPr>
              <a:t>问题实例，无普适的</a:t>
            </a:r>
            <a:br>
              <a:rPr lang="zh-CN" altLang="en-US" sz="2800">
                <a:solidFill>
                  <a:srgbClr val="000000"/>
                </a:solidFill>
              </a:rPr>
            </a:br>
            <a:r>
              <a:rPr lang="zh-CN" altLang="en-US" sz="2800">
                <a:solidFill>
                  <a:srgbClr val="000000"/>
                </a:solidFill>
              </a:rPr>
              <a:t>“最优串行算法”</a:t>
            </a: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提纲</a:t>
            </a:r>
          </a:p>
        </p:txBody>
      </p:sp>
      <p:sp>
        <p:nvSpPr>
          <p:cNvPr id="56323"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eaLnBrk="1" hangingPunct="1"/>
            <a:r>
              <a:rPr lang="zh-CN" altLang="en-US" dirty="0"/>
              <a:t>并行算法分析</a:t>
            </a:r>
            <a:endParaRPr lang="en-US" altLang="zh-CN" dirty="0"/>
          </a:p>
          <a:p>
            <a:pPr lvl="1" eaLnBrk="1" hangingPunct="1"/>
            <a:r>
              <a:rPr lang="zh-CN" altLang="en-US" dirty="0"/>
              <a:t>基本指标</a:t>
            </a:r>
            <a:endParaRPr lang="en-US" altLang="zh-CN" dirty="0"/>
          </a:p>
          <a:p>
            <a:pPr lvl="1" eaLnBrk="1" hangingPunct="1"/>
            <a:r>
              <a:rPr lang="zh-CN" altLang="en-US" dirty="0">
                <a:solidFill>
                  <a:srgbClr val="FF0000"/>
                </a:solidFill>
              </a:rPr>
              <a:t>可扩展性</a:t>
            </a:r>
            <a:endParaRPr lang="en-US" altLang="zh-CN" dirty="0">
              <a:solidFill>
                <a:srgbClr val="FF0000"/>
              </a:solidFill>
            </a:endParaRPr>
          </a:p>
          <a:p>
            <a:pPr eaLnBrk="1" hangingPunct="1"/>
            <a:r>
              <a:rPr lang="zh-CN" altLang="en-US" dirty="0"/>
              <a:t>并行算法实现</a:t>
            </a:r>
            <a:r>
              <a:rPr lang="en-US" altLang="zh-CN" dirty="0"/>
              <a:t>——SYCL</a:t>
            </a:r>
            <a:r>
              <a:rPr lang="zh-CN" altLang="en-US" dirty="0"/>
              <a:t>跨架构编程</a:t>
            </a:r>
            <a:endParaRPr lang="en-US" altLang="zh-CN" dirty="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zh-CN" altLang="en-US"/>
              <a:t>固定规模问题的加速比模型</a:t>
            </a:r>
          </a:p>
        </p:txBody>
      </p:sp>
      <p:sp>
        <p:nvSpPr>
          <p:cNvPr id="57347" name="Rectangle 3"/>
          <p:cNvSpPr>
            <a:spLocks noGrp="1" noChangeArrowheads="1"/>
          </p:cNvSpPr>
          <p:nvPr>
            <p:ph type="body" idx="1"/>
          </p:nvPr>
        </p:nvSpPr>
        <p:spPr/>
        <p:txBody>
          <a:bodyPr/>
          <a:lstStyle/>
          <a:p>
            <a:pPr eaLnBrk="1" hangingPunct="1"/>
            <a:r>
              <a:rPr lang="en-US" altLang="zh-CN"/>
              <a:t>Amdahl</a:t>
            </a:r>
            <a:r>
              <a:rPr lang="zh-CN" altLang="en-US"/>
              <a:t>加速比模型</a:t>
            </a:r>
          </a:p>
          <a:p>
            <a:pPr eaLnBrk="1" hangingPunct="1"/>
            <a:r>
              <a:rPr lang="zh-CN" altLang="en-US"/>
              <a:t>问题规模固定</a:t>
            </a:r>
          </a:p>
          <a:p>
            <a:pPr eaLnBrk="1" hangingPunct="1"/>
            <a:r>
              <a:rPr lang="zh-CN" altLang="en-US"/>
              <a:t>串行部分比例为</a:t>
            </a:r>
            <a:r>
              <a:rPr lang="en-US" altLang="zh-CN"/>
              <a:t>f</a:t>
            </a:r>
            <a:r>
              <a:rPr lang="zh-CN" altLang="en-US"/>
              <a:t>，并行部分比例为</a:t>
            </a:r>
            <a:r>
              <a:rPr lang="en-US" altLang="zh-CN"/>
              <a:t>N</a:t>
            </a:r>
          </a:p>
          <a:p>
            <a:pPr eaLnBrk="1" hangingPunct="1"/>
            <a:r>
              <a:rPr lang="en-US" altLang="zh-CN"/>
              <a:t>f+N=1</a:t>
            </a:r>
          </a:p>
          <a:p>
            <a:pPr eaLnBrk="1" hangingPunct="1"/>
            <a:r>
              <a:rPr lang="zh-CN" altLang="en-US"/>
              <a:t>处理器数目</a:t>
            </a:r>
            <a:r>
              <a:rPr lang="en-US" altLang="zh-CN"/>
              <a:t>P</a:t>
            </a:r>
            <a:r>
              <a:rPr lang="zh-CN" altLang="en-US"/>
              <a:t>，则有</a:t>
            </a:r>
          </a:p>
        </p:txBody>
      </p:sp>
      <p:graphicFrame>
        <p:nvGraphicFramePr>
          <p:cNvPr id="57348" name="Object 5"/>
          <p:cNvGraphicFramePr>
            <a:graphicFrameLocks noChangeAspect="1"/>
          </p:cNvGraphicFramePr>
          <p:nvPr/>
        </p:nvGraphicFramePr>
        <p:xfrm>
          <a:off x="1238250" y="4495800"/>
          <a:ext cx="5981700" cy="1257300"/>
        </p:xfrm>
        <a:graphic>
          <a:graphicData uri="http://schemas.openxmlformats.org/presentationml/2006/ole">
            <mc:AlternateContent xmlns:mc="http://schemas.openxmlformats.org/markup-compatibility/2006">
              <mc:Choice xmlns:v="urn:schemas-microsoft-com:vml" Requires="v">
                <p:oleObj spid="_x0000_s57488" name="Equation" r:id="rId3" imgW="1993900" imgH="419100" progId="Equation.3">
                  <p:embed/>
                </p:oleObj>
              </mc:Choice>
              <mc:Fallback>
                <p:oleObj name="Equation" r:id="rId3" imgW="1993900" imgH="419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250" y="4495800"/>
                        <a:ext cx="5981700"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t>Amdahl</a:t>
            </a:r>
            <a:r>
              <a:rPr lang="zh-CN" altLang="en-US"/>
              <a:t>模型图示</a:t>
            </a:r>
          </a:p>
        </p:txBody>
      </p:sp>
      <p:sp>
        <p:nvSpPr>
          <p:cNvPr id="58371" name="Rectangle 3"/>
          <p:cNvSpPr>
            <a:spLocks noGrp="1" noChangeArrowheads="1"/>
          </p:cNvSpPr>
          <p:nvPr>
            <p:ph type="body" idx="1"/>
          </p:nvPr>
        </p:nvSpPr>
        <p:spPr/>
        <p:txBody>
          <a:bodyPr/>
          <a:lstStyle/>
          <a:p>
            <a:pPr eaLnBrk="1" hangingPunct="1"/>
            <a:endParaRPr lang="zh-CN" altLang="zh-CN"/>
          </a:p>
        </p:txBody>
      </p:sp>
      <p:pic>
        <p:nvPicPr>
          <p:cNvPr id="58372" name="Picture 4" descr="amdah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24000"/>
            <a:ext cx="5268913"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a:t>扩充问题规模加速比</a:t>
            </a:r>
          </a:p>
        </p:txBody>
      </p:sp>
      <p:sp>
        <p:nvSpPr>
          <p:cNvPr id="59395" name="Rectangle 3"/>
          <p:cNvSpPr>
            <a:spLocks noGrp="1" noChangeArrowheads="1"/>
          </p:cNvSpPr>
          <p:nvPr>
            <p:ph type="body" idx="1"/>
          </p:nvPr>
        </p:nvSpPr>
        <p:spPr/>
        <p:txBody>
          <a:bodyPr/>
          <a:lstStyle/>
          <a:p>
            <a:pPr eaLnBrk="1" hangingPunct="1"/>
            <a:r>
              <a:rPr lang="zh-CN" altLang="en-US" sz="2800"/>
              <a:t>固定时间加速比模型</a:t>
            </a:r>
            <a:r>
              <a:rPr lang="en-US" altLang="zh-CN" sz="2800"/>
              <a:t>——Gustafson</a:t>
            </a:r>
            <a:r>
              <a:rPr lang="zh-CN" altLang="en-US" sz="2800"/>
              <a:t>模型</a:t>
            </a:r>
          </a:p>
          <a:p>
            <a:pPr eaLnBrk="1" hangingPunct="1"/>
            <a:r>
              <a:rPr lang="en-US" altLang="zh-CN" sz="2400"/>
              <a:t>John L. Gustafson, “Reevaluating Amdahl's Law”, Communication of ACM 31(5), 1988. pp. 532-533.</a:t>
            </a:r>
          </a:p>
          <a:p>
            <a:pPr eaLnBrk="1" hangingPunct="1"/>
            <a:r>
              <a:rPr lang="en-US" altLang="zh-CN" sz="2800"/>
              <a:t>1988</a:t>
            </a:r>
            <a:r>
              <a:rPr lang="zh-CN" altLang="en-US" sz="2800"/>
              <a:t>年，一些实验表明，问题规模不变（并行部分不随处理器数目的变化而变化）的假定是不恰当的</a:t>
            </a:r>
          </a:p>
          <a:p>
            <a:pPr eaLnBrk="1" hangingPunct="1"/>
            <a:r>
              <a:rPr lang="zh-CN" altLang="en-US" sz="2800"/>
              <a:t>适当增加问题规模，可达到线性加速比</a:t>
            </a:r>
          </a:p>
        </p:txBody>
      </p:sp>
      <p:graphicFrame>
        <p:nvGraphicFramePr>
          <p:cNvPr id="59396" name="Object 4"/>
          <p:cNvGraphicFramePr>
            <a:graphicFrameLocks noChangeAspect="1"/>
          </p:cNvGraphicFramePr>
          <p:nvPr/>
        </p:nvGraphicFramePr>
        <p:xfrm>
          <a:off x="1905000" y="4610100"/>
          <a:ext cx="5867400" cy="1257300"/>
        </p:xfrm>
        <a:graphic>
          <a:graphicData uri="http://schemas.openxmlformats.org/presentationml/2006/ole">
            <mc:AlternateContent xmlns:mc="http://schemas.openxmlformats.org/markup-compatibility/2006">
              <mc:Choice xmlns:v="urn:schemas-microsoft-com:vml" Requires="v">
                <p:oleObj spid="_x0000_s59536" name="Equation" r:id="rId3" imgW="1955800" imgH="419100" progId="Equation.3">
                  <p:embed/>
                </p:oleObj>
              </mc:Choice>
              <mc:Fallback>
                <p:oleObj name="Equation" r:id="rId3" imgW="19558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4610100"/>
                        <a:ext cx="5867400"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a:t>Gustafson</a:t>
            </a:r>
            <a:r>
              <a:rPr lang="zh-CN" altLang="en-US"/>
              <a:t>模型图示</a:t>
            </a:r>
          </a:p>
        </p:txBody>
      </p:sp>
      <p:pic>
        <p:nvPicPr>
          <p:cNvPr id="60419" name="Picture 4" descr="gustaf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905000"/>
            <a:ext cx="7521575" cy="446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noChangeArrowheads="1"/>
          </p:cNvSpPr>
          <p:nvPr>
            <p:ph type="title"/>
          </p:nvPr>
        </p:nvSpPr>
        <p:spPr/>
        <p:txBody>
          <a:bodyPr/>
          <a:lstStyle/>
          <a:p>
            <a:r>
              <a:rPr lang="zh-CN" altLang="en-US"/>
              <a:t>效率</a:t>
            </a:r>
          </a:p>
        </p:txBody>
      </p:sp>
      <p:sp>
        <p:nvSpPr>
          <p:cNvPr id="61443" name="内容占位符 2"/>
          <p:cNvSpPr>
            <a:spLocks noGrp="1" noChangeArrowheads="1"/>
          </p:cNvSpPr>
          <p:nvPr>
            <p:ph idx="1"/>
          </p:nvPr>
        </p:nvSpPr>
        <p:spPr/>
        <p:txBody>
          <a:bodyPr/>
          <a:lstStyle/>
          <a:p>
            <a:pPr eaLnBrk="1" hangingPunct="1"/>
            <a:r>
              <a:rPr lang="zh-CN" altLang="en-US">
                <a:solidFill>
                  <a:srgbClr val="000000"/>
                </a:solidFill>
              </a:rPr>
              <a:t>理想并行算法，</a:t>
            </a:r>
            <a:r>
              <a:rPr lang="en-US" altLang="zh-CN">
                <a:solidFill>
                  <a:srgbClr val="000000"/>
                </a:solidFill>
              </a:rPr>
              <a:t>S=p</a:t>
            </a:r>
          </a:p>
          <a:p>
            <a:pPr eaLnBrk="1" hangingPunct="1"/>
            <a:r>
              <a:rPr lang="zh-CN" altLang="en-US">
                <a:solidFill>
                  <a:srgbClr val="000000"/>
                </a:solidFill>
              </a:rPr>
              <a:t>难实现，不是</a:t>
            </a:r>
            <a:r>
              <a:rPr lang="en-US" altLang="zh-CN">
                <a:solidFill>
                  <a:srgbClr val="000000"/>
                </a:solidFill>
              </a:rPr>
              <a:t>100%</a:t>
            </a:r>
            <a:r>
              <a:rPr lang="zh-CN" altLang="en-US">
                <a:solidFill>
                  <a:srgbClr val="000000"/>
                </a:solidFill>
              </a:rPr>
              <a:t>时间都用于有效计算</a:t>
            </a:r>
          </a:p>
          <a:p>
            <a:pPr eaLnBrk="1" hangingPunct="1"/>
            <a:r>
              <a:rPr lang="zh-CN" altLang="en-US">
                <a:solidFill>
                  <a:srgbClr val="000000"/>
                </a:solidFill>
              </a:rPr>
              <a:t>求和例子，部分时间处理器处于空闲</a:t>
            </a:r>
          </a:p>
          <a:p>
            <a:pPr eaLnBrk="1" hangingPunct="1"/>
            <a:r>
              <a:rPr lang="zh-CN" altLang="en-US">
                <a:solidFill>
                  <a:srgbClr val="000000"/>
                </a:solidFill>
              </a:rPr>
              <a:t>效率（</a:t>
            </a:r>
            <a:r>
              <a:rPr lang="en-US" altLang="zh-CN">
                <a:solidFill>
                  <a:srgbClr val="FF0000"/>
                </a:solidFill>
              </a:rPr>
              <a:t>Efficiency</a:t>
            </a:r>
            <a:r>
              <a:rPr lang="zh-CN" altLang="en-US">
                <a:solidFill>
                  <a:srgbClr val="000000"/>
                </a:solidFill>
              </a:rPr>
              <a:t>）：度量有效计算时间</a:t>
            </a:r>
          </a:p>
          <a:p>
            <a:pPr eaLnBrk="1" hangingPunct="1"/>
            <a:r>
              <a:rPr lang="zh-CN" altLang="en-US">
                <a:solidFill>
                  <a:srgbClr val="000000"/>
                </a:solidFill>
              </a:rPr>
              <a:t>理想情况</a:t>
            </a:r>
            <a:r>
              <a:rPr lang="en-US" altLang="zh-CN">
                <a:solidFill>
                  <a:srgbClr val="000000"/>
                </a:solidFill>
              </a:rPr>
              <a:t>=1</a:t>
            </a:r>
            <a:r>
              <a:rPr lang="zh-CN" altLang="en-US">
                <a:solidFill>
                  <a:srgbClr val="000000"/>
                </a:solidFill>
              </a:rPr>
              <a:t>，正常</a:t>
            </a:r>
            <a:r>
              <a:rPr lang="en-US" altLang="zh-CN">
                <a:solidFill>
                  <a:srgbClr val="000000"/>
                </a:solidFill>
              </a:rPr>
              <a:t>0</a:t>
            </a:r>
            <a:r>
              <a:rPr lang="zh-CN" altLang="en-US">
                <a:solidFill>
                  <a:srgbClr val="000000"/>
                </a:solidFill>
              </a:rPr>
              <a:t>～</a:t>
            </a:r>
            <a:r>
              <a:rPr lang="en-US" altLang="zh-CN">
                <a:solidFill>
                  <a:srgbClr val="000000"/>
                </a:solidFill>
              </a:rPr>
              <a:t>1</a:t>
            </a:r>
          </a:p>
          <a:p>
            <a:pPr eaLnBrk="1" hangingPunct="1"/>
            <a:r>
              <a:rPr lang="en-US" altLang="zh-CN">
                <a:solidFill>
                  <a:srgbClr val="000000"/>
                </a:solidFill>
              </a:rPr>
              <a:t>E=S/p</a:t>
            </a:r>
          </a:p>
          <a:p>
            <a:pPr eaLnBrk="1" hangingPunct="1"/>
            <a:r>
              <a:rPr lang="zh-CN" altLang="en-US">
                <a:solidFill>
                  <a:srgbClr val="000000"/>
                </a:solidFill>
              </a:rPr>
              <a:t>求和例子</a:t>
            </a:r>
            <a:br>
              <a:rPr lang="zh-CN" altLang="en-US">
                <a:solidFill>
                  <a:srgbClr val="000000"/>
                </a:solidFill>
              </a:rPr>
            </a:br>
            <a:r>
              <a:rPr lang="en-US" altLang="zh-CN">
                <a:solidFill>
                  <a:srgbClr val="000000"/>
                </a:solidFill>
              </a:rPr>
              <a:t>E= </a:t>
            </a:r>
            <a:r>
              <a:rPr lang="en-US" altLang="zh-CN">
                <a:solidFill>
                  <a:srgbClr val="000000"/>
                </a:solidFill>
                <a:latin typeface="Symbol" panose="05050102010706020507" pitchFamily="18" charset="2"/>
                <a:sym typeface="Wingdings" panose="05000000000000000000" pitchFamily="2" charset="2"/>
              </a:rPr>
              <a:t>Q</a:t>
            </a:r>
            <a:r>
              <a:rPr lang="en-US" altLang="zh-CN">
                <a:solidFill>
                  <a:srgbClr val="000000"/>
                </a:solidFill>
                <a:sym typeface="Wingdings" panose="05000000000000000000" pitchFamily="2" charset="2"/>
              </a:rPr>
              <a:t>(n/logn)/n= </a:t>
            </a:r>
            <a:r>
              <a:rPr lang="en-US" altLang="zh-CN">
                <a:solidFill>
                  <a:srgbClr val="000000"/>
                </a:solidFill>
                <a:latin typeface="Symbol" panose="05050102010706020507" pitchFamily="18" charset="2"/>
                <a:sym typeface="Wingdings" panose="05000000000000000000" pitchFamily="2" charset="2"/>
              </a:rPr>
              <a:t>Q</a:t>
            </a:r>
            <a:r>
              <a:rPr lang="en-US" altLang="zh-CN">
                <a:solidFill>
                  <a:srgbClr val="000000"/>
                </a:solidFill>
                <a:sym typeface="Wingdings" panose="05000000000000000000" pitchFamily="2" charset="2"/>
              </a:rPr>
              <a:t>(1/logn)</a:t>
            </a:r>
          </a:p>
        </p:txBody>
      </p:sp>
      <p:sp>
        <p:nvSpPr>
          <p:cNvPr id="5" name="TextBox 8"/>
          <p:cNvSpPr txBox="1">
            <a:spLocks noChangeArrowheads="1"/>
          </p:cNvSpPr>
          <p:nvPr/>
        </p:nvSpPr>
        <p:spPr bwMode="auto">
          <a:xfrm>
            <a:off x="6300788" y="4581525"/>
            <a:ext cx="26590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a:spcBef>
                <a:spcPct val="0"/>
              </a:spcBef>
              <a:buClrTx/>
              <a:buSzTx/>
              <a:buFontTx/>
              <a:buNone/>
            </a:pPr>
            <a:r>
              <a:rPr lang="zh-CN" altLang="en-US" sz="2400" b="1">
                <a:solidFill>
                  <a:srgbClr val="333399"/>
                </a:solidFill>
                <a:latin typeface="Comic Sans MS" panose="030F0702030302020204" pitchFamily="66" charset="0"/>
              </a:rPr>
              <a:t>这个效率好不好？</a:t>
            </a:r>
            <a:endParaRPr lang="en-US" altLang="zh-CN" sz="2400" b="1">
              <a:solidFill>
                <a:srgbClr val="333399"/>
              </a:solidFill>
              <a:latin typeface="Comic Sans MS" panose="030F0702030302020204" pitchFamily="66" charset="0"/>
            </a:endParaRPr>
          </a:p>
          <a:p>
            <a:pPr>
              <a:spcBef>
                <a:spcPct val="0"/>
              </a:spcBef>
              <a:buClrTx/>
              <a:buSzTx/>
              <a:buFontTx/>
              <a:buNone/>
            </a:pPr>
            <a:r>
              <a:rPr lang="zh-CN" altLang="en-US" sz="2400" b="1">
                <a:solidFill>
                  <a:srgbClr val="333399"/>
                </a:solidFill>
                <a:latin typeface="Comic Sans MS" panose="030F0702030302020204" pitchFamily="66" charset="0"/>
              </a:rPr>
              <a:t>为什么？</a:t>
            </a:r>
            <a:endParaRPr lang="en-US" altLang="zh-CN" sz="2400" b="1">
              <a:solidFill>
                <a:srgbClr val="333399"/>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p:txBody>
          <a:bodyPr/>
          <a:lstStyle/>
          <a:p>
            <a:r>
              <a:rPr lang="zh-CN" altLang="en-US"/>
              <a:t>代价</a:t>
            </a:r>
          </a:p>
        </p:txBody>
      </p:sp>
      <p:sp>
        <p:nvSpPr>
          <p:cNvPr id="62467" name="内容占位符 2"/>
          <p:cNvSpPr>
            <a:spLocks noGrp="1" noChangeArrowheads="1"/>
          </p:cNvSpPr>
          <p:nvPr>
            <p:ph idx="1"/>
          </p:nvPr>
        </p:nvSpPr>
        <p:spPr/>
        <p:txBody>
          <a:bodyPr/>
          <a:lstStyle/>
          <a:p>
            <a:pPr eaLnBrk="1" hangingPunct="1"/>
            <a:r>
              <a:rPr lang="en-US" altLang="zh-CN">
                <a:solidFill>
                  <a:srgbClr val="000000"/>
                </a:solidFill>
              </a:rPr>
              <a:t>cost</a:t>
            </a:r>
            <a:r>
              <a:rPr lang="zh-CN" altLang="en-US">
                <a:solidFill>
                  <a:srgbClr val="000000"/>
                </a:solidFill>
              </a:rPr>
              <a:t>，并行算法运行时间</a:t>
            </a:r>
            <a:r>
              <a:rPr lang="en-US" altLang="zh-CN">
                <a:solidFill>
                  <a:srgbClr val="000000"/>
                </a:solidFill>
              </a:rPr>
              <a:t>×</a:t>
            </a:r>
            <a:r>
              <a:rPr lang="zh-CN" altLang="en-US">
                <a:solidFill>
                  <a:srgbClr val="000000"/>
                </a:solidFill>
              </a:rPr>
              <a:t>处理器数量</a:t>
            </a:r>
          </a:p>
          <a:p>
            <a:pPr eaLnBrk="1" hangingPunct="1"/>
            <a:r>
              <a:rPr lang="zh-CN" altLang="en-US">
                <a:solidFill>
                  <a:srgbClr val="000000"/>
                </a:solidFill>
              </a:rPr>
              <a:t>所有处理器用来求解问题的时间总和</a:t>
            </a:r>
          </a:p>
          <a:p>
            <a:pPr eaLnBrk="1" hangingPunct="1"/>
            <a:r>
              <a:rPr lang="en-US" altLang="zh-CN">
                <a:solidFill>
                  <a:srgbClr val="000000"/>
                </a:solidFill>
              </a:rPr>
              <a:t>E=T</a:t>
            </a:r>
            <a:r>
              <a:rPr lang="en-US" altLang="zh-CN" baseline="-25000">
                <a:solidFill>
                  <a:srgbClr val="000000"/>
                </a:solidFill>
              </a:rPr>
              <a:t>S</a:t>
            </a:r>
            <a:r>
              <a:rPr lang="en-US" altLang="zh-CN">
                <a:solidFill>
                  <a:srgbClr val="000000"/>
                </a:solidFill>
              </a:rPr>
              <a:t>/cost</a:t>
            </a:r>
            <a:r>
              <a:rPr lang="zh-CN" altLang="en-US">
                <a:solidFill>
                  <a:srgbClr val="000000"/>
                </a:solidFill>
              </a:rPr>
              <a:t>，</a:t>
            </a:r>
            <a:r>
              <a:rPr lang="en-US" altLang="zh-CN">
                <a:solidFill>
                  <a:srgbClr val="000000"/>
                </a:solidFill>
              </a:rPr>
              <a:t>E=1</a:t>
            </a:r>
            <a:r>
              <a:rPr lang="zh-CN" altLang="en-US">
                <a:solidFill>
                  <a:srgbClr val="000000"/>
                </a:solidFill>
              </a:rPr>
              <a:t>时，</a:t>
            </a:r>
            <a:r>
              <a:rPr lang="en-US" altLang="zh-CN">
                <a:solidFill>
                  <a:srgbClr val="000000"/>
                </a:solidFill>
              </a:rPr>
              <a:t>cost=T</a:t>
            </a:r>
            <a:r>
              <a:rPr lang="en-US" altLang="zh-CN" baseline="-25000">
                <a:solidFill>
                  <a:srgbClr val="000000"/>
                </a:solidFill>
              </a:rPr>
              <a:t>S</a:t>
            </a:r>
            <a:endParaRPr lang="en-US" altLang="zh-CN">
              <a:solidFill>
                <a:srgbClr val="000000"/>
              </a:solidFill>
            </a:endParaRPr>
          </a:p>
          <a:p>
            <a:pPr eaLnBrk="1" hangingPunct="1"/>
            <a:r>
              <a:rPr lang="zh-CN" altLang="en-US">
                <a:solidFill>
                  <a:srgbClr val="000000"/>
                </a:solidFill>
              </a:rPr>
              <a:t>代价最优，</a:t>
            </a:r>
            <a:r>
              <a:rPr lang="en-US" altLang="zh-CN">
                <a:solidFill>
                  <a:srgbClr val="FF0000"/>
                </a:solidFill>
              </a:rPr>
              <a:t>cost-optimal</a:t>
            </a:r>
            <a:r>
              <a:rPr lang="zh-CN" altLang="en-US">
                <a:solidFill>
                  <a:srgbClr val="000000"/>
                </a:solidFill>
              </a:rPr>
              <a:t>：代价与最优串行算法运行时间渐进相等</a:t>
            </a:r>
            <a:r>
              <a:rPr lang="en-US" altLang="zh-CN">
                <a:solidFill>
                  <a:srgbClr val="000000"/>
                </a:solidFill>
              </a:rPr>
              <a:t>——E= </a:t>
            </a:r>
            <a:r>
              <a:rPr lang="en-US" altLang="zh-CN">
                <a:solidFill>
                  <a:srgbClr val="000000"/>
                </a:solidFill>
                <a:latin typeface="Symbol" panose="05050102010706020507" pitchFamily="18" charset="2"/>
                <a:sym typeface="Wingdings" panose="05000000000000000000" pitchFamily="2" charset="2"/>
              </a:rPr>
              <a:t>Q</a:t>
            </a:r>
            <a:r>
              <a:rPr lang="en-US" altLang="zh-CN">
                <a:solidFill>
                  <a:srgbClr val="000000"/>
                </a:solidFill>
                <a:sym typeface="Wingdings" panose="05000000000000000000" pitchFamily="2" charset="2"/>
              </a:rPr>
              <a:t>(1)</a:t>
            </a:r>
          </a:p>
          <a:p>
            <a:pPr eaLnBrk="1" hangingPunct="1"/>
            <a:r>
              <a:rPr lang="zh-CN" altLang="en-US">
                <a:solidFill>
                  <a:srgbClr val="000000"/>
                </a:solidFill>
                <a:sym typeface="Wingdings" panose="05000000000000000000" pitchFamily="2" charset="2"/>
              </a:rPr>
              <a:t>代价也称为工作量（</a:t>
            </a:r>
            <a:r>
              <a:rPr lang="en-US" altLang="zh-CN">
                <a:solidFill>
                  <a:srgbClr val="FF0000"/>
                </a:solidFill>
                <a:sym typeface="Wingdings" panose="05000000000000000000" pitchFamily="2" charset="2"/>
              </a:rPr>
              <a:t>work</a:t>
            </a:r>
            <a:r>
              <a:rPr lang="zh-CN" altLang="en-US">
                <a:solidFill>
                  <a:srgbClr val="000000"/>
                </a:solidFill>
                <a:sym typeface="Wingdings" panose="05000000000000000000" pitchFamily="2" charset="2"/>
              </a:rPr>
              <a:t>），处理器时间积（</a:t>
            </a:r>
            <a:r>
              <a:rPr lang="en-US" altLang="zh-CN">
                <a:solidFill>
                  <a:srgbClr val="FF0000"/>
                </a:solidFill>
                <a:sym typeface="Wingdings" panose="05000000000000000000" pitchFamily="2" charset="2"/>
              </a:rPr>
              <a:t>processor-time product</a:t>
            </a:r>
            <a:r>
              <a:rPr lang="zh-CN" altLang="en-US">
                <a:solidFill>
                  <a:srgbClr val="000000"/>
                </a:solidFill>
                <a:sym typeface="Wingdings" panose="05000000000000000000" pitchFamily="2" charset="2"/>
              </a:rPr>
              <a:t>）</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noChangeArrowheads="1"/>
          </p:cNvSpPr>
          <p:nvPr>
            <p:ph type="title"/>
          </p:nvPr>
        </p:nvSpPr>
        <p:spPr/>
        <p:txBody>
          <a:bodyPr/>
          <a:lstStyle/>
          <a:p>
            <a:r>
              <a:rPr lang="zh-CN" altLang="en-US"/>
              <a:t>代价最优</a:t>
            </a:r>
          </a:p>
        </p:txBody>
      </p:sp>
      <p:sp>
        <p:nvSpPr>
          <p:cNvPr id="63491" name="内容占位符 2"/>
          <p:cNvSpPr>
            <a:spLocks noGrp="1" noChangeArrowheads="1"/>
          </p:cNvSpPr>
          <p:nvPr>
            <p:ph idx="1"/>
          </p:nvPr>
        </p:nvSpPr>
        <p:spPr/>
        <p:txBody>
          <a:bodyPr/>
          <a:lstStyle/>
          <a:p>
            <a:pPr eaLnBrk="1" hangingPunct="1"/>
            <a:r>
              <a:rPr lang="zh-CN" altLang="en-US"/>
              <a:t>求和例子</a:t>
            </a:r>
            <a:endParaRPr lang="en-US" altLang="zh-CN"/>
          </a:p>
          <a:p>
            <a:pPr eaLnBrk="1" hangingPunct="1"/>
            <a:r>
              <a:rPr lang="en-US" altLang="zh-CN"/>
              <a:t>T</a:t>
            </a:r>
            <a:r>
              <a:rPr lang="en-US" altLang="zh-CN" baseline="-25000"/>
              <a:t>P</a:t>
            </a:r>
            <a:r>
              <a:rPr lang="en-US" altLang="zh-CN"/>
              <a:t>= </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(logn)</a:t>
            </a:r>
          </a:p>
          <a:p>
            <a:pPr eaLnBrk="1" hangingPunct="1"/>
            <a:r>
              <a:rPr lang="en-US" altLang="zh-CN">
                <a:sym typeface="Wingdings" panose="05000000000000000000" pitchFamily="2" charset="2"/>
              </a:rPr>
              <a:t>cost=pT</a:t>
            </a:r>
            <a:r>
              <a:rPr lang="en-US" altLang="zh-CN" baseline="-25000">
                <a:sym typeface="Wingdings" panose="05000000000000000000" pitchFamily="2" charset="2"/>
              </a:rPr>
              <a:t>P</a:t>
            </a:r>
            <a:r>
              <a:rPr lang="en-US" altLang="zh-CN">
                <a:sym typeface="Wingdings" panose="05000000000000000000" pitchFamily="2" charset="2"/>
              </a:rPr>
              <a:t>= </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(nlogn)</a:t>
            </a:r>
          </a:p>
          <a:p>
            <a:pPr eaLnBrk="1" hangingPunct="1"/>
            <a:r>
              <a:rPr lang="zh-CN" altLang="en-US">
                <a:sym typeface="Wingdings" panose="05000000000000000000" pitchFamily="2" charset="2"/>
              </a:rPr>
              <a:t>而</a:t>
            </a:r>
            <a:r>
              <a:rPr lang="en-US" altLang="zh-CN">
                <a:sym typeface="Wingdings" panose="05000000000000000000" pitchFamily="2" charset="2"/>
              </a:rPr>
              <a:t>T</a:t>
            </a:r>
            <a:r>
              <a:rPr lang="en-US" altLang="zh-CN" baseline="-25000">
                <a:sym typeface="Wingdings" panose="05000000000000000000" pitchFamily="2" charset="2"/>
              </a:rPr>
              <a:t>S</a:t>
            </a:r>
            <a:r>
              <a:rPr lang="en-US" altLang="zh-CN">
                <a:sym typeface="Wingdings" panose="05000000000000000000" pitchFamily="2" charset="2"/>
              </a:rPr>
              <a:t>= </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a:t>
            </a:r>
          </a:p>
          <a:p>
            <a:pPr eaLnBrk="1" hangingPunct="1"/>
            <a:r>
              <a:rPr lang="zh-CN" altLang="en-US">
                <a:sym typeface="Wingdings" panose="05000000000000000000" pitchFamily="2" charset="2"/>
              </a:rPr>
              <a:t>所以算法不是代价最优的</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noChangeArrowheads="1"/>
          </p:cNvSpPr>
          <p:nvPr>
            <p:ph type="title"/>
          </p:nvPr>
        </p:nvSpPr>
        <p:spPr/>
        <p:txBody>
          <a:bodyPr/>
          <a:lstStyle/>
          <a:p>
            <a:r>
              <a:rPr lang="zh-CN" altLang="en-US"/>
              <a:t>非代价最优算法的性能</a:t>
            </a:r>
          </a:p>
        </p:txBody>
      </p:sp>
      <p:sp>
        <p:nvSpPr>
          <p:cNvPr id="64515" name="内容占位符 2"/>
          <p:cNvSpPr>
            <a:spLocks noGrp="1" noChangeArrowheads="1"/>
          </p:cNvSpPr>
          <p:nvPr>
            <p:ph idx="1"/>
          </p:nvPr>
        </p:nvSpPr>
        <p:spPr/>
        <p:txBody>
          <a:bodyPr/>
          <a:lstStyle/>
          <a:p>
            <a:pPr eaLnBrk="1" hangingPunct="1"/>
            <a:r>
              <a:rPr lang="zh-CN" altLang="en-US"/>
              <a:t>并行排序算法，</a:t>
            </a:r>
            <a:r>
              <a:rPr lang="en-US" altLang="zh-CN"/>
              <a:t>n</a:t>
            </a:r>
            <a:r>
              <a:rPr lang="zh-CN" altLang="en-US"/>
              <a:t>个处理器</a:t>
            </a:r>
          </a:p>
          <a:p>
            <a:pPr eaLnBrk="1" hangingPunct="1"/>
            <a:r>
              <a:rPr lang="en-US" altLang="zh-CN"/>
              <a:t>T</a:t>
            </a:r>
            <a:r>
              <a:rPr lang="en-US" altLang="zh-CN" baseline="-25000"/>
              <a:t>P</a:t>
            </a:r>
            <a:r>
              <a:rPr lang="en-US" altLang="zh-CN"/>
              <a:t>=(logn)</a:t>
            </a:r>
            <a:r>
              <a:rPr lang="en-US" altLang="zh-CN" baseline="30000"/>
              <a:t>2</a:t>
            </a:r>
            <a:r>
              <a:rPr lang="zh-CN" altLang="en-US"/>
              <a:t>，</a:t>
            </a:r>
            <a:r>
              <a:rPr lang="en-US" altLang="zh-CN"/>
              <a:t>T</a:t>
            </a:r>
            <a:r>
              <a:rPr lang="en-US" altLang="zh-CN" baseline="-25000"/>
              <a:t>S</a:t>
            </a:r>
            <a:r>
              <a:rPr lang="en-US" altLang="zh-CN"/>
              <a:t>=nlogn</a:t>
            </a:r>
            <a:r>
              <a:rPr lang="zh-CN" altLang="en-US"/>
              <a:t>，</a:t>
            </a:r>
            <a:r>
              <a:rPr lang="en-US" altLang="zh-CN"/>
              <a:t>S=n/logn</a:t>
            </a:r>
            <a:r>
              <a:rPr lang="zh-CN" altLang="en-US"/>
              <a:t>，</a:t>
            </a:r>
            <a:r>
              <a:rPr lang="en-US" altLang="zh-CN"/>
              <a:t>E=1/logn</a:t>
            </a:r>
          </a:p>
          <a:p>
            <a:pPr eaLnBrk="1" hangingPunct="1"/>
            <a:r>
              <a:rPr lang="en-US" altLang="zh-CN"/>
              <a:t>cost=n(logn)</a:t>
            </a:r>
            <a:r>
              <a:rPr lang="en-US" altLang="zh-CN" baseline="30000"/>
              <a:t>2</a:t>
            </a:r>
            <a:r>
              <a:rPr lang="zh-CN" altLang="en-US"/>
              <a:t>，不是代价最优，差</a:t>
            </a:r>
            <a:r>
              <a:rPr lang="en-US" altLang="zh-CN"/>
              <a:t>logn</a:t>
            </a:r>
            <a:r>
              <a:rPr lang="zh-CN" altLang="en-US"/>
              <a:t>倍</a:t>
            </a:r>
          </a:p>
          <a:p>
            <a:pPr eaLnBrk="1" hangingPunct="1"/>
            <a:r>
              <a:rPr lang="zh-CN" altLang="en-US"/>
              <a:t>若</a:t>
            </a:r>
            <a:r>
              <a:rPr lang="en-US" altLang="zh-CN"/>
              <a:t>p&lt;n</a:t>
            </a:r>
            <a:r>
              <a:rPr lang="zh-CN" altLang="en-US"/>
              <a:t>，将</a:t>
            </a:r>
            <a:r>
              <a:rPr lang="en-US" altLang="zh-CN"/>
              <a:t>n</a:t>
            </a:r>
            <a:r>
              <a:rPr lang="zh-CN" altLang="en-US"/>
              <a:t>个任务分配到</a:t>
            </a:r>
            <a:r>
              <a:rPr lang="en-US" altLang="zh-CN"/>
              <a:t>p</a:t>
            </a:r>
            <a:r>
              <a:rPr lang="zh-CN" altLang="en-US"/>
              <a:t>个处理器，则</a:t>
            </a:r>
            <a:r>
              <a:rPr lang="en-US" altLang="zh-CN"/>
              <a:t>T</a:t>
            </a:r>
            <a:r>
              <a:rPr lang="en-US" altLang="zh-CN" baseline="-25000"/>
              <a:t>P</a:t>
            </a:r>
            <a:r>
              <a:rPr lang="en-US" altLang="zh-CN"/>
              <a:t>=n(logn)</a:t>
            </a:r>
            <a:r>
              <a:rPr lang="en-US" altLang="zh-CN" baseline="30000"/>
              <a:t>2</a:t>
            </a:r>
            <a:r>
              <a:rPr lang="en-US" altLang="zh-CN"/>
              <a:t>/p</a:t>
            </a:r>
            <a:r>
              <a:rPr lang="zh-CN" altLang="en-US"/>
              <a:t>，</a:t>
            </a:r>
            <a:r>
              <a:rPr lang="en-US" altLang="zh-CN"/>
              <a:t>S=p/logn</a:t>
            </a:r>
            <a:br>
              <a:rPr lang="en-US" altLang="zh-CN"/>
            </a:br>
            <a:r>
              <a:rPr lang="zh-CN" altLang="en-US"/>
              <a:t>当系统规模</a:t>
            </a:r>
            <a:r>
              <a:rPr lang="en-US" altLang="zh-CN"/>
              <a:t>p</a:t>
            </a:r>
            <a:r>
              <a:rPr lang="zh-CN" altLang="en-US"/>
              <a:t>固定，问题规模</a:t>
            </a:r>
            <a:r>
              <a:rPr lang="en-US" altLang="zh-CN"/>
              <a:t>n</a:t>
            </a:r>
            <a:r>
              <a:rPr lang="zh-CN" altLang="en-US"/>
              <a:t>不断增大时，效率随之不断降低！</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a:t>粒度对性能的影响</a:t>
            </a:r>
          </a:p>
        </p:txBody>
      </p:sp>
      <p:sp>
        <p:nvSpPr>
          <p:cNvPr id="65539" name="Rectangle 3"/>
          <p:cNvSpPr>
            <a:spLocks noGrp="1" noChangeArrowheads="1"/>
          </p:cNvSpPr>
          <p:nvPr>
            <p:ph type="body" idx="1"/>
          </p:nvPr>
        </p:nvSpPr>
        <p:spPr>
          <a:xfrm>
            <a:off x="990600" y="1371600"/>
            <a:ext cx="7964488" cy="4800600"/>
          </a:xfrm>
        </p:spPr>
        <p:txBody>
          <a:bodyPr/>
          <a:lstStyle/>
          <a:p>
            <a:pPr marL="609600" indent="-609600" eaLnBrk="1" hangingPunct="1"/>
            <a:r>
              <a:rPr lang="zh-CN" altLang="en-US"/>
              <a:t>通常使用较少的处理器能提高性能</a:t>
            </a:r>
          </a:p>
          <a:p>
            <a:pPr marL="609600" indent="-609600" eaLnBrk="1" hangingPunct="1"/>
            <a:r>
              <a:rPr lang="zh-CN" altLang="en-US"/>
              <a:t>实际处理器数量比需求少，</a:t>
            </a:r>
            <a:r>
              <a:rPr lang="en-US" altLang="zh-CN">
                <a:solidFill>
                  <a:schemeClr val="hlink"/>
                </a:solidFill>
              </a:rPr>
              <a:t>scaling down</a:t>
            </a:r>
          </a:p>
          <a:p>
            <a:pPr marL="609600" indent="-609600" eaLnBrk="1" hangingPunct="1"/>
            <a:r>
              <a:rPr lang="zh-CN" altLang="en-US"/>
              <a:t>简单方法</a:t>
            </a:r>
          </a:p>
          <a:p>
            <a:pPr marL="990600" lvl="1" indent="-533400" eaLnBrk="1" hangingPunct="1">
              <a:buFont typeface="Wingdings" panose="05000000000000000000" pitchFamily="2" charset="2"/>
              <a:buAutoNum type="arabicPeriod"/>
            </a:pPr>
            <a:r>
              <a:rPr lang="zh-CN" altLang="en-US"/>
              <a:t>算法设计时不考虑实际处理器数量</a:t>
            </a:r>
          </a:p>
          <a:p>
            <a:pPr marL="990600" lvl="1" indent="-533400" eaLnBrk="1" hangingPunct="1">
              <a:buFont typeface="Wingdings" panose="05000000000000000000" pitchFamily="2" charset="2"/>
              <a:buAutoNum type="arabicPeriod"/>
            </a:pPr>
            <a:r>
              <a:rPr lang="zh-CN" altLang="en-US"/>
              <a:t>将大量虚拟处理器映射到实际处理器</a:t>
            </a:r>
          </a:p>
          <a:p>
            <a:pPr marL="1371600" lvl="2" indent="-457200" eaLnBrk="1" hangingPunct="1"/>
            <a:r>
              <a:rPr lang="zh-CN" altLang="en-US"/>
              <a:t>处理器数量减少</a:t>
            </a:r>
            <a:r>
              <a:rPr lang="en-US" altLang="zh-CN"/>
              <a:t>n/p</a:t>
            </a:r>
            <a:r>
              <a:rPr lang="zh-CN" altLang="en-US"/>
              <a:t>倍，每个处理器的计算量（时间）提高</a:t>
            </a:r>
            <a:r>
              <a:rPr lang="en-US" altLang="zh-CN"/>
              <a:t>n/p</a:t>
            </a:r>
            <a:r>
              <a:rPr lang="zh-CN" altLang="en-US"/>
              <a:t>倍</a:t>
            </a:r>
          </a:p>
          <a:p>
            <a:pPr marL="1371600" lvl="2" indent="-457200" eaLnBrk="1" hangingPunct="1"/>
            <a:r>
              <a:rPr lang="zh-CN" altLang="en-US"/>
              <a:t>但通信量显然未必按比例增加，由于需要通信的虚拟处理器可能映射到同一处理器，还可能减少</a:t>
            </a:r>
            <a:r>
              <a:rPr lang="en-US" altLang="zh-CN"/>
              <a:t>——</a:t>
            </a:r>
            <a:r>
              <a:rPr lang="zh-CN" altLang="en-US"/>
              <a:t>提高性能的原因</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a:t>p</a:t>
            </a:r>
            <a:r>
              <a:rPr lang="zh-CN" altLang="en-US"/>
              <a:t>个处理器累加</a:t>
            </a:r>
            <a:r>
              <a:rPr lang="en-US" altLang="zh-CN"/>
              <a:t>n</a:t>
            </a:r>
            <a:r>
              <a:rPr lang="zh-CN" altLang="en-US"/>
              <a:t>个数</a:t>
            </a:r>
          </a:p>
        </p:txBody>
      </p:sp>
      <p:sp>
        <p:nvSpPr>
          <p:cNvPr id="66563" name="Rectangle 3"/>
          <p:cNvSpPr>
            <a:spLocks noGrp="1" noChangeArrowheads="1"/>
          </p:cNvSpPr>
          <p:nvPr>
            <p:ph type="body" idx="1"/>
          </p:nvPr>
        </p:nvSpPr>
        <p:spPr/>
        <p:txBody>
          <a:bodyPr/>
          <a:lstStyle/>
          <a:p>
            <a:pPr eaLnBrk="1" hangingPunct="1"/>
            <a:endParaRPr lang="zh-CN" altLang="zh-CN" b="1">
              <a:sym typeface="Wingdings" panose="05000000000000000000" pitchFamily="2" charset="2"/>
            </a:endParaRPr>
          </a:p>
        </p:txBody>
      </p:sp>
      <p:pic>
        <p:nvPicPr>
          <p:cNvPr id="66564" name="Picture 5" descr="sum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71600"/>
            <a:ext cx="5513388"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CN"/>
              <a:t>p</a:t>
            </a:r>
            <a:r>
              <a:rPr lang="zh-CN" altLang="en-US"/>
              <a:t>个处理器累加</a:t>
            </a:r>
            <a:r>
              <a:rPr lang="en-US" altLang="zh-CN"/>
              <a:t>n</a:t>
            </a:r>
            <a:r>
              <a:rPr lang="zh-CN" altLang="en-US"/>
              <a:t>个数</a:t>
            </a:r>
          </a:p>
        </p:txBody>
      </p:sp>
      <p:sp>
        <p:nvSpPr>
          <p:cNvPr id="67587" name="Rectangle 3"/>
          <p:cNvSpPr>
            <a:spLocks noGrp="1" noChangeArrowheads="1"/>
          </p:cNvSpPr>
          <p:nvPr>
            <p:ph type="body" idx="1"/>
          </p:nvPr>
        </p:nvSpPr>
        <p:spPr/>
        <p:txBody>
          <a:bodyPr/>
          <a:lstStyle/>
          <a:p>
            <a:pPr eaLnBrk="1" hangingPunct="1"/>
            <a:endParaRPr lang="zh-CN" altLang="zh-CN" b="1">
              <a:sym typeface="Wingdings" panose="05000000000000000000" pitchFamily="2" charset="2"/>
            </a:endParaRPr>
          </a:p>
        </p:txBody>
      </p:sp>
      <p:pic>
        <p:nvPicPr>
          <p:cNvPr id="67588" name="Picture 5" descr="sump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371600"/>
            <a:ext cx="5535613" cy="527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a:t>p</a:t>
            </a:r>
            <a:r>
              <a:rPr lang="zh-CN" altLang="en-US"/>
              <a:t>个处理器累加</a:t>
            </a:r>
            <a:r>
              <a:rPr lang="en-US" altLang="zh-CN"/>
              <a:t>n</a:t>
            </a:r>
            <a:r>
              <a:rPr lang="zh-CN" altLang="en-US"/>
              <a:t>个数</a:t>
            </a:r>
          </a:p>
        </p:txBody>
      </p:sp>
      <p:sp>
        <p:nvSpPr>
          <p:cNvPr id="68611" name="Rectangle 3"/>
          <p:cNvSpPr>
            <a:spLocks noGrp="1" noChangeArrowheads="1"/>
          </p:cNvSpPr>
          <p:nvPr>
            <p:ph type="body" idx="1"/>
          </p:nvPr>
        </p:nvSpPr>
        <p:spPr/>
        <p:txBody>
          <a:bodyPr/>
          <a:lstStyle/>
          <a:p>
            <a:pPr eaLnBrk="1" hangingPunct="1"/>
            <a:endParaRPr lang="zh-CN" altLang="zh-CN" b="1">
              <a:sym typeface="Wingdings" panose="05000000000000000000" pitchFamily="2" charset="2"/>
            </a:endParaRPr>
          </a:p>
        </p:txBody>
      </p:sp>
      <p:pic>
        <p:nvPicPr>
          <p:cNvPr id="68612" name="Picture 6" descr="sump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5668963"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CN"/>
              <a:t>p</a:t>
            </a:r>
            <a:r>
              <a:rPr lang="zh-CN" altLang="en-US"/>
              <a:t>个处理器累加</a:t>
            </a:r>
            <a:r>
              <a:rPr lang="en-US" altLang="zh-CN"/>
              <a:t>n</a:t>
            </a:r>
            <a:r>
              <a:rPr lang="zh-CN" altLang="en-US"/>
              <a:t>个数</a:t>
            </a:r>
          </a:p>
        </p:txBody>
      </p:sp>
      <p:sp>
        <p:nvSpPr>
          <p:cNvPr id="69635" name="Rectangle 3"/>
          <p:cNvSpPr>
            <a:spLocks noGrp="1" noChangeArrowheads="1"/>
          </p:cNvSpPr>
          <p:nvPr>
            <p:ph type="body" idx="1"/>
          </p:nvPr>
        </p:nvSpPr>
        <p:spPr/>
        <p:txBody>
          <a:bodyPr/>
          <a:lstStyle/>
          <a:p>
            <a:pPr eaLnBrk="1" hangingPunct="1"/>
            <a:r>
              <a:rPr lang="zh-CN" altLang="en-US"/>
              <a:t>虚处理器</a:t>
            </a:r>
            <a:r>
              <a:rPr lang="en-US" altLang="zh-CN"/>
              <a:t>i</a:t>
            </a:r>
            <a:r>
              <a:rPr lang="en-US" altLang="zh-CN">
                <a:sym typeface="Wingdings" panose="05000000000000000000" pitchFamily="2" charset="2"/>
              </a:rPr>
              <a:t></a:t>
            </a:r>
            <a:r>
              <a:rPr lang="zh-CN" altLang="en-US">
                <a:sym typeface="Wingdings" panose="05000000000000000000" pitchFamily="2" charset="2"/>
              </a:rPr>
              <a:t>物理处理器</a:t>
            </a:r>
            <a:r>
              <a:rPr lang="en-US" altLang="zh-CN">
                <a:sym typeface="Wingdings" panose="05000000000000000000" pitchFamily="2" charset="2"/>
              </a:rPr>
              <a:t>i mod p</a:t>
            </a:r>
            <a:r>
              <a:rPr lang="zh-CN" altLang="en-US">
                <a:sym typeface="Wingdings" panose="05000000000000000000" pitchFamily="2" charset="2"/>
              </a:rPr>
              <a:t>，数据也以相同方式分布</a:t>
            </a:r>
          </a:p>
          <a:p>
            <a:pPr eaLnBrk="1" hangingPunct="1"/>
            <a:r>
              <a:rPr lang="en-US" altLang="zh-CN">
                <a:sym typeface="Wingdings" panose="05000000000000000000" pitchFamily="2" charset="2"/>
              </a:rPr>
              <a:t>logn</a:t>
            </a:r>
            <a:r>
              <a:rPr lang="zh-CN" altLang="en-US">
                <a:sym typeface="Wingdings" panose="05000000000000000000" pitchFamily="2" charset="2"/>
              </a:rPr>
              <a:t>个步骤</a:t>
            </a:r>
            <a:r>
              <a:rPr lang="en-US" altLang="zh-CN">
                <a:sym typeface="Wingdings" panose="05000000000000000000" pitchFamily="2" charset="2"/>
              </a:rPr>
              <a:t>(n/p)logp</a:t>
            </a:r>
            <a:r>
              <a:rPr lang="zh-CN" altLang="en-US">
                <a:sym typeface="Wingdings" panose="05000000000000000000" pitchFamily="2" charset="2"/>
              </a:rPr>
              <a:t>个步骤</a:t>
            </a:r>
          </a:p>
          <a:p>
            <a:pPr eaLnBrk="1" hangingPunct="1"/>
            <a:r>
              <a:rPr lang="zh-CN" altLang="en-US">
                <a:sym typeface="Wingdings" panose="05000000000000000000" pitchFamily="2" charset="2"/>
              </a:rPr>
              <a:t>此时根节点保存</a:t>
            </a:r>
            <a:r>
              <a:rPr lang="en-US" altLang="zh-CN">
                <a:sym typeface="Wingdings" panose="05000000000000000000" pitchFamily="2" charset="2"/>
              </a:rPr>
              <a:t>n/p</a:t>
            </a:r>
            <a:r>
              <a:rPr lang="zh-CN" altLang="en-US">
                <a:sym typeface="Wingdings" panose="05000000000000000000" pitchFamily="2" charset="2"/>
              </a:rPr>
              <a:t>个部分和，本地加法</a:t>
            </a:r>
          </a:p>
          <a:p>
            <a:pPr eaLnBrk="1" hangingPunct="1"/>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((n/p)logp)+</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(n/p)=</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((n/p)logp)</a:t>
            </a:r>
          </a:p>
          <a:p>
            <a:pPr eaLnBrk="1" hangingPunct="1"/>
            <a:r>
              <a:rPr lang="en-US" altLang="zh-CN">
                <a:sym typeface="Wingdings" panose="05000000000000000000" pitchFamily="2" charset="2"/>
              </a:rPr>
              <a:t>cost= </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(nlogp)&gt;T</a:t>
            </a:r>
            <a:r>
              <a:rPr lang="en-US" altLang="zh-CN" baseline="-25000">
                <a:sym typeface="Wingdings" panose="05000000000000000000" pitchFamily="2" charset="2"/>
              </a:rPr>
              <a:t>S</a:t>
            </a:r>
            <a:endParaRPr lang="en-US" altLang="zh-CN">
              <a:sym typeface="Wingdings" panose="05000000000000000000" pitchFamily="2" charset="2"/>
            </a:endParaRPr>
          </a:p>
          <a:p>
            <a:pPr eaLnBrk="1" hangingPunct="1"/>
            <a:r>
              <a:rPr lang="zh-CN" altLang="en-US">
                <a:sym typeface="Wingdings" panose="05000000000000000000" pitchFamily="2" charset="2"/>
              </a:rPr>
              <a:t>还是非代价最优</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CN"/>
              <a:t>n</a:t>
            </a:r>
            <a:r>
              <a:rPr lang="zh-CN" altLang="en-US"/>
              <a:t>数相加代价最优算法</a:t>
            </a:r>
          </a:p>
        </p:txBody>
      </p:sp>
      <p:sp>
        <p:nvSpPr>
          <p:cNvPr id="70659" name="Rectangle 3"/>
          <p:cNvSpPr>
            <a:spLocks noGrp="1" noChangeArrowheads="1"/>
          </p:cNvSpPr>
          <p:nvPr>
            <p:ph type="body" idx="1"/>
          </p:nvPr>
        </p:nvSpPr>
        <p:spPr>
          <a:xfrm>
            <a:off x="1182688" y="1371600"/>
            <a:ext cx="7772400" cy="5029200"/>
          </a:xfrm>
        </p:spPr>
        <p:txBody>
          <a:bodyPr/>
          <a:lstStyle/>
          <a:p>
            <a:pPr eaLnBrk="1" hangingPunct="1"/>
            <a:endParaRPr lang="zh-CN" altLang="zh-CN">
              <a:sym typeface="Wingdings" panose="05000000000000000000" pitchFamily="2" charset="2"/>
            </a:endParaRPr>
          </a:p>
        </p:txBody>
      </p:sp>
      <p:pic>
        <p:nvPicPr>
          <p:cNvPr id="70660" name="Picture 4" descr="opts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7486650"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zh-CN"/>
              <a:t>n</a:t>
            </a:r>
            <a:r>
              <a:rPr lang="zh-CN" altLang="en-US"/>
              <a:t>数相加代价最优算法</a:t>
            </a:r>
          </a:p>
        </p:txBody>
      </p:sp>
      <p:sp>
        <p:nvSpPr>
          <p:cNvPr id="71683" name="Rectangle 3"/>
          <p:cNvSpPr>
            <a:spLocks noGrp="1" noChangeArrowheads="1"/>
          </p:cNvSpPr>
          <p:nvPr>
            <p:ph type="body" idx="1"/>
          </p:nvPr>
        </p:nvSpPr>
        <p:spPr>
          <a:xfrm>
            <a:off x="1182688" y="1371600"/>
            <a:ext cx="7772400" cy="5029200"/>
          </a:xfrm>
        </p:spPr>
        <p:txBody>
          <a:bodyPr/>
          <a:lstStyle/>
          <a:p>
            <a:pPr eaLnBrk="1" hangingPunct="1"/>
            <a:r>
              <a:rPr lang="zh-CN" altLang="en-US" dirty="0">
                <a:sym typeface="Wingdings" panose="05000000000000000000" pitchFamily="2" charset="2"/>
              </a:rPr>
              <a:t>第一步，每个处理器计算本地</a:t>
            </a:r>
            <a:r>
              <a:rPr lang="en-US" altLang="zh-CN" dirty="0">
                <a:sym typeface="Wingdings" panose="05000000000000000000" pitchFamily="2" charset="2"/>
              </a:rPr>
              <a:t>n/p</a:t>
            </a:r>
            <a:r>
              <a:rPr lang="zh-CN" altLang="en-US" dirty="0">
                <a:sym typeface="Wingdings" panose="05000000000000000000" pitchFamily="2" charset="2"/>
              </a:rPr>
              <a:t>个数的和</a:t>
            </a:r>
          </a:p>
          <a:p>
            <a:pPr eaLnBrk="1" hangingPunct="1"/>
            <a:r>
              <a:rPr lang="zh-CN" altLang="en-US" dirty="0">
                <a:sym typeface="Wingdings" panose="05000000000000000000" pitchFamily="2" charset="2"/>
              </a:rPr>
              <a:t>第二步，</a:t>
            </a:r>
            <a:r>
              <a:rPr lang="en-US" altLang="zh-CN" dirty="0">
                <a:sym typeface="Wingdings" panose="05000000000000000000" pitchFamily="2" charset="2"/>
              </a:rPr>
              <a:t>p</a:t>
            </a:r>
            <a:r>
              <a:rPr lang="zh-CN" altLang="en-US" dirty="0">
                <a:sym typeface="Wingdings" panose="05000000000000000000" pitchFamily="2" charset="2"/>
              </a:rPr>
              <a:t>个处理器计算</a:t>
            </a:r>
            <a:r>
              <a:rPr lang="en-US" altLang="zh-CN" dirty="0">
                <a:sym typeface="Wingdings" panose="05000000000000000000" pitchFamily="2" charset="2"/>
              </a:rPr>
              <a:t>p</a:t>
            </a:r>
            <a:r>
              <a:rPr lang="zh-CN" altLang="en-US" dirty="0">
                <a:sym typeface="Wingdings" panose="05000000000000000000" pitchFamily="2" charset="2"/>
              </a:rPr>
              <a:t>个部分和的和</a:t>
            </a:r>
          </a:p>
          <a:p>
            <a:pPr eaLnBrk="1" hangingPunct="1"/>
            <a:r>
              <a:rPr lang="en-US" altLang="zh-CN" dirty="0">
                <a:sym typeface="Wingdings" panose="05000000000000000000" pitchFamily="2" charset="2"/>
              </a:rPr>
              <a:t>T</a:t>
            </a:r>
            <a:r>
              <a:rPr lang="en-US" altLang="zh-CN" baseline="-25000" dirty="0">
                <a:sym typeface="Wingdings" panose="05000000000000000000" pitchFamily="2" charset="2"/>
              </a:rPr>
              <a:t>P</a:t>
            </a:r>
            <a:r>
              <a:rPr lang="en-US" altLang="zh-CN" dirty="0">
                <a:sym typeface="Wingdings" panose="05000000000000000000" pitchFamily="2" charset="2"/>
              </a:rPr>
              <a:t>=</a:t>
            </a:r>
            <a:r>
              <a:rPr lang="en-US" altLang="zh-CN" dirty="0">
                <a:latin typeface="Symbol" panose="05050102010706020507" pitchFamily="18" charset="2"/>
                <a:sym typeface="Wingdings" panose="05000000000000000000" pitchFamily="2" charset="2"/>
              </a:rPr>
              <a:t>Q</a:t>
            </a:r>
            <a:r>
              <a:rPr lang="en-US" altLang="zh-CN" dirty="0">
                <a:sym typeface="Wingdings" panose="05000000000000000000" pitchFamily="2" charset="2"/>
              </a:rPr>
              <a:t>((n/p)+</a:t>
            </a:r>
            <a:r>
              <a:rPr lang="en-US" altLang="zh-CN" dirty="0" err="1">
                <a:sym typeface="Wingdings" panose="05000000000000000000" pitchFamily="2" charset="2"/>
              </a:rPr>
              <a:t>logp</a:t>
            </a:r>
            <a:r>
              <a:rPr lang="en-US" altLang="zh-CN" dirty="0">
                <a:sym typeface="Wingdings" panose="05000000000000000000" pitchFamily="2" charset="2"/>
              </a:rPr>
              <a:t>)cost=</a:t>
            </a:r>
            <a:r>
              <a:rPr lang="en-US" altLang="zh-CN" dirty="0">
                <a:latin typeface="Symbol" panose="05050102010706020507" pitchFamily="18" charset="2"/>
                <a:sym typeface="Wingdings" panose="05000000000000000000" pitchFamily="2" charset="2"/>
              </a:rPr>
              <a:t>Q</a:t>
            </a:r>
            <a:r>
              <a:rPr lang="en-US" altLang="zh-CN" dirty="0">
                <a:sym typeface="Wingdings" panose="05000000000000000000" pitchFamily="2" charset="2"/>
              </a:rPr>
              <a:t>(</a:t>
            </a:r>
            <a:r>
              <a:rPr lang="en-US" altLang="zh-CN" dirty="0" err="1">
                <a:sym typeface="Wingdings" panose="05000000000000000000" pitchFamily="2" charset="2"/>
              </a:rPr>
              <a:t>n+plogp</a:t>
            </a:r>
            <a:r>
              <a:rPr lang="en-US" altLang="zh-CN" dirty="0">
                <a:sym typeface="Wingdings" panose="05000000000000000000" pitchFamily="2" charset="2"/>
              </a:rPr>
              <a:t>)= </a:t>
            </a:r>
            <a:r>
              <a:rPr lang="en-US" altLang="zh-CN" dirty="0">
                <a:latin typeface="Symbol" panose="05050102010706020507" pitchFamily="18" charset="2"/>
                <a:sym typeface="Wingdings" panose="05000000000000000000" pitchFamily="2" charset="2"/>
              </a:rPr>
              <a:t>Q</a:t>
            </a:r>
            <a:r>
              <a:rPr lang="en-US" altLang="zh-CN" dirty="0">
                <a:sym typeface="Wingdings" panose="05000000000000000000" pitchFamily="2" charset="2"/>
              </a:rPr>
              <a:t>(n)</a:t>
            </a: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title"/>
          </p:nvPr>
        </p:nvSpPr>
        <p:spPr/>
        <p:txBody>
          <a:bodyPr/>
          <a:lstStyle/>
          <a:p>
            <a:r>
              <a:rPr lang="zh-CN" altLang="en-US"/>
              <a:t>可扩展性（</a:t>
            </a:r>
            <a:r>
              <a:rPr lang="en-US" altLang="zh-CN"/>
              <a:t>scalability</a:t>
            </a:r>
            <a:r>
              <a:rPr lang="zh-CN" altLang="en-US"/>
              <a:t>）</a:t>
            </a:r>
          </a:p>
        </p:txBody>
      </p:sp>
      <p:sp>
        <p:nvSpPr>
          <p:cNvPr id="72707" name="内容占位符 5"/>
          <p:cNvSpPr>
            <a:spLocks noGrp="1" noChangeArrowheads="1"/>
          </p:cNvSpPr>
          <p:nvPr>
            <p:ph idx="1"/>
          </p:nvPr>
        </p:nvSpPr>
        <p:spPr>
          <a:xfrm>
            <a:off x="1182688" y="1412875"/>
            <a:ext cx="7772400" cy="5111750"/>
          </a:xfrm>
        </p:spPr>
        <p:txBody>
          <a:bodyPr/>
          <a:lstStyle/>
          <a:p>
            <a:pPr eaLnBrk="1" hangingPunct="1"/>
            <a:r>
              <a:rPr lang="zh-CN" altLang="en-US"/>
              <a:t>可扩展性是高性能并行机和并行算法追求的主要目标，其主要作用：</a:t>
            </a:r>
          </a:p>
          <a:p>
            <a:pPr lvl="1" eaLnBrk="1" hangingPunct="1"/>
            <a:r>
              <a:rPr lang="zh-CN" altLang="en-US"/>
              <a:t>度量并行系统性能的方法之一</a:t>
            </a:r>
          </a:p>
          <a:p>
            <a:pPr lvl="1" eaLnBrk="1" hangingPunct="1"/>
            <a:r>
              <a:rPr lang="zh-CN" altLang="en-US"/>
              <a:t>度量并行体系结构在不同系统规模下的并行处理能力</a:t>
            </a:r>
          </a:p>
          <a:p>
            <a:pPr lvl="1" eaLnBrk="1" hangingPunct="1"/>
            <a:r>
              <a:rPr lang="zh-CN" altLang="en-US"/>
              <a:t>度量并行算法内在的并行性</a:t>
            </a:r>
          </a:p>
          <a:p>
            <a:pPr lvl="1" eaLnBrk="1" hangingPunct="1"/>
            <a:r>
              <a:rPr lang="zh-CN" altLang="en-US"/>
              <a:t>利用系统规模和问题规模已知的并行系统性能来预测规模增大后的性能：</a:t>
            </a:r>
            <a:r>
              <a:rPr lang="en-US" altLang="zh-CN"/>
              <a:t>scale down</a:t>
            </a:r>
            <a:r>
              <a:rPr lang="zh-CN" altLang="en-US"/>
              <a:t>，适合开发、调试，不适合性能预测</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noChangeArrowheads="1"/>
          </p:cNvSpPr>
          <p:nvPr>
            <p:ph type="title"/>
          </p:nvPr>
        </p:nvSpPr>
        <p:spPr/>
        <p:txBody>
          <a:bodyPr/>
          <a:lstStyle/>
          <a:p>
            <a:r>
              <a:rPr lang="zh-CN" altLang="en-US"/>
              <a:t>例：快速傅里叶变换</a:t>
            </a:r>
          </a:p>
        </p:txBody>
      </p:sp>
      <p:sp>
        <p:nvSpPr>
          <p:cNvPr id="73731" name="内容占位符 2"/>
          <p:cNvSpPr>
            <a:spLocks noGrp="1" noChangeArrowheads="1"/>
          </p:cNvSpPr>
          <p:nvPr>
            <p:ph idx="1"/>
          </p:nvPr>
        </p:nvSpPr>
        <p:spPr/>
        <p:txBody>
          <a:bodyPr/>
          <a:lstStyle/>
          <a:p>
            <a:endParaRPr lang="zh-CN" altLang="en-US"/>
          </a:p>
        </p:txBody>
      </p:sp>
      <p:pic>
        <p:nvPicPr>
          <p:cNvPr id="73732" name="Picture 4" descr="f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412875"/>
            <a:ext cx="7405688"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title"/>
          </p:nvPr>
        </p:nvSpPr>
        <p:spPr/>
        <p:txBody>
          <a:bodyPr/>
          <a:lstStyle/>
          <a:p>
            <a:r>
              <a:rPr lang="zh-CN" altLang="en-US"/>
              <a:t>例：（续）</a:t>
            </a:r>
          </a:p>
        </p:txBody>
      </p:sp>
      <p:sp>
        <p:nvSpPr>
          <p:cNvPr id="74755" name="内容占位符 2"/>
          <p:cNvSpPr>
            <a:spLocks noGrp="1" noChangeArrowheads="1"/>
          </p:cNvSpPr>
          <p:nvPr>
            <p:ph idx="1"/>
          </p:nvPr>
        </p:nvSpPr>
        <p:spPr/>
        <p:txBody>
          <a:bodyPr/>
          <a:lstStyle/>
          <a:p>
            <a:pPr eaLnBrk="1" hangingPunct="1"/>
            <a:r>
              <a:rPr lang="zh-CN" altLang="en-US"/>
              <a:t>三个并行算法，计算</a:t>
            </a:r>
            <a:r>
              <a:rPr lang="en-US" altLang="zh-CN"/>
              <a:t>n</a:t>
            </a:r>
            <a:r>
              <a:rPr lang="zh-CN" altLang="en-US"/>
              <a:t>点</a:t>
            </a:r>
            <a:r>
              <a:rPr lang="en-US" altLang="zh-CN"/>
              <a:t>FFT</a:t>
            </a:r>
          </a:p>
          <a:p>
            <a:pPr eaLnBrk="1" hangingPunct="1"/>
            <a:r>
              <a:rPr lang="zh-CN" altLang="en-US"/>
              <a:t>处理器数目为</a:t>
            </a:r>
            <a:r>
              <a:rPr lang="en-US" altLang="zh-CN"/>
              <a:t>p</a:t>
            </a:r>
            <a:r>
              <a:rPr lang="zh-CN" altLang="en-US"/>
              <a:t>不变，</a:t>
            </a:r>
            <a:r>
              <a:rPr lang="en-US" altLang="zh-CN"/>
              <a:t>n</a:t>
            </a:r>
            <a:r>
              <a:rPr lang="zh-CN" altLang="en-US"/>
              <a:t>增大，看</a:t>
            </a:r>
            <a:r>
              <a:rPr lang="en-US" altLang="zh-CN"/>
              <a:t>S</a:t>
            </a:r>
            <a:r>
              <a:rPr lang="zh-CN" altLang="en-US"/>
              <a:t>的变化</a:t>
            </a:r>
          </a:p>
          <a:p>
            <a:pPr eaLnBrk="1" hangingPunct="1"/>
            <a:r>
              <a:rPr lang="en-US" altLang="zh-CN"/>
              <a:t>n</a:t>
            </a:r>
            <a:r>
              <a:rPr lang="zh-CN" altLang="en-US"/>
              <a:t>较小时，</a:t>
            </a:r>
            <a:r>
              <a:rPr lang="en-US" altLang="zh-CN"/>
              <a:t>Binary exchange</a:t>
            </a:r>
            <a:r>
              <a:rPr lang="zh-CN" altLang="en-US"/>
              <a:t>和</a:t>
            </a:r>
            <a:r>
              <a:rPr lang="en-US" altLang="zh-CN"/>
              <a:t>3</a:t>
            </a:r>
            <a:r>
              <a:rPr lang="zh-CN" altLang="en-US"/>
              <a:t>维转置的加速比更大，性能更好</a:t>
            </a:r>
          </a:p>
          <a:p>
            <a:pPr eaLnBrk="1" hangingPunct="1"/>
            <a:r>
              <a:rPr lang="zh-CN" altLang="en-US"/>
              <a:t>但当</a:t>
            </a:r>
            <a:r>
              <a:rPr lang="en-US" altLang="zh-CN"/>
              <a:t>n</a:t>
            </a:r>
            <a:r>
              <a:rPr lang="zh-CN" altLang="en-US"/>
              <a:t>很大时，</a:t>
            </a:r>
            <a:r>
              <a:rPr lang="en-US" altLang="zh-CN"/>
              <a:t>2</a:t>
            </a:r>
            <a:r>
              <a:rPr lang="zh-CN" altLang="en-US"/>
              <a:t>维转置性能更优</a:t>
            </a:r>
          </a:p>
          <a:p>
            <a:pPr eaLnBrk="1" hangingPunct="1"/>
            <a:r>
              <a:rPr lang="zh-CN" altLang="en-US"/>
              <a:t>显然，由小系统的测试结果推测扩展特性很困难，可扩展性分析是必要的</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p:nvPr>
        </p:nvSpPr>
        <p:spPr/>
        <p:txBody>
          <a:bodyPr/>
          <a:lstStyle/>
          <a:p>
            <a:r>
              <a:rPr lang="zh-CN" altLang="en-US"/>
              <a:t>并行算法的可扩展性</a:t>
            </a:r>
          </a:p>
        </p:txBody>
      </p:sp>
      <p:sp>
        <p:nvSpPr>
          <p:cNvPr id="75779" name="内容占位符 2"/>
          <p:cNvSpPr>
            <a:spLocks noGrp="1" noChangeArrowheads="1"/>
          </p:cNvSpPr>
          <p:nvPr>
            <p:ph idx="1"/>
          </p:nvPr>
        </p:nvSpPr>
        <p:spPr>
          <a:xfrm>
            <a:off x="1182688" y="2636838"/>
            <a:ext cx="7772400" cy="3459162"/>
          </a:xfrm>
        </p:spPr>
        <p:txBody>
          <a:bodyPr/>
          <a:lstStyle/>
          <a:p>
            <a:pPr eaLnBrk="1" hangingPunct="1"/>
            <a:r>
              <a:rPr lang="en-US" altLang="zh-CN" sz="2800"/>
              <a:t>T</a:t>
            </a:r>
            <a:r>
              <a:rPr lang="en-US" altLang="zh-CN" sz="2800" baseline="-25000"/>
              <a:t>o</a:t>
            </a:r>
            <a:r>
              <a:rPr lang="zh-CN" altLang="en-US" sz="2800"/>
              <a:t>：额外开销函数，若问题规模不变，随</a:t>
            </a:r>
            <a:r>
              <a:rPr lang="en-US" altLang="zh-CN" sz="2800"/>
              <a:t>p</a:t>
            </a:r>
            <a:r>
              <a:rPr lang="zh-CN" altLang="en-US" sz="2800"/>
              <a:t>增大而增大，</a:t>
            </a:r>
            <a:r>
              <a:rPr lang="en-US" altLang="zh-CN" sz="2800"/>
              <a:t>E</a:t>
            </a:r>
            <a:r>
              <a:rPr lang="zh-CN" altLang="en-US" sz="2800"/>
              <a:t>变小</a:t>
            </a:r>
          </a:p>
          <a:p>
            <a:pPr lvl="1" eaLnBrk="1" hangingPunct="1"/>
            <a:r>
              <a:rPr lang="zh-CN" altLang="en-US" sz="2400"/>
              <a:t>每个程序都有串行部分</a:t>
            </a:r>
            <a:r>
              <a:rPr lang="en-US" altLang="zh-CN" sz="2400"/>
              <a:t>t</a:t>
            </a:r>
            <a:r>
              <a:rPr lang="en-US" altLang="zh-CN" sz="2400" baseline="-25000"/>
              <a:t>serial</a:t>
            </a:r>
            <a:r>
              <a:rPr lang="en-US" altLang="zh-CN" sz="2400"/>
              <a:t>——</a:t>
            </a:r>
            <a:r>
              <a:rPr lang="zh-CN" altLang="en-US" sz="2400"/>
              <a:t>一个进程运行，其他进程空闲</a:t>
            </a:r>
          </a:p>
          <a:p>
            <a:pPr lvl="1" eaLnBrk="1" hangingPunct="1"/>
            <a:r>
              <a:rPr lang="zh-CN" altLang="en-US" sz="2400"/>
              <a:t>这方面的开销</a:t>
            </a:r>
            <a:r>
              <a:rPr lang="en-US" altLang="zh-CN" sz="2400"/>
              <a:t>(p-1)*t</a:t>
            </a:r>
            <a:r>
              <a:rPr lang="en-US" altLang="zh-CN" sz="2400" baseline="-25000"/>
              <a:t>serial</a:t>
            </a:r>
            <a:r>
              <a:rPr lang="zh-CN" altLang="en-US" sz="2400"/>
              <a:t>，</a:t>
            </a:r>
            <a:r>
              <a:rPr lang="en-US" altLang="zh-CN" sz="2400"/>
              <a:t>T</a:t>
            </a:r>
            <a:r>
              <a:rPr lang="en-US" altLang="zh-CN" sz="2400" baseline="-25000"/>
              <a:t>o</a:t>
            </a:r>
            <a:r>
              <a:rPr lang="zh-CN" altLang="en-US" sz="2400"/>
              <a:t>随</a:t>
            </a:r>
            <a:r>
              <a:rPr lang="en-US" altLang="zh-CN" sz="2400"/>
              <a:t>p</a:t>
            </a:r>
            <a:r>
              <a:rPr lang="zh-CN" altLang="en-US" sz="2400"/>
              <a:t>增加至少线性增长</a:t>
            </a:r>
          </a:p>
          <a:p>
            <a:pPr lvl="1" eaLnBrk="1" hangingPunct="1"/>
            <a:r>
              <a:rPr lang="zh-CN" altLang="en-US" sz="2400"/>
              <a:t>还有进程交互、空闲、额外计算等</a:t>
            </a:r>
          </a:p>
          <a:p>
            <a:pPr eaLnBrk="1" hangingPunct="1"/>
            <a:r>
              <a:rPr lang="zh-CN" altLang="en-US" sz="2800"/>
              <a:t>所有并行算法均是如此</a:t>
            </a:r>
            <a:endParaRPr lang="zh-CN" altLang="en-US"/>
          </a:p>
        </p:txBody>
      </p:sp>
      <p:graphicFrame>
        <p:nvGraphicFramePr>
          <p:cNvPr id="75780" name="Object 4"/>
          <p:cNvGraphicFramePr>
            <a:graphicFrameLocks noChangeAspect="1"/>
          </p:cNvGraphicFramePr>
          <p:nvPr/>
        </p:nvGraphicFramePr>
        <p:xfrm>
          <a:off x="2895600" y="1295400"/>
          <a:ext cx="3048000" cy="1317625"/>
        </p:xfrm>
        <a:graphic>
          <a:graphicData uri="http://schemas.openxmlformats.org/presentationml/2006/ole">
            <mc:AlternateContent xmlns:mc="http://schemas.openxmlformats.org/markup-compatibility/2006">
              <mc:Choice xmlns:v="urn:schemas-microsoft-com:vml" Requires="v">
                <p:oleObj spid="_x0000_s75920" name="Equation" r:id="rId3" imgW="1409700" imgH="609600" progId="Equation.3">
                  <p:embed/>
                </p:oleObj>
              </mc:Choice>
              <mc:Fallback>
                <p:oleObj name="Equation" r:id="rId3" imgW="1409700" imgH="609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295400"/>
                        <a:ext cx="3048000" cy="131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noChangeArrowheads="1"/>
          </p:cNvSpPr>
          <p:nvPr>
            <p:ph type="title"/>
          </p:nvPr>
        </p:nvSpPr>
        <p:spPr/>
        <p:txBody>
          <a:bodyPr/>
          <a:lstStyle/>
          <a:p>
            <a:r>
              <a:rPr lang="zh-CN" altLang="en-US"/>
              <a:t>例：求和</a:t>
            </a:r>
          </a:p>
        </p:txBody>
      </p:sp>
      <p:sp>
        <p:nvSpPr>
          <p:cNvPr id="76803" name="内容占位符 2"/>
          <p:cNvSpPr>
            <a:spLocks noGrp="1" noChangeArrowheads="1"/>
          </p:cNvSpPr>
          <p:nvPr>
            <p:ph idx="1"/>
          </p:nvPr>
        </p:nvSpPr>
        <p:spPr>
          <a:xfrm>
            <a:off x="1182688" y="5300663"/>
            <a:ext cx="7772400" cy="795337"/>
          </a:xfrm>
        </p:spPr>
        <p:txBody>
          <a:bodyPr/>
          <a:lstStyle/>
          <a:p>
            <a:pPr eaLnBrk="1" hangingPunct="1"/>
            <a:r>
              <a:rPr lang="zh-CN" altLang="en-US" sz="2800"/>
              <a:t>随</a:t>
            </a:r>
            <a:r>
              <a:rPr lang="en-US" altLang="zh-CN" sz="2800"/>
              <a:t>p</a:t>
            </a:r>
            <a:r>
              <a:rPr lang="zh-CN" altLang="en-US" sz="2800"/>
              <a:t>增大，</a:t>
            </a:r>
            <a:r>
              <a:rPr lang="en-US" altLang="zh-CN" sz="2800"/>
              <a:t>S</a:t>
            </a:r>
            <a:r>
              <a:rPr lang="zh-CN" altLang="en-US" sz="2800"/>
              <a:t>趋向饱和，</a:t>
            </a:r>
            <a:r>
              <a:rPr lang="en-US" altLang="zh-CN" sz="2800"/>
              <a:t>E</a:t>
            </a:r>
            <a:r>
              <a:rPr lang="zh-CN" altLang="en-US" sz="2800"/>
              <a:t>减小，</a:t>
            </a:r>
            <a:r>
              <a:rPr lang="en-US" altLang="zh-CN" sz="2800">
                <a:solidFill>
                  <a:srgbClr val="FF0000"/>
                </a:solidFill>
                <a:latin typeface="Arial Unicode MS" panose="020B0604020202020204" pitchFamily="34" charset="-122"/>
                <a:ea typeface="Arial Unicode MS" panose="020B0604020202020204" pitchFamily="34" charset="-122"/>
              </a:rPr>
              <a:t>Amdal</a:t>
            </a:r>
            <a:r>
              <a:rPr lang="zh-CN" altLang="en-US" sz="2800">
                <a:solidFill>
                  <a:srgbClr val="FF0000"/>
                </a:solidFill>
                <a:latin typeface="黑体" panose="02010609060101010101" pitchFamily="49" charset="-122"/>
                <a:ea typeface="黑体" panose="02010609060101010101" pitchFamily="49" charset="-122"/>
              </a:rPr>
              <a:t>定律</a:t>
            </a:r>
          </a:p>
          <a:p>
            <a:pPr eaLnBrk="1" hangingPunct="1"/>
            <a:r>
              <a:rPr lang="en-US" altLang="zh-CN" sz="2800"/>
              <a:t>p</a:t>
            </a:r>
            <a:r>
              <a:rPr lang="zh-CN" altLang="en-US" sz="2800"/>
              <a:t>不变，</a:t>
            </a:r>
            <a:r>
              <a:rPr lang="en-US" altLang="zh-CN" sz="2800"/>
              <a:t>n</a:t>
            </a:r>
            <a:r>
              <a:rPr lang="zh-CN" altLang="en-US" sz="2800"/>
              <a:t>增大，</a:t>
            </a:r>
            <a:r>
              <a:rPr lang="en-US" altLang="zh-CN" sz="2800"/>
              <a:t>S</a:t>
            </a:r>
            <a:r>
              <a:rPr lang="zh-CN" altLang="en-US" sz="2800"/>
              <a:t>和</a:t>
            </a:r>
            <a:r>
              <a:rPr lang="en-US" altLang="zh-CN" sz="2800"/>
              <a:t>E</a:t>
            </a:r>
            <a:r>
              <a:rPr lang="zh-CN" altLang="en-US" sz="2800"/>
              <a:t>都增大</a:t>
            </a:r>
          </a:p>
        </p:txBody>
      </p:sp>
      <p:pic>
        <p:nvPicPr>
          <p:cNvPr id="76804" name="Picture 4" descr="sca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71600"/>
            <a:ext cx="5969000"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noChangeArrowheads="1"/>
          </p:cNvSpPr>
          <p:nvPr>
            <p:ph type="title"/>
          </p:nvPr>
        </p:nvSpPr>
        <p:spPr/>
        <p:txBody>
          <a:bodyPr/>
          <a:lstStyle/>
          <a:p>
            <a:r>
              <a:rPr lang="zh-CN" altLang="en-US"/>
              <a:t>效率恒定</a:t>
            </a:r>
          </a:p>
        </p:txBody>
      </p:sp>
      <p:sp>
        <p:nvSpPr>
          <p:cNvPr id="77827" name="内容占位符 2"/>
          <p:cNvSpPr>
            <a:spLocks noGrp="1" noChangeArrowheads="1"/>
          </p:cNvSpPr>
          <p:nvPr>
            <p:ph idx="1"/>
          </p:nvPr>
        </p:nvSpPr>
        <p:spPr/>
        <p:txBody>
          <a:bodyPr/>
          <a:lstStyle/>
          <a:p>
            <a:pPr eaLnBrk="1" hangingPunct="1"/>
            <a:r>
              <a:rPr lang="en-US" altLang="zh-CN"/>
              <a:t>T</a:t>
            </a:r>
            <a:r>
              <a:rPr lang="en-US" altLang="zh-CN" baseline="-25000"/>
              <a:t>o</a:t>
            </a:r>
            <a:r>
              <a:rPr lang="zh-CN" altLang="en-US"/>
              <a:t>是</a:t>
            </a:r>
            <a:r>
              <a:rPr lang="en-US" altLang="zh-CN"/>
              <a:t>T</a:t>
            </a:r>
            <a:r>
              <a:rPr lang="en-US" altLang="zh-CN" baseline="-25000"/>
              <a:t>S</a:t>
            </a:r>
            <a:r>
              <a:rPr lang="en-US" altLang="zh-CN"/>
              <a:t>(n)</a:t>
            </a:r>
            <a:r>
              <a:rPr lang="zh-CN" altLang="en-US"/>
              <a:t>和</a:t>
            </a:r>
            <a:r>
              <a:rPr lang="en-US" altLang="zh-CN"/>
              <a:t>p</a:t>
            </a:r>
            <a:r>
              <a:rPr lang="zh-CN" altLang="en-US"/>
              <a:t>的函数，一般</a:t>
            </a:r>
            <a:r>
              <a:rPr lang="en-US" altLang="zh-CN"/>
              <a:t>T</a:t>
            </a:r>
            <a:r>
              <a:rPr lang="en-US" altLang="zh-CN" baseline="-25000"/>
              <a:t>o</a:t>
            </a:r>
            <a:r>
              <a:rPr lang="zh-CN" altLang="en-US"/>
              <a:t>相对</a:t>
            </a:r>
            <a:r>
              <a:rPr lang="en-US" altLang="zh-CN"/>
              <a:t>T</a:t>
            </a:r>
            <a:r>
              <a:rPr lang="en-US" altLang="zh-CN" baseline="-25000"/>
              <a:t>S</a:t>
            </a:r>
            <a:r>
              <a:rPr lang="zh-CN" altLang="en-US"/>
              <a:t>呈次线性增长趋势</a:t>
            </a:r>
          </a:p>
          <a:p>
            <a:pPr eaLnBrk="1" hangingPunct="1"/>
            <a:r>
              <a:rPr lang="zh-CN" altLang="en-US"/>
              <a:t>对</a:t>
            </a:r>
            <a:r>
              <a:rPr lang="zh-CN" altLang="en-US">
                <a:solidFill>
                  <a:srgbClr val="FF0000"/>
                </a:solidFill>
                <a:latin typeface="黑体" panose="02010609060101010101" pitchFamily="49" charset="-122"/>
                <a:ea typeface="黑体" panose="02010609060101010101" pitchFamily="49" charset="-122"/>
              </a:rPr>
              <a:t>某些</a:t>
            </a:r>
            <a:r>
              <a:rPr lang="zh-CN" altLang="en-US"/>
              <a:t>算法，</a:t>
            </a:r>
            <a:r>
              <a:rPr lang="en-US" altLang="zh-CN"/>
              <a:t>p</a:t>
            </a:r>
            <a:r>
              <a:rPr lang="zh-CN" altLang="en-US"/>
              <a:t>不变，</a:t>
            </a:r>
            <a:r>
              <a:rPr lang="en-US" altLang="zh-CN"/>
              <a:t>n</a:t>
            </a:r>
            <a:r>
              <a:rPr lang="zh-CN" altLang="en-US"/>
              <a:t>增大</a:t>
            </a:r>
            <a:r>
              <a:rPr lang="zh-CN" altLang="en-US">
                <a:sym typeface="Wingdings" panose="05000000000000000000" pitchFamily="2" charset="2"/>
              </a:rPr>
              <a:t></a:t>
            </a:r>
            <a:r>
              <a:rPr lang="en-US" altLang="zh-CN">
                <a:sym typeface="Wingdings" panose="05000000000000000000" pitchFamily="2" charset="2"/>
              </a:rPr>
              <a:t>E</a:t>
            </a:r>
            <a:r>
              <a:rPr lang="zh-CN" altLang="en-US">
                <a:sym typeface="Wingdings" panose="05000000000000000000" pitchFamily="2" charset="2"/>
              </a:rPr>
              <a:t>增大</a:t>
            </a:r>
            <a:br>
              <a:rPr lang="en-US" altLang="zh-CN">
                <a:sym typeface="Wingdings" panose="05000000000000000000" pitchFamily="2" charset="2"/>
              </a:rPr>
            </a:br>
            <a:r>
              <a:rPr lang="zh-CN" altLang="en-US">
                <a:sym typeface="Wingdings" panose="05000000000000000000" pitchFamily="2" charset="2"/>
              </a:rPr>
              <a:t>对此类算法，可令</a:t>
            </a:r>
            <a:r>
              <a:rPr lang="en-US" altLang="zh-CN">
                <a:sym typeface="Wingdings" panose="05000000000000000000" pitchFamily="2" charset="2"/>
              </a:rPr>
              <a:t>n</a:t>
            </a:r>
            <a:r>
              <a:rPr lang="zh-CN" altLang="en-US">
                <a:sym typeface="Wingdings" panose="05000000000000000000" pitchFamily="2" charset="2"/>
              </a:rPr>
              <a:t>和</a:t>
            </a:r>
            <a:r>
              <a:rPr lang="en-US" altLang="zh-CN">
                <a:sym typeface="Wingdings" panose="05000000000000000000" pitchFamily="2" charset="2"/>
              </a:rPr>
              <a:t>p</a:t>
            </a:r>
            <a:r>
              <a:rPr lang="zh-CN" altLang="en-US">
                <a:sym typeface="Wingdings" panose="05000000000000000000" pitchFamily="2" charset="2"/>
              </a:rPr>
              <a:t>同时增大，而保持</a:t>
            </a:r>
            <a:r>
              <a:rPr lang="en-US" altLang="zh-CN">
                <a:sym typeface="Wingdings" panose="05000000000000000000" pitchFamily="2" charset="2"/>
              </a:rPr>
              <a:t>E</a:t>
            </a:r>
            <a:r>
              <a:rPr lang="zh-CN" altLang="en-US">
                <a:sym typeface="Wingdings" panose="05000000000000000000" pitchFamily="2" charset="2"/>
              </a:rPr>
              <a:t>不变</a:t>
            </a:r>
            <a:r>
              <a:rPr lang="en-US" altLang="zh-CN">
                <a:sym typeface="Wingdings" panose="05000000000000000000" pitchFamily="2" charset="2"/>
              </a:rPr>
              <a:t>——</a:t>
            </a:r>
            <a:r>
              <a:rPr lang="zh-CN" altLang="en-US">
                <a:sym typeface="Wingdings" panose="05000000000000000000" pitchFamily="2" charset="2"/>
              </a:rPr>
              <a:t>可扩展并行系统</a:t>
            </a:r>
            <a:br>
              <a:rPr lang="en-US" altLang="zh-CN">
                <a:sym typeface="Wingdings" panose="05000000000000000000" pitchFamily="2" charset="2"/>
              </a:rPr>
            </a:br>
            <a:r>
              <a:rPr lang="en-US" altLang="zh-CN">
                <a:sym typeface="Wingdings" panose="05000000000000000000" pitchFamily="2" charset="2"/>
              </a:rPr>
              <a:t></a:t>
            </a:r>
            <a:r>
              <a:rPr lang="zh-CN" altLang="en-US">
                <a:sym typeface="Wingdings" panose="05000000000000000000" pitchFamily="2" charset="2"/>
              </a:rPr>
              <a:t>问题规模</a:t>
            </a:r>
            <a:r>
              <a:rPr lang="en-US" altLang="zh-CN">
                <a:sym typeface="Wingdings" panose="05000000000000000000" pitchFamily="2" charset="2"/>
              </a:rPr>
              <a:t>W=KT</a:t>
            </a:r>
            <a:r>
              <a:rPr lang="en-US" altLang="zh-CN" baseline="-25000">
                <a:sym typeface="Wingdings" panose="05000000000000000000" pitchFamily="2" charset="2"/>
              </a:rPr>
              <a:t>o</a:t>
            </a:r>
            <a:r>
              <a:rPr lang="en-US" altLang="zh-CN">
                <a:sym typeface="Wingdings" panose="05000000000000000000" pitchFamily="2" charset="2"/>
              </a:rPr>
              <a:t>(W, p)</a:t>
            </a:r>
            <a:r>
              <a:rPr lang="zh-CN" altLang="en-US">
                <a:sym typeface="Wingdings" panose="05000000000000000000" pitchFamily="2" charset="2"/>
              </a:rPr>
              <a:t>，</a:t>
            </a:r>
            <a:r>
              <a:rPr lang="en-US" altLang="zh-CN">
                <a:sym typeface="Wingdings" panose="05000000000000000000" pitchFamily="2" charset="2"/>
              </a:rPr>
              <a:t>K</a:t>
            </a:r>
            <a:r>
              <a:rPr lang="zh-CN" altLang="en-US">
                <a:sym typeface="Wingdings" panose="05000000000000000000" pitchFamily="2" charset="2"/>
              </a:rPr>
              <a:t>为常数</a:t>
            </a:r>
            <a:endParaRPr lang="zh-CN" altLang="en-US"/>
          </a:p>
          <a:p>
            <a:r>
              <a:rPr lang="zh-CN" altLang="en-US"/>
              <a:t>否则</a:t>
            </a:r>
            <a:r>
              <a:rPr lang="en-US" altLang="zh-CN"/>
              <a:t>——</a:t>
            </a:r>
            <a:r>
              <a:rPr lang="zh-CN" altLang="en-US"/>
              <a:t>不可扩展并行系统</a:t>
            </a:r>
            <a:endParaRPr lang="en-US" altLang="zh-CN"/>
          </a:p>
          <a:p>
            <a:r>
              <a:rPr lang="zh-CN" altLang="en-US"/>
              <a:t>与代价最优的关系？</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a:t>可扩展性的度量</a:t>
            </a:r>
          </a:p>
        </p:txBody>
      </p:sp>
      <p:sp>
        <p:nvSpPr>
          <p:cNvPr id="78851" name="Rectangle 3"/>
          <p:cNvSpPr>
            <a:spLocks noGrp="1" noChangeArrowheads="1"/>
          </p:cNvSpPr>
          <p:nvPr>
            <p:ph type="body" idx="1"/>
          </p:nvPr>
        </p:nvSpPr>
        <p:spPr/>
        <p:txBody>
          <a:bodyPr/>
          <a:lstStyle/>
          <a:p>
            <a:pPr eaLnBrk="1" hangingPunct="1"/>
            <a:r>
              <a:rPr lang="zh-CN" altLang="en-US"/>
              <a:t>为了保持效率不变，问题规模与处理器数量的增长比率必须达到多少？</a:t>
            </a:r>
          </a:p>
          <a:p>
            <a:pPr eaLnBrk="1" hangingPunct="1"/>
            <a:r>
              <a:rPr lang="zh-CN" altLang="en-US"/>
              <a:t>此比率度量了系统的可扩展性，越慢，越好</a:t>
            </a:r>
          </a:p>
          <a:p>
            <a:pPr eaLnBrk="1" hangingPunct="1"/>
            <a:endParaRPr lang="en-US" altLang="zh-CN"/>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a:t>问题规模</a:t>
            </a:r>
          </a:p>
        </p:txBody>
      </p:sp>
      <p:sp>
        <p:nvSpPr>
          <p:cNvPr id="79875" name="Rectangle 3"/>
          <p:cNvSpPr>
            <a:spLocks noGrp="1" noChangeArrowheads="1"/>
          </p:cNvSpPr>
          <p:nvPr>
            <p:ph type="body" idx="1"/>
          </p:nvPr>
        </p:nvSpPr>
        <p:spPr/>
        <p:txBody>
          <a:bodyPr/>
          <a:lstStyle/>
          <a:p>
            <a:pPr eaLnBrk="1" hangingPunct="1"/>
            <a:r>
              <a:rPr lang="en-US" altLang="zh-CN"/>
              <a:t>problem size</a:t>
            </a:r>
            <a:r>
              <a:rPr lang="zh-CN" altLang="en-US"/>
              <a:t>，需精确定义</a:t>
            </a:r>
          </a:p>
          <a:p>
            <a:pPr eaLnBrk="1" hangingPunct="1"/>
            <a:r>
              <a:rPr lang="zh-CN" altLang="en-US"/>
              <a:t>自然的想法：输入大小的某个参数</a:t>
            </a:r>
            <a:r>
              <a:rPr lang="en-US" altLang="zh-CN"/>
              <a:t>——n×n</a:t>
            </a:r>
            <a:r>
              <a:rPr lang="zh-CN" altLang="en-US"/>
              <a:t>矩阵运算，取</a:t>
            </a:r>
            <a:r>
              <a:rPr lang="en-US" altLang="zh-CN"/>
              <a:t>n</a:t>
            </a:r>
            <a:r>
              <a:rPr lang="zh-CN" altLang="en-US"/>
              <a:t>为问题规模</a:t>
            </a:r>
          </a:p>
          <a:p>
            <a:pPr eaLnBrk="1" hangingPunct="1"/>
            <a:r>
              <a:rPr lang="zh-CN" altLang="en-US"/>
              <a:t>不能正确反映问题规模的变化</a:t>
            </a:r>
            <a:r>
              <a:rPr lang="en-US" altLang="zh-CN"/>
              <a:t>——n</a:t>
            </a:r>
            <a:r>
              <a:rPr lang="zh-CN" altLang="en-US"/>
              <a:t>提高</a:t>
            </a:r>
            <a:r>
              <a:rPr lang="en-US" altLang="zh-CN"/>
              <a:t>2</a:t>
            </a:r>
            <a:r>
              <a:rPr lang="zh-CN" altLang="en-US"/>
              <a:t>倍，乘法运算时间增加</a:t>
            </a:r>
            <a:r>
              <a:rPr lang="en-US" altLang="zh-CN"/>
              <a:t>8</a:t>
            </a:r>
            <a:r>
              <a:rPr lang="zh-CN" altLang="en-US"/>
              <a:t>倍，加法</a:t>
            </a:r>
            <a:r>
              <a:rPr lang="en-US" altLang="zh-CN"/>
              <a:t>4</a:t>
            </a:r>
            <a:r>
              <a:rPr lang="zh-CN" altLang="en-US"/>
              <a:t>倍</a:t>
            </a:r>
          </a:p>
          <a:p>
            <a:pPr eaLnBrk="1" hangingPunct="1"/>
            <a:r>
              <a:rPr lang="zh-CN" altLang="en-US"/>
              <a:t>恰当的定义：问题规模增加与计算量的增加成比例</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a:t>问题规模的精确定义</a:t>
            </a:r>
          </a:p>
        </p:txBody>
      </p:sp>
      <p:sp>
        <p:nvSpPr>
          <p:cNvPr id="80899" name="Rectangle 3"/>
          <p:cNvSpPr>
            <a:spLocks noGrp="1" noChangeArrowheads="1"/>
          </p:cNvSpPr>
          <p:nvPr>
            <p:ph type="body" idx="1"/>
          </p:nvPr>
        </p:nvSpPr>
        <p:spPr>
          <a:xfrm>
            <a:off x="1182688" y="1371600"/>
            <a:ext cx="7772400" cy="5029200"/>
          </a:xfrm>
        </p:spPr>
        <p:txBody>
          <a:bodyPr/>
          <a:lstStyle/>
          <a:p>
            <a:pPr eaLnBrk="1" hangingPunct="1"/>
            <a:r>
              <a:rPr lang="zh-CN" altLang="en-US"/>
              <a:t>求解问题所需基本操作总数</a:t>
            </a:r>
          </a:p>
          <a:p>
            <a:pPr eaLnBrk="1" hangingPunct="1"/>
            <a:r>
              <a:rPr lang="zh-CN" altLang="en-US"/>
              <a:t>矩阵乘法</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a:t>
            </a:r>
            <a:r>
              <a:rPr lang="en-US" altLang="zh-CN" baseline="30000">
                <a:sym typeface="Wingdings" panose="05000000000000000000" pitchFamily="2" charset="2"/>
              </a:rPr>
              <a:t>3</a:t>
            </a:r>
            <a:r>
              <a:rPr lang="en-US" altLang="zh-CN">
                <a:sym typeface="Wingdings" panose="05000000000000000000" pitchFamily="2" charset="2"/>
              </a:rPr>
              <a:t>)</a:t>
            </a:r>
            <a:r>
              <a:rPr lang="zh-CN" altLang="en-US">
                <a:sym typeface="Wingdings" panose="05000000000000000000" pitchFamily="2" charset="2"/>
              </a:rPr>
              <a:t>，加法</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(n</a:t>
            </a:r>
            <a:r>
              <a:rPr lang="en-US" altLang="zh-CN" baseline="30000">
                <a:sym typeface="Wingdings" panose="05000000000000000000" pitchFamily="2" charset="2"/>
              </a:rPr>
              <a:t>2</a:t>
            </a:r>
            <a:r>
              <a:rPr lang="en-US" altLang="zh-CN">
                <a:sym typeface="Wingdings" panose="05000000000000000000" pitchFamily="2" charset="2"/>
              </a:rPr>
              <a:t>)</a:t>
            </a:r>
          </a:p>
          <a:p>
            <a:pPr eaLnBrk="1" hangingPunct="1"/>
            <a:r>
              <a:rPr lang="en-US" altLang="zh-CN">
                <a:sym typeface="Wingdings" panose="05000000000000000000" pitchFamily="2" charset="2"/>
              </a:rPr>
              <a:t>[</a:t>
            </a:r>
            <a:r>
              <a:rPr lang="zh-CN" altLang="en-US">
                <a:sym typeface="Wingdings" panose="05000000000000000000" pitchFamily="2" charset="2"/>
              </a:rPr>
              <a:t>定义</a:t>
            </a:r>
            <a:r>
              <a:rPr lang="en-US" altLang="zh-CN">
                <a:sym typeface="Wingdings" panose="05000000000000000000" pitchFamily="2" charset="2"/>
              </a:rPr>
              <a:t>]</a:t>
            </a:r>
            <a:r>
              <a:rPr lang="zh-CN" altLang="en-US">
                <a:sym typeface="Wingdings" panose="05000000000000000000" pitchFamily="2" charset="2"/>
              </a:rPr>
              <a:t>问题规模：最佳串行算法在单处理单元求解问题所需基本运算步骤数目</a:t>
            </a:r>
          </a:p>
          <a:p>
            <a:pPr eaLnBrk="1" hangingPunct="1"/>
            <a:r>
              <a:rPr lang="zh-CN" altLang="en-US">
                <a:sym typeface="Wingdings" panose="05000000000000000000" pitchFamily="2" charset="2"/>
              </a:rPr>
              <a:t>符号表示：</a:t>
            </a:r>
            <a:r>
              <a:rPr lang="en-US" altLang="zh-CN">
                <a:sym typeface="Wingdings" panose="05000000000000000000" pitchFamily="2" charset="2"/>
              </a:rPr>
              <a:t>W</a:t>
            </a:r>
          </a:p>
          <a:p>
            <a:pPr eaLnBrk="1" hangingPunct="1"/>
            <a:r>
              <a:rPr lang="zh-CN" altLang="en-US">
                <a:sym typeface="Wingdings" panose="05000000000000000000" pitchFamily="2" charset="2"/>
              </a:rPr>
              <a:t>设定一个基本操作需要一个单位时间</a:t>
            </a:r>
            <a:r>
              <a:rPr lang="en-US" altLang="zh-CN">
                <a:sym typeface="Wingdings" panose="05000000000000000000" pitchFamily="2" charset="2"/>
              </a:rPr>
              <a:t>W=T</a:t>
            </a:r>
            <a:r>
              <a:rPr lang="en-US" altLang="zh-CN" baseline="-25000">
                <a:sym typeface="Wingdings" panose="05000000000000000000" pitchFamily="2" charset="2"/>
              </a:rPr>
              <a:t>S</a:t>
            </a:r>
            <a:br>
              <a:rPr lang="en-US" altLang="zh-CN" baseline="-25000">
                <a:sym typeface="Wingdings" panose="05000000000000000000" pitchFamily="2" charset="2"/>
              </a:rPr>
            </a:br>
            <a:r>
              <a:rPr lang="zh-CN" altLang="en-US">
                <a:sym typeface="Wingdings" panose="05000000000000000000" pitchFamily="2" charset="2"/>
              </a:rPr>
              <a:t>不影响并行算法分析</a:t>
            </a:r>
            <a:r>
              <a:rPr lang="en-US" altLang="zh-CN">
                <a:sym typeface="Wingdings" panose="05000000000000000000" pitchFamily="2" charset="2"/>
              </a:rPr>
              <a:t>——t</a:t>
            </a:r>
            <a:r>
              <a:rPr lang="en-US" altLang="zh-CN" baseline="-25000">
                <a:sym typeface="Wingdings" panose="05000000000000000000" pitchFamily="2" charset="2"/>
              </a:rPr>
              <a:t>s</a:t>
            </a:r>
            <a:r>
              <a:rPr lang="zh-CN" altLang="en-US">
                <a:sym typeface="Wingdings" panose="05000000000000000000" pitchFamily="2" charset="2"/>
              </a:rPr>
              <a:t>、</a:t>
            </a:r>
            <a:r>
              <a:rPr lang="en-US" altLang="zh-CN">
                <a:sym typeface="Wingdings" panose="05000000000000000000" pitchFamily="2" charset="2"/>
              </a:rPr>
              <a:t>t</a:t>
            </a:r>
            <a:r>
              <a:rPr lang="en-US" altLang="zh-CN" baseline="-25000">
                <a:sym typeface="Wingdings" panose="05000000000000000000" pitchFamily="2" charset="2"/>
              </a:rPr>
              <a:t>w</a:t>
            </a:r>
            <a:r>
              <a:rPr lang="zh-CN" altLang="en-US">
                <a:sym typeface="Wingdings" panose="05000000000000000000" pitchFamily="2" charset="2"/>
              </a:rPr>
              <a:t>、</a:t>
            </a:r>
            <a:r>
              <a:rPr lang="en-US" altLang="zh-CN">
                <a:sym typeface="Wingdings" panose="05000000000000000000" pitchFamily="2" charset="2"/>
              </a:rPr>
              <a:t>t</a:t>
            </a:r>
            <a:r>
              <a:rPr lang="en-US" altLang="zh-CN" baseline="-25000">
                <a:sym typeface="Wingdings" panose="05000000000000000000" pitchFamily="2" charset="2"/>
              </a:rPr>
              <a:t>h</a:t>
            </a:r>
            <a:r>
              <a:rPr lang="zh-CN" altLang="en-US">
                <a:sym typeface="Wingdings" panose="05000000000000000000" pitchFamily="2" charset="2"/>
              </a:rPr>
              <a:t>可正规化，表示为单位时间</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a:t>等效率函数</a:t>
            </a:r>
          </a:p>
        </p:txBody>
      </p:sp>
      <p:sp>
        <p:nvSpPr>
          <p:cNvPr id="81923" name="Rectangle 3"/>
          <p:cNvSpPr>
            <a:spLocks noGrp="1" noChangeArrowheads="1"/>
          </p:cNvSpPr>
          <p:nvPr>
            <p:ph type="body" idx="1"/>
          </p:nvPr>
        </p:nvSpPr>
        <p:spPr/>
        <p:txBody>
          <a:bodyPr/>
          <a:lstStyle/>
          <a:p>
            <a:pPr eaLnBrk="1" hangingPunct="1"/>
            <a:r>
              <a:rPr lang="zh-CN" altLang="en-US"/>
              <a:t>并行运行时间可表示为问题规模、开销函数和处理器数目的函数</a:t>
            </a:r>
          </a:p>
        </p:txBody>
      </p:sp>
      <p:graphicFrame>
        <p:nvGraphicFramePr>
          <p:cNvPr id="81924" name="Object 4"/>
          <p:cNvGraphicFramePr>
            <a:graphicFrameLocks noChangeAspect="1"/>
          </p:cNvGraphicFramePr>
          <p:nvPr/>
        </p:nvGraphicFramePr>
        <p:xfrm>
          <a:off x="228600" y="2590800"/>
          <a:ext cx="5410200" cy="3392488"/>
        </p:xfrm>
        <a:graphic>
          <a:graphicData uri="http://schemas.openxmlformats.org/presentationml/2006/ole">
            <mc:AlternateContent xmlns:mc="http://schemas.openxmlformats.org/markup-compatibility/2006">
              <mc:Choice xmlns:v="urn:schemas-microsoft-com:vml" Requires="v">
                <p:oleObj spid="_x0000_s82066" name="Equation" r:id="rId3" imgW="2349500" imgH="1473200" progId="Equation.3">
                  <p:embed/>
                </p:oleObj>
              </mc:Choice>
              <mc:Fallback>
                <p:oleObj name="Equation" r:id="rId3" imgW="2349500" imgH="147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590800"/>
                        <a:ext cx="5410200" cy="339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6"/>
          <p:cNvSpPr txBox="1">
            <a:spLocks noChangeArrowheads="1"/>
          </p:cNvSpPr>
          <p:nvPr/>
        </p:nvSpPr>
        <p:spPr bwMode="ltGray">
          <a:xfrm>
            <a:off x="4191000" y="2743200"/>
            <a:ext cx="47244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3300"/>
              </a:buClr>
              <a:buSzPct val="75000"/>
              <a:buFont typeface="Wingdings" panose="05000000000000000000" pitchFamily="2" charset="2"/>
              <a:buChar char="m"/>
              <a:defRPr kumimoji="1" sz="3200">
                <a:solidFill>
                  <a:schemeClr val="tx1"/>
                </a:solidFill>
                <a:latin typeface="Times New Roman" panose="02020603050405020304" pitchFamily="18" charset="0"/>
                <a:ea typeface="宋体" pitchFamily="2" charset="-122"/>
              </a:defRPr>
            </a:lvl1pPr>
            <a:lvl2pPr marL="742950" indent="-285750">
              <a:spcBef>
                <a:spcPct val="20000"/>
              </a:spcBef>
              <a:buClr>
                <a:schemeClr val="folHlink"/>
              </a:buClr>
              <a:buSzPct val="69000"/>
              <a:buFont typeface="Wingdings" panose="05000000000000000000" pitchFamily="2" charset="2"/>
              <a:buChar char="q"/>
              <a:defRPr kumimoji="1" sz="2800">
                <a:solidFill>
                  <a:srgbClr val="3333CC"/>
                </a:solidFill>
                <a:latin typeface="Times New Roman" panose="02020603050405020304" pitchFamily="18" charset="0"/>
                <a:ea typeface="宋体" pitchFamily="2" charset="-122"/>
              </a:defRPr>
            </a:lvl2pPr>
            <a:lvl3pPr marL="1143000" indent="-228600">
              <a:spcBef>
                <a:spcPct val="20000"/>
              </a:spcBef>
              <a:buClr>
                <a:srgbClr val="FF3300"/>
              </a:buClr>
              <a:buFont typeface="Wingdings" panose="05000000000000000000" pitchFamily="2" charset="2"/>
              <a:buChar char="Ø"/>
              <a:defRPr kumimoji="1" sz="2400">
                <a:solidFill>
                  <a:srgbClr val="FF3300"/>
                </a:solidFill>
                <a:latin typeface="Times New Roman" panose="02020603050405020304" pitchFamily="18" charset="0"/>
                <a:ea typeface="宋体"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4pPr>
            <a:lvl5pPr marL="2057400" indent="-228600">
              <a:spcBef>
                <a:spcPct val="20000"/>
              </a:spcBef>
              <a:buClr>
                <a:schemeClr val="tx1"/>
              </a:buClr>
              <a:buChar char="»"/>
              <a:defRPr kumimoji="1"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lr>
                <a:schemeClr val="tx1"/>
              </a:buClr>
              <a:buChar char="»"/>
              <a:defRPr kumimoji="1" sz="2000">
                <a:solidFill>
                  <a:schemeClr val="tx1"/>
                </a:solidFill>
                <a:latin typeface="Times New Roman" panose="02020603050405020304" pitchFamily="18" charset="0"/>
                <a:ea typeface="宋体" pitchFamily="2" charset="-122"/>
              </a:defRPr>
            </a:lvl9pPr>
          </a:lstStyle>
          <a:p>
            <a:pPr eaLnBrk="1" hangingPunct="1">
              <a:spcBef>
                <a:spcPct val="50000"/>
              </a:spcBef>
              <a:buClrTx/>
              <a:buSzTx/>
              <a:buFontTx/>
              <a:buNone/>
            </a:pPr>
            <a:r>
              <a:rPr lang="en-US" altLang="zh-CN" sz="2400">
                <a:solidFill>
                  <a:schemeClr val="hlink"/>
                </a:solidFill>
              </a:rPr>
              <a:t>W</a:t>
            </a:r>
            <a:r>
              <a:rPr lang="zh-CN" altLang="en-US" sz="2400">
                <a:solidFill>
                  <a:schemeClr val="hlink"/>
                </a:solidFill>
              </a:rPr>
              <a:t>不变，</a:t>
            </a:r>
            <a:r>
              <a:rPr lang="en-US" altLang="zh-CN" sz="2400">
                <a:solidFill>
                  <a:schemeClr val="hlink"/>
                </a:solidFill>
              </a:rPr>
              <a:t>p↑</a:t>
            </a:r>
            <a:r>
              <a:rPr lang="en-US" altLang="zh-CN" sz="2400">
                <a:solidFill>
                  <a:schemeClr val="hlink"/>
                </a:solidFill>
                <a:sym typeface="Wingdings" panose="05000000000000000000" pitchFamily="2" charset="2"/>
              </a:rPr>
              <a:t>T</a:t>
            </a:r>
            <a:r>
              <a:rPr lang="en-US" altLang="zh-CN" sz="2400" baseline="-25000">
                <a:solidFill>
                  <a:schemeClr val="hlink"/>
                </a:solidFill>
                <a:sym typeface="Wingdings" panose="05000000000000000000" pitchFamily="2" charset="2"/>
              </a:rPr>
              <a:t>o</a:t>
            </a:r>
            <a:r>
              <a:rPr lang="en-US" altLang="zh-CN" sz="2400">
                <a:solidFill>
                  <a:schemeClr val="hlink"/>
                </a:solidFill>
                <a:sym typeface="Wingdings" panose="05000000000000000000" pitchFamily="2" charset="2"/>
              </a:rPr>
              <a:t>↑E↓</a:t>
            </a:r>
          </a:p>
          <a:p>
            <a:pPr eaLnBrk="1" hangingPunct="1">
              <a:spcBef>
                <a:spcPct val="50000"/>
              </a:spcBef>
              <a:buClrTx/>
              <a:buSzTx/>
              <a:buFontTx/>
              <a:buNone/>
            </a:pPr>
            <a:r>
              <a:rPr lang="en-US" altLang="zh-CN" sz="2400">
                <a:solidFill>
                  <a:schemeClr val="hlink"/>
                </a:solidFill>
                <a:sym typeface="Wingdings" panose="05000000000000000000" pitchFamily="2" charset="2"/>
              </a:rPr>
              <a:t>p</a:t>
            </a:r>
            <a:r>
              <a:rPr lang="zh-CN" altLang="en-US" sz="2400">
                <a:solidFill>
                  <a:schemeClr val="hlink"/>
                </a:solidFill>
                <a:sym typeface="Wingdings" panose="05000000000000000000" pitchFamily="2" charset="2"/>
              </a:rPr>
              <a:t>不变，</a:t>
            </a:r>
            <a:r>
              <a:rPr lang="en-US" altLang="zh-CN" sz="2400">
                <a:solidFill>
                  <a:schemeClr val="hlink"/>
                </a:solidFill>
                <a:sym typeface="Wingdings" panose="05000000000000000000" pitchFamily="2" charset="2"/>
              </a:rPr>
              <a:t>W</a:t>
            </a:r>
            <a:r>
              <a:rPr lang="en-US" altLang="zh-CN" sz="2400">
                <a:solidFill>
                  <a:schemeClr val="hlink"/>
                </a:solidFill>
              </a:rPr>
              <a:t>↑</a:t>
            </a:r>
            <a:r>
              <a:rPr lang="en-US" altLang="zh-CN" sz="2400">
                <a:solidFill>
                  <a:schemeClr val="hlink"/>
                </a:solidFill>
                <a:sym typeface="Wingdings" panose="05000000000000000000" pitchFamily="2" charset="2"/>
              </a:rPr>
              <a:t>T</a:t>
            </a:r>
            <a:r>
              <a:rPr lang="en-US" altLang="zh-CN" sz="2400" baseline="-25000">
                <a:solidFill>
                  <a:schemeClr val="hlink"/>
                </a:solidFill>
                <a:sym typeface="Wingdings" panose="05000000000000000000" pitchFamily="2" charset="2"/>
              </a:rPr>
              <a:t>o</a:t>
            </a:r>
            <a:r>
              <a:rPr lang="zh-CN" altLang="en-US" sz="2400">
                <a:solidFill>
                  <a:schemeClr val="hlink"/>
                </a:solidFill>
                <a:sym typeface="Wingdings" panose="05000000000000000000" pitchFamily="2" charset="2"/>
              </a:rPr>
              <a:t>增长比</a:t>
            </a:r>
            <a:r>
              <a:rPr lang="en-US" altLang="zh-CN" sz="2400">
                <a:solidFill>
                  <a:schemeClr val="hlink"/>
                </a:solidFill>
                <a:sym typeface="Wingdings" panose="05000000000000000000" pitchFamily="2" charset="2"/>
              </a:rPr>
              <a:t>W</a:t>
            </a:r>
            <a:r>
              <a:rPr lang="zh-CN" altLang="en-US" sz="2400">
                <a:solidFill>
                  <a:schemeClr val="hlink"/>
                </a:solidFill>
                <a:sym typeface="Wingdings" panose="05000000000000000000" pitchFamily="2" charset="2"/>
              </a:rPr>
              <a:t>慢</a:t>
            </a:r>
            <a:r>
              <a:rPr lang="en-US" altLang="zh-CN" sz="2400">
                <a:solidFill>
                  <a:schemeClr val="hlink"/>
                </a:solidFill>
                <a:sym typeface="Wingdings" panose="05000000000000000000" pitchFamily="2" charset="2"/>
              </a:rPr>
              <a:t>E</a:t>
            </a:r>
            <a:r>
              <a:rPr lang="en-US" altLang="zh-CN" sz="2400">
                <a:solidFill>
                  <a:schemeClr val="hlink"/>
                </a:solidFill>
              </a:rPr>
              <a:t>↑</a:t>
            </a:r>
          </a:p>
          <a:p>
            <a:pPr eaLnBrk="1" hangingPunct="1">
              <a:spcBef>
                <a:spcPct val="50000"/>
              </a:spcBef>
              <a:buClrTx/>
              <a:buSzTx/>
              <a:buFontTx/>
              <a:buNone/>
            </a:pPr>
            <a:r>
              <a:rPr lang="zh-CN" altLang="en-US" sz="2400">
                <a:solidFill>
                  <a:schemeClr val="hlink"/>
                </a:solidFill>
              </a:rPr>
              <a:t>可以令</a:t>
            </a:r>
            <a:r>
              <a:rPr lang="en-US" altLang="zh-CN" sz="2400">
                <a:solidFill>
                  <a:schemeClr val="hlink"/>
                </a:solidFill>
              </a:rPr>
              <a:t>W↑ </a:t>
            </a:r>
            <a:r>
              <a:rPr lang="zh-CN" altLang="en-US" sz="2400">
                <a:solidFill>
                  <a:schemeClr val="hlink"/>
                </a:solidFill>
              </a:rPr>
              <a:t>，</a:t>
            </a:r>
            <a:r>
              <a:rPr lang="en-US" altLang="zh-CN" sz="2400">
                <a:solidFill>
                  <a:schemeClr val="hlink"/>
                </a:solidFill>
              </a:rPr>
              <a:t>p↑</a:t>
            </a:r>
            <a:r>
              <a:rPr lang="en-US" altLang="zh-CN" sz="2400">
                <a:solidFill>
                  <a:schemeClr val="hlink"/>
                </a:solidFill>
                <a:sym typeface="Wingdings" panose="05000000000000000000" pitchFamily="2" charset="2"/>
              </a:rPr>
              <a:t></a:t>
            </a:r>
            <a:r>
              <a:rPr lang="zh-CN" altLang="en-US" sz="2400">
                <a:solidFill>
                  <a:schemeClr val="hlink"/>
                </a:solidFill>
                <a:sym typeface="Wingdings" panose="05000000000000000000" pitchFamily="2" charset="2"/>
              </a:rPr>
              <a:t>保持</a:t>
            </a:r>
            <a:r>
              <a:rPr lang="en-US" altLang="zh-CN" sz="2400">
                <a:solidFill>
                  <a:schemeClr val="hlink"/>
                </a:solidFill>
                <a:sym typeface="Wingdings" panose="05000000000000000000" pitchFamily="2" charset="2"/>
              </a:rPr>
              <a:t>E</a:t>
            </a:r>
            <a:r>
              <a:rPr lang="zh-CN" altLang="en-US" sz="2400">
                <a:solidFill>
                  <a:schemeClr val="hlink"/>
                </a:solidFill>
                <a:sym typeface="Wingdings" panose="05000000000000000000" pitchFamily="2" charset="2"/>
              </a:rPr>
              <a:t>不变</a:t>
            </a:r>
            <a:endParaRPr lang="zh-CN" altLang="en-US" sz="2400">
              <a:solidFill>
                <a:schemeClr val="hlink"/>
              </a:solidFill>
            </a:endParaRPr>
          </a:p>
        </p:txBody>
      </p:sp>
      <p:sp>
        <p:nvSpPr>
          <p:cNvPr id="81926" name="Line 7"/>
          <p:cNvSpPr>
            <a:spLocks noChangeShapeType="1"/>
          </p:cNvSpPr>
          <p:nvPr/>
        </p:nvSpPr>
        <p:spPr bwMode="ltGray">
          <a:xfrm flipH="1">
            <a:off x="4038600" y="4191000"/>
            <a:ext cx="1524000" cy="6858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t>等效率函数</a:t>
            </a:r>
          </a:p>
        </p:txBody>
      </p:sp>
      <p:sp>
        <p:nvSpPr>
          <p:cNvPr id="82947" name="Rectangle 3"/>
          <p:cNvSpPr>
            <a:spLocks noGrp="1" noChangeArrowheads="1"/>
          </p:cNvSpPr>
          <p:nvPr>
            <p:ph type="body" idx="1"/>
          </p:nvPr>
        </p:nvSpPr>
        <p:spPr>
          <a:xfrm>
            <a:off x="1182688" y="2743200"/>
            <a:ext cx="7772400" cy="3810000"/>
          </a:xfrm>
        </p:spPr>
        <p:txBody>
          <a:bodyPr/>
          <a:lstStyle/>
          <a:p>
            <a:pPr eaLnBrk="1" hangingPunct="1"/>
            <a:r>
              <a:rPr lang="zh-CN" altLang="en-US" sz="2800" dirty="0"/>
              <a:t>保持</a:t>
            </a:r>
            <a:r>
              <a:rPr lang="en-US" altLang="zh-CN" sz="2800" dirty="0"/>
              <a:t>E</a:t>
            </a:r>
            <a:r>
              <a:rPr lang="zh-CN" altLang="en-US" sz="2800" dirty="0"/>
              <a:t>不变，</a:t>
            </a:r>
            <a:r>
              <a:rPr lang="en-US" altLang="zh-CN" sz="2800" dirty="0"/>
              <a:t>K=E/(1-E)</a:t>
            </a:r>
            <a:r>
              <a:rPr lang="zh-CN" altLang="en-US" sz="2800" dirty="0"/>
              <a:t>也是常数，要求</a:t>
            </a:r>
            <a:r>
              <a:rPr lang="en-US" altLang="zh-CN" sz="2800" dirty="0"/>
              <a:t>T</a:t>
            </a:r>
            <a:r>
              <a:rPr lang="en-US" altLang="zh-CN" sz="2800" baseline="-25000" dirty="0"/>
              <a:t>o</a:t>
            </a:r>
            <a:r>
              <a:rPr lang="en-US" altLang="zh-CN" sz="2800" dirty="0"/>
              <a:t>/W</a:t>
            </a:r>
            <a:r>
              <a:rPr lang="zh-CN" altLang="en-US" sz="2800" dirty="0"/>
              <a:t>为常数</a:t>
            </a:r>
            <a:r>
              <a:rPr lang="zh-CN" altLang="en-US" sz="2800" dirty="0">
                <a:sym typeface="Wingdings" panose="05000000000000000000" pitchFamily="2" charset="2"/>
              </a:rPr>
              <a:t></a:t>
            </a:r>
            <a:r>
              <a:rPr lang="en-US" altLang="zh-CN" sz="2800" dirty="0">
                <a:sym typeface="Wingdings" panose="05000000000000000000" pitchFamily="2" charset="2"/>
              </a:rPr>
              <a:t>W=</a:t>
            </a:r>
            <a:r>
              <a:rPr lang="en-US" altLang="zh-CN" sz="2800" dirty="0" err="1">
                <a:sym typeface="Wingdings" panose="05000000000000000000" pitchFamily="2" charset="2"/>
              </a:rPr>
              <a:t>KT</a:t>
            </a:r>
            <a:r>
              <a:rPr lang="en-US" altLang="zh-CN" sz="2800" baseline="-25000" dirty="0" err="1">
                <a:sym typeface="Wingdings" panose="05000000000000000000" pitchFamily="2" charset="2"/>
              </a:rPr>
              <a:t>o</a:t>
            </a:r>
            <a:r>
              <a:rPr lang="en-US" altLang="zh-CN" sz="2800" dirty="0">
                <a:sym typeface="Wingdings" panose="05000000000000000000" pitchFamily="2" charset="2"/>
              </a:rPr>
              <a:t>(W, p)</a:t>
            </a:r>
            <a:br>
              <a:rPr lang="en-US" altLang="zh-CN" sz="2800" dirty="0">
                <a:sym typeface="Wingdings" panose="05000000000000000000" pitchFamily="2" charset="2"/>
              </a:rPr>
            </a:br>
            <a:r>
              <a:rPr lang="zh-CN" altLang="en-US" sz="2800" dirty="0">
                <a:sym typeface="Wingdings" panose="05000000000000000000" pitchFamily="2" charset="2"/>
              </a:rPr>
              <a:t>等效率函数，</a:t>
            </a:r>
            <a:r>
              <a:rPr lang="en-US" altLang="zh-CN" sz="2800" dirty="0" err="1">
                <a:solidFill>
                  <a:schemeClr val="hlink"/>
                </a:solidFill>
                <a:sym typeface="Wingdings" panose="05000000000000000000" pitchFamily="2" charset="2"/>
              </a:rPr>
              <a:t>isoefficiency</a:t>
            </a:r>
            <a:r>
              <a:rPr lang="en-US" altLang="zh-CN" sz="2800" dirty="0">
                <a:solidFill>
                  <a:schemeClr val="hlink"/>
                </a:solidFill>
                <a:sym typeface="Wingdings" panose="05000000000000000000" pitchFamily="2" charset="2"/>
              </a:rPr>
              <a:t> function</a:t>
            </a:r>
          </a:p>
          <a:p>
            <a:pPr lvl="1" eaLnBrk="1" hangingPunct="1"/>
            <a:r>
              <a:rPr lang="zh-CN" altLang="en-US" sz="2400" dirty="0"/>
              <a:t>较小</a:t>
            </a:r>
            <a:r>
              <a:rPr lang="en-US" altLang="zh-CN" sz="2400" dirty="0"/>
              <a:t>——</a:t>
            </a:r>
            <a:r>
              <a:rPr lang="zh-CN" altLang="en-US" sz="2400" dirty="0"/>
              <a:t>较小的问题规模即可充分利用较多的处理器的计算能力，高可扩展性</a:t>
            </a:r>
          </a:p>
          <a:p>
            <a:pPr lvl="1" eaLnBrk="1" hangingPunct="1"/>
            <a:r>
              <a:rPr lang="zh-CN" altLang="en-US" sz="2400" dirty="0"/>
              <a:t>较大</a:t>
            </a:r>
            <a:r>
              <a:rPr lang="en-US" altLang="zh-CN" sz="2400" dirty="0"/>
              <a:t>——</a:t>
            </a:r>
            <a:r>
              <a:rPr lang="zh-CN" altLang="en-US" sz="2400" dirty="0"/>
              <a:t>低可扩展性</a:t>
            </a:r>
          </a:p>
          <a:p>
            <a:pPr lvl="1" eaLnBrk="1" hangingPunct="1"/>
            <a:r>
              <a:rPr lang="zh-CN" altLang="en-US" sz="2400" dirty="0"/>
              <a:t>不存在</a:t>
            </a:r>
            <a:r>
              <a:rPr lang="en-US" altLang="zh-CN" sz="2400" dirty="0"/>
              <a:t>——</a:t>
            </a:r>
            <a:r>
              <a:rPr lang="zh-CN" altLang="en-US" sz="2400" dirty="0"/>
              <a:t>不可扩展，随着</a:t>
            </a:r>
            <a:r>
              <a:rPr lang="en-US" altLang="zh-CN" sz="2400" dirty="0"/>
              <a:t>p</a:t>
            </a:r>
            <a:r>
              <a:rPr lang="zh-CN" altLang="en-US" sz="2400" dirty="0"/>
              <a:t>增大，无论</a:t>
            </a:r>
            <a:r>
              <a:rPr lang="en-US" altLang="zh-CN" sz="2400" dirty="0"/>
              <a:t>W</a:t>
            </a:r>
            <a:r>
              <a:rPr lang="zh-CN" altLang="en-US" sz="2400" dirty="0"/>
              <a:t>如何变大，也不可能使</a:t>
            </a:r>
            <a:r>
              <a:rPr lang="en-US" altLang="zh-CN" sz="2400" dirty="0"/>
              <a:t>E</a:t>
            </a:r>
            <a:r>
              <a:rPr lang="zh-CN" altLang="en-US" sz="2400" dirty="0"/>
              <a:t>保持不变</a:t>
            </a:r>
          </a:p>
        </p:txBody>
      </p:sp>
      <p:graphicFrame>
        <p:nvGraphicFramePr>
          <p:cNvPr id="82948" name="Object 4"/>
          <p:cNvGraphicFramePr>
            <a:graphicFrameLocks noChangeAspect="1"/>
          </p:cNvGraphicFramePr>
          <p:nvPr/>
        </p:nvGraphicFramePr>
        <p:xfrm>
          <a:off x="603250" y="1473200"/>
          <a:ext cx="8540750" cy="1346200"/>
        </p:xfrm>
        <a:graphic>
          <a:graphicData uri="http://schemas.openxmlformats.org/presentationml/2006/ole">
            <mc:AlternateContent xmlns:mc="http://schemas.openxmlformats.org/markup-compatibility/2006">
              <mc:Choice xmlns:v="urn:schemas-microsoft-com:vml" Requires="v">
                <p:oleObj spid="_x0000_s83088" name="Equation" r:id="rId3" imgW="3708400" imgH="584200" progId="Equation.3">
                  <p:embed/>
                </p:oleObj>
              </mc:Choice>
              <mc:Fallback>
                <p:oleObj name="Equation" r:id="rId3" imgW="3708400" imgH="584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0" y="1473200"/>
                        <a:ext cx="8540750" cy="134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a:t>例</a:t>
            </a:r>
            <a:r>
              <a:rPr lang="en-US" altLang="zh-CN"/>
              <a:t>5.14</a:t>
            </a:r>
          </a:p>
        </p:txBody>
      </p:sp>
      <p:sp>
        <p:nvSpPr>
          <p:cNvPr id="83971" name="Rectangle 3"/>
          <p:cNvSpPr>
            <a:spLocks noGrp="1" noChangeArrowheads="1"/>
          </p:cNvSpPr>
          <p:nvPr>
            <p:ph type="body" idx="1"/>
          </p:nvPr>
        </p:nvSpPr>
        <p:spPr/>
        <p:txBody>
          <a:bodyPr/>
          <a:lstStyle/>
          <a:p>
            <a:pPr eaLnBrk="1" hangingPunct="1"/>
            <a:r>
              <a:rPr lang="en-US" altLang="zh-CN"/>
              <a:t>T</a:t>
            </a:r>
            <a:r>
              <a:rPr lang="en-US" altLang="zh-CN" baseline="-25000"/>
              <a:t>S</a:t>
            </a:r>
            <a:r>
              <a:rPr lang="en-US" altLang="zh-CN"/>
              <a:t>=n</a:t>
            </a:r>
            <a:r>
              <a:rPr lang="zh-CN" altLang="en-US"/>
              <a:t>，</a:t>
            </a:r>
            <a:r>
              <a:rPr lang="en-US" altLang="zh-CN"/>
              <a:t>cost=n+2plogp</a:t>
            </a:r>
            <a:r>
              <a:rPr lang="en-US" altLang="zh-CN">
                <a:sym typeface="Wingdings" panose="05000000000000000000" pitchFamily="2" charset="2"/>
              </a:rPr>
              <a:t>T</a:t>
            </a:r>
            <a:r>
              <a:rPr lang="en-US" altLang="zh-CN" baseline="-25000">
                <a:sym typeface="Wingdings" panose="05000000000000000000" pitchFamily="2" charset="2"/>
              </a:rPr>
              <a:t>o</a:t>
            </a:r>
            <a:r>
              <a:rPr lang="en-US" altLang="zh-CN">
                <a:sym typeface="Wingdings" panose="05000000000000000000" pitchFamily="2" charset="2"/>
              </a:rPr>
              <a:t>=2plogp</a:t>
            </a:r>
          </a:p>
          <a:p>
            <a:pPr eaLnBrk="1" hangingPunct="1"/>
            <a:r>
              <a:rPr lang="zh-CN" altLang="en-US">
                <a:sym typeface="Wingdings" panose="05000000000000000000" pitchFamily="2" charset="2"/>
              </a:rPr>
              <a:t>等效率函数：</a:t>
            </a:r>
            <a:r>
              <a:rPr lang="en-US" altLang="zh-CN">
                <a:sym typeface="Wingdings" panose="05000000000000000000" pitchFamily="2" charset="2"/>
              </a:rPr>
              <a:t>W=K2plogp</a:t>
            </a:r>
          </a:p>
          <a:p>
            <a:pPr eaLnBrk="1" hangingPunct="1"/>
            <a:r>
              <a:rPr lang="zh-CN" altLang="en-US">
                <a:sym typeface="Wingdings" panose="05000000000000000000" pitchFamily="2" charset="2"/>
              </a:rPr>
              <a:t>渐进等效率函数</a:t>
            </a:r>
            <a:r>
              <a:rPr lang="en-US" altLang="zh-CN">
                <a:latin typeface="Symbol" panose="05050102010706020507" pitchFamily="18" charset="2"/>
                <a:sym typeface="Wingdings" panose="05000000000000000000" pitchFamily="2" charset="2"/>
              </a:rPr>
              <a:t>Q</a:t>
            </a:r>
            <a:r>
              <a:rPr lang="en-US" altLang="zh-CN">
                <a:sym typeface="Wingdings" panose="05000000000000000000" pitchFamily="2" charset="2"/>
              </a:rPr>
              <a:t>(plogp)</a:t>
            </a:r>
          </a:p>
          <a:p>
            <a:pPr eaLnBrk="1" hangingPunct="1"/>
            <a:r>
              <a:rPr lang="zh-CN" altLang="en-US">
                <a:sym typeface="Wingdings" panose="05000000000000000000" pitchFamily="2" charset="2"/>
              </a:rPr>
              <a:t>即：为保持</a:t>
            </a:r>
            <a:r>
              <a:rPr lang="en-US" altLang="zh-CN">
                <a:sym typeface="Wingdings" panose="05000000000000000000" pitchFamily="2" charset="2"/>
              </a:rPr>
              <a:t>E</a:t>
            </a:r>
            <a:r>
              <a:rPr lang="zh-CN" altLang="en-US">
                <a:sym typeface="Wingdings" panose="05000000000000000000" pitchFamily="2" charset="2"/>
              </a:rPr>
              <a:t>不变，当处理器数目</a:t>
            </a:r>
            <a:r>
              <a:rPr lang="en-US" altLang="zh-CN">
                <a:sym typeface="Wingdings" panose="05000000000000000000" pitchFamily="2" charset="2"/>
              </a:rPr>
              <a:t>p</a:t>
            </a:r>
            <a:r>
              <a:rPr lang="zh-CN" altLang="en-US">
                <a:sym typeface="Wingdings" panose="05000000000000000000" pitchFamily="2" charset="2"/>
              </a:rPr>
              <a:t>增大为</a:t>
            </a:r>
            <a:r>
              <a:rPr lang="en-US" altLang="zh-CN">
                <a:sym typeface="Wingdings" panose="05000000000000000000" pitchFamily="2" charset="2"/>
              </a:rPr>
              <a:t>p’——</a:t>
            </a:r>
            <a:r>
              <a:rPr lang="zh-CN" altLang="en-US">
                <a:sym typeface="Wingdings" panose="05000000000000000000" pitchFamily="2" charset="2"/>
              </a:rPr>
              <a:t>变化率为</a:t>
            </a:r>
            <a:r>
              <a:rPr lang="en-US" altLang="zh-CN">
                <a:sym typeface="Wingdings" panose="05000000000000000000" pitchFamily="2" charset="2"/>
              </a:rPr>
              <a:t>p’/p</a:t>
            </a:r>
            <a:r>
              <a:rPr lang="zh-CN" altLang="en-US">
                <a:sym typeface="Wingdings" panose="05000000000000000000" pitchFamily="2" charset="2"/>
              </a:rPr>
              <a:t>，需要</a:t>
            </a:r>
            <a:r>
              <a:rPr lang="en-US" altLang="zh-CN">
                <a:sym typeface="Wingdings" panose="05000000000000000000" pitchFamily="2" charset="2"/>
              </a:rPr>
              <a:t>W</a:t>
            </a:r>
            <a:r>
              <a:rPr lang="zh-CN" altLang="en-US">
                <a:sym typeface="Wingdings" panose="05000000000000000000" pitchFamily="2" charset="2"/>
              </a:rPr>
              <a:t>增大的比率为</a:t>
            </a:r>
            <a:r>
              <a:rPr lang="en-US" altLang="zh-CN">
                <a:sym typeface="Wingdings" panose="05000000000000000000" pitchFamily="2" charset="2"/>
              </a:rPr>
              <a:t>p’logp’/plogp</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提纲</a:t>
            </a:r>
          </a:p>
        </p:txBody>
      </p:sp>
      <p:sp>
        <p:nvSpPr>
          <p:cNvPr id="56323"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eaLnBrk="1" hangingPunct="1"/>
            <a:r>
              <a:rPr lang="zh-CN" altLang="en-US" dirty="0"/>
              <a:t>并行算法分析</a:t>
            </a:r>
            <a:endParaRPr lang="en-US" altLang="zh-CN" dirty="0"/>
          </a:p>
          <a:p>
            <a:pPr eaLnBrk="1" hangingPunct="1"/>
            <a:r>
              <a:rPr lang="zh-CN" altLang="en-US" dirty="0">
                <a:solidFill>
                  <a:srgbClr val="FF0000"/>
                </a:solidFill>
              </a:rPr>
              <a:t>并行算法实现</a:t>
            </a:r>
            <a:r>
              <a:rPr lang="en-US" altLang="zh-CN" dirty="0">
                <a:solidFill>
                  <a:srgbClr val="FF0000"/>
                </a:solidFill>
              </a:rPr>
              <a:t>——</a:t>
            </a:r>
            <a:r>
              <a:rPr lang="en-US" altLang="zh-CN" dirty="0">
                <a:solidFill>
                  <a:srgbClr val="FF0000"/>
                </a:solidFill>
                <a:sym typeface="+mn-ea"/>
              </a:rPr>
              <a:t>SYCL/</a:t>
            </a:r>
            <a:r>
              <a:rPr lang="en-US" altLang="zh-CN" dirty="0">
                <a:solidFill>
                  <a:srgbClr val="FF0000"/>
                </a:solidFill>
              </a:rPr>
              <a:t>DPC++</a:t>
            </a:r>
            <a:r>
              <a:rPr lang="zh-CN" altLang="en-US" dirty="0">
                <a:solidFill>
                  <a:srgbClr val="FF0000"/>
                </a:solidFill>
              </a:rPr>
              <a:t>编程</a:t>
            </a:r>
          </a:p>
          <a:p>
            <a:pPr lvl="1" eaLnBrk="1" hangingPunct="1"/>
            <a:r>
              <a:rPr lang="en-US" altLang="zh-CN" dirty="0">
                <a:sym typeface="+mn-ea"/>
              </a:rPr>
              <a:t>SYCL/DPC++</a:t>
            </a:r>
            <a:r>
              <a:rPr lang="zh-CN" altLang="en-US" dirty="0">
                <a:sym typeface="+mn-ea"/>
              </a:rPr>
              <a:t>编程</a:t>
            </a:r>
          </a:p>
          <a:p>
            <a:pPr lvl="1" eaLnBrk="1" hangingPunct="1"/>
            <a:r>
              <a:rPr lang="en-US" altLang="zh-CN" dirty="0">
                <a:sym typeface="+mn-ea"/>
              </a:rPr>
              <a:t>DPC++</a:t>
            </a:r>
            <a:r>
              <a:rPr lang="zh-CN" altLang="en-US" dirty="0">
                <a:sym typeface="+mn-ea"/>
              </a:rPr>
              <a:t>新特性</a:t>
            </a:r>
          </a:p>
        </p:txBody>
      </p:sp>
      <p:sp>
        <p:nvSpPr>
          <p:cNvPr id="4" name="Rectangle 9">
            <a:extLst>
              <a:ext uri="{FF2B5EF4-FFF2-40B4-BE49-F238E27FC236}">
                <a16:creationId xmlns:a16="http://schemas.microsoft.com/office/drawing/2014/main" id="{F420F056-74DD-43A8-AE60-60ED5247CBF6}"/>
              </a:ext>
            </a:extLst>
          </p:cNvPr>
          <p:cNvSpPr>
            <a:spLocks noChangeArrowheads="1"/>
          </p:cNvSpPr>
          <p:nvPr/>
        </p:nvSpPr>
        <p:spPr bwMode="auto">
          <a:xfrm>
            <a:off x="533400" y="6189663"/>
            <a:ext cx="8229600" cy="400050"/>
          </a:xfrm>
          <a:prstGeom prst="rect">
            <a:avLst/>
          </a:prstGeom>
          <a:noFill/>
          <a:ln w="9525">
            <a:noFill/>
            <a:miter lim="800000"/>
          </a:ln>
        </p:spPr>
        <p:txBody>
          <a:bodyPr>
            <a:spAutoFit/>
          </a:bodyPr>
          <a:lstStyle/>
          <a:p>
            <a:pPr algn="ctr" eaLnBrk="1" fontAlgn="auto" hangingPunct="1">
              <a:spcBef>
                <a:spcPts val="0"/>
              </a:spcBef>
              <a:spcAft>
                <a:spcPts val="0"/>
              </a:spcAft>
              <a:defRPr/>
            </a:pPr>
            <a:r>
              <a:rPr kumimoji="0" lang="zh-CN" altLang="en-US" sz="2000" kern="0" dirty="0">
                <a:solidFill>
                  <a:srgbClr val="000090"/>
                </a:solidFill>
              </a:rPr>
              <a:t>取材于</a:t>
            </a:r>
            <a:r>
              <a:rPr kumimoji="0" lang="en-US" altLang="zh-CN" sz="2000" kern="0" dirty="0">
                <a:solidFill>
                  <a:srgbClr val="000090"/>
                </a:solidFill>
              </a:rPr>
              <a:t>Intel</a:t>
            </a:r>
            <a:r>
              <a:rPr kumimoji="0" lang="zh-CN" altLang="en-US" sz="2000" kern="0" dirty="0">
                <a:solidFill>
                  <a:srgbClr val="000090"/>
                </a:solidFill>
              </a:rPr>
              <a:t>的“</a:t>
            </a:r>
            <a:r>
              <a:rPr kumimoji="0" lang="en-US" altLang="zh-CN" sz="2000" kern="0" dirty="0">
                <a:solidFill>
                  <a:srgbClr val="000090"/>
                </a:solidFill>
              </a:rPr>
              <a:t>Data Parallel C++ Essentials</a:t>
            </a:r>
            <a:r>
              <a:rPr kumimoji="0" lang="zh-CN" altLang="en-US" sz="2000" kern="0" dirty="0">
                <a:solidFill>
                  <a:srgbClr val="000090"/>
                </a:solidFill>
              </a:rPr>
              <a:t>”系列演示文稿</a:t>
            </a:r>
            <a:endParaRPr kumimoji="0" lang="en-US" altLang="zh-CN" sz="2000" kern="0" dirty="0">
              <a:solidFill>
                <a:srgbClr val="000090"/>
              </a:solidFill>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t>提纲</a:t>
            </a:r>
          </a:p>
        </p:txBody>
      </p:sp>
      <p:sp>
        <p:nvSpPr>
          <p:cNvPr id="56323" name="Rectangle 3"/>
          <p:cNvSpPr>
            <a:spLocks noGrp="1" noChangeArrowheads="1"/>
          </p:cNvSpPr>
          <p:nvPr>
            <p:ph type="body" idx="1"/>
          </p:nvPr>
        </p:nvSpPr>
        <p:spPr/>
        <p:txBody>
          <a:bodyPr/>
          <a:lstStyle/>
          <a:p>
            <a:pPr eaLnBrk="1" hangingPunct="1"/>
            <a:r>
              <a:rPr lang="zh-CN" altLang="en-US" dirty="0"/>
              <a:t>并行算法设计</a:t>
            </a:r>
            <a:endParaRPr lang="en-US" altLang="zh-CN" dirty="0"/>
          </a:p>
          <a:p>
            <a:pPr eaLnBrk="1" hangingPunct="1"/>
            <a:r>
              <a:rPr lang="zh-CN" altLang="en-US" dirty="0"/>
              <a:t>并行算法分析</a:t>
            </a:r>
            <a:endParaRPr lang="en-US" altLang="zh-CN" dirty="0"/>
          </a:p>
          <a:p>
            <a:pPr eaLnBrk="1" hangingPunct="1"/>
            <a:r>
              <a:rPr lang="zh-CN" altLang="en-US" dirty="0"/>
              <a:t>并行算法实现</a:t>
            </a:r>
            <a:r>
              <a:rPr lang="en-US" altLang="zh-CN" dirty="0"/>
              <a:t>——</a:t>
            </a:r>
            <a:r>
              <a:rPr lang="en-US" altLang="zh-CN" dirty="0">
                <a:sym typeface="+mn-ea"/>
              </a:rPr>
              <a:t>SYCL/</a:t>
            </a:r>
            <a:r>
              <a:rPr lang="en-US" altLang="zh-CN" dirty="0"/>
              <a:t>DPC++</a:t>
            </a:r>
            <a:r>
              <a:rPr lang="zh-CN" altLang="en-US" dirty="0"/>
              <a:t>编程</a:t>
            </a:r>
          </a:p>
          <a:p>
            <a:pPr lvl="1" eaLnBrk="1" hangingPunct="1"/>
            <a:r>
              <a:rPr lang="en-US" altLang="zh-CN" dirty="0">
                <a:solidFill>
                  <a:srgbClr val="FF0000"/>
                </a:solidFill>
                <a:sym typeface="+mn-ea"/>
              </a:rPr>
              <a:t>SYCL/DPC++</a:t>
            </a:r>
            <a:r>
              <a:rPr lang="zh-CN" altLang="en-US" dirty="0">
                <a:solidFill>
                  <a:srgbClr val="FF0000"/>
                </a:solidFill>
                <a:sym typeface="+mn-ea"/>
              </a:rPr>
              <a:t>编程</a:t>
            </a:r>
            <a:endParaRPr lang="zh-CN" altLang="en-US" dirty="0">
              <a:sym typeface="+mn-ea"/>
            </a:endParaRPr>
          </a:p>
          <a:p>
            <a:pPr lvl="1" eaLnBrk="1" hangingPunct="1"/>
            <a:r>
              <a:rPr lang="en-US" altLang="zh-CN" dirty="0">
                <a:sym typeface="+mn-ea"/>
              </a:rPr>
              <a:t>DPC++</a:t>
            </a:r>
            <a:r>
              <a:rPr lang="zh-CN" altLang="en-US" dirty="0">
                <a:sym typeface="+mn-ea"/>
              </a:rPr>
              <a:t>新特性</a:t>
            </a:r>
          </a:p>
        </p:txBody>
      </p:sp>
    </p:spTree>
    <p:extLst>
      <p:ext uri="{BB962C8B-B14F-4D97-AF65-F5344CB8AC3E}">
        <p14:creationId xmlns:p14="http://schemas.microsoft.com/office/powerpoint/2010/main" val="283945856"/>
      </p:ext>
    </p:extLst>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a:t>
            </a:r>
            <a:r>
              <a:rPr lang="en-US" altLang="zh-CN" dirty="0"/>
              <a:t>Data Parallel C++</a:t>
            </a:r>
            <a:r>
              <a:rPr lang="zh-CN" altLang="en-US" dirty="0"/>
              <a:t>？</a:t>
            </a:r>
          </a:p>
        </p:txBody>
      </p:sp>
      <p:sp>
        <p:nvSpPr>
          <p:cNvPr id="3" name="内容占位符 2"/>
          <p:cNvSpPr>
            <a:spLocks noGrp="1"/>
          </p:cNvSpPr>
          <p:nvPr>
            <p:ph idx="1"/>
          </p:nvPr>
        </p:nvSpPr>
        <p:spPr/>
        <p:txBody>
          <a:bodyPr/>
          <a:lstStyle/>
          <a:p>
            <a:r>
              <a:rPr lang="en-US" altLang="zh-CN" dirty="0">
                <a:latin typeface="+mn-lt"/>
              </a:rPr>
              <a:t>Data Parallel C++</a:t>
            </a:r>
            <a:br>
              <a:rPr lang="en-US" altLang="zh-CN" dirty="0">
                <a:latin typeface="+mn-lt"/>
              </a:rPr>
            </a:br>
            <a:r>
              <a:rPr lang="en-US" altLang="zh-CN" dirty="0">
                <a:latin typeface="+mn-lt"/>
              </a:rPr>
              <a:t>	=C++</a:t>
            </a:r>
            <a:r>
              <a:rPr lang="zh-CN" altLang="en-US" dirty="0">
                <a:latin typeface="+mn-lt"/>
              </a:rPr>
              <a:t>和</a:t>
            </a:r>
            <a:r>
              <a:rPr lang="en-US" altLang="zh-CN" dirty="0">
                <a:latin typeface="+mn-lt"/>
              </a:rPr>
              <a:t>SYCL</a:t>
            </a:r>
            <a:r>
              <a:rPr lang="zh-CN" altLang="en-US" dirty="0">
                <a:latin typeface="+mn-lt"/>
              </a:rPr>
              <a:t>标准和扩展</a:t>
            </a:r>
            <a:endParaRPr lang="en-US" altLang="zh-CN" dirty="0">
              <a:latin typeface="+mn-lt"/>
            </a:endParaRPr>
          </a:p>
          <a:p>
            <a:r>
              <a:rPr lang="zh-CN" altLang="en-US" dirty="0"/>
              <a:t>基于现代</a:t>
            </a:r>
            <a:r>
              <a:rPr lang="en-US" altLang="zh-CN" dirty="0"/>
              <a:t>C++</a:t>
            </a:r>
          </a:p>
          <a:p>
            <a:pPr lvl="1"/>
            <a:r>
              <a:rPr lang="zh-CN" altLang="en-US" dirty="0"/>
              <a:t>优势：</a:t>
            </a:r>
            <a:r>
              <a:rPr lang="en-US" altLang="zh-CN" dirty="0"/>
              <a:t>C++</a:t>
            </a:r>
            <a:r>
              <a:rPr lang="zh-CN" altLang="en-US" dirty="0"/>
              <a:t>的高生产率和熟悉的语言特性</a:t>
            </a:r>
            <a:endParaRPr lang="en-US" altLang="zh-CN" dirty="0"/>
          </a:p>
          <a:p>
            <a:r>
              <a:rPr lang="zh-CN" altLang="en-US" dirty="0"/>
              <a:t>基于</a:t>
            </a:r>
            <a:r>
              <a:rPr lang="en-US" altLang="zh-CN" dirty="0"/>
              <a:t>SYCL</a:t>
            </a:r>
            <a:r>
              <a:rPr lang="zh-CN" altLang="en-US" dirty="0"/>
              <a:t>标准</a:t>
            </a:r>
            <a:endParaRPr lang="en-US" altLang="zh-CN" dirty="0"/>
          </a:p>
          <a:p>
            <a:pPr lvl="1"/>
            <a:r>
              <a:rPr lang="zh-CN" altLang="en-US" dirty="0"/>
              <a:t>将</a:t>
            </a:r>
            <a:r>
              <a:rPr lang="en-US" altLang="zh-CN" dirty="0"/>
              <a:t>SYCL</a:t>
            </a:r>
            <a:r>
              <a:rPr lang="zh-CN" altLang="en-US" dirty="0"/>
              <a:t>标准融入到数据并行和异构编程</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DPC++</a:t>
            </a:r>
            <a:r>
              <a:rPr lang="zh-CN" altLang="en-US" dirty="0"/>
              <a:t>扩展了</a:t>
            </a:r>
            <a:r>
              <a:rPr lang="en-US" altLang="zh-CN" dirty="0"/>
              <a:t>SYCL</a:t>
            </a:r>
            <a:r>
              <a:rPr lang="zh-CN" altLang="en-US" dirty="0"/>
              <a:t>标准</a:t>
            </a:r>
          </a:p>
        </p:txBody>
      </p:sp>
      <p:sp>
        <p:nvSpPr>
          <p:cNvPr id="3" name="内容占位符 2"/>
          <p:cNvSpPr>
            <a:spLocks noGrp="1"/>
          </p:cNvSpPr>
          <p:nvPr>
            <p:ph idx="1"/>
          </p:nvPr>
        </p:nvSpPr>
        <p:spPr/>
        <p:txBody>
          <a:bodyPr/>
          <a:lstStyle/>
          <a:p>
            <a:r>
              <a:rPr lang="zh-CN" altLang="en-US" sz="2800" dirty="0"/>
              <a:t>提高生产率</a:t>
            </a:r>
            <a:endParaRPr lang="en-US" altLang="zh-CN" sz="2800" dirty="0"/>
          </a:p>
          <a:p>
            <a:pPr lvl="1"/>
            <a:r>
              <a:rPr lang="zh-CN" altLang="en-US" sz="2400" dirty="0"/>
              <a:t>简单的东西应该易于表达</a:t>
            </a:r>
            <a:endParaRPr lang="en-US" altLang="zh-CN" sz="2400" dirty="0"/>
          </a:p>
          <a:p>
            <a:pPr lvl="1"/>
            <a:r>
              <a:rPr lang="zh-CN" altLang="en-US" sz="2400" dirty="0"/>
              <a:t>减少代码冗余和程序员负担</a:t>
            </a:r>
            <a:endParaRPr lang="en-US" altLang="zh-CN" sz="2400" dirty="0"/>
          </a:p>
          <a:p>
            <a:r>
              <a:rPr lang="zh-CN" altLang="en-US" sz="2800" dirty="0"/>
              <a:t>增强性能</a:t>
            </a:r>
            <a:endParaRPr lang="en-US" altLang="zh-CN" sz="2800" dirty="0"/>
          </a:p>
          <a:p>
            <a:pPr lvl="1"/>
            <a:r>
              <a:rPr lang="zh-CN" altLang="en-US" sz="2400" dirty="0"/>
              <a:t>令程序员能细致控制程序的执行</a:t>
            </a:r>
            <a:endParaRPr lang="en-US" altLang="zh-CN" sz="2400" dirty="0"/>
          </a:p>
          <a:p>
            <a:pPr lvl="1"/>
            <a:r>
              <a:rPr lang="zh-CN" altLang="en-US" sz="2400" dirty="0"/>
              <a:t>硬件相关功能使能</a:t>
            </a:r>
            <a:endParaRPr lang="en-US" altLang="zh-CN" sz="2400" dirty="0"/>
          </a:p>
          <a:p>
            <a:r>
              <a:rPr lang="zh-CN" altLang="en-US" sz="2800" dirty="0"/>
              <a:t>快速发展的开放协作，逐渐融入</a:t>
            </a:r>
            <a:r>
              <a:rPr lang="en-US" altLang="zh-CN" sz="2800" dirty="0"/>
              <a:t>SYCL</a:t>
            </a:r>
            <a:r>
              <a:rPr lang="zh-CN" altLang="en-US" sz="2800" dirty="0"/>
              <a:t>标准</a:t>
            </a:r>
            <a:endParaRPr lang="en-US" altLang="zh-CN" sz="2800" dirty="0"/>
          </a:p>
          <a:p>
            <a:pPr lvl="1"/>
            <a:r>
              <a:rPr lang="zh-CN" altLang="en-US" sz="2400" dirty="0"/>
              <a:t>以上游</a:t>
            </a:r>
            <a:r>
              <a:rPr lang="en-US" altLang="zh-CN" sz="2400" dirty="0"/>
              <a:t>LLVM</a:t>
            </a:r>
            <a:r>
              <a:rPr lang="zh-CN" altLang="en-US" sz="2400" dirty="0"/>
              <a:t>为目标的开源实现</a:t>
            </a:r>
            <a:endParaRPr lang="en-US" altLang="zh-CN" sz="2400" dirty="0"/>
          </a:p>
          <a:p>
            <a:pPr lvl="1"/>
            <a:r>
              <a:rPr lang="en-US" altLang="zh-CN" sz="2400" dirty="0"/>
              <a:t>DPC++</a:t>
            </a:r>
            <a:r>
              <a:rPr lang="zh-CN" altLang="en-US" sz="2400" dirty="0"/>
              <a:t>扩展以成为</a:t>
            </a:r>
            <a:r>
              <a:rPr lang="en-US" altLang="zh-CN" sz="2400" dirty="0"/>
              <a:t>SYCL</a:t>
            </a:r>
            <a:r>
              <a:rPr lang="zh-CN" altLang="en-US" sz="2400" dirty="0"/>
              <a:t>或</a:t>
            </a:r>
            <a:r>
              <a:rPr lang="en-US" altLang="zh-CN" sz="2400" dirty="0" err="1"/>
              <a:t>Khronos</a:t>
            </a:r>
            <a:r>
              <a:rPr lang="zh-CN" altLang="en-US" sz="2400" dirty="0"/>
              <a:t>核心扩展为目标</a:t>
            </a:r>
            <a:endParaRPr lang="en-US" altLang="zh-CN"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DPC++</a:t>
            </a:r>
            <a:r>
              <a:rPr lang="zh-CN" altLang="en-US" dirty="0"/>
              <a:t>程序结构</a:t>
            </a:r>
          </a:p>
        </p:txBody>
      </p:sp>
      <p:sp>
        <p:nvSpPr>
          <p:cNvPr id="3" name="内容占位符 2"/>
          <p:cNvSpPr>
            <a:spLocks noGrp="1"/>
          </p:cNvSpPr>
          <p:nvPr>
            <p:ph idx="1"/>
          </p:nvPr>
        </p:nvSpPr>
        <p:spPr>
          <a:xfrm>
            <a:off x="539552" y="1371600"/>
            <a:ext cx="8415536" cy="4724400"/>
          </a:xfrm>
        </p:spPr>
        <p:txBody>
          <a:bodyPr/>
          <a:lstStyle/>
          <a:p>
            <a:r>
              <a:rPr lang="zh-CN" altLang="en-US" sz="2400" dirty="0"/>
              <a:t>单程序文件</a:t>
            </a:r>
            <a:endParaRPr lang="en-US" altLang="zh-CN" sz="2400" dirty="0"/>
          </a:p>
          <a:p>
            <a:pPr lvl="1"/>
            <a:r>
              <a:rPr lang="zh-CN" altLang="en-US" sz="2000" dirty="0"/>
              <a:t>主机代码和异构加速器</a:t>
            </a:r>
            <a:br>
              <a:rPr lang="en-US" altLang="zh-CN" sz="2000" dirty="0"/>
            </a:br>
            <a:r>
              <a:rPr lang="en-US" altLang="zh-CN" sz="2000" dirty="0"/>
              <a:t>kernel</a:t>
            </a:r>
            <a:r>
              <a:rPr lang="zh-CN" altLang="en-US" sz="2000" dirty="0"/>
              <a:t>代码可混合在同一</a:t>
            </a:r>
            <a:br>
              <a:rPr lang="en-US" altLang="zh-CN" sz="2000" dirty="0"/>
            </a:br>
            <a:r>
              <a:rPr lang="zh-CN" altLang="en-US" sz="2000" dirty="0"/>
              <a:t>个程序文件中</a:t>
            </a:r>
            <a:endParaRPr lang="en-US" altLang="zh-CN" sz="2000" dirty="0"/>
          </a:p>
          <a:p>
            <a:r>
              <a:rPr lang="zh-CN" altLang="en-US" sz="2400" dirty="0"/>
              <a:t>熟悉的</a:t>
            </a:r>
            <a:r>
              <a:rPr lang="en-US" altLang="zh-CN" sz="2400" dirty="0"/>
              <a:t>C++</a:t>
            </a:r>
            <a:r>
              <a:rPr lang="zh-CN" altLang="en-US" sz="2400" dirty="0"/>
              <a:t>语法</a:t>
            </a:r>
            <a:endParaRPr lang="en-US" altLang="zh-CN" sz="2400" dirty="0"/>
          </a:p>
          <a:p>
            <a:pPr lvl="1"/>
            <a:r>
              <a:rPr lang="zh-CN" altLang="en-US" sz="2000" dirty="0"/>
              <a:t>用一些库构造增加功能</a:t>
            </a:r>
            <a:endParaRPr lang="en-US" altLang="zh-CN" sz="2000" dirty="0"/>
          </a:p>
          <a:p>
            <a:pPr lvl="1"/>
            <a:endParaRPr lang="zh-CN" altLang="en-US" sz="2000" dirty="0"/>
          </a:p>
        </p:txBody>
      </p:sp>
      <p:sp>
        <p:nvSpPr>
          <p:cNvPr id="6" name="Rectangle: Single Corner Snipped 4"/>
          <p:cNvSpPr/>
          <p:nvPr/>
        </p:nvSpPr>
        <p:spPr>
          <a:xfrm>
            <a:off x="4103919" y="1720238"/>
            <a:ext cx="4851169" cy="3646829"/>
          </a:xfrm>
          <a:prstGeom prst="snip1Rect">
            <a:avLst>
              <a:gd name="adj" fmla="val 2758"/>
            </a:avLst>
          </a:prstGeom>
          <a:solidFill>
            <a:schemeClr val="bg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sz="3200" b="1" dirty="0"/>
          </a:p>
        </p:txBody>
      </p:sp>
      <p:sp>
        <p:nvSpPr>
          <p:cNvPr id="7" name="TextBox 6"/>
          <p:cNvSpPr txBox="1"/>
          <p:nvPr/>
        </p:nvSpPr>
        <p:spPr>
          <a:xfrm>
            <a:off x="4270456" y="1801917"/>
            <a:ext cx="4684632" cy="3571299"/>
          </a:xfrm>
          <a:prstGeom prst="rect">
            <a:avLst/>
          </a:prstGeom>
          <a:noFill/>
        </p:spPr>
        <p:txBody>
          <a:bodyPr vert="horz" wrap="square" lIns="0" tIns="0" rIns="0" bIns="0" rtlCol="0">
            <a:spAutoFit/>
          </a:bodyPr>
          <a:lstStyle/>
          <a:p>
            <a:pPr>
              <a:lnSpc>
                <a:spcPct val="150000"/>
              </a:lnSpc>
              <a:spcBef>
                <a:spcPts val="0"/>
              </a:spcBef>
            </a:pPr>
            <a:r>
              <a:rPr lang="en-US" sz="1200" dirty="0">
                <a:solidFill>
                  <a:srgbClr val="AF00DB"/>
                </a:solidFill>
                <a:latin typeface="Consolas" panose="020B0609020204030204" pitchFamily="49" charset="0"/>
              </a:rPr>
              <a:t>#include</a:t>
            </a:r>
            <a:r>
              <a:rPr lang="en-US" sz="1200" dirty="0">
                <a:solidFill>
                  <a:srgbClr val="0000FF"/>
                </a:solidFill>
                <a:latin typeface="Consolas" panose="020B0609020204030204" pitchFamily="49" charset="0"/>
              </a:rPr>
              <a:t> </a:t>
            </a:r>
            <a:r>
              <a:rPr lang="en-US" sz="1200" dirty="0">
                <a:solidFill>
                  <a:srgbClr val="A31515"/>
                </a:solidFill>
                <a:latin typeface="Consolas" panose="020B0609020204030204" pitchFamily="49" charset="0"/>
              </a:rPr>
              <a:t>&lt;CL/sycl.hpp&gt;</a:t>
            </a:r>
            <a:endParaRPr lang="en-US" sz="1200" dirty="0">
              <a:solidFill>
                <a:srgbClr val="000000"/>
              </a:solidFill>
              <a:latin typeface="Consolas" panose="020B0609020204030204" pitchFamily="49" charset="0"/>
            </a:endParaRPr>
          </a:p>
          <a:p>
            <a:pPr>
              <a:lnSpc>
                <a:spcPct val="150000"/>
              </a:lnSpc>
              <a:spcBef>
                <a:spcPts val="0"/>
              </a:spcBef>
            </a:pPr>
            <a:r>
              <a:rPr lang="en-US" sz="1200" dirty="0">
                <a:solidFill>
                  <a:srgbClr val="0000FF"/>
                </a:solidFill>
                <a:latin typeface="Consolas" panose="020B0609020204030204" pitchFamily="49" charset="0"/>
              </a:rPr>
              <a:t>constexpr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N=</a:t>
            </a:r>
            <a:r>
              <a:rPr lang="en-US" sz="1200" dirty="0">
                <a:solidFill>
                  <a:srgbClr val="098658"/>
                </a:solidFill>
                <a:latin typeface="Consolas" panose="020B0609020204030204" pitchFamily="49" charset="0"/>
              </a:rPr>
              <a:t>16</a:t>
            </a:r>
            <a:r>
              <a:rPr lang="en-US" sz="1200" dirty="0">
                <a:solidFill>
                  <a:srgbClr val="000000"/>
                </a:solidFill>
                <a:latin typeface="Consolas" panose="020B0609020204030204" pitchFamily="49" charset="0"/>
              </a:rPr>
              <a:t>;</a:t>
            </a:r>
          </a:p>
          <a:p>
            <a:pPr>
              <a:lnSpc>
                <a:spcPct val="150000"/>
              </a:lnSpc>
              <a:spcBef>
                <a:spcPts val="0"/>
              </a:spcBef>
            </a:pPr>
            <a:r>
              <a:rPr lang="en-US" sz="1200" dirty="0">
                <a:solidFill>
                  <a:srgbClr val="AF00DB"/>
                </a:solidFill>
                <a:latin typeface="Consolas" panose="020B0609020204030204" pitchFamily="49" charset="0"/>
              </a:rPr>
              <a:t>using</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namespace</a:t>
            </a:r>
            <a:r>
              <a:rPr lang="en-US" sz="1200" dirty="0">
                <a:solidFill>
                  <a:srgbClr val="000000"/>
                </a:solidFill>
                <a:latin typeface="Consolas" panose="020B0609020204030204" pitchFamily="49" charset="0"/>
              </a:rPr>
              <a:t> </a:t>
            </a:r>
            <a:r>
              <a:rPr lang="en-US" sz="1200" dirty="0">
                <a:solidFill>
                  <a:srgbClr val="267F99"/>
                </a:solidFill>
                <a:latin typeface="Consolas" panose="020B0609020204030204" pitchFamily="49" charset="0"/>
              </a:rPr>
              <a:t>sycl</a:t>
            </a:r>
            <a:r>
              <a:rPr lang="en-US" sz="1200" dirty="0">
                <a:solidFill>
                  <a:srgbClr val="000000"/>
                </a:solidFill>
                <a:latin typeface="Consolas" panose="020B0609020204030204" pitchFamily="49" charset="0"/>
              </a:rPr>
              <a:t>;</a:t>
            </a:r>
          </a:p>
          <a:p>
            <a:pPr>
              <a:lnSpc>
                <a:spcPct val="150000"/>
              </a:lnSpc>
              <a:spcBef>
                <a:spcPts val="0"/>
              </a:spcBef>
            </a:pP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795E26"/>
                </a:solidFill>
                <a:latin typeface="Consolas" panose="020B0609020204030204" pitchFamily="49" charset="0"/>
              </a:rPr>
              <a:t>main</a:t>
            </a:r>
            <a:r>
              <a:rPr lang="en-US" sz="1200" dirty="0">
                <a:solidFill>
                  <a:srgbClr val="000000"/>
                </a:solidFill>
                <a:latin typeface="Consolas" panose="020B0609020204030204" pitchFamily="49" charset="0"/>
              </a:rPr>
              <a:t>() {</a:t>
            </a:r>
          </a:p>
          <a:p>
            <a:pPr>
              <a:lnSpc>
                <a:spcPct val="150000"/>
              </a:lnSpc>
              <a:spcBef>
                <a:spcPts val="0"/>
              </a:spcBef>
            </a:pPr>
            <a:r>
              <a:rPr lang="en-US" sz="1200" dirty="0">
                <a:solidFill>
                  <a:srgbClr val="000000"/>
                </a:solidFill>
                <a:latin typeface="Consolas" panose="020B0609020204030204" pitchFamily="49" charset="0"/>
              </a:rPr>
              <a:t>  queue q;</a:t>
            </a:r>
          </a:p>
          <a:p>
            <a:pPr>
              <a:lnSpc>
                <a:spcPct val="150000"/>
              </a:lnSpc>
              <a:spcBef>
                <a:spcPts val="0"/>
              </a:spcBef>
            </a:pP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*data = </a:t>
            </a:r>
            <a:r>
              <a:rPr lang="en-US" sz="1200" dirty="0" err="1">
                <a:solidFill>
                  <a:srgbClr val="795E26"/>
                </a:solidFill>
                <a:latin typeface="Consolas" panose="020B0609020204030204" pitchFamily="49" charset="0"/>
              </a:rPr>
              <a:t>malloc_shared</a:t>
            </a:r>
            <a:r>
              <a:rPr lang="en-US" sz="1200" dirty="0">
                <a:solidFill>
                  <a:srgbClr val="000000"/>
                </a:solidFill>
                <a:latin typeface="Consolas" panose="020B0609020204030204" pitchFamily="49" charset="0"/>
              </a:rPr>
              <a:t>&lt;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&gt;(N, q); </a:t>
            </a:r>
          </a:p>
          <a:p>
            <a:pPr>
              <a:lnSpc>
                <a:spcPct val="150000"/>
              </a:lnSpc>
              <a:spcBef>
                <a:spcPts val="0"/>
              </a:spcBef>
            </a:pPr>
            <a:r>
              <a:rPr lang="en-US" sz="1200" dirty="0">
                <a:solidFill>
                  <a:srgbClr val="000000"/>
                </a:solidFill>
                <a:latin typeface="Consolas" panose="020B0609020204030204" pitchFamily="49" charset="0"/>
              </a:rPr>
              <a:t>  </a:t>
            </a:r>
            <a:r>
              <a:rPr lang="en-US" sz="1200" dirty="0" err="1">
                <a:solidFill>
                  <a:srgbClr val="001080"/>
                </a:solidFill>
                <a:latin typeface="Consolas" panose="020B0609020204030204" pitchFamily="49" charset="0"/>
              </a:rPr>
              <a:t>q</a:t>
            </a:r>
            <a:r>
              <a:rPr lang="en-US" sz="1200" dirty="0" err="1">
                <a:solidFill>
                  <a:srgbClr val="000000"/>
                </a:solidFill>
                <a:latin typeface="Consolas" panose="020B0609020204030204" pitchFamily="49" charset="0"/>
              </a:rPr>
              <a:t>.</a:t>
            </a:r>
            <a:r>
              <a:rPr lang="en-US" sz="1200" dirty="0" err="1">
                <a:solidFill>
                  <a:srgbClr val="795E26"/>
                </a:solidFill>
                <a:latin typeface="Consolas" panose="020B0609020204030204" pitchFamily="49" charset="0"/>
              </a:rPr>
              <a:t>parallel_for</a:t>
            </a:r>
            <a:r>
              <a:rPr lang="en-US" sz="1200" dirty="0">
                <a:solidFill>
                  <a:srgbClr val="000000"/>
                </a:solidFill>
                <a:latin typeface="Consolas" panose="020B0609020204030204" pitchFamily="49" charset="0"/>
              </a:rPr>
              <a:t>(N, [=](</a:t>
            </a:r>
            <a:r>
              <a:rPr lang="en-US" sz="1200" dirty="0">
                <a:solidFill>
                  <a:srgbClr val="267F99"/>
                </a:solidFill>
                <a:latin typeface="Consolas" panose="020B0609020204030204" pitchFamily="49" charset="0"/>
              </a:rPr>
              <a:t>auto</a:t>
            </a:r>
            <a:r>
              <a:rPr lang="en-US" sz="1200" dirty="0">
                <a:solidFill>
                  <a:srgbClr val="000000"/>
                </a:solidFill>
                <a:latin typeface="Consolas" panose="020B0609020204030204" pitchFamily="49" charset="0"/>
              </a:rPr>
              <a:t> </a:t>
            </a:r>
            <a:r>
              <a:rPr lang="en-US" sz="1200" dirty="0" err="1">
                <a:solidFill>
                  <a:srgbClr val="001080"/>
                </a:solidFill>
                <a:latin typeface="Consolas" panose="020B0609020204030204" pitchFamily="49" charset="0"/>
              </a:rPr>
              <a:t>i</a:t>
            </a:r>
            <a:r>
              <a:rPr lang="en-US" sz="1200" dirty="0">
                <a:solidFill>
                  <a:srgbClr val="000000"/>
                </a:solidFill>
                <a:latin typeface="Consolas" panose="020B0609020204030204" pitchFamily="49" charset="0"/>
              </a:rPr>
              <a:t>) {</a:t>
            </a:r>
          </a:p>
          <a:p>
            <a:pPr>
              <a:lnSpc>
                <a:spcPct val="150000"/>
              </a:lnSpc>
              <a:spcBef>
                <a:spcPts val="0"/>
              </a:spcBef>
            </a:pPr>
            <a:r>
              <a:rPr lang="en-US" sz="1200" dirty="0">
                <a:solidFill>
                  <a:srgbClr val="000000"/>
                </a:solidFill>
                <a:latin typeface="Consolas" panose="020B0609020204030204" pitchFamily="49" charset="0"/>
              </a:rPr>
              <a:t>      </a:t>
            </a:r>
            <a:r>
              <a:rPr lang="en-US" sz="1200" dirty="0">
                <a:solidFill>
                  <a:srgbClr val="001080"/>
                </a:solidFill>
                <a:latin typeface="Consolas" panose="020B0609020204030204" pitchFamily="49" charset="0"/>
              </a:rPr>
              <a:t>data</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a:t>
            </a:r>
          </a:p>
          <a:p>
            <a:pPr>
              <a:lnSpc>
                <a:spcPct val="150000"/>
              </a:lnSpc>
              <a:spcBef>
                <a:spcPts val="0"/>
              </a:spcBef>
            </a:pPr>
            <a:r>
              <a:rPr lang="en-US" sz="1200" dirty="0">
                <a:solidFill>
                  <a:srgbClr val="000000"/>
                </a:solidFill>
                <a:latin typeface="Consolas" panose="020B0609020204030204" pitchFamily="49" charset="0"/>
              </a:rPr>
              <a:t>  }).</a:t>
            </a:r>
            <a:r>
              <a:rPr lang="en-US" sz="1200" dirty="0">
                <a:solidFill>
                  <a:srgbClr val="795E26"/>
                </a:solidFill>
                <a:latin typeface="Consolas" panose="020B0609020204030204" pitchFamily="49" charset="0"/>
              </a:rPr>
              <a:t>wait</a:t>
            </a:r>
            <a:r>
              <a:rPr lang="en-US" sz="1200" dirty="0">
                <a:solidFill>
                  <a:srgbClr val="000000"/>
                </a:solidFill>
                <a:latin typeface="Consolas" panose="020B0609020204030204" pitchFamily="49" charset="0"/>
              </a:rPr>
              <a:t>();</a:t>
            </a:r>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AF00DB"/>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&lt;N;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a:t>
            </a:r>
            <a:r>
              <a:rPr lang="en-US" sz="1200" dirty="0">
                <a:solidFill>
                  <a:srgbClr val="267F99"/>
                </a:solidFill>
                <a:latin typeface="Consolas" panose="020B0609020204030204" pitchFamily="49" charset="0"/>
              </a:rPr>
              <a:t>std</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&lt;&lt; </a:t>
            </a:r>
            <a:r>
              <a:rPr lang="en-US" sz="1200" dirty="0">
                <a:solidFill>
                  <a:srgbClr val="001080"/>
                </a:solidFill>
                <a:latin typeface="Consolas" panose="020B0609020204030204" pitchFamily="49" charset="0"/>
              </a:rPr>
              <a:t>data</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&lt;&lt; </a:t>
            </a:r>
            <a:r>
              <a:rPr lang="en-US" sz="1200" dirty="0">
                <a:solidFill>
                  <a:srgbClr val="A31515"/>
                </a:solidFill>
                <a:latin typeface="Consolas" panose="020B0609020204030204" pitchFamily="49" charset="0"/>
              </a:rPr>
              <a:t>"</a:t>
            </a:r>
            <a:r>
              <a:rPr lang="en-US" sz="1200" dirty="0">
                <a:solidFill>
                  <a:srgbClr val="FF0000"/>
                </a:solidFill>
                <a:latin typeface="Consolas" panose="020B0609020204030204" pitchFamily="49" charset="0"/>
              </a:rPr>
              <a:t>\n</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a:t>
            </a:r>
          </a:p>
          <a:p>
            <a:pPr>
              <a:lnSpc>
                <a:spcPct val="150000"/>
              </a:lnSpc>
              <a:spcBef>
                <a:spcPts val="0"/>
              </a:spcBef>
            </a:pPr>
            <a:r>
              <a:rPr lang="en-US" sz="1200" dirty="0">
                <a:solidFill>
                  <a:srgbClr val="000000"/>
                </a:solidFill>
                <a:latin typeface="Consolas" panose="020B0609020204030204" pitchFamily="49" charset="0"/>
              </a:rPr>
              <a:t>  </a:t>
            </a:r>
            <a:r>
              <a:rPr lang="en-US" sz="1200" dirty="0">
                <a:solidFill>
                  <a:srgbClr val="795E26"/>
                </a:solidFill>
                <a:latin typeface="Consolas" panose="020B0609020204030204" pitchFamily="49" charset="0"/>
              </a:rPr>
              <a:t>free</a:t>
            </a:r>
            <a:r>
              <a:rPr lang="en-US" sz="1200" dirty="0">
                <a:solidFill>
                  <a:srgbClr val="000000"/>
                </a:solidFill>
                <a:latin typeface="Consolas" panose="020B0609020204030204" pitchFamily="49" charset="0"/>
              </a:rPr>
              <a:t>(data, q);</a:t>
            </a:r>
          </a:p>
          <a:p>
            <a:pPr>
              <a:lnSpc>
                <a:spcPct val="150000"/>
              </a:lnSpc>
              <a:spcBef>
                <a:spcPts val="0"/>
              </a:spcBef>
            </a:pPr>
            <a:r>
              <a:rPr lang="en-US" sz="1200" dirty="0">
                <a:solidFill>
                  <a:srgbClr val="000000"/>
                </a:solidFill>
                <a:latin typeface="Consolas" panose="020B0609020204030204" pitchFamily="49" charset="0"/>
              </a:rPr>
              <a:t>  </a:t>
            </a:r>
            <a:r>
              <a:rPr lang="en-US" sz="1200" dirty="0">
                <a:solidFill>
                  <a:srgbClr val="AF00DB"/>
                </a:solidFill>
                <a:latin typeface="Consolas" panose="020B0609020204030204" pitchFamily="49" charset="0"/>
              </a:rPr>
              <a:t>return</a:t>
            </a:r>
            <a:r>
              <a:rPr lang="en-US" sz="1200" dirty="0">
                <a:solidFill>
                  <a:srgbClr val="000000"/>
                </a:solidFill>
                <a:latin typeface="Consolas" panose="020B0609020204030204" pitchFamily="49" charset="0"/>
              </a:rPr>
              <a:t>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pPr>
              <a:lnSpc>
                <a:spcPct val="150000"/>
              </a:lnSpc>
              <a:spcBef>
                <a:spcPts val="0"/>
              </a:spcBef>
            </a:pPr>
            <a:r>
              <a:rPr lang="en-US" sz="1200" dirty="0">
                <a:solidFill>
                  <a:srgbClr val="000000"/>
                </a:solidFill>
                <a:latin typeface="Consolas" panose="020B0609020204030204" pitchFamily="49" charset="0"/>
              </a:rPr>
              <a:t>}</a:t>
            </a:r>
          </a:p>
        </p:txBody>
      </p:sp>
      <p:graphicFrame>
        <p:nvGraphicFramePr>
          <p:cNvPr id="9" name="Table 13"/>
          <p:cNvGraphicFramePr>
            <a:graphicFrameLocks noGrp="1"/>
          </p:cNvGraphicFramePr>
          <p:nvPr/>
        </p:nvGraphicFramePr>
        <p:xfrm>
          <a:off x="519562" y="3969520"/>
          <a:ext cx="3183142" cy="1259680"/>
        </p:xfrm>
        <a:graphic>
          <a:graphicData uri="http://schemas.openxmlformats.org/drawingml/2006/table">
            <a:tbl>
              <a:tblPr firstRow="1" bandRow="1"/>
              <a:tblGrid>
                <a:gridCol w="1456329">
                  <a:extLst>
                    <a:ext uri="{9D8B030D-6E8A-4147-A177-3AD203B41FA5}">
                      <a16:colId xmlns:a16="http://schemas.microsoft.com/office/drawing/2014/main" val="20000"/>
                    </a:ext>
                  </a:extLst>
                </a:gridCol>
                <a:gridCol w="1726813">
                  <a:extLst>
                    <a:ext uri="{9D8B030D-6E8A-4147-A177-3AD203B41FA5}">
                      <a16:colId xmlns:a16="http://schemas.microsoft.com/office/drawing/2014/main" val="20001"/>
                    </a:ext>
                  </a:extLst>
                </a:gridCol>
              </a:tblGrid>
              <a:tr h="314920">
                <a:tc>
                  <a:txBody>
                    <a:bodyPr/>
                    <a:lstStyle>
                      <a:lvl1pPr marL="0" algn="l" defTabSz="914400" rtl="0" eaLnBrk="1" latinLnBrk="0" hangingPunct="1">
                        <a:defRPr sz="1800" b="1" kern="1200">
                          <a:solidFill>
                            <a:schemeClr val="lt1"/>
                          </a:solidFill>
                          <a:latin typeface="Intel Clear"/>
                          <a:ea typeface="Helvetica Neue" panose="02000503000000020004"/>
                          <a:cs typeface="Helvetica Neue" panose="02000503000000020004"/>
                        </a:defRPr>
                      </a:lvl1pPr>
                      <a:lvl2pPr marL="457200" algn="l" defTabSz="914400" rtl="0" eaLnBrk="1" latinLnBrk="0" hangingPunct="1">
                        <a:defRPr sz="1800" b="1" kern="1200">
                          <a:solidFill>
                            <a:schemeClr val="lt1"/>
                          </a:solidFill>
                          <a:latin typeface="Intel Clear"/>
                          <a:ea typeface="Helvetica Neue" panose="02000503000000020004"/>
                          <a:cs typeface="Helvetica Neue" panose="02000503000000020004"/>
                        </a:defRPr>
                      </a:lvl2pPr>
                      <a:lvl3pPr marL="914400" algn="l" defTabSz="914400" rtl="0" eaLnBrk="1" latinLnBrk="0" hangingPunct="1">
                        <a:defRPr sz="1800" b="1" kern="1200">
                          <a:solidFill>
                            <a:schemeClr val="lt1"/>
                          </a:solidFill>
                          <a:latin typeface="Intel Clear"/>
                          <a:ea typeface="Helvetica Neue" panose="02000503000000020004"/>
                          <a:cs typeface="Helvetica Neue" panose="02000503000000020004"/>
                        </a:defRPr>
                      </a:lvl3pPr>
                      <a:lvl4pPr marL="1371600" algn="l" defTabSz="914400" rtl="0" eaLnBrk="1" latinLnBrk="0" hangingPunct="1">
                        <a:defRPr sz="1800" b="1" kern="1200">
                          <a:solidFill>
                            <a:schemeClr val="lt1"/>
                          </a:solidFill>
                          <a:latin typeface="Intel Clear"/>
                          <a:ea typeface="Helvetica Neue" panose="02000503000000020004"/>
                          <a:cs typeface="Helvetica Neue" panose="02000503000000020004"/>
                        </a:defRPr>
                      </a:lvl4pPr>
                      <a:lvl5pPr marL="1828800" algn="l" defTabSz="914400" rtl="0" eaLnBrk="1" latinLnBrk="0" hangingPunct="1">
                        <a:defRPr sz="1800" b="1" kern="1200">
                          <a:solidFill>
                            <a:schemeClr val="lt1"/>
                          </a:solidFill>
                          <a:latin typeface="Intel Clear"/>
                          <a:ea typeface="Helvetica Neue" panose="02000503000000020004"/>
                          <a:cs typeface="Helvetica Neue" panose="02000503000000020004"/>
                        </a:defRPr>
                      </a:lvl5pPr>
                      <a:lvl6pPr marL="2286000" algn="l" defTabSz="914400" rtl="0" eaLnBrk="1" latinLnBrk="0" hangingPunct="1">
                        <a:defRPr sz="1800" b="1" kern="1200">
                          <a:solidFill>
                            <a:schemeClr val="lt1"/>
                          </a:solidFill>
                          <a:latin typeface="Intel Clear"/>
                          <a:ea typeface="Helvetica Neue" panose="02000503000000020004"/>
                          <a:cs typeface="Helvetica Neue" panose="02000503000000020004"/>
                        </a:defRPr>
                      </a:lvl6pPr>
                      <a:lvl7pPr marL="2743200" algn="l" defTabSz="914400" rtl="0" eaLnBrk="1" latinLnBrk="0" hangingPunct="1">
                        <a:defRPr sz="1800" b="1" kern="1200">
                          <a:solidFill>
                            <a:schemeClr val="lt1"/>
                          </a:solidFill>
                          <a:latin typeface="Intel Clear"/>
                          <a:ea typeface="Helvetica Neue" panose="02000503000000020004"/>
                          <a:cs typeface="Helvetica Neue" panose="02000503000000020004"/>
                        </a:defRPr>
                      </a:lvl7pPr>
                      <a:lvl8pPr marL="3200400" algn="l" defTabSz="914400" rtl="0" eaLnBrk="1" latinLnBrk="0" hangingPunct="1">
                        <a:defRPr sz="1800" b="1" kern="1200">
                          <a:solidFill>
                            <a:schemeClr val="lt1"/>
                          </a:solidFill>
                          <a:latin typeface="Intel Clear"/>
                          <a:ea typeface="Helvetica Neue" panose="02000503000000020004"/>
                          <a:cs typeface="Helvetica Neue" panose="02000503000000020004"/>
                        </a:defRPr>
                      </a:lvl8pPr>
                      <a:lvl9pPr marL="3657600" algn="l" defTabSz="914400" rtl="0" eaLnBrk="1" latinLnBrk="0" hangingPunct="1">
                        <a:defRPr sz="1800" b="1" kern="1200">
                          <a:solidFill>
                            <a:schemeClr val="lt1"/>
                          </a:solidFill>
                          <a:latin typeface="Intel Clear"/>
                          <a:ea typeface="Helvetica Neue" panose="02000503000000020004"/>
                          <a:cs typeface="Helvetica Neue" panose="02000503000000020004"/>
                        </a:defRPr>
                      </a:lvl9pPr>
                    </a:lstStyle>
                    <a:p>
                      <a:pPr algn="ctr"/>
                      <a:r>
                        <a:rPr lang="zh-CN" altLang="en-US" sz="1400" dirty="0"/>
                        <a:t>库构造</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panose="02000503000000020004"/>
                          <a:cs typeface="Helvetica Neue" panose="02000503000000020004"/>
                        </a:defRPr>
                      </a:lvl1pPr>
                      <a:lvl2pPr marL="457200" algn="l" defTabSz="914400" rtl="0" eaLnBrk="1" latinLnBrk="0" hangingPunct="1">
                        <a:defRPr sz="1800" b="1" kern="1200">
                          <a:solidFill>
                            <a:schemeClr val="lt1"/>
                          </a:solidFill>
                          <a:latin typeface="Intel Clear"/>
                          <a:ea typeface="Helvetica Neue" panose="02000503000000020004"/>
                          <a:cs typeface="Helvetica Neue" panose="02000503000000020004"/>
                        </a:defRPr>
                      </a:lvl2pPr>
                      <a:lvl3pPr marL="914400" algn="l" defTabSz="914400" rtl="0" eaLnBrk="1" latinLnBrk="0" hangingPunct="1">
                        <a:defRPr sz="1800" b="1" kern="1200">
                          <a:solidFill>
                            <a:schemeClr val="lt1"/>
                          </a:solidFill>
                          <a:latin typeface="Intel Clear"/>
                          <a:ea typeface="Helvetica Neue" panose="02000503000000020004"/>
                          <a:cs typeface="Helvetica Neue" panose="02000503000000020004"/>
                        </a:defRPr>
                      </a:lvl3pPr>
                      <a:lvl4pPr marL="1371600" algn="l" defTabSz="914400" rtl="0" eaLnBrk="1" latinLnBrk="0" hangingPunct="1">
                        <a:defRPr sz="1800" b="1" kern="1200">
                          <a:solidFill>
                            <a:schemeClr val="lt1"/>
                          </a:solidFill>
                          <a:latin typeface="Intel Clear"/>
                          <a:ea typeface="Helvetica Neue" panose="02000503000000020004"/>
                          <a:cs typeface="Helvetica Neue" panose="02000503000000020004"/>
                        </a:defRPr>
                      </a:lvl4pPr>
                      <a:lvl5pPr marL="1828800" algn="l" defTabSz="914400" rtl="0" eaLnBrk="1" latinLnBrk="0" hangingPunct="1">
                        <a:defRPr sz="1800" b="1" kern="1200">
                          <a:solidFill>
                            <a:schemeClr val="lt1"/>
                          </a:solidFill>
                          <a:latin typeface="Intel Clear"/>
                          <a:ea typeface="Helvetica Neue" panose="02000503000000020004"/>
                          <a:cs typeface="Helvetica Neue" panose="02000503000000020004"/>
                        </a:defRPr>
                      </a:lvl5pPr>
                      <a:lvl6pPr marL="2286000" algn="l" defTabSz="914400" rtl="0" eaLnBrk="1" latinLnBrk="0" hangingPunct="1">
                        <a:defRPr sz="1800" b="1" kern="1200">
                          <a:solidFill>
                            <a:schemeClr val="lt1"/>
                          </a:solidFill>
                          <a:latin typeface="Intel Clear"/>
                          <a:ea typeface="Helvetica Neue" panose="02000503000000020004"/>
                          <a:cs typeface="Helvetica Neue" panose="02000503000000020004"/>
                        </a:defRPr>
                      </a:lvl6pPr>
                      <a:lvl7pPr marL="2743200" algn="l" defTabSz="914400" rtl="0" eaLnBrk="1" latinLnBrk="0" hangingPunct="1">
                        <a:defRPr sz="1800" b="1" kern="1200">
                          <a:solidFill>
                            <a:schemeClr val="lt1"/>
                          </a:solidFill>
                          <a:latin typeface="Intel Clear"/>
                          <a:ea typeface="Helvetica Neue" panose="02000503000000020004"/>
                          <a:cs typeface="Helvetica Neue" panose="02000503000000020004"/>
                        </a:defRPr>
                      </a:lvl7pPr>
                      <a:lvl8pPr marL="3200400" algn="l" defTabSz="914400" rtl="0" eaLnBrk="1" latinLnBrk="0" hangingPunct="1">
                        <a:defRPr sz="1800" b="1" kern="1200">
                          <a:solidFill>
                            <a:schemeClr val="lt1"/>
                          </a:solidFill>
                          <a:latin typeface="Intel Clear"/>
                          <a:ea typeface="Helvetica Neue" panose="02000503000000020004"/>
                          <a:cs typeface="Helvetica Neue" panose="02000503000000020004"/>
                        </a:defRPr>
                      </a:lvl8pPr>
                      <a:lvl9pPr marL="3657600" algn="l" defTabSz="914400" rtl="0" eaLnBrk="1" latinLnBrk="0" hangingPunct="1">
                        <a:defRPr sz="1800" b="1" kern="1200">
                          <a:solidFill>
                            <a:schemeClr val="lt1"/>
                          </a:solidFill>
                          <a:latin typeface="Intel Clear"/>
                          <a:ea typeface="Helvetica Neue" panose="02000503000000020004"/>
                          <a:cs typeface="Helvetica Neue" panose="02000503000000020004"/>
                        </a:defRPr>
                      </a:lvl9pPr>
                    </a:lstStyle>
                    <a:p>
                      <a:pPr algn="ctr"/>
                      <a:r>
                        <a:rPr lang="zh-CN" altLang="en-US" sz="1400" dirty="0"/>
                        <a:t>目的</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extLst>
                  <a:ext uri="{0D108BD9-81ED-4DB2-BD59-A6C34878D82A}">
                    <a16:rowId xmlns:a16="http://schemas.microsoft.com/office/drawing/2014/main" val="10000"/>
                  </a:ext>
                </a:extLst>
              </a:tr>
              <a:tr h="31492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en-US" sz="1400" dirty="0"/>
                        <a:t>queue</a:t>
                      </a:r>
                    </a:p>
                  </a:txBody>
                  <a:tcPr marL="76200" marR="762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zh-CN" altLang="en-US" sz="1400" dirty="0"/>
                        <a:t>任务定位</a:t>
                      </a:r>
                      <a:endParaRPr lang="en-US" sz="1400" dirty="0"/>
                    </a:p>
                  </a:txBody>
                  <a:tcPr marL="76200" marR="76200" marT="38100" marB="3810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10001"/>
                  </a:ext>
                </a:extLst>
              </a:tr>
              <a:tr h="31492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en-US" sz="1400" dirty="0" err="1"/>
                        <a:t>malloc_shared</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zh-CN" altLang="en-US" sz="1400" dirty="0"/>
                        <a:t>数据管理</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extLst>
                  <a:ext uri="{0D108BD9-81ED-4DB2-BD59-A6C34878D82A}">
                    <a16:rowId xmlns:a16="http://schemas.microsoft.com/office/drawing/2014/main" val="10002"/>
                  </a:ext>
                </a:extLst>
              </a:tr>
              <a:tr h="31492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en-US" sz="1400" dirty="0" err="1"/>
                        <a:t>parallel_for</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zh-CN" altLang="en-US" sz="1400" dirty="0"/>
                        <a:t>并行化</a:t>
                      </a:r>
                      <a:endParaRPr lang="en-US" sz="1400" dirty="0"/>
                    </a:p>
                  </a:txBody>
                  <a:tcPr marL="76200" marR="76200" marT="38100" marB="3810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10003"/>
                  </a:ext>
                </a:extLst>
              </a:tr>
            </a:tbl>
          </a:graphicData>
        </a:graphic>
      </p:graphicFrame>
      <p:sp>
        <p:nvSpPr>
          <p:cNvPr id="10" name="Left Brace 7"/>
          <p:cNvSpPr/>
          <p:nvPr/>
        </p:nvSpPr>
        <p:spPr>
          <a:xfrm flipH="1">
            <a:off x="7596346" y="3038753"/>
            <a:ext cx="213818" cy="514649"/>
          </a:xfrm>
          <a:prstGeom prst="leftBrace">
            <a:avLst>
              <a:gd name="adj1" fmla="val 42844"/>
              <a:gd name="adj2" fmla="val 50000"/>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500"/>
          </a:p>
        </p:txBody>
      </p:sp>
      <p:sp>
        <p:nvSpPr>
          <p:cNvPr id="11" name="TextBox 10"/>
          <p:cNvSpPr txBox="1"/>
          <p:nvPr/>
        </p:nvSpPr>
        <p:spPr>
          <a:xfrm>
            <a:off x="7820159" y="3203745"/>
            <a:ext cx="720080" cy="184666"/>
          </a:xfrm>
          <a:prstGeom prst="rect">
            <a:avLst/>
          </a:prstGeom>
          <a:noFill/>
        </p:spPr>
        <p:txBody>
          <a:bodyPr vert="horz" wrap="square" lIns="0" tIns="0" rIns="0" bIns="0" rtlCol="0">
            <a:spAutoFit/>
          </a:bodyPr>
          <a:lstStyle/>
          <a:p>
            <a:r>
              <a:rPr lang="zh-CN" altLang="en-US" sz="1200" dirty="0">
                <a:solidFill>
                  <a:srgbClr val="00B050"/>
                </a:solidFill>
              </a:rPr>
              <a:t>主机代码</a:t>
            </a:r>
            <a:endParaRPr lang="en-US" sz="1200" dirty="0">
              <a:solidFill>
                <a:srgbClr val="00B050"/>
              </a:solidFill>
            </a:endParaRPr>
          </a:p>
        </p:txBody>
      </p:sp>
      <p:sp>
        <p:nvSpPr>
          <p:cNvPr id="12" name="Left Brace 7"/>
          <p:cNvSpPr/>
          <p:nvPr/>
        </p:nvSpPr>
        <p:spPr>
          <a:xfrm flipH="1">
            <a:off x="7586351" y="3635795"/>
            <a:ext cx="213818" cy="639719"/>
          </a:xfrm>
          <a:prstGeom prst="leftBrace">
            <a:avLst>
              <a:gd name="adj1" fmla="val 42844"/>
              <a:gd name="adj2" fmla="val 50000"/>
            </a:avLst>
          </a:prstGeom>
          <a:ln w="28575">
            <a:solidFill>
              <a:srgbClr val="99663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500"/>
          </a:p>
        </p:txBody>
      </p:sp>
      <p:sp>
        <p:nvSpPr>
          <p:cNvPr id="13" name="TextBox 10"/>
          <p:cNvSpPr txBox="1"/>
          <p:nvPr/>
        </p:nvSpPr>
        <p:spPr>
          <a:xfrm>
            <a:off x="7877052" y="3718292"/>
            <a:ext cx="871411" cy="184666"/>
          </a:xfrm>
          <a:prstGeom prst="rect">
            <a:avLst/>
          </a:prstGeom>
          <a:noFill/>
        </p:spPr>
        <p:txBody>
          <a:bodyPr vert="horz" wrap="square" lIns="0" tIns="0" rIns="0" bIns="0" rtlCol="0">
            <a:spAutoFit/>
          </a:bodyPr>
          <a:lstStyle/>
          <a:p>
            <a:r>
              <a:rPr lang="zh-CN" altLang="en-US" sz="1200" dirty="0">
                <a:solidFill>
                  <a:srgbClr val="996633"/>
                </a:solidFill>
              </a:rPr>
              <a:t>加速器代码</a:t>
            </a:r>
            <a:endParaRPr lang="en-US" sz="1200" dirty="0">
              <a:solidFill>
                <a:srgbClr val="996633"/>
              </a:solidFill>
            </a:endParaRPr>
          </a:p>
        </p:txBody>
      </p:sp>
      <p:sp>
        <p:nvSpPr>
          <p:cNvPr id="16" name="Left Brace 7"/>
          <p:cNvSpPr/>
          <p:nvPr/>
        </p:nvSpPr>
        <p:spPr>
          <a:xfrm flipH="1">
            <a:off x="7576356" y="4437112"/>
            <a:ext cx="213818" cy="556451"/>
          </a:xfrm>
          <a:prstGeom prst="leftBrace">
            <a:avLst>
              <a:gd name="adj1" fmla="val 42844"/>
              <a:gd name="adj2" fmla="val 50000"/>
            </a:avLst>
          </a:prstGeom>
          <a:ln w="28575">
            <a:solidFill>
              <a:srgbClr val="00B05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500"/>
          </a:p>
        </p:txBody>
      </p:sp>
      <p:sp>
        <p:nvSpPr>
          <p:cNvPr id="17" name="TextBox 10"/>
          <p:cNvSpPr txBox="1"/>
          <p:nvPr/>
        </p:nvSpPr>
        <p:spPr>
          <a:xfrm>
            <a:off x="7800169" y="4605572"/>
            <a:ext cx="720080" cy="184666"/>
          </a:xfrm>
          <a:prstGeom prst="rect">
            <a:avLst/>
          </a:prstGeom>
          <a:noFill/>
        </p:spPr>
        <p:txBody>
          <a:bodyPr vert="horz" wrap="square" lIns="0" tIns="0" rIns="0" bIns="0" rtlCol="0">
            <a:spAutoFit/>
          </a:bodyPr>
          <a:lstStyle/>
          <a:p>
            <a:r>
              <a:rPr lang="zh-CN" altLang="en-US" sz="1200" dirty="0">
                <a:solidFill>
                  <a:srgbClr val="00B050"/>
                </a:solidFill>
              </a:rPr>
              <a:t>主机代码</a:t>
            </a:r>
            <a:endParaRPr lang="en-US" sz="1200" dirty="0">
              <a:solidFill>
                <a:srgbClr val="00B05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SYCL</a:t>
            </a:r>
            <a:r>
              <a:rPr lang="zh-CN" altLang="en-US" dirty="0"/>
              <a:t>中的类</a:t>
            </a:r>
          </a:p>
        </p:txBody>
      </p:sp>
      <p:sp>
        <p:nvSpPr>
          <p:cNvPr id="3" name="内容占位符 2"/>
          <p:cNvSpPr>
            <a:spLocks noGrp="1"/>
          </p:cNvSpPr>
          <p:nvPr>
            <p:ph idx="1"/>
          </p:nvPr>
        </p:nvSpPr>
        <p:spPr/>
        <p:txBody>
          <a:bodyPr/>
          <a:lstStyle/>
          <a:p>
            <a:r>
              <a:rPr lang="en-US" altLang="zh-CN" sz="2800" dirty="0"/>
              <a:t>Device</a:t>
            </a:r>
          </a:p>
          <a:p>
            <a:r>
              <a:rPr lang="en-US" altLang="zh-CN" sz="2800" b="1" dirty="0"/>
              <a:t>device</a:t>
            </a:r>
            <a:r>
              <a:rPr lang="zh-CN" altLang="en-US" sz="2800" dirty="0"/>
              <a:t>类表示一个</a:t>
            </a:r>
            <a:r>
              <a:rPr lang="en-US" altLang="zh-CN" sz="2800" dirty="0" err="1"/>
              <a:t>oneAPI</a:t>
            </a:r>
            <a:r>
              <a:rPr lang="zh-CN" altLang="en-US" sz="2800" dirty="0"/>
              <a:t>系统中的加速器</a:t>
            </a:r>
            <a:endParaRPr lang="en-US" altLang="zh-CN" sz="2800" dirty="0"/>
          </a:p>
          <a:p>
            <a:r>
              <a:rPr lang="zh-CN" altLang="en-US" sz="2800" dirty="0"/>
              <a:t>它包含</a:t>
            </a:r>
            <a:r>
              <a:rPr lang="zh-CN" altLang="en-US" sz="2800" dirty="0">
                <a:latin typeface="黑体" panose="02010609060101010101" pitchFamily="49" charset="-122"/>
                <a:ea typeface="黑体" panose="02010609060101010101" pitchFamily="49" charset="-122"/>
              </a:rPr>
              <a:t>查询设备相关信息</a:t>
            </a:r>
            <a:r>
              <a:rPr lang="zh-CN" altLang="en-US" sz="2800" dirty="0"/>
              <a:t>的成员函数</a:t>
            </a:r>
            <a:r>
              <a:rPr lang="en-US" altLang="zh-CN" sz="2800" dirty="0" err="1"/>
              <a:t>get_info</a:t>
            </a:r>
            <a:br>
              <a:rPr lang="en-US" altLang="zh-CN" sz="2800" dirty="0"/>
            </a:br>
            <a:r>
              <a:rPr lang="en-US" altLang="zh-CN" sz="2800" dirty="0"/>
              <a:t>——</a:t>
            </a:r>
            <a:r>
              <a:rPr lang="zh-CN" altLang="en-US" sz="2800" dirty="0"/>
              <a:t>编写使用多设备的</a:t>
            </a:r>
            <a:r>
              <a:rPr lang="en-US" altLang="zh-CN" sz="2800" dirty="0"/>
              <a:t>DPC++</a:t>
            </a:r>
            <a:r>
              <a:rPr lang="zh-CN" altLang="en-US" sz="2800" dirty="0"/>
              <a:t>程序时很有用</a:t>
            </a:r>
            <a:endParaRPr lang="en-US" altLang="zh-CN" sz="2800" dirty="0"/>
          </a:p>
          <a:p>
            <a:pPr lvl="1"/>
            <a:r>
              <a:rPr lang="zh-CN" altLang="en-US" sz="2400" dirty="0"/>
              <a:t>设备名、供应商、版本号</a:t>
            </a:r>
            <a:endParaRPr lang="en-US" altLang="zh-CN" sz="2400" dirty="0"/>
          </a:p>
          <a:p>
            <a:pPr lvl="1"/>
            <a:r>
              <a:rPr lang="zh-CN" altLang="en-US" sz="2400" dirty="0"/>
              <a:t>局部和全局工作项的</a:t>
            </a:r>
            <a:r>
              <a:rPr lang="en-US" altLang="zh-CN" sz="2400" dirty="0"/>
              <a:t>ID</a:t>
            </a:r>
          </a:p>
          <a:p>
            <a:pPr lvl="1"/>
            <a:r>
              <a:rPr lang="zh-CN" altLang="en-US" sz="2400" dirty="0"/>
              <a:t>内置类型宽度、时钟频率、</a:t>
            </a:r>
            <a:r>
              <a:rPr lang="en-US" altLang="zh-CN" sz="2400" dirty="0"/>
              <a:t>cache</a:t>
            </a:r>
            <a:r>
              <a:rPr lang="zh-CN" altLang="en-US" sz="2400" dirty="0"/>
              <a:t>大小和宽度、在线和离线状态</a:t>
            </a:r>
            <a:endParaRPr lang="en-US" altLang="zh-CN" sz="2400" dirty="0"/>
          </a:p>
        </p:txBody>
      </p:sp>
      <p:grpSp>
        <p:nvGrpSpPr>
          <p:cNvPr id="10" name="Group 14"/>
          <p:cNvGrpSpPr/>
          <p:nvPr/>
        </p:nvGrpSpPr>
        <p:grpSpPr>
          <a:xfrm>
            <a:off x="621994" y="5085184"/>
            <a:ext cx="8341616" cy="1520686"/>
            <a:chOff x="5242990" y="505096"/>
            <a:chExt cx="5537950" cy="6257626"/>
          </a:xfrm>
        </p:grpSpPr>
        <p:sp>
          <p:nvSpPr>
            <p:cNvPr id="11" name="Rectangle: Single Corner Snipped 15"/>
            <p:cNvSpPr/>
            <p:nvPr/>
          </p:nvSpPr>
          <p:spPr>
            <a:xfrm>
              <a:off x="5242990" y="505096"/>
              <a:ext cx="5537950"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2" name="TextBox 16"/>
            <p:cNvSpPr txBox="1"/>
            <p:nvPr/>
          </p:nvSpPr>
          <p:spPr>
            <a:xfrm>
              <a:off x="5390905" y="611431"/>
              <a:ext cx="5390034" cy="230136"/>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3" name="Rectangle 17"/>
          <p:cNvSpPr/>
          <p:nvPr/>
        </p:nvSpPr>
        <p:spPr>
          <a:xfrm>
            <a:off x="661370" y="5247774"/>
            <a:ext cx="8170747" cy="1277273"/>
          </a:xfrm>
          <a:prstGeom prst="rect">
            <a:avLst/>
          </a:prstGeom>
        </p:spPr>
        <p:txBody>
          <a:bodyPr wrap="square">
            <a:spAutoFit/>
          </a:bodyPr>
          <a:lstStyle/>
          <a:p>
            <a:pPr defTabSz="1219200" eaLnBrk="1" fontAlgn="auto">
              <a:lnSpc>
                <a:spcPct val="150000"/>
              </a:lnSpc>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queue q;</a:t>
            </a:r>
          </a:p>
          <a:p>
            <a:pPr defTabSz="1219200" eaLnBrk="1" fontAlgn="auto">
              <a:lnSpc>
                <a:spcPct val="150000"/>
              </a:lnSpc>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device </a:t>
            </a:r>
            <a:r>
              <a:rPr kumimoji="0" lang="en-US" sz="1400" kern="0" dirty="0" err="1">
                <a:solidFill>
                  <a:srgbClr val="000000"/>
                </a:solidFill>
                <a:latin typeface="Consolas" panose="020B0609020204030204" pitchFamily="49" charset="0"/>
                <a:sym typeface="Helvetica Neue" panose="02000503000000020004"/>
              </a:rPr>
              <a:t>my_device</a:t>
            </a:r>
            <a:r>
              <a:rPr kumimoji="0" lang="en-US" sz="1400" kern="0" dirty="0">
                <a:solidFill>
                  <a:srgbClr val="000000"/>
                </a:solidFill>
                <a:latin typeface="Consolas" panose="020B0609020204030204" pitchFamily="49" charset="0"/>
                <a:sym typeface="Helvetica Neue" panose="02000503000000020004"/>
              </a:rPr>
              <a:t> = </a:t>
            </a:r>
            <a:r>
              <a:rPr kumimoji="0" lang="en-US" sz="1400" kern="0" dirty="0">
                <a:solidFill>
                  <a:srgbClr val="001080"/>
                </a:solidFill>
                <a:latin typeface="Consolas" panose="020B0609020204030204" pitchFamily="49" charset="0"/>
                <a:sym typeface="Helvetica Neue" panose="02000503000000020004"/>
              </a:rPr>
              <a:t>q</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795E26"/>
                </a:solidFill>
                <a:latin typeface="Consolas" panose="020B0609020204030204" pitchFamily="49" charset="0"/>
                <a:sym typeface="Helvetica Neue" panose="02000503000000020004"/>
              </a:rPr>
              <a:t>get_device</a:t>
            </a:r>
            <a:r>
              <a:rPr kumimoji="0" lang="en-US" sz="1400" kern="0" dirty="0">
                <a:solidFill>
                  <a:srgbClr val="000000"/>
                </a:solidFill>
                <a:latin typeface="Consolas" panose="020B0609020204030204" pitchFamily="49" charset="0"/>
                <a:sym typeface="Helvetica Neue" panose="02000503000000020004"/>
              </a:rPr>
              <a:t>();</a:t>
            </a:r>
          </a:p>
          <a:p>
            <a:pPr defTabSz="1219200" eaLnBrk="1" fontAlgn="auto">
              <a:lnSpc>
                <a:spcPct val="150000"/>
              </a:lnSpc>
              <a:spcBef>
                <a:spcPts val="0"/>
              </a:spcBef>
              <a:spcAft>
                <a:spcPts val="0"/>
              </a:spcAft>
            </a:pPr>
            <a:r>
              <a:rPr kumimoji="0" lang="en-US" sz="1400" kern="0" dirty="0">
                <a:solidFill>
                  <a:srgbClr val="267F99"/>
                </a:solidFill>
                <a:latin typeface="Consolas" panose="020B0609020204030204" pitchFamily="49" charset="0"/>
                <a:sym typeface="Helvetica Neue" panose="02000503000000020004"/>
              </a:rPr>
              <a:t>std</a:t>
            </a:r>
            <a:r>
              <a:rPr kumimoji="0" lang="en-US" sz="1400" kern="0" dirty="0">
                <a:solidFill>
                  <a:srgbClr val="000000"/>
                </a:solidFill>
                <a:latin typeface="Consolas" panose="020B0609020204030204" pitchFamily="49" charset="0"/>
                <a:sym typeface="Helvetica Neue" panose="02000503000000020004"/>
              </a:rPr>
              <a:t>::cout &lt;&lt; </a:t>
            </a:r>
            <a:r>
              <a:rPr kumimoji="0" lang="en-US" sz="1400" kern="0" dirty="0">
                <a:solidFill>
                  <a:srgbClr val="A31515"/>
                </a:solidFill>
                <a:latin typeface="Consolas" panose="020B0609020204030204" pitchFamily="49" charset="0"/>
                <a:sym typeface="Helvetica Neue" panose="02000503000000020004"/>
              </a:rPr>
              <a:t>"Device: "</a:t>
            </a:r>
            <a:r>
              <a:rPr kumimoji="0" lang="en-US" sz="1400" kern="0" dirty="0">
                <a:solidFill>
                  <a:srgbClr val="000000"/>
                </a:solidFill>
                <a:latin typeface="Consolas" panose="020B0609020204030204" pitchFamily="49" charset="0"/>
                <a:sym typeface="Helvetica Neue" panose="02000503000000020004"/>
              </a:rPr>
              <a:t> &lt;&lt; </a:t>
            </a:r>
            <a:r>
              <a:rPr kumimoji="0" lang="en-US" sz="1400" kern="0" dirty="0">
                <a:solidFill>
                  <a:srgbClr val="001080"/>
                </a:solidFill>
                <a:latin typeface="Consolas" panose="020B0609020204030204" pitchFamily="49" charset="0"/>
                <a:sym typeface="Helvetica Neue" panose="02000503000000020004"/>
              </a:rPr>
              <a:t>my_device</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001080"/>
                </a:solidFill>
                <a:latin typeface="Consolas" panose="020B0609020204030204" pitchFamily="49" charset="0"/>
                <a:sym typeface="Helvetica Neue" panose="02000503000000020004"/>
              </a:rPr>
              <a:t>get_info</a:t>
            </a:r>
            <a:r>
              <a:rPr kumimoji="0" lang="en-US" sz="1400" kern="0" dirty="0">
                <a:solidFill>
                  <a:srgbClr val="000000"/>
                </a:solidFill>
                <a:latin typeface="Consolas" panose="020B0609020204030204" pitchFamily="49" charset="0"/>
                <a:sym typeface="Helvetica Neue" panose="02000503000000020004"/>
              </a:rPr>
              <a:t>&lt;</a:t>
            </a:r>
            <a:r>
              <a:rPr kumimoji="0" lang="en-US" sz="1400" kern="0" dirty="0">
                <a:solidFill>
                  <a:srgbClr val="267F99"/>
                </a:solidFill>
                <a:latin typeface="Consolas" panose="020B0609020204030204" pitchFamily="49" charset="0"/>
                <a:sym typeface="Helvetica Neue" panose="02000503000000020004"/>
              </a:rPr>
              <a:t>info</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267F99"/>
                </a:solidFill>
                <a:latin typeface="Consolas" panose="020B0609020204030204" pitchFamily="49" charset="0"/>
                <a:sym typeface="Helvetica Neue" panose="02000503000000020004"/>
              </a:rPr>
              <a:t>device</a:t>
            </a:r>
            <a:r>
              <a:rPr kumimoji="0" lang="en-US" sz="1400" kern="0" dirty="0">
                <a:solidFill>
                  <a:srgbClr val="000000"/>
                </a:solidFill>
                <a:latin typeface="Consolas" panose="020B0609020204030204" pitchFamily="49" charset="0"/>
                <a:sym typeface="Helvetica Neue" panose="02000503000000020004"/>
              </a:rPr>
              <a:t>::name&gt;() &lt;&lt; </a:t>
            </a:r>
            <a:r>
              <a:rPr kumimoji="0" lang="en-US" sz="1400" kern="0" dirty="0">
                <a:solidFill>
                  <a:srgbClr val="267F99"/>
                </a:solidFill>
                <a:latin typeface="Consolas" panose="020B0609020204030204" pitchFamily="49" charset="0"/>
                <a:sym typeface="Helvetica Neue" panose="02000503000000020004"/>
              </a:rPr>
              <a:t>std</a:t>
            </a:r>
            <a:r>
              <a:rPr kumimoji="0" lang="en-US" sz="1400" kern="0" dirty="0">
                <a:solidFill>
                  <a:srgbClr val="000000"/>
                </a:solidFill>
                <a:latin typeface="Consolas" panose="020B0609020204030204" pitchFamily="49" charset="0"/>
                <a:sym typeface="Helvetica Neue" panose="02000503000000020004"/>
              </a:rPr>
              <a:t>::endl;</a:t>
            </a:r>
          </a:p>
          <a:p>
            <a:pPr defTabSz="1219200" eaLnBrk="1" fontAlgn="auto">
              <a:lnSpc>
                <a:spcPct val="90000"/>
              </a:lnSpc>
              <a:spcBef>
                <a:spcPts val="0"/>
              </a:spcBef>
              <a:spcAft>
                <a:spcPts val="0"/>
              </a:spcAft>
            </a:pPr>
            <a:endParaRPr kumimoji="0" lang="en-US" sz="1400" kern="0" dirty="0">
              <a:solidFill>
                <a:srgbClr val="000000"/>
              </a:solidFill>
              <a:latin typeface="Intel Clear"/>
              <a:sym typeface="Helvetica Neue" panose="02000503000000020004"/>
            </a:endParaRPr>
          </a:p>
        </p:txBody>
      </p:sp>
      <p:sp>
        <p:nvSpPr>
          <p:cNvPr id="14" name="Rectangle: Rounded Corners 18"/>
          <p:cNvSpPr/>
          <p:nvPr/>
        </p:nvSpPr>
        <p:spPr>
          <a:xfrm>
            <a:off x="2563807" y="5691392"/>
            <a:ext cx="1643810" cy="22166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15" name="Rectangle: Rounded Corners 19"/>
          <p:cNvSpPr/>
          <p:nvPr/>
        </p:nvSpPr>
        <p:spPr>
          <a:xfrm>
            <a:off x="3337585" y="5996747"/>
            <a:ext cx="5402655" cy="28151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rPr>
              <a:t>Device Selector</a:t>
            </a:r>
            <a:endParaRPr lang="zh-CN" altLang="en-US" dirty="0"/>
          </a:p>
        </p:txBody>
      </p:sp>
      <p:sp>
        <p:nvSpPr>
          <p:cNvPr id="3" name="内容占位符 2"/>
          <p:cNvSpPr>
            <a:spLocks noGrp="1"/>
          </p:cNvSpPr>
          <p:nvPr>
            <p:ph idx="1"/>
          </p:nvPr>
        </p:nvSpPr>
        <p:spPr/>
        <p:txBody>
          <a:bodyPr/>
          <a:lstStyle/>
          <a:p>
            <a:r>
              <a:rPr lang="en-US" altLang="zh-CN" sz="2800" b="1" dirty="0" err="1"/>
              <a:t>device_selector</a:t>
            </a:r>
            <a:r>
              <a:rPr lang="zh-CN" altLang="en-US" sz="2800" dirty="0"/>
              <a:t>类在运行时基于用户提供的启发式策略选择执行</a:t>
            </a:r>
            <a:r>
              <a:rPr lang="en-US" altLang="zh-CN" sz="2800" dirty="0"/>
              <a:t>kernel</a:t>
            </a:r>
            <a:r>
              <a:rPr lang="zh-CN" altLang="en-US" sz="2800" dirty="0"/>
              <a:t>的特定设备</a:t>
            </a:r>
            <a:endParaRPr lang="en-US" altLang="zh-CN" sz="2800" dirty="0"/>
          </a:p>
          <a:p>
            <a:r>
              <a:rPr lang="zh-CN" altLang="en-US" sz="2800" dirty="0"/>
              <a:t>下面代码展示了使用标准设备选择器（</a:t>
            </a:r>
            <a:r>
              <a:rPr lang="en-US" altLang="zh-CN" sz="2800" dirty="0" err="1"/>
              <a:t>default_selector</a:t>
            </a:r>
            <a:r>
              <a:rPr lang="zh-CN" altLang="en-US" sz="2800" dirty="0"/>
              <a:t>、</a:t>
            </a:r>
            <a:r>
              <a:rPr lang="en-US" altLang="zh-CN" sz="2800" dirty="0" err="1"/>
              <a:t>cpu_selector</a:t>
            </a:r>
            <a:r>
              <a:rPr lang="zh-CN" altLang="en-US" sz="2800" dirty="0"/>
              <a:t>、</a:t>
            </a:r>
            <a:r>
              <a:rPr lang="en-US" altLang="zh-CN" sz="2800" dirty="0"/>
              <a:t> </a:t>
            </a:r>
            <a:r>
              <a:rPr lang="en-US" altLang="zh-CN" sz="2800" dirty="0" err="1"/>
              <a:t>gpu_selector</a:t>
            </a:r>
            <a:r>
              <a:rPr lang="zh-CN" altLang="en-US" sz="2800" dirty="0"/>
              <a:t>）</a:t>
            </a:r>
          </a:p>
        </p:txBody>
      </p:sp>
      <p:grpSp>
        <p:nvGrpSpPr>
          <p:cNvPr id="12" name="Group 9"/>
          <p:cNvGrpSpPr/>
          <p:nvPr/>
        </p:nvGrpSpPr>
        <p:grpSpPr>
          <a:xfrm>
            <a:off x="313914" y="3778175"/>
            <a:ext cx="8516171" cy="1883073"/>
            <a:chOff x="5242990" y="505096"/>
            <a:chExt cx="5621213" cy="6257626"/>
          </a:xfrm>
        </p:grpSpPr>
        <p:sp>
          <p:nvSpPr>
            <p:cNvPr id="14" name="Rectangle: Single Corner Snipped 10"/>
            <p:cNvSpPr/>
            <p:nvPr/>
          </p:nvSpPr>
          <p:spPr>
            <a:xfrm>
              <a:off x="5242990"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5" name="TextBox 11"/>
            <p:cNvSpPr txBox="1"/>
            <p:nvPr/>
          </p:nvSpPr>
          <p:spPr>
            <a:xfrm>
              <a:off x="5390906" y="611429"/>
              <a:ext cx="5473297" cy="298260"/>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90000"/>
                </a:lnSpc>
                <a:spcBef>
                  <a:spcPts val="225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3" name="Rectangle 12"/>
          <p:cNvSpPr/>
          <p:nvPr/>
        </p:nvSpPr>
        <p:spPr>
          <a:xfrm>
            <a:off x="674427" y="3842385"/>
            <a:ext cx="8357152" cy="1724639"/>
          </a:xfrm>
          <a:prstGeom prst="rect">
            <a:avLst/>
          </a:prstGeom>
        </p:spPr>
        <p:txBody>
          <a:bodyPr wrap="square">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a:lnSpc>
                <a:spcPct val="150000"/>
              </a:lnSpc>
              <a:spcBef>
                <a:spcPts val="0"/>
              </a:spcBef>
            </a:pPr>
            <a:r>
              <a:rPr lang="en-US" sz="1200" dirty="0" err="1">
                <a:solidFill>
                  <a:srgbClr val="000000"/>
                </a:solidFill>
                <a:latin typeface="Consolas" panose="020B0609020204030204" pitchFamily="49" charset="0"/>
              </a:rPr>
              <a:t>default_selector</a:t>
            </a:r>
            <a:r>
              <a:rPr lang="en-US" sz="1200" dirty="0">
                <a:solidFill>
                  <a:srgbClr val="000000"/>
                </a:solidFill>
                <a:latin typeface="Consolas" panose="020B0609020204030204" pitchFamily="49" charset="0"/>
              </a:rPr>
              <a:t> selector;</a:t>
            </a:r>
          </a:p>
          <a:p>
            <a:pPr>
              <a:lnSpc>
                <a:spcPct val="150000"/>
              </a:lnSpc>
              <a:spcBef>
                <a:spcPts val="0"/>
              </a:spcBef>
            </a:pPr>
            <a:r>
              <a:rPr lang="en-US" sz="1200" dirty="0">
                <a:solidFill>
                  <a:srgbClr val="008000"/>
                </a:solidFill>
                <a:latin typeface="Consolas" panose="020B0609020204030204" pitchFamily="49" charset="0"/>
              </a:rPr>
              <a:t>// </a:t>
            </a:r>
            <a:r>
              <a:rPr lang="en-US" sz="1200" dirty="0" err="1">
                <a:solidFill>
                  <a:srgbClr val="008000"/>
                </a:solidFill>
                <a:latin typeface="Consolas" panose="020B0609020204030204" pitchFamily="49" charset="0"/>
              </a:rPr>
              <a:t>host_selector</a:t>
            </a:r>
            <a:r>
              <a:rPr lang="en-US" sz="1200" dirty="0">
                <a:solidFill>
                  <a:srgbClr val="008000"/>
                </a:solidFill>
                <a:latin typeface="Consolas" panose="020B0609020204030204" pitchFamily="49" charset="0"/>
              </a:rPr>
              <a:t> selector;</a:t>
            </a:r>
            <a:endParaRPr lang="en-US" sz="1200" dirty="0">
              <a:solidFill>
                <a:srgbClr val="000000"/>
              </a:solidFill>
              <a:latin typeface="Consolas" panose="020B0609020204030204" pitchFamily="49" charset="0"/>
            </a:endParaRPr>
          </a:p>
          <a:p>
            <a:pPr>
              <a:lnSpc>
                <a:spcPct val="150000"/>
              </a:lnSpc>
              <a:spcBef>
                <a:spcPts val="0"/>
              </a:spcBef>
            </a:pPr>
            <a:r>
              <a:rPr lang="en-US" sz="1200" dirty="0">
                <a:solidFill>
                  <a:srgbClr val="008000"/>
                </a:solidFill>
                <a:latin typeface="Consolas" panose="020B0609020204030204" pitchFamily="49" charset="0"/>
              </a:rPr>
              <a:t>// </a:t>
            </a:r>
            <a:r>
              <a:rPr lang="en-US" sz="1200" dirty="0" err="1">
                <a:solidFill>
                  <a:srgbClr val="008000"/>
                </a:solidFill>
                <a:latin typeface="Consolas" panose="020B0609020204030204" pitchFamily="49" charset="0"/>
              </a:rPr>
              <a:t>cpu_selector</a:t>
            </a:r>
            <a:r>
              <a:rPr lang="en-US" sz="1200" dirty="0">
                <a:solidFill>
                  <a:srgbClr val="008000"/>
                </a:solidFill>
                <a:latin typeface="Consolas" panose="020B0609020204030204" pitchFamily="49" charset="0"/>
              </a:rPr>
              <a:t> selector;</a:t>
            </a:r>
            <a:endParaRPr lang="en-US" sz="1200" dirty="0">
              <a:solidFill>
                <a:srgbClr val="000000"/>
              </a:solidFill>
              <a:latin typeface="Consolas" panose="020B0609020204030204" pitchFamily="49" charset="0"/>
            </a:endParaRPr>
          </a:p>
          <a:p>
            <a:pPr>
              <a:lnSpc>
                <a:spcPct val="150000"/>
              </a:lnSpc>
              <a:spcBef>
                <a:spcPts val="0"/>
              </a:spcBef>
            </a:pPr>
            <a:r>
              <a:rPr lang="en-US" sz="1200" dirty="0">
                <a:solidFill>
                  <a:srgbClr val="008000"/>
                </a:solidFill>
                <a:latin typeface="Consolas" panose="020B0609020204030204" pitchFamily="49" charset="0"/>
              </a:rPr>
              <a:t>// </a:t>
            </a:r>
            <a:r>
              <a:rPr lang="en-US" sz="1200" dirty="0" err="1">
                <a:solidFill>
                  <a:srgbClr val="008000"/>
                </a:solidFill>
                <a:latin typeface="Consolas" panose="020B0609020204030204" pitchFamily="49" charset="0"/>
              </a:rPr>
              <a:t>gpu_selector</a:t>
            </a:r>
            <a:r>
              <a:rPr lang="en-US" sz="1200" dirty="0">
                <a:solidFill>
                  <a:srgbClr val="008000"/>
                </a:solidFill>
                <a:latin typeface="Consolas" panose="020B0609020204030204" pitchFamily="49" charset="0"/>
              </a:rPr>
              <a:t> selector;</a:t>
            </a:r>
            <a:endParaRPr lang="en-US" sz="1200" dirty="0">
              <a:solidFill>
                <a:srgbClr val="000000"/>
              </a:solidFill>
              <a:latin typeface="Consolas" panose="020B0609020204030204" pitchFamily="49" charset="0"/>
            </a:endParaRPr>
          </a:p>
          <a:p>
            <a:pPr>
              <a:lnSpc>
                <a:spcPct val="150000"/>
              </a:lnSpc>
              <a:spcBef>
                <a:spcPts val="0"/>
              </a:spcBef>
            </a:pPr>
            <a:r>
              <a:rPr lang="en-US" sz="1200" dirty="0">
                <a:solidFill>
                  <a:srgbClr val="267F99"/>
                </a:solidFill>
                <a:latin typeface="Consolas" panose="020B0609020204030204" pitchFamily="49" charset="0"/>
              </a:rPr>
              <a:t>queue</a:t>
            </a:r>
            <a:r>
              <a:rPr lang="en-US" sz="1200" dirty="0">
                <a:solidFill>
                  <a:srgbClr val="000000"/>
                </a:solidFill>
                <a:latin typeface="Consolas" panose="020B0609020204030204" pitchFamily="49" charset="0"/>
              </a:rPr>
              <a:t> </a:t>
            </a:r>
            <a:r>
              <a:rPr lang="en-US" sz="1200" dirty="0">
                <a:solidFill>
                  <a:srgbClr val="795E26"/>
                </a:solidFill>
                <a:latin typeface="Consolas" panose="020B0609020204030204" pitchFamily="49" charset="0"/>
              </a:rPr>
              <a:t>q</a:t>
            </a:r>
            <a:r>
              <a:rPr lang="en-US" sz="1200" dirty="0">
                <a:solidFill>
                  <a:srgbClr val="000000"/>
                </a:solidFill>
                <a:latin typeface="Consolas" panose="020B0609020204030204" pitchFamily="49" charset="0"/>
              </a:rPr>
              <a:t>(</a:t>
            </a:r>
            <a:r>
              <a:rPr lang="en-US" sz="1200" dirty="0">
                <a:solidFill>
                  <a:srgbClr val="267F99"/>
                </a:solidFill>
                <a:latin typeface="Consolas" panose="020B0609020204030204" pitchFamily="49" charset="0"/>
              </a:rPr>
              <a:t>selector</a:t>
            </a:r>
            <a:r>
              <a:rPr lang="en-US" sz="1200" dirty="0">
                <a:solidFill>
                  <a:srgbClr val="000000"/>
                </a:solidFill>
                <a:latin typeface="Consolas" panose="020B0609020204030204" pitchFamily="49" charset="0"/>
              </a:rPr>
              <a:t>);</a:t>
            </a:r>
          </a:p>
          <a:p>
            <a:pPr>
              <a:lnSpc>
                <a:spcPct val="150000"/>
              </a:lnSpc>
              <a:spcBef>
                <a:spcPts val="0"/>
              </a:spcBef>
            </a:pPr>
            <a:r>
              <a:rPr lang="en-US" sz="1200" dirty="0">
                <a:solidFill>
                  <a:srgbClr val="267F99"/>
                </a:solidFill>
                <a:latin typeface="Consolas" panose="020B0609020204030204" pitchFamily="49" charset="0"/>
              </a:rPr>
              <a:t>std</a:t>
            </a:r>
            <a:r>
              <a:rPr lang="en-US" sz="1200" dirty="0">
                <a:solidFill>
                  <a:srgbClr val="000000"/>
                </a:solidFill>
                <a:latin typeface="Consolas" panose="020B0609020204030204" pitchFamily="49" charset="0"/>
              </a:rPr>
              <a:t>::cout &lt;&lt; </a:t>
            </a:r>
            <a:r>
              <a:rPr lang="en-US" sz="1200" dirty="0">
                <a:solidFill>
                  <a:srgbClr val="A31515"/>
                </a:solidFill>
                <a:latin typeface="Consolas" panose="020B0609020204030204" pitchFamily="49" charset="0"/>
              </a:rPr>
              <a:t>"Device: "</a:t>
            </a:r>
            <a:r>
              <a:rPr lang="en-US" sz="1200" dirty="0">
                <a:solidFill>
                  <a:srgbClr val="000000"/>
                </a:solidFill>
                <a:latin typeface="Consolas" panose="020B0609020204030204" pitchFamily="49" charset="0"/>
              </a:rPr>
              <a:t> &lt;&lt; </a:t>
            </a:r>
            <a:r>
              <a:rPr lang="en-US" sz="1200" dirty="0">
                <a:solidFill>
                  <a:srgbClr val="001080"/>
                </a:solidFill>
                <a:latin typeface="Consolas" panose="020B0609020204030204" pitchFamily="49" charset="0"/>
              </a:rPr>
              <a:t>q</a:t>
            </a:r>
            <a:r>
              <a:rPr lang="en-US" sz="1200" dirty="0">
                <a:solidFill>
                  <a:srgbClr val="000000"/>
                </a:solidFill>
                <a:latin typeface="Consolas" panose="020B0609020204030204" pitchFamily="49" charset="0"/>
              </a:rPr>
              <a:t>.</a:t>
            </a:r>
            <a:r>
              <a:rPr lang="en-US" sz="1200" dirty="0">
                <a:solidFill>
                  <a:srgbClr val="795E26"/>
                </a:solidFill>
                <a:latin typeface="Consolas" panose="020B0609020204030204" pitchFamily="49" charset="0"/>
              </a:rPr>
              <a:t>get_device</a:t>
            </a:r>
            <a:r>
              <a:rPr lang="en-US" sz="1200" dirty="0">
                <a:solidFill>
                  <a:srgbClr val="000000"/>
                </a:solidFill>
                <a:latin typeface="Consolas" panose="020B0609020204030204" pitchFamily="49" charset="0"/>
              </a:rPr>
              <a:t>().</a:t>
            </a:r>
            <a:r>
              <a:rPr lang="en-US" sz="1200" dirty="0">
                <a:solidFill>
                  <a:srgbClr val="001080"/>
                </a:solidFill>
                <a:latin typeface="Consolas" panose="020B0609020204030204" pitchFamily="49" charset="0"/>
              </a:rPr>
              <a:t>get_info</a:t>
            </a:r>
            <a:r>
              <a:rPr lang="en-US" sz="1200" dirty="0">
                <a:solidFill>
                  <a:srgbClr val="000000"/>
                </a:solidFill>
                <a:latin typeface="Consolas" panose="020B0609020204030204" pitchFamily="49" charset="0"/>
              </a:rPr>
              <a:t>&lt;</a:t>
            </a:r>
            <a:r>
              <a:rPr lang="en-US" sz="1200" dirty="0">
                <a:solidFill>
                  <a:srgbClr val="267F99"/>
                </a:solidFill>
                <a:latin typeface="Consolas" panose="020B0609020204030204" pitchFamily="49" charset="0"/>
              </a:rPr>
              <a:t>info</a:t>
            </a:r>
            <a:r>
              <a:rPr lang="en-US" sz="1200" dirty="0">
                <a:solidFill>
                  <a:srgbClr val="000000"/>
                </a:solidFill>
                <a:latin typeface="Consolas" panose="020B0609020204030204" pitchFamily="49" charset="0"/>
              </a:rPr>
              <a:t>::</a:t>
            </a:r>
            <a:r>
              <a:rPr lang="en-US" sz="1200" dirty="0">
                <a:solidFill>
                  <a:srgbClr val="267F99"/>
                </a:solidFill>
                <a:latin typeface="Consolas" panose="020B0609020204030204" pitchFamily="49" charset="0"/>
              </a:rPr>
              <a:t>device</a:t>
            </a:r>
            <a:r>
              <a:rPr lang="en-US" sz="1200" dirty="0">
                <a:solidFill>
                  <a:srgbClr val="000000"/>
                </a:solidFill>
                <a:latin typeface="Consolas" panose="020B0609020204030204" pitchFamily="49" charset="0"/>
              </a:rPr>
              <a:t>::name&gt;() &lt;&lt; </a:t>
            </a:r>
            <a:r>
              <a:rPr lang="en-US" sz="1200" dirty="0">
                <a:solidFill>
                  <a:srgbClr val="267F99"/>
                </a:solidFill>
                <a:latin typeface="Consolas" panose="020B0609020204030204" pitchFamily="49" charset="0"/>
              </a:rPr>
              <a:t>std</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p:txBody>
      </p:sp>
      <p:sp>
        <p:nvSpPr>
          <p:cNvPr id="9" name="文本框 8">
            <a:extLst>
              <a:ext uri="{FF2B5EF4-FFF2-40B4-BE49-F238E27FC236}">
                <a16:creationId xmlns:a16="http://schemas.microsoft.com/office/drawing/2014/main" id="{BBF8EFAD-1A94-4710-8396-436C63341689}"/>
              </a:ext>
            </a:extLst>
          </p:cNvPr>
          <p:cNvSpPr txBox="1"/>
          <p:nvPr/>
        </p:nvSpPr>
        <p:spPr>
          <a:xfrm>
            <a:off x="1150938" y="5786735"/>
            <a:ext cx="7381502" cy="338554"/>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可设置环境变量</a:t>
            </a:r>
            <a:r>
              <a:rPr lang="en-US" altLang="zh-CN" sz="1600" dirty="0">
                <a:solidFill>
                  <a:srgbClr val="FF0000"/>
                </a:solidFill>
                <a:latin typeface="微软雅黑" panose="020B0503020204020204" pitchFamily="34" charset="-122"/>
                <a:ea typeface="微软雅黑" panose="020B0503020204020204" pitchFamily="34" charset="-122"/>
              </a:rPr>
              <a:t>SYCL_DEVICE_FILTER</a:t>
            </a:r>
            <a:r>
              <a:rPr lang="zh-CN" altLang="en-US" sz="1600" dirty="0">
                <a:solidFill>
                  <a:srgbClr val="FF0000"/>
                </a:solidFill>
                <a:latin typeface="微软雅黑" panose="020B0503020204020204" pitchFamily="34" charset="-122"/>
                <a:ea typeface="微软雅黑" panose="020B0503020204020204" pitchFamily="34" charset="-122"/>
              </a:rPr>
              <a:t>（“</a:t>
            </a:r>
            <a:r>
              <a:rPr lang="en-US" altLang="zh-CN" sz="1600" dirty="0">
                <a:solidFill>
                  <a:srgbClr val="FF0000"/>
                </a:solidFill>
                <a:latin typeface="微软雅黑" panose="020B0503020204020204" pitchFamily="34" charset="-122"/>
                <a:ea typeface="微软雅黑" panose="020B0503020204020204" pitchFamily="34" charset="-122"/>
              </a:rPr>
              <a:t>CPU</a:t>
            </a:r>
            <a:r>
              <a:rPr lang="zh-CN" altLang="en-US" sz="1600" dirty="0">
                <a:solidFill>
                  <a:srgbClr val="FF0000"/>
                </a:solidFill>
                <a:latin typeface="微软雅黑" panose="020B0503020204020204" pitchFamily="34" charset="-122"/>
                <a:ea typeface="微软雅黑" panose="020B0503020204020204" pitchFamily="34" charset="-122"/>
              </a:rPr>
              <a:t>”、“</a:t>
            </a:r>
            <a:r>
              <a:rPr lang="en-US" altLang="zh-CN" sz="1600" dirty="0">
                <a:solidFill>
                  <a:srgbClr val="FF0000"/>
                </a:solidFill>
                <a:latin typeface="微软雅黑" panose="020B0503020204020204" pitchFamily="34" charset="-122"/>
                <a:ea typeface="微软雅黑" panose="020B0503020204020204" pitchFamily="34" charset="-122"/>
              </a:rPr>
              <a:t>GPU</a:t>
            </a:r>
            <a:r>
              <a:rPr lang="zh-CN" altLang="en-US" sz="1600" dirty="0">
                <a:solidFill>
                  <a:srgbClr val="FF0000"/>
                </a:solidFill>
                <a:latin typeface="微软雅黑" panose="020B0503020204020204" pitchFamily="34" charset="-122"/>
                <a:ea typeface="微软雅黑" panose="020B0503020204020204" pitchFamily="34" charset="-122"/>
              </a:rPr>
              <a:t>”）来指定计算设备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lt"/>
              </a:rPr>
              <a:t>Queue</a:t>
            </a:r>
            <a:endParaRPr lang="zh-CN" altLang="en-US" dirty="0"/>
          </a:p>
        </p:txBody>
      </p:sp>
      <p:sp>
        <p:nvSpPr>
          <p:cNvPr id="3" name="内容占位符 2"/>
          <p:cNvSpPr>
            <a:spLocks noGrp="1"/>
          </p:cNvSpPr>
          <p:nvPr>
            <p:ph idx="1"/>
          </p:nvPr>
        </p:nvSpPr>
        <p:spPr/>
        <p:txBody>
          <a:bodyPr/>
          <a:lstStyle/>
          <a:p>
            <a:r>
              <a:rPr lang="en-US" altLang="zh-CN" sz="2800" dirty="0"/>
              <a:t>queue</a:t>
            </a:r>
            <a:r>
              <a:rPr lang="zh-CN" altLang="en-US" sz="2800" dirty="0"/>
              <a:t>类</a:t>
            </a:r>
            <a:r>
              <a:rPr lang="zh-CN" altLang="en-US" sz="2800" dirty="0">
                <a:latin typeface="黑体" panose="02010609060101010101" pitchFamily="49" charset="-122"/>
                <a:ea typeface="黑体" panose="02010609060101010101" pitchFamily="49" charset="-122"/>
              </a:rPr>
              <a:t>提交命令组</a:t>
            </a:r>
            <a:r>
              <a:rPr lang="zh-CN" altLang="en-US" sz="2800" dirty="0"/>
              <a:t>，由</a:t>
            </a:r>
            <a:r>
              <a:rPr lang="en-US" altLang="zh-CN" sz="2800" dirty="0"/>
              <a:t>SYCL</a:t>
            </a:r>
            <a:r>
              <a:rPr lang="zh-CN" altLang="en-US" sz="2800" dirty="0"/>
              <a:t>运行时去执行</a:t>
            </a:r>
            <a:endParaRPr lang="en-US" altLang="zh-CN" sz="2800" dirty="0"/>
          </a:p>
          <a:p>
            <a:r>
              <a:rPr lang="zh-CN" altLang="en-US" sz="2800" dirty="0"/>
              <a:t>队列是一种向设备提交任务的机制</a:t>
            </a:r>
            <a:endParaRPr lang="en-US" altLang="zh-CN" sz="2800" dirty="0"/>
          </a:p>
          <a:p>
            <a:r>
              <a:rPr lang="zh-CN" altLang="en-US" sz="2800" dirty="0"/>
              <a:t>一个队列映射到一个设备，多个队列可映射到同一个设备</a:t>
            </a:r>
          </a:p>
        </p:txBody>
      </p:sp>
      <p:grpSp>
        <p:nvGrpSpPr>
          <p:cNvPr id="9" name="Group 7"/>
          <p:cNvGrpSpPr/>
          <p:nvPr/>
        </p:nvGrpSpPr>
        <p:grpSpPr>
          <a:xfrm>
            <a:off x="344978" y="3701564"/>
            <a:ext cx="8454044" cy="2396181"/>
            <a:chOff x="5242990" y="505096"/>
            <a:chExt cx="5621213" cy="6257626"/>
          </a:xfrm>
        </p:grpSpPr>
        <p:sp>
          <p:nvSpPr>
            <p:cNvPr id="10" name="Rectangle: Single Corner Snipped 8"/>
            <p:cNvSpPr/>
            <p:nvPr/>
          </p:nvSpPr>
          <p:spPr>
            <a:xfrm>
              <a:off x="5242990"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1" name="TextBox 13"/>
            <p:cNvSpPr txBox="1"/>
            <p:nvPr/>
          </p:nvSpPr>
          <p:spPr>
            <a:xfrm>
              <a:off x="5390906" y="611429"/>
              <a:ext cx="5473297" cy="298260"/>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225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2" name="Rectangle 14"/>
          <p:cNvSpPr/>
          <p:nvPr/>
        </p:nvSpPr>
        <p:spPr>
          <a:xfrm>
            <a:off x="889756" y="3767462"/>
            <a:ext cx="6866283" cy="2154436"/>
          </a:xfrm>
          <a:prstGeom prst="rect">
            <a:avLst/>
          </a:prstGeom>
        </p:spPr>
        <p:txBody>
          <a:bodyPr wrap="square">
            <a:spAutoFit/>
          </a:bodyPr>
          <a:lstStyle/>
          <a:p>
            <a:pPr defTabSz="1219200" eaLnBrk="1" fontAlgn="auto">
              <a:lnSpc>
                <a:spcPct val="150000"/>
              </a:lnSpc>
              <a:spcBef>
                <a:spcPts val="0"/>
              </a:spcBef>
              <a:spcAft>
                <a:spcPts val="0"/>
              </a:spcAft>
            </a:pPr>
            <a:r>
              <a:rPr kumimoji="0" lang="en-US" sz="1600" kern="0" dirty="0">
                <a:solidFill>
                  <a:srgbClr val="001080"/>
                </a:solidFill>
                <a:latin typeface="Consolas" panose="020B0609020204030204" pitchFamily="49" charset="0"/>
                <a:sym typeface="Helvetica Neue" panose="02000503000000020004"/>
              </a:rPr>
              <a:t>queue q;</a:t>
            </a:r>
          </a:p>
          <a:p>
            <a:pPr defTabSz="1219200" eaLnBrk="1" fontAlgn="auto">
              <a:lnSpc>
                <a:spcPct val="150000"/>
              </a:lnSpc>
              <a:spcBef>
                <a:spcPts val="0"/>
              </a:spcBef>
              <a:spcAft>
                <a:spcPts val="0"/>
              </a:spcAft>
            </a:pPr>
            <a:endParaRPr kumimoji="0" lang="en-US" sz="1600" kern="0" dirty="0">
              <a:solidFill>
                <a:srgbClr val="001080"/>
              </a:solidFill>
              <a:latin typeface="Consolas" panose="020B0609020204030204" pitchFamily="49" charset="0"/>
              <a:sym typeface="Helvetica Neue" panose="02000503000000020004"/>
            </a:endParaRPr>
          </a:p>
          <a:p>
            <a:pPr defTabSz="1219200" eaLnBrk="1" fontAlgn="auto">
              <a:lnSpc>
                <a:spcPct val="150000"/>
              </a:lnSpc>
              <a:spcBef>
                <a:spcPts val="0"/>
              </a:spcBef>
              <a:spcAft>
                <a:spcPts val="0"/>
              </a:spcAft>
            </a:pPr>
            <a:r>
              <a:rPr kumimoji="0" lang="en-US" sz="1600" kern="0" dirty="0" err="1">
                <a:solidFill>
                  <a:srgbClr val="001080"/>
                </a:solidFill>
                <a:latin typeface="Consolas" panose="020B0609020204030204" pitchFamily="49" charset="0"/>
                <a:sym typeface="Helvetica Neue" panose="02000503000000020004"/>
              </a:rPr>
              <a:t>q</a:t>
            </a:r>
            <a:r>
              <a:rPr kumimoji="0" lang="en-US" sz="1600" kern="0" dirty="0" err="1">
                <a:solidFill>
                  <a:srgbClr val="000000"/>
                </a:solidFill>
                <a:latin typeface="Consolas" panose="020B0609020204030204" pitchFamily="49" charset="0"/>
                <a:sym typeface="Helvetica Neue" panose="02000503000000020004"/>
              </a:rPr>
              <a:t>.</a:t>
            </a:r>
            <a:r>
              <a:rPr kumimoji="0" lang="en-US" sz="1600" kern="0" dirty="0" err="1">
                <a:solidFill>
                  <a:srgbClr val="795E26"/>
                </a:solidFill>
                <a:latin typeface="Consolas" panose="020B0609020204030204" pitchFamily="49" charset="0"/>
                <a:sym typeface="Helvetica Neue" panose="02000503000000020004"/>
              </a:rPr>
              <a:t>submit</a:t>
            </a:r>
            <a:r>
              <a:rPr kumimoji="0" lang="en-US" sz="1600" kern="0" dirty="0">
                <a:solidFill>
                  <a:srgbClr val="000000"/>
                </a:solidFill>
                <a:latin typeface="Consolas" panose="020B0609020204030204" pitchFamily="49" charset="0"/>
                <a:sym typeface="Helvetica Neue" panose="02000503000000020004"/>
              </a:rPr>
              <a:t>(</a:t>
            </a:r>
            <a:r>
              <a:rPr kumimoji="0" lang="en-US" sz="1600" kern="0" dirty="0">
                <a:solidFill>
                  <a:srgbClr val="000000"/>
                </a:solidFill>
                <a:highlight>
                  <a:srgbClr val="FFFF00"/>
                </a:highlight>
                <a:latin typeface="Consolas" panose="020B0609020204030204" pitchFamily="49" charset="0"/>
                <a:sym typeface="Helvetica Neue" panose="02000503000000020004"/>
              </a:rPr>
              <a:t>[&amp;](</a:t>
            </a:r>
            <a:r>
              <a:rPr kumimoji="0" lang="en-US" sz="1600" kern="0" dirty="0">
                <a:solidFill>
                  <a:srgbClr val="267F99"/>
                </a:solidFill>
                <a:highlight>
                  <a:srgbClr val="FFFF00"/>
                </a:highlight>
                <a:latin typeface="Consolas" panose="020B0609020204030204" pitchFamily="49" charset="0"/>
                <a:sym typeface="Helvetica Neue" panose="02000503000000020004"/>
              </a:rPr>
              <a:t>handler</a:t>
            </a:r>
            <a:r>
              <a:rPr kumimoji="0" lang="en-US" sz="1600" kern="0" dirty="0">
                <a:solidFill>
                  <a:srgbClr val="0000FF"/>
                </a:solidFill>
                <a:highlight>
                  <a:srgbClr val="FFFF00"/>
                </a:highlight>
                <a:latin typeface="Consolas" panose="020B0609020204030204" pitchFamily="49" charset="0"/>
                <a:sym typeface="Helvetica Neue" panose="02000503000000020004"/>
              </a:rPr>
              <a:t>&amp;</a:t>
            </a:r>
            <a:r>
              <a:rPr kumimoji="0" lang="en-US" sz="1600" kern="0" dirty="0">
                <a:solidFill>
                  <a:srgbClr val="000000"/>
                </a:solidFill>
                <a:highlight>
                  <a:srgbClr val="FFFF00"/>
                </a:highlight>
                <a:latin typeface="Consolas" panose="020B0609020204030204" pitchFamily="49" charset="0"/>
                <a:sym typeface="Helvetica Neue" panose="02000503000000020004"/>
              </a:rPr>
              <a:t> </a:t>
            </a:r>
            <a:r>
              <a:rPr kumimoji="0" lang="en-US" sz="1600" kern="0" dirty="0">
                <a:solidFill>
                  <a:srgbClr val="001080"/>
                </a:solidFill>
                <a:highlight>
                  <a:srgbClr val="FFFF00"/>
                </a:highlight>
                <a:latin typeface="Consolas" panose="020B0609020204030204" pitchFamily="49" charset="0"/>
                <a:sym typeface="Helvetica Neue" panose="02000503000000020004"/>
              </a:rPr>
              <a:t>h</a:t>
            </a:r>
            <a:r>
              <a:rPr kumimoji="0" lang="en-US" sz="1600" kern="0" dirty="0">
                <a:solidFill>
                  <a:srgbClr val="000000"/>
                </a:solidFill>
                <a:highlight>
                  <a:srgbClr val="FFFF00"/>
                </a:highlight>
                <a:latin typeface="Consolas" panose="020B0609020204030204" pitchFamily="49" charset="0"/>
                <a:sym typeface="Helvetica Neue" panose="02000503000000020004"/>
              </a:rPr>
              <a:t>) {</a:t>
            </a:r>
          </a:p>
          <a:p>
            <a:pPr defTabSz="1219200" eaLnBrk="1" fontAlgn="auto">
              <a:lnSpc>
                <a:spcPct val="150000"/>
              </a:lnSpc>
              <a:spcBef>
                <a:spcPts val="0"/>
              </a:spcBef>
              <a:spcAft>
                <a:spcPts val="0"/>
              </a:spcAft>
            </a:pPr>
            <a:r>
              <a:rPr kumimoji="0" lang="en-US" sz="1600" kern="0" dirty="0">
                <a:solidFill>
                  <a:srgbClr val="008000"/>
                </a:solidFill>
                <a:highlight>
                  <a:srgbClr val="FFFF00"/>
                </a:highlight>
                <a:latin typeface="Consolas" panose="020B0609020204030204" pitchFamily="49" charset="0"/>
                <a:sym typeface="Helvetica Neue" panose="02000503000000020004"/>
              </a:rPr>
              <a:t>    // COMMAND GROUP CODE</a:t>
            </a:r>
            <a:endParaRPr kumimoji="0" lang="en-US" sz="1600" kern="0" dirty="0">
              <a:solidFill>
                <a:srgbClr val="000000"/>
              </a:solidFill>
              <a:highlight>
                <a:srgbClr val="FFFF00"/>
              </a:highlight>
              <a:latin typeface="Consolas" panose="020B0609020204030204" pitchFamily="49" charset="0"/>
              <a:sym typeface="Helvetica Neue" panose="02000503000000020004"/>
            </a:endParaRPr>
          </a:p>
          <a:p>
            <a:pPr defTabSz="1219200" eaLnBrk="1" fontAlgn="auto">
              <a:lnSpc>
                <a:spcPct val="150000"/>
              </a:lnSpc>
              <a:spcBef>
                <a:spcPts val="0"/>
              </a:spcBef>
              <a:spcAft>
                <a:spcPts val="0"/>
              </a:spcAft>
            </a:pPr>
            <a:r>
              <a:rPr kumimoji="0" lang="en-US" sz="1600" kern="0" dirty="0">
                <a:solidFill>
                  <a:srgbClr val="000000"/>
                </a:solidFill>
                <a:highlight>
                  <a:srgbClr val="FFFF00"/>
                </a:highlight>
                <a:latin typeface="Consolas" panose="020B0609020204030204" pitchFamily="49" charset="0"/>
                <a:sym typeface="Helvetica Neue" panose="02000503000000020004"/>
              </a:rPr>
              <a:t>}</a:t>
            </a:r>
            <a:r>
              <a:rPr kumimoji="0" lang="en-US" sz="1600" kern="0" dirty="0">
                <a:solidFill>
                  <a:srgbClr val="000000"/>
                </a:solidFill>
                <a:latin typeface="Consolas" panose="020B0609020204030204" pitchFamily="49" charset="0"/>
                <a:sym typeface="Helvetica Neue" panose="02000503000000020004"/>
              </a:rPr>
              <a:t>);</a:t>
            </a:r>
          </a:p>
          <a:p>
            <a:pPr defTabSz="1219200" eaLnBrk="1" fontAlgn="auto">
              <a:lnSpc>
                <a:spcPct val="90000"/>
              </a:lnSpc>
              <a:spcBef>
                <a:spcPts val="0"/>
              </a:spcBef>
              <a:spcAft>
                <a:spcPts val="0"/>
              </a:spcAft>
            </a:pPr>
            <a:endParaRPr kumimoji="0" lang="en-US" sz="1400" kern="0" dirty="0">
              <a:solidFill>
                <a:srgbClr val="000000"/>
              </a:solidFill>
              <a:latin typeface="Intel Clear"/>
              <a:sym typeface="Helvetica Neue" panose="02000503000000020004"/>
            </a:endParaRPr>
          </a:p>
        </p:txBody>
      </p:sp>
      <p:sp>
        <p:nvSpPr>
          <p:cNvPr id="13" name="Rectangle: Rounded Corners 15"/>
          <p:cNvSpPr/>
          <p:nvPr/>
        </p:nvSpPr>
        <p:spPr>
          <a:xfrm>
            <a:off x="889756" y="3862274"/>
            <a:ext cx="1074406" cy="355499"/>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14" name="文本框 13">
            <a:extLst>
              <a:ext uri="{FF2B5EF4-FFF2-40B4-BE49-F238E27FC236}">
                <a16:creationId xmlns:a16="http://schemas.microsoft.com/office/drawing/2014/main" id="{3606D24B-6082-4A1D-B3E1-E0084A777A6B}"/>
              </a:ext>
            </a:extLst>
          </p:cNvPr>
          <p:cNvSpPr txBox="1"/>
          <p:nvPr/>
        </p:nvSpPr>
        <p:spPr>
          <a:xfrm>
            <a:off x="4292543" y="3797641"/>
            <a:ext cx="3888432" cy="584775"/>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函数</a:t>
            </a:r>
            <a:r>
              <a:rPr lang="en-US" altLang="zh-CN" sz="1600" dirty="0">
                <a:solidFill>
                  <a:srgbClr val="FF0000"/>
                </a:solidFill>
                <a:latin typeface="微软雅黑" panose="020B0503020204020204" pitchFamily="34" charset="-122"/>
                <a:ea typeface="微软雅黑" panose="020B0503020204020204" pitchFamily="34" charset="-122"/>
              </a:rPr>
              <a:t>submit</a:t>
            </a:r>
            <a:r>
              <a:rPr lang="zh-CN" altLang="en-US" sz="1600" dirty="0">
                <a:solidFill>
                  <a:srgbClr val="FF0000"/>
                </a:solidFill>
                <a:latin typeface="微软雅黑" panose="020B0503020204020204" pitchFamily="34" charset="-122"/>
                <a:ea typeface="微软雅黑" panose="020B0503020204020204" pitchFamily="34" charset="-122"/>
              </a:rPr>
              <a:t>的参数，一个</a:t>
            </a:r>
            <a:r>
              <a:rPr lang="en-US" altLang="zh-CN" sz="1600" dirty="0">
                <a:solidFill>
                  <a:srgbClr val="FF0000"/>
                </a:solidFill>
                <a:latin typeface="微软雅黑" panose="020B0503020204020204" pitchFamily="34" charset="-122"/>
                <a:ea typeface="微软雅黑" panose="020B0503020204020204" pitchFamily="34" charset="-122"/>
              </a:rPr>
              <a:t>lambda</a:t>
            </a:r>
            <a:r>
              <a:rPr lang="zh-CN" altLang="en-US" sz="1600" dirty="0">
                <a:solidFill>
                  <a:srgbClr val="FF0000"/>
                </a:solidFill>
                <a:latin typeface="微软雅黑" panose="020B0503020204020204" pitchFamily="34" charset="-122"/>
                <a:ea typeface="微软雅黑" panose="020B0503020204020204" pitchFamily="34" charset="-122"/>
              </a:rPr>
              <a:t>函数，立即在</a:t>
            </a:r>
            <a:r>
              <a:rPr lang="en-US" altLang="zh-CN" sz="1600" dirty="0">
                <a:solidFill>
                  <a:srgbClr val="FF0000"/>
                </a:solidFill>
                <a:latin typeface="微软雅黑" panose="020B0503020204020204" pitchFamily="34" charset="-122"/>
                <a:ea typeface="微软雅黑" panose="020B0503020204020204" pitchFamily="34" charset="-122"/>
              </a:rPr>
              <a:t>host</a:t>
            </a:r>
            <a:r>
              <a:rPr lang="zh-CN" altLang="en-US" sz="1600" dirty="0">
                <a:solidFill>
                  <a:srgbClr val="FF0000"/>
                </a:solidFill>
                <a:latin typeface="微软雅黑" panose="020B0503020204020204" pitchFamily="34" charset="-122"/>
                <a:ea typeface="微软雅黑" panose="020B0503020204020204" pitchFamily="34" charset="-122"/>
              </a:rPr>
              <a:t>执行</a:t>
            </a:r>
          </a:p>
        </p:txBody>
      </p:sp>
      <p:cxnSp>
        <p:nvCxnSpPr>
          <p:cNvPr id="5" name="直接箭头连接符 4">
            <a:extLst>
              <a:ext uri="{FF2B5EF4-FFF2-40B4-BE49-F238E27FC236}">
                <a16:creationId xmlns:a16="http://schemas.microsoft.com/office/drawing/2014/main" id="{89701543-AF55-4F40-9BE6-3B3200ECDB5B}"/>
              </a:ext>
            </a:extLst>
          </p:cNvPr>
          <p:cNvCxnSpPr>
            <a:cxnSpLocks/>
            <a:stCxn id="14" idx="1"/>
          </p:cNvCxnSpPr>
          <p:nvPr/>
        </p:nvCxnSpPr>
        <p:spPr bwMode="auto">
          <a:xfrm flipH="1">
            <a:off x="3851920" y="4090029"/>
            <a:ext cx="440623" cy="635115"/>
          </a:xfrm>
          <a:prstGeom prst="straightConnector1">
            <a:avLst/>
          </a:prstGeom>
          <a:solidFill>
            <a:srgbClr val="FFCF01"/>
          </a:solidFill>
          <a:ln w="25400" cap="flat" cmpd="sng" algn="ctr">
            <a:solidFill>
              <a:srgbClr val="FF0000"/>
            </a:solidFill>
            <a:prstDash val="solid"/>
            <a:round/>
            <a:headEnd type="none" w="med" len="med"/>
            <a:tailEnd type="triangle"/>
          </a:ln>
        </p:spPr>
      </p:cxnSp>
      <p:sp>
        <p:nvSpPr>
          <p:cNvPr id="15" name="文本框 14">
            <a:extLst>
              <a:ext uri="{FF2B5EF4-FFF2-40B4-BE49-F238E27FC236}">
                <a16:creationId xmlns:a16="http://schemas.microsoft.com/office/drawing/2014/main" id="{A5B456F7-49E5-40C6-8385-16268E5335AE}"/>
              </a:ext>
            </a:extLst>
          </p:cNvPr>
          <p:cNvSpPr txBox="1"/>
          <p:nvPr/>
        </p:nvSpPr>
        <p:spPr>
          <a:xfrm>
            <a:off x="1445751" y="5541672"/>
            <a:ext cx="2486245" cy="584775"/>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所有局部变量以传引用方式传入这个</a:t>
            </a:r>
            <a:r>
              <a:rPr lang="en-US" altLang="zh-CN" sz="1600" dirty="0">
                <a:solidFill>
                  <a:srgbClr val="FF0000"/>
                </a:solidFill>
                <a:latin typeface="微软雅黑" panose="020B0503020204020204" pitchFamily="34" charset="-122"/>
                <a:ea typeface="微软雅黑" panose="020B0503020204020204" pitchFamily="34" charset="-122"/>
              </a:rPr>
              <a:t>lambda</a:t>
            </a:r>
            <a:r>
              <a:rPr lang="zh-CN" altLang="en-US" sz="1600" dirty="0">
                <a:solidFill>
                  <a:srgbClr val="FF0000"/>
                </a:solidFill>
                <a:latin typeface="微软雅黑" panose="020B0503020204020204" pitchFamily="34" charset="-122"/>
                <a:ea typeface="微软雅黑" panose="020B0503020204020204" pitchFamily="34" charset="-122"/>
              </a:rPr>
              <a:t>函数</a:t>
            </a:r>
          </a:p>
        </p:txBody>
      </p:sp>
      <p:cxnSp>
        <p:nvCxnSpPr>
          <p:cNvPr id="16" name="直接箭头连接符 15">
            <a:extLst>
              <a:ext uri="{FF2B5EF4-FFF2-40B4-BE49-F238E27FC236}">
                <a16:creationId xmlns:a16="http://schemas.microsoft.com/office/drawing/2014/main" id="{A9AB0D84-E695-42FD-9719-46D6B8D85611}"/>
              </a:ext>
            </a:extLst>
          </p:cNvPr>
          <p:cNvCxnSpPr>
            <a:cxnSpLocks/>
            <a:stCxn id="15" idx="0"/>
          </p:cNvCxnSpPr>
          <p:nvPr/>
        </p:nvCxnSpPr>
        <p:spPr bwMode="auto">
          <a:xfrm flipH="1" flipV="1">
            <a:off x="2123728" y="4859770"/>
            <a:ext cx="565146" cy="681902"/>
          </a:xfrm>
          <a:prstGeom prst="straightConnector1">
            <a:avLst/>
          </a:prstGeom>
          <a:solidFill>
            <a:srgbClr val="FFCF01"/>
          </a:solidFill>
          <a:ln w="25400" cap="flat" cmpd="sng" algn="ctr">
            <a:solidFill>
              <a:srgbClr val="FF0000"/>
            </a:solidFill>
            <a:prstDash val="solid"/>
            <a:round/>
            <a:headEnd type="none" w="med" len="med"/>
            <a:tailEnd type="triangle"/>
          </a:ln>
        </p:spPr>
      </p:cxnSp>
      <p:sp>
        <p:nvSpPr>
          <p:cNvPr id="20" name="文本框 19">
            <a:extLst>
              <a:ext uri="{FF2B5EF4-FFF2-40B4-BE49-F238E27FC236}">
                <a16:creationId xmlns:a16="http://schemas.microsoft.com/office/drawing/2014/main" id="{6D3E855A-0626-4701-A191-2753EF45DAE6}"/>
              </a:ext>
            </a:extLst>
          </p:cNvPr>
          <p:cNvSpPr txBox="1"/>
          <p:nvPr/>
        </p:nvSpPr>
        <p:spPr>
          <a:xfrm>
            <a:off x="4365812" y="4923767"/>
            <a:ext cx="3888432" cy="584775"/>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当函数</a:t>
            </a:r>
            <a:r>
              <a:rPr lang="en-US" altLang="zh-CN" sz="1600" dirty="0">
                <a:solidFill>
                  <a:srgbClr val="FF0000"/>
                </a:solidFill>
                <a:latin typeface="微软雅黑" panose="020B0503020204020204" pitchFamily="34" charset="-122"/>
                <a:ea typeface="微软雅黑" panose="020B0503020204020204" pitchFamily="34" charset="-122"/>
              </a:rPr>
              <a:t>submit</a:t>
            </a:r>
            <a:r>
              <a:rPr lang="zh-CN" altLang="en-US" sz="1600" dirty="0">
                <a:solidFill>
                  <a:srgbClr val="FF0000"/>
                </a:solidFill>
                <a:latin typeface="微软雅黑" panose="020B0503020204020204" pitchFamily="34" charset="-122"/>
                <a:ea typeface="微软雅黑" panose="020B0503020204020204" pitchFamily="34" charset="-122"/>
              </a:rPr>
              <a:t>内调用此</a:t>
            </a:r>
            <a:r>
              <a:rPr lang="en-US" altLang="zh-CN" sz="1600" dirty="0">
                <a:solidFill>
                  <a:srgbClr val="FF0000"/>
                </a:solidFill>
                <a:latin typeface="微软雅黑" panose="020B0503020204020204" pitchFamily="34" charset="-122"/>
                <a:ea typeface="微软雅黑" panose="020B0503020204020204" pitchFamily="34" charset="-122"/>
              </a:rPr>
              <a:t>lambda</a:t>
            </a:r>
            <a:r>
              <a:rPr lang="zh-CN" altLang="en-US" sz="1600" dirty="0">
                <a:solidFill>
                  <a:srgbClr val="FF0000"/>
                </a:solidFill>
                <a:latin typeface="微软雅黑" panose="020B0503020204020204" pitchFamily="34" charset="-122"/>
                <a:ea typeface="微软雅黑" panose="020B0503020204020204" pitchFamily="34" charset="-122"/>
              </a:rPr>
              <a:t>函数时，会把命令组句柄通过参数</a:t>
            </a:r>
            <a:r>
              <a:rPr lang="en-US" altLang="zh-CN" sz="1600" dirty="0">
                <a:solidFill>
                  <a:srgbClr val="FF0000"/>
                </a:solidFill>
                <a:latin typeface="微软雅黑" panose="020B0503020204020204" pitchFamily="34" charset="-122"/>
                <a:ea typeface="微软雅黑" panose="020B0503020204020204" pitchFamily="34" charset="-122"/>
              </a:rPr>
              <a:t>h</a:t>
            </a:r>
            <a:r>
              <a:rPr lang="zh-CN" altLang="en-US" sz="1600" dirty="0">
                <a:solidFill>
                  <a:srgbClr val="FF0000"/>
                </a:solidFill>
                <a:latin typeface="微软雅黑" panose="020B0503020204020204" pitchFamily="34" charset="-122"/>
                <a:ea typeface="微软雅黑" panose="020B0503020204020204" pitchFamily="34" charset="-122"/>
              </a:rPr>
              <a:t>传递</a:t>
            </a:r>
          </a:p>
        </p:txBody>
      </p:sp>
      <p:cxnSp>
        <p:nvCxnSpPr>
          <p:cNvPr id="21" name="直接箭头连接符 20">
            <a:extLst>
              <a:ext uri="{FF2B5EF4-FFF2-40B4-BE49-F238E27FC236}">
                <a16:creationId xmlns:a16="http://schemas.microsoft.com/office/drawing/2014/main" id="{C60569AD-DF17-4F19-B74B-F9E25D0F665B}"/>
              </a:ext>
            </a:extLst>
          </p:cNvPr>
          <p:cNvCxnSpPr>
            <a:cxnSpLocks/>
            <a:stCxn id="20" idx="1"/>
          </p:cNvCxnSpPr>
          <p:nvPr/>
        </p:nvCxnSpPr>
        <p:spPr bwMode="auto">
          <a:xfrm flipH="1" flipV="1">
            <a:off x="3491880" y="4859769"/>
            <a:ext cx="873932" cy="356386"/>
          </a:xfrm>
          <a:prstGeom prst="straightConnector1">
            <a:avLst/>
          </a:prstGeom>
          <a:solidFill>
            <a:srgbClr val="FFCF01"/>
          </a:solidFill>
          <a:ln w="25400" cap="flat" cmpd="sng" algn="ctr">
            <a:solidFill>
              <a:srgbClr val="FF0000"/>
            </a:solidFill>
            <a:prstDash val="solid"/>
            <a:round/>
            <a:headEnd type="none" w="med" len="med"/>
            <a:tailEnd type="triangle"/>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20"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选择在哪执行设备</a:t>
            </a:r>
            <a:r>
              <a:rPr lang="en-US" altLang="zh-CN" dirty="0"/>
              <a:t>kernel</a:t>
            </a:r>
            <a:endParaRPr lang="zh-CN" altLang="en-US" dirty="0"/>
          </a:p>
        </p:txBody>
      </p:sp>
      <p:sp>
        <p:nvSpPr>
          <p:cNvPr id="3" name="内容占位符 2"/>
          <p:cNvSpPr>
            <a:spLocks noGrp="1"/>
          </p:cNvSpPr>
          <p:nvPr>
            <p:ph idx="1"/>
          </p:nvPr>
        </p:nvSpPr>
        <p:spPr/>
        <p:txBody>
          <a:bodyPr/>
          <a:lstStyle/>
          <a:p>
            <a:r>
              <a:rPr lang="zh-CN" altLang="en-US" sz="2800" dirty="0"/>
              <a:t>任务被提交到设备</a:t>
            </a:r>
            <a:endParaRPr lang="en-US" altLang="zh-CN" sz="2800" dirty="0"/>
          </a:p>
          <a:p>
            <a:pPr lvl="1"/>
            <a:r>
              <a:rPr lang="zh-CN" altLang="en-US" sz="2400" dirty="0"/>
              <a:t>每个队列关联唯一一个设备（比如一个特定的</a:t>
            </a:r>
            <a:r>
              <a:rPr lang="en-US" altLang="zh-CN" sz="2400" dirty="0"/>
              <a:t>GPU</a:t>
            </a:r>
            <a:r>
              <a:rPr lang="zh-CN" altLang="en-US" sz="2400" dirty="0"/>
              <a:t>或</a:t>
            </a:r>
            <a:r>
              <a:rPr lang="en-US" altLang="zh-CN" sz="2400" dirty="0"/>
              <a:t>FPGA</a:t>
            </a:r>
            <a:r>
              <a:rPr lang="zh-CN" altLang="en-US" sz="2400" dirty="0"/>
              <a:t>）</a:t>
            </a:r>
            <a:endParaRPr lang="en-US" altLang="zh-CN" sz="2400" dirty="0"/>
          </a:p>
          <a:p>
            <a:pPr lvl="1"/>
            <a:r>
              <a:rPr lang="zh-CN" altLang="en-US" sz="2400" dirty="0"/>
              <a:t>你可以</a:t>
            </a:r>
            <a:endParaRPr lang="en-US" altLang="zh-CN" sz="2400" dirty="0"/>
          </a:p>
          <a:p>
            <a:pPr lvl="2"/>
            <a:r>
              <a:rPr lang="zh-CN" altLang="en-US" sz="2000" dirty="0"/>
              <a:t>指定队列关联到哪个设备（也可以不指定）</a:t>
            </a:r>
            <a:endParaRPr lang="en-US" altLang="zh-CN" sz="2000" dirty="0"/>
          </a:p>
          <a:p>
            <a:pPr lvl="2"/>
            <a:r>
              <a:rPr lang="zh-CN" altLang="en-US" sz="2000" dirty="0"/>
              <a:t>在异构系统中，根据需要拥有尽可能多的队列以分派任务</a:t>
            </a:r>
            <a:endParaRPr lang="en-US" altLang="zh-CN" sz="2000" dirty="0"/>
          </a:p>
        </p:txBody>
      </p:sp>
      <p:graphicFrame>
        <p:nvGraphicFramePr>
          <p:cNvPr id="7" name="Table 9"/>
          <p:cNvGraphicFramePr>
            <a:graphicFrameLocks noGrp="1"/>
          </p:cNvGraphicFramePr>
          <p:nvPr>
            <p:extLst>
              <p:ext uri="{D42A27DB-BD31-4B8C-83A1-F6EECF244321}">
                <p14:modId xmlns:p14="http://schemas.microsoft.com/office/powerpoint/2010/main" val="38407013"/>
              </p:ext>
            </p:extLst>
          </p:nvPr>
        </p:nvGraphicFramePr>
        <p:xfrm>
          <a:off x="521607" y="4005064"/>
          <a:ext cx="8100786" cy="2678430"/>
        </p:xfrm>
        <a:graphic>
          <a:graphicData uri="http://schemas.openxmlformats.org/drawingml/2006/table">
            <a:tbl>
              <a:tblPr bandRow="1"/>
              <a:tblGrid>
                <a:gridCol w="3329215">
                  <a:extLst>
                    <a:ext uri="{9D8B030D-6E8A-4147-A177-3AD203B41FA5}">
                      <a16:colId xmlns:a16="http://schemas.microsoft.com/office/drawing/2014/main" val="20000"/>
                    </a:ext>
                  </a:extLst>
                </a:gridCol>
                <a:gridCol w="4771571">
                  <a:extLst>
                    <a:ext uri="{9D8B030D-6E8A-4147-A177-3AD203B41FA5}">
                      <a16:colId xmlns:a16="http://schemas.microsoft.com/office/drawing/2014/main" val="20001"/>
                    </a:ext>
                  </a:extLst>
                </a:gridCol>
              </a:tblGrid>
              <a:tr h="32131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t>创建可定位到任何设备的队列：</a:t>
                      </a:r>
                      <a:endParaRPr lang="en-US" sz="1600" b="0" dirty="0"/>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600" dirty="0"/>
                        <a:t>queue();</a:t>
                      </a:r>
                      <a:endParaRPr lang="en-US" altLang="en-US" sz="1600" dirty="0">
                        <a:solidFill>
                          <a:srgbClr val="999999"/>
                        </a:solidFill>
                        <a:latin typeface="Consolas" panose="020B0609020204030204" pitchFamily="49" charset="0"/>
                      </a:endParaRPr>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10000"/>
                  </a:ext>
                </a:extLst>
              </a:tr>
              <a:tr h="128651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dirty="0"/>
                        <a:t>创建队列定位到一个预先配置的设备类：</a:t>
                      </a:r>
                      <a:endParaRPr lang="en-US" sz="1600" b="0" dirty="0"/>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2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marL="0" marR="0" lvl="0" indent="0" algn="l" defTabSz="1219200" rtl="0" eaLnBrk="0" fontAlgn="base" latinLnBrk="0" hangingPunct="0">
                        <a:lnSpc>
                          <a:spcPct val="100000"/>
                        </a:lnSpc>
                        <a:spcBef>
                          <a:spcPct val="0"/>
                        </a:spcBef>
                        <a:spcAft>
                          <a:spcPct val="0"/>
                        </a:spcAft>
                        <a:buClrTx/>
                        <a:buSzTx/>
                        <a:buFontTx/>
                        <a:buNone/>
                        <a:defRPr/>
                      </a:pPr>
                      <a:r>
                        <a:rPr lang="en-US" altLang="en-US" sz="1600" dirty="0"/>
                        <a:t>queue(</a:t>
                      </a:r>
                      <a:r>
                        <a:rPr lang="en-US" altLang="en-US" sz="1600" dirty="0" err="1"/>
                        <a:t>cpu_selector</a:t>
                      </a:r>
                      <a:r>
                        <a:rPr lang="en-US" altLang="en-US" sz="1600" dirty="0"/>
                        <a:t>{});</a:t>
                      </a:r>
                    </a:p>
                    <a:p>
                      <a:pPr marL="0" marR="0" lvl="0" indent="0" algn="l" defTabSz="1219200" rtl="0" eaLnBrk="0" fontAlgn="base" latinLnBrk="0" hangingPunct="0">
                        <a:lnSpc>
                          <a:spcPct val="100000"/>
                        </a:lnSpc>
                        <a:spcBef>
                          <a:spcPct val="0"/>
                        </a:spcBef>
                        <a:spcAft>
                          <a:spcPct val="0"/>
                        </a:spcAft>
                        <a:buClrTx/>
                        <a:buSzTx/>
                        <a:buFontTx/>
                        <a:buNone/>
                        <a:defRPr/>
                      </a:pPr>
                      <a:r>
                        <a:rPr lang="en-US" altLang="en-US" sz="1600" dirty="0"/>
                        <a:t>queue(</a:t>
                      </a:r>
                      <a:r>
                        <a:rPr lang="en-US" altLang="en-US" sz="1600" dirty="0" err="1"/>
                        <a:t>gpu_selector</a:t>
                      </a:r>
                      <a:r>
                        <a:rPr lang="en-US" altLang="en-US" sz="1600" dirty="0"/>
                        <a:t>{});</a:t>
                      </a:r>
                    </a:p>
                    <a:p>
                      <a:pPr marL="0" marR="0" lvl="0" indent="0" algn="l" defTabSz="1219200" rtl="0" eaLnBrk="0" fontAlgn="base" latinLnBrk="0" hangingPunct="0">
                        <a:lnSpc>
                          <a:spcPct val="100000"/>
                        </a:lnSpc>
                        <a:spcBef>
                          <a:spcPct val="0"/>
                        </a:spcBef>
                        <a:spcAft>
                          <a:spcPct val="0"/>
                        </a:spcAft>
                        <a:buClrTx/>
                        <a:buSzTx/>
                        <a:buFontTx/>
                        <a:buNone/>
                        <a:defRPr/>
                      </a:pPr>
                      <a:r>
                        <a:rPr lang="en-US" altLang="en-US" sz="1600" dirty="0"/>
                        <a:t>queue(intel::</a:t>
                      </a:r>
                      <a:r>
                        <a:rPr lang="en-US" altLang="en-US" sz="1600" dirty="0" err="1"/>
                        <a:t>fpga_selector</a:t>
                      </a:r>
                      <a:r>
                        <a:rPr lang="en-US" altLang="en-US" sz="1600" dirty="0"/>
                        <a:t>{});</a:t>
                      </a:r>
                    </a:p>
                    <a:p>
                      <a:pPr marL="0" marR="0" lvl="0" indent="0" algn="l" defTabSz="1219200" rtl="0" eaLnBrk="0" fontAlgn="base" latinLnBrk="0" hangingPunct="0">
                        <a:lnSpc>
                          <a:spcPct val="100000"/>
                        </a:lnSpc>
                        <a:spcBef>
                          <a:spcPct val="0"/>
                        </a:spcBef>
                        <a:spcAft>
                          <a:spcPct val="0"/>
                        </a:spcAft>
                        <a:buClrTx/>
                        <a:buSzTx/>
                        <a:buFontTx/>
                        <a:buNone/>
                        <a:defRPr/>
                      </a:pPr>
                      <a:r>
                        <a:rPr lang="en-US" altLang="en-US" sz="1600" dirty="0"/>
                        <a:t>queue(</a:t>
                      </a:r>
                      <a:r>
                        <a:rPr lang="en-US" altLang="en-US" sz="1600" dirty="0" err="1"/>
                        <a:t>accelerator_selector</a:t>
                      </a:r>
                      <a:r>
                        <a:rPr lang="en-US" altLang="en-US" sz="1600" dirty="0"/>
                        <a:t>{});</a:t>
                      </a:r>
                    </a:p>
                    <a:p>
                      <a:pPr marL="0" marR="0" lvl="0" indent="0" algn="l" defTabSz="1219200" rtl="0" eaLnBrk="0" fontAlgn="base" latinLnBrk="0" hangingPunct="0">
                        <a:lnSpc>
                          <a:spcPct val="100000"/>
                        </a:lnSpc>
                        <a:spcBef>
                          <a:spcPct val="0"/>
                        </a:spcBef>
                        <a:spcAft>
                          <a:spcPct val="0"/>
                        </a:spcAft>
                        <a:buClrTx/>
                        <a:buSzTx/>
                        <a:buFontTx/>
                        <a:buNone/>
                        <a:defRPr/>
                      </a:pPr>
                      <a:r>
                        <a:rPr lang="en-US" altLang="en-US" sz="1600" dirty="0"/>
                        <a:t>queue(</a:t>
                      </a:r>
                      <a:r>
                        <a:rPr lang="en-US" altLang="en-US" sz="1600" dirty="0" err="1"/>
                        <a:t>host_selector</a:t>
                      </a:r>
                      <a:r>
                        <a:rPr lang="en-US" altLang="en-US" sz="1600" dirty="0"/>
                        <a:t>{});</a:t>
                      </a:r>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20000"/>
                      </a:srgbClr>
                    </a:solidFill>
                  </a:tcPr>
                </a:tc>
                <a:extLst>
                  <a:ext uri="{0D108BD9-81ED-4DB2-BD59-A6C34878D82A}">
                    <a16:rowId xmlns:a16="http://schemas.microsoft.com/office/drawing/2014/main" val="10001"/>
                  </a:ext>
                </a:extLst>
              </a:tr>
              <a:tr h="1045210">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zh-CN" altLang="en-US" sz="1600" dirty="0"/>
                        <a:t>创建定位到特定设备（自定义选择器）的队列：</a:t>
                      </a:r>
                      <a:endParaRPr lang="en-US" sz="1600" dirty="0"/>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panose="02000503000000020004"/>
                          <a:cs typeface="Helvetica Neue" panose="02000503000000020004"/>
                        </a:defRPr>
                      </a:lvl1pPr>
                      <a:lvl2pPr marL="457200" algn="l" defTabSz="914400" rtl="0" eaLnBrk="1" latinLnBrk="0" hangingPunct="1">
                        <a:defRPr sz="1800" kern="1200">
                          <a:solidFill>
                            <a:schemeClr val="dk1"/>
                          </a:solidFill>
                          <a:latin typeface="Intel Clear"/>
                          <a:ea typeface="Helvetica Neue" panose="02000503000000020004"/>
                          <a:cs typeface="Helvetica Neue" panose="02000503000000020004"/>
                        </a:defRPr>
                      </a:lvl2pPr>
                      <a:lvl3pPr marL="914400" algn="l" defTabSz="914400" rtl="0" eaLnBrk="1" latinLnBrk="0" hangingPunct="1">
                        <a:defRPr sz="1800" kern="1200">
                          <a:solidFill>
                            <a:schemeClr val="dk1"/>
                          </a:solidFill>
                          <a:latin typeface="Intel Clear"/>
                          <a:ea typeface="Helvetica Neue" panose="02000503000000020004"/>
                          <a:cs typeface="Helvetica Neue" panose="02000503000000020004"/>
                        </a:defRPr>
                      </a:lvl3pPr>
                      <a:lvl4pPr marL="1371600" algn="l" defTabSz="914400" rtl="0" eaLnBrk="1" latinLnBrk="0" hangingPunct="1">
                        <a:defRPr sz="1800" kern="1200">
                          <a:solidFill>
                            <a:schemeClr val="dk1"/>
                          </a:solidFill>
                          <a:latin typeface="Intel Clear"/>
                          <a:ea typeface="Helvetica Neue" panose="02000503000000020004"/>
                          <a:cs typeface="Helvetica Neue" panose="02000503000000020004"/>
                        </a:defRPr>
                      </a:lvl4pPr>
                      <a:lvl5pPr marL="1828800" algn="l" defTabSz="914400" rtl="0" eaLnBrk="1" latinLnBrk="0" hangingPunct="1">
                        <a:defRPr sz="1800" kern="1200">
                          <a:solidFill>
                            <a:schemeClr val="dk1"/>
                          </a:solidFill>
                          <a:latin typeface="Intel Clear"/>
                          <a:ea typeface="Helvetica Neue" panose="02000503000000020004"/>
                          <a:cs typeface="Helvetica Neue" panose="02000503000000020004"/>
                        </a:defRPr>
                      </a:lvl5pPr>
                      <a:lvl6pPr marL="2286000" algn="l" defTabSz="914400" rtl="0" eaLnBrk="1" latinLnBrk="0" hangingPunct="1">
                        <a:defRPr sz="1800" kern="1200">
                          <a:solidFill>
                            <a:schemeClr val="dk1"/>
                          </a:solidFill>
                          <a:latin typeface="Intel Clear"/>
                          <a:ea typeface="Helvetica Neue" panose="02000503000000020004"/>
                          <a:cs typeface="Helvetica Neue" panose="02000503000000020004"/>
                        </a:defRPr>
                      </a:lvl6pPr>
                      <a:lvl7pPr marL="2743200" algn="l" defTabSz="914400" rtl="0" eaLnBrk="1" latinLnBrk="0" hangingPunct="1">
                        <a:defRPr sz="1800" kern="1200">
                          <a:solidFill>
                            <a:schemeClr val="dk1"/>
                          </a:solidFill>
                          <a:latin typeface="Intel Clear"/>
                          <a:ea typeface="Helvetica Neue" panose="02000503000000020004"/>
                          <a:cs typeface="Helvetica Neue" panose="02000503000000020004"/>
                        </a:defRPr>
                      </a:lvl7pPr>
                      <a:lvl8pPr marL="3200400" algn="l" defTabSz="914400" rtl="0" eaLnBrk="1" latinLnBrk="0" hangingPunct="1">
                        <a:defRPr sz="1800" kern="1200">
                          <a:solidFill>
                            <a:schemeClr val="dk1"/>
                          </a:solidFill>
                          <a:latin typeface="Intel Clear"/>
                          <a:ea typeface="Helvetica Neue" panose="02000503000000020004"/>
                          <a:cs typeface="Helvetica Neue" panose="02000503000000020004"/>
                        </a:defRPr>
                      </a:lvl8pPr>
                      <a:lvl9pPr marL="3657600" algn="l" defTabSz="914400" rtl="0" eaLnBrk="1" latinLnBrk="0" hangingPunct="1">
                        <a:defRPr sz="1800" kern="1200">
                          <a:solidFill>
                            <a:schemeClr val="dk1"/>
                          </a:solidFill>
                          <a:latin typeface="Intel Clear"/>
                          <a:ea typeface="Helvetica Neue" panose="02000503000000020004"/>
                          <a:cs typeface="Helvetica Neue" panose="02000503000000020004"/>
                        </a:defRPr>
                      </a:lvl9pPr>
                    </a:lstStyle>
                    <a:p>
                      <a:pPr algn="l"/>
                      <a:r>
                        <a:rPr lang="en-US" sz="1600" dirty="0"/>
                        <a:t>class </a:t>
                      </a:r>
                      <a:r>
                        <a:rPr lang="en-US" sz="1600" dirty="0" err="1"/>
                        <a:t>custom_selector</a:t>
                      </a:r>
                      <a:r>
                        <a:rPr lang="en-US" sz="1600" dirty="0"/>
                        <a:t> : public </a:t>
                      </a:r>
                      <a:r>
                        <a:rPr lang="en-US" sz="1600" dirty="0" err="1"/>
                        <a:t>device_selector</a:t>
                      </a:r>
                      <a:r>
                        <a:rPr lang="en-US" sz="1600" dirty="0"/>
                        <a:t> {</a:t>
                      </a:r>
                    </a:p>
                    <a:p>
                      <a:pPr algn="l"/>
                      <a:r>
                        <a:rPr lang="en-US" sz="1600" dirty="0"/>
                        <a:t>  int operator()(……  </a:t>
                      </a:r>
                      <a:r>
                        <a:rPr lang="en-US" sz="1600" b="1" dirty="0">
                          <a:solidFill>
                            <a:srgbClr val="C00000"/>
                          </a:solidFill>
                        </a:rPr>
                        <a:t>// </a:t>
                      </a:r>
                      <a:r>
                        <a:rPr lang="zh-CN" altLang="en-US" sz="1600" b="1" dirty="0">
                          <a:solidFill>
                            <a:srgbClr val="C00000"/>
                          </a:solidFill>
                        </a:rPr>
                        <a:t>任何你想要的逻辑</a:t>
                      </a:r>
                      <a:r>
                        <a:rPr lang="en-US" sz="1600" b="1" dirty="0">
                          <a:solidFill>
                            <a:srgbClr val="C00000"/>
                          </a:solidFill>
                        </a:rPr>
                        <a:t>!</a:t>
                      </a:r>
                    </a:p>
                    <a:p>
                      <a:pPr algn="l"/>
                      <a:r>
                        <a:rPr lang="en-US" sz="1600" dirty="0"/>
                        <a:t>…</a:t>
                      </a:r>
                    </a:p>
                    <a:p>
                      <a:pPr algn="l"/>
                      <a:r>
                        <a:rPr lang="en-US" altLang="en-US" sz="1600" dirty="0"/>
                        <a:t>queue(</a:t>
                      </a:r>
                      <a:r>
                        <a:rPr lang="en-US" altLang="en-US" sz="1600" dirty="0" err="1"/>
                        <a:t>custom_selector</a:t>
                      </a:r>
                      <a:r>
                        <a:rPr lang="en-US" altLang="en-US" sz="1600" dirty="0"/>
                        <a:t>{});</a:t>
                      </a:r>
                    </a:p>
                  </a:txBody>
                  <a:tcPr marL="80010" marR="80010" marT="40005" marB="40005" anchor="ctr">
                    <a:lnL w="12700" cmpd="sng">
                      <a:solidFill>
                        <a:srgbClr val="0068B5"/>
                      </a:solidFill>
                    </a:lnL>
                    <a:lnR w="12700" cmpd="sng">
                      <a:solidFill>
                        <a:srgbClr val="0068B5"/>
                      </a:solidFill>
                    </a:lnR>
                    <a:lnT w="12700" cmpd="sng">
                      <a:solidFill>
                        <a:srgbClr val="0068B5"/>
                      </a:solidFill>
                    </a:lnT>
                    <a:lnB w="12700" cmpd="sng">
                      <a:solidFill>
                        <a:srgbClr val="0068B5"/>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10002"/>
                  </a:ext>
                </a:extLst>
              </a:tr>
            </a:tbl>
          </a:graphicData>
        </a:graphic>
      </p:graphicFrame>
      <p:sp>
        <p:nvSpPr>
          <p:cNvPr id="8" name="TextBox 10"/>
          <p:cNvSpPr txBox="1"/>
          <p:nvPr/>
        </p:nvSpPr>
        <p:spPr>
          <a:xfrm>
            <a:off x="7254632" y="4911670"/>
            <a:ext cx="1565783" cy="230897"/>
          </a:xfrm>
          <a:prstGeom prst="rect">
            <a:avLst/>
          </a:prstGeom>
          <a:noFill/>
        </p:spPr>
        <p:txBody>
          <a:bodyPr vert="horz" wrap="square" lIns="0" tIns="0" rIns="0" bIns="0" rtlCol="0">
            <a:spAutoFit/>
          </a:bodyPr>
          <a:lstStyle/>
          <a:p>
            <a:pPr algn="ctr" defTabSz="1219200" eaLnBrk="1" fontAlgn="auto">
              <a:lnSpc>
                <a:spcPct val="90000"/>
              </a:lnSpc>
              <a:spcBef>
                <a:spcPts val="2250"/>
              </a:spcBef>
              <a:spcAft>
                <a:spcPts val="0"/>
              </a:spcAft>
            </a:pPr>
            <a:r>
              <a:rPr kumimoji="0" lang="zh-CN" altLang="en-US" sz="1665" b="1" kern="0" dirty="0">
                <a:solidFill>
                  <a:srgbClr val="003C71"/>
                </a:solidFill>
                <a:latin typeface="Intel Clear"/>
                <a:sym typeface="Helvetica Neue" panose="02000503000000020004"/>
              </a:rPr>
              <a:t>总是可用的</a:t>
            </a:r>
            <a:endParaRPr kumimoji="0" lang="en-US" sz="1665" b="1" kern="0" dirty="0">
              <a:solidFill>
                <a:srgbClr val="003C71"/>
              </a:solidFill>
              <a:latin typeface="Intel Clear"/>
              <a:sym typeface="Helvetica Neue" panose="02000503000000020004"/>
            </a:endParaRPr>
          </a:p>
        </p:txBody>
      </p:sp>
      <p:cxnSp>
        <p:nvCxnSpPr>
          <p:cNvPr id="9" name="Straight Arrow Connector 11"/>
          <p:cNvCxnSpPr/>
          <p:nvPr/>
        </p:nvCxnSpPr>
        <p:spPr>
          <a:xfrm flipH="1">
            <a:off x="6164037" y="5168150"/>
            <a:ext cx="1333499" cy="296255"/>
          </a:xfrm>
          <a:prstGeom prst="straightConnector1">
            <a:avLst/>
          </a:prstGeom>
          <a:noFill/>
          <a:ln w="50800" cap="flat" cmpd="sng" algn="ctr">
            <a:solidFill>
              <a:srgbClr val="004A86"/>
            </a:solidFill>
            <a:prstDash val="solid"/>
            <a:tailEnd type="triangle"/>
          </a:ln>
          <a:effectLst/>
        </p:spPr>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Kernel</a:t>
            </a:r>
            <a:endParaRPr lang="zh-CN" altLang="en-US" dirty="0"/>
          </a:p>
        </p:txBody>
      </p:sp>
      <p:sp>
        <p:nvSpPr>
          <p:cNvPr id="3" name="内容占位符 2"/>
          <p:cNvSpPr>
            <a:spLocks noGrp="1"/>
          </p:cNvSpPr>
          <p:nvPr>
            <p:ph idx="1"/>
          </p:nvPr>
        </p:nvSpPr>
        <p:spPr/>
        <p:txBody>
          <a:bodyPr/>
          <a:lstStyle/>
          <a:p>
            <a:r>
              <a:rPr lang="en-US" altLang="zh-CN" sz="2800" dirty="0"/>
              <a:t>Kernel</a:t>
            </a:r>
            <a:r>
              <a:rPr lang="zh-CN" altLang="en-US" sz="2800" dirty="0"/>
              <a:t>类封装方法和数据，以便在命令组中提交代码在设备上执行</a:t>
            </a:r>
            <a:endParaRPr lang="en-US" altLang="zh-CN" sz="2800" dirty="0"/>
          </a:p>
          <a:p>
            <a:r>
              <a:rPr lang="en-US" altLang="zh-CN" sz="2800" dirty="0"/>
              <a:t>Kernel</a:t>
            </a:r>
            <a:r>
              <a:rPr lang="zh-CN" altLang="en-US" sz="2800" dirty="0"/>
              <a:t>对象不是由用户显式构造的</a:t>
            </a:r>
            <a:endParaRPr lang="en-US" altLang="zh-CN" sz="2800" dirty="0"/>
          </a:p>
          <a:p>
            <a:r>
              <a:rPr lang="zh-CN" altLang="en-US" sz="2800" dirty="0"/>
              <a:t>当调用</a:t>
            </a:r>
            <a:r>
              <a:rPr lang="en-US" altLang="zh-CN" sz="2800" b="1" dirty="0" err="1"/>
              <a:t>parallel_for</a:t>
            </a:r>
            <a:r>
              <a:rPr lang="zh-CN" altLang="en-US" sz="2800" dirty="0"/>
              <a:t>这样的</a:t>
            </a:r>
            <a:r>
              <a:rPr lang="en-US" altLang="zh-CN" sz="2800" dirty="0"/>
              <a:t>kernel</a:t>
            </a:r>
            <a:r>
              <a:rPr lang="zh-CN" altLang="en-US" sz="2800" dirty="0"/>
              <a:t>分派函数时，将创建</a:t>
            </a:r>
            <a:r>
              <a:rPr lang="en-US" altLang="zh-CN" sz="2800" dirty="0"/>
              <a:t>kernel</a:t>
            </a:r>
            <a:r>
              <a:rPr lang="zh-CN" altLang="en-US" sz="2800" dirty="0"/>
              <a:t>对象</a:t>
            </a:r>
          </a:p>
        </p:txBody>
      </p:sp>
      <p:grpSp>
        <p:nvGrpSpPr>
          <p:cNvPr id="14" name="Group 7"/>
          <p:cNvGrpSpPr/>
          <p:nvPr/>
        </p:nvGrpSpPr>
        <p:grpSpPr>
          <a:xfrm>
            <a:off x="395536" y="4005064"/>
            <a:ext cx="8454044" cy="2396181"/>
            <a:chOff x="5242990" y="505096"/>
            <a:chExt cx="5621213" cy="6257626"/>
          </a:xfrm>
        </p:grpSpPr>
        <p:sp>
          <p:nvSpPr>
            <p:cNvPr id="17" name="Rectangle: Single Corner Snipped 8"/>
            <p:cNvSpPr/>
            <p:nvPr/>
          </p:nvSpPr>
          <p:spPr>
            <a:xfrm>
              <a:off x="5242990"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8" name="TextBox 13"/>
            <p:cNvSpPr txBox="1"/>
            <p:nvPr/>
          </p:nvSpPr>
          <p:spPr>
            <a:xfrm>
              <a:off x="5390906" y="611429"/>
              <a:ext cx="5473297" cy="298260"/>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90000"/>
                </a:lnSpc>
                <a:spcBef>
                  <a:spcPts val="225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5" name="Rectangle 14"/>
          <p:cNvSpPr/>
          <p:nvPr/>
        </p:nvSpPr>
        <p:spPr>
          <a:xfrm>
            <a:off x="940314" y="4072707"/>
            <a:ext cx="6866283" cy="2154436"/>
          </a:xfrm>
          <a:prstGeom prst="rect">
            <a:avLst/>
          </a:prstGeom>
        </p:spPr>
        <p:txBody>
          <a:bodyPr wrap="square">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sz="1600" b="0" i="0" u="none" strike="noStrike" kern="1200" cap="none" spc="0" normalizeH="0" baseline="0" noProof="0" dirty="0" err="1">
                <a:ln>
                  <a:noFill/>
                </a:ln>
                <a:solidFill>
                  <a:srgbClr val="001080"/>
                </a:solidFill>
                <a:effectLst/>
                <a:uLnTx/>
                <a:uFillTx/>
                <a:latin typeface="Consolas" panose="020B0609020204030204" pitchFamily="49" charset="0"/>
                <a:sym typeface="Helvetica Neue" panose="02000503000000020004"/>
              </a:rPr>
              <a:t>q</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err="1">
                <a:ln>
                  <a:noFill/>
                </a:ln>
                <a:solidFill>
                  <a:srgbClr val="795E26"/>
                </a:solidFill>
                <a:effectLst/>
                <a:uLnTx/>
                <a:uFillTx/>
                <a:latin typeface="Consolas" panose="020B0609020204030204" pitchFamily="49" charset="0"/>
                <a:sym typeface="Helvetica Neue" panose="02000503000000020004"/>
              </a:rPr>
              <a:t>submit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([&amp;](</a:t>
            </a:r>
            <a:r>
              <a:rPr kumimoji="0" lang="en-US" sz="1600" b="0" i="0" u="none" strike="noStrike" kern="1200" cap="none" spc="0" normalizeH="0" baseline="0" noProof="0" dirty="0">
                <a:ln>
                  <a:noFill/>
                </a:ln>
                <a:solidFill>
                  <a:srgbClr val="267F99"/>
                </a:solidFill>
                <a:effectLst/>
                <a:uLnTx/>
                <a:uFillTx/>
                <a:latin typeface="Consolas" panose="020B0609020204030204" pitchFamily="49" charset="0"/>
                <a:sym typeface="Helvetica Neue" panose="02000503000000020004"/>
              </a:rPr>
              <a:t>handler</a:t>
            </a:r>
            <a:r>
              <a:rPr kumimoji="0" lang="en-US" sz="1600" b="0" i="0" u="none" strike="noStrike" kern="120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1200" cap="none" spc="0" normalizeH="0" baseline="0" noProof="0" dirty="0">
                <a:ln>
                  <a:noFill/>
                </a:ln>
                <a:solidFill>
                  <a:srgbClr val="001080"/>
                </a:solidFill>
                <a:effectLst/>
                <a:uLnTx/>
                <a:uFillTx/>
                <a:latin typeface="Consolas" panose="020B0609020204030204" pitchFamily="49" charset="0"/>
                <a:sym typeface="Helvetica Neue" panose="02000503000000020004"/>
              </a:rPr>
              <a:t>h</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algn="l" defTabSz="457200" rtl="0" eaLnBrk="1" fontAlgn="auto" latinLnBrk="0" hangingPunct="1">
              <a:lnSpc>
                <a:spcPct val="150000"/>
              </a:lnSpc>
              <a:spcBef>
                <a:spcPts val="0"/>
              </a:spcBef>
              <a:spcAft>
                <a:spcPts val="0"/>
              </a:spcAft>
              <a:buClrTx/>
              <a:buSzTx/>
              <a:buFontTx/>
              <a:buNone/>
              <a:defRPr/>
            </a:pP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1200" cap="none" spc="0" normalizeH="0" baseline="0" noProof="0" dirty="0" err="1">
                <a:ln>
                  <a:noFill/>
                </a:ln>
                <a:solidFill>
                  <a:srgbClr val="001080"/>
                </a:solidFill>
                <a:effectLst/>
                <a:uLnTx/>
                <a:uFillTx/>
                <a:latin typeface="Consolas" panose="020B0609020204030204" pitchFamily="49" charset="0"/>
                <a:sym typeface="Helvetica Neue" panose="02000503000000020004"/>
              </a:rPr>
              <a:t>h</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err="1">
                <a:ln>
                  <a:noFill/>
                </a:ln>
                <a:solidFill>
                  <a:srgbClr val="795E26"/>
                </a:solidFill>
                <a:effectLst/>
                <a:uLnTx/>
                <a:uFillTx/>
                <a:latin typeface="Consolas" panose="020B0609020204030204" pitchFamily="49" charset="0"/>
                <a:sym typeface="Helvetica Neue" panose="02000503000000020004"/>
              </a:rPr>
              <a:t>parallel_for</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a:ln>
                  <a:noFill/>
                </a:ln>
                <a:solidFill>
                  <a:srgbClr val="795E26"/>
                </a:solidFill>
                <a:effectLst/>
                <a:uLnTx/>
                <a:uFillTx/>
                <a:latin typeface="Consolas" panose="020B0609020204030204" pitchFamily="49" charset="0"/>
                <a:sym typeface="Helvetica Neue" panose="02000503000000020004"/>
              </a:rPr>
              <a:t>range</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600" b="0" i="0" u="none" strike="noStrike" kern="120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&gt;(N), </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a:ln>
                  <a:noFill/>
                </a:ln>
                <a:solidFill>
                  <a:srgbClr val="267F99"/>
                </a:solidFill>
                <a:effectLst/>
                <a:highlight>
                  <a:srgbClr val="FFFF00"/>
                </a:highlight>
                <a:uLnTx/>
                <a:uFillTx/>
                <a:latin typeface="Consolas" panose="020B0609020204030204" pitchFamily="49" charset="0"/>
                <a:sym typeface="Helvetica Neue" panose="02000503000000020004"/>
              </a:rPr>
              <a:t>id</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&lt;</a:t>
            </a:r>
            <a:r>
              <a:rPr kumimoji="0" lang="en-US" sz="1600" b="0" i="0" u="none" strike="noStrike" kern="1200" cap="none" spc="0" normalizeH="0" baseline="0" noProof="0" dirty="0">
                <a:ln>
                  <a:noFill/>
                </a:ln>
                <a:solidFill>
                  <a:srgbClr val="098658"/>
                </a:solidFill>
                <a:effectLst/>
                <a:highlight>
                  <a:srgbClr val="FFFF00"/>
                </a:highlight>
                <a:uLnTx/>
                <a:uFillTx/>
                <a:latin typeface="Consolas" panose="020B0609020204030204" pitchFamily="49" charset="0"/>
                <a:sym typeface="Helvetica Neue" panose="02000503000000020004"/>
              </a:rPr>
              <a:t>1</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&gt; </a:t>
            </a:r>
            <a:r>
              <a:rPr kumimoji="0" lang="en-US" sz="16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sym typeface="Helvetica Neue" panose="02000503000000020004"/>
              </a:rPr>
              <a:t>i</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 {</a:t>
            </a:r>
          </a:p>
          <a:p>
            <a:pPr marL="0" marR="0" lvl="0" indent="0" algn="l" defTabSz="457200" rtl="0" eaLnBrk="1" fontAlgn="auto" latinLnBrk="0" hangingPunct="1">
              <a:lnSpc>
                <a:spcPct val="150000"/>
              </a:lnSpc>
              <a:spcBef>
                <a:spcPts val="0"/>
              </a:spcBef>
              <a:spcAft>
                <a:spcPts val="0"/>
              </a:spcAft>
              <a:buClrTx/>
              <a:buSzTx/>
              <a:buFontTx/>
              <a:buNone/>
              <a:defRPr/>
            </a:pP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    </a:t>
            </a:r>
            <a:r>
              <a:rPr kumimoji="0" lang="en-US" sz="1600" b="0" i="0" u="none" strike="noStrike" kern="1200" cap="none" spc="0" normalizeH="0" baseline="0" noProof="0" dirty="0">
                <a:ln>
                  <a:noFill/>
                </a:ln>
                <a:solidFill>
                  <a:srgbClr val="001080"/>
                </a:solidFill>
                <a:effectLst/>
                <a:highlight>
                  <a:srgbClr val="FFFF00"/>
                </a:highlight>
                <a:uLnTx/>
                <a:uFillTx/>
                <a:latin typeface="Consolas" panose="020B0609020204030204" pitchFamily="49" charset="0"/>
                <a:sym typeface="Helvetica Neue" panose="02000503000000020004"/>
              </a:rPr>
              <a:t>A</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sym typeface="Helvetica Neue" panose="02000503000000020004"/>
              </a:rPr>
              <a:t>i</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 = </a:t>
            </a:r>
            <a:r>
              <a:rPr kumimoji="0" lang="en-US" sz="1600" b="0" i="0" u="none" strike="noStrike" kern="1200" cap="none" spc="0" normalizeH="0" baseline="0" noProof="0" dirty="0">
                <a:ln>
                  <a:noFill/>
                </a:ln>
                <a:solidFill>
                  <a:srgbClr val="001080"/>
                </a:solidFill>
                <a:effectLst/>
                <a:highlight>
                  <a:srgbClr val="FFFF00"/>
                </a:highlight>
                <a:uLnTx/>
                <a:uFillTx/>
                <a:latin typeface="Consolas" panose="020B0609020204030204" pitchFamily="49" charset="0"/>
                <a:sym typeface="Helvetica Neue" panose="02000503000000020004"/>
              </a:rPr>
              <a:t>B</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sym typeface="Helvetica Neue" panose="02000503000000020004"/>
              </a:rPr>
              <a:t>i</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 + </a:t>
            </a:r>
            <a:r>
              <a:rPr kumimoji="0" lang="en-US" sz="1600" b="0" i="0" u="none" strike="noStrike" kern="1200" cap="none" spc="0" normalizeH="0" baseline="0" noProof="0" dirty="0">
                <a:ln>
                  <a:noFill/>
                </a:ln>
                <a:solidFill>
                  <a:srgbClr val="001080"/>
                </a:solidFill>
                <a:effectLst/>
                <a:highlight>
                  <a:srgbClr val="FFFF00"/>
                </a:highlight>
                <a:uLnTx/>
                <a:uFillTx/>
                <a:latin typeface="Consolas" panose="020B0609020204030204" pitchFamily="49" charset="0"/>
                <a:sym typeface="Helvetica Neue" panose="02000503000000020004"/>
              </a:rPr>
              <a:t>C</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a:t>
            </a:r>
            <a:r>
              <a:rPr kumimoji="0" lang="en-US" sz="16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sym typeface="Helvetica Neue" panose="02000503000000020004"/>
              </a:rPr>
              <a:t>i</a:t>
            </a: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a:t>
            </a:r>
          </a:p>
          <a:p>
            <a:pPr marL="0" marR="0" lvl="0" indent="0" algn="l" defTabSz="457200" rtl="0" eaLnBrk="1" fontAlgn="auto" latinLnBrk="0" hangingPunct="1">
              <a:lnSpc>
                <a:spcPct val="150000"/>
              </a:lnSpc>
              <a:spcBef>
                <a:spcPts val="0"/>
              </a:spcBef>
              <a:spcAft>
                <a:spcPts val="0"/>
              </a:spcAft>
              <a:buClrTx/>
              <a:buSzTx/>
              <a:buFontTx/>
              <a:buNone/>
              <a:defRPr/>
            </a:pPr>
            <a:r>
              <a:rPr kumimoji="0" lang="en-US" sz="16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sym typeface="Helvetica Neue" panose="02000503000000020004"/>
              </a:rPr>
              <a:t>  }</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457200" rtl="0" eaLnBrk="1" fontAlgn="auto" latinLnBrk="0" hangingPunct="1">
              <a:lnSpc>
                <a:spcPct val="150000"/>
              </a:lnSpc>
              <a:spcBef>
                <a:spcPts val="0"/>
              </a:spcBef>
              <a:spcAft>
                <a:spcPts val="0"/>
              </a:spcAft>
              <a:buClrTx/>
              <a:buSzTx/>
              <a:buFontTx/>
              <a:buNone/>
              <a:defRPr/>
            </a:pP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90000"/>
              </a:lnSpc>
              <a:spcBef>
                <a:spcPts val="0"/>
              </a:spcBef>
              <a:spcAft>
                <a:spcPts val="0"/>
              </a:spcAft>
              <a:buClrTx/>
              <a:buSzTx/>
              <a:buFontTx/>
              <a:buNone/>
              <a:defRPr/>
            </a:pPr>
            <a:endParaRPr kumimoji="0" lang="en-US" sz="1400" b="0"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6" name="Rectangle: Rounded Corners 15"/>
          <p:cNvSpPr/>
          <p:nvPr/>
        </p:nvSpPr>
        <p:spPr>
          <a:xfrm>
            <a:off x="940314" y="4523018"/>
            <a:ext cx="5103719" cy="1069984"/>
          </a:xfrm>
          <a:prstGeom prst="roundRect">
            <a:avLst>
              <a:gd name="adj" fmla="val 6871"/>
            </a:avLst>
          </a:prstGeom>
          <a:noFill/>
          <a:ln w="19050" cap="flat" cmpd="sng" algn="ctr">
            <a:solidFill>
              <a:srgbClr val="D9693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11" name="文本框 10">
            <a:extLst>
              <a:ext uri="{FF2B5EF4-FFF2-40B4-BE49-F238E27FC236}">
                <a16:creationId xmlns:a16="http://schemas.microsoft.com/office/drawing/2014/main" id="{A3919E21-4D06-4AAA-B434-1E8E93732E7F}"/>
              </a:ext>
            </a:extLst>
          </p:cNvPr>
          <p:cNvSpPr txBox="1"/>
          <p:nvPr/>
        </p:nvSpPr>
        <p:spPr>
          <a:xfrm>
            <a:off x="4432256" y="3398292"/>
            <a:ext cx="3888432" cy="584775"/>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参数一：范围，指出</a:t>
            </a:r>
            <a:r>
              <a:rPr lang="en-US" altLang="zh-CN" sz="1600" dirty="0">
                <a:solidFill>
                  <a:srgbClr val="FF0000"/>
                </a:solidFill>
                <a:latin typeface="微软雅黑" panose="020B0503020204020204" pitchFamily="34" charset="-122"/>
                <a:ea typeface="微软雅黑" panose="020B0503020204020204" pitchFamily="34" charset="-122"/>
              </a:rPr>
              <a:t>buffer</a:t>
            </a:r>
            <a:r>
              <a:rPr lang="zh-CN" altLang="en-US" sz="1600" dirty="0">
                <a:solidFill>
                  <a:srgbClr val="FF0000"/>
                </a:solidFill>
                <a:latin typeface="微软雅黑" panose="020B0503020204020204" pitchFamily="34" charset="-122"/>
                <a:ea typeface="微软雅黑" panose="020B0503020204020204" pitchFamily="34" charset="-122"/>
              </a:rPr>
              <a:t>中元素个数，亦即并行处理的数据量，</a:t>
            </a:r>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维</a:t>
            </a:r>
            <a:r>
              <a:rPr lang="en-US" altLang="zh-CN" sz="1600" dirty="0">
                <a:solidFill>
                  <a:srgbClr val="FF0000"/>
                </a:solidFill>
                <a:latin typeface="微软雅黑" panose="020B0503020204020204" pitchFamily="34" charset="-122"/>
                <a:ea typeface="微软雅黑" panose="020B0503020204020204" pitchFamily="34" charset="-122"/>
              </a:rPr>
              <a:t>N</a:t>
            </a:r>
            <a:r>
              <a:rPr lang="zh-CN" altLang="en-US" sz="1600" dirty="0">
                <a:solidFill>
                  <a:srgbClr val="FF0000"/>
                </a:solidFill>
                <a:latin typeface="微软雅黑" panose="020B0503020204020204" pitchFamily="34" charset="-122"/>
                <a:ea typeface="微软雅黑" panose="020B0503020204020204" pitchFamily="34" charset="-122"/>
              </a:rPr>
              <a:t>个元素</a:t>
            </a:r>
          </a:p>
        </p:txBody>
      </p:sp>
      <p:cxnSp>
        <p:nvCxnSpPr>
          <p:cNvPr id="12" name="直接箭头连接符 11">
            <a:extLst>
              <a:ext uri="{FF2B5EF4-FFF2-40B4-BE49-F238E27FC236}">
                <a16:creationId xmlns:a16="http://schemas.microsoft.com/office/drawing/2014/main" id="{FBBEC974-D436-4571-83C6-BB50704BAD48}"/>
              </a:ext>
            </a:extLst>
          </p:cNvPr>
          <p:cNvCxnSpPr>
            <a:cxnSpLocks/>
            <a:stCxn id="11" idx="1"/>
          </p:cNvCxnSpPr>
          <p:nvPr/>
        </p:nvCxnSpPr>
        <p:spPr bwMode="auto">
          <a:xfrm flipH="1">
            <a:off x="3635896" y="3690680"/>
            <a:ext cx="796360" cy="890448"/>
          </a:xfrm>
          <a:prstGeom prst="straightConnector1">
            <a:avLst/>
          </a:prstGeom>
          <a:solidFill>
            <a:srgbClr val="FFCF01"/>
          </a:solidFill>
          <a:ln w="25400" cap="flat" cmpd="sng" algn="ctr">
            <a:solidFill>
              <a:srgbClr val="FF0000"/>
            </a:solidFill>
            <a:prstDash val="solid"/>
            <a:round/>
            <a:headEnd type="none" w="med" len="med"/>
            <a:tailEnd type="triangle"/>
          </a:ln>
        </p:spPr>
      </p:cxnSp>
      <p:sp>
        <p:nvSpPr>
          <p:cNvPr id="19" name="文本框 18">
            <a:extLst>
              <a:ext uri="{FF2B5EF4-FFF2-40B4-BE49-F238E27FC236}">
                <a16:creationId xmlns:a16="http://schemas.microsoft.com/office/drawing/2014/main" id="{2127EA76-3D54-49EA-A058-71B4EF5A8C72}"/>
              </a:ext>
            </a:extLst>
          </p:cNvPr>
          <p:cNvSpPr txBox="1"/>
          <p:nvPr/>
        </p:nvSpPr>
        <p:spPr>
          <a:xfrm>
            <a:off x="3923928" y="5614091"/>
            <a:ext cx="4037384" cy="830997"/>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参数二：</a:t>
            </a:r>
            <a:r>
              <a:rPr lang="en-US" altLang="zh-CN" sz="1600" dirty="0">
                <a:solidFill>
                  <a:srgbClr val="FF0000"/>
                </a:solidFill>
                <a:latin typeface="微软雅黑" panose="020B0503020204020204" pitchFamily="34" charset="-122"/>
                <a:ea typeface="微软雅黑" panose="020B0503020204020204" pitchFamily="34" charset="-122"/>
              </a:rPr>
              <a:t>lambda</a:t>
            </a:r>
            <a:r>
              <a:rPr lang="zh-CN" altLang="en-US" sz="1600" dirty="0">
                <a:solidFill>
                  <a:srgbClr val="FF0000"/>
                </a:solidFill>
                <a:latin typeface="微软雅黑" panose="020B0503020204020204" pitchFamily="34" charset="-122"/>
                <a:ea typeface="微软雅黑" panose="020B0503020204020204" pitchFamily="34" charset="-122"/>
              </a:rPr>
              <a:t>函数，在设备上执行，对范围中每个索引（即</a:t>
            </a:r>
            <a:r>
              <a:rPr lang="en-US" altLang="zh-CN" sz="1600" dirty="0">
                <a:solidFill>
                  <a:srgbClr val="FF0000"/>
                </a:solidFill>
                <a:latin typeface="微软雅黑" panose="020B0503020204020204" pitchFamily="34" charset="-122"/>
                <a:ea typeface="微软雅黑" panose="020B0503020204020204" pitchFamily="34" charset="-122"/>
              </a:rPr>
              <a:t>buffer</a:t>
            </a:r>
            <a:r>
              <a:rPr lang="zh-CN" altLang="en-US" sz="1600" dirty="0">
                <a:solidFill>
                  <a:srgbClr val="FF0000"/>
                </a:solidFill>
                <a:latin typeface="微软雅黑" panose="020B0503020204020204" pitchFamily="34" charset="-122"/>
                <a:ea typeface="微软雅黑" panose="020B0503020204020204" pitchFamily="34" charset="-122"/>
              </a:rPr>
              <a:t>中每个元素，通过参数</a:t>
            </a:r>
            <a:r>
              <a:rPr lang="en-US" altLang="zh-CN" sz="1600" dirty="0" err="1">
                <a:solidFill>
                  <a:srgbClr val="FF0000"/>
                </a:solidFill>
                <a:latin typeface="微软雅黑" panose="020B0503020204020204" pitchFamily="34" charset="-122"/>
                <a:ea typeface="微软雅黑" panose="020B0503020204020204" pitchFamily="34" charset="-122"/>
              </a:rPr>
              <a:t>i</a:t>
            </a:r>
            <a:r>
              <a:rPr lang="zh-CN" altLang="en-US" sz="1600" dirty="0">
                <a:solidFill>
                  <a:srgbClr val="FF0000"/>
                </a:solidFill>
                <a:latin typeface="微软雅黑" panose="020B0503020204020204" pitchFamily="34" charset="-122"/>
                <a:ea typeface="微软雅黑" panose="020B0503020204020204" pitchFamily="34" charset="-122"/>
              </a:rPr>
              <a:t>传递过来）都调用一次此函数</a:t>
            </a:r>
          </a:p>
        </p:txBody>
      </p:sp>
      <p:cxnSp>
        <p:nvCxnSpPr>
          <p:cNvPr id="20" name="直接箭头连接符 19">
            <a:extLst>
              <a:ext uri="{FF2B5EF4-FFF2-40B4-BE49-F238E27FC236}">
                <a16:creationId xmlns:a16="http://schemas.microsoft.com/office/drawing/2014/main" id="{8CF18A3F-DEA0-42DD-8AAC-2ED39AE20892}"/>
              </a:ext>
            </a:extLst>
          </p:cNvPr>
          <p:cNvCxnSpPr>
            <a:cxnSpLocks/>
            <a:stCxn id="19" idx="0"/>
          </p:cNvCxnSpPr>
          <p:nvPr/>
        </p:nvCxnSpPr>
        <p:spPr bwMode="auto">
          <a:xfrm flipH="1" flipV="1">
            <a:off x="5508104" y="4797152"/>
            <a:ext cx="434516" cy="816939"/>
          </a:xfrm>
          <a:prstGeom prst="straightConnector1">
            <a:avLst/>
          </a:prstGeom>
          <a:solidFill>
            <a:srgbClr val="FFCF01"/>
          </a:solidFill>
          <a:ln w="25400" cap="flat" cmpd="sng" algn="ctr">
            <a:solidFill>
              <a:srgbClr val="FF0000"/>
            </a:solidFill>
            <a:prstDash val="solid"/>
            <a:round/>
            <a:headEnd type="none" w="med" len="med"/>
            <a:tailEnd type="triangle"/>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1" grpId="0"/>
      <p:bldP spid="19"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DPC++</a:t>
            </a:r>
            <a:r>
              <a:rPr lang="zh-CN" altLang="en-US" dirty="0"/>
              <a:t>语言和运行时</a:t>
            </a:r>
          </a:p>
        </p:txBody>
      </p:sp>
      <p:sp>
        <p:nvSpPr>
          <p:cNvPr id="3" name="内容占位符 2"/>
          <p:cNvSpPr>
            <a:spLocks noGrp="1"/>
          </p:cNvSpPr>
          <p:nvPr>
            <p:ph idx="1"/>
          </p:nvPr>
        </p:nvSpPr>
        <p:spPr/>
        <p:txBody>
          <a:bodyPr/>
          <a:lstStyle/>
          <a:p>
            <a:r>
              <a:rPr lang="en-US" altLang="zh-CN" dirty="0"/>
              <a:t>DPC++</a:t>
            </a:r>
            <a:r>
              <a:rPr lang="zh-CN" altLang="en-US" dirty="0"/>
              <a:t>语言和运行时包括一组</a:t>
            </a:r>
            <a:r>
              <a:rPr lang="en-US" altLang="zh-CN" dirty="0"/>
              <a:t>C++</a:t>
            </a:r>
            <a:r>
              <a:rPr lang="zh-CN" altLang="en-US" dirty="0"/>
              <a:t>类、模板和库</a:t>
            </a:r>
            <a:endParaRPr lang="en-US" altLang="zh-CN" dirty="0"/>
          </a:p>
          <a:p>
            <a:r>
              <a:rPr lang="zh-CN" altLang="en-US" dirty="0">
                <a:latin typeface="黑体" panose="02010609060101010101" pitchFamily="49" charset="-122"/>
                <a:ea typeface="黑体" panose="02010609060101010101" pitchFamily="49" charset="-122"/>
              </a:rPr>
              <a:t>应用作用域</a:t>
            </a:r>
            <a:r>
              <a:rPr lang="zh-CN" altLang="en-US" dirty="0"/>
              <a:t>和</a:t>
            </a:r>
            <a:r>
              <a:rPr lang="zh-CN" altLang="en-US" dirty="0">
                <a:latin typeface="黑体" panose="02010609060101010101" pitchFamily="49" charset="-122"/>
                <a:ea typeface="黑体" panose="02010609060101010101" pitchFamily="49" charset="-122"/>
              </a:rPr>
              <a:t>命令组作用域</a:t>
            </a:r>
            <a:endParaRPr lang="en-US" altLang="zh-CN" dirty="0">
              <a:latin typeface="黑体" panose="02010609060101010101" pitchFamily="49" charset="-122"/>
              <a:ea typeface="黑体" panose="02010609060101010101" pitchFamily="49" charset="-122"/>
            </a:endParaRPr>
          </a:p>
          <a:p>
            <a:pPr lvl="1"/>
            <a:r>
              <a:rPr lang="zh-CN" altLang="en-US" dirty="0"/>
              <a:t>包含运行在主机端的代码</a:t>
            </a:r>
            <a:endParaRPr lang="en-US" altLang="zh-CN" dirty="0"/>
          </a:p>
          <a:p>
            <a:pPr lvl="1"/>
            <a:r>
              <a:rPr lang="zh-CN" altLang="en-US" dirty="0"/>
              <a:t>在应用作用域和命令组作用域中可使用全部</a:t>
            </a:r>
            <a:r>
              <a:rPr lang="en-US" altLang="zh-CN" dirty="0"/>
              <a:t>C++</a:t>
            </a:r>
            <a:r>
              <a:rPr lang="zh-CN" altLang="en-US" dirty="0"/>
              <a:t>特性</a:t>
            </a:r>
            <a:endParaRPr lang="en-US" altLang="zh-CN" dirty="0"/>
          </a:p>
          <a:p>
            <a:r>
              <a:rPr lang="en-US" altLang="zh-CN" b="1" dirty="0"/>
              <a:t>Kernel</a:t>
            </a:r>
            <a:r>
              <a:rPr lang="zh-CN" altLang="en-US" dirty="0">
                <a:latin typeface="黑体" panose="02010609060101010101" pitchFamily="49" charset="-122"/>
                <a:ea typeface="黑体" panose="02010609060101010101" pitchFamily="49" charset="-122"/>
              </a:rPr>
              <a:t>作用域</a:t>
            </a:r>
            <a:endParaRPr lang="en-US" altLang="zh-CN" dirty="0">
              <a:latin typeface="黑体" panose="02010609060101010101" pitchFamily="49" charset="-122"/>
              <a:ea typeface="黑体" panose="02010609060101010101" pitchFamily="49" charset="-122"/>
            </a:endParaRPr>
          </a:p>
          <a:p>
            <a:pPr lvl="1"/>
            <a:r>
              <a:rPr lang="zh-CN" altLang="en-US" dirty="0"/>
              <a:t>包含运行在设备端的代码</a:t>
            </a:r>
            <a:endParaRPr lang="en-US" altLang="zh-CN" dirty="0"/>
          </a:p>
          <a:p>
            <a:pPr lvl="1"/>
            <a:r>
              <a:rPr lang="zh-CN" altLang="en-US" dirty="0"/>
              <a:t>在</a:t>
            </a:r>
            <a:r>
              <a:rPr lang="en-US" altLang="zh-CN" dirty="0"/>
              <a:t>kernel</a:t>
            </a:r>
            <a:r>
              <a:rPr lang="zh-CN" altLang="en-US" dirty="0"/>
              <a:t>作用域，可使用的</a:t>
            </a:r>
            <a:r>
              <a:rPr lang="en-US" altLang="zh-CN" dirty="0"/>
              <a:t>C++</a:t>
            </a:r>
            <a:r>
              <a:rPr lang="zh-CN" altLang="en-US" dirty="0"/>
              <a:t>特性有限制</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并行</a:t>
            </a:r>
            <a:r>
              <a:rPr lang="en-US" altLang="zh-CN" dirty="0"/>
              <a:t>kernel</a:t>
            </a:r>
            <a:endParaRPr lang="zh-CN" altLang="en-US" dirty="0"/>
          </a:p>
        </p:txBody>
      </p:sp>
      <p:sp>
        <p:nvSpPr>
          <p:cNvPr id="3" name="内容占位符 2"/>
          <p:cNvSpPr>
            <a:spLocks noGrp="1"/>
          </p:cNvSpPr>
          <p:nvPr>
            <p:ph idx="1"/>
          </p:nvPr>
        </p:nvSpPr>
        <p:spPr/>
        <p:txBody>
          <a:bodyPr/>
          <a:lstStyle/>
          <a:p>
            <a:r>
              <a:rPr lang="zh-CN" altLang="en-US" sz="2800" dirty="0"/>
              <a:t>并行</a:t>
            </a:r>
            <a:r>
              <a:rPr lang="en-US" altLang="zh-CN" sz="2800" dirty="0"/>
              <a:t>kernel</a:t>
            </a:r>
            <a:r>
              <a:rPr lang="zh-CN" altLang="en-US" sz="2800" dirty="0"/>
              <a:t>允许一个操作的多个实例并发执行</a:t>
            </a:r>
            <a:endParaRPr lang="en-US" altLang="zh-CN" sz="2800" dirty="0"/>
          </a:p>
          <a:p>
            <a:r>
              <a:rPr lang="zh-CN" altLang="en-US" sz="2800" dirty="0"/>
              <a:t>如果</a:t>
            </a:r>
            <a:r>
              <a:rPr lang="en-US" altLang="zh-CN" sz="2800" b="1" dirty="0"/>
              <a:t>for</a:t>
            </a:r>
            <a:r>
              <a:rPr lang="zh-CN" altLang="en-US" sz="2800" dirty="0">
                <a:latin typeface="黑体" panose="02010609060101010101" pitchFamily="49" charset="-122"/>
                <a:ea typeface="黑体" panose="02010609060101010101" pitchFamily="49" charset="-122"/>
              </a:rPr>
              <a:t>循环</a:t>
            </a:r>
            <a:r>
              <a:rPr lang="zh-CN" altLang="en-US" sz="2800" dirty="0"/>
              <a:t>的迭代步完全独立、可按任何顺序执行，则可利用并行</a:t>
            </a:r>
            <a:r>
              <a:rPr lang="en-US" altLang="zh-CN" sz="2800" dirty="0"/>
              <a:t>kernel</a:t>
            </a:r>
            <a:r>
              <a:rPr lang="zh-CN" altLang="en-US" sz="2800" dirty="0"/>
              <a:t>卸载它、并行执行来说很有用</a:t>
            </a:r>
            <a:endParaRPr lang="en-US" altLang="zh-CN" sz="2800" dirty="0"/>
          </a:p>
          <a:p>
            <a:r>
              <a:rPr lang="zh-CN" altLang="en-US" sz="2800" dirty="0"/>
              <a:t>并行</a:t>
            </a:r>
            <a:r>
              <a:rPr lang="en-US" altLang="zh-CN" sz="2800" dirty="0"/>
              <a:t>kernel</a:t>
            </a:r>
            <a:r>
              <a:rPr lang="zh-CN" altLang="en-US" sz="2800" dirty="0"/>
              <a:t>用</a:t>
            </a:r>
            <a:r>
              <a:rPr lang="en-US" altLang="zh-CN" sz="2800" dirty="0" err="1"/>
              <a:t>parallel_for</a:t>
            </a:r>
            <a:r>
              <a:rPr lang="zh-CN" altLang="en-US" sz="2800" dirty="0"/>
              <a:t>函数表达</a:t>
            </a:r>
          </a:p>
        </p:txBody>
      </p:sp>
      <p:grpSp>
        <p:nvGrpSpPr>
          <p:cNvPr id="14" name="Group 3"/>
          <p:cNvGrpSpPr/>
          <p:nvPr/>
        </p:nvGrpSpPr>
        <p:grpSpPr>
          <a:xfrm>
            <a:off x="4725624" y="4510076"/>
            <a:ext cx="3950832" cy="1169837"/>
            <a:chOff x="5242989" y="505096"/>
            <a:chExt cx="5621214" cy="6257626"/>
          </a:xfrm>
        </p:grpSpPr>
        <p:sp>
          <p:nvSpPr>
            <p:cNvPr id="15" name="Rectangle: Single Corner Snipped 4"/>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32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6" name="TextBox 6"/>
            <p:cNvSpPr txBox="1"/>
            <p:nvPr/>
          </p:nvSpPr>
          <p:spPr>
            <a:xfrm>
              <a:off x="5390906" y="611432"/>
              <a:ext cx="5473297" cy="4286322"/>
            </a:xfrm>
            <a:prstGeom prst="rect">
              <a:avLst/>
            </a:prstGeom>
            <a:noFill/>
          </p:spPr>
          <p:txBody>
            <a:bodyPr vert="horz" wrap="square" lIns="0" tIns="0" rIns="0" bIns="0" rtlCol="0">
              <a:spAutoFit/>
            </a:bodyPr>
            <a:lstStyle/>
            <a:p>
              <a:pPr marL="0" marR="0" lvl="0" indent="0" defTabSz="1219200" eaLnBrk="1" fontAlgn="auto" latinLnBrk="0" hangingPunct="1">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1024</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 B</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C</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p:txBody>
        </p:sp>
      </p:grpSp>
      <p:grpSp>
        <p:nvGrpSpPr>
          <p:cNvPr id="18" name="Group 8"/>
          <p:cNvGrpSpPr/>
          <p:nvPr/>
        </p:nvGrpSpPr>
        <p:grpSpPr>
          <a:xfrm>
            <a:off x="1071537" y="4510076"/>
            <a:ext cx="2685575" cy="1169837"/>
            <a:chOff x="5242989" y="505096"/>
            <a:chExt cx="5621214" cy="6257626"/>
          </a:xfrm>
        </p:grpSpPr>
        <p:sp>
          <p:nvSpPr>
            <p:cNvPr id="19" name="Rectangle: Single Corner Snipped 9"/>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32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20" name="TextBox 10"/>
            <p:cNvSpPr txBox="1"/>
            <p:nvPr/>
          </p:nvSpPr>
          <p:spPr>
            <a:xfrm>
              <a:off x="5390906" y="611432"/>
              <a:ext cx="5473297" cy="4286322"/>
            </a:xfrm>
            <a:prstGeom prst="rect">
              <a:avLst/>
            </a:prstGeom>
            <a:noFill/>
          </p:spPr>
          <p:txBody>
            <a:bodyPr vert="horz" wrap="square" lIns="0" tIns="0" rIns="0" bIns="0" rtlCol="0">
              <a:spAutoFit/>
            </a:bodyPr>
            <a:lstStyle/>
            <a:p>
              <a:pPr marL="0" marR="0" lvl="0" indent="0" defTabSz="1219200" eaLnBrk="1" fontAlgn="auto" latinLnBrk="0" hangingPunct="1">
                <a:lnSpc>
                  <a:spcPct val="150000"/>
                </a:lnSpc>
                <a:spcBef>
                  <a:spcPts val="0"/>
                </a:spcBef>
                <a:spcAft>
                  <a:spcPts val="0"/>
                </a:spcAft>
                <a:buClrTx/>
                <a:buSzTx/>
                <a:buFontTx/>
                <a:buNone/>
                <a:defRPr/>
              </a:pPr>
              <a:r>
                <a:rPr kumimoji="0" lang="nn-NO" sz="12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for</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nn-NO"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a:t>
              </a:r>
              <a:r>
                <a:rPr kumimoji="0" lang="nn-NO" sz="12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 &lt; </a:t>
              </a:r>
              <a:r>
                <a:rPr kumimoji="0" lang="nn-NO" sz="12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1024</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a:t>
              </a:r>
            </a:p>
            <a:p>
              <a:pPr marL="0" marR="0" lvl="0" indent="0" defTabSz="1219200" eaLnBrk="1" fontAlgn="auto" latinLnBrk="0" hangingPunct="1">
                <a:lnSpc>
                  <a:spcPct val="150000"/>
                </a:lnSpc>
                <a:spcBef>
                  <a:spcPts val="0"/>
                </a:spcBef>
                <a:spcAft>
                  <a:spcPts val="0"/>
                </a:spcAft>
                <a:buClrTx/>
                <a:buSzTx/>
                <a:buFontTx/>
                <a:buNone/>
                <a:defRPr/>
              </a:pP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nn-NO"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a</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a:t>
              </a:r>
              <a:r>
                <a:rPr kumimoji="0" lang="nn-NO"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 b</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 </a:t>
              </a:r>
              <a:r>
                <a:rPr kumimoji="0" lang="nn-NO" sz="12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c</a:t>
              </a: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a:t>
              </a:r>
            </a:p>
            <a:p>
              <a:pPr marL="0" marR="0" lvl="0" indent="0" defTabSz="1219200" eaLnBrk="1" fontAlgn="auto" latinLnBrk="0" hangingPunct="1">
                <a:lnSpc>
                  <a:spcPct val="150000"/>
                </a:lnSpc>
                <a:spcBef>
                  <a:spcPts val="0"/>
                </a:spcBef>
                <a:spcAft>
                  <a:spcPts val="0"/>
                </a:spcAft>
                <a:buClrTx/>
                <a:buSzTx/>
                <a:buFontTx/>
                <a:buNone/>
                <a:defRPr/>
              </a:pPr>
              <a:r>
                <a:rPr kumimoji="0" lang="nn-NO"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p:txBody>
        </p:sp>
      </p:grpSp>
      <p:sp>
        <p:nvSpPr>
          <p:cNvPr id="21" name="Arrow: Right 11"/>
          <p:cNvSpPr/>
          <p:nvPr/>
        </p:nvSpPr>
        <p:spPr>
          <a:xfrm>
            <a:off x="4023750" y="4930610"/>
            <a:ext cx="405114" cy="204486"/>
          </a:xfrm>
          <a:prstGeom prst="rightArrow">
            <a:avLst/>
          </a:prstGeom>
          <a:solidFill>
            <a:srgbClr val="F6CB4B"/>
          </a:solidFill>
          <a:ln w="9525" cap="flat" cmpd="sng" algn="ctr">
            <a:solidFill>
              <a:srgbClr val="F6CB4B"/>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F6CB4B"/>
              </a:solidFill>
              <a:effectLst/>
              <a:uLnTx/>
              <a:uFillTx/>
              <a:latin typeface="Intel Clear"/>
              <a:sym typeface="Helvetica Neue" panose="02000503000000020004"/>
            </a:endParaRPr>
          </a:p>
        </p:txBody>
      </p:sp>
      <p:sp>
        <p:nvSpPr>
          <p:cNvPr id="22" name="TextBox 12"/>
          <p:cNvSpPr txBox="1"/>
          <p:nvPr/>
        </p:nvSpPr>
        <p:spPr>
          <a:xfrm>
            <a:off x="929516" y="4005064"/>
            <a:ext cx="3040283" cy="193899"/>
          </a:xfrm>
          <a:prstGeom prst="rect">
            <a:avLst/>
          </a:prstGeom>
          <a:noFill/>
        </p:spPr>
        <p:txBody>
          <a:bodyPr vert="horz" wrap="square" lIns="0" tIns="0" rIns="0" bIns="0" rtlCol="0">
            <a:spAutoFit/>
          </a:bodyPr>
          <a:lstStyle/>
          <a:p>
            <a:pPr algn="ctr" defTabSz="1219200" eaLnBrk="1" fontAlgn="auto">
              <a:lnSpc>
                <a:spcPct val="90000"/>
              </a:lnSpc>
              <a:spcBef>
                <a:spcPts val="2250"/>
              </a:spcBef>
              <a:spcAft>
                <a:spcPts val="0"/>
              </a:spcAft>
            </a:pPr>
            <a:r>
              <a:rPr kumimoji="0" lang="en-US" sz="1400" b="1" kern="0" dirty="0">
                <a:solidFill>
                  <a:schemeClr val="accent2"/>
                </a:solidFill>
                <a:latin typeface="Intel Clear"/>
                <a:sym typeface="Helvetica Neue" panose="02000503000000020004"/>
              </a:rPr>
              <a:t>CPU</a:t>
            </a:r>
            <a:r>
              <a:rPr kumimoji="0" lang="zh-CN" altLang="en-US" sz="1400" b="1" kern="0" dirty="0">
                <a:solidFill>
                  <a:schemeClr val="accent2"/>
                </a:solidFill>
                <a:latin typeface="Intel Clear"/>
                <a:sym typeface="Helvetica Neue" panose="02000503000000020004"/>
              </a:rPr>
              <a:t>应用中的</a:t>
            </a:r>
            <a:r>
              <a:rPr kumimoji="0" lang="en-US" sz="1400" b="1" kern="0" dirty="0">
                <a:solidFill>
                  <a:schemeClr val="accent2"/>
                </a:solidFill>
                <a:latin typeface="Intel Clear"/>
                <a:sym typeface="Helvetica Neue" panose="02000503000000020004"/>
              </a:rPr>
              <a:t>for</a:t>
            </a:r>
            <a:r>
              <a:rPr kumimoji="0" lang="zh-CN" altLang="en-US" sz="1400" kern="0" dirty="0">
                <a:solidFill>
                  <a:schemeClr val="accent2"/>
                </a:solidFill>
                <a:latin typeface="Intel Clear"/>
                <a:sym typeface="Helvetica Neue" panose="02000503000000020004"/>
              </a:rPr>
              <a:t>循环</a:t>
            </a:r>
            <a:endParaRPr kumimoji="0" lang="en-US" sz="1600" kern="0" dirty="0">
              <a:solidFill>
                <a:schemeClr val="accent2"/>
              </a:solidFill>
              <a:latin typeface="Intel Clear"/>
              <a:sym typeface="Helvetica Neue" panose="02000503000000020004"/>
            </a:endParaRPr>
          </a:p>
        </p:txBody>
      </p:sp>
      <p:sp>
        <p:nvSpPr>
          <p:cNvPr id="23" name="TextBox 13"/>
          <p:cNvSpPr txBox="1"/>
          <p:nvPr/>
        </p:nvSpPr>
        <p:spPr>
          <a:xfrm>
            <a:off x="4932039" y="4005064"/>
            <a:ext cx="3499528" cy="193899"/>
          </a:xfrm>
          <a:prstGeom prst="rect">
            <a:avLst/>
          </a:prstGeom>
          <a:noFill/>
        </p:spPr>
        <p:txBody>
          <a:bodyPr vert="horz" wrap="square" lIns="0" tIns="0" rIns="0" bIns="0" rtlCol="0">
            <a:spAutoFit/>
          </a:bodyPr>
          <a:lstStyle/>
          <a:p>
            <a:pPr algn="ctr" defTabSz="1219200" eaLnBrk="1" fontAlgn="auto">
              <a:lnSpc>
                <a:spcPct val="90000"/>
              </a:lnSpc>
              <a:spcBef>
                <a:spcPts val="2250"/>
              </a:spcBef>
              <a:spcAft>
                <a:spcPts val="0"/>
              </a:spcAft>
            </a:pPr>
            <a:r>
              <a:rPr kumimoji="0" lang="zh-CN" altLang="en-US" sz="1400" b="1" kern="0" dirty="0">
                <a:solidFill>
                  <a:schemeClr val="accent2"/>
                </a:solidFill>
                <a:latin typeface="Intel Clear"/>
                <a:sym typeface="Helvetica Neue" panose="02000503000000020004"/>
              </a:rPr>
              <a:t>使用</a:t>
            </a:r>
            <a:r>
              <a:rPr kumimoji="0" lang="en-US" sz="1400" b="1" kern="0" dirty="0" err="1">
                <a:solidFill>
                  <a:schemeClr val="accent2"/>
                </a:solidFill>
                <a:latin typeface="Intel Clear"/>
                <a:sym typeface="Helvetica Neue" panose="02000503000000020004"/>
              </a:rPr>
              <a:t>parallel_for</a:t>
            </a:r>
            <a:r>
              <a:rPr kumimoji="0" lang="zh-CN" altLang="en-US" sz="1400" b="1" kern="0" dirty="0">
                <a:solidFill>
                  <a:schemeClr val="accent2"/>
                </a:solidFill>
                <a:latin typeface="Intel Clear"/>
                <a:sym typeface="Helvetica Neue" panose="02000503000000020004"/>
              </a:rPr>
              <a:t>卸载到加速器</a:t>
            </a:r>
            <a:endParaRPr kumimoji="0" lang="en-US" sz="1400" b="1" kern="0" dirty="0">
              <a:solidFill>
                <a:schemeClr val="accent2"/>
              </a:solidFill>
              <a:latin typeface="Intel Clear"/>
              <a:sym typeface="Helvetica Neue" panose="02000503000000020004"/>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基本并行</a:t>
            </a:r>
            <a:r>
              <a:rPr lang="en-US" altLang="zh-CN" dirty="0"/>
              <a:t>kernel</a:t>
            </a:r>
            <a:endParaRPr lang="zh-CN" altLang="en-US" dirty="0"/>
          </a:p>
        </p:txBody>
      </p:sp>
      <p:sp>
        <p:nvSpPr>
          <p:cNvPr id="3" name="内容占位符 2"/>
          <p:cNvSpPr>
            <a:spLocks noGrp="1"/>
          </p:cNvSpPr>
          <p:nvPr>
            <p:ph idx="1"/>
          </p:nvPr>
        </p:nvSpPr>
        <p:spPr>
          <a:xfrm>
            <a:off x="539552" y="1371600"/>
            <a:ext cx="8415536" cy="4724400"/>
          </a:xfrm>
        </p:spPr>
        <p:txBody>
          <a:bodyPr/>
          <a:lstStyle/>
          <a:p>
            <a:r>
              <a:rPr lang="zh-CN" altLang="en-US" sz="2800" dirty="0"/>
              <a:t>基本并行循环的功能通过</a:t>
            </a:r>
            <a:r>
              <a:rPr lang="en-US" altLang="zh-CN" sz="2800" dirty="0"/>
              <a:t>range</a:t>
            </a:r>
            <a:r>
              <a:rPr lang="zh-CN" altLang="en-US" sz="2800" dirty="0"/>
              <a:t>、</a:t>
            </a:r>
            <a:r>
              <a:rPr lang="en-US" altLang="zh-CN" sz="2800" dirty="0"/>
              <a:t>id</a:t>
            </a:r>
            <a:r>
              <a:rPr lang="zh-CN" altLang="en-US" sz="2800" dirty="0"/>
              <a:t>和</a:t>
            </a:r>
            <a:r>
              <a:rPr lang="en-US" altLang="zh-CN" sz="2800" dirty="0"/>
              <a:t>item</a:t>
            </a:r>
            <a:r>
              <a:rPr lang="zh-CN" altLang="en-US" sz="2800" dirty="0"/>
              <a:t>类实现</a:t>
            </a:r>
            <a:endParaRPr lang="en-US" altLang="zh-CN" sz="2800" dirty="0"/>
          </a:p>
          <a:p>
            <a:pPr lvl="1"/>
            <a:r>
              <a:rPr lang="en-US" altLang="zh-CN" sz="2400" b="1" dirty="0"/>
              <a:t>Range</a:t>
            </a:r>
            <a:r>
              <a:rPr lang="zh-CN" altLang="en-US" sz="2400" dirty="0"/>
              <a:t>类用来描述并行</a:t>
            </a:r>
            <a:br>
              <a:rPr lang="en-US" altLang="zh-CN" sz="2400" dirty="0"/>
            </a:br>
            <a:r>
              <a:rPr lang="zh-CN" altLang="en-US" sz="2400" dirty="0"/>
              <a:t>执行的迭代范围</a:t>
            </a:r>
            <a:endParaRPr lang="en-US" altLang="zh-CN" sz="2400" dirty="0"/>
          </a:p>
          <a:p>
            <a:pPr lvl="1"/>
            <a:r>
              <a:rPr lang="en-US" altLang="zh-CN" sz="2400" b="1" dirty="0"/>
              <a:t>Id</a:t>
            </a:r>
            <a:r>
              <a:rPr lang="zh-CN" altLang="en-US" sz="2400" dirty="0"/>
              <a:t>类对并行执行中</a:t>
            </a:r>
            <a:r>
              <a:rPr lang="en-US" altLang="zh-CN" sz="2400" dirty="0"/>
              <a:t>kernel</a:t>
            </a:r>
            <a:br>
              <a:rPr lang="en-US" altLang="zh-CN" sz="2400" dirty="0"/>
            </a:br>
            <a:r>
              <a:rPr lang="zh-CN" altLang="en-US" sz="2400" dirty="0"/>
              <a:t>的一个个实例进行索引</a:t>
            </a:r>
            <a:endParaRPr lang="en-US" altLang="zh-CN" sz="2400" dirty="0"/>
          </a:p>
          <a:p>
            <a:pPr lvl="1"/>
            <a:r>
              <a:rPr lang="en-US" altLang="zh-CN" sz="2400" b="1" dirty="0"/>
              <a:t>Item</a:t>
            </a:r>
            <a:r>
              <a:rPr lang="zh-CN" altLang="en-US" sz="2400" dirty="0"/>
              <a:t>类表示一个</a:t>
            </a:r>
            <a:r>
              <a:rPr lang="en-US" altLang="zh-CN" sz="2400" dirty="0"/>
              <a:t>kernel</a:t>
            </a:r>
            <a:br>
              <a:rPr lang="en-US" altLang="zh-CN" sz="2400" dirty="0"/>
            </a:br>
            <a:r>
              <a:rPr lang="zh-CN" altLang="en-US" sz="2400" dirty="0"/>
              <a:t>函数的单个实例，它</a:t>
            </a:r>
            <a:br>
              <a:rPr lang="en-US" altLang="zh-CN" sz="2400" dirty="0"/>
            </a:br>
            <a:r>
              <a:rPr lang="zh-CN" altLang="en-US" sz="2400" dirty="0"/>
              <a:t>提供了成员函数来查询</a:t>
            </a:r>
            <a:br>
              <a:rPr lang="en-US" altLang="zh-CN" sz="2400" dirty="0"/>
            </a:br>
            <a:r>
              <a:rPr lang="zh-CN" altLang="en-US" sz="2400" dirty="0"/>
              <a:t>范围的属性</a:t>
            </a:r>
            <a:endParaRPr lang="en-US" altLang="zh-CN" sz="2400" dirty="0"/>
          </a:p>
          <a:p>
            <a:pPr lvl="1"/>
            <a:endParaRPr lang="zh-CN" altLang="en-US" sz="2400" dirty="0"/>
          </a:p>
        </p:txBody>
      </p:sp>
      <p:grpSp>
        <p:nvGrpSpPr>
          <p:cNvPr id="34" name="Group 16"/>
          <p:cNvGrpSpPr/>
          <p:nvPr/>
        </p:nvGrpSpPr>
        <p:grpSpPr>
          <a:xfrm>
            <a:off x="4716016" y="2060848"/>
            <a:ext cx="4306947" cy="1169837"/>
            <a:chOff x="5242989" y="505096"/>
            <a:chExt cx="5621214" cy="6257626"/>
          </a:xfrm>
        </p:grpSpPr>
        <p:sp>
          <p:nvSpPr>
            <p:cNvPr id="42" name="Rectangle: Single Corner Snipped 17"/>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32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43" name="TextBox 18"/>
            <p:cNvSpPr txBox="1"/>
            <p:nvPr/>
          </p:nvSpPr>
          <p:spPr>
            <a:xfrm>
              <a:off x="5390906" y="611432"/>
              <a:ext cx="5473297" cy="4286322"/>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h.parallel_for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(range&lt;1&gt;(1024), [=](id&lt;1&gt;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idx</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 </a:t>
              </a:r>
              <a:r>
                <a:rPr kumimoji="0" lang="zh-CN" alt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运行在设备端的代码</a:t>
              </a:r>
              <a:endParaRPr kumimoji="0" 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endParaRP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p:txBody>
        </p:sp>
      </p:grpSp>
      <p:grpSp>
        <p:nvGrpSpPr>
          <p:cNvPr id="35" name="Group 19"/>
          <p:cNvGrpSpPr/>
          <p:nvPr/>
        </p:nvGrpSpPr>
        <p:grpSpPr>
          <a:xfrm>
            <a:off x="4716015" y="3673585"/>
            <a:ext cx="4306949" cy="2000382"/>
            <a:chOff x="5242989" y="505096"/>
            <a:chExt cx="5621214" cy="6257626"/>
          </a:xfrm>
        </p:grpSpPr>
        <p:sp>
          <p:nvSpPr>
            <p:cNvPr id="40" name="Rectangle: Single Corner Snipped 20"/>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32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41" name="TextBox 21"/>
            <p:cNvSpPr txBox="1"/>
            <p:nvPr/>
          </p:nvSpPr>
          <p:spPr>
            <a:xfrm>
              <a:off x="5390906" y="611433"/>
              <a:ext cx="5473297" cy="4239692"/>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h.parallel_for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(range&lt;1&gt;(1024), [=](item&lt;1&gt; item){</a:t>
              </a: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idx</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item.</a:t>
              </a:r>
              <a:r>
                <a:rPr kumimoji="0" lang="en-US" sz="1200" b="0" i="0" u="none" strike="noStrike" kern="0" cap="none" spc="0" normalizeH="0" baseline="0" noProof="0" dirty="0" err="1">
                  <a:ln>
                    <a:noFill/>
                  </a:ln>
                  <a:solidFill>
                    <a:srgbClr val="0000FF"/>
                  </a:solidFill>
                  <a:effectLst/>
                  <a:uLnTx/>
                  <a:uFillTx/>
                  <a:latin typeface="Consolas" panose="020B0609020204030204" pitchFamily="49" charset="0"/>
                  <a:sym typeface="Helvetica Neue" panose="02000503000000020004"/>
                </a:rPr>
                <a:t>get_id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R =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item.</a:t>
              </a:r>
              <a:r>
                <a:rPr kumimoji="0" lang="en-US" sz="1200" b="0" i="0" u="none" strike="noStrike" kern="0" cap="none" spc="0" normalizeH="0" baseline="0" noProof="0" dirty="0" err="1">
                  <a:ln>
                    <a:noFill/>
                  </a:ln>
                  <a:solidFill>
                    <a:srgbClr val="0000FF"/>
                  </a:solidFill>
                  <a:effectLst/>
                  <a:uLnTx/>
                  <a:uFillTx/>
                  <a:latin typeface="Consolas" panose="020B0609020204030204" pitchFamily="49" charset="0"/>
                  <a:sym typeface="Helvetica Neue" panose="02000503000000020004"/>
                </a:rPr>
                <a:t>get_range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	// </a:t>
              </a:r>
              <a:r>
                <a:rPr kumimoji="0" lang="zh-CN" alt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运行在设备端的代码</a:t>
              </a:r>
              <a:endParaRPr kumimoji="0" 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endParaRPr>
            </a:p>
            <a:p>
              <a:pPr marL="0" marR="0" lvl="0" indent="0" algn="l" defTabSz="1219200" rtl="0" eaLnBrk="1" fontAlgn="auto" latinLnBrk="0" hangingPunct="0">
                <a:lnSpc>
                  <a:spcPct val="15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p:txBody>
        </p:sp>
      </p:grpSp>
      <p:sp>
        <p:nvSpPr>
          <p:cNvPr id="36" name="Rectangle: Rounded Corners 22"/>
          <p:cNvSpPr/>
          <p:nvPr/>
        </p:nvSpPr>
        <p:spPr>
          <a:xfrm>
            <a:off x="6083652" y="2125331"/>
            <a:ext cx="1152129" cy="22990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
        <p:nvSpPr>
          <p:cNvPr id="38" name="Rectangle: Rounded Corners 24"/>
          <p:cNvSpPr/>
          <p:nvPr/>
        </p:nvSpPr>
        <p:spPr>
          <a:xfrm>
            <a:off x="7762474" y="2133985"/>
            <a:ext cx="769340" cy="22990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
        <p:nvSpPr>
          <p:cNvPr id="44" name="Rectangle: Rounded Corners 22"/>
          <p:cNvSpPr/>
          <p:nvPr/>
        </p:nvSpPr>
        <p:spPr>
          <a:xfrm>
            <a:off x="6098916" y="3738645"/>
            <a:ext cx="1152129" cy="22990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
        <p:nvSpPr>
          <p:cNvPr id="45" name="Rectangle: Rounded Corners 24"/>
          <p:cNvSpPr/>
          <p:nvPr/>
        </p:nvSpPr>
        <p:spPr>
          <a:xfrm>
            <a:off x="7710340" y="3738645"/>
            <a:ext cx="1080119" cy="22990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accent4"/>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内存模型</a:t>
            </a:r>
          </a:p>
        </p:txBody>
      </p:sp>
      <p:sp>
        <p:nvSpPr>
          <p:cNvPr id="3" name="内容占位符 2"/>
          <p:cNvSpPr>
            <a:spLocks noGrp="1"/>
          </p:cNvSpPr>
          <p:nvPr>
            <p:ph idx="1"/>
          </p:nvPr>
        </p:nvSpPr>
        <p:spPr/>
        <p:txBody>
          <a:bodyPr/>
          <a:lstStyle/>
          <a:p>
            <a:r>
              <a:rPr lang="en-US" altLang="zh-CN" sz="2800" dirty="0"/>
              <a:t>SYCL</a:t>
            </a:r>
            <a:r>
              <a:rPr lang="zh-CN" altLang="en-US" sz="2800" dirty="0"/>
              <a:t>程序可以使用一种基于指针的内存模型</a:t>
            </a:r>
            <a:r>
              <a:rPr lang="en-US" altLang="zh-CN" sz="2800" dirty="0"/>
              <a:t>——</a:t>
            </a:r>
            <a:r>
              <a:rPr lang="zh-CN" altLang="en-US" sz="2800" dirty="0"/>
              <a:t>称为统一共享内存，或是使用缓冲</a:t>
            </a:r>
            <a:r>
              <a:rPr lang="en-US" altLang="zh-CN" sz="2800" dirty="0"/>
              <a:t>—</a:t>
            </a:r>
            <a:r>
              <a:rPr lang="zh-CN" altLang="en-US" sz="2800" dirty="0"/>
              <a:t>访问器模型</a:t>
            </a:r>
            <a:endParaRPr lang="en-US" altLang="zh-CN" dirty="0"/>
          </a:p>
          <a:p>
            <a:pPr lvl="1"/>
            <a:r>
              <a:rPr lang="zh-CN" altLang="en-US" sz="2800" dirty="0"/>
              <a:t>统一共享内存（</a:t>
            </a:r>
            <a:r>
              <a:rPr lang="en" altLang="zh-CN" sz="2800" dirty="0"/>
              <a:t> Unified Shared Memory</a:t>
            </a:r>
            <a:r>
              <a:rPr lang="zh-CN" altLang="en-US" sz="2800" dirty="0"/>
              <a:t>）：</a:t>
            </a:r>
            <a:r>
              <a:rPr lang="zh-CN" altLang="en-US" dirty="0"/>
              <a:t>基于指针的内存模型，访问主机端和设备端内存</a:t>
            </a:r>
            <a:endParaRPr lang="en-US" altLang="zh-CN" dirty="0"/>
          </a:p>
          <a:p>
            <a:pPr lvl="1"/>
            <a:r>
              <a:rPr lang="zh-CN" altLang="en-US" sz="2800" dirty="0"/>
              <a:t>缓冲内存模型（</a:t>
            </a:r>
            <a:r>
              <a:rPr lang="en" altLang="zh-CN" sz="2800" dirty="0"/>
              <a:t> Buffer Memory Model</a:t>
            </a:r>
            <a:r>
              <a:rPr lang="zh-CN" altLang="en-US" sz="2800" dirty="0"/>
              <a:t>）：定义一维、二维或三维的共享数组，可被</a:t>
            </a:r>
            <a:r>
              <a:rPr lang="en-US" altLang="zh-CN" sz="2800" dirty="0"/>
              <a:t>SYCL</a:t>
            </a:r>
            <a:r>
              <a:rPr lang="zh-CN" altLang="en-US" dirty="0"/>
              <a:t> </a:t>
            </a:r>
            <a:r>
              <a:rPr lang="en-US" altLang="zh-CN" dirty="0"/>
              <a:t>kernel</a:t>
            </a:r>
            <a:r>
              <a:rPr lang="zh-CN" altLang="en-US" dirty="0"/>
              <a:t>使用，通过访问器类来访问</a:t>
            </a:r>
            <a:endParaRPr lang="en-US" altLang="zh-CN" dirty="0"/>
          </a:p>
        </p:txBody>
      </p:sp>
    </p:spTree>
    <p:extLst>
      <p:ext uri="{BB962C8B-B14F-4D97-AF65-F5344CB8AC3E}">
        <p14:creationId xmlns:p14="http://schemas.microsoft.com/office/powerpoint/2010/main" val="5816122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统一共享内存</a:t>
            </a:r>
          </a:p>
        </p:txBody>
      </p:sp>
      <p:sp>
        <p:nvSpPr>
          <p:cNvPr id="3" name="内容占位符 2"/>
          <p:cNvSpPr>
            <a:spLocks noGrp="1"/>
          </p:cNvSpPr>
          <p:nvPr>
            <p:ph idx="1"/>
          </p:nvPr>
        </p:nvSpPr>
        <p:spPr/>
        <p:txBody>
          <a:bodyPr/>
          <a:lstStyle/>
          <a:p>
            <a:r>
              <a:rPr lang="zh-CN" altLang="en-US" sz="2800" dirty="0"/>
              <a:t>统一共享内存模型使得在主机端和设备端可以用同一个指针来访问内存</a:t>
            </a:r>
            <a:endParaRPr lang="en-US" altLang="zh-CN" dirty="0"/>
          </a:p>
        </p:txBody>
      </p:sp>
      <p:grpSp>
        <p:nvGrpSpPr>
          <p:cNvPr id="19" name="Group 3">
            <a:extLst>
              <a:ext uri="{FF2B5EF4-FFF2-40B4-BE49-F238E27FC236}">
                <a16:creationId xmlns:a16="http://schemas.microsoft.com/office/drawing/2014/main" id="{A7CDB663-0C99-C24A-8297-1D88F7F23F29}"/>
              </a:ext>
            </a:extLst>
          </p:cNvPr>
          <p:cNvGrpSpPr/>
          <p:nvPr/>
        </p:nvGrpSpPr>
        <p:grpSpPr>
          <a:xfrm>
            <a:off x="2311554" y="2471811"/>
            <a:ext cx="6580926" cy="3085504"/>
            <a:chOff x="5242989" y="505096"/>
            <a:chExt cx="5621214" cy="6257626"/>
          </a:xfrm>
        </p:grpSpPr>
        <p:sp>
          <p:nvSpPr>
            <p:cNvPr id="20" name="Rectangle: Single Corner Snipped 4">
              <a:extLst>
                <a:ext uri="{FF2B5EF4-FFF2-40B4-BE49-F238E27FC236}">
                  <a16:creationId xmlns:a16="http://schemas.microsoft.com/office/drawing/2014/main" id="{FCE257F5-55B4-4747-9238-4662CF15172B}"/>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ea typeface="Helvetica Neue"/>
                <a:cs typeface="Helvetica Neue"/>
                <a:sym typeface="Helvetica Neue"/>
              </a:endParaRPr>
            </a:p>
          </p:txBody>
        </p:sp>
        <p:sp>
          <p:nvSpPr>
            <p:cNvPr id="21" name="TextBox 6">
              <a:extLst>
                <a:ext uri="{FF2B5EF4-FFF2-40B4-BE49-F238E27FC236}">
                  <a16:creationId xmlns:a16="http://schemas.microsoft.com/office/drawing/2014/main" id="{BEFCEE14-8E7D-664A-9C13-F50CBA0AEF45}"/>
                </a:ext>
              </a:extLst>
            </p:cNvPr>
            <p:cNvSpPr txBox="1"/>
            <p:nvPr/>
          </p:nvSpPr>
          <p:spPr>
            <a:xfrm>
              <a:off x="5390906" y="611430"/>
              <a:ext cx="5473297" cy="5912020"/>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auto</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data =  </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ea typeface="Helvetica Neue"/>
                  <a:cs typeface="Helvetica Neue"/>
                  <a:sym typeface="Helvetica Neue"/>
                </a:rPr>
                <a:t>malloc_shared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&lt;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AF00DB"/>
                  </a:solidFill>
                  <a:effectLst/>
                  <a:uLnTx/>
                  <a:uFillTx/>
                  <a:latin typeface="Consolas" panose="020B0609020204030204" pitchFamily="49" charset="0"/>
                  <a:ea typeface="Helvetica Neue"/>
                  <a:cs typeface="Helvetica Neue"/>
                  <a:sym typeface="Helvetica Neue"/>
                </a:rPr>
                <a:t>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;i&lt;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N;i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 </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10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q</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ea typeface="Helvetica Neue"/>
                  <a:cs typeface="Helvetica Neue"/>
                  <a:sym typeface="Helvetica Neue"/>
                </a:rPr>
                <a:t>parallel_for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(N, [=](</a:t>
              </a:r>
              <a:r>
                <a:rPr kumimoji="0" lang="en-US" sz="1600" b="0" i="0" u="none" strike="noStrike" kern="0" cap="none" spc="0" normalizeH="0" baseline="0" noProof="0" dirty="0">
                  <a:ln>
                    <a:noFill/>
                  </a:ln>
                  <a:solidFill>
                    <a:srgbClr val="267F99"/>
                  </a:solidFill>
                  <a:effectLst/>
                  <a:uLnTx/>
                  <a:uFillTx/>
                  <a:latin typeface="Consolas" panose="020B0609020204030204" pitchFamily="49" charset="0"/>
                  <a:ea typeface="Helvetica Neue"/>
                  <a:cs typeface="Helvetica Neue"/>
                  <a:sym typeface="Helvetica Neue"/>
                </a:rPr>
                <a:t>auto </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 </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795E26"/>
                  </a:solidFill>
                  <a:effectLst/>
                  <a:uLnTx/>
                  <a:uFillTx/>
                  <a:latin typeface="Consolas" panose="020B0609020204030204" pitchFamily="49" charset="0"/>
                  <a:ea typeface="Helvetica Neue"/>
                  <a:cs typeface="Helvetica Neue"/>
                  <a:sym typeface="Helvetica Neue"/>
                </a:rPr>
                <a:t>wait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AF00DB"/>
                  </a:solidFill>
                  <a:effectLst/>
                  <a:uLnTx/>
                  <a:uFillTx/>
                  <a:latin typeface="Consolas" panose="020B0609020204030204" pitchFamily="49" charset="0"/>
                  <a:ea typeface="Helvetica Neue"/>
                  <a:cs typeface="Helvetica Neue"/>
                  <a:sym typeface="Helvetica Neue"/>
                </a:rPr>
                <a:t>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;i&lt;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N;i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267F99"/>
                  </a:solidFill>
                  <a:effectLst/>
                  <a:uLnTx/>
                  <a:uFillTx/>
                  <a:latin typeface="Consolas" panose="020B0609020204030204" pitchFamily="49" charset="0"/>
                  <a:ea typeface="Helvetica Neue"/>
                  <a:cs typeface="Helvetica Neue"/>
                  <a:sym typeface="Helvetica Neue"/>
                </a:rPr>
                <a:t>std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cout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&lt;&lt;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&lt;&lt; </a:t>
              </a:r>
              <a:r>
                <a:rPr kumimoji="0" lang="en-US" sz="1600" b="0" i="0" u="none" strike="noStrike" kern="0" cap="none" spc="0" normalizeH="0" baseline="0" noProof="0" dirty="0">
                  <a:ln>
                    <a:noFill/>
                  </a:ln>
                  <a:solidFill>
                    <a:srgbClr val="A31515"/>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795E26"/>
                  </a:solidFill>
                  <a:effectLst/>
                  <a:uLnTx/>
                  <a:uFillTx/>
                  <a:latin typeface="Consolas" panose="020B0609020204030204" pitchFamily="49" charset="0"/>
                  <a:ea typeface="Helvetica Neue"/>
                  <a:cs typeface="Helvetica Neue"/>
                  <a:sym typeface="Helvetica Neue"/>
                </a:rPr>
                <a:t>free</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(data, q);</a:t>
              </a:r>
            </a:p>
          </p:txBody>
        </p:sp>
      </p:grpSp>
      <p:sp>
        <p:nvSpPr>
          <p:cNvPr id="22" name="Rectangle: Rounded Corners 7">
            <a:extLst>
              <a:ext uri="{FF2B5EF4-FFF2-40B4-BE49-F238E27FC236}">
                <a16:creationId xmlns:a16="http://schemas.microsoft.com/office/drawing/2014/main" id="{6446A59D-3489-4041-977F-61FDD3D3229C}"/>
              </a:ext>
            </a:extLst>
          </p:cNvPr>
          <p:cNvSpPr/>
          <p:nvPr/>
        </p:nvSpPr>
        <p:spPr>
          <a:xfrm>
            <a:off x="2449810" y="3291215"/>
            <a:ext cx="3841808" cy="31286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sp>
        <p:nvSpPr>
          <p:cNvPr id="23" name="Rectangle: Rounded Corners 8">
            <a:extLst>
              <a:ext uri="{FF2B5EF4-FFF2-40B4-BE49-F238E27FC236}">
                <a16:creationId xmlns:a16="http://schemas.microsoft.com/office/drawing/2014/main" id="{82BA1750-08A6-394E-B3BD-65254F670D3D}"/>
              </a:ext>
            </a:extLst>
          </p:cNvPr>
          <p:cNvSpPr/>
          <p:nvPr/>
        </p:nvSpPr>
        <p:spPr>
          <a:xfrm>
            <a:off x="3359762" y="4014563"/>
            <a:ext cx="1526825" cy="285734"/>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sp>
        <p:nvSpPr>
          <p:cNvPr id="24" name="Rectangle: Rounded Corners 9">
            <a:extLst>
              <a:ext uri="{FF2B5EF4-FFF2-40B4-BE49-F238E27FC236}">
                <a16:creationId xmlns:a16="http://schemas.microsoft.com/office/drawing/2014/main" id="{F16B6270-0C3C-A94D-AD2B-8E3767DA22BB}"/>
              </a:ext>
            </a:extLst>
          </p:cNvPr>
          <p:cNvSpPr/>
          <p:nvPr/>
        </p:nvSpPr>
        <p:spPr>
          <a:xfrm>
            <a:off x="2449810" y="4730298"/>
            <a:ext cx="5506835" cy="312880"/>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cxnSp>
        <p:nvCxnSpPr>
          <p:cNvPr id="25" name="Straight Arrow Connector 10">
            <a:extLst>
              <a:ext uri="{FF2B5EF4-FFF2-40B4-BE49-F238E27FC236}">
                <a16:creationId xmlns:a16="http://schemas.microsoft.com/office/drawing/2014/main" id="{3380117F-27A5-AF4D-AF19-74E017B788D3}"/>
              </a:ext>
            </a:extLst>
          </p:cNvPr>
          <p:cNvCxnSpPr>
            <a:cxnSpLocks/>
          </p:cNvCxnSpPr>
          <p:nvPr/>
        </p:nvCxnSpPr>
        <p:spPr>
          <a:xfrm>
            <a:off x="2029283" y="3452579"/>
            <a:ext cx="420527" cy="0"/>
          </a:xfrm>
          <a:prstGeom prst="straightConnector1">
            <a:avLst/>
          </a:prstGeom>
          <a:noFill/>
          <a:ln w="25400" cap="flat" cmpd="sng" algn="ctr">
            <a:solidFill>
              <a:srgbClr val="D96930"/>
            </a:solidFill>
            <a:prstDash val="solid"/>
            <a:tailEnd type="triangle"/>
          </a:ln>
          <a:effectLst/>
        </p:spPr>
      </p:cxnSp>
      <p:cxnSp>
        <p:nvCxnSpPr>
          <p:cNvPr id="26" name="Straight Arrow Connector 11">
            <a:extLst>
              <a:ext uri="{FF2B5EF4-FFF2-40B4-BE49-F238E27FC236}">
                <a16:creationId xmlns:a16="http://schemas.microsoft.com/office/drawing/2014/main" id="{29CE1086-4CEA-DB4B-86C8-AA96C682EA9A}"/>
              </a:ext>
            </a:extLst>
          </p:cNvPr>
          <p:cNvCxnSpPr>
            <a:cxnSpLocks/>
          </p:cNvCxnSpPr>
          <p:nvPr/>
        </p:nvCxnSpPr>
        <p:spPr>
          <a:xfrm>
            <a:off x="2029283" y="4906331"/>
            <a:ext cx="432731" cy="0"/>
          </a:xfrm>
          <a:prstGeom prst="straightConnector1">
            <a:avLst/>
          </a:prstGeom>
          <a:noFill/>
          <a:ln w="25400" cap="flat" cmpd="sng" algn="ctr">
            <a:solidFill>
              <a:srgbClr val="D96930"/>
            </a:solidFill>
            <a:prstDash val="solid"/>
            <a:tailEnd type="triangle"/>
          </a:ln>
          <a:effectLst/>
        </p:spPr>
      </p:cxnSp>
      <p:cxnSp>
        <p:nvCxnSpPr>
          <p:cNvPr id="27" name="Straight Arrow Connector 12">
            <a:extLst>
              <a:ext uri="{FF2B5EF4-FFF2-40B4-BE49-F238E27FC236}">
                <a16:creationId xmlns:a16="http://schemas.microsoft.com/office/drawing/2014/main" id="{B2A0076F-9494-6B42-B3C8-686D96ADAD16}"/>
              </a:ext>
            </a:extLst>
          </p:cNvPr>
          <p:cNvCxnSpPr>
            <a:cxnSpLocks/>
            <a:endCxn id="23" idx="1"/>
          </p:cNvCxnSpPr>
          <p:nvPr/>
        </p:nvCxnSpPr>
        <p:spPr>
          <a:xfrm>
            <a:off x="2029283" y="4144384"/>
            <a:ext cx="1330479" cy="13046"/>
          </a:xfrm>
          <a:prstGeom prst="straightConnector1">
            <a:avLst/>
          </a:prstGeom>
          <a:noFill/>
          <a:ln w="25400" cap="flat" cmpd="sng" algn="ctr">
            <a:solidFill>
              <a:srgbClr val="D96930"/>
            </a:solidFill>
            <a:prstDash val="solid"/>
            <a:tailEnd type="triangle"/>
          </a:ln>
          <a:effectLst/>
        </p:spPr>
      </p:cxnSp>
      <p:sp>
        <p:nvSpPr>
          <p:cNvPr id="28" name="TextBox 13">
            <a:extLst>
              <a:ext uri="{FF2B5EF4-FFF2-40B4-BE49-F238E27FC236}">
                <a16:creationId xmlns:a16="http://schemas.microsoft.com/office/drawing/2014/main" id="{004A02DD-C22E-4042-94C7-6A2FA64DA877}"/>
              </a:ext>
            </a:extLst>
          </p:cNvPr>
          <p:cNvSpPr txBox="1"/>
          <p:nvPr/>
        </p:nvSpPr>
        <p:spPr>
          <a:xfrm>
            <a:off x="395536" y="3371149"/>
            <a:ext cx="1645028" cy="221599"/>
          </a:xfrm>
          <a:prstGeom prst="rect">
            <a:avLst/>
          </a:prstGeom>
          <a:noFill/>
        </p:spPr>
        <p:txBody>
          <a:bodyPr vert="horz" wrap="square" lIns="0" tIns="0" rIns="0" bIns="0" rtlCol="0">
            <a:spAutoFit/>
          </a:bodyPr>
          <a:lstStyle>
            <a:defPPr>
              <a:defRPr lang="zh-CN"/>
            </a:defPPr>
            <a:lvl1pPr algn="r" defTabSz="1219169" eaLnBrk="1" fontAlgn="auto">
              <a:lnSpc>
                <a:spcPct val="90000"/>
              </a:lnSpc>
              <a:spcBef>
                <a:spcPts val="2250"/>
              </a:spcBef>
              <a:spcAft>
                <a:spcPts val="0"/>
              </a:spcAft>
              <a:defRPr kumimoji="0" sz="1600" kern="0">
                <a:solidFill>
                  <a:schemeClr val="accent2"/>
                </a:solidFill>
                <a:latin typeface="Intel Clear"/>
                <a:ea typeface="Helvetica Neue"/>
                <a:cs typeface="Helvetica Neue"/>
              </a:defRPr>
            </a:lvl1pPr>
          </a:lstStyle>
          <a:p>
            <a:r>
              <a:rPr lang="en-US" dirty="0" err="1">
                <a:sym typeface="Helvetica Neue"/>
              </a:rPr>
              <a:t>主机端可初始化它</a:t>
            </a:r>
            <a:endParaRPr lang="en-US" dirty="0">
              <a:sym typeface="Helvetica Neue"/>
            </a:endParaRPr>
          </a:p>
        </p:txBody>
      </p:sp>
      <p:sp>
        <p:nvSpPr>
          <p:cNvPr id="29" name="TextBox 14">
            <a:extLst>
              <a:ext uri="{FF2B5EF4-FFF2-40B4-BE49-F238E27FC236}">
                <a16:creationId xmlns:a16="http://schemas.microsoft.com/office/drawing/2014/main" id="{3AD56C6F-4C5E-DC40-9E42-44858F8695A7}"/>
              </a:ext>
            </a:extLst>
          </p:cNvPr>
          <p:cNvSpPr txBox="1"/>
          <p:nvPr/>
        </p:nvSpPr>
        <p:spPr>
          <a:xfrm>
            <a:off x="571617" y="4062920"/>
            <a:ext cx="1447101"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设备端可修改它</a:t>
            </a:r>
            <a:endParaRPr kumimoji="0" lang="en-US" sz="1600" kern="0" dirty="0">
              <a:solidFill>
                <a:schemeClr val="accent2"/>
              </a:solidFill>
              <a:latin typeface="Intel Clear"/>
              <a:ea typeface="Helvetica Neue"/>
              <a:cs typeface="Helvetica Neue"/>
              <a:sym typeface="Helvetica Neue"/>
            </a:endParaRPr>
          </a:p>
        </p:txBody>
      </p:sp>
      <p:sp>
        <p:nvSpPr>
          <p:cNvPr id="30" name="TextBox 15">
            <a:extLst>
              <a:ext uri="{FF2B5EF4-FFF2-40B4-BE49-F238E27FC236}">
                <a16:creationId xmlns:a16="http://schemas.microsoft.com/office/drawing/2014/main" id="{D31D6852-78EE-D941-A11F-BC634550CD18}"/>
              </a:ext>
            </a:extLst>
          </p:cNvPr>
          <p:cNvSpPr txBox="1"/>
          <p:nvPr/>
        </p:nvSpPr>
        <p:spPr>
          <a:xfrm>
            <a:off x="682305" y="4810359"/>
            <a:ext cx="1303222"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主机端输出</a:t>
            </a:r>
            <a:endParaRPr kumimoji="0" lang="en-US" sz="1600" kern="0" dirty="0">
              <a:solidFill>
                <a:schemeClr val="accent2"/>
              </a:solidFill>
              <a:latin typeface="Intel Clear"/>
              <a:ea typeface="Helvetica Neue"/>
              <a:cs typeface="Helvetica Neue"/>
              <a:sym typeface="Helvetica Neue"/>
            </a:endParaRPr>
          </a:p>
        </p:txBody>
      </p:sp>
      <p:sp>
        <p:nvSpPr>
          <p:cNvPr id="31" name="Rectangle: Rounded Corners 16">
            <a:extLst>
              <a:ext uri="{FF2B5EF4-FFF2-40B4-BE49-F238E27FC236}">
                <a16:creationId xmlns:a16="http://schemas.microsoft.com/office/drawing/2014/main" id="{261D9D7D-2CD1-BB42-A0F9-0386341BF51C}"/>
              </a:ext>
            </a:extLst>
          </p:cNvPr>
          <p:cNvSpPr/>
          <p:nvPr/>
        </p:nvSpPr>
        <p:spPr>
          <a:xfrm>
            <a:off x="2449810" y="2930112"/>
            <a:ext cx="4309336" cy="32173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cxnSp>
        <p:nvCxnSpPr>
          <p:cNvPr id="32" name="Straight Arrow Connector 17">
            <a:extLst>
              <a:ext uri="{FF2B5EF4-FFF2-40B4-BE49-F238E27FC236}">
                <a16:creationId xmlns:a16="http://schemas.microsoft.com/office/drawing/2014/main" id="{EC97D88B-43D7-EE4A-A388-23C9F4B8FFDE}"/>
              </a:ext>
            </a:extLst>
          </p:cNvPr>
          <p:cNvCxnSpPr>
            <a:cxnSpLocks/>
          </p:cNvCxnSpPr>
          <p:nvPr/>
        </p:nvCxnSpPr>
        <p:spPr>
          <a:xfrm>
            <a:off x="2029283" y="3100574"/>
            <a:ext cx="420527" cy="0"/>
          </a:xfrm>
          <a:prstGeom prst="straightConnector1">
            <a:avLst/>
          </a:prstGeom>
          <a:noFill/>
          <a:ln w="25400" cap="flat" cmpd="sng" algn="ctr">
            <a:solidFill>
              <a:srgbClr val="D96930"/>
            </a:solidFill>
            <a:prstDash val="solid"/>
            <a:tailEnd type="triangle"/>
          </a:ln>
          <a:effectLst/>
        </p:spPr>
      </p:cxnSp>
      <p:sp>
        <p:nvSpPr>
          <p:cNvPr id="33" name="TextBox 18">
            <a:extLst>
              <a:ext uri="{FF2B5EF4-FFF2-40B4-BE49-F238E27FC236}">
                <a16:creationId xmlns:a16="http://schemas.microsoft.com/office/drawing/2014/main" id="{D244462D-7EA9-4749-B988-78A81E3827A2}"/>
              </a:ext>
            </a:extLst>
          </p:cNvPr>
          <p:cNvSpPr txBox="1"/>
          <p:nvPr/>
        </p:nvSpPr>
        <p:spPr>
          <a:xfrm>
            <a:off x="379598" y="2980180"/>
            <a:ext cx="1639121"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设置统一共享内存</a:t>
            </a:r>
            <a:endParaRPr kumimoji="0" lang="en-US" sz="1600" kern="0" dirty="0">
              <a:solidFill>
                <a:schemeClr val="accent2"/>
              </a:solidFill>
              <a:latin typeface="Intel Clear"/>
              <a:ea typeface="Helvetica Neue"/>
              <a:cs typeface="Helvetica Neue"/>
              <a:sym typeface="Helvetica Neue"/>
            </a:endParaRPr>
          </a:p>
        </p:txBody>
      </p:sp>
    </p:spTree>
    <p:extLst>
      <p:ext uri="{BB962C8B-B14F-4D97-AF65-F5344CB8AC3E}">
        <p14:creationId xmlns:p14="http://schemas.microsoft.com/office/powerpoint/2010/main" val="27676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8" grpId="0"/>
      <p:bldP spid="29" grpId="0"/>
      <p:bldP spid="30" grpId="0"/>
      <p:bldP spid="31" grpId="0" animBg="1"/>
      <p:bldP spid="3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缓冲内存模型</a:t>
            </a:r>
          </a:p>
        </p:txBody>
      </p:sp>
      <p:sp>
        <p:nvSpPr>
          <p:cNvPr id="3" name="内容占位符 2"/>
          <p:cNvSpPr>
            <a:spLocks noGrp="1"/>
          </p:cNvSpPr>
          <p:nvPr>
            <p:ph idx="1"/>
          </p:nvPr>
        </p:nvSpPr>
        <p:spPr>
          <a:xfrm>
            <a:off x="539552" y="1371600"/>
            <a:ext cx="8415536" cy="4724400"/>
          </a:xfrm>
        </p:spPr>
        <p:txBody>
          <a:bodyPr/>
          <a:lstStyle/>
          <a:p>
            <a:r>
              <a:rPr lang="zh-CN" altLang="en-US" sz="2800" dirty="0">
                <a:latin typeface="黑体" panose="02010609060101010101" pitchFamily="49" charset="-122"/>
                <a:ea typeface="黑体" panose="02010609060101010101" pitchFamily="49" charset="-122"/>
              </a:rPr>
              <a:t>缓冲</a:t>
            </a:r>
            <a:r>
              <a:rPr lang="zh-CN" altLang="en-US" sz="2800" dirty="0"/>
              <a:t>：在一个</a:t>
            </a:r>
            <a:br>
              <a:rPr lang="en-US" altLang="zh-CN" sz="2800" dirty="0"/>
            </a:br>
            <a:r>
              <a:rPr lang="en-US" altLang="zh-CN" sz="2800" dirty="0"/>
              <a:t>SYCL</a:t>
            </a:r>
            <a:r>
              <a:rPr lang="zh-CN" altLang="en-US" sz="2800" dirty="0"/>
              <a:t>应用中</a:t>
            </a:r>
            <a:br>
              <a:rPr lang="en-US" altLang="zh-CN" sz="2800" dirty="0"/>
            </a:br>
            <a:r>
              <a:rPr lang="zh-CN" altLang="en-US" sz="2800" dirty="0"/>
              <a:t>封装数据</a:t>
            </a:r>
            <a:endParaRPr lang="en-US" altLang="zh-CN" sz="2800" dirty="0"/>
          </a:p>
          <a:p>
            <a:pPr lvl="1"/>
            <a:r>
              <a:rPr lang="zh-CN" altLang="en-US" sz="2400" dirty="0"/>
              <a:t>跨越设备端</a:t>
            </a:r>
            <a:br>
              <a:rPr lang="en-US" altLang="zh-CN" sz="2400" dirty="0"/>
            </a:br>
            <a:r>
              <a:rPr lang="zh-CN" altLang="en-US" sz="2400" dirty="0"/>
              <a:t>和主机端</a:t>
            </a:r>
            <a:endParaRPr lang="en-US" altLang="zh-CN" sz="2400" dirty="0"/>
          </a:p>
          <a:p>
            <a:r>
              <a:rPr lang="zh-CN" altLang="en-US" sz="2800" dirty="0">
                <a:latin typeface="黑体" panose="02010609060101010101" pitchFamily="49" charset="-122"/>
                <a:ea typeface="黑体" panose="02010609060101010101" pitchFamily="49" charset="-122"/>
              </a:rPr>
              <a:t>访问器</a:t>
            </a:r>
            <a:r>
              <a:rPr lang="zh-CN" altLang="en-US" sz="2800" dirty="0"/>
              <a:t>：访问</a:t>
            </a:r>
            <a:br>
              <a:rPr lang="en-US" altLang="zh-CN" sz="2800" dirty="0"/>
            </a:br>
            <a:r>
              <a:rPr lang="zh-CN" altLang="en-US" sz="2800" dirty="0"/>
              <a:t>缓冲数据的机制</a:t>
            </a:r>
            <a:endParaRPr lang="en-US" altLang="zh-CN" sz="2800" dirty="0"/>
          </a:p>
          <a:p>
            <a:pPr lvl="1"/>
            <a:r>
              <a:rPr lang="zh-CN" altLang="en-US" sz="2400" dirty="0"/>
              <a:t>在</a:t>
            </a:r>
            <a:r>
              <a:rPr lang="en-US" altLang="zh-CN" sz="2400" dirty="0"/>
              <a:t>SYCL</a:t>
            </a:r>
            <a:r>
              <a:rPr lang="zh-CN" altLang="en-US" sz="2400" dirty="0"/>
              <a:t>执行图</a:t>
            </a:r>
            <a:br>
              <a:rPr lang="en-US" altLang="zh-CN" sz="2400" dirty="0"/>
            </a:br>
            <a:r>
              <a:rPr lang="zh-CN" altLang="en-US" sz="2400" dirty="0"/>
              <a:t>中创建数据依赖，</a:t>
            </a:r>
            <a:br>
              <a:rPr lang="en-US" altLang="zh-CN" sz="2400" dirty="0"/>
            </a:br>
            <a:r>
              <a:rPr lang="zh-CN" altLang="en-US" sz="2400" dirty="0"/>
              <a:t>以排序内核执行</a:t>
            </a:r>
          </a:p>
        </p:txBody>
      </p:sp>
      <p:grpSp>
        <p:nvGrpSpPr>
          <p:cNvPr id="13" name="Group 58"/>
          <p:cNvGrpSpPr/>
          <p:nvPr/>
        </p:nvGrpSpPr>
        <p:grpSpPr>
          <a:xfrm>
            <a:off x="3568047" y="1803648"/>
            <a:ext cx="5468449" cy="3577180"/>
            <a:chOff x="5242989" y="505096"/>
            <a:chExt cx="5621214" cy="6674925"/>
          </a:xfrm>
        </p:grpSpPr>
        <p:sp>
          <p:nvSpPr>
            <p:cNvPr id="14" name="Rectangle: Single Corner Snipped 59"/>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36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5" name="TextBox 60"/>
            <p:cNvSpPr txBox="1"/>
            <p:nvPr/>
          </p:nvSpPr>
          <p:spPr>
            <a:xfrm>
              <a:off x="5390906" y="611430"/>
              <a:ext cx="5473297" cy="6568591"/>
            </a:xfrm>
            <a:prstGeom prst="rect">
              <a:avLst/>
            </a:prstGeom>
            <a:noFill/>
          </p:spPr>
          <p:txBody>
            <a:bodyPr vert="horz" wrap="square" lIns="0" tIns="0" rIns="0" bIns="0" rtlCol="0">
              <a:spAutoFit/>
            </a:bodyPr>
            <a:lstStyle/>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queue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ector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buffer </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(v);</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submit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handler</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accessor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panose="02000503000000020004"/>
                </a:rPr>
                <a:t>write_only</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(N,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&lt; N;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cout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&lt;&lt;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&lt;&lt; </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6" name="Rectangle: Rounded Corners 67"/>
          <p:cNvSpPr/>
          <p:nvPr/>
        </p:nvSpPr>
        <p:spPr>
          <a:xfrm>
            <a:off x="4029346" y="3543656"/>
            <a:ext cx="3208298" cy="210800"/>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600" b="0" i="0" u="none" strike="noStrike" kern="0" cap="none" spc="0" normalizeH="0" baseline="0" noProof="0">
              <a:ln>
                <a:noFill/>
              </a:ln>
              <a:solidFill>
                <a:srgbClr val="D96930"/>
              </a:solidFill>
              <a:effectLst/>
              <a:uLnTx/>
              <a:uFillTx/>
              <a:latin typeface="Intel Clear"/>
              <a:sym typeface="Helvetica Neue" panose="02000503000000020004"/>
            </a:endParaRPr>
          </a:p>
        </p:txBody>
      </p:sp>
      <p:cxnSp>
        <p:nvCxnSpPr>
          <p:cNvPr id="17" name="Straight Arrow Connector 68"/>
          <p:cNvCxnSpPr>
            <a:cxnSpLocks/>
          </p:cNvCxnSpPr>
          <p:nvPr/>
        </p:nvCxnSpPr>
        <p:spPr>
          <a:xfrm flipV="1">
            <a:off x="3113473" y="3649056"/>
            <a:ext cx="915872" cy="246645"/>
          </a:xfrm>
          <a:prstGeom prst="straightConnector1">
            <a:avLst/>
          </a:prstGeom>
          <a:noFill/>
          <a:ln w="25400" cap="flat" cmpd="sng" algn="ctr">
            <a:solidFill>
              <a:srgbClr val="D96930"/>
            </a:solidFill>
            <a:prstDash val="solid"/>
            <a:tailEnd type="triangle"/>
          </a:ln>
          <a:effectLst/>
        </p:spPr>
      </p:cxnSp>
      <p:sp>
        <p:nvSpPr>
          <p:cNvPr id="18" name="Rectangle: Rounded Corners 70"/>
          <p:cNvSpPr/>
          <p:nvPr/>
        </p:nvSpPr>
        <p:spPr>
          <a:xfrm>
            <a:off x="3902869" y="2879596"/>
            <a:ext cx="1468904" cy="222670"/>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600" b="0" i="0" u="none" strike="noStrike" kern="0" cap="none" spc="0" normalizeH="0" baseline="0" noProof="0">
              <a:ln>
                <a:noFill/>
              </a:ln>
              <a:solidFill>
                <a:srgbClr val="D96930"/>
              </a:solidFill>
              <a:effectLst/>
              <a:uLnTx/>
              <a:uFillTx/>
              <a:latin typeface="Intel Clear"/>
              <a:sym typeface="Helvetica Neue" panose="02000503000000020004"/>
            </a:endParaRPr>
          </a:p>
        </p:txBody>
      </p:sp>
      <p:cxnSp>
        <p:nvCxnSpPr>
          <p:cNvPr id="19" name="Straight Arrow Connector 71"/>
          <p:cNvCxnSpPr>
            <a:cxnSpLocks/>
          </p:cNvCxnSpPr>
          <p:nvPr/>
        </p:nvCxnSpPr>
        <p:spPr>
          <a:xfrm>
            <a:off x="3074581" y="2387005"/>
            <a:ext cx="828287" cy="653954"/>
          </a:xfrm>
          <a:prstGeom prst="straightConnector1">
            <a:avLst/>
          </a:prstGeom>
          <a:noFill/>
          <a:ln w="25400" cap="flat" cmpd="sng" algn="ctr">
            <a:solidFill>
              <a:srgbClr val="D96930"/>
            </a:solidFill>
            <a:prstDash val="solid"/>
            <a:tailEnd type="triangle"/>
          </a:ln>
          <a:effectLst/>
        </p:spPr>
      </p:cxnSp>
      <p:cxnSp>
        <p:nvCxnSpPr>
          <p:cNvPr id="20" name="Straight Arrow Connector 73"/>
          <p:cNvCxnSpPr/>
          <p:nvPr/>
        </p:nvCxnSpPr>
        <p:spPr>
          <a:xfrm flipH="1">
            <a:off x="5010511" y="2387005"/>
            <a:ext cx="428913" cy="566407"/>
          </a:xfrm>
          <a:prstGeom prst="straightConnector1">
            <a:avLst/>
          </a:prstGeom>
          <a:noFill/>
          <a:ln w="25400" cap="flat" cmpd="sng" algn="ctr">
            <a:solidFill>
              <a:srgbClr val="0068B5"/>
            </a:solidFill>
            <a:prstDash val="solid"/>
            <a:tailEnd type="triangle"/>
          </a:ln>
          <a:effectLst/>
        </p:spPr>
      </p:cxnSp>
      <p:cxnSp>
        <p:nvCxnSpPr>
          <p:cNvPr id="21" name="Straight Arrow Connector 74"/>
          <p:cNvCxnSpPr>
            <a:cxnSpLocks/>
          </p:cNvCxnSpPr>
          <p:nvPr/>
        </p:nvCxnSpPr>
        <p:spPr>
          <a:xfrm flipV="1">
            <a:off x="7308304" y="4077072"/>
            <a:ext cx="0" cy="425703"/>
          </a:xfrm>
          <a:prstGeom prst="straightConnector1">
            <a:avLst/>
          </a:prstGeom>
          <a:noFill/>
          <a:ln w="25400" cap="flat" cmpd="sng" algn="ctr">
            <a:solidFill>
              <a:srgbClr val="0068B5"/>
            </a:solidFill>
            <a:prstDash val="soli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DPC++</a:t>
            </a:r>
            <a:r>
              <a:rPr lang="zh-CN" altLang="en-US" dirty="0"/>
              <a:t>代码解剖</a:t>
            </a:r>
          </a:p>
        </p:txBody>
      </p:sp>
      <p:sp>
        <p:nvSpPr>
          <p:cNvPr id="3" name="内容占位符 2"/>
          <p:cNvSpPr>
            <a:spLocks noGrp="1"/>
          </p:cNvSpPr>
          <p:nvPr>
            <p:ph idx="1"/>
          </p:nvPr>
        </p:nvSpPr>
        <p:spPr/>
        <p:txBody>
          <a:bodyPr/>
          <a:lstStyle/>
          <a:p>
            <a:r>
              <a:rPr lang="en-US" altLang="zh-CN" dirty="0" err="1"/>
              <a:t>oneAPI</a:t>
            </a:r>
            <a:r>
              <a:rPr lang="zh-CN" altLang="en-US" dirty="0"/>
              <a:t>程序要求包含</a:t>
            </a:r>
            <a:r>
              <a:rPr lang="en-US" altLang="zh-CN" b="1" dirty="0"/>
              <a:t>CL/sycl.hpp</a:t>
            </a:r>
          </a:p>
          <a:p>
            <a:r>
              <a:rPr lang="zh-CN" altLang="en-US" dirty="0"/>
              <a:t>建议使用名字空间语句来省去重复输入引用</a:t>
            </a:r>
            <a:r>
              <a:rPr lang="en-US" altLang="zh-CN" dirty="0" err="1"/>
              <a:t>sycl</a:t>
            </a:r>
            <a:r>
              <a:rPr lang="zh-CN" altLang="en-US" dirty="0"/>
              <a:t>名字空间的繁琐</a:t>
            </a:r>
          </a:p>
        </p:txBody>
      </p:sp>
      <p:grpSp>
        <p:nvGrpSpPr>
          <p:cNvPr id="8" name="Group 9"/>
          <p:cNvGrpSpPr/>
          <p:nvPr/>
        </p:nvGrpSpPr>
        <p:grpSpPr>
          <a:xfrm>
            <a:off x="313914" y="3501008"/>
            <a:ext cx="8516171" cy="1275398"/>
            <a:chOff x="5242990" y="505096"/>
            <a:chExt cx="5621213" cy="6257626"/>
          </a:xfrm>
        </p:grpSpPr>
        <p:sp>
          <p:nvSpPr>
            <p:cNvPr id="9" name="Rectangle: Single Corner Snipped 10"/>
            <p:cNvSpPr/>
            <p:nvPr/>
          </p:nvSpPr>
          <p:spPr>
            <a:xfrm>
              <a:off x="5242990"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0" name="TextBox 11"/>
            <p:cNvSpPr txBox="1"/>
            <p:nvPr/>
          </p:nvSpPr>
          <p:spPr>
            <a:xfrm>
              <a:off x="5390906" y="611429"/>
              <a:ext cx="5473297" cy="298260"/>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2250"/>
                </a:spcBef>
                <a:spcAft>
                  <a:spcPts val="0"/>
                </a:spcAft>
                <a:buClrTx/>
                <a:buSzTx/>
                <a:buFontTx/>
                <a:buNone/>
                <a:defRPr/>
              </a:pPr>
              <a:endPar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1" name="Rectangle 12"/>
          <p:cNvSpPr/>
          <p:nvPr/>
        </p:nvSpPr>
        <p:spPr>
          <a:xfrm>
            <a:off x="674427" y="3565217"/>
            <a:ext cx="8357152" cy="878830"/>
          </a:xfrm>
          <a:prstGeom prst="rect">
            <a:avLst/>
          </a:prstGeom>
        </p:spPr>
        <p:txBody>
          <a:bodyPr wrap="square">
            <a:spAutoFit/>
          </a:bodyPr>
          <a:lstStyle/>
          <a:p>
            <a:pPr defTabSz="457200" eaLnBrk="1" fontAlgn="auto" hangingPunct="1">
              <a:lnSpc>
                <a:spcPct val="150000"/>
              </a:lnSpc>
              <a:spcBef>
                <a:spcPts val="0"/>
              </a:spcBef>
              <a:spcAft>
                <a:spcPts val="0"/>
              </a:spcAft>
            </a:pPr>
            <a:r>
              <a:rPr kumimoji="0" lang="en-US" sz="1800" dirty="0">
                <a:solidFill>
                  <a:srgbClr val="AF00DB"/>
                </a:solidFill>
                <a:latin typeface="Consolas" panose="020B0609020204030204" pitchFamily="49" charset="0"/>
                <a:sym typeface="Helvetica Neue" panose="02000503000000020004"/>
              </a:rPr>
              <a:t>#include</a:t>
            </a:r>
            <a:r>
              <a:rPr kumimoji="0" lang="en-US" sz="1800" dirty="0">
                <a:solidFill>
                  <a:srgbClr val="0000FF"/>
                </a:solidFill>
                <a:latin typeface="Consolas" panose="020B0609020204030204" pitchFamily="49" charset="0"/>
                <a:sym typeface="Helvetica Neue" panose="02000503000000020004"/>
              </a:rPr>
              <a:t> </a:t>
            </a:r>
            <a:r>
              <a:rPr kumimoji="0" lang="en-US" sz="1800" dirty="0">
                <a:solidFill>
                  <a:srgbClr val="A31515"/>
                </a:solidFill>
                <a:latin typeface="Consolas" panose="020B0609020204030204" pitchFamily="49" charset="0"/>
                <a:sym typeface="Helvetica Neue" panose="02000503000000020004"/>
              </a:rPr>
              <a:t>&lt;CL/sycl.hpp&gt;</a:t>
            </a:r>
            <a:endParaRPr kumimoji="0" lang="en-US" sz="1800" dirty="0">
              <a:solidFill>
                <a:srgbClr val="000000"/>
              </a:solidFill>
              <a:latin typeface="Consolas" panose="020B0609020204030204" pitchFamily="49" charset="0"/>
              <a:sym typeface="Helvetica Neue" panose="02000503000000020004"/>
            </a:endParaRPr>
          </a:p>
          <a:p>
            <a:pPr defTabSz="457200" eaLnBrk="1" fontAlgn="auto" hangingPunct="1">
              <a:lnSpc>
                <a:spcPct val="150000"/>
              </a:lnSpc>
              <a:spcBef>
                <a:spcPts val="0"/>
              </a:spcBef>
              <a:spcAft>
                <a:spcPts val="0"/>
              </a:spcAft>
            </a:pPr>
            <a:r>
              <a:rPr kumimoji="0" lang="en-US" sz="1800" dirty="0">
                <a:solidFill>
                  <a:srgbClr val="AF00DB"/>
                </a:solidFill>
                <a:latin typeface="Consolas" panose="020B0609020204030204" pitchFamily="49" charset="0"/>
                <a:sym typeface="Helvetica Neue" panose="02000503000000020004"/>
              </a:rPr>
              <a:t>using</a:t>
            </a:r>
            <a:r>
              <a:rPr kumimoji="0" lang="en-US" sz="1800" dirty="0">
                <a:solidFill>
                  <a:srgbClr val="000000"/>
                </a:solidFill>
                <a:latin typeface="Consolas" panose="020B0609020204030204" pitchFamily="49" charset="0"/>
                <a:sym typeface="Helvetica Neue" panose="02000503000000020004"/>
              </a:rPr>
              <a:t> </a:t>
            </a:r>
            <a:r>
              <a:rPr kumimoji="0" lang="en-US" sz="1800" dirty="0">
                <a:solidFill>
                  <a:srgbClr val="0000FF"/>
                </a:solidFill>
                <a:latin typeface="Consolas" panose="020B0609020204030204" pitchFamily="49" charset="0"/>
                <a:sym typeface="Helvetica Neue" panose="02000503000000020004"/>
              </a:rPr>
              <a:t>namespace</a:t>
            </a:r>
            <a:r>
              <a:rPr kumimoji="0" lang="en-US" sz="1800" dirty="0">
                <a:solidFill>
                  <a:srgbClr val="000000"/>
                </a:solidFill>
                <a:latin typeface="Consolas" panose="020B0609020204030204" pitchFamily="49" charset="0"/>
                <a:sym typeface="Helvetica Neue" panose="02000503000000020004"/>
              </a:rPr>
              <a:t> </a:t>
            </a:r>
            <a:r>
              <a:rPr kumimoji="0" lang="en-US" sz="1800" dirty="0" err="1">
                <a:solidFill>
                  <a:srgbClr val="267F99"/>
                </a:solidFill>
                <a:latin typeface="Consolas" panose="020B0609020204030204" pitchFamily="49" charset="0"/>
                <a:sym typeface="Helvetica Neue" panose="02000503000000020004"/>
              </a:rPr>
              <a:t>sycl</a:t>
            </a:r>
            <a:r>
              <a:rPr kumimoji="0" lang="en-US" sz="1800" dirty="0">
                <a:solidFill>
                  <a:srgbClr val="000000"/>
                </a:solidFill>
                <a:latin typeface="Consolas" panose="020B0609020204030204" pitchFamily="49" charset="0"/>
                <a:sym typeface="Helvetica Neue" panose="02000503000000020004"/>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DPC++</a:t>
            </a:r>
            <a:r>
              <a:rPr lang="zh-CN" altLang="en-US" dirty="0"/>
              <a:t>代码解剖</a:t>
            </a:r>
          </a:p>
        </p:txBody>
      </p:sp>
      <p:sp>
        <p:nvSpPr>
          <p:cNvPr id="3" name="内容占位符 2"/>
          <p:cNvSpPr>
            <a:spLocks noGrp="1"/>
          </p:cNvSpPr>
          <p:nvPr>
            <p:ph idx="1"/>
          </p:nvPr>
        </p:nvSpPr>
        <p:spPr/>
        <p:txBody>
          <a:bodyPr/>
          <a:lstStyle/>
          <a:p>
            <a:endParaRPr lang="zh-CN" altLang="en-US" dirty="0"/>
          </a:p>
        </p:txBody>
      </p:sp>
      <p:sp>
        <p:nvSpPr>
          <p:cNvPr id="54" name="TextBox 14"/>
          <p:cNvSpPr txBox="1"/>
          <p:nvPr/>
        </p:nvSpPr>
        <p:spPr>
          <a:xfrm>
            <a:off x="6222601" y="1428044"/>
            <a:ext cx="2525864" cy="581698"/>
          </a:xfrm>
          <a:prstGeom prst="rect">
            <a:avLst/>
          </a:prstGeom>
          <a:noFill/>
        </p:spPr>
        <p:txBody>
          <a:bodyPr vert="horz" wrap="square" lIns="0" tIns="0" rIns="0" bIns="0" rtlCol="0">
            <a:spAutoFit/>
          </a:bodyPr>
          <a:lstStyle/>
          <a:p>
            <a:pPr defTabSz="1219200" eaLnBrk="1" fontAlgn="auto">
              <a:lnSpc>
                <a:spcPct val="90000"/>
              </a:lnSpc>
              <a:spcBef>
                <a:spcPts val="0"/>
              </a:spcBef>
              <a:spcAft>
                <a:spcPts val="0"/>
              </a:spcAft>
            </a:pPr>
            <a:r>
              <a:rPr kumimoji="0" lang="en-US" sz="1400" kern="0" dirty="0">
                <a:solidFill>
                  <a:schemeClr val="accent2"/>
                </a:solidFill>
                <a:latin typeface="Intel Clear"/>
                <a:sym typeface="Helvetica Neue" panose="02000503000000020004"/>
              </a:rPr>
              <a:t>Step 1: </a:t>
            </a:r>
            <a:r>
              <a:rPr kumimoji="0" lang="zh-CN" altLang="en-US" sz="1400" kern="0" dirty="0">
                <a:solidFill>
                  <a:schemeClr val="accent2"/>
                </a:solidFill>
                <a:latin typeface="Intel Clear"/>
                <a:sym typeface="Helvetica Neue" panose="02000503000000020004"/>
              </a:rPr>
              <a:t>创建一个设备队列</a:t>
            </a:r>
            <a:endParaRPr kumimoji="0" lang="en-US" sz="1400" kern="0" dirty="0">
              <a:solidFill>
                <a:schemeClr val="accent2"/>
              </a:solidFill>
              <a:latin typeface="Intel Clear"/>
              <a:sym typeface="Helvetica Neue" panose="02000503000000020004"/>
            </a:endParaRPr>
          </a:p>
          <a:p>
            <a:pPr defTabSz="1219200" eaLnBrk="1" fontAlgn="auto">
              <a:lnSpc>
                <a:spcPct val="90000"/>
              </a:lnSpc>
              <a:spcBef>
                <a:spcPts val="0"/>
              </a:spcBef>
              <a:spcAft>
                <a:spcPts val="0"/>
              </a:spcAft>
            </a:pPr>
            <a:r>
              <a:rPr kumimoji="0" lang="zh-CN" altLang="en-US" sz="1400" kern="0" dirty="0">
                <a:solidFill>
                  <a:schemeClr val="accent2"/>
                </a:solidFill>
                <a:latin typeface="Intel Clear"/>
                <a:sym typeface="Helvetica Neue" panose="02000503000000020004"/>
              </a:rPr>
              <a:t>（可通过设备选择器或使用默认选择器来指定一个设备类型）</a:t>
            </a:r>
            <a:endParaRPr kumimoji="0" lang="en-US" sz="1400" kern="0" dirty="0">
              <a:solidFill>
                <a:schemeClr val="accent2"/>
              </a:solidFill>
              <a:latin typeface="Intel Clear"/>
              <a:sym typeface="Helvetica Neue" panose="02000503000000020004"/>
            </a:endParaRPr>
          </a:p>
        </p:txBody>
      </p:sp>
      <p:sp>
        <p:nvSpPr>
          <p:cNvPr id="55" name="TextBox 15"/>
          <p:cNvSpPr txBox="1"/>
          <p:nvPr/>
        </p:nvSpPr>
        <p:spPr>
          <a:xfrm>
            <a:off x="6222601" y="2249681"/>
            <a:ext cx="2642814" cy="387798"/>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0"/>
              </a:spcBef>
              <a:spcAft>
                <a:spcPts val="0"/>
              </a:spcAft>
              <a:buClrTx/>
              <a:buSzTx/>
              <a:buFontTx/>
              <a:buNone/>
              <a:defRPr/>
            </a:pPr>
            <a:r>
              <a:rPr kumimoji="0" lang="en-US" sz="1400" b="0" i="0" u="none" strike="noStrike" kern="0" cap="none" spc="0" normalizeH="0" baseline="0" noProof="0" dirty="0">
                <a:ln>
                  <a:noFill/>
                </a:ln>
                <a:solidFill>
                  <a:schemeClr val="accent2"/>
                </a:solidFill>
                <a:effectLst/>
                <a:uLnTx/>
                <a:uFillTx/>
                <a:latin typeface="Intel Clear"/>
                <a:sym typeface="Helvetica Neue" panose="02000503000000020004"/>
              </a:rPr>
              <a:t>Step 2: </a:t>
            </a:r>
            <a:r>
              <a:rPr kumimoji="0" lang="zh-CN" altLang="en-US" sz="1400" b="0" i="0" u="none" strike="noStrike" kern="0" cap="none" spc="0" normalizeH="0" baseline="0" noProof="0" dirty="0">
                <a:ln>
                  <a:noFill/>
                </a:ln>
                <a:solidFill>
                  <a:schemeClr val="accent2"/>
                </a:solidFill>
                <a:effectLst/>
                <a:uLnTx/>
                <a:uFillTx/>
                <a:latin typeface="Intel Clear"/>
                <a:sym typeface="Helvetica Neue" panose="02000503000000020004"/>
              </a:rPr>
              <a:t>创建缓冲（既表示主机端内存、也表示设备端内存）</a:t>
            </a:r>
          </a:p>
        </p:txBody>
      </p:sp>
      <p:sp>
        <p:nvSpPr>
          <p:cNvPr id="56" name="TextBox 17"/>
          <p:cNvSpPr txBox="1"/>
          <p:nvPr/>
        </p:nvSpPr>
        <p:spPr>
          <a:xfrm>
            <a:off x="6222600" y="3754827"/>
            <a:ext cx="2642814"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chemeClr val="accent2"/>
                </a:solidFill>
                <a:latin typeface="Intel Clear"/>
                <a:sym typeface="Helvetica Neue" panose="02000503000000020004"/>
              </a:rPr>
              <a:t>Step 4: </a:t>
            </a:r>
            <a:r>
              <a:rPr kumimoji="0" lang="zh-CN" altLang="en-US" sz="1400" kern="0" dirty="0">
                <a:solidFill>
                  <a:schemeClr val="accent2"/>
                </a:solidFill>
                <a:latin typeface="Intel Clear"/>
                <a:sym typeface="Helvetica Neue" panose="02000503000000020004"/>
              </a:rPr>
              <a:t>创建缓冲访问器，以访问设备上的缓冲数据</a:t>
            </a:r>
            <a:endParaRPr kumimoji="0" lang="en-US" sz="1400" kern="0" dirty="0">
              <a:solidFill>
                <a:schemeClr val="accent2"/>
              </a:solidFill>
              <a:latin typeface="Intel Clear"/>
              <a:sym typeface="Helvetica Neue" panose="02000503000000020004"/>
            </a:endParaRPr>
          </a:p>
        </p:txBody>
      </p:sp>
      <p:sp>
        <p:nvSpPr>
          <p:cNvPr id="57" name="TextBox 18"/>
          <p:cNvSpPr txBox="1"/>
          <p:nvPr/>
        </p:nvSpPr>
        <p:spPr>
          <a:xfrm>
            <a:off x="6222600" y="4694851"/>
            <a:ext cx="2642814"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chemeClr val="accent2"/>
                </a:solidFill>
                <a:latin typeface="Intel Clear"/>
                <a:sym typeface="Helvetica Neue" panose="02000503000000020004"/>
              </a:rPr>
              <a:t>Step 5: </a:t>
            </a:r>
            <a:r>
              <a:rPr kumimoji="0" lang="zh-CN" altLang="en-US" sz="1400" kern="0" dirty="0">
                <a:solidFill>
                  <a:schemeClr val="accent2"/>
                </a:solidFill>
                <a:latin typeface="Intel Clear"/>
                <a:sym typeface="Helvetica Neue" panose="02000503000000020004"/>
              </a:rPr>
              <a:t>发送一个</a:t>
            </a:r>
            <a:r>
              <a:rPr kumimoji="0" lang="en-US" altLang="zh-CN" sz="1400" kern="0" dirty="0">
                <a:solidFill>
                  <a:schemeClr val="accent2"/>
                </a:solidFill>
                <a:latin typeface="Intel Clear"/>
                <a:sym typeface="Helvetica Neue" panose="02000503000000020004"/>
              </a:rPr>
              <a:t>kernel</a:t>
            </a:r>
            <a:r>
              <a:rPr kumimoji="0" lang="zh-CN" altLang="en-US" sz="1400" kern="0" dirty="0">
                <a:solidFill>
                  <a:schemeClr val="accent2"/>
                </a:solidFill>
                <a:latin typeface="Intel Clear"/>
                <a:sym typeface="Helvetica Neue" panose="02000503000000020004"/>
              </a:rPr>
              <a:t>（</a:t>
            </a:r>
            <a:r>
              <a:rPr kumimoji="0" lang="en-US" altLang="zh-CN" sz="1400" kern="0" dirty="0">
                <a:solidFill>
                  <a:schemeClr val="accent2"/>
                </a:solidFill>
                <a:latin typeface="Intel Clear"/>
                <a:sym typeface="Helvetica Neue" panose="02000503000000020004"/>
              </a:rPr>
              <a:t>lambda</a:t>
            </a:r>
            <a:r>
              <a:rPr kumimoji="0" lang="zh-CN" altLang="en-US" sz="1400" kern="0" dirty="0">
                <a:solidFill>
                  <a:schemeClr val="accent2"/>
                </a:solidFill>
                <a:latin typeface="Intel Clear"/>
                <a:sym typeface="Helvetica Neue" panose="02000503000000020004"/>
              </a:rPr>
              <a:t>）去执行</a:t>
            </a:r>
            <a:endParaRPr kumimoji="0" lang="en-US" sz="1400" kern="0" dirty="0">
              <a:solidFill>
                <a:schemeClr val="accent2"/>
              </a:solidFill>
              <a:latin typeface="Intel Clear"/>
              <a:sym typeface="Helvetica Neue" panose="02000503000000020004"/>
            </a:endParaRPr>
          </a:p>
        </p:txBody>
      </p:sp>
      <p:sp>
        <p:nvSpPr>
          <p:cNvPr id="58" name="TextBox 19"/>
          <p:cNvSpPr txBox="1"/>
          <p:nvPr/>
        </p:nvSpPr>
        <p:spPr>
          <a:xfrm>
            <a:off x="6222600" y="5538587"/>
            <a:ext cx="2449734" cy="194669"/>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chemeClr val="accent2"/>
                </a:solidFill>
                <a:latin typeface="Intel Clear"/>
                <a:sym typeface="Helvetica Neue" panose="02000503000000020004"/>
              </a:rPr>
              <a:t>Step 6: </a:t>
            </a:r>
            <a:r>
              <a:rPr kumimoji="0" lang="zh-CN" altLang="en-US" sz="1400" kern="0" dirty="0">
                <a:solidFill>
                  <a:schemeClr val="accent2"/>
                </a:solidFill>
                <a:latin typeface="Intel Clear"/>
                <a:sym typeface="Helvetica Neue" panose="02000503000000020004"/>
              </a:rPr>
              <a:t>编写</a:t>
            </a:r>
            <a:r>
              <a:rPr kumimoji="0" lang="en-US" altLang="zh-CN" sz="1400" kern="0" dirty="0">
                <a:solidFill>
                  <a:schemeClr val="accent2"/>
                </a:solidFill>
                <a:latin typeface="Intel Clear"/>
                <a:sym typeface="Helvetica Neue" panose="02000503000000020004"/>
              </a:rPr>
              <a:t>kernel</a:t>
            </a:r>
            <a:r>
              <a:rPr kumimoji="0" lang="zh-CN" altLang="en-US" sz="1400" kern="0" dirty="0">
                <a:solidFill>
                  <a:schemeClr val="accent2"/>
                </a:solidFill>
                <a:latin typeface="Intel Clear"/>
                <a:sym typeface="Helvetica Neue" panose="02000503000000020004"/>
              </a:rPr>
              <a:t>具体代码</a:t>
            </a:r>
            <a:endParaRPr kumimoji="0" lang="en-US" sz="1400" kern="0" dirty="0">
              <a:solidFill>
                <a:schemeClr val="accent2"/>
              </a:solidFill>
              <a:latin typeface="Intel Clear"/>
              <a:sym typeface="Helvetica Neue" panose="02000503000000020004"/>
            </a:endParaRPr>
          </a:p>
        </p:txBody>
      </p:sp>
      <p:sp>
        <p:nvSpPr>
          <p:cNvPr id="59" name="TextBox 20"/>
          <p:cNvSpPr txBox="1"/>
          <p:nvPr/>
        </p:nvSpPr>
        <p:spPr>
          <a:xfrm>
            <a:off x="892036" y="6082564"/>
            <a:ext cx="1523062"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chemeClr val="accent2"/>
                </a:solidFill>
                <a:latin typeface="Intel Clear"/>
                <a:sym typeface="Helvetica Neue" panose="02000503000000020004"/>
              </a:rPr>
              <a:t>Kernel</a:t>
            </a:r>
            <a:r>
              <a:rPr kumimoji="0" lang="zh-CN" altLang="en-US" sz="1400" kern="0" dirty="0">
                <a:solidFill>
                  <a:schemeClr val="accent2"/>
                </a:solidFill>
                <a:latin typeface="Intel Clear"/>
                <a:sym typeface="Helvetica Neue" panose="02000503000000020004"/>
              </a:rPr>
              <a:t>调用是并行执行的</a:t>
            </a:r>
            <a:endParaRPr kumimoji="0" lang="en-US" sz="1400" kern="0" dirty="0">
              <a:solidFill>
                <a:schemeClr val="accent2"/>
              </a:solidFill>
              <a:latin typeface="Intel Clear"/>
              <a:sym typeface="Helvetica Neue" panose="02000503000000020004"/>
            </a:endParaRPr>
          </a:p>
        </p:txBody>
      </p:sp>
      <p:sp>
        <p:nvSpPr>
          <p:cNvPr id="60" name="TextBox 21"/>
          <p:cNvSpPr txBox="1"/>
          <p:nvPr/>
        </p:nvSpPr>
        <p:spPr>
          <a:xfrm>
            <a:off x="2759024" y="6086893"/>
            <a:ext cx="1585409"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zh-CN" altLang="en-US" sz="1400" kern="0" dirty="0">
                <a:solidFill>
                  <a:schemeClr val="accent2"/>
                </a:solidFill>
                <a:latin typeface="Intel Clear"/>
                <a:sym typeface="Helvetica Neue" panose="02000503000000020004"/>
              </a:rPr>
              <a:t>对范围中的每个元素调用</a:t>
            </a:r>
            <a:r>
              <a:rPr kumimoji="0" lang="en-US" altLang="zh-CN" sz="1400" kern="0" dirty="0">
                <a:solidFill>
                  <a:schemeClr val="accent2"/>
                </a:solidFill>
                <a:latin typeface="Intel Clear"/>
                <a:sym typeface="Helvetica Neue" panose="02000503000000020004"/>
              </a:rPr>
              <a:t>k</a:t>
            </a:r>
            <a:r>
              <a:rPr kumimoji="0" lang="en-US" sz="1400" kern="0" dirty="0">
                <a:solidFill>
                  <a:schemeClr val="accent2"/>
                </a:solidFill>
                <a:latin typeface="Intel Clear"/>
                <a:sym typeface="Helvetica Neue" panose="02000503000000020004"/>
              </a:rPr>
              <a:t>ernel</a:t>
            </a:r>
          </a:p>
        </p:txBody>
      </p:sp>
      <p:sp>
        <p:nvSpPr>
          <p:cNvPr id="61" name="TextBox 22"/>
          <p:cNvSpPr txBox="1"/>
          <p:nvPr/>
        </p:nvSpPr>
        <p:spPr>
          <a:xfrm>
            <a:off x="4637191" y="6082653"/>
            <a:ext cx="1302961"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chemeClr val="accent2"/>
                </a:solidFill>
                <a:latin typeface="Intel Clear"/>
                <a:sym typeface="Helvetica Neue" panose="02000503000000020004"/>
              </a:rPr>
              <a:t>Kernel</a:t>
            </a:r>
            <a:r>
              <a:rPr kumimoji="0" lang="zh-CN" altLang="en-US" sz="1400" kern="0" dirty="0">
                <a:solidFill>
                  <a:schemeClr val="accent2"/>
                </a:solidFill>
                <a:latin typeface="Intel Clear"/>
                <a:sym typeface="Helvetica Neue" panose="02000503000000020004"/>
              </a:rPr>
              <a:t>调用可以访问自身</a:t>
            </a:r>
            <a:r>
              <a:rPr kumimoji="0" lang="en-US" altLang="zh-CN" sz="1400" kern="0" dirty="0">
                <a:solidFill>
                  <a:schemeClr val="accent2"/>
                </a:solidFill>
                <a:latin typeface="Intel Clear"/>
                <a:sym typeface="Helvetica Neue" panose="02000503000000020004"/>
              </a:rPr>
              <a:t>id</a:t>
            </a:r>
            <a:endParaRPr kumimoji="0" lang="en-US" sz="1400" kern="0" dirty="0">
              <a:solidFill>
                <a:schemeClr val="accent2"/>
              </a:solidFill>
              <a:latin typeface="Intel Clear"/>
              <a:sym typeface="Helvetica Neue" panose="02000503000000020004"/>
            </a:endParaRPr>
          </a:p>
        </p:txBody>
      </p:sp>
      <p:grpSp>
        <p:nvGrpSpPr>
          <p:cNvPr id="62" name="Group 23"/>
          <p:cNvGrpSpPr/>
          <p:nvPr/>
        </p:nvGrpSpPr>
        <p:grpSpPr>
          <a:xfrm>
            <a:off x="395536" y="1383934"/>
            <a:ext cx="5256584" cy="4626153"/>
            <a:chOff x="5537899" y="310898"/>
            <a:chExt cx="6105461" cy="7180060"/>
          </a:xfrm>
        </p:grpSpPr>
        <p:sp>
          <p:nvSpPr>
            <p:cNvPr id="63" name="Rectangle: Single Corner Snipped 24"/>
            <p:cNvSpPr/>
            <p:nvPr/>
          </p:nvSpPr>
          <p:spPr>
            <a:xfrm>
              <a:off x="5537899" y="310898"/>
              <a:ext cx="6105461" cy="7180060"/>
            </a:xfrm>
            <a:prstGeom prst="snip1Rect">
              <a:avLst>
                <a:gd name="adj" fmla="val 2758"/>
              </a:avLst>
            </a:prstGeom>
            <a:solidFill>
              <a:srgbClr val="FFFFFF">
                <a:lumMod val="95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0"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64" name="TextBox 25"/>
            <p:cNvSpPr txBox="1"/>
            <p:nvPr/>
          </p:nvSpPr>
          <p:spPr>
            <a:xfrm>
              <a:off x="5695349" y="420339"/>
              <a:ext cx="5835791" cy="260570"/>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2250"/>
                </a:spcBef>
                <a:spcAft>
                  <a:spcPts val="0"/>
                </a:spcAft>
                <a:buClrTx/>
                <a:buSzTx/>
                <a:buFontTx/>
                <a:buNone/>
                <a:defRPr/>
              </a:pPr>
              <a:endParaRPr kumimoji="0" lang="en-US" sz="1335"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65" name="Rectangle 26"/>
          <p:cNvSpPr/>
          <p:nvPr/>
        </p:nvSpPr>
        <p:spPr>
          <a:xfrm>
            <a:off x="792386" y="1537543"/>
            <a:ext cx="7174336" cy="4401205"/>
          </a:xfrm>
          <a:prstGeom prst="rect">
            <a:avLst/>
          </a:prstGeom>
          <a:ln>
            <a:noFill/>
          </a:ln>
        </p:spPr>
        <p:txBody>
          <a:bodyPr wrap="square">
            <a:spAutoFit/>
          </a:bodyPr>
          <a:lstStyle/>
          <a:p>
            <a:pPr defTabSz="1219200" eaLnBrk="1" fontAlgn="auto">
              <a:spcBef>
                <a:spcPts val="0"/>
              </a:spcBef>
              <a:spcAft>
                <a:spcPts val="0"/>
              </a:spcAft>
            </a:pPr>
            <a:r>
              <a:rPr kumimoji="0" lang="en-US" sz="1400" kern="0" dirty="0">
                <a:solidFill>
                  <a:srgbClr val="0000FF"/>
                </a:solidFill>
                <a:latin typeface="Consolas" panose="020B0609020204030204" pitchFamily="49" charset="0"/>
                <a:sym typeface="Helvetica Neue" panose="02000503000000020004"/>
              </a:rPr>
              <a:t>void</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795E26"/>
                </a:solidFill>
                <a:latin typeface="Consolas" panose="020B0609020204030204" pitchFamily="49" charset="0"/>
                <a:sym typeface="Helvetica Neue" panose="02000503000000020004"/>
              </a:rPr>
              <a:t>dpcpp_code</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0000FF"/>
                </a:solidFill>
                <a:latin typeface="Consolas" panose="020B0609020204030204" pitchFamily="49" charset="0"/>
                <a:sym typeface="Helvetica Neue" panose="02000503000000020004"/>
              </a:rPr>
              <a:t>int*</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a</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int*</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b</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int*</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c</a:t>
            </a:r>
            <a:r>
              <a:rPr kumimoji="0" lang="en-US" sz="1400" kern="0" dirty="0">
                <a:solidFill>
                  <a:srgbClr val="000000"/>
                </a:solidFill>
                <a:latin typeface="Consolas" panose="020B0609020204030204" pitchFamily="49" charset="0"/>
                <a:sym typeface="Helvetica Neue" panose="02000503000000020004"/>
              </a:rPr>
              <a:t>) {</a:t>
            </a:r>
          </a:p>
          <a:p>
            <a:pPr defTabSz="1219200" eaLnBrk="1" fontAlgn="auto">
              <a:spcBef>
                <a:spcPts val="0"/>
              </a:spcBef>
              <a:spcAft>
                <a:spcPts val="0"/>
              </a:spcAft>
            </a:pPr>
            <a:r>
              <a:rPr kumimoji="0" lang="en-US" sz="1400" kern="0" dirty="0">
                <a:solidFill>
                  <a:srgbClr val="008000"/>
                </a:solidFill>
                <a:latin typeface="Consolas" panose="020B0609020204030204" pitchFamily="49" charset="0"/>
                <a:sym typeface="Helvetica Neue" panose="02000503000000020004"/>
              </a:rPr>
              <a:t>  // </a:t>
            </a:r>
            <a:r>
              <a:rPr kumimoji="0" lang="zh-CN" altLang="en-US" sz="1400" kern="0" dirty="0">
                <a:solidFill>
                  <a:srgbClr val="008000"/>
                </a:solidFill>
                <a:latin typeface="Consolas" panose="020B0609020204030204" pitchFamily="49" charset="0"/>
                <a:sym typeface="Helvetica Neue" panose="02000503000000020004"/>
              </a:rPr>
              <a:t>设置一个</a:t>
            </a:r>
            <a:r>
              <a:rPr kumimoji="0" lang="en-US" sz="1400" kern="0" dirty="0">
                <a:solidFill>
                  <a:srgbClr val="008000"/>
                </a:solidFill>
                <a:latin typeface="Consolas" panose="020B0609020204030204" pitchFamily="49" charset="0"/>
                <a:sym typeface="Helvetica Neue" panose="02000503000000020004"/>
              </a:rPr>
              <a:t>DPC++</a:t>
            </a:r>
            <a:r>
              <a:rPr kumimoji="0" lang="zh-CN" altLang="en-US" sz="1400" kern="0" dirty="0">
                <a:solidFill>
                  <a:srgbClr val="008000"/>
                </a:solidFill>
                <a:latin typeface="Consolas" panose="020B0609020204030204" pitchFamily="49" charset="0"/>
                <a:sym typeface="Helvetica Neue" panose="02000503000000020004"/>
              </a:rPr>
              <a:t>设备队列</a:t>
            </a:r>
            <a:endParaRPr kumimoji="0" lang="en-US" sz="1400" kern="0" dirty="0">
              <a:solidFill>
                <a:srgbClr val="000000"/>
              </a:solidFill>
              <a:latin typeface="Consolas" panose="020B0609020204030204" pitchFamily="49" charset="0"/>
              <a:sym typeface="Helvetica Neue" panose="02000503000000020004"/>
            </a:endParaRP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queue q;</a:t>
            </a:r>
          </a:p>
          <a:p>
            <a:pPr defTabSz="1219200" eaLnBrk="1" fontAlgn="auto">
              <a:spcBef>
                <a:spcPts val="0"/>
              </a:spcBef>
              <a:spcAft>
                <a:spcPts val="0"/>
              </a:spcAft>
            </a:pPr>
            <a:r>
              <a:rPr kumimoji="0" lang="en-US" sz="1400" kern="0" dirty="0">
                <a:solidFill>
                  <a:srgbClr val="008000"/>
                </a:solidFill>
                <a:latin typeface="Consolas" panose="020B0609020204030204" pitchFamily="49" charset="0"/>
                <a:sym typeface="Helvetica Neue" panose="02000503000000020004"/>
              </a:rPr>
              <a:t>  // </a:t>
            </a:r>
            <a:r>
              <a:rPr kumimoji="0" lang="zh-CN" altLang="en-US" sz="1400" kern="0" dirty="0">
                <a:solidFill>
                  <a:srgbClr val="008000"/>
                </a:solidFill>
                <a:latin typeface="Consolas" panose="020B0609020204030204" pitchFamily="49" charset="0"/>
                <a:sym typeface="Helvetica Neue" panose="02000503000000020004"/>
              </a:rPr>
              <a:t>为输入和输出向量设置缓冲</a:t>
            </a:r>
            <a:endParaRPr kumimoji="0" lang="en-US" sz="1400" kern="0" dirty="0">
              <a:solidFill>
                <a:srgbClr val="000000"/>
              </a:solidFill>
              <a:latin typeface="Consolas" panose="020B0609020204030204" pitchFamily="49" charset="0"/>
              <a:sym typeface="Helvetica Neue" panose="02000503000000020004"/>
            </a:endParaRP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buffer </a:t>
            </a:r>
            <a:r>
              <a:rPr kumimoji="0" lang="en-US" sz="1400" kern="0" dirty="0">
                <a:solidFill>
                  <a:srgbClr val="795E26"/>
                </a:solidFill>
                <a:latin typeface="Consolas" panose="020B0609020204030204" pitchFamily="49" charset="0"/>
                <a:sym typeface="Helvetica Neue" panose="02000503000000020004"/>
              </a:rPr>
              <a:t>buf_a</a:t>
            </a:r>
            <a:r>
              <a:rPr kumimoji="0" lang="en-US" sz="1400" kern="0" dirty="0">
                <a:solidFill>
                  <a:srgbClr val="000000"/>
                </a:solidFill>
                <a:latin typeface="Consolas" panose="020B0609020204030204" pitchFamily="49" charset="0"/>
                <a:sym typeface="Helvetica Neue" panose="02000503000000020004"/>
              </a:rPr>
              <a:t>(a, </a:t>
            </a:r>
            <a:r>
              <a:rPr kumimoji="0" lang="en-US" sz="1400" kern="0" dirty="0">
                <a:solidFill>
                  <a:srgbClr val="795E26"/>
                </a:solidFill>
                <a:latin typeface="Consolas" panose="020B0609020204030204" pitchFamily="49" charset="0"/>
                <a:sym typeface="Helvetica Neue" panose="02000503000000020004"/>
              </a:rPr>
              <a:t>range</a:t>
            </a:r>
            <a:r>
              <a:rPr kumimoji="0" lang="en-US" sz="1400" kern="0" dirty="0">
                <a:solidFill>
                  <a:srgbClr val="000000"/>
                </a:solidFill>
                <a:latin typeface="Consolas" panose="020B0609020204030204" pitchFamily="49" charset="0"/>
                <a:sym typeface="Helvetica Neue" panose="02000503000000020004"/>
              </a:rPr>
              <a:t>&lt;</a:t>
            </a:r>
            <a:r>
              <a:rPr kumimoji="0" lang="en-US" sz="1400" kern="0" dirty="0">
                <a:solidFill>
                  <a:srgbClr val="098658"/>
                </a:solidFill>
                <a:latin typeface="Consolas" panose="020B0609020204030204" pitchFamily="49" charset="0"/>
                <a:sym typeface="Helvetica Neue" panose="02000503000000020004"/>
              </a:rPr>
              <a:t>1</a:t>
            </a:r>
            <a:r>
              <a:rPr kumimoji="0" lang="en-US" sz="1400" kern="0" dirty="0">
                <a:solidFill>
                  <a:srgbClr val="000000"/>
                </a:solidFill>
                <a:latin typeface="Consolas" panose="020B0609020204030204" pitchFamily="49" charset="0"/>
                <a:sym typeface="Helvetica Neue" panose="02000503000000020004"/>
              </a:rPr>
              <a:t>&gt;(N));</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buffer </a:t>
            </a:r>
            <a:r>
              <a:rPr kumimoji="0" lang="en-US" sz="1400" kern="0" dirty="0">
                <a:solidFill>
                  <a:srgbClr val="795E26"/>
                </a:solidFill>
                <a:latin typeface="Consolas" panose="020B0609020204030204" pitchFamily="49" charset="0"/>
                <a:sym typeface="Helvetica Neue" panose="02000503000000020004"/>
              </a:rPr>
              <a:t>buf_b</a:t>
            </a:r>
            <a:r>
              <a:rPr kumimoji="0" lang="en-US" sz="1400" kern="0" dirty="0">
                <a:solidFill>
                  <a:srgbClr val="000000"/>
                </a:solidFill>
                <a:latin typeface="Consolas" panose="020B0609020204030204" pitchFamily="49" charset="0"/>
                <a:sym typeface="Helvetica Neue" panose="02000503000000020004"/>
              </a:rPr>
              <a:t>(b, </a:t>
            </a:r>
            <a:r>
              <a:rPr kumimoji="0" lang="en-US" sz="1400" kern="0" dirty="0">
                <a:solidFill>
                  <a:srgbClr val="795E26"/>
                </a:solidFill>
                <a:latin typeface="Consolas" panose="020B0609020204030204" pitchFamily="49" charset="0"/>
                <a:sym typeface="Helvetica Neue" panose="02000503000000020004"/>
              </a:rPr>
              <a:t>range</a:t>
            </a:r>
            <a:r>
              <a:rPr kumimoji="0" lang="en-US" sz="1400" kern="0" dirty="0">
                <a:solidFill>
                  <a:srgbClr val="000000"/>
                </a:solidFill>
                <a:latin typeface="Consolas" panose="020B0609020204030204" pitchFamily="49" charset="0"/>
                <a:sym typeface="Helvetica Neue" panose="02000503000000020004"/>
              </a:rPr>
              <a:t>&lt;</a:t>
            </a:r>
            <a:r>
              <a:rPr kumimoji="0" lang="en-US" sz="1400" kern="0" dirty="0">
                <a:solidFill>
                  <a:srgbClr val="098658"/>
                </a:solidFill>
                <a:latin typeface="Consolas" panose="020B0609020204030204" pitchFamily="49" charset="0"/>
                <a:sym typeface="Helvetica Neue" panose="02000503000000020004"/>
              </a:rPr>
              <a:t>1</a:t>
            </a:r>
            <a:r>
              <a:rPr kumimoji="0" lang="en-US" sz="1400" kern="0" dirty="0">
                <a:solidFill>
                  <a:srgbClr val="000000"/>
                </a:solidFill>
                <a:latin typeface="Consolas" panose="020B0609020204030204" pitchFamily="49" charset="0"/>
                <a:sym typeface="Helvetica Neue" panose="02000503000000020004"/>
              </a:rPr>
              <a:t>&gt;(N));</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buffer </a:t>
            </a:r>
            <a:r>
              <a:rPr kumimoji="0" lang="en-US" sz="1400" kern="0" dirty="0">
                <a:solidFill>
                  <a:srgbClr val="795E26"/>
                </a:solidFill>
                <a:latin typeface="Consolas" panose="020B0609020204030204" pitchFamily="49" charset="0"/>
                <a:sym typeface="Helvetica Neue" panose="02000503000000020004"/>
              </a:rPr>
              <a:t>buf_c</a:t>
            </a:r>
            <a:r>
              <a:rPr kumimoji="0" lang="en-US" sz="1400" kern="0" dirty="0">
                <a:solidFill>
                  <a:srgbClr val="000000"/>
                </a:solidFill>
                <a:latin typeface="Consolas" panose="020B0609020204030204" pitchFamily="49" charset="0"/>
                <a:sym typeface="Helvetica Neue" panose="02000503000000020004"/>
              </a:rPr>
              <a:t>(c, </a:t>
            </a:r>
            <a:r>
              <a:rPr kumimoji="0" lang="en-US" sz="1400" kern="0" dirty="0">
                <a:solidFill>
                  <a:srgbClr val="795E26"/>
                </a:solidFill>
                <a:latin typeface="Consolas" panose="020B0609020204030204" pitchFamily="49" charset="0"/>
                <a:sym typeface="Helvetica Neue" panose="02000503000000020004"/>
              </a:rPr>
              <a:t>range</a:t>
            </a:r>
            <a:r>
              <a:rPr kumimoji="0" lang="en-US" sz="1400" kern="0" dirty="0">
                <a:solidFill>
                  <a:srgbClr val="000000"/>
                </a:solidFill>
                <a:latin typeface="Consolas" panose="020B0609020204030204" pitchFamily="49" charset="0"/>
                <a:sym typeface="Helvetica Neue" panose="02000503000000020004"/>
              </a:rPr>
              <a:t>&lt;</a:t>
            </a:r>
            <a:r>
              <a:rPr kumimoji="0" lang="en-US" sz="1400" kern="0" dirty="0">
                <a:solidFill>
                  <a:srgbClr val="098658"/>
                </a:solidFill>
                <a:latin typeface="Consolas" panose="020B0609020204030204" pitchFamily="49" charset="0"/>
                <a:sym typeface="Helvetica Neue" panose="02000503000000020004"/>
              </a:rPr>
              <a:t>1</a:t>
            </a:r>
            <a:r>
              <a:rPr kumimoji="0" lang="en-US" sz="1400" kern="0" dirty="0">
                <a:solidFill>
                  <a:srgbClr val="000000"/>
                </a:solidFill>
                <a:latin typeface="Consolas" panose="020B0609020204030204" pitchFamily="49" charset="0"/>
                <a:sym typeface="Helvetica Neue" panose="02000503000000020004"/>
              </a:rPr>
              <a:t>&gt;(N));</a:t>
            </a:r>
          </a:p>
          <a:p>
            <a:pPr defTabSz="1219200" eaLnBrk="1" fontAlgn="auto">
              <a:spcBef>
                <a:spcPts val="0"/>
              </a:spcBef>
              <a:spcAft>
                <a:spcPts val="0"/>
              </a:spcAft>
            </a:pPr>
            <a:r>
              <a:rPr kumimoji="0" lang="en-US" sz="1400" kern="0" dirty="0">
                <a:solidFill>
                  <a:srgbClr val="008000"/>
                </a:solidFill>
                <a:latin typeface="Consolas" panose="020B0609020204030204" pitchFamily="49" charset="0"/>
                <a:sym typeface="Helvetica Neue" panose="02000503000000020004"/>
              </a:rPr>
              <a:t>  // </a:t>
            </a:r>
            <a:r>
              <a:rPr kumimoji="0" lang="zh-CN" altLang="en-US" sz="1400" kern="0" dirty="0">
                <a:solidFill>
                  <a:srgbClr val="008000"/>
                </a:solidFill>
                <a:latin typeface="Consolas" panose="020B0609020204030204" pitchFamily="49" charset="0"/>
                <a:sym typeface="Helvetica Neue" panose="02000503000000020004"/>
              </a:rPr>
              <a:t>将命令组函数对象提交给队列</a:t>
            </a:r>
            <a:endParaRPr kumimoji="0" lang="en-US" sz="1400" kern="0" dirty="0">
              <a:solidFill>
                <a:srgbClr val="000000"/>
              </a:solidFill>
              <a:latin typeface="Consolas" panose="020B0609020204030204" pitchFamily="49" charset="0"/>
              <a:sym typeface="Helvetica Neue" panose="02000503000000020004"/>
            </a:endParaRP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q</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795E26"/>
                </a:solidFill>
                <a:latin typeface="Consolas" panose="020B0609020204030204" pitchFamily="49" charset="0"/>
                <a:sym typeface="Helvetica Neue" panose="02000503000000020004"/>
              </a:rPr>
              <a:t>submit</a:t>
            </a:r>
            <a:r>
              <a:rPr kumimoji="0" lang="en-US" sz="1400" kern="0" dirty="0">
                <a:solidFill>
                  <a:srgbClr val="000000"/>
                </a:solidFill>
                <a:latin typeface="Consolas" panose="020B0609020204030204" pitchFamily="49" charset="0"/>
                <a:sym typeface="Helvetica Neue" panose="02000503000000020004"/>
              </a:rPr>
              <a:t>([&amp;](</a:t>
            </a:r>
            <a:r>
              <a:rPr kumimoji="0" lang="en-US" sz="1400" kern="0" dirty="0">
                <a:solidFill>
                  <a:srgbClr val="267F99"/>
                </a:solidFill>
                <a:latin typeface="Consolas" panose="020B0609020204030204" pitchFamily="49" charset="0"/>
                <a:sym typeface="Helvetica Neue" panose="02000503000000020004"/>
              </a:rPr>
              <a:t>handler</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&amp;</a:t>
            </a:r>
            <a:r>
              <a:rPr kumimoji="0" lang="en-US" sz="1400" kern="0" dirty="0">
                <a:solidFill>
                  <a:srgbClr val="001080"/>
                </a:solidFill>
                <a:latin typeface="Consolas" panose="020B0609020204030204" pitchFamily="49" charset="0"/>
                <a:sym typeface="Helvetica Neue" panose="02000503000000020004"/>
              </a:rPr>
              <a:t>h</a:t>
            </a:r>
            <a:r>
              <a:rPr kumimoji="0" lang="en-US" sz="1400" kern="0" dirty="0">
                <a:solidFill>
                  <a:srgbClr val="000000"/>
                </a:solidFill>
                <a:latin typeface="Consolas" panose="020B0609020204030204" pitchFamily="49" charset="0"/>
                <a:sym typeface="Helvetica Neue" panose="02000503000000020004"/>
              </a:rPr>
              <a:t>){</a:t>
            </a:r>
          </a:p>
          <a:p>
            <a:pPr defTabSz="1219200" eaLnBrk="1" fontAlgn="auto">
              <a:spcBef>
                <a:spcPts val="0"/>
              </a:spcBef>
              <a:spcAft>
                <a:spcPts val="0"/>
              </a:spcAft>
            </a:pPr>
            <a:r>
              <a:rPr kumimoji="0" lang="en-US" sz="1400" kern="0" dirty="0">
                <a:solidFill>
                  <a:srgbClr val="008000"/>
                </a:solidFill>
                <a:latin typeface="Consolas" panose="020B0609020204030204" pitchFamily="49" charset="0"/>
                <a:sym typeface="Helvetica Neue" panose="02000503000000020004"/>
              </a:rPr>
              <a:t>    // </a:t>
            </a:r>
            <a:r>
              <a:rPr kumimoji="0" lang="zh-CN" altLang="en-US" sz="1400" kern="0" dirty="0">
                <a:solidFill>
                  <a:srgbClr val="008000"/>
                </a:solidFill>
                <a:latin typeface="Consolas" panose="020B0609020204030204" pitchFamily="49" charset="0"/>
                <a:sym typeface="Helvetica Neue" panose="02000503000000020004"/>
              </a:rPr>
              <a:t>创建设备访问器，以访问在全局内存中分配的缓冲</a:t>
            </a:r>
            <a:endParaRPr kumimoji="0" lang="en-US" sz="1400" kern="0" dirty="0">
              <a:solidFill>
                <a:srgbClr val="000000"/>
              </a:solidFill>
              <a:latin typeface="Consolas" panose="020B0609020204030204" pitchFamily="49" charset="0"/>
              <a:sym typeface="Helvetica Neue" panose="02000503000000020004"/>
            </a:endParaRP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accessor </a:t>
            </a:r>
            <a:r>
              <a:rPr kumimoji="0" lang="en-US" sz="1400" kern="0" dirty="0">
                <a:latin typeface="Consolas" panose="020B0609020204030204" pitchFamily="49" charset="0"/>
                <a:sym typeface="Helvetica Neue" panose="02000503000000020004"/>
              </a:rPr>
              <a:t>A(buf_a</a:t>
            </a:r>
            <a:r>
              <a:rPr kumimoji="0" lang="en-US" sz="1400" kern="0" dirty="0">
                <a:solidFill>
                  <a:srgbClr val="000000"/>
                </a:solidFill>
                <a:latin typeface="Consolas" panose="020B0609020204030204" pitchFamily="49" charset="0"/>
                <a:sym typeface="Helvetica Neue" panose="02000503000000020004"/>
              </a:rPr>
              <a:t>, h, read_only);</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accessor</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latin typeface="Consolas" panose="020B0609020204030204" pitchFamily="49" charset="0"/>
                <a:sym typeface="Helvetica Neue" panose="02000503000000020004"/>
              </a:rPr>
              <a:t>B(buf_b</a:t>
            </a:r>
            <a:r>
              <a:rPr kumimoji="0" lang="en-US" sz="1400" kern="0" dirty="0">
                <a:solidFill>
                  <a:srgbClr val="000000"/>
                </a:solidFill>
                <a:latin typeface="Consolas" panose="020B0609020204030204" pitchFamily="49" charset="0"/>
                <a:sym typeface="Helvetica Neue" panose="02000503000000020004"/>
              </a:rPr>
              <a:t>, h, read_only);</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00FF"/>
                </a:solidFill>
                <a:latin typeface="Consolas" panose="020B0609020204030204" pitchFamily="49" charset="0"/>
                <a:sym typeface="Helvetica Neue" panose="02000503000000020004"/>
              </a:rPr>
              <a:t>accessor</a:t>
            </a:r>
            <a:r>
              <a:rPr kumimoji="0" lang="en-US" sz="1400" kern="0" dirty="0">
                <a:solidFill>
                  <a:srgbClr val="000000"/>
                </a:solidFill>
                <a:latin typeface="Consolas" panose="020B0609020204030204" pitchFamily="49" charset="0"/>
                <a:sym typeface="Helvetica Neue" panose="02000503000000020004"/>
              </a:rPr>
              <a:t> C(buf_c, h, write_only);</a:t>
            </a:r>
          </a:p>
          <a:p>
            <a:pPr defTabSz="1219200" eaLnBrk="1" fontAlgn="auto">
              <a:spcBef>
                <a:spcPts val="0"/>
              </a:spcBef>
              <a:spcAft>
                <a:spcPts val="0"/>
              </a:spcAft>
            </a:pPr>
            <a:r>
              <a:rPr kumimoji="0" lang="en-US" sz="1400" kern="0" dirty="0">
                <a:solidFill>
                  <a:srgbClr val="008000"/>
                </a:solidFill>
                <a:latin typeface="Consolas" panose="020B0609020204030204" pitchFamily="49" charset="0"/>
                <a:sym typeface="Helvetica Neue" panose="02000503000000020004"/>
              </a:rPr>
              <a:t>    // </a:t>
            </a:r>
            <a:r>
              <a:rPr kumimoji="0" lang="zh-CN" altLang="en-US" sz="1400" kern="0" dirty="0">
                <a:solidFill>
                  <a:srgbClr val="008000"/>
                </a:solidFill>
                <a:latin typeface="Consolas" panose="020B0609020204030204" pitchFamily="49" charset="0"/>
                <a:sym typeface="Helvetica Neue" panose="02000503000000020004"/>
              </a:rPr>
              <a:t>指定设备</a:t>
            </a:r>
            <a:r>
              <a:rPr kumimoji="0" lang="en-US" sz="1400" kern="0" dirty="0">
                <a:solidFill>
                  <a:srgbClr val="008000"/>
                </a:solidFill>
                <a:latin typeface="Consolas" panose="020B0609020204030204" pitchFamily="49" charset="0"/>
                <a:sym typeface="Helvetica Neue" panose="02000503000000020004"/>
              </a:rPr>
              <a:t>kernel</a:t>
            </a:r>
            <a:r>
              <a:rPr kumimoji="0" lang="zh-CN" altLang="en-US" sz="1400" kern="0" dirty="0">
                <a:solidFill>
                  <a:srgbClr val="008000"/>
                </a:solidFill>
                <a:latin typeface="Consolas" panose="020B0609020204030204" pitchFamily="49" charset="0"/>
                <a:sym typeface="Helvetica Neue" panose="02000503000000020004"/>
              </a:rPr>
              <a:t>体为一个</a:t>
            </a:r>
            <a:r>
              <a:rPr kumimoji="0" lang="en-US" altLang="zh-CN" sz="1400" kern="0" dirty="0">
                <a:solidFill>
                  <a:srgbClr val="008000"/>
                </a:solidFill>
                <a:latin typeface="Consolas" panose="020B0609020204030204" pitchFamily="49" charset="0"/>
                <a:sym typeface="Helvetica Neue" panose="02000503000000020004"/>
              </a:rPr>
              <a:t>L</a:t>
            </a:r>
            <a:r>
              <a:rPr kumimoji="0" lang="en-US" sz="1400" kern="0" dirty="0">
                <a:solidFill>
                  <a:srgbClr val="008000"/>
                </a:solidFill>
                <a:latin typeface="Consolas" panose="020B0609020204030204" pitchFamily="49" charset="0"/>
                <a:sym typeface="Helvetica Neue" panose="02000503000000020004"/>
              </a:rPr>
              <a:t>ambda</a:t>
            </a:r>
            <a:r>
              <a:rPr kumimoji="0" lang="zh-CN" altLang="en-US" sz="1400" kern="0" dirty="0">
                <a:solidFill>
                  <a:srgbClr val="008000"/>
                </a:solidFill>
                <a:latin typeface="Consolas" panose="020B0609020204030204" pitchFamily="49" charset="0"/>
                <a:sym typeface="Helvetica Neue" panose="02000503000000020004"/>
              </a:rPr>
              <a:t>函数</a:t>
            </a:r>
            <a:endParaRPr kumimoji="0" lang="en-US" sz="1400" kern="0" dirty="0">
              <a:solidFill>
                <a:srgbClr val="000000"/>
              </a:solidFill>
              <a:latin typeface="Consolas" panose="020B0609020204030204" pitchFamily="49" charset="0"/>
              <a:sym typeface="Helvetica Neue" panose="02000503000000020004"/>
            </a:endParaRP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err="1">
                <a:solidFill>
                  <a:srgbClr val="001080"/>
                </a:solidFill>
                <a:latin typeface="Consolas" panose="020B0609020204030204" pitchFamily="49" charset="0"/>
                <a:sym typeface="Helvetica Neue" panose="02000503000000020004"/>
              </a:rPr>
              <a:t>h</a:t>
            </a:r>
            <a:r>
              <a:rPr kumimoji="0" lang="en-US" sz="1400" kern="0" dirty="0" err="1">
                <a:solidFill>
                  <a:srgbClr val="000000"/>
                </a:solidFill>
                <a:latin typeface="Consolas" panose="020B0609020204030204" pitchFamily="49" charset="0"/>
                <a:sym typeface="Helvetica Neue" panose="02000503000000020004"/>
              </a:rPr>
              <a:t>.</a:t>
            </a:r>
            <a:r>
              <a:rPr kumimoji="0" lang="en-US" sz="1400" kern="0" dirty="0" err="1">
                <a:solidFill>
                  <a:srgbClr val="795E26"/>
                </a:solidFill>
                <a:latin typeface="Consolas" panose="020B0609020204030204" pitchFamily="49" charset="0"/>
                <a:sym typeface="Helvetica Neue" panose="02000503000000020004"/>
              </a:rPr>
              <a:t>parallel_for</a:t>
            </a:r>
            <a:r>
              <a:rPr kumimoji="0" lang="en-US" sz="1400" kern="0" dirty="0">
                <a:solidFill>
                  <a:srgbClr val="000000"/>
                </a:solidFill>
                <a:latin typeface="Consolas" panose="020B0609020204030204" pitchFamily="49" charset="0"/>
                <a:sym typeface="Helvetica Neue" panose="02000503000000020004"/>
              </a:rPr>
              <a:t>(</a:t>
            </a:r>
            <a:r>
              <a:rPr kumimoji="0" lang="en-US" sz="1400" kern="0" dirty="0">
                <a:solidFill>
                  <a:srgbClr val="795E26"/>
                </a:solidFill>
                <a:latin typeface="Consolas" panose="020B0609020204030204" pitchFamily="49" charset="0"/>
                <a:sym typeface="Helvetica Neue" panose="02000503000000020004"/>
              </a:rPr>
              <a:t>range</a:t>
            </a:r>
            <a:r>
              <a:rPr kumimoji="0" lang="en-US" sz="1400" kern="0" dirty="0">
                <a:solidFill>
                  <a:srgbClr val="000000"/>
                </a:solidFill>
                <a:latin typeface="Consolas" panose="020B0609020204030204" pitchFamily="49" charset="0"/>
                <a:sym typeface="Helvetica Neue" panose="02000503000000020004"/>
              </a:rPr>
              <a:t>&lt;</a:t>
            </a:r>
            <a:r>
              <a:rPr kumimoji="0" lang="en-US" sz="1400" kern="0" dirty="0">
                <a:solidFill>
                  <a:srgbClr val="098658"/>
                </a:solidFill>
                <a:latin typeface="Consolas" panose="020B0609020204030204" pitchFamily="49" charset="0"/>
                <a:sym typeface="Helvetica Neue" panose="02000503000000020004"/>
              </a:rPr>
              <a:t>1</a:t>
            </a:r>
            <a:r>
              <a:rPr kumimoji="0" lang="en-US" sz="1400" kern="0" dirty="0">
                <a:solidFill>
                  <a:srgbClr val="000000"/>
                </a:solidFill>
                <a:latin typeface="Consolas" panose="020B0609020204030204" pitchFamily="49" charset="0"/>
                <a:sym typeface="Helvetica Neue" panose="02000503000000020004"/>
              </a:rPr>
              <a:t>&gt;(N), [=](</a:t>
            </a:r>
            <a:r>
              <a:rPr kumimoji="0" lang="en-US" sz="1400" kern="0" dirty="0">
                <a:solidFill>
                  <a:srgbClr val="267F99"/>
                </a:solidFill>
                <a:latin typeface="Consolas" panose="020B0609020204030204" pitchFamily="49" charset="0"/>
                <a:sym typeface="Helvetica Neue" panose="02000503000000020004"/>
              </a:rPr>
              <a:t>auto</a:t>
            </a: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i</a:t>
            </a:r>
            <a:r>
              <a:rPr kumimoji="0" lang="en-US" sz="1400" kern="0" dirty="0">
                <a:solidFill>
                  <a:srgbClr val="000000"/>
                </a:solidFill>
                <a:latin typeface="Consolas" panose="020B0609020204030204" pitchFamily="49" charset="0"/>
                <a:sym typeface="Helvetica Neue" panose="02000503000000020004"/>
              </a:rPr>
              <a:t>){</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r>
              <a:rPr kumimoji="0" lang="en-US" sz="1400" kern="0" dirty="0">
                <a:solidFill>
                  <a:srgbClr val="001080"/>
                </a:solidFill>
                <a:latin typeface="Consolas" panose="020B0609020204030204" pitchFamily="49" charset="0"/>
                <a:sym typeface="Helvetica Neue" panose="02000503000000020004"/>
              </a:rPr>
              <a:t>C</a:t>
            </a:r>
            <a:r>
              <a:rPr kumimoji="0" lang="en-US" sz="1400" kern="0" dirty="0">
                <a:solidFill>
                  <a:srgbClr val="000000"/>
                </a:solidFill>
                <a:latin typeface="Consolas" panose="020B0609020204030204" pitchFamily="49" charset="0"/>
                <a:sym typeface="Helvetica Neue" panose="02000503000000020004"/>
              </a:rPr>
              <a:t>[i] = </a:t>
            </a:r>
            <a:r>
              <a:rPr kumimoji="0" lang="en-US" sz="1400" kern="0" dirty="0">
                <a:solidFill>
                  <a:srgbClr val="001080"/>
                </a:solidFill>
                <a:latin typeface="Consolas" panose="020B0609020204030204" pitchFamily="49" charset="0"/>
                <a:sym typeface="Helvetica Neue" panose="02000503000000020004"/>
              </a:rPr>
              <a:t>A</a:t>
            </a:r>
            <a:r>
              <a:rPr kumimoji="0" lang="en-US" sz="1400" kern="0" dirty="0">
                <a:solidFill>
                  <a:srgbClr val="000000"/>
                </a:solidFill>
                <a:latin typeface="Consolas" panose="020B0609020204030204" pitchFamily="49" charset="0"/>
                <a:sym typeface="Helvetica Neue" panose="02000503000000020004"/>
              </a:rPr>
              <a:t>[i] + </a:t>
            </a:r>
            <a:r>
              <a:rPr kumimoji="0" lang="en-US" sz="1400" kern="0" dirty="0">
                <a:solidFill>
                  <a:srgbClr val="001080"/>
                </a:solidFill>
                <a:latin typeface="Consolas" panose="020B0609020204030204" pitchFamily="49" charset="0"/>
                <a:sym typeface="Helvetica Neue" panose="02000503000000020004"/>
              </a:rPr>
              <a:t>B</a:t>
            </a:r>
            <a:r>
              <a:rPr kumimoji="0" lang="en-US" sz="1400" kern="0" dirty="0">
                <a:solidFill>
                  <a:srgbClr val="000000"/>
                </a:solidFill>
                <a:latin typeface="Consolas" panose="020B0609020204030204" pitchFamily="49" charset="0"/>
                <a:sym typeface="Helvetica Neue" panose="02000503000000020004"/>
              </a:rPr>
              <a:t>[i];</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  });</a:t>
            </a:r>
          </a:p>
          <a:p>
            <a:pPr defTabSz="1219200" eaLnBrk="1" fontAlgn="auto">
              <a:spcBef>
                <a:spcPts val="0"/>
              </a:spcBef>
              <a:spcAft>
                <a:spcPts val="0"/>
              </a:spcAft>
            </a:pPr>
            <a:r>
              <a:rPr kumimoji="0" lang="en-US" sz="1400" kern="0" dirty="0">
                <a:solidFill>
                  <a:srgbClr val="000000"/>
                </a:solidFill>
                <a:latin typeface="Consolas" panose="020B0609020204030204" pitchFamily="49" charset="0"/>
                <a:sym typeface="Helvetica Neue" panose="02000503000000020004"/>
              </a:rPr>
              <a:t>}</a:t>
            </a:r>
          </a:p>
          <a:p>
            <a:pPr defTabSz="1219200" eaLnBrk="1" fontAlgn="auto">
              <a:spcBef>
                <a:spcPts val="0"/>
              </a:spcBef>
              <a:spcAft>
                <a:spcPts val="0"/>
              </a:spcAft>
            </a:pPr>
            <a:endParaRPr kumimoji="0" lang="en-US" sz="1400" kern="0" dirty="0">
              <a:solidFill>
                <a:srgbClr val="000000"/>
              </a:solidFill>
              <a:latin typeface="Intel Clear"/>
              <a:sym typeface="Helvetica Neue" panose="02000503000000020004"/>
            </a:endParaRPr>
          </a:p>
        </p:txBody>
      </p:sp>
      <p:sp>
        <p:nvSpPr>
          <p:cNvPr id="66" name="Rectangle: Rounded Corners 27"/>
          <p:cNvSpPr/>
          <p:nvPr/>
        </p:nvSpPr>
        <p:spPr>
          <a:xfrm>
            <a:off x="1038576" y="2010511"/>
            <a:ext cx="999348" cy="22363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67" name="Rectangle: Rounded Corners 28"/>
          <p:cNvSpPr/>
          <p:nvPr/>
        </p:nvSpPr>
        <p:spPr>
          <a:xfrm>
            <a:off x="1038575" y="2416285"/>
            <a:ext cx="3088030" cy="66253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68" name="Rectangle: Rounded Corners 29"/>
          <p:cNvSpPr/>
          <p:nvPr/>
        </p:nvSpPr>
        <p:spPr>
          <a:xfrm>
            <a:off x="1038575" y="3275911"/>
            <a:ext cx="2746333" cy="258077"/>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69" name="Rectangle: Rounded Corners 30"/>
          <p:cNvSpPr/>
          <p:nvPr/>
        </p:nvSpPr>
        <p:spPr>
          <a:xfrm>
            <a:off x="1176462" y="3697010"/>
            <a:ext cx="3402530" cy="66253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70" name="Rectangle: Rounded Corners 31"/>
          <p:cNvSpPr/>
          <p:nvPr/>
        </p:nvSpPr>
        <p:spPr>
          <a:xfrm>
            <a:off x="1176462" y="4560085"/>
            <a:ext cx="4162926" cy="662529"/>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71" name="Rectangle: Rounded Corners 32"/>
          <p:cNvSpPr/>
          <p:nvPr/>
        </p:nvSpPr>
        <p:spPr>
          <a:xfrm>
            <a:off x="1412286" y="4794794"/>
            <a:ext cx="1987608" cy="229329"/>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72" name="Elbow Connector 2"/>
          <p:cNvCxnSpPr/>
          <p:nvPr/>
        </p:nvCxnSpPr>
        <p:spPr>
          <a:xfrm flipV="1">
            <a:off x="1524144" y="4955278"/>
            <a:ext cx="0" cy="1243208"/>
          </a:xfrm>
          <a:prstGeom prst="straightConnector1">
            <a:avLst/>
          </a:prstGeom>
          <a:noFill/>
          <a:ln w="19050" cap="flat" cmpd="sng" algn="ctr">
            <a:solidFill>
              <a:srgbClr val="D96930"/>
            </a:solidFill>
            <a:prstDash val="solid"/>
            <a:tailEnd type="triangle"/>
          </a:ln>
          <a:effectLst/>
        </p:spPr>
      </p:cxnSp>
      <p:cxnSp>
        <p:nvCxnSpPr>
          <p:cNvPr id="73" name="Elbow Connector 2"/>
          <p:cNvCxnSpPr/>
          <p:nvPr/>
        </p:nvCxnSpPr>
        <p:spPr>
          <a:xfrm flipV="1">
            <a:off x="3497832" y="4764561"/>
            <a:ext cx="0" cy="1390723"/>
          </a:xfrm>
          <a:prstGeom prst="straightConnector1">
            <a:avLst/>
          </a:prstGeom>
          <a:noFill/>
          <a:ln w="19050" cap="flat" cmpd="sng" algn="ctr">
            <a:solidFill>
              <a:srgbClr val="D96930"/>
            </a:solidFill>
            <a:prstDash val="solid"/>
            <a:tailEnd type="triangle"/>
          </a:ln>
          <a:effectLst/>
        </p:spPr>
      </p:cxnSp>
      <p:cxnSp>
        <p:nvCxnSpPr>
          <p:cNvPr id="74" name="Elbow Connector 2"/>
          <p:cNvCxnSpPr/>
          <p:nvPr/>
        </p:nvCxnSpPr>
        <p:spPr>
          <a:xfrm flipV="1">
            <a:off x="4774395" y="4716473"/>
            <a:ext cx="0" cy="1390245"/>
          </a:xfrm>
          <a:prstGeom prst="straightConnector1">
            <a:avLst/>
          </a:prstGeom>
          <a:noFill/>
          <a:ln w="19050" cap="flat" cmpd="sng" algn="ctr">
            <a:solidFill>
              <a:srgbClr val="D96930"/>
            </a:solidFill>
            <a:prstDash val="solid"/>
            <a:tailEnd type="triangle"/>
          </a:ln>
          <a:effectLst/>
        </p:spPr>
      </p:cxnSp>
      <p:sp>
        <p:nvSpPr>
          <p:cNvPr id="25" name="TextBox 15">
            <a:extLst>
              <a:ext uri="{FF2B5EF4-FFF2-40B4-BE49-F238E27FC236}">
                <a16:creationId xmlns:a16="http://schemas.microsoft.com/office/drawing/2014/main" id="{FB876C1B-0BBC-4AF6-8F04-9A38A3543574}"/>
              </a:ext>
            </a:extLst>
          </p:cNvPr>
          <p:cNvSpPr txBox="1"/>
          <p:nvPr/>
        </p:nvSpPr>
        <p:spPr>
          <a:xfrm>
            <a:off x="6222600" y="2964162"/>
            <a:ext cx="2876600" cy="193899"/>
          </a:xfrm>
          <a:prstGeom prst="rect">
            <a:avLst/>
          </a:prstGeom>
          <a:noFill/>
        </p:spPr>
        <p:txBody>
          <a:bodyPr vert="horz" wrap="square" lIns="0" tIns="0" rIns="0" bIns="0" rtlCol="0">
            <a:spAutoFit/>
          </a:bodyPr>
          <a:lstStyle/>
          <a:p>
            <a:pPr marL="0" marR="0" lvl="0" indent="0" defTabSz="1219200" eaLnBrk="1" fontAlgn="auto" latinLnBrk="0" hangingPunct="1">
              <a:lnSpc>
                <a:spcPct val="90000"/>
              </a:lnSpc>
              <a:spcBef>
                <a:spcPts val="0"/>
              </a:spcBef>
              <a:spcAft>
                <a:spcPts val="0"/>
              </a:spcAft>
              <a:buClrTx/>
              <a:buSzTx/>
              <a:buFontTx/>
              <a:buNone/>
              <a:defRPr/>
            </a:pPr>
            <a:r>
              <a:rPr kumimoji="0" lang="en-US" sz="1400" b="0" i="0" u="none" strike="noStrike" kern="0" cap="none" spc="0" normalizeH="0" baseline="0" noProof="0" dirty="0">
                <a:ln>
                  <a:noFill/>
                </a:ln>
                <a:solidFill>
                  <a:schemeClr val="accent2"/>
                </a:solidFill>
                <a:effectLst/>
                <a:uLnTx/>
                <a:uFillTx/>
                <a:latin typeface="Intel Clear"/>
                <a:sym typeface="Helvetica Neue" panose="02000503000000020004"/>
              </a:rPr>
              <a:t>Step 3: </a:t>
            </a:r>
            <a:r>
              <a:rPr kumimoji="0" lang="zh-CN" altLang="en-US" sz="1400" b="0" i="0" u="none" strike="noStrike" kern="0" cap="none" spc="0" normalizeH="0" baseline="0" noProof="0" dirty="0">
                <a:ln>
                  <a:noFill/>
                </a:ln>
                <a:solidFill>
                  <a:schemeClr val="accent2"/>
                </a:solidFill>
                <a:effectLst/>
                <a:uLnTx/>
                <a:uFillTx/>
                <a:latin typeface="Intel Clear"/>
                <a:sym typeface="Helvetica Neue" panose="02000503000000020004"/>
              </a:rPr>
              <a:t>提交一个命令组（异步）执行</a:t>
            </a:r>
          </a:p>
        </p:txBody>
      </p:sp>
      <p:sp>
        <p:nvSpPr>
          <p:cNvPr id="26" name="TextBox 22">
            <a:extLst>
              <a:ext uri="{FF2B5EF4-FFF2-40B4-BE49-F238E27FC236}">
                <a16:creationId xmlns:a16="http://schemas.microsoft.com/office/drawing/2014/main" id="{15E512AB-6E01-41FA-BBCE-C0F16F6355F9}"/>
              </a:ext>
            </a:extLst>
          </p:cNvPr>
          <p:cNvSpPr txBox="1"/>
          <p:nvPr/>
        </p:nvSpPr>
        <p:spPr>
          <a:xfrm>
            <a:off x="6318120" y="6068044"/>
            <a:ext cx="2636968" cy="387798"/>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zh-CN" altLang="en-US" sz="1400" kern="0" dirty="0">
                <a:solidFill>
                  <a:schemeClr val="accent2"/>
                </a:solidFill>
                <a:latin typeface="Intel Clear"/>
                <a:sym typeface="Helvetica Neue" panose="02000503000000020004"/>
              </a:rPr>
              <a:t>完成！在</a:t>
            </a:r>
            <a:r>
              <a:rPr kumimoji="0" lang="en-US" altLang="zh-CN" sz="1400" kern="0" dirty="0" err="1">
                <a:solidFill>
                  <a:schemeClr val="accent2"/>
                </a:solidFill>
                <a:latin typeface="Intel Clear"/>
                <a:sym typeface="Helvetica Neue" panose="02000503000000020004"/>
              </a:rPr>
              <a:t>buf_c</a:t>
            </a:r>
            <a:r>
              <a:rPr kumimoji="0" lang="zh-CN" altLang="en-US" sz="1400" kern="0" dirty="0">
                <a:solidFill>
                  <a:schemeClr val="accent2"/>
                </a:solidFill>
                <a:latin typeface="Intel Clear"/>
                <a:sym typeface="Helvetica Neue" panose="02000503000000020004"/>
              </a:rPr>
              <a:t>析构时将结果拷贝到向量</a:t>
            </a:r>
            <a:r>
              <a:rPr kumimoji="0" lang="en-US" altLang="zh-CN" sz="1400" kern="0" dirty="0">
                <a:solidFill>
                  <a:schemeClr val="accent2"/>
                </a:solidFill>
                <a:latin typeface="Intel Clear"/>
                <a:sym typeface="Helvetica Neue" panose="02000503000000020004"/>
              </a:rPr>
              <a:t>c</a:t>
            </a:r>
            <a:endParaRPr kumimoji="0" lang="en-US" sz="1400" kern="0" dirty="0">
              <a:solidFill>
                <a:schemeClr val="accent2"/>
              </a:solidFill>
              <a:latin typeface="Intel Clear"/>
              <a:sym typeface="Helvetica Neue" panose="020005030000000200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subTnLst>
                                    <p:set>
                                      <p:cBhvr override="childStyle">
                                        <p:cTn dur="1" fill="hold" display="0" masterRel="nextClick" afterEffect="1"/>
                                        <p:tgtEl>
                                          <p:spTgt spid="66"/>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subTnLst>
                                    <p:animClr clrSpc="rgb" dir="cw">
                                      <p:cBhvr override="childStyle">
                                        <p:cTn dur="1" fill="hold" display="0" masterRel="nextClick" afterEffect="1"/>
                                        <p:tgtEl>
                                          <p:spTgt spid="54"/>
                                        </p:tgtEl>
                                        <p:attrNameLst>
                                          <p:attrName>ppt_c</p:attrName>
                                        </p:attrNameLst>
                                      </p:cBhvr>
                                      <p:to>
                                        <a:schemeClr val="bg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7"/>
                                        </p:tgtEl>
                                        <p:attrNameLst>
                                          <p:attrName>style.visibility</p:attrName>
                                        </p:attrNameLst>
                                      </p:cBhvr>
                                      <p:to>
                                        <p:strVal val="visible"/>
                                      </p:to>
                                    </p:set>
                                  </p:childTnLst>
                                  <p:subTnLst>
                                    <p:set>
                                      <p:cBhvr override="childStyle">
                                        <p:cTn dur="1" fill="hold" display="0" masterRel="nextClick" afterEffect="1"/>
                                        <p:tgtEl>
                                          <p:spTgt spid="67"/>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subTnLst>
                                    <p:animClr clrSpc="rgb" dir="cw">
                                      <p:cBhvr override="childStyle">
                                        <p:cTn dur="1" fill="hold" display="0" masterRel="nextClick" afterEffect="1"/>
                                        <p:tgtEl>
                                          <p:spTgt spid="55"/>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subTnLst>
                                    <p:set>
                                      <p:cBhvr override="childStyle">
                                        <p:cTn dur="1" fill="hold" display="0" masterRel="nextClick" afterEffect="1"/>
                                        <p:tgtEl>
                                          <p:spTgt spid="68"/>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subTnLst>
                                    <p:animClr clrSpc="rgb" dir="cw">
                                      <p:cBhvr override="childStyle">
                                        <p:cTn dur="1" fill="hold" display="0" masterRel="nextClick" afterEffect="1"/>
                                        <p:tgtEl>
                                          <p:spTgt spid="25"/>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
                                        </p:tgtEl>
                                        <p:attrNameLst>
                                          <p:attrName>style.visibility</p:attrName>
                                        </p:attrNameLst>
                                      </p:cBhvr>
                                      <p:to>
                                        <p:strVal val="visible"/>
                                      </p:to>
                                    </p:set>
                                  </p:childTnLst>
                                  <p:subTnLst>
                                    <p:set>
                                      <p:cBhvr override="childStyle">
                                        <p:cTn dur="1" fill="hold" display="0" masterRel="nextClick" afterEffect="1"/>
                                        <p:tgtEl>
                                          <p:spTgt spid="69"/>
                                        </p:tgtEl>
                                        <p:attrNameLst>
                                          <p:attrName>style.visibility</p:attrName>
                                        </p:attrNameLst>
                                      </p:cBhvr>
                                      <p:to>
                                        <p:strVal val="hidden"/>
                                      </p:to>
                                    </p:set>
                                  </p:sub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subTnLst>
                                    <p:animClr clrSpc="rgb" dir="cw">
                                      <p:cBhvr override="childStyle">
                                        <p:cTn dur="1" fill="hold" display="0" masterRel="nextClick" afterEffect="1"/>
                                        <p:tgtEl>
                                          <p:spTgt spid="56"/>
                                        </p:tgtEl>
                                        <p:attrNameLst>
                                          <p:attrName>ppt_c</p:attrName>
                                        </p:attrNameLst>
                                      </p:cBhvr>
                                      <p:to>
                                        <a:schemeClr val="bg2"/>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subTnLst>
                                    <p:set>
                                      <p:cBhvr override="childStyle">
                                        <p:cTn dur="1" fill="hold" display="0" masterRel="nextClick" afterEffect="1"/>
                                        <p:tgtEl>
                                          <p:spTgt spid="70"/>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subTnLst>
                                    <p:animClr clrSpc="rgb" dir="cw">
                                      <p:cBhvr override="childStyle">
                                        <p:cTn dur="1" fill="hold" display="0" masterRel="nextClick" afterEffect="1"/>
                                        <p:tgtEl>
                                          <p:spTgt spid="57"/>
                                        </p:tgtEl>
                                        <p:attrNameLst>
                                          <p:attrName>ppt_c</p:attrName>
                                        </p:attrNameLst>
                                      </p:cBhvr>
                                      <p:to>
                                        <a:schemeClr val="bg2"/>
                                      </p:to>
                                    </p:animClr>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1"/>
                                        </p:tgtEl>
                                        <p:attrNameLst>
                                          <p:attrName>style.visibility</p:attrName>
                                        </p:attrNameLst>
                                      </p:cBhvr>
                                      <p:to>
                                        <p:strVal val="visible"/>
                                      </p:to>
                                    </p:set>
                                  </p:childTnLst>
                                  <p:subTnLst>
                                    <p:set>
                                      <p:cBhvr override="childStyle">
                                        <p:cTn dur="1" fill="hold" display="0" masterRel="nextClick" afterEffect="1"/>
                                        <p:tgtEl>
                                          <p:spTgt spid="71"/>
                                        </p:tgtEl>
                                        <p:attrNameLst>
                                          <p:attrName>style.visibility</p:attrName>
                                        </p:attrNameLst>
                                      </p:cBhvr>
                                      <p:to>
                                        <p:strVal val="hidden"/>
                                      </p:to>
                                    </p:set>
                                  </p:sub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subTnLst>
                                    <p:animClr clrSpc="rgb" dir="cw">
                                      <p:cBhvr override="childStyle">
                                        <p:cTn dur="1" fill="hold" display="0" masterRel="nextClick" afterEffect="1"/>
                                        <p:tgtEl>
                                          <p:spTgt spid="58"/>
                                        </p:tgtEl>
                                        <p:attrNameLst>
                                          <p:attrName>ppt_c</p:attrName>
                                        </p:attrNameLst>
                                      </p:cBhvr>
                                      <p:to>
                                        <a:schemeClr val="bg2"/>
                                      </p:to>
                                    </p:animClr>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childTnLst>
                                  <p:subTnLst>
                                    <p:set>
                                      <p:cBhvr override="childStyle">
                                        <p:cTn dur="1" fill="hold" display="0" masterRel="nextClick" afterEffect="1"/>
                                        <p:tgtEl>
                                          <p:spTgt spid="72"/>
                                        </p:tgtEl>
                                        <p:attrNameLst>
                                          <p:attrName>style.visibility</p:attrName>
                                        </p:attrNameLst>
                                      </p:cBhvr>
                                      <p:to>
                                        <p:strVal val="hidden"/>
                                      </p:to>
                                    </p:set>
                                  </p:subTnLst>
                                </p:cTn>
                              </p:par>
                              <p:par>
                                <p:cTn id="43" presetID="1" presetClass="entr" presetSubtype="0"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subTnLst>
                                    <p:animClr clrSpc="rgb" dir="cw">
                                      <p:cBhvr override="childStyle">
                                        <p:cTn dur="1" fill="hold" display="0" masterRel="nextClick" afterEffect="1"/>
                                        <p:tgtEl>
                                          <p:spTgt spid="59"/>
                                        </p:tgtEl>
                                        <p:attrNameLst>
                                          <p:attrName>ppt_c</p:attrName>
                                        </p:attrNameLst>
                                      </p:cBhvr>
                                      <p:to>
                                        <a:schemeClr val="bg2"/>
                                      </p:to>
                                    </p:animClr>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childTnLst>
                                  <p:subTnLst>
                                    <p:set>
                                      <p:cBhvr override="childStyle">
                                        <p:cTn dur="1" fill="hold" display="0" masterRel="nextClick" afterEffect="1"/>
                                        <p:tgtEl>
                                          <p:spTgt spid="73"/>
                                        </p:tgtEl>
                                        <p:attrNameLst>
                                          <p:attrName>style.visibility</p:attrName>
                                        </p:attrNameLst>
                                      </p:cBhvr>
                                      <p:to>
                                        <p:strVal val="hidden"/>
                                      </p:to>
                                    </p:set>
                                  </p:sub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subTnLst>
                                    <p:animClr clrSpc="rgb" dir="cw">
                                      <p:cBhvr override="childStyle">
                                        <p:cTn dur="1" fill="hold" display="0" masterRel="nextClick" afterEffect="1"/>
                                        <p:tgtEl>
                                          <p:spTgt spid="60"/>
                                        </p:tgtEl>
                                        <p:attrNameLst>
                                          <p:attrName>ppt_c</p:attrName>
                                        </p:attrNameLst>
                                      </p:cBhvr>
                                      <p:to>
                                        <a:schemeClr val="bg2"/>
                                      </p:to>
                                    </p:animClr>
                                  </p:sub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4"/>
                                        </p:tgtEl>
                                        <p:attrNameLst>
                                          <p:attrName>style.visibility</p:attrName>
                                        </p:attrNameLst>
                                      </p:cBhvr>
                                      <p:to>
                                        <p:strVal val="visible"/>
                                      </p:to>
                                    </p:set>
                                  </p:childTnLst>
                                  <p:subTnLst>
                                    <p:set>
                                      <p:cBhvr override="childStyle">
                                        <p:cTn dur="1" fill="hold" display="0" masterRel="nextClick" afterEffect="1"/>
                                        <p:tgtEl>
                                          <p:spTgt spid="74"/>
                                        </p:tgtEl>
                                        <p:attrNameLst>
                                          <p:attrName>style.visibility</p:attrName>
                                        </p:attrNameLst>
                                      </p:cBhvr>
                                      <p:to>
                                        <p:strVal val="hidden"/>
                                      </p:to>
                                    </p:set>
                                  </p:sub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subTnLst>
                                    <p:animClr clrSpc="rgb" dir="cw">
                                      <p:cBhvr override="childStyle">
                                        <p:cTn dur="1" fill="hold" display="0" masterRel="nextClick" afterEffect="1"/>
                                        <p:tgtEl>
                                          <p:spTgt spid="61"/>
                                        </p:tgtEl>
                                        <p:attrNameLst>
                                          <p:attrName>ppt_c</p:attrName>
                                        </p:attrNameLst>
                                      </p:cBhvr>
                                      <p:to>
                                        <a:schemeClr val="bg2"/>
                                      </p:to>
                                    </p:animClr>
                                  </p:sub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subTnLst>
                                    <p:animClr clrSpc="rgb" dir="cw">
                                      <p:cBhvr override="childStyle">
                                        <p:cTn dur="1" fill="hold" display="0" masterRel="nextClick" afterEffect="1"/>
                                        <p:tgtEl>
                                          <p:spTgt spid="26"/>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56" grpId="0"/>
      <p:bldP spid="57" grpId="0"/>
      <p:bldP spid="58" grpId="0"/>
      <p:bldP spid="59" grpId="0"/>
      <p:bldP spid="60" grpId="0"/>
      <p:bldP spid="61" grpId="0"/>
      <p:bldP spid="66" grpId="0" animBg="1"/>
      <p:bldP spid="67" grpId="0" animBg="1"/>
      <p:bldP spid="68" grpId="0" animBg="1"/>
      <p:bldP spid="69" grpId="0" animBg="1"/>
      <p:bldP spid="70" grpId="0" animBg="1"/>
      <p:bldP spid="71" grpId="0" animBg="1"/>
      <p:bldP spid="25" grpId="0"/>
      <p:bldP spid="2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自定义设备选择器</a:t>
            </a:r>
          </a:p>
        </p:txBody>
      </p:sp>
      <p:sp>
        <p:nvSpPr>
          <p:cNvPr id="3" name="内容占位符 2"/>
          <p:cNvSpPr>
            <a:spLocks noGrp="1"/>
          </p:cNvSpPr>
          <p:nvPr>
            <p:ph idx="1"/>
          </p:nvPr>
        </p:nvSpPr>
        <p:spPr/>
        <p:txBody>
          <a:bodyPr/>
          <a:lstStyle/>
          <a:p>
            <a:r>
              <a:rPr lang="zh-CN" altLang="en-US" sz="2800" dirty="0"/>
              <a:t>下面代码显示了一个启发式选择设备的派生</a:t>
            </a:r>
            <a:r>
              <a:rPr lang="en-US" altLang="zh-CN" sz="2800" b="1" dirty="0" err="1"/>
              <a:t>device_selector</a:t>
            </a:r>
            <a:r>
              <a:rPr lang="zh-CN" altLang="en-US" sz="2800" dirty="0"/>
              <a:t>。它优先考虑</a:t>
            </a:r>
            <a:r>
              <a:rPr lang="en-US" altLang="zh-CN" sz="2800" dirty="0"/>
              <a:t>GPU</a:t>
            </a:r>
            <a:r>
              <a:rPr lang="zh-CN" altLang="en-US" sz="2800" dirty="0"/>
              <a:t>设备，因为返回的整数评分高于</a:t>
            </a:r>
            <a:r>
              <a:rPr lang="en-US" altLang="zh-CN" sz="2800" dirty="0"/>
              <a:t>CPU</a:t>
            </a:r>
            <a:r>
              <a:rPr lang="zh-CN" altLang="en-US" sz="2800" dirty="0"/>
              <a:t>或其他加速器</a:t>
            </a:r>
          </a:p>
        </p:txBody>
      </p:sp>
      <p:grpSp>
        <p:nvGrpSpPr>
          <p:cNvPr id="28" name="Group 7"/>
          <p:cNvGrpSpPr/>
          <p:nvPr/>
        </p:nvGrpSpPr>
        <p:grpSpPr>
          <a:xfrm>
            <a:off x="163586" y="2755220"/>
            <a:ext cx="8791501" cy="4058156"/>
            <a:chOff x="5537899" y="310898"/>
            <a:chExt cx="6105461" cy="7180060"/>
          </a:xfrm>
        </p:grpSpPr>
        <p:sp>
          <p:nvSpPr>
            <p:cNvPr id="34" name="Rectangle: Single Corner Snipped 8"/>
            <p:cNvSpPr/>
            <p:nvPr/>
          </p:nvSpPr>
          <p:spPr>
            <a:xfrm>
              <a:off x="5537899" y="310898"/>
              <a:ext cx="6105461" cy="7180060"/>
            </a:xfrm>
            <a:prstGeom prst="snip1Rect">
              <a:avLst>
                <a:gd name="adj" fmla="val 2758"/>
              </a:avLst>
            </a:prstGeom>
            <a:solidFill>
              <a:srgbClr val="FFFFFF">
                <a:lumMod val="95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4000" b="0"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35" name="TextBox 13"/>
            <p:cNvSpPr txBox="1"/>
            <p:nvPr/>
          </p:nvSpPr>
          <p:spPr>
            <a:xfrm>
              <a:off x="5695349" y="420339"/>
              <a:ext cx="5835791" cy="260570"/>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90000"/>
                </a:lnSpc>
                <a:spcBef>
                  <a:spcPts val="2250"/>
                </a:spcBef>
                <a:spcAft>
                  <a:spcPts val="0"/>
                </a:spcAft>
                <a:buClrTx/>
                <a:buSzTx/>
                <a:buFontTx/>
                <a:buNone/>
                <a:defRPr/>
              </a:pPr>
              <a:endParaRPr kumimoji="0" lang="en-US" sz="1335"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29" name="Rectangle 14"/>
          <p:cNvSpPr/>
          <p:nvPr/>
        </p:nvSpPr>
        <p:spPr>
          <a:xfrm>
            <a:off x="421148" y="2755219"/>
            <a:ext cx="8533940" cy="3600986"/>
          </a:xfrm>
          <a:prstGeom prst="rect">
            <a:avLst/>
          </a:prstGeom>
        </p:spPr>
        <p:txBody>
          <a:bodyPr wrap="square">
            <a:spAutoFit/>
          </a:bodyP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lvetica Neue" panose="02000503000000020004"/>
              </a:defRPr>
            </a:lvl9pPr>
          </a:lstStyle>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#include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&lt;CL/sycl.hpp&gt;</a:t>
            </a: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using</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namespace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cl::sycl;</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class</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2B91AF"/>
                </a:solidFill>
                <a:effectLst/>
                <a:uLnTx/>
                <a:uFillTx/>
                <a:latin typeface="Consolas" panose="020B0609020204030204" pitchFamily="49" charset="0"/>
                <a:sym typeface="Helvetica Neue" panose="02000503000000020004"/>
              </a:rPr>
              <a:t>my_device_selector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public</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device_selector {</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public</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8080"/>
                </a:solidFill>
                <a:effectLst/>
                <a:uLnTx/>
                <a:uFillTx/>
                <a:latin typeface="Consolas" panose="020B0609020204030204" pitchFamily="49" charset="0"/>
                <a:sym typeface="Helvetica Neue" panose="02000503000000020004"/>
              </a:rPr>
              <a:t>operator()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const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device&amp; </a:t>
            </a: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dev</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const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override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rating = 0;</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if</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dev</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.is_gpu() &amp; (</a:t>
            </a: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dev</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.get_info&lt;info::device::name&gt;().find(</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"Intel"</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std::string::npos))</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rating = 3;</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else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if</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dev</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.is_gpu()) rating = 2;</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else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if</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a:ln>
                  <a:noFill/>
                </a:ln>
                <a:solidFill>
                  <a:srgbClr val="808080"/>
                </a:solidFill>
                <a:effectLst/>
                <a:uLnTx/>
                <a:uFillTx/>
                <a:latin typeface="Consolas" panose="020B0609020204030204" pitchFamily="49" charset="0"/>
                <a:sym typeface="Helvetica Neue" panose="02000503000000020004"/>
              </a:rPr>
              <a:t>dev</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.is_cpu()) rating = 1;</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return</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rating;</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main() {</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2B91AF"/>
                </a:solidFill>
                <a:effectLst/>
                <a:uLnTx/>
                <a:uFillTx/>
                <a:latin typeface="Consolas" panose="020B0609020204030204" pitchFamily="49" charset="0"/>
                <a:sym typeface="Helvetica Neue" panose="02000503000000020004"/>
              </a:rPr>
              <a:t>  </a:t>
            </a:r>
            <a:r>
              <a:rPr kumimoji="0" lang="en-US" sz="1200" b="0" i="0" u="none" strike="noStrike" kern="0" cap="none" spc="0" normalizeH="0" baseline="0" noProof="0" dirty="0" err="1">
                <a:ln>
                  <a:noFill/>
                </a:ln>
                <a:solidFill>
                  <a:srgbClr val="2B91AF"/>
                </a:solidFill>
                <a:effectLst/>
                <a:uLnTx/>
                <a:uFillTx/>
                <a:latin typeface="Consolas" panose="020B0609020204030204" pitchFamily="49" charset="0"/>
                <a:sym typeface="Helvetica Neue" panose="02000503000000020004"/>
              </a:rPr>
              <a:t>my_device_selector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selector;</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queue q(selector);</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std::cout &lt;&lt;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"Device: “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&lt;&lt; q.get_device().get_info&lt;info::device::name&gt;() &lt;&lt; std::endl;</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return</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0;</a:t>
            </a:r>
          </a:p>
          <a:p>
            <a:pPr marL="0" marR="0" lvl="0" indent="0" algn="l" defTabSz="1219200" rtl="0" eaLnBrk="1" fontAlgn="auto" latinLnBrk="0" hangingPunct="0">
              <a:lnSpc>
                <a:spcPct val="100000"/>
              </a:lnSpc>
              <a:spcBef>
                <a:spcPts val="0"/>
              </a:spcBef>
              <a:spcAft>
                <a:spcPts val="0"/>
              </a:spcAft>
              <a:buClrTx/>
              <a:buSzTx/>
              <a:buFontTx/>
              <a:buNone/>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endParaRPr kumimoji="0" lang="en-US" sz="1200" b="0"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30" name="Rectangle: Rounded Corners 15"/>
          <p:cNvSpPr/>
          <p:nvPr/>
        </p:nvSpPr>
        <p:spPr>
          <a:xfrm>
            <a:off x="654385" y="5365497"/>
            <a:ext cx="2469370" cy="195300"/>
          </a:xfrm>
          <a:prstGeom prst="roundRect">
            <a:avLst>
              <a:gd name="adj" fmla="val 6871"/>
            </a:avLst>
          </a:prstGeom>
          <a:noFill/>
          <a:ln w="19050" cap="flat" cmpd="sng" algn="ctr">
            <a:solidFill>
              <a:srgbClr val="FFC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31" name="Rectangle: Rounded Corners 16"/>
          <p:cNvSpPr/>
          <p:nvPr/>
        </p:nvSpPr>
        <p:spPr>
          <a:xfrm>
            <a:off x="787917" y="3882446"/>
            <a:ext cx="5804033" cy="206564"/>
          </a:xfrm>
          <a:prstGeom prst="roundRect">
            <a:avLst>
              <a:gd name="adj" fmla="val 6871"/>
            </a:avLst>
          </a:prstGeom>
          <a:noFill/>
          <a:ln w="19050" cap="flat" cmpd="sng" algn="ctr">
            <a:solidFill>
              <a:srgbClr val="FFC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32" name="Rectangle: Rounded Corners 17"/>
          <p:cNvSpPr/>
          <p:nvPr/>
        </p:nvSpPr>
        <p:spPr>
          <a:xfrm>
            <a:off x="787917" y="4281835"/>
            <a:ext cx="3020991" cy="385552"/>
          </a:xfrm>
          <a:prstGeom prst="roundRect">
            <a:avLst>
              <a:gd name="adj" fmla="val 6871"/>
            </a:avLst>
          </a:prstGeom>
          <a:noFill/>
          <a:ln w="19050" cap="flat" cmpd="sng" algn="ctr">
            <a:solidFill>
              <a:srgbClr val="FFC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33" name="Rectangle: Rounded Corners 18"/>
          <p:cNvSpPr/>
          <p:nvPr/>
        </p:nvSpPr>
        <p:spPr>
          <a:xfrm>
            <a:off x="992647" y="3183224"/>
            <a:ext cx="1615109" cy="195772"/>
          </a:xfrm>
          <a:prstGeom prst="roundRect">
            <a:avLst>
              <a:gd name="adj" fmla="val 6871"/>
            </a:avLst>
          </a:prstGeom>
          <a:noFill/>
          <a:ln w="19050" cap="flat" cmpd="sng" algn="ctr">
            <a:solidFill>
              <a:srgbClr val="FFC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defRPr kumimoji="0" sz="900" b="0" i="0" u="none" strike="noStrike" cap="none" spc="0" normalizeH="0" baseline="0">
                <a:ln>
                  <a:noFill/>
                </a:ln>
                <a:solidFill>
                  <a:srgbClr val="000000"/>
                </a:solidFill>
                <a:effectLst/>
                <a:uFillTx/>
              </a:defRPr>
            </a:defPPr>
            <a:lvl1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1pPr>
            <a:lvl2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2pPr>
            <a:lvl3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3pPr>
            <a:lvl4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4pPr>
            <a:lvl5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5pPr>
            <a:lvl6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6pPr>
            <a:lvl7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7pPr>
            <a:lvl8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8pPr>
            <a:lvl9pPr marL="0" marR="0" indent="0" algn="l" defTabSz="1219200" rtl="0" fontAlgn="auto" latinLnBrk="0" hangingPunct="0">
              <a:lnSpc>
                <a:spcPct val="90000"/>
              </a:lnSpc>
              <a:spcBef>
                <a:spcPts val="2250"/>
              </a:spcBef>
              <a:spcAft>
                <a:spcPts val="0"/>
              </a:spcAft>
              <a:buClrTx/>
              <a:buSzTx/>
              <a:buFontTx/>
              <a:buNone/>
              <a:defRPr kumimoji="0" sz="2400" b="0" i="0" u="none" strike="noStrike" cap="none" spc="0" normalizeH="0" baseline="0">
                <a:ln>
                  <a:noFill/>
                </a:ln>
                <a:solidFill>
                  <a:schemeClr val="dk1"/>
                </a:solidFill>
                <a:effectLst/>
                <a:uFillTx/>
                <a:latin typeface="+mn-lt"/>
                <a:ea typeface="+mn-ea"/>
                <a:cs typeface="+mn-cs"/>
                <a:sym typeface="Helvetica Neue" panose="02000503000000020004"/>
              </a:defRPr>
            </a:lvl9pPr>
          </a:lstStyle>
          <a:p>
            <a:pPr marL="0" marR="0" lvl="0" indent="0" algn="ctr" defTabSz="1219200" rtl="0" eaLnBrk="1" fontAlgn="auto" latinLnBrk="0" hangingPunct="0">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缓冲内存进阶</a:t>
            </a:r>
            <a:r>
              <a:rPr lang="en-US" altLang="zh-CN" dirty="0"/>
              <a:t>——</a:t>
            </a:r>
            <a:r>
              <a:rPr lang="zh-CN" altLang="en-US" dirty="0"/>
              <a:t>异步执行</a:t>
            </a:r>
          </a:p>
        </p:txBody>
      </p:sp>
      <p:sp>
        <p:nvSpPr>
          <p:cNvPr id="3" name="内容占位符 2"/>
          <p:cNvSpPr>
            <a:spLocks noGrp="1"/>
          </p:cNvSpPr>
          <p:nvPr>
            <p:ph idx="1"/>
          </p:nvPr>
        </p:nvSpPr>
        <p:spPr/>
        <p:txBody>
          <a:bodyPr/>
          <a:lstStyle/>
          <a:p>
            <a:r>
              <a:rPr lang="zh-CN" altLang="en-US" dirty="0"/>
              <a:t>将一个</a:t>
            </a:r>
            <a:r>
              <a:rPr lang="en-US" altLang="zh-CN" dirty="0"/>
              <a:t>SYCL</a:t>
            </a:r>
            <a:r>
              <a:rPr lang="zh-CN" altLang="en-US" dirty="0"/>
              <a:t>程序理解为两个部分</a:t>
            </a:r>
            <a:endParaRPr lang="en-US" altLang="zh-CN" dirty="0"/>
          </a:p>
          <a:p>
            <a:pPr lvl="1"/>
            <a:r>
              <a:rPr lang="zh-CN" altLang="en-US" dirty="0"/>
              <a:t>主机端代码</a:t>
            </a:r>
            <a:endParaRPr lang="en-US" altLang="zh-CN" dirty="0"/>
          </a:p>
          <a:p>
            <a:pPr lvl="1"/>
            <a:r>
              <a:rPr lang="en-US" altLang="zh-CN" dirty="0"/>
              <a:t>Kernel</a:t>
            </a:r>
            <a:r>
              <a:rPr lang="zh-CN" altLang="en-US" dirty="0"/>
              <a:t>执行图</a:t>
            </a:r>
            <a:endParaRPr lang="en-US" altLang="zh-CN" dirty="0"/>
          </a:p>
          <a:p>
            <a:r>
              <a:rPr lang="zh-CN" altLang="en-US" dirty="0"/>
              <a:t>它们是独立执行的，通过同步操作同步</a:t>
            </a:r>
            <a:endParaRPr lang="en-US" altLang="zh-CN" dirty="0"/>
          </a:p>
          <a:p>
            <a:pPr lvl="1"/>
            <a:r>
              <a:rPr lang="zh-CN" altLang="en-US" dirty="0"/>
              <a:t>主机端代码提交任务来构建执行图（当然自己也可进行计算）</a:t>
            </a:r>
            <a:endParaRPr lang="en-US" altLang="zh-CN" dirty="0"/>
          </a:p>
          <a:p>
            <a:pPr lvl="1"/>
            <a:r>
              <a:rPr lang="en-US" altLang="zh-CN" dirty="0"/>
              <a:t>Kernel</a:t>
            </a:r>
            <a:r>
              <a:rPr lang="zh-CN" altLang="en-US" dirty="0"/>
              <a:t>执行图和数据移动</a:t>
            </a:r>
            <a:r>
              <a:rPr lang="zh-CN" altLang="en-US" dirty="0">
                <a:latin typeface="黑体" panose="02010609060101010101" pitchFamily="49" charset="-122"/>
                <a:ea typeface="黑体" panose="02010609060101010101" pitchFamily="49" charset="-122"/>
              </a:rPr>
              <a:t>与主机端代码异步执行</a:t>
            </a:r>
            <a:r>
              <a:rPr lang="zh-CN" altLang="en-US" dirty="0"/>
              <a:t>，</a:t>
            </a:r>
            <a:r>
              <a:rPr lang="en-US" altLang="zh-CN" dirty="0"/>
              <a:t>SYCL</a:t>
            </a:r>
            <a:r>
              <a:rPr lang="zh-CN" altLang="en-US" dirty="0"/>
              <a:t>运行时负责管理</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异步执行</a:t>
            </a:r>
          </a:p>
        </p:txBody>
      </p:sp>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2"/>
          <a:stretch>
            <a:fillRect/>
          </a:stretch>
        </p:blipFill>
        <p:spPr>
          <a:xfrm>
            <a:off x="468154" y="1628800"/>
            <a:ext cx="8207692" cy="394716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异步执行</a:t>
            </a:r>
          </a:p>
        </p:txBody>
      </p:sp>
      <p:sp>
        <p:nvSpPr>
          <p:cNvPr id="3" name="内容占位符 2"/>
          <p:cNvSpPr>
            <a:spLocks noGrp="1"/>
          </p:cNvSpPr>
          <p:nvPr>
            <p:ph idx="1"/>
          </p:nvPr>
        </p:nvSpPr>
        <p:spPr/>
        <p:txBody>
          <a:bodyPr/>
          <a:lstStyle/>
          <a:p>
            <a:endParaRPr lang="zh-CN" altLang="en-US" dirty="0"/>
          </a:p>
        </p:txBody>
      </p:sp>
      <p:pic>
        <p:nvPicPr>
          <p:cNvPr id="6" name="图片 5"/>
          <p:cNvPicPr>
            <a:picLocks noChangeAspect="1"/>
          </p:cNvPicPr>
          <p:nvPr/>
        </p:nvPicPr>
        <p:blipFill>
          <a:blip r:embed="rId2"/>
          <a:stretch>
            <a:fillRect/>
          </a:stretch>
        </p:blipFill>
        <p:spPr>
          <a:xfrm>
            <a:off x="378142" y="1644984"/>
            <a:ext cx="8387715" cy="4513898"/>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执行图调度</a:t>
            </a:r>
          </a:p>
        </p:txBody>
      </p:sp>
      <p:sp>
        <p:nvSpPr>
          <p:cNvPr id="3" name="内容占位符 2"/>
          <p:cNvSpPr>
            <a:spLocks noGrp="1"/>
          </p:cNvSpPr>
          <p:nvPr>
            <p:ph idx="1"/>
          </p:nvPr>
        </p:nvSpPr>
        <p:spPr/>
        <p:txBody>
          <a:bodyPr/>
          <a:lstStyle/>
          <a:p>
            <a:r>
              <a:rPr lang="zh-CN" altLang="en-US" b="0" i="0" dirty="0">
                <a:solidFill>
                  <a:srgbClr val="2A2B2E"/>
                </a:solidFill>
                <a:effectLst/>
                <a:latin typeface="PingFang SC" panose="020B0400000000000000" charset="-122"/>
              </a:rPr>
              <a:t>实现正确</a:t>
            </a:r>
            <a:r>
              <a:rPr lang="en-US" altLang="zh-CN" b="0" i="0" dirty="0">
                <a:solidFill>
                  <a:srgbClr val="2A2B2E"/>
                </a:solidFill>
                <a:effectLst/>
              </a:rPr>
              <a:t>kernel</a:t>
            </a:r>
            <a:r>
              <a:rPr lang="zh-CN" altLang="en-US" b="0" i="0" dirty="0">
                <a:solidFill>
                  <a:srgbClr val="2A2B2E"/>
                </a:solidFill>
                <a:effectLst/>
                <a:latin typeface="PingFang SC" panose="020B0400000000000000" charset="-122"/>
              </a:rPr>
              <a:t>序列和数据移动的机制</a:t>
            </a:r>
            <a:endParaRPr lang="en-US" altLang="zh-CN" b="0" i="0" dirty="0">
              <a:solidFill>
                <a:srgbClr val="2A2B2E"/>
              </a:solidFill>
              <a:effectLst/>
              <a:latin typeface="PingFang SC" panose="020B0400000000000000" charset="-122"/>
            </a:endParaRPr>
          </a:p>
          <a:p>
            <a:pPr lvl="1"/>
            <a:r>
              <a:rPr lang="zh-CN" altLang="en-US" dirty="0"/>
              <a:t>写后读（</a:t>
            </a:r>
            <a:r>
              <a:rPr lang="en-US" altLang="zh-CN" dirty="0"/>
              <a:t>Read-after-Write</a:t>
            </a:r>
            <a:r>
              <a:rPr lang="zh-CN" altLang="en-US" dirty="0"/>
              <a:t>，</a:t>
            </a:r>
            <a:r>
              <a:rPr lang="en-US" altLang="zh-CN" dirty="0"/>
              <a:t>RAW</a:t>
            </a:r>
            <a:r>
              <a:rPr lang="zh-CN" altLang="en-US" dirty="0"/>
              <a:t>）：一个任务需要读取另一个任务生成的数据</a:t>
            </a:r>
            <a:endParaRPr lang="en-US" altLang="zh-CN" dirty="0"/>
          </a:p>
          <a:p>
            <a:pPr lvl="1"/>
            <a:r>
              <a:rPr lang="zh-CN" altLang="en-US" dirty="0"/>
              <a:t>读后写（</a:t>
            </a:r>
            <a:r>
              <a:rPr lang="en-US" altLang="zh-CN" dirty="0"/>
              <a:t>Write-after-Read</a:t>
            </a:r>
            <a:r>
              <a:rPr lang="zh-CN" altLang="en-US" dirty="0"/>
              <a:t>，</a:t>
            </a:r>
            <a:r>
              <a:rPr lang="en-US" altLang="zh-CN" dirty="0"/>
              <a:t>WAR</a:t>
            </a:r>
            <a:r>
              <a:rPr lang="zh-CN" altLang="en-US" dirty="0"/>
              <a:t>）：一个任务需要在另一个任务读取数据后更新该数据</a:t>
            </a:r>
            <a:endParaRPr lang="en-US" altLang="zh-CN" dirty="0"/>
          </a:p>
          <a:p>
            <a:pPr lvl="1"/>
            <a:r>
              <a:rPr lang="zh-CN" altLang="en-US" dirty="0"/>
              <a:t>写后写（</a:t>
            </a:r>
            <a:r>
              <a:rPr lang="en-US" altLang="zh-CN" dirty="0"/>
              <a:t>Write-after-Write</a:t>
            </a:r>
            <a:r>
              <a:rPr lang="zh-CN" altLang="en-US" dirty="0"/>
              <a:t>，</a:t>
            </a:r>
            <a:r>
              <a:rPr lang="en-US" altLang="zh-CN" dirty="0"/>
              <a:t>WAW</a:t>
            </a:r>
            <a:r>
              <a:rPr lang="zh-CN" altLang="en-US" dirty="0"/>
              <a:t>）：两个任务试图写同一个数据</a:t>
            </a:r>
          </a:p>
        </p:txBody>
      </p:sp>
    </p:spTree>
    <p:extLst>
      <p:ext uri="{BB962C8B-B14F-4D97-AF65-F5344CB8AC3E}">
        <p14:creationId xmlns:p14="http://schemas.microsoft.com/office/powerpoint/2010/main" val="24324097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827F39-84D7-4499-84C9-7C68EC442244}"/>
              </a:ext>
            </a:extLst>
          </p:cNvPr>
          <p:cNvSpPr>
            <a:spLocks noGrp="1"/>
          </p:cNvSpPr>
          <p:nvPr>
            <p:ph type="title"/>
          </p:nvPr>
        </p:nvSpPr>
        <p:spPr/>
        <p:txBody>
          <a:bodyPr/>
          <a:lstStyle/>
          <a:p>
            <a:r>
              <a:rPr lang="zh-CN" altLang="en-US" dirty="0"/>
              <a:t>写后读</a:t>
            </a:r>
          </a:p>
        </p:txBody>
      </p:sp>
      <p:sp>
        <p:nvSpPr>
          <p:cNvPr id="3" name="内容占位符 2">
            <a:extLst>
              <a:ext uri="{FF2B5EF4-FFF2-40B4-BE49-F238E27FC236}">
                <a16:creationId xmlns:a16="http://schemas.microsoft.com/office/drawing/2014/main" id="{496DF046-2485-4A03-8549-DB8EC578C3E6}"/>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BD624923-AB23-417F-8443-2EC54ADD22B3}"/>
              </a:ext>
            </a:extLst>
          </p:cNvPr>
          <p:cNvPicPr>
            <a:picLocks noChangeAspect="1"/>
          </p:cNvPicPr>
          <p:nvPr/>
        </p:nvPicPr>
        <p:blipFill>
          <a:blip r:embed="rId2"/>
          <a:stretch>
            <a:fillRect/>
          </a:stretch>
        </p:blipFill>
        <p:spPr>
          <a:xfrm>
            <a:off x="395536" y="1371600"/>
            <a:ext cx="4421981" cy="5179219"/>
          </a:xfrm>
          <a:prstGeom prst="rect">
            <a:avLst/>
          </a:prstGeom>
        </p:spPr>
      </p:pic>
      <p:pic>
        <p:nvPicPr>
          <p:cNvPr id="7" name="图片 6">
            <a:extLst>
              <a:ext uri="{FF2B5EF4-FFF2-40B4-BE49-F238E27FC236}">
                <a16:creationId xmlns:a16="http://schemas.microsoft.com/office/drawing/2014/main" id="{3601052E-4A86-4A8D-9F97-71431DF6C844}"/>
              </a:ext>
            </a:extLst>
          </p:cNvPr>
          <p:cNvPicPr>
            <a:picLocks noChangeAspect="1"/>
          </p:cNvPicPr>
          <p:nvPr/>
        </p:nvPicPr>
        <p:blipFill>
          <a:blip r:embed="rId3"/>
          <a:stretch>
            <a:fillRect/>
          </a:stretch>
        </p:blipFill>
        <p:spPr>
          <a:xfrm>
            <a:off x="4876221" y="1371600"/>
            <a:ext cx="4243388" cy="4271963"/>
          </a:xfrm>
          <a:prstGeom prst="rect">
            <a:avLst/>
          </a:prstGeom>
        </p:spPr>
      </p:pic>
    </p:spTree>
    <p:extLst>
      <p:ext uri="{BB962C8B-B14F-4D97-AF65-F5344CB8AC3E}">
        <p14:creationId xmlns:p14="http://schemas.microsoft.com/office/powerpoint/2010/main" val="15197652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1A5FC-D58E-40DC-BB83-0F55B240EEB0}"/>
              </a:ext>
            </a:extLst>
          </p:cNvPr>
          <p:cNvSpPr>
            <a:spLocks noGrp="1"/>
          </p:cNvSpPr>
          <p:nvPr>
            <p:ph type="title"/>
          </p:nvPr>
        </p:nvSpPr>
        <p:spPr/>
        <p:txBody>
          <a:bodyPr/>
          <a:lstStyle/>
          <a:p>
            <a:r>
              <a:rPr lang="zh-CN" altLang="en-US" dirty="0"/>
              <a:t>读后写与写后写</a:t>
            </a:r>
          </a:p>
        </p:txBody>
      </p:sp>
      <p:sp>
        <p:nvSpPr>
          <p:cNvPr id="3" name="内容占位符 2">
            <a:extLst>
              <a:ext uri="{FF2B5EF4-FFF2-40B4-BE49-F238E27FC236}">
                <a16:creationId xmlns:a16="http://schemas.microsoft.com/office/drawing/2014/main" id="{0BB944F6-56A4-4EEF-866B-125FFAB5AE6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936E111F-DB24-423C-932C-5DA2690B99FB}"/>
              </a:ext>
            </a:extLst>
          </p:cNvPr>
          <p:cNvPicPr>
            <a:picLocks noChangeAspect="1"/>
          </p:cNvPicPr>
          <p:nvPr/>
        </p:nvPicPr>
        <p:blipFill>
          <a:blip r:embed="rId2"/>
          <a:stretch>
            <a:fillRect/>
          </a:stretch>
        </p:blipFill>
        <p:spPr>
          <a:xfrm>
            <a:off x="323528" y="1484784"/>
            <a:ext cx="8765381" cy="4286250"/>
          </a:xfrm>
          <a:prstGeom prst="rect">
            <a:avLst/>
          </a:prstGeom>
        </p:spPr>
      </p:pic>
    </p:spTree>
    <p:extLst>
      <p:ext uri="{BB962C8B-B14F-4D97-AF65-F5344CB8AC3E}">
        <p14:creationId xmlns:p14="http://schemas.microsoft.com/office/powerpoint/2010/main" val="15952559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缓冲内存同步</a:t>
            </a:r>
            <a:r>
              <a:rPr lang="en-US" altLang="zh-CN" dirty="0"/>
              <a:t>——</a:t>
            </a:r>
            <a:r>
              <a:rPr lang="zh-CN" altLang="en-US" dirty="0"/>
              <a:t>主机访问器</a:t>
            </a:r>
          </a:p>
        </p:txBody>
      </p:sp>
      <p:sp>
        <p:nvSpPr>
          <p:cNvPr id="3" name="内容占位符 2"/>
          <p:cNvSpPr>
            <a:spLocks noGrp="1"/>
          </p:cNvSpPr>
          <p:nvPr>
            <p:ph idx="1"/>
          </p:nvPr>
        </p:nvSpPr>
        <p:spPr/>
        <p:txBody>
          <a:bodyPr/>
          <a:lstStyle/>
          <a:p>
            <a:r>
              <a:rPr lang="zh-CN" altLang="en-US" b="0" i="0" dirty="0">
                <a:solidFill>
                  <a:srgbClr val="2A2B2E"/>
                </a:solidFill>
                <a:effectLst/>
                <a:latin typeface="PingFang SC" panose="020B0400000000000000" charset="-122"/>
              </a:rPr>
              <a:t>一种使用主机端缓冲访问目标的访问器</a:t>
            </a:r>
            <a:endParaRPr lang="en-US" altLang="zh-CN" b="0" i="0" dirty="0">
              <a:solidFill>
                <a:srgbClr val="2A2B2E"/>
              </a:solidFill>
              <a:effectLst/>
              <a:latin typeface="PingFang SC" panose="020B0400000000000000" charset="-122"/>
            </a:endParaRPr>
          </a:p>
          <a:p>
            <a:r>
              <a:rPr lang="zh-CN" altLang="en-US" dirty="0">
                <a:solidFill>
                  <a:srgbClr val="2A2B2E"/>
                </a:solidFill>
                <a:latin typeface="PingFang SC" panose="020B0400000000000000" charset="-122"/>
              </a:rPr>
              <a:t>在命令组作用域之外创建</a:t>
            </a:r>
            <a:endParaRPr lang="en-US" altLang="zh-CN" dirty="0">
              <a:solidFill>
                <a:srgbClr val="2A2B2E"/>
              </a:solidFill>
              <a:latin typeface="PingFang SC" panose="020B0400000000000000" charset="-122"/>
            </a:endParaRPr>
          </a:p>
          <a:p>
            <a:r>
              <a:rPr lang="zh-CN" altLang="en-US" dirty="0">
                <a:solidFill>
                  <a:srgbClr val="2A2B2E"/>
                </a:solidFill>
                <a:latin typeface="PingFang SC" panose="020B0400000000000000" charset="-122"/>
              </a:rPr>
              <a:t>它可以访问的数据在主机端是可见的</a:t>
            </a:r>
            <a:endParaRPr lang="en-US" altLang="zh-CN" dirty="0">
              <a:solidFill>
                <a:srgbClr val="2A2B2E"/>
              </a:solidFill>
              <a:latin typeface="PingFang SC" panose="020B0400000000000000" charset="-122"/>
            </a:endParaRPr>
          </a:p>
          <a:p>
            <a:r>
              <a:rPr lang="zh-CN" altLang="en-US" dirty="0">
                <a:solidFill>
                  <a:srgbClr val="2A2B2E"/>
                </a:solidFill>
                <a:latin typeface="PingFang SC" panose="020B0400000000000000" charset="-122"/>
              </a:rPr>
              <a:t>通过构造主机访问器对象，可用来</a:t>
            </a:r>
            <a:r>
              <a:rPr lang="zh-CN" altLang="en-US" dirty="0">
                <a:solidFill>
                  <a:srgbClr val="2A2B2E"/>
                </a:solidFill>
                <a:latin typeface="黑体" panose="02010609060101010101" pitchFamily="49" charset="-122"/>
                <a:ea typeface="黑体" panose="02010609060101010101" pitchFamily="49" charset="-122"/>
              </a:rPr>
              <a:t>将数据同步回主机</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主机访问器示例</a:t>
            </a:r>
          </a:p>
        </p:txBody>
      </p:sp>
      <p:sp>
        <p:nvSpPr>
          <p:cNvPr id="3" name="内容占位符 2"/>
          <p:cNvSpPr>
            <a:spLocks noGrp="1"/>
          </p:cNvSpPr>
          <p:nvPr>
            <p:ph idx="1"/>
          </p:nvPr>
        </p:nvSpPr>
        <p:spPr>
          <a:xfrm>
            <a:off x="539552" y="1371600"/>
            <a:ext cx="8384134" cy="4724400"/>
          </a:xfrm>
        </p:spPr>
        <p:txBody>
          <a:bodyPr/>
          <a:lstStyle/>
          <a:p>
            <a:r>
              <a:rPr lang="zh-CN" altLang="en-US" sz="2800" dirty="0"/>
              <a:t>缓冲拥有存储在</a:t>
            </a:r>
            <a:r>
              <a:rPr lang="en-US" altLang="zh-CN" sz="2800" dirty="0"/>
              <a:t>vector</a:t>
            </a:r>
            <a:r>
              <a:rPr lang="zh-CN" altLang="en-US" sz="2800" dirty="0"/>
              <a:t>中</a:t>
            </a:r>
            <a:br>
              <a:rPr lang="en-US" altLang="zh-CN" sz="2800" dirty="0"/>
            </a:br>
            <a:r>
              <a:rPr lang="zh-CN" altLang="en-US" sz="2800" dirty="0"/>
              <a:t>的</a:t>
            </a:r>
            <a:r>
              <a:rPr lang="zh-CN" altLang="en-US" sz="2800" dirty="0">
                <a:latin typeface="黑体" panose="02010609060101010101" pitchFamily="49" charset="-122"/>
                <a:ea typeface="黑体" panose="02010609060101010101" pitchFamily="49" charset="-122"/>
              </a:rPr>
              <a:t>数据的所有权</a:t>
            </a:r>
            <a:endParaRPr lang="en-US" altLang="zh-CN" sz="2800" dirty="0">
              <a:latin typeface="黑体" panose="02010609060101010101" pitchFamily="49" charset="-122"/>
              <a:ea typeface="黑体" panose="02010609060101010101" pitchFamily="49" charset="-122"/>
            </a:endParaRPr>
          </a:p>
          <a:p>
            <a:r>
              <a:rPr lang="zh-CN" altLang="en-US" sz="2800" dirty="0"/>
              <a:t>创建主机访问器是一种</a:t>
            </a:r>
            <a:br>
              <a:rPr lang="en-US" altLang="zh-CN" sz="2800" dirty="0"/>
            </a:br>
            <a:r>
              <a:rPr lang="zh-CN" altLang="en-US" sz="2800" dirty="0"/>
              <a:t>阻塞调用，返回条件</a:t>
            </a:r>
            <a:endParaRPr lang="en-US" altLang="zh-CN" sz="2800" dirty="0"/>
          </a:p>
          <a:p>
            <a:pPr lvl="1"/>
            <a:r>
              <a:rPr lang="zh-CN" altLang="en-US" sz="2400" dirty="0"/>
              <a:t>访问同一个缓冲的所有</a:t>
            </a:r>
            <a:br>
              <a:rPr lang="en-US" altLang="zh-CN" sz="2400" dirty="0"/>
            </a:br>
            <a:r>
              <a:rPr lang="zh-CN" altLang="en-US" sz="2400" dirty="0"/>
              <a:t>队列中所有</a:t>
            </a:r>
            <a:r>
              <a:rPr lang="en-US" altLang="zh-CN" sz="2400" dirty="0"/>
              <a:t>kernel</a:t>
            </a:r>
            <a:r>
              <a:rPr lang="zh-CN" altLang="en-US" sz="2400" dirty="0"/>
              <a:t>都执行</a:t>
            </a:r>
            <a:br>
              <a:rPr lang="en-US" altLang="zh-CN" sz="2400" dirty="0"/>
            </a:br>
            <a:r>
              <a:rPr lang="zh-CN" altLang="en-US" sz="2400" dirty="0"/>
              <a:t>完毕</a:t>
            </a:r>
            <a:endParaRPr lang="en-US" altLang="zh-CN" sz="2400" dirty="0"/>
          </a:p>
          <a:p>
            <a:pPr lvl="1"/>
            <a:r>
              <a:rPr lang="zh-CN" altLang="en-US" sz="2400" dirty="0"/>
              <a:t>因此，通过主机访问器，</a:t>
            </a:r>
            <a:br>
              <a:rPr lang="en-US" altLang="zh-CN" sz="2400" dirty="0"/>
            </a:br>
            <a:r>
              <a:rPr lang="zh-CN" altLang="en-US" sz="2400" dirty="0">
                <a:latin typeface="黑体" panose="02010609060101010101" pitchFamily="49" charset="-122"/>
                <a:ea typeface="黑体" panose="02010609060101010101" pitchFamily="49" charset="-122"/>
              </a:rPr>
              <a:t>主机可以访问数据</a:t>
            </a:r>
            <a:r>
              <a:rPr lang="zh-CN" altLang="en-US" sz="2400" dirty="0"/>
              <a:t>了</a:t>
            </a:r>
          </a:p>
        </p:txBody>
      </p:sp>
      <p:grpSp>
        <p:nvGrpSpPr>
          <p:cNvPr id="9" name="Group 3"/>
          <p:cNvGrpSpPr/>
          <p:nvPr/>
        </p:nvGrpSpPr>
        <p:grpSpPr>
          <a:xfrm>
            <a:off x="4947548" y="1371600"/>
            <a:ext cx="4030175" cy="5559494"/>
            <a:chOff x="5300773" y="284014"/>
            <a:chExt cx="7290233" cy="7518277"/>
          </a:xfrm>
        </p:grpSpPr>
        <p:sp>
          <p:nvSpPr>
            <p:cNvPr id="10" name="Rectangle: Single Corner Snipped 4"/>
            <p:cNvSpPr/>
            <p:nvPr/>
          </p:nvSpPr>
          <p:spPr>
            <a:xfrm>
              <a:off x="5300773" y="284014"/>
              <a:ext cx="7290233" cy="7059920"/>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0"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1" name="TextBox 5"/>
            <p:cNvSpPr txBox="1"/>
            <p:nvPr/>
          </p:nvSpPr>
          <p:spPr>
            <a:xfrm>
              <a:off x="5748380" y="823825"/>
              <a:ext cx="6773349" cy="6978466"/>
            </a:xfrm>
            <a:prstGeom prst="rect">
              <a:avLst/>
            </a:prstGeom>
            <a:noFill/>
          </p:spPr>
          <p:txBody>
            <a:bodyPr vert="horz" wrap="square" lIns="0" tIns="0" rIns="0" bIns="0" rtlCol="0">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#include</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&lt;CL/sycl.hpp&gt;</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using</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namespace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panose="02000503000000020004"/>
                </a:rPr>
                <a:t>sycl</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panose="02000503000000020004"/>
                </a:rPr>
                <a:t>constexpr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N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16</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endParaRP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main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::vector&lt;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double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(N,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queue q;</a:t>
              </a:r>
            </a:p>
            <a:p>
              <a:pPr marL="0" marR="0" lvl="0" indent="0" defTabSz="1219200" eaLnBrk="1" fontAlgn="auto" latinLnBrk="0" hangingPunct="1">
                <a:lnSpc>
                  <a:spcPct val="100000"/>
                </a:lnSpc>
                <a:spcBef>
                  <a:spcPts val="0"/>
                </a:spcBef>
                <a:spcAft>
                  <a:spcPts val="0"/>
                </a:spcAft>
                <a:buClrTx/>
                <a:buSzTx/>
                <a:buFontTx/>
                <a:buNone/>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buffer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submit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handler</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accessor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h)</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(N,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2</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host_accessor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b(</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read_only);</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 &lt; N; i++)</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::cout &lt;&lt;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b</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&lt;&lt; </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FF0000"/>
                  </a:solidFill>
                  <a:effectLst/>
                  <a:uLnTx/>
                  <a:uFillTx/>
                  <a:latin typeface="Consolas" panose="020B0609020204030204" pitchFamily="49" charset="0"/>
                  <a:sym typeface="Helvetica Neue" panose="02000503000000020004"/>
                </a:rPr>
                <a:t>\n</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return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a:p>
              <a:pPr marL="0" marR="0" lvl="0" indent="0" defTabSz="1219200" eaLnBrk="1" fontAlgn="auto" latinLnBrk="0" hangingPunct="1">
                <a:lnSpc>
                  <a:spcPct val="100000"/>
                </a:lnSpc>
                <a:spcBef>
                  <a:spcPts val="0"/>
                </a:spcBef>
                <a:spcAft>
                  <a:spcPts val="0"/>
                </a:spcAft>
                <a:buClrTx/>
                <a:buSzTx/>
                <a:buFontTx/>
                <a:buNone/>
                <a:defRPr/>
              </a:pPr>
              <a:endParaRPr kumimoji="0" lang="en-US" sz="1335"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grpSp>
      <p:sp>
        <p:nvSpPr>
          <p:cNvPr id="12" name="Rectangle: Rounded Corners 6"/>
          <p:cNvSpPr/>
          <p:nvPr/>
        </p:nvSpPr>
        <p:spPr>
          <a:xfrm>
            <a:off x="5377323" y="3471305"/>
            <a:ext cx="1531151" cy="262151"/>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13" name="Rectangle: Rounded Corners 7"/>
          <p:cNvSpPr/>
          <p:nvPr/>
        </p:nvSpPr>
        <p:spPr>
          <a:xfrm>
            <a:off x="5377323" y="5151996"/>
            <a:ext cx="3340699" cy="262151"/>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另一种同步</a:t>
            </a:r>
            <a:r>
              <a:rPr lang="en-US" altLang="zh-CN" dirty="0"/>
              <a:t>——</a:t>
            </a:r>
            <a:r>
              <a:rPr lang="zh-CN" altLang="en-US" dirty="0"/>
              <a:t>缓冲析构</a:t>
            </a:r>
          </a:p>
        </p:txBody>
      </p:sp>
      <p:sp>
        <p:nvSpPr>
          <p:cNvPr id="3" name="内容占位符 2"/>
          <p:cNvSpPr>
            <a:spLocks noGrp="1"/>
          </p:cNvSpPr>
          <p:nvPr>
            <p:ph idx="1"/>
          </p:nvPr>
        </p:nvSpPr>
        <p:spPr>
          <a:xfrm>
            <a:off x="179512" y="1371600"/>
            <a:ext cx="8744174" cy="4724400"/>
          </a:xfrm>
        </p:spPr>
        <p:txBody>
          <a:bodyPr/>
          <a:lstStyle/>
          <a:p>
            <a:r>
              <a:rPr lang="zh-CN" altLang="en-US" sz="2800" dirty="0"/>
              <a:t>在</a:t>
            </a:r>
            <a:r>
              <a:rPr lang="zh-CN" altLang="en-US" sz="2800" dirty="0">
                <a:latin typeface="黑体" panose="02010609060101010101" pitchFamily="49" charset="-122"/>
                <a:ea typeface="黑体" panose="02010609060101010101" pitchFamily="49" charset="-122"/>
              </a:rPr>
              <a:t>独立作用域</a:t>
            </a:r>
            <a:br>
              <a:rPr lang="en-US" altLang="zh-CN" sz="2800" dirty="0">
                <a:latin typeface="黑体" panose="02010609060101010101" pitchFamily="49" charset="-122"/>
                <a:ea typeface="黑体" panose="02010609060101010101" pitchFamily="49" charset="-122"/>
              </a:rPr>
            </a:br>
            <a:r>
              <a:rPr lang="zh-CN" altLang="en-US" sz="2800" dirty="0"/>
              <a:t>创建缓冲</a:t>
            </a:r>
            <a:endParaRPr lang="en-US" altLang="zh-CN" sz="2800" dirty="0">
              <a:latin typeface="黑体" panose="02010609060101010101" pitchFamily="49" charset="-122"/>
              <a:ea typeface="黑体" panose="02010609060101010101" pitchFamily="49" charset="-122"/>
            </a:endParaRPr>
          </a:p>
          <a:p>
            <a:r>
              <a:rPr lang="zh-CN" altLang="en-US" sz="2800" dirty="0"/>
              <a:t>程序执行离开这个</a:t>
            </a:r>
            <a:br>
              <a:rPr lang="en-US" altLang="zh-CN" sz="2800" dirty="0"/>
            </a:br>
            <a:r>
              <a:rPr lang="zh-CN" altLang="en-US" sz="2800" dirty="0"/>
              <a:t>作用域后</a:t>
            </a:r>
            <a:endParaRPr lang="en-US" altLang="zh-CN" sz="2800" dirty="0"/>
          </a:p>
          <a:p>
            <a:pPr lvl="1"/>
            <a:r>
              <a:rPr lang="zh-CN" altLang="en-US" sz="2400" dirty="0">
                <a:latin typeface="黑体" panose="02010609060101010101" pitchFamily="49" charset="-122"/>
                <a:ea typeface="黑体" panose="02010609060101010101" pitchFamily="49" charset="-122"/>
              </a:rPr>
              <a:t>调用缓冲析构函数</a:t>
            </a:r>
            <a:br>
              <a:rPr lang="en-US" altLang="zh-CN" sz="2400" dirty="0"/>
            </a:br>
            <a:r>
              <a:rPr lang="zh-CN" altLang="en-US" sz="2400" dirty="0"/>
              <a:t>来释放数据的</a:t>
            </a:r>
            <a:br>
              <a:rPr lang="en-US" altLang="zh-CN" sz="2400" dirty="0"/>
            </a:br>
            <a:r>
              <a:rPr lang="zh-CN" altLang="en-US" sz="2400" dirty="0"/>
              <a:t>所有权</a:t>
            </a:r>
            <a:endParaRPr lang="en-US" altLang="zh-CN" sz="2400" dirty="0"/>
          </a:p>
          <a:p>
            <a:pPr lvl="1"/>
            <a:r>
              <a:rPr lang="zh-CN" altLang="en-US" sz="2400" dirty="0"/>
              <a:t>并</a:t>
            </a:r>
            <a:r>
              <a:rPr lang="zh-CN" altLang="en-US" sz="2400" dirty="0">
                <a:latin typeface="黑体" panose="02010609060101010101" pitchFamily="49" charset="-122"/>
                <a:ea typeface="黑体" panose="02010609060101010101" pitchFamily="49" charset="-122"/>
              </a:rPr>
              <a:t>将数据拷贝回</a:t>
            </a:r>
            <a:br>
              <a:rPr lang="en-US" altLang="zh-CN" sz="2400" dirty="0">
                <a:latin typeface="黑体" panose="02010609060101010101" pitchFamily="49" charset="-122"/>
                <a:ea typeface="黑体" panose="02010609060101010101" pitchFamily="49" charset="-122"/>
              </a:rPr>
            </a:br>
            <a:r>
              <a:rPr lang="zh-CN" altLang="en-US" sz="2400" dirty="0">
                <a:latin typeface="黑体" panose="02010609060101010101" pitchFamily="49" charset="-122"/>
                <a:ea typeface="黑体" panose="02010609060101010101" pitchFamily="49" charset="-122"/>
              </a:rPr>
              <a:t>主机端</a:t>
            </a:r>
            <a:endParaRPr lang="en-US" altLang="zh-CN" sz="2400" dirty="0">
              <a:latin typeface="黑体" panose="02010609060101010101" pitchFamily="49" charset="-122"/>
              <a:ea typeface="黑体" panose="02010609060101010101" pitchFamily="49" charset="-122"/>
            </a:endParaRPr>
          </a:p>
          <a:p>
            <a:pPr lvl="1"/>
            <a:r>
              <a:rPr lang="zh-CN" altLang="en-US" sz="2400" dirty="0"/>
              <a:t>主机代码之前是</a:t>
            </a:r>
            <a:br>
              <a:rPr lang="en-US" altLang="zh-CN" sz="2400" dirty="0"/>
            </a:br>
            <a:r>
              <a:rPr lang="zh-CN" altLang="en-US" sz="2400" dirty="0"/>
              <a:t>阻塞的，之后才</a:t>
            </a:r>
            <a:br>
              <a:rPr lang="en-US" altLang="zh-CN" sz="2400" dirty="0"/>
            </a:br>
            <a:r>
              <a:rPr lang="zh-CN" altLang="en-US" sz="2400" dirty="0"/>
              <a:t>继续执行</a:t>
            </a:r>
          </a:p>
        </p:txBody>
      </p:sp>
      <p:sp>
        <p:nvSpPr>
          <p:cNvPr id="17" name="Rectangle: Single Corner Snipped 9"/>
          <p:cNvSpPr/>
          <p:nvPr/>
        </p:nvSpPr>
        <p:spPr>
          <a:xfrm>
            <a:off x="3437305" y="1219200"/>
            <a:ext cx="5671199" cy="5290444"/>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  #include</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&lt;CL/sycl.hpp&gt;</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  using</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namespace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panose="02000503000000020004"/>
              </a:rPr>
              <a:t>sycl</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panose="02000503000000020004"/>
              </a:rPr>
              <a:t>constexpr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N=</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16</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void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dpcpp_code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vector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double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queue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buffer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buf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submit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handler</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&amp;</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accessor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a(buf, h);</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h</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(N,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2</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main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::vector&lt;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double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(N,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queue q;</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dpcpp_code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v,q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i &lt; N; i++)</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panose="02000503000000020004"/>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::cout &lt;&lt;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v</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[i] &lt;&lt; </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FF0000"/>
                </a:solidFill>
                <a:effectLst/>
                <a:uLnTx/>
                <a:uFillTx/>
                <a:latin typeface="Consolas" panose="020B0609020204030204" pitchFamily="49" charset="0"/>
                <a:sym typeface="Helvetica Neue" panose="02000503000000020004"/>
              </a:rPr>
              <a:t>\n</a:t>
            </a:r>
            <a:r>
              <a:rPr kumimoji="0" lang="en-US" sz="1400" b="0" i="0" u="none" strike="noStrike" kern="0" cap="none" spc="0" normalizeH="0" baseline="0" noProof="0" dirty="0">
                <a:ln>
                  <a:noFill/>
                </a:ln>
                <a:solidFill>
                  <a:srgbClr val="A31515"/>
                </a:solidFill>
                <a:effectLst/>
                <a:uLnTx/>
                <a:uFillTx/>
                <a:latin typeface="Consolas" panose="020B0609020204030204" pitchFamily="49" charset="0"/>
                <a:sym typeface="Helvetica Neue" panose="02000503000000020004"/>
              </a:rPr>
              <a: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panose="02000503000000020004"/>
              </a:rPr>
              <a:t>return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00000"/>
              </a:lnSpc>
              <a:spcBef>
                <a:spcPts val="0"/>
              </a:spcBef>
              <a:spcAft>
                <a:spcPts val="0"/>
              </a:spcAft>
              <a:buClrTx/>
              <a:buSzTx/>
              <a:buFontTx/>
              <a:buNone/>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p>
          <a:p>
            <a:pPr marL="0" marR="0" lvl="0" indent="0" defTabSz="12192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p:txBody>
      </p:sp>
      <p:sp>
        <p:nvSpPr>
          <p:cNvPr id="18" name="Rectangle: Rounded Corners 10"/>
          <p:cNvSpPr/>
          <p:nvPr/>
        </p:nvSpPr>
        <p:spPr>
          <a:xfrm>
            <a:off x="3906859" y="5066702"/>
            <a:ext cx="1644834" cy="25759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
        <p:nvSpPr>
          <p:cNvPr id="19" name="Rectangle: Rounded Corners 11"/>
          <p:cNvSpPr/>
          <p:nvPr/>
        </p:nvSpPr>
        <p:spPr>
          <a:xfrm>
            <a:off x="3568888" y="2244059"/>
            <a:ext cx="5313147" cy="2138402"/>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DPC++=C+++SYCL+</a:t>
            </a:r>
            <a:r>
              <a:rPr lang="zh-CN" altLang="en-US"/>
              <a:t>扩展</a:t>
            </a:r>
          </a:p>
        </p:txBody>
      </p:sp>
      <p:sp>
        <p:nvSpPr>
          <p:cNvPr id="3" name="内容占位符 2"/>
          <p:cNvSpPr>
            <a:spLocks noGrp="1"/>
          </p:cNvSpPr>
          <p:nvPr>
            <p:ph idx="1"/>
          </p:nvPr>
        </p:nvSpPr>
        <p:spPr/>
        <p:txBody>
          <a:bodyPr/>
          <a:lstStyle/>
          <a:p>
            <a:r>
              <a:rPr lang="en-US" altLang="zh-CN" dirty="0"/>
              <a:t>DPC++</a:t>
            </a:r>
            <a:r>
              <a:rPr lang="zh-CN" altLang="en-US" dirty="0"/>
              <a:t>扩展</a:t>
            </a:r>
          </a:p>
          <a:p>
            <a:pPr lvl="1" algn="l"/>
            <a:r>
              <a:rPr lang="zh-CN" altLang="en-US" dirty="0"/>
              <a:t>统一共享内存（</a:t>
            </a:r>
            <a:r>
              <a:rPr lang="zh-CN" altLang="en-US" dirty="0">
                <a:cs typeface="+mn-ea"/>
                <a:sym typeface="+mn-ea"/>
              </a:rPr>
              <a:t>Unified Shared Memory，USM）</a:t>
            </a:r>
          </a:p>
          <a:p>
            <a:pPr lvl="1" algn="l"/>
            <a:r>
              <a:rPr lang="zh-CN" altLang="en-US" dirty="0">
                <a:cs typeface="+mn-ea"/>
              </a:rPr>
              <a:t>小组（</a:t>
            </a:r>
            <a:r>
              <a:rPr lang="en-US" altLang="zh-CN" dirty="0">
                <a:cs typeface="+mn-ea"/>
              </a:rPr>
              <a:t>sub-group</a:t>
            </a:r>
            <a:r>
              <a:rPr lang="zh-CN" altLang="en-US" dirty="0">
                <a:cs typeface="+mn-ea"/>
              </a:rPr>
              <a:t>）</a:t>
            </a:r>
          </a:p>
          <a:p>
            <a:pPr lvl="0" algn="l"/>
            <a:r>
              <a:rPr lang="en-US" altLang="zh-CN" dirty="0">
                <a:sym typeface="+mn-ea"/>
              </a:rPr>
              <a:t>DPC++</a:t>
            </a:r>
            <a:r>
              <a:rPr lang="zh-CN" altLang="en-US" dirty="0">
                <a:sym typeface="+mn-ea"/>
              </a:rPr>
              <a:t>扩展的主要目标是</a:t>
            </a:r>
            <a:r>
              <a:rPr lang="zh-CN" altLang="en-US" dirty="0">
                <a:latin typeface="黑体" charset="0"/>
                <a:ea typeface="黑体" charset="0"/>
                <a:sym typeface="+mn-ea"/>
              </a:rPr>
              <a:t>简化编程</a:t>
            </a:r>
            <a:r>
              <a:rPr lang="zh-CN" altLang="en-US" dirty="0">
                <a:sym typeface="+mn-ea"/>
              </a:rPr>
              <a:t>以及通过曝露硬件特性来</a:t>
            </a:r>
            <a:r>
              <a:rPr lang="zh-CN" altLang="en-US" dirty="0">
                <a:latin typeface="黑体" charset="0"/>
                <a:ea typeface="黑体" charset="0"/>
                <a:sym typeface="+mn-ea"/>
              </a:rPr>
              <a:t>优化性能</a:t>
            </a:r>
          </a:p>
          <a:p>
            <a:pPr lvl="1" algn="l"/>
            <a:r>
              <a:rPr lang="zh-CN" altLang="en-US" dirty="0">
                <a:sym typeface="+mn-ea"/>
              </a:rPr>
              <a:t>减少了</a:t>
            </a:r>
            <a:r>
              <a:rPr lang="en-US" altLang="zh-CN" dirty="0">
                <a:sym typeface="+mn-ea"/>
              </a:rPr>
              <a:t>SYCL</a:t>
            </a:r>
            <a:r>
              <a:rPr lang="zh-CN" altLang="en-US" dirty="0">
                <a:sym typeface="+mn-ea"/>
              </a:rPr>
              <a:t>语言的冗余</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DPC++</a:t>
            </a:r>
            <a:r>
              <a:rPr lang="zh-CN" altLang="en-US"/>
              <a:t>代码简化</a:t>
            </a:r>
          </a:p>
        </p:txBody>
      </p:sp>
      <p:sp>
        <p:nvSpPr>
          <p:cNvPr id="3" name="内容占位符 2"/>
          <p:cNvSpPr>
            <a:spLocks noGrp="1"/>
          </p:cNvSpPr>
          <p:nvPr>
            <p:ph idx="1"/>
          </p:nvPr>
        </p:nvSpPr>
        <p:spPr/>
        <p:txBody>
          <a:bodyPr/>
          <a:lstStyle/>
          <a:p>
            <a:endParaRPr lang="zh-CN" altLang="en-US" dirty="0"/>
          </a:p>
        </p:txBody>
      </p:sp>
      <p:grpSp>
        <p:nvGrpSpPr>
          <p:cNvPr id="6" name="Group 3"/>
          <p:cNvGrpSpPr/>
          <p:nvPr/>
        </p:nvGrpSpPr>
        <p:grpSpPr>
          <a:xfrm>
            <a:off x="2541905" y="1630679"/>
            <a:ext cx="6543675" cy="2273867"/>
            <a:chOff x="5242989" y="505096"/>
            <a:chExt cx="5621214" cy="6257626"/>
          </a:xfrm>
        </p:grpSpPr>
        <p:sp>
          <p:nvSpPr>
            <p:cNvPr id="8" name="Rectangle: Single Corner Snipped 4"/>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algn="ctr"/>
              <a:endParaRPr lang="en-US" sz="4000" b="1" dirty="0"/>
            </a:p>
          </p:txBody>
        </p:sp>
        <p:sp>
          <p:nvSpPr>
            <p:cNvPr id="9" name="TextBox 6"/>
            <p:cNvSpPr txBox="1"/>
            <p:nvPr/>
          </p:nvSpPr>
          <p:spPr>
            <a:xfrm>
              <a:off x="5390906" y="611429"/>
              <a:ext cx="5473297" cy="5747687"/>
            </a:xfrm>
            <a:prstGeom prst="rect">
              <a:avLst/>
            </a:prstGeom>
            <a:noFill/>
          </p:spPr>
          <p:txBody>
            <a:bodyPr vert="horz" wrap="square" lIns="0" tIns="0" rIns="0" bIns="0" rtlCol="0">
              <a:spAutoFit/>
            </a:bodyPr>
            <a:lstStyle/>
            <a:p>
              <a:pPr>
                <a:lnSpc>
                  <a:spcPct val="150000"/>
                </a:lnSpc>
                <a:spcBef>
                  <a:spcPts val="0"/>
                </a:spcBef>
              </a:pPr>
              <a:r>
                <a:rPr lang="en-US" sz="1600" dirty="0">
                  <a:latin typeface="Consolas" panose="020B0609020204030204" pitchFamily="49" charset="0"/>
                </a:rPr>
                <a:t>buffer&lt;</a:t>
              </a:r>
              <a:r>
                <a:rPr lang="en-US" sz="1600" dirty="0">
                  <a:solidFill>
                    <a:srgbClr val="0000FF"/>
                  </a:solidFill>
                  <a:latin typeface="Consolas" panose="020B0609020204030204" pitchFamily="49" charset="0"/>
                </a:rPr>
                <a:t>int</a:t>
              </a:r>
              <a:r>
                <a:rPr lang="en-US" sz="1600" dirty="0">
                  <a:latin typeface="Consolas" panose="020B0609020204030204" pitchFamily="49" charset="0"/>
                </a:rPr>
                <a:t>, </a:t>
              </a:r>
              <a:r>
                <a:rPr lang="en-US" sz="1600" dirty="0">
                  <a:solidFill>
                    <a:srgbClr val="098658"/>
                  </a:solidFill>
                  <a:latin typeface="Consolas" panose="020B0609020204030204" pitchFamily="49" charset="0"/>
                </a:rPr>
                <a:t>1</a:t>
              </a:r>
              <a:r>
                <a:rPr lang="en-US" sz="1600" dirty="0">
                  <a:latin typeface="Consolas" panose="020B0609020204030204" pitchFamily="49" charset="0"/>
                </a:rPr>
                <a:t>&gt; </a:t>
              </a:r>
              <a:r>
                <a:rPr lang="en-US" sz="1600" dirty="0" err="1">
                  <a:solidFill>
                    <a:srgbClr val="795E26"/>
                  </a:solidFill>
                  <a:latin typeface="Consolas" panose="020B0609020204030204" pitchFamily="49" charset="0"/>
                </a:rPr>
                <a:t>buf</a:t>
              </a:r>
              <a:r>
                <a:rPr lang="en-US" sz="1600" dirty="0">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err="1">
                  <a:latin typeface="Consolas" panose="020B0609020204030204" pitchFamily="49" charset="0"/>
                </a:rPr>
                <a:t>.</a:t>
              </a:r>
              <a:r>
                <a:rPr lang="en-US" sz="1600" dirty="0" err="1">
                  <a:solidFill>
                    <a:srgbClr val="795E26"/>
                  </a:solidFill>
                  <a:latin typeface="Consolas" panose="020B0609020204030204" pitchFamily="49" charset="0"/>
                </a:rPr>
                <a:t>data</a:t>
              </a:r>
              <a:r>
                <a:rPr lang="en-US" sz="1600" dirty="0">
                  <a:latin typeface="Consolas" panose="020B0609020204030204" pitchFamily="49" charset="0"/>
                </a:rPr>
                <a:t>(), </a:t>
              </a:r>
              <a:r>
                <a:rPr lang="en-US" sz="1600" dirty="0" err="1">
                  <a:solidFill>
                    <a:srgbClr val="001080"/>
                  </a:solidFill>
                  <a:latin typeface="Consolas" panose="020B0609020204030204" pitchFamily="49" charset="0"/>
                </a:rPr>
                <a:t>data</a:t>
              </a:r>
              <a:r>
                <a:rPr lang="en-US" sz="1600" dirty="0" err="1">
                  <a:latin typeface="Consolas" panose="020B0609020204030204" pitchFamily="49" charset="0"/>
                </a:rPr>
                <a:t>.</a:t>
              </a:r>
              <a:r>
                <a:rPr lang="en-US" sz="1600" dirty="0" err="1">
                  <a:solidFill>
                    <a:srgbClr val="795E26"/>
                  </a:solidFill>
                  <a:latin typeface="Consolas" panose="020B0609020204030204" pitchFamily="49" charset="0"/>
                </a:rPr>
                <a:t>size</a:t>
              </a:r>
              <a:r>
                <a:rPr lang="en-US" sz="1600" dirty="0">
                  <a:latin typeface="Consolas" panose="020B0609020204030204" pitchFamily="49" charset="0"/>
                </a:rPr>
                <a:t>());</a:t>
              </a:r>
            </a:p>
            <a:p>
              <a:pPr>
                <a:lnSpc>
                  <a:spcPct val="150000"/>
                </a:lnSpc>
                <a:spcBef>
                  <a:spcPts val="0"/>
                </a:spcBef>
              </a:pPr>
              <a:r>
                <a:rPr lang="en-US" sz="1600" dirty="0" err="1">
                  <a:solidFill>
                    <a:srgbClr val="001080"/>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submit</a:t>
              </a:r>
              <a:r>
                <a:rPr lang="en-US" sz="1600" dirty="0">
                  <a:solidFill>
                    <a:srgbClr val="000000"/>
                  </a:solidFill>
                  <a:latin typeface="Consolas" panose="020B0609020204030204" pitchFamily="49" charset="0"/>
                </a:rPr>
                <a:t>([&amp;] (</a:t>
              </a:r>
              <a:r>
                <a:rPr lang="en-US" sz="1600" dirty="0">
                  <a:solidFill>
                    <a:srgbClr val="267F99"/>
                  </a:solidFill>
                  <a:latin typeface="Consolas" panose="020B0609020204030204" pitchFamily="49" charset="0"/>
                </a:rPr>
                <a:t>handler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&amp;</a:t>
              </a:r>
              <a:r>
                <a:rPr lang="en-US" sz="1600" dirty="0">
                  <a:solidFill>
                    <a:srgbClr val="001080"/>
                  </a:solidFill>
                  <a:latin typeface="Consolas" panose="020B0609020204030204" pitchFamily="49" charset="0"/>
                </a:rPr>
                <a:t>h</a:t>
              </a:r>
              <a:r>
                <a:rPr lang="en-US" sz="1600" dirty="0">
                  <a:solidFill>
                    <a:srgbClr val="000000"/>
                  </a:solidFill>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00FF"/>
                  </a:solidFill>
                  <a:latin typeface="Consolas" panose="020B0609020204030204" pitchFamily="49" charset="0"/>
                </a:rPr>
                <a:t>auto</a:t>
              </a:r>
              <a:r>
                <a:rPr lang="en-US" sz="1600" dirty="0">
                  <a:solidFill>
                    <a:srgbClr val="000000"/>
                  </a:solidFill>
                  <a:latin typeface="Consolas" panose="020B0609020204030204" pitchFamily="49" charset="0"/>
                </a:rPr>
                <a:t> A = </a:t>
              </a:r>
              <a:r>
                <a:rPr lang="en-US" sz="1600" dirty="0" err="1">
                  <a:solidFill>
                    <a:srgbClr val="001080"/>
                  </a:solidFill>
                  <a:latin typeface="Consolas" panose="020B0609020204030204" pitchFamily="49" charset="0"/>
                </a:rPr>
                <a:t>buf</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get_access</a:t>
              </a:r>
              <a:r>
                <a:rPr lang="en-US" sz="1600" dirty="0">
                  <a:solidFill>
                    <a:srgbClr val="000000"/>
                  </a:solidFill>
                  <a:latin typeface="Consolas" panose="020B0609020204030204" pitchFamily="49" charset="0"/>
                </a:rPr>
                <a:t>&lt;</a:t>
              </a:r>
              <a:r>
                <a:rPr lang="en-US" sz="1600" dirty="0">
                  <a:solidFill>
                    <a:srgbClr val="267F99"/>
                  </a:solidFill>
                  <a:latin typeface="Consolas" panose="020B0609020204030204" pitchFamily="49" charset="0"/>
                </a:rPr>
                <a:t>access</a:t>
              </a:r>
              <a:r>
                <a:rPr lang="en-US" sz="1600" dirty="0">
                  <a:solidFill>
                    <a:srgbClr val="000000"/>
                  </a:solidFill>
                  <a:latin typeface="Consolas" panose="020B0609020204030204" pitchFamily="49" charset="0"/>
                </a:rPr>
                <a:t>::</a:t>
              </a:r>
              <a:r>
                <a:rPr lang="en-US" sz="1600" dirty="0">
                  <a:solidFill>
                    <a:srgbClr val="267F99"/>
                  </a:solidFill>
                  <a:latin typeface="Consolas" panose="020B0609020204030204" pitchFamily="49" charset="0"/>
                </a:rPr>
                <a:t>mode</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read_write</a:t>
              </a:r>
              <a:r>
                <a:rPr lang="en-US" sz="1600" dirty="0">
                  <a:solidFill>
                    <a:srgbClr val="000000"/>
                  </a:solidFill>
                  <a:latin typeface="Consolas" panose="020B0609020204030204" pitchFamily="49" charset="0"/>
                </a:rPr>
                <a:t>&gt;(h);</a:t>
              </a:r>
            </a:p>
            <a:p>
              <a:pPr>
                <a:lnSpc>
                  <a:spcPct val="150000"/>
                </a:lnSpc>
                <a:spcBef>
                  <a:spcPts val="0"/>
                </a:spcBef>
              </a:pPr>
              <a:r>
                <a:rPr lang="en-US" sz="1600" dirty="0">
                  <a:latin typeface="Consolas" panose="020B0609020204030204" pitchFamily="49" charset="0"/>
                </a:rPr>
                <a:t>  </a:t>
              </a:r>
              <a:r>
                <a:rPr lang="en-US" sz="1600" dirty="0" err="1">
                  <a:solidFill>
                    <a:srgbClr val="001080"/>
                  </a:solidFill>
                  <a:latin typeface="Consolas" panose="020B0609020204030204" pitchFamily="49" charset="0"/>
                </a:rPr>
                <a:t>h</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parallel_for</a:t>
              </a:r>
              <a:r>
                <a:rPr lang="en-US" sz="1600" dirty="0">
                  <a:latin typeface="Consolas" panose="020B0609020204030204" pitchFamily="49" charset="0"/>
                </a:rPr>
                <a:t>&lt;</a:t>
              </a:r>
              <a:r>
                <a:rPr lang="en-US" sz="1600" dirty="0">
                  <a:solidFill>
                    <a:srgbClr val="0000FF"/>
                  </a:solidFill>
                  <a:latin typeface="Consolas" panose="020B0609020204030204" pitchFamily="49" charset="0"/>
                </a:rPr>
                <a:t>class</a:t>
              </a:r>
              <a:r>
                <a:rPr lang="en-US" sz="1600" dirty="0">
                  <a:latin typeface="Consolas" panose="020B0609020204030204" pitchFamily="49" charset="0"/>
                </a:rPr>
                <a:t> </a:t>
              </a:r>
              <a:r>
                <a:rPr lang="en-US" sz="1600" dirty="0">
                  <a:solidFill>
                    <a:srgbClr val="267F99"/>
                  </a:solidFill>
                  <a:latin typeface="Consolas" panose="020B0609020204030204" pitchFamily="49" charset="0"/>
                </a:rPr>
                <a:t>kernel</a:t>
              </a:r>
              <a:r>
                <a:rPr lang="en-US" sz="1600" dirty="0">
                  <a:latin typeface="Consolas" panose="020B0609020204030204" pitchFamily="49" charset="0"/>
                </a:rPr>
                <a:t>&gt;</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range</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&gt;(N), [=](</a:t>
              </a:r>
              <a:r>
                <a:rPr lang="en-US" sz="1600" dirty="0">
                  <a:solidFill>
                    <a:srgbClr val="267F99"/>
                  </a:solidFill>
                  <a:latin typeface="Consolas" panose="020B0609020204030204" pitchFamily="49" charset="0"/>
                </a:rPr>
                <a:t>id</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 </a:t>
              </a:r>
              <a:r>
                <a:rPr lang="en-US" sz="1600" dirty="0" err="1">
                  <a:solidFill>
                    <a:srgbClr val="001080"/>
                  </a:solidFill>
                  <a:latin typeface="Consolas" panose="020B0609020204030204" pitchFamily="49" charset="0"/>
                </a:rPr>
                <a:t>i</a:t>
              </a:r>
              <a:r>
                <a:rPr lang="en-US" sz="1600" dirty="0">
                  <a:solidFill>
                    <a:srgbClr val="000000"/>
                  </a:solidFill>
                  <a:latin typeface="Consolas" panose="020B0609020204030204" pitchFamily="49" charset="0"/>
                </a:rPr>
                <a:t>){ </a:t>
              </a:r>
              <a:r>
                <a:rPr lang="en-US" sz="1600" dirty="0">
                  <a:latin typeface="Consolas" panose="020B0609020204030204" pitchFamily="49" charset="0"/>
                </a:rPr>
                <a:t>A</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 });</a:t>
              </a:r>
            </a:p>
            <a:p>
              <a:pPr>
                <a:lnSpc>
                  <a:spcPct val="150000"/>
                </a:lnSpc>
                <a:spcBef>
                  <a:spcPts val="0"/>
                </a:spcBef>
              </a:pPr>
              <a:r>
                <a:rPr lang="en-US" sz="1600" dirty="0">
                  <a:solidFill>
                    <a:srgbClr val="000000"/>
                  </a:solidFill>
                  <a:latin typeface="Consolas" panose="020B0609020204030204" pitchFamily="49" charset="0"/>
                </a:rPr>
                <a:t>});</a:t>
              </a:r>
            </a:p>
          </p:txBody>
        </p:sp>
      </p:grpSp>
      <p:sp>
        <p:nvSpPr>
          <p:cNvPr id="14" name="TextBox 11"/>
          <p:cNvSpPr txBox="1"/>
          <p:nvPr/>
        </p:nvSpPr>
        <p:spPr>
          <a:xfrm rot="18403377">
            <a:off x="1654746" y="3130163"/>
            <a:ext cx="1575988" cy="215444"/>
          </a:xfrm>
          <a:prstGeom prst="rect">
            <a:avLst/>
          </a:prstGeom>
          <a:noFill/>
        </p:spPr>
        <p:txBody>
          <a:bodyPr vert="horz" wrap="square" lIns="0" tIns="0" rIns="0" bIns="0" rtlCol="0">
            <a:spAutoFit/>
          </a:bodyPr>
          <a:lstStyle/>
          <a:p>
            <a:pPr algn="r"/>
            <a:r>
              <a:rPr lang="en-US" sz="1400" dirty="0">
                <a:solidFill>
                  <a:srgbClr val="D96930"/>
                </a:solidFill>
              </a:rPr>
              <a:t>Buffer Simplification</a:t>
            </a:r>
          </a:p>
        </p:txBody>
      </p:sp>
      <p:sp>
        <p:nvSpPr>
          <p:cNvPr id="15" name="Rectangle: Rounded Corners 16"/>
          <p:cNvSpPr/>
          <p:nvPr/>
        </p:nvSpPr>
        <p:spPr>
          <a:xfrm>
            <a:off x="3653269" y="2447746"/>
            <a:ext cx="4988220" cy="30903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sp>
        <p:nvSpPr>
          <p:cNvPr id="16" name="Rectangle: Rounded Corners 21"/>
          <p:cNvSpPr/>
          <p:nvPr/>
        </p:nvSpPr>
        <p:spPr>
          <a:xfrm>
            <a:off x="2680262" y="1725330"/>
            <a:ext cx="5146379" cy="322614"/>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sp>
        <p:nvSpPr>
          <p:cNvPr id="20" name="Rectangle: Rounded Corners 26"/>
          <p:cNvSpPr/>
          <p:nvPr/>
        </p:nvSpPr>
        <p:spPr>
          <a:xfrm>
            <a:off x="6119914" y="2830891"/>
            <a:ext cx="2881618" cy="30925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grpSp>
        <p:nvGrpSpPr>
          <p:cNvPr id="21" name="Group 30"/>
          <p:cNvGrpSpPr/>
          <p:nvPr/>
        </p:nvGrpSpPr>
        <p:grpSpPr>
          <a:xfrm>
            <a:off x="322662" y="4132281"/>
            <a:ext cx="5595771" cy="1961015"/>
            <a:chOff x="5242989" y="505096"/>
            <a:chExt cx="5621214" cy="6257626"/>
          </a:xfrm>
        </p:grpSpPr>
        <p:sp>
          <p:nvSpPr>
            <p:cNvPr id="23" name="Rectangle: Single Corner Snipped 31"/>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algn="ctr"/>
              <a:endParaRPr lang="en-US" sz="4000" b="1" dirty="0"/>
            </a:p>
          </p:txBody>
        </p:sp>
        <p:sp>
          <p:nvSpPr>
            <p:cNvPr id="24" name="TextBox 32"/>
            <p:cNvSpPr txBox="1"/>
            <p:nvPr/>
          </p:nvSpPr>
          <p:spPr>
            <a:xfrm>
              <a:off x="5390906" y="611430"/>
              <a:ext cx="5473297" cy="5766475"/>
            </a:xfrm>
            <a:prstGeom prst="rect">
              <a:avLst/>
            </a:prstGeom>
            <a:noFill/>
          </p:spPr>
          <p:txBody>
            <a:bodyPr vert="horz" wrap="square" lIns="0" tIns="0" rIns="0" bIns="0" rtlCol="0">
              <a:spAutoFit/>
            </a:bodyPr>
            <a:lstStyle/>
            <a:p>
              <a:pPr>
                <a:lnSpc>
                  <a:spcPct val="150000"/>
                </a:lnSpc>
                <a:spcBef>
                  <a:spcPts val="0"/>
                </a:spcBef>
              </a:pPr>
              <a:r>
                <a:rPr lang="en-US" sz="1600" dirty="0">
                  <a:latin typeface="Consolas" panose="020B0609020204030204" pitchFamily="49" charset="0"/>
                </a:rPr>
                <a:t>buffer </a:t>
              </a:r>
              <a:r>
                <a:rPr lang="en-US" sz="1600" dirty="0" err="1">
                  <a:solidFill>
                    <a:srgbClr val="795E26"/>
                  </a:solidFill>
                  <a:latin typeface="Consolas" panose="020B0609020204030204" pitchFamily="49" charset="0"/>
                </a:rPr>
                <a:t>buf</a:t>
              </a:r>
              <a:r>
                <a:rPr lang="en-US" sz="1600" dirty="0">
                  <a:latin typeface="Consolas" panose="020B0609020204030204" pitchFamily="49" charset="0"/>
                </a:rPr>
                <a:t>(data);</a:t>
              </a:r>
            </a:p>
            <a:p>
              <a:pPr>
                <a:lnSpc>
                  <a:spcPct val="150000"/>
                </a:lnSpc>
                <a:spcBef>
                  <a:spcPts val="0"/>
                </a:spcBef>
              </a:pPr>
              <a:r>
                <a:rPr lang="en-US" sz="1600" dirty="0" err="1">
                  <a:solidFill>
                    <a:srgbClr val="001080"/>
                  </a:solidFill>
                  <a:latin typeface="Consolas" panose="020B0609020204030204" pitchFamily="49" charset="0"/>
                </a:rPr>
                <a:t>q</a:t>
              </a:r>
              <a:r>
                <a:rPr lang="en-US" sz="1600" dirty="0" err="1">
                  <a:latin typeface="Consolas" panose="020B0609020204030204" pitchFamily="49" charset="0"/>
                </a:rPr>
                <a:t>.</a:t>
              </a:r>
              <a:r>
                <a:rPr lang="en-US" sz="1600" dirty="0" err="1">
                  <a:solidFill>
                    <a:srgbClr val="795E26"/>
                  </a:solidFill>
                  <a:latin typeface="Consolas" panose="020B0609020204030204" pitchFamily="49" charset="0"/>
                </a:rPr>
                <a:t>submit</a:t>
              </a:r>
              <a:r>
                <a:rPr lang="en-US" sz="1600" dirty="0">
                  <a:latin typeface="Consolas" panose="020B0609020204030204" pitchFamily="49" charset="0"/>
                </a:rPr>
                <a:t>([&amp;] (</a:t>
              </a:r>
              <a:r>
                <a:rPr lang="en-US" sz="1600" dirty="0">
                  <a:solidFill>
                    <a:srgbClr val="267F99"/>
                  </a:solidFill>
                  <a:latin typeface="Consolas" panose="020B0609020204030204" pitchFamily="49" charset="0"/>
                </a:rPr>
                <a:t>handler</a:t>
              </a:r>
              <a:r>
                <a:rPr lang="en-US" sz="1600" dirty="0">
                  <a:latin typeface="Consolas" panose="020B0609020204030204" pitchFamily="49" charset="0"/>
                </a:rPr>
                <a:t> </a:t>
              </a:r>
              <a:r>
                <a:rPr lang="en-US" sz="1600" dirty="0">
                  <a:solidFill>
                    <a:srgbClr val="0000FF"/>
                  </a:solidFill>
                  <a:latin typeface="Consolas" panose="020B0609020204030204" pitchFamily="49" charset="0"/>
                </a:rPr>
                <a:t>&amp;</a:t>
              </a:r>
              <a:r>
                <a:rPr lang="en-US" sz="1600" dirty="0">
                  <a:solidFill>
                    <a:srgbClr val="001080"/>
                  </a:solidFill>
                  <a:latin typeface="Consolas" panose="020B0609020204030204" pitchFamily="49" charset="0"/>
                </a:rPr>
                <a:t>h</a:t>
              </a:r>
              <a:r>
                <a:rPr lang="en-US" sz="1600" dirty="0">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00FF"/>
                  </a:solidFill>
                  <a:latin typeface="Consolas" panose="020B0609020204030204" pitchFamily="49" charset="0"/>
                </a:rPr>
                <a:t>auto</a:t>
              </a:r>
              <a:r>
                <a:rPr lang="en-US" sz="1600" dirty="0">
                  <a:latin typeface="Consolas" panose="020B0609020204030204" pitchFamily="49" charset="0"/>
                </a:rPr>
                <a:t> A = </a:t>
              </a:r>
              <a:r>
                <a:rPr lang="en-US" sz="1600" dirty="0">
                  <a:solidFill>
                    <a:srgbClr val="001080"/>
                  </a:solidFill>
                  <a:latin typeface="Consolas" panose="020B0609020204030204" pitchFamily="49" charset="0"/>
                </a:rPr>
                <a:t>accessor</a:t>
              </a:r>
              <a:r>
                <a:rPr lang="en-US" sz="1600" dirty="0">
                  <a:latin typeface="Consolas" panose="020B0609020204030204" pitchFamily="49" charset="0"/>
                </a:rPr>
                <a:t>(</a:t>
              </a:r>
              <a:r>
                <a:rPr lang="en-US" sz="1600" dirty="0" err="1">
                  <a:solidFill>
                    <a:srgbClr val="001080"/>
                  </a:solidFill>
                  <a:latin typeface="Consolas" panose="020B0609020204030204" pitchFamily="49" charset="0"/>
                </a:rPr>
                <a:t>buf</a:t>
              </a:r>
              <a:r>
                <a:rPr lang="en-US" sz="1600" dirty="0">
                  <a:solidFill>
                    <a:srgbClr val="001080"/>
                  </a:solidFill>
                  <a:latin typeface="Consolas" panose="020B0609020204030204" pitchFamily="49" charset="0"/>
                </a:rPr>
                <a:t>, </a:t>
              </a:r>
              <a:r>
                <a:rPr lang="en-US" sz="1600" dirty="0">
                  <a:latin typeface="Consolas" panose="020B0609020204030204" pitchFamily="49" charset="0"/>
                </a:rPr>
                <a:t>h);</a:t>
              </a:r>
            </a:p>
            <a:p>
              <a:pPr>
                <a:lnSpc>
                  <a:spcPct val="150000"/>
                </a:lnSpc>
                <a:spcBef>
                  <a:spcPts val="0"/>
                </a:spcBef>
              </a:pPr>
              <a:r>
                <a:rPr lang="en-US" sz="1600" dirty="0">
                  <a:latin typeface="Consolas" panose="020B0609020204030204" pitchFamily="49" charset="0"/>
                </a:rPr>
                <a:t>   </a:t>
              </a:r>
              <a:r>
                <a:rPr lang="en-US" sz="1600" dirty="0" err="1">
                  <a:solidFill>
                    <a:srgbClr val="001080"/>
                  </a:solidFill>
                  <a:latin typeface="Consolas" panose="020B0609020204030204" pitchFamily="49" charset="0"/>
                </a:rPr>
                <a:t>h</a:t>
              </a:r>
              <a:r>
                <a:rPr lang="en-US" sz="1600" dirty="0" err="1">
                  <a:latin typeface="Consolas" panose="020B0609020204030204" pitchFamily="49" charset="0"/>
                </a:rPr>
                <a:t>.</a:t>
              </a:r>
              <a:r>
                <a:rPr lang="en-US" sz="1600" dirty="0" err="1">
                  <a:solidFill>
                    <a:srgbClr val="795E26"/>
                  </a:solidFill>
                  <a:latin typeface="Consolas" panose="020B0609020204030204" pitchFamily="49" charset="0"/>
                </a:rPr>
                <a:t>parallel_for</a:t>
              </a:r>
              <a:r>
                <a:rPr lang="en-US" sz="1600" dirty="0">
                  <a:latin typeface="Consolas" panose="020B0609020204030204" pitchFamily="49" charset="0"/>
                </a:rPr>
                <a:t>(N, [=](</a:t>
              </a:r>
              <a:r>
                <a:rPr lang="en-US" sz="1600" dirty="0">
                  <a:solidFill>
                    <a:srgbClr val="267F99"/>
                  </a:solidFill>
                  <a:latin typeface="Consolas" panose="020B0609020204030204" pitchFamily="49" charset="0"/>
                </a:rPr>
                <a:t>auto</a:t>
              </a:r>
              <a:r>
                <a:rPr lang="en-US" sz="1600" dirty="0">
                  <a:latin typeface="Consolas" panose="020B0609020204030204" pitchFamily="49" charset="0"/>
                </a:rPr>
                <a:t> </a:t>
              </a:r>
              <a:r>
                <a:rPr lang="en-US" sz="1600" dirty="0" err="1">
                  <a:solidFill>
                    <a:srgbClr val="001080"/>
                  </a:solidFill>
                  <a:latin typeface="Consolas" panose="020B0609020204030204" pitchFamily="49" charset="0"/>
                </a:rPr>
                <a:t>i</a:t>
              </a:r>
              <a:r>
                <a:rPr lang="en-US" sz="1600" dirty="0">
                  <a:latin typeface="Consolas" panose="020B0609020204030204" pitchFamily="49" charset="0"/>
                </a:rPr>
                <a:t>){ </a:t>
              </a:r>
              <a:r>
                <a:rPr lang="en-US" sz="1600" dirty="0">
                  <a:solidFill>
                    <a:srgbClr val="001080"/>
                  </a:solidFill>
                  <a:latin typeface="Consolas" panose="020B0609020204030204" pitchFamily="49" charset="0"/>
                </a:rPr>
                <a:t>A</a:t>
              </a:r>
              <a:r>
                <a:rPr lang="en-US" sz="1600" dirty="0">
                  <a:latin typeface="Consolas" panose="020B0609020204030204" pitchFamily="49" charset="0"/>
                </a:rPr>
                <a:t>[</a:t>
              </a:r>
              <a:r>
                <a:rPr lang="en-US" sz="1600" dirty="0" err="1">
                  <a:latin typeface="Consolas" panose="020B0609020204030204" pitchFamily="49" charset="0"/>
                </a:rPr>
                <a:t>i</a:t>
              </a:r>
              <a:r>
                <a:rPr lang="en-US" sz="1600" dirty="0">
                  <a:latin typeface="Consolas" panose="020B0609020204030204" pitchFamily="49" charset="0"/>
                </a:rPr>
                <a:t>] += </a:t>
              </a:r>
              <a:r>
                <a:rPr lang="en-US" sz="1600" dirty="0">
                  <a:solidFill>
                    <a:srgbClr val="098658"/>
                  </a:solidFill>
                  <a:latin typeface="Consolas" panose="020B0609020204030204" pitchFamily="49" charset="0"/>
                </a:rPr>
                <a:t>1</a:t>
              </a:r>
              <a:r>
                <a:rPr lang="en-US" sz="1600" dirty="0">
                  <a:latin typeface="Consolas" panose="020B0609020204030204" pitchFamily="49" charset="0"/>
                </a:rPr>
                <a:t>; });</a:t>
              </a:r>
            </a:p>
            <a:p>
              <a:pPr>
                <a:lnSpc>
                  <a:spcPct val="150000"/>
                </a:lnSpc>
                <a:spcBef>
                  <a:spcPts val="0"/>
                </a:spcBef>
              </a:pPr>
              <a:r>
                <a:rPr lang="en-US" sz="1600" dirty="0">
                  <a:latin typeface="Consolas" panose="020B0609020204030204" pitchFamily="49" charset="0"/>
                </a:rPr>
                <a:t>});</a:t>
              </a:r>
            </a:p>
          </p:txBody>
        </p:sp>
      </p:grpSp>
      <p:sp>
        <p:nvSpPr>
          <p:cNvPr id="25" name="Rectangle: Rounded Corners 36"/>
          <p:cNvSpPr/>
          <p:nvPr/>
        </p:nvSpPr>
        <p:spPr>
          <a:xfrm>
            <a:off x="433702" y="4214360"/>
            <a:ext cx="2032661" cy="322614"/>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26" name="Straight Arrow Connector 9"/>
          <p:cNvCxnSpPr>
            <a:cxnSpLocks/>
          </p:cNvCxnSpPr>
          <p:nvPr/>
        </p:nvCxnSpPr>
        <p:spPr>
          <a:xfrm flipH="1">
            <a:off x="1835696" y="2064235"/>
            <a:ext cx="1603792" cy="2101369"/>
          </a:xfrm>
          <a:prstGeom prst="straightConnector1">
            <a:avLst/>
          </a:prstGeom>
          <a:noFill/>
          <a:ln w="25400" cap="flat" cmpd="sng" algn="ctr">
            <a:solidFill>
              <a:srgbClr val="D96930"/>
            </a:solidFill>
            <a:prstDash val="solid"/>
            <a:tailEnd type="triangle"/>
          </a:ln>
          <a:effectLst/>
        </p:spPr>
      </p:cxnSp>
      <p:sp>
        <p:nvSpPr>
          <p:cNvPr id="28" name="Rectangle: Rounded Corners 41"/>
          <p:cNvSpPr/>
          <p:nvPr/>
        </p:nvSpPr>
        <p:spPr>
          <a:xfrm>
            <a:off x="1515766" y="4960978"/>
            <a:ext cx="1968514" cy="30903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29" name="Straight Arrow Connector 10"/>
          <p:cNvCxnSpPr>
            <a:cxnSpLocks/>
          </p:cNvCxnSpPr>
          <p:nvPr/>
        </p:nvCxnSpPr>
        <p:spPr>
          <a:xfrm flipH="1">
            <a:off x="3131840" y="2756778"/>
            <a:ext cx="1553405" cy="2204200"/>
          </a:xfrm>
          <a:prstGeom prst="straightConnector1">
            <a:avLst/>
          </a:prstGeom>
          <a:noFill/>
          <a:ln w="25400" cap="flat" cmpd="sng" algn="ctr">
            <a:solidFill>
              <a:srgbClr val="D96930"/>
            </a:solidFill>
            <a:prstDash val="solid"/>
            <a:tailEnd type="triangle"/>
          </a:ln>
          <a:effectLst/>
        </p:spPr>
      </p:cxnSp>
      <p:sp>
        <p:nvSpPr>
          <p:cNvPr id="30" name="Rectangle: Rounded Corners 43"/>
          <p:cNvSpPr/>
          <p:nvPr/>
        </p:nvSpPr>
        <p:spPr>
          <a:xfrm>
            <a:off x="2367082" y="5333353"/>
            <a:ext cx="1655439" cy="30925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34" name="Straight Arrow Connector 17"/>
          <p:cNvCxnSpPr>
            <a:cxnSpLocks/>
          </p:cNvCxnSpPr>
          <p:nvPr/>
        </p:nvCxnSpPr>
        <p:spPr>
          <a:xfrm flipH="1">
            <a:off x="4067944" y="3156582"/>
            <a:ext cx="3456384" cy="2113428"/>
          </a:xfrm>
          <a:prstGeom prst="straightConnector1">
            <a:avLst/>
          </a:prstGeom>
          <a:noFill/>
          <a:ln w="25400" cap="flat" cmpd="sng" algn="ctr">
            <a:solidFill>
              <a:srgbClr val="D96930"/>
            </a:solidFill>
            <a:prstDash val="solid"/>
            <a:tailEnd type="triangle"/>
          </a:ln>
          <a:effectLst/>
        </p:spPr>
      </p:cxnSp>
      <p:sp>
        <p:nvSpPr>
          <p:cNvPr id="35" name="TextBox 12"/>
          <p:cNvSpPr txBox="1"/>
          <p:nvPr/>
        </p:nvSpPr>
        <p:spPr>
          <a:xfrm rot="18298541">
            <a:off x="2818392" y="3895232"/>
            <a:ext cx="1804089" cy="215444"/>
          </a:xfrm>
          <a:prstGeom prst="rect">
            <a:avLst/>
          </a:prstGeom>
          <a:noFill/>
        </p:spPr>
        <p:txBody>
          <a:bodyPr vert="horz" wrap="square" lIns="0" tIns="0" rIns="0" bIns="0" rtlCol="0">
            <a:spAutoFit/>
          </a:bodyPr>
          <a:lstStyle/>
          <a:p>
            <a:pPr algn="r"/>
            <a:r>
              <a:rPr lang="en-US" sz="1400" dirty="0">
                <a:solidFill>
                  <a:srgbClr val="D96930"/>
                </a:solidFill>
              </a:rPr>
              <a:t>Accessor simplification</a:t>
            </a:r>
          </a:p>
        </p:txBody>
      </p:sp>
      <p:sp>
        <p:nvSpPr>
          <p:cNvPr id="36" name="TextBox 18"/>
          <p:cNvSpPr txBox="1"/>
          <p:nvPr/>
        </p:nvSpPr>
        <p:spPr>
          <a:xfrm rot="19770945">
            <a:off x="4147530" y="4320218"/>
            <a:ext cx="2232997" cy="215444"/>
          </a:xfrm>
          <a:prstGeom prst="rect">
            <a:avLst/>
          </a:prstGeom>
          <a:noFill/>
        </p:spPr>
        <p:txBody>
          <a:bodyPr vert="horz" wrap="square" lIns="0" tIns="0" rIns="0" bIns="0" rtlCol="0">
            <a:spAutoFit/>
          </a:bodyPr>
          <a:lstStyle/>
          <a:p>
            <a:pPr algn="r"/>
            <a:r>
              <a:rPr lang="en-US" sz="1400" dirty="0" err="1">
                <a:solidFill>
                  <a:srgbClr val="D96930"/>
                </a:solidFill>
              </a:rPr>
              <a:t>parallel_for</a:t>
            </a:r>
            <a:r>
              <a:rPr lang="en-US" sz="1400" dirty="0">
                <a:solidFill>
                  <a:srgbClr val="D96930"/>
                </a:solidFill>
              </a:rPr>
              <a:t> simplification</a:t>
            </a:r>
          </a:p>
        </p:txBody>
      </p:sp>
      <p:sp>
        <p:nvSpPr>
          <p:cNvPr id="38" name="Rectangle: Rounded Corners 46"/>
          <p:cNvSpPr/>
          <p:nvPr/>
        </p:nvSpPr>
        <p:spPr>
          <a:xfrm>
            <a:off x="4552777" y="2837567"/>
            <a:ext cx="1531337" cy="30925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39" name="Straight Arrow Connector 47"/>
          <p:cNvCxnSpPr/>
          <p:nvPr/>
        </p:nvCxnSpPr>
        <p:spPr>
          <a:xfrm flipV="1">
            <a:off x="5348139" y="3156582"/>
            <a:ext cx="0" cy="157070"/>
          </a:xfrm>
          <a:prstGeom prst="straightConnector1">
            <a:avLst/>
          </a:prstGeom>
          <a:noFill/>
          <a:ln w="25400" cap="flat" cmpd="sng" algn="ctr">
            <a:solidFill>
              <a:srgbClr val="D96930"/>
            </a:solidFill>
            <a:prstDash val="solid"/>
            <a:tailEnd type="triangle"/>
          </a:ln>
          <a:effectLst/>
        </p:spPr>
      </p:cxnSp>
      <p:sp>
        <p:nvSpPr>
          <p:cNvPr id="40" name="TextBox 52"/>
          <p:cNvSpPr txBox="1"/>
          <p:nvPr/>
        </p:nvSpPr>
        <p:spPr>
          <a:xfrm>
            <a:off x="4746704" y="3312408"/>
            <a:ext cx="1820456" cy="430887"/>
          </a:xfrm>
          <a:prstGeom prst="rect">
            <a:avLst/>
          </a:prstGeom>
          <a:noFill/>
        </p:spPr>
        <p:txBody>
          <a:bodyPr vert="horz" wrap="square" lIns="0" tIns="0" rIns="0" bIns="0" rtlCol="0">
            <a:spAutoFit/>
          </a:bodyPr>
          <a:lstStyle/>
          <a:p>
            <a:pPr algn="ctr"/>
            <a:r>
              <a:rPr lang="en-US" sz="1400" dirty="0">
                <a:solidFill>
                  <a:srgbClr val="D96930"/>
                </a:solidFill>
              </a:rPr>
              <a:t>Lambda name no longer required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P spid="16" grpId="0" bldLvl="0" animBg="1"/>
      <p:bldP spid="20" grpId="0" bldLvl="0" animBg="1"/>
      <p:bldP spid="25" grpId="0" bldLvl="0" animBg="1"/>
      <p:bldP spid="28" grpId="0" bldLvl="0" animBg="1"/>
      <p:bldP spid="30" grpId="0" bldLvl="0" animBg="1"/>
      <p:bldP spid="35" grpId="0"/>
      <p:bldP spid="36" grpId="0"/>
      <p:bldP spid="38" grpId="0" bldLvl="0" animBg="1"/>
      <p:bldP spid="4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统一共享内存</a:t>
            </a:r>
          </a:p>
        </p:txBody>
      </p:sp>
      <p:sp>
        <p:nvSpPr>
          <p:cNvPr id="3" name="内容占位符 2"/>
          <p:cNvSpPr>
            <a:spLocks noGrp="1"/>
          </p:cNvSpPr>
          <p:nvPr>
            <p:ph idx="1"/>
          </p:nvPr>
        </p:nvSpPr>
        <p:spPr/>
        <p:txBody>
          <a:bodyPr/>
          <a:lstStyle/>
          <a:p>
            <a:r>
              <a:rPr lang="en-US" altLang="zh-CN" sz="2800" dirty="0"/>
              <a:t>USM</a:t>
            </a:r>
            <a:r>
              <a:rPr lang="zh-CN" altLang="en-US" sz="2800" dirty="0"/>
              <a:t>是异构编程内存模型一种基于指针的方法</a:t>
            </a:r>
          </a:p>
          <a:p>
            <a:pPr lvl="1"/>
            <a:r>
              <a:rPr lang="zh-CN" altLang="en-US" sz="2450" dirty="0"/>
              <a:t>用户可在主机代码和设备代码中引用相同内存对象</a:t>
            </a:r>
          </a:p>
        </p:txBody>
      </p:sp>
      <p:pic>
        <p:nvPicPr>
          <p:cNvPr id="4" name="Picture 3" descr="A picture containing comb, meter&#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779" y="2564804"/>
            <a:ext cx="7032441" cy="3683659"/>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统一共享内存</a:t>
            </a:r>
          </a:p>
        </p:txBody>
      </p:sp>
      <p:sp>
        <p:nvSpPr>
          <p:cNvPr id="3" name="内容占位符 2"/>
          <p:cNvSpPr>
            <a:spLocks noGrp="1"/>
          </p:cNvSpPr>
          <p:nvPr>
            <p:ph idx="1"/>
          </p:nvPr>
        </p:nvSpPr>
        <p:spPr/>
        <p:txBody>
          <a:bodyPr/>
          <a:lstStyle/>
          <a:p>
            <a:r>
              <a:rPr lang="en-US" altLang="zh-CN" sz="2800"/>
              <a:t>USM</a:t>
            </a:r>
            <a:r>
              <a:rPr lang="zh-CN" altLang="en-US" sz="2800"/>
              <a:t>使得可以在主机和设备上使用相同指针访问内存</a:t>
            </a:r>
          </a:p>
        </p:txBody>
      </p:sp>
      <p:grpSp>
        <p:nvGrpSpPr>
          <p:cNvPr id="19" name="Group 3">
            <a:extLst>
              <a:ext uri="{FF2B5EF4-FFF2-40B4-BE49-F238E27FC236}">
                <a16:creationId xmlns:a16="http://schemas.microsoft.com/office/drawing/2014/main" id="{533C3A74-764F-654C-BBAD-5FDDCE832562}"/>
              </a:ext>
            </a:extLst>
          </p:cNvPr>
          <p:cNvGrpSpPr/>
          <p:nvPr/>
        </p:nvGrpSpPr>
        <p:grpSpPr>
          <a:xfrm>
            <a:off x="2311554" y="2471811"/>
            <a:ext cx="6580926" cy="3085504"/>
            <a:chOff x="5242989" y="505096"/>
            <a:chExt cx="5621214" cy="6257626"/>
          </a:xfrm>
        </p:grpSpPr>
        <p:sp>
          <p:nvSpPr>
            <p:cNvPr id="35" name="Rectangle: Single Corner Snipped 4">
              <a:extLst>
                <a:ext uri="{FF2B5EF4-FFF2-40B4-BE49-F238E27FC236}">
                  <a16:creationId xmlns:a16="http://schemas.microsoft.com/office/drawing/2014/main" id="{19201C0C-3489-C04F-B696-70434DE436D5}"/>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ea typeface="Helvetica Neue"/>
                <a:cs typeface="Helvetica Neue"/>
                <a:sym typeface="Helvetica Neue"/>
              </a:endParaRPr>
            </a:p>
          </p:txBody>
        </p:sp>
        <p:sp>
          <p:nvSpPr>
            <p:cNvPr id="36" name="TextBox 6">
              <a:extLst>
                <a:ext uri="{FF2B5EF4-FFF2-40B4-BE49-F238E27FC236}">
                  <a16:creationId xmlns:a16="http://schemas.microsoft.com/office/drawing/2014/main" id="{C7121426-BCA9-6B43-8BB0-DF16ED29632F}"/>
                </a:ext>
              </a:extLst>
            </p:cNvPr>
            <p:cNvSpPr txBox="1"/>
            <p:nvPr/>
          </p:nvSpPr>
          <p:spPr>
            <a:xfrm>
              <a:off x="5390906" y="611430"/>
              <a:ext cx="5473297" cy="5912020"/>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auto</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data =  </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ea typeface="Helvetica Neue"/>
                  <a:cs typeface="Helvetica Neue"/>
                  <a:sym typeface="Helvetica Neue"/>
                </a:rPr>
                <a:t>malloc_shared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&lt;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AF00DB"/>
                  </a:solidFill>
                  <a:effectLst/>
                  <a:uLnTx/>
                  <a:uFillTx/>
                  <a:latin typeface="Consolas" panose="020B0609020204030204" pitchFamily="49" charset="0"/>
                  <a:ea typeface="Helvetica Neue"/>
                  <a:cs typeface="Helvetica Neue"/>
                  <a:sym typeface="Helvetica Neue"/>
                </a:rPr>
                <a:t>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;i&lt;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N;i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 </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10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q</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ea typeface="Helvetica Neue"/>
                  <a:cs typeface="Helvetica Neue"/>
                  <a:sym typeface="Helvetica Neue"/>
                </a:rPr>
                <a:t>parallel_for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(N, [=](</a:t>
              </a:r>
              <a:r>
                <a:rPr kumimoji="0" lang="en-US" sz="1600" b="0" i="0" u="none" strike="noStrike" kern="0" cap="none" spc="0" normalizeH="0" baseline="0" noProof="0" dirty="0">
                  <a:ln>
                    <a:noFill/>
                  </a:ln>
                  <a:solidFill>
                    <a:srgbClr val="267F99"/>
                  </a:solidFill>
                  <a:effectLst/>
                  <a:uLnTx/>
                  <a:uFillTx/>
                  <a:latin typeface="Consolas" panose="020B0609020204030204" pitchFamily="49" charset="0"/>
                  <a:ea typeface="Helvetica Neue"/>
                  <a:cs typeface="Helvetica Neue"/>
                  <a:sym typeface="Helvetica Neue"/>
                </a:rPr>
                <a:t>auto </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 </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795E26"/>
                  </a:solidFill>
                  <a:effectLst/>
                  <a:uLnTx/>
                  <a:uFillTx/>
                  <a:latin typeface="Consolas" panose="020B0609020204030204" pitchFamily="49" charset="0"/>
                  <a:ea typeface="Helvetica Neue"/>
                  <a:cs typeface="Helvetica Neue"/>
                  <a:sym typeface="Helvetica Neue"/>
                </a:rPr>
                <a:t>wait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AF00DB"/>
                  </a:solidFill>
                  <a:effectLst/>
                  <a:uLnTx/>
                  <a:uFillTx/>
                  <a:latin typeface="Consolas" panose="020B0609020204030204" pitchFamily="49" charset="0"/>
                  <a:ea typeface="Helvetica Neue"/>
                  <a:cs typeface="Helvetica Neue"/>
                  <a:sym typeface="Helvetica Neue"/>
                </a:rPr>
                <a:t>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ea typeface="Helvetica Neue"/>
                  <a:cs typeface="Helvetica Neue"/>
                  <a:sym typeface="Helvetica Neue"/>
                </a:rPr>
                <a:t>int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ea typeface="Helvetica Neue"/>
                  <a:cs typeface="Helvetica Neue"/>
                  <a:sym typeface="Helvetica Neue"/>
                </a:rPr>
                <a:t>0</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;i&lt;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N;i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267F99"/>
                  </a:solidFill>
                  <a:effectLst/>
                  <a:uLnTx/>
                  <a:uFillTx/>
                  <a:latin typeface="Consolas" panose="020B0609020204030204" pitchFamily="49" charset="0"/>
                  <a:ea typeface="Helvetica Neue"/>
                  <a:cs typeface="Helvetica Neue"/>
                  <a:sym typeface="Helvetica Neue"/>
                </a:rPr>
                <a:t>std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cout</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&lt;&lt;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ea typeface="Helvetica Neue"/>
                  <a:cs typeface="Helvetica Neue"/>
                  <a:sym typeface="Helvetica Neue"/>
                </a:rPr>
                <a:t>data</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ea typeface="Helvetica Neue"/>
                  <a:cs typeface="Helvetica Neue"/>
                  <a:sym typeface="Helvetica Neue"/>
                </a:rPr>
                <a:t>i</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 &lt;&lt; </a:t>
              </a:r>
              <a:r>
                <a:rPr kumimoji="0" lang="en-US" sz="1600" b="0" i="0" u="none" strike="noStrike" kern="0" cap="none" spc="0" normalizeH="0" baseline="0" noProof="0" dirty="0">
                  <a:ln>
                    <a:noFill/>
                  </a:ln>
                  <a:solidFill>
                    <a:srgbClr val="A31515"/>
                  </a:solidFill>
                  <a:effectLst/>
                  <a:uLnTx/>
                  <a:uFillTx/>
                  <a:latin typeface="Consolas" panose="020B0609020204030204" pitchFamily="49" charset="0"/>
                  <a:ea typeface="Helvetica Neue"/>
                  <a:cs typeface="Helvetica Neue"/>
                  <a:sym typeface="Helvetica Neue"/>
                </a:rPr>
                <a:t>" "</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795E26"/>
                  </a:solidFill>
                  <a:effectLst/>
                  <a:uLnTx/>
                  <a:uFillTx/>
                  <a:latin typeface="Consolas" panose="020B0609020204030204" pitchFamily="49" charset="0"/>
                  <a:ea typeface="Helvetica Neue"/>
                  <a:cs typeface="Helvetica Neue"/>
                  <a:sym typeface="Helvetica Neue"/>
                </a:rPr>
                <a:t>free</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ea typeface="Helvetica Neue"/>
                  <a:cs typeface="Helvetica Neue"/>
                  <a:sym typeface="Helvetica Neue"/>
                </a:rPr>
                <a:t>(data, q);</a:t>
              </a:r>
            </a:p>
          </p:txBody>
        </p:sp>
      </p:grpSp>
      <p:sp>
        <p:nvSpPr>
          <p:cNvPr id="37" name="Rectangle: Rounded Corners 7">
            <a:extLst>
              <a:ext uri="{FF2B5EF4-FFF2-40B4-BE49-F238E27FC236}">
                <a16:creationId xmlns:a16="http://schemas.microsoft.com/office/drawing/2014/main" id="{63B1B304-EAFF-184A-AA32-C9C05343EFD9}"/>
              </a:ext>
            </a:extLst>
          </p:cNvPr>
          <p:cNvSpPr/>
          <p:nvPr/>
        </p:nvSpPr>
        <p:spPr>
          <a:xfrm>
            <a:off x="2449810" y="3291215"/>
            <a:ext cx="3841808" cy="31286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sp>
        <p:nvSpPr>
          <p:cNvPr id="38" name="Rectangle: Rounded Corners 8">
            <a:extLst>
              <a:ext uri="{FF2B5EF4-FFF2-40B4-BE49-F238E27FC236}">
                <a16:creationId xmlns:a16="http://schemas.microsoft.com/office/drawing/2014/main" id="{A9774683-1793-DA4D-A2BF-8414DB99BDE6}"/>
              </a:ext>
            </a:extLst>
          </p:cNvPr>
          <p:cNvSpPr/>
          <p:nvPr/>
        </p:nvSpPr>
        <p:spPr>
          <a:xfrm>
            <a:off x="3359762" y="4014563"/>
            <a:ext cx="1526825" cy="285734"/>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sp>
        <p:nvSpPr>
          <p:cNvPr id="39" name="Rectangle: Rounded Corners 9">
            <a:extLst>
              <a:ext uri="{FF2B5EF4-FFF2-40B4-BE49-F238E27FC236}">
                <a16:creationId xmlns:a16="http://schemas.microsoft.com/office/drawing/2014/main" id="{FD963A41-AFD3-D24A-BCDC-A607BE5BB9C6}"/>
              </a:ext>
            </a:extLst>
          </p:cNvPr>
          <p:cNvSpPr/>
          <p:nvPr/>
        </p:nvSpPr>
        <p:spPr>
          <a:xfrm>
            <a:off x="2449810" y="4730298"/>
            <a:ext cx="5506835" cy="312880"/>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cxnSp>
        <p:nvCxnSpPr>
          <p:cNvPr id="40" name="Straight Arrow Connector 10">
            <a:extLst>
              <a:ext uri="{FF2B5EF4-FFF2-40B4-BE49-F238E27FC236}">
                <a16:creationId xmlns:a16="http://schemas.microsoft.com/office/drawing/2014/main" id="{1FF28418-14CD-454B-AB2D-146E4B94CC4A}"/>
              </a:ext>
            </a:extLst>
          </p:cNvPr>
          <p:cNvCxnSpPr>
            <a:cxnSpLocks/>
          </p:cNvCxnSpPr>
          <p:nvPr/>
        </p:nvCxnSpPr>
        <p:spPr>
          <a:xfrm>
            <a:off x="2029283" y="3452579"/>
            <a:ext cx="420527" cy="0"/>
          </a:xfrm>
          <a:prstGeom prst="straightConnector1">
            <a:avLst/>
          </a:prstGeom>
          <a:noFill/>
          <a:ln w="25400" cap="flat" cmpd="sng" algn="ctr">
            <a:solidFill>
              <a:srgbClr val="D96930"/>
            </a:solidFill>
            <a:prstDash val="solid"/>
            <a:tailEnd type="triangle"/>
          </a:ln>
          <a:effectLst/>
        </p:spPr>
      </p:cxnSp>
      <p:cxnSp>
        <p:nvCxnSpPr>
          <p:cNvPr id="41" name="Straight Arrow Connector 11">
            <a:extLst>
              <a:ext uri="{FF2B5EF4-FFF2-40B4-BE49-F238E27FC236}">
                <a16:creationId xmlns:a16="http://schemas.microsoft.com/office/drawing/2014/main" id="{3087F41B-260C-D04E-8F9A-670374945E81}"/>
              </a:ext>
            </a:extLst>
          </p:cNvPr>
          <p:cNvCxnSpPr>
            <a:cxnSpLocks/>
          </p:cNvCxnSpPr>
          <p:nvPr/>
        </p:nvCxnSpPr>
        <p:spPr>
          <a:xfrm>
            <a:off x="2029283" y="4906331"/>
            <a:ext cx="432731" cy="0"/>
          </a:xfrm>
          <a:prstGeom prst="straightConnector1">
            <a:avLst/>
          </a:prstGeom>
          <a:noFill/>
          <a:ln w="25400" cap="flat" cmpd="sng" algn="ctr">
            <a:solidFill>
              <a:srgbClr val="D96930"/>
            </a:solidFill>
            <a:prstDash val="solid"/>
            <a:tailEnd type="triangle"/>
          </a:ln>
          <a:effectLst/>
        </p:spPr>
      </p:cxnSp>
      <p:cxnSp>
        <p:nvCxnSpPr>
          <p:cNvPr id="42" name="Straight Arrow Connector 12">
            <a:extLst>
              <a:ext uri="{FF2B5EF4-FFF2-40B4-BE49-F238E27FC236}">
                <a16:creationId xmlns:a16="http://schemas.microsoft.com/office/drawing/2014/main" id="{29CC62AB-C782-634F-B663-0DAF5FF6285F}"/>
              </a:ext>
            </a:extLst>
          </p:cNvPr>
          <p:cNvCxnSpPr>
            <a:cxnSpLocks/>
            <a:endCxn id="38" idx="1"/>
          </p:cNvCxnSpPr>
          <p:nvPr/>
        </p:nvCxnSpPr>
        <p:spPr>
          <a:xfrm>
            <a:off x="2029283" y="4144384"/>
            <a:ext cx="1330479" cy="13046"/>
          </a:xfrm>
          <a:prstGeom prst="straightConnector1">
            <a:avLst/>
          </a:prstGeom>
          <a:noFill/>
          <a:ln w="25400" cap="flat" cmpd="sng" algn="ctr">
            <a:solidFill>
              <a:srgbClr val="D96930"/>
            </a:solidFill>
            <a:prstDash val="solid"/>
            <a:tailEnd type="triangle"/>
          </a:ln>
          <a:effectLst/>
        </p:spPr>
      </p:cxnSp>
      <p:sp>
        <p:nvSpPr>
          <p:cNvPr id="43" name="TextBox 13">
            <a:extLst>
              <a:ext uri="{FF2B5EF4-FFF2-40B4-BE49-F238E27FC236}">
                <a16:creationId xmlns:a16="http://schemas.microsoft.com/office/drawing/2014/main" id="{0F23B070-C801-754A-BC78-671F96EB6945}"/>
              </a:ext>
            </a:extLst>
          </p:cNvPr>
          <p:cNvSpPr txBox="1"/>
          <p:nvPr/>
        </p:nvSpPr>
        <p:spPr>
          <a:xfrm>
            <a:off x="395536" y="3371149"/>
            <a:ext cx="1645028" cy="221599"/>
          </a:xfrm>
          <a:prstGeom prst="rect">
            <a:avLst/>
          </a:prstGeom>
          <a:noFill/>
        </p:spPr>
        <p:txBody>
          <a:bodyPr vert="horz" wrap="square" lIns="0" tIns="0" rIns="0" bIns="0" rtlCol="0">
            <a:spAutoFit/>
          </a:bodyPr>
          <a:lstStyle>
            <a:defPPr>
              <a:defRPr lang="zh-CN"/>
            </a:defPPr>
            <a:lvl1pPr algn="r" defTabSz="1219169" eaLnBrk="1" fontAlgn="auto">
              <a:lnSpc>
                <a:spcPct val="90000"/>
              </a:lnSpc>
              <a:spcBef>
                <a:spcPts val="2250"/>
              </a:spcBef>
              <a:spcAft>
                <a:spcPts val="0"/>
              </a:spcAft>
              <a:defRPr kumimoji="0" sz="1600" kern="0">
                <a:solidFill>
                  <a:schemeClr val="accent2"/>
                </a:solidFill>
                <a:latin typeface="Intel Clear"/>
                <a:ea typeface="Helvetica Neue"/>
                <a:cs typeface="Helvetica Neue"/>
              </a:defRPr>
            </a:lvl1pPr>
          </a:lstStyle>
          <a:p>
            <a:r>
              <a:rPr lang="en-US" dirty="0" err="1">
                <a:sym typeface="Helvetica Neue"/>
              </a:rPr>
              <a:t>主机端可初始化它</a:t>
            </a:r>
            <a:endParaRPr lang="en-US" dirty="0">
              <a:sym typeface="Helvetica Neue"/>
            </a:endParaRPr>
          </a:p>
        </p:txBody>
      </p:sp>
      <p:sp>
        <p:nvSpPr>
          <p:cNvPr id="44" name="TextBox 14">
            <a:extLst>
              <a:ext uri="{FF2B5EF4-FFF2-40B4-BE49-F238E27FC236}">
                <a16:creationId xmlns:a16="http://schemas.microsoft.com/office/drawing/2014/main" id="{0AA035A3-7694-394E-85A6-C3F5DC472BFE}"/>
              </a:ext>
            </a:extLst>
          </p:cNvPr>
          <p:cNvSpPr txBox="1"/>
          <p:nvPr/>
        </p:nvSpPr>
        <p:spPr>
          <a:xfrm>
            <a:off x="571617" y="4062920"/>
            <a:ext cx="1447101"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设备端可修改它</a:t>
            </a:r>
            <a:endParaRPr kumimoji="0" lang="en-US" sz="1600" kern="0" dirty="0">
              <a:solidFill>
                <a:schemeClr val="accent2"/>
              </a:solidFill>
              <a:latin typeface="Intel Clear"/>
              <a:ea typeface="Helvetica Neue"/>
              <a:cs typeface="Helvetica Neue"/>
              <a:sym typeface="Helvetica Neue"/>
            </a:endParaRPr>
          </a:p>
        </p:txBody>
      </p:sp>
      <p:sp>
        <p:nvSpPr>
          <p:cNvPr id="45" name="TextBox 15">
            <a:extLst>
              <a:ext uri="{FF2B5EF4-FFF2-40B4-BE49-F238E27FC236}">
                <a16:creationId xmlns:a16="http://schemas.microsoft.com/office/drawing/2014/main" id="{B3C73E7F-5F2F-1441-A974-CCA16087A2A7}"/>
              </a:ext>
            </a:extLst>
          </p:cNvPr>
          <p:cNvSpPr txBox="1"/>
          <p:nvPr/>
        </p:nvSpPr>
        <p:spPr>
          <a:xfrm>
            <a:off x="682305" y="4810359"/>
            <a:ext cx="1303222"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主机端输出</a:t>
            </a:r>
            <a:endParaRPr kumimoji="0" lang="en-US" sz="1600" kern="0" dirty="0">
              <a:solidFill>
                <a:schemeClr val="accent2"/>
              </a:solidFill>
              <a:latin typeface="Intel Clear"/>
              <a:ea typeface="Helvetica Neue"/>
              <a:cs typeface="Helvetica Neue"/>
              <a:sym typeface="Helvetica Neue"/>
            </a:endParaRPr>
          </a:p>
        </p:txBody>
      </p:sp>
      <p:sp>
        <p:nvSpPr>
          <p:cNvPr id="46" name="Rectangle: Rounded Corners 16">
            <a:extLst>
              <a:ext uri="{FF2B5EF4-FFF2-40B4-BE49-F238E27FC236}">
                <a16:creationId xmlns:a16="http://schemas.microsoft.com/office/drawing/2014/main" id="{60A0FCEE-956F-A045-A7AF-661B9D3D3EB5}"/>
              </a:ext>
            </a:extLst>
          </p:cNvPr>
          <p:cNvSpPr/>
          <p:nvPr/>
        </p:nvSpPr>
        <p:spPr>
          <a:xfrm>
            <a:off x="2449810" y="2930112"/>
            <a:ext cx="4309336" cy="32173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ea typeface="Helvetica Neue"/>
              <a:cs typeface="Helvetica Neue"/>
              <a:sym typeface="Helvetica Neue"/>
            </a:endParaRPr>
          </a:p>
        </p:txBody>
      </p:sp>
      <p:cxnSp>
        <p:nvCxnSpPr>
          <p:cNvPr id="47" name="Straight Arrow Connector 17">
            <a:extLst>
              <a:ext uri="{FF2B5EF4-FFF2-40B4-BE49-F238E27FC236}">
                <a16:creationId xmlns:a16="http://schemas.microsoft.com/office/drawing/2014/main" id="{95481926-0B04-4843-89F2-D4A777537C1E}"/>
              </a:ext>
            </a:extLst>
          </p:cNvPr>
          <p:cNvCxnSpPr>
            <a:cxnSpLocks/>
          </p:cNvCxnSpPr>
          <p:nvPr/>
        </p:nvCxnSpPr>
        <p:spPr>
          <a:xfrm>
            <a:off x="2029283" y="3100574"/>
            <a:ext cx="420527" cy="0"/>
          </a:xfrm>
          <a:prstGeom prst="straightConnector1">
            <a:avLst/>
          </a:prstGeom>
          <a:noFill/>
          <a:ln w="25400" cap="flat" cmpd="sng" algn="ctr">
            <a:solidFill>
              <a:srgbClr val="D96930"/>
            </a:solidFill>
            <a:prstDash val="solid"/>
            <a:tailEnd type="triangle"/>
          </a:ln>
          <a:effectLst/>
        </p:spPr>
      </p:cxnSp>
      <p:sp>
        <p:nvSpPr>
          <p:cNvPr id="48" name="TextBox 18">
            <a:extLst>
              <a:ext uri="{FF2B5EF4-FFF2-40B4-BE49-F238E27FC236}">
                <a16:creationId xmlns:a16="http://schemas.microsoft.com/office/drawing/2014/main" id="{D879141C-61D6-DF44-8D71-07FED759AF3C}"/>
              </a:ext>
            </a:extLst>
          </p:cNvPr>
          <p:cNvSpPr txBox="1"/>
          <p:nvPr/>
        </p:nvSpPr>
        <p:spPr>
          <a:xfrm>
            <a:off x="379598" y="2980180"/>
            <a:ext cx="1639121" cy="221599"/>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kumimoji="0" lang="en-US" sz="1600" kern="0" dirty="0" err="1">
                <a:solidFill>
                  <a:schemeClr val="accent2"/>
                </a:solidFill>
                <a:latin typeface="Intel Clear"/>
                <a:ea typeface="Helvetica Neue"/>
                <a:cs typeface="Helvetica Neue"/>
                <a:sym typeface="Helvetica Neue"/>
              </a:rPr>
              <a:t>设置统一共享内存</a:t>
            </a:r>
            <a:endParaRPr kumimoji="0" lang="en-US" sz="1600" kern="0" dirty="0">
              <a:solidFill>
                <a:schemeClr val="accent2"/>
              </a:solidFill>
              <a:latin typeface="Intel Clear"/>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3" grpId="0"/>
      <p:bldP spid="44" grpId="0"/>
      <p:bldP spid="45" grpId="0"/>
      <p:bldP spid="46" grpId="0" animBg="1"/>
      <p:bldP spid="4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SYCL</a:t>
            </a:r>
            <a:r>
              <a:rPr lang="zh-CN" altLang="en-US"/>
              <a:t>缓冲方法</a:t>
            </a:r>
          </a:p>
        </p:txBody>
      </p:sp>
      <p:sp>
        <p:nvSpPr>
          <p:cNvPr id="3" name="内容占位符 2"/>
          <p:cNvSpPr>
            <a:spLocks noGrp="1"/>
          </p:cNvSpPr>
          <p:nvPr>
            <p:ph idx="1"/>
          </p:nvPr>
        </p:nvSpPr>
        <p:spPr/>
        <p:txBody>
          <a:bodyPr/>
          <a:lstStyle/>
          <a:p>
            <a:r>
              <a:rPr lang="zh-CN" altLang="en-US" sz="2800"/>
              <a:t>基于缓冲和访问器的内存模型——要求定义缓冲和访问器、并按需进行同步</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SYCL</a:t>
            </a:r>
            <a:r>
              <a:rPr lang="zh-CN" altLang="en-US"/>
              <a:t>缓冲方法</a:t>
            </a:r>
          </a:p>
        </p:txBody>
      </p:sp>
      <p:sp>
        <p:nvSpPr>
          <p:cNvPr id="3" name="内容占位符 2"/>
          <p:cNvSpPr>
            <a:spLocks noGrp="1"/>
          </p:cNvSpPr>
          <p:nvPr>
            <p:ph idx="1"/>
          </p:nvPr>
        </p:nvSpPr>
        <p:spPr/>
        <p:txBody>
          <a:bodyPr/>
          <a:lstStyle/>
          <a:p>
            <a:endParaRPr lang="zh-CN" altLang="en-US" sz="2800"/>
          </a:p>
        </p:txBody>
      </p:sp>
      <p:grpSp>
        <p:nvGrpSpPr>
          <p:cNvPr id="6" name="Group 3"/>
          <p:cNvGrpSpPr/>
          <p:nvPr/>
        </p:nvGrpSpPr>
        <p:grpSpPr>
          <a:xfrm>
            <a:off x="1809115" y="1390650"/>
            <a:ext cx="7254875" cy="5259696"/>
            <a:chOff x="5242989" y="505096"/>
            <a:chExt cx="5621214" cy="6291798"/>
          </a:xfrm>
        </p:grpSpPr>
        <p:sp>
          <p:nvSpPr>
            <p:cNvPr id="27" name="Rectangle: Single Corner Snipped 4"/>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algn="ctr"/>
              <a:endParaRPr lang="en-US" sz="4000" b="1" dirty="0"/>
            </a:p>
          </p:txBody>
        </p:sp>
        <p:sp>
          <p:nvSpPr>
            <p:cNvPr id="28" name="TextBox 6"/>
            <p:cNvSpPr txBox="1"/>
            <p:nvPr/>
          </p:nvSpPr>
          <p:spPr>
            <a:xfrm>
              <a:off x="5390906" y="611430"/>
              <a:ext cx="5473297" cy="6185464"/>
            </a:xfrm>
            <a:prstGeom prst="rect">
              <a:avLst/>
            </a:prstGeom>
            <a:noFill/>
          </p:spPr>
          <p:txBody>
            <a:bodyPr vert="horz" wrap="square" lIns="0" tIns="0" rIns="0" bIns="0" rtlCol="0">
              <a:spAutoFit/>
            </a:bodyPr>
            <a:lstStyle/>
            <a:p>
              <a:pPr>
                <a:lnSpc>
                  <a:spcPct val="150000"/>
                </a:lnSpc>
                <a:spcBef>
                  <a:spcPts val="0"/>
                </a:spcBef>
              </a:pPr>
              <a:r>
                <a:rPr lang="en-US" sz="1600" dirty="0">
                  <a:solidFill>
                    <a:srgbClr val="000000"/>
                  </a:solidFill>
                  <a:latin typeface="Consolas" panose="020B0609020204030204" pitchFamily="49" charset="0"/>
                </a:rPr>
                <a:t>queue q;</a:t>
              </a:r>
            </a:p>
            <a:p>
              <a:pPr>
                <a:lnSpc>
                  <a:spcPct val="150000"/>
                </a:lnSpc>
                <a:spcBef>
                  <a:spcPts val="0"/>
                </a:spcBef>
              </a:pP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*data =  </a:t>
              </a:r>
              <a:r>
                <a:rPr lang="en-US" sz="1600" dirty="0" err="1">
                  <a:solidFill>
                    <a:srgbClr val="0000FF"/>
                  </a:solidFill>
                  <a:latin typeface="Consolas" panose="020B0609020204030204" pitchFamily="49" charset="0"/>
                </a:rPr>
                <a:t>static_cast</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malloc</a:t>
              </a:r>
              <a:r>
                <a:rPr lang="en-US" sz="1600" dirty="0">
                  <a:solidFill>
                    <a:srgbClr val="000000"/>
                  </a:solidFill>
                  <a:latin typeface="Consolas" panose="020B0609020204030204" pitchFamily="49" charset="0"/>
                </a:rPr>
                <a:t>(N * </a:t>
              </a:r>
              <a:r>
                <a:rPr lang="en-US" sz="1600" dirty="0" err="1">
                  <a:solidFill>
                    <a:srgbClr val="0000FF"/>
                  </a:solidFill>
                  <a:latin typeface="Consolas" panose="020B0609020204030204" pitchFamily="49" charset="0"/>
                </a:rPr>
                <a:t>sizeof</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q));</a:t>
              </a:r>
            </a:p>
            <a:p>
              <a:pPr>
                <a:lnSpc>
                  <a:spcPct val="150000"/>
                </a:lnSpc>
                <a:spcBef>
                  <a:spcPts val="0"/>
                </a:spcBef>
              </a:pPr>
              <a:r>
                <a:rPr lang="en-US" sz="1600" dirty="0">
                  <a:solidFill>
                    <a:srgbClr val="AF00DB"/>
                  </a:solidFill>
                  <a:latin typeface="Consolas" panose="020B0609020204030204" pitchFamily="49" charset="0"/>
                </a:rPr>
                <a:t>for</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;i&lt;</a:t>
              </a:r>
              <a:r>
                <a:rPr lang="en-US" sz="1600" dirty="0" err="1">
                  <a:solidFill>
                    <a:srgbClr val="000000"/>
                  </a:solidFill>
                  <a:latin typeface="Consolas" panose="020B0609020204030204" pitchFamily="49" charset="0"/>
                </a:rPr>
                <a:t>N;i</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10</a:t>
              </a:r>
              <a:r>
                <a:rPr lang="en-US" sz="1600" dirty="0">
                  <a:solidFill>
                    <a:srgbClr val="000000"/>
                  </a:solidFill>
                  <a:latin typeface="Consolas" panose="020B0609020204030204" pitchFamily="49" charset="0"/>
                </a:rPr>
                <a:t>;</a:t>
              </a:r>
            </a:p>
            <a:p>
              <a:pPr>
                <a:lnSpc>
                  <a:spcPct val="150000"/>
                </a:lnSpc>
                <a:spcBef>
                  <a:spcPts val="0"/>
                </a:spcBef>
              </a:pPr>
              <a:r>
                <a:rPr lang="en-US" sz="1600" dirty="0">
                  <a:solidFill>
                    <a:srgbClr val="000000"/>
                  </a:solidFill>
                  <a:latin typeface="Consolas" panose="020B0609020204030204" pitchFamily="49" charset="0"/>
                </a:rPr>
                <a:t>{</a:t>
              </a:r>
              <a:endParaRPr lang="en-US" sz="1600" dirty="0">
                <a:solidFill>
                  <a:srgbClr val="267F99"/>
                </a:solidFill>
                <a:latin typeface="Consolas" panose="020B0609020204030204" pitchFamily="49" charset="0"/>
              </a:endParaRPr>
            </a:p>
            <a:p>
              <a:pPr>
                <a:lnSpc>
                  <a:spcPct val="150000"/>
                </a:lnSpc>
                <a:spcBef>
                  <a:spcPts val="0"/>
                </a:spcBef>
              </a:pPr>
              <a:r>
                <a:rPr lang="en-US" sz="1600" dirty="0">
                  <a:solidFill>
                    <a:srgbClr val="267F99"/>
                  </a:solidFill>
                  <a:latin typeface="Consolas" panose="020B0609020204030204" pitchFamily="49" charset="0"/>
                </a:rPr>
                <a:t>    buffer</a:t>
              </a:r>
              <a:r>
                <a:rPr lang="en-US" sz="1600" dirty="0">
                  <a:solidFill>
                    <a:srgbClr val="000000"/>
                  </a:solidFill>
                  <a:latin typeface="Consolas" panose="020B0609020204030204" pitchFamily="49" charset="0"/>
                </a:rPr>
                <a:t>&lt;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 </a:t>
              </a:r>
              <a:r>
                <a:rPr lang="en-US" sz="1600" dirty="0" err="1">
                  <a:solidFill>
                    <a:srgbClr val="795E26"/>
                  </a:solidFill>
                  <a:latin typeface="Consolas" panose="020B0609020204030204" pitchFamily="49" charset="0"/>
                </a:rPr>
                <a:t>buf</a:t>
              </a:r>
              <a:r>
                <a:rPr lang="en-US" sz="1600" dirty="0">
                  <a:solidFill>
                    <a:srgbClr val="000000"/>
                  </a:solidFill>
                  <a:latin typeface="Consolas" panose="020B0609020204030204" pitchFamily="49" charset="0"/>
                </a:rPr>
                <a:t>(</a:t>
              </a:r>
              <a:r>
                <a:rPr lang="en-US" sz="1600" dirty="0">
                  <a:solidFill>
                    <a:srgbClr val="267F99"/>
                  </a:solidFill>
                  <a:latin typeface="Consolas" panose="020B0609020204030204" pitchFamily="49" charset="0"/>
                </a:rPr>
                <a:t>data</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range</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&gt;(N));</a:t>
              </a:r>
            </a:p>
            <a:p>
              <a:pPr>
                <a:lnSpc>
                  <a:spcPct val="150000"/>
                </a:lnSpc>
                <a:spcBef>
                  <a:spcPts val="0"/>
                </a:spcBef>
              </a:pPr>
              <a:r>
                <a:rPr lang="en-US" sz="1600" dirty="0">
                  <a:solidFill>
                    <a:srgbClr val="001080"/>
                  </a:solidFill>
                  <a:latin typeface="Consolas" panose="020B0609020204030204" pitchFamily="49" charset="0"/>
                </a:rPr>
                <a:t>    </a:t>
              </a:r>
              <a:r>
                <a:rPr lang="en-US" sz="1600" dirty="0" err="1">
                  <a:solidFill>
                    <a:srgbClr val="001080"/>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submit</a:t>
              </a:r>
              <a:r>
                <a:rPr lang="en-US" sz="1600" dirty="0">
                  <a:solidFill>
                    <a:srgbClr val="000000"/>
                  </a:solidFill>
                  <a:latin typeface="Consolas" panose="020B0609020204030204" pitchFamily="49" charset="0"/>
                </a:rPr>
                <a:t>([&amp;] (</a:t>
              </a:r>
              <a:r>
                <a:rPr lang="en-US" sz="1600" dirty="0">
                  <a:solidFill>
                    <a:srgbClr val="267F99"/>
                  </a:solidFill>
                  <a:latin typeface="Consolas" panose="020B0609020204030204" pitchFamily="49" charset="0"/>
                </a:rPr>
                <a:t>handler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&amp;</a:t>
              </a:r>
              <a:r>
                <a:rPr lang="en-US" sz="1600" dirty="0">
                  <a:solidFill>
                    <a:srgbClr val="001080"/>
                  </a:solidFill>
                  <a:latin typeface="Consolas" panose="020B0609020204030204" pitchFamily="49" charset="0"/>
                </a:rPr>
                <a:t>h</a:t>
              </a:r>
              <a:r>
                <a:rPr lang="en-US" sz="1600" dirty="0">
                  <a:solidFill>
                    <a:srgbClr val="000000"/>
                  </a:solidFill>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00FF"/>
                  </a:solidFill>
                  <a:latin typeface="Consolas" panose="020B0609020204030204" pitchFamily="49" charset="0"/>
                </a:rPr>
                <a:t>auto</a:t>
              </a:r>
              <a:r>
                <a:rPr lang="en-US" sz="1600" dirty="0">
                  <a:latin typeface="Consolas" panose="020B0609020204030204" pitchFamily="49" charset="0"/>
                </a:rPr>
                <a:t> A</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buf</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get_access</a:t>
              </a:r>
              <a:r>
                <a:rPr lang="en-US" sz="1600" dirty="0">
                  <a:solidFill>
                    <a:srgbClr val="000000"/>
                  </a:solidFill>
                  <a:latin typeface="Consolas" panose="020B0609020204030204" pitchFamily="49" charset="0"/>
                </a:rPr>
                <a:t>&lt;</a:t>
              </a:r>
              <a:r>
                <a:rPr lang="en-US" sz="1600" dirty="0">
                  <a:solidFill>
                    <a:srgbClr val="267F99"/>
                  </a:solidFill>
                  <a:latin typeface="Consolas" panose="020B0609020204030204" pitchFamily="49" charset="0"/>
                </a:rPr>
                <a:t>access</a:t>
              </a:r>
              <a:r>
                <a:rPr lang="en-US" sz="1600" dirty="0">
                  <a:solidFill>
                    <a:srgbClr val="000000"/>
                  </a:solidFill>
                  <a:latin typeface="Consolas" panose="020B0609020204030204" pitchFamily="49" charset="0"/>
                </a:rPr>
                <a:t>::</a:t>
              </a:r>
              <a:r>
                <a:rPr lang="en-US" sz="1600" dirty="0">
                  <a:solidFill>
                    <a:srgbClr val="267F99"/>
                  </a:solidFill>
                  <a:latin typeface="Consolas" panose="020B0609020204030204" pitchFamily="49" charset="0"/>
                </a:rPr>
                <a:t>mode</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read_write</a:t>
              </a:r>
              <a:r>
                <a:rPr lang="en-US" sz="1600" dirty="0">
                  <a:solidFill>
                    <a:srgbClr val="000000"/>
                  </a:solidFill>
                  <a:latin typeface="Consolas" panose="020B0609020204030204" pitchFamily="49" charset="0"/>
                </a:rPr>
                <a:t>&gt;(h);</a:t>
              </a:r>
            </a:p>
            <a:p>
              <a:pPr>
                <a:lnSpc>
                  <a:spcPct val="150000"/>
                </a:lnSpc>
                <a:spcBef>
                  <a:spcPts val="0"/>
                </a:spcBef>
              </a:pPr>
              <a:r>
                <a:rPr lang="en-US" sz="1600" dirty="0">
                  <a:latin typeface="Consolas" panose="020B0609020204030204" pitchFamily="49" charset="0"/>
                </a:rPr>
                <a:t>        </a:t>
              </a:r>
              <a:r>
                <a:rPr lang="en-US" sz="1600" dirty="0" err="1">
                  <a:solidFill>
                    <a:srgbClr val="001080"/>
                  </a:solidFill>
                  <a:latin typeface="Consolas" panose="020B0609020204030204" pitchFamily="49" charset="0"/>
                </a:rPr>
                <a:t>h</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parallel_for</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range</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&gt;(N), [=](</a:t>
              </a:r>
              <a:r>
                <a:rPr lang="en-US" sz="1600" dirty="0">
                  <a:solidFill>
                    <a:srgbClr val="267F99"/>
                  </a:solidFill>
                  <a:latin typeface="Consolas" panose="020B0609020204030204" pitchFamily="49" charset="0"/>
                </a:rPr>
                <a:t>id</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&gt; </a:t>
              </a:r>
              <a:r>
                <a:rPr lang="en-US" sz="1600" dirty="0" err="1">
                  <a:solidFill>
                    <a:srgbClr val="001080"/>
                  </a:solidFill>
                  <a:latin typeface="Consolas" panose="020B0609020204030204" pitchFamily="49" charset="0"/>
                </a:rPr>
                <a:t>i</a:t>
              </a:r>
              <a:r>
                <a:rPr lang="en-US" sz="1600" dirty="0">
                  <a:solidFill>
                    <a:srgbClr val="000000"/>
                  </a:solidFill>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1080"/>
                  </a:solidFill>
                  <a:latin typeface="Consolas" panose="020B0609020204030204" pitchFamily="49" charset="0"/>
                </a:rPr>
                <a:t>A</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1</a:t>
              </a:r>
              <a:r>
                <a:rPr lang="en-US" sz="1600" dirty="0">
                  <a:solidFill>
                    <a:srgbClr val="000000"/>
                  </a:solidFill>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0000"/>
                  </a:solidFill>
                  <a:latin typeface="Consolas" panose="020B0609020204030204" pitchFamily="49" charset="0"/>
                </a:rPr>
                <a:t>});</a:t>
              </a:r>
            </a:p>
            <a:p>
              <a:pPr>
                <a:lnSpc>
                  <a:spcPct val="150000"/>
                </a:lnSpc>
                <a:spcBef>
                  <a:spcPts val="0"/>
                </a:spcBef>
              </a:pPr>
              <a:r>
                <a:rPr lang="en-US" sz="1600" dirty="0">
                  <a:latin typeface="Consolas" panose="020B0609020204030204" pitchFamily="49" charset="0"/>
                </a:rPr>
                <a:t>    </a:t>
              </a:r>
              <a:r>
                <a:rPr lang="en-US" sz="1600" dirty="0">
                  <a:solidFill>
                    <a:srgbClr val="000000"/>
                  </a:solidFill>
                  <a:latin typeface="Consolas" panose="020B0609020204030204" pitchFamily="49" charset="0"/>
                </a:rPr>
                <a:t>});</a:t>
              </a:r>
            </a:p>
            <a:p>
              <a:pPr>
                <a:lnSpc>
                  <a:spcPct val="150000"/>
                </a:lnSpc>
                <a:spcBef>
                  <a:spcPts val="0"/>
                </a:spcBef>
              </a:pPr>
              <a:r>
                <a:rPr lang="en-US" sz="1600" dirty="0">
                  <a:solidFill>
                    <a:srgbClr val="000000"/>
                  </a:solidFill>
                  <a:latin typeface="Consolas" panose="020B0609020204030204" pitchFamily="49" charset="0"/>
                </a:rPr>
                <a:t>}</a:t>
              </a:r>
            </a:p>
            <a:p>
              <a:pPr>
                <a:lnSpc>
                  <a:spcPct val="150000"/>
                </a:lnSpc>
                <a:spcBef>
                  <a:spcPts val="0"/>
                </a:spcBef>
              </a:pPr>
              <a:r>
                <a:rPr lang="en-US" sz="1600" dirty="0">
                  <a:solidFill>
                    <a:srgbClr val="AF00DB"/>
                  </a:solidFill>
                  <a:latin typeface="Consolas" panose="020B0609020204030204" pitchFamily="49" charset="0"/>
                </a:rPr>
                <a:t>for</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;i&lt;</a:t>
              </a:r>
              <a:r>
                <a:rPr lang="en-US" sz="1600" dirty="0" err="1">
                  <a:solidFill>
                    <a:srgbClr val="000000"/>
                  </a:solidFill>
                  <a:latin typeface="Consolas" panose="020B0609020204030204" pitchFamily="49" charset="0"/>
                </a:rPr>
                <a:t>N;i</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std</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&lt;&lt; </a:t>
              </a:r>
              <a:r>
                <a:rPr lang="en-US" sz="1600" dirty="0">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a:t>
              </a:r>
              <a:r>
                <a:rPr lang="en-US" sz="1600" dirty="0">
                  <a:solidFill>
                    <a:srgbClr val="000000"/>
                  </a:solidFill>
                  <a:latin typeface="Consolas" panose="020B0609020204030204" pitchFamily="49" charset="0"/>
                </a:rPr>
                <a:t>] &lt;&lt; </a:t>
              </a:r>
              <a:r>
                <a:rPr lang="en-US" sz="1600" dirty="0">
                  <a:solidFill>
                    <a:srgbClr val="A31515"/>
                  </a:solidFill>
                  <a:latin typeface="Consolas" panose="020B0609020204030204" pitchFamily="49" charset="0"/>
                </a:rPr>
                <a:t>" "</a:t>
              </a:r>
              <a:r>
                <a:rPr lang="en-US" sz="1600" dirty="0">
                  <a:solidFill>
                    <a:srgbClr val="000000"/>
                  </a:solidFill>
                  <a:latin typeface="Consolas" panose="020B0609020204030204" pitchFamily="49" charset="0"/>
                </a:rPr>
                <a:t>;</a:t>
              </a:r>
            </a:p>
            <a:p>
              <a:pPr>
                <a:lnSpc>
                  <a:spcPct val="150000"/>
                </a:lnSpc>
                <a:spcBef>
                  <a:spcPts val="0"/>
                </a:spcBef>
              </a:pPr>
              <a:r>
                <a:rPr lang="en-US" sz="1600" dirty="0">
                  <a:solidFill>
                    <a:srgbClr val="795E26"/>
                  </a:solidFill>
                  <a:latin typeface="Consolas" panose="020B0609020204030204" pitchFamily="49" charset="0"/>
                </a:rPr>
                <a:t>free</a:t>
              </a:r>
              <a:r>
                <a:rPr lang="en-US" sz="1600" dirty="0">
                  <a:solidFill>
                    <a:srgbClr val="000000"/>
                  </a:solidFill>
                  <a:latin typeface="Consolas" panose="020B0609020204030204" pitchFamily="49" charset="0"/>
                </a:rPr>
                <a:t>(data);</a:t>
              </a:r>
            </a:p>
          </p:txBody>
        </p:sp>
      </p:grpSp>
      <p:sp>
        <p:nvSpPr>
          <p:cNvPr id="29" name="Rectangle: Rounded Corners 7"/>
          <p:cNvSpPr/>
          <p:nvPr/>
        </p:nvSpPr>
        <p:spPr>
          <a:xfrm>
            <a:off x="2189465" y="3017706"/>
            <a:ext cx="4988220" cy="308049"/>
          </a:xfrm>
          <a:prstGeom prst="roundRect">
            <a:avLst/>
          </a:prstGeom>
          <a:noFill/>
          <a:ln w="19050" cap="flat" cmpd="sng" algn="ctr">
            <a:solidFill>
              <a:srgbClr val="FF0000"/>
            </a:solidFill>
            <a:prstDash val="solid"/>
            <a:round/>
            <a:headEnd type="none" w="med" len="med"/>
            <a:tailEnd type="none" w="med" len="med"/>
          </a:ln>
          <a:effectLst/>
        </p:spPr>
        <p:txBody>
          <a:bodyPr rtlCol="0" anchor="ctr"/>
          <a:lstStyle/>
          <a:p>
            <a:pPr algn="ctr"/>
            <a:endParaRPr lang="en-US"/>
          </a:p>
        </p:txBody>
      </p:sp>
      <p:sp>
        <p:nvSpPr>
          <p:cNvPr id="30" name="Rectangle: Rounded Corners 8"/>
          <p:cNvSpPr/>
          <p:nvPr/>
        </p:nvSpPr>
        <p:spPr>
          <a:xfrm>
            <a:off x="2505710" y="3717032"/>
            <a:ext cx="6314762" cy="322580"/>
          </a:xfrm>
          <a:prstGeom prst="roundRect">
            <a:avLst/>
          </a:prstGeom>
          <a:noFill/>
          <a:ln w="19050" cap="flat" cmpd="sng" algn="ctr">
            <a:solidFill>
              <a:srgbClr val="FF0000"/>
            </a:solidFill>
            <a:prstDash val="solid"/>
            <a:round/>
            <a:headEnd type="none" w="med" len="med"/>
            <a:tailEnd type="none" w="med" len="med"/>
          </a:ln>
          <a:effectLst/>
        </p:spPr>
        <p:txBody>
          <a:bodyPr rtlCol="0" anchor="ctr"/>
          <a:lstStyle/>
          <a:p>
            <a:pPr algn="ctr"/>
            <a:endParaRPr lang="en-US" dirty="0"/>
          </a:p>
        </p:txBody>
      </p:sp>
      <p:cxnSp>
        <p:nvCxnSpPr>
          <p:cNvPr id="31" name="Straight Arrow Connector 9"/>
          <p:cNvCxnSpPr/>
          <p:nvPr/>
        </p:nvCxnSpPr>
        <p:spPr>
          <a:xfrm flipV="1">
            <a:off x="1526998" y="3171730"/>
            <a:ext cx="648000" cy="7339"/>
          </a:xfrm>
          <a:prstGeom prst="straightConnector1">
            <a:avLst/>
          </a:prstGeom>
          <a:noFill/>
          <a:ln w="25400" cap="flat" cmpd="sng" algn="ctr">
            <a:solidFill>
              <a:srgbClr val="D96930"/>
            </a:solidFill>
            <a:prstDash val="solid"/>
            <a:tailEnd type="triangle"/>
          </a:ln>
          <a:effectLst/>
        </p:spPr>
      </p:cxnSp>
      <p:cxnSp>
        <p:nvCxnSpPr>
          <p:cNvPr id="32" name="Straight Arrow Connector 10"/>
          <p:cNvCxnSpPr/>
          <p:nvPr/>
        </p:nvCxnSpPr>
        <p:spPr>
          <a:xfrm flipV="1">
            <a:off x="1548130" y="3877052"/>
            <a:ext cx="974725" cy="12065"/>
          </a:xfrm>
          <a:prstGeom prst="straightConnector1">
            <a:avLst/>
          </a:prstGeom>
          <a:noFill/>
          <a:ln w="25400" cap="flat" cmpd="sng" algn="ctr">
            <a:solidFill>
              <a:srgbClr val="D96930"/>
            </a:solidFill>
            <a:prstDash val="solid"/>
            <a:tailEnd type="triangle"/>
          </a:ln>
          <a:effectLst/>
        </p:spPr>
      </p:cxnSp>
      <p:sp>
        <p:nvSpPr>
          <p:cNvPr id="33" name="TextBox 11"/>
          <p:cNvSpPr txBox="1"/>
          <p:nvPr/>
        </p:nvSpPr>
        <p:spPr>
          <a:xfrm>
            <a:off x="90288" y="3087097"/>
            <a:ext cx="1266468" cy="246221"/>
          </a:xfrm>
          <a:prstGeom prst="rect">
            <a:avLst/>
          </a:prstGeom>
          <a:noFill/>
        </p:spPr>
        <p:txBody>
          <a:bodyPr vert="horz" wrap="square" lIns="0" tIns="0" rIns="0" bIns="0" rtlCol="0">
            <a:spAutoFit/>
          </a:bodyPr>
          <a:lstStyle/>
          <a:p>
            <a:pPr algn="r"/>
            <a:r>
              <a:rPr lang="en-US" sz="1100" dirty="0">
                <a:solidFill>
                  <a:srgbClr val="F6CB4B"/>
                </a:solidFill>
              </a:rPr>
              <a:t> </a:t>
            </a:r>
            <a:r>
              <a:rPr kumimoji="0" lang="en-US" sz="1600" kern="0" dirty="0" err="1">
                <a:solidFill>
                  <a:schemeClr val="accent2"/>
                </a:solidFill>
                <a:latin typeface="Intel Clear"/>
                <a:ea typeface="Helvetica Neue"/>
                <a:cs typeface="Helvetica Neue"/>
              </a:rPr>
              <a:t>创建缓冲</a:t>
            </a:r>
            <a:endParaRPr kumimoji="0" lang="en-US" sz="1600" kern="0" dirty="0">
              <a:solidFill>
                <a:schemeClr val="accent2"/>
              </a:solidFill>
              <a:latin typeface="Intel Clear"/>
              <a:ea typeface="Helvetica Neue"/>
              <a:cs typeface="Helvetica Neue"/>
            </a:endParaRPr>
          </a:p>
        </p:txBody>
      </p:sp>
      <p:sp>
        <p:nvSpPr>
          <p:cNvPr id="34" name="TextBox 12"/>
          <p:cNvSpPr txBox="1"/>
          <p:nvPr/>
        </p:nvSpPr>
        <p:spPr>
          <a:xfrm>
            <a:off x="74363" y="3838260"/>
            <a:ext cx="1320026" cy="246221"/>
          </a:xfrm>
          <a:prstGeom prst="rect">
            <a:avLst/>
          </a:prstGeom>
          <a:noFill/>
        </p:spPr>
        <p:txBody>
          <a:bodyPr vert="horz" wrap="square" lIns="0" tIns="0" rIns="0" bIns="0" rtlCol="0">
            <a:spAutoFit/>
          </a:bodyPr>
          <a:lstStyle/>
          <a:p>
            <a:pPr algn="r"/>
            <a:r>
              <a:rPr kumimoji="0" lang="en-US" sz="1600" kern="0" dirty="0" err="1">
                <a:solidFill>
                  <a:schemeClr val="accent2"/>
                </a:solidFill>
                <a:latin typeface="Intel Clear"/>
                <a:ea typeface="Helvetica Neue"/>
                <a:cs typeface="Helvetica Neue"/>
              </a:rPr>
              <a:t>创建访问器</a:t>
            </a:r>
            <a:endParaRPr kumimoji="0" lang="en-US" sz="1600" kern="0" dirty="0">
              <a:solidFill>
                <a:schemeClr val="accent2"/>
              </a:solidFill>
              <a:latin typeface="Intel Clear"/>
              <a:ea typeface="Helvetica Neue"/>
              <a:cs typeface="Helvetica Neue"/>
            </a:endParaRPr>
          </a:p>
        </p:txBody>
      </p:sp>
      <p:sp>
        <p:nvSpPr>
          <p:cNvPr id="35" name="Rectangle: Rounded Corners 13"/>
          <p:cNvSpPr/>
          <p:nvPr/>
        </p:nvSpPr>
        <p:spPr>
          <a:xfrm>
            <a:off x="1947526" y="1924259"/>
            <a:ext cx="6706546" cy="322615"/>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36" name="Straight Arrow Connector 14"/>
          <p:cNvCxnSpPr/>
          <p:nvPr/>
        </p:nvCxnSpPr>
        <p:spPr>
          <a:xfrm>
            <a:off x="1526998" y="2085621"/>
            <a:ext cx="420527" cy="0"/>
          </a:xfrm>
          <a:prstGeom prst="straightConnector1">
            <a:avLst/>
          </a:prstGeom>
          <a:noFill/>
          <a:ln w="25400" cap="flat" cmpd="sng" algn="ctr">
            <a:solidFill>
              <a:srgbClr val="D96930"/>
            </a:solidFill>
            <a:prstDash val="solid"/>
            <a:tailEnd type="triangle"/>
          </a:ln>
          <a:effectLst/>
        </p:spPr>
      </p:cxnSp>
      <p:sp>
        <p:nvSpPr>
          <p:cNvPr id="37" name="TextBox 15"/>
          <p:cNvSpPr txBox="1"/>
          <p:nvPr/>
        </p:nvSpPr>
        <p:spPr>
          <a:xfrm>
            <a:off x="0" y="1993649"/>
            <a:ext cx="1508099" cy="246221"/>
          </a:xfrm>
          <a:prstGeom prst="rect">
            <a:avLst/>
          </a:prstGeom>
          <a:noFill/>
        </p:spPr>
        <p:txBody>
          <a:bodyPr vert="horz" wrap="square" lIns="0" tIns="0" rIns="0" bIns="0" rtlCol="0">
            <a:spAutoFit/>
          </a:bodyPr>
          <a:lstStyle/>
          <a:p>
            <a:pPr algn="r"/>
            <a:r>
              <a:rPr kumimoji="0" lang="en-US" sz="1600" kern="0" dirty="0" err="1">
                <a:solidFill>
                  <a:schemeClr val="accent2"/>
                </a:solidFill>
                <a:latin typeface="Intel Clear"/>
                <a:ea typeface="Helvetica Neue"/>
                <a:cs typeface="Helvetica Neue"/>
              </a:rPr>
              <a:t>主机端内存设置</a:t>
            </a:r>
            <a:endParaRPr kumimoji="0" lang="en-US" sz="1600" kern="0" dirty="0">
              <a:solidFill>
                <a:schemeClr val="accent2"/>
              </a:solidFill>
              <a:latin typeface="Intel Clear"/>
              <a:ea typeface="Helvetica Neue"/>
              <a:cs typeface="Helvetica Neue"/>
            </a:endParaRPr>
          </a:p>
        </p:txBody>
      </p:sp>
      <p:sp>
        <p:nvSpPr>
          <p:cNvPr id="38" name="Rectangle: Rounded Corners 16"/>
          <p:cNvSpPr/>
          <p:nvPr/>
        </p:nvSpPr>
        <p:spPr>
          <a:xfrm>
            <a:off x="2767786" y="4495155"/>
            <a:ext cx="2538393" cy="269804"/>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39" name="Straight Arrow Connector 17"/>
          <p:cNvCxnSpPr/>
          <p:nvPr/>
        </p:nvCxnSpPr>
        <p:spPr>
          <a:xfrm flipV="1">
            <a:off x="1568908" y="4630057"/>
            <a:ext cx="1224000" cy="685"/>
          </a:xfrm>
          <a:prstGeom prst="straightConnector1">
            <a:avLst/>
          </a:prstGeom>
          <a:noFill/>
          <a:ln w="25400" cap="flat" cmpd="sng" algn="ctr">
            <a:solidFill>
              <a:srgbClr val="D96930"/>
            </a:solidFill>
            <a:prstDash val="solid"/>
            <a:tailEnd type="triangle"/>
          </a:ln>
          <a:effectLst/>
        </p:spPr>
      </p:cxnSp>
      <p:sp>
        <p:nvSpPr>
          <p:cNvPr id="40" name="TextBox 18"/>
          <p:cNvSpPr txBox="1"/>
          <p:nvPr/>
        </p:nvSpPr>
        <p:spPr>
          <a:xfrm>
            <a:off x="-84186" y="4552223"/>
            <a:ext cx="1508099" cy="246221"/>
          </a:xfrm>
          <a:prstGeom prst="rect">
            <a:avLst/>
          </a:prstGeom>
          <a:noFill/>
        </p:spPr>
        <p:txBody>
          <a:bodyPr vert="horz" wrap="square" lIns="0" tIns="0" rIns="0" bIns="0" rtlCol="0">
            <a:spAutoFit/>
          </a:bodyPr>
          <a:lstStyle/>
          <a:p>
            <a:pPr algn="r"/>
            <a:r>
              <a:rPr lang="en-US" sz="1100" dirty="0">
                <a:solidFill>
                  <a:srgbClr val="F6CB4B"/>
                </a:solidFill>
              </a:rPr>
              <a:t> </a:t>
            </a:r>
            <a:r>
              <a:rPr kumimoji="0" lang="en-US" sz="1600" kern="0" dirty="0" err="1">
                <a:solidFill>
                  <a:schemeClr val="accent2"/>
                </a:solidFill>
                <a:latin typeface="Intel Clear"/>
                <a:ea typeface="Helvetica Neue"/>
                <a:cs typeface="Helvetica Neue"/>
              </a:rPr>
              <a:t>设备端可以修改</a:t>
            </a:r>
            <a:endParaRPr kumimoji="0" lang="en-US" sz="1600" kern="0" dirty="0">
              <a:solidFill>
                <a:schemeClr val="accent2"/>
              </a:solidFill>
              <a:latin typeface="Intel Clear"/>
              <a:ea typeface="Helvetica Neue"/>
              <a:cs typeface="Helvetica Neue"/>
            </a:endParaRPr>
          </a:p>
        </p:txBody>
      </p:sp>
      <p:cxnSp>
        <p:nvCxnSpPr>
          <p:cNvPr id="41" name="Straight Arrow Connector 19"/>
          <p:cNvCxnSpPr/>
          <p:nvPr/>
        </p:nvCxnSpPr>
        <p:spPr>
          <a:xfrm>
            <a:off x="1598753" y="6114849"/>
            <a:ext cx="420527" cy="0"/>
          </a:xfrm>
          <a:prstGeom prst="straightConnector1">
            <a:avLst/>
          </a:prstGeom>
          <a:noFill/>
          <a:ln w="25400" cap="flat" cmpd="sng" algn="ctr">
            <a:solidFill>
              <a:srgbClr val="D96930"/>
            </a:solidFill>
            <a:prstDash val="solid"/>
            <a:tailEnd type="triangle"/>
          </a:ln>
          <a:effectLst/>
        </p:spPr>
      </p:cxnSp>
      <p:sp>
        <p:nvSpPr>
          <p:cNvPr id="42" name="TextBox 20"/>
          <p:cNvSpPr txBox="1"/>
          <p:nvPr/>
        </p:nvSpPr>
        <p:spPr>
          <a:xfrm>
            <a:off x="157445" y="6030210"/>
            <a:ext cx="1266468" cy="246221"/>
          </a:xfrm>
          <a:prstGeom prst="rect">
            <a:avLst/>
          </a:prstGeom>
          <a:noFill/>
        </p:spPr>
        <p:txBody>
          <a:bodyPr vert="horz" wrap="square" lIns="0" tIns="0" rIns="0" bIns="0" rtlCol="0">
            <a:spAutoFit/>
          </a:bodyPr>
          <a:lstStyle/>
          <a:p>
            <a:pPr algn="r"/>
            <a:r>
              <a:rPr kumimoji="0" lang="en-US" sz="1600" kern="0" dirty="0" err="1">
                <a:solidFill>
                  <a:schemeClr val="accent2"/>
                </a:solidFill>
                <a:latin typeface="Intel Clear"/>
                <a:ea typeface="Helvetica Neue"/>
                <a:cs typeface="Helvetica Neue"/>
              </a:rPr>
              <a:t>主机端输出</a:t>
            </a:r>
            <a:endParaRPr kumimoji="0" lang="en-US" sz="1600" kern="0" dirty="0">
              <a:solidFill>
                <a:schemeClr val="accent2"/>
              </a:solidFill>
              <a:latin typeface="Intel Clear"/>
              <a:ea typeface="Helvetica Neue"/>
              <a:cs typeface="Helvetica Neue"/>
            </a:endParaRPr>
          </a:p>
        </p:txBody>
      </p:sp>
      <p:sp>
        <p:nvSpPr>
          <p:cNvPr id="43" name="Rectangle: Rounded Corners 21"/>
          <p:cNvSpPr/>
          <p:nvPr/>
        </p:nvSpPr>
        <p:spPr>
          <a:xfrm>
            <a:off x="1947525" y="2290360"/>
            <a:ext cx="3846357" cy="28499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44" name="Straight Arrow Connector 22"/>
          <p:cNvCxnSpPr/>
          <p:nvPr/>
        </p:nvCxnSpPr>
        <p:spPr>
          <a:xfrm>
            <a:off x="1526998" y="2451723"/>
            <a:ext cx="420527" cy="0"/>
          </a:xfrm>
          <a:prstGeom prst="straightConnector1">
            <a:avLst/>
          </a:prstGeom>
          <a:noFill/>
          <a:ln w="25400" cap="flat" cmpd="sng" algn="ctr">
            <a:solidFill>
              <a:srgbClr val="D96930"/>
            </a:solidFill>
            <a:prstDash val="solid"/>
            <a:tailEnd type="triangle"/>
          </a:ln>
          <a:effectLst/>
        </p:spPr>
      </p:cxnSp>
      <p:sp>
        <p:nvSpPr>
          <p:cNvPr id="45" name="TextBox 23"/>
          <p:cNvSpPr txBox="1"/>
          <p:nvPr/>
        </p:nvSpPr>
        <p:spPr>
          <a:xfrm>
            <a:off x="166488" y="2359751"/>
            <a:ext cx="1266468" cy="492443"/>
          </a:xfrm>
          <a:prstGeom prst="rect">
            <a:avLst/>
          </a:prstGeom>
          <a:noFill/>
        </p:spPr>
        <p:txBody>
          <a:bodyPr vert="horz" wrap="square" lIns="0" tIns="0" rIns="0" bIns="0" rtlCol="0">
            <a:spAutoFit/>
          </a:bodyPr>
          <a:lstStyle/>
          <a:p>
            <a:pPr algn="r"/>
            <a:r>
              <a:rPr kumimoji="0" lang="en-US" sz="1600" kern="0" dirty="0" err="1">
                <a:solidFill>
                  <a:schemeClr val="accent2"/>
                </a:solidFill>
                <a:latin typeface="Intel Clear"/>
                <a:ea typeface="Helvetica Neue"/>
                <a:cs typeface="Helvetica Neue"/>
              </a:rPr>
              <a:t>主机端可以初始化它</a:t>
            </a:r>
            <a:endParaRPr kumimoji="0" lang="en-US" sz="1600" kern="0" dirty="0">
              <a:solidFill>
                <a:schemeClr val="accent2"/>
              </a:solidFill>
              <a:latin typeface="Intel Clear"/>
              <a:ea typeface="Helvetica Neue"/>
              <a:cs typeface="Helvetica Neue"/>
            </a:endParaRPr>
          </a:p>
        </p:txBody>
      </p:sp>
      <p:sp>
        <p:nvSpPr>
          <p:cNvPr id="46" name="TextBox 24"/>
          <p:cNvSpPr txBox="1"/>
          <p:nvPr/>
        </p:nvSpPr>
        <p:spPr>
          <a:xfrm>
            <a:off x="125524" y="5577669"/>
            <a:ext cx="1330255" cy="246221"/>
          </a:xfrm>
          <a:prstGeom prst="rect">
            <a:avLst/>
          </a:prstGeom>
          <a:noFill/>
        </p:spPr>
        <p:txBody>
          <a:bodyPr vert="horz" wrap="square" lIns="0" tIns="0" rIns="0" bIns="0" rtlCol="0">
            <a:spAutoFit/>
          </a:bodyPr>
          <a:lstStyle/>
          <a:p>
            <a:pPr algn="r"/>
            <a:r>
              <a:rPr kumimoji="0" lang="en-US" sz="1600" kern="0" dirty="0" err="1">
                <a:solidFill>
                  <a:schemeClr val="accent2"/>
                </a:solidFill>
                <a:latin typeface="Intel Clear"/>
                <a:ea typeface="Helvetica Neue"/>
                <a:cs typeface="Helvetica Neue"/>
              </a:rPr>
              <a:t>缓冲析构</a:t>
            </a:r>
            <a:endParaRPr kumimoji="0" lang="en-US" sz="1600" kern="0" dirty="0">
              <a:solidFill>
                <a:schemeClr val="accent2"/>
              </a:solidFill>
              <a:latin typeface="Intel Clear"/>
              <a:ea typeface="Helvetica Neue"/>
              <a:cs typeface="Helvetica Neue"/>
            </a:endParaRPr>
          </a:p>
        </p:txBody>
      </p:sp>
      <p:cxnSp>
        <p:nvCxnSpPr>
          <p:cNvPr id="47" name="Straight Arrow Connector 25"/>
          <p:cNvCxnSpPr/>
          <p:nvPr/>
        </p:nvCxnSpPr>
        <p:spPr>
          <a:xfrm>
            <a:off x="1568775" y="5682870"/>
            <a:ext cx="420527" cy="0"/>
          </a:xfrm>
          <a:prstGeom prst="straightConnector1">
            <a:avLst/>
          </a:prstGeom>
          <a:noFill/>
          <a:ln w="25400" cap="flat" cmpd="sng" algn="ctr">
            <a:solidFill>
              <a:srgbClr val="D96930"/>
            </a:solidFill>
            <a:prstDash val="soli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3" grpId="0"/>
      <p:bldP spid="34" grpId="0"/>
      <p:bldP spid="35" grpId="0" bldLvl="0" animBg="1"/>
      <p:bldP spid="37" grpId="0"/>
      <p:bldP spid="38" grpId="0" bldLvl="0" animBg="1"/>
      <p:bldP spid="40" grpId="0"/>
      <p:bldP spid="42" grpId="0"/>
      <p:bldP spid="43" grpId="0" bldLvl="0" animBg="1"/>
      <p:bldP spid="45" grpId="0"/>
      <p:bldP spid="4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A21E90-BABA-465F-919A-5A5D889244F4}"/>
              </a:ext>
            </a:extLst>
          </p:cNvPr>
          <p:cNvSpPr>
            <a:spLocks noGrp="1"/>
          </p:cNvSpPr>
          <p:nvPr>
            <p:ph type="title"/>
          </p:nvPr>
        </p:nvSpPr>
        <p:spPr/>
        <p:txBody>
          <a:bodyPr/>
          <a:lstStyle/>
          <a:p>
            <a:r>
              <a:rPr lang="zh-CN" altLang="en-US" dirty="0"/>
              <a:t>创建缓冲</a:t>
            </a:r>
          </a:p>
        </p:txBody>
      </p:sp>
      <p:sp>
        <p:nvSpPr>
          <p:cNvPr id="3" name="内容占位符 2">
            <a:extLst>
              <a:ext uri="{FF2B5EF4-FFF2-40B4-BE49-F238E27FC236}">
                <a16:creationId xmlns:a16="http://schemas.microsoft.com/office/drawing/2014/main" id="{D7A465D5-6A51-44C3-AB8A-2A0E0A173399}"/>
              </a:ext>
            </a:extLst>
          </p:cNvPr>
          <p:cNvSpPr>
            <a:spLocks noGrp="1"/>
          </p:cNvSpPr>
          <p:nvPr>
            <p:ph idx="1"/>
          </p:nvPr>
        </p:nvSpPr>
        <p:spPr/>
        <p:txBody>
          <a:bodyPr/>
          <a:lstStyle/>
          <a:p>
            <a:r>
              <a:rPr lang="en-US" altLang="zh-CN" dirty="0"/>
              <a:t>Buffer</a:t>
            </a:r>
            <a:r>
              <a:rPr lang="zh-CN" altLang="en-US" dirty="0"/>
              <a:t>类：三个参数的模板类</a:t>
            </a:r>
            <a:endParaRPr lang="en-US" altLang="zh-CN" dirty="0"/>
          </a:p>
          <a:p>
            <a:pPr lvl="1"/>
            <a:r>
              <a:rPr lang="zh-CN" altLang="en-US" dirty="0"/>
              <a:t>对象类型</a:t>
            </a:r>
            <a:endParaRPr lang="en-US" altLang="zh-CN" dirty="0"/>
          </a:p>
          <a:p>
            <a:pPr lvl="1"/>
            <a:r>
              <a:rPr lang="en-US" altLang="zh-CN" dirty="0"/>
              <a:t>Buffer</a:t>
            </a:r>
            <a:r>
              <a:rPr lang="zh-CN" altLang="en-US" dirty="0"/>
              <a:t>的维度</a:t>
            </a:r>
            <a:endParaRPr lang="en-US" altLang="zh-CN" dirty="0"/>
          </a:p>
          <a:p>
            <a:pPr lvl="1"/>
            <a:r>
              <a:rPr lang="zh-CN" altLang="en-US" dirty="0"/>
              <a:t>可选的</a:t>
            </a:r>
            <a:r>
              <a:rPr lang="en-US" altLang="zh-CN" dirty="0"/>
              <a:t>C++</a:t>
            </a:r>
            <a:r>
              <a:rPr lang="zh-CN" altLang="en-US" dirty="0"/>
              <a:t>分配器</a:t>
            </a:r>
            <a:endParaRPr lang="en-US" altLang="zh-CN" dirty="0"/>
          </a:p>
          <a:p>
            <a:r>
              <a:rPr lang="zh-CN" altLang="en-US" dirty="0"/>
              <a:t>创建缓冲区的不同选择取决于需要如何使用缓冲区以及程序员的编程偏好</a:t>
            </a:r>
            <a:endParaRPr lang="en-US" altLang="zh-CN" dirty="0"/>
          </a:p>
        </p:txBody>
      </p:sp>
    </p:spTree>
    <p:extLst>
      <p:ext uri="{BB962C8B-B14F-4D97-AF65-F5344CB8AC3E}">
        <p14:creationId xmlns:p14="http://schemas.microsoft.com/office/powerpoint/2010/main" val="3171930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创建缓冲示例</a:t>
            </a:r>
          </a:p>
        </p:txBody>
      </p:sp>
      <p:sp>
        <p:nvSpPr>
          <p:cNvPr id="3" name="内容占位符 2"/>
          <p:cNvSpPr>
            <a:spLocks noGrp="1"/>
          </p:cNvSpPr>
          <p:nvPr>
            <p:ph idx="1"/>
          </p:nvPr>
        </p:nvSpPr>
        <p:spPr/>
        <p:txBody>
          <a:bodyPr/>
          <a:lstStyle/>
          <a:p>
            <a:r>
              <a:rPr lang="zh-CN" altLang="en-US" sz="2800" dirty="0"/>
              <a:t>三种不同方式例子</a:t>
            </a:r>
          </a:p>
        </p:txBody>
      </p:sp>
      <p:grpSp>
        <p:nvGrpSpPr>
          <p:cNvPr id="6" name="Group 3"/>
          <p:cNvGrpSpPr/>
          <p:nvPr/>
        </p:nvGrpSpPr>
        <p:grpSpPr>
          <a:xfrm>
            <a:off x="1809115" y="1946272"/>
            <a:ext cx="7254875" cy="4704073"/>
            <a:chOff x="5242989" y="505096"/>
            <a:chExt cx="5621214" cy="6291798"/>
          </a:xfrm>
        </p:grpSpPr>
        <p:sp>
          <p:nvSpPr>
            <p:cNvPr id="27" name="Rectangle: Single Corner Snipped 4"/>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algn="ctr"/>
              <a:endParaRPr lang="en-US" sz="3600" b="1" dirty="0"/>
            </a:p>
          </p:txBody>
        </p:sp>
        <p:sp>
          <p:nvSpPr>
            <p:cNvPr id="28" name="TextBox 6"/>
            <p:cNvSpPr txBox="1"/>
            <p:nvPr/>
          </p:nvSpPr>
          <p:spPr>
            <a:xfrm>
              <a:off x="5390906" y="611430"/>
              <a:ext cx="5473297" cy="6185464"/>
            </a:xfrm>
            <a:prstGeom prst="rect">
              <a:avLst/>
            </a:prstGeom>
            <a:noFill/>
          </p:spPr>
          <p:txBody>
            <a:bodyPr vert="horz" wrap="square" lIns="0" tIns="0" rIns="0" bIns="0" rtlCol="0">
              <a:spAutoFit/>
            </a:bodyPr>
            <a:lstStyle/>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Create a buffer of </a:t>
              </a:r>
              <a:r>
                <a:rPr kumimoji="0" lang="en-US" altLang="zh-CN"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ints</a:t>
              </a: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from an input iterator</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::vector&lt;</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myVec</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b1{</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myVec</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b2{</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myVec</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begin</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myVec</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end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Create a buffer of </a:t>
              </a:r>
              <a:r>
                <a:rPr kumimoji="0" lang="en-US" altLang="zh-CN"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ints</a:t>
              </a: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from std::array</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::array&lt;</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42</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my_data</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b3{</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my_data</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Create a buffer of 4 doubles and initialize it from a host pointer</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double</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myDoubles</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1.1</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2.2</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3.3</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4.4</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b4{</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myDoubles</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range{</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grpSp>
      <p:sp>
        <p:nvSpPr>
          <p:cNvPr id="29" name="Rectangle: Rounded Corners 7"/>
          <p:cNvSpPr/>
          <p:nvPr/>
        </p:nvSpPr>
        <p:spPr>
          <a:xfrm>
            <a:off x="2134673" y="5877272"/>
            <a:ext cx="3157407" cy="308049"/>
          </a:xfrm>
          <a:prstGeom prst="roundRect">
            <a:avLst/>
          </a:prstGeom>
          <a:noFill/>
          <a:ln w="19050" cap="flat" cmpd="sng" algn="ctr">
            <a:solidFill>
              <a:srgbClr val="FF0000"/>
            </a:solidFill>
            <a:prstDash val="solid"/>
            <a:round/>
            <a:headEnd type="none" w="med" len="med"/>
            <a:tailEnd type="none" w="med" len="med"/>
          </a:ln>
          <a:effectLst/>
        </p:spPr>
        <p:txBody>
          <a:bodyPr rtlCol="0" anchor="ctr"/>
          <a:lstStyle/>
          <a:p>
            <a:pPr algn="ctr"/>
            <a:endParaRPr lang="en-US"/>
          </a:p>
        </p:txBody>
      </p:sp>
      <p:cxnSp>
        <p:nvCxnSpPr>
          <p:cNvPr id="31" name="Straight Arrow Connector 9"/>
          <p:cNvCxnSpPr/>
          <p:nvPr/>
        </p:nvCxnSpPr>
        <p:spPr>
          <a:xfrm flipV="1">
            <a:off x="1472206" y="6031296"/>
            <a:ext cx="648000" cy="7339"/>
          </a:xfrm>
          <a:prstGeom prst="straightConnector1">
            <a:avLst/>
          </a:prstGeom>
          <a:noFill/>
          <a:ln w="25400" cap="flat" cmpd="sng" algn="ctr">
            <a:solidFill>
              <a:srgbClr val="D96930"/>
            </a:solidFill>
            <a:prstDash val="solid"/>
            <a:tailEnd type="triangle"/>
          </a:ln>
          <a:effectLst/>
        </p:spPr>
      </p:cxnSp>
      <p:sp>
        <p:nvSpPr>
          <p:cNvPr id="33" name="TextBox 11"/>
          <p:cNvSpPr txBox="1"/>
          <p:nvPr/>
        </p:nvSpPr>
        <p:spPr>
          <a:xfrm>
            <a:off x="138412" y="5792413"/>
            <a:ext cx="1266468" cy="492443"/>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从主机指针</a:t>
            </a:r>
            <a:br>
              <a:rPr kumimoji="0" lang="en-US" altLang="zh-CN" sz="1600" kern="0" dirty="0">
                <a:solidFill>
                  <a:schemeClr val="accent2"/>
                </a:solidFill>
                <a:latin typeface="Intel Clear"/>
                <a:ea typeface="Helvetica Neue"/>
                <a:cs typeface="Helvetica Neue"/>
              </a:rPr>
            </a:br>
            <a:r>
              <a:rPr kumimoji="0" lang="en-US" altLang="zh-CN" sz="1600" kern="0" dirty="0" err="1">
                <a:solidFill>
                  <a:schemeClr val="accent2"/>
                </a:solidFill>
                <a:latin typeface="Intel Clear"/>
                <a:ea typeface="Helvetica Neue"/>
                <a:cs typeface="Helvetica Neue"/>
              </a:rPr>
              <a:t>创建缓冲</a:t>
            </a:r>
            <a:endParaRPr kumimoji="0" lang="en-US" sz="1600" kern="0" dirty="0">
              <a:solidFill>
                <a:schemeClr val="accent2"/>
              </a:solidFill>
              <a:latin typeface="Intel Clear"/>
              <a:ea typeface="Helvetica Neue"/>
              <a:cs typeface="Helvetica Neue"/>
            </a:endParaRPr>
          </a:p>
        </p:txBody>
      </p:sp>
      <p:sp>
        <p:nvSpPr>
          <p:cNvPr id="35" name="Rectangle: Rounded Corners 13"/>
          <p:cNvSpPr/>
          <p:nvPr/>
        </p:nvSpPr>
        <p:spPr>
          <a:xfrm>
            <a:off x="2113926" y="2890361"/>
            <a:ext cx="3898234" cy="61064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36" name="Straight Arrow Connector 14"/>
          <p:cNvCxnSpPr/>
          <p:nvPr/>
        </p:nvCxnSpPr>
        <p:spPr>
          <a:xfrm>
            <a:off x="1693398" y="3202743"/>
            <a:ext cx="420527" cy="0"/>
          </a:xfrm>
          <a:prstGeom prst="straightConnector1">
            <a:avLst/>
          </a:prstGeom>
          <a:noFill/>
          <a:ln w="25400" cap="flat" cmpd="sng" algn="ctr">
            <a:solidFill>
              <a:srgbClr val="D96930"/>
            </a:solidFill>
            <a:prstDash val="solid"/>
            <a:tailEnd type="triangle"/>
          </a:ln>
          <a:effectLst/>
        </p:spPr>
      </p:cxnSp>
      <p:sp>
        <p:nvSpPr>
          <p:cNvPr id="37" name="TextBox 15"/>
          <p:cNvSpPr txBox="1"/>
          <p:nvPr/>
        </p:nvSpPr>
        <p:spPr>
          <a:xfrm>
            <a:off x="166400" y="2924944"/>
            <a:ext cx="1508099" cy="492443"/>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为</a:t>
            </a:r>
            <a:r>
              <a:rPr kumimoji="0" lang="en-US" altLang="zh-CN" sz="1600" kern="0" dirty="0">
                <a:solidFill>
                  <a:schemeClr val="accent2"/>
                </a:solidFill>
                <a:latin typeface="Intel Clear"/>
                <a:ea typeface="Helvetica Neue"/>
                <a:cs typeface="Helvetica Neue"/>
              </a:rPr>
              <a:t>vector</a:t>
            </a:r>
            <a:br>
              <a:rPr kumimoji="0" lang="en-US" altLang="zh-CN" sz="1600" kern="0" dirty="0">
                <a:solidFill>
                  <a:schemeClr val="accent2"/>
                </a:solidFill>
                <a:latin typeface="Intel Clear"/>
                <a:ea typeface="Helvetica Neue"/>
                <a:cs typeface="Helvetica Neue"/>
              </a:rPr>
            </a:br>
            <a:r>
              <a:rPr kumimoji="0" lang="zh-CN" altLang="en-US" sz="1600" kern="0" dirty="0">
                <a:solidFill>
                  <a:schemeClr val="accent2"/>
                </a:solidFill>
                <a:latin typeface="Intel Clear"/>
                <a:ea typeface="Helvetica Neue"/>
                <a:cs typeface="Helvetica Neue"/>
              </a:rPr>
              <a:t>创建缓冲</a:t>
            </a:r>
            <a:endParaRPr kumimoji="0" lang="en-US" sz="1600" kern="0" dirty="0">
              <a:solidFill>
                <a:schemeClr val="accent2"/>
              </a:solidFill>
              <a:latin typeface="Intel Clear"/>
              <a:ea typeface="Helvetica Neue"/>
              <a:cs typeface="Helvetica Neue"/>
            </a:endParaRPr>
          </a:p>
        </p:txBody>
      </p:sp>
      <p:sp>
        <p:nvSpPr>
          <p:cNvPr id="43" name="Rectangle: Rounded Corners 21"/>
          <p:cNvSpPr/>
          <p:nvPr/>
        </p:nvSpPr>
        <p:spPr>
          <a:xfrm>
            <a:off x="2104565" y="4523350"/>
            <a:ext cx="2035387" cy="28499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algn="ctr"/>
            <a:endParaRPr lang="en-US"/>
          </a:p>
        </p:txBody>
      </p:sp>
      <p:cxnSp>
        <p:nvCxnSpPr>
          <p:cNvPr id="44" name="Straight Arrow Connector 22"/>
          <p:cNvCxnSpPr>
            <a:cxnSpLocks/>
          </p:cNvCxnSpPr>
          <p:nvPr/>
        </p:nvCxnSpPr>
        <p:spPr>
          <a:xfrm>
            <a:off x="1472206" y="4684713"/>
            <a:ext cx="632359" cy="0"/>
          </a:xfrm>
          <a:prstGeom prst="straightConnector1">
            <a:avLst/>
          </a:prstGeom>
          <a:noFill/>
          <a:ln w="25400" cap="flat" cmpd="sng" algn="ctr">
            <a:solidFill>
              <a:srgbClr val="D96930"/>
            </a:solidFill>
            <a:prstDash val="solid"/>
            <a:tailEnd type="triangle"/>
          </a:ln>
          <a:effectLst/>
        </p:spPr>
      </p:cxnSp>
      <p:sp>
        <p:nvSpPr>
          <p:cNvPr id="45" name="TextBox 23"/>
          <p:cNvSpPr txBox="1"/>
          <p:nvPr/>
        </p:nvSpPr>
        <p:spPr>
          <a:xfrm>
            <a:off x="107504" y="4448725"/>
            <a:ext cx="1266468" cy="492443"/>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为</a:t>
            </a:r>
            <a:r>
              <a:rPr kumimoji="0" lang="en-US" altLang="zh-CN" sz="1600" kern="0" dirty="0" err="1">
                <a:solidFill>
                  <a:schemeClr val="accent2"/>
                </a:solidFill>
                <a:latin typeface="Intel Clear"/>
                <a:ea typeface="Helvetica Neue"/>
                <a:cs typeface="Helvetica Neue"/>
              </a:rPr>
              <a:t>std:array</a:t>
            </a:r>
            <a:br>
              <a:rPr kumimoji="0" lang="en-US" altLang="zh-CN" sz="1600" kern="0" dirty="0">
                <a:solidFill>
                  <a:schemeClr val="accent2"/>
                </a:solidFill>
                <a:latin typeface="Intel Clear"/>
                <a:ea typeface="Helvetica Neue"/>
                <a:cs typeface="Helvetica Neue"/>
              </a:rPr>
            </a:br>
            <a:r>
              <a:rPr kumimoji="0" lang="zh-CN" altLang="en-US" sz="1600" kern="0" dirty="0">
                <a:solidFill>
                  <a:schemeClr val="accent2"/>
                </a:solidFill>
                <a:latin typeface="Intel Clear"/>
                <a:ea typeface="Helvetica Neue"/>
                <a:cs typeface="Helvetica Neue"/>
              </a:rPr>
              <a:t>创建缓冲</a:t>
            </a:r>
            <a:endParaRPr kumimoji="0" lang="en-US" sz="1600" kern="0" dirty="0">
              <a:solidFill>
                <a:schemeClr val="accent2"/>
              </a:solidFill>
              <a:latin typeface="Intel Clear"/>
              <a:ea typeface="Helvetica Neue"/>
              <a:cs typeface="Helvetica Neue"/>
            </a:endParaRPr>
          </a:p>
        </p:txBody>
      </p:sp>
    </p:spTree>
    <p:extLst>
      <p:ext uri="{BB962C8B-B14F-4D97-AF65-F5344CB8AC3E}">
        <p14:creationId xmlns:p14="http://schemas.microsoft.com/office/powerpoint/2010/main" val="369001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3" grpId="0"/>
      <p:bldP spid="35" grpId="0" bldLvl="0" animBg="1"/>
      <p:bldP spid="37" grpId="0"/>
      <p:bldP spid="43" grpId="0" bldLvl="0" animBg="1"/>
      <p:bldP spid="4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use_host_ptr</a:t>
            </a:r>
            <a:endParaRPr lang="zh-CN" altLang="en-US" dirty="0"/>
          </a:p>
        </p:txBody>
      </p:sp>
      <p:sp>
        <p:nvSpPr>
          <p:cNvPr id="3" name="内容占位符 2"/>
          <p:cNvSpPr>
            <a:spLocks noGrp="1"/>
          </p:cNvSpPr>
          <p:nvPr>
            <p:ph idx="1"/>
          </p:nvPr>
        </p:nvSpPr>
        <p:spPr>
          <a:xfrm>
            <a:off x="179512" y="1371600"/>
            <a:ext cx="8744174" cy="4724400"/>
          </a:xfrm>
        </p:spPr>
        <p:txBody>
          <a:bodyPr/>
          <a:lstStyle/>
          <a:p>
            <a:r>
              <a:rPr lang="zh-CN" altLang="en-US" sz="2400" dirty="0"/>
              <a:t>要求</a:t>
            </a:r>
            <a:r>
              <a:rPr lang="en-US" altLang="zh-CN" sz="2400" dirty="0"/>
              <a:t>buffer</a:t>
            </a:r>
            <a:r>
              <a:rPr lang="zh-CN" altLang="en-US" sz="2400" dirty="0"/>
              <a:t>不在主机端</a:t>
            </a:r>
            <a:br>
              <a:rPr lang="en-US" altLang="zh-CN" sz="2400" dirty="0"/>
            </a:br>
            <a:r>
              <a:rPr lang="zh-CN" altLang="en-US" sz="2400" dirty="0"/>
              <a:t>分配任何内存</a:t>
            </a:r>
            <a:endParaRPr lang="en-US" altLang="zh-CN" sz="2400" dirty="0"/>
          </a:p>
          <a:p>
            <a:r>
              <a:rPr lang="zh-CN" altLang="en-US" sz="2400" dirty="0"/>
              <a:t>而是使用传递给</a:t>
            </a:r>
            <a:br>
              <a:rPr lang="en-US" altLang="zh-CN" sz="2400" dirty="0"/>
            </a:br>
            <a:r>
              <a:rPr lang="zh-CN" altLang="en-US" sz="2400" dirty="0"/>
              <a:t>构造函数的一个</a:t>
            </a:r>
            <a:br>
              <a:rPr lang="en-US" altLang="zh-CN" sz="2400" dirty="0"/>
            </a:br>
            <a:r>
              <a:rPr lang="zh-CN" altLang="en-US" sz="2400" dirty="0"/>
              <a:t>主机端指针指向</a:t>
            </a:r>
            <a:br>
              <a:rPr lang="en-US" altLang="zh-CN" sz="2400" dirty="0"/>
            </a:br>
            <a:r>
              <a:rPr lang="zh-CN" altLang="en-US" sz="2400" dirty="0"/>
              <a:t>的内存</a:t>
            </a:r>
            <a:endParaRPr lang="en-US" altLang="zh-CN" sz="2400" dirty="0"/>
          </a:p>
          <a:p>
            <a:r>
              <a:rPr lang="zh-CN" altLang="en-US" sz="2400" dirty="0"/>
              <a:t>当程序希望完全</a:t>
            </a:r>
            <a:br>
              <a:rPr lang="en-US" altLang="zh-CN" sz="2400" dirty="0"/>
            </a:br>
            <a:r>
              <a:rPr lang="zh-CN" altLang="en-US" sz="2400" dirty="0"/>
              <a:t>控制主机端内存</a:t>
            </a:r>
            <a:br>
              <a:rPr lang="en-US" altLang="zh-CN" sz="2400"/>
            </a:br>
            <a:r>
              <a:rPr lang="zh-CN" altLang="en-US" sz="2400"/>
              <a:t>分配</a:t>
            </a:r>
            <a:r>
              <a:rPr lang="zh-CN" altLang="en-US" sz="2400" dirty="0"/>
              <a:t>时很有用</a:t>
            </a:r>
            <a:endParaRPr lang="en-US" altLang="zh-CN" sz="2400" dirty="0"/>
          </a:p>
        </p:txBody>
      </p:sp>
      <p:sp>
        <p:nvSpPr>
          <p:cNvPr id="17" name="Rectangle: Single Corner Snipped 9"/>
          <p:cNvSpPr/>
          <p:nvPr/>
        </p:nvSpPr>
        <p:spPr>
          <a:xfrm>
            <a:off x="2987824" y="1844824"/>
            <a:ext cx="6120681" cy="3584700"/>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main</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queue q;</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myInts</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42</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create a buffer of 42 </a:t>
            </a:r>
            <a:r>
              <a:rPr kumimoji="0" lang="en-US" altLang="zh-CN"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ints</a:t>
            </a: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initialize </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//with a host pointer,</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and add the </a:t>
            </a:r>
            <a:r>
              <a:rPr kumimoji="0" lang="en-US" altLang="zh-CN"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use_host_pointer</a:t>
            </a:r>
            <a:r>
              <a:rPr kumimoji="0" lang="en-US"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property</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b1</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myInts</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42</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property</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use_host_ptr</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20000"/>
              </a:lnSpc>
              <a:spcBef>
                <a:spcPts val="225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sp>
        <p:nvSpPr>
          <p:cNvPr id="18" name="Rectangle: Rounded Corners 10"/>
          <p:cNvSpPr/>
          <p:nvPr/>
        </p:nvSpPr>
        <p:spPr>
          <a:xfrm>
            <a:off x="6300192" y="4323535"/>
            <a:ext cx="2376264" cy="25759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extLst>
      <p:ext uri="{BB962C8B-B14F-4D97-AF65-F5344CB8AC3E}">
        <p14:creationId xmlns:p14="http://schemas.microsoft.com/office/powerpoint/2010/main" val="162819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set_final_data</a:t>
            </a:r>
            <a:endParaRPr lang="zh-CN" altLang="en-US" dirty="0"/>
          </a:p>
        </p:txBody>
      </p:sp>
      <p:sp>
        <p:nvSpPr>
          <p:cNvPr id="3" name="内容占位符 2"/>
          <p:cNvSpPr>
            <a:spLocks noGrp="1"/>
          </p:cNvSpPr>
          <p:nvPr>
            <p:ph idx="1"/>
          </p:nvPr>
        </p:nvSpPr>
        <p:spPr>
          <a:xfrm>
            <a:off x="179512" y="1371600"/>
            <a:ext cx="8744174" cy="4724400"/>
          </a:xfrm>
        </p:spPr>
        <p:txBody>
          <a:bodyPr/>
          <a:lstStyle/>
          <a:p>
            <a:r>
              <a:rPr lang="zh-CN" altLang="en-US" sz="2400" dirty="0"/>
              <a:t>更新主机端内存，无论</a:t>
            </a:r>
            <a:br>
              <a:rPr lang="en-US" altLang="zh-CN" sz="2400" dirty="0"/>
            </a:br>
            <a:r>
              <a:rPr lang="zh-CN" altLang="en-US" sz="2400" dirty="0"/>
              <a:t>缓冲是如何创建的</a:t>
            </a:r>
            <a:endParaRPr lang="en-US" altLang="zh-CN" sz="2400" dirty="0"/>
          </a:p>
          <a:p>
            <a:r>
              <a:rPr lang="zh-CN" altLang="en-US" sz="2400" dirty="0"/>
              <a:t>当缓冲被销毁时，数据</a:t>
            </a:r>
            <a:br>
              <a:rPr lang="en-US" altLang="zh-CN" sz="2400" dirty="0"/>
            </a:br>
            <a:r>
              <a:rPr lang="zh-CN" altLang="en-US" sz="2400" dirty="0"/>
              <a:t>将被写回主机端给定</a:t>
            </a:r>
            <a:br>
              <a:rPr lang="en-US" altLang="zh-CN" sz="2400" dirty="0"/>
            </a:br>
            <a:r>
              <a:rPr lang="zh-CN" altLang="en-US" sz="2400" dirty="0"/>
              <a:t>位置</a:t>
            </a:r>
            <a:endParaRPr lang="en-US" altLang="zh-CN" sz="2400" dirty="0"/>
          </a:p>
          <a:p>
            <a:r>
              <a:rPr lang="zh-CN" altLang="en-US" sz="2400" dirty="0"/>
              <a:t>如给定</a:t>
            </a:r>
            <a:r>
              <a:rPr lang="en-US" altLang="zh-CN" sz="2400" dirty="0" err="1"/>
              <a:t>nullptr</a:t>
            </a:r>
            <a:r>
              <a:rPr lang="zh-CN" altLang="en-US" sz="2400" dirty="0"/>
              <a:t>，则不拷贝</a:t>
            </a:r>
            <a:endParaRPr lang="en-US" altLang="zh-CN" sz="2400" dirty="0"/>
          </a:p>
        </p:txBody>
      </p:sp>
      <p:sp>
        <p:nvSpPr>
          <p:cNvPr id="17" name="Rectangle: Single Corner Snipped 9"/>
          <p:cNvSpPr/>
          <p:nvPr/>
        </p:nvSpPr>
        <p:spPr>
          <a:xfrm>
            <a:off x="3851920" y="1371600"/>
            <a:ext cx="5256585" cy="4433664"/>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queue q;</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my_data</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set_final_data</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nullptr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altLang="zh-CN" sz="16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my_accessor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my_accessor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sp>
        <p:nvSpPr>
          <p:cNvPr id="18" name="Rectangle: Rounded Corners 10"/>
          <p:cNvSpPr/>
          <p:nvPr/>
        </p:nvSpPr>
        <p:spPr>
          <a:xfrm>
            <a:off x="5508104" y="2636912"/>
            <a:ext cx="2592288" cy="25759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extLst>
      <p:ext uri="{BB962C8B-B14F-4D97-AF65-F5344CB8AC3E}">
        <p14:creationId xmlns:p14="http://schemas.microsoft.com/office/powerpoint/2010/main" val="93065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set_write_back</a:t>
            </a:r>
            <a:endParaRPr lang="zh-CN" altLang="en-US" dirty="0"/>
          </a:p>
        </p:txBody>
      </p:sp>
      <p:sp>
        <p:nvSpPr>
          <p:cNvPr id="3" name="内容占位符 2"/>
          <p:cNvSpPr>
            <a:spLocks noGrp="1"/>
          </p:cNvSpPr>
          <p:nvPr>
            <p:ph idx="1"/>
          </p:nvPr>
        </p:nvSpPr>
        <p:spPr>
          <a:xfrm>
            <a:off x="179512" y="1371600"/>
            <a:ext cx="8744174" cy="4724400"/>
          </a:xfrm>
        </p:spPr>
        <p:txBody>
          <a:bodyPr/>
          <a:lstStyle/>
          <a:p>
            <a:r>
              <a:rPr lang="zh-CN" altLang="en-US" sz="2400" dirty="0"/>
              <a:t>用来控制是否将数据</a:t>
            </a:r>
            <a:br>
              <a:rPr lang="en-US" altLang="zh-CN" sz="2400" dirty="0"/>
            </a:br>
            <a:r>
              <a:rPr lang="zh-CN" altLang="en-US" sz="2400" dirty="0"/>
              <a:t>从设备端写回主机端</a:t>
            </a:r>
            <a:endParaRPr lang="en-US" altLang="zh-CN" sz="2400" dirty="0"/>
          </a:p>
          <a:p>
            <a:r>
              <a:rPr lang="zh-CN" altLang="en-US" sz="2400" dirty="0"/>
              <a:t>将其设置为</a:t>
            </a:r>
            <a:r>
              <a:rPr lang="en-US" altLang="zh-CN" sz="2400" dirty="0"/>
              <a:t>false</a:t>
            </a:r>
            <a:r>
              <a:rPr lang="zh-CN" altLang="en-US" sz="2400" dirty="0"/>
              <a:t>将不会</a:t>
            </a:r>
            <a:br>
              <a:rPr lang="en-US" altLang="zh-CN" sz="2400" dirty="0"/>
            </a:br>
            <a:r>
              <a:rPr lang="zh-CN" altLang="en-US" sz="2400" dirty="0"/>
              <a:t>把更新的值写回主机端</a:t>
            </a:r>
            <a:endParaRPr lang="en-US" altLang="zh-CN" sz="2400" dirty="0"/>
          </a:p>
        </p:txBody>
      </p:sp>
      <p:sp>
        <p:nvSpPr>
          <p:cNvPr id="17" name="Rectangle: Single Corner Snipped 9"/>
          <p:cNvSpPr/>
          <p:nvPr/>
        </p:nvSpPr>
        <p:spPr>
          <a:xfrm>
            <a:off x="3851920" y="1371600"/>
            <a:ext cx="5256585" cy="3857600"/>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my_data</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set_write_back</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false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altLang="zh-CN" sz="16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my_accessor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my_buffer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b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my_accessor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sp>
        <p:nvSpPr>
          <p:cNvPr id="18" name="Rectangle: Rounded Corners 10"/>
          <p:cNvSpPr/>
          <p:nvPr/>
        </p:nvSpPr>
        <p:spPr>
          <a:xfrm>
            <a:off x="5047456" y="1947271"/>
            <a:ext cx="2332856" cy="257593"/>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spTree>
    <p:extLst>
      <p:ext uri="{BB962C8B-B14F-4D97-AF65-F5344CB8AC3E}">
        <p14:creationId xmlns:p14="http://schemas.microsoft.com/office/powerpoint/2010/main" val="105253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sub_buffer</a:t>
            </a:r>
            <a:endParaRPr lang="zh-CN" altLang="en-US" dirty="0"/>
          </a:p>
        </p:txBody>
      </p:sp>
      <p:sp>
        <p:nvSpPr>
          <p:cNvPr id="3" name="内容占位符 2"/>
          <p:cNvSpPr>
            <a:spLocks noGrp="1"/>
          </p:cNvSpPr>
          <p:nvPr>
            <p:ph idx="1"/>
          </p:nvPr>
        </p:nvSpPr>
        <p:spPr>
          <a:xfrm>
            <a:off x="179512" y="1371600"/>
            <a:ext cx="8744174" cy="4724400"/>
          </a:xfrm>
        </p:spPr>
        <p:txBody>
          <a:bodyPr/>
          <a:lstStyle/>
          <a:p>
            <a:r>
              <a:rPr lang="zh-CN" altLang="en-US" sz="2400" dirty="0"/>
              <a:t>创建一个</a:t>
            </a:r>
            <a:r>
              <a:rPr lang="en-US" altLang="zh-CN" sz="2400" dirty="0"/>
              <a:t>sub-buffer</a:t>
            </a:r>
            <a:r>
              <a:rPr lang="zh-CN" altLang="en-US" sz="2400" dirty="0"/>
              <a:t>需要</a:t>
            </a:r>
            <a:br>
              <a:rPr lang="en-US" altLang="zh-CN" sz="2400" dirty="0"/>
            </a:br>
            <a:r>
              <a:rPr lang="zh-CN" altLang="en-US" sz="2400" dirty="0"/>
              <a:t>给定三样东西：指向</a:t>
            </a:r>
            <a:br>
              <a:rPr lang="en-US" altLang="zh-CN" sz="2400" dirty="0"/>
            </a:br>
            <a:r>
              <a:rPr lang="zh-CN" altLang="en-US" sz="2400" dirty="0"/>
              <a:t>父</a:t>
            </a:r>
            <a:r>
              <a:rPr lang="en-US" altLang="zh-CN" sz="2400" dirty="0"/>
              <a:t>buffer</a:t>
            </a:r>
            <a:r>
              <a:rPr lang="zh-CN" altLang="en-US" sz="2400" dirty="0"/>
              <a:t>的引用、基索引</a:t>
            </a:r>
            <a:br>
              <a:rPr lang="en-US" altLang="zh-CN" sz="2400" dirty="0"/>
            </a:br>
            <a:r>
              <a:rPr lang="zh-CN" altLang="en-US" sz="2400" dirty="0"/>
              <a:t>和</a:t>
            </a:r>
            <a:r>
              <a:rPr lang="en-US" altLang="zh-CN" sz="2400" dirty="0"/>
              <a:t>sub-buffer</a:t>
            </a:r>
            <a:r>
              <a:rPr lang="zh-CN" altLang="en-US" sz="2400" dirty="0"/>
              <a:t>范围</a:t>
            </a:r>
            <a:endParaRPr lang="en-US" altLang="zh-CN" sz="2400" dirty="0"/>
          </a:p>
          <a:p>
            <a:r>
              <a:rPr lang="en-US" altLang="zh-CN" sz="2400" dirty="0"/>
              <a:t>Sub-buffer</a:t>
            </a:r>
            <a:r>
              <a:rPr lang="zh-CN" altLang="en-US" sz="2400" dirty="0"/>
              <a:t>的一个主要</a:t>
            </a:r>
            <a:br>
              <a:rPr lang="en-US" altLang="zh-CN" sz="2400" dirty="0"/>
            </a:br>
            <a:r>
              <a:rPr lang="zh-CN" altLang="en-US" sz="2400" dirty="0"/>
              <a:t>优点是不同</a:t>
            </a:r>
            <a:r>
              <a:rPr lang="en-US" altLang="zh-CN" sz="2400" dirty="0"/>
              <a:t>kernel</a:t>
            </a:r>
            <a:r>
              <a:rPr lang="zh-CN" altLang="en-US" sz="2400" dirty="0"/>
              <a:t>可以</a:t>
            </a:r>
            <a:br>
              <a:rPr lang="en-US" altLang="zh-CN" sz="2400" dirty="0"/>
            </a:br>
            <a:r>
              <a:rPr lang="zh-CN" altLang="en-US" sz="2400" dirty="0"/>
              <a:t>并行地操作不同子</a:t>
            </a:r>
            <a:r>
              <a:rPr lang="en-US" altLang="zh-CN" sz="2400" dirty="0"/>
              <a:t>buffer</a:t>
            </a:r>
          </a:p>
          <a:p>
            <a:pPr marL="0" indent="0">
              <a:buNone/>
            </a:pPr>
            <a:endParaRPr lang="en-US" altLang="zh-CN" sz="2400" dirty="0"/>
          </a:p>
        </p:txBody>
      </p:sp>
      <p:sp>
        <p:nvSpPr>
          <p:cNvPr id="17" name="Rectangle: Single Corner Snipped 9"/>
          <p:cNvSpPr/>
          <p:nvPr/>
        </p:nvSpPr>
        <p:spPr>
          <a:xfrm>
            <a:off x="3851920" y="1371600"/>
            <a:ext cx="5256585" cy="4433664"/>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data</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6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 /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6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 /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40000"/>
              </a:lnSpc>
              <a:spcBef>
                <a:spcPts val="2250"/>
              </a:spcBef>
              <a:spcAft>
                <a:spcPts val="0"/>
              </a:spcAft>
              <a:buClrTx/>
              <a:buSzTx/>
              <a:buFontTx/>
              <a:buNone/>
              <a:tabLst/>
              <a:defRPr/>
            </a:pPr>
            <a:endPar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kern="0" dirty="0">
                <a:solidFill>
                  <a:srgbClr val="267F99"/>
                </a:solidFill>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altLang="zh-CN" sz="16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600" kern="0" dirty="0">
                <a:solidFill>
                  <a:srgbClr val="795E26"/>
                </a:solidFill>
                <a:latin typeface="Consolas" panose="020B0609020204030204" pitchFamily="49" charset="0"/>
                <a:sym typeface="Helvetica Neue"/>
              </a:rPr>
              <a:t>b10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kern="0" dirty="0">
                <a:solidFill>
                  <a:srgbClr val="267F99"/>
                </a:solidFill>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kern="0" dirty="0">
                <a:solidFill>
                  <a:srgbClr val="267F99"/>
                </a:solidFill>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795E26"/>
                </a:solidFill>
                <a:latin typeface="Consolas" panose="020B0609020204030204" pitchFamily="49" charset="0"/>
                <a:sym typeface="Helvetica Neue"/>
              </a:rPr>
              <a:t>b11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kern="0" dirty="0">
                <a:solidFill>
                  <a:srgbClr val="795E26"/>
                </a:solidFill>
                <a:latin typeface="Consolas" panose="020B0609020204030204" pitchFamily="49" charset="0"/>
                <a:sym typeface="Helvetica Neue"/>
              </a:rPr>
              <a:t>b10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267F99"/>
                </a:solidFill>
                <a:latin typeface="Consolas" panose="020B0609020204030204" pitchFamily="49" charset="0"/>
                <a:sym typeface="Helvetica Neue"/>
              </a:rPr>
              <a:t>id</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267F99"/>
                </a:solidFill>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r>
              <a:rPr kumimoji="0" lang="en-US" altLang="zh-CN" sz="1600" kern="0" dirty="0">
                <a:solidFill>
                  <a:srgbClr val="267F99"/>
                </a:solidFill>
                <a:latin typeface="Consolas" panose="020B0609020204030204" pitchFamily="49" charset="0"/>
                <a:sym typeface="Helvetica Neue"/>
              </a:rPr>
              <a:t>buffer</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795E26"/>
                </a:solidFill>
                <a:latin typeface="Consolas" panose="020B0609020204030204" pitchFamily="49" charset="0"/>
                <a:sym typeface="Helvetica Neue"/>
              </a:rPr>
              <a:t>b12</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kern="0" dirty="0">
                <a:solidFill>
                  <a:srgbClr val="795E26"/>
                </a:solidFill>
                <a:latin typeface="Consolas" panose="020B0609020204030204" pitchFamily="49" charset="0"/>
                <a:sym typeface="Helvetica Neue"/>
              </a:rPr>
              <a:t>b10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267F99"/>
                </a:solidFill>
                <a:latin typeface="Consolas" panose="020B0609020204030204" pitchFamily="49" charset="0"/>
                <a:sym typeface="Helvetica Neue"/>
              </a:rPr>
              <a:t>id</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kern="0" dirty="0">
                <a:solidFill>
                  <a:srgbClr val="267F99"/>
                </a:solidFill>
                <a:latin typeface="Consolas" panose="020B0609020204030204" pitchFamily="49" charset="0"/>
                <a:sym typeface="Helvetica Neue"/>
              </a:rPr>
              <a:t>range</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40000"/>
              </a:lnSpc>
              <a:spcBef>
                <a:spcPts val="2250"/>
              </a:spcBef>
              <a:spcAft>
                <a:spcPts val="0"/>
              </a:spcAft>
              <a:buClrTx/>
              <a:buSzTx/>
              <a:buFontTx/>
              <a:buNone/>
              <a:tabLst/>
              <a:defRPr/>
            </a:pPr>
            <a:endParaRPr kumimoji="0" lang="en-US" altLang="zh-CN" sz="16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sp>
        <p:nvSpPr>
          <p:cNvPr id="18" name="Rectangle: Rounded Corners 10"/>
          <p:cNvSpPr/>
          <p:nvPr/>
        </p:nvSpPr>
        <p:spPr>
          <a:xfrm>
            <a:off x="3887924" y="2420888"/>
            <a:ext cx="4284476" cy="72008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6" name="Straight Arrow Connector 14">
            <a:extLst>
              <a:ext uri="{FF2B5EF4-FFF2-40B4-BE49-F238E27FC236}">
                <a16:creationId xmlns:a16="http://schemas.microsoft.com/office/drawing/2014/main" id="{E80FA41A-5FF5-46A8-B1C2-F64043A351F3}"/>
              </a:ext>
            </a:extLst>
          </p:cNvPr>
          <p:cNvCxnSpPr>
            <a:cxnSpLocks/>
          </p:cNvCxnSpPr>
          <p:nvPr/>
        </p:nvCxnSpPr>
        <p:spPr>
          <a:xfrm flipV="1">
            <a:off x="2484939" y="2780928"/>
            <a:ext cx="1402985" cy="1861975"/>
          </a:xfrm>
          <a:prstGeom prst="straightConnector1">
            <a:avLst/>
          </a:prstGeom>
          <a:noFill/>
          <a:ln w="25400" cap="flat" cmpd="sng" algn="ctr">
            <a:solidFill>
              <a:srgbClr val="D96930"/>
            </a:solidFill>
            <a:prstDash val="solid"/>
            <a:tailEnd type="triangle"/>
          </a:ln>
          <a:effectLst/>
        </p:spPr>
      </p:cxnSp>
      <p:sp>
        <p:nvSpPr>
          <p:cNvPr id="7" name="TextBox 15">
            <a:extLst>
              <a:ext uri="{FF2B5EF4-FFF2-40B4-BE49-F238E27FC236}">
                <a16:creationId xmlns:a16="http://schemas.microsoft.com/office/drawing/2014/main" id="{6AAC8AA2-4C5B-48DA-950B-B98A6BFF6556}"/>
              </a:ext>
            </a:extLst>
          </p:cNvPr>
          <p:cNvSpPr txBox="1"/>
          <p:nvPr/>
        </p:nvSpPr>
        <p:spPr>
          <a:xfrm>
            <a:off x="611560" y="4509120"/>
            <a:ext cx="1868139"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一维</a:t>
            </a:r>
            <a:r>
              <a:rPr kumimoji="0" lang="en-US" altLang="zh-CN" sz="1600" kern="0" dirty="0">
                <a:solidFill>
                  <a:schemeClr val="accent2"/>
                </a:solidFill>
                <a:latin typeface="Intel Clear"/>
                <a:ea typeface="Helvetica Neue"/>
                <a:cs typeface="Helvetica Neue"/>
              </a:rPr>
              <a:t>buffer</a:t>
            </a:r>
            <a:r>
              <a:rPr kumimoji="0" lang="zh-CN" altLang="en-US" sz="1600" kern="0" dirty="0">
                <a:solidFill>
                  <a:schemeClr val="accent2"/>
                </a:solidFill>
                <a:latin typeface="Intel Clear"/>
                <a:ea typeface="Helvetica Neue"/>
                <a:cs typeface="Helvetica Neue"/>
              </a:rPr>
              <a:t>的子</a:t>
            </a:r>
            <a:r>
              <a:rPr kumimoji="0" lang="en-US" altLang="zh-CN" sz="1600" kern="0" dirty="0">
                <a:solidFill>
                  <a:schemeClr val="accent2"/>
                </a:solidFill>
                <a:latin typeface="Intel Clear"/>
                <a:ea typeface="Helvetica Neue"/>
                <a:cs typeface="Helvetica Neue"/>
              </a:rPr>
              <a:t>buffer</a:t>
            </a:r>
            <a:endParaRPr kumimoji="0" lang="en-US" sz="1600" kern="0" dirty="0">
              <a:solidFill>
                <a:schemeClr val="accent2"/>
              </a:solidFill>
              <a:latin typeface="Intel Clear"/>
              <a:ea typeface="Helvetica Neue"/>
              <a:cs typeface="Helvetica Neue"/>
            </a:endParaRPr>
          </a:p>
        </p:txBody>
      </p:sp>
      <p:sp>
        <p:nvSpPr>
          <p:cNvPr id="9" name="Rectangle: Rounded Corners 10">
            <a:extLst>
              <a:ext uri="{FF2B5EF4-FFF2-40B4-BE49-F238E27FC236}">
                <a16:creationId xmlns:a16="http://schemas.microsoft.com/office/drawing/2014/main" id="{9FD221B9-E1F2-43DC-A914-99254551EC0F}"/>
              </a:ext>
            </a:extLst>
          </p:cNvPr>
          <p:cNvSpPr/>
          <p:nvPr/>
        </p:nvSpPr>
        <p:spPr>
          <a:xfrm>
            <a:off x="3887924" y="4005064"/>
            <a:ext cx="4284476" cy="72008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10" name="Straight Arrow Connector 14">
            <a:extLst>
              <a:ext uri="{FF2B5EF4-FFF2-40B4-BE49-F238E27FC236}">
                <a16:creationId xmlns:a16="http://schemas.microsoft.com/office/drawing/2014/main" id="{2181F7B7-16CE-4B6B-A123-769A09B10F7A}"/>
              </a:ext>
            </a:extLst>
          </p:cNvPr>
          <p:cNvCxnSpPr>
            <a:cxnSpLocks/>
          </p:cNvCxnSpPr>
          <p:nvPr/>
        </p:nvCxnSpPr>
        <p:spPr>
          <a:xfrm flipV="1">
            <a:off x="2484939" y="4365104"/>
            <a:ext cx="1361741" cy="925872"/>
          </a:xfrm>
          <a:prstGeom prst="straightConnector1">
            <a:avLst/>
          </a:prstGeom>
          <a:noFill/>
          <a:ln w="25400" cap="flat" cmpd="sng" algn="ctr">
            <a:solidFill>
              <a:srgbClr val="D96930"/>
            </a:solidFill>
            <a:prstDash val="solid"/>
            <a:tailEnd type="triangle"/>
          </a:ln>
          <a:effectLst/>
        </p:spPr>
      </p:cxnSp>
      <p:sp>
        <p:nvSpPr>
          <p:cNvPr id="11" name="TextBox 15">
            <a:extLst>
              <a:ext uri="{FF2B5EF4-FFF2-40B4-BE49-F238E27FC236}">
                <a16:creationId xmlns:a16="http://schemas.microsoft.com/office/drawing/2014/main" id="{A04D18C6-4E6A-4449-B46A-272D98F6B087}"/>
              </a:ext>
            </a:extLst>
          </p:cNvPr>
          <p:cNvSpPr txBox="1"/>
          <p:nvPr/>
        </p:nvSpPr>
        <p:spPr>
          <a:xfrm>
            <a:off x="611560" y="5157192"/>
            <a:ext cx="1868139"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二维</a:t>
            </a:r>
            <a:r>
              <a:rPr kumimoji="0" lang="en-US" altLang="zh-CN" sz="1600" kern="0" dirty="0">
                <a:solidFill>
                  <a:schemeClr val="accent2"/>
                </a:solidFill>
                <a:latin typeface="Intel Clear"/>
                <a:ea typeface="Helvetica Neue"/>
                <a:cs typeface="Helvetica Neue"/>
              </a:rPr>
              <a:t>buffer</a:t>
            </a:r>
            <a:r>
              <a:rPr kumimoji="0" lang="zh-CN" altLang="en-US" sz="1600" kern="0" dirty="0">
                <a:solidFill>
                  <a:schemeClr val="accent2"/>
                </a:solidFill>
                <a:latin typeface="Intel Clear"/>
                <a:ea typeface="Helvetica Neue"/>
                <a:cs typeface="Helvetica Neue"/>
              </a:rPr>
              <a:t>的子</a:t>
            </a:r>
            <a:r>
              <a:rPr kumimoji="0" lang="en-US" altLang="zh-CN" sz="1600" kern="0" dirty="0">
                <a:solidFill>
                  <a:schemeClr val="accent2"/>
                </a:solidFill>
                <a:latin typeface="Intel Clear"/>
                <a:ea typeface="Helvetica Neue"/>
                <a:cs typeface="Helvetica Neue"/>
              </a:rPr>
              <a:t>buffer</a:t>
            </a:r>
            <a:endParaRPr kumimoji="0" lang="en-US" sz="1600" kern="0" dirty="0">
              <a:solidFill>
                <a:schemeClr val="accent2"/>
              </a:solidFill>
              <a:latin typeface="Intel Clear"/>
              <a:ea typeface="Helvetica Neue"/>
              <a:cs typeface="Helvetica Neue"/>
            </a:endParaRPr>
          </a:p>
        </p:txBody>
      </p:sp>
    </p:spTree>
    <p:extLst>
      <p:ext uri="{BB962C8B-B14F-4D97-AF65-F5344CB8AC3E}">
        <p14:creationId xmlns:p14="http://schemas.microsoft.com/office/powerpoint/2010/main" val="258029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7" grpId="0"/>
      <p:bldP spid="9" grpId="0" animBg="1"/>
      <p:bldP spid="11"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sub_buffer</a:t>
            </a:r>
            <a:r>
              <a:rPr lang="zh-CN" altLang="en-US" dirty="0"/>
              <a:t>例</a:t>
            </a:r>
          </a:p>
        </p:txBody>
      </p:sp>
      <p:sp>
        <p:nvSpPr>
          <p:cNvPr id="3" name="内容占位符 2"/>
          <p:cNvSpPr>
            <a:spLocks noGrp="1"/>
          </p:cNvSpPr>
          <p:nvPr>
            <p:ph idx="1"/>
          </p:nvPr>
        </p:nvSpPr>
        <p:spPr>
          <a:xfrm>
            <a:off x="179512" y="1371600"/>
            <a:ext cx="8744174" cy="4724400"/>
          </a:xfrm>
        </p:spPr>
        <p:txBody>
          <a:bodyPr/>
          <a:lstStyle/>
          <a:p>
            <a:pPr marL="0" indent="0">
              <a:buNone/>
            </a:pPr>
            <a:endParaRPr lang="en-US" altLang="zh-CN" sz="2400" dirty="0"/>
          </a:p>
        </p:txBody>
      </p:sp>
      <p:sp>
        <p:nvSpPr>
          <p:cNvPr id="17" name="Rectangle: Single Corner Snipped 9"/>
          <p:cNvSpPr/>
          <p:nvPr/>
        </p:nvSpPr>
        <p:spPr>
          <a:xfrm>
            <a:off x="2195736" y="1371600"/>
            <a:ext cx="6912769" cy="4793704"/>
          </a:xfrm>
          <a:prstGeom prst="snip1Rect">
            <a:avLst>
              <a:gd name="adj" fmla="val 2758"/>
            </a:avLst>
          </a:prstGeom>
          <a:solidFill>
            <a:srgbClr val="DCDCDC"/>
          </a:solidFill>
          <a:ln w="25400" cap="flat" cmpd="sng" algn="ctr">
            <a:solidFill>
              <a:srgbClr val="000000"/>
            </a:solidFill>
            <a:prstDash val="solid"/>
          </a:ln>
          <a:effectLst/>
        </p:spPr>
        <p:txBody>
          <a:bodyPr rtlCol="0" anchor="ctr"/>
          <a:lstStyle/>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main</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const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64</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const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num1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const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num2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kern="0" dirty="0">
                <a:solidFill>
                  <a:srgbClr val="000000"/>
                </a:solidFill>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altLang="zh-CN" sz="12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p>
          <a:p>
            <a:pPr marL="0" marR="0" lvl="0" indent="0" algn="l" defTabSz="1219169" rtl="0" eaLnBrk="1" fontAlgn="auto" latinLnBrk="0" hangingPunct="0">
              <a:spcBef>
                <a:spcPts val="0"/>
              </a:spcBef>
              <a:spcAft>
                <a:spcPts val="0"/>
              </a:spcAft>
              <a:buClrTx/>
              <a:buSzTx/>
              <a:buFontTx/>
              <a:buNone/>
              <a:tabLst/>
              <a:defRPr/>
            </a:pPr>
            <a:b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buffer&lt;</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(B,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range{ N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buffer&lt;</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(B,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range{ N /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b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queue q1;</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submit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accessor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a1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a1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num1;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queue q2;</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submit</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accessor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a2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B2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a2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num2;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host_accessor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b1</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(B1,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read_only</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host_accessor</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b2</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(B2, </a:t>
            </a:r>
            <a:r>
              <a:rPr kumimoji="0" lang="en-US" altLang="zh-CN"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read_only</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spcBef>
                <a:spcPts val="0"/>
              </a:spcBef>
              <a:spcAft>
                <a:spcPts val="0"/>
              </a:spcAft>
              <a:buClrTx/>
              <a:buSzTx/>
              <a:buFontTx/>
              <a:buNone/>
              <a:tabLst/>
              <a:defRPr/>
            </a:pPr>
            <a:b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return</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cxnSp>
        <p:nvCxnSpPr>
          <p:cNvPr id="6" name="Straight Arrow Connector 14">
            <a:extLst>
              <a:ext uri="{FF2B5EF4-FFF2-40B4-BE49-F238E27FC236}">
                <a16:creationId xmlns:a16="http://schemas.microsoft.com/office/drawing/2014/main" id="{E80FA41A-5FF5-46A8-B1C2-F64043A351F3}"/>
              </a:ext>
            </a:extLst>
          </p:cNvPr>
          <p:cNvCxnSpPr>
            <a:cxnSpLocks/>
          </p:cNvCxnSpPr>
          <p:nvPr/>
        </p:nvCxnSpPr>
        <p:spPr>
          <a:xfrm>
            <a:off x="1868139" y="2564904"/>
            <a:ext cx="658044" cy="0"/>
          </a:xfrm>
          <a:prstGeom prst="straightConnector1">
            <a:avLst/>
          </a:prstGeom>
          <a:noFill/>
          <a:ln w="25400" cap="flat" cmpd="sng" algn="ctr">
            <a:solidFill>
              <a:srgbClr val="D96930"/>
            </a:solidFill>
            <a:prstDash val="solid"/>
            <a:tailEnd type="triangle"/>
          </a:ln>
          <a:effectLst/>
        </p:spPr>
      </p:cxnSp>
      <p:sp>
        <p:nvSpPr>
          <p:cNvPr id="7" name="TextBox 15">
            <a:extLst>
              <a:ext uri="{FF2B5EF4-FFF2-40B4-BE49-F238E27FC236}">
                <a16:creationId xmlns:a16="http://schemas.microsoft.com/office/drawing/2014/main" id="{6AAC8AA2-4C5B-48DA-950B-B98A6BFF6556}"/>
              </a:ext>
            </a:extLst>
          </p:cNvPr>
          <p:cNvSpPr txBox="1"/>
          <p:nvPr/>
        </p:nvSpPr>
        <p:spPr>
          <a:xfrm>
            <a:off x="395536" y="2420888"/>
            <a:ext cx="1440160"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向量的</a:t>
            </a:r>
            <a:r>
              <a:rPr kumimoji="0" lang="en-US" altLang="zh-CN" sz="1600" kern="0" dirty="0">
                <a:solidFill>
                  <a:schemeClr val="accent2"/>
                </a:solidFill>
                <a:latin typeface="Intel Clear"/>
                <a:ea typeface="Helvetica Neue"/>
                <a:cs typeface="Helvetica Neue"/>
              </a:rPr>
              <a:t>buffer</a:t>
            </a:r>
            <a:endParaRPr kumimoji="0" lang="en-US" sz="1600" kern="0" dirty="0">
              <a:solidFill>
                <a:schemeClr val="accent2"/>
              </a:solidFill>
              <a:latin typeface="Intel Clear"/>
              <a:ea typeface="Helvetica Neue"/>
              <a:cs typeface="Helvetica Neue"/>
            </a:endParaRPr>
          </a:p>
        </p:txBody>
      </p:sp>
      <p:sp>
        <p:nvSpPr>
          <p:cNvPr id="9" name="Rectangle: Rounded Corners 10">
            <a:extLst>
              <a:ext uri="{FF2B5EF4-FFF2-40B4-BE49-F238E27FC236}">
                <a16:creationId xmlns:a16="http://schemas.microsoft.com/office/drawing/2014/main" id="{9FD221B9-E1F2-43DC-A914-99254551EC0F}"/>
              </a:ext>
            </a:extLst>
          </p:cNvPr>
          <p:cNvSpPr/>
          <p:nvPr/>
        </p:nvSpPr>
        <p:spPr>
          <a:xfrm>
            <a:off x="2564444" y="2776736"/>
            <a:ext cx="3231692" cy="436240"/>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10" name="Straight Arrow Connector 14">
            <a:extLst>
              <a:ext uri="{FF2B5EF4-FFF2-40B4-BE49-F238E27FC236}">
                <a16:creationId xmlns:a16="http://schemas.microsoft.com/office/drawing/2014/main" id="{2181F7B7-16CE-4B6B-A123-769A09B10F7A}"/>
              </a:ext>
            </a:extLst>
          </p:cNvPr>
          <p:cNvCxnSpPr>
            <a:cxnSpLocks/>
          </p:cNvCxnSpPr>
          <p:nvPr/>
        </p:nvCxnSpPr>
        <p:spPr>
          <a:xfrm>
            <a:off x="1873379" y="3079043"/>
            <a:ext cx="652804" cy="0"/>
          </a:xfrm>
          <a:prstGeom prst="straightConnector1">
            <a:avLst/>
          </a:prstGeom>
          <a:noFill/>
          <a:ln w="25400" cap="flat" cmpd="sng" algn="ctr">
            <a:solidFill>
              <a:srgbClr val="D96930"/>
            </a:solidFill>
            <a:prstDash val="solid"/>
            <a:tailEnd type="triangle"/>
          </a:ln>
          <a:effectLst/>
        </p:spPr>
      </p:cxnSp>
      <p:sp>
        <p:nvSpPr>
          <p:cNvPr id="11" name="TextBox 15">
            <a:extLst>
              <a:ext uri="{FF2B5EF4-FFF2-40B4-BE49-F238E27FC236}">
                <a16:creationId xmlns:a16="http://schemas.microsoft.com/office/drawing/2014/main" id="{A04D18C6-4E6A-4449-B46A-272D98F6B087}"/>
              </a:ext>
            </a:extLst>
          </p:cNvPr>
          <p:cNvSpPr txBox="1"/>
          <p:nvPr/>
        </p:nvSpPr>
        <p:spPr>
          <a:xfrm>
            <a:off x="0" y="2945259"/>
            <a:ext cx="1868139"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创建子</a:t>
            </a:r>
            <a:r>
              <a:rPr kumimoji="0" lang="en-US" altLang="zh-CN" sz="1600" kern="0" dirty="0">
                <a:solidFill>
                  <a:schemeClr val="accent2"/>
                </a:solidFill>
                <a:latin typeface="Intel Clear"/>
                <a:ea typeface="Helvetica Neue"/>
                <a:cs typeface="Helvetica Neue"/>
              </a:rPr>
              <a:t>buffer B1, B2</a:t>
            </a:r>
            <a:endParaRPr kumimoji="0" lang="en-US" sz="1600" kern="0" dirty="0">
              <a:solidFill>
                <a:schemeClr val="accent2"/>
              </a:solidFill>
              <a:latin typeface="Intel Clear"/>
              <a:ea typeface="Helvetica Neue"/>
              <a:cs typeface="Helvetica Neue"/>
            </a:endParaRPr>
          </a:p>
        </p:txBody>
      </p:sp>
      <p:sp>
        <p:nvSpPr>
          <p:cNvPr id="19" name="Rectangle: Rounded Corners 10">
            <a:extLst>
              <a:ext uri="{FF2B5EF4-FFF2-40B4-BE49-F238E27FC236}">
                <a16:creationId xmlns:a16="http://schemas.microsoft.com/office/drawing/2014/main" id="{14B77689-84A2-4C3E-9608-3CF6BBD36AA7}"/>
              </a:ext>
            </a:extLst>
          </p:cNvPr>
          <p:cNvSpPr/>
          <p:nvPr/>
        </p:nvSpPr>
        <p:spPr>
          <a:xfrm>
            <a:off x="2864310" y="3716397"/>
            <a:ext cx="4443993" cy="414734"/>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20" name="Straight Arrow Connector 14">
            <a:extLst>
              <a:ext uri="{FF2B5EF4-FFF2-40B4-BE49-F238E27FC236}">
                <a16:creationId xmlns:a16="http://schemas.microsoft.com/office/drawing/2014/main" id="{3638C9C1-2FE2-43FC-AFF9-33D1DF00A031}"/>
              </a:ext>
            </a:extLst>
          </p:cNvPr>
          <p:cNvCxnSpPr>
            <a:cxnSpLocks/>
          </p:cNvCxnSpPr>
          <p:nvPr/>
        </p:nvCxnSpPr>
        <p:spPr>
          <a:xfrm>
            <a:off x="1903635" y="3922824"/>
            <a:ext cx="922415" cy="0"/>
          </a:xfrm>
          <a:prstGeom prst="straightConnector1">
            <a:avLst/>
          </a:prstGeom>
          <a:noFill/>
          <a:ln w="25400" cap="flat" cmpd="sng" algn="ctr">
            <a:solidFill>
              <a:srgbClr val="D96930"/>
            </a:solidFill>
            <a:prstDash val="solid"/>
            <a:tailEnd type="triangle"/>
          </a:ln>
          <a:effectLst/>
        </p:spPr>
      </p:cxnSp>
      <p:sp>
        <p:nvSpPr>
          <p:cNvPr id="21" name="TextBox 15">
            <a:extLst>
              <a:ext uri="{FF2B5EF4-FFF2-40B4-BE49-F238E27FC236}">
                <a16:creationId xmlns:a16="http://schemas.microsoft.com/office/drawing/2014/main" id="{E108C49E-A470-4AB4-8C6C-8428FAA120D9}"/>
              </a:ext>
            </a:extLst>
          </p:cNvPr>
          <p:cNvSpPr txBox="1"/>
          <p:nvPr/>
        </p:nvSpPr>
        <p:spPr>
          <a:xfrm>
            <a:off x="35496" y="3789040"/>
            <a:ext cx="1868139"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用</a:t>
            </a:r>
            <a:r>
              <a:rPr kumimoji="0" lang="en-US" altLang="zh-CN" sz="1600" kern="0" dirty="0">
                <a:solidFill>
                  <a:schemeClr val="accent2"/>
                </a:solidFill>
                <a:latin typeface="Intel Clear"/>
                <a:ea typeface="Helvetica Neue"/>
                <a:cs typeface="Helvetica Neue"/>
              </a:rPr>
              <a:t> B1</a:t>
            </a:r>
            <a:r>
              <a:rPr kumimoji="0" lang="zh-CN" altLang="en-US" sz="1600" kern="0" dirty="0">
                <a:solidFill>
                  <a:schemeClr val="accent2"/>
                </a:solidFill>
                <a:latin typeface="Intel Clear"/>
                <a:ea typeface="Helvetica Neue"/>
                <a:cs typeface="Helvetica Neue"/>
              </a:rPr>
              <a:t>提交</a:t>
            </a:r>
            <a:r>
              <a:rPr kumimoji="0" lang="en-US" altLang="zh-CN" sz="1600" kern="0" dirty="0">
                <a:solidFill>
                  <a:schemeClr val="accent2"/>
                </a:solidFill>
                <a:latin typeface="Intel Clear"/>
                <a:ea typeface="Helvetica Neue"/>
                <a:cs typeface="Helvetica Neue"/>
              </a:rPr>
              <a:t>q1</a:t>
            </a:r>
            <a:endParaRPr kumimoji="0" lang="en-US" sz="1600" kern="0" dirty="0">
              <a:solidFill>
                <a:schemeClr val="accent2"/>
              </a:solidFill>
              <a:latin typeface="Intel Clear"/>
              <a:ea typeface="Helvetica Neue"/>
              <a:cs typeface="Helvetica Neue"/>
            </a:endParaRPr>
          </a:p>
        </p:txBody>
      </p:sp>
      <p:sp>
        <p:nvSpPr>
          <p:cNvPr id="23" name="Rectangle: Rounded Corners 10">
            <a:extLst>
              <a:ext uri="{FF2B5EF4-FFF2-40B4-BE49-F238E27FC236}">
                <a16:creationId xmlns:a16="http://schemas.microsoft.com/office/drawing/2014/main" id="{6BA57C1C-2651-4B2F-A62C-F0345F82D9DE}"/>
              </a:ext>
            </a:extLst>
          </p:cNvPr>
          <p:cNvSpPr/>
          <p:nvPr/>
        </p:nvSpPr>
        <p:spPr>
          <a:xfrm>
            <a:off x="2864310" y="4623381"/>
            <a:ext cx="4443993" cy="414734"/>
          </a:xfrm>
          <a:prstGeom prst="roundRect">
            <a:avLst>
              <a:gd name="adj" fmla="val 6871"/>
            </a:avLst>
          </a:prstGeom>
          <a:noFill/>
          <a:ln w="19050" cap="flat" cmpd="sng" algn="ctr">
            <a:solidFill>
              <a:srgbClr val="D9693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500" b="0" i="0" u="none" strike="noStrike" kern="0" cap="none" spc="0" normalizeH="0" baseline="0" noProof="0">
              <a:ln>
                <a:noFill/>
              </a:ln>
              <a:solidFill>
                <a:srgbClr val="000000"/>
              </a:solidFill>
              <a:effectLst/>
              <a:uLnTx/>
              <a:uFillTx/>
              <a:latin typeface="Intel Clear"/>
              <a:sym typeface="Helvetica Neue" panose="02000503000000020004"/>
            </a:endParaRPr>
          </a:p>
        </p:txBody>
      </p:sp>
      <p:cxnSp>
        <p:nvCxnSpPr>
          <p:cNvPr id="24" name="Straight Arrow Connector 14">
            <a:extLst>
              <a:ext uri="{FF2B5EF4-FFF2-40B4-BE49-F238E27FC236}">
                <a16:creationId xmlns:a16="http://schemas.microsoft.com/office/drawing/2014/main" id="{FD30F6F3-EFB6-4CDD-9CCD-C0F941E90702}"/>
              </a:ext>
            </a:extLst>
          </p:cNvPr>
          <p:cNvCxnSpPr>
            <a:cxnSpLocks/>
          </p:cNvCxnSpPr>
          <p:nvPr/>
        </p:nvCxnSpPr>
        <p:spPr>
          <a:xfrm>
            <a:off x="1903635" y="4829808"/>
            <a:ext cx="922415" cy="0"/>
          </a:xfrm>
          <a:prstGeom prst="straightConnector1">
            <a:avLst/>
          </a:prstGeom>
          <a:noFill/>
          <a:ln w="25400" cap="flat" cmpd="sng" algn="ctr">
            <a:solidFill>
              <a:srgbClr val="D96930"/>
            </a:solidFill>
            <a:prstDash val="solid"/>
            <a:tailEnd type="triangle"/>
          </a:ln>
          <a:effectLst/>
        </p:spPr>
      </p:cxnSp>
      <p:sp>
        <p:nvSpPr>
          <p:cNvPr id="25" name="TextBox 15">
            <a:extLst>
              <a:ext uri="{FF2B5EF4-FFF2-40B4-BE49-F238E27FC236}">
                <a16:creationId xmlns:a16="http://schemas.microsoft.com/office/drawing/2014/main" id="{14623932-E5CE-48A1-87B9-08BE65001CD9}"/>
              </a:ext>
            </a:extLst>
          </p:cNvPr>
          <p:cNvSpPr txBox="1"/>
          <p:nvPr/>
        </p:nvSpPr>
        <p:spPr>
          <a:xfrm>
            <a:off x="35496" y="4696024"/>
            <a:ext cx="1868139"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用</a:t>
            </a:r>
            <a:r>
              <a:rPr kumimoji="0" lang="en-US" altLang="zh-CN" sz="1600" kern="0" dirty="0">
                <a:solidFill>
                  <a:schemeClr val="accent2"/>
                </a:solidFill>
                <a:latin typeface="Intel Clear"/>
                <a:ea typeface="Helvetica Neue"/>
                <a:cs typeface="Helvetica Neue"/>
              </a:rPr>
              <a:t> B2</a:t>
            </a:r>
            <a:r>
              <a:rPr kumimoji="0" lang="zh-CN" altLang="en-US" sz="1600" kern="0" dirty="0">
                <a:solidFill>
                  <a:schemeClr val="accent2"/>
                </a:solidFill>
                <a:latin typeface="Intel Clear"/>
                <a:ea typeface="Helvetica Neue"/>
                <a:cs typeface="Helvetica Neue"/>
              </a:rPr>
              <a:t>提交</a:t>
            </a:r>
            <a:r>
              <a:rPr kumimoji="0" lang="en-US" altLang="zh-CN" sz="1600" kern="0" dirty="0">
                <a:solidFill>
                  <a:schemeClr val="accent2"/>
                </a:solidFill>
                <a:latin typeface="Intel Clear"/>
                <a:ea typeface="Helvetica Neue"/>
                <a:cs typeface="Helvetica Neue"/>
              </a:rPr>
              <a:t>q2</a:t>
            </a:r>
            <a:endParaRPr kumimoji="0" lang="en-US" sz="1600" kern="0" dirty="0">
              <a:solidFill>
                <a:schemeClr val="accent2"/>
              </a:solidFill>
              <a:latin typeface="Intel Clear"/>
              <a:ea typeface="Helvetica Neue"/>
              <a:cs typeface="Helvetica Neue"/>
            </a:endParaRPr>
          </a:p>
        </p:txBody>
      </p:sp>
      <p:cxnSp>
        <p:nvCxnSpPr>
          <p:cNvPr id="26" name="Straight Arrow Connector 14">
            <a:extLst>
              <a:ext uri="{FF2B5EF4-FFF2-40B4-BE49-F238E27FC236}">
                <a16:creationId xmlns:a16="http://schemas.microsoft.com/office/drawing/2014/main" id="{FE37B09C-E092-4847-A585-3F5DFC34F315}"/>
              </a:ext>
            </a:extLst>
          </p:cNvPr>
          <p:cNvCxnSpPr>
            <a:cxnSpLocks/>
          </p:cNvCxnSpPr>
          <p:nvPr/>
        </p:nvCxnSpPr>
        <p:spPr>
          <a:xfrm>
            <a:off x="1903635" y="5381248"/>
            <a:ext cx="658044" cy="0"/>
          </a:xfrm>
          <a:prstGeom prst="straightConnector1">
            <a:avLst/>
          </a:prstGeom>
          <a:noFill/>
          <a:ln w="25400" cap="flat" cmpd="sng" algn="ctr">
            <a:solidFill>
              <a:srgbClr val="D96930"/>
            </a:solidFill>
            <a:prstDash val="solid"/>
            <a:tailEnd type="triangle"/>
          </a:ln>
          <a:effectLst/>
        </p:spPr>
      </p:cxnSp>
      <p:sp>
        <p:nvSpPr>
          <p:cNvPr id="27" name="TextBox 15">
            <a:extLst>
              <a:ext uri="{FF2B5EF4-FFF2-40B4-BE49-F238E27FC236}">
                <a16:creationId xmlns:a16="http://schemas.microsoft.com/office/drawing/2014/main" id="{8C0BE22B-F8BC-4469-93DB-6D3905D80C98}"/>
              </a:ext>
            </a:extLst>
          </p:cNvPr>
          <p:cNvSpPr txBox="1"/>
          <p:nvPr/>
        </p:nvSpPr>
        <p:spPr>
          <a:xfrm>
            <a:off x="431032" y="5237232"/>
            <a:ext cx="1440160" cy="246221"/>
          </a:xfrm>
          <a:prstGeom prst="rect">
            <a:avLst/>
          </a:prstGeom>
          <a:noFill/>
        </p:spPr>
        <p:txBody>
          <a:bodyPr vert="horz" wrap="square" lIns="0" tIns="0" rIns="0" bIns="0" rtlCol="0">
            <a:spAutoFit/>
          </a:bodyPr>
          <a:lstStyle/>
          <a:p>
            <a:pPr algn="r"/>
            <a:r>
              <a:rPr kumimoji="0" lang="zh-CN" altLang="en-US" sz="1600" kern="0" dirty="0">
                <a:solidFill>
                  <a:schemeClr val="accent2"/>
                </a:solidFill>
                <a:latin typeface="Intel Clear"/>
                <a:ea typeface="Helvetica Neue"/>
                <a:cs typeface="Helvetica Neue"/>
              </a:rPr>
              <a:t>创建主机访问器</a:t>
            </a:r>
            <a:endParaRPr kumimoji="0" lang="en-US" sz="1600" kern="0" dirty="0">
              <a:solidFill>
                <a:schemeClr val="accent2"/>
              </a:solidFill>
              <a:latin typeface="Intel Clear"/>
              <a:ea typeface="Helvetica Neue"/>
              <a:cs typeface="Helvetica Neue"/>
            </a:endParaRPr>
          </a:p>
        </p:txBody>
      </p:sp>
    </p:spTree>
    <p:extLst>
      <p:ext uri="{BB962C8B-B14F-4D97-AF65-F5344CB8AC3E}">
        <p14:creationId xmlns:p14="http://schemas.microsoft.com/office/powerpoint/2010/main" val="269560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1" grpId="0"/>
      <p:bldP spid="19" grpId="0" animBg="1"/>
      <p:bldP spid="21" grpId="0"/>
      <p:bldP spid="23" grpId="0" animBg="1"/>
      <p:bldP spid="25" grpId="0"/>
      <p:bldP spid="2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A21E90-BABA-465F-919A-5A5D889244F4}"/>
              </a:ext>
            </a:extLst>
          </p:cNvPr>
          <p:cNvSpPr>
            <a:spLocks noGrp="1"/>
          </p:cNvSpPr>
          <p:nvPr>
            <p:ph type="title"/>
          </p:nvPr>
        </p:nvSpPr>
        <p:spPr/>
        <p:txBody>
          <a:bodyPr/>
          <a:lstStyle/>
          <a:p>
            <a:r>
              <a:rPr lang="zh-CN" altLang="en-US" dirty="0"/>
              <a:t>统一共享内存</a:t>
            </a:r>
          </a:p>
        </p:txBody>
      </p:sp>
      <p:sp>
        <p:nvSpPr>
          <p:cNvPr id="3" name="内容占位符 2">
            <a:extLst>
              <a:ext uri="{FF2B5EF4-FFF2-40B4-BE49-F238E27FC236}">
                <a16:creationId xmlns:a16="http://schemas.microsoft.com/office/drawing/2014/main" id="{D7A465D5-6A51-44C3-AB8A-2A0E0A173399}"/>
              </a:ext>
            </a:extLst>
          </p:cNvPr>
          <p:cNvSpPr>
            <a:spLocks noGrp="1"/>
          </p:cNvSpPr>
          <p:nvPr>
            <p:ph idx="1"/>
          </p:nvPr>
        </p:nvSpPr>
        <p:spPr/>
        <p:txBody>
          <a:bodyPr/>
          <a:lstStyle/>
          <a:p>
            <a:r>
              <a:rPr lang="en-US" altLang="zh-CN" dirty="0"/>
              <a:t>USM</a:t>
            </a:r>
            <a:r>
              <a:rPr lang="zh-CN" altLang="en-US" dirty="0"/>
              <a:t>可设置如下：</a:t>
            </a:r>
            <a:endParaRPr lang="en-US" altLang="zh-CN" dirty="0"/>
          </a:p>
          <a:p>
            <a:pPr marL="0" indent="0">
              <a:buNone/>
            </a:pP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int *data =  </a:t>
            </a:r>
            <a:r>
              <a:rPr kumimoji="0" lang="en-US" altLang="zh-CN" sz="2000" kern="1200" dirty="0" err="1">
                <a:solidFill>
                  <a:schemeClr val="accent6"/>
                </a:solidFill>
                <a:latin typeface="Consolas" panose="020B0609020204030204" pitchFamily="49" charset="0"/>
                <a:cs typeface="Intel Clear" panose="020B0604020203020204" pitchFamily="34" charset="0"/>
                <a:sym typeface="Helvetica"/>
              </a:rPr>
              <a:t>malloc_shared</a:t>
            </a: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&lt;int&gt;(N, q);</a:t>
            </a:r>
            <a:endParaRPr lang="en-US" altLang="zh-CN" dirty="0">
              <a:solidFill>
                <a:schemeClr val="accent6"/>
              </a:solidFill>
            </a:endParaRPr>
          </a:p>
          <a:p>
            <a:endParaRPr lang="en-US" altLang="zh-CN" dirty="0"/>
          </a:p>
          <a:p>
            <a:r>
              <a:rPr lang="zh-CN" altLang="en-US" dirty="0"/>
              <a:t>也可使用更熟悉的</a:t>
            </a:r>
            <a:r>
              <a:rPr lang="en-US" altLang="zh-CN" dirty="0"/>
              <a:t>C++/C</a:t>
            </a:r>
            <a:r>
              <a:rPr lang="zh-CN" altLang="en-US" dirty="0"/>
              <a:t>风格</a:t>
            </a:r>
            <a:r>
              <a:rPr lang="en-US" altLang="zh-CN" dirty="0"/>
              <a:t>malloc</a:t>
            </a:r>
          </a:p>
          <a:p>
            <a:pPr marL="0" indent="0">
              <a:buNone/>
            </a:pP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int *data = </a:t>
            </a:r>
            <a:r>
              <a:rPr kumimoji="0" lang="en-US" altLang="zh-CN" sz="2000" kern="1200" dirty="0" err="1">
                <a:solidFill>
                  <a:schemeClr val="accent6"/>
                </a:solidFill>
                <a:latin typeface="Consolas" panose="020B0609020204030204" pitchFamily="49" charset="0"/>
                <a:cs typeface="Intel Clear" panose="020B0604020203020204" pitchFamily="34" charset="0"/>
                <a:sym typeface="Helvetica"/>
              </a:rPr>
              <a:t>static_cast</a:t>
            </a: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&lt;int*&gt;(</a:t>
            </a:r>
            <a:r>
              <a:rPr kumimoji="0" lang="en-US" altLang="zh-CN" sz="2000" kern="1200" dirty="0" err="1">
                <a:solidFill>
                  <a:schemeClr val="accent6"/>
                </a:solidFill>
                <a:latin typeface="Consolas" panose="020B0609020204030204" pitchFamily="49" charset="0"/>
                <a:cs typeface="Intel Clear" panose="020B0604020203020204" pitchFamily="34" charset="0"/>
                <a:sym typeface="Helvetica"/>
              </a:rPr>
              <a:t>malloc_shared</a:t>
            </a: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(N *</a:t>
            </a:r>
          </a:p>
          <a:p>
            <a:pPr marL="0" indent="0">
              <a:buNone/>
            </a:pP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					</a:t>
            </a:r>
            <a:r>
              <a:rPr kumimoji="0" lang="en-US" altLang="zh-CN" sz="2000" kern="1200" dirty="0" err="1">
                <a:solidFill>
                  <a:schemeClr val="accent6"/>
                </a:solidFill>
                <a:latin typeface="Consolas" panose="020B0609020204030204" pitchFamily="49" charset="0"/>
                <a:cs typeface="Intel Clear" panose="020B0604020203020204" pitchFamily="34" charset="0"/>
                <a:sym typeface="Helvetica"/>
              </a:rPr>
              <a:t>sizeof</a:t>
            </a:r>
            <a:r>
              <a:rPr kumimoji="0" lang="en-US" altLang="zh-CN" sz="2000" kern="1200" dirty="0">
                <a:solidFill>
                  <a:schemeClr val="accent6"/>
                </a:solidFill>
                <a:latin typeface="Consolas" panose="020B0609020204030204" pitchFamily="49" charset="0"/>
                <a:cs typeface="Intel Clear" panose="020B0604020203020204" pitchFamily="34" charset="0"/>
                <a:sym typeface="Helvetica"/>
              </a:rPr>
              <a:t>(int), q));</a:t>
            </a:r>
            <a:endParaRPr lang="zh-CN" altLang="en-US" dirty="0">
              <a:solidFill>
                <a:schemeClr val="accent6"/>
              </a:solidFill>
            </a:endParaRPr>
          </a:p>
        </p:txBody>
      </p:sp>
    </p:spTree>
    <p:extLst>
      <p:ext uri="{BB962C8B-B14F-4D97-AF65-F5344CB8AC3E}">
        <p14:creationId xmlns:p14="http://schemas.microsoft.com/office/powerpoint/2010/main" val="37780590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712C2-5C36-4616-8428-6B4B0BDC8F40}"/>
              </a:ext>
            </a:extLst>
          </p:cNvPr>
          <p:cNvSpPr>
            <a:spLocks noGrp="1"/>
          </p:cNvSpPr>
          <p:nvPr>
            <p:ph type="title"/>
          </p:nvPr>
        </p:nvSpPr>
        <p:spPr/>
        <p:txBody>
          <a:bodyPr/>
          <a:lstStyle/>
          <a:p>
            <a:r>
              <a:rPr lang="zh-CN" altLang="en-US" dirty="0"/>
              <a:t>为什么使用</a:t>
            </a:r>
            <a:r>
              <a:rPr lang="en-US" altLang="zh-CN" dirty="0"/>
              <a:t>USM</a:t>
            </a:r>
            <a:r>
              <a:rPr lang="zh-CN" altLang="en-US" dirty="0"/>
              <a:t>？</a:t>
            </a:r>
          </a:p>
        </p:txBody>
      </p:sp>
      <p:sp>
        <p:nvSpPr>
          <p:cNvPr id="3" name="内容占位符 2">
            <a:extLst>
              <a:ext uri="{FF2B5EF4-FFF2-40B4-BE49-F238E27FC236}">
                <a16:creationId xmlns:a16="http://schemas.microsoft.com/office/drawing/2014/main" id="{1E0E5FD7-3F70-40A4-8954-F4DF0379A36A}"/>
              </a:ext>
            </a:extLst>
          </p:cNvPr>
          <p:cNvSpPr>
            <a:spLocks noGrp="1"/>
          </p:cNvSpPr>
          <p:nvPr>
            <p:ph idx="1"/>
          </p:nvPr>
        </p:nvSpPr>
        <p:spPr/>
        <p:txBody>
          <a:bodyPr/>
          <a:lstStyle/>
          <a:p>
            <a:r>
              <a:rPr lang="en-US" altLang="zh-CN" sz="2800" dirty="0"/>
              <a:t>SYCL</a:t>
            </a:r>
            <a:r>
              <a:rPr lang="zh-CN" altLang="en-US" sz="2800" dirty="0"/>
              <a:t>标准提供一种</a:t>
            </a:r>
            <a:r>
              <a:rPr lang="zh-CN" altLang="en-US" sz="2800" dirty="0">
                <a:latin typeface="黑体" panose="02010609060101010101" pitchFamily="49" charset="-122"/>
                <a:ea typeface="黑体" panose="02010609060101010101" pitchFamily="49" charset="-122"/>
              </a:rPr>
              <a:t>缓冲内存抽象</a:t>
            </a:r>
            <a:endParaRPr lang="en-US" altLang="zh-CN" sz="2800" dirty="0">
              <a:latin typeface="黑体" panose="02010609060101010101" pitchFamily="49" charset="-122"/>
              <a:ea typeface="黑体" panose="02010609060101010101" pitchFamily="49" charset="-122"/>
            </a:endParaRPr>
          </a:p>
          <a:p>
            <a:pPr lvl="1"/>
            <a:r>
              <a:rPr lang="zh-CN" altLang="en-US" sz="2400" dirty="0"/>
              <a:t>强大、优雅地表达数据依赖</a:t>
            </a:r>
            <a:endParaRPr lang="en-US" altLang="zh-CN" sz="2400" dirty="0"/>
          </a:p>
          <a:p>
            <a:r>
              <a:rPr lang="zh-CN" altLang="en-US" sz="2800" dirty="0"/>
              <a:t>但是</a:t>
            </a:r>
            <a:endParaRPr lang="en-US" altLang="zh-CN" sz="2800" dirty="0"/>
          </a:p>
          <a:p>
            <a:pPr lvl="1"/>
            <a:r>
              <a:rPr lang="zh-CN" altLang="en-US" sz="2400" dirty="0"/>
              <a:t>在一个</a:t>
            </a:r>
            <a:r>
              <a:rPr lang="en-US" altLang="zh-CN" sz="2400" dirty="0"/>
              <a:t>C++</a:t>
            </a:r>
            <a:r>
              <a:rPr lang="zh-CN" altLang="en-US" sz="2400" dirty="0"/>
              <a:t>程序中将所有指针和数组替换为缓冲，对程序员来说是一个负担</a:t>
            </a:r>
            <a:endParaRPr lang="en-US" altLang="zh-CN" sz="2400" dirty="0"/>
          </a:p>
          <a:p>
            <a:r>
              <a:rPr lang="zh-CN" altLang="en-US" sz="2800" dirty="0"/>
              <a:t>在</a:t>
            </a:r>
            <a:r>
              <a:rPr lang="en-US" altLang="zh-CN" sz="2800" dirty="0"/>
              <a:t>DPC++</a:t>
            </a:r>
            <a:r>
              <a:rPr lang="zh-CN" altLang="en-US" sz="2800" dirty="0"/>
              <a:t>中，</a:t>
            </a:r>
            <a:r>
              <a:rPr lang="en-US" altLang="zh-CN" sz="2800" dirty="0"/>
              <a:t>USM</a:t>
            </a:r>
            <a:r>
              <a:rPr lang="zh-CN" altLang="en-US" sz="2800" dirty="0"/>
              <a:t>提供了一种基于指针的替代</a:t>
            </a:r>
            <a:endParaRPr lang="en-US" altLang="zh-CN" sz="2800" dirty="0"/>
          </a:p>
          <a:p>
            <a:pPr lvl="1"/>
            <a:r>
              <a:rPr lang="zh-CN" altLang="en-US" sz="2400" dirty="0">
                <a:latin typeface="黑体" panose="02010609060101010101" pitchFamily="49" charset="-122"/>
                <a:ea typeface="黑体" panose="02010609060101010101" pitchFamily="49" charset="-122"/>
              </a:rPr>
              <a:t>简化了移植</a:t>
            </a:r>
            <a:r>
              <a:rPr lang="zh-CN" altLang="en-US" sz="2400" dirty="0"/>
              <a:t>程序到加速器</a:t>
            </a:r>
            <a:endParaRPr lang="en-US" altLang="zh-CN" sz="2400" dirty="0"/>
          </a:p>
          <a:p>
            <a:pPr lvl="1"/>
            <a:r>
              <a:rPr lang="zh-CN" altLang="en-US" sz="2400" dirty="0"/>
              <a:t>为程序员提供了所需的</a:t>
            </a:r>
            <a:r>
              <a:rPr lang="zh-CN" altLang="en-US" sz="2400" dirty="0">
                <a:latin typeface="黑体" panose="02010609060101010101" pitchFamily="49" charset="-122"/>
                <a:ea typeface="黑体" panose="02010609060101010101" pitchFamily="49" charset="-122"/>
              </a:rPr>
              <a:t>控制</a:t>
            </a:r>
            <a:r>
              <a:rPr lang="zh-CN" altLang="en-US" sz="2400" dirty="0"/>
              <a:t>级别</a:t>
            </a:r>
            <a:endParaRPr lang="en-US" altLang="zh-CN" sz="2400" dirty="0"/>
          </a:p>
          <a:p>
            <a:pPr lvl="1"/>
            <a:r>
              <a:rPr lang="zh-CN" altLang="en-US" sz="2400" dirty="0"/>
              <a:t>与缓冲机制</a:t>
            </a:r>
            <a:r>
              <a:rPr lang="zh-CN" altLang="en-US" sz="2400" dirty="0">
                <a:latin typeface="黑体" panose="02010609060101010101" pitchFamily="49" charset="-122"/>
                <a:ea typeface="黑体" panose="02010609060101010101" pitchFamily="49" charset="-122"/>
              </a:rPr>
              <a:t>互补</a:t>
            </a:r>
            <a:endParaRPr lang="en-US" altLang="zh-CN" sz="2400" dirty="0">
              <a:latin typeface="黑体" panose="02010609060101010101" pitchFamily="49" charset="-122"/>
              <a:ea typeface="黑体" panose="02010609060101010101" pitchFamily="49" charset="-122"/>
            </a:endParaRPr>
          </a:p>
          <a:p>
            <a:pPr lvl="1"/>
            <a:r>
              <a:rPr lang="zh-CN" altLang="en-US" sz="2400" dirty="0"/>
              <a:t>目标不是为了提供开箱即用的</a:t>
            </a:r>
            <a:r>
              <a:rPr lang="zh-CN" altLang="en-US" sz="2400" dirty="0">
                <a:latin typeface="黑体" panose="02010609060101010101" pitchFamily="49" charset="-122"/>
                <a:ea typeface="黑体" panose="02010609060101010101" pitchFamily="49" charset="-122"/>
              </a:rPr>
              <a:t>峰值性能</a:t>
            </a:r>
            <a:endParaRPr lang="en-US" altLang="zh-CN" sz="2400" dirty="0">
              <a:latin typeface="黑体" panose="02010609060101010101" pitchFamily="49" charset="-122"/>
              <a:ea typeface="黑体" panose="02010609060101010101" pitchFamily="49" charset="-122"/>
            </a:endParaRPr>
          </a:p>
          <a:p>
            <a:pPr lvl="1"/>
            <a:r>
              <a:rPr lang="zh-CN" altLang="en-US" sz="2400" dirty="0"/>
              <a:t>如果需要</a:t>
            </a:r>
            <a:r>
              <a:rPr lang="zh-CN" altLang="en-US" sz="2400" dirty="0">
                <a:latin typeface="黑体" panose="02010609060101010101" pitchFamily="49" charset="-122"/>
                <a:ea typeface="黑体" panose="02010609060101010101" pitchFamily="49" charset="-122"/>
              </a:rPr>
              <a:t>控制数据移动</a:t>
            </a:r>
            <a:r>
              <a:rPr lang="zh-CN" altLang="en-US" sz="2400" dirty="0"/>
              <a:t>，可使用显式</a:t>
            </a:r>
            <a:r>
              <a:rPr lang="en-US" altLang="zh-CN" sz="2400" dirty="0"/>
              <a:t>USM</a:t>
            </a:r>
            <a:r>
              <a:rPr lang="zh-CN" altLang="en-US" sz="2400" dirty="0"/>
              <a:t>分配</a:t>
            </a:r>
          </a:p>
        </p:txBody>
      </p:sp>
    </p:spTree>
    <p:extLst>
      <p:ext uri="{BB962C8B-B14F-4D97-AF65-F5344CB8AC3E}">
        <p14:creationId xmlns:p14="http://schemas.microsoft.com/office/powerpoint/2010/main" val="27512450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F6C41-F3CE-464A-B773-7EE14780CBAC}"/>
              </a:ext>
            </a:extLst>
          </p:cNvPr>
          <p:cNvSpPr>
            <a:spLocks noGrp="1"/>
          </p:cNvSpPr>
          <p:nvPr>
            <p:ph type="title"/>
          </p:nvPr>
        </p:nvSpPr>
        <p:spPr/>
        <p:txBody>
          <a:bodyPr/>
          <a:lstStyle/>
          <a:p>
            <a:r>
              <a:rPr lang="en-US" altLang="zh-CN" dirty="0"/>
              <a:t>USM</a:t>
            </a:r>
            <a:endParaRPr lang="zh-CN" altLang="en-US" dirty="0"/>
          </a:p>
        </p:txBody>
      </p:sp>
      <p:sp>
        <p:nvSpPr>
          <p:cNvPr id="3" name="内容占位符 2">
            <a:extLst>
              <a:ext uri="{FF2B5EF4-FFF2-40B4-BE49-F238E27FC236}">
                <a16:creationId xmlns:a16="http://schemas.microsoft.com/office/drawing/2014/main" id="{4F0C6817-3144-4038-9A9E-C52908998872}"/>
              </a:ext>
            </a:extLst>
          </p:cNvPr>
          <p:cNvSpPr>
            <a:spLocks noGrp="1"/>
          </p:cNvSpPr>
          <p:nvPr>
            <p:ph idx="1"/>
          </p:nvPr>
        </p:nvSpPr>
        <p:spPr/>
        <p:txBody>
          <a:bodyPr/>
          <a:lstStyle/>
          <a:p>
            <a:r>
              <a:rPr lang="en-US" altLang="zh-CN" sz="2800" dirty="0"/>
              <a:t>USM</a:t>
            </a:r>
            <a:r>
              <a:rPr lang="zh-CN" altLang="en-US" sz="2800" dirty="0"/>
              <a:t>同时提供了</a:t>
            </a:r>
            <a:r>
              <a:rPr lang="zh-CN" altLang="en-US" sz="2800" dirty="0">
                <a:latin typeface="黑体" panose="02010609060101010101" pitchFamily="49" charset="-122"/>
                <a:ea typeface="黑体" panose="02010609060101010101" pitchFamily="49" charset="-122"/>
              </a:rPr>
              <a:t>显式</a:t>
            </a:r>
            <a:r>
              <a:rPr lang="zh-CN" altLang="en-US" sz="2800" dirty="0"/>
              <a:t>和</a:t>
            </a:r>
            <a:r>
              <a:rPr lang="zh-CN" altLang="en-US" sz="2800" dirty="0">
                <a:latin typeface="黑体" panose="02010609060101010101" pitchFamily="49" charset="-122"/>
                <a:ea typeface="黑体" panose="02010609060101010101" pitchFamily="49" charset="-122"/>
              </a:rPr>
              <a:t>隐式</a:t>
            </a:r>
            <a:r>
              <a:rPr lang="zh-CN" altLang="en-US" sz="2800" dirty="0"/>
              <a:t>的内存管理模型</a:t>
            </a:r>
            <a:endParaRPr lang="en-US" altLang="zh-CN" sz="2800" dirty="0"/>
          </a:p>
          <a:p>
            <a:endParaRPr lang="en-US" altLang="zh-CN" sz="2800" dirty="0"/>
          </a:p>
          <a:p>
            <a:endParaRPr lang="en-US" altLang="zh-CN" sz="2800" dirty="0"/>
          </a:p>
          <a:p>
            <a:endParaRPr lang="en-US" altLang="zh-CN" sz="2800" dirty="0"/>
          </a:p>
          <a:p>
            <a:endParaRPr lang="en-US" altLang="zh-CN" sz="2800" dirty="0"/>
          </a:p>
          <a:p>
            <a:endParaRPr lang="en-US" altLang="zh-CN" sz="2800" dirty="0"/>
          </a:p>
          <a:p>
            <a:r>
              <a:rPr lang="zh-CN" altLang="en-US" sz="2800" i="1" dirty="0"/>
              <a:t>支持自动内存访问和显式数据移动</a:t>
            </a:r>
          </a:p>
        </p:txBody>
      </p:sp>
      <p:graphicFrame>
        <p:nvGraphicFramePr>
          <p:cNvPr id="6" name="Content Placeholder 4">
            <a:extLst>
              <a:ext uri="{FF2B5EF4-FFF2-40B4-BE49-F238E27FC236}">
                <a16:creationId xmlns:a16="http://schemas.microsoft.com/office/drawing/2014/main" id="{85F6CAFC-58EC-4AE6-9C94-13F66B20B2F1}"/>
              </a:ext>
            </a:extLst>
          </p:cNvPr>
          <p:cNvGraphicFramePr>
            <a:graphicFrameLocks/>
          </p:cNvGraphicFramePr>
          <p:nvPr>
            <p:extLst>
              <p:ext uri="{D42A27DB-BD31-4B8C-83A1-F6EECF244321}">
                <p14:modId xmlns:p14="http://schemas.microsoft.com/office/powerpoint/2010/main" val="563838487"/>
              </p:ext>
            </p:extLst>
          </p:nvPr>
        </p:nvGraphicFramePr>
        <p:xfrm>
          <a:off x="539552" y="2132856"/>
          <a:ext cx="8340211" cy="1951038"/>
        </p:xfrm>
        <a:graphic>
          <a:graphicData uri="http://schemas.openxmlformats.org/drawingml/2006/table">
            <a:tbl>
              <a:tblPr firstRow="1" bandRow="1"/>
              <a:tblGrid>
                <a:gridCol w="1337244">
                  <a:extLst>
                    <a:ext uri="{9D8B030D-6E8A-4147-A177-3AD203B41FA5}">
                      <a16:colId xmlns:a16="http://schemas.microsoft.com/office/drawing/2014/main" val="3984231079"/>
                    </a:ext>
                  </a:extLst>
                </a:gridCol>
                <a:gridCol w="3587479">
                  <a:extLst>
                    <a:ext uri="{9D8B030D-6E8A-4147-A177-3AD203B41FA5}">
                      <a16:colId xmlns:a16="http://schemas.microsoft.com/office/drawing/2014/main" val="205036707"/>
                    </a:ext>
                  </a:extLst>
                </a:gridCol>
                <a:gridCol w="1629130">
                  <a:extLst>
                    <a:ext uri="{9D8B030D-6E8A-4147-A177-3AD203B41FA5}">
                      <a16:colId xmlns:a16="http://schemas.microsoft.com/office/drawing/2014/main" val="334863854"/>
                    </a:ext>
                  </a:extLst>
                </a:gridCol>
                <a:gridCol w="1786358">
                  <a:extLst>
                    <a:ext uri="{9D8B030D-6E8A-4147-A177-3AD203B41FA5}">
                      <a16:colId xmlns:a16="http://schemas.microsoft.com/office/drawing/2014/main" val="932341601"/>
                    </a:ext>
                  </a:extLst>
                </a:gridCol>
              </a:tblGrid>
              <a:tr h="131127">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r>
                        <a:rPr lang="zh-CN" altLang="en-US" sz="1400" dirty="0"/>
                        <a:t>分配类型</a:t>
                      </a:r>
                      <a:endParaRPr lang="en-US" sz="1400" dirty="0"/>
                    </a:p>
                  </a:txBody>
                  <a:tcPr marL="92715" marR="92715">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l"/>
                      <a:r>
                        <a:rPr lang="zh-CN" altLang="en-US" sz="1400" dirty="0"/>
                        <a:t>描述</a:t>
                      </a:r>
                      <a:endParaRPr lang="en-US" sz="1400" dirty="0"/>
                    </a:p>
                  </a:txBody>
                  <a:tcPr marL="92715" marR="92715">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algn="ctr"/>
                      <a:r>
                        <a:rPr lang="zh-CN" altLang="en-US" sz="1600" dirty="0"/>
                        <a:t>可以主机访问</a:t>
                      </a:r>
                      <a:endParaRPr lang="en-US" sz="1600" dirty="0"/>
                    </a:p>
                  </a:txBody>
                  <a:tcPr marL="92715" marR="92715">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tc>
                  <a:txBody>
                    <a:bodyPr/>
                    <a:lstStyle>
                      <a:lvl1pPr marL="0" algn="l" defTabSz="914400" rtl="0" eaLnBrk="1" latinLnBrk="0" hangingPunct="1">
                        <a:defRPr sz="1800" b="1" kern="1200">
                          <a:solidFill>
                            <a:schemeClr val="lt1"/>
                          </a:solidFill>
                          <a:latin typeface="Intel Clear"/>
                          <a:ea typeface="Helvetica Neue"/>
                          <a:cs typeface="Helvetica Neue"/>
                        </a:defRPr>
                      </a:lvl1pPr>
                      <a:lvl2pPr marL="457200" algn="l" defTabSz="914400" rtl="0" eaLnBrk="1" latinLnBrk="0" hangingPunct="1">
                        <a:defRPr sz="1800" b="1" kern="1200">
                          <a:solidFill>
                            <a:schemeClr val="lt1"/>
                          </a:solidFill>
                          <a:latin typeface="Intel Clear"/>
                          <a:ea typeface="Helvetica Neue"/>
                          <a:cs typeface="Helvetica Neue"/>
                        </a:defRPr>
                      </a:lvl2pPr>
                      <a:lvl3pPr marL="914400" algn="l" defTabSz="914400" rtl="0" eaLnBrk="1" latinLnBrk="0" hangingPunct="1">
                        <a:defRPr sz="1800" b="1" kern="1200">
                          <a:solidFill>
                            <a:schemeClr val="lt1"/>
                          </a:solidFill>
                          <a:latin typeface="Intel Clear"/>
                          <a:ea typeface="Helvetica Neue"/>
                          <a:cs typeface="Helvetica Neue"/>
                        </a:defRPr>
                      </a:lvl3pPr>
                      <a:lvl4pPr marL="1371600" algn="l" defTabSz="914400" rtl="0" eaLnBrk="1" latinLnBrk="0" hangingPunct="1">
                        <a:defRPr sz="1800" b="1" kern="1200">
                          <a:solidFill>
                            <a:schemeClr val="lt1"/>
                          </a:solidFill>
                          <a:latin typeface="Intel Clear"/>
                          <a:ea typeface="Helvetica Neue"/>
                          <a:cs typeface="Helvetica Neue"/>
                        </a:defRPr>
                      </a:lvl4pPr>
                      <a:lvl5pPr marL="1828800" algn="l" defTabSz="914400" rtl="0" eaLnBrk="1" latinLnBrk="0" hangingPunct="1">
                        <a:defRPr sz="1800" b="1" kern="1200">
                          <a:solidFill>
                            <a:schemeClr val="lt1"/>
                          </a:solidFill>
                          <a:latin typeface="Intel Clear"/>
                          <a:ea typeface="Helvetica Neue"/>
                          <a:cs typeface="Helvetica Neue"/>
                        </a:defRPr>
                      </a:lvl5pPr>
                      <a:lvl6pPr marL="2286000" algn="l" defTabSz="914400" rtl="0" eaLnBrk="1" latinLnBrk="0" hangingPunct="1">
                        <a:defRPr sz="1800" b="1" kern="1200">
                          <a:solidFill>
                            <a:schemeClr val="lt1"/>
                          </a:solidFill>
                          <a:latin typeface="Intel Clear"/>
                          <a:ea typeface="Helvetica Neue"/>
                          <a:cs typeface="Helvetica Neue"/>
                        </a:defRPr>
                      </a:lvl6pPr>
                      <a:lvl7pPr marL="2743200" algn="l" defTabSz="914400" rtl="0" eaLnBrk="1" latinLnBrk="0" hangingPunct="1">
                        <a:defRPr sz="1800" b="1" kern="1200">
                          <a:solidFill>
                            <a:schemeClr val="lt1"/>
                          </a:solidFill>
                          <a:latin typeface="Intel Clear"/>
                          <a:ea typeface="Helvetica Neue"/>
                          <a:cs typeface="Helvetica Neue"/>
                        </a:defRPr>
                      </a:lvl7pPr>
                      <a:lvl8pPr marL="3200400" algn="l" defTabSz="914400" rtl="0" eaLnBrk="1" latinLnBrk="0" hangingPunct="1">
                        <a:defRPr sz="1800" b="1" kern="1200">
                          <a:solidFill>
                            <a:schemeClr val="lt1"/>
                          </a:solidFill>
                          <a:latin typeface="Intel Clear"/>
                          <a:ea typeface="Helvetica Neue"/>
                          <a:cs typeface="Helvetica Neue"/>
                        </a:defRPr>
                      </a:lvl8pPr>
                      <a:lvl9pPr marL="3657600" algn="l" defTabSz="914400" rtl="0" eaLnBrk="1" latinLnBrk="0" hangingPunct="1">
                        <a:defRPr sz="1800" b="1" kern="1200">
                          <a:solidFill>
                            <a:schemeClr val="lt1"/>
                          </a:solidFill>
                          <a:latin typeface="Intel Clear"/>
                          <a:ea typeface="Helvetica Neue"/>
                          <a:cs typeface="Helvetica Neue"/>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zh-CN" altLang="en-US" sz="1600" dirty="0"/>
                        <a:t>可在设备访问</a:t>
                      </a:r>
                      <a:endParaRPr lang="en-US" sz="1600" dirty="0"/>
                    </a:p>
                  </a:txBody>
                  <a:tcPr marL="92715" marR="92715">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68B5"/>
                    </a:solidFill>
                  </a:tcPr>
                </a:tc>
                <a:extLst>
                  <a:ext uri="{0D108BD9-81ED-4DB2-BD59-A6C34878D82A}">
                    <a16:rowId xmlns:a16="http://schemas.microsoft.com/office/drawing/2014/main" val="3736285326"/>
                  </a:ext>
                </a:extLst>
              </a:tr>
              <a:tr h="398830">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nSpc>
                          <a:spcPct val="150000"/>
                        </a:lnSpc>
                      </a:pPr>
                      <a:r>
                        <a:rPr lang="en-US" sz="1800" dirty="0"/>
                        <a:t>device</a:t>
                      </a:r>
                    </a:p>
                  </a:txBody>
                  <a:tcPr marL="92715" marR="9271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lnSpc>
                          <a:spcPct val="150000"/>
                        </a:lnSpc>
                      </a:pPr>
                      <a:r>
                        <a:rPr lang="zh-CN" altLang="en-US" sz="1400" dirty="0"/>
                        <a:t>在设备内存中分配（</a:t>
                      </a:r>
                      <a:r>
                        <a:rPr lang="zh-CN" altLang="en-US" sz="1400" dirty="0">
                          <a:latin typeface="黑体" panose="02010609060101010101" pitchFamily="49" charset="-122"/>
                          <a:ea typeface="黑体" panose="02010609060101010101" pitchFamily="49" charset="-122"/>
                        </a:rPr>
                        <a:t>显式</a:t>
                      </a:r>
                      <a:r>
                        <a:rPr lang="zh-CN" altLang="en-US" sz="1400" dirty="0"/>
                        <a:t>）</a:t>
                      </a:r>
                      <a:endParaRPr lang="en-US" sz="1400" dirty="0"/>
                    </a:p>
                  </a:txBody>
                  <a:tcPr marL="92715" marR="92715">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NO</a:t>
                      </a:r>
                    </a:p>
                  </a:txBody>
                  <a:tcPr marL="92715" marR="9271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YES</a:t>
                      </a:r>
                    </a:p>
                  </a:txBody>
                  <a:tcPr marL="92715" marR="9271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1842667321"/>
                  </a:ext>
                </a:extLst>
              </a:tr>
              <a:tr h="398830">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nSpc>
                          <a:spcPct val="150000"/>
                        </a:lnSpc>
                      </a:pPr>
                      <a:r>
                        <a:rPr lang="en-US" sz="1800" dirty="0"/>
                        <a:t>host</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lnSpc>
                          <a:spcPct val="150000"/>
                        </a:lnSpc>
                      </a:pPr>
                      <a:r>
                        <a:rPr lang="zh-CN" altLang="en-US" sz="1400" dirty="0"/>
                        <a:t>在主机内存中分配（</a:t>
                      </a:r>
                      <a:r>
                        <a:rPr lang="zh-CN" altLang="en-US" sz="1400" dirty="0">
                          <a:latin typeface="黑体" panose="02010609060101010101" pitchFamily="49" charset="-122"/>
                          <a:ea typeface="黑体" panose="02010609060101010101" pitchFamily="49" charset="-122"/>
                        </a:rPr>
                        <a:t>隐式</a:t>
                      </a:r>
                      <a:r>
                        <a:rPr lang="zh-CN" altLang="en-US" sz="1400" dirty="0"/>
                        <a:t>）</a:t>
                      </a:r>
                      <a:endParaRPr lang="en-US" altLang="zh-CN" sz="1400" dirty="0"/>
                    </a:p>
                  </a:txBody>
                  <a:tcPr marL="92715" marR="9271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YES</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YES</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20000"/>
                      </a:srgbClr>
                    </a:solidFill>
                  </a:tcPr>
                </a:tc>
                <a:extLst>
                  <a:ext uri="{0D108BD9-81ED-4DB2-BD59-A6C34878D82A}">
                    <a16:rowId xmlns:a16="http://schemas.microsoft.com/office/drawing/2014/main" val="1573895266"/>
                  </a:ext>
                </a:extLst>
              </a:tr>
              <a:tr h="398830">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nSpc>
                          <a:spcPct val="150000"/>
                        </a:lnSpc>
                      </a:pPr>
                      <a:r>
                        <a:rPr lang="en-US" sz="1800" dirty="0"/>
                        <a:t>shared</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l">
                        <a:lnSpc>
                          <a:spcPct val="150000"/>
                        </a:lnSpc>
                      </a:pPr>
                      <a:r>
                        <a:rPr lang="zh-CN" altLang="en-US" sz="1400" dirty="0"/>
                        <a:t>分配的空间可在主机内存和设备内存间迁移（</a:t>
                      </a:r>
                      <a:r>
                        <a:rPr lang="zh-CN" altLang="en-US" sz="1400" dirty="0">
                          <a:latin typeface="黑体" panose="02010609060101010101" pitchFamily="49" charset="-122"/>
                          <a:ea typeface="黑体" panose="02010609060101010101" pitchFamily="49" charset="-122"/>
                        </a:rPr>
                        <a:t>隐式</a:t>
                      </a:r>
                      <a:r>
                        <a:rPr lang="zh-CN" altLang="en-US" sz="1400" dirty="0"/>
                        <a:t>）</a:t>
                      </a:r>
                      <a:endParaRPr lang="en-US" altLang="zh-CN" sz="1400" dirty="0"/>
                    </a:p>
                  </a:txBody>
                  <a:tcPr marL="92715" marR="92715">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YES</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tc>
                  <a:txBody>
                    <a:bodyPr/>
                    <a:lstStyle>
                      <a:lvl1pPr marL="0" algn="l" defTabSz="914400" rtl="0" eaLnBrk="1" latinLnBrk="0" hangingPunct="1">
                        <a:defRPr sz="1800" kern="1200">
                          <a:solidFill>
                            <a:schemeClr val="dk1"/>
                          </a:solidFill>
                          <a:latin typeface="Intel Clear"/>
                          <a:ea typeface="Helvetica Neue"/>
                          <a:cs typeface="Helvetica Neue"/>
                        </a:defRPr>
                      </a:lvl1pPr>
                      <a:lvl2pPr marL="457200" algn="l" defTabSz="914400" rtl="0" eaLnBrk="1" latinLnBrk="0" hangingPunct="1">
                        <a:defRPr sz="1800" kern="1200">
                          <a:solidFill>
                            <a:schemeClr val="dk1"/>
                          </a:solidFill>
                          <a:latin typeface="Intel Clear"/>
                          <a:ea typeface="Helvetica Neue"/>
                          <a:cs typeface="Helvetica Neue"/>
                        </a:defRPr>
                      </a:lvl2pPr>
                      <a:lvl3pPr marL="914400" algn="l" defTabSz="914400" rtl="0" eaLnBrk="1" latinLnBrk="0" hangingPunct="1">
                        <a:defRPr sz="1800" kern="1200">
                          <a:solidFill>
                            <a:schemeClr val="dk1"/>
                          </a:solidFill>
                          <a:latin typeface="Intel Clear"/>
                          <a:ea typeface="Helvetica Neue"/>
                          <a:cs typeface="Helvetica Neue"/>
                        </a:defRPr>
                      </a:lvl3pPr>
                      <a:lvl4pPr marL="1371600" algn="l" defTabSz="914400" rtl="0" eaLnBrk="1" latinLnBrk="0" hangingPunct="1">
                        <a:defRPr sz="1800" kern="1200">
                          <a:solidFill>
                            <a:schemeClr val="dk1"/>
                          </a:solidFill>
                          <a:latin typeface="Intel Clear"/>
                          <a:ea typeface="Helvetica Neue"/>
                          <a:cs typeface="Helvetica Neue"/>
                        </a:defRPr>
                      </a:lvl4pPr>
                      <a:lvl5pPr marL="1828800" algn="l" defTabSz="914400" rtl="0" eaLnBrk="1" latinLnBrk="0" hangingPunct="1">
                        <a:defRPr sz="1800" kern="1200">
                          <a:solidFill>
                            <a:schemeClr val="dk1"/>
                          </a:solidFill>
                          <a:latin typeface="Intel Clear"/>
                          <a:ea typeface="Helvetica Neue"/>
                          <a:cs typeface="Helvetica Neue"/>
                        </a:defRPr>
                      </a:lvl5pPr>
                      <a:lvl6pPr marL="2286000" algn="l" defTabSz="914400" rtl="0" eaLnBrk="1" latinLnBrk="0" hangingPunct="1">
                        <a:defRPr sz="1800" kern="1200">
                          <a:solidFill>
                            <a:schemeClr val="dk1"/>
                          </a:solidFill>
                          <a:latin typeface="Intel Clear"/>
                          <a:ea typeface="Helvetica Neue"/>
                          <a:cs typeface="Helvetica Neue"/>
                        </a:defRPr>
                      </a:lvl6pPr>
                      <a:lvl7pPr marL="2743200" algn="l" defTabSz="914400" rtl="0" eaLnBrk="1" latinLnBrk="0" hangingPunct="1">
                        <a:defRPr sz="1800" kern="1200">
                          <a:solidFill>
                            <a:schemeClr val="dk1"/>
                          </a:solidFill>
                          <a:latin typeface="Intel Clear"/>
                          <a:ea typeface="Helvetica Neue"/>
                          <a:cs typeface="Helvetica Neue"/>
                        </a:defRPr>
                      </a:lvl7pPr>
                      <a:lvl8pPr marL="3200400" algn="l" defTabSz="914400" rtl="0" eaLnBrk="1" latinLnBrk="0" hangingPunct="1">
                        <a:defRPr sz="1800" kern="1200">
                          <a:solidFill>
                            <a:schemeClr val="dk1"/>
                          </a:solidFill>
                          <a:latin typeface="Intel Clear"/>
                          <a:ea typeface="Helvetica Neue"/>
                          <a:cs typeface="Helvetica Neue"/>
                        </a:defRPr>
                      </a:lvl8pPr>
                      <a:lvl9pPr marL="3657600" algn="l" defTabSz="914400" rtl="0" eaLnBrk="1" latinLnBrk="0" hangingPunct="1">
                        <a:defRPr sz="1800" kern="1200">
                          <a:solidFill>
                            <a:schemeClr val="dk1"/>
                          </a:solidFill>
                          <a:latin typeface="Intel Clear"/>
                          <a:ea typeface="Helvetica Neue"/>
                          <a:cs typeface="Helvetica Neue"/>
                        </a:defRPr>
                      </a:lvl9pPr>
                    </a:lstStyle>
                    <a:p>
                      <a:pPr algn="ctr">
                        <a:lnSpc>
                          <a:spcPct val="150000"/>
                        </a:lnSpc>
                      </a:pPr>
                      <a:r>
                        <a:rPr lang="en-US" sz="1800" dirty="0"/>
                        <a:t>YES</a:t>
                      </a:r>
                    </a:p>
                  </a:txBody>
                  <a:tcPr marL="92715" marR="9271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68B5">
                        <a:tint val="40000"/>
                      </a:srgbClr>
                    </a:solidFill>
                  </a:tcPr>
                </a:tc>
                <a:extLst>
                  <a:ext uri="{0D108BD9-81ED-4DB2-BD59-A6C34878D82A}">
                    <a16:rowId xmlns:a16="http://schemas.microsoft.com/office/drawing/2014/main" val="2686630918"/>
                  </a:ext>
                </a:extLst>
              </a:tr>
            </a:tbl>
          </a:graphicData>
        </a:graphic>
      </p:graphicFrame>
    </p:spTree>
    <p:extLst>
      <p:ext uri="{BB962C8B-B14F-4D97-AF65-F5344CB8AC3E}">
        <p14:creationId xmlns:p14="http://schemas.microsoft.com/office/powerpoint/2010/main" val="263756751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D419EB-1038-4A5F-8E2A-27267E7A3E69}"/>
              </a:ext>
            </a:extLst>
          </p:cNvPr>
          <p:cNvSpPr>
            <a:spLocks noGrp="1"/>
          </p:cNvSpPr>
          <p:nvPr>
            <p:ph type="title"/>
          </p:nvPr>
        </p:nvSpPr>
        <p:spPr/>
        <p:txBody>
          <a:bodyPr/>
          <a:lstStyle/>
          <a:p>
            <a:r>
              <a:rPr lang="en-US" altLang="zh-CN" dirty="0"/>
              <a:t>USM—</a:t>
            </a:r>
            <a:r>
              <a:rPr lang="zh-CN" altLang="en-US" dirty="0"/>
              <a:t>显式数据传输</a:t>
            </a:r>
          </a:p>
        </p:txBody>
      </p:sp>
      <p:sp>
        <p:nvSpPr>
          <p:cNvPr id="3" name="内容占位符 2">
            <a:extLst>
              <a:ext uri="{FF2B5EF4-FFF2-40B4-BE49-F238E27FC236}">
                <a16:creationId xmlns:a16="http://schemas.microsoft.com/office/drawing/2014/main" id="{473F532C-FB37-4728-9FCF-BC5D6FD0E7D8}"/>
              </a:ext>
            </a:extLst>
          </p:cNvPr>
          <p:cNvSpPr>
            <a:spLocks noGrp="1"/>
          </p:cNvSpPr>
          <p:nvPr>
            <p:ph idx="1"/>
          </p:nvPr>
        </p:nvSpPr>
        <p:spPr>
          <a:xfrm>
            <a:off x="889992" y="1510022"/>
            <a:ext cx="7772400" cy="4724400"/>
          </a:xfrm>
        </p:spPr>
        <p:txBody>
          <a:bodyPr/>
          <a:lstStyle/>
          <a:p>
            <a:endParaRPr lang="zh-CN" altLang="en-US" dirty="0"/>
          </a:p>
        </p:txBody>
      </p:sp>
      <p:grpSp>
        <p:nvGrpSpPr>
          <p:cNvPr id="34" name="Group 3">
            <a:extLst>
              <a:ext uri="{FF2B5EF4-FFF2-40B4-BE49-F238E27FC236}">
                <a16:creationId xmlns:a16="http://schemas.microsoft.com/office/drawing/2014/main" id="{EC423646-A53E-4717-A292-F48EE5F8E68D}"/>
              </a:ext>
            </a:extLst>
          </p:cNvPr>
          <p:cNvGrpSpPr/>
          <p:nvPr/>
        </p:nvGrpSpPr>
        <p:grpSpPr>
          <a:xfrm>
            <a:off x="2725870" y="1419514"/>
            <a:ext cx="6310626" cy="5326264"/>
            <a:chOff x="5242989" y="505096"/>
            <a:chExt cx="5621214" cy="6257626"/>
          </a:xfrm>
        </p:grpSpPr>
        <p:sp>
          <p:nvSpPr>
            <p:cNvPr id="47" name="Rectangle: Single Corner Snipped 4">
              <a:extLst>
                <a:ext uri="{FF2B5EF4-FFF2-40B4-BE49-F238E27FC236}">
                  <a16:creationId xmlns:a16="http://schemas.microsoft.com/office/drawing/2014/main" id="{18723E49-2237-463F-BDB9-9704D3A4730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dk1"/>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48" name="TextBox 6">
              <a:extLst>
                <a:ext uri="{FF2B5EF4-FFF2-40B4-BE49-F238E27FC236}">
                  <a16:creationId xmlns:a16="http://schemas.microsoft.com/office/drawing/2014/main" id="{397B87E6-FC8F-4BC2-9489-227295C4B9CF}"/>
                </a:ext>
              </a:extLst>
            </p:cNvPr>
            <p:cNvSpPr txBox="1"/>
            <p:nvPr/>
          </p:nvSpPr>
          <p:spPr>
            <a:xfrm>
              <a:off x="5390906" y="611430"/>
              <a:ext cx="5473297" cy="5654442"/>
            </a:xfrm>
            <a:prstGeom prst="rect">
              <a:avLst/>
            </a:prstGeom>
            <a:noFill/>
          </p:spPr>
          <p:txBody>
            <a:bodyPr vert="horz" wrap="square" lIns="0" tIns="0" rIns="0" bIns="0" rtlCol="0">
              <a:sp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property</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in_order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data_device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memcpy</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data_device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 </a:t>
              </a:r>
              <a:r>
                <a:rPr kumimoji="0" lang="en-US"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sizeof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N);</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data_device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memcpy</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data_device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sizeof</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N).</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endl</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free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data_device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a:t>
              </a:r>
            </a:p>
          </p:txBody>
        </p:sp>
      </p:grpSp>
      <p:sp>
        <p:nvSpPr>
          <p:cNvPr id="35" name="Rectangle: Rounded Corners 8">
            <a:extLst>
              <a:ext uri="{FF2B5EF4-FFF2-40B4-BE49-F238E27FC236}">
                <a16:creationId xmlns:a16="http://schemas.microsoft.com/office/drawing/2014/main" id="{DC28308E-6007-4D3E-989A-8AB8E4E89EF6}"/>
              </a:ext>
            </a:extLst>
          </p:cNvPr>
          <p:cNvSpPr/>
          <p:nvPr/>
        </p:nvSpPr>
        <p:spPr>
          <a:xfrm>
            <a:off x="2891927" y="5080098"/>
            <a:ext cx="808177" cy="26697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2400" b="0" i="0" u="none" strike="noStrike" kern="0" cap="none" spc="0" normalizeH="0" baseline="0" noProof="0">
              <a:ln>
                <a:noFill/>
              </a:ln>
              <a:solidFill>
                <a:srgbClr val="D96930"/>
              </a:solidFill>
              <a:effectLst/>
              <a:uLnTx/>
              <a:uFillTx/>
              <a:latin typeface="Intel Clear"/>
              <a:sym typeface="Helvetica Neue"/>
            </a:endParaRPr>
          </a:p>
        </p:txBody>
      </p:sp>
      <p:sp>
        <p:nvSpPr>
          <p:cNvPr id="36" name="Rectangle: Rounded Corners 9">
            <a:extLst>
              <a:ext uri="{FF2B5EF4-FFF2-40B4-BE49-F238E27FC236}">
                <a16:creationId xmlns:a16="http://schemas.microsoft.com/office/drawing/2014/main" id="{238DDA2E-E619-45D3-A96E-1962540706A2}"/>
              </a:ext>
            </a:extLst>
          </p:cNvPr>
          <p:cNvSpPr/>
          <p:nvPr/>
        </p:nvSpPr>
        <p:spPr>
          <a:xfrm>
            <a:off x="4759416" y="3159483"/>
            <a:ext cx="1305634" cy="26461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2400" b="0" i="0" u="none" strike="noStrike" kern="0" cap="none" spc="0" normalizeH="0" baseline="0" noProof="0">
              <a:ln>
                <a:noFill/>
              </a:ln>
              <a:solidFill>
                <a:srgbClr val="D96930"/>
              </a:solidFill>
              <a:effectLst/>
              <a:uLnTx/>
              <a:uFillTx/>
              <a:latin typeface="Intel Clear"/>
              <a:sym typeface="Helvetica Neue"/>
            </a:endParaRPr>
          </a:p>
        </p:txBody>
      </p:sp>
      <p:sp>
        <p:nvSpPr>
          <p:cNvPr id="37" name="Rectangle: Rounded Corners 10">
            <a:extLst>
              <a:ext uri="{FF2B5EF4-FFF2-40B4-BE49-F238E27FC236}">
                <a16:creationId xmlns:a16="http://schemas.microsoft.com/office/drawing/2014/main" id="{8E5BD309-A145-47AB-AD54-174AB5076BFE}"/>
              </a:ext>
            </a:extLst>
          </p:cNvPr>
          <p:cNvSpPr/>
          <p:nvPr/>
        </p:nvSpPr>
        <p:spPr>
          <a:xfrm>
            <a:off x="2891927" y="3812768"/>
            <a:ext cx="803984" cy="26593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2400" b="0" i="0" u="none" strike="noStrike" kern="0" cap="none" spc="0" normalizeH="0" baseline="0" noProof="0">
              <a:ln>
                <a:noFill/>
              </a:ln>
              <a:solidFill>
                <a:srgbClr val="D96930"/>
              </a:solidFill>
              <a:effectLst/>
              <a:uLnTx/>
              <a:uFillTx/>
              <a:latin typeface="Intel Clear"/>
              <a:sym typeface="Helvetica Neue"/>
            </a:endParaRPr>
          </a:p>
        </p:txBody>
      </p:sp>
      <p:sp>
        <p:nvSpPr>
          <p:cNvPr id="38" name="Rectangle: Rounded Corners 11">
            <a:extLst>
              <a:ext uri="{FF2B5EF4-FFF2-40B4-BE49-F238E27FC236}">
                <a16:creationId xmlns:a16="http://schemas.microsoft.com/office/drawing/2014/main" id="{CF6C3728-5E39-4887-B18C-1C3194AC70D1}"/>
              </a:ext>
            </a:extLst>
          </p:cNvPr>
          <p:cNvSpPr/>
          <p:nvPr/>
        </p:nvSpPr>
        <p:spPr>
          <a:xfrm>
            <a:off x="6043084" y="4428767"/>
            <a:ext cx="2037058" cy="30089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chemeClr val="accent4"/>
                </a:solidFill>
                <a:effectLst/>
                <a:uFillTx/>
                <a:latin typeface="+mn-lt"/>
                <a:ea typeface="+mn-ea"/>
                <a:cs typeface="+mn-cs"/>
                <a:sym typeface="Helvetica Neue"/>
              </a:defRPr>
            </a:lvl9p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2400" b="0" i="0" u="none" strike="noStrike" kern="0" cap="none" spc="0" normalizeH="0" baseline="0" noProof="0">
              <a:ln>
                <a:noFill/>
              </a:ln>
              <a:solidFill>
                <a:srgbClr val="D96930"/>
              </a:solidFill>
              <a:effectLst/>
              <a:uLnTx/>
              <a:uFillTx/>
              <a:latin typeface="Intel Clear"/>
              <a:sym typeface="Helvetica Neue"/>
            </a:endParaRPr>
          </a:p>
        </p:txBody>
      </p:sp>
      <p:sp>
        <p:nvSpPr>
          <p:cNvPr id="39" name="Content Placeholder 9">
            <a:extLst>
              <a:ext uri="{FF2B5EF4-FFF2-40B4-BE49-F238E27FC236}">
                <a16:creationId xmlns:a16="http://schemas.microsoft.com/office/drawing/2014/main" id="{1D2B3036-3F73-4280-9466-C52AE9DC6374}"/>
              </a:ext>
            </a:extLst>
          </p:cNvPr>
          <p:cNvSpPr txBox="1">
            <a:spLocks/>
          </p:cNvSpPr>
          <p:nvPr/>
        </p:nvSpPr>
        <p:spPr>
          <a:xfrm>
            <a:off x="107504" y="2929488"/>
            <a:ext cx="2444317" cy="1218528"/>
          </a:xfrm>
          <a:prstGeom prst="rect">
            <a:avLst/>
          </a:prstGeom>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lvl="0" eaLnBrk="1"/>
            <a:r>
              <a:rPr kumimoji="0" lang="zh-CN" altLang="en-US" sz="1400" b="0" i="0" u="none" strike="noStrike" kern="0" cap="none" spc="0" normalizeH="0" baseline="0" noProof="0" dirty="0">
                <a:ln>
                  <a:noFill/>
                </a:ln>
                <a:solidFill>
                  <a:srgbClr val="000000"/>
                </a:solidFill>
                <a:effectLst/>
                <a:uLnTx/>
                <a:uFillTx/>
                <a:latin typeface="Intel Clear Light"/>
                <a:sym typeface="Helvetica Neue"/>
              </a:rPr>
              <a:t>使用</a:t>
            </a:r>
            <a:r>
              <a:rPr kumimoji="0" lang="en-US" sz="1400" b="0" i="0" u="none" strike="noStrike" kern="0" cap="none" spc="0" normalizeH="0" baseline="0" noProof="0" dirty="0">
                <a:ln>
                  <a:noFill/>
                </a:ln>
                <a:solidFill>
                  <a:srgbClr val="F6CB4B"/>
                </a:solidFill>
                <a:effectLst/>
                <a:uLnTx/>
                <a:uFillTx/>
                <a:latin typeface="Intel Clear Light"/>
                <a:sym typeface="Helvetica Neue"/>
              </a:rPr>
              <a:t>q.memcpy()</a:t>
            </a:r>
            <a:r>
              <a:rPr lang="zh-CN" altLang="en-US" sz="1400" kern="0" dirty="0">
                <a:latin typeface="Intel Clear Light"/>
              </a:rPr>
              <a:t>显式从主机向设备拷贝内存</a:t>
            </a:r>
            <a:endParaRPr kumimoji="0" lang="en-US" sz="1400" b="0" i="0" u="none" strike="noStrike" kern="0" cap="none" spc="0" normalizeH="0" baseline="0" noProof="0" dirty="0">
              <a:ln>
                <a:noFill/>
              </a:ln>
              <a:solidFill>
                <a:srgbClr val="F6CB4B"/>
              </a:solidFill>
              <a:effectLst/>
              <a:uLnTx/>
              <a:uFillTx/>
              <a:latin typeface="Intel Clear Light"/>
              <a:sym typeface="Helvetica Neue"/>
            </a:endParaRPr>
          </a:p>
        </p:txBody>
      </p:sp>
      <p:sp>
        <p:nvSpPr>
          <p:cNvPr id="40" name="Content Placeholder 9">
            <a:extLst>
              <a:ext uri="{FF2B5EF4-FFF2-40B4-BE49-F238E27FC236}">
                <a16:creationId xmlns:a16="http://schemas.microsoft.com/office/drawing/2014/main" id="{6B705E0A-822D-4BDD-8E0D-585ACC5579E2}"/>
              </a:ext>
            </a:extLst>
          </p:cNvPr>
          <p:cNvSpPr txBox="1">
            <a:spLocks/>
          </p:cNvSpPr>
          <p:nvPr/>
        </p:nvSpPr>
        <p:spPr>
          <a:xfrm>
            <a:off x="107503" y="4280423"/>
            <a:ext cx="2444317" cy="796663"/>
          </a:xfrm>
          <a:prstGeom prst="rect">
            <a:avLst/>
          </a:prstGeom>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zh-CN" altLang="en-US" sz="1400" b="0" i="0" u="none" strike="noStrike" kern="0" cap="none" spc="0" normalizeH="0" baseline="0" noProof="0" dirty="0">
                <a:ln>
                  <a:noFill/>
                </a:ln>
                <a:solidFill>
                  <a:srgbClr val="000000"/>
                </a:solidFill>
                <a:effectLst/>
                <a:uLnTx/>
                <a:uFillTx/>
                <a:latin typeface="Intel Clear Light"/>
                <a:sym typeface="Helvetica Neue"/>
              </a:rPr>
              <a:t>在设备端修改数据</a:t>
            </a:r>
            <a:endParaRPr kumimoji="0" lang="en-US" sz="1400" b="0" i="0" u="none" strike="noStrike" kern="0" cap="none" spc="0" normalizeH="0" baseline="0" noProof="0" dirty="0">
              <a:ln>
                <a:noFill/>
              </a:ln>
              <a:solidFill>
                <a:srgbClr val="000000"/>
              </a:solidFill>
              <a:effectLst/>
              <a:uLnTx/>
              <a:uFillTx/>
              <a:latin typeface="Intel Clear Light"/>
              <a:sym typeface="Helvetica Neue"/>
            </a:endParaRPr>
          </a:p>
        </p:txBody>
      </p:sp>
      <p:sp>
        <p:nvSpPr>
          <p:cNvPr id="41" name="Content Placeholder 9">
            <a:extLst>
              <a:ext uri="{FF2B5EF4-FFF2-40B4-BE49-F238E27FC236}">
                <a16:creationId xmlns:a16="http://schemas.microsoft.com/office/drawing/2014/main" id="{93B565DA-3DB1-44C7-BBB9-3C1BFBD46895}"/>
              </a:ext>
            </a:extLst>
          </p:cNvPr>
          <p:cNvSpPr txBox="1">
            <a:spLocks/>
          </p:cNvSpPr>
          <p:nvPr/>
        </p:nvSpPr>
        <p:spPr>
          <a:xfrm>
            <a:off x="107503" y="5211627"/>
            <a:ext cx="2498847" cy="1193712"/>
          </a:xfrm>
          <a:prstGeom prst="rect">
            <a:avLst/>
          </a:prstGeom>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lvl="0" eaLnBrk="1"/>
            <a:r>
              <a:rPr kumimoji="0" lang="zh-CN" altLang="en-US" sz="1400" b="0" i="0" u="none" strike="noStrike" kern="0" cap="none" spc="0" normalizeH="0" baseline="0" noProof="0" dirty="0">
                <a:ln>
                  <a:noFill/>
                </a:ln>
                <a:solidFill>
                  <a:srgbClr val="000000"/>
                </a:solidFill>
                <a:effectLst/>
                <a:uLnTx/>
                <a:uFillTx/>
                <a:latin typeface="Intel Clear Light"/>
                <a:sym typeface="Helvetica Neue"/>
              </a:rPr>
              <a:t>使用</a:t>
            </a:r>
            <a:r>
              <a:rPr kumimoji="0" lang="en-US" sz="1400" b="0" i="0" u="none" strike="noStrike" kern="0" cap="none" spc="0" normalizeH="0" baseline="0" noProof="0" dirty="0" err="1">
                <a:ln>
                  <a:noFill/>
                </a:ln>
                <a:solidFill>
                  <a:srgbClr val="F6CB4B"/>
                </a:solidFill>
                <a:effectLst/>
                <a:uLnTx/>
                <a:uFillTx/>
                <a:latin typeface="Intel Clear Light"/>
                <a:sym typeface="Helvetica Neue"/>
              </a:rPr>
              <a:t>q.memcpy</a:t>
            </a:r>
            <a:r>
              <a:rPr kumimoji="0" lang="en-US" sz="1400" b="0" i="0" u="none" strike="noStrike" kern="0" cap="none" spc="0" normalizeH="0" baseline="0" noProof="0" dirty="0">
                <a:ln>
                  <a:noFill/>
                </a:ln>
                <a:solidFill>
                  <a:srgbClr val="F6CB4B"/>
                </a:solidFill>
                <a:effectLst/>
                <a:uLnTx/>
                <a:uFillTx/>
                <a:latin typeface="Intel Clear Light"/>
                <a:sym typeface="Helvetica Neue"/>
              </a:rPr>
              <a:t>()</a:t>
            </a:r>
            <a:r>
              <a:rPr lang="zh-CN" altLang="en-US" sz="1400" kern="0" dirty="0">
                <a:latin typeface="Intel Clear Light"/>
              </a:rPr>
              <a:t>显式从设备向主机拷贝内存</a:t>
            </a:r>
            <a:endParaRPr kumimoji="0" lang="en-US" sz="1400" b="0" i="0" u="none" strike="noStrike" kern="0" cap="none" spc="0" normalizeH="0" baseline="0" noProof="0" dirty="0">
              <a:ln>
                <a:noFill/>
              </a:ln>
              <a:solidFill>
                <a:srgbClr val="F6CB4B"/>
              </a:solidFill>
              <a:effectLst/>
              <a:uLnTx/>
              <a:uFillTx/>
              <a:latin typeface="Intel Clear Light"/>
              <a:sym typeface="Helvetica Neue"/>
            </a:endParaRPr>
          </a:p>
        </p:txBody>
      </p:sp>
      <p:cxnSp>
        <p:nvCxnSpPr>
          <p:cNvPr id="42" name="Straight Arrow Connector 15">
            <a:extLst>
              <a:ext uri="{FF2B5EF4-FFF2-40B4-BE49-F238E27FC236}">
                <a16:creationId xmlns:a16="http://schemas.microsoft.com/office/drawing/2014/main" id="{0869C00E-65EA-4039-B22D-3121BCAA4FD8}"/>
              </a:ext>
            </a:extLst>
          </p:cNvPr>
          <p:cNvCxnSpPr>
            <a:cxnSpLocks/>
          </p:cNvCxnSpPr>
          <p:nvPr/>
        </p:nvCxnSpPr>
        <p:spPr>
          <a:xfrm>
            <a:off x="2339752" y="1844824"/>
            <a:ext cx="2436440" cy="1327722"/>
          </a:xfrm>
          <a:prstGeom prst="straightConnector1">
            <a:avLst/>
          </a:prstGeom>
          <a:noFill/>
          <a:ln w="25400" cap="flat" cmpd="sng" algn="ctr">
            <a:solidFill>
              <a:srgbClr val="D96930"/>
            </a:solidFill>
            <a:prstDash val="solid"/>
            <a:tailEnd type="triangle"/>
          </a:ln>
          <a:effectLst/>
        </p:spPr>
      </p:cxnSp>
      <p:cxnSp>
        <p:nvCxnSpPr>
          <p:cNvPr id="43" name="Straight Arrow Connector 16">
            <a:extLst>
              <a:ext uri="{FF2B5EF4-FFF2-40B4-BE49-F238E27FC236}">
                <a16:creationId xmlns:a16="http://schemas.microsoft.com/office/drawing/2014/main" id="{BE52EDA8-7BA5-447F-AFAD-0A9ABF6DB18A}"/>
              </a:ext>
            </a:extLst>
          </p:cNvPr>
          <p:cNvCxnSpPr>
            <a:cxnSpLocks/>
          </p:cNvCxnSpPr>
          <p:nvPr/>
        </p:nvCxnSpPr>
        <p:spPr>
          <a:xfrm>
            <a:off x="1979712" y="3284984"/>
            <a:ext cx="958227" cy="527784"/>
          </a:xfrm>
          <a:prstGeom prst="straightConnector1">
            <a:avLst/>
          </a:prstGeom>
          <a:noFill/>
          <a:ln w="25400" cap="flat" cmpd="sng" algn="ctr">
            <a:solidFill>
              <a:srgbClr val="D96930"/>
            </a:solidFill>
            <a:prstDash val="solid"/>
            <a:tailEnd type="triangle"/>
          </a:ln>
          <a:effectLst/>
        </p:spPr>
      </p:cxnSp>
      <p:cxnSp>
        <p:nvCxnSpPr>
          <p:cNvPr id="44" name="Straight Arrow Connector 17">
            <a:extLst>
              <a:ext uri="{FF2B5EF4-FFF2-40B4-BE49-F238E27FC236}">
                <a16:creationId xmlns:a16="http://schemas.microsoft.com/office/drawing/2014/main" id="{44246913-26CB-454D-BA17-F769AABDD27D}"/>
              </a:ext>
            </a:extLst>
          </p:cNvPr>
          <p:cNvCxnSpPr>
            <a:cxnSpLocks/>
            <a:endCxn id="38" idx="1"/>
          </p:cNvCxnSpPr>
          <p:nvPr/>
        </p:nvCxnSpPr>
        <p:spPr>
          <a:xfrm>
            <a:off x="1646956" y="4408367"/>
            <a:ext cx="4396128" cy="170850"/>
          </a:xfrm>
          <a:prstGeom prst="straightConnector1">
            <a:avLst/>
          </a:prstGeom>
          <a:noFill/>
          <a:ln w="25400" cap="flat" cmpd="sng" algn="ctr">
            <a:solidFill>
              <a:srgbClr val="D96930"/>
            </a:solidFill>
            <a:prstDash val="solid"/>
            <a:tailEnd type="triangle"/>
          </a:ln>
          <a:effectLst/>
        </p:spPr>
      </p:cxnSp>
      <p:cxnSp>
        <p:nvCxnSpPr>
          <p:cNvPr id="45" name="Straight Arrow Connector 18">
            <a:extLst>
              <a:ext uri="{FF2B5EF4-FFF2-40B4-BE49-F238E27FC236}">
                <a16:creationId xmlns:a16="http://schemas.microsoft.com/office/drawing/2014/main" id="{488A8ED5-86A0-4EEF-B620-DB25E3DC7904}"/>
              </a:ext>
            </a:extLst>
          </p:cNvPr>
          <p:cNvCxnSpPr>
            <a:cxnSpLocks/>
          </p:cNvCxnSpPr>
          <p:nvPr/>
        </p:nvCxnSpPr>
        <p:spPr>
          <a:xfrm flipV="1">
            <a:off x="2502086" y="5353576"/>
            <a:ext cx="615438" cy="84910"/>
          </a:xfrm>
          <a:prstGeom prst="straightConnector1">
            <a:avLst/>
          </a:prstGeom>
          <a:noFill/>
          <a:ln w="25400" cap="flat" cmpd="sng" algn="ctr">
            <a:solidFill>
              <a:srgbClr val="D96930"/>
            </a:solidFill>
            <a:prstDash val="solid"/>
            <a:tailEnd type="triangle"/>
          </a:ln>
          <a:effectLst/>
        </p:spPr>
      </p:cxnSp>
      <p:sp>
        <p:nvSpPr>
          <p:cNvPr id="46" name="Content Placeholder 9">
            <a:extLst>
              <a:ext uri="{FF2B5EF4-FFF2-40B4-BE49-F238E27FC236}">
                <a16:creationId xmlns:a16="http://schemas.microsoft.com/office/drawing/2014/main" id="{E5A43B58-131A-455E-8EBE-2EA9C127D707}"/>
              </a:ext>
            </a:extLst>
          </p:cNvPr>
          <p:cNvSpPr txBox="1">
            <a:spLocks/>
          </p:cNvSpPr>
          <p:nvPr/>
        </p:nvSpPr>
        <p:spPr>
          <a:xfrm>
            <a:off x="107504" y="1540317"/>
            <a:ext cx="2553374" cy="1218528"/>
          </a:xfrm>
          <a:prstGeom prst="rect">
            <a:avLst/>
          </a:prstGeom>
        </p:spPr>
        <p:txBody>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a:lstStyle>
          <a:p>
            <a:pPr marL="0" marR="0" lvl="0" indent="0" algn="l" defTabSz="1219169" rtl="0" eaLnBrk="1" fontAlgn="auto" latinLnBrk="0" hangingPunct="0">
              <a:lnSpc>
                <a:spcPct val="90000"/>
              </a:lnSpc>
              <a:spcBef>
                <a:spcPts val="2250"/>
              </a:spcBef>
              <a:spcAft>
                <a:spcPts val="0"/>
              </a:spcAft>
              <a:buClrTx/>
              <a:buSzTx/>
              <a:buFontTx/>
              <a:buNone/>
              <a:tabLst/>
              <a:defRPr/>
            </a:pPr>
            <a:r>
              <a:rPr kumimoji="0" lang="en-US" sz="1400" b="0" i="0" u="none" strike="noStrike" kern="0" cap="none" spc="0" normalizeH="0" baseline="0" noProof="0" dirty="0" err="1">
                <a:ln>
                  <a:noFill/>
                </a:ln>
                <a:solidFill>
                  <a:srgbClr val="F6CB4B"/>
                </a:solidFill>
                <a:effectLst/>
                <a:uLnTx/>
                <a:uFillTx/>
                <a:latin typeface="Intel Clear Light"/>
                <a:sym typeface="Helvetica Neue"/>
              </a:rPr>
              <a:t>malloc_device</a:t>
            </a:r>
            <a:r>
              <a:rPr kumimoji="0" lang="en-US" sz="1400" b="0" i="0" u="none" strike="noStrike" kern="0" cap="none" spc="0" normalizeH="0" baseline="0" noProof="0" dirty="0">
                <a:ln>
                  <a:noFill/>
                </a:ln>
                <a:solidFill>
                  <a:srgbClr val="F6CB4B"/>
                </a:solidFill>
                <a:effectLst/>
                <a:uLnTx/>
                <a:uFillTx/>
                <a:latin typeface="Intel Clear Light"/>
                <a:sym typeface="Helvetica Neue"/>
              </a:rPr>
              <a:t>() </a:t>
            </a:r>
            <a:r>
              <a:rPr lang="zh-CN" altLang="en-US" sz="1400" kern="0" dirty="0">
                <a:latin typeface="Intel Clear Light"/>
              </a:rPr>
              <a:t>在设备分配内存，主机不能访问</a:t>
            </a:r>
            <a:endParaRPr kumimoji="0" lang="en-US" sz="1400" b="0" i="0" u="none" strike="noStrike" kern="0" cap="none" spc="0" normalizeH="0" baseline="0" noProof="0" dirty="0">
              <a:ln>
                <a:noFill/>
              </a:ln>
              <a:solidFill>
                <a:srgbClr val="000000"/>
              </a:solidFill>
              <a:effectLst/>
              <a:uLnTx/>
              <a:uFillTx/>
              <a:latin typeface="Intel Clear Light"/>
              <a:sym typeface="Helvetica Neue"/>
            </a:endParaRPr>
          </a:p>
        </p:txBody>
      </p:sp>
    </p:spTree>
    <p:extLst>
      <p:ext uri="{BB962C8B-B14F-4D97-AF65-F5344CB8AC3E}">
        <p14:creationId xmlns:p14="http://schemas.microsoft.com/office/powerpoint/2010/main" val="25636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nodePh="1">
                                  <p:stCondLst>
                                    <p:cond delay="0"/>
                                  </p:stCondLst>
                                  <p:endCondLst>
                                    <p:cond evt="begin" delay="0">
                                      <p:tn val="33"/>
                                    </p:cond>
                                  </p:endCondLst>
                                  <p:childTnLst>
                                    <p:set>
                                      <p:cBhvr>
                                        <p:cTn id="34" dur="1" fill="hold">
                                          <p:stCondLst>
                                            <p:cond delay="0"/>
                                          </p:stCondLst>
                                        </p:cTn>
                                        <p:tgtEl>
                                          <p:spTgt spid="3">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5" grpId="0" animBg="1"/>
      <p:bldP spid="36" grpId="0" animBg="1"/>
      <p:bldP spid="37" grpId="0" animBg="1"/>
      <p:bldP spid="38" grpId="0" animBg="1"/>
      <p:bldP spid="39" grpId="0"/>
      <p:bldP spid="40" grpId="0"/>
      <p:bldP spid="41" grpId="0"/>
      <p:bldP spid="46"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356F8D-11FD-44C5-B19A-8196E4104E7E}"/>
              </a:ext>
            </a:extLst>
          </p:cNvPr>
          <p:cNvSpPr>
            <a:spLocks noGrp="1"/>
          </p:cNvSpPr>
          <p:nvPr>
            <p:ph type="title"/>
          </p:nvPr>
        </p:nvSpPr>
        <p:spPr/>
        <p:txBody>
          <a:bodyPr/>
          <a:lstStyle/>
          <a:p>
            <a:r>
              <a:rPr lang="en-US" altLang="zh-CN" dirty="0"/>
              <a:t>USM—</a:t>
            </a:r>
            <a:r>
              <a:rPr lang="zh-CN" altLang="en-US" dirty="0"/>
              <a:t>隐式内存传输</a:t>
            </a:r>
          </a:p>
        </p:txBody>
      </p:sp>
      <p:sp>
        <p:nvSpPr>
          <p:cNvPr id="3" name="内容占位符 2">
            <a:extLst>
              <a:ext uri="{FF2B5EF4-FFF2-40B4-BE49-F238E27FC236}">
                <a16:creationId xmlns:a16="http://schemas.microsoft.com/office/drawing/2014/main" id="{960AC91E-916C-409E-B09F-4134F86486CC}"/>
              </a:ext>
            </a:extLst>
          </p:cNvPr>
          <p:cNvSpPr>
            <a:spLocks noGrp="1"/>
          </p:cNvSpPr>
          <p:nvPr>
            <p:ph idx="1"/>
          </p:nvPr>
        </p:nvSpPr>
        <p:spPr/>
        <p:txBody>
          <a:bodyPr/>
          <a:lstStyle/>
          <a:p>
            <a:endParaRPr lang="zh-CN" altLang="en-US" dirty="0"/>
          </a:p>
        </p:txBody>
      </p:sp>
      <p:grpSp>
        <p:nvGrpSpPr>
          <p:cNvPr id="17" name="Group 35">
            <a:extLst>
              <a:ext uri="{FF2B5EF4-FFF2-40B4-BE49-F238E27FC236}">
                <a16:creationId xmlns:a16="http://schemas.microsoft.com/office/drawing/2014/main" id="{205050F5-8BBD-4950-921D-6B35949A8453}"/>
              </a:ext>
            </a:extLst>
          </p:cNvPr>
          <p:cNvGrpSpPr/>
          <p:nvPr/>
        </p:nvGrpSpPr>
        <p:grpSpPr>
          <a:xfrm>
            <a:off x="2707737" y="1432161"/>
            <a:ext cx="6400767" cy="3764069"/>
            <a:chOff x="5242989" y="505096"/>
            <a:chExt cx="5621214" cy="6257626"/>
          </a:xfrm>
        </p:grpSpPr>
        <p:sp>
          <p:nvSpPr>
            <p:cNvPr id="18" name="Rectangle: Single Corner Snipped 36">
              <a:extLst>
                <a:ext uri="{FF2B5EF4-FFF2-40B4-BE49-F238E27FC236}">
                  <a16:creationId xmlns:a16="http://schemas.microsoft.com/office/drawing/2014/main" id="{93FCA48C-A24A-49C9-B020-4CA7778B1945}"/>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37">
              <a:extLst>
                <a:ext uri="{FF2B5EF4-FFF2-40B4-BE49-F238E27FC236}">
                  <a16:creationId xmlns:a16="http://schemas.microsoft.com/office/drawing/2014/main" id="{38F1861E-21DF-4362-8A6E-1DC7CB7769DF}"/>
                </a:ext>
              </a:extLst>
            </p:cNvPr>
            <p:cNvSpPr txBox="1"/>
            <p:nvPr/>
          </p:nvSpPr>
          <p:spPr>
            <a:xfrm>
              <a:off x="5390906" y="611430"/>
              <a:ext cx="5473297" cy="4777693"/>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}).wait();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N;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endl</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free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q);</a:t>
              </a:r>
            </a:p>
          </p:txBody>
        </p:sp>
      </p:grpSp>
      <p:sp>
        <p:nvSpPr>
          <p:cNvPr id="21" name="Rectangle: Rounded Corners 39">
            <a:extLst>
              <a:ext uri="{FF2B5EF4-FFF2-40B4-BE49-F238E27FC236}">
                <a16:creationId xmlns:a16="http://schemas.microsoft.com/office/drawing/2014/main" id="{71871537-F813-46F5-8463-37422A46BDBC}"/>
              </a:ext>
            </a:extLst>
          </p:cNvPr>
          <p:cNvSpPr/>
          <p:nvPr/>
        </p:nvSpPr>
        <p:spPr>
          <a:xfrm>
            <a:off x="6840848" y="3764525"/>
            <a:ext cx="822255" cy="32616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2" name="Rectangle: Rounded Corners 40">
            <a:extLst>
              <a:ext uri="{FF2B5EF4-FFF2-40B4-BE49-F238E27FC236}">
                <a16:creationId xmlns:a16="http://schemas.microsoft.com/office/drawing/2014/main" id="{94501FFC-D2AD-40B6-85F9-7C273DB2CB40}"/>
              </a:ext>
            </a:extLst>
          </p:cNvPr>
          <p:cNvSpPr/>
          <p:nvPr/>
        </p:nvSpPr>
        <p:spPr>
          <a:xfrm>
            <a:off x="3996476" y="2165438"/>
            <a:ext cx="1347072" cy="28788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3" name="Rectangle: Rounded Corners 41">
            <a:extLst>
              <a:ext uri="{FF2B5EF4-FFF2-40B4-BE49-F238E27FC236}">
                <a16:creationId xmlns:a16="http://schemas.microsoft.com/office/drawing/2014/main" id="{6F9FEBA5-94B7-48D6-95D8-47E11CE4A0A2}"/>
              </a:ext>
            </a:extLst>
          </p:cNvPr>
          <p:cNvSpPr/>
          <p:nvPr/>
        </p:nvSpPr>
        <p:spPr>
          <a:xfrm>
            <a:off x="5992335" y="3156879"/>
            <a:ext cx="1356181" cy="2695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4" name="Content Placeholder 9">
            <a:extLst>
              <a:ext uri="{FF2B5EF4-FFF2-40B4-BE49-F238E27FC236}">
                <a16:creationId xmlns:a16="http://schemas.microsoft.com/office/drawing/2014/main" id="{8BDE8B83-6A6E-4F1A-A872-A2919F5886BE}"/>
              </a:ext>
            </a:extLst>
          </p:cNvPr>
          <p:cNvSpPr txBox="1">
            <a:spLocks/>
          </p:cNvSpPr>
          <p:nvPr/>
        </p:nvSpPr>
        <p:spPr>
          <a:xfrm>
            <a:off x="188912" y="3202875"/>
            <a:ext cx="2356906" cy="1236412"/>
          </a:xfrm>
          <a:prstGeom prst="rect">
            <a:avLst/>
          </a:prstGeom>
        </p:spPr>
        <p:txBody>
          <a:bodyPr/>
          <a:lstStyle>
            <a:lvl1pPr marL="0" indent="0" algn="ctr" defTabSz="609585" rtl="0" eaLnBrk="1" latinLnBrk="0" hangingPunct="1">
              <a:spcBef>
                <a:spcPts val="1600"/>
              </a:spcBef>
              <a:spcAft>
                <a:spcPts val="0"/>
              </a:spcAft>
              <a:buFont typeface="Wingdings" panose="05000000000000000000" pitchFamily="2" charset="2"/>
              <a:buNone/>
              <a:defRPr sz="2400" b="0" kern="1200">
                <a:solidFill>
                  <a:schemeClr val="bg1"/>
                </a:solidFill>
                <a:latin typeface="+mn-lt"/>
                <a:ea typeface="+mn-ea"/>
                <a:cs typeface="Intel Clear" panose="020B0604020203020204" pitchFamily="34" charset="0"/>
              </a:defRPr>
            </a:lvl1pPr>
            <a:lvl2pPr marL="300559" indent="-300559" algn="ctr" defTabSz="609585" rtl="0" eaLnBrk="1" latinLnBrk="0" hangingPunct="1">
              <a:spcBef>
                <a:spcPts val="1600"/>
              </a:spcBef>
              <a:buFont typeface="Wingdings" charset="2"/>
              <a:buChar char="§"/>
              <a:defRPr sz="2400" kern="1200" baseline="0">
                <a:solidFill>
                  <a:schemeClr val="bg1"/>
                </a:solidFill>
                <a:latin typeface="+mn-lt"/>
                <a:ea typeface="+mn-ea"/>
                <a:cs typeface="Intel Clear" panose="020B0604020203020204" pitchFamily="34" charset="0"/>
              </a:defRPr>
            </a:lvl2pPr>
            <a:lvl3pPr marL="761981" indent="-304792" algn="ctr" defTabSz="609585" rtl="0" eaLnBrk="1" latinLnBrk="0" hangingPunct="1">
              <a:spcBef>
                <a:spcPts val="1067"/>
              </a:spcBef>
              <a:buFont typeface="Intel Clear" panose="020B0604020203020204" pitchFamily="34" charset="0"/>
              <a:buChar char="–"/>
              <a:defRPr sz="2400" kern="1200">
                <a:solidFill>
                  <a:schemeClr val="bg1"/>
                </a:solidFill>
                <a:latin typeface="+mn-lt"/>
                <a:ea typeface="+mn-ea"/>
                <a:cs typeface="Intel Clear" panose="020B0604020203020204" pitchFamily="34" charset="0"/>
              </a:defRPr>
            </a:lvl3pPr>
            <a:lvl4pPr marL="1293252" indent="-304792" algn="ctr" defTabSz="609585" rtl="0" eaLnBrk="1" latinLnBrk="0" hangingPunct="1">
              <a:spcBef>
                <a:spcPct val="20000"/>
              </a:spcBef>
              <a:buFont typeface="Arial"/>
              <a:buChar char="–"/>
              <a:defRPr sz="2133" kern="1200">
                <a:solidFill>
                  <a:schemeClr val="bg1"/>
                </a:solidFill>
                <a:latin typeface="+mn-lt"/>
                <a:ea typeface="+mn-ea"/>
                <a:cs typeface="Intel Clear" panose="020B0604020203020204" pitchFamily="34" charset="0"/>
              </a:defRPr>
            </a:lvl4pPr>
            <a:lvl5pPr marL="1758907" indent="-304792" algn="ctr" defTabSz="609585" rtl="0" eaLnBrk="1" latinLnBrk="0" hangingPunct="1">
              <a:spcBef>
                <a:spcPct val="20000"/>
              </a:spcBef>
              <a:buFont typeface="Intel Clear" panose="020B0604020203020204" pitchFamily="34" charset="0"/>
              <a:buChar char="–"/>
              <a:defRPr sz="1867" kern="1200">
                <a:solidFill>
                  <a:schemeClr val="bg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lnSpc>
                <a:spcPct val="90000"/>
              </a:lnSpc>
            </a:pPr>
            <a:r>
              <a:rPr kumimoji="0" lang="zh-CN" altLang="en-US" sz="1400" dirty="0">
                <a:solidFill>
                  <a:schemeClr val="accent6"/>
                </a:solidFill>
                <a:latin typeface="Intel Clear Light"/>
                <a:sym typeface="Helvetica Neue"/>
              </a:rPr>
              <a:t>在设备端修改数据</a:t>
            </a:r>
            <a:endParaRPr kumimoji="0" lang="en-US" sz="1400" dirty="0">
              <a:solidFill>
                <a:schemeClr val="accent6"/>
              </a:solidFill>
              <a:latin typeface="Intel Clear Light"/>
              <a:sym typeface="Helvetica Neue"/>
            </a:endParaRPr>
          </a:p>
        </p:txBody>
      </p:sp>
      <p:sp>
        <p:nvSpPr>
          <p:cNvPr id="25" name="Content Placeholder 9">
            <a:extLst>
              <a:ext uri="{FF2B5EF4-FFF2-40B4-BE49-F238E27FC236}">
                <a16:creationId xmlns:a16="http://schemas.microsoft.com/office/drawing/2014/main" id="{75FF7F73-E954-421B-AD19-695DCF124F8C}"/>
              </a:ext>
            </a:extLst>
          </p:cNvPr>
          <p:cNvSpPr txBox="1">
            <a:spLocks/>
          </p:cNvSpPr>
          <p:nvPr/>
        </p:nvSpPr>
        <p:spPr>
          <a:xfrm>
            <a:off x="188912" y="4503085"/>
            <a:ext cx="2419824" cy="942139"/>
          </a:xfrm>
          <a:prstGeom prst="rect">
            <a:avLst/>
          </a:prstGeom>
        </p:spPr>
        <p:txBody>
          <a:bodyPr/>
          <a:lstStyle>
            <a:lvl1pPr marL="0" indent="0" algn="ctr" defTabSz="609585" rtl="0" eaLnBrk="1" latinLnBrk="0" hangingPunct="1">
              <a:spcBef>
                <a:spcPts val="1600"/>
              </a:spcBef>
              <a:spcAft>
                <a:spcPts val="0"/>
              </a:spcAft>
              <a:buFont typeface="Wingdings" panose="05000000000000000000" pitchFamily="2" charset="2"/>
              <a:buNone/>
              <a:defRPr sz="2400" b="0" kern="1200">
                <a:solidFill>
                  <a:schemeClr val="bg1"/>
                </a:solidFill>
                <a:latin typeface="+mn-lt"/>
                <a:ea typeface="+mn-ea"/>
                <a:cs typeface="Intel Clear" panose="020B0604020203020204" pitchFamily="34" charset="0"/>
              </a:defRPr>
            </a:lvl1pPr>
            <a:lvl2pPr marL="300559" indent="-300559" algn="ctr" defTabSz="609585" rtl="0" eaLnBrk="1" latinLnBrk="0" hangingPunct="1">
              <a:spcBef>
                <a:spcPts val="1600"/>
              </a:spcBef>
              <a:buFont typeface="Wingdings" charset="2"/>
              <a:buChar char="§"/>
              <a:defRPr sz="2400" kern="1200" baseline="0">
                <a:solidFill>
                  <a:schemeClr val="bg1"/>
                </a:solidFill>
                <a:latin typeface="+mn-lt"/>
                <a:ea typeface="+mn-ea"/>
                <a:cs typeface="Intel Clear" panose="020B0604020203020204" pitchFamily="34" charset="0"/>
              </a:defRPr>
            </a:lvl2pPr>
            <a:lvl3pPr marL="761981" indent="-304792" algn="ctr" defTabSz="609585" rtl="0" eaLnBrk="1" latinLnBrk="0" hangingPunct="1">
              <a:spcBef>
                <a:spcPts val="1067"/>
              </a:spcBef>
              <a:buFont typeface="Intel Clear" panose="020B0604020203020204" pitchFamily="34" charset="0"/>
              <a:buChar char="–"/>
              <a:defRPr sz="2400" kern="1200">
                <a:solidFill>
                  <a:schemeClr val="bg1"/>
                </a:solidFill>
                <a:latin typeface="+mn-lt"/>
                <a:ea typeface="+mn-ea"/>
                <a:cs typeface="Intel Clear" panose="020B0604020203020204" pitchFamily="34" charset="0"/>
              </a:defRPr>
            </a:lvl3pPr>
            <a:lvl4pPr marL="1293252" indent="-304792" algn="ctr" defTabSz="609585" rtl="0" eaLnBrk="1" latinLnBrk="0" hangingPunct="1">
              <a:spcBef>
                <a:spcPct val="20000"/>
              </a:spcBef>
              <a:buFont typeface="Arial"/>
              <a:buChar char="–"/>
              <a:defRPr sz="2133" kern="1200">
                <a:solidFill>
                  <a:schemeClr val="bg1"/>
                </a:solidFill>
                <a:latin typeface="+mn-lt"/>
                <a:ea typeface="+mn-ea"/>
                <a:cs typeface="Intel Clear" panose="020B0604020203020204" pitchFamily="34" charset="0"/>
              </a:defRPr>
            </a:lvl4pPr>
            <a:lvl5pPr marL="1758907" indent="-304792" algn="ctr" defTabSz="609585" rtl="0" eaLnBrk="1" latinLnBrk="0" hangingPunct="1">
              <a:spcBef>
                <a:spcPct val="20000"/>
              </a:spcBef>
              <a:buFont typeface="Intel Clear" panose="020B0604020203020204" pitchFamily="34" charset="0"/>
              <a:buChar char="–"/>
              <a:defRPr sz="1867" kern="1200">
                <a:solidFill>
                  <a:schemeClr val="bg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lnSpc>
                <a:spcPct val="90000"/>
              </a:lnSpc>
            </a:pPr>
            <a:r>
              <a:rPr kumimoji="0" lang="zh-CN" altLang="en-US" sz="1400" dirty="0">
                <a:solidFill>
                  <a:schemeClr val="accent6"/>
                </a:solidFill>
                <a:latin typeface="Intel Clear Light"/>
                <a:sym typeface="Helvetica Neue"/>
              </a:rPr>
              <a:t>主机端可以访问设备修改的内存</a:t>
            </a:r>
            <a:endParaRPr kumimoji="0" lang="en-US" sz="1400" dirty="0">
              <a:solidFill>
                <a:schemeClr val="accent6"/>
              </a:solidFill>
              <a:latin typeface="Intel Clear Light"/>
              <a:sym typeface="Helvetica Neue"/>
            </a:endParaRPr>
          </a:p>
        </p:txBody>
      </p:sp>
      <p:cxnSp>
        <p:nvCxnSpPr>
          <p:cNvPr id="26" name="Straight Arrow Connector 44">
            <a:extLst>
              <a:ext uri="{FF2B5EF4-FFF2-40B4-BE49-F238E27FC236}">
                <a16:creationId xmlns:a16="http://schemas.microsoft.com/office/drawing/2014/main" id="{600FE013-3EA9-4648-8973-5DF3D3626452}"/>
              </a:ext>
            </a:extLst>
          </p:cNvPr>
          <p:cNvCxnSpPr>
            <a:cxnSpLocks/>
          </p:cNvCxnSpPr>
          <p:nvPr/>
        </p:nvCxnSpPr>
        <p:spPr>
          <a:xfrm>
            <a:off x="2111446" y="1988840"/>
            <a:ext cx="1885030" cy="176598"/>
          </a:xfrm>
          <a:prstGeom prst="straightConnector1">
            <a:avLst/>
          </a:prstGeom>
          <a:noFill/>
          <a:ln w="25400" cap="flat" cmpd="sng" algn="ctr">
            <a:solidFill>
              <a:srgbClr val="D96930"/>
            </a:solidFill>
            <a:prstDash val="solid"/>
            <a:tailEnd type="triangle"/>
          </a:ln>
          <a:effectLst/>
        </p:spPr>
      </p:cxnSp>
      <p:cxnSp>
        <p:nvCxnSpPr>
          <p:cNvPr id="27" name="Straight Arrow Connector 45">
            <a:extLst>
              <a:ext uri="{FF2B5EF4-FFF2-40B4-BE49-F238E27FC236}">
                <a16:creationId xmlns:a16="http://schemas.microsoft.com/office/drawing/2014/main" id="{D22ED9BF-7D0D-44EB-BCC3-4C3CF589BE34}"/>
              </a:ext>
            </a:extLst>
          </p:cNvPr>
          <p:cNvCxnSpPr>
            <a:cxnSpLocks/>
          </p:cNvCxnSpPr>
          <p:nvPr/>
        </p:nvCxnSpPr>
        <p:spPr>
          <a:xfrm flipV="1">
            <a:off x="1921211" y="3426390"/>
            <a:ext cx="4071124" cy="46281"/>
          </a:xfrm>
          <a:prstGeom prst="straightConnector1">
            <a:avLst/>
          </a:prstGeom>
          <a:noFill/>
          <a:ln w="25400" cap="flat" cmpd="sng" algn="ctr">
            <a:solidFill>
              <a:srgbClr val="D96930"/>
            </a:solidFill>
            <a:prstDash val="solid"/>
            <a:tailEnd type="triangle"/>
          </a:ln>
          <a:effectLst/>
        </p:spPr>
      </p:cxnSp>
      <p:cxnSp>
        <p:nvCxnSpPr>
          <p:cNvPr id="28" name="Straight Arrow Connector 46">
            <a:extLst>
              <a:ext uri="{FF2B5EF4-FFF2-40B4-BE49-F238E27FC236}">
                <a16:creationId xmlns:a16="http://schemas.microsoft.com/office/drawing/2014/main" id="{7FC54B88-1B23-4FFD-A3DE-6C757F70B7D2}"/>
              </a:ext>
            </a:extLst>
          </p:cNvPr>
          <p:cNvCxnSpPr>
            <a:cxnSpLocks/>
          </p:cNvCxnSpPr>
          <p:nvPr/>
        </p:nvCxnSpPr>
        <p:spPr>
          <a:xfrm flipV="1">
            <a:off x="2483768" y="4090922"/>
            <a:ext cx="4357079" cy="643489"/>
          </a:xfrm>
          <a:prstGeom prst="straightConnector1">
            <a:avLst/>
          </a:prstGeom>
          <a:noFill/>
          <a:ln w="25400" cap="flat" cmpd="sng" algn="ctr">
            <a:solidFill>
              <a:srgbClr val="D96930"/>
            </a:solidFill>
            <a:prstDash val="solid"/>
            <a:tailEnd type="triangle"/>
          </a:ln>
          <a:effectLst/>
        </p:spPr>
      </p:cxnSp>
      <p:sp>
        <p:nvSpPr>
          <p:cNvPr id="29" name="Content Placeholder 9">
            <a:extLst>
              <a:ext uri="{FF2B5EF4-FFF2-40B4-BE49-F238E27FC236}">
                <a16:creationId xmlns:a16="http://schemas.microsoft.com/office/drawing/2014/main" id="{8F9A188D-7627-48FB-95D1-C136F686EC4A}"/>
              </a:ext>
            </a:extLst>
          </p:cNvPr>
          <p:cNvSpPr txBox="1">
            <a:spLocks/>
          </p:cNvSpPr>
          <p:nvPr/>
        </p:nvSpPr>
        <p:spPr>
          <a:xfrm>
            <a:off x="188912" y="1496123"/>
            <a:ext cx="2356906" cy="1236412"/>
          </a:xfrm>
          <a:prstGeom prst="rect">
            <a:avLst/>
          </a:prstGeom>
        </p:spPr>
        <p:txBody>
          <a:bodyPr/>
          <a:lstStyle>
            <a:lvl1pPr marL="0" indent="0" algn="ctr" defTabSz="609585" rtl="0" eaLnBrk="1" latinLnBrk="0" hangingPunct="1">
              <a:spcBef>
                <a:spcPts val="1600"/>
              </a:spcBef>
              <a:spcAft>
                <a:spcPts val="0"/>
              </a:spcAft>
              <a:buFont typeface="Wingdings" panose="05000000000000000000" pitchFamily="2" charset="2"/>
              <a:buNone/>
              <a:defRPr sz="2400" b="0" kern="1200">
                <a:solidFill>
                  <a:schemeClr val="bg1"/>
                </a:solidFill>
                <a:latin typeface="+mn-lt"/>
                <a:ea typeface="+mn-ea"/>
                <a:cs typeface="Intel Clear" panose="020B0604020203020204" pitchFamily="34" charset="0"/>
              </a:defRPr>
            </a:lvl1pPr>
            <a:lvl2pPr marL="300559" indent="-300559" algn="ctr" defTabSz="609585" rtl="0" eaLnBrk="1" latinLnBrk="0" hangingPunct="1">
              <a:spcBef>
                <a:spcPts val="1600"/>
              </a:spcBef>
              <a:buFont typeface="Wingdings" charset="2"/>
              <a:buChar char="§"/>
              <a:defRPr sz="2400" kern="1200" baseline="0">
                <a:solidFill>
                  <a:schemeClr val="bg1"/>
                </a:solidFill>
                <a:latin typeface="+mn-lt"/>
                <a:ea typeface="+mn-ea"/>
                <a:cs typeface="Intel Clear" panose="020B0604020203020204" pitchFamily="34" charset="0"/>
              </a:defRPr>
            </a:lvl2pPr>
            <a:lvl3pPr marL="761981" indent="-304792" algn="ctr" defTabSz="609585" rtl="0" eaLnBrk="1" latinLnBrk="0" hangingPunct="1">
              <a:spcBef>
                <a:spcPts val="1067"/>
              </a:spcBef>
              <a:buFont typeface="Intel Clear" panose="020B0604020203020204" pitchFamily="34" charset="0"/>
              <a:buChar char="–"/>
              <a:defRPr sz="2400" kern="1200">
                <a:solidFill>
                  <a:schemeClr val="bg1"/>
                </a:solidFill>
                <a:latin typeface="+mn-lt"/>
                <a:ea typeface="+mn-ea"/>
                <a:cs typeface="Intel Clear" panose="020B0604020203020204" pitchFamily="34" charset="0"/>
              </a:defRPr>
            </a:lvl3pPr>
            <a:lvl4pPr marL="1293252" indent="-304792" algn="ctr" defTabSz="609585" rtl="0" eaLnBrk="1" latinLnBrk="0" hangingPunct="1">
              <a:spcBef>
                <a:spcPct val="20000"/>
              </a:spcBef>
              <a:buFont typeface="Arial"/>
              <a:buChar char="–"/>
              <a:defRPr sz="2133" kern="1200">
                <a:solidFill>
                  <a:schemeClr val="bg1"/>
                </a:solidFill>
                <a:latin typeface="+mn-lt"/>
                <a:ea typeface="+mn-ea"/>
                <a:cs typeface="Intel Clear" panose="020B0604020203020204" pitchFamily="34" charset="0"/>
              </a:defRPr>
            </a:lvl4pPr>
            <a:lvl5pPr marL="1758907" indent="-304792" algn="ctr" defTabSz="609585" rtl="0" eaLnBrk="1" latinLnBrk="0" hangingPunct="1">
              <a:spcBef>
                <a:spcPct val="20000"/>
              </a:spcBef>
              <a:buFont typeface="Intel Clear" panose="020B0604020203020204" pitchFamily="34" charset="0"/>
              <a:buChar char="–"/>
              <a:defRPr sz="1867" kern="1200">
                <a:solidFill>
                  <a:schemeClr val="bg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l" fontAlgn="auto">
              <a:lnSpc>
                <a:spcPct val="90000"/>
              </a:lnSpc>
            </a:pPr>
            <a:r>
              <a:rPr kumimoji="0" lang="en-US" sz="1400" kern="0" dirty="0" err="1">
                <a:solidFill>
                  <a:srgbClr val="F6CB4B"/>
                </a:solidFill>
                <a:latin typeface="Intel Clear Light"/>
                <a:cs typeface="+mn-cs"/>
                <a:sym typeface="Helvetica Neue"/>
              </a:rPr>
              <a:t>malloc_shared</a:t>
            </a:r>
            <a:r>
              <a:rPr kumimoji="0" lang="en-US" sz="1400" kern="0" dirty="0">
                <a:solidFill>
                  <a:srgbClr val="F6CB4B"/>
                </a:solidFill>
                <a:latin typeface="Intel Clear Light"/>
                <a:cs typeface="+mn-cs"/>
                <a:sym typeface="Helvetica Neue"/>
              </a:rPr>
              <a:t>() </a:t>
            </a:r>
            <a:r>
              <a:rPr kumimoji="0" lang="zh-CN" altLang="en-US" sz="1400" kern="0" dirty="0">
                <a:solidFill>
                  <a:schemeClr val="accent6"/>
                </a:solidFill>
                <a:latin typeface="Intel Clear Light"/>
                <a:cs typeface="+mn-cs"/>
                <a:sym typeface="Helvetica Neue"/>
              </a:rPr>
              <a:t>分配可在主机和设备移动的内存。主机和设备端都可以访问</a:t>
            </a:r>
            <a:endParaRPr kumimoji="0" lang="en-US" dirty="0">
              <a:solidFill>
                <a:schemeClr val="accent6"/>
              </a:solidFill>
              <a:latin typeface="Intel Clear Light"/>
              <a:sym typeface="Helvetica Neue"/>
            </a:endParaRPr>
          </a:p>
        </p:txBody>
      </p:sp>
    </p:spTree>
    <p:extLst>
      <p:ext uri="{BB962C8B-B14F-4D97-AF65-F5344CB8AC3E}">
        <p14:creationId xmlns:p14="http://schemas.microsoft.com/office/powerpoint/2010/main" val="216406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p:bldP spid="25" grpId="0"/>
      <p:bldP spid="29"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D9A8C-C953-4D70-AE80-8AC61A3FCA1C}"/>
              </a:ext>
            </a:extLst>
          </p:cNvPr>
          <p:cNvSpPr>
            <a:spLocks noGrp="1"/>
          </p:cNvSpPr>
          <p:nvPr>
            <p:ph type="title"/>
          </p:nvPr>
        </p:nvSpPr>
        <p:spPr/>
        <p:txBody>
          <a:bodyPr/>
          <a:lstStyle/>
          <a:p>
            <a:r>
              <a:rPr lang="en-US" altLang="zh-CN" dirty="0"/>
              <a:t>USM—</a:t>
            </a:r>
            <a:r>
              <a:rPr lang="zh-CN" altLang="en-US" dirty="0"/>
              <a:t>任务中的数据依赖</a:t>
            </a:r>
          </a:p>
        </p:txBody>
      </p:sp>
      <p:sp>
        <p:nvSpPr>
          <p:cNvPr id="3" name="内容占位符 2">
            <a:extLst>
              <a:ext uri="{FF2B5EF4-FFF2-40B4-BE49-F238E27FC236}">
                <a16:creationId xmlns:a16="http://schemas.microsoft.com/office/drawing/2014/main" id="{1C9033E9-A2BE-4647-AF05-A3701D954385}"/>
              </a:ext>
            </a:extLst>
          </p:cNvPr>
          <p:cNvSpPr>
            <a:spLocks noGrp="1"/>
          </p:cNvSpPr>
          <p:nvPr>
            <p:ph idx="1"/>
          </p:nvPr>
        </p:nvSpPr>
        <p:spPr>
          <a:xfrm>
            <a:off x="107504" y="1371600"/>
            <a:ext cx="8847584" cy="4724400"/>
          </a:xfrm>
        </p:spPr>
        <p:txBody>
          <a:bodyPr/>
          <a:lstStyle/>
          <a:p>
            <a:r>
              <a:rPr lang="zh-CN" altLang="en-US" sz="2400" dirty="0"/>
              <a:t>使用显式</a:t>
            </a:r>
            <a:r>
              <a:rPr lang="en-US" altLang="zh-CN" sz="2400" b="1" dirty="0"/>
              <a:t>wait()</a:t>
            </a:r>
            <a:br>
              <a:rPr lang="en-US" altLang="zh-CN" sz="2400" dirty="0"/>
            </a:br>
            <a:r>
              <a:rPr lang="zh-CN" altLang="en-US" sz="2400" dirty="0"/>
              <a:t>保证数据依赖</a:t>
            </a:r>
            <a:br>
              <a:rPr lang="en-US" altLang="zh-CN" sz="2400" dirty="0"/>
            </a:br>
            <a:endParaRPr lang="en-US" altLang="zh-CN" sz="2400" dirty="0"/>
          </a:p>
          <a:p>
            <a:r>
              <a:rPr lang="zh-CN" altLang="en-US" sz="2400" dirty="0"/>
              <a:t>注意：</a:t>
            </a:r>
            <a:r>
              <a:rPr lang="en-US" altLang="zh-CN" sz="2400" dirty="0"/>
              <a:t>wait()</a:t>
            </a:r>
            <a:r>
              <a:rPr lang="zh-CN" altLang="en-US" sz="2400" dirty="0"/>
              <a:t>会</a:t>
            </a:r>
            <a:br>
              <a:rPr lang="en-US" altLang="zh-CN" sz="2400" dirty="0"/>
            </a:br>
            <a:r>
              <a:rPr lang="zh-CN" altLang="en-US" sz="2400" dirty="0">
                <a:latin typeface="黑体" panose="02010609060101010101" pitchFamily="49" charset="-122"/>
                <a:ea typeface="黑体" panose="02010609060101010101" pitchFamily="49" charset="-122"/>
              </a:rPr>
              <a:t>阻塞</a:t>
            </a:r>
            <a:r>
              <a:rPr lang="zh-CN" altLang="en-US" sz="2400" dirty="0"/>
              <a:t>主机端的</a:t>
            </a:r>
            <a:br>
              <a:rPr lang="en-US" altLang="zh-CN" sz="2400" dirty="0"/>
            </a:br>
            <a:r>
              <a:rPr lang="zh-CN" altLang="en-US" sz="2400" dirty="0"/>
              <a:t>执行</a:t>
            </a:r>
          </a:p>
        </p:txBody>
      </p:sp>
      <p:grpSp>
        <p:nvGrpSpPr>
          <p:cNvPr id="13" name="Group 2">
            <a:extLst>
              <a:ext uri="{FF2B5EF4-FFF2-40B4-BE49-F238E27FC236}">
                <a16:creationId xmlns:a16="http://schemas.microsoft.com/office/drawing/2014/main" id="{755FD75D-EB84-4953-A76C-638354ECFE51}"/>
              </a:ext>
            </a:extLst>
          </p:cNvPr>
          <p:cNvGrpSpPr/>
          <p:nvPr/>
        </p:nvGrpSpPr>
        <p:grpSpPr>
          <a:xfrm>
            <a:off x="2886820" y="1037951"/>
            <a:ext cx="6257180" cy="5766016"/>
            <a:chOff x="5242989" y="505096"/>
            <a:chExt cx="5621214" cy="6257626"/>
          </a:xfrm>
        </p:grpSpPr>
        <p:sp>
          <p:nvSpPr>
            <p:cNvPr id="14" name="Rectangle: Single Corner Snipped 3">
              <a:extLst>
                <a:ext uri="{FF2B5EF4-FFF2-40B4-BE49-F238E27FC236}">
                  <a16:creationId xmlns:a16="http://schemas.microsoft.com/office/drawing/2014/main" id="{C7CFA527-F0AF-4F59-9538-D7B0DE7AED60}"/>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5" name="TextBox 4">
              <a:extLst>
                <a:ext uri="{FF2B5EF4-FFF2-40B4-BE49-F238E27FC236}">
                  <a16:creationId xmlns:a16="http://schemas.microsoft.com/office/drawing/2014/main" id="{74334A40-9C0E-48EA-8C30-C9C116014C0A}"/>
                </a:ext>
              </a:extLst>
            </p:cNvPr>
            <p:cNvSpPr txBox="1"/>
            <p:nvPr/>
          </p:nvSpPr>
          <p:spPr>
            <a:xfrm>
              <a:off x="5390906" y="611430"/>
              <a:ext cx="5473297" cy="598009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 q);</a:t>
              </a:r>
            </a:p>
          </p:txBody>
        </p:sp>
      </p:grpSp>
      <p:sp>
        <p:nvSpPr>
          <p:cNvPr id="16" name="Rectangle: Rounded Corners 6">
            <a:extLst>
              <a:ext uri="{FF2B5EF4-FFF2-40B4-BE49-F238E27FC236}">
                <a16:creationId xmlns:a16="http://schemas.microsoft.com/office/drawing/2014/main" id="{E8119A53-DED8-4CBB-9942-397398C83C5F}"/>
              </a:ext>
            </a:extLst>
          </p:cNvPr>
          <p:cNvSpPr/>
          <p:nvPr/>
        </p:nvSpPr>
        <p:spPr>
          <a:xfrm>
            <a:off x="3218683" y="3083723"/>
            <a:ext cx="80009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7" name="Rectangle: Rounded Corners 7">
            <a:extLst>
              <a:ext uri="{FF2B5EF4-FFF2-40B4-BE49-F238E27FC236}">
                <a16:creationId xmlns:a16="http://schemas.microsoft.com/office/drawing/2014/main" id="{652BC4BF-9615-473F-AF66-4F68F1A6286F}"/>
              </a:ext>
            </a:extLst>
          </p:cNvPr>
          <p:cNvSpPr/>
          <p:nvPr/>
        </p:nvSpPr>
        <p:spPr>
          <a:xfrm>
            <a:off x="3216648" y="4459562"/>
            <a:ext cx="80009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8" name="Rectangle: Rounded Corners 16">
            <a:extLst>
              <a:ext uri="{FF2B5EF4-FFF2-40B4-BE49-F238E27FC236}">
                <a16:creationId xmlns:a16="http://schemas.microsoft.com/office/drawing/2014/main" id="{7E0D0E2B-F35C-4F6A-8A1E-1C07AC9AFC8D}"/>
              </a:ext>
            </a:extLst>
          </p:cNvPr>
          <p:cNvSpPr/>
          <p:nvPr/>
        </p:nvSpPr>
        <p:spPr>
          <a:xfrm>
            <a:off x="3468646" y="1429831"/>
            <a:ext cx="400335"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9" name="Rectangle: Rounded Corners 17">
            <a:extLst>
              <a:ext uri="{FF2B5EF4-FFF2-40B4-BE49-F238E27FC236}">
                <a16:creationId xmlns:a16="http://schemas.microsoft.com/office/drawing/2014/main" id="{2FEBCA0A-635D-41C8-813A-6888D8AB9CD1}"/>
              </a:ext>
            </a:extLst>
          </p:cNvPr>
          <p:cNvSpPr/>
          <p:nvPr/>
        </p:nvSpPr>
        <p:spPr>
          <a:xfrm>
            <a:off x="3697816" y="2546762"/>
            <a:ext cx="368162"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0" name="Rectangle: Rounded Corners 18">
            <a:extLst>
              <a:ext uri="{FF2B5EF4-FFF2-40B4-BE49-F238E27FC236}">
                <a16:creationId xmlns:a16="http://schemas.microsoft.com/office/drawing/2014/main" id="{1E9A1E58-C78F-478B-B335-B7418B7EFA5F}"/>
              </a:ext>
            </a:extLst>
          </p:cNvPr>
          <p:cNvSpPr/>
          <p:nvPr/>
        </p:nvSpPr>
        <p:spPr>
          <a:xfrm>
            <a:off x="3697817" y="3910863"/>
            <a:ext cx="368162"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1" name="Rectangle: Rounded Corners 19">
            <a:extLst>
              <a:ext uri="{FF2B5EF4-FFF2-40B4-BE49-F238E27FC236}">
                <a16:creationId xmlns:a16="http://schemas.microsoft.com/office/drawing/2014/main" id="{72EFD31D-6603-425F-B207-6C7F2D342E0B}"/>
              </a:ext>
            </a:extLst>
          </p:cNvPr>
          <p:cNvSpPr/>
          <p:nvPr/>
        </p:nvSpPr>
        <p:spPr>
          <a:xfrm>
            <a:off x="3697817" y="5288858"/>
            <a:ext cx="368162"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37" name="Flowchart: Connector 11">
            <a:extLst>
              <a:ext uri="{FF2B5EF4-FFF2-40B4-BE49-F238E27FC236}">
                <a16:creationId xmlns:a16="http://schemas.microsoft.com/office/drawing/2014/main" id="{CB571234-FD7D-4618-B8FC-7592913E734D}"/>
              </a:ext>
            </a:extLst>
          </p:cNvPr>
          <p:cNvSpPr/>
          <p:nvPr/>
        </p:nvSpPr>
        <p:spPr>
          <a:xfrm>
            <a:off x="1150938" y="4145761"/>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1</a:t>
            </a:r>
          </a:p>
        </p:txBody>
      </p:sp>
      <p:sp>
        <p:nvSpPr>
          <p:cNvPr id="38" name="Flowchart: Connector 12">
            <a:extLst>
              <a:ext uri="{FF2B5EF4-FFF2-40B4-BE49-F238E27FC236}">
                <a16:creationId xmlns:a16="http://schemas.microsoft.com/office/drawing/2014/main" id="{D86A755C-1C27-467B-85EA-E64D21B0DD2B}"/>
              </a:ext>
            </a:extLst>
          </p:cNvPr>
          <p:cNvSpPr/>
          <p:nvPr/>
        </p:nvSpPr>
        <p:spPr>
          <a:xfrm>
            <a:off x="1150937" y="5880199"/>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3</a:t>
            </a:r>
          </a:p>
        </p:txBody>
      </p:sp>
      <p:sp>
        <p:nvSpPr>
          <p:cNvPr id="39" name="Flowchart: Connector 13">
            <a:extLst>
              <a:ext uri="{FF2B5EF4-FFF2-40B4-BE49-F238E27FC236}">
                <a16:creationId xmlns:a16="http://schemas.microsoft.com/office/drawing/2014/main" id="{92FF9560-0175-450F-BAC9-C6882A829466}"/>
              </a:ext>
            </a:extLst>
          </p:cNvPr>
          <p:cNvSpPr/>
          <p:nvPr/>
        </p:nvSpPr>
        <p:spPr>
          <a:xfrm>
            <a:off x="1150938" y="5012980"/>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2</a:t>
            </a:r>
          </a:p>
        </p:txBody>
      </p:sp>
      <p:sp>
        <p:nvSpPr>
          <p:cNvPr id="40" name="Arrow: Down 14">
            <a:extLst>
              <a:ext uri="{FF2B5EF4-FFF2-40B4-BE49-F238E27FC236}">
                <a16:creationId xmlns:a16="http://schemas.microsoft.com/office/drawing/2014/main" id="{50D3313B-C9C8-48A6-90ED-FE233D51869C}"/>
              </a:ext>
            </a:extLst>
          </p:cNvPr>
          <p:cNvSpPr/>
          <p:nvPr/>
        </p:nvSpPr>
        <p:spPr>
          <a:xfrm>
            <a:off x="1388230" y="4827809"/>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
        <p:nvSpPr>
          <p:cNvPr id="41" name="Arrow: Down 15">
            <a:extLst>
              <a:ext uri="{FF2B5EF4-FFF2-40B4-BE49-F238E27FC236}">
                <a16:creationId xmlns:a16="http://schemas.microsoft.com/office/drawing/2014/main" id="{5CD6F40D-F6E9-4940-9833-DDAED31C4673}"/>
              </a:ext>
            </a:extLst>
          </p:cNvPr>
          <p:cNvSpPr/>
          <p:nvPr/>
        </p:nvSpPr>
        <p:spPr>
          <a:xfrm>
            <a:off x="1388230" y="5695227"/>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
        <p:nvSpPr>
          <p:cNvPr id="42" name="Rectangle: Rounded Corners 7">
            <a:extLst>
              <a:ext uri="{FF2B5EF4-FFF2-40B4-BE49-F238E27FC236}">
                <a16:creationId xmlns:a16="http://schemas.microsoft.com/office/drawing/2014/main" id="{7204A441-7ED1-4B86-976E-A93791383B0A}"/>
              </a:ext>
            </a:extLst>
          </p:cNvPr>
          <p:cNvSpPr/>
          <p:nvPr/>
        </p:nvSpPr>
        <p:spPr>
          <a:xfrm>
            <a:off x="3216648" y="5826760"/>
            <a:ext cx="80009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79962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42"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C872F-59EB-4FE7-9AF6-CC45FA94C314}"/>
              </a:ext>
            </a:extLst>
          </p:cNvPr>
          <p:cNvSpPr>
            <a:spLocks noGrp="1"/>
          </p:cNvSpPr>
          <p:nvPr>
            <p:ph type="title"/>
          </p:nvPr>
        </p:nvSpPr>
        <p:spPr/>
        <p:txBody>
          <a:bodyPr/>
          <a:lstStyle/>
          <a:p>
            <a:r>
              <a:rPr lang="en-US" altLang="zh-CN" dirty="0"/>
              <a:t>USM—</a:t>
            </a:r>
            <a:r>
              <a:rPr lang="zh-CN" altLang="en-US" dirty="0"/>
              <a:t>任务中的数据依赖</a:t>
            </a:r>
          </a:p>
        </p:txBody>
      </p:sp>
      <p:sp>
        <p:nvSpPr>
          <p:cNvPr id="3" name="内容占位符 2">
            <a:extLst>
              <a:ext uri="{FF2B5EF4-FFF2-40B4-BE49-F238E27FC236}">
                <a16:creationId xmlns:a16="http://schemas.microsoft.com/office/drawing/2014/main" id="{C73B366B-B3DD-406F-99BF-21B87B1D04CC}"/>
              </a:ext>
            </a:extLst>
          </p:cNvPr>
          <p:cNvSpPr>
            <a:spLocks noGrp="1"/>
          </p:cNvSpPr>
          <p:nvPr>
            <p:ph idx="1"/>
          </p:nvPr>
        </p:nvSpPr>
        <p:spPr>
          <a:xfrm>
            <a:off x="107504" y="1371600"/>
            <a:ext cx="8847584" cy="4724400"/>
          </a:xfrm>
        </p:spPr>
        <p:txBody>
          <a:bodyPr/>
          <a:lstStyle/>
          <a:p>
            <a:r>
              <a:rPr lang="zh-CN" altLang="en-US" sz="2400" dirty="0"/>
              <a:t>使用</a:t>
            </a:r>
            <a:r>
              <a:rPr lang="en-US" altLang="zh-CN" sz="2400" b="1" dirty="0" err="1"/>
              <a:t>in_order</a:t>
            </a:r>
            <a:r>
              <a:rPr lang="zh-CN" altLang="en-US" sz="2400" dirty="0"/>
              <a:t>队列</a:t>
            </a:r>
            <a:br>
              <a:rPr lang="en-US" altLang="zh-CN" sz="2400" dirty="0"/>
            </a:br>
            <a:r>
              <a:rPr lang="zh-CN" altLang="en-US" sz="2400" dirty="0"/>
              <a:t>属性</a:t>
            </a:r>
            <a:endParaRPr lang="en-US" altLang="zh-CN" sz="2400" dirty="0"/>
          </a:p>
          <a:p>
            <a:endParaRPr lang="en-US" altLang="zh-CN" sz="2400" dirty="0"/>
          </a:p>
          <a:p>
            <a:r>
              <a:rPr lang="zh-CN" altLang="en-US" sz="2400" dirty="0"/>
              <a:t>注意：即使任务</a:t>
            </a:r>
            <a:br>
              <a:rPr lang="en-US" altLang="zh-CN" sz="2400" dirty="0"/>
            </a:br>
            <a:r>
              <a:rPr lang="zh-CN" altLang="en-US" sz="2400" dirty="0"/>
              <a:t>间没有依赖关系，</a:t>
            </a:r>
            <a:br>
              <a:rPr lang="en-US" altLang="zh-CN" sz="2400" dirty="0"/>
            </a:br>
            <a:r>
              <a:rPr lang="zh-CN" altLang="en-US" sz="2400" dirty="0"/>
              <a:t>它们的执行也</a:t>
            </a:r>
            <a:br>
              <a:rPr lang="en-US" altLang="zh-CN" sz="2400" dirty="0"/>
            </a:br>
            <a:r>
              <a:rPr lang="zh-CN" altLang="en-US" sz="2400" dirty="0"/>
              <a:t>不会重叠</a:t>
            </a:r>
          </a:p>
        </p:txBody>
      </p:sp>
      <p:grpSp>
        <p:nvGrpSpPr>
          <p:cNvPr id="34" name="Group 2">
            <a:extLst>
              <a:ext uri="{FF2B5EF4-FFF2-40B4-BE49-F238E27FC236}">
                <a16:creationId xmlns:a16="http://schemas.microsoft.com/office/drawing/2014/main" id="{3AB2F422-8316-4734-B91E-50B63618B1DD}"/>
              </a:ext>
            </a:extLst>
          </p:cNvPr>
          <p:cNvGrpSpPr/>
          <p:nvPr/>
        </p:nvGrpSpPr>
        <p:grpSpPr>
          <a:xfrm>
            <a:off x="2843808" y="1091984"/>
            <a:ext cx="6257179" cy="5766016"/>
            <a:chOff x="5242989" y="505096"/>
            <a:chExt cx="5621214" cy="6257626"/>
          </a:xfrm>
        </p:grpSpPr>
        <p:sp>
          <p:nvSpPr>
            <p:cNvPr id="35" name="Rectangle: Single Corner Snipped 3">
              <a:extLst>
                <a:ext uri="{FF2B5EF4-FFF2-40B4-BE49-F238E27FC236}">
                  <a16:creationId xmlns:a16="http://schemas.microsoft.com/office/drawing/2014/main" id="{303303BB-FB2D-4907-83FB-94094BDBCBF0}"/>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36" name="TextBox 4">
              <a:extLst>
                <a:ext uri="{FF2B5EF4-FFF2-40B4-BE49-F238E27FC236}">
                  <a16:creationId xmlns:a16="http://schemas.microsoft.com/office/drawing/2014/main" id="{A7FAFABE-B28F-4309-BDC2-66E55D7BE1C4}"/>
                </a:ext>
              </a:extLst>
            </p:cNvPr>
            <p:cNvSpPr txBox="1"/>
            <p:nvPr/>
          </p:nvSpPr>
          <p:spPr>
            <a:xfrm>
              <a:off x="5390906" y="611430"/>
              <a:ext cx="5473297" cy="598009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q</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property</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in_order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 q);</a:t>
              </a:r>
            </a:p>
          </p:txBody>
        </p:sp>
      </p:grpSp>
      <p:sp>
        <p:nvSpPr>
          <p:cNvPr id="37" name="Rectangle: Rounded Corners 6">
            <a:extLst>
              <a:ext uri="{FF2B5EF4-FFF2-40B4-BE49-F238E27FC236}">
                <a16:creationId xmlns:a16="http://schemas.microsoft.com/office/drawing/2014/main" id="{19A343FC-29A3-425B-B1D5-E6AA07DE0317}"/>
              </a:ext>
            </a:extLst>
          </p:cNvPr>
          <p:cNvSpPr/>
          <p:nvPr/>
        </p:nvSpPr>
        <p:spPr>
          <a:xfrm>
            <a:off x="2938397" y="1231712"/>
            <a:ext cx="3217779"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38" name="Rectangle: Rounded Corners 15">
            <a:extLst>
              <a:ext uri="{FF2B5EF4-FFF2-40B4-BE49-F238E27FC236}">
                <a16:creationId xmlns:a16="http://schemas.microsoft.com/office/drawing/2014/main" id="{78884DE5-81FF-4831-8018-8FBF7FA119FD}"/>
              </a:ext>
            </a:extLst>
          </p:cNvPr>
          <p:cNvSpPr/>
          <p:nvPr/>
        </p:nvSpPr>
        <p:spPr>
          <a:xfrm>
            <a:off x="3301046" y="1528899"/>
            <a:ext cx="716338" cy="19217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39" name="Rectangle: Rounded Corners 16">
            <a:extLst>
              <a:ext uri="{FF2B5EF4-FFF2-40B4-BE49-F238E27FC236}">
                <a16:creationId xmlns:a16="http://schemas.microsoft.com/office/drawing/2014/main" id="{48E38DED-EE59-421C-9E6E-E0BD16D8BC07}"/>
              </a:ext>
            </a:extLst>
          </p:cNvPr>
          <p:cNvSpPr/>
          <p:nvPr/>
        </p:nvSpPr>
        <p:spPr>
          <a:xfrm>
            <a:off x="3625111" y="2621927"/>
            <a:ext cx="403585"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40" name="Rectangle: Rounded Corners 17">
            <a:extLst>
              <a:ext uri="{FF2B5EF4-FFF2-40B4-BE49-F238E27FC236}">
                <a16:creationId xmlns:a16="http://schemas.microsoft.com/office/drawing/2014/main" id="{563EAA6A-3955-4A1C-8BD8-222A0355BA5D}"/>
              </a:ext>
            </a:extLst>
          </p:cNvPr>
          <p:cNvSpPr/>
          <p:nvPr/>
        </p:nvSpPr>
        <p:spPr>
          <a:xfrm>
            <a:off x="3630960" y="3989191"/>
            <a:ext cx="397736"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41" name="Rectangle: Rounded Corners 18">
            <a:extLst>
              <a:ext uri="{FF2B5EF4-FFF2-40B4-BE49-F238E27FC236}">
                <a16:creationId xmlns:a16="http://schemas.microsoft.com/office/drawing/2014/main" id="{46CC7A8B-E9F2-44EC-9A2A-4CD549D5BDB1}"/>
              </a:ext>
            </a:extLst>
          </p:cNvPr>
          <p:cNvSpPr/>
          <p:nvPr/>
        </p:nvSpPr>
        <p:spPr>
          <a:xfrm>
            <a:off x="3625111" y="5368114"/>
            <a:ext cx="403585"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47" name="Flowchart: Connector 10">
            <a:extLst>
              <a:ext uri="{FF2B5EF4-FFF2-40B4-BE49-F238E27FC236}">
                <a16:creationId xmlns:a16="http://schemas.microsoft.com/office/drawing/2014/main" id="{EFCAE578-861D-4E9F-B377-C4628CFAF6DC}"/>
              </a:ext>
            </a:extLst>
          </p:cNvPr>
          <p:cNvSpPr/>
          <p:nvPr/>
        </p:nvSpPr>
        <p:spPr>
          <a:xfrm>
            <a:off x="1150938" y="4299388"/>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1</a:t>
            </a:r>
          </a:p>
        </p:txBody>
      </p:sp>
      <p:sp>
        <p:nvSpPr>
          <p:cNvPr id="48" name="Flowchart: Connector 11">
            <a:extLst>
              <a:ext uri="{FF2B5EF4-FFF2-40B4-BE49-F238E27FC236}">
                <a16:creationId xmlns:a16="http://schemas.microsoft.com/office/drawing/2014/main" id="{6C8DBAB8-FE53-45AB-B668-26668D3DACDD}"/>
              </a:ext>
            </a:extLst>
          </p:cNvPr>
          <p:cNvSpPr/>
          <p:nvPr/>
        </p:nvSpPr>
        <p:spPr>
          <a:xfrm>
            <a:off x="1150937" y="6033826"/>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3</a:t>
            </a:r>
          </a:p>
        </p:txBody>
      </p:sp>
      <p:sp>
        <p:nvSpPr>
          <p:cNvPr id="49" name="Flowchart: Connector 12">
            <a:extLst>
              <a:ext uri="{FF2B5EF4-FFF2-40B4-BE49-F238E27FC236}">
                <a16:creationId xmlns:a16="http://schemas.microsoft.com/office/drawing/2014/main" id="{AB2CF57E-9CA7-4097-A8EC-61F913DE959F}"/>
              </a:ext>
            </a:extLst>
          </p:cNvPr>
          <p:cNvSpPr/>
          <p:nvPr/>
        </p:nvSpPr>
        <p:spPr>
          <a:xfrm>
            <a:off x="1150938" y="5166607"/>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2</a:t>
            </a:r>
          </a:p>
        </p:txBody>
      </p:sp>
      <p:sp>
        <p:nvSpPr>
          <p:cNvPr id="50" name="Arrow: Down 13">
            <a:extLst>
              <a:ext uri="{FF2B5EF4-FFF2-40B4-BE49-F238E27FC236}">
                <a16:creationId xmlns:a16="http://schemas.microsoft.com/office/drawing/2014/main" id="{33504ED3-1A7C-4EA0-968C-E64F7E4D2FB6}"/>
              </a:ext>
            </a:extLst>
          </p:cNvPr>
          <p:cNvSpPr/>
          <p:nvPr/>
        </p:nvSpPr>
        <p:spPr>
          <a:xfrm>
            <a:off x="1388230" y="4981436"/>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
        <p:nvSpPr>
          <p:cNvPr id="51" name="Arrow: Down 14">
            <a:extLst>
              <a:ext uri="{FF2B5EF4-FFF2-40B4-BE49-F238E27FC236}">
                <a16:creationId xmlns:a16="http://schemas.microsoft.com/office/drawing/2014/main" id="{D7BE8D3C-A127-4385-9C38-3B7F236AD084}"/>
              </a:ext>
            </a:extLst>
          </p:cNvPr>
          <p:cNvSpPr/>
          <p:nvPr/>
        </p:nvSpPr>
        <p:spPr>
          <a:xfrm>
            <a:off x="1388230" y="5848854"/>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Tree>
    <p:extLst>
      <p:ext uri="{BB962C8B-B14F-4D97-AF65-F5344CB8AC3E}">
        <p14:creationId xmlns:p14="http://schemas.microsoft.com/office/powerpoint/2010/main" val="2823999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A76698-2720-4C0A-A4DC-9D906A042101}"/>
              </a:ext>
            </a:extLst>
          </p:cNvPr>
          <p:cNvSpPr>
            <a:spLocks noGrp="1"/>
          </p:cNvSpPr>
          <p:nvPr>
            <p:ph type="title"/>
          </p:nvPr>
        </p:nvSpPr>
        <p:spPr/>
        <p:txBody>
          <a:bodyPr/>
          <a:lstStyle/>
          <a:p>
            <a:r>
              <a:rPr lang="en-US" altLang="zh-CN" dirty="0"/>
              <a:t>USM—</a:t>
            </a:r>
            <a:r>
              <a:rPr lang="zh-CN" altLang="en-US" dirty="0"/>
              <a:t>任务中的数据依赖</a:t>
            </a:r>
          </a:p>
        </p:txBody>
      </p:sp>
      <p:sp>
        <p:nvSpPr>
          <p:cNvPr id="3" name="内容占位符 2">
            <a:extLst>
              <a:ext uri="{FF2B5EF4-FFF2-40B4-BE49-F238E27FC236}">
                <a16:creationId xmlns:a16="http://schemas.microsoft.com/office/drawing/2014/main" id="{BE73DDBA-EB3B-418A-ADBA-FF33CC08DDC0}"/>
              </a:ext>
            </a:extLst>
          </p:cNvPr>
          <p:cNvSpPr>
            <a:spLocks noGrp="1"/>
          </p:cNvSpPr>
          <p:nvPr>
            <p:ph idx="1"/>
          </p:nvPr>
        </p:nvSpPr>
        <p:spPr>
          <a:xfrm>
            <a:off x="539552" y="1371600"/>
            <a:ext cx="8415536" cy="4724400"/>
          </a:xfrm>
        </p:spPr>
        <p:txBody>
          <a:bodyPr/>
          <a:lstStyle/>
          <a:p>
            <a:r>
              <a:rPr lang="zh-CN" altLang="en-US" sz="2400" dirty="0"/>
              <a:t>使用</a:t>
            </a:r>
            <a:r>
              <a:rPr lang="en-US" altLang="zh-CN" sz="2400" b="1" dirty="0" err="1"/>
              <a:t>depends_on</a:t>
            </a:r>
            <a:r>
              <a:rPr lang="en-US" altLang="zh-CN" sz="2400" b="1" dirty="0"/>
              <a:t>()</a:t>
            </a:r>
            <a:r>
              <a:rPr lang="zh-CN" altLang="en-US" sz="2400" dirty="0"/>
              <a:t>方法令</a:t>
            </a:r>
            <a:br>
              <a:rPr lang="en-US" altLang="zh-CN" sz="2400" dirty="0"/>
            </a:br>
            <a:r>
              <a:rPr lang="zh-CN" altLang="en-US" sz="2400" dirty="0"/>
              <a:t>命令组句柄知道指定事件</a:t>
            </a:r>
            <a:br>
              <a:rPr lang="en-US" altLang="zh-CN" sz="2400" dirty="0"/>
            </a:br>
            <a:r>
              <a:rPr lang="zh-CN" altLang="en-US" sz="2400" dirty="0"/>
              <a:t>应该在指定任务执行前完成</a:t>
            </a:r>
            <a:endParaRPr lang="en-US" altLang="zh-CN" sz="2400" dirty="0"/>
          </a:p>
        </p:txBody>
      </p:sp>
      <p:grpSp>
        <p:nvGrpSpPr>
          <p:cNvPr id="15" name="Group 22">
            <a:extLst>
              <a:ext uri="{FF2B5EF4-FFF2-40B4-BE49-F238E27FC236}">
                <a16:creationId xmlns:a16="http://schemas.microsoft.com/office/drawing/2014/main" id="{AC55A447-0C71-4145-B21D-425BDAA57979}"/>
              </a:ext>
            </a:extLst>
          </p:cNvPr>
          <p:cNvGrpSpPr/>
          <p:nvPr/>
        </p:nvGrpSpPr>
        <p:grpSpPr>
          <a:xfrm>
            <a:off x="4832722" y="1091984"/>
            <a:ext cx="4311278" cy="5766016"/>
            <a:chOff x="5242989" y="505096"/>
            <a:chExt cx="5621214" cy="6257626"/>
          </a:xfrm>
        </p:grpSpPr>
        <p:sp>
          <p:nvSpPr>
            <p:cNvPr id="16" name="Rectangle: Single Corner Snipped 23">
              <a:extLst>
                <a:ext uri="{FF2B5EF4-FFF2-40B4-BE49-F238E27FC236}">
                  <a16:creationId xmlns:a16="http://schemas.microsoft.com/office/drawing/2014/main" id="{78201F73-3C19-4338-B970-698B35A7BFBE}"/>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7" name="TextBox 24">
              <a:extLst>
                <a:ext uri="{FF2B5EF4-FFF2-40B4-BE49-F238E27FC236}">
                  <a16:creationId xmlns:a16="http://schemas.microsoft.com/office/drawing/2014/main" id="{11806529-C3D9-42D6-9667-1035CCF773B5}"/>
                </a:ext>
              </a:extLst>
            </p:cNvPr>
            <p:cNvSpPr txBox="1"/>
            <p:nvPr/>
          </p:nvSpPr>
          <p:spPr>
            <a:xfrm>
              <a:off x="5390906" y="611430"/>
              <a:ext cx="5473297" cy="6032915"/>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 =  </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e1 =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e2 =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depends_on</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(e1);</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depends_on</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(e2);</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5</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1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1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1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1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 q);</a:t>
              </a:r>
            </a:p>
          </p:txBody>
        </p:sp>
      </p:grpSp>
      <p:sp>
        <p:nvSpPr>
          <p:cNvPr id="18" name="Rectangle: Rounded Corners 26">
            <a:extLst>
              <a:ext uri="{FF2B5EF4-FFF2-40B4-BE49-F238E27FC236}">
                <a16:creationId xmlns:a16="http://schemas.microsoft.com/office/drawing/2014/main" id="{5B53CA09-E5DC-40CA-98FC-04F57393C8E4}"/>
              </a:ext>
            </a:extLst>
          </p:cNvPr>
          <p:cNvSpPr/>
          <p:nvPr/>
        </p:nvSpPr>
        <p:spPr>
          <a:xfrm>
            <a:off x="4932040" y="1972104"/>
            <a:ext cx="560222" cy="262430"/>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9" name="Rectangle: Rounded Corners 27">
            <a:extLst>
              <a:ext uri="{FF2B5EF4-FFF2-40B4-BE49-F238E27FC236}">
                <a16:creationId xmlns:a16="http://schemas.microsoft.com/office/drawing/2014/main" id="{1BDF9EC0-7AD5-4DB5-B81B-4FD73932BFE7}"/>
              </a:ext>
            </a:extLst>
          </p:cNvPr>
          <p:cNvSpPr/>
          <p:nvPr/>
        </p:nvSpPr>
        <p:spPr>
          <a:xfrm>
            <a:off x="5416688" y="3487579"/>
            <a:ext cx="1315552"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0" name="Rectangle: Rounded Corners 31">
            <a:extLst>
              <a:ext uri="{FF2B5EF4-FFF2-40B4-BE49-F238E27FC236}">
                <a16:creationId xmlns:a16="http://schemas.microsoft.com/office/drawing/2014/main" id="{BF07E9FF-E6CB-4F8D-8E64-20F101B1E0C5}"/>
              </a:ext>
            </a:extLst>
          </p:cNvPr>
          <p:cNvSpPr/>
          <p:nvPr/>
        </p:nvSpPr>
        <p:spPr>
          <a:xfrm>
            <a:off x="4932040" y="3210673"/>
            <a:ext cx="560222"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1" name="Rectangle: Rounded Corners 32">
            <a:extLst>
              <a:ext uri="{FF2B5EF4-FFF2-40B4-BE49-F238E27FC236}">
                <a16:creationId xmlns:a16="http://schemas.microsoft.com/office/drawing/2014/main" id="{484F8D01-0C6F-40BA-B459-F36117DAD31B}"/>
              </a:ext>
            </a:extLst>
          </p:cNvPr>
          <p:cNvSpPr/>
          <p:nvPr/>
        </p:nvSpPr>
        <p:spPr>
          <a:xfrm>
            <a:off x="5364088" y="4979685"/>
            <a:ext cx="1315552"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2" name="Rectangle: Rounded Corners 38">
            <a:extLst>
              <a:ext uri="{FF2B5EF4-FFF2-40B4-BE49-F238E27FC236}">
                <a16:creationId xmlns:a16="http://schemas.microsoft.com/office/drawing/2014/main" id="{5ED06E16-CB38-4C33-A348-38D8AB71667B}"/>
              </a:ext>
            </a:extLst>
          </p:cNvPr>
          <p:cNvSpPr/>
          <p:nvPr/>
        </p:nvSpPr>
        <p:spPr>
          <a:xfrm>
            <a:off x="5292080" y="1456456"/>
            <a:ext cx="437007"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3" name="Rectangle: Rounded Corners 39">
            <a:extLst>
              <a:ext uri="{FF2B5EF4-FFF2-40B4-BE49-F238E27FC236}">
                <a16:creationId xmlns:a16="http://schemas.microsoft.com/office/drawing/2014/main" id="{170E57FA-4C37-48FF-AB9E-C6ABA74B450C}"/>
              </a:ext>
            </a:extLst>
          </p:cNvPr>
          <p:cNvSpPr/>
          <p:nvPr/>
        </p:nvSpPr>
        <p:spPr>
          <a:xfrm>
            <a:off x="5533440" y="2476565"/>
            <a:ext cx="334704"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4" name="Rectangle: Rounded Corners 40">
            <a:extLst>
              <a:ext uri="{FF2B5EF4-FFF2-40B4-BE49-F238E27FC236}">
                <a16:creationId xmlns:a16="http://schemas.microsoft.com/office/drawing/2014/main" id="{0E5F881F-E3AF-4ABC-A451-6E8A0B9029D4}"/>
              </a:ext>
            </a:extLst>
          </p:cNvPr>
          <p:cNvSpPr/>
          <p:nvPr/>
        </p:nvSpPr>
        <p:spPr>
          <a:xfrm>
            <a:off x="5533440" y="4001208"/>
            <a:ext cx="334704" cy="21822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5" name="Rectangle: Rounded Corners 41">
            <a:extLst>
              <a:ext uri="{FF2B5EF4-FFF2-40B4-BE49-F238E27FC236}">
                <a16:creationId xmlns:a16="http://schemas.microsoft.com/office/drawing/2014/main" id="{0D6E93B6-4042-4F65-A7D7-E6E4B32FD00F}"/>
              </a:ext>
            </a:extLst>
          </p:cNvPr>
          <p:cNvSpPr/>
          <p:nvPr/>
        </p:nvSpPr>
        <p:spPr>
          <a:xfrm>
            <a:off x="5533440" y="5513637"/>
            <a:ext cx="334704" cy="234898"/>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31" name="Flowchart: Connector 33">
            <a:extLst>
              <a:ext uri="{FF2B5EF4-FFF2-40B4-BE49-F238E27FC236}">
                <a16:creationId xmlns:a16="http://schemas.microsoft.com/office/drawing/2014/main" id="{23180798-B49E-48F4-A8D4-F02584735251}"/>
              </a:ext>
            </a:extLst>
          </p:cNvPr>
          <p:cNvSpPr/>
          <p:nvPr/>
        </p:nvSpPr>
        <p:spPr>
          <a:xfrm>
            <a:off x="2294768" y="3720809"/>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1</a:t>
            </a:r>
          </a:p>
        </p:txBody>
      </p:sp>
      <p:sp>
        <p:nvSpPr>
          <p:cNvPr id="32" name="Flowchart: Connector 34">
            <a:extLst>
              <a:ext uri="{FF2B5EF4-FFF2-40B4-BE49-F238E27FC236}">
                <a16:creationId xmlns:a16="http://schemas.microsoft.com/office/drawing/2014/main" id="{32A51614-12B8-4CAF-9ABC-BD8C308C67DE}"/>
              </a:ext>
            </a:extLst>
          </p:cNvPr>
          <p:cNvSpPr/>
          <p:nvPr/>
        </p:nvSpPr>
        <p:spPr>
          <a:xfrm>
            <a:off x="2294767" y="5466133"/>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3</a:t>
            </a:r>
          </a:p>
        </p:txBody>
      </p:sp>
      <p:sp>
        <p:nvSpPr>
          <p:cNvPr id="33" name="Flowchart: Connector 35">
            <a:extLst>
              <a:ext uri="{FF2B5EF4-FFF2-40B4-BE49-F238E27FC236}">
                <a16:creationId xmlns:a16="http://schemas.microsoft.com/office/drawing/2014/main" id="{9F07264E-ABF3-4450-944B-D48068AE1654}"/>
              </a:ext>
            </a:extLst>
          </p:cNvPr>
          <p:cNvSpPr/>
          <p:nvPr/>
        </p:nvSpPr>
        <p:spPr>
          <a:xfrm>
            <a:off x="2294768" y="4598914"/>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2</a:t>
            </a:r>
          </a:p>
        </p:txBody>
      </p:sp>
      <p:sp>
        <p:nvSpPr>
          <p:cNvPr id="34" name="Arrow: Down 36">
            <a:extLst>
              <a:ext uri="{FF2B5EF4-FFF2-40B4-BE49-F238E27FC236}">
                <a16:creationId xmlns:a16="http://schemas.microsoft.com/office/drawing/2014/main" id="{DCD70D1C-E0B6-405D-9FD7-0DE6B00FE538}"/>
              </a:ext>
            </a:extLst>
          </p:cNvPr>
          <p:cNvSpPr/>
          <p:nvPr/>
        </p:nvSpPr>
        <p:spPr>
          <a:xfrm>
            <a:off x="2532060" y="4413743"/>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
        <p:nvSpPr>
          <p:cNvPr id="35" name="Arrow: Down 37">
            <a:extLst>
              <a:ext uri="{FF2B5EF4-FFF2-40B4-BE49-F238E27FC236}">
                <a16:creationId xmlns:a16="http://schemas.microsoft.com/office/drawing/2014/main" id="{431E33F0-AA02-478D-B3B0-BD0E426AA075}"/>
              </a:ext>
            </a:extLst>
          </p:cNvPr>
          <p:cNvSpPr/>
          <p:nvPr/>
        </p:nvSpPr>
        <p:spPr>
          <a:xfrm>
            <a:off x="2532060" y="5281161"/>
            <a:ext cx="195944" cy="182795"/>
          </a:xfrm>
          <a:prstGeom prst="downArrow">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0000FF"/>
              </a:solidFill>
              <a:effectLst/>
              <a:uLnTx/>
              <a:uFillTx/>
              <a:latin typeface="Intel Clear"/>
              <a:sym typeface="Helvetica Neue"/>
            </a:endParaRPr>
          </a:p>
        </p:txBody>
      </p:sp>
    </p:spTree>
    <p:extLst>
      <p:ext uri="{BB962C8B-B14F-4D97-AF65-F5344CB8AC3E}">
        <p14:creationId xmlns:p14="http://schemas.microsoft.com/office/powerpoint/2010/main" val="204522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D87EF-315E-4514-8DDC-0E106718B9BE}"/>
              </a:ext>
            </a:extLst>
          </p:cNvPr>
          <p:cNvSpPr>
            <a:spLocks noGrp="1"/>
          </p:cNvSpPr>
          <p:nvPr>
            <p:ph type="title"/>
          </p:nvPr>
        </p:nvSpPr>
        <p:spPr/>
        <p:txBody>
          <a:bodyPr/>
          <a:lstStyle/>
          <a:p>
            <a:r>
              <a:rPr lang="en-US" altLang="zh-CN" dirty="0"/>
              <a:t>USM—</a:t>
            </a:r>
            <a:r>
              <a:rPr lang="zh-CN" altLang="en-US" dirty="0"/>
              <a:t>任务中的数据依赖</a:t>
            </a:r>
          </a:p>
        </p:txBody>
      </p:sp>
      <p:sp>
        <p:nvSpPr>
          <p:cNvPr id="3" name="内容占位符 2">
            <a:extLst>
              <a:ext uri="{FF2B5EF4-FFF2-40B4-BE49-F238E27FC236}">
                <a16:creationId xmlns:a16="http://schemas.microsoft.com/office/drawing/2014/main" id="{9DD8E76B-8F27-41D1-B87E-2EEAC3BD0717}"/>
              </a:ext>
            </a:extLst>
          </p:cNvPr>
          <p:cNvSpPr>
            <a:spLocks noGrp="1"/>
          </p:cNvSpPr>
          <p:nvPr>
            <p:ph idx="1"/>
          </p:nvPr>
        </p:nvSpPr>
        <p:spPr>
          <a:xfrm>
            <a:off x="539552" y="1371600"/>
            <a:ext cx="8415536" cy="4724400"/>
          </a:xfrm>
        </p:spPr>
        <p:txBody>
          <a:bodyPr/>
          <a:lstStyle/>
          <a:p>
            <a:r>
              <a:rPr lang="en-US" altLang="zh-CN" sz="2400" b="1" dirty="0" err="1"/>
              <a:t>depends_on</a:t>
            </a:r>
            <a:r>
              <a:rPr lang="en-US" altLang="zh-CN" sz="2400" b="1" dirty="0"/>
              <a:t>()</a:t>
            </a:r>
            <a:r>
              <a:rPr lang="zh-CN" altLang="en-US" sz="2400" dirty="0"/>
              <a:t>另一个用途</a:t>
            </a:r>
            <a:br>
              <a:rPr lang="en-US" altLang="zh-CN" sz="2400" dirty="0"/>
            </a:br>
            <a:r>
              <a:rPr lang="zh-CN" altLang="en-US" sz="2400" dirty="0"/>
              <a:t>是指明特定任务的依赖</a:t>
            </a:r>
            <a:br>
              <a:rPr lang="en-US" altLang="zh-CN" sz="2400" dirty="0"/>
            </a:br>
            <a:r>
              <a:rPr lang="zh-CN" altLang="en-US" sz="2400" dirty="0"/>
              <a:t>关系，同时令没有依赖</a:t>
            </a:r>
            <a:br>
              <a:rPr lang="en-US" altLang="zh-CN" sz="2400" dirty="0"/>
            </a:br>
            <a:r>
              <a:rPr lang="zh-CN" altLang="en-US" sz="2400" dirty="0"/>
              <a:t>性的任务重叠</a:t>
            </a:r>
          </a:p>
        </p:txBody>
      </p:sp>
      <p:grpSp>
        <p:nvGrpSpPr>
          <p:cNvPr id="17" name="Group 2">
            <a:extLst>
              <a:ext uri="{FF2B5EF4-FFF2-40B4-BE49-F238E27FC236}">
                <a16:creationId xmlns:a16="http://schemas.microsoft.com/office/drawing/2014/main" id="{5CCE3515-6A07-4824-B22D-B990EC660068}"/>
              </a:ext>
            </a:extLst>
          </p:cNvPr>
          <p:cNvGrpSpPr/>
          <p:nvPr/>
        </p:nvGrpSpPr>
        <p:grpSpPr>
          <a:xfrm>
            <a:off x="4291484" y="707570"/>
            <a:ext cx="4817020" cy="6168363"/>
            <a:chOff x="5242989" y="505096"/>
            <a:chExt cx="5621214" cy="6302302"/>
          </a:xfrm>
        </p:grpSpPr>
        <p:sp>
          <p:nvSpPr>
            <p:cNvPr id="18" name="Rectangle: Single Corner Snipped 3">
              <a:extLst>
                <a:ext uri="{FF2B5EF4-FFF2-40B4-BE49-F238E27FC236}">
                  <a16:creationId xmlns:a16="http://schemas.microsoft.com/office/drawing/2014/main" id="{E89E212B-960B-450C-9B2E-2FEF8CC61890}"/>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4">
              <a:extLst>
                <a:ext uri="{FF2B5EF4-FFF2-40B4-BE49-F238E27FC236}">
                  <a16:creationId xmlns:a16="http://schemas.microsoft.com/office/drawing/2014/main" id="{AD3B4DDB-DEDD-4630-824C-F8BE95FE8C3A}"/>
                </a:ext>
              </a:extLst>
            </p:cNvPr>
            <p:cNvSpPr txBox="1"/>
            <p:nvPr/>
          </p:nvSpPr>
          <p:spPr>
            <a:xfrm>
              <a:off x="5390906" y="611430"/>
              <a:ext cx="5473297" cy="619596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*data1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*data2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e1 =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e2 =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submit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([&amp;]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handler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&amp;</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depends_on</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({e1,e2});</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(data1, q); </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(data2, q);</a:t>
              </a:r>
            </a:p>
          </p:txBody>
        </p:sp>
      </p:grpSp>
      <p:sp>
        <p:nvSpPr>
          <p:cNvPr id="20" name="Rectangle: Rounded Corners 9">
            <a:extLst>
              <a:ext uri="{FF2B5EF4-FFF2-40B4-BE49-F238E27FC236}">
                <a16:creationId xmlns:a16="http://schemas.microsoft.com/office/drawing/2014/main" id="{02DF34F1-4C8F-40A3-9FA8-7D7FB38FD929}"/>
              </a:ext>
            </a:extLst>
          </p:cNvPr>
          <p:cNvSpPr/>
          <p:nvPr/>
        </p:nvSpPr>
        <p:spPr>
          <a:xfrm>
            <a:off x="4895367" y="4982231"/>
            <a:ext cx="1845412" cy="24662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1" name="Rectangle: Rounded Corners 15">
            <a:extLst>
              <a:ext uri="{FF2B5EF4-FFF2-40B4-BE49-F238E27FC236}">
                <a16:creationId xmlns:a16="http://schemas.microsoft.com/office/drawing/2014/main" id="{717152EA-F91C-4DD8-B5C5-546BE0F9F125}"/>
              </a:ext>
            </a:extLst>
          </p:cNvPr>
          <p:cNvSpPr/>
          <p:nvPr/>
        </p:nvSpPr>
        <p:spPr>
          <a:xfrm>
            <a:off x="4704094" y="1108853"/>
            <a:ext cx="71633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2" name="Rectangle: Rounded Corners 16">
            <a:extLst>
              <a:ext uri="{FF2B5EF4-FFF2-40B4-BE49-F238E27FC236}">
                <a16:creationId xmlns:a16="http://schemas.microsoft.com/office/drawing/2014/main" id="{022EEB08-A9F6-4603-954B-61FD2B2193A9}"/>
              </a:ext>
            </a:extLst>
          </p:cNvPr>
          <p:cNvSpPr/>
          <p:nvPr/>
        </p:nvSpPr>
        <p:spPr>
          <a:xfrm>
            <a:off x="4704094" y="1401993"/>
            <a:ext cx="71633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3" name="Rectangle: Rounded Corners 17">
            <a:extLst>
              <a:ext uri="{FF2B5EF4-FFF2-40B4-BE49-F238E27FC236}">
                <a16:creationId xmlns:a16="http://schemas.microsoft.com/office/drawing/2014/main" id="{8B952C47-55A9-44C7-AA43-E7EB3C2BB5F1}"/>
              </a:ext>
            </a:extLst>
          </p:cNvPr>
          <p:cNvSpPr/>
          <p:nvPr/>
        </p:nvSpPr>
        <p:spPr>
          <a:xfrm>
            <a:off x="5099390" y="2493062"/>
            <a:ext cx="1566237"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4" name="Rectangle: Rounded Corners 18">
            <a:extLst>
              <a:ext uri="{FF2B5EF4-FFF2-40B4-BE49-F238E27FC236}">
                <a16:creationId xmlns:a16="http://schemas.microsoft.com/office/drawing/2014/main" id="{EFDC0DA5-8DBF-4A18-B5A9-ECBEFB9E5D67}"/>
              </a:ext>
            </a:extLst>
          </p:cNvPr>
          <p:cNvSpPr/>
          <p:nvPr/>
        </p:nvSpPr>
        <p:spPr>
          <a:xfrm>
            <a:off x="5110541" y="3860961"/>
            <a:ext cx="1566237"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30" name="Flowchart: Connector 10">
            <a:extLst>
              <a:ext uri="{FF2B5EF4-FFF2-40B4-BE49-F238E27FC236}">
                <a16:creationId xmlns:a16="http://schemas.microsoft.com/office/drawing/2014/main" id="{F4CFA28A-3BC4-42F7-9E09-EE8F24011013}"/>
              </a:ext>
            </a:extLst>
          </p:cNvPr>
          <p:cNvSpPr/>
          <p:nvPr/>
        </p:nvSpPr>
        <p:spPr>
          <a:xfrm>
            <a:off x="1634086" y="3796865"/>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1</a:t>
            </a:r>
          </a:p>
        </p:txBody>
      </p:sp>
      <p:sp>
        <p:nvSpPr>
          <p:cNvPr id="31" name="Flowchart: Connector 11">
            <a:extLst>
              <a:ext uri="{FF2B5EF4-FFF2-40B4-BE49-F238E27FC236}">
                <a16:creationId xmlns:a16="http://schemas.microsoft.com/office/drawing/2014/main" id="{87298746-F95F-4B84-BFE9-CD453C6E971B}"/>
              </a:ext>
            </a:extLst>
          </p:cNvPr>
          <p:cNvSpPr/>
          <p:nvPr/>
        </p:nvSpPr>
        <p:spPr>
          <a:xfrm>
            <a:off x="2300894" y="5163438"/>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3</a:t>
            </a:r>
          </a:p>
        </p:txBody>
      </p:sp>
      <p:sp>
        <p:nvSpPr>
          <p:cNvPr id="32" name="Flowchart: Connector 12">
            <a:extLst>
              <a:ext uri="{FF2B5EF4-FFF2-40B4-BE49-F238E27FC236}">
                <a16:creationId xmlns:a16="http://schemas.microsoft.com/office/drawing/2014/main" id="{4D13985D-916A-4CD2-83EE-9A93ECA7F726}"/>
              </a:ext>
            </a:extLst>
          </p:cNvPr>
          <p:cNvSpPr/>
          <p:nvPr/>
        </p:nvSpPr>
        <p:spPr>
          <a:xfrm>
            <a:off x="2965426" y="3812441"/>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2</a:t>
            </a:r>
          </a:p>
        </p:txBody>
      </p:sp>
      <p:cxnSp>
        <p:nvCxnSpPr>
          <p:cNvPr id="33" name="Straight Arrow Connector 13">
            <a:extLst>
              <a:ext uri="{FF2B5EF4-FFF2-40B4-BE49-F238E27FC236}">
                <a16:creationId xmlns:a16="http://schemas.microsoft.com/office/drawing/2014/main" id="{8A9522EE-E9A9-4A4E-B552-60AC629866A4}"/>
              </a:ext>
            </a:extLst>
          </p:cNvPr>
          <p:cNvCxnSpPr>
            <a:cxnSpLocks/>
            <a:endCxn id="31" idx="0"/>
          </p:cNvCxnSpPr>
          <p:nvPr/>
        </p:nvCxnSpPr>
        <p:spPr>
          <a:xfrm>
            <a:off x="1992963" y="4485197"/>
            <a:ext cx="643197" cy="678241"/>
          </a:xfrm>
          <a:prstGeom prst="straightConnector1">
            <a:avLst/>
          </a:prstGeom>
          <a:noFill/>
          <a:ln w="9525" cap="flat" cmpd="sng" algn="ctr">
            <a:solidFill>
              <a:srgbClr val="F6CB4B"/>
            </a:solidFill>
            <a:prstDash val="solid"/>
            <a:round/>
            <a:headEnd type="none" w="med" len="med"/>
            <a:tailEnd type="arrow" w="med" len="med"/>
          </a:ln>
          <a:effectLst/>
        </p:spPr>
      </p:cxnSp>
      <p:cxnSp>
        <p:nvCxnSpPr>
          <p:cNvPr id="34" name="Straight Arrow Connector 14">
            <a:extLst>
              <a:ext uri="{FF2B5EF4-FFF2-40B4-BE49-F238E27FC236}">
                <a16:creationId xmlns:a16="http://schemas.microsoft.com/office/drawing/2014/main" id="{02AD8C50-57BF-4092-B4E6-1FE2E4F0EF23}"/>
              </a:ext>
            </a:extLst>
          </p:cNvPr>
          <p:cNvCxnSpPr>
            <a:cxnSpLocks/>
            <a:endCxn id="31" idx="0"/>
          </p:cNvCxnSpPr>
          <p:nvPr/>
        </p:nvCxnSpPr>
        <p:spPr>
          <a:xfrm flipH="1">
            <a:off x="2636160" y="4492899"/>
            <a:ext cx="701384" cy="670539"/>
          </a:xfrm>
          <a:prstGeom prst="straightConnector1">
            <a:avLst/>
          </a:prstGeom>
          <a:noFill/>
          <a:ln w="9525" cap="flat" cmpd="sng" algn="ctr">
            <a:solidFill>
              <a:srgbClr val="F6CB4B"/>
            </a:solidFill>
            <a:prstDash val="solid"/>
            <a:round/>
            <a:headEnd type="none" w="med" len="med"/>
            <a:tailEnd type="arrow" w="med" len="med"/>
          </a:ln>
          <a:effectLst/>
        </p:spPr>
      </p:cxnSp>
    </p:spTree>
    <p:extLst>
      <p:ext uri="{BB962C8B-B14F-4D97-AF65-F5344CB8AC3E}">
        <p14:creationId xmlns:p14="http://schemas.microsoft.com/office/powerpoint/2010/main" val="12761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E13D7-72F7-46A0-BCBA-F8E22455554C}"/>
              </a:ext>
            </a:extLst>
          </p:cNvPr>
          <p:cNvSpPr>
            <a:spLocks noGrp="1"/>
          </p:cNvSpPr>
          <p:nvPr>
            <p:ph type="title"/>
          </p:nvPr>
        </p:nvSpPr>
        <p:spPr/>
        <p:txBody>
          <a:bodyPr/>
          <a:lstStyle/>
          <a:p>
            <a:r>
              <a:rPr lang="en-US" altLang="zh-CN" dirty="0"/>
              <a:t>USM—</a:t>
            </a:r>
            <a:r>
              <a:rPr lang="zh-CN" altLang="en-US" dirty="0"/>
              <a:t>任务中的数据依赖</a:t>
            </a:r>
          </a:p>
        </p:txBody>
      </p:sp>
      <p:sp>
        <p:nvSpPr>
          <p:cNvPr id="3" name="内容占位符 2">
            <a:extLst>
              <a:ext uri="{FF2B5EF4-FFF2-40B4-BE49-F238E27FC236}">
                <a16:creationId xmlns:a16="http://schemas.microsoft.com/office/drawing/2014/main" id="{702CE0E6-E61F-44F0-95D1-86CA9B86544E}"/>
              </a:ext>
            </a:extLst>
          </p:cNvPr>
          <p:cNvSpPr>
            <a:spLocks noGrp="1"/>
          </p:cNvSpPr>
          <p:nvPr>
            <p:ph idx="1"/>
          </p:nvPr>
        </p:nvSpPr>
        <p:spPr>
          <a:xfrm>
            <a:off x="539552" y="1371600"/>
            <a:ext cx="8415536" cy="4724400"/>
          </a:xfrm>
        </p:spPr>
        <p:txBody>
          <a:bodyPr/>
          <a:lstStyle/>
          <a:p>
            <a:r>
              <a:rPr lang="zh-CN" altLang="en-US" sz="2400" dirty="0"/>
              <a:t>还可以</a:t>
            </a:r>
            <a:r>
              <a:rPr lang="en-US" altLang="zh-CN" sz="2400" dirty="0" err="1"/>
              <a:t>parallel_for</a:t>
            </a:r>
            <a:r>
              <a:rPr lang="zh-CN" altLang="en-US" sz="2400" dirty="0"/>
              <a:t>的参数</a:t>
            </a:r>
            <a:br>
              <a:rPr lang="en-US" altLang="zh-CN" sz="2400" dirty="0"/>
            </a:br>
            <a:r>
              <a:rPr lang="zh-CN" altLang="en-US" sz="2400" dirty="0"/>
              <a:t>更简单地指明依赖关系</a:t>
            </a:r>
          </a:p>
        </p:txBody>
      </p:sp>
      <p:grpSp>
        <p:nvGrpSpPr>
          <p:cNvPr id="14" name="Group 2">
            <a:extLst>
              <a:ext uri="{FF2B5EF4-FFF2-40B4-BE49-F238E27FC236}">
                <a16:creationId xmlns:a16="http://schemas.microsoft.com/office/drawing/2014/main" id="{D903AE3B-D977-4990-A6E6-FE2284C457C1}"/>
              </a:ext>
            </a:extLst>
          </p:cNvPr>
          <p:cNvGrpSpPr/>
          <p:nvPr/>
        </p:nvGrpSpPr>
        <p:grpSpPr>
          <a:xfrm>
            <a:off x="4427984" y="1371600"/>
            <a:ext cx="4572000" cy="4748437"/>
            <a:chOff x="5242989" y="505096"/>
            <a:chExt cx="5621214" cy="6257626"/>
          </a:xfrm>
        </p:grpSpPr>
        <p:sp>
          <p:nvSpPr>
            <p:cNvPr id="15" name="Rectangle: Single Corner Snipped 3">
              <a:extLst>
                <a:ext uri="{FF2B5EF4-FFF2-40B4-BE49-F238E27FC236}">
                  <a16:creationId xmlns:a16="http://schemas.microsoft.com/office/drawing/2014/main" id="{5D0BAAE5-E6F7-4354-A952-E8155069282B}"/>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6" name="TextBox 4">
              <a:extLst>
                <a:ext uri="{FF2B5EF4-FFF2-40B4-BE49-F238E27FC236}">
                  <a16:creationId xmlns:a16="http://schemas.microsoft.com/office/drawing/2014/main" id="{A5C46CB3-2A7A-4033-8B56-C495ED9394D8}"/>
                </a:ext>
              </a:extLst>
            </p:cNvPr>
            <p:cNvSpPr txBox="1"/>
            <p:nvPr/>
          </p:nvSpPr>
          <p:spPr>
            <a:xfrm>
              <a:off x="5390906" y="611430"/>
              <a:ext cx="5473297" cy="5801471"/>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queue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*data1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*data2 =  </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malloc_shared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q);</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e1 =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auto</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e2 =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3</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 {e1, e2},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data2</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wait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;i&lt;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N;i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sz="12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(data1, q); </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free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(data2, q);</a:t>
              </a:r>
            </a:p>
          </p:txBody>
        </p:sp>
      </p:grpSp>
      <p:sp>
        <p:nvSpPr>
          <p:cNvPr id="17" name="Rectangle: Rounded Corners 9">
            <a:extLst>
              <a:ext uri="{FF2B5EF4-FFF2-40B4-BE49-F238E27FC236}">
                <a16:creationId xmlns:a16="http://schemas.microsoft.com/office/drawing/2014/main" id="{9B3E69F6-03C4-492E-B70E-D63456CCC4C0}"/>
              </a:ext>
            </a:extLst>
          </p:cNvPr>
          <p:cNvSpPr/>
          <p:nvPr/>
        </p:nvSpPr>
        <p:spPr>
          <a:xfrm>
            <a:off x="6910088" y="4273532"/>
            <a:ext cx="720953" cy="25816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8" name="Rectangle: Rounded Corners 15">
            <a:extLst>
              <a:ext uri="{FF2B5EF4-FFF2-40B4-BE49-F238E27FC236}">
                <a16:creationId xmlns:a16="http://schemas.microsoft.com/office/drawing/2014/main" id="{318749E7-C053-4631-9883-E640F8E457C5}"/>
              </a:ext>
            </a:extLst>
          </p:cNvPr>
          <p:cNvSpPr/>
          <p:nvPr/>
        </p:nvSpPr>
        <p:spPr>
          <a:xfrm>
            <a:off x="4840594" y="1772883"/>
            <a:ext cx="71633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9" name="Rectangle: Rounded Corners 16">
            <a:extLst>
              <a:ext uri="{FF2B5EF4-FFF2-40B4-BE49-F238E27FC236}">
                <a16:creationId xmlns:a16="http://schemas.microsoft.com/office/drawing/2014/main" id="{1444FA75-2F73-4175-AB3F-46CAE7D3E619}"/>
              </a:ext>
            </a:extLst>
          </p:cNvPr>
          <p:cNvSpPr/>
          <p:nvPr/>
        </p:nvSpPr>
        <p:spPr>
          <a:xfrm>
            <a:off x="4840594" y="2066023"/>
            <a:ext cx="716338"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0" name="Rectangle: Rounded Corners 17">
            <a:extLst>
              <a:ext uri="{FF2B5EF4-FFF2-40B4-BE49-F238E27FC236}">
                <a16:creationId xmlns:a16="http://schemas.microsoft.com/office/drawing/2014/main" id="{47320CE5-E934-4DD5-A15B-D9263D76E5DA}"/>
              </a:ext>
            </a:extLst>
          </p:cNvPr>
          <p:cNvSpPr/>
          <p:nvPr/>
        </p:nvSpPr>
        <p:spPr>
          <a:xfrm>
            <a:off x="4692190" y="2897597"/>
            <a:ext cx="1566237"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1" name="Rectangle: Rounded Corners 18">
            <a:extLst>
              <a:ext uri="{FF2B5EF4-FFF2-40B4-BE49-F238E27FC236}">
                <a16:creationId xmlns:a16="http://schemas.microsoft.com/office/drawing/2014/main" id="{CB767BC6-B370-4A42-AB71-A294464FBF36}"/>
              </a:ext>
            </a:extLst>
          </p:cNvPr>
          <p:cNvSpPr/>
          <p:nvPr/>
        </p:nvSpPr>
        <p:spPr>
          <a:xfrm>
            <a:off x="4715696" y="3697086"/>
            <a:ext cx="1566237" cy="262111"/>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2" name="Flowchart: Connector 10">
            <a:extLst>
              <a:ext uri="{FF2B5EF4-FFF2-40B4-BE49-F238E27FC236}">
                <a16:creationId xmlns:a16="http://schemas.microsoft.com/office/drawing/2014/main" id="{25EBD22E-4B7A-434B-AAA1-3DF45A4BF402}"/>
              </a:ext>
            </a:extLst>
          </p:cNvPr>
          <p:cNvSpPr/>
          <p:nvPr/>
        </p:nvSpPr>
        <p:spPr>
          <a:xfrm>
            <a:off x="1634086" y="3796865"/>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1</a:t>
            </a:r>
          </a:p>
        </p:txBody>
      </p:sp>
      <p:sp>
        <p:nvSpPr>
          <p:cNvPr id="23" name="Flowchart: Connector 11">
            <a:extLst>
              <a:ext uri="{FF2B5EF4-FFF2-40B4-BE49-F238E27FC236}">
                <a16:creationId xmlns:a16="http://schemas.microsoft.com/office/drawing/2014/main" id="{57EA47D3-A32C-4852-8DAA-0A644EF76EB2}"/>
              </a:ext>
            </a:extLst>
          </p:cNvPr>
          <p:cNvSpPr/>
          <p:nvPr/>
        </p:nvSpPr>
        <p:spPr>
          <a:xfrm>
            <a:off x="2300894" y="5163438"/>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3</a:t>
            </a:r>
          </a:p>
        </p:txBody>
      </p:sp>
      <p:sp>
        <p:nvSpPr>
          <p:cNvPr id="24" name="Flowchart: Connector 12">
            <a:extLst>
              <a:ext uri="{FF2B5EF4-FFF2-40B4-BE49-F238E27FC236}">
                <a16:creationId xmlns:a16="http://schemas.microsoft.com/office/drawing/2014/main" id="{1912BE6F-F5E8-4CDD-BBE7-057173B6CEBA}"/>
              </a:ext>
            </a:extLst>
          </p:cNvPr>
          <p:cNvSpPr/>
          <p:nvPr/>
        </p:nvSpPr>
        <p:spPr>
          <a:xfrm>
            <a:off x="2965426" y="3812441"/>
            <a:ext cx="670531" cy="684297"/>
          </a:xfrm>
          <a:prstGeom prst="flowChartConnector">
            <a:avLst/>
          </a:prstGeom>
          <a:solidFill>
            <a:srgbClr val="F6CB4B">
              <a:alpha val="50000"/>
            </a:srgbClr>
          </a:solidFill>
          <a:ln>
            <a:solidFill>
              <a:srgbClr val="F6CB4B"/>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Intel Clear"/>
                <a:sym typeface="Helvetica Neue"/>
              </a:rPr>
              <a:t>2</a:t>
            </a:r>
          </a:p>
        </p:txBody>
      </p:sp>
      <p:cxnSp>
        <p:nvCxnSpPr>
          <p:cNvPr id="25" name="Straight Arrow Connector 13">
            <a:extLst>
              <a:ext uri="{FF2B5EF4-FFF2-40B4-BE49-F238E27FC236}">
                <a16:creationId xmlns:a16="http://schemas.microsoft.com/office/drawing/2014/main" id="{DB6ADEE5-08DE-43B1-AB7F-1E780AD0681F}"/>
              </a:ext>
            </a:extLst>
          </p:cNvPr>
          <p:cNvCxnSpPr>
            <a:cxnSpLocks/>
            <a:endCxn id="23" idx="0"/>
          </p:cNvCxnSpPr>
          <p:nvPr/>
        </p:nvCxnSpPr>
        <p:spPr>
          <a:xfrm>
            <a:off x="1992963" y="4485197"/>
            <a:ext cx="643197" cy="678241"/>
          </a:xfrm>
          <a:prstGeom prst="straightConnector1">
            <a:avLst/>
          </a:prstGeom>
          <a:noFill/>
          <a:ln w="9525" cap="flat" cmpd="sng" algn="ctr">
            <a:solidFill>
              <a:srgbClr val="F6CB4B"/>
            </a:solidFill>
            <a:prstDash val="solid"/>
            <a:round/>
            <a:headEnd type="none" w="med" len="med"/>
            <a:tailEnd type="arrow" w="med" len="med"/>
          </a:ln>
          <a:effectLst/>
        </p:spPr>
      </p:cxnSp>
      <p:cxnSp>
        <p:nvCxnSpPr>
          <p:cNvPr id="26" name="Straight Arrow Connector 14">
            <a:extLst>
              <a:ext uri="{FF2B5EF4-FFF2-40B4-BE49-F238E27FC236}">
                <a16:creationId xmlns:a16="http://schemas.microsoft.com/office/drawing/2014/main" id="{3951DB1D-DF6E-467A-91BE-5443E82B03D4}"/>
              </a:ext>
            </a:extLst>
          </p:cNvPr>
          <p:cNvCxnSpPr>
            <a:cxnSpLocks/>
            <a:endCxn id="23" idx="0"/>
          </p:cNvCxnSpPr>
          <p:nvPr/>
        </p:nvCxnSpPr>
        <p:spPr>
          <a:xfrm flipH="1">
            <a:off x="2636160" y="4492899"/>
            <a:ext cx="701384" cy="670539"/>
          </a:xfrm>
          <a:prstGeom prst="straightConnector1">
            <a:avLst/>
          </a:prstGeom>
          <a:noFill/>
          <a:ln w="9525" cap="flat" cmpd="sng" algn="ctr">
            <a:solidFill>
              <a:srgbClr val="F6CB4B"/>
            </a:solidFill>
            <a:prstDash val="solid"/>
            <a:round/>
            <a:headEnd type="none" w="med" len="med"/>
            <a:tailEnd type="arrow" w="med" len="med"/>
          </a:ln>
          <a:effectLst/>
        </p:spPr>
      </p:cxnSp>
    </p:spTree>
    <p:extLst>
      <p:ext uri="{BB962C8B-B14F-4D97-AF65-F5344CB8AC3E}">
        <p14:creationId xmlns:p14="http://schemas.microsoft.com/office/powerpoint/2010/main" val="22821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zh-CN" altLang="en-US" dirty="0"/>
              <a:t>线性依赖链式图与</a:t>
            </a:r>
            <a:r>
              <a:rPr lang="en-US" altLang="zh-CN" dirty="0"/>
              <a:t>Y</a:t>
            </a:r>
            <a:r>
              <a:rPr lang="zh-CN" altLang="en-US" dirty="0"/>
              <a:t>型图</a:t>
            </a:r>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一个任务紧接着一个任务执行就会形成线性依赖链</a:t>
            </a:r>
            <a:endParaRPr lang="en-US" altLang="zh-CN" dirty="0"/>
          </a:p>
          <a:p>
            <a:pPr lvl="1"/>
            <a:r>
              <a:rPr lang="zh-CN" altLang="en-US" dirty="0"/>
              <a:t>第一个节点表示数据初始化</a:t>
            </a:r>
            <a:endParaRPr lang="en-US" altLang="zh-CN" dirty="0"/>
          </a:p>
          <a:p>
            <a:pPr lvl="1"/>
            <a:r>
              <a:rPr lang="zh-CN" altLang="en-US" dirty="0"/>
              <a:t>第二个节点表示聚合数据的归约操作</a:t>
            </a:r>
            <a:endParaRPr lang="en-US" altLang="zh-CN" dirty="0"/>
          </a:p>
          <a:p>
            <a:r>
              <a:rPr lang="zh-CN" altLang="en-US" dirty="0"/>
              <a:t>我们独立初始化两个不同数据就会形成</a:t>
            </a:r>
            <a:r>
              <a:rPr lang="en-US" altLang="zh-CN" dirty="0"/>
              <a:t>Y</a:t>
            </a:r>
            <a:r>
              <a:rPr lang="zh-CN" altLang="en-US" dirty="0"/>
              <a:t>型图</a:t>
            </a:r>
            <a:endParaRPr lang="en-US" altLang="zh-CN" dirty="0"/>
          </a:p>
          <a:p>
            <a:pPr lvl="1"/>
            <a:r>
              <a:rPr lang="zh-CN" altLang="en-US" dirty="0"/>
              <a:t>加法操作将两个向量相加</a:t>
            </a:r>
            <a:endParaRPr lang="en-US" altLang="zh-CN" dirty="0"/>
          </a:p>
          <a:p>
            <a:pPr lvl="1"/>
            <a:r>
              <a:rPr lang="zh-CN" altLang="en-US"/>
              <a:t>然后对结果向量进行归约</a:t>
            </a:r>
            <a:endParaRPr lang="zh-CN" altLang="en-US" dirty="0"/>
          </a:p>
        </p:txBody>
      </p:sp>
    </p:spTree>
    <p:extLst>
      <p:ext uri="{BB962C8B-B14F-4D97-AF65-F5344CB8AC3E}">
        <p14:creationId xmlns:p14="http://schemas.microsoft.com/office/powerpoint/2010/main" val="404758566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D140E5-C730-42BB-BBC8-A9F820CC5076}"/>
              </a:ext>
            </a:extLst>
          </p:cNvPr>
          <p:cNvSpPr>
            <a:spLocks noGrp="1"/>
          </p:cNvSpPr>
          <p:nvPr>
            <p:ph type="title"/>
          </p:nvPr>
        </p:nvSpPr>
        <p:spPr/>
        <p:txBody>
          <a:bodyPr/>
          <a:lstStyle/>
          <a:p>
            <a:r>
              <a:rPr lang="zh-CN" altLang="en-US" dirty="0"/>
              <a:t>线性依赖：使用</a:t>
            </a:r>
            <a:r>
              <a:rPr lang="en-US" altLang="zh-CN" dirty="0"/>
              <a:t>in-order</a:t>
            </a:r>
            <a:r>
              <a:rPr lang="zh-CN" altLang="en-US" dirty="0"/>
              <a:t>队列</a:t>
            </a:r>
          </a:p>
        </p:txBody>
      </p:sp>
      <p:sp>
        <p:nvSpPr>
          <p:cNvPr id="3" name="内容占位符 2">
            <a:extLst>
              <a:ext uri="{FF2B5EF4-FFF2-40B4-BE49-F238E27FC236}">
                <a16:creationId xmlns:a16="http://schemas.microsoft.com/office/drawing/2014/main" id="{E6D1D4EE-F21E-4234-9107-D4FB401866D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B3BE67D-6C64-4CA7-9E4E-5870401844B3}"/>
              </a:ext>
            </a:extLst>
          </p:cNvPr>
          <p:cNvPicPr>
            <a:picLocks noChangeAspect="1"/>
          </p:cNvPicPr>
          <p:nvPr/>
        </p:nvPicPr>
        <p:blipFill>
          <a:blip r:embed="rId2"/>
          <a:stretch>
            <a:fillRect/>
          </a:stretch>
        </p:blipFill>
        <p:spPr>
          <a:xfrm>
            <a:off x="67865" y="1565672"/>
            <a:ext cx="9008269" cy="4336256"/>
          </a:xfrm>
          <a:prstGeom prst="rect">
            <a:avLst/>
          </a:prstGeom>
        </p:spPr>
      </p:pic>
    </p:spTree>
    <p:extLst>
      <p:ext uri="{BB962C8B-B14F-4D97-AF65-F5344CB8AC3E}">
        <p14:creationId xmlns:p14="http://schemas.microsoft.com/office/powerpoint/2010/main" val="408595078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CCE82A-9A3E-4E45-99C3-EADCF6CA7124}"/>
              </a:ext>
            </a:extLst>
          </p:cNvPr>
          <p:cNvSpPr>
            <a:spLocks noGrp="1"/>
          </p:cNvSpPr>
          <p:nvPr>
            <p:ph type="title"/>
          </p:nvPr>
        </p:nvSpPr>
        <p:spPr/>
        <p:txBody>
          <a:bodyPr/>
          <a:lstStyle/>
          <a:p>
            <a:r>
              <a:rPr lang="zh-CN" altLang="en-US" dirty="0"/>
              <a:t>线性依赖：使用</a:t>
            </a:r>
            <a:r>
              <a:rPr lang="en-US" altLang="zh-CN" dirty="0"/>
              <a:t>event</a:t>
            </a:r>
            <a:endParaRPr lang="zh-CN" altLang="en-US" dirty="0"/>
          </a:p>
        </p:txBody>
      </p:sp>
      <p:sp>
        <p:nvSpPr>
          <p:cNvPr id="3" name="内容占位符 2">
            <a:extLst>
              <a:ext uri="{FF2B5EF4-FFF2-40B4-BE49-F238E27FC236}">
                <a16:creationId xmlns:a16="http://schemas.microsoft.com/office/drawing/2014/main" id="{537A9082-6DA9-415D-8B45-36DF9EAA2B6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14BC07B3-F910-47D0-8619-5FC6C507E9A9}"/>
              </a:ext>
            </a:extLst>
          </p:cNvPr>
          <p:cNvPicPr>
            <a:picLocks noChangeAspect="1"/>
          </p:cNvPicPr>
          <p:nvPr/>
        </p:nvPicPr>
        <p:blipFill>
          <a:blip r:embed="rId2"/>
          <a:stretch>
            <a:fillRect/>
          </a:stretch>
        </p:blipFill>
        <p:spPr>
          <a:xfrm>
            <a:off x="96440" y="1556792"/>
            <a:ext cx="8951119" cy="4572000"/>
          </a:xfrm>
          <a:prstGeom prst="rect">
            <a:avLst/>
          </a:prstGeom>
        </p:spPr>
      </p:pic>
    </p:spTree>
    <p:extLst>
      <p:ext uri="{BB962C8B-B14F-4D97-AF65-F5344CB8AC3E}">
        <p14:creationId xmlns:p14="http://schemas.microsoft.com/office/powerpoint/2010/main" val="85928477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7DCA5-CC5D-4121-984A-93ABD40DF1C8}"/>
              </a:ext>
            </a:extLst>
          </p:cNvPr>
          <p:cNvSpPr>
            <a:spLocks noGrp="1"/>
          </p:cNvSpPr>
          <p:nvPr>
            <p:ph type="title"/>
          </p:nvPr>
        </p:nvSpPr>
        <p:spPr/>
        <p:txBody>
          <a:bodyPr/>
          <a:lstStyle/>
          <a:p>
            <a:r>
              <a:rPr lang="zh-CN" altLang="en-US" dirty="0"/>
              <a:t>线性依赖：使用缓冲和访问器</a:t>
            </a:r>
          </a:p>
        </p:txBody>
      </p:sp>
      <p:sp>
        <p:nvSpPr>
          <p:cNvPr id="3" name="内容占位符 2">
            <a:extLst>
              <a:ext uri="{FF2B5EF4-FFF2-40B4-BE49-F238E27FC236}">
                <a16:creationId xmlns:a16="http://schemas.microsoft.com/office/drawing/2014/main" id="{1D7E8935-4EA6-4F22-BD1D-490CCDCFCE1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337723AC-EA8A-44B8-BC58-AB7BFAAAA038}"/>
              </a:ext>
            </a:extLst>
          </p:cNvPr>
          <p:cNvPicPr>
            <a:picLocks noChangeAspect="1"/>
          </p:cNvPicPr>
          <p:nvPr/>
        </p:nvPicPr>
        <p:blipFill>
          <a:blip r:embed="rId2"/>
          <a:stretch>
            <a:fillRect/>
          </a:stretch>
        </p:blipFill>
        <p:spPr>
          <a:xfrm>
            <a:off x="0" y="1556792"/>
            <a:ext cx="9144000" cy="4247719"/>
          </a:xfrm>
          <a:prstGeom prst="rect">
            <a:avLst/>
          </a:prstGeom>
        </p:spPr>
      </p:pic>
    </p:spTree>
    <p:extLst>
      <p:ext uri="{BB962C8B-B14F-4D97-AF65-F5344CB8AC3E}">
        <p14:creationId xmlns:p14="http://schemas.microsoft.com/office/powerpoint/2010/main" val="402027881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D140E5-C730-42BB-BBC8-A9F820CC5076}"/>
              </a:ext>
            </a:extLst>
          </p:cNvPr>
          <p:cNvSpPr>
            <a:spLocks noGrp="1"/>
          </p:cNvSpPr>
          <p:nvPr>
            <p:ph type="title"/>
          </p:nvPr>
        </p:nvSpPr>
        <p:spPr/>
        <p:txBody>
          <a:bodyPr/>
          <a:lstStyle/>
          <a:p>
            <a:r>
              <a:rPr lang="en-US" altLang="zh-CN" dirty="0"/>
              <a:t>Y</a:t>
            </a:r>
            <a:r>
              <a:rPr lang="zh-CN" altLang="en-US" dirty="0"/>
              <a:t>型图：使用</a:t>
            </a:r>
            <a:r>
              <a:rPr lang="en-US" altLang="zh-CN" dirty="0"/>
              <a:t>in-order</a:t>
            </a:r>
            <a:r>
              <a:rPr lang="zh-CN" altLang="en-US" dirty="0"/>
              <a:t>队列</a:t>
            </a:r>
          </a:p>
        </p:txBody>
      </p:sp>
      <p:sp>
        <p:nvSpPr>
          <p:cNvPr id="3" name="内容占位符 2">
            <a:extLst>
              <a:ext uri="{FF2B5EF4-FFF2-40B4-BE49-F238E27FC236}">
                <a16:creationId xmlns:a16="http://schemas.microsoft.com/office/drawing/2014/main" id="{E6D1D4EE-F21E-4234-9107-D4FB401866DF}"/>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88CE18DB-8A5C-46E5-A3A8-C69FF38A93C3}"/>
              </a:ext>
            </a:extLst>
          </p:cNvPr>
          <p:cNvPicPr>
            <a:picLocks noChangeAspect="1"/>
          </p:cNvPicPr>
          <p:nvPr/>
        </p:nvPicPr>
        <p:blipFill>
          <a:blip r:embed="rId2"/>
          <a:stretch>
            <a:fillRect/>
          </a:stretch>
        </p:blipFill>
        <p:spPr>
          <a:xfrm>
            <a:off x="-13255" y="1556792"/>
            <a:ext cx="9144000" cy="3967771"/>
          </a:xfrm>
          <a:prstGeom prst="rect">
            <a:avLst/>
          </a:prstGeom>
        </p:spPr>
      </p:pic>
    </p:spTree>
    <p:extLst>
      <p:ext uri="{BB962C8B-B14F-4D97-AF65-F5344CB8AC3E}">
        <p14:creationId xmlns:p14="http://schemas.microsoft.com/office/powerpoint/2010/main" val="279960224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CCE82A-9A3E-4E45-99C3-EADCF6CA7124}"/>
              </a:ext>
            </a:extLst>
          </p:cNvPr>
          <p:cNvSpPr>
            <a:spLocks noGrp="1"/>
          </p:cNvSpPr>
          <p:nvPr>
            <p:ph type="title"/>
          </p:nvPr>
        </p:nvSpPr>
        <p:spPr/>
        <p:txBody>
          <a:bodyPr/>
          <a:lstStyle/>
          <a:p>
            <a:r>
              <a:rPr lang="en-US" altLang="zh-CN" dirty="0"/>
              <a:t>Y</a:t>
            </a:r>
            <a:r>
              <a:rPr lang="zh-CN" altLang="en-US" dirty="0"/>
              <a:t>型图：使用</a:t>
            </a:r>
            <a:r>
              <a:rPr lang="en-US" altLang="zh-CN" dirty="0"/>
              <a:t>event</a:t>
            </a:r>
            <a:endParaRPr lang="zh-CN" altLang="en-US" dirty="0"/>
          </a:p>
        </p:txBody>
      </p:sp>
      <p:sp>
        <p:nvSpPr>
          <p:cNvPr id="3" name="内容占位符 2">
            <a:extLst>
              <a:ext uri="{FF2B5EF4-FFF2-40B4-BE49-F238E27FC236}">
                <a16:creationId xmlns:a16="http://schemas.microsoft.com/office/drawing/2014/main" id="{537A9082-6DA9-415D-8B45-36DF9EAA2B60}"/>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B9886AEE-B4F7-4381-B7EC-244E330C3F72}"/>
              </a:ext>
            </a:extLst>
          </p:cNvPr>
          <p:cNvPicPr>
            <a:picLocks noChangeAspect="1"/>
          </p:cNvPicPr>
          <p:nvPr/>
        </p:nvPicPr>
        <p:blipFill>
          <a:blip r:embed="rId2"/>
          <a:stretch>
            <a:fillRect/>
          </a:stretch>
        </p:blipFill>
        <p:spPr>
          <a:xfrm>
            <a:off x="0" y="1562741"/>
            <a:ext cx="9144000" cy="3732518"/>
          </a:xfrm>
          <a:prstGeom prst="rect">
            <a:avLst/>
          </a:prstGeom>
        </p:spPr>
      </p:pic>
    </p:spTree>
    <p:extLst>
      <p:ext uri="{BB962C8B-B14F-4D97-AF65-F5344CB8AC3E}">
        <p14:creationId xmlns:p14="http://schemas.microsoft.com/office/powerpoint/2010/main" val="146645201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7DCA5-CC5D-4121-984A-93ABD40DF1C8}"/>
              </a:ext>
            </a:extLst>
          </p:cNvPr>
          <p:cNvSpPr>
            <a:spLocks noGrp="1"/>
          </p:cNvSpPr>
          <p:nvPr>
            <p:ph type="title"/>
          </p:nvPr>
        </p:nvSpPr>
        <p:spPr/>
        <p:txBody>
          <a:bodyPr/>
          <a:lstStyle/>
          <a:p>
            <a:r>
              <a:rPr lang="en-US" altLang="zh-CN" dirty="0"/>
              <a:t>Y</a:t>
            </a:r>
            <a:r>
              <a:rPr lang="zh-CN" altLang="en-US" dirty="0"/>
              <a:t>型图：使用缓冲和访问器</a:t>
            </a:r>
          </a:p>
        </p:txBody>
      </p:sp>
      <p:sp>
        <p:nvSpPr>
          <p:cNvPr id="3" name="内容占位符 2">
            <a:extLst>
              <a:ext uri="{FF2B5EF4-FFF2-40B4-BE49-F238E27FC236}">
                <a16:creationId xmlns:a16="http://schemas.microsoft.com/office/drawing/2014/main" id="{1D7E8935-4EA6-4F22-BD1D-490CCDCFCE1B}"/>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EC07C722-0D5C-4C16-B598-D23C2801251D}"/>
              </a:ext>
            </a:extLst>
          </p:cNvPr>
          <p:cNvPicPr>
            <a:picLocks noChangeAspect="1"/>
          </p:cNvPicPr>
          <p:nvPr/>
        </p:nvPicPr>
        <p:blipFill>
          <a:blip r:embed="rId2"/>
          <a:stretch>
            <a:fillRect/>
          </a:stretch>
        </p:blipFill>
        <p:spPr>
          <a:xfrm>
            <a:off x="0" y="1556792"/>
            <a:ext cx="9144000" cy="4078091"/>
          </a:xfrm>
          <a:prstGeom prst="rect">
            <a:avLst/>
          </a:prstGeom>
        </p:spPr>
      </p:pic>
    </p:spTree>
    <p:extLst>
      <p:ext uri="{BB962C8B-B14F-4D97-AF65-F5344CB8AC3E}">
        <p14:creationId xmlns:p14="http://schemas.microsoft.com/office/powerpoint/2010/main" val="25109805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7"/>
          <p:cNvSpPr/>
          <p:nvPr/>
        </p:nvSpPr>
        <p:spPr>
          <a:xfrm>
            <a:off x="5659988" y="3861048"/>
            <a:ext cx="3471277" cy="2635761"/>
          </a:xfrm>
          <a:prstGeom prst="rect">
            <a:avLst/>
          </a:prstGeom>
          <a:blipFill>
            <a:blip r:embed="rId3" cstate="print"/>
            <a:stretch>
              <a:fillRect/>
            </a:stretch>
          </a:blipFill>
        </p:spPr>
        <p:txBody>
          <a:bodyPr wrap="square" lIns="0" tIns="0" rIns="0" bIns="0" rtlCol="0"/>
          <a:lstStyle/>
          <a:p>
            <a:endParaRPr/>
          </a:p>
        </p:txBody>
      </p:sp>
      <p:sp>
        <p:nvSpPr>
          <p:cNvPr id="2" name="标题 1"/>
          <p:cNvSpPr>
            <a:spLocks noGrp="1"/>
          </p:cNvSpPr>
          <p:nvPr>
            <p:ph type="title"/>
          </p:nvPr>
        </p:nvSpPr>
        <p:spPr/>
        <p:txBody>
          <a:bodyPr/>
          <a:lstStyle/>
          <a:p>
            <a:r>
              <a:rPr lang="en-US" altLang="zh-CN" dirty="0"/>
              <a:t>ND-Range Kernel</a:t>
            </a:r>
            <a:endParaRPr lang="zh-CN" altLang="en-US" dirty="0"/>
          </a:p>
        </p:txBody>
      </p:sp>
      <p:sp>
        <p:nvSpPr>
          <p:cNvPr id="3" name="内容占位符 2"/>
          <p:cNvSpPr>
            <a:spLocks noGrp="1"/>
          </p:cNvSpPr>
          <p:nvPr>
            <p:ph idx="1"/>
          </p:nvPr>
        </p:nvSpPr>
        <p:spPr/>
        <p:txBody>
          <a:bodyPr/>
          <a:lstStyle/>
          <a:p>
            <a:r>
              <a:rPr lang="zh-CN" altLang="en-US" sz="2800" dirty="0"/>
              <a:t>基本并行</a:t>
            </a:r>
            <a:r>
              <a:rPr lang="en-US" altLang="zh-CN" sz="2800" dirty="0"/>
              <a:t>kernel</a:t>
            </a:r>
            <a:r>
              <a:rPr lang="zh-CN" altLang="en-US" sz="2800" dirty="0"/>
              <a:t>是</a:t>
            </a:r>
            <a:r>
              <a:rPr lang="en-US" altLang="zh-CN" sz="2800" dirty="0"/>
              <a:t>for</a:t>
            </a:r>
            <a:r>
              <a:rPr lang="zh-CN" altLang="en-US" sz="2800" dirty="0"/>
              <a:t>循环并行化的简单方式，</a:t>
            </a:r>
            <a:r>
              <a:rPr lang="zh-CN" altLang="en-US" sz="2800" dirty="0">
                <a:latin typeface="黑体" panose="02010609060101010101" pitchFamily="49" charset="-122"/>
                <a:ea typeface="黑体" panose="02010609060101010101" pitchFamily="49" charset="-122"/>
              </a:rPr>
              <a:t>但无法实现</a:t>
            </a:r>
            <a:r>
              <a:rPr lang="zh-CN" altLang="en-US" sz="2800" dirty="0"/>
              <a:t>硬件层面的性能优化</a:t>
            </a:r>
            <a:endParaRPr lang="en-US" altLang="zh-CN" sz="2800" dirty="0"/>
          </a:p>
          <a:p>
            <a:r>
              <a:rPr lang="en-US" altLang="zh-CN" sz="2800" b="1" dirty="0"/>
              <a:t>ND-range kernel</a:t>
            </a:r>
            <a:r>
              <a:rPr lang="zh-CN" altLang="en-US" sz="2800" dirty="0"/>
              <a:t>是表达并行的另一种方式，它提供了访问局部内存和将执行映射到硬件计算单元的能力，从而实现了低层性能调优</a:t>
            </a:r>
            <a:endParaRPr lang="en-US" altLang="zh-CN" sz="2800" dirty="0"/>
          </a:p>
          <a:p>
            <a:pPr lvl="1"/>
            <a:r>
              <a:rPr lang="zh-CN" altLang="en-US" sz="2400" dirty="0"/>
              <a:t>整个迭代空间被划分为若干</a:t>
            </a:r>
            <a:br>
              <a:rPr lang="en-US" altLang="zh-CN" sz="2400" dirty="0"/>
            </a:br>
            <a:r>
              <a:rPr lang="zh-CN" altLang="en-US" sz="2400" dirty="0"/>
              <a:t>分组，称为</a:t>
            </a:r>
            <a:r>
              <a:rPr lang="zh-CN" altLang="en-US" sz="2400" dirty="0">
                <a:latin typeface="黑体" panose="02010609060101010101" pitchFamily="49" charset="-122"/>
                <a:ea typeface="黑体" panose="02010609060101010101" pitchFamily="49" charset="-122"/>
              </a:rPr>
              <a:t>工作组</a:t>
            </a:r>
            <a:r>
              <a:rPr lang="zh-CN" altLang="en-US" sz="2400" dirty="0"/>
              <a:t>，一个</a:t>
            </a:r>
            <a:br>
              <a:rPr lang="en-US" altLang="zh-CN" sz="2400" dirty="0"/>
            </a:br>
            <a:r>
              <a:rPr lang="zh-CN" altLang="en-US" sz="2400" dirty="0"/>
              <a:t>组内的工作项被调度到单个</a:t>
            </a:r>
            <a:br>
              <a:rPr lang="en-US" altLang="zh-CN" sz="2400" dirty="0"/>
            </a:br>
            <a:r>
              <a:rPr lang="zh-CN" altLang="en-US" sz="2400" dirty="0"/>
              <a:t>计算单元执行</a:t>
            </a:r>
            <a:endParaRPr lang="en-US" altLang="zh-CN" sz="2400" dirty="0"/>
          </a:p>
          <a:p>
            <a:pPr lvl="1"/>
            <a:r>
              <a:rPr lang="zh-CN" altLang="en-US" sz="2400" dirty="0"/>
              <a:t>将</a:t>
            </a:r>
            <a:r>
              <a:rPr lang="en-US" altLang="zh-CN" sz="2400" dirty="0"/>
              <a:t>kernel</a:t>
            </a:r>
            <a:r>
              <a:rPr lang="zh-CN" altLang="en-US" sz="2400" dirty="0"/>
              <a:t>执行划分工作组，可以</a:t>
            </a:r>
            <a:br>
              <a:rPr lang="en-US" altLang="zh-CN" sz="2400" dirty="0"/>
            </a:br>
            <a:r>
              <a:rPr lang="zh-CN" altLang="en-US" sz="2400" dirty="0"/>
              <a:t>实现</a:t>
            </a:r>
            <a:r>
              <a:rPr lang="zh-CN" altLang="en-US" sz="2400" dirty="0">
                <a:latin typeface="黑体" panose="02010609060101010101" pitchFamily="49" charset="-122"/>
                <a:ea typeface="黑体" panose="02010609060101010101" pitchFamily="49" charset="-122"/>
              </a:rPr>
              <a:t>资源使用</a:t>
            </a:r>
            <a:r>
              <a:rPr lang="zh-CN" altLang="en-US" sz="2400" dirty="0"/>
              <a:t>和</a:t>
            </a:r>
            <a:r>
              <a:rPr lang="zh-CN" altLang="en-US" sz="2400" dirty="0">
                <a:latin typeface="黑体" panose="02010609060101010101" pitchFamily="49" charset="-122"/>
                <a:ea typeface="黑体" panose="02010609060101010101" pitchFamily="49" charset="-122"/>
              </a:rPr>
              <a:t>负载均衡</a:t>
            </a:r>
            <a:r>
              <a:rPr lang="zh-CN" altLang="en-US" sz="2400" dirty="0"/>
              <a:t>的控制</a:t>
            </a:r>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7157412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ND-Range Kernel</a:t>
            </a:r>
            <a:endParaRPr lang="zh-CN" altLang="en-US" dirty="0"/>
          </a:p>
        </p:txBody>
      </p:sp>
      <p:sp>
        <p:nvSpPr>
          <p:cNvPr id="3" name="内容占位符 2"/>
          <p:cNvSpPr>
            <a:spLocks noGrp="1"/>
          </p:cNvSpPr>
          <p:nvPr>
            <p:ph idx="1"/>
          </p:nvPr>
        </p:nvSpPr>
        <p:spPr/>
        <p:txBody>
          <a:bodyPr/>
          <a:lstStyle/>
          <a:p>
            <a:r>
              <a:rPr lang="en-US" altLang="zh-CN" sz="2800" dirty="0" err="1"/>
              <a:t>Nd_range</a:t>
            </a:r>
            <a:r>
              <a:rPr lang="zh-CN" altLang="en-US" sz="2800" dirty="0"/>
              <a:t> </a:t>
            </a:r>
            <a:r>
              <a:rPr lang="en-US" altLang="zh-CN" sz="2800" dirty="0"/>
              <a:t>kernel</a:t>
            </a:r>
            <a:r>
              <a:rPr lang="zh-CN" altLang="en-US" sz="2800" dirty="0"/>
              <a:t>的功能通过</a:t>
            </a:r>
            <a:r>
              <a:rPr lang="en-US" altLang="zh-CN" sz="2800" b="1" dirty="0" err="1"/>
              <a:t>nd_range</a:t>
            </a:r>
            <a:r>
              <a:rPr lang="zh-CN" altLang="en-US" sz="2800" dirty="0"/>
              <a:t>和</a:t>
            </a:r>
            <a:r>
              <a:rPr lang="en-US" altLang="zh-CN" sz="2800" b="1" dirty="0" err="1"/>
              <a:t>nd_item</a:t>
            </a:r>
            <a:r>
              <a:rPr lang="zh-CN" altLang="en-US" sz="2800" dirty="0"/>
              <a:t>类实现</a:t>
            </a:r>
            <a:endParaRPr lang="en-US" altLang="zh-CN" sz="2800" dirty="0"/>
          </a:p>
          <a:p>
            <a:endParaRPr lang="en-US" altLang="zh-CN" sz="2800" dirty="0"/>
          </a:p>
          <a:p>
            <a:endParaRPr lang="en-US" altLang="zh-CN" sz="2800" dirty="0"/>
          </a:p>
          <a:p>
            <a:endParaRPr lang="en-US" altLang="zh-CN" sz="2800" dirty="0"/>
          </a:p>
          <a:p>
            <a:endParaRPr lang="en-US" altLang="zh-CN" sz="2800" dirty="0"/>
          </a:p>
          <a:p>
            <a:endParaRPr lang="en-US" altLang="zh-CN" dirty="0"/>
          </a:p>
          <a:p>
            <a:pPr lvl="1"/>
            <a:r>
              <a:rPr lang="en-US" altLang="zh-CN" sz="2800" b="1" dirty="0" err="1"/>
              <a:t>nd_range</a:t>
            </a:r>
            <a:r>
              <a:rPr lang="zh-CN" altLang="en-US" dirty="0"/>
              <a:t>类使用全局执行范围和每个工作组的局部执行范围来表示分组方式</a:t>
            </a:r>
            <a:endParaRPr lang="en-US" altLang="zh-CN" dirty="0"/>
          </a:p>
          <a:p>
            <a:pPr lvl="1"/>
            <a:r>
              <a:rPr lang="en-US" altLang="zh-CN" sz="2800" b="1" dirty="0" err="1"/>
              <a:t>nd_item</a:t>
            </a:r>
            <a:r>
              <a:rPr lang="zh-CN" altLang="en-US" dirty="0"/>
              <a:t>类表示一个</a:t>
            </a:r>
            <a:r>
              <a:rPr lang="en-US" altLang="zh-CN" dirty="0"/>
              <a:t>kernel</a:t>
            </a:r>
            <a:r>
              <a:rPr lang="zh-CN" altLang="en-US" dirty="0"/>
              <a:t>函数的单个执行实例，它允许查询工作组范围和索引</a:t>
            </a:r>
            <a:endParaRPr lang="en-US" altLang="zh-CN" dirty="0"/>
          </a:p>
        </p:txBody>
      </p:sp>
      <p:grpSp>
        <p:nvGrpSpPr>
          <p:cNvPr id="15" name="Group 6"/>
          <p:cNvGrpSpPr/>
          <p:nvPr/>
        </p:nvGrpSpPr>
        <p:grpSpPr>
          <a:xfrm>
            <a:off x="107505" y="2535706"/>
            <a:ext cx="8928992" cy="2117430"/>
            <a:chOff x="5242989" y="505096"/>
            <a:chExt cx="5621214" cy="6257626"/>
          </a:xfrm>
        </p:grpSpPr>
        <p:sp>
          <p:nvSpPr>
            <p:cNvPr id="16" name="Rectangle: Single Corner Snipped 7"/>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4000" b="1" i="0" u="none" strike="noStrike" kern="0" cap="none" spc="0" normalizeH="0" baseline="0" noProof="0" dirty="0">
                <a:ln>
                  <a:noFill/>
                </a:ln>
                <a:solidFill>
                  <a:srgbClr val="000000"/>
                </a:solidFill>
                <a:effectLst/>
                <a:uLnTx/>
                <a:uFillTx/>
                <a:latin typeface="Intel Clear"/>
                <a:sym typeface="Helvetica Neue" panose="02000503000000020004"/>
              </a:endParaRPr>
            </a:p>
          </p:txBody>
        </p:sp>
        <p:sp>
          <p:nvSpPr>
            <p:cNvPr id="17" name="TextBox 8"/>
            <p:cNvSpPr txBox="1"/>
            <p:nvPr/>
          </p:nvSpPr>
          <p:spPr>
            <a:xfrm>
              <a:off x="5390906" y="611433"/>
              <a:ext cx="5473297" cy="5340504"/>
            </a:xfrm>
            <a:prstGeom prst="rect">
              <a:avLst/>
            </a:prstGeom>
            <a:noFill/>
          </p:spPr>
          <p:txBody>
            <a:bodyPr vert="horz" wrap="square" lIns="0" tIns="0" rIns="0" bIns="0" rtlCol="0">
              <a:spAutoFit/>
            </a:bodyPr>
            <a:lstStyle/>
            <a:p>
              <a:pPr marL="0" marR="0" lvl="0" indent="0" defTabSz="1219200" eaLnBrk="1" fontAlgn="auto" latinLnBrk="0" hangingPunct="1">
                <a:lnSpc>
                  <a:spcPct val="150000"/>
                </a:lnSpc>
                <a:spcBef>
                  <a:spcPts val="0"/>
                </a:spcBef>
                <a:spcAft>
                  <a:spcPts val="0"/>
                </a:spcAft>
                <a:buClrTx/>
                <a:buSzTx/>
                <a:buFontTx/>
                <a:buNone/>
                <a:defRPr/>
              </a:pP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h</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parallel_for</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nd_range</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a:t>
              </a:r>
              <a:r>
                <a:rPr kumimoji="0" lang="en-US" sz="16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range</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1024</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0" cap="none" spc="0" normalizeH="0" baseline="0" noProof="0" dirty="0">
                  <a:ln>
                    <a:noFill/>
                  </a:ln>
                  <a:solidFill>
                    <a:srgbClr val="795E26"/>
                  </a:solidFill>
                  <a:effectLst/>
                  <a:uLnTx/>
                  <a:uFillTx/>
                  <a:latin typeface="Consolas" panose="020B0609020204030204" pitchFamily="49" charset="0"/>
                  <a:sym typeface="Helvetica Neue" panose="02000503000000020004"/>
                </a:rPr>
                <a:t>range</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64</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0" cap="none" spc="0" normalizeH="0" baseline="0" noProof="0" dirty="0" err="1">
                  <a:ln>
                    <a:noFill/>
                  </a:ln>
                  <a:solidFill>
                    <a:srgbClr val="267F99"/>
                  </a:solidFill>
                  <a:effectLst/>
                  <a:uLnTx/>
                  <a:uFillTx/>
                  <a:latin typeface="Consolas" panose="020B0609020204030204" pitchFamily="49" charset="0"/>
                  <a:sym typeface="Helvetica Neue" panose="02000503000000020004"/>
                </a:rPr>
                <a:t>nd_item</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&lt;</a:t>
              </a:r>
              <a:r>
                <a:rPr kumimoji="0" lang="en-US" sz="1600" b="0" i="0" u="none" strike="noStrike" kern="0" cap="none" spc="0" normalizeH="0" baseline="0" noProof="0" dirty="0">
                  <a:ln>
                    <a:noFill/>
                  </a:ln>
                  <a:solidFill>
                    <a:srgbClr val="098658"/>
                  </a:solidFill>
                  <a:effectLst/>
                  <a:uLnTx/>
                  <a:uFillTx/>
                  <a:latin typeface="Consolas" panose="020B0609020204030204" pitchFamily="49" charset="0"/>
                  <a:sym typeface="Helvetica Neue" panose="02000503000000020004"/>
                </a:rPr>
                <a:t>1</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&gt; </a:t>
              </a:r>
              <a:r>
                <a:rPr kumimoji="0" lang="en-US" sz="1600" b="0" i="0" u="none" strike="noStrike" kern="0" cap="none" spc="0" normalizeH="0" baseline="0" noProof="0" dirty="0">
                  <a:ln>
                    <a:noFill/>
                  </a:ln>
                  <a:solidFill>
                    <a:srgbClr val="001080"/>
                  </a:solidFill>
                  <a:effectLst/>
                  <a:uLnTx/>
                  <a:uFillTx/>
                  <a:latin typeface="Consolas" panose="020B0609020204030204" pitchFamily="49" charset="0"/>
                  <a:sym typeface="Helvetica Neue" panose="02000503000000020004"/>
                </a:rPr>
                <a:t>item</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auto</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idx</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item</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get_global_id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0" cap="none" spc="0" normalizeH="0" baseline="0" noProof="0" dirty="0">
                  <a:ln>
                    <a:noFill/>
                  </a:ln>
                  <a:solidFill>
                    <a:srgbClr val="0000FF"/>
                  </a:solidFill>
                  <a:effectLst/>
                  <a:uLnTx/>
                  <a:uFillTx/>
                  <a:latin typeface="Consolas" panose="020B0609020204030204" pitchFamily="49" charset="0"/>
                  <a:sym typeface="Helvetica Neue" panose="02000503000000020004"/>
                </a:rPr>
                <a:t>auto</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local_id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 = </a:t>
              </a:r>
              <a:r>
                <a:rPr kumimoji="0" lang="en-US" sz="1600" b="0" i="0" u="none" strike="noStrike" kern="0" cap="none" spc="0" normalizeH="0" baseline="0" noProof="0" dirty="0" err="1">
                  <a:ln>
                    <a:noFill/>
                  </a:ln>
                  <a:solidFill>
                    <a:srgbClr val="001080"/>
                  </a:solidFill>
                  <a:effectLst/>
                  <a:uLnTx/>
                  <a:uFillTx/>
                  <a:latin typeface="Consolas" panose="020B0609020204030204" pitchFamily="49" charset="0"/>
                  <a:sym typeface="Helvetica Neue" panose="02000503000000020004"/>
                </a:rPr>
                <a:t>item</a:t>
              </a:r>
              <a:r>
                <a:rPr kumimoji="0" lang="en-US" sz="1600" b="0" i="0" u="none" strike="noStrike" kern="0" cap="none" spc="0" normalizeH="0" baseline="0" noProof="0" dirty="0" err="1">
                  <a:ln>
                    <a:noFill/>
                  </a:ln>
                  <a:solidFill>
                    <a:srgbClr val="000000"/>
                  </a:solidFill>
                  <a:effectLst/>
                  <a:uLnTx/>
                  <a:uFillTx/>
                  <a:latin typeface="Consolas" panose="020B0609020204030204" pitchFamily="49" charset="0"/>
                  <a:sym typeface="Helvetica Neue" panose="02000503000000020004"/>
                </a:rPr>
                <a:t>.</a:t>
              </a:r>
              <a:r>
                <a:rPr kumimoji="0" lang="en-US" sz="1600" b="0" i="0" u="none" strike="noStrike" kern="0" cap="none" spc="0" normalizeH="0" baseline="0" noProof="0" dirty="0" err="1">
                  <a:ln>
                    <a:noFill/>
                  </a:ln>
                  <a:solidFill>
                    <a:srgbClr val="795E26"/>
                  </a:solidFill>
                  <a:effectLst/>
                  <a:uLnTx/>
                  <a:uFillTx/>
                  <a:latin typeface="Consolas" panose="020B0609020204030204" pitchFamily="49" charset="0"/>
                  <a:sym typeface="Helvetica Neue" panose="02000503000000020004"/>
                </a:rPr>
                <a:t>get_local_id</a:t>
              </a: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a:p>
              <a:pPr marL="0" marR="0" lvl="0" indent="0" defTabSz="1219200" eaLnBrk="1" fontAlgn="auto" latinLnBrk="0" hangingPunct="1">
                <a:lnSpc>
                  <a:spcPct val="150000"/>
                </a:lnSpc>
                <a:spcBef>
                  <a:spcPts val="0"/>
                </a:spcBef>
                <a:spcAft>
                  <a:spcPts val="0"/>
                </a:spcAft>
                <a:buClrTx/>
                <a:buSzTx/>
                <a:buFontTx/>
                <a:buNone/>
                <a:defRPr/>
              </a:pPr>
              <a:r>
                <a:rPr kumimoji="0" lang="en-US" sz="16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    // </a:t>
              </a:r>
              <a:r>
                <a:rPr kumimoji="0" lang="zh-CN" altLang="en-US" sz="1600" b="0" i="0" u="none" strike="noStrike" kern="0" cap="none" spc="0" normalizeH="0" baseline="0" noProof="0" dirty="0">
                  <a:ln>
                    <a:noFill/>
                  </a:ln>
                  <a:solidFill>
                    <a:srgbClr val="008000"/>
                  </a:solidFill>
                  <a:effectLst/>
                  <a:uLnTx/>
                  <a:uFillTx/>
                  <a:latin typeface="Consolas" panose="020B0609020204030204" pitchFamily="49" charset="0"/>
                  <a:sym typeface="Helvetica Neue" panose="02000503000000020004"/>
                </a:rPr>
                <a:t>运行在设备端的代码</a:t>
              </a:r>
              <a:endPar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endParaRPr>
            </a:p>
            <a:p>
              <a:pPr marL="0" marR="0" lvl="0" indent="0" defTabSz="1219200" eaLnBrk="1" fontAlgn="auto" latinLnBrk="0" hangingPunct="1">
                <a:lnSpc>
                  <a:spcPct val="150000"/>
                </a:lnSpc>
                <a:spcBef>
                  <a:spcPts val="0"/>
                </a:spcBef>
                <a:spcAft>
                  <a:spcPts val="0"/>
                </a:spcAft>
                <a:buClrTx/>
                <a:buSzTx/>
                <a:buFontTx/>
                <a:buNone/>
                <a:defRPr/>
              </a:pPr>
              <a:r>
                <a:rPr kumimoji="0" lang="en-US" sz="1600" b="0" i="0" u="none" strike="noStrike" kern="0" cap="none" spc="0" normalizeH="0" baseline="0" noProof="0" dirty="0">
                  <a:ln>
                    <a:noFill/>
                  </a:ln>
                  <a:solidFill>
                    <a:srgbClr val="000000"/>
                  </a:solidFill>
                  <a:effectLst/>
                  <a:uLnTx/>
                  <a:uFillTx/>
                  <a:latin typeface="Consolas" panose="020B0609020204030204" pitchFamily="49" charset="0"/>
                  <a:sym typeface="Helvetica Neue" panose="02000503000000020004"/>
                </a:rPr>
                <a:t>});</a:t>
              </a:r>
            </a:p>
          </p:txBody>
        </p:sp>
      </p:grpSp>
      <p:sp>
        <p:nvSpPr>
          <p:cNvPr id="18" name="Rectangle: Rounded Corners 9"/>
          <p:cNvSpPr/>
          <p:nvPr/>
        </p:nvSpPr>
        <p:spPr>
          <a:xfrm>
            <a:off x="3377702" y="2615585"/>
            <a:ext cx="1524383" cy="32260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
        <p:nvSpPr>
          <p:cNvPr id="19" name="Rectangle: Rounded Corners 10"/>
          <p:cNvSpPr/>
          <p:nvPr/>
        </p:nvSpPr>
        <p:spPr>
          <a:xfrm>
            <a:off x="5026240" y="2615585"/>
            <a:ext cx="1372405" cy="34957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
        <p:nvSpPr>
          <p:cNvPr id="20" name="Rectangle: Rounded Corners 11"/>
          <p:cNvSpPr/>
          <p:nvPr/>
        </p:nvSpPr>
        <p:spPr>
          <a:xfrm>
            <a:off x="1998691" y="2615585"/>
            <a:ext cx="1250523" cy="349572"/>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cxnSp>
        <p:nvCxnSpPr>
          <p:cNvPr id="21" name="Straight Arrow Connector 12"/>
          <p:cNvCxnSpPr/>
          <p:nvPr/>
        </p:nvCxnSpPr>
        <p:spPr>
          <a:xfrm flipV="1">
            <a:off x="4368808" y="2965157"/>
            <a:ext cx="0" cy="1298224"/>
          </a:xfrm>
          <a:prstGeom prst="straightConnector1">
            <a:avLst/>
          </a:prstGeom>
          <a:noFill/>
          <a:ln w="25400" cap="flat" cmpd="sng" algn="ctr">
            <a:solidFill>
              <a:srgbClr val="D96930"/>
            </a:solidFill>
            <a:prstDash val="solid"/>
            <a:tailEnd type="triangle"/>
          </a:ln>
          <a:effectLst/>
        </p:spPr>
      </p:cxnSp>
      <p:cxnSp>
        <p:nvCxnSpPr>
          <p:cNvPr id="22" name="Straight Arrow Connector 13"/>
          <p:cNvCxnSpPr/>
          <p:nvPr/>
        </p:nvCxnSpPr>
        <p:spPr>
          <a:xfrm flipV="1">
            <a:off x="6178089" y="2965157"/>
            <a:ext cx="0" cy="1298224"/>
          </a:xfrm>
          <a:prstGeom prst="straightConnector1">
            <a:avLst/>
          </a:prstGeom>
          <a:noFill/>
          <a:ln w="25400" cap="flat" cmpd="sng" algn="ctr">
            <a:solidFill>
              <a:srgbClr val="D96930"/>
            </a:solidFill>
            <a:prstDash val="solid"/>
            <a:tailEnd type="triangle"/>
          </a:ln>
          <a:effectLst/>
        </p:spPr>
      </p:cxnSp>
      <p:sp>
        <p:nvSpPr>
          <p:cNvPr id="23" name="TextBox 16"/>
          <p:cNvSpPr txBox="1"/>
          <p:nvPr/>
        </p:nvSpPr>
        <p:spPr>
          <a:xfrm>
            <a:off x="3621992" y="4250008"/>
            <a:ext cx="1178657" cy="193899"/>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rgbClr val="D96930"/>
                </a:solidFill>
                <a:latin typeface="Intel Clear"/>
                <a:sym typeface="Helvetica Neue" panose="02000503000000020004"/>
              </a:rPr>
              <a:t>global size</a:t>
            </a:r>
          </a:p>
        </p:txBody>
      </p:sp>
      <p:sp>
        <p:nvSpPr>
          <p:cNvPr id="24" name="TextBox 17"/>
          <p:cNvSpPr txBox="1"/>
          <p:nvPr/>
        </p:nvSpPr>
        <p:spPr>
          <a:xfrm>
            <a:off x="5318493" y="4263381"/>
            <a:ext cx="1520600" cy="193899"/>
          </a:xfrm>
          <a:prstGeom prst="rect">
            <a:avLst/>
          </a:prstGeom>
          <a:noFill/>
        </p:spPr>
        <p:txBody>
          <a:bodyPr vert="horz" wrap="square" lIns="0" tIns="0" rIns="0" bIns="0" rtlCol="0">
            <a:spAutoFit/>
          </a:bodyPr>
          <a:lstStyle/>
          <a:p>
            <a:pPr defTabSz="1219200" eaLnBrk="1" fontAlgn="auto">
              <a:lnSpc>
                <a:spcPct val="90000"/>
              </a:lnSpc>
              <a:spcBef>
                <a:spcPts val="2250"/>
              </a:spcBef>
              <a:spcAft>
                <a:spcPts val="0"/>
              </a:spcAft>
            </a:pPr>
            <a:r>
              <a:rPr kumimoji="0" lang="en-US" sz="1400" kern="0" dirty="0">
                <a:solidFill>
                  <a:srgbClr val="D96930"/>
                </a:solidFill>
                <a:latin typeface="Intel Clear"/>
                <a:sym typeface="Helvetica Neue" panose="02000503000000020004"/>
              </a:rPr>
              <a:t>work-group size</a:t>
            </a:r>
          </a:p>
        </p:txBody>
      </p:sp>
      <p:sp>
        <p:nvSpPr>
          <p:cNvPr id="25" name="Rectangle: Rounded Corners 18"/>
          <p:cNvSpPr/>
          <p:nvPr/>
        </p:nvSpPr>
        <p:spPr>
          <a:xfrm>
            <a:off x="7119934" y="2622489"/>
            <a:ext cx="1723616" cy="31570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200" eaLnBrk="1" fontAlgn="auto" latinLnBrk="0" hangingPunct="1">
              <a:lnSpc>
                <a:spcPct val="90000"/>
              </a:lnSpc>
              <a:spcBef>
                <a:spcPts val="2250"/>
              </a:spcBef>
              <a:spcAft>
                <a:spcPts val="0"/>
              </a:spcAft>
              <a:buClrTx/>
              <a:buSzTx/>
              <a:buFontTx/>
              <a:buNone/>
              <a:defRPr/>
            </a:pPr>
            <a:endParaRPr kumimoji="0" lang="en-US" sz="1800" b="0" i="0" u="none" strike="noStrike" kern="0" cap="none" spc="0" normalizeH="0" baseline="0" noProof="0">
              <a:ln>
                <a:noFill/>
              </a:ln>
              <a:solidFill>
                <a:srgbClr val="D96930"/>
              </a:solidFill>
              <a:effectLst/>
              <a:uLnTx/>
              <a:uFillTx/>
              <a:latin typeface="Intel Clear"/>
              <a:sym typeface="Helvetica Neue" panose="02000503000000020004"/>
            </a:endParaRPr>
          </a:p>
        </p:txBody>
      </p:sp>
    </p:spTree>
    <p:extLst>
      <p:ext uri="{BB962C8B-B14F-4D97-AF65-F5344CB8AC3E}">
        <p14:creationId xmlns:p14="http://schemas.microsoft.com/office/powerpoint/2010/main" val="270713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3" grpId="0"/>
      <p:bldP spid="24" grpId="0"/>
      <p:bldP spid="25"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en-US" altLang="zh-CN" dirty="0"/>
              <a:t>Sub Group</a:t>
            </a:r>
            <a:endParaRPr lang="zh-CN" altLang="en-US" dirty="0"/>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小组（</a:t>
            </a:r>
            <a:r>
              <a:rPr lang="en-US" altLang="zh-CN" dirty="0"/>
              <a:t>sub-group</a:t>
            </a:r>
            <a:r>
              <a:rPr lang="zh-CN" altLang="en-US" dirty="0"/>
              <a:t>）是</a:t>
            </a:r>
            <a:r>
              <a:rPr lang="zh-CN" altLang="en-US" dirty="0">
                <a:latin typeface="黑体" panose="02010609060101010101" pitchFamily="49" charset="-122"/>
                <a:ea typeface="黑体" panose="02010609060101010101" pitchFamily="49" charset="-122"/>
              </a:rPr>
              <a:t>工作项的子集</a:t>
            </a:r>
            <a:r>
              <a:rPr lang="zh-CN" altLang="en-US" dirty="0"/>
              <a:t>（</a:t>
            </a:r>
            <a:r>
              <a:rPr lang="en-US" altLang="zh-CN" dirty="0"/>
              <a:t>subset of the work-items</a:t>
            </a:r>
            <a:r>
              <a:rPr lang="zh-CN" altLang="en-US" dirty="0"/>
              <a:t>），可同时执行或具有额外的调度保证，也可映射到向量硬件</a:t>
            </a:r>
            <a:endParaRPr lang="en-US" altLang="zh-CN" dirty="0"/>
          </a:p>
          <a:p>
            <a:r>
              <a:rPr lang="zh-CN" altLang="en-US" dirty="0"/>
              <a:t>利用小组，可帮助我们将执行映射到低层硬件，可能</a:t>
            </a:r>
            <a:r>
              <a:rPr lang="zh-CN" altLang="en-US" dirty="0">
                <a:latin typeface="黑体" panose="02010609060101010101" pitchFamily="49" charset="-122"/>
                <a:ea typeface="黑体" panose="02010609060101010101" pitchFamily="49" charset="-122"/>
              </a:rPr>
              <a:t>对获得高性能有帮助</a:t>
            </a:r>
          </a:p>
        </p:txBody>
      </p:sp>
    </p:spTree>
    <p:extLst>
      <p:ext uri="{BB962C8B-B14F-4D97-AF65-F5344CB8AC3E}">
        <p14:creationId xmlns:p14="http://schemas.microsoft.com/office/powerpoint/2010/main" val="63555339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73290-E49A-44B0-8C45-AB690D974AC7}"/>
              </a:ext>
            </a:extLst>
          </p:cNvPr>
          <p:cNvSpPr>
            <a:spLocks noGrp="1"/>
          </p:cNvSpPr>
          <p:nvPr>
            <p:ph type="title"/>
          </p:nvPr>
        </p:nvSpPr>
        <p:spPr/>
        <p:txBody>
          <a:bodyPr/>
          <a:lstStyle/>
          <a:p>
            <a:r>
              <a:rPr lang="zh-CN" altLang="en-US" dirty="0"/>
              <a:t>如何映射到硬件</a:t>
            </a:r>
          </a:p>
        </p:txBody>
      </p:sp>
      <p:sp>
        <p:nvSpPr>
          <p:cNvPr id="3" name="内容占位符 2">
            <a:extLst>
              <a:ext uri="{FF2B5EF4-FFF2-40B4-BE49-F238E27FC236}">
                <a16:creationId xmlns:a16="http://schemas.microsoft.com/office/drawing/2014/main" id="{502E1CE6-24B2-4453-BDF2-025BF713D563}"/>
              </a:ext>
            </a:extLst>
          </p:cNvPr>
          <p:cNvSpPr>
            <a:spLocks noGrp="1"/>
          </p:cNvSpPr>
          <p:nvPr>
            <p:ph idx="1"/>
          </p:nvPr>
        </p:nvSpPr>
        <p:spPr/>
        <p:txBody>
          <a:bodyPr/>
          <a:lstStyle/>
          <a:p>
            <a:endParaRPr lang="zh-CN" altLang="en-US" dirty="0"/>
          </a:p>
        </p:txBody>
      </p:sp>
      <p:pic>
        <p:nvPicPr>
          <p:cNvPr id="13" name="Picture 3">
            <a:extLst>
              <a:ext uri="{FF2B5EF4-FFF2-40B4-BE49-F238E27FC236}">
                <a16:creationId xmlns:a16="http://schemas.microsoft.com/office/drawing/2014/main" id="{844A8B7F-89A7-40AD-89C4-D3A49BF65F15}"/>
              </a:ext>
            </a:extLst>
          </p:cNvPr>
          <p:cNvPicPr>
            <a:picLocks noChangeAspect="1"/>
          </p:cNvPicPr>
          <p:nvPr/>
        </p:nvPicPr>
        <p:blipFill>
          <a:blip r:embed="rId2"/>
          <a:stretch>
            <a:fillRect/>
          </a:stretch>
        </p:blipFill>
        <p:spPr>
          <a:xfrm>
            <a:off x="574824" y="1516304"/>
            <a:ext cx="3899662" cy="5280968"/>
          </a:xfrm>
          <a:prstGeom prst="rect">
            <a:avLst/>
          </a:prstGeom>
        </p:spPr>
      </p:pic>
      <p:sp>
        <p:nvSpPr>
          <p:cNvPr id="14" name="Rectangle 4">
            <a:extLst>
              <a:ext uri="{FF2B5EF4-FFF2-40B4-BE49-F238E27FC236}">
                <a16:creationId xmlns:a16="http://schemas.microsoft.com/office/drawing/2014/main" id="{46306EEE-3DC7-4C6A-A08F-5032EBA12F85}"/>
              </a:ext>
            </a:extLst>
          </p:cNvPr>
          <p:cNvSpPr/>
          <p:nvPr/>
        </p:nvSpPr>
        <p:spPr>
          <a:xfrm>
            <a:off x="2504335" y="2278721"/>
            <a:ext cx="975360" cy="1554480"/>
          </a:xfrm>
          <a:prstGeom prst="rect">
            <a:avLst/>
          </a:prstGeom>
          <a:solidFill>
            <a:srgbClr val="D96930">
              <a:alpha val="50000"/>
            </a:srgbClr>
          </a:solidFill>
          <a:ln>
            <a:no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Intel Clear"/>
              <a:sym typeface="Helvetica Neue"/>
            </a:endParaRPr>
          </a:p>
        </p:txBody>
      </p:sp>
      <p:sp>
        <p:nvSpPr>
          <p:cNvPr id="15" name="Speech Bubble: Rectangle with Corners Rounded 6">
            <a:extLst>
              <a:ext uri="{FF2B5EF4-FFF2-40B4-BE49-F238E27FC236}">
                <a16:creationId xmlns:a16="http://schemas.microsoft.com/office/drawing/2014/main" id="{0A7996F4-D176-4EB3-A3F8-989A301FB9F1}"/>
              </a:ext>
            </a:extLst>
          </p:cNvPr>
          <p:cNvSpPr/>
          <p:nvPr/>
        </p:nvSpPr>
        <p:spPr>
          <a:xfrm>
            <a:off x="4669516" y="1539915"/>
            <a:ext cx="4474484" cy="2306112"/>
          </a:xfrm>
          <a:prstGeom prst="wedgeRoundRectCallout">
            <a:avLst>
              <a:gd name="adj1" fmla="val -81101"/>
              <a:gd name="adj2" fmla="val 17719"/>
              <a:gd name="adj3" fmla="val 16667"/>
            </a:avLst>
          </a:prstGeom>
          <a:solidFill>
            <a:srgbClr val="FFC000"/>
          </a:solidFill>
          <a:ln w="25400" cap="flat" cmpd="sng" algn="ctr">
            <a:solidFill>
              <a:srgbClr val="FFFFFF"/>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Intel Clear"/>
              <a:sym typeface="Helvetica Neue"/>
            </a:endParaRPr>
          </a:p>
        </p:txBody>
      </p:sp>
      <p:sp>
        <p:nvSpPr>
          <p:cNvPr id="16" name="Rectangle 7">
            <a:extLst>
              <a:ext uri="{FF2B5EF4-FFF2-40B4-BE49-F238E27FC236}">
                <a16:creationId xmlns:a16="http://schemas.microsoft.com/office/drawing/2014/main" id="{340142D2-2821-4ED1-93D9-C1F4B4B677F8}"/>
              </a:ext>
            </a:extLst>
          </p:cNvPr>
          <p:cNvSpPr/>
          <p:nvPr/>
        </p:nvSpPr>
        <p:spPr>
          <a:xfrm>
            <a:off x="4289697" y="4788825"/>
            <a:ext cx="81280" cy="193040"/>
          </a:xfrm>
          <a:prstGeom prst="rect">
            <a:avLst/>
          </a:prstGeom>
          <a:solidFill>
            <a:srgbClr val="00B050"/>
          </a:solidFill>
          <a:ln>
            <a:solidFill>
              <a:srgbClr val="000000"/>
            </a:solid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Intel Clear"/>
              <a:sym typeface="Helvetica Neue"/>
            </a:endParaRPr>
          </a:p>
        </p:txBody>
      </p:sp>
      <p:sp>
        <p:nvSpPr>
          <p:cNvPr id="17" name="Speech Bubble: Rectangle with Corners Rounded 8">
            <a:extLst>
              <a:ext uri="{FF2B5EF4-FFF2-40B4-BE49-F238E27FC236}">
                <a16:creationId xmlns:a16="http://schemas.microsoft.com/office/drawing/2014/main" id="{5C4A2E29-7811-4AAE-925D-23B437C9B4CA}"/>
              </a:ext>
            </a:extLst>
          </p:cNvPr>
          <p:cNvSpPr/>
          <p:nvPr/>
        </p:nvSpPr>
        <p:spPr>
          <a:xfrm>
            <a:off x="5148064" y="4541548"/>
            <a:ext cx="3899662" cy="1264713"/>
          </a:xfrm>
          <a:prstGeom prst="wedgeRoundRectCallout">
            <a:avLst>
              <a:gd name="adj1" fmla="val -66119"/>
              <a:gd name="adj2" fmla="val -23203"/>
              <a:gd name="adj3" fmla="val 16667"/>
            </a:avLst>
          </a:prstGeom>
          <a:solidFill>
            <a:srgbClr val="FFC000"/>
          </a:solidFill>
          <a:ln w="25400" cap="flat" cmpd="sng" algn="ctr">
            <a:solidFill>
              <a:srgbClr val="FFFFFF"/>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Intel Clear"/>
              <a:sym typeface="Helvetica Neue"/>
            </a:endParaRPr>
          </a:p>
        </p:txBody>
      </p:sp>
      <p:pic>
        <p:nvPicPr>
          <p:cNvPr id="18" name="Picture 9">
            <a:extLst>
              <a:ext uri="{FF2B5EF4-FFF2-40B4-BE49-F238E27FC236}">
                <a16:creationId xmlns:a16="http://schemas.microsoft.com/office/drawing/2014/main" id="{8B7A6689-A082-4258-941B-3C61334A84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0632" y="1622941"/>
            <a:ext cx="2063856" cy="2140060"/>
          </a:xfrm>
          <a:prstGeom prst="rect">
            <a:avLst/>
          </a:prstGeom>
        </p:spPr>
      </p:pic>
      <p:pic>
        <p:nvPicPr>
          <p:cNvPr id="19" name="Picture 10">
            <a:extLst>
              <a:ext uri="{FF2B5EF4-FFF2-40B4-BE49-F238E27FC236}">
                <a16:creationId xmlns:a16="http://schemas.microsoft.com/office/drawing/2014/main" id="{5C57ABE6-0A01-4EA2-B9F5-CD6E3A8A5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8856" y="4589674"/>
            <a:ext cx="1117657" cy="1168460"/>
          </a:xfrm>
          <a:prstGeom prst="rect">
            <a:avLst/>
          </a:prstGeom>
        </p:spPr>
      </p:pic>
      <p:sp>
        <p:nvSpPr>
          <p:cNvPr id="20" name="TextBox 11">
            <a:extLst>
              <a:ext uri="{FF2B5EF4-FFF2-40B4-BE49-F238E27FC236}">
                <a16:creationId xmlns:a16="http://schemas.microsoft.com/office/drawing/2014/main" id="{52238206-409F-4A9E-AEF2-F614FA9631B2}"/>
              </a:ext>
            </a:extLst>
          </p:cNvPr>
          <p:cNvSpPr txBox="1"/>
          <p:nvPr/>
        </p:nvSpPr>
        <p:spPr>
          <a:xfrm>
            <a:off x="4860032" y="1747825"/>
            <a:ext cx="1939012" cy="2109295"/>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kumimoji="0" lang="zh-CN" altLang="en-US" sz="2000" kern="0" dirty="0">
                <a:solidFill>
                  <a:srgbClr val="000000"/>
                </a:solidFill>
                <a:latin typeface="Intel Clear"/>
                <a:sym typeface="Helvetica Neue"/>
              </a:rPr>
              <a:t>一个</a:t>
            </a:r>
            <a:r>
              <a:rPr kumimoji="0" lang="en-US" sz="2000" b="1" kern="0" dirty="0">
                <a:solidFill>
                  <a:srgbClr val="000000"/>
                </a:solidFill>
                <a:latin typeface="Intel Clear"/>
                <a:sym typeface="Helvetica Neue"/>
              </a:rPr>
              <a:t>work-group</a:t>
            </a:r>
            <a:r>
              <a:rPr kumimoji="0" lang="zh-CN" altLang="en-US" sz="2000" kern="0" dirty="0">
                <a:solidFill>
                  <a:srgbClr val="000000"/>
                </a:solidFill>
                <a:latin typeface="Intel Clear"/>
                <a:sym typeface="Helvetica Neue"/>
              </a:rPr>
              <a:t>的所有工作项被调度到单个计算单元，每个计算单元有自己的局部内存</a:t>
            </a:r>
            <a:endParaRPr kumimoji="0" lang="en-US" sz="2000" kern="0" dirty="0">
              <a:solidFill>
                <a:srgbClr val="000000"/>
              </a:solidFill>
              <a:latin typeface="Intel Clear"/>
              <a:sym typeface="Helvetica Neue"/>
            </a:endParaRPr>
          </a:p>
          <a:p>
            <a:pPr defTabSz="1219169" eaLnBrk="1" fontAlgn="auto">
              <a:lnSpc>
                <a:spcPct val="90000"/>
              </a:lnSpc>
              <a:spcBef>
                <a:spcPts val="2250"/>
              </a:spcBef>
              <a:spcAft>
                <a:spcPts val="0"/>
              </a:spcAft>
            </a:pPr>
            <a:endParaRPr kumimoji="0" lang="en-US" sz="1100" kern="0" dirty="0" err="1">
              <a:solidFill>
                <a:srgbClr val="003C71"/>
              </a:solidFill>
              <a:latin typeface="Intel Clear"/>
              <a:sym typeface="Helvetica Neue"/>
            </a:endParaRPr>
          </a:p>
        </p:txBody>
      </p:sp>
      <p:sp>
        <p:nvSpPr>
          <p:cNvPr id="21" name="TextBox 12">
            <a:extLst>
              <a:ext uri="{FF2B5EF4-FFF2-40B4-BE49-F238E27FC236}">
                <a16:creationId xmlns:a16="http://schemas.microsoft.com/office/drawing/2014/main" id="{8D692FBB-2DA5-463C-B650-DB495B665EEE}"/>
              </a:ext>
            </a:extLst>
          </p:cNvPr>
          <p:cNvSpPr txBox="1"/>
          <p:nvPr/>
        </p:nvSpPr>
        <p:spPr>
          <a:xfrm>
            <a:off x="5252166" y="4745280"/>
            <a:ext cx="2225820" cy="830997"/>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kumimoji="0" lang="zh-CN" altLang="en-US" sz="2000" kern="0" dirty="0">
                <a:solidFill>
                  <a:srgbClr val="000000"/>
                </a:solidFill>
                <a:latin typeface="Intel Clear"/>
                <a:sym typeface="Helvetica Neue"/>
              </a:rPr>
              <a:t>一个</a:t>
            </a:r>
            <a:r>
              <a:rPr kumimoji="0" lang="en-US" sz="2000" b="1" kern="0" dirty="0">
                <a:solidFill>
                  <a:srgbClr val="000000"/>
                </a:solidFill>
                <a:latin typeface="Intel Clear"/>
                <a:sym typeface="Helvetica Neue"/>
              </a:rPr>
              <a:t>sub-group</a:t>
            </a:r>
            <a:r>
              <a:rPr kumimoji="0" lang="en-US" sz="2000" kern="0" dirty="0">
                <a:solidFill>
                  <a:srgbClr val="000000"/>
                </a:solidFill>
                <a:latin typeface="Intel Clear"/>
                <a:sym typeface="Helvetica Neue"/>
              </a:rPr>
              <a:t> </a:t>
            </a:r>
            <a:r>
              <a:rPr kumimoji="0" lang="zh-CN" altLang="en-US" sz="2000" kern="0" dirty="0">
                <a:solidFill>
                  <a:srgbClr val="000000"/>
                </a:solidFill>
                <a:latin typeface="Intel Clear"/>
                <a:sym typeface="Helvetica Neue"/>
              </a:rPr>
              <a:t>中的所有工作项被映射到向量硬件</a:t>
            </a:r>
            <a:endParaRPr kumimoji="0" lang="en-US" sz="1100" kern="0" dirty="0" err="1">
              <a:solidFill>
                <a:srgbClr val="003C71"/>
              </a:solidFill>
              <a:latin typeface="Intel Clear"/>
              <a:sym typeface="Helvetica Neue"/>
            </a:endParaRPr>
          </a:p>
        </p:txBody>
      </p:sp>
    </p:spTree>
    <p:extLst>
      <p:ext uri="{BB962C8B-B14F-4D97-AF65-F5344CB8AC3E}">
        <p14:creationId xmlns:p14="http://schemas.microsoft.com/office/powerpoint/2010/main" val="335323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20" grpId="0"/>
      <p:bldP spid="21"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4F463-BA8C-4176-B43D-9630F81D9396}"/>
              </a:ext>
            </a:extLst>
          </p:cNvPr>
          <p:cNvSpPr>
            <a:spLocks noGrp="1"/>
          </p:cNvSpPr>
          <p:nvPr>
            <p:ph type="title"/>
          </p:nvPr>
        </p:nvSpPr>
        <p:spPr/>
        <p:txBody>
          <a:bodyPr/>
          <a:lstStyle/>
          <a:p>
            <a:r>
              <a:rPr lang="en-US" altLang="zh-CN" dirty="0" err="1"/>
              <a:t>ND_Range</a:t>
            </a:r>
            <a:r>
              <a:rPr lang="en-US" altLang="zh-CN" dirty="0"/>
              <a:t> Kernel</a:t>
            </a:r>
            <a:r>
              <a:rPr lang="zh-CN" altLang="en-US" dirty="0"/>
              <a:t>的执行</a:t>
            </a:r>
          </a:p>
        </p:txBody>
      </p:sp>
      <p:sp>
        <p:nvSpPr>
          <p:cNvPr id="3" name="内容占位符 2">
            <a:extLst>
              <a:ext uri="{FF2B5EF4-FFF2-40B4-BE49-F238E27FC236}">
                <a16:creationId xmlns:a16="http://schemas.microsoft.com/office/drawing/2014/main" id="{2118B9E4-8BB2-41B1-B9E2-67A36B9836DB}"/>
              </a:ext>
            </a:extLst>
          </p:cNvPr>
          <p:cNvSpPr>
            <a:spLocks noGrp="1"/>
          </p:cNvSpPr>
          <p:nvPr>
            <p:ph idx="1"/>
          </p:nvPr>
        </p:nvSpPr>
        <p:spPr/>
        <p:txBody>
          <a:bodyPr/>
          <a:lstStyle/>
          <a:p>
            <a:r>
              <a:rPr lang="zh-CN" altLang="en-US" sz="2800" dirty="0"/>
              <a:t>基于</a:t>
            </a:r>
            <a:r>
              <a:rPr lang="en-US" altLang="zh-CN" sz="2800" b="1" dirty="0"/>
              <a:t>ND_RANGE</a:t>
            </a:r>
            <a:r>
              <a:rPr lang="zh-CN" altLang="en-US" sz="2800" dirty="0"/>
              <a:t>的并行执行有助于分组工作项、映射到硬件资源，有助于性能调优</a:t>
            </a:r>
          </a:p>
        </p:txBody>
      </p:sp>
      <p:grpSp>
        <p:nvGrpSpPr>
          <p:cNvPr id="4" name="Group 12">
            <a:extLst>
              <a:ext uri="{FF2B5EF4-FFF2-40B4-BE49-F238E27FC236}">
                <a16:creationId xmlns:a16="http://schemas.microsoft.com/office/drawing/2014/main" id="{ED8FB43A-FF94-4FDA-9C07-0E172855930B}"/>
              </a:ext>
            </a:extLst>
          </p:cNvPr>
          <p:cNvGrpSpPr>
            <a:grpSpLocks noChangeAspect="1"/>
          </p:cNvGrpSpPr>
          <p:nvPr/>
        </p:nvGrpSpPr>
        <p:grpSpPr>
          <a:xfrm>
            <a:off x="317410" y="2780928"/>
            <a:ext cx="8509180" cy="3113251"/>
            <a:chOff x="571499" y="2164359"/>
            <a:chExt cx="11097587" cy="4060271"/>
          </a:xfrm>
        </p:grpSpPr>
        <p:sp>
          <p:nvSpPr>
            <p:cNvPr id="5" name="Rectangle 2">
              <a:extLst>
                <a:ext uri="{FF2B5EF4-FFF2-40B4-BE49-F238E27FC236}">
                  <a16:creationId xmlns:a16="http://schemas.microsoft.com/office/drawing/2014/main" id="{0E37D457-747F-4020-BFE3-55FA11AD08A0}"/>
                </a:ext>
              </a:extLst>
            </p:cNvPr>
            <p:cNvSpPr/>
            <p:nvPr/>
          </p:nvSpPr>
          <p:spPr>
            <a:xfrm>
              <a:off x="571499" y="2164359"/>
              <a:ext cx="11097587" cy="406027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object 4">
              <a:extLst>
                <a:ext uri="{FF2B5EF4-FFF2-40B4-BE49-F238E27FC236}">
                  <a16:creationId xmlns:a16="http://schemas.microsoft.com/office/drawing/2014/main" id="{C450713D-41C4-4640-B420-FB60EB4B94A5}"/>
                </a:ext>
              </a:extLst>
            </p:cNvPr>
            <p:cNvSpPr/>
            <p:nvPr/>
          </p:nvSpPr>
          <p:spPr>
            <a:xfrm>
              <a:off x="661884" y="3246234"/>
              <a:ext cx="881215" cy="2854021"/>
            </a:xfrm>
            <a:prstGeom prst="rect">
              <a:avLst/>
            </a:prstGeom>
            <a:blipFill>
              <a:blip r:embed="rId2" cstate="print"/>
              <a:stretch>
                <a:fillRect/>
              </a:stretch>
            </a:blipFill>
          </p:spPr>
          <p:txBody>
            <a:bodyPr wrap="square" lIns="0" tIns="0" rIns="0" bIns="0" rtlCol="0"/>
            <a:lstStyle/>
            <a:p>
              <a:endParaRPr/>
            </a:p>
          </p:txBody>
        </p:sp>
        <p:sp>
          <p:nvSpPr>
            <p:cNvPr id="7" name="object 5">
              <a:extLst>
                <a:ext uri="{FF2B5EF4-FFF2-40B4-BE49-F238E27FC236}">
                  <a16:creationId xmlns:a16="http://schemas.microsoft.com/office/drawing/2014/main" id="{9B062233-50E2-47A0-8042-2C095E730FD4}"/>
                </a:ext>
              </a:extLst>
            </p:cNvPr>
            <p:cNvSpPr/>
            <p:nvPr/>
          </p:nvSpPr>
          <p:spPr>
            <a:xfrm>
              <a:off x="1699110" y="3253062"/>
              <a:ext cx="1042957" cy="2871248"/>
            </a:xfrm>
            <a:prstGeom prst="rect">
              <a:avLst/>
            </a:prstGeom>
            <a:blipFill>
              <a:blip r:embed="rId3" cstate="print"/>
              <a:stretch>
                <a:fillRect/>
              </a:stretch>
            </a:blipFill>
          </p:spPr>
          <p:txBody>
            <a:bodyPr wrap="square" lIns="0" tIns="0" rIns="0" bIns="0" rtlCol="0"/>
            <a:lstStyle/>
            <a:p>
              <a:endParaRPr/>
            </a:p>
          </p:txBody>
        </p:sp>
        <p:sp>
          <p:nvSpPr>
            <p:cNvPr id="8" name="object 6">
              <a:extLst>
                <a:ext uri="{FF2B5EF4-FFF2-40B4-BE49-F238E27FC236}">
                  <a16:creationId xmlns:a16="http://schemas.microsoft.com/office/drawing/2014/main" id="{5616240B-8F0B-4D4E-A2FF-312C7B189C9E}"/>
                </a:ext>
              </a:extLst>
            </p:cNvPr>
            <p:cNvSpPr/>
            <p:nvPr/>
          </p:nvSpPr>
          <p:spPr>
            <a:xfrm>
              <a:off x="2946276" y="2253880"/>
              <a:ext cx="3630827" cy="3870430"/>
            </a:xfrm>
            <a:prstGeom prst="rect">
              <a:avLst/>
            </a:prstGeom>
            <a:blipFill>
              <a:blip r:embed="rId4" cstate="print"/>
              <a:stretch>
                <a:fillRect/>
              </a:stretch>
            </a:blipFill>
          </p:spPr>
          <p:txBody>
            <a:bodyPr wrap="square" lIns="0" tIns="0" rIns="0" bIns="0" rtlCol="0"/>
            <a:lstStyle/>
            <a:p>
              <a:endParaRPr dirty="0"/>
            </a:p>
          </p:txBody>
        </p:sp>
        <p:sp>
          <p:nvSpPr>
            <p:cNvPr id="9" name="object 7">
              <a:extLst>
                <a:ext uri="{FF2B5EF4-FFF2-40B4-BE49-F238E27FC236}">
                  <a16:creationId xmlns:a16="http://schemas.microsoft.com/office/drawing/2014/main" id="{C943275A-14E3-4CAD-AB17-1E393D19780D}"/>
                </a:ext>
              </a:extLst>
            </p:cNvPr>
            <p:cNvSpPr/>
            <p:nvPr/>
          </p:nvSpPr>
          <p:spPr>
            <a:xfrm>
              <a:off x="6666948" y="2213684"/>
              <a:ext cx="4857833" cy="3910626"/>
            </a:xfrm>
            <a:prstGeom prst="rect">
              <a:avLst/>
            </a:prstGeom>
            <a:blipFill>
              <a:blip r:embed="rId5"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146242153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B969C941-5BD7-4958-9605-40F4867983DF}"/>
              </a:ext>
            </a:extLst>
          </p:cNvPr>
          <p:cNvGrpSpPr/>
          <p:nvPr/>
        </p:nvGrpSpPr>
        <p:grpSpPr>
          <a:xfrm>
            <a:off x="5806782" y="1628800"/>
            <a:ext cx="3183622" cy="3288484"/>
            <a:chOff x="8011486" y="1732327"/>
            <a:chExt cx="3183622" cy="3288484"/>
          </a:xfrm>
        </p:grpSpPr>
        <p:sp>
          <p:nvSpPr>
            <p:cNvPr id="5" name="Rectangle 2">
              <a:extLst>
                <a:ext uri="{FF2B5EF4-FFF2-40B4-BE49-F238E27FC236}">
                  <a16:creationId xmlns:a16="http://schemas.microsoft.com/office/drawing/2014/main" id="{18A5957F-3CF2-48CD-BE38-3BA38F4894F8}"/>
                </a:ext>
              </a:extLst>
            </p:cNvPr>
            <p:cNvSpPr/>
            <p:nvPr/>
          </p:nvSpPr>
          <p:spPr>
            <a:xfrm>
              <a:off x="8011486" y="1732327"/>
              <a:ext cx="3183622" cy="3288484"/>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object 6">
              <a:extLst>
                <a:ext uri="{FF2B5EF4-FFF2-40B4-BE49-F238E27FC236}">
                  <a16:creationId xmlns:a16="http://schemas.microsoft.com/office/drawing/2014/main" id="{F658957C-A505-4351-9775-B89BCA5CC2AC}"/>
                </a:ext>
              </a:extLst>
            </p:cNvPr>
            <p:cNvSpPr/>
            <p:nvPr/>
          </p:nvSpPr>
          <p:spPr>
            <a:xfrm>
              <a:off x="8121817" y="1832342"/>
              <a:ext cx="2934558" cy="3070121"/>
            </a:xfrm>
            <a:prstGeom prst="rect">
              <a:avLst/>
            </a:prstGeom>
            <a:blipFill>
              <a:blip r:embed="rId2" cstate="print"/>
              <a:stretch>
                <a:fillRect/>
              </a:stretch>
            </a:blipFill>
          </p:spPr>
          <p:txBody>
            <a:bodyPr wrap="square" lIns="0" tIns="0" rIns="0" bIns="0" rtlCol="0"/>
            <a:lstStyle/>
            <a:p>
              <a:endParaRPr dirty="0"/>
            </a:p>
          </p:txBody>
        </p:sp>
      </p:grpSp>
      <p:sp>
        <p:nvSpPr>
          <p:cNvPr id="2" name="标题 1">
            <a:extLst>
              <a:ext uri="{FF2B5EF4-FFF2-40B4-BE49-F238E27FC236}">
                <a16:creationId xmlns:a16="http://schemas.microsoft.com/office/drawing/2014/main" id="{A8D07FCF-D932-4456-A889-7EA7F7BA389A}"/>
              </a:ext>
            </a:extLst>
          </p:cNvPr>
          <p:cNvSpPr>
            <a:spLocks noGrp="1"/>
          </p:cNvSpPr>
          <p:nvPr>
            <p:ph type="title"/>
          </p:nvPr>
        </p:nvSpPr>
        <p:spPr/>
        <p:txBody>
          <a:bodyPr/>
          <a:lstStyle/>
          <a:p>
            <a:r>
              <a:rPr lang="zh-CN" altLang="en-US" dirty="0"/>
              <a:t>小组</a:t>
            </a:r>
          </a:p>
        </p:txBody>
      </p:sp>
      <p:sp>
        <p:nvSpPr>
          <p:cNvPr id="3" name="内容占位符 2">
            <a:extLst>
              <a:ext uri="{FF2B5EF4-FFF2-40B4-BE49-F238E27FC236}">
                <a16:creationId xmlns:a16="http://schemas.microsoft.com/office/drawing/2014/main" id="{455E9146-B725-4C95-A8F6-9728098A53E1}"/>
              </a:ext>
            </a:extLst>
          </p:cNvPr>
          <p:cNvSpPr>
            <a:spLocks noGrp="1"/>
          </p:cNvSpPr>
          <p:nvPr>
            <p:ph idx="1"/>
          </p:nvPr>
        </p:nvSpPr>
        <p:spPr/>
        <p:txBody>
          <a:bodyPr/>
          <a:lstStyle/>
          <a:p>
            <a:r>
              <a:rPr lang="zh-CN" altLang="en-US" sz="2800" dirty="0"/>
              <a:t>一个工作组中的工作项子集</a:t>
            </a:r>
            <a:br>
              <a:rPr lang="en-US" altLang="zh-CN" sz="2800" dirty="0"/>
            </a:br>
            <a:r>
              <a:rPr lang="zh-CN" altLang="en-US" sz="2800" dirty="0"/>
              <a:t>可以</a:t>
            </a:r>
            <a:r>
              <a:rPr lang="zh-CN" altLang="en-US" sz="2800" dirty="0">
                <a:latin typeface="黑体" panose="02010609060101010101" pitchFamily="49" charset="-122"/>
                <a:ea typeface="黑体" panose="02010609060101010101" pitchFamily="49" charset="-122"/>
              </a:rPr>
              <a:t>映射到向量硬件</a:t>
            </a:r>
            <a:endParaRPr lang="en-US" altLang="zh-CN" sz="2800" dirty="0">
              <a:latin typeface="黑体" panose="02010609060101010101" pitchFamily="49" charset="-122"/>
              <a:ea typeface="黑体" panose="02010609060101010101" pitchFamily="49" charset="-122"/>
            </a:endParaRPr>
          </a:p>
          <a:p>
            <a:r>
              <a:rPr lang="zh-CN" altLang="en-US" sz="2800" dirty="0"/>
              <a:t>为什么使用小组？</a:t>
            </a:r>
            <a:endParaRPr lang="en-US" altLang="zh-CN" sz="2800" dirty="0"/>
          </a:p>
          <a:p>
            <a:pPr lvl="1"/>
            <a:r>
              <a:rPr lang="zh-CN" altLang="en-US" sz="2400" dirty="0"/>
              <a:t>小组中的工作项可以使用</a:t>
            </a:r>
            <a:br>
              <a:rPr lang="en-US" altLang="zh-CN" sz="2400" dirty="0"/>
            </a:br>
            <a:r>
              <a:rPr lang="en-US" altLang="zh-CN" sz="2400" b="1" dirty="0"/>
              <a:t>shuffle</a:t>
            </a:r>
            <a:r>
              <a:rPr lang="zh-CN" altLang="en-US" sz="2400" dirty="0">
                <a:latin typeface="黑体" panose="02010609060101010101" pitchFamily="49" charset="-122"/>
                <a:ea typeface="黑体" panose="02010609060101010101" pitchFamily="49" charset="-122"/>
              </a:rPr>
              <a:t>指令</a:t>
            </a:r>
            <a:r>
              <a:rPr lang="zh-CN" altLang="en-US" sz="2400" dirty="0"/>
              <a:t>直接进行通信，</a:t>
            </a:r>
            <a:br>
              <a:rPr lang="en-US" altLang="zh-CN" sz="2400" dirty="0"/>
            </a:br>
            <a:r>
              <a:rPr lang="zh-CN" altLang="en-US" sz="2400" dirty="0"/>
              <a:t>而无需反复访问局部或</a:t>
            </a:r>
            <a:br>
              <a:rPr lang="en-US" altLang="zh-CN" sz="2400" dirty="0"/>
            </a:br>
            <a:r>
              <a:rPr lang="zh-CN" altLang="en-US" sz="2400" dirty="0"/>
              <a:t>全局内存，因而性能更好</a:t>
            </a:r>
            <a:endParaRPr lang="en-US" altLang="zh-CN" sz="2400" dirty="0"/>
          </a:p>
          <a:p>
            <a:pPr lvl="1"/>
            <a:r>
              <a:rPr lang="zh-CN" altLang="en-US" sz="2400" dirty="0"/>
              <a:t>小组中的工作项可以使用</a:t>
            </a:r>
            <a:br>
              <a:rPr lang="en-US" altLang="zh-CN" sz="2400" dirty="0"/>
            </a:br>
            <a:r>
              <a:rPr lang="zh-CN" altLang="en-US" sz="2400" dirty="0">
                <a:latin typeface="黑体" panose="02010609060101010101" pitchFamily="49" charset="-122"/>
                <a:ea typeface="黑体" panose="02010609060101010101" pitchFamily="49" charset="-122"/>
              </a:rPr>
              <a:t>小组组通信</a:t>
            </a:r>
            <a:r>
              <a:rPr lang="zh-CN" altLang="en-US" sz="2400" dirty="0"/>
              <a:t>，组通信实现</a:t>
            </a:r>
            <a:br>
              <a:rPr lang="en-US" altLang="zh-CN" sz="2400" dirty="0"/>
            </a:br>
            <a:r>
              <a:rPr lang="zh-CN" altLang="en-US" sz="2400" dirty="0"/>
              <a:t>了常见的并行模式</a:t>
            </a:r>
            <a:endParaRPr lang="zh-CN" altLang="en-US" sz="2800" dirty="0"/>
          </a:p>
        </p:txBody>
      </p:sp>
    </p:spTree>
    <p:extLst>
      <p:ext uri="{BB962C8B-B14F-4D97-AF65-F5344CB8AC3E}">
        <p14:creationId xmlns:p14="http://schemas.microsoft.com/office/powerpoint/2010/main" val="14068906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3AB45-28AA-44B3-8399-BC97F89F732B}"/>
              </a:ext>
            </a:extLst>
          </p:cNvPr>
          <p:cNvSpPr>
            <a:spLocks noGrp="1"/>
          </p:cNvSpPr>
          <p:nvPr>
            <p:ph type="title"/>
          </p:nvPr>
        </p:nvSpPr>
        <p:spPr/>
        <p:txBody>
          <a:bodyPr/>
          <a:lstStyle/>
          <a:p>
            <a:r>
              <a:rPr lang="zh-CN" altLang="en-US" dirty="0"/>
              <a:t>小组</a:t>
            </a:r>
          </a:p>
        </p:txBody>
      </p:sp>
      <p:sp>
        <p:nvSpPr>
          <p:cNvPr id="3" name="内容占位符 2">
            <a:extLst>
              <a:ext uri="{FF2B5EF4-FFF2-40B4-BE49-F238E27FC236}">
                <a16:creationId xmlns:a16="http://schemas.microsoft.com/office/drawing/2014/main" id="{05D5C5F9-F9E7-4CB9-83B3-D2275AD276E6}"/>
              </a:ext>
            </a:extLst>
          </p:cNvPr>
          <p:cNvSpPr>
            <a:spLocks noGrp="1"/>
          </p:cNvSpPr>
          <p:nvPr>
            <p:ph idx="1"/>
          </p:nvPr>
        </p:nvSpPr>
        <p:spPr>
          <a:xfrm>
            <a:off x="323528" y="1371600"/>
            <a:ext cx="8631560" cy="4724400"/>
          </a:xfrm>
        </p:spPr>
        <p:txBody>
          <a:bodyPr/>
          <a:lstStyle/>
          <a:p>
            <a:r>
              <a:rPr lang="en-US" altLang="zh-CN" sz="2400" b="1" dirty="0" err="1"/>
              <a:t>sub_group</a:t>
            </a:r>
            <a:r>
              <a:rPr lang="zh-CN" altLang="en-US" sz="2400" dirty="0">
                <a:latin typeface="黑体" panose="02010609060101010101" pitchFamily="49" charset="-122"/>
                <a:ea typeface="黑体" panose="02010609060101010101" pitchFamily="49" charset="-122"/>
              </a:rPr>
              <a:t>类</a:t>
            </a:r>
            <a:endParaRPr lang="en-US" altLang="zh-CN" sz="2400" dirty="0">
              <a:latin typeface="黑体" panose="02010609060101010101" pitchFamily="49" charset="-122"/>
              <a:ea typeface="黑体" panose="02010609060101010101" pitchFamily="49" charset="-122"/>
            </a:endParaRPr>
          </a:p>
          <a:p>
            <a:r>
              <a:rPr lang="zh-CN" altLang="en-US" sz="2400" dirty="0"/>
              <a:t>可以使用</a:t>
            </a:r>
            <a:br>
              <a:rPr lang="en-US" altLang="zh-CN" sz="2400" dirty="0"/>
            </a:br>
            <a:r>
              <a:rPr lang="en-US" altLang="zh-CN" sz="2400" b="1" dirty="0" err="1"/>
              <a:t>get_sub_group</a:t>
            </a:r>
            <a:r>
              <a:rPr lang="en-US" altLang="zh-CN" sz="2400" b="1" dirty="0"/>
              <a:t>()</a:t>
            </a:r>
            <a:r>
              <a:rPr lang="zh-CN" altLang="en-US" sz="2400" dirty="0"/>
              <a:t>从</a:t>
            </a:r>
            <a:br>
              <a:rPr lang="en-US" altLang="zh-CN" sz="2400" dirty="0"/>
            </a:br>
            <a:r>
              <a:rPr lang="en-US" altLang="zh-CN" sz="2400" dirty="0" err="1"/>
              <a:t>nd_item</a:t>
            </a:r>
            <a:r>
              <a:rPr lang="zh-CN" altLang="en-US" sz="2400" dirty="0"/>
              <a:t>得到小组的</a:t>
            </a:r>
            <a:br>
              <a:rPr lang="en-US" altLang="zh-CN" sz="2400" dirty="0"/>
            </a:br>
            <a:r>
              <a:rPr lang="zh-CN" altLang="en-US" sz="2400" dirty="0"/>
              <a:t>句柄</a:t>
            </a:r>
            <a:endParaRPr lang="en-US" altLang="zh-CN" sz="2400" dirty="0"/>
          </a:p>
          <a:p>
            <a:endParaRPr lang="en-US" altLang="zh-CN" sz="2400" dirty="0"/>
          </a:p>
          <a:p>
            <a:r>
              <a:rPr lang="zh-CN" altLang="en-US" sz="2400" dirty="0"/>
              <a:t>可以使用小组句柄</a:t>
            </a:r>
            <a:br>
              <a:rPr lang="en-US" altLang="zh-CN" sz="2400" dirty="0"/>
            </a:br>
            <a:r>
              <a:rPr lang="zh-CN" altLang="en-US" sz="2400" dirty="0">
                <a:latin typeface="黑体" panose="02010609060101010101" pitchFamily="49" charset="-122"/>
                <a:ea typeface="黑体" panose="02010609060101010101" pitchFamily="49" charset="-122"/>
              </a:rPr>
              <a:t>查询</a:t>
            </a:r>
            <a:r>
              <a:rPr lang="zh-CN" altLang="en-US" sz="2400" dirty="0"/>
              <a:t>更多关于小组的</a:t>
            </a:r>
            <a:br>
              <a:rPr lang="en-US" altLang="zh-CN" sz="2400" dirty="0"/>
            </a:br>
            <a:r>
              <a:rPr lang="zh-CN" altLang="en-US" sz="2400" dirty="0"/>
              <a:t>信息、执行</a:t>
            </a:r>
            <a:r>
              <a:rPr lang="en-US" altLang="zh-CN" sz="2400" b="1" dirty="0"/>
              <a:t>shuffle</a:t>
            </a:r>
            <a:br>
              <a:rPr lang="en-US" altLang="zh-CN" sz="2400" dirty="0"/>
            </a:br>
            <a:r>
              <a:rPr lang="zh-CN" altLang="en-US" sz="2400" dirty="0"/>
              <a:t>操作或使用</a:t>
            </a:r>
            <a:r>
              <a:rPr lang="zh-CN" altLang="en-US" sz="2400" dirty="0">
                <a:latin typeface="黑体" panose="02010609060101010101" pitchFamily="49" charset="-122"/>
                <a:ea typeface="黑体" panose="02010609060101010101" pitchFamily="49" charset="-122"/>
              </a:rPr>
              <a:t>组通信</a:t>
            </a:r>
            <a:br>
              <a:rPr lang="en-US" altLang="zh-CN" sz="2400" dirty="0"/>
            </a:br>
            <a:r>
              <a:rPr lang="zh-CN" altLang="en-US" sz="2400" dirty="0"/>
              <a:t>函数</a:t>
            </a:r>
          </a:p>
        </p:txBody>
      </p:sp>
      <p:grpSp>
        <p:nvGrpSpPr>
          <p:cNvPr id="8" name="Group 3">
            <a:extLst>
              <a:ext uri="{FF2B5EF4-FFF2-40B4-BE49-F238E27FC236}">
                <a16:creationId xmlns:a16="http://schemas.microsoft.com/office/drawing/2014/main" id="{F0DB433D-922A-4B2A-B560-9DC93B7057C2}"/>
              </a:ext>
            </a:extLst>
          </p:cNvPr>
          <p:cNvGrpSpPr/>
          <p:nvPr/>
        </p:nvGrpSpPr>
        <p:grpSpPr>
          <a:xfrm>
            <a:off x="3491880" y="1383738"/>
            <a:ext cx="5579218" cy="3762081"/>
            <a:chOff x="5242989" y="505096"/>
            <a:chExt cx="5621214" cy="6763208"/>
          </a:xfrm>
        </p:grpSpPr>
        <p:sp>
          <p:nvSpPr>
            <p:cNvPr id="9" name="Rectangle: Single Corner Snipped 4">
              <a:extLst>
                <a:ext uri="{FF2B5EF4-FFF2-40B4-BE49-F238E27FC236}">
                  <a16:creationId xmlns:a16="http://schemas.microsoft.com/office/drawing/2014/main" id="{3631DE68-087C-4428-BC26-227462E720DA}"/>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0" name="TextBox 6">
              <a:extLst>
                <a:ext uri="{FF2B5EF4-FFF2-40B4-BE49-F238E27FC236}">
                  <a16:creationId xmlns:a16="http://schemas.microsoft.com/office/drawing/2014/main" id="{F1999C05-A610-4A50-8E37-2549EC29459C}"/>
                </a:ext>
              </a:extLst>
            </p:cNvPr>
            <p:cNvSpPr txBox="1"/>
            <p:nvPr/>
          </p:nvSpPr>
          <p:spPr>
            <a:xfrm>
              <a:off x="5390906" y="611430"/>
              <a:ext cx="5473297" cy="458546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q</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nd_range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&gt;(N,B),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nd_item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auto </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sg =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get_sub_group</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it-IT"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KERNEL CODE</a:t>
              </a: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grpSp>
      <p:sp>
        <p:nvSpPr>
          <p:cNvPr id="11" name="Rectangle: Rounded Corners 7">
            <a:extLst>
              <a:ext uri="{FF2B5EF4-FFF2-40B4-BE49-F238E27FC236}">
                <a16:creationId xmlns:a16="http://schemas.microsoft.com/office/drawing/2014/main" id="{A88D697C-E668-46E5-8FF3-64AD3021A1D4}"/>
              </a:ext>
            </a:extLst>
          </p:cNvPr>
          <p:cNvSpPr/>
          <p:nvPr/>
        </p:nvSpPr>
        <p:spPr>
          <a:xfrm>
            <a:off x="5436096" y="2721058"/>
            <a:ext cx="2362971" cy="38376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138038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3AB45-28AA-44B3-8399-BC97F89F732B}"/>
              </a:ext>
            </a:extLst>
          </p:cNvPr>
          <p:cNvSpPr>
            <a:spLocks noGrp="1"/>
          </p:cNvSpPr>
          <p:nvPr>
            <p:ph type="title"/>
          </p:nvPr>
        </p:nvSpPr>
        <p:spPr/>
        <p:txBody>
          <a:bodyPr/>
          <a:lstStyle/>
          <a:p>
            <a:r>
              <a:rPr lang="zh-CN" altLang="en-US" dirty="0"/>
              <a:t>指定小组大小</a:t>
            </a:r>
          </a:p>
        </p:txBody>
      </p:sp>
      <p:sp>
        <p:nvSpPr>
          <p:cNvPr id="3" name="内容占位符 2">
            <a:extLst>
              <a:ext uri="{FF2B5EF4-FFF2-40B4-BE49-F238E27FC236}">
                <a16:creationId xmlns:a16="http://schemas.microsoft.com/office/drawing/2014/main" id="{05D5C5F9-F9E7-4CB9-83B3-D2275AD276E6}"/>
              </a:ext>
            </a:extLst>
          </p:cNvPr>
          <p:cNvSpPr>
            <a:spLocks noGrp="1"/>
          </p:cNvSpPr>
          <p:nvPr>
            <p:ph idx="1"/>
          </p:nvPr>
        </p:nvSpPr>
        <p:spPr>
          <a:xfrm>
            <a:off x="323528" y="1371600"/>
            <a:ext cx="8631560" cy="4724400"/>
          </a:xfrm>
        </p:spPr>
        <p:txBody>
          <a:bodyPr/>
          <a:lstStyle/>
          <a:p>
            <a:r>
              <a:rPr lang="zh-CN" altLang="en-US" sz="2400" dirty="0"/>
              <a:t>每个</a:t>
            </a:r>
            <a:r>
              <a:rPr lang="en-US" altLang="zh-CN" sz="2400" dirty="0"/>
              <a:t>kernel</a:t>
            </a:r>
            <a:r>
              <a:rPr lang="zh-CN" altLang="en-US" sz="2400" dirty="0"/>
              <a:t>可以</a:t>
            </a:r>
            <a:r>
              <a:rPr lang="zh-CN" altLang="en-US" sz="2400" dirty="0">
                <a:latin typeface="黑体" panose="02010609060101010101" pitchFamily="49" charset="-122"/>
                <a:ea typeface="黑体" panose="02010609060101010101" pitchFamily="49" charset="-122"/>
              </a:rPr>
              <a:t>单独</a:t>
            </a:r>
            <a:br>
              <a:rPr lang="en-US" altLang="zh-CN" sz="2400" dirty="0">
                <a:latin typeface="黑体" panose="02010609060101010101" pitchFamily="49" charset="-122"/>
                <a:ea typeface="黑体" panose="02010609060101010101" pitchFamily="49" charset="-122"/>
              </a:rPr>
            </a:br>
            <a:r>
              <a:rPr lang="zh-CN" altLang="en-US" sz="2400" dirty="0">
                <a:latin typeface="黑体" panose="02010609060101010101" pitchFamily="49" charset="-122"/>
                <a:ea typeface="黑体" panose="02010609060101010101" pitchFamily="49" charset="-122"/>
              </a:rPr>
              <a:t>配置</a:t>
            </a:r>
            <a:r>
              <a:rPr lang="zh-CN" altLang="en-US" sz="2400" dirty="0"/>
              <a:t>小组大小</a:t>
            </a:r>
            <a:br>
              <a:rPr lang="en-US" altLang="zh-CN" sz="2400" dirty="0"/>
            </a:br>
            <a:r>
              <a:rPr lang="zh-CN" altLang="en-US" sz="2400" dirty="0"/>
              <a:t>可用小组大小是由</a:t>
            </a:r>
            <a:br>
              <a:rPr lang="en-US" altLang="zh-CN" sz="2400" dirty="0"/>
            </a:br>
            <a:r>
              <a:rPr lang="zh-CN" altLang="en-US" sz="2400" dirty="0">
                <a:latin typeface="黑体" panose="02010609060101010101" pitchFamily="49" charset="-122"/>
                <a:ea typeface="黑体" panose="02010609060101010101" pitchFamily="49" charset="-122"/>
              </a:rPr>
              <a:t>硬件决定</a:t>
            </a:r>
            <a:r>
              <a:rPr lang="zh-CN" altLang="en-US" sz="2400" dirty="0"/>
              <a:t>的</a:t>
            </a:r>
            <a:br>
              <a:rPr lang="en-US" altLang="zh-CN" sz="2400" dirty="0"/>
            </a:br>
            <a:endParaRPr lang="en-US" altLang="zh-CN" sz="2400" dirty="0"/>
          </a:p>
          <a:p>
            <a:r>
              <a:rPr lang="zh-CN" altLang="en-US" sz="2400" dirty="0"/>
              <a:t>甚至对未使用</a:t>
            </a:r>
            <a:br>
              <a:rPr lang="en-US" altLang="zh-CN" sz="2400" dirty="0"/>
            </a:br>
            <a:r>
              <a:rPr lang="en-US" altLang="zh-CN" sz="2400" b="1" dirty="0" err="1"/>
              <a:t>sub_group</a:t>
            </a:r>
            <a:r>
              <a:rPr lang="zh-CN" altLang="en-US" sz="2400" dirty="0">
                <a:latin typeface="黑体" panose="02010609060101010101" pitchFamily="49" charset="-122"/>
                <a:ea typeface="黑体" panose="02010609060101010101" pitchFamily="49" charset="-122"/>
              </a:rPr>
              <a:t>类</a:t>
            </a:r>
            <a:r>
              <a:rPr lang="zh-CN" altLang="en-US" sz="2400" dirty="0"/>
              <a:t>的</a:t>
            </a:r>
            <a:br>
              <a:rPr lang="en-US" altLang="zh-CN" sz="2400" dirty="0"/>
            </a:br>
            <a:r>
              <a:rPr lang="en-US" altLang="zh-CN" sz="2400" dirty="0"/>
              <a:t>kernel</a:t>
            </a:r>
            <a:r>
              <a:rPr lang="zh-CN" altLang="en-US" sz="2400" dirty="0"/>
              <a:t>，也可以调整</a:t>
            </a:r>
            <a:br>
              <a:rPr lang="en-US" altLang="zh-CN" sz="2400" dirty="0"/>
            </a:br>
            <a:r>
              <a:rPr lang="zh-CN" altLang="en-US" sz="2400" dirty="0"/>
              <a:t>小组大小（例如用于</a:t>
            </a:r>
            <a:br>
              <a:rPr lang="en-US" altLang="zh-CN" sz="2400" dirty="0"/>
            </a:br>
            <a:r>
              <a:rPr lang="en-US" altLang="zh-CN" sz="2400" dirty="0"/>
              <a:t>SIMD</a:t>
            </a:r>
            <a:r>
              <a:rPr lang="zh-CN" altLang="en-US" sz="2400" dirty="0"/>
              <a:t>宽度和寄存器</a:t>
            </a:r>
            <a:br>
              <a:rPr lang="en-US" altLang="zh-CN" sz="2400" dirty="0"/>
            </a:br>
            <a:r>
              <a:rPr lang="zh-CN" altLang="en-US" sz="2400" dirty="0"/>
              <a:t>使用）</a:t>
            </a:r>
          </a:p>
        </p:txBody>
      </p:sp>
      <p:grpSp>
        <p:nvGrpSpPr>
          <p:cNvPr id="8" name="Group 3">
            <a:extLst>
              <a:ext uri="{FF2B5EF4-FFF2-40B4-BE49-F238E27FC236}">
                <a16:creationId xmlns:a16="http://schemas.microsoft.com/office/drawing/2014/main" id="{F0DB433D-922A-4B2A-B560-9DC93B7057C2}"/>
              </a:ext>
            </a:extLst>
          </p:cNvPr>
          <p:cNvGrpSpPr/>
          <p:nvPr/>
        </p:nvGrpSpPr>
        <p:grpSpPr>
          <a:xfrm>
            <a:off x="3491880" y="1383738"/>
            <a:ext cx="5579218" cy="3762081"/>
            <a:chOff x="5242989" y="505096"/>
            <a:chExt cx="5621214" cy="6763208"/>
          </a:xfrm>
        </p:grpSpPr>
        <p:sp>
          <p:nvSpPr>
            <p:cNvPr id="9" name="Rectangle: Single Corner Snipped 4">
              <a:extLst>
                <a:ext uri="{FF2B5EF4-FFF2-40B4-BE49-F238E27FC236}">
                  <a16:creationId xmlns:a16="http://schemas.microsoft.com/office/drawing/2014/main" id="{3631DE68-087C-4428-BC26-227462E720DA}"/>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4000" b="1" i="0" u="none" strike="noStrike" kern="0" cap="none" spc="0" normalizeH="0" baseline="0" noProof="0" dirty="0">
                <a:ln>
                  <a:noFill/>
                </a:ln>
                <a:solidFill>
                  <a:srgbClr val="000000"/>
                </a:solidFill>
                <a:effectLst/>
                <a:uLnTx/>
                <a:uFillTx/>
                <a:latin typeface="Intel Clear"/>
                <a:sym typeface="Helvetica Neue"/>
              </a:endParaRPr>
            </a:p>
          </p:txBody>
        </p:sp>
        <p:sp>
          <p:nvSpPr>
            <p:cNvPr id="10" name="TextBox 6">
              <a:extLst>
                <a:ext uri="{FF2B5EF4-FFF2-40B4-BE49-F238E27FC236}">
                  <a16:creationId xmlns:a16="http://schemas.microsoft.com/office/drawing/2014/main" id="{F1999C05-A610-4A50-8E37-2549EC29459C}"/>
                </a:ext>
              </a:extLst>
            </p:cNvPr>
            <p:cNvSpPr txBox="1"/>
            <p:nvPr/>
          </p:nvSpPr>
          <p:spPr>
            <a:xfrm>
              <a:off x="5390906" y="611430"/>
              <a:ext cx="5473297" cy="3423539"/>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endParaRPr>
            </a:p>
            <a:p>
              <a:pPr marL="0" marR="0" lvl="0" indent="0" algn="l" defTabSz="609600" eaLnBrk="1" fontAlgn="auto" latinLnBrk="0" hangingPunct="1">
                <a:lnSpc>
                  <a:spcPct val="150000"/>
                </a:lnSpc>
                <a:spcBef>
                  <a:spcPts val="0"/>
                </a:spcBef>
                <a:spcAft>
                  <a:spcPts val="0"/>
                </a:spcAft>
                <a:buClrTx/>
                <a:buSzTx/>
                <a:buFont typeface="Wingdings" pitchFamily="2" charset="2"/>
                <a:buNone/>
                <a:tabLst/>
                <a:defRPr/>
              </a:pP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a:rPr>
                <a:t>q</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a:rPr>
                <a:t>parallel_for</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a:rPr>
                <a:t>range</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&lt;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a:rPr>
                <a:t>1</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&gt;(N),</a:t>
              </a:r>
              <a:b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b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a:rPr>
                <a:t>id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&lt;</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a:rPr>
                <a:t>1</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&gt; </a:t>
              </a:r>
              <a:r>
                <a:rPr kumimoji="0" lang="en-US" altLang="zh-CN" sz="1400" b="0" i="0" u="none" strike="noStrike" kern="0" cap="none" spc="0" normalizeH="0" baseline="0" noProof="0" dirty="0">
                  <a:ln>
                    <a:noFill/>
                  </a:ln>
                  <a:solidFill>
                    <a:srgbClr val="001080"/>
                  </a:solidFill>
                  <a:effectLst/>
                  <a:uLnTx/>
                  <a:uFillTx/>
                  <a:latin typeface="Consolas" panose="020B0609020204030204" pitchFamily="49" charset="0"/>
                  <a:sym typeface="Helvetica"/>
                </a:rPr>
                <a:t>id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 [[intel::</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a:rPr>
                <a:t>reqd_sub_group_size</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(16)]] {</a:t>
              </a:r>
              <a:b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b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  </a:t>
              </a:r>
              <a:r>
                <a:rPr kumimoji="0" lang="it-IT"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a:rPr>
                <a:t>// KERNEL CODE</a:t>
              </a:r>
              <a:br>
                <a:rPr kumimoji="0" lang="it-IT" altLang="zh-CN" sz="1400" b="0" i="0" u="none" strike="noStrike" kern="0" cap="none" spc="0" normalizeH="0" baseline="0" noProof="0" dirty="0">
                  <a:ln>
                    <a:noFill/>
                  </a:ln>
                  <a:solidFill>
                    <a:srgbClr val="008000"/>
                  </a:solidFill>
                  <a:effectLst/>
                  <a:uLnTx/>
                  <a:uFillTx/>
                  <a:latin typeface="Consolas" panose="020B0609020204030204" pitchFamily="49" charset="0"/>
                  <a:sym typeface="Helvetica"/>
                </a:rPr>
              </a:b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a:rPr>
                <a:t>});</a:t>
              </a:r>
            </a:p>
          </p:txBody>
        </p:sp>
      </p:grpSp>
      <p:sp>
        <p:nvSpPr>
          <p:cNvPr id="11" name="Rectangle: Rounded Corners 7">
            <a:extLst>
              <a:ext uri="{FF2B5EF4-FFF2-40B4-BE49-F238E27FC236}">
                <a16:creationId xmlns:a16="http://schemas.microsoft.com/office/drawing/2014/main" id="{A88D697C-E668-46E5-8FF3-64AD3021A1D4}"/>
              </a:ext>
            </a:extLst>
          </p:cNvPr>
          <p:cNvSpPr/>
          <p:nvPr/>
        </p:nvSpPr>
        <p:spPr>
          <a:xfrm>
            <a:off x="5292080" y="2395070"/>
            <a:ext cx="3384376" cy="38376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376200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ED9D84-8759-4ACC-B3AF-1B749324A21C}"/>
              </a:ext>
            </a:extLst>
          </p:cNvPr>
          <p:cNvSpPr>
            <a:spLocks noGrp="1"/>
          </p:cNvSpPr>
          <p:nvPr>
            <p:ph type="title"/>
          </p:nvPr>
        </p:nvSpPr>
        <p:spPr/>
        <p:txBody>
          <a:bodyPr/>
          <a:lstStyle/>
          <a:p>
            <a:r>
              <a:rPr lang="zh-CN" altLang="en-US" dirty="0"/>
              <a:t>小组</a:t>
            </a:r>
          </a:p>
        </p:txBody>
      </p:sp>
      <p:sp>
        <p:nvSpPr>
          <p:cNvPr id="3" name="内容占位符 2">
            <a:extLst>
              <a:ext uri="{FF2B5EF4-FFF2-40B4-BE49-F238E27FC236}">
                <a16:creationId xmlns:a16="http://schemas.microsoft.com/office/drawing/2014/main" id="{3FCF8644-5BC5-48C2-97FB-99AA299F846F}"/>
              </a:ext>
            </a:extLst>
          </p:cNvPr>
          <p:cNvSpPr>
            <a:spLocks noGrp="1"/>
          </p:cNvSpPr>
          <p:nvPr>
            <p:ph idx="1"/>
          </p:nvPr>
        </p:nvSpPr>
        <p:spPr>
          <a:xfrm>
            <a:off x="539552" y="1371600"/>
            <a:ext cx="8415536" cy="4724400"/>
          </a:xfrm>
        </p:spPr>
        <p:txBody>
          <a:bodyPr/>
          <a:lstStyle/>
          <a:p>
            <a:r>
              <a:rPr lang="zh-CN" altLang="en-US" sz="2400" dirty="0"/>
              <a:t>小组</a:t>
            </a:r>
            <a:r>
              <a:rPr lang="en-US" altLang="zh-CN" sz="2400" dirty="0" err="1"/>
              <a:t>shffule</a:t>
            </a:r>
            <a:endParaRPr lang="en-US" altLang="zh-CN" sz="2400" dirty="0"/>
          </a:p>
          <a:p>
            <a:pPr lvl="1"/>
            <a:r>
              <a:rPr lang="zh-CN" altLang="en-US" sz="2000" dirty="0"/>
              <a:t>小组最有用的一种</a:t>
            </a:r>
            <a:br>
              <a:rPr lang="en-US" altLang="zh-CN" sz="2000" dirty="0"/>
            </a:br>
            <a:r>
              <a:rPr lang="zh-CN" altLang="en-US" sz="2000" dirty="0"/>
              <a:t>特性，工作项之间</a:t>
            </a:r>
            <a:br>
              <a:rPr lang="en-US" altLang="zh-CN" sz="2000" dirty="0"/>
            </a:br>
            <a:r>
              <a:rPr lang="zh-CN" altLang="en-US" sz="2000" dirty="0"/>
              <a:t>直接通信，</a:t>
            </a:r>
            <a:r>
              <a:rPr lang="zh-CN" altLang="en-US" sz="2000" dirty="0">
                <a:latin typeface="黑体" panose="02010609060101010101" pitchFamily="49" charset="-122"/>
                <a:ea typeface="黑体" panose="02010609060101010101" pitchFamily="49" charset="-122"/>
              </a:rPr>
              <a:t>无需</a:t>
            </a:r>
            <a:br>
              <a:rPr lang="en-US" altLang="zh-CN" sz="2000" dirty="0">
                <a:latin typeface="黑体" panose="02010609060101010101" pitchFamily="49" charset="-122"/>
                <a:ea typeface="黑体" panose="02010609060101010101" pitchFamily="49" charset="-122"/>
              </a:rPr>
            </a:br>
            <a:r>
              <a:rPr lang="zh-CN" altLang="en-US" sz="2000" dirty="0">
                <a:latin typeface="黑体" panose="02010609060101010101" pitchFamily="49" charset="-122"/>
                <a:ea typeface="黑体" panose="02010609060101010101" pitchFamily="49" charset="-122"/>
              </a:rPr>
              <a:t>显示内存操作</a:t>
            </a:r>
            <a:endParaRPr lang="en-US" altLang="zh-CN" sz="2000" dirty="0">
              <a:latin typeface="黑体" panose="02010609060101010101" pitchFamily="49" charset="-122"/>
              <a:ea typeface="黑体" panose="02010609060101010101" pitchFamily="49" charset="-122"/>
            </a:endParaRPr>
          </a:p>
          <a:p>
            <a:pPr lvl="1"/>
            <a:r>
              <a:rPr lang="zh-CN" altLang="en-US" sz="2000" dirty="0"/>
              <a:t>允许我们消除工作组</a:t>
            </a:r>
            <a:br>
              <a:rPr lang="en-US" altLang="zh-CN" sz="2000" dirty="0"/>
            </a:br>
            <a:r>
              <a:rPr lang="zh-CN" altLang="en-US" sz="2000" dirty="0">
                <a:latin typeface="黑体" panose="02010609060101010101" pitchFamily="49" charset="-122"/>
                <a:ea typeface="黑体" panose="02010609060101010101" pitchFamily="49" charset="-122"/>
              </a:rPr>
              <a:t>对局部内存的占用</a:t>
            </a:r>
            <a:r>
              <a:rPr lang="zh-CN" altLang="en-US" sz="2000" dirty="0"/>
              <a:t>，</a:t>
            </a:r>
            <a:br>
              <a:rPr lang="en-US" altLang="zh-CN" sz="2000" dirty="0"/>
            </a:br>
            <a:r>
              <a:rPr lang="zh-CN" altLang="en-US" sz="2000" dirty="0"/>
              <a:t>以及避免不必要的</a:t>
            </a:r>
            <a:br>
              <a:rPr lang="en-US" altLang="zh-CN" sz="2000" dirty="0"/>
            </a:br>
            <a:r>
              <a:rPr lang="zh-CN" altLang="en-US" sz="2000" dirty="0"/>
              <a:t>反复全局内存访问</a:t>
            </a:r>
            <a:endParaRPr lang="en-US" altLang="zh-CN" sz="2000" dirty="0"/>
          </a:p>
        </p:txBody>
      </p:sp>
      <p:pic>
        <p:nvPicPr>
          <p:cNvPr id="12" name="Picture 11">
            <a:extLst>
              <a:ext uri="{FF2B5EF4-FFF2-40B4-BE49-F238E27FC236}">
                <a16:creationId xmlns:a16="http://schemas.microsoft.com/office/drawing/2014/main" id="{758C66C7-FBCD-41B8-A66C-C522D503F2CF}"/>
              </a:ext>
            </a:extLst>
          </p:cNvPr>
          <p:cNvPicPr>
            <a:picLocks noChangeAspect="1"/>
          </p:cNvPicPr>
          <p:nvPr/>
        </p:nvPicPr>
        <p:blipFill>
          <a:blip r:embed="rId2"/>
          <a:stretch>
            <a:fillRect/>
          </a:stretch>
        </p:blipFill>
        <p:spPr>
          <a:xfrm>
            <a:off x="4475595" y="5248939"/>
            <a:ext cx="3810177" cy="1513500"/>
          </a:xfrm>
          <a:prstGeom prst="rect">
            <a:avLst/>
          </a:prstGeom>
        </p:spPr>
      </p:pic>
      <p:grpSp>
        <p:nvGrpSpPr>
          <p:cNvPr id="18" name="Group 8">
            <a:extLst>
              <a:ext uri="{FF2B5EF4-FFF2-40B4-BE49-F238E27FC236}">
                <a16:creationId xmlns:a16="http://schemas.microsoft.com/office/drawing/2014/main" id="{1A9C500A-86C5-4977-828C-8EB2482736FB}"/>
              </a:ext>
            </a:extLst>
          </p:cNvPr>
          <p:cNvGrpSpPr/>
          <p:nvPr/>
        </p:nvGrpSpPr>
        <p:grpSpPr>
          <a:xfrm>
            <a:off x="3707905" y="1334458"/>
            <a:ext cx="5436096" cy="3762081"/>
            <a:chOff x="5242989" y="505096"/>
            <a:chExt cx="5621214" cy="6763208"/>
          </a:xfrm>
        </p:grpSpPr>
        <p:sp>
          <p:nvSpPr>
            <p:cNvPr id="19" name="Rectangle: Single Corner Snipped 9">
              <a:extLst>
                <a:ext uri="{FF2B5EF4-FFF2-40B4-BE49-F238E27FC236}">
                  <a16:creationId xmlns:a16="http://schemas.microsoft.com/office/drawing/2014/main" id="{8BB117F4-5202-450B-BC40-3C3EE21CA2A4}"/>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0" name="TextBox 10">
              <a:extLst>
                <a:ext uri="{FF2B5EF4-FFF2-40B4-BE49-F238E27FC236}">
                  <a16:creationId xmlns:a16="http://schemas.microsoft.com/office/drawing/2014/main" id="{9C42E0BD-F0D2-4297-B021-890DC114D2B9}"/>
                </a:ext>
              </a:extLst>
            </p:cNvPr>
            <p:cNvSpPr txBox="1"/>
            <p:nvPr/>
          </p:nvSpPr>
          <p:spPr>
            <a:xfrm>
              <a:off x="5390906" y="611430"/>
              <a:ext cx="5473297" cy="5747397"/>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parallel_for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nd_range</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&gt;(N,B),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nd_item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auto</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sg =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get_sub_group</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size_t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item</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get_global_id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b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Group algorithms for Shuffle operations */</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select_from_group</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(sg,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1);</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shift_group_left</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(sg,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1);</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shift_group_right</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(sg, data[</a:t>
              </a:r>
              <a:r>
                <a:rPr kumimoji="0" lang="en-US" sz="1400" b="0" i="0" u="none" strike="noStrike" kern="0" cap="none" spc="0" normalizeH="0" baseline="0" noProof="0" dirty="0" err="1">
                  <a:ln>
                    <a:noFill/>
                  </a:ln>
                  <a:solidFill>
                    <a:srgbClr val="008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1);</a:t>
              </a: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permute_group_by_xor</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(sg, </a:t>
              </a:r>
              <a:r>
                <a:rPr kumimoji="0" lang="en-US"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grpSp>
      <p:sp>
        <p:nvSpPr>
          <p:cNvPr id="21" name="Rectangle: Rounded Corners 12">
            <a:extLst>
              <a:ext uri="{FF2B5EF4-FFF2-40B4-BE49-F238E27FC236}">
                <a16:creationId xmlns:a16="http://schemas.microsoft.com/office/drawing/2014/main" id="{07C8907A-B3DF-45AF-9A1E-2C7915E23203}"/>
              </a:ext>
            </a:extLst>
          </p:cNvPr>
          <p:cNvSpPr/>
          <p:nvPr/>
        </p:nvSpPr>
        <p:spPr>
          <a:xfrm>
            <a:off x="5364089" y="4306052"/>
            <a:ext cx="3734046" cy="343733"/>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205544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81DBD-2F0D-4546-AA36-B53450C95DEE}"/>
              </a:ext>
            </a:extLst>
          </p:cNvPr>
          <p:cNvSpPr>
            <a:spLocks noGrp="1"/>
          </p:cNvSpPr>
          <p:nvPr>
            <p:ph type="title"/>
          </p:nvPr>
        </p:nvSpPr>
        <p:spPr/>
        <p:txBody>
          <a:bodyPr/>
          <a:lstStyle/>
          <a:p>
            <a:r>
              <a:rPr lang="zh-CN" altLang="en-US" dirty="0"/>
              <a:t>小组</a:t>
            </a:r>
          </a:p>
        </p:txBody>
      </p:sp>
      <p:sp>
        <p:nvSpPr>
          <p:cNvPr id="3" name="内容占位符 2">
            <a:extLst>
              <a:ext uri="{FF2B5EF4-FFF2-40B4-BE49-F238E27FC236}">
                <a16:creationId xmlns:a16="http://schemas.microsoft.com/office/drawing/2014/main" id="{A3FD33B7-4E12-4B83-AA9C-42DADE24745B}"/>
              </a:ext>
            </a:extLst>
          </p:cNvPr>
          <p:cNvSpPr>
            <a:spLocks noGrp="1"/>
          </p:cNvSpPr>
          <p:nvPr>
            <p:ph idx="1"/>
          </p:nvPr>
        </p:nvSpPr>
        <p:spPr>
          <a:xfrm>
            <a:off x="467544" y="1371600"/>
            <a:ext cx="8487544" cy="4724400"/>
          </a:xfrm>
        </p:spPr>
        <p:txBody>
          <a:bodyPr/>
          <a:lstStyle/>
          <a:p>
            <a:r>
              <a:rPr lang="zh-CN" altLang="en-US" sz="2400" dirty="0"/>
              <a:t>小组组通信</a:t>
            </a:r>
            <a:endParaRPr lang="en-US" altLang="zh-CN" sz="2400" dirty="0"/>
          </a:p>
          <a:p>
            <a:pPr lvl="1"/>
            <a:r>
              <a:rPr lang="zh-CN" altLang="en-US" sz="2000" dirty="0"/>
              <a:t>实现了密切相关</a:t>
            </a:r>
            <a:br>
              <a:rPr lang="en-US" altLang="zh-CN" sz="2000" dirty="0"/>
            </a:br>
            <a:r>
              <a:rPr lang="zh-CN" altLang="en-US" sz="2000" dirty="0"/>
              <a:t>的</a:t>
            </a:r>
            <a:r>
              <a:rPr lang="zh-CN" altLang="en-US" sz="2000" dirty="0">
                <a:latin typeface="黑体" panose="02010609060101010101" pitchFamily="49" charset="-122"/>
                <a:ea typeface="黑体" panose="02010609060101010101" pitchFamily="49" charset="-122"/>
              </a:rPr>
              <a:t>常见并行模式</a:t>
            </a:r>
            <a:endParaRPr lang="en-US" altLang="zh-CN" sz="2000" dirty="0">
              <a:latin typeface="黑体" panose="02010609060101010101" pitchFamily="49" charset="-122"/>
              <a:ea typeface="黑体" panose="02010609060101010101" pitchFamily="49" charset="-122"/>
            </a:endParaRPr>
          </a:p>
          <a:p>
            <a:pPr lvl="1"/>
            <a:r>
              <a:rPr lang="zh-CN" altLang="en-US" sz="2000" dirty="0"/>
              <a:t>实现为库函数，</a:t>
            </a:r>
            <a:br>
              <a:rPr lang="en-US" altLang="zh-CN" sz="2000" dirty="0"/>
            </a:br>
            <a:r>
              <a:rPr lang="zh-CN" altLang="en-US" sz="2000" dirty="0">
                <a:latin typeface="黑体" panose="02010609060101010101" pitchFamily="49" charset="-122"/>
                <a:ea typeface="黑体" panose="02010609060101010101" pitchFamily="49" charset="-122"/>
              </a:rPr>
              <a:t>提高了开发者的</a:t>
            </a:r>
            <a:br>
              <a:rPr lang="en-US" altLang="zh-CN" sz="2000" dirty="0">
                <a:latin typeface="黑体" panose="02010609060101010101" pitchFamily="49" charset="-122"/>
                <a:ea typeface="黑体" panose="02010609060101010101" pitchFamily="49" charset="-122"/>
              </a:rPr>
            </a:br>
            <a:r>
              <a:rPr lang="zh-CN" altLang="en-US" sz="2000" dirty="0">
                <a:latin typeface="黑体" panose="02010609060101010101" pitchFamily="49" charset="-122"/>
                <a:ea typeface="黑体" panose="02010609060101010101" pitchFamily="49" charset="-122"/>
              </a:rPr>
              <a:t>生产率</a:t>
            </a:r>
            <a:r>
              <a:rPr lang="zh-CN" altLang="en-US" sz="2000" dirty="0"/>
              <a:t>，使实现</a:t>
            </a:r>
            <a:br>
              <a:rPr lang="en-US" altLang="zh-CN" sz="2000" dirty="0"/>
            </a:br>
            <a:r>
              <a:rPr lang="zh-CN" altLang="en-US" sz="2000" dirty="0"/>
              <a:t>能够为单个目标</a:t>
            </a:r>
            <a:br>
              <a:rPr lang="en-US" altLang="zh-CN" sz="2000" dirty="0"/>
            </a:br>
            <a:r>
              <a:rPr lang="zh-CN" altLang="en-US" sz="2000" dirty="0"/>
              <a:t>设备生成高度</a:t>
            </a:r>
            <a:br>
              <a:rPr lang="en-US" altLang="zh-CN" sz="2000" dirty="0"/>
            </a:br>
            <a:r>
              <a:rPr lang="zh-CN" altLang="en-US" sz="2000" dirty="0"/>
              <a:t>优化的代码。</a:t>
            </a:r>
          </a:p>
        </p:txBody>
      </p:sp>
      <p:grpSp>
        <p:nvGrpSpPr>
          <p:cNvPr id="20" name="Group 8">
            <a:extLst>
              <a:ext uri="{FF2B5EF4-FFF2-40B4-BE49-F238E27FC236}">
                <a16:creationId xmlns:a16="http://schemas.microsoft.com/office/drawing/2014/main" id="{395FA331-B5B9-4C33-AC9B-CF12911EE2D1}"/>
              </a:ext>
            </a:extLst>
          </p:cNvPr>
          <p:cNvGrpSpPr/>
          <p:nvPr/>
        </p:nvGrpSpPr>
        <p:grpSpPr>
          <a:xfrm>
            <a:off x="3131841" y="1343681"/>
            <a:ext cx="5904656" cy="3762081"/>
            <a:chOff x="5242989" y="505096"/>
            <a:chExt cx="5621214" cy="6763208"/>
          </a:xfrm>
        </p:grpSpPr>
        <p:sp>
          <p:nvSpPr>
            <p:cNvPr id="21" name="Rectangle: Single Corner Snipped 9">
              <a:extLst>
                <a:ext uri="{FF2B5EF4-FFF2-40B4-BE49-F238E27FC236}">
                  <a16:creationId xmlns:a16="http://schemas.microsoft.com/office/drawing/2014/main" id="{6A57618C-5DB5-42F1-A5C6-B5BDD0217775}"/>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0">
              <a:extLst>
                <a:ext uri="{FF2B5EF4-FFF2-40B4-BE49-F238E27FC236}">
                  <a16:creationId xmlns:a16="http://schemas.microsoft.com/office/drawing/2014/main" id="{681724BA-1EC0-4FB8-9D41-E329FD7E68B2}"/>
                </a:ext>
              </a:extLst>
            </p:cNvPr>
            <p:cNvSpPr txBox="1"/>
            <p:nvPr/>
          </p:nvSpPr>
          <p:spPr>
            <a:xfrm>
              <a:off x="5390906" y="611430"/>
              <a:ext cx="5473297" cy="4428355"/>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h</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parallel_for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nd_range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&gt;(N,B),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nd_item</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1</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auto </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sg = </a:t>
              </a:r>
              <a:r>
                <a:rPr kumimoji="0" lang="en-US"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item</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get_sub_group</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size_t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item</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get_global_id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b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sz="12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a:t>
              </a:r>
              <a:r>
                <a:rPr kumimoji="0" lang="it-IT" sz="12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Group Algorithms for sub-groups */</a:t>
              </a:r>
              <a:endPar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it-IT"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 = </a:t>
              </a:r>
              <a:r>
                <a:rPr kumimoji="0" lang="it-IT"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reduce_over_group</a:t>
              </a:r>
              <a:r>
                <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(sg, </a:t>
              </a:r>
              <a:r>
                <a:rPr kumimoji="0" lang="it-IT" sz="12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data</a:t>
              </a:r>
              <a:r>
                <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 </a:t>
              </a:r>
              <a:r>
                <a:rPr kumimoji="0" lang="it-IT"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plus</a:t>
              </a:r>
              <a:r>
                <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&lt;&gt;());</a:t>
              </a:r>
            </a:p>
            <a:p>
              <a:pPr marL="0" marR="0" lvl="0" indent="0" defTabSz="1219169" eaLnBrk="1" fontAlgn="auto" latinLnBrk="0" hangingPunct="1">
                <a:lnSpc>
                  <a:spcPct val="150000"/>
                </a:lnSpc>
                <a:spcBef>
                  <a:spcPts val="0"/>
                </a:spcBef>
                <a:spcAft>
                  <a:spcPts val="0"/>
                </a:spcAft>
                <a:buClrTx/>
                <a:buSzTx/>
                <a:buFontTx/>
                <a:buNone/>
                <a:tabLst/>
                <a:defRPr/>
              </a:pPr>
              <a:r>
                <a:rPr kumimoji="0" lang="it-IT" sz="12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//data[i] = reduce_over_group(sg, data[i], maximum&lt;&gt;());</a:t>
              </a:r>
              <a:endPar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it-IT" sz="1200" b="0" i="0" u="none" strike="noStrike" kern="0" cap="none" spc="0" normalizeH="0" baseline="0" noProof="0" dirty="0">
                  <a:ln>
                    <a:noFill/>
                  </a:ln>
                  <a:solidFill>
                    <a:srgbClr val="008000"/>
                  </a:solidFill>
                  <a:effectLst/>
                  <a:uLnTx/>
                  <a:uFillTx/>
                  <a:latin typeface="Consolas" panose="020B0609020204030204" pitchFamily="49" charset="0"/>
                  <a:sym typeface="Helvetica Neue"/>
                </a:rPr>
                <a:t>      //data[i] = reduce_over_group(sg, data[i], minimum&lt;&gt;());</a:t>
              </a:r>
              <a:endParaRPr kumimoji="0" lang="it-IT"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grpSp>
      <p:sp>
        <p:nvSpPr>
          <p:cNvPr id="23" name="Rectangle: Rounded Corners 11">
            <a:extLst>
              <a:ext uri="{FF2B5EF4-FFF2-40B4-BE49-F238E27FC236}">
                <a16:creationId xmlns:a16="http://schemas.microsoft.com/office/drawing/2014/main" id="{BA1147A5-B1BB-435C-98E9-3AAE3E897B7D}"/>
              </a:ext>
            </a:extLst>
          </p:cNvPr>
          <p:cNvSpPr/>
          <p:nvPr/>
        </p:nvSpPr>
        <p:spPr>
          <a:xfrm>
            <a:off x="4644008" y="2780928"/>
            <a:ext cx="3528392" cy="31175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184060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en-US" altLang="zh-CN" dirty="0"/>
              <a:t>SYCL</a:t>
            </a:r>
            <a:r>
              <a:rPr lang="zh-CN" altLang="en-US" dirty="0"/>
              <a:t>中的</a:t>
            </a:r>
            <a:r>
              <a:rPr lang="en-US" altLang="zh-CN" dirty="0"/>
              <a:t>Reduction</a:t>
            </a:r>
            <a:endParaRPr lang="zh-CN" altLang="en-US" dirty="0"/>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en-US" altLang="zh-CN" dirty="0"/>
              <a:t>SYCL</a:t>
            </a:r>
            <a:r>
              <a:rPr lang="zh-CN" altLang="en-US" dirty="0"/>
              <a:t>提供了</a:t>
            </a:r>
            <a:r>
              <a:rPr lang="zh-CN" altLang="en-US" dirty="0">
                <a:latin typeface="黑体" panose="02010609060101010101" pitchFamily="49" charset="-122"/>
                <a:ea typeface="黑体" panose="02010609060101010101" pitchFamily="49" charset="-122"/>
              </a:rPr>
              <a:t>组归约算法</a:t>
            </a:r>
            <a:r>
              <a:rPr lang="zh-CN" altLang="en-US" dirty="0"/>
              <a:t>，可在工作组上执行归约操作</a:t>
            </a:r>
            <a:endParaRPr lang="en-US" altLang="zh-CN" dirty="0"/>
          </a:p>
          <a:p>
            <a:r>
              <a:rPr lang="zh-CN" altLang="en-US" dirty="0"/>
              <a:t>基本模式：</a:t>
            </a:r>
            <a:r>
              <a:rPr lang="zh-CN" altLang="en-US" dirty="0">
                <a:latin typeface="黑体" panose="02010609060101010101" pitchFamily="49" charset="-122"/>
                <a:ea typeface="黑体" panose="02010609060101010101" pitchFamily="49" charset="-122"/>
              </a:rPr>
              <a:t>单</a:t>
            </a:r>
            <a:r>
              <a:rPr lang="en-US" altLang="zh-CN" dirty="0"/>
              <a:t>kernel</a:t>
            </a:r>
            <a:r>
              <a:rPr lang="zh-CN" altLang="en-US" dirty="0">
                <a:latin typeface="黑体" panose="02010609060101010101" pitchFamily="49" charset="-122"/>
                <a:ea typeface="黑体" panose="02010609060101010101" pitchFamily="49" charset="-122"/>
              </a:rPr>
              <a:t>上的单一归约</a:t>
            </a:r>
            <a:endParaRPr lang="en-US" altLang="zh-CN" dirty="0">
              <a:latin typeface="黑体" panose="02010609060101010101" pitchFamily="49" charset="-122"/>
              <a:ea typeface="黑体" panose="02010609060101010101" pitchFamily="49" charset="-122"/>
            </a:endParaRPr>
          </a:p>
          <a:p>
            <a:r>
              <a:rPr lang="zh-CN" altLang="en-US" dirty="0"/>
              <a:t>理解当使用</a:t>
            </a:r>
            <a:r>
              <a:rPr lang="en-US" altLang="zh-CN" dirty="0"/>
              <a:t>USM vs.</a:t>
            </a:r>
            <a:r>
              <a:rPr lang="zh-CN" altLang="en-US" dirty="0"/>
              <a:t> </a:t>
            </a:r>
            <a:r>
              <a:rPr lang="en-US" altLang="zh-CN" dirty="0"/>
              <a:t>Buffer</a:t>
            </a:r>
            <a:r>
              <a:rPr lang="zh-CN" altLang="en-US" dirty="0"/>
              <a:t>内存模型时，</a:t>
            </a:r>
            <a:r>
              <a:rPr lang="en-US" altLang="zh-CN" dirty="0"/>
              <a:t>kernel</a:t>
            </a:r>
            <a:r>
              <a:rPr lang="zh-CN" altLang="en-US" dirty="0"/>
              <a:t>归约是如何执行的</a:t>
            </a:r>
            <a:endParaRPr lang="en-US" altLang="zh-CN" dirty="0"/>
          </a:p>
          <a:p>
            <a:r>
              <a:rPr lang="zh-CN" altLang="en-US" dirty="0"/>
              <a:t>进阶模式：</a:t>
            </a:r>
            <a:r>
              <a:rPr lang="zh-CN" altLang="en-US" dirty="0">
                <a:latin typeface="黑体" panose="02010609060101010101" pitchFamily="49" charset="-122"/>
                <a:ea typeface="黑体" panose="02010609060101010101" pitchFamily="49" charset="-122"/>
              </a:rPr>
              <a:t>单</a:t>
            </a:r>
            <a:r>
              <a:rPr lang="en-US" altLang="zh-CN" dirty="0"/>
              <a:t>kernel</a:t>
            </a:r>
            <a:r>
              <a:rPr lang="zh-CN" altLang="en-US" dirty="0">
                <a:latin typeface="黑体" panose="02010609060101010101" pitchFamily="49" charset="-122"/>
                <a:ea typeface="黑体" panose="02010609060101010101" pitchFamily="49" charset="-122"/>
              </a:rPr>
              <a:t>上的多归约</a:t>
            </a:r>
          </a:p>
        </p:txBody>
      </p:sp>
    </p:spTree>
    <p:extLst>
      <p:ext uri="{BB962C8B-B14F-4D97-AF65-F5344CB8AC3E}">
        <p14:creationId xmlns:p14="http://schemas.microsoft.com/office/powerpoint/2010/main" val="282094301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en-US" altLang="zh-CN" dirty="0"/>
              <a:t>Reduction</a:t>
            </a:r>
            <a:endParaRPr lang="zh-CN" altLang="en-US" dirty="0"/>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归约（</a:t>
            </a:r>
            <a:r>
              <a:rPr lang="en-US" altLang="zh-CN" dirty="0"/>
              <a:t>reduction</a:t>
            </a:r>
            <a:r>
              <a:rPr lang="zh-CN" altLang="en-US" dirty="0"/>
              <a:t>）操作是</a:t>
            </a:r>
            <a:r>
              <a:rPr lang="zh-CN" altLang="en-US" dirty="0">
                <a:latin typeface="黑体" panose="02010609060101010101" pitchFamily="49" charset="-122"/>
                <a:ea typeface="黑体" panose="02010609060101010101" pitchFamily="49" charset="-122"/>
              </a:rPr>
              <a:t>将多个值聚合计算为单一结果</a:t>
            </a:r>
            <a:r>
              <a:rPr lang="zh-CN" altLang="en-US" dirty="0"/>
              <a:t>，归约计算应满足交换律</a:t>
            </a:r>
            <a:endParaRPr lang="en-US" altLang="zh-CN" dirty="0"/>
          </a:p>
          <a:p>
            <a:r>
              <a:rPr lang="zh-CN" altLang="en-US" dirty="0"/>
              <a:t>由于计算本身和加速硬件的特性，归约的并行化可能会很棘手</a:t>
            </a:r>
            <a:endParaRPr lang="en-US" altLang="zh-CN" dirty="0">
              <a:latin typeface="黑体" panose="02010609060101010101" pitchFamily="49" charset="-122"/>
              <a:ea typeface="黑体" panose="02010609060101010101" pitchFamily="49" charset="-122"/>
            </a:endParaRPr>
          </a:p>
          <a:p>
            <a:r>
              <a:rPr lang="en-US" altLang="zh-CN" dirty="0"/>
              <a:t>SYCL</a:t>
            </a:r>
            <a:r>
              <a:rPr lang="zh-CN" altLang="en-US" dirty="0"/>
              <a:t>为异构并行编程提供了一种</a:t>
            </a:r>
            <a:r>
              <a:rPr lang="zh-CN" altLang="en-US" dirty="0">
                <a:latin typeface="黑体" panose="02010609060101010101" pitchFamily="49" charset="-122"/>
                <a:ea typeface="黑体" panose="02010609060101010101" pitchFamily="49" charset="-122"/>
              </a:rPr>
              <a:t>简化的</a:t>
            </a:r>
            <a:r>
              <a:rPr lang="zh-CN" altLang="en-US" dirty="0"/>
              <a:t>归约方法</a:t>
            </a:r>
            <a:endParaRPr lang="en-US" altLang="zh-CN" dirty="0"/>
          </a:p>
        </p:txBody>
      </p:sp>
    </p:spTree>
    <p:extLst>
      <p:ext uri="{BB962C8B-B14F-4D97-AF65-F5344CB8AC3E}">
        <p14:creationId xmlns:p14="http://schemas.microsoft.com/office/powerpoint/2010/main" val="27738432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81DBD-2F0D-4546-AA36-B53450C95DEE}"/>
              </a:ext>
            </a:extLst>
          </p:cNvPr>
          <p:cNvSpPr>
            <a:spLocks noGrp="1"/>
          </p:cNvSpPr>
          <p:nvPr>
            <p:ph type="title"/>
          </p:nvPr>
        </p:nvSpPr>
        <p:spPr/>
        <p:txBody>
          <a:bodyPr/>
          <a:lstStyle/>
          <a:p>
            <a:r>
              <a:rPr lang="zh-CN" altLang="en-US" dirty="0"/>
              <a:t>简单归约</a:t>
            </a:r>
          </a:p>
        </p:txBody>
      </p:sp>
      <p:sp>
        <p:nvSpPr>
          <p:cNvPr id="3" name="内容占位符 2">
            <a:extLst>
              <a:ext uri="{FF2B5EF4-FFF2-40B4-BE49-F238E27FC236}">
                <a16:creationId xmlns:a16="http://schemas.microsoft.com/office/drawing/2014/main" id="{A3FD33B7-4E12-4B83-AA9C-42DADE24745B}"/>
              </a:ext>
            </a:extLst>
          </p:cNvPr>
          <p:cNvSpPr>
            <a:spLocks noGrp="1"/>
          </p:cNvSpPr>
          <p:nvPr>
            <p:ph idx="1"/>
          </p:nvPr>
        </p:nvSpPr>
        <p:spPr>
          <a:xfrm>
            <a:off x="467544" y="1371600"/>
            <a:ext cx="8487544" cy="4724400"/>
          </a:xfrm>
        </p:spPr>
        <p:txBody>
          <a:bodyPr/>
          <a:lstStyle/>
          <a:p>
            <a:r>
              <a:rPr lang="zh-CN" altLang="en-US" sz="2400" dirty="0"/>
              <a:t>最基本的归约：</a:t>
            </a:r>
            <a:r>
              <a:rPr lang="en-US" altLang="zh-CN" sz="2400" i="1" dirty="0"/>
              <a:t>N</a:t>
            </a:r>
            <a:r>
              <a:rPr lang="zh-CN" altLang="en-US" sz="2400" dirty="0"/>
              <a:t>个数</a:t>
            </a:r>
            <a:br>
              <a:rPr lang="en-US" altLang="zh-CN" sz="2400" dirty="0"/>
            </a:br>
            <a:r>
              <a:rPr lang="zh-CN" altLang="en-US" sz="2400" dirty="0"/>
              <a:t>相加</a:t>
            </a:r>
            <a:endParaRPr lang="en-US" altLang="zh-CN" sz="2400" dirty="0"/>
          </a:p>
          <a:p>
            <a:pPr lvl="1"/>
            <a:r>
              <a:rPr lang="en-US" altLang="zh-CN" sz="2000" dirty="0"/>
              <a:t>kernel</a:t>
            </a:r>
            <a:r>
              <a:rPr lang="zh-CN" altLang="en-US" sz="2000" dirty="0"/>
              <a:t>函数中的一个简单</a:t>
            </a:r>
            <a:br>
              <a:rPr lang="en-US" altLang="zh-CN" sz="2000" dirty="0"/>
            </a:br>
            <a:r>
              <a:rPr lang="en-US" altLang="zh-CN" sz="2000" b="1" dirty="0"/>
              <a:t>for-</a:t>
            </a:r>
            <a:r>
              <a:rPr lang="zh-CN" altLang="en-US" sz="2000" dirty="0">
                <a:latin typeface="黑体" panose="02010609060101010101" pitchFamily="49" charset="-122"/>
                <a:ea typeface="黑体" panose="02010609060101010101" pitchFamily="49" charset="-122"/>
              </a:rPr>
              <a:t>循环</a:t>
            </a:r>
            <a:r>
              <a:rPr lang="zh-CN" altLang="en-US" sz="2000" dirty="0"/>
              <a:t>即可实现归约</a:t>
            </a:r>
            <a:endParaRPr lang="en-US" altLang="zh-CN" sz="2000" dirty="0">
              <a:latin typeface="黑体" panose="02010609060101010101" pitchFamily="49" charset="-122"/>
              <a:ea typeface="黑体" panose="02010609060101010101" pitchFamily="49" charset="-122"/>
            </a:endParaRPr>
          </a:p>
          <a:p>
            <a:pPr lvl="1"/>
            <a:endParaRPr lang="en-US" altLang="zh-CN" sz="2000" dirty="0"/>
          </a:p>
          <a:p>
            <a:pPr lvl="1"/>
            <a:r>
              <a:rPr lang="zh-CN" altLang="en-US" sz="2000" dirty="0"/>
              <a:t>但</a:t>
            </a:r>
            <a:r>
              <a:rPr lang="en-US" altLang="zh-CN" sz="2000" dirty="0"/>
              <a:t>for-</a:t>
            </a:r>
            <a:r>
              <a:rPr lang="zh-CN" altLang="en-US" sz="2000" dirty="0"/>
              <a:t>循环</a:t>
            </a:r>
            <a:r>
              <a:rPr lang="zh-CN" altLang="en-US" sz="2000" dirty="0">
                <a:latin typeface="黑体" panose="02010609060101010101" pitchFamily="49" charset="-122"/>
                <a:ea typeface="黑体" panose="02010609060101010101" pitchFamily="49" charset="-122"/>
              </a:rPr>
              <a:t>效率不高</a:t>
            </a:r>
            <a:r>
              <a:rPr lang="zh-CN" altLang="en-US" sz="2000" dirty="0"/>
              <a:t>，</a:t>
            </a:r>
            <a:br>
              <a:rPr lang="en-US" altLang="zh-CN" sz="2000" dirty="0"/>
            </a:br>
            <a:r>
              <a:rPr lang="zh-CN" altLang="en-US" sz="2000" dirty="0"/>
              <a:t>且未利用硬件并行能力</a:t>
            </a:r>
            <a:endParaRPr lang="en-US" altLang="zh-CN" sz="2000" dirty="0"/>
          </a:p>
          <a:p>
            <a:pPr marL="457200" lvl="1" indent="0">
              <a:buNone/>
            </a:pPr>
            <a:r>
              <a:rPr lang="en-US" altLang="zh-CN" sz="2000" dirty="0" err="1">
                <a:solidFill>
                  <a:srgbClr val="001080"/>
                </a:solidFill>
                <a:latin typeface="Consolas" panose="020B0609020204030204" pitchFamily="49" charset="0"/>
              </a:rPr>
              <a:t>q</a:t>
            </a:r>
            <a:r>
              <a:rPr lang="en-US" altLang="zh-CN" sz="2000" dirty="0" err="1">
                <a:solidFill>
                  <a:srgbClr val="000000"/>
                </a:solidFill>
                <a:latin typeface="Consolas" panose="020B0609020204030204" pitchFamily="49" charset="0"/>
              </a:rPr>
              <a:t>.</a:t>
            </a:r>
            <a:r>
              <a:rPr lang="en-US" altLang="zh-CN" sz="2000" dirty="0" err="1">
                <a:solidFill>
                  <a:srgbClr val="795E26"/>
                </a:solidFill>
                <a:latin typeface="Consolas" panose="020B0609020204030204" pitchFamily="49" charset="0"/>
              </a:rPr>
              <a:t>single_task</a:t>
            </a:r>
            <a:r>
              <a:rPr lang="zh-CN" altLang="en-US" sz="2000" dirty="0"/>
              <a:t>是提交任务</a:t>
            </a:r>
            <a:br>
              <a:rPr lang="en-US" altLang="zh-CN" sz="2000" dirty="0"/>
            </a:br>
            <a:r>
              <a:rPr lang="zh-CN" altLang="en-US" sz="2000" dirty="0"/>
              <a:t>至设备执行的最基本方法</a:t>
            </a:r>
          </a:p>
        </p:txBody>
      </p:sp>
      <p:grpSp>
        <p:nvGrpSpPr>
          <p:cNvPr id="20" name="Group 8">
            <a:extLst>
              <a:ext uri="{FF2B5EF4-FFF2-40B4-BE49-F238E27FC236}">
                <a16:creationId xmlns:a16="http://schemas.microsoft.com/office/drawing/2014/main" id="{395FA331-B5B9-4C33-AC9B-CF12911EE2D1}"/>
              </a:ext>
            </a:extLst>
          </p:cNvPr>
          <p:cNvGrpSpPr/>
          <p:nvPr/>
        </p:nvGrpSpPr>
        <p:grpSpPr>
          <a:xfrm>
            <a:off x="4355975" y="1343681"/>
            <a:ext cx="4680521" cy="3762081"/>
            <a:chOff x="5242989" y="505096"/>
            <a:chExt cx="5621214" cy="6763208"/>
          </a:xfrm>
        </p:grpSpPr>
        <p:sp>
          <p:nvSpPr>
            <p:cNvPr id="21" name="Rectangle: Single Corner Snipped 9">
              <a:extLst>
                <a:ext uri="{FF2B5EF4-FFF2-40B4-BE49-F238E27FC236}">
                  <a16:creationId xmlns:a16="http://schemas.microsoft.com/office/drawing/2014/main" id="{6A57618C-5DB5-42F1-A5C6-B5BDD0217775}"/>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0">
              <a:extLst>
                <a:ext uri="{FF2B5EF4-FFF2-40B4-BE49-F238E27FC236}">
                  <a16:creationId xmlns:a16="http://schemas.microsoft.com/office/drawing/2014/main" id="{681724BA-1EC0-4FB8-9D41-E329FD7E68B2}"/>
                </a:ext>
              </a:extLst>
            </p:cNvPr>
            <p:cNvSpPr txBox="1"/>
            <p:nvPr/>
          </p:nvSpPr>
          <p:spPr>
            <a:xfrm>
              <a:off x="5390906" y="611430"/>
              <a:ext cx="5473297" cy="6420233"/>
            </a:xfrm>
            <a:prstGeom prst="rect">
              <a:avLst/>
            </a:prstGeom>
            <a:noFill/>
          </p:spPr>
          <p:txBody>
            <a:bodyPr vert="horz" wrap="square" lIns="0" tIns="0" rIns="0" bIns="0" rtlCol="0">
              <a:spAutoFit/>
            </a:bodyPr>
            <a:lstStyle/>
            <a:p>
              <a:pPr>
                <a:lnSpc>
                  <a:spcPct val="150000"/>
                </a:lnSpc>
                <a:spcBef>
                  <a:spcPts val="0"/>
                </a:spcBef>
              </a:pPr>
              <a:r>
                <a:rPr lang="en-US" altLang="zh-CN" sz="1200" dirty="0">
                  <a:solidFill>
                    <a:srgbClr val="000000"/>
                  </a:solidFill>
                  <a:latin typeface="Consolas" panose="020B0609020204030204" pitchFamily="49" charset="0"/>
                </a:rPr>
                <a:t>  queue </a:t>
              </a:r>
              <a:r>
                <a:rPr lang="en-US" altLang="zh-CN" sz="1200" dirty="0">
                  <a:solidFill>
                    <a:srgbClr val="001080"/>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 = </a:t>
              </a:r>
              <a:r>
                <a:rPr lang="en-US" altLang="zh-CN" sz="1200" dirty="0" err="1">
                  <a:solidFill>
                    <a:srgbClr val="795E26"/>
                  </a:solidFill>
                  <a:latin typeface="Consolas" panose="020B0609020204030204" pitchFamily="49" charset="0"/>
                </a:rPr>
                <a:t>malloc_shared</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&gt;(N, </a:t>
              </a:r>
              <a:r>
                <a:rPr lang="en-US" altLang="zh-CN" sz="1200" dirty="0">
                  <a:solidFill>
                    <a:srgbClr val="001080"/>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N;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0000"/>
                  </a:solidFill>
                  <a:latin typeface="Consolas" panose="020B0609020204030204" pitchFamily="49" charset="0"/>
                </a:rPr>
                <a:t>  </a:t>
              </a: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single_task</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sum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N;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sum +=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 sum;</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795E26"/>
                  </a:solidFill>
                  <a:latin typeface="Consolas" panose="020B0609020204030204" pitchFamily="49" charset="0"/>
                </a:rPr>
                <a:t>wait</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0000"/>
                  </a:solidFill>
                  <a:latin typeface="Consolas" panose="020B0609020204030204" pitchFamily="49" charset="0"/>
                </a:rPr>
                <a:t>  </a:t>
              </a:r>
              <a:r>
                <a:rPr lang="en-US" altLang="zh-CN" sz="1200" dirty="0">
                  <a:solidFill>
                    <a:srgbClr val="267F99"/>
                  </a:solidFill>
                  <a:latin typeface="Consolas" panose="020B0609020204030204" pitchFamily="49" charset="0"/>
                </a:rPr>
                <a:t>std</a:t>
              </a:r>
              <a:r>
                <a:rPr lang="en-US" altLang="zh-CN" sz="1200" dirty="0">
                  <a:solidFill>
                    <a:srgbClr val="001080"/>
                  </a:solidFill>
                  <a:latin typeface="Consolas" panose="020B0609020204030204" pitchFamily="49" charset="0"/>
                </a:rPr>
                <a:t>:</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cout</a:t>
              </a:r>
              <a:r>
                <a:rPr lang="en-US" altLang="zh-CN" sz="1200" dirty="0">
                  <a:solidFill>
                    <a:srgbClr val="000000"/>
                  </a:solidFill>
                  <a:latin typeface="Consolas" panose="020B0609020204030204" pitchFamily="49" charset="0"/>
                </a:rPr>
                <a:t> &lt;&lt; </a:t>
              </a:r>
              <a:r>
                <a:rPr lang="en-US" altLang="zh-CN" sz="1200" dirty="0">
                  <a:solidFill>
                    <a:srgbClr val="A31515"/>
                  </a:solidFill>
                  <a:latin typeface="Consolas" panose="020B0609020204030204" pitchFamily="49" charset="0"/>
                </a:rPr>
                <a:t>"Sum = "</a:t>
              </a:r>
              <a:r>
                <a:rPr lang="en-US" altLang="zh-CN" sz="1200" dirty="0">
                  <a:solidFill>
                    <a:srgbClr val="000000"/>
                  </a:solidFill>
                  <a:latin typeface="Consolas" panose="020B0609020204030204" pitchFamily="49" charset="0"/>
                </a:rPr>
                <a:t> &lt;&lt;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&lt;&lt;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endl</a:t>
              </a:r>
              <a:r>
                <a:rPr lang="en-US" altLang="zh-CN" sz="1200" dirty="0">
                  <a:solidFill>
                    <a:srgbClr val="000000"/>
                  </a:solidFill>
                  <a:latin typeface="Consolas" panose="020B0609020204030204" pitchFamily="49" charset="0"/>
                </a:rPr>
                <a:t>;</a:t>
              </a:r>
            </a:p>
          </p:txBody>
        </p:sp>
      </p:grpSp>
      <p:sp>
        <p:nvSpPr>
          <p:cNvPr id="23" name="Rectangle: Rounded Corners 11">
            <a:extLst>
              <a:ext uri="{FF2B5EF4-FFF2-40B4-BE49-F238E27FC236}">
                <a16:creationId xmlns:a16="http://schemas.microsoft.com/office/drawing/2014/main" id="{BA1147A5-B1BB-435C-98E9-3AAE3E897B7D}"/>
              </a:ext>
            </a:extLst>
          </p:cNvPr>
          <p:cNvSpPr/>
          <p:nvPr/>
        </p:nvSpPr>
        <p:spPr>
          <a:xfrm>
            <a:off x="4499992" y="2564904"/>
            <a:ext cx="2664296" cy="1944216"/>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cxnSp>
        <p:nvCxnSpPr>
          <p:cNvPr id="10" name="Straight Arrow Connector 8">
            <a:extLst>
              <a:ext uri="{FF2B5EF4-FFF2-40B4-BE49-F238E27FC236}">
                <a16:creationId xmlns:a16="http://schemas.microsoft.com/office/drawing/2014/main" id="{0CE959AC-250E-480C-8558-E1CE49BB9733}"/>
              </a:ext>
            </a:extLst>
          </p:cNvPr>
          <p:cNvCxnSpPr>
            <a:cxnSpLocks/>
          </p:cNvCxnSpPr>
          <p:nvPr/>
        </p:nvCxnSpPr>
        <p:spPr>
          <a:xfrm>
            <a:off x="3779912" y="2708920"/>
            <a:ext cx="720080" cy="504056"/>
          </a:xfrm>
          <a:prstGeom prst="straightConnector1">
            <a:avLst/>
          </a:prstGeom>
          <a:noFill/>
          <a:ln w="25400" cap="flat" cmpd="sng" algn="ctr">
            <a:solidFill>
              <a:srgbClr val="D96930"/>
            </a:solidFill>
            <a:prstDash val="solid"/>
            <a:tailEnd type="triangle"/>
          </a:ln>
          <a:effectLst/>
        </p:spPr>
      </p:cxnSp>
    </p:spTree>
    <p:extLst>
      <p:ext uri="{BB962C8B-B14F-4D97-AF65-F5344CB8AC3E}">
        <p14:creationId xmlns:p14="http://schemas.microsoft.com/office/powerpoint/2010/main" val="326600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A909E5-059C-4F02-B19D-26B826FC0912}"/>
              </a:ext>
            </a:extLst>
          </p:cNvPr>
          <p:cNvSpPr>
            <a:spLocks noGrp="1"/>
          </p:cNvSpPr>
          <p:nvPr>
            <p:ph type="title"/>
          </p:nvPr>
        </p:nvSpPr>
        <p:spPr/>
        <p:txBody>
          <a:bodyPr/>
          <a:lstStyle/>
          <a:p>
            <a:r>
              <a:rPr lang="zh-CN" altLang="en-US" dirty="0"/>
              <a:t>并行化归约</a:t>
            </a:r>
          </a:p>
        </p:txBody>
      </p:sp>
      <p:sp>
        <p:nvSpPr>
          <p:cNvPr id="3" name="内容占位符 2">
            <a:extLst>
              <a:ext uri="{FF2B5EF4-FFF2-40B4-BE49-F238E27FC236}">
                <a16:creationId xmlns:a16="http://schemas.microsoft.com/office/drawing/2014/main" id="{24CA589D-BCEB-4E82-AD1F-FD4E4DF1E18A}"/>
              </a:ext>
            </a:extLst>
          </p:cNvPr>
          <p:cNvSpPr>
            <a:spLocks noGrp="1"/>
          </p:cNvSpPr>
          <p:nvPr>
            <p:ph idx="1"/>
          </p:nvPr>
        </p:nvSpPr>
        <p:spPr/>
        <p:txBody>
          <a:bodyPr/>
          <a:lstStyle/>
          <a:p>
            <a:endParaRPr lang="zh-CN" altLang="en-US" dirty="0"/>
          </a:p>
        </p:txBody>
      </p:sp>
      <p:pic>
        <p:nvPicPr>
          <p:cNvPr id="9" name="Picture 3">
            <a:extLst>
              <a:ext uri="{FF2B5EF4-FFF2-40B4-BE49-F238E27FC236}">
                <a16:creationId xmlns:a16="http://schemas.microsoft.com/office/drawing/2014/main" id="{A2C18F1D-3ADD-4643-9C99-FF73B56446A7}"/>
              </a:ext>
            </a:extLst>
          </p:cNvPr>
          <p:cNvPicPr>
            <a:picLocks noChangeAspect="1"/>
          </p:cNvPicPr>
          <p:nvPr/>
        </p:nvPicPr>
        <p:blipFill>
          <a:blip r:embed="rId2"/>
          <a:stretch>
            <a:fillRect/>
          </a:stretch>
        </p:blipFill>
        <p:spPr>
          <a:xfrm>
            <a:off x="313684" y="1470214"/>
            <a:ext cx="3899662" cy="5280968"/>
          </a:xfrm>
          <a:prstGeom prst="rect">
            <a:avLst/>
          </a:prstGeom>
        </p:spPr>
      </p:pic>
      <p:sp>
        <p:nvSpPr>
          <p:cNvPr id="10" name="Rectangle 4">
            <a:extLst>
              <a:ext uri="{FF2B5EF4-FFF2-40B4-BE49-F238E27FC236}">
                <a16:creationId xmlns:a16="http://schemas.microsoft.com/office/drawing/2014/main" id="{FA074318-C3B5-4213-AC75-3E46F3DDCEE7}"/>
              </a:ext>
            </a:extLst>
          </p:cNvPr>
          <p:cNvSpPr/>
          <p:nvPr/>
        </p:nvSpPr>
        <p:spPr>
          <a:xfrm>
            <a:off x="2243195" y="2232631"/>
            <a:ext cx="975360" cy="1554480"/>
          </a:xfrm>
          <a:prstGeom prst="rect">
            <a:avLst/>
          </a:prstGeom>
          <a:solidFill>
            <a:srgbClr val="D96930">
              <a:alpha val="50000"/>
            </a:srgbClr>
          </a:solidFill>
          <a:ln>
            <a:noFill/>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Intel Clear"/>
              <a:sym typeface="Helvetica Neue"/>
            </a:endParaRPr>
          </a:p>
        </p:txBody>
      </p:sp>
      <p:sp>
        <p:nvSpPr>
          <p:cNvPr id="11" name="Speech Bubble: Rectangle with Corners Rounded 6">
            <a:extLst>
              <a:ext uri="{FF2B5EF4-FFF2-40B4-BE49-F238E27FC236}">
                <a16:creationId xmlns:a16="http://schemas.microsoft.com/office/drawing/2014/main" id="{170FDE90-A2E7-4FD2-8BDF-11EBE9068BFA}"/>
              </a:ext>
            </a:extLst>
          </p:cNvPr>
          <p:cNvSpPr/>
          <p:nvPr/>
        </p:nvSpPr>
        <p:spPr>
          <a:xfrm>
            <a:off x="4499993" y="1554936"/>
            <a:ext cx="4680520" cy="2306112"/>
          </a:xfrm>
          <a:prstGeom prst="wedgeRoundRectCallout">
            <a:avLst>
              <a:gd name="adj1" fmla="val -82850"/>
              <a:gd name="adj2" fmla="val 17349"/>
              <a:gd name="adj3" fmla="val 16667"/>
            </a:avLst>
          </a:prstGeom>
          <a:solidFill>
            <a:schemeClr val="accent1"/>
          </a:solidFill>
          <a:ln w="25400" cap="flat" cmpd="sng" algn="ctr">
            <a:solidFill>
              <a:srgbClr val="FFFFFF"/>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Intel Clear"/>
              <a:sym typeface="Helvetica Neue"/>
            </a:endParaRPr>
          </a:p>
        </p:txBody>
      </p:sp>
      <p:pic>
        <p:nvPicPr>
          <p:cNvPr id="12" name="Picture 7">
            <a:extLst>
              <a:ext uri="{FF2B5EF4-FFF2-40B4-BE49-F238E27FC236}">
                <a16:creationId xmlns:a16="http://schemas.microsoft.com/office/drawing/2014/main" id="{D9A9E25E-37F9-4E57-AE21-85EF7AF82A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9173" y="1647051"/>
            <a:ext cx="2063856" cy="2140060"/>
          </a:xfrm>
          <a:prstGeom prst="rect">
            <a:avLst/>
          </a:prstGeom>
        </p:spPr>
      </p:pic>
      <p:sp>
        <p:nvSpPr>
          <p:cNvPr id="13" name="TextBox 8">
            <a:extLst>
              <a:ext uri="{FF2B5EF4-FFF2-40B4-BE49-F238E27FC236}">
                <a16:creationId xmlns:a16="http://schemas.microsoft.com/office/drawing/2014/main" id="{B2F55BE4-E953-4D1C-B75F-191A5C66DA58}"/>
              </a:ext>
            </a:extLst>
          </p:cNvPr>
          <p:cNvSpPr txBox="1"/>
          <p:nvPr/>
        </p:nvSpPr>
        <p:spPr>
          <a:xfrm>
            <a:off x="4644008" y="1772816"/>
            <a:ext cx="2363106" cy="830997"/>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kumimoji="0" lang="zh-CN" altLang="en-US" sz="2000" b="1" kern="0" dirty="0">
                <a:solidFill>
                  <a:srgbClr val="000000"/>
                </a:solidFill>
                <a:latin typeface="Intel Clear"/>
                <a:sym typeface="Helvetica Neue"/>
              </a:rPr>
              <a:t>工作组</a:t>
            </a:r>
            <a:br>
              <a:rPr kumimoji="0" lang="en-US" altLang="zh-CN" sz="2000" b="1" kern="0" dirty="0">
                <a:solidFill>
                  <a:srgbClr val="000000"/>
                </a:solidFill>
                <a:latin typeface="Intel Clear"/>
                <a:sym typeface="Helvetica Neue"/>
              </a:rPr>
            </a:br>
            <a:r>
              <a:rPr kumimoji="0" lang="zh-CN" altLang="en-US" sz="2000" kern="0" dirty="0">
                <a:solidFill>
                  <a:srgbClr val="000000"/>
                </a:solidFill>
                <a:latin typeface="Intel Clear"/>
                <a:sym typeface="Helvetica Neue"/>
              </a:rPr>
              <a:t>映射到硬件的计算</a:t>
            </a:r>
            <a:br>
              <a:rPr kumimoji="0" lang="en-US" altLang="zh-CN" sz="2000" kern="0" dirty="0">
                <a:solidFill>
                  <a:srgbClr val="000000"/>
                </a:solidFill>
                <a:latin typeface="Intel Clear"/>
                <a:sym typeface="Helvetica Neue"/>
              </a:rPr>
            </a:br>
            <a:r>
              <a:rPr kumimoji="0" lang="zh-CN" altLang="en-US" sz="2000" kern="0" dirty="0">
                <a:solidFill>
                  <a:srgbClr val="000000"/>
                </a:solidFill>
                <a:latin typeface="Intel Clear"/>
                <a:sym typeface="Helvetica Neue"/>
              </a:rPr>
              <a:t>单元执行。</a:t>
            </a:r>
            <a:endParaRPr kumimoji="0" lang="en-US" sz="1100" kern="0" dirty="0">
              <a:solidFill>
                <a:srgbClr val="003C71"/>
              </a:solidFill>
              <a:latin typeface="Intel Clear"/>
              <a:sym typeface="Helvetica Neue"/>
            </a:endParaRPr>
          </a:p>
        </p:txBody>
      </p:sp>
      <p:sp>
        <p:nvSpPr>
          <p:cNvPr id="18" name="文本框 17">
            <a:extLst>
              <a:ext uri="{FF2B5EF4-FFF2-40B4-BE49-F238E27FC236}">
                <a16:creationId xmlns:a16="http://schemas.microsoft.com/office/drawing/2014/main" id="{85FD0888-1C5A-41A4-8199-0653A05479D5}"/>
              </a:ext>
            </a:extLst>
          </p:cNvPr>
          <p:cNvSpPr txBox="1"/>
          <p:nvPr/>
        </p:nvSpPr>
        <p:spPr>
          <a:xfrm>
            <a:off x="4541784" y="4270638"/>
            <a:ext cx="4596938" cy="1692771"/>
          </a:xfrm>
          <a:prstGeom prst="rect">
            <a:avLst/>
          </a:prstGeom>
          <a:noFill/>
        </p:spPr>
        <p:txBody>
          <a:bodyPr wrap="square">
            <a:spAutoFit/>
          </a:bodyPr>
          <a:lstStyle/>
          <a:p>
            <a:pPr marL="0" lvl="1">
              <a:spcBef>
                <a:spcPct val="20000"/>
              </a:spcBef>
              <a:buClr>
                <a:srgbClr val="3333CC"/>
              </a:buClr>
              <a:buSzPct val="69000"/>
              <a:defRPr/>
            </a:pPr>
            <a:r>
              <a:rPr kumimoji="1" lang="zh-CN" altLang="en-US" sz="2000" b="0" i="0" u="none" strike="noStrike" kern="0" cap="none" spc="0" normalizeH="0" baseline="0" noProof="0" dirty="0">
                <a:ln>
                  <a:noFill/>
                </a:ln>
                <a:solidFill>
                  <a:srgbClr val="3333CC"/>
                </a:solidFill>
                <a:effectLst/>
                <a:uLnTx/>
                <a:uFillTx/>
                <a:latin typeface="Times New Roman"/>
                <a:ea typeface="宋体"/>
              </a:rPr>
              <a:t>通过使用</a:t>
            </a:r>
            <a:r>
              <a:rPr lang="en-US" altLang="zh-CN" sz="2000" kern="0" dirty="0">
                <a:solidFill>
                  <a:srgbClr val="3333CC"/>
                </a:solidFill>
                <a:latin typeface="Times New Roman"/>
                <a:ea typeface="宋体"/>
              </a:rPr>
              <a:t>ND-range kernel</a:t>
            </a:r>
            <a:r>
              <a:rPr lang="zh-CN" altLang="en-US" sz="2000" kern="0" dirty="0">
                <a:solidFill>
                  <a:srgbClr val="3333CC"/>
                </a:solidFill>
                <a:latin typeface="Times New Roman"/>
                <a:ea typeface="宋体"/>
              </a:rPr>
              <a:t>，我们可以用每个工作组中的第一个归约项来并行化归约操作</a:t>
            </a:r>
            <a:endParaRPr lang="en-US" altLang="zh-CN" sz="2000" kern="0" dirty="0">
              <a:solidFill>
                <a:srgbClr val="3333CC"/>
              </a:solidFill>
              <a:latin typeface="Times New Roman"/>
              <a:ea typeface="宋体"/>
            </a:endParaRPr>
          </a:p>
          <a:p>
            <a:pPr marL="0" lvl="1">
              <a:spcBef>
                <a:spcPct val="20000"/>
              </a:spcBef>
              <a:buClr>
                <a:srgbClr val="3333CC"/>
              </a:buClr>
              <a:buSzPct val="69000"/>
              <a:defRPr/>
            </a:pPr>
            <a:r>
              <a:rPr lang="zh-CN" altLang="en-US" sz="2000" kern="0" dirty="0">
                <a:solidFill>
                  <a:srgbClr val="3333CC"/>
                </a:solidFill>
                <a:latin typeface="黑体" panose="02010609060101010101" pitchFamily="49" charset="-122"/>
                <a:ea typeface="黑体" panose="02010609060101010101" pitchFamily="49" charset="-122"/>
              </a:rPr>
              <a:t>多个工作组可并行执行</a:t>
            </a:r>
            <a:r>
              <a:rPr kumimoji="1" lang="zh-CN" altLang="en-US" sz="2000" b="0" i="0" u="none" strike="noStrike" kern="0" cap="none" spc="0" normalizeH="0" baseline="0" noProof="0" dirty="0">
                <a:ln>
                  <a:noFill/>
                </a:ln>
                <a:solidFill>
                  <a:srgbClr val="3333CC"/>
                </a:solidFill>
                <a:effectLst/>
                <a:uLnTx/>
                <a:uFillTx/>
                <a:latin typeface="Times New Roman"/>
                <a:ea typeface="宋体"/>
              </a:rPr>
              <a:t>，依赖于硬件中计算单元的数量</a:t>
            </a:r>
            <a:endParaRPr kumimoji="1" lang="en-US" altLang="zh-CN" sz="2000" b="0" i="0" u="none" strike="noStrike" kern="0" cap="none" spc="0" normalizeH="0" baseline="0" noProof="0" dirty="0">
              <a:ln>
                <a:noFill/>
              </a:ln>
              <a:solidFill>
                <a:srgbClr val="3333CC"/>
              </a:solidFill>
              <a:effectLst/>
              <a:uLnTx/>
              <a:uFillTx/>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7743035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81DBD-2F0D-4546-AA36-B53450C95DEE}"/>
              </a:ext>
            </a:extLst>
          </p:cNvPr>
          <p:cNvSpPr>
            <a:spLocks noGrp="1"/>
          </p:cNvSpPr>
          <p:nvPr>
            <p:ph type="title"/>
          </p:nvPr>
        </p:nvSpPr>
        <p:spPr/>
        <p:txBody>
          <a:bodyPr/>
          <a:lstStyle/>
          <a:p>
            <a:r>
              <a:rPr lang="zh-CN" altLang="en-US" dirty="0"/>
              <a:t>工作组归约</a:t>
            </a:r>
          </a:p>
        </p:txBody>
      </p:sp>
      <p:sp>
        <p:nvSpPr>
          <p:cNvPr id="3" name="内容占位符 2">
            <a:extLst>
              <a:ext uri="{FF2B5EF4-FFF2-40B4-BE49-F238E27FC236}">
                <a16:creationId xmlns:a16="http://schemas.microsoft.com/office/drawing/2014/main" id="{A3FD33B7-4E12-4B83-AA9C-42DADE24745B}"/>
              </a:ext>
            </a:extLst>
          </p:cNvPr>
          <p:cNvSpPr>
            <a:spLocks noGrp="1"/>
          </p:cNvSpPr>
          <p:nvPr>
            <p:ph idx="1"/>
          </p:nvPr>
        </p:nvSpPr>
        <p:spPr>
          <a:xfrm>
            <a:off x="467544" y="1371600"/>
            <a:ext cx="8487544" cy="4724400"/>
          </a:xfrm>
        </p:spPr>
        <p:txBody>
          <a:bodyPr/>
          <a:lstStyle/>
          <a:p>
            <a:r>
              <a:rPr lang="zh-CN" altLang="en-US" sz="2400" dirty="0"/>
              <a:t>可使用</a:t>
            </a:r>
            <a:br>
              <a:rPr lang="en-US" altLang="zh-CN" sz="2400" dirty="0"/>
            </a:br>
            <a:r>
              <a:rPr lang="en-US" altLang="zh-CN" sz="2400" dirty="0">
                <a:solidFill>
                  <a:srgbClr val="795E26"/>
                </a:solidFill>
                <a:latin typeface="Consolas" panose="020B0609020204030204" pitchFamily="49" charset="0"/>
                <a:sym typeface="Helvetica"/>
              </a:rPr>
              <a:t>ND-Range</a:t>
            </a:r>
            <a:r>
              <a:rPr kumimoji="0" lang="en-US" altLang="zh-CN" sz="2400" b="0" i="0" u="none" strike="noStrike" kern="0" cap="none" spc="0" normalizeH="0" baseline="0" noProof="0" dirty="0">
                <a:ln>
                  <a:noFill/>
                </a:ln>
                <a:solidFill>
                  <a:srgbClr val="FFFFFF"/>
                </a:solidFill>
                <a:effectLst/>
                <a:uLnTx/>
                <a:uFillTx/>
                <a:latin typeface="Intel Clear Light" panose="020B0404020203020204" pitchFamily="34" charset="0"/>
                <a:sym typeface="Helvetica"/>
              </a:rPr>
              <a:t> </a:t>
            </a:r>
            <a:r>
              <a:rPr lang="en-US" altLang="zh-CN" sz="2400" dirty="0"/>
              <a:t>kernel</a:t>
            </a:r>
            <a:br>
              <a:rPr lang="en-US" altLang="zh-CN" sz="2400" dirty="0"/>
            </a:br>
            <a:r>
              <a:rPr lang="zh-CN" altLang="en-US" sz="2400" dirty="0"/>
              <a:t>计算一个工作组</a:t>
            </a:r>
            <a:br>
              <a:rPr lang="en-US" altLang="zh-CN" sz="2400" dirty="0"/>
            </a:br>
            <a:r>
              <a:rPr lang="zh-CN" altLang="en-US" sz="2400" dirty="0"/>
              <a:t>所有项的和</a:t>
            </a:r>
            <a:endParaRPr lang="en-US" altLang="zh-CN" sz="2400" dirty="0"/>
          </a:p>
          <a:p>
            <a:r>
              <a:rPr lang="en-US" altLang="zh-CN" sz="1800" i="1" dirty="0" err="1">
                <a:solidFill>
                  <a:srgbClr val="795E26"/>
                </a:solidFill>
                <a:latin typeface="Consolas" panose="020B0609020204030204" pitchFamily="49" charset="0"/>
                <a:sym typeface="Helvetica"/>
              </a:rPr>
              <a:t>reduce_over_group</a:t>
            </a:r>
            <a:r>
              <a:rPr lang="en-US" altLang="zh-CN" sz="1800" i="1" dirty="0">
                <a:solidFill>
                  <a:srgbClr val="795E26"/>
                </a:solidFill>
                <a:latin typeface="Consolas" panose="020B0609020204030204" pitchFamily="49" charset="0"/>
                <a:sym typeface="Helvetica"/>
              </a:rPr>
              <a:t>()</a:t>
            </a:r>
            <a:endParaRPr lang="en-US" altLang="zh-CN" sz="2000" dirty="0">
              <a:latin typeface="黑体" panose="02010609060101010101" pitchFamily="49" charset="-122"/>
              <a:ea typeface="黑体" panose="02010609060101010101" pitchFamily="49" charset="-122"/>
            </a:endParaRPr>
          </a:p>
          <a:p>
            <a:r>
              <a:rPr lang="zh-CN" altLang="en-US" sz="2400" dirty="0"/>
              <a:t>然后用</a:t>
            </a:r>
            <a:r>
              <a:rPr lang="en-US" altLang="zh-CN" sz="2000" dirty="0">
                <a:solidFill>
                  <a:srgbClr val="795E26"/>
                </a:solidFill>
                <a:latin typeface="Consolas" panose="020B0609020204030204" pitchFamily="49" charset="0"/>
              </a:rPr>
              <a:t>single_task</a:t>
            </a:r>
            <a:br>
              <a:rPr lang="en-US" altLang="zh-CN" sz="2400" dirty="0"/>
            </a:br>
            <a:r>
              <a:rPr lang="en-US" altLang="zh-CN" sz="2400" dirty="0"/>
              <a:t>kernel</a:t>
            </a:r>
            <a:r>
              <a:rPr lang="zh-CN" altLang="en-US" sz="2400" dirty="0"/>
              <a:t>函数中的</a:t>
            </a:r>
            <a:br>
              <a:rPr lang="en-US" altLang="zh-CN" sz="2400" dirty="0"/>
            </a:br>
            <a:r>
              <a:rPr lang="zh-CN" altLang="en-US" sz="2400" dirty="0"/>
              <a:t>一个简单</a:t>
            </a:r>
            <a:r>
              <a:rPr lang="en-US" altLang="zh-CN" sz="2400" dirty="0"/>
              <a:t>for-</a:t>
            </a:r>
            <a:r>
              <a:rPr lang="zh-CN" altLang="en-US" sz="2400" dirty="0"/>
              <a:t>循环</a:t>
            </a:r>
            <a:br>
              <a:rPr lang="en-US" altLang="zh-CN" sz="2400" dirty="0"/>
            </a:br>
            <a:r>
              <a:rPr lang="zh-CN" altLang="en-US" sz="2400" dirty="0"/>
              <a:t>实现对所有工作组</a:t>
            </a:r>
            <a:br>
              <a:rPr lang="en-US" altLang="zh-CN" sz="2400" dirty="0"/>
            </a:br>
            <a:r>
              <a:rPr lang="zh-CN" altLang="en-US" sz="2400" dirty="0"/>
              <a:t>求和结果的最终</a:t>
            </a:r>
            <a:br>
              <a:rPr lang="en-US" altLang="zh-CN" sz="2400" dirty="0"/>
            </a:br>
            <a:r>
              <a:rPr lang="zh-CN" altLang="en-US" sz="2400" dirty="0"/>
              <a:t>归约</a:t>
            </a:r>
            <a:endParaRPr lang="en-US" altLang="zh-CN" sz="2400" dirty="0"/>
          </a:p>
        </p:txBody>
      </p:sp>
      <p:grpSp>
        <p:nvGrpSpPr>
          <p:cNvPr id="20" name="Group 8">
            <a:extLst>
              <a:ext uri="{FF2B5EF4-FFF2-40B4-BE49-F238E27FC236}">
                <a16:creationId xmlns:a16="http://schemas.microsoft.com/office/drawing/2014/main" id="{395FA331-B5B9-4C33-AC9B-CF12911EE2D1}"/>
              </a:ext>
            </a:extLst>
          </p:cNvPr>
          <p:cNvGrpSpPr/>
          <p:nvPr/>
        </p:nvGrpSpPr>
        <p:grpSpPr>
          <a:xfrm>
            <a:off x="3347863" y="1343681"/>
            <a:ext cx="5832649" cy="5253671"/>
            <a:chOff x="5242989" y="505096"/>
            <a:chExt cx="5621214" cy="6763208"/>
          </a:xfrm>
        </p:grpSpPr>
        <p:sp>
          <p:nvSpPr>
            <p:cNvPr id="21" name="Rectangle: Single Corner Snipped 9">
              <a:extLst>
                <a:ext uri="{FF2B5EF4-FFF2-40B4-BE49-F238E27FC236}">
                  <a16:creationId xmlns:a16="http://schemas.microsoft.com/office/drawing/2014/main" id="{6A57618C-5DB5-42F1-A5C6-B5BDD0217775}"/>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0">
              <a:extLst>
                <a:ext uri="{FF2B5EF4-FFF2-40B4-BE49-F238E27FC236}">
                  <a16:creationId xmlns:a16="http://schemas.microsoft.com/office/drawing/2014/main" id="{681724BA-1EC0-4FB8-9D41-E329FD7E68B2}"/>
                </a:ext>
              </a:extLst>
            </p:cNvPr>
            <p:cNvSpPr txBox="1"/>
            <p:nvPr/>
          </p:nvSpPr>
          <p:spPr>
            <a:xfrm>
              <a:off x="5390906" y="611430"/>
              <a:ext cx="5473297" cy="6420233"/>
            </a:xfrm>
            <a:prstGeom prst="rect">
              <a:avLst/>
            </a:prstGeom>
            <a:noFill/>
          </p:spPr>
          <p:txBody>
            <a:bodyPr vert="horz" wrap="square" lIns="0" tIns="0" rIns="0" bIns="0" rtlCol="0">
              <a:spAutoFit/>
            </a:bodyPr>
            <a:lstStyle/>
            <a:p>
              <a:pPr>
                <a:lnSpc>
                  <a:spcPct val="150000"/>
                </a:lnSpc>
                <a:spcBef>
                  <a:spcPts val="0"/>
                </a:spcBef>
              </a:pPr>
              <a:r>
                <a:rPr lang="en-US" altLang="zh-CN" sz="1200" dirty="0">
                  <a:solidFill>
                    <a:srgbClr val="001080"/>
                  </a:solidFill>
                  <a:latin typeface="Consolas" panose="020B0609020204030204" pitchFamily="49" charset="0"/>
                </a:rPr>
                <a:t>  </a:t>
              </a: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parallel_for</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nd_range</a:t>
              </a:r>
              <a:r>
                <a:rPr lang="en-US" altLang="zh-CN" sz="1200" dirty="0">
                  <a:solidFill>
                    <a:srgbClr val="000000"/>
                  </a:solidFill>
                  <a:latin typeface="Consolas" panose="020B0609020204030204" pitchFamily="49" charset="0"/>
                </a:rPr>
                <a:t>&lt;</a:t>
              </a:r>
              <a:r>
                <a:rPr lang="en-US" altLang="zh-CN" sz="1200" dirty="0">
                  <a:solidFill>
                    <a:srgbClr val="098658"/>
                  </a:solidFill>
                  <a:latin typeface="Consolas" panose="020B0609020204030204" pitchFamily="49" charset="0"/>
                </a:rPr>
                <a:t>1</a:t>
              </a:r>
              <a:r>
                <a:rPr lang="en-US" altLang="zh-CN" sz="1200" dirty="0">
                  <a:solidFill>
                    <a:srgbClr val="000000"/>
                  </a:solidFill>
                  <a:latin typeface="Consolas" panose="020B0609020204030204" pitchFamily="49" charset="0"/>
                </a:rPr>
                <a:t>&gt;(N, B), [=](</a:t>
              </a:r>
              <a:r>
                <a:rPr lang="en-US" altLang="zh-CN" sz="1200" dirty="0" err="1">
                  <a:solidFill>
                    <a:srgbClr val="267F99"/>
                  </a:solidFill>
                  <a:latin typeface="Consolas" panose="020B0609020204030204" pitchFamily="49" charset="0"/>
                </a:rPr>
                <a:t>nd_item</a:t>
              </a:r>
              <a:r>
                <a:rPr lang="en-US" altLang="zh-CN" sz="1200" dirty="0">
                  <a:solidFill>
                    <a:srgbClr val="000000"/>
                  </a:solidFill>
                  <a:latin typeface="Consolas" panose="020B0609020204030204" pitchFamily="49" charset="0"/>
                </a:rPr>
                <a:t>&lt;</a:t>
              </a:r>
              <a:r>
                <a:rPr lang="en-US" altLang="zh-CN" sz="1200" dirty="0">
                  <a:solidFill>
                    <a:srgbClr val="098658"/>
                  </a:solidFill>
                  <a:latin typeface="Consolas" panose="020B0609020204030204" pitchFamily="49" charset="0"/>
                </a:rPr>
                <a:t>1</a:t>
              </a:r>
              <a:r>
                <a:rPr lang="en-US" altLang="zh-CN" sz="1200" dirty="0">
                  <a:solidFill>
                    <a:srgbClr val="000000"/>
                  </a:solidFill>
                  <a:latin typeface="Consolas" panose="020B0609020204030204" pitchFamily="49" charset="0"/>
                </a:rPr>
                <a:t>&gt; </a:t>
              </a:r>
              <a:r>
                <a:rPr lang="en-US" altLang="zh-CN" sz="1200" dirty="0">
                  <a:solidFill>
                    <a:srgbClr val="001080"/>
                  </a:solidFill>
                  <a:latin typeface="Consolas" panose="020B0609020204030204" pitchFamily="49" charset="0"/>
                </a:rPr>
                <a:t>item</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auto</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wg</a:t>
              </a:r>
              <a:r>
                <a:rPr lang="en-US" altLang="zh-CN" sz="1200" dirty="0">
                  <a:solidFill>
                    <a:srgbClr val="000000"/>
                  </a:solidFill>
                  <a:latin typeface="Consolas" panose="020B0609020204030204" pitchFamily="49" charset="0"/>
                </a:rPr>
                <a:t> = </a:t>
              </a:r>
              <a:r>
                <a:rPr lang="en-US" altLang="zh-CN" sz="1200" dirty="0" err="1">
                  <a:solidFill>
                    <a:srgbClr val="001080"/>
                  </a:solidFill>
                  <a:latin typeface="Consolas" panose="020B0609020204030204" pitchFamily="49" charset="0"/>
                </a:rPr>
                <a:t>item</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get_group</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err="1">
                  <a:solidFill>
                    <a:srgbClr val="0000FF"/>
                  </a:solidFill>
                  <a:latin typeface="Consolas" panose="020B0609020204030204" pitchFamily="49" charset="0"/>
                </a:rPr>
                <a:t>size_t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err="1">
                  <a:solidFill>
                    <a:srgbClr val="001080"/>
                  </a:solidFill>
                  <a:latin typeface="Consolas" panose="020B0609020204030204" pitchFamily="49" charset="0"/>
                </a:rPr>
                <a:t>item</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get_global_id</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8000"/>
                  </a:solidFill>
                  <a:latin typeface="Consolas" panose="020B0609020204030204" pitchFamily="49" charset="0"/>
                </a:rPr>
                <a:t>    //# Adds all elements in </a:t>
              </a:r>
              <a:r>
                <a:rPr lang="en-US" altLang="zh-CN" sz="1200" dirty="0" err="1">
                  <a:solidFill>
                    <a:srgbClr val="008000"/>
                  </a:solidFill>
                  <a:latin typeface="Consolas" panose="020B0609020204030204" pitchFamily="49" charset="0"/>
                </a:rPr>
                <a:t>work_group</a:t>
              </a:r>
              <a:r>
                <a:rPr lang="en-US" altLang="zh-CN" sz="1200" dirty="0">
                  <a:solidFill>
                    <a:srgbClr val="008000"/>
                  </a:solidFill>
                  <a:latin typeface="Consolas" panose="020B0609020204030204" pitchFamily="49" charset="0"/>
                </a:rPr>
                <a:t> using </a:t>
              </a:r>
              <a:r>
                <a:rPr lang="en-US" altLang="zh-CN" sz="1200" dirty="0" err="1">
                  <a:solidFill>
                    <a:srgbClr val="008000"/>
                  </a:solidFill>
                  <a:latin typeface="Consolas" panose="020B0609020204030204" pitchFamily="49" charset="0"/>
                </a:rPr>
                <a:t>work_group</a:t>
              </a:r>
              <a:r>
                <a:rPr lang="en-US" altLang="zh-CN" sz="1200" dirty="0">
                  <a:solidFill>
                    <a:srgbClr val="008000"/>
                  </a:solidFill>
                  <a:latin typeface="Consolas" panose="020B0609020204030204" pitchFamily="49" charset="0"/>
                </a:rPr>
                <a:t> reduce</a:t>
              </a:r>
              <a:endParaRPr lang="en-US" altLang="zh-CN" sz="1200" dirty="0">
                <a:solidFill>
                  <a:srgbClr val="000000"/>
                </a:solidFill>
                <a:latin typeface="Consolas" panose="020B0609020204030204" pitchFamily="49" charset="0"/>
              </a:endParaRP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sum_wg</a:t>
              </a:r>
              <a:r>
                <a:rPr lang="en-US" altLang="zh-CN" sz="1200" dirty="0">
                  <a:solidFill>
                    <a:srgbClr val="000000"/>
                  </a:solidFill>
                  <a:latin typeface="Consolas" panose="020B0609020204030204" pitchFamily="49" charset="0"/>
                </a:rPr>
                <a:t> = </a:t>
              </a:r>
              <a:r>
                <a:rPr lang="en-US" altLang="zh-CN" sz="1200" dirty="0" err="1">
                  <a:solidFill>
                    <a:srgbClr val="795E26"/>
                  </a:solidFill>
                  <a:latin typeface="Consolas" panose="020B0609020204030204" pitchFamily="49" charset="0"/>
                </a:rPr>
                <a:t>reduce_over_group</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wg</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795E26"/>
                  </a:solidFill>
                  <a:latin typeface="Consolas" panose="020B0609020204030204" pitchFamily="49" charset="0"/>
                </a:rPr>
                <a:t>plus</a:t>
              </a:r>
              <a:r>
                <a:rPr lang="en-US" altLang="zh-CN" sz="1200" dirty="0">
                  <a:solidFill>
                    <a:srgbClr val="000000"/>
                  </a:solidFill>
                  <a:latin typeface="Consolas" panose="020B0609020204030204" pitchFamily="49" charset="0"/>
                </a:rPr>
                <a:t>&lt;&gt;());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8000"/>
                  </a:solidFill>
                  <a:latin typeface="Consolas" panose="020B0609020204030204" pitchFamily="49" charset="0"/>
                </a:rPr>
                <a:t>    //# write </a:t>
              </a:r>
              <a:r>
                <a:rPr lang="en-US" altLang="zh-CN" sz="1200" dirty="0" err="1">
                  <a:solidFill>
                    <a:srgbClr val="008000"/>
                  </a:solidFill>
                  <a:latin typeface="Consolas" panose="020B0609020204030204" pitchFamily="49" charset="0"/>
                </a:rPr>
                <a:t>work_group</a:t>
              </a:r>
              <a:r>
                <a:rPr lang="en-US" altLang="zh-CN" sz="1200" dirty="0">
                  <a:solidFill>
                    <a:srgbClr val="008000"/>
                  </a:solidFill>
                  <a:latin typeface="Consolas" panose="020B0609020204030204" pitchFamily="49" charset="0"/>
                </a:rPr>
                <a:t> sum to first location for each </a:t>
              </a:r>
              <a:r>
                <a:rPr lang="en-US" altLang="zh-CN" sz="1200" dirty="0" err="1">
                  <a:solidFill>
                    <a:srgbClr val="008000"/>
                  </a:solidFill>
                  <a:latin typeface="Consolas" panose="020B0609020204030204" pitchFamily="49" charset="0"/>
                </a:rPr>
                <a:t>work_group</a:t>
              </a:r>
              <a:endParaRPr lang="en-US" altLang="zh-CN" sz="1200" dirty="0">
                <a:solidFill>
                  <a:srgbClr val="000000"/>
                </a:solidFill>
                <a:latin typeface="Consolas" panose="020B0609020204030204" pitchFamily="49" charset="0"/>
              </a:endParaRP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AF00DB"/>
                  </a:solidFill>
                  <a:latin typeface="Consolas" panose="020B0609020204030204" pitchFamily="49" charset="0"/>
                </a:rPr>
                <a:t>if</a:t>
              </a:r>
              <a:r>
                <a:rPr lang="en-US" altLang="zh-CN" sz="1200" dirty="0">
                  <a:solidFill>
                    <a:srgbClr val="000000"/>
                  </a:solidFill>
                  <a:latin typeface="Consolas" panose="020B0609020204030204" pitchFamily="49" charset="0"/>
                </a:rPr>
                <a:t> (</a:t>
              </a:r>
              <a:r>
                <a:rPr lang="en-US" altLang="zh-CN" sz="1200" dirty="0" err="1">
                  <a:solidFill>
                    <a:srgbClr val="001080"/>
                  </a:solidFill>
                  <a:latin typeface="Consolas" panose="020B0609020204030204" pitchFamily="49" charset="0"/>
                </a:rPr>
                <a:t>item</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get_local_id</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err="1">
                  <a:solidFill>
                    <a:srgbClr val="000000"/>
                  </a:solidFill>
                  <a:latin typeface="Consolas" panose="020B0609020204030204" pitchFamily="49" charset="0"/>
                </a:rPr>
                <a:t>sum_wg</a:t>
              </a:r>
              <a:r>
                <a:rPr lang="en-US" altLang="zh-CN" sz="1200" dirty="0">
                  <a:solidFill>
                    <a:srgbClr val="000000"/>
                  </a:solidFill>
                  <a:latin typeface="Consolas" panose="020B0609020204030204" pitchFamily="49" charset="0"/>
                </a:rPr>
                <a:t>;</a:t>
              </a:r>
              <a:br>
                <a:rPr lang="en-US" altLang="zh-CN" sz="1200" dirty="0">
                  <a:solidFill>
                    <a:srgbClr val="000000"/>
                  </a:solidFill>
                  <a:latin typeface="Consolas" panose="020B0609020204030204" pitchFamily="49" charset="0"/>
                </a:rPr>
              </a:br>
              <a:r>
                <a:rPr lang="en-US" altLang="zh-CN" sz="1200" dirty="0">
                  <a:solidFill>
                    <a:srgbClr val="000000"/>
                  </a:solidFill>
                  <a:latin typeface="Consolas" panose="020B0609020204030204" pitchFamily="49" charset="0"/>
                </a:rPr>
                <a:t>  });</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0000"/>
                  </a:solidFill>
                  <a:latin typeface="Consolas" panose="020B0609020204030204" pitchFamily="49" charset="0"/>
                </a:rPr>
                <a:t>  </a:t>
              </a: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single_task</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sum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;i&lt;</a:t>
              </a:r>
              <a:r>
                <a:rPr lang="en-US" altLang="zh-CN" sz="1200" dirty="0" err="1">
                  <a:solidFill>
                    <a:srgbClr val="000000"/>
                  </a:solidFill>
                  <a:latin typeface="Consolas" panose="020B0609020204030204" pitchFamily="49" charset="0"/>
                </a:rPr>
                <a:t>N;i</a:t>
              </a:r>
              <a:r>
                <a:rPr lang="en-US" altLang="zh-CN" sz="1200" dirty="0">
                  <a:solidFill>
                    <a:srgbClr val="000000"/>
                  </a:solidFill>
                  <a:latin typeface="Consolas" panose="020B0609020204030204" pitchFamily="49" charset="0"/>
                </a:rPr>
                <a:t>+=B){</a:t>
              </a:r>
            </a:p>
            <a:p>
              <a:pPr>
                <a:lnSpc>
                  <a:spcPct val="150000"/>
                </a:lnSpc>
                <a:spcBef>
                  <a:spcPts val="0"/>
                </a:spcBef>
              </a:pPr>
              <a:r>
                <a:rPr lang="en-US" altLang="zh-CN" sz="1200" dirty="0">
                  <a:solidFill>
                    <a:srgbClr val="000000"/>
                  </a:solidFill>
                  <a:latin typeface="Consolas" panose="020B0609020204030204" pitchFamily="49" charset="0"/>
                </a:rPr>
                <a:t>        sum +=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 sum;</a:t>
              </a:r>
            </a:p>
            <a:p>
              <a:pPr>
                <a:lnSpc>
                  <a:spcPct val="150000"/>
                </a:lnSpc>
                <a:spcBef>
                  <a:spcPts val="0"/>
                </a:spcBef>
              </a:pPr>
              <a:r>
                <a:rPr lang="en-US" altLang="zh-CN" sz="1200" dirty="0">
                  <a:solidFill>
                    <a:srgbClr val="000000"/>
                  </a:solidFill>
                  <a:latin typeface="Consolas" panose="020B0609020204030204" pitchFamily="49" charset="0"/>
                </a:rPr>
                <a:t>  });</a:t>
              </a:r>
            </a:p>
          </p:txBody>
        </p:sp>
      </p:grpSp>
      <p:sp>
        <p:nvSpPr>
          <p:cNvPr id="8" name="Rectangle: Rounded Corners 11">
            <a:extLst>
              <a:ext uri="{FF2B5EF4-FFF2-40B4-BE49-F238E27FC236}">
                <a16:creationId xmlns:a16="http://schemas.microsoft.com/office/drawing/2014/main" id="{373FFCFD-F761-416D-96C9-F4F48840AD5F}"/>
              </a:ext>
            </a:extLst>
          </p:cNvPr>
          <p:cNvSpPr/>
          <p:nvPr/>
        </p:nvSpPr>
        <p:spPr>
          <a:xfrm>
            <a:off x="3501343" y="1426280"/>
            <a:ext cx="5607225" cy="279480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cxnSp>
        <p:nvCxnSpPr>
          <p:cNvPr id="9" name="Straight Arrow Connector 8">
            <a:extLst>
              <a:ext uri="{FF2B5EF4-FFF2-40B4-BE49-F238E27FC236}">
                <a16:creationId xmlns:a16="http://schemas.microsoft.com/office/drawing/2014/main" id="{183865E4-BD9E-4C1E-8034-8ABA8E0D1946}"/>
              </a:ext>
            </a:extLst>
          </p:cNvPr>
          <p:cNvCxnSpPr>
            <a:cxnSpLocks/>
          </p:cNvCxnSpPr>
          <p:nvPr/>
        </p:nvCxnSpPr>
        <p:spPr>
          <a:xfrm>
            <a:off x="3059832" y="2074353"/>
            <a:ext cx="441512" cy="0"/>
          </a:xfrm>
          <a:prstGeom prst="straightConnector1">
            <a:avLst/>
          </a:prstGeom>
          <a:noFill/>
          <a:ln w="25400" cap="flat" cmpd="sng" algn="ctr">
            <a:solidFill>
              <a:srgbClr val="D96930"/>
            </a:solidFill>
            <a:prstDash val="solid"/>
            <a:tailEnd type="triangle"/>
          </a:ln>
          <a:effectLst/>
        </p:spPr>
      </p:cxnSp>
      <p:cxnSp>
        <p:nvCxnSpPr>
          <p:cNvPr id="11" name="Straight Arrow Connector 8">
            <a:extLst>
              <a:ext uri="{FF2B5EF4-FFF2-40B4-BE49-F238E27FC236}">
                <a16:creationId xmlns:a16="http://schemas.microsoft.com/office/drawing/2014/main" id="{FEC029E9-D981-48F6-90D5-3B6D12AE6AC5}"/>
              </a:ext>
            </a:extLst>
          </p:cNvPr>
          <p:cNvCxnSpPr>
            <a:cxnSpLocks/>
          </p:cNvCxnSpPr>
          <p:nvPr/>
        </p:nvCxnSpPr>
        <p:spPr>
          <a:xfrm flipV="1">
            <a:off x="3280587" y="2924944"/>
            <a:ext cx="571333" cy="216024"/>
          </a:xfrm>
          <a:prstGeom prst="straightConnector1">
            <a:avLst/>
          </a:prstGeom>
          <a:noFill/>
          <a:ln w="25400" cap="flat" cmpd="sng" algn="ctr">
            <a:solidFill>
              <a:srgbClr val="D96930"/>
            </a:solidFill>
            <a:prstDash val="solid"/>
            <a:tailEnd type="triangle"/>
          </a:ln>
          <a:effectLst/>
        </p:spPr>
      </p:cxnSp>
      <p:sp>
        <p:nvSpPr>
          <p:cNvPr id="13" name="Rectangle: Rounded Corners 11">
            <a:extLst>
              <a:ext uri="{FF2B5EF4-FFF2-40B4-BE49-F238E27FC236}">
                <a16:creationId xmlns:a16="http://schemas.microsoft.com/office/drawing/2014/main" id="{961C86E5-3567-49B6-8DF5-3E83755EB22A}"/>
              </a:ext>
            </a:extLst>
          </p:cNvPr>
          <p:cNvSpPr/>
          <p:nvPr/>
        </p:nvSpPr>
        <p:spPr>
          <a:xfrm>
            <a:off x="3501279" y="4322346"/>
            <a:ext cx="2366865" cy="217377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cxnSp>
        <p:nvCxnSpPr>
          <p:cNvPr id="14" name="Straight Arrow Connector 8">
            <a:extLst>
              <a:ext uri="{FF2B5EF4-FFF2-40B4-BE49-F238E27FC236}">
                <a16:creationId xmlns:a16="http://schemas.microsoft.com/office/drawing/2014/main" id="{2339555D-1122-4D72-8A40-7D2D7B54D292}"/>
              </a:ext>
            </a:extLst>
          </p:cNvPr>
          <p:cNvCxnSpPr>
            <a:cxnSpLocks/>
          </p:cNvCxnSpPr>
          <p:nvPr/>
        </p:nvCxnSpPr>
        <p:spPr>
          <a:xfrm>
            <a:off x="3059768" y="4970419"/>
            <a:ext cx="441512" cy="0"/>
          </a:xfrm>
          <a:prstGeom prst="straightConnector1">
            <a:avLst/>
          </a:prstGeom>
          <a:noFill/>
          <a:ln w="25400" cap="flat" cmpd="sng" algn="ctr">
            <a:solidFill>
              <a:srgbClr val="D96930"/>
            </a:solidFill>
            <a:prstDash val="solid"/>
            <a:tailEnd type="triangle"/>
          </a:ln>
          <a:effectLst/>
        </p:spPr>
      </p:cxnSp>
      <p:sp>
        <p:nvSpPr>
          <p:cNvPr id="16" name="TextBox 17">
            <a:extLst>
              <a:ext uri="{FF2B5EF4-FFF2-40B4-BE49-F238E27FC236}">
                <a16:creationId xmlns:a16="http://schemas.microsoft.com/office/drawing/2014/main" id="{9754C461-997A-468C-8231-CA48209FF690}"/>
              </a:ext>
            </a:extLst>
          </p:cNvPr>
          <p:cNvSpPr txBox="1"/>
          <p:nvPr/>
        </p:nvSpPr>
        <p:spPr>
          <a:xfrm rot="19984994">
            <a:off x="6590845" y="4966045"/>
            <a:ext cx="1866964" cy="646331"/>
          </a:xfrm>
          <a:prstGeom prst="rect">
            <a:avLst/>
          </a:prstGeom>
          <a:noFill/>
        </p:spPr>
        <p:txBody>
          <a:bodyPr vert="horz" wrap="square" lIns="0" tIns="0" rIns="0" bIns="0" rtlCol="0">
            <a:spAutoFit/>
          </a:bodyPr>
          <a:lstStyle/>
          <a:p>
            <a:pPr algn="ctr" defTabSz="1219169" eaLnBrk="1" fontAlgn="auto">
              <a:spcBef>
                <a:spcPts val="2250"/>
              </a:spcBef>
              <a:spcAft>
                <a:spcPts val="0"/>
              </a:spcAft>
            </a:pPr>
            <a:r>
              <a:rPr kumimoji="0" lang="zh-CN" altLang="en-US" sz="1400" b="1" kern="0" dirty="0">
                <a:solidFill>
                  <a:srgbClr val="D96930"/>
                </a:solidFill>
                <a:latin typeface="Intel Clear Light"/>
                <a:sym typeface="Helvetica Neue"/>
              </a:rPr>
              <a:t>实现了一定的并行化，但代码还是比较复杂，用了两个</a:t>
            </a:r>
            <a:r>
              <a:rPr kumimoji="0" lang="en-US" sz="1400" b="1" kern="0" dirty="0">
                <a:solidFill>
                  <a:srgbClr val="D96930"/>
                </a:solidFill>
                <a:latin typeface="Intel Clear Light"/>
                <a:sym typeface="Helvetica Neue"/>
              </a:rPr>
              <a:t>kernel </a:t>
            </a:r>
            <a:r>
              <a:rPr kumimoji="0" lang="zh-CN" altLang="en-US" sz="1400" b="1" kern="0" dirty="0">
                <a:solidFill>
                  <a:srgbClr val="D96930"/>
                </a:solidFill>
                <a:latin typeface="Intel Clear Light"/>
                <a:sym typeface="Helvetica Neue"/>
              </a:rPr>
              <a:t>函数</a:t>
            </a:r>
            <a:endParaRPr kumimoji="0" lang="en-US" sz="1400" b="1" kern="0" dirty="0">
              <a:solidFill>
                <a:srgbClr val="D96930"/>
              </a:solidFill>
              <a:latin typeface="Intel Clear Light"/>
              <a:sym typeface="Helvetica Neue"/>
            </a:endParaRPr>
          </a:p>
        </p:txBody>
      </p:sp>
    </p:spTree>
    <p:extLst>
      <p:ext uri="{BB962C8B-B14F-4D97-AF65-F5344CB8AC3E}">
        <p14:creationId xmlns:p14="http://schemas.microsoft.com/office/powerpoint/2010/main" val="165666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6"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81DBD-2F0D-4546-AA36-B53450C95DEE}"/>
              </a:ext>
            </a:extLst>
          </p:cNvPr>
          <p:cNvSpPr>
            <a:spLocks noGrp="1"/>
          </p:cNvSpPr>
          <p:nvPr>
            <p:ph type="title"/>
          </p:nvPr>
        </p:nvSpPr>
        <p:spPr/>
        <p:txBody>
          <a:bodyPr/>
          <a:lstStyle/>
          <a:p>
            <a:r>
              <a:rPr lang="en-US" altLang="zh-CN" dirty="0"/>
              <a:t>kernel</a:t>
            </a:r>
            <a:r>
              <a:rPr lang="zh-CN" altLang="en-US" dirty="0"/>
              <a:t>归约</a:t>
            </a:r>
          </a:p>
        </p:txBody>
      </p:sp>
      <p:sp>
        <p:nvSpPr>
          <p:cNvPr id="3" name="内容占位符 2">
            <a:extLst>
              <a:ext uri="{FF2B5EF4-FFF2-40B4-BE49-F238E27FC236}">
                <a16:creationId xmlns:a16="http://schemas.microsoft.com/office/drawing/2014/main" id="{A3FD33B7-4E12-4B83-AA9C-42DADE24745B}"/>
              </a:ext>
            </a:extLst>
          </p:cNvPr>
          <p:cNvSpPr>
            <a:spLocks noGrp="1"/>
          </p:cNvSpPr>
          <p:nvPr>
            <p:ph idx="1"/>
          </p:nvPr>
        </p:nvSpPr>
        <p:spPr>
          <a:xfrm>
            <a:off x="467544" y="1371600"/>
            <a:ext cx="8487544" cy="4724400"/>
          </a:xfrm>
        </p:spPr>
        <p:txBody>
          <a:bodyPr/>
          <a:lstStyle/>
          <a:p>
            <a:r>
              <a:rPr lang="en-US" altLang="zh-CN" sz="2400" dirty="0"/>
              <a:t>SYCL 2020</a:t>
            </a:r>
            <a:r>
              <a:rPr lang="zh-CN" altLang="en-US" sz="2400" dirty="0"/>
              <a:t>在</a:t>
            </a:r>
            <a:br>
              <a:rPr lang="en-US" altLang="zh-CN" sz="2400" dirty="0"/>
            </a:br>
            <a:r>
              <a:rPr lang="en-US" altLang="zh-CN" sz="2400" dirty="0" err="1"/>
              <a:t>parallel_for</a:t>
            </a:r>
            <a:r>
              <a:rPr lang="zh-CN" altLang="en-US" sz="2400" dirty="0"/>
              <a:t>中引入</a:t>
            </a:r>
            <a:br>
              <a:rPr lang="en-US" altLang="zh-CN" sz="2400" dirty="0"/>
            </a:br>
            <a:r>
              <a:rPr lang="zh-CN" altLang="en-US" sz="2400" dirty="0"/>
              <a:t>了归约对象</a:t>
            </a:r>
            <a:endParaRPr lang="en-US" altLang="zh-CN" sz="2400" dirty="0"/>
          </a:p>
          <a:p>
            <a:r>
              <a:rPr lang="en-US" altLang="zh-CN" sz="2000" i="1" dirty="0">
                <a:solidFill>
                  <a:srgbClr val="795E26"/>
                </a:solidFill>
                <a:latin typeface="Consolas" panose="020B0609020204030204" pitchFamily="49" charset="0"/>
                <a:sym typeface="Helvetica"/>
              </a:rPr>
              <a:t>reduction</a:t>
            </a: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对象</a:t>
            </a:r>
            <a:b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b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封装了归约变量</a:t>
            </a:r>
            <a:b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b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和归约运算符</a:t>
            </a:r>
            <a:endParaRPr lang="en-US" altLang="zh-CN" sz="2000" dirty="0">
              <a:latin typeface="黑体" panose="02010609060101010101" pitchFamily="49" charset="-122"/>
              <a:ea typeface="黑体" panose="02010609060101010101" pitchFamily="49" charset="-122"/>
            </a:endParaRPr>
          </a:p>
          <a:p>
            <a:r>
              <a:rPr lang="zh-CN" altLang="en-US" sz="2400" dirty="0"/>
              <a:t>不再需要使用</a:t>
            </a:r>
            <a:br>
              <a:rPr lang="en-US" altLang="zh-CN" sz="2400" dirty="0"/>
            </a:br>
            <a:r>
              <a:rPr lang="zh-CN" altLang="en-US" sz="2400" dirty="0"/>
              <a:t>两个</a:t>
            </a:r>
            <a:r>
              <a:rPr lang="en-US" altLang="zh-CN" sz="2400" dirty="0"/>
              <a:t>kernel</a:t>
            </a:r>
            <a:r>
              <a:rPr lang="zh-CN" altLang="en-US" sz="2400" dirty="0"/>
              <a:t>函数</a:t>
            </a:r>
            <a:endParaRPr lang="en-US" altLang="zh-CN" sz="2400" dirty="0"/>
          </a:p>
        </p:txBody>
      </p:sp>
      <p:grpSp>
        <p:nvGrpSpPr>
          <p:cNvPr id="20" name="Group 8">
            <a:extLst>
              <a:ext uri="{FF2B5EF4-FFF2-40B4-BE49-F238E27FC236}">
                <a16:creationId xmlns:a16="http://schemas.microsoft.com/office/drawing/2014/main" id="{395FA331-B5B9-4C33-AC9B-CF12911EE2D1}"/>
              </a:ext>
            </a:extLst>
          </p:cNvPr>
          <p:cNvGrpSpPr/>
          <p:nvPr/>
        </p:nvGrpSpPr>
        <p:grpSpPr>
          <a:xfrm>
            <a:off x="3347863" y="1343681"/>
            <a:ext cx="5832649" cy="5253671"/>
            <a:chOff x="5242989" y="505096"/>
            <a:chExt cx="5621214" cy="6763208"/>
          </a:xfrm>
        </p:grpSpPr>
        <p:sp>
          <p:nvSpPr>
            <p:cNvPr id="21" name="Rectangle: Single Corner Snipped 9">
              <a:extLst>
                <a:ext uri="{FF2B5EF4-FFF2-40B4-BE49-F238E27FC236}">
                  <a16:creationId xmlns:a16="http://schemas.microsoft.com/office/drawing/2014/main" id="{6A57618C-5DB5-42F1-A5C6-B5BDD0217775}"/>
                </a:ext>
              </a:extLst>
            </p:cNvPr>
            <p:cNvSpPr/>
            <p:nvPr/>
          </p:nvSpPr>
          <p:spPr>
            <a:xfrm>
              <a:off x="5242989" y="505096"/>
              <a:ext cx="5621213" cy="6763208"/>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0">
              <a:extLst>
                <a:ext uri="{FF2B5EF4-FFF2-40B4-BE49-F238E27FC236}">
                  <a16:creationId xmlns:a16="http://schemas.microsoft.com/office/drawing/2014/main" id="{681724BA-1EC0-4FB8-9D41-E329FD7E68B2}"/>
                </a:ext>
              </a:extLst>
            </p:cNvPr>
            <p:cNvSpPr txBox="1"/>
            <p:nvPr/>
          </p:nvSpPr>
          <p:spPr>
            <a:xfrm>
              <a:off x="5390906" y="611429"/>
              <a:ext cx="5473297" cy="5310617"/>
            </a:xfrm>
            <a:prstGeom prst="rect">
              <a:avLst/>
            </a:prstGeom>
            <a:noFill/>
          </p:spPr>
          <p:txBody>
            <a:bodyPr vert="horz" wrap="square" lIns="0" tIns="0" rIns="0" bIns="0" rtlCol="0">
              <a:spAutoFit/>
            </a:bodyPr>
            <a:lstStyle/>
            <a:p>
              <a:pPr lvl="0">
                <a:lnSpc>
                  <a:spcPct val="150000"/>
                </a:lnSpc>
                <a:spcBef>
                  <a:spcPts val="0"/>
                </a:spcBef>
              </a:pPr>
              <a:r>
                <a:rPr lang="en-US" altLang="zh-CN" sz="1200" dirty="0">
                  <a:solidFill>
                    <a:srgbClr val="000000"/>
                  </a:solidFill>
                  <a:latin typeface="Consolas" panose="020B0609020204030204" pitchFamily="49" charset="0"/>
                </a:rPr>
                <a:t>  queue </a:t>
              </a:r>
              <a:r>
                <a:rPr lang="en-US" altLang="zh-CN" sz="1200" dirty="0">
                  <a:solidFill>
                    <a:srgbClr val="001080"/>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lvl="0">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auto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 = </a:t>
              </a:r>
              <a:r>
                <a:rPr lang="en-US" altLang="zh-CN" sz="1200" dirty="0" err="1">
                  <a:solidFill>
                    <a:srgbClr val="795E26"/>
                  </a:solidFill>
                  <a:latin typeface="Consolas" panose="020B0609020204030204" pitchFamily="49" charset="0"/>
                </a:rPr>
                <a:t>malloc_shared</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&gt;(N, </a:t>
              </a:r>
              <a:r>
                <a:rPr lang="en-US" altLang="zh-CN" sz="1200" dirty="0">
                  <a:solidFill>
                    <a:srgbClr val="001080"/>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lvl="0">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N;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endParaRPr lang="en-US" altLang="zh-CN" sz="1200" dirty="0">
                <a:solidFill>
                  <a:srgbClr val="000000"/>
                </a:solidFill>
                <a:latin typeface="Consolas" panose="020B0609020204030204" pitchFamily="49" charset="0"/>
              </a:endParaRP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auto </a:t>
              </a:r>
              <a:r>
                <a:rPr lang="en-US" altLang="zh-CN" sz="1200" dirty="0">
                  <a:solidFill>
                    <a:srgbClr val="001080"/>
                  </a:solidFill>
                  <a:latin typeface="Consolas" panose="020B0609020204030204" pitchFamily="49" charset="0"/>
                </a:rPr>
                <a:t>sum</a:t>
              </a:r>
              <a:r>
                <a:rPr lang="en-US" altLang="zh-CN" sz="1200" dirty="0">
                  <a:solidFill>
                    <a:srgbClr val="000000"/>
                  </a:solidFill>
                  <a:latin typeface="Consolas" panose="020B0609020204030204" pitchFamily="49" charset="0"/>
                </a:rPr>
                <a:t> = </a:t>
              </a:r>
              <a:r>
                <a:rPr lang="en-US" altLang="zh-CN" sz="1200" dirty="0" err="1">
                  <a:solidFill>
                    <a:srgbClr val="795E26"/>
                  </a:solidFill>
                  <a:latin typeface="Consolas" panose="020B0609020204030204" pitchFamily="49" charset="0"/>
                </a:rPr>
                <a:t>malloc_shared</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&gt;(1, </a:t>
              </a:r>
              <a:r>
                <a:rPr lang="en-US" altLang="zh-CN" sz="1200" dirty="0">
                  <a:solidFill>
                    <a:srgbClr val="001080"/>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sum</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p>
            <a:p>
              <a:pPr>
                <a:lnSpc>
                  <a:spcPct val="150000"/>
                </a:lnSpc>
                <a:spcBef>
                  <a:spcPts val="0"/>
                </a:spcBef>
              </a:pPr>
              <a:endParaRPr lang="en-US" altLang="zh-CN" sz="1200" dirty="0">
                <a:solidFill>
                  <a:srgbClr val="000000"/>
                </a:solidFill>
                <a:latin typeface="Consolas" panose="020B0609020204030204" pitchFamily="49" charset="0"/>
              </a:endParaRP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parallel_for</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nd_range</a:t>
              </a:r>
              <a:r>
                <a:rPr lang="en-US" altLang="zh-CN" sz="1200" dirty="0">
                  <a:solidFill>
                    <a:srgbClr val="000000"/>
                  </a:solidFill>
                  <a:latin typeface="Consolas" panose="020B0609020204030204" pitchFamily="49" charset="0"/>
                </a:rPr>
                <a:t>&lt;</a:t>
              </a:r>
              <a:r>
                <a:rPr lang="en-US" altLang="zh-CN" sz="1200" dirty="0">
                  <a:solidFill>
                    <a:srgbClr val="098658"/>
                  </a:solidFill>
                  <a:latin typeface="Consolas" panose="020B0609020204030204" pitchFamily="49" charset="0"/>
                </a:rPr>
                <a:t>1</a:t>
              </a:r>
              <a:r>
                <a:rPr lang="en-US" altLang="zh-CN" sz="1200" dirty="0">
                  <a:solidFill>
                    <a:srgbClr val="000000"/>
                  </a:solidFill>
                  <a:latin typeface="Consolas" panose="020B0609020204030204" pitchFamily="49" charset="0"/>
                </a:rPr>
                <a:t>&gt;{N, B}, </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795E26"/>
                  </a:solidFill>
                  <a:latin typeface="Consolas" panose="020B0609020204030204" pitchFamily="49" charset="0"/>
                </a:rPr>
                <a:t>reduction</a:t>
              </a:r>
              <a:r>
                <a:rPr lang="en-US" altLang="zh-CN" sz="1200" dirty="0">
                  <a:solidFill>
                    <a:srgbClr val="000000"/>
                  </a:solidFill>
                  <a:latin typeface="Consolas" panose="020B0609020204030204" pitchFamily="49" charset="0"/>
                </a:rPr>
                <a:t>(sum, </a:t>
              </a:r>
              <a:r>
                <a:rPr lang="en-US" altLang="zh-CN" sz="1200" dirty="0">
                  <a:solidFill>
                    <a:srgbClr val="795E26"/>
                  </a:solidFill>
                  <a:latin typeface="Consolas" panose="020B0609020204030204" pitchFamily="49" charset="0"/>
                </a:rPr>
                <a:t>plus</a:t>
              </a:r>
              <a:r>
                <a:rPr lang="en-US" altLang="zh-CN" sz="1200" dirty="0">
                  <a:solidFill>
                    <a:srgbClr val="000000"/>
                  </a:solidFill>
                  <a:latin typeface="Consolas" panose="020B0609020204030204" pitchFamily="49" charset="0"/>
                </a:rPr>
                <a:t>&lt;&gt;()), [=](</a:t>
              </a:r>
              <a:r>
                <a:rPr lang="en-US" altLang="zh-CN" sz="1200" dirty="0" err="1">
                  <a:solidFill>
                    <a:srgbClr val="267F99"/>
                  </a:solidFill>
                  <a:latin typeface="Consolas" panose="020B0609020204030204" pitchFamily="49" charset="0"/>
                </a:rPr>
                <a:t>nd_item</a:t>
              </a:r>
              <a:r>
                <a:rPr lang="en-US" altLang="zh-CN" sz="1200" dirty="0">
                  <a:solidFill>
                    <a:srgbClr val="000000"/>
                  </a:solidFill>
                  <a:latin typeface="Consolas" panose="020B0609020204030204" pitchFamily="49" charset="0"/>
                </a:rPr>
                <a:t>&lt;</a:t>
              </a:r>
              <a:r>
                <a:rPr lang="en-US" altLang="zh-CN" sz="1200" dirty="0">
                  <a:solidFill>
                    <a:srgbClr val="098658"/>
                  </a:solidFill>
                  <a:latin typeface="Consolas" panose="020B0609020204030204" pitchFamily="49" charset="0"/>
                </a:rPr>
                <a:t>1</a:t>
              </a:r>
              <a:r>
                <a:rPr lang="en-US" altLang="zh-CN" sz="1200" dirty="0">
                  <a:solidFill>
                    <a:srgbClr val="000000"/>
                  </a:solidFill>
                  <a:latin typeface="Consolas" panose="020B0609020204030204" pitchFamily="49" charset="0"/>
                </a:rPr>
                <a:t>&gt; </a:t>
              </a:r>
              <a:r>
                <a:rPr lang="en-US" altLang="zh-CN" sz="1200" dirty="0">
                  <a:solidFill>
                    <a:srgbClr val="001080"/>
                  </a:solidFill>
                  <a:latin typeface="Consolas" panose="020B0609020204030204" pitchFamily="49" charset="0"/>
                </a:rPr>
                <a:t>it</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auto&amp;</a:t>
              </a: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temp</a:t>
              </a:r>
              <a:r>
                <a:rPr lang="en-US" altLang="zh-CN" sz="1200" dirty="0">
                  <a:solidFill>
                    <a:srgbClr val="000000"/>
                  </a:solidFill>
                  <a:latin typeface="Consolas" panose="020B0609020204030204" pitchFamily="49" charset="0"/>
                </a:rPr>
                <a:t>) {</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err="1">
                  <a:solidFill>
                    <a:srgbClr val="001080"/>
                  </a:solidFill>
                  <a:latin typeface="Consolas" panose="020B0609020204030204" pitchFamily="49" charset="0"/>
                </a:rPr>
                <a:t>it</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get_global_id</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a:t>
              </a:r>
              <a:r>
                <a:rPr lang="en-US" altLang="zh-CN" sz="1200" dirty="0">
                  <a:solidFill>
                    <a:srgbClr val="001080"/>
                  </a:solidFill>
                  <a:latin typeface="Consolas" panose="020B0609020204030204" pitchFamily="49" charset="0"/>
                </a:rPr>
                <a:t>temp</a:t>
              </a:r>
              <a:r>
                <a:rPr lang="en-US" altLang="zh-CN" sz="1200" dirty="0">
                  <a:solidFill>
                    <a:srgbClr val="000000"/>
                  </a:solidFill>
                  <a:latin typeface="Consolas" panose="020B0609020204030204" pitchFamily="49" charset="0"/>
                </a:rPr>
                <a:t> +=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}).wait();</a:t>
              </a:r>
            </a:p>
            <a:p>
              <a:pPr>
                <a:lnSpc>
                  <a:spcPct val="150000"/>
                </a:lnSpc>
                <a:spcBef>
                  <a:spcPts val="0"/>
                </a:spcBef>
              </a:pPr>
              <a:endParaRPr lang="en-US" altLang="zh-CN" sz="1200" dirty="0">
                <a:solidFill>
                  <a:srgbClr val="000000"/>
                </a:solidFill>
                <a:latin typeface="Consolas" panose="020B0609020204030204" pitchFamily="49" charset="0"/>
              </a:endParaRPr>
            </a:p>
            <a:p>
              <a:pPr>
                <a:lnSpc>
                  <a:spcPct val="150000"/>
                </a:lnSpc>
                <a:spcBef>
                  <a:spcPts val="0"/>
                </a:spcBef>
              </a:pPr>
              <a:r>
                <a:rPr lang="en-US" altLang="zh-CN" sz="1200" dirty="0">
                  <a:solidFill>
                    <a:srgbClr val="267F99"/>
                  </a:solidFill>
                  <a:latin typeface="Consolas" panose="020B0609020204030204" pitchFamily="49" charset="0"/>
                </a:rPr>
                <a:t>  std</a:t>
              </a:r>
              <a:r>
                <a:rPr lang="en-US" altLang="zh-CN" sz="1200" dirty="0">
                  <a:solidFill>
                    <a:srgbClr val="001080"/>
                  </a:solidFill>
                  <a:latin typeface="Consolas" panose="020B0609020204030204" pitchFamily="49" charset="0"/>
                </a:rPr>
                <a:t>:</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cout</a:t>
              </a:r>
              <a:r>
                <a:rPr lang="en-US" altLang="zh-CN" sz="1200" dirty="0">
                  <a:solidFill>
                    <a:srgbClr val="000000"/>
                  </a:solidFill>
                  <a:latin typeface="Consolas" panose="020B0609020204030204" pitchFamily="49" charset="0"/>
                </a:rPr>
                <a:t> &lt;&lt; </a:t>
              </a:r>
              <a:r>
                <a:rPr lang="en-US" altLang="zh-CN" sz="1200" dirty="0">
                  <a:solidFill>
                    <a:srgbClr val="A31515"/>
                  </a:solidFill>
                  <a:latin typeface="Consolas" panose="020B0609020204030204" pitchFamily="49" charset="0"/>
                </a:rPr>
                <a:t>"Sum = "</a:t>
              </a:r>
              <a:r>
                <a:rPr lang="en-US" altLang="zh-CN" sz="1200" dirty="0">
                  <a:solidFill>
                    <a:srgbClr val="000000"/>
                  </a:solidFill>
                  <a:latin typeface="Consolas" panose="020B0609020204030204" pitchFamily="49" charset="0"/>
                </a:rPr>
                <a:t> &lt;&lt; </a:t>
              </a:r>
              <a:r>
                <a:rPr lang="en-US" altLang="zh-CN" sz="1200" dirty="0">
                  <a:solidFill>
                    <a:srgbClr val="001080"/>
                  </a:solidFill>
                  <a:latin typeface="Consolas" panose="020B0609020204030204" pitchFamily="49" charset="0"/>
                </a:rPr>
                <a:t>sum</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&lt;&lt;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endl</a:t>
              </a:r>
              <a:r>
                <a:rPr lang="en-US" altLang="zh-CN" sz="1200" dirty="0">
                  <a:solidFill>
                    <a:srgbClr val="000000"/>
                  </a:solidFill>
                  <a:latin typeface="Consolas" panose="020B0609020204030204" pitchFamily="49" charset="0"/>
                </a:rPr>
                <a:t>;</a:t>
              </a:r>
            </a:p>
            <a:p>
              <a:pPr>
                <a:lnSpc>
                  <a:spcPct val="150000"/>
                </a:lnSpc>
                <a:spcBef>
                  <a:spcPts val="0"/>
                </a:spcBef>
              </a:pPr>
              <a:endParaRPr lang="en-US" altLang="zh-CN" sz="1200" dirty="0">
                <a:solidFill>
                  <a:srgbClr val="000000"/>
                </a:solidFill>
                <a:latin typeface="Consolas" panose="020B0609020204030204" pitchFamily="49" charset="0"/>
              </a:endParaRPr>
            </a:p>
          </p:txBody>
        </p:sp>
      </p:grpSp>
      <p:sp>
        <p:nvSpPr>
          <p:cNvPr id="8" name="Rectangle: Rounded Corners 11">
            <a:extLst>
              <a:ext uri="{FF2B5EF4-FFF2-40B4-BE49-F238E27FC236}">
                <a16:creationId xmlns:a16="http://schemas.microsoft.com/office/drawing/2014/main" id="{373FFCFD-F761-416D-96C9-F4F48840AD5F}"/>
              </a:ext>
            </a:extLst>
          </p:cNvPr>
          <p:cNvSpPr/>
          <p:nvPr/>
        </p:nvSpPr>
        <p:spPr>
          <a:xfrm>
            <a:off x="3501343" y="3298489"/>
            <a:ext cx="5607225" cy="2002719"/>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cxnSp>
        <p:nvCxnSpPr>
          <p:cNvPr id="9" name="Straight Arrow Connector 8">
            <a:extLst>
              <a:ext uri="{FF2B5EF4-FFF2-40B4-BE49-F238E27FC236}">
                <a16:creationId xmlns:a16="http://schemas.microsoft.com/office/drawing/2014/main" id="{183865E4-BD9E-4C1E-8034-8ABA8E0D1946}"/>
              </a:ext>
            </a:extLst>
          </p:cNvPr>
          <p:cNvCxnSpPr>
            <a:cxnSpLocks/>
          </p:cNvCxnSpPr>
          <p:nvPr/>
        </p:nvCxnSpPr>
        <p:spPr>
          <a:xfrm>
            <a:off x="2483768" y="2348880"/>
            <a:ext cx="1368152" cy="949609"/>
          </a:xfrm>
          <a:prstGeom prst="straightConnector1">
            <a:avLst/>
          </a:prstGeom>
          <a:noFill/>
          <a:ln w="25400" cap="flat" cmpd="sng" algn="ctr">
            <a:solidFill>
              <a:srgbClr val="D96930"/>
            </a:solidFill>
            <a:prstDash val="solid"/>
            <a:tailEnd type="triangle"/>
          </a:ln>
          <a:effectLst/>
        </p:spPr>
      </p:cxnSp>
      <p:cxnSp>
        <p:nvCxnSpPr>
          <p:cNvPr id="11" name="Straight Arrow Connector 8">
            <a:extLst>
              <a:ext uri="{FF2B5EF4-FFF2-40B4-BE49-F238E27FC236}">
                <a16:creationId xmlns:a16="http://schemas.microsoft.com/office/drawing/2014/main" id="{FEC029E9-D981-48F6-90D5-3B6D12AE6AC5}"/>
              </a:ext>
            </a:extLst>
          </p:cNvPr>
          <p:cNvCxnSpPr>
            <a:cxnSpLocks/>
          </p:cNvCxnSpPr>
          <p:nvPr/>
        </p:nvCxnSpPr>
        <p:spPr>
          <a:xfrm>
            <a:off x="2776529" y="3516358"/>
            <a:ext cx="1507439" cy="272682"/>
          </a:xfrm>
          <a:prstGeom prst="straightConnector1">
            <a:avLst/>
          </a:prstGeom>
          <a:noFill/>
          <a:ln w="25400" cap="flat" cmpd="sng" algn="ctr">
            <a:solidFill>
              <a:srgbClr val="D96930"/>
            </a:solidFill>
            <a:prstDash val="solid"/>
            <a:tailEnd type="triangle"/>
          </a:ln>
          <a:effectLst/>
        </p:spPr>
      </p:cxnSp>
    </p:spTree>
    <p:extLst>
      <p:ext uri="{BB962C8B-B14F-4D97-AF65-F5344CB8AC3E}">
        <p14:creationId xmlns:p14="http://schemas.microsoft.com/office/powerpoint/2010/main" val="65632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en-US" altLang="zh-CN" dirty="0"/>
              <a:t>Kernel</a:t>
            </a:r>
            <a:r>
              <a:rPr lang="zh-CN" altLang="en-US" dirty="0"/>
              <a:t>归约支持</a:t>
            </a:r>
            <a:r>
              <a:rPr lang="en-US" altLang="zh-CN" dirty="0"/>
              <a:t>USM</a:t>
            </a:r>
            <a:r>
              <a:rPr lang="zh-CN" altLang="en-US" dirty="0"/>
              <a:t>和缓冲</a:t>
            </a:r>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当使用</a:t>
            </a:r>
            <a:r>
              <a:rPr lang="en-US" altLang="zh-CN" dirty="0"/>
              <a:t>USM</a:t>
            </a:r>
            <a:r>
              <a:rPr lang="zh-CN" altLang="en-US" dirty="0"/>
              <a:t>时</a:t>
            </a:r>
            <a:endParaRPr lang="en-US" altLang="zh-CN" dirty="0"/>
          </a:p>
          <a:p>
            <a:pPr marL="0" indent="0">
              <a:buNone/>
            </a:pPr>
            <a:r>
              <a:rPr lang="en-US" altLang="zh-CN" sz="2400" dirty="0" err="1">
                <a:solidFill>
                  <a:srgbClr val="795E26"/>
                </a:solidFill>
                <a:latin typeface="Consolas" panose="020B0609020204030204" pitchFamily="49" charset="0"/>
              </a:rPr>
              <a:t>sycl</a:t>
            </a:r>
            <a:r>
              <a:rPr lang="en-US" altLang="zh-CN" sz="2400" dirty="0">
                <a:solidFill>
                  <a:srgbClr val="795E26"/>
                </a:solidFill>
                <a:latin typeface="Consolas" panose="020B0609020204030204" pitchFamily="49" charset="0"/>
              </a:rPr>
              <a:t>::reduction(sum, </a:t>
            </a:r>
            <a:r>
              <a:rPr lang="en-US" altLang="zh-CN" sz="2400" dirty="0" err="1">
                <a:solidFill>
                  <a:srgbClr val="795E26"/>
                </a:solidFill>
                <a:latin typeface="Consolas" panose="020B0609020204030204" pitchFamily="49" charset="0"/>
              </a:rPr>
              <a:t>sycl</a:t>
            </a:r>
            <a:r>
              <a:rPr lang="en-US" altLang="zh-CN" sz="2400" dirty="0">
                <a:solidFill>
                  <a:srgbClr val="795E26"/>
                </a:solidFill>
                <a:latin typeface="Consolas" panose="020B0609020204030204" pitchFamily="49" charset="0"/>
              </a:rPr>
              <a:t>::plus&lt;&gt;());</a:t>
            </a:r>
            <a:endParaRPr lang="en-US" altLang="zh-CN" sz="2400" dirty="0"/>
          </a:p>
          <a:p>
            <a:endParaRPr lang="en-US" altLang="zh-CN" dirty="0"/>
          </a:p>
          <a:p>
            <a:r>
              <a:rPr lang="zh-CN" altLang="en-US" dirty="0"/>
              <a:t>当使用缓冲内存模型时</a:t>
            </a:r>
            <a:endParaRPr lang="en-US" altLang="zh-CN" dirty="0">
              <a:latin typeface="黑体" panose="02010609060101010101" pitchFamily="49" charset="-122"/>
              <a:ea typeface="黑体" panose="02010609060101010101" pitchFamily="49" charset="-122"/>
            </a:endParaRPr>
          </a:p>
          <a:p>
            <a:pPr marL="0" indent="0">
              <a:buNone/>
            </a:pPr>
            <a:r>
              <a:rPr lang="en-US" altLang="zh-CN" sz="2000" dirty="0" err="1">
                <a:solidFill>
                  <a:srgbClr val="795E26"/>
                </a:solidFill>
                <a:latin typeface="Consolas" panose="020B0609020204030204" pitchFamily="49" charset="0"/>
              </a:rPr>
              <a:t>sycl</a:t>
            </a:r>
            <a:r>
              <a:rPr lang="en-US" altLang="zh-CN" sz="2000" dirty="0">
                <a:solidFill>
                  <a:srgbClr val="795E26"/>
                </a:solidFill>
                <a:latin typeface="Consolas" panose="020B0609020204030204" pitchFamily="49" charset="0"/>
              </a:rPr>
              <a:t>::reduction(</a:t>
            </a:r>
            <a:r>
              <a:rPr lang="en-US" altLang="zh-CN" sz="2000" dirty="0" err="1">
                <a:solidFill>
                  <a:srgbClr val="795E26"/>
                </a:solidFill>
                <a:latin typeface="Consolas" panose="020B0609020204030204" pitchFamily="49" charset="0"/>
              </a:rPr>
              <a:t>sum_buffer</a:t>
            </a:r>
            <a:r>
              <a:rPr lang="en-US" altLang="zh-CN" sz="2000" dirty="0">
                <a:solidFill>
                  <a:srgbClr val="795E26"/>
                </a:solidFill>
                <a:latin typeface="Consolas" panose="020B0609020204030204" pitchFamily="49" charset="0"/>
              </a:rPr>
              <a:t>, </a:t>
            </a:r>
            <a:r>
              <a:rPr lang="en-US" altLang="zh-CN" sz="2000" dirty="0" err="1">
                <a:solidFill>
                  <a:srgbClr val="795E26"/>
                </a:solidFill>
                <a:latin typeface="Consolas" panose="020B0609020204030204" pitchFamily="49" charset="0"/>
              </a:rPr>
              <a:t>cgh</a:t>
            </a:r>
            <a:r>
              <a:rPr lang="en-US" altLang="zh-CN" sz="2000" dirty="0">
                <a:solidFill>
                  <a:srgbClr val="795E26"/>
                </a:solidFill>
                <a:latin typeface="Consolas" panose="020B0609020204030204" pitchFamily="49" charset="0"/>
              </a:rPr>
              <a:t>, </a:t>
            </a:r>
            <a:r>
              <a:rPr lang="en-US" altLang="zh-CN" sz="2000" dirty="0" err="1">
                <a:solidFill>
                  <a:srgbClr val="795E26"/>
                </a:solidFill>
                <a:latin typeface="Consolas" panose="020B0609020204030204" pitchFamily="49" charset="0"/>
              </a:rPr>
              <a:t>sycl</a:t>
            </a:r>
            <a:r>
              <a:rPr lang="en-US" altLang="zh-CN" sz="2000" dirty="0">
                <a:solidFill>
                  <a:srgbClr val="795E26"/>
                </a:solidFill>
                <a:latin typeface="Consolas" panose="020B0609020204030204" pitchFamily="49" charset="0"/>
              </a:rPr>
              <a:t>::plus&lt;&gt;());</a:t>
            </a:r>
            <a:endParaRPr lang="en-US" altLang="zh-CN" sz="2000" dirty="0"/>
          </a:p>
        </p:txBody>
      </p:sp>
    </p:spTree>
    <p:extLst>
      <p:ext uri="{BB962C8B-B14F-4D97-AF65-F5344CB8AC3E}">
        <p14:creationId xmlns:p14="http://schemas.microsoft.com/office/powerpoint/2010/main" val="108603755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81DBD-2F0D-4546-AA36-B53450C95DEE}"/>
              </a:ext>
            </a:extLst>
          </p:cNvPr>
          <p:cNvSpPr>
            <a:spLocks noGrp="1"/>
          </p:cNvSpPr>
          <p:nvPr>
            <p:ph type="title"/>
          </p:nvPr>
        </p:nvSpPr>
        <p:spPr/>
        <p:txBody>
          <a:bodyPr/>
          <a:lstStyle/>
          <a:p>
            <a:r>
              <a:rPr lang="zh-CN" altLang="en-US" dirty="0"/>
              <a:t>单</a:t>
            </a:r>
            <a:r>
              <a:rPr lang="en-US" altLang="zh-CN" dirty="0"/>
              <a:t>kernel</a:t>
            </a:r>
            <a:r>
              <a:rPr lang="zh-CN" altLang="en-US" dirty="0"/>
              <a:t>中的多归约</a:t>
            </a:r>
          </a:p>
        </p:txBody>
      </p:sp>
      <p:sp>
        <p:nvSpPr>
          <p:cNvPr id="3" name="内容占位符 2">
            <a:extLst>
              <a:ext uri="{FF2B5EF4-FFF2-40B4-BE49-F238E27FC236}">
                <a16:creationId xmlns:a16="http://schemas.microsoft.com/office/drawing/2014/main" id="{A3FD33B7-4E12-4B83-AA9C-42DADE24745B}"/>
              </a:ext>
            </a:extLst>
          </p:cNvPr>
          <p:cNvSpPr>
            <a:spLocks noGrp="1"/>
          </p:cNvSpPr>
          <p:nvPr>
            <p:ph idx="1"/>
          </p:nvPr>
        </p:nvSpPr>
        <p:spPr>
          <a:xfrm>
            <a:off x="467544" y="1371600"/>
            <a:ext cx="8487544" cy="4724400"/>
          </a:xfrm>
        </p:spPr>
        <p:txBody>
          <a:bodyPr/>
          <a:lstStyle/>
          <a:p>
            <a:r>
              <a:rPr lang="zh-CN" altLang="en-US" sz="2400" dirty="0"/>
              <a:t>在一个</a:t>
            </a:r>
            <a:r>
              <a:rPr lang="en-US" altLang="zh-CN" sz="2400" dirty="0"/>
              <a:t>kernel</a:t>
            </a:r>
            <a:r>
              <a:rPr lang="zh-CN" altLang="en-US" sz="2400" dirty="0"/>
              <a:t>中</a:t>
            </a:r>
            <a:br>
              <a:rPr lang="en-US" altLang="zh-CN" sz="2400" dirty="0"/>
            </a:br>
            <a:r>
              <a:rPr lang="zh-CN" altLang="en-US" sz="2400" dirty="0"/>
              <a:t>执行多个归约</a:t>
            </a:r>
            <a:br>
              <a:rPr lang="en-US" altLang="zh-CN" sz="2400" dirty="0"/>
            </a:br>
            <a:r>
              <a:rPr lang="zh-CN" altLang="en-US" sz="2400" dirty="0"/>
              <a:t>是可能的</a:t>
            </a:r>
            <a:endParaRPr lang="en-US" altLang="zh-CN" sz="2400" dirty="0"/>
          </a:p>
          <a:p>
            <a:r>
              <a:rPr lang="zh-CN" altLang="en-US" sz="2400" dirty="0"/>
              <a:t>右边代码</a:t>
            </a: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展示了</a:t>
            </a:r>
            <a:b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b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在一个</a:t>
            </a:r>
            <a: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t>kernel</a:t>
            </a: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中</a:t>
            </a:r>
            <a:b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b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执行求和与</a:t>
            </a:r>
            <a:br>
              <a:rPr kumimoji="1" lang="en-US" altLang="zh-CN" sz="2400" b="0" i="0" u="none" strike="noStrike" kern="0" cap="none" spc="0" normalizeH="0" baseline="0" noProof="0" dirty="0">
                <a:ln>
                  <a:noFill/>
                </a:ln>
                <a:solidFill>
                  <a:srgbClr val="000000"/>
                </a:solidFill>
                <a:effectLst/>
                <a:uLnTx/>
                <a:uFillTx/>
                <a:latin typeface="Times New Roman"/>
                <a:ea typeface="宋体"/>
                <a:cs typeface="+mn-cs"/>
              </a:rPr>
            </a:br>
            <a:r>
              <a:rPr kumimoji="1" lang="zh-CN" altLang="en-US" sz="2400" b="0" i="0" u="none" strike="noStrike" kern="0" cap="none" spc="0" normalizeH="0" baseline="0" noProof="0" dirty="0">
                <a:ln>
                  <a:noFill/>
                </a:ln>
                <a:solidFill>
                  <a:srgbClr val="000000"/>
                </a:solidFill>
                <a:effectLst/>
                <a:uLnTx/>
                <a:uFillTx/>
                <a:latin typeface="Times New Roman"/>
                <a:ea typeface="宋体"/>
                <a:cs typeface="+mn-cs"/>
              </a:rPr>
              <a:t>最小值归约</a:t>
            </a:r>
            <a:endParaRPr lang="en-US" altLang="zh-CN" sz="2000" dirty="0">
              <a:latin typeface="黑体" panose="02010609060101010101" pitchFamily="49" charset="-122"/>
              <a:ea typeface="黑体" panose="02010609060101010101" pitchFamily="49" charset="-122"/>
            </a:endParaRPr>
          </a:p>
          <a:p>
            <a:r>
              <a:rPr lang="zh-CN" altLang="en-US" sz="2400" dirty="0"/>
              <a:t>临时对象描述了</a:t>
            </a:r>
            <a:br>
              <a:rPr lang="en-US" altLang="zh-CN" sz="2400" dirty="0"/>
            </a:br>
            <a:r>
              <a:rPr lang="zh-CN" altLang="en-US" sz="2400" dirty="0"/>
              <a:t>归约语义</a:t>
            </a:r>
            <a:endParaRPr lang="en-US" altLang="zh-CN" sz="2400" dirty="0"/>
          </a:p>
          <a:p>
            <a:r>
              <a:rPr lang="zh-CN" altLang="en-US" sz="2400" dirty="0"/>
              <a:t>包含两个归约</a:t>
            </a:r>
            <a:br>
              <a:rPr lang="en-US" altLang="zh-CN" sz="2400" dirty="0"/>
            </a:br>
            <a:r>
              <a:rPr lang="zh-CN" altLang="en-US" sz="2400" dirty="0"/>
              <a:t>对象的</a:t>
            </a:r>
            <a:r>
              <a:rPr lang="en-US" altLang="zh-CN" sz="2400" dirty="0" err="1"/>
              <a:t>parallel_for</a:t>
            </a:r>
            <a:endParaRPr lang="en-US" altLang="zh-CN" sz="2400" dirty="0"/>
          </a:p>
        </p:txBody>
      </p:sp>
      <p:grpSp>
        <p:nvGrpSpPr>
          <p:cNvPr id="20" name="Group 8">
            <a:extLst>
              <a:ext uri="{FF2B5EF4-FFF2-40B4-BE49-F238E27FC236}">
                <a16:creationId xmlns:a16="http://schemas.microsoft.com/office/drawing/2014/main" id="{395FA331-B5B9-4C33-AC9B-CF12911EE2D1}"/>
              </a:ext>
            </a:extLst>
          </p:cNvPr>
          <p:cNvGrpSpPr/>
          <p:nvPr/>
        </p:nvGrpSpPr>
        <p:grpSpPr>
          <a:xfrm>
            <a:off x="3203849" y="1196752"/>
            <a:ext cx="5976664" cy="5385142"/>
            <a:chOff x="5242989" y="505096"/>
            <a:chExt cx="5621214" cy="6932453"/>
          </a:xfrm>
        </p:grpSpPr>
        <p:sp>
          <p:nvSpPr>
            <p:cNvPr id="21" name="Rectangle: Single Corner Snipped 9">
              <a:extLst>
                <a:ext uri="{FF2B5EF4-FFF2-40B4-BE49-F238E27FC236}">
                  <a16:creationId xmlns:a16="http://schemas.microsoft.com/office/drawing/2014/main" id="{6A57618C-5DB5-42F1-A5C6-B5BDD0217775}"/>
                </a:ext>
              </a:extLst>
            </p:cNvPr>
            <p:cNvSpPr/>
            <p:nvPr/>
          </p:nvSpPr>
          <p:spPr>
            <a:xfrm>
              <a:off x="5242989" y="505096"/>
              <a:ext cx="5621213" cy="6763207"/>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0">
              <a:extLst>
                <a:ext uri="{FF2B5EF4-FFF2-40B4-BE49-F238E27FC236}">
                  <a16:creationId xmlns:a16="http://schemas.microsoft.com/office/drawing/2014/main" id="{681724BA-1EC0-4FB8-9D41-E329FD7E68B2}"/>
                </a:ext>
              </a:extLst>
            </p:cNvPr>
            <p:cNvSpPr txBox="1"/>
            <p:nvPr/>
          </p:nvSpPr>
          <p:spPr>
            <a:xfrm>
              <a:off x="5390906" y="611429"/>
              <a:ext cx="5473297" cy="6826120"/>
            </a:xfrm>
            <a:prstGeom prst="rect">
              <a:avLst/>
            </a:prstGeom>
            <a:noFill/>
          </p:spPr>
          <p:txBody>
            <a:bodyPr vert="horz" wrap="square" lIns="0" tIns="0" rIns="0" bIns="0" rtlCol="0">
              <a:spAutoFit/>
            </a:bodyPr>
            <a:lstStyle/>
            <a:p>
              <a:pPr>
                <a:lnSpc>
                  <a:spcPct val="120000"/>
                </a:lnSpc>
                <a:spcBef>
                  <a:spcPts val="0"/>
                </a:spcBef>
              </a:pPr>
              <a:r>
                <a:rPr lang="en-US" altLang="zh-CN" sz="1200" b="0" dirty="0">
                  <a:solidFill>
                    <a:srgbClr val="000000"/>
                  </a:solidFill>
                  <a:effectLst/>
                  <a:latin typeface="Consolas" panose="020B0609020204030204" pitchFamily="49" charset="0"/>
                </a:rPr>
                <a:t>  queue </a:t>
              </a:r>
              <a:r>
                <a:rPr lang="en-US" altLang="zh-CN" sz="1200" b="0" dirty="0">
                  <a:solidFill>
                    <a:srgbClr val="001080"/>
                  </a:solidFill>
                  <a:effectLst/>
                  <a:latin typeface="Consolas" panose="020B0609020204030204" pitchFamily="49" charset="0"/>
                </a:rPr>
                <a:t>q</a:t>
              </a:r>
              <a:r>
                <a:rPr lang="en-US" altLang="zh-CN" sz="1200" b="0" dirty="0">
                  <a:solidFill>
                    <a:srgbClr val="000000"/>
                  </a:solidFill>
                  <a:effectLst/>
                  <a:latin typeface="Consolas" panose="020B0609020204030204" pitchFamily="49" charset="0"/>
                </a:rPr>
                <a:t>;</a:t>
              </a:r>
            </a:p>
            <a:p>
              <a:pPr>
                <a:lnSpc>
                  <a:spcPct val="120000"/>
                </a:lnSpc>
                <a:spcBef>
                  <a:spcPts val="0"/>
                </a:spcBef>
              </a:pPr>
              <a:br>
                <a:rPr lang="en-US" altLang="zh-CN" sz="1200" b="0" dirty="0">
                  <a:solidFill>
                    <a:srgbClr val="000000"/>
                  </a:solidFill>
                  <a:effectLst/>
                  <a:latin typeface="Consolas" panose="020B0609020204030204" pitchFamily="49" charset="0"/>
                </a:rPr>
              </a:br>
              <a:r>
                <a:rPr lang="en-US" altLang="zh-CN" sz="1200" b="0" dirty="0">
                  <a:solidFill>
                    <a:srgbClr val="000000"/>
                  </a:solidFill>
                  <a:effectLst/>
                  <a:latin typeface="Consolas" panose="020B0609020204030204" pitchFamily="49" charset="0"/>
                </a:rPr>
                <a:t>  </a:t>
              </a:r>
              <a:r>
                <a:rPr lang="en-US" altLang="zh-CN" sz="1200" b="0" dirty="0">
                  <a:solidFill>
                    <a:srgbClr val="267F99"/>
                  </a:solidFill>
                  <a:effectLst/>
                  <a:latin typeface="Consolas" panose="020B0609020204030204" pitchFamily="49" charset="0"/>
                </a:rPr>
                <a:t>std</a:t>
              </a:r>
              <a:r>
                <a:rPr lang="en-US" altLang="zh-CN" sz="1200" b="0" dirty="0">
                  <a:solidFill>
                    <a:srgbClr val="001080"/>
                  </a:solidFill>
                  <a:effectLst/>
                  <a:latin typeface="Consolas" panose="020B0609020204030204" pitchFamily="49" charset="0"/>
                </a:rPr>
                <a:t>::v</a:t>
              </a:r>
              <a:r>
                <a:rPr lang="en-US" altLang="zh-CN" sz="1200" b="0" dirty="0">
                  <a:solidFill>
                    <a:srgbClr val="267F99"/>
                  </a:solidFill>
                  <a:effectLst/>
                  <a:latin typeface="Consolas" panose="020B0609020204030204" pitchFamily="49" charset="0"/>
                </a:rPr>
                <a:t>ector</a:t>
              </a:r>
              <a:r>
                <a:rPr lang="en-US" altLang="zh-CN" sz="1200" b="0" dirty="0">
                  <a:solidFill>
                    <a:srgbClr val="000000"/>
                  </a:solidFill>
                  <a:effectLst/>
                  <a:latin typeface="Consolas" panose="020B0609020204030204" pitchFamily="49" charset="0"/>
                </a:rPr>
                <a:t>&lt;</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&gt; </a:t>
              </a:r>
              <a:r>
                <a:rPr lang="en-US" altLang="zh-CN" sz="1200" b="0" dirty="0">
                  <a:solidFill>
                    <a:srgbClr val="795E26"/>
                  </a:solidFill>
                  <a:effectLst/>
                  <a:latin typeface="Consolas" panose="020B0609020204030204" pitchFamily="49" charset="0"/>
                </a:rPr>
                <a:t>data</a:t>
              </a:r>
              <a:r>
                <a:rPr lang="en-US" altLang="zh-CN" sz="1200" b="0" dirty="0">
                  <a:solidFill>
                    <a:srgbClr val="000000"/>
                  </a:solidFill>
                  <a:effectLst/>
                  <a:latin typeface="Consolas" panose="020B0609020204030204" pitchFamily="49" charset="0"/>
                </a:rPr>
                <a:t>(</a:t>
              </a:r>
              <a:r>
                <a:rPr lang="en-US" altLang="zh-CN" sz="1200" b="0" dirty="0">
                  <a:solidFill>
                    <a:srgbClr val="267F99"/>
                  </a:solidFill>
                  <a:effectLst/>
                  <a:latin typeface="Consolas" panose="020B0609020204030204" pitchFamily="49" charset="0"/>
                </a:rPr>
                <a:t>N</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&lt; N; </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data</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int</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sum</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min</a:t>
              </a:r>
              <a:r>
                <a:rPr lang="en-US" altLang="zh-CN" sz="1200" b="0" dirty="0">
                  <a:solidFill>
                    <a:srgbClr val="000000"/>
                  </a:solidFill>
                  <a:effectLst/>
                  <a:latin typeface="Consolas" panose="020B0609020204030204" pitchFamily="49" charset="0"/>
                </a:rPr>
                <a:t> = </a:t>
              </a:r>
              <a:r>
                <a:rPr lang="en-US" altLang="zh-CN" sz="1200" b="0" dirty="0">
                  <a:solidFill>
                    <a:srgbClr val="098658"/>
                  </a:solidFill>
                  <a:effectLst/>
                  <a:latin typeface="Consolas" panose="020B0609020204030204" pitchFamily="49" charset="0"/>
                </a:rPr>
                <a:t>0</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buffer </a:t>
              </a:r>
              <a:r>
                <a:rPr lang="en-US" altLang="zh-CN" sz="1200" b="0" dirty="0" err="1">
                  <a:solidFill>
                    <a:srgbClr val="795E26"/>
                  </a:solidFill>
                  <a:effectLst/>
                  <a:latin typeface="Consolas" panose="020B0609020204030204" pitchFamily="49" charset="0"/>
                </a:rPr>
                <a:t>buf_data</a:t>
              </a:r>
              <a:r>
                <a:rPr lang="en-US" altLang="zh-CN" sz="1200" b="0" dirty="0">
                  <a:solidFill>
                    <a:srgbClr val="000000"/>
                  </a:solidFill>
                  <a:effectLst/>
                  <a:latin typeface="Consolas" panose="020B0609020204030204" pitchFamily="49" charset="0"/>
                </a:rPr>
                <a:t>(data);</a:t>
              </a:r>
            </a:p>
            <a:p>
              <a:pPr>
                <a:lnSpc>
                  <a:spcPct val="120000"/>
                </a:lnSpc>
                <a:spcBef>
                  <a:spcPts val="0"/>
                </a:spcBef>
              </a:pPr>
              <a:r>
                <a:rPr lang="en-US" altLang="zh-CN" sz="1200" b="0" dirty="0">
                  <a:solidFill>
                    <a:srgbClr val="000000"/>
                  </a:solidFill>
                  <a:effectLst/>
                  <a:latin typeface="Consolas" panose="020B0609020204030204" pitchFamily="49" charset="0"/>
                </a:rPr>
                <a:t>    buffer </a:t>
              </a:r>
              <a:r>
                <a:rPr lang="en-US" altLang="zh-CN" sz="1200" b="0" dirty="0" err="1">
                  <a:solidFill>
                    <a:srgbClr val="795E26"/>
                  </a:solidFill>
                  <a:effectLst/>
                  <a:latin typeface="Consolas" panose="020B0609020204030204" pitchFamily="49" charset="0"/>
                </a:rPr>
                <a:t>buf_sum</a:t>
              </a:r>
              <a:r>
                <a:rPr lang="en-US" altLang="zh-CN" sz="1200" b="0" dirty="0">
                  <a:solidFill>
                    <a:srgbClr val="000000"/>
                  </a:solidFill>
                  <a:effectLst/>
                  <a:latin typeface="Consolas" panose="020B0609020204030204" pitchFamily="49" charset="0"/>
                </a:rPr>
                <a:t>(&amp;sum, </a:t>
              </a:r>
              <a:r>
                <a:rPr lang="en-US" altLang="zh-CN" sz="1200" b="0" dirty="0">
                  <a:solidFill>
                    <a:srgbClr val="795E26"/>
                  </a:solidFill>
                  <a:effectLst/>
                  <a:latin typeface="Consolas" panose="020B0609020204030204" pitchFamily="49" charset="0"/>
                </a:rPr>
                <a:t>range</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buffer </a:t>
              </a:r>
              <a:r>
                <a:rPr lang="en-US" altLang="zh-CN" sz="1200" b="0" dirty="0" err="1">
                  <a:solidFill>
                    <a:srgbClr val="795E26"/>
                  </a:solidFill>
                  <a:effectLst/>
                  <a:latin typeface="Consolas" panose="020B0609020204030204" pitchFamily="49" charset="0"/>
                </a:rPr>
                <a:t>buf_min</a:t>
              </a:r>
              <a:r>
                <a:rPr lang="en-US" altLang="zh-CN" sz="1200" b="0" dirty="0">
                  <a:solidFill>
                    <a:srgbClr val="000000"/>
                  </a:solidFill>
                  <a:effectLst/>
                  <a:latin typeface="Consolas" panose="020B0609020204030204" pitchFamily="49" charset="0"/>
                </a:rPr>
                <a:t>(&amp;min, </a:t>
              </a:r>
              <a:r>
                <a:rPr lang="en-US" altLang="zh-CN" sz="1200" b="0" dirty="0">
                  <a:solidFill>
                    <a:srgbClr val="795E26"/>
                  </a:solidFill>
                  <a:effectLst/>
                  <a:latin typeface="Consolas" panose="020B0609020204030204" pitchFamily="49" charset="0"/>
                </a:rPr>
                <a:t>range</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nSpc>
                  <a:spcPct val="120000"/>
                </a:lnSpc>
                <a:spcBef>
                  <a:spcPts val="0"/>
                </a:spcBef>
              </a:pPr>
              <a:br>
                <a:rPr lang="en-US" altLang="zh-CN" sz="1200" b="0" dirty="0">
                  <a:solidFill>
                    <a:srgbClr val="000000"/>
                  </a:solidFill>
                  <a:effectLst/>
                  <a:latin typeface="Consolas" panose="020B0609020204030204" pitchFamily="49" charset="0"/>
                </a:rPr>
              </a:b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q</a:t>
              </a:r>
              <a:r>
                <a:rPr lang="en-US" altLang="zh-CN" sz="1200" b="0" dirty="0" err="1">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submit</a:t>
              </a:r>
              <a:r>
                <a:rPr lang="en-US" altLang="zh-CN" sz="1200" b="0" dirty="0">
                  <a:solidFill>
                    <a:srgbClr val="000000"/>
                  </a:solidFill>
                  <a:effectLst/>
                  <a:latin typeface="Consolas" panose="020B0609020204030204" pitchFamily="49" charset="0"/>
                </a:rPr>
                <a:t>([&amp;](</a:t>
              </a:r>
              <a:r>
                <a:rPr lang="en-US" altLang="zh-CN" sz="1200" b="0" dirty="0">
                  <a:solidFill>
                    <a:srgbClr val="267F99"/>
                  </a:solidFill>
                  <a:effectLst/>
                  <a:latin typeface="Consolas" panose="020B0609020204030204" pitchFamily="49" charset="0"/>
                </a:rPr>
                <a:t>handler</a:t>
              </a:r>
              <a:r>
                <a:rPr lang="en-US" altLang="zh-CN" sz="1200" b="0" dirty="0">
                  <a:solidFill>
                    <a:srgbClr val="0000FF"/>
                  </a:solidFill>
                  <a:effectLst/>
                  <a:latin typeface="Consolas" panose="020B0609020204030204" pitchFamily="49" charset="0"/>
                </a:rPr>
                <a:t>&amp;</a:t>
              </a:r>
              <a:r>
                <a:rPr lang="en-US" altLang="zh-CN" sz="1200" b="0" dirty="0">
                  <a:solidFill>
                    <a:srgbClr val="000000"/>
                  </a:solidFill>
                  <a:effectLst/>
                  <a:latin typeface="Consolas" panose="020B0609020204030204" pitchFamily="49" charset="0"/>
                </a:rPr>
                <a:t> </a:t>
              </a:r>
              <a:r>
                <a:rPr lang="en-US" altLang="zh-CN" sz="1200" b="0" dirty="0">
                  <a:solidFill>
                    <a:srgbClr val="001080"/>
                  </a:solidFill>
                  <a:effectLst/>
                  <a:latin typeface="Consolas" panose="020B0609020204030204" pitchFamily="49" charset="0"/>
                </a:rPr>
                <a:t>h</a:t>
              </a: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267F99"/>
                  </a:solidFill>
                  <a:effectLst/>
                  <a:latin typeface="Consolas" panose="020B0609020204030204" pitchFamily="49" charset="0"/>
                </a:rPr>
                <a:t>accessor</a:t>
              </a:r>
              <a:r>
                <a:rPr lang="en-US" altLang="zh-CN" sz="1200" b="0" dirty="0">
                  <a:solidFill>
                    <a:srgbClr val="000000"/>
                  </a:solidFill>
                  <a:effectLst/>
                  <a:latin typeface="Consolas" panose="020B0609020204030204" pitchFamily="49" charset="0"/>
                </a:rPr>
                <a:t> </a:t>
              </a:r>
              <a:r>
                <a:rPr lang="en-US" altLang="zh-CN" sz="1200" b="0" dirty="0" err="1">
                  <a:solidFill>
                    <a:srgbClr val="795E26"/>
                  </a:solidFill>
                  <a:effectLst/>
                  <a:latin typeface="Consolas" panose="020B0609020204030204" pitchFamily="49" charset="0"/>
                </a:rPr>
                <a:t>acc_data</a:t>
              </a:r>
              <a:r>
                <a:rPr lang="en-US" altLang="zh-CN" sz="1200" b="0" dirty="0">
                  <a:solidFill>
                    <a:srgbClr val="000000"/>
                  </a:solidFill>
                  <a:effectLst/>
                  <a:latin typeface="Consolas" panose="020B0609020204030204" pitchFamily="49" charset="0"/>
                </a:rPr>
                <a:t>(</a:t>
              </a:r>
              <a:r>
                <a:rPr lang="en-US" altLang="zh-CN" sz="1200" b="0" dirty="0" err="1">
                  <a:solidFill>
                    <a:srgbClr val="267F99"/>
                  </a:solidFill>
                  <a:effectLst/>
                  <a:latin typeface="Consolas" panose="020B0609020204030204" pitchFamily="49" charset="0"/>
                </a:rPr>
                <a:t>buf_data</a:t>
              </a:r>
              <a:r>
                <a:rPr lang="en-US" altLang="zh-CN" sz="1200" b="0" dirty="0">
                  <a:solidFill>
                    <a:srgbClr val="000000"/>
                  </a:solidFill>
                  <a:effectLst/>
                  <a:latin typeface="Consolas" panose="020B0609020204030204" pitchFamily="49" charset="0"/>
                </a:rPr>
                <a:t>, </a:t>
              </a:r>
              <a:r>
                <a:rPr lang="en-US" altLang="zh-CN" sz="1200" b="0" dirty="0">
                  <a:solidFill>
                    <a:srgbClr val="267F99"/>
                  </a:solidFill>
                  <a:effectLst/>
                  <a:latin typeface="Consolas" panose="020B0609020204030204" pitchFamily="49" charset="0"/>
                </a:rPr>
                <a:t>h</a:t>
              </a:r>
              <a:r>
                <a:rPr lang="en-US" altLang="zh-CN" sz="1200" b="0" dirty="0">
                  <a:solidFill>
                    <a:srgbClr val="000000"/>
                  </a:solidFill>
                  <a:effectLst/>
                  <a:latin typeface="Consolas" panose="020B0609020204030204" pitchFamily="49" charset="0"/>
                </a:rPr>
                <a:t>, </a:t>
              </a:r>
              <a:r>
                <a:rPr lang="en-US" altLang="zh-CN" sz="1200" b="0" dirty="0" err="1">
                  <a:solidFill>
                    <a:srgbClr val="267F99"/>
                  </a:solidFill>
                  <a:effectLst/>
                  <a:latin typeface="Consolas" panose="020B0609020204030204" pitchFamily="49" charset="0"/>
                </a:rPr>
                <a:t>read_only</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auto</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reduction_sum</a:t>
              </a:r>
              <a:r>
                <a:rPr lang="en-US" altLang="zh-CN" sz="1200" b="0" dirty="0">
                  <a:solidFill>
                    <a:srgbClr val="000000"/>
                  </a:solidFill>
                  <a:effectLst/>
                  <a:latin typeface="Consolas" panose="020B0609020204030204" pitchFamily="49" charset="0"/>
                </a:rPr>
                <a:t> = </a:t>
              </a:r>
              <a:r>
                <a:rPr lang="en-US" altLang="zh-CN" sz="1200" b="0" dirty="0">
                  <a:solidFill>
                    <a:srgbClr val="795E26"/>
                  </a:solidFill>
                  <a:effectLst/>
                  <a:latin typeface="Consolas" panose="020B0609020204030204" pitchFamily="49" charset="0"/>
                </a:rPr>
                <a:t>reduction</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buf_sum</a:t>
              </a:r>
              <a:r>
                <a:rPr lang="en-US" altLang="zh-CN" sz="1200" b="0" dirty="0">
                  <a:solidFill>
                    <a:srgbClr val="000000"/>
                  </a:solidFill>
                  <a:effectLst/>
                  <a:latin typeface="Consolas" panose="020B0609020204030204" pitchFamily="49" charset="0"/>
                </a:rPr>
                <a:t>, h, </a:t>
              </a:r>
              <a:r>
                <a:rPr lang="en-US" altLang="zh-CN" sz="1200" b="0" dirty="0">
                  <a:solidFill>
                    <a:srgbClr val="795E26"/>
                  </a:solidFill>
                  <a:effectLst/>
                  <a:latin typeface="Consolas" panose="020B0609020204030204" pitchFamily="49" charset="0"/>
                </a:rPr>
                <a:t>plus</a:t>
              </a:r>
              <a:r>
                <a:rPr lang="en-US" altLang="zh-CN" sz="1200" b="0" dirty="0">
                  <a:solidFill>
                    <a:srgbClr val="000000"/>
                  </a:solidFill>
                  <a:effectLst/>
                  <a:latin typeface="Consolas" panose="020B0609020204030204" pitchFamily="49" charset="0"/>
                </a:rPr>
                <a:t>&lt;&gt;());</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auto</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reduction_min</a:t>
              </a:r>
              <a:r>
                <a:rPr lang="en-US" altLang="zh-CN" sz="1200" b="0" dirty="0">
                  <a:solidFill>
                    <a:srgbClr val="000000"/>
                  </a:solidFill>
                  <a:effectLst/>
                  <a:latin typeface="Consolas" panose="020B0609020204030204" pitchFamily="49" charset="0"/>
                </a:rPr>
                <a:t> = </a:t>
              </a:r>
              <a:r>
                <a:rPr lang="en-US" altLang="zh-CN" sz="1200" b="0" dirty="0">
                  <a:solidFill>
                    <a:srgbClr val="795E26"/>
                  </a:solidFill>
                  <a:effectLst/>
                  <a:latin typeface="Consolas" panose="020B0609020204030204" pitchFamily="49" charset="0"/>
                </a:rPr>
                <a:t>reduction</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buf_min</a:t>
              </a:r>
              <a:r>
                <a:rPr lang="en-US" altLang="zh-CN" sz="1200" b="0" dirty="0">
                  <a:solidFill>
                    <a:srgbClr val="000000"/>
                  </a:solidFill>
                  <a:effectLst/>
                  <a:latin typeface="Consolas" panose="020B0609020204030204" pitchFamily="49" charset="0"/>
                </a:rPr>
                <a:t>, h, </a:t>
              </a:r>
              <a:r>
                <a:rPr lang="en-US" altLang="zh-CN" sz="1200" b="0" dirty="0">
                  <a:solidFill>
                    <a:srgbClr val="795E26"/>
                  </a:solidFill>
                  <a:effectLst/>
                  <a:latin typeface="Consolas" panose="020B0609020204030204" pitchFamily="49" charset="0"/>
                </a:rPr>
                <a:t>minimum</a:t>
              </a:r>
              <a:r>
                <a:rPr lang="en-US" altLang="zh-CN" sz="1200" b="0" dirty="0">
                  <a:solidFill>
                    <a:srgbClr val="000000"/>
                  </a:solidFill>
                  <a:effectLst/>
                  <a:latin typeface="Consolas" panose="020B0609020204030204" pitchFamily="49" charset="0"/>
                </a:rPr>
                <a:t>&lt;&gt;());</a:t>
              </a:r>
            </a:p>
            <a:p>
              <a:pPr>
                <a:lnSpc>
                  <a:spcPct val="120000"/>
                </a:lnSpc>
                <a:spcBef>
                  <a:spcPts val="0"/>
                </a:spcBef>
              </a:pP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h</a:t>
              </a:r>
              <a:r>
                <a:rPr lang="en-US" altLang="zh-CN" sz="1200" b="0" dirty="0" err="1">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parallel_for</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nd_range</a:t>
              </a:r>
              <a:r>
                <a:rPr lang="en-US" altLang="zh-CN" sz="1200" b="0" dirty="0">
                  <a:solidFill>
                    <a:srgbClr val="000000"/>
                  </a:solidFill>
                  <a:effectLst/>
                  <a:latin typeface="Consolas" panose="020B0609020204030204" pitchFamily="49" charset="0"/>
                </a:rPr>
                <a:t>&lt;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&gt;{N, B}, </a:t>
              </a:r>
              <a:r>
                <a:rPr lang="en-US" altLang="zh-CN" sz="1200" b="0" dirty="0" err="1">
                  <a:solidFill>
                    <a:srgbClr val="000000"/>
                  </a:solidFill>
                  <a:effectLst/>
                  <a:latin typeface="Consolas" panose="020B0609020204030204" pitchFamily="49" charset="0"/>
                </a:rPr>
                <a:t>reduction_sum</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reduction_min</a:t>
              </a:r>
              <a:r>
                <a:rPr lang="en-US" altLang="zh-CN" sz="1200" b="0" dirty="0">
                  <a:solidFill>
                    <a:srgbClr val="000000"/>
                  </a:solidFill>
                  <a:effectLst/>
                  <a:latin typeface="Consolas" panose="020B0609020204030204" pitchFamily="49" charset="0"/>
                </a:rPr>
                <a:t>,             [=](</a:t>
              </a:r>
              <a:r>
                <a:rPr lang="en-US" altLang="zh-CN" sz="1200" b="0" dirty="0" err="1">
                  <a:solidFill>
                    <a:srgbClr val="267F99"/>
                  </a:solidFill>
                  <a:effectLst/>
                  <a:latin typeface="Consolas" panose="020B0609020204030204" pitchFamily="49" charset="0"/>
                </a:rPr>
                <a:t>nd_item</a:t>
              </a:r>
              <a:r>
                <a:rPr lang="en-US" altLang="zh-CN" sz="1200" b="0" dirty="0">
                  <a:solidFill>
                    <a:srgbClr val="000000"/>
                  </a:solidFill>
                  <a:effectLst/>
                  <a:latin typeface="Consolas" panose="020B0609020204030204" pitchFamily="49" charset="0"/>
                </a:rPr>
                <a:t>&lt;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&gt; </a:t>
              </a:r>
              <a:r>
                <a:rPr lang="en-US" altLang="zh-CN" sz="1200" b="0" dirty="0">
                  <a:solidFill>
                    <a:srgbClr val="001080"/>
                  </a:solidFill>
                  <a:effectLst/>
                  <a:latin typeface="Consolas" panose="020B0609020204030204" pitchFamily="49" charset="0"/>
                </a:rPr>
                <a:t>it</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auto&amp;</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temp_sum</a:t>
              </a: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auto&amp;</a:t>
              </a: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temp_min</a:t>
              </a: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a:solidFill>
                    <a:srgbClr val="0000FF"/>
                  </a:solidFill>
                  <a:effectLst/>
                  <a:latin typeface="Consolas" panose="020B0609020204030204" pitchFamily="49" charset="0"/>
                </a:rPr>
                <a:t>auto</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 = </a:t>
              </a:r>
              <a:r>
                <a:rPr lang="en-US" altLang="zh-CN" sz="1200" b="0" dirty="0" err="1">
                  <a:solidFill>
                    <a:srgbClr val="001080"/>
                  </a:solidFill>
                  <a:effectLst/>
                  <a:latin typeface="Consolas" panose="020B0609020204030204" pitchFamily="49" charset="0"/>
                </a:rPr>
                <a:t>it</a:t>
              </a:r>
              <a:r>
                <a:rPr lang="en-US" altLang="zh-CN" sz="1200" b="0" dirty="0" err="1">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get_global_id</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temp_sum</a:t>
              </a:r>
              <a:r>
                <a:rPr lang="en-US" altLang="zh-CN" sz="1200" b="0" dirty="0" err="1">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combine</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acc_data</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r>
                <a:rPr lang="en-US" altLang="zh-CN" sz="1200" b="0" dirty="0" err="1">
                  <a:solidFill>
                    <a:srgbClr val="001080"/>
                  </a:solidFill>
                  <a:effectLst/>
                  <a:latin typeface="Consolas" panose="020B0609020204030204" pitchFamily="49" charset="0"/>
                </a:rPr>
                <a:t>temp_min</a:t>
              </a:r>
              <a:r>
                <a:rPr lang="en-US" altLang="zh-CN" sz="1200" b="0" dirty="0" err="1">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combine</a:t>
              </a:r>
              <a:r>
                <a:rPr lang="en-US" altLang="zh-CN" sz="1200" b="0" dirty="0">
                  <a:solidFill>
                    <a:srgbClr val="000000"/>
                  </a:solidFill>
                  <a:effectLst/>
                  <a:latin typeface="Consolas" panose="020B0609020204030204" pitchFamily="49" charset="0"/>
                </a:rPr>
                <a:t>(</a:t>
              </a:r>
              <a:r>
                <a:rPr lang="en-US" altLang="zh-CN" sz="1200" b="0" dirty="0" err="1">
                  <a:solidFill>
                    <a:srgbClr val="001080"/>
                  </a:solidFill>
                  <a:effectLst/>
                  <a:latin typeface="Consolas" panose="020B0609020204030204" pitchFamily="49" charset="0"/>
                </a:rPr>
                <a:t>acc_data</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i</a:t>
              </a:r>
              <a:r>
                <a:rPr lang="en-US" altLang="zh-CN" sz="1200" b="0" dirty="0">
                  <a:solidFill>
                    <a:srgbClr val="000000"/>
                  </a:solidFill>
                  <a:effectLst/>
                  <a:latin typeface="Consolas" panose="020B0609020204030204" pitchFamily="49" charset="0"/>
                </a:rPr>
                <a:t>]);</a:t>
              </a:r>
            </a:p>
            <a:p>
              <a:pPr>
                <a:lnSpc>
                  <a:spcPct val="120000"/>
                </a:lnSpc>
                <a:spcBef>
                  <a:spcPts val="0"/>
                </a:spcBef>
              </a:pP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p>
            <a:p>
              <a:pPr>
                <a:lnSpc>
                  <a:spcPct val="120000"/>
                </a:lnSpc>
                <a:spcBef>
                  <a:spcPts val="0"/>
                </a:spcBef>
              </a:pPr>
              <a:r>
                <a:rPr lang="en-US" altLang="zh-CN" sz="1200" b="0" dirty="0">
                  <a:solidFill>
                    <a:srgbClr val="000000"/>
                  </a:solidFill>
                  <a:effectLst/>
                  <a:latin typeface="Consolas" panose="020B0609020204030204" pitchFamily="49" charset="0"/>
                </a:rPr>
                <a:t>  }</a:t>
              </a:r>
            </a:p>
          </p:txBody>
        </p:sp>
      </p:grpSp>
      <p:sp>
        <p:nvSpPr>
          <p:cNvPr id="8" name="Rectangle: Rounded Corners 11">
            <a:extLst>
              <a:ext uri="{FF2B5EF4-FFF2-40B4-BE49-F238E27FC236}">
                <a16:creationId xmlns:a16="http://schemas.microsoft.com/office/drawing/2014/main" id="{373FFCFD-F761-416D-96C9-F4F48840AD5F}"/>
              </a:ext>
            </a:extLst>
          </p:cNvPr>
          <p:cNvSpPr/>
          <p:nvPr/>
        </p:nvSpPr>
        <p:spPr>
          <a:xfrm>
            <a:off x="3746477" y="4769105"/>
            <a:ext cx="5397523" cy="1387047"/>
          </a:xfrm>
          <a:prstGeom prst="roundRect">
            <a:avLst/>
          </a:prstGeom>
          <a:noFill/>
          <a:ln w="1905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cxnSp>
        <p:nvCxnSpPr>
          <p:cNvPr id="9" name="Straight Arrow Connector 8">
            <a:extLst>
              <a:ext uri="{FF2B5EF4-FFF2-40B4-BE49-F238E27FC236}">
                <a16:creationId xmlns:a16="http://schemas.microsoft.com/office/drawing/2014/main" id="{183865E4-BD9E-4C1E-8034-8ABA8E0D1946}"/>
              </a:ext>
            </a:extLst>
          </p:cNvPr>
          <p:cNvCxnSpPr>
            <a:cxnSpLocks/>
          </p:cNvCxnSpPr>
          <p:nvPr/>
        </p:nvCxnSpPr>
        <p:spPr>
          <a:xfrm flipV="1">
            <a:off x="2785445" y="5085184"/>
            <a:ext cx="961031" cy="1"/>
          </a:xfrm>
          <a:prstGeom prst="straightConnector1">
            <a:avLst/>
          </a:prstGeom>
          <a:noFill/>
          <a:ln w="25400" cap="flat" cmpd="sng" algn="ctr">
            <a:solidFill>
              <a:srgbClr val="D96930"/>
            </a:solidFill>
            <a:prstDash val="solid"/>
            <a:tailEnd type="triangle"/>
          </a:ln>
          <a:effectLst/>
        </p:spPr>
      </p:cxnSp>
      <p:cxnSp>
        <p:nvCxnSpPr>
          <p:cNvPr id="11" name="Straight Arrow Connector 8">
            <a:extLst>
              <a:ext uri="{FF2B5EF4-FFF2-40B4-BE49-F238E27FC236}">
                <a16:creationId xmlns:a16="http://schemas.microsoft.com/office/drawing/2014/main" id="{FEC029E9-D981-48F6-90D5-3B6D12AE6AC5}"/>
              </a:ext>
            </a:extLst>
          </p:cNvPr>
          <p:cNvCxnSpPr>
            <a:cxnSpLocks/>
          </p:cNvCxnSpPr>
          <p:nvPr/>
        </p:nvCxnSpPr>
        <p:spPr>
          <a:xfrm>
            <a:off x="3059832" y="4257813"/>
            <a:ext cx="819102" cy="0"/>
          </a:xfrm>
          <a:prstGeom prst="straightConnector1">
            <a:avLst/>
          </a:prstGeom>
          <a:noFill/>
          <a:ln w="25400" cap="flat" cmpd="sng" algn="ctr">
            <a:solidFill>
              <a:srgbClr val="D96930"/>
            </a:solidFill>
            <a:prstDash val="solid"/>
            <a:tailEnd type="triangle"/>
          </a:ln>
          <a:effectLst/>
        </p:spPr>
      </p:cxnSp>
    </p:spTree>
    <p:extLst>
      <p:ext uri="{BB962C8B-B14F-4D97-AF65-F5344CB8AC3E}">
        <p14:creationId xmlns:p14="http://schemas.microsoft.com/office/powerpoint/2010/main" val="148715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en-US" altLang="zh-CN" dirty="0"/>
              <a:t>DPC++</a:t>
            </a:r>
            <a:r>
              <a:rPr lang="zh-CN" altLang="en-US" dirty="0"/>
              <a:t>库</a:t>
            </a:r>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是</a:t>
            </a:r>
            <a:r>
              <a:rPr lang="en-US" altLang="zh-CN" dirty="0" err="1"/>
              <a:t>oneAPI</a:t>
            </a:r>
            <a:r>
              <a:rPr lang="en-US" altLang="zh-CN" dirty="0"/>
              <a:t> DPC++</a:t>
            </a:r>
            <a:r>
              <a:rPr lang="zh-CN" altLang="en-US" dirty="0"/>
              <a:t>编译器的辅助</a:t>
            </a:r>
            <a:endParaRPr lang="en-US" altLang="zh-CN" dirty="0"/>
          </a:p>
          <a:p>
            <a:r>
              <a:rPr lang="zh-CN" altLang="en-US" dirty="0"/>
              <a:t>为开发异构应用提供了替代选项</a:t>
            </a:r>
            <a:endParaRPr lang="en-US" altLang="zh-CN" dirty="0"/>
          </a:p>
          <a:p>
            <a:r>
              <a:rPr lang="zh-CN" altLang="en-US" dirty="0"/>
              <a:t>基于熟悉的</a:t>
            </a:r>
            <a:r>
              <a:rPr lang="en-US" altLang="zh-CN" dirty="0"/>
              <a:t>C++/STL</a:t>
            </a:r>
            <a:r>
              <a:rPr lang="zh-CN" altLang="en-US" dirty="0"/>
              <a:t>标准，旨在跨架构</a:t>
            </a:r>
            <a:r>
              <a:rPr lang="zh-CN" altLang="en-US" dirty="0">
                <a:latin typeface="黑体" panose="02010609060101010101" pitchFamily="49" charset="-122"/>
                <a:ea typeface="黑体" panose="02010609060101010101" pitchFamily="49" charset="-122"/>
              </a:rPr>
              <a:t>最大化生产率和性能</a:t>
            </a:r>
            <a:endParaRPr lang="en-US" altLang="zh-CN" dirty="0">
              <a:latin typeface="黑体" panose="02010609060101010101" pitchFamily="49" charset="-122"/>
              <a:ea typeface="黑体" panose="02010609060101010101" pitchFamily="49" charset="-122"/>
            </a:endParaRPr>
          </a:p>
          <a:p>
            <a:pPr lvl="1"/>
            <a:r>
              <a:rPr lang="zh-CN" altLang="en-US" dirty="0"/>
              <a:t>标准</a:t>
            </a:r>
            <a:r>
              <a:rPr lang="en-US" altLang="zh-CN" dirty="0"/>
              <a:t>C++ API</a:t>
            </a:r>
            <a:r>
              <a:rPr lang="zh-CN" altLang="en-US" dirty="0"/>
              <a:t>：已经过全面测试，在</a:t>
            </a:r>
            <a:r>
              <a:rPr lang="en-US" altLang="zh-CN" dirty="0"/>
              <a:t>DPC++ kernel</a:t>
            </a:r>
            <a:r>
              <a:rPr lang="zh-CN" altLang="en-US" dirty="0"/>
              <a:t>中运行良好</a:t>
            </a:r>
            <a:endParaRPr lang="en-US" altLang="zh-CN" dirty="0"/>
          </a:p>
          <a:p>
            <a:pPr lvl="1"/>
            <a:r>
              <a:rPr lang="zh-CN" altLang="en-US" dirty="0"/>
              <a:t>并行</a:t>
            </a:r>
            <a:r>
              <a:rPr lang="en-US" altLang="zh-CN" dirty="0"/>
              <a:t>STL</a:t>
            </a:r>
            <a:r>
              <a:rPr lang="zh-CN" altLang="en-US" dirty="0"/>
              <a:t>：提供</a:t>
            </a:r>
            <a:r>
              <a:rPr lang="en-US" altLang="zh-CN" dirty="0"/>
              <a:t>STL</a:t>
            </a:r>
            <a:r>
              <a:rPr lang="zh-CN" altLang="en-US" dirty="0"/>
              <a:t>算法高效的并行及向量化执行，支持</a:t>
            </a:r>
            <a:r>
              <a:rPr lang="en-US" altLang="zh-CN" dirty="0"/>
              <a:t>Intel</a:t>
            </a:r>
            <a:r>
              <a:rPr lang="zh-CN" altLang="en-US" dirty="0"/>
              <a:t>处理器及其他设备</a:t>
            </a:r>
            <a:endParaRPr lang="en-US" altLang="zh-CN" dirty="0"/>
          </a:p>
          <a:p>
            <a:pPr lvl="1"/>
            <a:r>
              <a:rPr lang="zh-CN" altLang="en-US" dirty="0"/>
              <a:t>扩展</a:t>
            </a:r>
            <a:r>
              <a:rPr lang="en-US" altLang="zh-CN" dirty="0"/>
              <a:t>API</a:t>
            </a:r>
            <a:r>
              <a:rPr lang="zh-CN" altLang="en-US" dirty="0"/>
              <a:t>：额外的算法、类、迭代器集合</a:t>
            </a:r>
            <a:endParaRPr lang="en-US" altLang="zh-CN" dirty="0"/>
          </a:p>
        </p:txBody>
      </p:sp>
    </p:spTree>
    <p:extLst>
      <p:ext uri="{BB962C8B-B14F-4D97-AF65-F5344CB8AC3E}">
        <p14:creationId xmlns:p14="http://schemas.microsoft.com/office/powerpoint/2010/main" val="273472101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并行</a:t>
            </a:r>
            <a:r>
              <a:rPr lang="en-US" altLang="zh-CN" dirty="0"/>
              <a:t>STL</a:t>
            </a:r>
            <a:endParaRPr lang="zh-CN" altLang="en-US" dirty="0"/>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733712" y="1628800"/>
            <a:ext cx="7147556" cy="1140817"/>
            <a:chOff x="5242989" y="505096"/>
            <a:chExt cx="5621214" cy="6257626"/>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2"/>
              <a:ext cx="5473297" cy="512796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sort</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begin</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end</a:t>
              </a:r>
              <a:r>
                <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grpSp>
        <p:nvGrpSpPr>
          <p:cNvPr id="20" name="Group 17">
            <a:extLst>
              <a:ext uri="{FF2B5EF4-FFF2-40B4-BE49-F238E27FC236}">
                <a16:creationId xmlns:a16="http://schemas.microsoft.com/office/drawing/2014/main" id="{6F62A2D1-DA80-46FE-9322-561A02E09518}"/>
              </a:ext>
            </a:extLst>
          </p:cNvPr>
          <p:cNvGrpSpPr/>
          <p:nvPr/>
        </p:nvGrpSpPr>
        <p:grpSpPr>
          <a:xfrm>
            <a:off x="1733708" y="3404693"/>
            <a:ext cx="7383305" cy="1649875"/>
            <a:chOff x="5242989" y="505096"/>
            <a:chExt cx="5621214" cy="6257626"/>
          </a:xfrm>
        </p:grpSpPr>
        <p:sp>
          <p:nvSpPr>
            <p:cNvPr id="21" name="Rectangle: Single Corner Snipped 18">
              <a:extLst>
                <a:ext uri="{FF2B5EF4-FFF2-40B4-BE49-F238E27FC236}">
                  <a16:creationId xmlns:a16="http://schemas.microsoft.com/office/drawing/2014/main" id="{F62F8F30-D629-454F-A7E0-291CBBD115CB}"/>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200" b="1" i="0" u="none" strike="noStrike" kern="0" cap="none" spc="0" normalizeH="0" baseline="0" noProof="0" dirty="0">
                <a:ln>
                  <a:noFill/>
                </a:ln>
                <a:solidFill>
                  <a:srgbClr val="000000"/>
                </a:solidFill>
                <a:effectLst/>
                <a:uLnTx/>
                <a:uFillTx/>
                <a:latin typeface="Intel Clear"/>
                <a:sym typeface="Helvetica Neue"/>
              </a:endParaRPr>
            </a:p>
          </p:txBody>
        </p:sp>
        <p:sp>
          <p:nvSpPr>
            <p:cNvPr id="22" name="TextBox 19">
              <a:extLst>
                <a:ext uri="{FF2B5EF4-FFF2-40B4-BE49-F238E27FC236}">
                  <a16:creationId xmlns:a16="http://schemas.microsoft.com/office/drawing/2014/main" id="{0CE0CCCA-46E1-42B1-B239-17B2445025A2}"/>
                </a:ext>
              </a:extLst>
            </p:cNvPr>
            <p:cNvSpPr txBox="1"/>
            <p:nvPr/>
          </p:nvSpPr>
          <p:spPr>
            <a:xfrm>
              <a:off x="5390906" y="611431"/>
              <a:ext cx="5473297" cy="4202394"/>
            </a:xfrm>
            <a:prstGeom prst="rect">
              <a:avLst/>
            </a:prstGeom>
            <a:noFill/>
          </p:spPr>
          <p:txBody>
            <a:bodyPr vert="horz" wrap="square" lIns="0" tIns="0" rIns="0" bIns="0" rtlCol="0">
              <a:spAutoFit/>
            </a:bodyPr>
            <a:lstStyle/>
            <a:p>
              <a:pPr marL="0" marR="0" lvl="0" indent="0" defTabSz="121916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queue</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q</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gpu_selector</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sort</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(oneapi::dpl::execution::</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make_device_policy</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begin</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sz="12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sz="12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sz="12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end</a:t>
              </a:r>
              <a:r>
                <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defTabSz="121916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AF00DB"/>
                </a:solidFill>
                <a:effectLst/>
                <a:uLnTx/>
                <a:uFillTx/>
                <a:latin typeface="Consolas" panose="020B0609020204030204" pitchFamily="49" charset="0"/>
                <a:sym typeface="Helvetica Neue"/>
              </a:endParaRPr>
            </a:p>
            <a:p>
              <a:pPr marL="0" marR="0" lvl="0" indent="0" defTabSz="1219169"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430062" y="2166711"/>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504" y="2008372"/>
            <a:ext cx="1296144" cy="278153"/>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主机端计算</a:t>
            </a:r>
            <a:endParaRPr lang="en-US" sz="2000" dirty="0">
              <a:solidFill>
                <a:srgbClr val="3333CC"/>
              </a:solidFill>
              <a:latin typeface="+mn-lt"/>
              <a:ea typeface="+mn-ea"/>
              <a:sym typeface="Helvetica Neue"/>
            </a:endParaRPr>
          </a:p>
        </p:txBody>
      </p:sp>
      <p:cxnSp>
        <p:nvCxnSpPr>
          <p:cNvPr id="25" name="Straight Arrow Connector 22">
            <a:extLst>
              <a:ext uri="{FF2B5EF4-FFF2-40B4-BE49-F238E27FC236}">
                <a16:creationId xmlns:a16="http://schemas.microsoft.com/office/drawing/2014/main" id="{7AEDCBF8-B44E-4040-ACBB-C09F0D65CB94}"/>
              </a:ext>
            </a:extLst>
          </p:cNvPr>
          <p:cNvCxnSpPr>
            <a:cxnSpLocks/>
          </p:cNvCxnSpPr>
          <p:nvPr/>
        </p:nvCxnSpPr>
        <p:spPr>
          <a:xfrm>
            <a:off x="1430058" y="4492994"/>
            <a:ext cx="432155" cy="0"/>
          </a:xfrm>
          <a:prstGeom prst="straightConnector1">
            <a:avLst/>
          </a:prstGeom>
          <a:noFill/>
          <a:ln w="25400" cap="flat" cmpd="sng" algn="ctr">
            <a:solidFill>
              <a:srgbClr val="D96930"/>
            </a:solidFill>
            <a:prstDash val="solid"/>
            <a:tailEnd type="triangle"/>
          </a:ln>
          <a:effectLst/>
        </p:spPr>
      </p:cxnSp>
      <p:sp>
        <p:nvSpPr>
          <p:cNvPr id="26" name="TextBox 23">
            <a:extLst>
              <a:ext uri="{FF2B5EF4-FFF2-40B4-BE49-F238E27FC236}">
                <a16:creationId xmlns:a16="http://schemas.microsoft.com/office/drawing/2014/main" id="{D22CE1B6-2E5C-457C-8B3F-87609073C6EC}"/>
              </a:ext>
            </a:extLst>
          </p:cNvPr>
          <p:cNvSpPr txBox="1"/>
          <p:nvPr/>
        </p:nvSpPr>
        <p:spPr>
          <a:xfrm>
            <a:off x="-3884" y="4153680"/>
            <a:ext cx="1407532" cy="553998"/>
          </a:xfrm>
          <a:prstGeom prst="rect">
            <a:avLst/>
          </a:prstGeom>
          <a:noFill/>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用</a:t>
            </a:r>
            <a:r>
              <a:rPr lang="en-US" sz="2000" dirty="0" err="1">
                <a:solidFill>
                  <a:srgbClr val="3333CC"/>
                </a:solidFill>
                <a:latin typeface="+mn-lt"/>
                <a:ea typeface="+mn-ea"/>
                <a:sym typeface="Helvetica Neue"/>
              </a:rPr>
              <a:t>oneDPL</a:t>
            </a:r>
            <a:r>
              <a:rPr lang="zh-CN" altLang="en-US" sz="2000" dirty="0">
                <a:solidFill>
                  <a:srgbClr val="3333CC"/>
                </a:solidFill>
                <a:latin typeface="+mn-lt"/>
                <a:ea typeface="+mn-ea"/>
                <a:sym typeface="Helvetica Neue"/>
              </a:rPr>
              <a:t>在</a:t>
            </a:r>
            <a:br>
              <a:rPr lang="en-US" altLang="zh-CN" sz="2000" dirty="0">
                <a:solidFill>
                  <a:srgbClr val="3333CC"/>
                </a:solidFill>
                <a:latin typeface="+mn-lt"/>
                <a:ea typeface="+mn-ea"/>
                <a:sym typeface="Helvetica Neue"/>
              </a:rPr>
            </a:br>
            <a:r>
              <a:rPr lang="en-US" altLang="zh-CN" sz="2000" dirty="0">
                <a:solidFill>
                  <a:srgbClr val="3333CC"/>
                </a:solidFill>
                <a:latin typeface="+mn-lt"/>
                <a:ea typeface="+mn-ea"/>
                <a:sym typeface="Helvetica Neue"/>
              </a:rPr>
              <a:t>GPU</a:t>
            </a:r>
            <a:r>
              <a:rPr lang="zh-CN" altLang="en-US" sz="2000" dirty="0">
                <a:solidFill>
                  <a:srgbClr val="3333CC"/>
                </a:solidFill>
                <a:latin typeface="+mn-lt"/>
                <a:ea typeface="+mn-ea"/>
                <a:sym typeface="Helvetica Neue"/>
              </a:rPr>
              <a:t>端计算</a:t>
            </a:r>
            <a:endParaRPr lang="en-US" sz="2000" dirty="0">
              <a:solidFill>
                <a:srgbClr val="3333CC"/>
              </a:solidFill>
              <a:latin typeface="+mn-lt"/>
              <a:ea typeface="+mn-ea"/>
              <a:sym typeface="Helvetica Neue"/>
            </a:endParaRPr>
          </a:p>
        </p:txBody>
      </p:sp>
      <p:sp>
        <p:nvSpPr>
          <p:cNvPr id="27" name="Flowchart: Process 24">
            <a:extLst>
              <a:ext uri="{FF2B5EF4-FFF2-40B4-BE49-F238E27FC236}">
                <a16:creationId xmlns:a16="http://schemas.microsoft.com/office/drawing/2014/main" id="{6BCD0E7C-A361-4150-AD98-E7C69967A8E4}"/>
              </a:ext>
            </a:extLst>
          </p:cNvPr>
          <p:cNvSpPr/>
          <p:nvPr/>
        </p:nvSpPr>
        <p:spPr>
          <a:xfrm>
            <a:off x="2743009" y="3902307"/>
            <a:ext cx="3917223" cy="357260"/>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28" name="TextBox 25">
            <a:extLst>
              <a:ext uri="{FF2B5EF4-FFF2-40B4-BE49-F238E27FC236}">
                <a16:creationId xmlns:a16="http://schemas.microsoft.com/office/drawing/2014/main" id="{24F69E4A-CD3B-4D7D-8064-D5FF2A76F2BF}"/>
              </a:ext>
            </a:extLst>
          </p:cNvPr>
          <p:cNvSpPr txBox="1"/>
          <p:nvPr/>
        </p:nvSpPr>
        <p:spPr>
          <a:xfrm>
            <a:off x="6559163" y="3432729"/>
            <a:ext cx="2557849" cy="1938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400" b="0" i="0" u="none" strike="noStrike" kern="0" cap="none" spc="0" normalizeH="0" baseline="0" noProof="0" dirty="0">
                <a:ln>
                  <a:noFill/>
                </a:ln>
                <a:solidFill>
                  <a:srgbClr val="D96930"/>
                </a:solidFill>
                <a:effectLst/>
                <a:uLnTx/>
                <a:uFillTx/>
                <a:latin typeface="Intel Clear"/>
                <a:sym typeface="Helvetica Neue"/>
              </a:rPr>
              <a:t>执行策略指出库函数在哪里执行</a:t>
            </a:r>
            <a:endParaRPr kumimoji="0" lang="en-US" sz="1400" b="0" i="0" u="none" strike="noStrike" kern="0" cap="none" spc="0" normalizeH="0" baseline="0" noProof="0" dirty="0">
              <a:ln>
                <a:noFill/>
              </a:ln>
              <a:solidFill>
                <a:srgbClr val="D96930"/>
              </a:solidFill>
              <a:effectLst/>
              <a:uLnTx/>
              <a:uFillTx/>
              <a:latin typeface="Intel Clear"/>
              <a:sym typeface="Helvetica Neue"/>
            </a:endParaRPr>
          </a:p>
        </p:txBody>
      </p:sp>
      <p:cxnSp>
        <p:nvCxnSpPr>
          <p:cNvPr id="29" name="Straight Arrow Connector 26">
            <a:extLst>
              <a:ext uri="{FF2B5EF4-FFF2-40B4-BE49-F238E27FC236}">
                <a16:creationId xmlns:a16="http://schemas.microsoft.com/office/drawing/2014/main" id="{D9A0CAD6-E048-4E7B-B5A3-57475694D1CA}"/>
              </a:ext>
            </a:extLst>
          </p:cNvPr>
          <p:cNvCxnSpPr>
            <a:cxnSpLocks/>
          </p:cNvCxnSpPr>
          <p:nvPr/>
        </p:nvCxnSpPr>
        <p:spPr>
          <a:xfrm flipH="1">
            <a:off x="6372200" y="3591253"/>
            <a:ext cx="353812" cy="311054"/>
          </a:xfrm>
          <a:prstGeom prst="straightConnector1">
            <a:avLst/>
          </a:prstGeom>
          <a:noFill/>
          <a:ln w="38100" cap="flat" cmpd="sng" algn="ctr">
            <a:solidFill>
              <a:srgbClr val="D96930"/>
            </a:solidFill>
            <a:prstDash val="solid"/>
            <a:tailEnd type="triangle"/>
          </a:ln>
          <a:effectLst/>
        </p:spPr>
      </p:cxnSp>
    </p:spTree>
    <p:extLst>
      <p:ext uri="{BB962C8B-B14F-4D97-AF65-F5344CB8AC3E}">
        <p14:creationId xmlns:p14="http://schemas.microsoft.com/office/powerpoint/2010/main" val="8557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用并行</a:t>
            </a:r>
            <a:r>
              <a:rPr lang="en-US" altLang="zh-CN" dirty="0"/>
              <a:t>STL</a:t>
            </a:r>
            <a:r>
              <a:rPr lang="zh-CN" altLang="en-US" dirty="0"/>
              <a:t>简化编程</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1628800"/>
            <a:ext cx="7652726" cy="3960439"/>
            <a:chOff x="5242989" y="505096"/>
            <a:chExt cx="5621214" cy="6257626"/>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2"/>
              <a:ext cx="5473297" cy="556202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000000"/>
                  </a:solidFill>
                  <a:latin typeface="Consolas" panose="020B0609020204030204" pitchFamily="49" charset="0"/>
                </a:rPr>
                <a:t>queue q;</a:t>
              </a:r>
            </a:p>
            <a:p>
              <a:pPr>
                <a:lnSpc>
                  <a:spcPct val="150000"/>
                </a:lnSpc>
                <a:spcBef>
                  <a:spcPts val="0"/>
                </a:spcBef>
              </a:pP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a:solidFill>
                    <a:srgbClr val="267F99"/>
                  </a:solidFill>
                  <a:latin typeface="Consolas" panose="020B0609020204030204" pitchFamily="49" charset="0"/>
                </a:rPr>
                <a:t>vector</a:t>
              </a:r>
              <a:r>
                <a:rPr lang="en-US" altLang="zh-CN" sz="1400" dirty="0">
                  <a:solidFill>
                    <a:srgbClr val="000000"/>
                  </a:solidFill>
                  <a:latin typeface="Consolas" panose="020B0609020204030204" pitchFamily="49" charset="0"/>
                </a:rPr>
                <a:t>&lt;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&gt; </a:t>
              </a:r>
              <a:r>
                <a:rPr lang="en-US" altLang="zh-CN" sz="1400" dirty="0">
                  <a:solidFill>
                    <a:srgbClr val="795E26"/>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a:solidFill>
                    <a:srgbClr val="267F99"/>
                  </a:solidFill>
                  <a:latin typeface="Consolas" panose="020B0609020204030204" pitchFamily="49" charset="0"/>
                </a:rPr>
                <a:t>N</a:t>
              </a: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000000"/>
                  </a:solidFill>
                  <a:latin typeface="Consolas" panose="020B0609020204030204" pitchFamily="49" charset="0"/>
                </a:rPr>
                <a:t>    buffer </a:t>
              </a:r>
              <a:r>
                <a:rPr lang="en-US" altLang="zh-CN" sz="1400" dirty="0" err="1">
                  <a:solidFill>
                    <a:srgbClr val="795E26"/>
                  </a:solidFill>
                  <a:latin typeface="Consolas" panose="020B0609020204030204" pitchFamily="49" charset="0"/>
                </a:rPr>
                <a:t>buf</a:t>
              </a:r>
              <a:r>
                <a:rPr lang="en-US" altLang="zh-CN" sz="1400" dirty="0">
                  <a:solidFill>
                    <a:srgbClr val="000000"/>
                  </a:solidFill>
                  <a:latin typeface="Consolas" panose="020B0609020204030204" pitchFamily="49" charset="0"/>
                </a:rPr>
                <a:t>(</a:t>
              </a:r>
              <a:r>
                <a:rPr lang="en-US" altLang="zh-CN" sz="1400" dirty="0">
                  <a:solidFill>
                    <a:srgbClr val="001080"/>
                  </a:solidFill>
                  <a:latin typeface="Consolas" panose="020B0609020204030204" pitchFamily="49" charset="0"/>
                </a:rPr>
                <a:t>v</a:t>
              </a: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q</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submit</a:t>
              </a:r>
              <a:r>
                <a:rPr lang="en-US" altLang="zh-CN" sz="1400" dirty="0">
                  <a:solidFill>
                    <a:srgbClr val="000000"/>
                  </a:solidFill>
                  <a:latin typeface="Consolas" panose="020B0609020204030204" pitchFamily="49" charset="0"/>
                </a:rPr>
                <a:t>([&amp;](</a:t>
              </a:r>
              <a:r>
                <a:rPr lang="en-US" altLang="zh-CN" sz="1400" dirty="0">
                  <a:solidFill>
                    <a:srgbClr val="267F99"/>
                  </a:solidFill>
                  <a:latin typeface="Consolas" panose="020B0609020204030204" pitchFamily="49" charset="0"/>
                </a:rPr>
                <a:t>handler</a:t>
              </a:r>
              <a:r>
                <a:rPr lang="en-US" altLang="zh-CN" sz="1400" dirty="0">
                  <a:solidFill>
                    <a:srgbClr val="000000"/>
                  </a:solidFill>
                  <a:latin typeface="Consolas" panose="020B0609020204030204" pitchFamily="49" charset="0"/>
                </a:rPr>
                <a:t> </a:t>
              </a:r>
              <a:r>
                <a:rPr lang="en-US" altLang="zh-CN" sz="1400" dirty="0">
                  <a:solidFill>
                    <a:srgbClr val="0000FF"/>
                  </a:solidFill>
                  <a:latin typeface="Consolas" panose="020B0609020204030204" pitchFamily="49" charset="0"/>
                </a:rPr>
                <a:t>&amp;</a:t>
              </a:r>
              <a:r>
                <a:rPr lang="en-US" altLang="zh-CN" sz="1400" dirty="0">
                  <a:solidFill>
                    <a:srgbClr val="001080"/>
                  </a:solidFill>
                  <a:latin typeface="Consolas" panose="020B0609020204030204" pitchFamily="49" charset="0"/>
                </a:rPr>
                <a:t>h</a:t>
              </a: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000000"/>
                  </a:solidFill>
                  <a:latin typeface="Consolas" panose="020B0609020204030204" pitchFamily="49" charset="0"/>
                </a:rPr>
                <a:t>        </a:t>
              </a:r>
              <a:r>
                <a:rPr lang="en-US" altLang="zh-CN" sz="1400" dirty="0">
                  <a:solidFill>
                    <a:srgbClr val="0000FF"/>
                  </a:solidFill>
                  <a:latin typeface="Consolas" panose="020B0609020204030204" pitchFamily="49" charset="0"/>
                </a:rPr>
                <a:t>accessor </a:t>
              </a:r>
              <a:r>
                <a:rPr lang="en-US" altLang="zh-CN" sz="1400" dirty="0">
                  <a:solidFill>
                    <a:srgbClr val="000000"/>
                  </a:solidFill>
                  <a:latin typeface="Consolas" panose="020B0609020204030204" pitchFamily="49" charset="0"/>
                </a:rPr>
                <a:t>V(</a:t>
              </a:r>
              <a:r>
                <a:rPr lang="en-US" altLang="zh-CN" sz="1400" dirty="0" err="1">
                  <a:solidFill>
                    <a:srgbClr val="001080"/>
                  </a:solidFill>
                  <a:latin typeface="Consolas" panose="020B0609020204030204" pitchFamily="49" charset="0"/>
                </a:rPr>
                <a:t>buf</a:t>
              </a:r>
              <a:r>
                <a:rPr lang="en-US" altLang="zh-CN" sz="1400" dirty="0">
                  <a:solidFill>
                    <a:srgbClr val="000000"/>
                  </a:solidFill>
                  <a:latin typeface="Consolas" panose="020B0609020204030204" pitchFamily="49" charset="0"/>
                </a:rPr>
                <a:t>, h);</a:t>
              </a:r>
            </a:p>
            <a:p>
              <a:pPr>
                <a:lnSpc>
                  <a:spcPct val="150000"/>
                </a:lnSpc>
                <a:spcBef>
                  <a:spcPts val="0"/>
                </a:spcBef>
              </a:pP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h</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parallel_for</a:t>
              </a:r>
              <a:r>
                <a:rPr lang="en-US" altLang="zh-CN" sz="1400" dirty="0">
                  <a:solidFill>
                    <a:srgbClr val="000000"/>
                  </a:solidFill>
                  <a:latin typeface="Consolas" panose="020B0609020204030204" pitchFamily="49" charset="0"/>
                </a:rPr>
                <a:t>(</a:t>
              </a:r>
              <a:r>
                <a:rPr lang="en-US" altLang="zh-CN" sz="1400" dirty="0">
                  <a:solidFill>
                    <a:srgbClr val="795E26"/>
                  </a:solidFill>
                  <a:latin typeface="Consolas" panose="020B0609020204030204" pitchFamily="49" charset="0"/>
                </a:rPr>
                <a:t>range</a:t>
              </a:r>
              <a:r>
                <a:rPr lang="en-US" altLang="zh-CN" sz="1400" dirty="0">
                  <a:solidFill>
                    <a:srgbClr val="000000"/>
                  </a:solidFill>
                  <a:latin typeface="Consolas" panose="020B0609020204030204" pitchFamily="49" charset="0"/>
                </a:rPr>
                <a:t>&lt;</a:t>
              </a:r>
              <a:r>
                <a:rPr lang="en-US" altLang="zh-CN" sz="1400" dirty="0">
                  <a:solidFill>
                    <a:srgbClr val="098658"/>
                  </a:solidFill>
                  <a:latin typeface="Consolas" panose="020B0609020204030204" pitchFamily="49" charset="0"/>
                </a:rPr>
                <a:t>1</a:t>
              </a:r>
              <a:r>
                <a:rPr lang="en-US" altLang="zh-CN" sz="1400" dirty="0">
                  <a:solidFill>
                    <a:srgbClr val="000000"/>
                  </a:solidFill>
                  <a:latin typeface="Consolas" panose="020B0609020204030204" pitchFamily="49" charset="0"/>
                </a:rPr>
                <a:t>&gt;(N),[=] (</a:t>
              </a:r>
              <a:r>
                <a:rPr lang="en-US" altLang="zh-CN" sz="1400" dirty="0">
                  <a:solidFill>
                    <a:srgbClr val="267F99"/>
                  </a:solidFill>
                  <a:latin typeface="Consolas" panose="020B0609020204030204" pitchFamily="49" charset="0"/>
                </a:rPr>
                <a:t>auto</a:t>
              </a: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i</a:t>
              </a:r>
              <a:r>
                <a:rPr lang="en-US" altLang="zh-CN" sz="1400" dirty="0">
                  <a:solidFill>
                    <a:srgbClr val="000000"/>
                  </a:solidFill>
                  <a:latin typeface="Consolas" panose="020B0609020204030204" pitchFamily="49" charset="0"/>
                </a:rPr>
                <a:t>){ </a:t>
              </a:r>
              <a:r>
                <a:rPr lang="en-US" altLang="zh-CN" sz="1400" dirty="0">
                  <a:solidFill>
                    <a:srgbClr val="001080"/>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 </a:t>
              </a:r>
              <a:r>
                <a:rPr lang="en-US" altLang="zh-CN" sz="1400" dirty="0">
                  <a:solidFill>
                    <a:srgbClr val="098658"/>
                  </a:solidFill>
                  <a:latin typeface="Consolas" panose="020B0609020204030204" pitchFamily="49" charset="0"/>
                </a:rPr>
                <a:t>20</a:t>
              </a:r>
              <a:r>
                <a:rPr lang="en-US" altLang="zh-CN" sz="1400" dirty="0">
                  <a:solidFill>
                    <a:srgbClr val="000000"/>
                  </a:solidFill>
                  <a:latin typeface="Consolas" panose="020B0609020204030204" pitchFamily="49" charset="0"/>
                </a:rPr>
                <a:t>; }); </a:t>
              </a:r>
            </a:p>
            <a:p>
              <a:pPr>
                <a:lnSpc>
                  <a:spcPct val="150000"/>
                </a:lnSpc>
                <a:spcBef>
                  <a:spcPts val="0"/>
                </a:spcBef>
              </a:pPr>
              <a:r>
                <a:rPr lang="en-US" altLang="zh-CN" sz="1400" dirty="0">
                  <a:solidFill>
                    <a:srgbClr val="000000"/>
                  </a:solidFill>
                  <a:latin typeface="Consolas" panose="020B0609020204030204" pitchFamily="49" charset="0"/>
                </a:rPr>
                <a:t>    });</a:t>
              </a:r>
            </a:p>
            <a:p>
              <a:pPr>
                <a:lnSpc>
                  <a:spcPct val="150000"/>
                </a:lnSpc>
                <a:spcBef>
                  <a:spcPts val="0"/>
                </a:spcBef>
              </a:pP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AF00DB"/>
                  </a:solidFill>
                  <a:latin typeface="Consolas" panose="020B0609020204030204" pitchFamily="49" charset="0"/>
                </a:rPr>
                <a:t>for</a:t>
              </a:r>
              <a:r>
                <a:rPr lang="en-US" altLang="zh-CN" sz="1400" dirty="0">
                  <a:solidFill>
                    <a:srgbClr val="000000"/>
                  </a:solidFill>
                  <a:latin typeface="Consolas" panose="020B0609020204030204" pitchFamily="49" charset="0"/>
                </a:rPr>
                <a: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 </a:t>
              </a:r>
              <a:r>
                <a:rPr lang="en-US" altLang="zh-CN" sz="1400" dirty="0">
                  <a:solidFill>
                    <a:srgbClr val="098658"/>
                  </a:solidFill>
                  <a:latin typeface="Consolas" panose="020B0609020204030204" pitchFamily="49" charset="0"/>
                </a:rPr>
                <a:t>0</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size</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cout</a:t>
              </a:r>
              <a:r>
                <a:rPr lang="en-US" altLang="zh-CN" sz="1400" dirty="0">
                  <a:solidFill>
                    <a:srgbClr val="000000"/>
                  </a:solidFill>
                  <a:latin typeface="Consolas" panose="020B0609020204030204" pitchFamily="49" charset="0"/>
                </a:rPr>
                <a:t> &lt;&lt; </a:t>
              </a:r>
              <a:r>
                <a:rPr lang="en-US" altLang="zh-CN" sz="1400" dirty="0">
                  <a:solidFill>
                    <a:srgbClr val="001080"/>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&lt;&lt;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endl</a:t>
              </a:r>
              <a:r>
                <a:rPr lang="en-US" altLang="zh-CN" sz="1400" dirty="0">
                  <a:solidFill>
                    <a:srgbClr val="000000"/>
                  </a:solidFill>
                  <a:latin typeface="Consolas" panose="020B0609020204030204" pitchFamily="49" charset="0"/>
                </a:rPr>
                <a:t>;</a:t>
              </a:r>
            </a:p>
            <a:p>
              <a:pPr>
                <a:lnSpc>
                  <a:spcPct val="150000"/>
                </a:lnSpc>
                <a:spcBef>
                  <a:spcPts val="0"/>
                </a:spcBef>
              </a:pPr>
              <a:endParaRPr lang="en-US" altLang="zh-CN" sz="1400" dirty="0">
                <a:solidFill>
                  <a:srgbClr val="000000"/>
                </a:solidFill>
                <a:latin typeface="Consolas" panose="020B0609020204030204" pitchFamily="49" charset="0"/>
              </a:endParaRP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3515331"/>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504" y="2996952"/>
            <a:ext cx="1296144" cy="1107996"/>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一个</a:t>
            </a:r>
            <a:r>
              <a:rPr lang="en-US" altLang="zh-CN" sz="2000" dirty="0">
                <a:solidFill>
                  <a:srgbClr val="3333CC"/>
                </a:solidFill>
                <a:latin typeface="+mn-lt"/>
                <a:ea typeface="+mn-ea"/>
                <a:sym typeface="Helvetica Neue"/>
              </a:rPr>
              <a:t>kernel</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可用一行</a:t>
            </a:r>
            <a:r>
              <a:rPr lang="en-US" altLang="zh-CN" sz="2000" dirty="0" err="1">
                <a:solidFill>
                  <a:srgbClr val="3333CC"/>
                </a:solidFill>
                <a:latin typeface="+mn-lt"/>
                <a:ea typeface="+mn-ea"/>
                <a:sym typeface="Helvetica Neue"/>
              </a:rPr>
              <a:t>oneDPL</a:t>
            </a:r>
            <a:r>
              <a:rPr lang="zh-CN" altLang="en-US" sz="2000" dirty="0">
                <a:solidFill>
                  <a:srgbClr val="3333CC"/>
                </a:solidFill>
                <a:latin typeface="+mn-lt"/>
                <a:ea typeface="+mn-ea"/>
                <a:sym typeface="Helvetica Neue"/>
              </a:rPr>
              <a:t>代码实现</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46769" y="2348882"/>
            <a:ext cx="6355201" cy="230424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194868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用并行</a:t>
            </a:r>
            <a:r>
              <a:rPr lang="en-US" altLang="zh-CN" dirty="0"/>
              <a:t>STL</a:t>
            </a:r>
            <a:r>
              <a:rPr lang="zh-CN" altLang="en-US" dirty="0"/>
              <a:t>简化编程（续）</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r>
              <a:rPr lang="zh-CN" altLang="en-US" dirty="0"/>
              <a:t>使用并行</a:t>
            </a:r>
            <a:r>
              <a:rPr lang="en-US" altLang="zh-CN" dirty="0"/>
              <a:t>STL</a:t>
            </a:r>
            <a:r>
              <a:rPr lang="zh-CN" altLang="en-US" dirty="0"/>
              <a:t>库函数</a:t>
            </a:r>
            <a:r>
              <a:rPr kumimoji="0" lang="en-US" altLang="zh-CN" b="0" i="0" u="none" strike="noStrike" kern="0" cap="none" spc="0" normalizeH="0" baseline="0" noProof="0" dirty="0">
                <a:ln>
                  <a:noFill/>
                </a:ln>
                <a:solidFill>
                  <a:srgbClr val="F6CB4B"/>
                </a:solidFill>
                <a:effectLst/>
                <a:uLnTx/>
                <a:uFillTx/>
                <a:latin typeface="Intel Clear Light" panose="020B0404020203020204" pitchFamily="34" charset="0"/>
                <a:sym typeface="Helvetica"/>
              </a:rPr>
              <a:t>std::fill</a:t>
            </a:r>
            <a:r>
              <a:rPr lang="zh-CN" altLang="en-US" dirty="0"/>
              <a:t>，在设备端执行，并处理所有数据传输</a:t>
            </a:r>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2492897"/>
            <a:ext cx="7652726" cy="2232247"/>
            <a:chOff x="5242989" y="505096"/>
            <a:chExt cx="5621214" cy="6257626"/>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2"/>
              <a:ext cx="5473297" cy="300896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000000"/>
                  </a:solidFill>
                  <a:latin typeface="Consolas" panose="020B0609020204030204" pitchFamily="49" charset="0"/>
                </a:rPr>
                <a:t>queue q;</a:t>
              </a:r>
            </a:p>
            <a:p>
              <a:pPr>
                <a:lnSpc>
                  <a:spcPct val="150000"/>
                </a:lnSpc>
                <a:spcBef>
                  <a:spcPts val="0"/>
                </a:spcBef>
              </a:pP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a:solidFill>
                    <a:srgbClr val="267F99"/>
                  </a:solidFill>
                  <a:latin typeface="Consolas" panose="020B0609020204030204" pitchFamily="49" charset="0"/>
                </a:rPr>
                <a:t>vector</a:t>
              </a:r>
              <a:r>
                <a:rPr lang="en-US" altLang="zh-CN" sz="1400" dirty="0">
                  <a:solidFill>
                    <a:srgbClr val="000000"/>
                  </a:solidFill>
                  <a:latin typeface="Consolas" panose="020B0609020204030204" pitchFamily="49" charset="0"/>
                </a:rPr>
                <a:t>&lt;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&gt; </a:t>
              </a:r>
              <a:r>
                <a:rPr lang="en-US" altLang="zh-CN" sz="1400" dirty="0">
                  <a:solidFill>
                    <a:srgbClr val="795E26"/>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a:solidFill>
                    <a:srgbClr val="267F99"/>
                  </a:solidFill>
                  <a:latin typeface="Consolas" panose="020B0609020204030204" pitchFamily="49" charset="0"/>
                </a:rPr>
                <a:t>N</a:t>
              </a: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a:solidFill>
                    <a:srgbClr val="795E26"/>
                  </a:solidFill>
                  <a:latin typeface="Consolas" panose="020B0609020204030204" pitchFamily="49" charset="0"/>
                </a:rPr>
                <a:t>fill</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oneapi</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dpl</a:t>
              </a:r>
              <a:r>
                <a:rPr lang="en-US" altLang="zh-CN" sz="1400" dirty="0">
                  <a:solidFill>
                    <a:srgbClr val="000000"/>
                  </a:solidFill>
                  <a:latin typeface="Consolas" panose="020B0609020204030204" pitchFamily="49" charset="0"/>
                </a:rPr>
                <a:t>::execution::</a:t>
              </a:r>
              <a:r>
                <a:rPr lang="en-US" altLang="zh-CN" sz="1400" dirty="0" err="1">
                  <a:solidFill>
                    <a:srgbClr val="000000"/>
                  </a:solidFill>
                  <a:latin typeface="Consolas" panose="020B0609020204030204" pitchFamily="49" charset="0"/>
                </a:rPr>
                <a:t>make_device_policy</a:t>
              </a:r>
              <a:r>
                <a:rPr lang="en-US" altLang="zh-CN" sz="1400" dirty="0">
                  <a:solidFill>
                    <a:srgbClr val="000000"/>
                  </a:solidFill>
                  <a:latin typeface="Consolas" panose="020B0609020204030204" pitchFamily="49" charset="0"/>
                </a:rPr>
                <a:t>(q),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begin</a:t>
              </a: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end</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20</a:t>
              </a:r>
              <a:r>
                <a:rPr lang="en-US" altLang="zh-CN" sz="1400" dirty="0">
                  <a:solidFill>
                    <a:srgbClr val="000000"/>
                  </a:solidFill>
                  <a:latin typeface="Consolas" panose="020B0609020204030204" pitchFamily="49" charset="0"/>
                </a:rPr>
                <a:t>);</a:t>
              </a:r>
            </a:p>
            <a:p>
              <a:pPr>
                <a:lnSpc>
                  <a:spcPct val="150000"/>
                </a:lnSpc>
                <a:spcBef>
                  <a:spcPts val="0"/>
                </a:spcBef>
              </a:pPr>
              <a:r>
                <a:rPr lang="en-US" altLang="zh-CN" sz="1400" dirty="0">
                  <a:solidFill>
                    <a:srgbClr val="AF00DB"/>
                  </a:solidFill>
                  <a:latin typeface="Consolas" panose="020B0609020204030204" pitchFamily="49" charset="0"/>
                </a:rPr>
                <a:t>for</a:t>
              </a:r>
              <a:r>
                <a:rPr lang="en-US" altLang="zh-CN" sz="1400" dirty="0">
                  <a:solidFill>
                    <a:srgbClr val="000000"/>
                  </a:solidFill>
                  <a:latin typeface="Consolas" panose="020B0609020204030204" pitchFamily="49" charset="0"/>
                </a:rPr>
                <a: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 </a:t>
              </a:r>
              <a:r>
                <a:rPr lang="en-US" altLang="zh-CN" sz="1400" dirty="0">
                  <a:solidFill>
                    <a:srgbClr val="098658"/>
                  </a:solidFill>
                  <a:latin typeface="Consolas" panose="020B0609020204030204" pitchFamily="49" charset="0"/>
                </a:rPr>
                <a:t>0</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size</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cout</a:t>
              </a:r>
              <a:r>
                <a:rPr lang="en-US" altLang="zh-CN" sz="1400" dirty="0">
                  <a:solidFill>
                    <a:srgbClr val="000000"/>
                  </a:solidFill>
                  <a:latin typeface="Consolas" panose="020B0609020204030204" pitchFamily="49" charset="0"/>
                </a:rPr>
                <a:t> &lt;&lt; </a:t>
              </a:r>
              <a:r>
                <a:rPr lang="en-US" altLang="zh-CN" sz="1400" dirty="0">
                  <a:solidFill>
                    <a:srgbClr val="001080"/>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&lt;&lt;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endl</a:t>
              </a:r>
              <a:r>
                <a:rPr lang="en-US" altLang="zh-CN" sz="1400" dirty="0">
                  <a:solidFill>
                    <a:srgbClr val="000000"/>
                  </a:solidFill>
                  <a:latin typeface="Consolas" panose="020B0609020204030204" pitchFamily="49" charset="0"/>
                </a:rPr>
                <a:t>;</a:t>
              </a:r>
            </a:p>
            <a:p>
              <a:pPr>
                <a:lnSpc>
                  <a:spcPct val="150000"/>
                </a:lnSpc>
                <a:spcBef>
                  <a:spcPts val="0"/>
                </a:spcBef>
              </a:pPr>
              <a:endParaRPr lang="en-US" altLang="zh-CN" sz="1400" dirty="0">
                <a:solidFill>
                  <a:srgbClr val="000000"/>
                </a:solidFill>
                <a:latin typeface="Consolas" panose="020B0609020204030204" pitchFamily="49" charset="0"/>
              </a:endParaRP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3515331"/>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504" y="2996952"/>
            <a:ext cx="1296144" cy="1107996"/>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一个</a:t>
            </a:r>
            <a:r>
              <a:rPr lang="en-US" altLang="zh-CN" sz="2000" dirty="0">
                <a:solidFill>
                  <a:srgbClr val="3333CC"/>
                </a:solidFill>
                <a:latin typeface="+mn-lt"/>
                <a:ea typeface="+mn-ea"/>
                <a:sym typeface="Helvetica Neue"/>
              </a:rPr>
              <a:t>kernel</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可用一行</a:t>
            </a:r>
            <a:r>
              <a:rPr lang="en-US" altLang="zh-CN" sz="2000" dirty="0" err="1">
                <a:solidFill>
                  <a:srgbClr val="3333CC"/>
                </a:solidFill>
                <a:latin typeface="+mn-lt"/>
                <a:ea typeface="+mn-ea"/>
                <a:sym typeface="Helvetica Neue"/>
              </a:rPr>
              <a:t>oneDPL</a:t>
            </a:r>
            <a:r>
              <a:rPr lang="zh-CN" altLang="en-US" sz="2000" dirty="0">
                <a:solidFill>
                  <a:srgbClr val="3333CC"/>
                </a:solidFill>
                <a:latin typeface="+mn-lt"/>
                <a:ea typeface="+mn-ea"/>
                <a:sym typeface="Helvetica Neue"/>
              </a:rPr>
              <a:t>代码实现</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46769" y="3164261"/>
            <a:ext cx="7389726" cy="69678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25009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完整并行</a:t>
            </a:r>
            <a:r>
              <a:rPr lang="en-US" altLang="zh-CN" dirty="0"/>
              <a:t>STL</a:t>
            </a:r>
            <a:r>
              <a:rPr lang="zh-CN" altLang="en-US" dirty="0"/>
              <a:t>例子</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2060848"/>
            <a:ext cx="7652726" cy="4558260"/>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1"/>
              <a:ext cx="5473297" cy="6962517"/>
            </a:xfrm>
            <a:prstGeom prst="rect">
              <a:avLst/>
            </a:prstGeom>
            <a:noFill/>
          </p:spPr>
          <p:txBody>
            <a:bodyPr vert="horz" wrap="square" lIns="0" tIns="0" rIns="0" bIns="0" rtlCol="0">
              <a:spAutoFit/>
            </a:bodyPr>
            <a:lstStyle/>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#include</a:t>
              </a:r>
              <a:r>
                <a:rPr kumimoji="0" lang="en-US" altLang="zh-CN" sz="1400" b="0" i="0" u="none" strike="noStrike" kern="0" cap="none" spc="0" normalizeH="0" baseline="0" noProof="0" dirty="0">
                  <a:ln>
                    <a:noFill/>
                  </a:ln>
                  <a:solidFill>
                    <a:srgbClr val="A31515"/>
                  </a:solidFill>
                  <a:effectLst/>
                  <a:uLnTx/>
                  <a:uFillTx/>
                  <a:latin typeface="Consolas" panose="020B0609020204030204" pitchFamily="49" charset="0"/>
                  <a:sym typeface="Helvetica Neue"/>
                </a:rPr>
                <a:t>&lt;CL/sycl.hpp&gt;</a:t>
              </a:r>
              <a:endPar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#include &lt;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/algorithm&gt;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#include &lt;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/execution&gt;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00FF"/>
                  </a:solidFill>
                  <a:effectLst/>
                  <a:uLnTx/>
                  <a:uFillTx/>
                  <a:latin typeface="Consolas" panose="020B0609020204030204" pitchFamily="49" charset="0"/>
                  <a:sym typeface="Helvetica Neue"/>
                </a:rPr>
                <a:t>constexpr</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N =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4</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b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b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main</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267F99"/>
                  </a:solidFill>
                  <a:effectLst/>
                  <a:uLnTx/>
                  <a:uFillTx/>
                  <a:latin typeface="Consolas" panose="020B0609020204030204" pitchFamily="49" charset="0"/>
                  <a:sym typeface="Helvetica Neue"/>
                </a:rPr>
                <a:t>sycl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::queue q;</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::vector&lt;</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&gt; </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v</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(N);</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795E26"/>
                  </a:solidFill>
                  <a:effectLst/>
                  <a:uLnTx/>
                  <a:uFillTx/>
                  <a:latin typeface="Consolas" panose="020B0609020204030204" pitchFamily="49" charset="0"/>
                  <a:sym typeface="Helvetica Neue"/>
                </a:rPr>
                <a:t>fill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::execution::</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(q),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begin</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end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20</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AF00DB"/>
                  </a:solidFill>
                  <a:effectLst/>
                  <a:uLnTx/>
                  <a:uFillTx/>
                  <a:latin typeface="Consolas" panose="020B0609020204030204" pitchFamily="49" charset="0"/>
                  <a:sym typeface="Helvetica Neue"/>
                </a:rPr>
                <a:t>for</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a:ln>
                    <a:noFill/>
                  </a:ln>
                  <a:solidFill>
                    <a:srgbClr val="0000FF"/>
                  </a:solidFill>
                  <a:effectLst/>
                  <a:uLnTx/>
                  <a:uFillTx/>
                  <a:latin typeface="Consolas" panose="020B0609020204030204" pitchFamily="49" charset="0"/>
                  <a:sym typeface="Helvetica Neue"/>
                </a:rPr>
                <a:t>int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 </a:t>
              </a:r>
              <a:r>
                <a:rPr kumimoji="0" lang="en-US" altLang="zh-CN" sz="1400" b="0" i="0" u="none" strike="noStrike" kern="0" cap="none" spc="0" normalizeH="0" baseline="0" noProof="0" dirty="0">
                  <a:ln>
                    <a:noFill/>
                  </a:ln>
                  <a:solidFill>
                    <a:srgbClr val="098658"/>
                  </a:solidFill>
                  <a:effectLst/>
                  <a:uLnTx/>
                  <a:uFillTx/>
                  <a:latin typeface="Consolas" panose="020B0609020204030204" pitchFamily="49" charset="0"/>
                  <a:sym typeface="Helvetica Neue"/>
                </a:rPr>
                <a:t>0</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 </a:t>
              </a:r>
              <a:r>
                <a:rPr kumimoji="0" lang="en-US" altLang="zh-CN" sz="1400" b="0" i="0" u="none" strike="noStrike" kern="0" cap="none" spc="0" normalizeH="0" baseline="0" noProof="0" dirty="0" err="1">
                  <a:ln>
                    <a:noFill/>
                  </a:ln>
                  <a:solidFill>
                    <a:srgbClr val="001080"/>
                  </a:solidFill>
                  <a:effectLst/>
                  <a:uLnTx/>
                  <a:uFillTx/>
                  <a:latin typeface="Consolas" panose="020B0609020204030204" pitchFamily="49" charset="0"/>
                  <a:sym typeface="Helvetica Neue"/>
                </a:rPr>
                <a:t>v</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795E26"/>
                  </a:solidFill>
                  <a:effectLst/>
                  <a:uLnTx/>
                  <a:uFillTx/>
                  <a:latin typeface="Consolas" panose="020B0609020204030204" pitchFamily="49" charset="0"/>
                  <a:sym typeface="Helvetica Neue"/>
                </a:rPr>
                <a:t>size</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cout</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altLang="zh-CN" sz="1400" b="0" i="0" u="none" strike="noStrike" kern="0" cap="none" spc="0" normalizeH="0" baseline="0" noProof="0" dirty="0">
                  <a:ln>
                    <a:noFill/>
                  </a:ln>
                  <a:solidFill>
                    <a:srgbClr val="001080"/>
                  </a:solidFill>
                  <a:effectLst/>
                  <a:uLnTx/>
                  <a:uFillTx/>
                  <a:latin typeface="Consolas" panose="020B0609020204030204" pitchFamily="49" charset="0"/>
                  <a:sym typeface="Helvetica Neue"/>
                </a:rPr>
                <a:t>v</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i</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 &lt;&lt; </a:t>
              </a:r>
              <a:r>
                <a:rPr kumimoji="0" lang="en-US" altLang="zh-CN"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std</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0000"/>
                  </a:solidFill>
                  <a:effectLst/>
                  <a:uLnTx/>
                  <a:uFillTx/>
                  <a:latin typeface="Consolas" panose="020B0609020204030204" pitchFamily="49" charset="0"/>
                  <a:sym typeface="Helvetica Neue"/>
                </a:rPr>
                <a:t>endl</a:t>
              </a: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0000"/>
                  </a:solidFill>
                  <a:effectLst/>
                  <a:uLnTx/>
                  <a:uFillTx/>
                  <a:latin typeface="Consolas" panose="020B0609020204030204" pitchFamily="49" charset="0"/>
                  <a:sym typeface="Helvetica Neue"/>
                </a:rPr>
                <a:t>}</a:t>
              </a: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2767375"/>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845" y="2512685"/>
            <a:ext cx="1296144" cy="553998"/>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en-US" altLang="zh-CN" sz="2000" dirty="0">
                <a:solidFill>
                  <a:srgbClr val="3333CC"/>
                </a:solidFill>
                <a:latin typeface="+mn-lt"/>
                <a:ea typeface="+mn-ea"/>
                <a:sym typeface="Helvetica Neue"/>
              </a:rPr>
              <a:t>DPC++</a:t>
            </a:r>
            <a:r>
              <a:rPr lang="zh-CN" altLang="en-US" sz="2000" dirty="0">
                <a:solidFill>
                  <a:srgbClr val="3333CC"/>
                </a:solidFill>
                <a:latin typeface="+mn-lt"/>
                <a:ea typeface="+mn-ea"/>
                <a:sym typeface="Helvetica Neue"/>
              </a:rPr>
              <a:t>库</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头文件</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17762" y="2441290"/>
            <a:ext cx="3170262" cy="69678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0" name="Straight Arrow Connector 20">
            <a:extLst>
              <a:ext uri="{FF2B5EF4-FFF2-40B4-BE49-F238E27FC236}">
                <a16:creationId xmlns:a16="http://schemas.microsoft.com/office/drawing/2014/main" id="{E3C434EC-D81E-4EAA-8C06-76B58764951E}"/>
              </a:ext>
            </a:extLst>
          </p:cNvPr>
          <p:cNvCxnSpPr>
            <a:cxnSpLocks/>
          </p:cNvCxnSpPr>
          <p:nvPr/>
        </p:nvCxnSpPr>
        <p:spPr>
          <a:xfrm>
            <a:off x="1187283" y="5361940"/>
            <a:ext cx="432731" cy="0"/>
          </a:xfrm>
          <a:prstGeom prst="straightConnector1">
            <a:avLst/>
          </a:prstGeom>
          <a:noFill/>
          <a:ln w="25400" cap="flat" cmpd="sng" algn="ctr">
            <a:solidFill>
              <a:srgbClr val="D96930"/>
            </a:solidFill>
            <a:prstDash val="solid"/>
            <a:tailEnd type="triangle"/>
          </a:ln>
          <a:effectLst/>
        </p:spPr>
      </p:cxnSp>
      <p:sp>
        <p:nvSpPr>
          <p:cNvPr id="11" name="TextBox 21">
            <a:extLst>
              <a:ext uri="{FF2B5EF4-FFF2-40B4-BE49-F238E27FC236}">
                <a16:creationId xmlns:a16="http://schemas.microsoft.com/office/drawing/2014/main" id="{43C48423-FBF6-4F35-98F8-A6E8876DE33A}"/>
              </a:ext>
            </a:extLst>
          </p:cNvPr>
          <p:cNvSpPr txBox="1"/>
          <p:nvPr/>
        </p:nvSpPr>
        <p:spPr>
          <a:xfrm>
            <a:off x="107504" y="5107250"/>
            <a:ext cx="1296144" cy="553998"/>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en-US" altLang="zh-CN" sz="2000" dirty="0">
                <a:solidFill>
                  <a:srgbClr val="3333CC"/>
                </a:solidFill>
                <a:latin typeface="+mn-lt"/>
                <a:ea typeface="+mn-ea"/>
                <a:sym typeface="Helvetica Neue"/>
              </a:rPr>
              <a:t>DPC++</a:t>
            </a:r>
            <a:r>
              <a:rPr lang="zh-CN" altLang="en-US" sz="2000" dirty="0">
                <a:solidFill>
                  <a:srgbClr val="3333CC"/>
                </a:solidFill>
                <a:latin typeface="+mn-lt"/>
                <a:ea typeface="+mn-ea"/>
                <a:sym typeface="Helvetica Neue"/>
              </a:rPr>
              <a:t>库</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头文件</a:t>
            </a:r>
            <a:endParaRPr lang="en-US" altLang="zh-CN" sz="2000" dirty="0">
              <a:solidFill>
                <a:srgbClr val="3333CC"/>
              </a:solidFill>
              <a:latin typeface="+mn-lt"/>
              <a:ea typeface="+mn-ea"/>
              <a:sym typeface="Helvetica Neue"/>
            </a:endParaRPr>
          </a:p>
        </p:txBody>
      </p:sp>
      <p:sp>
        <p:nvSpPr>
          <p:cNvPr id="12" name="Flowchart: Process 24">
            <a:extLst>
              <a:ext uri="{FF2B5EF4-FFF2-40B4-BE49-F238E27FC236}">
                <a16:creationId xmlns:a16="http://schemas.microsoft.com/office/drawing/2014/main" id="{72090B7F-6382-4887-983A-10195B7A1CB8}"/>
              </a:ext>
            </a:extLst>
          </p:cNvPr>
          <p:cNvSpPr/>
          <p:nvPr/>
        </p:nvSpPr>
        <p:spPr>
          <a:xfrm>
            <a:off x="1617421" y="5013176"/>
            <a:ext cx="7451352" cy="69678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309740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P spid="11" grpId="0"/>
      <p:bldP spid="12"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zh-CN" altLang="en-US" dirty="0"/>
              <a:t>并行</a:t>
            </a:r>
            <a:r>
              <a:rPr lang="en-US" altLang="zh-CN" dirty="0"/>
              <a:t>STL</a:t>
            </a:r>
            <a:r>
              <a:rPr lang="zh-CN" altLang="en-US" dirty="0"/>
              <a:t>工作机制</a:t>
            </a:r>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可用普通迭代器调用并行</a:t>
            </a:r>
            <a:r>
              <a:rPr lang="en-US" altLang="zh-CN" dirty="0"/>
              <a:t>STL</a:t>
            </a:r>
            <a:r>
              <a:rPr lang="zh-CN" altLang="en-US" dirty="0"/>
              <a:t>算法</a:t>
            </a:r>
            <a:endParaRPr lang="en-US" altLang="zh-CN" dirty="0"/>
          </a:p>
          <a:p>
            <a:r>
              <a:rPr lang="zh-CN" altLang="en-US" dirty="0"/>
              <a:t>编译器会帮助创建一个</a:t>
            </a:r>
            <a:r>
              <a:rPr lang="zh-CN" altLang="en-US" dirty="0">
                <a:latin typeface="黑体" panose="02010609060101010101" pitchFamily="49" charset="-122"/>
                <a:ea typeface="黑体" panose="02010609060101010101" pitchFamily="49" charset="-122"/>
              </a:rPr>
              <a:t>临时</a:t>
            </a:r>
            <a:r>
              <a:rPr lang="en-US" altLang="zh-CN" dirty="0"/>
              <a:t>SYCL</a:t>
            </a:r>
            <a:r>
              <a:rPr lang="zh-CN" altLang="en-US" dirty="0">
                <a:latin typeface="黑体" panose="02010609060101010101" pitchFamily="49" charset="-122"/>
                <a:ea typeface="黑体" panose="02010609060101010101" pitchFamily="49" charset="-122"/>
              </a:rPr>
              <a:t>缓冲</a:t>
            </a:r>
            <a:r>
              <a:rPr lang="zh-CN" altLang="en-US" dirty="0"/>
              <a:t>，将数据拷贝到此缓冲中</a:t>
            </a:r>
            <a:endParaRPr lang="en-US" altLang="zh-CN" dirty="0"/>
          </a:p>
          <a:p>
            <a:r>
              <a:rPr lang="zh-CN" altLang="en-US" dirty="0"/>
              <a:t>在设备上处理完临时缓冲后，数据再</a:t>
            </a:r>
            <a:r>
              <a:rPr lang="zh-CN" altLang="en-US" dirty="0">
                <a:latin typeface="黑体" panose="02010609060101010101" pitchFamily="49" charset="-122"/>
                <a:ea typeface="黑体" panose="02010609060101010101" pitchFamily="49" charset="-122"/>
              </a:rPr>
              <a:t>拷贝回</a:t>
            </a:r>
            <a:r>
              <a:rPr lang="zh-CN" altLang="en-US" dirty="0"/>
              <a:t>主机端</a:t>
            </a:r>
            <a:endParaRPr lang="en-US" altLang="zh-CN" dirty="0"/>
          </a:p>
        </p:txBody>
      </p:sp>
    </p:spTree>
    <p:extLst>
      <p:ext uri="{BB962C8B-B14F-4D97-AF65-F5344CB8AC3E}">
        <p14:creationId xmlns:p14="http://schemas.microsoft.com/office/powerpoint/2010/main" val="393081594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多个并行</a:t>
            </a:r>
            <a:r>
              <a:rPr lang="en-US" altLang="zh-CN" dirty="0"/>
              <a:t>STL</a:t>
            </a:r>
            <a:r>
              <a:rPr lang="zh-CN" altLang="en-US" dirty="0"/>
              <a:t>调用</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2051720" y="1412776"/>
            <a:ext cx="6876256" cy="3384376"/>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1"/>
              <a:ext cx="5473297" cy="4456727"/>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000000"/>
                  </a:solidFill>
                  <a:latin typeface="Consolas" panose="020B0609020204030204" pitchFamily="49" charset="0"/>
                </a:rPr>
                <a:t>queue q;</a:t>
              </a:r>
            </a:p>
            <a:p>
              <a:pPr>
                <a:lnSpc>
                  <a:spcPct val="150000"/>
                </a:lnSpc>
                <a:spcBef>
                  <a:spcPts val="0"/>
                </a:spcBef>
              </a:pP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::vector&lt;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&gt; v{</a:t>
              </a:r>
              <a:r>
                <a:rPr lang="en-US" altLang="zh-CN" sz="1400" dirty="0">
                  <a:solidFill>
                    <a:srgbClr val="098658"/>
                  </a:solidFill>
                  <a:latin typeface="Consolas" panose="020B0609020204030204" pitchFamily="49" charset="0"/>
                </a:rPr>
                <a:t>2</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3</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1</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4</a:t>
              </a:r>
              <a:r>
                <a:rPr lang="en-US" altLang="zh-CN" sz="1400" dirty="0">
                  <a:solidFill>
                    <a:srgbClr val="000000"/>
                  </a:solidFill>
                  <a:latin typeface="Consolas" panose="020B0609020204030204" pitchFamily="49" charset="0"/>
                </a:rPr>
                <a:t>};</a:t>
              </a:r>
            </a:p>
            <a:p>
              <a:pPr>
                <a:lnSpc>
                  <a:spcPct val="150000"/>
                </a:lnSpc>
                <a:spcBef>
                  <a:spcPts val="0"/>
                </a:spcBef>
              </a:pPr>
              <a:br>
                <a:rPr lang="en-US" altLang="zh-CN" sz="1400" dirty="0">
                  <a:solidFill>
                    <a:srgbClr val="000000"/>
                  </a:solidFill>
                  <a:latin typeface="Consolas" panose="020B0609020204030204" pitchFamily="49" charset="0"/>
                </a:rPr>
              </a:b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for_each</a:t>
              </a:r>
              <a:r>
                <a:rPr lang="en-US" altLang="zh-CN" sz="1400" dirty="0">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make_device_policy</a:t>
              </a:r>
              <a:r>
                <a:rPr lang="en-US" altLang="zh-CN" sz="1400" dirty="0">
                  <a:solidFill>
                    <a:srgbClr val="000000"/>
                  </a:solidFill>
                  <a:latin typeface="Consolas" panose="020B0609020204030204" pitchFamily="49" charset="0"/>
                </a:rPr>
                <a:t>(q),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begin</a:t>
              </a: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end</a:t>
              </a:r>
              <a:r>
                <a:rPr lang="en-US" altLang="zh-CN" sz="1400" dirty="0">
                  <a:solidFill>
                    <a:srgbClr val="000000"/>
                  </a:solidFill>
                  <a:latin typeface="Consolas" panose="020B0609020204030204" pitchFamily="49" charset="0"/>
                </a:rPr>
                <a:t>(), [](</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 </a:t>
              </a:r>
              <a:r>
                <a:rPr lang="en-US" altLang="zh-CN" sz="1400" dirty="0">
                  <a:solidFill>
                    <a:srgbClr val="0000FF"/>
                  </a:solidFill>
                  <a:latin typeface="Consolas" panose="020B0609020204030204" pitchFamily="49" charset="0"/>
                </a:rPr>
                <a:t>&amp;</a:t>
              </a:r>
              <a:r>
                <a:rPr lang="en-US" altLang="zh-CN" sz="1400" dirty="0">
                  <a:solidFill>
                    <a:srgbClr val="001080"/>
                  </a:solidFill>
                  <a:latin typeface="Consolas" panose="020B0609020204030204" pitchFamily="49" charset="0"/>
                </a:rPr>
                <a:t>a</a:t>
              </a:r>
              <a:r>
                <a:rPr lang="en-US" altLang="zh-CN" sz="1400" dirty="0">
                  <a:solidFill>
                    <a:srgbClr val="000000"/>
                  </a:solidFill>
                  <a:latin typeface="Consolas" panose="020B0609020204030204" pitchFamily="49" charset="0"/>
                </a:rPr>
                <a:t>){ a *= </a:t>
              </a:r>
              <a:r>
                <a:rPr lang="en-US" altLang="zh-CN" sz="1400" dirty="0">
                  <a:solidFill>
                    <a:srgbClr val="098658"/>
                  </a:solidFill>
                  <a:latin typeface="Consolas" panose="020B0609020204030204" pitchFamily="49" charset="0"/>
                </a:rPr>
                <a:t>2</a:t>
              </a:r>
              <a:r>
                <a:rPr lang="en-US" altLang="zh-CN" sz="1400" dirty="0">
                  <a:solidFill>
                    <a:srgbClr val="000000"/>
                  </a:solidFill>
                  <a:latin typeface="Consolas" panose="020B0609020204030204" pitchFamily="49" charset="0"/>
                </a:rPr>
                <a:t>; });</a:t>
              </a:r>
            </a:p>
            <a:p>
              <a:pPr>
                <a:lnSpc>
                  <a:spcPct val="150000"/>
                </a:lnSpc>
                <a:spcBef>
                  <a:spcPts val="0"/>
                </a:spcBef>
              </a:pPr>
              <a:endParaRPr lang="en-US" altLang="zh-CN" sz="1400" dirty="0">
                <a:solidFill>
                  <a:srgbClr val="267F99"/>
                </a:solidFill>
                <a:latin typeface="Consolas" panose="020B0609020204030204" pitchFamily="49" charset="0"/>
              </a:endParaRPr>
            </a:p>
            <a:p>
              <a:pPr>
                <a:lnSpc>
                  <a:spcPct val="150000"/>
                </a:lnSpc>
                <a:spcBef>
                  <a:spcPts val="0"/>
                </a:spcBef>
              </a:pP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a:solidFill>
                    <a:srgbClr val="795E26"/>
                  </a:solidFill>
                  <a:latin typeface="Consolas" panose="020B0609020204030204" pitchFamily="49" charset="0"/>
                </a:rPr>
                <a:t>sort</a:t>
              </a:r>
              <a:r>
                <a:rPr lang="en-US" altLang="zh-CN" sz="1400" dirty="0">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make_device_policy</a:t>
              </a:r>
              <a:r>
                <a:rPr lang="en-US" altLang="zh-CN" sz="1400" dirty="0">
                  <a:solidFill>
                    <a:srgbClr val="000000"/>
                  </a:solidFill>
                  <a:latin typeface="Consolas" panose="020B0609020204030204" pitchFamily="49" charset="0"/>
                </a:rPr>
                <a:t>(q),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begin</a:t>
              </a:r>
              <a:r>
                <a:rPr lang="en-US" altLang="zh-CN" sz="1400" dirty="0">
                  <a:solidFill>
                    <a:srgbClr val="000000"/>
                  </a:solidFill>
                  <a:latin typeface="Consolas" panose="020B0609020204030204" pitchFamily="49" charset="0"/>
                </a:rPr>
                <a: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end</a:t>
              </a:r>
              <a:r>
                <a:rPr lang="en-US" altLang="zh-CN" sz="1400" dirty="0">
                  <a:solidFill>
                    <a:srgbClr val="000000"/>
                  </a:solidFill>
                  <a:latin typeface="Consolas" panose="020B0609020204030204" pitchFamily="49" charset="0"/>
                </a:rPr>
                <a:t>());</a:t>
              </a:r>
            </a:p>
            <a:p>
              <a:pPr>
                <a:lnSpc>
                  <a:spcPct val="150000"/>
                </a:lnSpc>
                <a:spcBef>
                  <a:spcPts val="0"/>
                </a:spcBef>
              </a:pPr>
              <a:br>
                <a:rPr lang="en-US" altLang="zh-CN" sz="1400" dirty="0">
                  <a:solidFill>
                    <a:srgbClr val="000000"/>
                  </a:solidFill>
                  <a:latin typeface="Consolas" panose="020B0609020204030204" pitchFamily="49" charset="0"/>
                </a:rPr>
              </a:br>
              <a:r>
                <a:rPr lang="en-US" altLang="zh-CN" sz="1400" dirty="0">
                  <a:solidFill>
                    <a:srgbClr val="AF00DB"/>
                  </a:solidFill>
                  <a:latin typeface="Consolas" panose="020B0609020204030204" pitchFamily="49" charset="0"/>
                </a:rPr>
                <a:t>for</a:t>
              </a:r>
              <a:r>
                <a:rPr lang="en-US" altLang="zh-CN" sz="1400" dirty="0">
                  <a:solidFill>
                    <a:srgbClr val="000000"/>
                  </a:solidFill>
                  <a:latin typeface="Consolas" panose="020B0609020204030204" pitchFamily="49" charset="0"/>
                </a:rPr>
                <a:t>(</a:t>
              </a:r>
              <a:r>
                <a:rPr lang="en-US" altLang="zh-CN" sz="1400" dirty="0">
                  <a:solidFill>
                    <a:srgbClr val="0000FF"/>
                  </a:solidFill>
                  <a:latin typeface="Consolas" panose="020B0609020204030204" pitchFamily="49" charset="0"/>
                </a:rPr>
                <a:t>int</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 </a:t>
              </a:r>
              <a:r>
                <a:rPr lang="en-US" altLang="zh-CN" sz="1400" dirty="0">
                  <a:solidFill>
                    <a:srgbClr val="098658"/>
                  </a:solidFill>
                  <a:latin typeface="Consolas" panose="020B0609020204030204" pitchFamily="49" charset="0"/>
                </a:rPr>
                <a:t>0</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 </a:t>
              </a:r>
              <a:r>
                <a:rPr lang="en-US" altLang="zh-CN" sz="1400" dirty="0" err="1">
                  <a:solidFill>
                    <a:srgbClr val="001080"/>
                  </a:solidFill>
                  <a:latin typeface="Consolas" panose="020B0609020204030204" pitchFamily="49" charset="0"/>
                </a:rPr>
                <a:t>v</a:t>
              </a:r>
              <a:r>
                <a:rPr lang="en-US" altLang="zh-CN" sz="1400" dirty="0" err="1">
                  <a:solidFill>
                    <a:srgbClr val="000000"/>
                  </a:solidFill>
                  <a:latin typeface="Consolas" panose="020B0609020204030204" pitchFamily="49" charset="0"/>
                </a:rPr>
                <a:t>.</a:t>
              </a:r>
              <a:r>
                <a:rPr lang="en-US" altLang="zh-CN" sz="1400" dirty="0" err="1">
                  <a:solidFill>
                    <a:srgbClr val="795E26"/>
                  </a:solidFill>
                  <a:latin typeface="Consolas" panose="020B0609020204030204" pitchFamily="49" charset="0"/>
                </a:rPr>
                <a:t>size</a:t>
              </a:r>
              <a:r>
                <a:rPr lang="en-US" altLang="zh-CN" sz="1400" dirty="0">
                  <a:solidFill>
                    <a:srgbClr val="000000"/>
                  </a:solidFill>
                  <a:latin typeface="Consolas" panose="020B0609020204030204" pitchFamily="49" charset="0"/>
                </a:rPr>
                <a:t>(); </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cout</a:t>
              </a:r>
              <a:r>
                <a:rPr lang="en-US" altLang="zh-CN" sz="1400" dirty="0">
                  <a:solidFill>
                    <a:srgbClr val="000000"/>
                  </a:solidFill>
                  <a:latin typeface="Consolas" panose="020B0609020204030204" pitchFamily="49" charset="0"/>
                </a:rPr>
                <a:t> &lt;&lt; </a:t>
              </a:r>
              <a:r>
                <a:rPr lang="en-US" altLang="zh-CN" sz="1400" dirty="0">
                  <a:solidFill>
                    <a:srgbClr val="001080"/>
                  </a:solidFill>
                  <a:latin typeface="Consolas" panose="020B0609020204030204" pitchFamily="49" charset="0"/>
                </a:rPr>
                <a:t>v</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i</a:t>
              </a:r>
              <a:r>
                <a:rPr lang="en-US" altLang="zh-CN" sz="1400" dirty="0">
                  <a:solidFill>
                    <a:srgbClr val="000000"/>
                  </a:solidFill>
                  <a:latin typeface="Consolas" panose="020B0609020204030204" pitchFamily="49" charset="0"/>
                </a:rPr>
                <a:t>] &lt;&lt; </a:t>
              </a:r>
              <a:r>
                <a:rPr lang="en-US" altLang="zh-CN" sz="1400" dirty="0">
                  <a:solidFill>
                    <a:srgbClr val="267F99"/>
                  </a:solidFill>
                  <a:latin typeface="Consolas" panose="020B0609020204030204" pitchFamily="49" charset="0"/>
                </a:rPr>
                <a:t>std</a:t>
              </a:r>
              <a:r>
                <a:rPr lang="en-US" altLang="zh-CN" sz="1400" dirty="0">
                  <a:solidFill>
                    <a:srgbClr val="000000"/>
                  </a:solidFill>
                  <a:latin typeface="Consolas" panose="020B0609020204030204" pitchFamily="49" charset="0"/>
                </a:rPr>
                <a:t>::</a:t>
              </a:r>
              <a:r>
                <a:rPr lang="en-US" altLang="zh-CN" sz="1400" dirty="0" err="1">
                  <a:solidFill>
                    <a:srgbClr val="000000"/>
                  </a:solidFill>
                  <a:latin typeface="Consolas" panose="020B0609020204030204" pitchFamily="49" charset="0"/>
                </a:rPr>
                <a:t>endl</a:t>
              </a:r>
              <a:r>
                <a:rPr lang="en-US" altLang="zh-CN" sz="1400" dirty="0">
                  <a:solidFill>
                    <a:srgbClr val="000000"/>
                  </a:solidFill>
                  <a:latin typeface="Consolas" panose="020B0609020204030204" pitchFamily="49" charset="0"/>
                </a:rPr>
                <a:t>;</a:t>
              </a: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523055" y="3129692"/>
            <a:ext cx="601015"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504" y="2564904"/>
            <a:ext cx="1800200" cy="1107996"/>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可正常工作，</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但每个库函数</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之后都会将数据拷回主机端一次</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2121477" y="2372171"/>
            <a:ext cx="6806498" cy="1377675"/>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
        <p:nvSpPr>
          <p:cNvPr id="16" name="TextBox 21">
            <a:extLst>
              <a:ext uri="{FF2B5EF4-FFF2-40B4-BE49-F238E27FC236}">
                <a16:creationId xmlns:a16="http://schemas.microsoft.com/office/drawing/2014/main" id="{36336269-C248-46E2-8ECA-1F510C9C1018}"/>
              </a:ext>
            </a:extLst>
          </p:cNvPr>
          <p:cNvSpPr txBox="1"/>
          <p:nvPr/>
        </p:nvSpPr>
        <p:spPr>
          <a:xfrm>
            <a:off x="3851920" y="5043805"/>
            <a:ext cx="318773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FF0000"/>
                </a:solidFill>
                <a:latin typeface="+mn-lt"/>
                <a:ea typeface="+mn-ea"/>
                <a:sym typeface="Helvetica Neue"/>
              </a:rPr>
              <a:t>解决方案：“缓冲迭代器”</a:t>
            </a:r>
            <a:endParaRPr lang="en-US" altLang="zh-CN" sz="2000" dirty="0">
              <a:solidFill>
                <a:srgbClr val="FF0000"/>
              </a:solidFill>
              <a:latin typeface="+mn-lt"/>
              <a:ea typeface="+mn-ea"/>
              <a:sym typeface="Helvetica Neue"/>
            </a:endParaRPr>
          </a:p>
        </p:txBody>
      </p:sp>
    </p:spTree>
    <p:extLst>
      <p:ext uri="{BB962C8B-B14F-4D97-AF65-F5344CB8AC3E}">
        <p14:creationId xmlns:p14="http://schemas.microsoft.com/office/powerpoint/2010/main" val="35940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P spid="16"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zh-CN" altLang="en-US" dirty="0"/>
              <a:t>缓冲迭代器</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1535036"/>
            <a:ext cx="7652726" cy="4558260"/>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1"/>
              <a:ext cx="5473297" cy="5108730"/>
            </a:xfrm>
            <a:prstGeom prst="rect">
              <a:avLst/>
            </a:prstGeom>
            <a:noFill/>
          </p:spPr>
          <p:txBody>
            <a:bodyPr vert="horz" wrap="square" lIns="0" tIns="0" rIns="0" bIns="0" rtlCol="0">
              <a:spAutoFit/>
            </a:bodyPr>
            <a:lstStyle/>
            <a:p>
              <a:pPr>
                <a:lnSpc>
                  <a:spcPct val="150000"/>
                </a:lnSpc>
                <a:spcBef>
                  <a:spcPts val="0"/>
                </a:spcBef>
              </a:pPr>
              <a:r>
                <a:rPr lang="en-US" altLang="zh-CN" sz="1200" dirty="0">
                  <a:solidFill>
                    <a:srgbClr val="000000"/>
                  </a:solidFill>
                  <a:latin typeface="Consolas" panose="020B0609020204030204" pitchFamily="49" charset="0"/>
                </a:rPr>
                <a:t>queue q;</a:t>
              </a:r>
            </a:p>
            <a:p>
              <a:pPr>
                <a:lnSpc>
                  <a:spcPct val="150000"/>
                </a:lnSpc>
                <a:spcBef>
                  <a:spcPts val="0"/>
                </a:spcBef>
              </a:pP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::vector&lt;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&gt; v{</a:t>
              </a:r>
              <a:r>
                <a:rPr lang="en-US" altLang="zh-CN" sz="1200" dirty="0">
                  <a:solidFill>
                    <a:srgbClr val="098658"/>
                  </a:solidFill>
                  <a:latin typeface="Consolas" panose="020B0609020204030204" pitchFamily="49" charset="0"/>
                </a:rPr>
                <a:t>2</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3</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1</a:t>
              </a:r>
              <a:r>
                <a:rPr lang="en-US" altLang="zh-CN" sz="1200" dirty="0">
                  <a:solidFill>
                    <a:srgbClr val="000000"/>
                  </a:solidFill>
                  <a:latin typeface="Consolas" panose="020B0609020204030204" pitchFamily="49" charset="0"/>
                </a:rPr>
                <a:t>,</a:t>
              </a:r>
              <a:r>
                <a:rPr lang="en-US" altLang="zh-CN" sz="1200" dirty="0">
                  <a:solidFill>
                    <a:srgbClr val="098658"/>
                  </a:solidFill>
                  <a:latin typeface="Consolas" panose="020B0609020204030204" pitchFamily="49" charset="0"/>
                </a:rPr>
                <a:t>4</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  buffer </a:t>
              </a:r>
              <a:r>
                <a:rPr lang="en-US" altLang="zh-CN" sz="1200" dirty="0" err="1">
                  <a:solidFill>
                    <a:srgbClr val="000000"/>
                  </a:solidFill>
                  <a:latin typeface="Consolas" panose="020B0609020204030204" pitchFamily="49" charset="0"/>
                </a:rPr>
                <a:t>buf</a:t>
              </a:r>
              <a:r>
                <a:rPr lang="en-US" altLang="zh-CN" sz="1200" dirty="0">
                  <a:solidFill>
                    <a:srgbClr val="000000"/>
                  </a:solidFill>
                  <a:latin typeface="Consolas" panose="020B0609020204030204" pitchFamily="49" charset="0"/>
                </a:rPr>
                <a:t>(v);</a:t>
              </a:r>
            </a:p>
            <a:p>
              <a:pPr>
                <a:lnSpc>
                  <a:spcPct val="150000"/>
                </a:lnSpc>
                <a:spcBef>
                  <a:spcPts val="0"/>
                </a:spcBef>
              </a:pPr>
              <a:r>
                <a:rPr lang="en-US" altLang="zh-CN" sz="1200" dirty="0">
                  <a:solidFill>
                    <a:srgbClr val="000000"/>
                  </a:solidFill>
                  <a:latin typeface="Consolas" panose="020B0609020204030204" pitchFamily="49" charset="0"/>
                </a:rPr>
                <a:t>  </a:t>
              </a:r>
            </a:p>
            <a:p>
              <a:pPr>
                <a:lnSpc>
                  <a:spcPct val="150000"/>
                </a:lnSpc>
                <a:spcBef>
                  <a:spcPts val="0"/>
                </a:spcBef>
              </a:pPr>
              <a:r>
                <a:rPr lang="en-US" altLang="zh-CN" sz="1200" dirty="0">
                  <a:solidFill>
                    <a:srgbClr val="000000"/>
                  </a:solidFill>
                  <a:latin typeface="Consolas" panose="020B0609020204030204" pitchFamily="49" charset="0"/>
                </a:rPr>
                <a:t>auto </a:t>
              </a:r>
              <a:r>
                <a:rPr lang="en-US" altLang="zh-CN" sz="1200" dirty="0" err="1">
                  <a:solidFill>
                    <a:srgbClr val="000000"/>
                  </a:solidFill>
                  <a:latin typeface="Consolas" panose="020B0609020204030204" pitchFamily="49" charset="0"/>
                </a:rPr>
                <a:t>buf_begin</a:t>
              </a:r>
              <a:r>
                <a:rPr lang="en-US" altLang="zh-CN" sz="1200" dirty="0">
                  <a:solidFill>
                    <a:srgbClr val="000000"/>
                  </a:solidFill>
                  <a:latin typeface="Consolas" panose="020B0609020204030204" pitchFamily="49" charset="0"/>
                </a:rPr>
                <a:t> = </a:t>
              </a:r>
              <a:r>
                <a:rPr lang="en-US" altLang="zh-CN" sz="1200" dirty="0" err="1">
                  <a:solidFill>
                    <a:srgbClr val="000000"/>
                  </a:solidFill>
                  <a:latin typeface="Consolas" panose="020B0609020204030204" pitchFamily="49" charset="0"/>
                </a:rPr>
                <a:t>oneapi</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dpl</a:t>
              </a:r>
              <a:r>
                <a:rPr lang="en-US" altLang="zh-CN" sz="1200" dirty="0">
                  <a:solidFill>
                    <a:srgbClr val="000000"/>
                  </a:solidFill>
                  <a:latin typeface="Consolas" panose="020B0609020204030204" pitchFamily="49" charset="0"/>
                </a:rPr>
                <a:t>::begin(</a:t>
              </a:r>
              <a:r>
                <a:rPr lang="en-US" altLang="zh-CN" sz="1200" dirty="0" err="1">
                  <a:solidFill>
                    <a:srgbClr val="000000"/>
                  </a:solidFill>
                  <a:latin typeface="Consolas" panose="020B0609020204030204" pitchFamily="49" charset="0"/>
                </a:rPr>
                <a:t>buf</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auto </a:t>
              </a:r>
              <a:r>
                <a:rPr lang="en-US" altLang="zh-CN" sz="1200" dirty="0" err="1">
                  <a:solidFill>
                    <a:srgbClr val="000000"/>
                  </a:solidFill>
                  <a:latin typeface="Consolas" panose="020B0609020204030204" pitchFamily="49" charset="0"/>
                </a:rPr>
                <a:t>buf_end</a:t>
              </a:r>
              <a:r>
                <a:rPr lang="en-US" altLang="zh-CN" sz="1200" dirty="0">
                  <a:solidFill>
                    <a:srgbClr val="000000"/>
                  </a:solidFill>
                  <a:latin typeface="Consolas" panose="020B0609020204030204" pitchFamily="49" charset="0"/>
                </a:rPr>
                <a:t>   = </a:t>
              </a:r>
              <a:r>
                <a:rPr lang="en-US" altLang="zh-CN" sz="1200" dirty="0" err="1">
                  <a:solidFill>
                    <a:srgbClr val="000000"/>
                  </a:solidFill>
                  <a:latin typeface="Consolas" panose="020B0609020204030204" pitchFamily="49" charset="0"/>
                </a:rPr>
                <a:t>oneapi</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dpl</a:t>
              </a:r>
              <a:r>
                <a:rPr lang="en-US" altLang="zh-CN" sz="1200" dirty="0">
                  <a:solidFill>
                    <a:srgbClr val="000000"/>
                  </a:solidFill>
                  <a:latin typeface="Consolas" panose="020B0609020204030204" pitchFamily="49" charset="0"/>
                </a:rPr>
                <a:t>::end(</a:t>
              </a:r>
              <a:r>
                <a:rPr lang="en-US" altLang="zh-CN" sz="1200" dirty="0" err="1">
                  <a:solidFill>
                    <a:srgbClr val="000000"/>
                  </a:solidFill>
                  <a:latin typeface="Consolas" panose="020B0609020204030204" pitchFamily="49" charset="0"/>
                </a:rPr>
                <a:t>buf</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267F99"/>
                  </a:solidFill>
                  <a:latin typeface="Consolas" panose="020B0609020204030204" pitchFamily="49" charset="0"/>
                </a:rPr>
                <a:t>  std</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for_each</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make_device_policy</a:t>
              </a:r>
              <a:r>
                <a:rPr lang="en-US" altLang="zh-CN" sz="1200" dirty="0">
                  <a:solidFill>
                    <a:srgbClr val="000000"/>
                  </a:solidFill>
                  <a:latin typeface="Consolas" panose="020B0609020204030204" pitchFamily="49" charset="0"/>
                </a:rPr>
                <a:t>(q), </a:t>
              </a:r>
              <a:r>
                <a:rPr lang="en-US" altLang="zh-CN" sz="1200" dirty="0" err="1">
                  <a:solidFill>
                    <a:srgbClr val="267F99"/>
                  </a:solidFill>
                  <a:latin typeface="Consolas" panose="020B0609020204030204" pitchFamily="49" charset="0"/>
                </a:rPr>
                <a:t>buf_begin</a:t>
              </a:r>
              <a:r>
                <a:rPr lang="en-US" altLang="zh-CN" sz="1200" dirty="0">
                  <a:solidFill>
                    <a:srgbClr val="000000"/>
                  </a:solidFill>
                  <a:latin typeface="Consolas" panose="020B0609020204030204" pitchFamily="49" charset="0"/>
                </a:rPr>
                <a:t>, </a:t>
              </a:r>
              <a:r>
                <a:rPr lang="en-US" altLang="zh-CN" sz="1200" dirty="0" err="1">
                  <a:solidFill>
                    <a:srgbClr val="267F99"/>
                  </a:solidFill>
                  <a:latin typeface="Consolas" panose="020B0609020204030204" pitchFamily="49" charset="0"/>
                </a:rPr>
                <a:t>buf_end</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&amp;</a:t>
              </a:r>
              <a:r>
                <a:rPr lang="en-US" altLang="zh-CN" sz="1200" dirty="0">
                  <a:solidFill>
                    <a:srgbClr val="001080"/>
                  </a:solidFill>
                  <a:latin typeface="Consolas" panose="020B0609020204030204" pitchFamily="49" charset="0"/>
                </a:rPr>
                <a:t>a</a:t>
              </a:r>
              <a:r>
                <a:rPr lang="en-US" altLang="zh-CN" sz="1200" dirty="0">
                  <a:solidFill>
                    <a:srgbClr val="000000"/>
                  </a:solidFill>
                  <a:latin typeface="Consolas" panose="020B0609020204030204" pitchFamily="49" charset="0"/>
                </a:rPr>
                <a:t>){ a *= </a:t>
              </a:r>
              <a:r>
                <a:rPr lang="en-US" altLang="zh-CN" sz="1200" dirty="0">
                  <a:solidFill>
                    <a:srgbClr val="098658"/>
                  </a:solidFill>
                  <a:latin typeface="Consolas" panose="020B0609020204030204" pitchFamily="49" charset="0"/>
                </a:rPr>
                <a:t>2</a:t>
              </a:r>
              <a:r>
                <a:rPr lang="en-US" altLang="zh-CN" sz="1200" dirty="0">
                  <a:solidFill>
                    <a:srgbClr val="000000"/>
                  </a:solidFill>
                  <a:latin typeface="Consolas" panose="020B0609020204030204" pitchFamily="49" charset="0"/>
                </a:rPr>
                <a:t>; });</a:t>
              </a:r>
              <a:r>
                <a:rPr lang="en-US" altLang="zh-CN" sz="1200" dirty="0">
                  <a:solidFill>
                    <a:srgbClr val="267F99"/>
                  </a:solidFill>
                  <a:latin typeface="Consolas" panose="020B0609020204030204" pitchFamily="49" charset="0"/>
                </a:rPr>
                <a:t>  </a:t>
              </a:r>
            </a:p>
            <a:p>
              <a:pPr>
                <a:lnSpc>
                  <a:spcPct val="150000"/>
                </a:lnSpc>
                <a:spcBef>
                  <a:spcPts val="0"/>
                </a:spcBef>
              </a:pPr>
              <a:r>
                <a:rPr lang="en-US" altLang="zh-CN" sz="1200" dirty="0">
                  <a:solidFill>
                    <a:srgbClr val="267F99"/>
                  </a:solidFill>
                  <a:latin typeface="Consolas" panose="020B0609020204030204" pitchFamily="49" charset="0"/>
                </a:rPr>
                <a:t>  std</a:t>
              </a:r>
              <a:r>
                <a:rPr lang="en-US" altLang="zh-CN" sz="1200" dirty="0">
                  <a:solidFill>
                    <a:srgbClr val="000000"/>
                  </a:solidFill>
                  <a:latin typeface="Consolas" panose="020B0609020204030204" pitchFamily="49" charset="0"/>
                </a:rPr>
                <a:t>::</a:t>
              </a:r>
              <a:r>
                <a:rPr lang="en-US" altLang="zh-CN" sz="1200" dirty="0">
                  <a:solidFill>
                    <a:srgbClr val="795E26"/>
                  </a:solidFill>
                  <a:latin typeface="Consolas" panose="020B0609020204030204" pitchFamily="49" charset="0"/>
                </a:rPr>
                <a:t>sort</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make_device_policy</a:t>
              </a:r>
              <a:r>
                <a:rPr lang="en-US" altLang="zh-CN" sz="1200" dirty="0">
                  <a:solidFill>
                    <a:srgbClr val="000000"/>
                  </a:solidFill>
                  <a:latin typeface="Consolas" panose="020B0609020204030204" pitchFamily="49" charset="0"/>
                </a:rPr>
                <a:t>(q), </a:t>
              </a:r>
              <a:r>
                <a:rPr lang="en-US" altLang="zh-CN" sz="1200" dirty="0" err="1">
                  <a:solidFill>
                    <a:srgbClr val="267F99"/>
                  </a:solidFill>
                  <a:latin typeface="Consolas" panose="020B0609020204030204" pitchFamily="49" charset="0"/>
                </a:rPr>
                <a:t>buf_</a:t>
              </a:r>
              <a:r>
                <a:rPr lang="en-US" altLang="zh-CN" sz="1200" dirty="0" err="1">
                  <a:solidFill>
                    <a:srgbClr val="795E26"/>
                  </a:solidFill>
                  <a:latin typeface="Consolas" panose="020B0609020204030204" pitchFamily="49" charset="0"/>
                </a:rPr>
                <a:t>begin</a:t>
              </a:r>
              <a:r>
                <a:rPr lang="en-US" altLang="zh-CN" sz="1200" dirty="0">
                  <a:solidFill>
                    <a:srgbClr val="000000"/>
                  </a:solidFill>
                  <a:latin typeface="Consolas" panose="020B0609020204030204" pitchFamily="49" charset="0"/>
                </a:rPr>
                <a:t>, </a:t>
              </a:r>
              <a:r>
                <a:rPr lang="en-US" altLang="zh-CN" sz="1200" dirty="0" err="1">
                  <a:solidFill>
                    <a:srgbClr val="267F99"/>
                  </a:solidFill>
                  <a:latin typeface="Consolas" panose="020B0609020204030204" pitchFamily="49" charset="0"/>
                </a:rPr>
                <a:t>buf_</a:t>
              </a:r>
              <a:r>
                <a:rPr lang="en-US" altLang="zh-CN" sz="1200" dirty="0" err="1">
                  <a:solidFill>
                    <a:srgbClr val="795E26"/>
                  </a:solidFill>
                  <a:latin typeface="Consolas" panose="020B0609020204030204" pitchFamily="49" charset="0"/>
                </a:rPr>
                <a:t>end</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000000"/>
                  </a:solidFill>
                  <a:latin typeface="Consolas" panose="020B0609020204030204" pitchFamily="49" charset="0"/>
                </a:rPr>
                <a:t>}</a:t>
              </a:r>
              <a:br>
                <a:rPr lang="en-US" altLang="zh-CN" sz="1200" dirty="0">
                  <a:solidFill>
                    <a:srgbClr val="000000"/>
                  </a:solidFill>
                  <a:latin typeface="Consolas" panose="020B0609020204030204" pitchFamily="49" charset="0"/>
                </a:rPr>
              </a:b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a:t>
              </a:r>
              <a:r>
                <a:rPr lang="en-US" altLang="zh-CN" sz="1200" dirty="0" err="1">
                  <a:solidFill>
                    <a:srgbClr val="001080"/>
                  </a:solidFill>
                  <a:latin typeface="Consolas" panose="020B0609020204030204" pitchFamily="49" charset="0"/>
                </a:rPr>
                <a:t>v</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size</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cout</a:t>
              </a:r>
              <a:r>
                <a:rPr lang="en-US" altLang="zh-CN" sz="1200" dirty="0">
                  <a:solidFill>
                    <a:srgbClr val="000000"/>
                  </a:solidFill>
                  <a:latin typeface="Consolas" panose="020B0609020204030204" pitchFamily="49" charset="0"/>
                </a:rPr>
                <a:t> &lt;&lt; </a:t>
              </a:r>
              <a:r>
                <a:rPr lang="en-US" altLang="zh-CN" sz="1200" dirty="0">
                  <a:solidFill>
                    <a:srgbClr val="001080"/>
                  </a:solidFill>
                  <a:latin typeface="Consolas" panose="020B0609020204030204" pitchFamily="49" charset="0"/>
                </a:rPr>
                <a:t>v</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&lt;&lt;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endl</a:t>
              </a:r>
              <a:r>
                <a:rPr lang="en-US" altLang="zh-CN" sz="1200" dirty="0">
                  <a:solidFill>
                    <a:srgbClr val="000000"/>
                  </a:solidFill>
                  <a:latin typeface="Consolas" panose="020B0609020204030204" pitchFamily="49" charset="0"/>
                </a:rPr>
                <a:t>;</a:t>
              </a: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2891602"/>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845" y="2780928"/>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创建缓冲</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17762" y="2732212"/>
            <a:ext cx="3170262" cy="26481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0" name="Straight Arrow Connector 20">
            <a:extLst>
              <a:ext uri="{FF2B5EF4-FFF2-40B4-BE49-F238E27FC236}">
                <a16:creationId xmlns:a16="http://schemas.microsoft.com/office/drawing/2014/main" id="{E3C434EC-D81E-4EAA-8C06-76B58764951E}"/>
              </a:ext>
            </a:extLst>
          </p:cNvPr>
          <p:cNvCxnSpPr>
            <a:cxnSpLocks/>
          </p:cNvCxnSpPr>
          <p:nvPr/>
        </p:nvCxnSpPr>
        <p:spPr>
          <a:xfrm>
            <a:off x="1187283" y="4209812"/>
            <a:ext cx="432731" cy="0"/>
          </a:xfrm>
          <a:prstGeom prst="straightConnector1">
            <a:avLst/>
          </a:prstGeom>
          <a:noFill/>
          <a:ln w="25400" cap="flat" cmpd="sng" algn="ctr">
            <a:solidFill>
              <a:srgbClr val="D96930"/>
            </a:solidFill>
            <a:prstDash val="solid"/>
            <a:tailEnd type="triangle"/>
          </a:ln>
          <a:effectLst/>
        </p:spPr>
      </p:cxnSp>
      <p:sp>
        <p:nvSpPr>
          <p:cNvPr id="11" name="TextBox 21">
            <a:extLst>
              <a:ext uri="{FF2B5EF4-FFF2-40B4-BE49-F238E27FC236}">
                <a16:creationId xmlns:a16="http://schemas.microsoft.com/office/drawing/2014/main" id="{43C48423-FBF6-4F35-98F8-A6E8876DE33A}"/>
              </a:ext>
            </a:extLst>
          </p:cNvPr>
          <p:cNvSpPr txBox="1"/>
          <p:nvPr/>
        </p:nvSpPr>
        <p:spPr>
          <a:xfrm>
            <a:off x="107504" y="3955122"/>
            <a:ext cx="1296144" cy="553998"/>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en-US" altLang="zh-CN" sz="2000" dirty="0">
                <a:solidFill>
                  <a:srgbClr val="3333CC"/>
                </a:solidFill>
                <a:latin typeface="+mn-lt"/>
                <a:ea typeface="+mn-ea"/>
                <a:sym typeface="Helvetica Neue"/>
              </a:rPr>
              <a:t>DPC++</a:t>
            </a:r>
            <a:r>
              <a:rPr lang="zh-CN" altLang="en-US" sz="2000" dirty="0">
                <a:solidFill>
                  <a:srgbClr val="3333CC"/>
                </a:solidFill>
                <a:latin typeface="+mn-lt"/>
                <a:ea typeface="+mn-ea"/>
                <a:sym typeface="Helvetica Neue"/>
              </a:rPr>
              <a:t>库</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头文件</a:t>
            </a:r>
            <a:endParaRPr lang="en-US" altLang="zh-CN" sz="2000" dirty="0">
              <a:solidFill>
                <a:srgbClr val="3333CC"/>
              </a:solidFill>
              <a:latin typeface="+mn-lt"/>
              <a:ea typeface="+mn-ea"/>
              <a:sym typeface="Helvetica Neue"/>
            </a:endParaRPr>
          </a:p>
        </p:txBody>
      </p:sp>
      <p:sp>
        <p:nvSpPr>
          <p:cNvPr id="12" name="Flowchart: Process 24">
            <a:extLst>
              <a:ext uri="{FF2B5EF4-FFF2-40B4-BE49-F238E27FC236}">
                <a16:creationId xmlns:a16="http://schemas.microsoft.com/office/drawing/2014/main" id="{72090B7F-6382-4887-983A-10195B7A1CB8}"/>
              </a:ext>
            </a:extLst>
          </p:cNvPr>
          <p:cNvSpPr/>
          <p:nvPr/>
        </p:nvSpPr>
        <p:spPr>
          <a:xfrm>
            <a:off x="1617421" y="3308276"/>
            <a:ext cx="3674659" cy="480760"/>
          </a:xfrm>
          <a:prstGeom prst="flowChartProcess">
            <a:avLst/>
          </a:prstGeom>
          <a:noFill/>
          <a:ln w="38100" cap="flat" cmpd="sng" algn="ctr">
            <a:solidFill>
              <a:srgbClr val="FF000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3" name="Straight Arrow Connector 20">
            <a:extLst>
              <a:ext uri="{FF2B5EF4-FFF2-40B4-BE49-F238E27FC236}">
                <a16:creationId xmlns:a16="http://schemas.microsoft.com/office/drawing/2014/main" id="{178077C4-9295-4F54-BB6A-CA43467CAA25}"/>
              </a:ext>
            </a:extLst>
          </p:cNvPr>
          <p:cNvCxnSpPr>
            <a:cxnSpLocks/>
          </p:cNvCxnSpPr>
          <p:nvPr/>
        </p:nvCxnSpPr>
        <p:spPr>
          <a:xfrm flipH="1">
            <a:off x="5317636" y="3067712"/>
            <a:ext cx="509804" cy="480944"/>
          </a:xfrm>
          <a:prstGeom prst="straightConnector1">
            <a:avLst/>
          </a:prstGeom>
          <a:noFill/>
          <a:ln w="25400" cap="flat" cmpd="sng" algn="ctr">
            <a:solidFill>
              <a:srgbClr val="FF0000"/>
            </a:solidFill>
            <a:prstDash val="solid"/>
            <a:tailEnd type="triangle"/>
          </a:ln>
          <a:effectLst/>
        </p:spPr>
      </p:cxnSp>
      <p:sp>
        <p:nvSpPr>
          <p:cNvPr id="14" name="TextBox 21">
            <a:extLst>
              <a:ext uri="{FF2B5EF4-FFF2-40B4-BE49-F238E27FC236}">
                <a16:creationId xmlns:a16="http://schemas.microsoft.com/office/drawing/2014/main" id="{DAA9FF20-A74A-4089-8791-74A779F5A7AA}"/>
              </a:ext>
            </a:extLst>
          </p:cNvPr>
          <p:cNvSpPr txBox="1"/>
          <p:nvPr/>
        </p:nvSpPr>
        <p:spPr>
          <a:xfrm>
            <a:off x="5827440" y="2780928"/>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FF0000"/>
                </a:solidFill>
                <a:latin typeface="+mn-lt"/>
                <a:ea typeface="+mn-ea"/>
                <a:sym typeface="Helvetica Neue"/>
              </a:rPr>
              <a:t>缓冲迭代器</a:t>
            </a:r>
            <a:endParaRPr lang="en-US" altLang="zh-CN" sz="2000" dirty="0">
              <a:solidFill>
                <a:srgbClr val="FF0000"/>
              </a:solidFill>
              <a:latin typeface="+mn-lt"/>
              <a:ea typeface="+mn-ea"/>
              <a:sym typeface="Helvetica Neue"/>
            </a:endParaRPr>
          </a:p>
        </p:txBody>
      </p:sp>
    </p:spTree>
    <p:extLst>
      <p:ext uri="{BB962C8B-B14F-4D97-AF65-F5344CB8AC3E}">
        <p14:creationId xmlns:p14="http://schemas.microsoft.com/office/powerpoint/2010/main" val="214190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P spid="11" grpId="0"/>
      <p:bldP spid="12" grpId="0" animBg="1"/>
      <p:bldP spid="14"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en-US" altLang="zh-CN" dirty="0"/>
              <a:t>DPC++</a:t>
            </a:r>
            <a:r>
              <a:rPr lang="zh-CN" altLang="en-US" dirty="0"/>
              <a:t>库结合</a:t>
            </a:r>
            <a:r>
              <a:rPr lang="en-US" altLang="zh-CN" dirty="0"/>
              <a:t>USM</a:t>
            </a:r>
            <a:r>
              <a:rPr lang="zh-CN" altLang="en-US" dirty="0"/>
              <a:t>指针</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1535036"/>
            <a:ext cx="7652726" cy="4558260"/>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1"/>
              <a:ext cx="5473297" cy="4679166"/>
            </a:xfrm>
            <a:prstGeom prst="rect">
              <a:avLst/>
            </a:prstGeom>
            <a:noFill/>
          </p:spPr>
          <p:txBody>
            <a:bodyPr vert="horz" wrap="square" lIns="0" tIns="0" rIns="0" bIns="0" rtlCol="0">
              <a:spAutoFit/>
            </a:bodyPr>
            <a:lstStyle/>
            <a:p>
              <a:pPr>
                <a:lnSpc>
                  <a:spcPct val="150000"/>
                </a:lnSpc>
                <a:spcBef>
                  <a:spcPts val="0"/>
                </a:spcBef>
              </a:pPr>
              <a:r>
                <a:rPr lang="en-US" altLang="zh-CN" sz="1200" dirty="0">
                  <a:solidFill>
                    <a:srgbClr val="000000"/>
                  </a:solidFill>
                  <a:latin typeface="Consolas" panose="020B0609020204030204" pitchFamily="49" charset="0"/>
                </a:rPr>
                <a:t>queue q;</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data = </a:t>
              </a:r>
              <a:r>
                <a:rPr lang="en-US" altLang="zh-CN" sz="1200" dirty="0" err="1">
                  <a:solidFill>
                    <a:srgbClr val="795E26"/>
                  </a:solidFill>
                  <a:latin typeface="Consolas" panose="020B0609020204030204" pitchFamily="49" charset="0"/>
                </a:rPr>
                <a:t>malloc_shared</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&gt;(N, q);</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a:solidFill>
                    <a:srgbClr val="795E26"/>
                  </a:solidFill>
                  <a:latin typeface="Consolas" panose="020B0609020204030204" pitchFamily="49" charset="0"/>
                </a:rPr>
                <a:t>fill</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make_device_policy</a:t>
              </a:r>
              <a:r>
                <a:rPr lang="en-US" altLang="zh-CN" sz="1200" dirty="0">
                  <a:solidFill>
                    <a:srgbClr val="000000"/>
                  </a:solidFill>
                  <a:latin typeface="Consolas" panose="020B0609020204030204" pitchFamily="49" charset="0"/>
                </a:rPr>
                <a:t>(q), data, data + N, </a:t>
              </a:r>
              <a:r>
                <a:rPr lang="en-US" altLang="zh-CN" sz="1200" dirty="0">
                  <a:solidFill>
                    <a:srgbClr val="098658"/>
                  </a:solidFill>
                  <a:latin typeface="Consolas" panose="020B0609020204030204" pitchFamily="49" charset="0"/>
                </a:rPr>
                <a:t>20</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wait</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N;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cout</a:t>
              </a:r>
              <a:r>
                <a:rPr lang="en-US" altLang="zh-CN" sz="1200" dirty="0">
                  <a:solidFill>
                    <a:srgbClr val="000000"/>
                  </a:solidFill>
                  <a:latin typeface="Consolas" panose="020B0609020204030204" pitchFamily="49" charset="0"/>
                </a:rPr>
                <a:t> &lt;&lt; </a:t>
              </a:r>
              <a:r>
                <a:rPr lang="en-US" altLang="zh-CN" sz="1200" dirty="0">
                  <a:solidFill>
                    <a:srgbClr val="001080"/>
                  </a:solidFill>
                  <a:latin typeface="Consolas" panose="020B0609020204030204" pitchFamily="49" charset="0"/>
                </a:rPr>
                <a:t>data</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&lt;&lt;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endl</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795E26"/>
                  </a:solidFill>
                  <a:latin typeface="Consolas" panose="020B0609020204030204" pitchFamily="49" charset="0"/>
                </a:rPr>
                <a:t>free</a:t>
              </a:r>
              <a:r>
                <a:rPr lang="en-US" altLang="zh-CN" sz="1200" dirty="0">
                  <a:solidFill>
                    <a:srgbClr val="000000"/>
                  </a:solidFill>
                  <a:latin typeface="Consolas" panose="020B0609020204030204" pitchFamily="49" charset="0"/>
                </a:rPr>
                <a:t>(data, q);</a:t>
              </a:r>
            </a:p>
            <a:p>
              <a:pPr>
                <a:lnSpc>
                  <a:spcPct val="150000"/>
                </a:lnSpc>
                <a:spcBef>
                  <a:spcPts val="0"/>
                </a:spcBef>
              </a:pPr>
              <a:br>
                <a:rPr lang="en-US" altLang="zh-CN" sz="1200" dirty="0">
                  <a:solidFill>
                    <a:srgbClr val="000000"/>
                  </a:solidFill>
                  <a:latin typeface="Consolas" panose="020B0609020204030204" pitchFamily="49" charset="0"/>
                </a:rPr>
              </a:br>
              <a:endParaRPr lang="en-US" altLang="zh-CN" sz="1200" dirty="0">
                <a:solidFill>
                  <a:srgbClr val="000000"/>
                </a:solidFill>
                <a:latin typeface="Consolas" panose="020B0609020204030204" pitchFamily="49" charset="0"/>
              </a:endParaRP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2326571"/>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845" y="2060848"/>
            <a:ext cx="1296144" cy="553998"/>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分配</a:t>
            </a:r>
            <a:r>
              <a:rPr lang="en-US" altLang="zh-CN" sz="2000" dirty="0">
                <a:solidFill>
                  <a:srgbClr val="3333CC"/>
                </a:solidFill>
                <a:latin typeface="+mn-lt"/>
                <a:ea typeface="+mn-ea"/>
                <a:sym typeface="Helvetica Neue"/>
              </a:rPr>
              <a:t>USM</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共享内存</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17762" y="2167181"/>
            <a:ext cx="3242270" cy="26481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0" name="Straight Arrow Connector 20">
            <a:extLst>
              <a:ext uri="{FF2B5EF4-FFF2-40B4-BE49-F238E27FC236}">
                <a16:creationId xmlns:a16="http://schemas.microsoft.com/office/drawing/2014/main" id="{E3C434EC-D81E-4EAA-8C06-76B58764951E}"/>
              </a:ext>
            </a:extLst>
          </p:cNvPr>
          <p:cNvCxnSpPr>
            <a:cxnSpLocks/>
          </p:cNvCxnSpPr>
          <p:nvPr/>
        </p:nvCxnSpPr>
        <p:spPr>
          <a:xfrm>
            <a:off x="1187283" y="3129692"/>
            <a:ext cx="432731" cy="0"/>
          </a:xfrm>
          <a:prstGeom prst="straightConnector1">
            <a:avLst/>
          </a:prstGeom>
          <a:noFill/>
          <a:ln w="25400" cap="flat" cmpd="sng" algn="ctr">
            <a:solidFill>
              <a:srgbClr val="D96930"/>
            </a:solidFill>
            <a:prstDash val="solid"/>
            <a:tailEnd type="triangle"/>
          </a:ln>
          <a:effectLst/>
        </p:spPr>
      </p:cxnSp>
      <p:sp>
        <p:nvSpPr>
          <p:cNvPr id="11" name="TextBox 21">
            <a:extLst>
              <a:ext uri="{FF2B5EF4-FFF2-40B4-BE49-F238E27FC236}">
                <a16:creationId xmlns:a16="http://schemas.microsoft.com/office/drawing/2014/main" id="{43C48423-FBF6-4F35-98F8-A6E8876DE33A}"/>
              </a:ext>
            </a:extLst>
          </p:cNvPr>
          <p:cNvSpPr txBox="1"/>
          <p:nvPr/>
        </p:nvSpPr>
        <p:spPr>
          <a:xfrm>
            <a:off x="107504" y="2996952"/>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等待完成</a:t>
            </a:r>
            <a:endParaRPr lang="en-US" altLang="zh-CN" sz="2000" dirty="0">
              <a:solidFill>
                <a:srgbClr val="3333CC"/>
              </a:solidFill>
              <a:latin typeface="+mn-lt"/>
              <a:ea typeface="+mn-ea"/>
              <a:sym typeface="Helvetica Neue"/>
            </a:endParaRPr>
          </a:p>
        </p:txBody>
      </p:sp>
      <p:sp>
        <p:nvSpPr>
          <p:cNvPr id="12" name="Flowchart: Process 24">
            <a:extLst>
              <a:ext uri="{FF2B5EF4-FFF2-40B4-BE49-F238E27FC236}">
                <a16:creationId xmlns:a16="http://schemas.microsoft.com/office/drawing/2014/main" id="{72090B7F-6382-4887-983A-10195B7A1CB8}"/>
              </a:ext>
            </a:extLst>
          </p:cNvPr>
          <p:cNvSpPr/>
          <p:nvPr/>
        </p:nvSpPr>
        <p:spPr>
          <a:xfrm>
            <a:off x="4427984" y="2732212"/>
            <a:ext cx="1336848" cy="263363"/>
          </a:xfrm>
          <a:prstGeom prst="flowChartProcess">
            <a:avLst/>
          </a:prstGeom>
          <a:noFill/>
          <a:ln w="38100" cap="flat" cmpd="sng" algn="ctr">
            <a:solidFill>
              <a:srgbClr val="FF000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3" name="Straight Arrow Connector 20">
            <a:extLst>
              <a:ext uri="{FF2B5EF4-FFF2-40B4-BE49-F238E27FC236}">
                <a16:creationId xmlns:a16="http://schemas.microsoft.com/office/drawing/2014/main" id="{178077C4-9295-4F54-BB6A-CA43467CAA25}"/>
              </a:ext>
            </a:extLst>
          </p:cNvPr>
          <p:cNvCxnSpPr>
            <a:cxnSpLocks/>
          </p:cNvCxnSpPr>
          <p:nvPr/>
        </p:nvCxnSpPr>
        <p:spPr>
          <a:xfrm flipH="1">
            <a:off x="5764832" y="2374374"/>
            <a:ext cx="545006" cy="357838"/>
          </a:xfrm>
          <a:prstGeom prst="straightConnector1">
            <a:avLst/>
          </a:prstGeom>
          <a:noFill/>
          <a:ln w="25400" cap="flat" cmpd="sng" algn="ctr">
            <a:solidFill>
              <a:srgbClr val="FF0000"/>
            </a:solidFill>
            <a:prstDash val="solid"/>
            <a:tailEnd type="triangle"/>
          </a:ln>
          <a:effectLst/>
        </p:spPr>
      </p:cxnSp>
      <p:sp>
        <p:nvSpPr>
          <p:cNvPr id="14" name="TextBox 21">
            <a:extLst>
              <a:ext uri="{FF2B5EF4-FFF2-40B4-BE49-F238E27FC236}">
                <a16:creationId xmlns:a16="http://schemas.microsoft.com/office/drawing/2014/main" id="{DAA9FF20-A74A-4089-8791-74A779F5A7AA}"/>
              </a:ext>
            </a:extLst>
          </p:cNvPr>
          <p:cNvSpPr txBox="1"/>
          <p:nvPr/>
        </p:nvSpPr>
        <p:spPr>
          <a:xfrm>
            <a:off x="6300192" y="2204864"/>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FF0000"/>
                </a:solidFill>
                <a:latin typeface="+mn-lt"/>
                <a:ea typeface="+mn-ea"/>
                <a:sym typeface="Helvetica Neue"/>
              </a:rPr>
              <a:t>迭代指针</a:t>
            </a:r>
            <a:endParaRPr lang="en-US" altLang="zh-CN" sz="2000" dirty="0">
              <a:solidFill>
                <a:srgbClr val="FF0000"/>
              </a:solidFill>
              <a:latin typeface="+mn-lt"/>
              <a:ea typeface="+mn-ea"/>
              <a:sym typeface="Helvetica Neue"/>
            </a:endParaRPr>
          </a:p>
        </p:txBody>
      </p:sp>
      <p:sp>
        <p:nvSpPr>
          <p:cNvPr id="16" name="Flowchart: Process 24">
            <a:extLst>
              <a:ext uri="{FF2B5EF4-FFF2-40B4-BE49-F238E27FC236}">
                <a16:creationId xmlns:a16="http://schemas.microsoft.com/office/drawing/2014/main" id="{41D95B91-6F8F-4F19-9221-5950AA8447C5}"/>
              </a:ext>
            </a:extLst>
          </p:cNvPr>
          <p:cNvSpPr/>
          <p:nvPr/>
        </p:nvSpPr>
        <p:spPr>
          <a:xfrm>
            <a:off x="1619121" y="3020166"/>
            <a:ext cx="859370" cy="26481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349430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P spid="11" grpId="0"/>
      <p:bldP spid="12" grpId="0" animBg="1"/>
      <p:bldP spid="14" grpId="0"/>
      <p:bldP spid="16"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en-US" altLang="zh-CN" dirty="0"/>
              <a:t>DPC++</a:t>
            </a:r>
            <a:r>
              <a:rPr lang="zh-CN" altLang="en-US" dirty="0"/>
              <a:t>库结合</a:t>
            </a:r>
            <a:r>
              <a:rPr lang="en-US" altLang="zh-CN" dirty="0"/>
              <a:t>USM</a:t>
            </a:r>
            <a:r>
              <a:rPr lang="zh-CN" altLang="en-US" dirty="0"/>
              <a:t>分配器</a:t>
            </a:r>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endParaRPr lang="zh-CN" altLang="en-US" dirty="0"/>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1535036"/>
            <a:ext cx="7652726" cy="4558260"/>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1"/>
              <a:ext cx="5473297" cy="3820038"/>
            </a:xfrm>
            <a:prstGeom prst="rect">
              <a:avLst/>
            </a:prstGeom>
            <a:noFill/>
          </p:spPr>
          <p:txBody>
            <a:bodyPr vert="horz" wrap="square" lIns="0" tIns="0" rIns="0" bIns="0" rtlCol="0">
              <a:spAutoFit/>
            </a:bodyPr>
            <a:lstStyle/>
            <a:p>
              <a:pPr>
                <a:lnSpc>
                  <a:spcPct val="150000"/>
                </a:lnSpc>
                <a:spcBef>
                  <a:spcPts val="0"/>
                </a:spcBef>
              </a:pPr>
              <a:r>
                <a:rPr lang="en-US" altLang="zh-CN" sz="1200" dirty="0">
                  <a:solidFill>
                    <a:srgbClr val="000000"/>
                  </a:solidFill>
                  <a:latin typeface="Consolas" panose="020B0609020204030204" pitchFamily="49" charset="0"/>
                </a:rPr>
                <a:t>queue q;</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err="1">
                  <a:solidFill>
                    <a:srgbClr val="267F99"/>
                  </a:solidFill>
                  <a:latin typeface="Consolas" panose="020B0609020204030204" pitchFamily="49" charset="0"/>
                </a:rPr>
                <a:t>usm_allocator</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267F99"/>
                  </a:solidFill>
                  <a:latin typeface="Consolas" panose="020B0609020204030204" pitchFamily="49" charset="0"/>
                </a:rPr>
                <a:t>usm</a:t>
              </a:r>
              <a:r>
                <a:rPr lang="en-US" altLang="zh-CN" sz="1200" dirty="0">
                  <a:solidFill>
                    <a:srgbClr val="000000"/>
                  </a:solidFill>
                  <a:latin typeface="Consolas" panose="020B0609020204030204" pitchFamily="49" charset="0"/>
                </a:rPr>
                <a:t>::</a:t>
              </a:r>
              <a:r>
                <a:rPr lang="en-US" altLang="zh-CN" sz="1200" dirty="0" err="1">
                  <a:solidFill>
                    <a:srgbClr val="267F99"/>
                  </a:solidFill>
                  <a:latin typeface="Consolas" panose="020B0609020204030204" pitchFamily="49" charset="0"/>
                </a:rPr>
                <a:t>alloc</a:t>
              </a:r>
              <a:r>
                <a:rPr lang="en-US" altLang="zh-CN" sz="1200" dirty="0">
                  <a:solidFill>
                    <a:srgbClr val="000000"/>
                  </a:solidFill>
                  <a:latin typeface="Consolas" panose="020B0609020204030204" pitchFamily="49" charset="0"/>
                </a:rPr>
                <a:t>::</a:t>
              </a:r>
              <a:r>
                <a:rPr lang="en-US" altLang="zh-CN" sz="1200" dirty="0">
                  <a:solidFill>
                    <a:srgbClr val="267F99"/>
                  </a:solidFill>
                  <a:latin typeface="Consolas" panose="020B0609020204030204" pitchFamily="49" charset="0"/>
                </a:rPr>
                <a:t>shared</a:t>
              </a:r>
              <a:r>
                <a:rPr lang="en-US" altLang="zh-CN" sz="1200" dirty="0">
                  <a:solidFill>
                    <a:srgbClr val="000000"/>
                  </a:solidFill>
                  <a:latin typeface="Consolas" panose="020B0609020204030204" pitchFamily="49" charset="0"/>
                </a:rPr>
                <a:t>&gt; </a:t>
              </a:r>
              <a:r>
                <a:rPr lang="en-US" altLang="zh-CN" sz="1200" dirty="0" err="1">
                  <a:solidFill>
                    <a:srgbClr val="795E26"/>
                  </a:solidFill>
                  <a:latin typeface="Consolas" panose="020B0609020204030204" pitchFamily="49" charset="0"/>
                </a:rPr>
                <a:t>alloc</a:t>
              </a:r>
              <a:r>
                <a:rPr lang="en-US" altLang="zh-CN" sz="1200" dirty="0">
                  <a:solidFill>
                    <a:srgbClr val="000000"/>
                  </a:solidFill>
                  <a:latin typeface="Consolas" panose="020B0609020204030204" pitchFamily="49" charset="0"/>
                </a:rPr>
                <a:t>(</a:t>
              </a:r>
              <a:r>
                <a:rPr lang="en-US" altLang="zh-CN" sz="1200" dirty="0">
                  <a:solidFill>
                    <a:srgbClr val="267F99"/>
                  </a:solidFill>
                  <a:latin typeface="Consolas" panose="020B0609020204030204" pitchFamily="49" charset="0"/>
                </a:rPr>
                <a:t>q</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a:solidFill>
                    <a:srgbClr val="267F99"/>
                  </a:solidFill>
                  <a:latin typeface="Consolas" panose="020B0609020204030204" pitchFamily="49" charset="0"/>
                </a:rPr>
                <a:t>vector</a:t>
              </a:r>
              <a:r>
                <a:rPr lang="en-US" altLang="zh-CN" sz="1200" dirty="0">
                  <a:solidFill>
                    <a:srgbClr val="000000"/>
                  </a:solidFill>
                  <a:latin typeface="Consolas" panose="020B0609020204030204" pitchFamily="49" charset="0"/>
                </a:rPr>
                <a:t>&lt;</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FF"/>
                  </a:solidFill>
                  <a:latin typeface="Consolas" panose="020B0609020204030204" pitchFamily="49" charset="0"/>
                </a:rPr>
                <a:t>decltype</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alloc</a:t>
              </a:r>
              <a:r>
                <a:rPr lang="en-US" altLang="zh-CN" sz="1200" dirty="0">
                  <a:solidFill>
                    <a:srgbClr val="000000"/>
                  </a:solidFill>
                  <a:latin typeface="Consolas" panose="020B0609020204030204" pitchFamily="49" charset="0"/>
                </a:rPr>
                <a:t>)&gt; </a:t>
              </a:r>
              <a:r>
                <a:rPr lang="en-US" altLang="zh-CN" sz="1200" dirty="0">
                  <a:solidFill>
                    <a:srgbClr val="795E26"/>
                  </a:solidFill>
                  <a:latin typeface="Consolas" panose="020B0609020204030204" pitchFamily="49" charset="0"/>
                </a:rPr>
                <a:t>v</a:t>
              </a:r>
              <a:r>
                <a:rPr lang="en-US" altLang="zh-CN" sz="1200" dirty="0">
                  <a:solidFill>
                    <a:srgbClr val="000000"/>
                  </a:solidFill>
                  <a:latin typeface="Consolas" panose="020B0609020204030204" pitchFamily="49" charset="0"/>
                </a:rPr>
                <a:t>(</a:t>
              </a:r>
              <a:r>
                <a:rPr lang="en-US" altLang="zh-CN" sz="1200" dirty="0">
                  <a:solidFill>
                    <a:srgbClr val="267F99"/>
                  </a:solidFill>
                  <a:latin typeface="Consolas" panose="020B0609020204030204" pitchFamily="49" charset="0"/>
                </a:rPr>
                <a:t>N</a:t>
              </a:r>
              <a:r>
                <a:rPr lang="en-US" altLang="zh-CN" sz="1200" dirty="0">
                  <a:solidFill>
                    <a:srgbClr val="000000"/>
                  </a:solidFill>
                  <a:latin typeface="Consolas" panose="020B0609020204030204" pitchFamily="49" charset="0"/>
                </a:rPr>
                <a:t>, </a:t>
              </a:r>
              <a:r>
                <a:rPr lang="en-US" altLang="zh-CN" sz="1200" dirty="0" err="1">
                  <a:solidFill>
                    <a:srgbClr val="267F99"/>
                  </a:solidFill>
                  <a:latin typeface="Consolas" panose="020B0609020204030204" pitchFamily="49" charset="0"/>
                </a:rPr>
                <a:t>alloc</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a:solidFill>
                    <a:srgbClr val="795E26"/>
                  </a:solidFill>
                  <a:latin typeface="Consolas" panose="020B0609020204030204" pitchFamily="49" charset="0"/>
                </a:rPr>
                <a:t>fill</a:t>
              </a:r>
              <a:r>
                <a:rPr lang="en-US" altLang="zh-CN" sz="1200" dirty="0">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make_device_policy</a:t>
              </a:r>
              <a:r>
                <a:rPr lang="en-US" altLang="zh-CN" sz="1200" dirty="0">
                  <a:solidFill>
                    <a:srgbClr val="000000"/>
                  </a:solidFill>
                  <a:latin typeface="Consolas" panose="020B0609020204030204" pitchFamily="49" charset="0"/>
                </a:rPr>
                <a:t>(q), </a:t>
              </a:r>
              <a:r>
                <a:rPr lang="en-US" altLang="zh-CN" sz="1200" dirty="0" err="1">
                  <a:solidFill>
                    <a:srgbClr val="001080"/>
                  </a:solidFill>
                  <a:latin typeface="Consolas" panose="020B0609020204030204" pitchFamily="49" charset="0"/>
                </a:rPr>
                <a:t>v</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begin</a:t>
              </a:r>
              <a:r>
                <a:rPr lang="en-US" altLang="zh-CN" sz="1200" dirty="0">
                  <a:solidFill>
                    <a:srgbClr val="000000"/>
                  </a:solidFill>
                  <a:latin typeface="Consolas" panose="020B0609020204030204" pitchFamily="49" charset="0"/>
                </a:rPr>
                <a:t>(), </a:t>
              </a:r>
              <a:r>
                <a:rPr lang="en-US" altLang="zh-CN" sz="1200" dirty="0" err="1">
                  <a:solidFill>
                    <a:srgbClr val="001080"/>
                  </a:solidFill>
                  <a:latin typeface="Consolas" panose="020B0609020204030204" pitchFamily="49" charset="0"/>
                </a:rPr>
                <a:t>v</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end</a:t>
              </a:r>
              <a:r>
                <a:rPr lang="en-US" altLang="zh-CN" sz="1200" dirty="0">
                  <a:solidFill>
                    <a:srgbClr val="000000"/>
                  </a:solidFill>
                  <a:latin typeface="Consolas" panose="020B0609020204030204" pitchFamily="49" charset="0"/>
                </a:rPr>
                <a:t>(), </a:t>
              </a:r>
              <a:r>
                <a:rPr lang="en-US" altLang="zh-CN" sz="1200" dirty="0">
                  <a:solidFill>
                    <a:srgbClr val="098658"/>
                  </a:solidFill>
                  <a:latin typeface="Consolas" panose="020B0609020204030204" pitchFamily="49" charset="0"/>
                </a:rPr>
                <a:t>20</a:t>
              </a:r>
              <a:r>
                <a:rPr lang="en-US" altLang="zh-CN" sz="1200" dirty="0">
                  <a:solidFill>
                    <a:srgbClr val="000000"/>
                  </a:solidFill>
                  <a:latin typeface="Consolas" panose="020B0609020204030204" pitchFamily="49" charset="0"/>
                </a:rPr>
                <a:t>);</a:t>
              </a:r>
            </a:p>
            <a:p>
              <a:pPr>
                <a:lnSpc>
                  <a:spcPct val="150000"/>
                </a:lnSpc>
                <a:spcBef>
                  <a:spcPts val="0"/>
                </a:spcBef>
              </a:pPr>
              <a:r>
                <a:rPr lang="en-US" altLang="zh-CN" sz="1200" dirty="0" err="1">
                  <a:solidFill>
                    <a:srgbClr val="001080"/>
                  </a:solidFill>
                  <a:latin typeface="Consolas" panose="020B0609020204030204" pitchFamily="49" charset="0"/>
                </a:rPr>
                <a:t>q</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wait</a:t>
              </a:r>
              <a:r>
                <a:rPr lang="en-US" altLang="zh-CN" sz="1200" dirty="0">
                  <a:solidFill>
                    <a:srgbClr val="000000"/>
                  </a:solidFill>
                  <a:latin typeface="Consolas" panose="020B0609020204030204" pitchFamily="49" charset="0"/>
                </a:rPr>
                <a:t>();</a:t>
              </a:r>
            </a:p>
            <a:p>
              <a:pPr>
                <a:lnSpc>
                  <a:spcPct val="150000"/>
                </a:lnSpc>
                <a:spcBef>
                  <a:spcPts val="0"/>
                </a:spcBef>
              </a:pPr>
              <a:br>
                <a:rPr lang="en-US" altLang="zh-CN" sz="1200" dirty="0">
                  <a:solidFill>
                    <a:srgbClr val="000000"/>
                  </a:solidFill>
                  <a:latin typeface="Consolas" panose="020B0609020204030204" pitchFamily="49" charset="0"/>
                </a:rPr>
              </a:br>
              <a:r>
                <a:rPr lang="en-US" altLang="zh-CN" sz="1200" dirty="0">
                  <a:solidFill>
                    <a:srgbClr val="AF00DB"/>
                  </a:solidFill>
                  <a:latin typeface="Consolas" panose="020B0609020204030204" pitchFamily="49" charset="0"/>
                </a:rPr>
                <a:t>for</a:t>
              </a:r>
              <a:r>
                <a:rPr lang="en-US" altLang="zh-CN" sz="1200" dirty="0">
                  <a:solidFill>
                    <a:srgbClr val="000000"/>
                  </a:solidFill>
                  <a:latin typeface="Consolas" panose="020B0609020204030204" pitchFamily="49" charset="0"/>
                </a:rPr>
                <a:t> (</a:t>
              </a:r>
              <a:r>
                <a:rPr lang="en-US" altLang="zh-CN" sz="1200" dirty="0">
                  <a:solidFill>
                    <a:srgbClr val="0000FF"/>
                  </a:solidFill>
                  <a:latin typeface="Consolas" panose="020B0609020204030204" pitchFamily="49" charset="0"/>
                </a:rPr>
                <a:t>int</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 </a:t>
              </a:r>
              <a:r>
                <a:rPr lang="en-US" altLang="zh-CN" sz="1200" dirty="0">
                  <a:solidFill>
                    <a:srgbClr val="098658"/>
                  </a:solidFill>
                  <a:latin typeface="Consolas" panose="020B0609020204030204" pitchFamily="49" charset="0"/>
                </a:rPr>
                <a:t>0</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 </a:t>
              </a:r>
              <a:r>
                <a:rPr lang="en-US" altLang="zh-CN" sz="1200" dirty="0" err="1">
                  <a:solidFill>
                    <a:srgbClr val="001080"/>
                  </a:solidFill>
                  <a:latin typeface="Consolas" panose="020B0609020204030204" pitchFamily="49" charset="0"/>
                </a:rPr>
                <a:t>v</a:t>
              </a:r>
              <a:r>
                <a:rPr lang="en-US" altLang="zh-CN" sz="1200" dirty="0" err="1">
                  <a:solidFill>
                    <a:srgbClr val="000000"/>
                  </a:solidFill>
                  <a:latin typeface="Consolas" panose="020B0609020204030204" pitchFamily="49" charset="0"/>
                </a:rPr>
                <a:t>.</a:t>
              </a:r>
              <a:r>
                <a:rPr lang="en-US" altLang="zh-CN" sz="1200" dirty="0" err="1">
                  <a:solidFill>
                    <a:srgbClr val="795E26"/>
                  </a:solidFill>
                  <a:latin typeface="Consolas" panose="020B0609020204030204" pitchFamily="49" charset="0"/>
                </a:rPr>
                <a:t>size</a:t>
              </a:r>
              <a:r>
                <a:rPr lang="en-US" altLang="zh-CN" sz="1200" dirty="0">
                  <a:solidFill>
                    <a:srgbClr val="000000"/>
                  </a:solidFill>
                  <a:latin typeface="Consolas" panose="020B0609020204030204" pitchFamily="49" charset="0"/>
                </a:rPr>
                <a:t>(); </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cout</a:t>
              </a:r>
              <a:r>
                <a:rPr lang="en-US" altLang="zh-CN" sz="1200" dirty="0">
                  <a:solidFill>
                    <a:srgbClr val="000000"/>
                  </a:solidFill>
                  <a:latin typeface="Consolas" panose="020B0609020204030204" pitchFamily="49" charset="0"/>
                </a:rPr>
                <a:t> &lt;&lt; </a:t>
              </a:r>
              <a:r>
                <a:rPr lang="en-US" altLang="zh-CN" sz="1200" dirty="0">
                  <a:solidFill>
                    <a:srgbClr val="001080"/>
                  </a:solidFill>
                  <a:latin typeface="Consolas" panose="020B0609020204030204" pitchFamily="49" charset="0"/>
                </a:rPr>
                <a:t>v</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i</a:t>
              </a:r>
              <a:r>
                <a:rPr lang="en-US" altLang="zh-CN" sz="1200" dirty="0">
                  <a:solidFill>
                    <a:srgbClr val="000000"/>
                  </a:solidFill>
                  <a:latin typeface="Consolas" panose="020B0609020204030204" pitchFamily="49" charset="0"/>
                </a:rPr>
                <a:t>] &lt;&lt; </a:t>
              </a:r>
              <a:r>
                <a:rPr lang="en-US" altLang="zh-CN" sz="1200" dirty="0">
                  <a:solidFill>
                    <a:srgbClr val="267F99"/>
                  </a:solidFill>
                  <a:latin typeface="Consolas" panose="020B0609020204030204" pitchFamily="49" charset="0"/>
                </a:rPr>
                <a:t>std</a:t>
              </a:r>
              <a:r>
                <a:rPr lang="en-US" altLang="zh-CN" sz="1200" dirty="0">
                  <a:solidFill>
                    <a:srgbClr val="000000"/>
                  </a:solidFill>
                  <a:latin typeface="Consolas" panose="020B0609020204030204" pitchFamily="49" charset="0"/>
                </a:rPr>
                <a:t>::</a:t>
              </a:r>
              <a:r>
                <a:rPr lang="en-US" altLang="zh-CN" sz="1200" dirty="0" err="1">
                  <a:solidFill>
                    <a:srgbClr val="000000"/>
                  </a:solidFill>
                  <a:latin typeface="Consolas" panose="020B0609020204030204" pitchFamily="49" charset="0"/>
                </a:rPr>
                <a:t>endl</a:t>
              </a:r>
              <a:r>
                <a:rPr lang="en-US" altLang="zh-CN" sz="1200" dirty="0">
                  <a:solidFill>
                    <a:srgbClr val="000000"/>
                  </a:solidFill>
                  <a:latin typeface="Consolas" panose="020B0609020204030204" pitchFamily="49" charset="0"/>
                </a:rPr>
                <a:t>;</a:t>
              </a:r>
            </a:p>
          </p:txBody>
        </p:sp>
      </p:grpSp>
      <p:cxnSp>
        <p:nvCxnSpPr>
          <p:cNvPr id="23" name="Straight Arrow Connector 20">
            <a:extLst>
              <a:ext uri="{FF2B5EF4-FFF2-40B4-BE49-F238E27FC236}">
                <a16:creationId xmlns:a16="http://schemas.microsoft.com/office/drawing/2014/main" id="{8AEDEA90-F122-490A-968A-8436FE1D777E}"/>
              </a:ext>
            </a:extLst>
          </p:cNvPr>
          <p:cNvCxnSpPr>
            <a:cxnSpLocks/>
          </p:cNvCxnSpPr>
          <p:nvPr/>
        </p:nvCxnSpPr>
        <p:spPr>
          <a:xfrm>
            <a:off x="1187624" y="2326571"/>
            <a:ext cx="432731" cy="0"/>
          </a:xfrm>
          <a:prstGeom prst="straightConnector1">
            <a:avLst/>
          </a:prstGeom>
          <a:noFill/>
          <a:ln w="25400" cap="flat" cmpd="sng" algn="ctr">
            <a:solidFill>
              <a:srgbClr val="D96930"/>
            </a:solidFill>
            <a:prstDash val="solid"/>
            <a:tailEnd type="triangle"/>
          </a:ln>
          <a:effectLst/>
        </p:spPr>
      </p:cxnSp>
      <p:sp>
        <p:nvSpPr>
          <p:cNvPr id="24" name="TextBox 21">
            <a:extLst>
              <a:ext uri="{FF2B5EF4-FFF2-40B4-BE49-F238E27FC236}">
                <a16:creationId xmlns:a16="http://schemas.microsoft.com/office/drawing/2014/main" id="{DBFBA1F2-35F9-494D-9535-52F534373A82}"/>
              </a:ext>
            </a:extLst>
          </p:cNvPr>
          <p:cNvSpPr txBox="1"/>
          <p:nvPr/>
        </p:nvSpPr>
        <p:spPr>
          <a:xfrm>
            <a:off x="107845" y="2060848"/>
            <a:ext cx="1296144" cy="553998"/>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分配</a:t>
            </a:r>
            <a:r>
              <a:rPr lang="en-US" altLang="zh-CN" sz="2000" dirty="0">
                <a:solidFill>
                  <a:srgbClr val="3333CC"/>
                </a:solidFill>
                <a:latin typeface="+mn-lt"/>
                <a:ea typeface="+mn-ea"/>
                <a:sym typeface="Helvetica Neue"/>
              </a:rPr>
              <a:t>USM</a:t>
            </a:r>
            <a:br>
              <a:rPr lang="en-US" altLang="zh-CN" sz="2000" dirty="0">
                <a:solidFill>
                  <a:srgbClr val="3333CC"/>
                </a:solidFill>
                <a:latin typeface="+mn-lt"/>
                <a:ea typeface="+mn-ea"/>
                <a:sym typeface="Helvetica Neue"/>
              </a:rPr>
            </a:br>
            <a:r>
              <a:rPr lang="zh-CN" altLang="en-US" sz="2000" dirty="0">
                <a:solidFill>
                  <a:srgbClr val="3333CC"/>
                </a:solidFill>
                <a:latin typeface="+mn-lt"/>
                <a:ea typeface="+mn-ea"/>
                <a:sym typeface="Helvetica Neue"/>
              </a:rPr>
              <a:t>共享内存</a:t>
            </a:r>
            <a:endParaRPr lang="en-US" altLang="zh-CN" sz="2000" dirty="0">
              <a:solidFill>
                <a:srgbClr val="3333CC"/>
              </a:solidFill>
              <a:latin typeface="+mn-lt"/>
              <a:ea typeface="+mn-ea"/>
              <a:sym typeface="Helvetica Neue"/>
            </a:endParaRPr>
          </a:p>
        </p:txBody>
      </p:sp>
      <p:sp>
        <p:nvSpPr>
          <p:cNvPr id="30" name="Flowchart: Process 24">
            <a:extLst>
              <a:ext uri="{FF2B5EF4-FFF2-40B4-BE49-F238E27FC236}">
                <a16:creationId xmlns:a16="http://schemas.microsoft.com/office/drawing/2014/main" id="{7568D08D-E8E8-4BE1-A380-B33B0BCDFDAA}"/>
              </a:ext>
            </a:extLst>
          </p:cNvPr>
          <p:cNvSpPr/>
          <p:nvPr/>
        </p:nvSpPr>
        <p:spPr>
          <a:xfrm>
            <a:off x="1617761" y="2167181"/>
            <a:ext cx="4147069" cy="26481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0" name="Straight Arrow Connector 20">
            <a:extLst>
              <a:ext uri="{FF2B5EF4-FFF2-40B4-BE49-F238E27FC236}">
                <a16:creationId xmlns:a16="http://schemas.microsoft.com/office/drawing/2014/main" id="{E3C434EC-D81E-4EAA-8C06-76B58764951E}"/>
              </a:ext>
            </a:extLst>
          </p:cNvPr>
          <p:cNvCxnSpPr>
            <a:cxnSpLocks/>
          </p:cNvCxnSpPr>
          <p:nvPr/>
        </p:nvCxnSpPr>
        <p:spPr>
          <a:xfrm>
            <a:off x="1187283" y="3387281"/>
            <a:ext cx="432731" cy="0"/>
          </a:xfrm>
          <a:prstGeom prst="straightConnector1">
            <a:avLst/>
          </a:prstGeom>
          <a:noFill/>
          <a:ln w="25400" cap="flat" cmpd="sng" algn="ctr">
            <a:solidFill>
              <a:srgbClr val="D96930"/>
            </a:solidFill>
            <a:prstDash val="solid"/>
            <a:tailEnd type="triangle"/>
          </a:ln>
          <a:effectLst/>
        </p:spPr>
      </p:cxnSp>
      <p:sp>
        <p:nvSpPr>
          <p:cNvPr id="11" name="TextBox 21">
            <a:extLst>
              <a:ext uri="{FF2B5EF4-FFF2-40B4-BE49-F238E27FC236}">
                <a16:creationId xmlns:a16="http://schemas.microsoft.com/office/drawing/2014/main" id="{43C48423-FBF6-4F35-98F8-A6E8876DE33A}"/>
              </a:ext>
            </a:extLst>
          </p:cNvPr>
          <p:cNvSpPr txBox="1"/>
          <p:nvPr/>
        </p:nvSpPr>
        <p:spPr>
          <a:xfrm>
            <a:off x="107504" y="3254541"/>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等待完成</a:t>
            </a:r>
            <a:endParaRPr lang="en-US" altLang="zh-CN" sz="2000" dirty="0">
              <a:solidFill>
                <a:srgbClr val="3333CC"/>
              </a:solidFill>
              <a:latin typeface="+mn-lt"/>
              <a:ea typeface="+mn-ea"/>
              <a:sym typeface="Helvetica Neue"/>
            </a:endParaRPr>
          </a:p>
        </p:txBody>
      </p:sp>
      <p:sp>
        <p:nvSpPr>
          <p:cNvPr id="12" name="Flowchart: Process 24">
            <a:extLst>
              <a:ext uri="{FF2B5EF4-FFF2-40B4-BE49-F238E27FC236}">
                <a16:creationId xmlns:a16="http://schemas.microsoft.com/office/drawing/2014/main" id="{72090B7F-6382-4887-983A-10195B7A1CB8}"/>
              </a:ext>
            </a:extLst>
          </p:cNvPr>
          <p:cNvSpPr/>
          <p:nvPr/>
        </p:nvSpPr>
        <p:spPr>
          <a:xfrm>
            <a:off x="4427984" y="3021621"/>
            <a:ext cx="1656184" cy="263363"/>
          </a:xfrm>
          <a:prstGeom prst="flowChartProcess">
            <a:avLst/>
          </a:prstGeom>
          <a:noFill/>
          <a:ln w="38100" cap="flat" cmpd="sng" algn="ctr">
            <a:solidFill>
              <a:srgbClr val="FF000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cxnSp>
        <p:nvCxnSpPr>
          <p:cNvPr id="13" name="Straight Arrow Connector 20">
            <a:extLst>
              <a:ext uri="{FF2B5EF4-FFF2-40B4-BE49-F238E27FC236}">
                <a16:creationId xmlns:a16="http://schemas.microsoft.com/office/drawing/2014/main" id="{178077C4-9295-4F54-BB6A-CA43467CAA25}"/>
              </a:ext>
            </a:extLst>
          </p:cNvPr>
          <p:cNvCxnSpPr>
            <a:cxnSpLocks/>
          </p:cNvCxnSpPr>
          <p:nvPr/>
        </p:nvCxnSpPr>
        <p:spPr>
          <a:xfrm flipH="1">
            <a:off x="6084168" y="2663783"/>
            <a:ext cx="545006" cy="357838"/>
          </a:xfrm>
          <a:prstGeom prst="straightConnector1">
            <a:avLst/>
          </a:prstGeom>
          <a:noFill/>
          <a:ln w="25400" cap="flat" cmpd="sng" algn="ctr">
            <a:solidFill>
              <a:srgbClr val="FF0000"/>
            </a:solidFill>
            <a:prstDash val="solid"/>
            <a:tailEnd type="triangle"/>
          </a:ln>
          <a:effectLst/>
        </p:spPr>
      </p:cxnSp>
      <p:sp>
        <p:nvSpPr>
          <p:cNvPr id="14" name="TextBox 21">
            <a:extLst>
              <a:ext uri="{FF2B5EF4-FFF2-40B4-BE49-F238E27FC236}">
                <a16:creationId xmlns:a16="http://schemas.microsoft.com/office/drawing/2014/main" id="{DAA9FF20-A74A-4089-8791-74A779F5A7AA}"/>
              </a:ext>
            </a:extLst>
          </p:cNvPr>
          <p:cNvSpPr txBox="1"/>
          <p:nvPr/>
        </p:nvSpPr>
        <p:spPr>
          <a:xfrm>
            <a:off x="6619528" y="2494273"/>
            <a:ext cx="1296144" cy="276999"/>
          </a:xfrm>
          <a:prstGeom prst="rect">
            <a:avLst/>
          </a:prstGeom>
          <a:noFill/>
        </p:spPr>
        <p:txBody>
          <a:bodyPr vert="horz" wrap="square" lIns="0" tIns="0" rIns="0" bIns="0" rtlCol="0">
            <a:spAutoFit/>
          </a:bodyPr>
          <a:lstStyle/>
          <a:p>
            <a:pPr defTabSz="1219169" eaLnBrk="1" fontAlgn="auto">
              <a:lnSpc>
                <a:spcPct val="90000"/>
              </a:lnSpc>
              <a:spcBef>
                <a:spcPts val="2250"/>
              </a:spcBef>
              <a:spcAft>
                <a:spcPts val="0"/>
              </a:spcAft>
            </a:pPr>
            <a:r>
              <a:rPr lang="zh-CN" altLang="en-US" sz="2000" dirty="0">
                <a:solidFill>
                  <a:srgbClr val="FF0000"/>
                </a:solidFill>
                <a:latin typeface="+mn-lt"/>
                <a:ea typeface="+mn-ea"/>
                <a:sym typeface="Helvetica Neue"/>
              </a:rPr>
              <a:t>向量迭代器</a:t>
            </a:r>
            <a:endParaRPr lang="en-US" altLang="zh-CN" sz="2000" dirty="0">
              <a:solidFill>
                <a:srgbClr val="FF0000"/>
              </a:solidFill>
              <a:latin typeface="+mn-lt"/>
              <a:ea typeface="+mn-ea"/>
              <a:sym typeface="Helvetica Neue"/>
            </a:endParaRPr>
          </a:p>
        </p:txBody>
      </p:sp>
      <p:sp>
        <p:nvSpPr>
          <p:cNvPr id="15" name="Flowchart: Process 24">
            <a:extLst>
              <a:ext uri="{FF2B5EF4-FFF2-40B4-BE49-F238E27FC236}">
                <a16:creationId xmlns:a16="http://schemas.microsoft.com/office/drawing/2014/main" id="{3010BAEB-B2B1-4D91-BC52-0E5320AC4110}"/>
              </a:ext>
            </a:extLst>
          </p:cNvPr>
          <p:cNvSpPr/>
          <p:nvPr/>
        </p:nvSpPr>
        <p:spPr>
          <a:xfrm>
            <a:off x="1619121" y="3277755"/>
            <a:ext cx="859370" cy="264818"/>
          </a:xfrm>
          <a:prstGeom prst="flowChartProcess">
            <a:avLst/>
          </a:prstGeom>
          <a:noFill/>
          <a:ln w="38100" cap="flat" cmpd="sng" algn="ctr">
            <a:solidFill>
              <a:srgbClr val="D96930"/>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8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86508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animBg="1"/>
      <p:bldP spid="11" grpId="0"/>
      <p:bldP spid="12" grpId="0" animBg="1"/>
      <p:bldP spid="14" grpId="0"/>
      <p:bldP spid="15"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FEE3F-32AA-46A4-B0F8-80064502579C}"/>
              </a:ext>
            </a:extLst>
          </p:cNvPr>
          <p:cNvSpPr>
            <a:spLocks noGrp="1"/>
          </p:cNvSpPr>
          <p:nvPr>
            <p:ph type="title"/>
          </p:nvPr>
        </p:nvSpPr>
        <p:spPr/>
        <p:txBody>
          <a:bodyPr/>
          <a:lstStyle/>
          <a:p>
            <a:r>
              <a:rPr lang="zh-CN" altLang="en-US" dirty="0"/>
              <a:t>扩展</a:t>
            </a:r>
            <a:r>
              <a:rPr lang="en-US" altLang="zh-CN" dirty="0"/>
              <a:t>API</a:t>
            </a:r>
            <a:endParaRPr lang="zh-CN" altLang="en-US" dirty="0"/>
          </a:p>
        </p:txBody>
      </p:sp>
      <p:sp>
        <p:nvSpPr>
          <p:cNvPr id="3" name="内容占位符 2">
            <a:extLst>
              <a:ext uri="{FF2B5EF4-FFF2-40B4-BE49-F238E27FC236}">
                <a16:creationId xmlns:a16="http://schemas.microsoft.com/office/drawing/2014/main" id="{90E7FDC7-A042-4C11-94FA-9AAD60937EC3}"/>
              </a:ext>
            </a:extLst>
          </p:cNvPr>
          <p:cNvSpPr>
            <a:spLocks noGrp="1"/>
          </p:cNvSpPr>
          <p:nvPr>
            <p:ph idx="1"/>
          </p:nvPr>
        </p:nvSpPr>
        <p:spPr/>
        <p:txBody>
          <a:bodyPr/>
          <a:lstStyle/>
          <a:p>
            <a:r>
              <a:rPr lang="zh-CN" altLang="en-US" dirty="0"/>
              <a:t>算法</a:t>
            </a:r>
            <a:endParaRPr lang="en-US" altLang="zh-CN" dirty="0"/>
          </a:p>
          <a:p>
            <a:pPr lvl="1"/>
            <a:r>
              <a:rPr lang="zh-CN" altLang="en-US" dirty="0"/>
              <a:t>分段</a:t>
            </a:r>
            <a:r>
              <a:rPr lang="en-US" altLang="zh-CN" dirty="0" err="1"/>
              <a:t>reducte</a:t>
            </a:r>
            <a:r>
              <a:rPr lang="zh-CN" altLang="en-US" dirty="0"/>
              <a:t>、分段</a:t>
            </a:r>
            <a:r>
              <a:rPr lang="en-US" altLang="zh-CN" dirty="0"/>
              <a:t>scan</a:t>
            </a:r>
            <a:r>
              <a:rPr lang="zh-CN" altLang="en-US" dirty="0"/>
              <a:t>、向量化搜索</a:t>
            </a:r>
            <a:endParaRPr lang="en-US" altLang="zh-CN" dirty="0"/>
          </a:p>
          <a:p>
            <a:r>
              <a:rPr lang="zh-CN" altLang="en-US" dirty="0"/>
              <a:t>迭代器</a:t>
            </a:r>
            <a:endParaRPr lang="en-US" altLang="zh-CN" dirty="0"/>
          </a:p>
          <a:p>
            <a:pPr lvl="1"/>
            <a:r>
              <a:rPr lang="zh-CN" altLang="en-US" dirty="0"/>
              <a:t>其他迭代器上的</a:t>
            </a:r>
            <a:r>
              <a:rPr lang="en-US" altLang="zh-CN" dirty="0"/>
              <a:t>zip</a:t>
            </a:r>
            <a:r>
              <a:rPr lang="zh-CN" altLang="en-US" dirty="0"/>
              <a:t>、</a:t>
            </a:r>
            <a:r>
              <a:rPr lang="en-US" altLang="zh-CN" dirty="0"/>
              <a:t>transform</a:t>
            </a:r>
            <a:r>
              <a:rPr lang="zh-CN" altLang="en-US" dirty="0"/>
              <a:t>、</a:t>
            </a:r>
            <a:r>
              <a:rPr lang="en-US" altLang="zh-CN" dirty="0"/>
              <a:t>permutation</a:t>
            </a:r>
            <a:r>
              <a:rPr lang="zh-CN" altLang="en-US" dirty="0"/>
              <a:t>操作，计数迭代器、丢弃迭代器</a:t>
            </a:r>
            <a:endParaRPr lang="en-US" altLang="zh-CN" dirty="0"/>
          </a:p>
          <a:p>
            <a:r>
              <a:rPr lang="zh-CN" altLang="en-US" dirty="0"/>
              <a:t>函数对象类</a:t>
            </a:r>
            <a:endParaRPr lang="en-US" altLang="zh-CN" dirty="0"/>
          </a:p>
          <a:p>
            <a:pPr lvl="1"/>
            <a:r>
              <a:rPr lang="zh-CN" altLang="en-US" dirty="0"/>
              <a:t>封装最小值、最大值和恒等运算，可作为参数传递给算法，如</a:t>
            </a:r>
            <a:r>
              <a:rPr lang="en-US" altLang="zh-CN" dirty="0"/>
              <a:t>reduce</a:t>
            </a:r>
            <a:r>
              <a:rPr lang="zh-CN" altLang="en-US" dirty="0"/>
              <a:t>、</a:t>
            </a:r>
            <a:r>
              <a:rPr lang="en-US" altLang="zh-CN" dirty="0"/>
              <a:t>transform</a:t>
            </a:r>
            <a:r>
              <a:rPr lang="zh-CN" altLang="en-US" dirty="0"/>
              <a:t>算法</a:t>
            </a:r>
            <a:endParaRPr lang="en-US" altLang="zh-CN" dirty="0"/>
          </a:p>
        </p:txBody>
      </p:sp>
    </p:spTree>
    <p:extLst>
      <p:ext uri="{BB962C8B-B14F-4D97-AF65-F5344CB8AC3E}">
        <p14:creationId xmlns:p14="http://schemas.microsoft.com/office/powerpoint/2010/main" val="427350238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EE7AD-39A6-46FB-BC85-49D7AFB5D6ED}"/>
              </a:ext>
            </a:extLst>
          </p:cNvPr>
          <p:cNvSpPr>
            <a:spLocks noGrp="1"/>
          </p:cNvSpPr>
          <p:nvPr>
            <p:ph type="title"/>
          </p:nvPr>
        </p:nvSpPr>
        <p:spPr/>
        <p:txBody>
          <a:bodyPr/>
          <a:lstStyle/>
          <a:p>
            <a:r>
              <a:rPr lang="en-US" altLang="zh-CN" dirty="0" err="1"/>
              <a:t>reduce_by_segment</a:t>
            </a:r>
            <a:endParaRPr lang="zh-CN" altLang="en-US" dirty="0"/>
          </a:p>
        </p:txBody>
      </p:sp>
      <p:sp>
        <p:nvSpPr>
          <p:cNvPr id="3" name="内容占位符 2">
            <a:extLst>
              <a:ext uri="{FF2B5EF4-FFF2-40B4-BE49-F238E27FC236}">
                <a16:creationId xmlns:a16="http://schemas.microsoft.com/office/drawing/2014/main" id="{A7BC24DE-5F00-4A90-86B1-6B157C5BBA23}"/>
              </a:ext>
            </a:extLst>
          </p:cNvPr>
          <p:cNvSpPr>
            <a:spLocks noGrp="1"/>
          </p:cNvSpPr>
          <p:nvPr>
            <p:ph idx="1"/>
          </p:nvPr>
        </p:nvSpPr>
        <p:spPr/>
        <p:txBody>
          <a:bodyPr/>
          <a:lstStyle/>
          <a:p>
            <a:r>
              <a:rPr lang="zh-CN" altLang="en-US" dirty="0"/>
              <a:t>对一个值</a:t>
            </a:r>
            <a:r>
              <a:rPr lang="en-US" altLang="zh-CN" dirty="0"/>
              <a:t>/</a:t>
            </a:r>
            <a:r>
              <a:rPr lang="zh-CN" altLang="en-US" dirty="0"/>
              <a:t>关键字序列进行部分归约</a:t>
            </a:r>
            <a:endParaRPr lang="en-US" altLang="zh-CN" dirty="0"/>
          </a:p>
          <a:p>
            <a:r>
              <a:rPr lang="zh-CN" altLang="en-US" dirty="0"/>
              <a:t>返回一对迭代器，指向关键字和值的输出序列的末尾</a:t>
            </a:r>
          </a:p>
        </p:txBody>
      </p:sp>
      <p:grpSp>
        <p:nvGrpSpPr>
          <p:cNvPr id="14" name="Group 16">
            <a:extLst>
              <a:ext uri="{FF2B5EF4-FFF2-40B4-BE49-F238E27FC236}">
                <a16:creationId xmlns:a16="http://schemas.microsoft.com/office/drawing/2014/main" id="{34A0B60F-6FA4-4BE7-9227-D470CDAD309A}"/>
              </a:ext>
            </a:extLst>
          </p:cNvPr>
          <p:cNvGrpSpPr/>
          <p:nvPr/>
        </p:nvGrpSpPr>
        <p:grpSpPr>
          <a:xfrm>
            <a:off x="1018347" y="3099576"/>
            <a:ext cx="8081778" cy="1584803"/>
            <a:chOff x="5242989" y="505096"/>
            <a:chExt cx="5621214" cy="6257626"/>
          </a:xfrm>
        </p:grpSpPr>
        <p:sp>
          <p:nvSpPr>
            <p:cNvPr id="15" name="Rectangle: Single Corner Snipped 17">
              <a:extLst>
                <a:ext uri="{FF2B5EF4-FFF2-40B4-BE49-F238E27FC236}">
                  <a16:creationId xmlns:a16="http://schemas.microsoft.com/office/drawing/2014/main" id="{DC38566F-1F13-458C-8A00-35284D59E8CE}"/>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6" name="TextBox 18">
              <a:extLst>
                <a:ext uri="{FF2B5EF4-FFF2-40B4-BE49-F238E27FC236}">
                  <a16:creationId xmlns:a16="http://schemas.microsoft.com/office/drawing/2014/main" id="{A3345528-F493-4EE1-88EC-67643CDB8C8E}"/>
                </a:ext>
              </a:extLst>
            </p:cNvPr>
            <p:cNvSpPr txBox="1"/>
            <p:nvPr/>
          </p:nvSpPr>
          <p:spPr>
            <a:xfrm>
              <a:off x="5390906" y="611434"/>
              <a:ext cx="5473297" cy="4967384"/>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keys: [0,0,0,1,1,1]</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values: [1,2,3,4,5,6]</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output_keys: [0,1]</a:t>
              </a: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267F99"/>
                  </a:solidFill>
                  <a:effectLst/>
                  <a:uLnTx/>
                  <a:uFillTx/>
                  <a:latin typeface="Consolas" panose="020B0609020204030204" pitchFamily="49" charset="0"/>
                  <a:sym typeface="Helvetica Neue"/>
                </a:rPr>
                <a:t>output_values: [1+2+3=6,4+5+6=15]</a:t>
              </a:r>
            </a:p>
          </p:txBody>
        </p:sp>
      </p:grpSp>
      <p:grpSp>
        <p:nvGrpSpPr>
          <p:cNvPr id="17" name="Group 19">
            <a:extLst>
              <a:ext uri="{FF2B5EF4-FFF2-40B4-BE49-F238E27FC236}">
                <a16:creationId xmlns:a16="http://schemas.microsoft.com/office/drawing/2014/main" id="{3914CB72-0CE8-46FB-A4F5-E358A899B309}"/>
              </a:ext>
            </a:extLst>
          </p:cNvPr>
          <p:cNvGrpSpPr/>
          <p:nvPr/>
        </p:nvGrpSpPr>
        <p:grpSpPr>
          <a:xfrm>
            <a:off x="1018346" y="4875469"/>
            <a:ext cx="8081777" cy="1649875"/>
            <a:chOff x="5242989" y="505096"/>
            <a:chExt cx="5621214" cy="6257626"/>
          </a:xfrm>
        </p:grpSpPr>
        <p:sp>
          <p:nvSpPr>
            <p:cNvPr id="18" name="Rectangle: Single Corner Snipped 20">
              <a:extLst>
                <a:ext uri="{FF2B5EF4-FFF2-40B4-BE49-F238E27FC236}">
                  <a16:creationId xmlns:a16="http://schemas.microsoft.com/office/drawing/2014/main" id="{C277845A-2038-426E-8744-8DE0988D7B4E}"/>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21">
              <a:extLst>
                <a:ext uri="{FF2B5EF4-FFF2-40B4-BE49-F238E27FC236}">
                  <a16:creationId xmlns:a16="http://schemas.microsoft.com/office/drawing/2014/main" id="{5AA1A5E9-7495-432C-B572-372B97331731}"/>
                </a:ext>
              </a:extLst>
            </p:cNvPr>
            <p:cNvSpPr txBox="1"/>
            <p:nvPr/>
          </p:nvSpPr>
          <p:spPr>
            <a:xfrm>
              <a:off x="5390906" y="611431"/>
              <a:ext cx="5473297" cy="4771468"/>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oneapi::dpl::reduce_by_segment(make_device_policy(q), keys_begin, keys_end, 	vals_begin, result_key_begin, result_vals_begin);</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20" name="Straight Arrow Connector 22">
            <a:extLst>
              <a:ext uri="{FF2B5EF4-FFF2-40B4-BE49-F238E27FC236}">
                <a16:creationId xmlns:a16="http://schemas.microsoft.com/office/drawing/2014/main" id="{E10CFF07-6746-4FB0-BD86-22E24753BD83}"/>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21" name="Flowchart: Process 24">
            <a:extLst>
              <a:ext uri="{FF2B5EF4-FFF2-40B4-BE49-F238E27FC236}">
                <a16:creationId xmlns:a16="http://schemas.microsoft.com/office/drawing/2014/main" id="{96080DB4-77E9-498A-9541-52F8813C30EF}"/>
              </a:ext>
            </a:extLst>
          </p:cNvPr>
          <p:cNvSpPr/>
          <p:nvPr/>
        </p:nvSpPr>
        <p:spPr>
          <a:xfrm>
            <a:off x="2488939" y="5317153"/>
            <a:ext cx="4027278"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22" name="TextBox 25">
            <a:extLst>
              <a:ext uri="{FF2B5EF4-FFF2-40B4-BE49-F238E27FC236}">
                <a16:creationId xmlns:a16="http://schemas.microsoft.com/office/drawing/2014/main" id="{1B1556EF-A05E-4A96-863F-3D6A2704F7B2}"/>
              </a:ext>
            </a:extLst>
          </p:cNvPr>
          <p:cNvSpPr txBox="1"/>
          <p:nvPr/>
        </p:nvSpPr>
        <p:spPr>
          <a:xfrm>
            <a:off x="6660232"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23" name="Straight Arrow Connector 26">
            <a:extLst>
              <a:ext uri="{FF2B5EF4-FFF2-40B4-BE49-F238E27FC236}">
                <a16:creationId xmlns:a16="http://schemas.microsoft.com/office/drawing/2014/main" id="{B117C0E1-D57B-4938-844C-0F709917434E}"/>
              </a:ext>
            </a:extLst>
          </p:cNvPr>
          <p:cNvCxnSpPr>
            <a:cxnSpLocks/>
          </p:cNvCxnSpPr>
          <p:nvPr/>
        </p:nvCxnSpPr>
        <p:spPr>
          <a:xfrm flipH="1">
            <a:off x="6494982" y="5066221"/>
            <a:ext cx="161925" cy="226728"/>
          </a:xfrm>
          <a:prstGeom prst="straightConnector1">
            <a:avLst/>
          </a:prstGeom>
          <a:noFill/>
          <a:ln w="38100" cap="flat" cmpd="sng" algn="ctr">
            <a:solidFill>
              <a:srgbClr val="8F5DA2"/>
            </a:solidFill>
            <a:prstDash val="solid"/>
            <a:tailEnd type="triangle"/>
          </a:ln>
          <a:effectLst/>
        </p:spPr>
      </p:cxnSp>
      <p:sp>
        <p:nvSpPr>
          <p:cNvPr id="26" name="TextBox 23">
            <a:extLst>
              <a:ext uri="{FF2B5EF4-FFF2-40B4-BE49-F238E27FC236}">
                <a16:creationId xmlns:a16="http://schemas.microsoft.com/office/drawing/2014/main" id="{DDEE9FA7-897D-459F-80D6-58EFC3207670}"/>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408473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CD04C-3C94-410E-85AA-734A420E7289}"/>
              </a:ext>
            </a:extLst>
          </p:cNvPr>
          <p:cNvSpPr>
            <a:spLocks noGrp="1"/>
          </p:cNvSpPr>
          <p:nvPr>
            <p:ph type="title"/>
          </p:nvPr>
        </p:nvSpPr>
        <p:spPr/>
        <p:txBody>
          <a:bodyPr/>
          <a:lstStyle/>
          <a:p>
            <a:r>
              <a:rPr lang="en-US" altLang="zh-CN" dirty="0" err="1"/>
              <a:t>inclusive_scan_by_segment</a:t>
            </a:r>
            <a:endParaRPr lang="zh-CN" altLang="en-US" dirty="0"/>
          </a:p>
        </p:txBody>
      </p:sp>
      <p:sp>
        <p:nvSpPr>
          <p:cNvPr id="3" name="内容占位符 2">
            <a:extLst>
              <a:ext uri="{FF2B5EF4-FFF2-40B4-BE49-F238E27FC236}">
                <a16:creationId xmlns:a16="http://schemas.microsoft.com/office/drawing/2014/main" id="{AF67CC5D-264F-4BBD-957D-24B5B895F526}"/>
              </a:ext>
            </a:extLst>
          </p:cNvPr>
          <p:cNvSpPr>
            <a:spLocks noGrp="1"/>
          </p:cNvSpPr>
          <p:nvPr>
            <p:ph idx="1"/>
          </p:nvPr>
        </p:nvSpPr>
        <p:spPr/>
        <p:txBody>
          <a:bodyPr/>
          <a:lstStyle/>
          <a:p>
            <a:r>
              <a:rPr lang="zh-CN" altLang="en-US" dirty="0"/>
              <a:t>在一个值序列上执行部分前缀和</a:t>
            </a:r>
            <a:endParaRPr lang="en-US" altLang="zh-CN" dirty="0"/>
          </a:p>
          <a:p>
            <a:r>
              <a:rPr lang="zh-CN" altLang="en-US" dirty="0"/>
              <a:t>返回一个迭代器，指向结果序列末尾</a:t>
            </a:r>
          </a:p>
        </p:txBody>
      </p:sp>
      <p:grpSp>
        <p:nvGrpSpPr>
          <p:cNvPr id="4" name="Group 16">
            <a:extLst>
              <a:ext uri="{FF2B5EF4-FFF2-40B4-BE49-F238E27FC236}">
                <a16:creationId xmlns:a16="http://schemas.microsoft.com/office/drawing/2014/main" id="{74EC6B4A-D818-4B48-81AB-44B26F859C12}"/>
              </a:ext>
            </a:extLst>
          </p:cNvPr>
          <p:cNvGrpSpPr/>
          <p:nvPr/>
        </p:nvGrpSpPr>
        <p:grpSpPr>
          <a:xfrm>
            <a:off x="1018347" y="3099576"/>
            <a:ext cx="8081778" cy="1584803"/>
            <a:chOff x="5242989" y="505096"/>
            <a:chExt cx="5621214" cy="6257626"/>
          </a:xfrm>
        </p:grpSpPr>
        <p:sp>
          <p:nvSpPr>
            <p:cNvPr id="5" name="Rectangle: Single Corner Snipped 17">
              <a:extLst>
                <a:ext uri="{FF2B5EF4-FFF2-40B4-BE49-F238E27FC236}">
                  <a16:creationId xmlns:a16="http://schemas.microsoft.com/office/drawing/2014/main" id="{5CBC11C8-21F7-4287-96CE-EDEF4A4C73CF}"/>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6" name="TextBox 18">
              <a:extLst>
                <a:ext uri="{FF2B5EF4-FFF2-40B4-BE49-F238E27FC236}">
                  <a16:creationId xmlns:a16="http://schemas.microsoft.com/office/drawing/2014/main" id="{AAF40B40-BD1A-4A4E-934F-7A741E7E26BF}"/>
                </a:ext>
              </a:extLst>
            </p:cNvPr>
            <p:cNvSpPr txBox="1"/>
            <p:nvPr/>
          </p:nvSpPr>
          <p:spPr>
            <a:xfrm>
              <a:off x="5390906" y="611434"/>
              <a:ext cx="5473297" cy="3691357"/>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267F99"/>
                  </a:solidFill>
                  <a:latin typeface="Consolas" panose="020B0609020204030204" pitchFamily="49" charset="0"/>
                </a:rPr>
                <a:t>keys: [0,0,0,1,1,1]</a:t>
              </a:r>
            </a:p>
            <a:p>
              <a:pPr>
                <a:lnSpc>
                  <a:spcPct val="150000"/>
                </a:lnSpc>
                <a:spcBef>
                  <a:spcPts val="0"/>
                </a:spcBef>
              </a:pPr>
              <a:r>
                <a:rPr lang="en-US" altLang="zh-CN" sz="1400" dirty="0">
                  <a:solidFill>
                    <a:srgbClr val="267F99"/>
                  </a:solidFill>
                  <a:latin typeface="Consolas" panose="020B0609020204030204" pitchFamily="49" charset="0"/>
                </a:rPr>
                <a:t>values: [1,2,3,4,5,6]</a:t>
              </a:r>
            </a:p>
            <a:p>
              <a:pPr>
                <a:lnSpc>
                  <a:spcPct val="150000"/>
                </a:lnSpc>
                <a:spcBef>
                  <a:spcPts val="0"/>
                </a:spcBef>
              </a:pPr>
              <a:r>
                <a:rPr lang="en-US" altLang="zh-CN" sz="1400" dirty="0">
                  <a:solidFill>
                    <a:srgbClr val="267F99"/>
                  </a:solidFill>
                  <a:latin typeface="Consolas" panose="020B0609020204030204" pitchFamily="49" charset="0"/>
                </a:rPr>
                <a:t>result: [1,1+2=3,1+2+3=6,4,4+5=9,4+5+6=15]</a:t>
              </a:r>
            </a:p>
          </p:txBody>
        </p:sp>
      </p:grpSp>
      <p:grpSp>
        <p:nvGrpSpPr>
          <p:cNvPr id="7" name="Group 19">
            <a:extLst>
              <a:ext uri="{FF2B5EF4-FFF2-40B4-BE49-F238E27FC236}">
                <a16:creationId xmlns:a16="http://schemas.microsoft.com/office/drawing/2014/main" id="{912D1A1E-8005-4987-BD15-321EEC126B03}"/>
              </a:ext>
            </a:extLst>
          </p:cNvPr>
          <p:cNvGrpSpPr/>
          <p:nvPr/>
        </p:nvGrpSpPr>
        <p:grpSpPr>
          <a:xfrm>
            <a:off x="1018346" y="4875469"/>
            <a:ext cx="8081777" cy="1649875"/>
            <a:chOff x="5242989" y="505096"/>
            <a:chExt cx="5621214" cy="6257626"/>
          </a:xfrm>
        </p:grpSpPr>
        <p:sp>
          <p:nvSpPr>
            <p:cNvPr id="8" name="Rectangle: Single Corner Snipped 20">
              <a:extLst>
                <a:ext uri="{FF2B5EF4-FFF2-40B4-BE49-F238E27FC236}">
                  <a16:creationId xmlns:a16="http://schemas.microsoft.com/office/drawing/2014/main" id="{385C5E73-86ED-4774-B4C4-7AC413C70F8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9" name="TextBox 21">
              <a:extLst>
                <a:ext uri="{FF2B5EF4-FFF2-40B4-BE49-F238E27FC236}">
                  <a16:creationId xmlns:a16="http://schemas.microsoft.com/office/drawing/2014/main" id="{4500CAFC-6764-4F25-8ABA-C91824A104A2}"/>
                </a:ext>
              </a:extLst>
            </p:cNvPr>
            <p:cNvSpPr txBox="1"/>
            <p:nvPr/>
          </p:nvSpPr>
          <p:spPr>
            <a:xfrm>
              <a:off x="5390906" y="611431"/>
              <a:ext cx="5473297" cy="4596366"/>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inclusive_scan_by_segment</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(q),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result_begin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10" name="Straight Arrow Connector 22">
            <a:extLst>
              <a:ext uri="{FF2B5EF4-FFF2-40B4-BE49-F238E27FC236}">
                <a16:creationId xmlns:a16="http://schemas.microsoft.com/office/drawing/2014/main" id="{03023B58-DA5C-463F-B4E4-67B8FF07A98C}"/>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11" name="Flowchart: Process 24">
            <a:extLst>
              <a:ext uri="{FF2B5EF4-FFF2-40B4-BE49-F238E27FC236}">
                <a16:creationId xmlns:a16="http://schemas.microsoft.com/office/drawing/2014/main" id="{B4BCF283-484B-479C-9D2A-4A4E962856C1}"/>
              </a:ext>
            </a:extLst>
          </p:cNvPr>
          <p:cNvSpPr/>
          <p:nvPr/>
        </p:nvSpPr>
        <p:spPr>
          <a:xfrm>
            <a:off x="5159525" y="5250792"/>
            <a:ext cx="2076771"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12" name="TextBox 25">
            <a:extLst>
              <a:ext uri="{FF2B5EF4-FFF2-40B4-BE49-F238E27FC236}">
                <a16:creationId xmlns:a16="http://schemas.microsoft.com/office/drawing/2014/main" id="{CC7A6D3C-01BC-4F89-A461-4DA746AE5029}"/>
              </a:ext>
            </a:extLst>
          </p:cNvPr>
          <p:cNvSpPr txBox="1"/>
          <p:nvPr/>
        </p:nvSpPr>
        <p:spPr>
          <a:xfrm>
            <a:off x="6660232"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13" name="Straight Arrow Connector 26">
            <a:extLst>
              <a:ext uri="{FF2B5EF4-FFF2-40B4-BE49-F238E27FC236}">
                <a16:creationId xmlns:a16="http://schemas.microsoft.com/office/drawing/2014/main" id="{8A6C4F8D-CE6B-4F40-B8BE-D538C4AF689F}"/>
              </a:ext>
            </a:extLst>
          </p:cNvPr>
          <p:cNvCxnSpPr>
            <a:cxnSpLocks/>
          </p:cNvCxnSpPr>
          <p:nvPr/>
        </p:nvCxnSpPr>
        <p:spPr>
          <a:xfrm flipH="1">
            <a:off x="6494982" y="5066221"/>
            <a:ext cx="161925" cy="226728"/>
          </a:xfrm>
          <a:prstGeom prst="straightConnector1">
            <a:avLst/>
          </a:prstGeom>
          <a:noFill/>
          <a:ln w="38100" cap="flat" cmpd="sng" algn="ctr">
            <a:solidFill>
              <a:srgbClr val="8F5DA2"/>
            </a:solidFill>
            <a:prstDash val="solid"/>
            <a:tailEnd type="triangle"/>
          </a:ln>
          <a:effectLst/>
        </p:spPr>
      </p:cxnSp>
      <p:sp>
        <p:nvSpPr>
          <p:cNvPr id="14" name="TextBox 23">
            <a:extLst>
              <a:ext uri="{FF2B5EF4-FFF2-40B4-BE49-F238E27FC236}">
                <a16:creationId xmlns:a16="http://schemas.microsoft.com/office/drawing/2014/main" id="{1701E672-10F7-4369-BC17-0B9E71A71101}"/>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205856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CD04C-3C94-410E-85AA-734A420E7289}"/>
              </a:ext>
            </a:extLst>
          </p:cNvPr>
          <p:cNvSpPr>
            <a:spLocks noGrp="1"/>
          </p:cNvSpPr>
          <p:nvPr>
            <p:ph type="title"/>
          </p:nvPr>
        </p:nvSpPr>
        <p:spPr/>
        <p:txBody>
          <a:bodyPr/>
          <a:lstStyle/>
          <a:p>
            <a:r>
              <a:rPr lang="en-US" altLang="zh-CN" dirty="0" err="1"/>
              <a:t>exclusive_scan_by_segment</a:t>
            </a:r>
            <a:endParaRPr lang="zh-CN" altLang="en-US" dirty="0"/>
          </a:p>
        </p:txBody>
      </p:sp>
      <p:sp>
        <p:nvSpPr>
          <p:cNvPr id="3" name="内容占位符 2">
            <a:extLst>
              <a:ext uri="{FF2B5EF4-FFF2-40B4-BE49-F238E27FC236}">
                <a16:creationId xmlns:a16="http://schemas.microsoft.com/office/drawing/2014/main" id="{AF67CC5D-264F-4BBD-957D-24B5B895F526}"/>
              </a:ext>
            </a:extLst>
          </p:cNvPr>
          <p:cNvSpPr>
            <a:spLocks noGrp="1"/>
          </p:cNvSpPr>
          <p:nvPr>
            <p:ph idx="1"/>
          </p:nvPr>
        </p:nvSpPr>
        <p:spPr/>
        <p:txBody>
          <a:bodyPr/>
          <a:lstStyle/>
          <a:p>
            <a:r>
              <a:rPr lang="zh-CN" altLang="en-US" dirty="0"/>
              <a:t>在一个值序列上执行部分前缀和</a:t>
            </a:r>
            <a:endParaRPr lang="en-US" altLang="zh-CN" dirty="0"/>
          </a:p>
          <a:p>
            <a:r>
              <a:rPr lang="zh-CN" altLang="en-US"/>
              <a:t>将结果序列第一个元素设置为给定初值</a:t>
            </a:r>
            <a:endParaRPr lang="en-US" altLang="zh-CN" dirty="0"/>
          </a:p>
          <a:p>
            <a:r>
              <a:rPr lang="zh-CN" altLang="en-US" dirty="0"/>
              <a:t>返回一个迭代器，指向结果序列末尾</a:t>
            </a:r>
          </a:p>
        </p:txBody>
      </p:sp>
      <p:grpSp>
        <p:nvGrpSpPr>
          <p:cNvPr id="4" name="Group 16">
            <a:extLst>
              <a:ext uri="{FF2B5EF4-FFF2-40B4-BE49-F238E27FC236}">
                <a16:creationId xmlns:a16="http://schemas.microsoft.com/office/drawing/2014/main" id="{74EC6B4A-D818-4B48-81AB-44B26F859C12}"/>
              </a:ext>
            </a:extLst>
          </p:cNvPr>
          <p:cNvGrpSpPr/>
          <p:nvPr/>
        </p:nvGrpSpPr>
        <p:grpSpPr>
          <a:xfrm>
            <a:off x="1018347" y="3099576"/>
            <a:ext cx="8081778" cy="1584803"/>
            <a:chOff x="5242989" y="505096"/>
            <a:chExt cx="5621214" cy="6257626"/>
          </a:xfrm>
        </p:grpSpPr>
        <p:sp>
          <p:nvSpPr>
            <p:cNvPr id="5" name="Rectangle: Single Corner Snipped 17">
              <a:extLst>
                <a:ext uri="{FF2B5EF4-FFF2-40B4-BE49-F238E27FC236}">
                  <a16:creationId xmlns:a16="http://schemas.microsoft.com/office/drawing/2014/main" id="{5CBC11C8-21F7-4287-96CE-EDEF4A4C73CF}"/>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6" name="TextBox 18">
              <a:extLst>
                <a:ext uri="{FF2B5EF4-FFF2-40B4-BE49-F238E27FC236}">
                  <a16:creationId xmlns:a16="http://schemas.microsoft.com/office/drawing/2014/main" id="{AAF40B40-BD1A-4A4E-934F-7A741E7E26BF}"/>
                </a:ext>
              </a:extLst>
            </p:cNvPr>
            <p:cNvSpPr txBox="1"/>
            <p:nvPr/>
          </p:nvSpPr>
          <p:spPr>
            <a:xfrm>
              <a:off x="5390906" y="611434"/>
              <a:ext cx="5473297" cy="496738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267F99"/>
                  </a:solidFill>
                  <a:latin typeface="Consolas" panose="020B0609020204030204" pitchFamily="49" charset="0"/>
                </a:rPr>
                <a:t>keys: [0,0,0,1,1,1]</a:t>
              </a:r>
            </a:p>
            <a:p>
              <a:pPr>
                <a:lnSpc>
                  <a:spcPct val="150000"/>
                </a:lnSpc>
                <a:spcBef>
                  <a:spcPts val="0"/>
                </a:spcBef>
              </a:pPr>
              <a:r>
                <a:rPr lang="en-US" altLang="zh-CN" sz="1400" dirty="0">
                  <a:solidFill>
                    <a:srgbClr val="267F99"/>
                  </a:solidFill>
                  <a:latin typeface="Consolas" panose="020B0609020204030204" pitchFamily="49" charset="0"/>
                </a:rPr>
                <a:t>values: [1,2,3,4,5,6]</a:t>
              </a:r>
            </a:p>
            <a:p>
              <a:pPr>
                <a:lnSpc>
                  <a:spcPct val="150000"/>
                </a:lnSpc>
                <a:spcBef>
                  <a:spcPts val="0"/>
                </a:spcBef>
              </a:pPr>
              <a:r>
                <a:rPr lang="en-US" altLang="zh-CN" sz="1400" dirty="0">
                  <a:solidFill>
                    <a:srgbClr val="267F99"/>
                  </a:solidFill>
                  <a:latin typeface="Consolas" panose="020B0609020204030204" pitchFamily="49" charset="0"/>
                </a:rPr>
                <a:t>initial value: [0]</a:t>
              </a:r>
            </a:p>
            <a:p>
              <a:pPr>
                <a:lnSpc>
                  <a:spcPct val="150000"/>
                </a:lnSpc>
                <a:spcBef>
                  <a:spcPts val="0"/>
                </a:spcBef>
              </a:pPr>
              <a:r>
                <a:rPr lang="en-US" altLang="zh-CN" sz="1400" dirty="0">
                  <a:solidFill>
                    <a:srgbClr val="267F99"/>
                  </a:solidFill>
                  <a:latin typeface="Consolas" panose="020B0609020204030204" pitchFamily="49" charset="0"/>
                </a:rPr>
                <a:t>result: [0,0+1=1,0+1+2=3,0,0+4=4,0+4+5=9]</a:t>
              </a:r>
            </a:p>
          </p:txBody>
        </p:sp>
      </p:grpSp>
      <p:grpSp>
        <p:nvGrpSpPr>
          <p:cNvPr id="7" name="Group 19">
            <a:extLst>
              <a:ext uri="{FF2B5EF4-FFF2-40B4-BE49-F238E27FC236}">
                <a16:creationId xmlns:a16="http://schemas.microsoft.com/office/drawing/2014/main" id="{912D1A1E-8005-4987-BD15-321EEC126B03}"/>
              </a:ext>
            </a:extLst>
          </p:cNvPr>
          <p:cNvGrpSpPr/>
          <p:nvPr/>
        </p:nvGrpSpPr>
        <p:grpSpPr>
          <a:xfrm>
            <a:off x="1018346" y="4875469"/>
            <a:ext cx="8081777" cy="1649875"/>
            <a:chOff x="5242989" y="505096"/>
            <a:chExt cx="5621214" cy="6257626"/>
          </a:xfrm>
        </p:grpSpPr>
        <p:sp>
          <p:nvSpPr>
            <p:cNvPr id="8" name="Rectangle: Single Corner Snipped 20">
              <a:extLst>
                <a:ext uri="{FF2B5EF4-FFF2-40B4-BE49-F238E27FC236}">
                  <a16:creationId xmlns:a16="http://schemas.microsoft.com/office/drawing/2014/main" id="{385C5E73-86ED-4774-B4C4-7AC413C70F8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9" name="TextBox 21">
              <a:extLst>
                <a:ext uri="{FF2B5EF4-FFF2-40B4-BE49-F238E27FC236}">
                  <a16:creationId xmlns:a16="http://schemas.microsoft.com/office/drawing/2014/main" id="{4500CAFC-6764-4F25-8ABA-C91824A104A2}"/>
                </a:ext>
              </a:extLst>
            </p:cNvPr>
            <p:cNvSpPr txBox="1"/>
            <p:nvPr/>
          </p:nvSpPr>
          <p:spPr>
            <a:xfrm>
              <a:off x="5390906" y="611431"/>
              <a:ext cx="5473297" cy="4596366"/>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exclusive_scan_by_segment</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(q),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result_begin,T</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(0));</a:t>
              </a: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10" name="Straight Arrow Connector 22">
            <a:extLst>
              <a:ext uri="{FF2B5EF4-FFF2-40B4-BE49-F238E27FC236}">
                <a16:creationId xmlns:a16="http://schemas.microsoft.com/office/drawing/2014/main" id="{03023B58-DA5C-463F-B4E4-67B8FF07A98C}"/>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11" name="Flowchart: Process 24">
            <a:extLst>
              <a:ext uri="{FF2B5EF4-FFF2-40B4-BE49-F238E27FC236}">
                <a16:creationId xmlns:a16="http://schemas.microsoft.com/office/drawing/2014/main" id="{B4BCF283-484B-479C-9D2A-4A4E962856C1}"/>
              </a:ext>
            </a:extLst>
          </p:cNvPr>
          <p:cNvSpPr/>
          <p:nvPr/>
        </p:nvSpPr>
        <p:spPr>
          <a:xfrm>
            <a:off x="5159525" y="5250792"/>
            <a:ext cx="2076771"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12" name="TextBox 25">
            <a:extLst>
              <a:ext uri="{FF2B5EF4-FFF2-40B4-BE49-F238E27FC236}">
                <a16:creationId xmlns:a16="http://schemas.microsoft.com/office/drawing/2014/main" id="{CC7A6D3C-01BC-4F89-A461-4DA746AE5029}"/>
              </a:ext>
            </a:extLst>
          </p:cNvPr>
          <p:cNvSpPr txBox="1"/>
          <p:nvPr/>
        </p:nvSpPr>
        <p:spPr>
          <a:xfrm>
            <a:off x="6660232"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13" name="Straight Arrow Connector 26">
            <a:extLst>
              <a:ext uri="{FF2B5EF4-FFF2-40B4-BE49-F238E27FC236}">
                <a16:creationId xmlns:a16="http://schemas.microsoft.com/office/drawing/2014/main" id="{8A6C4F8D-CE6B-4F40-B8BE-D538C4AF689F}"/>
              </a:ext>
            </a:extLst>
          </p:cNvPr>
          <p:cNvCxnSpPr>
            <a:cxnSpLocks/>
          </p:cNvCxnSpPr>
          <p:nvPr/>
        </p:nvCxnSpPr>
        <p:spPr>
          <a:xfrm flipH="1">
            <a:off x="6494982" y="5066221"/>
            <a:ext cx="161925" cy="226728"/>
          </a:xfrm>
          <a:prstGeom prst="straightConnector1">
            <a:avLst/>
          </a:prstGeom>
          <a:noFill/>
          <a:ln w="38100" cap="flat" cmpd="sng" algn="ctr">
            <a:solidFill>
              <a:srgbClr val="8F5DA2"/>
            </a:solidFill>
            <a:prstDash val="solid"/>
            <a:tailEnd type="triangle"/>
          </a:ln>
          <a:effectLst/>
        </p:spPr>
      </p:cxnSp>
      <p:sp>
        <p:nvSpPr>
          <p:cNvPr id="14" name="TextBox 23">
            <a:extLst>
              <a:ext uri="{FF2B5EF4-FFF2-40B4-BE49-F238E27FC236}">
                <a16:creationId xmlns:a16="http://schemas.microsoft.com/office/drawing/2014/main" id="{1701E672-10F7-4369-BC17-0B9E71A71101}"/>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327462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CD04C-3C94-410E-85AA-734A420E7289}"/>
              </a:ext>
            </a:extLst>
          </p:cNvPr>
          <p:cNvSpPr>
            <a:spLocks noGrp="1"/>
          </p:cNvSpPr>
          <p:nvPr>
            <p:ph type="title"/>
          </p:nvPr>
        </p:nvSpPr>
        <p:spPr/>
        <p:txBody>
          <a:bodyPr/>
          <a:lstStyle/>
          <a:p>
            <a:r>
              <a:rPr lang="en-US" altLang="zh-CN" dirty="0" err="1"/>
              <a:t>binary_search</a:t>
            </a:r>
            <a:endParaRPr lang="zh-CN" altLang="en-US" dirty="0"/>
          </a:p>
        </p:txBody>
      </p:sp>
      <p:sp>
        <p:nvSpPr>
          <p:cNvPr id="3" name="内容占位符 2">
            <a:extLst>
              <a:ext uri="{FF2B5EF4-FFF2-40B4-BE49-F238E27FC236}">
                <a16:creationId xmlns:a16="http://schemas.microsoft.com/office/drawing/2014/main" id="{AF67CC5D-264F-4BBD-957D-24B5B895F526}"/>
              </a:ext>
            </a:extLst>
          </p:cNvPr>
          <p:cNvSpPr>
            <a:spLocks noGrp="1"/>
          </p:cNvSpPr>
          <p:nvPr>
            <p:ph idx="1"/>
          </p:nvPr>
        </p:nvSpPr>
        <p:spPr/>
        <p:txBody>
          <a:bodyPr/>
          <a:lstStyle/>
          <a:p>
            <a:r>
              <a:rPr lang="zh-CN" altLang="en-US" dirty="0"/>
              <a:t>在输入序列中查找搜索序列中每个值</a:t>
            </a:r>
            <a:endParaRPr lang="en-US" altLang="zh-CN" dirty="0"/>
          </a:p>
          <a:p>
            <a:r>
              <a:rPr lang="zh-CN" altLang="en-US" dirty="0"/>
              <a:t>结果序列每个元素是一个布尔值，指示搜索序列中对应元素是否在输入序列中</a:t>
            </a:r>
          </a:p>
        </p:txBody>
      </p:sp>
      <p:grpSp>
        <p:nvGrpSpPr>
          <p:cNvPr id="4" name="Group 16">
            <a:extLst>
              <a:ext uri="{FF2B5EF4-FFF2-40B4-BE49-F238E27FC236}">
                <a16:creationId xmlns:a16="http://schemas.microsoft.com/office/drawing/2014/main" id="{74EC6B4A-D818-4B48-81AB-44B26F859C12}"/>
              </a:ext>
            </a:extLst>
          </p:cNvPr>
          <p:cNvGrpSpPr/>
          <p:nvPr/>
        </p:nvGrpSpPr>
        <p:grpSpPr>
          <a:xfrm>
            <a:off x="1018347" y="3099576"/>
            <a:ext cx="8081778" cy="1584803"/>
            <a:chOff x="5242989" y="505096"/>
            <a:chExt cx="5621214" cy="6257626"/>
          </a:xfrm>
        </p:grpSpPr>
        <p:sp>
          <p:nvSpPr>
            <p:cNvPr id="5" name="Rectangle: Single Corner Snipped 17">
              <a:extLst>
                <a:ext uri="{FF2B5EF4-FFF2-40B4-BE49-F238E27FC236}">
                  <a16:creationId xmlns:a16="http://schemas.microsoft.com/office/drawing/2014/main" id="{5CBC11C8-21F7-4287-96CE-EDEF4A4C73CF}"/>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6" name="TextBox 18">
              <a:extLst>
                <a:ext uri="{FF2B5EF4-FFF2-40B4-BE49-F238E27FC236}">
                  <a16:creationId xmlns:a16="http://schemas.microsoft.com/office/drawing/2014/main" id="{AAF40B40-BD1A-4A4E-934F-7A741E7E26BF}"/>
                </a:ext>
              </a:extLst>
            </p:cNvPr>
            <p:cNvSpPr txBox="1"/>
            <p:nvPr/>
          </p:nvSpPr>
          <p:spPr>
            <a:xfrm>
              <a:off x="5390906" y="611434"/>
              <a:ext cx="5473297" cy="496738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267F99"/>
                  </a:solidFill>
                  <a:latin typeface="Consolas" panose="020B0609020204030204" pitchFamily="49" charset="0"/>
                </a:rPr>
                <a:t>input sequence: [0, 2, 2, 2, 3, 3, 3, 3, 6, 6]</a:t>
              </a:r>
            </a:p>
            <a:p>
              <a:pPr>
                <a:lnSpc>
                  <a:spcPct val="150000"/>
                </a:lnSpc>
                <a:spcBef>
                  <a:spcPts val="0"/>
                </a:spcBef>
              </a:pPr>
              <a:r>
                <a:rPr lang="en-US" altLang="zh-CN" sz="1400" dirty="0">
                  <a:solidFill>
                    <a:srgbClr val="267F99"/>
                  </a:solidFill>
                  <a:latin typeface="Consolas" panose="020B0609020204030204" pitchFamily="49" charset="0"/>
                </a:rPr>
                <a:t>search sequence: [0, 2, 4, 7, 6]</a:t>
              </a:r>
            </a:p>
            <a:p>
              <a:pPr>
                <a:lnSpc>
                  <a:spcPct val="150000"/>
                </a:lnSpc>
                <a:spcBef>
                  <a:spcPts val="0"/>
                </a:spcBef>
              </a:pPr>
              <a:r>
                <a:rPr lang="en-US" altLang="zh-CN" sz="1400" dirty="0">
                  <a:solidFill>
                    <a:srgbClr val="267F99"/>
                  </a:solidFill>
                  <a:latin typeface="Consolas" panose="020B0609020204030204" pitchFamily="49" charset="0"/>
                </a:rPr>
                <a:t>result sequence: [true, true, false, false, true]</a:t>
              </a:r>
            </a:p>
            <a:p>
              <a:pPr>
                <a:lnSpc>
                  <a:spcPct val="150000"/>
                </a:lnSpc>
                <a:spcBef>
                  <a:spcPts val="0"/>
                </a:spcBef>
              </a:pPr>
              <a:endParaRPr lang="en-US" altLang="zh-CN" sz="1400" dirty="0">
                <a:solidFill>
                  <a:srgbClr val="267F99"/>
                </a:solidFill>
                <a:latin typeface="Consolas" panose="020B0609020204030204" pitchFamily="49" charset="0"/>
              </a:endParaRPr>
            </a:p>
          </p:txBody>
        </p:sp>
      </p:grpSp>
      <p:grpSp>
        <p:nvGrpSpPr>
          <p:cNvPr id="7" name="Group 19">
            <a:extLst>
              <a:ext uri="{FF2B5EF4-FFF2-40B4-BE49-F238E27FC236}">
                <a16:creationId xmlns:a16="http://schemas.microsoft.com/office/drawing/2014/main" id="{912D1A1E-8005-4987-BD15-321EEC126B03}"/>
              </a:ext>
            </a:extLst>
          </p:cNvPr>
          <p:cNvGrpSpPr/>
          <p:nvPr/>
        </p:nvGrpSpPr>
        <p:grpSpPr>
          <a:xfrm>
            <a:off x="1018346" y="4875469"/>
            <a:ext cx="8081777" cy="1649875"/>
            <a:chOff x="5242989" y="505096"/>
            <a:chExt cx="5621214" cy="6257626"/>
          </a:xfrm>
        </p:grpSpPr>
        <p:sp>
          <p:nvSpPr>
            <p:cNvPr id="8" name="Rectangle: Single Corner Snipped 20">
              <a:extLst>
                <a:ext uri="{FF2B5EF4-FFF2-40B4-BE49-F238E27FC236}">
                  <a16:creationId xmlns:a16="http://schemas.microsoft.com/office/drawing/2014/main" id="{385C5E73-86ED-4774-B4C4-7AC413C70F8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9" name="TextBox 21">
              <a:extLst>
                <a:ext uri="{FF2B5EF4-FFF2-40B4-BE49-F238E27FC236}">
                  <a16:creationId xmlns:a16="http://schemas.microsoft.com/office/drawing/2014/main" id="{4500CAFC-6764-4F25-8ABA-C91824A104A2}"/>
                </a:ext>
              </a:extLst>
            </p:cNvPr>
            <p:cNvSpPr txBox="1"/>
            <p:nvPr/>
          </p:nvSpPr>
          <p:spPr>
            <a:xfrm>
              <a:off x="5390906" y="611431"/>
              <a:ext cx="5473297" cy="5665693"/>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binary_search</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(q),</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result_begin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10" name="Straight Arrow Connector 22">
            <a:extLst>
              <a:ext uri="{FF2B5EF4-FFF2-40B4-BE49-F238E27FC236}">
                <a16:creationId xmlns:a16="http://schemas.microsoft.com/office/drawing/2014/main" id="{03023B58-DA5C-463F-B4E4-67B8FF07A98C}"/>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11" name="Flowchart: Process 24">
            <a:extLst>
              <a:ext uri="{FF2B5EF4-FFF2-40B4-BE49-F238E27FC236}">
                <a16:creationId xmlns:a16="http://schemas.microsoft.com/office/drawing/2014/main" id="{B4BCF283-484B-479C-9D2A-4A4E962856C1}"/>
              </a:ext>
            </a:extLst>
          </p:cNvPr>
          <p:cNvSpPr/>
          <p:nvPr/>
        </p:nvSpPr>
        <p:spPr>
          <a:xfrm>
            <a:off x="3851920" y="5250792"/>
            <a:ext cx="2076771"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12" name="TextBox 25">
            <a:extLst>
              <a:ext uri="{FF2B5EF4-FFF2-40B4-BE49-F238E27FC236}">
                <a16:creationId xmlns:a16="http://schemas.microsoft.com/office/drawing/2014/main" id="{CC7A6D3C-01BC-4F89-A461-4DA746AE5029}"/>
              </a:ext>
            </a:extLst>
          </p:cNvPr>
          <p:cNvSpPr txBox="1"/>
          <p:nvPr/>
        </p:nvSpPr>
        <p:spPr>
          <a:xfrm>
            <a:off x="5352627"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13" name="Straight Arrow Connector 26">
            <a:extLst>
              <a:ext uri="{FF2B5EF4-FFF2-40B4-BE49-F238E27FC236}">
                <a16:creationId xmlns:a16="http://schemas.microsoft.com/office/drawing/2014/main" id="{8A6C4F8D-CE6B-4F40-B8BE-D538C4AF689F}"/>
              </a:ext>
            </a:extLst>
          </p:cNvPr>
          <p:cNvCxnSpPr>
            <a:cxnSpLocks/>
          </p:cNvCxnSpPr>
          <p:nvPr/>
        </p:nvCxnSpPr>
        <p:spPr>
          <a:xfrm flipH="1">
            <a:off x="5187377" y="5066221"/>
            <a:ext cx="161925" cy="226728"/>
          </a:xfrm>
          <a:prstGeom prst="straightConnector1">
            <a:avLst/>
          </a:prstGeom>
          <a:noFill/>
          <a:ln w="38100" cap="flat" cmpd="sng" algn="ctr">
            <a:solidFill>
              <a:srgbClr val="8F5DA2"/>
            </a:solidFill>
            <a:prstDash val="solid"/>
            <a:tailEnd type="triangle"/>
          </a:ln>
          <a:effectLst/>
        </p:spPr>
      </p:cxnSp>
      <p:sp>
        <p:nvSpPr>
          <p:cNvPr id="14" name="TextBox 23">
            <a:extLst>
              <a:ext uri="{FF2B5EF4-FFF2-40B4-BE49-F238E27FC236}">
                <a16:creationId xmlns:a16="http://schemas.microsoft.com/office/drawing/2014/main" id="{1701E672-10F7-4369-BC17-0B9E71A71101}"/>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427618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CD04C-3C94-410E-85AA-734A420E7289}"/>
              </a:ext>
            </a:extLst>
          </p:cNvPr>
          <p:cNvSpPr>
            <a:spLocks noGrp="1"/>
          </p:cNvSpPr>
          <p:nvPr>
            <p:ph type="title"/>
          </p:nvPr>
        </p:nvSpPr>
        <p:spPr/>
        <p:txBody>
          <a:bodyPr/>
          <a:lstStyle/>
          <a:p>
            <a:r>
              <a:rPr lang="en-US" altLang="zh-CN" dirty="0" err="1"/>
              <a:t>lower_bound</a:t>
            </a:r>
            <a:endParaRPr lang="zh-CN" altLang="en-US" dirty="0"/>
          </a:p>
        </p:txBody>
      </p:sp>
      <p:sp>
        <p:nvSpPr>
          <p:cNvPr id="3" name="内容占位符 2">
            <a:extLst>
              <a:ext uri="{FF2B5EF4-FFF2-40B4-BE49-F238E27FC236}">
                <a16:creationId xmlns:a16="http://schemas.microsoft.com/office/drawing/2014/main" id="{AF67CC5D-264F-4BBD-957D-24B5B895F526}"/>
              </a:ext>
            </a:extLst>
          </p:cNvPr>
          <p:cNvSpPr>
            <a:spLocks noGrp="1"/>
          </p:cNvSpPr>
          <p:nvPr>
            <p:ph idx="1"/>
          </p:nvPr>
        </p:nvSpPr>
        <p:spPr/>
        <p:txBody>
          <a:bodyPr/>
          <a:lstStyle/>
          <a:p>
            <a:r>
              <a:rPr lang="zh-CN" altLang="en-US" dirty="0"/>
              <a:t>在输入序列中查找搜索序列中每个值</a:t>
            </a:r>
            <a:endParaRPr lang="en-US" altLang="zh-CN" dirty="0"/>
          </a:p>
          <a:p>
            <a:r>
              <a:rPr lang="zh-CN" altLang="en-US" dirty="0"/>
              <a:t>结果序列每个元素指出搜索序列中对应元素在输入序列中最小插入位置</a:t>
            </a:r>
          </a:p>
        </p:txBody>
      </p:sp>
      <p:grpSp>
        <p:nvGrpSpPr>
          <p:cNvPr id="4" name="Group 16">
            <a:extLst>
              <a:ext uri="{FF2B5EF4-FFF2-40B4-BE49-F238E27FC236}">
                <a16:creationId xmlns:a16="http://schemas.microsoft.com/office/drawing/2014/main" id="{74EC6B4A-D818-4B48-81AB-44B26F859C12}"/>
              </a:ext>
            </a:extLst>
          </p:cNvPr>
          <p:cNvGrpSpPr/>
          <p:nvPr/>
        </p:nvGrpSpPr>
        <p:grpSpPr>
          <a:xfrm>
            <a:off x="1018347" y="3099576"/>
            <a:ext cx="8081778" cy="1584803"/>
            <a:chOff x="5242989" y="505096"/>
            <a:chExt cx="5621214" cy="6257626"/>
          </a:xfrm>
        </p:grpSpPr>
        <p:sp>
          <p:nvSpPr>
            <p:cNvPr id="5" name="Rectangle: Single Corner Snipped 17">
              <a:extLst>
                <a:ext uri="{FF2B5EF4-FFF2-40B4-BE49-F238E27FC236}">
                  <a16:creationId xmlns:a16="http://schemas.microsoft.com/office/drawing/2014/main" id="{5CBC11C8-21F7-4287-96CE-EDEF4A4C73CF}"/>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6" name="TextBox 18">
              <a:extLst>
                <a:ext uri="{FF2B5EF4-FFF2-40B4-BE49-F238E27FC236}">
                  <a16:creationId xmlns:a16="http://schemas.microsoft.com/office/drawing/2014/main" id="{AAF40B40-BD1A-4A4E-934F-7A741E7E26BF}"/>
                </a:ext>
              </a:extLst>
            </p:cNvPr>
            <p:cNvSpPr txBox="1"/>
            <p:nvPr/>
          </p:nvSpPr>
          <p:spPr>
            <a:xfrm>
              <a:off x="5390906" y="611434"/>
              <a:ext cx="5473297" cy="496738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267F99"/>
                  </a:solidFill>
                  <a:latin typeface="Consolas" panose="020B0609020204030204" pitchFamily="49" charset="0"/>
                </a:rPr>
                <a:t>input sequence: [0, 2, 2, 2, 3, 3, 3, 3, 6, 6]</a:t>
              </a:r>
            </a:p>
            <a:p>
              <a:pPr>
                <a:lnSpc>
                  <a:spcPct val="150000"/>
                </a:lnSpc>
                <a:spcBef>
                  <a:spcPts val="0"/>
                </a:spcBef>
              </a:pPr>
              <a:r>
                <a:rPr lang="en-US" altLang="zh-CN" sz="1400" dirty="0">
                  <a:solidFill>
                    <a:srgbClr val="267F99"/>
                  </a:solidFill>
                  <a:latin typeface="Consolas" panose="020B0609020204030204" pitchFamily="49" charset="0"/>
                </a:rPr>
                <a:t>search sequence: [0, 2, 4, 7, 6]</a:t>
              </a:r>
            </a:p>
            <a:p>
              <a:pPr>
                <a:lnSpc>
                  <a:spcPct val="150000"/>
                </a:lnSpc>
                <a:spcBef>
                  <a:spcPts val="0"/>
                </a:spcBef>
              </a:pPr>
              <a:r>
                <a:rPr lang="en-US" altLang="zh-CN" sz="1400" dirty="0">
                  <a:solidFill>
                    <a:srgbClr val="267F99"/>
                  </a:solidFill>
                  <a:latin typeface="Consolas" panose="020B0609020204030204" pitchFamily="49" charset="0"/>
                </a:rPr>
                <a:t>result sequence: [0, 1, 8, 10, 8]</a:t>
              </a:r>
            </a:p>
            <a:p>
              <a:pPr>
                <a:lnSpc>
                  <a:spcPct val="150000"/>
                </a:lnSpc>
                <a:spcBef>
                  <a:spcPts val="0"/>
                </a:spcBef>
              </a:pPr>
              <a:endParaRPr lang="en-US" altLang="zh-CN" sz="1400" dirty="0">
                <a:solidFill>
                  <a:srgbClr val="267F99"/>
                </a:solidFill>
                <a:latin typeface="Consolas" panose="020B0609020204030204" pitchFamily="49" charset="0"/>
              </a:endParaRPr>
            </a:p>
          </p:txBody>
        </p:sp>
      </p:grpSp>
      <p:grpSp>
        <p:nvGrpSpPr>
          <p:cNvPr id="7" name="Group 19">
            <a:extLst>
              <a:ext uri="{FF2B5EF4-FFF2-40B4-BE49-F238E27FC236}">
                <a16:creationId xmlns:a16="http://schemas.microsoft.com/office/drawing/2014/main" id="{912D1A1E-8005-4987-BD15-321EEC126B03}"/>
              </a:ext>
            </a:extLst>
          </p:cNvPr>
          <p:cNvGrpSpPr/>
          <p:nvPr/>
        </p:nvGrpSpPr>
        <p:grpSpPr>
          <a:xfrm>
            <a:off x="1018346" y="4875469"/>
            <a:ext cx="8081777" cy="1845008"/>
            <a:chOff x="5242989" y="505096"/>
            <a:chExt cx="5621214" cy="6997724"/>
          </a:xfrm>
        </p:grpSpPr>
        <p:sp>
          <p:nvSpPr>
            <p:cNvPr id="8" name="Rectangle: Single Corner Snipped 20">
              <a:extLst>
                <a:ext uri="{FF2B5EF4-FFF2-40B4-BE49-F238E27FC236}">
                  <a16:creationId xmlns:a16="http://schemas.microsoft.com/office/drawing/2014/main" id="{385C5E73-86ED-4774-B4C4-7AC413C70F8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9" name="TextBox 21">
              <a:extLst>
                <a:ext uri="{FF2B5EF4-FFF2-40B4-BE49-F238E27FC236}">
                  <a16:creationId xmlns:a16="http://schemas.microsoft.com/office/drawing/2014/main" id="{4500CAFC-6764-4F25-8ABA-C91824A104A2}"/>
                </a:ext>
              </a:extLst>
            </p:cNvPr>
            <p:cNvSpPr txBox="1"/>
            <p:nvPr/>
          </p:nvSpPr>
          <p:spPr>
            <a:xfrm>
              <a:off x="5390906" y="611431"/>
              <a:ext cx="5473297" cy="6891389"/>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lower_bound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(q),</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keys_begin,keys_end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result_begin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10" name="Straight Arrow Connector 22">
            <a:extLst>
              <a:ext uri="{FF2B5EF4-FFF2-40B4-BE49-F238E27FC236}">
                <a16:creationId xmlns:a16="http://schemas.microsoft.com/office/drawing/2014/main" id="{03023B58-DA5C-463F-B4E4-67B8FF07A98C}"/>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11" name="Flowchart: Process 24">
            <a:extLst>
              <a:ext uri="{FF2B5EF4-FFF2-40B4-BE49-F238E27FC236}">
                <a16:creationId xmlns:a16="http://schemas.microsoft.com/office/drawing/2014/main" id="{B4BCF283-484B-479C-9D2A-4A4E962856C1}"/>
              </a:ext>
            </a:extLst>
          </p:cNvPr>
          <p:cNvSpPr/>
          <p:nvPr/>
        </p:nvSpPr>
        <p:spPr>
          <a:xfrm>
            <a:off x="3681796" y="5250792"/>
            <a:ext cx="2076771"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12" name="TextBox 25">
            <a:extLst>
              <a:ext uri="{FF2B5EF4-FFF2-40B4-BE49-F238E27FC236}">
                <a16:creationId xmlns:a16="http://schemas.microsoft.com/office/drawing/2014/main" id="{CC7A6D3C-01BC-4F89-A461-4DA746AE5029}"/>
              </a:ext>
            </a:extLst>
          </p:cNvPr>
          <p:cNvSpPr txBox="1"/>
          <p:nvPr/>
        </p:nvSpPr>
        <p:spPr>
          <a:xfrm>
            <a:off x="5182503"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13" name="Straight Arrow Connector 26">
            <a:extLst>
              <a:ext uri="{FF2B5EF4-FFF2-40B4-BE49-F238E27FC236}">
                <a16:creationId xmlns:a16="http://schemas.microsoft.com/office/drawing/2014/main" id="{8A6C4F8D-CE6B-4F40-B8BE-D538C4AF689F}"/>
              </a:ext>
            </a:extLst>
          </p:cNvPr>
          <p:cNvCxnSpPr>
            <a:cxnSpLocks/>
          </p:cNvCxnSpPr>
          <p:nvPr/>
        </p:nvCxnSpPr>
        <p:spPr>
          <a:xfrm flipH="1">
            <a:off x="5017253" y="5066221"/>
            <a:ext cx="161925" cy="226728"/>
          </a:xfrm>
          <a:prstGeom prst="straightConnector1">
            <a:avLst/>
          </a:prstGeom>
          <a:noFill/>
          <a:ln w="38100" cap="flat" cmpd="sng" algn="ctr">
            <a:solidFill>
              <a:srgbClr val="8F5DA2"/>
            </a:solidFill>
            <a:prstDash val="solid"/>
            <a:tailEnd type="triangle"/>
          </a:ln>
          <a:effectLst/>
        </p:spPr>
      </p:cxnSp>
      <p:sp>
        <p:nvSpPr>
          <p:cNvPr id="14" name="TextBox 23">
            <a:extLst>
              <a:ext uri="{FF2B5EF4-FFF2-40B4-BE49-F238E27FC236}">
                <a16:creationId xmlns:a16="http://schemas.microsoft.com/office/drawing/2014/main" id="{1701E672-10F7-4369-BC17-0B9E71A71101}"/>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420109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CD04C-3C94-410E-85AA-734A420E7289}"/>
              </a:ext>
            </a:extLst>
          </p:cNvPr>
          <p:cNvSpPr>
            <a:spLocks noGrp="1"/>
          </p:cNvSpPr>
          <p:nvPr>
            <p:ph type="title"/>
          </p:nvPr>
        </p:nvSpPr>
        <p:spPr/>
        <p:txBody>
          <a:bodyPr/>
          <a:lstStyle/>
          <a:p>
            <a:r>
              <a:rPr lang="en-US" altLang="zh-CN" dirty="0" err="1"/>
              <a:t>upper_bound</a:t>
            </a:r>
            <a:endParaRPr lang="zh-CN" altLang="en-US" dirty="0"/>
          </a:p>
        </p:txBody>
      </p:sp>
      <p:sp>
        <p:nvSpPr>
          <p:cNvPr id="3" name="内容占位符 2">
            <a:extLst>
              <a:ext uri="{FF2B5EF4-FFF2-40B4-BE49-F238E27FC236}">
                <a16:creationId xmlns:a16="http://schemas.microsoft.com/office/drawing/2014/main" id="{AF67CC5D-264F-4BBD-957D-24B5B895F526}"/>
              </a:ext>
            </a:extLst>
          </p:cNvPr>
          <p:cNvSpPr>
            <a:spLocks noGrp="1"/>
          </p:cNvSpPr>
          <p:nvPr>
            <p:ph idx="1"/>
          </p:nvPr>
        </p:nvSpPr>
        <p:spPr/>
        <p:txBody>
          <a:bodyPr/>
          <a:lstStyle/>
          <a:p>
            <a:r>
              <a:rPr lang="zh-CN" altLang="en-US" dirty="0"/>
              <a:t>在输入序列中查找搜索序列中每个值</a:t>
            </a:r>
            <a:endParaRPr lang="en-US" altLang="zh-CN" dirty="0"/>
          </a:p>
          <a:p>
            <a:r>
              <a:rPr lang="zh-CN" altLang="en-US" dirty="0"/>
              <a:t>结果序列每个元素指出搜索序列中对应元素在输入序列中最大插入位置</a:t>
            </a:r>
          </a:p>
        </p:txBody>
      </p:sp>
      <p:grpSp>
        <p:nvGrpSpPr>
          <p:cNvPr id="4" name="Group 16">
            <a:extLst>
              <a:ext uri="{FF2B5EF4-FFF2-40B4-BE49-F238E27FC236}">
                <a16:creationId xmlns:a16="http://schemas.microsoft.com/office/drawing/2014/main" id="{74EC6B4A-D818-4B48-81AB-44B26F859C12}"/>
              </a:ext>
            </a:extLst>
          </p:cNvPr>
          <p:cNvGrpSpPr/>
          <p:nvPr/>
        </p:nvGrpSpPr>
        <p:grpSpPr>
          <a:xfrm>
            <a:off x="1018347" y="3099576"/>
            <a:ext cx="8081778" cy="1584803"/>
            <a:chOff x="5242989" y="505096"/>
            <a:chExt cx="5621214" cy="6257626"/>
          </a:xfrm>
        </p:grpSpPr>
        <p:sp>
          <p:nvSpPr>
            <p:cNvPr id="5" name="Rectangle: Single Corner Snipped 17">
              <a:extLst>
                <a:ext uri="{FF2B5EF4-FFF2-40B4-BE49-F238E27FC236}">
                  <a16:creationId xmlns:a16="http://schemas.microsoft.com/office/drawing/2014/main" id="{5CBC11C8-21F7-4287-96CE-EDEF4A4C73CF}"/>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6" name="TextBox 18">
              <a:extLst>
                <a:ext uri="{FF2B5EF4-FFF2-40B4-BE49-F238E27FC236}">
                  <a16:creationId xmlns:a16="http://schemas.microsoft.com/office/drawing/2014/main" id="{AAF40B40-BD1A-4A4E-934F-7A741E7E26BF}"/>
                </a:ext>
              </a:extLst>
            </p:cNvPr>
            <p:cNvSpPr txBox="1"/>
            <p:nvPr/>
          </p:nvSpPr>
          <p:spPr>
            <a:xfrm>
              <a:off x="5390906" y="611434"/>
              <a:ext cx="5473297" cy="4967384"/>
            </a:xfrm>
            <a:prstGeom prst="rect">
              <a:avLst/>
            </a:prstGeom>
            <a:noFill/>
          </p:spPr>
          <p:txBody>
            <a:bodyPr vert="horz" wrap="square" lIns="0" tIns="0" rIns="0" bIns="0" rtlCol="0">
              <a:spAutoFit/>
            </a:bodyPr>
            <a:lstStyle/>
            <a:p>
              <a:pPr>
                <a:lnSpc>
                  <a:spcPct val="150000"/>
                </a:lnSpc>
                <a:spcBef>
                  <a:spcPts val="0"/>
                </a:spcBef>
              </a:pPr>
              <a:r>
                <a:rPr lang="en-US" altLang="zh-CN" sz="1400" dirty="0">
                  <a:solidFill>
                    <a:srgbClr val="267F99"/>
                  </a:solidFill>
                  <a:latin typeface="Consolas" panose="020B0609020204030204" pitchFamily="49" charset="0"/>
                </a:rPr>
                <a:t>input sequence: [0, 2, 2, 2, 3, 3, 3, 3, 6, 6]</a:t>
              </a:r>
            </a:p>
            <a:p>
              <a:pPr>
                <a:lnSpc>
                  <a:spcPct val="150000"/>
                </a:lnSpc>
                <a:spcBef>
                  <a:spcPts val="0"/>
                </a:spcBef>
              </a:pPr>
              <a:r>
                <a:rPr lang="en-US" altLang="zh-CN" sz="1400" dirty="0">
                  <a:solidFill>
                    <a:srgbClr val="267F99"/>
                  </a:solidFill>
                  <a:latin typeface="Consolas" panose="020B0609020204030204" pitchFamily="49" charset="0"/>
                </a:rPr>
                <a:t>search sequence: [0, 2, 4, 7, 6]</a:t>
              </a:r>
            </a:p>
            <a:p>
              <a:pPr>
                <a:lnSpc>
                  <a:spcPct val="150000"/>
                </a:lnSpc>
                <a:spcBef>
                  <a:spcPts val="0"/>
                </a:spcBef>
              </a:pPr>
              <a:r>
                <a:rPr lang="en-US" altLang="zh-CN" sz="1400" dirty="0">
                  <a:solidFill>
                    <a:srgbClr val="267F99"/>
                  </a:solidFill>
                  <a:latin typeface="Consolas" panose="020B0609020204030204" pitchFamily="49" charset="0"/>
                </a:rPr>
                <a:t>result sequence: [1, 4, 8, 10, 10]</a:t>
              </a:r>
            </a:p>
            <a:p>
              <a:pPr>
                <a:lnSpc>
                  <a:spcPct val="150000"/>
                </a:lnSpc>
                <a:spcBef>
                  <a:spcPts val="0"/>
                </a:spcBef>
              </a:pPr>
              <a:endParaRPr lang="en-US" altLang="zh-CN" sz="1400" dirty="0">
                <a:solidFill>
                  <a:srgbClr val="267F99"/>
                </a:solidFill>
                <a:latin typeface="Consolas" panose="020B0609020204030204" pitchFamily="49" charset="0"/>
              </a:endParaRPr>
            </a:p>
          </p:txBody>
        </p:sp>
      </p:grpSp>
      <p:grpSp>
        <p:nvGrpSpPr>
          <p:cNvPr id="7" name="Group 19">
            <a:extLst>
              <a:ext uri="{FF2B5EF4-FFF2-40B4-BE49-F238E27FC236}">
                <a16:creationId xmlns:a16="http://schemas.microsoft.com/office/drawing/2014/main" id="{912D1A1E-8005-4987-BD15-321EEC126B03}"/>
              </a:ext>
            </a:extLst>
          </p:cNvPr>
          <p:cNvGrpSpPr/>
          <p:nvPr/>
        </p:nvGrpSpPr>
        <p:grpSpPr>
          <a:xfrm>
            <a:off x="1018346" y="4875469"/>
            <a:ext cx="8081777" cy="1649875"/>
            <a:chOff x="5242989" y="505096"/>
            <a:chExt cx="5621214" cy="6257626"/>
          </a:xfrm>
        </p:grpSpPr>
        <p:sp>
          <p:nvSpPr>
            <p:cNvPr id="8" name="Rectangle: Single Corner Snipped 20">
              <a:extLst>
                <a:ext uri="{FF2B5EF4-FFF2-40B4-BE49-F238E27FC236}">
                  <a16:creationId xmlns:a16="http://schemas.microsoft.com/office/drawing/2014/main" id="{385C5E73-86ED-4774-B4C4-7AC413C70F8A}"/>
                </a:ext>
              </a:extLst>
            </p:cNvPr>
            <p:cNvSpPr/>
            <p:nvPr/>
          </p:nvSpPr>
          <p:spPr>
            <a:xfrm>
              <a:off x="5242989" y="505096"/>
              <a:ext cx="5621213" cy="6257626"/>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9" name="TextBox 21">
              <a:extLst>
                <a:ext uri="{FF2B5EF4-FFF2-40B4-BE49-F238E27FC236}">
                  <a16:creationId xmlns:a16="http://schemas.microsoft.com/office/drawing/2014/main" id="{4500CAFC-6764-4F25-8ABA-C91824A104A2}"/>
                </a:ext>
              </a:extLst>
            </p:cNvPr>
            <p:cNvSpPr txBox="1"/>
            <p:nvPr/>
          </p:nvSpPr>
          <p:spPr>
            <a:xfrm>
              <a:off x="5390906" y="611431"/>
              <a:ext cx="5473297" cy="5665693"/>
            </a:xfrm>
            <a:prstGeom prst="rect">
              <a:avLst/>
            </a:prstGeom>
            <a:noFill/>
          </p:spPr>
          <p:txBody>
            <a:bodyPr vert="horz" wrap="square" lIns="0" tIns="0" rIns="0" bIns="0" rtlCol="0">
              <a:spAutoFit/>
            </a:bodyPr>
            <a:lstStyle/>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upper_bound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make_device_policy</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(q),</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keys_begin,keys_end</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4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vals_begin,vals_end,result_begin</a:t>
              </a:r>
              <a:r>
                <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0068B5"/>
                </a:solidFill>
                <a:effectLst/>
                <a:uLnTx/>
                <a:uFillTx/>
                <a:latin typeface="Consolas" panose="020B0609020204030204" pitchFamily="49" charset="0"/>
                <a:sym typeface="Helvetica Neue"/>
              </a:endParaRPr>
            </a:p>
            <a:p>
              <a:pPr marL="0" marR="0" lvl="0" indent="0" defTabSz="1219169" eaLnBrk="1" fontAlgn="auto" latinLnBrk="0" hangingPunct="1">
                <a:lnSpc>
                  <a:spcPct val="15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onsolas" panose="020B0609020204030204" pitchFamily="49" charset="0"/>
                <a:sym typeface="Helvetica Neue"/>
              </a:endParaRPr>
            </a:p>
          </p:txBody>
        </p:sp>
      </p:grpSp>
      <p:cxnSp>
        <p:nvCxnSpPr>
          <p:cNvPr id="10" name="Straight Arrow Connector 22">
            <a:extLst>
              <a:ext uri="{FF2B5EF4-FFF2-40B4-BE49-F238E27FC236}">
                <a16:creationId xmlns:a16="http://schemas.microsoft.com/office/drawing/2014/main" id="{03023B58-DA5C-463F-B4E4-67B8FF07A98C}"/>
              </a:ext>
            </a:extLst>
          </p:cNvPr>
          <p:cNvCxnSpPr>
            <a:cxnSpLocks/>
          </p:cNvCxnSpPr>
          <p:nvPr/>
        </p:nvCxnSpPr>
        <p:spPr>
          <a:xfrm>
            <a:off x="714696" y="3637487"/>
            <a:ext cx="432731" cy="0"/>
          </a:xfrm>
          <a:prstGeom prst="straightConnector1">
            <a:avLst/>
          </a:prstGeom>
          <a:noFill/>
          <a:ln w="25400" cap="flat" cmpd="sng" algn="ctr">
            <a:solidFill>
              <a:srgbClr val="D96930"/>
            </a:solidFill>
            <a:prstDash val="solid"/>
            <a:tailEnd type="triangle"/>
          </a:ln>
          <a:effectLst/>
        </p:spPr>
      </p:cxnSp>
      <p:sp>
        <p:nvSpPr>
          <p:cNvPr id="11" name="Flowchart: Process 24">
            <a:extLst>
              <a:ext uri="{FF2B5EF4-FFF2-40B4-BE49-F238E27FC236}">
                <a16:creationId xmlns:a16="http://schemas.microsoft.com/office/drawing/2014/main" id="{B4BCF283-484B-479C-9D2A-4A4E962856C1}"/>
              </a:ext>
            </a:extLst>
          </p:cNvPr>
          <p:cNvSpPr/>
          <p:nvPr/>
        </p:nvSpPr>
        <p:spPr>
          <a:xfrm>
            <a:off x="3681796" y="5250792"/>
            <a:ext cx="2076771"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12" name="TextBox 25">
            <a:extLst>
              <a:ext uri="{FF2B5EF4-FFF2-40B4-BE49-F238E27FC236}">
                <a16:creationId xmlns:a16="http://schemas.microsoft.com/office/drawing/2014/main" id="{CC7A6D3C-01BC-4F89-A461-4DA746AE5029}"/>
              </a:ext>
            </a:extLst>
          </p:cNvPr>
          <p:cNvSpPr txBox="1"/>
          <p:nvPr/>
        </p:nvSpPr>
        <p:spPr>
          <a:xfrm>
            <a:off x="5182503" y="4941168"/>
            <a:ext cx="2557849"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200" kern="0" dirty="0">
                <a:solidFill>
                  <a:srgbClr val="8F5DA2"/>
                </a:solidFill>
                <a:latin typeface="Intel Clear"/>
                <a:sym typeface="Helvetica Neue"/>
              </a:rPr>
              <a:t>执行策略指出库函数在哪儿执行</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13" name="Straight Arrow Connector 26">
            <a:extLst>
              <a:ext uri="{FF2B5EF4-FFF2-40B4-BE49-F238E27FC236}">
                <a16:creationId xmlns:a16="http://schemas.microsoft.com/office/drawing/2014/main" id="{8A6C4F8D-CE6B-4F40-B8BE-D538C4AF689F}"/>
              </a:ext>
            </a:extLst>
          </p:cNvPr>
          <p:cNvCxnSpPr>
            <a:cxnSpLocks/>
          </p:cNvCxnSpPr>
          <p:nvPr/>
        </p:nvCxnSpPr>
        <p:spPr>
          <a:xfrm flipH="1">
            <a:off x="5017253" y="5066221"/>
            <a:ext cx="161925" cy="226728"/>
          </a:xfrm>
          <a:prstGeom prst="straightConnector1">
            <a:avLst/>
          </a:prstGeom>
          <a:noFill/>
          <a:ln w="38100" cap="flat" cmpd="sng" algn="ctr">
            <a:solidFill>
              <a:srgbClr val="8F5DA2"/>
            </a:solidFill>
            <a:prstDash val="solid"/>
            <a:tailEnd type="triangle"/>
          </a:ln>
          <a:effectLst/>
        </p:spPr>
      </p:cxnSp>
      <p:sp>
        <p:nvSpPr>
          <p:cNvPr id="14" name="TextBox 23">
            <a:extLst>
              <a:ext uri="{FF2B5EF4-FFF2-40B4-BE49-F238E27FC236}">
                <a16:creationId xmlns:a16="http://schemas.microsoft.com/office/drawing/2014/main" id="{1701E672-10F7-4369-BC17-0B9E71A71101}"/>
              </a:ext>
            </a:extLst>
          </p:cNvPr>
          <p:cNvSpPr txBox="1"/>
          <p:nvPr/>
        </p:nvSpPr>
        <p:spPr>
          <a:xfrm>
            <a:off x="43876" y="350340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Tree>
    <p:extLst>
      <p:ext uri="{BB962C8B-B14F-4D97-AF65-F5344CB8AC3E}">
        <p14:creationId xmlns:p14="http://schemas.microsoft.com/office/powerpoint/2010/main" val="20658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en-US" altLang="zh-CN" dirty="0" err="1"/>
              <a:t>counting_iterator</a:t>
            </a:r>
            <a:endParaRPr lang="zh-CN" altLang="en-US" dirty="0"/>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r>
              <a:rPr lang="zh-CN" altLang="en-US" sz="2800" dirty="0"/>
              <a:t>解引用的值是一个整数计数器</a:t>
            </a:r>
            <a:endParaRPr lang="en-US" altLang="zh-CN" sz="2800" dirty="0"/>
          </a:p>
          <a:p>
            <a:r>
              <a:rPr lang="zh-CN" altLang="en-US" sz="2800" dirty="0"/>
              <a:t>计数器按随机访问迭代器类型的算法而改变</a:t>
            </a:r>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2687164"/>
            <a:ext cx="7652726" cy="4094636"/>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2"/>
              <a:ext cx="5473297" cy="5032526"/>
            </a:xfrm>
            <a:prstGeom prst="rect">
              <a:avLst/>
            </a:prstGeom>
            <a:noFill/>
          </p:spPr>
          <p:txBody>
            <a:bodyPr vert="horz" wrap="square" lIns="0" tIns="0" rIns="0" bIns="0" rtlCol="0">
              <a:spAutoFit/>
            </a:bodyPr>
            <a:lstStyle/>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#include &lt;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/iterator&gt;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using namespace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counting_iterator</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&lt;int&gt;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count_a</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(0);</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counting_iterator</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&lt;int&gt;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count_b</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count_a</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+ 10;</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int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init</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count_a</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[0];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count_b</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7; </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auto sum = std::reduce(</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::execution::</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dpcpp_default</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count_a</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count_b</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init</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sum is (0 + 0 + 1 + ... + 9) = 45</a:t>
              </a:r>
            </a:p>
          </p:txBody>
        </p:sp>
      </p:grpSp>
      <p:cxnSp>
        <p:nvCxnSpPr>
          <p:cNvPr id="16" name="Straight Arrow Connector 22">
            <a:extLst>
              <a:ext uri="{FF2B5EF4-FFF2-40B4-BE49-F238E27FC236}">
                <a16:creationId xmlns:a16="http://schemas.microsoft.com/office/drawing/2014/main" id="{181A3566-D35E-4D98-A5B5-1BEE62C79197}"/>
              </a:ext>
            </a:extLst>
          </p:cNvPr>
          <p:cNvCxnSpPr>
            <a:cxnSpLocks/>
          </p:cNvCxnSpPr>
          <p:nvPr/>
        </p:nvCxnSpPr>
        <p:spPr>
          <a:xfrm>
            <a:off x="1002728" y="3389167"/>
            <a:ext cx="432731" cy="0"/>
          </a:xfrm>
          <a:prstGeom prst="straightConnector1">
            <a:avLst/>
          </a:prstGeom>
          <a:noFill/>
          <a:ln w="25400" cap="flat" cmpd="sng" algn="ctr">
            <a:solidFill>
              <a:srgbClr val="D96930"/>
            </a:solidFill>
            <a:prstDash val="solid"/>
            <a:tailEnd type="triangle"/>
          </a:ln>
          <a:effectLst/>
        </p:spPr>
      </p:cxnSp>
      <p:sp>
        <p:nvSpPr>
          <p:cNvPr id="20" name="Flowchart: Process 24">
            <a:extLst>
              <a:ext uri="{FF2B5EF4-FFF2-40B4-BE49-F238E27FC236}">
                <a16:creationId xmlns:a16="http://schemas.microsoft.com/office/drawing/2014/main" id="{6501CF5F-7C84-47EB-B29A-17649859997E}"/>
              </a:ext>
            </a:extLst>
          </p:cNvPr>
          <p:cNvSpPr/>
          <p:nvPr/>
        </p:nvSpPr>
        <p:spPr>
          <a:xfrm>
            <a:off x="1631133" y="4298490"/>
            <a:ext cx="2580827"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21" name="TextBox 25">
            <a:extLst>
              <a:ext uri="{FF2B5EF4-FFF2-40B4-BE49-F238E27FC236}">
                <a16:creationId xmlns:a16="http://schemas.microsoft.com/office/drawing/2014/main" id="{FAFAFB9A-1293-4B0D-8E02-F74DF545210B}"/>
              </a:ext>
            </a:extLst>
          </p:cNvPr>
          <p:cNvSpPr txBox="1"/>
          <p:nvPr/>
        </p:nvSpPr>
        <p:spPr>
          <a:xfrm>
            <a:off x="4413335" y="4205558"/>
            <a:ext cx="1115324" cy="166199"/>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en-US" sz="1200" kern="0" noProof="0" dirty="0">
                <a:solidFill>
                  <a:srgbClr val="8F5DA2"/>
                </a:solidFill>
                <a:latin typeface="Intel Clear"/>
                <a:sym typeface="Helvetica Neue"/>
              </a:rPr>
              <a:t>OK: </a:t>
            </a:r>
            <a:r>
              <a:rPr kumimoji="0" lang="en-US" sz="1200" kern="0" noProof="0" dirty="0" err="1">
                <a:solidFill>
                  <a:srgbClr val="8F5DA2"/>
                </a:solidFill>
                <a:latin typeface="Intel Clear"/>
                <a:sym typeface="Helvetica Neue"/>
              </a:rPr>
              <a:t>init</a:t>
            </a:r>
            <a:r>
              <a:rPr kumimoji="0" lang="en-US" sz="1200" kern="0" noProof="0" dirty="0">
                <a:solidFill>
                  <a:srgbClr val="8F5DA2"/>
                </a:solidFill>
                <a:latin typeface="Intel Clear"/>
                <a:sym typeface="Helvetica Neue"/>
              </a:rPr>
              <a:t>==0</a:t>
            </a:r>
            <a:endParaRPr kumimoji="0" lang="en-US" sz="12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22" name="Straight Arrow Connector 26">
            <a:extLst>
              <a:ext uri="{FF2B5EF4-FFF2-40B4-BE49-F238E27FC236}">
                <a16:creationId xmlns:a16="http://schemas.microsoft.com/office/drawing/2014/main" id="{391E1E32-BA79-431A-81A2-5A4B49E67A76}"/>
              </a:ext>
            </a:extLst>
          </p:cNvPr>
          <p:cNvCxnSpPr>
            <a:cxnSpLocks/>
          </p:cNvCxnSpPr>
          <p:nvPr/>
        </p:nvCxnSpPr>
        <p:spPr>
          <a:xfrm flipH="1">
            <a:off x="4310958" y="4395228"/>
            <a:ext cx="909114" cy="0"/>
          </a:xfrm>
          <a:prstGeom prst="straightConnector1">
            <a:avLst/>
          </a:prstGeom>
          <a:noFill/>
          <a:ln w="38100" cap="flat" cmpd="sng" algn="ctr">
            <a:solidFill>
              <a:srgbClr val="8F5DA2"/>
            </a:solidFill>
            <a:prstDash val="solid"/>
            <a:tailEnd type="triangle"/>
          </a:ln>
          <a:effectLst/>
        </p:spPr>
      </p:cxnSp>
      <p:sp>
        <p:nvSpPr>
          <p:cNvPr id="25" name="TextBox 23">
            <a:extLst>
              <a:ext uri="{FF2B5EF4-FFF2-40B4-BE49-F238E27FC236}">
                <a16:creationId xmlns:a16="http://schemas.microsoft.com/office/drawing/2014/main" id="{6933A1DC-CE5F-4760-96CC-4957A14B3E59}"/>
              </a:ext>
            </a:extLst>
          </p:cNvPr>
          <p:cNvSpPr txBox="1"/>
          <p:nvPr/>
        </p:nvSpPr>
        <p:spPr>
          <a:xfrm>
            <a:off x="331908" y="325508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
        <p:nvSpPr>
          <p:cNvPr id="26" name="Flowchart: Process 24">
            <a:extLst>
              <a:ext uri="{FF2B5EF4-FFF2-40B4-BE49-F238E27FC236}">
                <a16:creationId xmlns:a16="http://schemas.microsoft.com/office/drawing/2014/main" id="{22DFF057-3D0B-4E89-8C0D-B707543FE390}"/>
              </a:ext>
            </a:extLst>
          </p:cNvPr>
          <p:cNvSpPr/>
          <p:nvPr/>
        </p:nvSpPr>
        <p:spPr>
          <a:xfrm>
            <a:off x="1619672" y="2852936"/>
            <a:ext cx="3456384"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
        <p:nvSpPr>
          <p:cNvPr id="27" name="TextBox 25">
            <a:extLst>
              <a:ext uri="{FF2B5EF4-FFF2-40B4-BE49-F238E27FC236}">
                <a16:creationId xmlns:a16="http://schemas.microsoft.com/office/drawing/2014/main" id="{060CCDB4-8C70-420B-8492-9EA92F4BDFE0}"/>
              </a:ext>
            </a:extLst>
          </p:cNvPr>
          <p:cNvSpPr txBox="1"/>
          <p:nvPr/>
        </p:nvSpPr>
        <p:spPr>
          <a:xfrm>
            <a:off x="5418324" y="4512883"/>
            <a:ext cx="2754076" cy="443198"/>
          </a:xfrm>
          <a:prstGeom prst="rect">
            <a:avLst/>
          </a:prstGeom>
          <a:noFill/>
          <a:ln>
            <a:noFill/>
          </a:ln>
          <a:effectLst/>
        </p:spPr>
        <p:txBody>
          <a:bodyPr vert="horz" wrap="square" lIns="0" tIns="0" rIns="0" bIns="0" rtlCol="0">
            <a:spAutoFit/>
          </a:bodyPr>
          <a:lstStyle/>
          <a:p>
            <a:pPr marL="0" marR="0" lvl="0" indent="0" defTabSz="1219169" eaLnBrk="1" fontAlgn="auto" latinLnBrk="0" hangingPunct="1">
              <a:lnSpc>
                <a:spcPct val="90000"/>
              </a:lnSpc>
              <a:spcBef>
                <a:spcPts val="2250"/>
              </a:spcBef>
              <a:spcAft>
                <a:spcPts val="0"/>
              </a:spcAft>
              <a:buClrTx/>
              <a:buSzTx/>
              <a:buFontTx/>
              <a:buNone/>
              <a:tabLst/>
              <a:defRPr/>
            </a:pPr>
            <a:r>
              <a:rPr kumimoji="0" lang="zh-CN" altLang="en-US" sz="1600" kern="0" noProof="0" dirty="0">
                <a:solidFill>
                  <a:srgbClr val="8F5DA2"/>
                </a:solidFill>
                <a:latin typeface="Intel Clear"/>
                <a:sym typeface="Helvetica Neue"/>
              </a:rPr>
              <a:t>错误：</a:t>
            </a:r>
            <a:r>
              <a:rPr kumimoji="0" lang="en-US" altLang="zh-CN" sz="1600" kern="0" noProof="0" dirty="0" err="1">
                <a:solidFill>
                  <a:srgbClr val="8F5DA2"/>
                </a:solidFill>
                <a:latin typeface="Intel Clear"/>
                <a:sym typeface="Helvetica Neue"/>
              </a:rPr>
              <a:t>counting_iterator</a:t>
            </a:r>
            <a:r>
              <a:rPr kumimoji="0" lang="zh-CN" altLang="en-US" sz="1600" kern="0" noProof="0" dirty="0">
                <a:solidFill>
                  <a:srgbClr val="8F5DA2"/>
                </a:solidFill>
                <a:latin typeface="Intel Clear"/>
                <a:sym typeface="Helvetica Neue"/>
              </a:rPr>
              <a:t>不提供写操作</a:t>
            </a:r>
            <a:endParaRPr kumimoji="0" lang="en-US" sz="1600" b="0" i="0" u="none" strike="noStrike" kern="0" cap="none" spc="0" normalizeH="0" baseline="0" noProof="0" dirty="0">
              <a:ln>
                <a:noFill/>
              </a:ln>
              <a:solidFill>
                <a:srgbClr val="8F5DA2"/>
              </a:solidFill>
              <a:effectLst/>
              <a:uLnTx/>
              <a:uFillTx/>
              <a:latin typeface="Intel Clear"/>
              <a:sym typeface="Helvetica Neue"/>
            </a:endParaRPr>
          </a:p>
        </p:txBody>
      </p:sp>
      <p:cxnSp>
        <p:nvCxnSpPr>
          <p:cNvPr id="28" name="Straight Arrow Connector 26">
            <a:extLst>
              <a:ext uri="{FF2B5EF4-FFF2-40B4-BE49-F238E27FC236}">
                <a16:creationId xmlns:a16="http://schemas.microsoft.com/office/drawing/2014/main" id="{754E41DB-194A-4FD9-BCC1-33F1FAAEA0D2}"/>
              </a:ext>
            </a:extLst>
          </p:cNvPr>
          <p:cNvCxnSpPr>
            <a:cxnSpLocks/>
          </p:cNvCxnSpPr>
          <p:nvPr/>
        </p:nvCxnSpPr>
        <p:spPr>
          <a:xfrm flipH="1">
            <a:off x="3217438" y="4825277"/>
            <a:ext cx="2002634" cy="0"/>
          </a:xfrm>
          <a:prstGeom prst="straightConnector1">
            <a:avLst/>
          </a:prstGeom>
          <a:noFill/>
          <a:ln w="38100" cap="flat" cmpd="sng" algn="ctr">
            <a:solidFill>
              <a:srgbClr val="8F5DA2"/>
            </a:solidFill>
            <a:prstDash val="solid"/>
            <a:tailEnd type="triangle"/>
          </a:ln>
          <a:effectLst/>
        </p:spPr>
      </p:cxnSp>
    </p:spTree>
    <p:extLst>
      <p:ext uri="{BB962C8B-B14F-4D97-AF65-F5344CB8AC3E}">
        <p14:creationId xmlns:p14="http://schemas.microsoft.com/office/powerpoint/2010/main" val="250991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6" grpId="0" animBg="1"/>
      <p:bldP spid="27"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CFE-406F-4DA1-ABAA-EE8DC7BEE72F}"/>
              </a:ext>
            </a:extLst>
          </p:cNvPr>
          <p:cNvSpPr>
            <a:spLocks noGrp="1"/>
          </p:cNvSpPr>
          <p:nvPr>
            <p:ph type="title"/>
          </p:nvPr>
        </p:nvSpPr>
        <p:spPr/>
        <p:txBody>
          <a:bodyPr/>
          <a:lstStyle/>
          <a:p>
            <a:r>
              <a:rPr lang="en-US" altLang="zh-CN" dirty="0" err="1"/>
              <a:t>zip_iterator</a:t>
            </a:r>
            <a:endParaRPr lang="zh-CN" altLang="en-US" dirty="0"/>
          </a:p>
        </p:txBody>
      </p:sp>
      <p:sp>
        <p:nvSpPr>
          <p:cNvPr id="3" name="内容占位符 2">
            <a:extLst>
              <a:ext uri="{FF2B5EF4-FFF2-40B4-BE49-F238E27FC236}">
                <a16:creationId xmlns:a16="http://schemas.microsoft.com/office/drawing/2014/main" id="{7DD395BC-BE8D-4675-936F-B575CB2898B1}"/>
              </a:ext>
            </a:extLst>
          </p:cNvPr>
          <p:cNvSpPr>
            <a:spLocks noGrp="1"/>
          </p:cNvSpPr>
          <p:nvPr>
            <p:ph idx="1"/>
          </p:nvPr>
        </p:nvSpPr>
        <p:spPr/>
        <p:txBody>
          <a:bodyPr/>
          <a:lstStyle/>
          <a:p>
            <a:r>
              <a:rPr lang="zh-CN" altLang="en-US" sz="2800" dirty="0"/>
              <a:t>用于在</a:t>
            </a:r>
            <a:r>
              <a:rPr lang="en-US" altLang="zh-CN" sz="2800" dirty="0"/>
              <a:t>STL</a:t>
            </a:r>
            <a:r>
              <a:rPr lang="zh-CN" altLang="en-US" sz="2800" dirty="0"/>
              <a:t>算法中同时迭代多个迭代器</a:t>
            </a:r>
            <a:endParaRPr lang="en-US" altLang="zh-CN" sz="2800" dirty="0"/>
          </a:p>
          <a:p>
            <a:r>
              <a:rPr lang="zh-CN" altLang="en-US" sz="2800" dirty="0"/>
              <a:t>在其上执行的算法作用于每个所属迭代器</a:t>
            </a:r>
          </a:p>
        </p:txBody>
      </p:sp>
      <p:grpSp>
        <p:nvGrpSpPr>
          <p:cNvPr id="17" name="Group 14">
            <a:extLst>
              <a:ext uri="{FF2B5EF4-FFF2-40B4-BE49-F238E27FC236}">
                <a16:creationId xmlns:a16="http://schemas.microsoft.com/office/drawing/2014/main" id="{2424066D-699D-4826-9961-378A9A30EF90}"/>
              </a:ext>
            </a:extLst>
          </p:cNvPr>
          <p:cNvGrpSpPr/>
          <p:nvPr/>
        </p:nvGrpSpPr>
        <p:grpSpPr>
          <a:xfrm>
            <a:off x="1491274" y="2687164"/>
            <a:ext cx="7652726" cy="4094636"/>
            <a:chOff x="5242989" y="505096"/>
            <a:chExt cx="5621214" cy="7068852"/>
          </a:xfrm>
        </p:grpSpPr>
        <p:sp>
          <p:nvSpPr>
            <p:cNvPr id="18" name="Rectangle: Single Corner Snipped 15">
              <a:extLst>
                <a:ext uri="{FF2B5EF4-FFF2-40B4-BE49-F238E27FC236}">
                  <a16:creationId xmlns:a16="http://schemas.microsoft.com/office/drawing/2014/main" id="{9F64977E-4B44-4D2C-931C-FFC4C44A75F7}"/>
                </a:ext>
              </a:extLst>
            </p:cNvPr>
            <p:cNvSpPr/>
            <p:nvPr/>
          </p:nvSpPr>
          <p:spPr>
            <a:xfrm>
              <a:off x="5242989" y="505096"/>
              <a:ext cx="5621213" cy="7068852"/>
            </a:xfrm>
            <a:prstGeom prst="snip1Rect">
              <a:avLst>
                <a:gd name="adj" fmla="val 2758"/>
              </a:avLst>
            </a:prstGeom>
            <a:solidFill>
              <a:srgbClr val="525252">
                <a:lumMod val="20000"/>
                <a:lumOff val="80000"/>
              </a:srgbClr>
            </a:solidFill>
            <a:ln w="25400" cap="flat" cmpd="sng" algn="ctr">
              <a:solidFill>
                <a:srgbClr val="000000"/>
              </a:solidFill>
              <a:prstDash val="soli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3600" b="1" i="0" u="none" strike="noStrike" kern="0" cap="none" spc="0" normalizeH="0" baseline="0" noProof="0" dirty="0">
                <a:ln>
                  <a:noFill/>
                </a:ln>
                <a:solidFill>
                  <a:srgbClr val="000000"/>
                </a:solidFill>
                <a:effectLst/>
                <a:uLnTx/>
                <a:uFillTx/>
                <a:latin typeface="Intel Clear"/>
                <a:sym typeface="Helvetica Neue"/>
              </a:endParaRPr>
            </a:p>
          </p:txBody>
        </p:sp>
        <p:sp>
          <p:nvSpPr>
            <p:cNvPr id="19" name="TextBox 16">
              <a:extLst>
                <a:ext uri="{FF2B5EF4-FFF2-40B4-BE49-F238E27FC236}">
                  <a16:creationId xmlns:a16="http://schemas.microsoft.com/office/drawing/2014/main" id="{253B937F-BE53-4B4C-9E1F-D52A1BDB6EAD}"/>
                </a:ext>
              </a:extLst>
            </p:cNvPr>
            <p:cNvSpPr txBox="1"/>
            <p:nvPr/>
          </p:nvSpPr>
          <p:spPr>
            <a:xfrm>
              <a:off x="5390906" y="611432"/>
              <a:ext cx="5473297" cy="3757321"/>
            </a:xfrm>
            <a:prstGeom prst="rect">
              <a:avLst/>
            </a:prstGeom>
            <a:noFill/>
          </p:spPr>
          <p:txBody>
            <a:bodyPr vert="horz" wrap="square" lIns="0" tIns="0" rIns="0" bIns="0" rtlCol="0">
              <a:spAutoFit/>
            </a:bodyPr>
            <a:lstStyle/>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#include &lt;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/iterator&gt;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using namespace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oneapi</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auto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zipped_begin</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make_zip_iterator</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keys_begin</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vals_begin</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std::</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stable_sort</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dpl</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::execution::</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dpcpp_default</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zipped_begin</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zipped_begin</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n,</a:t>
              </a:r>
            </a:p>
            <a:p>
              <a:pPr marL="0" marR="0" lvl="0" indent="0" algn="l" defTabSz="1219169" rtl="0" eaLnBrk="1" fontAlgn="auto" latinLnBrk="0" hangingPunct="0">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[](auto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lhs</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auto </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rhs</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 return get&lt;0&gt;(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lhs</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&lt; get&lt;0&gt;(</a:t>
              </a:r>
              <a:r>
                <a:rPr kumimoji="0" lang="en-US" altLang="zh-CN" sz="1600" b="0" i="0" u="none" strike="noStrike" kern="0" cap="none" spc="0" normalizeH="0" baseline="0" noProof="0" dirty="0" err="1">
                  <a:ln>
                    <a:noFill/>
                  </a:ln>
                  <a:solidFill>
                    <a:srgbClr val="0068B5"/>
                  </a:solidFill>
                  <a:effectLst/>
                  <a:uLnTx/>
                  <a:uFillTx/>
                  <a:latin typeface="Consolas" panose="020B0609020204030204" pitchFamily="49" charset="0"/>
                  <a:sym typeface="Helvetica Neue"/>
                </a:rPr>
                <a:t>rhs</a:t>
              </a:r>
              <a:r>
                <a:rPr kumimoji="0" lang="en-US" altLang="zh-CN" sz="1600" b="0" i="0" u="none" strike="noStrike" kern="0" cap="none" spc="0" normalizeH="0" baseline="0" noProof="0" dirty="0">
                  <a:ln>
                    <a:noFill/>
                  </a:ln>
                  <a:solidFill>
                    <a:srgbClr val="0068B5"/>
                  </a:solidFill>
                  <a:effectLst/>
                  <a:uLnTx/>
                  <a:uFillTx/>
                  <a:latin typeface="Consolas" panose="020B0609020204030204" pitchFamily="49" charset="0"/>
                  <a:sym typeface="Helvetica Neue"/>
                </a:rPr>
                <a:t>); });</a:t>
              </a:r>
            </a:p>
          </p:txBody>
        </p:sp>
      </p:grpSp>
      <p:cxnSp>
        <p:nvCxnSpPr>
          <p:cNvPr id="16" name="Straight Arrow Connector 22">
            <a:extLst>
              <a:ext uri="{FF2B5EF4-FFF2-40B4-BE49-F238E27FC236}">
                <a16:creationId xmlns:a16="http://schemas.microsoft.com/office/drawing/2014/main" id="{181A3566-D35E-4D98-A5B5-1BEE62C79197}"/>
              </a:ext>
            </a:extLst>
          </p:cNvPr>
          <p:cNvCxnSpPr>
            <a:cxnSpLocks/>
          </p:cNvCxnSpPr>
          <p:nvPr/>
        </p:nvCxnSpPr>
        <p:spPr>
          <a:xfrm>
            <a:off x="1002728" y="3389167"/>
            <a:ext cx="432731" cy="0"/>
          </a:xfrm>
          <a:prstGeom prst="straightConnector1">
            <a:avLst/>
          </a:prstGeom>
          <a:noFill/>
          <a:ln w="25400" cap="flat" cmpd="sng" algn="ctr">
            <a:solidFill>
              <a:srgbClr val="D96930"/>
            </a:solidFill>
            <a:prstDash val="solid"/>
            <a:tailEnd type="triangle"/>
          </a:ln>
          <a:effectLst/>
        </p:spPr>
      </p:cxnSp>
      <p:sp>
        <p:nvSpPr>
          <p:cNvPr id="25" name="TextBox 23">
            <a:extLst>
              <a:ext uri="{FF2B5EF4-FFF2-40B4-BE49-F238E27FC236}">
                <a16:creationId xmlns:a16="http://schemas.microsoft.com/office/drawing/2014/main" id="{6933A1DC-CE5F-4760-96CC-4957A14B3E59}"/>
              </a:ext>
            </a:extLst>
          </p:cNvPr>
          <p:cNvSpPr txBox="1"/>
          <p:nvPr/>
        </p:nvSpPr>
        <p:spPr>
          <a:xfrm>
            <a:off x="331908" y="3255089"/>
            <a:ext cx="670820" cy="276999"/>
          </a:xfrm>
          <a:prstGeom prst="rect">
            <a:avLst/>
          </a:prstGeom>
          <a:noFill/>
          <a:ln>
            <a:noFill/>
          </a:ln>
        </p:spPr>
        <p:txBody>
          <a:bodyPr vert="horz" wrap="square" lIns="0" tIns="0" rIns="0" bIns="0" rtlCol="0">
            <a:spAutoFit/>
          </a:bodyPr>
          <a:lstStyle/>
          <a:p>
            <a:pPr algn="r" defTabSz="1219169" eaLnBrk="1" fontAlgn="auto">
              <a:lnSpc>
                <a:spcPct val="90000"/>
              </a:lnSpc>
              <a:spcBef>
                <a:spcPts val="2250"/>
              </a:spcBef>
              <a:spcAft>
                <a:spcPts val="0"/>
              </a:spcAft>
            </a:pPr>
            <a:r>
              <a:rPr lang="zh-CN" altLang="en-US" sz="2000" dirty="0">
                <a:solidFill>
                  <a:srgbClr val="3333CC"/>
                </a:solidFill>
                <a:latin typeface="+mn-lt"/>
                <a:ea typeface="+mn-ea"/>
                <a:sym typeface="Helvetica Neue"/>
              </a:rPr>
              <a:t>示例</a:t>
            </a:r>
            <a:endParaRPr lang="en-US" sz="2000" dirty="0">
              <a:solidFill>
                <a:srgbClr val="3333CC"/>
              </a:solidFill>
              <a:latin typeface="+mn-lt"/>
              <a:ea typeface="+mn-ea"/>
              <a:sym typeface="Helvetica Neue"/>
            </a:endParaRPr>
          </a:p>
        </p:txBody>
      </p:sp>
      <p:sp>
        <p:nvSpPr>
          <p:cNvPr id="26" name="Flowchart: Process 24">
            <a:extLst>
              <a:ext uri="{FF2B5EF4-FFF2-40B4-BE49-F238E27FC236}">
                <a16:creationId xmlns:a16="http://schemas.microsoft.com/office/drawing/2014/main" id="{22DFF057-3D0B-4E89-8C0D-B707543FE390}"/>
              </a:ext>
            </a:extLst>
          </p:cNvPr>
          <p:cNvSpPr/>
          <p:nvPr/>
        </p:nvSpPr>
        <p:spPr>
          <a:xfrm>
            <a:off x="3848877" y="3562312"/>
            <a:ext cx="5162026" cy="226728"/>
          </a:xfrm>
          <a:prstGeom prst="flowChartProcess">
            <a:avLst/>
          </a:prstGeom>
          <a:noFill/>
          <a:ln w="38100" cap="flat" cmpd="sng" algn="ctr">
            <a:solidFill>
              <a:srgbClr val="8F5DA2"/>
            </a:solidFill>
            <a:prstDash val="solid"/>
            <a:round/>
            <a:headEnd type="none" w="med" len="med"/>
            <a:tailEnd type="none" w="med" len="med"/>
          </a:ln>
          <a:effectLst/>
        </p:spPr>
        <p:txBody>
          <a:bodyPr rtlCol="0" anchor="ctr"/>
          <a:lstStyle/>
          <a:p>
            <a:pPr marL="0" marR="0" lvl="0" indent="0" algn="ctr" defTabSz="1219169" eaLnBrk="1" fontAlgn="auto" latinLnBrk="0" hangingPunct="1">
              <a:lnSpc>
                <a:spcPct val="90000"/>
              </a:lnSpc>
              <a:spcBef>
                <a:spcPts val="2250"/>
              </a:spcBef>
              <a:spcAft>
                <a:spcPts val="0"/>
              </a:spcAft>
              <a:buClrTx/>
              <a:buSzTx/>
              <a:buFontTx/>
              <a:buNone/>
              <a:tabLst/>
              <a:defRPr/>
            </a:pPr>
            <a:endParaRPr kumimoji="0" lang="en-US" sz="1600" b="0" i="0" u="none" strike="noStrike" kern="0" cap="none" spc="0" normalizeH="0" baseline="0" noProof="0">
              <a:ln>
                <a:noFill/>
              </a:ln>
              <a:solidFill>
                <a:srgbClr val="D96930"/>
              </a:solidFill>
              <a:effectLst/>
              <a:uLnTx/>
              <a:uFillTx/>
              <a:latin typeface="Intel Clear"/>
              <a:sym typeface="Helvetica Neue"/>
            </a:endParaRPr>
          </a:p>
        </p:txBody>
      </p:sp>
    </p:spTree>
    <p:extLst>
      <p:ext uri="{BB962C8B-B14F-4D97-AF65-F5344CB8AC3E}">
        <p14:creationId xmlns:p14="http://schemas.microsoft.com/office/powerpoint/2010/main" val="339560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7FD42D-05C3-48A2-BC60-3A6FAD1D11D3}"/>
              </a:ext>
            </a:extLst>
          </p:cNvPr>
          <p:cNvSpPr>
            <a:spLocks noGrp="1"/>
          </p:cNvSpPr>
          <p:nvPr>
            <p:ph type="title"/>
          </p:nvPr>
        </p:nvSpPr>
        <p:spPr/>
        <p:txBody>
          <a:bodyPr/>
          <a:lstStyle/>
          <a:p>
            <a:r>
              <a:rPr lang="zh-CN" altLang="en-US" dirty="0"/>
              <a:t>函数对象类</a:t>
            </a:r>
          </a:p>
        </p:txBody>
      </p:sp>
      <p:sp>
        <p:nvSpPr>
          <p:cNvPr id="3" name="内容占位符 2">
            <a:extLst>
              <a:ext uri="{FF2B5EF4-FFF2-40B4-BE49-F238E27FC236}">
                <a16:creationId xmlns:a16="http://schemas.microsoft.com/office/drawing/2014/main" id="{4F69BE9D-53DC-4434-8992-89DA53B610CD}"/>
              </a:ext>
            </a:extLst>
          </p:cNvPr>
          <p:cNvSpPr>
            <a:spLocks noGrp="1"/>
          </p:cNvSpPr>
          <p:nvPr>
            <p:ph idx="1"/>
          </p:nvPr>
        </p:nvSpPr>
        <p:spPr/>
        <p:txBody>
          <a:bodyPr/>
          <a:lstStyle/>
          <a:p>
            <a:r>
              <a:rPr lang="en-US" altLang="zh-CN" dirty="0"/>
              <a:t>Identity</a:t>
            </a:r>
            <a:r>
              <a:rPr lang="zh-CN" altLang="en-US" dirty="0"/>
              <a:t>：</a:t>
            </a:r>
            <a:r>
              <a:rPr lang="en-US" altLang="zh-CN" dirty="0"/>
              <a:t>C++20 std::identity</a:t>
            </a:r>
            <a:r>
              <a:rPr lang="zh-CN" altLang="en-US" dirty="0"/>
              <a:t>函数对象类型的</a:t>
            </a:r>
            <a:r>
              <a:rPr lang="en-US" altLang="zh-CN" dirty="0"/>
              <a:t>C++11</a:t>
            </a:r>
            <a:r>
              <a:rPr lang="zh-CN" altLang="en-US" dirty="0"/>
              <a:t>实现，运算符</a:t>
            </a:r>
            <a:r>
              <a:rPr lang="en-US" altLang="zh-CN" dirty="0"/>
              <a:t>()</a:t>
            </a:r>
            <a:r>
              <a:rPr lang="zh-CN" altLang="en-US" dirty="0"/>
              <a:t>返回未变参数</a:t>
            </a:r>
            <a:endParaRPr lang="en-US" altLang="zh-CN" dirty="0"/>
          </a:p>
          <a:p>
            <a:r>
              <a:rPr lang="en-US" altLang="zh-CN" dirty="0"/>
              <a:t>minimum</a:t>
            </a:r>
            <a:r>
              <a:rPr lang="zh-CN" altLang="en-US" dirty="0"/>
              <a:t>：运算符</a:t>
            </a:r>
            <a:r>
              <a:rPr lang="en-US" altLang="zh-CN" dirty="0"/>
              <a:t>()</a:t>
            </a:r>
            <a:r>
              <a:rPr lang="zh-CN" altLang="en-US" dirty="0"/>
              <a:t>对其每个参数应用</a:t>
            </a:r>
            <a:r>
              <a:rPr lang="en-US" altLang="zh-CN" dirty="0"/>
              <a:t>std::less</a:t>
            </a:r>
            <a:r>
              <a:rPr lang="zh-CN" altLang="en-US" dirty="0"/>
              <a:t>，返回最小者，不会更改它</a:t>
            </a:r>
            <a:endParaRPr lang="en-US" altLang="zh-CN" dirty="0"/>
          </a:p>
          <a:p>
            <a:r>
              <a:rPr lang="en-US" altLang="zh-CN" dirty="0"/>
              <a:t>maximum</a:t>
            </a:r>
            <a:r>
              <a:rPr lang="zh-CN" altLang="en-US" dirty="0"/>
              <a:t>：求最大值</a:t>
            </a:r>
            <a:endParaRPr lang="en-US" altLang="zh-CN" dirty="0"/>
          </a:p>
        </p:txBody>
      </p:sp>
    </p:spTree>
    <p:extLst>
      <p:ext uri="{BB962C8B-B14F-4D97-AF65-F5344CB8AC3E}">
        <p14:creationId xmlns:p14="http://schemas.microsoft.com/office/powerpoint/2010/main" val="99470582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20AA3-A6F1-4886-B0DB-D4FA36EB6527}"/>
              </a:ext>
            </a:extLst>
          </p:cNvPr>
          <p:cNvSpPr>
            <a:spLocks noGrp="1"/>
          </p:cNvSpPr>
          <p:nvPr>
            <p:ph type="title"/>
          </p:nvPr>
        </p:nvSpPr>
        <p:spPr/>
        <p:txBody>
          <a:bodyPr/>
          <a:lstStyle/>
          <a:p>
            <a:r>
              <a:rPr lang="en-US" altLang="zh-CN" dirty="0" err="1"/>
              <a:t>oneDPL</a:t>
            </a:r>
            <a:r>
              <a:rPr lang="zh-CN" altLang="en-US" dirty="0"/>
              <a:t>参考资料</a:t>
            </a:r>
          </a:p>
        </p:txBody>
      </p:sp>
      <p:sp>
        <p:nvSpPr>
          <p:cNvPr id="3" name="内容占位符 2">
            <a:extLst>
              <a:ext uri="{FF2B5EF4-FFF2-40B4-BE49-F238E27FC236}">
                <a16:creationId xmlns:a16="http://schemas.microsoft.com/office/drawing/2014/main" id="{9F690994-DC9E-47E9-9FD0-1C26E2837395}"/>
              </a:ext>
            </a:extLst>
          </p:cNvPr>
          <p:cNvSpPr>
            <a:spLocks noGrp="1"/>
          </p:cNvSpPr>
          <p:nvPr>
            <p:ph idx="1"/>
          </p:nvPr>
        </p:nvSpPr>
        <p:spPr/>
        <p:txBody>
          <a:bodyPr/>
          <a:lstStyle/>
          <a:p>
            <a:r>
              <a:rPr lang="zh-CN" altLang="en-US" sz="2400" dirty="0"/>
              <a:t>标准</a:t>
            </a:r>
            <a:r>
              <a:rPr lang="en-US" altLang="zh-CN" sz="2400" dirty="0"/>
              <a:t>C++ API</a:t>
            </a:r>
          </a:p>
          <a:p>
            <a:pPr lvl="1"/>
            <a:r>
              <a:rPr lang="en-US" altLang="zh-CN" sz="2000" dirty="0"/>
              <a:t>https://www.intel.com/content/www/us/en/develop/documentation/oneapi-dpcpp-library-guide/top/api-for-the-dpc-kernels/tested-standard-c-apis.html</a:t>
            </a:r>
          </a:p>
          <a:p>
            <a:r>
              <a:rPr lang="zh-CN" altLang="en-US" sz="2400" dirty="0"/>
              <a:t>并行</a:t>
            </a:r>
            <a:r>
              <a:rPr lang="en-US" altLang="zh-CN" sz="2400" dirty="0"/>
              <a:t>STL</a:t>
            </a:r>
          </a:p>
          <a:p>
            <a:pPr lvl="1"/>
            <a:r>
              <a:rPr lang="en-US" altLang="zh-CN" sz="2000" dirty="0"/>
              <a:t>https://software.intel.com/content/www/us/en/develop/documentation/oneapi-dpcpp-library-guide/top/parallel-stl.html</a:t>
            </a:r>
          </a:p>
          <a:p>
            <a:r>
              <a:rPr lang="zh-CN" altLang="en-US" sz="2400" dirty="0"/>
              <a:t>扩展</a:t>
            </a:r>
            <a:r>
              <a:rPr lang="en-US" altLang="zh-CN" sz="2400" dirty="0"/>
              <a:t>API</a:t>
            </a:r>
          </a:p>
          <a:p>
            <a:pPr lvl="1"/>
            <a:r>
              <a:rPr lang="en-US" altLang="zh-CN" sz="2000" dirty="0"/>
              <a:t>https://software.intel.com/content/www/us/en/develop/documentation/oneapi-dpcpp-library-guide</a:t>
            </a:r>
            <a:endParaRPr lang="zh-CN" altLang="en-US" sz="2000" dirty="0"/>
          </a:p>
        </p:txBody>
      </p:sp>
    </p:spTree>
    <p:extLst>
      <p:ext uri="{BB962C8B-B14F-4D97-AF65-F5344CB8AC3E}">
        <p14:creationId xmlns:p14="http://schemas.microsoft.com/office/powerpoint/2010/main" val="361087116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例：矩阵相加</a:t>
            </a:r>
            <a:r>
              <a:rPr lang="en-US" altLang="zh-CN" dirty="0"/>
              <a:t>buffer</a:t>
            </a:r>
            <a:r>
              <a:rPr lang="zh-CN" altLang="en-US" dirty="0"/>
              <a:t>版</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#include &lt;sycl/sycl.hpp&gt;</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#include &lt;vector&gt;</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#include &lt;iostream&gt;</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#include &lt;string&gt;</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#include &lt;time.h&gt;</a:t>
            </a:r>
          </a:p>
          <a:p>
            <a:pPr marL="0" indent="0" eaLnBrk="1" hangingPunct="1">
              <a:spcBef>
                <a:spcPts val="100"/>
              </a:spcBef>
              <a:buFont typeface="Wingdings" panose="05000000000000000000" pitchFamily="2" charset="2"/>
              <a:buNone/>
              <a:defRPr/>
            </a:pPr>
            <a:endParaRPr lang="it-IT"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using namespace sycl;</a:t>
            </a:r>
          </a:p>
          <a:p>
            <a:pPr marL="0" indent="0" eaLnBrk="1" hangingPunct="1">
              <a:spcBef>
                <a:spcPts val="100"/>
              </a:spcBef>
              <a:buFont typeface="Wingdings" panose="05000000000000000000" pitchFamily="2" charset="2"/>
              <a:buNone/>
              <a:defRPr/>
            </a:pPr>
            <a:endParaRPr lang="it-IT"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size_t num_repetitions = 1;</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size_t vector_size = 10000;</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typedef std::vector&lt;int&gt; IntVector; </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例：矩阵相加</a:t>
            </a:r>
            <a:r>
              <a:rPr lang="en-US" altLang="zh-CN" dirty="0"/>
              <a:t>buffer</a:t>
            </a:r>
            <a:r>
              <a:rPr lang="zh-CN" altLang="en-US" dirty="0"/>
              <a:t>版（续）</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void </a:t>
            </a:r>
            <a:r>
              <a:rPr lang="en-US" altLang="zh-CN" sz="1600" kern="100" dirty="0" err="1">
                <a:solidFill>
                  <a:srgbClr val="0000FF"/>
                </a:solidFill>
                <a:latin typeface="Arial" panose="020B0604020202020204" pitchFamily="34" charset="0"/>
              </a:rPr>
              <a:t>VectorAdd</a:t>
            </a:r>
            <a:r>
              <a:rPr lang="en-US" altLang="zh-CN" sz="1600" kern="100" dirty="0">
                <a:solidFill>
                  <a:srgbClr val="0000FF"/>
                </a:solidFill>
                <a:latin typeface="Arial" panose="020B0604020202020204" pitchFamily="34" charset="0"/>
              </a:rPr>
              <a:t>(queue &amp;q, const </a:t>
            </a:r>
            <a:r>
              <a:rPr lang="en-US" altLang="zh-CN" sz="1600" kern="100" dirty="0" err="1">
                <a:solidFill>
                  <a:srgbClr val="0000FF"/>
                </a:solidFill>
                <a:latin typeface="Arial" panose="020B0604020202020204" pitchFamily="34" charset="0"/>
              </a:rPr>
              <a:t>IntVector</a:t>
            </a:r>
            <a:r>
              <a:rPr lang="en-US" altLang="zh-CN" sz="1600" kern="100" dirty="0">
                <a:solidFill>
                  <a:srgbClr val="0000FF"/>
                </a:solidFill>
                <a:latin typeface="Arial" panose="020B0604020202020204" pitchFamily="34" charset="0"/>
              </a:rPr>
              <a:t> &amp;</a:t>
            </a:r>
            <a:r>
              <a:rPr lang="en-US" altLang="zh-CN" sz="1600" kern="100" dirty="0" err="1">
                <a:solidFill>
                  <a:srgbClr val="0000FF"/>
                </a:solidFill>
                <a:latin typeface="Arial" panose="020B0604020202020204" pitchFamily="34" charset="0"/>
              </a:rPr>
              <a:t>a_vector</a:t>
            </a:r>
            <a:r>
              <a:rPr lang="en-US" altLang="zh-CN" sz="1600" kern="100" dirty="0">
                <a:solidFill>
                  <a:srgbClr val="0000FF"/>
                </a:solidFill>
                <a:latin typeface="Arial" panose="020B0604020202020204" pitchFamily="34" charset="0"/>
              </a:rPr>
              <a:t>, const </a:t>
            </a:r>
            <a:r>
              <a:rPr lang="en-US" altLang="zh-CN" sz="1600" kern="100" dirty="0" err="1">
                <a:solidFill>
                  <a:srgbClr val="0000FF"/>
                </a:solidFill>
                <a:latin typeface="Arial" panose="020B0604020202020204" pitchFamily="34" charset="0"/>
              </a:rPr>
              <a:t>IntVector</a:t>
            </a:r>
            <a:r>
              <a:rPr lang="en-US" altLang="zh-CN" sz="1600" kern="100" dirty="0">
                <a:solidFill>
                  <a:srgbClr val="0000FF"/>
                </a:solidFill>
                <a:latin typeface="Arial" panose="020B0604020202020204" pitchFamily="34" charset="0"/>
              </a:rPr>
              <a:t> &amp;</a:t>
            </a:r>
            <a:r>
              <a:rPr lang="en-US" altLang="zh-CN" sz="1600" kern="100" dirty="0" err="1">
                <a:solidFill>
                  <a:srgbClr val="0000FF"/>
                </a:solidFill>
                <a:latin typeface="Arial" panose="020B0604020202020204" pitchFamily="34" charset="0"/>
              </a:rPr>
              <a:t>b_vector</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IntVector</a:t>
            </a:r>
            <a:r>
              <a:rPr lang="en-US" altLang="zh-CN" sz="1600" kern="100" dirty="0">
                <a:solidFill>
                  <a:srgbClr val="0000FF"/>
                </a:solidFill>
                <a:latin typeface="Arial" panose="020B0604020202020204" pitchFamily="34" charset="0"/>
              </a:rPr>
              <a:t> &amp;</a:t>
            </a:r>
            <a:r>
              <a:rPr lang="en-US" altLang="zh-CN" sz="1600" kern="100" dirty="0" err="1">
                <a:solidFill>
                  <a:srgbClr val="0000FF"/>
                </a:solidFill>
                <a:latin typeface="Arial" panose="020B0604020202020204" pitchFamily="34" charset="0"/>
              </a:rPr>
              <a:t>sum_parallel</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range&lt;1&gt; </a:t>
            </a:r>
            <a:r>
              <a:rPr lang="en-US" altLang="zh-CN" sz="1600" kern="100" dirty="0" err="1">
                <a:solidFill>
                  <a:srgbClr val="0000FF"/>
                </a:solidFill>
                <a:latin typeface="Arial" panose="020B0604020202020204" pitchFamily="34" charset="0"/>
              </a:rPr>
              <a:t>num_items</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a_vector.size</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 </a:t>
            </a:r>
            <a:r>
              <a:rPr lang="en-US" altLang="zh-CN" sz="1600" kern="100" dirty="0" err="1">
                <a:solidFill>
                  <a:srgbClr val="0000FF"/>
                </a:solidFill>
                <a:latin typeface="Arial" panose="020B0604020202020204" pitchFamily="34" charset="0"/>
              </a:rPr>
              <a:t>a_buf</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a_vector</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 </a:t>
            </a:r>
            <a:r>
              <a:rPr lang="en-US" altLang="zh-CN" sz="1600" kern="100" dirty="0" err="1">
                <a:solidFill>
                  <a:srgbClr val="0000FF"/>
                </a:solidFill>
                <a:latin typeface="Arial" panose="020B0604020202020204" pitchFamily="34" charset="0"/>
              </a:rPr>
              <a:t>b_buf</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b_vector</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 </a:t>
            </a:r>
            <a:r>
              <a:rPr lang="en-US" altLang="zh-CN" sz="1600" kern="100" dirty="0" err="1">
                <a:solidFill>
                  <a:srgbClr val="0000FF"/>
                </a:solidFill>
                <a:latin typeface="Arial" panose="020B0604020202020204" pitchFamily="34" charset="0"/>
              </a:rPr>
              <a:t>sum_buf</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sum_parallel.data</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num_items</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for (</a:t>
            </a:r>
            <a:r>
              <a:rPr lang="en-US" altLang="zh-CN" sz="1600" kern="100" dirty="0" err="1">
                <a:solidFill>
                  <a:srgbClr val="0000FF"/>
                </a:solidFill>
                <a:latin typeface="Arial" panose="020B0604020202020204" pitchFamily="34" charset="0"/>
              </a:rPr>
              <a:t>size_t</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0;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&lt; </a:t>
            </a:r>
            <a:r>
              <a:rPr lang="en-US" altLang="zh-CN" sz="1600" kern="100" dirty="0" err="1">
                <a:solidFill>
                  <a:srgbClr val="0000FF"/>
                </a:solidFill>
                <a:latin typeface="Arial" panose="020B0604020202020204" pitchFamily="34" charset="0"/>
              </a:rPr>
              <a:t>num_repetitions</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q.submit</a:t>
            </a:r>
            <a:r>
              <a:rPr lang="en-US" altLang="zh-CN" sz="1600" kern="100" dirty="0">
                <a:solidFill>
                  <a:srgbClr val="0000FF"/>
                </a:solidFill>
                <a:latin typeface="Arial" panose="020B0604020202020204" pitchFamily="34" charset="0"/>
              </a:rPr>
              <a:t>([&amp;](handler &amp;h)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a(</a:t>
            </a:r>
            <a:r>
              <a:rPr lang="en-US" altLang="zh-CN" sz="1600" kern="100" dirty="0" err="1">
                <a:solidFill>
                  <a:srgbClr val="0000FF"/>
                </a:solidFill>
                <a:latin typeface="Arial" panose="020B0604020202020204" pitchFamily="34" charset="0"/>
              </a:rPr>
              <a:t>a_buf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read_only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b(</a:t>
            </a:r>
            <a:r>
              <a:rPr lang="en-US" altLang="zh-CN" sz="1600" kern="100" dirty="0" err="1">
                <a:solidFill>
                  <a:srgbClr val="0000FF"/>
                </a:solidFill>
                <a:latin typeface="Arial" panose="020B0604020202020204" pitchFamily="34" charset="0"/>
              </a:rPr>
              <a:t>b_buf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read_only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sum(</a:t>
            </a:r>
            <a:r>
              <a:rPr lang="en-US" altLang="zh-CN" sz="1600" kern="100" dirty="0" err="1">
                <a:solidFill>
                  <a:srgbClr val="0000FF"/>
                </a:solidFill>
                <a:latin typeface="Arial" panose="020B0604020202020204" pitchFamily="34" charset="0"/>
              </a:rPr>
              <a:t>sum_buf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write_only</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no_init</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h.parallel_for</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num_items</a:t>
            </a:r>
            <a:r>
              <a:rPr lang="en-US" altLang="zh-CN" sz="1600" kern="100" dirty="0">
                <a:solidFill>
                  <a:srgbClr val="0000FF"/>
                </a:solidFill>
                <a:latin typeface="Arial" panose="020B0604020202020204" pitchFamily="34" charset="0"/>
              </a:rPr>
              <a:t>, [=](auto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sum[</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a[</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b[</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q.wait</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endParaRPr lang="it-IT" altLang="zh-CN" sz="1600" kern="100" dirty="0">
              <a:solidFill>
                <a:srgbClr val="0000FF"/>
              </a:solidFill>
              <a:latin typeface="Arial" panose="020B0604020202020204" pitchFamily="34" charset="0"/>
            </a:endParaRPr>
          </a:p>
        </p:txBody>
      </p:sp>
    </p:spTree>
    <p:extLst>
      <p:ext uri="{BB962C8B-B14F-4D97-AF65-F5344CB8AC3E}">
        <p14:creationId xmlns:p14="http://schemas.microsoft.com/office/powerpoint/2010/main" val="326603496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例：矩阵相加</a:t>
            </a:r>
            <a:r>
              <a:rPr lang="en-US" altLang="zh-CN" dirty="0"/>
              <a:t>buffer</a:t>
            </a:r>
            <a:r>
              <a:rPr lang="zh-CN" altLang="en-US" dirty="0"/>
              <a:t>版（续）</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int main(int </a:t>
            </a:r>
            <a:r>
              <a:rPr lang="en-US" altLang="zh-CN" sz="1600" kern="100" dirty="0" err="1">
                <a:solidFill>
                  <a:srgbClr val="0000FF"/>
                </a:solidFill>
                <a:latin typeface="Arial" panose="020B0604020202020204" pitchFamily="34" charset="0"/>
              </a:rPr>
              <a:t>argc</a:t>
            </a:r>
            <a:r>
              <a:rPr lang="en-US" altLang="zh-CN" sz="1600" kern="100" dirty="0">
                <a:solidFill>
                  <a:srgbClr val="0000FF"/>
                </a:solidFill>
                <a:latin typeface="Arial" panose="020B0604020202020204" pitchFamily="34" charset="0"/>
              </a:rPr>
              <a:t>, char* </a:t>
            </a:r>
            <a:r>
              <a:rPr lang="en-US" altLang="zh-CN" sz="1600" kern="100" dirty="0" err="1">
                <a:solidFill>
                  <a:srgbClr val="0000FF"/>
                </a:solidFill>
                <a:latin typeface="Arial" panose="020B0604020202020204" pitchFamily="34" charset="0"/>
              </a:rPr>
              <a:t>argv</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if (</a:t>
            </a:r>
            <a:r>
              <a:rPr lang="en-US" altLang="zh-CN" sz="1600" kern="100" dirty="0" err="1">
                <a:solidFill>
                  <a:srgbClr val="0000FF"/>
                </a:solidFill>
                <a:latin typeface="Arial" panose="020B0604020202020204" pitchFamily="34" charset="0"/>
              </a:rPr>
              <a:t>argc</a:t>
            </a:r>
            <a:r>
              <a:rPr lang="en-US" altLang="zh-CN" sz="1600" kern="100" dirty="0">
                <a:solidFill>
                  <a:srgbClr val="0000FF"/>
                </a:solidFill>
                <a:latin typeface="Arial" panose="020B0604020202020204" pitchFamily="34" charset="0"/>
              </a:rPr>
              <a:t> &gt; 2) </a:t>
            </a:r>
            <a:r>
              <a:rPr lang="en-US" altLang="zh-CN" sz="1600" kern="100" dirty="0" err="1">
                <a:solidFill>
                  <a:srgbClr val="0000FF"/>
                </a:solidFill>
                <a:latin typeface="Arial" panose="020B0604020202020204" pitchFamily="34" charset="0"/>
              </a:rPr>
              <a:t>num_repetitions</a:t>
            </a:r>
            <a:r>
              <a:rPr lang="en-US" altLang="zh-CN" sz="1600" kern="100" dirty="0">
                <a:solidFill>
                  <a:srgbClr val="0000FF"/>
                </a:solidFill>
                <a:latin typeface="Arial" panose="020B0604020202020204" pitchFamily="34" charset="0"/>
              </a:rPr>
              <a:t> = std::</a:t>
            </a:r>
            <a:r>
              <a:rPr lang="en-US" altLang="zh-CN" sz="1600" kern="100" dirty="0" err="1">
                <a:solidFill>
                  <a:srgbClr val="0000FF"/>
                </a:solidFill>
                <a:latin typeface="Arial" panose="020B0604020202020204" pitchFamily="34" charset="0"/>
              </a:rPr>
              <a:t>stoi</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argv</a:t>
            </a:r>
            <a:r>
              <a:rPr lang="en-US" altLang="zh-CN" sz="1600" kern="100" dirty="0">
                <a:solidFill>
                  <a:srgbClr val="0000FF"/>
                </a:solidFill>
                <a:latin typeface="Arial" panose="020B0604020202020204" pitchFamily="34" charset="0"/>
              </a:rPr>
              <a:t>[2]);</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if (</a:t>
            </a:r>
            <a:r>
              <a:rPr lang="en-US" altLang="zh-CN" sz="1600" kern="100" dirty="0" err="1">
                <a:solidFill>
                  <a:srgbClr val="0000FF"/>
                </a:solidFill>
                <a:latin typeface="Arial" panose="020B0604020202020204" pitchFamily="34" charset="0"/>
              </a:rPr>
              <a:t>argc</a:t>
            </a:r>
            <a:r>
              <a:rPr lang="en-US" altLang="zh-CN" sz="1600" kern="100" dirty="0">
                <a:solidFill>
                  <a:srgbClr val="0000FF"/>
                </a:solidFill>
                <a:latin typeface="Arial" panose="020B0604020202020204" pitchFamily="34" charset="0"/>
              </a:rPr>
              <a:t> &gt; 1) </a:t>
            </a:r>
            <a:r>
              <a:rPr lang="en-US" altLang="zh-CN" sz="1600" kern="100" dirty="0" err="1">
                <a:solidFill>
                  <a:srgbClr val="0000FF"/>
                </a:solidFill>
                <a:latin typeface="Arial" panose="020B0604020202020204" pitchFamily="34" charset="0"/>
              </a:rPr>
              <a:t>vector_size</a:t>
            </a:r>
            <a:r>
              <a:rPr lang="en-US" altLang="zh-CN" sz="1600" kern="100" dirty="0">
                <a:solidFill>
                  <a:srgbClr val="0000FF"/>
                </a:solidFill>
                <a:latin typeface="Arial" panose="020B0604020202020204" pitchFamily="34" charset="0"/>
              </a:rPr>
              <a:t> = std::</a:t>
            </a:r>
            <a:r>
              <a:rPr lang="en-US" altLang="zh-CN" sz="1600" kern="100" dirty="0" err="1">
                <a:solidFill>
                  <a:srgbClr val="0000FF"/>
                </a:solidFill>
                <a:latin typeface="Arial" panose="020B0604020202020204" pitchFamily="34" charset="0"/>
              </a:rPr>
              <a:t>stoi</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argv</a:t>
            </a:r>
            <a:r>
              <a:rPr lang="en-US" altLang="zh-CN" sz="1600" kern="100" dirty="0">
                <a:solidFill>
                  <a:srgbClr val="0000FF"/>
                </a:solidFill>
                <a:latin typeface="Arial" panose="020B0604020202020204" pitchFamily="34" charset="0"/>
              </a:rPr>
              <a:t>[1]);</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auto d_selector{default_selector_v};</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IntVector a, b, sum_sequential, sum_parallel;</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a.resize(vector_size);	  	b.resize(vector_size);</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sum_sequential.resize(vector_size);	sum_parallel.resize(vector_size);</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InitializeVector(a);			InitializeVector(b);</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queue q(d_selector, exception_handler);</a:t>
            </a:r>
          </a:p>
          <a:p>
            <a:pPr marL="0" indent="0" eaLnBrk="1" hangingPunct="1">
              <a:spcBef>
                <a:spcPts val="100"/>
              </a:spcBef>
              <a:buFont typeface="Wingdings" panose="05000000000000000000" pitchFamily="2" charset="2"/>
              <a:buNone/>
              <a:defRPr/>
            </a:pPr>
            <a:endParaRPr lang="it-IT"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clock_t start = clock();</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VectorAdd(q, a, b, sum_parallel);</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clock_t finish = clock();</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std::cout &lt;&lt; "Rune time: " &lt;&lt; (double)(finish - start) / CLOCKS_PER_SEC &lt;&lt; "\n";</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a.clear</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b.clear</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sum_sequential.clear</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sum_parallel.clear</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std::</a:t>
            </a:r>
            <a:r>
              <a:rPr lang="en-US" altLang="zh-CN" sz="1600" kern="100" dirty="0" err="1">
                <a:solidFill>
                  <a:srgbClr val="0000FF"/>
                </a:solidFill>
                <a:latin typeface="Arial" panose="020B0604020202020204" pitchFamily="34" charset="0"/>
              </a:rPr>
              <a:t>cout</a:t>
            </a:r>
            <a:r>
              <a:rPr lang="en-US" altLang="zh-CN" sz="1600" kern="100" dirty="0">
                <a:solidFill>
                  <a:srgbClr val="0000FF"/>
                </a:solidFill>
                <a:latin typeface="Arial" panose="020B0604020202020204" pitchFamily="34" charset="0"/>
              </a:rPr>
              <a:t> &lt;&lt; "Vector add successfully completed on device.\n";</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return 0;</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a:t>
            </a:r>
            <a:endParaRPr lang="it-IT" altLang="zh-CN" sz="1600" kern="100" dirty="0">
              <a:solidFill>
                <a:srgbClr val="0000FF"/>
              </a:solidFill>
              <a:latin typeface="Arial" panose="020B0604020202020204" pitchFamily="34" charset="0"/>
            </a:endParaRPr>
          </a:p>
        </p:txBody>
      </p:sp>
    </p:spTree>
    <p:extLst>
      <p:ext uri="{BB962C8B-B14F-4D97-AF65-F5344CB8AC3E}">
        <p14:creationId xmlns:p14="http://schemas.microsoft.com/office/powerpoint/2010/main" val="271136391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例：矩阵相加</a:t>
            </a:r>
            <a:r>
              <a:rPr lang="en-US" altLang="zh-CN" dirty="0"/>
              <a:t>USM</a:t>
            </a:r>
            <a:r>
              <a:rPr lang="zh-CN" altLang="en-US" dirty="0"/>
              <a:t>版</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void </a:t>
            </a:r>
            <a:r>
              <a:rPr lang="en-US" altLang="zh-CN" sz="1600" kern="100" dirty="0" err="1">
                <a:solidFill>
                  <a:srgbClr val="0000FF"/>
                </a:solidFill>
                <a:latin typeface="Arial" panose="020B0604020202020204" pitchFamily="34" charset="0"/>
              </a:rPr>
              <a:t>VectorAdd</a:t>
            </a:r>
            <a:r>
              <a:rPr lang="en-US" altLang="zh-CN" sz="1600" kern="100" dirty="0">
                <a:solidFill>
                  <a:srgbClr val="0000FF"/>
                </a:solidFill>
                <a:latin typeface="Arial" panose="020B0604020202020204" pitchFamily="34" charset="0"/>
              </a:rPr>
              <a:t>(queue &amp;q, const int *a, const int *b, int *sum, </a:t>
            </a:r>
            <a:r>
              <a:rPr lang="en-US" altLang="zh-CN" sz="1600" kern="100" dirty="0" err="1">
                <a:solidFill>
                  <a:srgbClr val="0000FF"/>
                </a:solidFill>
                <a:latin typeface="Arial" panose="020B0604020202020204" pitchFamily="34" charset="0"/>
              </a:rPr>
              <a:t>size_t</a:t>
            </a:r>
            <a:r>
              <a:rPr lang="en-US" altLang="zh-CN" sz="1600" kern="100" dirty="0">
                <a:solidFill>
                  <a:srgbClr val="0000FF"/>
                </a:solidFill>
                <a:latin typeface="Arial" panose="020B0604020202020204" pitchFamily="34" charset="0"/>
              </a:rPr>
              <a:t> size)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range&lt;1&gt; </a:t>
            </a:r>
            <a:r>
              <a:rPr lang="en-US" altLang="zh-CN" sz="1600" kern="100" dirty="0" err="1">
                <a:solidFill>
                  <a:srgbClr val="0000FF"/>
                </a:solidFill>
                <a:latin typeface="Arial" panose="020B0604020202020204" pitchFamily="34" charset="0"/>
              </a:rPr>
              <a:t>num_items</a:t>
            </a:r>
            <a:r>
              <a:rPr lang="en-US" altLang="zh-CN" sz="1600" kern="100" dirty="0">
                <a:solidFill>
                  <a:srgbClr val="0000FF"/>
                </a:solidFill>
                <a:latin typeface="Arial" panose="020B0604020202020204" pitchFamily="34" charset="0"/>
              </a:rPr>
              <a:t>{size};</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auto e = </a:t>
            </a:r>
            <a:r>
              <a:rPr lang="en-US" altLang="zh-CN" sz="1600" kern="100" dirty="0" err="1">
                <a:solidFill>
                  <a:srgbClr val="0000FF"/>
                </a:solidFill>
                <a:latin typeface="Arial" panose="020B0604020202020204" pitchFamily="34" charset="0"/>
              </a:rPr>
              <a:t>q.parallel_for</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num_items</a:t>
            </a:r>
            <a:r>
              <a:rPr lang="en-US" altLang="zh-CN" sz="1600" kern="100" dirty="0">
                <a:solidFill>
                  <a:srgbClr val="0000FF"/>
                </a:solidFill>
                <a:latin typeface="Arial" panose="020B0604020202020204" pitchFamily="34" charset="0"/>
              </a:rPr>
              <a:t>, [=](auto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sum[</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a[</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b[</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e.wait</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a:t>
            </a:r>
          </a:p>
        </p:txBody>
      </p:sp>
    </p:spTree>
    <p:extLst>
      <p:ext uri="{BB962C8B-B14F-4D97-AF65-F5344CB8AC3E}">
        <p14:creationId xmlns:p14="http://schemas.microsoft.com/office/powerpoint/2010/main" val="79990177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例：矩阵相加</a:t>
            </a:r>
            <a:r>
              <a:rPr lang="en-US" altLang="zh-CN" dirty="0"/>
              <a:t>USM</a:t>
            </a:r>
            <a:r>
              <a:rPr lang="zh-CN" altLang="en-US" dirty="0"/>
              <a:t>版（续）</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int main(int </a:t>
            </a:r>
            <a:r>
              <a:rPr lang="en-US" altLang="zh-CN" sz="1600" kern="100" dirty="0" err="1">
                <a:solidFill>
                  <a:srgbClr val="0000FF"/>
                </a:solidFill>
                <a:latin typeface="Arial" panose="020B0604020202020204" pitchFamily="34" charset="0"/>
              </a:rPr>
              <a:t>argc</a:t>
            </a:r>
            <a:r>
              <a:rPr lang="en-US" altLang="zh-CN" sz="1600" kern="100" dirty="0">
                <a:solidFill>
                  <a:srgbClr val="0000FF"/>
                </a:solidFill>
                <a:latin typeface="Arial" panose="020B0604020202020204" pitchFamily="34" charset="0"/>
              </a:rPr>
              <a:t>, char* </a:t>
            </a:r>
            <a:r>
              <a:rPr lang="en-US" altLang="zh-CN" sz="1600" kern="100" dirty="0" err="1">
                <a:solidFill>
                  <a:srgbClr val="0000FF"/>
                </a:solidFill>
                <a:latin typeface="Arial" panose="020B0604020202020204" pitchFamily="34" charset="0"/>
              </a:rPr>
              <a:t>argv</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if (</a:t>
            </a:r>
            <a:r>
              <a:rPr lang="en-US" altLang="zh-CN" sz="1600" kern="100" dirty="0" err="1">
                <a:solidFill>
                  <a:srgbClr val="0000FF"/>
                </a:solidFill>
                <a:latin typeface="Arial" panose="020B0604020202020204" pitchFamily="34" charset="0"/>
              </a:rPr>
              <a:t>argc</a:t>
            </a:r>
            <a:r>
              <a:rPr lang="en-US" altLang="zh-CN" sz="1600" kern="100" dirty="0">
                <a:solidFill>
                  <a:srgbClr val="0000FF"/>
                </a:solidFill>
                <a:latin typeface="Arial" panose="020B0604020202020204" pitchFamily="34" charset="0"/>
              </a:rPr>
              <a:t> &gt; 1) </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 std::</a:t>
            </a:r>
            <a:r>
              <a:rPr lang="en-US" altLang="zh-CN" sz="1600" kern="100" dirty="0" err="1">
                <a:solidFill>
                  <a:srgbClr val="0000FF"/>
                </a:solidFill>
                <a:latin typeface="Arial" panose="020B0604020202020204" pitchFamily="34" charset="0"/>
              </a:rPr>
              <a:t>stoi</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argv</a:t>
            </a:r>
            <a:r>
              <a:rPr lang="en-US" altLang="zh-CN" sz="1600" kern="100" dirty="0">
                <a:solidFill>
                  <a:srgbClr val="0000FF"/>
                </a:solidFill>
                <a:latin typeface="Arial" panose="020B0604020202020204" pitchFamily="34" charset="0"/>
              </a:rPr>
              <a:t>[1]);</a:t>
            </a:r>
          </a:p>
          <a:p>
            <a:pPr marL="0" indent="0" eaLnBrk="1" hangingPunct="1">
              <a:spcBef>
                <a:spcPts val="100"/>
              </a:spcBef>
              <a:buFont typeface="Wingdings" panose="05000000000000000000" pitchFamily="2" charset="2"/>
              <a:buNone/>
              <a:defRPr/>
            </a:pPr>
            <a:r>
              <a:rPr lang="it-IT" altLang="zh-CN" sz="1600" kern="100" dirty="0">
                <a:solidFill>
                  <a:srgbClr val="0000FF"/>
                </a:solidFill>
                <a:latin typeface="Arial" panose="020B0604020202020204" pitchFamily="34" charset="0"/>
              </a:rPr>
              <a:t>  auto d_selector{default_selector_v};</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queue q(</a:t>
            </a:r>
            <a:r>
              <a:rPr lang="en-US" altLang="zh-CN" sz="1600" kern="100" dirty="0" err="1">
                <a:solidFill>
                  <a:srgbClr val="0000FF"/>
                </a:solidFill>
                <a:latin typeface="Arial" panose="020B0604020202020204" pitchFamily="34" charset="0"/>
              </a:rPr>
              <a:t>d_selector</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exception_handler</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*a = </a:t>
            </a:r>
            <a:r>
              <a:rPr lang="en-US" altLang="zh-CN" sz="1600" kern="100" dirty="0" err="1">
                <a:solidFill>
                  <a:srgbClr val="0000FF"/>
                </a:solidFill>
                <a:latin typeface="Arial" panose="020B0604020202020204" pitchFamily="34" charset="0"/>
              </a:rPr>
              <a:t>malloc_shared</a:t>
            </a:r>
            <a:r>
              <a:rPr lang="en-US" altLang="zh-CN" sz="1600" kern="100" dirty="0">
                <a:solidFill>
                  <a:srgbClr val="0000FF"/>
                </a:solidFill>
                <a:latin typeface="Arial" panose="020B0604020202020204" pitchFamily="34" charset="0"/>
              </a:rPr>
              <a:t>&lt;int&gt;(</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q);</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*b = </a:t>
            </a:r>
            <a:r>
              <a:rPr lang="en-US" altLang="zh-CN" sz="1600" kern="100" dirty="0" err="1">
                <a:solidFill>
                  <a:srgbClr val="0000FF"/>
                </a:solidFill>
                <a:latin typeface="Arial" panose="020B0604020202020204" pitchFamily="34" charset="0"/>
              </a:rPr>
              <a:t>malloc_shared</a:t>
            </a:r>
            <a:r>
              <a:rPr lang="en-US" altLang="zh-CN" sz="1600" kern="100" dirty="0">
                <a:solidFill>
                  <a:srgbClr val="0000FF"/>
                </a:solidFill>
                <a:latin typeface="Arial" panose="020B0604020202020204" pitchFamily="34" charset="0"/>
              </a:rPr>
              <a:t>&lt;int&gt;(</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q);</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a:t>
            </a:r>
            <a:r>
              <a:rPr lang="en-US" altLang="zh-CN" sz="1600" kern="100" dirty="0" err="1">
                <a:solidFill>
                  <a:srgbClr val="0000FF"/>
                </a:solidFill>
                <a:latin typeface="Arial" panose="020B0604020202020204" pitchFamily="34" charset="0"/>
              </a:rPr>
              <a:t>sum_sequential</a:t>
            </a:r>
            <a:r>
              <a:rPr lang="en-US" altLang="zh-CN" sz="1600" kern="100" dirty="0">
                <a:solidFill>
                  <a:srgbClr val="0000FF"/>
                </a:solidFill>
                <a:latin typeface="Arial" panose="020B0604020202020204" pitchFamily="34" charset="0"/>
              </a:rPr>
              <a:t> = </a:t>
            </a:r>
            <a:r>
              <a:rPr lang="en-US" altLang="zh-CN" sz="1600" kern="100" dirty="0" err="1">
                <a:solidFill>
                  <a:srgbClr val="0000FF"/>
                </a:solidFill>
                <a:latin typeface="Arial" panose="020B0604020202020204" pitchFamily="34" charset="0"/>
              </a:rPr>
              <a:t>malloc_shared</a:t>
            </a:r>
            <a:r>
              <a:rPr lang="en-US" altLang="zh-CN" sz="1600" kern="100" dirty="0">
                <a:solidFill>
                  <a:srgbClr val="0000FF"/>
                </a:solidFill>
                <a:latin typeface="Arial" panose="020B0604020202020204" pitchFamily="34" charset="0"/>
              </a:rPr>
              <a:t>&lt;int&gt;(</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q);</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a:t>
            </a:r>
            <a:r>
              <a:rPr lang="en-US" altLang="zh-CN" sz="1600" kern="100" dirty="0" err="1">
                <a:solidFill>
                  <a:srgbClr val="0000FF"/>
                </a:solidFill>
                <a:latin typeface="Arial" panose="020B0604020202020204" pitchFamily="34" charset="0"/>
              </a:rPr>
              <a:t>sum_parallel</a:t>
            </a:r>
            <a:r>
              <a:rPr lang="en-US" altLang="zh-CN" sz="1600" kern="100" dirty="0">
                <a:solidFill>
                  <a:srgbClr val="0000FF"/>
                </a:solidFill>
                <a:latin typeface="Arial" panose="020B0604020202020204" pitchFamily="34" charset="0"/>
              </a:rPr>
              <a:t> = </a:t>
            </a:r>
            <a:r>
              <a:rPr lang="en-US" altLang="zh-CN" sz="1600" kern="100" dirty="0" err="1">
                <a:solidFill>
                  <a:srgbClr val="0000FF"/>
                </a:solidFill>
                <a:latin typeface="Arial" panose="020B0604020202020204" pitchFamily="34" charset="0"/>
              </a:rPr>
              <a:t>malloc_shared</a:t>
            </a:r>
            <a:r>
              <a:rPr lang="en-US" altLang="zh-CN" sz="1600" kern="100" dirty="0">
                <a:solidFill>
                  <a:srgbClr val="0000FF"/>
                </a:solidFill>
                <a:latin typeface="Arial" panose="020B0604020202020204" pitchFamily="34" charset="0"/>
              </a:rPr>
              <a:t>&lt;int&gt;(</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q);</a:t>
            </a:r>
            <a:endParaRPr lang="it-IT"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InitializeArray</a:t>
            </a:r>
            <a:r>
              <a:rPr lang="en-US" altLang="zh-CN" sz="1600" kern="100" dirty="0">
                <a:solidFill>
                  <a:srgbClr val="0000FF"/>
                </a:solidFill>
                <a:latin typeface="Arial" panose="020B0604020202020204" pitchFamily="34" charset="0"/>
              </a:rPr>
              <a:t>(a, </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InitializeArray</a:t>
            </a:r>
            <a:r>
              <a:rPr lang="en-US" altLang="zh-CN" sz="1600" kern="100" dirty="0">
                <a:solidFill>
                  <a:srgbClr val="0000FF"/>
                </a:solidFill>
                <a:latin typeface="Arial" panose="020B0604020202020204" pitchFamily="34" charset="0"/>
              </a:rPr>
              <a:t>(b, </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clock_t</a:t>
            </a:r>
            <a:r>
              <a:rPr lang="en-US" altLang="zh-CN" sz="1600" kern="100" dirty="0">
                <a:solidFill>
                  <a:srgbClr val="0000FF"/>
                </a:solidFill>
                <a:latin typeface="Arial" panose="020B0604020202020204" pitchFamily="34" charset="0"/>
              </a:rPr>
              <a:t> start = clock();</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VectorAdd</a:t>
            </a:r>
            <a:r>
              <a:rPr lang="en-US" altLang="zh-CN" sz="1600" kern="100" dirty="0">
                <a:solidFill>
                  <a:srgbClr val="0000FF"/>
                </a:solidFill>
                <a:latin typeface="Arial" panose="020B0604020202020204" pitchFamily="34" charset="0"/>
              </a:rPr>
              <a:t>(q, a, b, </a:t>
            </a:r>
            <a:r>
              <a:rPr lang="en-US" altLang="zh-CN" sz="1600" kern="100" dirty="0" err="1">
                <a:solidFill>
                  <a:srgbClr val="0000FF"/>
                </a:solidFill>
                <a:latin typeface="Arial" panose="020B0604020202020204" pitchFamily="34" charset="0"/>
              </a:rPr>
              <a:t>sum_parallel</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array_size</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clock_t</a:t>
            </a:r>
            <a:r>
              <a:rPr lang="en-US" altLang="zh-CN" sz="1600" kern="100" dirty="0">
                <a:solidFill>
                  <a:srgbClr val="0000FF"/>
                </a:solidFill>
                <a:latin typeface="Arial" panose="020B0604020202020204" pitchFamily="34" charset="0"/>
              </a:rPr>
              <a:t> finish = clock();</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std::</a:t>
            </a:r>
            <a:r>
              <a:rPr lang="en-US" altLang="zh-CN" sz="1600" kern="100" dirty="0" err="1">
                <a:solidFill>
                  <a:srgbClr val="0000FF"/>
                </a:solidFill>
                <a:latin typeface="Arial" panose="020B0604020202020204" pitchFamily="34" charset="0"/>
              </a:rPr>
              <a:t>cout</a:t>
            </a:r>
            <a:r>
              <a:rPr lang="en-US" altLang="zh-CN" sz="1600" kern="100" dirty="0">
                <a:solidFill>
                  <a:srgbClr val="0000FF"/>
                </a:solidFill>
                <a:latin typeface="Arial" panose="020B0604020202020204" pitchFamily="34" charset="0"/>
              </a:rPr>
              <a:t> &lt;&lt; "Rune time: " &lt;&lt; (double)(finish - start) / CLOCKS_PER_SEC &lt;&lt; "\n";</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free(a, q);    free(b, q);    free(</a:t>
            </a:r>
            <a:r>
              <a:rPr lang="en-US" altLang="zh-CN" sz="1600" kern="100" dirty="0" err="1">
                <a:solidFill>
                  <a:srgbClr val="0000FF"/>
                </a:solidFill>
                <a:latin typeface="Arial" panose="020B0604020202020204" pitchFamily="34" charset="0"/>
              </a:rPr>
              <a:t>sum_sequential</a:t>
            </a:r>
            <a:r>
              <a:rPr lang="en-US" altLang="zh-CN" sz="1600" kern="100" dirty="0">
                <a:solidFill>
                  <a:srgbClr val="0000FF"/>
                </a:solidFill>
                <a:latin typeface="Arial" panose="020B0604020202020204" pitchFamily="34" charset="0"/>
              </a:rPr>
              <a:t>, q);    free(</a:t>
            </a:r>
            <a:r>
              <a:rPr lang="en-US" altLang="zh-CN" sz="1600" kern="100" dirty="0" err="1">
                <a:solidFill>
                  <a:srgbClr val="0000FF"/>
                </a:solidFill>
                <a:latin typeface="Arial" panose="020B0604020202020204" pitchFamily="34" charset="0"/>
              </a:rPr>
              <a:t>sum_parallel</a:t>
            </a:r>
            <a:r>
              <a:rPr lang="en-US" altLang="zh-CN" sz="1600" kern="100" dirty="0">
                <a:solidFill>
                  <a:srgbClr val="0000FF"/>
                </a:solidFill>
                <a:latin typeface="Arial" panose="020B0604020202020204" pitchFamily="34" charset="0"/>
              </a:rPr>
              <a:t>, q);</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std::</a:t>
            </a:r>
            <a:r>
              <a:rPr lang="en-US" altLang="zh-CN" sz="1600" kern="100" dirty="0" err="1">
                <a:solidFill>
                  <a:srgbClr val="0000FF"/>
                </a:solidFill>
                <a:latin typeface="Arial" panose="020B0604020202020204" pitchFamily="34" charset="0"/>
              </a:rPr>
              <a:t>cout</a:t>
            </a:r>
            <a:r>
              <a:rPr lang="en-US" altLang="zh-CN" sz="1600" kern="100" dirty="0">
                <a:solidFill>
                  <a:srgbClr val="0000FF"/>
                </a:solidFill>
                <a:latin typeface="Arial" panose="020B0604020202020204" pitchFamily="34" charset="0"/>
              </a:rPr>
              <a:t> &lt;&lt; "Vector add successfully completed on device.\n";</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return 0;</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a:t>
            </a:r>
            <a:endParaRPr lang="it-IT" altLang="zh-CN" sz="1600" kern="100" dirty="0">
              <a:solidFill>
                <a:srgbClr val="0000FF"/>
              </a:solidFill>
              <a:latin typeface="Arial" panose="020B0604020202020204" pitchFamily="34" charset="0"/>
            </a:endParaRPr>
          </a:p>
        </p:txBody>
      </p:sp>
    </p:spTree>
    <p:extLst>
      <p:ext uri="{BB962C8B-B14F-4D97-AF65-F5344CB8AC3E}">
        <p14:creationId xmlns:p14="http://schemas.microsoft.com/office/powerpoint/2010/main" val="143931408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B7776-983D-4A06-90AC-72FEB4507E80}"/>
              </a:ext>
            </a:extLst>
          </p:cNvPr>
          <p:cNvSpPr>
            <a:spLocks noGrp="1"/>
          </p:cNvSpPr>
          <p:nvPr>
            <p:ph type="title"/>
          </p:nvPr>
        </p:nvSpPr>
        <p:spPr/>
        <p:txBody>
          <a:bodyPr/>
          <a:lstStyle/>
          <a:p>
            <a:r>
              <a:rPr lang="zh-CN" altLang="en-US" dirty="0"/>
              <a:t>矩阵相加测试结果</a:t>
            </a:r>
          </a:p>
        </p:txBody>
      </p:sp>
      <p:sp>
        <p:nvSpPr>
          <p:cNvPr id="3" name="内容占位符 2">
            <a:extLst>
              <a:ext uri="{FF2B5EF4-FFF2-40B4-BE49-F238E27FC236}">
                <a16:creationId xmlns:a16="http://schemas.microsoft.com/office/drawing/2014/main" id="{678A3E18-BAC7-44F2-A237-64DF71673F26}"/>
              </a:ext>
            </a:extLst>
          </p:cNvPr>
          <p:cNvSpPr>
            <a:spLocks noGrp="1"/>
          </p:cNvSpPr>
          <p:nvPr>
            <p:ph idx="1"/>
          </p:nvPr>
        </p:nvSpPr>
        <p:spPr/>
        <p:txBody>
          <a:bodyPr/>
          <a:lstStyle/>
          <a:p>
            <a:r>
              <a:rPr lang="en-US" altLang="zh-CN" dirty="0"/>
              <a:t>CPU</a:t>
            </a:r>
            <a:r>
              <a:rPr lang="zh-CN" altLang="en-US" dirty="0"/>
              <a:t>：</a:t>
            </a:r>
            <a:r>
              <a:rPr lang="en-US" altLang="zh-CN" dirty="0"/>
              <a:t>Intel i7-7Y75</a:t>
            </a:r>
            <a:br>
              <a:rPr lang="en-US" altLang="zh-CN" dirty="0"/>
            </a:br>
            <a:r>
              <a:rPr lang="en-US" altLang="zh-CN" dirty="0"/>
              <a:t>GPU</a:t>
            </a:r>
            <a:r>
              <a:rPr lang="zh-CN" altLang="en-US" dirty="0"/>
              <a:t>：核显</a:t>
            </a:r>
            <a:r>
              <a:rPr lang="en-US" altLang="zh-CN" dirty="0"/>
              <a:t>HD Graphics 615 </a:t>
            </a:r>
          </a:p>
          <a:p>
            <a:r>
              <a:rPr lang="zh-CN" altLang="en-US" dirty="0"/>
              <a:t>向量长度</a:t>
            </a:r>
            <a:r>
              <a:rPr lang="en-US" altLang="zh-CN" dirty="0"/>
              <a:t>4M</a:t>
            </a:r>
          </a:p>
          <a:p>
            <a:r>
              <a:rPr lang="en-US" altLang="zh-CN" dirty="0"/>
              <a:t>buffer</a:t>
            </a:r>
            <a:r>
              <a:rPr lang="zh-CN" altLang="en-US" dirty="0"/>
              <a:t>版</a:t>
            </a:r>
            <a:endParaRPr lang="en-US" altLang="zh-CN" dirty="0"/>
          </a:p>
          <a:p>
            <a:pPr lvl="1"/>
            <a:r>
              <a:rPr lang="en-US" altLang="zh-CN" dirty="0"/>
              <a:t>CPU</a:t>
            </a:r>
            <a:r>
              <a:rPr lang="zh-CN" altLang="en-US" dirty="0"/>
              <a:t>：</a:t>
            </a:r>
            <a:r>
              <a:rPr lang="en-US" altLang="zh-CN" dirty="0"/>
              <a:t>0.09s</a:t>
            </a:r>
          </a:p>
          <a:p>
            <a:pPr lvl="1"/>
            <a:r>
              <a:rPr lang="en-US" altLang="zh-CN" dirty="0"/>
              <a:t>GPU</a:t>
            </a:r>
            <a:r>
              <a:rPr lang="zh-CN" altLang="en-US" dirty="0"/>
              <a:t>：</a:t>
            </a:r>
            <a:r>
              <a:rPr lang="en-US" altLang="zh-CN" dirty="0"/>
              <a:t>0.16s</a:t>
            </a:r>
          </a:p>
          <a:p>
            <a:r>
              <a:rPr lang="en-US" altLang="zh-CN" dirty="0"/>
              <a:t>USM</a:t>
            </a:r>
            <a:r>
              <a:rPr lang="zh-CN" altLang="en-US" dirty="0"/>
              <a:t>版</a:t>
            </a:r>
            <a:endParaRPr lang="en-US" altLang="zh-CN" dirty="0"/>
          </a:p>
          <a:p>
            <a:pPr lvl="1"/>
            <a:r>
              <a:rPr lang="en-US" altLang="zh-CN" dirty="0"/>
              <a:t>CPU</a:t>
            </a:r>
            <a:r>
              <a:rPr lang="zh-CN" altLang="en-US" dirty="0"/>
              <a:t>：</a:t>
            </a:r>
            <a:r>
              <a:rPr lang="en-US" altLang="zh-CN" dirty="0"/>
              <a:t>0.07s</a:t>
            </a:r>
          </a:p>
          <a:p>
            <a:pPr lvl="1"/>
            <a:r>
              <a:rPr lang="en-US" altLang="zh-CN" dirty="0"/>
              <a:t>GPU</a:t>
            </a:r>
            <a:r>
              <a:rPr lang="zh-CN" altLang="en-US" dirty="0"/>
              <a:t>：</a:t>
            </a:r>
            <a:r>
              <a:rPr lang="en-US" altLang="zh-CN" dirty="0"/>
              <a:t>0.13s</a:t>
            </a:r>
            <a:endParaRPr lang="zh-CN" altLang="en-US" dirty="0"/>
          </a:p>
        </p:txBody>
      </p:sp>
    </p:spTree>
    <p:extLst>
      <p:ext uri="{BB962C8B-B14F-4D97-AF65-F5344CB8AC3E}">
        <p14:creationId xmlns:p14="http://schemas.microsoft.com/office/powerpoint/2010/main" val="211612094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例：矩阵相乘</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int main()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 Host memory buffer that device will write data back before destruction.</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float(*</a:t>
            </a:r>
            <a:r>
              <a:rPr lang="en-US" altLang="zh-CN" sz="1600" kern="100" dirty="0" err="1">
                <a:solidFill>
                  <a:srgbClr val="0000FF"/>
                </a:solidFill>
                <a:latin typeface="Arial" panose="020B0604020202020204" pitchFamily="34" charset="0"/>
              </a:rPr>
              <a:t>c_back</a:t>
            </a:r>
            <a:r>
              <a:rPr lang="en-US" altLang="zh-CN" sz="1600" kern="100" dirty="0">
                <a:solidFill>
                  <a:srgbClr val="0000FF"/>
                </a:solidFill>
                <a:latin typeface="Arial" panose="020B0604020202020204" pitchFamily="34" charset="0"/>
              </a:rPr>
              <a:t>)[P] = new float[M][P];</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queue q(</a:t>
            </a:r>
            <a:r>
              <a:rPr lang="en-US" altLang="zh-CN" sz="1600" kern="100" dirty="0" err="1">
                <a:solidFill>
                  <a:srgbClr val="0000FF"/>
                </a:solidFill>
                <a:latin typeface="Arial" panose="020B0604020202020204" pitchFamily="34" charset="0"/>
              </a:rPr>
              <a:t>default_selector_v</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buffer&lt;float, 2&gt; </a:t>
            </a:r>
            <a:r>
              <a:rPr lang="en-US" altLang="zh-CN" sz="1600" kern="100" dirty="0" err="1">
                <a:solidFill>
                  <a:srgbClr val="0000FF"/>
                </a:solidFill>
                <a:latin typeface="Arial" panose="020B0604020202020204" pitchFamily="34" charset="0"/>
              </a:rPr>
              <a:t>a_buf</a:t>
            </a:r>
            <a:r>
              <a:rPr lang="en-US" altLang="zh-CN" sz="1600" kern="100" dirty="0">
                <a:solidFill>
                  <a:srgbClr val="0000FF"/>
                </a:solidFill>
                <a:latin typeface="Arial" panose="020B0604020202020204" pitchFamily="34" charset="0"/>
              </a:rPr>
              <a:t>(range(M, N));</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buffer&lt;float, 2&gt; </a:t>
            </a:r>
            <a:r>
              <a:rPr lang="en-US" altLang="zh-CN" sz="1600" kern="100" dirty="0" err="1">
                <a:solidFill>
                  <a:srgbClr val="0000FF"/>
                </a:solidFill>
                <a:latin typeface="Arial" panose="020B0604020202020204" pitchFamily="34" charset="0"/>
              </a:rPr>
              <a:t>b_buf</a:t>
            </a:r>
            <a:r>
              <a:rPr lang="en-US" altLang="zh-CN" sz="1600" kern="100" dirty="0">
                <a:solidFill>
                  <a:srgbClr val="0000FF"/>
                </a:solidFill>
                <a:latin typeface="Arial" panose="020B0604020202020204" pitchFamily="34" charset="0"/>
              </a:rPr>
              <a:t>(range(N, P));</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buffer </a:t>
            </a:r>
            <a:r>
              <a:rPr lang="en-US" altLang="zh-CN" sz="1600" kern="100" dirty="0" err="1">
                <a:solidFill>
                  <a:srgbClr val="0000FF"/>
                </a:solidFill>
                <a:latin typeface="Arial" panose="020B0604020202020204" pitchFamily="34" charset="0"/>
              </a:rPr>
              <a:t>c_buf</a:t>
            </a:r>
            <a:r>
              <a:rPr lang="en-US" altLang="zh-CN" sz="1600" kern="100" dirty="0">
                <a:solidFill>
                  <a:srgbClr val="0000FF"/>
                </a:solidFill>
                <a:latin typeface="Arial" panose="020B0604020202020204" pitchFamily="34" charset="0"/>
              </a:rPr>
              <a:t>(</a:t>
            </a:r>
            <a:r>
              <a:rPr lang="en-US" altLang="zh-CN" sz="1600" kern="100" dirty="0" err="1">
                <a:solidFill>
                  <a:srgbClr val="0000FF"/>
                </a:solidFill>
                <a:latin typeface="Arial" panose="020B0604020202020204" pitchFamily="34" charset="0"/>
              </a:rPr>
              <a:t>reinterpret_cast</a:t>
            </a:r>
            <a:r>
              <a:rPr lang="en-US" altLang="zh-CN" sz="1600" kern="100" dirty="0">
                <a:solidFill>
                  <a:srgbClr val="0000FF"/>
                </a:solidFill>
                <a:latin typeface="Arial" panose="020B0604020202020204" pitchFamily="34" charset="0"/>
              </a:rPr>
              <a:t>&lt;float *&gt;(</a:t>
            </a:r>
            <a:r>
              <a:rPr lang="en-US" altLang="zh-CN" sz="1600" kern="100" dirty="0" err="1">
                <a:solidFill>
                  <a:srgbClr val="0000FF"/>
                </a:solidFill>
                <a:latin typeface="Arial" panose="020B0604020202020204" pitchFamily="34" charset="0"/>
              </a:rPr>
              <a:t>c_back</a:t>
            </a:r>
            <a:r>
              <a:rPr lang="en-US" altLang="zh-CN" sz="1600" kern="100" dirty="0">
                <a:solidFill>
                  <a:srgbClr val="0000FF"/>
                </a:solidFill>
                <a:latin typeface="Arial" panose="020B0604020202020204" pitchFamily="34" charset="0"/>
              </a:rPr>
              <a:t>), range(M, P));</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clock_t</a:t>
            </a:r>
            <a:r>
              <a:rPr lang="en-US" altLang="zh-CN" sz="1600" kern="100" dirty="0">
                <a:solidFill>
                  <a:srgbClr val="0000FF"/>
                </a:solidFill>
                <a:latin typeface="Arial" panose="020B0604020202020204" pitchFamily="34" charset="0"/>
              </a:rPr>
              <a:t> start = clock();</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q.submit</a:t>
            </a:r>
            <a:r>
              <a:rPr lang="en-US" altLang="zh-CN" sz="1600" kern="100" dirty="0">
                <a:solidFill>
                  <a:srgbClr val="0000FF"/>
                </a:solidFill>
                <a:latin typeface="Arial" panose="020B0604020202020204" pitchFamily="34" charset="0"/>
              </a:rPr>
              <a:t>([&amp;](auto &amp;h)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a(</a:t>
            </a:r>
            <a:r>
              <a:rPr lang="en-US" altLang="zh-CN" sz="1600" kern="100" dirty="0" err="1">
                <a:solidFill>
                  <a:srgbClr val="0000FF"/>
                </a:solidFill>
                <a:latin typeface="Arial" panose="020B0604020202020204" pitchFamily="34" charset="0"/>
              </a:rPr>
              <a:t>a_buf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write_only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h.parallel_for</a:t>
            </a:r>
            <a:r>
              <a:rPr lang="en-US" altLang="zh-CN" sz="1600" kern="100" dirty="0">
                <a:solidFill>
                  <a:srgbClr val="0000FF"/>
                </a:solidFill>
                <a:latin typeface="Arial" panose="020B0604020202020204" pitchFamily="34" charset="0"/>
              </a:rPr>
              <a:t>(range(M, N), [=](auto index) { a[index] = 1.0f; });  });</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q.submit</a:t>
            </a:r>
            <a:r>
              <a:rPr lang="en-US" altLang="zh-CN" sz="1600" kern="100" dirty="0">
                <a:solidFill>
                  <a:srgbClr val="0000FF"/>
                </a:solidFill>
                <a:latin typeface="Arial" panose="020B0604020202020204" pitchFamily="34" charset="0"/>
              </a:rPr>
              <a:t>([&amp;](auto &amp;h)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b(</a:t>
            </a:r>
            <a:r>
              <a:rPr lang="en-US" altLang="zh-CN" sz="1600" kern="100" dirty="0" err="1">
                <a:solidFill>
                  <a:srgbClr val="0000FF"/>
                </a:solidFill>
                <a:latin typeface="Arial" panose="020B0604020202020204" pitchFamily="34" charset="0"/>
              </a:rPr>
              <a:t>b_buf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write_only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h.parallel_for</a:t>
            </a:r>
            <a:r>
              <a:rPr lang="en-US" altLang="zh-CN" sz="1600" kern="100" dirty="0">
                <a:solidFill>
                  <a:srgbClr val="0000FF"/>
                </a:solidFill>
                <a:latin typeface="Arial" panose="020B0604020202020204" pitchFamily="34" charset="0"/>
              </a:rPr>
              <a:t>(range(M, N), [=](auto index) { b[index] = 1.0f; });  });</a:t>
            </a:r>
          </a:p>
        </p:txBody>
      </p:sp>
    </p:spTree>
    <p:extLst>
      <p:ext uri="{BB962C8B-B14F-4D97-AF65-F5344CB8AC3E}">
        <p14:creationId xmlns:p14="http://schemas.microsoft.com/office/powerpoint/2010/main" val="135816865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55396FCF-A8B4-4945-B6D1-FDF34E6734EC}"/>
              </a:ext>
            </a:extLst>
          </p:cNvPr>
          <p:cNvSpPr>
            <a:spLocks noGrp="1" noChangeArrowheads="1"/>
          </p:cNvSpPr>
          <p:nvPr>
            <p:ph type="title"/>
          </p:nvPr>
        </p:nvSpPr>
        <p:spPr/>
        <p:txBody>
          <a:bodyPr/>
          <a:lstStyle/>
          <a:p>
            <a:r>
              <a:rPr lang="zh-CN" altLang="en-US" dirty="0"/>
              <a:t>例：矩阵相乘（续）</a:t>
            </a:r>
          </a:p>
        </p:txBody>
      </p:sp>
      <p:sp>
        <p:nvSpPr>
          <p:cNvPr id="3" name="内容占位符 2">
            <a:extLst>
              <a:ext uri="{FF2B5EF4-FFF2-40B4-BE49-F238E27FC236}">
                <a16:creationId xmlns:a16="http://schemas.microsoft.com/office/drawing/2014/main" id="{4A2C39DD-17C2-427A-8B6C-8EEC49F9EEC7}"/>
              </a:ext>
            </a:extLst>
          </p:cNvPr>
          <p:cNvSpPr>
            <a:spLocks noGrp="1"/>
          </p:cNvSpPr>
          <p:nvPr>
            <p:ph idx="1"/>
          </p:nvPr>
        </p:nvSpPr>
        <p:spPr/>
        <p:txBody>
          <a:bodyPr/>
          <a:lstStyle/>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q.submit</a:t>
            </a:r>
            <a:r>
              <a:rPr lang="en-US" altLang="zh-CN" sz="1600" kern="100" dirty="0">
                <a:solidFill>
                  <a:srgbClr val="0000FF"/>
                </a:solidFill>
                <a:latin typeface="Arial" panose="020B0604020202020204" pitchFamily="34" charset="0"/>
              </a:rPr>
              <a:t>([&amp;](auto &amp;h)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a(</a:t>
            </a:r>
            <a:r>
              <a:rPr lang="en-US" altLang="zh-CN" sz="1600" kern="100" dirty="0" err="1">
                <a:solidFill>
                  <a:srgbClr val="0000FF"/>
                </a:solidFill>
                <a:latin typeface="Arial" panose="020B0604020202020204" pitchFamily="34" charset="0"/>
              </a:rPr>
              <a:t>a_buf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read_only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b(</a:t>
            </a:r>
            <a:r>
              <a:rPr lang="en-US" altLang="zh-CN" sz="1600" kern="100" dirty="0" err="1">
                <a:solidFill>
                  <a:srgbClr val="0000FF"/>
                </a:solidFill>
                <a:latin typeface="Arial" panose="020B0604020202020204" pitchFamily="34" charset="0"/>
              </a:rPr>
              <a:t>b_buf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read_only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accessor c(</a:t>
            </a:r>
            <a:r>
              <a:rPr lang="en-US" altLang="zh-CN" sz="1600" kern="100" dirty="0" err="1">
                <a:solidFill>
                  <a:srgbClr val="0000FF"/>
                </a:solidFill>
                <a:latin typeface="Arial" panose="020B0604020202020204" pitchFamily="34" charset="0"/>
              </a:rPr>
              <a:t>c_buf</a:t>
            </a:r>
            <a:r>
              <a:rPr lang="en-US" altLang="zh-CN" sz="1600" kern="100" dirty="0">
                <a:solidFill>
                  <a:srgbClr val="0000FF"/>
                </a:solidFill>
                <a:latin typeface="Arial" panose="020B0604020202020204" pitchFamily="34" charset="0"/>
              </a:rPr>
              <a:t>, h, </a:t>
            </a:r>
            <a:r>
              <a:rPr lang="en-US" altLang="zh-CN" sz="1600" kern="100" dirty="0" err="1">
                <a:solidFill>
                  <a:srgbClr val="0000FF"/>
                </a:solidFill>
                <a:latin typeface="Arial" panose="020B0604020202020204" pitchFamily="34" charset="0"/>
              </a:rPr>
              <a:t>write_only</a:t>
            </a:r>
            <a:r>
              <a:rPr lang="en-US" altLang="zh-CN" sz="1600" kern="100" dirty="0">
                <a:solidFill>
                  <a:srgbClr val="0000FF"/>
                </a:solidFill>
                <a:latin typeface="Arial" panose="020B0604020202020204" pitchFamily="34" charset="0"/>
              </a:rPr>
              <a:t>);</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a:t>
            </a:r>
            <a:r>
              <a:rPr lang="en-US" altLang="zh-CN" sz="1600" kern="100" dirty="0" err="1">
                <a:solidFill>
                  <a:srgbClr val="0000FF"/>
                </a:solidFill>
                <a:latin typeface="Arial" panose="020B0604020202020204" pitchFamily="34" charset="0"/>
              </a:rPr>
              <a:t>width_a</a:t>
            </a:r>
            <a:r>
              <a:rPr lang="en-US" altLang="zh-CN" sz="1600" kern="100" dirty="0">
                <a:solidFill>
                  <a:srgbClr val="0000FF"/>
                </a:solidFill>
                <a:latin typeface="Arial" panose="020B0604020202020204" pitchFamily="34" charset="0"/>
              </a:rPr>
              <a:t> = </a:t>
            </a:r>
            <a:r>
              <a:rPr lang="en-US" altLang="zh-CN" sz="1600" kern="100" dirty="0" err="1">
                <a:solidFill>
                  <a:srgbClr val="0000FF"/>
                </a:solidFill>
                <a:latin typeface="Arial" panose="020B0604020202020204" pitchFamily="34" charset="0"/>
              </a:rPr>
              <a:t>a_buf.get_range</a:t>
            </a:r>
            <a:r>
              <a:rPr lang="en-US" altLang="zh-CN" sz="1600" kern="100" dirty="0">
                <a:solidFill>
                  <a:srgbClr val="0000FF"/>
                </a:solidFill>
                <a:latin typeface="Arial" panose="020B0604020202020204" pitchFamily="34" charset="0"/>
              </a:rPr>
              <a:t>()[1];</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h.parallel_for</a:t>
            </a:r>
            <a:r>
              <a:rPr lang="en-US" altLang="zh-CN" sz="1600" kern="100" dirty="0">
                <a:solidFill>
                  <a:srgbClr val="0000FF"/>
                </a:solidFill>
                <a:latin typeface="Arial" panose="020B0604020202020204" pitchFamily="34" charset="0"/>
              </a:rPr>
              <a:t>(range(M, P), [=](auto index)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int row = index[0]; int col = index[1];</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float sum = 0.0f;</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for (int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0;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&lt; </a:t>
            </a:r>
            <a:r>
              <a:rPr lang="en-US" altLang="zh-CN" sz="1600" kern="100" dirty="0" err="1">
                <a:solidFill>
                  <a:srgbClr val="0000FF"/>
                </a:solidFill>
                <a:latin typeface="Arial" panose="020B0604020202020204" pitchFamily="34" charset="0"/>
              </a:rPr>
              <a:t>width_a</a:t>
            </a: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sum += a[row][</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 * b[</a:t>
            </a:r>
            <a:r>
              <a:rPr lang="en-US" altLang="zh-CN" sz="1600" kern="100" dirty="0" err="1">
                <a:solidFill>
                  <a:srgbClr val="0000FF"/>
                </a:solidFill>
                <a:latin typeface="Arial" panose="020B0604020202020204" pitchFamily="34" charset="0"/>
              </a:rPr>
              <a:t>i</a:t>
            </a:r>
            <a:r>
              <a:rPr lang="en-US" altLang="zh-CN" sz="1600" kern="100" dirty="0">
                <a:solidFill>
                  <a:srgbClr val="0000FF"/>
                </a:solidFill>
                <a:latin typeface="Arial" panose="020B0604020202020204" pitchFamily="34" charset="0"/>
              </a:rPr>
              <a:t>][col];</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endParaRPr lang="en-US" altLang="zh-CN" sz="1600" kern="100" dirty="0">
              <a:solidFill>
                <a:srgbClr val="0000FF"/>
              </a:solidFill>
              <a:latin typeface="Arial" panose="020B0604020202020204" pitchFamily="34" charset="0"/>
            </a:endParaRP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c[index] = sum;</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clock_t</a:t>
            </a:r>
            <a:r>
              <a:rPr lang="en-US" altLang="zh-CN" sz="1600" kern="100" dirty="0">
                <a:solidFill>
                  <a:srgbClr val="0000FF"/>
                </a:solidFill>
                <a:latin typeface="Arial" panose="020B0604020202020204" pitchFamily="34" charset="0"/>
              </a:rPr>
              <a:t> finish = clock();</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  </a:t>
            </a:r>
            <a:r>
              <a:rPr lang="en-US" altLang="zh-CN" sz="1600" kern="100" dirty="0" err="1">
                <a:solidFill>
                  <a:srgbClr val="0000FF"/>
                </a:solidFill>
                <a:latin typeface="Arial" panose="020B0604020202020204" pitchFamily="34" charset="0"/>
              </a:rPr>
              <a:t>cout</a:t>
            </a:r>
            <a:r>
              <a:rPr lang="en-US" altLang="zh-CN" sz="1600" kern="100" dirty="0">
                <a:solidFill>
                  <a:srgbClr val="0000FF"/>
                </a:solidFill>
                <a:latin typeface="Arial" panose="020B0604020202020204" pitchFamily="34" charset="0"/>
              </a:rPr>
              <a:t> &lt;&lt; "Run time:" &lt;&lt; (double)(finish - start) / CLOCKS_PER_SEC &lt;&lt; "\n";</a:t>
            </a:r>
          </a:p>
          <a:p>
            <a:pPr marL="0" indent="0" eaLnBrk="1" hangingPunct="1">
              <a:spcBef>
                <a:spcPts val="100"/>
              </a:spcBef>
              <a:buFont typeface="Wingdings" panose="05000000000000000000" pitchFamily="2" charset="2"/>
              <a:buNone/>
              <a:defRPr/>
            </a:pPr>
            <a:r>
              <a:rPr lang="en-US" altLang="zh-CN" sz="1600" kern="100" dirty="0">
                <a:solidFill>
                  <a:srgbClr val="0000FF"/>
                </a:solidFill>
                <a:latin typeface="Arial" panose="020B0604020202020204" pitchFamily="34" charset="0"/>
              </a:rPr>
              <a:t>}</a:t>
            </a:r>
          </a:p>
        </p:txBody>
      </p:sp>
    </p:spTree>
    <p:extLst>
      <p:ext uri="{BB962C8B-B14F-4D97-AF65-F5344CB8AC3E}">
        <p14:creationId xmlns:p14="http://schemas.microsoft.com/office/powerpoint/2010/main" val="359173188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B7776-983D-4A06-90AC-72FEB4507E80}"/>
              </a:ext>
            </a:extLst>
          </p:cNvPr>
          <p:cNvSpPr>
            <a:spLocks noGrp="1"/>
          </p:cNvSpPr>
          <p:nvPr>
            <p:ph type="title"/>
          </p:nvPr>
        </p:nvSpPr>
        <p:spPr/>
        <p:txBody>
          <a:bodyPr/>
          <a:lstStyle/>
          <a:p>
            <a:r>
              <a:rPr lang="zh-CN" altLang="en-US" dirty="0"/>
              <a:t>矩阵相加测试结果</a:t>
            </a:r>
          </a:p>
        </p:txBody>
      </p:sp>
      <p:sp>
        <p:nvSpPr>
          <p:cNvPr id="3" name="内容占位符 2">
            <a:extLst>
              <a:ext uri="{FF2B5EF4-FFF2-40B4-BE49-F238E27FC236}">
                <a16:creationId xmlns:a16="http://schemas.microsoft.com/office/drawing/2014/main" id="{678A3E18-BAC7-44F2-A237-64DF71673F26}"/>
              </a:ext>
            </a:extLst>
          </p:cNvPr>
          <p:cNvSpPr>
            <a:spLocks noGrp="1"/>
          </p:cNvSpPr>
          <p:nvPr>
            <p:ph idx="1"/>
          </p:nvPr>
        </p:nvSpPr>
        <p:spPr/>
        <p:txBody>
          <a:bodyPr/>
          <a:lstStyle/>
          <a:p>
            <a:r>
              <a:rPr lang="en-US" altLang="zh-CN" dirty="0"/>
              <a:t>CPU</a:t>
            </a:r>
            <a:r>
              <a:rPr lang="zh-CN" altLang="en-US" dirty="0"/>
              <a:t>：</a:t>
            </a:r>
            <a:r>
              <a:rPr lang="en-US" altLang="zh-CN" dirty="0"/>
              <a:t>Intel i7-7Y75</a:t>
            </a:r>
            <a:br>
              <a:rPr lang="en-US" altLang="zh-CN" dirty="0"/>
            </a:br>
            <a:r>
              <a:rPr lang="en-US" altLang="zh-CN" dirty="0"/>
              <a:t>GPU</a:t>
            </a:r>
            <a:r>
              <a:rPr lang="zh-CN" altLang="en-US" dirty="0"/>
              <a:t>：核显</a:t>
            </a:r>
            <a:r>
              <a:rPr lang="en-US" altLang="zh-CN" dirty="0"/>
              <a:t>HD Graphics 615 </a:t>
            </a:r>
          </a:p>
          <a:p>
            <a:r>
              <a:rPr lang="zh-CN" altLang="en-US" dirty="0"/>
              <a:t>矩阵规模：</a:t>
            </a:r>
            <a:r>
              <a:rPr lang="en-US" altLang="zh-CN" dirty="0"/>
              <a:t>A 512*1024</a:t>
            </a:r>
            <a:r>
              <a:rPr lang="zh-CN" altLang="en-US" dirty="0"/>
              <a:t>，</a:t>
            </a:r>
            <a:r>
              <a:rPr lang="en-US" altLang="zh-CN" dirty="0"/>
              <a:t>B 1024*2048</a:t>
            </a:r>
          </a:p>
          <a:p>
            <a:r>
              <a:rPr lang="en-US" altLang="zh-CN" dirty="0"/>
              <a:t>CPU</a:t>
            </a:r>
            <a:r>
              <a:rPr lang="zh-CN" altLang="en-US" dirty="0"/>
              <a:t>：</a:t>
            </a:r>
            <a:r>
              <a:rPr lang="en-US" altLang="zh-CN" dirty="0"/>
              <a:t>0.37s</a:t>
            </a:r>
          </a:p>
          <a:p>
            <a:r>
              <a:rPr lang="en-US" altLang="zh-CN" dirty="0"/>
              <a:t>GPU</a:t>
            </a:r>
            <a:r>
              <a:rPr lang="zh-CN" altLang="en-US" dirty="0"/>
              <a:t>：</a:t>
            </a:r>
            <a:r>
              <a:rPr lang="en-US" altLang="zh-CN"/>
              <a:t>0.21s</a:t>
            </a:r>
            <a:endParaRPr lang="en-US" altLang="zh-CN" dirty="0"/>
          </a:p>
        </p:txBody>
      </p:sp>
    </p:spTree>
    <p:extLst>
      <p:ext uri="{BB962C8B-B14F-4D97-AF65-F5344CB8AC3E}">
        <p14:creationId xmlns:p14="http://schemas.microsoft.com/office/powerpoint/2010/main" val="223298230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9B7776-983D-4A06-90AC-72FEB4507E80}"/>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678A3E18-BAC7-44F2-A237-64DF71673F26}"/>
              </a:ext>
            </a:extLst>
          </p:cNvPr>
          <p:cNvSpPr>
            <a:spLocks noGrp="1"/>
          </p:cNvSpPr>
          <p:nvPr>
            <p:ph idx="1"/>
          </p:nvPr>
        </p:nvSpPr>
        <p:spPr/>
        <p:txBody>
          <a:bodyPr/>
          <a:lstStyle/>
          <a:p>
            <a:r>
              <a:rPr lang="en-US" altLang="zh-CN" b="1" dirty="0"/>
              <a:t>DPC++</a:t>
            </a:r>
            <a:r>
              <a:rPr lang="zh-CN" altLang="en-US" dirty="0">
                <a:latin typeface="黑体" panose="02010609060101010101" pitchFamily="49" charset="-122"/>
                <a:ea typeface="黑体" panose="02010609060101010101" pitchFamily="49" charset="-122"/>
              </a:rPr>
              <a:t>是一种基于标准</a:t>
            </a:r>
            <a:r>
              <a:rPr lang="zh-CN" altLang="en-US" dirty="0"/>
              <a:t>、跨架构的语言，跨</a:t>
            </a:r>
            <a:r>
              <a:rPr lang="en-US" altLang="zh-CN" dirty="0"/>
              <a:t>CPU</a:t>
            </a:r>
            <a:r>
              <a:rPr lang="zh-CN" altLang="en-US" dirty="0"/>
              <a:t>和加速器提供不妥协的生产率和性能</a:t>
            </a:r>
            <a:endParaRPr lang="en-US" altLang="zh-CN" dirty="0"/>
          </a:p>
          <a:p>
            <a:pPr lvl="1"/>
            <a:r>
              <a:rPr lang="zh-CN" altLang="en-US" dirty="0"/>
              <a:t>相对于</a:t>
            </a:r>
            <a:r>
              <a:rPr lang="en-US" altLang="zh-CN" dirty="0"/>
              <a:t>SYCL</a:t>
            </a:r>
            <a:r>
              <a:rPr lang="zh-CN" altLang="en-US" dirty="0"/>
              <a:t>标准扩展了一些新特性</a:t>
            </a:r>
            <a:endParaRPr lang="en-US" altLang="zh-CN" dirty="0"/>
          </a:p>
          <a:p>
            <a:r>
              <a:rPr lang="zh-CN" altLang="en-US" dirty="0"/>
              <a:t>新特性是通过一个</a:t>
            </a:r>
            <a:r>
              <a:rPr lang="zh-CN" altLang="en-US" dirty="0">
                <a:latin typeface="黑体" panose="02010609060101010101" pitchFamily="49" charset="-122"/>
                <a:ea typeface="黑体" panose="02010609060101010101" pitchFamily="49" charset="-122"/>
              </a:rPr>
              <a:t>社区项目</a:t>
            </a:r>
            <a:r>
              <a:rPr lang="zh-CN" altLang="en-US" dirty="0"/>
              <a:t>开发的</a:t>
            </a:r>
            <a:endParaRPr lang="en-US" altLang="zh-CN" dirty="0"/>
          </a:p>
          <a:p>
            <a:pPr lvl="1"/>
            <a:r>
              <a:rPr lang="en-US" altLang="zh-CN" sz="2800" dirty="0"/>
              <a:t>https://github.com/intel/llvm</a:t>
            </a:r>
            <a:endParaRPr lang="zh-CN" altLang="en-US" dirty="0"/>
          </a:p>
        </p:txBody>
      </p:sp>
    </p:spTree>
    <p:extLst>
      <p:ext uri="{BB962C8B-B14F-4D97-AF65-F5344CB8AC3E}">
        <p14:creationId xmlns:p14="http://schemas.microsoft.com/office/powerpoint/2010/main" val="3639691424"/>
      </p:ext>
    </p:extLst>
  </p:cSld>
  <p:clrMapOvr>
    <a:masterClrMapping/>
  </p:clrMapOvr>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3333CC"/>
      </a:accent2>
      <a:accent3>
        <a:srgbClr val="FFFFFF"/>
      </a:accent3>
      <a:accent4>
        <a:srgbClr val="000000"/>
      </a:accent4>
      <a:accent5>
        <a:srgbClr val="AAEFD1"/>
      </a:accent5>
      <a:accent6>
        <a:srgbClr val="2D2DB9"/>
      </a:accent6>
      <a:hlink>
        <a:srgbClr val="FF0000"/>
      </a:hlink>
      <a:folHlink>
        <a:srgbClr val="3333CC"/>
      </a:folHlink>
    </a:clrScheme>
    <a:fontScheme name="Blends">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spDef>
    <a:lnDef>
      <a:spPr bwMode="auto">
        <a:xfrm>
          <a:off x="0" y="0"/>
          <a:ext cx="1" cy="1"/>
        </a:xfrm>
        <a:custGeom>
          <a:avLst/>
          <a:gdLst/>
          <a:ahLst/>
          <a:cxnLst/>
          <a:rect l="0" t="0" r="0" b="0"/>
          <a:pathLst/>
        </a:custGeom>
        <a:solidFill>
          <a:srgbClr val="FFCF01"/>
        </a:solidFill>
        <a:ln w="9525" cap="flat" cmpd="sng" algn="ctr">
          <a:no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ahoma" panose="020B0604030504040204"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1238</TotalTime>
  <Words>16816</Words>
  <Application>Microsoft Office PowerPoint</Application>
  <PresentationFormat>全屏显示(4:3)</PresentationFormat>
  <Paragraphs>1809</Paragraphs>
  <Slides>192</Slides>
  <Notes>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192</vt:i4>
      </vt:variant>
    </vt:vector>
  </HeadingPairs>
  <TitlesOfParts>
    <vt:vector size="210" baseType="lpstr">
      <vt:lpstr>Arial Unicode MS</vt:lpstr>
      <vt:lpstr>Eurostile</vt:lpstr>
      <vt:lpstr>Helvetica Neue Medium</vt:lpstr>
      <vt:lpstr>Intel Clear</vt:lpstr>
      <vt:lpstr>Intel Clear Light</vt:lpstr>
      <vt:lpstr>PingFang SC</vt:lpstr>
      <vt:lpstr>黑体</vt:lpstr>
      <vt:lpstr>宋体</vt:lpstr>
      <vt:lpstr>微软雅黑</vt:lpstr>
      <vt:lpstr>Arial</vt:lpstr>
      <vt:lpstr>Comic Sans MS</vt:lpstr>
      <vt:lpstr>Consolas</vt:lpstr>
      <vt:lpstr>Symbol</vt:lpstr>
      <vt:lpstr>Tahoma</vt:lpstr>
      <vt:lpstr>Times New Roman</vt:lpstr>
      <vt:lpstr>Wingdings</vt:lpstr>
      <vt:lpstr>Blends</vt:lpstr>
      <vt:lpstr>Equation</vt:lpstr>
      <vt:lpstr>并行算法设计与分析</vt:lpstr>
      <vt:lpstr>提纲</vt:lpstr>
      <vt:lpstr>提纲</vt:lpstr>
      <vt:lpstr>并行算法设计</vt:lpstr>
      <vt:lpstr>设计一个并行算法</vt:lpstr>
      <vt:lpstr>竞争条件与数据依赖</vt:lpstr>
      <vt:lpstr>一个简单的例子</vt:lpstr>
      <vt:lpstr>版本1：计算任务划分</vt:lpstr>
      <vt:lpstr>发生了什么？</vt:lpstr>
      <vt:lpstr>版本2：加锁</vt:lpstr>
      <vt:lpstr>版本3：粗粒度</vt:lpstr>
      <vt:lpstr>版本4：消除锁</vt:lpstr>
      <vt:lpstr>同步方法：障碍</vt:lpstr>
      <vt:lpstr>版本5：消除锁，但增加障碍</vt:lpstr>
      <vt:lpstr>版本6：多核并行求全局和</vt:lpstr>
      <vt:lpstr>求和例子的总结</vt:lpstr>
      <vt:lpstr>提纲</vt:lpstr>
      <vt:lpstr>如何设计并行程序</vt:lpstr>
      <vt:lpstr>教授P批改试卷</vt:lpstr>
      <vt:lpstr>教授P有三位助教</vt:lpstr>
      <vt:lpstr>工作分配——数据划分</vt:lpstr>
      <vt:lpstr>工作分配——任务划分</vt:lpstr>
      <vt:lpstr>商品购买频率统计</vt:lpstr>
      <vt:lpstr>划分输出数据</vt:lpstr>
      <vt:lpstr>划分输入数据</vt:lpstr>
      <vt:lpstr>同时划分输入输出数据</vt:lpstr>
      <vt:lpstr>提纲</vt:lpstr>
      <vt:lpstr>递归分解</vt:lpstr>
      <vt:lpstr>例3.4  快速排序</vt:lpstr>
      <vt:lpstr>例：求最小元</vt:lpstr>
      <vt:lpstr>例：求最小元（续）</vt:lpstr>
      <vt:lpstr>例：求最小元（续）</vt:lpstr>
      <vt:lpstr>搜索分解</vt:lpstr>
      <vt:lpstr>15数码任务分解</vt:lpstr>
      <vt:lpstr>15数码任务分解图示</vt:lpstr>
      <vt:lpstr>与数据分解的区别</vt:lpstr>
      <vt:lpstr>更多任务分解例：数据库查询</vt:lpstr>
      <vt:lpstr>一种任务分解方法</vt:lpstr>
      <vt:lpstr>另一种任务分解</vt:lpstr>
      <vt:lpstr>Ian Foster的方法学</vt:lpstr>
      <vt:lpstr>通信优化</vt:lpstr>
      <vt:lpstr>最小化冲突和热点：矩阵相乘</vt:lpstr>
      <vt:lpstr>解决冲突方法</vt:lpstr>
      <vt:lpstr>通信与通信重叠</vt:lpstr>
      <vt:lpstr>提纲</vt:lpstr>
      <vt:lpstr>并行算法分析</vt:lpstr>
      <vt:lpstr>并行程序设计的复杂性</vt:lpstr>
      <vt:lpstr>并行算法额外开销</vt:lpstr>
      <vt:lpstr>并行算法额外开销（续）</vt:lpstr>
      <vt:lpstr>性能评价标准</vt:lpstr>
      <vt:lpstr>例：n个数相加，n个进程</vt:lpstr>
      <vt:lpstr>例：（续）</vt:lpstr>
      <vt:lpstr>例：（续）</vt:lpstr>
      <vt:lpstr>加速比</vt:lpstr>
      <vt:lpstr>加速比的计算</vt:lpstr>
      <vt:lpstr>cache引起的超线性加速</vt:lpstr>
      <vt:lpstr>搜索分解导致超线性</vt:lpstr>
      <vt:lpstr>提纲</vt:lpstr>
      <vt:lpstr>固定规模问题的加速比模型</vt:lpstr>
      <vt:lpstr>Amdahl模型图示</vt:lpstr>
      <vt:lpstr>扩充问题规模加速比</vt:lpstr>
      <vt:lpstr>Gustafson模型图示</vt:lpstr>
      <vt:lpstr>效率</vt:lpstr>
      <vt:lpstr>代价</vt:lpstr>
      <vt:lpstr>代价最优</vt:lpstr>
      <vt:lpstr>非代价最优算法的性能</vt:lpstr>
      <vt:lpstr>粒度对性能的影响</vt:lpstr>
      <vt:lpstr>p个处理器累加n个数</vt:lpstr>
      <vt:lpstr>p个处理器累加n个数</vt:lpstr>
      <vt:lpstr>p个处理器累加n个数</vt:lpstr>
      <vt:lpstr>p个处理器累加n个数</vt:lpstr>
      <vt:lpstr>n数相加代价最优算法</vt:lpstr>
      <vt:lpstr>n数相加代价最优算法</vt:lpstr>
      <vt:lpstr>可扩展性（scalability）</vt:lpstr>
      <vt:lpstr>例：快速傅里叶变换</vt:lpstr>
      <vt:lpstr>例：（续）</vt:lpstr>
      <vt:lpstr>并行算法的可扩展性</vt:lpstr>
      <vt:lpstr>例：求和</vt:lpstr>
      <vt:lpstr>效率恒定</vt:lpstr>
      <vt:lpstr>可扩展性的度量</vt:lpstr>
      <vt:lpstr>问题规模</vt:lpstr>
      <vt:lpstr>问题规模的精确定义</vt:lpstr>
      <vt:lpstr>等效率函数</vt:lpstr>
      <vt:lpstr>等效率函数</vt:lpstr>
      <vt:lpstr>例5.14</vt:lpstr>
      <vt:lpstr>提纲</vt:lpstr>
      <vt:lpstr>提纲</vt:lpstr>
      <vt:lpstr>什么是Data Parallel C++？</vt:lpstr>
      <vt:lpstr>DPC++扩展了SYCL标准</vt:lpstr>
      <vt:lpstr>DPC++程序结构</vt:lpstr>
      <vt:lpstr>SYCL中的类</vt:lpstr>
      <vt:lpstr>Device Selector</vt:lpstr>
      <vt:lpstr>Queue</vt:lpstr>
      <vt:lpstr>选择在哪执行设备kernel</vt:lpstr>
      <vt:lpstr>Kernel</vt:lpstr>
      <vt:lpstr>DPC++语言和运行时</vt:lpstr>
      <vt:lpstr>并行kernel</vt:lpstr>
      <vt:lpstr>基本并行kernel</vt:lpstr>
      <vt:lpstr>内存模型</vt:lpstr>
      <vt:lpstr>统一共享内存</vt:lpstr>
      <vt:lpstr>缓冲内存模型</vt:lpstr>
      <vt:lpstr>DPC++代码解剖</vt:lpstr>
      <vt:lpstr>DPC++代码解剖</vt:lpstr>
      <vt:lpstr>自定义设备选择器</vt:lpstr>
      <vt:lpstr>缓冲内存进阶——异步执行</vt:lpstr>
      <vt:lpstr>异步执行</vt:lpstr>
      <vt:lpstr>异步执行</vt:lpstr>
      <vt:lpstr>执行图调度</vt:lpstr>
      <vt:lpstr>写后读</vt:lpstr>
      <vt:lpstr>读后写与写后写</vt:lpstr>
      <vt:lpstr>缓冲内存同步——主机访问器</vt:lpstr>
      <vt:lpstr>主机访问器示例</vt:lpstr>
      <vt:lpstr>另一种同步——缓冲析构</vt:lpstr>
      <vt:lpstr>DPC++=C+++SYCL+扩展</vt:lpstr>
      <vt:lpstr>DPC++代码简化</vt:lpstr>
      <vt:lpstr>统一共享内存</vt:lpstr>
      <vt:lpstr>统一共享内存</vt:lpstr>
      <vt:lpstr>SYCL缓冲方法</vt:lpstr>
      <vt:lpstr>SYCL缓冲方法</vt:lpstr>
      <vt:lpstr>创建缓冲</vt:lpstr>
      <vt:lpstr>创建缓冲示例</vt:lpstr>
      <vt:lpstr>use_host_ptr</vt:lpstr>
      <vt:lpstr>set_final_data</vt:lpstr>
      <vt:lpstr>set_write_back</vt:lpstr>
      <vt:lpstr>sub_buffer</vt:lpstr>
      <vt:lpstr>sub_buffer例</vt:lpstr>
      <vt:lpstr>统一共享内存</vt:lpstr>
      <vt:lpstr>为什么使用USM？</vt:lpstr>
      <vt:lpstr>USM</vt:lpstr>
      <vt:lpstr>USM—显式数据传输</vt:lpstr>
      <vt:lpstr>USM—隐式内存传输</vt:lpstr>
      <vt:lpstr>USM—任务中的数据依赖</vt:lpstr>
      <vt:lpstr>USM—任务中的数据依赖</vt:lpstr>
      <vt:lpstr>USM—任务中的数据依赖</vt:lpstr>
      <vt:lpstr>USM—任务中的数据依赖</vt:lpstr>
      <vt:lpstr>USM—任务中的数据依赖</vt:lpstr>
      <vt:lpstr>线性依赖链式图与Y型图</vt:lpstr>
      <vt:lpstr>线性依赖：使用in-order队列</vt:lpstr>
      <vt:lpstr>线性依赖：使用event</vt:lpstr>
      <vt:lpstr>线性依赖：使用缓冲和访问器</vt:lpstr>
      <vt:lpstr>Y型图：使用in-order队列</vt:lpstr>
      <vt:lpstr>Y型图：使用event</vt:lpstr>
      <vt:lpstr>Y型图：使用缓冲和访问器</vt:lpstr>
      <vt:lpstr>ND-Range Kernel</vt:lpstr>
      <vt:lpstr>ND-Range Kernel</vt:lpstr>
      <vt:lpstr>Sub Group</vt:lpstr>
      <vt:lpstr>如何映射到硬件</vt:lpstr>
      <vt:lpstr>ND_Range Kernel的执行</vt:lpstr>
      <vt:lpstr>小组</vt:lpstr>
      <vt:lpstr>小组</vt:lpstr>
      <vt:lpstr>指定小组大小</vt:lpstr>
      <vt:lpstr>小组</vt:lpstr>
      <vt:lpstr>小组</vt:lpstr>
      <vt:lpstr>SYCL中的Reduction</vt:lpstr>
      <vt:lpstr>Reduction</vt:lpstr>
      <vt:lpstr>简单归约</vt:lpstr>
      <vt:lpstr>并行化归约</vt:lpstr>
      <vt:lpstr>工作组归约</vt:lpstr>
      <vt:lpstr>kernel归约</vt:lpstr>
      <vt:lpstr>Kernel归约支持USM和缓冲</vt:lpstr>
      <vt:lpstr>单kernel中的多归约</vt:lpstr>
      <vt:lpstr>DPC++库</vt:lpstr>
      <vt:lpstr>并行STL</vt:lpstr>
      <vt:lpstr>用并行STL简化编程</vt:lpstr>
      <vt:lpstr>用并行STL简化编程（续）</vt:lpstr>
      <vt:lpstr>完整并行STL例子</vt:lpstr>
      <vt:lpstr>并行STL工作机制</vt:lpstr>
      <vt:lpstr>多个并行STL调用</vt:lpstr>
      <vt:lpstr>缓冲迭代器</vt:lpstr>
      <vt:lpstr>DPC++库结合USM指针</vt:lpstr>
      <vt:lpstr>DPC++库结合USM分配器</vt:lpstr>
      <vt:lpstr>扩展API</vt:lpstr>
      <vt:lpstr>reduce_by_segment</vt:lpstr>
      <vt:lpstr>inclusive_scan_by_segment</vt:lpstr>
      <vt:lpstr>exclusive_scan_by_segment</vt:lpstr>
      <vt:lpstr>binary_search</vt:lpstr>
      <vt:lpstr>lower_bound</vt:lpstr>
      <vt:lpstr>upper_bound</vt:lpstr>
      <vt:lpstr>counting_iterator</vt:lpstr>
      <vt:lpstr>zip_iterator</vt:lpstr>
      <vt:lpstr>函数对象类</vt:lpstr>
      <vt:lpstr>oneDPL参考资料</vt:lpstr>
      <vt:lpstr>例：矩阵相加buffer版</vt:lpstr>
      <vt:lpstr>例：矩阵相加buffer版（续）</vt:lpstr>
      <vt:lpstr>例：矩阵相加buffer版（续）</vt:lpstr>
      <vt:lpstr>例：矩阵相加USM版</vt:lpstr>
      <vt:lpstr>例：矩阵相加USM版（续）</vt:lpstr>
      <vt:lpstr>矩阵相加测试结果</vt:lpstr>
      <vt:lpstr>例：矩阵相乘</vt:lpstr>
      <vt:lpstr>例：矩阵相乘（续）</vt:lpstr>
      <vt:lpstr>矩阵相加测试结果</vt:lpstr>
      <vt:lpstr>小结</vt:lpstr>
    </vt:vector>
  </TitlesOfParts>
  <Company>南开大学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介绍</dc:title>
  <dc:creator>王刚</dc:creator>
  <cp:lastModifiedBy>刚 王</cp:lastModifiedBy>
  <cp:revision>2700</cp:revision>
  <dcterms:created xsi:type="dcterms:W3CDTF">2023-02-13T12:26:15Z</dcterms:created>
  <dcterms:modified xsi:type="dcterms:W3CDTF">2025-03-13T14:42:07Z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BE008A2F0A7C08896B29EA636DBD0FCC</vt:lpwstr>
  </property>
  <property fmtid="{D5CDD505-2E9C-101B-9397-08002B2CF9AE}" pid="3" name="KSOProductBuildVer">
    <vt:lpwstr>2052-5.1.1.7676</vt:lpwstr>
  </property>
</Properties>
</file>