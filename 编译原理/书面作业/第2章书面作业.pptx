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5715000" cy="9144000" type="screen16x10"/>
  <p:notesSz cx="6858000" cy="9144000"/>
  <p:defaultTextStyle>
    <a:defPPr>
      <a:defRPr lang="zh-CN"/>
    </a:defPPr>
    <a:lvl1pPr marL="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1pPr>
    <a:lvl2pPr marL="35687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2pPr>
    <a:lvl3pPr marL="71310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3pPr>
    <a:lvl4pPr marL="106997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4pPr>
    <a:lvl5pPr marL="142621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6pPr>
    <a:lvl7pPr marL="213995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7pPr>
    <a:lvl8pPr marL="249618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8pPr>
    <a:lvl9pPr marL="285305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7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6080" rtl="0" eaLnBrk="1" latinLnBrk="0" hangingPunct="1">
        <a:lnSpc>
          <a:spcPct val="90000"/>
        </a:lnSpc>
        <a:spcBef>
          <a:spcPct val="0"/>
        </a:spcBef>
        <a:buNone/>
        <a:defRPr sz="18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520" indent="-96520" algn="l" defTabSz="386080" rtl="0" eaLnBrk="1" latinLnBrk="0" hangingPunct="1">
        <a:lnSpc>
          <a:spcPct val="90000"/>
        </a:lnSpc>
        <a:spcBef>
          <a:spcPts val="420"/>
        </a:spcBef>
        <a:buFont typeface="Arial" panose="020B0704020202090204" pitchFamily="34" charset="0"/>
        <a:buChar char="•"/>
        <a:defRPr sz="1180" kern="1200">
          <a:solidFill>
            <a:schemeClr val="tx1"/>
          </a:solidFill>
          <a:latin typeface="+mn-lt"/>
          <a:ea typeface="+mn-ea"/>
          <a:cs typeface="+mn-cs"/>
        </a:defRPr>
      </a:lvl1pPr>
      <a:lvl2pPr marL="28956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70402020209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48196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704020202090204" pitchFamily="34" charset="0"/>
        <a:buChar char="•"/>
        <a:defRPr sz="845" kern="1200">
          <a:solidFill>
            <a:schemeClr val="tx1"/>
          </a:solidFill>
          <a:latin typeface="+mn-lt"/>
          <a:ea typeface="+mn-ea"/>
          <a:cs typeface="+mn-cs"/>
        </a:defRPr>
      </a:lvl3pPr>
      <a:lvl4pPr marL="67500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70402020209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804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70402020209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108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70402020209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49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70402020209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53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70402020209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57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70402020209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304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608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48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56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60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01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18.xml"/><Relationship Id="rId16" Type="http://schemas.openxmlformats.org/officeDocument/2006/relationships/image" Target="../media/image1.png"/><Relationship Id="rId15" Type="http://schemas.openxmlformats.org/officeDocument/2006/relationships/tags" Target="../tags/tag17.xml"/><Relationship Id="rId14" Type="http://schemas.openxmlformats.org/officeDocument/2006/relationships/tags" Target="../tags/tag16.xml"/><Relationship Id="rId13" Type="http://schemas.openxmlformats.org/officeDocument/2006/relationships/tags" Target="../tags/tag15.xml"/><Relationship Id="rId12" Type="http://schemas.openxmlformats.org/officeDocument/2006/relationships/tags" Target="../tags/tag14.xml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34.xml"/><Relationship Id="rId16" Type="http://schemas.openxmlformats.org/officeDocument/2006/relationships/image" Target="../media/image1.png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19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50.xml"/><Relationship Id="rId16" Type="http://schemas.openxmlformats.org/officeDocument/2006/relationships/image" Target="../media/image1.png"/><Relationship Id="rId15" Type="http://schemas.openxmlformats.org/officeDocument/2006/relationships/tags" Target="../tags/tag49.xml"/><Relationship Id="rId14" Type="http://schemas.openxmlformats.org/officeDocument/2006/relationships/tags" Target="../tags/tag48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tags" Target="../tags/tag3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66.xml"/><Relationship Id="rId16" Type="http://schemas.openxmlformats.org/officeDocument/2006/relationships/image" Target="../media/image1.png"/><Relationship Id="rId15" Type="http://schemas.openxmlformats.org/officeDocument/2006/relationships/tags" Target="../tags/tag65.xml"/><Relationship Id="rId14" Type="http://schemas.openxmlformats.org/officeDocument/2006/relationships/tags" Target="../tags/tag64.xml"/><Relationship Id="rId13" Type="http://schemas.openxmlformats.org/officeDocument/2006/relationships/tags" Target="../tags/tag63.xml"/><Relationship Id="rId12" Type="http://schemas.openxmlformats.org/officeDocument/2006/relationships/tags" Target="../tags/tag62.xml"/><Relationship Id="rId11" Type="http://schemas.openxmlformats.org/officeDocument/2006/relationships/tags" Target="../tags/tag61.xml"/><Relationship Id="rId10" Type="http://schemas.openxmlformats.org/officeDocument/2006/relationships/tags" Target="../tags/tag60.xml"/><Relationship Id="rId1" Type="http://schemas.openxmlformats.org/officeDocument/2006/relationships/tags" Target="../tags/tag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章书面作业</a:t>
            </a:r>
            <a:endParaRPr lang="zh-CN" altLang="en-US" dirty="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>
                <a:solidFill>
                  <a:srgbClr val="000000"/>
                </a:solidFill>
              </a:rPr>
              <a:t>总分</a:t>
            </a:r>
            <a:r>
              <a:rPr lang="en-US" altLang="zh-CN" sz="2000">
                <a:solidFill>
                  <a:srgbClr val="000000"/>
                </a:solidFill>
              </a:rPr>
              <a:t>: 2</a:t>
            </a:r>
            <a:endParaRPr lang="zh-CN" altLang="en-US" sz="2000">
              <a:solidFill>
                <a:srgbClr val="0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  <a:endParaRPr lang="zh-CN" altLang="en-US" sz="2000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书面作业要求在纸上手写、拍照（或扫描）后在雨课堂提交图片文件（用平板手写保存图片提交亦可）或</a:t>
            </a:r>
            <a:r>
              <a:rPr lang="en-US" altLang="zh-CN" dirty="0">
                <a:solidFill>
                  <a:srgbClr val="FF0000"/>
                </a:solidFill>
              </a:rPr>
              <a:t>pdf</a:t>
            </a:r>
            <a:r>
              <a:rPr lang="zh-CN" altLang="en-US" dirty="0">
                <a:solidFill>
                  <a:srgbClr val="FF0000"/>
                </a:solidFill>
              </a:rPr>
              <a:t>格式文件，</a:t>
            </a:r>
            <a:r>
              <a:rPr lang="zh-CN" altLang="en-US" b="1" dirty="0">
                <a:solidFill>
                  <a:srgbClr val="FF0000"/>
                </a:solidFill>
              </a:rPr>
              <a:t>每小题分别提交</a:t>
            </a:r>
            <a:r>
              <a:rPr lang="zh-CN" altLang="en-US" dirty="0">
                <a:solidFill>
                  <a:srgbClr val="FF0000"/>
                </a:solidFill>
              </a:rPr>
              <a:t>。老师和助教会在雨课堂圈阅、批注。</a:t>
            </a:r>
            <a:r>
              <a:rPr lang="zh-CN" altLang="en-US" b="1" dirty="0">
                <a:solidFill>
                  <a:srgbClr val="FF0000"/>
                </a:solidFill>
              </a:rPr>
              <a:t>照片一定旋转到正确方向！不要锻炼老师和助教颈椎！凡是提交</a:t>
            </a:r>
            <a:r>
              <a:rPr lang="en-US" altLang="zh-CN" b="1" dirty="0">
                <a:solidFill>
                  <a:srgbClr val="FF0000"/>
                </a:solidFill>
              </a:rPr>
              <a:t>word</a:t>
            </a:r>
            <a:r>
              <a:rPr lang="zh-CN" altLang="en-US" b="1" dirty="0">
                <a:solidFill>
                  <a:srgbClr val="FF0000"/>
                </a:solidFill>
              </a:rPr>
              <a:t>等其他无法直接批阅的格式或图片没有旋转到正确方向的，都会扣分！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书面作业都是要求独立完成。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标记“</a:t>
            </a:r>
            <a:r>
              <a:rPr lang="en-US" altLang="zh-CN" dirty="0"/>
              <a:t>*</a:t>
            </a:r>
            <a:r>
              <a:rPr lang="zh-CN" altLang="en-US" dirty="0"/>
              <a:t>”的小题也是思考题，可思考一下，不要求必做。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zh-CN" dirty="0"/>
              <a:t>、</a:t>
            </a:r>
            <a:r>
              <a:rPr lang="zh-CN" altLang="en-US" dirty="0"/>
              <a:t> （</a:t>
            </a:r>
            <a:r>
              <a:rPr lang="en-US" altLang="zh-CN" dirty="0"/>
              <a:t>0.5</a:t>
            </a:r>
            <a:r>
              <a:rPr lang="zh-CN" altLang="en-US" dirty="0"/>
              <a:t>分）</a:t>
            </a:r>
            <a:r>
              <a:rPr lang="zh-CN" altLang="zh-CN" dirty="0"/>
              <a:t>考虑文法</a:t>
            </a:r>
            <a:endParaRPr lang="zh-CN" altLang="zh-CN" dirty="0"/>
          </a:p>
          <a:p>
            <a:pPr lvl="1"/>
            <a:r>
              <a:rPr lang="en-US" altLang="zh-CN" dirty="0"/>
              <a:t>S</a:t>
            </a:r>
            <a:r>
              <a:rPr lang="zh-CN" altLang="zh-CN" dirty="0"/>
              <a:t>→</a:t>
            </a:r>
            <a:r>
              <a:rPr lang="en-US" altLang="zh-CN" dirty="0"/>
              <a:t>2aA | B3</a:t>
            </a:r>
            <a:endParaRPr lang="zh-CN" altLang="zh-CN" dirty="0"/>
          </a:p>
          <a:p>
            <a:pPr lvl="1"/>
            <a:r>
              <a:rPr lang="en-US" altLang="zh-CN" dirty="0"/>
              <a:t>A</a:t>
            </a:r>
            <a:r>
              <a:rPr lang="zh-CN" altLang="zh-CN" dirty="0"/>
              <a:t>→</a:t>
            </a:r>
            <a:r>
              <a:rPr lang="en-US" altLang="zh-CN" dirty="0" err="1"/>
              <a:t>aS</a:t>
            </a:r>
            <a:r>
              <a:rPr lang="en-US" altLang="zh-CN" dirty="0"/>
              <a:t> | </a:t>
            </a:r>
            <a:r>
              <a:rPr lang="en-US" altLang="zh-CN" dirty="0" err="1"/>
              <a:t>baA</a:t>
            </a:r>
            <a:r>
              <a:rPr lang="en-US" altLang="zh-CN" dirty="0"/>
              <a:t> | </a:t>
            </a:r>
            <a:r>
              <a:rPr lang="en-US" altLang="zh-CN" dirty="0">
                <a:latin typeface="Symbol" panose="05050102010706020507" pitchFamily="18" charset="2"/>
              </a:rPr>
              <a:t>e</a:t>
            </a:r>
            <a:endParaRPr lang="zh-CN" altLang="zh-CN" dirty="0">
              <a:latin typeface="Symbol" panose="05050102010706020507" pitchFamily="18" charset="2"/>
            </a:endParaRPr>
          </a:p>
          <a:p>
            <a:pPr lvl="1"/>
            <a:r>
              <a:rPr lang="en-US" altLang="zh-CN" dirty="0"/>
              <a:t>B</a:t>
            </a:r>
            <a:r>
              <a:rPr lang="zh-CN" altLang="zh-CN" dirty="0"/>
              <a:t>→</a:t>
            </a:r>
            <a:r>
              <a:rPr lang="en-US" altLang="zh-CN" dirty="0"/>
              <a:t>1aAB | </a:t>
            </a:r>
            <a:r>
              <a:rPr lang="en-US" altLang="zh-CN" dirty="0">
                <a:latin typeface="Symbol" panose="05050102010706020507" pitchFamily="18" charset="2"/>
              </a:rPr>
              <a:t>e</a:t>
            </a:r>
            <a:endParaRPr lang="zh-CN" altLang="zh-CN" dirty="0"/>
          </a:p>
          <a:p>
            <a:pPr lvl="1"/>
            <a:endParaRPr lang="zh-CN" altLang="zh-CN" dirty="0"/>
          </a:p>
          <a:p>
            <a:pPr marL="699770" lvl="1" indent="-342900">
              <a:buFont typeface="+mj-lt"/>
              <a:buAutoNum type="alphaLcParenR"/>
            </a:pPr>
            <a:r>
              <a:rPr lang="zh-CN" altLang="zh-CN" dirty="0"/>
              <a:t>给出终结符集、非终结符集和开始符号。</a:t>
            </a:r>
            <a:endParaRPr lang="zh-CN" altLang="zh-CN" dirty="0"/>
          </a:p>
          <a:p>
            <a:pPr marL="699770" lvl="1" indent="-342900">
              <a:buFont typeface="+mj-lt"/>
              <a:buAutoNum type="alphaLcParenR"/>
            </a:pPr>
            <a:r>
              <a:rPr lang="zh-CN" altLang="zh-CN" dirty="0"/>
              <a:t>证明文法可生成符号串</a:t>
            </a:r>
            <a:r>
              <a:rPr lang="en-US" altLang="zh-CN" dirty="0"/>
              <a:t>1abaa2a3</a:t>
            </a:r>
            <a:r>
              <a:rPr lang="zh-CN" altLang="zh-CN" dirty="0"/>
              <a:t>。</a:t>
            </a:r>
            <a:endParaRPr lang="zh-CN" altLang="zh-CN" dirty="0"/>
          </a:p>
          <a:p>
            <a:pPr marL="699770" lvl="1" indent="-342900">
              <a:buFont typeface="+mj-lt"/>
              <a:buAutoNum type="alphaLcParenR"/>
            </a:pPr>
            <a:r>
              <a:rPr lang="zh-CN" altLang="zh-CN" dirty="0"/>
              <a:t>为此符号串构造语法树。</a:t>
            </a:r>
            <a:endParaRPr lang="zh-CN" altLang="zh-CN" dirty="0"/>
          </a:p>
          <a:p>
            <a:endParaRPr lang="en-US" altLang="zh-CN" dirty="0"/>
          </a:p>
          <a:p>
            <a:pPr marL="269875" algn="just">
              <a:spcAft>
                <a:spcPts val="0"/>
              </a:spcAft>
            </a:pPr>
            <a:endParaRPr lang="zh-CN" altLang="zh-CN" sz="1600" kern="100" dirty="0">
              <a:latin typeface="等线" panose="02010600030101010101" pitchFamily="2" charset="-122"/>
              <a:cs typeface="Times New Roman" panose="02020803070505020304" pitchFamily="18" charset="0"/>
            </a:endParaRPr>
          </a:p>
          <a:p>
            <a:endParaRPr lang="en-US" altLang="zh-CN" dirty="0"/>
          </a:p>
        </p:txBody>
      </p:sp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5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 hidden="1"/>
          <p:cNvSpPr/>
          <p:nvPr>
            <p:custDataLst>
              <p:tags r:id="rId3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/>
          <p:cNvSpPr txBox="1"/>
          <p:nvPr>
            <p:custDataLst>
              <p:tags r:id="rId4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  <a:endParaRPr lang="zh-CN" altLang="en-US" sz="12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文本框 17" hidden="1"/>
          <p:cNvSpPr txBox="1"/>
          <p:nvPr>
            <p:custDataLst>
              <p:tags r:id="rId5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  <a:endParaRPr lang="zh-CN" altLang="en-US" sz="20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6" name="组合 15" hidden="1"/>
          <p:cNvGrpSpPr/>
          <p:nvPr>
            <p:custDataLst>
              <p:tags r:id="rId6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/>
            <p:cNvSpPr/>
            <p:nvPr>
              <p:custDataLst>
                <p:tags r:id="rId7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/>
            <p:cNvSpPr/>
            <p:nvPr>
              <p:custDataLst>
                <p:tags r:id="rId8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/>
            <p:cNvSpPr txBox="1"/>
            <p:nvPr>
              <p:custDataLst>
                <p:tags r:id="rId9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  <a:endPara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9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0.5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r>
              <a:rPr lang="en-US" altLang="zh-CN" dirty="0"/>
              <a:t>2</a:t>
            </a:r>
            <a:r>
              <a:rPr lang="zh-CN" altLang="zh-CN" dirty="0"/>
              <a:t>、</a:t>
            </a:r>
            <a:r>
              <a:rPr lang="zh-CN" altLang="en-US" dirty="0"/>
              <a:t> （</a:t>
            </a:r>
            <a:r>
              <a:rPr lang="en-US" altLang="zh-CN" dirty="0"/>
              <a:t>0.5</a:t>
            </a:r>
            <a:r>
              <a:rPr lang="zh-CN" altLang="en-US" dirty="0"/>
              <a:t>分）</a:t>
            </a:r>
            <a:r>
              <a:rPr lang="zh-CN" altLang="zh-CN" dirty="0"/>
              <a:t>下列文法生成什么样的语言？是否有二义性？</a:t>
            </a:r>
            <a:r>
              <a:rPr lang="en-US" altLang="zh-CN" dirty="0"/>
              <a:t> </a:t>
            </a:r>
            <a:endParaRPr lang="zh-CN" altLang="zh-CN" dirty="0"/>
          </a:p>
          <a:p>
            <a:pPr lvl="1"/>
            <a:r>
              <a:rPr lang="en-US" altLang="zh-CN" dirty="0"/>
              <a:t>a) L </a:t>
            </a:r>
            <a:r>
              <a:rPr lang="zh-CN" altLang="zh-CN" dirty="0"/>
              <a:t>→ </a:t>
            </a:r>
            <a:r>
              <a:rPr lang="en-US" altLang="zh-CN" dirty="0"/>
              <a:t>L ∪ L | LL | L * | (L) | a</a:t>
            </a:r>
            <a:endParaRPr lang="zh-CN" altLang="zh-CN" dirty="0"/>
          </a:p>
          <a:p>
            <a:pPr lvl="1"/>
            <a:r>
              <a:rPr lang="en-US" altLang="zh-CN" dirty="0"/>
              <a:t>b* </a:t>
            </a:r>
            <a:r>
              <a:rPr lang="zh-CN" altLang="en-US" dirty="0"/>
              <a:t>非必做</a:t>
            </a:r>
            <a:r>
              <a:rPr lang="en-US" altLang="zh-CN" dirty="0"/>
              <a:t>) B </a:t>
            </a:r>
            <a:r>
              <a:rPr lang="zh-CN" altLang="zh-CN" dirty="0"/>
              <a:t>→ </a:t>
            </a:r>
            <a:r>
              <a:rPr lang="en-US" altLang="zh-CN" dirty="0"/>
              <a:t>B ‘&amp;’ B | B ‘|’ B | ‘~’ B | (B) | 0 | 1</a:t>
            </a:r>
            <a:endParaRPr lang="zh-CN" altLang="zh-CN" dirty="0"/>
          </a:p>
          <a:p>
            <a:pPr marL="269875" algn="just">
              <a:spcAft>
                <a:spcPts val="0"/>
              </a:spcAft>
            </a:pPr>
            <a:endParaRPr lang="en-US" altLang="zh-CN" sz="1600" kern="100" dirty="0">
              <a:latin typeface="等线" panose="02010600030101010101" pitchFamily="2" charset="-122"/>
              <a:cs typeface="Times New Roman" panose="02020803070505020304" pitchFamily="18" charset="0"/>
            </a:endParaRPr>
          </a:p>
          <a:p>
            <a:endParaRPr lang="en-US" altLang="zh-CN" dirty="0"/>
          </a:p>
        </p:txBody>
      </p:sp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5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 hidden="1"/>
          <p:cNvSpPr/>
          <p:nvPr>
            <p:custDataLst>
              <p:tags r:id="rId3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/>
          <p:cNvSpPr txBox="1"/>
          <p:nvPr>
            <p:custDataLst>
              <p:tags r:id="rId4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  <a:endParaRPr lang="zh-CN" altLang="en-US" sz="12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文本框 17" hidden="1"/>
          <p:cNvSpPr txBox="1"/>
          <p:nvPr>
            <p:custDataLst>
              <p:tags r:id="rId5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  <a:endParaRPr lang="zh-CN" altLang="en-US" sz="20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6" name="组合 15" hidden="1"/>
          <p:cNvGrpSpPr/>
          <p:nvPr>
            <p:custDataLst>
              <p:tags r:id="rId6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/>
            <p:cNvSpPr/>
            <p:nvPr>
              <p:custDataLst>
                <p:tags r:id="rId7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/>
            <p:cNvSpPr/>
            <p:nvPr>
              <p:custDataLst>
                <p:tags r:id="rId8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/>
            <p:cNvSpPr txBox="1"/>
            <p:nvPr>
              <p:custDataLst>
                <p:tags r:id="rId9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  <a:endPara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9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0.5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90500" y="1310004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r>
              <a:rPr lang="en-US" altLang="zh-CN" dirty="0"/>
              <a:t>3</a:t>
            </a:r>
            <a:r>
              <a:rPr lang="zh-CN" altLang="zh-CN" dirty="0"/>
              <a:t>、</a:t>
            </a:r>
            <a:r>
              <a:rPr lang="zh-CN" altLang="en-US" dirty="0"/>
              <a:t> （</a:t>
            </a:r>
            <a:r>
              <a:rPr lang="en-US" altLang="zh-CN" dirty="0"/>
              <a:t>0.5</a:t>
            </a:r>
            <a:r>
              <a:rPr lang="zh-CN" altLang="en-US" dirty="0"/>
              <a:t>分）</a:t>
            </a:r>
            <a:r>
              <a:rPr lang="zh-CN" altLang="zh-CN" dirty="0"/>
              <a:t>为下列语言构造非二义性的上下文无关文法</a:t>
            </a:r>
            <a:endParaRPr lang="zh-CN" altLang="zh-CN" dirty="0"/>
          </a:p>
          <a:p>
            <a:pPr lvl="1"/>
            <a:r>
              <a:rPr lang="en-US" altLang="zh-CN" dirty="0"/>
              <a:t>a) </a:t>
            </a:r>
            <a:r>
              <a:rPr lang="zh-CN" altLang="zh-CN" dirty="0"/>
              <a:t>以</a:t>
            </a:r>
            <a:r>
              <a:rPr lang="en-US" altLang="zh-CN" dirty="0"/>
              <a:t>‘,’</a:t>
            </a:r>
            <a:r>
              <a:rPr lang="zh-CN" altLang="zh-CN" dirty="0"/>
              <a:t>间隔的右结合的标识符列表</a:t>
            </a:r>
            <a:endParaRPr lang="zh-CN" altLang="zh-CN" dirty="0"/>
          </a:p>
          <a:p>
            <a:pPr lvl="1"/>
            <a:r>
              <a:rPr lang="en-US" altLang="zh-CN" dirty="0"/>
              <a:t>b* </a:t>
            </a:r>
            <a:r>
              <a:rPr lang="zh-CN" altLang="en-US" dirty="0"/>
              <a:t>非必做</a:t>
            </a:r>
            <a:r>
              <a:rPr lang="en-US" altLang="zh-CN" dirty="0"/>
              <a:t>) </a:t>
            </a:r>
            <a:r>
              <a:rPr lang="zh-CN" altLang="zh-CN" dirty="0"/>
              <a:t>前缀表示的算术表达式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</p:txBody>
      </p:sp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5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 hidden="1"/>
          <p:cNvSpPr/>
          <p:nvPr>
            <p:custDataLst>
              <p:tags r:id="rId3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/>
          <p:cNvSpPr txBox="1"/>
          <p:nvPr>
            <p:custDataLst>
              <p:tags r:id="rId4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  <a:endParaRPr lang="zh-CN" altLang="en-US" sz="12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文本框 17" hidden="1"/>
          <p:cNvSpPr txBox="1"/>
          <p:nvPr>
            <p:custDataLst>
              <p:tags r:id="rId5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  <a:endParaRPr lang="zh-CN" altLang="en-US" sz="20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6" name="组合 15" hidden="1"/>
          <p:cNvGrpSpPr/>
          <p:nvPr>
            <p:custDataLst>
              <p:tags r:id="rId6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/>
            <p:cNvSpPr/>
            <p:nvPr>
              <p:custDataLst>
                <p:tags r:id="rId7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/>
            <p:cNvSpPr/>
            <p:nvPr>
              <p:custDataLst>
                <p:tags r:id="rId8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/>
            <p:cNvSpPr txBox="1"/>
            <p:nvPr>
              <p:custDataLst>
                <p:tags r:id="rId9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  <a:endPara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9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0.5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r>
              <a:rPr lang="en-US" altLang="zh-CN" dirty="0"/>
              <a:t>4</a:t>
            </a:r>
            <a:r>
              <a:rPr lang="zh-CN" altLang="zh-CN" dirty="0"/>
              <a:t>、</a:t>
            </a:r>
            <a:r>
              <a:rPr lang="zh-CN" altLang="en-US" dirty="0"/>
              <a:t> （</a:t>
            </a:r>
            <a:r>
              <a:rPr lang="en-US" altLang="zh-CN" dirty="0"/>
              <a:t>0.5</a:t>
            </a:r>
            <a:r>
              <a:rPr lang="zh-CN" altLang="en-US" dirty="0"/>
              <a:t>分）</a:t>
            </a:r>
            <a:r>
              <a:rPr lang="zh-CN" altLang="zh-CN" dirty="0"/>
              <a:t>构造</a:t>
            </a:r>
            <a:r>
              <a:rPr lang="zh-CN" altLang="en-US" dirty="0"/>
              <a:t>语法制导定义</a:t>
            </a:r>
            <a:r>
              <a:rPr lang="zh-CN" altLang="zh-CN" dirty="0"/>
              <a:t>，实现</a:t>
            </a:r>
            <a:r>
              <a:rPr lang="zh-CN" altLang="en-US" dirty="0"/>
              <a:t>逻辑运算</a:t>
            </a:r>
            <a:r>
              <a:rPr lang="zh-CN" altLang="zh-CN" dirty="0"/>
              <a:t>表达式</a:t>
            </a:r>
            <a:r>
              <a:rPr lang="zh-CN" altLang="en-US" dirty="0"/>
              <a:t>求值</a:t>
            </a:r>
            <a:r>
              <a:rPr lang="zh-CN" altLang="zh-CN" dirty="0"/>
              <a:t>的翻译。</a:t>
            </a:r>
            <a:r>
              <a:rPr lang="zh-CN" altLang="en-US" dirty="0"/>
              <a:t>基本逻辑运算表达式就是真假值常量</a:t>
            </a:r>
            <a:r>
              <a:rPr lang="en-US" altLang="zh-CN" dirty="0"/>
              <a:t>T</a:t>
            </a:r>
            <a:r>
              <a:rPr lang="zh-CN" altLang="en-US" dirty="0"/>
              <a:t>和</a:t>
            </a:r>
            <a:r>
              <a:rPr lang="en-US" altLang="zh-CN" dirty="0"/>
              <a:t>F</a:t>
            </a:r>
            <a:r>
              <a:rPr lang="zh-CN" altLang="en-US" dirty="0"/>
              <a:t>，运算包括逻辑与、逻辑或、逻辑非</a:t>
            </a:r>
            <a:r>
              <a:rPr lang="zh-CN" altLang="zh-CN" dirty="0"/>
              <a:t>。给出</a:t>
            </a:r>
            <a:r>
              <a:rPr lang="en-US" altLang="zh-CN" dirty="0"/>
              <a:t>F &amp;&amp; (T || !F)</a:t>
            </a:r>
            <a:r>
              <a:rPr lang="zh-CN" altLang="zh-CN" dirty="0"/>
              <a:t>的</a:t>
            </a:r>
            <a:r>
              <a:rPr lang="zh-CN" altLang="en-US" dirty="0"/>
              <a:t>注释</a:t>
            </a:r>
            <a:r>
              <a:rPr lang="zh-CN" altLang="zh-CN" dirty="0"/>
              <a:t>语法树，并给出</a:t>
            </a:r>
            <a:r>
              <a:rPr lang="zh-CN" altLang="en-US" dirty="0"/>
              <a:t>最终</a:t>
            </a:r>
            <a:r>
              <a:rPr lang="zh-CN" altLang="zh-CN" dirty="0"/>
              <a:t>翻译结果。</a:t>
            </a:r>
            <a:endParaRPr lang="zh-CN" altLang="zh-CN" dirty="0"/>
          </a:p>
          <a:p>
            <a:r>
              <a:rPr lang="en-US" altLang="zh-CN" dirty="0"/>
              <a:t> </a:t>
            </a:r>
            <a:endParaRPr lang="zh-CN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（思考</a:t>
            </a:r>
            <a:r>
              <a:rPr lang="zh-CN" altLang="en-US" dirty="0"/>
              <a:t>题</a:t>
            </a:r>
            <a:r>
              <a:rPr lang="en-US" altLang="zh-CN" dirty="0"/>
              <a:t>*</a:t>
            </a:r>
            <a:r>
              <a:rPr lang="zh-CN" altLang="en-US" dirty="0"/>
              <a:t>，非必做</a:t>
            </a:r>
            <a:r>
              <a:rPr lang="zh-CN" altLang="zh-CN" dirty="0"/>
              <a:t>）</a:t>
            </a:r>
            <a:r>
              <a:rPr lang="en-US" altLang="zh-CN" dirty="0"/>
              <a:t>C</a:t>
            </a:r>
            <a:r>
              <a:rPr lang="zh-CN" altLang="zh-CN" dirty="0"/>
              <a:t>语言</a:t>
            </a:r>
            <a:r>
              <a:rPr lang="en-US" altLang="zh-CN" dirty="0"/>
              <a:t>for</a:t>
            </a:r>
            <a:r>
              <a:rPr lang="zh-CN" altLang="zh-CN" dirty="0"/>
              <a:t>语句具有如下形式</a:t>
            </a:r>
            <a:endParaRPr lang="zh-CN" altLang="zh-CN" dirty="0"/>
          </a:p>
          <a:p>
            <a:r>
              <a:rPr lang="en-US" altLang="zh-CN" dirty="0"/>
              <a:t>	for ( </a:t>
            </a:r>
            <a:r>
              <a:rPr lang="en-US" altLang="zh-CN" i="1" dirty="0"/>
              <a:t>expr</a:t>
            </a:r>
            <a:r>
              <a:rPr lang="en-US" altLang="zh-CN" baseline="-25000" dirty="0"/>
              <a:t>1</a:t>
            </a:r>
            <a:r>
              <a:rPr lang="en-US" altLang="zh-CN" dirty="0"/>
              <a:t>; </a:t>
            </a:r>
            <a:r>
              <a:rPr lang="en-US" altLang="zh-CN" i="1" dirty="0"/>
              <a:t>expr</a:t>
            </a:r>
            <a:r>
              <a:rPr lang="en-US" altLang="zh-CN" baseline="-25000" dirty="0"/>
              <a:t>2</a:t>
            </a:r>
            <a:r>
              <a:rPr lang="en-US" altLang="zh-CN" dirty="0"/>
              <a:t>; </a:t>
            </a:r>
            <a:r>
              <a:rPr lang="en-US" altLang="zh-CN" i="1" dirty="0"/>
              <a:t>expr</a:t>
            </a:r>
            <a:r>
              <a:rPr lang="en-US" altLang="zh-CN" baseline="-25000" dirty="0"/>
              <a:t>3</a:t>
            </a:r>
            <a:r>
              <a:rPr lang="en-US" altLang="zh-CN" dirty="0"/>
              <a:t> ) </a:t>
            </a:r>
            <a:r>
              <a:rPr lang="en-US" altLang="zh-CN" i="1" dirty="0" err="1"/>
              <a:t>stmt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zh-CN" altLang="zh-CN" dirty="0"/>
              <a:t>它与下面语句含义相似：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en-US" altLang="zh-CN" i="1" dirty="0"/>
              <a:t>expr</a:t>
            </a:r>
            <a:r>
              <a:rPr lang="en-US" altLang="zh-CN" baseline="-25000" dirty="0"/>
              <a:t>1</a:t>
            </a:r>
            <a:r>
              <a:rPr lang="en-US" altLang="zh-CN" dirty="0"/>
              <a:t>; while ( </a:t>
            </a:r>
            <a:r>
              <a:rPr lang="en-US" altLang="zh-CN" i="1" dirty="0"/>
              <a:t>expr</a:t>
            </a:r>
            <a:r>
              <a:rPr lang="en-US" altLang="zh-CN" baseline="-25000" dirty="0"/>
              <a:t>2</a:t>
            </a:r>
            <a:r>
              <a:rPr lang="en-US" altLang="zh-CN" dirty="0"/>
              <a:t> ) { </a:t>
            </a:r>
            <a:r>
              <a:rPr lang="en-US" altLang="zh-CN" i="1" dirty="0" err="1"/>
              <a:t>stmt</a:t>
            </a:r>
            <a:r>
              <a:rPr lang="en-US" altLang="zh-CN" dirty="0"/>
              <a:t> ; </a:t>
            </a:r>
            <a:r>
              <a:rPr lang="en-US" altLang="zh-CN" i="1" dirty="0"/>
              <a:t>expr</a:t>
            </a:r>
            <a:r>
              <a:rPr lang="en-US" altLang="zh-CN" baseline="-25000" dirty="0"/>
              <a:t>3</a:t>
            </a:r>
            <a:r>
              <a:rPr lang="en-US" altLang="zh-CN" dirty="0"/>
              <a:t> ; } 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zh-CN" altLang="zh-CN" dirty="0"/>
              <a:t>设计翻译模式，将</a:t>
            </a:r>
            <a:r>
              <a:rPr lang="en-US" altLang="zh-CN" dirty="0"/>
              <a:t>C</a:t>
            </a:r>
            <a:r>
              <a:rPr lang="zh-CN" altLang="zh-CN" dirty="0"/>
              <a:t>语言的</a:t>
            </a:r>
            <a:r>
              <a:rPr lang="en-US" altLang="zh-CN" dirty="0"/>
              <a:t>for</a:t>
            </a:r>
            <a:r>
              <a:rPr lang="zh-CN" altLang="zh-CN" dirty="0"/>
              <a:t>语句翻译为汇编码</a:t>
            </a:r>
            <a:endParaRPr lang="zh-CN" altLang="zh-CN" dirty="0"/>
          </a:p>
          <a:p>
            <a:pPr marL="269875" algn="just">
              <a:spcAft>
                <a:spcPts val="0"/>
              </a:spcAft>
            </a:pPr>
            <a:endParaRPr lang="zh-CN" altLang="zh-CN" sz="1600" kern="100" dirty="0">
              <a:latin typeface="等线" panose="02010600030101010101" pitchFamily="2" charset="-122"/>
              <a:cs typeface="Times New Roman" panose="02020803070505020304" pitchFamily="18" charset="0"/>
            </a:endParaRPr>
          </a:p>
          <a:p>
            <a:endParaRPr lang="en-US" altLang="zh-CN" dirty="0"/>
          </a:p>
        </p:txBody>
      </p:sp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5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 hidden="1"/>
          <p:cNvSpPr/>
          <p:nvPr>
            <p:custDataLst>
              <p:tags r:id="rId3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/>
          <p:cNvSpPr txBox="1"/>
          <p:nvPr>
            <p:custDataLst>
              <p:tags r:id="rId4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  <a:endParaRPr lang="zh-CN" altLang="en-US" sz="12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文本框 17" hidden="1"/>
          <p:cNvSpPr txBox="1"/>
          <p:nvPr>
            <p:custDataLst>
              <p:tags r:id="rId5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  <a:endParaRPr lang="zh-CN" altLang="en-US" sz="20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6" name="组合 15" hidden="1"/>
          <p:cNvGrpSpPr/>
          <p:nvPr>
            <p:custDataLst>
              <p:tags r:id="rId6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/>
            <p:cNvSpPr/>
            <p:nvPr>
              <p:custDataLst>
                <p:tags r:id="rId7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/>
            <p:cNvSpPr/>
            <p:nvPr>
              <p:custDataLst>
                <p:tags r:id="rId8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/>
            <p:cNvSpPr txBox="1"/>
            <p:nvPr>
              <p:custDataLst>
                <p:tags r:id="rId9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  <a:endPara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>
            <p:custDataLst>
              <p:tags r:id="rId10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9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0.5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/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RAINPAPER" val="PaperScore"/>
</p:tagLst>
</file>

<file path=ppt/tags/tag2.xml><?xml version="1.0" encoding="utf-8"?>
<p:tagLst xmlns:p="http://schemas.openxmlformats.org/presentationml/2006/main">
  <p:tag name="RAINPAPER" val="PaperTitle"/>
</p:tagLst>
</file>

<file path=ppt/tags/tag3.xml><?xml version="1.0" encoding="utf-8"?>
<p:tagLst xmlns:p="http://schemas.openxmlformats.org/presentationml/2006/main">
  <p:tag name="RAINPROBLEM" val="ProblemBody"/>
</p:tagLst>
</file>

<file path=ppt/tags/tag4.xml><?xml version="1.0" encoding="utf-8"?>
<p:tagLst xmlns:p="http://schemas.openxmlformats.org/presentationml/2006/main">
  <p:tag name="PRODUCTVERSIONTIP" val="PRODUCTVERSIONTIP"/>
</p:tagLst>
</file>

<file path=ppt/tags/tag5.xml><?xml version="1.0" encoding="utf-8"?>
<p:tagLst xmlns:p="http://schemas.openxmlformats.org/presentationml/2006/main">
  <p:tag name="RAINPROBLEM" val="ProblemRemarkBoard"/>
</p:tagLst>
</file>

<file path=ppt/tags/tag6.xml><?xml version="1.0" encoding="utf-8"?>
<p:tagLst xmlns:p="http://schemas.openxmlformats.org/presentationml/2006/main">
  <p:tag name="PROBLEMREMARKTITLE" val="ProblemRemarkBoardTip"/>
</p:tagLst>
</file>

<file path=ppt/tags/tag7.xml><?xml version="1.0" encoding="utf-8"?>
<p:tagLst xmlns:p="http://schemas.openxmlformats.org/presentationml/2006/main">
  <p:tag name="RAINPROBLEM" val="ProblemRemark"/>
</p:tagLst>
</file>

<file path=ppt/tags/tag8.xml><?xml version="1.0" encoding="utf-8"?>
<p:tagLst xmlns:p="http://schemas.openxmlformats.org/presentationml/2006/main">
  <p:tag name="PROBLEMREMARKTITLE" val="ProblemRemarkBoardTitle"/>
</p:tagLst>
</file>

<file path=ppt/tags/tag9.xml><?xml version="1.0" encoding="utf-8"?>
<p:tagLst xmlns:p="http://schemas.openxmlformats.org/presentationml/2006/main">
  <p:tag name="PROBLEMREMARKTITLE" val="ProblemRemarkBoardTitle"/>
</p:tagLst>
</file>

<file path=ppt/tags/tag10.xml><?xml version="1.0" encoding="utf-8"?>
<p:tagLst xmlns:p="http://schemas.openxmlformats.org/presentationml/2006/main">
  <p:tag name="PROBLEMREMARKTITLE" val="ProblemRemarkBoardTitle"/>
</p:tagLst>
</file>

<file path=ppt/tags/tag11.xml><?xml version="1.0" encoding="utf-8"?>
<p:tagLst xmlns:p="http://schemas.openxmlformats.org/presentationml/2006/main">
  <p:tag name="PROBLEMREMARKTITLE" val="ProblemRemarkBoardTitle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TYPE" val="ProblemTypeMarker"/>
</p:tagLst>
</file>

<file path=ppt/tags/tag17.xml><?xml version="1.0" encoding="utf-8"?>
<p:tagLst xmlns:p="http://schemas.openxmlformats.org/presentationml/2006/main">
  <p:tag name="RAINPROBLEM" val="ProblemSetting"/>
  <p:tag name="RAINPROBLEMTYPE" val="ShortAnswer"/>
</p:tagLst>
</file>

<file path=ppt/tags/tag18.xml><?xml version="1.0" encoding="utf-8"?>
<p:tagLst xmlns:p="http://schemas.openxmlformats.org/presentationml/2006/main">
  <p:tag name="RAINPROBLEM" val="ShortAnswer"/>
  <p:tag name="PROBLEMHASREMARK" val="False"/>
  <p:tag name="PROBLEMSCORE" val="0.5"/>
  <p:tag name="PROBLEMVOICEALLOWED" val="False"/>
</p:tagLst>
</file>

<file path=ppt/tags/tag19.xml><?xml version="1.0" encoding="utf-8"?>
<p:tagLst xmlns:p="http://schemas.openxmlformats.org/presentationml/2006/main">
  <p:tag name="RAINPROBLEM" val="ProblemBody"/>
</p:tagLst>
</file>

<file path=ppt/tags/tag20.xml><?xml version="1.0" encoding="utf-8"?>
<p:tagLst xmlns:p="http://schemas.openxmlformats.org/presentationml/2006/main">
  <p:tag name="PRODUCTVERSIONTIP" val="PRODUCTVERSIONTIP"/>
</p:tagLst>
</file>

<file path=ppt/tags/tag21.xml><?xml version="1.0" encoding="utf-8"?>
<p:tagLst xmlns:p="http://schemas.openxmlformats.org/presentationml/2006/main">
  <p:tag name="RAINPROBLEM" val="ProblemRemarkBoard"/>
</p:tagLst>
</file>

<file path=ppt/tags/tag22.xml><?xml version="1.0" encoding="utf-8"?>
<p:tagLst xmlns:p="http://schemas.openxmlformats.org/presentationml/2006/main">
  <p:tag name="PROBLEMREMARKTITLE" val="ProblemRemarkBoardTip"/>
</p:tagLst>
</file>

<file path=ppt/tags/tag23.xml><?xml version="1.0" encoding="utf-8"?>
<p:tagLst xmlns:p="http://schemas.openxmlformats.org/presentationml/2006/main">
  <p:tag name="RAINPROBLEM" val="ProblemRemark"/>
</p:tagLst>
</file>

<file path=ppt/tags/tag24.xml><?xml version="1.0" encoding="utf-8"?>
<p:tagLst xmlns:p="http://schemas.openxmlformats.org/presentationml/2006/main">
  <p:tag name="PROBLEMREMARKTITLE" val="ProblemRemarkBoardTitle"/>
</p:tagLst>
</file>

<file path=ppt/tags/tag25.xml><?xml version="1.0" encoding="utf-8"?>
<p:tagLst xmlns:p="http://schemas.openxmlformats.org/presentationml/2006/main">
  <p:tag name="PROBLEMREMARKTITLE" val="ProblemRemarkBoardTitle"/>
</p:tagLst>
</file>

<file path=ppt/tags/tag26.xml><?xml version="1.0" encoding="utf-8"?>
<p:tagLst xmlns:p="http://schemas.openxmlformats.org/presentationml/2006/main">
  <p:tag name="PROBLEMREMARKTITLE" val="ProblemRemarkBoardTitle"/>
</p:tagLst>
</file>

<file path=ppt/tags/tag27.xml><?xml version="1.0" encoding="utf-8"?>
<p:tagLst xmlns:p="http://schemas.openxmlformats.org/presentationml/2006/main">
  <p:tag name="PROBLEMREMARKTITLE" val="ProblemRemarkBoardTitle"/>
</p:tagLst>
</file>

<file path=ppt/tags/tag28.xml><?xml version="1.0" encoding="utf-8"?>
<p:tagLst xmlns:p="http://schemas.openxmlformats.org/presentationml/2006/main">
  <p:tag name="RAINPROBLEMTYPE" val="ProblemTypeMarker"/>
</p:tagLst>
</file>

<file path=ppt/tags/tag29.xml><?xml version="1.0" encoding="utf-8"?>
<p:tagLst xmlns:p="http://schemas.openxmlformats.org/presentationml/2006/main">
  <p:tag name="RAINPROBLEMTYPE" val="ProblemTypeMarker"/>
</p:tagLst>
</file>

<file path=ppt/tags/tag30.xml><?xml version="1.0" encoding="utf-8"?>
<p:tagLst xmlns:p="http://schemas.openxmlformats.org/presentationml/2006/main">
  <p:tag name="RAINPROBLEMTYPE" val="ProblemTypeMarker"/>
</p:tagLst>
</file>

<file path=ppt/tags/tag31.xml><?xml version="1.0" encoding="utf-8"?>
<p:tagLst xmlns:p="http://schemas.openxmlformats.org/presentationml/2006/main">
  <p:tag name="RAINPROBLEMTYPE" val="ProblemTypeMarker"/>
</p:tagLst>
</file>

<file path=ppt/tags/tag32.xml><?xml version="1.0" encoding="utf-8"?>
<p:tagLst xmlns:p="http://schemas.openxmlformats.org/presentationml/2006/main">
  <p:tag name="RAINPROBLEMTYPE" val="ProblemTypeMarker"/>
</p:tagLst>
</file>

<file path=ppt/tags/tag33.xml><?xml version="1.0" encoding="utf-8"?>
<p:tagLst xmlns:p="http://schemas.openxmlformats.org/presentationml/2006/main">
  <p:tag name="RAINPROBLEM" val="ProblemSetting"/>
  <p:tag name="RAINPROBLEMTYPE" val="ShortAnswer"/>
</p:tagLst>
</file>

<file path=ppt/tags/tag34.xml><?xml version="1.0" encoding="utf-8"?>
<p:tagLst xmlns:p="http://schemas.openxmlformats.org/presentationml/2006/main">
  <p:tag name="RAINPROBLEM" val="ShortAnswer"/>
  <p:tag name="PROBLEMHASREMARK" val="False"/>
  <p:tag name="PROBLEMSCORE" val="0.5"/>
  <p:tag name="PROBLEMVOICEALLOWED" val="False"/>
</p:tagLst>
</file>

<file path=ppt/tags/tag35.xml><?xml version="1.0" encoding="utf-8"?>
<p:tagLst xmlns:p="http://schemas.openxmlformats.org/presentationml/2006/main">
  <p:tag name="RAINPROBLEM" val="ProblemBody"/>
</p:tagLst>
</file>

<file path=ppt/tags/tag36.xml><?xml version="1.0" encoding="utf-8"?>
<p:tagLst xmlns:p="http://schemas.openxmlformats.org/presentationml/2006/main">
  <p:tag name="PRODUCTVERSIONTIP" val="PRODUCTVERSIONTIP"/>
</p:tagLst>
</file>

<file path=ppt/tags/tag37.xml><?xml version="1.0" encoding="utf-8"?>
<p:tagLst xmlns:p="http://schemas.openxmlformats.org/presentationml/2006/main">
  <p:tag name="RAINPROBLEM" val="ProblemRemarkBoard"/>
</p:tagLst>
</file>

<file path=ppt/tags/tag38.xml><?xml version="1.0" encoding="utf-8"?>
<p:tagLst xmlns:p="http://schemas.openxmlformats.org/presentationml/2006/main">
  <p:tag name="PROBLEMREMARKTITLE" val="ProblemRemarkBoardTip"/>
</p:tagLst>
</file>

<file path=ppt/tags/tag39.xml><?xml version="1.0" encoding="utf-8"?>
<p:tagLst xmlns:p="http://schemas.openxmlformats.org/presentationml/2006/main">
  <p:tag name="RAINPROBLEM" val="ProblemRemark"/>
</p:tagLst>
</file>

<file path=ppt/tags/tag40.xml><?xml version="1.0" encoding="utf-8"?>
<p:tagLst xmlns:p="http://schemas.openxmlformats.org/presentationml/2006/main">
  <p:tag name="PROBLEMREMARKTITLE" val="ProblemRemarkBoardTitle"/>
</p:tagLst>
</file>

<file path=ppt/tags/tag41.xml><?xml version="1.0" encoding="utf-8"?>
<p:tagLst xmlns:p="http://schemas.openxmlformats.org/presentationml/2006/main">
  <p:tag name="PROBLEMREMARKTITLE" val="ProblemRemarkBoardTitle"/>
</p:tagLst>
</file>

<file path=ppt/tags/tag42.xml><?xml version="1.0" encoding="utf-8"?>
<p:tagLst xmlns:p="http://schemas.openxmlformats.org/presentationml/2006/main">
  <p:tag name="PROBLEMREMARKTITLE" val="ProblemRemarkBoardTitle"/>
</p:tagLst>
</file>

<file path=ppt/tags/tag43.xml><?xml version="1.0" encoding="utf-8"?>
<p:tagLst xmlns:p="http://schemas.openxmlformats.org/presentationml/2006/main">
  <p:tag name="PROBLEMREMARKTITLE" val="ProblemRemarkBoardTitle"/>
</p:tagLst>
</file>

<file path=ppt/tags/tag44.xml><?xml version="1.0" encoding="utf-8"?>
<p:tagLst xmlns:p="http://schemas.openxmlformats.org/presentationml/2006/main">
  <p:tag name="RAINPROBLEMTYPE" val="ProblemTypeMarker"/>
</p:tagLst>
</file>

<file path=ppt/tags/tag45.xml><?xml version="1.0" encoding="utf-8"?>
<p:tagLst xmlns:p="http://schemas.openxmlformats.org/presentationml/2006/main">
  <p:tag name="RAINPROBLEMTYPE" val="ProblemTypeMarker"/>
</p:tagLst>
</file>

<file path=ppt/tags/tag46.xml><?xml version="1.0" encoding="utf-8"?>
<p:tagLst xmlns:p="http://schemas.openxmlformats.org/presentationml/2006/main">
  <p:tag name="RAINPROBLEMTYPE" val="ProblemTypeMarker"/>
</p:tagLst>
</file>

<file path=ppt/tags/tag47.xml><?xml version="1.0" encoding="utf-8"?>
<p:tagLst xmlns:p="http://schemas.openxmlformats.org/presentationml/2006/main">
  <p:tag name="RAINPROBLEMTYPE" val="ProblemTypeMarker"/>
</p:tagLst>
</file>

<file path=ppt/tags/tag48.xml><?xml version="1.0" encoding="utf-8"?>
<p:tagLst xmlns:p="http://schemas.openxmlformats.org/presentationml/2006/main">
  <p:tag name="RAINPROBLEMTYPE" val="ProblemTypeMarker"/>
</p:tagLst>
</file>

<file path=ppt/tags/tag49.xml><?xml version="1.0" encoding="utf-8"?>
<p:tagLst xmlns:p="http://schemas.openxmlformats.org/presentationml/2006/main">
  <p:tag name="RAINPROBLEM" val="ProblemSetting"/>
  <p:tag name="RAINPROBLEMTYPE" val="ShortAnswer"/>
</p:tagLst>
</file>

<file path=ppt/tags/tag50.xml><?xml version="1.0" encoding="utf-8"?>
<p:tagLst xmlns:p="http://schemas.openxmlformats.org/presentationml/2006/main">
  <p:tag name="RAINPROBLEM" val="ShortAnswer"/>
  <p:tag name="PROBLEMHASREMARK" val="False"/>
  <p:tag name="PROBLEMSCORE" val="0.5"/>
  <p:tag name="PROBLEMVOICEALLOWED" val="False"/>
</p:tagLst>
</file>

<file path=ppt/tags/tag51.xml><?xml version="1.0" encoding="utf-8"?>
<p:tagLst xmlns:p="http://schemas.openxmlformats.org/presentationml/2006/main">
  <p:tag name="RAINPROBLEM" val="ProblemBody"/>
</p:tagLst>
</file>

<file path=ppt/tags/tag52.xml><?xml version="1.0" encoding="utf-8"?>
<p:tagLst xmlns:p="http://schemas.openxmlformats.org/presentationml/2006/main">
  <p:tag name="PRODUCTVERSIONTIP" val="PRODUCTVERSIONTIP"/>
</p:tagLst>
</file>

<file path=ppt/tags/tag53.xml><?xml version="1.0" encoding="utf-8"?>
<p:tagLst xmlns:p="http://schemas.openxmlformats.org/presentationml/2006/main">
  <p:tag name="RAINPROBLEM" val="ProblemRemarkBoard"/>
</p:tagLst>
</file>

<file path=ppt/tags/tag54.xml><?xml version="1.0" encoding="utf-8"?>
<p:tagLst xmlns:p="http://schemas.openxmlformats.org/presentationml/2006/main">
  <p:tag name="PROBLEMREMARKTITLE" val="ProblemRemarkBoardTip"/>
</p:tagLst>
</file>

<file path=ppt/tags/tag55.xml><?xml version="1.0" encoding="utf-8"?>
<p:tagLst xmlns:p="http://schemas.openxmlformats.org/presentationml/2006/main">
  <p:tag name="RAINPROBLEM" val="ProblemRemark"/>
</p:tagLst>
</file>

<file path=ppt/tags/tag56.xml><?xml version="1.0" encoding="utf-8"?>
<p:tagLst xmlns:p="http://schemas.openxmlformats.org/presentationml/2006/main">
  <p:tag name="PROBLEMREMARKTITLE" val="ProblemRemarkBoardTitle"/>
</p:tagLst>
</file>

<file path=ppt/tags/tag57.xml><?xml version="1.0" encoding="utf-8"?>
<p:tagLst xmlns:p="http://schemas.openxmlformats.org/presentationml/2006/main">
  <p:tag name="PROBLEMREMARKTITLE" val="ProblemRemarkBoardTitle"/>
</p:tagLst>
</file>

<file path=ppt/tags/tag58.xml><?xml version="1.0" encoding="utf-8"?>
<p:tagLst xmlns:p="http://schemas.openxmlformats.org/presentationml/2006/main">
  <p:tag name="PROBLEMREMARKTITLE" val="ProblemRemarkBoardTitle"/>
</p:tagLst>
</file>

<file path=ppt/tags/tag59.xml><?xml version="1.0" encoding="utf-8"?>
<p:tagLst xmlns:p="http://schemas.openxmlformats.org/presentationml/2006/main">
  <p:tag name="PROBLEMREMARKTITLE" val="ProblemRemarkBoardTitle"/>
</p:tagLst>
</file>

<file path=ppt/tags/tag60.xml><?xml version="1.0" encoding="utf-8"?>
<p:tagLst xmlns:p="http://schemas.openxmlformats.org/presentationml/2006/main">
  <p:tag name="RAINPROBLEMTYPE" val="ProblemTypeMarker"/>
</p:tagLst>
</file>

<file path=ppt/tags/tag61.xml><?xml version="1.0" encoding="utf-8"?>
<p:tagLst xmlns:p="http://schemas.openxmlformats.org/presentationml/2006/main">
  <p:tag name="RAINPROBLEMTYPE" val="ProblemTypeMarker"/>
</p:tagLst>
</file>

<file path=ppt/tags/tag62.xml><?xml version="1.0" encoding="utf-8"?>
<p:tagLst xmlns:p="http://schemas.openxmlformats.org/presentationml/2006/main">
  <p:tag name="RAINPROBLEMTYPE" val="ProblemTypeMarker"/>
</p:tagLst>
</file>

<file path=ppt/tags/tag63.xml><?xml version="1.0" encoding="utf-8"?>
<p:tagLst xmlns:p="http://schemas.openxmlformats.org/presentationml/2006/main">
  <p:tag name="RAINPROBLEMTYPE" val="ProblemTypeMarker"/>
</p:tagLst>
</file>

<file path=ppt/tags/tag64.xml><?xml version="1.0" encoding="utf-8"?>
<p:tagLst xmlns:p="http://schemas.openxmlformats.org/presentationml/2006/main">
  <p:tag name="RAINPROBLEMTYPE" val="ProblemTypeMarker"/>
</p:tagLst>
</file>

<file path=ppt/tags/tag65.xml><?xml version="1.0" encoding="utf-8"?>
<p:tagLst xmlns:p="http://schemas.openxmlformats.org/presentationml/2006/main">
  <p:tag name="RAINPROBLEM" val="ProblemSetting"/>
  <p:tag name="RAINPROBLEMTYPE" val="ShortAnswer"/>
</p:tagLst>
</file>

<file path=ppt/tags/tag66.xml><?xml version="1.0" encoding="utf-8"?>
<p:tagLst xmlns:p="http://schemas.openxmlformats.org/presentationml/2006/main">
  <p:tag name="RAINPROBLEM" val="ShortAnswer"/>
  <p:tag name="PROBLEMHASREMARK" val="False"/>
  <p:tag name="PROBLEMSCORE" val="0.5"/>
  <p:tag name="PROBLEMVOICEALLOWED" val="Fals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1082</Words>
  <Application>WPS 演示</Application>
  <PresentationFormat>全屏显示(16:10)</PresentationFormat>
  <Paragraphs>93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2" baseType="lpstr">
      <vt:lpstr>Arial</vt:lpstr>
      <vt:lpstr>宋体</vt:lpstr>
      <vt:lpstr>Wingdings</vt:lpstr>
      <vt:lpstr>Symbol</vt:lpstr>
      <vt:lpstr>Kingsoft Sign</vt:lpstr>
      <vt:lpstr>等线</vt:lpstr>
      <vt:lpstr>Times New Roman</vt:lpstr>
      <vt:lpstr>Microsoft Yahei</vt:lpstr>
      <vt:lpstr>等线 Light</vt:lpstr>
      <vt:lpstr>微软雅黑</vt:lpstr>
      <vt:lpstr>宋体</vt:lpstr>
      <vt:lpstr>Arial Unicode MS</vt:lpstr>
      <vt:lpstr>Calibri</vt:lpstr>
      <vt:lpstr>Helvetica Neue</vt:lpstr>
      <vt:lpstr>汉仪书宋二KW</vt:lpstr>
      <vt:lpstr>Symbol</vt:lpstr>
      <vt:lpstr>Office 主题​​</vt:lpstr>
      <vt:lpstr>第2章书面作业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预备工作2 定义你的编译器功能 &amp; 汇编编程</dc:title>
  <dc:creator>王 刚</dc:creator>
  <cp:lastModifiedBy>林晖鹏</cp:lastModifiedBy>
  <cp:revision>44</cp:revision>
  <dcterms:created xsi:type="dcterms:W3CDTF">2025-10-07T12:30:23Z</dcterms:created>
  <dcterms:modified xsi:type="dcterms:W3CDTF">2025-10-07T12:30:23Z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915BF66D2EF6A044DF07E5680B8AAEA0_42</vt:lpwstr>
  </property>
  <property fmtid="{D5CDD505-2E9C-101B-9397-08002B2CF9AE}" pid="3" name="KSOProductBuildVer">
    <vt:lpwstr>2052-7.2.2.8955</vt:lpwstr>
  </property>
</Properties>
</file>