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3" r:id="rId8"/>
    <p:sldId id="262" r:id="rId9"/>
  </p:sldIdLst>
  <p:sldSz cx="5715000" cy="9144000" type="screen16x10"/>
  <p:notesSz cx="6858000" cy="9144000"/>
  <p:defaultTextStyle>
    <a:defPPr>
      <a:defRPr lang="zh-CN"/>
    </a:defPPr>
    <a:lvl1pPr marL="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1pPr>
    <a:lvl2pPr marL="35661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2pPr>
    <a:lvl3pPr marL="71323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3pPr>
    <a:lvl4pPr marL="106984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4pPr>
    <a:lvl5pPr marL="1426464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5pPr>
    <a:lvl6pPr marL="178308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6pPr>
    <a:lvl7pPr marL="213969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7pPr>
    <a:lvl8pPr marL="249631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8pPr>
    <a:lvl9pPr marL="285292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316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雨课堂试卷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D1822C-7403-4131-BD72-C5E056A274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5750" y="3810000"/>
            <a:ext cx="5143500" cy="1524000"/>
          </a:xfrm>
          <a:prstGeom prst="rect">
            <a:avLst/>
          </a:prstGeom>
        </p:spPr>
        <p:txBody>
          <a:bodyPr vert="horz" anchor="ctr" anchorCtr="1"/>
          <a:lstStyle>
            <a:lvl1pPr>
              <a:defRPr sz="2600"/>
            </a:lvl1pPr>
          </a:lstStyle>
          <a:p>
            <a:r>
              <a:rPr lang="zh-CN" altLang="en-US"/>
              <a:t>请填写试卷标题</a:t>
            </a:r>
          </a:p>
        </p:txBody>
      </p:sp>
    </p:spTree>
    <p:extLst>
      <p:ext uri="{BB962C8B-B14F-4D97-AF65-F5344CB8AC3E}">
        <p14:creationId xmlns:p14="http://schemas.microsoft.com/office/powerpoint/2010/main" val="19617841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7262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54852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385763" rtl="0" eaLnBrk="1" latinLnBrk="0" hangingPunct="1">
        <a:lnSpc>
          <a:spcPct val="90000"/>
        </a:lnSpc>
        <a:spcBef>
          <a:spcPct val="0"/>
        </a:spcBef>
        <a:buNone/>
        <a:defRPr sz="185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6441" indent="-96441" algn="l" defTabSz="385763" rtl="0" eaLnBrk="1" latinLnBrk="0" hangingPunct="1">
        <a:lnSpc>
          <a:spcPct val="90000"/>
        </a:lnSpc>
        <a:spcBef>
          <a:spcPts val="422"/>
        </a:spcBef>
        <a:buFont typeface="Arial" panose="020B0604020202020204" pitchFamily="34" charset="0"/>
        <a:buChar char="•"/>
        <a:defRPr sz="1181" kern="1200">
          <a:solidFill>
            <a:schemeClr val="tx1"/>
          </a:solidFill>
          <a:latin typeface="+mn-lt"/>
          <a:ea typeface="+mn-ea"/>
          <a:cs typeface="+mn-cs"/>
        </a:defRPr>
      </a:lvl1pPr>
      <a:lvl2pPr marL="289322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482204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844" kern="1200">
          <a:solidFill>
            <a:schemeClr val="tx1"/>
          </a:solidFill>
          <a:latin typeface="+mn-lt"/>
          <a:ea typeface="+mn-ea"/>
          <a:cs typeface="+mn-cs"/>
        </a:defRPr>
      </a:lvl3pPr>
      <a:lvl4pPr marL="675085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4pPr>
      <a:lvl5pPr marL="867966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5pPr>
      <a:lvl6pPr marL="1060847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6pPr>
      <a:lvl7pPr marL="1253729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7pPr>
      <a:lvl8pPr marL="1446610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8pPr>
      <a:lvl9pPr marL="1639491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1pPr>
      <a:lvl2pPr marL="192881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2pPr>
      <a:lvl3pPr marL="385763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3pPr>
      <a:lvl4pPr marL="578644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4pPr>
      <a:lvl5pPr marL="771525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5pPr>
      <a:lvl6pPr marL="964406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6pPr>
      <a:lvl7pPr marL="1157288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7pPr>
      <a:lvl8pPr marL="1350169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8pPr>
      <a:lvl9pPr marL="1543050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10.xml"/><Relationship Id="rId13" Type="http://schemas.openxmlformats.org/officeDocument/2006/relationships/tags" Target="../tags/tag15.xml"/><Relationship Id="rId18" Type="http://schemas.openxmlformats.org/officeDocument/2006/relationships/image" Target="../media/image1.tmp"/><Relationship Id="rId3" Type="http://schemas.openxmlformats.org/officeDocument/2006/relationships/tags" Target="../tags/tag5.xml"/><Relationship Id="rId7" Type="http://schemas.openxmlformats.org/officeDocument/2006/relationships/tags" Target="../tags/tag9.xml"/><Relationship Id="rId12" Type="http://schemas.openxmlformats.org/officeDocument/2006/relationships/tags" Target="../tags/tag14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4.xml"/><Relationship Id="rId16" Type="http://schemas.openxmlformats.org/officeDocument/2006/relationships/tags" Target="../tags/tag18.xml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11" Type="http://schemas.openxmlformats.org/officeDocument/2006/relationships/tags" Target="../tags/tag13.xml"/><Relationship Id="rId5" Type="http://schemas.openxmlformats.org/officeDocument/2006/relationships/tags" Target="../tags/tag7.xml"/><Relationship Id="rId15" Type="http://schemas.openxmlformats.org/officeDocument/2006/relationships/tags" Target="../tags/tag17.xml"/><Relationship Id="rId10" Type="http://schemas.openxmlformats.org/officeDocument/2006/relationships/tags" Target="../tags/tag12.xml"/><Relationship Id="rId4" Type="http://schemas.openxmlformats.org/officeDocument/2006/relationships/tags" Target="../tags/tag6.xml"/><Relationship Id="rId9" Type="http://schemas.openxmlformats.org/officeDocument/2006/relationships/tags" Target="../tags/tag11.xml"/><Relationship Id="rId14" Type="http://schemas.openxmlformats.org/officeDocument/2006/relationships/tags" Target="../tags/tag16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26.xml"/><Relationship Id="rId13" Type="http://schemas.openxmlformats.org/officeDocument/2006/relationships/tags" Target="../tags/tag31.xml"/><Relationship Id="rId18" Type="http://schemas.openxmlformats.org/officeDocument/2006/relationships/image" Target="../media/image1.tmp"/><Relationship Id="rId3" Type="http://schemas.openxmlformats.org/officeDocument/2006/relationships/tags" Target="../tags/tag21.xml"/><Relationship Id="rId7" Type="http://schemas.openxmlformats.org/officeDocument/2006/relationships/tags" Target="../tags/tag25.xml"/><Relationship Id="rId12" Type="http://schemas.openxmlformats.org/officeDocument/2006/relationships/tags" Target="../tags/tag30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20.xml"/><Relationship Id="rId16" Type="http://schemas.openxmlformats.org/officeDocument/2006/relationships/tags" Target="../tags/tag34.xml"/><Relationship Id="rId1" Type="http://schemas.openxmlformats.org/officeDocument/2006/relationships/tags" Target="../tags/tag19.xml"/><Relationship Id="rId6" Type="http://schemas.openxmlformats.org/officeDocument/2006/relationships/tags" Target="../tags/tag24.xml"/><Relationship Id="rId11" Type="http://schemas.openxmlformats.org/officeDocument/2006/relationships/tags" Target="../tags/tag29.xml"/><Relationship Id="rId5" Type="http://schemas.openxmlformats.org/officeDocument/2006/relationships/tags" Target="../tags/tag23.xml"/><Relationship Id="rId15" Type="http://schemas.openxmlformats.org/officeDocument/2006/relationships/tags" Target="../tags/tag33.xml"/><Relationship Id="rId10" Type="http://schemas.openxmlformats.org/officeDocument/2006/relationships/tags" Target="../tags/tag28.xml"/><Relationship Id="rId4" Type="http://schemas.openxmlformats.org/officeDocument/2006/relationships/tags" Target="../tags/tag22.xml"/><Relationship Id="rId9" Type="http://schemas.openxmlformats.org/officeDocument/2006/relationships/tags" Target="../tags/tag27.xml"/><Relationship Id="rId14" Type="http://schemas.openxmlformats.org/officeDocument/2006/relationships/tags" Target="../tags/tag3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42.xml"/><Relationship Id="rId13" Type="http://schemas.openxmlformats.org/officeDocument/2006/relationships/tags" Target="../tags/tag47.xml"/><Relationship Id="rId18" Type="http://schemas.openxmlformats.org/officeDocument/2006/relationships/image" Target="../media/image1.tmp"/><Relationship Id="rId3" Type="http://schemas.openxmlformats.org/officeDocument/2006/relationships/tags" Target="../tags/tag37.xml"/><Relationship Id="rId7" Type="http://schemas.openxmlformats.org/officeDocument/2006/relationships/tags" Target="../tags/tag41.xml"/><Relationship Id="rId12" Type="http://schemas.openxmlformats.org/officeDocument/2006/relationships/tags" Target="../tags/tag46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36.xml"/><Relationship Id="rId16" Type="http://schemas.openxmlformats.org/officeDocument/2006/relationships/tags" Target="../tags/tag50.xml"/><Relationship Id="rId1" Type="http://schemas.openxmlformats.org/officeDocument/2006/relationships/tags" Target="../tags/tag35.xml"/><Relationship Id="rId6" Type="http://schemas.openxmlformats.org/officeDocument/2006/relationships/tags" Target="../tags/tag40.xml"/><Relationship Id="rId11" Type="http://schemas.openxmlformats.org/officeDocument/2006/relationships/tags" Target="../tags/tag45.xml"/><Relationship Id="rId5" Type="http://schemas.openxmlformats.org/officeDocument/2006/relationships/tags" Target="../tags/tag39.xml"/><Relationship Id="rId15" Type="http://schemas.openxmlformats.org/officeDocument/2006/relationships/tags" Target="../tags/tag49.xml"/><Relationship Id="rId10" Type="http://schemas.openxmlformats.org/officeDocument/2006/relationships/tags" Target="../tags/tag44.xml"/><Relationship Id="rId4" Type="http://schemas.openxmlformats.org/officeDocument/2006/relationships/tags" Target="../tags/tag38.xml"/><Relationship Id="rId9" Type="http://schemas.openxmlformats.org/officeDocument/2006/relationships/tags" Target="../tags/tag43.xml"/><Relationship Id="rId14" Type="http://schemas.openxmlformats.org/officeDocument/2006/relationships/tags" Target="../tags/tag48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58.xml"/><Relationship Id="rId13" Type="http://schemas.openxmlformats.org/officeDocument/2006/relationships/tags" Target="../tags/tag63.xml"/><Relationship Id="rId18" Type="http://schemas.openxmlformats.org/officeDocument/2006/relationships/image" Target="../media/image1.tmp"/><Relationship Id="rId3" Type="http://schemas.openxmlformats.org/officeDocument/2006/relationships/tags" Target="../tags/tag53.xml"/><Relationship Id="rId7" Type="http://schemas.openxmlformats.org/officeDocument/2006/relationships/tags" Target="../tags/tag57.xml"/><Relationship Id="rId12" Type="http://schemas.openxmlformats.org/officeDocument/2006/relationships/tags" Target="../tags/tag62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52.xml"/><Relationship Id="rId16" Type="http://schemas.openxmlformats.org/officeDocument/2006/relationships/tags" Target="../tags/tag66.xml"/><Relationship Id="rId1" Type="http://schemas.openxmlformats.org/officeDocument/2006/relationships/tags" Target="../tags/tag51.xml"/><Relationship Id="rId6" Type="http://schemas.openxmlformats.org/officeDocument/2006/relationships/tags" Target="../tags/tag56.xml"/><Relationship Id="rId11" Type="http://schemas.openxmlformats.org/officeDocument/2006/relationships/tags" Target="../tags/tag61.xml"/><Relationship Id="rId5" Type="http://schemas.openxmlformats.org/officeDocument/2006/relationships/tags" Target="../tags/tag55.xml"/><Relationship Id="rId15" Type="http://schemas.openxmlformats.org/officeDocument/2006/relationships/tags" Target="../tags/tag65.xml"/><Relationship Id="rId10" Type="http://schemas.openxmlformats.org/officeDocument/2006/relationships/tags" Target="../tags/tag60.xml"/><Relationship Id="rId4" Type="http://schemas.openxmlformats.org/officeDocument/2006/relationships/tags" Target="../tags/tag54.xml"/><Relationship Id="rId9" Type="http://schemas.openxmlformats.org/officeDocument/2006/relationships/tags" Target="../tags/tag59.xml"/><Relationship Id="rId14" Type="http://schemas.openxmlformats.org/officeDocument/2006/relationships/tags" Target="../tags/tag6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74.xml"/><Relationship Id="rId13" Type="http://schemas.openxmlformats.org/officeDocument/2006/relationships/tags" Target="../tags/tag79.xml"/><Relationship Id="rId18" Type="http://schemas.openxmlformats.org/officeDocument/2006/relationships/image" Target="../media/image1.tmp"/><Relationship Id="rId3" Type="http://schemas.openxmlformats.org/officeDocument/2006/relationships/tags" Target="../tags/tag69.xml"/><Relationship Id="rId7" Type="http://schemas.openxmlformats.org/officeDocument/2006/relationships/tags" Target="../tags/tag73.xml"/><Relationship Id="rId12" Type="http://schemas.openxmlformats.org/officeDocument/2006/relationships/tags" Target="../tags/tag78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68.xml"/><Relationship Id="rId16" Type="http://schemas.openxmlformats.org/officeDocument/2006/relationships/tags" Target="../tags/tag82.xml"/><Relationship Id="rId1" Type="http://schemas.openxmlformats.org/officeDocument/2006/relationships/tags" Target="../tags/tag67.xml"/><Relationship Id="rId6" Type="http://schemas.openxmlformats.org/officeDocument/2006/relationships/tags" Target="../tags/tag72.xml"/><Relationship Id="rId11" Type="http://schemas.openxmlformats.org/officeDocument/2006/relationships/tags" Target="../tags/tag77.xml"/><Relationship Id="rId5" Type="http://schemas.openxmlformats.org/officeDocument/2006/relationships/tags" Target="../tags/tag71.xml"/><Relationship Id="rId15" Type="http://schemas.openxmlformats.org/officeDocument/2006/relationships/tags" Target="../tags/tag81.xml"/><Relationship Id="rId10" Type="http://schemas.openxmlformats.org/officeDocument/2006/relationships/tags" Target="../tags/tag76.xml"/><Relationship Id="rId4" Type="http://schemas.openxmlformats.org/officeDocument/2006/relationships/tags" Target="../tags/tag70.xml"/><Relationship Id="rId9" Type="http://schemas.openxmlformats.org/officeDocument/2006/relationships/tags" Target="../tags/tag75.xml"/><Relationship Id="rId14" Type="http://schemas.openxmlformats.org/officeDocument/2006/relationships/tags" Target="../tags/tag80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90.xml"/><Relationship Id="rId13" Type="http://schemas.openxmlformats.org/officeDocument/2006/relationships/tags" Target="../tags/tag95.xml"/><Relationship Id="rId18" Type="http://schemas.openxmlformats.org/officeDocument/2006/relationships/image" Target="../media/image1.tmp"/><Relationship Id="rId3" Type="http://schemas.openxmlformats.org/officeDocument/2006/relationships/tags" Target="../tags/tag85.xml"/><Relationship Id="rId7" Type="http://schemas.openxmlformats.org/officeDocument/2006/relationships/tags" Target="../tags/tag89.xml"/><Relationship Id="rId12" Type="http://schemas.openxmlformats.org/officeDocument/2006/relationships/tags" Target="../tags/tag94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84.xml"/><Relationship Id="rId16" Type="http://schemas.openxmlformats.org/officeDocument/2006/relationships/tags" Target="../tags/tag98.xml"/><Relationship Id="rId1" Type="http://schemas.openxmlformats.org/officeDocument/2006/relationships/tags" Target="../tags/tag83.xml"/><Relationship Id="rId6" Type="http://schemas.openxmlformats.org/officeDocument/2006/relationships/tags" Target="../tags/tag88.xml"/><Relationship Id="rId11" Type="http://schemas.openxmlformats.org/officeDocument/2006/relationships/tags" Target="../tags/tag93.xml"/><Relationship Id="rId5" Type="http://schemas.openxmlformats.org/officeDocument/2006/relationships/tags" Target="../tags/tag87.xml"/><Relationship Id="rId15" Type="http://schemas.openxmlformats.org/officeDocument/2006/relationships/tags" Target="../tags/tag97.xml"/><Relationship Id="rId10" Type="http://schemas.openxmlformats.org/officeDocument/2006/relationships/tags" Target="../tags/tag92.xml"/><Relationship Id="rId4" Type="http://schemas.openxmlformats.org/officeDocument/2006/relationships/tags" Target="../tags/tag86.xml"/><Relationship Id="rId9" Type="http://schemas.openxmlformats.org/officeDocument/2006/relationships/tags" Target="../tags/tag91.xml"/><Relationship Id="rId14" Type="http://schemas.openxmlformats.org/officeDocument/2006/relationships/tags" Target="../tags/tag96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106.xml"/><Relationship Id="rId13" Type="http://schemas.openxmlformats.org/officeDocument/2006/relationships/tags" Target="../tags/tag111.xml"/><Relationship Id="rId18" Type="http://schemas.openxmlformats.org/officeDocument/2006/relationships/image" Target="../media/image1.tmp"/><Relationship Id="rId3" Type="http://schemas.openxmlformats.org/officeDocument/2006/relationships/tags" Target="../tags/tag101.xml"/><Relationship Id="rId7" Type="http://schemas.openxmlformats.org/officeDocument/2006/relationships/tags" Target="../tags/tag105.xml"/><Relationship Id="rId12" Type="http://schemas.openxmlformats.org/officeDocument/2006/relationships/tags" Target="../tags/tag110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100.xml"/><Relationship Id="rId16" Type="http://schemas.openxmlformats.org/officeDocument/2006/relationships/tags" Target="../tags/tag114.xml"/><Relationship Id="rId1" Type="http://schemas.openxmlformats.org/officeDocument/2006/relationships/tags" Target="../tags/tag99.xml"/><Relationship Id="rId6" Type="http://schemas.openxmlformats.org/officeDocument/2006/relationships/tags" Target="../tags/tag104.xml"/><Relationship Id="rId11" Type="http://schemas.openxmlformats.org/officeDocument/2006/relationships/tags" Target="../tags/tag109.xml"/><Relationship Id="rId5" Type="http://schemas.openxmlformats.org/officeDocument/2006/relationships/tags" Target="../tags/tag103.xml"/><Relationship Id="rId15" Type="http://schemas.openxmlformats.org/officeDocument/2006/relationships/tags" Target="../tags/tag113.xml"/><Relationship Id="rId10" Type="http://schemas.openxmlformats.org/officeDocument/2006/relationships/tags" Target="../tags/tag108.xml"/><Relationship Id="rId4" Type="http://schemas.openxmlformats.org/officeDocument/2006/relationships/tags" Target="../tags/tag102.xml"/><Relationship Id="rId9" Type="http://schemas.openxmlformats.org/officeDocument/2006/relationships/tags" Target="../tags/tag107.xml"/><Relationship Id="rId14" Type="http://schemas.openxmlformats.org/officeDocument/2006/relationships/tags" Target="../tags/tag1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7E69F9-6B9D-41C3-8482-4D5D712E2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第</a:t>
            </a:r>
            <a:r>
              <a:rPr lang="en-US" altLang="zh-CN" dirty="0"/>
              <a:t>3</a:t>
            </a:r>
            <a:r>
              <a:rPr lang="zh-CN" altLang="en-US" dirty="0"/>
              <a:t>章书面作业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2C1760D-74E7-48BB-9E02-82097326799D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841500" y="5842000"/>
            <a:ext cx="2032000" cy="50800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 anchorCtr="1">
            <a:noAutofit/>
          </a:bodyPr>
          <a:lstStyle/>
          <a:p>
            <a:r>
              <a:rPr lang="zh-CN" altLang="en-US" sz="2000">
                <a:solidFill>
                  <a:srgbClr val="000000"/>
                </a:solidFill>
              </a:rPr>
              <a:t>总分</a:t>
            </a:r>
            <a:r>
              <a:rPr lang="en-US" altLang="zh-CN" sz="2000">
                <a:solidFill>
                  <a:srgbClr val="000000"/>
                </a:solidFill>
              </a:rPr>
              <a:t>: 5</a:t>
            </a:r>
            <a:endParaRPr lang="zh-CN" altLang="en-US" sz="2000">
              <a:solidFill>
                <a:srgbClr val="000000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0B5FE55-C2F3-4FF3-80DC-0AEF06A93098}"/>
              </a:ext>
            </a:extLst>
          </p:cNvPr>
          <p:cNvSpPr txBox="1"/>
          <p:nvPr/>
        </p:nvSpPr>
        <p:spPr>
          <a:xfrm>
            <a:off x="127000" y="7874000"/>
            <a:ext cx="5461000" cy="10160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</a:ln>
        </p:spPr>
        <p:txBody>
          <a:bodyPr vert="horz" wrap="square" rtlCol="0" anchor="ctr">
            <a:noAutofit/>
          </a:bodyPr>
          <a:lstStyle/>
          <a:p>
            <a:r>
              <a:rPr lang="zh-CN" altLang="en-US" sz="2000">
                <a:solidFill>
                  <a:srgbClr val="FF0000"/>
                </a:solidFill>
              </a:rPr>
              <a:t>*此封面页请勿删除，删除后将无法上传至试卷库，添加菜单栏任意题型即可制作试卷。本提示将在上传时自动隐藏。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82555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0EB4949F-D931-4B68-A33B-D26EE16EA9AA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634999"/>
            <a:ext cx="5715000" cy="7572375"/>
          </a:xfrm>
          <a:prstGeom prst="rect">
            <a:avLst/>
          </a:prstGeom>
          <a:noFill/>
        </p:spPr>
        <p:txBody>
          <a:bodyPr vert="horz" wrap="square" rtlCol="0" anchor="t" anchorCtr="0">
            <a:noAutofit/>
          </a:bodyPr>
          <a:lstStyle/>
          <a:p>
            <a:pPr lvl="0" algn="just">
              <a:spcAft>
                <a:spcPts val="0"/>
              </a:spcAft>
            </a:pPr>
            <a:r>
              <a:rPr lang="zh-CN" altLang="en-US" sz="14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提交方式同前。思考题不必做，做了不会额外加分。</a:t>
            </a:r>
            <a:endParaRPr lang="en-US" altLang="zh-CN" sz="1400" b="1" kern="100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lvl="0" indent="-342900" algn="just">
              <a:spcAft>
                <a:spcPts val="0"/>
              </a:spcAft>
              <a:buFont typeface="+mj-lt"/>
              <a:buAutoNum type="arabicPeriod"/>
            </a:pPr>
            <a:r>
              <a:rPr lang="zh-CN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描述下列正规式定义的语言</a:t>
            </a:r>
            <a:r>
              <a:rPr lang="zh-CN" altLang="en-US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0.5</a:t>
            </a:r>
            <a:r>
              <a:rPr lang="zh-CN" altLang="en-US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分）</a:t>
            </a:r>
            <a:endParaRPr lang="zh-CN" altLang="zh-CN" sz="1400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lvl="0" indent="-342900" algn="just">
              <a:spcAft>
                <a:spcPts val="0"/>
              </a:spcAft>
              <a:buFont typeface="+mj-lt"/>
              <a:buAutoNum type="arabicParenR"/>
            </a:pPr>
            <a:r>
              <a:rPr lang="en-US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((0 | 1 | </a:t>
            </a:r>
            <a:r>
              <a:rPr lang="en-US" altLang="zh-CN" sz="1400" kern="100" dirty="0">
                <a:latin typeface="Symbol" panose="05050102010706020507" pitchFamily="18" charset="2"/>
                <a:ea typeface="宋体" panose="02010600030101010101" pitchFamily="2" charset="-122"/>
              </a:rPr>
              <a:t>e</a:t>
            </a:r>
            <a:r>
              <a:rPr lang="en-US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)*10)</a:t>
            </a:r>
            <a:r>
              <a:rPr lang="en-US" altLang="zh-CN" sz="1400" kern="100" baseline="30000" dirty="0">
                <a:latin typeface="Times New Roman" panose="02020603050405020304" pitchFamily="18" charset="0"/>
                <a:ea typeface="宋体" panose="02010600030101010101" pitchFamily="2" charset="-122"/>
              </a:rPr>
              <a:t>*</a:t>
            </a:r>
            <a:endParaRPr lang="zh-CN" altLang="zh-CN" sz="1400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lvl="0" indent="-342900" algn="just">
              <a:spcAft>
                <a:spcPts val="0"/>
              </a:spcAft>
              <a:buFont typeface="+mj-lt"/>
              <a:buAutoNum type="arabicParenR"/>
            </a:pPr>
            <a:r>
              <a:rPr lang="zh-CN" altLang="en-US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（思考题）</a:t>
            </a:r>
            <a:r>
              <a:rPr lang="en-US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(1(0*1)*) | (0(1*0)*)</a:t>
            </a:r>
            <a:endParaRPr lang="zh-CN" altLang="zh-CN" sz="1400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en-US" altLang="zh-CN" sz="1400" dirty="0"/>
          </a:p>
          <a:p>
            <a:pPr marL="342900" lvl="0" indent="-342900" algn="just">
              <a:spcAft>
                <a:spcPts val="0"/>
              </a:spcAft>
              <a:buFont typeface="+mj-lt"/>
              <a:buAutoNum type="arabicPeriod" startAt="7"/>
            </a:pPr>
            <a:endParaRPr lang="zh-CN" altLang="zh-CN" sz="1100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0" algn="just">
              <a:spcAft>
                <a:spcPts val="0"/>
              </a:spcAft>
            </a:pPr>
            <a:endParaRPr lang="en-US" altLang="zh-CN" sz="1400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BAAD9DE-EB78-4700-A73F-C2061EC1FF9A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8270875"/>
            <a:ext cx="5715000" cy="47625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rtlCol="0" anchor="ctr" anchorCtr="1">
            <a:noAutofit/>
          </a:bodyPr>
          <a:lstStyle/>
          <a:p>
            <a:r>
              <a:rPr lang="zh-CN" altLang="en-US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正常使用主观题需</a:t>
            </a:r>
            <a:r>
              <a:rPr lang="en-US" altLang="zh-CN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2.0</a:t>
            </a:r>
            <a:r>
              <a:rPr lang="zh-CN" altLang="en-US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</a:p>
        </p:txBody>
      </p:sp>
      <p:sp>
        <p:nvSpPr>
          <p:cNvPr id="12" name="矩形 11" hidden="1">
            <a:extLst>
              <a:ext uri="{FF2B5EF4-FFF2-40B4-BE49-F238E27FC236}">
                <a16:creationId xmlns:a16="http://schemas.microsoft.com/office/drawing/2014/main" id="{7A532EE4-4327-46BD-BB9E-53F7E23F9151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6096000" y="0"/>
            <a:ext cx="5120640" cy="9144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7" name="文本框 16" hidden="1">
            <a:extLst>
              <a:ext uri="{FF2B5EF4-FFF2-40B4-BE49-F238E27FC236}">
                <a16:creationId xmlns:a16="http://schemas.microsoft.com/office/drawing/2014/main" id="{1DC77BFC-C8B6-4964-B43B-DCB46B4513E9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6184900" y="8413419"/>
            <a:ext cx="4942840" cy="46166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</a14:hiddenLine>
            </a:ext>
          </a:extLst>
        </p:spPr>
        <p:txBody>
          <a:bodyPr vert="horz" rtlCol="0" anchor="ctr">
            <a:sp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可为此题添加文本、图片、公式等解析，且需将内容全部放在本区域内。正常使用需</a:t>
            </a:r>
            <a:r>
              <a:rPr lang="en-US" altLang="zh-CN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</a:t>
            </a:r>
          </a:p>
        </p:txBody>
      </p:sp>
      <p:sp>
        <p:nvSpPr>
          <p:cNvPr id="18" name="文本框 17" hidden="1">
            <a:extLst>
              <a:ext uri="{FF2B5EF4-FFF2-40B4-BE49-F238E27FC236}">
                <a16:creationId xmlns:a16="http://schemas.microsoft.com/office/drawing/2014/main" id="{2F3BA613-906C-4F7E-9545-5B4E18EE5932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6350000" y="1270000"/>
            <a:ext cx="4612640" cy="1905000"/>
          </a:xfrm>
          <a:prstGeom prst="rect">
            <a:avLst/>
          </a:prstGeom>
          <a:noFill/>
        </p:spPr>
        <p:txBody>
          <a:bodyPr vert="horz" rtlCol="0" anchor="t" anchorCtr="0">
            <a:spAutoFit/>
          </a:bodyPr>
          <a:lstStyle/>
          <a:p>
            <a:r>
              <a:rPr lang="zh-CN" altLang="en-US" sz="20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此处添加答案解析</a:t>
            </a:r>
          </a:p>
        </p:txBody>
      </p:sp>
      <p:grpSp>
        <p:nvGrpSpPr>
          <p:cNvPr id="16" name="组合 15" hidden="1">
            <a:extLst>
              <a:ext uri="{FF2B5EF4-FFF2-40B4-BE49-F238E27FC236}">
                <a16:creationId xmlns:a16="http://schemas.microsoft.com/office/drawing/2014/main" id="{8094A5E6-38E2-421E-9349-DAD6344CA4F6}"/>
              </a:ext>
            </a:extLst>
          </p:cNvPr>
          <p:cNvGrpSpPr/>
          <p:nvPr>
            <p:custDataLst>
              <p:tags r:id="rId7"/>
            </p:custDataLst>
          </p:nvPr>
        </p:nvGrpSpPr>
        <p:grpSpPr>
          <a:xfrm>
            <a:off x="6108700" y="0"/>
            <a:ext cx="5095240" cy="647700"/>
            <a:chOff x="6108700" y="0"/>
            <a:chExt cx="5095240" cy="647700"/>
          </a:xfrm>
        </p:grpSpPr>
        <p:sp>
          <p:nvSpPr>
            <p:cNvPr id="13" name="RemarkBack" hidden="1">
              <a:extLst>
                <a:ext uri="{FF2B5EF4-FFF2-40B4-BE49-F238E27FC236}">
                  <a16:creationId xmlns:a16="http://schemas.microsoft.com/office/drawing/2014/main" id="{E151523A-162A-4DC7-8B3A-4E8646C6824D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6108700" y="12700"/>
              <a:ext cx="509524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RemarkBlock" hidden="1">
              <a:extLst>
                <a:ext uri="{FF2B5EF4-FFF2-40B4-BE49-F238E27FC236}">
                  <a16:creationId xmlns:a16="http://schemas.microsoft.com/office/drawing/2014/main" id="{46CB9BE8-ABF5-476E-AEF1-0A391167ED50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6108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RemarkTitleText" hidden="1">
              <a:extLst>
                <a:ext uri="{FF2B5EF4-FFF2-40B4-BE49-F238E27FC236}">
                  <a16:creationId xmlns:a16="http://schemas.microsoft.com/office/drawing/2014/main" id="{DE3F1CD5-B80D-44A8-9477-23D015EAB726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635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18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答案解析</a:t>
              </a:r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DDF90F35-0C7F-426F-8EAB-71862230F6D9}"/>
              </a:ext>
            </a:extLst>
          </p:cNvPr>
          <p:cNvGrpSpPr/>
          <p:nvPr>
            <p:custDataLst>
              <p:tags r:id="rId8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6" name="TitleBackground">
              <a:extLst>
                <a:ext uri="{FF2B5EF4-FFF2-40B4-BE49-F238E27FC236}">
                  <a16:creationId xmlns:a16="http://schemas.microsoft.com/office/drawing/2014/main" id="{DF222A90-94AC-4E86-8347-C91EF71E85A7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ColorBlock">
              <a:extLst>
                <a:ext uri="{FF2B5EF4-FFF2-40B4-BE49-F238E27FC236}">
                  <a16:creationId xmlns:a16="http://schemas.microsoft.com/office/drawing/2014/main" id="{0ADDDE70-69FC-43F6-8995-F5149CF5ECB1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TypeText">
              <a:extLst>
                <a:ext uri="{FF2B5EF4-FFF2-40B4-BE49-F238E27FC236}">
                  <a16:creationId xmlns:a16="http://schemas.microsoft.com/office/drawing/2014/main" id="{BFBDE1A9-C343-4924-BF9E-8B9BE6BF2BD8}"/>
                </a:ext>
              </a:extLst>
            </p:cNvPr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9" name="TipText">
              <a:extLst>
                <a:ext uri="{FF2B5EF4-FFF2-40B4-BE49-F238E27FC236}">
                  <a16:creationId xmlns:a16="http://schemas.microsoft.com/office/drawing/2014/main" id="{400DF923-22EE-45B8-B11F-B69D1BBF1255}"/>
                </a:ext>
              </a:extLst>
            </p:cNvPr>
            <p:cNvSpPr txBox="1"/>
            <p:nvPr>
              <p:custDataLst>
                <p:tags r:id="rId13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0.5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8EC1FD1B-47AE-4EDD-A64E-A87102C7E234}"/>
              </a:ext>
            </a:extLst>
          </p:cNvPr>
          <p:cNvPicPr>
            <a:picLocks/>
          </p:cNvPicPr>
          <p:nvPr>
            <p:custDataLst>
              <p:tags r:id="rId9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902619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0EB4949F-D931-4B68-A33B-D26EE16EA9AA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634999"/>
            <a:ext cx="5715000" cy="7572375"/>
          </a:xfrm>
          <a:prstGeom prst="rect">
            <a:avLst/>
          </a:prstGeom>
          <a:noFill/>
        </p:spPr>
        <p:txBody>
          <a:bodyPr vert="horz" wrap="square" rtlCol="0" anchor="t" anchorCtr="0">
            <a:noAutofit/>
          </a:bodyPr>
          <a:lstStyle/>
          <a:p>
            <a:pPr marL="342900" lvl="0" indent="-342900" algn="just">
              <a:spcAft>
                <a:spcPts val="0"/>
              </a:spcAft>
              <a:buFont typeface="+mj-lt"/>
              <a:buAutoNum type="arabicPeriod" startAt="2"/>
            </a:pPr>
            <a:r>
              <a:rPr lang="zh-CN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为下列语言写出正规定义</a:t>
            </a:r>
            <a:r>
              <a:rPr lang="zh-CN" altLang="en-US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0.5</a:t>
            </a:r>
            <a:r>
              <a:rPr lang="zh-CN" altLang="en-US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分）</a:t>
            </a:r>
            <a:endParaRPr lang="zh-CN" altLang="zh-CN" sz="1400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indent="-342900" algn="just">
              <a:buFont typeface="+mj-lt"/>
              <a:buAutoNum type="arabicParenR"/>
            </a:pPr>
            <a:r>
              <a:rPr lang="en-US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zh-CN" altLang="en-US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和</a:t>
            </a:r>
            <a:r>
              <a:rPr lang="en-US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zh-CN" altLang="en-US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交替出现的长度至少为</a:t>
            </a:r>
            <a:r>
              <a:rPr lang="en-US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的</a:t>
            </a:r>
            <a:r>
              <a:rPr lang="en-US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zh-CN" altLang="en-US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zh-CN" altLang="en-US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串，如</a:t>
            </a:r>
            <a:r>
              <a:rPr lang="en-US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zh-CN" altLang="en-US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zh-CN" altLang="en-US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ab</a:t>
            </a:r>
            <a:r>
              <a:rPr lang="zh-CN" altLang="en-US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1400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ba</a:t>
            </a:r>
            <a:r>
              <a:rPr lang="zh-CN" altLang="en-US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aba</a:t>
            </a:r>
            <a:r>
              <a:rPr lang="zh-CN" altLang="en-US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1400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bab</a:t>
            </a:r>
            <a:r>
              <a:rPr lang="zh-CN" altLang="en-US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…</a:t>
            </a:r>
            <a:r>
              <a:rPr lang="zh-CN" altLang="en-US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，而不包含</a:t>
            </a:r>
            <a:r>
              <a:rPr lang="en-US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aa</a:t>
            </a:r>
            <a:r>
              <a:rPr lang="zh-CN" altLang="en-US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bb</a:t>
            </a:r>
            <a:r>
              <a:rPr lang="zh-CN" altLang="en-US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…</a:t>
            </a:r>
            <a:r>
              <a:rPr lang="zh-CN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</a:p>
          <a:p>
            <a:pPr marL="342900" lvl="0" indent="-342900" algn="just">
              <a:spcAft>
                <a:spcPts val="0"/>
              </a:spcAft>
              <a:buFont typeface="+mj-lt"/>
              <a:buAutoNum type="arabicParenR"/>
            </a:pPr>
            <a:r>
              <a:rPr lang="zh-CN" altLang="en-US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（思考题）</a:t>
            </a:r>
            <a:r>
              <a:rPr lang="zh-CN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以</a:t>
            </a:r>
            <a:r>
              <a:rPr lang="en-US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/*</a:t>
            </a:r>
            <a:r>
              <a:rPr lang="zh-CN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开始，</a:t>
            </a:r>
            <a:r>
              <a:rPr lang="en-US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*/</a:t>
            </a:r>
            <a:r>
              <a:rPr lang="zh-CN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结束的注释，注释中间不能包含</a:t>
            </a:r>
            <a:r>
              <a:rPr lang="en-US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*/</a:t>
            </a:r>
            <a:r>
              <a:rPr lang="zh-CN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，除非包含在双引号</a:t>
            </a:r>
            <a:r>
              <a:rPr lang="en-US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"</a:t>
            </a:r>
            <a:r>
              <a:rPr lang="zh-CN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和</a:t>
            </a:r>
            <a:r>
              <a:rPr lang="en-US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"</a:t>
            </a:r>
            <a:r>
              <a:rPr lang="zh-CN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中</a:t>
            </a:r>
          </a:p>
          <a:p>
            <a:pPr marL="270000" algn="just">
              <a:spcAft>
                <a:spcPts val="0"/>
              </a:spcAft>
            </a:pPr>
            <a:endParaRPr lang="en-US" altLang="zh-CN" sz="1400" kern="100" dirty="0">
              <a:latin typeface="等线" panose="02010600030101010101" pitchFamily="2" charset="-122"/>
              <a:cs typeface="Times New Roman" panose="02020603050405020304" pitchFamily="18" charset="0"/>
            </a:endParaRPr>
          </a:p>
          <a:p>
            <a:pPr lvl="0" algn="just">
              <a:spcAft>
                <a:spcPts val="0"/>
              </a:spcAft>
            </a:pPr>
            <a:endParaRPr lang="en-US" altLang="zh-CN" sz="1400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BAAD9DE-EB78-4700-A73F-C2061EC1FF9A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8270875"/>
            <a:ext cx="5715000" cy="47625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rtlCol="0" anchor="ctr" anchorCtr="1">
            <a:noAutofit/>
          </a:bodyPr>
          <a:lstStyle/>
          <a:p>
            <a:r>
              <a:rPr lang="zh-CN" altLang="en-US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正常使用主观题需</a:t>
            </a:r>
            <a:r>
              <a:rPr lang="en-US" altLang="zh-CN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2.0</a:t>
            </a:r>
            <a:r>
              <a:rPr lang="zh-CN" altLang="en-US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</a:p>
        </p:txBody>
      </p:sp>
      <p:sp>
        <p:nvSpPr>
          <p:cNvPr id="12" name="矩形 11" hidden="1">
            <a:extLst>
              <a:ext uri="{FF2B5EF4-FFF2-40B4-BE49-F238E27FC236}">
                <a16:creationId xmlns:a16="http://schemas.microsoft.com/office/drawing/2014/main" id="{7A532EE4-4327-46BD-BB9E-53F7E23F9151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6096000" y="0"/>
            <a:ext cx="5120640" cy="9144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7" name="文本框 16" hidden="1">
            <a:extLst>
              <a:ext uri="{FF2B5EF4-FFF2-40B4-BE49-F238E27FC236}">
                <a16:creationId xmlns:a16="http://schemas.microsoft.com/office/drawing/2014/main" id="{1DC77BFC-C8B6-4964-B43B-DCB46B4513E9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6184900" y="8413419"/>
            <a:ext cx="4942840" cy="46166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</a14:hiddenLine>
            </a:ext>
          </a:extLst>
        </p:spPr>
        <p:txBody>
          <a:bodyPr vert="horz" rtlCol="0" anchor="ctr">
            <a:sp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可为此题添加文本、图片、公式等解析，且需将内容全部放在本区域内。正常使用需</a:t>
            </a:r>
            <a:r>
              <a:rPr lang="en-US" altLang="zh-CN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</a:t>
            </a:r>
          </a:p>
        </p:txBody>
      </p:sp>
      <p:sp>
        <p:nvSpPr>
          <p:cNvPr id="18" name="文本框 17" hidden="1">
            <a:extLst>
              <a:ext uri="{FF2B5EF4-FFF2-40B4-BE49-F238E27FC236}">
                <a16:creationId xmlns:a16="http://schemas.microsoft.com/office/drawing/2014/main" id="{2F3BA613-906C-4F7E-9545-5B4E18EE5932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6350000" y="1270000"/>
            <a:ext cx="4612640" cy="1905000"/>
          </a:xfrm>
          <a:prstGeom prst="rect">
            <a:avLst/>
          </a:prstGeom>
          <a:noFill/>
        </p:spPr>
        <p:txBody>
          <a:bodyPr vert="horz" rtlCol="0" anchor="t" anchorCtr="0">
            <a:spAutoFit/>
          </a:bodyPr>
          <a:lstStyle/>
          <a:p>
            <a:r>
              <a:rPr lang="zh-CN" altLang="en-US" sz="20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此处添加答案解析</a:t>
            </a:r>
          </a:p>
        </p:txBody>
      </p:sp>
      <p:grpSp>
        <p:nvGrpSpPr>
          <p:cNvPr id="16" name="组合 15" hidden="1">
            <a:extLst>
              <a:ext uri="{FF2B5EF4-FFF2-40B4-BE49-F238E27FC236}">
                <a16:creationId xmlns:a16="http://schemas.microsoft.com/office/drawing/2014/main" id="{8094A5E6-38E2-421E-9349-DAD6344CA4F6}"/>
              </a:ext>
            </a:extLst>
          </p:cNvPr>
          <p:cNvGrpSpPr/>
          <p:nvPr>
            <p:custDataLst>
              <p:tags r:id="rId7"/>
            </p:custDataLst>
          </p:nvPr>
        </p:nvGrpSpPr>
        <p:grpSpPr>
          <a:xfrm>
            <a:off x="6108700" y="0"/>
            <a:ext cx="5095240" cy="647700"/>
            <a:chOff x="6108700" y="0"/>
            <a:chExt cx="5095240" cy="647700"/>
          </a:xfrm>
        </p:grpSpPr>
        <p:sp>
          <p:nvSpPr>
            <p:cNvPr id="13" name="RemarkBack" hidden="1">
              <a:extLst>
                <a:ext uri="{FF2B5EF4-FFF2-40B4-BE49-F238E27FC236}">
                  <a16:creationId xmlns:a16="http://schemas.microsoft.com/office/drawing/2014/main" id="{E151523A-162A-4DC7-8B3A-4E8646C6824D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6108700" y="12700"/>
              <a:ext cx="509524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RemarkBlock" hidden="1">
              <a:extLst>
                <a:ext uri="{FF2B5EF4-FFF2-40B4-BE49-F238E27FC236}">
                  <a16:creationId xmlns:a16="http://schemas.microsoft.com/office/drawing/2014/main" id="{46CB9BE8-ABF5-476E-AEF1-0A391167ED50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6108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RemarkTitleText" hidden="1">
              <a:extLst>
                <a:ext uri="{FF2B5EF4-FFF2-40B4-BE49-F238E27FC236}">
                  <a16:creationId xmlns:a16="http://schemas.microsoft.com/office/drawing/2014/main" id="{DE3F1CD5-B80D-44A8-9477-23D015EAB726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635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18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答案解析</a:t>
              </a:r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DDF90F35-0C7F-426F-8EAB-71862230F6D9}"/>
              </a:ext>
            </a:extLst>
          </p:cNvPr>
          <p:cNvGrpSpPr/>
          <p:nvPr>
            <p:custDataLst>
              <p:tags r:id="rId8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6" name="TitleBackground">
              <a:extLst>
                <a:ext uri="{FF2B5EF4-FFF2-40B4-BE49-F238E27FC236}">
                  <a16:creationId xmlns:a16="http://schemas.microsoft.com/office/drawing/2014/main" id="{DF222A90-94AC-4E86-8347-C91EF71E85A7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ColorBlock">
              <a:extLst>
                <a:ext uri="{FF2B5EF4-FFF2-40B4-BE49-F238E27FC236}">
                  <a16:creationId xmlns:a16="http://schemas.microsoft.com/office/drawing/2014/main" id="{0ADDDE70-69FC-43F6-8995-F5149CF5ECB1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TypeText">
              <a:extLst>
                <a:ext uri="{FF2B5EF4-FFF2-40B4-BE49-F238E27FC236}">
                  <a16:creationId xmlns:a16="http://schemas.microsoft.com/office/drawing/2014/main" id="{BFBDE1A9-C343-4924-BF9E-8B9BE6BF2BD8}"/>
                </a:ext>
              </a:extLst>
            </p:cNvPr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9" name="TipText">
              <a:extLst>
                <a:ext uri="{FF2B5EF4-FFF2-40B4-BE49-F238E27FC236}">
                  <a16:creationId xmlns:a16="http://schemas.microsoft.com/office/drawing/2014/main" id="{400DF923-22EE-45B8-B11F-B69D1BBF1255}"/>
                </a:ext>
              </a:extLst>
            </p:cNvPr>
            <p:cNvSpPr txBox="1"/>
            <p:nvPr>
              <p:custDataLst>
                <p:tags r:id="rId13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0.5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8EC1FD1B-47AE-4EDD-A64E-A87102C7E234}"/>
              </a:ext>
            </a:extLst>
          </p:cNvPr>
          <p:cNvPicPr>
            <a:picLocks/>
          </p:cNvPicPr>
          <p:nvPr>
            <p:custDataLst>
              <p:tags r:id="rId9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36366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0EB4949F-D931-4B68-A33B-D26EE16EA9AA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634999"/>
            <a:ext cx="5715000" cy="7572375"/>
          </a:xfrm>
          <a:prstGeom prst="rect">
            <a:avLst/>
          </a:prstGeom>
          <a:noFill/>
        </p:spPr>
        <p:txBody>
          <a:bodyPr vert="horz" wrap="square" rtlCol="0" anchor="t" anchorCtr="0">
            <a:noAutofit/>
          </a:bodyPr>
          <a:lstStyle/>
          <a:p>
            <a:pPr marL="342900" lvl="0" indent="-342900" algn="just">
              <a:spcAft>
                <a:spcPts val="0"/>
              </a:spcAft>
              <a:buFont typeface="+mj-lt"/>
              <a:buAutoNum type="arabicPeriod" startAt="3"/>
            </a:pPr>
            <a:r>
              <a:rPr lang="zh-CN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为下列语言设计有限自动机</a:t>
            </a:r>
            <a:r>
              <a:rPr lang="zh-CN" altLang="en-US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0.5</a:t>
            </a:r>
            <a:r>
              <a:rPr lang="zh-CN" altLang="en-US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分）</a:t>
            </a:r>
            <a:endParaRPr lang="zh-CN" altLang="zh-CN" sz="1400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indent="-342900" algn="just">
              <a:buFont typeface="+mj-lt"/>
              <a:buAutoNum type="arabicParenR"/>
            </a:pPr>
            <a:r>
              <a:rPr lang="zh-CN" altLang="en-US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各位</a:t>
            </a:r>
            <a:r>
              <a:rPr lang="zh-CN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数字和为</a:t>
            </a:r>
            <a:r>
              <a:rPr lang="en-US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zh-CN" altLang="en-US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的倍数</a:t>
            </a:r>
            <a:r>
              <a:rPr lang="zh-CN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的</a:t>
            </a:r>
            <a:r>
              <a:rPr lang="en-US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zh-CN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串</a:t>
            </a:r>
          </a:p>
          <a:p>
            <a:pPr marL="342900" lvl="0" indent="-342900" algn="just">
              <a:spcAft>
                <a:spcPts val="0"/>
              </a:spcAft>
              <a:buFont typeface="+mj-lt"/>
              <a:buAutoNum type="arabicParenR"/>
            </a:pPr>
            <a:r>
              <a:rPr lang="zh-CN" altLang="en-US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（思考题）</a:t>
            </a:r>
            <a:r>
              <a:rPr lang="zh-CN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不包含子串</a:t>
            </a:r>
            <a:r>
              <a:rPr lang="en-US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0101</a:t>
            </a:r>
            <a:r>
              <a:rPr lang="zh-CN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的</a:t>
            </a:r>
            <a:r>
              <a:rPr lang="en-US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zh-CN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串</a:t>
            </a:r>
          </a:p>
          <a:p>
            <a:pPr marL="342900" lvl="0" indent="-342900" algn="just">
              <a:spcAft>
                <a:spcPts val="0"/>
              </a:spcAft>
              <a:buFont typeface="+mj-lt"/>
              <a:buAutoNum type="arabicPeriod" startAt="4"/>
            </a:pPr>
            <a:endParaRPr lang="en-US" altLang="zh-CN" sz="1400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lvl="0" indent="-342900" algn="just">
              <a:spcAft>
                <a:spcPts val="0"/>
              </a:spcAft>
              <a:buFont typeface="+mj-lt"/>
              <a:buAutoNum type="arabicPeriod" startAt="4"/>
            </a:pPr>
            <a:r>
              <a:rPr lang="zh-CN" altLang="en-US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（思考题） </a:t>
            </a:r>
            <a:r>
              <a:rPr lang="en-US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UNIX</a:t>
            </a:r>
            <a:r>
              <a:rPr lang="zh-CN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系统中，</a:t>
            </a:r>
            <a:r>
              <a:rPr lang="en-US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shell</a:t>
            </a:r>
            <a:r>
              <a:rPr lang="zh-CN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命令可用如下表所示的操作符构造文件名表达式，表示文件集合。如：</a:t>
            </a:r>
            <a:r>
              <a:rPr lang="en-US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*.o</a:t>
            </a:r>
            <a:r>
              <a:rPr lang="zh-CN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匹配所有后缀为</a:t>
            </a:r>
            <a:r>
              <a:rPr lang="en-US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.o</a:t>
            </a:r>
            <a:r>
              <a:rPr lang="zh-CN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的文件，</a:t>
            </a:r>
            <a:r>
              <a:rPr lang="en-US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sort.?</a:t>
            </a:r>
            <a:r>
              <a:rPr lang="zh-CN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匹配所有形如</a:t>
            </a:r>
            <a:r>
              <a:rPr lang="en-US" altLang="zh-CN" sz="1400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sort.</a:t>
            </a:r>
            <a:r>
              <a:rPr lang="en-US" altLang="zh-CN" sz="1400" i="1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zh-CN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的文件，其中</a:t>
            </a:r>
            <a:r>
              <a:rPr lang="en-US" altLang="zh-CN" sz="1400" i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zh-CN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是任意字符。而字符集可缩写为</a:t>
            </a:r>
            <a:r>
              <a:rPr lang="en-US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[a-z]</a:t>
            </a:r>
            <a:r>
              <a:rPr lang="zh-CN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类似的形式。如何用正规式表示</a:t>
            </a:r>
            <a:r>
              <a:rPr lang="en-US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shell</a:t>
            </a:r>
            <a:r>
              <a:rPr lang="zh-CN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文件名表达式？（对文件名表达式所支持的所有操作，给出其对应的正规式表示即可）</a:t>
            </a:r>
            <a:endParaRPr lang="en-US" altLang="zh-CN" sz="1400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0" algn="just">
              <a:spcAft>
                <a:spcPts val="0"/>
              </a:spcAft>
            </a:pPr>
            <a:endParaRPr lang="en-US" altLang="zh-CN" sz="1400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0" algn="just">
              <a:spcAft>
                <a:spcPts val="0"/>
              </a:spcAft>
            </a:pPr>
            <a:endParaRPr lang="en-US" altLang="zh-CN" sz="1400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0" algn="just">
              <a:spcAft>
                <a:spcPts val="0"/>
              </a:spcAft>
            </a:pPr>
            <a:endParaRPr lang="en-US" altLang="zh-CN" sz="1400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0" algn="just">
              <a:spcAft>
                <a:spcPts val="0"/>
              </a:spcAft>
            </a:pPr>
            <a:endParaRPr lang="en-US" altLang="zh-CN" sz="1400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0" algn="just">
              <a:spcAft>
                <a:spcPts val="0"/>
              </a:spcAft>
            </a:pPr>
            <a:endParaRPr lang="en-US" altLang="zh-CN" sz="1400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0" algn="just">
              <a:spcAft>
                <a:spcPts val="0"/>
              </a:spcAft>
            </a:pPr>
            <a:endParaRPr lang="en-US" altLang="zh-CN" sz="1400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0" algn="just">
              <a:spcAft>
                <a:spcPts val="0"/>
              </a:spcAft>
            </a:pPr>
            <a:endParaRPr lang="en-US" altLang="zh-CN" sz="1400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BAAD9DE-EB78-4700-A73F-C2061EC1FF9A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8270875"/>
            <a:ext cx="5715000" cy="47625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rtlCol="0" anchor="ctr" anchorCtr="1">
            <a:noAutofit/>
          </a:bodyPr>
          <a:lstStyle/>
          <a:p>
            <a:r>
              <a:rPr lang="zh-CN" altLang="en-US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正常使用主观题需</a:t>
            </a:r>
            <a:r>
              <a:rPr lang="en-US" altLang="zh-CN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2.0</a:t>
            </a:r>
            <a:r>
              <a:rPr lang="zh-CN" altLang="en-US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</a:p>
        </p:txBody>
      </p:sp>
      <p:sp>
        <p:nvSpPr>
          <p:cNvPr id="12" name="矩形 11" hidden="1">
            <a:extLst>
              <a:ext uri="{FF2B5EF4-FFF2-40B4-BE49-F238E27FC236}">
                <a16:creationId xmlns:a16="http://schemas.microsoft.com/office/drawing/2014/main" id="{7A532EE4-4327-46BD-BB9E-53F7E23F9151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6096000" y="0"/>
            <a:ext cx="5120640" cy="9144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7" name="文本框 16" hidden="1">
            <a:extLst>
              <a:ext uri="{FF2B5EF4-FFF2-40B4-BE49-F238E27FC236}">
                <a16:creationId xmlns:a16="http://schemas.microsoft.com/office/drawing/2014/main" id="{1DC77BFC-C8B6-4964-B43B-DCB46B4513E9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6184900" y="8413419"/>
            <a:ext cx="4942840" cy="46166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</a14:hiddenLine>
            </a:ext>
          </a:extLst>
        </p:spPr>
        <p:txBody>
          <a:bodyPr vert="horz" rtlCol="0" anchor="ctr">
            <a:sp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可为此题添加文本、图片、公式等解析，且需将内容全部放在本区域内。正常使用需</a:t>
            </a:r>
            <a:r>
              <a:rPr lang="en-US" altLang="zh-CN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</a:t>
            </a:r>
          </a:p>
        </p:txBody>
      </p:sp>
      <p:sp>
        <p:nvSpPr>
          <p:cNvPr id="18" name="文本框 17" hidden="1">
            <a:extLst>
              <a:ext uri="{FF2B5EF4-FFF2-40B4-BE49-F238E27FC236}">
                <a16:creationId xmlns:a16="http://schemas.microsoft.com/office/drawing/2014/main" id="{2F3BA613-906C-4F7E-9545-5B4E18EE5932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6350000" y="1270000"/>
            <a:ext cx="4612640" cy="1905000"/>
          </a:xfrm>
          <a:prstGeom prst="rect">
            <a:avLst/>
          </a:prstGeom>
          <a:noFill/>
        </p:spPr>
        <p:txBody>
          <a:bodyPr vert="horz" rtlCol="0" anchor="t" anchorCtr="0">
            <a:spAutoFit/>
          </a:bodyPr>
          <a:lstStyle/>
          <a:p>
            <a:r>
              <a:rPr lang="zh-CN" altLang="en-US" sz="20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此处添加答案解析</a:t>
            </a:r>
          </a:p>
        </p:txBody>
      </p:sp>
      <p:grpSp>
        <p:nvGrpSpPr>
          <p:cNvPr id="16" name="组合 15" hidden="1">
            <a:extLst>
              <a:ext uri="{FF2B5EF4-FFF2-40B4-BE49-F238E27FC236}">
                <a16:creationId xmlns:a16="http://schemas.microsoft.com/office/drawing/2014/main" id="{8094A5E6-38E2-421E-9349-DAD6344CA4F6}"/>
              </a:ext>
            </a:extLst>
          </p:cNvPr>
          <p:cNvGrpSpPr/>
          <p:nvPr>
            <p:custDataLst>
              <p:tags r:id="rId7"/>
            </p:custDataLst>
          </p:nvPr>
        </p:nvGrpSpPr>
        <p:grpSpPr>
          <a:xfrm>
            <a:off x="6108700" y="0"/>
            <a:ext cx="5095240" cy="647700"/>
            <a:chOff x="6108700" y="0"/>
            <a:chExt cx="5095240" cy="647700"/>
          </a:xfrm>
        </p:grpSpPr>
        <p:sp>
          <p:nvSpPr>
            <p:cNvPr id="13" name="RemarkBack" hidden="1">
              <a:extLst>
                <a:ext uri="{FF2B5EF4-FFF2-40B4-BE49-F238E27FC236}">
                  <a16:creationId xmlns:a16="http://schemas.microsoft.com/office/drawing/2014/main" id="{E151523A-162A-4DC7-8B3A-4E8646C6824D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6108700" y="12700"/>
              <a:ext cx="509524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RemarkBlock" hidden="1">
              <a:extLst>
                <a:ext uri="{FF2B5EF4-FFF2-40B4-BE49-F238E27FC236}">
                  <a16:creationId xmlns:a16="http://schemas.microsoft.com/office/drawing/2014/main" id="{46CB9BE8-ABF5-476E-AEF1-0A391167ED50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6108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RemarkTitleText" hidden="1">
              <a:extLst>
                <a:ext uri="{FF2B5EF4-FFF2-40B4-BE49-F238E27FC236}">
                  <a16:creationId xmlns:a16="http://schemas.microsoft.com/office/drawing/2014/main" id="{DE3F1CD5-B80D-44A8-9477-23D015EAB726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635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18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答案解析</a:t>
              </a:r>
            </a:p>
          </p:txBody>
        </p:sp>
      </p:grp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B08ADFE2-963D-4499-9354-FC58BF0331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6671135"/>
              </p:ext>
            </p:extLst>
          </p:nvPr>
        </p:nvGraphicFramePr>
        <p:xfrm>
          <a:off x="626110" y="2938409"/>
          <a:ext cx="4085590" cy="1097280"/>
        </p:xfrm>
        <a:graphic>
          <a:graphicData uri="http://schemas.openxmlformats.org/drawingml/2006/table">
            <a:tbl>
              <a:tblPr firstRow="1" firstCol="1" bandRow="1" bandCol="1">
                <a:tableStyleId>{5C22544A-7EE6-4342-B048-85BDC9FD1C3A}</a:tableStyleId>
              </a:tblPr>
              <a:tblGrid>
                <a:gridCol w="1361440">
                  <a:extLst>
                    <a:ext uri="{9D8B030D-6E8A-4147-A177-3AD203B41FA5}">
                      <a16:colId xmlns:a16="http://schemas.microsoft.com/office/drawing/2014/main" val="2070393169"/>
                    </a:ext>
                  </a:extLst>
                </a:gridCol>
                <a:gridCol w="1362075">
                  <a:extLst>
                    <a:ext uri="{9D8B030D-6E8A-4147-A177-3AD203B41FA5}">
                      <a16:colId xmlns:a16="http://schemas.microsoft.com/office/drawing/2014/main" val="688093400"/>
                    </a:ext>
                  </a:extLst>
                </a:gridCol>
                <a:gridCol w="1362075">
                  <a:extLst>
                    <a:ext uri="{9D8B030D-6E8A-4147-A177-3AD203B41FA5}">
                      <a16:colId xmlns:a16="http://schemas.microsoft.com/office/drawing/2014/main" val="5907875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</a:rPr>
                        <a:t>表达式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</a:rPr>
                        <a:t>匹配</a:t>
                      </a:r>
                      <a:endParaRPr lang="zh-CN" sz="105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</a:rPr>
                        <a:t>例子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0246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‘s’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</a:rPr>
                        <a:t>串</a:t>
                      </a:r>
                      <a:r>
                        <a:rPr lang="en-US" sz="1200" kern="100" dirty="0">
                          <a:effectLst/>
                        </a:rPr>
                        <a:t>s</a:t>
                      </a:r>
                      <a:r>
                        <a:rPr lang="zh-CN" sz="1200" kern="100" dirty="0">
                          <a:effectLst/>
                        </a:rPr>
                        <a:t>本身</a:t>
                      </a:r>
                      <a:endParaRPr lang="zh-CN" sz="105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‘\’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751807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\c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</a:rPr>
                        <a:t>字符</a:t>
                      </a:r>
                      <a:r>
                        <a:rPr lang="en-US" sz="1200" kern="100">
                          <a:effectLst/>
                        </a:rPr>
                        <a:t>c</a:t>
                      </a:r>
                      <a:r>
                        <a:rPr lang="zh-CN" sz="1200" kern="100">
                          <a:effectLst/>
                        </a:rPr>
                        <a:t>本身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\’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525384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*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</a:rPr>
                        <a:t>任何串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*.o</a:t>
                      </a:r>
                      <a:endParaRPr lang="zh-CN" sz="105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71943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?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</a:rPr>
                        <a:t>任何字符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sort1.?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067769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[s]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s</a:t>
                      </a:r>
                      <a:r>
                        <a:rPr lang="zh-CN" sz="1200" kern="100">
                          <a:effectLst/>
                        </a:rPr>
                        <a:t>中任何字符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sort.[</a:t>
                      </a:r>
                      <a:r>
                        <a:rPr lang="en-US" sz="1200" kern="100" dirty="0" err="1">
                          <a:effectLst/>
                        </a:rPr>
                        <a:t>cso</a:t>
                      </a:r>
                      <a:r>
                        <a:rPr lang="en-US" sz="1200" kern="100" dirty="0">
                          <a:effectLst/>
                        </a:rPr>
                        <a:t>]</a:t>
                      </a:r>
                      <a:endParaRPr lang="zh-CN" sz="105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03054339"/>
                  </a:ext>
                </a:extLst>
              </a:tr>
            </a:tbl>
          </a:graphicData>
        </a:graphic>
      </p:graphicFrame>
      <p:grpSp>
        <p:nvGrpSpPr>
          <p:cNvPr id="10" name="组合 9">
            <a:extLst>
              <a:ext uri="{FF2B5EF4-FFF2-40B4-BE49-F238E27FC236}">
                <a16:creationId xmlns:a16="http://schemas.microsoft.com/office/drawing/2014/main" id="{DDF90F35-0C7F-426F-8EAB-71862230F6D9}"/>
              </a:ext>
            </a:extLst>
          </p:cNvPr>
          <p:cNvGrpSpPr/>
          <p:nvPr>
            <p:custDataLst>
              <p:tags r:id="rId8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6" name="TitleBackground">
              <a:extLst>
                <a:ext uri="{FF2B5EF4-FFF2-40B4-BE49-F238E27FC236}">
                  <a16:creationId xmlns:a16="http://schemas.microsoft.com/office/drawing/2014/main" id="{DF222A90-94AC-4E86-8347-C91EF71E85A7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ColorBlock">
              <a:extLst>
                <a:ext uri="{FF2B5EF4-FFF2-40B4-BE49-F238E27FC236}">
                  <a16:creationId xmlns:a16="http://schemas.microsoft.com/office/drawing/2014/main" id="{0ADDDE70-69FC-43F6-8995-F5149CF5ECB1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TypeText">
              <a:extLst>
                <a:ext uri="{FF2B5EF4-FFF2-40B4-BE49-F238E27FC236}">
                  <a16:creationId xmlns:a16="http://schemas.microsoft.com/office/drawing/2014/main" id="{BFBDE1A9-C343-4924-BF9E-8B9BE6BF2BD8}"/>
                </a:ext>
              </a:extLst>
            </p:cNvPr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9" name="TipText">
              <a:extLst>
                <a:ext uri="{FF2B5EF4-FFF2-40B4-BE49-F238E27FC236}">
                  <a16:creationId xmlns:a16="http://schemas.microsoft.com/office/drawing/2014/main" id="{400DF923-22EE-45B8-B11F-B69D1BBF1255}"/>
                </a:ext>
              </a:extLst>
            </p:cNvPr>
            <p:cNvSpPr txBox="1"/>
            <p:nvPr>
              <p:custDataLst>
                <p:tags r:id="rId13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0.5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8EC1FD1B-47AE-4EDD-A64E-A87102C7E234}"/>
              </a:ext>
            </a:extLst>
          </p:cNvPr>
          <p:cNvPicPr>
            <a:picLocks/>
          </p:cNvPicPr>
          <p:nvPr>
            <p:custDataLst>
              <p:tags r:id="rId9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37751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0EB4949F-D931-4B68-A33B-D26EE16EA9AA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634999"/>
            <a:ext cx="5715000" cy="7572375"/>
          </a:xfrm>
          <a:prstGeom prst="rect">
            <a:avLst/>
          </a:prstGeom>
          <a:noFill/>
        </p:spPr>
        <p:txBody>
          <a:bodyPr vert="horz" wrap="square" rtlCol="0" anchor="t" anchorCtr="0">
            <a:noAutofit/>
          </a:bodyPr>
          <a:lstStyle/>
          <a:p>
            <a:pPr marL="342900" lvl="0" indent="-342900" algn="just">
              <a:spcAft>
                <a:spcPts val="0"/>
              </a:spcAft>
              <a:buFont typeface="+mj-lt"/>
              <a:buAutoNum type="arabicPeriod" startAt="5"/>
            </a:pPr>
            <a:r>
              <a:rPr lang="zh-CN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使用</a:t>
            </a:r>
            <a:r>
              <a:rPr lang="en-US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Thompson</a:t>
            </a:r>
            <a:r>
              <a:rPr lang="zh-CN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构造法为</a:t>
            </a:r>
            <a:r>
              <a:rPr lang="zh-CN" altLang="en-US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下面</a:t>
            </a:r>
            <a:r>
              <a:rPr lang="zh-CN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正规式构造</a:t>
            </a:r>
            <a:r>
              <a:rPr lang="en-US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NFA</a:t>
            </a:r>
            <a:r>
              <a:rPr lang="zh-CN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，写出</a:t>
            </a:r>
            <a:r>
              <a:rPr lang="en-US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NFA</a:t>
            </a:r>
            <a:r>
              <a:rPr lang="zh-CN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处理符号串</a:t>
            </a:r>
            <a:r>
              <a:rPr lang="en-US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01112</a:t>
            </a:r>
            <a:r>
              <a:rPr lang="zh-CN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过程中的状态转换序列</a:t>
            </a:r>
            <a:r>
              <a:rPr lang="zh-CN" altLang="en-US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分）</a:t>
            </a:r>
            <a:endParaRPr lang="zh-CN" altLang="zh-CN" sz="1100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04800" algn="just">
              <a:spcAft>
                <a:spcPts val="0"/>
              </a:spcAft>
            </a:pPr>
            <a:r>
              <a:rPr lang="en-US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 (01*2) | (012*)</a:t>
            </a:r>
            <a:endParaRPr lang="en-US" altLang="zh-CN" sz="1400" dirty="0"/>
          </a:p>
          <a:p>
            <a:pPr lvl="0" algn="just">
              <a:spcAft>
                <a:spcPts val="0"/>
              </a:spcAft>
            </a:pPr>
            <a:endParaRPr lang="en-US" altLang="zh-CN" sz="1400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BAAD9DE-EB78-4700-A73F-C2061EC1FF9A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8270875"/>
            <a:ext cx="5715000" cy="47625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rtlCol="0" anchor="ctr" anchorCtr="1">
            <a:noAutofit/>
          </a:bodyPr>
          <a:lstStyle/>
          <a:p>
            <a:r>
              <a:rPr lang="zh-CN" altLang="en-US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正常使用主观题需</a:t>
            </a:r>
            <a:r>
              <a:rPr lang="en-US" altLang="zh-CN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2.0</a:t>
            </a:r>
            <a:r>
              <a:rPr lang="zh-CN" altLang="en-US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</a:p>
        </p:txBody>
      </p:sp>
      <p:sp>
        <p:nvSpPr>
          <p:cNvPr id="12" name="矩形 11" hidden="1">
            <a:extLst>
              <a:ext uri="{FF2B5EF4-FFF2-40B4-BE49-F238E27FC236}">
                <a16:creationId xmlns:a16="http://schemas.microsoft.com/office/drawing/2014/main" id="{7A532EE4-4327-46BD-BB9E-53F7E23F9151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6096000" y="0"/>
            <a:ext cx="5120640" cy="9144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7" name="文本框 16" hidden="1">
            <a:extLst>
              <a:ext uri="{FF2B5EF4-FFF2-40B4-BE49-F238E27FC236}">
                <a16:creationId xmlns:a16="http://schemas.microsoft.com/office/drawing/2014/main" id="{1DC77BFC-C8B6-4964-B43B-DCB46B4513E9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6184900" y="8413419"/>
            <a:ext cx="4942840" cy="46166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</a14:hiddenLine>
            </a:ext>
          </a:extLst>
        </p:spPr>
        <p:txBody>
          <a:bodyPr vert="horz" rtlCol="0" anchor="ctr">
            <a:sp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可为此题添加文本、图片、公式等解析，且需将内容全部放在本区域内。正常使用需</a:t>
            </a:r>
            <a:r>
              <a:rPr lang="en-US" altLang="zh-CN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</a:t>
            </a:r>
          </a:p>
        </p:txBody>
      </p:sp>
      <p:sp>
        <p:nvSpPr>
          <p:cNvPr id="18" name="文本框 17" hidden="1">
            <a:extLst>
              <a:ext uri="{FF2B5EF4-FFF2-40B4-BE49-F238E27FC236}">
                <a16:creationId xmlns:a16="http://schemas.microsoft.com/office/drawing/2014/main" id="{2F3BA613-906C-4F7E-9545-5B4E18EE5932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6350000" y="1270000"/>
            <a:ext cx="4612640" cy="1905000"/>
          </a:xfrm>
          <a:prstGeom prst="rect">
            <a:avLst/>
          </a:prstGeom>
          <a:noFill/>
        </p:spPr>
        <p:txBody>
          <a:bodyPr vert="horz" rtlCol="0" anchor="t" anchorCtr="0">
            <a:spAutoFit/>
          </a:bodyPr>
          <a:lstStyle/>
          <a:p>
            <a:r>
              <a:rPr lang="zh-CN" altLang="en-US" sz="20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此处添加答案解析</a:t>
            </a:r>
          </a:p>
        </p:txBody>
      </p:sp>
      <p:grpSp>
        <p:nvGrpSpPr>
          <p:cNvPr id="16" name="组合 15" hidden="1">
            <a:extLst>
              <a:ext uri="{FF2B5EF4-FFF2-40B4-BE49-F238E27FC236}">
                <a16:creationId xmlns:a16="http://schemas.microsoft.com/office/drawing/2014/main" id="{8094A5E6-38E2-421E-9349-DAD6344CA4F6}"/>
              </a:ext>
            </a:extLst>
          </p:cNvPr>
          <p:cNvGrpSpPr/>
          <p:nvPr>
            <p:custDataLst>
              <p:tags r:id="rId7"/>
            </p:custDataLst>
          </p:nvPr>
        </p:nvGrpSpPr>
        <p:grpSpPr>
          <a:xfrm>
            <a:off x="6108700" y="0"/>
            <a:ext cx="5095240" cy="647700"/>
            <a:chOff x="6108700" y="0"/>
            <a:chExt cx="5095240" cy="647700"/>
          </a:xfrm>
        </p:grpSpPr>
        <p:sp>
          <p:nvSpPr>
            <p:cNvPr id="13" name="RemarkBack" hidden="1">
              <a:extLst>
                <a:ext uri="{FF2B5EF4-FFF2-40B4-BE49-F238E27FC236}">
                  <a16:creationId xmlns:a16="http://schemas.microsoft.com/office/drawing/2014/main" id="{E151523A-162A-4DC7-8B3A-4E8646C6824D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6108700" y="12700"/>
              <a:ext cx="509524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RemarkBlock" hidden="1">
              <a:extLst>
                <a:ext uri="{FF2B5EF4-FFF2-40B4-BE49-F238E27FC236}">
                  <a16:creationId xmlns:a16="http://schemas.microsoft.com/office/drawing/2014/main" id="{46CB9BE8-ABF5-476E-AEF1-0A391167ED50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6108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RemarkTitleText" hidden="1">
              <a:extLst>
                <a:ext uri="{FF2B5EF4-FFF2-40B4-BE49-F238E27FC236}">
                  <a16:creationId xmlns:a16="http://schemas.microsoft.com/office/drawing/2014/main" id="{DE3F1CD5-B80D-44A8-9477-23D015EAB726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635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18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答案解析</a:t>
              </a:r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DDF90F35-0C7F-426F-8EAB-71862230F6D9}"/>
              </a:ext>
            </a:extLst>
          </p:cNvPr>
          <p:cNvGrpSpPr/>
          <p:nvPr>
            <p:custDataLst>
              <p:tags r:id="rId8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6" name="TitleBackground">
              <a:extLst>
                <a:ext uri="{FF2B5EF4-FFF2-40B4-BE49-F238E27FC236}">
                  <a16:creationId xmlns:a16="http://schemas.microsoft.com/office/drawing/2014/main" id="{DF222A90-94AC-4E86-8347-C91EF71E85A7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ColorBlock">
              <a:extLst>
                <a:ext uri="{FF2B5EF4-FFF2-40B4-BE49-F238E27FC236}">
                  <a16:creationId xmlns:a16="http://schemas.microsoft.com/office/drawing/2014/main" id="{0ADDDE70-69FC-43F6-8995-F5149CF5ECB1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TypeText">
              <a:extLst>
                <a:ext uri="{FF2B5EF4-FFF2-40B4-BE49-F238E27FC236}">
                  <a16:creationId xmlns:a16="http://schemas.microsoft.com/office/drawing/2014/main" id="{BFBDE1A9-C343-4924-BF9E-8B9BE6BF2BD8}"/>
                </a:ext>
              </a:extLst>
            </p:cNvPr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9" name="TipText">
              <a:extLst>
                <a:ext uri="{FF2B5EF4-FFF2-40B4-BE49-F238E27FC236}">
                  <a16:creationId xmlns:a16="http://schemas.microsoft.com/office/drawing/2014/main" id="{400DF923-22EE-45B8-B11F-B69D1BBF1255}"/>
                </a:ext>
              </a:extLst>
            </p:cNvPr>
            <p:cNvSpPr txBox="1"/>
            <p:nvPr>
              <p:custDataLst>
                <p:tags r:id="rId13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8EC1FD1B-47AE-4EDD-A64E-A87102C7E234}"/>
              </a:ext>
            </a:extLst>
          </p:cNvPr>
          <p:cNvPicPr>
            <a:picLocks/>
          </p:cNvPicPr>
          <p:nvPr>
            <p:custDataLst>
              <p:tags r:id="rId9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148884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0EB4949F-D931-4B68-A33B-D26EE16EA9AA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634999"/>
            <a:ext cx="5715000" cy="7572375"/>
          </a:xfrm>
          <a:prstGeom prst="rect">
            <a:avLst/>
          </a:prstGeom>
          <a:noFill/>
        </p:spPr>
        <p:txBody>
          <a:bodyPr vert="horz" wrap="square" rtlCol="0" anchor="t" anchorCtr="0">
            <a:noAutofit/>
          </a:bodyPr>
          <a:lstStyle/>
          <a:p>
            <a:pPr marL="342900" lvl="0" indent="-342900" algn="just">
              <a:spcAft>
                <a:spcPts val="0"/>
              </a:spcAft>
              <a:buFont typeface="+mj-lt"/>
              <a:buAutoNum type="arabicPeriod" startAt="6"/>
            </a:pPr>
            <a:r>
              <a:rPr lang="zh-CN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用子集构造法将第</a:t>
            </a:r>
            <a:r>
              <a:rPr lang="en-US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  <a:r>
              <a:rPr lang="zh-CN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题得到的</a:t>
            </a:r>
            <a:r>
              <a:rPr lang="en-US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NFA</a:t>
            </a:r>
            <a:r>
              <a:rPr lang="zh-CN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转换为</a:t>
            </a:r>
            <a:r>
              <a:rPr lang="en-US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DFA</a:t>
            </a:r>
            <a:r>
              <a:rPr lang="zh-CN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，同样写出分析符号串</a:t>
            </a:r>
            <a:r>
              <a:rPr lang="en-US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01112</a:t>
            </a:r>
            <a:r>
              <a:rPr lang="zh-CN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过程中的状态转换。</a:t>
            </a:r>
            <a:r>
              <a:rPr lang="zh-CN" altLang="en-US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分）</a:t>
            </a:r>
            <a:endParaRPr lang="en-US" altLang="zh-CN" sz="1400" dirty="0"/>
          </a:p>
          <a:p>
            <a:pPr lvl="0" algn="just">
              <a:spcAft>
                <a:spcPts val="0"/>
              </a:spcAft>
            </a:pPr>
            <a:endParaRPr lang="en-US" altLang="zh-CN" sz="1400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BAAD9DE-EB78-4700-A73F-C2061EC1FF9A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8270875"/>
            <a:ext cx="5715000" cy="47625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rtlCol="0" anchor="ctr" anchorCtr="1">
            <a:noAutofit/>
          </a:bodyPr>
          <a:lstStyle/>
          <a:p>
            <a:r>
              <a:rPr lang="zh-CN" altLang="en-US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正常使用主观题需</a:t>
            </a:r>
            <a:r>
              <a:rPr lang="en-US" altLang="zh-CN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2.0</a:t>
            </a:r>
            <a:r>
              <a:rPr lang="zh-CN" altLang="en-US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</a:p>
        </p:txBody>
      </p:sp>
      <p:sp>
        <p:nvSpPr>
          <p:cNvPr id="12" name="矩形 11" hidden="1">
            <a:extLst>
              <a:ext uri="{FF2B5EF4-FFF2-40B4-BE49-F238E27FC236}">
                <a16:creationId xmlns:a16="http://schemas.microsoft.com/office/drawing/2014/main" id="{7A532EE4-4327-46BD-BB9E-53F7E23F9151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6096000" y="0"/>
            <a:ext cx="5120640" cy="9144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7" name="文本框 16" hidden="1">
            <a:extLst>
              <a:ext uri="{FF2B5EF4-FFF2-40B4-BE49-F238E27FC236}">
                <a16:creationId xmlns:a16="http://schemas.microsoft.com/office/drawing/2014/main" id="{1DC77BFC-C8B6-4964-B43B-DCB46B4513E9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6184900" y="8413419"/>
            <a:ext cx="4942840" cy="46166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</a14:hiddenLine>
            </a:ext>
          </a:extLst>
        </p:spPr>
        <p:txBody>
          <a:bodyPr vert="horz" rtlCol="0" anchor="ctr">
            <a:sp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可为此题添加文本、图片、公式等解析，且需将内容全部放在本区域内。正常使用需</a:t>
            </a:r>
            <a:r>
              <a:rPr lang="en-US" altLang="zh-CN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</a:t>
            </a:r>
          </a:p>
        </p:txBody>
      </p:sp>
      <p:sp>
        <p:nvSpPr>
          <p:cNvPr id="18" name="文本框 17" hidden="1">
            <a:extLst>
              <a:ext uri="{FF2B5EF4-FFF2-40B4-BE49-F238E27FC236}">
                <a16:creationId xmlns:a16="http://schemas.microsoft.com/office/drawing/2014/main" id="{2F3BA613-906C-4F7E-9545-5B4E18EE5932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6350000" y="1270000"/>
            <a:ext cx="4612640" cy="1905000"/>
          </a:xfrm>
          <a:prstGeom prst="rect">
            <a:avLst/>
          </a:prstGeom>
          <a:noFill/>
        </p:spPr>
        <p:txBody>
          <a:bodyPr vert="horz" rtlCol="0" anchor="t" anchorCtr="0">
            <a:spAutoFit/>
          </a:bodyPr>
          <a:lstStyle/>
          <a:p>
            <a:r>
              <a:rPr lang="zh-CN" altLang="en-US" sz="20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此处添加答案解析</a:t>
            </a:r>
          </a:p>
        </p:txBody>
      </p:sp>
      <p:grpSp>
        <p:nvGrpSpPr>
          <p:cNvPr id="16" name="组合 15" hidden="1">
            <a:extLst>
              <a:ext uri="{FF2B5EF4-FFF2-40B4-BE49-F238E27FC236}">
                <a16:creationId xmlns:a16="http://schemas.microsoft.com/office/drawing/2014/main" id="{8094A5E6-38E2-421E-9349-DAD6344CA4F6}"/>
              </a:ext>
            </a:extLst>
          </p:cNvPr>
          <p:cNvGrpSpPr/>
          <p:nvPr>
            <p:custDataLst>
              <p:tags r:id="rId7"/>
            </p:custDataLst>
          </p:nvPr>
        </p:nvGrpSpPr>
        <p:grpSpPr>
          <a:xfrm>
            <a:off x="6108700" y="0"/>
            <a:ext cx="5095240" cy="647700"/>
            <a:chOff x="6108700" y="0"/>
            <a:chExt cx="5095240" cy="647700"/>
          </a:xfrm>
        </p:grpSpPr>
        <p:sp>
          <p:nvSpPr>
            <p:cNvPr id="13" name="RemarkBack" hidden="1">
              <a:extLst>
                <a:ext uri="{FF2B5EF4-FFF2-40B4-BE49-F238E27FC236}">
                  <a16:creationId xmlns:a16="http://schemas.microsoft.com/office/drawing/2014/main" id="{E151523A-162A-4DC7-8B3A-4E8646C6824D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6108700" y="12700"/>
              <a:ext cx="509524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RemarkBlock" hidden="1">
              <a:extLst>
                <a:ext uri="{FF2B5EF4-FFF2-40B4-BE49-F238E27FC236}">
                  <a16:creationId xmlns:a16="http://schemas.microsoft.com/office/drawing/2014/main" id="{46CB9BE8-ABF5-476E-AEF1-0A391167ED50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6108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RemarkTitleText" hidden="1">
              <a:extLst>
                <a:ext uri="{FF2B5EF4-FFF2-40B4-BE49-F238E27FC236}">
                  <a16:creationId xmlns:a16="http://schemas.microsoft.com/office/drawing/2014/main" id="{DE3F1CD5-B80D-44A8-9477-23D015EAB726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635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18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答案解析</a:t>
              </a:r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DDF90F35-0C7F-426F-8EAB-71862230F6D9}"/>
              </a:ext>
            </a:extLst>
          </p:cNvPr>
          <p:cNvGrpSpPr/>
          <p:nvPr>
            <p:custDataLst>
              <p:tags r:id="rId8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6" name="TitleBackground">
              <a:extLst>
                <a:ext uri="{FF2B5EF4-FFF2-40B4-BE49-F238E27FC236}">
                  <a16:creationId xmlns:a16="http://schemas.microsoft.com/office/drawing/2014/main" id="{DF222A90-94AC-4E86-8347-C91EF71E85A7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ColorBlock">
              <a:extLst>
                <a:ext uri="{FF2B5EF4-FFF2-40B4-BE49-F238E27FC236}">
                  <a16:creationId xmlns:a16="http://schemas.microsoft.com/office/drawing/2014/main" id="{0ADDDE70-69FC-43F6-8995-F5149CF5ECB1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TypeText">
              <a:extLst>
                <a:ext uri="{FF2B5EF4-FFF2-40B4-BE49-F238E27FC236}">
                  <a16:creationId xmlns:a16="http://schemas.microsoft.com/office/drawing/2014/main" id="{BFBDE1A9-C343-4924-BF9E-8B9BE6BF2BD8}"/>
                </a:ext>
              </a:extLst>
            </p:cNvPr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9" name="TipText">
              <a:extLst>
                <a:ext uri="{FF2B5EF4-FFF2-40B4-BE49-F238E27FC236}">
                  <a16:creationId xmlns:a16="http://schemas.microsoft.com/office/drawing/2014/main" id="{400DF923-22EE-45B8-B11F-B69D1BBF1255}"/>
                </a:ext>
              </a:extLst>
            </p:cNvPr>
            <p:cNvSpPr txBox="1"/>
            <p:nvPr>
              <p:custDataLst>
                <p:tags r:id="rId13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8EC1FD1B-47AE-4EDD-A64E-A87102C7E234}"/>
              </a:ext>
            </a:extLst>
          </p:cNvPr>
          <p:cNvPicPr>
            <a:picLocks/>
          </p:cNvPicPr>
          <p:nvPr>
            <p:custDataLst>
              <p:tags r:id="rId9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219452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0EB4949F-D931-4B68-A33B-D26EE16EA9AA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634999"/>
            <a:ext cx="5715000" cy="7572375"/>
          </a:xfrm>
          <a:prstGeom prst="rect">
            <a:avLst/>
          </a:prstGeom>
          <a:noFill/>
        </p:spPr>
        <p:txBody>
          <a:bodyPr vert="horz" wrap="square" rtlCol="0" anchor="t" anchorCtr="0">
            <a:noAutofit/>
          </a:bodyPr>
          <a:lstStyle/>
          <a:p>
            <a:pPr marL="342900" lvl="0" indent="-342900" algn="just">
              <a:spcAft>
                <a:spcPts val="0"/>
              </a:spcAft>
              <a:buFont typeface="+mj-lt"/>
              <a:buAutoNum type="arabicPeriod" startAt="7"/>
            </a:pPr>
            <a:r>
              <a:rPr lang="zh-CN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最小化第</a:t>
            </a:r>
            <a:r>
              <a:rPr lang="en-US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6</a:t>
            </a:r>
            <a:r>
              <a:rPr lang="zh-CN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题得到的</a:t>
            </a:r>
            <a:r>
              <a:rPr lang="en-US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DFA</a:t>
            </a:r>
            <a:r>
              <a:rPr lang="zh-CN" altLang="en-US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0.5</a:t>
            </a:r>
            <a:r>
              <a:rPr lang="zh-CN" altLang="en-US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分）</a:t>
            </a:r>
            <a:endParaRPr lang="en-US" altLang="zh-CN" sz="1400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0" algn="just">
              <a:spcAft>
                <a:spcPts val="0"/>
              </a:spcAft>
            </a:pPr>
            <a:endParaRPr lang="en-US" altLang="zh-CN" sz="1400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BAAD9DE-EB78-4700-A73F-C2061EC1FF9A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8270875"/>
            <a:ext cx="5715000" cy="47625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rtlCol="0" anchor="ctr" anchorCtr="1">
            <a:noAutofit/>
          </a:bodyPr>
          <a:lstStyle/>
          <a:p>
            <a:r>
              <a:rPr lang="zh-CN" altLang="en-US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正常使用主观题需</a:t>
            </a:r>
            <a:r>
              <a:rPr lang="en-US" altLang="zh-CN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2.0</a:t>
            </a:r>
            <a:r>
              <a:rPr lang="zh-CN" altLang="en-US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</a:p>
        </p:txBody>
      </p:sp>
      <p:sp>
        <p:nvSpPr>
          <p:cNvPr id="12" name="矩形 11" hidden="1">
            <a:extLst>
              <a:ext uri="{FF2B5EF4-FFF2-40B4-BE49-F238E27FC236}">
                <a16:creationId xmlns:a16="http://schemas.microsoft.com/office/drawing/2014/main" id="{7A532EE4-4327-46BD-BB9E-53F7E23F9151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6096000" y="0"/>
            <a:ext cx="5120640" cy="9144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7" name="文本框 16" hidden="1">
            <a:extLst>
              <a:ext uri="{FF2B5EF4-FFF2-40B4-BE49-F238E27FC236}">
                <a16:creationId xmlns:a16="http://schemas.microsoft.com/office/drawing/2014/main" id="{1DC77BFC-C8B6-4964-B43B-DCB46B4513E9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6184900" y="8413419"/>
            <a:ext cx="4942840" cy="46166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</a14:hiddenLine>
            </a:ext>
          </a:extLst>
        </p:spPr>
        <p:txBody>
          <a:bodyPr vert="horz" rtlCol="0" anchor="ctr">
            <a:sp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可为此题添加文本、图片、公式等解析，且需将内容全部放在本区域内。正常使用需</a:t>
            </a:r>
            <a:r>
              <a:rPr lang="en-US" altLang="zh-CN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</a:t>
            </a:r>
          </a:p>
        </p:txBody>
      </p:sp>
      <p:sp>
        <p:nvSpPr>
          <p:cNvPr id="18" name="文本框 17" hidden="1">
            <a:extLst>
              <a:ext uri="{FF2B5EF4-FFF2-40B4-BE49-F238E27FC236}">
                <a16:creationId xmlns:a16="http://schemas.microsoft.com/office/drawing/2014/main" id="{2F3BA613-906C-4F7E-9545-5B4E18EE5932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6350000" y="1270000"/>
            <a:ext cx="4612640" cy="1905000"/>
          </a:xfrm>
          <a:prstGeom prst="rect">
            <a:avLst/>
          </a:prstGeom>
          <a:noFill/>
        </p:spPr>
        <p:txBody>
          <a:bodyPr vert="horz" rtlCol="0" anchor="t" anchorCtr="0">
            <a:spAutoFit/>
          </a:bodyPr>
          <a:lstStyle/>
          <a:p>
            <a:r>
              <a:rPr lang="zh-CN" altLang="en-US" sz="20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此处添加答案解析</a:t>
            </a:r>
          </a:p>
        </p:txBody>
      </p:sp>
      <p:grpSp>
        <p:nvGrpSpPr>
          <p:cNvPr id="16" name="组合 15" hidden="1">
            <a:extLst>
              <a:ext uri="{FF2B5EF4-FFF2-40B4-BE49-F238E27FC236}">
                <a16:creationId xmlns:a16="http://schemas.microsoft.com/office/drawing/2014/main" id="{8094A5E6-38E2-421E-9349-DAD6344CA4F6}"/>
              </a:ext>
            </a:extLst>
          </p:cNvPr>
          <p:cNvGrpSpPr/>
          <p:nvPr>
            <p:custDataLst>
              <p:tags r:id="rId7"/>
            </p:custDataLst>
          </p:nvPr>
        </p:nvGrpSpPr>
        <p:grpSpPr>
          <a:xfrm>
            <a:off x="6108700" y="0"/>
            <a:ext cx="5095240" cy="647700"/>
            <a:chOff x="6108700" y="0"/>
            <a:chExt cx="5095240" cy="647700"/>
          </a:xfrm>
        </p:grpSpPr>
        <p:sp>
          <p:nvSpPr>
            <p:cNvPr id="13" name="RemarkBack" hidden="1">
              <a:extLst>
                <a:ext uri="{FF2B5EF4-FFF2-40B4-BE49-F238E27FC236}">
                  <a16:creationId xmlns:a16="http://schemas.microsoft.com/office/drawing/2014/main" id="{E151523A-162A-4DC7-8B3A-4E8646C6824D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6108700" y="12700"/>
              <a:ext cx="509524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RemarkBlock" hidden="1">
              <a:extLst>
                <a:ext uri="{FF2B5EF4-FFF2-40B4-BE49-F238E27FC236}">
                  <a16:creationId xmlns:a16="http://schemas.microsoft.com/office/drawing/2014/main" id="{46CB9BE8-ABF5-476E-AEF1-0A391167ED50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6108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RemarkTitleText" hidden="1">
              <a:extLst>
                <a:ext uri="{FF2B5EF4-FFF2-40B4-BE49-F238E27FC236}">
                  <a16:creationId xmlns:a16="http://schemas.microsoft.com/office/drawing/2014/main" id="{DE3F1CD5-B80D-44A8-9477-23D015EAB726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635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18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答案解析</a:t>
              </a:r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DDF90F35-0C7F-426F-8EAB-71862230F6D9}"/>
              </a:ext>
            </a:extLst>
          </p:cNvPr>
          <p:cNvGrpSpPr/>
          <p:nvPr>
            <p:custDataLst>
              <p:tags r:id="rId8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6" name="TitleBackground">
              <a:extLst>
                <a:ext uri="{FF2B5EF4-FFF2-40B4-BE49-F238E27FC236}">
                  <a16:creationId xmlns:a16="http://schemas.microsoft.com/office/drawing/2014/main" id="{DF222A90-94AC-4E86-8347-C91EF71E85A7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ColorBlock">
              <a:extLst>
                <a:ext uri="{FF2B5EF4-FFF2-40B4-BE49-F238E27FC236}">
                  <a16:creationId xmlns:a16="http://schemas.microsoft.com/office/drawing/2014/main" id="{0ADDDE70-69FC-43F6-8995-F5149CF5ECB1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TypeText">
              <a:extLst>
                <a:ext uri="{FF2B5EF4-FFF2-40B4-BE49-F238E27FC236}">
                  <a16:creationId xmlns:a16="http://schemas.microsoft.com/office/drawing/2014/main" id="{BFBDE1A9-C343-4924-BF9E-8B9BE6BF2BD8}"/>
                </a:ext>
              </a:extLst>
            </p:cNvPr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9" name="TipText">
              <a:extLst>
                <a:ext uri="{FF2B5EF4-FFF2-40B4-BE49-F238E27FC236}">
                  <a16:creationId xmlns:a16="http://schemas.microsoft.com/office/drawing/2014/main" id="{400DF923-22EE-45B8-B11F-B69D1BBF1255}"/>
                </a:ext>
              </a:extLst>
            </p:cNvPr>
            <p:cNvSpPr txBox="1"/>
            <p:nvPr>
              <p:custDataLst>
                <p:tags r:id="rId13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0.5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8EC1FD1B-47AE-4EDD-A64E-A87102C7E234}"/>
              </a:ext>
            </a:extLst>
          </p:cNvPr>
          <p:cNvPicPr>
            <a:picLocks/>
          </p:cNvPicPr>
          <p:nvPr>
            <p:custDataLst>
              <p:tags r:id="rId9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347698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0EB4949F-D931-4B68-A33B-D26EE16EA9AA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634999"/>
            <a:ext cx="5715000" cy="7572375"/>
          </a:xfrm>
          <a:prstGeom prst="rect">
            <a:avLst/>
          </a:prstGeom>
          <a:noFill/>
        </p:spPr>
        <p:txBody>
          <a:bodyPr vert="horz" wrap="square" rtlCol="0" anchor="t" anchorCtr="0">
            <a:noAutofit/>
          </a:bodyPr>
          <a:lstStyle/>
          <a:p>
            <a:pPr marL="342900" lvl="0" indent="-342900" algn="just">
              <a:spcAft>
                <a:spcPts val="0"/>
              </a:spcAft>
              <a:buFont typeface="+mj-lt"/>
              <a:buAutoNum type="arabicPeriod" startAt="8"/>
            </a:pPr>
            <a:r>
              <a:rPr lang="zh-CN" altLang="en-US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一个人带一只狼、一只羊和一颗白菜过河，每次人只能将一样东西摆渡到对岸。而在无人的情况下，狼会吃掉羊，羊会吃掉白菜。目标，人将三样东西都摆渡到对岸，羊和白菜都不被吃掉。利用</a:t>
            </a:r>
            <a:r>
              <a:rPr lang="zh-CN" altLang="en-US" sz="1400" kern="100">
                <a:latin typeface="Times New Roman" panose="02020603050405020304" pitchFamily="18" charset="0"/>
                <a:ea typeface="宋体" panose="02010600030101010101" pitchFamily="2" charset="-122"/>
              </a:rPr>
              <a:t>有限自动机得到一种渡河</a:t>
            </a:r>
            <a:r>
              <a:rPr lang="zh-CN" altLang="en-US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的方法。（</a:t>
            </a:r>
            <a:r>
              <a:rPr lang="en-US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分）</a:t>
            </a:r>
            <a:endParaRPr lang="en-US" altLang="zh-CN" sz="1400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lvl="0" indent="-342900" algn="just">
              <a:spcAft>
                <a:spcPts val="0"/>
              </a:spcAft>
              <a:buFont typeface="+mj-lt"/>
              <a:buAutoNum type="arabicPeriod" startAt="8"/>
            </a:pPr>
            <a:endParaRPr lang="zh-CN" altLang="zh-CN" sz="1100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0" algn="just">
              <a:spcAft>
                <a:spcPts val="0"/>
              </a:spcAft>
            </a:pPr>
            <a:endParaRPr lang="en-US" altLang="zh-CN" sz="1400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BAAD9DE-EB78-4700-A73F-C2061EC1FF9A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8270875"/>
            <a:ext cx="5715000" cy="47625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rtlCol="0" anchor="ctr" anchorCtr="1">
            <a:noAutofit/>
          </a:bodyPr>
          <a:lstStyle/>
          <a:p>
            <a:r>
              <a:rPr lang="zh-CN" altLang="en-US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正常使用主观题需</a:t>
            </a:r>
            <a:r>
              <a:rPr lang="en-US" altLang="zh-CN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2.0</a:t>
            </a:r>
            <a:r>
              <a:rPr lang="zh-CN" altLang="en-US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</a:p>
        </p:txBody>
      </p:sp>
      <p:sp>
        <p:nvSpPr>
          <p:cNvPr id="12" name="矩形 11" hidden="1">
            <a:extLst>
              <a:ext uri="{FF2B5EF4-FFF2-40B4-BE49-F238E27FC236}">
                <a16:creationId xmlns:a16="http://schemas.microsoft.com/office/drawing/2014/main" id="{7A532EE4-4327-46BD-BB9E-53F7E23F9151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6096000" y="0"/>
            <a:ext cx="5120640" cy="9144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7" name="文本框 16" hidden="1">
            <a:extLst>
              <a:ext uri="{FF2B5EF4-FFF2-40B4-BE49-F238E27FC236}">
                <a16:creationId xmlns:a16="http://schemas.microsoft.com/office/drawing/2014/main" id="{1DC77BFC-C8B6-4964-B43B-DCB46B4513E9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6184900" y="8413419"/>
            <a:ext cx="4942840" cy="46166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</a14:hiddenLine>
            </a:ext>
          </a:extLst>
        </p:spPr>
        <p:txBody>
          <a:bodyPr vert="horz" rtlCol="0" anchor="ctr">
            <a:sp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可为此题添加文本、图片、公式等解析，且需将内容全部放在本区域内。正常使用需</a:t>
            </a:r>
            <a:r>
              <a:rPr lang="en-US" altLang="zh-CN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</a:t>
            </a:r>
          </a:p>
        </p:txBody>
      </p:sp>
      <p:sp>
        <p:nvSpPr>
          <p:cNvPr id="18" name="文本框 17" hidden="1">
            <a:extLst>
              <a:ext uri="{FF2B5EF4-FFF2-40B4-BE49-F238E27FC236}">
                <a16:creationId xmlns:a16="http://schemas.microsoft.com/office/drawing/2014/main" id="{2F3BA613-906C-4F7E-9545-5B4E18EE5932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6350000" y="1270000"/>
            <a:ext cx="4612640" cy="1905000"/>
          </a:xfrm>
          <a:prstGeom prst="rect">
            <a:avLst/>
          </a:prstGeom>
          <a:noFill/>
        </p:spPr>
        <p:txBody>
          <a:bodyPr vert="horz" rtlCol="0" anchor="t" anchorCtr="0">
            <a:spAutoFit/>
          </a:bodyPr>
          <a:lstStyle/>
          <a:p>
            <a:r>
              <a:rPr lang="zh-CN" altLang="en-US" sz="20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此处添加答案解析</a:t>
            </a:r>
          </a:p>
        </p:txBody>
      </p:sp>
      <p:grpSp>
        <p:nvGrpSpPr>
          <p:cNvPr id="16" name="组合 15" hidden="1">
            <a:extLst>
              <a:ext uri="{FF2B5EF4-FFF2-40B4-BE49-F238E27FC236}">
                <a16:creationId xmlns:a16="http://schemas.microsoft.com/office/drawing/2014/main" id="{8094A5E6-38E2-421E-9349-DAD6344CA4F6}"/>
              </a:ext>
            </a:extLst>
          </p:cNvPr>
          <p:cNvGrpSpPr/>
          <p:nvPr>
            <p:custDataLst>
              <p:tags r:id="rId7"/>
            </p:custDataLst>
          </p:nvPr>
        </p:nvGrpSpPr>
        <p:grpSpPr>
          <a:xfrm>
            <a:off x="6108700" y="0"/>
            <a:ext cx="5095240" cy="647700"/>
            <a:chOff x="6108700" y="0"/>
            <a:chExt cx="5095240" cy="647700"/>
          </a:xfrm>
        </p:grpSpPr>
        <p:sp>
          <p:nvSpPr>
            <p:cNvPr id="13" name="RemarkBack" hidden="1">
              <a:extLst>
                <a:ext uri="{FF2B5EF4-FFF2-40B4-BE49-F238E27FC236}">
                  <a16:creationId xmlns:a16="http://schemas.microsoft.com/office/drawing/2014/main" id="{E151523A-162A-4DC7-8B3A-4E8646C6824D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6108700" y="12700"/>
              <a:ext cx="509524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RemarkBlock" hidden="1">
              <a:extLst>
                <a:ext uri="{FF2B5EF4-FFF2-40B4-BE49-F238E27FC236}">
                  <a16:creationId xmlns:a16="http://schemas.microsoft.com/office/drawing/2014/main" id="{46CB9BE8-ABF5-476E-AEF1-0A391167ED50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6108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RemarkTitleText" hidden="1">
              <a:extLst>
                <a:ext uri="{FF2B5EF4-FFF2-40B4-BE49-F238E27FC236}">
                  <a16:creationId xmlns:a16="http://schemas.microsoft.com/office/drawing/2014/main" id="{DE3F1CD5-B80D-44A8-9477-23D015EAB726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635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18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答案解析</a:t>
              </a:r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DDF90F35-0C7F-426F-8EAB-71862230F6D9}"/>
              </a:ext>
            </a:extLst>
          </p:cNvPr>
          <p:cNvGrpSpPr/>
          <p:nvPr>
            <p:custDataLst>
              <p:tags r:id="rId8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6" name="TitleBackground">
              <a:extLst>
                <a:ext uri="{FF2B5EF4-FFF2-40B4-BE49-F238E27FC236}">
                  <a16:creationId xmlns:a16="http://schemas.microsoft.com/office/drawing/2014/main" id="{DF222A90-94AC-4E86-8347-C91EF71E85A7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ColorBlock">
              <a:extLst>
                <a:ext uri="{FF2B5EF4-FFF2-40B4-BE49-F238E27FC236}">
                  <a16:creationId xmlns:a16="http://schemas.microsoft.com/office/drawing/2014/main" id="{0ADDDE70-69FC-43F6-8995-F5149CF5ECB1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TypeText">
              <a:extLst>
                <a:ext uri="{FF2B5EF4-FFF2-40B4-BE49-F238E27FC236}">
                  <a16:creationId xmlns:a16="http://schemas.microsoft.com/office/drawing/2014/main" id="{BFBDE1A9-C343-4924-BF9E-8B9BE6BF2BD8}"/>
                </a:ext>
              </a:extLst>
            </p:cNvPr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9" name="TipText">
              <a:extLst>
                <a:ext uri="{FF2B5EF4-FFF2-40B4-BE49-F238E27FC236}">
                  <a16:creationId xmlns:a16="http://schemas.microsoft.com/office/drawing/2014/main" id="{400DF923-22EE-45B8-B11F-B69D1BBF1255}"/>
                </a:ext>
              </a:extLst>
            </p:cNvPr>
            <p:cNvSpPr txBox="1"/>
            <p:nvPr>
              <p:custDataLst>
                <p:tags r:id="rId13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8EC1FD1B-47AE-4EDD-A64E-A87102C7E234}"/>
              </a:ext>
            </a:extLst>
          </p:cNvPr>
          <p:cNvPicPr>
            <a:picLocks/>
          </p:cNvPicPr>
          <p:nvPr>
            <p:custDataLst>
              <p:tags r:id="rId9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343433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APER" val="PaperTitl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APER" val="PaperScor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HASREMARK" val="False"/>
  <p:tag name="PROBLEMSCORE" val="0.5"/>
  <p:tag name="PROBLEMVOICEALLOWED" val="Fals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" val="PRODUCTVERSIONTIP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HASREMARK" val="False"/>
  <p:tag name="PROBLEMSCORE" val="0.5"/>
  <p:tag name="PROBLEMVOICEALLOWED" val="Fals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" val="PRODUCTVERSIONTIP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HASREMARK" val="False"/>
  <p:tag name="PROBLEMSCORE" val="0.5"/>
  <p:tag name="PROBLEMVOICEALLOWED" val="Fals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" val="PRODUCTVERSIONTIP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HASREMARK" val="False"/>
  <p:tag name="PROBLEMSCORE" val="1.0"/>
  <p:tag name="PROBLEMVOICEALLOWED" val="Fals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" val="PRODUCTVERSIONTIP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HASREMARK" val="False"/>
  <p:tag name="PROBLEMSCORE" val="1.0"/>
  <p:tag name="PROBLEMVOICEALLOWED" val="Fals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" val="PRODUCTVERSIONTIP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HASREMARK" val="False"/>
  <p:tag name="PROBLEMSCORE" val="0.5"/>
  <p:tag name="PROBLEMVOICEALLOWED" val="False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" val="PRODUCTVERSIONTIP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HASREMARK" val="False"/>
  <p:tag name="PROBLEMSCORE" val="1.0"/>
  <p:tag name="PROBLEMVOICEALLOWED" val="False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" val="PRODUCTVERSIONTIP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281</TotalTime>
  <Words>817</Words>
  <Application>Microsoft Office PowerPoint</Application>
  <PresentationFormat>全屏显示(16:10)</PresentationFormat>
  <Paragraphs>86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5" baseType="lpstr">
      <vt:lpstr>等线</vt:lpstr>
      <vt:lpstr>等线 Light</vt:lpstr>
      <vt:lpstr>Microsoft Yahei</vt:lpstr>
      <vt:lpstr>Arial</vt:lpstr>
      <vt:lpstr>Symbol</vt:lpstr>
      <vt:lpstr>Times New Roman</vt:lpstr>
      <vt:lpstr>Office 主题​​</vt:lpstr>
      <vt:lpstr>第3章书面作业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预备工作2 定义你的编译器功能 &amp; 汇编编程</dc:title>
  <dc:creator>王 刚</dc:creator>
  <cp:lastModifiedBy>刚 王</cp:lastModifiedBy>
  <cp:revision>36</cp:revision>
  <dcterms:created xsi:type="dcterms:W3CDTF">2019-09-29T04:07:54Z</dcterms:created>
  <dcterms:modified xsi:type="dcterms:W3CDTF">2025-10-27T02:45:38Z</dcterms:modified>
</cp:coreProperties>
</file>