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3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28"/>
  </p:notesMasterIdLst>
  <p:handoutMasterIdLst>
    <p:handoutMasterId r:id="rId129"/>
  </p:handoutMasterIdLst>
  <p:sldIdLst>
    <p:sldId id="256" r:id="rId2"/>
    <p:sldId id="34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347" r:id="rId12"/>
    <p:sldId id="381" r:id="rId13"/>
    <p:sldId id="412" r:id="rId14"/>
    <p:sldId id="413" r:id="rId15"/>
    <p:sldId id="265" r:id="rId16"/>
    <p:sldId id="266" r:id="rId17"/>
    <p:sldId id="269" r:id="rId18"/>
    <p:sldId id="270" r:id="rId19"/>
    <p:sldId id="271" r:id="rId20"/>
    <p:sldId id="356" r:id="rId21"/>
    <p:sldId id="272" r:id="rId22"/>
    <p:sldId id="357" r:id="rId23"/>
    <p:sldId id="273" r:id="rId24"/>
    <p:sldId id="274" r:id="rId25"/>
    <p:sldId id="348" r:id="rId26"/>
    <p:sldId id="349" r:id="rId27"/>
    <p:sldId id="390" r:id="rId28"/>
    <p:sldId id="275" r:id="rId29"/>
    <p:sldId id="342" r:id="rId30"/>
    <p:sldId id="276" r:id="rId31"/>
    <p:sldId id="277" r:id="rId32"/>
    <p:sldId id="358" r:id="rId33"/>
    <p:sldId id="278" r:id="rId34"/>
    <p:sldId id="359" r:id="rId35"/>
    <p:sldId id="351" r:id="rId36"/>
    <p:sldId id="279" r:id="rId37"/>
    <p:sldId id="280" r:id="rId38"/>
    <p:sldId id="284" r:id="rId39"/>
    <p:sldId id="285" r:id="rId40"/>
    <p:sldId id="286" r:id="rId41"/>
    <p:sldId id="288" r:id="rId42"/>
    <p:sldId id="414" r:id="rId43"/>
    <p:sldId id="287" r:id="rId44"/>
    <p:sldId id="350" r:id="rId45"/>
    <p:sldId id="382" r:id="rId46"/>
    <p:sldId id="383" r:id="rId47"/>
    <p:sldId id="384" r:id="rId48"/>
    <p:sldId id="385" r:id="rId49"/>
    <p:sldId id="386" r:id="rId50"/>
    <p:sldId id="387" r:id="rId51"/>
    <p:sldId id="388" r:id="rId52"/>
    <p:sldId id="392" r:id="rId53"/>
    <p:sldId id="391" r:id="rId54"/>
    <p:sldId id="393" r:id="rId55"/>
    <p:sldId id="394" r:id="rId56"/>
    <p:sldId id="395" r:id="rId57"/>
    <p:sldId id="396" r:id="rId58"/>
    <p:sldId id="289" r:id="rId59"/>
    <p:sldId id="290" r:id="rId60"/>
    <p:sldId id="291" r:id="rId61"/>
    <p:sldId id="292" r:id="rId62"/>
    <p:sldId id="361" r:id="rId63"/>
    <p:sldId id="293" r:id="rId64"/>
    <p:sldId id="362" r:id="rId65"/>
    <p:sldId id="294" r:id="rId66"/>
    <p:sldId id="299" r:id="rId67"/>
    <p:sldId id="363" r:id="rId68"/>
    <p:sldId id="352" r:id="rId69"/>
    <p:sldId id="353" r:id="rId70"/>
    <p:sldId id="354" r:id="rId71"/>
    <p:sldId id="295" r:id="rId72"/>
    <p:sldId id="296" r:id="rId73"/>
    <p:sldId id="297" r:id="rId74"/>
    <p:sldId id="298" r:id="rId75"/>
    <p:sldId id="300" r:id="rId76"/>
    <p:sldId id="301" r:id="rId77"/>
    <p:sldId id="364" r:id="rId78"/>
    <p:sldId id="302" r:id="rId79"/>
    <p:sldId id="303" r:id="rId80"/>
    <p:sldId id="406" r:id="rId81"/>
    <p:sldId id="411" r:id="rId82"/>
    <p:sldId id="333" r:id="rId83"/>
    <p:sldId id="304" r:id="rId84"/>
    <p:sldId id="334" r:id="rId85"/>
    <p:sldId id="305" r:id="rId86"/>
    <p:sldId id="306" r:id="rId87"/>
    <p:sldId id="307" r:id="rId88"/>
    <p:sldId id="308" r:id="rId89"/>
    <p:sldId id="309" r:id="rId90"/>
    <p:sldId id="310" r:id="rId91"/>
    <p:sldId id="311" r:id="rId92"/>
    <p:sldId id="312" r:id="rId93"/>
    <p:sldId id="313" r:id="rId94"/>
    <p:sldId id="314" r:id="rId95"/>
    <p:sldId id="315" r:id="rId96"/>
    <p:sldId id="316" r:id="rId97"/>
    <p:sldId id="317" r:id="rId98"/>
    <p:sldId id="337" r:id="rId99"/>
    <p:sldId id="338" r:id="rId100"/>
    <p:sldId id="375" r:id="rId101"/>
    <p:sldId id="376" r:id="rId102"/>
    <p:sldId id="377" r:id="rId103"/>
    <p:sldId id="378" r:id="rId104"/>
    <p:sldId id="389" r:id="rId105"/>
    <p:sldId id="379" r:id="rId106"/>
    <p:sldId id="355" r:id="rId107"/>
    <p:sldId id="366" r:id="rId108"/>
    <p:sldId id="323" r:id="rId109"/>
    <p:sldId id="339" r:id="rId110"/>
    <p:sldId id="324" r:id="rId111"/>
    <p:sldId id="325" r:id="rId112"/>
    <p:sldId id="327" r:id="rId113"/>
    <p:sldId id="328" r:id="rId114"/>
    <p:sldId id="332" r:id="rId115"/>
    <p:sldId id="398" r:id="rId116"/>
    <p:sldId id="399" r:id="rId117"/>
    <p:sldId id="400" r:id="rId118"/>
    <p:sldId id="401" r:id="rId119"/>
    <p:sldId id="402" r:id="rId120"/>
    <p:sldId id="403" r:id="rId121"/>
    <p:sldId id="404" r:id="rId122"/>
    <p:sldId id="405" r:id="rId123"/>
    <p:sldId id="407" r:id="rId124"/>
    <p:sldId id="408" r:id="rId125"/>
    <p:sldId id="409" r:id="rId126"/>
    <p:sldId id="410" r:id="rId127"/>
  </p:sldIdLst>
  <p:sldSz cx="9144000" cy="6858000" type="screen4x3"/>
  <p:notesSz cx="6756400" cy="98679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CC00"/>
    <a:srgbClr val="3333CC"/>
    <a:srgbClr val="800000"/>
    <a:srgbClr val="99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68" autoAdjust="0"/>
    <p:restoredTop sz="94624" autoAdjust="0"/>
  </p:normalViewPr>
  <p:slideViewPr>
    <p:cSldViewPr>
      <p:cViewPr varScale="1">
        <p:scale>
          <a:sx n="120" d="100"/>
          <a:sy n="120" d="100"/>
        </p:scale>
        <p:origin x="912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handoutMaster" Target="handoutMasters/handout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C2D34262-B2AC-4689-8C4A-50612DABDCE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73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4ED85832-1697-43C7-8C1C-818B4BEB770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9050" y="0"/>
            <a:ext cx="29273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6196" name="Rectangle 4">
            <a:extLst>
              <a:ext uri="{FF2B5EF4-FFF2-40B4-BE49-F238E27FC236}">
                <a16:creationId xmlns:a16="http://schemas.microsoft.com/office/drawing/2014/main" id="{477CB612-7B63-42B7-84EF-D23F2CDE6EF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4188"/>
            <a:ext cx="292735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6197" name="Rectangle 5">
            <a:extLst>
              <a:ext uri="{FF2B5EF4-FFF2-40B4-BE49-F238E27FC236}">
                <a16:creationId xmlns:a16="http://schemas.microsoft.com/office/drawing/2014/main" id="{EFBC3E39-B8EB-4FFF-9C7C-259379D221E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9050" y="9374188"/>
            <a:ext cx="292735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0784929-8CFE-46E3-8A86-BF1EDEE8B3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C6A6CB9B-DA86-4425-BB98-B518DC9E479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73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00D5F4D2-486A-4B16-905E-63AA5AFBFB6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29050" y="0"/>
            <a:ext cx="29273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22775C5-CFDE-43F6-A67D-0D5007D5486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1225" y="739775"/>
            <a:ext cx="4933950" cy="3700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23B0B1CE-BB2E-4264-B5F5-CF6F328F539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1700" y="4687888"/>
            <a:ext cx="4953000" cy="444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6697C0E0-455D-43B7-BEA6-2169EC18842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4188"/>
            <a:ext cx="292735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AC0D50D0-34CE-4727-8E4F-6DE24BAB06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9050" y="9374188"/>
            <a:ext cx="292735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09E8E6B-223E-497B-9595-2D9087CD28D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B4C803C5-D84D-4C91-83C9-30EA4B7F7C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D09F0F6-6746-4931-B41C-438E71DA7B43}" type="slidenum">
              <a:rPr lang="en-US" altLang="zh-CN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US" altLang="zh-CN">
              <a:latin typeface="Tahoma" panose="020B0604030504040204" pitchFamily="34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C2DA51E9-55D8-4353-B681-FCF1A6A2CA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84526C69-23C8-4606-8E57-6C36157F68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09E8E6B-223E-497B-9595-2D9087CD28D3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4707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>
            <a:extLst>
              <a:ext uri="{FF2B5EF4-FFF2-40B4-BE49-F238E27FC236}">
                <a16:creationId xmlns:a16="http://schemas.microsoft.com/office/drawing/2014/main" id="{B9F8C73C-C016-499F-BC41-C8372C4881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备注占位符 2">
            <a:extLst>
              <a:ext uri="{FF2B5EF4-FFF2-40B4-BE49-F238E27FC236}">
                <a16:creationId xmlns:a16="http://schemas.microsoft.com/office/drawing/2014/main" id="{40ADF03C-9D0E-4FB9-A706-E5CF4E6169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380" name="灯片编号占位符 3">
            <a:extLst>
              <a:ext uri="{FF2B5EF4-FFF2-40B4-BE49-F238E27FC236}">
                <a16:creationId xmlns:a16="http://schemas.microsoft.com/office/drawing/2014/main" id="{C2522885-2BC5-4B16-9D5A-5C0AAC82F8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A13A9CC7-8C04-462B-A7DB-3E6850722E8F}" type="slidenum">
              <a:rPr lang="en-US" altLang="zh-CN" sz="1200" smtClean="0">
                <a:latin typeface="Tahoma" panose="020B0604030504040204" pitchFamily="34" charset="0"/>
                <a:ea typeface="宋体" panose="02010600030101010101" pitchFamily="2" charset="-122"/>
              </a:rPr>
              <a:pPr/>
              <a:t>115</a:t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5090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9BBE9644-4E42-48D3-9895-4850B4502134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11149B55-CEB1-4B9F-B8E5-761218ABBD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2E0AE9BB-5FDB-4BA8-B8DB-9A1FD33A11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4E6526CC-7704-449D-9115-5B0D160157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0A3B3710-19A6-4F2A-B6A4-5A1AC39722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CB0F659B-9075-4046-988E-6754C5ABC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F166FEFC-8B5E-4F2A-B4C7-334B317CC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E92F7C08-65BB-4A01-B5C8-C48A03384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90998572-B55D-424B-9553-DCB24F6011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F004DBD4-574B-45C9-8974-C28DDA53D0F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6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E96A5CF2-ED60-4A1C-BE5A-40AF5746B3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8DB0F9D9-BAC4-4D09-AC3D-E599CDE7A3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124C92AC-1128-4254-8E19-C0DA90638D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79391A34-4E85-48DB-999E-06B309FB0FC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7998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CCE68FB-6F63-420A-965F-AB635AA8D3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E43147E-2CD1-445A-900B-2C7A3AACE3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D30F660-9F32-405F-BF6F-3B0D93B3A8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D1ED59-B513-4D76-B4CF-0E7CA93B97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8474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A07A531D-EF0E-423E-B1E3-EF19F3B2B3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262EF2F-0BEE-467C-B678-2CC380AB08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05C0B2E-515A-4837-A4B7-423D1F9166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7B88D2-A157-443E-97A1-9CF206013C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9423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C647ACA-095F-4B73-A9E7-74E822EE14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4F06FA8-8943-4127-8594-4515A35B0D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C66BFBFE-6131-47CA-93D7-F30F107800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B8A477-87C2-44F8-9B76-5DE6B6CD78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2739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809627D8-E096-4298-BCC6-71E846C30B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31C53FE-22B0-462A-B9E1-B39167BF82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D28887EB-0DB5-494B-B460-DAA48F2251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9D9F4-5BBC-434C-BD13-8624F7A353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6664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34256AA2-0A9E-48F9-A2E8-DE44D4B02E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170D705F-088D-4E72-8288-64ADA08BEB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55A35573-1FE0-41F8-852F-02F03537FB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8C9B4E-69A7-4AFA-AB16-EAC799441A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1725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36077B99-6C92-4291-BCDB-C7BF926E26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A67AFECC-2E5D-435B-B673-6DA9B25E4C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255888D3-82E3-48A0-A6BC-6F0914BEE6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71A061-1409-4785-9095-788E1D192B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9049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6E9C0B70-01E6-472A-B2A5-DD5BDB0A57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5A0ABFF-3244-4E73-AE76-C1DCAD17BB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D1C2DB1-1888-4468-BA01-7E1FA3C750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018AC8-85C0-4970-A934-EA241EF5715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209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CD3C142-1C3B-4DAE-91FE-EBA6430B8B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7D43152-50CA-4382-8AA2-3AE41A8E74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259D71E7-DE0F-4C5B-AFE0-B43623F589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EEAB13-60CB-4B36-9345-B329B21F37F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2251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DBC85DA-5EF2-4668-B4E6-9D87BA559A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7C59301-C8C8-4808-AB84-EBACC9B0D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84278A8-D8D0-44BC-8538-CFC26F7AC2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4BA15D-950F-4623-A08F-78E7B13157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5418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76200"/>
            <a:ext cx="1951038" cy="6019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76200"/>
            <a:ext cx="5700712" cy="6019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3FB5F40-25DD-4698-835F-B3CDF3A64E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CB00D2DF-A845-42D8-A5C0-8F911B767D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F29B33E-0F25-40B5-BD13-CB684C7516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347B74-D88F-49D8-B8F8-562CD763A31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1368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168964C-DFED-4A1E-8CD2-3E8BD777AAC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557213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zh-CN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471CB21-CEDD-4C56-9367-FF8CDBBAED6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557213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zh-CN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7ADA1D1-B942-4B96-8EC6-F30B4108D0B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9794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zh-CN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906D3ED-6463-47AC-8064-CDD619CCC9C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9794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zh-CN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C90DB48-A8C3-40E9-80AE-061DC3BCA13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9064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zh-CN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B2912354-8BB6-4813-9F03-1816E043FD1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4492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zh-CN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1E628D2D-B203-479F-AED7-50A002FA6386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2398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zh-CN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4AA6A7A3-F171-4264-B798-E6DA483ACE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76200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86BDB935-D67F-4640-884F-3475D21A0A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13716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1" name="Rectangle 11">
            <a:extLst>
              <a:ext uri="{FF2B5EF4-FFF2-40B4-BE49-F238E27FC236}">
                <a16:creationId xmlns:a16="http://schemas.microsoft.com/office/drawing/2014/main" id="{780940C4-74BA-4B7D-96AB-F910EB5BC75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kumimoji="0" sz="14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2" name="Rectangle 12">
            <a:extLst>
              <a:ext uri="{FF2B5EF4-FFF2-40B4-BE49-F238E27FC236}">
                <a16:creationId xmlns:a16="http://schemas.microsoft.com/office/drawing/2014/main" id="{A83329FF-1A90-43B3-B7A3-45E1C1B01E3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ClrTx/>
              <a:buSzTx/>
              <a:buFontTx/>
              <a:buNone/>
              <a:defRPr kumimoji="0" sz="14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3" name="Rectangle 13">
            <a:extLst>
              <a:ext uri="{FF2B5EF4-FFF2-40B4-BE49-F238E27FC236}">
                <a16:creationId xmlns:a16="http://schemas.microsoft.com/office/drawing/2014/main" id="{98BEA365-6B16-4C3A-A282-36FCFA1C078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kumimoji="0" sz="14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A1ADC6E-B6FC-422A-BBF2-F00737E9CD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75000"/>
        <a:buFont typeface="Wingdings" panose="05000000000000000000" pitchFamily="2" charset="2"/>
        <a:buChar char="m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9000"/>
        <a:buFont typeface="Wingdings" panose="05000000000000000000" pitchFamily="2" charset="2"/>
        <a:buChar char="q"/>
        <a:defRPr kumimoji="1" sz="2800">
          <a:solidFill>
            <a:srgbClr val="3333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Ø"/>
        <a:defRPr kumimoji="1" sz="2400">
          <a:solidFill>
            <a:srgbClr val="FF3300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20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notesSlide" Target="../notesSlides/notesSlide3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20.png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20.png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10" Type="http://schemas.openxmlformats.org/officeDocument/2006/relationships/tags" Target="../tags/tag61.xml"/><Relationship Id="rId19" Type="http://schemas.openxmlformats.org/officeDocument/2006/relationships/image" Target="../media/image20.png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19" Type="http://schemas.openxmlformats.org/officeDocument/2006/relationships/image" Target="../media/image20.png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image" Target="../media/image20.png"/><Relationship Id="rId10" Type="http://schemas.openxmlformats.org/officeDocument/2006/relationships/tags" Target="../tags/tag95.xml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tags" Target="../tags/tag106.xml"/><Relationship Id="rId13" Type="http://schemas.openxmlformats.org/officeDocument/2006/relationships/tags" Target="../tags/tag11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01.xml"/><Relationship Id="rId7" Type="http://schemas.openxmlformats.org/officeDocument/2006/relationships/tags" Target="../tags/tag105.xml"/><Relationship Id="rId12" Type="http://schemas.openxmlformats.org/officeDocument/2006/relationships/tags" Target="../tags/tag110.xml"/><Relationship Id="rId17" Type="http://schemas.openxmlformats.org/officeDocument/2006/relationships/tags" Target="../tags/tag115.xml"/><Relationship Id="rId2" Type="http://schemas.openxmlformats.org/officeDocument/2006/relationships/tags" Target="../tags/tag100.xml"/><Relationship Id="rId16" Type="http://schemas.openxmlformats.org/officeDocument/2006/relationships/tags" Target="../tags/tag114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tags" Target="../tags/tag109.xml"/><Relationship Id="rId5" Type="http://schemas.openxmlformats.org/officeDocument/2006/relationships/tags" Target="../tags/tag103.xml"/><Relationship Id="rId15" Type="http://schemas.openxmlformats.org/officeDocument/2006/relationships/tags" Target="../tags/tag113.xml"/><Relationship Id="rId10" Type="http://schemas.openxmlformats.org/officeDocument/2006/relationships/tags" Target="../tags/tag108.xml"/><Relationship Id="rId19" Type="http://schemas.openxmlformats.org/officeDocument/2006/relationships/image" Target="../media/image20.png"/><Relationship Id="rId4" Type="http://schemas.openxmlformats.org/officeDocument/2006/relationships/tags" Target="../tags/tag102.xml"/><Relationship Id="rId9" Type="http://schemas.openxmlformats.org/officeDocument/2006/relationships/tags" Target="../tags/tag107.xml"/><Relationship Id="rId14" Type="http://schemas.openxmlformats.org/officeDocument/2006/relationships/tags" Target="../tags/tag112.xml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tags" Target="../tags/tag123.xml"/><Relationship Id="rId13" Type="http://schemas.openxmlformats.org/officeDocument/2006/relationships/tags" Target="../tags/tag128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18.xml"/><Relationship Id="rId7" Type="http://schemas.openxmlformats.org/officeDocument/2006/relationships/tags" Target="../tags/tag122.xml"/><Relationship Id="rId12" Type="http://schemas.openxmlformats.org/officeDocument/2006/relationships/tags" Target="../tags/tag127.xml"/><Relationship Id="rId17" Type="http://schemas.openxmlformats.org/officeDocument/2006/relationships/tags" Target="../tags/tag132.xml"/><Relationship Id="rId2" Type="http://schemas.openxmlformats.org/officeDocument/2006/relationships/tags" Target="../tags/tag117.xml"/><Relationship Id="rId16" Type="http://schemas.openxmlformats.org/officeDocument/2006/relationships/tags" Target="../tags/tag131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11" Type="http://schemas.openxmlformats.org/officeDocument/2006/relationships/tags" Target="../tags/tag126.xml"/><Relationship Id="rId5" Type="http://schemas.openxmlformats.org/officeDocument/2006/relationships/tags" Target="../tags/tag120.xml"/><Relationship Id="rId15" Type="http://schemas.openxmlformats.org/officeDocument/2006/relationships/tags" Target="../tags/tag130.xml"/><Relationship Id="rId10" Type="http://schemas.openxmlformats.org/officeDocument/2006/relationships/tags" Target="../tags/tag125.xml"/><Relationship Id="rId19" Type="http://schemas.openxmlformats.org/officeDocument/2006/relationships/image" Target="../media/image20.png"/><Relationship Id="rId4" Type="http://schemas.openxmlformats.org/officeDocument/2006/relationships/tags" Target="../tags/tag119.xml"/><Relationship Id="rId9" Type="http://schemas.openxmlformats.org/officeDocument/2006/relationships/tags" Target="../tags/tag124.xml"/><Relationship Id="rId14" Type="http://schemas.openxmlformats.org/officeDocument/2006/relationships/tags" Target="../tags/tag129.xml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tags" Target="../tags/tag140.xml"/><Relationship Id="rId13" Type="http://schemas.openxmlformats.org/officeDocument/2006/relationships/tags" Target="../tags/tag145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35.xml"/><Relationship Id="rId7" Type="http://schemas.openxmlformats.org/officeDocument/2006/relationships/tags" Target="../tags/tag139.xml"/><Relationship Id="rId12" Type="http://schemas.openxmlformats.org/officeDocument/2006/relationships/tags" Target="../tags/tag144.xml"/><Relationship Id="rId17" Type="http://schemas.openxmlformats.org/officeDocument/2006/relationships/tags" Target="../tags/tag149.xml"/><Relationship Id="rId2" Type="http://schemas.openxmlformats.org/officeDocument/2006/relationships/tags" Target="../tags/tag134.xml"/><Relationship Id="rId16" Type="http://schemas.openxmlformats.org/officeDocument/2006/relationships/tags" Target="../tags/tag148.xm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11" Type="http://schemas.openxmlformats.org/officeDocument/2006/relationships/tags" Target="../tags/tag143.xml"/><Relationship Id="rId5" Type="http://schemas.openxmlformats.org/officeDocument/2006/relationships/tags" Target="../tags/tag137.xml"/><Relationship Id="rId15" Type="http://schemas.openxmlformats.org/officeDocument/2006/relationships/tags" Target="../tags/tag147.xml"/><Relationship Id="rId10" Type="http://schemas.openxmlformats.org/officeDocument/2006/relationships/tags" Target="../tags/tag142.xml"/><Relationship Id="rId19" Type="http://schemas.openxmlformats.org/officeDocument/2006/relationships/image" Target="../media/image20.png"/><Relationship Id="rId4" Type="http://schemas.openxmlformats.org/officeDocument/2006/relationships/tags" Target="../tags/tag136.xml"/><Relationship Id="rId9" Type="http://schemas.openxmlformats.org/officeDocument/2006/relationships/tags" Target="../tags/tag141.xml"/><Relationship Id="rId14" Type="http://schemas.openxmlformats.org/officeDocument/2006/relationships/tags" Target="../tags/tag146.xml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tags" Target="../tags/tag157.xml"/><Relationship Id="rId13" Type="http://schemas.openxmlformats.org/officeDocument/2006/relationships/tags" Target="../tags/tag162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52.xml"/><Relationship Id="rId7" Type="http://schemas.openxmlformats.org/officeDocument/2006/relationships/tags" Target="../tags/tag156.xml"/><Relationship Id="rId12" Type="http://schemas.openxmlformats.org/officeDocument/2006/relationships/tags" Target="../tags/tag161.xml"/><Relationship Id="rId17" Type="http://schemas.openxmlformats.org/officeDocument/2006/relationships/tags" Target="../tags/tag166.xml"/><Relationship Id="rId2" Type="http://schemas.openxmlformats.org/officeDocument/2006/relationships/tags" Target="../tags/tag151.xml"/><Relationship Id="rId16" Type="http://schemas.openxmlformats.org/officeDocument/2006/relationships/tags" Target="../tags/tag165.xml"/><Relationship Id="rId1" Type="http://schemas.openxmlformats.org/officeDocument/2006/relationships/tags" Target="../tags/tag150.xml"/><Relationship Id="rId6" Type="http://schemas.openxmlformats.org/officeDocument/2006/relationships/tags" Target="../tags/tag155.xml"/><Relationship Id="rId11" Type="http://schemas.openxmlformats.org/officeDocument/2006/relationships/tags" Target="../tags/tag160.xml"/><Relationship Id="rId5" Type="http://schemas.openxmlformats.org/officeDocument/2006/relationships/tags" Target="../tags/tag154.xml"/><Relationship Id="rId15" Type="http://schemas.openxmlformats.org/officeDocument/2006/relationships/tags" Target="../tags/tag164.xml"/><Relationship Id="rId10" Type="http://schemas.openxmlformats.org/officeDocument/2006/relationships/tags" Target="../tags/tag159.xml"/><Relationship Id="rId19" Type="http://schemas.openxmlformats.org/officeDocument/2006/relationships/image" Target="../media/image20.png"/><Relationship Id="rId4" Type="http://schemas.openxmlformats.org/officeDocument/2006/relationships/tags" Target="../tags/tag153.xml"/><Relationship Id="rId9" Type="http://schemas.openxmlformats.org/officeDocument/2006/relationships/tags" Target="../tags/tag158.xml"/><Relationship Id="rId14" Type="http://schemas.openxmlformats.org/officeDocument/2006/relationships/tags" Target="../tags/tag163.xml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tags" Target="../tags/tag174.xml"/><Relationship Id="rId13" Type="http://schemas.openxmlformats.org/officeDocument/2006/relationships/tags" Target="../tags/tag179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69.xml"/><Relationship Id="rId7" Type="http://schemas.openxmlformats.org/officeDocument/2006/relationships/tags" Target="../tags/tag173.xml"/><Relationship Id="rId12" Type="http://schemas.openxmlformats.org/officeDocument/2006/relationships/tags" Target="../tags/tag178.xml"/><Relationship Id="rId17" Type="http://schemas.openxmlformats.org/officeDocument/2006/relationships/tags" Target="../tags/tag183.xml"/><Relationship Id="rId2" Type="http://schemas.openxmlformats.org/officeDocument/2006/relationships/tags" Target="../tags/tag168.xml"/><Relationship Id="rId16" Type="http://schemas.openxmlformats.org/officeDocument/2006/relationships/tags" Target="../tags/tag182.xml"/><Relationship Id="rId1" Type="http://schemas.openxmlformats.org/officeDocument/2006/relationships/tags" Target="../tags/tag167.xml"/><Relationship Id="rId6" Type="http://schemas.openxmlformats.org/officeDocument/2006/relationships/tags" Target="../tags/tag172.xml"/><Relationship Id="rId11" Type="http://schemas.openxmlformats.org/officeDocument/2006/relationships/tags" Target="../tags/tag177.xml"/><Relationship Id="rId5" Type="http://schemas.openxmlformats.org/officeDocument/2006/relationships/tags" Target="../tags/tag171.xml"/><Relationship Id="rId15" Type="http://schemas.openxmlformats.org/officeDocument/2006/relationships/tags" Target="../tags/tag181.xml"/><Relationship Id="rId10" Type="http://schemas.openxmlformats.org/officeDocument/2006/relationships/tags" Target="../tags/tag176.xml"/><Relationship Id="rId19" Type="http://schemas.openxmlformats.org/officeDocument/2006/relationships/image" Target="../media/image20.png"/><Relationship Id="rId4" Type="http://schemas.openxmlformats.org/officeDocument/2006/relationships/tags" Target="../tags/tag170.xml"/><Relationship Id="rId9" Type="http://schemas.openxmlformats.org/officeDocument/2006/relationships/tags" Target="../tags/tag175.xml"/><Relationship Id="rId14" Type="http://schemas.openxmlformats.org/officeDocument/2006/relationships/tags" Target="../tags/tag180.xml"/></Relationships>
</file>

<file path=ppt/slides/_rels/slide126.xml.rels><?xml version="1.0" encoding="UTF-8" standalone="yes"?>
<Relationships xmlns="http://schemas.openxmlformats.org/package/2006/relationships"><Relationship Id="rId8" Type="http://schemas.openxmlformats.org/officeDocument/2006/relationships/tags" Target="../tags/tag191.xml"/><Relationship Id="rId13" Type="http://schemas.openxmlformats.org/officeDocument/2006/relationships/tags" Target="../tags/tag196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86.xml"/><Relationship Id="rId7" Type="http://schemas.openxmlformats.org/officeDocument/2006/relationships/tags" Target="../tags/tag190.xml"/><Relationship Id="rId12" Type="http://schemas.openxmlformats.org/officeDocument/2006/relationships/tags" Target="../tags/tag195.xml"/><Relationship Id="rId17" Type="http://schemas.openxmlformats.org/officeDocument/2006/relationships/tags" Target="../tags/tag200.xml"/><Relationship Id="rId2" Type="http://schemas.openxmlformats.org/officeDocument/2006/relationships/tags" Target="../tags/tag185.xml"/><Relationship Id="rId16" Type="http://schemas.openxmlformats.org/officeDocument/2006/relationships/tags" Target="../tags/tag199.xml"/><Relationship Id="rId1" Type="http://schemas.openxmlformats.org/officeDocument/2006/relationships/tags" Target="../tags/tag184.xml"/><Relationship Id="rId6" Type="http://schemas.openxmlformats.org/officeDocument/2006/relationships/tags" Target="../tags/tag189.xml"/><Relationship Id="rId11" Type="http://schemas.openxmlformats.org/officeDocument/2006/relationships/tags" Target="../tags/tag194.xml"/><Relationship Id="rId5" Type="http://schemas.openxmlformats.org/officeDocument/2006/relationships/tags" Target="../tags/tag188.xml"/><Relationship Id="rId15" Type="http://schemas.openxmlformats.org/officeDocument/2006/relationships/tags" Target="../tags/tag198.xml"/><Relationship Id="rId10" Type="http://schemas.openxmlformats.org/officeDocument/2006/relationships/tags" Target="../tags/tag193.xml"/><Relationship Id="rId19" Type="http://schemas.openxmlformats.org/officeDocument/2006/relationships/image" Target="../media/image20.png"/><Relationship Id="rId4" Type="http://schemas.openxmlformats.org/officeDocument/2006/relationships/tags" Target="../tags/tag187.xml"/><Relationship Id="rId9" Type="http://schemas.openxmlformats.org/officeDocument/2006/relationships/tags" Target="../tags/tag192.xml"/><Relationship Id="rId14" Type="http://schemas.openxmlformats.org/officeDocument/2006/relationships/tags" Target="../tags/tag19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8011343-63B6-4CC5-A1BE-88B19F3ED5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2743200"/>
            <a:ext cx="7793037" cy="1143000"/>
          </a:xfrm>
        </p:spPr>
        <p:txBody>
          <a:bodyPr/>
          <a:lstStyle/>
          <a:p>
            <a:pPr algn="ctr" eaLnBrk="1" hangingPunct="1"/>
            <a:r>
              <a:rPr lang="zh-CN" altLang="en-US" dirty="0"/>
              <a:t>第二章  一个简单的编译器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4DCB994-9630-4804-A45E-F32964FB47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学习内容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C7689AE-A18A-47E5-B57E-D5D83F7CC4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eaLnBrk="1" hangingPunct="1"/>
            <a:r>
              <a:rPr lang="zh-CN" altLang="en-US" dirty="0"/>
              <a:t>能力获取：手工构造以</a:t>
            </a:r>
            <a:r>
              <a:rPr lang="zh-CN" altLang="en-US" dirty="0">
                <a:solidFill>
                  <a:schemeClr val="hlink"/>
                </a:solidFill>
                <a:ea typeface="黑体" panose="02010609060101010101" pitchFamily="49" charset="-122"/>
              </a:rPr>
              <a:t>语法分析器</a:t>
            </a:r>
            <a:r>
              <a:rPr lang="zh-CN" altLang="en-US" dirty="0"/>
              <a:t>为核心的编译器的能力</a:t>
            </a:r>
            <a:r>
              <a:rPr lang="en-US" altLang="zh-CN" dirty="0"/>
              <a:t>——</a:t>
            </a:r>
            <a:r>
              <a:rPr lang="zh-CN" altLang="en-US" dirty="0"/>
              <a:t>以中缀表达式转后缀表示形式为例</a:t>
            </a:r>
          </a:p>
          <a:p>
            <a:pPr lvl="1" eaLnBrk="1" hangingPunct="1"/>
            <a:r>
              <a:rPr lang="zh-CN" altLang="en-US" dirty="0"/>
              <a:t>利用</a:t>
            </a:r>
            <a:r>
              <a:rPr lang="zh-CN" altLang="en-US" dirty="0">
                <a:solidFill>
                  <a:schemeClr val="hlink"/>
                </a:solidFill>
                <a:ea typeface="黑体" panose="02010609060101010101" pitchFamily="49" charset="-122"/>
              </a:rPr>
              <a:t>上下文无关文法</a:t>
            </a:r>
            <a:r>
              <a:rPr lang="zh-CN" altLang="en-US" dirty="0">
                <a:solidFill>
                  <a:srgbClr val="3333CC"/>
                </a:solidFill>
                <a:ea typeface="黑体" panose="02010609060101010101" pitchFamily="49" charset="-122"/>
              </a:rPr>
              <a:t>描述</a:t>
            </a:r>
            <a:r>
              <a:rPr lang="zh-CN" altLang="en-US" dirty="0"/>
              <a:t>源语言的语法结构</a:t>
            </a:r>
          </a:p>
          <a:p>
            <a:pPr lvl="1" eaLnBrk="1" hangingPunct="1"/>
            <a:r>
              <a:rPr lang="zh-CN" altLang="en-US" dirty="0"/>
              <a:t>利用</a:t>
            </a:r>
            <a:r>
              <a:rPr lang="zh-CN" altLang="en-US" dirty="0">
                <a:solidFill>
                  <a:schemeClr val="hlink"/>
                </a:solidFill>
                <a:ea typeface="黑体" panose="02010609060101010101" pitchFamily="49" charset="-122"/>
              </a:rPr>
              <a:t>语法制导翻译</a:t>
            </a:r>
            <a:r>
              <a:rPr lang="zh-CN" altLang="en-US" dirty="0"/>
              <a:t>方法进行表达式转换</a:t>
            </a:r>
          </a:p>
          <a:p>
            <a:pPr lvl="1" eaLnBrk="1" hangingPunct="1"/>
            <a:r>
              <a:rPr lang="zh-CN" altLang="en-US" dirty="0"/>
              <a:t>构造</a:t>
            </a:r>
            <a:r>
              <a:rPr lang="zh-CN" altLang="en-US" dirty="0">
                <a:solidFill>
                  <a:schemeClr val="hlink"/>
                </a:solidFill>
                <a:ea typeface="黑体" panose="02010609060101010101" pitchFamily="49" charset="-122"/>
              </a:rPr>
              <a:t>预测分析器</a:t>
            </a:r>
            <a:r>
              <a:rPr lang="zh-CN" altLang="en-US" dirty="0"/>
              <a:t>，进行</a:t>
            </a:r>
            <a:r>
              <a:rPr lang="zh-CN" altLang="en-US" dirty="0">
                <a:solidFill>
                  <a:srgbClr val="3333CC"/>
                </a:solidFill>
                <a:ea typeface="黑体" panose="02010609060101010101" pitchFamily="49" charset="-122"/>
              </a:rPr>
              <a:t>语法分析</a:t>
            </a:r>
            <a:r>
              <a:rPr lang="zh-CN" altLang="en-US" dirty="0"/>
              <a:t>，并同时进行语法制导翻译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构造更复杂的</a:t>
            </a:r>
            <a:r>
              <a:rPr lang="zh-CN" altLang="en-US" dirty="0">
                <a:solidFill>
                  <a:srgbClr val="FF3300"/>
                </a:solidFill>
                <a:ea typeface="黑体" panose="02010609060101010101" pitchFamily="49" charset="-122"/>
              </a:rPr>
              <a:t>词法分析器</a:t>
            </a:r>
            <a:r>
              <a:rPr lang="en-US" altLang="zh-CN" dirty="0"/>
              <a:t>——</a:t>
            </a:r>
            <a:r>
              <a:rPr lang="zh-CN" altLang="en-US" dirty="0"/>
              <a:t>消除单字符单词的限制，支持变量</a:t>
            </a:r>
          </a:p>
          <a:p>
            <a:pPr lvl="1" eaLnBrk="1" hangingPunct="1"/>
            <a:r>
              <a:rPr lang="zh-CN" altLang="en-US" dirty="0"/>
              <a:t>符号表的简单实现方法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171CBC6-C556-453B-BD37-9C9B7DCEDB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2.1  </a:t>
            </a:r>
            <a:r>
              <a:rPr lang="zh-CN" altLang="en-US"/>
              <a:t>概述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6306EB3A-9299-4BC1-974B-18266F2908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9200" y="1371600"/>
            <a:ext cx="7735888" cy="4724400"/>
          </a:xfrm>
        </p:spPr>
        <p:txBody>
          <a:bodyPr/>
          <a:lstStyle/>
          <a:p>
            <a:pPr eaLnBrk="1" hangingPunct="1"/>
            <a:r>
              <a:rPr lang="zh-CN" altLang="en-US"/>
              <a:t>语法描述</a:t>
            </a:r>
            <a:br>
              <a:rPr lang="zh-CN" altLang="en-US"/>
            </a:br>
            <a:r>
              <a:rPr lang="zh-CN" altLang="en-US" b="1">
                <a:solidFill>
                  <a:srgbClr val="3333CC"/>
                </a:solidFill>
              </a:rPr>
              <a:t>上下文无关文法</a:t>
            </a:r>
            <a:r>
              <a:rPr lang="zh-CN" altLang="en-US" b="1"/>
              <a:t>，</a:t>
            </a:r>
            <a:r>
              <a:rPr lang="en-US" altLang="zh-CN">
                <a:solidFill>
                  <a:srgbClr val="FF3300"/>
                </a:solidFill>
              </a:rPr>
              <a:t>context-free grammar</a:t>
            </a:r>
            <a:br>
              <a:rPr lang="en-US" altLang="zh-CN" b="1"/>
            </a:br>
            <a:r>
              <a:rPr lang="zh-CN" altLang="en-US" b="1">
                <a:solidFill>
                  <a:srgbClr val="3333CC"/>
                </a:solidFill>
              </a:rPr>
              <a:t>巴科斯</a:t>
            </a:r>
            <a:r>
              <a:rPr lang="en-US" altLang="zh-CN" b="1">
                <a:solidFill>
                  <a:srgbClr val="3333CC"/>
                </a:solidFill>
              </a:rPr>
              <a:t>-</a:t>
            </a:r>
            <a:r>
              <a:rPr lang="zh-CN" altLang="en-US" b="1">
                <a:solidFill>
                  <a:srgbClr val="3333CC"/>
                </a:solidFill>
              </a:rPr>
              <a:t>瑙尔范式</a:t>
            </a:r>
            <a:r>
              <a:rPr lang="zh-CN" altLang="en-US" b="1"/>
              <a:t>，</a:t>
            </a:r>
            <a:r>
              <a:rPr lang="en-US" altLang="zh-CN">
                <a:solidFill>
                  <a:srgbClr val="FF3300"/>
                </a:solidFill>
              </a:rPr>
              <a:t>Backus-Naur Form</a:t>
            </a:r>
            <a:r>
              <a:rPr lang="zh-CN" altLang="en-US" b="1"/>
              <a:t>，</a:t>
            </a:r>
            <a:r>
              <a:rPr lang="en-US" altLang="zh-CN" b="1">
                <a:solidFill>
                  <a:srgbClr val="FF3300"/>
                </a:solidFill>
              </a:rPr>
              <a:t>BNF</a:t>
            </a:r>
          </a:p>
          <a:p>
            <a:pPr eaLnBrk="1" hangingPunct="1"/>
            <a:r>
              <a:rPr lang="zh-CN" altLang="en-US"/>
              <a:t>语义描述：非形式化描述</a:t>
            </a:r>
          </a:p>
          <a:p>
            <a:pPr eaLnBrk="1" hangingPunct="1"/>
            <a:r>
              <a:rPr lang="zh-CN" altLang="en-US"/>
              <a:t>辅助代码生成：</a:t>
            </a:r>
            <a:br>
              <a:rPr lang="zh-CN" altLang="en-US"/>
            </a:br>
            <a:r>
              <a:rPr lang="zh-CN" altLang="en-US" b="1">
                <a:solidFill>
                  <a:srgbClr val="3333CC"/>
                </a:solidFill>
              </a:rPr>
              <a:t>语法制导翻译</a:t>
            </a:r>
            <a:r>
              <a:rPr lang="zh-CN" altLang="en-US"/>
              <a:t>，</a:t>
            </a:r>
            <a:r>
              <a:rPr lang="en-US" altLang="zh-CN">
                <a:solidFill>
                  <a:srgbClr val="FF3300"/>
                </a:solidFill>
              </a:rPr>
              <a:t>syntax-directed translation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5D1A3A1-FA92-45DF-87F9-BDD64B9B28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构造一个简单的编译器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BFAE9FE-EA3A-41A6-B29B-3189217E64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目标：表达式中缀表示</a:t>
            </a:r>
            <a:r>
              <a:rPr lang="zh-CN" altLang="en-US" dirty="0">
                <a:sym typeface="Wingdings" panose="05000000000000000000" pitchFamily="2" charset="2"/>
              </a:rPr>
              <a:t>后缀表示</a:t>
            </a:r>
            <a:br>
              <a:rPr lang="zh-CN" altLang="en-US" dirty="0">
                <a:sym typeface="Wingdings" panose="05000000000000000000" pitchFamily="2" charset="2"/>
              </a:rPr>
            </a:br>
            <a:r>
              <a:rPr lang="en-US" altLang="zh-CN" dirty="0">
                <a:sym typeface="Wingdings" panose="05000000000000000000" pitchFamily="2" charset="2"/>
              </a:rPr>
              <a:t>9-5+2</a:t>
            </a:r>
          </a:p>
          <a:p>
            <a:pPr eaLnBrk="1" hangingPunct="1"/>
            <a:r>
              <a:rPr lang="zh-CN" altLang="en-US" dirty="0">
                <a:sym typeface="Wingdings" panose="05000000000000000000" pitchFamily="2" charset="2"/>
              </a:rPr>
              <a:t>过程：</a:t>
            </a:r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语法制导翻译器：语法分析＋中间代码生成</a:t>
            </a:r>
          </a:p>
        </p:txBody>
      </p:sp>
      <p:pic>
        <p:nvPicPr>
          <p:cNvPr id="10244" name="Picture 14" descr="frontend">
            <a:extLst>
              <a:ext uri="{FF2B5EF4-FFF2-40B4-BE49-F238E27FC236}">
                <a16:creationId xmlns:a16="http://schemas.microsoft.com/office/drawing/2014/main" id="{EE255587-AF48-4355-AB10-1D1FA9EFF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155950"/>
            <a:ext cx="7305675" cy="8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88C50C5-D5AE-4FF2-B10A-D5E9CEE2A2A2}"/>
              </a:ext>
            </a:extLst>
          </p:cNvPr>
          <p:cNvSpPr txBox="1"/>
          <p:nvPr/>
        </p:nvSpPr>
        <p:spPr>
          <a:xfrm>
            <a:off x="2915816" y="1897668"/>
            <a:ext cx="1080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ym typeface="Wingdings" panose="05000000000000000000" pitchFamily="2" charset="2"/>
              </a:rPr>
              <a:t>95-2+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746DD3A-2EBD-47F5-B0AF-773CD9D06B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2.2  </a:t>
            </a:r>
            <a:r>
              <a:rPr lang="zh-CN" altLang="en-US"/>
              <a:t>语法定义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B5A45FBA-B61E-4C1D-B17F-5BF56641F4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上下文无关文法：描述语言的语法结构</a:t>
            </a:r>
          </a:p>
          <a:p>
            <a:pPr eaLnBrk="1" hangingPunct="1"/>
            <a:r>
              <a:rPr lang="en-US" altLang="zh-CN" sz="2800" b="1" dirty="0"/>
              <a:t>if</a:t>
            </a:r>
            <a:r>
              <a:rPr lang="en-US" altLang="zh-CN" sz="2800" dirty="0"/>
              <a:t> (expression) statement </a:t>
            </a:r>
            <a:r>
              <a:rPr lang="en-US" altLang="zh-CN" sz="2800" b="1" dirty="0"/>
              <a:t>else</a:t>
            </a:r>
            <a:r>
              <a:rPr lang="en-US" altLang="zh-CN" sz="2800" dirty="0"/>
              <a:t> statement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对应的文法规则</a:t>
            </a:r>
            <a:br>
              <a:rPr lang="zh-CN" altLang="en-US" sz="2800" dirty="0"/>
            </a:br>
            <a:r>
              <a:rPr lang="en-US" altLang="zh-CN" sz="2800" i="1" dirty="0" err="1"/>
              <a:t>stmt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</a:t>
            </a:r>
            <a:r>
              <a:rPr kumimoji="0" lang="en-US" altLang="zh-CN" sz="2800" b="1" dirty="0" err="1">
                <a:sym typeface="Symbol" panose="05050102010706020507" pitchFamily="18" charset="2"/>
              </a:rPr>
              <a:t>if</a:t>
            </a:r>
            <a:r>
              <a:rPr kumimoji="0" lang="en-US" altLang="zh-CN" sz="2800" b="1" dirty="0">
                <a:sym typeface="Symbol" panose="05050102010706020507" pitchFamily="18" charset="2"/>
              </a:rPr>
              <a:t> </a:t>
            </a:r>
            <a:r>
              <a:rPr kumimoji="0" lang="en-US" altLang="zh-CN" sz="2800" dirty="0">
                <a:sym typeface="Symbol" panose="05050102010706020507" pitchFamily="18" charset="2"/>
              </a:rPr>
              <a:t>( </a:t>
            </a:r>
            <a:r>
              <a:rPr kumimoji="0" lang="en-US" altLang="zh-CN" sz="2800" i="1" dirty="0">
                <a:sym typeface="Symbol" panose="05050102010706020507" pitchFamily="18" charset="2"/>
              </a:rPr>
              <a:t>expr </a:t>
            </a:r>
            <a:r>
              <a:rPr kumimoji="0" lang="en-US" altLang="zh-CN" sz="2800" dirty="0">
                <a:sym typeface="Symbol" panose="05050102010706020507" pitchFamily="18" charset="2"/>
              </a:rPr>
              <a:t>)</a:t>
            </a:r>
            <a:r>
              <a:rPr kumimoji="0" lang="en-US" altLang="zh-CN" sz="2800" b="1" dirty="0">
                <a:sym typeface="Symbol" panose="05050102010706020507" pitchFamily="18" charset="2"/>
              </a:rPr>
              <a:t> </a:t>
            </a:r>
            <a:r>
              <a:rPr kumimoji="0" lang="en-US" altLang="zh-CN" sz="2800" i="1" dirty="0" err="1">
                <a:sym typeface="Symbol" panose="05050102010706020507" pitchFamily="18" charset="2"/>
              </a:rPr>
              <a:t>stmt</a:t>
            </a:r>
            <a:r>
              <a:rPr kumimoji="0" lang="en-US" altLang="zh-CN" sz="2800" b="1" dirty="0">
                <a:sym typeface="Symbol" panose="05050102010706020507" pitchFamily="18" charset="2"/>
              </a:rPr>
              <a:t> else </a:t>
            </a:r>
            <a:r>
              <a:rPr kumimoji="0" lang="en-US" altLang="zh-CN" sz="2800" i="1" dirty="0" err="1">
                <a:sym typeface="Symbol" panose="05050102010706020507" pitchFamily="18" charset="2"/>
              </a:rPr>
              <a:t>stmt</a:t>
            </a:r>
            <a:endParaRPr kumimoji="0" lang="en-US" altLang="zh-CN" sz="2800" i="1" dirty="0">
              <a:sym typeface="Symbol" panose="05050102010706020507" pitchFamily="18" charset="2"/>
            </a:endParaRPr>
          </a:p>
          <a:p>
            <a:pPr eaLnBrk="1" hangingPunct="1"/>
            <a:r>
              <a:rPr kumimoji="0" lang="zh-CN" altLang="en-US" sz="2800" b="1" dirty="0">
                <a:solidFill>
                  <a:srgbClr val="3333CC"/>
                </a:solidFill>
                <a:sym typeface="Symbol" panose="05050102010706020507" pitchFamily="18" charset="2"/>
              </a:rPr>
              <a:t>产生式</a:t>
            </a:r>
            <a:r>
              <a:rPr kumimoji="0" lang="zh-CN" altLang="en-US" sz="2800" dirty="0">
                <a:sym typeface="Symbol" panose="05050102010706020507" pitchFamily="18" charset="2"/>
              </a:rPr>
              <a:t>，</a:t>
            </a:r>
            <a:r>
              <a:rPr kumimoji="0" lang="en-US" altLang="zh-CN" sz="2800" dirty="0">
                <a:solidFill>
                  <a:srgbClr val="FF3300"/>
                </a:solidFill>
                <a:sym typeface="Symbol" panose="05050102010706020507" pitchFamily="18" charset="2"/>
              </a:rPr>
              <a:t>production</a:t>
            </a:r>
          </a:p>
          <a:p>
            <a:pPr eaLnBrk="1" hangingPunct="1"/>
            <a:r>
              <a:rPr kumimoji="0" lang="en-US" altLang="zh-CN" sz="2800" b="1" dirty="0">
                <a:sym typeface="Symbol" panose="05050102010706020507" pitchFamily="18" charset="2"/>
              </a:rPr>
              <a:t>if</a:t>
            </a:r>
            <a:r>
              <a:rPr kumimoji="0" lang="en-US" altLang="zh-CN" sz="2800" dirty="0">
                <a:sym typeface="Symbol" panose="05050102010706020507" pitchFamily="18" charset="2"/>
              </a:rPr>
              <a:t>, </a:t>
            </a:r>
            <a:r>
              <a:rPr kumimoji="0" lang="en-US" altLang="zh-CN" sz="2800" b="1" dirty="0">
                <a:sym typeface="Symbol" panose="05050102010706020507" pitchFamily="18" charset="2"/>
              </a:rPr>
              <a:t>else</a:t>
            </a:r>
            <a:r>
              <a:rPr kumimoji="0" lang="en-US" altLang="zh-CN" sz="2800" dirty="0">
                <a:latin typeface="Tahoma" panose="020B0604030504040204" pitchFamily="34" charset="0"/>
                <a:sym typeface="Symbol" panose="05050102010706020507" pitchFamily="18" charset="2"/>
              </a:rPr>
              <a:t>——</a:t>
            </a:r>
            <a:r>
              <a:rPr kumimoji="0" lang="zh-CN" altLang="en-US" sz="2800" dirty="0">
                <a:sym typeface="Symbol" panose="05050102010706020507" pitchFamily="18" charset="2"/>
              </a:rPr>
              <a:t>单词，终结符号，</a:t>
            </a:r>
            <a:r>
              <a:rPr kumimoji="0" lang="en-US" altLang="zh-CN" sz="2800" dirty="0">
                <a:solidFill>
                  <a:schemeClr val="hlink"/>
                </a:solidFill>
                <a:sym typeface="Symbol" panose="05050102010706020507" pitchFamily="18" charset="2"/>
              </a:rPr>
              <a:t>terminal</a:t>
            </a:r>
          </a:p>
          <a:p>
            <a:pPr eaLnBrk="1" hangingPunct="1"/>
            <a:r>
              <a:rPr kumimoji="0" lang="en-US" altLang="zh-CN" sz="2800" i="1" dirty="0">
                <a:sym typeface="Symbol" panose="05050102010706020507" pitchFamily="18" charset="2"/>
              </a:rPr>
              <a:t>expr</a:t>
            </a:r>
            <a:r>
              <a:rPr kumimoji="0" lang="en-US" altLang="zh-CN" sz="2800" dirty="0">
                <a:sym typeface="Symbol" panose="05050102010706020507" pitchFamily="18" charset="2"/>
              </a:rPr>
              <a:t>, </a:t>
            </a:r>
            <a:r>
              <a:rPr kumimoji="0" lang="en-US" altLang="zh-CN" sz="2800" i="1" dirty="0" err="1">
                <a:sym typeface="Symbol" panose="05050102010706020507" pitchFamily="18" charset="2"/>
              </a:rPr>
              <a:t>stmt</a:t>
            </a:r>
            <a:r>
              <a:rPr kumimoji="0" lang="en-US" altLang="zh-CN" sz="2800" dirty="0">
                <a:latin typeface="Tahoma" panose="020B0604030504040204" pitchFamily="34" charset="0"/>
                <a:sym typeface="Symbol" panose="05050102010706020507" pitchFamily="18" charset="2"/>
              </a:rPr>
              <a:t>——</a:t>
            </a:r>
            <a:r>
              <a:rPr kumimoji="0" lang="zh-CN" altLang="en-US" sz="2800" dirty="0">
                <a:sym typeface="Symbol" panose="05050102010706020507" pitchFamily="18" charset="2"/>
              </a:rPr>
              <a:t>单词序列，非终结符号，</a:t>
            </a:r>
            <a:r>
              <a:rPr kumimoji="0" lang="en-US" altLang="zh-CN" sz="2800" dirty="0">
                <a:solidFill>
                  <a:schemeClr val="hlink"/>
                </a:solidFill>
                <a:sym typeface="Symbol" panose="05050102010706020507" pitchFamily="18" charset="2"/>
              </a:rPr>
              <a:t>nonterminal</a:t>
            </a:r>
          </a:p>
        </p:txBody>
      </p:sp>
      <p:sp>
        <p:nvSpPr>
          <p:cNvPr id="55301" name="Freeform 5">
            <a:extLst>
              <a:ext uri="{FF2B5EF4-FFF2-40B4-BE49-F238E27FC236}">
                <a16:creationId xmlns:a16="http://schemas.microsoft.com/office/drawing/2014/main" id="{BD01FAF1-57C1-41E3-A6FB-7F0663E3ED37}"/>
              </a:ext>
            </a:extLst>
          </p:cNvPr>
          <p:cNvSpPr>
            <a:spLocks/>
          </p:cNvSpPr>
          <p:nvPr/>
        </p:nvSpPr>
        <p:spPr bwMode="auto">
          <a:xfrm>
            <a:off x="2356763" y="2329328"/>
            <a:ext cx="3505200" cy="620713"/>
          </a:xfrm>
          <a:custGeom>
            <a:avLst/>
            <a:gdLst>
              <a:gd name="T0" fmla="*/ 2147483646 w 2208"/>
              <a:gd name="T1" fmla="*/ 2147483646 h 391"/>
              <a:gd name="T2" fmla="*/ 2147483646 w 2208"/>
              <a:gd name="T3" fmla="*/ 2147483646 h 391"/>
              <a:gd name="T4" fmla="*/ 2147483646 w 2208"/>
              <a:gd name="T5" fmla="*/ 2147483646 h 391"/>
              <a:gd name="T6" fmla="*/ 0 w 2208"/>
              <a:gd name="T7" fmla="*/ 2147483646 h 391"/>
              <a:gd name="T8" fmla="*/ 0 60000 65536"/>
              <a:gd name="T9" fmla="*/ 0 60000 65536"/>
              <a:gd name="T10" fmla="*/ 0 60000 65536"/>
              <a:gd name="T11" fmla="*/ 0 60000 65536"/>
              <a:gd name="T12" fmla="*/ 0 w 2208"/>
              <a:gd name="T13" fmla="*/ 0 h 391"/>
              <a:gd name="T14" fmla="*/ 2208 w 2208"/>
              <a:gd name="T15" fmla="*/ 391 h 39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08" h="391">
                <a:moveTo>
                  <a:pt x="2208" y="55"/>
                </a:moveTo>
                <a:cubicBezTo>
                  <a:pt x="2055" y="51"/>
                  <a:pt x="1612" y="0"/>
                  <a:pt x="1290" y="28"/>
                </a:cubicBezTo>
                <a:cubicBezTo>
                  <a:pt x="968" y="56"/>
                  <a:pt x="488" y="166"/>
                  <a:pt x="273" y="226"/>
                </a:cubicBezTo>
                <a:cubicBezTo>
                  <a:pt x="58" y="286"/>
                  <a:pt x="57" y="357"/>
                  <a:pt x="0" y="391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miter lim="800000"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 dirty="0"/>
          </a:p>
        </p:txBody>
      </p:sp>
      <p:sp>
        <p:nvSpPr>
          <p:cNvPr id="55302" name="Rectangle 6">
            <a:extLst>
              <a:ext uri="{FF2B5EF4-FFF2-40B4-BE49-F238E27FC236}">
                <a16:creationId xmlns:a16="http://schemas.microsoft.com/office/drawing/2014/main" id="{E6139E25-374F-496A-B6CF-CFA73B97E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6136" y="2268959"/>
            <a:ext cx="2377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800" b="1" dirty="0">
                <a:solidFill>
                  <a:schemeClr val="hlink"/>
                </a:solidFill>
                <a:ea typeface="隶书" panose="02010509060101010101" pitchFamily="49" charset="-122"/>
              </a:rPr>
              <a:t>可</a:t>
            </a:r>
            <a:r>
              <a:rPr lang="zh-CN" altLang="en-US" sz="2000" b="1" dirty="0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具有形式为</a:t>
            </a:r>
            <a:r>
              <a:rPr lang="en-US" altLang="zh-CN" sz="2000" b="1" dirty="0">
                <a:solidFill>
                  <a:srgbClr val="3333CC"/>
                </a:solidFill>
                <a:ea typeface="黑体" panose="02010609060101010101" pitchFamily="49" charset="-122"/>
              </a:rPr>
              <a:t>…</a:t>
            </a:r>
            <a:endParaRPr lang="en-US" altLang="zh-CN" sz="2000" b="1" dirty="0">
              <a:solidFill>
                <a:srgbClr val="3333CC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B05684F-FABF-4253-A674-684CBC4252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上下文无关文法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302D6992-7503-4785-8DD8-D08724342E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37125"/>
          </a:xfrm>
        </p:spPr>
        <p:txBody>
          <a:bodyPr/>
          <a:lstStyle/>
          <a:p>
            <a:pPr marL="609600" indent="-609600" eaLnBrk="1" hangingPunct="1"/>
            <a:r>
              <a:rPr lang="zh-CN" altLang="en-US" sz="2800" dirty="0"/>
              <a:t>四个部分组成</a:t>
            </a:r>
            <a:endParaRPr lang="zh-CN" altLang="en-US" dirty="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/>
              <a:t>一组</a:t>
            </a:r>
            <a:r>
              <a:rPr lang="zh-CN" altLang="en-US" sz="2800" b="1" dirty="0">
                <a:solidFill>
                  <a:srgbClr val="3333CC"/>
                </a:solidFill>
                <a:ea typeface="黑体" panose="02010609060101010101" pitchFamily="49" charset="-122"/>
              </a:rPr>
              <a:t>终结符号</a:t>
            </a:r>
            <a:r>
              <a:rPr lang="zh-CN" altLang="en-US" sz="2800" dirty="0"/>
              <a:t>，单词，基本符号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/>
              <a:t>一组</a:t>
            </a:r>
            <a:r>
              <a:rPr lang="zh-CN" altLang="en-US" sz="2800" b="1" dirty="0">
                <a:solidFill>
                  <a:srgbClr val="3333CC"/>
                </a:solidFill>
                <a:ea typeface="黑体" panose="02010609060101010101" pitchFamily="49" charset="-122"/>
              </a:rPr>
              <a:t>非终结符号</a:t>
            </a:r>
            <a:r>
              <a:rPr lang="zh-CN" altLang="en-US" sz="2800" dirty="0"/>
              <a:t>（语法变量），语法范畴，语法概念</a:t>
            </a:r>
          </a:p>
          <a:p>
            <a:pPr marL="609600" indent="-609600" eaLnBrk="1" hangingPunct="1">
              <a:spcBef>
                <a:spcPct val="0"/>
              </a:spcBef>
              <a:buFont typeface="Wingdings" panose="05000000000000000000" pitchFamily="2" charset="2"/>
              <a:buAutoNum type="arabicPeriod"/>
            </a:pPr>
            <a:r>
              <a:rPr lang="zh-CN" altLang="en-US" sz="2800" dirty="0"/>
              <a:t>一组</a:t>
            </a:r>
            <a:r>
              <a:rPr lang="zh-CN" altLang="en-US" sz="2800" b="1" dirty="0">
                <a:solidFill>
                  <a:srgbClr val="3333CC"/>
                </a:solidFill>
                <a:ea typeface="黑体" panose="02010609060101010101" pitchFamily="49" charset="-122"/>
              </a:rPr>
              <a:t>产生式</a:t>
            </a:r>
            <a:r>
              <a:rPr lang="zh-CN" altLang="en-US" sz="2800" dirty="0"/>
              <a:t>，定义语法范畴</a:t>
            </a:r>
            <a:br>
              <a:rPr lang="zh-CN" altLang="en-US" sz="2800" dirty="0"/>
            </a:br>
            <a:r>
              <a:rPr lang="zh-CN" altLang="en-US" sz="2800" dirty="0"/>
              <a:t>产生式：</a:t>
            </a:r>
            <a:r>
              <a:rPr lang="en-US" altLang="zh-CN" sz="2800" dirty="0" err="1"/>
              <a:t>A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</a:t>
            </a:r>
            <a:r>
              <a:rPr kumimoji="0" lang="en-US" altLang="zh-CN" sz="2800" dirty="0" err="1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br>
              <a:rPr kumimoji="0" lang="en-US" altLang="zh-CN" sz="2800" dirty="0">
                <a:latin typeface="宋体" panose="02010600030101010101" pitchFamily="2" charset="-122"/>
                <a:sym typeface="Symbol" panose="05050102010706020507" pitchFamily="18" charset="2"/>
              </a:rPr>
            </a:br>
            <a:r>
              <a:rPr kumimoji="0" lang="en-US" altLang="zh-CN" sz="2800" dirty="0">
                <a:sym typeface="Symbol" panose="05050102010706020507" pitchFamily="18" charset="2"/>
              </a:rPr>
              <a:t>A——</a:t>
            </a:r>
            <a:r>
              <a:rPr kumimoji="0" lang="zh-CN" altLang="en-US" sz="2800" dirty="0">
                <a:sym typeface="Symbol" panose="05050102010706020507" pitchFamily="18" charset="2"/>
              </a:rPr>
              <a:t>一个非终结符，</a:t>
            </a:r>
            <a:r>
              <a:rPr lang="zh-CN" altLang="en-US" sz="2800" b="1" dirty="0">
                <a:solidFill>
                  <a:srgbClr val="3333CC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左部</a:t>
            </a:r>
            <a:br>
              <a:rPr kumimoji="0" lang="zh-CN" altLang="en-US" sz="2800" dirty="0">
                <a:sym typeface="Symbol" panose="05050102010706020507" pitchFamily="18" charset="2"/>
              </a:rPr>
            </a:br>
            <a:r>
              <a:rPr kumimoji="0" lang="en-US" altLang="zh-CN" sz="2800" dirty="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kumimoji="0" lang="en-US" altLang="zh-CN" sz="2800" dirty="0">
                <a:sym typeface="Symbol" panose="05050102010706020507" pitchFamily="18" charset="2"/>
              </a:rPr>
              <a:t>——</a:t>
            </a:r>
            <a:r>
              <a:rPr kumimoji="0" lang="zh-CN" altLang="en-US" sz="2800" dirty="0">
                <a:sym typeface="Symbol" panose="05050102010706020507" pitchFamily="18" charset="2"/>
              </a:rPr>
              <a:t>终结符或</a:t>
            </a:r>
            <a:r>
              <a:rPr kumimoji="0" lang="en-US" altLang="zh-CN" sz="2800" dirty="0">
                <a:sym typeface="Symbol" panose="05050102010706020507" pitchFamily="18" charset="2"/>
              </a:rPr>
              <a:t>/</a:t>
            </a:r>
            <a:r>
              <a:rPr kumimoji="0" lang="zh-CN" altLang="en-US" sz="2800" dirty="0">
                <a:sym typeface="Symbol" panose="05050102010706020507" pitchFamily="18" charset="2"/>
              </a:rPr>
              <a:t>与非终结符串，</a:t>
            </a:r>
            <a:r>
              <a:rPr lang="zh-CN" altLang="en-US" sz="2800" b="1" dirty="0">
                <a:solidFill>
                  <a:srgbClr val="3333CC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右部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800" dirty="0">
                <a:sym typeface="Symbol" panose="05050102010706020507" pitchFamily="18" charset="2"/>
              </a:rPr>
              <a:t>一个特定的非终结符</a:t>
            </a:r>
            <a:r>
              <a:rPr kumimoji="0" lang="en-US" altLang="zh-CN" sz="2800" dirty="0">
                <a:sym typeface="Symbol" panose="05050102010706020507" pitchFamily="18" charset="2"/>
              </a:rPr>
              <a:t>——</a:t>
            </a:r>
            <a:r>
              <a:rPr kumimoji="0" lang="zh-CN" altLang="en-US" sz="2800" b="1" dirty="0">
                <a:solidFill>
                  <a:srgbClr val="3333CC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开始符号</a:t>
            </a:r>
            <a:r>
              <a:rPr kumimoji="0" lang="zh-CN" altLang="en-US" sz="2800" dirty="0">
                <a:sym typeface="Symbol" panose="05050102010706020507" pitchFamily="18" charset="2"/>
              </a:rPr>
              <a:t>，</a:t>
            </a:r>
            <a:r>
              <a:rPr kumimoji="0" lang="en-US" altLang="zh-CN" sz="2800" dirty="0">
                <a:solidFill>
                  <a:srgbClr val="FF3300"/>
                </a:solidFill>
                <a:sym typeface="Symbol" panose="05050102010706020507" pitchFamily="18" charset="2"/>
              </a:rPr>
              <a:t>start symbol</a:t>
            </a: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语法分析：分析单词之间的关系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——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将单词串抽象为非终结符、形成层次结构</a:t>
            </a:r>
            <a:endParaRPr kumimoji="1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54F6B98-295D-4822-AC47-86EF792411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形式化定义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45F9CB5-B996-4AB6-9A1C-0EE50F0359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几个概念</a:t>
            </a:r>
          </a:p>
          <a:p>
            <a:pPr eaLnBrk="1" hangingPunct="1"/>
            <a:r>
              <a:rPr lang="en-US" altLang="zh-CN" sz="2800" dirty="0"/>
              <a:t>Σ</a:t>
            </a:r>
            <a:r>
              <a:rPr lang="zh-CN" altLang="en-US" sz="2800" dirty="0"/>
              <a:t>：有穷</a:t>
            </a:r>
            <a:r>
              <a:rPr lang="zh-CN" altLang="en-US" sz="2800" b="1" dirty="0">
                <a:solidFill>
                  <a:srgbClr val="3333CC"/>
                </a:solidFill>
                <a:ea typeface="黑体" panose="02010609060101010101" pitchFamily="49" charset="-122"/>
              </a:rPr>
              <a:t>字母表</a:t>
            </a:r>
            <a:r>
              <a:rPr lang="zh-CN" altLang="en-US" sz="2800" dirty="0"/>
              <a:t>，元素</a:t>
            </a:r>
            <a:r>
              <a:rPr kumimoji="0" lang="en-US" altLang="zh-CN" sz="2800" dirty="0">
                <a:sym typeface="Symbol" panose="05050102010706020507" pitchFamily="18" charset="2"/>
              </a:rPr>
              <a:t>——</a:t>
            </a:r>
            <a:r>
              <a:rPr lang="zh-CN" altLang="en-US" sz="2800" dirty="0"/>
              <a:t>符号</a:t>
            </a:r>
          </a:p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符号串</a:t>
            </a:r>
            <a:r>
              <a:rPr lang="zh-CN" altLang="en-US" sz="2800" dirty="0"/>
              <a:t>：</a:t>
            </a:r>
            <a:r>
              <a:rPr lang="en-US" altLang="zh-CN" sz="2800" dirty="0"/>
              <a:t>Σ</a:t>
            </a:r>
            <a:r>
              <a:rPr lang="zh-CN" altLang="en-US" sz="2800" dirty="0">
                <a:latin typeface="宋体" panose="02010600030101010101" pitchFamily="2" charset="-122"/>
              </a:rPr>
              <a:t>中符号构成的有穷序列</a:t>
            </a:r>
          </a:p>
          <a:p>
            <a:pPr eaLnBrk="1" hangingPunct="1"/>
            <a:r>
              <a:rPr lang="zh-CN" altLang="en-US" sz="2800" b="1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空字</a:t>
            </a:r>
            <a:r>
              <a:rPr lang="zh-CN" altLang="en-US" sz="2800" dirty="0">
                <a:latin typeface="宋体" panose="02010600030101010101" pitchFamily="2" charset="-122"/>
              </a:rPr>
              <a:t>：不含任何符号的序列，</a:t>
            </a:r>
            <a:r>
              <a:rPr lang="en-US" altLang="zh-CN" sz="2800" dirty="0">
                <a:cs typeface="Times New Roman" panose="02020603050405020304" pitchFamily="18" charset="0"/>
              </a:rPr>
              <a:t>ε</a:t>
            </a:r>
            <a:endParaRPr lang="en-US" altLang="zh-CN" sz="2800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800" dirty="0"/>
              <a:t>Σ</a:t>
            </a:r>
            <a:r>
              <a:rPr lang="en-US" altLang="zh-CN" sz="2800" baseline="30000" dirty="0"/>
              <a:t>*</a:t>
            </a:r>
            <a:r>
              <a:rPr lang="zh-CN" altLang="en-US" sz="2800" dirty="0"/>
              <a:t>：符号串全体，包括空字</a:t>
            </a:r>
          </a:p>
          <a:p>
            <a:pPr eaLnBrk="1" hangingPunct="1"/>
            <a:r>
              <a:rPr lang="en-US" altLang="zh-CN" sz="2800" dirty="0">
                <a:latin typeface="Symbol" panose="05050102010706020507" pitchFamily="18" charset="2"/>
              </a:rPr>
              <a:t>f</a:t>
            </a:r>
            <a:r>
              <a:rPr lang="zh-CN" altLang="en-US" sz="2800" dirty="0"/>
              <a:t>：空集</a:t>
            </a:r>
            <a:r>
              <a:rPr lang="en-US" altLang="zh-CN" sz="2800" dirty="0"/>
              <a:t>{}</a:t>
            </a:r>
            <a:r>
              <a:rPr lang="zh-CN" altLang="en-US" sz="2800" dirty="0"/>
              <a:t>，区分</a:t>
            </a:r>
            <a:r>
              <a:rPr lang="en-US" altLang="zh-CN" sz="2800" dirty="0">
                <a:cs typeface="Times New Roman" panose="02020603050405020304" pitchFamily="18" charset="0"/>
              </a:rPr>
              <a:t>ε</a:t>
            </a:r>
            <a:r>
              <a:rPr lang="zh-CN" altLang="en-US" sz="2800" dirty="0"/>
              <a:t>，</a:t>
            </a:r>
            <a:r>
              <a:rPr lang="en-US" altLang="zh-CN" sz="2800" dirty="0"/>
              <a:t>{}</a:t>
            </a:r>
            <a:r>
              <a:rPr lang="zh-CN" altLang="en-US" sz="2800" dirty="0"/>
              <a:t>，</a:t>
            </a:r>
            <a:r>
              <a:rPr lang="en-US" altLang="zh-CN" sz="2800" dirty="0"/>
              <a:t>{</a:t>
            </a:r>
            <a:r>
              <a:rPr lang="en-US" altLang="zh-CN" sz="2800" dirty="0">
                <a:cs typeface="Times New Roman" panose="02020603050405020304" pitchFamily="18" charset="0"/>
              </a:rPr>
              <a:t>ε</a:t>
            </a:r>
            <a:r>
              <a:rPr lang="en-US" altLang="zh-CN" sz="2800" dirty="0"/>
              <a:t>}</a:t>
            </a:r>
          </a:p>
          <a:p>
            <a:pPr eaLnBrk="1" hangingPunct="1"/>
            <a:r>
              <a:rPr lang="en-US" altLang="zh-CN" sz="2800" dirty="0"/>
              <a:t>Σ</a:t>
            </a:r>
            <a:r>
              <a:rPr lang="en-US" altLang="zh-CN" sz="2800" baseline="30000" dirty="0"/>
              <a:t>*</a:t>
            </a:r>
            <a:r>
              <a:rPr lang="zh-CN" altLang="en-US" sz="2800" dirty="0"/>
              <a:t>的子集</a:t>
            </a:r>
            <a:r>
              <a:rPr lang="en-US" altLang="zh-CN" sz="2800" dirty="0"/>
              <a:t>U</a:t>
            </a:r>
            <a:r>
              <a:rPr lang="zh-CN" altLang="en-US" sz="2800" dirty="0"/>
              <a:t>、</a:t>
            </a:r>
            <a:r>
              <a:rPr lang="en-US" altLang="zh-CN" sz="2800" dirty="0"/>
              <a:t>V</a:t>
            </a:r>
            <a:r>
              <a:rPr lang="zh-CN" altLang="en-US" sz="2800" dirty="0"/>
              <a:t>的</a:t>
            </a:r>
            <a:r>
              <a:rPr lang="zh-CN" altLang="en-US" sz="2800" b="1" dirty="0">
                <a:solidFill>
                  <a:srgbClr val="3333CC"/>
                </a:solidFill>
                <a:ea typeface="黑体" panose="02010609060101010101" pitchFamily="49" charset="-122"/>
              </a:rPr>
              <a:t>积</a:t>
            </a:r>
            <a:r>
              <a:rPr lang="zh-CN" altLang="en-US" sz="2800" dirty="0"/>
              <a:t>（</a:t>
            </a:r>
            <a:r>
              <a:rPr lang="zh-CN" altLang="en-US" sz="2800" b="1" dirty="0">
                <a:solidFill>
                  <a:srgbClr val="3333CC"/>
                </a:solidFill>
                <a:ea typeface="黑体" panose="02010609060101010101" pitchFamily="49" charset="-122"/>
              </a:rPr>
              <a:t>连接</a:t>
            </a:r>
            <a:r>
              <a:rPr lang="zh-CN" altLang="en-US" sz="2800" dirty="0"/>
              <a:t>）</a:t>
            </a:r>
            <a:br>
              <a:rPr lang="zh-CN" altLang="en-US" sz="2800" b="1" dirty="0">
                <a:ea typeface="黑体" panose="02010609060101010101" pitchFamily="49" charset="-122"/>
              </a:rPr>
            </a:br>
            <a:endParaRPr lang="zh-CN" altLang="en-US" sz="2800" b="1" dirty="0">
              <a:ea typeface="黑体" panose="02010609060101010101" pitchFamily="49" charset="-122"/>
            </a:endParaRPr>
          </a:p>
        </p:txBody>
      </p:sp>
      <p:graphicFrame>
        <p:nvGraphicFramePr>
          <p:cNvPr id="13316" name="Object 4">
            <a:extLst>
              <a:ext uri="{FF2B5EF4-FFF2-40B4-BE49-F238E27FC236}">
                <a16:creationId xmlns:a16="http://schemas.microsoft.com/office/drawing/2014/main" id="{C7ED2F83-DB0E-41A7-86C9-F06298800C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4876800"/>
          <a:ext cx="42672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4" name="Equation" r:id="rId3" imgW="1651000" imgH="215900" progId="Equation.3">
                  <p:embed/>
                </p:oleObj>
              </mc:Choice>
              <mc:Fallback>
                <p:oleObj name="Equation" r:id="rId3" imgW="1651000" imgH="215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876800"/>
                        <a:ext cx="4267200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89A2A6E-3F4C-4F10-83FA-2B6E13D7A8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几个概念（续）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F475786-4ED6-4F45-AA90-F4D7866D91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UV</a:t>
            </a:r>
            <a:r>
              <a:rPr lang="en-US" altLang="zh-CN">
                <a:latin typeface="宋体" panose="02010600030101010101" pitchFamily="2" charset="-122"/>
              </a:rPr>
              <a:t>≠</a:t>
            </a:r>
            <a:r>
              <a:rPr lang="en-US" altLang="zh-CN"/>
              <a:t>VU</a:t>
            </a:r>
            <a:r>
              <a:rPr lang="zh-CN" altLang="en-US"/>
              <a:t>，</a:t>
            </a:r>
            <a:r>
              <a:rPr lang="en-US" altLang="zh-CN"/>
              <a:t>(UV)W=U(VW)</a:t>
            </a:r>
          </a:p>
          <a:p>
            <a:pPr eaLnBrk="1" hangingPunct="1"/>
            <a:r>
              <a:rPr lang="en-US" altLang="zh-CN"/>
              <a:t>V</a:t>
            </a:r>
            <a:r>
              <a:rPr lang="zh-CN" altLang="en-US"/>
              <a:t>自身的</a:t>
            </a:r>
            <a:r>
              <a:rPr lang="en-US" altLang="zh-CN"/>
              <a:t>n</a:t>
            </a:r>
            <a:r>
              <a:rPr lang="zh-CN" altLang="en-US"/>
              <a:t>次积（连接）记为</a:t>
            </a:r>
            <a:r>
              <a:rPr lang="en-US" altLang="zh-CN"/>
              <a:t>V</a:t>
            </a:r>
            <a:r>
              <a:rPr lang="en-US" altLang="zh-CN" baseline="30000"/>
              <a:t>n</a:t>
            </a:r>
            <a:endParaRPr lang="en-US" altLang="zh-CN"/>
          </a:p>
          <a:p>
            <a:pPr eaLnBrk="1" hangingPunct="1"/>
            <a:r>
              <a:rPr lang="en-US" altLang="zh-CN"/>
              <a:t>V</a:t>
            </a:r>
            <a:r>
              <a:rPr lang="en-US" altLang="zh-CN" baseline="30000"/>
              <a:t>0</a:t>
            </a:r>
            <a:r>
              <a:rPr lang="en-US" altLang="zh-CN"/>
              <a:t>={</a:t>
            </a:r>
            <a:r>
              <a:rPr lang="en-US" altLang="zh-CN">
                <a:cs typeface="Times New Roman" panose="02020603050405020304" pitchFamily="18" charset="0"/>
              </a:rPr>
              <a:t>ε</a:t>
            </a:r>
            <a:r>
              <a:rPr lang="en-US" altLang="zh-CN"/>
              <a:t>}</a:t>
            </a:r>
          </a:p>
          <a:p>
            <a:pPr eaLnBrk="1" hangingPunct="1"/>
            <a:r>
              <a:rPr lang="en-US" altLang="zh-CN"/>
              <a:t>V</a:t>
            </a:r>
            <a:r>
              <a:rPr lang="zh-CN" altLang="en-US"/>
              <a:t>的</a:t>
            </a:r>
            <a:r>
              <a:rPr lang="zh-CN" altLang="en-US" b="1">
                <a:solidFill>
                  <a:srgbClr val="3333CC"/>
                </a:solidFill>
                <a:ea typeface="黑体" panose="02010609060101010101" pitchFamily="49" charset="-122"/>
              </a:rPr>
              <a:t>闭包</a:t>
            </a:r>
            <a:r>
              <a:rPr lang="zh-CN" altLang="en-US"/>
              <a:t>（</a:t>
            </a:r>
            <a:r>
              <a:rPr lang="en-US" altLang="zh-CN">
                <a:solidFill>
                  <a:schemeClr val="hlink"/>
                </a:solidFill>
              </a:rPr>
              <a:t>closure</a:t>
            </a:r>
            <a:r>
              <a:rPr lang="zh-CN" altLang="en-US"/>
              <a:t>）</a:t>
            </a:r>
            <a:br>
              <a:rPr lang="zh-CN" altLang="en-US"/>
            </a:br>
            <a:br>
              <a:rPr lang="zh-CN" altLang="en-US"/>
            </a:br>
            <a:r>
              <a:rPr lang="zh-CN" altLang="en-US"/>
              <a:t>每个符号串，都是</a:t>
            </a:r>
            <a:r>
              <a:rPr lang="en-US" altLang="zh-CN"/>
              <a:t>V</a:t>
            </a:r>
            <a:r>
              <a:rPr lang="zh-CN" altLang="en-US"/>
              <a:t>中符号串有限次连接</a:t>
            </a:r>
          </a:p>
          <a:p>
            <a:pPr eaLnBrk="1" hangingPunct="1"/>
            <a:r>
              <a:rPr lang="zh-CN" altLang="en-US" b="1">
                <a:solidFill>
                  <a:srgbClr val="3333CC"/>
                </a:solidFill>
                <a:ea typeface="黑体" panose="02010609060101010101" pitchFamily="49" charset="-122"/>
              </a:rPr>
              <a:t>正则闭包</a:t>
            </a:r>
            <a:r>
              <a:rPr lang="zh-CN" altLang="en-US"/>
              <a:t>，</a:t>
            </a:r>
            <a:r>
              <a:rPr lang="en-US" altLang="zh-CN"/>
              <a:t>V</a:t>
            </a:r>
            <a:r>
              <a:rPr lang="en-US" altLang="zh-CN" baseline="30000"/>
              <a:t>+</a:t>
            </a:r>
            <a:r>
              <a:rPr lang="en-US" altLang="zh-CN"/>
              <a:t>=VV</a:t>
            </a:r>
            <a:r>
              <a:rPr lang="en-US" altLang="zh-CN" baseline="30000"/>
              <a:t>*</a:t>
            </a:r>
          </a:p>
        </p:txBody>
      </p:sp>
      <p:graphicFrame>
        <p:nvGraphicFramePr>
          <p:cNvPr id="14340" name="Object 4">
            <a:extLst>
              <a:ext uri="{FF2B5EF4-FFF2-40B4-BE49-F238E27FC236}">
                <a16:creationId xmlns:a16="http://schemas.microsoft.com/office/drawing/2014/main" id="{E94E1A81-20EC-444A-9DEE-B8ECF4EE9D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3581400"/>
          <a:ext cx="51816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8" name="Equation" r:id="rId3" imgW="1777229" imgH="203112" progId="Equation.3">
                  <p:embed/>
                </p:oleObj>
              </mc:Choice>
              <mc:Fallback>
                <p:oleObj name="Equation" r:id="rId3" imgW="1777229" imgH="203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581400"/>
                        <a:ext cx="51816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5D4E776-6BC5-4BC5-ACA7-61EA3D0226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四元式定义上下文无法文法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B514D97-2C6A-48C8-ADF4-23C233AAB7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/>
            <a:r>
              <a:rPr lang="en-US" altLang="zh-CN" sz="2800" dirty="0"/>
              <a:t>(V</a:t>
            </a:r>
            <a:r>
              <a:rPr lang="en-US" altLang="zh-CN" sz="2800" baseline="-25000" dirty="0"/>
              <a:t>T</a:t>
            </a:r>
            <a:r>
              <a:rPr lang="en-US" altLang="zh-CN" sz="2800" dirty="0"/>
              <a:t>, V</a:t>
            </a:r>
            <a:r>
              <a:rPr lang="en-US" altLang="zh-CN" sz="2800" baseline="-25000" dirty="0"/>
              <a:t>N</a:t>
            </a:r>
            <a:r>
              <a:rPr lang="en-US" altLang="zh-CN" sz="2800" dirty="0"/>
              <a:t>, S, </a:t>
            </a:r>
            <a:r>
              <a:rPr lang="en-US" altLang="zh-CN" sz="2800" dirty="0">
                <a:latin typeface="Monotype Corsiva" panose="03010101010201010101" pitchFamily="66" charset="0"/>
                <a:ea typeface="Batang" panose="02030600000101010101" pitchFamily="18" charset="-127"/>
              </a:rPr>
              <a:t>P</a:t>
            </a:r>
            <a:r>
              <a:rPr lang="en-US" altLang="zh-CN" sz="2800" dirty="0"/>
              <a:t>)</a:t>
            </a:r>
          </a:p>
          <a:p>
            <a:pPr eaLnBrk="1" hangingPunct="1"/>
            <a:r>
              <a:rPr lang="en-US" altLang="zh-CN" sz="2800" dirty="0">
                <a:solidFill>
                  <a:srgbClr val="FF3300"/>
                </a:solidFill>
              </a:rPr>
              <a:t>V</a:t>
            </a:r>
            <a:r>
              <a:rPr lang="en-US" altLang="zh-CN" sz="2800" baseline="-25000" dirty="0">
                <a:solidFill>
                  <a:srgbClr val="FF3300"/>
                </a:solidFill>
              </a:rPr>
              <a:t>T</a:t>
            </a:r>
            <a:r>
              <a:rPr lang="zh-CN" altLang="en-US" sz="2800" dirty="0"/>
              <a:t>：非空有限集，终结符号集合</a:t>
            </a:r>
          </a:p>
          <a:p>
            <a:pPr eaLnBrk="1" hangingPunct="1"/>
            <a:r>
              <a:rPr lang="en-US" altLang="zh-CN" sz="2800" dirty="0">
                <a:solidFill>
                  <a:srgbClr val="FF3300"/>
                </a:solidFill>
              </a:rPr>
              <a:t>V</a:t>
            </a:r>
            <a:r>
              <a:rPr lang="en-US" altLang="zh-CN" sz="2800" baseline="-25000" dirty="0">
                <a:solidFill>
                  <a:srgbClr val="FF3300"/>
                </a:solidFill>
              </a:rPr>
              <a:t>N</a:t>
            </a:r>
            <a:r>
              <a:rPr lang="zh-CN" altLang="en-US" sz="2800" dirty="0"/>
              <a:t>：非空有限集，非终结符号集合</a:t>
            </a:r>
          </a:p>
          <a:p>
            <a:pPr eaLnBrk="1" hangingPunct="1"/>
            <a:r>
              <a:rPr lang="en-US" altLang="zh-CN" sz="2800" dirty="0">
                <a:solidFill>
                  <a:srgbClr val="FF3300"/>
                </a:solidFill>
              </a:rPr>
              <a:t>S</a:t>
            </a:r>
            <a:r>
              <a:rPr lang="zh-CN" altLang="en-US" sz="2800" dirty="0"/>
              <a:t>：开始符号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sz="2800" dirty="0">
                <a:solidFill>
                  <a:srgbClr val="FF3300"/>
                </a:solidFill>
                <a:latin typeface="Monotype Corsiva" panose="03010101010201010101" pitchFamily="66" charset="0"/>
                <a:ea typeface="Batang" panose="02030600000101010101" pitchFamily="18" charset="-127"/>
              </a:rPr>
              <a:t>P</a:t>
            </a:r>
            <a:r>
              <a:rPr lang="en-US" altLang="zh-CN" sz="2800" dirty="0"/>
              <a:t> </a:t>
            </a:r>
            <a:r>
              <a:rPr lang="zh-CN" altLang="en-US" sz="2800" dirty="0"/>
              <a:t>：产生式集合（有限集）</a:t>
            </a:r>
            <a:br>
              <a:rPr lang="zh-CN" altLang="en-US" sz="2800" dirty="0"/>
            </a:br>
            <a:r>
              <a:rPr lang="zh-CN" altLang="en-US" sz="2800" dirty="0"/>
              <a:t>每个产生式形式</a:t>
            </a:r>
            <a:r>
              <a:rPr lang="en-US" altLang="zh-CN" sz="2800" dirty="0" err="1"/>
              <a:t>A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</a:t>
            </a:r>
            <a:r>
              <a:rPr kumimoji="0" lang="en-US" altLang="zh-CN" sz="2800" dirty="0" err="1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kumimoji="0"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，其中</a:t>
            </a:r>
            <a:br>
              <a:rPr kumimoji="0"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</a:br>
            <a:br>
              <a:rPr kumimoji="0"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</a:br>
            <a:r>
              <a:rPr kumimoji="0"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关于</a:t>
            </a:r>
            <a:r>
              <a:rPr kumimoji="0" lang="en-US" altLang="zh-CN" sz="2800" dirty="0">
                <a:sym typeface="Symbol" panose="05050102010706020507" pitchFamily="18" charset="2"/>
              </a:rPr>
              <a:t>A</a:t>
            </a:r>
            <a:r>
              <a:rPr kumimoji="0"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的产生式</a:t>
            </a:r>
            <a:br>
              <a:rPr kumimoji="0"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</a:br>
            <a:r>
              <a:rPr kumimoji="0" lang="en-US" altLang="zh-CN" sz="2800" dirty="0">
                <a:sym typeface="Symbol" panose="05050102010706020507" pitchFamily="18" charset="2"/>
              </a:rPr>
              <a:t>S</a:t>
            </a:r>
            <a:r>
              <a:rPr kumimoji="0" lang="zh-CN" altLang="en-US" sz="2800" dirty="0">
                <a:sym typeface="Symbol" panose="05050102010706020507" pitchFamily="18" charset="2"/>
              </a:rPr>
              <a:t>至少在某个产生式左部出现一次</a:t>
            </a:r>
          </a:p>
        </p:txBody>
      </p:sp>
      <p:graphicFrame>
        <p:nvGraphicFramePr>
          <p:cNvPr id="15364" name="Object 4">
            <a:extLst>
              <a:ext uri="{FF2B5EF4-FFF2-40B4-BE49-F238E27FC236}">
                <a16:creationId xmlns:a16="http://schemas.microsoft.com/office/drawing/2014/main" id="{0836925E-B725-4573-929E-F5DE95EA04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4205288"/>
          <a:ext cx="342900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2" name="Equation" r:id="rId3" imgW="1384300" imgH="241300" progId="Equation.3">
                  <p:embed/>
                </p:oleObj>
              </mc:Choice>
              <mc:Fallback>
                <p:oleObj name="Equation" r:id="rId3" imgW="13843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205288"/>
                        <a:ext cx="3429000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3FB916FD-9AEC-4959-B70D-3543D3496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2.1  </a:t>
            </a:r>
            <a:r>
              <a:rPr lang="zh-CN" altLang="en-US"/>
              <a:t>符号约定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BE719E5A-C269-45CD-BD56-DE5D84D725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295400"/>
            <a:ext cx="7772400" cy="5105400"/>
          </a:xfrm>
        </p:spPr>
        <p:txBody>
          <a:bodyPr/>
          <a:lstStyle/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i="1" dirty="0"/>
              <a:t>    expr</a:t>
            </a:r>
            <a:r>
              <a:rPr kumimoji="0" lang="en-US" altLang="zh-CN" sz="2800" dirty="0"/>
              <a:t> </a:t>
            </a:r>
            <a:r>
              <a:rPr kumimoji="0" lang="en-US" altLang="zh-CN" sz="2800" dirty="0">
                <a:sym typeface="Symbol" panose="05050102010706020507" pitchFamily="18" charset="2"/>
              </a:rPr>
              <a:t></a:t>
            </a:r>
            <a:r>
              <a:rPr kumimoji="0" lang="en-US" altLang="zh-CN" sz="2800" dirty="0"/>
              <a:t> </a:t>
            </a:r>
            <a:r>
              <a:rPr kumimoji="0" lang="en-US" altLang="zh-CN" sz="2800" i="1" dirty="0">
                <a:sym typeface="Math1" pitchFamily="2" charset="2"/>
              </a:rPr>
              <a:t>expr + digit</a:t>
            </a:r>
            <a:br>
              <a:rPr kumimoji="0" lang="en-US" altLang="zh-CN" sz="2800" i="1" dirty="0">
                <a:sym typeface="Math1" pitchFamily="2" charset="2"/>
              </a:rPr>
            </a:br>
            <a:r>
              <a:rPr kumimoji="0" lang="en-US" altLang="zh-CN" sz="2800" i="1" dirty="0">
                <a:sym typeface="Math1" pitchFamily="2" charset="2"/>
              </a:rPr>
              <a:t>expr</a:t>
            </a:r>
            <a:r>
              <a:rPr kumimoji="0" lang="en-US" altLang="zh-CN" sz="2800" dirty="0">
                <a:sym typeface="Math1" pitchFamily="2" charset="2"/>
              </a:rPr>
              <a:t> </a:t>
            </a:r>
            <a:r>
              <a:rPr kumimoji="0" lang="en-US" altLang="zh-CN" sz="2800" dirty="0">
                <a:sym typeface="Symbol" panose="05050102010706020507" pitchFamily="18" charset="2"/>
              </a:rPr>
              <a:t></a:t>
            </a:r>
            <a:r>
              <a:rPr kumimoji="0" lang="en-US" altLang="zh-CN" sz="2800" dirty="0">
                <a:sym typeface="Math1" pitchFamily="2" charset="2"/>
              </a:rPr>
              <a:t> </a:t>
            </a:r>
            <a:r>
              <a:rPr kumimoji="0" lang="en-US" altLang="zh-CN" sz="2800" i="1" dirty="0">
                <a:sym typeface="Math1" pitchFamily="2" charset="2"/>
              </a:rPr>
              <a:t>expr – digit</a:t>
            </a:r>
            <a:br>
              <a:rPr kumimoji="0" lang="en-US" altLang="zh-CN" sz="2800" i="1" dirty="0">
                <a:sym typeface="Math1" pitchFamily="2" charset="2"/>
              </a:rPr>
            </a:br>
            <a:r>
              <a:rPr kumimoji="0" lang="en-US" altLang="zh-CN" sz="2800" i="1" dirty="0">
                <a:sym typeface="Math1" pitchFamily="2" charset="2"/>
              </a:rPr>
              <a:t>expr</a:t>
            </a:r>
            <a:r>
              <a:rPr kumimoji="0" lang="en-US" altLang="zh-CN" sz="2800" dirty="0">
                <a:sym typeface="Math1" pitchFamily="2" charset="2"/>
              </a:rPr>
              <a:t> </a:t>
            </a:r>
            <a:r>
              <a:rPr kumimoji="0" lang="en-US" altLang="zh-CN" sz="2800" dirty="0">
                <a:sym typeface="Symbol" panose="05050102010706020507" pitchFamily="18" charset="2"/>
              </a:rPr>
              <a:t></a:t>
            </a:r>
            <a:r>
              <a:rPr kumimoji="0" lang="en-US" altLang="zh-CN" sz="2800" dirty="0">
                <a:sym typeface="Math1" pitchFamily="2" charset="2"/>
              </a:rPr>
              <a:t> </a:t>
            </a:r>
            <a:r>
              <a:rPr kumimoji="0" lang="en-US" altLang="zh-CN" sz="2800" i="1" dirty="0">
                <a:sym typeface="Math1" pitchFamily="2" charset="2"/>
              </a:rPr>
              <a:t>digit</a:t>
            </a:r>
            <a:br>
              <a:rPr kumimoji="0" lang="en-US" altLang="zh-CN" sz="2800" i="1" dirty="0">
                <a:sym typeface="Math1" pitchFamily="2" charset="2"/>
              </a:rPr>
            </a:br>
            <a:r>
              <a:rPr kumimoji="0" lang="en-US" altLang="zh-CN" sz="2800" i="1" dirty="0" err="1">
                <a:sym typeface="Math1" pitchFamily="2" charset="2"/>
              </a:rPr>
              <a:t>digit</a:t>
            </a:r>
            <a:r>
              <a:rPr kumimoji="0" lang="en-US" altLang="zh-CN" sz="2800" dirty="0">
                <a:sym typeface="Math1" pitchFamily="2" charset="2"/>
              </a:rPr>
              <a:t> </a:t>
            </a:r>
            <a:r>
              <a:rPr kumimoji="0" lang="en-US" altLang="zh-CN" sz="2800" dirty="0">
                <a:sym typeface="Symbol" panose="05050102010706020507" pitchFamily="18" charset="2"/>
              </a:rPr>
              <a:t></a:t>
            </a:r>
            <a:r>
              <a:rPr kumimoji="0" lang="en-US" altLang="zh-CN" sz="2800" b="1" dirty="0">
                <a:sym typeface="Math1" pitchFamily="2" charset="2"/>
              </a:rPr>
              <a:t> </a:t>
            </a:r>
            <a:r>
              <a:rPr kumimoji="0" lang="en-US" altLang="zh-CN" sz="2800" dirty="0">
                <a:sym typeface="Math1" pitchFamily="2" charset="2"/>
              </a:rPr>
              <a:t>0 | 1 | 2 | 3 | 4 | 5 | 6 | 7 | 8 | 9</a:t>
            </a:r>
            <a:endParaRPr lang="en-US" altLang="zh-CN" sz="2800" dirty="0"/>
          </a:p>
          <a:p>
            <a:pPr eaLnBrk="1" hangingPunct="1"/>
            <a:r>
              <a:rPr lang="zh-CN" altLang="en-US" sz="2800" dirty="0"/>
              <a:t>数字、运算符、</a:t>
            </a:r>
            <a:r>
              <a:rPr lang="zh-CN" altLang="en-US" sz="2800" b="1" dirty="0">
                <a:ea typeface="黑体" panose="02010609060101010101" pitchFamily="49" charset="-122"/>
              </a:rPr>
              <a:t>黑体字符串</a:t>
            </a:r>
            <a:r>
              <a:rPr lang="en-US" altLang="zh-CN" sz="2800" dirty="0">
                <a:latin typeface="Tahoma" panose="020B0604030504040204" pitchFamily="34" charset="0"/>
              </a:rPr>
              <a:t>——</a:t>
            </a:r>
            <a:r>
              <a:rPr lang="zh-CN" altLang="en-US" sz="2800" dirty="0"/>
              <a:t>终结符</a:t>
            </a:r>
          </a:p>
          <a:p>
            <a:pPr eaLnBrk="1" hangingPunct="1"/>
            <a:r>
              <a:rPr lang="zh-CN" altLang="en-US" sz="2800" i="1" dirty="0"/>
              <a:t>斜体字符串</a:t>
            </a:r>
            <a:r>
              <a:rPr lang="en-US" altLang="zh-CN" sz="2800" dirty="0">
                <a:latin typeface="Tahoma" panose="020B0604030504040204" pitchFamily="34" charset="0"/>
              </a:rPr>
              <a:t>——</a:t>
            </a:r>
            <a:r>
              <a:rPr lang="zh-CN" altLang="en-US" sz="2800" dirty="0"/>
              <a:t>非终结符</a:t>
            </a:r>
          </a:p>
          <a:p>
            <a:pPr eaLnBrk="1" hangingPunct="1"/>
            <a:r>
              <a:rPr lang="zh-CN" altLang="en-US" sz="2800" dirty="0"/>
              <a:t>左部相同可合并，</a:t>
            </a:r>
            <a:r>
              <a:rPr lang="en-US" altLang="zh-CN" sz="2800" dirty="0"/>
              <a:t>‘|’</a:t>
            </a:r>
            <a:r>
              <a:rPr lang="en-US" altLang="zh-CN" sz="2800" dirty="0">
                <a:latin typeface="Tahoma" panose="020B0604030504040204" pitchFamily="34" charset="0"/>
              </a:rPr>
              <a:t>——</a:t>
            </a:r>
            <a:r>
              <a:rPr lang="zh-CN" altLang="en-US" sz="2800" dirty="0"/>
              <a:t>“或</a:t>
            </a:r>
            <a:r>
              <a:rPr kumimoji="0" lang="zh-CN" altLang="en-US" sz="2800" dirty="0"/>
              <a:t>”</a:t>
            </a:r>
            <a:r>
              <a:rPr lang="zh-CN" altLang="en-US" sz="2800" dirty="0"/>
              <a:t>的意思</a:t>
            </a:r>
            <a:br>
              <a:rPr lang="zh-CN" altLang="en-US" sz="2800" dirty="0"/>
            </a:br>
            <a:r>
              <a:rPr kumimoji="0" lang="en-US" altLang="zh-CN" sz="2800" i="1" dirty="0">
                <a:sym typeface="Math1" pitchFamily="2" charset="2"/>
              </a:rPr>
              <a:t>expr </a:t>
            </a:r>
            <a:r>
              <a:rPr kumimoji="0" lang="en-US" altLang="zh-CN" sz="2800" dirty="0">
                <a:sym typeface="Symbol" panose="05050102010706020507" pitchFamily="18" charset="2"/>
              </a:rPr>
              <a:t></a:t>
            </a:r>
            <a:r>
              <a:rPr kumimoji="0" lang="en-US" altLang="zh-CN" sz="2800" i="1" dirty="0">
                <a:sym typeface="Math1" pitchFamily="2" charset="2"/>
              </a:rPr>
              <a:t> expr + digit |  expr - digit | digit</a:t>
            </a:r>
            <a:r>
              <a:rPr kumimoji="0" lang="en-US" altLang="zh-CN" sz="2800" dirty="0">
                <a:sym typeface="Math1" pitchFamily="2" charset="2"/>
              </a:rPr>
              <a:t> </a:t>
            </a:r>
            <a:br>
              <a:rPr kumimoji="0" lang="en-US" altLang="zh-CN" sz="2800" dirty="0">
                <a:sym typeface="Math1" pitchFamily="2" charset="2"/>
              </a:rPr>
            </a:br>
            <a:r>
              <a:rPr kumimoji="0" lang="zh-CN" altLang="en-US" sz="2800" b="1" dirty="0">
                <a:solidFill>
                  <a:srgbClr val="3333CC"/>
                </a:solidFill>
                <a:ea typeface="黑体" panose="02010609060101010101" pitchFamily="49" charset="-122"/>
                <a:sym typeface="Math1" pitchFamily="2" charset="2"/>
              </a:rPr>
              <a:t>候选式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240B521-F293-4EAD-AFB2-8B235E16F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6200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>
                <a:solidFill>
                  <a:schemeClr val="tx2"/>
                </a:solidFill>
              </a:rPr>
              <a:t>CFG</a:t>
            </a:r>
            <a:r>
              <a:rPr lang="zh-CN" altLang="en-US" sz="4400">
                <a:solidFill>
                  <a:schemeClr val="tx2"/>
                </a:solidFill>
              </a:rPr>
              <a:t>的设计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DAA1B8DF-7D52-4FA5-B086-AC5C852F3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2688" y="1295400"/>
            <a:ext cx="7772400" cy="501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/>
            </a:pPr>
            <a:r>
              <a:rPr lang="zh-CN" altLang="en-US" dirty="0">
                <a:ea typeface="宋体" pitchFamily="2" charset="-122"/>
                <a:sym typeface="Symbol" pitchFamily="18" charset="2"/>
              </a:rPr>
              <a:t>首先是“</a:t>
            </a:r>
            <a:r>
              <a:rPr lang="zh-CN" altLang="en-US" dirty="0">
                <a:solidFill>
                  <a:schemeClr val="hlink"/>
                </a:solidFill>
                <a:ea typeface="黑体" pitchFamily="2" charset="-122"/>
                <a:sym typeface="Symbol" pitchFamily="18" charset="2"/>
              </a:rPr>
              <a:t>人会做</a:t>
            </a:r>
            <a:r>
              <a:rPr lang="zh-CN" altLang="en-US" dirty="0">
                <a:ea typeface="宋体" pitchFamily="2" charset="-122"/>
                <a:sym typeface="Symbol" pitchFamily="18" charset="2"/>
              </a:rPr>
              <a:t>”</a:t>
            </a:r>
            <a:endParaRPr lang="en-US" altLang="zh-CN" dirty="0">
              <a:ea typeface="宋体" pitchFamily="2" charset="-122"/>
              <a:sym typeface="Symbol" pitchFamily="18" charset="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/>
            </a:pPr>
            <a:r>
              <a:rPr lang="zh-CN" altLang="en-US" sz="2400" dirty="0">
                <a:solidFill>
                  <a:schemeClr val="folHlink"/>
                </a:solidFill>
                <a:latin typeface="+mn-lt"/>
                <a:ea typeface="+mn-ea"/>
                <a:sym typeface="Symbol" pitchFamily="18" charset="2"/>
              </a:rPr>
              <a:t>我们自己先把语法概念“</a:t>
            </a:r>
            <a:r>
              <a:rPr lang="zh-CN" altLang="en-US" sz="24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什么模样</a:t>
            </a:r>
            <a:r>
              <a:rPr lang="zh-CN" altLang="en-US" sz="2400" dirty="0">
                <a:solidFill>
                  <a:schemeClr val="folHlink"/>
                </a:solidFill>
                <a:latin typeface="+mn-lt"/>
                <a:ea typeface="+mn-ea"/>
                <a:sym typeface="Symbol" pitchFamily="18" charset="2"/>
              </a:rPr>
              <a:t>”搞清楚</a:t>
            </a:r>
          </a:p>
          <a:p>
            <a:pPr marL="342900" indent="-342900" eaLnBrk="1" hangingPunct="1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/>
            </a:pPr>
            <a:r>
              <a:rPr lang="zh-CN" altLang="en-US" dirty="0">
                <a:ea typeface="宋体" pitchFamily="2" charset="-122"/>
                <a:sym typeface="Symbol" pitchFamily="18" charset="2"/>
              </a:rPr>
              <a:t>然后是“</a:t>
            </a:r>
            <a:r>
              <a:rPr lang="zh-CN" altLang="en-US" dirty="0">
                <a:solidFill>
                  <a:schemeClr val="hlink"/>
                </a:solidFill>
                <a:ea typeface="黑体" pitchFamily="2" charset="-122"/>
                <a:sym typeface="Symbol" pitchFamily="18" charset="2"/>
              </a:rPr>
              <a:t>让计算机会做</a:t>
            </a:r>
            <a:r>
              <a:rPr lang="zh-CN" altLang="en-US" dirty="0">
                <a:ea typeface="宋体" pitchFamily="2" charset="-122"/>
                <a:sym typeface="Symbol" pitchFamily="18" charset="2"/>
              </a:rPr>
              <a:t>”</a:t>
            </a:r>
            <a:r>
              <a:rPr lang="en-US" altLang="zh-CN" dirty="0">
                <a:ea typeface="宋体" pitchFamily="2" charset="-122"/>
                <a:sym typeface="Symbol" pitchFamily="18" charset="2"/>
              </a:rPr>
              <a:t>——</a:t>
            </a:r>
            <a:r>
              <a:rPr lang="zh-CN" altLang="en-US" dirty="0">
                <a:solidFill>
                  <a:schemeClr val="hlink"/>
                </a:solidFill>
                <a:ea typeface="黑体" pitchFamily="2" charset="-122"/>
                <a:sym typeface="Symbol" pitchFamily="18" charset="2"/>
              </a:rPr>
              <a:t>符号化</a:t>
            </a:r>
            <a:endParaRPr lang="en-US" altLang="zh-CN" dirty="0">
              <a:solidFill>
                <a:schemeClr val="hlink"/>
              </a:solidFill>
              <a:ea typeface="黑体" pitchFamily="2" charset="-122"/>
              <a:sym typeface="Symbol" pitchFamily="18" charset="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/>
            </a:pPr>
            <a:r>
              <a:rPr lang="zh-CN" altLang="en-US" sz="2400" dirty="0">
                <a:solidFill>
                  <a:schemeClr val="folHlink"/>
                </a:solidFill>
                <a:latin typeface="+mn-lt"/>
                <a:ea typeface="+mn-ea"/>
                <a:sym typeface="Symbol" pitchFamily="18" charset="2"/>
              </a:rPr>
              <a:t>为这个语法概念</a:t>
            </a:r>
            <a:r>
              <a:rPr lang="zh-CN" altLang="en-US" sz="2400" dirty="0">
                <a:solidFill>
                  <a:schemeClr val="hlink"/>
                </a:solidFill>
                <a:ea typeface="黑体" pitchFamily="2" charset="-122"/>
                <a:sym typeface="Symbol" pitchFamily="18" charset="2"/>
              </a:rPr>
              <a:t>起个名字</a:t>
            </a:r>
            <a:r>
              <a:rPr lang="zh-CN" altLang="en-US" sz="2400" dirty="0">
                <a:solidFill>
                  <a:schemeClr val="folHlink"/>
                </a:solidFill>
                <a:latin typeface="+mn-lt"/>
                <a:ea typeface="+mn-ea"/>
                <a:sym typeface="Symbol" pitchFamily="18" charset="2"/>
              </a:rPr>
              <a:t>，“模样”中的其他语法概念、单词也都有相应的</a:t>
            </a:r>
            <a:r>
              <a:rPr lang="zh-CN" altLang="en-US" sz="2400" dirty="0">
                <a:solidFill>
                  <a:schemeClr val="hlink"/>
                </a:solidFill>
                <a:ea typeface="黑体" pitchFamily="2" charset="-122"/>
                <a:sym typeface="Symbol" pitchFamily="18" charset="2"/>
              </a:rPr>
              <a:t>名字</a:t>
            </a:r>
            <a:endParaRPr lang="zh-CN" altLang="en-US" dirty="0">
              <a:solidFill>
                <a:schemeClr val="hlink"/>
              </a:solidFill>
              <a:ea typeface="黑体" pitchFamily="2" charset="-122"/>
              <a:sym typeface="Symbol" pitchFamily="18" charset="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/>
            </a:pPr>
            <a:r>
              <a:rPr lang="zh-CN" altLang="en-US" sz="2400" dirty="0">
                <a:solidFill>
                  <a:schemeClr val="folHlink"/>
                </a:solidFill>
                <a:latin typeface="+mn-lt"/>
                <a:ea typeface="+mn-ea"/>
                <a:sym typeface="Symbol" pitchFamily="18" charset="2"/>
              </a:rPr>
              <a:t>将语法概念放在产生式</a:t>
            </a:r>
            <a:r>
              <a:rPr lang="zh-CN" altLang="en-US" sz="2400" dirty="0">
                <a:solidFill>
                  <a:schemeClr val="hlink"/>
                </a:solidFill>
                <a:ea typeface="黑体" pitchFamily="2" charset="-122"/>
                <a:sym typeface="Symbol" pitchFamily="18" charset="2"/>
              </a:rPr>
              <a:t>左部</a:t>
            </a:r>
            <a:br>
              <a:rPr lang="zh-CN" altLang="en-US" sz="2400" dirty="0">
                <a:solidFill>
                  <a:schemeClr val="folHlink"/>
                </a:solidFill>
                <a:latin typeface="+mn-lt"/>
                <a:ea typeface="+mn-ea"/>
                <a:sym typeface="Symbol" pitchFamily="18" charset="2"/>
              </a:rPr>
            </a:br>
            <a:r>
              <a:rPr lang="zh-CN" altLang="en-US" sz="2400" dirty="0">
                <a:solidFill>
                  <a:schemeClr val="folHlink"/>
                </a:solidFill>
                <a:latin typeface="+mn-lt"/>
                <a:ea typeface="+mn-ea"/>
                <a:sym typeface="Symbol" pitchFamily="18" charset="2"/>
              </a:rPr>
              <a:t>“模样”放在产生式</a:t>
            </a:r>
            <a:r>
              <a:rPr lang="zh-CN" altLang="en-US" sz="2400" dirty="0">
                <a:solidFill>
                  <a:schemeClr val="hlink"/>
                </a:solidFill>
                <a:ea typeface="黑体" pitchFamily="2" charset="-122"/>
                <a:sym typeface="Symbol" pitchFamily="18" charset="2"/>
              </a:rPr>
              <a:t>右部</a:t>
            </a:r>
            <a:br>
              <a:rPr lang="zh-CN" altLang="en-US" sz="2400" dirty="0">
                <a:solidFill>
                  <a:schemeClr val="folHlink"/>
                </a:solidFill>
                <a:latin typeface="+mn-lt"/>
                <a:ea typeface="+mn-ea"/>
                <a:sym typeface="Symbol" pitchFamily="18" charset="2"/>
              </a:rPr>
            </a:br>
            <a:r>
              <a:rPr lang="en-US" altLang="zh-CN" sz="2400" dirty="0">
                <a:solidFill>
                  <a:schemeClr val="folHlink"/>
                </a:solidFill>
                <a:latin typeface="+mn-lt"/>
                <a:ea typeface="+mn-ea"/>
                <a:sym typeface="Symbol" pitchFamily="18" charset="2"/>
              </a:rPr>
              <a:t>——</a:t>
            </a:r>
            <a:r>
              <a:rPr lang="zh-CN" altLang="en-US" sz="2400" dirty="0">
                <a:solidFill>
                  <a:schemeClr val="folHlink"/>
                </a:solidFill>
                <a:latin typeface="+mn-lt"/>
                <a:ea typeface="+mn-ea"/>
                <a:sym typeface="Symbol" pitchFamily="18" charset="2"/>
              </a:rPr>
              <a:t>都是用名字替换掉语法概念和单词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5D0DEFE2-A8EC-4953-A212-D9BBBEFCF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6200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>
                <a:solidFill>
                  <a:schemeClr val="tx2"/>
                </a:solidFill>
              </a:rPr>
              <a:t>CFG</a:t>
            </a:r>
            <a:r>
              <a:rPr lang="zh-CN" altLang="en-US" sz="4400">
                <a:solidFill>
                  <a:schemeClr val="tx2"/>
                </a:solidFill>
              </a:rPr>
              <a:t>设计练习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73D44FFD-32D1-4376-A3AF-D58F0E8C1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2688" y="1295400"/>
            <a:ext cx="77724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/>
              <a:t>C</a:t>
            </a:r>
            <a:r>
              <a:rPr lang="zh-CN" altLang="en-US" sz="2400" dirty="0"/>
              <a:t>语言</a:t>
            </a:r>
            <a:r>
              <a:rPr lang="en-US" altLang="zh-CN" sz="2400" dirty="0"/>
              <a:t>while</a:t>
            </a:r>
            <a:r>
              <a:rPr lang="zh-CN" altLang="en-US" sz="2400" dirty="0"/>
              <a:t>语句</a:t>
            </a:r>
            <a:br>
              <a:rPr lang="en-US" altLang="zh-CN" sz="2400" dirty="0"/>
            </a:br>
            <a:br>
              <a:rPr lang="en-US" altLang="zh-CN" sz="2400" dirty="0"/>
            </a:br>
            <a:endParaRPr kumimoji="0" lang="en-US" altLang="zh-CN" sz="2400" i="1" dirty="0">
              <a:sym typeface="Symbol" panose="05050102010706020507" pitchFamily="18" charset="2"/>
            </a:endParaRPr>
          </a:p>
          <a:p>
            <a:pPr eaLnBrk="1" hangingPunct="1">
              <a:spcAft>
                <a:spcPct val="40000"/>
              </a:spcAft>
            </a:pPr>
            <a:endParaRPr kumimoji="0" lang="en-US" altLang="zh-CN" sz="2400" b="1" dirty="0">
              <a:sym typeface="Symbol" panose="05050102010706020507" pitchFamily="18" charset="2"/>
            </a:endParaRPr>
          </a:p>
        </p:txBody>
      </p:sp>
      <p:sp>
        <p:nvSpPr>
          <p:cNvPr id="191492" name="Text Box 4">
            <a:extLst>
              <a:ext uri="{FF2B5EF4-FFF2-40B4-BE49-F238E27FC236}">
                <a16:creationId xmlns:a16="http://schemas.microsoft.com/office/drawing/2014/main" id="{7C1789D4-B408-4ECA-9417-559CE8CFB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733256"/>
            <a:ext cx="5105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3333CC"/>
                </a:solidFill>
              </a:rPr>
              <a:t>	</a:t>
            </a:r>
            <a:r>
              <a:rPr lang="zh-CN" altLang="en-US" sz="2400" dirty="0">
                <a:solidFill>
                  <a:srgbClr val="3333CC"/>
                </a:solidFill>
              </a:rPr>
              <a:t>完整的产生式</a:t>
            </a:r>
            <a:br>
              <a:rPr lang="zh-CN" altLang="en-US" sz="2400" dirty="0">
                <a:solidFill>
                  <a:srgbClr val="3333CC"/>
                </a:solidFill>
              </a:rPr>
            </a:br>
            <a:endParaRPr kumimoji="0" lang="en-US" altLang="zh-CN" sz="2400" i="1" dirty="0">
              <a:solidFill>
                <a:srgbClr val="3333CC"/>
              </a:solidFill>
              <a:sym typeface="Symbol" panose="05050102010706020507" pitchFamily="18" charset="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6639EB6-EB94-45A5-B97B-EA0756F3CBAC}"/>
              </a:ext>
            </a:extLst>
          </p:cNvPr>
          <p:cNvSpPr/>
          <p:nvPr/>
        </p:nvSpPr>
        <p:spPr>
          <a:xfrm>
            <a:off x="1524000" y="1743199"/>
            <a:ext cx="52758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+mn-lt"/>
                <a:ea typeface="宋体" panose="02010600030101010101" pitchFamily="2" charset="-122"/>
              </a:rPr>
              <a:t>长什么样？</a:t>
            </a:r>
            <a:r>
              <a:rPr lang="en-US" altLang="zh-CN" sz="2400" b="1" dirty="0">
                <a:latin typeface="+mn-lt"/>
              </a:rPr>
              <a:t>while</a:t>
            </a:r>
            <a:r>
              <a:rPr lang="en-US" altLang="zh-CN" sz="2400" dirty="0">
                <a:latin typeface="+mn-lt"/>
              </a:rPr>
              <a:t> (expression) statement</a:t>
            </a:r>
            <a:endParaRPr lang="zh-CN" altLang="en-US" sz="2400" dirty="0">
              <a:latin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F899DD-06A0-4369-BE04-7A251849F526}"/>
              </a:ext>
            </a:extLst>
          </p:cNvPr>
          <p:cNvSpPr/>
          <p:nvPr/>
        </p:nvSpPr>
        <p:spPr>
          <a:xfrm>
            <a:off x="1524000" y="2268270"/>
            <a:ext cx="63603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400" b="1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</a:rPr>
              <a:t>整体是一个什么语法概念</a:t>
            </a:r>
            <a:r>
              <a:rPr lang="zh-CN" altLang="en-US" sz="2400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</a:rPr>
              <a:t>？</a:t>
            </a:r>
            <a:r>
              <a:rPr lang="en-US" altLang="zh-CN" sz="2400" dirty="0">
                <a:solidFill>
                  <a:srgbClr val="000000"/>
                </a:solidFill>
                <a:latin typeface="Times New Roman"/>
                <a:ea typeface="宋体"/>
              </a:rPr>
              <a:t>while</a:t>
            </a:r>
            <a:r>
              <a:rPr lang="zh-CN" altLang="en-US" sz="2400" dirty="0">
                <a:solidFill>
                  <a:srgbClr val="000000"/>
                </a:solidFill>
                <a:latin typeface="Times New Roman"/>
                <a:ea typeface="宋体"/>
              </a:rPr>
              <a:t>语句，是语句的一种，可起名字</a:t>
            </a:r>
            <a:r>
              <a:rPr lang="en-US" altLang="zh-CN" sz="2400" i="1" dirty="0" err="1">
                <a:solidFill>
                  <a:srgbClr val="000000"/>
                </a:solidFill>
                <a:latin typeface="Times New Roman"/>
                <a:ea typeface="宋体"/>
              </a:rPr>
              <a:t>stmt</a:t>
            </a:r>
            <a:r>
              <a:rPr lang="en-US" altLang="zh-CN" sz="2400" dirty="0">
                <a:solidFill>
                  <a:srgbClr val="000000"/>
                </a:solidFill>
                <a:latin typeface="Times New Roman"/>
                <a:ea typeface="宋体"/>
              </a:rPr>
              <a:t>——</a:t>
            </a:r>
            <a:r>
              <a:rPr lang="zh-CN" altLang="en-US" sz="2400" dirty="0">
                <a:solidFill>
                  <a:srgbClr val="000000"/>
                </a:solidFill>
                <a:latin typeface="Times New Roman"/>
                <a:ea typeface="宋体"/>
              </a:rPr>
              <a:t>非终结符</a:t>
            </a:r>
            <a:endParaRPr lang="en-US" altLang="zh-CN" sz="2400" dirty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491120-2EEE-4CBE-94B3-974A06CB5D4B}"/>
              </a:ext>
            </a:extLst>
          </p:cNvPr>
          <p:cNvSpPr/>
          <p:nvPr/>
        </p:nvSpPr>
        <p:spPr>
          <a:xfrm>
            <a:off x="1524000" y="3102059"/>
            <a:ext cx="63603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它的各个组成成分：</a:t>
            </a:r>
            <a:endParaRPr lang="en-US" altLang="zh-CN" sz="2400" b="1" dirty="0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7FB737-A49A-4249-B9FC-887FB2EDFB02}"/>
              </a:ext>
            </a:extLst>
          </p:cNvPr>
          <p:cNvSpPr/>
          <p:nvPr/>
        </p:nvSpPr>
        <p:spPr>
          <a:xfrm>
            <a:off x="1524000" y="3501008"/>
            <a:ext cx="62163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+mn-lt"/>
                <a:ea typeface="宋体" panose="02010600030101010101" pitchFamily="2" charset="-122"/>
              </a:rPr>
              <a:t>关键字</a:t>
            </a:r>
            <a:r>
              <a:rPr lang="en-US" altLang="zh-CN" sz="2400" dirty="0">
                <a:latin typeface="+mn-lt"/>
                <a:ea typeface="宋体" panose="02010600030101010101" pitchFamily="2" charset="-122"/>
              </a:rPr>
              <a:t>while——</a:t>
            </a:r>
            <a:r>
              <a:rPr lang="zh-CN" altLang="en-US" sz="2400" dirty="0">
                <a:latin typeface="+mn-lt"/>
                <a:ea typeface="宋体" panose="02010600030101010101" pitchFamily="2" charset="-122"/>
              </a:rPr>
              <a:t>单词，用单词名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while</a:t>
            </a:r>
            <a:r>
              <a:rPr lang="zh-CN" altLang="en-US" sz="2400" dirty="0">
                <a:latin typeface="+mn-lt"/>
                <a:ea typeface="宋体" panose="02010600030101010101" pitchFamily="2" charset="-122"/>
              </a:rPr>
              <a:t>表示</a:t>
            </a:r>
            <a:endParaRPr lang="en-US" altLang="zh-CN" sz="2400" dirty="0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FC6800F-25EB-4057-B019-8CDA3793239F}"/>
              </a:ext>
            </a:extLst>
          </p:cNvPr>
          <p:cNvSpPr/>
          <p:nvPr/>
        </p:nvSpPr>
        <p:spPr>
          <a:xfrm>
            <a:off x="1524000" y="3933056"/>
            <a:ext cx="69364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+mn-lt"/>
                <a:ea typeface="宋体" panose="02010600030101010101" pitchFamily="2" charset="-122"/>
              </a:rPr>
              <a:t>括号</a:t>
            </a:r>
            <a:r>
              <a:rPr lang="en-US" altLang="zh-CN" sz="2400" dirty="0">
                <a:latin typeface="+mn-lt"/>
                <a:ea typeface="宋体" panose="02010600030101010101" pitchFamily="2" charset="-122"/>
              </a:rPr>
              <a:t>——</a:t>
            </a:r>
            <a:r>
              <a:rPr lang="zh-CN" altLang="en-US" sz="2400" dirty="0">
                <a:latin typeface="+mn-lt"/>
                <a:ea typeface="宋体" panose="02010600030101010101" pitchFamily="2" charset="-122"/>
              </a:rPr>
              <a:t>单词，用单词名（</a:t>
            </a:r>
            <a:r>
              <a:rPr lang="en-US" altLang="zh-CN" sz="2400" dirty="0">
                <a:latin typeface="+mn-lt"/>
                <a:ea typeface="宋体" panose="02010600030101010101" pitchFamily="2" charset="-122"/>
              </a:rPr>
              <a:t>ASCII</a:t>
            </a:r>
            <a:r>
              <a:rPr lang="zh-CN" altLang="en-US" sz="2400" dirty="0">
                <a:latin typeface="+mn-lt"/>
                <a:ea typeface="宋体" panose="02010600030101010101" pitchFamily="2" charset="-122"/>
              </a:rPr>
              <a:t>字符）表示</a:t>
            </a:r>
            <a:endParaRPr lang="en-US" altLang="zh-CN" sz="2400" dirty="0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9EBA5BD-B133-48F5-8CA5-FEC85EA0EA4C}"/>
              </a:ext>
            </a:extLst>
          </p:cNvPr>
          <p:cNvSpPr/>
          <p:nvPr/>
        </p:nvSpPr>
        <p:spPr>
          <a:xfrm>
            <a:off x="1524000" y="4365104"/>
            <a:ext cx="693643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+mn-lt"/>
                <a:ea typeface="宋体" panose="02010600030101010101" pitchFamily="2" charset="-122"/>
              </a:rPr>
              <a:t>循环判定条件</a:t>
            </a:r>
            <a:r>
              <a:rPr lang="en-US" altLang="zh-CN" sz="2400" dirty="0">
                <a:latin typeface="+mn-lt"/>
                <a:ea typeface="宋体" panose="02010600030101010101" pitchFamily="2" charset="-122"/>
              </a:rPr>
              <a:t>——</a:t>
            </a:r>
            <a:r>
              <a:rPr lang="zh-CN" altLang="en-US" sz="2400" dirty="0">
                <a:latin typeface="+mn-lt"/>
                <a:ea typeface="宋体" panose="02010600030101010101" pitchFamily="2" charset="-122"/>
              </a:rPr>
              <a:t>语法概念“布尔表达式”，表达式的一种，可起名字</a:t>
            </a:r>
            <a:r>
              <a:rPr lang="en-US" altLang="zh-CN" sz="2400" i="1" dirty="0">
                <a:latin typeface="+mn-lt"/>
                <a:ea typeface="宋体" panose="02010600030101010101" pitchFamily="2" charset="-122"/>
              </a:rPr>
              <a:t>expr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FA5F121-02E6-4DC3-9CC3-6A771E8EC132}"/>
              </a:ext>
            </a:extLst>
          </p:cNvPr>
          <p:cNvSpPr/>
          <p:nvPr/>
        </p:nvSpPr>
        <p:spPr>
          <a:xfrm>
            <a:off x="1524000" y="5197264"/>
            <a:ext cx="69364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+mn-lt"/>
                <a:ea typeface="宋体" panose="02010600030101010101" pitchFamily="2" charset="-122"/>
              </a:rPr>
              <a:t>循环体</a:t>
            </a:r>
            <a:r>
              <a:rPr lang="en-US" altLang="zh-CN" sz="2400" dirty="0">
                <a:latin typeface="+mn-lt"/>
                <a:ea typeface="宋体" panose="02010600030101010101" pitchFamily="2" charset="-122"/>
              </a:rPr>
              <a:t>——</a:t>
            </a:r>
            <a:r>
              <a:rPr lang="zh-CN" altLang="en-US" sz="2400" dirty="0">
                <a:latin typeface="+mn-lt"/>
                <a:ea typeface="宋体" panose="02010600030101010101" pitchFamily="2" charset="-122"/>
              </a:rPr>
              <a:t>一条语句，用名字</a:t>
            </a:r>
            <a:r>
              <a:rPr lang="en-US" altLang="zh-CN" sz="2400" i="1" dirty="0" err="1">
                <a:latin typeface="+mn-lt"/>
                <a:ea typeface="宋体" panose="02010600030101010101" pitchFamily="2" charset="-122"/>
              </a:rPr>
              <a:t>stmt</a:t>
            </a:r>
            <a:endParaRPr lang="en-US" altLang="zh-CN" sz="2400" dirty="0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69D86C7-17FD-4E02-AAE3-A58DEEDB1B9C}"/>
              </a:ext>
            </a:extLst>
          </p:cNvPr>
          <p:cNvSpPr txBox="1"/>
          <p:nvPr/>
        </p:nvSpPr>
        <p:spPr>
          <a:xfrm>
            <a:off x="962000" y="6102588"/>
            <a:ext cx="7826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i="1" dirty="0" err="1">
                <a:solidFill>
                  <a:srgbClr val="3333CC"/>
                </a:solidFill>
              </a:rPr>
              <a:t>stmt</a:t>
            </a:r>
            <a:endParaRPr lang="zh-CN" altLang="en-US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B89AE39-4D28-45D8-8C92-1138445469E3}"/>
              </a:ext>
            </a:extLst>
          </p:cNvPr>
          <p:cNvSpPr txBox="1"/>
          <p:nvPr/>
        </p:nvSpPr>
        <p:spPr>
          <a:xfrm>
            <a:off x="1907704" y="6102588"/>
            <a:ext cx="9178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="1" dirty="0">
                <a:solidFill>
                  <a:srgbClr val="3333CC"/>
                </a:solidFill>
                <a:sym typeface="Symbol" panose="05050102010706020507" pitchFamily="18" charset="2"/>
              </a:rPr>
              <a:t>while</a:t>
            </a:r>
            <a:endParaRPr lang="zh-CN" altLang="en-US" sz="2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5D17E2D-01C0-4065-9FBB-944F7F2E9B87}"/>
              </a:ext>
            </a:extLst>
          </p:cNvPr>
          <p:cNvSpPr txBox="1"/>
          <p:nvPr/>
        </p:nvSpPr>
        <p:spPr>
          <a:xfrm>
            <a:off x="2702632" y="6089884"/>
            <a:ext cx="1349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dirty="0">
                <a:solidFill>
                  <a:srgbClr val="3333CC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i="1" dirty="0">
                <a:solidFill>
                  <a:srgbClr val="3333CC"/>
                </a:solidFill>
                <a:sym typeface="Symbol" panose="05050102010706020507" pitchFamily="18" charset="2"/>
              </a:rPr>
              <a:t>expr </a:t>
            </a:r>
            <a:r>
              <a:rPr kumimoji="0" lang="en-US" altLang="zh-CN" sz="2400" dirty="0">
                <a:solidFill>
                  <a:srgbClr val="3333CC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 dirty="0">
                <a:solidFill>
                  <a:srgbClr val="3333CC"/>
                </a:solidFill>
                <a:sym typeface="Symbol" panose="05050102010706020507" pitchFamily="18" charset="2"/>
              </a:rPr>
              <a:t> </a:t>
            </a:r>
            <a:endParaRPr lang="zh-CN" altLang="en-US" sz="2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5EC53E7-E9A1-4B33-8423-013A51BA2F27}"/>
              </a:ext>
            </a:extLst>
          </p:cNvPr>
          <p:cNvSpPr txBox="1"/>
          <p:nvPr/>
        </p:nvSpPr>
        <p:spPr>
          <a:xfrm>
            <a:off x="3726158" y="6089884"/>
            <a:ext cx="7018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i="1" dirty="0" err="1">
                <a:solidFill>
                  <a:srgbClr val="3333CC"/>
                </a:solidFill>
                <a:sym typeface="Symbol" panose="05050102010706020507" pitchFamily="18" charset="2"/>
              </a:rPr>
              <a:t>stmt</a:t>
            </a:r>
            <a:endParaRPr lang="zh-CN" altLang="en-US" sz="2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79ABDC7-4A0E-4870-B20D-190982930751}"/>
              </a:ext>
            </a:extLst>
          </p:cNvPr>
          <p:cNvSpPr txBox="1"/>
          <p:nvPr/>
        </p:nvSpPr>
        <p:spPr>
          <a:xfrm>
            <a:off x="1536372" y="6111322"/>
            <a:ext cx="4166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dirty="0">
                <a:solidFill>
                  <a:srgbClr val="3333CC"/>
                </a:solidFill>
                <a:sym typeface="Symbol" panose="05050102010706020507" pitchFamily="18" charset="2"/>
              </a:rPr>
              <a:t>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2" grpId="0"/>
      <p:bldP spid="2" grpId="0"/>
      <p:bldP spid="8" grpId="0"/>
      <p:bldP spid="9" grpId="0"/>
      <p:bldP spid="3" grpId="0"/>
      <p:bldP spid="4" grpId="0"/>
      <p:bldP spid="5" grpId="0"/>
      <p:bldP spid="13" grpId="0"/>
      <p:bldP spid="14" grpId="0"/>
      <p:bldP spid="15" grpId="0"/>
      <p:bldP spid="17" grpId="0"/>
      <p:bldP spid="19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5D0DEFE2-A8EC-4953-A212-D9BBBEFCF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6200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>
                <a:solidFill>
                  <a:schemeClr val="tx2"/>
                </a:solidFill>
              </a:rPr>
              <a:t>CFG</a:t>
            </a:r>
            <a:r>
              <a:rPr lang="zh-CN" altLang="en-US" sz="4400">
                <a:solidFill>
                  <a:schemeClr val="tx2"/>
                </a:solidFill>
              </a:rPr>
              <a:t>设计练习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73D44FFD-32D1-4376-A3AF-D58F0E8C1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2688" y="1295400"/>
            <a:ext cx="77724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40000"/>
              </a:spcAft>
            </a:pPr>
            <a:r>
              <a:rPr kumimoji="0" lang="en-US" altLang="zh-CN" sz="2400" dirty="0">
                <a:sym typeface="Symbol" panose="05050102010706020507" pitchFamily="18" charset="2"/>
              </a:rPr>
              <a:t>C</a:t>
            </a:r>
            <a:r>
              <a:rPr kumimoji="0" lang="zh-CN" altLang="en-US" sz="2400" dirty="0">
                <a:sym typeface="Symbol" panose="05050102010706020507" pitchFamily="18" charset="2"/>
              </a:rPr>
              <a:t>语言</a:t>
            </a:r>
            <a:r>
              <a:rPr kumimoji="0" lang="en-US" altLang="zh-CN" sz="2400" dirty="0">
                <a:sym typeface="Symbol" panose="05050102010706020507" pitchFamily="18" charset="2"/>
              </a:rPr>
              <a:t>for</a:t>
            </a:r>
            <a:r>
              <a:rPr kumimoji="0" lang="zh-CN" altLang="en-US" sz="2400" dirty="0">
                <a:sym typeface="Symbol" panose="05050102010706020507" pitchFamily="18" charset="2"/>
              </a:rPr>
              <a:t>语句</a:t>
            </a:r>
            <a:endParaRPr kumimoji="0" lang="en-US" altLang="zh-CN" sz="2400" dirty="0">
              <a:sym typeface="Symbol" panose="05050102010706020507" pitchFamily="18" charset="2"/>
            </a:endParaRPr>
          </a:p>
          <a:p>
            <a:pPr marL="0" indent="0" eaLnBrk="1" hangingPunct="1">
              <a:buNone/>
            </a:pPr>
            <a:endParaRPr kumimoji="0" lang="en-US" altLang="zh-CN" sz="2400" i="1" dirty="0">
              <a:sym typeface="Symbol" panose="05050102010706020507" pitchFamily="18" charset="2"/>
            </a:endParaRPr>
          </a:p>
          <a:p>
            <a:pPr eaLnBrk="1" hangingPunct="1"/>
            <a:endParaRPr kumimoji="0" lang="en-US" altLang="zh-CN" sz="2400" b="1" dirty="0">
              <a:sym typeface="Symbol" panose="05050102010706020507" pitchFamily="18" charset="2"/>
            </a:endParaRPr>
          </a:p>
        </p:txBody>
      </p:sp>
      <p:sp>
        <p:nvSpPr>
          <p:cNvPr id="191493" name="Text Box 5">
            <a:extLst>
              <a:ext uri="{FF2B5EF4-FFF2-40B4-BE49-F238E27FC236}">
                <a16:creationId xmlns:a16="http://schemas.microsoft.com/office/drawing/2014/main" id="{3EFE29B7-B142-48DD-BA3B-7EE00730E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318083"/>
            <a:ext cx="7239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400" dirty="0">
                <a:solidFill>
                  <a:srgbClr val="3333CC"/>
                </a:solidFill>
                <a:sym typeface="Symbol" panose="05050102010706020507" pitchFamily="18" charset="2"/>
              </a:rPr>
              <a:t>	</a:t>
            </a:r>
            <a:r>
              <a:rPr kumimoji="0" lang="zh-CN" altLang="en-US" sz="2400" dirty="0">
                <a:solidFill>
                  <a:srgbClr val="3333CC"/>
                </a:solidFill>
                <a:sym typeface="Symbol" panose="05050102010706020507" pitchFamily="18" charset="2"/>
              </a:rPr>
              <a:t>对应的产生式</a:t>
            </a:r>
            <a:br>
              <a:rPr kumimoji="0" lang="zh-CN" altLang="en-US" sz="2400" dirty="0">
                <a:solidFill>
                  <a:srgbClr val="3333CC"/>
                </a:solidFill>
                <a:sym typeface="Symbol" panose="05050102010706020507" pitchFamily="18" charset="2"/>
              </a:rPr>
            </a:br>
            <a:r>
              <a:rPr lang="en-US" altLang="zh-CN" sz="2400" i="1" dirty="0" err="1">
                <a:solidFill>
                  <a:srgbClr val="3333CC"/>
                </a:solidFill>
              </a:rPr>
              <a:t>stmt</a:t>
            </a:r>
            <a:r>
              <a:rPr kumimoji="0" lang="en-US" altLang="zh-CN" sz="2400" dirty="0">
                <a:solidFill>
                  <a:srgbClr val="3333CC"/>
                </a:solidFill>
                <a:sym typeface="Symbol" panose="05050102010706020507" pitchFamily="18" charset="2"/>
              </a:rPr>
              <a:t></a:t>
            </a:r>
            <a:r>
              <a:rPr kumimoji="0" lang="en-US" altLang="zh-CN" sz="2400" b="1" dirty="0">
                <a:solidFill>
                  <a:srgbClr val="3333CC"/>
                </a:solidFill>
                <a:sym typeface="Symbol" panose="05050102010706020507" pitchFamily="18" charset="2"/>
              </a:rPr>
              <a:t> for </a:t>
            </a:r>
            <a:r>
              <a:rPr kumimoji="0" lang="en-US" altLang="zh-CN" sz="2400" dirty="0">
                <a:solidFill>
                  <a:srgbClr val="3333CC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i="1" dirty="0">
                <a:solidFill>
                  <a:srgbClr val="3333CC"/>
                </a:solidFill>
                <a:sym typeface="Symbol" panose="05050102010706020507" pitchFamily="18" charset="2"/>
              </a:rPr>
              <a:t>expr ; expr; expr </a:t>
            </a:r>
            <a:r>
              <a:rPr kumimoji="0" lang="en-US" altLang="zh-CN" sz="2400" dirty="0">
                <a:solidFill>
                  <a:srgbClr val="3333CC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 dirty="0">
                <a:solidFill>
                  <a:srgbClr val="3333CC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 i="1" dirty="0" err="1">
                <a:solidFill>
                  <a:srgbClr val="3333CC"/>
                </a:solidFill>
                <a:sym typeface="Symbol" panose="05050102010706020507" pitchFamily="18" charset="2"/>
              </a:rPr>
              <a:t>stmt</a:t>
            </a:r>
            <a:endParaRPr kumimoji="0" lang="en-US" altLang="zh-CN" sz="2400" i="1" dirty="0">
              <a:solidFill>
                <a:srgbClr val="3333CC"/>
              </a:solidFill>
              <a:sym typeface="Symbol" panose="05050102010706020507" pitchFamily="18" charset="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D92D42D-7324-F541-A6B5-1B0EF00AE0E5}"/>
              </a:ext>
            </a:extLst>
          </p:cNvPr>
          <p:cNvSpPr txBox="1"/>
          <p:nvPr/>
        </p:nvSpPr>
        <p:spPr>
          <a:xfrm>
            <a:off x="1600200" y="1856784"/>
            <a:ext cx="7148264" cy="1348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spcAft>
                <a:spcPct val="40000"/>
              </a:spcAft>
              <a:buNone/>
            </a:pPr>
            <a:r>
              <a:rPr kumimoji="0" lang="zh-CN" altLang="en-US" sz="2400" dirty="0">
                <a:ea typeface="宋体" panose="02010600030101010101" pitchFamily="2" charset="-122"/>
                <a:sym typeface="Symbol" panose="05050102010706020507" pitchFamily="18" charset="2"/>
              </a:rPr>
              <a:t>长什么样？</a:t>
            </a:r>
            <a:endParaRPr kumimoji="0" lang="en-US" altLang="zh-CN" sz="24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 eaLnBrk="1" hangingPunct="1">
              <a:spcAft>
                <a:spcPct val="40000"/>
              </a:spcAft>
              <a:buNone/>
            </a:pPr>
            <a:r>
              <a:rPr kumimoji="0" lang="en-US" altLang="zh-CN" sz="2400" b="1" dirty="0">
                <a:sym typeface="Symbol" panose="05050102010706020507" pitchFamily="18" charset="2"/>
              </a:rPr>
              <a:t>for</a:t>
            </a:r>
            <a:r>
              <a:rPr kumimoji="0" lang="en-US" altLang="zh-CN" sz="2400" dirty="0">
                <a:sym typeface="Symbol" panose="05050102010706020507" pitchFamily="18" charset="2"/>
              </a:rPr>
              <a:t> (expression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dirty="0">
                <a:sym typeface="Symbol" panose="05050102010706020507" pitchFamily="18" charset="2"/>
              </a:rPr>
              <a:t>; expression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sz="2400" dirty="0">
                <a:sym typeface="Symbol" panose="05050102010706020507" pitchFamily="18" charset="2"/>
              </a:rPr>
              <a:t>; expression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3</a:t>
            </a:r>
            <a:r>
              <a:rPr kumimoji="0" lang="en-US" altLang="zh-CN" sz="2400" dirty="0">
                <a:sym typeface="Symbol" panose="05050102010706020507" pitchFamily="18" charset="2"/>
              </a:rPr>
              <a:t>)</a:t>
            </a:r>
            <a:br>
              <a:rPr kumimoji="0" lang="en-US" altLang="zh-CN" sz="2400" dirty="0">
                <a:sym typeface="Symbol" panose="05050102010706020507" pitchFamily="18" charset="2"/>
              </a:rPr>
            </a:br>
            <a:r>
              <a:rPr kumimoji="0" lang="en-US" altLang="zh-CN" sz="2400" dirty="0">
                <a:sym typeface="Symbol" panose="05050102010706020507" pitchFamily="18" charset="2"/>
              </a:rPr>
              <a:t>	statement</a:t>
            </a:r>
          </a:p>
        </p:txBody>
      </p:sp>
    </p:spTree>
    <p:extLst>
      <p:ext uri="{BB962C8B-B14F-4D97-AF65-F5344CB8AC3E}">
        <p14:creationId xmlns:p14="http://schemas.microsoft.com/office/powerpoint/2010/main" val="82628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3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5D0DEFE2-A8EC-4953-A212-D9BBBEFCF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6200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>
                <a:solidFill>
                  <a:schemeClr val="tx2"/>
                </a:solidFill>
              </a:rPr>
              <a:t>CFG</a:t>
            </a:r>
            <a:r>
              <a:rPr lang="zh-CN" altLang="en-US" sz="4400">
                <a:solidFill>
                  <a:schemeClr val="tx2"/>
                </a:solidFill>
              </a:rPr>
              <a:t>设计练习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73D44FFD-32D1-4376-A3AF-D58F0E8C1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2688" y="1295400"/>
            <a:ext cx="77724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 dirty="0">
                <a:sym typeface="Symbol" panose="05050102010706020507" pitchFamily="18" charset="2"/>
              </a:rPr>
              <a:t>C</a:t>
            </a:r>
            <a:r>
              <a:rPr kumimoji="0" lang="zh-CN" altLang="en-US" sz="2400" dirty="0">
                <a:sym typeface="Symbol" panose="05050102010706020507" pitchFamily="18" charset="2"/>
              </a:rPr>
              <a:t>语言变量声明</a:t>
            </a:r>
            <a:endParaRPr kumimoji="0" lang="en-US" altLang="zh-CN" sz="2400" dirty="0">
              <a:sym typeface="Symbol" panose="05050102010706020507" pitchFamily="18" charset="2"/>
            </a:endParaRPr>
          </a:p>
          <a:p>
            <a:pPr eaLnBrk="1" hangingPunct="1"/>
            <a:r>
              <a:rPr kumimoji="0" lang="en-US" altLang="zh-CN" sz="2400" b="1" dirty="0">
                <a:sym typeface="Symbol" panose="05050102010706020507" pitchFamily="18" charset="2"/>
              </a:rPr>
              <a:t>int</a:t>
            </a:r>
            <a:r>
              <a:rPr kumimoji="0" lang="en-US" altLang="zh-CN" sz="2400" dirty="0">
                <a:sym typeface="Symbol" panose="05050102010706020507" pitchFamily="18" charset="2"/>
              </a:rPr>
              <a:t>(</a:t>
            </a:r>
            <a:r>
              <a:rPr kumimoji="0" lang="en-US" altLang="zh-CN" sz="2400" b="1" dirty="0">
                <a:sym typeface="Symbol" panose="05050102010706020507" pitchFamily="18" charset="2"/>
              </a:rPr>
              <a:t>float</a:t>
            </a:r>
            <a:r>
              <a:rPr kumimoji="0" lang="en-US" altLang="zh-CN" sz="2400" dirty="0">
                <a:sym typeface="Symbol" panose="05050102010706020507" pitchFamily="18" charset="2"/>
              </a:rPr>
              <a:t>, </a:t>
            </a:r>
            <a:r>
              <a:rPr kumimoji="0" lang="en-US" altLang="zh-CN" sz="2400" b="1" dirty="0">
                <a:sym typeface="Symbol" panose="05050102010706020507" pitchFamily="18" charset="2"/>
              </a:rPr>
              <a:t>double</a:t>
            </a:r>
            <a:r>
              <a:rPr kumimoji="0" lang="en-US" altLang="zh-CN" sz="2400" dirty="0">
                <a:sym typeface="Symbol" panose="05050102010706020507" pitchFamily="18" charset="2"/>
              </a:rPr>
              <a:t>, </a:t>
            </a:r>
            <a:r>
              <a:rPr kumimoji="0" lang="en-US" altLang="zh-CN" sz="2400" b="1" dirty="0">
                <a:sym typeface="Symbol" panose="05050102010706020507" pitchFamily="18" charset="2"/>
              </a:rPr>
              <a:t>char</a:t>
            </a:r>
            <a:r>
              <a:rPr kumimoji="0" lang="en-US" altLang="zh-CN" sz="2400" dirty="0">
                <a:sym typeface="Symbol" panose="05050102010706020507" pitchFamily="18" charset="2"/>
              </a:rPr>
              <a:t>) id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dirty="0">
                <a:sym typeface="Symbol" panose="05050102010706020507" pitchFamily="18" charset="2"/>
              </a:rPr>
              <a:t>, id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sz="2400" dirty="0">
                <a:sym typeface="Symbol" panose="05050102010706020507" pitchFamily="18" charset="2"/>
              </a:rPr>
              <a:t>, …;</a:t>
            </a:r>
            <a:br>
              <a:rPr kumimoji="0" lang="en-US" altLang="zh-CN" sz="2400" dirty="0">
                <a:sym typeface="Symbol" panose="05050102010706020507" pitchFamily="18" charset="2"/>
              </a:rPr>
            </a:br>
            <a:endParaRPr kumimoji="0" lang="en-US" altLang="zh-CN" sz="2400" b="1" dirty="0">
              <a:sym typeface="Symbol" panose="05050102010706020507" pitchFamily="18" charset="2"/>
            </a:endParaRPr>
          </a:p>
        </p:txBody>
      </p:sp>
      <p:sp>
        <p:nvSpPr>
          <p:cNvPr id="191494" name="Text Box 6">
            <a:extLst>
              <a:ext uri="{FF2B5EF4-FFF2-40B4-BE49-F238E27FC236}">
                <a16:creationId xmlns:a16="http://schemas.microsoft.com/office/drawing/2014/main" id="{D49757A0-64EC-4BE0-AD44-6B4967F09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2256" y="5229200"/>
            <a:ext cx="7010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 i="1" dirty="0" err="1">
                <a:solidFill>
                  <a:srgbClr val="3333CC"/>
                </a:solidFill>
              </a:rPr>
              <a:t>idlist</a:t>
            </a:r>
            <a:r>
              <a:rPr kumimoji="0" lang="en-US" altLang="zh-CN" sz="2400" dirty="0">
                <a:solidFill>
                  <a:srgbClr val="3333CC"/>
                </a:solidFill>
                <a:sym typeface="Symbol" panose="05050102010706020507" pitchFamily="18" charset="2"/>
              </a:rPr>
              <a:t></a:t>
            </a:r>
            <a:r>
              <a:rPr kumimoji="0" lang="en-US" altLang="zh-CN" sz="2400" b="1" dirty="0">
                <a:solidFill>
                  <a:srgbClr val="3333CC"/>
                </a:solidFill>
                <a:sym typeface="Symbol" panose="05050102010706020507" pitchFamily="18" charset="2"/>
              </a:rPr>
              <a:t> id</a:t>
            </a:r>
            <a:endParaRPr kumimoji="0" lang="en-US" altLang="zh-CN" sz="2400" dirty="0">
              <a:solidFill>
                <a:srgbClr val="3333CC"/>
              </a:solidFill>
              <a:sym typeface="Symbol" panose="05050102010706020507" pitchFamily="18" charset="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85C2E55-8E0B-3D4F-B874-20C6B58C64B9}"/>
              </a:ext>
            </a:extLst>
          </p:cNvPr>
          <p:cNvSpPr txBox="1"/>
          <p:nvPr/>
        </p:nvSpPr>
        <p:spPr>
          <a:xfrm>
            <a:off x="1494756" y="3274202"/>
            <a:ext cx="7148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spcAft>
                <a:spcPct val="40000"/>
              </a:spcAft>
              <a:buNone/>
            </a:pPr>
            <a:r>
              <a:rPr kumimoji="0" lang="zh-CN" altLang="en-US" sz="2400" dirty="0">
                <a:ea typeface="宋体" panose="02010600030101010101" pitchFamily="2" charset="-122"/>
                <a:sym typeface="Symbol" panose="05050102010706020507" pitchFamily="18" charset="2"/>
              </a:rPr>
              <a:t>类型容易搞定</a:t>
            </a:r>
            <a:r>
              <a:rPr kumimoji="0"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——</a:t>
            </a:r>
            <a:r>
              <a:rPr kumimoji="0" lang="zh-CN" altLang="en-US" sz="2400" dirty="0">
                <a:ea typeface="宋体" panose="02010600030101010101" pitchFamily="2" charset="-122"/>
                <a:sym typeface="Symbol" panose="05050102010706020507" pitchFamily="18" charset="2"/>
              </a:rPr>
              <a:t>四种类型可选</a:t>
            </a:r>
            <a:endParaRPr kumimoji="0" lang="en-US" altLang="zh-CN" sz="2400" dirty="0">
              <a:sym typeface="Symbol" panose="05050102010706020507" pitchFamily="18" charset="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2ECAD7-99BE-DD44-8E8C-82BB73B3D566}"/>
              </a:ext>
            </a:extLst>
          </p:cNvPr>
          <p:cNvSpPr txBox="1"/>
          <p:nvPr/>
        </p:nvSpPr>
        <p:spPr>
          <a:xfrm>
            <a:off x="1494756" y="2291845"/>
            <a:ext cx="7148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spcAft>
                <a:spcPct val="40000"/>
              </a:spcAft>
              <a:buNone/>
            </a:pPr>
            <a:r>
              <a:rPr kumimoji="0" lang="zh-CN" altLang="en-US" sz="2400" dirty="0">
                <a:ea typeface="宋体" panose="02010600030101010101" pitchFamily="2" charset="-122"/>
                <a:sym typeface="Symbol" panose="05050102010706020507" pitchFamily="18" charset="2"/>
              </a:rPr>
              <a:t>分解为两部分：类型、标识符列表</a:t>
            </a:r>
            <a:endParaRPr kumimoji="0" lang="en-US" altLang="zh-CN" sz="2400" dirty="0">
              <a:sym typeface="Symbol" panose="05050102010706020507" pitchFamily="18" charset="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806FE9E-35F3-4E42-9A97-F1E28AAAE264}"/>
              </a:ext>
            </a:extLst>
          </p:cNvPr>
          <p:cNvSpPr txBox="1"/>
          <p:nvPr/>
        </p:nvSpPr>
        <p:spPr>
          <a:xfrm>
            <a:off x="1542256" y="275131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decl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Symbol" panose="05050102010706020507" pitchFamily="18" charset="2"/>
              </a:rPr>
              <a:t>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Symbol" panose="05050102010706020507" pitchFamily="18" charset="2"/>
              </a:rPr>
              <a:t>type </a:t>
            </a:r>
            <a:r>
              <a:rPr kumimoji="0" lang="en-US" altLang="zh-CN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Symbol" panose="05050102010706020507" pitchFamily="18" charset="2"/>
              </a:rPr>
              <a:t>idlist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Symbol" panose="05050102010706020507" pitchFamily="18" charset="2"/>
              </a:rPr>
              <a:t>;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A817492-47CA-8248-92DA-84BDED6454F1}"/>
              </a:ext>
            </a:extLst>
          </p:cNvPr>
          <p:cNvSpPr txBox="1"/>
          <p:nvPr/>
        </p:nvSpPr>
        <p:spPr>
          <a:xfrm>
            <a:off x="1542256" y="378904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type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Symbol" panose="05050102010706020507" pitchFamily="18" charset="2"/>
              </a:rPr>
              <a:t>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Symbol" panose="05050102010706020507" pitchFamily="18" charset="2"/>
              </a:rPr>
              <a:t> 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Symbol" panose="05050102010706020507" pitchFamily="18" charset="2"/>
              </a:rPr>
              <a:t> |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Symbol" panose="05050102010706020507" pitchFamily="18" charset="2"/>
              </a:rPr>
              <a:t> float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Symbol" panose="05050102010706020507" pitchFamily="18" charset="2"/>
              </a:rPr>
              <a:t>|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Symbol" panose="05050102010706020507" pitchFamily="18" charset="2"/>
              </a:rPr>
              <a:t>double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Symbol" panose="05050102010706020507" pitchFamily="18" charset="2"/>
              </a:rPr>
              <a:t>|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Symbol" panose="05050102010706020507" pitchFamily="18" charset="2"/>
              </a:rPr>
              <a:t>char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187D6D5-0F2F-014C-8BB9-2F91B2253F0E}"/>
              </a:ext>
            </a:extLst>
          </p:cNvPr>
          <p:cNvSpPr txBox="1"/>
          <p:nvPr/>
        </p:nvSpPr>
        <p:spPr>
          <a:xfrm>
            <a:off x="1494755" y="4293096"/>
            <a:ext cx="7449219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Aft>
                <a:spcPct val="40000"/>
              </a:spcAft>
            </a:pPr>
            <a:r>
              <a:rPr kumimoji="0" lang="zh-CN" altLang="en-US" sz="2400" dirty="0">
                <a:ea typeface="宋体" panose="02010600030101010101" pitchFamily="2" charset="-122"/>
                <a:sym typeface="Symbol" panose="05050102010706020507" pitchFamily="18" charset="2"/>
              </a:rPr>
              <a:t>描述标识符列表的难点？任意长</a:t>
            </a:r>
            <a:r>
              <a:rPr kumimoji="0"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——</a:t>
            </a:r>
            <a:r>
              <a:rPr kumimoji="0" lang="zh-CN" altLang="en-US" sz="2400" dirty="0">
                <a:ea typeface="宋体" panose="02010600030101010101" pitchFamily="2" charset="-122"/>
                <a:sym typeface="Symbol" panose="05050102010706020507" pitchFamily="18" charset="2"/>
              </a:rPr>
              <a:t>递归！</a:t>
            </a:r>
          </a:p>
          <a:p>
            <a:pPr eaLnBrk="1" hangingPunct="1">
              <a:spcAft>
                <a:spcPct val="40000"/>
              </a:spcAft>
            </a:pPr>
            <a:endParaRPr kumimoji="0" lang="en-US" altLang="zh-CN" sz="2400" dirty="0">
              <a:sym typeface="Symbol" panose="05050102010706020507" pitchFamily="18" charset="2"/>
            </a:endParaRP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C2F70D1D-E3A5-2D4C-8944-F9A43EA97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3641" y="4797152"/>
            <a:ext cx="7010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dirty="0"/>
              <a:t>基本情况：原子问题</a:t>
            </a:r>
            <a:r>
              <a:rPr kumimoji="0" lang="en-US" altLang="zh-CN" sz="2400" dirty="0"/>
              <a:t>——</a:t>
            </a:r>
            <a:r>
              <a:rPr kumimoji="0" lang="zh-CN" altLang="en-US" sz="2400" dirty="0"/>
              <a:t>最短的标识符列表</a:t>
            </a:r>
            <a:endParaRPr kumimoji="0" lang="en-US" altLang="zh-CN" sz="2400" dirty="0"/>
          </a:p>
        </p:txBody>
      </p:sp>
      <p:sp>
        <p:nvSpPr>
          <p:cNvPr id="14" name="Text Box 6">
            <a:extLst>
              <a:ext uri="{FF2B5EF4-FFF2-40B4-BE49-F238E27FC236}">
                <a16:creationId xmlns:a16="http://schemas.microsoft.com/office/drawing/2014/main" id="{6C3C4C74-D861-3B48-B259-3F30D7649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4756" y="6381328"/>
            <a:ext cx="7010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 i="1" dirty="0" err="1">
                <a:solidFill>
                  <a:srgbClr val="3333CC"/>
                </a:solidFill>
              </a:rPr>
              <a:t>idlist</a:t>
            </a:r>
            <a:r>
              <a:rPr kumimoji="0" lang="en-US" altLang="zh-CN" sz="2400" dirty="0">
                <a:solidFill>
                  <a:srgbClr val="3333CC"/>
                </a:solidFill>
                <a:sym typeface="Symbol" panose="05050102010706020507" pitchFamily="18" charset="2"/>
              </a:rPr>
              <a:t></a:t>
            </a:r>
            <a:r>
              <a:rPr kumimoji="0" lang="en-US" altLang="zh-CN" sz="2400" b="1" dirty="0">
                <a:solidFill>
                  <a:srgbClr val="3333CC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 i="1" dirty="0" err="1">
                <a:solidFill>
                  <a:srgbClr val="3333CC"/>
                </a:solidFill>
                <a:sym typeface="Symbol" panose="05050102010706020507" pitchFamily="18" charset="2"/>
              </a:rPr>
              <a:t>idlist</a:t>
            </a:r>
            <a:r>
              <a:rPr kumimoji="0" lang="en-US" altLang="zh-CN" sz="2400" i="1" dirty="0">
                <a:solidFill>
                  <a:srgbClr val="3333CC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 dirty="0">
                <a:solidFill>
                  <a:srgbClr val="3333CC"/>
                </a:solidFill>
                <a:sym typeface="Symbol" panose="05050102010706020507" pitchFamily="18" charset="2"/>
              </a:rPr>
              <a:t>, </a:t>
            </a:r>
            <a:r>
              <a:rPr kumimoji="0" lang="en-US" altLang="zh-CN" sz="2400" b="1" dirty="0">
                <a:solidFill>
                  <a:srgbClr val="3333CC"/>
                </a:solidFill>
                <a:sym typeface="Symbol" panose="05050102010706020507" pitchFamily="18" charset="2"/>
              </a:rPr>
              <a:t>id</a:t>
            </a:r>
            <a:endParaRPr kumimoji="0" lang="en-US" altLang="zh-CN" sz="2400" dirty="0">
              <a:solidFill>
                <a:srgbClr val="3333CC"/>
              </a:solidFill>
              <a:sym typeface="Symbol" panose="05050102010706020507" pitchFamily="18" charset="2"/>
            </a:endParaRPr>
          </a:p>
        </p:txBody>
      </p:sp>
      <p:sp>
        <p:nvSpPr>
          <p:cNvPr id="15" name="Text Box 6">
            <a:extLst>
              <a:ext uri="{FF2B5EF4-FFF2-40B4-BE49-F238E27FC236}">
                <a16:creationId xmlns:a16="http://schemas.microsoft.com/office/drawing/2014/main" id="{A79175B0-3E15-9C48-AFA2-9E0A13430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4756" y="5683229"/>
            <a:ext cx="754174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dirty="0"/>
              <a:t>递归情况：把问题规模变小</a:t>
            </a:r>
            <a:r>
              <a:rPr kumimoji="0" lang="en-US" altLang="zh-CN" sz="2400" dirty="0"/>
              <a:t>——</a:t>
            </a:r>
            <a:r>
              <a:rPr kumimoji="0" lang="zh-CN" altLang="en-US" sz="2400" dirty="0"/>
              <a:t>把标识符列表变短</a:t>
            </a:r>
            <a:br>
              <a:rPr kumimoji="0" lang="en-US" altLang="zh-CN" sz="2400" dirty="0"/>
            </a:br>
            <a:r>
              <a:rPr kumimoji="0" lang="en-US" altLang="zh-CN" sz="2400" dirty="0"/>
              <a:t>	——</a:t>
            </a:r>
            <a:r>
              <a:rPr kumimoji="0" lang="zh-CN" altLang="en-US" sz="2400" dirty="0"/>
              <a:t>拆分成更小的标识符列表（及非递归实体）</a:t>
            </a:r>
            <a:endParaRPr kumimoji="0"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182295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4" grpId="0" autoUpdateAnimBg="0"/>
      <p:bldP spid="6" grpId="1"/>
      <p:bldP spid="7" grpId="0"/>
      <p:bldP spid="9" grpId="0"/>
      <p:bldP spid="11" grpId="0"/>
      <p:bldP spid="12" grpId="0"/>
      <p:bldP spid="13" grpId="0" autoUpdateAnimBg="0"/>
      <p:bldP spid="14" grpId="0" autoUpdateAnimBg="0"/>
      <p:bldP spid="15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66DB28B-D5E2-4218-B357-9517588D64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推导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AF07120A-BC39-444C-9D05-07934F9F4B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单词串</a:t>
            </a:r>
            <a:r>
              <a:rPr lang="zh-CN" altLang="en-US" sz="2800" b="1" dirty="0">
                <a:solidFill>
                  <a:srgbClr val="3333CC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800" dirty="0">
                <a:solidFill>
                  <a:schemeClr val="hlink"/>
                </a:solidFill>
              </a:rPr>
              <a:t>string</a:t>
            </a:r>
            <a:r>
              <a:rPr lang="zh-CN" altLang="en-US" sz="2800" b="1" dirty="0">
                <a:solidFill>
                  <a:srgbClr val="3333CC"/>
                </a:solidFill>
                <a:latin typeface="宋体" panose="02010600030101010101" pitchFamily="2" charset="-122"/>
              </a:rPr>
              <a:t>）</a:t>
            </a:r>
            <a:r>
              <a:rPr lang="zh-CN" altLang="en-US" sz="2800" dirty="0"/>
              <a:t>：</a:t>
            </a:r>
            <a:r>
              <a:rPr lang="en-US" altLang="zh-CN" sz="2800" dirty="0"/>
              <a:t>0</a:t>
            </a:r>
            <a:r>
              <a:rPr lang="zh-CN" altLang="en-US" sz="2800" dirty="0"/>
              <a:t>个或多个单词构成的序列</a:t>
            </a:r>
          </a:p>
          <a:p>
            <a:pPr eaLnBrk="1" hangingPunct="1"/>
            <a:r>
              <a:rPr lang="zh-CN" altLang="en-US" sz="2800" b="1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推导</a:t>
            </a:r>
            <a:r>
              <a:rPr lang="zh-CN" altLang="en-US" sz="2800" b="1" dirty="0">
                <a:solidFill>
                  <a:srgbClr val="3333CC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800" dirty="0">
                <a:solidFill>
                  <a:schemeClr val="hlink"/>
                </a:solidFill>
                <a:ea typeface="黑体" panose="02010609060101010101" pitchFamily="49" charset="-122"/>
              </a:rPr>
              <a:t>derive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 lvl="1" eaLnBrk="1" hangingPunct="1"/>
            <a:r>
              <a:rPr lang="zh-CN" altLang="en-US" sz="2400" dirty="0">
                <a:solidFill>
                  <a:schemeClr val="folHlink"/>
                </a:solidFill>
              </a:rPr>
              <a:t>由开始符号作为推导起点</a:t>
            </a:r>
          </a:p>
          <a:p>
            <a:pPr lvl="1" eaLnBrk="1" hangingPunct="1"/>
            <a:r>
              <a:rPr lang="zh-CN" altLang="en-US" sz="2400" dirty="0">
                <a:solidFill>
                  <a:schemeClr val="folHlink"/>
                </a:solidFill>
              </a:rPr>
              <a:t>用产生式右部替换左部非终结符</a:t>
            </a:r>
          </a:p>
          <a:p>
            <a:pPr lvl="1" eaLnBrk="1" hangingPunct="1"/>
            <a:r>
              <a:rPr lang="zh-CN" altLang="en-US" sz="2400" dirty="0">
                <a:solidFill>
                  <a:schemeClr val="folHlink"/>
                </a:solidFill>
              </a:rPr>
              <a:t>反复替换，最终得到单词串</a:t>
            </a:r>
          </a:p>
          <a:p>
            <a:pPr eaLnBrk="1" hangingPunct="1"/>
            <a:r>
              <a:rPr lang="zh-CN" altLang="en-US" sz="2800" b="1" dirty="0">
                <a:solidFill>
                  <a:srgbClr val="3333CC"/>
                </a:solidFill>
                <a:ea typeface="黑体" panose="02010609060101010101" pitchFamily="49" charset="-122"/>
              </a:rPr>
              <a:t>语言</a:t>
            </a:r>
            <a:r>
              <a:rPr lang="zh-CN" altLang="en-US" sz="2800" b="1" dirty="0">
                <a:solidFill>
                  <a:srgbClr val="3333CC"/>
                </a:solidFill>
              </a:rPr>
              <a:t>（</a:t>
            </a:r>
            <a:r>
              <a:rPr lang="en-US" altLang="zh-CN" sz="2800" dirty="0">
                <a:solidFill>
                  <a:schemeClr val="hlink"/>
                </a:solidFill>
              </a:rPr>
              <a:t>language</a:t>
            </a:r>
            <a:r>
              <a:rPr lang="zh-CN" altLang="en-US" sz="2800" dirty="0"/>
              <a:t>）</a:t>
            </a:r>
            <a:br>
              <a:rPr lang="en-US" altLang="zh-CN" sz="2800" b="1" dirty="0">
                <a:solidFill>
                  <a:srgbClr val="3333CC"/>
                </a:solidFill>
              </a:rPr>
            </a:br>
            <a:r>
              <a:rPr lang="zh-CN" altLang="en-US" sz="2800" dirty="0"/>
              <a:t>文法所定义的语言</a:t>
            </a:r>
            <a:r>
              <a:rPr lang="en-US" altLang="zh-CN" sz="2800" dirty="0"/>
              <a:t>——</a:t>
            </a:r>
            <a:r>
              <a:rPr lang="zh-CN" altLang="en-US" sz="2800" dirty="0"/>
              <a:t>可由开始符号推导出的所有单词串的集合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4EAD00CB-C657-46D2-99FC-2D572F5F82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2.2</a:t>
            </a:r>
          </a:p>
        </p:txBody>
      </p:sp>
      <p:sp>
        <p:nvSpPr>
          <p:cNvPr id="20483" name="Text Box 4">
            <a:extLst>
              <a:ext uri="{FF2B5EF4-FFF2-40B4-BE49-F238E27FC236}">
                <a16:creationId xmlns:a16="http://schemas.microsoft.com/office/drawing/2014/main" id="{F587DA82-8E8E-42B3-9DC2-E8EA97B58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371600"/>
            <a:ext cx="7180263" cy="4167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 dirty="0"/>
              <a:t>前面定义的表达式的</a:t>
            </a:r>
            <a:r>
              <a:rPr kumimoji="0" lang="en-US" altLang="zh-CN" sz="2800" dirty="0"/>
              <a:t>CFG</a:t>
            </a:r>
            <a:r>
              <a:rPr kumimoji="0" lang="zh-CN" altLang="en-US" sz="2800" dirty="0"/>
              <a:t>，可按如下步骤推导出表达式：</a:t>
            </a:r>
            <a:r>
              <a:rPr kumimoji="0" lang="en-US" altLang="zh-CN" sz="2800" dirty="0"/>
              <a:t>9 - 5 + 2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i="1" dirty="0"/>
              <a:t>expr</a:t>
            </a:r>
            <a:r>
              <a:rPr kumimoji="0" lang="en-US" altLang="zh-CN" sz="2400" dirty="0"/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dirty="0"/>
              <a:t> </a:t>
            </a:r>
            <a:r>
              <a:rPr kumimoji="0" lang="en-US" altLang="zh-CN" sz="2400" dirty="0">
                <a:sym typeface="Math1" pitchFamily="2" charset="2"/>
              </a:rPr>
              <a:t> </a:t>
            </a:r>
            <a:r>
              <a:rPr kumimoji="0" lang="en-US" altLang="zh-CN" sz="2400" i="1" dirty="0">
                <a:solidFill>
                  <a:srgbClr val="0066FF"/>
                </a:solidFill>
                <a:sym typeface="Math1" pitchFamily="2" charset="2"/>
              </a:rPr>
              <a:t>expr </a:t>
            </a:r>
            <a:r>
              <a:rPr kumimoji="0" lang="en-US" altLang="zh-CN" sz="2400" i="1" dirty="0">
                <a:sym typeface="Math1" pitchFamily="2" charset="2"/>
              </a:rPr>
              <a:t>+</a:t>
            </a:r>
            <a:r>
              <a:rPr kumimoji="0" lang="en-US" altLang="zh-CN" sz="2400" i="1" dirty="0">
                <a:solidFill>
                  <a:srgbClr val="0066FF"/>
                </a:solidFill>
                <a:sym typeface="Math1" pitchFamily="2" charset="2"/>
              </a:rPr>
              <a:t> </a:t>
            </a:r>
            <a:r>
              <a:rPr kumimoji="0" lang="en-US" altLang="zh-CN" sz="2400" i="1" dirty="0">
                <a:solidFill>
                  <a:srgbClr val="00CC00"/>
                </a:solidFill>
                <a:sym typeface="Math1" pitchFamily="2" charset="2"/>
              </a:rPr>
              <a:t>digit</a:t>
            </a:r>
            <a:r>
              <a:rPr kumimoji="0" lang="en-US" altLang="zh-CN" sz="2400" dirty="0">
                <a:sym typeface="Math1" pitchFamily="2" charset="2"/>
              </a:rPr>
              <a:t>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ym typeface="Math1" pitchFamily="2" charset="2"/>
              </a:rPr>
              <a:t>     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dirty="0">
                <a:sym typeface="Math1" pitchFamily="2" charset="2"/>
              </a:rPr>
              <a:t>  </a:t>
            </a:r>
            <a:r>
              <a:rPr kumimoji="0" lang="en-US" altLang="zh-CN" sz="2400" i="1" dirty="0">
                <a:solidFill>
                  <a:srgbClr val="FF5050"/>
                </a:solidFill>
                <a:sym typeface="Math1" pitchFamily="2" charset="2"/>
              </a:rPr>
              <a:t>expr</a:t>
            </a:r>
            <a:r>
              <a:rPr kumimoji="0" lang="en-US" altLang="zh-CN" sz="2400" i="1" dirty="0">
                <a:solidFill>
                  <a:srgbClr val="0066FF"/>
                </a:solidFill>
                <a:sym typeface="Math1" pitchFamily="2" charset="2"/>
              </a:rPr>
              <a:t> - </a:t>
            </a:r>
            <a:r>
              <a:rPr kumimoji="0" lang="en-US" altLang="zh-CN" sz="2400" i="1" dirty="0">
                <a:solidFill>
                  <a:srgbClr val="FF5050"/>
                </a:solidFill>
                <a:sym typeface="Math1" pitchFamily="2" charset="2"/>
              </a:rPr>
              <a:t>digit</a:t>
            </a:r>
            <a:r>
              <a:rPr kumimoji="0" lang="en-US" altLang="zh-CN" sz="2400" i="1" dirty="0">
                <a:sym typeface="Math1" pitchFamily="2" charset="2"/>
              </a:rPr>
              <a:t> + </a:t>
            </a:r>
            <a:r>
              <a:rPr kumimoji="0" lang="en-US" altLang="zh-CN" sz="2400" i="1" dirty="0">
                <a:solidFill>
                  <a:srgbClr val="00CC00"/>
                </a:solidFill>
                <a:sym typeface="Math1" pitchFamily="2" charset="2"/>
              </a:rPr>
              <a:t>digit</a:t>
            </a:r>
            <a:r>
              <a:rPr kumimoji="0" lang="en-US" altLang="zh-CN" sz="2400" dirty="0">
                <a:sym typeface="Math1" pitchFamily="2" charset="2"/>
              </a:rPr>
              <a:t>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ym typeface="Math1" pitchFamily="2" charset="2"/>
              </a:rPr>
              <a:t>     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dirty="0">
                <a:sym typeface="Math1" pitchFamily="2" charset="2"/>
              </a:rPr>
              <a:t>  </a:t>
            </a:r>
            <a:r>
              <a:rPr kumimoji="0" lang="en-US" altLang="zh-CN" sz="2400" i="1" dirty="0">
                <a:solidFill>
                  <a:srgbClr val="FF66FF"/>
                </a:solidFill>
                <a:sym typeface="Math1" pitchFamily="2" charset="2"/>
              </a:rPr>
              <a:t>digit</a:t>
            </a:r>
            <a:r>
              <a:rPr kumimoji="0" lang="en-US" altLang="zh-CN" sz="2400" i="1" dirty="0">
                <a:sym typeface="Math1" pitchFamily="2" charset="2"/>
              </a:rPr>
              <a:t> - </a:t>
            </a:r>
            <a:r>
              <a:rPr kumimoji="0" lang="en-US" altLang="zh-CN" sz="2400" i="1" dirty="0">
                <a:solidFill>
                  <a:srgbClr val="FF5050"/>
                </a:solidFill>
                <a:sym typeface="Math1" pitchFamily="2" charset="2"/>
              </a:rPr>
              <a:t>digit</a:t>
            </a:r>
            <a:r>
              <a:rPr kumimoji="0" lang="en-US" altLang="zh-CN" sz="2400" i="1" dirty="0">
                <a:sym typeface="Math1" pitchFamily="2" charset="2"/>
              </a:rPr>
              <a:t> + </a:t>
            </a:r>
            <a:r>
              <a:rPr kumimoji="0" lang="en-US" altLang="zh-CN" sz="2400" i="1" dirty="0">
                <a:solidFill>
                  <a:srgbClr val="00CC00"/>
                </a:solidFill>
                <a:sym typeface="Math1" pitchFamily="2" charset="2"/>
              </a:rPr>
              <a:t>digit</a:t>
            </a:r>
            <a:r>
              <a:rPr kumimoji="0" lang="en-US" altLang="zh-CN" sz="2400" dirty="0">
                <a:sym typeface="Math1" pitchFamily="2" charset="2"/>
              </a:rPr>
              <a:t>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ym typeface="Math1" pitchFamily="2" charset="2"/>
              </a:rPr>
              <a:t>     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dirty="0">
                <a:sym typeface="Math1" pitchFamily="2" charset="2"/>
              </a:rPr>
              <a:t> </a:t>
            </a:r>
            <a:r>
              <a:rPr kumimoji="0" lang="en-US" altLang="zh-CN" sz="2400" dirty="0">
                <a:solidFill>
                  <a:srgbClr val="FF66FF"/>
                </a:solidFill>
                <a:sym typeface="Math1" pitchFamily="2" charset="2"/>
              </a:rPr>
              <a:t> 9</a:t>
            </a:r>
            <a:r>
              <a:rPr kumimoji="0" lang="en-US" altLang="zh-CN" sz="2400" dirty="0">
                <a:sym typeface="Math1" pitchFamily="2" charset="2"/>
              </a:rPr>
              <a:t> - </a:t>
            </a:r>
            <a:r>
              <a:rPr kumimoji="0" lang="en-US" altLang="zh-CN" sz="2400" i="1" dirty="0">
                <a:solidFill>
                  <a:srgbClr val="FF5050"/>
                </a:solidFill>
                <a:sym typeface="Math1" pitchFamily="2" charset="2"/>
              </a:rPr>
              <a:t>digit </a:t>
            </a:r>
            <a:r>
              <a:rPr kumimoji="0" lang="en-US" altLang="zh-CN" sz="2400" i="1" dirty="0">
                <a:sym typeface="Math1" pitchFamily="2" charset="2"/>
              </a:rPr>
              <a:t>+ </a:t>
            </a:r>
            <a:r>
              <a:rPr kumimoji="0" lang="en-US" altLang="zh-CN" sz="2400" i="1" dirty="0">
                <a:solidFill>
                  <a:srgbClr val="00CC00"/>
                </a:solidFill>
                <a:sym typeface="Math1" pitchFamily="2" charset="2"/>
              </a:rPr>
              <a:t>digit</a:t>
            </a:r>
            <a:r>
              <a:rPr kumimoji="0" lang="en-US" altLang="zh-CN" sz="2400" dirty="0">
                <a:sym typeface="Math1" pitchFamily="2" charset="2"/>
              </a:rPr>
              <a:t>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ym typeface="Math1" pitchFamily="2" charset="2"/>
              </a:rPr>
              <a:t>     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dirty="0">
                <a:sym typeface="Math1" pitchFamily="2" charset="2"/>
              </a:rPr>
              <a:t>  </a:t>
            </a:r>
            <a:r>
              <a:rPr kumimoji="0" lang="en-US" altLang="zh-CN" sz="2400" dirty="0">
                <a:solidFill>
                  <a:srgbClr val="FF66FF"/>
                </a:solidFill>
                <a:sym typeface="Math1" pitchFamily="2" charset="2"/>
              </a:rPr>
              <a:t>9</a:t>
            </a:r>
            <a:r>
              <a:rPr kumimoji="0" lang="en-US" altLang="zh-CN" sz="2400" dirty="0">
                <a:sym typeface="Math1" pitchFamily="2" charset="2"/>
              </a:rPr>
              <a:t> - </a:t>
            </a:r>
            <a:r>
              <a:rPr kumimoji="0" lang="en-US" altLang="zh-CN" sz="2400" dirty="0">
                <a:solidFill>
                  <a:srgbClr val="FF5050"/>
                </a:solidFill>
                <a:sym typeface="Math1" pitchFamily="2" charset="2"/>
              </a:rPr>
              <a:t>5</a:t>
            </a:r>
            <a:r>
              <a:rPr kumimoji="0" lang="en-US" altLang="zh-CN" sz="2400" dirty="0">
                <a:sym typeface="Math1" pitchFamily="2" charset="2"/>
              </a:rPr>
              <a:t> + </a:t>
            </a:r>
            <a:r>
              <a:rPr kumimoji="0" lang="en-US" altLang="zh-CN" sz="2400" i="1" dirty="0">
                <a:solidFill>
                  <a:srgbClr val="00CC00"/>
                </a:solidFill>
                <a:sym typeface="Math1" pitchFamily="2" charset="2"/>
              </a:rPr>
              <a:t>digit</a:t>
            </a:r>
            <a:r>
              <a:rPr kumimoji="0" lang="en-US" altLang="zh-CN" sz="2400" dirty="0">
                <a:sym typeface="Math1" pitchFamily="2" charset="2"/>
              </a:rPr>
              <a:t>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ym typeface="Math1" pitchFamily="2" charset="2"/>
              </a:rPr>
              <a:t>     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dirty="0">
                <a:sym typeface="Math1" pitchFamily="2" charset="2"/>
              </a:rPr>
              <a:t> </a:t>
            </a:r>
            <a:r>
              <a:rPr kumimoji="0" lang="en-US" altLang="zh-CN" sz="2400" dirty="0">
                <a:solidFill>
                  <a:srgbClr val="FF66FF"/>
                </a:solidFill>
                <a:sym typeface="Math1" pitchFamily="2" charset="2"/>
              </a:rPr>
              <a:t> 9</a:t>
            </a:r>
            <a:r>
              <a:rPr kumimoji="0" lang="en-US" altLang="zh-CN" sz="2400" dirty="0">
                <a:sym typeface="Math1" pitchFamily="2" charset="2"/>
              </a:rPr>
              <a:t> - </a:t>
            </a:r>
            <a:r>
              <a:rPr kumimoji="0" lang="en-US" altLang="zh-CN" sz="2400" dirty="0">
                <a:solidFill>
                  <a:srgbClr val="FF5050"/>
                </a:solidFill>
                <a:sym typeface="Math1" pitchFamily="2" charset="2"/>
              </a:rPr>
              <a:t>5</a:t>
            </a:r>
            <a:r>
              <a:rPr kumimoji="0" lang="en-US" altLang="zh-CN" sz="2400" dirty="0">
                <a:sym typeface="Math1" pitchFamily="2" charset="2"/>
              </a:rPr>
              <a:t> + </a:t>
            </a:r>
            <a:r>
              <a:rPr kumimoji="0" lang="en-US" altLang="zh-CN" sz="2400" dirty="0">
                <a:solidFill>
                  <a:srgbClr val="00CC00"/>
                </a:solidFill>
                <a:sym typeface="Math1" pitchFamily="2" charset="2"/>
              </a:rPr>
              <a:t>2</a:t>
            </a:r>
            <a:r>
              <a:rPr kumimoji="0" lang="en-US" altLang="zh-CN" sz="2400" dirty="0">
                <a:sym typeface="Math1" pitchFamily="2" charset="2"/>
              </a:rPr>
              <a:t> </a:t>
            </a:r>
          </a:p>
        </p:txBody>
      </p:sp>
      <p:sp>
        <p:nvSpPr>
          <p:cNvPr id="20484" name="Rectangle 5">
            <a:extLst>
              <a:ext uri="{FF2B5EF4-FFF2-40B4-BE49-F238E27FC236}">
                <a16:creationId xmlns:a16="http://schemas.microsoft.com/office/drawing/2014/main" id="{CF376D84-F80F-4A0E-880F-E421E734F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286000"/>
            <a:ext cx="7162800" cy="3303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>
              <a:ea typeface="隶书" panose="02010509060101010101" pitchFamily="49" charset="-122"/>
            </a:endParaRPr>
          </a:p>
        </p:txBody>
      </p:sp>
      <p:sp>
        <p:nvSpPr>
          <p:cNvPr id="20485" name="Text Box 6">
            <a:extLst>
              <a:ext uri="{FF2B5EF4-FFF2-40B4-BE49-F238E27FC236}">
                <a16:creationId xmlns:a16="http://schemas.microsoft.com/office/drawing/2014/main" id="{3225E641-E621-455A-BAD3-2E6A6DBC36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276872"/>
            <a:ext cx="3733800" cy="323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P1 :  </a:t>
            </a:r>
            <a:r>
              <a:rPr kumimoji="0" lang="en-US" altLang="zh-CN" sz="2400" i="1" dirty="0"/>
              <a:t>expr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i="1" dirty="0"/>
              <a:t>  </a:t>
            </a:r>
            <a:r>
              <a:rPr kumimoji="0" lang="en-US" altLang="zh-CN" sz="2400" i="1" dirty="0">
                <a:sym typeface="Math1" pitchFamily="2" charset="2"/>
              </a:rPr>
              <a:t>expr + digit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ym typeface="Math1" pitchFamily="2" charset="2"/>
              </a:rPr>
              <a:t>P2 : </a:t>
            </a:r>
            <a:r>
              <a:rPr kumimoji="0" lang="en-US" altLang="zh-CN" sz="2400" i="1" dirty="0">
                <a:sym typeface="Math1" pitchFamily="2" charset="2"/>
              </a:rPr>
              <a:t> expr</a:t>
            </a:r>
            <a:r>
              <a:rPr kumimoji="0" lang="en-US" altLang="zh-CN" sz="2400" dirty="0">
                <a:sym typeface="Math1" pitchFamily="2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dirty="0">
                <a:sym typeface="Math1" pitchFamily="2" charset="2"/>
              </a:rPr>
              <a:t>  </a:t>
            </a:r>
            <a:r>
              <a:rPr kumimoji="0" lang="en-US" altLang="zh-CN" sz="2400" i="1" dirty="0">
                <a:sym typeface="Math1" pitchFamily="2" charset="2"/>
              </a:rPr>
              <a:t>expr - digit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ym typeface="Math1" pitchFamily="2" charset="2"/>
              </a:rPr>
              <a:t>P3 :  </a:t>
            </a:r>
            <a:r>
              <a:rPr kumimoji="0" lang="en-US" altLang="zh-CN" sz="2400" i="1" dirty="0">
                <a:sym typeface="Math1" pitchFamily="2" charset="2"/>
              </a:rPr>
              <a:t>expr</a:t>
            </a:r>
            <a:r>
              <a:rPr kumimoji="0" lang="en-US" altLang="zh-CN" sz="2400" dirty="0">
                <a:sym typeface="Math1" pitchFamily="2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dirty="0">
                <a:sym typeface="Math1" pitchFamily="2" charset="2"/>
              </a:rPr>
              <a:t>  </a:t>
            </a:r>
            <a:r>
              <a:rPr kumimoji="0" lang="en-US" altLang="zh-CN" sz="2400" i="1" dirty="0">
                <a:sym typeface="Math1" pitchFamily="2" charset="2"/>
              </a:rPr>
              <a:t>digit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ym typeface="Math1" pitchFamily="2" charset="2"/>
              </a:rPr>
              <a:t>P4 : </a:t>
            </a:r>
            <a:r>
              <a:rPr kumimoji="0" lang="en-US" altLang="zh-CN" sz="2400" i="1" dirty="0">
                <a:sym typeface="Math1" pitchFamily="2" charset="2"/>
              </a:rPr>
              <a:t>digit</a:t>
            </a:r>
            <a:r>
              <a:rPr kumimoji="0" lang="en-US" altLang="zh-CN" sz="2400" dirty="0">
                <a:sym typeface="Math1" pitchFamily="2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dirty="0">
                <a:sym typeface="Math1" pitchFamily="2" charset="2"/>
              </a:rPr>
              <a:t>  9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ym typeface="Math1" pitchFamily="2" charset="2"/>
              </a:rPr>
              <a:t>P4 : </a:t>
            </a:r>
            <a:r>
              <a:rPr kumimoji="0" lang="en-US" altLang="zh-CN" sz="2400" i="1" dirty="0">
                <a:sym typeface="Math1" pitchFamily="2" charset="2"/>
              </a:rPr>
              <a:t>digit</a:t>
            </a:r>
            <a:r>
              <a:rPr kumimoji="0" lang="en-US" altLang="zh-CN" sz="2400" dirty="0">
                <a:sym typeface="Math1" pitchFamily="2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dirty="0">
                <a:sym typeface="Math1" pitchFamily="2" charset="2"/>
              </a:rPr>
              <a:t>  5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ym typeface="Math1" pitchFamily="2" charset="2"/>
              </a:rPr>
              <a:t>P4 : </a:t>
            </a:r>
            <a:r>
              <a:rPr kumimoji="0" lang="en-US" altLang="zh-CN" sz="2400" i="1" dirty="0">
                <a:sym typeface="Math1" pitchFamily="2" charset="2"/>
              </a:rPr>
              <a:t>digit</a:t>
            </a:r>
            <a:r>
              <a:rPr kumimoji="0" lang="en-US" altLang="zh-CN" sz="2400" dirty="0">
                <a:sym typeface="Math1" pitchFamily="2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dirty="0">
                <a:sym typeface="Math1" pitchFamily="2" charset="2"/>
              </a:rPr>
              <a:t>  2</a:t>
            </a:r>
          </a:p>
        </p:txBody>
      </p:sp>
      <p:sp>
        <p:nvSpPr>
          <p:cNvPr id="62471" name="Rectangle 7">
            <a:extLst>
              <a:ext uri="{FF2B5EF4-FFF2-40B4-BE49-F238E27FC236}">
                <a16:creationId xmlns:a16="http://schemas.microsoft.com/office/drawing/2014/main" id="{678551E2-E54B-497A-A6E3-475E53626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2348880"/>
            <a:ext cx="649287" cy="287337"/>
          </a:xfrm>
          <a:prstGeom prst="rect">
            <a:avLst/>
          </a:prstGeom>
          <a:noFill/>
          <a:ln w="28575">
            <a:solidFill>
              <a:schemeClr val="hlink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>
              <a:ea typeface="隶书" panose="02010509060101010101" pitchFamily="49" charset="-122"/>
            </a:endParaRPr>
          </a:p>
        </p:txBody>
      </p:sp>
      <p:sp>
        <p:nvSpPr>
          <p:cNvPr id="62472" name="Line 8">
            <a:extLst>
              <a:ext uri="{FF2B5EF4-FFF2-40B4-BE49-F238E27FC236}">
                <a16:creationId xmlns:a16="http://schemas.microsoft.com/office/drawing/2014/main" id="{F5BD8DB2-9170-4FBD-A01E-BD2D56484098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1413" y="2709242"/>
            <a:ext cx="1439862" cy="0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73" name="Rectangle 9">
            <a:extLst>
              <a:ext uri="{FF2B5EF4-FFF2-40B4-BE49-F238E27FC236}">
                <a16:creationId xmlns:a16="http://schemas.microsoft.com/office/drawing/2014/main" id="{9A86B018-C208-4676-B826-11865B5F7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8863" y="2382217"/>
            <a:ext cx="649287" cy="287338"/>
          </a:xfrm>
          <a:prstGeom prst="rect">
            <a:avLst/>
          </a:prstGeom>
          <a:noFill/>
          <a:ln w="28575">
            <a:solidFill>
              <a:schemeClr val="hlink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>
              <a:ea typeface="隶书" panose="02010509060101010101" pitchFamily="49" charset="-122"/>
            </a:endParaRPr>
          </a:p>
        </p:txBody>
      </p:sp>
      <p:sp>
        <p:nvSpPr>
          <p:cNvPr id="62474" name="Line 10">
            <a:extLst>
              <a:ext uri="{FF2B5EF4-FFF2-40B4-BE49-F238E27FC236}">
                <a16:creationId xmlns:a16="http://schemas.microsoft.com/office/drawing/2014/main" id="{7FD9AA4B-364C-44B7-9020-BA999F52B49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5513" y="3285505"/>
            <a:ext cx="1439862" cy="0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75" name="Rectangle 11">
            <a:extLst>
              <a:ext uri="{FF2B5EF4-FFF2-40B4-BE49-F238E27FC236}">
                <a16:creationId xmlns:a16="http://schemas.microsoft.com/office/drawing/2014/main" id="{3061E960-CD73-4997-B351-EA0A89D5E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4400" y="2907680"/>
            <a:ext cx="649288" cy="287337"/>
          </a:xfrm>
          <a:prstGeom prst="rect">
            <a:avLst/>
          </a:prstGeom>
          <a:noFill/>
          <a:ln w="28575">
            <a:solidFill>
              <a:schemeClr val="hlink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>
              <a:ea typeface="隶书" panose="02010509060101010101" pitchFamily="49" charset="-122"/>
            </a:endParaRPr>
          </a:p>
        </p:txBody>
      </p:sp>
      <p:sp>
        <p:nvSpPr>
          <p:cNvPr id="62476" name="Line 12">
            <a:extLst>
              <a:ext uri="{FF2B5EF4-FFF2-40B4-BE49-F238E27FC236}">
                <a16:creationId xmlns:a16="http://schemas.microsoft.com/office/drawing/2014/main" id="{64D34A3A-D93F-4881-898B-51AA22ECFE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68538" y="3839541"/>
            <a:ext cx="503238" cy="10517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77" name="Rectangle 13">
            <a:extLst>
              <a:ext uri="{FF2B5EF4-FFF2-40B4-BE49-F238E27FC236}">
                <a16:creationId xmlns:a16="http://schemas.microsoft.com/office/drawing/2014/main" id="{26806D1C-C30D-43BA-BBC9-304211D50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0750" y="3439492"/>
            <a:ext cx="649288" cy="287338"/>
          </a:xfrm>
          <a:prstGeom prst="rect">
            <a:avLst/>
          </a:prstGeom>
          <a:noFill/>
          <a:ln w="28575">
            <a:solidFill>
              <a:schemeClr val="hlink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>
              <a:ea typeface="隶书" panose="02010509060101010101" pitchFamily="49" charset="-122"/>
            </a:endParaRPr>
          </a:p>
        </p:txBody>
      </p:sp>
      <p:sp>
        <p:nvSpPr>
          <p:cNvPr id="62478" name="Line 14">
            <a:extLst>
              <a:ext uri="{FF2B5EF4-FFF2-40B4-BE49-F238E27FC236}">
                <a16:creationId xmlns:a16="http://schemas.microsoft.com/office/drawing/2014/main" id="{978CB492-9910-4C27-A8AC-D33CD12631D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5736" y="4333461"/>
            <a:ext cx="253573" cy="1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79" name="Rectangle 15">
            <a:extLst>
              <a:ext uri="{FF2B5EF4-FFF2-40B4-BE49-F238E27FC236}">
                <a16:creationId xmlns:a16="http://schemas.microsoft.com/office/drawing/2014/main" id="{813B379F-EED5-4E1D-B104-EC88AA637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5088" y="3988767"/>
            <a:ext cx="649287" cy="287338"/>
          </a:xfrm>
          <a:prstGeom prst="rect">
            <a:avLst/>
          </a:prstGeom>
          <a:noFill/>
          <a:ln w="28575">
            <a:solidFill>
              <a:schemeClr val="hlink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>
              <a:ea typeface="隶书" panose="02010509060101010101" pitchFamily="49" charset="-122"/>
            </a:endParaRPr>
          </a:p>
        </p:txBody>
      </p:sp>
      <p:sp>
        <p:nvSpPr>
          <p:cNvPr id="62480" name="Line 16">
            <a:extLst>
              <a:ext uri="{FF2B5EF4-FFF2-40B4-BE49-F238E27FC236}">
                <a16:creationId xmlns:a16="http://schemas.microsoft.com/office/drawing/2014/main" id="{12E92A9A-3E33-4072-A9A8-7AEAE4FE4D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4287" y="4865274"/>
            <a:ext cx="360363" cy="4555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81" name="Rectangle 17">
            <a:extLst>
              <a:ext uri="{FF2B5EF4-FFF2-40B4-BE49-F238E27FC236}">
                <a16:creationId xmlns:a16="http://schemas.microsoft.com/office/drawing/2014/main" id="{70021A7B-7FAD-441F-A593-B21EAA1FF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4520580"/>
            <a:ext cx="649287" cy="287337"/>
          </a:xfrm>
          <a:prstGeom prst="rect">
            <a:avLst/>
          </a:prstGeom>
          <a:noFill/>
          <a:ln w="28575">
            <a:solidFill>
              <a:schemeClr val="hlink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>
              <a:ea typeface="隶书" panose="02010509060101010101" pitchFamily="49" charset="-122"/>
            </a:endParaRPr>
          </a:p>
        </p:txBody>
      </p:sp>
      <p:sp>
        <p:nvSpPr>
          <p:cNvPr id="62482" name="Line 18">
            <a:extLst>
              <a:ext uri="{FF2B5EF4-FFF2-40B4-BE49-F238E27FC236}">
                <a16:creationId xmlns:a16="http://schemas.microsoft.com/office/drawing/2014/main" id="{8C0E167E-1968-499E-9CFC-7FE144A5DC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09727" y="5373066"/>
            <a:ext cx="338137" cy="149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8" name="Rectangle 19">
            <a:extLst>
              <a:ext uri="{FF2B5EF4-FFF2-40B4-BE49-F238E27FC236}">
                <a16:creationId xmlns:a16="http://schemas.microsoft.com/office/drawing/2014/main" id="{18C98E54-8E55-447A-84F0-58EBCB9A4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546725"/>
            <a:ext cx="3895725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 dirty="0">
                <a:ea typeface="隶书" panose="02010509060101010101" pitchFamily="49" charset="-122"/>
              </a:rPr>
              <a:t>expr</a:t>
            </a:r>
            <a:r>
              <a:rPr kumimoji="0" lang="en-US" altLang="zh-CN" sz="2000" dirty="0">
                <a:ea typeface="隶书" panose="02010509060101010101" pitchFamily="49" charset="-122"/>
              </a:rPr>
              <a:t> </a:t>
            </a:r>
            <a:r>
              <a:rPr kumimoji="0" lang="en-US" altLang="zh-CN" sz="2000" dirty="0">
                <a:ea typeface="隶书" panose="02010509060101010101" pitchFamily="49" charset="-122"/>
                <a:sym typeface="Symbol" panose="05050102010706020507" pitchFamily="18" charset="2"/>
              </a:rPr>
              <a:t></a:t>
            </a:r>
            <a:r>
              <a:rPr kumimoji="0" lang="en-US" altLang="zh-CN" sz="2000" dirty="0">
                <a:ea typeface="隶书" panose="02010509060101010101" pitchFamily="49" charset="-122"/>
              </a:rPr>
              <a:t> </a:t>
            </a:r>
            <a:r>
              <a:rPr kumimoji="0" lang="en-US" altLang="zh-CN" sz="2000" i="1" dirty="0">
                <a:ea typeface="隶书" panose="02010509060101010101" pitchFamily="49" charset="-122"/>
                <a:sym typeface="Math1" pitchFamily="2" charset="2"/>
              </a:rPr>
              <a:t>expr + digit</a:t>
            </a:r>
            <a:br>
              <a:rPr kumimoji="0" lang="en-US" altLang="zh-CN" sz="2000" i="1" dirty="0">
                <a:ea typeface="隶书" panose="02010509060101010101" pitchFamily="49" charset="-122"/>
                <a:sym typeface="Math1" pitchFamily="2" charset="2"/>
              </a:rPr>
            </a:br>
            <a:r>
              <a:rPr kumimoji="0" lang="en-US" altLang="zh-CN" sz="2000" i="1" dirty="0">
                <a:ea typeface="隶书" panose="02010509060101010101" pitchFamily="49" charset="-122"/>
                <a:sym typeface="Math1" pitchFamily="2" charset="2"/>
              </a:rPr>
              <a:t>expr</a:t>
            </a:r>
            <a:r>
              <a:rPr kumimoji="0" lang="en-US" altLang="zh-CN" sz="2000" dirty="0">
                <a:ea typeface="隶书" panose="02010509060101010101" pitchFamily="49" charset="-122"/>
                <a:sym typeface="Math1" pitchFamily="2" charset="2"/>
              </a:rPr>
              <a:t> </a:t>
            </a:r>
            <a:r>
              <a:rPr kumimoji="0" lang="en-US" altLang="zh-CN" sz="2000" dirty="0">
                <a:ea typeface="隶书" panose="02010509060101010101" pitchFamily="49" charset="-122"/>
                <a:sym typeface="Symbol" panose="05050102010706020507" pitchFamily="18" charset="2"/>
              </a:rPr>
              <a:t></a:t>
            </a:r>
            <a:r>
              <a:rPr kumimoji="0" lang="en-US" altLang="zh-CN" sz="2000" dirty="0">
                <a:ea typeface="隶书" panose="02010509060101010101" pitchFamily="49" charset="-122"/>
                <a:sym typeface="Math1" pitchFamily="2" charset="2"/>
              </a:rPr>
              <a:t> </a:t>
            </a:r>
            <a:r>
              <a:rPr kumimoji="0" lang="en-US" altLang="zh-CN" sz="2000" i="1" dirty="0">
                <a:ea typeface="隶书" panose="02010509060101010101" pitchFamily="49" charset="-122"/>
                <a:sym typeface="Math1" pitchFamily="2" charset="2"/>
              </a:rPr>
              <a:t>expr – digit</a:t>
            </a:r>
            <a:br>
              <a:rPr kumimoji="0" lang="en-US" altLang="zh-CN" sz="2000" i="1" dirty="0">
                <a:ea typeface="隶书" panose="02010509060101010101" pitchFamily="49" charset="-122"/>
                <a:sym typeface="Math1" pitchFamily="2" charset="2"/>
              </a:rPr>
            </a:br>
            <a:r>
              <a:rPr kumimoji="0" lang="en-US" altLang="zh-CN" sz="2000" i="1" dirty="0">
                <a:ea typeface="隶书" panose="02010509060101010101" pitchFamily="49" charset="-122"/>
                <a:sym typeface="Math1" pitchFamily="2" charset="2"/>
              </a:rPr>
              <a:t>expr</a:t>
            </a:r>
            <a:r>
              <a:rPr kumimoji="0" lang="en-US" altLang="zh-CN" sz="2000" dirty="0">
                <a:ea typeface="隶书" panose="02010509060101010101" pitchFamily="49" charset="-122"/>
                <a:sym typeface="Math1" pitchFamily="2" charset="2"/>
              </a:rPr>
              <a:t> </a:t>
            </a:r>
            <a:r>
              <a:rPr kumimoji="0" lang="en-US" altLang="zh-CN" sz="2000" dirty="0">
                <a:ea typeface="隶书" panose="02010509060101010101" pitchFamily="49" charset="-122"/>
                <a:sym typeface="Symbol" panose="05050102010706020507" pitchFamily="18" charset="2"/>
              </a:rPr>
              <a:t></a:t>
            </a:r>
            <a:r>
              <a:rPr kumimoji="0" lang="en-US" altLang="zh-CN" sz="2000" dirty="0">
                <a:ea typeface="隶书" panose="02010509060101010101" pitchFamily="49" charset="-122"/>
                <a:sym typeface="Math1" pitchFamily="2" charset="2"/>
              </a:rPr>
              <a:t> </a:t>
            </a:r>
            <a:r>
              <a:rPr kumimoji="0" lang="en-US" altLang="zh-CN" sz="2000" i="1" dirty="0">
                <a:ea typeface="隶书" panose="02010509060101010101" pitchFamily="49" charset="-122"/>
                <a:sym typeface="Math1" pitchFamily="2" charset="2"/>
              </a:rPr>
              <a:t>digit</a:t>
            </a:r>
            <a:br>
              <a:rPr kumimoji="0" lang="en-US" altLang="zh-CN" sz="2000" i="1" dirty="0">
                <a:ea typeface="隶书" panose="02010509060101010101" pitchFamily="49" charset="-122"/>
                <a:sym typeface="Math1" pitchFamily="2" charset="2"/>
              </a:rPr>
            </a:br>
            <a:r>
              <a:rPr kumimoji="0" lang="en-US" altLang="zh-CN" sz="2000" i="1" dirty="0" err="1">
                <a:ea typeface="隶书" panose="02010509060101010101" pitchFamily="49" charset="-122"/>
                <a:sym typeface="Math1" pitchFamily="2" charset="2"/>
              </a:rPr>
              <a:t>digit</a:t>
            </a:r>
            <a:r>
              <a:rPr kumimoji="0" lang="en-US" altLang="zh-CN" sz="2000" dirty="0">
                <a:ea typeface="隶书" panose="02010509060101010101" pitchFamily="49" charset="-122"/>
                <a:sym typeface="Math1" pitchFamily="2" charset="2"/>
              </a:rPr>
              <a:t> </a:t>
            </a:r>
            <a:r>
              <a:rPr kumimoji="0" lang="en-US" altLang="zh-CN" sz="2000" dirty="0">
                <a:ea typeface="隶书" panose="02010509060101010101" pitchFamily="49" charset="-122"/>
                <a:sym typeface="Symbol" panose="05050102010706020507" pitchFamily="18" charset="2"/>
              </a:rPr>
              <a:t></a:t>
            </a:r>
            <a:r>
              <a:rPr kumimoji="0" lang="en-US" altLang="zh-CN" sz="2000" b="1" dirty="0">
                <a:ea typeface="隶书" panose="02010509060101010101" pitchFamily="49" charset="-122"/>
                <a:sym typeface="Math1" pitchFamily="2" charset="2"/>
              </a:rPr>
              <a:t> </a:t>
            </a:r>
            <a:r>
              <a:rPr kumimoji="0" lang="en-US" altLang="zh-CN" sz="2000" dirty="0">
                <a:ea typeface="隶书" panose="02010509060101010101" pitchFamily="49" charset="-122"/>
                <a:sym typeface="Math1" pitchFamily="2" charset="2"/>
              </a:rPr>
              <a:t>0 | 1 | 2 | 3 | 4 | 5 | 6 | 7 | 8 | 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6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16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62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2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4" presetClass="entr" presetSubtype="16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62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2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4" presetClass="entr" presetSubtype="16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62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2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4" presetClass="entr" presetSubtype="16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62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2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4" presetClass="entr" presetSubtype="16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62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1" grpId="0" animBg="1"/>
      <p:bldP spid="62473" grpId="0" animBg="1"/>
      <p:bldP spid="62475" grpId="0" animBg="1"/>
      <p:bldP spid="62477" grpId="0" animBg="1"/>
      <p:bldP spid="62479" grpId="0" animBg="1"/>
      <p:bldP spid="6248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0D8F65D5-C625-4A80-9F96-116F23D6D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2.2.1  </a:t>
            </a:r>
            <a:r>
              <a:rPr lang="zh-CN" altLang="en-US" dirty="0"/>
              <a:t>语法分析树（</a:t>
            </a:r>
            <a:r>
              <a:rPr lang="en-US" altLang="zh-CN" dirty="0">
                <a:solidFill>
                  <a:schemeClr val="hlink"/>
                </a:solidFill>
              </a:rPr>
              <a:t>parse tree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CC2A5351-4834-4CB9-ABF1-4F19672911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可看作推导过程的图示，推导</a:t>
            </a:r>
            <a:r>
              <a:rPr lang="zh-CN" altLang="en-US" dirty="0">
                <a:sym typeface="Wingdings" panose="05000000000000000000" pitchFamily="2" charset="2"/>
              </a:rPr>
              <a:t>语法树</a:t>
            </a:r>
            <a:r>
              <a:rPr lang="zh-CN" altLang="en-US" dirty="0"/>
              <a:t>：</a:t>
            </a:r>
          </a:p>
          <a:p>
            <a:pPr lvl="1" eaLnBrk="1" hangingPunct="1"/>
            <a:r>
              <a:rPr lang="zh-CN" altLang="en-US" dirty="0"/>
              <a:t>根节点标记为开始符号</a:t>
            </a:r>
          </a:p>
          <a:p>
            <a:pPr lvl="1" eaLnBrk="1" hangingPunct="1"/>
            <a:r>
              <a:rPr lang="zh-CN" altLang="en-US" dirty="0"/>
              <a:t>每个叶节点用一个</a:t>
            </a:r>
            <a:r>
              <a:rPr lang="en-US" altLang="zh-CN" dirty="0"/>
              <a:t>T</a:t>
            </a:r>
            <a:r>
              <a:rPr lang="zh-CN" altLang="en-US" dirty="0"/>
              <a:t>或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lang="zh-CN" altLang="en-US" dirty="0"/>
              <a:t>标记</a:t>
            </a:r>
            <a:endParaRPr kumimoji="0" lang="zh-CN" altLang="en-US" dirty="0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zh-CN" altLang="en-US" dirty="0">
                <a:sym typeface="Symbol" panose="05050102010706020507" pitchFamily="18" charset="2"/>
              </a:rPr>
              <a:t>每个内部节点用一个</a:t>
            </a:r>
            <a:r>
              <a:rPr kumimoji="0" lang="en-US" altLang="zh-CN" dirty="0">
                <a:sym typeface="Symbol" panose="05050102010706020507" pitchFamily="18" charset="2"/>
              </a:rPr>
              <a:t>NT</a:t>
            </a:r>
            <a:r>
              <a:rPr lang="zh-CN" altLang="en-US" dirty="0"/>
              <a:t>标记</a:t>
            </a:r>
            <a:endParaRPr kumimoji="0" lang="zh-CN" altLang="en-US" dirty="0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zh-CN" altLang="en-US" dirty="0">
                <a:sym typeface="Symbol" panose="05050102010706020507" pitchFamily="18" charset="2"/>
              </a:rPr>
              <a:t>节点</a:t>
            </a:r>
            <a:r>
              <a:rPr kumimoji="0" lang="en-US" altLang="zh-CN" dirty="0">
                <a:sym typeface="Symbol" panose="05050102010706020507" pitchFamily="18" charset="2"/>
              </a:rPr>
              <a:t>A</a:t>
            </a:r>
            <a:r>
              <a:rPr kumimoji="0" lang="zh-CN" altLang="en-US" dirty="0">
                <a:sym typeface="Symbol" panose="05050102010706020507" pitchFamily="18" charset="2"/>
              </a:rPr>
              <a:t>，孩子节点</a:t>
            </a:r>
            <a:r>
              <a:rPr kumimoji="0" lang="en-US" altLang="zh-CN" dirty="0">
                <a:sym typeface="Symbol" panose="05050102010706020507" pitchFamily="18" charset="2"/>
              </a:rPr>
              <a:t>X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1</a:t>
            </a:r>
            <a:r>
              <a:rPr kumimoji="0" lang="zh-CN" altLang="en-US" dirty="0">
                <a:sym typeface="Symbol" panose="05050102010706020507" pitchFamily="18" charset="2"/>
              </a:rPr>
              <a:t>，</a:t>
            </a:r>
            <a:r>
              <a:rPr kumimoji="0" lang="en-US" altLang="zh-CN" dirty="0">
                <a:sym typeface="Symbol" panose="05050102010706020507" pitchFamily="18" charset="2"/>
              </a:rPr>
              <a:t>X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2</a:t>
            </a:r>
            <a:r>
              <a:rPr kumimoji="0" lang="zh-CN" altLang="en-US" dirty="0">
                <a:sym typeface="Symbol" panose="05050102010706020507" pitchFamily="18" charset="2"/>
              </a:rPr>
              <a:t>，</a:t>
            </a:r>
            <a:r>
              <a:rPr kumimoji="0" lang="en-US" altLang="zh-CN" dirty="0">
                <a:latin typeface="Tahoma" panose="020B0604030504040204" pitchFamily="34" charset="0"/>
                <a:sym typeface="Symbol" panose="05050102010706020507" pitchFamily="18" charset="2"/>
              </a:rPr>
              <a:t>…</a:t>
            </a:r>
            <a:r>
              <a:rPr kumimoji="0" lang="zh-CN" altLang="en-US" dirty="0">
                <a:sym typeface="Symbol" panose="05050102010706020507" pitchFamily="18" charset="2"/>
              </a:rPr>
              <a:t>，</a:t>
            </a:r>
            <a:r>
              <a:rPr kumimoji="0" lang="en-US" altLang="zh-CN" dirty="0" err="1">
                <a:sym typeface="Symbol" panose="05050102010706020507" pitchFamily="18" charset="2"/>
              </a:rPr>
              <a:t>X</a:t>
            </a:r>
            <a:r>
              <a:rPr kumimoji="0" lang="en-US" altLang="zh-CN" baseline="-25000" dirty="0" err="1">
                <a:sym typeface="Symbol" panose="05050102010706020507" pitchFamily="18" charset="2"/>
              </a:rPr>
              <a:t>n</a:t>
            </a:r>
            <a:r>
              <a:rPr kumimoji="0" lang="en-US" altLang="zh-CN" dirty="0">
                <a:sym typeface="Wingdings" panose="05000000000000000000" pitchFamily="2" charset="2"/>
              </a:rPr>
              <a:t></a:t>
            </a:r>
            <a:br>
              <a:rPr kumimoji="0" lang="en-US" altLang="zh-CN" dirty="0">
                <a:sym typeface="Wingdings" panose="05000000000000000000" pitchFamily="2" charset="2"/>
              </a:rPr>
            </a:br>
            <a:r>
              <a:rPr kumimoji="0" lang="zh-CN" altLang="en-US" dirty="0">
                <a:sym typeface="Wingdings" panose="05000000000000000000" pitchFamily="2" charset="2"/>
              </a:rPr>
              <a:t>节点应用了产生式</a:t>
            </a:r>
            <a:r>
              <a:rPr kumimoji="0" lang="en-US" altLang="zh-CN" dirty="0">
                <a:sym typeface="Symbol" panose="05050102010706020507" pitchFamily="18" charset="2"/>
              </a:rPr>
              <a:t>A</a:t>
            </a:r>
            <a:r>
              <a:rPr kumimoji="0" lang="en-US" altLang="zh-CN" b="1" dirty="0">
                <a:sym typeface="Symbol" panose="05050102010706020507" pitchFamily="18" charset="2"/>
              </a:rPr>
              <a:t> </a:t>
            </a:r>
            <a:r>
              <a:rPr kumimoji="0" lang="en-US" altLang="zh-CN" dirty="0">
                <a:sym typeface="Symbol" panose="05050102010706020507" pitchFamily="18" charset="2"/>
              </a:rPr>
              <a:t>X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dirty="0">
                <a:sym typeface="Symbol" panose="05050102010706020507" pitchFamily="18" charset="2"/>
              </a:rPr>
              <a:t>X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dirty="0">
                <a:latin typeface="Tahoma" panose="020B0604030504040204" pitchFamily="34" charset="0"/>
                <a:sym typeface="Symbol" panose="05050102010706020507" pitchFamily="18" charset="2"/>
              </a:rPr>
              <a:t>…</a:t>
            </a:r>
            <a:r>
              <a:rPr kumimoji="0" lang="en-US" altLang="zh-CN" dirty="0" err="1">
                <a:sym typeface="Symbol" panose="05050102010706020507" pitchFamily="18" charset="2"/>
              </a:rPr>
              <a:t>X</a:t>
            </a:r>
            <a:r>
              <a:rPr kumimoji="0" lang="en-US" altLang="zh-CN" baseline="-25000" dirty="0" err="1">
                <a:sym typeface="Symbol" panose="05050102010706020507" pitchFamily="18" charset="2"/>
              </a:rPr>
              <a:t>n</a:t>
            </a:r>
            <a:endParaRPr kumimoji="0" lang="en-US" altLang="zh-CN" baseline="-25000" dirty="0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zh-CN" altLang="en-US" dirty="0">
                <a:sym typeface="Symbol" panose="05050102010706020507" pitchFamily="18" charset="2"/>
              </a:rPr>
              <a:t>对</a:t>
            </a:r>
            <a:r>
              <a:rPr kumimoji="0" lang="en-US" altLang="zh-CN" dirty="0" err="1">
                <a:sym typeface="Symbol" panose="05050102010706020507" pitchFamily="18" charset="2"/>
              </a:rPr>
              <a:t>A</a:t>
            </a:r>
            <a:r>
              <a:rPr kumimoji="0" lang="en-US" altLang="zh-CN" b="1" dirty="0" err="1">
                <a:sym typeface="Symbol" panose="05050102010706020507" pitchFamily="18" charset="2"/>
              </a:rPr>
              <a:t></a:t>
            </a:r>
            <a:r>
              <a:rPr kumimoji="0" lang="en-US" altLang="zh-CN" dirty="0" err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dirty="0">
                <a:sym typeface="Symbol" panose="05050102010706020507" pitchFamily="18" charset="2"/>
              </a:rPr>
              <a:t> </a:t>
            </a:r>
            <a:r>
              <a:rPr kumimoji="0" lang="zh-CN" altLang="en-US" dirty="0">
                <a:sym typeface="Symbol" panose="05050102010706020507" pitchFamily="18" charset="2"/>
              </a:rPr>
              <a:t>，节点</a:t>
            </a:r>
            <a:r>
              <a:rPr kumimoji="0" lang="en-US" altLang="zh-CN" dirty="0">
                <a:sym typeface="Symbol" panose="05050102010706020507" pitchFamily="18" charset="2"/>
              </a:rPr>
              <a:t>A</a:t>
            </a:r>
            <a:r>
              <a:rPr kumimoji="0" lang="zh-CN" altLang="en-US" dirty="0">
                <a:sym typeface="Symbol" panose="05050102010706020507" pitchFamily="18" charset="2"/>
              </a:rPr>
              <a:t>只有一个孩子节点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32074641-B971-4EDF-A1C4-F8A8D63A8A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2.4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4FEC90FB-0682-4B48-AB34-0B0B39AD03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4038600"/>
            <a:ext cx="7812088" cy="1752600"/>
          </a:xfrm>
        </p:spPr>
        <p:txBody>
          <a:bodyPr/>
          <a:lstStyle/>
          <a:p>
            <a:pPr eaLnBrk="1" hangingPunct="1"/>
            <a:r>
              <a:rPr lang="zh-CN" altLang="en-US" sz="2800"/>
              <a:t>叶节点从左至右构成树的</a:t>
            </a:r>
            <a:r>
              <a:rPr lang="zh-CN" altLang="en-US" sz="2800" b="1">
                <a:solidFill>
                  <a:srgbClr val="3333CC"/>
                </a:solidFill>
                <a:ea typeface="黑体" panose="02010609060101010101" pitchFamily="49" charset="-122"/>
              </a:rPr>
              <a:t>输出</a:t>
            </a:r>
            <a:r>
              <a:rPr lang="zh-CN" altLang="en-US" sz="2800" b="1">
                <a:solidFill>
                  <a:srgbClr val="3333CC"/>
                </a:solidFill>
              </a:rPr>
              <a:t>（</a:t>
            </a:r>
            <a:r>
              <a:rPr lang="en-US" altLang="zh-CN" sz="2800" b="1">
                <a:solidFill>
                  <a:srgbClr val="FF3300"/>
                </a:solidFill>
              </a:rPr>
              <a:t>yield</a:t>
            </a:r>
            <a:r>
              <a:rPr lang="zh-CN" altLang="en-US" sz="2800" b="1">
                <a:solidFill>
                  <a:srgbClr val="3333CC"/>
                </a:solidFill>
              </a:rPr>
              <a:t>）</a:t>
            </a:r>
            <a:br>
              <a:rPr lang="zh-CN" altLang="en-US" sz="2800"/>
            </a:br>
            <a:r>
              <a:rPr lang="zh-CN" altLang="en-US" sz="2800">
                <a:sym typeface="Wingdings" panose="05000000000000000000" pitchFamily="2" charset="2"/>
              </a:rPr>
              <a:t>开始符号</a:t>
            </a:r>
            <a:r>
              <a:rPr lang="zh-CN" altLang="en-US" sz="2800" b="1">
                <a:solidFill>
                  <a:srgbClr val="3333CC"/>
                </a:solidFill>
                <a:ea typeface="黑体" panose="02010609060101010101" pitchFamily="49" charset="-122"/>
                <a:sym typeface="Wingdings" panose="05000000000000000000" pitchFamily="2" charset="2"/>
              </a:rPr>
              <a:t>推导出</a:t>
            </a:r>
            <a:r>
              <a:rPr lang="zh-CN" altLang="en-US" sz="2800" b="1">
                <a:solidFill>
                  <a:srgbClr val="3333CC"/>
                </a:solidFill>
                <a:sym typeface="Wingdings" panose="05000000000000000000" pitchFamily="2" charset="2"/>
              </a:rPr>
              <a:t>（</a:t>
            </a:r>
            <a:r>
              <a:rPr lang="zh-CN" altLang="en-US" sz="2800" b="1">
                <a:solidFill>
                  <a:srgbClr val="3333CC"/>
                </a:solidFill>
                <a:ea typeface="黑体" panose="02010609060101010101" pitchFamily="49" charset="-122"/>
                <a:sym typeface="Wingdings" panose="05000000000000000000" pitchFamily="2" charset="2"/>
              </a:rPr>
              <a:t>生成</a:t>
            </a:r>
            <a:r>
              <a:rPr lang="zh-CN" altLang="en-US" sz="2800" b="1">
                <a:solidFill>
                  <a:srgbClr val="3333CC"/>
                </a:solidFill>
                <a:sym typeface="Wingdings" panose="05000000000000000000" pitchFamily="2" charset="2"/>
              </a:rPr>
              <a:t>）</a:t>
            </a:r>
            <a:r>
              <a:rPr lang="zh-CN" altLang="en-US" sz="2800">
                <a:sym typeface="Wingdings" panose="05000000000000000000" pitchFamily="2" charset="2"/>
              </a:rPr>
              <a:t>的单词串</a:t>
            </a:r>
          </a:p>
          <a:p>
            <a:pPr eaLnBrk="1" hangingPunct="1"/>
            <a:r>
              <a:rPr lang="zh-CN" altLang="en-US" sz="2800" b="1">
                <a:solidFill>
                  <a:srgbClr val="3333CC"/>
                </a:solidFill>
                <a:ea typeface="黑体" panose="02010609060101010101" pitchFamily="49" charset="-122"/>
                <a:sym typeface="Wingdings" panose="05000000000000000000" pitchFamily="2" charset="2"/>
              </a:rPr>
              <a:t>语言</a:t>
            </a:r>
            <a:r>
              <a:rPr lang="zh-CN" altLang="en-US" sz="2800">
                <a:sym typeface="Wingdings" panose="05000000000000000000" pitchFamily="2" charset="2"/>
              </a:rPr>
              <a:t>：语法分析树生成的单词串集合</a:t>
            </a:r>
            <a:endParaRPr lang="zh-CN" altLang="en-US" sz="2800"/>
          </a:p>
        </p:txBody>
      </p:sp>
      <p:sp>
        <p:nvSpPr>
          <p:cNvPr id="23556" name="Text Box 5">
            <a:extLst>
              <a:ext uri="{FF2B5EF4-FFF2-40B4-BE49-F238E27FC236}">
                <a16:creationId xmlns:a16="http://schemas.microsoft.com/office/drawing/2014/main" id="{D6CCD529-FDFD-4BA2-8E2E-6DBF2C9F1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5013" y="1219200"/>
            <a:ext cx="14335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 i="1"/>
              <a:t>expr</a:t>
            </a:r>
          </a:p>
        </p:txBody>
      </p:sp>
      <p:sp>
        <p:nvSpPr>
          <p:cNvPr id="66566" name="Text Box 6">
            <a:extLst>
              <a:ext uri="{FF2B5EF4-FFF2-40B4-BE49-F238E27FC236}">
                <a16:creationId xmlns:a16="http://schemas.microsoft.com/office/drawing/2014/main" id="{33FDD594-AB27-4FBA-83C9-51808639E4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0288" y="1747838"/>
            <a:ext cx="14335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 i="1">
                <a:solidFill>
                  <a:srgbClr val="00CC00"/>
                </a:solidFill>
              </a:rPr>
              <a:t>digit</a:t>
            </a:r>
            <a:endParaRPr kumimoji="0" lang="en-US" altLang="zh-CN" sz="2800" b="1" i="1"/>
          </a:p>
        </p:txBody>
      </p:sp>
      <p:sp>
        <p:nvSpPr>
          <p:cNvPr id="66567" name="Text Box 7">
            <a:extLst>
              <a:ext uri="{FF2B5EF4-FFF2-40B4-BE49-F238E27FC236}">
                <a16:creationId xmlns:a16="http://schemas.microsoft.com/office/drawing/2014/main" id="{B61A6670-286C-41AE-B989-B59A72E0D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2425700"/>
            <a:ext cx="14335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 i="1">
                <a:solidFill>
                  <a:srgbClr val="FF5050"/>
                </a:solidFill>
              </a:rPr>
              <a:t>digit</a:t>
            </a:r>
            <a:endParaRPr kumimoji="0" lang="en-US" altLang="zh-CN" sz="2800" b="1" i="1"/>
          </a:p>
        </p:txBody>
      </p:sp>
      <p:sp>
        <p:nvSpPr>
          <p:cNvPr id="66568" name="Text Box 8">
            <a:extLst>
              <a:ext uri="{FF2B5EF4-FFF2-40B4-BE49-F238E27FC236}">
                <a16:creationId xmlns:a16="http://schemas.microsoft.com/office/drawing/2014/main" id="{878EE0D1-2AC6-4BCD-8008-71F6AE217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1747838"/>
            <a:ext cx="1435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 i="1">
                <a:solidFill>
                  <a:srgbClr val="0066FF"/>
                </a:solidFill>
              </a:rPr>
              <a:t>expr</a:t>
            </a:r>
            <a:endParaRPr kumimoji="0" lang="en-US" altLang="zh-CN" sz="2800" b="1" i="1"/>
          </a:p>
        </p:txBody>
      </p:sp>
      <p:sp>
        <p:nvSpPr>
          <p:cNvPr id="66569" name="Text Box 9">
            <a:extLst>
              <a:ext uri="{FF2B5EF4-FFF2-40B4-BE49-F238E27FC236}">
                <a16:creationId xmlns:a16="http://schemas.microsoft.com/office/drawing/2014/main" id="{21E4F1C6-1938-415F-8C62-2C91C269D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182938"/>
            <a:ext cx="14335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 i="1">
                <a:solidFill>
                  <a:srgbClr val="FF66FF"/>
                </a:solidFill>
              </a:rPr>
              <a:t>digit</a:t>
            </a:r>
            <a:endParaRPr kumimoji="0" lang="en-US" altLang="zh-CN" sz="2800" b="1" i="1"/>
          </a:p>
        </p:txBody>
      </p:sp>
      <p:sp>
        <p:nvSpPr>
          <p:cNvPr id="66570" name="Text Box 10">
            <a:extLst>
              <a:ext uri="{FF2B5EF4-FFF2-40B4-BE49-F238E27FC236}">
                <a16:creationId xmlns:a16="http://schemas.microsoft.com/office/drawing/2014/main" id="{1343773A-6FC4-42B1-B119-D5B97BEE3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2425700"/>
            <a:ext cx="1433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 i="1">
                <a:solidFill>
                  <a:srgbClr val="FF5050"/>
                </a:solidFill>
              </a:rPr>
              <a:t>expr</a:t>
            </a:r>
            <a:endParaRPr kumimoji="0" lang="en-US" altLang="zh-CN" sz="2800" b="1" i="1"/>
          </a:p>
        </p:txBody>
      </p:sp>
      <p:sp>
        <p:nvSpPr>
          <p:cNvPr id="66571" name="Text Box 11">
            <a:extLst>
              <a:ext uri="{FF2B5EF4-FFF2-40B4-BE49-F238E27FC236}">
                <a16:creationId xmlns:a16="http://schemas.microsoft.com/office/drawing/2014/main" id="{567BAC71-D845-4294-AC08-9E05017B1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6925" y="3709988"/>
            <a:ext cx="782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66FF"/>
                </a:solidFill>
              </a:rPr>
              <a:t>9</a:t>
            </a:r>
          </a:p>
        </p:txBody>
      </p:sp>
      <p:sp>
        <p:nvSpPr>
          <p:cNvPr id="66572" name="Text Box 12">
            <a:extLst>
              <a:ext uri="{FF2B5EF4-FFF2-40B4-BE49-F238E27FC236}">
                <a16:creationId xmlns:a16="http://schemas.microsoft.com/office/drawing/2014/main" id="{99C2722B-709D-4747-BA1D-F602A65FC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188" y="2955925"/>
            <a:ext cx="7826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5050"/>
                </a:solidFill>
              </a:rPr>
              <a:t>5</a:t>
            </a:r>
            <a:endParaRPr kumimoji="0" lang="en-US" altLang="zh-CN" sz="2400" b="1"/>
          </a:p>
        </p:txBody>
      </p:sp>
      <p:sp>
        <p:nvSpPr>
          <p:cNvPr id="66573" name="Text Box 13">
            <a:extLst>
              <a:ext uri="{FF2B5EF4-FFF2-40B4-BE49-F238E27FC236}">
                <a16:creationId xmlns:a16="http://schemas.microsoft.com/office/drawing/2014/main" id="{79D22493-9619-47E9-84AC-A74FC65B1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0813" y="2276475"/>
            <a:ext cx="7826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00CC00"/>
                </a:solidFill>
              </a:rPr>
              <a:t>2</a:t>
            </a:r>
          </a:p>
        </p:txBody>
      </p:sp>
      <p:sp>
        <p:nvSpPr>
          <p:cNvPr id="66574" name="Text Box 14">
            <a:extLst>
              <a:ext uri="{FF2B5EF4-FFF2-40B4-BE49-F238E27FC236}">
                <a16:creationId xmlns:a16="http://schemas.microsoft.com/office/drawing/2014/main" id="{27C98AE7-3662-4450-9864-EEF68F418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1850" y="2351088"/>
            <a:ext cx="782638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-</a:t>
            </a:r>
          </a:p>
        </p:txBody>
      </p:sp>
      <p:sp>
        <p:nvSpPr>
          <p:cNvPr id="66575" name="Text Box 15">
            <a:extLst>
              <a:ext uri="{FF2B5EF4-FFF2-40B4-BE49-F238E27FC236}">
                <a16:creationId xmlns:a16="http://schemas.microsoft.com/office/drawing/2014/main" id="{CE5C9BFD-63B6-4FD7-A1BA-F08BBD7D7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5538" y="1824038"/>
            <a:ext cx="782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+</a:t>
            </a:r>
          </a:p>
        </p:txBody>
      </p:sp>
      <p:sp>
        <p:nvSpPr>
          <p:cNvPr id="66576" name="Line 16">
            <a:extLst>
              <a:ext uri="{FF2B5EF4-FFF2-40B4-BE49-F238E27FC236}">
                <a16:creationId xmlns:a16="http://schemas.microsoft.com/office/drawing/2014/main" id="{4C6962FA-F11F-4972-9705-2EAD46EB77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54488" y="1520825"/>
            <a:ext cx="781050" cy="303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77" name="Line 17">
            <a:extLst>
              <a:ext uri="{FF2B5EF4-FFF2-40B4-BE49-F238E27FC236}">
                <a16:creationId xmlns:a16="http://schemas.microsoft.com/office/drawing/2014/main" id="{07C6567C-3EC2-4A54-B48C-DF11C677472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88000" y="1520825"/>
            <a:ext cx="782638" cy="303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78" name="Line 18">
            <a:extLst>
              <a:ext uri="{FF2B5EF4-FFF2-40B4-BE49-F238E27FC236}">
                <a16:creationId xmlns:a16="http://schemas.microsoft.com/office/drawing/2014/main" id="{2E3AA50F-0DDD-49BC-82B1-1400FE4432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89213" y="2125663"/>
            <a:ext cx="782637" cy="301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79" name="Line 19">
            <a:extLst>
              <a:ext uri="{FF2B5EF4-FFF2-40B4-BE49-F238E27FC236}">
                <a16:creationId xmlns:a16="http://schemas.microsoft.com/office/drawing/2014/main" id="{9240C780-C73C-472E-823E-A53747EC2CE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22725" y="2125663"/>
            <a:ext cx="782638" cy="301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80" name="Line 20">
            <a:extLst>
              <a:ext uri="{FF2B5EF4-FFF2-40B4-BE49-F238E27FC236}">
                <a16:creationId xmlns:a16="http://schemas.microsoft.com/office/drawing/2014/main" id="{26BED2B9-16F5-40BF-9D3C-39603E1C266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27650" y="1597025"/>
            <a:ext cx="0" cy="2270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81" name="Line 21">
            <a:extLst>
              <a:ext uri="{FF2B5EF4-FFF2-40B4-BE49-F238E27FC236}">
                <a16:creationId xmlns:a16="http://schemas.microsoft.com/office/drawing/2014/main" id="{CE918F04-1BCB-4671-AB30-BE92F9B11D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9038" y="3560763"/>
            <a:ext cx="0" cy="225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82" name="Line 22">
            <a:extLst>
              <a:ext uri="{FF2B5EF4-FFF2-40B4-BE49-F238E27FC236}">
                <a16:creationId xmlns:a16="http://schemas.microsoft.com/office/drawing/2014/main" id="{F3EA245E-11B5-41C6-A84C-8131C0AD0BB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65713" y="2805113"/>
            <a:ext cx="0" cy="227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83" name="Line 23">
            <a:extLst>
              <a:ext uri="{FF2B5EF4-FFF2-40B4-BE49-F238E27FC236}">
                <a16:creationId xmlns:a16="http://schemas.microsoft.com/office/drawing/2014/main" id="{6AB42D85-09F0-49BD-83D7-62F6858825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91338" y="2125663"/>
            <a:ext cx="0" cy="225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84" name="Line 24">
            <a:extLst>
              <a:ext uri="{FF2B5EF4-FFF2-40B4-BE49-F238E27FC236}">
                <a16:creationId xmlns:a16="http://schemas.microsoft.com/office/drawing/2014/main" id="{CE91527E-9B71-48DA-A78F-6553448DEEF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2375" y="2125663"/>
            <a:ext cx="0" cy="225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85" name="Line 25">
            <a:extLst>
              <a:ext uri="{FF2B5EF4-FFF2-40B4-BE49-F238E27FC236}">
                <a16:creationId xmlns:a16="http://schemas.microsoft.com/office/drawing/2014/main" id="{2DECDACC-5FB3-4828-A6B2-C835690F0186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9038" y="2805113"/>
            <a:ext cx="0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86" name="Text Box 26">
            <a:extLst>
              <a:ext uri="{FF2B5EF4-FFF2-40B4-BE49-F238E27FC236}">
                <a16:creationId xmlns:a16="http://schemas.microsoft.com/office/drawing/2014/main" id="{E0090FD4-D2C1-4E04-9160-88AACB58C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1295400"/>
            <a:ext cx="236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i="1">
                <a:solidFill>
                  <a:srgbClr val="3333CC"/>
                </a:solidFill>
              </a:rPr>
              <a:t>expr</a:t>
            </a:r>
            <a:r>
              <a:rPr kumimoji="0" lang="en-US" altLang="zh-CN" sz="2000" b="1">
                <a:solidFill>
                  <a:srgbClr val="3333CC"/>
                </a:solidFill>
              </a:rPr>
              <a:t> </a:t>
            </a:r>
            <a:r>
              <a:rPr kumimoji="0" lang="en-US" altLang="zh-CN" sz="2000" b="1">
                <a:solidFill>
                  <a:srgbClr val="3333CC"/>
                </a:solidFill>
                <a:sym typeface="Symbol" panose="05050102010706020507" pitchFamily="18" charset="2"/>
              </a:rPr>
              <a:t></a:t>
            </a:r>
            <a:r>
              <a:rPr kumimoji="0" lang="en-US" altLang="zh-CN" sz="2000" b="1">
                <a:solidFill>
                  <a:srgbClr val="3333CC"/>
                </a:solidFill>
              </a:rPr>
              <a:t> </a:t>
            </a:r>
            <a:r>
              <a:rPr kumimoji="0" lang="en-US" altLang="zh-CN" sz="2000" b="1" i="1">
                <a:solidFill>
                  <a:srgbClr val="3333CC"/>
                </a:solidFill>
                <a:sym typeface="Math1" pitchFamily="2" charset="2"/>
              </a:rPr>
              <a:t>expr + digit</a:t>
            </a:r>
          </a:p>
        </p:txBody>
      </p:sp>
      <p:sp>
        <p:nvSpPr>
          <p:cNvPr id="66587" name="Text Box 27">
            <a:extLst>
              <a:ext uri="{FF2B5EF4-FFF2-40B4-BE49-F238E27FC236}">
                <a16:creationId xmlns:a16="http://schemas.microsoft.com/office/drawing/2014/main" id="{F52158E5-948D-4B45-BD12-63589A4BE9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447800"/>
            <a:ext cx="2438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i="1">
                <a:solidFill>
                  <a:srgbClr val="3333CC"/>
                </a:solidFill>
                <a:sym typeface="Math1" pitchFamily="2" charset="2"/>
              </a:rPr>
              <a:t>expr</a:t>
            </a:r>
            <a:r>
              <a:rPr kumimoji="0" lang="en-US" altLang="zh-CN" sz="2000" b="1">
                <a:solidFill>
                  <a:srgbClr val="3333CC"/>
                </a:solidFill>
                <a:sym typeface="Math1" pitchFamily="2" charset="2"/>
              </a:rPr>
              <a:t> </a:t>
            </a:r>
            <a:r>
              <a:rPr kumimoji="0" lang="en-US" altLang="zh-CN" sz="2000" b="1">
                <a:solidFill>
                  <a:srgbClr val="3333CC"/>
                </a:solidFill>
                <a:sym typeface="Symbol" panose="05050102010706020507" pitchFamily="18" charset="2"/>
              </a:rPr>
              <a:t></a:t>
            </a:r>
            <a:r>
              <a:rPr kumimoji="0" lang="en-US" altLang="zh-CN" sz="2000" b="1">
                <a:solidFill>
                  <a:srgbClr val="3333CC"/>
                </a:solidFill>
                <a:sym typeface="Math1" pitchFamily="2" charset="2"/>
              </a:rPr>
              <a:t> </a:t>
            </a:r>
            <a:r>
              <a:rPr kumimoji="0" lang="en-US" altLang="zh-CN" sz="2000" b="1" i="1">
                <a:solidFill>
                  <a:srgbClr val="3333CC"/>
                </a:solidFill>
                <a:sym typeface="Math1" pitchFamily="2" charset="2"/>
              </a:rPr>
              <a:t>expr – digit</a:t>
            </a:r>
          </a:p>
        </p:txBody>
      </p:sp>
      <p:sp>
        <p:nvSpPr>
          <p:cNvPr id="66588" name="Line 28">
            <a:extLst>
              <a:ext uri="{FF2B5EF4-FFF2-40B4-BE49-F238E27FC236}">
                <a16:creationId xmlns:a16="http://schemas.microsoft.com/office/drawing/2014/main" id="{EDEB194C-629B-4A9C-9C01-684D69F444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6400" y="1447800"/>
            <a:ext cx="838200" cy="762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6589" name="Line 29">
            <a:extLst>
              <a:ext uri="{FF2B5EF4-FFF2-40B4-BE49-F238E27FC236}">
                <a16:creationId xmlns:a16="http://schemas.microsoft.com/office/drawing/2014/main" id="{A4CD8D25-EC7A-4E1E-84E3-D3135FFDDC6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048000" y="1752600"/>
            <a:ext cx="533400" cy="3048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6" grpId="0"/>
      <p:bldP spid="66567" grpId="0"/>
      <p:bldP spid="66568" grpId="0"/>
      <p:bldP spid="66569" grpId="0"/>
      <p:bldP spid="66570" grpId="0"/>
      <p:bldP spid="66571" grpId="0"/>
      <p:bldP spid="66572" grpId="0"/>
      <p:bldP spid="66573" grpId="0"/>
      <p:bldP spid="66574" grpId="0"/>
      <p:bldP spid="66575" grpId="0"/>
      <p:bldP spid="66586" grpId="0"/>
      <p:bldP spid="6658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D87852E-32C9-4D00-8F21-BF3BE7FB52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2.2.2  </a:t>
            </a:r>
            <a:r>
              <a:rPr lang="zh-CN" altLang="en-US"/>
              <a:t>二义性（</a:t>
            </a:r>
            <a:r>
              <a:rPr lang="en-US" altLang="zh-CN">
                <a:solidFill>
                  <a:srgbClr val="FF3300"/>
                </a:solidFill>
              </a:rPr>
              <a:t>ambiguity</a:t>
            </a:r>
            <a:r>
              <a:rPr lang="zh-CN" altLang="en-US"/>
              <a:t>）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6171FFA8-9094-464C-8CE0-CCE831017E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多个语法分析树生成相同的单词串</a:t>
            </a:r>
            <a:br>
              <a:rPr lang="en-US" altLang="zh-CN" dirty="0"/>
            </a:br>
            <a:r>
              <a:rPr lang="en-US" altLang="zh-CN" dirty="0"/>
              <a:t>——</a:t>
            </a:r>
            <a:r>
              <a:rPr lang="zh-CN" altLang="en-US" dirty="0"/>
              <a:t>歧义</a:t>
            </a:r>
          </a:p>
          <a:p>
            <a:pPr eaLnBrk="1" hangingPunct="1"/>
            <a:r>
              <a:rPr lang="zh-CN" altLang="en-US" dirty="0"/>
              <a:t>消除二义性：定义无歧义文法或用附加规则消除歧义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8E1BFC37-233B-4BE0-A414-16CC832EE8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2.5</a:t>
            </a:r>
          </a:p>
        </p:txBody>
      </p:sp>
      <p:grpSp>
        <p:nvGrpSpPr>
          <p:cNvPr id="25603" name="Group 4">
            <a:extLst>
              <a:ext uri="{FF2B5EF4-FFF2-40B4-BE49-F238E27FC236}">
                <a16:creationId xmlns:a16="http://schemas.microsoft.com/office/drawing/2014/main" id="{3FDF203E-546C-4840-B94F-B9B2771345C3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2290763"/>
            <a:ext cx="3198813" cy="2228945"/>
            <a:chOff x="144" y="1104"/>
            <a:chExt cx="1824" cy="1023"/>
          </a:xfrm>
        </p:grpSpPr>
        <p:sp>
          <p:nvSpPr>
            <p:cNvPr id="25625" name="Text Box 5">
              <a:extLst>
                <a:ext uri="{FF2B5EF4-FFF2-40B4-BE49-F238E27FC236}">
                  <a16:creationId xmlns:a16="http://schemas.microsoft.com/office/drawing/2014/main" id="{385995EB-5184-4806-A646-2C3D2A840F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680"/>
              <a:ext cx="52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i="1">
                  <a:solidFill>
                    <a:srgbClr val="0066FF"/>
                  </a:solidFill>
                </a:rPr>
                <a:t>expr</a:t>
              </a:r>
            </a:p>
          </p:txBody>
        </p:sp>
        <p:sp>
          <p:nvSpPr>
            <p:cNvPr id="25626" name="Text Box 6">
              <a:extLst>
                <a:ext uri="{FF2B5EF4-FFF2-40B4-BE49-F238E27FC236}">
                  <a16:creationId xmlns:a16="http://schemas.microsoft.com/office/drawing/2014/main" id="{B8DB194A-7AD0-4802-8973-82E841FB48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1680"/>
              <a:ext cx="52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i="1">
                  <a:solidFill>
                    <a:srgbClr val="0066FF"/>
                  </a:solidFill>
                </a:rPr>
                <a:t>expr</a:t>
              </a:r>
            </a:p>
          </p:txBody>
        </p:sp>
        <p:sp>
          <p:nvSpPr>
            <p:cNvPr id="25627" name="Text Box 7">
              <a:extLst>
                <a:ext uri="{FF2B5EF4-FFF2-40B4-BE49-F238E27FC236}">
                  <a16:creationId xmlns:a16="http://schemas.microsoft.com/office/drawing/2014/main" id="{DA4D3B33-2C61-49D6-9824-3B39192349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440"/>
              <a:ext cx="52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i="1">
                  <a:solidFill>
                    <a:srgbClr val="0066FF"/>
                  </a:solidFill>
                </a:rPr>
                <a:t>expr</a:t>
              </a:r>
            </a:p>
          </p:txBody>
        </p:sp>
        <p:sp>
          <p:nvSpPr>
            <p:cNvPr id="25628" name="Text Box 8">
              <a:extLst>
                <a:ext uri="{FF2B5EF4-FFF2-40B4-BE49-F238E27FC236}">
                  <a16:creationId xmlns:a16="http://schemas.microsoft.com/office/drawing/2014/main" id="{7638D9F0-C6DA-40BA-AE62-8F44FB6DF9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440"/>
              <a:ext cx="52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i="1">
                  <a:solidFill>
                    <a:srgbClr val="0066FF"/>
                  </a:solidFill>
                </a:rPr>
                <a:t>expr</a:t>
              </a:r>
            </a:p>
          </p:txBody>
        </p:sp>
        <p:sp>
          <p:nvSpPr>
            <p:cNvPr id="25629" name="Text Box 9">
              <a:extLst>
                <a:ext uri="{FF2B5EF4-FFF2-40B4-BE49-F238E27FC236}">
                  <a16:creationId xmlns:a16="http://schemas.microsoft.com/office/drawing/2014/main" id="{692E7918-243D-45E4-9AB8-BBF67918E1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1104"/>
              <a:ext cx="52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i="1">
                  <a:solidFill>
                    <a:srgbClr val="0066FF"/>
                  </a:solidFill>
                </a:rPr>
                <a:t>expr</a:t>
              </a:r>
            </a:p>
          </p:txBody>
        </p:sp>
        <p:sp>
          <p:nvSpPr>
            <p:cNvPr id="25630" name="Text Box 10">
              <a:extLst>
                <a:ext uri="{FF2B5EF4-FFF2-40B4-BE49-F238E27FC236}">
                  <a16:creationId xmlns:a16="http://schemas.microsoft.com/office/drawing/2014/main" id="{21A60583-F8EF-403E-B3EF-5802EE67C2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8" y="1344"/>
              <a:ext cx="24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+</a:t>
              </a:r>
            </a:p>
          </p:txBody>
        </p:sp>
        <p:sp>
          <p:nvSpPr>
            <p:cNvPr id="25631" name="Text Box 11">
              <a:extLst>
                <a:ext uri="{FF2B5EF4-FFF2-40B4-BE49-F238E27FC236}">
                  <a16:creationId xmlns:a16="http://schemas.microsoft.com/office/drawing/2014/main" id="{80BDDE40-6E7F-4190-B8FF-D52FDF087A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1693"/>
              <a:ext cx="24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2</a:t>
              </a:r>
            </a:p>
          </p:txBody>
        </p:sp>
        <p:sp>
          <p:nvSpPr>
            <p:cNvPr id="25632" name="Text Box 12">
              <a:extLst>
                <a:ext uri="{FF2B5EF4-FFF2-40B4-BE49-F238E27FC236}">
                  <a16:creationId xmlns:a16="http://schemas.microsoft.com/office/drawing/2014/main" id="{60A8CAEA-625F-4E98-8DED-3720A44D1B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" y="1643"/>
              <a:ext cx="24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-</a:t>
              </a:r>
            </a:p>
          </p:txBody>
        </p:sp>
        <p:sp>
          <p:nvSpPr>
            <p:cNvPr id="25633" name="Text Box 13">
              <a:extLst>
                <a:ext uri="{FF2B5EF4-FFF2-40B4-BE49-F238E27FC236}">
                  <a16:creationId xmlns:a16="http://schemas.microsoft.com/office/drawing/2014/main" id="{77AD931F-9A7C-499C-A68C-4FF13710EF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2" y="1944"/>
              <a:ext cx="24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5</a:t>
              </a:r>
            </a:p>
          </p:txBody>
        </p:sp>
        <p:sp>
          <p:nvSpPr>
            <p:cNvPr id="25634" name="Text Box 14">
              <a:extLst>
                <a:ext uri="{FF2B5EF4-FFF2-40B4-BE49-F238E27FC236}">
                  <a16:creationId xmlns:a16="http://schemas.microsoft.com/office/drawing/2014/main" id="{F55D00DB-85B2-4A54-AE6A-BD35C7C4EB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" y="1939"/>
              <a:ext cx="24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9</a:t>
              </a:r>
            </a:p>
          </p:txBody>
        </p:sp>
        <p:sp>
          <p:nvSpPr>
            <p:cNvPr id="25635" name="Line 15">
              <a:extLst>
                <a:ext uri="{FF2B5EF4-FFF2-40B4-BE49-F238E27FC236}">
                  <a16:creationId xmlns:a16="http://schemas.microsoft.com/office/drawing/2014/main" id="{66249D7A-1A86-4E2F-AF0A-8CA94AF1C0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185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6" name="Line 16">
              <a:extLst>
                <a:ext uri="{FF2B5EF4-FFF2-40B4-BE49-F238E27FC236}">
                  <a16:creationId xmlns:a16="http://schemas.microsoft.com/office/drawing/2014/main" id="{98540FF2-B986-4C42-B871-9329B714C4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2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7" name="Line 17">
              <a:extLst>
                <a:ext uri="{FF2B5EF4-FFF2-40B4-BE49-F238E27FC236}">
                  <a16:creationId xmlns:a16="http://schemas.microsoft.com/office/drawing/2014/main" id="{BF707C83-3937-42AB-A326-9C534EA9C7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6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8" name="Line 18">
              <a:extLst>
                <a:ext uri="{FF2B5EF4-FFF2-40B4-BE49-F238E27FC236}">
                  <a16:creationId xmlns:a16="http://schemas.microsoft.com/office/drawing/2014/main" id="{4267032E-9195-4DFF-A39C-13F7D445A1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187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9" name="Line 19">
              <a:extLst>
                <a:ext uri="{FF2B5EF4-FFF2-40B4-BE49-F238E27FC236}">
                  <a16:creationId xmlns:a16="http://schemas.microsoft.com/office/drawing/2014/main" id="{0C3CE411-D25B-40A9-A5F1-044982820A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6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0" name="Line 20">
              <a:extLst>
                <a:ext uri="{FF2B5EF4-FFF2-40B4-BE49-F238E27FC236}">
                  <a16:creationId xmlns:a16="http://schemas.microsoft.com/office/drawing/2014/main" id="{A1FCD9A0-848C-4439-90B0-76FB0C5CBF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2" y="1293"/>
              <a:ext cx="270" cy="1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1" name="Line 21">
              <a:extLst>
                <a:ext uri="{FF2B5EF4-FFF2-40B4-BE49-F238E27FC236}">
                  <a16:creationId xmlns:a16="http://schemas.microsoft.com/office/drawing/2014/main" id="{A3D121D3-9E49-4329-82F8-25C6B0607C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2" y="1296"/>
              <a:ext cx="314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2" name="Line 22">
              <a:extLst>
                <a:ext uri="{FF2B5EF4-FFF2-40B4-BE49-F238E27FC236}">
                  <a16:creationId xmlns:a16="http://schemas.microsoft.com/office/drawing/2014/main" id="{667000C2-96D3-474B-A0B9-6B7622D0BB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7" y="1606"/>
              <a:ext cx="229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3" name="Line 23">
              <a:extLst>
                <a:ext uri="{FF2B5EF4-FFF2-40B4-BE49-F238E27FC236}">
                  <a16:creationId xmlns:a16="http://schemas.microsoft.com/office/drawing/2014/main" id="{F56F75BD-6138-4E59-8ED1-FC966F0849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" y="1606"/>
              <a:ext cx="136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604" name="Group 26">
            <a:extLst>
              <a:ext uri="{FF2B5EF4-FFF2-40B4-BE49-F238E27FC236}">
                <a16:creationId xmlns:a16="http://schemas.microsoft.com/office/drawing/2014/main" id="{4B3BD5FC-5482-47A5-872C-7548FDF97E4A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2214562"/>
            <a:ext cx="3263566" cy="2273846"/>
            <a:chOff x="3312" y="1440"/>
            <a:chExt cx="1860" cy="1032"/>
          </a:xfrm>
        </p:grpSpPr>
        <p:sp>
          <p:nvSpPr>
            <p:cNvPr id="25606" name="Text Box 27">
              <a:extLst>
                <a:ext uri="{FF2B5EF4-FFF2-40B4-BE49-F238E27FC236}">
                  <a16:creationId xmlns:a16="http://schemas.microsoft.com/office/drawing/2014/main" id="{4F8CDA66-B6E7-4432-ACA8-06CC7E315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754" y="2020"/>
              <a:ext cx="418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i="1" dirty="0">
                  <a:solidFill>
                    <a:srgbClr val="00CC00"/>
                  </a:solidFill>
                </a:rPr>
                <a:t>expr</a:t>
              </a:r>
              <a:endParaRPr kumimoji="0" lang="en-US" altLang="zh-CN" sz="2000" b="1" i="1" dirty="0">
                <a:solidFill>
                  <a:srgbClr val="0066FF"/>
                </a:solidFill>
              </a:endParaRPr>
            </a:p>
          </p:txBody>
        </p:sp>
        <p:sp>
          <p:nvSpPr>
            <p:cNvPr id="25607" name="Text Box 28">
              <a:extLst>
                <a:ext uri="{FF2B5EF4-FFF2-40B4-BE49-F238E27FC236}">
                  <a16:creationId xmlns:a16="http://schemas.microsoft.com/office/drawing/2014/main" id="{95945B38-8709-44F8-AE79-86FCE1BA1A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013" y="2016"/>
              <a:ext cx="424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i="1" dirty="0">
                  <a:solidFill>
                    <a:srgbClr val="00CC00"/>
                  </a:solidFill>
                </a:rPr>
                <a:t>expr</a:t>
              </a:r>
              <a:endParaRPr kumimoji="0" lang="en-US" altLang="zh-CN" sz="2000" b="1" i="1" dirty="0">
                <a:solidFill>
                  <a:srgbClr val="0066FF"/>
                </a:solidFill>
              </a:endParaRPr>
            </a:p>
          </p:txBody>
        </p:sp>
        <p:sp>
          <p:nvSpPr>
            <p:cNvPr id="25608" name="Text Box 29">
              <a:extLst>
                <a:ext uri="{FF2B5EF4-FFF2-40B4-BE49-F238E27FC236}">
                  <a16:creationId xmlns:a16="http://schemas.microsoft.com/office/drawing/2014/main" id="{B4884BEB-1F62-4FFC-B5E6-0D817A70BB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409" y="1776"/>
              <a:ext cx="528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i="1" dirty="0">
                  <a:solidFill>
                    <a:srgbClr val="00CC00"/>
                  </a:solidFill>
                </a:rPr>
                <a:t>expr</a:t>
              </a:r>
              <a:endParaRPr kumimoji="0" lang="en-US" altLang="zh-CN" sz="2000" b="1" i="1" dirty="0">
                <a:solidFill>
                  <a:srgbClr val="0066FF"/>
                </a:solidFill>
              </a:endParaRPr>
            </a:p>
          </p:txBody>
        </p:sp>
        <p:sp>
          <p:nvSpPr>
            <p:cNvPr id="25609" name="Text Box 30">
              <a:extLst>
                <a:ext uri="{FF2B5EF4-FFF2-40B4-BE49-F238E27FC236}">
                  <a16:creationId xmlns:a16="http://schemas.microsoft.com/office/drawing/2014/main" id="{E63F7FFD-EAC3-4A80-AC41-22F83BDEDB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312" y="1776"/>
              <a:ext cx="528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i="1">
                  <a:solidFill>
                    <a:srgbClr val="00CC00"/>
                  </a:solidFill>
                </a:rPr>
                <a:t>expr</a:t>
              </a:r>
              <a:endParaRPr kumimoji="0" lang="en-US" altLang="zh-CN" sz="2000" b="1" i="1">
                <a:solidFill>
                  <a:srgbClr val="0066FF"/>
                </a:solidFill>
              </a:endParaRPr>
            </a:p>
          </p:txBody>
        </p:sp>
        <p:sp>
          <p:nvSpPr>
            <p:cNvPr id="25610" name="Text Box 31">
              <a:extLst>
                <a:ext uri="{FF2B5EF4-FFF2-40B4-BE49-F238E27FC236}">
                  <a16:creationId xmlns:a16="http://schemas.microsoft.com/office/drawing/2014/main" id="{16C52555-8F7F-4A6B-935F-224D9BA316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744" y="1440"/>
              <a:ext cx="528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i="1">
                  <a:solidFill>
                    <a:srgbClr val="00CC00"/>
                  </a:solidFill>
                </a:rPr>
                <a:t>expr</a:t>
              </a:r>
              <a:endParaRPr kumimoji="0" lang="en-US" altLang="zh-CN" sz="2000" b="1" i="1">
                <a:solidFill>
                  <a:srgbClr val="0066FF"/>
                </a:solidFill>
              </a:endParaRPr>
            </a:p>
          </p:txBody>
        </p:sp>
        <p:sp>
          <p:nvSpPr>
            <p:cNvPr id="25611" name="Text Box 32">
              <a:extLst>
                <a:ext uri="{FF2B5EF4-FFF2-40B4-BE49-F238E27FC236}">
                  <a16:creationId xmlns:a16="http://schemas.microsoft.com/office/drawing/2014/main" id="{69328D7D-3439-40B5-940D-1A72537224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870" y="1648"/>
              <a:ext cx="240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-</a:t>
              </a:r>
            </a:p>
          </p:txBody>
        </p:sp>
        <p:sp>
          <p:nvSpPr>
            <p:cNvPr id="25612" name="Text Box 33">
              <a:extLst>
                <a:ext uri="{FF2B5EF4-FFF2-40B4-BE49-F238E27FC236}">
                  <a16:creationId xmlns:a16="http://schemas.microsoft.com/office/drawing/2014/main" id="{1AF5A37A-630F-4108-8B73-FEA76C0A5C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385" y="2036"/>
              <a:ext cx="239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9</a:t>
              </a:r>
            </a:p>
          </p:txBody>
        </p:sp>
        <p:sp>
          <p:nvSpPr>
            <p:cNvPr id="25613" name="Text Box 34">
              <a:extLst>
                <a:ext uri="{FF2B5EF4-FFF2-40B4-BE49-F238E27FC236}">
                  <a16:creationId xmlns:a16="http://schemas.microsoft.com/office/drawing/2014/main" id="{6BA3CEAD-1026-4360-B402-5B735CD8D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492" y="2007"/>
              <a:ext cx="240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+</a:t>
              </a:r>
            </a:p>
          </p:txBody>
        </p:sp>
        <p:sp>
          <p:nvSpPr>
            <p:cNvPr id="25614" name="Text Box 35">
              <a:extLst>
                <a:ext uri="{FF2B5EF4-FFF2-40B4-BE49-F238E27FC236}">
                  <a16:creationId xmlns:a16="http://schemas.microsoft.com/office/drawing/2014/main" id="{7593B337-F2C8-4508-85DE-1926B1FF30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058" y="2292"/>
              <a:ext cx="240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5</a:t>
              </a:r>
            </a:p>
          </p:txBody>
        </p:sp>
        <p:sp>
          <p:nvSpPr>
            <p:cNvPr id="25615" name="Text Box 36">
              <a:extLst>
                <a:ext uri="{FF2B5EF4-FFF2-40B4-BE49-F238E27FC236}">
                  <a16:creationId xmlns:a16="http://schemas.microsoft.com/office/drawing/2014/main" id="{F7E300F6-16F0-4B0C-A407-8AF9F8041E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814" y="2285"/>
              <a:ext cx="240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2</a:t>
              </a:r>
            </a:p>
          </p:txBody>
        </p:sp>
        <p:sp>
          <p:nvSpPr>
            <p:cNvPr id="25616" name="Line 37">
              <a:extLst>
                <a:ext uri="{FF2B5EF4-FFF2-40B4-BE49-F238E27FC236}">
                  <a16:creationId xmlns:a16="http://schemas.microsoft.com/office/drawing/2014/main" id="{636A437B-FEF9-4F05-9D09-90E7BF74A4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44" y="2211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7" name="Line 38">
              <a:extLst>
                <a:ext uri="{FF2B5EF4-FFF2-40B4-BE49-F238E27FC236}">
                  <a16:creationId xmlns:a16="http://schemas.microsoft.com/office/drawing/2014/main" id="{3B20266A-29DE-41EB-AE13-16B61366BB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4" y="16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8" name="Line 39">
              <a:extLst>
                <a:ext uri="{FF2B5EF4-FFF2-40B4-BE49-F238E27FC236}">
                  <a16:creationId xmlns:a16="http://schemas.microsoft.com/office/drawing/2014/main" id="{99BDB268-C3FE-4567-BD2F-2703AFB807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8" y="196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9" name="Line 40">
              <a:extLst>
                <a:ext uri="{FF2B5EF4-FFF2-40B4-BE49-F238E27FC236}">
                  <a16:creationId xmlns:a16="http://schemas.microsoft.com/office/drawing/2014/main" id="{2DC03855-DEB8-4F3A-9AFE-27CC4B87D2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76" y="220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0" name="Line 41">
              <a:extLst>
                <a:ext uri="{FF2B5EF4-FFF2-40B4-BE49-F238E27FC236}">
                  <a16:creationId xmlns:a16="http://schemas.microsoft.com/office/drawing/2014/main" id="{45567B6F-B1A9-49B7-8FCF-0EE2BA6CBC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1" y="196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1" name="Line 42">
              <a:extLst>
                <a:ext uri="{FF2B5EF4-FFF2-40B4-BE49-F238E27FC236}">
                  <a16:creationId xmlns:a16="http://schemas.microsoft.com/office/drawing/2014/main" id="{B2073C6C-F892-41B1-B7EF-CC213623BD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6" y="1632"/>
              <a:ext cx="284" cy="1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2" name="Line 43">
              <a:extLst>
                <a:ext uri="{FF2B5EF4-FFF2-40B4-BE49-F238E27FC236}">
                  <a16:creationId xmlns:a16="http://schemas.microsoft.com/office/drawing/2014/main" id="{21775F86-A489-4165-BA5A-61777D9D8E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76" y="1632"/>
              <a:ext cx="377" cy="1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3" name="Line 44">
              <a:extLst>
                <a:ext uri="{FF2B5EF4-FFF2-40B4-BE49-F238E27FC236}">
                  <a16:creationId xmlns:a16="http://schemas.microsoft.com/office/drawing/2014/main" id="{2D157BE5-F156-41EE-B52C-FA1FE27FB0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2" y="1968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4" name="Line 45">
              <a:extLst>
                <a:ext uri="{FF2B5EF4-FFF2-40B4-BE49-F238E27FC236}">
                  <a16:creationId xmlns:a16="http://schemas.microsoft.com/office/drawing/2014/main" id="{4F2EEFE5-83DA-48D5-9413-2967C6BB97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24" y="1956"/>
              <a:ext cx="185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605" name="Rectangle 46">
            <a:extLst>
              <a:ext uri="{FF2B5EF4-FFF2-40B4-BE49-F238E27FC236}">
                <a16:creationId xmlns:a16="http://schemas.microsoft.com/office/drawing/2014/main" id="{C7E008F7-C5C6-4D3F-9D95-D3476F256F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 i="1"/>
              <a:t>expr </a:t>
            </a:r>
            <a:r>
              <a:rPr kumimoji="0" lang="en-US" altLang="zh-CN" sz="2400">
                <a:sym typeface="Symbol" panose="05050102010706020507" pitchFamily="18" charset="2"/>
              </a:rPr>
              <a:t></a:t>
            </a:r>
            <a:r>
              <a:rPr kumimoji="0" lang="en-US" altLang="zh-CN" sz="2400" i="1"/>
              <a:t> </a:t>
            </a:r>
            <a:r>
              <a:rPr kumimoji="0" lang="en-US" altLang="zh-CN" sz="2400">
                <a:sym typeface="Math1" pitchFamily="2" charset="2"/>
              </a:rPr>
              <a:t> </a:t>
            </a:r>
            <a:r>
              <a:rPr kumimoji="0" lang="en-US" altLang="zh-CN" sz="2400" i="1">
                <a:sym typeface="Math1" pitchFamily="2" charset="2"/>
              </a:rPr>
              <a:t>expr + expr | expr – expr</a:t>
            </a:r>
            <a:r>
              <a:rPr kumimoji="0" lang="en-US" altLang="zh-CN" sz="2400">
                <a:sym typeface="Math1" pitchFamily="2" charset="2"/>
              </a:rPr>
              <a:t> | 0 | 1 | …| 9</a:t>
            </a:r>
            <a:endParaRPr lang="en-US" altLang="zh-CN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E0A9A02-2DF2-4B85-B0D9-4240474491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2.2.3  </a:t>
            </a:r>
            <a:r>
              <a:rPr lang="zh-CN" altLang="en-US"/>
              <a:t>运算符的结合率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21849B92-C66F-4A7D-A7E7-8C7A980113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25688" y="3657600"/>
            <a:ext cx="6818312" cy="167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/>
              <a:t>9-5-2——(9-5)-2 </a:t>
            </a:r>
            <a:r>
              <a:rPr lang="zh-CN" altLang="en-US"/>
              <a:t>还是 </a:t>
            </a:r>
            <a:r>
              <a:rPr lang="en-US" altLang="zh-CN"/>
              <a:t>9-(5-2)</a:t>
            </a:r>
            <a:r>
              <a:rPr lang="zh-CN" altLang="en-US"/>
              <a:t>？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左结合（</a:t>
            </a:r>
            <a:r>
              <a:rPr lang="en-US" altLang="zh-CN">
                <a:solidFill>
                  <a:schemeClr val="hlink"/>
                </a:solidFill>
              </a:rPr>
              <a:t>left associative</a:t>
            </a:r>
            <a:r>
              <a:rPr lang="zh-CN" altLang="en-US"/>
              <a:t>）：</a:t>
            </a:r>
            <a:r>
              <a:rPr lang="en-US" altLang="zh-CN"/>
              <a:t>+, -, *, /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右结合（</a:t>
            </a:r>
            <a:r>
              <a:rPr lang="en-US" altLang="zh-CN">
                <a:solidFill>
                  <a:schemeClr val="hlink"/>
                </a:solidFill>
              </a:rPr>
              <a:t>right associative</a:t>
            </a:r>
            <a:r>
              <a:rPr lang="zh-CN" altLang="en-US"/>
              <a:t>）：</a:t>
            </a:r>
            <a:r>
              <a:rPr lang="en-US" altLang="zh-CN"/>
              <a:t>^, =</a:t>
            </a:r>
          </a:p>
        </p:txBody>
      </p:sp>
      <p:grpSp>
        <p:nvGrpSpPr>
          <p:cNvPr id="26628" name="Group 26">
            <a:extLst>
              <a:ext uri="{FF2B5EF4-FFF2-40B4-BE49-F238E27FC236}">
                <a16:creationId xmlns:a16="http://schemas.microsoft.com/office/drawing/2014/main" id="{0E7BFDF3-F243-4B89-A18E-C0CCC57F13A3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1203325"/>
            <a:ext cx="3429000" cy="2911475"/>
            <a:chOff x="768" y="3696"/>
            <a:chExt cx="2160" cy="1834"/>
          </a:xfrm>
        </p:grpSpPr>
        <p:sp>
          <p:nvSpPr>
            <p:cNvPr id="26630" name="Text Box 27">
              <a:extLst>
                <a:ext uri="{FF2B5EF4-FFF2-40B4-BE49-F238E27FC236}">
                  <a16:creationId xmlns:a16="http://schemas.microsoft.com/office/drawing/2014/main" id="{1A7A5360-FC9E-4F04-A9A6-7EE6EBA4EF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3696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 i="1"/>
                <a:t>expr</a:t>
              </a:r>
            </a:p>
          </p:txBody>
        </p:sp>
        <p:sp>
          <p:nvSpPr>
            <p:cNvPr id="26631" name="Text Box 28">
              <a:extLst>
                <a:ext uri="{FF2B5EF4-FFF2-40B4-BE49-F238E27FC236}">
                  <a16:creationId xmlns:a16="http://schemas.microsoft.com/office/drawing/2014/main" id="{FA721E03-7F0B-4872-AC06-02F68AC72F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4032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 i="1">
                  <a:solidFill>
                    <a:srgbClr val="00CC00"/>
                  </a:solidFill>
                </a:rPr>
                <a:t>digit</a:t>
              </a:r>
              <a:endParaRPr kumimoji="0" lang="en-US" altLang="zh-CN" sz="2400" b="1" i="1"/>
            </a:p>
          </p:txBody>
        </p:sp>
        <p:sp>
          <p:nvSpPr>
            <p:cNvPr id="26632" name="Text Box 29">
              <a:extLst>
                <a:ext uri="{FF2B5EF4-FFF2-40B4-BE49-F238E27FC236}">
                  <a16:creationId xmlns:a16="http://schemas.microsoft.com/office/drawing/2014/main" id="{60E9CAC7-91F6-4DF2-9B5C-121FE13CAB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4464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 i="1">
                  <a:solidFill>
                    <a:srgbClr val="FF5050"/>
                  </a:solidFill>
                </a:rPr>
                <a:t>digit</a:t>
              </a:r>
              <a:endParaRPr kumimoji="0" lang="en-US" altLang="zh-CN" sz="2400" b="1" i="1"/>
            </a:p>
          </p:txBody>
        </p:sp>
        <p:sp>
          <p:nvSpPr>
            <p:cNvPr id="26633" name="Text Box 30">
              <a:extLst>
                <a:ext uri="{FF2B5EF4-FFF2-40B4-BE49-F238E27FC236}">
                  <a16:creationId xmlns:a16="http://schemas.microsoft.com/office/drawing/2014/main" id="{7A124233-B06D-4E8F-BB2A-EE91D8E7C8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4032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 i="1">
                  <a:solidFill>
                    <a:srgbClr val="0066FF"/>
                  </a:solidFill>
                </a:rPr>
                <a:t>expr</a:t>
              </a:r>
              <a:endParaRPr kumimoji="0" lang="en-US" altLang="zh-CN" sz="2400" b="1" i="1"/>
            </a:p>
          </p:txBody>
        </p:sp>
        <p:sp>
          <p:nvSpPr>
            <p:cNvPr id="26634" name="Text Box 31">
              <a:extLst>
                <a:ext uri="{FF2B5EF4-FFF2-40B4-BE49-F238E27FC236}">
                  <a16:creationId xmlns:a16="http://schemas.microsoft.com/office/drawing/2014/main" id="{87DFE4E0-9A84-4A19-8800-68E49E16B4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4944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 i="1">
                  <a:solidFill>
                    <a:srgbClr val="FF66FF"/>
                  </a:solidFill>
                </a:rPr>
                <a:t>digit</a:t>
              </a:r>
              <a:endParaRPr kumimoji="0" lang="en-US" altLang="zh-CN" sz="2400" b="1" i="1"/>
            </a:p>
          </p:txBody>
        </p:sp>
        <p:sp>
          <p:nvSpPr>
            <p:cNvPr id="26635" name="Text Box 32">
              <a:extLst>
                <a:ext uri="{FF2B5EF4-FFF2-40B4-BE49-F238E27FC236}">
                  <a16:creationId xmlns:a16="http://schemas.microsoft.com/office/drawing/2014/main" id="{97809E65-1612-4C7C-8294-2B09A02F7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4464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 i="1">
                  <a:solidFill>
                    <a:srgbClr val="FF5050"/>
                  </a:solidFill>
                </a:rPr>
                <a:t>expr</a:t>
              </a:r>
              <a:endParaRPr kumimoji="0" lang="en-US" altLang="zh-CN" sz="2400" b="1" i="1"/>
            </a:p>
          </p:txBody>
        </p:sp>
        <p:sp>
          <p:nvSpPr>
            <p:cNvPr id="26636" name="Text Box 33">
              <a:extLst>
                <a:ext uri="{FF2B5EF4-FFF2-40B4-BE49-F238E27FC236}">
                  <a16:creationId xmlns:a16="http://schemas.microsoft.com/office/drawing/2014/main" id="{F1505C9F-391D-4D0C-8756-F1CCEA26A9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5280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rgbClr val="FF66FF"/>
                  </a:solidFill>
                </a:rPr>
                <a:t>9</a:t>
              </a:r>
            </a:p>
          </p:txBody>
        </p:sp>
        <p:sp>
          <p:nvSpPr>
            <p:cNvPr id="26637" name="Text Box 34">
              <a:extLst>
                <a:ext uri="{FF2B5EF4-FFF2-40B4-BE49-F238E27FC236}">
                  <a16:creationId xmlns:a16="http://schemas.microsoft.com/office/drawing/2014/main" id="{5C08CFAF-4E8A-445E-805E-FE7AC916CD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4800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rgbClr val="FF5050"/>
                  </a:solidFill>
                </a:rPr>
                <a:t>5</a:t>
              </a:r>
              <a:endParaRPr kumimoji="0" lang="en-US" altLang="zh-CN" sz="2000" b="1"/>
            </a:p>
          </p:txBody>
        </p:sp>
        <p:sp>
          <p:nvSpPr>
            <p:cNvPr id="26638" name="Text Box 35">
              <a:extLst>
                <a:ext uri="{FF2B5EF4-FFF2-40B4-BE49-F238E27FC236}">
                  <a16:creationId xmlns:a16="http://schemas.microsoft.com/office/drawing/2014/main" id="{8C108FE8-1836-4C02-AD1E-989B9DFEEA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4368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rgbClr val="00CC00"/>
                  </a:solidFill>
                </a:rPr>
                <a:t>2</a:t>
              </a:r>
            </a:p>
          </p:txBody>
        </p:sp>
        <p:sp>
          <p:nvSpPr>
            <p:cNvPr id="26639" name="Text Box 36">
              <a:extLst>
                <a:ext uri="{FF2B5EF4-FFF2-40B4-BE49-F238E27FC236}">
                  <a16:creationId xmlns:a16="http://schemas.microsoft.com/office/drawing/2014/main" id="{FF53D29B-2514-4074-B0AE-8983A51313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441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-</a:t>
              </a:r>
            </a:p>
          </p:txBody>
        </p:sp>
        <p:sp>
          <p:nvSpPr>
            <p:cNvPr id="26640" name="Text Box 37">
              <a:extLst>
                <a:ext uri="{FF2B5EF4-FFF2-40B4-BE49-F238E27FC236}">
                  <a16:creationId xmlns:a16="http://schemas.microsoft.com/office/drawing/2014/main" id="{9FFCE04D-8AD9-4782-A8A6-2EDFFFBB13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4080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-</a:t>
              </a:r>
            </a:p>
          </p:txBody>
        </p:sp>
        <p:sp>
          <p:nvSpPr>
            <p:cNvPr id="26641" name="Line 38">
              <a:extLst>
                <a:ext uri="{FF2B5EF4-FFF2-40B4-BE49-F238E27FC236}">
                  <a16:creationId xmlns:a16="http://schemas.microsoft.com/office/drawing/2014/main" id="{226735F6-6C93-45E0-A5CA-2AF528645E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0" y="3888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42" name="Line 39">
              <a:extLst>
                <a:ext uri="{FF2B5EF4-FFF2-40B4-BE49-F238E27FC236}">
                  <a16:creationId xmlns:a16="http://schemas.microsoft.com/office/drawing/2014/main" id="{33A5A47A-9B01-4981-8A2C-C8DA5F90C5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08" y="3888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43" name="Line 40">
              <a:extLst>
                <a:ext uri="{FF2B5EF4-FFF2-40B4-BE49-F238E27FC236}">
                  <a16:creationId xmlns:a16="http://schemas.microsoft.com/office/drawing/2014/main" id="{95C7A0F0-BD18-44BD-A299-9ACB532E3D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4" y="4272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44" name="Line 41">
              <a:extLst>
                <a:ext uri="{FF2B5EF4-FFF2-40B4-BE49-F238E27FC236}">
                  <a16:creationId xmlns:a16="http://schemas.microsoft.com/office/drawing/2014/main" id="{BBCD453B-5ACC-440F-B74C-D4162D2193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32" y="4272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45" name="Line 42">
              <a:extLst>
                <a:ext uri="{FF2B5EF4-FFF2-40B4-BE49-F238E27FC236}">
                  <a16:creationId xmlns:a16="http://schemas.microsoft.com/office/drawing/2014/main" id="{3618195D-9429-43AC-A224-CA4B123C41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39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46" name="Line 43">
              <a:extLst>
                <a:ext uri="{FF2B5EF4-FFF2-40B4-BE49-F238E27FC236}">
                  <a16:creationId xmlns:a16="http://schemas.microsoft.com/office/drawing/2014/main" id="{9E071A05-3A9D-410E-A8ED-DDEBB22AA3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518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47" name="Line 44">
              <a:extLst>
                <a:ext uri="{FF2B5EF4-FFF2-40B4-BE49-F238E27FC236}">
                  <a16:creationId xmlns:a16="http://schemas.microsoft.com/office/drawing/2014/main" id="{7798057E-EE7E-4F0F-BA94-238A930150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470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48" name="Line 45">
              <a:extLst>
                <a:ext uri="{FF2B5EF4-FFF2-40B4-BE49-F238E27FC236}">
                  <a16:creationId xmlns:a16="http://schemas.microsoft.com/office/drawing/2014/main" id="{27B45010-4326-493E-ADDC-767E1D19EC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42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49" name="Line 46">
              <a:extLst>
                <a:ext uri="{FF2B5EF4-FFF2-40B4-BE49-F238E27FC236}">
                  <a16:creationId xmlns:a16="http://schemas.microsoft.com/office/drawing/2014/main" id="{DA7AE348-1E45-4380-AAE8-FFB63C9324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42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50" name="Line 47">
              <a:extLst>
                <a:ext uri="{FF2B5EF4-FFF2-40B4-BE49-F238E27FC236}">
                  <a16:creationId xmlns:a16="http://schemas.microsoft.com/office/drawing/2014/main" id="{0ECAE62A-357D-4FD5-9096-7178C67310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470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629" name="Rectangle 49">
            <a:extLst>
              <a:ext uri="{FF2B5EF4-FFF2-40B4-BE49-F238E27FC236}">
                <a16:creationId xmlns:a16="http://schemas.microsoft.com/office/drawing/2014/main" id="{D039E1DA-9C79-4AF4-A871-B744FFB2B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1341438"/>
            <a:ext cx="3895725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>
                <a:ea typeface="隶书" panose="02010509060101010101" pitchFamily="49" charset="-122"/>
              </a:rPr>
              <a:t>expr</a:t>
            </a:r>
            <a:r>
              <a:rPr kumimoji="0" lang="en-US" altLang="zh-CN" sz="2000">
                <a:ea typeface="隶书" panose="02010509060101010101" pitchFamily="49" charset="-122"/>
              </a:rPr>
              <a:t> </a:t>
            </a:r>
            <a:r>
              <a:rPr kumimoji="0" lang="en-US" altLang="zh-CN" sz="2000">
                <a:ea typeface="隶书" panose="02010509060101010101" pitchFamily="49" charset="-122"/>
                <a:sym typeface="Symbol" panose="05050102010706020507" pitchFamily="18" charset="2"/>
              </a:rPr>
              <a:t></a:t>
            </a:r>
            <a:r>
              <a:rPr kumimoji="0" lang="en-US" altLang="zh-CN" sz="2000">
                <a:ea typeface="隶书" panose="02010509060101010101" pitchFamily="49" charset="-122"/>
              </a:rPr>
              <a:t> </a:t>
            </a:r>
            <a:r>
              <a:rPr kumimoji="0" lang="en-US" altLang="zh-CN" sz="2000" i="1">
                <a:ea typeface="隶书" panose="02010509060101010101" pitchFamily="49" charset="-122"/>
                <a:sym typeface="Math1" pitchFamily="2" charset="2"/>
              </a:rPr>
              <a:t>expr + digit</a:t>
            </a:r>
            <a:br>
              <a:rPr kumimoji="0" lang="en-US" altLang="zh-CN" sz="2000" i="1">
                <a:ea typeface="隶书" panose="02010509060101010101" pitchFamily="49" charset="-122"/>
                <a:sym typeface="Math1" pitchFamily="2" charset="2"/>
              </a:rPr>
            </a:br>
            <a:r>
              <a:rPr kumimoji="0" lang="en-US" altLang="zh-CN" sz="2000" i="1">
                <a:ea typeface="隶书" panose="02010509060101010101" pitchFamily="49" charset="-122"/>
                <a:sym typeface="Math1" pitchFamily="2" charset="2"/>
              </a:rPr>
              <a:t>expr</a:t>
            </a:r>
            <a:r>
              <a:rPr kumimoji="0" lang="en-US" altLang="zh-CN" sz="2000">
                <a:ea typeface="隶书" panose="02010509060101010101" pitchFamily="49" charset="-122"/>
                <a:sym typeface="Math1" pitchFamily="2" charset="2"/>
              </a:rPr>
              <a:t> </a:t>
            </a:r>
            <a:r>
              <a:rPr kumimoji="0" lang="en-US" altLang="zh-CN" sz="2000">
                <a:ea typeface="隶书" panose="02010509060101010101" pitchFamily="49" charset="-122"/>
                <a:sym typeface="Symbol" panose="05050102010706020507" pitchFamily="18" charset="2"/>
              </a:rPr>
              <a:t></a:t>
            </a:r>
            <a:r>
              <a:rPr kumimoji="0" lang="en-US" altLang="zh-CN" sz="2000">
                <a:ea typeface="隶书" panose="02010509060101010101" pitchFamily="49" charset="-122"/>
                <a:sym typeface="Math1" pitchFamily="2" charset="2"/>
              </a:rPr>
              <a:t> </a:t>
            </a:r>
            <a:r>
              <a:rPr kumimoji="0" lang="en-US" altLang="zh-CN" sz="2000" i="1">
                <a:ea typeface="隶书" panose="02010509060101010101" pitchFamily="49" charset="-122"/>
                <a:sym typeface="Math1" pitchFamily="2" charset="2"/>
              </a:rPr>
              <a:t>expr – digit</a:t>
            </a:r>
            <a:br>
              <a:rPr kumimoji="0" lang="en-US" altLang="zh-CN" sz="2000" i="1">
                <a:ea typeface="隶书" panose="02010509060101010101" pitchFamily="49" charset="-122"/>
                <a:sym typeface="Math1" pitchFamily="2" charset="2"/>
              </a:rPr>
            </a:br>
            <a:r>
              <a:rPr kumimoji="0" lang="en-US" altLang="zh-CN" sz="2000" i="1">
                <a:ea typeface="隶书" panose="02010509060101010101" pitchFamily="49" charset="-122"/>
                <a:sym typeface="Math1" pitchFamily="2" charset="2"/>
              </a:rPr>
              <a:t>expr</a:t>
            </a:r>
            <a:r>
              <a:rPr kumimoji="0" lang="en-US" altLang="zh-CN" sz="2000">
                <a:ea typeface="隶书" panose="02010509060101010101" pitchFamily="49" charset="-122"/>
                <a:sym typeface="Math1" pitchFamily="2" charset="2"/>
              </a:rPr>
              <a:t> </a:t>
            </a:r>
            <a:r>
              <a:rPr kumimoji="0" lang="en-US" altLang="zh-CN" sz="2000">
                <a:ea typeface="隶书" panose="02010509060101010101" pitchFamily="49" charset="-122"/>
                <a:sym typeface="Symbol" panose="05050102010706020507" pitchFamily="18" charset="2"/>
              </a:rPr>
              <a:t></a:t>
            </a:r>
            <a:r>
              <a:rPr kumimoji="0" lang="en-US" altLang="zh-CN" sz="2000">
                <a:ea typeface="隶书" panose="02010509060101010101" pitchFamily="49" charset="-122"/>
                <a:sym typeface="Math1" pitchFamily="2" charset="2"/>
              </a:rPr>
              <a:t> </a:t>
            </a:r>
            <a:r>
              <a:rPr kumimoji="0" lang="en-US" altLang="zh-CN" sz="2000" i="1">
                <a:ea typeface="隶书" panose="02010509060101010101" pitchFamily="49" charset="-122"/>
                <a:sym typeface="Math1" pitchFamily="2" charset="2"/>
              </a:rPr>
              <a:t>digit</a:t>
            </a:r>
            <a:br>
              <a:rPr kumimoji="0" lang="en-US" altLang="zh-CN" sz="2000" i="1">
                <a:ea typeface="隶书" panose="02010509060101010101" pitchFamily="49" charset="-122"/>
                <a:sym typeface="Math1" pitchFamily="2" charset="2"/>
              </a:rPr>
            </a:br>
            <a:r>
              <a:rPr kumimoji="0" lang="en-US" altLang="zh-CN" sz="2000" i="1">
                <a:ea typeface="隶书" panose="02010509060101010101" pitchFamily="49" charset="-122"/>
                <a:sym typeface="Math1" pitchFamily="2" charset="2"/>
              </a:rPr>
              <a:t>digit</a:t>
            </a:r>
            <a:r>
              <a:rPr kumimoji="0" lang="en-US" altLang="zh-CN" sz="2000">
                <a:ea typeface="隶书" panose="02010509060101010101" pitchFamily="49" charset="-122"/>
                <a:sym typeface="Math1" pitchFamily="2" charset="2"/>
              </a:rPr>
              <a:t> </a:t>
            </a:r>
            <a:r>
              <a:rPr kumimoji="0" lang="en-US" altLang="zh-CN" sz="2000">
                <a:ea typeface="隶书" panose="02010509060101010101" pitchFamily="49" charset="-122"/>
                <a:sym typeface="Symbol" panose="05050102010706020507" pitchFamily="18" charset="2"/>
              </a:rPr>
              <a:t></a:t>
            </a:r>
            <a:r>
              <a:rPr kumimoji="0" lang="en-US" altLang="zh-CN" sz="2000" b="1">
                <a:ea typeface="隶书" panose="02010509060101010101" pitchFamily="49" charset="-122"/>
                <a:sym typeface="Math1" pitchFamily="2" charset="2"/>
              </a:rPr>
              <a:t> </a:t>
            </a:r>
            <a:r>
              <a:rPr kumimoji="0" lang="en-US" altLang="zh-CN" sz="2000">
                <a:ea typeface="隶书" panose="02010509060101010101" pitchFamily="49" charset="-122"/>
                <a:sym typeface="Math1" pitchFamily="2" charset="2"/>
              </a:rPr>
              <a:t>0 | 1 | 2 | 3 | 4 | 5 | 6 | 7 | 8 | 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B0D94725-CE3F-4282-AA0A-59EA0BFC84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右结合例</a:t>
            </a:r>
          </a:p>
        </p:txBody>
      </p:sp>
      <p:sp>
        <p:nvSpPr>
          <p:cNvPr id="27651" name="Text Box 5">
            <a:extLst>
              <a:ext uri="{FF2B5EF4-FFF2-40B4-BE49-F238E27FC236}">
                <a16:creationId xmlns:a16="http://schemas.microsoft.com/office/drawing/2014/main" id="{FDFE7926-36A0-459C-BC2E-6B5468363927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589338" y="120332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/>
              <a:t>asgn</a:t>
            </a:r>
          </a:p>
        </p:txBody>
      </p:sp>
      <p:sp>
        <p:nvSpPr>
          <p:cNvPr id="27652" name="Text Box 6">
            <a:extLst>
              <a:ext uri="{FF2B5EF4-FFF2-40B4-BE49-F238E27FC236}">
                <a16:creationId xmlns:a16="http://schemas.microsoft.com/office/drawing/2014/main" id="{5672EC9D-FC81-48F5-8D4D-80DEE01F4D0F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743200" y="173672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/>
              <a:t>var</a:t>
            </a:r>
          </a:p>
        </p:txBody>
      </p:sp>
      <p:sp>
        <p:nvSpPr>
          <p:cNvPr id="27653" name="Text Box 7">
            <a:extLst>
              <a:ext uri="{FF2B5EF4-FFF2-40B4-BE49-F238E27FC236}">
                <a16:creationId xmlns:a16="http://schemas.microsoft.com/office/drawing/2014/main" id="{FD5D2B39-881F-4943-A655-522D4B393394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810000" y="242252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/>
              <a:t>var</a:t>
            </a:r>
          </a:p>
        </p:txBody>
      </p:sp>
      <p:sp>
        <p:nvSpPr>
          <p:cNvPr id="27654" name="Text Box 8">
            <a:extLst>
              <a:ext uri="{FF2B5EF4-FFF2-40B4-BE49-F238E27FC236}">
                <a16:creationId xmlns:a16="http://schemas.microsoft.com/office/drawing/2014/main" id="{7E74015A-D0E7-4FD7-9818-764CD1A24ABA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525963" y="173672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>
                <a:ea typeface="隶书" panose="02010509060101010101" pitchFamily="49" charset="-122"/>
              </a:rPr>
              <a:t>asgn</a:t>
            </a:r>
          </a:p>
        </p:txBody>
      </p:sp>
      <p:sp>
        <p:nvSpPr>
          <p:cNvPr id="27655" name="Text Box 9">
            <a:extLst>
              <a:ext uri="{FF2B5EF4-FFF2-40B4-BE49-F238E27FC236}">
                <a16:creationId xmlns:a16="http://schemas.microsoft.com/office/drawing/2014/main" id="{A8A89BEF-7E66-4BCA-B005-4742DB2F025A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334000" y="318452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/>
              <a:t>var</a:t>
            </a:r>
          </a:p>
        </p:txBody>
      </p:sp>
      <p:sp>
        <p:nvSpPr>
          <p:cNvPr id="27656" name="Text Box 10">
            <a:extLst>
              <a:ext uri="{FF2B5EF4-FFF2-40B4-BE49-F238E27FC236}">
                <a16:creationId xmlns:a16="http://schemas.microsoft.com/office/drawing/2014/main" id="{D264DFC7-EB3A-4216-B283-1302DFB89566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334000" y="242252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/>
              <a:t>asgn</a:t>
            </a:r>
          </a:p>
        </p:txBody>
      </p:sp>
      <p:sp>
        <p:nvSpPr>
          <p:cNvPr id="27657" name="Text Box 11">
            <a:extLst>
              <a:ext uri="{FF2B5EF4-FFF2-40B4-BE49-F238E27FC236}">
                <a16:creationId xmlns:a16="http://schemas.microsoft.com/office/drawing/2014/main" id="{00981DE2-654F-4359-A126-D73A539063E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486400" y="3717925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c</a:t>
            </a:r>
          </a:p>
        </p:txBody>
      </p:sp>
      <p:sp>
        <p:nvSpPr>
          <p:cNvPr id="27658" name="Text Box 12">
            <a:extLst>
              <a:ext uri="{FF2B5EF4-FFF2-40B4-BE49-F238E27FC236}">
                <a16:creationId xmlns:a16="http://schemas.microsoft.com/office/drawing/2014/main" id="{2F578BC8-7E5A-4D44-A469-05A3FC940EB7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962400" y="2955925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b</a:t>
            </a:r>
          </a:p>
        </p:txBody>
      </p:sp>
      <p:sp>
        <p:nvSpPr>
          <p:cNvPr id="27659" name="Text Box 13">
            <a:extLst>
              <a:ext uri="{FF2B5EF4-FFF2-40B4-BE49-F238E27FC236}">
                <a16:creationId xmlns:a16="http://schemas.microsoft.com/office/drawing/2014/main" id="{3F8208E4-7169-4240-B42A-3648DE1BA071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895600" y="2270125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a</a:t>
            </a:r>
            <a:endParaRPr kumimoji="0" lang="en-US" altLang="zh-CN" sz="2000" b="1">
              <a:solidFill>
                <a:srgbClr val="00CC00"/>
              </a:solidFill>
            </a:endParaRPr>
          </a:p>
        </p:txBody>
      </p:sp>
      <p:sp>
        <p:nvSpPr>
          <p:cNvPr id="27660" name="Text Box 14">
            <a:extLst>
              <a:ext uri="{FF2B5EF4-FFF2-40B4-BE49-F238E27FC236}">
                <a16:creationId xmlns:a16="http://schemas.microsoft.com/office/drawing/2014/main" id="{6038898E-04C5-477B-82D3-190836AA8BF4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724400" y="2346325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=</a:t>
            </a:r>
          </a:p>
        </p:txBody>
      </p:sp>
      <p:sp>
        <p:nvSpPr>
          <p:cNvPr id="27661" name="Text Box 15">
            <a:extLst>
              <a:ext uri="{FF2B5EF4-FFF2-40B4-BE49-F238E27FC236}">
                <a16:creationId xmlns:a16="http://schemas.microsoft.com/office/drawing/2014/main" id="{36A3140D-E0F1-4D14-A347-09E7ADC21A6E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810000" y="1812925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=</a:t>
            </a:r>
          </a:p>
        </p:txBody>
      </p:sp>
      <p:sp>
        <p:nvSpPr>
          <p:cNvPr id="27662" name="Line 16">
            <a:extLst>
              <a:ext uri="{FF2B5EF4-FFF2-40B4-BE49-F238E27FC236}">
                <a16:creationId xmlns:a16="http://schemas.microsoft.com/office/drawing/2014/main" id="{80FA4DB6-DF6F-47A2-9B08-3B37A8D576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1508125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63" name="Line 17">
            <a:extLst>
              <a:ext uri="{FF2B5EF4-FFF2-40B4-BE49-F238E27FC236}">
                <a16:creationId xmlns:a16="http://schemas.microsoft.com/office/drawing/2014/main" id="{6B3BD200-EFAD-4027-84A0-8789357AC4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29000" y="1508125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64" name="Line 18">
            <a:extLst>
              <a:ext uri="{FF2B5EF4-FFF2-40B4-BE49-F238E27FC236}">
                <a16:creationId xmlns:a16="http://schemas.microsoft.com/office/drawing/2014/main" id="{097B0124-8411-4464-9925-83E8849BEF9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117725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65" name="Line 19">
            <a:extLst>
              <a:ext uri="{FF2B5EF4-FFF2-40B4-BE49-F238E27FC236}">
                <a16:creationId xmlns:a16="http://schemas.microsoft.com/office/drawing/2014/main" id="{F74D12AD-27DA-44A0-99B9-86BCADF600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400" y="2117725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66" name="Line 20">
            <a:extLst>
              <a:ext uri="{FF2B5EF4-FFF2-40B4-BE49-F238E27FC236}">
                <a16:creationId xmlns:a16="http://schemas.microsoft.com/office/drawing/2014/main" id="{B64BC49F-D1B3-4A33-A612-0456D4AAD8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8600" y="158432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67" name="Line 21">
            <a:extLst>
              <a:ext uri="{FF2B5EF4-FFF2-40B4-BE49-F238E27FC236}">
                <a16:creationId xmlns:a16="http://schemas.microsoft.com/office/drawing/2014/main" id="{44CE86A2-3269-47EF-AAF4-4BBB21FC6C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5000" y="356552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68" name="Line 22">
            <a:extLst>
              <a:ext uri="{FF2B5EF4-FFF2-40B4-BE49-F238E27FC236}">
                <a16:creationId xmlns:a16="http://schemas.microsoft.com/office/drawing/2014/main" id="{3AC96AB2-4DAA-4A3B-92B2-8C406F06FB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1000" y="280352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69" name="Line 23">
            <a:extLst>
              <a:ext uri="{FF2B5EF4-FFF2-40B4-BE49-F238E27FC236}">
                <a16:creationId xmlns:a16="http://schemas.microsoft.com/office/drawing/2014/main" id="{013D3713-35BB-4A60-9CC5-2535F669B7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4200" y="211772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70" name="Line 24">
            <a:extLst>
              <a:ext uri="{FF2B5EF4-FFF2-40B4-BE49-F238E27FC236}">
                <a16:creationId xmlns:a16="http://schemas.microsoft.com/office/drawing/2014/main" id="{A3C369B2-11FE-4F28-B8B9-1072A11A75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53000" y="211772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71" name="Line 25">
            <a:extLst>
              <a:ext uri="{FF2B5EF4-FFF2-40B4-BE49-F238E27FC236}">
                <a16:creationId xmlns:a16="http://schemas.microsoft.com/office/drawing/2014/main" id="{1E491049-5623-4B92-91A3-BEFD033C22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5000" y="280352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72" name="Text Box 48">
            <a:extLst>
              <a:ext uri="{FF2B5EF4-FFF2-40B4-BE49-F238E27FC236}">
                <a16:creationId xmlns:a16="http://schemas.microsoft.com/office/drawing/2014/main" id="{263E9F45-EB6E-465E-BF23-F31087C6F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810000"/>
            <a:ext cx="38100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asgn</a:t>
            </a:r>
            <a:r>
              <a:rPr kumimoji="0" lang="en-US" altLang="zh-CN" sz="2000"/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</a:t>
            </a:r>
            <a:r>
              <a:rPr kumimoji="0" lang="en-US" altLang="zh-CN" sz="2000"/>
              <a:t> </a:t>
            </a:r>
            <a:r>
              <a:rPr kumimoji="0" lang="en-US" altLang="zh-CN" sz="2400" i="1">
                <a:sym typeface="Math1" pitchFamily="2" charset="2"/>
              </a:rPr>
              <a:t>var = asgn | var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sym typeface="Math1" pitchFamily="2" charset="2"/>
              </a:rPr>
              <a:t>var</a:t>
            </a:r>
            <a:r>
              <a:rPr kumimoji="0" lang="en-US" altLang="zh-CN" sz="2400">
                <a:sym typeface="Math1" pitchFamily="2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</a:t>
            </a:r>
            <a:r>
              <a:rPr kumimoji="0" lang="en-US" altLang="zh-CN" sz="2400">
                <a:sym typeface="Math1" pitchFamily="2" charset="2"/>
              </a:rPr>
              <a:t>  a | b | c | …| z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F6D8BE9-5940-487F-8A2C-DBD9301746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2.2.4  </a:t>
            </a:r>
            <a:r>
              <a:rPr lang="zh-CN" altLang="en-US"/>
              <a:t>运算符优先级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5C8923C7-7968-4140-8044-74C074B1B1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9+5*2——(9+5)*2 </a:t>
            </a:r>
            <a:r>
              <a:rPr lang="zh-CN" altLang="en-US" dirty="0"/>
              <a:t>还是 </a:t>
            </a:r>
            <a:r>
              <a:rPr lang="en-US" altLang="zh-CN" dirty="0"/>
              <a:t>9+(5*2)</a:t>
            </a:r>
            <a:r>
              <a:rPr lang="zh-CN" altLang="en-US" dirty="0"/>
              <a:t>？</a:t>
            </a:r>
          </a:p>
          <a:p>
            <a:pPr eaLnBrk="1" hangingPunct="1"/>
            <a:r>
              <a:rPr lang="zh-CN" altLang="en-US" dirty="0"/>
              <a:t>运算符优先级：*的优先级比</a:t>
            </a:r>
            <a:r>
              <a:rPr lang="en-US" altLang="zh-CN" dirty="0"/>
              <a:t>+</a:t>
            </a:r>
            <a:r>
              <a:rPr lang="zh-CN" altLang="en-US" dirty="0"/>
              <a:t>高</a:t>
            </a:r>
          </a:p>
          <a:p>
            <a:pPr eaLnBrk="1" hangingPunct="1"/>
            <a:r>
              <a:rPr lang="zh-CN" altLang="en-US" dirty="0"/>
              <a:t>典型的优先级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en-US" altLang="zh-CN" b="1" dirty="0">
                <a:solidFill>
                  <a:srgbClr val="3333CC"/>
                </a:solidFill>
              </a:rPr>
              <a:t>(   )</a:t>
            </a:r>
            <a:br>
              <a:rPr lang="en-US" altLang="zh-CN" dirty="0">
                <a:solidFill>
                  <a:srgbClr val="3333CC"/>
                </a:solidFill>
              </a:rPr>
            </a:br>
            <a:r>
              <a:rPr lang="en-US" altLang="zh-CN" dirty="0">
                <a:solidFill>
                  <a:srgbClr val="3333CC"/>
                </a:solidFill>
              </a:rPr>
              <a:t>  </a:t>
            </a:r>
            <a:r>
              <a:rPr lang="en-US" altLang="zh-CN" b="1" dirty="0">
                <a:solidFill>
                  <a:srgbClr val="3333CC"/>
                </a:solidFill>
              </a:rPr>
              <a:t>*  /</a:t>
            </a:r>
            <a:r>
              <a:rPr lang="en-US" altLang="zh-CN" dirty="0">
                <a:solidFill>
                  <a:srgbClr val="3333CC"/>
                </a:solidFill>
              </a:rPr>
              <a:t>  ——</a:t>
            </a:r>
            <a:r>
              <a:rPr lang="zh-CN" altLang="en-US" dirty="0">
                <a:solidFill>
                  <a:srgbClr val="FF3300"/>
                </a:solidFill>
              </a:rPr>
              <a:t>左结合</a:t>
            </a:r>
            <a:br>
              <a:rPr lang="zh-CN" altLang="en-US" dirty="0">
                <a:solidFill>
                  <a:srgbClr val="3333CC"/>
                </a:solidFill>
              </a:rPr>
            </a:br>
            <a:r>
              <a:rPr lang="zh-CN" altLang="en-US" dirty="0">
                <a:solidFill>
                  <a:srgbClr val="3333CC"/>
                </a:solidFill>
              </a:rPr>
              <a:t>  </a:t>
            </a:r>
            <a:r>
              <a:rPr lang="en-US" altLang="zh-CN" b="1" dirty="0">
                <a:solidFill>
                  <a:srgbClr val="3333CC"/>
                </a:solidFill>
              </a:rPr>
              <a:t>+  -</a:t>
            </a:r>
            <a:r>
              <a:rPr lang="en-US" altLang="zh-CN" dirty="0">
                <a:solidFill>
                  <a:srgbClr val="3333CC"/>
                </a:solidFill>
              </a:rPr>
              <a:t>  ——</a:t>
            </a:r>
            <a:r>
              <a:rPr lang="zh-CN" altLang="en-US" dirty="0">
                <a:solidFill>
                  <a:srgbClr val="FF3300"/>
                </a:solidFill>
              </a:rPr>
              <a:t>左结合</a:t>
            </a:r>
            <a:endParaRPr lang="en-US" altLang="zh-CN" dirty="0">
              <a:solidFill>
                <a:srgbClr val="FF3300"/>
              </a:solidFill>
            </a:endParaRPr>
          </a:p>
          <a:p>
            <a:pPr eaLnBrk="1" hangingPunct="1"/>
            <a:r>
              <a:rPr lang="zh-CN" altLang="en-US" dirty="0"/>
              <a:t>保持二义性文法，附加结合律和优先级来消除二义性（稍后介绍词法分析器生成工具）</a:t>
            </a:r>
            <a:endParaRPr lang="zh-CN" altLang="en-US" dirty="0">
              <a:solidFill>
                <a:srgbClr val="FF3300"/>
              </a:solidFill>
            </a:endParaRPr>
          </a:p>
        </p:txBody>
      </p:sp>
      <p:sp>
        <p:nvSpPr>
          <p:cNvPr id="28676" name="AutoShape 4">
            <a:extLst>
              <a:ext uri="{FF2B5EF4-FFF2-40B4-BE49-F238E27FC236}">
                <a16:creationId xmlns:a16="http://schemas.microsoft.com/office/drawing/2014/main" id="{A45D9478-957B-456A-8C08-B551B74C5E9E}"/>
              </a:ext>
            </a:extLst>
          </p:cNvPr>
          <p:cNvSpPr>
            <a:spLocks/>
          </p:cNvSpPr>
          <p:nvPr/>
        </p:nvSpPr>
        <p:spPr bwMode="auto">
          <a:xfrm>
            <a:off x="1219200" y="3200400"/>
            <a:ext cx="381000" cy="1219200"/>
          </a:xfrm>
          <a:prstGeom prst="leftBrace">
            <a:avLst>
              <a:gd name="adj1" fmla="val 26667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1043361-323B-4C71-8545-A330203609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设计非二义性的表达式文法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4B929733-3813-4DB1-8B1E-B81D172606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i="1" dirty="0"/>
              <a:t>expr </a:t>
            </a:r>
            <a:r>
              <a:rPr kumimoji="0" lang="en-US" altLang="zh-CN" sz="2800" dirty="0">
                <a:sym typeface="Symbol" panose="05050102010706020507" pitchFamily="18" charset="2"/>
              </a:rPr>
              <a:t></a:t>
            </a:r>
            <a:r>
              <a:rPr kumimoji="0" lang="en-US" altLang="zh-CN" sz="2800" i="1" dirty="0"/>
              <a:t> </a:t>
            </a:r>
            <a:r>
              <a:rPr kumimoji="0" lang="en-US" altLang="zh-CN" sz="2800" dirty="0">
                <a:sym typeface="Math1" pitchFamily="2" charset="2"/>
              </a:rPr>
              <a:t> </a:t>
            </a:r>
            <a:r>
              <a:rPr kumimoji="0" lang="en-US" altLang="zh-CN" sz="2800" i="1" dirty="0">
                <a:sym typeface="Math1" pitchFamily="2" charset="2"/>
              </a:rPr>
              <a:t>expr + term | expr – term | term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i="1" dirty="0">
                <a:sym typeface="Math1" pitchFamily="2" charset="2"/>
              </a:rPr>
              <a:t>term</a:t>
            </a:r>
            <a:r>
              <a:rPr kumimoji="0" lang="en-US" altLang="zh-CN" sz="2800" dirty="0">
                <a:sym typeface="Math1" pitchFamily="2" charset="2"/>
              </a:rPr>
              <a:t> </a:t>
            </a:r>
            <a:r>
              <a:rPr kumimoji="0" lang="en-US" altLang="zh-CN" sz="2800" dirty="0">
                <a:sym typeface="Symbol" panose="05050102010706020507" pitchFamily="18" charset="2"/>
              </a:rPr>
              <a:t></a:t>
            </a:r>
            <a:r>
              <a:rPr kumimoji="0" lang="en-US" altLang="zh-CN" sz="2800" dirty="0">
                <a:sym typeface="Math1" pitchFamily="2" charset="2"/>
              </a:rPr>
              <a:t>  </a:t>
            </a:r>
            <a:r>
              <a:rPr kumimoji="0" lang="en-US" altLang="zh-CN" sz="2800" i="1" dirty="0">
                <a:sym typeface="Math1" pitchFamily="2" charset="2"/>
              </a:rPr>
              <a:t>term * factor | term / factor | factor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i="1" dirty="0">
                <a:sym typeface="Math1" pitchFamily="2" charset="2"/>
              </a:rPr>
              <a:t>factor </a:t>
            </a:r>
            <a:r>
              <a:rPr kumimoji="0" lang="en-US" altLang="zh-CN" sz="2800" dirty="0">
                <a:sym typeface="Symbol" panose="05050102010706020507" pitchFamily="18" charset="2"/>
              </a:rPr>
              <a:t></a:t>
            </a:r>
            <a:r>
              <a:rPr kumimoji="0" lang="en-US" altLang="zh-CN" sz="2800" i="1" dirty="0">
                <a:sym typeface="Math1" pitchFamily="2" charset="2"/>
              </a:rPr>
              <a:t> </a:t>
            </a:r>
            <a:r>
              <a:rPr kumimoji="0" lang="en-US" altLang="zh-CN" sz="2800" dirty="0">
                <a:sym typeface="Math1" pitchFamily="2" charset="2"/>
              </a:rPr>
              <a:t> </a:t>
            </a:r>
            <a:r>
              <a:rPr kumimoji="0" lang="en-US" altLang="zh-CN" sz="2800" b="1" dirty="0">
                <a:ea typeface="黑体" panose="02010609060101010101" pitchFamily="49" charset="-122"/>
                <a:sym typeface="Math1" pitchFamily="2" charset="2"/>
              </a:rPr>
              <a:t>digit</a:t>
            </a:r>
            <a:r>
              <a:rPr kumimoji="0" lang="en-US" altLang="zh-CN" sz="2800" i="1" dirty="0">
                <a:sym typeface="Math1" pitchFamily="2" charset="2"/>
              </a:rPr>
              <a:t> | (  expr  )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dirty="0">
                <a:sym typeface="Math1" pitchFamily="2" charset="2"/>
              </a:rPr>
              <a:t>digit</a:t>
            </a:r>
            <a:r>
              <a:rPr kumimoji="0" lang="en-US" altLang="zh-CN" sz="2800" i="1" dirty="0">
                <a:sym typeface="Math1" pitchFamily="2" charset="2"/>
              </a:rPr>
              <a:t> </a:t>
            </a:r>
            <a:r>
              <a:rPr kumimoji="0" lang="en-US" altLang="zh-CN" sz="2800" dirty="0">
                <a:sym typeface="Symbol" panose="05050102010706020507" pitchFamily="18" charset="2"/>
              </a:rPr>
              <a:t></a:t>
            </a:r>
            <a:r>
              <a:rPr kumimoji="0" lang="en-US" altLang="zh-CN" sz="2800" i="1" dirty="0">
                <a:sym typeface="Math1" pitchFamily="2" charset="2"/>
              </a:rPr>
              <a:t> </a:t>
            </a:r>
            <a:r>
              <a:rPr kumimoji="0" lang="en-US" altLang="zh-CN" sz="2800" dirty="0">
                <a:sym typeface="Math1" pitchFamily="2" charset="2"/>
              </a:rPr>
              <a:t> 0 | 1 | 2 | 3 | … | 9</a:t>
            </a:r>
            <a:endParaRPr lang="en-US" altLang="zh-CN" sz="2800" dirty="0"/>
          </a:p>
          <a:p>
            <a:pPr eaLnBrk="1" hangingPunct="1"/>
            <a:r>
              <a:rPr lang="zh-CN" altLang="en-US" dirty="0"/>
              <a:t>体现优先级和结合律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expr</a:t>
            </a:r>
            <a:r>
              <a:rPr lang="zh-CN" altLang="en-US" dirty="0"/>
              <a:t>、</a:t>
            </a:r>
            <a:r>
              <a:rPr lang="en-US" altLang="zh-CN" dirty="0"/>
              <a:t>term</a:t>
            </a:r>
            <a:r>
              <a:rPr lang="zh-CN" altLang="en-US" dirty="0"/>
              <a:t>、</a:t>
            </a:r>
            <a:r>
              <a:rPr lang="en-US" altLang="zh-CN" dirty="0"/>
              <a:t>factor——</a:t>
            </a:r>
            <a:r>
              <a:rPr lang="zh-CN" altLang="en-US" dirty="0"/>
              <a:t>不同的优先级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左（右）递归</a:t>
            </a:r>
            <a:r>
              <a:rPr lang="en-US" altLang="zh-CN" dirty="0"/>
              <a:t>——</a:t>
            </a:r>
            <a:r>
              <a:rPr lang="zh-CN" altLang="en-US" dirty="0"/>
              <a:t>左（右）结合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0BA491DA-ECFF-44A0-94CF-FAF711B2B4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推导练习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4838BDAA-C06A-433C-A6DB-172D8E5B46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zh-CN"/>
              <a:t>7 – 3 * (4 + 6)</a:t>
            </a:r>
          </a:p>
        </p:txBody>
      </p:sp>
      <p:sp>
        <p:nvSpPr>
          <p:cNvPr id="155652" name="Rectangle 4">
            <a:extLst>
              <a:ext uri="{FF2B5EF4-FFF2-40B4-BE49-F238E27FC236}">
                <a16:creationId xmlns:a16="http://schemas.microsoft.com/office/drawing/2014/main" id="{75A60496-CD10-4C3A-979A-4B5896C83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2209800"/>
            <a:ext cx="396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i="1"/>
              <a:t>expr</a:t>
            </a:r>
            <a:r>
              <a:rPr kumimoji="0" lang="en-US" altLang="zh-CN" sz="2400">
                <a:sym typeface="Symbol" panose="05050102010706020507" pitchFamily="18" charset="2"/>
              </a:rPr>
              <a:t></a:t>
            </a:r>
            <a:r>
              <a:rPr kumimoji="0" lang="en-US" altLang="zh-CN" sz="2400" i="1">
                <a:solidFill>
                  <a:srgbClr val="3333CC"/>
                </a:solidFill>
                <a:sym typeface="Symbol" panose="05050102010706020507" pitchFamily="18" charset="2"/>
              </a:rPr>
              <a:t>expr</a:t>
            </a:r>
            <a:r>
              <a:rPr kumimoji="0" lang="en-US" altLang="zh-CN" sz="2400">
                <a:sym typeface="Symbol" panose="05050102010706020507" pitchFamily="18" charset="2"/>
              </a:rPr>
              <a:t> – </a:t>
            </a:r>
            <a:r>
              <a:rPr kumimoji="0" lang="en-US" altLang="zh-CN" sz="2400" i="1">
                <a:sym typeface="Symbol" panose="05050102010706020507" pitchFamily="18" charset="2"/>
              </a:rPr>
              <a:t>term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</a:t>
            </a:r>
            <a:r>
              <a:rPr kumimoji="0" lang="en-US" altLang="zh-CN" sz="2400" i="1">
                <a:solidFill>
                  <a:srgbClr val="3333CC"/>
                </a:solidFill>
                <a:sym typeface="Symbol" panose="05050102010706020507" pitchFamily="18" charset="2"/>
              </a:rPr>
              <a:t>term</a:t>
            </a:r>
            <a:r>
              <a:rPr kumimoji="0" lang="en-US" altLang="zh-CN" sz="2400">
                <a:sym typeface="Symbol" panose="05050102010706020507" pitchFamily="18" charset="2"/>
              </a:rPr>
              <a:t> – </a:t>
            </a:r>
            <a:r>
              <a:rPr kumimoji="0" lang="en-US" altLang="zh-CN" sz="2400" i="1">
                <a:sym typeface="Symbol" panose="05050102010706020507" pitchFamily="18" charset="2"/>
              </a:rPr>
              <a:t>term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</a:t>
            </a:r>
            <a:r>
              <a:rPr kumimoji="0" lang="en-US" altLang="zh-CN" sz="2400" i="1">
                <a:solidFill>
                  <a:srgbClr val="3333CC"/>
                </a:solidFill>
                <a:sym typeface="Symbol" panose="05050102010706020507" pitchFamily="18" charset="2"/>
              </a:rPr>
              <a:t>factor</a:t>
            </a:r>
            <a:r>
              <a:rPr kumimoji="0" lang="en-US" altLang="zh-CN" sz="2400">
                <a:sym typeface="Symbol" panose="05050102010706020507" pitchFamily="18" charset="2"/>
              </a:rPr>
              <a:t> – </a:t>
            </a:r>
            <a:r>
              <a:rPr kumimoji="0" lang="en-US" altLang="zh-CN" sz="2400" i="1">
                <a:sym typeface="Symbol" panose="05050102010706020507" pitchFamily="18" charset="2"/>
              </a:rPr>
              <a:t>term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       </a:t>
            </a:r>
            <a:r>
              <a:rPr kumimoji="0" lang="en-US" altLang="zh-CN" sz="2400">
                <a:sym typeface="Symbol" panose="05050102010706020507" pitchFamily="18" charset="2"/>
              </a:rPr>
              <a:t>7 – </a:t>
            </a:r>
            <a:r>
              <a:rPr kumimoji="0" lang="en-US" altLang="zh-CN" sz="2400" i="1">
                <a:solidFill>
                  <a:srgbClr val="3333CC"/>
                </a:solidFill>
                <a:sym typeface="Symbol" panose="05050102010706020507" pitchFamily="18" charset="2"/>
              </a:rPr>
              <a:t>term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7 – </a:t>
            </a:r>
            <a:r>
              <a:rPr kumimoji="0" lang="en-US" altLang="zh-CN" sz="2400" i="1">
                <a:solidFill>
                  <a:srgbClr val="3333CC"/>
                </a:solidFill>
                <a:sym typeface="Symbol" panose="05050102010706020507" pitchFamily="18" charset="2"/>
              </a:rPr>
              <a:t>term</a:t>
            </a:r>
            <a:r>
              <a:rPr kumimoji="0" lang="en-US" altLang="zh-CN" sz="2400">
                <a:sym typeface="Symbol" panose="05050102010706020507" pitchFamily="18" charset="2"/>
              </a:rPr>
              <a:t> * </a:t>
            </a:r>
            <a:r>
              <a:rPr kumimoji="0" lang="en-US" altLang="zh-CN" sz="2400" i="1">
                <a:sym typeface="Symbol" panose="05050102010706020507" pitchFamily="18" charset="2"/>
              </a:rPr>
              <a:t>factor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7 – </a:t>
            </a:r>
            <a:r>
              <a:rPr kumimoji="0" lang="en-US" altLang="zh-CN" sz="2400" i="1">
                <a:solidFill>
                  <a:srgbClr val="3333CC"/>
                </a:solidFill>
                <a:sym typeface="Symbol" panose="05050102010706020507" pitchFamily="18" charset="2"/>
              </a:rPr>
              <a:t>factor</a:t>
            </a:r>
            <a:r>
              <a:rPr kumimoji="0" lang="en-US" altLang="zh-CN" sz="2400">
                <a:sym typeface="Symbol" panose="05050102010706020507" pitchFamily="18" charset="2"/>
              </a:rPr>
              <a:t> * </a:t>
            </a:r>
            <a:r>
              <a:rPr kumimoji="0" lang="en-US" altLang="zh-CN" sz="2400" i="1">
                <a:sym typeface="Symbol" panose="05050102010706020507" pitchFamily="18" charset="2"/>
              </a:rPr>
              <a:t>factor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7 – 3 * </a:t>
            </a:r>
            <a:r>
              <a:rPr kumimoji="0" lang="en-US" altLang="zh-CN" sz="2400" i="1">
                <a:solidFill>
                  <a:srgbClr val="3333CC"/>
                </a:solidFill>
                <a:sym typeface="Symbol" panose="05050102010706020507" pitchFamily="18" charset="2"/>
              </a:rPr>
              <a:t>factor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7 – 3 * (  </a:t>
            </a:r>
            <a:r>
              <a:rPr kumimoji="0" lang="en-US" altLang="zh-CN" sz="2400" i="1">
                <a:solidFill>
                  <a:srgbClr val="3333CC"/>
                </a:solidFill>
                <a:sym typeface="Symbol" panose="05050102010706020507" pitchFamily="18" charset="2"/>
              </a:rPr>
              <a:t>expr</a:t>
            </a:r>
            <a:r>
              <a:rPr kumimoji="0" lang="en-US" altLang="zh-CN" sz="2400">
                <a:sym typeface="Symbol" panose="05050102010706020507" pitchFamily="18" charset="2"/>
              </a:rPr>
              <a:t> )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7 – 3 * (  </a:t>
            </a:r>
            <a:r>
              <a:rPr kumimoji="0" lang="en-US" altLang="zh-CN" sz="2400" i="1">
                <a:solidFill>
                  <a:srgbClr val="3333CC"/>
                </a:solidFill>
                <a:sym typeface="Symbol" panose="05050102010706020507" pitchFamily="18" charset="2"/>
              </a:rPr>
              <a:t>expr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+</a:t>
            </a:r>
            <a:r>
              <a:rPr kumimoji="0" lang="en-US" altLang="zh-CN" sz="2400" i="1">
                <a:sym typeface="Symbol" panose="05050102010706020507" pitchFamily="18" charset="2"/>
              </a:rPr>
              <a:t> term</a:t>
            </a:r>
            <a:r>
              <a:rPr kumimoji="0" lang="en-US" altLang="zh-CN" sz="2400">
                <a:sym typeface="Symbol" panose="05050102010706020507" pitchFamily="18" charset="2"/>
              </a:rPr>
              <a:t> )</a:t>
            </a:r>
          </a:p>
        </p:txBody>
      </p:sp>
      <p:sp>
        <p:nvSpPr>
          <p:cNvPr id="155654" name="Rectangle 6">
            <a:extLst>
              <a:ext uri="{FF2B5EF4-FFF2-40B4-BE49-F238E27FC236}">
                <a16:creationId xmlns:a16="http://schemas.microsoft.com/office/drawing/2014/main" id="{9118646A-07F0-4824-8DF7-75BF68EF5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3657600"/>
            <a:ext cx="39624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7 – 3 * (  </a:t>
            </a:r>
            <a:r>
              <a:rPr kumimoji="0" lang="en-US" altLang="zh-CN" sz="2400" i="1">
                <a:solidFill>
                  <a:srgbClr val="3333CC"/>
                </a:solidFill>
                <a:sym typeface="Symbol" panose="05050102010706020507" pitchFamily="18" charset="2"/>
              </a:rPr>
              <a:t>term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+</a:t>
            </a:r>
            <a:r>
              <a:rPr kumimoji="0" lang="en-US" altLang="zh-CN" sz="2400" i="1">
                <a:sym typeface="Symbol" panose="05050102010706020507" pitchFamily="18" charset="2"/>
              </a:rPr>
              <a:t> term</a:t>
            </a:r>
            <a:r>
              <a:rPr kumimoji="0" lang="en-US" altLang="zh-CN" sz="2400">
                <a:sym typeface="Symbol" panose="05050102010706020507" pitchFamily="18" charset="2"/>
              </a:rPr>
              <a:t> )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7 – 3 * (  </a:t>
            </a:r>
            <a:r>
              <a:rPr kumimoji="0" lang="en-US" altLang="zh-CN" sz="2400" i="1">
                <a:solidFill>
                  <a:srgbClr val="3333CC"/>
                </a:solidFill>
                <a:sym typeface="Symbol" panose="05050102010706020507" pitchFamily="18" charset="2"/>
              </a:rPr>
              <a:t>factor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+</a:t>
            </a:r>
            <a:r>
              <a:rPr kumimoji="0" lang="en-US" altLang="zh-CN" sz="2400" i="1">
                <a:sym typeface="Symbol" panose="05050102010706020507" pitchFamily="18" charset="2"/>
              </a:rPr>
              <a:t> term</a:t>
            </a:r>
            <a:r>
              <a:rPr kumimoji="0" lang="en-US" altLang="zh-CN" sz="2400">
                <a:sym typeface="Symbol" panose="05050102010706020507" pitchFamily="18" charset="2"/>
              </a:rPr>
              <a:t> )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7 – 3 * (  4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+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 i="1">
                <a:solidFill>
                  <a:srgbClr val="3333CC"/>
                </a:solidFill>
                <a:sym typeface="Symbol" panose="05050102010706020507" pitchFamily="18" charset="2"/>
              </a:rPr>
              <a:t>term</a:t>
            </a:r>
            <a:r>
              <a:rPr kumimoji="0" lang="en-US" altLang="zh-CN" sz="2400">
                <a:sym typeface="Symbol" panose="05050102010706020507" pitchFamily="18" charset="2"/>
              </a:rPr>
              <a:t> )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7 – 3 * (  4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+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 i="1">
                <a:solidFill>
                  <a:srgbClr val="3333CC"/>
                </a:solidFill>
                <a:sym typeface="Symbol" panose="05050102010706020507" pitchFamily="18" charset="2"/>
              </a:rPr>
              <a:t>factor</a:t>
            </a:r>
            <a:r>
              <a:rPr kumimoji="0" lang="en-US" altLang="zh-CN" sz="2400">
                <a:sym typeface="Symbol" panose="05050102010706020507" pitchFamily="18" charset="2"/>
              </a:rPr>
              <a:t> )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7 – 3 * (  4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+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6 )</a:t>
            </a:r>
          </a:p>
        </p:txBody>
      </p:sp>
      <p:pic>
        <p:nvPicPr>
          <p:cNvPr id="155655" name="Picture 7" descr="derive">
            <a:extLst>
              <a:ext uri="{FF2B5EF4-FFF2-40B4-BE49-F238E27FC236}">
                <a16:creationId xmlns:a16="http://schemas.microsoft.com/office/drawing/2014/main" id="{B365AE54-0F9E-43BF-8E1B-F4C7BC026B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0"/>
            <a:ext cx="3970338" cy="369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2" grpId="0" autoUpdateAnimBg="0"/>
      <p:bldP spid="155654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678" name="Picture 6" descr="1b">
            <a:extLst>
              <a:ext uri="{FF2B5EF4-FFF2-40B4-BE49-F238E27FC236}">
                <a16:creationId xmlns:a16="http://schemas.microsoft.com/office/drawing/2014/main" id="{12E8E7AD-33E7-46A0-8E73-B68FA391F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752600"/>
            <a:ext cx="4113213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7" name="Rectangle 2">
            <a:extLst>
              <a:ext uri="{FF2B5EF4-FFF2-40B4-BE49-F238E27FC236}">
                <a16:creationId xmlns:a16="http://schemas.microsoft.com/office/drawing/2014/main" id="{829171FE-7A65-4411-96F5-1FE20028E7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推导练习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5728DF41-BDFF-42CE-A2B2-24EF7A8F03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1066800"/>
          </a:xfrm>
        </p:spPr>
        <p:txBody>
          <a:bodyPr/>
          <a:lstStyle/>
          <a:p>
            <a:pPr eaLnBrk="1" hangingPunct="1"/>
            <a:r>
              <a:rPr lang="en-US" altLang="zh-CN"/>
              <a:t>S</a:t>
            </a:r>
            <a:r>
              <a:rPr lang="en-US" altLang="zh-CN">
                <a:latin typeface="宋体" panose="02010600030101010101" pitchFamily="2" charset="-122"/>
              </a:rPr>
              <a:t>→</a:t>
            </a:r>
            <a:r>
              <a:rPr lang="en-US" altLang="zh-CN"/>
              <a:t> S S + | S S * | a</a:t>
            </a:r>
            <a:br>
              <a:rPr lang="en-US" altLang="zh-CN"/>
            </a:br>
            <a:r>
              <a:rPr lang="zh-CN" altLang="en-US"/>
              <a:t>给出</a:t>
            </a:r>
            <a:r>
              <a:rPr lang="en-US" altLang="zh-CN"/>
              <a:t>aa+a*</a:t>
            </a:r>
            <a:r>
              <a:rPr lang="zh-CN" altLang="en-US"/>
              <a:t>的推导和语法树</a:t>
            </a:r>
          </a:p>
        </p:txBody>
      </p:sp>
      <p:sp>
        <p:nvSpPr>
          <p:cNvPr id="156676" name="Rectangle 4">
            <a:extLst>
              <a:ext uri="{FF2B5EF4-FFF2-40B4-BE49-F238E27FC236}">
                <a16:creationId xmlns:a16="http://schemas.microsoft.com/office/drawing/2014/main" id="{785AD477-5823-4121-B99D-49C8B33A1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514600"/>
            <a:ext cx="71628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i="1">
                <a:sym typeface="Symbol" panose="05050102010706020507" pitchFamily="18" charset="2"/>
              </a:rPr>
              <a:t>S</a:t>
            </a:r>
            <a:r>
              <a:rPr kumimoji="0" lang="en-US" altLang="zh-CN" i="1">
                <a:latin typeface="宋体" panose="02010600030101010101" pitchFamily="2" charset="-122"/>
                <a:sym typeface="Symbol" panose="05050102010706020507" pitchFamily="18" charset="2"/>
              </a:rPr>
              <a:t>→</a:t>
            </a:r>
            <a:r>
              <a:rPr kumimoji="0" lang="en-US" altLang="zh-CN" i="1">
                <a:sym typeface="Symbol" panose="05050102010706020507" pitchFamily="18" charset="2"/>
              </a:rPr>
              <a:t> </a:t>
            </a:r>
            <a:r>
              <a:rPr kumimoji="0" lang="en-US" altLang="zh-CN" i="1">
                <a:solidFill>
                  <a:srgbClr val="3333CC"/>
                </a:solidFill>
                <a:sym typeface="Symbol" panose="05050102010706020507" pitchFamily="18" charset="2"/>
              </a:rPr>
              <a:t>S</a:t>
            </a:r>
            <a:r>
              <a:rPr kumimoji="0" lang="en-US" altLang="zh-CN" i="1">
                <a:sym typeface="Symbol" panose="05050102010706020507" pitchFamily="18" charset="2"/>
              </a:rPr>
              <a:t> S *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i="1">
                <a:sym typeface="Symbol" panose="05050102010706020507" pitchFamily="18" charset="2"/>
              </a:rPr>
              <a:t>  </a:t>
            </a:r>
            <a:r>
              <a:rPr kumimoji="0" lang="en-US" altLang="zh-CN" i="1">
                <a:latin typeface="宋体" panose="02010600030101010101" pitchFamily="2" charset="-122"/>
                <a:sym typeface="Symbol" panose="05050102010706020507" pitchFamily="18" charset="2"/>
              </a:rPr>
              <a:t>→</a:t>
            </a:r>
            <a:r>
              <a:rPr kumimoji="0" lang="en-US" altLang="zh-CN" i="1">
                <a:sym typeface="Symbol" panose="05050102010706020507" pitchFamily="18" charset="2"/>
              </a:rPr>
              <a:t> </a:t>
            </a:r>
            <a:r>
              <a:rPr kumimoji="0" lang="en-US" altLang="zh-CN" i="1">
                <a:solidFill>
                  <a:srgbClr val="3333CC"/>
                </a:solidFill>
                <a:sym typeface="Symbol" panose="05050102010706020507" pitchFamily="18" charset="2"/>
              </a:rPr>
              <a:t>S</a:t>
            </a:r>
            <a:r>
              <a:rPr kumimoji="0" lang="en-US" altLang="zh-CN" i="1">
                <a:sym typeface="Symbol" panose="05050102010706020507" pitchFamily="18" charset="2"/>
              </a:rPr>
              <a:t> S + S *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i="1">
                <a:sym typeface="Symbol" panose="05050102010706020507" pitchFamily="18" charset="2"/>
              </a:rPr>
              <a:t>  </a:t>
            </a:r>
            <a:r>
              <a:rPr kumimoji="0" lang="en-US" altLang="zh-CN" i="1">
                <a:latin typeface="宋体" panose="02010600030101010101" pitchFamily="2" charset="-122"/>
                <a:sym typeface="Symbol" panose="05050102010706020507" pitchFamily="18" charset="2"/>
              </a:rPr>
              <a:t>→</a:t>
            </a:r>
            <a:r>
              <a:rPr kumimoji="0" lang="en-US" altLang="zh-CN" i="1">
                <a:sym typeface="Symbol" panose="05050102010706020507" pitchFamily="18" charset="2"/>
              </a:rPr>
              <a:t>a </a:t>
            </a:r>
            <a:r>
              <a:rPr kumimoji="0" lang="en-US" altLang="zh-CN" i="1">
                <a:solidFill>
                  <a:srgbClr val="3333CC"/>
                </a:solidFill>
                <a:sym typeface="Symbol" panose="05050102010706020507" pitchFamily="18" charset="2"/>
              </a:rPr>
              <a:t>S</a:t>
            </a:r>
            <a:r>
              <a:rPr kumimoji="0" lang="en-US" altLang="zh-CN" i="1">
                <a:sym typeface="Symbol" panose="05050102010706020507" pitchFamily="18" charset="2"/>
              </a:rPr>
              <a:t> + S *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i="1">
                <a:sym typeface="Symbol" panose="05050102010706020507" pitchFamily="18" charset="2"/>
              </a:rPr>
              <a:t>  </a:t>
            </a:r>
            <a:r>
              <a:rPr kumimoji="0" lang="en-US" altLang="zh-CN" i="1">
                <a:latin typeface="宋体" panose="02010600030101010101" pitchFamily="2" charset="-122"/>
                <a:sym typeface="Symbol" panose="05050102010706020507" pitchFamily="18" charset="2"/>
              </a:rPr>
              <a:t>→</a:t>
            </a:r>
            <a:r>
              <a:rPr kumimoji="0" lang="en-US" altLang="zh-CN" i="1">
                <a:sym typeface="Symbol" panose="05050102010706020507" pitchFamily="18" charset="2"/>
              </a:rPr>
              <a:t> a a + </a:t>
            </a:r>
            <a:r>
              <a:rPr kumimoji="0" lang="en-US" altLang="zh-CN" i="1">
                <a:solidFill>
                  <a:srgbClr val="3333CC"/>
                </a:solidFill>
                <a:sym typeface="Symbol" panose="05050102010706020507" pitchFamily="18" charset="2"/>
              </a:rPr>
              <a:t>S </a:t>
            </a:r>
            <a:r>
              <a:rPr kumimoji="0" lang="en-US" altLang="zh-CN" i="1">
                <a:sym typeface="Symbol" panose="05050102010706020507" pitchFamily="18" charset="2"/>
              </a:rPr>
              <a:t>*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i="1">
                <a:sym typeface="Symbol" panose="05050102010706020507" pitchFamily="18" charset="2"/>
              </a:rPr>
              <a:t>  </a:t>
            </a:r>
            <a:r>
              <a:rPr kumimoji="0" lang="en-US" altLang="zh-CN" i="1">
                <a:latin typeface="宋体" panose="02010600030101010101" pitchFamily="2" charset="-122"/>
                <a:sym typeface="Symbol" panose="05050102010706020507" pitchFamily="18" charset="2"/>
              </a:rPr>
              <a:t>→</a:t>
            </a:r>
            <a:r>
              <a:rPr kumimoji="0" lang="en-US" altLang="zh-CN" i="1">
                <a:sym typeface="Symbol" panose="05050102010706020507" pitchFamily="18" charset="2"/>
              </a:rPr>
              <a:t> a a + a *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6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5D790943-A7B4-4633-A048-613E50EACE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Grammar-based compression</a:t>
            </a:r>
            <a:endParaRPr lang="zh-CN" altLang="en-US"/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63A94245-B9AF-4677-B723-7637B88C45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i="1"/>
              <a:t>x</a:t>
            </a:r>
            <a:r>
              <a:rPr lang="en-US" altLang="zh-CN" sz="2800"/>
              <a:t>=10011100010001110001111111000</a:t>
            </a:r>
            <a:r>
              <a:rPr lang="en-US" altLang="zh-CN" sz="2800">
                <a:sym typeface="Wingdings" panose="05000000000000000000" pitchFamily="2" charset="2"/>
              </a:rPr>
              <a:t></a:t>
            </a:r>
            <a:endParaRPr lang="en-US" altLang="zh-CN" sz="28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800" i="1"/>
              <a:t>s</a:t>
            </a:r>
            <a:r>
              <a:rPr kumimoji="0" lang="en-US" altLang="zh-CN" sz="2800" baseline="-25000"/>
              <a:t>0</a:t>
            </a:r>
            <a:r>
              <a:rPr kumimoji="0" lang="en-US" altLang="zh-CN" sz="2800" i="1"/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</a:t>
            </a:r>
            <a:r>
              <a:rPr kumimoji="0" lang="en-US" altLang="zh-CN" sz="2800" i="1"/>
              <a:t> s</a:t>
            </a:r>
            <a:r>
              <a:rPr kumimoji="0" lang="en-US" altLang="zh-CN" sz="2800" baseline="-25000"/>
              <a:t>1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3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2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3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3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800" i="1"/>
              <a:t>s</a:t>
            </a:r>
            <a:r>
              <a:rPr kumimoji="0" lang="en-US" altLang="zh-CN" sz="2800" baseline="-25000"/>
              <a:t>1</a:t>
            </a:r>
            <a:r>
              <a:rPr kumimoji="0" lang="en-US" altLang="zh-CN" sz="2800" i="1"/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 100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800" i="1"/>
              <a:t>s</a:t>
            </a:r>
            <a:r>
              <a:rPr kumimoji="0" lang="en-US" altLang="zh-CN" sz="2800" baseline="-25000"/>
              <a:t>2</a:t>
            </a:r>
            <a:r>
              <a:rPr kumimoji="0" lang="en-US" altLang="zh-CN" sz="2800" i="1"/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</a:t>
            </a:r>
            <a:r>
              <a:rPr kumimoji="0" lang="en-US" altLang="zh-CN" sz="2800" i="1"/>
              <a:t> s</a:t>
            </a:r>
            <a:r>
              <a:rPr kumimoji="0" lang="en-US" altLang="zh-CN" sz="2800" baseline="-25000"/>
              <a:t>1</a:t>
            </a:r>
            <a:r>
              <a:rPr kumimoji="0" lang="en-US" altLang="zh-CN" sz="2800">
                <a:sym typeface="Symbol" panose="05050102010706020507" pitchFamily="18" charset="2"/>
              </a:rPr>
              <a:t>0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800" i="1"/>
              <a:t>s</a:t>
            </a:r>
            <a:r>
              <a:rPr kumimoji="0" lang="en-US" altLang="zh-CN" sz="2800" baseline="-25000"/>
              <a:t>3</a:t>
            </a:r>
            <a:r>
              <a:rPr kumimoji="0" lang="en-US" altLang="zh-CN" sz="2800" i="1"/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</a:t>
            </a:r>
            <a:r>
              <a:rPr kumimoji="0" lang="en-US" altLang="zh-CN" sz="2800" i="1"/>
              <a:t> 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2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800" i="1"/>
              <a:t>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/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 11</a:t>
            </a:r>
          </a:p>
          <a:p>
            <a:pPr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kumimoji="0" lang="zh-CN" altLang="en-US" sz="2800">
                <a:sym typeface="Symbol" panose="05050102010706020507" pitchFamily="18" charset="2"/>
              </a:rPr>
              <a:t>解压</a:t>
            </a:r>
            <a:r>
              <a:rPr kumimoji="0" lang="en-US" altLang="zh-CN" sz="2800">
                <a:sym typeface="Symbol" panose="05050102010706020507" pitchFamily="18" charset="2"/>
              </a:rPr>
              <a:t>——</a:t>
            </a:r>
            <a:r>
              <a:rPr kumimoji="0" lang="zh-CN" altLang="en-US" sz="2800">
                <a:sym typeface="Symbol" panose="05050102010706020507" pitchFamily="18" charset="2"/>
              </a:rPr>
              <a:t>推导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800" i="1"/>
              <a:t>s</a:t>
            </a:r>
            <a:r>
              <a:rPr kumimoji="0" lang="en-US" altLang="zh-CN" sz="2800" baseline="-25000"/>
              <a:t>0</a:t>
            </a:r>
            <a:r>
              <a:rPr kumimoji="0" lang="en-US" altLang="zh-CN" sz="2800" i="1"/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</a:t>
            </a:r>
            <a:r>
              <a:rPr kumimoji="0" lang="en-US" altLang="zh-CN" sz="2800" i="1"/>
              <a:t> s</a:t>
            </a:r>
            <a:r>
              <a:rPr kumimoji="0" lang="en-US" altLang="zh-CN" sz="2800" baseline="-25000"/>
              <a:t>1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3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2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3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3</a:t>
            </a:r>
            <a:r>
              <a:rPr kumimoji="0" lang="en-US" altLang="zh-CN" sz="2800" i="1"/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</a:t>
            </a:r>
            <a:r>
              <a:rPr kumimoji="0" lang="en-US" altLang="zh-CN" sz="2800" i="1"/>
              <a:t> s</a:t>
            </a:r>
            <a:r>
              <a:rPr kumimoji="0" lang="en-US" altLang="zh-CN" sz="2800" baseline="-25000"/>
              <a:t>1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2 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2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2</a:t>
            </a:r>
            <a:r>
              <a:rPr kumimoji="0" lang="en-US" altLang="zh-CN" sz="2800" baseline="-25000"/>
              <a:t> 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2</a:t>
            </a:r>
            <a:br>
              <a:rPr kumimoji="0" lang="en-US" altLang="zh-CN" sz="2800" i="1"/>
            </a:br>
            <a:r>
              <a:rPr kumimoji="0" lang="en-US" altLang="zh-CN" sz="2800">
                <a:sym typeface="Symbol" panose="05050102010706020507" pitchFamily="18" charset="2"/>
              </a:rPr>
              <a:t></a:t>
            </a:r>
            <a:r>
              <a:rPr kumimoji="0" lang="en-US" altLang="zh-CN" sz="2800" i="1"/>
              <a:t> 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1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1</a:t>
            </a:r>
            <a:r>
              <a:rPr kumimoji="0" lang="en-US" altLang="zh-CN" sz="2800">
                <a:sym typeface="Symbol" panose="05050102010706020507" pitchFamily="18" charset="2"/>
              </a:rPr>
              <a:t>0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1</a:t>
            </a:r>
            <a:r>
              <a:rPr kumimoji="0" lang="en-US" altLang="zh-CN" sz="2800">
                <a:sym typeface="Symbol" panose="05050102010706020507" pitchFamily="18" charset="2"/>
              </a:rPr>
              <a:t>0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1</a:t>
            </a:r>
            <a:r>
              <a:rPr kumimoji="0" lang="en-US" altLang="zh-CN" sz="2800">
                <a:sym typeface="Symbol" panose="05050102010706020507" pitchFamily="18" charset="2"/>
              </a:rPr>
              <a:t>0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1</a:t>
            </a:r>
            <a:r>
              <a:rPr kumimoji="0" lang="en-US" altLang="zh-CN" sz="2800">
                <a:sym typeface="Symbol" panose="05050102010706020507" pitchFamily="18" charset="2"/>
              </a:rPr>
              <a:t>0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</a:t>
            </a:r>
            <a:r>
              <a:rPr kumimoji="0" lang="en-US" altLang="zh-CN" sz="2800" i="1"/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100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4</a:t>
            </a:r>
            <a:r>
              <a:rPr kumimoji="0" lang="en-US" altLang="zh-CN" sz="2800">
                <a:sym typeface="Symbol" panose="05050102010706020507" pitchFamily="18" charset="2"/>
              </a:rPr>
              <a:t>10001000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4</a:t>
            </a:r>
            <a:r>
              <a:rPr kumimoji="0" lang="en-US" altLang="zh-CN" sz="2800">
                <a:sym typeface="Symbol" panose="05050102010706020507" pitchFamily="18" charset="2"/>
              </a:rPr>
              <a:t>1000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4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4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4</a:t>
            </a:r>
            <a:r>
              <a:rPr kumimoji="0" lang="en-US" altLang="zh-CN" sz="2800">
                <a:sym typeface="Symbol" panose="05050102010706020507" pitchFamily="18" charset="2"/>
              </a:rPr>
              <a:t>1000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</a:t>
            </a:r>
            <a:r>
              <a:rPr kumimoji="0" lang="en-US" altLang="zh-CN" sz="2800" i="1"/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100</a:t>
            </a:r>
            <a:r>
              <a:rPr kumimoji="0" lang="en-US" altLang="zh-CN" sz="2800"/>
              <a:t>11</a:t>
            </a:r>
            <a:r>
              <a:rPr kumimoji="0" lang="en-US" altLang="zh-CN" sz="2800">
                <a:sym typeface="Symbol" panose="05050102010706020507" pitchFamily="18" charset="2"/>
              </a:rPr>
              <a:t>10001000</a:t>
            </a:r>
            <a:r>
              <a:rPr kumimoji="0" lang="en-US" altLang="zh-CN" sz="2800"/>
              <a:t>11</a:t>
            </a:r>
            <a:r>
              <a:rPr kumimoji="0" lang="en-US" altLang="zh-CN" sz="2800">
                <a:sym typeface="Symbol" panose="05050102010706020507" pitchFamily="18" charset="2"/>
              </a:rPr>
              <a:t>1000</a:t>
            </a:r>
            <a:r>
              <a:rPr kumimoji="0" lang="en-US" altLang="zh-CN" sz="2800"/>
              <a:t>111111</a:t>
            </a:r>
            <a:r>
              <a:rPr kumimoji="0" lang="en-US" altLang="zh-CN" sz="2800">
                <a:sym typeface="Symbol" panose="05050102010706020507" pitchFamily="18" charset="2"/>
              </a:rPr>
              <a:t>1000</a:t>
            </a:r>
            <a:endParaRPr kumimoji="0" lang="en-US" altLang="zh-CN" sz="2800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0ACD4A69-4293-4031-91E5-1919E2536D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2.3  </a:t>
            </a:r>
            <a:r>
              <a:rPr lang="zh-CN" altLang="en-US"/>
              <a:t>语法制导翻译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C9455248-8E5A-49E3-A75B-9257EF90F4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eaLnBrk="1" hangingPunct="1"/>
            <a:r>
              <a:rPr lang="zh-CN" altLang="en-US" sz="2800"/>
              <a:t>翻译：为生成代码，需保存语言结构的类型、代码位置、代码数量等</a:t>
            </a:r>
          </a:p>
          <a:p>
            <a:pPr eaLnBrk="1" hangingPunct="1"/>
            <a:r>
              <a:rPr lang="zh-CN" altLang="en-US" sz="2800"/>
              <a:t>属性</a:t>
            </a:r>
            <a:r>
              <a:rPr lang="en-US" altLang="zh-CN" sz="2800"/>
              <a:t>(</a:t>
            </a:r>
            <a:r>
              <a:rPr lang="en-US" altLang="zh-CN" sz="2800">
                <a:solidFill>
                  <a:srgbClr val="FF3300"/>
                </a:solidFill>
              </a:rPr>
              <a:t>attribute</a:t>
            </a:r>
            <a:r>
              <a:rPr lang="en-US" altLang="zh-CN" sz="2800"/>
              <a:t>)</a:t>
            </a:r>
            <a:r>
              <a:rPr lang="zh-CN" altLang="en-US" sz="2800"/>
              <a:t>：类型、串、内存位置等</a:t>
            </a:r>
          </a:p>
          <a:p>
            <a:pPr eaLnBrk="1" hangingPunct="1"/>
            <a:r>
              <a:rPr lang="zh-CN" altLang="en-US" sz="2800" b="1">
                <a:solidFill>
                  <a:srgbClr val="3333CC"/>
                </a:solidFill>
                <a:ea typeface="黑体" panose="02010609060101010101" pitchFamily="49" charset="-122"/>
              </a:rPr>
              <a:t>语法制导翻译</a:t>
            </a:r>
            <a:br>
              <a:rPr lang="zh-CN" altLang="en-US" sz="2800"/>
            </a:br>
            <a:r>
              <a:rPr lang="en-US" altLang="zh-CN" sz="2800">
                <a:solidFill>
                  <a:srgbClr val="FF3300"/>
                </a:solidFill>
              </a:rPr>
              <a:t>syntax-directed translation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sz="2400" b="1">
                <a:ea typeface="黑体" panose="02010609060101010101" pitchFamily="49" charset="-122"/>
              </a:rPr>
              <a:t>语法制导定义</a:t>
            </a:r>
            <a:br>
              <a:rPr lang="zh-CN" altLang="en-US" sz="2400"/>
            </a:br>
            <a:r>
              <a:rPr lang="en-US" altLang="zh-CN" sz="2400">
                <a:solidFill>
                  <a:srgbClr val="FF3300"/>
                </a:solidFill>
              </a:rPr>
              <a:t>syntax-directed definition</a:t>
            </a:r>
            <a:br>
              <a:rPr lang="en-US" altLang="zh-CN" sz="2400"/>
            </a:br>
            <a:r>
              <a:rPr lang="zh-CN" altLang="en-US" sz="2400"/>
              <a:t>属性与语法结构相关联</a:t>
            </a:r>
            <a:r>
              <a:rPr lang="zh-CN" altLang="en-US" sz="2400">
                <a:sym typeface="Wingdings" panose="05000000000000000000" pitchFamily="2" charset="2"/>
              </a:rPr>
              <a:t>指明翻译方法</a:t>
            </a:r>
          </a:p>
          <a:p>
            <a:pPr lvl="1" eaLnBrk="1" hangingPunct="1"/>
            <a:r>
              <a:rPr lang="zh-CN" altLang="en-US" sz="2400" b="1">
                <a:ea typeface="黑体" panose="02010609060101010101" pitchFamily="49" charset="-122"/>
                <a:sym typeface="Wingdings" panose="05000000000000000000" pitchFamily="2" charset="2"/>
              </a:rPr>
              <a:t>翻译模式</a:t>
            </a:r>
            <a:r>
              <a:rPr lang="zh-CN" altLang="en-US" sz="2400">
                <a:sym typeface="Wingdings" panose="05000000000000000000" pitchFamily="2" charset="2"/>
              </a:rPr>
              <a:t>，</a:t>
            </a:r>
            <a:r>
              <a:rPr lang="en-US" altLang="zh-CN" sz="2400">
                <a:solidFill>
                  <a:srgbClr val="FF3300"/>
                </a:solidFill>
                <a:sym typeface="Wingdings" panose="05000000000000000000" pitchFamily="2" charset="2"/>
              </a:rPr>
              <a:t>translation scheme</a:t>
            </a:r>
            <a:endParaRPr lang="en-US" altLang="zh-CN" sz="2400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7558FB4D-084B-4863-A6B1-1B87E17843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怎么设计语法制导翻译程序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7B298236-6D07-4F15-9D60-5A7664BAD5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/>
              <a:t>首先还是“</a:t>
            </a:r>
            <a:r>
              <a:rPr lang="zh-CN" altLang="en-US" sz="2800" kern="1200" dirty="0">
                <a:solidFill>
                  <a:schemeClr val="hlink"/>
                </a:solidFill>
                <a:ea typeface="黑体" pitchFamily="2" charset="-122"/>
                <a:sym typeface="Symbol" pitchFamily="18" charset="2"/>
              </a:rPr>
              <a:t>人会做</a:t>
            </a:r>
            <a:r>
              <a:rPr lang="zh-CN" altLang="en-US" sz="2800" dirty="0"/>
              <a:t>”</a:t>
            </a:r>
            <a:endParaRPr lang="en-US" altLang="zh-CN" sz="2800" dirty="0"/>
          </a:p>
          <a:p>
            <a:pPr lvl="1" eaLnBrk="1" hangingPunct="1">
              <a:defRPr/>
            </a:pPr>
            <a:r>
              <a:rPr lang="zh-CN" altLang="en-US" sz="2400" dirty="0"/>
              <a:t>设计文法</a:t>
            </a:r>
          </a:p>
          <a:p>
            <a:pPr lvl="1" eaLnBrk="1" hangingPunct="1">
              <a:defRPr/>
            </a:pPr>
            <a:r>
              <a:rPr lang="zh-CN" altLang="en-US" sz="2400" dirty="0"/>
              <a:t>程序员自己先理清翻译的方法</a:t>
            </a:r>
            <a:r>
              <a:rPr lang="en-US" altLang="zh-CN" sz="2400" dirty="0"/>
              <a:t>——</a:t>
            </a:r>
            <a:r>
              <a:rPr lang="zh-CN" altLang="en-US" sz="2400" dirty="0"/>
              <a:t>我们不是为每个程序个体逐一设计翻译方法，而是设计</a:t>
            </a:r>
            <a:r>
              <a:rPr lang="zh-CN" altLang="en-US" sz="24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通用的翻译方法</a:t>
            </a:r>
            <a:r>
              <a:rPr lang="en-US" altLang="zh-CN" sz="2400" dirty="0"/>
              <a:t>——</a:t>
            </a:r>
            <a:r>
              <a:rPr lang="zh-CN" altLang="en-US" sz="2400" dirty="0"/>
              <a:t>为每个</a:t>
            </a:r>
            <a:r>
              <a:rPr lang="zh-CN" altLang="en-US" sz="24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语法结构</a:t>
            </a:r>
            <a:r>
              <a:rPr lang="zh-CN" altLang="en-US" sz="2400" dirty="0"/>
              <a:t>（产生式）设计如何</a:t>
            </a:r>
            <a:r>
              <a:rPr lang="zh-CN" altLang="en-US" sz="24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翻译</a:t>
            </a:r>
          </a:p>
          <a:p>
            <a:pPr eaLnBrk="1" hangingPunct="1">
              <a:defRPr/>
            </a:pPr>
            <a:r>
              <a:rPr lang="zh-CN" altLang="en-US" sz="2800" dirty="0"/>
              <a:t>然后“</a:t>
            </a:r>
            <a:r>
              <a:rPr lang="zh-CN" altLang="en-US" sz="2800" kern="1200" dirty="0">
                <a:solidFill>
                  <a:schemeClr val="hlink"/>
                </a:solidFill>
                <a:ea typeface="黑体" pitchFamily="2" charset="-122"/>
                <a:sym typeface="Symbol" pitchFamily="18" charset="2"/>
              </a:rPr>
              <a:t>让计算机会做</a:t>
            </a:r>
            <a:r>
              <a:rPr lang="zh-CN" altLang="en-US" sz="2800" dirty="0"/>
              <a:t>”</a:t>
            </a:r>
            <a:endParaRPr lang="en-US" altLang="zh-CN" sz="2800" dirty="0"/>
          </a:p>
          <a:p>
            <a:pPr lvl="1" eaLnBrk="1" hangingPunct="1">
              <a:defRPr/>
            </a:pPr>
            <a:r>
              <a:rPr lang="zh-CN" altLang="en-US" sz="2400" dirty="0"/>
              <a:t>设计文法符号</a:t>
            </a:r>
            <a:r>
              <a:rPr lang="zh-CN" altLang="en-US" sz="24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属性</a:t>
            </a:r>
            <a:r>
              <a:rPr lang="zh-CN" altLang="en-US" sz="2400" dirty="0"/>
              <a:t>，表示</a:t>
            </a:r>
            <a:r>
              <a:rPr lang="zh-CN" altLang="en-US" sz="24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翻译结果</a:t>
            </a:r>
          </a:p>
          <a:p>
            <a:pPr lvl="1" eaLnBrk="1" hangingPunct="1">
              <a:defRPr/>
            </a:pPr>
            <a:r>
              <a:rPr lang="zh-CN" altLang="en-US" sz="2400" dirty="0"/>
              <a:t>将翻译方法描述为</a:t>
            </a:r>
            <a:r>
              <a:rPr lang="zh-CN" altLang="en-US" sz="24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属性的运算</a:t>
            </a:r>
            <a:r>
              <a:rPr lang="en-US" altLang="zh-CN" sz="2400" dirty="0"/>
              <a:t>——</a:t>
            </a:r>
            <a:r>
              <a:rPr lang="zh-CN" altLang="en-US" sz="24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语义规则</a:t>
            </a:r>
            <a:r>
              <a:rPr lang="zh-CN" altLang="en-US" sz="2400" dirty="0"/>
              <a:t>（语义动作），将其附着于对应的产生式</a:t>
            </a:r>
          </a:p>
          <a:p>
            <a:pPr lvl="1" eaLnBrk="1" hangingPunct="1">
              <a:defRPr/>
            </a:pPr>
            <a:r>
              <a:rPr lang="zh-CN" altLang="en-US" sz="2400" dirty="0"/>
              <a:t>手工编写或利用自动生成工具形成语法分析程序，语义规则（语义动作）嵌入到程序的恰当位置，恰好实现了翻译方法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62286C62-B275-4A7F-B4F4-4B0A6904D7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2.3.1  </a:t>
            </a:r>
            <a:r>
              <a:rPr lang="zh-CN" altLang="en-US"/>
              <a:t>表达式的后缀表示法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77AA7ADA-C15D-4882-A2FD-40B34063A1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marL="609600" indent="-609600" eaLnBrk="1" hangingPunct="1"/>
            <a:r>
              <a:rPr lang="zh-CN" altLang="en-US" sz="2400" dirty="0"/>
              <a:t>表达式</a:t>
            </a:r>
            <a:r>
              <a:rPr lang="en-US" altLang="zh-CN" sz="2400" dirty="0"/>
              <a:t>E</a:t>
            </a:r>
            <a:r>
              <a:rPr lang="zh-CN" altLang="en-US" sz="2400" dirty="0"/>
              <a:t>的后缀形式</a:t>
            </a:r>
            <a:r>
              <a:rPr lang="en-US" altLang="zh-CN" sz="2400" dirty="0"/>
              <a:t>Postfix(E)</a:t>
            </a:r>
            <a:r>
              <a:rPr lang="zh-CN" altLang="en-US" sz="2400" dirty="0"/>
              <a:t>如何生成：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000" dirty="0"/>
              <a:t>E</a:t>
            </a:r>
            <a:r>
              <a:rPr lang="zh-CN" altLang="en-US" sz="2000" dirty="0"/>
              <a:t>为变量或常量：</a:t>
            </a:r>
            <a:endParaRPr lang="en-US" altLang="zh-CN" sz="2000" dirty="0"/>
          </a:p>
          <a:p>
            <a:pPr marL="457200" lvl="1" indent="0" eaLnBrk="1" hangingPunct="1">
              <a:buNone/>
            </a:pPr>
            <a:r>
              <a:rPr lang="en-US" altLang="zh-CN" sz="2000" dirty="0"/>
              <a:t>	Postfix(E) = E</a:t>
            </a:r>
          </a:p>
          <a:p>
            <a:pPr marL="990600" lvl="1" indent="-533400" eaLnBrk="1" hangingPunct="1">
              <a:buFont typeface="+mj-lt"/>
              <a:buAutoNum type="arabicPeriod" startAt="2"/>
            </a:pPr>
            <a:r>
              <a:rPr lang="en-US" altLang="zh-CN" sz="2000" dirty="0"/>
              <a:t>E =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</a:t>
            </a:r>
            <a:r>
              <a:rPr lang="en-US" altLang="zh-CN" sz="2000" b="1" dirty="0"/>
              <a:t>op</a:t>
            </a:r>
            <a:r>
              <a:rPr lang="en-US" altLang="zh-CN" sz="2000" dirty="0"/>
              <a:t> E</a:t>
            </a:r>
            <a:r>
              <a:rPr lang="en-US" altLang="zh-CN" sz="2000" baseline="-25000" dirty="0"/>
              <a:t>2</a:t>
            </a:r>
            <a:r>
              <a:rPr lang="zh-CN" altLang="en-US" sz="2000" dirty="0"/>
              <a:t>，</a:t>
            </a:r>
            <a:r>
              <a:rPr lang="en-US" altLang="zh-CN" sz="2000" b="1" dirty="0"/>
              <a:t>op</a:t>
            </a:r>
            <a:r>
              <a:rPr lang="en-US" altLang="zh-CN" sz="2000" dirty="0">
                <a:sym typeface="Wingdings" panose="05000000000000000000" pitchFamily="2" charset="2"/>
              </a:rPr>
              <a:t>—</a:t>
            </a:r>
            <a:r>
              <a:rPr lang="zh-CN" altLang="en-US" sz="2000" dirty="0"/>
              <a:t>二元运算符，</a:t>
            </a:r>
            <a:r>
              <a:rPr lang="en-US" altLang="zh-CN" sz="2000" dirty="0"/>
              <a:t>E</a:t>
            </a:r>
            <a:r>
              <a:rPr lang="en-US" altLang="zh-CN" sz="2000" baseline="-25000" dirty="0"/>
              <a:t>1</a:t>
            </a:r>
            <a:r>
              <a:rPr lang="zh-CN" altLang="en-US" sz="2000" dirty="0"/>
              <a:t>、</a:t>
            </a:r>
            <a:r>
              <a:rPr lang="en-US" altLang="zh-CN" sz="2000" dirty="0"/>
              <a:t>E</a:t>
            </a:r>
            <a:r>
              <a:rPr lang="en-US" altLang="zh-CN" sz="2000" baseline="-25000" dirty="0"/>
              <a:t>2</a:t>
            </a:r>
            <a:r>
              <a:rPr lang="en-US" altLang="zh-CN" sz="2000" dirty="0">
                <a:sym typeface="Wingdings" panose="05000000000000000000" pitchFamily="2" charset="2"/>
              </a:rPr>
              <a:t>—</a:t>
            </a:r>
            <a:r>
              <a:rPr lang="zh-CN" altLang="en-US" sz="2000" dirty="0">
                <a:sym typeface="Wingdings" panose="05000000000000000000" pitchFamily="2" charset="2"/>
              </a:rPr>
              <a:t>子</a:t>
            </a:r>
            <a:r>
              <a:rPr lang="zh-CN" altLang="en-US" sz="2000" dirty="0"/>
              <a:t>表达式：</a:t>
            </a:r>
            <a:endParaRPr lang="en-US" altLang="zh-CN" sz="2000" dirty="0"/>
          </a:p>
          <a:p>
            <a:pPr marL="457200" lvl="1" indent="0" eaLnBrk="1" hangingPunct="1">
              <a:buNone/>
            </a:pPr>
            <a:r>
              <a:rPr lang="en-US" altLang="zh-CN" sz="2000" dirty="0"/>
              <a:t>	Postfix(E) = Postfix(E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</a:t>
            </a:r>
            <a:r>
              <a:rPr lang="en-US" altLang="zh-CN" sz="2000" b="1" dirty="0"/>
              <a:t>op</a:t>
            </a:r>
            <a:r>
              <a:rPr lang="en-US" altLang="zh-CN" sz="2000" dirty="0"/>
              <a:t> 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)</a:t>
            </a:r>
            <a:br>
              <a:rPr lang="en-US" altLang="zh-CN" sz="2000" dirty="0"/>
            </a:br>
            <a:r>
              <a:rPr lang="en-US" altLang="zh-CN" sz="2000" dirty="0"/>
              <a:t>	= Postfix(E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) Postfix(E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) </a:t>
            </a:r>
            <a:r>
              <a:rPr lang="en-US" altLang="zh-CN" sz="2000" b="1" dirty="0"/>
              <a:t>op</a:t>
            </a:r>
          </a:p>
          <a:p>
            <a:pPr marL="990600" lvl="1" indent="-533400" eaLnBrk="1" hangingPunct="1">
              <a:buFont typeface="+mj-lt"/>
              <a:buAutoNum type="arabicPeriod" startAt="3"/>
            </a:pPr>
            <a:r>
              <a:rPr lang="en-US" altLang="zh-CN" sz="2000" dirty="0"/>
              <a:t>E = (E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)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 marL="457200" lvl="1" indent="0" eaLnBrk="1" hangingPunct="1">
              <a:buNone/>
            </a:pPr>
            <a:r>
              <a:rPr lang="en-US" altLang="zh-CN" sz="2000" dirty="0"/>
              <a:t>	Postfix(E) = Postfix(E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)</a:t>
            </a:r>
          </a:p>
          <a:p>
            <a:pPr marL="609600" indent="-609600" eaLnBrk="1" hangingPunct="1">
              <a:spcBef>
                <a:spcPts val="0"/>
              </a:spcBef>
            </a:pPr>
            <a:r>
              <a:rPr lang="en-US" altLang="zh-CN" sz="2400" dirty="0"/>
              <a:t>Postfix((9 - 5) + 2)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2400" dirty="0"/>
              <a:t>	= Postfix(9 - 5) Postfix(2) +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2400" dirty="0"/>
              <a:t>	= Postfix(9) Postfix(5) - 2 + = 9 5 - 2 +</a:t>
            </a:r>
          </a:p>
          <a:p>
            <a:pPr marL="609600" indent="-609600" eaLnBrk="1" hangingPunct="1">
              <a:spcBef>
                <a:spcPts val="0"/>
              </a:spcBef>
            </a:pPr>
            <a:r>
              <a:rPr lang="en-US" altLang="zh-CN" sz="2400" dirty="0"/>
              <a:t>Postfix(</a:t>
            </a:r>
            <a:r>
              <a:rPr lang="en-US" altLang="zh-CN" sz="2400" dirty="0">
                <a:sym typeface="Wingdings" panose="05000000000000000000" pitchFamily="2" charset="2"/>
              </a:rPr>
              <a:t>9 - (5 + 2)</a:t>
            </a:r>
            <a:r>
              <a:rPr lang="en-US" altLang="zh-CN" sz="2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2400" dirty="0"/>
              <a:t>	= Postfix(9) Postfix(5 + 2) -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2400" dirty="0"/>
              <a:t>	= 9 Postfix(5) Postfix(2) + - = 9 5 2 + -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F2E257B6-2E0D-47EB-80E5-41C70D230A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2.3.2  </a:t>
            </a:r>
            <a:r>
              <a:rPr lang="zh-CN" altLang="en-US"/>
              <a:t>语法制导定义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1E1A4288-0543-41C1-87A8-0DE8EA7D14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00600"/>
          </a:xfrm>
        </p:spPr>
        <p:txBody>
          <a:bodyPr/>
          <a:lstStyle/>
          <a:p>
            <a:pPr marL="609600" indent="-609600" eaLnBrk="1" hangingPunct="1"/>
            <a:r>
              <a:rPr lang="zh-CN" altLang="en-US"/>
              <a:t>基于语言的上下文无关文法</a:t>
            </a:r>
          </a:p>
          <a:p>
            <a:pPr marL="609600" indent="-609600" eaLnBrk="1" hangingPunct="1"/>
            <a:r>
              <a:rPr lang="zh-CN" altLang="en-US"/>
              <a:t>语法符号</a:t>
            </a:r>
            <a:r>
              <a:rPr lang="en-US" altLang="zh-CN">
                <a:latin typeface="Tahoma" panose="020B0604030504040204" pitchFamily="34" charset="0"/>
              </a:rPr>
              <a:t>——</a:t>
            </a:r>
            <a:r>
              <a:rPr lang="zh-CN" altLang="en-US"/>
              <a:t>一组属性</a:t>
            </a:r>
          </a:p>
          <a:p>
            <a:pPr marL="609600" indent="-609600" eaLnBrk="1" hangingPunct="1"/>
            <a:r>
              <a:rPr lang="zh-CN" altLang="en-US"/>
              <a:t>产生式</a:t>
            </a:r>
            <a:r>
              <a:rPr lang="en-US" altLang="zh-CN">
                <a:latin typeface="Tahoma" panose="020B0604030504040204" pitchFamily="34" charset="0"/>
              </a:rPr>
              <a:t>——</a:t>
            </a:r>
            <a:r>
              <a:rPr lang="zh-CN" altLang="en-US"/>
              <a:t>一组</a:t>
            </a:r>
            <a:r>
              <a:rPr lang="zh-CN" altLang="en-US" b="1">
                <a:solidFill>
                  <a:srgbClr val="3333CC"/>
                </a:solidFill>
                <a:ea typeface="黑体" panose="02010609060101010101" pitchFamily="49" charset="-122"/>
              </a:rPr>
              <a:t>语义规则</a:t>
            </a:r>
            <a:r>
              <a:rPr lang="en-US" altLang="zh-CN"/>
              <a:t>(</a:t>
            </a:r>
            <a:r>
              <a:rPr lang="en-US" altLang="zh-CN">
                <a:solidFill>
                  <a:srgbClr val="FF3300"/>
                </a:solidFill>
              </a:rPr>
              <a:t>semantic rule</a:t>
            </a:r>
            <a:r>
              <a:rPr lang="en-US" altLang="zh-CN"/>
              <a:t>)</a:t>
            </a:r>
            <a:br>
              <a:rPr lang="en-US" altLang="zh-CN"/>
            </a:br>
            <a:r>
              <a:rPr lang="en-US" altLang="zh-CN">
                <a:latin typeface="Tahoma" panose="020B0604030504040204" pitchFamily="34" charset="0"/>
              </a:rPr>
              <a:t>——</a:t>
            </a:r>
            <a:r>
              <a:rPr lang="zh-CN" altLang="en-US"/>
              <a:t>属性值计算规则</a:t>
            </a:r>
          </a:p>
          <a:p>
            <a:pPr marL="609600" indent="-609600" eaLnBrk="1" hangingPunct="1">
              <a:spcBef>
                <a:spcPct val="0"/>
              </a:spcBef>
            </a:pPr>
            <a:r>
              <a:rPr lang="en-US" altLang="zh-CN"/>
              <a:t>CFG+</a:t>
            </a:r>
            <a:r>
              <a:rPr lang="zh-CN" altLang="en-US"/>
              <a:t>语义规则</a:t>
            </a:r>
            <a:r>
              <a:rPr lang="zh-CN" altLang="en-US">
                <a:sym typeface="Wingdings" panose="05000000000000000000" pitchFamily="2" charset="2"/>
              </a:rPr>
              <a:t>语法制导定义</a:t>
            </a:r>
          </a:p>
        </p:txBody>
      </p:sp>
      <p:sp>
        <p:nvSpPr>
          <p:cNvPr id="36868" name="Text Box 4">
            <a:extLst>
              <a:ext uri="{FF2B5EF4-FFF2-40B4-BE49-F238E27FC236}">
                <a16:creationId xmlns:a16="http://schemas.microsoft.com/office/drawing/2014/main" id="{BFFC36FF-AA7F-4E3D-B177-158FE2CE8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18288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关联</a:t>
            </a:r>
          </a:p>
        </p:txBody>
      </p:sp>
      <p:sp>
        <p:nvSpPr>
          <p:cNvPr id="36869" name="Text Box 6">
            <a:extLst>
              <a:ext uri="{FF2B5EF4-FFF2-40B4-BE49-F238E27FC236}">
                <a16:creationId xmlns:a16="http://schemas.microsoft.com/office/drawing/2014/main" id="{86E7E0CE-024B-4196-8A92-E17FB2C3D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23622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关联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345D5209-8680-42DD-A009-FED0B2E13B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语法制导翻译的基本过程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E615760F-3D23-4C1B-A463-3C9D8E49B7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81588"/>
          </a:xfrm>
        </p:spPr>
        <p:txBody>
          <a:bodyPr/>
          <a:lstStyle/>
          <a:p>
            <a:pPr marL="609600" indent="-609600" eaLnBrk="1" hangingPunct="1"/>
            <a:r>
              <a:rPr lang="zh-CN" altLang="en-US" dirty="0">
                <a:sym typeface="Wingdings" panose="05000000000000000000" pitchFamily="2" charset="2"/>
              </a:rPr>
              <a:t>翻译</a:t>
            </a:r>
            <a:r>
              <a:rPr lang="en-US" altLang="zh-CN" dirty="0">
                <a:latin typeface="Tahoma" panose="020B0604030504040204" pitchFamily="34" charset="0"/>
                <a:sym typeface="Wingdings" panose="05000000000000000000" pitchFamily="2" charset="2"/>
              </a:rPr>
              <a:t>——</a:t>
            </a:r>
            <a:r>
              <a:rPr lang="zh-CN" altLang="en-US" dirty="0">
                <a:sym typeface="Wingdings" panose="05000000000000000000" pitchFamily="2" charset="2"/>
              </a:rPr>
              <a:t>输入输出映射过程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>
                <a:sym typeface="Wingdings" panose="05000000000000000000" pitchFamily="2" charset="2"/>
              </a:rPr>
              <a:t>输入单词串</a:t>
            </a:r>
            <a:r>
              <a:rPr lang="en-US" altLang="zh-CN" dirty="0">
                <a:sym typeface="Wingdings" panose="05000000000000000000" pitchFamily="2" charset="2"/>
              </a:rPr>
              <a:t>x</a:t>
            </a:r>
            <a:r>
              <a:rPr lang="zh-CN" altLang="en-US" dirty="0">
                <a:sym typeface="Wingdings" panose="05000000000000000000" pitchFamily="2" charset="2"/>
              </a:rPr>
              <a:t>语法分析树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>
                <a:sym typeface="Wingdings" panose="05000000000000000000" pitchFamily="2" charset="2"/>
              </a:rPr>
              <a:t>节点</a:t>
            </a:r>
            <a:r>
              <a:rPr lang="en-US" altLang="zh-CN" dirty="0">
                <a:sym typeface="Wingdings" panose="05000000000000000000" pitchFamily="2" charset="2"/>
              </a:rPr>
              <a:t>n</a:t>
            </a:r>
            <a:r>
              <a:rPr lang="zh-CN" altLang="en-US" dirty="0">
                <a:sym typeface="Wingdings" panose="05000000000000000000" pitchFamily="2" charset="2"/>
              </a:rPr>
              <a:t>标记为</a:t>
            </a:r>
            <a:r>
              <a:rPr lang="en-US" altLang="zh-CN" dirty="0">
                <a:sym typeface="Wingdings" panose="05000000000000000000" pitchFamily="2" charset="2"/>
              </a:rPr>
              <a:t>X</a:t>
            </a:r>
            <a:r>
              <a:rPr lang="zh-CN" altLang="en-US" dirty="0">
                <a:sym typeface="Wingdings" panose="05000000000000000000" pitchFamily="2" charset="2"/>
              </a:rPr>
              <a:t>，</a:t>
            </a:r>
            <a:r>
              <a:rPr lang="en-US" altLang="zh-CN" dirty="0" err="1">
                <a:sym typeface="Wingdings" panose="05000000000000000000" pitchFamily="2" charset="2"/>
              </a:rPr>
              <a:t>X.a</a:t>
            </a:r>
            <a:r>
              <a:rPr lang="en-US" altLang="zh-CN" dirty="0">
                <a:latin typeface="Tahoma" panose="020B0604030504040204" pitchFamily="34" charset="0"/>
                <a:sym typeface="Wingdings" panose="05000000000000000000" pitchFamily="2" charset="2"/>
              </a:rPr>
              <a:t>——</a:t>
            </a:r>
            <a:r>
              <a:rPr lang="en-US" altLang="zh-CN" dirty="0">
                <a:sym typeface="Wingdings" panose="05000000000000000000" pitchFamily="2" charset="2"/>
              </a:rPr>
              <a:t>X</a:t>
            </a:r>
            <a:r>
              <a:rPr lang="zh-CN" altLang="en-US" dirty="0">
                <a:sym typeface="Wingdings" panose="05000000000000000000" pitchFamily="2" charset="2"/>
              </a:rPr>
              <a:t>的属性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>
                <a:sym typeface="Wingdings" panose="05000000000000000000" pitchFamily="2" charset="2"/>
              </a:rPr>
              <a:t>计算节点</a:t>
            </a:r>
            <a:r>
              <a:rPr lang="en-US" altLang="zh-CN" dirty="0">
                <a:sym typeface="Wingdings" panose="05000000000000000000" pitchFamily="2" charset="2"/>
              </a:rPr>
              <a:t>n</a:t>
            </a:r>
            <a:r>
              <a:rPr lang="zh-CN" altLang="en-US" dirty="0">
                <a:sym typeface="Wingdings" panose="05000000000000000000" pitchFamily="2" charset="2"/>
              </a:rPr>
              <a:t>的</a:t>
            </a:r>
            <a:r>
              <a:rPr lang="en-US" altLang="zh-CN" dirty="0" err="1">
                <a:sym typeface="Wingdings" panose="05000000000000000000" pitchFamily="2" charset="2"/>
              </a:rPr>
              <a:t>X.a</a:t>
            </a:r>
            <a:r>
              <a:rPr lang="zh-CN" altLang="en-US" dirty="0">
                <a:sym typeface="Wingdings" panose="05000000000000000000" pitchFamily="2" charset="2"/>
              </a:rPr>
              <a:t>的值</a:t>
            </a:r>
            <a:r>
              <a:rPr lang="en-US" altLang="zh-CN" dirty="0">
                <a:latin typeface="Tahoma" panose="020B0604030504040204" pitchFamily="34" charset="0"/>
                <a:sym typeface="Wingdings" panose="05000000000000000000" pitchFamily="2" charset="2"/>
              </a:rPr>
              <a:t>——</a:t>
            </a:r>
            <a:r>
              <a:rPr lang="zh-CN" altLang="en-US" dirty="0">
                <a:sym typeface="Wingdings" panose="05000000000000000000" pitchFamily="2" charset="2"/>
              </a:rPr>
              <a:t>利用</a:t>
            </a:r>
            <a:r>
              <a:rPr lang="en-US" altLang="zh-CN" dirty="0">
                <a:sym typeface="Wingdings" panose="05000000000000000000" pitchFamily="2" charset="2"/>
              </a:rPr>
              <a:t>X</a:t>
            </a:r>
            <a:r>
              <a:rPr lang="zh-CN" altLang="en-US" dirty="0">
                <a:sym typeface="Wingdings" panose="05000000000000000000" pitchFamily="2" charset="2"/>
              </a:rPr>
              <a:t>产生式的语义规则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>
                <a:latin typeface="Tahoma" panose="020B0604030504040204" pitchFamily="34" charset="0"/>
                <a:sym typeface="Wingdings" panose="05000000000000000000" pitchFamily="2" charset="2"/>
              </a:rPr>
              <a:t>“</a:t>
            </a:r>
            <a:r>
              <a:rPr lang="zh-CN" altLang="en-US" dirty="0">
                <a:sym typeface="Wingdings" panose="05000000000000000000" pitchFamily="2" charset="2"/>
              </a:rPr>
              <a:t>注释语法分析树</a:t>
            </a:r>
            <a:r>
              <a:rPr lang="zh-CN" altLang="en-US" dirty="0">
                <a:latin typeface="Tahoma" panose="020B0604030504040204" pitchFamily="34" charset="0"/>
                <a:sym typeface="Wingdings" panose="05000000000000000000" pitchFamily="2" charset="2"/>
              </a:rPr>
              <a:t>”</a:t>
            </a:r>
            <a:r>
              <a:rPr lang="zh-CN" altLang="en-US" dirty="0">
                <a:sym typeface="Wingdings" panose="05000000000000000000" pitchFamily="2" charset="2"/>
              </a:rPr>
              <a:t>（</a:t>
            </a:r>
            <a:r>
              <a:rPr lang="en-US" altLang="zh-CN" dirty="0">
                <a:solidFill>
                  <a:srgbClr val="FF3300"/>
                </a:solidFill>
                <a:sym typeface="Wingdings" panose="05000000000000000000" pitchFamily="2" charset="2"/>
              </a:rPr>
              <a:t>annotated parse tree</a:t>
            </a:r>
            <a:r>
              <a:rPr lang="zh-CN" altLang="en-US" dirty="0">
                <a:sym typeface="Wingdings" panose="05000000000000000000" pitchFamily="2" charset="2"/>
              </a:rPr>
              <a:t>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C45FBF55-0A9E-440E-A0EA-6E343EFB99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2.3.3  </a:t>
            </a:r>
            <a:r>
              <a:rPr lang="zh-CN" altLang="en-US"/>
              <a:t>综合属性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F82629E4-98C3-4E00-B04D-81BA058872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FF3300"/>
                </a:solidFill>
              </a:rPr>
              <a:t>synthesized attributes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zh-CN" altLang="en-US"/>
              <a:t>节点属性值由其</a:t>
            </a:r>
            <a:r>
              <a:rPr lang="zh-CN" altLang="en-US">
                <a:solidFill>
                  <a:schemeClr val="folHlink"/>
                </a:solidFill>
                <a:ea typeface="黑体" panose="02010609060101010101" pitchFamily="49" charset="-122"/>
              </a:rPr>
              <a:t>孩子节点</a:t>
            </a:r>
            <a:r>
              <a:rPr lang="zh-CN" altLang="en-US"/>
              <a:t>属性值所决定</a:t>
            </a:r>
          </a:p>
          <a:p>
            <a:pPr eaLnBrk="1" hangingPunct="1"/>
            <a:r>
              <a:rPr lang="zh-CN" altLang="en-US"/>
              <a:t>自底向上（</a:t>
            </a:r>
            <a:r>
              <a:rPr lang="en-US" altLang="zh-CN">
                <a:solidFill>
                  <a:srgbClr val="FF3300"/>
                </a:solidFill>
              </a:rPr>
              <a:t>bottom-up</a:t>
            </a:r>
            <a:r>
              <a:rPr lang="zh-CN" altLang="en-US"/>
              <a:t>）计算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211E8FA-C212-4695-97CE-D3E7D91FA3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2.6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5667B36A-936A-4936-A558-42F438825A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br>
              <a:rPr lang="en-US" altLang="zh-CN"/>
            </a:br>
            <a:br>
              <a:rPr lang="en-US" altLang="zh-CN"/>
            </a:br>
            <a:br>
              <a:rPr lang="en-US" altLang="zh-CN"/>
            </a:br>
            <a:r>
              <a:rPr lang="en-US" altLang="zh-CN" i="1"/>
              <a:t>expr</a:t>
            </a:r>
            <a:r>
              <a:rPr lang="zh-CN" altLang="en-US"/>
              <a:t>、</a:t>
            </a:r>
            <a:r>
              <a:rPr lang="en-US" altLang="zh-CN" i="1"/>
              <a:t>term</a:t>
            </a:r>
            <a:r>
              <a:rPr lang="zh-CN" altLang="en-US"/>
              <a:t>都设置属性</a:t>
            </a:r>
            <a:r>
              <a:rPr lang="en-US" altLang="zh-CN"/>
              <a:t>t——</a:t>
            </a:r>
            <a:r>
              <a:rPr lang="zh-CN" altLang="en-US"/>
              <a:t>字符串型，表示表达式的后缀表示形式</a:t>
            </a:r>
          </a:p>
        </p:txBody>
      </p:sp>
      <p:grpSp>
        <p:nvGrpSpPr>
          <p:cNvPr id="39940" name="Group 4">
            <a:extLst>
              <a:ext uri="{FF2B5EF4-FFF2-40B4-BE49-F238E27FC236}">
                <a16:creationId xmlns:a16="http://schemas.microsoft.com/office/drawing/2014/main" id="{EACE14AF-BA4E-4CF3-86E4-E8312D604400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1524000"/>
            <a:ext cx="6019800" cy="1066800"/>
            <a:chOff x="1152" y="2592"/>
            <a:chExt cx="3792" cy="672"/>
          </a:xfrm>
        </p:grpSpPr>
        <p:sp>
          <p:nvSpPr>
            <p:cNvPr id="39941" name="Rectangle 5">
              <a:extLst>
                <a:ext uri="{FF2B5EF4-FFF2-40B4-BE49-F238E27FC236}">
                  <a16:creationId xmlns:a16="http://schemas.microsoft.com/office/drawing/2014/main" id="{93B6F006-7FE3-449E-935B-06EC83CFD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614"/>
              <a:ext cx="3708" cy="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/>
                <a:t>expr </a:t>
              </a:r>
              <a:r>
                <a:rPr kumimoji="0" lang="en-US" altLang="zh-CN" sz="2800">
                  <a:sym typeface="Symbol" panose="05050102010706020507" pitchFamily="18" charset="2"/>
                </a:rPr>
                <a:t></a:t>
              </a:r>
              <a:r>
                <a:rPr kumimoji="0" lang="en-US" altLang="zh-CN" sz="2800" i="1"/>
                <a:t> </a:t>
              </a:r>
              <a:r>
                <a:rPr kumimoji="0" lang="en-US" altLang="zh-CN" sz="2800" i="1">
                  <a:sym typeface="Math1" pitchFamily="2" charset="2"/>
                </a:rPr>
                <a:t>expr – term | expr + term | term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>
                  <a:sym typeface="Math1" pitchFamily="2" charset="2"/>
                </a:rPr>
                <a:t>term</a:t>
              </a:r>
              <a:r>
                <a:rPr kumimoji="0" lang="en-US" altLang="zh-CN" sz="2800">
                  <a:sym typeface="Math1" pitchFamily="2" charset="2"/>
                </a:rPr>
                <a:t> </a:t>
              </a:r>
              <a:r>
                <a:rPr kumimoji="0" lang="en-US" altLang="zh-CN" sz="2800">
                  <a:sym typeface="Symbol" panose="05050102010706020507" pitchFamily="18" charset="2"/>
                </a:rPr>
                <a:t></a:t>
              </a:r>
              <a:r>
                <a:rPr kumimoji="0" lang="en-US" altLang="zh-CN" sz="2800">
                  <a:sym typeface="Math1" pitchFamily="2" charset="2"/>
                </a:rPr>
                <a:t>  0 | 1 | 2 | 3 | … | 9</a:t>
              </a:r>
            </a:p>
          </p:txBody>
        </p:sp>
        <p:sp>
          <p:nvSpPr>
            <p:cNvPr id="39942" name="Rectangle 6">
              <a:extLst>
                <a:ext uri="{FF2B5EF4-FFF2-40B4-BE49-F238E27FC236}">
                  <a16:creationId xmlns:a16="http://schemas.microsoft.com/office/drawing/2014/main" id="{69DABFD5-B660-4C4F-8148-306A4A965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592"/>
              <a:ext cx="3792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BE6D2F2C-91BE-4DFD-B840-854BCCAA51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翻译方法</a:t>
            </a:r>
            <a:r>
              <a:rPr lang="zh-CN" altLang="en-US">
                <a:sym typeface="Wingdings" panose="05000000000000000000" pitchFamily="2" charset="2"/>
              </a:rPr>
              <a:t>语义规则</a:t>
            </a:r>
            <a:endParaRPr lang="zh-CN" altLang="en-US"/>
          </a:p>
        </p:txBody>
      </p:sp>
      <p:sp>
        <p:nvSpPr>
          <p:cNvPr id="40963" name="Text Box 5">
            <a:extLst>
              <a:ext uri="{FF2B5EF4-FFF2-40B4-BE49-F238E27FC236}">
                <a16:creationId xmlns:a16="http://schemas.microsoft.com/office/drawing/2014/main" id="{648D4C8F-7582-4F33-A734-07390422E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887538"/>
            <a:ext cx="1524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3333CC"/>
                </a:solidFill>
                <a:latin typeface="Tahoma" panose="020B0604030504040204" pitchFamily="34" charset="0"/>
              </a:rPr>
              <a:t>9 + 5</a:t>
            </a:r>
          </a:p>
        </p:txBody>
      </p:sp>
      <p:sp>
        <p:nvSpPr>
          <p:cNvPr id="39940" name="Text Box 8">
            <a:extLst>
              <a:ext uri="{FF2B5EF4-FFF2-40B4-BE49-F238E27FC236}">
                <a16:creationId xmlns:a16="http://schemas.microsoft.com/office/drawing/2014/main" id="{4B8D4744-B1AF-4B56-9ACA-3DFE160D3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106738"/>
            <a:ext cx="2286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3333CC"/>
                </a:solidFill>
                <a:latin typeface="Tahoma" panose="020B0604030504040204" pitchFamily="34" charset="0"/>
              </a:rPr>
              <a:t>E : E</a:t>
            </a:r>
            <a:r>
              <a:rPr lang="en-US" altLang="zh-CN" baseline="-25000">
                <a:solidFill>
                  <a:srgbClr val="3333CC"/>
                </a:solidFill>
                <a:latin typeface="Tahoma" panose="020B0604030504040204" pitchFamily="34" charset="0"/>
              </a:rPr>
              <a:t>1</a:t>
            </a:r>
            <a:r>
              <a:rPr lang="en-US" altLang="zh-CN">
                <a:solidFill>
                  <a:srgbClr val="3333CC"/>
                </a:solidFill>
                <a:latin typeface="Tahoma" panose="020B0604030504040204" pitchFamily="34" charset="0"/>
              </a:rPr>
              <a:t> + E</a:t>
            </a:r>
            <a:r>
              <a:rPr lang="en-US" altLang="zh-CN" baseline="-25000">
                <a:solidFill>
                  <a:srgbClr val="3333CC"/>
                </a:solidFill>
                <a:latin typeface="Tahoma" panose="020B0604030504040204" pitchFamily="34" charset="0"/>
              </a:rPr>
              <a:t>2</a:t>
            </a:r>
            <a:endParaRPr lang="en-US" altLang="zh-CN">
              <a:solidFill>
                <a:srgbClr val="3333CC"/>
              </a:solidFill>
              <a:latin typeface="Tahoma" panose="020B0604030504040204" pitchFamily="34" charset="0"/>
            </a:endParaRPr>
          </a:p>
        </p:txBody>
      </p:sp>
      <p:sp>
        <p:nvSpPr>
          <p:cNvPr id="39941" name="Line 9">
            <a:extLst>
              <a:ext uri="{FF2B5EF4-FFF2-40B4-BE49-F238E27FC236}">
                <a16:creationId xmlns:a16="http://schemas.microsoft.com/office/drawing/2014/main" id="{8A030D14-34E9-4942-8515-F098F20B8F9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573338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2" name="Line 10">
            <a:extLst>
              <a:ext uri="{FF2B5EF4-FFF2-40B4-BE49-F238E27FC236}">
                <a16:creationId xmlns:a16="http://schemas.microsoft.com/office/drawing/2014/main" id="{547D9D6D-1F1E-4883-AC47-4298F1444E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4000" y="2573338"/>
            <a:ext cx="838200" cy="6413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3" name="Line 11">
            <a:extLst>
              <a:ext uri="{FF2B5EF4-FFF2-40B4-BE49-F238E27FC236}">
                <a16:creationId xmlns:a16="http://schemas.microsoft.com/office/drawing/2014/main" id="{E02C8BF7-686D-4B98-8A4C-30C1211C49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344738"/>
            <a:ext cx="381000" cy="0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4" name="Line 12">
            <a:extLst>
              <a:ext uri="{FF2B5EF4-FFF2-40B4-BE49-F238E27FC236}">
                <a16:creationId xmlns:a16="http://schemas.microsoft.com/office/drawing/2014/main" id="{B7DA92D6-D5D6-4B32-82A7-7F7B4D50A7F6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2344738"/>
            <a:ext cx="381000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5" name="Line 13">
            <a:extLst>
              <a:ext uri="{FF2B5EF4-FFF2-40B4-BE49-F238E27FC236}">
                <a16:creationId xmlns:a16="http://schemas.microsoft.com/office/drawing/2014/main" id="{D7725005-200F-4717-9F39-CAA35976B30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905000" y="2344738"/>
            <a:ext cx="228600" cy="869950"/>
          </a:xfrm>
          <a:prstGeom prst="line">
            <a:avLst/>
          </a:prstGeom>
          <a:noFill/>
          <a:ln w="25400">
            <a:solidFill>
              <a:srgbClr val="99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6" name="Line 14">
            <a:extLst>
              <a:ext uri="{FF2B5EF4-FFF2-40B4-BE49-F238E27FC236}">
                <a16:creationId xmlns:a16="http://schemas.microsoft.com/office/drawing/2014/main" id="{A3C99D62-B427-4CD8-8912-9C40B61A16A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67000" y="2344738"/>
            <a:ext cx="381000" cy="86995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71" name="Text Box 15">
            <a:extLst>
              <a:ext uri="{FF2B5EF4-FFF2-40B4-BE49-F238E27FC236}">
                <a16:creationId xmlns:a16="http://schemas.microsoft.com/office/drawing/2014/main" id="{015BF231-7B3C-4FDE-A919-97BF8F037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1887538"/>
            <a:ext cx="1524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3333CC"/>
                </a:solidFill>
                <a:latin typeface="Tahoma" panose="020B0604030504040204" pitchFamily="34" charset="0"/>
              </a:rPr>
              <a:t>9 5 +</a:t>
            </a:r>
          </a:p>
        </p:txBody>
      </p:sp>
      <p:sp>
        <p:nvSpPr>
          <p:cNvPr id="39948" name="Text Box 16">
            <a:extLst>
              <a:ext uri="{FF2B5EF4-FFF2-40B4-BE49-F238E27FC236}">
                <a16:creationId xmlns:a16="http://schemas.microsoft.com/office/drawing/2014/main" id="{5E2A9D4C-FFB6-40D6-B2CF-EB66A95B2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3228975"/>
            <a:ext cx="419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3333CC"/>
                </a:solidFill>
                <a:latin typeface="Tahoma" panose="020B0604030504040204" pitchFamily="34" charset="0"/>
              </a:rPr>
              <a:t>Post(E) = Post(E</a:t>
            </a:r>
            <a:r>
              <a:rPr lang="en-US" altLang="zh-CN" sz="2400" baseline="-25000">
                <a:solidFill>
                  <a:srgbClr val="3333CC"/>
                </a:solidFill>
                <a:latin typeface="Tahoma" panose="020B0604030504040204" pitchFamily="34" charset="0"/>
              </a:rPr>
              <a:t>1</a:t>
            </a:r>
            <a:r>
              <a:rPr lang="en-US" altLang="zh-CN" sz="2400">
                <a:solidFill>
                  <a:srgbClr val="3333CC"/>
                </a:solidFill>
                <a:latin typeface="Tahoma" panose="020B0604030504040204" pitchFamily="34" charset="0"/>
              </a:rPr>
              <a:t>) Post(E</a:t>
            </a:r>
            <a:r>
              <a:rPr lang="en-US" altLang="zh-CN" sz="2400" baseline="-25000">
                <a:solidFill>
                  <a:srgbClr val="3333CC"/>
                </a:solidFill>
                <a:latin typeface="Tahoma" panose="020B0604030504040204" pitchFamily="34" charset="0"/>
              </a:rPr>
              <a:t>2</a:t>
            </a:r>
            <a:r>
              <a:rPr lang="en-US" altLang="zh-CN" sz="2400">
                <a:solidFill>
                  <a:srgbClr val="3333CC"/>
                </a:solidFill>
                <a:latin typeface="Tahoma" panose="020B0604030504040204" pitchFamily="34" charset="0"/>
              </a:rPr>
              <a:t>) +</a:t>
            </a:r>
          </a:p>
        </p:txBody>
      </p:sp>
      <p:sp>
        <p:nvSpPr>
          <p:cNvPr id="39949" name="Line 17">
            <a:extLst>
              <a:ext uri="{FF2B5EF4-FFF2-40B4-BE49-F238E27FC236}">
                <a16:creationId xmlns:a16="http://schemas.microsoft.com/office/drawing/2014/main" id="{7DC1969D-E8B1-45D0-B312-4DDF0EC7481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2573338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0" name="Line 18">
            <a:extLst>
              <a:ext uri="{FF2B5EF4-FFF2-40B4-BE49-F238E27FC236}">
                <a16:creationId xmlns:a16="http://schemas.microsoft.com/office/drawing/2014/main" id="{F292FD5E-C108-4569-94B0-F595267AD3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53000" y="2573338"/>
            <a:ext cx="1295400" cy="7175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1" name="Line 19">
            <a:extLst>
              <a:ext uri="{FF2B5EF4-FFF2-40B4-BE49-F238E27FC236}">
                <a16:creationId xmlns:a16="http://schemas.microsoft.com/office/drawing/2014/main" id="{B2005AC7-A12D-499D-B958-22353142153D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2347913"/>
            <a:ext cx="381000" cy="0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2" name="Line 20">
            <a:extLst>
              <a:ext uri="{FF2B5EF4-FFF2-40B4-BE49-F238E27FC236}">
                <a16:creationId xmlns:a16="http://schemas.microsoft.com/office/drawing/2014/main" id="{3BAD889A-AC69-4FB4-87AD-B749623C2A0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2347913"/>
            <a:ext cx="381000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3" name="Line 21">
            <a:extLst>
              <a:ext uri="{FF2B5EF4-FFF2-40B4-BE49-F238E27FC236}">
                <a16:creationId xmlns:a16="http://schemas.microsoft.com/office/drawing/2014/main" id="{CB8B996F-A5CD-46C6-BBF6-F489CC68443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791200" y="2344738"/>
            <a:ext cx="685800" cy="946150"/>
          </a:xfrm>
          <a:prstGeom prst="line">
            <a:avLst/>
          </a:prstGeom>
          <a:noFill/>
          <a:ln w="25400">
            <a:solidFill>
              <a:srgbClr val="99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4" name="Line 22">
            <a:extLst>
              <a:ext uri="{FF2B5EF4-FFF2-40B4-BE49-F238E27FC236}">
                <a16:creationId xmlns:a16="http://schemas.microsoft.com/office/drawing/2014/main" id="{A26E3EC1-2934-4A8E-A2C8-CAA633434D3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72200" y="2314575"/>
            <a:ext cx="1447800" cy="97631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5" name="Text Box 23">
            <a:extLst>
              <a:ext uri="{FF2B5EF4-FFF2-40B4-BE49-F238E27FC236}">
                <a16:creationId xmlns:a16="http://schemas.microsoft.com/office/drawing/2014/main" id="{34F2F88F-28F2-42BA-B4C3-65BD95D72F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205288"/>
            <a:ext cx="3962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3333CC"/>
                </a:solidFill>
                <a:latin typeface="Tahoma" panose="020B0604030504040204" pitchFamily="34" charset="0"/>
              </a:rPr>
              <a:t>expr </a:t>
            </a:r>
            <a:r>
              <a:rPr kumimoji="0" lang="en-US" altLang="zh-CN" sz="2800">
                <a:solidFill>
                  <a:srgbClr val="3333CC"/>
                </a:solidFill>
                <a:sym typeface="Symbol" panose="05050102010706020507" pitchFamily="18" charset="2"/>
              </a:rPr>
              <a:t> </a:t>
            </a:r>
            <a:r>
              <a:rPr kumimoji="0" lang="en-US" altLang="zh-CN" sz="2800">
                <a:solidFill>
                  <a:srgbClr val="3333CC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expr + term</a:t>
            </a:r>
            <a:endParaRPr kumimoji="0" lang="en-US" altLang="zh-CN" sz="2800">
              <a:solidFill>
                <a:srgbClr val="3333CC"/>
              </a:solidFill>
              <a:sym typeface="Symbol" panose="05050102010706020507" pitchFamily="18" charset="2"/>
            </a:endParaRPr>
          </a:p>
        </p:txBody>
      </p:sp>
      <p:sp>
        <p:nvSpPr>
          <p:cNvPr id="39956" name="Line 25">
            <a:extLst>
              <a:ext uri="{FF2B5EF4-FFF2-40B4-BE49-F238E27FC236}">
                <a16:creationId xmlns:a16="http://schemas.microsoft.com/office/drawing/2014/main" id="{2C1B40BC-5EC9-4502-9588-296F1E274A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3533775"/>
            <a:ext cx="685800" cy="82391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7" name="Line 26">
            <a:extLst>
              <a:ext uri="{FF2B5EF4-FFF2-40B4-BE49-F238E27FC236}">
                <a16:creationId xmlns:a16="http://schemas.microsoft.com/office/drawing/2014/main" id="{6083105F-0E7B-4D66-93A8-94FCB6CED4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09800" y="3533775"/>
            <a:ext cx="0" cy="82391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8" name="Line 27">
            <a:extLst>
              <a:ext uri="{FF2B5EF4-FFF2-40B4-BE49-F238E27FC236}">
                <a16:creationId xmlns:a16="http://schemas.microsoft.com/office/drawing/2014/main" id="{F19E1C73-99B0-4DAC-9B0D-14559F64648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24200" y="3609975"/>
            <a:ext cx="228600" cy="74771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9" name="Text Box 28">
            <a:extLst>
              <a:ext uri="{FF2B5EF4-FFF2-40B4-BE49-F238E27FC236}">
                <a16:creationId xmlns:a16="http://schemas.microsoft.com/office/drawing/2014/main" id="{352DCA52-51CF-4D6D-84CA-B169F6FAEC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205288"/>
            <a:ext cx="4849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3333CC"/>
                </a:solidFill>
                <a:latin typeface="Tahoma" panose="020B0604030504040204" pitchFamily="34" charset="0"/>
              </a:rPr>
              <a:t>expr.t=</a:t>
            </a:r>
            <a:r>
              <a:rPr kumimoji="0" lang="en-US" altLang="zh-CN" sz="2800">
                <a:solidFill>
                  <a:srgbClr val="3333CC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800">
                <a:solidFill>
                  <a:srgbClr val="3333CC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expr.t || term.t || ‘+’</a:t>
            </a:r>
            <a:endParaRPr kumimoji="0" lang="en-US" altLang="zh-CN" sz="2800">
              <a:solidFill>
                <a:srgbClr val="3333CC"/>
              </a:solidFill>
              <a:sym typeface="Symbol" panose="05050102010706020507" pitchFamily="18" charset="2"/>
            </a:endParaRPr>
          </a:p>
        </p:txBody>
      </p:sp>
      <p:sp>
        <p:nvSpPr>
          <p:cNvPr id="39960" name="Line 29">
            <a:extLst>
              <a:ext uri="{FF2B5EF4-FFF2-40B4-BE49-F238E27FC236}">
                <a16:creationId xmlns:a16="http://schemas.microsoft.com/office/drawing/2014/main" id="{B0C44ACA-2B14-4A75-9275-9A810614F8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3609975"/>
            <a:ext cx="228600" cy="74771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61" name="Line 30">
            <a:extLst>
              <a:ext uri="{FF2B5EF4-FFF2-40B4-BE49-F238E27FC236}">
                <a16:creationId xmlns:a16="http://schemas.microsoft.com/office/drawing/2014/main" id="{A589E622-263F-4A9C-9713-9C1E59DF36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3562350"/>
            <a:ext cx="228600" cy="87153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62" name="Line 31">
            <a:extLst>
              <a:ext uri="{FF2B5EF4-FFF2-40B4-BE49-F238E27FC236}">
                <a16:creationId xmlns:a16="http://schemas.microsoft.com/office/drawing/2014/main" id="{CA777AD7-B09E-406B-BFB9-B522DAEF972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91400" y="3533775"/>
            <a:ext cx="0" cy="82391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87" name="Text Box 32">
            <a:extLst>
              <a:ext uri="{FF2B5EF4-FFF2-40B4-BE49-F238E27FC236}">
                <a16:creationId xmlns:a16="http://schemas.microsoft.com/office/drawing/2014/main" id="{C3E9AF9C-2E80-468F-A500-36231EB07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201738"/>
            <a:ext cx="1524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中缀</a:t>
            </a:r>
          </a:p>
        </p:txBody>
      </p:sp>
      <p:sp>
        <p:nvSpPr>
          <p:cNvPr id="40988" name="Text Box 33">
            <a:extLst>
              <a:ext uri="{FF2B5EF4-FFF2-40B4-BE49-F238E27FC236}">
                <a16:creationId xmlns:a16="http://schemas.microsoft.com/office/drawing/2014/main" id="{6BF1D9B9-F62D-4EBF-8B57-503F4F6A7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1201738"/>
            <a:ext cx="1524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后缀</a:t>
            </a:r>
          </a:p>
        </p:txBody>
      </p:sp>
      <p:sp>
        <p:nvSpPr>
          <p:cNvPr id="40989" name="Line 9">
            <a:extLst>
              <a:ext uri="{FF2B5EF4-FFF2-40B4-BE49-F238E27FC236}">
                <a16:creationId xmlns:a16="http://schemas.microsoft.com/office/drawing/2014/main" id="{10A34E80-BDFC-4D62-B301-5391BB6484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205038"/>
            <a:ext cx="19431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Text Box 32">
            <a:extLst>
              <a:ext uri="{FF2B5EF4-FFF2-40B4-BE49-F238E27FC236}">
                <a16:creationId xmlns:a16="http://schemas.microsoft.com/office/drawing/2014/main" id="{A64185B2-C630-4935-A7ED-2E608BDE8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8025" y="1743075"/>
            <a:ext cx="20859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1800" dirty="0">
                <a:solidFill>
                  <a:schemeClr val="accent4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人做某个实例翻译</a:t>
            </a:r>
          </a:p>
        </p:txBody>
      </p:sp>
      <p:sp>
        <p:nvSpPr>
          <p:cNvPr id="32" name="Text Box 32">
            <a:extLst>
              <a:ext uri="{FF2B5EF4-FFF2-40B4-BE49-F238E27FC236}">
                <a16:creationId xmlns:a16="http://schemas.microsoft.com/office/drawing/2014/main" id="{B24BD203-90AB-47C9-BF61-B3019F00E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3" y="2632075"/>
            <a:ext cx="1247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1800" dirty="0">
                <a:solidFill>
                  <a:schemeClr val="accent4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语法抽象</a:t>
            </a:r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D7D0764C-FD4F-42AC-968B-7D740DFD7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2565400"/>
            <a:ext cx="22669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1800" dirty="0">
                <a:solidFill>
                  <a:schemeClr val="accent4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语法对应的翻译方法</a:t>
            </a:r>
          </a:p>
        </p:txBody>
      </p:sp>
      <p:sp>
        <p:nvSpPr>
          <p:cNvPr id="34" name="Text Box 32">
            <a:extLst>
              <a:ext uri="{FF2B5EF4-FFF2-40B4-BE49-F238E27FC236}">
                <a16:creationId xmlns:a16="http://schemas.microsoft.com/office/drawing/2014/main" id="{88D058DF-612E-4F77-B35B-84F238EC14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475" y="3575050"/>
            <a:ext cx="12477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1800" dirty="0">
                <a:solidFill>
                  <a:schemeClr val="accent4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符号化为产生式</a:t>
            </a:r>
          </a:p>
        </p:txBody>
      </p:sp>
      <p:sp>
        <p:nvSpPr>
          <p:cNvPr id="35" name="Text Box 32">
            <a:extLst>
              <a:ext uri="{FF2B5EF4-FFF2-40B4-BE49-F238E27FC236}">
                <a16:creationId xmlns:a16="http://schemas.microsoft.com/office/drawing/2014/main" id="{7D165B9F-86E1-487E-B0BD-645A363FC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3773488"/>
            <a:ext cx="22669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1800" dirty="0">
                <a:solidFill>
                  <a:schemeClr val="accent4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符号化为语义规则</a:t>
            </a:r>
          </a:p>
        </p:txBody>
      </p:sp>
      <p:sp>
        <p:nvSpPr>
          <p:cNvPr id="36" name="Text Box 32">
            <a:extLst>
              <a:ext uri="{FF2B5EF4-FFF2-40B4-BE49-F238E27FC236}">
                <a16:creationId xmlns:a16="http://schemas.microsoft.com/office/drawing/2014/main" id="{EEDE25F3-EB2E-4497-AFA0-2EBD17B9C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5950" y="5467350"/>
            <a:ext cx="17843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1800" dirty="0">
                <a:solidFill>
                  <a:schemeClr val="accent4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属性，表示翻译</a:t>
            </a:r>
            <a:br>
              <a:rPr lang="en-US" altLang="zh-CN" sz="1800" dirty="0">
                <a:solidFill>
                  <a:schemeClr val="accent4"/>
                </a:solidFill>
                <a:latin typeface="Tahoma" panose="020B0604030504040204" pitchFamily="34" charset="0"/>
                <a:ea typeface="黑体" panose="02010609060101010101" pitchFamily="49" charset="-122"/>
              </a:rPr>
            </a:br>
            <a:r>
              <a:rPr lang="zh-CN" altLang="en-US" sz="1800" dirty="0">
                <a:solidFill>
                  <a:schemeClr val="accent4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结果即后缀串</a:t>
            </a:r>
            <a:endParaRPr lang="en-US" altLang="zh-CN" sz="1800" dirty="0">
              <a:solidFill>
                <a:schemeClr val="accent4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37" name="Line 18">
            <a:extLst>
              <a:ext uri="{FF2B5EF4-FFF2-40B4-BE49-F238E27FC236}">
                <a16:creationId xmlns:a16="http://schemas.microsoft.com/office/drawing/2014/main" id="{16A4D339-6889-48F1-B6F8-79CA4C611C4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03798" y="4645024"/>
            <a:ext cx="330201" cy="822319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Text Box 32">
            <a:extLst>
              <a:ext uri="{FF2B5EF4-FFF2-40B4-BE49-F238E27FC236}">
                <a16:creationId xmlns:a16="http://schemas.microsoft.com/office/drawing/2014/main" id="{976652E6-166B-43D9-8F41-FA93BA831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5413375"/>
            <a:ext cx="19240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1800" dirty="0">
                <a:solidFill>
                  <a:schemeClr val="accent4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翻译方法表示为</a:t>
            </a:r>
            <a:br>
              <a:rPr lang="en-US" altLang="zh-CN" sz="1800" dirty="0">
                <a:solidFill>
                  <a:schemeClr val="accent4"/>
                </a:solidFill>
                <a:latin typeface="Tahoma" panose="020B0604030504040204" pitchFamily="34" charset="0"/>
                <a:ea typeface="黑体" panose="02010609060101010101" pitchFamily="49" charset="-122"/>
              </a:rPr>
            </a:br>
            <a:r>
              <a:rPr lang="zh-CN" altLang="en-US" sz="1800" dirty="0">
                <a:solidFill>
                  <a:schemeClr val="accent4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属性字符串运算</a:t>
            </a:r>
            <a:endParaRPr lang="en-US" altLang="zh-CN" sz="1800" dirty="0">
              <a:solidFill>
                <a:schemeClr val="accent4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39" name="Line 18">
            <a:extLst>
              <a:ext uri="{FF2B5EF4-FFF2-40B4-BE49-F238E27FC236}">
                <a16:creationId xmlns:a16="http://schemas.microsoft.com/office/drawing/2014/main" id="{7FB20755-D30C-4815-BEC5-46CA906E045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88125" y="4710113"/>
            <a:ext cx="652463" cy="75723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Line 9">
            <a:extLst>
              <a:ext uri="{FF2B5EF4-FFF2-40B4-BE49-F238E27FC236}">
                <a16:creationId xmlns:a16="http://schemas.microsoft.com/office/drawing/2014/main" id="{8CE4E30D-321E-49AA-8754-EAEFAFC6A63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6410" y="3082130"/>
            <a:ext cx="19431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Text Box 32">
            <a:extLst>
              <a:ext uri="{FF2B5EF4-FFF2-40B4-BE49-F238E27FC236}">
                <a16:creationId xmlns:a16="http://schemas.microsoft.com/office/drawing/2014/main" id="{F264DFF3-C157-458C-94E5-3FC452A2C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7835" y="2620167"/>
            <a:ext cx="2085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1800" dirty="0">
                <a:solidFill>
                  <a:schemeClr val="accent4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人梳理清翻译方法</a:t>
            </a:r>
          </a:p>
        </p:txBody>
      </p:sp>
      <p:sp>
        <p:nvSpPr>
          <p:cNvPr id="42" name="Line 9">
            <a:extLst>
              <a:ext uri="{FF2B5EF4-FFF2-40B4-BE49-F238E27FC236}">
                <a16:creationId xmlns:a16="http://schemas.microsoft.com/office/drawing/2014/main" id="{49B0D46B-7EF9-46BA-9AE9-CAE6EDBDEF0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14497" y="5106988"/>
            <a:ext cx="19431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Text Box 32">
            <a:extLst>
              <a:ext uri="{FF2B5EF4-FFF2-40B4-BE49-F238E27FC236}">
                <a16:creationId xmlns:a16="http://schemas.microsoft.com/office/drawing/2014/main" id="{1061D71E-F0CE-4530-A7F5-71C3284BD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5922" y="4645025"/>
            <a:ext cx="2085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1800" dirty="0">
                <a:solidFill>
                  <a:schemeClr val="accent4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语法制导翻译方法</a:t>
            </a:r>
          </a:p>
        </p:txBody>
      </p:sp>
      <p:sp>
        <p:nvSpPr>
          <p:cNvPr id="44" name="Line 18">
            <a:extLst>
              <a:ext uri="{FF2B5EF4-FFF2-40B4-BE49-F238E27FC236}">
                <a16:creationId xmlns:a16="http://schemas.microsoft.com/office/drawing/2014/main" id="{41C4F4E0-3C2C-47C3-93AD-2A3485D712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80200" y="4645022"/>
            <a:ext cx="868199" cy="822319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" name="Line 18">
            <a:extLst>
              <a:ext uri="{FF2B5EF4-FFF2-40B4-BE49-F238E27FC236}">
                <a16:creationId xmlns:a16="http://schemas.microsoft.com/office/drawing/2014/main" id="{596E1C91-EF98-4AFD-87E8-856763F752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36096" y="4629150"/>
            <a:ext cx="2226597" cy="83819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Line 18">
            <a:extLst>
              <a:ext uri="{FF2B5EF4-FFF2-40B4-BE49-F238E27FC236}">
                <a16:creationId xmlns:a16="http://schemas.microsoft.com/office/drawing/2014/main" id="{235A24E1-5F6C-4F75-8402-BEB98C51F9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01703" y="4645021"/>
            <a:ext cx="700715" cy="817664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/>
      <p:bldP spid="39948" grpId="0"/>
      <p:bldP spid="39955" grpId="0"/>
      <p:bldP spid="39959" grpId="0"/>
      <p:bldP spid="40989" grpId="0" animBg="1"/>
      <p:bldP spid="31" grpId="0"/>
      <p:bldP spid="32" grpId="0"/>
      <p:bldP spid="33" grpId="0"/>
      <p:bldP spid="34" grpId="0"/>
      <p:bldP spid="35" grpId="0"/>
      <p:bldP spid="36" grpId="0"/>
      <p:bldP spid="38" grpId="0"/>
      <p:bldP spid="40" grpId="0" animBg="1"/>
      <p:bldP spid="41" grpId="0"/>
      <p:bldP spid="42" grpId="0" animBg="1"/>
      <p:bldP spid="4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2A3AA4DC-21EB-4816-AB38-B1AD3F7DE4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2.6</a:t>
            </a:r>
            <a:r>
              <a:rPr lang="zh-CN" altLang="en-US"/>
              <a:t>（续）</a:t>
            </a:r>
          </a:p>
        </p:txBody>
      </p:sp>
      <p:sp>
        <p:nvSpPr>
          <p:cNvPr id="41987" name="Text Box 50">
            <a:extLst>
              <a:ext uri="{FF2B5EF4-FFF2-40B4-BE49-F238E27FC236}">
                <a16:creationId xmlns:a16="http://schemas.microsoft.com/office/drawing/2014/main" id="{BFC825E9-7BD8-4B2A-93DA-D8AAD6B43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444625"/>
            <a:ext cx="8077200" cy="3391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 dirty="0"/>
              <a:t>Production                          Semantic Rule</a:t>
            </a:r>
          </a:p>
          <a:p>
            <a:pPr>
              <a:lnSpc>
                <a:spcPct val="5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 sz="2400" i="1" dirty="0"/>
          </a:p>
          <a:p>
            <a:pPr>
              <a:lnSpc>
                <a:spcPct val="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i="1" dirty="0"/>
              <a:t>expr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i="1" dirty="0">
                <a:sym typeface="Symbol" panose="05050102010706020507" pitchFamily="18" charset="2"/>
              </a:rPr>
              <a:t> expr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i="1" dirty="0">
                <a:sym typeface="Symbol" panose="05050102010706020507" pitchFamily="18" charset="2"/>
              </a:rPr>
              <a:t> + term     	expr.t = expr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i="1" dirty="0">
                <a:sym typeface="Symbol" panose="05050102010706020507" pitchFamily="18" charset="2"/>
              </a:rPr>
              <a:t>.t || term.t || </a:t>
            </a:r>
            <a:r>
              <a:rPr kumimoji="0" lang="en-US" altLang="zh-CN" sz="2400" dirty="0">
                <a:sym typeface="Symbol" panose="05050102010706020507" pitchFamily="18" charset="2"/>
              </a:rPr>
              <a:t>‘+’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>
                <a:sym typeface="Symbol" panose="05050102010706020507" pitchFamily="18" charset="2"/>
              </a:rPr>
              <a:t>expr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i="1" dirty="0">
                <a:sym typeface="Symbol" panose="05050102010706020507" pitchFamily="18" charset="2"/>
              </a:rPr>
              <a:t> expr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i="1" dirty="0">
                <a:sym typeface="Symbol" panose="05050102010706020507" pitchFamily="18" charset="2"/>
              </a:rPr>
              <a:t> – term      	expr.t = expr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i="1" dirty="0">
                <a:sym typeface="Symbol" panose="05050102010706020507" pitchFamily="18" charset="2"/>
              </a:rPr>
              <a:t>.t || term.t || </a:t>
            </a:r>
            <a:r>
              <a:rPr kumimoji="0" lang="en-US" altLang="zh-CN" sz="2400" dirty="0">
                <a:sym typeface="Symbol" panose="05050102010706020507" pitchFamily="18" charset="2"/>
              </a:rPr>
              <a:t>‘-’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>
                <a:sym typeface="Symbol" panose="05050102010706020507" pitchFamily="18" charset="2"/>
              </a:rPr>
              <a:t>expr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i="1" dirty="0">
                <a:sym typeface="Symbol" panose="05050102010706020507" pitchFamily="18" charset="2"/>
              </a:rPr>
              <a:t> term                  	expr.t = term.t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>
                <a:sym typeface="Symbol" panose="05050102010706020507" pitchFamily="18" charset="2"/>
              </a:rPr>
              <a:t>term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0</a:t>
            </a:r>
            <a:r>
              <a:rPr kumimoji="0" lang="en-US" altLang="zh-CN" sz="2400" i="1" dirty="0">
                <a:sym typeface="Symbol" panose="05050102010706020507" pitchFamily="18" charset="2"/>
              </a:rPr>
              <a:t>                     	term.t = </a:t>
            </a:r>
            <a:r>
              <a:rPr kumimoji="0" lang="en-US" altLang="zh-CN" sz="2400" dirty="0">
                <a:sym typeface="Symbol" panose="05050102010706020507" pitchFamily="18" charset="2"/>
              </a:rPr>
              <a:t>‘0’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>
                <a:sym typeface="Symbol" panose="05050102010706020507" pitchFamily="18" charset="2"/>
              </a:rPr>
              <a:t>term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1 </a:t>
            </a:r>
            <a:r>
              <a:rPr kumimoji="0" lang="en-US" altLang="zh-CN" sz="2400" i="1" dirty="0">
                <a:sym typeface="Symbol" panose="05050102010706020507" pitchFamily="18" charset="2"/>
              </a:rPr>
              <a:t>                  	    	term.t = </a:t>
            </a:r>
            <a:r>
              <a:rPr kumimoji="0" lang="en-US" altLang="zh-CN" sz="2400" dirty="0">
                <a:sym typeface="Symbol" panose="05050102010706020507" pitchFamily="18" charset="2"/>
              </a:rPr>
              <a:t>‘1’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>
                <a:sym typeface="Symbol" panose="05050102010706020507" pitchFamily="18" charset="2"/>
              </a:rPr>
              <a:t>….                                 	….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>
                <a:sym typeface="Symbol" panose="05050102010706020507" pitchFamily="18" charset="2"/>
              </a:rPr>
              <a:t>term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9</a:t>
            </a:r>
            <a:r>
              <a:rPr kumimoji="0" lang="en-US" altLang="zh-CN" sz="2400" i="1" dirty="0">
                <a:sym typeface="Symbol" panose="05050102010706020507" pitchFamily="18" charset="2"/>
              </a:rPr>
              <a:t>                       	term.t = </a:t>
            </a:r>
            <a:r>
              <a:rPr kumimoji="0" lang="en-US" altLang="zh-CN" sz="2400" dirty="0">
                <a:sym typeface="Symbol" panose="05050102010706020507" pitchFamily="18" charset="2"/>
              </a:rPr>
              <a:t>‘9’</a:t>
            </a:r>
          </a:p>
        </p:txBody>
      </p:sp>
      <p:sp>
        <p:nvSpPr>
          <p:cNvPr id="41988" name="Line 51">
            <a:extLst>
              <a:ext uri="{FF2B5EF4-FFF2-40B4-BE49-F238E27FC236}">
                <a16:creationId xmlns:a16="http://schemas.microsoft.com/office/drawing/2014/main" id="{ED875514-35B1-4655-90D3-F318FB388F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149225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89" name="Line 52">
            <a:extLst>
              <a:ext uri="{FF2B5EF4-FFF2-40B4-BE49-F238E27FC236}">
                <a16:creationId xmlns:a16="http://schemas.microsoft.com/office/drawing/2014/main" id="{86BB64F0-99A7-41E5-9975-5DA9E4A36A9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13716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90" name="Line 53">
            <a:extLst>
              <a:ext uri="{FF2B5EF4-FFF2-40B4-BE49-F238E27FC236}">
                <a16:creationId xmlns:a16="http://schemas.microsoft.com/office/drawing/2014/main" id="{80414F58-930E-4457-A3BF-23D24CE4429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52578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91" name="Line 54">
            <a:extLst>
              <a:ext uri="{FF2B5EF4-FFF2-40B4-BE49-F238E27FC236}">
                <a16:creationId xmlns:a16="http://schemas.microsoft.com/office/drawing/2014/main" id="{E48EA029-8AA0-4C74-B6BA-40E62F6B7F1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1979613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92" name="Line 55">
            <a:extLst>
              <a:ext uri="{FF2B5EF4-FFF2-40B4-BE49-F238E27FC236}">
                <a16:creationId xmlns:a16="http://schemas.microsoft.com/office/drawing/2014/main" id="{DEC92856-FE44-47B8-8CCA-7AA3BDEF87B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9875" y="1492250"/>
            <a:ext cx="0" cy="3765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93CD480F-29AE-4A31-822D-28D36CFD97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2.6</a:t>
            </a:r>
            <a:r>
              <a:rPr lang="zh-CN" altLang="en-US"/>
              <a:t>（续）注释语法分析树</a:t>
            </a:r>
          </a:p>
        </p:txBody>
      </p:sp>
      <p:grpSp>
        <p:nvGrpSpPr>
          <p:cNvPr id="43011" name="Group 4">
            <a:extLst>
              <a:ext uri="{FF2B5EF4-FFF2-40B4-BE49-F238E27FC236}">
                <a16:creationId xmlns:a16="http://schemas.microsoft.com/office/drawing/2014/main" id="{4D933677-358E-4E0B-B247-06832CD29D48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1371600"/>
            <a:ext cx="7391400" cy="3894138"/>
            <a:chOff x="576" y="768"/>
            <a:chExt cx="3264" cy="2105"/>
          </a:xfrm>
        </p:grpSpPr>
        <p:sp>
          <p:nvSpPr>
            <p:cNvPr id="43012" name="Text Box 5">
              <a:extLst>
                <a:ext uri="{FF2B5EF4-FFF2-40B4-BE49-F238E27FC236}">
                  <a16:creationId xmlns:a16="http://schemas.microsoft.com/office/drawing/2014/main" id="{1A6A4CDB-2B1E-4A00-83B0-246D7480E4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152"/>
              <a:ext cx="864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 dirty="0"/>
                <a:t>expr.t</a:t>
              </a:r>
            </a:p>
          </p:txBody>
        </p:sp>
        <p:sp>
          <p:nvSpPr>
            <p:cNvPr id="43013" name="Text Box 6">
              <a:extLst>
                <a:ext uri="{FF2B5EF4-FFF2-40B4-BE49-F238E27FC236}">
                  <a16:creationId xmlns:a16="http://schemas.microsoft.com/office/drawing/2014/main" id="{36CED251-4352-46AA-927B-9A7ABBBE5C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536"/>
              <a:ext cx="864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 dirty="0"/>
                <a:t>expr.t</a:t>
              </a:r>
            </a:p>
          </p:txBody>
        </p:sp>
        <p:sp>
          <p:nvSpPr>
            <p:cNvPr id="43014" name="Text Box 7">
              <a:extLst>
                <a:ext uri="{FF2B5EF4-FFF2-40B4-BE49-F238E27FC236}">
                  <a16:creationId xmlns:a16="http://schemas.microsoft.com/office/drawing/2014/main" id="{85EADE8F-3635-4B6D-AECB-7838BD3B7D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768"/>
              <a:ext cx="1008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 dirty="0"/>
                <a:t>expr.t</a:t>
              </a:r>
            </a:p>
          </p:txBody>
        </p:sp>
        <p:sp>
          <p:nvSpPr>
            <p:cNvPr id="43015" name="Text Box 8">
              <a:extLst>
                <a:ext uri="{FF2B5EF4-FFF2-40B4-BE49-F238E27FC236}">
                  <a16:creationId xmlns:a16="http://schemas.microsoft.com/office/drawing/2014/main" id="{FA0C0DAB-7827-40F4-AC39-015C6309A6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1536"/>
              <a:ext cx="864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 dirty="0"/>
                <a:t>term.t</a:t>
              </a:r>
            </a:p>
          </p:txBody>
        </p:sp>
        <p:sp>
          <p:nvSpPr>
            <p:cNvPr id="43016" name="Text Box 9">
              <a:extLst>
                <a:ext uri="{FF2B5EF4-FFF2-40B4-BE49-F238E27FC236}">
                  <a16:creationId xmlns:a16="http://schemas.microsoft.com/office/drawing/2014/main" id="{84BC3DDE-6C9E-4D02-9F5A-5C85D79E7F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1152"/>
              <a:ext cx="864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 dirty="0"/>
                <a:t>term.t</a:t>
              </a:r>
            </a:p>
          </p:txBody>
        </p:sp>
        <p:sp>
          <p:nvSpPr>
            <p:cNvPr id="43017" name="Text Box 10">
              <a:extLst>
                <a:ext uri="{FF2B5EF4-FFF2-40B4-BE49-F238E27FC236}">
                  <a16:creationId xmlns:a16="http://schemas.microsoft.com/office/drawing/2014/main" id="{654BBF84-F21A-411D-8858-34982AC55D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016"/>
              <a:ext cx="864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 dirty="0"/>
                <a:t>term.t</a:t>
              </a:r>
            </a:p>
          </p:txBody>
        </p:sp>
        <p:sp>
          <p:nvSpPr>
            <p:cNvPr id="43018" name="Line 11">
              <a:extLst>
                <a:ext uri="{FF2B5EF4-FFF2-40B4-BE49-F238E27FC236}">
                  <a16:creationId xmlns:a16="http://schemas.microsoft.com/office/drawing/2014/main" id="{85F177FE-F51B-4900-99AE-1E8AE034CE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30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9" name="Line 12">
              <a:extLst>
                <a:ext uri="{FF2B5EF4-FFF2-40B4-BE49-F238E27FC236}">
                  <a16:creationId xmlns:a16="http://schemas.microsoft.com/office/drawing/2014/main" id="{F4007938-DC40-413D-83F1-5B277D41BD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960"/>
              <a:ext cx="43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0" name="Line 13">
              <a:extLst>
                <a:ext uri="{FF2B5EF4-FFF2-40B4-BE49-F238E27FC236}">
                  <a16:creationId xmlns:a16="http://schemas.microsoft.com/office/drawing/2014/main" id="{BC327D33-52A9-454B-BCBD-681D484303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344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1" name="Line 14">
              <a:extLst>
                <a:ext uri="{FF2B5EF4-FFF2-40B4-BE49-F238E27FC236}">
                  <a16:creationId xmlns:a16="http://schemas.microsoft.com/office/drawing/2014/main" id="{3BE74664-8049-4456-8FA3-22C218F77F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912"/>
              <a:ext cx="81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2" name="Line 15">
              <a:extLst>
                <a:ext uri="{FF2B5EF4-FFF2-40B4-BE49-F238E27FC236}">
                  <a16:creationId xmlns:a16="http://schemas.microsoft.com/office/drawing/2014/main" id="{3078BF7D-F436-4272-9138-14E5E9B5D9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" y="1344"/>
              <a:ext cx="3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3" name="Line 16">
              <a:extLst>
                <a:ext uri="{FF2B5EF4-FFF2-40B4-BE49-F238E27FC236}">
                  <a16:creationId xmlns:a16="http://schemas.microsoft.com/office/drawing/2014/main" id="{4D2357A1-20DF-466C-B5EF-96E7D23496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177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4" name="Line 17">
              <a:extLst>
                <a:ext uri="{FF2B5EF4-FFF2-40B4-BE49-F238E27FC236}">
                  <a16:creationId xmlns:a16="http://schemas.microsoft.com/office/drawing/2014/main" id="{4EF1EB87-0C46-4A62-AB5B-6A6799516A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440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5" name="Line 18">
              <a:extLst>
                <a:ext uri="{FF2B5EF4-FFF2-40B4-BE49-F238E27FC236}">
                  <a16:creationId xmlns:a16="http://schemas.microsoft.com/office/drawing/2014/main" id="{B709BC1F-5BDF-48F5-AEE9-34DE1F7EDC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056"/>
              <a:ext cx="0" cy="1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6" name="Line 19">
              <a:extLst>
                <a:ext uri="{FF2B5EF4-FFF2-40B4-BE49-F238E27FC236}">
                  <a16:creationId xmlns:a16="http://schemas.microsoft.com/office/drawing/2014/main" id="{0FF85C40-2EC8-44D2-B9CA-A4A4F27827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776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7" name="Line 20">
              <a:extLst>
                <a:ext uri="{FF2B5EF4-FFF2-40B4-BE49-F238E27FC236}">
                  <a16:creationId xmlns:a16="http://schemas.microsoft.com/office/drawing/2014/main" id="{774AF166-6319-460F-B808-699DA2C542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440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8" name="Text Box 21">
              <a:extLst>
                <a:ext uri="{FF2B5EF4-FFF2-40B4-BE49-F238E27FC236}">
                  <a16:creationId xmlns:a16="http://schemas.microsoft.com/office/drawing/2014/main" id="{6188B580-A6EA-4A22-9F40-642F855350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2544"/>
              <a:ext cx="432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/>
                <a:t>2</a:t>
              </a:r>
            </a:p>
          </p:txBody>
        </p:sp>
        <p:sp>
          <p:nvSpPr>
            <p:cNvPr id="43029" name="Text Box 22">
              <a:extLst>
                <a:ext uri="{FF2B5EF4-FFF2-40B4-BE49-F238E27FC236}">
                  <a16:creationId xmlns:a16="http://schemas.microsoft.com/office/drawing/2014/main" id="{101CD73E-2774-496F-A349-54FD7D8FEA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2592"/>
              <a:ext cx="432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/>
                <a:t>+</a:t>
              </a:r>
            </a:p>
          </p:txBody>
        </p:sp>
        <p:sp>
          <p:nvSpPr>
            <p:cNvPr id="43030" name="Text Box 23">
              <a:extLst>
                <a:ext uri="{FF2B5EF4-FFF2-40B4-BE49-F238E27FC236}">
                  <a16:creationId xmlns:a16="http://schemas.microsoft.com/office/drawing/2014/main" id="{E30BECD5-D3EE-4B88-B3F4-380AA61338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2592"/>
              <a:ext cx="432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/>
                <a:t>5</a:t>
              </a:r>
            </a:p>
          </p:txBody>
        </p:sp>
        <p:sp>
          <p:nvSpPr>
            <p:cNvPr id="43031" name="Text Box 24">
              <a:extLst>
                <a:ext uri="{FF2B5EF4-FFF2-40B4-BE49-F238E27FC236}">
                  <a16:creationId xmlns:a16="http://schemas.microsoft.com/office/drawing/2014/main" id="{08AEDAB7-D041-412B-BE70-9185D757F9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592"/>
              <a:ext cx="432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/>
                <a:t>-</a:t>
              </a:r>
            </a:p>
          </p:txBody>
        </p:sp>
        <p:sp>
          <p:nvSpPr>
            <p:cNvPr id="43032" name="Text Box 25">
              <a:extLst>
                <a:ext uri="{FF2B5EF4-FFF2-40B4-BE49-F238E27FC236}">
                  <a16:creationId xmlns:a16="http://schemas.microsoft.com/office/drawing/2014/main" id="{7A98F14B-347B-43BF-89CE-4F0D030076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592"/>
              <a:ext cx="432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/>
                <a:t>9</a:t>
              </a: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4C1B95B-0980-434A-903C-87C98CCB84B7}"/>
              </a:ext>
            </a:extLst>
          </p:cNvPr>
          <p:cNvSpPr txBox="1"/>
          <p:nvPr/>
        </p:nvSpPr>
        <p:spPr>
          <a:xfrm>
            <a:off x="1846731" y="3708119"/>
            <a:ext cx="6611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800" i="1" dirty="0"/>
              <a:t>=</a:t>
            </a:r>
            <a:r>
              <a:rPr kumimoji="0" lang="en-US" altLang="zh-CN" sz="2800" dirty="0">
                <a:solidFill>
                  <a:srgbClr val="0066FF"/>
                </a:solidFill>
              </a:rPr>
              <a:t>9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A12B258-0965-44D8-8B21-0C10FD014740}"/>
              </a:ext>
            </a:extLst>
          </p:cNvPr>
          <p:cNvSpPr txBox="1"/>
          <p:nvPr/>
        </p:nvSpPr>
        <p:spPr>
          <a:xfrm>
            <a:off x="549088" y="4402547"/>
            <a:ext cx="2311537" cy="231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i="1" dirty="0">
                <a:sym typeface="Symbol" panose="05050102010706020507" pitchFamily="18" charset="2"/>
              </a:rPr>
              <a:t>term </a:t>
            </a:r>
            <a:r>
              <a:rPr kumimoji="0" lang="en-US" altLang="zh-CN" sz="1600" dirty="0">
                <a:sym typeface="Symbol" panose="05050102010706020507" pitchFamily="18" charset="2"/>
              </a:rPr>
              <a:t></a:t>
            </a:r>
            <a:r>
              <a:rPr kumimoji="0" lang="en-US" altLang="zh-CN" sz="1600" i="1" dirty="0">
                <a:sym typeface="Symbol" panose="05050102010706020507" pitchFamily="18" charset="2"/>
              </a:rPr>
              <a:t> </a:t>
            </a:r>
            <a:r>
              <a:rPr kumimoji="0" lang="en-US" altLang="zh-CN" sz="1600" dirty="0">
                <a:sym typeface="Symbol" panose="05050102010706020507" pitchFamily="18" charset="2"/>
              </a:rPr>
              <a:t>9</a:t>
            </a:r>
            <a:r>
              <a:rPr kumimoji="0" lang="en-US" altLang="zh-CN" sz="1600" i="1" dirty="0">
                <a:sym typeface="Symbol" panose="05050102010706020507" pitchFamily="18" charset="2"/>
              </a:rPr>
              <a:t>   </a:t>
            </a:r>
            <a:r>
              <a:rPr kumimoji="0" lang="en-US" altLang="zh-CN" sz="1600" dirty="0">
                <a:sym typeface="Symbol" panose="05050102010706020507" pitchFamily="18" charset="2"/>
              </a:rPr>
              <a:t>{</a:t>
            </a:r>
            <a:r>
              <a:rPr kumimoji="0" lang="en-US" altLang="zh-CN" sz="1600" i="1" dirty="0">
                <a:sym typeface="Symbol" panose="05050102010706020507" pitchFamily="18" charset="2"/>
              </a:rPr>
              <a:t>term.t = </a:t>
            </a:r>
            <a:r>
              <a:rPr kumimoji="0" lang="en-US" altLang="zh-CN" sz="1600" dirty="0">
                <a:sym typeface="Symbol" panose="05050102010706020507" pitchFamily="18" charset="2"/>
              </a:rPr>
              <a:t>‘9’}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838C2FF-6D7F-40D8-9FCD-67D11A7C3156}"/>
              </a:ext>
            </a:extLst>
          </p:cNvPr>
          <p:cNvSpPr txBox="1"/>
          <p:nvPr/>
        </p:nvSpPr>
        <p:spPr>
          <a:xfrm>
            <a:off x="1792382" y="2823503"/>
            <a:ext cx="6611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800" i="1" dirty="0"/>
              <a:t>=</a:t>
            </a:r>
            <a:r>
              <a:rPr kumimoji="0" lang="en-US" altLang="zh-CN" sz="2800" dirty="0">
                <a:solidFill>
                  <a:srgbClr val="0066FF"/>
                </a:solidFill>
              </a:rPr>
              <a:t>9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432D0D2-4161-4BB6-85D3-202905218345}"/>
              </a:ext>
            </a:extLst>
          </p:cNvPr>
          <p:cNvSpPr txBox="1"/>
          <p:nvPr/>
        </p:nvSpPr>
        <p:spPr>
          <a:xfrm>
            <a:off x="329079" y="3401937"/>
            <a:ext cx="2618066" cy="231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i="1" dirty="0">
                <a:sym typeface="Symbol" panose="05050102010706020507" pitchFamily="18" charset="2"/>
              </a:rPr>
              <a:t>expr</a:t>
            </a:r>
            <a:r>
              <a:rPr kumimoji="0" lang="en-US" altLang="zh-CN" sz="1600" dirty="0">
                <a:sym typeface="Symbol" panose="05050102010706020507" pitchFamily="18" charset="2"/>
              </a:rPr>
              <a:t></a:t>
            </a:r>
            <a:r>
              <a:rPr kumimoji="0" lang="en-US" altLang="zh-CN" sz="1600" i="1" dirty="0">
                <a:sym typeface="Symbol" panose="05050102010706020507" pitchFamily="18" charset="2"/>
              </a:rPr>
              <a:t> term </a:t>
            </a:r>
            <a:r>
              <a:rPr kumimoji="0" lang="en-US" altLang="zh-CN" sz="1600" dirty="0">
                <a:sym typeface="Symbol" panose="05050102010706020507" pitchFamily="18" charset="2"/>
              </a:rPr>
              <a:t>{</a:t>
            </a:r>
            <a:r>
              <a:rPr kumimoji="0" lang="en-US" altLang="zh-CN" sz="1600" i="1" dirty="0">
                <a:sym typeface="Symbol" panose="05050102010706020507" pitchFamily="18" charset="2"/>
              </a:rPr>
              <a:t>expr.t= term.t</a:t>
            </a:r>
            <a:r>
              <a:rPr kumimoji="0" lang="en-US" altLang="zh-CN" sz="1600" dirty="0">
                <a:sym typeface="Symbol" panose="05050102010706020507" pitchFamily="18" charset="2"/>
              </a:rPr>
              <a:t>}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58C3CF3-7C09-4F52-8C66-C6ABD3800DAD}"/>
              </a:ext>
            </a:extLst>
          </p:cNvPr>
          <p:cNvSpPr txBox="1"/>
          <p:nvPr/>
        </p:nvSpPr>
        <p:spPr>
          <a:xfrm>
            <a:off x="4138333" y="2816680"/>
            <a:ext cx="6611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800" i="1" dirty="0"/>
              <a:t>=</a:t>
            </a:r>
            <a:r>
              <a:rPr kumimoji="0" lang="en-US" altLang="zh-CN" sz="2800" dirty="0">
                <a:solidFill>
                  <a:srgbClr val="0066FF"/>
                </a:solidFill>
              </a:rPr>
              <a:t>5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7F97796-97E1-4F33-8D5A-2ACF5381590B}"/>
              </a:ext>
            </a:extLst>
          </p:cNvPr>
          <p:cNvSpPr txBox="1"/>
          <p:nvPr/>
        </p:nvSpPr>
        <p:spPr>
          <a:xfrm>
            <a:off x="407362" y="2606782"/>
            <a:ext cx="4536085" cy="231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i="1" dirty="0">
                <a:sym typeface="Symbol" panose="05050102010706020507" pitchFamily="18" charset="2"/>
              </a:rPr>
              <a:t>expr</a:t>
            </a:r>
            <a:r>
              <a:rPr kumimoji="0" lang="en-US" altLang="zh-CN" sz="1600" dirty="0">
                <a:sym typeface="Symbol" panose="05050102010706020507" pitchFamily="18" charset="2"/>
              </a:rPr>
              <a:t></a:t>
            </a:r>
            <a:r>
              <a:rPr kumimoji="0" lang="en-US" altLang="zh-CN" sz="1600" i="1" dirty="0">
                <a:sym typeface="Symbol" panose="05050102010706020507" pitchFamily="18" charset="2"/>
              </a:rPr>
              <a:t> expr</a:t>
            </a:r>
            <a:r>
              <a:rPr kumimoji="0" lang="en-US" altLang="zh-CN" sz="1600" i="1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1600" i="1" dirty="0">
                <a:sym typeface="Symbol" panose="05050102010706020507" pitchFamily="18" charset="2"/>
              </a:rPr>
              <a:t> - term </a:t>
            </a:r>
            <a:r>
              <a:rPr kumimoji="0" lang="en-US" altLang="zh-CN" sz="1600" dirty="0">
                <a:sym typeface="Symbol" panose="05050102010706020507" pitchFamily="18" charset="2"/>
              </a:rPr>
              <a:t>{</a:t>
            </a:r>
            <a:r>
              <a:rPr kumimoji="0" lang="en-US" altLang="zh-CN" sz="1600" i="1" dirty="0">
                <a:sym typeface="Symbol" panose="05050102010706020507" pitchFamily="18" charset="2"/>
              </a:rPr>
              <a:t>expr.t= expr</a:t>
            </a:r>
            <a:r>
              <a:rPr kumimoji="0" lang="en-US" altLang="zh-CN" sz="1600" i="1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1600" i="1" dirty="0">
                <a:sym typeface="Symbol" panose="05050102010706020507" pitchFamily="18" charset="2"/>
              </a:rPr>
              <a:t>.t</a:t>
            </a:r>
            <a:r>
              <a:rPr kumimoji="0" lang="en-US" altLang="zh-CN" sz="1600" i="1" baseline="-25000" dirty="0">
                <a:sym typeface="Symbol" panose="05050102010706020507" pitchFamily="18" charset="2"/>
              </a:rPr>
              <a:t> </a:t>
            </a:r>
            <a:r>
              <a:rPr kumimoji="0" lang="en-US" altLang="zh-CN" sz="1600" i="1" dirty="0">
                <a:sym typeface="Symbol" panose="05050102010706020507" pitchFamily="18" charset="2"/>
              </a:rPr>
              <a:t>|| term.t || </a:t>
            </a:r>
            <a:r>
              <a:rPr kumimoji="0" lang="en-US" altLang="zh-CN" sz="1600" dirty="0">
                <a:sym typeface="Symbol" panose="05050102010706020507" pitchFamily="18" charset="2"/>
              </a:rPr>
              <a:t>‘-’}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5061FA2-EA70-4892-A93B-1CDAFEE4C625}"/>
              </a:ext>
            </a:extLst>
          </p:cNvPr>
          <p:cNvSpPr txBox="1"/>
          <p:nvPr/>
        </p:nvSpPr>
        <p:spPr>
          <a:xfrm>
            <a:off x="3142070" y="2079462"/>
            <a:ext cx="9419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800" i="1" dirty="0"/>
              <a:t>=</a:t>
            </a:r>
            <a:r>
              <a:rPr kumimoji="0" lang="en-US" altLang="zh-CN" sz="2800" dirty="0">
                <a:solidFill>
                  <a:srgbClr val="0066FF"/>
                </a:solidFill>
              </a:rPr>
              <a:t>95-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D9FE4AE-A580-4732-B217-E1CF38BB9669}"/>
              </a:ext>
            </a:extLst>
          </p:cNvPr>
          <p:cNvSpPr txBox="1"/>
          <p:nvPr/>
        </p:nvSpPr>
        <p:spPr>
          <a:xfrm>
            <a:off x="7272855" y="2091544"/>
            <a:ext cx="6611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800" i="1" dirty="0"/>
              <a:t>=</a:t>
            </a:r>
            <a:r>
              <a:rPr kumimoji="0" lang="en-US" altLang="zh-CN" sz="2800" dirty="0">
                <a:solidFill>
                  <a:srgbClr val="0066FF"/>
                </a:solidFill>
              </a:rPr>
              <a:t>2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B5F994F-F11C-4C37-996D-C505847345F3}"/>
              </a:ext>
            </a:extLst>
          </p:cNvPr>
          <p:cNvSpPr txBox="1"/>
          <p:nvPr/>
        </p:nvSpPr>
        <p:spPr>
          <a:xfrm>
            <a:off x="2758945" y="1912339"/>
            <a:ext cx="4536085" cy="231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i="1" dirty="0">
                <a:sym typeface="Symbol" panose="05050102010706020507" pitchFamily="18" charset="2"/>
              </a:rPr>
              <a:t>expr</a:t>
            </a:r>
            <a:r>
              <a:rPr kumimoji="0" lang="en-US" altLang="zh-CN" sz="1600" dirty="0">
                <a:sym typeface="Symbol" panose="05050102010706020507" pitchFamily="18" charset="2"/>
              </a:rPr>
              <a:t></a:t>
            </a:r>
            <a:r>
              <a:rPr kumimoji="0" lang="en-US" altLang="zh-CN" sz="1600" i="1" dirty="0">
                <a:sym typeface="Symbol" panose="05050102010706020507" pitchFamily="18" charset="2"/>
              </a:rPr>
              <a:t> expr</a:t>
            </a:r>
            <a:r>
              <a:rPr kumimoji="0" lang="en-US" altLang="zh-CN" sz="1600" i="1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1600" i="1" dirty="0">
                <a:sym typeface="Symbol" panose="05050102010706020507" pitchFamily="18" charset="2"/>
              </a:rPr>
              <a:t> + term </a:t>
            </a:r>
            <a:r>
              <a:rPr kumimoji="0" lang="en-US" altLang="zh-CN" sz="1600" dirty="0">
                <a:sym typeface="Symbol" panose="05050102010706020507" pitchFamily="18" charset="2"/>
              </a:rPr>
              <a:t>{</a:t>
            </a:r>
            <a:r>
              <a:rPr kumimoji="0" lang="en-US" altLang="zh-CN" sz="1600" i="1" dirty="0">
                <a:sym typeface="Symbol" panose="05050102010706020507" pitchFamily="18" charset="2"/>
              </a:rPr>
              <a:t>expr.t= expr</a:t>
            </a:r>
            <a:r>
              <a:rPr kumimoji="0" lang="en-US" altLang="zh-CN" sz="1600" i="1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1600" i="1" dirty="0">
                <a:sym typeface="Symbol" panose="05050102010706020507" pitchFamily="18" charset="2"/>
              </a:rPr>
              <a:t>.t</a:t>
            </a:r>
            <a:r>
              <a:rPr kumimoji="0" lang="en-US" altLang="zh-CN" sz="1600" i="1" baseline="-25000" dirty="0">
                <a:sym typeface="Symbol" panose="05050102010706020507" pitchFamily="18" charset="2"/>
              </a:rPr>
              <a:t> </a:t>
            </a:r>
            <a:r>
              <a:rPr kumimoji="0" lang="en-US" altLang="zh-CN" sz="1600" i="1" dirty="0">
                <a:sym typeface="Symbol" panose="05050102010706020507" pitchFamily="18" charset="2"/>
              </a:rPr>
              <a:t>|| term.t || </a:t>
            </a:r>
            <a:r>
              <a:rPr kumimoji="0" lang="en-US" altLang="zh-CN" sz="1600" dirty="0">
                <a:sym typeface="Symbol" panose="05050102010706020507" pitchFamily="18" charset="2"/>
              </a:rPr>
              <a:t>‘+’}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5B44C28-0176-498A-8C66-6ECB2131947E}"/>
              </a:ext>
            </a:extLst>
          </p:cNvPr>
          <p:cNvSpPr txBox="1"/>
          <p:nvPr/>
        </p:nvSpPr>
        <p:spPr>
          <a:xfrm>
            <a:off x="5493653" y="1385019"/>
            <a:ext cx="15266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800" i="1" dirty="0"/>
              <a:t>=</a:t>
            </a:r>
            <a:r>
              <a:rPr kumimoji="0" lang="en-US" altLang="zh-CN" sz="2800" dirty="0">
                <a:solidFill>
                  <a:srgbClr val="0066FF"/>
                </a:solidFill>
              </a:rPr>
              <a:t>95-2+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8032179C-ABC4-4037-9F07-07FA7D60B1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2.3.4  </a:t>
            </a:r>
            <a:r>
              <a:rPr lang="zh-CN" altLang="en-US"/>
              <a:t>语法制导定义的实现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79086EAE-204A-4382-B4E4-4E1A47A875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/>
            <a:r>
              <a:rPr lang="zh-CN" altLang="en-US" dirty="0"/>
              <a:t>树的遍历：计算完所有孩子节点的属性，父节点才能计算自身属性</a:t>
            </a:r>
          </a:p>
          <a:p>
            <a:pPr eaLnBrk="1" hangingPunct="1"/>
            <a:r>
              <a:rPr lang="zh-CN" altLang="en-US" dirty="0"/>
              <a:t>后序遍历，深度优先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void visit(node </a:t>
            </a:r>
            <a:r>
              <a:rPr lang="en-US" altLang="zh-CN" sz="2400" i="1" dirty="0"/>
              <a:t>n</a:t>
            </a:r>
            <a:r>
              <a:rPr lang="en-US" altLang="zh-CN" sz="2400" dirty="0"/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</a:t>
            </a:r>
            <a:r>
              <a:rPr lang="en-US" altLang="zh-CN" sz="2400" b="1" dirty="0"/>
              <a:t>for</a:t>
            </a:r>
            <a:r>
              <a:rPr lang="en-US" altLang="zh-CN" sz="2400" dirty="0"/>
              <a:t> n</a:t>
            </a:r>
            <a:r>
              <a:rPr lang="zh-CN" altLang="en-US" sz="2400" dirty="0"/>
              <a:t>的每个孩子</a:t>
            </a:r>
            <a:r>
              <a:rPr lang="en-US" altLang="zh-CN" sz="2400" i="1" dirty="0"/>
              <a:t>m</a:t>
            </a:r>
            <a:r>
              <a:rPr lang="zh-CN" altLang="en-US" sz="2400" dirty="0"/>
              <a:t>（从左至右的顺序）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		</a:t>
            </a:r>
            <a:r>
              <a:rPr lang="en-US" altLang="zh-CN" sz="2400" dirty="0"/>
              <a:t>visit(</a:t>
            </a:r>
            <a:r>
              <a:rPr lang="en-US" altLang="zh-CN" sz="2400" i="1" dirty="0"/>
              <a:t>m</a:t>
            </a:r>
            <a:r>
              <a:rPr lang="en-US" altLang="zh-CN" sz="2400" dirty="0"/>
              <a:t>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利用</a:t>
            </a:r>
            <a:r>
              <a:rPr lang="en-US" altLang="zh-CN" sz="2400" i="1" dirty="0"/>
              <a:t>n</a:t>
            </a:r>
            <a:r>
              <a:rPr lang="zh-CN" altLang="en-US" sz="2400" dirty="0"/>
              <a:t>的语义规则计算其属性值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}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4B4E58FA-8450-4EE7-AB4A-F43608A01B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2.3.5  </a:t>
            </a:r>
            <a:r>
              <a:rPr lang="zh-CN" altLang="en-US"/>
              <a:t>翻译模式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E2ECE816-3F90-40FB-B0D4-0B8FCFF4B9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>
                <a:solidFill>
                  <a:srgbClr val="FF3300"/>
                </a:solidFill>
              </a:rPr>
              <a:t>translation scheme</a:t>
            </a:r>
            <a:endParaRPr lang="en-US" altLang="zh-CN" sz="2800" dirty="0"/>
          </a:p>
          <a:p>
            <a:pPr eaLnBrk="1" hangingPunct="1"/>
            <a:r>
              <a:rPr lang="zh-CN" altLang="en-US" sz="2800" dirty="0"/>
              <a:t>同样基于上下文无关文法</a:t>
            </a:r>
            <a:endParaRPr lang="en-US" altLang="zh-CN" sz="2800" dirty="0"/>
          </a:p>
          <a:p>
            <a:pPr eaLnBrk="1" hangingPunct="1"/>
            <a:r>
              <a:rPr lang="zh-CN" altLang="en-US" sz="2800" b="1" dirty="0">
                <a:solidFill>
                  <a:srgbClr val="3333CC"/>
                </a:solidFill>
                <a:ea typeface="黑体" panose="02010609060101010101" pitchFamily="49" charset="-122"/>
              </a:rPr>
              <a:t>语义动作</a:t>
            </a:r>
            <a:r>
              <a:rPr lang="zh-CN" altLang="en-US" sz="2800" dirty="0"/>
              <a:t>（</a:t>
            </a:r>
            <a:r>
              <a:rPr lang="en-US" altLang="zh-CN" sz="2800" dirty="0">
                <a:solidFill>
                  <a:srgbClr val="FF3300"/>
                </a:solidFill>
              </a:rPr>
              <a:t>semantic action</a:t>
            </a:r>
            <a:r>
              <a:rPr lang="zh-CN" altLang="en-US" sz="2800" dirty="0"/>
              <a:t>，程序片断）嵌入产生式的右部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/>
              <a:t>	 </a:t>
            </a:r>
            <a:r>
              <a:rPr kumimoji="0" lang="en-US" altLang="zh-CN" sz="2400" i="1" dirty="0">
                <a:sym typeface="Symbol" panose="05050102010706020507" pitchFamily="18" charset="2"/>
              </a:rPr>
              <a:t>rest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i="1" dirty="0">
                <a:sym typeface="Symbol" panose="05050102010706020507" pitchFamily="18" charset="2"/>
              </a:rPr>
              <a:t> + term </a:t>
            </a:r>
            <a:r>
              <a:rPr kumimoji="0" lang="en-US" altLang="zh-CN" sz="2400" dirty="0">
                <a:sym typeface="Symbol" panose="05050102010706020507" pitchFamily="18" charset="2"/>
              </a:rPr>
              <a:t>{ print(‘+’) }</a:t>
            </a:r>
            <a:r>
              <a:rPr kumimoji="0" lang="en-US" altLang="zh-CN" sz="2400" i="1" dirty="0">
                <a:sym typeface="Symbol" panose="05050102010706020507" pitchFamily="18" charset="2"/>
              </a:rPr>
              <a:t> rest</a:t>
            </a:r>
            <a:r>
              <a:rPr kumimoji="0" lang="en-US" altLang="zh-CN" sz="2400" i="1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endParaRPr lang="en-US" altLang="zh-CN" sz="2400" dirty="0"/>
          </a:p>
          <a:p>
            <a:pPr eaLnBrk="1" hangingPunct="1"/>
            <a:endParaRPr lang="en-US" altLang="zh-CN" sz="2800" dirty="0"/>
          </a:p>
          <a:p>
            <a:pPr eaLnBrk="1" hangingPunct="1"/>
            <a:endParaRPr lang="en-US" altLang="zh-CN" sz="2800" dirty="0"/>
          </a:p>
          <a:p>
            <a:pPr eaLnBrk="1" hangingPunct="1"/>
            <a:r>
              <a:rPr lang="zh-CN" altLang="en-US" sz="2800" dirty="0"/>
              <a:t>语法分析树添加额外节点</a:t>
            </a:r>
          </a:p>
          <a:p>
            <a:pPr eaLnBrk="1" hangingPunct="1"/>
            <a:r>
              <a:rPr lang="zh-CN" altLang="en-US" sz="2800" dirty="0"/>
              <a:t>指明了语义动作执行顺序</a:t>
            </a:r>
          </a:p>
        </p:txBody>
      </p:sp>
      <p:grpSp>
        <p:nvGrpSpPr>
          <p:cNvPr id="49156" name="Group 13">
            <a:extLst>
              <a:ext uri="{FF2B5EF4-FFF2-40B4-BE49-F238E27FC236}">
                <a16:creationId xmlns:a16="http://schemas.microsoft.com/office/drawing/2014/main" id="{13F16841-DBB1-415E-892E-C5350EA30EB2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544888"/>
            <a:ext cx="5943600" cy="1331912"/>
            <a:chOff x="1008" y="2137"/>
            <a:chExt cx="3744" cy="839"/>
          </a:xfrm>
        </p:grpSpPr>
        <p:sp>
          <p:nvSpPr>
            <p:cNvPr id="49157" name="Text Box 4">
              <a:extLst>
                <a:ext uri="{FF2B5EF4-FFF2-40B4-BE49-F238E27FC236}">
                  <a16:creationId xmlns:a16="http://schemas.microsoft.com/office/drawing/2014/main" id="{274C779E-9671-4FA6-852C-7D03F3EA6B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4" y="2137"/>
              <a:ext cx="12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i="1"/>
                <a:t>rest</a:t>
              </a:r>
            </a:p>
          </p:txBody>
        </p:sp>
        <p:sp>
          <p:nvSpPr>
            <p:cNvPr id="49158" name="Text Box 5">
              <a:extLst>
                <a:ext uri="{FF2B5EF4-FFF2-40B4-BE49-F238E27FC236}">
                  <a16:creationId xmlns:a16="http://schemas.microsoft.com/office/drawing/2014/main" id="{E3813E29-CAD5-4587-A676-4849912B1B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688"/>
              <a:ext cx="6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i="1"/>
                <a:t>term</a:t>
              </a:r>
            </a:p>
          </p:txBody>
        </p:sp>
        <p:sp>
          <p:nvSpPr>
            <p:cNvPr id="49159" name="Text Box 6">
              <a:extLst>
                <a:ext uri="{FF2B5EF4-FFF2-40B4-BE49-F238E27FC236}">
                  <a16:creationId xmlns:a16="http://schemas.microsoft.com/office/drawing/2014/main" id="{9E2D854A-9163-425E-A9C8-B11FA414CD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688"/>
              <a:ext cx="13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{ print(‘+’) }</a:t>
              </a:r>
            </a:p>
          </p:txBody>
        </p:sp>
        <p:sp>
          <p:nvSpPr>
            <p:cNvPr id="49160" name="Line 7">
              <a:extLst>
                <a:ext uri="{FF2B5EF4-FFF2-40B4-BE49-F238E27FC236}">
                  <a16:creationId xmlns:a16="http://schemas.microsoft.com/office/drawing/2014/main" id="{4D626339-349D-4852-AA77-E075ED40B2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9" y="2416"/>
              <a:ext cx="411" cy="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1" name="Line 8">
              <a:extLst>
                <a:ext uri="{FF2B5EF4-FFF2-40B4-BE49-F238E27FC236}">
                  <a16:creationId xmlns:a16="http://schemas.microsoft.com/office/drawing/2014/main" id="{361C5840-7617-4DD8-9136-AA38FB1920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0" y="2416"/>
              <a:ext cx="984" cy="2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2" name="Line 9">
              <a:extLst>
                <a:ext uri="{FF2B5EF4-FFF2-40B4-BE49-F238E27FC236}">
                  <a16:creationId xmlns:a16="http://schemas.microsoft.com/office/drawing/2014/main" id="{84286FD0-0374-44F8-8A16-AB5404F767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2416"/>
              <a:ext cx="984" cy="2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3" name="Line 10">
              <a:extLst>
                <a:ext uri="{FF2B5EF4-FFF2-40B4-BE49-F238E27FC236}">
                  <a16:creationId xmlns:a16="http://schemas.microsoft.com/office/drawing/2014/main" id="{ECB91767-798D-4B0A-8330-9BC486D469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5" y="2416"/>
              <a:ext cx="411" cy="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4" name="Text Box 11">
              <a:extLst>
                <a:ext uri="{FF2B5EF4-FFF2-40B4-BE49-F238E27FC236}">
                  <a16:creationId xmlns:a16="http://schemas.microsoft.com/office/drawing/2014/main" id="{D59B952C-9BEF-4E4D-9493-9E20318FF5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68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i="1"/>
                <a:t>+</a:t>
              </a:r>
            </a:p>
          </p:txBody>
        </p:sp>
        <p:sp>
          <p:nvSpPr>
            <p:cNvPr id="49165" name="Text Box 12">
              <a:extLst>
                <a:ext uri="{FF2B5EF4-FFF2-40B4-BE49-F238E27FC236}">
                  <a16:creationId xmlns:a16="http://schemas.microsoft.com/office/drawing/2014/main" id="{E77CF4AC-39FB-4653-BCD7-54C0814597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688"/>
              <a:ext cx="6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i="1"/>
                <a:t>rest</a:t>
              </a:r>
              <a:r>
                <a:rPr kumimoji="0" lang="en-US" altLang="zh-CN" sz="2400" i="1" baseline="-25000"/>
                <a:t>1</a:t>
              </a:r>
              <a:endParaRPr kumimoji="0" lang="en-US" altLang="zh-CN" sz="2400" i="1"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A66B4EC1-C23B-4CD9-B73C-7D4B541BFA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2.3.6  </a:t>
            </a:r>
            <a:r>
              <a:rPr lang="zh-CN" altLang="en-US"/>
              <a:t>执行翻译模式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A530A650-A5CC-4F2D-9864-EAD8DC954E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语义动作的执行顺序非常重要</a:t>
            </a:r>
          </a:p>
          <a:p>
            <a:pPr eaLnBrk="1" hangingPunct="1"/>
            <a:r>
              <a:rPr lang="zh-CN" altLang="en-US" sz="2800" dirty="0"/>
              <a:t>语法制导定义：描述如何计算用属性翻译结果</a:t>
            </a:r>
            <a:endParaRPr lang="en-US" altLang="zh-CN" sz="2800" dirty="0"/>
          </a:p>
          <a:p>
            <a:pPr lvl="1" eaLnBrk="1" hangingPunct="1"/>
            <a:r>
              <a:rPr lang="zh-CN" altLang="en-US" sz="2400" dirty="0"/>
              <a:t>左部的翻译结果（后缀字符串）＝右部符号翻译结果按语义规则指定顺序连接</a:t>
            </a:r>
          </a:p>
          <a:p>
            <a:pPr eaLnBrk="1" hangingPunct="1"/>
            <a:r>
              <a:rPr lang="zh-CN" altLang="en-US" sz="2800" dirty="0"/>
              <a:t>翻译模式：更接近如何实现翻译程序</a:t>
            </a:r>
          </a:p>
          <a:p>
            <a:pPr lvl="1" eaLnBrk="1" hangingPunct="1"/>
            <a:r>
              <a:rPr lang="zh-CN" altLang="en-US" sz="2400" dirty="0"/>
              <a:t>语义动作</a:t>
            </a:r>
            <a:r>
              <a:rPr lang="en-US" altLang="zh-CN" sz="2400" dirty="0"/>
              <a:t>——</a:t>
            </a:r>
            <a:r>
              <a:rPr lang="zh-CN" altLang="en-US" sz="2400" dirty="0"/>
              <a:t>打印输出字符串（后缀串的一部分）</a:t>
            </a:r>
          </a:p>
          <a:p>
            <a:pPr lvl="1" eaLnBrk="1" hangingPunct="1"/>
            <a:r>
              <a:rPr lang="zh-CN" altLang="en-US" sz="2400" dirty="0"/>
              <a:t>打印顺序：与字符串在语法制导定义中顺序相同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执行方式：语法（子）树（带语义动作）遍历完</a:t>
            </a:r>
            <a:r>
              <a:rPr lang="en-US" altLang="zh-CN" sz="2400" dirty="0">
                <a:sym typeface="Wingdings" pitchFamily="2" charset="2"/>
              </a:rPr>
              <a:t></a:t>
            </a:r>
            <a:r>
              <a:rPr lang="zh-CN" altLang="en-US" sz="2400" dirty="0"/>
              <a:t>后缀串输出完毕</a:t>
            </a:r>
          </a:p>
          <a:p>
            <a:pPr lvl="1" eaLnBrk="1" hangingPunct="1">
              <a:spcBef>
                <a:spcPct val="0"/>
              </a:spcBef>
            </a:pPr>
            <a:r>
              <a:rPr kumimoji="0" lang="en-US" altLang="zh-CN" sz="2400" i="1" dirty="0">
                <a:solidFill>
                  <a:schemeClr val="tx1"/>
                </a:solidFill>
              </a:rPr>
              <a:t>rest </a:t>
            </a:r>
            <a:r>
              <a:rPr kumimoji="0"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</a:t>
            </a:r>
            <a:r>
              <a:rPr kumimoji="0" lang="en-US" altLang="zh-CN" sz="2400" i="1" dirty="0">
                <a:solidFill>
                  <a:schemeClr val="tx1"/>
                </a:solidFill>
                <a:sym typeface="Symbol" panose="05050102010706020507" pitchFamily="18" charset="2"/>
              </a:rPr>
              <a:t>  + term rest</a:t>
            </a:r>
            <a:r>
              <a:rPr kumimoji="0" lang="en-US" altLang="zh-CN" sz="2400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400" i="1" dirty="0">
                <a:solidFill>
                  <a:schemeClr val="tx1"/>
                </a:solidFill>
                <a:sym typeface="Symbol" panose="05050102010706020507" pitchFamily="18" charset="2"/>
              </a:rPr>
              <a:t>     rest.t := term.t || </a:t>
            </a:r>
            <a:r>
              <a:rPr kumimoji="0"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‘</a:t>
            </a:r>
            <a:r>
              <a:rPr kumimoji="0" lang="en-US" altLang="zh-CN" sz="2400" i="1" dirty="0">
                <a:solidFill>
                  <a:schemeClr val="tx1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’</a:t>
            </a:r>
            <a:r>
              <a:rPr kumimoji="0" lang="en-US" altLang="zh-CN" sz="2400" i="1" dirty="0">
                <a:solidFill>
                  <a:schemeClr val="tx1"/>
                </a:solidFill>
                <a:sym typeface="Symbol" panose="05050102010706020507" pitchFamily="18" charset="2"/>
              </a:rPr>
              <a:t> || rest</a:t>
            </a:r>
            <a:r>
              <a:rPr kumimoji="0" lang="en-US" altLang="zh-CN" sz="2400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400" i="1" dirty="0">
                <a:solidFill>
                  <a:schemeClr val="tx1"/>
                </a:solidFill>
                <a:sym typeface="Symbol" panose="05050102010706020507" pitchFamily="18" charset="2"/>
              </a:rPr>
              <a:t>.t</a:t>
            </a:r>
            <a:br>
              <a:rPr kumimoji="0" lang="en-US" altLang="zh-CN" sz="2400" i="1" dirty="0">
                <a:solidFill>
                  <a:schemeClr val="tx1"/>
                </a:solidFill>
                <a:sym typeface="Symbol" panose="05050102010706020507" pitchFamily="18" charset="2"/>
              </a:rPr>
            </a:br>
            <a:r>
              <a:rPr kumimoji="0" lang="en-US" altLang="zh-CN" sz="2400" dirty="0">
                <a:solidFill>
                  <a:schemeClr val="tx1"/>
                </a:solidFill>
                <a:sym typeface="Wingdings" panose="05000000000000000000" pitchFamily="2" charset="2"/>
              </a:rPr>
              <a:t> </a:t>
            </a:r>
            <a:r>
              <a:rPr kumimoji="0" lang="en-US" altLang="zh-CN" sz="2400" i="1" dirty="0">
                <a:solidFill>
                  <a:schemeClr val="tx1"/>
                </a:solidFill>
                <a:sym typeface="Symbol" panose="05050102010706020507" pitchFamily="18" charset="2"/>
              </a:rPr>
              <a:t>rest </a:t>
            </a:r>
            <a:r>
              <a:rPr kumimoji="0"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</a:t>
            </a:r>
            <a:r>
              <a:rPr kumimoji="0" lang="en-US" altLang="zh-CN" sz="2400" i="1" dirty="0">
                <a:solidFill>
                  <a:schemeClr val="tx1"/>
                </a:solidFill>
                <a:sym typeface="Symbol" panose="05050102010706020507" pitchFamily="18" charset="2"/>
              </a:rPr>
              <a:t> + term </a:t>
            </a:r>
            <a:r>
              <a:rPr kumimoji="0"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{ print(‘+’) }</a:t>
            </a:r>
            <a:r>
              <a:rPr kumimoji="0" lang="en-US" altLang="zh-CN" sz="2400" i="1" dirty="0">
                <a:solidFill>
                  <a:schemeClr val="tx1"/>
                </a:solidFill>
                <a:sym typeface="Symbol" panose="05050102010706020507" pitchFamily="18" charset="2"/>
              </a:rPr>
              <a:t> rest</a:t>
            </a:r>
            <a:r>
              <a:rPr kumimoji="0" lang="en-US" altLang="zh-CN" sz="2400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BD03E177-F6F0-49E7-B0AB-FBE24B30E1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如何设计翻译模式？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247E2C7F-0677-49D7-A379-CF62397823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3933056"/>
            <a:ext cx="7772400" cy="2592288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解决两个问题：</a:t>
            </a:r>
            <a:endParaRPr lang="en-US" altLang="zh-CN" sz="2800" dirty="0"/>
          </a:p>
          <a:p>
            <a:pPr lvl="1" eaLnBrk="1" hangingPunct="1"/>
            <a:r>
              <a:rPr lang="zh-CN" altLang="en-US" sz="2400" dirty="0"/>
              <a:t>语义动作是什么（打印什么内容）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语义动作嵌入到什么位置</a:t>
            </a:r>
            <a:endParaRPr lang="en-US" altLang="zh-CN" sz="2400" dirty="0"/>
          </a:p>
          <a:p>
            <a:pPr eaLnBrk="1" hangingPunct="1"/>
            <a:r>
              <a:rPr lang="zh-CN" altLang="en-US" sz="2800" dirty="0"/>
              <a:t>考虑翻译过程：</a:t>
            </a:r>
            <a:endParaRPr lang="en-US" altLang="zh-CN" sz="2800" dirty="0"/>
          </a:p>
          <a:p>
            <a:pPr lvl="1" eaLnBrk="1" hangingPunct="1"/>
            <a:r>
              <a:rPr lang="zh-CN" altLang="en-US" sz="2400" dirty="0"/>
              <a:t>遍历带语义动作的语法分析树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遍历过程中遇到语义动作即执行</a:t>
            </a:r>
            <a:endParaRPr lang="en-US" altLang="zh-CN" sz="2400" dirty="0"/>
          </a:p>
        </p:txBody>
      </p:sp>
      <p:sp>
        <p:nvSpPr>
          <p:cNvPr id="52229" name="Text Box 5">
            <a:extLst>
              <a:ext uri="{FF2B5EF4-FFF2-40B4-BE49-F238E27FC236}">
                <a16:creationId xmlns:a16="http://schemas.microsoft.com/office/drawing/2014/main" id="{1122FEE9-92DB-4541-A1FB-A89EECF1D3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066" y="2959175"/>
            <a:ext cx="1392583" cy="45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term</a:t>
            </a:r>
          </a:p>
        </p:txBody>
      </p:sp>
      <p:sp>
        <p:nvSpPr>
          <p:cNvPr id="52230" name="Text Box 6">
            <a:extLst>
              <a:ext uri="{FF2B5EF4-FFF2-40B4-BE49-F238E27FC236}">
                <a16:creationId xmlns:a16="http://schemas.microsoft.com/office/drawing/2014/main" id="{A7837F01-B185-45C4-81A4-59E73CA17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4468" y="1871808"/>
            <a:ext cx="13925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/>
              <a:t>term</a:t>
            </a:r>
          </a:p>
        </p:txBody>
      </p:sp>
      <p:sp>
        <p:nvSpPr>
          <p:cNvPr id="52231" name="Text Box 7">
            <a:extLst>
              <a:ext uri="{FF2B5EF4-FFF2-40B4-BE49-F238E27FC236}">
                <a16:creationId xmlns:a16="http://schemas.microsoft.com/office/drawing/2014/main" id="{C00727D9-1B65-458E-946D-5F637C027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2136" y="2354522"/>
            <a:ext cx="1392583" cy="45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term</a:t>
            </a:r>
          </a:p>
        </p:txBody>
      </p:sp>
      <p:sp>
        <p:nvSpPr>
          <p:cNvPr id="52232" name="Text Box 8">
            <a:extLst>
              <a:ext uri="{FF2B5EF4-FFF2-40B4-BE49-F238E27FC236}">
                <a16:creationId xmlns:a16="http://schemas.microsoft.com/office/drawing/2014/main" id="{34E2D4E2-7E80-4FDD-B972-42431399E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066" y="2330806"/>
            <a:ext cx="1392583" cy="45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/>
              <a:t>expr</a:t>
            </a:r>
          </a:p>
        </p:txBody>
      </p:sp>
      <p:sp>
        <p:nvSpPr>
          <p:cNvPr id="52233" name="Text Box 9">
            <a:extLst>
              <a:ext uri="{FF2B5EF4-FFF2-40B4-BE49-F238E27FC236}">
                <a16:creationId xmlns:a16="http://schemas.microsoft.com/office/drawing/2014/main" id="{2F7D0940-8881-4C5B-BB7B-A5E20CB3D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893" y="1846256"/>
            <a:ext cx="13925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/>
              <a:t>expr</a:t>
            </a:r>
          </a:p>
        </p:txBody>
      </p:sp>
      <p:sp>
        <p:nvSpPr>
          <p:cNvPr id="52234" name="Text Box 10">
            <a:extLst>
              <a:ext uri="{FF2B5EF4-FFF2-40B4-BE49-F238E27FC236}">
                <a16:creationId xmlns:a16="http://schemas.microsoft.com/office/drawing/2014/main" id="{0D3D5A6F-D3FA-4C0B-80AD-283BCE2C3C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385" y="1146194"/>
            <a:ext cx="13925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expr</a:t>
            </a:r>
          </a:p>
        </p:txBody>
      </p:sp>
      <p:sp>
        <p:nvSpPr>
          <p:cNvPr id="52235" name="Text Box 11">
            <a:extLst>
              <a:ext uri="{FF2B5EF4-FFF2-40B4-BE49-F238E27FC236}">
                <a16:creationId xmlns:a16="http://schemas.microsoft.com/office/drawing/2014/main" id="{5644A0E7-21F1-4FF7-9E9F-C06F821E1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957" y="3408010"/>
            <a:ext cx="642731" cy="45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9</a:t>
            </a:r>
          </a:p>
        </p:txBody>
      </p:sp>
      <p:sp>
        <p:nvSpPr>
          <p:cNvPr id="52236" name="Text Box 12">
            <a:extLst>
              <a:ext uri="{FF2B5EF4-FFF2-40B4-BE49-F238E27FC236}">
                <a16:creationId xmlns:a16="http://schemas.microsoft.com/office/drawing/2014/main" id="{B319C213-A2B8-4D5C-AE6D-0616E18A6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3165" y="2803357"/>
            <a:ext cx="642731" cy="45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5</a:t>
            </a:r>
          </a:p>
        </p:txBody>
      </p:sp>
      <p:sp>
        <p:nvSpPr>
          <p:cNvPr id="52237" name="Text Box 13">
            <a:extLst>
              <a:ext uri="{FF2B5EF4-FFF2-40B4-BE49-F238E27FC236}">
                <a16:creationId xmlns:a16="http://schemas.microsoft.com/office/drawing/2014/main" id="{9759BDD5-7B80-412D-93FB-527342D10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1517" y="2409631"/>
            <a:ext cx="642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2</a:t>
            </a:r>
          </a:p>
        </p:txBody>
      </p:sp>
      <p:sp>
        <p:nvSpPr>
          <p:cNvPr id="52238" name="Text Box 14">
            <a:extLst>
              <a:ext uri="{FF2B5EF4-FFF2-40B4-BE49-F238E27FC236}">
                <a16:creationId xmlns:a16="http://schemas.microsoft.com/office/drawing/2014/main" id="{BD57BA8D-D67C-4B14-A9DA-C800ECFD99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4485" y="2384858"/>
            <a:ext cx="642731" cy="45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-</a:t>
            </a:r>
          </a:p>
        </p:txBody>
      </p:sp>
      <p:sp>
        <p:nvSpPr>
          <p:cNvPr id="52239" name="Text Box 15">
            <a:extLst>
              <a:ext uri="{FF2B5EF4-FFF2-40B4-BE49-F238E27FC236}">
                <a16:creationId xmlns:a16="http://schemas.microsoft.com/office/drawing/2014/main" id="{E5EDEE5B-44FE-4F0C-B0E7-CCFFA661B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570" y="1871688"/>
            <a:ext cx="642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+</a:t>
            </a:r>
          </a:p>
        </p:txBody>
      </p:sp>
      <p:sp>
        <p:nvSpPr>
          <p:cNvPr id="52245" name="Line 21">
            <a:extLst>
              <a:ext uri="{FF2B5EF4-FFF2-40B4-BE49-F238E27FC236}">
                <a16:creationId xmlns:a16="http://schemas.microsoft.com/office/drawing/2014/main" id="{E0EA7A3C-2B94-4C8F-A258-E1E6D0A987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35309" y="3318242"/>
            <a:ext cx="0" cy="21524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6" name="Line 22">
            <a:extLst>
              <a:ext uri="{FF2B5EF4-FFF2-40B4-BE49-F238E27FC236}">
                <a16:creationId xmlns:a16="http://schemas.microsoft.com/office/drawing/2014/main" id="{52576F1C-8330-4A5C-B5B9-17F7377302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6526" y="2205324"/>
            <a:ext cx="642732" cy="2767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7" name="Line 23">
            <a:extLst>
              <a:ext uri="{FF2B5EF4-FFF2-40B4-BE49-F238E27FC236}">
                <a16:creationId xmlns:a16="http://schemas.microsoft.com/office/drawing/2014/main" id="{6D1711D4-A482-42F4-A437-6CE498BC03A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2432" y="2689874"/>
            <a:ext cx="0" cy="35906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8" name="Line 24">
            <a:extLst>
              <a:ext uri="{FF2B5EF4-FFF2-40B4-BE49-F238E27FC236}">
                <a16:creationId xmlns:a16="http://schemas.microsoft.com/office/drawing/2014/main" id="{AF883252-84E6-4C61-99E0-DABEED51D94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42430" y="2160623"/>
            <a:ext cx="1311483" cy="34971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9" name="Line 25">
            <a:extLst>
              <a:ext uri="{FF2B5EF4-FFF2-40B4-BE49-F238E27FC236}">
                <a16:creationId xmlns:a16="http://schemas.microsoft.com/office/drawing/2014/main" id="{A5E9BDEA-687F-4541-9C08-BB240FE5DC8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6382" y="2205324"/>
            <a:ext cx="104890" cy="2693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0" name="Line 26">
            <a:extLst>
              <a:ext uri="{FF2B5EF4-FFF2-40B4-BE49-F238E27FC236}">
                <a16:creationId xmlns:a16="http://schemas.microsoft.com/office/drawing/2014/main" id="{062E11E0-5625-4532-A88B-C32FB1CBA6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56380" y="2713590"/>
            <a:ext cx="0" cy="20987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1" name="Line 27">
            <a:extLst>
              <a:ext uri="{FF2B5EF4-FFF2-40B4-BE49-F238E27FC236}">
                <a16:creationId xmlns:a16="http://schemas.microsoft.com/office/drawing/2014/main" id="{ED95EAC8-498A-41AA-ABEC-B9EF0B5B43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06781" y="2319863"/>
            <a:ext cx="8918" cy="1904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2" name="Line 28">
            <a:extLst>
              <a:ext uri="{FF2B5EF4-FFF2-40B4-BE49-F238E27FC236}">
                <a16:creationId xmlns:a16="http://schemas.microsoft.com/office/drawing/2014/main" id="{F3BA73AE-4865-46E5-96CE-C5D6610872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48961" y="1505261"/>
            <a:ext cx="664665" cy="4973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3" name="Line 29">
            <a:extLst>
              <a:ext uri="{FF2B5EF4-FFF2-40B4-BE49-F238E27FC236}">
                <a16:creationId xmlns:a16="http://schemas.microsoft.com/office/drawing/2014/main" id="{2829B410-DCDC-407A-B0EE-BBEC040B138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34994" y="1505262"/>
            <a:ext cx="856974" cy="4488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4" name="Line 30">
            <a:extLst>
              <a:ext uri="{FF2B5EF4-FFF2-40B4-BE49-F238E27FC236}">
                <a16:creationId xmlns:a16="http://schemas.microsoft.com/office/drawing/2014/main" id="{6945F4F7-DD01-42A2-8290-77DF7ABB75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56380" y="1415494"/>
            <a:ext cx="1843004" cy="58713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BD03E177-F6F0-49E7-B0AB-FBE24B30E1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如何设计翻译模式（续）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247E2C7F-0677-49D7-A379-CF62397823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3933056"/>
            <a:ext cx="7772400" cy="2592288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打印什么：对每个产生式（父表达式），对右部非终结符（子表达式）、遍历其子树时已打印出其后缀了</a:t>
            </a:r>
            <a:r>
              <a:rPr lang="en-US" altLang="zh-CN" sz="2400" dirty="0">
                <a:sym typeface="Wingdings" pitchFamily="2" charset="2"/>
              </a:rPr>
              <a:t></a:t>
            </a:r>
            <a:r>
              <a:rPr lang="zh-CN" altLang="en-US" sz="2400" dirty="0">
                <a:sym typeface="Wingdings" pitchFamily="2" charset="2"/>
              </a:rPr>
              <a:t>对父表达式只需打印运算符、无需打印子表达式</a:t>
            </a:r>
            <a:endParaRPr lang="en-US" altLang="zh-CN" sz="2400" dirty="0">
              <a:sym typeface="Wingdings" pitchFamily="2" charset="2"/>
            </a:endParaRPr>
          </a:p>
          <a:p>
            <a:pPr eaLnBrk="1" hangingPunct="1"/>
            <a:r>
              <a:rPr lang="zh-CN" altLang="en-US" sz="2400" dirty="0">
                <a:sym typeface="Wingdings" pitchFamily="2" charset="2"/>
              </a:rPr>
              <a:t>嵌入位置：后缀表达式中运算符在两个运算对象之后</a:t>
            </a:r>
            <a:r>
              <a:rPr lang="en-US" altLang="zh-CN" sz="2400" dirty="0">
                <a:sym typeface="Wingdings" pitchFamily="2" charset="2"/>
              </a:rPr>
              <a:t></a:t>
            </a:r>
            <a:r>
              <a:rPr lang="zh-CN" altLang="en-US" sz="2400" dirty="0">
                <a:sym typeface="Wingdings" pitchFamily="2" charset="2"/>
              </a:rPr>
              <a:t>打印运算符的语义动作应该在两个子表达式（非终结符）之后</a:t>
            </a:r>
            <a:endParaRPr lang="zh-CN" altLang="en-US" sz="2400" dirty="0"/>
          </a:p>
        </p:txBody>
      </p:sp>
      <p:sp>
        <p:nvSpPr>
          <p:cNvPr id="52229" name="Text Box 5">
            <a:extLst>
              <a:ext uri="{FF2B5EF4-FFF2-40B4-BE49-F238E27FC236}">
                <a16:creationId xmlns:a16="http://schemas.microsoft.com/office/drawing/2014/main" id="{1122FEE9-92DB-4541-A1FB-A89EECF1D3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066" y="2959175"/>
            <a:ext cx="1392583" cy="45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term</a:t>
            </a:r>
          </a:p>
        </p:txBody>
      </p:sp>
      <p:sp>
        <p:nvSpPr>
          <p:cNvPr id="52230" name="Text Box 6">
            <a:extLst>
              <a:ext uri="{FF2B5EF4-FFF2-40B4-BE49-F238E27FC236}">
                <a16:creationId xmlns:a16="http://schemas.microsoft.com/office/drawing/2014/main" id="{A7837F01-B185-45C4-81A4-59E73CA17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4468" y="1871808"/>
            <a:ext cx="13925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/>
              <a:t>term</a:t>
            </a:r>
          </a:p>
        </p:txBody>
      </p:sp>
      <p:sp>
        <p:nvSpPr>
          <p:cNvPr id="52231" name="Text Box 7">
            <a:extLst>
              <a:ext uri="{FF2B5EF4-FFF2-40B4-BE49-F238E27FC236}">
                <a16:creationId xmlns:a16="http://schemas.microsoft.com/office/drawing/2014/main" id="{C00727D9-1B65-458E-946D-5F637C027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2136" y="2354522"/>
            <a:ext cx="1392583" cy="45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term</a:t>
            </a:r>
          </a:p>
        </p:txBody>
      </p:sp>
      <p:sp>
        <p:nvSpPr>
          <p:cNvPr id="52232" name="Text Box 8">
            <a:extLst>
              <a:ext uri="{FF2B5EF4-FFF2-40B4-BE49-F238E27FC236}">
                <a16:creationId xmlns:a16="http://schemas.microsoft.com/office/drawing/2014/main" id="{34E2D4E2-7E80-4FDD-B972-42431399E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066" y="2330806"/>
            <a:ext cx="1392583" cy="45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/>
              <a:t>expr</a:t>
            </a:r>
          </a:p>
        </p:txBody>
      </p:sp>
      <p:sp>
        <p:nvSpPr>
          <p:cNvPr id="52233" name="Text Box 9">
            <a:extLst>
              <a:ext uri="{FF2B5EF4-FFF2-40B4-BE49-F238E27FC236}">
                <a16:creationId xmlns:a16="http://schemas.microsoft.com/office/drawing/2014/main" id="{2F7D0940-8881-4C5B-BB7B-A5E20CB3D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893" y="1846256"/>
            <a:ext cx="13925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/>
              <a:t>expr</a:t>
            </a:r>
          </a:p>
        </p:txBody>
      </p:sp>
      <p:sp>
        <p:nvSpPr>
          <p:cNvPr id="52234" name="Text Box 10">
            <a:extLst>
              <a:ext uri="{FF2B5EF4-FFF2-40B4-BE49-F238E27FC236}">
                <a16:creationId xmlns:a16="http://schemas.microsoft.com/office/drawing/2014/main" id="{0D3D5A6F-D3FA-4C0B-80AD-283BCE2C3C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385" y="1146194"/>
            <a:ext cx="13925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expr</a:t>
            </a:r>
          </a:p>
        </p:txBody>
      </p:sp>
      <p:sp>
        <p:nvSpPr>
          <p:cNvPr id="52235" name="Text Box 11">
            <a:extLst>
              <a:ext uri="{FF2B5EF4-FFF2-40B4-BE49-F238E27FC236}">
                <a16:creationId xmlns:a16="http://schemas.microsoft.com/office/drawing/2014/main" id="{5644A0E7-21F1-4FF7-9E9F-C06F821E1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957" y="3408010"/>
            <a:ext cx="642731" cy="45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9</a:t>
            </a:r>
          </a:p>
        </p:txBody>
      </p:sp>
      <p:sp>
        <p:nvSpPr>
          <p:cNvPr id="52236" name="Text Box 12">
            <a:extLst>
              <a:ext uri="{FF2B5EF4-FFF2-40B4-BE49-F238E27FC236}">
                <a16:creationId xmlns:a16="http://schemas.microsoft.com/office/drawing/2014/main" id="{B319C213-A2B8-4D5C-AE6D-0616E18A6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3165" y="2803357"/>
            <a:ext cx="642731" cy="45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5</a:t>
            </a:r>
          </a:p>
        </p:txBody>
      </p:sp>
      <p:sp>
        <p:nvSpPr>
          <p:cNvPr id="52237" name="Text Box 13">
            <a:extLst>
              <a:ext uri="{FF2B5EF4-FFF2-40B4-BE49-F238E27FC236}">
                <a16:creationId xmlns:a16="http://schemas.microsoft.com/office/drawing/2014/main" id="{9759BDD5-7B80-412D-93FB-527342D10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1517" y="2409631"/>
            <a:ext cx="642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2</a:t>
            </a:r>
          </a:p>
        </p:txBody>
      </p:sp>
      <p:sp>
        <p:nvSpPr>
          <p:cNvPr id="52238" name="Text Box 14">
            <a:extLst>
              <a:ext uri="{FF2B5EF4-FFF2-40B4-BE49-F238E27FC236}">
                <a16:creationId xmlns:a16="http://schemas.microsoft.com/office/drawing/2014/main" id="{BD57BA8D-D67C-4B14-A9DA-C800ECFD99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4485" y="2384858"/>
            <a:ext cx="642731" cy="45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-</a:t>
            </a:r>
          </a:p>
        </p:txBody>
      </p:sp>
      <p:sp>
        <p:nvSpPr>
          <p:cNvPr id="52239" name="Text Box 15">
            <a:extLst>
              <a:ext uri="{FF2B5EF4-FFF2-40B4-BE49-F238E27FC236}">
                <a16:creationId xmlns:a16="http://schemas.microsoft.com/office/drawing/2014/main" id="{E5EDEE5B-44FE-4F0C-B0E7-CCFFA661B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570" y="1871688"/>
            <a:ext cx="642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+</a:t>
            </a:r>
          </a:p>
        </p:txBody>
      </p:sp>
      <p:sp>
        <p:nvSpPr>
          <p:cNvPr id="52240" name="Text Box 16">
            <a:extLst>
              <a:ext uri="{FF2B5EF4-FFF2-40B4-BE49-F238E27FC236}">
                <a16:creationId xmlns:a16="http://schemas.microsoft.com/office/drawing/2014/main" id="{AA113E37-FD35-4ADD-8FE0-58045EE68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532" y="2385938"/>
            <a:ext cx="17139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{</a:t>
            </a:r>
            <a:r>
              <a:rPr kumimoji="0" lang="en-US" altLang="zh-CN" sz="2400" i="1" dirty="0"/>
              <a:t>print</a:t>
            </a:r>
            <a:r>
              <a:rPr kumimoji="0" lang="en-US" altLang="zh-CN" sz="2400" dirty="0"/>
              <a:t>(‘-’)}</a:t>
            </a:r>
          </a:p>
        </p:txBody>
      </p:sp>
      <p:sp>
        <p:nvSpPr>
          <p:cNvPr id="52241" name="Text Box 17">
            <a:extLst>
              <a:ext uri="{FF2B5EF4-FFF2-40B4-BE49-F238E27FC236}">
                <a16:creationId xmlns:a16="http://schemas.microsoft.com/office/drawing/2014/main" id="{1127AEFD-6C17-4E26-B6D9-03B2A96BB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1785" y="3408010"/>
            <a:ext cx="17117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{</a:t>
            </a:r>
            <a:r>
              <a:rPr kumimoji="0" lang="en-US" altLang="zh-CN" sz="2400" i="1"/>
              <a:t>print</a:t>
            </a:r>
            <a:r>
              <a:rPr kumimoji="0" lang="en-US" altLang="zh-CN" sz="2400"/>
              <a:t>(‘9’)}</a:t>
            </a:r>
          </a:p>
        </p:txBody>
      </p:sp>
      <p:sp>
        <p:nvSpPr>
          <p:cNvPr id="52242" name="Text Box 18">
            <a:extLst>
              <a:ext uri="{FF2B5EF4-FFF2-40B4-BE49-F238E27FC236}">
                <a16:creationId xmlns:a16="http://schemas.microsoft.com/office/drawing/2014/main" id="{EF916523-5DB2-48F1-97E7-1892A9950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9977" y="2803357"/>
            <a:ext cx="17117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{</a:t>
            </a:r>
            <a:r>
              <a:rPr kumimoji="0" lang="en-US" altLang="zh-CN" sz="2400" i="1" dirty="0"/>
              <a:t>print</a:t>
            </a:r>
            <a:r>
              <a:rPr kumimoji="0" lang="en-US" altLang="zh-CN" sz="2400" dirty="0"/>
              <a:t>(‘5’)}</a:t>
            </a:r>
          </a:p>
        </p:txBody>
      </p:sp>
      <p:sp>
        <p:nvSpPr>
          <p:cNvPr id="52243" name="Text Box 19">
            <a:extLst>
              <a:ext uri="{FF2B5EF4-FFF2-40B4-BE49-F238E27FC236}">
                <a16:creationId xmlns:a16="http://schemas.microsoft.com/office/drawing/2014/main" id="{7CB1F4BB-5AAE-4AB7-8093-8A399D007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9296" y="2409631"/>
            <a:ext cx="17117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{</a:t>
            </a:r>
            <a:r>
              <a:rPr kumimoji="0" lang="en-US" altLang="zh-CN" sz="2400" i="1"/>
              <a:t>print</a:t>
            </a:r>
            <a:r>
              <a:rPr kumimoji="0" lang="en-US" altLang="zh-CN" sz="2400"/>
              <a:t>(‘2’)}</a:t>
            </a:r>
          </a:p>
        </p:txBody>
      </p:sp>
      <p:sp>
        <p:nvSpPr>
          <p:cNvPr id="52244" name="Text Box 20">
            <a:extLst>
              <a:ext uri="{FF2B5EF4-FFF2-40B4-BE49-F238E27FC236}">
                <a16:creationId xmlns:a16="http://schemas.microsoft.com/office/drawing/2014/main" id="{796C2DC8-14C8-4149-A5A0-169B81A80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5820" y="1889762"/>
            <a:ext cx="17117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{</a:t>
            </a:r>
            <a:r>
              <a:rPr kumimoji="0" lang="en-US" altLang="zh-CN" sz="2400" i="1" dirty="0"/>
              <a:t>print</a:t>
            </a:r>
            <a:r>
              <a:rPr kumimoji="0" lang="en-US" altLang="zh-CN" sz="2400" dirty="0"/>
              <a:t>(‘+’)}</a:t>
            </a:r>
          </a:p>
        </p:txBody>
      </p:sp>
      <p:sp>
        <p:nvSpPr>
          <p:cNvPr id="52245" name="Line 21">
            <a:extLst>
              <a:ext uri="{FF2B5EF4-FFF2-40B4-BE49-F238E27FC236}">
                <a16:creationId xmlns:a16="http://schemas.microsoft.com/office/drawing/2014/main" id="{E0EA7A3C-2B94-4C8F-A258-E1E6D0A987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35309" y="3318242"/>
            <a:ext cx="0" cy="21524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6" name="Line 22">
            <a:extLst>
              <a:ext uri="{FF2B5EF4-FFF2-40B4-BE49-F238E27FC236}">
                <a16:creationId xmlns:a16="http://schemas.microsoft.com/office/drawing/2014/main" id="{52576F1C-8330-4A5C-B5B9-17F7377302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6526" y="2205324"/>
            <a:ext cx="642732" cy="2767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7" name="Line 23">
            <a:extLst>
              <a:ext uri="{FF2B5EF4-FFF2-40B4-BE49-F238E27FC236}">
                <a16:creationId xmlns:a16="http://schemas.microsoft.com/office/drawing/2014/main" id="{6D1711D4-A482-42F4-A437-6CE498BC03A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2432" y="2689874"/>
            <a:ext cx="0" cy="35906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8" name="Line 24">
            <a:extLst>
              <a:ext uri="{FF2B5EF4-FFF2-40B4-BE49-F238E27FC236}">
                <a16:creationId xmlns:a16="http://schemas.microsoft.com/office/drawing/2014/main" id="{AF883252-84E6-4C61-99E0-DABEED51D94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42430" y="2160623"/>
            <a:ext cx="1311483" cy="34971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9" name="Line 25">
            <a:extLst>
              <a:ext uri="{FF2B5EF4-FFF2-40B4-BE49-F238E27FC236}">
                <a16:creationId xmlns:a16="http://schemas.microsoft.com/office/drawing/2014/main" id="{A5E9BDEA-687F-4541-9C08-BB240FE5DC8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6382" y="2205324"/>
            <a:ext cx="104890" cy="2693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0" name="Line 26">
            <a:extLst>
              <a:ext uri="{FF2B5EF4-FFF2-40B4-BE49-F238E27FC236}">
                <a16:creationId xmlns:a16="http://schemas.microsoft.com/office/drawing/2014/main" id="{062E11E0-5625-4532-A88B-C32FB1CBA6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56380" y="2713590"/>
            <a:ext cx="0" cy="20987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1" name="Line 27">
            <a:extLst>
              <a:ext uri="{FF2B5EF4-FFF2-40B4-BE49-F238E27FC236}">
                <a16:creationId xmlns:a16="http://schemas.microsoft.com/office/drawing/2014/main" id="{ED95EAC8-498A-41AA-ABEC-B9EF0B5B43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06781" y="2319863"/>
            <a:ext cx="8918" cy="1904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2" name="Line 28">
            <a:extLst>
              <a:ext uri="{FF2B5EF4-FFF2-40B4-BE49-F238E27FC236}">
                <a16:creationId xmlns:a16="http://schemas.microsoft.com/office/drawing/2014/main" id="{F3BA73AE-4865-46E5-96CE-C5D6610872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48961" y="1505261"/>
            <a:ext cx="664665" cy="4973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3" name="Line 29">
            <a:extLst>
              <a:ext uri="{FF2B5EF4-FFF2-40B4-BE49-F238E27FC236}">
                <a16:creationId xmlns:a16="http://schemas.microsoft.com/office/drawing/2014/main" id="{2829B410-DCDC-407A-B0EE-BBEC040B138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34994" y="1505262"/>
            <a:ext cx="856974" cy="4488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4" name="Line 30">
            <a:extLst>
              <a:ext uri="{FF2B5EF4-FFF2-40B4-BE49-F238E27FC236}">
                <a16:creationId xmlns:a16="http://schemas.microsoft.com/office/drawing/2014/main" id="{6945F4F7-DD01-42A2-8290-77DF7ABB75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56380" y="1415494"/>
            <a:ext cx="1843004" cy="58713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5" name="Line 31">
            <a:extLst>
              <a:ext uri="{FF2B5EF4-FFF2-40B4-BE49-F238E27FC236}">
                <a16:creationId xmlns:a16="http://schemas.microsoft.com/office/drawing/2014/main" id="{237CE551-073F-40C5-9379-408447B3ABD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7745" y="2713590"/>
            <a:ext cx="428487" cy="17953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6" name="Line 32">
            <a:extLst>
              <a:ext uri="{FF2B5EF4-FFF2-40B4-BE49-F238E27FC236}">
                <a16:creationId xmlns:a16="http://schemas.microsoft.com/office/drawing/2014/main" id="{1816763B-C4E3-4A24-BC95-9E8177B165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97" y="3318243"/>
            <a:ext cx="214244" cy="17953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7" name="Line 33">
            <a:extLst>
              <a:ext uri="{FF2B5EF4-FFF2-40B4-BE49-F238E27FC236}">
                <a16:creationId xmlns:a16="http://schemas.microsoft.com/office/drawing/2014/main" id="{33573EEC-3ECE-4B3D-9B82-D20B28848D7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0624" y="2115557"/>
            <a:ext cx="1178338" cy="33621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8" name="Line 34">
            <a:extLst>
              <a:ext uri="{FF2B5EF4-FFF2-40B4-BE49-F238E27FC236}">
                <a16:creationId xmlns:a16="http://schemas.microsoft.com/office/drawing/2014/main" id="{64F92822-9580-4265-B3E9-0E5B64F044C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7064" y="2319864"/>
            <a:ext cx="428487" cy="17953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9" name="Line 35">
            <a:extLst>
              <a:ext uri="{FF2B5EF4-FFF2-40B4-BE49-F238E27FC236}">
                <a16:creationId xmlns:a16="http://schemas.microsoft.com/office/drawing/2014/main" id="{30C5BFF3-D0EE-46CC-AC83-C50BF7FF243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49237" y="1415494"/>
            <a:ext cx="2207139" cy="545301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9061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40" grpId="0"/>
      <p:bldP spid="52241" grpId="0"/>
      <p:bldP spid="52242" grpId="0"/>
      <p:bldP spid="52243" grpId="0"/>
      <p:bldP spid="52244" grpId="0"/>
      <p:bldP spid="52255" grpId="0" animBg="1"/>
      <p:bldP spid="52256" grpId="0" animBg="1"/>
      <p:bldP spid="52257" grpId="0" animBg="1"/>
      <p:bldP spid="52258" grpId="0" animBg="1"/>
      <p:bldP spid="5225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7BF1DEFF-5958-4F1F-A037-DC2552AC78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2.8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EEBD374A-F053-4010-9C31-A7C25DDA01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expr 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 i="1">
                <a:sym typeface="Symbol" panose="05050102010706020507" pitchFamily="18" charset="2"/>
              </a:rPr>
              <a:t>expr + term 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print</a:t>
            </a:r>
            <a:r>
              <a:rPr kumimoji="0" lang="en-US" altLang="zh-CN" sz="2400">
                <a:sym typeface="Symbol" panose="05050102010706020507" pitchFamily="18" charset="2"/>
              </a:rPr>
              <a:t>(‘+’)}</a:t>
            </a:r>
            <a:endParaRPr kumimoji="0" lang="en-US" altLang="zh-CN" sz="2400" i="1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  </a:t>
            </a:r>
            <a:r>
              <a:rPr kumimoji="0" lang="en-US" altLang="zh-CN" sz="2400" i="1">
                <a:sym typeface="Symbol" panose="05050102010706020507" pitchFamily="18" charset="2"/>
              </a:rPr>
              <a:t>expr - term   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print</a:t>
            </a:r>
            <a:r>
              <a:rPr kumimoji="0" lang="en-US" altLang="zh-CN" sz="2400">
                <a:sym typeface="Symbol" panose="05050102010706020507" pitchFamily="18" charset="2"/>
              </a:rPr>
              <a:t>(‘-’)}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  </a:t>
            </a:r>
            <a:r>
              <a:rPr kumimoji="0" lang="en-US" altLang="zh-CN" sz="2400" i="1">
                <a:sym typeface="Symbol" panose="05050102010706020507" pitchFamily="18" charset="2"/>
              </a:rPr>
              <a:t>term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term 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 i="1">
                <a:sym typeface="Symbol" panose="05050102010706020507" pitchFamily="18" charset="2"/>
              </a:rPr>
              <a:t>0                  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print</a:t>
            </a:r>
            <a:r>
              <a:rPr kumimoji="0" lang="en-US" altLang="zh-CN" sz="2400">
                <a:sym typeface="Symbol" panose="05050102010706020507" pitchFamily="18" charset="2"/>
              </a:rPr>
              <a:t>(‘0’)}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term </a:t>
            </a:r>
            <a:r>
              <a:rPr kumimoji="0" lang="en-US" altLang="zh-CN" sz="2400">
                <a:sym typeface="Symbol" panose="05050102010706020507" pitchFamily="18" charset="2"/>
              </a:rPr>
              <a:t> 1</a:t>
            </a:r>
            <a:r>
              <a:rPr kumimoji="0" lang="en-US" altLang="zh-CN" sz="2400" i="1">
                <a:sym typeface="Symbol" panose="05050102010706020507" pitchFamily="18" charset="2"/>
              </a:rPr>
              <a:t>                  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print</a:t>
            </a:r>
            <a:r>
              <a:rPr kumimoji="0" lang="en-US" altLang="zh-CN" sz="2400">
                <a:sym typeface="Symbol" panose="05050102010706020507" pitchFamily="18" charset="2"/>
              </a:rPr>
              <a:t>(‘1’)}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…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term </a:t>
            </a:r>
            <a:r>
              <a:rPr kumimoji="0" lang="en-US" altLang="zh-CN" sz="2400">
                <a:sym typeface="Symbol" panose="05050102010706020507" pitchFamily="18" charset="2"/>
              </a:rPr>
              <a:t> 9</a:t>
            </a:r>
            <a:r>
              <a:rPr kumimoji="0" lang="en-US" altLang="zh-CN" sz="2400" i="1">
                <a:sym typeface="Symbol" panose="05050102010706020507" pitchFamily="18" charset="2"/>
              </a:rPr>
              <a:t>                  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print</a:t>
            </a:r>
            <a:r>
              <a:rPr kumimoji="0" lang="en-US" altLang="zh-CN" sz="2400">
                <a:sym typeface="Symbol" panose="05050102010706020507" pitchFamily="18" charset="2"/>
              </a:rPr>
              <a:t>(‘9’)}</a:t>
            </a:r>
            <a:endParaRPr lang="en-US" altLang="zh-CN" sz="2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81979ABF-D1FC-4D67-9A55-10F7210BDC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翻译模式设计练习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DC82B6DB-3E85-404C-9210-8EC6203512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sz="2800"/>
              <a:t>构造翻译模式，中缀</a:t>
            </a:r>
            <a:r>
              <a:rPr lang="zh-CN" altLang="en-US" sz="2800">
                <a:sym typeface="Wingdings" panose="05000000000000000000" pitchFamily="2" charset="2"/>
              </a:rPr>
              <a:t>前缀</a:t>
            </a:r>
            <a:br>
              <a:rPr lang="zh-CN" altLang="en-US" sz="2800">
                <a:sym typeface="Wingdings" panose="05000000000000000000" pitchFamily="2" charset="2"/>
              </a:rPr>
            </a:br>
            <a:r>
              <a:rPr lang="zh-CN" altLang="en-US" sz="2800">
                <a:sym typeface="Wingdings" panose="05000000000000000000" pitchFamily="2" charset="2"/>
              </a:rPr>
              <a:t>构造</a:t>
            </a:r>
            <a:r>
              <a:rPr lang="en-US" altLang="zh-CN" sz="2800">
                <a:sym typeface="Wingdings" panose="05000000000000000000" pitchFamily="2" charset="2"/>
              </a:rPr>
              <a:t>9-5*2</a:t>
            </a:r>
            <a:r>
              <a:rPr lang="zh-CN" altLang="en-US" sz="2800">
                <a:sym typeface="Wingdings" panose="05000000000000000000" pitchFamily="2" charset="2"/>
              </a:rPr>
              <a:t>的注释语法分析树</a:t>
            </a:r>
            <a:endParaRPr lang="zh-CN" altLang="en-US" sz="2800"/>
          </a:p>
        </p:txBody>
      </p:sp>
      <p:sp>
        <p:nvSpPr>
          <p:cNvPr id="157700" name="Rectangle 4">
            <a:extLst>
              <a:ext uri="{FF2B5EF4-FFF2-40B4-BE49-F238E27FC236}">
                <a16:creationId xmlns:a16="http://schemas.microsoft.com/office/drawing/2014/main" id="{056776D7-BE15-4C41-A35A-1C232A6EB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438400"/>
            <a:ext cx="43434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expr→ { print(‘+’); } expr + term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  | { print(‘-’); } expr – term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  | term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term→ { print(‘*’); } term * factor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  | { print(‘/’); } term / factor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  | factor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factor→ { print(num.value); } num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  | ( expr )</a:t>
            </a:r>
          </a:p>
        </p:txBody>
      </p:sp>
      <p:pic>
        <p:nvPicPr>
          <p:cNvPr id="157703" name="Picture 7" descr="72">
            <a:extLst>
              <a:ext uri="{FF2B5EF4-FFF2-40B4-BE49-F238E27FC236}">
                <a16:creationId xmlns:a16="http://schemas.microsoft.com/office/drawing/2014/main" id="{8012EAFA-EE71-42A3-A11A-F38D710F6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075" y="2514600"/>
            <a:ext cx="4505325" cy="236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00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FDCB3E2B-BDE3-472C-959C-E53450A687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Yacc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2B1C54A2-551C-4676-9DB3-76E28C4CB5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语法分析器自动生成工具</a:t>
            </a:r>
          </a:p>
        </p:txBody>
      </p:sp>
      <p:pic>
        <p:nvPicPr>
          <p:cNvPr id="54276" name="Picture 4" descr="yacc">
            <a:extLst>
              <a:ext uri="{FF2B5EF4-FFF2-40B4-BE49-F238E27FC236}">
                <a16:creationId xmlns:a16="http://schemas.microsoft.com/office/drawing/2014/main" id="{52578119-3CB1-41BD-A792-57FA80582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133600"/>
            <a:ext cx="5456238" cy="294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2517" name="Text Box 5">
            <a:extLst>
              <a:ext uri="{FF2B5EF4-FFF2-40B4-BE49-F238E27FC236}">
                <a16:creationId xmlns:a16="http://schemas.microsoft.com/office/drawing/2014/main" id="{BB4745ED-EA11-43AF-B7C2-0D7594FAB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628775"/>
            <a:ext cx="236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>
                <a:solidFill>
                  <a:srgbClr val="3333CC"/>
                </a:solidFill>
              </a:rPr>
              <a:t>语法分析器源程序</a:t>
            </a:r>
            <a:endParaRPr kumimoji="0" lang="zh-CN" altLang="en-US" sz="2000" b="1">
              <a:solidFill>
                <a:srgbClr val="3333CC"/>
              </a:solidFill>
              <a:sym typeface="Math1" pitchFamily="2" charset="2"/>
            </a:endParaRPr>
          </a:p>
        </p:txBody>
      </p:sp>
      <p:sp>
        <p:nvSpPr>
          <p:cNvPr id="192518" name="Line 6">
            <a:extLst>
              <a:ext uri="{FF2B5EF4-FFF2-40B4-BE49-F238E27FC236}">
                <a16:creationId xmlns:a16="http://schemas.microsoft.com/office/drawing/2014/main" id="{BF899FC0-2F36-4E46-BA69-C7EAC5D384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88125" y="1989138"/>
            <a:ext cx="288925" cy="4318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2519" name="Text Box 7">
            <a:extLst>
              <a:ext uri="{FF2B5EF4-FFF2-40B4-BE49-F238E27FC236}">
                <a16:creationId xmlns:a16="http://schemas.microsoft.com/office/drawing/2014/main" id="{D176FD8E-DC35-43ED-9804-5CBB9D2EFD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032125"/>
            <a:ext cx="2847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>
                <a:solidFill>
                  <a:srgbClr val="3333CC"/>
                </a:solidFill>
              </a:rPr>
              <a:t>语法分析器可执行程序</a:t>
            </a:r>
            <a:endParaRPr kumimoji="0" lang="zh-CN" altLang="en-US" sz="2000" b="1">
              <a:solidFill>
                <a:srgbClr val="3333CC"/>
              </a:solidFill>
              <a:sym typeface="Math1" pitchFamily="2" charset="2"/>
            </a:endParaRPr>
          </a:p>
        </p:txBody>
      </p:sp>
      <p:sp>
        <p:nvSpPr>
          <p:cNvPr id="192520" name="Line 8">
            <a:extLst>
              <a:ext uri="{FF2B5EF4-FFF2-40B4-BE49-F238E27FC236}">
                <a16:creationId xmlns:a16="http://schemas.microsoft.com/office/drawing/2014/main" id="{BD8817B9-583C-48A1-A7EE-8B7CDCE243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27763" y="3357563"/>
            <a:ext cx="360362" cy="2159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4281" name="矩形 1">
            <a:extLst>
              <a:ext uri="{FF2B5EF4-FFF2-40B4-BE49-F238E27FC236}">
                <a16:creationId xmlns:a16="http://schemas.microsoft.com/office/drawing/2014/main" id="{6722E8FF-95CD-433A-9600-AA81A7390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2492375"/>
            <a:ext cx="1173162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ea typeface="隶书" panose="02010509060101010101" pitchFamily="49" charset="-122"/>
              </a:rPr>
              <a:t>myyacc.y</a:t>
            </a:r>
            <a:endParaRPr lang="zh-CN" altLang="en-US" sz="2000"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F45F9585-B98F-4EF5-8DD1-9791F9E94E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Yacc</a:t>
            </a:r>
            <a:r>
              <a:rPr lang="zh-CN" altLang="en-US"/>
              <a:t>程序结构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C9AD7DDC-37AE-4A61-8E70-F476A6697A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/>
              <a:t>定义段：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%{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C</a:t>
            </a:r>
            <a:r>
              <a:rPr lang="zh-CN" altLang="en-US" sz="2000"/>
              <a:t>语言代码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%}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/>
              <a:t>定义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%%</a:t>
            </a:r>
            <a:br>
              <a:rPr lang="en-US" altLang="zh-CN" sz="2000"/>
            </a:b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/>
              <a:t>规则段：语法规则、翻译模式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%%</a:t>
            </a:r>
            <a:br>
              <a:rPr lang="en-US" altLang="zh-CN" sz="2000"/>
            </a:b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/>
              <a:t>用户子程序段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BE66A0EB-01EE-4117-841E-061A78376B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例：简单表达式计算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36DD8746-DFAF-457D-ABFE-71F7611B08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latin typeface="Courier New" panose="02070309020205020404" pitchFamily="49" charset="0"/>
              </a:rPr>
              <a:t>%{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latin typeface="Courier New" panose="02070309020205020404" pitchFamily="49" charset="0"/>
              </a:rPr>
              <a:t>/****************************************************************************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 err="1">
                <a:latin typeface="Courier New" panose="02070309020205020404" pitchFamily="49" charset="0"/>
              </a:rPr>
              <a:t>expr.y</a:t>
            </a:r>
            <a:endParaRPr kumimoji="0" lang="en-US" altLang="zh-CN" sz="20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 err="1">
                <a:latin typeface="Courier New" panose="02070309020205020404" pitchFamily="49" charset="0"/>
              </a:rPr>
              <a:t>ParserWizard</a:t>
            </a:r>
            <a:r>
              <a:rPr kumimoji="0" lang="en-US" altLang="zh-CN" sz="2000" dirty="0">
                <a:latin typeface="Courier New" panose="02070309020205020404" pitchFamily="49" charset="0"/>
              </a:rPr>
              <a:t> generated YACC file.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0" lang="en-US" altLang="zh-CN" sz="20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latin typeface="Courier New" panose="02070309020205020404" pitchFamily="49" charset="0"/>
              </a:rPr>
              <a:t>Date: 2005</a:t>
            </a:r>
            <a:r>
              <a:rPr kumimoji="0" lang="zh-CN" altLang="en-US" sz="2000" dirty="0">
                <a:latin typeface="Courier New" panose="02070309020205020404" pitchFamily="49" charset="0"/>
              </a:rPr>
              <a:t>年</a:t>
            </a:r>
            <a:r>
              <a:rPr kumimoji="0" lang="en-US" altLang="zh-CN" sz="2000" dirty="0">
                <a:latin typeface="Courier New" panose="02070309020205020404" pitchFamily="49" charset="0"/>
              </a:rPr>
              <a:t>8</a:t>
            </a:r>
            <a:r>
              <a:rPr kumimoji="0" lang="zh-CN" altLang="en-US" sz="2000" dirty="0">
                <a:latin typeface="Courier New" panose="02070309020205020404" pitchFamily="49" charset="0"/>
              </a:rPr>
              <a:t>月</a:t>
            </a:r>
            <a:r>
              <a:rPr kumimoji="0" lang="en-US" altLang="zh-CN" sz="2000" dirty="0">
                <a:latin typeface="Courier New" panose="02070309020205020404" pitchFamily="49" charset="0"/>
              </a:rPr>
              <a:t>22</a:t>
            </a:r>
            <a:r>
              <a:rPr kumimoji="0" lang="zh-CN" altLang="en-US" sz="2000" dirty="0">
                <a:latin typeface="Courier New" panose="02070309020205020404" pitchFamily="49" charset="0"/>
              </a:rPr>
              <a:t>日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000" dirty="0">
                <a:latin typeface="Courier New" panose="02070309020205020404" pitchFamily="49" charset="0"/>
              </a:rPr>
              <a:t>****************************************************************************</a:t>
            </a:r>
            <a:r>
              <a:rPr kumimoji="0" lang="en-US" altLang="zh-CN" sz="2000" dirty="0">
                <a:latin typeface="Courier New" panose="02070309020205020404" pitchFamily="49" charset="0"/>
              </a:rPr>
              <a:t>/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latin typeface="Courier New" panose="02070309020205020404" pitchFamily="49" charset="0"/>
              </a:rPr>
              <a:t>#include &lt;</a:t>
            </a:r>
            <a:r>
              <a:rPr kumimoji="0" lang="en-US" altLang="zh-CN" sz="2000" dirty="0" err="1">
                <a:latin typeface="Courier New" panose="02070309020205020404" pitchFamily="49" charset="0"/>
              </a:rPr>
              <a:t>ctype.h</a:t>
            </a:r>
            <a:r>
              <a:rPr kumimoji="0" lang="en-US" altLang="zh-CN" sz="2000" dirty="0">
                <a:latin typeface="Courier New" panose="02070309020205020404" pitchFamily="49" charset="0"/>
              </a:rPr>
              <a:t>&gt;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latin typeface="Courier New" panose="02070309020205020404" pitchFamily="49" charset="0"/>
              </a:rPr>
              <a:t>#include &lt;</a:t>
            </a:r>
            <a:r>
              <a:rPr kumimoji="0" lang="en-US" altLang="zh-CN" sz="2000" dirty="0" err="1">
                <a:latin typeface="Courier New" panose="02070309020205020404" pitchFamily="49" charset="0"/>
              </a:rPr>
              <a:t>stdio.h</a:t>
            </a:r>
            <a:r>
              <a:rPr kumimoji="0" lang="en-US" altLang="zh-CN" sz="2000" dirty="0">
                <a:latin typeface="Courier New" panose="02070309020205020404" pitchFamily="49" charset="0"/>
              </a:rPr>
              <a:t>&gt;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latin typeface="Courier New" panose="02070309020205020404" pitchFamily="49" charset="0"/>
              </a:rPr>
              <a:t>%}</a:t>
            </a:r>
          </a:p>
        </p:txBody>
      </p:sp>
      <p:sp>
        <p:nvSpPr>
          <p:cNvPr id="194564" name="Text Box 4">
            <a:extLst>
              <a:ext uri="{FF2B5EF4-FFF2-40B4-BE49-F238E27FC236}">
                <a16:creationId xmlns:a16="http://schemas.microsoft.com/office/drawing/2014/main" id="{99DCF1BF-9676-4576-9A95-9D0CCBD12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4581525"/>
            <a:ext cx="2362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>
                <a:solidFill>
                  <a:srgbClr val="3333CC"/>
                </a:solidFill>
              </a:rPr>
              <a:t>直接复制到语法分析程序中</a:t>
            </a:r>
            <a:endParaRPr kumimoji="0" lang="zh-CN" altLang="en-US" sz="2000" b="1">
              <a:solidFill>
                <a:srgbClr val="3333CC"/>
              </a:solidFill>
              <a:sym typeface="Math1" pitchFamily="2" charset="2"/>
            </a:endParaRPr>
          </a:p>
        </p:txBody>
      </p:sp>
      <p:sp>
        <p:nvSpPr>
          <p:cNvPr id="194565" name="Line 5">
            <a:extLst>
              <a:ext uri="{FF2B5EF4-FFF2-40B4-BE49-F238E27FC236}">
                <a16:creationId xmlns:a16="http://schemas.microsoft.com/office/drawing/2014/main" id="{5F3B829D-068B-42DF-9372-B04838E2B2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70363" y="4733925"/>
            <a:ext cx="838200" cy="762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2085B80F-053E-4C54-A74C-9444C2808C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例：简单表达式计算（续）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947748F1-DB58-4EEE-B0CC-6120FE2AB8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%include {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#ifndef YYSTYPE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#define YYSTYPE double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#endif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0" lang="en-US" altLang="zh-CN" sz="20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//%token NUMBER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%left '+' '-'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%left '*' '/'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%right UMINUS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0" lang="en-US" altLang="zh-CN" sz="20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%%</a:t>
            </a:r>
          </a:p>
        </p:txBody>
      </p:sp>
      <p:sp>
        <p:nvSpPr>
          <p:cNvPr id="195588" name="Text Box 4">
            <a:extLst>
              <a:ext uri="{FF2B5EF4-FFF2-40B4-BE49-F238E27FC236}">
                <a16:creationId xmlns:a16="http://schemas.microsoft.com/office/drawing/2014/main" id="{CD46732A-8E82-449E-96A6-6E03B2BD0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1989138"/>
            <a:ext cx="2520950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>
                <a:solidFill>
                  <a:srgbClr val="3333CC"/>
                </a:solidFill>
              </a:rPr>
              <a:t>我们要翻译的结果是什么？表达式值！</a:t>
            </a:r>
            <a:br>
              <a:rPr kumimoji="0" lang="zh-CN" altLang="en-US" sz="2000" b="1">
                <a:solidFill>
                  <a:srgbClr val="3333CC"/>
                </a:solidFill>
              </a:rPr>
            </a:br>
            <a:r>
              <a:rPr kumimoji="0" lang="zh-CN" altLang="en-US" sz="2000" b="1">
                <a:solidFill>
                  <a:srgbClr val="3333CC"/>
                </a:solidFill>
              </a:rPr>
              <a:t>所以类型是</a:t>
            </a:r>
            <a:r>
              <a:rPr kumimoji="0" lang="en-US" altLang="zh-CN" sz="2000" b="1">
                <a:solidFill>
                  <a:srgbClr val="3333CC"/>
                </a:solidFill>
              </a:rPr>
              <a:t>double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3333CC"/>
                </a:solidFill>
              </a:rPr>
              <a:t>YYSTYPE</a:t>
            </a:r>
            <a:r>
              <a:rPr kumimoji="0" lang="zh-CN" altLang="en-US" sz="2000" b="1">
                <a:solidFill>
                  <a:srgbClr val="3333CC"/>
                </a:solidFill>
              </a:rPr>
              <a:t>是翻译结果的类型</a:t>
            </a:r>
            <a:endParaRPr kumimoji="0" lang="zh-CN" altLang="en-US" sz="2000" b="1">
              <a:solidFill>
                <a:srgbClr val="3333CC"/>
              </a:solidFill>
              <a:sym typeface="Math1" pitchFamily="2" charset="2"/>
            </a:endParaRPr>
          </a:p>
        </p:txBody>
      </p:sp>
      <p:sp>
        <p:nvSpPr>
          <p:cNvPr id="195589" name="Line 5">
            <a:extLst>
              <a:ext uri="{FF2B5EF4-FFF2-40B4-BE49-F238E27FC236}">
                <a16:creationId xmlns:a16="http://schemas.microsoft.com/office/drawing/2014/main" id="{C9407ED9-E9D1-43A4-8243-7AC9D88C4B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73600" y="2141538"/>
            <a:ext cx="838200" cy="762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5590" name="Text Box 6">
            <a:extLst>
              <a:ext uri="{FF2B5EF4-FFF2-40B4-BE49-F238E27FC236}">
                <a16:creationId xmlns:a16="http://schemas.microsoft.com/office/drawing/2014/main" id="{1AEFDD5F-B0C1-43F8-8D21-932233628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4005263"/>
            <a:ext cx="2362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>
                <a:solidFill>
                  <a:srgbClr val="3333CC"/>
                </a:solidFill>
              </a:rPr>
              <a:t>运算符优先级</a:t>
            </a:r>
            <a:br>
              <a:rPr kumimoji="0" lang="en-US" altLang="zh-CN" sz="2000" b="1">
                <a:solidFill>
                  <a:srgbClr val="3333CC"/>
                </a:solidFill>
                <a:sym typeface="Math1" pitchFamily="2" charset="2"/>
              </a:rPr>
            </a:br>
            <a:r>
              <a:rPr kumimoji="0" lang="zh-CN" altLang="en-US" sz="2000" b="1">
                <a:solidFill>
                  <a:srgbClr val="3333CC"/>
                </a:solidFill>
                <a:sym typeface="Math1" pitchFamily="2" charset="2"/>
              </a:rPr>
              <a:t>前</a:t>
            </a:r>
            <a:r>
              <a:rPr kumimoji="0" lang="en-US" altLang="zh-CN" sz="2000" b="1">
                <a:solidFill>
                  <a:srgbClr val="3333CC"/>
                </a:solidFill>
                <a:sym typeface="Wingdings" panose="05000000000000000000" pitchFamily="2" charset="2"/>
              </a:rPr>
              <a:t></a:t>
            </a:r>
            <a:r>
              <a:rPr kumimoji="0" lang="zh-CN" altLang="en-US" sz="2000" b="1">
                <a:solidFill>
                  <a:srgbClr val="3333CC"/>
                </a:solidFill>
                <a:sym typeface="Wingdings" panose="05000000000000000000" pitchFamily="2" charset="2"/>
              </a:rPr>
              <a:t>后，低</a:t>
            </a:r>
            <a:r>
              <a:rPr kumimoji="0" lang="en-US" altLang="zh-CN" sz="2000" b="1">
                <a:solidFill>
                  <a:srgbClr val="3333CC"/>
                </a:solidFill>
                <a:sym typeface="Wingdings" panose="05000000000000000000" pitchFamily="2" charset="2"/>
              </a:rPr>
              <a:t></a:t>
            </a:r>
            <a:r>
              <a:rPr kumimoji="0" lang="zh-CN" altLang="en-US" sz="2000" b="1">
                <a:solidFill>
                  <a:srgbClr val="3333CC"/>
                </a:solidFill>
                <a:sym typeface="Wingdings" panose="05000000000000000000" pitchFamily="2" charset="2"/>
              </a:rPr>
              <a:t>高</a:t>
            </a:r>
            <a:endParaRPr kumimoji="0" lang="en-US" altLang="zh-CN" sz="2000" b="1">
              <a:solidFill>
                <a:srgbClr val="3333CC"/>
              </a:solidFill>
            </a:endParaRPr>
          </a:p>
        </p:txBody>
      </p:sp>
      <p:sp>
        <p:nvSpPr>
          <p:cNvPr id="195591" name="Line 7">
            <a:extLst>
              <a:ext uri="{FF2B5EF4-FFF2-40B4-BE49-F238E27FC236}">
                <a16:creationId xmlns:a16="http://schemas.microsoft.com/office/drawing/2014/main" id="{AAECCCF9-E4A1-4EE9-A67D-A8355FC097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49638" y="4157663"/>
            <a:ext cx="838200" cy="762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0FE6FF79-EAF2-46C1-BB0E-EDEDB2437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412875"/>
            <a:ext cx="2362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>
                <a:solidFill>
                  <a:srgbClr val="3333CC"/>
                </a:solidFill>
              </a:rPr>
              <a:t>复制到头文件中</a:t>
            </a:r>
            <a:endParaRPr kumimoji="0" lang="zh-CN" altLang="en-US" sz="2000" b="1">
              <a:solidFill>
                <a:srgbClr val="3333CC"/>
              </a:solidFill>
              <a:sym typeface="Math1" pitchFamily="2" charset="2"/>
            </a:endParaRPr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4A34346E-83FA-46F3-97B1-FB71BDD595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08400" y="1636713"/>
            <a:ext cx="939800" cy="2794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DF1EA51B-768D-4D6E-81CB-6C2B95DD83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例：简单表达式计算（续）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74E5791A-210B-42CF-AE76-4B687ED74B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 dirty="0">
                <a:latin typeface="Courier New" panose="02070309020205020404" pitchFamily="49" charset="0"/>
              </a:rPr>
              <a:t>lines	:	lines expr '\n'	{ </a:t>
            </a:r>
            <a:r>
              <a:rPr kumimoji="0" lang="en-US" altLang="zh-CN" sz="1800" dirty="0" err="1">
                <a:latin typeface="Courier New" panose="02070309020205020404" pitchFamily="49" charset="0"/>
              </a:rPr>
              <a:t>printf</a:t>
            </a:r>
            <a:r>
              <a:rPr kumimoji="0" lang="en-US" altLang="zh-CN" sz="1800" dirty="0">
                <a:latin typeface="Courier New" panose="02070309020205020404" pitchFamily="49" charset="0"/>
              </a:rPr>
              <a:t>("%g\n", $2); 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 dirty="0">
                <a:latin typeface="Courier New" panose="02070309020205020404" pitchFamily="49" charset="0"/>
              </a:rPr>
              <a:t>		|	lines '\n'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 dirty="0">
                <a:latin typeface="Courier New" panose="02070309020205020404" pitchFamily="49" charset="0"/>
              </a:rPr>
              <a:t>		|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 dirty="0">
                <a:latin typeface="Courier New" panose="02070309020205020404" pitchFamily="49" charset="0"/>
              </a:rPr>
              <a:t>		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0" lang="en-US" altLang="zh-CN" sz="18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 dirty="0">
                <a:latin typeface="Courier New" panose="02070309020205020404" pitchFamily="49" charset="0"/>
              </a:rPr>
              <a:t>expr	:	expr '+' expr	{ $$ = $1 + $3; 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 dirty="0">
                <a:latin typeface="Courier New" panose="02070309020205020404" pitchFamily="49" charset="0"/>
              </a:rPr>
              <a:t>		|	expr '-' expr	{ $$ = $1 - $3; 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 dirty="0">
                <a:latin typeface="Courier New" panose="02070309020205020404" pitchFamily="49" charset="0"/>
              </a:rPr>
              <a:t>		|	expr '*' expr	{ $$ = $1 * $3; 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 dirty="0">
                <a:latin typeface="Courier New" panose="02070309020205020404" pitchFamily="49" charset="0"/>
              </a:rPr>
              <a:t>		|	expr '/' expr	{ $$ = $1 / $3; 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 dirty="0">
                <a:latin typeface="Courier New" panose="02070309020205020404" pitchFamily="49" charset="0"/>
              </a:rPr>
              <a:t>		|	'(' expr ')'	{ $$ = $2; 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 dirty="0">
                <a:latin typeface="Courier New" panose="02070309020205020404" pitchFamily="49" charset="0"/>
              </a:rPr>
              <a:t>		|	'-' expr %</a:t>
            </a:r>
            <a:r>
              <a:rPr kumimoji="0" lang="en-US" altLang="zh-CN" sz="1800" dirty="0" err="1">
                <a:latin typeface="Courier New" panose="02070309020205020404" pitchFamily="49" charset="0"/>
              </a:rPr>
              <a:t>prec</a:t>
            </a:r>
            <a:r>
              <a:rPr kumimoji="0" lang="en-US" altLang="zh-CN" sz="1800" dirty="0">
                <a:latin typeface="Courier New" panose="02070309020205020404" pitchFamily="49" charset="0"/>
              </a:rPr>
              <a:t> UMINUS	{ $$ = -$2; 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 dirty="0">
                <a:latin typeface="Courier New" panose="02070309020205020404" pitchFamily="49" charset="0"/>
              </a:rPr>
              <a:t>		|	NUMBER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 dirty="0">
                <a:latin typeface="Courier New" panose="02070309020205020404" pitchFamily="49" charset="0"/>
              </a:rPr>
              <a:t>		;</a:t>
            </a:r>
          </a:p>
        </p:txBody>
      </p:sp>
      <p:sp>
        <p:nvSpPr>
          <p:cNvPr id="196612" name="Text Box 4">
            <a:extLst>
              <a:ext uri="{FF2B5EF4-FFF2-40B4-BE49-F238E27FC236}">
                <a16:creationId xmlns:a16="http://schemas.microsoft.com/office/drawing/2014/main" id="{B7A3A74D-047B-4988-9276-07EC2B5E0C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5516563"/>
            <a:ext cx="2362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>
                <a:solidFill>
                  <a:srgbClr val="3333CC"/>
                </a:solidFill>
              </a:rPr>
              <a:t>表达式的上下文无关文法</a:t>
            </a:r>
            <a:r>
              <a:rPr kumimoji="0" lang="en-US" altLang="zh-CN" sz="2000" b="1">
                <a:solidFill>
                  <a:srgbClr val="3333CC"/>
                </a:solidFill>
              </a:rPr>
              <a:t>/</a:t>
            </a:r>
            <a:r>
              <a:rPr kumimoji="0" lang="zh-CN" altLang="en-US" sz="2000" b="1">
                <a:solidFill>
                  <a:srgbClr val="3333CC"/>
                </a:solidFill>
              </a:rPr>
              <a:t>翻译模式</a:t>
            </a:r>
            <a:endParaRPr kumimoji="0" lang="zh-CN" altLang="en-US" sz="2000" b="1">
              <a:solidFill>
                <a:srgbClr val="3333CC"/>
              </a:solidFill>
              <a:sym typeface="Math1" pitchFamily="2" charset="2"/>
            </a:endParaRPr>
          </a:p>
        </p:txBody>
      </p:sp>
      <p:sp>
        <p:nvSpPr>
          <p:cNvPr id="196613" name="Line 5">
            <a:extLst>
              <a:ext uri="{FF2B5EF4-FFF2-40B4-BE49-F238E27FC236}">
                <a16:creationId xmlns:a16="http://schemas.microsoft.com/office/drawing/2014/main" id="{33A0B7E1-1624-43CA-B971-9B08E3E2B0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7538" y="4797425"/>
            <a:ext cx="509587" cy="8001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3C7577DD-5D96-48F8-A2E7-497CD1F190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例：简单表达式计算（续）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DA4FB950-4156-4B9E-95EA-E03F991137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NUMBER	:	'0'				{ $$ = 0.0; 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		|	'1'				{ $$ = 1.0; 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		|	'2'				{ $$ = 2.0; 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		|	'3'				{ $$ = 3.0; 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		|	'4'				{ $$ = 4.0; 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		|	'5'				{ $$ = 5.0; 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		|	'6'				{ $$ = 6.0; 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		|	'7'				{ $$ = 7.0; 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		|	'8'				{ $$ = 8.0; 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		|	'9'				{ $$ = 9.0; 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		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		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		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%%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A79FEF0D-63E7-4279-8EDB-EBE02B3777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例：简单表达式计算（续）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7E81C209-E7F5-408C-9395-D016AACAA3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int yygettoken(void)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{	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	return getchar();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0" lang="en-US" altLang="zh-CN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int main(void)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	return yyparse();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98660" name="Text Box 4">
            <a:extLst>
              <a:ext uri="{FF2B5EF4-FFF2-40B4-BE49-F238E27FC236}">
                <a16:creationId xmlns:a16="http://schemas.microsoft.com/office/drawing/2014/main" id="{6CFBDD54-9397-46B8-A323-D69EAA41B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1916113"/>
            <a:ext cx="23622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>
                <a:solidFill>
                  <a:srgbClr val="3333CC"/>
                </a:solidFill>
              </a:rPr>
              <a:t>还没有完整的词法分析器，简单地令每个字符是一个单词</a:t>
            </a:r>
            <a:endParaRPr kumimoji="0" lang="zh-CN" altLang="en-US" sz="2000" b="1">
              <a:solidFill>
                <a:srgbClr val="3333CC"/>
              </a:solidFill>
              <a:sym typeface="Math1" pitchFamily="2" charset="2"/>
            </a:endParaRPr>
          </a:p>
        </p:txBody>
      </p:sp>
      <p:sp>
        <p:nvSpPr>
          <p:cNvPr id="198661" name="Line 5">
            <a:extLst>
              <a:ext uri="{FF2B5EF4-FFF2-40B4-BE49-F238E27FC236}">
                <a16:creationId xmlns:a16="http://schemas.microsoft.com/office/drawing/2014/main" id="{5CC65D8A-AE71-4F70-A49D-AEAD1B973A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54463" y="2068513"/>
            <a:ext cx="838200" cy="762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8662" name="Text Box 6">
            <a:extLst>
              <a:ext uri="{FF2B5EF4-FFF2-40B4-BE49-F238E27FC236}">
                <a16:creationId xmlns:a16="http://schemas.microsoft.com/office/drawing/2014/main" id="{4215EBC3-9690-4EC6-AEE6-DD777C796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4149725"/>
            <a:ext cx="2362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>
                <a:solidFill>
                  <a:srgbClr val="3333CC"/>
                </a:solidFill>
              </a:rPr>
              <a:t>调用语法分析（翻译）器</a:t>
            </a:r>
            <a:endParaRPr kumimoji="0" lang="zh-CN" altLang="en-US" sz="2000" b="1">
              <a:solidFill>
                <a:srgbClr val="3333CC"/>
              </a:solidFill>
              <a:sym typeface="Math1" pitchFamily="2" charset="2"/>
            </a:endParaRPr>
          </a:p>
        </p:txBody>
      </p:sp>
      <p:sp>
        <p:nvSpPr>
          <p:cNvPr id="198663" name="Line 7">
            <a:extLst>
              <a:ext uri="{FF2B5EF4-FFF2-40B4-BE49-F238E27FC236}">
                <a16:creationId xmlns:a16="http://schemas.microsoft.com/office/drawing/2014/main" id="{D996D058-3C96-4240-8398-59F35A1386D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375" y="3789363"/>
            <a:ext cx="652463" cy="512762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>
            <a:extLst>
              <a:ext uri="{FF2B5EF4-FFF2-40B4-BE49-F238E27FC236}">
                <a16:creationId xmlns:a16="http://schemas.microsoft.com/office/drawing/2014/main" id="{F7EA32BE-411D-46BF-AF21-C3DDEBCB2D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C++</a:t>
            </a:r>
            <a:r>
              <a:rPr lang="zh-CN" altLang="en-US"/>
              <a:t>版本</a:t>
            </a:r>
          </a:p>
        </p:txBody>
      </p:sp>
      <p:sp>
        <p:nvSpPr>
          <p:cNvPr id="61443" name="内容占位符 2">
            <a:extLst>
              <a:ext uri="{FF2B5EF4-FFF2-40B4-BE49-F238E27FC236}">
                <a16:creationId xmlns:a16="http://schemas.microsoft.com/office/drawing/2014/main" id="{DF9D913F-63C4-4637-86F1-27A4A7FE43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%{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/****************************************************************************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expr.y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ParserWizard generated YACC file.</a:t>
            </a:r>
          </a:p>
          <a:p>
            <a:pPr marL="0" indent="0">
              <a:buFont typeface="Wingdings" panose="05000000000000000000" pitchFamily="2" charset="2"/>
              <a:buNone/>
            </a:pP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Date: 2016</a:t>
            </a:r>
            <a:r>
              <a:rPr kumimoji="0" lang="zh-CN" altLang="en-US" sz="2000">
                <a:latin typeface="Courier New" panose="02070309020205020404" pitchFamily="49" charset="0"/>
              </a:rPr>
              <a:t>年</a:t>
            </a:r>
            <a:r>
              <a:rPr kumimoji="0" lang="en-US" altLang="zh-CN" sz="2000">
                <a:latin typeface="Courier New" panose="02070309020205020404" pitchFamily="49" charset="0"/>
              </a:rPr>
              <a:t>10</a:t>
            </a:r>
            <a:r>
              <a:rPr kumimoji="0" lang="zh-CN" altLang="en-US" sz="2000">
                <a:latin typeface="Courier New" panose="02070309020205020404" pitchFamily="49" charset="0"/>
              </a:rPr>
              <a:t>月</a:t>
            </a:r>
            <a:r>
              <a:rPr kumimoji="0" lang="en-US" altLang="zh-CN" sz="2000">
                <a:latin typeface="Courier New" panose="02070309020205020404" pitchFamily="49" charset="0"/>
              </a:rPr>
              <a:t>18</a:t>
            </a:r>
            <a:r>
              <a:rPr kumimoji="0" lang="zh-CN" altLang="en-US" sz="2000">
                <a:latin typeface="Courier New" panose="02070309020205020404" pitchFamily="49" charset="0"/>
              </a:rPr>
              <a:t>日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zh-CN" altLang="en-US" sz="2000">
                <a:latin typeface="Courier New" panose="02070309020205020404" pitchFamily="49" charset="0"/>
              </a:rPr>
              <a:t>****************************************************************************</a:t>
            </a:r>
            <a:r>
              <a:rPr kumimoji="0" lang="en-US" altLang="zh-CN" sz="2000">
                <a:latin typeface="Courier New" panose="02070309020205020404" pitchFamily="49" charset="0"/>
              </a:rPr>
              <a:t>/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#include &lt;iostream&gt;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#include &lt;cctype&gt;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using namespace std;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%}</a:t>
            </a:r>
          </a:p>
          <a:p>
            <a:pPr marL="0" indent="0">
              <a:buFont typeface="Wingdings" panose="05000000000000000000" pitchFamily="2" charset="2"/>
              <a:buNone/>
            </a:pP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kumimoji="0" lang="zh-CN" altLang="en-US" sz="20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>
            <a:extLst>
              <a:ext uri="{FF2B5EF4-FFF2-40B4-BE49-F238E27FC236}">
                <a16:creationId xmlns:a16="http://schemas.microsoft.com/office/drawing/2014/main" id="{E7024352-DEEB-4E24-B14B-BBEE4BA9FD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C++</a:t>
            </a:r>
            <a:r>
              <a:rPr lang="zh-CN" altLang="en-US"/>
              <a:t>版本（续）</a:t>
            </a:r>
          </a:p>
        </p:txBody>
      </p:sp>
      <p:sp>
        <p:nvSpPr>
          <p:cNvPr id="62467" name="内容占位符 2">
            <a:extLst>
              <a:ext uri="{FF2B5EF4-FFF2-40B4-BE49-F238E27FC236}">
                <a16:creationId xmlns:a16="http://schemas.microsoft.com/office/drawing/2014/main" id="{9CBB9C3C-50E9-47C5-8C76-C59D446A95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%include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#ifndef YYSTYPE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#define YYSTYPE double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#endif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// parser name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%name expr</a:t>
            </a:r>
          </a:p>
          <a:p>
            <a:pPr marL="0" indent="0">
              <a:buFont typeface="Wingdings" panose="05000000000000000000" pitchFamily="2" charset="2"/>
              <a:buNone/>
            </a:pP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// class definition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	// place any extra class members here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	virtual int yygettoken();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}</a:t>
            </a:r>
            <a:endParaRPr kumimoji="0" lang="zh-CN" altLang="en-US" sz="20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>
            <a:extLst>
              <a:ext uri="{FF2B5EF4-FFF2-40B4-BE49-F238E27FC236}">
                <a16:creationId xmlns:a16="http://schemas.microsoft.com/office/drawing/2014/main" id="{C7596F5D-5450-449B-9E09-AA9C779AE7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C++</a:t>
            </a:r>
            <a:r>
              <a:rPr lang="zh-CN" altLang="en-US"/>
              <a:t>版本（续）</a:t>
            </a:r>
          </a:p>
        </p:txBody>
      </p:sp>
      <p:sp>
        <p:nvSpPr>
          <p:cNvPr id="63491" name="内容占位符 2">
            <a:extLst>
              <a:ext uri="{FF2B5EF4-FFF2-40B4-BE49-F238E27FC236}">
                <a16:creationId xmlns:a16="http://schemas.microsoft.com/office/drawing/2014/main" id="{B553CF35-3410-4BB4-AFFD-694689AA52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// constructor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	// place any extra initialisation code here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// destructor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	// place any extra cleanup code here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// place any declarations here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//%token NUMBER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%left '+' '-'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%left '*' '/'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%right UMINUS</a:t>
            </a:r>
            <a:endParaRPr kumimoji="0" lang="zh-CN" altLang="en-US" sz="20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>
            <a:extLst>
              <a:ext uri="{FF2B5EF4-FFF2-40B4-BE49-F238E27FC236}">
                <a16:creationId xmlns:a16="http://schemas.microsoft.com/office/drawing/2014/main" id="{136EF5D6-ED33-43E8-A513-BCE33B0340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C++</a:t>
            </a:r>
            <a:r>
              <a:rPr lang="zh-CN" altLang="en-US"/>
              <a:t>版本（续）</a:t>
            </a:r>
          </a:p>
        </p:txBody>
      </p:sp>
      <p:sp>
        <p:nvSpPr>
          <p:cNvPr id="64515" name="内容占位符 2">
            <a:extLst>
              <a:ext uri="{FF2B5EF4-FFF2-40B4-BE49-F238E27FC236}">
                <a16:creationId xmlns:a16="http://schemas.microsoft.com/office/drawing/2014/main" id="{6EB86311-9276-41AB-B4B6-CD73A4542C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 dirty="0">
                <a:latin typeface="Courier New" panose="02070309020205020404" pitchFamily="49" charset="0"/>
              </a:rPr>
              <a:t>lines	:	lines expr '\n'	{ </a:t>
            </a:r>
            <a:r>
              <a:rPr kumimoji="0" lang="en-US" altLang="zh-CN" sz="1600" dirty="0" err="1">
                <a:latin typeface="Courier New" panose="02070309020205020404" pitchFamily="49" charset="0"/>
              </a:rPr>
              <a:t>cout</a:t>
            </a:r>
            <a:r>
              <a:rPr kumimoji="0" lang="en-US" altLang="zh-CN" sz="1600" dirty="0">
                <a:latin typeface="Courier New" panose="02070309020205020404" pitchFamily="49" charset="0"/>
              </a:rPr>
              <a:t> &lt;&lt; $2 &lt;&lt; </a:t>
            </a:r>
            <a:r>
              <a:rPr kumimoji="0" lang="en-US" altLang="zh-CN" sz="1600" dirty="0" err="1">
                <a:latin typeface="Courier New" panose="02070309020205020404" pitchFamily="49" charset="0"/>
              </a:rPr>
              <a:t>endl</a:t>
            </a:r>
            <a:r>
              <a:rPr kumimoji="0" lang="en-US" altLang="zh-CN" sz="1600" dirty="0">
                <a:latin typeface="Courier New" panose="02070309020205020404" pitchFamily="49" charset="0"/>
              </a:rPr>
              <a:t>;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 dirty="0">
                <a:latin typeface="Courier New" panose="02070309020205020404" pitchFamily="49" charset="0"/>
              </a:rPr>
              <a:t>	|	lines '\n'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 dirty="0">
                <a:latin typeface="Courier New" panose="02070309020205020404" pitchFamily="49" charset="0"/>
              </a:rPr>
              <a:t>	|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 dirty="0">
                <a:latin typeface="Courier New" panose="02070309020205020404" pitchFamily="49" charset="0"/>
              </a:rPr>
              <a:t>	;</a:t>
            </a:r>
          </a:p>
          <a:p>
            <a:pPr marL="0" indent="0">
              <a:buFont typeface="Wingdings" panose="05000000000000000000" pitchFamily="2" charset="2"/>
              <a:buNone/>
            </a:pPr>
            <a:endParaRPr kumimoji="0" lang="en-US" altLang="zh-CN" sz="1600" dirty="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 dirty="0">
                <a:latin typeface="Courier New" panose="02070309020205020404" pitchFamily="49" charset="0"/>
              </a:rPr>
              <a:t>expr	:	expr '+' expr	{ $$ = $1 + $3;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 dirty="0">
                <a:latin typeface="Courier New" panose="02070309020205020404" pitchFamily="49" charset="0"/>
              </a:rPr>
              <a:t>	|	expr '-' expr	{ $$ = $1 - $3;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 dirty="0">
                <a:latin typeface="Courier New" panose="02070309020205020404" pitchFamily="49" charset="0"/>
              </a:rPr>
              <a:t>	|	expr '*' expr	{ $$ = $1 * $3;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 dirty="0">
                <a:latin typeface="Courier New" panose="02070309020205020404" pitchFamily="49" charset="0"/>
              </a:rPr>
              <a:t>	|	expr '/' expr	{ $$ = $1 / $3;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 dirty="0">
                <a:latin typeface="Courier New" panose="02070309020205020404" pitchFamily="49" charset="0"/>
              </a:rPr>
              <a:t>	|	'(' expr ')'	{ $$ = $2;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 dirty="0">
                <a:latin typeface="Courier New" panose="02070309020205020404" pitchFamily="49" charset="0"/>
              </a:rPr>
              <a:t>	|	'-' expr %</a:t>
            </a:r>
            <a:r>
              <a:rPr kumimoji="0" lang="en-US" altLang="zh-CN" sz="1600" dirty="0" err="1">
                <a:latin typeface="Courier New" panose="02070309020205020404" pitchFamily="49" charset="0"/>
              </a:rPr>
              <a:t>prec</a:t>
            </a:r>
            <a:r>
              <a:rPr kumimoji="0" lang="en-US" altLang="zh-CN" sz="1600" dirty="0">
                <a:latin typeface="Courier New" panose="02070309020205020404" pitchFamily="49" charset="0"/>
              </a:rPr>
              <a:t> UMINUS	{ $$ = -$2;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 dirty="0">
                <a:latin typeface="Courier New" panose="02070309020205020404" pitchFamily="49" charset="0"/>
              </a:rPr>
              <a:t>	|	NUMBER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 dirty="0">
                <a:latin typeface="Courier New" panose="02070309020205020404" pitchFamily="49" charset="0"/>
              </a:rPr>
              <a:t>	;</a:t>
            </a:r>
            <a:endParaRPr kumimoji="0" lang="zh-CN" altLang="en-US" sz="1600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>
            <a:extLst>
              <a:ext uri="{FF2B5EF4-FFF2-40B4-BE49-F238E27FC236}">
                <a16:creationId xmlns:a16="http://schemas.microsoft.com/office/drawing/2014/main" id="{5565D3F4-7EB0-49AC-8E0A-C3307D6EE5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C++</a:t>
            </a:r>
            <a:r>
              <a:rPr lang="zh-CN" altLang="en-US"/>
              <a:t>版本（续）</a:t>
            </a:r>
          </a:p>
        </p:txBody>
      </p:sp>
      <p:sp>
        <p:nvSpPr>
          <p:cNvPr id="65539" name="内容占位符 2">
            <a:extLst>
              <a:ext uri="{FF2B5EF4-FFF2-40B4-BE49-F238E27FC236}">
                <a16:creationId xmlns:a16="http://schemas.microsoft.com/office/drawing/2014/main" id="{678B1017-8DDC-46C4-9E1B-0C6DF9544A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NUMBER	:	'0'				{ $$ = 0.0;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|	'1'				{ $$ = 1.0;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|	'2'				{ $$ = 2.0;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|	'3'				{ $$ = 3.0;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|	'4'				{ $$ = 4.0;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|	'5'				{ $$ = 5.0;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|	'6'				{ $$ = 6.0;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|	'7'				{ $$ = 7.0;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|	'8'				{ $$ = 8.0;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|	'9'				{ $$ = 9.0;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;</a:t>
            </a:r>
          </a:p>
          <a:p>
            <a:pPr marL="0" indent="0">
              <a:buFont typeface="Wingdings" panose="05000000000000000000" pitchFamily="2" charset="2"/>
              <a:buNone/>
            </a:pPr>
            <a:endParaRPr kumimoji="0" lang="en-US" altLang="zh-CN" sz="16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1">
            <a:extLst>
              <a:ext uri="{FF2B5EF4-FFF2-40B4-BE49-F238E27FC236}">
                <a16:creationId xmlns:a16="http://schemas.microsoft.com/office/drawing/2014/main" id="{29B37149-9AF4-40A6-A0FC-39583E1866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C++</a:t>
            </a:r>
            <a:r>
              <a:rPr lang="zh-CN" altLang="en-US"/>
              <a:t>版本（续）</a:t>
            </a:r>
          </a:p>
        </p:txBody>
      </p:sp>
      <p:sp>
        <p:nvSpPr>
          <p:cNvPr id="66563" name="内容占位符 2">
            <a:extLst>
              <a:ext uri="{FF2B5EF4-FFF2-40B4-BE49-F238E27FC236}">
                <a16:creationId xmlns:a16="http://schemas.microsoft.com/office/drawing/2014/main" id="{FF2302D9-0183-4392-A6BD-CC100D9BE2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int YYPARSERNAME::yygettoken()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// place your token retrieving code here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return getchar();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endParaRPr kumimoji="0" lang="en-US" altLang="zh-CN" sz="16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int main(void)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int n = 1;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expr parser;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if (parser.yycreate())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	n = parser.yyparse();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return n;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68493339-263D-4B90-91F9-8586F77ABD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  </a:t>
            </a:r>
            <a:r>
              <a:rPr lang="zh-CN" altLang="en-US"/>
              <a:t>语法分析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845151A8-75CC-460C-B311-6F697CD203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确定一个单词串是否可由一个文法生成</a:t>
            </a:r>
            <a:r>
              <a:rPr lang="en-US" altLang="zh-CN" sz="2400" dirty="0"/>
              <a:t>——</a:t>
            </a:r>
            <a:r>
              <a:rPr lang="zh-CN" altLang="en-US" sz="2400" dirty="0"/>
              <a:t>找到一个推导过程或证明任何推导过程都得不到此单词串</a:t>
            </a:r>
          </a:p>
          <a:p>
            <a:pPr eaLnBrk="1" hangingPunct="1"/>
            <a:r>
              <a:rPr lang="zh-CN" altLang="en-US" sz="2400" dirty="0"/>
              <a:t>构造语法分析树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sz="2400" dirty="0"/>
              <a:t>时间复杂度</a:t>
            </a:r>
            <a:r>
              <a:rPr lang="en-US" altLang="zh-CN" sz="2400" dirty="0"/>
              <a:t>O(n</a:t>
            </a:r>
            <a:r>
              <a:rPr lang="en-US" altLang="zh-CN" sz="2400" baseline="30000" dirty="0"/>
              <a:t>3</a:t>
            </a:r>
            <a:r>
              <a:rPr lang="en-US" altLang="zh-CN" sz="2400" dirty="0"/>
              <a:t>)</a:t>
            </a:r>
            <a:r>
              <a:rPr lang="en-US" altLang="zh-CN" sz="2400" dirty="0">
                <a:sym typeface="Wingdings" panose="05000000000000000000" pitchFamily="2" charset="2"/>
              </a:rPr>
              <a:t>O(n)</a:t>
            </a:r>
          </a:p>
          <a:p>
            <a:pPr eaLnBrk="1" hangingPunct="1"/>
            <a:r>
              <a:rPr lang="zh-CN" altLang="en-US" sz="2400" dirty="0">
                <a:sym typeface="Wingdings" panose="05000000000000000000" pitchFamily="2" charset="2"/>
              </a:rPr>
              <a:t>自顶向下分析方法，</a:t>
            </a:r>
            <a:r>
              <a:rPr lang="en-US" altLang="zh-CN" sz="2400" dirty="0">
                <a:solidFill>
                  <a:srgbClr val="FF3300"/>
                </a:solidFill>
                <a:sym typeface="Wingdings" panose="05000000000000000000" pitchFamily="2" charset="2"/>
              </a:rPr>
              <a:t>top-down</a:t>
            </a:r>
            <a:br>
              <a:rPr lang="en-US" altLang="zh-CN" sz="2400" dirty="0">
                <a:sym typeface="Wingdings" panose="05000000000000000000" pitchFamily="2" charset="2"/>
              </a:rPr>
            </a:br>
            <a:r>
              <a:rPr lang="zh-CN" altLang="en-US" sz="2400" dirty="0">
                <a:sym typeface="Wingdings" panose="05000000000000000000" pitchFamily="2" charset="2"/>
              </a:rPr>
              <a:t>语法树构造</a:t>
            </a:r>
            <a:r>
              <a:rPr lang="en-US" altLang="zh-CN" sz="2400" dirty="0">
                <a:sym typeface="Wingdings" panose="05000000000000000000" pitchFamily="2" charset="2"/>
              </a:rPr>
              <a:t>——</a:t>
            </a:r>
            <a:r>
              <a:rPr lang="zh-CN" altLang="en-US" sz="2400" dirty="0">
                <a:sym typeface="Wingdings" panose="05000000000000000000" pitchFamily="2" charset="2"/>
              </a:rPr>
              <a:t>由根向叶</a:t>
            </a:r>
            <a:br>
              <a:rPr lang="zh-CN" altLang="en-US" sz="2400" dirty="0">
                <a:sym typeface="Wingdings" panose="05000000000000000000" pitchFamily="2" charset="2"/>
              </a:rPr>
            </a:br>
            <a:r>
              <a:rPr lang="zh-CN" altLang="en-US" sz="2400" dirty="0">
                <a:sym typeface="Wingdings" panose="05000000000000000000" pitchFamily="2" charset="2"/>
              </a:rPr>
              <a:t>适合手工编写语法分析器</a:t>
            </a:r>
          </a:p>
          <a:p>
            <a:pPr eaLnBrk="1" hangingPunct="1"/>
            <a:r>
              <a:rPr lang="zh-CN" altLang="en-US" sz="2400" dirty="0">
                <a:sym typeface="Wingdings" panose="05000000000000000000" pitchFamily="2" charset="2"/>
              </a:rPr>
              <a:t>自底向上分析方法，</a:t>
            </a:r>
            <a:r>
              <a:rPr lang="en-US" altLang="zh-CN" sz="2400" dirty="0">
                <a:solidFill>
                  <a:srgbClr val="FF3300"/>
                </a:solidFill>
                <a:sym typeface="Wingdings" panose="05000000000000000000" pitchFamily="2" charset="2"/>
              </a:rPr>
              <a:t>bottom-up</a:t>
            </a:r>
            <a:br>
              <a:rPr lang="en-US" altLang="zh-CN" sz="2400" dirty="0">
                <a:sym typeface="Wingdings" panose="05000000000000000000" pitchFamily="2" charset="2"/>
              </a:rPr>
            </a:br>
            <a:r>
              <a:rPr lang="zh-CN" altLang="en-US" sz="2400" dirty="0">
                <a:sym typeface="Wingdings" panose="05000000000000000000" pitchFamily="2" charset="2"/>
              </a:rPr>
              <a:t>语法树构造</a:t>
            </a:r>
            <a:r>
              <a:rPr lang="en-US" altLang="zh-CN" sz="2400" dirty="0">
                <a:sym typeface="Wingdings" panose="05000000000000000000" pitchFamily="2" charset="2"/>
              </a:rPr>
              <a:t>——</a:t>
            </a:r>
            <a:r>
              <a:rPr lang="zh-CN" altLang="en-US" sz="2400" dirty="0">
                <a:sym typeface="Wingdings" panose="05000000000000000000" pitchFamily="2" charset="2"/>
              </a:rPr>
              <a:t>由叶向根</a:t>
            </a:r>
            <a:br>
              <a:rPr lang="zh-CN" altLang="en-US" sz="2400" dirty="0">
                <a:sym typeface="Wingdings" panose="05000000000000000000" pitchFamily="2" charset="2"/>
              </a:rPr>
            </a:br>
            <a:r>
              <a:rPr lang="zh-CN" altLang="en-US" sz="2400" dirty="0">
                <a:sym typeface="Wingdings" panose="05000000000000000000" pitchFamily="2" charset="2"/>
              </a:rPr>
              <a:t>适用更多文法，自动生成工具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6B7CF0BB-CFAD-43D3-AA39-FBB14AC460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2.4.1  </a:t>
            </a:r>
            <a:r>
              <a:rPr lang="zh-CN" altLang="en-US"/>
              <a:t>自顶向下分析方法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D45AEF6D-0C93-4AAE-9B78-979E1D4AD3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zh-CN" altLang="en-US" sz="2800" dirty="0"/>
              <a:t>从根节点（标记为开始符号）开始构造语法树，不断重复以下步骤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/>
              <a:t>对标记为</a:t>
            </a:r>
            <a:r>
              <a:rPr lang="en-US" altLang="zh-CN" sz="2800" dirty="0"/>
              <a:t>NT A</a:t>
            </a:r>
            <a:r>
              <a:rPr lang="zh-CN" altLang="en-US" sz="2800" dirty="0"/>
              <a:t>的节点</a:t>
            </a:r>
            <a:r>
              <a:rPr lang="en-US" altLang="zh-CN" sz="2800" dirty="0"/>
              <a:t>n </a:t>
            </a:r>
            <a:br>
              <a:rPr lang="en-US" altLang="zh-CN" sz="2800" dirty="0"/>
            </a:br>
            <a:r>
              <a:rPr lang="zh-CN" altLang="en-US" sz="2800" dirty="0"/>
              <a:t>选择一个关于</a:t>
            </a:r>
            <a:r>
              <a:rPr lang="en-US" altLang="zh-CN" sz="2800" dirty="0"/>
              <a:t>A</a:t>
            </a:r>
            <a:r>
              <a:rPr lang="zh-CN" altLang="en-US" sz="2800" dirty="0"/>
              <a:t>的产生式</a:t>
            </a:r>
            <a:br>
              <a:rPr lang="zh-CN" altLang="en-US" sz="2800" dirty="0"/>
            </a:br>
            <a:r>
              <a:rPr lang="zh-CN" altLang="en-US" sz="2800" dirty="0"/>
              <a:t>利用产生式右部构造</a:t>
            </a:r>
            <a:r>
              <a:rPr lang="en-US" altLang="zh-CN" sz="2800" dirty="0"/>
              <a:t>n</a:t>
            </a:r>
            <a:r>
              <a:rPr lang="zh-CN" altLang="en-US" sz="2800" dirty="0"/>
              <a:t>的孩子节点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/>
              <a:t>选择下一个没有扩展（构造孩子节点）的节点，对它执行</a:t>
            </a:r>
            <a:r>
              <a:rPr lang="en-US" altLang="zh-CN" sz="2800" dirty="0"/>
              <a:t>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24836256-9E20-4928-ACD3-DB8211FE3B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例：</a:t>
            </a:r>
            <a:r>
              <a:rPr lang="en-US" altLang="zh-CN"/>
              <a:t>Pascal</a:t>
            </a:r>
            <a:r>
              <a:rPr lang="zh-CN" altLang="en-US"/>
              <a:t>的类型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ABE8B077-2761-49AF-A131-160AF569EF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i="1" dirty="0"/>
              <a:t>type </a:t>
            </a:r>
            <a:r>
              <a:rPr kumimoji="0" lang="en-US" altLang="zh-CN" sz="2800" dirty="0">
                <a:sym typeface="Symbol" panose="05050102010706020507" pitchFamily="18" charset="2"/>
              </a:rPr>
              <a:t> </a:t>
            </a:r>
            <a:r>
              <a:rPr kumimoji="0" lang="en-US" altLang="zh-CN" sz="2800" i="1" dirty="0">
                <a:sym typeface="Symbol" panose="05050102010706020507" pitchFamily="18" charset="2"/>
              </a:rPr>
              <a:t>simple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i="1" dirty="0">
                <a:sym typeface="Symbol" panose="05050102010706020507" pitchFamily="18" charset="2"/>
              </a:rPr>
              <a:t>           |  </a:t>
            </a:r>
            <a:r>
              <a:rPr kumimoji="0" lang="en-US" altLang="zh-CN" sz="2800" b="1" dirty="0">
                <a:sym typeface="Symbol" panose="05050102010706020507" pitchFamily="18" charset="2"/>
              </a:rPr>
              <a:t> id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 dirty="0">
                <a:sym typeface="Symbol" panose="05050102010706020507" pitchFamily="18" charset="2"/>
              </a:rPr>
              <a:t>           </a:t>
            </a:r>
            <a:r>
              <a:rPr kumimoji="0" lang="en-US" altLang="zh-CN" sz="2800" dirty="0">
                <a:sym typeface="Symbol" panose="05050102010706020507" pitchFamily="18" charset="2"/>
              </a:rPr>
              <a:t>| </a:t>
            </a:r>
            <a:r>
              <a:rPr kumimoji="0" lang="en-US" altLang="zh-CN" sz="2800" b="1" dirty="0">
                <a:sym typeface="Symbol" panose="05050102010706020507" pitchFamily="18" charset="2"/>
              </a:rPr>
              <a:t>array</a:t>
            </a:r>
            <a:r>
              <a:rPr kumimoji="0" lang="en-US" altLang="zh-CN" sz="2800" dirty="0">
                <a:sym typeface="Symbol" panose="05050102010706020507" pitchFamily="18" charset="2"/>
              </a:rPr>
              <a:t> [ </a:t>
            </a:r>
            <a:r>
              <a:rPr kumimoji="0" lang="en-US" altLang="zh-CN" sz="2800" i="1" dirty="0">
                <a:sym typeface="Symbol" panose="05050102010706020507" pitchFamily="18" charset="2"/>
              </a:rPr>
              <a:t>simple</a:t>
            </a:r>
            <a:r>
              <a:rPr kumimoji="0" lang="en-US" altLang="zh-CN" sz="2800" dirty="0">
                <a:sym typeface="Symbol" panose="05050102010706020507" pitchFamily="18" charset="2"/>
              </a:rPr>
              <a:t> ] </a:t>
            </a:r>
            <a:r>
              <a:rPr kumimoji="0" lang="en-US" altLang="zh-CN" sz="2800" b="1" dirty="0">
                <a:sym typeface="Symbol" panose="05050102010706020507" pitchFamily="18" charset="2"/>
              </a:rPr>
              <a:t>of</a:t>
            </a:r>
            <a:r>
              <a:rPr kumimoji="0" lang="en-US" altLang="zh-CN" sz="2800" dirty="0">
                <a:sym typeface="Symbol" panose="05050102010706020507" pitchFamily="18" charset="2"/>
              </a:rPr>
              <a:t>  </a:t>
            </a:r>
            <a:r>
              <a:rPr kumimoji="0" lang="en-US" altLang="zh-CN" sz="2800" i="1" dirty="0">
                <a:sym typeface="Symbol" panose="05050102010706020507" pitchFamily="18" charset="2"/>
              </a:rPr>
              <a:t>type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i="1" dirty="0">
                <a:sym typeface="Symbol" panose="05050102010706020507" pitchFamily="18" charset="2"/>
              </a:rPr>
              <a:t>simple </a:t>
            </a:r>
            <a:r>
              <a:rPr kumimoji="0" lang="en-US" altLang="zh-CN" sz="2800" dirty="0">
                <a:sym typeface="Symbol" panose="05050102010706020507" pitchFamily="18" charset="2"/>
              </a:rPr>
              <a:t> </a:t>
            </a:r>
            <a:r>
              <a:rPr kumimoji="0" lang="en-US" altLang="zh-CN" sz="2800" b="1" dirty="0">
                <a:sym typeface="Symbol" panose="05050102010706020507" pitchFamily="18" charset="2"/>
              </a:rPr>
              <a:t>integer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 dirty="0">
                <a:sym typeface="Symbol" panose="05050102010706020507" pitchFamily="18" charset="2"/>
              </a:rPr>
              <a:t>            </a:t>
            </a:r>
            <a:r>
              <a:rPr kumimoji="0" lang="en-US" altLang="zh-CN" sz="2800" dirty="0">
                <a:sym typeface="Symbol" panose="05050102010706020507" pitchFamily="18" charset="2"/>
              </a:rPr>
              <a:t>|</a:t>
            </a:r>
            <a:r>
              <a:rPr kumimoji="0" lang="en-US" altLang="zh-CN" sz="2800" b="1" dirty="0">
                <a:sym typeface="Symbol" panose="05050102010706020507" pitchFamily="18" charset="2"/>
              </a:rPr>
              <a:t>    char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 dirty="0">
                <a:sym typeface="Symbol" panose="05050102010706020507" pitchFamily="18" charset="2"/>
              </a:rPr>
              <a:t>            </a:t>
            </a:r>
            <a:r>
              <a:rPr kumimoji="0" lang="en-US" altLang="zh-CN" sz="2800" dirty="0">
                <a:sym typeface="Symbol" panose="05050102010706020507" pitchFamily="18" charset="2"/>
              </a:rPr>
              <a:t>| </a:t>
            </a:r>
            <a:r>
              <a:rPr kumimoji="0" lang="en-US" altLang="zh-CN" sz="2800" b="1" dirty="0">
                <a:sym typeface="Symbol" panose="05050102010706020507" pitchFamily="18" charset="2"/>
              </a:rPr>
              <a:t>   num </a:t>
            </a:r>
            <a:r>
              <a:rPr kumimoji="0" lang="en-US" altLang="zh-CN" sz="2800" b="1" dirty="0" err="1">
                <a:sym typeface="Symbol" panose="05050102010706020507" pitchFamily="18" charset="2"/>
              </a:rPr>
              <a:t>dotdot</a:t>
            </a:r>
            <a:r>
              <a:rPr kumimoji="0" lang="en-US" altLang="zh-CN" sz="2800" b="1" dirty="0">
                <a:sym typeface="Symbol" panose="05050102010706020507" pitchFamily="18" charset="2"/>
              </a:rPr>
              <a:t> num</a:t>
            </a:r>
            <a:endParaRPr lang="en-US" altLang="zh-CN" sz="2800" dirty="0"/>
          </a:p>
          <a:p>
            <a:pPr eaLnBrk="1" hangingPunct="1"/>
            <a:r>
              <a:rPr lang="en-US" altLang="zh-CN" sz="2800" dirty="0" err="1"/>
              <a:t>dotdot</a:t>
            </a:r>
            <a:r>
              <a:rPr lang="zh-CN" altLang="en-US" sz="2800" dirty="0"/>
              <a:t>，</a:t>
            </a:r>
            <a:r>
              <a:rPr lang="en-US" altLang="zh-CN" sz="2800" dirty="0">
                <a:latin typeface="Tahoma" panose="020B0604030504040204" pitchFamily="34" charset="0"/>
              </a:rPr>
              <a:t>”</a:t>
            </a:r>
            <a:r>
              <a:rPr lang="en-US" altLang="zh-CN" sz="2800" dirty="0"/>
              <a:t>..</a:t>
            </a:r>
            <a:r>
              <a:rPr lang="en-US" altLang="zh-CN" sz="2800" dirty="0">
                <a:latin typeface="Tahoma" panose="020B0604030504040204" pitchFamily="34" charset="0"/>
              </a:rPr>
              <a:t>”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65160954-80CF-4EB9-BDF2-8F4122C654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语法分析树构造过程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588C8024-D7C2-4597-B5A7-33EB19CC30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609600"/>
          </a:xfrm>
        </p:spPr>
        <p:txBody>
          <a:bodyPr/>
          <a:lstStyle/>
          <a:p>
            <a:pPr eaLnBrk="1" hangingPunct="1"/>
            <a:r>
              <a:rPr lang="zh-CN" altLang="en-US"/>
              <a:t>输入：</a:t>
            </a:r>
            <a:r>
              <a:rPr kumimoji="0" lang="en-US" altLang="zh-CN" sz="2800" b="1"/>
              <a:t>array </a:t>
            </a:r>
            <a:r>
              <a:rPr kumimoji="0" lang="en-US" altLang="zh-CN" sz="2800"/>
              <a:t>[ </a:t>
            </a:r>
            <a:r>
              <a:rPr kumimoji="0" lang="en-US" altLang="zh-CN" sz="2800" b="1"/>
              <a:t>num dotdot num </a:t>
            </a:r>
            <a:r>
              <a:rPr kumimoji="0" lang="en-US" altLang="zh-CN" sz="2800"/>
              <a:t>] </a:t>
            </a:r>
            <a:r>
              <a:rPr kumimoji="0" lang="en-US" altLang="zh-CN" sz="2800" b="1"/>
              <a:t>of integer</a:t>
            </a:r>
          </a:p>
        </p:txBody>
      </p:sp>
      <p:sp>
        <p:nvSpPr>
          <p:cNvPr id="70660" name="Rectangle 4">
            <a:extLst>
              <a:ext uri="{FF2B5EF4-FFF2-40B4-BE49-F238E27FC236}">
                <a16:creationId xmlns:a16="http://schemas.microsoft.com/office/drawing/2014/main" id="{EB32AC33-B073-4030-91AE-21B7D7501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2057400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i="1"/>
              <a:t>type</a:t>
            </a:r>
          </a:p>
        </p:txBody>
      </p:sp>
      <p:sp>
        <p:nvSpPr>
          <p:cNvPr id="70661" name="Rectangle 5">
            <a:extLst>
              <a:ext uri="{FF2B5EF4-FFF2-40B4-BE49-F238E27FC236}">
                <a16:creationId xmlns:a16="http://schemas.microsoft.com/office/drawing/2014/main" id="{745C642E-E28E-4EE9-A8AC-A46F33867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057400"/>
            <a:ext cx="7620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latin typeface="Tahoma" panose="020B0604030504040204" pitchFamily="34" charset="0"/>
              </a:rPr>
              <a:t>(a)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latin typeface="Tahoma" panose="020B0604030504040204" pitchFamily="34" charset="0"/>
              </a:rPr>
              <a:t>(b)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kumimoji="0" lang="en-US" altLang="zh-CN"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kumimoji="0" lang="en-US" altLang="zh-CN" sz="2800" b="1"/>
          </a:p>
        </p:txBody>
      </p:sp>
      <p:grpSp>
        <p:nvGrpSpPr>
          <p:cNvPr id="70662" name="Group 35">
            <a:extLst>
              <a:ext uri="{FF2B5EF4-FFF2-40B4-BE49-F238E27FC236}">
                <a16:creationId xmlns:a16="http://schemas.microsoft.com/office/drawing/2014/main" id="{76B5FAF5-A66E-40BF-A67C-47FDD4EF3D25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2590800"/>
            <a:ext cx="6324600" cy="1568450"/>
            <a:chOff x="1584" y="1920"/>
            <a:chExt cx="2256" cy="431"/>
          </a:xfrm>
        </p:grpSpPr>
        <p:sp>
          <p:nvSpPr>
            <p:cNvPr id="70663" name="Text Box 22">
              <a:extLst>
                <a:ext uri="{FF2B5EF4-FFF2-40B4-BE49-F238E27FC236}">
                  <a16:creationId xmlns:a16="http://schemas.microsoft.com/office/drawing/2014/main" id="{E2EF7E10-0373-44E8-9240-A72EAD0EF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/>
                <a:t>type</a:t>
              </a:r>
            </a:p>
          </p:txBody>
        </p:sp>
        <p:sp>
          <p:nvSpPr>
            <p:cNvPr id="70664" name="Text Box 23">
              <a:extLst>
                <a:ext uri="{FF2B5EF4-FFF2-40B4-BE49-F238E27FC236}">
                  <a16:creationId xmlns:a16="http://schemas.microsoft.com/office/drawing/2014/main" id="{D503C333-0F25-4CDF-AD7F-72C0E65155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208"/>
              <a:ext cx="720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/>
                <a:t>]</a:t>
              </a:r>
            </a:p>
          </p:txBody>
        </p:sp>
        <p:sp>
          <p:nvSpPr>
            <p:cNvPr id="70665" name="Text Box 24">
              <a:extLst>
                <a:ext uri="{FF2B5EF4-FFF2-40B4-BE49-F238E27FC236}">
                  <a16:creationId xmlns:a16="http://schemas.microsoft.com/office/drawing/2014/main" id="{1DE3484C-6CF9-42CC-A3E5-FC2EF6CFB1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208"/>
              <a:ext cx="720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/>
                <a:t>simple</a:t>
              </a:r>
            </a:p>
          </p:txBody>
        </p:sp>
        <p:sp>
          <p:nvSpPr>
            <p:cNvPr id="70666" name="Text Box 25">
              <a:extLst>
                <a:ext uri="{FF2B5EF4-FFF2-40B4-BE49-F238E27FC236}">
                  <a16:creationId xmlns:a16="http://schemas.microsoft.com/office/drawing/2014/main" id="{DBBE79E4-EFC3-4B40-9FEE-2876481144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208"/>
              <a:ext cx="720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of</a:t>
              </a:r>
            </a:p>
          </p:txBody>
        </p:sp>
        <p:sp>
          <p:nvSpPr>
            <p:cNvPr id="70667" name="Text Box 26">
              <a:extLst>
                <a:ext uri="{FF2B5EF4-FFF2-40B4-BE49-F238E27FC236}">
                  <a16:creationId xmlns:a16="http://schemas.microsoft.com/office/drawing/2014/main" id="{A591E12D-381A-4AA7-BA49-000351E64E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2208"/>
              <a:ext cx="720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/>
                <a:t>[</a:t>
              </a:r>
            </a:p>
          </p:txBody>
        </p:sp>
        <p:sp>
          <p:nvSpPr>
            <p:cNvPr id="70668" name="Text Box 27">
              <a:extLst>
                <a:ext uri="{FF2B5EF4-FFF2-40B4-BE49-F238E27FC236}">
                  <a16:creationId xmlns:a16="http://schemas.microsoft.com/office/drawing/2014/main" id="{8EC70930-17CA-4C97-897A-1F3C04896D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2208"/>
              <a:ext cx="720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array</a:t>
              </a:r>
            </a:p>
          </p:txBody>
        </p:sp>
        <p:sp>
          <p:nvSpPr>
            <p:cNvPr id="70669" name="Text Box 28">
              <a:extLst>
                <a:ext uri="{FF2B5EF4-FFF2-40B4-BE49-F238E27FC236}">
                  <a16:creationId xmlns:a16="http://schemas.microsoft.com/office/drawing/2014/main" id="{41C2E17D-BDF6-46FF-A520-AB7AFE1E17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920"/>
              <a:ext cx="720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/>
                <a:t>type</a:t>
              </a:r>
            </a:p>
          </p:txBody>
        </p:sp>
        <p:sp>
          <p:nvSpPr>
            <p:cNvPr id="70670" name="Line 29">
              <a:extLst>
                <a:ext uri="{FF2B5EF4-FFF2-40B4-BE49-F238E27FC236}">
                  <a16:creationId xmlns:a16="http://schemas.microsoft.com/office/drawing/2014/main" id="{1268FC3C-E23C-41E6-B093-2C4C322E49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8" y="2112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1" name="Line 30">
              <a:extLst>
                <a:ext uri="{FF2B5EF4-FFF2-40B4-BE49-F238E27FC236}">
                  <a16:creationId xmlns:a16="http://schemas.microsoft.com/office/drawing/2014/main" id="{0E4B6C0A-1614-427A-88D3-8F8A7CBEBF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112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2" name="Line 31">
              <a:extLst>
                <a:ext uri="{FF2B5EF4-FFF2-40B4-BE49-F238E27FC236}">
                  <a16:creationId xmlns:a16="http://schemas.microsoft.com/office/drawing/2014/main" id="{4193A4F6-24BF-40A1-A3F0-EB55521BBD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064"/>
              <a:ext cx="43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3" name="Line 32">
              <a:extLst>
                <a:ext uri="{FF2B5EF4-FFF2-40B4-BE49-F238E27FC236}">
                  <a16:creationId xmlns:a16="http://schemas.microsoft.com/office/drawing/2014/main" id="{C6E960C7-5A8A-441D-9CA0-1608CA6A8D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016"/>
              <a:ext cx="76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4" name="Line 33">
              <a:extLst>
                <a:ext uri="{FF2B5EF4-FFF2-40B4-BE49-F238E27FC236}">
                  <a16:creationId xmlns:a16="http://schemas.microsoft.com/office/drawing/2014/main" id="{DDA99297-AEAF-43A9-AE2B-0F7FA01B45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4" y="2064"/>
              <a:ext cx="67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5" name="Line 34">
              <a:extLst>
                <a:ext uri="{FF2B5EF4-FFF2-40B4-BE49-F238E27FC236}">
                  <a16:creationId xmlns:a16="http://schemas.microsoft.com/office/drawing/2014/main" id="{1184EE50-C3CF-4594-A268-AC8FE5B5BC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0" y="2112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F9711DB2-7681-4E71-BEE6-FB726E1616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语法分析树构造过程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A483534E-12B9-489C-89BC-4C04489B23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609600"/>
          </a:xfrm>
        </p:spPr>
        <p:txBody>
          <a:bodyPr/>
          <a:lstStyle/>
          <a:p>
            <a:pPr eaLnBrk="1" hangingPunct="1"/>
            <a:r>
              <a:rPr lang="zh-CN" altLang="en-US"/>
              <a:t>输入：</a:t>
            </a:r>
            <a:r>
              <a:rPr kumimoji="0" lang="en-US" altLang="zh-CN" sz="2800" b="1"/>
              <a:t>array </a:t>
            </a:r>
            <a:r>
              <a:rPr kumimoji="0" lang="en-US" altLang="zh-CN" sz="2800"/>
              <a:t>[ </a:t>
            </a:r>
            <a:r>
              <a:rPr kumimoji="0" lang="en-US" altLang="zh-CN" sz="2800" b="1"/>
              <a:t>num dotdot num </a:t>
            </a:r>
            <a:r>
              <a:rPr kumimoji="0" lang="en-US" altLang="zh-CN" sz="2800"/>
              <a:t>] </a:t>
            </a:r>
            <a:r>
              <a:rPr kumimoji="0" lang="en-US" altLang="zh-CN" sz="2800" b="1"/>
              <a:t>of integer</a:t>
            </a:r>
          </a:p>
        </p:txBody>
      </p:sp>
      <p:sp>
        <p:nvSpPr>
          <p:cNvPr id="71684" name="Rectangle 5">
            <a:extLst>
              <a:ext uri="{FF2B5EF4-FFF2-40B4-BE49-F238E27FC236}">
                <a16:creationId xmlns:a16="http://schemas.microsoft.com/office/drawing/2014/main" id="{7DE0735A-4820-47C4-A6C4-97A357561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057400"/>
            <a:ext cx="7620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latin typeface="Tahoma" panose="020B0604030504040204" pitchFamily="34" charset="0"/>
              </a:rPr>
              <a:t>(c)</a:t>
            </a:r>
            <a:endParaRPr kumimoji="0" lang="en-US" altLang="zh-CN" sz="2800" b="1"/>
          </a:p>
        </p:txBody>
      </p:sp>
      <p:grpSp>
        <p:nvGrpSpPr>
          <p:cNvPr id="71685" name="Group 20">
            <a:extLst>
              <a:ext uri="{FF2B5EF4-FFF2-40B4-BE49-F238E27FC236}">
                <a16:creationId xmlns:a16="http://schemas.microsoft.com/office/drawing/2014/main" id="{142E9B1F-FE70-4C8E-9E9E-F8D0151C8538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992313"/>
            <a:ext cx="6400800" cy="2198687"/>
            <a:chOff x="1392" y="2784"/>
            <a:chExt cx="2256" cy="817"/>
          </a:xfrm>
        </p:grpSpPr>
        <p:sp>
          <p:nvSpPr>
            <p:cNvPr id="71686" name="Text Box 21">
              <a:extLst>
                <a:ext uri="{FF2B5EF4-FFF2-40B4-BE49-F238E27FC236}">
                  <a16:creationId xmlns:a16="http://schemas.microsoft.com/office/drawing/2014/main" id="{9B0A7380-1BBB-45C0-8F59-054E76BFC8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072"/>
              <a:ext cx="336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/>
                <a:t>type</a:t>
              </a:r>
            </a:p>
          </p:txBody>
        </p:sp>
        <p:sp>
          <p:nvSpPr>
            <p:cNvPr id="71687" name="Text Box 22">
              <a:extLst>
                <a:ext uri="{FF2B5EF4-FFF2-40B4-BE49-F238E27FC236}">
                  <a16:creationId xmlns:a16="http://schemas.microsoft.com/office/drawing/2014/main" id="{432BDC96-6469-4A4B-AD1C-1B6F932516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072"/>
              <a:ext cx="720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/>
                <a:t>]</a:t>
              </a:r>
            </a:p>
          </p:txBody>
        </p:sp>
        <p:sp>
          <p:nvSpPr>
            <p:cNvPr id="71688" name="Text Box 23">
              <a:extLst>
                <a:ext uri="{FF2B5EF4-FFF2-40B4-BE49-F238E27FC236}">
                  <a16:creationId xmlns:a16="http://schemas.microsoft.com/office/drawing/2014/main" id="{B457EA32-539E-4BF1-AEEA-9A944A24D2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3072"/>
              <a:ext cx="720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/>
                <a:t>simple</a:t>
              </a:r>
            </a:p>
          </p:txBody>
        </p:sp>
        <p:sp>
          <p:nvSpPr>
            <p:cNvPr id="71689" name="Text Box 24">
              <a:extLst>
                <a:ext uri="{FF2B5EF4-FFF2-40B4-BE49-F238E27FC236}">
                  <a16:creationId xmlns:a16="http://schemas.microsoft.com/office/drawing/2014/main" id="{C3AEAC4C-4224-4CBD-860E-4E7860D330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072"/>
              <a:ext cx="720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of</a:t>
              </a:r>
            </a:p>
          </p:txBody>
        </p:sp>
        <p:sp>
          <p:nvSpPr>
            <p:cNvPr id="71690" name="Text Box 25">
              <a:extLst>
                <a:ext uri="{FF2B5EF4-FFF2-40B4-BE49-F238E27FC236}">
                  <a16:creationId xmlns:a16="http://schemas.microsoft.com/office/drawing/2014/main" id="{EB3A3511-43A2-49B0-9F17-56DB4457CC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3072"/>
              <a:ext cx="720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/>
                <a:t>[</a:t>
              </a:r>
            </a:p>
          </p:txBody>
        </p:sp>
        <p:sp>
          <p:nvSpPr>
            <p:cNvPr id="71691" name="Text Box 26">
              <a:extLst>
                <a:ext uri="{FF2B5EF4-FFF2-40B4-BE49-F238E27FC236}">
                  <a16:creationId xmlns:a16="http://schemas.microsoft.com/office/drawing/2014/main" id="{6FBAD6D9-F3B6-48B8-B08C-6EF6CA4BAE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3072"/>
              <a:ext cx="720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array</a:t>
              </a:r>
            </a:p>
          </p:txBody>
        </p:sp>
        <p:sp>
          <p:nvSpPr>
            <p:cNvPr id="71692" name="Text Box 27">
              <a:extLst>
                <a:ext uri="{FF2B5EF4-FFF2-40B4-BE49-F238E27FC236}">
                  <a16:creationId xmlns:a16="http://schemas.microsoft.com/office/drawing/2014/main" id="{E1EFE86C-8046-4F7A-8099-2BECC97C5F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2784"/>
              <a:ext cx="720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/>
                <a:t>type</a:t>
              </a:r>
            </a:p>
          </p:txBody>
        </p:sp>
        <p:sp>
          <p:nvSpPr>
            <p:cNvPr id="71693" name="Line 28">
              <a:extLst>
                <a:ext uri="{FF2B5EF4-FFF2-40B4-BE49-F238E27FC236}">
                  <a16:creationId xmlns:a16="http://schemas.microsoft.com/office/drawing/2014/main" id="{38A44117-B0F1-4553-BDAB-43DF452305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56" y="2976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4" name="Line 29">
              <a:extLst>
                <a:ext uri="{FF2B5EF4-FFF2-40B4-BE49-F238E27FC236}">
                  <a16:creationId xmlns:a16="http://schemas.microsoft.com/office/drawing/2014/main" id="{17066C77-171B-4173-A68E-BF1793B9AD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97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5" name="Line 30">
              <a:extLst>
                <a:ext uri="{FF2B5EF4-FFF2-40B4-BE49-F238E27FC236}">
                  <a16:creationId xmlns:a16="http://schemas.microsoft.com/office/drawing/2014/main" id="{90726089-A7BA-45F3-878E-D4583F3313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928"/>
              <a:ext cx="43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6" name="Line 31">
              <a:extLst>
                <a:ext uri="{FF2B5EF4-FFF2-40B4-BE49-F238E27FC236}">
                  <a16:creationId xmlns:a16="http://schemas.microsoft.com/office/drawing/2014/main" id="{3C021A23-9D76-4853-BF70-6BE9A811AB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880"/>
              <a:ext cx="76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7" name="Line 32">
              <a:extLst>
                <a:ext uri="{FF2B5EF4-FFF2-40B4-BE49-F238E27FC236}">
                  <a16:creationId xmlns:a16="http://schemas.microsoft.com/office/drawing/2014/main" id="{D2894267-358D-49CD-9F99-6E01CA4563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32" y="2928"/>
              <a:ext cx="67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8" name="Line 33">
              <a:extLst>
                <a:ext uri="{FF2B5EF4-FFF2-40B4-BE49-F238E27FC236}">
                  <a16:creationId xmlns:a16="http://schemas.microsoft.com/office/drawing/2014/main" id="{54D65F74-57DF-4992-9703-018074AE2D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8" y="2976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9" name="Text Box 34">
              <a:extLst>
                <a:ext uri="{FF2B5EF4-FFF2-40B4-BE49-F238E27FC236}">
                  <a16:creationId xmlns:a16="http://schemas.microsoft.com/office/drawing/2014/main" id="{D88ABE00-BF2D-4517-938C-3584FE8766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3408"/>
              <a:ext cx="672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num</a:t>
              </a:r>
            </a:p>
          </p:txBody>
        </p:sp>
        <p:sp>
          <p:nvSpPr>
            <p:cNvPr id="71700" name="Text Box 35">
              <a:extLst>
                <a:ext uri="{FF2B5EF4-FFF2-40B4-BE49-F238E27FC236}">
                  <a16:creationId xmlns:a16="http://schemas.microsoft.com/office/drawing/2014/main" id="{D7495755-F2FC-4974-A7E9-CD993349D3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3408"/>
              <a:ext cx="672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num</a:t>
              </a:r>
            </a:p>
          </p:txBody>
        </p:sp>
        <p:sp>
          <p:nvSpPr>
            <p:cNvPr id="71701" name="Text Box 36">
              <a:extLst>
                <a:ext uri="{FF2B5EF4-FFF2-40B4-BE49-F238E27FC236}">
                  <a16:creationId xmlns:a16="http://schemas.microsoft.com/office/drawing/2014/main" id="{CC9D3BD7-EC3D-4F26-8EF7-FDF6A52682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3408"/>
              <a:ext cx="672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dotdot</a:t>
              </a:r>
            </a:p>
          </p:txBody>
        </p:sp>
        <p:sp>
          <p:nvSpPr>
            <p:cNvPr id="71702" name="Line 37">
              <a:extLst>
                <a:ext uri="{FF2B5EF4-FFF2-40B4-BE49-F238E27FC236}">
                  <a16:creationId xmlns:a16="http://schemas.microsoft.com/office/drawing/2014/main" id="{79882569-5940-48D2-B4FA-F518F9DF2C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56" y="3312"/>
              <a:ext cx="4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3" name="Line 38">
              <a:extLst>
                <a:ext uri="{FF2B5EF4-FFF2-40B4-BE49-F238E27FC236}">
                  <a16:creationId xmlns:a16="http://schemas.microsoft.com/office/drawing/2014/main" id="{227C989A-8E18-4B03-AAFB-3D84517D66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3264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4" name="Line 39">
              <a:extLst>
                <a:ext uri="{FF2B5EF4-FFF2-40B4-BE49-F238E27FC236}">
                  <a16:creationId xmlns:a16="http://schemas.microsoft.com/office/drawing/2014/main" id="{D190CC16-132E-4E50-8595-4219DF5154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2" y="3264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0CAEF5F6-3743-461B-82DA-DAEF192013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语法分析树构造过程（续）</a:t>
            </a:r>
          </a:p>
        </p:txBody>
      </p:sp>
      <p:grpSp>
        <p:nvGrpSpPr>
          <p:cNvPr id="72707" name="Group 26">
            <a:extLst>
              <a:ext uri="{FF2B5EF4-FFF2-40B4-BE49-F238E27FC236}">
                <a16:creationId xmlns:a16="http://schemas.microsoft.com/office/drawing/2014/main" id="{0CE54D60-F52B-4539-996F-979CD62BFB2A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306513"/>
            <a:ext cx="6400800" cy="2198687"/>
            <a:chOff x="1344" y="823"/>
            <a:chExt cx="4032" cy="1385"/>
          </a:xfrm>
        </p:grpSpPr>
        <p:sp>
          <p:nvSpPr>
            <p:cNvPr id="72709" name="Text Box 5">
              <a:extLst>
                <a:ext uri="{FF2B5EF4-FFF2-40B4-BE49-F238E27FC236}">
                  <a16:creationId xmlns:a16="http://schemas.microsoft.com/office/drawing/2014/main" id="{0321D24F-6DEA-4D51-A907-A14C277241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0" y="1311"/>
              <a:ext cx="60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/>
                <a:t>type</a:t>
              </a:r>
            </a:p>
          </p:txBody>
        </p:sp>
        <p:sp>
          <p:nvSpPr>
            <p:cNvPr id="72710" name="Text Box 6">
              <a:extLst>
                <a:ext uri="{FF2B5EF4-FFF2-40B4-BE49-F238E27FC236}">
                  <a16:creationId xmlns:a16="http://schemas.microsoft.com/office/drawing/2014/main" id="{0868C683-262B-4063-B0A9-825353C9F2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9" y="1311"/>
              <a:ext cx="128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/>
                <a:t>]</a:t>
              </a:r>
            </a:p>
          </p:txBody>
        </p:sp>
        <p:sp>
          <p:nvSpPr>
            <p:cNvPr id="72711" name="Text Box 7">
              <a:extLst>
                <a:ext uri="{FF2B5EF4-FFF2-40B4-BE49-F238E27FC236}">
                  <a16:creationId xmlns:a16="http://schemas.microsoft.com/office/drawing/2014/main" id="{A5A10081-8E47-4DEC-8711-C4015981B6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5" y="1311"/>
              <a:ext cx="128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/>
                <a:t>simple</a:t>
              </a:r>
            </a:p>
          </p:txBody>
        </p:sp>
        <p:sp>
          <p:nvSpPr>
            <p:cNvPr id="72712" name="Text Box 8">
              <a:extLst>
                <a:ext uri="{FF2B5EF4-FFF2-40B4-BE49-F238E27FC236}">
                  <a16:creationId xmlns:a16="http://schemas.microsoft.com/office/drawing/2014/main" id="{922D3E6B-9BF2-472A-85FF-7426F44DBF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9" y="1311"/>
              <a:ext cx="128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of</a:t>
              </a:r>
            </a:p>
          </p:txBody>
        </p:sp>
        <p:sp>
          <p:nvSpPr>
            <p:cNvPr id="72713" name="Text Box 9">
              <a:extLst>
                <a:ext uri="{FF2B5EF4-FFF2-40B4-BE49-F238E27FC236}">
                  <a16:creationId xmlns:a16="http://schemas.microsoft.com/office/drawing/2014/main" id="{F408751E-7D78-477E-B543-4BFF878396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6" y="1311"/>
              <a:ext cx="128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/>
                <a:t>[</a:t>
              </a:r>
            </a:p>
          </p:txBody>
        </p:sp>
        <p:sp>
          <p:nvSpPr>
            <p:cNvPr id="72714" name="Text Box 10">
              <a:extLst>
                <a:ext uri="{FF2B5EF4-FFF2-40B4-BE49-F238E27FC236}">
                  <a16:creationId xmlns:a16="http://schemas.microsoft.com/office/drawing/2014/main" id="{5B5ECDE2-B41D-48F4-BF3D-177ADC9464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1311"/>
              <a:ext cx="128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array</a:t>
              </a:r>
            </a:p>
          </p:txBody>
        </p:sp>
        <p:sp>
          <p:nvSpPr>
            <p:cNvPr id="72715" name="Text Box 11">
              <a:extLst>
                <a:ext uri="{FF2B5EF4-FFF2-40B4-BE49-F238E27FC236}">
                  <a16:creationId xmlns:a16="http://schemas.microsoft.com/office/drawing/2014/main" id="{36855D8E-3872-4F0F-A0C8-7001FD0B9A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4" y="823"/>
              <a:ext cx="128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/>
                <a:t>type</a:t>
              </a:r>
            </a:p>
          </p:txBody>
        </p:sp>
        <p:sp>
          <p:nvSpPr>
            <p:cNvPr id="72716" name="Line 12">
              <a:extLst>
                <a:ext uri="{FF2B5EF4-FFF2-40B4-BE49-F238E27FC236}">
                  <a16:creationId xmlns:a16="http://schemas.microsoft.com/office/drawing/2014/main" id="{A9A9064F-7F4B-488B-B40E-E2206C6C55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8" y="1148"/>
              <a:ext cx="258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17" name="Line 13">
              <a:extLst>
                <a:ext uri="{FF2B5EF4-FFF2-40B4-BE49-F238E27FC236}">
                  <a16:creationId xmlns:a16="http://schemas.microsoft.com/office/drawing/2014/main" id="{098AE2AB-5AE4-4DB1-A652-8BDE278B0B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3" y="1148"/>
              <a:ext cx="171" cy="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18" name="Line 14">
              <a:extLst>
                <a:ext uri="{FF2B5EF4-FFF2-40B4-BE49-F238E27FC236}">
                  <a16:creationId xmlns:a16="http://schemas.microsoft.com/office/drawing/2014/main" id="{C73AAC42-3B95-465E-94AF-9E5A64EAA6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9" y="1067"/>
              <a:ext cx="772" cy="3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19" name="Line 15">
              <a:extLst>
                <a:ext uri="{FF2B5EF4-FFF2-40B4-BE49-F238E27FC236}">
                  <a16:creationId xmlns:a16="http://schemas.microsoft.com/office/drawing/2014/main" id="{1BE4DF98-3F27-40AE-9B6F-54EE931E77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9" y="986"/>
              <a:ext cx="1372" cy="4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20" name="Line 16">
              <a:extLst>
                <a:ext uri="{FF2B5EF4-FFF2-40B4-BE49-F238E27FC236}">
                  <a16:creationId xmlns:a16="http://schemas.microsoft.com/office/drawing/2014/main" id="{DD52E5AB-2BBC-4032-95BD-6E8396B348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73" y="1067"/>
              <a:ext cx="1201" cy="3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21" name="Line 17">
              <a:extLst>
                <a:ext uri="{FF2B5EF4-FFF2-40B4-BE49-F238E27FC236}">
                  <a16:creationId xmlns:a16="http://schemas.microsoft.com/office/drawing/2014/main" id="{5E1E4DB5-AE64-4499-88AE-1A66244ABE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73" y="1148"/>
              <a:ext cx="601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22" name="Text Box 18">
              <a:extLst>
                <a:ext uri="{FF2B5EF4-FFF2-40B4-BE49-F238E27FC236}">
                  <a16:creationId xmlns:a16="http://schemas.microsoft.com/office/drawing/2014/main" id="{46FEA2AA-28B6-4770-B0A1-799FFAE33B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3" y="1881"/>
              <a:ext cx="120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num</a:t>
              </a:r>
            </a:p>
          </p:txBody>
        </p:sp>
        <p:sp>
          <p:nvSpPr>
            <p:cNvPr id="72723" name="Text Box 19">
              <a:extLst>
                <a:ext uri="{FF2B5EF4-FFF2-40B4-BE49-F238E27FC236}">
                  <a16:creationId xmlns:a16="http://schemas.microsoft.com/office/drawing/2014/main" id="{E9F84378-B256-49A6-B505-7189DAA797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9" y="1881"/>
              <a:ext cx="120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num</a:t>
              </a:r>
            </a:p>
          </p:txBody>
        </p:sp>
        <p:sp>
          <p:nvSpPr>
            <p:cNvPr id="72724" name="Text Box 20">
              <a:extLst>
                <a:ext uri="{FF2B5EF4-FFF2-40B4-BE49-F238E27FC236}">
                  <a16:creationId xmlns:a16="http://schemas.microsoft.com/office/drawing/2014/main" id="{ECBC3992-E6A0-488B-882B-F2428D3D83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5" y="1881"/>
              <a:ext cx="120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dotdot</a:t>
              </a:r>
            </a:p>
          </p:txBody>
        </p:sp>
        <p:sp>
          <p:nvSpPr>
            <p:cNvPr id="72725" name="Line 21">
              <a:extLst>
                <a:ext uri="{FF2B5EF4-FFF2-40B4-BE49-F238E27FC236}">
                  <a16:creationId xmlns:a16="http://schemas.microsoft.com/office/drawing/2014/main" id="{B40B7F93-292E-4126-A7EC-2D4B51A93A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8" y="1718"/>
              <a:ext cx="86" cy="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26" name="Line 22">
              <a:extLst>
                <a:ext uri="{FF2B5EF4-FFF2-40B4-BE49-F238E27FC236}">
                  <a16:creationId xmlns:a16="http://schemas.microsoft.com/office/drawing/2014/main" id="{2BFE05D9-2302-42D0-A627-3656D6AEB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6" y="1637"/>
              <a:ext cx="514" cy="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27" name="Line 23">
              <a:extLst>
                <a:ext uri="{FF2B5EF4-FFF2-40B4-BE49-F238E27FC236}">
                  <a16:creationId xmlns:a16="http://schemas.microsoft.com/office/drawing/2014/main" id="{09E12A18-95EF-4704-AD13-7901A11A77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2" y="1637"/>
              <a:ext cx="515" cy="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28" name="Text Box 24">
              <a:extLst>
                <a:ext uri="{FF2B5EF4-FFF2-40B4-BE49-F238E27FC236}">
                  <a16:creationId xmlns:a16="http://schemas.microsoft.com/office/drawing/2014/main" id="{A62B4820-ABC6-421A-AF20-A1761E74A4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1881"/>
              <a:ext cx="7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/>
                <a:t>simple</a:t>
              </a:r>
            </a:p>
          </p:txBody>
        </p:sp>
        <p:sp>
          <p:nvSpPr>
            <p:cNvPr id="72729" name="Line 25">
              <a:extLst>
                <a:ext uri="{FF2B5EF4-FFF2-40B4-BE49-F238E27FC236}">
                  <a16:creationId xmlns:a16="http://schemas.microsoft.com/office/drawing/2014/main" id="{4D2D5C1B-D95B-4DA0-BD0A-A785392250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16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2708" name="Rectangle 52">
            <a:extLst>
              <a:ext uri="{FF2B5EF4-FFF2-40B4-BE49-F238E27FC236}">
                <a16:creationId xmlns:a16="http://schemas.microsoft.com/office/drawing/2014/main" id="{AAF084BE-A8EA-4B66-858B-BF3490AAB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1371600"/>
            <a:ext cx="7620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latin typeface="Tahoma" panose="020B0604030504040204" pitchFamily="34" charset="0"/>
              </a:rPr>
              <a:t>(d)</a:t>
            </a:r>
            <a:br>
              <a:rPr kumimoji="0" lang="en-US" altLang="zh-CN">
                <a:latin typeface="Tahoma" panose="020B0604030504040204" pitchFamily="34" charset="0"/>
              </a:rPr>
            </a:br>
            <a:br>
              <a:rPr kumimoji="0" lang="en-US" altLang="zh-CN">
                <a:latin typeface="Tahoma" panose="020B0604030504040204" pitchFamily="34" charset="0"/>
              </a:rPr>
            </a:br>
            <a:br>
              <a:rPr kumimoji="0" lang="en-US" altLang="zh-CN">
                <a:latin typeface="Tahoma" panose="020B0604030504040204" pitchFamily="34" charset="0"/>
              </a:rPr>
            </a:br>
            <a:endParaRPr kumimoji="0" lang="en-US" altLang="zh-CN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82251B64-25E5-41CD-94A0-CC6DA76F9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语法分析树构造过程（续）</a:t>
            </a:r>
          </a:p>
        </p:txBody>
      </p:sp>
      <p:grpSp>
        <p:nvGrpSpPr>
          <p:cNvPr id="73731" name="Group 25">
            <a:extLst>
              <a:ext uri="{FF2B5EF4-FFF2-40B4-BE49-F238E27FC236}">
                <a16:creationId xmlns:a16="http://schemas.microsoft.com/office/drawing/2014/main" id="{DA20EB03-0820-4A74-9FFF-E56FF2A71A10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371600"/>
            <a:ext cx="6477000" cy="2971800"/>
            <a:chOff x="1344" y="2160"/>
            <a:chExt cx="4080" cy="1872"/>
          </a:xfrm>
        </p:grpSpPr>
        <p:sp>
          <p:nvSpPr>
            <p:cNvPr id="73733" name="Text Box 26">
              <a:extLst>
                <a:ext uri="{FF2B5EF4-FFF2-40B4-BE49-F238E27FC236}">
                  <a16:creationId xmlns:a16="http://schemas.microsoft.com/office/drawing/2014/main" id="{84FCD97B-8E89-4288-A82C-07B00D0F5F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0" y="2648"/>
              <a:ext cx="60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/>
                <a:t>type</a:t>
              </a:r>
            </a:p>
          </p:txBody>
        </p:sp>
        <p:sp>
          <p:nvSpPr>
            <p:cNvPr id="73734" name="Text Box 27">
              <a:extLst>
                <a:ext uri="{FF2B5EF4-FFF2-40B4-BE49-F238E27FC236}">
                  <a16:creationId xmlns:a16="http://schemas.microsoft.com/office/drawing/2014/main" id="{C8C5258D-D31F-4E65-97D4-6E5A2998C1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9" y="2648"/>
              <a:ext cx="128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/>
                <a:t>]</a:t>
              </a:r>
            </a:p>
          </p:txBody>
        </p:sp>
        <p:sp>
          <p:nvSpPr>
            <p:cNvPr id="73735" name="Text Box 28">
              <a:extLst>
                <a:ext uri="{FF2B5EF4-FFF2-40B4-BE49-F238E27FC236}">
                  <a16:creationId xmlns:a16="http://schemas.microsoft.com/office/drawing/2014/main" id="{4C61531F-61C2-4A38-B07E-359FC82A63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5" y="2648"/>
              <a:ext cx="128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/>
                <a:t>simple</a:t>
              </a:r>
            </a:p>
          </p:txBody>
        </p:sp>
        <p:sp>
          <p:nvSpPr>
            <p:cNvPr id="73736" name="Text Box 29">
              <a:extLst>
                <a:ext uri="{FF2B5EF4-FFF2-40B4-BE49-F238E27FC236}">
                  <a16:creationId xmlns:a16="http://schemas.microsoft.com/office/drawing/2014/main" id="{2421DC5C-C5B5-4165-9D19-76BFA8A04C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9" y="2648"/>
              <a:ext cx="128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of</a:t>
              </a:r>
            </a:p>
          </p:txBody>
        </p:sp>
        <p:sp>
          <p:nvSpPr>
            <p:cNvPr id="73737" name="Text Box 30">
              <a:extLst>
                <a:ext uri="{FF2B5EF4-FFF2-40B4-BE49-F238E27FC236}">
                  <a16:creationId xmlns:a16="http://schemas.microsoft.com/office/drawing/2014/main" id="{24133218-4027-4A60-BBB4-F5E817A6A3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6" y="2648"/>
              <a:ext cx="128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/>
                <a:t>[</a:t>
              </a:r>
            </a:p>
          </p:txBody>
        </p:sp>
        <p:sp>
          <p:nvSpPr>
            <p:cNvPr id="73738" name="Text Box 31">
              <a:extLst>
                <a:ext uri="{FF2B5EF4-FFF2-40B4-BE49-F238E27FC236}">
                  <a16:creationId xmlns:a16="http://schemas.microsoft.com/office/drawing/2014/main" id="{53A5152F-B6B4-439D-A5BE-CFD28A3BFF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648"/>
              <a:ext cx="128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array</a:t>
              </a:r>
            </a:p>
          </p:txBody>
        </p:sp>
        <p:sp>
          <p:nvSpPr>
            <p:cNvPr id="73739" name="Text Box 32">
              <a:extLst>
                <a:ext uri="{FF2B5EF4-FFF2-40B4-BE49-F238E27FC236}">
                  <a16:creationId xmlns:a16="http://schemas.microsoft.com/office/drawing/2014/main" id="{8AE108DB-5522-45B2-8CA0-B37132D124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4" y="2160"/>
              <a:ext cx="128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/>
                <a:t>type</a:t>
              </a:r>
            </a:p>
          </p:txBody>
        </p:sp>
        <p:sp>
          <p:nvSpPr>
            <p:cNvPr id="73740" name="Line 33">
              <a:extLst>
                <a:ext uri="{FF2B5EF4-FFF2-40B4-BE49-F238E27FC236}">
                  <a16:creationId xmlns:a16="http://schemas.microsoft.com/office/drawing/2014/main" id="{295C6635-2897-431C-97A7-BB5B405DE3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8" y="2485"/>
              <a:ext cx="258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1" name="Line 34">
              <a:extLst>
                <a:ext uri="{FF2B5EF4-FFF2-40B4-BE49-F238E27FC236}">
                  <a16:creationId xmlns:a16="http://schemas.microsoft.com/office/drawing/2014/main" id="{4EE77A3A-1C9C-4E0B-80CF-2BAC74BCBC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3" y="2485"/>
              <a:ext cx="171" cy="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2" name="Line 35">
              <a:extLst>
                <a:ext uri="{FF2B5EF4-FFF2-40B4-BE49-F238E27FC236}">
                  <a16:creationId xmlns:a16="http://schemas.microsoft.com/office/drawing/2014/main" id="{3F868678-24D1-4791-9301-10A3B5EBA0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9" y="2404"/>
              <a:ext cx="772" cy="3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3" name="Line 36">
              <a:extLst>
                <a:ext uri="{FF2B5EF4-FFF2-40B4-BE49-F238E27FC236}">
                  <a16:creationId xmlns:a16="http://schemas.microsoft.com/office/drawing/2014/main" id="{E0624B46-3F04-4588-8ED1-16076FE9C4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9" y="2323"/>
              <a:ext cx="1372" cy="4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4" name="Line 37">
              <a:extLst>
                <a:ext uri="{FF2B5EF4-FFF2-40B4-BE49-F238E27FC236}">
                  <a16:creationId xmlns:a16="http://schemas.microsoft.com/office/drawing/2014/main" id="{E619585E-65FB-4F04-A907-D73ABA5B27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73" y="2404"/>
              <a:ext cx="1201" cy="3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5" name="Line 38">
              <a:extLst>
                <a:ext uri="{FF2B5EF4-FFF2-40B4-BE49-F238E27FC236}">
                  <a16:creationId xmlns:a16="http://schemas.microsoft.com/office/drawing/2014/main" id="{EB6101DC-155C-4637-B385-677CF69558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73" y="2485"/>
              <a:ext cx="601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6" name="Text Box 39">
              <a:extLst>
                <a:ext uri="{FF2B5EF4-FFF2-40B4-BE49-F238E27FC236}">
                  <a16:creationId xmlns:a16="http://schemas.microsoft.com/office/drawing/2014/main" id="{70736DA4-ED60-4ECB-81BC-5047BC650C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3" y="3218"/>
              <a:ext cx="120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num</a:t>
              </a:r>
            </a:p>
          </p:txBody>
        </p:sp>
        <p:sp>
          <p:nvSpPr>
            <p:cNvPr id="73747" name="Text Box 40">
              <a:extLst>
                <a:ext uri="{FF2B5EF4-FFF2-40B4-BE49-F238E27FC236}">
                  <a16:creationId xmlns:a16="http://schemas.microsoft.com/office/drawing/2014/main" id="{AB503F61-B9B3-43CB-A7D3-F2EAA84B5C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9" y="3218"/>
              <a:ext cx="120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num</a:t>
              </a:r>
            </a:p>
          </p:txBody>
        </p:sp>
        <p:sp>
          <p:nvSpPr>
            <p:cNvPr id="73748" name="Text Box 41">
              <a:extLst>
                <a:ext uri="{FF2B5EF4-FFF2-40B4-BE49-F238E27FC236}">
                  <a16:creationId xmlns:a16="http://schemas.microsoft.com/office/drawing/2014/main" id="{89BA58E1-5AF3-4ED4-817C-087C8C4682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5" y="3218"/>
              <a:ext cx="120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dotdot</a:t>
              </a:r>
            </a:p>
          </p:txBody>
        </p:sp>
        <p:sp>
          <p:nvSpPr>
            <p:cNvPr id="73749" name="Line 42">
              <a:extLst>
                <a:ext uri="{FF2B5EF4-FFF2-40B4-BE49-F238E27FC236}">
                  <a16:creationId xmlns:a16="http://schemas.microsoft.com/office/drawing/2014/main" id="{565F06CD-DBF0-42C2-9867-05D4F6B7AF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8" y="3055"/>
              <a:ext cx="86" cy="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0" name="Line 43">
              <a:extLst>
                <a:ext uri="{FF2B5EF4-FFF2-40B4-BE49-F238E27FC236}">
                  <a16:creationId xmlns:a16="http://schemas.microsoft.com/office/drawing/2014/main" id="{84A5467E-12C3-48B2-A265-2E18E40856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6" y="2974"/>
              <a:ext cx="514" cy="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1" name="Line 44">
              <a:extLst>
                <a:ext uri="{FF2B5EF4-FFF2-40B4-BE49-F238E27FC236}">
                  <a16:creationId xmlns:a16="http://schemas.microsoft.com/office/drawing/2014/main" id="{01DACF07-C289-46A5-BC01-45B94DD242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2" y="2974"/>
              <a:ext cx="515" cy="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2" name="Text Box 45">
              <a:extLst>
                <a:ext uri="{FF2B5EF4-FFF2-40B4-BE49-F238E27FC236}">
                  <a16:creationId xmlns:a16="http://schemas.microsoft.com/office/drawing/2014/main" id="{34509AB6-716D-4CDA-B829-11E6152681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3218"/>
              <a:ext cx="7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/>
                <a:t>simple</a:t>
              </a:r>
            </a:p>
          </p:txBody>
        </p:sp>
        <p:sp>
          <p:nvSpPr>
            <p:cNvPr id="73753" name="Line 46">
              <a:extLst>
                <a:ext uri="{FF2B5EF4-FFF2-40B4-BE49-F238E27FC236}">
                  <a16:creationId xmlns:a16="http://schemas.microsoft.com/office/drawing/2014/main" id="{1C73B54B-DD93-4F16-9463-FC577C888E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3017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4" name="Text Box 47">
              <a:extLst>
                <a:ext uri="{FF2B5EF4-FFF2-40B4-BE49-F238E27FC236}">
                  <a16:creationId xmlns:a16="http://schemas.microsoft.com/office/drawing/2014/main" id="{F20DDB9A-A173-4836-B1D9-C8B84FAF30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3705"/>
              <a:ext cx="8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integer</a:t>
              </a:r>
            </a:p>
          </p:txBody>
        </p:sp>
        <p:sp>
          <p:nvSpPr>
            <p:cNvPr id="73755" name="Line 48">
              <a:extLst>
                <a:ext uri="{FF2B5EF4-FFF2-40B4-BE49-F238E27FC236}">
                  <a16:creationId xmlns:a16="http://schemas.microsoft.com/office/drawing/2014/main" id="{D5605235-661E-47F3-8964-8718356046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350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3732" name="Rectangle 49">
            <a:extLst>
              <a:ext uri="{FF2B5EF4-FFF2-40B4-BE49-F238E27FC236}">
                <a16:creationId xmlns:a16="http://schemas.microsoft.com/office/drawing/2014/main" id="{0F3905A8-7C90-4538-ABC4-1A9EC3C5F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1371600"/>
            <a:ext cx="7620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latin typeface="Tahoma" panose="020B0604030504040204" pitchFamily="34" charset="0"/>
              </a:rPr>
              <a:t>(e)</a:t>
            </a:r>
            <a:endParaRPr kumimoji="0" lang="en-US" altLang="zh-CN" sz="2800" b="1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282AE533-14A9-4D25-B163-D82C9673AA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平凡算法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746BB6FE-FD54-43F5-A4B8-071356A38B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初始状态，根节点标记为开始符号，输入指针指向第一个单词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对于</a:t>
            </a:r>
            <a:r>
              <a:rPr lang="en-US" altLang="zh-CN" sz="2400" dirty="0"/>
              <a:t>NT</a:t>
            </a:r>
            <a:r>
              <a:rPr lang="zh-CN" altLang="en-US" sz="2400" dirty="0"/>
              <a:t>节点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lang="zh-CN" altLang="en-US" sz="2000" dirty="0"/>
              <a:t>选择产生式（尝试、回溯）构造孩子节点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lang="zh-CN" altLang="en-US" sz="2000" dirty="0"/>
              <a:t>对孩子节点从左至右继续分析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对于</a:t>
            </a:r>
            <a:r>
              <a:rPr lang="en-US" altLang="zh-CN" sz="2400" dirty="0"/>
              <a:t>T</a:t>
            </a:r>
            <a:r>
              <a:rPr lang="zh-CN" altLang="en-US" sz="2400" dirty="0"/>
              <a:t>节点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lang="zh-CN" altLang="en-US" sz="2000" dirty="0"/>
              <a:t>与当前输入单词进行比较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lang="zh-CN" altLang="en-US" sz="2000" dirty="0"/>
              <a:t>若匹配，输入指针前移，处理下一个节点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lang="zh-CN" altLang="en-US" sz="2000" dirty="0"/>
              <a:t>不匹配，可能需要回溯或报告错误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3AF630C2-9B40-480A-8500-38262291CD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扫描输入分析过程</a:t>
            </a:r>
          </a:p>
        </p:txBody>
      </p:sp>
      <p:pic>
        <p:nvPicPr>
          <p:cNvPr id="75779" name="Picture 34" descr="predict">
            <a:extLst>
              <a:ext uri="{FF2B5EF4-FFF2-40B4-BE49-F238E27FC236}">
                <a16:creationId xmlns:a16="http://schemas.microsoft.com/office/drawing/2014/main" id="{780F3AD1-1F03-41E6-91F3-ED529BFAC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75" y="1411288"/>
            <a:ext cx="5495925" cy="133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0" name="Picture 35" descr="predict1">
            <a:extLst>
              <a:ext uri="{FF2B5EF4-FFF2-40B4-BE49-F238E27FC236}">
                <a16:creationId xmlns:a16="http://schemas.microsoft.com/office/drawing/2014/main" id="{9FEE7486-1473-4D5D-BAEF-78E84DC05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75" y="3067050"/>
            <a:ext cx="549592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1884125-A1D2-42FA-B7AD-C9B63629C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5157788"/>
            <a:ext cx="3311525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i="1">
                <a:ea typeface="隶书" panose="02010509060101010101" pitchFamily="49" charset="-122"/>
              </a:rPr>
              <a:t>type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 </a:t>
            </a: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simple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           | 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 id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      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|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array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 [ </a:t>
            </a: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simple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 ]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of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  </a:t>
            </a: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type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simple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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integer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       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|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char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       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|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num dotdot num</a:t>
            </a:r>
            <a:endParaRPr lang="en-US" altLang="zh-CN" sz="1400"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F9BBA05F-F28D-4569-B4F2-89DCAD96DA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扫描输入分析过程（续）</a:t>
            </a:r>
          </a:p>
        </p:txBody>
      </p:sp>
      <p:pic>
        <p:nvPicPr>
          <p:cNvPr id="76803" name="Picture 5" descr="predict2">
            <a:extLst>
              <a:ext uri="{FF2B5EF4-FFF2-40B4-BE49-F238E27FC236}">
                <a16:creationId xmlns:a16="http://schemas.microsoft.com/office/drawing/2014/main" id="{4F511794-F7C7-4D3B-8849-391F98AA5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263650"/>
            <a:ext cx="5495925" cy="216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4" name="Picture 6" descr="predict3">
            <a:extLst>
              <a:ext uri="{FF2B5EF4-FFF2-40B4-BE49-F238E27FC236}">
                <a16:creationId xmlns:a16="http://schemas.microsoft.com/office/drawing/2014/main" id="{4ECC9544-31F1-4A03-BEC3-9C1F2FD5F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3416300"/>
            <a:ext cx="5448300" cy="214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860D549-1E80-45B5-B4CF-94442E1F3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5157788"/>
            <a:ext cx="3311525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i="1">
                <a:ea typeface="隶书" panose="02010509060101010101" pitchFamily="49" charset="-122"/>
              </a:rPr>
              <a:t>type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 </a:t>
            </a: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simple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           | 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 id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      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|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array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 [ </a:t>
            </a: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simple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 ]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of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  </a:t>
            </a: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type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simple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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integer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       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|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char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       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|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num dotdot num</a:t>
            </a:r>
            <a:endParaRPr lang="en-US" altLang="zh-CN" sz="1400"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6C05D958-1C32-46A2-A099-CCEBADB38F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扫描输入分析过程（续）</a:t>
            </a:r>
          </a:p>
        </p:txBody>
      </p:sp>
      <p:pic>
        <p:nvPicPr>
          <p:cNvPr id="77827" name="Picture 8" descr="predict4">
            <a:extLst>
              <a:ext uri="{FF2B5EF4-FFF2-40B4-BE49-F238E27FC236}">
                <a16:creationId xmlns:a16="http://schemas.microsoft.com/office/drawing/2014/main" id="{D71BFBFB-F7BD-4DB8-9583-40DCBB667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295400"/>
            <a:ext cx="5448300" cy="214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28" name="Picture 9" descr="predict5">
            <a:extLst>
              <a:ext uri="{FF2B5EF4-FFF2-40B4-BE49-F238E27FC236}">
                <a16:creationId xmlns:a16="http://schemas.microsoft.com/office/drawing/2014/main" id="{3BA35D70-F0BE-4471-9049-7CA094C2D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450" y="3481388"/>
            <a:ext cx="5365750" cy="185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9A8EC5A-09B9-4601-978C-27877BD5C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5157788"/>
            <a:ext cx="3311525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i="1">
                <a:ea typeface="隶书" panose="02010509060101010101" pitchFamily="49" charset="-122"/>
              </a:rPr>
              <a:t>type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 </a:t>
            </a: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simple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           | 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 id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      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|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array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 [ </a:t>
            </a: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simple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 ]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of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  </a:t>
            </a: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type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simple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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integer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       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|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char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       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|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num dotdot num</a:t>
            </a:r>
            <a:endParaRPr lang="en-US" altLang="zh-CN" sz="1400"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53CB53DC-C30F-46FF-A5FC-2C30B7F432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扫描输入分析过程（续）</a:t>
            </a:r>
          </a:p>
        </p:txBody>
      </p:sp>
      <p:pic>
        <p:nvPicPr>
          <p:cNvPr id="78851" name="Picture 6" descr="predict6">
            <a:extLst>
              <a:ext uri="{FF2B5EF4-FFF2-40B4-BE49-F238E27FC236}">
                <a16:creationId xmlns:a16="http://schemas.microsoft.com/office/drawing/2014/main" id="{E6A54D74-5D18-46F6-BEEA-23CE894C3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371600"/>
            <a:ext cx="5376863" cy="162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852" name="Picture 7" descr="predict7">
            <a:extLst>
              <a:ext uri="{FF2B5EF4-FFF2-40B4-BE49-F238E27FC236}">
                <a16:creationId xmlns:a16="http://schemas.microsoft.com/office/drawing/2014/main" id="{40667849-45FF-4DE9-B2EB-E5CB0517C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254375"/>
            <a:ext cx="5456238" cy="162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B2828EE-D0CB-4E9D-8CDA-01E329063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5157788"/>
            <a:ext cx="3311525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i="1">
                <a:ea typeface="隶书" panose="02010509060101010101" pitchFamily="49" charset="-122"/>
              </a:rPr>
              <a:t>type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 </a:t>
            </a: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simple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           | 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 id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      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|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array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 [ </a:t>
            </a: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simple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 ]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of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  </a:t>
            </a: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type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simple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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integer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       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|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char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       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|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num dotdot num</a:t>
            </a:r>
            <a:endParaRPr lang="en-US" altLang="zh-CN" sz="1400"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41CBD477-8D85-484D-8E25-CF8DAECD52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扫描输入分析过程（续）</a:t>
            </a:r>
          </a:p>
        </p:txBody>
      </p:sp>
      <p:pic>
        <p:nvPicPr>
          <p:cNvPr id="79875" name="Picture 6" descr="predict8">
            <a:extLst>
              <a:ext uri="{FF2B5EF4-FFF2-40B4-BE49-F238E27FC236}">
                <a16:creationId xmlns:a16="http://schemas.microsoft.com/office/drawing/2014/main" id="{9AE63FA6-8AC1-49A8-9F1B-FB462E372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496491"/>
            <a:ext cx="7640638" cy="286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4B94AC8-1DCB-724C-945C-541A6321A938}"/>
              </a:ext>
            </a:extLst>
          </p:cNvPr>
          <p:cNvSpPr txBox="1"/>
          <p:nvPr/>
        </p:nvSpPr>
        <p:spPr>
          <a:xfrm>
            <a:off x="798984" y="4365104"/>
            <a:ext cx="7402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Wingdings" panose="05000000000000000000" pitchFamily="2" charset="2"/>
              </a:rPr>
              <a:t>人来做的话，为什么能直接选择第三个候选式？</a:t>
            </a:r>
            <a:endParaRPr lang="zh-CN" altLang="en-US" sz="2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18FDB56-CB75-A04F-A15E-823D5C01DD05}"/>
              </a:ext>
            </a:extLst>
          </p:cNvPr>
          <p:cNvSpPr txBox="1"/>
          <p:nvPr/>
        </p:nvSpPr>
        <p:spPr>
          <a:xfrm>
            <a:off x="798984" y="4869160"/>
            <a:ext cx="54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Wingdings" panose="05000000000000000000" pitchFamily="2" charset="2"/>
              </a:rPr>
              <a:t>只有它能推导出与输入</a:t>
            </a:r>
            <a:r>
              <a:rPr lang="zh-CN" altLang="en-US" sz="2000" kern="0" noProof="0" dirty="0">
                <a:solidFill>
                  <a:srgbClr val="000000"/>
                </a:solidFill>
                <a:latin typeface="Times New Roman"/>
                <a:ea typeface="宋体"/>
                <a:sym typeface="Wingdings" panose="05000000000000000000" pitchFamily="2" charset="2"/>
              </a:rPr>
              <a:t>匹配的单词串！</a:t>
            </a:r>
            <a:endParaRPr lang="zh-CN" alt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4D097E4-7A19-C545-B560-EBBBD25ACBFA}"/>
              </a:ext>
            </a:extLst>
          </p:cNvPr>
          <p:cNvSpPr txBox="1"/>
          <p:nvPr/>
        </p:nvSpPr>
        <p:spPr>
          <a:xfrm>
            <a:off x="804383" y="5414518"/>
            <a:ext cx="3917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Wingdings" panose="05000000000000000000" pitchFamily="2" charset="2"/>
              </a:rPr>
              <a:t>我们查看了几个输入单词？</a:t>
            </a:r>
            <a:endParaRPr lang="zh-CN" altLang="en-US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1CB113-D247-BB4E-9731-52C4A9A2AD89}"/>
              </a:ext>
            </a:extLst>
          </p:cNvPr>
          <p:cNvSpPr txBox="1"/>
          <p:nvPr/>
        </p:nvSpPr>
        <p:spPr>
          <a:xfrm>
            <a:off x="774754" y="5958644"/>
            <a:ext cx="64615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Wingdings" panose="05000000000000000000" pitchFamily="2" charset="2"/>
              </a:rPr>
              <a:t>只看了第一个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Wingdings" panose="05000000000000000000" pitchFamily="2" charset="2"/>
              </a:rPr>
              <a:t>——LL</a:t>
            </a:r>
            <a:r>
              <a:rPr lang="en-US" altLang="zh-CN" sz="2000" kern="0" noProof="0" dirty="0">
                <a:solidFill>
                  <a:srgbClr val="000000"/>
                </a:solidFill>
                <a:latin typeface="Times New Roman"/>
                <a:ea typeface="宋体"/>
                <a:sym typeface="Wingdings" panose="05000000000000000000" pitchFamily="2" charset="2"/>
              </a:rPr>
              <a:t>(1)</a:t>
            </a:r>
            <a:r>
              <a:rPr lang="zh-CN" altLang="en-US" sz="2000" kern="0" noProof="0" dirty="0">
                <a:solidFill>
                  <a:srgbClr val="000000"/>
                </a:solidFill>
                <a:latin typeface="Times New Roman"/>
                <a:ea typeface="宋体"/>
                <a:sym typeface="Wingdings" panose="05000000000000000000" pitchFamily="2" charset="2"/>
              </a:rPr>
              <a:t>语法分析</a:t>
            </a:r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宋体"/>
                <a:sym typeface="Wingdings" panose="05000000000000000000" pitchFamily="2" charset="2"/>
              </a:rPr>
              <a:t>！</a:t>
            </a:r>
            <a:endParaRPr lang="en-US" altLang="zh-CN" sz="2000" kern="0" dirty="0">
              <a:solidFill>
                <a:srgbClr val="000000"/>
              </a:solidFill>
              <a:latin typeface="Times New Roman"/>
              <a:ea typeface="宋体"/>
              <a:sym typeface="Wingdings" panose="05000000000000000000" pitchFamily="2" charset="2"/>
            </a:endParaRPr>
          </a:p>
          <a:p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宋体"/>
                <a:sym typeface="Wingdings" panose="05000000000000000000" pitchFamily="2" charset="2"/>
              </a:rPr>
              <a:t>根据候选式是否能推导出当前第一个输入单词来选择它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748EB898-DB10-4FB2-AACE-9CBF74122F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2.4.2  </a:t>
            </a:r>
            <a:r>
              <a:rPr lang="zh-CN" altLang="en-US"/>
              <a:t>预测分析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9E64D4E3-5A02-4324-B747-8A8E36F4BB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3333CC"/>
                </a:solidFill>
              </a:rPr>
              <a:t>递归下降分析</a:t>
            </a:r>
            <a:br>
              <a:rPr lang="zh-CN" altLang="en-US" dirty="0"/>
            </a:br>
            <a:r>
              <a:rPr lang="en-US" altLang="zh-CN" dirty="0">
                <a:solidFill>
                  <a:srgbClr val="FF3300"/>
                </a:solidFill>
              </a:rPr>
              <a:t>recursive-descent paring</a:t>
            </a:r>
            <a:br>
              <a:rPr lang="en-US" altLang="zh-CN" dirty="0"/>
            </a:br>
            <a:r>
              <a:rPr lang="zh-CN" altLang="en-US" dirty="0"/>
              <a:t>递归函数</a:t>
            </a:r>
            <a:r>
              <a:rPr lang="zh-CN" altLang="en-US" dirty="0">
                <a:sym typeface="Wingdings" panose="05000000000000000000" pitchFamily="2" charset="2"/>
              </a:rPr>
              <a:t>非终结符的分析</a:t>
            </a:r>
          </a:p>
          <a:p>
            <a:pPr eaLnBrk="1" hangingPunct="1"/>
            <a:r>
              <a:rPr lang="zh-CN" altLang="en-US" b="1" dirty="0">
                <a:solidFill>
                  <a:srgbClr val="3333CC"/>
                </a:solidFill>
                <a:sym typeface="Wingdings" panose="05000000000000000000" pitchFamily="2" charset="2"/>
              </a:rPr>
              <a:t>预测分析</a:t>
            </a:r>
            <a:br>
              <a:rPr lang="zh-CN" altLang="en-US" b="1" dirty="0">
                <a:solidFill>
                  <a:srgbClr val="3333CC"/>
                </a:solidFill>
                <a:sym typeface="Wingdings" panose="05000000000000000000" pitchFamily="2" charset="2"/>
              </a:rPr>
            </a:br>
            <a:r>
              <a:rPr lang="en-US" altLang="zh-CN" dirty="0">
                <a:solidFill>
                  <a:srgbClr val="FF3300"/>
                </a:solidFill>
                <a:sym typeface="Wingdings" panose="05000000000000000000" pitchFamily="2" charset="2"/>
              </a:rPr>
              <a:t>predictive parsing</a:t>
            </a:r>
            <a:br>
              <a:rPr lang="en-US" altLang="zh-CN" dirty="0">
                <a:sym typeface="Wingdings" panose="05000000000000000000" pitchFamily="2" charset="2"/>
              </a:rPr>
            </a:br>
            <a:r>
              <a:rPr lang="zh-CN" altLang="en-US" dirty="0">
                <a:sym typeface="Wingdings" panose="05000000000000000000" pitchFamily="2" charset="2"/>
              </a:rPr>
              <a:t>只需一个超前单词</a:t>
            </a:r>
            <a:r>
              <a:rPr lang="en-US" altLang="zh-CN" dirty="0">
                <a:latin typeface="Tahoma" panose="020B0604030504040204" pitchFamily="34" charset="0"/>
                <a:sym typeface="Wingdings" panose="05000000000000000000" pitchFamily="2" charset="2"/>
              </a:rPr>
              <a:t>———</a:t>
            </a:r>
            <a:r>
              <a:rPr lang="zh-CN" altLang="en-US" dirty="0">
                <a:sym typeface="Wingdings" panose="05000000000000000000" pitchFamily="2" charset="2"/>
              </a:rPr>
              <a:t>产生式</a:t>
            </a:r>
            <a:endParaRPr lang="zh-CN" altLang="en-US" dirty="0"/>
          </a:p>
        </p:txBody>
      </p:sp>
      <p:sp>
        <p:nvSpPr>
          <p:cNvPr id="80900" name="Text Box 4">
            <a:extLst>
              <a:ext uri="{FF2B5EF4-FFF2-40B4-BE49-F238E27FC236}">
                <a16:creationId xmlns:a16="http://schemas.microsoft.com/office/drawing/2014/main" id="{2EBC647C-3A18-4B0F-B8BE-8C0363A16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3810000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唯一确定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BB849356-F656-4C9E-9D4E-3484AF294F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预测分析程序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AC7F7713-166E-4CD0-B1B3-F08E07AE2A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/>
              <a:t>对终结符的处理</a:t>
            </a:r>
            <a:r>
              <a:rPr kumimoji="0" lang="en-US" altLang="zh-CN"/>
              <a:t>——</a:t>
            </a:r>
            <a:r>
              <a:rPr kumimoji="0" lang="zh-CN" altLang="en-US"/>
              <a:t>匹配输入，指针移动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procedure</a:t>
            </a:r>
            <a:r>
              <a:rPr kumimoji="0" lang="en-US" altLang="zh-CN" sz="2400"/>
              <a:t>  </a:t>
            </a:r>
            <a:r>
              <a:rPr kumimoji="0" lang="en-US" altLang="zh-CN" sz="2400" i="1"/>
              <a:t>match</a:t>
            </a:r>
            <a:r>
              <a:rPr kumimoji="0" lang="en-US" altLang="zh-CN" sz="2400"/>
              <a:t> ( </a:t>
            </a:r>
            <a:r>
              <a:rPr kumimoji="0" lang="en-US" altLang="zh-CN" sz="2400" i="1"/>
              <a:t>t</a:t>
            </a:r>
            <a:r>
              <a:rPr kumimoji="0" lang="en-US" altLang="zh-CN" sz="2400"/>
              <a:t> : token ) 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begin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          if </a:t>
            </a:r>
            <a:r>
              <a:rPr kumimoji="0" lang="en-US" altLang="zh-CN" sz="2400" i="1"/>
              <a:t> lookahead </a:t>
            </a:r>
            <a:r>
              <a:rPr kumimoji="0" lang="en-US" altLang="zh-CN" sz="2400"/>
              <a:t>= </a:t>
            </a:r>
            <a:r>
              <a:rPr kumimoji="0" lang="en-US" altLang="zh-CN" sz="2400" i="1"/>
              <a:t>t</a:t>
            </a:r>
            <a:r>
              <a:rPr kumimoji="0" lang="en-US" altLang="zh-CN" sz="2400"/>
              <a:t>  </a:t>
            </a:r>
            <a:r>
              <a:rPr kumimoji="0" lang="en-US" altLang="zh-CN" sz="2400" b="1"/>
              <a:t>then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                    </a:t>
            </a:r>
            <a:r>
              <a:rPr kumimoji="0" lang="en-US" altLang="zh-CN" sz="2400" i="1"/>
              <a:t>lookahead  </a:t>
            </a:r>
            <a:r>
              <a:rPr kumimoji="0" lang="en-US" altLang="zh-CN" sz="2400"/>
              <a:t>: =  </a:t>
            </a:r>
            <a:r>
              <a:rPr kumimoji="0" lang="en-US" altLang="zh-CN" sz="2400" i="1"/>
              <a:t>nexttoken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          </a:t>
            </a:r>
            <a:r>
              <a:rPr kumimoji="0" lang="en-US" altLang="zh-CN" sz="2400" b="1"/>
              <a:t>else  </a:t>
            </a:r>
            <a:r>
              <a:rPr kumimoji="0" lang="en-US" altLang="zh-CN" sz="2400" i="1"/>
              <a:t>error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end ;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A22F227A-73CA-43E3-A38E-E310593369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预测分析程序（续）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17FAA2DA-9428-42CD-A1CC-59E9DEDD90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/>
              <a:t>procedure </a:t>
            </a:r>
            <a:r>
              <a:rPr kumimoji="0" lang="en-US" altLang="zh-CN" sz="2000" i="1" dirty="0"/>
              <a:t> type </a:t>
            </a:r>
            <a:r>
              <a:rPr kumimoji="0" lang="en-US" altLang="zh-CN" sz="2000" dirty="0"/>
              <a:t>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/>
              <a:t>begin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/>
              <a:t>         if </a:t>
            </a:r>
            <a:r>
              <a:rPr kumimoji="0" lang="en-US" altLang="zh-CN" sz="2000" i="1" dirty="0"/>
              <a:t> lookahead  </a:t>
            </a:r>
            <a:r>
              <a:rPr kumimoji="0" lang="en-US" altLang="zh-CN" sz="2000" dirty="0"/>
              <a:t>is in { </a:t>
            </a:r>
            <a:r>
              <a:rPr kumimoji="0" lang="en-US" altLang="zh-CN" sz="2000" b="1" dirty="0"/>
              <a:t>integer, char, num </a:t>
            </a:r>
            <a:r>
              <a:rPr kumimoji="0" lang="en-US" altLang="zh-CN" sz="2000" dirty="0"/>
              <a:t>}  </a:t>
            </a:r>
            <a:r>
              <a:rPr kumimoji="0" lang="en-US" altLang="zh-CN" sz="2000" b="1" dirty="0"/>
              <a:t>then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                </a:t>
            </a:r>
            <a:r>
              <a:rPr kumimoji="0" lang="en-US" altLang="zh-CN" sz="2000" i="1" dirty="0"/>
              <a:t>simple</a:t>
            </a:r>
          </a:p>
          <a:p>
            <a:pPr>
              <a:lnSpc>
                <a:spcPct val="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0" lang="en-US" altLang="zh-CN" sz="2000" i="1" dirty="0"/>
              <a:t>         </a:t>
            </a:r>
            <a:r>
              <a:rPr kumimoji="0" lang="en-US" altLang="zh-CN" sz="2000" b="1" dirty="0"/>
              <a:t>else if </a:t>
            </a:r>
            <a:r>
              <a:rPr kumimoji="0" lang="en-US" altLang="zh-CN" sz="2000" dirty="0"/>
              <a:t> </a:t>
            </a:r>
            <a:r>
              <a:rPr kumimoji="0" lang="en-US" altLang="zh-CN" sz="2000" i="1" dirty="0"/>
              <a:t>lookahead</a:t>
            </a:r>
            <a:r>
              <a:rPr kumimoji="0" lang="en-US" altLang="zh-CN" sz="2000" dirty="0"/>
              <a:t>  = ‘</a:t>
            </a:r>
            <a:r>
              <a:rPr kumimoji="0" lang="en-US" altLang="zh-CN" sz="2000" dirty="0">
                <a:sym typeface="Symbol" panose="05050102010706020507" pitchFamily="18" charset="2"/>
              </a:rPr>
              <a:t>’  </a:t>
            </a:r>
            <a:r>
              <a:rPr kumimoji="0" lang="en-US" altLang="zh-CN" sz="2000" b="1" dirty="0">
                <a:sym typeface="Symbol" panose="05050102010706020507" pitchFamily="18" charset="2"/>
              </a:rPr>
              <a:t>then  begin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ym typeface="Symbol" panose="05050102010706020507" pitchFamily="18" charset="2"/>
              </a:rPr>
              <a:t>                </a:t>
            </a:r>
            <a:r>
              <a:rPr kumimoji="0" lang="en-US" altLang="zh-CN" sz="2000" i="1" dirty="0">
                <a:sym typeface="Symbol" panose="05050102010706020507" pitchFamily="18" charset="2"/>
              </a:rPr>
              <a:t>match </a:t>
            </a:r>
            <a:r>
              <a:rPr kumimoji="0" lang="en-US" altLang="zh-CN" sz="2000" dirty="0">
                <a:sym typeface="Symbol" panose="05050102010706020507" pitchFamily="18" charset="2"/>
              </a:rPr>
              <a:t>(</a:t>
            </a:r>
            <a:r>
              <a:rPr kumimoji="0" lang="en-US" altLang="zh-CN" sz="2000" dirty="0"/>
              <a:t>‘</a:t>
            </a:r>
            <a:r>
              <a:rPr kumimoji="0" lang="en-US" altLang="zh-CN" sz="2000" dirty="0">
                <a:sym typeface="Symbol" panose="05050102010706020507" pitchFamily="18" charset="2"/>
              </a:rPr>
              <a:t>’) ;  </a:t>
            </a:r>
            <a:r>
              <a:rPr kumimoji="0" lang="en-US" altLang="zh-CN" sz="2000" i="1" dirty="0">
                <a:sym typeface="Symbol" panose="05050102010706020507" pitchFamily="18" charset="2"/>
              </a:rPr>
              <a:t>match</a:t>
            </a:r>
            <a:r>
              <a:rPr kumimoji="0" lang="en-US" altLang="zh-CN" sz="2000" dirty="0">
                <a:sym typeface="Symbol" panose="05050102010706020507" pitchFamily="18" charset="2"/>
              </a:rPr>
              <a:t>(</a:t>
            </a:r>
            <a:r>
              <a:rPr kumimoji="0" lang="en-US" altLang="zh-CN" sz="2000" b="1" dirty="0">
                <a:sym typeface="Symbol" panose="05050102010706020507" pitchFamily="18" charset="2"/>
              </a:rPr>
              <a:t> id </a:t>
            </a:r>
            <a:r>
              <a:rPr kumimoji="0" lang="en-US" altLang="zh-CN" sz="2000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         </a:t>
            </a:r>
            <a:r>
              <a:rPr kumimoji="0" lang="en-US" altLang="zh-CN" sz="2000" b="1" dirty="0">
                <a:sym typeface="Symbol" panose="05050102010706020507" pitchFamily="18" charset="2"/>
              </a:rPr>
              <a:t>end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ym typeface="Symbol" panose="05050102010706020507" pitchFamily="18" charset="2"/>
              </a:rPr>
              <a:t>         else if  </a:t>
            </a:r>
            <a:r>
              <a:rPr kumimoji="0" lang="en-US" altLang="zh-CN" sz="2000" i="1" dirty="0">
                <a:sym typeface="Symbol" panose="05050102010706020507" pitchFamily="18" charset="2"/>
              </a:rPr>
              <a:t>lookahead </a:t>
            </a:r>
            <a:r>
              <a:rPr kumimoji="0" lang="en-US" altLang="zh-CN" sz="2000" dirty="0">
                <a:sym typeface="Symbol" panose="05050102010706020507" pitchFamily="18" charset="2"/>
              </a:rPr>
              <a:t>= </a:t>
            </a:r>
            <a:r>
              <a:rPr kumimoji="0" lang="en-US" altLang="zh-CN" sz="2000" b="1" dirty="0">
                <a:sym typeface="Symbol" panose="05050102010706020507" pitchFamily="18" charset="2"/>
              </a:rPr>
              <a:t>array  then  begin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                     </a:t>
            </a:r>
            <a:r>
              <a:rPr kumimoji="0" lang="en-US" altLang="zh-CN" sz="2000" i="1" dirty="0">
                <a:sym typeface="Symbol" panose="05050102010706020507" pitchFamily="18" charset="2"/>
              </a:rPr>
              <a:t>match</a:t>
            </a:r>
            <a:r>
              <a:rPr kumimoji="0" lang="en-US" altLang="zh-CN" sz="2000" dirty="0">
                <a:sym typeface="Symbol" panose="05050102010706020507" pitchFamily="18" charset="2"/>
              </a:rPr>
              <a:t>( </a:t>
            </a:r>
            <a:r>
              <a:rPr kumimoji="0" lang="en-US" altLang="zh-CN" sz="2000" b="1" dirty="0">
                <a:sym typeface="Symbol" panose="05050102010706020507" pitchFamily="18" charset="2"/>
              </a:rPr>
              <a:t>array </a:t>
            </a:r>
            <a:r>
              <a:rPr kumimoji="0" lang="en-US" altLang="zh-CN" sz="2000" dirty="0">
                <a:sym typeface="Symbol" panose="05050102010706020507" pitchFamily="18" charset="2"/>
              </a:rPr>
              <a:t>); </a:t>
            </a:r>
            <a:r>
              <a:rPr kumimoji="0" lang="en-US" altLang="zh-CN" sz="2000" i="1" dirty="0">
                <a:sym typeface="Symbol" panose="05050102010706020507" pitchFamily="18" charset="2"/>
              </a:rPr>
              <a:t>match</a:t>
            </a:r>
            <a:r>
              <a:rPr kumimoji="0" lang="en-US" altLang="zh-CN" sz="2000" dirty="0">
                <a:sym typeface="Symbol" panose="05050102010706020507" pitchFamily="18" charset="2"/>
              </a:rPr>
              <a:t>(‘[’);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                     </a:t>
            </a:r>
            <a:r>
              <a:rPr kumimoji="0" lang="en-US" altLang="zh-CN" sz="2000" i="1" dirty="0">
                <a:sym typeface="Symbol" panose="05050102010706020507" pitchFamily="18" charset="2"/>
              </a:rPr>
              <a:t>simple</a:t>
            </a:r>
            <a:r>
              <a:rPr kumimoji="0" lang="en-US" altLang="zh-CN" sz="2000" dirty="0">
                <a:sym typeface="Symbol" panose="05050102010706020507" pitchFamily="18" charset="2"/>
              </a:rPr>
              <a:t>;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                     </a:t>
            </a:r>
            <a:r>
              <a:rPr kumimoji="0" lang="en-US" altLang="zh-CN" sz="2000" i="1" dirty="0">
                <a:sym typeface="Symbol" panose="05050102010706020507" pitchFamily="18" charset="2"/>
              </a:rPr>
              <a:t>match</a:t>
            </a:r>
            <a:r>
              <a:rPr kumimoji="0" lang="en-US" altLang="zh-CN" sz="2000" dirty="0">
                <a:sym typeface="Symbol" panose="05050102010706020507" pitchFamily="18" charset="2"/>
              </a:rPr>
              <a:t>(‘]’); </a:t>
            </a:r>
            <a:r>
              <a:rPr kumimoji="0" lang="en-US" altLang="zh-CN" sz="2000" i="1" dirty="0">
                <a:sym typeface="Symbol" panose="05050102010706020507" pitchFamily="18" charset="2"/>
              </a:rPr>
              <a:t>match</a:t>
            </a:r>
            <a:r>
              <a:rPr kumimoji="0" lang="en-US" altLang="zh-CN" sz="2000" dirty="0">
                <a:sym typeface="Symbol" panose="05050102010706020507" pitchFamily="18" charset="2"/>
              </a:rPr>
              <a:t>(</a:t>
            </a:r>
            <a:r>
              <a:rPr kumimoji="0" lang="en-US" altLang="zh-CN" sz="2000" b="1" dirty="0">
                <a:sym typeface="Symbol" panose="05050102010706020507" pitchFamily="18" charset="2"/>
              </a:rPr>
              <a:t>of</a:t>
            </a:r>
            <a:r>
              <a:rPr kumimoji="0" lang="en-US" altLang="zh-CN" sz="2000" dirty="0">
                <a:sym typeface="Symbol" panose="05050102010706020507" pitchFamily="18" charset="2"/>
              </a:rPr>
              <a:t>);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                     </a:t>
            </a:r>
            <a:r>
              <a:rPr kumimoji="0" lang="en-US" altLang="zh-CN" sz="2000" i="1" dirty="0">
                <a:sym typeface="Symbol" panose="05050102010706020507" pitchFamily="18" charset="2"/>
              </a:rPr>
              <a:t>type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ym typeface="Symbol" panose="05050102010706020507" pitchFamily="18" charset="2"/>
              </a:rPr>
              <a:t>         end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ym typeface="Symbol" panose="05050102010706020507" pitchFamily="18" charset="2"/>
              </a:rPr>
              <a:t>         else  </a:t>
            </a:r>
            <a:r>
              <a:rPr kumimoji="0" lang="en-US" altLang="zh-CN" sz="2000" i="1" dirty="0">
                <a:sym typeface="Symbol" panose="05050102010706020507" pitchFamily="18" charset="2"/>
              </a:rPr>
              <a:t>error</a:t>
            </a:r>
          </a:p>
          <a:p>
            <a:pPr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ym typeface="Symbol" panose="05050102010706020507" pitchFamily="18" charset="2"/>
              </a:rPr>
              <a:t>end ;</a:t>
            </a:r>
          </a:p>
        </p:txBody>
      </p:sp>
      <p:sp>
        <p:nvSpPr>
          <p:cNvPr id="95236" name="Text Box 4">
            <a:extLst>
              <a:ext uri="{FF2B5EF4-FFF2-40B4-BE49-F238E27FC236}">
                <a16:creationId xmlns:a16="http://schemas.microsoft.com/office/drawing/2014/main" id="{078A87CA-6132-49C8-8083-4B4801CFB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7713" y="1590675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超前单词</a:t>
            </a:r>
          </a:p>
        </p:txBody>
      </p:sp>
      <p:sp>
        <p:nvSpPr>
          <p:cNvPr id="95238" name="Text Box 6">
            <a:extLst>
              <a:ext uri="{FF2B5EF4-FFF2-40B4-BE49-F238E27FC236}">
                <a16:creationId xmlns:a16="http://schemas.microsoft.com/office/drawing/2014/main" id="{38361C73-C222-4BD6-8704-B7257F742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2492375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选择产生式</a:t>
            </a:r>
          </a:p>
        </p:txBody>
      </p:sp>
      <p:sp>
        <p:nvSpPr>
          <p:cNvPr id="95241" name="Text Box 9">
            <a:extLst>
              <a:ext uri="{FF2B5EF4-FFF2-40B4-BE49-F238E27FC236}">
                <a16:creationId xmlns:a16="http://schemas.microsoft.com/office/drawing/2014/main" id="{4F2BB230-4141-4728-873F-09DAAB8CD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3141663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分析孩子节点</a:t>
            </a:r>
          </a:p>
        </p:txBody>
      </p:sp>
      <p:sp>
        <p:nvSpPr>
          <p:cNvPr id="95244" name="Text Box 12">
            <a:extLst>
              <a:ext uri="{FF2B5EF4-FFF2-40B4-BE49-F238E27FC236}">
                <a16:creationId xmlns:a16="http://schemas.microsoft.com/office/drawing/2014/main" id="{540D8456-456E-48AE-8EEC-1C21ADB7B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3789363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处理</a:t>
            </a:r>
            <a:r>
              <a:rPr lang="en-US" altLang="zh-CN" sz="2400">
                <a:solidFill>
                  <a:srgbClr val="FF3300"/>
                </a:solidFill>
                <a:latin typeface="Tahoma" panose="020B0604030504040204" pitchFamily="34" charset="0"/>
              </a:rPr>
              <a:t>T</a:t>
            </a:r>
          </a:p>
        </p:txBody>
      </p:sp>
      <p:sp>
        <p:nvSpPr>
          <p:cNvPr id="95246" name="Text Box 14">
            <a:extLst>
              <a:ext uri="{FF2B5EF4-FFF2-40B4-BE49-F238E27FC236}">
                <a16:creationId xmlns:a16="http://schemas.microsoft.com/office/drawing/2014/main" id="{FA10FBD2-F2B5-4789-9182-C53A746BC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处理</a:t>
            </a:r>
            <a:r>
              <a:rPr lang="en-US" altLang="zh-CN" sz="2400">
                <a:solidFill>
                  <a:srgbClr val="FF3300"/>
                </a:solidFill>
                <a:latin typeface="Tahoma" panose="020B0604030504040204" pitchFamily="34" charset="0"/>
              </a:rPr>
              <a:t>NT</a:t>
            </a: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，递归</a:t>
            </a:r>
          </a:p>
        </p:txBody>
      </p:sp>
      <p:sp>
        <p:nvSpPr>
          <p:cNvPr id="82953" name="矩形 8">
            <a:extLst>
              <a:ext uri="{FF2B5EF4-FFF2-40B4-BE49-F238E27FC236}">
                <a16:creationId xmlns:a16="http://schemas.microsoft.com/office/drawing/2014/main" id="{E2D7D59D-A649-4728-90D8-81A45EE37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5192713"/>
            <a:ext cx="3313112" cy="166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i="1">
                <a:ea typeface="隶书" panose="02010509060101010101" pitchFamily="49" charset="-122"/>
              </a:rPr>
              <a:t>type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 </a:t>
            </a: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simple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           | 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 id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      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|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array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 [ </a:t>
            </a: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simple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 ]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of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  </a:t>
            </a: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type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simple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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integer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       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|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char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       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|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num dotdot num</a:t>
            </a:r>
            <a:endParaRPr lang="en-US" altLang="zh-CN" sz="1400">
              <a:ea typeface="隶书" panose="02010509060101010101" pitchFamily="49" charset="-122"/>
            </a:endParaRP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531649C9-6D69-4A8A-A18F-091BBC06C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1590675"/>
            <a:ext cx="2016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3300"/>
                </a:solidFill>
                <a:latin typeface="Tahoma" panose="020B0604030504040204" pitchFamily="34" charset="0"/>
              </a:rPr>
              <a:t>首单词集合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0" tmFilter="0, 0; .2, .5; .8, .5; 1, 0"/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0" autoRev="1" fill="hold"/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0" tmFilter="0, 0; .2, .5; .8, .5; 1, 0"/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0" autoRev="1" fill="hold"/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0" tmFilter="0, 0; .2, .5; .8, .5; 1, 0"/>
                                        <p:tgtEl>
                                          <p:spTgt spid="95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0" autoRev="1" fill="hold"/>
                                        <p:tgtEl>
                                          <p:spTgt spid="95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0" tmFilter="0, 0; .2, .5; .8, .5; 1, 0"/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0" autoRev="1" fill="hold"/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0" tmFilter="0, 0; .2, .5; .8, .5; 1, 0"/>
                                        <p:tgtEl>
                                          <p:spTgt spid="95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0" autoRev="1" fill="hold"/>
                                        <p:tgtEl>
                                          <p:spTgt spid="95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0" tmFilter="0, 0; .2, .5; .8, .5; 1, 0"/>
                                        <p:tgtEl>
                                          <p:spTgt spid="95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0" autoRev="1" fill="hold"/>
                                        <p:tgtEl>
                                          <p:spTgt spid="95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0" tmFilter="0, 0; .2, .5; .8, .5; 1, 0"/>
                                        <p:tgtEl>
                                          <p:spTgt spid="95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2500" autoRev="1" fill="hold"/>
                                        <p:tgtEl>
                                          <p:spTgt spid="95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0" tmFilter="0, 0; .2, .5; .8, .5; 1, 0"/>
                                        <p:tgtEl>
                                          <p:spTgt spid="952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0" autoRev="1" fill="hold"/>
                                        <p:tgtEl>
                                          <p:spTgt spid="952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0" tmFilter="0, 0; .2, .5; .8, .5; 1, 0"/>
                                        <p:tgtEl>
                                          <p:spTgt spid="952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0" autoRev="1" fill="hold"/>
                                        <p:tgtEl>
                                          <p:spTgt spid="952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0" tmFilter="0, 0; .2, .5; .8, .5; 1, 0"/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0" autoRev="1" fill="hold"/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0" tmFilter="0, 0; .2, .5; .8, .5; 1, 0"/>
                                        <p:tgtEl>
                                          <p:spTgt spid="95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0" autoRev="1" fill="hold"/>
                                        <p:tgtEl>
                                          <p:spTgt spid="95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0" tmFilter="0, 0; .2, .5; .8, .5; 1, 0"/>
                                        <p:tgtEl>
                                          <p:spTgt spid="95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0" autoRev="1" fill="hold"/>
                                        <p:tgtEl>
                                          <p:spTgt spid="95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0" tmFilter="0, 0; .2, .5; .8, .5; 1, 0"/>
                                        <p:tgtEl>
                                          <p:spTgt spid="952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0" autoRev="1" fill="hold"/>
                                        <p:tgtEl>
                                          <p:spTgt spid="952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0" tmFilter="0, 0; .2, .5; .8, .5; 1, 0"/>
                                        <p:tgtEl>
                                          <p:spTgt spid="95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500" autoRev="1" fill="hold"/>
                                        <p:tgtEl>
                                          <p:spTgt spid="95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0" tmFilter="0, 0; .2, .5; .8, .5; 1, 0"/>
                                        <p:tgtEl>
                                          <p:spTgt spid="952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2500" autoRev="1" fill="hold"/>
                                        <p:tgtEl>
                                          <p:spTgt spid="952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0" tmFilter="0, 0; .2, .5; .8, .5; 1, 0"/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3" dur="2500" autoRev="1" fill="hold"/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6" grpId="0"/>
      <p:bldP spid="95236" grpId="1"/>
      <p:bldP spid="95238" grpId="0"/>
      <p:bldP spid="95238" grpId="1"/>
      <p:bldP spid="95241" grpId="0"/>
      <p:bldP spid="95241" grpId="1"/>
      <p:bldP spid="95244" grpId="0"/>
      <p:bldP spid="95244" grpId="1"/>
      <p:bldP spid="95246" grpId="0"/>
      <p:bldP spid="10" grpId="0"/>
      <p:bldP spid="10" grpId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A51601AF-924C-4500-92E0-B2142236C0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预测分析程序（续）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4724CC00-ED0C-4E5E-BA3A-F8F86550E6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procedure </a:t>
            </a:r>
            <a:r>
              <a:rPr kumimoji="0" lang="en-US" altLang="zh-CN" sz="2400" i="1">
                <a:sym typeface="Symbol" panose="05050102010706020507" pitchFamily="18" charset="2"/>
              </a:rPr>
              <a:t> simple </a:t>
            </a:r>
            <a:r>
              <a:rPr kumimoji="0" lang="en-US" altLang="zh-CN" sz="2400">
                <a:sym typeface="Symbol" panose="05050102010706020507" pitchFamily="18" charset="2"/>
              </a:rPr>
              <a:t>;</a:t>
            </a:r>
          </a:p>
          <a:p>
            <a:pPr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begin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        if </a:t>
            </a:r>
            <a:r>
              <a:rPr kumimoji="0" lang="en-US" altLang="zh-CN" sz="2400" i="1">
                <a:sym typeface="Symbol" panose="05050102010706020507" pitchFamily="18" charset="2"/>
              </a:rPr>
              <a:t> lookahead </a:t>
            </a:r>
            <a:r>
              <a:rPr kumimoji="0" lang="en-US" altLang="zh-CN" sz="2400">
                <a:sym typeface="Symbol" panose="05050102010706020507" pitchFamily="18" charset="2"/>
              </a:rPr>
              <a:t>= </a:t>
            </a:r>
            <a:r>
              <a:rPr kumimoji="0" lang="en-US" altLang="zh-CN" sz="2400" b="1">
                <a:sym typeface="Symbol" panose="05050102010706020507" pitchFamily="18" charset="2"/>
              </a:rPr>
              <a:t>integer  then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                </a:t>
            </a:r>
            <a:r>
              <a:rPr kumimoji="0" lang="en-US" altLang="zh-CN" sz="2400" i="1">
                <a:sym typeface="Symbol" panose="05050102010706020507" pitchFamily="18" charset="2"/>
              </a:rPr>
              <a:t>match</a:t>
            </a:r>
            <a:r>
              <a:rPr kumimoji="0" lang="en-US" altLang="zh-CN" sz="2400">
                <a:sym typeface="Symbol" panose="05050102010706020507" pitchFamily="18" charset="2"/>
              </a:rPr>
              <a:t> ( </a:t>
            </a:r>
            <a:r>
              <a:rPr kumimoji="0" lang="en-US" altLang="zh-CN" sz="2400" b="1">
                <a:sym typeface="Symbol" panose="05050102010706020507" pitchFamily="18" charset="2"/>
              </a:rPr>
              <a:t>integer</a:t>
            </a:r>
            <a:r>
              <a:rPr kumimoji="0" lang="en-US" altLang="zh-CN" sz="2400">
                <a:sym typeface="Symbol" panose="05050102010706020507" pitchFamily="18" charset="2"/>
              </a:rPr>
              <a:t> );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  </a:t>
            </a:r>
            <a:r>
              <a:rPr kumimoji="0" lang="en-US" altLang="zh-CN" sz="2400" b="1">
                <a:sym typeface="Symbol" panose="05050102010706020507" pitchFamily="18" charset="2"/>
              </a:rPr>
              <a:t>else if </a:t>
            </a:r>
            <a:r>
              <a:rPr kumimoji="0" lang="en-US" altLang="zh-CN" sz="2400" i="1">
                <a:sym typeface="Symbol" panose="05050102010706020507" pitchFamily="18" charset="2"/>
              </a:rPr>
              <a:t> lookahead </a:t>
            </a:r>
            <a:r>
              <a:rPr kumimoji="0" lang="en-US" altLang="zh-CN" sz="2400">
                <a:sym typeface="Symbol" panose="05050102010706020507" pitchFamily="18" charset="2"/>
              </a:rPr>
              <a:t>= </a:t>
            </a:r>
            <a:r>
              <a:rPr kumimoji="0" lang="en-US" altLang="zh-CN" sz="2400" b="1">
                <a:sym typeface="Symbol" panose="05050102010706020507" pitchFamily="18" charset="2"/>
              </a:rPr>
              <a:t>char  then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                </a:t>
            </a:r>
            <a:r>
              <a:rPr kumimoji="0" lang="en-US" altLang="zh-CN" sz="2400" i="1">
                <a:sym typeface="Symbol" panose="05050102010706020507" pitchFamily="18" charset="2"/>
              </a:rPr>
              <a:t>match </a:t>
            </a:r>
            <a:r>
              <a:rPr kumimoji="0" lang="en-US" altLang="zh-CN" sz="2400"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char</a:t>
            </a:r>
            <a:r>
              <a:rPr kumimoji="0" lang="en-US" altLang="zh-CN" sz="2400">
                <a:sym typeface="Symbol" panose="05050102010706020507" pitchFamily="18" charset="2"/>
              </a:rPr>
              <a:t> );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        else if  </a:t>
            </a:r>
            <a:r>
              <a:rPr kumimoji="0" lang="en-US" altLang="zh-CN" sz="2400" i="1">
                <a:sym typeface="Symbol" panose="05050102010706020507" pitchFamily="18" charset="2"/>
              </a:rPr>
              <a:t>lookahead </a:t>
            </a:r>
            <a:r>
              <a:rPr kumimoji="0" lang="en-US" altLang="zh-CN" sz="2400">
                <a:sym typeface="Symbol" panose="05050102010706020507" pitchFamily="18" charset="2"/>
              </a:rPr>
              <a:t>= </a:t>
            </a:r>
            <a:r>
              <a:rPr kumimoji="0" lang="en-US" altLang="zh-CN" sz="2400" b="1">
                <a:sym typeface="Symbol" panose="05050102010706020507" pitchFamily="18" charset="2"/>
              </a:rPr>
              <a:t>num  then  begin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                </a:t>
            </a:r>
            <a:r>
              <a:rPr kumimoji="0" lang="en-US" altLang="zh-CN" sz="2400" i="1">
                <a:sym typeface="Symbol" panose="05050102010706020507" pitchFamily="18" charset="2"/>
              </a:rPr>
              <a:t>match </a:t>
            </a:r>
            <a:r>
              <a:rPr kumimoji="0" lang="en-US" altLang="zh-CN" sz="2400"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num</a:t>
            </a:r>
            <a:r>
              <a:rPr kumimoji="0" lang="en-US" altLang="zh-CN" sz="2400">
                <a:sym typeface="Symbol" panose="05050102010706020507" pitchFamily="18" charset="2"/>
              </a:rPr>
              <a:t>); </a:t>
            </a:r>
            <a:r>
              <a:rPr kumimoji="0" lang="en-US" altLang="zh-CN" sz="2400" i="1">
                <a:sym typeface="Symbol" panose="05050102010706020507" pitchFamily="18" charset="2"/>
              </a:rPr>
              <a:t>match </a:t>
            </a:r>
            <a:r>
              <a:rPr kumimoji="0" lang="en-US" altLang="zh-CN" sz="2400"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dotdot</a:t>
            </a:r>
            <a:r>
              <a:rPr kumimoji="0" lang="en-US" altLang="zh-CN" sz="2400">
                <a:sym typeface="Symbol" panose="05050102010706020507" pitchFamily="18" charset="2"/>
              </a:rPr>
              <a:t>); </a:t>
            </a:r>
            <a:r>
              <a:rPr kumimoji="0" lang="en-US" altLang="zh-CN" sz="2400" i="1">
                <a:sym typeface="Symbol" panose="05050102010706020507" pitchFamily="18" charset="2"/>
              </a:rPr>
              <a:t>match </a:t>
            </a:r>
            <a:r>
              <a:rPr kumimoji="0" lang="en-US" altLang="zh-CN" sz="2400"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num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  </a:t>
            </a:r>
            <a:r>
              <a:rPr kumimoji="0" lang="en-US" altLang="zh-CN" sz="2400" b="1">
                <a:sym typeface="Symbol" panose="05050102010706020507" pitchFamily="18" charset="2"/>
              </a:rPr>
              <a:t>end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        else  </a:t>
            </a:r>
            <a:r>
              <a:rPr kumimoji="0" lang="en-US" altLang="zh-CN" sz="2400" i="1">
                <a:sym typeface="Symbol" panose="05050102010706020507" pitchFamily="18" charset="2"/>
              </a:rPr>
              <a:t>error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end ;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37EE5A52-77BA-4547-A3CF-9BD46E9BF3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2.4.4  </a:t>
            </a:r>
            <a:r>
              <a:rPr lang="zh-CN" altLang="en-US"/>
              <a:t>设计预测分析器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DBC5EC91-5EE3-4204-B650-680D052A3A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sym typeface="Wingdings" panose="05000000000000000000" pitchFamily="2" charset="2"/>
              </a:rPr>
              <a:t>一个超前单词</a:t>
            </a:r>
            <a:r>
              <a:rPr lang="en-US" altLang="zh-CN" sz="2800" dirty="0">
                <a:latin typeface="Tahoma" panose="020B0604030504040204" pitchFamily="34" charset="0"/>
                <a:sym typeface="Wingdings" panose="05000000000000000000" pitchFamily="2" charset="2"/>
              </a:rPr>
              <a:t>———</a:t>
            </a:r>
            <a:r>
              <a:rPr lang="zh-CN" altLang="en-US" sz="2800" dirty="0">
                <a:sym typeface="Wingdings" panose="05000000000000000000" pitchFamily="2" charset="2"/>
              </a:rPr>
              <a:t>产生式</a:t>
            </a:r>
            <a:br>
              <a:rPr lang="zh-CN" altLang="en-US" sz="2800" dirty="0">
                <a:sym typeface="Wingdings" panose="05000000000000000000" pitchFamily="2" charset="2"/>
              </a:rPr>
            </a:br>
            <a:r>
              <a:rPr lang="zh-CN" altLang="en-US" sz="2800" dirty="0">
                <a:sym typeface="Wingdings" panose="05000000000000000000" pitchFamily="2" charset="2"/>
              </a:rPr>
              <a:t>不同候选式推导出的单词串的第一个单词不同</a:t>
            </a:r>
            <a:endParaRPr lang="zh-CN" altLang="en-US" sz="2800" dirty="0"/>
          </a:p>
          <a:p>
            <a:pPr eaLnBrk="1" hangingPunct="1"/>
            <a:r>
              <a:rPr lang="en-US" altLang="zh-CN" sz="2800" dirty="0"/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latin typeface="宋体" panose="02010600030101010101" pitchFamily="2" charset="-122"/>
                <a:sym typeface="Symbol" panose="05050102010706020507" pitchFamily="18" charset="2"/>
              </a:rPr>
              <a:t></a:t>
            </a:r>
          </a:p>
          <a:p>
            <a:pPr lvl="1" eaLnBrk="1" hangingPunct="1"/>
            <a:r>
              <a:rPr lang="en-US" altLang="zh-CN" sz="2400" dirty="0">
                <a:sym typeface="Symbol" panose="05050102010706020507" pitchFamily="18" charset="2"/>
              </a:rPr>
              <a:t>FIRST()</a:t>
            </a:r>
            <a:r>
              <a:rPr lang="zh-CN" altLang="en-US" sz="2400" dirty="0">
                <a:sym typeface="Symbol" panose="05050102010706020507" pitchFamily="18" charset="2"/>
              </a:rPr>
              <a:t>：推导出的单词串的第一个单词的集合，可包含</a:t>
            </a:r>
            <a:r>
              <a:rPr lang="en-US" altLang="zh-CN" sz="2400" dirty="0">
                <a:sym typeface="Symbol" panose="05050102010706020507" pitchFamily="18" charset="2"/>
              </a:rPr>
              <a:t>ε</a:t>
            </a:r>
          </a:p>
          <a:p>
            <a:pPr lvl="1" eaLnBrk="1" hangingPunct="1"/>
            <a:r>
              <a:rPr lang="en-US" altLang="zh-CN" sz="2400" dirty="0">
                <a:sym typeface="Symbol" panose="05050102010706020507" pitchFamily="18" charset="2"/>
              </a:rPr>
              <a:t>FIRST(simple) = { integer, char, num }</a:t>
            </a:r>
            <a:br>
              <a:rPr lang="en-US" altLang="zh-CN" sz="2400" dirty="0">
                <a:sym typeface="Symbol" panose="05050102010706020507" pitchFamily="18" charset="2"/>
              </a:rPr>
            </a:br>
            <a:r>
              <a:rPr lang="en-US" altLang="zh-CN" sz="2400" dirty="0">
                <a:sym typeface="Symbol" panose="05050102010706020507" pitchFamily="18" charset="2"/>
              </a:rPr>
              <a:t>FIRST(</a:t>
            </a:r>
            <a:r>
              <a:rPr kumimoji="0" lang="en-US" altLang="zh-CN" sz="2400" dirty="0">
                <a:sym typeface="Symbol" panose="05050102010706020507" pitchFamily="18" charset="2"/>
              </a:rPr>
              <a:t></a:t>
            </a:r>
            <a:r>
              <a:rPr kumimoji="0" lang="en-US" altLang="zh-CN" sz="2400" b="1" dirty="0">
                <a:sym typeface="Symbol" panose="05050102010706020507" pitchFamily="18" charset="2"/>
              </a:rPr>
              <a:t>id</a:t>
            </a:r>
            <a:r>
              <a:rPr kumimoji="0" lang="en-US" altLang="zh-CN" sz="2400" dirty="0">
                <a:sym typeface="Symbol" panose="05050102010706020507" pitchFamily="18" charset="2"/>
              </a:rPr>
              <a:t>) = {}</a:t>
            </a:r>
            <a:br>
              <a:rPr kumimoji="0" lang="en-US" altLang="zh-CN" sz="2400" dirty="0">
                <a:sym typeface="Symbol" panose="05050102010706020507" pitchFamily="18" charset="2"/>
              </a:rPr>
            </a:br>
            <a:r>
              <a:rPr kumimoji="0" lang="en-US" altLang="zh-CN" sz="2400" dirty="0">
                <a:sym typeface="Symbol" panose="05050102010706020507" pitchFamily="18" charset="2"/>
              </a:rPr>
              <a:t>FIRST(</a:t>
            </a:r>
            <a:r>
              <a:rPr kumimoji="0" lang="en-US" altLang="zh-CN" sz="2400" b="1" dirty="0">
                <a:sym typeface="Symbol" panose="05050102010706020507" pitchFamily="18" charset="2"/>
              </a:rPr>
              <a:t>array</a:t>
            </a:r>
            <a:r>
              <a:rPr kumimoji="0" lang="en-US" altLang="zh-CN" sz="2400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ym typeface="Symbol" panose="05050102010706020507" pitchFamily="18" charset="2"/>
              </a:rPr>
              <a:t>[</a:t>
            </a:r>
            <a:r>
              <a:rPr kumimoji="0" lang="en-US" altLang="zh-CN" sz="2400" dirty="0">
                <a:sym typeface="Symbol" panose="05050102010706020507" pitchFamily="18" charset="2"/>
              </a:rPr>
              <a:t> simple </a:t>
            </a:r>
            <a:r>
              <a:rPr kumimoji="0" lang="en-US" altLang="zh-CN" sz="2400" b="1" dirty="0">
                <a:sym typeface="Symbol" panose="05050102010706020507" pitchFamily="18" charset="2"/>
              </a:rPr>
              <a:t>]</a:t>
            </a:r>
            <a:r>
              <a:rPr kumimoji="0" lang="en-US" altLang="zh-CN" sz="2400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ym typeface="Symbol" panose="05050102010706020507" pitchFamily="18" charset="2"/>
              </a:rPr>
              <a:t>of</a:t>
            </a:r>
            <a:r>
              <a:rPr kumimoji="0" lang="en-US" altLang="zh-CN" sz="2400" dirty="0">
                <a:sym typeface="Symbol" panose="05050102010706020507" pitchFamily="18" charset="2"/>
              </a:rPr>
              <a:t> type) = { </a:t>
            </a:r>
            <a:r>
              <a:rPr kumimoji="0" lang="en-US" altLang="zh-CN" sz="2400" b="1" dirty="0">
                <a:sym typeface="Symbol" panose="05050102010706020507" pitchFamily="18" charset="2"/>
              </a:rPr>
              <a:t>array</a:t>
            </a:r>
            <a:r>
              <a:rPr kumimoji="0" lang="en-US" altLang="zh-CN" sz="2400" dirty="0">
                <a:sym typeface="Symbol" panose="05050102010706020507" pitchFamily="18" charset="2"/>
              </a:rPr>
              <a:t> }</a:t>
            </a:r>
          </a:p>
          <a:p>
            <a:pPr eaLnBrk="1" hangingPunct="1"/>
            <a:r>
              <a:rPr lang="en-US" altLang="zh-CN" sz="2800" dirty="0"/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</a:t>
            </a:r>
            <a:r>
              <a:rPr lang="zh-CN" altLang="en-US" sz="2800" dirty="0">
                <a:sym typeface="Symbol" panose="05050102010706020507" pitchFamily="18" charset="2"/>
              </a:rPr>
              <a:t>，</a:t>
            </a:r>
            <a:r>
              <a:rPr lang="en-US" altLang="zh-CN" sz="2800" dirty="0" err="1"/>
              <a:t>A</a:t>
            </a:r>
            <a:r>
              <a:rPr lang="en-US" altLang="zh-CN" sz="2800" dirty="0" err="1">
                <a:sym typeface="Symbol" panose="05050102010706020507" pitchFamily="18" charset="2"/>
              </a:rPr>
              <a:t></a:t>
            </a:r>
            <a:r>
              <a:rPr lang="en-US" altLang="zh-CN" sz="2800" dirty="0" err="1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zh-CN" altLang="en-US" sz="2800" dirty="0"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sym typeface="Symbol" panose="05050102010706020507" pitchFamily="18" charset="2"/>
              </a:rPr>
              <a:t>FIRST()</a:t>
            </a:r>
            <a:r>
              <a:rPr lang="zh-CN" altLang="en-US" sz="2800" dirty="0">
                <a:sym typeface="Symbol" panose="05050102010706020507" pitchFamily="18" charset="2"/>
              </a:rPr>
              <a:t>和</a:t>
            </a:r>
            <a:r>
              <a:rPr lang="en-US" altLang="zh-CN" sz="2800" dirty="0">
                <a:sym typeface="Symbol" panose="05050102010706020507" pitchFamily="18" charset="2"/>
              </a:rPr>
              <a:t>FIRST(</a:t>
            </a:r>
            <a:r>
              <a:rPr lang="en-US" altLang="zh-CN" sz="2800" dirty="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zh-CN" sz="2800" dirty="0">
                <a:sym typeface="Symbol" panose="05050102010706020507" pitchFamily="18" charset="2"/>
              </a:rPr>
              <a:t>)</a:t>
            </a:r>
            <a:r>
              <a:rPr lang="zh-CN" altLang="en-US" sz="2800" dirty="0">
                <a:sym typeface="Symbol" panose="05050102010706020507" pitchFamily="18" charset="2"/>
              </a:rPr>
              <a:t>不能相交</a:t>
            </a:r>
          </a:p>
        </p:txBody>
      </p:sp>
      <p:sp>
        <p:nvSpPr>
          <p:cNvPr id="84996" name="Text Box 4">
            <a:extLst>
              <a:ext uri="{FF2B5EF4-FFF2-40B4-BE49-F238E27FC236}">
                <a16:creationId xmlns:a16="http://schemas.microsoft.com/office/drawing/2014/main" id="{5839B68A-75FB-4FBA-8FF9-0E1349B999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295400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唯一确定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D78940C5-377B-47CD-9146-49BC041DA4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预测分析器算法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D070196D-D3DA-4A43-B0E1-F36A93FCE5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marL="609600" indent="-609600" eaLnBrk="1" hangingPunct="1"/>
            <a:r>
              <a:rPr lang="zh-CN" altLang="en-US" sz="2800"/>
              <a:t>为每个</a:t>
            </a:r>
            <a:r>
              <a:rPr lang="en-US" altLang="zh-CN" sz="2800"/>
              <a:t>NT A</a:t>
            </a:r>
            <a:r>
              <a:rPr lang="zh-CN" altLang="en-US" sz="2800"/>
              <a:t>构造一个递归函数，完成如下工作：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产生式选择</a:t>
            </a:r>
          </a:p>
          <a:p>
            <a:pPr marL="990600" lvl="1" indent="-533400" eaLnBrk="1" hangingPunct="1">
              <a:spcBef>
                <a:spcPct val="0"/>
              </a:spcBef>
              <a:buFont typeface="Wingdings" panose="05000000000000000000" pitchFamily="2" charset="2"/>
              <a:buAutoNum type="alphaLcParenR"/>
            </a:pPr>
            <a:r>
              <a:rPr lang="zh-CN" altLang="en-US" sz="2400"/>
              <a:t>对</a:t>
            </a:r>
            <a:r>
              <a:rPr lang="en-US" altLang="zh-CN" sz="2400"/>
              <a:t>A</a:t>
            </a:r>
            <a:r>
              <a:rPr lang="en-US" altLang="zh-CN" sz="2400">
                <a:sym typeface="Symbol" panose="05050102010706020507" pitchFamily="18" charset="2"/>
              </a:rPr>
              <a:t></a:t>
            </a:r>
            <a:r>
              <a:rPr lang="en-US" altLang="zh-CN" sz="2400">
                <a:latin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lang="zh-CN" altLang="en-US" sz="2400">
                <a:latin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zh-CN" altLang="en-US" sz="2400">
                <a:sym typeface="Symbol" panose="05050102010706020507" pitchFamily="18" charset="2"/>
              </a:rPr>
              <a:t>超前符号在</a:t>
            </a:r>
            <a:r>
              <a:rPr lang="en-US" altLang="zh-CN" sz="2400">
                <a:sym typeface="Symbol" panose="05050102010706020507" pitchFamily="18" charset="2"/>
              </a:rPr>
              <a:t>FIRST()</a:t>
            </a:r>
            <a:r>
              <a:rPr lang="zh-CN" altLang="en-US" sz="2400">
                <a:sym typeface="Symbol" panose="05050102010706020507" pitchFamily="18" charset="2"/>
              </a:rPr>
              <a:t>中</a:t>
            </a:r>
            <a:r>
              <a:rPr lang="zh-CN" altLang="en-US" sz="2400">
                <a:sym typeface="Wingdings" panose="05000000000000000000" pitchFamily="2" charset="2"/>
              </a:rPr>
              <a:t></a:t>
            </a:r>
            <a:r>
              <a:rPr lang="zh-CN" altLang="en-US" sz="2400">
                <a:sym typeface="Symbol" panose="05050102010706020507" pitchFamily="18" charset="2"/>
              </a:rPr>
              <a:t>选择它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lang="zh-CN" altLang="en-US" sz="2400">
                <a:sym typeface="Symbol" panose="05050102010706020507" pitchFamily="18" charset="2"/>
              </a:rPr>
              <a:t>若有冲突</a:t>
            </a:r>
            <a:r>
              <a:rPr lang="zh-CN" altLang="en-US" sz="2400">
                <a:sym typeface="Wingdings" panose="05000000000000000000" pitchFamily="2" charset="2"/>
              </a:rPr>
              <a:t></a:t>
            </a:r>
            <a:r>
              <a:rPr lang="zh-CN" altLang="en-US" sz="2400">
                <a:sym typeface="Symbol" panose="05050102010706020507" pitchFamily="18" charset="2"/>
              </a:rPr>
              <a:t>预测分析法不适用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lang="en-US" altLang="zh-CN" sz="2400"/>
              <a:t>A</a:t>
            </a:r>
            <a:r>
              <a:rPr lang="en-US" altLang="zh-CN" sz="2400">
                <a:sym typeface="Symbol" panose="05050102010706020507" pitchFamily="18" charset="2"/>
              </a:rPr>
              <a:t> 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lang="zh-CN" altLang="en-US" sz="2400">
                <a:sym typeface="Symbol" panose="05050102010706020507" pitchFamily="18" charset="2"/>
              </a:rPr>
              <a:t>，且超前单词不在其他任何产生式右部的</a:t>
            </a:r>
            <a:r>
              <a:rPr lang="en-US" altLang="zh-CN" sz="2400">
                <a:sym typeface="Symbol" panose="05050102010706020507" pitchFamily="18" charset="2"/>
              </a:rPr>
              <a:t>FIRST</a:t>
            </a:r>
            <a:r>
              <a:rPr lang="zh-CN" altLang="en-US" sz="2400">
                <a:sym typeface="Symbol" panose="05050102010706020507" pitchFamily="18" charset="2"/>
              </a:rPr>
              <a:t>集中</a:t>
            </a:r>
            <a:r>
              <a:rPr lang="zh-CN" altLang="en-US" sz="2400">
                <a:sym typeface="Wingdings" panose="05000000000000000000" pitchFamily="2" charset="2"/>
              </a:rPr>
              <a:t></a:t>
            </a:r>
            <a:r>
              <a:rPr lang="zh-CN" altLang="en-US" sz="2400">
                <a:sym typeface="Symbol" panose="05050102010706020507" pitchFamily="18" charset="2"/>
              </a:rPr>
              <a:t>选择它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574EA197-D2E7-4325-9747-5515E827D3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预测分析器算法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D5A9318D-E9B7-45A7-995F-9BFD349A7F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 startAt="2"/>
            </a:pPr>
            <a:r>
              <a:rPr lang="zh-CN" altLang="en-US">
                <a:sym typeface="Symbol" panose="05050102010706020507" pitchFamily="18" charset="2"/>
              </a:rPr>
              <a:t>产生式的使用</a:t>
            </a:r>
            <a:r>
              <a:rPr lang="en-US" altLang="zh-CN">
                <a:sym typeface="Symbol" panose="05050102010706020507" pitchFamily="18" charset="2"/>
              </a:rPr>
              <a:t>——</a:t>
            </a:r>
            <a:r>
              <a:rPr lang="zh-CN" altLang="en-US">
                <a:sym typeface="Symbol" panose="05050102010706020507" pitchFamily="18" charset="2"/>
              </a:rPr>
              <a:t>依次处理右部符号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lang="zh-CN" altLang="en-US">
                <a:sym typeface="Symbol" panose="05050102010706020507" pitchFamily="18" charset="2"/>
              </a:rPr>
              <a:t>对</a:t>
            </a:r>
            <a:r>
              <a:rPr lang="en-US" altLang="zh-CN">
                <a:sym typeface="Symbol" panose="05050102010706020507" pitchFamily="18" charset="2"/>
              </a:rPr>
              <a:t>NT</a:t>
            </a:r>
            <a:r>
              <a:rPr lang="zh-CN" altLang="en-US">
                <a:sym typeface="Symbol" panose="05050102010706020507" pitchFamily="18" charset="2"/>
              </a:rPr>
              <a:t>，调用对应递归函数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lang="zh-CN" altLang="en-US">
                <a:sym typeface="Symbol" panose="05050102010706020507" pitchFamily="18" charset="2"/>
              </a:rPr>
              <a:t>对</a:t>
            </a:r>
            <a:r>
              <a:rPr lang="en-US" altLang="zh-CN">
                <a:sym typeface="Symbol" panose="05050102010706020507" pitchFamily="18" charset="2"/>
              </a:rPr>
              <a:t>T</a:t>
            </a:r>
            <a:r>
              <a:rPr lang="zh-CN" altLang="en-US">
                <a:sym typeface="Symbol" panose="05050102010706020507" pitchFamily="18" charset="2"/>
              </a:rPr>
              <a:t>，与超前单词比较，若匹配读取下一单词，否则错误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402A32EF-5AEA-4F4C-B3DE-B411F3F11D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结合翻译模式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3CE502E9-43EC-4608-9919-41FFCC8CBC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812800" indent="-812800" eaLnBrk="1" hangingPunct="1"/>
            <a:r>
              <a:rPr lang="zh-CN" altLang="en-US" sz="2800" dirty="0"/>
              <a:t>简单方法</a:t>
            </a:r>
          </a:p>
          <a:p>
            <a:pPr marL="812800" indent="-8128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/>
              <a:t>首先构造预测分析器</a:t>
            </a:r>
          </a:p>
          <a:p>
            <a:pPr marL="812800" indent="-8128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/>
              <a:t>实现语义动作</a:t>
            </a:r>
          </a:p>
          <a:p>
            <a:pPr marL="1168400" lvl="1" indent="-711200" eaLnBrk="1" hangingPunct="1">
              <a:buFont typeface="Wingdings" panose="05000000000000000000" pitchFamily="2" charset="2"/>
              <a:buAutoNum type="alphaLcParenR"/>
            </a:pPr>
            <a:r>
              <a:rPr lang="zh-CN" altLang="en-US" sz="2400" dirty="0"/>
              <a:t>将语义动作的程序片段复制到分析器代码中</a:t>
            </a:r>
          </a:p>
          <a:p>
            <a:pPr marL="1168400" lvl="1" indent="-711200" eaLnBrk="1" hangingPunct="1">
              <a:buFont typeface="Wingdings" panose="05000000000000000000" pitchFamily="2" charset="2"/>
              <a:buAutoNum type="alphaLcParenR"/>
            </a:pPr>
            <a:r>
              <a:rPr lang="zh-CN" altLang="en-US" sz="2400" dirty="0"/>
              <a:t>位置？</a:t>
            </a:r>
          </a:p>
          <a:p>
            <a:pPr marL="1524000" lvl="2" indent="-609600" eaLnBrk="1" hangingPunct="1">
              <a:buFont typeface="Wingdings" panose="05000000000000000000" pitchFamily="2" charset="2"/>
              <a:buAutoNum type="romanUcPeriod"/>
            </a:pPr>
            <a:r>
              <a:rPr lang="zh-CN" altLang="en-US" sz="2000" dirty="0"/>
              <a:t>语义动作位于语法符号</a:t>
            </a:r>
            <a:r>
              <a:rPr lang="en-US" altLang="zh-CN" sz="2000" dirty="0"/>
              <a:t>X</a:t>
            </a:r>
            <a:r>
              <a:rPr lang="zh-CN" altLang="en-US" sz="2000" dirty="0"/>
              <a:t>之后</a:t>
            </a:r>
            <a:br>
              <a:rPr lang="zh-CN" altLang="en-US" sz="2000" dirty="0"/>
            </a:br>
            <a:r>
              <a:rPr lang="zh-CN" altLang="en-US" sz="2000" dirty="0"/>
              <a:t>将程序片段放在紧接在处理</a:t>
            </a:r>
            <a:r>
              <a:rPr lang="en-US" altLang="zh-CN" sz="2000" dirty="0"/>
              <a:t>X</a:t>
            </a:r>
            <a:r>
              <a:rPr lang="zh-CN" altLang="en-US" sz="2000" dirty="0"/>
              <a:t>的代码之后</a:t>
            </a:r>
          </a:p>
          <a:p>
            <a:pPr marL="1524000" lvl="2" indent="-609600" eaLnBrk="1" hangingPunct="1">
              <a:buFont typeface="Wingdings" panose="05000000000000000000" pitchFamily="2" charset="2"/>
              <a:buAutoNum type="romanUcPeriod"/>
            </a:pPr>
            <a:r>
              <a:rPr lang="zh-CN" altLang="en-US" sz="2000" dirty="0"/>
              <a:t>位于产生式开始，复制到函数最前面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494017DA-D976-4820-A465-1C2E8342CD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2.4.5  </a:t>
            </a:r>
            <a:r>
              <a:rPr lang="zh-CN" altLang="en-US"/>
              <a:t>左递归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87FA9E78-694A-4903-9579-E4C158965E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3300"/>
                </a:solidFill>
              </a:rPr>
              <a:t>left recursion</a:t>
            </a:r>
            <a:r>
              <a:rPr lang="zh-CN" altLang="en-US" sz="2400" dirty="0"/>
              <a:t>，导致递归下降程序无限循环</a:t>
            </a:r>
          </a:p>
        </p:txBody>
      </p:sp>
      <p:sp>
        <p:nvSpPr>
          <p:cNvPr id="89096" name="Text Box 8">
            <a:extLst>
              <a:ext uri="{FF2B5EF4-FFF2-40B4-BE49-F238E27FC236}">
                <a16:creationId xmlns:a16="http://schemas.microsoft.com/office/drawing/2014/main" id="{1F77CBCC-6CC7-4A96-A53B-240B422FD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0364" y="2420275"/>
            <a:ext cx="3657600" cy="2245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3333CC"/>
                </a:solidFill>
                <a:latin typeface="Tahoma" panose="020B0604030504040204" pitchFamily="34" charset="0"/>
              </a:rPr>
              <a:t>void </a:t>
            </a:r>
            <a:r>
              <a:rPr lang="en-US" altLang="zh-CN" sz="2200" dirty="0" err="1">
                <a:solidFill>
                  <a:srgbClr val="3333CC"/>
                </a:solidFill>
                <a:latin typeface="Tahoma" panose="020B0604030504040204" pitchFamily="34" charset="0"/>
              </a:rPr>
              <a:t>idlist</a:t>
            </a:r>
            <a:r>
              <a:rPr lang="en-US" altLang="zh-CN" sz="2200" dirty="0">
                <a:solidFill>
                  <a:srgbClr val="3333CC"/>
                </a:solidFill>
                <a:latin typeface="Tahoma" panose="020B0604030504040204" pitchFamily="34" charset="0"/>
              </a:rPr>
              <a:t>()</a:t>
            </a:r>
          </a:p>
          <a:p>
            <a:pPr eaLnBrk="1" hangingPunct="1">
              <a:lnSpc>
                <a:spcPct val="65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3333CC"/>
                </a:solidFill>
                <a:latin typeface="Tahoma" panose="020B0604030504040204" pitchFamily="34" charset="0"/>
              </a:rPr>
              <a:t>{</a:t>
            </a:r>
          </a:p>
          <a:p>
            <a:pPr eaLnBrk="1" hangingPunct="1">
              <a:lnSpc>
                <a:spcPct val="65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3333CC"/>
                </a:solidFill>
                <a:latin typeface="Tahoma" panose="020B0604030504040204" pitchFamily="34" charset="0"/>
              </a:rPr>
              <a:t>    </a:t>
            </a:r>
            <a:r>
              <a:rPr lang="en-US" altLang="zh-CN" sz="2200" dirty="0">
                <a:solidFill>
                  <a:srgbClr val="3333CC"/>
                </a:solidFill>
              </a:rPr>
              <a:t>…</a:t>
            </a:r>
            <a:endParaRPr lang="en-US" altLang="zh-CN" sz="2200" dirty="0">
              <a:solidFill>
                <a:srgbClr val="3333CC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3333CC"/>
                </a:solidFill>
                <a:latin typeface="Tahoma" panose="020B0604030504040204" pitchFamily="34" charset="0"/>
              </a:rPr>
              <a:t>    if (lookahead == </a:t>
            </a:r>
            <a:r>
              <a:rPr lang="en-US" altLang="zh-CN" sz="2200" dirty="0">
                <a:solidFill>
                  <a:srgbClr val="3333CC"/>
                </a:solidFill>
              </a:rPr>
              <a:t>…</a:t>
            </a:r>
            <a:r>
              <a:rPr lang="en-US" altLang="zh-CN" sz="2200" dirty="0">
                <a:solidFill>
                  <a:srgbClr val="3333CC"/>
                </a:solidFill>
                <a:latin typeface="Tahoma" panose="020B0604030504040204" pitchFamily="34" charset="0"/>
              </a:rPr>
              <a:t>) {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3333CC"/>
                </a:solidFill>
                <a:latin typeface="Tahoma" panose="020B0604030504040204" pitchFamily="34" charset="0"/>
              </a:rPr>
              <a:t>	</a:t>
            </a:r>
            <a:r>
              <a:rPr lang="en-US" altLang="zh-CN" sz="2200" dirty="0" err="1">
                <a:solidFill>
                  <a:srgbClr val="3333CC"/>
                </a:solidFill>
                <a:latin typeface="Tahoma" panose="020B0604030504040204" pitchFamily="34" charset="0"/>
              </a:rPr>
              <a:t>idlist</a:t>
            </a:r>
            <a:r>
              <a:rPr lang="en-US" altLang="zh-CN" sz="2200" dirty="0">
                <a:solidFill>
                  <a:srgbClr val="3333CC"/>
                </a:solidFill>
                <a:latin typeface="Tahoma" panose="020B0604030504040204" pitchFamily="34" charset="0"/>
              </a:rPr>
              <a:t>();</a:t>
            </a:r>
          </a:p>
          <a:p>
            <a:pPr eaLnBrk="1" hangingPunct="1">
              <a:lnSpc>
                <a:spcPct val="65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3333CC"/>
                </a:solidFill>
                <a:latin typeface="Tahoma" panose="020B0604030504040204" pitchFamily="34" charset="0"/>
              </a:rPr>
              <a:t>	</a:t>
            </a:r>
            <a:r>
              <a:rPr lang="en-US" altLang="zh-CN" sz="2200" dirty="0">
                <a:solidFill>
                  <a:srgbClr val="3333CC"/>
                </a:solidFill>
              </a:rPr>
              <a:t>…</a:t>
            </a:r>
            <a:endParaRPr lang="en-US" altLang="zh-CN" sz="2200" dirty="0">
              <a:solidFill>
                <a:srgbClr val="3333CC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65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3333CC"/>
                </a:solidFill>
                <a:latin typeface="Tahoma" panose="020B0604030504040204" pitchFamily="34" charset="0"/>
              </a:rPr>
              <a:t>    }</a:t>
            </a:r>
          </a:p>
          <a:p>
            <a:pPr eaLnBrk="1" hangingPunct="1">
              <a:lnSpc>
                <a:spcPct val="65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3333CC"/>
                </a:solidFill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89097" name="Freeform 9">
            <a:extLst>
              <a:ext uri="{FF2B5EF4-FFF2-40B4-BE49-F238E27FC236}">
                <a16:creationId xmlns:a16="http://schemas.microsoft.com/office/drawing/2014/main" id="{E8F6DF28-EA6E-4046-A120-872AC8281B95}"/>
              </a:ext>
            </a:extLst>
          </p:cNvPr>
          <p:cNvSpPr>
            <a:spLocks/>
          </p:cNvSpPr>
          <p:nvPr/>
        </p:nvSpPr>
        <p:spPr bwMode="auto">
          <a:xfrm>
            <a:off x="1147814" y="2572675"/>
            <a:ext cx="1073150" cy="1219200"/>
          </a:xfrm>
          <a:custGeom>
            <a:avLst/>
            <a:gdLst>
              <a:gd name="T0" fmla="*/ 2147483646 w 676"/>
              <a:gd name="T1" fmla="*/ 2147483646 h 737"/>
              <a:gd name="T2" fmla="*/ 2147483646 w 676"/>
              <a:gd name="T3" fmla="*/ 2147483646 h 737"/>
              <a:gd name="T4" fmla="*/ 2147483646 w 676"/>
              <a:gd name="T5" fmla="*/ 2147483646 h 737"/>
              <a:gd name="T6" fmla="*/ 2147483646 w 676"/>
              <a:gd name="T7" fmla="*/ 0 h 737"/>
              <a:gd name="T8" fmla="*/ 0 60000 65536"/>
              <a:gd name="T9" fmla="*/ 0 60000 65536"/>
              <a:gd name="T10" fmla="*/ 0 60000 65536"/>
              <a:gd name="T11" fmla="*/ 0 60000 65536"/>
              <a:gd name="T12" fmla="*/ 0 w 676"/>
              <a:gd name="T13" fmla="*/ 0 h 737"/>
              <a:gd name="T14" fmla="*/ 676 w 676"/>
              <a:gd name="T15" fmla="*/ 737 h 7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6" h="737">
                <a:moveTo>
                  <a:pt x="676" y="672"/>
                </a:moveTo>
                <a:cubicBezTo>
                  <a:pt x="496" y="704"/>
                  <a:pt x="306" y="737"/>
                  <a:pt x="196" y="672"/>
                </a:cubicBezTo>
                <a:cubicBezTo>
                  <a:pt x="86" y="607"/>
                  <a:pt x="32" y="391"/>
                  <a:pt x="16" y="279"/>
                </a:cubicBezTo>
                <a:cubicBezTo>
                  <a:pt x="0" y="167"/>
                  <a:pt x="82" y="58"/>
                  <a:pt x="100" y="0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miter lim="800000"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9098" name="Text Box 10">
            <a:extLst>
              <a:ext uri="{FF2B5EF4-FFF2-40B4-BE49-F238E27FC236}">
                <a16:creationId xmlns:a16="http://schemas.microsoft.com/office/drawing/2014/main" id="{E5BA0CA7-D38C-47B8-8E08-EE140F961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920876"/>
            <a:ext cx="1331640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3300"/>
                </a:solidFill>
                <a:latin typeface="+mn-lt"/>
              </a:rPr>
              <a:t>选择左递归产生式</a:t>
            </a:r>
            <a:r>
              <a:rPr lang="en-US" altLang="zh-CN" sz="1800" b="1" dirty="0">
                <a:solidFill>
                  <a:srgbClr val="FF3300"/>
                </a:solidFill>
                <a:latin typeface="+mn-lt"/>
                <a:sym typeface="Wingdings" panose="05000000000000000000" pitchFamily="2" charset="2"/>
              </a:rPr>
              <a:t>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3300"/>
                </a:solidFill>
                <a:latin typeface="+mn-lt"/>
              </a:rPr>
              <a:t>第一个要</a:t>
            </a:r>
            <a:r>
              <a:rPr lang="en-US" altLang="zh-CN" sz="1800" b="1" dirty="0">
                <a:solidFill>
                  <a:srgbClr val="FF3300"/>
                </a:solidFill>
                <a:sym typeface="Wingdings" panose="05000000000000000000" pitchFamily="2" charset="2"/>
              </a:rPr>
              <a:t></a:t>
            </a:r>
            <a:r>
              <a:rPr lang="zh-CN" altLang="en-US" sz="1800" b="1" dirty="0">
                <a:solidFill>
                  <a:srgbClr val="FF3300"/>
                </a:solidFill>
                <a:latin typeface="+mn-lt"/>
              </a:rPr>
              <a:t>处理的</a:t>
            </a:r>
            <a:r>
              <a:rPr lang="en-US" altLang="zh-CN" sz="1800" b="1" dirty="0">
                <a:solidFill>
                  <a:srgbClr val="FF3300"/>
                </a:solidFill>
                <a:latin typeface="+mn-lt"/>
              </a:rPr>
              <a:t>NT</a:t>
            </a:r>
            <a:r>
              <a:rPr lang="zh-CN" altLang="en-US" sz="1800" b="1" dirty="0">
                <a:solidFill>
                  <a:srgbClr val="FF3300"/>
                </a:solidFill>
                <a:latin typeface="+mn-lt"/>
              </a:rPr>
              <a:t>与左部</a:t>
            </a:r>
            <a:r>
              <a:rPr lang="en-US" altLang="zh-CN" sz="1800" b="1" dirty="0">
                <a:solidFill>
                  <a:srgbClr val="FF3300"/>
                </a:solidFill>
                <a:latin typeface="+mn-lt"/>
              </a:rPr>
              <a:t>NT</a:t>
            </a:r>
            <a:r>
              <a:rPr lang="zh-CN" altLang="en-US" sz="1800" b="1" dirty="0">
                <a:solidFill>
                  <a:srgbClr val="FF3300"/>
                </a:solidFill>
                <a:latin typeface="+mn-lt"/>
              </a:rPr>
              <a:t>相同</a:t>
            </a:r>
            <a:endParaRPr lang="en-US" altLang="zh-CN" sz="1800" b="1" dirty="0">
              <a:solidFill>
                <a:srgbClr val="FF3300"/>
              </a:solidFill>
              <a:latin typeface="+mn-lt"/>
              <a:sym typeface="Wingdings" panose="05000000000000000000" pitchFamily="2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3300"/>
                </a:solidFill>
                <a:latin typeface="+mn-lt"/>
                <a:sym typeface="Wingdings" panose="05000000000000000000" pitchFamily="2" charset="2"/>
              </a:rPr>
              <a:t>递归函数调用自身</a:t>
            </a:r>
            <a:endParaRPr lang="zh-CN" altLang="en-US" sz="1800" b="1" dirty="0">
              <a:solidFill>
                <a:srgbClr val="FF3300"/>
              </a:solidFill>
              <a:latin typeface="+mn-lt"/>
            </a:endParaRPr>
          </a:p>
        </p:txBody>
      </p:sp>
      <p:sp>
        <p:nvSpPr>
          <p:cNvPr id="89099" name="Text Box 12">
            <a:extLst>
              <a:ext uri="{FF2B5EF4-FFF2-40B4-BE49-F238E27FC236}">
                <a16:creationId xmlns:a16="http://schemas.microsoft.com/office/drawing/2014/main" id="{5B0F7F62-2996-4A45-BBE9-ED53E5C17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697" y="3364217"/>
            <a:ext cx="2754067" cy="1000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200" dirty="0">
                <a:solidFill>
                  <a:srgbClr val="FF0000"/>
                </a:solidFill>
                <a:latin typeface="Tahoma" panose="020B0604030504040204" pitchFamily="34" charset="0"/>
              </a:rPr>
              <a:t>输入缓冲剩余单词</a:t>
            </a:r>
            <a:endParaRPr lang="en-US" altLang="zh-CN" sz="22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3333CC"/>
                </a:solidFill>
                <a:latin typeface="Tahoma" panose="020B0604030504040204" pitchFamily="34" charset="0"/>
              </a:rPr>
              <a:t>id , id , </a:t>
            </a:r>
            <a:r>
              <a:rPr lang="en-US" altLang="zh-CN" sz="2200" dirty="0">
                <a:solidFill>
                  <a:srgbClr val="3333CC"/>
                </a:solidFill>
              </a:rPr>
              <a:t>…</a:t>
            </a:r>
            <a:endParaRPr lang="en-US" altLang="zh-CN" sz="2200" dirty="0">
              <a:solidFill>
                <a:srgbClr val="3333CC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olidFill>
                  <a:srgbClr val="3333CC"/>
                </a:solidFill>
                <a:sym typeface="Symbol" panose="05050102010706020507" pitchFamily="18" charset="2"/>
              </a:rPr>
              <a:t>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46CFD56B-B35C-46EC-8776-0CE946656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9293" y="2420275"/>
            <a:ext cx="2487164" cy="63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200" dirty="0">
                <a:solidFill>
                  <a:srgbClr val="FF0000"/>
                </a:solidFill>
                <a:latin typeface="Tahoma" panose="020B0604030504040204" pitchFamily="34" charset="0"/>
              </a:rPr>
              <a:t>语法树当前未处理</a:t>
            </a:r>
            <a:r>
              <a:rPr lang="en-US" altLang="zh-CN" sz="2200" dirty="0">
                <a:solidFill>
                  <a:srgbClr val="FF0000"/>
                </a:solidFill>
                <a:latin typeface="Tahoma" panose="020B0604030504040204" pitchFamily="34" charset="0"/>
              </a:rPr>
              <a:t>NT</a:t>
            </a:r>
            <a:r>
              <a:rPr lang="zh-CN" altLang="en-US" sz="2200" dirty="0">
                <a:solidFill>
                  <a:srgbClr val="FF0000"/>
                </a:solidFill>
                <a:latin typeface="Tahoma" panose="020B0604030504040204" pitchFamily="34" charset="0"/>
              </a:rPr>
              <a:t>为 </a:t>
            </a:r>
            <a:r>
              <a:rPr lang="en-US" altLang="zh-CN" sz="2200" dirty="0" err="1">
                <a:solidFill>
                  <a:srgbClr val="3333CC"/>
                </a:solidFill>
                <a:latin typeface="Tahoma" panose="020B0604030504040204" pitchFamily="34" charset="0"/>
              </a:rPr>
              <a:t>idlist</a:t>
            </a:r>
            <a:endParaRPr kumimoji="0" lang="en-US" altLang="zh-CN" sz="2400" dirty="0">
              <a:solidFill>
                <a:srgbClr val="3333CC"/>
              </a:solidFill>
              <a:sym typeface="Symbol" panose="05050102010706020507" pitchFamily="18" charset="2"/>
            </a:endParaRPr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C06A92A9-C56A-409E-929D-C7965B4B3E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1799" y="2572674"/>
            <a:ext cx="3369818" cy="190713"/>
          </a:xfrm>
          <a:prstGeom prst="line">
            <a:avLst/>
          </a:prstGeom>
          <a:noFill/>
          <a:ln w="25400">
            <a:solidFill>
              <a:srgbClr val="FF3300"/>
            </a:solidFill>
            <a:miter lim="800000"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" name="Text Box 10">
            <a:extLst>
              <a:ext uri="{FF2B5EF4-FFF2-40B4-BE49-F238E27FC236}">
                <a16:creationId xmlns:a16="http://schemas.microsoft.com/office/drawing/2014/main" id="{24B4D714-BBF0-4910-8559-91110EBCB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9992" y="3117573"/>
            <a:ext cx="1800200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3300"/>
                </a:solidFill>
                <a:latin typeface="+mn-lt"/>
              </a:rPr>
              <a:t>结合</a:t>
            </a:r>
            <a:r>
              <a:rPr lang="en-US" altLang="zh-CN" sz="1800" b="1" dirty="0">
                <a:solidFill>
                  <a:srgbClr val="FF3300"/>
                </a:solidFill>
                <a:latin typeface="+mn-lt"/>
              </a:rPr>
              <a:t>First</a:t>
            </a:r>
            <a:r>
              <a:rPr lang="zh-CN" altLang="en-US" sz="1800" b="1" dirty="0">
                <a:solidFill>
                  <a:srgbClr val="FF3300"/>
                </a:solidFill>
                <a:latin typeface="+mn-lt"/>
              </a:rPr>
              <a:t>函数</a:t>
            </a:r>
            <a:endParaRPr lang="en-US" altLang="zh-CN" sz="1800" b="1" dirty="0">
              <a:solidFill>
                <a:srgbClr val="FF3300"/>
              </a:solidFill>
              <a:latin typeface="+mn-lt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3300"/>
                </a:solidFill>
                <a:latin typeface="+mn-lt"/>
              </a:rPr>
              <a:t>选择递归产生式</a:t>
            </a:r>
            <a:br>
              <a:rPr lang="en-US" altLang="zh-CN" sz="1800" b="1" dirty="0">
                <a:solidFill>
                  <a:srgbClr val="FF3300"/>
                </a:solidFill>
                <a:latin typeface="+mn-lt"/>
              </a:rPr>
            </a:br>
            <a:r>
              <a:rPr lang="en-US" altLang="zh-CN" sz="1800" i="1" dirty="0" err="1">
                <a:solidFill>
                  <a:srgbClr val="FF0000"/>
                </a:solidFill>
              </a:rPr>
              <a:t>idlist</a:t>
            </a:r>
            <a:r>
              <a:rPr kumimoji="0" lang="en-US" altLang="zh-CN" sz="1800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kumimoji="0" lang="en-US" altLang="zh-CN" sz="1800" b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1800" i="1" dirty="0" err="1">
                <a:solidFill>
                  <a:srgbClr val="FF0000"/>
                </a:solidFill>
                <a:sym typeface="Symbol" panose="05050102010706020507" pitchFamily="18" charset="2"/>
              </a:rPr>
              <a:t>idlist</a:t>
            </a:r>
            <a:r>
              <a:rPr kumimoji="0" lang="en-US" altLang="zh-CN" sz="1800" i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1800" dirty="0">
                <a:solidFill>
                  <a:srgbClr val="FF0000"/>
                </a:solidFill>
                <a:sym typeface="Symbol" panose="05050102010706020507" pitchFamily="18" charset="2"/>
              </a:rPr>
              <a:t>, </a:t>
            </a:r>
            <a:r>
              <a:rPr kumimoji="0" lang="en-US" altLang="zh-CN" sz="1800" b="1" dirty="0">
                <a:solidFill>
                  <a:srgbClr val="FF0000"/>
                </a:solidFill>
                <a:sym typeface="Symbol" panose="05050102010706020507" pitchFamily="18" charset="2"/>
              </a:rPr>
              <a:t>id</a:t>
            </a:r>
            <a:endParaRPr lang="en-US" altLang="zh-CN" sz="18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9" name="Line 13">
            <a:extLst>
              <a:ext uri="{FF2B5EF4-FFF2-40B4-BE49-F238E27FC236}">
                <a16:creationId xmlns:a16="http://schemas.microsoft.com/office/drawing/2014/main" id="{1AA63B90-77F0-4715-B311-84553419D8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9992" y="3454639"/>
            <a:ext cx="1632564" cy="93579"/>
          </a:xfrm>
          <a:prstGeom prst="line">
            <a:avLst/>
          </a:prstGeom>
          <a:noFill/>
          <a:ln w="25400">
            <a:solidFill>
              <a:srgbClr val="FF3300"/>
            </a:solidFill>
            <a:miter lim="800000"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0" name="Text Box 10">
            <a:extLst>
              <a:ext uri="{FF2B5EF4-FFF2-40B4-BE49-F238E27FC236}">
                <a16:creationId xmlns:a16="http://schemas.microsoft.com/office/drawing/2014/main" id="{1603384B-C32C-4C7D-BD86-16EDE4A0B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008" y="2276259"/>
            <a:ext cx="22405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3300"/>
                </a:solidFill>
                <a:latin typeface="Symbol" panose="05050102010706020507" pitchFamily="18" charset="2"/>
              </a:rPr>
              <a:t>进入对应递归函数</a:t>
            </a:r>
          </a:p>
        </p:txBody>
      </p:sp>
      <p:sp>
        <p:nvSpPr>
          <p:cNvPr id="21" name="Text Box 12">
            <a:extLst>
              <a:ext uri="{FF2B5EF4-FFF2-40B4-BE49-F238E27FC236}">
                <a16:creationId xmlns:a16="http://schemas.microsoft.com/office/drawing/2014/main" id="{A523C361-1C7A-4947-99D4-80AB77BCB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5086" y="5298072"/>
            <a:ext cx="2754067" cy="363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200" dirty="0">
                <a:solidFill>
                  <a:srgbClr val="FF0000"/>
                </a:solidFill>
                <a:latin typeface="Tahoma" panose="020B0604030504040204" pitchFamily="34" charset="0"/>
              </a:rPr>
              <a:t>期间未处理任何</a:t>
            </a:r>
            <a:r>
              <a:rPr lang="en-US" altLang="zh-CN" sz="2200" dirty="0">
                <a:solidFill>
                  <a:srgbClr val="FF0000"/>
                </a:solidFill>
                <a:latin typeface="Tahoma" panose="020B0604030504040204" pitchFamily="34" charset="0"/>
              </a:rPr>
              <a:t>T</a:t>
            </a:r>
            <a:endParaRPr lang="en-US" altLang="zh-CN" sz="2200" dirty="0">
              <a:solidFill>
                <a:srgbClr val="FF0000"/>
              </a:solidFill>
              <a:latin typeface="Tahoma" panose="020B0604030504040204" pitchFamily="34" charset="0"/>
              <a:sym typeface="Wingdings" panose="05000000000000000000" pitchFamily="2" charset="2"/>
            </a:endParaRPr>
          </a:p>
        </p:txBody>
      </p:sp>
      <p:sp>
        <p:nvSpPr>
          <p:cNvPr id="22" name="Line 13">
            <a:extLst>
              <a:ext uri="{FF2B5EF4-FFF2-40B4-BE49-F238E27FC236}">
                <a16:creationId xmlns:a16="http://schemas.microsoft.com/office/drawing/2014/main" id="{9BEA8068-5D6E-4225-A0BD-5BBA8DECE8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47593" y="4256589"/>
            <a:ext cx="541700" cy="1000274"/>
          </a:xfrm>
          <a:prstGeom prst="line">
            <a:avLst/>
          </a:prstGeom>
          <a:noFill/>
          <a:ln w="25400">
            <a:solidFill>
              <a:srgbClr val="FF3300"/>
            </a:solidFill>
            <a:miter lim="800000"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" name="Text Box 10">
            <a:extLst>
              <a:ext uri="{FF2B5EF4-FFF2-40B4-BE49-F238E27FC236}">
                <a16:creationId xmlns:a16="http://schemas.microsoft.com/office/drawing/2014/main" id="{BD24606E-BC2E-4878-8185-8CACF1FC2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6226" y="4611135"/>
            <a:ext cx="27502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3300"/>
                </a:solidFill>
                <a:latin typeface="Symbol" panose="05050102010706020507" pitchFamily="18" charset="2"/>
              </a:rPr>
              <a:t>输入缓冲区没有任何变化</a:t>
            </a:r>
          </a:p>
        </p:txBody>
      </p:sp>
      <p:sp>
        <p:nvSpPr>
          <p:cNvPr id="25" name="Line 13">
            <a:extLst>
              <a:ext uri="{FF2B5EF4-FFF2-40B4-BE49-F238E27FC236}">
                <a16:creationId xmlns:a16="http://schemas.microsoft.com/office/drawing/2014/main" id="{BD113FD6-93BC-4829-A538-017D147E797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1959" y="3570312"/>
            <a:ext cx="1073150" cy="1686551"/>
          </a:xfrm>
          <a:prstGeom prst="line">
            <a:avLst/>
          </a:prstGeom>
          <a:noFill/>
          <a:ln w="25400">
            <a:solidFill>
              <a:srgbClr val="FF3300"/>
            </a:solidFill>
            <a:miter lim="800000"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" name="Text Box 10">
            <a:extLst>
              <a:ext uri="{FF2B5EF4-FFF2-40B4-BE49-F238E27FC236}">
                <a16:creationId xmlns:a16="http://schemas.microsoft.com/office/drawing/2014/main" id="{3B37F32E-629B-4C57-9B54-CD8697DBB1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740" y="4364491"/>
            <a:ext cx="180732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3300"/>
                </a:solidFill>
                <a:latin typeface="Symbol" panose="05050102010706020507" pitchFamily="18" charset="2"/>
              </a:rPr>
              <a:t>仍会选择左递归产生式</a:t>
            </a:r>
            <a:br>
              <a:rPr lang="en-US" altLang="zh-CN" sz="1800" b="1" dirty="0">
                <a:solidFill>
                  <a:srgbClr val="FF3300"/>
                </a:solidFill>
                <a:latin typeface="Symbol" panose="05050102010706020507" pitchFamily="18" charset="2"/>
                <a:sym typeface="Wingdings" panose="05000000000000000000" pitchFamily="2" charset="2"/>
              </a:rPr>
            </a:br>
            <a:r>
              <a:rPr lang="zh-CN" altLang="en-US" sz="1800" b="1" dirty="0">
                <a:solidFill>
                  <a:srgbClr val="FF3300"/>
                </a:solidFill>
                <a:latin typeface="Symbol" panose="05050102010706020507" pitchFamily="18" charset="2"/>
                <a:sym typeface="Wingdings" panose="05000000000000000000" pitchFamily="2" charset="2"/>
              </a:rPr>
              <a:t>死循环！</a:t>
            </a:r>
            <a:endParaRPr lang="en-US" altLang="zh-CN" sz="1800" b="1" dirty="0">
              <a:solidFill>
                <a:srgbClr val="FF3300"/>
              </a:solidFill>
              <a:latin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7" grpId="0" animBg="1"/>
      <p:bldP spid="89098" grpId="0"/>
      <p:bldP spid="89099" grpId="0"/>
      <p:bldP spid="13" grpId="0"/>
      <p:bldP spid="14" grpId="0" animBg="1"/>
      <p:bldP spid="18" grpId="0"/>
      <p:bldP spid="19" grpId="0" animBg="1"/>
      <p:bldP spid="20" grpId="0"/>
      <p:bldP spid="21" grpId="0"/>
      <p:bldP spid="22" grpId="0" animBg="1"/>
      <p:bldP spid="23" grpId="0"/>
      <p:bldP spid="25" grpId="0" animBg="1"/>
      <p:bldP spid="26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494017DA-D976-4820-A465-1C2E8342CD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左递归的另一个问题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87FA9E78-694A-4903-9579-E4C158965E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400" dirty="0"/>
              <a:t>FIRST</a:t>
            </a:r>
            <a:r>
              <a:rPr lang="zh-CN" altLang="en-US" sz="2400" dirty="0"/>
              <a:t>函数冲突，导致预测分析法失效</a:t>
            </a:r>
          </a:p>
          <a:p>
            <a:pPr eaLnBrk="1" hangingPunct="1">
              <a:spcBef>
                <a:spcPct val="0"/>
              </a:spcBef>
            </a:pPr>
            <a:r>
              <a:rPr kumimoji="0" lang="en-US" altLang="zh-CN" sz="2400" dirty="0">
                <a:solidFill>
                  <a:srgbClr val="FF3300"/>
                </a:solidFill>
              </a:rPr>
              <a:t>A</a:t>
            </a:r>
            <a:r>
              <a:rPr kumimoji="0" lang="en-US" altLang="zh-CN" sz="2400" dirty="0">
                <a:solidFill>
                  <a:srgbClr val="FF3300"/>
                </a:solidFill>
                <a:sym typeface="Symbol" panose="05050102010706020507" pitchFamily="18" charset="2"/>
              </a:rPr>
              <a:t>A | </a:t>
            </a:r>
            <a:endParaRPr kumimoji="0" lang="zh-CN" altLang="en-US" sz="2400" dirty="0">
              <a:solidFill>
                <a:srgbClr val="FF3300"/>
              </a:solidFill>
              <a:sym typeface="Wingdings" panose="05000000000000000000" pitchFamily="2" charset="2"/>
            </a:endParaRPr>
          </a:p>
          <a:p>
            <a:pPr eaLnBrk="1" hangingPunct="1"/>
            <a:r>
              <a:rPr lang="en-US" altLang="zh-CN" sz="2400" dirty="0">
                <a:sym typeface="Symbol" panose="05050102010706020507" pitchFamily="18" charset="2"/>
              </a:rPr>
              <a:t>FIRST(A)=FIRST(A) 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∪</a:t>
            </a:r>
            <a:r>
              <a:rPr lang="en-US" altLang="zh-CN" sz="2400" dirty="0">
                <a:sym typeface="Symbol" panose="05050102010706020507" pitchFamily="18" charset="2"/>
              </a:rPr>
              <a:t> FIRST()</a:t>
            </a:r>
            <a:br>
              <a:rPr lang="en-US" altLang="zh-CN" sz="2400" dirty="0">
                <a:sym typeface="Symbol" panose="05050102010706020507" pitchFamily="18" charset="2"/>
              </a:rPr>
            </a:br>
            <a:r>
              <a:rPr lang="en-US" altLang="zh-CN" sz="2400" dirty="0">
                <a:sym typeface="Wingdings" panose="05000000000000000000" pitchFamily="2" charset="2"/>
              </a:rPr>
              <a:t> </a:t>
            </a:r>
            <a:r>
              <a:rPr lang="en-US" altLang="zh-CN" sz="2400" dirty="0">
                <a:sym typeface="Symbol" panose="05050102010706020507" pitchFamily="18" charset="2"/>
              </a:rPr>
              <a:t>FIRST(A) </a:t>
            </a:r>
            <a:r>
              <a:rPr lang="zh-CN" altLang="en-US" sz="2400" dirty="0">
                <a:sym typeface="Symbol" panose="05050102010706020507" pitchFamily="18" charset="2"/>
              </a:rPr>
              <a:t>必然包含 </a:t>
            </a:r>
            <a:r>
              <a:rPr lang="en-US" altLang="zh-CN" sz="2400" dirty="0">
                <a:sym typeface="Symbol" panose="05050102010706020507" pitchFamily="18" charset="2"/>
              </a:rPr>
              <a:t>FIRST()</a:t>
            </a:r>
            <a:br>
              <a:rPr lang="en-US" altLang="zh-CN" sz="2400" dirty="0">
                <a:sym typeface="Symbol" panose="05050102010706020507" pitchFamily="18" charset="2"/>
              </a:rPr>
            </a:br>
            <a:r>
              <a:rPr lang="en-US" altLang="zh-CN" sz="2400" dirty="0">
                <a:sym typeface="Wingdings" panose="05000000000000000000" pitchFamily="2" charset="2"/>
              </a:rPr>
              <a:t> </a:t>
            </a:r>
            <a:r>
              <a:rPr lang="en-US" altLang="zh-CN" sz="2400" dirty="0">
                <a:sym typeface="Symbol" panose="05050102010706020507" pitchFamily="18" charset="2"/>
              </a:rPr>
              <a:t>FIRST(A) </a:t>
            </a:r>
            <a:r>
              <a:rPr lang="zh-CN" altLang="en-US" sz="2400" dirty="0">
                <a:sym typeface="Symbol" panose="05050102010706020507" pitchFamily="18" charset="2"/>
              </a:rPr>
              <a:t>和 </a:t>
            </a:r>
            <a:r>
              <a:rPr lang="en-US" altLang="zh-CN" sz="2400" dirty="0">
                <a:sym typeface="Symbol" panose="05050102010706020507" pitchFamily="18" charset="2"/>
              </a:rPr>
              <a:t>FIRST()</a:t>
            </a:r>
            <a:r>
              <a:rPr lang="zh-CN" altLang="en-US" sz="2400" dirty="0">
                <a:sym typeface="Symbol" panose="05050102010706020507" pitchFamily="18" charset="2"/>
              </a:rPr>
              <a:t> 冲突，预测分析法失效</a:t>
            </a:r>
          </a:p>
        </p:txBody>
      </p:sp>
    </p:spTree>
    <p:extLst>
      <p:ext uri="{BB962C8B-B14F-4D97-AF65-F5344CB8AC3E}">
        <p14:creationId xmlns:p14="http://schemas.microsoft.com/office/powerpoint/2010/main" val="243399474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494017DA-D976-4820-A465-1C2E8342CD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消除左递归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87FA9E78-694A-4903-9579-E4C158965E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/>
              <a:t>解决方法：改写为右递归文法</a:t>
            </a:r>
            <a:endParaRPr lang="en-US" altLang="zh-CN" sz="2400" dirty="0"/>
          </a:p>
          <a:p>
            <a:pPr lvl="1" eaLnBrk="1" hangingPunct="1"/>
            <a:r>
              <a:rPr lang="zh-CN" altLang="en-US" sz="2000" dirty="0"/>
              <a:t>文法</a:t>
            </a:r>
            <a:r>
              <a:rPr lang="en-US" altLang="zh-CN" sz="2000" dirty="0">
                <a:latin typeface="Symbol" panose="05050102010706020507" pitchFamily="18" charset="2"/>
              </a:rPr>
              <a:t>A</a:t>
            </a:r>
            <a:r>
              <a:rPr lang="en-US" altLang="zh-CN" sz="2000" dirty="0">
                <a:latin typeface="Symbol" panose="05050102010706020507" pitchFamily="18" charset="2"/>
                <a:sym typeface="Symbol" panose="05050102010706020507" pitchFamily="18" charset="2"/>
              </a:rPr>
              <a:t>A | </a:t>
            </a:r>
            <a:r>
              <a:rPr lang="zh-CN" altLang="en-US" sz="2000" dirty="0"/>
              <a:t>推导出的符号串长什么样？</a:t>
            </a:r>
            <a:endParaRPr lang="en-US" altLang="zh-CN" sz="2000" dirty="0"/>
          </a:p>
          <a:p>
            <a:pPr marL="457200" lvl="1" indent="0" eaLnBrk="1" hangingPunct="1">
              <a:buNone/>
            </a:pPr>
            <a:r>
              <a:rPr lang="en-US" altLang="zh-CN" sz="2000" dirty="0"/>
              <a:t>	</a:t>
            </a:r>
            <a:r>
              <a:rPr lang="en-US" altLang="zh-CN" sz="2000" dirty="0">
                <a:latin typeface="Symbol" panose="05050102010706020507" pitchFamily="18" charset="2"/>
              </a:rPr>
              <a:t></a:t>
            </a:r>
            <a:r>
              <a:rPr lang="en-US" altLang="zh-CN" sz="2000" dirty="0"/>
              <a:t>…</a:t>
            </a:r>
            <a:r>
              <a:rPr lang="en-US" altLang="zh-CN" sz="2000" dirty="0">
                <a:latin typeface="Symbol" panose="05050102010706020507" pitchFamily="18" charset="2"/>
              </a:rPr>
              <a:t></a:t>
            </a:r>
          </a:p>
          <a:p>
            <a:pPr lvl="1" eaLnBrk="1" hangingPunct="1"/>
            <a:r>
              <a:rPr lang="zh-CN" altLang="en-US" sz="2000" dirty="0"/>
              <a:t>文法设计思想：先生成一个</a:t>
            </a:r>
            <a:r>
              <a:rPr lang="en-US" altLang="zh-CN" sz="2000" dirty="0">
                <a:latin typeface="Symbol" panose="05050102010706020507" pitchFamily="18" charset="2"/>
              </a:rPr>
              <a:t></a:t>
            </a:r>
            <a:r>
              <a:rPr lang="zh-CN" altLang="en-US" sz="2000" dirty="0"/>
              <a:t>，再连接若干</a:t>
            </a:r>
            <a:r>
              <a:rPr lang="en-US" altLang="zh-CN" sz="2000" dirty="0">
                <a:latin typeface="Symbol" panose="05050102010706020507" pitchFamily="18" charset="2"/>
              </a:rPr>
              <a:t></a:t>
            </a:r>
            <a:endParaRPr lang="zh-CN" altLang="en-US" sz="2000" dirty="0"/>
          </a:p>
          <a:p>
            <a:pPr lvl="1" eaLnBrk="1" hangingPunct="1"/>
            <a:r>
              <a:rPr lang="zh-CN" altLang="en-US" sz="2000" dirty="0"/>
              <a:t>换个思路：先生成若干</a:t>
            </a:r>
            <a:r>
              <a:rPr lang="en-US" altLang="zh-CN" sz="2000" dirty="0">
                <a:latin typeface="Symbol" panose="05050102010706020507" pitchFamily="18" charset="2"/>
              </a:rPr>
              <a:t></a:t>
            </a:r>
            <a:r>
              <a:rPr lang="zh-CN" altLang="en-US" sz="2000" dirty="0">
                <a:latin typeface="Symbol" panose="05050102010706020507" pitchFamily="18" charset="2"/>
              </a:rPr>
              <a:t>，最后连接最开始的</a:t>
            </a:r>
            <a:r>
              <a:rPr lang="en-US" altLang="zh-CN" sz="2000" dirty="0">
                <a:latin typeface="Symbol" panose="05050102010706020507" pitchFamily="18" charset="2"/>
              </a:rPr>
              <a:t></a:t>
            </a:r>
            <a:endParaRPr lang="zh-CN" altLang="en-US" sz="2000" dirty="0"/>
          </a:p>
          <a:p>
            <a:pPr lvl="1" eaLnBrk="1" hangingPunct="1"/>
            <a:r>
              <a:rPr kumimoji="0" lang="en-US" altLang="zh-CN" sz="2000" dirty="0">
                <a:solidFill>
                  <a:srgbClr val="FF3300"/>
                </a:solidFill>
              </a:rPr>
              <a:t>A</a:t>
            </a:r>
            <a:r>
              <a:rPr kumimoji="0" lang="en-US" altLang="zh-CN" sz="2000" dirty="0">
                <a:solidFill>
                  <a:srgbClr val="FF3300"/>
                </a:solidFill>
                <a:sym typeface="Symbol" panose="05050102010706020507" pitchFamily="18" charset="2"/>
              </a:rPr>
              <a:t> R</a:t>
            </a:r>
            <a:br>
              <a:rPr kumimoji="0" lang="en-US" altLang="zh-CN" sz="2000" dirty="0">
                <a:solidFill>
                  <a:srgbClr val="FF3300"/>
                </a:solidFill>
                <a:sym typeface="Symbol" panose="05050102010706020507" pitchFamily="18" charset="2"/>
              </a:rPr>
            </a:br>
            <a:r>
              <a:rPr kumimoji="0" lang="en-US" altLang="zh-CN" sz="2000" dirty="0" err="1">
                <a:solidFill>
                  <a:srgbClr val="FF3300"/>
                </a:solidFill>
                <a:sym typeface="Symbol" panose="05050102010706020507" pitchFamily="18" charset="2"/>
              </a:rPr>
              <a:t>R</a:t>
            </a:r>
            <a:r>
              <a:rPr kumimoji="0" lang="en-US" altLang="zh-CN" sz="2000" dirty="0">
                <a:solidFill>
                  <a:srgbClr val="FF3300"/>
                </a:solidFill>
                <a:sym typeface="Symbol" panose="05050102010706020507" pitchFamily="18" charset="2"/>
              </a:rPr>
              <a:t> R | </a:t>
            </a:r>
            <a:r>
              <a:rPr lang="en-US" altLang="zh-CN" sz="2000" dirty="0">
                <a:solidFill>
                  <a:srgbClr val="FF3300"/>
                </a:solidFill>
                <a:sym typeface="Symbol" panose="05050102010706020507" pitchFamily="18" charset="2"/>
              </a:rPr>
              <a:t>ε</a:t>
            </a:r>
          </a:p>
          <a:p>
            <a:pPr eaLnBrk="1" hangingPunct="1"/>
            <a:r>
              <a:rPr lang="zh-CN" altLang="en-US" sz="2400" dirty="0">
                <a:sym typeface="Symbol" panose="05050102010706020507" pitchFamily="18" charset="2"/>
              </a:rPr>
              <a:t>例</a:t>
            </a:r>
          </a:p>
          <a:p>
            <a:pPr lvl="1" eaLnBrk="1" hangingPunct="1"/>
            <a:r>
              <a:rPr kumimoji="0" lang="en-US" altLang="zh-CN" sz="2000" i="1" dirty="0"/>
              <a:t>expr </a:t>
            </a:r>
            <a:r>
              <a:rPr kumimoji="0" lang="en-US" altLang="zh-CN" sz="2000" dirty="0">
                <a:sym typeface="Symbol" panose="05050102010706020507" pitchFamily="18" charset="2"/>
              </a:rPr>
              <a:t></a:t>
            </a:r>
            <a:r>
              <a:rPr kumimoji="0" lang="en-US" altLang="zh-CN" sz="2000" i="1" dirty="0"/>
              <a:t> </a:t>
            </a:r>
            <a:r>
              <a:rPr kumimoji="0" lang="en-US" altLang="zh-CN" sz="2000" i="1" dirty="0">
                <a:sym typeface="Math1" pitchFamily="2" charset="2"/>
              </a:rPr>
              <a:t>expr </a:t>
            </a:r>
            <a:r>
              <a:rPr kumimoji="0" lang="en-US" altLang="zh-CN" sz="2000" i="1" u="sng" dirty="0">
                <a:sym typeface="Math1" pitchFamily="2" charset="2"/>
              </a:rPr>
              <a:t>+ term</a:t>
            </a:r>
            <a:r>
              <a:rPr kumimoji="0" lang="en-US" altLang="zh-CN" sz="2000" i="1" dirty="0">
                <a:sym typeface="Math1" pitchFamily="2" charset="2"/>
              </a:rPr>
              <a:t> | </a:t>
            </a:r>
            <a:r>
              <a:rPr kumimoji="0" lang="en-US" altLang="zh-CN" sz="2000" i="1" u="sng" dirty="0">
                <a:sym typeface="Math1" pitchFamily="2" charset="2"/>
              </a:rPr>
              <a:t>term</a:t>
            </a:r>
            <a:r>
              <a:rPr kumimoji="0" lang="en-US" altLang="zh-CN" sz="2000" dirty="0">
                <a:sym typeface="Wingdings" panose="05000000000000000000" pitchFamily="2" charset="2"/>
              </a:rPr>
              <a:t></a:t>
            </a:r>
            <a:endParaRPr kumimoji="0" lang="en-US" altLang="zh-CN" sz="2000" dirty="0">
              <a:sym typeface="Math1" pitchFamily="2" charset="2"/>
            </a:endParaRPr>
          </a:p>
          <a:p>
            <a:pPr lvl="1" eaLnBrk="1" hangingPunct="1"/>
            <a:r>
              <a:rPr kumimoji="0" lang="en-US" altLang="zh-CN" sz="2000" i="1" dirty="0"/>
              <a:t>expr </a:t>
            </a:r>
            <a:r>
              <a:rPr kumimoji="0" lang="en-US" altLang="zh-CN" sz="2000" dirty="0">
                <a:sym typeface="Symbol" panose="05050102010706020507" pitchFamily="18" charset="2"/>
              </a:rPr>
              <a:t></a:t>
            </a:r>
            <a:r>
              <a:rPr kumimoji="0" lang="en-US" altLang="zh-CN" sz="2000" i="1" dirty="0"/>
              <a:t> </a:t>
            </a:r>
            <a:r>
              <a:rPr kumimoji="0" lang="en-US" altLang="zh-CN" sz="2000" i="1" u="sng" dirty="0">
                <a:sym typeface="Math1" pitchFamily="2" charset="2"/>
              </a:rPr>
              <a:t>term</a:t>
            </a:r>
            <a:r>
              <a:rPr kumimoji="0" lang="en-US" altLang="zh-CN" sz="2000" i="1" dirty="0">
                <a:sym typeface="Math1" pitchFamily="2" charset="2"/>
              </a:rPr>
              <a:t> rest</a:t>
            </a:r>
            <a:br>
              <a:rPr kumimoji="0" lang="en-US" altLang="zh-CN" sz="2000" i="1" dirty="0">
                <a:sym typeface="Math1" pitchFamily="2" charset="2"/>
              </a:rPr>
            </a:br>
            <a:r>
              <a:rPr kumimoji="0" lang="en-US" altLang="zh-CN" sz="2000" i="1" dirty="0" err="1">
                <a:sym typeface="Math1" pitchFamily="2" charset="2"/>
              </a:rPr>
              <a:t>rest</a:t>
            </a:r>
            <a:r>
              <a:rPr kumimoji="0" lang="en-US" altLang="zh-CN" sz="2000" i="1" dirty="0"/>
              <a:t> </a:t>
            </a:r>
            <a:r>
              <a:rPr kumimoji="0" lang="en-US" altLang="zh-CN" sz="2000" dirty="0">
                <a:sym typeface="Symbol" panose="05050102010706020507" pitchFamily="18" charset="2"/>
              </a:rPr>
              <a:t></a:t>
            </a:r>
            <a:r>
              <a:rPr kumimoji="0" lang="en-US" altLang="zh-CN" sz="2000" i="1" dirty="0"/>
              <a:t> </a:t>
            </a:r>
            <a:r>
              <a:rPr kumimoji="0" lang="en-US" altLang="zh-CN" sz="2000" i="1" u="sng" dirty="0"/>
              <a:t>+ term</a:t>
            </a:r>
            <a:r>
              <a:rPr kumimoji="0" lang="en-US" altLang="zh-CN" sz="2000" i="1" dirty="0"/>
              <a:t> rest </a:t>
            </a:r>
            <a:r>
              <a:rPr kumimoji="0" lang="en-US" altLang="zh-CN" sz="2000" dirty="0">
                <a:sym typeface="Symbol" panose="05050102010706020507" pitchFamily="18" charset="2"/>
              </a:rPr>
              <a:t>| </a:t>
            </a:r>
            <a:r>
              <a:rPr lang="en-US" altLang="zh-CN" sz="2000" dirty="0">
                <a:sym typeface="Symbol" panose="05050102010706020507" pitchFamily="18" charset="2"/>
              </a:rPr>
              <a:t>ε</a:t>
            </a:r>
          </a:p>
        </p:txBody>
      </p:sp>
      <p:sp>
        <p:nvSpPr>
          <p:cNvPr id="89092" name="Text Box 4">
            <a:extLst>
              <a:ext uri="{FF2B5EF4-FFF2-40B4-BE49-F238E27FC236}">
                <a16:creationId xmlns:a16="http://schemas.microsoft.com/office/drawing/2014/main" id="{35C59559-FF40-4B16-A6E4-56F56A78E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5204048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FF3300"/>
                </a:solidFill>
                <a:latin typeface="Symbol" panose="05050102010706020507" pitchFamily="18" charset="2"/>
              </a:rPr>
              <a:t>a</a:t>
            </a:r>
          </a:p>
        </p:txBody>
      </p:sp>
      <p:sp>
        <p:nvSpPr>
          <p:cNvPr id="89093" name="Text Box 5">
            <a:extLst>
              <a:ext uri="{FF2B5EF4-FFF2-40B4-BE49-F238E27FC236}">
                <a16:creationId xmlns:a16="http://schemas.microsoft.com/office/drawing/2014/main" id="{96E1BCAA-0B1A-4E1F-8AEC-E8CE181BD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5204048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FF3300"/>
                </a:solidFill>
                <a:latin typeface="Symbol" panose="05050102010706020507" pitchFamily="18" charset="2"/>
              </a:rPr>
              <a:t>b</a:t>
            </a:r>
          </a:p>
        </p:txBody>
      </p:sp>
      <p:sp>
        <p:nvSpPr>
          <p:cNvPr id="89094" name="Line 6">
            <a:extLst>
              <a:ext uri="{FF2B5EF4-FFF2-40B4-BE49-F238E27FC236}">
                <a16:creationId xmlns:a16="http://schemas.microsoft.com/office/drawing/2014/main" id="{2A478EC2-D7CE-446F-8D78-3A0244D1CD3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33800" y="4670648"/>
            <a:ext cx="1219200" cy="762000"/>
          </a:xfrm>
          <a:prstGeom prst="line">
            <a:avLst/>
          </a:prstGeom>
          <a:noFill/>
          <a:ln w="25400">
            <a:solidFill>
              <a:srgbClr val="FF33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9095" name="Line 7">
            <a:extLst>
              <a:ext uri="{FF2B5EF4-FFF2-40B4-BE49-F238E27FC236}">
                <a16:creationId xmlns:a16="http://schemas.microsoft.com/office/drawing/2014/main" id="{B4510BD0-131E-4FDA-B6A4-E50009E38F8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72000" y="4670648"/>
            <a:ext cx="1371600" cy="685800"/>
          </a:xfrm>
          <a:prstGeom prst="line">
            <a:avLst/>
          </a:prstGeom>
          <a:noFill/>
          <a:ln w="25400">
            <a:solidFill>
              <a:srgbClr val="FF33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A2BD9B50-42D8-4AE4-8077-4BE4B32BA74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60712" y="5051648"/>
            <a:ext cx="2782888" cy="304800"/>
          </a:xfrm>
          <a:prstGeom prst="line">
            <a:avLst/>
          </a:prstGeom>
          <a:noFill/>
          <a:ln w="25400">
            <a:solidFill>
              <a:srgbClr val="FF33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A6090376-BD2C-4ABF-9197-A9796E8FE29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03848" y="5356448"/>
            <a:ext cx="1749152" cy="76200"/>
          </a:xfrm>
          <a:prstGeom prst="line">
            <a:avLst/>
          </a:prstGeom>
          <a:noFill/>
          <a:ln w="25400">
            <a:solidFill>
              <a:srgbClr val="FF33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742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2" grpId="0"/>
      <p:bldP spid="89093" grpId="0"/>
      <p:bldP spid="89094" grpId="0" animBg="1"/>
      <p:bldP spid="89095" grpId="0" animBg="1"/>
      <p:bldP spid="8" grpId="0" animBg="1"/>
      <p:bldP spid="9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67F076B8-046D-4AD6-AA4C-B84BFF9479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左递归 </a:t>
            </a:r>
            <a:r>
              <a:rPr lang="en-US" altLang="zh-CN"/>
              <a:t>vs. </a:t>
            </a:r>
            <a:r>
              <a:rPr lang="zh-CN" altLang="en-US"/>
              <a:t>右递归语法树差异</a:t>
            </a:r>
          </a:p>
        </p:txBody>
      </p:sp>
      <p:pic>
        <p:nvPicPr>
          <p:cNvPr id="90115" name="Picture 4" descr="lr">
            <a:extLst>
              <a:ext uri="{FF2B5EF4-FFF2-40B4-BE49-F238E27FC236}">
                <a16:creationId xmlns:a16="http://schemas.microsoft.com/office/drawing/2014/main" id="{6C89A5EA-D0C5-47F0-8EA1-980F1DAE3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1295400"/>
            <a:ext cx="8442325" cy="301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B7EB62A8-FE10-4E89-944C-803358D5DF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2.5  </a:t>
            </a:r>
            <a:r>
              <a:rPr lang="zh-CN" altLang="en-US"/>
              <a:t>构造表达式转换的编译器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40E701A0-EFF5-49DA-B963-568B18E730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原始语法：需改写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i="1"/>
              <a:t>expr </a:t>
            </a:r>
            <a:r>
              <a:rPr kumimoji="0" lang="en-US" altLang="zh-CN" sz="2000">
                <a:sym typeface="Symbol" panose="05050102010706020507" pitchFamily="18" charset="2"/>
              </a:rPr>
              <a:t> </a:t>
            </a:r>
            <a:r>
              <a:rPr kumimoji="0" lang="en-US" altLang="zh-CN" sz="2000" i="1">
                <a:sym typeface="Symbol" panose="05050102010706020507" pitchFamily="18" charset="2"/>
              </a:rPr>
              <a:t>expr + term  </a:t>
            </a:r>
            <a:r>
              <a:rPr kumimoji="0" lang="en-US" altLang="zh-CN" sz="2000">
                <a:sym typeface="Symbol" panose="05050102010706020507" pitchFamily="18" charset="2"/>
              </a:rPr>
              <a:t>{</a:t>
            </a:r>
            <a:r>
              <a:rPr kumimoji="0" lang="en-US" altLang="zh-CN" sz="2000" i="1">
                <a:sym typeface="Symbol" panose="05050102010706020507" pitchFamily="18" charset="2"/>
              </a:rPr>
              <a:t>print</a:t>
            </a:r>
            <a:r>
              <a:rPr kumimoji="0" lang="en-US" altLang="zh-CN" sz="2000">
                <a:sym typeface="Symbol" panose="05050102010706020507" pitchFamily="18" charset="2"/>
              </a:rPr>
              <a:t>(‘+’)}</a:t>
            </a:r>
            <a:endParaRPr kumimoji="0" lang="en-US" altLang="zh-CN" sz="2000" i="1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expr</a:t>
            </a:r>
            <a:r>
              <a:rPr kumimoji="0" lang="en-US" altLang="zh-CN" sz="2000">
                <a:sym typeface="Symbol" panose="05050102010706020507" pitchFamily="18" charset="2"/>
              </a:rPr>
              <a:t>  </a:t>
            </a:r>
            <a:r>
              <a:rPr kumimoji="0" lang="en-US" altLang="zh-CN" sz="2000" i="1">
                <a:sym typeface="Symbol" panose="05050102010706020507" pitchFamily="18" charset="2"/>
              </a:rPr>
              <a:t>expr - term    </a:t>
            </a:r>
            <a:r>
              <a:rPr kumimoji="0" lang="en-US" altLang="zh-CN" sz="2000">
                <a:sym typeface="Symbol" panose="05050102010706020507" pitchFamily="18" charset="2"/>
              </a:rPr>
              <a:t>{</a:t>
            </a:r>
            <a:r>
              <a:rPr kumimoji="0" lang="en-US" altLang="zh-CN" sz="2000" i="1">
                <a:sym typeface="Symbol" panose="05050102010706020507" pitchFamily="18" charset="2"/>
              </a:rPr>
              <a:t>print</a:t>
            </a:r>
            <a:r>
              <a:rPr kumimoji="0" lang="en-US" altLang="zh-CN" sz="2000">
                <a:sym typeface="Symbol" panose="05050102010706020507" pitchFamily="18" charset="2"/>
              </a:rPr>
              <a:t>(‘-’)}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expr</a:t>
            </a:r>
            <a:r>
              <a:rPr kumimoji="0" lang="en-US" altLang="zh-CN" sz="2000">
                <a:sym typeface="Symbol" panose="05050102010706020507" pitchFamily="18" charset="2"/>
              </a:rPr>
              <a:t>  </a:t>
            </a:r>
            <a:r>
              <a:rPr kumimoji="0" lang="en-US" altLang="zh-CN" sz="2000" i="1">
                <a:sym typeface="Symbol" panose="05050102010706020507" pitchFamily="18" charset="2"/>
              </a:rPr>
              <a:t>term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>
                <a:sym typeface="Symbol" panose="05050102010706020507" pitchFamily="18" charset="2"/>
              </a:rPr>
              <a:t>term </a:t>
            </a:r>
            <a:r>
              <a:rPr kumimoji="0" lang="en-US" altLang="zh-CN" sz="2000">
                <a:sym typeface="Symbol" panose="05050102010706020507" pitchFamily="18" charset="2"/>
              </a:rPr>
              <a:t> </a:t>
            </a:r>
            <a:r>
              <a:rPr kumimoji="0" lang="en-US" altLang="zh-CN" sz="2000" i="1">
                <a:sym typeface="Symbol" panose="05050102010706020507" pitchFamily="18" charset="2"/>
              </a:rPr>
              <a:t>0                   </a:t>
            </a:r>
            <a:r>
              <a:rPr kumimoji="0" lang="en-US" altLang="zh-CN" sz="2000">
                <a:sym typeface="Symbol" panose="05050102010706020507" pitchFamily="18" charset="2"/>
              </a:rPr>
              <a:t>{</a:t>
            </a:r>
            <a:r>
              <a:rPr kumimoji="0" lang="en-US" altLang="zh-CN" sz="2000" i="1">
                <a:sym typeface="Symbol" panose="05050102010706020507" pitchFamily="18" charset="2"/>
              </a:rPr>
              <a:t>print</a:t>
            </a:r>
            <a:r>
              <a:rPr kumimoji="0" lang="en-US" altLang="zh-CN" sz="2000">
                <a:sym typeface="Symbol" panose="05050102010706020507" pitchFamily="18" charset="2"/>
              </a:rPr>
              <a:t>(‘0’)}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>
                <a:sym typeface="Symbol" panose="05050102010706020507" pitchFamily="18" charset="2"/>
              </a:rPr>
              <a:t>term </a:t>
            </a:r>
            <a:r>
              <a:rPr kumimoji="0" lang="en-US" altLang="zh-CN" sz="2000">
                <a:sym typeface="Symbol" panose="05050102010706020507" pitchFamily="18" charset="2"/>
              </a:rPr>
              <a:t> 1</a:t>
            </a:r>
            <a:r>
              <a:rPr kumimoji="0" lang="en-US" altLang="zh-CN" sz="2000" i="1">
                <a:sym typeface="Symbol" panose="05050102010706020507" pitchFamily="18" charset="2"/>
              </a:rPr>
              <a:t>                   </a:t>
            </a:r>
            <a:r>
              <a:rPr kumimoji="0" lang="en-US" altLang="zh-CN" sz="2000">
                <a:sym typeface="Symbol" panose="05050102010706020507" pitchFamily="18" charset="2"/>
              </a:rPr>
              <a:t>{</a:t>
            </a:r>
            <a:r>
              <a:rPr kumimoji="0" lang="en-US" altLang="zh-CN" sz="2000" i="1">
                <a:sym typeface="Symbol" panose="05050102010706020507" pitchFamily="18" charset="2"/>
              </a:rPr>
              <a:t>print</a:t>
            </a:r>
            <a:r>
              <a:rPr kumimoji="0" lang="en-US" altLang="zh-CN" sz="2000">
                <a:sym typeface="Symbol" panose="05050102010706020507" pitchFamily="18" charset="2"/>
              </a:rPr>
              <a:t>(‘1’)}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>
                <a:sym typeface="Symbol" panose="05050102010706020507" pitchFamily="18" charset="2"/>
              </a:rPr>
              <a:t>…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>
                <a:sym typeface="Symbol" panose="05050102010706020507" pitchFamily="18" charset="2"/>
              </a:rPr>
              <a:t>term </a:t>
            </a:r>
            <a:r>
              <a:rPr kumimoji="0" lang="en-US" altLang="zh-CN" sz="2000">
                <a:sym typeface="Symbol" panose="05050102010706020507" pitchFamily="18" charset="2"/>
              </a:rPr>
              <a:t> 9</a:t>
            </a:r>
            <a:r>
              <a:rPr kumimoji="0" lang="en-US" altLang="zh-CN" sz="2000" i="1">
                <a:sym typeface="Symbol" panose="05050102010706020507" pitchFamily="18" charset="2"/>
              </a:rPr>
              <a:t>                   </a:t>
            </a:r>
            <a:r>
              <a:rPr kumimoji="0" lang="en-US" altLang="zh-CN" sz="2000">
                <a:sym typeface="Symbol" panose="05050102010706020507" pitchFamily="18" charset="2"/>
              </a:rPr>
              <a:t>{</a:t>
            </a:r>
            <a:r>
              <a:rPr kumimoji="0" lang="en-US" altLang="zh-CN" sz="2000" i="1">
                <a:sym typeface="Symbol" panose="05050102010706020507" pitchFamily="18" charset="2"/>
              </a:rPr>
              <a:t>print</a:t>
            </a:r>
            <a:r>
              <a:rPr kumimoji="0" lang="en-US" altLang="zh-CN" sz="2000">
                <a:sym typeface="Symbol" panose="05050102010706020507" pitchFamily="18" charset="2"/>
              </a:rPr>
              <a:t>(‘9’)}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6D6AACF0-0A1D-4839-96F8-D83CAA4BC8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消除左递归、加入翻译模式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8D9595E4-1ACE-4EF4-989B-055DD70C61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expr 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 i="1">
                <a:sym typeface="Symbol" panose="05050102010706020507" pitchFamily="18" charset="2"/>
              </a:rPr>
              <a:t>term rest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rest</a:t>
            </a:r>
            <a:r>
              <a:rPr kumimoji="0" lang="en-US" altLang="zh-CN" sz="2400">
                <a:sym typeface="Symbol" panose="05050102010706020507" pitchFamily="18" charset="2"/>
              </a:rPr>
              <a:t>  </a:t>
            </a:r>
            <a:r>
              <a:rPr kumimoji="0" lang="en-US" altLang="zh-CN" sz="2400" i="1">
                <a:sym typeface="Symbol" panose="05050102010706020507" pitchFamily="18" charset="2"/>
              </a:rPr>
              <a:t>+ term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 print</a:t>
            </a:r>
            <a:r>
              <a:rPr kumimoji="0" lang="en-US" altLang="zh-CN" sz="2400">
                <a:sym typeface="Symbol" panose="05050102010706020507" pitchFamily="18" charset="2"/>
              </a:rPr>
              <a:t>(‘+’)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}</a:t>
            </a:r>
            <a:r>
              <a:rPr kumimoji="0" lang="en-US" altLang="zh-CN" sz="2400" i="1">
                <a:sym typeface="Symbol" panose="05050102010706020507" pitchFamily="18" charset="2"/>
              </a:rPr>
              <a:t> rest |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      - </a:t>
            </a:r>
            <a:r>
              <a:rPr kumimoji="0" lang="en-US" altLang="zh-CN" sz="2400" i="1">
                <a:sym typeface="Symbol" panose="05050102010706020507" pitchFamily="18" charset="2"/>
              </a:rPr>
              <a:t>term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 print</a:t>
            </a:r>
            <a:r>
              <a:rPr kumimoji="0" lang="en-US" altLang="zh-CN" sz="2400">
                <a:sym typeface="Symbol" panose="05050102010706020507" pitchFamily="18" charset="2"/>
              </a:rPr>
              <a:t>(‘-’)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}</a:t>
            </a:r>
            <a:r>
              <a:rPr kumimoji="0" lang="en-US" altLang="zh-CN" sz="2400" i="1">
                <a:sym typeface="Symbol" panose="05050102010706020507" pitchFamily="18" charset="2"/>
              </a:rPr>
              <a:t> rest | </a:t>
            </a:r>
            <a:r>
              <a:rPr lang="en-US" altLang="zh-CN" sz="2400">
                <a:sym typeface="Symbol" panose="05050102010706020507" pitchFamily="18" charset="2"/>
              </a:rPr>
              <a:t>ε</a:t>
            </a:r>
            <a:endParaRPr kumimoji="0" lang="en-US" altLang="zh-CN" sz="2400" i="1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term 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 i="1">
                <a:sym typeface="Symbol" panose="05050102010706020507" pitchFamily="18" charset="2"/>
              </a:rPr>
              <a:t>0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print</a:t>
            </a:r>
            <a:r>
              <a:rPr kumimoji="0" lang="en-US" altLang="zh-CN" sz="2400">
                <a:sym typeface="Symbol" panose="05050102010706020507" pitchFamily="18" charset="2"/>
              </a:rPr>
              <a:t>(‘0’)}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term </a:t>
            </a:r>
            <a:r>
              <a:rPr kumimoji="0" lang="en-US" altLang="zh-CN" sz="2400">
                <a:sym typeface="Symbol" panose="05050102010706020507" pitchFamily="18" charset="2"/>
              </a:rPr>
              <a:t> 1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print</a:t>
            </a:r>
            <a:r>
              <a:rPr kumimoji="0" lang="en-US" altLang="zh-CN" sz="2400">
                <a:sym typeface="Symbol" panose="05050102010706020507" pitchFamily="18" charset="2"/>
              </a:rPr>
              <a:t>(‘1’)}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…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term </a:t>
            </a:r>
            <a:r>
              <a:rPr kumimoji="0" lang="en-US" altLang="zh-CN" sz="2400">
                <a:sym typeface="Symbol" panose="05050102010706020507" pitchFamily="18" charset="2"/>
              </a:rPr>
              <a:t> 9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print</a:t>
            </a:r>
            <a:r>
              <a:rPr kumimoji="0" lang="en-US" altLang="zh-CN" sz="2400">
                <a:sym typeface="Symbol" panose="05050102010706020507" pitchFamily="18" charset="2"/>
              </a:rPr>
              <a:t>(‘9’)}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4EFC9DBF-A157-4EDB-8C3E-B9D9BB11D5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9-5+2</a:t>
            </a:r>
            <a:r>
              <a:rPr lang="zh-CN" altLang="en-US"/>
              <a:t>翻译为</a:t>
            </a:r>
            <a:r>
              <a:rPr lang="en-US" altLang="zh-CN"/>
              <a:t>95-2+</a:t>
            </a:r>
          </a:p>
        </p:txBody>
      </p:sp>
      <p:sp>
        <p:nvSpPr>
          <p:cNvPr id="93188" name="Text Box 71">
            <a:extLst>
              <a:ext uri="{FF2B5EF4-FFF2-40B4-BE49-F238E27FC236}">
                <a16:creationId xmlns:a16="http://schemas.microsoft.com/office/drawing/2014/main" id="{47387591-03B0-4D57-9D59-3730DC5AE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8050" y="4523849"/>
            <a:ext cx="2132013" cy="457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chemeClr val="folHlink"/>
                </a:solidFill>
              </a:rPr>
              <a:t>{</a:t>
            </a:r>
            <a:r>
              <a:rPr kumimoji="0" lang="en-US" altLang="zh-CN" sz="2400" i="1">
                <a:solidFill>
                  <a:schemeClr val="folHlink"/>
                </a:solidFill>
              </a:rPr>
              <a:t>print</a:t>
            </a:r>
            <a:r>
              <a:rPr kumimoji="0" lang="en-US" altLang="zh-CN" sz="2400">
                <a:solidFill>
                  <a:schemeClr val="folHlink"/>
                </a:solidFill>
              </a:rPr>
              <a:t>(‘2’)}</a:t>
            </a:r>
            <a:endParaRPr kumimoji="0" lang="en-US" altLang="zh-CN" sz="2400" i="1">
              <a:solidFill>
                <a:schemeClr val="folHlink"/>
              </a:solidFill>
            </a:endParaRPr>
          </a:p>
        </p:txBody>
      </p:sp>
      <p:sp>
        <p:nvSpPr>
          <p:cNvPr id="93189" name="Text Box 72">
            <a:extLst>
              <a:ext uri="{FF2B5EF4-FFF2-40B4-BE49-F238E27FC236}">
                <a16:creationId xmlns:a16="http://schemas.microsoft.com/office/drawing/2014/main" id="{81A2804C-CB95-417D-A004-C16949435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913" y="1219200"/>
            <a:ext cx="1390650" cy="457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expr</a:t>
            </a:r>
          </a:p>
        </p:txBody>
      </p:sp>
      <p:sp>
        <p:nvSpPr>
          <p:cNvPr id="93190" name="Text Box 73">
            <a:extLst>
              <a:ext uri="{FF2B5EF4-FFF2-40B4-BE49-F238E27FC236}">
                <a16:creationId xmlns:a16="http://schemas.microsoft.com/office/drawing/2014/main" id="{0CE3CA75-3D1F-4402-886D-B065ABA64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1075" y="2017319"/>
            <a:ext cx="1390650" cy="457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term</a:t>
            </a:r>
          </a:p>
        </p:txBody>
      </p:sp>
      <p:sp>
        <p:nvSpPr>
          <p:cNvPr id="93191" name="Text Box 74">
            <a:extLst>
              <a:ext uri="{FF2B5EF4-FFF2-40B4-BE49-F238E27FC236}">
                <a16:creationId xmlns:a16="http://schemas.microsoft.com/office/drawing/2014/main" id="{BCADD011-CB72-4E59-99AE-20FF6B501E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8825" y="2816727"/>
            <a:ext cx="26892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/>
              <a:t>term</a:t>
            </a:r>
            <a:endParaRPr kumimoji="0" lang="en-US" altLang="zh-CN" sz="2400" i="1" dirty="0">
              <a:solidFill>
                <a:schemeClr val="folHlink"/>
              </a:solidFill>
            </a:endParaRPr>
          </a:p>
        </p:txBody>
      </p:sp>
      <p:sp>
        <p:nvSpPr>
          <p:cNvPr id="93192" name="Text Box 75">
            <a:extLst>
              <a:ext uri="{FF2B5EF4-FFF2-40B4-BE49-F238E27FC236}">
                <a16:creationId xmlns:a16="http://schemas.microsoft.com/office/drawing/2014/main" id="{485DAE44-1721-4F6D-80F2-E541C8B3C9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0" y="3384048"/>
            <a:ext cx="3009900" cy="457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/>
              <a:t>term                     </a:t>
            </a:r>
            <a:r>
              <a:rPr kumimoji="0" lang="en-US" altLang="zh-CN" sz="2400" dirty="0"/>
              <a:t>rest</a:t>
            </a:r>
            <a:endParaRPr kumimoji="0" lang="en-US" altLang="zh-CN" sz="2400" i="1" dirty="0"/>
          </a:p>
        </p:txBody>
      </p:sp>
      <p:sp>
        <p:nvSpPr>
          <p:cNvPr id="93193" name="Text Box 76">
            <a:extLst>
              <a:ext uri="{FF2B5EF4-FFF2-40B4-BE49-F238E27FC236}">
                <a16:creationId xmlns:a16="http://schemas.microsoft.com/office/drawing/2014/main" id="{6B3363EF-3DF4-4C86-B73E-17F3BFD23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0300" y="3613556"/>
            <a:ext cx="26876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olidFill>
                  <a:schemeClr val="folHlink"/>
                </a:solidFill>
              </a:rPr>
              <a:t>{</a:t>
            </a:r>
            <a:r>
              <a:rPr kumimoji="0" lang="en-US" altLang="zh-CN" sz="2400" i="1" dirty="0">
                <a:solidFill>
                  <a:schemeClr val="folHlink"/>
                </a:solidFill>
              </a:rPr>
              <a:t>print</a:t>
            </a:r>
            <a:r>
              <a:rPr kumimoji="0" lang="en-US" altLang="zh-CN" sz="2400" dirty="0">
                <a:solidFill>
                  <a:schemeClr val="folHlink"/>
                </a:solidFill>
              </a:rPr>
              <a:t>(‘5’)}</a:t>
            </a:r>
            <a:endParaRPr kumimoji="0" lang="en-US" altLang="zh-CN" sz="2400" i="1" dirty="0">
              <a:solidFill>
                <a:schemeClr val="folHlink"/>
              </a:solidFill>
            </a:endParaRPr>
          </a:p>
        </p:txBody>
      </p:sp>
      <p:sp>
        <p:nvSpPr>
          <p:cNvPr id="93194" name="Text Box 77">
            <a:extLst>
              <a:ext uri="{FF2B5EF4-FFF2-40B4-BE49-F238E27FC236}">
                <a16:creationId xmlns:a16="http://schemas.microsoft.com/office/drawing/2014/main" id="{35F8E281-E997-4327-B6F7-12584667F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928902"/>
            <a:ext cx="2689225" cy="457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olidFill>
                  <a:schemeClr val="folHlink"/>
                </a:solidFill>
              </a:rPr>
              <a:t>{</a:t>
            </a:r>
            <a:r>
              <a:rPr kumimoji="0" lang="en-US" altLang="zh-CN" sz="2400" i="1" dirty="0">
                <a:solidFill>
                  <a:schemeClr val="folHlink"/>
                </a:solidFill>
              </a:rPr>
              <a:t>print</a:t>
            </a:r>
            <a:r>
              <a:rPr kumimoji="0" lang="en-US" altLang="zh-CN" sz="2400" dirty="0">
                <a:solidFill>
                  <a:schemeClr val="folHlink"/>
                </a:solidFill>
              </a:rPr>
              <a:t>(‘9’)}</a:t>
            </a:r>
            <a:endParaRPr kumimoji="0" lang="en-US" altLang="zh-CN" sz="2400" i="1" dirty="0">
              <a:solidFill>
                <a:schemeClr val="folHlink"/>
              </a:solidFill>
            </a:endParaRPr>
          </a:p>
        </p:txBody>
      </p:sp>
      <p:sp>
        <p:nvSpPr>
          <p:cNvPr id="93195" name="Text Box 78">
            <a:extLst>
              <a:ext uri="{FF2B5EF4-FFF2-40B4-BE49-F238E27FC236}">
                <a16:creationId xmlns:a16="http://schemas.microsoft.com/office/drawing/2014/main" id="{79C56B51-D695-4C09-93EE-5F3CD8164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8050" y="2816727"/>
            <a:ext cx="1390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rest</a:t>
            </a:r>
          </a:p>
        </p:txBody>
      </p:sp>
      <p:sp>
        <p:nvSpPr>
          <p:cNvPr id="93196" name="Text Box 79">
            <a:extLst>
              <a:ext uri="{FF2B5EF4-FFF2-40B4-BE49-F238E27FC236}">
                <a16:creationId xmlns:a16="http://schemas.microsoft.com/office/drawing/2014/main" id="{29CCAABD-A552-418E-8B93-D7C8260A8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450" y="2017319"/>
            <a:ext cx="1390650" cy="457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rest</a:t>
            </a:r>
          </a:p>
        </p:txBody>
      </p:sp>
      <p:sp>
        <p:nvSpPr>
          <p:cNvPr id="93197" name="Text Box 80">
            <a:extLst>
              <a:ext uri="{FF2B5EF4-FFF2-40B4-BE49-F238E27FC236}">
                <a16:creationId xmlns:a16="http://schemas.microsoft.com/office/drawing/2014/main" id="{9433A6C6-5B3C-4638-BC1B-A3C14A6C4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0838" y="4523849"/>
            <a:ext cx="557213" cy="457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2</a:t>
            </a:r>
          </a:p>
        </p:txBody>
      </p:sp>
      <p:sp>
        <p:nvSpPr>
          <p:cNvPr id="93198" name="Text Box 81">
            <a:extLst>
              <a:ext uri="{FF2B5EF4-FFF2-40B4-BE49-F238E27FC236}">
                <a16:creationId xmlns:a16="http://schemas.microsoft.com/office/drawing/2014/main" id="{28CCC97E-2267-44FC-8125-A30A07231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3088" y="3613556"/>
            <a:ext cx="5572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5</a:t>
            </a:r>
          </a:p>
        </p:txBody>
      </p:sp>
      <p:sp>
        <p:nvSpPr>
          <p:cNvPr id="93199" name="Text Box 82">
            <a:extLst>
              <a:ext uri="{FF2B5EF4-FFF2-40B4-BE49-F238E27FC236}">
                <a16:creationId xmlns:a16="http://schemas.microsoft.com/office/drawing/2014/main" id="{DB1A7430-CE4A-4631-9085-7DD80D41E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350" y="2816727"/>
            <a:ext cx="5572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-</a:t>
            </a:r>
          </a:p>
        </p:txBody>
      </p:sp>
      <p:sp>
        <p:nvSpPr>
          <p:cNvPr id="93200" name="Text Box 83">
            <a:extLst>
              <a:ext uri="{FF2B5EF4-FFF2-40B4-BE49-F238E27FC236}">
                <a16:creationId xmlns:a16="http://schemas.microsoft.com/office/drawing/2014/main" id="{ABB09573-477E-4D1D-BD8C-FBB39696B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928902"/>
            <a:ext cx="555625" cy="457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9</a:t>
            </a:r>
          </a:p>
        </p:txBody>
      </p:sp>
      <p:sp>
        <p:nvSpPr>
          <p:cNvPr id="93201" name="Text Box 84">
            <a:extLst>
              <a:ext uri="{FF2B5EF4-FFF2-40B4-BE49-F238E27FC236}">
                <a16:creationId xmlns:a16="http://schemas.microsoft.com/office/drawing/2014/main" id="{A5A64A58-6C7A-4ECE-92C3-7CC9D5D8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0950" y="3384048"/>
            <a:ext cx="555625" cy="457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+</a:t>
            </a:r>
          </a:p>
        </p:txBody>
      </p:sp>
      <p:sp>
        <p:nvSpPr>
          <p:cNvPr id="93202" name="Text Box 85">
            <a:extLst>
              <a:ext uri="{FF2B5EF4-FFF2-40B4-BE49-F238E27FC236}">
                <a16:creationId xmlns:a16="http://schemas.microsoft.com/office/drawing/2014/main" id="{36579859-8E03-46C6-9454-4CA3E5295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2575" y="4525139"/>
            <a:ext cx="5556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</a:t>
            </a:r>
            <a:endParaRPr kumimoji="0" lang="en-US" altLang="zh-CN" sz="2400"/>
          </a:p>
        </p:txBody>
      </p:sp>
      <p:sp>
        <p:nvSpPr>
          <p:cNvPr id="93203" name="Line 86">
            <a:extLst>
              <a:ext uri="{FF2B5EF4-FFF2-40B4-BE49-F238E27FC236}">
                <a16:creationId xmlns:a16="http://schemas.microsoft.com/office/drawing/2014/main" id="{BA38A31C-B52C-4941-91E1-7DF00F3C4CC9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6725" y="3955238"/>
            <a:ext cx="0" cy="6833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04" name="Line 87">
            <a:extLst>
              <a:ext uri="{FF2B5EF4-FFF2-40B4-BE49-F238E27FC236}">
                <a16:creationId xmlns:a16="http://schemas.microsoft.com/office/drawing/2014/main" id="{2CE3AE29-58A8-46AB-A550-3F230425E0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3675" y="3043655"/>
            <a:ext cx="1381125" cy="4035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05" name="Line 88">
            <a:extLst>
              <a:ext uri="{FF2B5EF4-FFF2-40B4-BE49-F238E27FC236}">
                <a16:creationId xmlns:a16="http://schemas.microsoft.com/office/drawing/2014/main" id="{A3F9191A-0D16-4D3C-9959-AE76946BC8C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1599" y="3270584"/>
            <a:ext cx="276225" cy="1831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06" name="Line 89">
            <a:extLst>
              <a:ext uri="{FF2B5EF4-FFF2-40B4-BE49-F238E27FC236}">
                <a16:creationId xmlns:a16="http://schemas.microsoft.com/office/drawing/2014/main" id="{BDCF2E7B-55B1-4154-9FBA-A15247117B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16575" y="3840485"/>
            <a:ext cx="185738" cy="6846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07" name="Line 90">
            <a:extLst>
              <a:ext uri="{FF2B5EF4-FFF2-40B4-BE49-F238E27FC236}">
                <a16:creationId xmlns:a16="http://schemas.microsoft.com/office/drawing/2014/main" id="{5801CAC9-9AE2-4EBD-A062-B023EE2E68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13088" y="2472465"/>
            <a:ext cx="741363" cy="45643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08" name="Line 91">
            <a:extLst>
              <a:ext uri="{FF2B5EF4-FFF2-40B4-BE49-F238E27FC236}">
                <a16:creationId xmlns:a16="http://schemas.microsoft.com/office/drawing/2014/main" id="{D96F2F1A-07DA-46D8-90E4-DFF225886D2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3738" y="2359001"/>
            <a:ext cx="1762125" cy="5699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09" name="Line 92">
            <a:extLst>
              <a:ext uri="{FF2B5EF4-FFF2-40B4-BE49-F238E27FC236}">
                <a16:creationId xmlns:a16="http://schemas.microsoft.com/office/drawing/2014/main" id="{E5354972-F454-4228-AEBB-A4DF3E4DAC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1613" y="1675636"/>
            <a:ext cx="1392238" cy="4551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10" name="Line 93">
            <a:extLst>
              <a:ext uri="{FF2B5EF4-FFF2-40B4-BE49-F238E27FC236}">
                <a16:creationId xmlns:a16="http://schemas.microsoft.com/office/drawing/2014/main" id="{15CFBFA0-1100-40B9-BE56-96E33258B6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5338" y="2587219"/>
            <a:ext cx="369888" cy="34168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11" name="Line 94">
            <a:extLst>
              <a:ext uri="{FF2B5EF4-FFF2-40B4-BE49-F238E27FC236}">
                <a16:creationId xmlns:a16="http://schemas.microsoft.com/office/drawing/2014/main" id="{F7358AEC-B304-4A5D-A4B7-2C580898F2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50963" y="1675636"/>
            <a:ext cx="742950" cy="4551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12" name="Line 95">
            <a:extLst>
              <a:ext uri="{FF2B5EF4-FFF2-40B4-BE49-F238E27FC236}">
                <a16:creationId xmlns:a16="http://schemas.microsoft.com/office/drawing/2014/main" id="{1F2381C4-6D97-4B43-A61D-F6EF8599CC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94388" y="3270584"/>
            <a:ext cx="279400" cy="22821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13" name="Line 96">
            <a:extLst>
              <a:ext uri="{FF2B5EF4-FFF2-40B4-BE49-F238E27FC236}">
                <a16:creationId xmlns:a16="http://schemas.microsoft.com/office/drawing/2014/main" id="{D02E8DF3-2EDD-4650-AC2C-7A7691CD66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5100" y="3157120"/>
            <a:ext cx="835025" cy="34168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14" name="Line 97">
            <a:extLst>
              <a:ext uri="{FF2B5EF4-FFF2-40B4-BE49-F238E27FC236}">
                <a16:creationId xmlns:a16="http://schemas.microsoft.com/office/drawing/2014/main" id="{C30B58EE-C4BB-43E6-B6DE-25DC3D1E74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98825" y="3270584"/>
            <a:ext cx="185738" cy="45643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15" name="Line 98">
            <a:extLst>
              <a:ext uri="{FF2B5EF4-FFF2-40B4-BE49-F238E27FC236}">
                <a16:creationId xmlns:a16="http://schemas.microsoft.com/office/drawing/2014/main" id="{B7C857ED-6CBE-46C8-920B-2D14AD7949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70300" y="2587219"/>
            <a:ext cx="277813" cy="34168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16" name="Line 99">
            <a:extLst>
              <a:ext uri="{FF2B5EF4-FFF2-40B4-BE49-F238E27FC236}">
                <a16:creationId xmlns:a16="http://schemas.microsoft.com/office/drawing/2014/main" id="{374A9263-E825-4DD4-96BD-2B843ED1C2E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8050" y="3840485"/>
            <a:ext cx="555625" cy="68465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17" name="Line 100">
            <a:extLst>
              <a:ext uri="{FF2B5EF4-FFF2-40B4-BE49-F238E27FC236}">
                <a16:creationId xmlns:a16="http://schemas.microsoft.com/office/drawing/2014/main" id="{D6E24903-6C78-4F14-A860-B5481EDF7CC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5925" y="2472465"/>
            <a:ext cx="277368" cy="453788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18" name="Line 101">
            <a:extLst>
              <a:ext uri="{FF2B5EF4-FFF2-40B4-BE49-F238E27FC236}">
                <a16:creationId xmlns:a16="http://schemas.microsoft.com/office/drawing/2014/main" id="{608CB23C-FA65-4C07-A869-E1300551972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2375" y="3270584"/>
            <a:ext cx="371475" cy="456436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19" name="Line 102">
            <a:extLst>
              <a:ext uri="{FF2B5EF4-FFF2-40B4-BE49-F238E27FC236}">
                <a16:creationId xmlns:a16="http://schemas.microsoft.com/office/drawing/2014/main" id="{79F2F3EB-3955-417B-9C01-A1F6D74742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4625" y="2472465"/>
            <a:ext cx="369888" cy="57119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B1BE23-EB3F-43B3-BF15-F7A3F69C2DD4}"/>
              </a:ext>
            </a:extLst>
          </p:cNvPr>
          <p:cNvSpPr/>
          <p:nvPr/>
        </p:nvSpPr>
        <p:spPr>
          <a:xfrm>
            <a:off x="3948558" y="2810209"/>
            <a:ext cx="15905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zh-CN" sz="2400" dirty="0">
                <a:solidFill>
                  <a:schemeClr val="folHlink"/>
                </a:solidFill>
              </a:rPr>
              <a:t>{</a:t>
            </a:r>
            <a:r>
              <a:rPr kumimoji="0" lang="en-US" altLang="zh-CN" sz="2400" i="1" dirty="0">
                <a:solidFill>
                  <a:schemeClr val="folHlink"/>
                </a:solidFill>
              </a:rPr>
              <a:t>print</a:t>
            </a:r>
            <a:r>
              <a:rPr kumimoji="0" lang="en-US" altLang="zh-CN" sz="2400" dirty="0">
                <a:solidFill>
                  <a:schemeClr val="folHlink"/>
                </a:solidFill>
              </a:rPr>
              <a:t>(‘-’)}</a:t>
            </a:r>
            <a:endParaRPr lang="zh-CN" altLang="en-US" sz="2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5BB6637-284F-4C8F-A5A3-23A254D2B612}"/>
              </a:ext>
            </a:extLst>
          </p:cNvPr>
          <p:cNvSpPr/>
          <p:nvPr/>
        </p:nvSpPr>
        <p:spPr>
          <a:xfrm>
            <a:off x="6142571" y="3372301"/>
            <a:ext cx="16610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zh-CN" sz="2400" dirty="0">
                <a:solidFill>
                  <a:schemeClr val="folHlink"/>
                </a:solidFill>
              </a:rPr>
              <a:t>{</a:t>
            </a:r>
            <a:r>
              <a:rPr kumimoji="0" lang="en-US" altLang="zh-CN" sz="2400" i="1" dirty="0">
                <a:solidFill>
                  <a:schemeClr val="folHlink"/>
                </a:solidFill>
              </a:rPr>
              <a:t>print</a:t>
            </a:r>
            <a:r>
              <a:rPr kumimoji="0" lang="en-US" altLang="zh-CN" sz="2400" dirty="0">
                <a:solidFill>
                  <a:schemeClr val="folHlink"/>
                </a:solidFill>
              </a:rPr>
              <a:t>(‘+’)}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8" grpId="0"/>
      <p:bldP spid="93193" grpId="0"/>
      <p:bldP spid="93194" grpId="0"/>
      <p:bldP spid="93205" grpId="0" animBg="1"/>
      <p:bldP spid="93216" grpId="0" animBg="1"/>
      <p:bldP spid="93217" grpId="0" animBg="1"/>
      <p:bldP spid="93218" grpId="0" animBg="1"/>
      <p:bldP spid="93219" grpId="0" animBg="1"/>
      <p:bldP spid="2" grpId="0"/>
      <p:bldP spid="3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348DF589-EC79-47B5-ABB4-0916D83516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2.5.3  </a:t>
            </a:r>
            <a:r>
              <a:rPr lang="zh-CN" altLang="en-US"/>
              <a:t>非终结符实现代码</a:t>
            </a:r>
          </a:p>
        </p:txBody>
      </p:sp>
      <p:sp>
        <p:nvSpPr>
          <p:cNvPr id="94211" name="Rectangle 4">
            <a:extLst>
              <a:ext uri="{FF2B5EF4-FFF2-40B4-BE49-F238E27FC236}">
                <a16:creationId xmlns:a16="http://schemas.microsoft.com/office/drawing/2014/main" id="{4175A4DD-7594-4754-9388-9361217BF4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524000"/>
            <a:ext cx="7772400" cy="4572000"/>
          </a:xfrm>
          <a:noFill/>
        </p:spPr>
        <p:txBody>
          <a:bodyPr/>
          <a:lstStyle/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/>
              <a:t>非终结符的分析函数</a:t>
            </a:r>
            <a:r>
              <a:rPr lang="en-US" altLang="zh-CN"/>
              <a:t>——expr</a:t>
            </a:r>
            <a:endParaRPr kumimoji="0" lang="en-US" altLang="zh-CN" b="1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void</a:t>
            </a:r>
            <a:r>
              <a:rPr kumimoji="0" lang="en-US" altLang="zh-CN" sz="2400"/>
              <a:t> expr ()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{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term(); rest();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}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i="1"/>
              <a:t>expr </a:t>
            </a:r>
            <a:r>
              <a:rPr kumimoji="0" lang="en-US" altLang="zh-CN" sz="2800">
                <a:sym typeface="Symbol" panose="05050102010706020507" pitchFamily="18" charset="2"/>
              </a:rPr>
              <a:t> </a:t>
            </a:r>
            <a:r>
              <a:rPr kumimoji="0" lang="en-US" altLang="zh-CN" sz="2800" i="1">
                <a:sym typeface="Symbol" panose="05050102010706020507" pitchFamily="18" charset="2"/>
              </a:rPr>
              <a:t>term rest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4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BCC178D6-44B6-4D64-BD64-76D2C5847D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非终结符的分析函数</a:t>
            </a:r>
            <a:r>
              <a:rPr lang="en-US" altLang="zh-CN"/>
              <a:t>——rest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5A8BA4F1-C7AA-4E51-A1AF-94D56B11C4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70513"/>
          </a:xfrm>
          <a:noFill/>
        </p:spPr>
        <p:txBody>
          <a:bodyPr/>
          <a:lstStyle/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void</a:t>
            </a:r>
            <a:r>
              <a:rPr kumimoji="0" lang="en-US" altLang="zh-CN" sz="2400"/>
              <a:t> rest ()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{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</a:t>
            </a:r>
            <a:r>
              <a:rPr kumimoji="0" lang="en-US" altLang="zh-CN" sz="2400" b="1"/>
              <a:t>if</a:t>
            </a:r>
            <a:r>
              <a:rPr kumimoji="0" lang="en-US" altLang="zh-CN" sz="2400"/>
              <a:t> (lookahead == ‘+’) {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	match(‘+’); term(); putchar(‘+’); rest();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}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</a:t>
            </a:r>
            <a:r>
              <a:rPr kumimoji="0" lang="en-US" altLang="zh-CN" sz="2400" b="1"/>
              <a:t>else</a:t>
            </a:r>
            <a:r>
              <a:rPr kumimoji="0" lang="en-US" altLang="zh-CN" sz="2400"/>
              <a:t> </a:t>
            </a:r>
            <a:r>
              <a:rPr kumimoji="0" lang="en-US" altLang="zh-CN" sz="2400" b="1"/>
              <a:t>if</a:t>
            </a:r>
            <a:r>
              <a:rPr kumimoji="0" lang="en-US" altLang="zh-CN" sz="2400"/>
              <a:t> (lookahead == ‘-’) {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	match(‘-’); term(); putchar(‘-’); rest();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}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}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400"/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rest</a:t>
            </a:r>
            <a:r>
              <a:rPr kumimoji="0" lang="en-US" altLang="zh-CN" sz="2400">
                <a:sym typeface="Symbol" panose="05050102010706020507" pitchFamily="18" charset="2"/>
              </a:rPr>
              <a:t>  </a:t>
            </a:r>
            <a:r>
              <a:rPr kumimoji="0" lang="en-US" altLang="zh-CN" sz="2400" i="1">
                <a:sym typeface="Symbol" panose="05050102010706020507" pitchFamily="18" charset="2"/>
              </a:rPr>
              <a:t>+ term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 print</a:t>
            </a:r>
            <a:r>
              <a:rPr kumimoji="0" lang="en-US" altLang="zh-CN" sz="2400">
                <a:sym typeface="Symbol" panose="05050102010706020507" pitchFamily="18" charset="2"/>
              </a:rPr>
              <a:t>(‘+’)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}</a:t>
            </a:r>
            <a:r>
              <a:rPr kumimoji="0" lang="en-US" altLang="zh-CN" sz="2400" i="1">
                <a:sym typeface="Symbol" panose="05050102010706020507" pitchFamily="18" charset="2"/>
              </a:rPr>
              <a:t> rest |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      - </a:t>
            </a:r>
            <a:r>
              <a:rPr kumimoji="0" lang="en-US" altLang="zh-CN" sz="2400" i="1">
                <a:sym typeface="Symbol" panose="05050102010706020507" pitchFamily="18" charset="2"/>
              </a:rPr>
              <a:t>term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 print</a:t>
            </a:r>
            <a:r>
              <a:rPr kumimoji="0" lang="en-US" altLang="zh-CN" sz="2400">
                <a:sym typeface="Symbol" panose="05050102010706020507" pitchFamily="18" charset="2"/>
              </a:rPr>
              <a:t>(‘-’)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}</a:t>
            </a:r>
            <a:r>
              <a:rPr kumimoji="0" lang="en-US" altLang="zh-CN" sz="2400" i="1">
                <a:sym typeface="Symbol" panose="05050102010706020507" pitchFamily="18" charset="2"/>
              </a:rPr>
              <a:t> rest | </a:t>
            </a:r>
            <a:r>
              <a:rPr lang="en-US" altLang="zh-CN" sz="2400">
                <a:sym typeface="Symbol" panose="05050102010706020507" pitchFamily="18" charset="2"/>
              </a:rPr>
              <a:t>ε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4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573760F0-38AE-46D8-BC67-9F93C650BB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非终结符的分析函数</a:t>
            </a:r>
            <a:r>
              <a:rPr lang="en-US" altLang="zh-CN"/>
              <a:t>——term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F9E8635A-1919-496D-8948-D0C33A79AB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53025"/>
          </a:xfrm>
          <a:noFill/>
        </p:spPr>
        <p:txBody>
          <a:bodyPr/>
          <a:lstStyle/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void</a:t>
            </a:r>
            <a:r>
              <a:rPr kumimoji="0" lang="en-US" altLang="zh-CN" sz="2400"/>
              <a:t> term ()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{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</a:t>
            </a:r>
            <a:r>
              <a:rPr kumimoji="0" lang="en-US" altLang="zh-CN" sz="2400" b="1"/>
              <a:t>if</a:t>
            </a:r>
            <a:r>
              <a:rPr kumimoji="0" lang="en-US" altLang="zh-CN" sz="2400"/>
              <a:t> (isdigit(lookahead)) {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	putchar(lookahead); match(lookahead);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}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</a:t>
            </a:r>
            <a:r>
              <a:rPr kumimoji="0" lang="en-US" altLang="zh-CN" sz="2400" b="1"/>
              <a:t>else</a:t>
            </a:r>
            <a:r>
              <a:rPr kumimoji="0" lang="en-US" altLang="zh-CN" sz="2400"/>
              <a:t> error();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}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400"/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term 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 i="1">
                <a:sym typeface="Symbol" panose="05050102010706020507" pitchFamily="18" charset="2"/>
              </a:rPr>
              <a:t>0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print</a:t>
            </a:r>
            <a:r>
              <a:rPr kumimoji="0" lang="en-US" altLang="zh-CN" sz="2400">
                <a:sym typeface="Symbol" panose="05050102010706020507" pitchFamily="18" charset="2"/>
              </a:rPr>
              <a:t>(‘0’)}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term </a:t>
            </a:r>
            <a:r>
              <a:rPr kumimoji="0" lang="en-US" altLang="zh-CN" sz="2400">
                <a:sym typeface="Symbol" panose="05050102010706020507" pitchFamily="18" charset="2"/>
              </a:rPr>
              <a:t> 1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print</a:t>
            </a:r>
            <a:r>
              <a:rPr kumimoji="0" lang="en-US" altLang="zh-CN" sz="2400">
                <a:sym typeface="Symbol" panose="05050102010706020507" pitchFamily="18" charset="2"/>
              </a:rPr>
              <a:t>(‘1’)}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…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term </a:t>
            </a:r>
            <a:r>
              <a:rPr kumimoji="0" lang="en-US" altLang="zh-CN" sz="2400">
                <a:sym typeface="Symbol" panose="05050102010706020507" pitchFamily="18" charset="2"/>
              </a:rPr>
              <a:t> 9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print</a:t>
            </a:r>
            <a:r>
              <a:rPr kumimoji="0" lang="en-US" altLang="zh-CN" sz="2400">
                <a:sym typeface="Symbol" panose="05050102010706020507" pitchFamily="18" charset="2"/>
              </a:rPr>
              <a:t>(‘9’)}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B71EDE47-AC55-49D2-A1EE-68B09AAE1C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2.5.4  </a:t>
            </a:r>
            <a:r>
              <a:rPr lang="zh-CN" altLang="en-US"/>
              <a:t>优化</a:t>
            </a:r>
            <a:r>
              <a:rPr lang="en-US" altLang="zh-CN"/>
              <a:t>——</a:t>
            </a:r>
            <a:r>
              <a:rPr lang="zh-CN" altLang="en-US"/>
              <a:t>消除</a:t>
            </a:r>
            <a:r>
              <a:rPr lang="en-US" altLang="zh-CN"/>
              <a:t>rest</a:t>
            </a:r>
            <a:r>
              <a:rPr lang="zh-CN" altLang="en-US"/>
              <a:t>尾递归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F26E7EA1-7091-40C0-B29B-C920320312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void</a:t>
            </a:r>
            <a:r>
              <a:rPr kumimoji="0" lang="en-US" altLang="zh-CN" sz="2400"/>
              <a:t> rest ()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{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L:	</a:t>
            </a:r>
            <a:r>
              <a:rPr kumimoji="0" lang="en-US" altLang="zh-CN" sz="2400" b="1"/>
              <a:t>if</a:t>
            </a:r>
            <a:r>
              <a:rPr kumimoji="0" lang="en-US" altLang="zh-CN" sz="2400"/>
              <a:t> (lookahead == ‘+’) {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	match(‘+’); term(); putchar(‘+’); goto L;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}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</a:t>
            </a:r>
            <a:r>
              <a:rPr kumimoji="0" lang="en-US" altLang="zh-CN" sz="2400" b="1"/>
              <a:t>else</a:t>
            </a:r>
            <a:r>
              <a:rPr kumimoji="0" lang="en-US" altLang="zh-CN" sz="2400"/>
              <a:t> </a:t>
            </a:r>
            <a:r>
              <a:rPr kumimoji="0" lang="en-US" altLang="zh-CN" sz="2400" b="1"/>
              <a:t>if</a:t>
            </a:r>
            <a:r>
              <a:rPr kumimoji="0" lang="en-US" altLang="zh-CN" sz="2400"/>
              <a:t> (lookahead == ‘-’) {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	match(‘-’); term(); putchar(‘-’); goto L;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}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}</a:t>
            </a:r>
            <a:endParaRPr lang="en-US" altLang="zh-CN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4F4FAFF8-F7B1-4D29-9BE7-16DE3BBAA7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优化</a:t>
            </a:r>
            <a:r>
              <a:rPr lang="en-US" altLang="zh-CN"/>
              <a:t>——rest</a:t>
            </a:r>
            <a:r>
              <a:rPr lang="zh-CN" altLang="en-US"/>
              <a:t>并入</a:t>
            </a:r>
            <a:r>
              <a:rPr lang="en-US" altLang="zh-CN"/>
              <a:t>expr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1F3C1597-1407-4448-B7DC-A974D90BF4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void</a:t>
            </a:r>
            <a:r>
              <a:rPr kumimoji="0" lang="en-US" altLang="zh-CN" sz="2000"/>
              <a:t> expr ()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{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term();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</a:t>
            </a:r>
            <a:r>
              <a:rPr kumimoji="0" lang="en-US" altLang="zh-CN" sz="2000" b="1"/>
              <a:t>while</a:t>
            </a:r>
            <a:r>
              <a:rPr kumimoji="0" lang="en-US" altLang="zh-CN" sz="2000"/>
              <a:t> (1)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</a:t>
            </a:r>
            <a:r>
              <a:rPr kumimoji="0" lang="en-US" altLang="zh-CN" sz="2000" b="1"/>
              <a:t>if</a:t>
            </a:r>
            <a:r>
              <a:rPr kumimoji="0" lang="en-US" altLang="zh-CN" sz="2000"/>
              <a:t> (lookahead == ‘+’) {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	match(‘+’); term(); putchar(‘+’);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}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</a:t>
            </a:r>
            <a:r>
              <a:rPr kumimoji="0" lang="en-US" altLang="zh-CN" sz="2000" b="1"/>
              <a:t>else</a:t>
            </a:r>
            <a:r>
              <a:rPr kumimoji="0" lang="en-US" altLang="zh-CN" sz="2000"/>
              <a:t> </a:t>
            </a:r>
            <a:r>
              <a:rPr kumimoji="0" lang="en-US" altLang="zh-CN" sz="2000" b="1"/>
              <a:t>if</a:t>
            </a:r>
            <a:r>
              <a:rPr kumimoji="0" lang="en-US" altLang="zh-CN" sz="2000"/>
              <a:t> (lookahead == ‘-’) {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	match(‘-’); term(); putchar(‘-’);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}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</a:t>
            </a:r>
            <a:r>
              <a:rPr kumimoji="0" lang="en-US" altLang="zh-CN" sz="2000" b="1"/>
              <a:t>else</a:t>
            </a:r>
            <a:r>
              <a:rPr kumimoji="0" lang="en-US" altLang="zh-CN" sz="2000"/>
              <a:t> break;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}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B18A7500-7F47-43B1-A6E7-BAA571C8EF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130175"/>
            <a:ext cx="7793037" cy="1066800"/>
          </a:xfrm>
        </p:spPr>
        <p:txBody>
          <a:bodyPr/>
          <a:lstStyle/>
          <a:p>
            <a:pPr eaLnBrk="1" hangingPunct="1"/>
            <a:r>
              <a:rPr lang="en-US" altLang="zh-CN"/>
              <a:t>2.5.5  </a:t>
            </a:r>
            <a:r>
              <a:rPr lang="zh-CN" altLang="en-US"/>
              <a:t>完整程序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57DCA778-0A67-4F9B-A0B4-6360DB27FC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295400"/>
            <a:ext cx="7772400" cy="5410200"/>
          </a:xfrm>
        </p:spPr>
        <p:txBody>
          <a:bodyPr/>
          <a:lstStyle/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kumimoji="0" lang="en-US" altLang="zh-CN" sz="2000"/>
              <a:t>#include &lt;ctype.h&gt;</a:t>
            </a: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kumimoji="0" lang="en-US" altLang="zh-CN" sz="2000" b="1"/>
              <a:t>int</a:t>
            </a:r>
            <a:r>
              <a:rPr kumimoji="0" lang="en-US" altLang="zh-CN" sz="2000"/>
              <a:t> lookahead;</a:t>
            </a: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kumimoji="0" lang="en-US" altLang="zh-CN" sz="2000"/>
              <a:t>main()</a:t>
            </a: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kumimoji="0" lang="en-US" altLang="zh-CN" sz="2000"/>
              <a:t>{</a:t>
            </a: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kumimoji="0" lang="en-US" altLang="zh-CN" sz="2000"/>
              <a:t>	lookahead = getchar();</a:t>
            </a: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kumimoji="0" lang="en-US" altLang="zh-CN" sz="2000"/>
              <a:t>	expr();</a:t>
            </a: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kumimoji="0" lang="en-US" altLang="zh-CN" sz="2000"/>
              <a:t>	putchar(‘\n’);</a:t>
            </a: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kumimoji="0" lang="en-US" altLang="zh-CN" sz="2000"/>
              <a:t>}</a:t>
            </a: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kumimoji="0" lang="en-US" altLang="zh-CN" sz="2000" b="1"/>
              <a:t>void</a:t>
            </a:r>
            <a:r>
              <a:rPr kumimoji="0" lang="en-US" altLang="zh-CN" sz="2000"/>
              <a:t> match(int t)</a:t>
            </a: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kumimoji="0" lang="en-US" altLang="zh-CN" sz="2000"/>
              <a:t>{</a:t>
            </a: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kumimoji="0" lang="en-US" altLang="zh-CN" sz="2000"/>
              <a:t>	</a:t>
            </a:r>
            <a:r>
              <a:rPr kumimoji="0" lang="en-US" altLang="zh-CN" sz="2000" b="1"/>
              <a:t>if</a:t>
            </a:r>
            <a:r>
              <a:rPr kumimoji="0" lang="en-US" altLang="zh-CN" sz="2000"/>
              <a:t> (lookahead == t)</a:t>
            </a: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kumimoji="0" lang="en-US" altLang="zh-CN" sz="2000"/>
              <a:t>		lookahead = getchar();</a:t>
            </a: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kumimoji="0" lang="en-US" altLang="zh-CN" sz="2000"/>
              <a:t>	</a:t>
            </a:r>
            <a:r>
              <a:rPr kumimoji="0" lang="en-US" altLang="zh-CN" sz="2000" b="1"/>
              <a:t>else</a:t>
            </a:r>
            <a:r>
              <a:rPr kumimoji="0" lang="en-US" altLang="zh-CN" sz="2000"/>
              <a:t> error();</a:t>
            </a: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kumimoji="0" lang="en-US" altLang="zh-CN" sz="2000"/>
              <a:t>}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468C3F6F-81E3-4804-9B56-3F08585DAD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2.6 </a:t>
            </a:r>
            <a:r>
              <a:rPr lang="zh-CN" altLang="en-US"/>
              <a:t>词法分析</a:t>
            </a: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C9D09CC0-3D0D-404E-8CF5-61B65132F2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/>
            <a:r>
              <a:rPr lang="en-US" altLang="zh-CN" sz="2800"/>
              <a:t>2.6.1  </a:t>
            </a:r>
            <a:r>
              <a:rPr lang="zh-CN" altLang="en-US" sz="2800"/>
              <a:t>去除空白符和注释</a:t>
            </a:r>
          </a:p>
          <a:p>
            <a:pPr eaLnBrk="1" hangingPunct="1"/>
            <a:r>
              <a:rPr lang="en-US" altLang="zh-CN" sz="2800"/>
              <a:t>2.6.2  </a:t>
            </a:r>
            <a:r>
              <a:rPr lang="zh-CN" altLang="en-US" sz="2800"/>
              <a:t>常量：</a:t>
            </a:r>
            <a:r>
              <a:rPr lang="en-US" altLang="zh-CN" sz="2800"/>
              <a:t>&lt;num, 31&gt;, &lt;num, 28&gt;, …</a:t>
            </a:r>
          </a:p>
          <a:p>
            <a:pPr eaLnBrk="1" hangingPunct="1"/>
            <a:r>
              <a:rPr lang="en-US" altLang="zh-CN" sz="2800"/>
              <a:t>2.6.3  </a:t>
            </a:r>
            <a:r>
              <a:rPr lang="zh-CN" altLang="en-US" sz="2800"/>
              <a:t>标识符与关键字识别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2400"/>
              <a:t>count = count + increment </a:t>
            </a:r>
            <a:r>
              <a:rPr lang="en-US" altLang="zh-CN" sz="2400">
                <a:sym typeface="Wingdings" panose="05000000000000000000" pitchFamily="2" charset="2"/>
              </a:rPr>
              <a:t> id = id + id</a:t>
            </a:r>
          </a:p>
          <a:p>
            <a:pPr lvl="1" eaLnBrk="1" hangingPunct="1"/>
            <a:r>
              <a:rPr lang="zh-CN" altLang="en-US" sz="2400">
                <a:sym typeface="Wingdings" panose="05000000000000000000" pitchFamily="2" charset="2"/>
              </a:rPr>
              <a:t>单词</a:t>
            </a:r>
            <a:r>
              <a:rPr lang="en-US" altLang="zh-CN" sz="2400">
                <a:sym typeface="Wingdings" panose="05000000000000000000" pitchFamily="2" charset="2"/>
              </a:rPr>
              <a:t>id</a:t>
            </a:r>
            <a:r>
              <a:rPr lang="zh-CN" altLang="en-US" sz="2400">
                <a:sym typeface="Wingdings" panose="05000000000000000000" pitchFamily="2" charset="2"/>
              </a:rPr>
              <a:t>不同实例</a:t>
            </a:r>
            <a:r>
              <a:rPr lang="en-US" altLang="zh-CN" sz="2400">
                <a:sym typeface="Wingdings" panose="05000000000000000000" pitchFamily="2" charset="2"/>
              </a:rPr>
              <a:t>count, increment</a:t>
            </a:r>
            <a:r>
              <a:rPr lang="zh-CN" altLang="en-US" sz="2400">
                <a:sym typeface="Wingdings" panose="05000000000000000000" pitchFamily="2" charset="2"/>
              </a:rPr>
              <a:t>的区分</a:t>
            </a:r>
          </a:p>
          <a:p>
            <a:pPr lvl="2" eaLnBrk="1" hangingPunct="1"/>
            <a:r>
              <a:rPr lang="en-US" altLang="zh-CN" sz="2000">
                <a:sym typeface="Wingdings" panose="05000000000000000000" pitchFamily="2" charset="2"/>
              </a:rPr>
              <a:t>&lt;id, </a:t>
            </a:r>
            <a:r>
              <a:rPr lang="zh-CN" altLang="en-US" sz="2000">
                <a:sym typeface="Wingdings" panose="05000000000000000000" pitchFamily="2" charset="2"/>
              </a:rPr>
              <a:t>符号表项指针</a:t>
            </a:r>
            <a:r>
              <a:rPr lang="en-US" altLang="zh-CN" sz="2000">
                <a:sym typeface="Wingdings" panose="05000000000000000000" pitchFamily="2" charset="2"/>
              </a:rPr>
              <a:t>&gt;</a:t>
            </a:r>
          </a:p>
          <a:p>
            <a:pPr lvl="1" eaLnBrk="1" hangingPunct="1"/>
            <a:r>
              <a:rPr lang="zh-CN" altLang="en-US" sz="2400">
                <a:sym typeface="Wingdings" panose="05000000000000000000" pitchFamily="2" charset="2"/>
              </a:rPr>
              <a:t>关键字（</a:t>
            </a:r>
            <a:r>
              <a:rPr lang="en-US" altLang="zh-CN" sz="2400">
                <a:solidFill>
                  <a:srgbClr val="FF3300"/>
                </a:solidFill>
                <a:sym typeface="Wingdings" panose="05000000000000000000" pitchFamily="2" charset="2"/>
              </a:rPr>
              <a:t>keyword</a:t>
            </a:r>
            <a:r>
              <a:rPr lang="zh-CN" altLang="en-US" sz="2400">
                <a:sym typeface="Wingdings" panose="05000000000000000000" pitchFamily="2" charset="2"/>
              </a:rPr>
              <a:t>），保留字（</a:t>
            </a:r>
            <a:r>
              <a:rPr lang="en-US" altLang="zh-CN" sz="2400">
                <a:solidFill>
                  <a:srgbClr val="FF3300"/>
                </a:solidFill>
                <a:sym typeface="Wingdings" panose="05000000000000000000" pitchFamily="2" charset="2"/>
              </a:rPr>
              <a:t>reserved</a:t>
            </a:r>
            <a:r>
              <a:rPr lang="zh-CN" altLang="en-US" sz="2400">
                <a:sym typeface="Wingdings" panose="05000000000000000000" pitchFamily="2" charset="2"/>
              </a:rPr>
              <a:t>）</a:t>
            </a:r>
          </a:p>
          <a:p>
            <a:pPr lvl="1" eaLnBrk="1" hangingPunct="1"/>
            <a:r>
              <a:rPr lang="zh-CN" altLang="en-US" sz="2400">
                <a:sym typeface="Wingdings" panose="05000000000000000000" pitchFamily="2" charset="2"/>
              </a:rPr>
              <a:t>运算符，</a:t>
            </a:r>
            <a:r>
              <a:rPr lang="en-US" altLang="zh-CN" sz="2400">
                <a:sym typeface="Wingdings" panose="05000000000000000000" pitchFamily="2" charset="2"/>
              </a:rPr>
              <a:t>&lt;, &lt;=, &lt;&gt;</a:t>
            </a:r>
            <a:r>
              <a:rPr lang="zh-CN" altLang="en-US" sz="2400">
                <a:sym typeface="Wingdings" panose="05000000000000000000" pitchFamily="2" charset="2"/>
              </a:rPr>
              <a:t>，可以每个运算符作为一类单词</a:t>
            </a:r>
            <a:endParaRPr lang="zh-CN" altLang="en-US" sz="240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D51E3DA4-4373-4E1F-B5D9-F98235CE03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2.6.4  </a:t>
            </a:r>
            <a:r>
              <a:rPr lang="zh-CN" altLang="en-US"/>
              <a:t>词法分析器接口</a:t>
            </a:r>
          </a:p>
        </p:txBody>
      </p:sp>
      <p:sp>
        <p:nvSpPr>
          <p:cNvPr id="110595" name="Text Box 4">
            <a:extLst>
              <a:ext uri="{FF2B5EF4-FFF2-40B4-BE49-F238E27FC236}">
                <a16:creationId xmlns:a16="http://schemas.microsoft.com/office/drawing/2014/main" id="{BB85FAD2-1201-4AEF-86E7-9B45B61AB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828800"/>
            <a:ext cx="267493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uses   getchar ( ) to read character</a:t>
            </a:r>
          </a:p>
        </p:txBody>
      </p:sp>
      <p:sp>
        <p:nvSpPr>
          <p:cNvPr id="110596" name="Text Box 5">
            <a:extLst>
              <a:ext uri="{FF2B5EF4-FFF2-40B4-BE49-F238E27FC236}">
                <a16:creationId xmlns:a16="http://schemas.microsoft.com/office/drawing/2014/main" id="{ED335654-4C44-47A9-B698-3BE0490BD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895600"/>
            <a:ext cx="27733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pushes back c using ungetc (c , stdin)</a:t>
            </a:r>
          </a:p>
        </p:txBody>
      </p:sp>
      <p:sp>
        <p:nvSpPr>
          <p:cNvPr id="110597" name="Text Box 6">
            <a:extLst>
              <a:ext uri="{FF2B5EF4-FFF2-40B4-BE49-F238E27FC236}">
                <a16:creationId xmlns:a16="http://schemas.microsoft.com/office/drawing/2014/main" id="{0E668E28-00CF-44FA-B646-BF3FC13D2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1600200"/>
            <a:ext cx="1981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returns token to caller</a:t>
            </a:r>
          </a:p>
        </p:txBody>
      </p:sp>
      <p:sp>
        <p:nvSpPr>
          <p:cNvPr id="110598" name="Text Box 7">
            <a:extLst>
              <a:ext uri="{FF2B5EF4-FFF2-40B4-BE49-F238E27FC236}">
                <a16:creationId xmlns:a16="http://schemas.microsoft.com/office/drawing/2014/main" id="{0105AB4D-E724-4BAD-859B-E8D9C7EC1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3505200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tokenval</a:t>
            </a:r>
            <a:endParaRPr kumimoji="0" lang="en-US" altLang="zh-CN" sz="1800"/>
          </a:p>
        </p:txBody>
      </p:sp>
      <p:sp>
        <p:nvSpPr>
          <p:cNvPr id="110599" name="Text Box 8">
            <a:extLst>
              <a:ext uri="{FF2B5EF4-FFF2-40B4-BE49-F238E27FC236}">
                <a16:creationId xmlns:a16="http://schemas.microsoft.com/office/drawing/2014/main" id="{64D8BC42-5122-4B73-91B0-EAEEEF3B81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4191000"/>
            <a:ext cx="27733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Sets global variable to attribute value</a:t>
            </a:r>
          </a:p>
        </p:txBody>
      </p:sp>
      <p:sp>
        <p:nvSpPr>
          <p:cNvPr id="110600" name="Text Box 9">
            <a:extLst>
              <a:ext uri="{FF2B5EF4-FFF2-40B4-BE49-F238E27FC236}">
                <a16:creationId xmlns:a16="http://schemas.microsoft.com/office/drawing/2014/main" id="{133D9A9C-80FE-452D-BF78-6BAF07BD2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1905000"/>
            <a:ext cx="1447800" cy="12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lexan ( )</a:t>
            </a:r>
          </a:p>
          <a:p>
            <a:pPr algn="ctr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lexical </a:t>
            </a:r>
          </a:p>
          <a:p>
            <a:pPr algn="ctr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analyzer</a:t>
            </a:r>
          </a:p>
        </p:txBody>
      </p:sp>
      <p:sp>
        <p:nvSpPr>
          <p:cNvPr id="110601" name="Line 10">
            <a:extLst>
              <a:ext uri="{FF2B5EF4-FFF2-40B4-BE49-F238E27FC236}">
                <a16:creationId xmlns:a16="http://schemas.microsoft.com/office/drawing/2014/main" id="{E8B5A907-5BAF-43D8-9584-E8510F8689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2098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02" name="Line 11">
            <a:extLst>
              <a:ext uri="{FF2B5EF4-FFF2-40B4-BE49-F238E27FC236}">
                <a16:creationId xmlns:a16="http://schemas.microsoft.com/office/drawing/2014/main" id="{56D7CA22-89AB-4235-9B5C-B32DE6FD57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86200" y="29718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03" name="Line 12">
            <a:extLst>
              <a:ext uri="{FF2B5EF4-FFF2-40B4-BE49-F238E27FC236}">
                <a16:creationId xmlns:a16="http://schemas.microsoft.com/office/drawing/2014/main" id="{7A262647-031B-4D1A-9400-CC758D6D70FB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21336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110604" name="AutoShape 13">
            <a:extLst>
              <a:ext uri="{FF2B5EF4-FFF2-40B4-BE49-F238E27FC236}">
                <a16:creationId xmlns:a16="http://schemas.microsoft.com/office/drawing/2014/main" id="{E81C335A-35D3-4D95-B7D0-33C0DCE2592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657850" y="2514600"/>
            <a:ext cx="342900" cy="12954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205F3199-419C-44BC-BA3B-54505A1049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2.6.5  </a:t>
            </a:r>
            <a:r>
              <a:rPr lang="zh-CN" altLang="en-US"/>
              <a:t>词法分析器程序</a:t>
            </a:r>
          </a:p>
        </p:txBody>
      </p:sp>
      <p:sp>
        <p:nvSpPr>
          <p:cNvPr id="111619" name="Rectangle 4">
            <a:extLst>
              <a:ext uri="{FF2B5EF4-FFF2-40B4-BE49-F238E27FC236}">
                <a16:creationId xmlns:a16="http://schemas.microsoft.com/office/drawing/2014/main" id="{35DE326E-FEA6-4FBA-AA68-1DCB849EE6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  <a:noFill/>
        </p:spPr>
        <p:txBody>
          <a:bodyPr/>
          <a:lstStyle/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#include &lt;</a:t>
            </a:r>
            <a:r>
              <a:rPr kumimoji="0" lang="en-US" altLang="zh-CN" sz="2000" dirty="0" err="1"/>
              <a:t>stdio.h</a:t>
            </a:r>
            <a:r>
              <a:rPr kumimoji="0" lang="en-US" altLang="zh-CN" sz="2000" dirty="0"/>
              <a:t>&gt;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#include &lt;</a:t>
            </a:r>
            <a:r>
              <a:rPr kumimoji="0" lang="en-US" altLang="zh-CN" sz="2000" dirty="0" err="1"/>
              <a:t>ctype.h</a:t>
            </a:r>
            <a:r>
              <a:rPr kumimoji="0" lang="en-US" altLang="zh-CN" sz="2000" dirty="0"/>
              <a:t>&gt;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#define NUM 256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/>
              <a:t>int</a:t>
            </a:r>
            <a:r>
              <a:rPr kumimoji="0" lang="en-US" altLang="zh-CN" sz="2000" dirty="0"/>
              <a:t> </a:t>
            </a:r>
            <a:r>
              <a:rPr kumimoji="0" lang="en-US" altLang="zh-CN" sz="2000" dirty="0" err="1"/>
              <a:t>lineno</a:t>
            </a:r>
            <a:r>
              <a:rPr kumimoji="0" lang="en-US" altLang="zh-CN" sz="2000" dirty="0"/>
              <a:t> = 1;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/>
              <a:t>int</a:t>
            </a:r>
            <a:r>
              <a:rPr kumimoji="0" lang="en-US" altLang="zh-CN" sz="2000" dirty="0"/>
              <a:t> </a:t>
            </a:r>
            <a:r>
              <a:rPr kumimoji="0" lang="en-US" altLang="zh-CN" sz="2000" dirty="0" err="1"/>
              <a:t>tokenval</a:t>
            </a:r>
            <a:r>
              <a:rPr kumimoji="0" lang="en-US" altLang="zh-CN" sz="2000" dirty="0"/>
              <a:t> = NONE;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000" dirty="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/>
              <a:t>int</a:t>
            </a:r>
            <a:r>
              <a:rPr kumimoji="0" lang="en-US" altLang="zh-CN" sz="2000" dirty="0"/>
              <a:t> </a:t>
            </a:r>
            <a:r>
              <a:rPr kumimoji="0" lang="en-US" altLang="zh-CN" sz="2000" dirty="0" err="1"/>
              <a:t>lexan</a:t>
            </a:r>
            <a:r>
              <a:rPr kumimoji="0" lang="en-US" altLang="zh-CN" sz="2000" dirty="0"/>
              <a:t>()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{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int t;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</a:t>
            </a:r>
            <a:r>
              <a:rPr kumimoji="0" lang="en-US" altLang="zh-CN" sz="2000" b="1" dirty="0"/>
              <a:t>while</a:t>
            </a:r>
            <a:r>
              <a:rPr kumimoji="0" lang="en-US" altLang="zh-CN" sz="2000" dirty="0"/>
              <a:t> (1) {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	t = </a:t>
            </a:r>
            <a:r>
              <a:rPr kumimoji="0" lang="en-US" altLang="zh-CN" sz="2000" dirty="0" err="1"/>
              <a:t>getchar</a:t>
            </a:r>
            <a:r>
              <a:rPr kumimoji="0" lang="en-US" altLang="zh-CN" sz="2000" dirty="0"/>
              <a:t>();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	</a:t>
            </a:r>
            <a:r>
              <a:rPr kumimoji="0" lang="en-US" altLang="zh-CN" sz="2000" b="1" dirty="0"/>
              <a:t>if</a:t>
            </a:r>
            <a:r>
              <a:rPr kumimoji="0" lang="en-US" altLang="zh-CN" sz="2000" dirty="0"/>
              <a:t> (t == ‘ ’ || t == ‘\t’)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		;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36E8EE02-8556-4206-81F1-7E598E6721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词法分析器程序（续）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C7CE052F-99BA-4A2F-8FD1-5CBFEED24D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  <a:noFill/>
        </p:spPr>
        <p:txBody>
          <a:bodyPr/>
          <a:lstStyle/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</a:t>
            </a:r>
            <a:r>
              <a:rPr kumimoji="0" lang="en-US" altLang="zh-CN" sz="2000" b="1"/>
              <a:t>else</a:t>
            </a:r>
            <a:r>
              <a:rPr kumimoji="0" lang="en-US" altLang="zh-CN" sz="2000"/>
              <a:t> </a:t>
            </a:r>
            <a:r>
              <a:rPr kumimoji="0" lang="en-US" altLang="zh-CN" sz="2000" b="1"/>
              <a:t>if</a:t>
            </a:r>
            <a:r>
              <a:rPr kumimoji="0" lang="en-US" altLang="zh-CN" sz="2000"/>
              <a:t> (t == ‘\n’)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	lineno++;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</a:t>
            </a:r>
            <a:r>
              <a:rPr kumimoji="0" lang="en-US" altLang="zh-CN" sz="2000" b="1"/>
              <a:t>else</a:t>
            </a:r>
            <a:r>
              <a:rPr kumimoji="0" lang="en-US" altLang="zh-CN" sz="2000"/>
              <a:t> </a:t>
            </a:r>
            <a:r>
              <a:rPr kumimoji="0" lang="en-US" altLang="zh-CN" sz="2000" b="1"/>
              <a:t>if</a:t>
            </a:r>
            <a:r>
              <a:rPr kumimoji="0" lang="en-US" altLang="zh-CN" sz="2000"/>
              <a:t> (isdigit(t)) {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	tokenval = 0;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	</a:t>
            </a:r>
            <a:r>
              <a:rPr kumimoji="0" lang="en-US" altLang="zh-CN" sz="2000" b="1"/>
              <a:t>while</a:t>
            </a:r>
            <a:r>
              <a:rPr kumimoji="0" lang="en-US" altLang="zh-CN" sz="2000"/>
              <a:t> (isdigit(t)) {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		tokenval = tokenval * 10 + t – ‘0’;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		t = getchar();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	}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	ungetc(t, stdin);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	</a:t>
            </a:r>
            <a:r>
              <a:rPr kumimoji="0" lang="en-US" altLang="zh-CN" sz="2000" b="1"/>
              <a:t>return</a:t>
            </a:r>
            <a:r>
              <a:rPr kumimoji="0" lang="en-US" altLang="zh-CN" sz="2000"/>
              <a:t> NUM;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}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</a:t>
            </a:r>
            <a:r>
              <a:rPr kumimoji="0" lang="en-US" altLang="zh-CN" sz="2000" b="1"/>
              <a:t>else</a:t>
            </a:r>
            <a:r>
              <a:rPr kumimoji="0" lang="en-US" altLang="zh-CN" sz="2000"/>
              <a:t> {  tokenval = NONE; return t; }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}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}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1DBB0473-EDD0-422A-B47A-FC119CF3E7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2.7 </a:t>
            </a:r>
            <a:r>
              <a:rPr lang="zh-CN" altLang="en-US"/>
              <a:t>符号表</a:t>
            </a:r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D6AC3259-431C-4510-A828-36E25E9191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不同阶段保存（使用）单词的不同信息</a:t>
            </a:r>
          </a:p>
          <a:p>
            <a:pPr eaLnBrk="1" hangingPunct="1"/>
            <a:r>
              <a:rPr lang="en-US" altLang="zh-CN" sz="2800"/>
              <a:t>2.7.1  </a:t>
            </a:r>
            <a:r>
              <a:rPr lang="zh-CN" altLang="en-US" sz="2800"/>
              <a:t>接口</a:t>
            </a:r>
          </a:p>
          <a:p>
            <a:pPr lvl="1" eaLnBrk="1" hangingPunct="1"/>
            <a:r>
              <a:rPr lang="en-US" altLang="zh-CN" sz="2400"/>
              <a:t>insert(s,t)</a:t>
            </a:r>
            <a:r>
              <a:rPr lang="zh-CN" altLang="en-US" sz="2400"/>
              <a:t>：单词</a:t>
            </a:r>
            <a:r>
              <a:rPr lang="en-US" altLang="zh-CN" sz="2400"/>
              <a:t>t</a:t>
            </a:r>
            <a:r>
              <a:rPr lang="zh-CN" altLang="en-US" sz="2400"/>
              <a:t>的实例</a:t>
            </a:r>
            <a:r>
              <a:rPr lang="en-US" altLang="zh-CN" sz="2400"/>
              <a:t>s</a:t>
            </a:r>
            <a:r>
              <a:rPr lang="zh-CN" altLang="en-US" sz="2400"/>
              <a:t>（字符串）插入符号表，返回其索引</a:t>
            </a:r>
          </a:p>
          <a:p>
            <a:pPr lvl="1" eaLnBrk="1" hangingPunct="1"/>
            <a:r>
              <a:rPr lang="en-US" altLang="zh-CN" sz="2400"/>
              <a:t>lookup(s)</a:t>
            </a:r>
            <a:r>
              <a:rPr lang="zh-CN" altLang="en-US" sz="2400"/>
              <a:t>：返回字符串</a:t>
            </a:r>
            <a:r>
              <a:rPr lang="en-US" altLang="zh-CN" sz="2400"/>
              <a:t>s</a:t>
            </a:r>
            <a:r>
              <a:rPr lang="zh-CN" altLang="en-US" sz="2400"/>
              <a:t>对应表项的索引，若未找到，返回</a:t>
            </a:r>
            <a:r>
              <a:rPr lang="en-US" altLang="zh-CN" sz="2400"/>
              <a:t>0</a:t>
            </a:r>
          </a:p>
          <a:p>
            <a:pPr eaLnBrk="1" hangingPunct="1"/>
            <a:r>
              <a:rPr lang="en-US" altLang="zh-CN" sz="2800"/>
              <a:t>2.7.2  </a:t>
            </a:r>
            <a:r>
              <a:rPr lang="zh-CN" altLang="en-US" sz="2800"/>
              <a:t>保留字可存入符号表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insert(“div”, </a:t>
            </a:r>
            <a:r>
              <a:rPr lang="en-US" altLang="zh-CN" sz="2400" b="1"/>
              <a:t>div</a:t>
            </a:r>
            <a:r>
              <a:rPr lang="en-US" altLang="zh-CN" sz="2400"/>
              <a:t>)	insert(“mod”, </a:t>
            </a:r>
            <a:r>
              <a:rPr lang="en-US" altLang="zh-CN" sz="2400" b="1"/>
              <a:t>mod</a:t>
            </a:r>
            <a:r>
              <a:rPr lang="en-US" altLang="zh-CN" sz="2400"/>
              <a:t>)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8E4015FD-1FE4-4827-A7B9-D0B19C18AD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2.7.3  </a:t>
            </a:r>
            <a:r>
              <a:rPr lang="zh-CN" altLang="en-US"/>
              <a:t>一种实现方式</a:t>
            </a:r>
          </a:p>
        </p:txBody>
      </p:sp>
      <p:sp>
        <p:nvSpPr>
          <p:cNvPr id="114691" name="Text Box 4">
            <a:extLst>
              <a:ext uri="{FF2B5EF4-FFF2-40B4-BE49-F238E27FC236}">
                <a16:creationId xmlns:a16="http://schemas.microsoft.com/office/drawing/2014/main" id="{1A469DD7-D2A7-4137-A27F-78F3860D9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4063" y="1139825"/>
            <a:ext cx="3802062" cy="2851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                     </a:t>
            </a:r>
            <a:r>
              <a:rPr kumimoji="0" lang="en-US" altLang="zh-CN" sz="2400" b="1"/>
              <a:t>ARRAY  symtable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lexptr     token  attributes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                 </a:t>
            </a:r>
            <a:r>
              <a:rPr kumimoji="0" lang="en-US" altLang="zh-CN" sz="2400" b="1"/>
              <a:t>div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                 mod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                   id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                   id</a:t>
            </a:r>
            <a:endParaRPr kumimoji="0" lang="en-US" altLang="zh-CN" sz="2400"/>
          </a:p>
        </p:txBody>
      </p:sp>
      <p:sp>
        <p:nvSpPr>
          <p:cNvPr id="114692" name="Rectangle 5">
            <a:extLst>
              <a:ext uri="{FF2B5EF4-FFF2-40B4-BE49-F238E27FC236}">
                <a16:creationId xmlns:a16="http://schemas.microsoft.com/office/drawing/2014/main" id="{7C13C568-C667-41C9-993D-E98EB0811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138" y="2006600"/>
            <a:ext cx="2039937" cy="19383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>
              <a:ea typeface="隶书" panose="02010509060101010101" pitchFamily="49" charset="-122"/>
            </a:endParaRPr>
          </a:p>
        </p:txBody>
      </p:sp>
      <p:sp>
        <p:nvSpPr>
          <p:cNvPr id="114693" name="Line 6">
            <a:extLst>
              <a:ext uri="{FF2B5EF4-FFF2-40B4-BE49-F238E27FC236}">
                <a16:creationId xmlns:a16="http://schemas.microsoft.com/office/drawing/2014/main" id="{B1BB9366-B75C-426F-88E0-AC23E9651FA5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6138" y="3581400"/>
            <a:ext cx="2039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694" name="Line 7">
            <a:extLst>
              <a:ext uri="{FF2B5EF4-FFF2-40B4-BE49-F238E27FC236}">
                <a16:creationId xmlns:a16="http://schemas.microsoft.com/office/drawing/2014/main" id="{3245C455-4A99-4B82-9B46-CB66F743060B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6138" y="3217863"/>
            <a:ext cx="2039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695" name="Line 8">
            <a:extLst>
              <a:ext uri="{FF2B5EF4-FFF2-40B4-BE49-F238E27FC236}">
                <a16:creationId xmlns:a16="http://schemas.microsoft.com/office/drawing/2014/main" id="{1B5F50E8-B07E-4401-B220-0390203865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6138" y="2854325"/>
            <a:ext cx="2039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696" name="Line 9">
            <a:extLst>
              <a:ext uri="{FF2B5EF4-FFF2-40B4-BE49-F238E27FC236}">
                <a16:creationId xmlns:a16="http://schemas.microsoft.com/office/drawing/2014/main" id="{F0CDFBB1-E1F4-40A4-BA5D-FEE7B0E3E5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76900" y="2006600"/>
            <a:ext cx="0" cy="2301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697" name="Line 10">
            <a:extLst>
              <a:ext uri="{FF2B5EF4-FFF2-40B4-BE49-F238E27FC236}">
                <a16:creationId xmlns:a16="http://schemas.microsoft.com/office/drawing/2014/main" id="{6264690B-ACAB-45C9-862D-1CEE155651F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6138" y="2370138"/>
            <a:ext cx="2039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698" name="Line 11">
            <a:extLst>
              <a:ext uri="{FF2B5EF4-FFF2-40B4-BE49-F238E27FC236}">
                <a16:creationId xmlns:a16="http://schemas.microsoft.com/office/drawing/2014/main" id="{6C7A7FCD-0001-4251-BCB7-402D2FE7F16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6138" y="3944938"/>
            <a:ext cx="0" cy="3635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699" name="Line 12">
            <a:extLst>
              <a:ext uri="{FF2B5EF4-FFF2-40B4-BE49-F238E27FC236}">
                <a16:creationId xmlns:a16="http://schemas.microsoft.com/office/drawing/2014/main" id="{45873298-C1E6-48C3-ABB2-8444F51C9667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6075" y="3944938"/>
            <a:ext cx="0" cy="3635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0" name="Line 13">
            <a:extLst>
              <a:ext uri="{FF2B5EF4-FFF2-40B4-BE49-F238E27FC236}">
                <a16:creationId xmlns:a16="http://schemas.microsoft.com/office/drawing/2014/main" id="{4D2A17DE-1042-4EEE-A35D-2EAB2CA132D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6075" y="2006600"/>
            <a:ext cx="12065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1" name="Line 14">
            <a:extLst>
              <a:ext uri="{FF2B5EF4-FFF2-40B4-BE49-F238E27FC236}">
                <a16:creationId xmlns:a16="http://schemas.microsoft.com/office/drawing/2014/main" id="{BFB9257E-717C-4A85-91DF-F8F2DC7E33C7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6075" y="2370138"/>
            <a:ext cx="12065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2" name="Line 15">
            <a:extLst>
              <a:ext uri="{FF2B5EF4-FFF2-40B4-BE49-F238E27FC236}">
                <a16:creationId xmlns:a16="http://schemas.microsoft.com/office/drawing/2014/main" id="{C7EEC855-3AD2-4BA8-B4B6-4DB4174B2A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6075" y="2854325"/>
            <a:ext cx="12065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3" name="Line 16">
            <a:extLst>
              <a:ext uri="{FF2B5EF4-FFF2-40B4-BE49-F238E27FC236}">
                <a16:creationId xmlns:a16="http://schemas.microsoft.com/office/drawing/2014/main" id="{6E8A0EAF-BC8A-42C4-BD17-86BEC56DBE63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6075" y="3581400"/>
            <a:ext cx="12065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4" name="Line 17">
            <a:extLst>
              <a:ext uri="{FF2B5EF4-FFF2-40B4-BE49-F238E27FC236}">
                <a16:creationId xmlns:a16="http://schemas.microsoft.com/office/drawing/2014/main" id="{7FC590DD-1F3A-4B94-B3DE-268D54E160B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6075" y="3944938"/>
            <a:ext cx="12065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5" name="Line 18">
            <a:extLst>
              <a:ext uri="{FF2B5EF4-FFF2-40B4-BE49-F238E27FC236}">
                <a16:creationId xmlns:a16="http://schemas.microsoft.com/office/drawing/2014/main" id="{D3C7F866-1785-464E-85A7-F7D53F88B501}"/>
              </a:ext>
            </a:extLst>
          </p:cNvPr>
          <p:cNvSpPr>
            <a:spLocks noChangeShapeType="1"/>
          </p:cNvSpPr>
          <p:nvPr/>
        </p:nvSpPr>
        <p:spPr bwMode="auto">
          <a:xfrm>
            <a:off x="7902575" y="2006600"/>
            <a:ext cx="0" cy="2422525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6" name="Line 19">
            <a:extLst>
              <a:ext uri="{FF2B5EF4-FFF2-40B4-BE49-F238E27FC236}">
                <a16:creationId xmlns:a16="http://schemas.microsoft.com/office/drawing/2014/main" id="{98672934-D84D-4D17-932C-A0CB02C5A2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6075" y="3217863"/>
            <a:ext cx="12065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4707" name="Group 20">
            <a:extLst>
              <a:ext uri="{FF2B5EF4-FFF2-40B4-BE49-F238E27FC236}">
                <a16:creationId xmlns:a16="http://schemas.microsoft.com/office/drawing/2014/main" id="{1E74BBA9-A695-4F77-A11B-5D6A0923F8DB}"/>
              </a:ext>
            </a:extLst>
          </p:cNvPr>
          <p:cNvGrpSpPr>
            <a:grpSpLocks/>
          </p:cNvGrpSpPr>
          <p:nvPr/>
        </p:nvGrpSpPr>
        <p:grpSpPr bwMode="auto">
          <a:xfrm>
            <a:off x="7716838" y="4483100"/>
            <a:ext cx="741362" cy="484188"/>
            <a:chOff x="912" y="3600"/>
            <a:chExt cx="384" cy="192"/>
          </a:xfrm>
        </p:grpSpPr>
        <p:sp>
          <p:nvSpPr>
            <p:cNvPr id="114761" name="Text Box 21">
              <a:extLst>
                <a:ext uri="{FF2B5EF4-FFF2-40B4-BE49-F238E27FC236}">
                  <a16:creationId xmlns:a16="http://schemas.microsoft.com/office/drawing/2014/main" id="{A71CA042-4C37-4BD0-AE9A-BB22770DA3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EOS</a:t>
              </a:r>
            </a:p>
          </p:txBody>
        </p:sp>
        <p:sp>
          <p:nvSpPr>
            <p:cNvPr id="114762" name="Rectangle 22">
              <a:extLst>
                <a:ext uri="{FF2B5EF4-FFF2-40B4-BE49-F238E27FC236}">
                  <a16:creationId xmlns:a16="http://schemas.microsoft.com/office/drawing/2014/main" id="{6C85658D-74AD-4078-8363-7D998E9C90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grpSp>
        <p:nvGrpSpPr>
          <p:cNvPr id="114708" name="Group 23">
            <a:extLst>
              <a:ext uri="{FF2B5EF4-FFF2-40B4-BE49-F238E27FC236}">
                <a16:creationId xmlns:a16="http://schemas.microsoft.com/office/drawing/2014/main" id="{635D6910-87E0-4ED2-8845-CF8DFF2AA6DA}"/>
              </a:ext>
            </a:extLst>
          </p:cNvPr>
          <p:cNvGrpSpPr>
            <a:grpSpLocks/>
          </p:cNvGrpSpPr>
          <p:nvPr/>
        </p:nvGrpSpPr>
        <p:grpSpPr bwMode="auto">
          <a:xfrm>
            <a:off x="7253288" y="4483100"/>
            <a:ext cx="741362" cy="484188"/>
            <a:chOff x="912" y="3600"/>
            <a:chExt cx="384" cy="192"/>
          </a:xfrm>
        </p:grpSpPr>
        <p:sp>
          <p:nvSpPr>
            <p:cNvPr id="114759" name="Text Box 24">
              <a:extLst>
                <a:ext uri="{FF2B5EF4-FFF2-40B4-BE49-F238E27FC236}">
                  <a16:creationId xmlns:a16="http://schemas.microsoft.com/office/drawing/2014/main" id="{31F04799-F9EB-4D4C-ADDF-255943DD31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i</a:t>
              </a:r>
            </a:p>
          </p:txBody>
        </p:sp>
        <p:sp>
          <p:nvSpPr>
            <p:cNvPr id="114760" name="Rectangle 25">
              <a:extLst>
                <a:ext uri="{FF2B5EF4-FFF2-40B4-BE49-F238E27FC236}">
                  <a16:creationId xmlns:a16="http://schemas.microsoft.com/office/drawing/2014/main" id="{E11381FF-8BD5-4E19-B6C7-4E8F8077E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grpSp>
        <p:nvGrpSpPr>
          <p:cNvPr id="114709" name="Group 26">
            <a:extLst>
              <a:ext uri="{FF2B5EF4-FFF2-40B4-BE49-F238E27FC236}">
                <a16:creationId xmlns:a16="http://schemas.microsoft.com/office/drawing/2014/main" id="{53754BCD-3630-404E-BFEA-24CEF03CCF34}"/>
              </a:ext>
            </a:extLst>
          </p:cNvPr>
          <p:cNvGrpSpPr>
            <a:grpSpLocks/>
          </p:cNvGrpSpPr>
          <p:nvPr/>
        </p:nvGrpSpPr>
        <p:grpSpPr bwMode="auto">
          <a:xfrm>
            <a:off x="6789738" y="4483100"/>
            <a:ext cx="741362" cy="484188"/>
            <a:chOff x="912" y="3600"/>
            <a:chExt cx="384" cy="192"/>
          </a:xfrm>
        </p:grpSpPr>
        <p:sp>
          <p:nvSpPr>
            <p:cNvPr id="114757" name="Text Box 27">
              <a:extLst>
                <a:ext uri="{FF2B5EF4-FFF2-40B4-BE49-F238E27FC236}">
                  <a16:creationId xmlns:a16="http://schemas.microsoft.com/office/drawing/2014/main" id="{216AB3EF-9277-48A2-AAAC-AE5544FE81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EOS</a:t>
              </a:r>
            </a:p>
          </p:txBody>
        </p:sp>
        <p:sp>
          <p:nvSpPr>
            <p:cNvPr id="114758" name="Rectangle 28">
              <a:extLst>
                <a:ext uri="{FF2B5EF4-FFF2-40B4-BE49-F238E27FC236}">
                  <a16:creationId xmlns:a16="http://schemas.microsoft.com/office/drawing/2014/main" id="{364690F6-60E2-4460-A05D-8720ECA2D0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grpSp>
        <p:nvGrpSpPr>
          <p:cNvPr id="114710" name="Group 29">
            <a:extLst>
              <a:ext uri="{FF2B5EF4-FFF2-40B4-BE49-F238E27FC236}">
                <a16:creationId xmlns:a16="http://schemas.microsoft.com/office/drawing/2014/main" id="{ED04E0F4-1223-4442-89DD-F607F39E758F}"/>
              </a:ext>
            </a:extLst>
          </p:cNvPr>
          <p:cNvGrpSpPr>
            <a:grpSpLocks/>
          </p:cNvGrpSpPr>
          <p:nvPr/>
        </p:nvGrpSpPr>
        <p:grpSpPr bwMode="auto">
          <a:xfrm>
            <a:off x="6326188" y="4483100"/>
            <a:ext cx="741362" cy="484188"/>
            <a:chOff x="912" y="3600"/>
            <a:chExt cx="384" cy="192"/>
          </a:xfrm>
        </p:grpSpPr>
        <p:sp>
          <p:nvSpPr>
            <p:cNvPr id="114755" name="Text Box 30">
              <a:extLst>
                <a:ext uri="{FF2B5EF4-FFF2-40B4-BE49-F238E27FC236}">
                  <a16:creationId xmlns:a16="http://schemas.microsoft.com/office/drawing/2014/main" id="{E2462F1E-75D9-45E3-BF14-19FE9E47E2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t</a:t>
              </a:r>
            </a:p>
          </p:txBody>
        </p:sp>
        <p:sp>
          <p:nvSpPr>
            <p:cNvPr id="114756" name="Rectangle 31">
              <a:extLst>
                <a:ext uri="{FF2B5EF4-FFF2-40B4-BE49-F238E27FC236}">
                  <a16:creationId xmlns:a16="http://schemas.microsoft.com/office/drawing/2014/main" id="{C9792EEC-B3DA-4473-8AD4-840B2F436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grpSp>
        <p:nvGrpSpPr>
          <p:cNvPr id="114711" name="Group 32">
            <a:extLst>
              <a:ext uri="{FF2B5EF4-FFF2-40B4-BE49-F238E27FC236}">
                <a16:creationId xmlns:a16="http://schemas.microsoft.com/office/drawing/2014/main" id="{6E819BCE-072E-4649-90D5-5D3825BF8EAD}"/>
              </a:ext>
            </a:extLst>
          </p:cNvPr>
          <p:cNvGrpSpPr>
            <a:grpSpLocks/>
          </p:cNvGrpSpPr>
          <p:nvPr/>
        </p:nvGrpSpPr>
        <p:grpSpPr bwMode="auto">
          <a:xfrm>
            <a:off x="5862638" y="4483100"/>
            <a:ext cx="741362" cy="484188"/>
            <a:chOff x="912" y="3600"/>
            <a:chExt cx="384" cy="192"/>
          </a:xfrm>
        </p:grpSpPr>
        <p:sp>
          <p:nvSpPr>
            <p:cNvPr id="114753" name="Text Box 33">
              <a:extLst>
                <a:ext uri="{FF2B5EF4-FFF2-40B4-BE49-F238E27FC236}">
                  <a16:creationId xmlns:a16="http://schemas.microsoft.com/office/drawing/2014/main" id="{67D25F6A-2C53-4644-88F2-6E0854B1C0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n</a:t>
              </a:r>
            </a:p>
          </p:txBody>
        </p:sp>
        <p:sp>
          <p:nvSpPr>
            <p:cNvPr id="114754" name="Rectangle 34">
              <a:extLst>
                <a:ext uri="{FF2B5EF4-FFF2-40B4-BE49-F238E27FC236}">
                  <a16:creationId xmlns:a16="http://schemas.microsoft.com/office/drawing/2014/main" id="{B615CACF-046D-4E9F-BD1F-0A91AE1AC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grpSp>
        <p:nvGrpSpPr>
          <p:cNvPr id="114712" name="Group 35">
            <a:extLst>
              <a:ext uri="{FF2B5EF4-FFF2-40B4-BE49-F238E27FC236}">
                <a16:creationId xmlns:a16="http://schemas.microsoft.com/office/drawing/2014/main" id="{EB2CA15B-458F-46EC-823B-E25ECFA2171C}"/>
              </a:ext>
            </a:extLst>
          </p:cNvPr>
          <p:cNvGrpSpPr>
            <a:grpSpLocks/>
          </p:cNvGrpSpPr>
          <p:nvPr/>
        </p:nvGrpSpPr>
        <p:grpSpPr bwMode="auto">
          <a:xfrm>
            <a:off x="5397500" y="4483100"/>
            <a:ext cx="742950" cy="484188"/>
            <a:chOff x="912" y="3600"/>
            <a:chExt cx="384" cy="192"/>
          </a:xfrm>
        </p:grpSpPr>
        <p:sp>
          <p:nvSpPr>
            <p:cNvPr id="114751" name="Text Box 36">
              <a:extLst>
                <a:ext uri="{FF2B5EF4-FFF2-40B4-BE49-F238E27FC236}">
                  <a16:creationId xmlns:a16="http://schemas.microsoft.com/office/drawing/2014/main" id="{5E822AA6-2028-4C73-8B71-539B77F795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u</a:t>
              </a:r>
            </a:p>
          </p:txBody>
        </p:sp>
        <p:sp>
          <p:nvSpPr>
            <p:cNvPr id="114752" name="Rectangle 37">
              <a:extLst>
                <a:ext uri="{FF2B5EF4-FFF2-40B4-BE49-F238E27FC236}">
                  <a16:creationId xmlns:a16="http://schemas.microsoft.com/office/drawing/2014/main" id="{1F2D8BCB-6A25-4F07-B607-FD77FD0C5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grpSp>
        <p:nvGrpSpPr>
          <p:cNvPr id="114713" name="Group 38">
            <a:extLst>
              <a:ext uri="{FF2B5EF4-FFF2-40B4-BE49-F238E27FC236}">
                <a16:creationId xmlns:a16="http://schemas.microsoft.com/office/drawing/2014/main" id="{E74D02A1-8CB8-4745-8C13-542CCEF90D75}"/>
              </a:ext>
            </a:extLst>
          </p:cNvPr>
          <p:cNvGrpSpPr>
            <a:grpSpLocks/>
          </p:cNvGrpSpPr>
          <p:nvPr/>
        </p:nvGrpSpPr>
        <p:grpSpPr bwMode="auto">
          <a:xfrm>
            <a:off x="4933950" y="4483100"/>
            <a:ext cx="742950" cy="484188"/>
            <a:chOff x="912" y="3600"/>
            <a:chExt cx="384" cy="192"/>
          </a:xfrm>
        </p:grpSpPr>
        <p:sp>
          <p:nvSpPr>
            <p:cNvPr id="114749" name="Text Box 39">
              <a:extLst>
                <a:ext uri="{FF2B5EF4-FFF2-40B4-BE49-F238E27FC236}">
                  <a16:creationId xmlns:a16="http://schemas.microsoft.com/office/drawing/2014/main" id="{07980E33-029D-4129-8BD6-33C60881DC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o</a:t>
              </a:r>
            </a:p>
          </p:txBody>
        </p:sp>
        <p:sp>
          <p:nvSpPr>
            <p:cNvPr id="114750" name="Rectangle 40">
              <a:extLst>
                <a:ext uri="{FF2B5EF4-FFF2-40B4-BE49-F238E27FC236}">
                  <a16:creationId xmlns:a16="http://schemas.microsoft.com/office/drawing/2014/main" id="{31DF275D-1247-4D8D-9E40-6F11C42FB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grpSp>
        <p:nvGrpSpPr>
          <p:cNvPr id="114714" name="Group 41">
            <a:extLst>
              <a:ext uri="{FF2B5EF4-FFF2-40B4-BE49-F238E27FC236}">
                <a16:creationId xmlns:a16="http://schemas.microsoft.com/office/drawing/2014/main" id="{C3097C86-4AC6-4753-BF19-EF2BA7CEF271}"/>
              </a:ext>
            </a:extLst>
          </p:cNvPr>
          <p:cNvGrpSpPr>
            <a:grpSpLocks/>
          </p:cNvGrpSpPr>
          <p:nvPr/>
        </p:nvGrpSpPr>
        <p:grpSpPr bwMode="auto">
          <a:xfrm>
            <a:off x="4470400" y="4483100"/>
            <a:ext cx="742950" cy="484188"/>
            <a:chOff x="912" y="3600"/>
            <a:chExt cx="384" cy="192"/>
          </a:xfrm>
        </p:grpSpPr>
        <p:sp>
          <p:nvSpPr>
            <p:cNvPr id="114747" name="Text Box 42">
              <a:extLst>
                <a:ext uri="{FF2B5EF4-FFF2-40B4-BE49-F238E27FC236}">
                  <a16:creationId xmlns:a16="http://schemas.microsoft.com/office/drawing/2014/main" id="{0BE14870-613D-40BB-9801-2552BB5007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c</a:t>
              </a:r>
            </a:p>
          </p:txBody>
        </p:sp>
        <p:sp>
          <p:nvSpPr>
            <p:cNvPr id="114748" name="Rectangle 43">
              <a:extLst>
                <a:ext uri="{FF2B5EF4-FFF2-40B4-BE49-F238E27FC236}">
                  <a16:creationId xmlns:a16="http://schemas.microsoft.com/office/drawing/2014/main" id="{249596CE-ACF6-4984-B436-B22CDAF4A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grpSp>
        <p:nvGrpSpPr>
          <p:cNvPr id="114715" name="Group 44">
            <a:extLst>
              <a:ext uri="{FF2B5EF4-FFF2-40B4-BE49-F238E27FC236}">
                <a16:creationId xmlns:a16="http://schemas.microsoft.com/office/drawing/2014/main" id="{6C7D1C6E-F615-4A2D-A560-CEBCAD828064}"/>
              </a:ext>
            </a:extLst>
          </p:cNvPr>
          <p:cNvGrpSpPr>
            <a:grpSpLocks/>
          </p:cNvGrpSpPr>
          <p:nvPr/>
        </p:nvGrpSpPr>
        <p:grpSpPr bwMode="auto">
          <a:xfrm>
            <a:off x="4006850" y="4483100"/>
            <a:ext cx="742950" cy="484188"/>
            <a:chOff x="912" y="3600"/>
            <a:chExt cx="384" cy="192"/>
          </a:xfrm>
        </p:grpSpPr>
        <p:sp>
          <p:nvSpPr>
            <p:cNvPr id="114745" name="Text Box 45">
              <a:extLst>
                <a:ext uri="{FF2B5EF4-FFF2-40B4-BE49-F238E27FC236}">
                  <a16:creationId xmlns:a16="http://schemas.microsoft.com/office/drawing/2014/main" id="{A41AD0A3-0A28-4ACC-AEA0-DC67C7C19C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EOS</a:t>
              </a:r>
            </a:p>
          </p:txBody>
        </p:sp>
        <p:sp>
          <p:nvSpPr>
            <p:cNvPr id="114746" name="Rectangle 46">
              <a:extLst>
                <a:ext uri="{FF2B5EF4-FFF2-40B4-BE49-F238E27FC236}">
                  <a16:creationId xmlns:a16="http://schemas.microsoft.com/office/drawing/2014/main" id="{670AE1BA-4C85-4C5B-9071-EC00BECF76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grpSp>
        <p:nvGrpSpPr>
          <p:cNvPr id="114716" name="Group 47">
            <a:extLst>
              <a:ext uri="{FF2B5EF4-FFF2-40B4-BE49-F238E27FC236}">
                <a16:creationId xmlns:a16="http://schemas.microsoft.com/office/drawing/2014/main" id="{75063022-52AA-4C78-9684-A950E9A374BD}"/>
              </a:ext>
            </a:extLst>
          </p:cNvPr>
          <p:cNvGrpSpPr>
            <a:grpSpLocks/>
          </p:cNvGrpSpPr>
          <p:nvPr/>
        </p:nvGrpSpPr>
        <p:grpSpPr bwMode="auto">
          <a:xfrm>
            <a:off x="3543300" y="4483100"/>
            <a:ext cx="742950" cy="484188"/>
            <a:chOff x="912" y="3600"/>
            <a:chExt cx="384" cy="192"/>
          </a:xfrm>
        </p:grpSpPr>
        <p:sp>
          <p:nvSpPr>
            <p:cNvPr id="114743" name="Text Box 48">
              <a:extLst>
                <a:ext uri="{FF2B5EF4-FFF2-40B4-BE49-F238E27FC236}">
                  <a16:creationId xmlns:a16="http://schemas.microsoft.com/office/drawing/2014/main" id="{0DF6FE34-1C92-43B8-9C74-7B9743C4E2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d</a:t>
              </a:r>
            </a:p>
          </p:txBody>
        </p:sp>
        <p:sp>
          <p:nvSpPr>
            <p:cNvPr id="114744" name="Rectangle 49">
              <a:extLst>
                <a:ext uri="{FF2B5EF4-FFF2-40B4-BE49-F238E27FC236}">
                  <a16:creationId xmlns:a16="http://schemas.microsoft.com/office/drawing/2014/main" id="{FA00BC3E-074C-4FE0-9A78-A2DFC766E0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grpSp>
        <p:nvGrpSpPr>
          <p:cNvPr id="114717" name="Group 50">
            <a:extLst>
              <a:ext uri="{FF2B5EF4-FFF2-40B4-BE49-F238E27FC236}">
                <a16:creationId xmlns:a16="http://schemas.microsoft.com/office/drawing/2014/main" id="{7E3C06F8-7686-49B3-8857-EE8911B41959}"/>
              </a:ext>
            </a:extLst>
          </p:cNvPr>
          <p:cNvGrpSpPr>
            <a:grpSpLocks/>
          </p:cNvGrpSpPr>
          <p:nvPr/>
        </p:nvGrpSpPr>
        <p:grpSpPr bwMode="auto">
          <a:xfrm>
            <a:off x="3079750" y="4483100"/>
            <a:ext cx="742950" cy="484188"/>
            <a:chOff x="912" y="3600"/>
            <a:chExt cx="384" cy="192"/>
          </a:xfrm>
        </p:grpSpPr>
        <p:sp>
          <p:nvSpPr>
            <p:cNvPr id="114741" name="Text Box 51">
              <a:extLst>
                <a:ext uri="{FF2B5EF4-FFF2-40B4-BE49-F238E27FC236}">
                  <a16:creationId xmlns:a16="http://schemas.microsoft.com/office/drawing/2014/main" id="{482EC3B6-1D68-4C33-BB55-01A7B79545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o</a:t>
              </a:r>
            </a:p>
          </p:txBody>
        </p:sp>
        <p:sp>
          <p:nvSpPr>
            <p:cNvPr id="114742" name="Rectangle 52">
              <a:extLst>
                <a:ext uri="{FF2B5EF4-FFF2-40B4-BE49-F238E27FC236}">
                  <a16:creationId xmlns:a16="http://schemas.microsoft.com/office/drawing/2014/main" id="{D78385D0-9500-4535-879E-C4234E156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grpSp>
        <p:nvGrpSpPr>
          <p:cNvPr id="114718" name="Group 53">
            <a:extLst>
              <a:ext uri="{FF2B5EF4-FFF2-40B4-BE49-F238E27FC236}">
                <a16:creationId xmlns:a16="http://schemas.microsoft.com/office/drawing/2014/main" id="{1A75E278-004D-49F4-AE42-D385469A340C}"/>
              </a:ext>
            </a:extLst>
          </p:cNvPr>
          <p:cNvGrpSpPr>
            <a:grpSpLocks/>
          </p:cNvGrpSpPr>
          <p:nvPr/>
        </p:nvGrpSpPr>
        <p:grpSpPr bwMode="auto">
          <a:xfrm>
            <a:off x="2616200" y="4483100"/>
            <a:ext cx="741363" cy="484188"/>
            <a:chOff x="912" y="3600"/>
            <a:chExt cx="384" cy="192"/>
          </a:xfrm>
        </p:grpSpPr>
        <p:sp>
          <p:nvSpPr>
            <p:cNvPr id="114739" name="Text Box 54">
              <a:extLst>
                <a:ext uri="{FF2B5EF4-FFF2-40B4-BE49-F238E27FC236}">
                  <a16:creationId xmlns:a16="http://schemas.microsoft.com/office/drawing/2014/main" id="{DA0408FF-E05F-467A-8A81-D749511455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m</a:t>
              </a:r>
            </a:p>
          </p:txBody>
        </p:sp>
        <p:sp>
          <p:nvSpPr>
            <p:cNvPr id="114740" name="Rectangle 55">
              <a:extLst>
                <a:ext uri="{FF2B5EF4-FFF2-40B4-BE49-F238E27FC236}">
                  <a16:creationId xmlns:a16="http://schemas.microsoft.com/office/drawing/2014/main" id="{91B1F101-C9F6-40AF-818C-79BD5E4BEB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grpSp>
        <p:nvGrpSpPr>
          <p:cNvPr id="114719" name="Group 56">
            <a:extLst>
              <a:ext uri="{FF2B5EF4-FFF2-40B4-BE49-F238E27FC236}">
                <a16:creationId xmlns:a16="http://schemas.microsoft.com/office/drawing/2014/main" id="{E5040FC7-9E33-4F01-9AFE-CE8F7AE23B2F}"/>
              </a:ext>
            </a:extLst>
          </p:cNvPr>
          <p:cNvGrpSpPr>
            <a:grpSpLocks/>
          </p:cNvGrpSpPr>
          <p:nvPr/>
        </p:nvGrpSpPr>
        <p:grpSpPr bwMode="auto">
          <a:xfrm>
            <a:off x="2152650" y="4483100"/>
            <a:ext cx="741363" cy="484188"/>
            <a:chOff x="912" y="3600"/>
            <a:chExt cx="384" cy="192"/>
          </a:xfrm>
        </p:grpSpPr>
        <p:sp>
          <p:nvSpPr>
            <p:cNvPr id="114737" name="Text Box 57">
              <a:extLst>
                <a:ext uri="{FF2B5EF4-FFF2-40B4-BE49-F238E27FC236}">
                  <a16:creationId xmlns:a16="http://schemas.microsoft.com/office/drawing/2014/main" id="{262C870E-F033-48EC-AC74-2EFF352EC4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EOS</a:t>
              </a:r>
            </a:p>
          </p:txBody>
        </p:sp>
        <p:sp>
          <p:nvSpPr>
            <p:cNvPr id="114738" name="Rectangle 58">
              <a:extLst>
                <a:ext uri="{FF2B5EF4-FFF2-40B4-BE49-F238E27FC236}">
                  <a16:creationId xmlns:a16="http://schemas.microsoft.com/office/drawing/2014/main" id="{1C08245E-CD9D-4660-8A78-6FA293C1F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grpSp>
        <p:nvGrpSpPr>
          <p:cNvPr id="114720" name="Group 59">
            <a:extLst>
              <a:ext uri="{FF2B5EF4-FFF2-40B4-BE49-F238E27FC236}">
                <a16:creationId xmlns:a16="http://schemas.microsoft.com/office/drawing/2014/main" id="{971FA0EB-1697-4B76-BE21-9DA5044CC360}"/>
              </a:ext>
            </a:extLst>
          </p:cNvPr>
          <p:cNvGrpSpPr>
            <a:grpSpLocks/>
          </p:cNvGrpSpPr>
          <p:nvPr/>
        </p:nvGrpSpPr>
        <p:grpSpPr bwMode="auto">
          <a:xfrm>
            <a:off x="1689100" y="4483100"/>
            <a:ext cx="741363" cy="484188"/>
            <a:chOff x="912" y="3600"/>
            <a:chExt cx="384" cy="192"/>
          </a:xfrm>
        </p:grpSpPr>
        <p:sp>
          <p:nvSpPr>
            <p:cNvPr id="114735" name="Text Box 60">
              <a:extLst>
                <a:ext uri="{FF2B5EF4-FFF2-40B4-BE49-F238E27FC236}">
                  <a16:creationId xmlns:a16="http://schemas.microsoft.com/office/drawing/2014/main" id="{F4748C33-2CA7-4954-81C4-C2A15C05E3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v</a:t>
              </a:r>
            </a:p>
          </p:txBody>
        </p:sp>
        <p:sp>
          <p:nvSpPr>
            <p:cNvPr id="114736" name="Rectangle 61">
              <a:extLst>
                <a:ext uri="{FF2B5EF4-FFF2-40B4-BE49-F238E27FC236}">
                  <a16:creationId xmlns:a16="http://schemas.microsoft.com/office/drawing/2014/main" id="{745B1EDF-CEDB-410C-B94A-2E9E11711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grpSp>
        <p:nvGrpSpPr>
          <p:cNvPr id="114721" name="Group 62">
            <a:extLst>
              <a:ext uri="{FF2B5EF4-FFF2-40B4-BE49-F238E27FC236}">
                <a16:creationId xmlns:a16="http://schemas.microsoft.com/office/drawing/2014/main" id="{E4C203C0-6363-4A35-B41E-74C8B8B9C50F}"/>
              </a:ext>
            </a:extLst>
          </p:cNvPr>
          <p:cNvGrpSpPr>
            <a:grpSpLocks/>
          </p:cNvGrpSpPr>
          <p:nvPr/>
        </p:nvGrpSpPr>
        <p:grpSpPr bwMode="auto">
          <a:xfrm>
            <a:off x="1225550" y="4483100"/>
            <a:ext cx="741363" cy="484188"/>
            <a:chOff x="912" y="3600"/>
            <a:chExt cx="384" cy="192"/>
          </a:xfrm>
        </p:grpSpPr>
        <p:sp>
          <p:nvSpPr>
            <p:cNvPr id="114733" name="Text Box 63">
              <a:extLst>
                <a:ext uri="{FF2B5EF4-FFF2-40B4-BE49-F238E27FC236}">
                  <a16:creationId xmlns:a16="http://schemas.microsoft.com/office/drawing/2014/main" id="{339452FD-2B8E-4A01-9953-415D04808B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i</a:t>
              </a:r>
            </a:p>
          </p:txBody>
        </p:sp>
        <p:sp>
          <p:nvSpPr>
            <p:cNvPr id="114734" name="Rectangle 64">
              <a:extLst>
                <a:ext uri="{FF2B5EF4-FFF2-40B4-BE49-F238E27FC236}">
                  <a16:creationId xmlns:a16="http://schemas.microsoft.com/office/drawing/2014/main" id="{2EF11B40-B6A0-4C92-AEAD-EDF16A3817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grpSp>
        <p:nvGrpSpPr>
          <p:cNvPr id="114722" name="Group 65">
            <a:extLst>
              <a:ext uri="{FF2B5EF4-FFF2-40B4-BE49-F238E27FC236}">
                <a16:creationId xmlns:a16="http://schemas.microsoft.com/office/drawing/2014/main" id="{B09F82E8-2AB2-4843-95A8-B5515AC0C7A1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4483100"/>
            <a:ext cx="741363" cy="484188"/>
            <a:chOff x="912" y="3600"/>
            <a:chExt cx="384" cy="192"/>
          </a:xfrm>
        </p:grpSpPr>
        <p:sp>
          <p:nvSpPr>
            <p:cNvPr id="114731" name="Text Box 66">
              <a:extLst>
                <a:ext uri="{FF2B5EF4-FFF2-40B4-BE49-F238E27FC236}">
                  <a16:creationId xmlns:a16="http://schemas.microsoft.com/office/drawing/2014/main" id="{649BD242-8779-464C-9F8F-A8BE97625D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d</a:t>
              </a:r>
            </a:p>
          </p:txBody>
        </p:sp>
        <p:sp>
          <p:nvSpPr>
            <p:cNvPr id="114732" name="Rectangle 67">
              <a:extLst>
                <a:ext uri="{FF2B5EF4-FFF2-40B4-BE49-F238E27FC236}">
                  <a16:creationId xmlns:a16="http://schemas.microsoft.com/office/drawing/2014/main" id="{90259786-9A88-494A-96F9-A1705C85D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cxnSp>
        <p:nvCxnSpPr>
          <p:cNvPr id="114723" name="AutoShape 68">
            <a:extLst>
              <a:ext uri="{FF2B5EF4-FFF2-40B4-BE49-F238E27FC236}">
                <a16:creationId xmlns:a16="http://schemas.microsoft.com/office/drawing/2014/main" id="{FC4897E1-CF2E-43DF-8A4B-FF625B30B05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027613" y="3711575"/>
            <a:ext cx="2516187" cy="860425"/>
          </a:xfrm>
          <a:prstGeom prst="curvedConnector3">
            <a:avLst>
              <a:gd name="adj1" fmla="val 94829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4724" name="AutoShape 69">
            <a:extLst>
              <a:ext uri="{FF2B5EF4-FFF2-40B4-BE49-F238E27FC236}">
                <a16:creationId xmlns:a16="http://schemas.microsoft.com/office/drawing/2014/main" id="{45BB92FD-5456-4D39-9E70-F7C1DF1FF982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2971800" y="3033713"/>
            <a:ext cx="2146300" cy="1538287"/>
          </a:xfrm>
          <a:prstGeom prst="curvedConnector3">
            <a:avLst>
              <a:gd name="adj1" fmla="val 100662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4725" name="AutoShape 70">
            <a:extLst>
              <a:ext uri="{FF2B5EF4-FFF2-40B4-BE49-F238E27FC236}">
                <a16:creationId xmlns:a16="http://schemas.microsoft.com/office/drawing/2014/main" id="{E9EE35BB-3134-41FD-9563-B0D9289DA981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1066800" y="2686050"/>
            <a:ext cx="3960813" cy="1885950"/>
          </a:xfrm>
          <a:prstGeom prst="curvedConnector3">
            <a:avLst>
              <a:gd name="adj1" fmla="val 10011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4726" name="AutoShape 71">
            <a:extLst>
              <a:ext uri="{FF2B5EF4-FFF2-40B4-BE49-F238E27FC236}">
                <a16:creationId xmlns:a16="http://schemas.microsoft.com/office/drawing/2014/main" id="{FAB936A0-DF42-493E-9EAA-83A2B3BE59D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366419" y="3706019"/>
            <a:ext cx="1223962" cy="508000"/>
          </a:xfrm>
          <a:prstGeom prst="curvedConnector3">
            <a:avLst>
              <a:gd name="adj1" fmla="val 9079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4727" name="Text Box 72">
            <a:extLst>
              <a:ext uri="{FF2B5EF4-FFF2-40B4-BE49-F238E27FC236}">
                <a16:creationId xmlns:a16="http://schemas.microsoft.com/office/drawing/2014/main" id="{39137E2C-8721-4540-9DDB-A3CE4EAB7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089525"/>
            <a:ext cx="2317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ARRAY  lexemes</a:t>
            </a:r>
          </a:p>
        </p:txBody>
      </p:sp>
      <p:sp>
        <p:nvSpPr>
          <p:cNvPr id="114728" name="Line 74">
            <a:extLst>
              <a:ext uri="{FF2B5EF4-FFF2-40B4-BE49-F238E27FC236}">
                <a16:creationId xmlns:a16="http://schemas.microsoft.com/office/drawing/2014/main" id="{847D181D-FD52-4933-AB4E-87FDE9F07CAA}"/>
              </a:ext>
            </a:extLst>
          </p:cNvPr>
          <p:cNvSpPr>
            <a:spLocks noChangeShapeType="1"/>
          </p:cNvSpPr>
          <p:nvPr/>
        </p:nvSpPr>
        <p:spPr bwMode="auto">
          <a:xfrm>
            <a:off x="8272463" y="4483100"/>
            <a:ext cx="1857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29" name="Line 75">
            <a:extLst>
              <a:ext uri="{FF2B5EF4-FFF2-40B4-BE49-F238E27FC236}">
                <a16:creationId xmlns:a16="http://schemas.microsoft.com/office/drawing/2014/main" id="{9C70A5AA-D82E-4EC3-BE1E-FC18FA2884FC}"/>
              </a:ext>
            </a:extLst>
          </p:cNvPr>
          <p:cNvSpPr>
            <a:spLocks noChangeShapeType="1"/>
          </p:cNvSpPr>
          <p:nvPr/>
        </p:nvSpPr>
        <p:spPr bwMode="auto">
          <a:xfrm>
            <a:off x="8272463" y="4967288"/>
            <a:ext cx="1857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30" name="Text Box 76">
            <a:extLst>
              <a:ext uri="{FF2B5EF4-FFF2-40B4-BE49-F238E27FC236}">
                <a16:creationId xmlns:a16="http://schemas.microsoft.com/office/drawing/2014/main" id="{9421CDD6-0234-4EC2-A118-2E4BE322C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6725" y="1949450"/>
            <a:ext cx="371475" cy="2168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0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1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2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3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FCC6224A-3319-48F8-922F-D8A68723A6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带有符号表功能的词法分析器</a:t>
            </a:r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31759896-428B-4D4A-AF9B-A9C8DB3A20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b="1" dirty="0"/>
              <a:t>int </a:t>
            </a:r>
            <a:r>
              <a:rPr lang="en-US" altLang="zh-CN" sz="2000" dirty="0" err="1"/>
              <a:t>lexan</a:t>
            </a:r>
            <a:r>
              <a:rPr lang="en-US" altLang="zh-CN" sz="2000" dirty="0"/>
              <a:t>()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{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char </a:t>
            </a:r>
            <a:r>
              <a:rPr lang="en-US" altLang="zh-CN" sz="2000" dirty="0" err="1"/>
              <a:t>lexbuf</a:t>
            </a:r>
            <a:r>
              <a:rPr lang="en-US" altLang="zh-CN" sz="2000" dirty="0"/>
              <a:t>[100];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char c;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endParaRPr lang="en-US" altLang="zh-CN" sz="20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while (1) {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	</a:t>
            </a:r>
            <a:r>
              <a:rPr lang="zh-CN" altLang="en-US" sz="2000" dirty="0"/>
              <a:t>从输入字符序列读取一个字符，保存到</a:t>
            </a:r>
            <a:r>
              <a:rPr lang="en-US" altLang="zh-CN" sz="2000" dirty="0"/>
              <a:t>c;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	</a:t>
            </a:r>
            <a:r>
              <a:rPr lang="en-US" altLang="zh-CN" sz="2000" b="1" dirty="0"/>
              <a:t>if </a:t>
            </a:r>
            <a:r>
              <a:rPr lang="en-US" altLang="zh-CN" sz="2000" dirty="0"/>
              <a:t>(c == ‘ ’ || c == ‘\t’) 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	</a:t>
            </a:r>
            <a:r>
              <a:rPr lang="en-US" altLang="zh-CN" sz="2000" b="1" dirty="0"/>
              <a:t>else if</a:t>
            </a:r>
            <a:r>
              <a:rPr lang="en-US" altLang="zh-CN" sz="2000" dirty="0"/>
              <a:t> (c == ‘\n’) </a:t>
            </a:r>
            <a:r>
              <a:rPr lang="en-US" altLang="zh-CN" sz="2000" dirty="0" err="1"/>
              <a:t>lineno</a:t>
            </a:r>
            <a:r>
              <a:rPr lang="en-US" altLang="zh-CN" sz="2000" dirty="0"/>
              <a:t>++;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	</a:t>
            </a:r>
            <a:r>
              <a:rPr lang="en-US" altLang="zh-CN" sz="2000" b="1" dirty="0"/>
              <a:t>else if</a:t>
            </a:r>
            <a:r>
              <a:rPr lang="en-US" altLang="zh-CN" sz="2000" dirty="0"/>
              <a:t> (</a:t>
            </a:r>
            <a:r>
              <a:rPr lang="en-US" altLang="zh-CN" sz="2000" dirty="0" err="1"/>
              <a:t>isdigit</a:t>
            </a:r>
            <a:r>
              <a:rPr lang="en-US" altLang="zh-CN" sz="2000" dirty="0"/>
              <a:t>(c)) {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		</a:t>
            </a:r>
            <a:r>
              <a:rPr lang="en-US" altLang="zh-CN" sz="2000" dirty="0" err="1"/>
              <a:t>tokenval</a:t>
            </a:r>
            <a:r>
              <a:rPr lang="en-US" altLang="zh-CN" sz="2000" dirty="0"/>
              <a:t> = c</a:t>
            </a:r>
            <a:r>
              <a:rPr lang="zh-CN" altLang="en-US" sz="2000" dirty="0"/>
              <a:t>及后续数字组成的数值</a:t>
            </a:r>
            <a:r>
              <a:rPr lang="en-US" altLang="zh-CN" sz="2000" dirty="0"/>
              <a:t>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		return NUM;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	}</a:t>
            </a:r>
            <a:endParaRPr lang="en-US" altLang="zh-CN" sz="2000" b="1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18B73DA9-77A9-48CA-A409-77CEC91404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带有符号表功能的词法分析器</a:t>
            </a:r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26B3220B-B2BC-40B7-9682-0CF8EF87E9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</a:t>
            </a:r>
            <a:r>
              <a:rPr lang="en-US" altLang="zh-CN" sz="2000" b="1"/>
              <a:t>else if</a:t>
            </a:r>
            <a:r>
              <a:rPr lang="en-US" altLang="zh-CN" sz="2000"/>
              <a:t> (isalpha(c)) {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</a:t>
            </a:r>
            <a:r>
              <a:rPr lang="zh-CN" altLang="en-US" sz="2000"/>
              <a:t>将</a:t>
            </a:r>
            <a:r>
              <a:rPr lang="en-US" altLang="zh-CN" sz="2000"/>
              <a:t>c</a:t>
            </a:r>
            <a:r>
              <a:rPr lang="zh-CN" altLang="en-US" sz="2000"/>
              <a:t>及后续字母、数字放入</a:t>
            </a:r>
            <a:r>
              <a:rPr lang="en-US" altLang="zh-CN" sz="2000"/>
              <a:t>lexbuf;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p = lookup(lexbuf);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if (p = 0) 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	p = insert(lexbuf, ID);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tokenval = p;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return </a:t>
            </a:r>
            <a:r>
              <a:rPr lang="zh-CN" altLang="en-US" sz="2000"/>
              <a:t>符号表项</a:t>
            </a:r>
            <a:r>
              <a:rPr lang="en-US" altLang="zh-CN" sz="2000"/>
              <a:t>p</a:t>
            </a:r>
            <a:r>
              <a:rPr lang="zh-CN" altLang="en-US" sz="2000"/>
              <a:t>的</a:t>
            </a:r>
            <a:r>
              <a:rPr lang="en-US" altLang="zh-CN" sz="2000"/>
              <a:t>token</a:t>
            </a:r>
            <a:r>
              <a:rPr lang="zh-CN" altLang="en-US" sz="2000"/>
              <a:t>值</a:t>
            </a:r>
            <a:r>
              <a:rPr lang="en-US" altLang="zh-CN" sz="2000"/>
              <a:t>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} </a:t>
            </a:r>
            <a:r>
              <a:rPr lang="en-US" altLang="zh-CN" sz="2000" b="1"/>
              <a:t>else</a:t>
            </a:r>
            <a:r>
              <a:rPr lang="en-US" altLang="zh-CN" sz="2000"/>
              <a:t> {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tokenval = NONE;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return </a:t>
            </a:r>
            <a:r>
              <a:rPr lang="zh-CN" altLang="en-US" sz="2000"/>
              <a:t>字符</a:t>
            </a:r>
            <a:r>
              <a:rPr lang="en-US" altLang="zh-CN" sz="2000"/>
              <a:t>c</a:t>
            </a:r>
            <a:r>
              <a:rPr lang="zh-CN" altLang="en-US" sz="2000"/>
              <a:t>对应的整数</a:t>
            </a:r>
            <a:r>
              <a:rPr lang="en-US" altLang="zh-CN" sz="2000"/>
              <a:t>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  <a:endParaRPr lang="en-US" altLang="zh-CN" sz="2000" b="1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9B5332BD-B667-4390-ADA3-9C3CB34C2D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Lcc</a:t>
            </a:r>
            <a:r>
              <a:rPr lang="zh-CN" altLang="en-US"/>
              <a:t>的符号表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11806137-2F4A-4C81-B942-F82E9E5E2B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/>
              <a:t>字符串的管理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//string.c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static struct string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char *str;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int len;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struct string *link;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 *buckets[1024];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char *stringn(const char *str, int len)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int i;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unsigned int h;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const char *end;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struct string *p;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assert(str);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990000"/>
                </a:solidFill>
                <a:latin typeface="Tahoma" panose="020B0604030504040204" pitchFamily="34" charset="0"/>
              </a:rPr>
              <a:t>	for (h = 0, i = len, end = str; i &gt; 0; i--)	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Hash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990000"/>
                </a:solidFill>
                <a:latin typeface="Tahoma" panose="020B0604030504040204" pitchFamily="34" charset="0"/>
              </a:rPr>
              <a:t>		h = (h&lt;&lt;1) + scatter[*(unsigned char *)end++];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990000"/>
                </a:solidFill>
                <a:latin typeface="Tahoma" panose="020B0604030504040204" pitchFamily="34" charset="0"/>
              </a:rPr>
              <a:t>	h &amp;= NELEMS(buckets)-1;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793C001A-EE8D-4876-B74C-04A388EBC8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字符串管理</a:t>
            </a:r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0DC02387-886A-4CC8-ADB2-B7ED39E150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for (p = buckets[h]; p; p = p-&gt;link)		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搜索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0000FF"/>
                </a:solidFill>
                <a:latin typeface="Tahoma" panose="020B0604030504040204" pitchFamily="34" charset="0"/>
              </a:rPr>
              <a:t>		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if (len == p-&gt;len)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const char *s1 = str;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char *s2 = p-&gt;str;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do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	if (s1 == end)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		return p-&gt;str;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} while (*s1++ == *s2++);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		static char *next, *strlimit;		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创建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chemeClr val="hlink"/>
                </a:solidFill>
                <a:latin typeface="Tahoma" panose="020B0604030504040204" pitchFamily="34" charset="0"/>
              </a:rPr>
              <a:t>		</a:t>
            </a: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if (len + 1 &gt;= strlimit - next) {		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现有空间不够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chemeClr val="hlink"/>
                </a:solidFill>
                <a:latin typeface="Tahoma" panose="020B0604030504040204" pitchFamily="34" charset="0"/>
              </a:rPr>
              <a:t>			</a:t>
            </a: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int n = len + 4*1024;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			next = allocate(n, PERM);	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分配空间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chemeClr val="hlink"/>
                </a:solidFill>
                <a:latin typeface="Tahoma" panose="020B0604030504040204" pitchFamily="34" charset="0"/>
              </a:rPr>
              <a:t>			</a:t>
            </a: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strlimit = next + n;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		}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40F07034-663B-4E32-B070-00CA9A04E5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字符串管理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E0E18A1C-A4ED-4AC1-875A-C029AAD787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		p-&gt;len = len;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		for (p-&gt;str = next; str &lt; end; 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			*next++ = *str++;		 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复制字符串</a:t>
            </a:r>
            <a:endParaRPr lang="zh-CN" altLang="en-US" sz="1800">
              <a:solidFill>
                <a:schemeClr val="hlink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chemeClr val="hlink"/>
                </a:solidFill>
                <a:latin typeface="Tahoma" panose="020B0604030504040204" pitchFamily="34" charset="0"/>
              </a:rPr>
              <a:t>		*</a:t>
            </a: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next++ = 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		p-&gt;link = buckets[h];			 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放入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Hash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表</a:t>
            </a:r>
            <a:endParaRPr lang="zh-CN" altLang="en-US" sz="2000">
              <a:solidFill>
                <a:schemeClr val="hlink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chemeClr val="hlink"/>
                </a:solidFill>
                <a:latin typeface="Tahoma" panose="020B0604030504040204" pitchFamily="34" charset="0"/>
              </a:rPr>
              <a:t>		</a:t>
            </a: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buckets[h] = p;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		return p-&gt;str;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2F9414F3-D32A-49E3-92A2-D3BEA3B397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符号表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B6C822A9-0E82-4383-B68B-D98546123F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//sym.c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struct table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int level;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Table previous;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struct entry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struct symbol sym;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struct entry *link;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} *buckets[256];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Symbol all;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89948F3C-71CE-446B-B667-B6C59B4C60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符号表</a:t>
            </a:r>
          </a:p>
        </p:txBody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20732EC2-5004-4215-9CAE-E9C7B0B8D2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Symbol lookup(const char *name, Table tp)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struct entry *p;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unsigned h = (unsigned long)name&amp;(HASHSIZE-1);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assert(tp);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do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for (p = tp-&gt;buckets[h]; p; p = p-&gt;link)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if (name == p-&gt;sym.name)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	return &amp;p-&gt;sym;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while ((tp = tp-&gt;previous) != NULL);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return NULL;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861D3312-BB47-42F7-91CA-B70F04120F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符号表</a:t>
            </a:r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08DD0950-E6FD-44D3-9F62-463479F550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Symbol install(const char *name, Table *tpp, int level, int arena)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Table tp = *tpp;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struct entry *p;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unsigned h = (unsigned long)name&amp;(HASHSIZE-1);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assert(level == 0 || level &gt;= tp-&gt;level);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if (level &gt; 0 &amp;&amp; tp-&gt;level &lt; level)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tp = *tpp = table(tp, level);	 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新作用域</a:t>
            </a:r>
            <a:endParaRPr lang="zh-CN" altLang="en-US" sz="18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0000FF"/>
                </a:solidFill>
                <a:latin typeface="Tahoma" panose="020B0604030504040204" pitchFamily="34" charset="0"/>
              </a:rPr>
              <a:t>	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NEW0(p, arena);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p-&gt;sym.name = (char *)name;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p-&gt;sym.scope = level;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p-&gt;sym.up = tp-&gt;all;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tp-&gt;all = &amp;p-&gt;sym;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p-&gt;link = tp-&gt;buckets[h];		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放入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Hash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表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0000FF"/>
                </a:solidFill>
                <a:latin typeface="Tahoma" panose="020B0604030504040204" pitchFamily="34" charset="0"/>
              </a:rPr>
              <a:t>	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tp-&gt;buckets[h] = p;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return &amp;p-&gt;sym;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B8C3BDA5-09EB-48D4-8F2B-C900966527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2.8 </a:t>
            </a:r>
            <a:r>
              <a:rPr lang="zh-CN" altLang="en-US"/>
              <a:t>代码生成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212FB818-F424-48F3-991A-129653C2A7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67064" y="1864792"/>
            <a:ext cx="4541440" cy="250031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转化为语法制导定义：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i="1" dirty="0"/>
              <a:t>expr</a:t>
            </a:r>
            <a:r>
              <a:rPr kumimoji="0" lang="en-US" altLang="zh-CN" sz="2000" b="1" i="1" dirty="0"/>
              <a:t> </a:t>
            </a:r>
            <a:r>
              <a:rPr kumimoji="0" lang="en-US" altLang="zh-CN" sz="2000" b="1" dirty="0">
                <a:sym typeface="Symbol" panose="05050102010706020507" pitchFamily="18" charset="2"/>
              </a:rPr>
              <a:t> </a:t>
            </a:r>
            <a:r>
              <a:rPr kumimoji="0" lang="en-US" altLang="zh-CN" sz="2000" i="1" dirty="0">
                <a:sym typeface="Symbol" panose="05050102010706020507" pitchFamily="18" charset="2"/>
              </a:rPr>
              <a:t>expr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000" i="1" dirty="0">
                <a:sym typeface="Symbol" panose="05050102010706020507" pitchFamily="18" charset="2"/>
              </a:rPr>
              <a:t> </a:t>
            </a:r>
            <a:r>
              <a:rPr kumimoji="0" lang="en-US" altLang="zh-CN" sz="2000" dirty="0">
                <a:sym typeface="Symbol" panose="05050102010706020507" pitchFamily="18" charset="2"/>
              </a:rPr>
              <a:t>+ </a:t>
            </a:r>
            <a:r>
              <a:rPr kumimoji="0" lang="en-US" altLang="zh-CN" sz="2000" i="1" dirty="0">
                <a:sym typeface="Symbol" panose="05050102010706020507" pitchFamily="18" charset="2"/>
              </a:rPr>
              <a:t>term </a:t>
            </a:r>
            <a:r>
              <a:rPr kumimoji="0" lang="en-US" altLang="zh-CN" sz="2000" dirty="0">
                <a:sym typeface="Symbol" panose="05050102010706020507" pitchFamily="18" charset="2"/>
              </a:rPr>
              <a:t>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		</a:t>
            </a:r>
            <a:r>
              <a:rPr kumimoji="0" lang="en-US" altLang="zh-CN" sz="2000" i="1" dirty="0" err="1">
                <a:sym typeface="Symbol" panose="05050102010706020507" pitchFamily="18" charset="2"/>
              </a:rPr>
              <a:t>expr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.</a:t>
            </a:r>
            <a:r>
              <a:rPr kumimoji="0" lang="en-US" altLang="zh-CN" sz="2000" i="1" dirty="0" err="1">
                <a:sym typeface="Symbol" panose="05050102010706020507" pitchFamily="18" charset="2"/>
              </a:rPr>
              <a:t>addr</a:t>
            </a:r>
            <a:r>
              <a:rPr kumimoji="0" lang="en-US" altLang="zh-CN" sz="2000" dirty="0">
                <a:sym typeface="Symbol" panose="05050102010706020507" pitchFamily="18" charset="2"/>
              </a:rPr>
              <a:t>=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newtemp</a:t>
            </a:r>
            <a:r>
              <a:rPr kumimoji="0" lang="en-US" altLang="zh-CN" sz="2000" dirty="0">
                <a:sym typeface="Symbol" panose="05050102010706020507" pitchFamily="18" charset="2"/>
              </a:rPr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 i="1" dirty="0">
                <a:sym typeface="Symbol" panose="05050102010706020507" pitchFamily="18" charset="2"/>
              </a:rPr>
              <a:t>		</a:t>
            </a:r>
            <a:r>
              <a:rPr kumimoji="0" lang="en-US" altLang="zh-CN" sz="2000" i="1" dirty="0" err="1">
                <a:sym typeface="Symbol" panose="05050102010706020507" pitchFamily="18" charset="2"/>
              </a:rPr>
              <a:t>expr.code</a:t>
            </a:r>
            <a:r>
              <a:rPr kumimoji="0" lang="en-US" altLang="zh-CN" sz="2000" dirty="0">
                <a:sym typeface="Symbol" panose="05050102010706020507" pitchFamily="18" charset="2"/>
              </a:rPr>
              <a:t> =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 i="1" dirty="0">
                <a:sym typeface="Symbol" panose="05050102010706020507" pitchFamily="18" charset="2"/>
              </a:rPr>
              <a:t>			expr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000" dirty="0">
                <a:sym typeface="Symbol" panose="05050102010706020507" pitchFamily="18" charset="2"/>
              </a:rPr>
              <a:t>.</a:t>
            </a:r>
            <a:r>
              <a:rPr kumimoji="0" lang="en-US" altLang="zh-CN" sz="2000" i="1" dirty="0">
                <a:sym typeface="Symbol" panose="05050102010706020507" pitchFamily="18" charset="2"/>
              </a:rPr>
              <a:t>code</a:t>
            </a:r>
            <a:r>
              <a:rPr kumimoji="0" lang="en-US" altLang="zh-CN" sz="2000" dirty="0">
                <a:sym typeface="Symbol" panose="05050102010706020507" pitchFamily="18" charset="2"/>
              </a:rPr>
              <a:t> || </a:t>
            </a:r>
            <a:r>
              <a:rPr kumimoji="0" lang="en-US" altLang="zh-CN" sz="2000" i="1" dirty="0" err="1">
                <a:sym typeface="Symbol" panose="05050102010706020507" pitchFamily="18" charset="2"/>
              </a:rPr>
              <a:t>term.code</a:t>
            </a:r>
            <a:r>
              <a:rPr kumimoji="0" lang="en-US" altLang="zh-CN" sz="2000" dirty="0">
                <a:sym typeface="Symbol" panose="05050102010706020507" pitchFamily="18" charset="2"/>
              </a:rPr>
              <a:t> ||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		            “MOV EAX, </a:t>
            </a:r>
            <a:r>
              <a:rPr kumimoji="0" lang="en-US" altLang="zh-CN" sz="2000" i="1" dirty="0">
                <a:sym typeface="Symbol" panose="05050102010706020507" pitchFamily="18" charset="2"/>
              </a:rPr>
              <a:t>expr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000" dirty="0">
                <a:sym typeface="Symbol" panose="05050102010706020507" pitchFamily="18" charset="2"/>
              </a:rPr>
              <a:t>.</a:t>
            </a:r>
            <a:r>
              <a:rPr kumimoji="0" lang="en-US" altLang="zh-CN" sz="2000" i="1" dirty="0">
                <a:sym typeface="Symbol" panose="05050102010706020507" pitchFamily="18" charset="2"/>
              </a:rPr>
              <a:t>addr</a:t>
            </a:r>
            <a:br>
              <a:rPr kumimoji="0" lang="en-US" altLang="zh-CN" sz="2000" dirty="0">
                <a:sym typeface="Symbol" panose="05050102010706020507" pitchFamily="18" charset="2"/>
              </a:rPr>
            </a:br>
            <a:r>
              <a:rPr kumimoji="0" lang="en-US" altLang="zh-CN" sz="2000" dirty="0">
                <a:sym typeface="Symbol" panose="05050102010706020507" pitchFamily="18" charset="2"/>
              </a:rPr>
              <a:t>		MOV EBX, </a:t>
            </a:r>
            <a:r>
              <a:rPr kumimoji="0" lang="en-US" altLang="zh-CN" sz="2000" i="1" dirty="0" err="1">
                <a:sym typeface="Symbol" panose="05050102010706020507" pitchFamily="18" charset="2"/>
              </a:rPr>
              <a:t>term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.</a:t>
            </a:r>
            <a:r>
              <a:rPr kumimoji="0" lang="en-US" altLang="zh-CN" sz="2000" i="1" dirty="0" err="1">
                <a:sym typeface="Symbol" panose="05050102010706020507" pitchFamily="18" charset="2"/>
              </a:rPr>
              <a:t>addr</a:t>
            </a:r>
            <a:br>
              <a:rPr kumimoji="0" lang="en-US" altLang="zh-CN" sz="2000" dirty="0">
                <a:sym typeface="Symbol" panose="05050102010706020507" pitchFamily="18" charset="2"/>
              </a:rPr>
            </a:br>
            <a:r>
              <a:rPr kumimoji="0" lang="en-US" altLang="zh-CN" sz="2000" dirty="0">
                <a:sym typeface="Symbol" panose="05050102010706020507" pitchFamily="18" charset="2"/>
              </a:rPr>
              <a:t>		ADD EAX, EBX</a:t>
            </a:r>
            <a:br>
              <a:rPr kumimoji="0" lang="en-US" altLang="zh-CN" sz="2000" dirty="0">
                <a:sym typeface="Symbol" panose="05050102010706020507" pitchFamily="18" charset="2"/>
              </a:rPr>
            </a:br>
            <a:r>
              <a:rPr kumimoji="0" lang="en-US" altLang="zh-CN" sz="2000" dirty="0">
                <a:sym typeface="Symbol" panose="05050102010706020507" pitchFamily="18" charset="2"/>
              </a:rPr>
              <a:t>		MOV </a:t>
            </a:r>
            <a:r>
              <a:rPr kumimoji="0" lang="en-US" altLang="zh-CN" sz="2000" i="1" dirty="0" err="1">
                <a:sym typeface="Symbol" panose="05050102010706020507" pitchFamily="18" charset="2"/>
              </a:rPr>
              <a:t>expr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.</a:t>
            </a:r>
            <a:r>
              <a:rPr kumimoji="0" lang="en-US" altLang="zh-CN" sz="2000" i="1" dirty="0" err="1">
                <a:sym typeface="Symbol" panose="05050102010706020507" pitchFamily="18" charset="2"/>
              </a:rPr>
              <a:t>addr</a:t>
            </a:r>
            <a:r>
              <a:rPr kumimoji="0" lang="en-US" altLang="zh-CN" sz="2000" dirty="0">
                <a:sym typeface="Symbol" panose="05050102010706020507" pitchFamily="18" charset="2"/>
              </a:rPr>
              <a:t>, EAX” }</a:t>
            </a:r>
            <a:endParaRPr lang="en-US" altLang="zh-CN" sz="2400" dirty="0"/>
          </a:p>
        </p:txBody>
      </p:sp>
      <p:sp>
        <p:nvSpPr>
          <p:cNvPr id="111620" name="Rectangle 5">
            <a:extLst>
              <a:ext uri="{FF2B5EF4-FFF2-40B4-BE49-F238E27FC236}">
                <a16:creationId xmlns:a16="http://schemas.microsoft.com/office/drawing/2014/main" id="{B101E554-4A7B-4D05-800A-495CFDE8C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1443285"/>
            <a:ext cx="7772400" cy="241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ts val="48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表达式代码生成 </a:t>
            </a:r>
            <a:r>
              <a:rPr lang="en-US" altLang="zh-CN" sz="2400" i="1" dirty="0">
                <a:ea typeface="宋体" panose="02010600030101010101" pitchFamily="2" charset="-122"/>
              </a:rPr>
              <a:t>expr</a:t>
            </a:r>
            <a:r>
              <a:rPr kumimoji="0" lang="en-US" altLang="zh-CN" sz="2400" b="1" i="1" dirty="0">
                <a:ea typeface="宋体" panose="02010600030101010101" pitchFamily="2" charset="-122"/>
              </a:rPr>
              <a:t> </a:t>
            </a:r>
            <a:r>
              <a:rPr kumimoji="0"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kumimoji="0" lang="en-US" altLang="zh-CN" sz="2400" i="1" dirty="0">
                <a:ea typeface="宋体" panose="02010600030101010101" pitchFamily="2" charset="-122"/>
                <a:sym typeface="Symbol" panose="05050102010706020507" pitchFamily="18" charset="2"/>
              </a:rPr>
              <a:t>expr</a:t>
            </a:r>
            <a:r>
              <a:rPr kumimoji="0" lang="en-US" altLang="zh-CN" sz="2400" baseline="-250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kumimoji="0" lang="en-US" altLang="zh-CN" sz="2400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+ </a:t>
            </a:r>
            <a:r>
              <a:rPr kumimoji="0" lang="en-US" altLang="zh-CN" sz="2400" i="1" dirty="0">
                <a:ea typeface="宋体" panose="02010600030101010101" pitchFamily="2" charset="-122"/>
                <a:sym typeface="Symbol" panose="05050102010706020507" pitchFamily="18" charset="2"/>
              </a:rPr>
              <a:t>term</a:t>
            </a:r>
            <a:endParaRPr kumimoji="0" lang="en-US" altLang="zh-CN" sz="24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spcBef>
                <a:spcPts val="480"/>
              </a:spcBef>
              <a:buFont typeface="Wingdings" panose="05000000000000000000" pitchFamily="2" charset="2"/>
              <a:buNone/>
            </a:pPr>
            <a:r>
              <a:rPr kumimoji="0"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expr</a:t>
            </a:r>
            <a:r>
              <a:rPr kumimoji="0" lang="zh-CN" altLang="en-US" sz="2400" dirty="0">
                <a:ea typeface="宋体" panose="02010600030101010101" pitchFamily="2" charset="-122"/>
                <a:sym typeface="Symbol" panose="05050102010706020507" pitchFamily="18" charset="2"/>
              </a:rPr>
              <a:t>对应的汇编码是什么样的？</a:t>
            </a:r>
          </a:p>
          <a:p>
            <a:pPr eaLnBrk="1" hangingPunct="1">
              <a:spcBef>
                <a:spcPts val="480"/>
              </a:spcBef>
              <a:buFont typeface="Wingdings" panose="05000000000000000000" pitchFamily="2" charset="2"/>
              <a:buNone/>
            </a:pPr>
            <a:r>
              <a:rPr kumimoji="0" lang="zh-CN" altLang="en-US" sz="20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计算</a:t>
            </a:r>
            <a:r>
              <a:rPr kumimoji="0" lang="en-US" altLang="zh-CN" sz="20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expr</a:t>
            </a:r>
            <a:r>
              <a:rPr kumimoji="0" lang="en-US" altLang="zh-CN" sz="2000" baseline="-250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kumimoji="0" lang="zh-CN" altLang="en-US" sz="20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的代码段</a:t>
            </a:r>
          </a:p>
          <a:p>
            <a:pPr eaLnBrk="1" hangingPunct="1">
              <a:spcBef>
                <a:spcPts val="480"/>
              </a:spcBef>
              <a:buFont typeface="Wingdings" panose="05000000000000000000" pitchFamily="2" charset="2"/>
              <a:buNone/>
            </a:pPr>
            <a:r>
              <a:rPr kumimoji="0" lang="zh-CN" altLang="en-US" sz="20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计算</a:t>
            </a:r>
            <a:r>
              <a:rPr kumimoji="0" lang="en-US" altLang="zh-CN" sz="20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term</a:t>
            </a:r>
            <a:r>
              <a:rPr kumimoji="0" lang="zh-CN" altLang="en-US" sz="20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的代码段</a:t>
            </a:r>
          </a:p>
          <a:p>
            <a:pPr eaLnBrk="1" hangingPunct="1">
              <a:spcBef>
                <a:spcPts val="480"/>
              </a:spcBef>
              <a:buFont typeface="Wingdings" panose="05000000000000000000" pitchFamily="2" charset="2"/>
              <a:buNone/>
            </a:pPr>
            <a:r>
              <a:rPr kumimoji="0" lang="zh-CN" altLang="en-US" sz="20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kumimoji="0" lang="en-US" altLang="zh-CN" sz="20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MOV EAX, expr</a:t>
            </a:r>
            <a:r>
              <a:rPr kumimoji="0" lang="en-US" altLang="zh-CN" sz="2000" baseline="-250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</a:p>
          <a:p>
            <a:pPr eaLnBrk="1" hangingPunct="1">
              <a:spcBef>
                <a:spcPts val="480"/>
              </a:spcBef>
              <a:buFont typeface="Wingdings" panose="05000000000000000000" pitchFamily="2" charset="2"/>
              <a:buNone/>
            </a:pPr>
            <a:r>
              <a:rPr kumimoji="0" lang="en-US" altLang="zh-CN" sz="2000" baseline="-250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kumimoji="0" lang="en-US" altLang="zh-CN" sz="20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MOV EBX, term</a:t>
            </a:r>
          </a:p>
          <a:p>
            <a:pPr eaLnBrk="1" hangingPunct="1">
              <a:spcBef>
                <a:spcPts val="48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ADD EAX, EBX</a:t>
            </a:r>
          </a:p>
          <a:p>
            <a:pPr eaLnBrk="1" hangingPunct="1">
              <a:spcBef>
                <a:spcPts val="48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MOV expr, EAX</a:t>
            </a:r>
            <a:endParaRPr kumimoji="0" lang="en-US" altLang="zh-CN" sz="2000" baseline="-25000" dirty="0">
              <a:solidFill>
                <a:srgbClr val="3333CC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4D509AD-8050-4BFA-A660-7A192CBDA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5" y="5112018"/>
            <a:ext cx="8116390" cy="1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kern="0" dirty="0">
                <a:solidFill>
                  <a:srgbClr val="FF0000"/>
                </a:solidFill>
              </a:rPr>
              <a:t>语法符号的属性（</a:t>
            </a:r>
            <a:r>
              <a:rPr lang="en-US" altLang="zh-CN" sz="2400" kern="0" dirty="0">
                <a:solidFill>
                  <a:srgbClr val="FF0000"/>
                </a:solidFill>
              </a:rPr>
              <a:t>code</a:t>
            </a:r>
            <a:r>
              <a:rPr lang="zh-CN" altLang="en-US" sz="2400" kern="0" dirty="0">
                <a:solidFill>
                  <a:srgbClr val="FF0000"/>
                </a:solidFill>
              </a:rPr>
              <a:t>）</a:t>
            </a:r>
            <a:r>
              <a:rPr lang="en-US" altLang="zh-CN" sz="2400" kern="0" dirty="0">
                <a:solidFill>
                  <a:srgbClr val="FF0000"/>
                </a:solidFill>
              </a:rPr>
              <a:t>——</a:t>
            </a:r>
            <a:r>
              <a:rPr lang="zh-CN" altLang="en-US" sz="2400" kern="0" dirty="0">
                <a:solidFill>
                  <a:srgbClr val="FF0000"/>
                </a:solidFill>
              </a:rPr>
              <a:t>对应语法结构的汇编代码</a:t>
            </a:r>
            <a:endParaRPr lang="en-US" altLang="zh-CN" sz="2400" kern="0" dirty="0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kern="0" dirty="0">
                <a:solidFill>
                  <a:srgbClr val="FF0000"/>
                </a:solidFill>
              </a:rPr>
              <a:t>上层语法结构（左部、父节点）的代码</a:t>
            </a:r>
            <a:r>
              <a:rPr lang="en-US" altLang="zh-CN" sz="2400" kern="0" dirty="0">
                <a:solidFill>
                  <a:srgbClr val="FF0000"/>
                </a:solidFill>
              </a:rPr>
              <a:t>=</a:t>
            </a:r>
            <a:r>
              <a:rPr lang="zh-CN" altLang="en-US" sz="2400" kern="0" dirty="0">
                <a:solidFill>
                  <a:srgbClr val="FF0000"/>
                </a:solidFill>
              </a:rPr>
              <a:t>下层语法结构（右部、孩子节点）的代码再拼接一些汇编指令而来</a:t>
            </a:r>
            <a:endParaRPr lang="en-US" altLang="zh-CN" sz="2400" kern="0" dirty="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kern="0" dirty="0">
                <a:solidFill>
                  <a:srgbClr val="FF0000"/>
                </a:solidFill>
                <a:sym typeface="Wingdings" panose="05000000000000000000" pitchFamily="2" charset="2"/>
              </a:rPr>
              <a:t></a:t>
            </a:r>
            <a:r>
              <a:rPr lang="en-US" altLang="zh-CN" sz="2400" kern="0" dirty="0" err="1">
                <a:solidFill>
                  <a:srgbClr val="FF0000"/>
                </a:solidFill>
                <a:sym typeface="Wingdings" panose="05000000000000000000" pitchFamily="2" charset="2"/>
              </a:rPr>
              <a:t>Yacc</a:t>
            </a:r>
            <a:r>
              <a:rPr lang="zh-CN" altLang="en-US" sz="2400" kern="0" dirty="0">
                <a:solidFill>
                  <a:srgbClr val="FF0000"/>
                </a:solidFill>
                <a:sym typeface="Wingdings" panose="05000000000000000000" pitchFamily="2" charset="2"/>
              </a:rPr>
              <a:t>程序</a:t>
            </a:r>
            <a:endParaRPr lang="en-US" altLang="zh-CN" sz="2400" kern="0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9" grpId="0" uiExpand="1" build="p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BD29289F-AD60-43E1-AAD0-13354F8010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表达式的代码生成（续）</a:t>
            </a:r>
          </a:p>
        </p:txBody>
      </p:sp>
      <p:sp>
        <p:nvSpPr>
          <p:cNvPr id="108547" name="Rectangle 4">
            <a:extLst>
              <a:ext uri="{FF2B5EF4-FFF2-40B4-BE49-F238E27FC236}">
                <a16:creationId xmlns:a16="http://schemas.microsoft.com/office/drawing/2014/main" id="{D5231BF9-C5C7-4A03-99F6-A7398CC33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6338" y="4149725"/>
            <a:ext cx="7772400" cy="213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i="1" dirty="0" err="1">
                <a:ea typeface="宋体" panose="02010600030101010101" pitchFamily="2" charset="-122"/>
              </a:rPr>
              <a:t>stmt</a:t>
            </a:r>
            <a:r>
              <a:rPr kumimoji="0" lang="en-US" altLang="zh-CN" b="1" i="1" dirty="0">
                <a:ea typeface="宋体" panose="02010600030101010101" pitchFamily="2" charset="-122"/>
              </a:rPr>
              <a:t> </a:t>
            </a:r>
            <a:r>
              <a:rPr kumimoji="0"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 id </a:t>
            </a:r>
            <a:r>
              <a:rPr kumimoji="0"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:=</a:t>
            </a:r>
            <a:r>
              <a:rPr kumimoji="0"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expr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		</a:t>
            </a:r>
            <a:r>
              <a:rPr kumimoji="0"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{</a:t>
            </a:r>
            <a:r>
              <a:rPr kumimoji="0" lang="en-US" altLang="zh-CN" i="1" dirty="0" err="1">
                <a:ea typeface="宋体" panose="02010600030101010101" pitchFamily="2" charset="-122"/>
                <a:sym typeface="Symbol" panose="05050102010706020507" pitchFamily="18" charset="2"/>
              </a:rPr>
              <a:t>stmt.code</a:t>
            </a:r>
            <a:r>
              <a:rPr kumimoji="0"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kumimoji="0"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en-US" altLang="zh-CN" i="1" dirty="0" err="1">
                <a:ea typeface="宋体" panose="02010600030101010101" pitchFamily="2" charset="-122"/>
                <a:sym typeface="Symbol" panose="05050102010706020507" pitchFamily="18" charset="2"/>
              </a:rPr>
              <a:t>expr.code</a:t>
            </a:r>
            <a:r>
              <a:rPr kumimoji="0"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 ||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kumimoji="0"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				“</a:t>
            </a:r>
            <a:r>
              <a:rPr kumimoji="0"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MOV EAX, </a:t>
            </a:r>
            <a:r>
              <a:rPr kumimoji="0" lang="en-US" altLang="zh-CN" sz="2400" i="1" dirty="0" err="1">
                <a:ea typeface="宋体" panose="02010600030101010101" pitchFamily="2" charset="-122"/>
                <a:sym typeface="Symbol" panose="05050102010706020507" pitchFamily="18" charset="2"/>
              </a:rPr>
              <a:t>expr.addr</a:t>
            </a:r>
            <a:endParaRPr kumimoji="0" lang="en-US" altLang="zh-CN" sz="2400" i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kumimoji="0"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				MOV </a:t>
            </a:r>
            <a:r>
              <a:rPr kumimoji="0" lang="en-US" altLang="zh-CN" sz="2400" b="1" dirty="0" err="1"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kumimoji="0" lang="en-US" altLang="zh-CN" sz="2400" dirty="0" err="1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kumimoji="0" lang="en-US" altLang="zh-CN" sz="2400" i="1" dirty="0" err="1">
                <a:ea typeface="宋体" panose="02010600030101010101" pitchFamily="2" charset="-122"/>
                <a:sym typeface="Symbol" panose="05050102010706020507" pitchFamily="18" charset="2"/>
              </a:rPr>
              <a:t>addr</a:t>
            </a:r>
            <a:r>
              <a:rPr kumimoji="0"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, EAX</a:t>
            </a:r>
            <a:r>
              <a:rPr kumimoji="0"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”}</a:t>
            </a:r>
          </a:p>
        </p:txBody>
      </p:sp>
      <p:sp>
        <p:nvSpPr>
          <p:cNvPr id="108548" name="Rectangle 6">
            <a:extLst>
              <a:ext uri="{FF2B5EF4-FFF2-40B4-BE49-F238E27FC236}">
                <a16:creationId xmlns:a16="http://schemas.microsoft.com/office/drawing/2014/main" id="{1CAAD9D4-1D43-4C82-9523-E5587BB66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6338" y="1371600"/>
            <a:ext cx="7772400" cy="241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i="1" dirty="0" err="1">
                <a:ea typeface="宋体" panose="02010600030101010101" pitchFamily="2" charset="-122"/>
              </a:rPr>
              <a:t>stmt</a:t>
            </a:r>
            <a:r>
              <a:rPr kumimoji="0" lang="en-US" altLang="zh-CN" b="1" i="1" dirty="0">
                <a:ea typeface="宋体" panose="02010600030101010101" pitchFamily="2" charset="-122"/>
              </a:rPr>
              <a:t> </a:t>
            </a:r>
            <a:r>
              <a:rPr kumimoji="0"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 id </a:t>
            </a:r>
            <a:r>
              <a:rPr kumimoji="0"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:=</a:t>
            </a:r>
            <a:r>
              <a:rPr kumimoji="0"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expr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赋值语句的汇编码应该是什么样子？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kumimoji="0" lang="zh-CN" altLang="en-US" sz="24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计算</a:t>
            </a:r>
            <a:r>
              <a:rPr kumimoji="0" lang="en-US" altLang="zh-CN" sz="24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expr</a:t>
            </a:r>
            <a:r>
              <a:rPr kumimoji="0" lang="zh-CN" altLang="en-US" sz="24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的代码段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kumimoji="0" lang="en-US" altLang="zh-CN" sz="24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MOV EAX, expr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kumimoji="0" lang="en-US" altLang="zh-CN" sz="24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MOV id, EAX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A19298AA-194D-4581-935C-A78E6DF3B5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控制流的翻译</a:t>
            </a: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4E434AA6-7B88-4F2F-8ABC-1D289D4822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3886200"/>
            <a:ext cx="7772400" cy="1524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i="1" dirty="0" err="1"/>
              <a:t>stmt</a:t>
            </a:r>
            <a:r>
              <a:rPr kumimoji="0" lang="en-US" altLang="zh-CN" sz="2800" b="1" i="1" dirty="0"/>
              <a:t> </a:t>
            </a:r>
            <a:r>
              <a:rPr kumimoji="0" lang="en-US" altLang="zh-CN" sz="2800" b="1" dirty="0">
                <a:sym typeface="Symbol" panose="05050102010706020507" pitchFamily="18" charset="2"/>
              </a:rPr>
              <a:t> if</a:t>
            </a:r>
            <a:r>
              <a:rPr kumimoji="0" lang="en-US" altLang="zh-CN" sz="2800" dirty="0">
                <a:sym typeface="Symbol" panose="05050102010706020507" pitchFamily="18" charset="2"/>
              </a:rPr>
              <a:t> (</a:t>
            </a:r>
            <a:r>
              <a:rPr kumimoji="0" lang="en-US" altLang="zh-CN" sz="2800" i="1" dirty="0">
                <a:sym typeface="Symbol" panose="05050102010706020507" pitchFamily="18" charset="2"/>
              </a:rPr>
              <a:t>expr</a:t>
            </a:r>
            <a:r>
              <a:rPr kumimoji="0" lang="en-US" altLang="zh-CN" sz="2800" dirty="0">
                <a:sym typeface="Symbol" panose="05050102010706020507" pitchFamily="18" charset="2"/>
              </a:rPr>
              <a:t>) </a:t>
            </a:r>
            <a:r>
              <a:rPr kumimoji="0" lang="en-US" altLang="zh-CN" sz="2800" i="1" dirty="0">
                <a:sym typeface="Symbol" panose="05050102010706020507" pitchFamily="18" charset="2"/>
              </a:rPr>
              <a:t>stmt</a:t>
            </a:r>
            <a:r>
              <a:rPr kumimoji="0" lang="en-US" altLang="zh-CN" sz="2800" i="1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800" dirty="0">
                <a:sym typeface="Symbol" panose="05050102010706020507" pitchFamily="18" charset="2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 dirty="0">
                <a:sym typeface="Symbol" panose="05050102010706020507" pitchFamily="18" charset="2"/>
              </a:rPr>
              <a:t>		{  </a:t>
            </a:r>
            <a:r>
              <a:rPr kumimoji="0" lang="en-US" altLang="zh-CN" sz="2800" i="1" dirty="0">
                <a:sym typeface="Symbol" panose="05050102010706020507" pitchFamily="18" charset="2"/>
              </a:rPr>
              <a:t>out </a:t>
            </a:r>
            <a:r>
              <a:rPr kumimoji="0" lang="en-US" altLang="zh-CN" sz="2800" dirty="0">
                <a:sym typeface="Symbol" panose="05050102010706020507" pitchFamily="18" charset="2"/>
              </a:rPr>
              <a:t>=</a:t>
            </a:r>
            <a:r>
              <a:rPr kumimoji="0" lang="en-US" altLang="zh-CN" sz="2800" i="1" dirty="0">
                <a:sym typeface="Symbol" panose="05050102010706020507" pitchFamily="18" charset="2"/>
              </a:rPr>
              <a:t> </a:t>
            </a:r>
            <a:r>
              <a:rPr kumimoji="0" lang="en-US" altLang="zh-CN" sz="2800" i="1" dirty="0" err="1">
                <a:sym typeface="Symbol" panose="05050102010706020507" pitchFamily="18" charset="2"/>
              </a:rPr>
              <a:t>newlabel</a:t>
            </a:r>
            <a:r>
              <a:rPr kumimoji="0" lang="en-US" altLang="zh-CN" sz="2800" i="1" dirty="0">
                <a:sym typeface="Symbol" panose="05050102010706020507" pitchFamily="18" charset="2"/>
              </a:rPr>
              <a:t>;</a:t>
            </a:r>
            <a:br>
              <a:rPr kumimoji="0" lang="en-US" altLang="zh-CN" sz="2800" i="1" dirty="0">
                <a:sym typeface="Symbol" panose="05050102010706020507" pitchFamily="18" charset="2"/>
              </a:rPr>
            </a:br>
            <a:r>
              <a:rPr kumimoji="0" lang="en-US" altLang="zh-CN" sz="2800" i="1" dirty="0">
                <a:sym typeface="Symbol" panose="05050102010706020507" pitchFamily="18" charset="2"/>
              </a:rPr>
              <a:t>          </a:t>
            </a:r>
            <a:r>
              <a:rPr kumimoji="0" lang="en-US" altLang="zh-CN" sz="2800" i="1" dirty="0" err="1">
                <a:sym typeface="Symbol" panose="05050102010706020507" pitchFamily="18" charset="2"/>
              </a:rPr>
              <a:t>stmt.code</a:t>
            </a:r>
            <a:r>
              <a:rPr kumimoji="0" lang="en-US" altLang="zh-CN" sz="2800" i="1" dirty="0">
                <a:sym typeface="Symbol" panose="05050102010706020507" pitchFamily="18" charset="2"/>
              </a:rPr>
              <a:t> </a:t>
            </a:r>
            <a:r>
              <a:rPr kumimoji="0" lang="en-US" altLang="zh-CN" sz="2800" dirty="0">
                <a:sym typeface="Symbol" panose="05050102010706020507" pitchFamily="18" charset="2"/>
              </a:rPr>
              <a:t>=</a:t>
            </a:r>
            <a:r>
              <a:rPr kumimoji="0" lang="en-US" altLang="zh-CN" sz="2800" i="1" dirty="0">
                <a:sym typeface="Symbol" panose="05050102010706020507" pitchFamily="18" charset="2"/>
              </a:rPr>
              <a:t> </a:t>
            </a:r>
            <a:r>
              <a:rPr kumimoji="0" lang="en-US" altLang="zh-CN" sz="2800" i="1" dirty="0" err="1">
                <a:sym typeface="Symbol" panose="05050102010706020507" pitchFamily="18" charset="2"/>
              </a:rPr>
              <a:t>expr.code</a:t>
            </a:r>
            <a:r>
              <a:rPr kumimoji="0" lang="en-US" altLang="zh-CN" sz="2800" i="1" dirty="0">
                <a:sym typeface="Symbol" panose="05050102010706020507" pitchFamily="18" charset="2"/>
              </a:rPr>
              <a:t> || </a:t>
            </a:r>
            <a:r>
              <a:rPr kumimoji="0" lang="en-US" altLang="zh-CN" sz="2800" dirty="0">
                <a:sym typeface="Symbol" panose="05050102010706020507" pitchFamily="18" charset="2"/>
              </a:rPr>
              <a:t>‘</a:t>
            </a:r>
            <a:r>
              <a:rPr kumimoji="0" lang="en-US" altLang="zh-CN" sz="2800" dirty="0" err="1">
                <a:latin typeface="Tahoma" panose="020B0604030504040204" pitchFamily="34" charset="0"/>
                <a:sym typeface="Symbol" panose="05050102010706020507" pitchFamily="18" charset="2"/>
              </a:rPr>
              <a:t>jz</a:t>
            </a:r>
            <a:r>
              <a:rPr kumimoji="0" lang="en-US" altLang="zh-CN" sz="2800" dirty="0">
                <a:sym typeface="Symbol" panose="05050102010706020507" pitchFamily="18" charset="2"/>
              </a:rPr>
              <a:t>’</a:t>
            </a:r>
            <a:r>
              <a:rPr kumimoji="0" lang="en-US" altLang="zh-CN" sz="2800" i="1" dirty="0">
                <a:sym typeface="Symbol" panose="05050102010706020507" pitchFamily="18" charset="2"/>
              </a:rPr>
              <a:t> out || </a:t>
            </a:r>
            <a:br>
              <a:rPr kumimoji="0" lang="en-US" altLang="zh-CN" sz="2800" i="1" dirty="0">
                <a:sym typeface="Symbol" panose="05050102010706020507" pitchFamily="18" charset="2"/>
              </a:rPr>
            </a:br>
            <a:r>
              <a:rPr kumimoji="0" lang="en-US" altLang="zh-CN" sz="2800" i="1" dirty="0">
                <a:sym typeface="Symbol" panose="05050102010706020507" pitchFamily="18" charset="2"/>
              </a:rPr>
              <a:t>                                stmt</a:t>
            </a:r>
            <a:r>
              <a:rPr kumimoji="0" lang="en-US" altLang="zh-CN" sz="2800" i="1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800" i="1" dirty="0">
                <a:sym typeface="Symbol" panose="05050102010706020507" pitchFamily="18" charset="2"/>
              </a:rPr>
              <a:t>.code || out }</a:t>
            </a:r>
          </a:p>
        </p:txBody>
      </p:sp>
      <p:sp>
        <p:nvSpPr>
          <p:cNvPr id="109573" name="Text Box 19">
            <a:extLst>
              <a:ext uri="{FF2B5EF4-FFF2-40B4-BE49-F238E27FC236}">
                <a16:creationId xmlns:a16="http://schemas.microsoft.com/office/drawing/2014/main" id="{40EAA2D7-8B86-4569-AA17-8C583970D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371600"/>
            <a:ext cx="1828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ea typeface="宋体" panose="02010600030101010101" pitchFamily="2" charset="-122"/>
              </a:rPr>
              <a:t>IF (expr) stmt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50D0A74-3B99-4785-BC37-6F1BAF511233}"/>
              </a:ext>
            </a:extLst>
          </p:cNvPr>
          <p:cNvGrpSpPr/>
          <p:nvPr/>
        </p:nvGrpSpPr>
        <p:grpSpPr>
          <a:xfrm>
            <a:off x="3429000" y="1905000"/>
            <a:ext cx="1828800" cy="1997075"/>
            <a:chOff x="3429000" y="1905000"/>
            <a:chExt cx="1828800" cy="1997075"/>
          </a:xfrm>
        </p:grpSpPr>
        <p:sp>
          <p:nvSpPr>
            <p:cNvPr id="109572" name="Rectangle 18">
              <a:extLst>
                <a:ext uri="{FF2B5EF4-FFF2-40B4-BE49-F238E27FC236}">
                  <a16:creationId xmlns:a16="http://schemas.microsoft.com/office/drawing/2014/main" id="{EC3CEA87-1DBC-4295-A179-49EADE84D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000" y="1905000"/>
              <a:ext cx="1828800" cy="1981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9574" name="Text Box 20">
              <a:extLst>
                <a:ext uri="{FF2B5EF4-FFF2-40B4-BE49-F238E27FC236}">
                  <a16:creationId xmlns:a16="http://schemas.microsoft.com/office/drawing/2014/main" id="{4323E5BC-39F8-4B36-A975-553C761E11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1905000"/>
              <a:ext cx="18288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ea typeface="宋体" panose="02010600030101010101" pitchFamily="2" charset="-122"/>
                </a:rPr>
                <a:t>code for expr</a:t>
              </a:r>
            </a:p>
          </p:txBody>
        </p:sp>
        <p:sp>
          <p:nvSpPr>
            <p:cNvPr id="109575" name="Text Box 21">
              <a:extLst>
                <a:ext uri="{FF2B5EF4-FFF2-40B4-BE49-F238E27FC236}">
                  <a16:creationId xmlns:a16="http://schemas.microsoft.com/office/drawing/2014/main" id="{7D40F4EC-A156-45EE-AF8C-3F3BDCCB50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2438400"/>
              <a:ext cx="16002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ea typeface="宋体" panose="02010600030101010101" pitchFamily="2" charset="-122"/>
                </a:rPr>
                <a:t>jz out</a:t>
              </a:r>
            </a:p>
          </p:txBody>
        </p:sp>
        <p:sp>
          <p:nvSpPr>
            <p:cNvPr id="109576" name="Text Box 22">
              <a:extLst>
                <a:ext uri="{FF2B5EF4-FFF2-40B4-BE49-F238E27FC236}">
                  <a16:creationId xmlns:a16="http://schemas.microsoft.com/office/drawing/2014/main" id="{15F73677-B352-4D48-AFBD-9C9735DCFA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2971800"/>
              <a:ext cx="18288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>
                  <a:ea typeface="宋体" panose="02010600030101010101" pitchFamily="2" charset="-122"/>
                </a:rPr>
                <a:t>code for </a:t>
              </a:r>
              <a:r>
                <a:rPr kumimoji="0" lang="en-US" altLang="zh-CN" sz="2000" b="1" dirty="0" err="1">
                  <a:ea typeface="宋体" panose="02010600030101010101" pitchFamily="2" charset="-122"/>
                </a:rPr>
                <a:t>stmt</a:t>
              </a:r>
              <a:endParaRPr kumimoji="0" lang="en-US" altLang="zh-CN" sz="2000" b="1" dirty="0">
                <a:ea typeface="宋体" panose="02010600030101010101" pitchFamily="2" charset="-122"/>
              </a:endParaRPr>
            </a:p>
          </p:txBody>
        </p:sp>
        <p:sp>
          <p:nvSpPr>
            <p:cNvPr id="109577" name="Text Box 23">
              <a:extLst>
                <a:ext uri="{FF2B5EF4-FFF2-40B4-BE49-F238E27FC236}">
                  <a16:creationId xmlns:a16="http://schemas.microsoft.com/office/drawing/2014/main" id="{83C8989F-DC9F-41B3-9F5F-8DA9C579BF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3505200"/>
              <a:ext cx="16002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ea typeface="宋体" panose="02010600030101010101" pitchFamily="2" charset="-122"/>
                </a:rPr>
                <a:t>out: </a:t>
              </a:r>
            </a:p>
          </p:txBody>
        </p:sp>
        <p:sp>
          <p:nvSpPr>
            <p:cNvPr id="109578" name="Line 24">
              <a:extLst>
                <a:ext uri="{FF2B5EF4-FFF2-40B4-BE49-F238E27FC236}">
                  <a16:creationId xmlns:a16="http://schemas.microsoft.com/office/drawing/2014/main" id="{093991D9-103D-4F57-91A4-5B0123A875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9000" y="2362200"/>
              <a:ext cx="1828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79" name="Line 25">
              <a:extLst>
                <a:ext uri="{FF2B5EF4-FFF2-40B4-BE49-F238E27FC236}">
                  <a16:creationId xmlns:a16="http://schemas.microsoft.com/office/drawing/2014/main" id="{1FB97AF5-5142-481A-8030-524CD66918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9000" y="2971800"/>
              <a:ext cx="1828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80" name="Line 26">
              <a:extLst>
                <a:ext uri="{FF2B5EF4-FFF2-40B4-BE49-F238E27FC236}">
                  <a16:creationId xmlns:a16="http://schemas.microsoft.com/office/drawing/2014/main" id="{AD75F3FC-5016-4D64-AB0C-EFD4692B78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9000" y="3429000"/>
              <a:ext cx="1828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B3325C4A-8B23-4DB1-BFDC-D5DA1E0CAB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控制流语句的翻译</a:t>
            </a:r>
          </a:p>
        </p:txBody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4AB43EB0-E204-456E-866D-13D13A1641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3733800"/>
            <a:ext cx="7772400" cy="2286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i="1"/>
              <a:t>stmt</a:t>
            </a:r>
            <a:r>
              <a:rPr kumimoji="0" lang="en-US" altLang="zh-CN" sz="2400" b="1" i="1"/>
              <a:t> </a:t>
            </a:r>
            <a:r>
              <a:rPr kumimoji="0" lang="en-US" altLang="zh-CN" sz="2400" b="1">
                <a:sym typeface="Symbol" panose="05050102010706020507" pitchFamily="18" charset="2"/>
              </a:rPr>
              <a:t> while</a:t>
            </a:r>
            <a:r>
              <a:rPr kumimoji="0" lang="en-US" altLang="zh-CN" sz="2400">
                <a:sym typeface="Symbol" panose="05050102010706020507" pitchFamily="18" charset="2"/>
              </a:rPr>
              <a:t> (</a:t>
            </a:r>
            <a:r>
              <a:rPr kumimoji="0" lang="en-US" altLang="zh-CN" sz="2400" i="1">
                <a:sym typeface="Symbol" panose="05050102010706020507" pitchFamily="18" charset="2"/>
              </a:rPr>
              <a:t>expr</a:t>
            </a:r>
            <a:r>
              <a:rPr kumimoji="0" lang="en-US" altLang="zh-CN" sz="2400">
                <a:sym typeface="Symbol" panose="05050102010706020507" pitchFamily="18" charset="2"/>
              </a:rPr>
              <a:t>) </a:t>
            </a:r>
            <a:r>
              <a:rPr kumimoji="0" lang="en-US" altLang="zh-CN" sz="2400" i="1">
                <a:sym typeface="Symbol" panose="05050102010706020507" pitchFamily="18" charset="2"/>
              </a:rPr>
              <a:t>stmt</a:t>
            </a:r>
            <a:r>
              <a:rPr kumimoji="0" lang="en-US" altLang="zh-CN" sz="2400" i="1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 {  </a:t>
            </a:r>
            <a:br>
              <a:rPr kumimoji="0" lang="en-US" altLang="zh-CN" sz="2400">
                <a:sym typeface="Symbol" panose="05050102010706020507" pitchFamily="18" charset="2"/>
              </a:rPr>
            </a:br>
            <a:r>
              <a:rPr kumimoji="0" lang="en-US" altLang="zh-CN" sz="2400">
                <a:sym typeface="Symbol" panose="05050102010706020507" pitchFamily="18" charset="2"/>
              </a:rPr>
              <a:t>	</a:t>
            </a:r>
            <a:r>
              <a:rPr kumimoji="0" lang="en-US" altLang="zh-CN" sz="2400" i="1">
                <a:sym typeface="Symbol" panose="05050102010706020507" pitchFamily="18" charset="2"/>
              </a:rPr>
              <a:t>test </a:t>
            </a:r>
            <a:r>
              <a:rPr kumimoji="0" lang="en-US" altLang="zh-CN" sz="2400">
                <a:sym typeface="Symbol" panose="05050102010706020507" pitchFamily="18" charset="2"/>
              </a:rPr>
              <a:t>= </a:t>
            </a:r>
            <a:r>
              <a:rPr kumimoji="0" lang="en-US" altLang="zh-CN" sz="2400" i="1">
                <a:sym typeface="Symbol" panose="05050102010706020507" pitchFamily="18" charset="2"/>
              </a:rPr>
              <a:t>newlabel</a:t>
            </a:r>
            <a:r>
              <a:rPr kumimoji="0" lang="en-US" altLang="zh-CN" sz="2400">
                <a:sym typeface="Symbol" panose="05050102010706020507" pitchFamily="18" charset="2"/>
              </a:rPr>
              <a:t>;</a:t>
            </a:r>
            <a:r>
              <a:rPr kumimoji="0" lang="en-US" altLang="zh-CN" sz="2400" i="1">
                <a:sym typeface="Symbol" panose="05050102010706020507" pitchFamily="18" charset="2"/>
              </a:rPr>
              <a:t> out </a:t>
            </a:r>
            <a:r>
              <a:rPr kumimoji="0" lang="en-US" altLang="zh-CN" sz="2400">
                <a:sym typeface="Symbol" panose="05050102010706020507" pitchFamily="18" charset="2"/>
              </a:rPr>
              <a:t>=</a:t>
            </a:r>
            <a:r>
              <a:rPr kumimoji="0" lang="en-US" altLang="zh-CN" sz="2400" i="1">
                <a:sym typeface="Symbol" panose="05050102010706020507" pitchFamily="18" charset="2"/>
              </a:rPr>
              <a:t> newlabel;</a:t>
            </a:r>
            <a:br>
              <a:rPr kumimoji="0" lang="en-US" altLang="zh-CN" sz="2400" i="1">
                <a:sym typeface="Symbol" panose="05050102010706020507" pitchFamily="18" charset="2"/>
              </a:rPr>
            </a:br>
            <a:r>
              <a:rPr kumimoji="0" lang="en-US" altLang="zh-CN" sz="2400" i="1">
                <a:sym typeface="Symbol" panose="05050102010706020507" pitchFamily="18" charset="2"/>
              </a:rPr>
              <a:t>	stmt.code </a:t>
            </a:r>
            <a:r>
              <a:rPr kumimoji="0" lang="en-US" altLang="zh-CN" sz="2400">
                <a:sym typeface="Symbol" panose="05050102010706020507" pitchFamily="18" charset="2"/>
              </a:rPr>
              <a:t>:=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test || </a:t>
            </a:r>
            <a:r>
              <a:rPr kumimoji="0" lang="en-US" altLang="zh-CN" sz="2400" i="1">
                <a:sym typeface="Symbol" panose="05050102010706020507" pitchFamily="18" charset="2"/>
              </a:rPr>
              <a:t>expr.code || </a:t>
            </a:r>
            <a:r>
              <a:rPr kumimoji="0" lang="en-US" altLang="zh-CN" sz="2400">
                <a:sym typeface="Symbol" panose="05050102010706020507" pitchFamily="18" charset="2"/>
              </a:rPr>
              <a:t>‘</a:t>
            </a:r>
            <a:r>
              <a:rPr kumimoji="0" lang="en-US" altLang="zh-CN" sz="2400">
                <a:latin typeface="Tahoma" panose="020B0604030504040204" pitchFamily="34" charset="0"/>
                <a:sym typeface="Symbol" panose="05050102010706020507" pitchFamily="18" charset="2"/>
              </a:rPr>
              <a:t>jz</a:t>
            </a:r>
            <a:r>
              <a:rPr kumimoji="0" lang="en-US" altLang="zh-CN" sz="2400">
                <a:sym typeface="Symbol" panose="05050102010706020507" pitchFamily="18" charset="2"/>
              </a:rPr>
              <a:t>’</a:t>
            </a:r>
            <a:r>
              <a:rPr kumimoji="0" lang="en-US" altLang="zh-CN" sz="2400" i="1">
                <a:sym typeface="Symbol" panose="05050102010706020507" pitchFamily="18" charset="2"/>
              </a:rPr>
              <a:t> out || </a:t>
            </a:r>
            <a:br>
              <a:rPr kumimoji="0" lang="en-US" altLang="zh-CN" sz="2400" i="1">
                <a:sym typeface="Symbol" panose="05050102010706020507" pitchFamily="18" charset="2"/>
              </a:rPr>
            </a:br>
            <a:r>
              <a:rPr kumimoji="0" lang="en-US" altLang="zh-CN" sz="2400" i="1">
                <a:sym typeface="Symbol" panose="05050102010706020507" pitchFamily="18" charset="2"/>
              </a:rPr>
              <a:t>		stmt</a:t>
            </a:r>
            <a:r>
              <a:rPr kumimoji="0" lang="en-US" altLang="zh-CN" sz="2400" i="1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 i="1">
                <a:sym typeface="Symbol" panose="05050102010706020507" pitchFamily="18" charset="2"/>
              </a:rPr>
              <a:t>.code || </a:t>
            </a:r>
            <a:r>
              <a:rPr kumimoji="0" lang="en-US" altLang="zh-CN" sz="2400">
                <a:sym typeface="Symbol" panose="05050102010706020507" pitchFamily="18" charset="2"/>
              </a:rPr>
              <a:t>‘</a:t>
            </a:r>
            <a:r>
              <a:rPr kumimoji="0" lang="en-US" altLang="zh-CN" sz="2400">
                <a:latin typeface="Tahoma" panose="020B0604030504040204" pitchFamily="34" charset="0"/>
                <a:sym typeface="Symbol" panose="05050102010706020507" pitchFamily="18" charset="2"/>
              </a:rPr>
              <a:t>jmp</a:t>
            </a:r>
            <a:r>
              <a:rPr kumimoji="0" lang="en-US" altLang="zh-CN" sz="2400">
                <a:sym typeface="Symbol" panose="05050102010706020507" pitchFamily="18" charset="2"/>
              </a:rPr>
              <a:t>’ </a:t>
            </a:r>
            <a:r>
              <a:rPr kumimoji="0" lang="en-US" altLang="zh-CN" sz="2400" i="1">
                <a:sym typeface="Symbol" panose="05050102010706020507" pitchFamily="18" charset="2"/>
              </a:rPr>
              <a:t>test</a:t>
            </a:r>
            <a:r>
              <a:rPr kumimoji="0" lang="en-US" altLang="zh-CN" sz="2400">
                <a:sym typeface="Symbol" panose="05050102010706020507" pitchFamily="18" charset="2"/>
              </a:rPr>
              <a:t> || </a:t>
            </a:r>
            <a:r>
              <a:rPr kumimoji="0" lang="en-US" altLang="zh-CN" sz="2400" i="1">
                <a:sym typeface="Symbol" panose="05050102010706020507" pitchFamily="18" charset="2"/>
              </a:rPr>
              <a:t>out </a:t>
            </a:r>
            <a:r>
              <a:rPr kumimoji="0" lang="en-US" altLang="zh-CN" sz="2400">
                <a:sym typeface="Symbol" panose="05050102010706020507" pitchFamily="18" charset="2"/>
              </a:rPr>
              <a:t>}</a:t>
            </a:r>
          </a:p>
        </p:txBody>
      </p:sp>
      <p:sp>
        <p:nvSpPr>
          <p:cNvPr id="110596" name="Text Box 14">
            <a:extLst>
              <a:ext uri="{FF2B5EF4-FFF2-40B4-BE49-F238E27FC236}">
                <a16:creationId xmlns:a16="http://schemas.microsoft.com/office/drawing/2014/main" id="{35265A0F-5A36-4DEC-A418-3EB89E30B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1203325"/>
            <a:ext cx="236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ea typeface="宋体" panose="02010600030101010101" pitchFamily="2" charset="-122"/>
              </a:rPr>
              <a:t>WHILE (expr) stmt</a:t>
            </a:r>
          </a:p>
        </p:txBody>
      </p:sp>
      <p:grpSp>
        <p:nvGrpSpPr>
          <p:cNvPr id="110597" name="Group 26">
            <a:extLst>
              <a:ext uri="{FF2B5EF4-FFF2-40B4-BE49-F238E27FC236}">
                <a16:creationId xmlns:a16="http://schemas.microsoft.com/office/drawing/2014/main" id="{5AB226D3-B3C3-4257-A8C8-06CCC886B181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584325"/>
            <a:ext cx="1981200" cy="2166938"/>
            <a:chOff x="2064" y="998"/>
            <a:chExt cx="1248" cy="1821"/>
          </a:xfrm>
        </p:grpSpPr>
        <p:sp>
          <p:nvSpPr>
            <p:cNvPr id="110598" name="Rectangle 13">
              <a:extLst>
                <a:ext uri="{FF2B5EF4-FFF2-40B4-BE49-F238E27FC236}">
                  <a16:creationId xmlns:a16="http://schemas.microsoft.com/office/drawing/2014/main" id="{99831A7B-3678-4339-BBC7-6ABAD285A3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998"/>
              <a:ext cx="1248" cy="17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0599" name="Text Box 15">
              <a:extLst>
                <a:ext uri="{FF2B5EF4-FFF2-40B4-BE49-F238E27FC236}">
                  <a16:creationId xmlns:a16="http://schemas.microsoft.com/office/drawing/2014/main" id="{73F10C39-9A59-4E26-8155-8A3C950294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998"/>
              <a:ext cx="1248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ea typeface="宋体" panose="02010600030101010101" pitchFamily="2" charset="-122"/>
                </a:rPr>
                <a:t>L1:</a:t>
              </a:r>
            </a:p>
          </p:txBody>
        </p:sp>
        <p:sp>
          <p:nvSpPr>
            <p:cNvPr id="110600" name="Text Box 16">
              <a:extLst>
                <a:ext uri="{FF2B5EF4-FFF2-40B4-BE49-F238E27FC236}">
                  <a16:creationId xmlns:a16="http://schemas.microsoft.com/office/drawing/2014/main" id="{87587B85-7276-4765-9FE4-F730542B36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286"/>
              <a:ext cx="1248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ea typeface="宋体" panose="02010600030101010101" pitchFamily="2" charset="-122"/>
                </a:rPr>
                <a:t>code for expr</a:t>
              </a:r>
            </a:p>
          </p:txBody>
        </p:sp>
        <p:sp>
          <p:nvSpPr>
            <p:cNvPr id="110601" name="Text Box 17">
              <a:extLst>
                <a:ext uri="{FF2B5EF4-FFF2-40B4-BE49-F238E27FC236}">
                  <a16:creationId xmlns:a16="http://schemas.microsoft.com/office/drawing/2014/main" id="{98A063FC-7E05-40FA-85DE-1FD414009C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574"/>
              <a:ext cx="1248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ea typeface="宋体" panose="02010600030101010101" pitchFamily="2" charset="-122"/>
                </a:rPr>
                <a:t>jz out</a:t>
              </a:r>
            </a:p>
          </p:txBody>
        </p:sp>
        <p:sp>
          <p:nvSpPr>
            <p:cNvPr id="110602" name="Text Box 18">
              <a:extLst>
                <a:ext uri="{FF2B5EF4-FFF2-40B4-BE49-F238E27FC236}">
                  <a16:creationId xmlns:a16="http://schemas.microsoft.com/office/drawing/2014/main" id="{FFABBFC0-B5BA-43DA-BBD6-0EB089D811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911"/>
              <a:ext cx="1248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ea typeface="宋体" panose="02010600030101010101" pitchFamily="2" charset="-122"/>
                </a:rPr>
                <a:t>code for stmt</a:t>
              </a:r>
            </a:p>
          </p:txBody>
        </p:sp>
        <p:sp>
          <p:nvSpPr>
            <p:cNvPr id="110603" name="Text Box 19">
              <a:extLst>
                <a:ext uri="{FF2B5EF4-FFF2-40B4-BE49-F238E27FC236}">
                  <a16:creationId xmlns:a16="http://schemas.microsoft.com/office/drawing/2014/main" id="{87D3FA56-01AF-4B76-B0FC-F0E1B78ACB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199"/>
              <a:ext cx="1248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ea typeface="宋体" panose="02010600030101010101" pitchFamily="2" charset="-122"/>
                </a:rPr>
                <a:t>jmp L1</a:t>
              </a:r>
            </a:p>
          </p:txBody>
        </p:sp>
        <p:sp>
          <p:nvSpPr>
            <p:cNvPr id="110604" name="Text Box 20">
              <a:extLst>
                <a:ext uri="{FF2B5EF4-FFF2-40B4-BE49-F238E27FC236}">
                  <a16:creationId xmlns:a16="http://schemas.microsoft.com/office/drawing/2014/main" id="{042A3155-2E40-4622-8099-140DF385EC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485"/>
              <a:ext cx="1248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ea typeface="宋体" panose="02010600030101010101" pitchFamily="2" charset="-122"/>
                </a:rPr>
                <a:t>out</a:t>
              </a:r>
            </a:p>
          </p:txBody>
        </p:sp>
        <p:sp>
          <p:nvSpPr>
            <p:cNvPr id="110605" name="Line 21">
              <a:extLst>
                <a:ext uri="{FF2B5EF4-FFF2-40B4-BE49-F238E27FC236}">
                  <a16:creationId xmlns:a16="http://schemas.microsoft.com/office/drawing/2014/main" id="{28A6BCC9-B660-4A86-9630-26E1BA7D45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238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06" name="Line 22">
              <a:extLst>
                <a:ext uri="{FF2B5EF4-FFF2-40B4-BE49-F238E27FC236}">
                  <a16:creationId xmlns:a16="http://schemas.microsoft.com/office/drawing/2014/main" id="{B1B3AB9F-9770-400D-BD58-C697E5A459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574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07" name="Line 23">
              <a:extLst>
                <a:ext uri="{FF2B5EF4-FFF2-40B4-BE49-F238E27FC236}">
                  <a16:creationId xmlns:a16="http://schemas.microsoft.com/office/drawing/2014/main" id="{24B2637E-D1B6-479A-9805-685C13502A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862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08" name="Line 24">
              <a:extLst>
                <a:ext uri="{FF2B5EF4-FFF2-40B4-BE49-F238E27FC236}">
                  <a16:creationId xmlns:a16="http://schemas.microsoft.com/office/drawing/2014/main" id="{C956C463-396F-49B6-8F23-B1F0405151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198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09" name="Line 25">
              <a:extLst>
                <a:ext uri="{FF2B5EF4-FFF2-40B4-BE49-F238E27FC236}">
                  <a16:creationId xmlns:a16="http://schemas.microsoft.com/office/drawing/2014/main" id="{1711654A-1D1B-46F6-811F-17309475E1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486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7" grpId="0" build="p" autoUpdateAnimBg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7C586315-7F30-4C0F-9B01-F88BCA63F5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2.8.7  </a:t>
            </a:r>
            <a:r>
              <a:rPr lang="zh-CN" altLang="en-US"/>
              <a:t>翻译模式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589EFFC2-4323-4848-917B-699FFB366C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i="1" dirty="0" err="1"/>
              <a:t>stmt</a:t>
            </a:r>
            <a:r>
              <a:rPr kumimoji="0" lang="en-US" altLang="zh-CN" sz="2400" b="1" i="1" dirty="0"/>
              <a:t> 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 if</a:t>
            </a:r>
            <a:br>
              <a:rPr kumimoji="0" lang="en-US" altLang="zh-CN" sz="2400" b="1" dirty="0">
                <a:sym typeface="Symbol" panose="05050102010706020507" pitchFamily="18" charset="2"/>
              </a:rPr>
            </a:br>
            <a:r>
              <a:rPr kumimoji="0" lang="en-US" altLang="zh-CN" sz="2400" b="1" dirty="0">
                <a:sym typeface="Symbol" panose="05050102010706020507" pitchFamily="18" charset="2"/>
              </a:rPr>
              <a:t>         </a:t>
            </a:r>
            <a:r>
              <a:rPr kumimoji="0" lang="en-US" altLang="zh-CN" sz="2400" i="1" dirty="0">
                <a:sym typeface="Symbol" panose="05050102010706020507" pitchFamily="18" charset="2"/>
              </a:rPr>
              <a:t>expr</a:t>
            </a:r>
            <a:r>
              <a:rPr kumimoji="0" lang="en-US" altLang="zh-CN" sz="2400" dirty="0">
                <a:sym typeface="Symbol" panose="05050102010706020507" pitchFamily="18" charset="2"/>
              </a:rPr>
              <a:t> {</a:t>
            </a:r>
            <a:r>
              <a:rPr kumimoji="0" lang="en-US" altLang="zh-CN" sz="2400" i="1" dirty="0">
                <a:sym typeface="Symbol" panose="05050102010706020507" pitchFamily="18" charset="2"/>
              </a:rPr>
              <a:t>out </a:t>
            </a:r>
            <a:r>
              <a:rPr kumimoji="0" lang="en-US" altLang="zh-CN" sz="2400" dirty="0">
                <a:sym typeface="Symbol" panose="05050102010706020507" pitchFamily="18" charset="2"/>
              </a:rPr>
              <a:t>:=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newlabel</a:t>
            </a:r>
            <a:r>
              <a:rPr kumimoji="0" lang="en-US" altLang="zh-CN" sz="2400" i="1" dirty="0">
                <a:sym typeface="Symbol" panose="05050102010706020507" pitchFamily="18" charset="2"/>
              </a:rPr>
              <a:t>; print</a:t>
            </a:r>
            <a:r>
              <a:rPr kumimoji="0" lang="en-US" altLang="zh-CN" sz="2400" dirty="0">
                <a:sym typeface="Symbol" panose="05050102010706020507" pitchFamily="18" charset="2"/>
              </a:rPr>
              <a:t>(‘</a:t>
            </a:r>
            <a:r>
              <a:rPr kumimoji="0" lang="en-US" altLang="zh-CN" sz="2400" dirty="0" err="1">
                <a:latin typeface="Tahoma" panose="020B0604030504040204" pitchFamily="34" charset="0"/>
                <a:sym typeface="Symbol" panose="05050102010706020507" pitchFamily="18" charset="2"/>
              </a:rPr>
              <a:t>jz</a:t>
            </a:r>
            <a:r>
              <a:rPr kumimoji="0" lang="en-US" altLang="zh-CN" sz="2400" dirty="0">
                <a:sym typeface="Symbol" panose="05050102010706020507" pitchFamily="18" charset="2"/>
              </a:rPr>
              <a:t>’, </a:t>
            </a:r>
            <a:r>
              <a:rPr kumimoji="0" lang="en-US" altLang="zh-CN" sz="2400" i="1" dirty="0">
                <a:sym typeface="Symbol" panose="05050102010706020507" pitchFamily="18" charset="2"/>
              </a:rPr>
              <a:t>out</a:t>
            </a:r>
            <a:r>
              <a:rPr kumimoji="0" lang="en-US" altLang="zh-CN" sz="2400" dirty="0">
                <a:sym typeface="Symbol" panose="05050102010706020507" pitchFamily="18" charset="2"/>
              </a:rPr>
              <a:t>);}</a:t>
            </a:r>
            <a:br>
              <a:rPr kumimoji="0" lang="en-US" altLang="zh-CN" sz="2400" i="1" dirty="0">
                <a:sym typeface="Symbol" panose="05050102010706020507" pitchFamily="18" charset="2"/>
              </a:rPr>
            </a:br>
            <a:r>
              <a:rPr kumimoji="0" lang="en-US" altLang="zh-CN" sz="2400" i="1" dirty="0">
                <a:sym typeface="Symbol" panose="05050102010706020507" pitchFamily="18" charset="2"/>
              </a:rPr>
              <a:t>         </a:t>
            </a:r>
            <a:r>
              <a:rPr kumimoji="0" lang="en-US" altLang="zh-CN" sz="2400" b="1" dirty="0">
                <a:sym typeface="Symbol" panose="05050102010706020507" pitchFamily="18" charset="2"/>
              </a:rPr>
              <a:t>then</a:t>
            </a:r>
            <a:br>
              <a:rPr kumimoji="0" lang="en-US" altLang="zh-CN" sz="2400" dirty="0">
                <a:sym typeface="Symbol" panose="05050102010706020507" pitchFamily="18" charset="2"/>
              </a:rPr>
            </a:br>
            <a:r>
              <a:rPr kumimoji="0" lang="en-US" altLang="zh-CN" sz="2400" dirty="0">
                <a:sym typeface="Symbol" panose="05050102010706020507" pitchFamily="18" charset="2"/>
              </a:rPr>
              <a:t>         </a:t>
            </a:r>
            <a:r>
              <a:rPr kumimoji="0" lang="en-US" altLang="zh-CN" sz="2400" i="1" dirty="0">
                <a:sym typeface="Symbol" panose="05050102010706020507" pitchFamily="18" charset="2"/>
              </a:rPr>
              <a:t>stmt</a:t>
            </a:r>
            <a:r>
              <a:rPr kumimoji="0" lang="en-US" altLang="zh-CN" sz="2400" i="1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{ </a:t>
            </a:r>
            <a:r>
              <a:rPr kumimoji="0" lang="en-US" altLang="zh-CN" sz="2400" i="1" dirty="0">
                <a:sym typeface="Symbol" panose="05050102010706020507" pitchFamily="18" charset="2"/>
              </a:rPr>
              <a:t>print</a:t>
            </a:r>
            <a:r>
              <a:rPr kumimoji="0" lang="en-US" altLang="zh-CN" sz="2400" dirty="0">
                <a:sym typeface="Symbol" panose="05050102010706020507" pitchFamily="18" charset="2"/>
              </a:rPr>
              <a:t>(</a:t>
            </a:r>
            <a:r>
              <a:rPr kumimoji="0" lang="en-US" altLang="zh-CN" sz="2400" i="1" dirty="0">
                <a:sym typeface="Symbol" panose="05050102010706020507" pitchFamily="18" charset="2"/>
              </a:rPr>
              <a:t>out</a:t>
            </a:r>
            <a:r>
              <a:rPr kumimoji="0" lang="en-US" altLang="zh-CN" sz="2400" dirty="0">
                <a:sym typeface="Symbol" panose="05050102010706020507" pitchFamily="18" charset="2"/>
              </a:rPr>
              <a:t>); }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kumimoji="0" lang="en-US" altLang="zh-CN" sz="24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i="1" dirty="0" err="1"/>
              <a:t>stmt</a:t>
            </a:r>
            <a:r>
              <a:rPr kumimoji="0" lang="en-US" altLang="zh-CN" sz="2400" b="1" i="1" dirty="0"/>
              <a:t> 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 while </a:t>
            </a:r>
            <a:r>
              <a:rPr kumimoji="0" lang="en-US" altLang="zh-CN" sz="2400" dirty="0">
                <a:sym typeface="Symbol" panose="05050102010706020507" pitchFamily="18" charset="2"/>
              </a:rPr>
              <a:t>{</a:t>
            </a:r>
            <a:r>
              <a:rPr kumimoji="0" lang="en-US" altLang="zh-CN" sz="2400" i="1" dirty="0">
                <a:sym typeface="Symbol" panose="05050102010706020507" pitchFamily="18" charset="2"/>
              </a:rPr>
              <a:t>test </a:t>
            </a:r>
            <a:r>
              <a:rPr kumimoji="0" lang="en-US" altLang="zh-CN" sz="2400" dirty="0">
                <a:sym typeface="Symbol" panose="05050102010706020507" pitchFamily="18" charset="2"/>
              </a:rPr>
              <a:t>:=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newlabel</a:t>
            </a:r>
            <a:r>
              <a:rPr kumimoji="0" lang="en-US" altLang="zh-CN" sz="2400" i="1" dirty="0">
                <a:sym typeface="Symbol" panose="05050102010706020507" pitchFamily="18" charset="2"/>
              </a:rPr>
              <a:t>; print</a:t>
            </a:r>
            <a:r>
              <a:rPr kumimoji="0" lang="en-US" altLang="zh-CN" sz="2400" dirty="0">
                <a:sym typeface="Symbol" panose="05050102010706020507" pitchFamily="18" charset="2"/>
              </a:rPr>
              <a:t>(</a:t>
            </a:r>
            <a:r>
              <a:rPr kumimoji="0" lang="en-US" altLang="zh-CN" sz="2400" i="1" dirty="0">
                <a:sym typeface="Symbol" panose="05050102010706020507" pitchFamily="18" charset="2"/>
              </a:rPr>
              <a:t>test</a:t>
            </a:r>
            <a:r>
              <a:rPr kumimoji="0" lang="en-US" altLang="zh-CN" sz="2400" dirty="0">
                <a:sym typeface="Symbol" panose="05050102010706020507" pitchFamily="18" charset="2"/>
              </a:rPr>
              <a:t>);}</a:t>
            </a:r>
            <a:r>
              <a:rPr kumimoji="0" lang="en-US" altLang="zh-CN" sz="2400" b="1" dirty="0">
                <a:sym typeface="Symbol" panose="05050102010706020507" pitchFamily="18" charset="2"/>
              </a:rPr>
              <a:t> </a:t>
            </a:r>
            <a:br>
              <a:rPr kumimoji="0" lang="en-US" altLang="zh-CN" sz="2400" b="1" dirty="0">
                <a:sym typeface="Symbol" panose="05050102010706020507" pitchFamily="18" charset="2"/>
              </a:rPr>
            </a:br>
            <a:r>
              <a:rPr kumimoji="0" lang="en-US" altLang="zh-CN" sz="2400" b="1" dirty="0">
                <a:sym typeface="Symbol" panose="05050102010706020507" pitchFamily="18" charset="2"/>
              </a:rPr>
              <a:t>         </a:t>
            </a:r>
            <a:r>
              <a:rPr kumimoji="0" lang="en-US" altLang="zh-CN" sz="2400" i="1" dirty="0">
                <a:sym typeface="Symbol" panose="05050102010706020507" pitchFamily="18" charset="2"/>
              </a:rPr>
              <a:t>expr </a:t>
            </a:r>
            <a:r>
              <a:rPr kumimoji="0" lang="en-US" altLang="zh-CN" sz="2400" dirty="0">
                <a:sym typeface="Symbol" panose="05050102010706020507" pitchFamily="18" charset="2"/>
              </a:rPr>
              <a:t>{</a:t>
            </a:r>
            <a:r>
              <a:rPr kumimoji="0" lang="en-US" altLang="zh-CN" sz="2400" i="1" dirty="0">
                <a:sym typeface="Symbol" panose="05050102010706020507" pitchFamily="18" charset="2"/>
              </a:rPr>
              <a:t>out </a:t>
            </a:r>
            <a:r>
              <a:rPr kumimoji="0" lang="en-US" altLang="zh-CN" sz="2400" dirty="0">
                <a:sym typeface="Symbol" panose="05050102010706020507" pitchFamily="18" charset="2"/>
              </a:rPr>
              <a:t>:=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newlabel</a:t>
            </a:r>
            <a:r>
              <a:rPr kumimoji="0" lang="en-US" altLang="zh-CN" sz="2400" i="1" dirty="0">
                <a:sym typeface="Symbol" panose="05050102010706020507" pitchFamily="18" charset="2"/>
              </a:rPr>
              <a:t>; print</a:t>
            </a:r>
            <a:r>
              <a:rPr kumimoji="0" lang="en-US" altLang="zh-CN" sz="2400" dirty="0">
                <a:sym typeface="Symbol" panose="05050102010706020507" pitchFamily="18" charset="2"/>
              </a:rPr>
              <a:t>(‘</a:t>
            </a:r>
            <a:r>
              <a:rPr kumimoji="0" lang="en-US" altLang="zh-CN" sz="2400" dirty="0" err="1">
                <a:latin typeface="Tahoma" panose="020B0604030504040204" pitchFamily="34" charset="0"/>
                <a:sym typeface="Symbol" panose="05050102010706020507" pitchFamily="18" charset="2"/>
              </a:rPr>
              <a:t>jz</a:t>
            </a:r>
            <a:r>
              <a:rPr kumimoji="0" lang="en-US" altLang="zh-CN" sz="2400" dirty="0">
                <a:sym typeface="Symbol" panose="05050102010706020507" pitchFamily="18" charset="2"/>
              </a:rPr>
              <a:t>’, </a:t>
            </a:r>
            <a:r>
              <a:rPr kumimoji="0" lang="en-US" altLang="zh-CN" sz="2400" i="1" dirty="0">
                <a:sym typeface="Symbol" panose="05050102010706020507" pitchFamily="18" charset="2"/>
              </a:rPr>
              <a:t>out</a:t>
            </a:r>
            <a:r>
              <a:rPr kumimoji="0" lang="en-US" altLang="zh-CN" sz="2400" dirty="0">
                <a:sym typeface="Symbol" panose="05050102010706020507" pitchFamily="18" charset="2"/>
              </a:rPr>
              <a:t>);} </a:t>
            </a:r>
            <a:br>
              <a:rPr kumimoji="0" lang="en-US" altLang="zh-CN" sz="2400" i="1" dirty="0">
                <a:sym typeface="Symbol" panose="05050102010706020507" pitchFamily="18" charset="2"/>
              </a:rPr>
            </a:br>
            <a:r>
              <a:rPr kumimoji="0" lang="en-US" altLang="zh-CN" sz="2400" i="1" dirty="0">
                <a:sym typeface="Symbol" panose="05050102010706020507" pitchFamily="18" charset="2"/>
              </a:rPr>
              <a:t>         </a:t>
            </a:r>
            <a:r>
              <a:rPr kumimoji="0" lang="en-US" altLang="zh-CN" sz="2400" b="1" dirty="0">
                <a:sym typeface="Symbol" panose="05050102010706020507" pitchFamily="18" charset="2"/>
              </a:rPr>
              <a:t>then</a:t>
            </a:r>
            <a:br>
              <a:rPr kumimoji="0" lang="en-US" altLang="zh-CN" sz="2400" dirty="0">
                <a:sym typeface="Symbol" panose="05050102010706020507" pitchFamily="18" charset="2"/>
              </a:rPr>
            </a:br>
            <a:r>
              <a:rPr kumimoji="0" lang="en-US" altLang="zh-CN" sz="2400" dirty="0">
                <a:sym typeface="Symbol" panose="05050102010706020507" pitchFamily="18" charset="2"/>
              </a:rPr>
              <a:t>         </a:t>
            </a:r>
            <a:r>
              <a:rPr kumimoji="0" lang="en-US" altLang="zh-CN" sz="2400" i="1" dirty="0">
                <a:sym typeface="Symbol" panose="05050102010706020507" pitchFamily="18" charset="2"/>
              </a:rPr>
              <a:t>stmt</a:t>
            </a:r>
            <a:r>
              <a:rPr kumimoji="0" lang="en-US" altLang="zh-CN" sz="2400" i="1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{ </a:t>
            </a:r>
            <a:r>
              <a:rPr kumimoji="0" lang="en-US" altLang="zh-CN" sz="2400" i="1" dirty="0">
                <a:sym typeface="Symbol" panose="05050102010706020507" pitchFamily="18" charset="2"/>
              </a:rPr>
              <a:t>print</a:t>
            </a:r>
            <a:r>
              <a:rPr kumimoji="0" lang="en-US" altLang="zh-CN" sz="2400" dirty="0">
                <a:sym typeface="Symbol" panose="05050102010706020507" pitchFamily="18" charset="2"/>
              </a:rPr>
              <a:t>(‘</a:t>
            </a:r>
            <a:r>
              <a:rPr kumimoji="0" lang="en-US" altLang="zh-CN" sz="2400" dirty="0" err="1">
                <a:latin typeface="Tahoma" panose="020B0604030504040204" pitchFamily="34" charset="0"/>
                <a:sym typeface="Symbol" panose="05050102010706020507" pitchFamily="18" charset="2"/>
              </a:rPr>
              <a:t>jmp</a:t>
            </a:r>
            <a:r>
              <a:rPr kumimoji="0" lang="en-US" altLang="zh-CN" sz="2400" dirty="0">
                <a:sym typeface="Symbol" panose="05050102010706020507" pitchFamily="18" charset="2"/>
              </a:rPr>
              <a:t>’, </a:t>
            </a:r>
            <a:r>
              <a:rPr kumimoji="0" lang="en-US" altLang="zh-CN" sz="2400" i="1" dirty="0">
                <a:sym typeface="Symbol" panose="05050102010706020507" pitchFamily="18" charset="2"/>
              </a:rPr>
              <a:t>test</a:t>
            </a:r>
            <a:r>
              <a:rPr kumimoji="0" lang="en-US" altLang="zh-CN" sz="2400" dirty="0">
                <a:sym typeface="Symbol" panose="05050102010706020507" pitchFamily="18" charset="2"/>
              </a:rPr>
              <a:t>); </a:t>
            </a:r>
            <a:r>
              <a:rPr kumimoji="0" lang="en-US" altLang="zh-CN" sz="2400" i="1" dirty="0">
                <a:sym typeface="Symbol" panose="05050102010706020507" pitchFamily="18" charset="2"/>
              </a:rPr>
              <a:t>print</a:t>
            </a:r>
            <a:r>
              <a:rPr kumimoji="0" lang="en-US" altLang="zh-CN" sz="2400" dirty="0">
                <a:sym typeface="Symbol" panose="05050102010706020507" pitchFamily="18" charset="2"/>
              </a:rPr>
              <a:t>(</a:t>
            </a:r>
            <a:r>
              <a:rPr kumimoji="0" lang="en-US" altLang="zh-CN" sz="2400" i="1" dirty="0">
                <a:sym typeface="Symbol" panose="05050102010706020507" pitchFamily="18" charset="2"/>
              </a:rPr>
              <a:t>out</a:t>
            </a:r>
            <a:r>
              <a:rPr kumimoji="0" lang="en-US" altLang="zh-CN" sz="2400" dirty="0">
                <a:sym typeface="Symbol" panose="05050102010706020507" pitchFamily="18" charset="2"/>
              </a:rPr>
              <a:t>);}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3FA4399D-D989-47F1-874B-049FB885F7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stmt</a:t>
            </a:r>
            <a:r>
              <a:rPr lang="zh-CN" altLang="en-US"/>
              <a:t>分析函数</a:t>
            </a:r>
          </a:p>
        </p:txBody>
      </p:sp>
      <p:sp>
        <p:nvSpPr>
          <p:cNvPr id="112643" name="Rectangle 4">
            <a:extLst>
              <a:ext uri="{FF2B5EF4-FFF2-40B4-BE49-F238E27FC236}">
                <a16:creationId xmlns:a16="http://schemas.microsoft.com/office/drawing/2014/main" id="{015A42B6-6DD8-49BA-BE44-0C66EE273C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/>
              <a:t>void</a:t>
            </a:r>
            <a:r>
              <a:rPr kumimoji="0" lang="en-US" altLang="zh-CN" sz="2000" dirty="0"/>
              <a:t> </a:t>
            </a:r>
            <a:r>
              <a:rPr kumimoji="0" lang="en-US" altLang="zh-CN" sz="2000" dirty="0" err="1"/>
              <a:t>stmt</a:t>
            </a:r>
            <a:r>
              <a:rPr kumimoji="0" lang="en-US" altLang="zh-CN" sz="2000" dirty="0"/>
              <a:t>()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{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</a:t>
            </a:r>
            <a:r>
              <a:rPr kumimoji="0" lang="en-US" altLang="zh-CN" sz="2000" b="1" dirty="0"/>
              <a:t>int</a:t>
            </a:r>
            <a:r>
              <a:rPr kumimoji="0" lang="en-US" altLang="zh-CN" sz="2000" dirty="0"/>
              <a:t> test, out;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</a:t>
            </a:r>
            <a:r>
              <a:rPr kumimoji="0" lang="en-US" altLang="zh-CN" sz="2000" b="1" dirty="0"/>
              <a:t>if</a:t>
            </a:r>
            <a:r>
              <a:rPr kumimoji="0" lang="en-US" altLang="zh-CN" sz="2000" dirty="0"/>
              <a:t> (lookahead == id) {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	int left = </a:t>
            </a:r>
            <a:r>
              <a:rPr kumimoji="0" lang="en-US" altLang="zh-CN" sz="2000" dirty="0" err="1"/>
              <a:t>lval</a:t>
            </a:r>
            <a:r>
              <a:rPr kumimoji="0" lang="en-US" altLang="zh-CN" sz="2000" dirty="0"/>
              <a:t>, right;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	match(id); match(‘:=’); right = expr();</a:t>
            </a:r>
          </a:p>
          <a:p>
            <a:pPr marL="342900" lvl="1" indent="-342900">
              <a:lnSpc>
                <a:spcPct val="6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2000" dirty="0"/>
              <a:t>		</a:t>
            </a:r>
            <a:r>
              <a:rPr kumimoji="0" lang="en-US" altLang="zh-CN" sz="2000" dirty="0">
                <a:solidFill>
                  <a:schemeClr val="tx1"/>
                </a:solidFill>
              </a:rPr>
              <a:t>print(‘MOV EAX, ’, right, ‘\n MOV ’, right, ‘,EAX’);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}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</a:t>
            </a:r>
            <a:r>
              <a:rPr kumimoji="0" lang="en-US" altLang="zh-CN" sz="2000" b="1" dirty="0"/>
              <a:t>else</a:t>
            </a:r>
            <a:r>
              <a:rPr kumimoji="0" lang="en-US" altLang="zh-CN" sz="2000" dirty="0"/>
              <a:t> </a:t>
            </a:r>
            <a:r>
              <a:rPr kumimoji="0" lang="en-US" altLang="zh-CN" sz="2000" b="1" dirty="0"/>
              <a:t>if</a:t>
            </a:r>
            <a:r>
              <a:rPr kumimoji="0" lang="en-US" altLang="zh-CN" sz="2000" dirty="0"/>
              <a:t> (lookahead == ‘if’) {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	match(‘if’); expr();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	out=</a:t>
            </a:r>
            <a:r>
              <a:rPr kumimoji="0" lang="en-US" altLang="zh-CN" sz="2000" dirty="0" err="1"/>
              <a:t>newlabel</a:t>
            </a:r>
            <a:r>
              <a:rPr kumimoji="0" lang="en-US" altLang="zh-CN" sz="2000" dirty="0"/>
              <a:t>; print(‘</a:t>
            </a:r>
            <a:r>
              <a:rPr kumimoji="0" lang="en-US" altLang="zh-CN" sz="2000" dirty="0" err="1"/>
              <a:t>jz</a:t>
            </a:r>
            <a:r>
              <a:rPr kumimoji="0" lang="en-US" altLang="zh-CN" sz="2000" dirty="0"/>
              <a:t>’, out);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	match(‘then’); </a:t>
            </a:r>
            <a:r>
              <a:rPr kumimoji="0" lang="en-US" altLang="zh-CN" sz="2000" dirty="0" err="1"/>
              <a:t>stmt</a:t>
            </a:r>
            <a:r>
              <a:rPr kumimoji="0" lang="en-US" altLang="zh-CN" sz="2000" dirty="0"/>
              <a:t>(); print(out);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}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</a:t>
            </a:r>
            <a:r>
              <a:rPr kumimoji="0" lang="en-US" altLang="zh-CN" sz="2000" b="1" dirty="0"/>
              <a:t>else</a:t>
            </a:r>
            <a:r>
              <a:rPr kumimoji="0" lang="en-US" altLang="zh-CN" sz="2000" dirty="0"/>
              <a:t> error();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}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9B071CC7-7ACB-40FC-B93D-7A765B998B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2.9 </a:t>
            </a:r>
            <a:r>
              <a:rPr lang="zh-CN" altLang="en-US"/>
              <a:t>完整的编译器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F6AFEEAC-C514-459D-B6FF-934410E47E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609600"/>
          </a:xfrm>
        </p:spPr>
        <p:txBody>
          <a:bodyPr/>
          <a:lstStyle/>
          <a:p>
            <a:pPr eaLnBrk="1" hangingPunct="1"/>
            <a:r>
              <a:rPr lang="zh-CN" altLang="en-US"/>
              <a:t>结合前几节介绍的技术</a:t>
            </a:r>
          </a:p>
        </p:txBody>
      </p:sp>
      <p:pic>
        <p:nvPicPr>
          <p:cNvPr id="123908" name="Picture 4" descr="compiler">
            <a:extLst>
              <a:ext uri="{FF2B5EF4-FFF2-40B4-BE49-F238E27FC236}">
                <a16:creationId xmlns:a16="http://schemas.microsoft.com/office/drawing/2014/main" id="{C6E960FC-DCA5-4A11-9149-566A3F4A7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8688" y="1905000"/>
            <a:ext cx="4278312" cy="353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075D6D17-51E0-45E7-ADAC-3FEE57F9AB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完整的文法</a:t>
            </a: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E919ABD6-63AE-482B-BAE2-D2D6F00686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 i="1"/>
              <a:t>start </a:t>
            </a:r>
            <a:r>
              <a:rPr kumimoji="0" lang="en-US" altLang="zh-CN" sz="2400">
                <a:sym typeface="Symbol" panose="05050102010706020507" pitchFamily="18" charset="2"/>
              </a:rPr>
              <a:t></a:t>
            </a:r>
            <a:r>
              <a:rPr kumimoji="0" lang="en-US" altLang="zh-CN" sz="2400" i="1"/>
              <a:t> list </a:t>
            </a:r>
            <a:r>
              <a:rPr kumimoji="0" lang="en-US" altLang="zh-CN" sz="2400" b="1"/>
              <a:t>eof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 i="1"/>
              <a:t>list 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 i="1">
                <a:sym typeface="Symbol" panose="05050102010706020507" pitchFamily="18" charset="2"/>
              </a:rPr>
              <a:t>expr ; list |</a:t>
            </a:r>
            <a:r>
              <a:rPr lang="en-US" altLang="zh-CN" sz="2400">
                <a:sym typeface="Symbol" panose="05050102010706020507" pitchFamily="18" charset="2"/>
              </a:rPr>
              <a:t>ε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 i="1"/>
              <a:t>expr 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 i="1">
                <a:sym typeface="Symbol" panose="05050102010706020507" pitchFamily="18" charset="2"/>
              </a:rPr>
              <a:t>term moreterms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moreterms </a:t>
            </a:r>
            <a:r>
              <a:rPr kumimoji="0" lang="en-US" altLang="zh-CN" sz="2400">
                <a:sym typeface="Symbol" panose="05050102010706020507" pitchFamily="18" charset="2"/>
              </a:rPr>
              <a:t>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+</a:t>
            </a:r>
            <a:r>
              <a:rPr kumimoji="0" lang="en-US" altLang="zh-CN" sz="2400" i="1">
                <a:sym typeface="Symbol" panose="05050102010706020507" pitchFamily="18" charset="2"/>
              </a:rPr>
              <a:t> term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 print</a:t>
            </a:r>
            <a:r>
              <a:rPr kumimoji="0" lang="en-US" altLang="zh-CN" sz="2400">
                <a:sym typeface="Symbol" panose="05050102010706020507" pitchFamily="18" charset="2"/>
              </a:rPr>
              <a:t>(‘+’) }</a:t>
            </a:r>
            <a:r>
              <a:rPr kumimoji="0" lang="en-US" altLang="zh-CN" sz="2400" i="1">
                <a:sym typeface="Symbol" panose="05050102010706020507" pitchFamily="18" charset="2"/>
              </a:rPr>
              <a:t> moreterms</a:t>
            </a:r>
            <a:br>
              <a:rPr kumimoji="0" lang="en-US" altLang="zh-CN" sz="2400" i="1">
                <a:sym typeface="Symbol" panose="05050102010706020507" pitchFamily="18" charset="2"/>
              </a:rPr>
            </a:br>
            <a:r>
              <a:rPr kumimoji="0" lang="en-US" altLang="zh-CN" sz="2400" i="1">
                <a:sym typeface="Symbol" panose="05050102010706020507" pitchFamily="18" charset="2"/>
              </a:rPr>
              <a:t>		|  - term </a:t>
            </a:r>
            <a:r>
              <a:rPr kumimoji="0" lang="en-US" altLang="zh-CN" sz="2400">
                <a:sym typeface="Symbol" panose="05050102010706020507" pitchFamily="18" charset="2"/>
              </a:rPr>
              <a:t>{ </a:t>
            </a:r>
            <a:r>
              <a:rPr kumimoji="0" lang="en-US" altLang="zh-CN" sz="2400" i="1">
                <a:sym typeface="Symbol" panose="05050102010706020507" pitchFamily="18" charset="2"/>
              </a:rPr>
              <a:t>print</a:t>
            </a:r>
            <a:r>
              <a:rPr kumimoji="0" lang="en-US" altLang="zh-CN" sz="2400">
                <a:sym typeface="Symbol" panose="05050102010706020507" pitchFamily="18" charset="2"/>
              </a:rPr>
              <a:t>(‘-’) } </a:t>
            </a:r>
            <a:r>
              <a:rPr kumimoji="0" lang="en-US" altLang="zh-CN" sz="2400" i="1">
                <a:sym typeface="Symbol" panose="05050102010706020507" pitchFamily="18" charset="2"/>
              </a:rPr>
              <a:t>moreterms |</a:t>
            </a:r>
            <a:r>
              <a:rPr lang="en-US" altLang="zh-CN" sz="2400">
                <a:sym typeface="Symbol" panose="05050102010706020507" pitchFamily="18" charset="2"/>
              </a:rPr>
              <a:t>ε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i="1">
                <a:sym typeface="Symbol" panose="05050102010706020507" pitchFamily="18" charset="2"/>
              </a:rPr>
              <a:t>term </a:t>
            </a:r>
            <a:r>
              <a:rPr kumimoji="0" lang="en-US" altLang="zh-CN" sz="2400">
                <a:sym typeface="Symbol" panose="05050102010706020507" pitchFamily="18" charset="2"/>
              </a:rPr>
              <a:t></a:t>
            </a:r>
            <a:r>
              <a:rPr kumimoji="0" lang="en-US" altLang="zh-CN" sz="2400" i="1">
                <a:sym typeface="Symbol" panose="05050102010706020507" pitchFamily="18" charset="2"/>
              </a:rPr>
              <a:t> factor morefactors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morefactors </a:t>
            </a:r>
            <a:r>
              <a:rPr kumimoji="0" lang="en-US" altLang="zh-CN" sz="2400">
                <a:sym typeface="Symbol" panose="05050102010706020507" pitchFamily="18" charset="2"/>
              </a:rPr>
              <a:t>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* </a:t>
            </a:r>
            <a:r>
              <a:rPr kumimoji="0" lang="en-US" altLang="zh-CN" sz="2400" i="1">
                <a:sym typeface="Symbol" panose="05050102010706020507" pitchFamily="18" charset="2"/>
              </a:rPr>
              <a:t>factor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 print</a:t>
            </a:r>
            <a:r>
              <a:rPr kumimoji="0" lang="en-US" altLang="zh-CN" sz="2400">
                <a:sym typeface="Symbol" panose="05050102010706020507" pitchFamily="18" charset="2"/>
              </a:rPr>
              <a:t>(‘*’) } </a:t>
            </a:r>
            <a:r>
              <a:rPr kumimoji="0" lang="en-US" altLang="zh-CN" sz="2400" i="1">
                <a:sym typeface="Symbol" panose="05050102010706020507" pitchFamily="18" charset="2"/>
              </a:rPr>
              <a:t>morefactors</a:t>
            </a:r>
            <a:br>
              <a:rPr kumimoji="0" lang="en-US" altLang="zh-CN" sz="2400" i="1">
                <a:sym typeface="Symbol" panose="05050102010706020507" pitchFamily="18" charset="2"/>
              </a:rPr>
            </a:br>
            <a:r>
              <a:rPr kumimoji="0" lang="en-US" altLang="zh-CN" sz="2400" i="1">
                <a:sym typeface="Symbol" panose="05050102010706020507" pitchFamily="18" charset="2"/>
              </a:rPr>
              <a:t>	           | /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 i="1">
                <a:sym typeface="Symbol" panose="05050102010706020507" pitchFamily="18" charset="2"/>
              </a:rPr>
              <a:t>factor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 print</a:t>
            </a:r>
            <a:r>
              <a:rPr kumimoji="0" lang="en-US" altLang="zh-CN" sz="2400">
                <a:sym typeface="Symbol" panose="05050102010706020507" pitchFamily="18" charset="2"/>
              </a:rPr>
              <a:t>(‘/’) } </a:t>
            </a:r>
            <a:r>
              <a:rPr kumimoji="0" lang="en-US" altLang="zh-CN" sz="2400" i="1">
                <a:sym typeface="Symbol" panose="05050102010706020507" pitchFamily="18" charset="2"/>
              </a:rPr>
              <a:t>morefactors</a:t>
            </a:r>
            <a:br>
              <a:rPr kumimoji="0" lang="en-US" altLang="zh-CN" sz="2400" i="1">
                <a:sym typeface="Symbol" panose="05050102010706020507" pitchFamily="18" charset="2"/>
              </a:rPr>
            </a:br>
            <a:r>
              <a:rPr kumimoji="0" lang="en-US" altLang="zh-CN" sz="2400" i="1">
                <a:sym typeface="Symbol" panose="05050102010706020507" pitchFamily="18" charset="2"/>
              </a:rPr>
              <a:t>	           | </a:t>
            </a:r>
            <a:r>
              <a:rPr kumimoji="0" lang="en-US" altLang="zh-CN" sz="2400" b="1">
                <a:sym typeface="Symbol" panose="05050102010706020507" pitchFamily="18" charset="2"/>
              </a:rPr>
              <a:t>div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 i="1">
                <a:sym typeface="Symbol" panose="05050102010706020507" pitchFamily="18" charset="2"/>
              </a:rPr>
              <a:t>factor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 print</a:t>
            </a:r>
            <a:r>
              <a:rPr kumimoji="0" lang="en-US" altLang="zh-CN" sz="2400">
                <a:sym typeface="Symbol" panose="05050102010706020507" pitchFamily="18" charset="2"/>
              </a:rPr>
              <a:t>(‘DIV’) } </a:t>
            </a:r>
            <a:r>
              <a:rPr kumimoji="0" lang="en-US" altLang="zh-CN" sz="2400" i="1">
                <a:sym typeface="Symbol" panose="05050102010706020507" pitchFamily="18" charset="2"/>
              </a:rPr>
              <a:t>morefactors</a:t>
            </a:r>
            <a:br>
              <a:rPr kumimoji="0" lang="en-US" altLang="zh-CN" sz="2400" i="1">
                <a:sym typeface="Symbol" panose="05050102010706020507" pitchFamily="18" charset="2"/>
              </a:rPr>
            </a:br>
            <a:r>
              <a:rPr kumimoji="0" lang="en-US" altLang="zh-CN" sz="2400" i="1">
                <a:sym typeface="Symbol" panose="05050102010706020507" pitchFamily="18" charset="2"/>
              </a:rPr>
              <a:t>	           | </a:t>
            </a:r>
            <a:r>
              <a:rPr kumimoji="0" lang="en-US" altLang="zh-CN" sz="2400" b="1">
                <a:sym typeface="Symbol" panose="05050102010706020507" pitchFamily="18" charset="2"/>
              </a:rPr>
              <a:t>mod </a:t>
            </a:r>
            <a:r>
              <a:rPr kumimoji="0" lang="en-US" altLang="zh-CN" sz="2400" i="1">
                <a:sym typeface="Symbol" panose="05050102010706020507" pitchFamily="18" charset="2"/>
              </a:rPr>
              <a:t>factor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 print</a:t>
            </a:r>
            <a:r>
              <a:rPr kumimoji="0" lang="en-US" altLang="zh-CN" sz="2400">
                <a:sym typeface="Symbol" panose="05050102010706020507" pitchFamily="18" charset="2"/>
              </a:rPr>
              <a:t>(‘MOD’) } </a:t>
            </a:r>
            <a:r>
              <a:rPr kumimoji="0" lang="en-US" altLang="zh-CN" sz="2400" i="1">
                <a:sym typeface="Symbol" panose="05050102010706020507" pitchFamily="18" charset="2"/>
              </a:rPr>
              <a:t>morefactors |</a:t>
            </a:r>
            <a:r>
              <a:rPr lang="en-US" altLang="zh-CN" sz="2400">
                <a:sym typeface="Symbol" panose="05050102010706020507" pitchFamily="18" charset="2"/>
              </a:rPr>
              <a:t>ε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factor </a:t>
            </a:r>
            <a:r>
              <a:rPr kumimoji="0" lang="en-US" altLang="zh-CN" sz="2400">
                <a:sym typeface="Symbol" panose="05050102010706020507" pitchFamily="18" charset="2"/>
              </a:rPr>
              <a:t> ( </a:t>
            </a:r>
            <a:r>
              <a:rPr kumimoji="0" lang="en-US" altLang="zh-CN" sz="2400" i="1">
                <a:sym typeface="Symbol" panose="05050102010706020507" pitchFamily="18" charset="2"/>
              </a:rPr>
              <a:t>expr 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br>
              <a:rPr kumimoji="0" lang="en-US" altLang="zh-CN" sz="2400">
                <a:sym typeface="Symbol" panose="05050102010706020507" pitchFamily="18" charset="2"/>
              </a:rPr>
            </a:br>
            <a:r>
              <a:rPr kumimoji="0" lang="en-US" altLang="zh-CN" sz="2400">
                <a:sym typeface="Symbol" panose="05050102010706020507" pitchFamily="18" charset="2"/>
              </a:rPr>
              <a:t>	| </a:t>
            </a:r>
            <a:r>
              <a:rPr kumimoji="0" lang="en-US" altLang="zh-CN" sz="2400" b="1">
                <a:sym typeface="Symbol" panose="05050102010706020507" pitchFamily="18" charset="2"/>
              </a:rPr>
              <a:t>id </a:t>
            </a:r>
            <a:r>
              <a:rPr kumimoji="0" lang="en-US" altLang="zh-CN" sz="2400">
                <a:sym typeface="Symbol" panose="05050102010706020507" pitchFamily="18" charset="2"/>
              </a:rPr>
              <a:t>{ </a:t>
            </a:r>
            <a:r>
              <a:rPr kumimoji="0" lang="en-US" altLang="zh-CN" sz="2400" i="1">
                <a:sym typeface="Symbol" panose="05050102010706020507" pitchFamily="18" charset="2"/>
              </a:rPr>
              <a:t>print</a:t>
            </a:r>
            <a:r>
              <a:rPr kumimoji="0" lang="en-US" altLang="zh-CN" sz="2400"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.lexeme) }</a:t>
            </a:r>
            <a:br>
              <a:rPr kumimoji="0" lang="en-US" altLang="zh-CN" sz="2400">
                <a:sym typeface="Symbol" panose="05050102010706020507" pitchFamily="18" charset="2"/>
              </a:rPr>
            </a:br>
            <a:r>
              <a:rPr kumimoji="0" lang="en-US" altLang="zh-CN" sz="2400">
                <a:sym typeface="Symbol" panose="05050102010706020507" pitchFamily="18" charset="2"/>
              </a:rPr>
              <a:t>	| </a:t>
            </a:r>
            <a:r>
              <a:rPr kumimoji="0" lang="en-US" altLang="zh-CN" sz="2400" b="1">
                <a:sym typeface="Symbol" panose="05050102010706020507" pitchFamily="18" charset="2"/>
              </a:rPr>
              <a:t>num </a:t>
            </a:r>
            <a:r>
              <a:rPr kumimoji="0" lang="en-US" altLang="zh-CN" sz="2400">
                <a:sym typeface="Symbol" panose="05050102010706020507" pitchFamily="18" charset="2"/>
              </a:rPr>
              <a:t>{ </a:t>
            </a:r>
            <a:r>
              <a:rPr kumimoji="0" lang="en-US" altLang="zh-CN" sz="2400" i="1">
                <a:sym typeface="Symbol" panose="05050102010706020507" pitchFamily="18" charset="2"/>
              </a:rPr>
              <a:t>print</a:t>
            </a:r>
            <a:r>
              <a:rPr kumimoji="0" lang="en-US" altLang="zh-CN" sz="2400"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num</a:t>
            </a:r>
            <a:r>
              <a:rPr kumimoji="0" lang="en-US" altLang="zh-CN" sz="2400">
                <a:sym typeface="Symbol" panose="05050102010706020507" pitchFamily="18" charset="2"/>
              </a:rPr>
              <a:t>.value) }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52ED67BE-3D3B-4E88-A41E-9BEB1E1D0C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总结</a:t>
            </a: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619AA26B-631E-434F-BFE8-2880D7BE0F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本章概览了整个编译过程</a:t>
            </a:r>
          </a:p>
          <a:p>
            <a:pPr eaLnBrk="1" hangingPunct="1"/>
            <a:r>
              <a:rPr lang="zh-CN" altLang="en-US"/>
              <a:t>介绍了</a:t>
            </a:r>
            <a:r>
              <a:rPr lang="zh-CN" altLang="en-US">
                <a:solidFill>
                  <a:srgbClr val="FF3300"/>
                </a:solidFill>
              </a:rPr>
              <a:t>上下文无关文法</a:t>
            </a:r>
            <a:r>
              <a:rPr lang="zh-CN" altLang="en-US"/>
              <a:t>（</a:t>
            </a:r>
            <a:r>
              <a:rPr lang="en-US" altLang="zh-CN"/>
              <a:t>CFG</a:t>
            </a:r>
            <a:r>
              <a:rPr lang="zh-CN" altLang="en-US"/>
              <a:t>），展示了它与编译理论的关系</a:t>
            </a:r>
          </a:p>
          <a:p>
            <a:pPr eaLnBrk="1" hangingPunct="1"/>
            <a:r>
              <a:rPr lang="zh-CN" altLang="en-US"/>
              <a:t>介绍了如何利用语法分析树，辅助</a:t>
            </a:r>
            <a:r>
              <a:rPr lang="zh-CN" altLang="en-US">
                <a:solidFill>
                  <a:srgbClr val="FF3300"/>
                </a:solidFill>
              </a:rPr>
              <a:t>分析</a:t>
            </a:r>
            <a:r>
              <a:rPr lang="zh-CN" altLang="en-US"/>
              <a:t>和</a:t>
            </a:r>
            <a:r>
              <a:rPr lang="zh-CN" altLang="en-US">
                <a:solidFill>
                  <a:srgbClr val="3333CC"/>
                </a:solidFill>
              </a:rPr>
              <a:t>翻译</a:t>
            </a:r>
          </a:p>
          <a:p>
            <a:pPr eaLnBrk="1" hangingPunct="1"/>
            <a:r>
              <a:rPr lang="zh-CN" altLang="en-US"/>
              <a:t>后续章节依次介绍编译各个阶段涉及的原理、技术</a:t>
            </a:r>
          </a:p>
          <a:p>
            <a:pPr eaLnBrk="1" hangingPunct="1"/>
            <a:r>
              <a:rPr lang="zh-CN" altLang="en-US"/>
              <a:t>首先是</a:t>
            </a:r>
            <a:r>
              <a:rPr lang="zh-CN" altLang="en-US">
                <a:solidFill>
                  <a:srgbClr val="3333CC"/>
                </a:solidFill>
              </a:rPr>
              <a:t>词法分析</a:t>
            </a:r>
            <a:r>
              <a:rPr lang="zh-CN" altLang="en-US"/>
              <a:t>：</a:t>
            </a:r>
            <a:r>
              <a:rPr lang="zh-CN" altLang="en-US">
                <a:solidFill>
                  <a:srgbClr val="FF3300"/>
                </a:solidFill>
              </a:rPr>
              <a:t>正规式</a:t>
            </a:r>
            <a:r>
              <a:rPr lang="zh-CN" altLang="en-US"/>
              <a:t>、</a:t>
            </a:r>
            <a:r>
              <a:rPr lang="zh-CN" altLang="en-US">
                <a:solidFill>
                  <a:srgbClr val="FF3300"/>
                </a:solidFill>
              </a:rPr>
              <a:t>有限自动机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文本框 5">
            <a:extLst>
              <a:ext uri="{FF2B5EF4-FFF2-40B4-BE49-F238E27FC236}">
                <a16:creationId xmlns:a16="http://schemas.microsoft.com/office/drawing/2014/main" id="{898A8A0B-1503-449D-AFA8-54A0ACA62445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ea typeface="隶书" panose="02010509060101010101" pitchFamily="49" charset="-122"/>
              </a:rPr>
              <a:t>C++</a:t>
            </a:r>
            <a:r>
              <a:rPr lang="zh-CN" altLang="zh-CN" sz="2800">
                <a:ea typeface="隶书" panose="02010509060101010101" pitchFamily="49" charset="-122"/>
              </a:rPr>
              <a:t>编译器检查相容类型计算是否合规是在</a:t>
            </a:r>
            <a:br>
              <a:rPr lang="en-US" altLang="zh-CN" sz="2800">
                <a:ea typeface="隶书" panose="02010509060101010101" pitchFamily="49" charset="-122"/>
              </a:rPr>
            </a:br>
            <a:r>
              <a:rPr lang="en-US" altLang="zh-CN" sz="2800" u="sng">
                <a:ea typeface="隶书" panose="02010509060101010101" pitchFamily="49" charset="-122"/>
              </a:rPr>
              <a:t>          </a:t>
            </a:r>
            <a:r>
              <a:rPr lang="zh-CN" altLang="zh-CN" sz="2800">
                <a:ea typeface="隶书" panose="02010509060101010101" pitchFamily="49" charset="-122"/>
              </a:rPr>
              <a:t>阶段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0355" name="文本框 6">
            <a:extLst>
              <a:ext uri="{FF2B5EF4-FFF2-40B4-BE49-F238E27FC236}">
                <a16:creationId xmlns:a16="http://schemas.microsoft.com/office/drawing/2014/main" id="{E0481A6C-1D8E-46F2-A2AD-3E006570E521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>
                <a:ea typeface="隶书" panose="02010509060101010101" pitchFamily="49" charset="-122"/>
              </a:rPr>
              <a:t>词法分析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0356" name="文本框 7">
            <a:extLst>
              <a:ext uri="{FF2B5EF4-FFF2-40B4-BE49-F238E27FC236}">
                <a16:creationId xmlns:a16="http://schemas.microsoft.com/office/drawing/2014/main" id="{A980E2FB-9FBC-4051-9057-5960A97990B4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>
                <a:ea typeface="隶书" panose="02010509060101010101" pitchFamily="49" charset="-122"/>
              </a:rPr>
              <a:t>语法分析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0357" name="文本框 8">
            <a:extLst>
              <a:ext uri="{FF2B5EF4-FFF2-40B4-BE49-F238E27FC236}">
                <a16:creationId xmlns:a16="http://schemas.microsoft.com/office/drawing/2014/main" id="{27AC9449-E713-4C5A-B1B1-7535FB657BAE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>
                <a:ea typeface="隶书" panose="02010509060101010101" pitchFamily="49" charset="-122"/>
              </a:rPr>
              <a:t>语义分析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0358" name="文本框 9">
            <a:extLst>
              <a:ext uri="{FF2B5EF4-FFF2-40B4-BE49-F238E27FC236}">
                <a16:creationId xmlns:a16="http://schemas.microsoft.com/office/drawing/2014/main" id="{0E61D71E-230D-43E8-B20C-A80DCD83A223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>
                <a:ea typeface="隶书" panose="02010509060101010101" pitchFamily="49" charset="-122"/>
              </a:rPr>
              <a:t>代码生成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0359" name="椭圆 10">
            <a:extLst>
              <a:ext uri="{FF2B5EF4-FFF2-40B4-BE49-F238E27FC236}">
                <a16:creationId xmlns:a16="http://schemas.microsoft.com/office/drawing/2014/main" id="{13225F06-5A44-4127-82BF-D2C3398AD8B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0360" name="椭圆 11">
            <a:extLst>
              <a:ext uri="{FF2B5EF4-FFF2-40B4-BE49-F238E27FC236}">
                <a16:creationId xmlns:a16="http://schemas.microsoft.com/office/drawing/2014/main" id="{CD21D5DF-A61B-4516-B90E-78FCC5AD56A9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0361" name="椭圆 12">
            <a:extLst>
              <a:ext uri="{FF2B5EF4-FFF2-40B4-BE49-F238E27FC236}">
                <a16:creationId xmlns:a16="http://schemas.microsoft.com/office/drawing/2014/main" id="{126B1CC7-041F-4534-9B06-777FB62300A2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0362" name="椭圆 13">
            <a:extLst>
              <a:ext uri="{FF2B5EF4-FFF2-40B4-BE49-F238E27FC236}">
                <a16:creationId xmlns:a16="http://schemas.microsoft.com/office/drawing/2014/main" id="{29C4C0AF-1F74-4A98-97FF-5DFEB7217703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0363" name="矩形: 圆角 14">
            <a:extLst>
              <a:ext uri="{FF2B5EF4-FFF2-40B4-BE49-F238E27FC236}">
                <a16:creationId xmlns:a16="http://schemas.microsoft.com/office/drawing/2014/main" id="{F3462063-4C6C-45C7-A42A-01EB07EE2561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00364" name="组合 19">
            <a:extLst>
              <a:ext uri="{FF2B5EF4-FFF2-40B4-BE49-F238E27FC236}">
                <a16:creationId xmlns:a16="http://schemas.microsoft.com/office/drawing/2014/main" id="{47A01C4C-4708-4FEC-A48D-309CAF1764D8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00366" name="TitleBackground">
              <a:extLst>
                <a:ext uri="{FF2B5EF4-FFF2-40B4-BE49-F238E27FC236}">
                  <a16:creationId xmlns:a16="http://schemas.microsoft.com/office/drawing/2014/main" id="{C3C8218E-A961-4634-8B51-6A9AF629851B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0367" name="ColorBlock">
              <a:extLst>
                <a:ext uri="{FF2B5EF4-FFF2-40B4-BE49-F238E27FC236}">
                  <a16:creationId xmlns:a16="http://schemas.microsoft.com/office/drawing/2014/main" id="{FF9E9E21-3234-415A-B094-463D7CF3188F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0368" name="TypeText">
              <a:extLst>
                <a:ext uri="{FF2B5EF4-FFF2-40B4-BE49-F238E27FC236}">
                  <a16:creationId xmlns:a16="http://schemas.microsoft.com/office/drawing/2014/main" id="{F3F9D189-3B88-4C08-8804-A6A0CA1EB7CE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00369" name="TipText">
              <a:extLst>
                <a:ext uri="{FF2B5EF4-FFF2-40B4-BE49-F238E27FC236}">
                  <a16:creationId xmlns:a16="http://schemas.microsoft.com/office/drawing/2014/main" id="{19CF222A-DB7D-4023-A5A4-6EF2F1FA0BD2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00365" name="图片 4">
            <a:extLst>
              <a:ext uri="{FF2B5EF4-FFF2-40B4-BE49-F238E27FC236}">
                <a16:creationId xmlns:a16="http://schemas.microsoft.com/office/drawing/2014/main" id="{F44FC260-554F-461C-8F7E-9E9C856A625D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6884393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文本框 3">
            <a:extLst>
              <a:ext uri="{FF2B5EF4-FFF2-40B4-BE49-F238E27FC236}">
                <a16:creationId xmlns:a16="http://schemas.microsoft.com/office/drawing/2014/main" id="{38D99529-0EE2-42EC-B11F-09F7AA8E6827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>
                <a:ea typeface="隶书" panose="02010509060101010101" pitchFamily="49" charset="-122"/>
              </a:rPr>
              <a:t>编译器识别出标识符是在</a:t>
            </a:r>
            <a:r>
              <a:rPr lang="en-US" altLang="zh-CN" sz="2800" u="sng">
                <a:ea typeface="隶书" panose="02010509060101010101" pitchFamily="49" charset="-122"/>
              </a:rPr>
              <a:t>          </a:t>
            </a:r>
            <a:r>
              <a:rPr lang="zh-CN" altLang="zh-CN" sz="2800">
                <a:ea typeface="隶书" panose="02010509060101010101" pitchFamily="49" charset="-122"/>
              </a:rPr>
              <a:t>阶段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2403" name="文本框 4">
            <a:extLst>
              <a:ext uri="{FF2B5EF4-FFF2-40B4-BE49-F238E27FC236}">
                <a16:creationId xmlns:a16="http://schemas.microsoft.com/office/drawing/2014/main" id="{A676E6A3-B2ED-4C46-AF71-36F44FF0BC4C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词法分析</a:t>
            </a:r>
          </a:p>
        </p:txBody>
      </p:sp>
      <p:sp>
        <p:nvSpPr>
          <p:cNvPr id="102404" name="文本框 5">
            <a:extLst>
              <a:ext uri="{FF2B5EF4-FFF2-40B4-BE49-F238E27FC236}">
                <a16:creationId xmlns:a16="http://schemas.microsoft.com/office/drawing/2014/main" id="{CCEEC31B-1A3E-4427-90F3-B934BB3F13DC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语法分析</a:t>
            </a:r>
          </a:p>
        </p:txBody>
      </p:sp>
      <p:sp>
        <p:nvSpPr>
          <p:cNvPr id="102405" name="文本框 6">
            <a:extLst>
              <a:ext uri="{FF2B5EF4-FFF2-40B4-BE49-F238E27FC236}">
                <a16:creationId xmlns:a16="http://schemas.microsoft.com/office/drawing/2014/main" id="{344FADCF-7309-4357-B3F5-EAF283A66A14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语义分析</a:t>
            </a:r>
          </a:p>
        </p:txBody>
      </p:sp>
      <p:sp>
        <p:nvSpPr>
          <p:cNvPr id="102406" name="文本框 7">
            <a:extLst>
              <a:ext uri="{FF2B5EF4-FFF2-40B4-BE49-F238E27FC236}">
                <a16:creationId xmlns:a16="http://schemas.microsoft.com/office/drawing/2014/main" id="{E5FF04A7-24A3-4764-9A0C-4C181EC340F7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代码生成</a:t>
            </a:r>
          </a:p>
        </p:txBody>
      </p:sp>
      <p:sp>
        <p:nvSpPr>
          <p:cNvPr id="102407" name="椭圆 8">
            <a:extLst>
              <a:ext uri="{FF2B5EF4-FFF2-40B4-BE49-F238E27FC236}">
                <a16:creationId xmlns:a16="http://schemas.microsoft.com/office/drawing/2014/main" id="{1C6BEB4C-5270-4A28-BDD3-C8B5CC992FD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2408" name="椭圆 9">
            <a:extLst>
              <a:ext uri="{FF2B5EF4-FFF2-40B4-BE49-F238E27FC236}">
                <a16:creationId xmlns:a16="http://schemas.microsoft.com/office/drawing/2014/main" id="{0A402402-D7A9-4AA3-9733-91F6F0F8AC2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2409" name="椭圆 10">
            <a:extLst>
              <a:ext uri="{FF2B5EF4-FFF2-40B4-BE49-F238E27FC236}">
                <a16:creationId xmlns:a16="http://schemas.microsoft.com/office/drawing/2014/main" id="{C18DB1BF-8C3A-4AA1-88BF-6E3CDB072A7F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2410" name="椭圆 11">
            <a:extLst>
              <a:ext uri="{FF2B5EF4-FFF2-40B4-BE49-F238E27FC236}">
                <a16:creationId xmlns:a16="http://schemas.microsoft.com/office/drawing/2014/main" id="{63806DE2-AAF8-4FE9-B24F-4D178320502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2411" name="矩形: 圆角 12">
            <a:extLst>
              <a:ext uri="{FF2B5EF4-FFF2-40B4-BE49-F238E27FC236}">
                <a16:creationId xmlns:a16="http://schemas.microsoft.com/office/drawing/2014/main" id="{5188A7E1-9810-49B1-ACCC-AA05073F9791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02412" name="组合 17">
            <a:extLst>
              <a:ext uri="{FF2B5EF4-FFF2-40B4-BE49-F238E27FC236}">
                <a16:creationId xmlns:a16="http://schemas.microsoft.com/office/drawing/2014/main" id="{686232E9-611C-48D1-80ED-2A84D2998CFB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02414" name="TitleBackground">
              <a:extLst>
                <a:ext uri="{FF2B5EF4-FFF2-40B4-BE49-F238E27FC236}">
                  <a16:creationId xmlns:a16="http://schemas.microsoft.com/office/drawing/2014/main" id="{217E120B-A881-498B-9899-49AB2C7BE4B2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2415" name="ColorBlock">
              <a:extLst>
                <a:ext uri="{FF2B5EF4-FFF2-40B4-BE49-F238E27FC236}">
                  <a16:creationId xmlns:a16="http://schemas.microsoft.com/office/drawing/2014/main" id="{BF36D389-3904-499D-87B4-CD3023774BB4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2416" name="TypeText">
              <a:extLst>
                <a:ext uri="{FF2B5EF4-FFF2-40B4-BE49-F238E27FC236}">
                  <a16:creationId xmlns:a16="http://schemas.microsoft.com/office/drawing/2014/main" id="{673696CA-914A-4C99-B2DA-F5E5DD9148AE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02417" name="TipText">
              <a:extLst>
                <a:ext uri="{FF2B5EF4-FFF2-40B4-BE49-F238E27FC236}">
                  <a16:creationId xmlns:a16="http://schemas.microsoft.com/office/drawing/2014/main" id="{2667905C-BFE0-4D1C-8BB4-EE6A2262671F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02413" name="图片 2">
            <a:extLst>
              <a:ext uri="{FF2B5EF4-FFF2-40B4-BE49-F238E27FC236}">
                <a16:creationId xmlns:a16="http://schemas.microsoft.com/office/drawing/2014/main" id="{56FFD9B6-0C17-4FBB-B75E-4230CDFD5761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6889832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文本框 3">
            <a:extLst>
              <a:ext uri="{FF2B5EF4-FFF2-40B4-BE49-F238E27FC236}">
                <a16:creationId xmlns:a16="http://schemas.microsoft.com/office/drawing/2014/main" id="{571C6020-DE45-4413-A94D-B72D2F6C8D71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ea typeface="隶书" panose="02010509060101010101" pitchFamily="49" charset="-122"/>
              </a:rPr>
              <a:t>C++</a:t>
            </a:r>
            <a:r>
              <a:rPr lang="zh-CN" altLang="zh-CN" sz="2800">
                <a:ea typeface="隶书" panose="02010509060101010101" pitchFamily="49" charset="-122"/>
              </a:rPr>
              <a:t>编译器过滤注释是在</a:t>
            </a:r>
            <a:r>
              <a:rPr lang="en-US" altLang="zh-CN" sz="2800" u="sng">
                <a:ea typeface="隶书" panose="02010509060101010101" pitchFamily="49" charset="-122"/>
              </a:rPr>
              <a:t>          </a:t>
            </a:r>
            <a:r>
              <a:rPr lang="zh-CN" altLang="zh-CN" sz="2800">
                <a:ea typeface="隶书" panose="02010509060101010101" pitchFamily="49" charset="-122"/>
              </a:rPr>
              <a:t>阶段。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3427" name="文本框 4">
            <a:extLst>
              <a:ext uri="{FF2B5EF4-FFF2-40B4-BE49-F238E27FC236}">
                <a16:creationId xmlns:a16="http://schemas.microsoft.com/office/drawing/2014/main" id="{B4FF70CF-92B5-4A15-947A-DA967B1A0F95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词法分析</a:t>
            </a:r>
          </a:p>
        </p:txBody>
      </p:sp>
      <p:sp>
        <p:nvSpPr>
          <p:cNvPr id="103428" name="文本框 5">
            <a:extLst>
              <a:ext uri="{FF2B5EF4-FFF2-40B4-BE49-F238E27FC236}">
                <a16:creationId xmlns:a16="http://schemas.microsoft.com/office/drawing/2014/main" id="{00634A9A-F21A-4A02-8784-A67DECB2ACDA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语法分析</a:t>
            </a:r>
          </a:p>
        </p:txBody>
      </p:sp>
      <p:sp>
        <p:nvSpPr>
          <p:cNvPr id="103429" name="文本框 6">
            <a:extLst>
              <a:ext uri="{FF2B5EF4-FFF2-40B4-BE49-F238E27FC236}">
                <a16:creationId xmlns:a16="http://schemas.microsoft.com/office/drawing/2014/main" id="{51905B24-3E03-40AE-841A-12477BA13D57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代码生成</a:t>
            </a:r>
          </a:p>
        </p:txBody>
      </p:sp>
      <p:sp>
        <p:nvSpPr>
          <p:cNvPr id="103430" name="文本框 7">
            <a:extLst>
              <a:ext uri="{FF2B5EF4-FFF2-40B4-BE49-F238E27FC236}">
                <a16:creationId xmlns:a16="http://schemas.microsoft.com/office/drawing/2014/main" id="{D09E47A0-FA31-49B6-B8D1-4D1CE7DB9FE2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以上皆错</a:t>
            </a:r>
          </a:p>
        </p:txBody>
      </p:sp>
      <p:sp>
        <p:nvSpPr>
          <p:cNvPr id="103431" name="椭圆 8">
            <a:extLst>
              <a:ext uri="{FF2B5EF4-FFF2-40B4-BE49-F238E27FC236}">
                <a16:creationId xmlns:a16="http://schemas.microsoft.com/office/drawing/2014/main" id="{6278D65F-981D-48F7-A4D6-09FB202A4A1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3432" name="椭圆 9">
            <a:extLst>
              <a:ext uri="{FF2B5EF4-FFF2-40B4-BE49-F238E27FC236}">
                <a16:creationId xmlns:a16="http://schemas.microsoft.com/office/drawing/2014/main" id="{7B249BC2-BA9D-4749-AF39-AF7233AAB88D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3433" name="椭圆 10">
            <a:extLst>
              <a:ext uri="{FF2B5EF4-FFF2-40B4-BE49-F238E27FC236}">
                <a16:creationId xmlns:a16="http://schemas.microsoft.com/office/drawing/2014/main" id="{18A98E1B-D130-43A7-BF14-7C00A1F4461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3434" name="椭圆 11">
            <a:extLst>
              <a:ext uri="{FF2B5EF4-FFF2-40B4-BE49-F238E27FC236}">
                <a16:creationId xmlns:a16="http://schemas.microsoft.com/office/drawing/2014/main" id="{7AC6E7BB-C309-4C3E-96CA-FB36C9A3935D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3435" name="矩形: 圆角 12">
            <a:extLst>
              <a:ext uri="{FF2B5EF4-FFF2-40B4-BE49-F238E27FC236}">
                <a16:creationId xmlns:a16="http://schemas.microsoft.com/office/drawing/2014/main" id="{5B55179E-2A4B-4C7F-9110-60A98C61BCC8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03436" name="组合 17">
            <a:extLst>
              <a:ext uri="{FF2B5EF4-FFF2-40B4-BE49-F238E27FC236}">
                <a16:creationId xmlns:a16="http://schemas.microsoft.com/office/drawing/2014/main" id="{FB4378A4-B191-4780-8A22-539644A0366C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03438" name="TitleBackground">
              <a:extLst>
                <a:ext uri="{FF2B5EF4-FFF2-40B4-BE49-F238E27FC236}">
                  <a16:creationId xmlns:a16="http://schemas.microsoft.com/office/drawing/2014/main" id="{948A9AD6-689E-4AEC-A724-2BA7ACC29EED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3439" name="ColorBlock">
              <a:extLst>
                <a:ext uri="{FF2B5EF4-FFF2-40B4-BE49-F238E27FC236}">
                  <a16:creationId xmlns:a16="http://schemas.microsoft.com/office/drawing/2014/main" id="{BFDBA4B8-76B3-4055-9C5B-FFD69D95AC78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3440" name="TypeText">
              <a:extLst>
                <a:ext uri="{FF2B5EF4-FFF2-40B4-BE49-F238E27FC236}">
                  <a16:creationId xmlns:a16="http://schemas.microsoft.com/office/drawing/2014/main" id="{E1184BE5-B1F1-439D-B4B5-41028B6B4A9A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03441" name="TipText">
              <a:extLst>
                <a:ext uri="{FF2B5EF4-FFF2-40B4-BE49-F238E27FC236}">
                  <a16:creationId xmlns:a16="http://schemas.microsoft.com/office/drawing/2014/main" id="{3DBFA134-ED41-4541-9A9F-9AB7089CC9D9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03437" name="图片 2">
            <a:extLst>
              <a:ext uri="{FF2B5EF4-FFF2-40B4-BE49-F238E27FC236}">
                <a16:creationId xmlns:a16="http://schemas.microsoft.com/office/drawing/2014/main" id="{8B1C9811-21FA-4A4A-814B-D1A5E34804EF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341547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文本框 3">
            <a:extLst>
              <a:ext uri="{FF2B5EF4-FFF2-40B4-BE49-F238E27FC236}">
                <a16:creationId xmlns:a16="http://schemas.microsoft.com/office/drawing/2014/main" id="{D32718A3-B73C-464D-ACB7-5AD5D184F225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ea typeface="隶书" panose="02010509060101010101" pitchFamily="49" charset="-122"/>
              </a:rPr>
              <a:t>C++</a:t>
            </a:r>
            <a:r>
              <a:rPr lang="zh-CN" altLang="zh-CN" sz="2800">
                <a:ea typeface="隶书" panose="02010509060101010101" pitchFamily="49" charset="-122"/>
              </a:rPr>
              <a:t>编译器检查数组下标越界是在</a:t>
            </a:r>
            <a:r>
              <a:rPr lang="en-US" altLang="zh-CN" sz="2800" u="sng">
                <a:ea typeface="隶书" panose="02010509060101010101" pitchFamily="49" charset="-122"/>
              </a:rPr>
              <a:t>          </a:t>
            </a:r>
            <a:r>
              <a:rPr lang="zh-CN" altLang="zh-CN" sz="2800">
                <a:ea typeface="隶书" panose="02010509060101010101" pitchFamily="49" charset="-122"/>
              </a:rPr>
              <a:t>阶段。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4451" name="文本框 4">
            <a:extLst>
              <a:ext uri="{FF2B5EF4-FFF2-40B4-BE49-F238E27FC236}">
                <a16:creationId xmlns:a16="http://schemas.microsoft.com/office/drawing/2014/main" id="{C8AB5201-60CF-41EC-BA85-DE6FDFFABB75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词法分析</a:t>
            </a:r>
          </a:p>
        </p:txBody>
      </p:sp>
      <p:sp>
        <p:nvSpPr>
          <p:cNvPr id="104452" name="文本框 5">
            <a:extLst>
              <a:ext uri="{FF2B5EF4-FFF2-40B4-BE49-F238E27FC236}">
                <a16:creationId xmlns:a16="http://schemas.microsoft.com/office/drawing/2014/main" id="{7C72A42F-8E63-4B86-A675-E33DD2B71426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语法分析</a:t>
            </a:r>
          </a:p>
        </p:txBody>
      </p:sp>
      <p:sp>
        <p:nvSpPr>
          <p:cNvPr id="104453" name="文本框 6">
            <a:extLst>
              <a:ext uri="{FF2B5EF4-FFF2-40B4-BE49-F238E27FC236}">
                <a16:creationId xmlns:a16="http://schemas.microsoft.com/office/drawing/2014/main" id="{69285FB5-81BB-446E-98C2-E3031E1818F8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代码生成</a:t>
            </a:r>
          </a:p>
        </p:txBody>
      </p:sp>
      <p:sp>
        <p:nvSpPr>
          <p:cNvPr id="104454" name="文本框 7">
            <a:extLst>
              <a:ext uri="{FF2B5EF4-FFF2-40B4-BE49-F238E27FC236}">
                <a16:creationId xmlns:a16="http://schemas.microsoft.com/office/drawing/2014/main" id="{EB86380C-4C79-44D9-9E91-FD2D73CF2B28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以上皆错</a:t>
            </a:r>
          </a:p>
        </p:txBody>
      </p:sp>
      <p:sp>
        <p:nvSpPr>
          <p:cNvPr id="104455" name="椭圆 8">
            <a:extLst>
              <a:ext uri="{FF2B5EF4-FFF2-40B4-BE49-F238E27FC236}">
                <a16:creationId xmlns:a16="http://schemas.microsoft.com/office/drawing/2014/main" id="{0F924A87-67BD-4378-BC88-401C6803B650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4456" name="椭圆 9">
            <a:extLst>
              <a:ext uri="{FF2B5EF4-FFF2-40B4-BE49-F238E27FC236}">
                <a16:creationId xmlns:a16="http://schemas.microsoft.com/office/drawing/2014/main" id="{F5640E33-991B-4DB0-BC71-2645D9AF4084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4457" name="椭圆 10">
            <a:extLst>
              <a:ext uri="{FF2B5EF4-FFF2-40B4-BE49-F238E27FC236}">
                <a16:creationId xmlns:a16="http://schemas.microsoft.com/office/drawing/2014/main" id="{38CB27ED-394C-46AB-8BF1-D1D156C6F3F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4458" name="椭圆 11">
            <a:extLst>
              <a:ext uri="{FF2B5EF4-FFF2-40B4-BE49-F238E27FC236}">
                <a16:creationId xmlns:a16="http://schemas.microsoft.com/office/drawing/2014/main" id="{B08D5381-DF08-4D00-BAF4-CEFD21D011B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4459" name="矩形: 圆角 12">
            <a:extLst>
              <a:ext uri="{FF2B5EF4-FFF2-40B4-BE49-F238E27FC236}">
                <a16:creationId xmlns:a16="http://schemas.microsoft.com/office/drawing/2014/main" id="{4125DD34-B0E9-48BF-9996-F9FB8AA80DA6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04460" name="组合 17">
            <a:extLst>
              <a:ext uri="{FF2B5EF4-FFF2-40B4-BE49-F238E27FC236}">
                <a16:creationId xmlns:a16="http://schemas.microsoft.com/office/drawing/2014/main" id="{462477A1-B4C0-45A4-912D-5CD7FC89E6BC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04462" name="TitleBackground">
              <a:extLst>
                <a:ext uri="{FF2B5EF4-FFF2-40B4-BE49-F238E27FC236}">
                  <a16:creationId xmlns:a16="http://schemas.microsoft.com/office/drawing/2014/main" id="{C9893533-6B61-4F6E-A887-14796E9D0A88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4463" name="ColorBlock">
              <a:extLst>
                <a:ext uri="{FF2B5EF4-FFF2-40B4-BE49-F238E27FC236}">
                  <a16:creationId xmlns:a16="http://schemas.microsoft.com/office/drawing/2014/main" id="{C9663A4D-CBEE-4A41-B005-23BBA56A2BFD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4464" name="TypeText">
              <a:extLst>
                <a:ext uri="{FF2B5EF4-FFF2-40B4-BE49-F238E27FC236}">
                  <a16:creationId xmlns:a16="http://schemas.microsoft.com/office/drawing/2014/main" id="{8D33D9F4-9AB8-4D40-94FC-9A73772AA9EE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04465" name="TipText">
              <a:extLst>
                <a:ext uri="{FF2B5EF4-FFF2-40B4-BE49-F238E27FC236}">
                  <a16:creationId xmlns:a16="http://schemas.microsoft.com/office/drawing/2014/main" id="{F4BB3061-8A50-4DE1-ACAB-A9D370C072C2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04461" name="图片 2">
            <a:extLst>
              <a:ext uri="{FF2B5EF4-FFF2-40B4-BE49-F238E27FC236}">
                <a16:creationId xmlns:a16="http://schemas.microsoft.com/office/drawing/2014/main" id="{0A5D40B8-63A8-44B5-86E0-903203AD4C88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7974054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文本框 3">
            <a:extLst>
              <a:ext uri="{FF2B5EF4-FFF2-40B4-BE49-F238E27FC236}">
                <a16:creationId xmlns:a16="http://schemas.microsoft.com/office/drawing/2014/main" id="{2127CCFE-601E-4FA1-8FE1-BE1630262D4B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925513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400">
                <a:ea typeface="隶书" panose="02010509060101010101" pitchFamily="49" charset="-122"/>
              </a:rPr>
              <a:t>Intel</a:t>
            </a:r>
            <a:r>
              <a:rPr lang="zh-CN" altLang="en-US" sz="2400">
                <a:ea typeface="隶书" panose="02010509060101010101" pitchFamily="49" charset="-122"/>
              </a:rPr>
              <a:t>的</a:t>
            </a:r>
            <a:r>
              <a:rPr lang="zh-CN" altLang="zh-CN" sz="2400">
                <a:ea typeface="隶书" panose="02010509060101010101" pitchFamily="49" charset="-122"/>
              </a:rPr>
              <a:t>深度学习编译器</a:t>
            </a:r>
            <a:r>
              <a:rPr lang="pt-BR" altLang="zh-CN" sz="2400">
                <a:ea typeface="隶书" panose="02010509060101010101" pitchFamily="49" charset="-122"/>
              </a:rPr>
              <a:t>nGraph</a:t>
            </a:r>
            <a:r>
              <a:rPr lang="zh-CN" altLang="zh-CN" sz="2400">
                <a:ea typeface="隶书" panose="02010509060101010101" pitchFamily="49" charset="-122"/>
              </a:rPr>
              <a:t>支持</a:t>
            </a:r>
            <a:r>
              <a:rPr lang="pt-BR" altLang="zh-CN" sz="2400">
                <a:ea typeface="隶书" panose="02010509060101010101" pitchFamily="49" charset="-122"/>
              </a:rPr>
              <a:t>TensorFlow</a:t>
            </a:r>
            <a:r>
              <a:rPr lang="zh-CN" altLang="zh-CN" sz="2400">
                <a:ea typeface="隶书" panose="02010509060101010101" pitchFamily="49" charset="-122"/>
              </a:rPr>
              <a:t>、</a:t>
            </a:r>
            <a:r>
              <a:rPr lang="pt-BR" altLang="zh-CN" sz="2400">
                <a:ea typeface="隶书" panose="02010509060101010101" pitchFamily="49" charset="-122"/>
              </a:rPr>
              <a:t>MXNet</a:t>
            </a:r>
            <a:r>
              <a:rPr lang="zh-CN" altLang="zh-CN" sz="2400">
                <a:ea typeface="隶书" panose="02010509060101010101" pitchFamily="49" charset="-122"/>
              </a:rPr>
              <a:t>等深度学习框架，令用户可在</a:t>
            </a:r>
            <a:r>
              <a:rPr lang="pt-BR" altLang="zh-CN" sz="2400">
                <a:ea typeface="隶书" panose="02010509060101010101" pitchFamily="49" charset="-122"/>
              </a:rPr>
              <a:t>Intel CPU</a:t>
            </a:r>
            <a:r>
              <a:rPr lang="zh-CN" altLang="zh-CN" sz="2400">
                <a:ea typeface="隶书" panose="02010509060101010101" pitchFamily="49" charset="-122"/>
              </a:rPr>
              <a:t>、</a:t>
            </a:r>
            <a:r>
              <a:rPr lang="pt-BR" altLang="zh-CN" sz="2400">
                <a:ea typeface="隶书" panose="02010509060101010101" pitchFamily="49" charset="-122"/>
              </a:rPr>
              <a:t>GPU</a:t>
            </a:r>
            <a:r>
              <a:rPr lang="zh-CN" altLang="zh-CN" sz="2400">
                <a:ea typeface="隶书" panose="02010509060101010101" pitchFamily="49" charset="-122"/>
              </a:rPr>
              <a:t>等不同硬件平台上高效运行这些框架编写的程序，它的实现是一种</a:t>
            </a:r>
            <a:r>
              <a:rPr lang="pt-BR" altLang="zh-CN" sz="2400">
                <a:ea typeface="隶书" panose="02010509060101010101" pitchFamily="49" charset="-122"/>
              </a:rPr>
              <a:t>__________</a:t>
            </a:r>
            <a:r>
              <a:rPr lang="zh-CN" altLang="zh-CN" sz="2400">
                <a:ea typeface="隶书" panose="02010509060101010101" pitchFamily="49" charset="-122"/>
              </a:rPr>
              <a:t>方式。</a:t>
            </a:r>
            <a:endParaRPr lang="zh-CN" altLang="en-US" sz="24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5475" name="文本框 4">
            <a:extLst>
              <a:ext uri="{FF2B5EF4-FFF2-40B4-BE49-F238E27FC236}">
                <a16:creationId xmlns:a16="http://schemas.microsoft.com/office/drawing/2014/main" id="{3D5381FA-3C02-4E8E-B12A-6078258B1544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>
                <a:ea typeface="隶书" panose="02010509060101010101" pitchFamily="49" charset="-122"/>
              </a:rPr>
              <a:t>单前端单后端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5476" name="文本框 5">
            <a:extLst>
              <a:ext uri="{FF2B5EF4-FFF2-40B4-BE49-F238E27FC236}">
                <a16:creationId xmlns:a16="http://schemas.microsoft.com/office/drawing/2014/main" id="{ACDC7CDE-63DC-4C21-842D-5CAB40321F8F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>
                <a:ea typeface="隶书" panose="02010509060101010101" pitchFamily="49" charset="-122"/>
              </a:rPr>
              <a:t>单前端多后端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5477" name="文本框 6">
            <a:extLst>
              <a:ext uri="{FF2B5EF4-FFF2-40B4-BE49-F238E27FC236}">
                <a16:creationId xmlns:a16="http://schemas.microsoft.com/office/drawing/2014/main" id="{C519D091-25CC-45CF-A4B6-42157D236FDB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>
                <a:ea typeface="隶书" panose="02010509060101010101" pitchFamily="49" charset="-122"/>
              </a:rPr>
              <a:t>多前端单后端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5478" name="文本框 7">
            <a:extLst>
              <a:ext uri="{FF2B5EF4-FFF2-40B4-BE49-F238E27FC236}">
                <a16:creationId xmlns:a16="http://schemas.microsoft.com/office/drawing/2014/main" id="{10625E3E-3E4C-4E9A-B0E1-77B8BF033F28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>
                <a:ea typeface="隶书" panose="02010509060101010101" pitchFamily="49" charset="-122"/>
              </a:rPr>
              <a:t>多前端多后端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5479" name="椭圆 8">
            <a:extLst>
              <a:ext uri="{FF2B5EF4-FFF2-40B4-BE49-F238E27FC236}">
                <a16:creationId xmlns:a16="http://schemas.microsoft.com/office/drawing/2014/main" id="{FF6D2339-9D37-4839-8304-2B920374A8E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5480" name="椭圆 9">
            <a:extLst>
              <a:ext uri="{FF2B5EF4-FFF2-40B4-BE49-F238E27FC236}">
                <a16:creationId xmlns:a16="http://schemas.microsoft.com/office/drawing/2014/main" id="{A7A5F127-0D8D-4011-B0DF-6362CEDD50D0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5481" name="椭圆 10">
            <a:extLst>
              <a:ext uri="{FF2B5EF4-FFF2-40B4-BE49-F238E27FC236}">
                <a16:creationId xmlns:a16="http://schemas.microsoft.com/office/drawing/2014/main" id="{622533B6-E338-4450-B202-322621960DAF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5482" name="椭圆 11">
            <a:extLst>
              <a:ext uri="{FF2B5EF4-FFF2-40B4-BE49-F238E27FC236}">
                <a16:creationId xmlns:a16="http://schemas.microsoft.com/office/drawing/2014/main" id="{3636D31A-DDAD-41D8-88FE-6E4F79892680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5483" name="矩形: 圆角 12">
            <a:extLst>
              <a:ext uri="{FF2B5EF4-FFF2-40B4-BE49-F238E27FC236}">
                <a16:creationId xmlns:a16="http://schemas.microsoft.com/office/drawing/2014/main" id="{EFDC873D-2687-4657-9F4F-99B11916DB97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05484" name="组合 17">
            <a:extLst>
              <a:ext uri="{FF2B5EF4-FFF2-40B4-BE49-F238E27FC236}">
                <a16:creationId xmlns:a16="http://schemas.microsoft.com/office/drawing/2014/main" id="{27446E98-DF84-4050-B8F4-45A2EC4BE563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05486" name="TitleBackground">
              <a:extLst>
                <a:ext uri="{FF2B5EF4-FFF2-40B4-BE49-F238E27FC236}">
                  <a16:creationId xmlns:a16="http://schemas.microsoft.com/office/drawing/2014/main" id="{46CF7497-81E4-4556-8F71-7FF7A3B71E04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5487" name="ColorBlock">
              <a:extLst>
                <a:ext uri="{FF2B5EF4-FFF2-40B4-BE49-F238E27FC236}">
                  <a16:creationId xmlns:a16="http://schemas.microsoft.com/office/drawing/2014/main" id="{F7736C58-5DA3-49B3-89C8-4C4D6EB43C05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5488" name="TypeText">
              <a:extLst>
                <a:ext uri="{FF2B5EF4-FFF2-40B4-BE49-F238E27FC236}">
                  <a16:creationId xmlns:a16="http://schemas.microsoft.com/office/drawing/2014/main" id="{CEBB6155-F955-42B0-A210-02D4D40E6D66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05489" name="TipText">
              <a:extLst>
                <a:ext uri="{FF2B5EF4-FFF2-40B4-BE49-F238E27FC236}">
                  <a16:creationId xmlns:a16="http://schemas.microsoft.com/office/drawing/2014/main" id="{54122E60-8892-402A-BC64-BE429B57D9B5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05485" name="图片 2">
            <a:extLst>
              <a:ext uri="{FF2B5EF4-FFF2-40B4-BE49-F238E27FC236}">
                <a16:creationId xmlns:a16="http://schemas.microsoft.com/office/drawing/2014/main" id="{2F81A1AA-6B59-443C-A8AA-617B4A9195EC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5227597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文本框 3">
            <a:extLst>
              <a:ext uri="{FF2B5EF4-FFF2-40B4-BE49-F238E27FC236}">
                <a16:creationId xmlns:a16="http://schemas.microsoft.com/office/drawing/2014/main" id="{6E5B86AC-251A-4D32-A177-24B632D1B4D7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854075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ea typeface="隶书" panose="02010509060101010101" pitchFamily="49" charset="-122"/>
              </a:rPr>
              <a:t>LaTex</a:t>
            </a:r>
            <a:r>
              <a:rPr lang="zh-CN" altLang="en-US" sz="2800">
                <a:ea typeface="隶书" panose="02010509060101010101" pitchFamily="49" charset="-122"/>
              </a:rPr>
              <a:t>工具将</a:t>
            </a:r>
            <a:r>
              <a:rPr lang="en-US" altLang="zh-CN" sz="2800">
                <a:ea typeface="隶书" panose="02010509060101010101" pitchFamily="49" charset="-122"/>
              </a:rPr>
              <a:t>.tex</a:t>
            </a:r>
            <a:r>
              <a:rPr lang="zh-CN" altLang="en-US" sz="2800">
                <a:ea typeface="隶书" panose="02010509060101010101" pitchFamily="49" charset="-122"/>
              </a:rPr>
              <a:t>文件转换为</a:t>
            </a:r>
            <a:r>
              <a:rPr lang="en-US" altLang="zh-CN" sz="2800">
                <a:ea typeface="隶书" panose="02010509060101010101" pitchFamily="49" charset="-122"/>
              </a:rPr>
              <a:t>PDF</a:t>
            </a:r>
            <a:r>
              <a:rPr lang="zh-CN" altLang="en-US" sz="2800">
                <a:ea typeface="隶书" panose="02010509060101010101" pitchFamily="49" charset="-122"/>
              </a:rPr>
              <a:t>文件，因此它也是一种广义的编译器。这种说法是</a:t>
            </a:r>
            <a:r>
              <a:rPr lang="pt-BR" altLang="zh-CN" sz="2800">
                <a:ea typeface="隶书" panose="02010509060101010101" pitchFamily="49" charset="-122"/>
              </a:rPr>
              <a:t>__________</a:t>
            </a:r>
            <a:r>
              <a:rPr lang="zh-CN" altLang="zh-CN" sz="2800">
                <a:ea typeface="隶书" panose="02010509060101010101" pitchFamily="49" charset="-122"/>
              </a:rPr>
              <a:t>。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6499" name="文本框 4">
            <a:extLst>
              <a:ext uri="{FF2B5EF4-FFF2-40B4-BE49-F238E27FC236}">
                <a16:creationId xmlns:a16="http://schemas.microsoft.com/office/drawing/2014/main" id="{40BC44D1-796D-4618-9238-8FF69D4BA0D9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正确的</a:t>
            </a:r>
          </a:p>
        </p:txBody>
      </p:sp>
      <p:sp>
        <p:nvSpPr>
          <p:cNvPr id="106500" name="文本框 5">
            <a:extLst>
              <a:ext uri="{FF2B5EF4-FFF2-40B4-BE49-F238E27FC236}">
                <a16:creationId xmlns:a16="http://schemas.microsoft.com/office/drawing/2014/main" id="{914F1598-8087-48AD-BA46-DC751F7E84E8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错误的</a:t>
            </a:r>
          </a:p>
        </p:txBody>
      </p:sp>
      <p:sp>
        <p:nvSpPr>
          <p:cNvPr id="106501" name="椭圆 8">
            <a:extLst>
              <a:ext uri="{FF2B5EF4-FFF2-40B4-BE49-F238E27FC236}">
                <a16:creationId xmlns:a16="http://schemas.microsoft.com/office/drawing/2014/main" id="{C4D1A904-3912-40AC-B6BE-51252D228114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6502" name="椭圆 9">
            <a:extLst>
              <a:ext uri="{FF2B5EF4-FFF2-40B4-BE49-F238E27FC236}">
                <a16:creationId xmlns:a16="http://schemas.microsoft.com/office/drawing/2014/main" id="{A8E252E3-C3E7-476E-9DA3-6D95AC2DAF7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6503" name="矩形: 圆角 12">
            <a:extLst>
              <a:ext uri="{FF2B5EF4-FFF2-40B4-BE49-F238E27FC236}">
                <a16:creationId xmlns:a16="http://schemas.microsoft.com/office/drawing/2014/main" id="{ACBEA42E-4FAD-4BAE-9E5B-73E051B1CA9E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06504" name="组合 17">
            <a:extLst>
              <a:ext uri="{FF2B5EF4-FFF2-40B4-BE49-F238E27FC236}">
                <a16:creationId xmlns:a16="http://schemas.microsoft.com/office/drawing/2014/main" id="{4C4EB2B4-3A12-4680-956D-4CE4B0E1A3D6}"/>
              </a:ext>
            </a:extLst>
          </p:cNvPr>
          <p:cNvGrpSpPr>
            <a:grpSpLocks/>
          </p:cNvGrpSpPr>
          <p:nvPr>
            <p:custDataLst>
              <p:tags r:id="rId8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06506" name="TitleBackground">
              <a:extLst>
                <a:ext uri="{FF2B5EF4-FFF2-40B4-BE49-F238E27FC236}">
                  <a16:creationId xmlns:a16="http://schemas.microsoft.com/office/drawing/2014/main" id="{2B39F625-0FC8-4BE4-873B-308D1DE75FB7}"/>
                </a:ext>
              </a:extLst>
            </p:cNvPr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6507" name="ColorBlock">
              <a:extLst>
                <a:ext uri="{FF2B5EF4-FFF2-40B4-BE49-F238E27FC236}">
                  <a16:creationId xmlns:a16="http://schemas.microsoft.com/office/drawing/2014/main" id="{46913DBA-40D0-43E3-BBA0-1A02252E1683}"/>
                </a:ext>
              </a:extLst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6508" name="TypeText">
              <a:extLst>
                <a:ext uri="{FF2B5EF4-FFF2-40B4-BE49-F238E27FC236}">
                  <a16:creationId xmlns:a16="http://schemas.microsoft.com/office/drawing/2014/main" id="{0D05A364-B883-45F3-A3A0-F7A24F076721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06509" name="TipText">
              <a:extLst>
                <a:ext uri="{FF2B5EF4-FFF2-40B4-BE49-F238E27FC236}">
                  <a16:creationId xmlns:a16="http://schemas.microsoft.com/office/drawing/2014/main" id="{8B7CE9E1-6A26-47EC-AE45-EE3C0F945D38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06505" name="图片 2">
            <a:extLst>
              <a:ext uri="{FF2B5EF4-FFF2-40B4-BE49-F238E27FC236}">
                <a16:creationId xmlns:a16="http://schemas.microsoft.com/office/drawing/2014/main" id="{B2015E45-1FC5-4270-83D1-07183C869DE3}"/>
              </a:ext>
            </a:extLst>
          </p:cNvPr>
          <p:cNvPicPr>
            <a:picLocks noChangeArrowheads="1"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6452249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文本框 3">
            <a:extLst>
              <a:ext uri="{FF2B5EF4-FFF2-40B4-BE49-F238E27FC236}">
                <a16:creationId xmlns:a16="http://schemas.microsoft.com/office/drawing/2014/main" id="{E662A47E-7F25-44DF-AD17-358181DF36E2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ea typeface="隶书" panose="02010509060101010101" pitchFamily="49" charset="-122"/>
              </a:rPr>
              <a:t>浏览器渲染过程相当于编译器的</a:t>
            </a:r>
            <a:r>
              <a:rPr lang="pt-BR" altLang="zh-CN" sz="2800">
                <a:ea typeface="隶书" panose="02010509060101010101" pitchFamily="49" charset="-122"/>
              </a:rPr>
              <a:t>__________</a:t>
            </a:r>
            <a:r>
              <a:rPr lang="zh-CN" altLang="en-US" sz="2800">
                <a:ea typeface="隶书" panose="02010509060101010101" pitchFamily="49" charset="-122"/>
              </a:rPr>
              <a:t>阶段</a:t>
            </a:r>
            <a:r>
              <a:rPr lang="zh-CN" altLang="zh-CN" sz="2800">
                <a:ea typeface="隶书" panose="02010509060101010101" pitchFamily="49" charset="-122"/>
              </a:rPr>
              <a:t>。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7523" name="文本框 4">
            <a:extLst>
              <a:ext uri="{FF2B5EF4-FFF2-40B4-BE49-F238E27FC236}">
                <a16:creationId xmlns:a16="http://schemas.microsoft.com/office/drawing/2014/main" id="{2A22CA01-C4EB-456A-9035-62BCC5839C12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分析</a:t>
            </a:r>
          </a:p>
        </p:txBody>
      </p:sp>
      <p:sp>
        <p:nvSpPr>
          <p:cNvPr id="107524" name="文本框 5">
            <a:extLst>
              <a:ext uri="{FF2B5EF4-FFF2-40B4-BE49-F238E27FC236}">
                <a16:creationId xmlns:a16="http://schemas.microsoft.com/office/drawing/2014/main" id="{6C573618-6D5B-4DF7-BD1E-03940A70FDC9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综合</a:t>
            </a:r>
          </a:p>
        </p:txBody>
      </p:sp>
      <p:sp>
        <p:nvSpPr>
          <p:cNvPr id="107525" name="文本框 6">
            <a:extLst>
              <a:ext uri="{FF2B5EF4-FFF2-40B4-BE49-F238E27FC236}">
                <a16:creationId xmlns:a16="http://schemas.microsoft.com/office/drawing/2014/main" id="{3883F211-7398-48AB-926E-E5BA7A71CB40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前端</a:t>
            </a:r>
          </a:p>
        </p:txBody>
      </p:sp>
      <p:sp>
        <p:nvSpPr>
          <p:cNvPr id="107526" name="文本框 7">
            <a:extLst>
              <a:ext uri="{FF2B5EF4-FFF2-40B4-BE49-F238E27FC236}">
                <a16:creationId xmlns:a16="http://schemas.microsoft.com/office/drawing/2014/main" id="{D6E25AD0-3BD9-4434-8ACF-AD876E98B25A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后端</a:t>
            </a:r>
          </a:p>
        </p:txBody>
      </p:sp>
      <p:sp>
        <p:nvSpPr>
          <p:cNvPr id="107527" name="椭圆 8">
            <a:extLst>
              <a:ext uri="{FF2B5EF4-FFF2-40B4-BE49-F238E27FC236}">
                <a16:creationId xmlns:a16="http://schemas.microsoft.com/office/drawing/2014/main" id="{C33A13E6-F5C9-450A-8822-A267FC646C9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7528" name="椭圆 9">
            <a:extLst>
              <a:ext uri="{FF2B5EF4-FFF2-40B4-BE49-F238E27FC236}">
                <a16:creationId xmlns:a16="http://schemas.microsoft.com/office/drawing/2014/main" id="{F050ED6B-B839-48DB-84C4-C3D90C0CBD1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7529" name="椭圆 10">
            <a:extLst>
              <a:ext uri="{FF2B5EF4-FFF2-40B4-BE49-F238E27FC236}">
                <a16:creationId xmlns:a16="http://schemas.microsoft.com/office/drawing/2014/main" id="{5AC71933-C22E-44F0-A66C-ABAD7E0FDB24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7530" name="椭圆 11">
            <a:extLst>
              <a:ext uri="{FF2B5EF4-FFF2-40B4-BE49-F238E27FC236}">
                <a16:creationId xmlns:a16="http://schemas.microsoft.com/office/drawing/2014/main" id="{E156037D-8840-434D-AB91-E009222A0A7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7531" name="矩形: 圆角 12">
            <a:extLst>
              <a:ext uri="{FF2B5EF4-FFF2-40B4-BE49-F238E27FC236}">
                <a16:creationId xmlns:a16="http://schemas.microsoft.com/office/drawing/2014/main" id="{E1251A1F-A66E-43AF-9C43-04AD4AAC0B44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07532" name="组合 17">
            <a:extLst>
              <a:ext uri="{FF2B5EF4-FFF2-40B4-BE49-F238E27FC236}">
                <a16:creationId xmlns:a16="http://schemas.microsoft.com/office/drawing/2014/main" id="{002771E3-E16E-4CF9-851C-4DB051637207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07534" name="TitleBackground">
              <a:extLst>
                <a:ext uri="{FF2B5EF4-FFF2-40B4-BE49-F238E27FC236}">
                  <a16:creationId xmlns:a16="http://schemas.microsoft.com/office/drawing/2014/main" id="{2F6426CA-485A-40A5-B629-0B8A81CB9516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7535" name="ColorBlock">
              <a:extLst>
                <a:ext uri="{FF2B5EF4-FFF2-40B4-BE49-F238E27FC236}">
                  <a16:creationId xmlns:a16="http://schemas.microsoft.com/office/drawing/2014/main" id="{4CB86B95-9926-48DB-A061-4BE8B72A6685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7536" name="TypeText">
              <a:extLst>
                <a:ext uri="{FF2B5EF4-FFF2-40B4-BE49-F238E27FC236}">
                  <a16:creationId xmlns:a16="http://schemas.microsoft.com/office/drawing/2014/main" id="{5C2185EA-4EFE-4424-BAEA-60FED4B73609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07537" name="TipText">
              <a:extLst>
                <a:ext uri="{FF2B5EF4-FFF2-40B4-BE49-F238E27FC236}">
                  <a16:creationId xmlns:a16="http://schemas.microsoft.com/office/drawing/2014/main" id="{CC319E44-34FC-4DF4-8521-53722C1CCE4F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07533" name="图片 2">
            <a:extLst>
              <a:ext uri="{FF2B5EF4-FFF2-40B4-BE49-F238E27FC236}">
                <a16:creationId xmlns:a16="http://schemas.microsoft.com/office/drawing/2014/main" id="{7FACA107-FB1D-4D41-AF1D-BBAEB120C086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6375042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文本框 3">
            <a:extLst>
              <a:ext uri="{FF2B5EF4-FFF2-40B4-BE49-F238E27FC236}">
                <a16:creationId xmlns:a16="http://schemas.microsoft.com/office/drawing/2014/main" id="{E3E588D0-854A-413C-894D-29D10CB03BA4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ea typeface="隶书" panose="02010509060101010101" pitchFamily="49" charset="-122"/>
              </a:rPr>
              <a:t>符号表</a:t>
            </a:r>
            <a:r>
              <a:rPr lang="zh-CN" altLang="zh-CN" sz="2800">
                <a:ea typeface="隶书" panose="02010509060101010101" pitchFamily="49" charset="-122"/>
              </a:rPr>
              <a:t>是</a:t>
            </a:r>
            <a:r>
              <a:rPr lang="zh-CN" altLang="en-US" sz="2800">
                <a:ea typeface="隶书" panose="02010509060101010101" pitchFamily="49" charset="-122"/>
              </a:rPr>
              <a:t>在</a:t>
            </a:r>
            <a:r>
              <a:rPr lang="pt-BR" altLang="zh-CN" sz="2800">
                <a:ea typeface="隶书" panose="02010509060101010101" pitchFamily="49" charset="-122"/>
              </a:rPr>
              <a:t>__________</a:t>
            </a:r>
            <a:r>
              <a:rPr lang="zh-CN" altLang="en-US" sz="2800">
                <a:ea typeface="隶书" panose="02010509060101010101" pitchFamily="49" charset="-122"/>
              </a:rPr>
              <a:t>阶段创建的</a:t>
            </a:r>
            <a:r>
              <a:rPr lang="zh-CN" altLang="zh-CN" sz="2800">
                <a:ea typeface="隶书" panose="02010509060101010101" pitchFamily="49" charset="-122"/>
              </a:rPr>
              <a:t>。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8547" name="文本框 4">
            <a:extLst>
              <a:ext uri="{FF2B5EF4-FFF2-40B4-BE49-F238E27FC236}">
                <a16:creationId xmlns:a16="http://schemas.microsoft.com/office/drawing/2014/main" id="{BF5B35BF-530D-40CE-BC3C-CA511E52AC10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词法分析</a:t>
            </a:r>
          </a:p>
        </p:txBody>
      </p:sp>
      <p:sp>
        <p:nvSpPr>
          <p:cNvPr id="108548" name="文本框 5">
            <a:extLst>
              <a:ext uri="{FF2B5EF4-FFF2-40B4-BE49-F238E27FC236}">
                <a16:creationId xmlns:a16="http://schemas.microsoft.com/office/drawing/2014/main" id="{BAE4033B-A47D-4814-B284-C623F3821608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语法分析</a:t>
            </a:r>
          </a:p>
        </p:txBody>
      </p:sp>
      <p:sp>
        <p:nvSpPr>
          <p:cNvPr id="108549" name="文本框 6">
            <a:extLst>
              <a:ext uri="{FF2B5EF4-FFF2-40B4-BE49-F238E27FC236}">
                <a16:creationId xmlns:a16="http://schemas.microsoft.com/office/drawing/2014/main" id="{B64626B3-412E-4CBA-B712-9412E1666B8F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语义分析</a:t>
            </a:r>
          </a:p>
        </p:txBody>
      </p:sp>
      <p:sp>
        <p:nvSpPr>
          <p:cNvPr id="108550" name="文本框 7">
            <a:extLst>
              <a:ext uri="{FF2B5EF4-FFF2-40B4-BE49-F238E27FC236}">
                <a16:creationId xmlns:a16="http://schemas.microsoft.com/office/drawing/2014/main" id="{84260C6F-B73A-4A39-8879-4D37ECBD31AE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代码生成</a:t>
            </a:r>
          </a:p>
        </p:txBody>
      </p:sp>
      <p:sp>
        <p:nvSpPr>
          <p:cNvPr id="108551" name="椭圆 8">
            <a:extLst>
              <a:ext uri="{FF2B5EF4-FFF2-40B4-BE49-F238E27FC236}">
                <a16:creationId xmlns:a16="http://schemas.microsoft.com/office/drawing/2014/main" id="{912D86CF-75F8-4FA8-9D81-0F5F7DA43B2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8552" name="椭圆 9">
            <a:extLst>
              <a:ext uri="{FF2B5EF4-FFF2-40B4-BE49-F238E27FC236}">
                <a16:creationId xmlns:a16="http://schemas.microsoft.com/office/drawing/2014/main" id="{33A1F1BD-EAB3-4811-A099-8A3EFA83EAF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8553" name="椭圆 10">
            <a:extLst>
              <a:ext uri="{FF2B5EF4-FFF2-40B4-BE49-F238E27FC236}">
                <a16:creationId xmlns:a16="http://schemas.microsoft.com/office/drawing/2014/main" id="{72E6070E-E877-4D53-BCD4-1266AD25984F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8554" name="椭圆 11">
            <a:extLst>
              <a:ext uri="{FF2B5EF4-FFF2-40B4-BE49-F238E27FC236}">
                <a16:creationId xmlns:a16="http://schemas.microsoft.com/office/drawing/2014/main" id="{6D9EBC30-E9E8-4D14-B9FC-D74D8DED9C1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8555" name="矩形: 圆角 12">
            <a:extLst>
              <a:ext uri="{FF2B5EF4-FFF2-40B4-BE49-F238E27FC236}">
                <a16:creationId xmlns:a16="http://schemas.microsoft.com/office/drawing/2014/main" id="{2151379D-5BB0-4E85-8905-CE5676936F77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08556" name="组合 17">
            <a:extLst>
              <a:ext uri="{FF2B5EF4-FFF2-40B4-BE49-F238E27FC236}">
                <a16:creationId xmlns:a16="http://schemas.microsoft.com/office/drawing/2014/main" id="{1CD1D84F-35F0-43F8-A98A-73F37281BEDC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08558" name="TitleBackground">
              <a:extLst>
                <a:ext uri="{FF2B5EF4-FFF2-40B4-BE49-F238E27FC236}">
                  <a16:creationId xmlns:a16="http://schemas.microsoft.com/office/drawing/2014/main" id="{8A0EEDB3-C32A-4541-B8F6-411600CDB6A0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8559" name="ColorBlock">
              <a:extLst>
                <a:ext uri="{FF2B5EF4-FFF2-40B4-BE49-F238E27FC236}">
                  <a16:creationId xmlns:a16="http://schemas.microsoft.com/office/drawing/2014/main" id="{E761F74B-FA3E-4507-BC2E-8BD96AD40B63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8560" name="TypeText">
              <a:extLst>
                <a:ext uri="{FF2B5EF4-FFF2-40B4-BE49-F238E27FC236}">
                  <a16:creationId xmlns:a16="http://schemas.microsoft.com/office/drawing/2014/main" id="{2C0C17B9-CB75-4570-9768-9E601F2BD28D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08561" name="TipText">
              <a:extLst>
                <a:ext uri="{FF2B5EF4-FFF2-40B4-BE49-F238E27FC236}">
                  <a16:creationId xmlns:a16="http://schemas.microsoft.com/office/drawing/2014/main" id="{AF569DBD-1D6A-4286-8266-22D7A517833A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08557" name="图片 2">
            <a:extLst>
              <a:ext uri="{FF2B5EF4-FFF2-40B4-BE49-F238E27FC236}">
                <a16:creationId xmlns:a16="http://schemas.microsoft.com/office/drawing/2014/main" id="{5F103EF4-123E-4D8E-8DCD-66A87457CFD7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4281462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文本框 3">
            <a:extLst>
              <a:ext uri="{FF2B5EF4-FFF2-40B4-BE49-F238E27FC236}">
                <a16:creationId xmlns:a16="http://schemas.microsoft.com/office/drawing/2014/main" id="{E3E588D0-854A-413C-894D-29D10CB03BA4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Symbol" panose="05050102010706020507" pitchFamily="18" charset="2"/>
                <a:ea typeface="隶书" panose="02010509060101010101" pitchFamily="49" charset="-122"/>
              </a:rPr>
              <a:t>e</a:t>
            </a:r>
            <a:r>
              <a:rPr lang="zh-CN" altLang="zh-CN" sz="2800" dirty="0">
                <a:ea typeface="隶书" panose="02010509060101010101" pitchFamily="49" charset="-122"/>
              </a:rPr>
              <a:t>是</a:t>
            </a:r>
            <a:r>
              <a:rPr lang="zh-CN" altLang="en-US" sz="2800" dirty="0">
                <a:ea typeface="隶书" panose="02010509060101010101" pitchFamily="49" charset="-122"/>
              </a:rPr>
              <a:t>一个</a:t>
            </a:r>
            <a:r>
              <a:rPr lang="pt-BR" altLang="zh-CN" sz="2800" dirty="0">
                <a:ea typeface="隶书" panose="02010509060101010101" pitchFamily="49" charset="-122"/>
              </a:rPr>
              <a:t>__________</a:t>
            </a:r>
            <a:r>
              <a:rPr lang="zh-CN" altLang="zh-CN" sz="2800" dirty="0">
                <a:ea typeface="隶书" panose="02010509060101010101" pitchFamily="49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8547" name="文本框 4">
            <a:extLst>
              <a:ext uri="{FF2B5EF4-FFF2-40B4-BE49-F238E27FC236}">
                <a16:creationId xmlns:a16="http://schemas.microsoft.com/office/drawing/2014/main" id="{BF5B35BF-530D-40CE-BC3C-CA511E52AC10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符号</a:t>
            </a:r>
          </a:p>
        </p:txBody>
      </p:sp>
      <p:sp>
        <p:nvSpPr>
          <p:cNvPr id="108548" name="文本框 5">
            <a:extLst>
              <a:ext uri="{FF2B5EF4-FFF2-40B4-BE49-F238E27FC236}">
                <a16:creationId xmlns:a16="http://schemas.microsoft.com/office/drawing/2014/main" id="{BAE4033B-A47D-4814-B284-C623F3821608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符号串</a:t>
            </a:r>
          </a:p>
        </p:txBody>
      </p:sp>
      <p:sp>
        <p:nvSpPr>
          <p:cNvPr id="108549" name="文本框 6">
            <a:extLst>
              <a:ext uri="{FF2B5EF4-FFF2-40B4-BE49-F238E27FC236}">
                <a16:creationId xmlns:a16="http://schemas.microsoft.com/office/drawing/2014/main" id="{B64626B3-412E-4CBA-B712-9412E1666B8F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符号串集合</a:t>
            </a:r>
          </a:p>
        </p:txBody>
      </p:sp>
      <p:sp>
        <p:nvSpPr>
          <p:cNvPr id="108550" name="文本框 7">
            <a:extLst>
              <a:ext uri="{FF2B5EF4-FFF2-40B4-BE49-F238E27FC236}">
                <a16:creationId xmlns:a16="http://schemas.microsoft.com/office/drawing/2014/main" id="{84260C6F-B73A-4A39-8879-4D37ECBD31AE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以上皆错</a:t>
            </a:r>
          </a:p>
        </p:txBody>
      </p:sp>
      <p:sp>
        <p:nvSpPr>
          <p:cNvPr id="108551" name="椭圆 8">
            <a:extLst>
              <a:ext uri="{FF2B5EF4-FFF2-40B4-BE49-F238E27FC236}">
                <a16:creationId xmlns:a16="http://schemas.microsoft.com/office/drawing/2014/main" id="{912D86CF-75F8-4FA8-9D81-0F5F7DA43B2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8552" name="椭圆 9">
            <a:extLst>
              <a:ext uri="{FF2B5EF4-FFF2-40B4-BE49-F238E27FC236}">
                <a16:creationId xmlns:a16="http://schemas.microsoft.com/office/drawing/2014/main" id="{33A1F1BD-EAB3-4811-A099-8A3EFA83EAF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8553" name="椭圆 10">
            <a:extLst>
              <a:ext uri="{FF2B5EF4-FFF2-40B4-BE49-F238E27FC236}">
                <a16:creationId xmlns:a16="http://schemas.microsoft.com/office/drawing/2014/main" id="{72E6070E-E877-4D53-BCD4-1266AD25984F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8554" name="椭圆 11">
            <a:extLst>
              <a:ext uri="{FF2B5EF4-FFF2-40B4-BE49-F238E27FC236}">
                <a16:creationId xmlns:a16="http://schemas.microsoft.com/office/drawing/2014/main" id="{6D9EBC30-E9E8-4D14-B9FC-D74D8DED9C1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8555" name="矩形: 圆角 12">
            <a:extLst>
              <a:ext uri="{FF2B5EF4-FFF2-40B4-BE49-F238E27FC236}">
                <a16:creationId xmlns:a16="http://schemas.microsoft.com/office/drawing/2014/main" id="{2151379D-5BB0-4E85-8905-CE5676936F77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08556" name="组合 17">
            <a:extLst>
              <a:ext uri="{FF2B5EF4-FFF2-40B4-BE49-F238E27FC236}">
                <a16:creationId xmlns:a16="http://schemas.microsoft.com/office/drawing/2014/main" id="{1CD1D84F-35F0-43F8-A98A-73F37281BEDC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08558" name="TitleBackground">
              <a:extLst>
                <a:ext uri="{FF2B5EF4-FFF2-40B4-BE49-F238E27FC236}">
                  <a16:creationId xmlns:a16="http://schemas.microsoft.com/office/drawing/2014/main" id="{8A0EEDB3-C32A-4541-B8F6-411600CDB6A0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8559" name="ColorBlock">
              <a:extLst>
                <a:ext uri="{FF2B5EF4-FFF2-40B4-BE49-F238E27FC236}">
                  <a16:creationId xmlns:a16="http://schemas.microsoft.com/office/drawing/2014/main" id="{E761F74B-FA3E-4507-BC2E-8BD96AD40B63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8560" name="TypeText">
              <a:extLst>
                <a:ext uri="{FF2B5EF4-FFF2-40B4-BE49-F238E27FC236}">
                  <a16:creationId xmlns:a16="http://schemas.microsoft.com/office/drawing/2014/main" id="{2C0C17B9-CB75-4570-9768-9E601F2BD28D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08561" name="TipText">
              <a:extLst>
                <a:ext uri="{FF2B5EF4-FFF2-40B4-BE49-F238E27FC236}">
                  <a16:creationId xmlns:a16="http://schemas.microsoft.com/office/drawing/2014/main" id="{AF569DBD-1D6A-4286-8266-22D7A517833A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08557" name="图片 2">
            <a:extLst>
              <a:ext uri="{FF2B5EF4-FFF2-40B4-BE49-F238E27FC236}">
                <a16:creationId xmlns:a16="http://schemas.microsoft.com/office/drawing/2014/main" id="{5F103EF4-123E-4D8E-8DCD-66A87457CFD7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7396411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文本框 3">
            <a:extLst>
              <a:ext uri="{FF2B5EF4-FFF2-40B4-BE49-F238E27FC236}">
                <a16:creationId xmlns:a16="http://schemas.microsoft.com/office/drawing/2014/main" id="{E3E588D0-854A-413C-894D-29D10CB03BA4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2800" dirty="0">
                <a:ea typeface="隶书" panose="02010509060101010101" pitchFamily="49" charset="-122"/>
              </a:rPr>
              <a:t>以下关于</a:t>
            </a:r>
            <a:r>
              <a:rPr lang="en-US" altLang="zh-CN" sz="2800" dirty="0">
                <a:ea typeface="隶书" panose="02010509060101010101" pitchFamily="49" charset="-122"/>
              </a:rPr>
              <a:t>CFG</a:t>
            </a:r>
            <a:r>
              <a:rPr lang="zh-CN" altLang="en-US" sz="2800" dirty="0">
                <a:ea typeface="隶书" panose="02010509060101010101" pitchFamily="49" charset="-122"/>
              </a:rPr>
              <a:t>的四元式</a:t>
            </a:r>
            <a:r>
              <a:rPr lang="en-US" altLang="zh-CN" sz="2800" dirty="0"/>
              <a:t>(V</a:t>
            </a:r>
            <a:r>
              <a:rPr lang="en-US" altLang="zh-CN" sz="2800" baseline="-25000" dirty="0"/>
              <a:t>T</a:t>
            </a:r>
            <a:r>
              <a:rPr lang="en-US" altLang="zh-CN" sz="2800" dirty="0"/>
              <a:t>, V</a:t>
            </a:r>
            <a:r>
              <a:rPr lang="en-US" altLang="zh-CN" sz="2800" baseline="-25000" dirty="0"/>
              <a:t>N</a:t>
            </a:r>
            <a:r>
              <a:rPr lang="en-US" altLang="zh-CN" sz="2800" dirty="0"/>
              <a:t>, S, </a:t>
            </a:r>
            <a:r>
              <a:rPr lang="en-US" altLang="zh-CN" sz="2800" dirty="0">
                <a:latin typeface="Monotype Corsiva" panose="03010101010201010101" pitchFamily="66" charset="0"/>
                <a:ea typeface="Batang" panose="02030600000101010101" pitchFamily="18" charset="-127"/>
              </a:rPr>
              <a:t>P</a:t>
            </a:r>
            <a:r>
              <a:rPr lang="en-US" altLang="zh-CN" sz="2800" dirty="0"/>
              <a:t>)</a:t>
            </a:r>
            <a:r>
              <a:rPr lang="zh-CN" altLang="en-US" sz="2800" dirty="0">
                <a:ea typeface="隶书" panose="02010509060101010101" pitchFamily="49" charset="-122"/>
              </a:rPr>
              <a:t>，说法正确的是</a:t>
            </a:r>
            <a:r>
              <a:rPr lang="pt-BR" altLang="zh-CN" sz="2800" dirty="0">
                <a:ea typeface="隶书" panose="02010509060101010101" pitchFamily="49" charset="-122"/>
              </a:rPr>
              <a:t>__________</a:t>
            </a:r>
            <a:r>
              <a:rPr lang="zh-CN" altLang="zh-CN" sz="2800" dirty="0">
                <a:ea typeface="隶书" panose="02010509060101010101" pitchFamily="49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8547" name="文本框 4">
            <a:extLst>
              <a:ext uri="{FF2B5EF4-FFF2-40B4-BE49-F238E27FC236}">
                <a16:creationId xmlns:a16="http://schemas.microsoft.com/office/drawing/2014/main" id="{BF5B35BF-530D-40CE-BC3C-CA511E52AC10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S∈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T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8548" name="文本框 5">
            <a:extLst>
              <a:ext uri="{FF2B5EF4-FFF2-40B4-BE49-F238E27FC236}">
                <a16:creationId xmlns:a16="http://schemas.microsoft.com/office/drawing/2014/main" id="{BAE4033B-A47D-4814-B284-C623F3821608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S∈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N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8549" name="文本框 6">
            <a:extLst>
              <a:ext uri="{FF2B5EF4-FFF2-40B4-BE49-F238E27FC236}">
                <a16:creationId xmlns:a16="http://schemas.microsoft.com/office/drawing/2014/main" id="{B64626B3-412E-4CBA-B712-9412E1666B8F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S∈</a:t>
            </a:r>
            <a:r>
              <a:rPr lang="en-US" altLang="zh-CN" sz="2400" dirty="0">
                <a:latin typeface="Monotype Corsiva" panose="03010101010201010101" pitchFamily="66" charset="0"/>
                <a:ea typeface="Batang" panose="02030600000101010101" pitchFamily="18" charset="-127"/>
              </a:rPr>
              <a:t>P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8550" name="文本框 7">
            <a:extLst>
              <a:ext uri="{FF2B5EF4-FFF2-40B4-BE49-F238E27FC236}">
                <a16:creationId xmlns:a16="http://schemas.microsoft.com/office/drawing/2014/main" id="{84260C6F-B73A-4A39-8879-4D37ECBD31AE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以上皆错</a:t>
            </a:r>
          </a:p>
        </p:txBody>
      </p:sp>
      <p:sp>
        <p:nvSpPr>
          <p:cNvPr id="108551" name="椭圆 8">
            <a:extLst>
              <a:ext uri="{FF2B5EF4-FFF2-40B4-BE49-F238E27FC236}">
                <a16:creationId xmlns:a16="http://schemas.microsoft.com/office/drawing/2014/main" id="{912D86CF-75F8-4FA8-9D81-0F5F7DA43B2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8552" name="椭圆 9">
            <a:extLst>
              <a:ext uri="{FF2B5EF4-FFF2-40B4-BE49-F238E27FC236}">
                <a16:creationId xmlns:a16="http://schemas.microsoft.com/office/drawing/2014/main" id="{33A1F1BD-EAB3-4811-A099-8A3EFA83EAF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8553" name="椭圆 10">
            <a:extLst>
              <a:ext uri="{FF2B5EF4-FFF2-40B4-BE49-F238E27FC236}">
                <a16:creationId xmlns:a16="http://schemas.microsoft.com/office/drawing/2014/main" id="{72E6070E-E877-4D53-BCD4-1266AD25984F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8554" name="椭圆 11">
            <a:extLst>
              <a:ext uri="{FF2B5EF4-FFF2-40B4-BE49-F238E27FC236}">
                <a16:creationId xmlns:a16="http://schemas.microsoft.com/office/drawing/2014/main" id="{6D9EBC30-E9E8-4D14-B9FC-D74D8DED9C1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8555" name="矩形: 圆角 12">
            <a:extLst>
              <a:ext uri="{FF2B5EF4-FFF2-40B4-BE49-F238E27FC236}">
                <a16:creationId xmlns:a16="http://schemas.microsoft.com/office/drawing/2014/main" id="{2151379D-5BB0-4E85-8905-CE5676936F77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08556" name="组合 17">
            <a:extLst>
              <a:ext uri="{FF2B5EF4-FFF2-40B4-BE49-F238E27FC236}">
                <a16:creationId xmlns:a16="http://schemas.microsoft.com/office/drawing/2014/main" id="{1CD1D84F-35F0-43F8-A98A-73F37281BEDC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08558" name="TitleBackground">
              <a:extLst>
                <a:ext uri="{FF2B5EF4-FFF2-40B4-BE49-F238E27FC236}">
                  <a16:creationId xmlns:a16="http://schemas.microsoft.com/office/drawing/2014/main" id="{8A0EEDB3-C32A-4541-B8F6-411600CDB6A0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8559" name="ColorBlock">
              <a:extLst>
                <a:ext uri="{FF2B5EF4-FFF2-40B4-BE49-F238E27FC236}">
                  <a16:creationId xmlns:a16="http://schemas.microsoft.com/office/drawing/2014/main" id="{E761F74B-FA3E-4507-BC2E-8BD96AD40B63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8560" name="TypeText">
              <a:extLst>
                <a:ext uri="{FF2B5EF4-FFF2-40B4-BE49-F238E27FC236}">
                  <a16:creationId xmlns:a16="http://schemas.microsoft.com/office/drawing/2014/main" id="{2C0C17B9-CB75-4570-9768-9E601F2BD28D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08561" name="TipText">
              <a:extLst>
                <a:ext uri="{FF2B5EF4-FFF2-40B4-BE49-F238E27FC236}">
                  <a16:creationId xmlns:a16="http://schemas.microsoft.com/office/drawing/2014/main" id="{AF569DBD-1D6A-4286-8266-22D7A517833A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08557" name="图片 2">
            <a:extLst>
              <a:ext uri="{FF2B5EF4-FFF2-40B4-BE49-F238E27FC236}">
                <a16:creationId xmlns:a16="http://schemas.microsoft.com/office/drawing/2014/main" id="{5F103EF4-123E-4D8E-8DCD-66A87457CFD7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4570551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文本框 3">
            <a:extLst>
              <a:ext uri="{FF2B5EF4-FFF2-40B4-BE49-F238E27FC236}">
                <a16:creationId xmlns:a16="http://schemas.microsoft.com/office/drawing/2014/main" id="{E3E588D0-854A-413C-894D-29D10CB03BA4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2800" dirty="0">
                <a:ea typeface="隶书" panose="02010509060101010101" pitchFamily="49" charset="-122"/>
              </a:rPr>
              <a:t>关于一个文法</a:t>
            </a:r>
            <a:r>
              <a:rPr lang="en-US" altLang="zh-CN" sz="2800" dirty="0">
                <a:ea typeface="隶书" panose="02010509060101010101" pitchFamily="49" charset="-122"/>
              </a:rPr>
              <a:t>G</a:t>
            </a:r>
            <a:r>
              <a:rPr lang="zh-CN" altLang="en-US" sz="2800" dirty="0">
                <a:ea typeface="隶书" panose="02010509060101010101" pitchFamily="49" charset="-122"/>
              </a:rPr>
              <a:t>具有二义性的判定，下面错误的是</a:t>
            </a:r>
            <a:r>
              <a:rPr lang="pt-BR" altLang="zh-CN" sz="2800" dirty="0">
                <a:ea typeface="隶书" panose="02010509060101010101" pitchFamily="49" charset="-122"/>
              </a:rPr>
              <a:t>__________</a:t>
            </a:r>
            <a:r>
              <a:rPr lang="zh-CN" altLang="zh-CN" sz="2800" dirty="0">
                <a:ea typeface="隶书" panose="02010509060101010101" pitchFamily="49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8547" name="文本框 4">
            <a:extLst>
              <a:ext uri="{FF2B5EF4-FFF2-40B4-BE49-F238E27FC236}">
                <a16:creationId xmlns:a16="http://schemas.microsoft.com/office/drawing/2014/main" id="{BF5B35BF-530D-40CE-BC3C-CA511E52AC10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对一个单词串，有两棵语法树</a:t>
            </a:r>
          </a:p>
        </p:txBody>
      </p:sp>
      <p:sp>
        <p:nvSpPr>
          <p:cNvPr id="108548" name="文本框 5">
            <a:extLst>
              <a:ext uri="{FF2B5EF4-FFF2-40B4-BE49-F238E27FC236}">
                <a16:creationId xmlns:a16="http://schemas.microsoft.com/office/drawing/2014/main" id="{BAE4033B-A47D-4814-B284-C623F3821608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对一个单词串，有两个推导</a:t>
            </a:r>
          </a:p>
        </p:txBody>
      </p:sp>
      <p:sp>
        <p:nvSpPr>
          <p:cNvPr id="108549" name="文本框 6">
            <a:extLst>
              <a:ext uri="{FF2B5EF4-FFF2-40B4-BE49-F238E27FC236}">
                <a16:creationId xmlns:a16="http://schemas.microsoft.com/office/drawing/2014/main" id="{B64626B3-412E-4CBA-B712-9412E1666B8F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对一个单词串，有两个最左推导</a:t>
            </a:r>
          </a:p>
        </p:txBody>
      </p:sp>
      <p:sp>
        <p:nvSpPr>
          <p:cNvPr id="108550" name="文本框 7">
            <a:extLst>
              <a:ext uri="{FF2B5EF4-FFF2-40B4-BE49-F238E27FC236}">
                <a16:creationId xmlns:a16="http://schemas.microsoft.com/office/drawing/2014/main" id="{84260C6F-B73A-4A39-8879-4D37ECBD31AE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对一个单词串，有两个最右推导</a:t>
            </a:r>
          </a:p>
        </p:txBody>
      </p:sp>
      <p:sp>
        <p:nvSpPr>
          <p:cNvPr id="108551" name="椭圆 8">
            <a:extLst>
              <a:ext uri="{FF2B5EF4-FFF2-40B4-BE49-F238E27FC236}">
                <a16:creationId xmlns:a16="http://schemas.microsoft.com/office/drawing/2014/main" id="{912D86CF-75F8-4FA8-9D81-0F5F7DA43B2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8552" name="椭圆 9">
            <a:extLst>
              <a:ext uri="{FF2B5EF4-FFF2-40B4-BE49-F238E27FC236}">
                <a16:creationId xmlns:a16="http://schemas.microsoft.com/office/drawing/2014/main" id="{33A1F1BD-EAB3-4811-A099-8A3EFA83EAF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8553" name="椭圆 10">
            <a:extLst>
              <a:ext uri="{FF2B5EF4-FFF2-40B4-BE49-F238E27FC236}">
                <a16:creationId xmlns:a16="http://schemas.microsoft.com/office/drawing/2014/main" id="{72E6070E-E877-4D53-BCD4-1266AD25984F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8554" name="椭圆 11">
            <a:extLst>
              <a:ext uri="{FF2B5EF4-FFF2-40B4-BE49-F238E27FC236}">
                <a16:creationId xmlns:a16="http://schemas.microsoft.com/office/drawing/2014/main" id="{6D9EBC30-E9E8-4D14-B9FC-D74D8DED9C1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8555" name="矩形: 圆角 12">
            <a:extLst>
              <a:ext uri="{FF2B5EF4-FFF2-40B4-BE49-F238E27FC236}">
                <a16:creationId xmlns:a16="http://schemas.microsoft.com/office/drawing/2014/main" id="{2151379D-5BB0-4E85-8905-CE5676936F77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08556" name="组合 17">
            <a:extLst>
              <a:ext uri="{FF2B5EF4-FFF2-40B4-BE49-F238E27FC236}">
                <a16:creationId xmlns:a16="http://schemas.microsoft.com/office/drawing/2014/main" id="{1CD1D84F-35F0-43F8-A98A-73F37281BEDC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08558" name="TitleBackground">
              <a:extLst>
                <a:ext uri="{FF2B5EF4-FFF2-40B4-BE49-F238E27FC236}">
                  <a16:creationId xmlns:a16="http://schemas.microsoft.com/office/drawing/2014/main" id="{8A0EEDB3-C32A-4541-B8F6-411600CDB6A0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8559" name="ColorBlock">
              <a:extLst>
                <a:ext uri="{FF2B5EF4-FFF2-40B4-BE49-F238E27FC236}">
                  <a16:creationId xmlns:a16="http://schemas.microsoft.com/office/drawing/2014/main" id="{E761F74B-FA3E-4507-BC2E-8BD96AD40B63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8560" name="TypeText">
              <a:extLst>
                <a:ext uri="{FF2B5EF4-FFF2-40B4-BE49-F238E27FC236}">
                  <a16:creationId xmlns:a16="http://schemas.microsoft.com/office/drawing/2014/main" id="{2C0C17B9-CB75-4570-9768-9E601F2BD28D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08561" name="TipText">
              <a:extLst>
                <a:ext uri="{FF2B5EF4-FFF2-40B4-BE49-F238E27FC236}">
                  <a16:creationId xmlns:a16="http://schemas.microsoft.com/office/drawing/2014/main" id="{AF569DBD-1D6A-4286-8266-22D7A517833A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08557" name="图片 2">
            <a:extLst>
              <a:ext uri="{FF2B5EF4-FFF2-40B4-BE49-F238E27FC236}">
                <a16:creationId xmlns:a16="http://schemas.microsoft.com/office/drawing/2014/main" id="{5F103EF4-123E-4D8E-8DCD-66A87457CFD7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0696347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文本框 3">
            <a:extLst>
              <a:ext uri="{FF2B5EF4-FFF2-40B4-BE49-F238E27FC236}">
                <a16:creationId xmlns:a16="http://schemas.microsoft.com/office/drawing/2014/main" id="{E3E588D0-854A-413C-894D-29D10CB03BA4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2800" dirty="0">
                <a:ea typeface="隶书" panose="02010509060101010101" pitchFamily="49" charset="-122"/>
              </a:rPr>
              <a:t>关于语法制导定义中的综合属性，下面说法正确的是</a:t>
            </a:r>
            <a:r>
              <a:rPr lang="pt-BR" altLang="zh-CN" sz="2800" dirty="0">
                <a:ea typeface="隶书" panose="02010509060101010101" pitchFamily="49" charset="-122"/>
              </a:rPr>
              <a:t>__________</a:t>
            </a:r>
            <a:r>
              <a:rPr lang="zh-CN" altLang="zh-CN" sz="2800" dirty="0">
                <a:ea typeface="隶书" panose="02010509060101010101" pitchFamily="49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8547" name="文本框 4">
            <a:extLst>
              <a:ext uri="{FF2B5EF4-FFF2-40B4-BE49-F238E27FC236}">
                <a16:creationId xmlns:a16="http://schemas.microsoft.com/office/drawing/2014/main" id="{BF5B35BF-530D-40CE-BC3C-CA511E52AC10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父节点属性值依赖孩子节点属性值</a:t>
            </a:r>
          </a:p>
        </p:txBody>
      </p:sp>
      <p:sp>
        <p:nvSpPr>
          <p:cNvPr id="108548" name="文本框 5">
            <a:extLst>
              <a:ext uri="{FF2B5EF4-FFF2-40B4-BE49-F238E27FC236}">
                <a16:creationId xmlns:a16="http://schemas.microsoft.com/office/drawing/2014/main" id="{BAE4033B-A47D-4814-B284-C623F3821608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孩子节点属性值依赖父节点属性值</a:t>
            </a:r>
          </a:p>
        </p:txBody>
      </p:sp>
      <p:sp>
        <p:nvSpPr>
          <p:cNvPr id="108549" name="文本框 6">
            <a:extLst>
              <a:ext uri="{FF2B5EF4-FFF2-40B4-BE49-F238E27FC236}">
                <a16:creationId xmlns:a16="http://schemas.microsoft.com/office/drawing/2014/main" id="{B64626B3-412E-4CBA-B712-9412E1666B8F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孩子节点属性值依赖兄弟节点属性值</a:t>
            </a:r>
          </a:p>
        </p:txBody>
      </p:sp>
      <p:sp>
        <p:nvSpPr>
          <p:cNvPr id="108550" name="文本框 7">
            <a:extLst>
              <a:ext uri="{FF2B5EF4-FFF2-40B4-BE49-F238E27FC236}">
                <a16:creationId xmlns:a16="http://schemas.microsoft.com/office/drawing/2014/main" id="{84260C6F-B73A-4A39-8879-4D37ECBD31AE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以上皆错</a:t>
            </a:r>
          </a:p>
        </p:txBody>
      </p:sp>
      <p:sp>
        <p:nvSpPr>
          <p:cNvPr id="108551" name="椭圆 8">
            <a:extLst>
              <a:ext uri="{FF2B5EF4-FFF2-40B4-BE49-F238E27FC236}">
                <a16:creationId xmlns:a16="http://schemas.microsoft.com/office/drawing/2014/main" id="{912D86CF-75F8-4FA8-9D81-0F5F7DA43B2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8552" name="椭圆 9">
            <a:extLst>
              <a:ext uri="{FF2B5EF4-FFF2-40B4-BE49-F238E27FC236}">
                <a16:creationId xmlns:a16="http://schemas.microsoft.com/office/drawing/2014/main" id="{33A1F1BD-EAB3-4811-A099-8A3EFA83EAF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8553" name="椭圆 10">
            <a:extLst>
              <a:ext uri="{FF2B5EF4-FFF2-40B4-BE49-F238E27FC236}">
                <a16:creationId xmlns:a16="http://schemas.microsoft.com/office/drawing/2014/main" id="{72E6070E-E877-4D53-BCD4-1266AD25984F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8554" name="椭圆 11">
            <a:extLst>
              <a:ext uri="{FF2B5EF4-FFF2-40B4-BE49-F238E27FC236}">
                <a16:creationId xmlns:a16="http://schemas.microsoft.com/office/drawing/2014/main" id="{6D9EBC30-E9E8-4D14-B9FC-D74D8DED9C1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8555" name="矩形: 圆角 12">
            <a:extLst>
              <a:ext uri="{FF2B5EF4-FFF2-40B4-BE49-F238E27FC236}">
                <a16:creationId xmlns:a16="http://schemas.microsoft.com/office/drawing/2014/main" id="{2151379D-5BB0-4E85-8905-CE5676936F77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08556" name="组合 17">
            <a:extLst>
              <a:ext uri="{FF2B5EF4-FFF2-40B4-BE49-F238E27FC236}">
                <a16:creationId xmlns:a16="http://schemas.microsoft.com/office/drawing/2014/main" id="{1CD1D84F-35F0-43F8-A98A-73F37281BEDC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08558" name="TitleBackground">
              <a:extLst>
                <a:ext uri="{FF2B5EF4-FFF2-40B4-BE49-F238E27FC236}">
                  <a16:creationId xmlns:a16="http://schemas.microsoft.com/office/drawing/2014/main" id="{8A0EEDB3-C32A-4541-B8F6-411600CDB6A0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8559" name="ColorBlock">
              <a:extLst>
                <a:ext uri="{FF2B5EF4-FFF2-40B4-BE49-F238E27FC236}">
                  <a16:creationId xmlns:a16="http://schemas.microsoft.com/office/drawing/2014/main" id="{E761F74B-FA3E-4507-BC2E-8BD96AD40B63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8560" name="TypeText">
              <a:extLst>
                <a:ext uri="{FF2B5EF4-FFF2-40B4-BE49-F238E27FC236}">
                  <a16:creationId xmlns:a16="http://schemas.microsoft.com/office/drawing/2014/main" id="{2C0C17B9-CB75-4570-9768-9E601F2BD28D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08561" name="TipText">
              <a:extLst>
                <a:ext uri="{FF2B5EF4-FFF2-40B4-BE49-F238E27FC236}">
                  <a16:creationId xmlns:a16="http://schemas.microsoft.com/office/drawing/2014/main" id="{AF569DBD-1D6A-4286-8266-22D7A517833A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08557" name="图片 2">
            <a:extLst>
              <a:ext uri="{FF2B5EF4-FFF2-40B4-BE49-F238E27FC236}">
                <a16:creationId xmlns:a16="http://schemas.microsoft.com/office/drawing/2014/main" id="{5F103EF4-123E-4D8E-8DCD-66A87457CFD7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333374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FF3300"/>
          </a:buClr>
          <a:buSzPct val="75000"/>
          <a:buFont typeface="Wingdings" pitchFamily="2" charset="2"/>
          <a:buChar char="m"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隶书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FF3300"/>
          </a:buClr>
          <a:buSzPct val="75000"/>
          <a:buFont typeface="Wingdings" pitchFamily="2" charset="2"/>
          <a:buChar char="m"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隶书" pitchFamily="49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7958</TotalTime>
  <Words>8485</Words>
  <Application>Microsoft Office PowerPoint</Application>
  <PresentationFormat>全屏显示(4:3)</PresentationFormat>
  <Paragraphs>1358</Paragraphs>
  <Slides>126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126</vt:i4>
      </vt:variant>
    </vt:vector>
  </HeadingPairs>
  <TitlesOfParts>
    <vt:vector size="138" baseType="lpstr">
      <vt:lpstr>等线</vt:lpstr>
      <vt:lpstr>黑体</vt:lpstr>
      <vt:lpstr>宋体</vt:lpstr>
      <vt:lpstr>Microsoft Yahei</vt:lpstr>
      <vt:lpstr>Courier New</vt:lpstr>
      <vt:lpstr>Monotype Corsiva</vt:lpstr>
      <vt:lpstr>Symbol</vt:lpstr>
      <vt:lpstr>Tahoma</vt:lpstr>
      <vt:lpstr>Times New Roman</vt:lpstr>
      <vt:lpstr>Wingdings</vt:lpstr>
      <vt:lpstr>Blends</vt:lpstr>
      <vt:lpstr>Equation</vt:lpstr>
      <vt:lpstr>第二章  一个简单的编译器</vt:lpstr>
      <vt:lpstr>学习内容</vt:lpstr>
      <vt:lpstr>2.1  概述</vt:lpstr>
      <vt:lpstr>构造一个简单的编译器</vt:lpstr>
      <vt:lpstr>2.2  语法定义</vt:lpstr>
      <vt:lpstr>上下文无关文法</vt:lpstr>
      <vt:lpstr>形式化定义</vt:lpstr>
      <vt:lpstr>几个概念（续）</vt:lpstr>
      <vt:lpstr>四元式定义上下文无法文法</vt:lpstr>
      <vt:lpstr>例2.1  符号约定</vt:lpstr>
      <vt:lpstr>PowerPoint 演示文稿</vt:lpstr>
      <vt:lpstr>PowerPoint 演示文稿</vt:lpstr>
      <vt:lpstr>PowerPoint 演示文稿</vt:lpstr>
      <vt:lpstr>PowerPoint 演示文稿</vt:lpstr>
      <vt:lpstr>推导</vt:lpstr>
      <vt:lpstr>例2.2</vt:lpstr>
      <vt:lpstr>2.2.1  语法分析树（parse tree）</vt:lpstr>
      <vt:lpstr>例2.4</vt:lpstr>
      <vt:lpstr>2.2.2  二义性（ambiguity）</vt:lpstr>
      <vt:lpstr>例2.5</vt:lpstr>
      <vt:lpstr>2.2.3  运算符的结合率</vt:lpstr>
      <vt:lpstr>右结合例</vt:lpstr>
      <vt:lpstr>2.2.4  运算符优先级</vt:lpstr>
      <vt:lpstr>设计非二义性的表达式文法</vt:lpstr>
      <vt:lpstr>推导练习</vt:lpstr>
      <vt:lpstr>推导练习</vt:lpstr>
      <vt:lpstr>Grammar-based compression</vt:lpstr>
      <vt:lpstr>2.3  语法制导翻译</vt:lpstr>
      <vt:lpstr>怎么设计语法制导翻译程序</vt:lpstr>
      <vt:lpstr>2.3.1  表达式的后缀表示法</vt:lpstr>
      <vt:lpstr>2.3.2  语法制导定义</vt:lpstr>
      <vt:lpstr>语法制导翻译的基本过程</vt:lpstr>
      <vt:lpstr>2.3.3  综合属性</vt:lpstr>
      <vt:lpstr>例2.6</vt:lpstr>
      <vt:lpstr>翻译方法语义规则</vt:lpstr>
      <vt:lpstr>例2.6（续）</vt:lpstr>
      <vt:lpstr>例2.6（续）注释语法分析树</vt:lpstr>
      <vt:lpstr>2.3.4  语法制导定义的实现</vt:lpstr>
      <vt:lpstr>2.3.5  翻译模式</vt:lpstr>
      <vt:lpstr>2.3.6  执行翻译模式</vt:lpstr>
      <vt:lpstr>如何设计翻译模式？</vt:lpstr>
      <vt:lpstr>如何设计翻译模式（续）</vt:lpstr>
      <vt:lpstr>例2.8</vt:lpstr>
      <vt:lpstr>翻译模式设计练习</vt:lpstr>
      <vt:lpstr>Yacc</vt:lpstr>
      <vt:lpstr>Yacc程序结构</vt:lpstr>
      <vt:lpstr>例：简单表达式计算</vt:lpstr>
      <vt:lpstr>例：简单表达式计算（续）</vt:lpstr>
      <vt:lpstr>例：简单表达式计算（续）</vt:lpstr>
      <vt:lpstr>例：简单表达式计算（续）</vt:lpstr>
      <vt:lpstr>例：简单表达式计算（续）</vt:lpstr>
      <vt:lpstr>C++版本</vt:lpstr>
      <vt:lpstr>C++版本（续）</vt:lpstr>
      <vt:lpstr>C++版本（续）</vt:lpstr>
      <vt:lpstr>C++版本（续）</vt:lpstr>
      <vt:lpstr>C++版本（续）</vt:lpstr>
      <vt:lpstr>C++版本（续）</vt:lpstr>
      <vt:lpstr>2.4  语法分析</vt:lpstr>
      <vt:lpstr>2.4.1  自顶向下分析方法</vt:lpstr>
      <vt:lpstr>例：Pascal的类型</vt:lpstr>
      <vt:lpstr>语法分析树构造过程</vt:lpstr>
      <vt:lpstr>语法分析树构造过程</vt:lpstr>
      <vt:lpstr>语法分析树构造过程（续）</vt:lpstr>
      <vt:lpstr>语法分析树构造过程（续）</vt:lpstr>
      <vt:lpstr>平凡算法</vt:lpstr>
      <vt:lpstr>扫描输入分析过程</vt:lpstr>
      <vt:lpstr>扫描输入分析过程（续）</vt:lpstr>
      <vt:lpstr>扫描输入分析过程（续）</vt:lpstr>
      <vt:lpstr>扫描输入分析过程（续）</vt:lpstr>
      <vt:lpstr>扫描输入分析过程（续）</vt:lpstr>
      <vt:lpstr>2.4.2  预测分析</vt:lpstr>
      <vt:lpstr>预测分析程序</vt:lpstr>
      <vt:lpstr>预测分析程序（续）</vt:lpstr>
      <vt:lpstr>预测分析程序（续）</vt:lpstr>
      <vt:lpstr>2.4.4  设计预测分析器</vt:lpstr>
      <vt:lpstr>预测分析器算法</vt:lpstr>
      <vt:lpstr>预测分析器算法</vt:lpstr>
      <vt:lpstr>结合翻译模式</vt:lpstr>
      <vt:lpstr>2.4.5  左递归</vt:lpstr>
      <vt:lpstr>左递归的另一个问题</vt:lpstr>
      <vt:lpstr>消除左递归</vt:lpstr>
      <vt:lpstr>左递归 vs. 右递归语法树差异</vt:lpstr>
      <vt:lpstr>2.5  构造表达式转换的编译器</vt:lpstr>
      <vt:lpstr>消除左递归、加入翻译模式</vt:lpstr>
      <vt:lpstr>9-5+2翻译为95-2+</vt:lpstr>
      <vt:lpstr>2.5.3  非终结符实现代码</vt:lpstr>
      <vt:lpstr>非终结符的分析函数——rest</vt:lpstr>
      <vt:lpstr>非终结符的分析函数——term</vt:lpstr>
      <vt:lpstr>2.5.4  优化——消除rest尾递归</vt:lpstr>
      <vt:lpstr>优化——rest并入expr</vt:lpstr>
      <vt:lpstr>2.5.5  完整程序</vt:lpstr>
      <vt:lpstr>2.6 词法分析</vt:lpstr>
      <vt:lpstr>2.6.4  词法分析器接口</vt:lpstr>
      <vt:lpstr>2.6.5  词法分析器程序</vt:lpstr>
      <vt:lpstr>词法分析器程序（续）</vt:lpstr>
      <vt:lpstr>2.7 符号表</vt:lpstr>
      <vt:lpstr>2.7.3  一种实现方式</vt:lpstr>
      <vt:lpstr>带有符号表功能的词法分析器</vt:lpstr>
      <vt:lpstr>带有符号表功能的词法分析器</vt:lpstr>
      <vt:lpstr>Lcc的符号表</vt:lpstr>
      <vt:lpstr>字符串管理</vt:lpstr>
      <vt:lpstr>字符串管理</vt:lpstr>
      <vt:lpstr>符号表</vt:lpstr>
      <vt:lpstr>符号表</vt:lpstr>
      <vt:lpstr>符号表</vt:lpstr>
      <vt:lpstr>2.8 代码生成</vt:lpstr>
      <vt:lpstr>表达式的代码生成（续）</vt:lpstr>
      <vt:lpstr>控制流的翻译</vt:lpstr>
      <vt:lpstr>控制流语句的翻译</vt:lpstr>
      <vt:lpstr>2.8.7  翻译模式</vt:lpstr>
      <vt:lpstr>stmt分析函数</vt:lpstr>
      <vt:lpstr>2.9 完整的编译器</vt:lpstr>
      <vt:lpstr>完整的文法</vt:lpstr>
      <vt:lpstr>总结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南开大学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介绍</dc:title>
  <dc:creator>王刚</dc:creator>
  <cp:lastModifiedBy>刚 王</cp:lastModifiedBy>
  <cp:revision>894</cp:revision>
  <dcterms:created xsi:type="dcterms:W3CDTF">2003-06-05T11:51:39Z</dcterms:created>
  <dcterms:modified xsi:type="dcterms:W3CDTF">2025-09-20T02:12:43Z</dcterms:modified>
</cp:coreProperties>
</file>