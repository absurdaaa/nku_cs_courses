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1"/>
  </p:notesMasterIdLst>
  <p:handoutMasterIdLst>
    <p:handoutMasterId r:id="rId132"/>
  </p:handoutMasterIdLst>
  <p:sldIdLst>
    <p:sldId id="256" r:id="rId2"/>
    <p:sldId id="364" r:id="rId3"/>
    <p:sldId id="257" r:id="rId4"/>
    <p:sldId id="258" r:id="rId5"/>
    <p:sldId id="259" r:id="rId6"/>
    <p:sldId id="260" r:id="rId7"/>
    <p:sldId id="261" r:id="rId8"/>
    <p:sldId id="368" r:id="rId9"/>
    <p:sldId id="262" r:id="rId10"/>
    <p:sldId id="369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370" r:id="rId20"/>
    <p:sldId id="272" r:id="rId21"/>
    <p:sldId id="37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380" r:id="rId31"/>
    <p:sldId id="385" r:id="rId32"/>
    <p:sldId id="386" r:id="rId33"/>
    <p:sldId id="381" r:id="rId34"/>
    <p:sldId id="383" r:id="rId35"/>
    <p:sldId id="382" r:id="rId36"/>
    <p:sldId id="384" r:id="rId37"/>
    <p:sldId id="281" r:id="rId38"/>
    <p:sldId id="372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373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74" r:id="rId59"/>
    <p:sldId id="300" r:id="rId60"/>
    <p:sldId id="301" r:id="rId61"/>
    <p:sldId id="302" r:id="rId62"/>
    <p:sldId id="375" r:id="rId63"/>
    <p:sldId id="303" r:id="rId64"/>
    <p:sldId id="304" r:id="rId65"/>
    <p:sldId id="376" r:id="rId66"/>
    <p:sldId id="305" r:id="rId67"/>
    <p:sldId id="306" r:id="rId68"/>
    <p:sldId id="307" r:id="rId69"/>
    <p:sldId id="308" r:id="rId70"/>
    <p:sldId id="377" r:id="rId71"/>
    <p:sldId id="365" r:id="rId72"/>
    <p:sldId id="309" r:id="rId73"/>
    <p:sldId id="310" r:id="rId74"/>
    <p:sldId id="311" r:id="rId75"/>
    <p:sldId id="312" r:id="rId76"/>
    <p:sldId id="378" r:id="rId77"/>
    <p:sldId id="313" r:id="rId78"/>
    <p:sldId id="314" r:id="rId79"/>
    <p:sldId id="315" r:id="rId80"/>
    <p:sldId id="316" r:id="rId81"/>
    <p:sldId id="317" r:id="rId82"/>
    <p:sldId id="318" r:id="rId83"/>
    <p:sldId id="319" r:id="rId84"/>
    <p:sldId id="366" r:id="rId85"/>
    <p:sldId id="367" r:id="rId86"/>
    <p:sldId id="321" r:id="rId87"/>
    <p:sldId id="379" r:id="rId88"/>
    <p:sldId id="322" r:id="rId89"/>
    <p:sldId id="323" r:id="rId90"/>
    <p:sldId id="324" r:id="rId91"/>
    <p:sldId id="325" r:id="rId92"/>
    <p:sldId id="326" r:id="rId93"/>
    <p:sldId id="327" r:id="rId94"/>
    <p:sldId id="328" r:id="rId95"/>
    <p:sldId id="329" r:id="rId96"/>
    <p:sldId id="330" r:id="rId97"/>
    <p:sldId id="331" r:id="rId98"/>
    <p:sldId id="332" r:id="rId99"/>
    <p:sldId id="333" r:id="rId100"/>
    <p:sldId id="334" r:id="rId101"/>
    <p:sldId id="335" r:id="rId102"/>
    <p:sldId id="336" r:id="rId103"/>
    <p:sldId id="337" r:id="rId104"/>
    <p:sldId id="338" r:id="rId105"/>
    <p:sldId id="339" r:id="rId106"/>
    <p:sldId id="340" r:id="rId107"/>
    <p:sldId id="341" r:id="rId108"/>
    <p:sldId id="342" r:id="rId109"/>
    <p:sldId id="343" r:id="rId110"/>
    <p:sldId id="344" r:id="rId111"/>
    <p:sldId id="345" r:id="rId112"/>
    <p:sldId id="346" r:id="rId113"/>
    <p:sldId id="347" r:id="rId114"/>
    <p:sldId id="348" r:id="rId115"/>
    <p:sldId id="349" r:id="rId116"/>
    <p:sldId id="350" r:id="rId117"/>
    <p:sldId id="351" r:id="rId118"/>
    <p:sldId id="352" r:id="rId119"/>
    <p:sldId id="353" r:id="rId120"/>
    <p:sldId id="354" r:id="rId121"/>
    <p:sldId id="355" r:id="rId122"/>
    <p:sldId id="356" r:id="rId123"/>
    <p:sldId id="357" r:id="rId124"/>
    <p:sldId id="358" r:id="rId125"/>
    <p:sldId id="359" r:id="rId126"/>
    <p:sldId id="360" r:id="rId127"/>
    <p:sldId id="361" r:id="rId128"/>
    <p:sldId id="362" r:id="rId129"/>
    <p:sldId id="363" r:id="rId1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CF01"/>
    <a:srgbClr val="0000FF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120" d="100"/>
          <a:sy n="120" d="100"/>
        </p:scale>
        <p:origin x="13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7D446F34-D8C9-49E7-895D-8C59846242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CBDAD3D0-24AA-4409-9B73-0B1E64CB2A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B1801F16-A0E9-49F6-8DA5-BE31C0D8646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E5114C66-9135-4740-9F69-40CAB1F4C1A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EC6498E-F568-447E-B016-E17035CDD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5B5BC33-4047-4232-BA88-197BC52FD0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ADBCCBF-E089-4F79-BD1B-23FA7CA72C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DEB7CD0-00C1-40D3-AB8B-CCA121180B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44CDAAD-0DD9-473D-B585-6F78314309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1BD3136-FEDA-47F3-9A4D-8C3061A48F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2D6C183A-E791-45DD-8DD1-FF004736AD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8D2062-0386-47B9-876B-21174DDAC5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B8809C1-54DB-412D-96A7-22DBFB00606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15167F5-2B4E-4B5D-BDA2-CB1520E30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A5BFBBB-9A36-4D7A-A2E7-AAE11332C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6E48FD42-FAFD-41C2-A66D-7F233D0FF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D633181-E7D4-409D-B4D6-6D1E4854E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FFC9F5C1-A970-49C6-AE7D-074D2EBFE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CE640168-EA4A-4A0B-9D71-35319AD39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C365457F-4839-44D6-AAC0-ECD47AB7E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ABA13AB0-D0C2-4035-89D7-62C1ED67F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7CB57859-65E5-4C10-BFCF-9A177DABFBB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CFF26D0-D911-4281-A286-0AD87867B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D4D30790-CD58-4ABB-879C-F694215053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356CBE6-CDAE-436D-A433-7CC8A5AB9E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0162EEC-7CB7-4FF3-AC1D-D595C40CCB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0276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8D84ED-2C14-4CC1-B596-EDE87DA22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F74513A-C16E-481B-B5D5-597958262D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F871452-8D80-4CD8-9988-2BC189545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47634-3B98-4851-A2A0-2C4641F16F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43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B652F5E-0AAC-4A5E-9F36-3968FA9D19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7084C7D-E1A3-4B47-89B6-2FFF8B20F6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A2F696C-EA2B-4548-ADCE-3997C5837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4FD7D-2A14-4923-8927-5A01FA9653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1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1B25765-0290-445E-9889-3516FC4E6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DFB1F31-7405-4741-8796-DE7EB8122B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E666459-29E4-4A9B-AA2F-3ED25F063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5BC2D-87C8-4368-8A6D-B2CF911AF5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60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386D2D9-3ECC-4274-A859-A95144962A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510CD22-8789-4AE4-B35B-0FF9BD6B5A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88D85AD-2744-4C9A-9BA2-2426531854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BC09D-8EAC-4229-9C74-64374EC16F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95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14B38FE0-3B36-43DC-842B-D7BD177614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04854D3-FA50-49E7-8056-E330DC05B6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576DC41-EC86-4E6F-BF82-87AE7E7C9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00D00-8E91-4AB1-9C75-704D0DB38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97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09E6107-DB82-4CB1-B83B-7D1393FA98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E22166D-F1D8-4E88-BE27-2B093ECE45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A729C57-A6B5-4BF2-8F48-A7725701E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3AE20-DA72-4DDA-A903-643CF25396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02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E6B1115-46A5-451F-9A83-4BC24EC37D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ED00C37-813D-4809-A4B5-BF0689AE18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D0D33D1-F8DE-4525-BF68-F700F7A459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CB451-BEEC-42F5-A09D-0BCEC161A5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90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4A1DD20-11CA-4310-939A-A21BD4A2D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074141E-EB74-4A52-B1C2-05FBE0944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EB427DD-B667-45BB-975D-5061AB28A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AB07D-BFD6-4AAA-BA6C-ED4392790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310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C9F4D3F-22B5-4E0C-ADF2-4E0975F6E5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8DF6064-E2CC-48C3-B1D0-C018114F0D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3F918D-BD8E-4D74-84C3-90B3B71B3E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4C186-2D1E-4D0B-8563-A7986EC008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6288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939345A-C79A-4164-8C88-B7F146A757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8A1CE9-4799-4CFA-A006-B37AAEBD64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0F5CE13-E6F5-468F-9F75-794A1469A4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4C9BB-6340-44AD-909F-24B37EDB85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7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09ED1A1-A95D-4A4E-A5A7-F8F4305158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163C61-59AB-4732-B58F-C523C1667A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8DE1DF4-4562-4A17-BA06-41BAEDDDB8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337278-89ED-44C6-A20B-43A5008B24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43B248-A174-43B0-B33C-EC045CACD2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1184613-429B-4374-986D-3F1F21E7A5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64257D7-1CE8-4788-A6E7-EE7CCFA908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C958C68-A011-4CA7-937A-5EE9C00FA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C8C7D9F-2284-4FE3-ABDB-15985C450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716742D5-75BA-42E6-992F-3D2E0A3416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DE6FFAFC-3DC2-47F9-9CF7-61071A1AD6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1F0D5104-377C-461A-A889-667FB94826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A424FA42-5F07-4F9A-9957-830C75DC4E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 kern="1200">
          <a:solidFill>
            <a:srgbClr val="3333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 kern="1200">
          <a:solidFill>
            <a:srgbClr val="FF33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2A4A498-21E6-49B0-90D0-5231672F8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第五章  语法制导翻译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6A382E2-BECA-446A-882D-834FC7E9D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学习重点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01D6CD1-638F-4EE7-BDF3-2466507AC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语法制导定义概念</a:t>
            </a:r>
          </a:p>
          <a:p>
            <a:pPr eaLnBrk="1" hangingPunct="1"/>
            <a:r>
              <a:rPr lang="zh-CN" altLang="en-US"/>
              <a:t>利用语法制导定义构造语法树</a:t>
            </a:r>
          </a:p>
          <a:p>
            <a:pPr eaLnBrk="1" hangingPunct="1"/>
            <a:r>
              <a:rPr lang="en-US" altLang="zh-CN"/>
              <a:t>S-</a:t>
            </a:r>
            <a:r>
              <a:rPr lang="zh-CN" altLang="en-US"/>
              <a:t>属性定义、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</a:p>
          <a:p>
            <a:pPr eaLnBrk="1" hangingPunct="1"/>
            <a:r>
              <a:rPr lang="zh-CN" altLang="en-US"/>
              <a:t>自顶向下计算属性</a:t>
            </a:r>
          </a:p>
          <a:p>
            <a:pPr eaLnBrk="1" hangingPunct="1"/>
            <a:r>
              <a:rPr lang="zh-CN" altLang="en-US"/>
              <a:t>自底向上计算属性</a:t>
            </a:r>
          </a:p>
          <a:p>
            <a:pPr eaLnBrk="1" hangingPunct="1"/>
            <a:r>
              <a:rPr lang="zh-CN" altLang="en-US"/>
              <a:t>递归方法计算属性</a:t>
            </a:r>
          </a:p>
          <a:p>
            <a:pPr eaLnBrk="1" hangingPunct="1"/>
            <a:r>
              <a:rPr lang="zh-CN" altLang="en-US"/>
              <a:t>内存分配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F794B57-DDD0-4C85-A193-B23A88B74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CD791A4-0470-48C1-B058-18FADAFDF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362200"/>
            <a:ext cx="7772400" cy="4343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语法制导定义</a:t>
            </a:r>
          </a:p>
          <a:p>
            <a:pPr eaLnBrk="1" hangingPunct="1"/>
            <a:r>
              <a:rPr lang="zh-CN" altLang="en-US" sz="2800" dirty="0"/>
              <a:t>翻译模式</a:t>
            </a:r>
          </a:p>
          <a:p>
            <a:pPr eaLnBrk="1" hangingPunct="1"/>
            <a:r>
              <a:rPr lang="zh-CN" altLang="en-US" sz="2800" dirty="0"/>
              <a:t>“编程语言的翻译根据语法进行”</a:t>
            </a:r>
          </a:p>
          <a:p>
            <a:pPr eaLnBrk="1" hangingPunct="1"/>
            <a:r>
              <a:rPr lang="zh-CN" altLang="en-US" sz="2800" dirty="0"/>
              <a:t>“属性”，</a:t>
            </a:r>
            <a:r>
              <a:rPr lang="en-US" altLang="zh-CN" sz="2800" dirty="0">
                <a:solidFill>
                  <a:srgbClr val="FF3300"/>
                </a:solidFill>
              </a:rPr>
              <a:t>attribute</a:t>
            </a:r>
            <a:r>
              <a:rPr lang="en-US" altLang="zh-CN" sz="2800" dirty="0"/>
              <a:t>——</a:t>
            </a:r>
            <a:r>
              <a:rPr lang="zh-CN" altLang="en-US" sz="2800" dirty="0"/>
              <a:t>翻译结果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每个语法符号与若干属性相关联</a:t>
            </a:r>
          </a:p>
          <a:p>
            <a:pPr eaLnBrk="1" hangingPunct="1"/>
            <a:r>
              <a:rPr lang="zh-CN" altLang="en-US" sz="2800" dirty="0"/>
              <a:t>翻译</a:t>
            </a:r>
            <a:r>
              <a:rPr lang="en-US" altLang="zh-CN" sz="2800" dirty="0"/>
              <a:t>——</a:t>
            </a:r>
            <a:r>
              <a:rPr lang="zh-CN" altLang="en-US" sz="2800" dirty="0"/>
              <a:t>指定属性的相互依赖关系</a:t>
            </a:r>
          </a:p>
          <a:p>
            <a:pPr eaLnBrk="1" hangingPunct="1"/>
            <a:r>
              <a:rPr lang="zh-CN" altLang="en-US" sz="2800" dirty="0"/>
              <a:t>语义规则，</a:t>
            </a:r>
            <a:r>
              <a:rPr lang="en-US" altLang="zh-CN" sz="2800" dirty="0">
                <a:solidFill>
                  <a:srgbClr val="FF3300"/>
                </a:solidFill>
              </a:rPr>
              <a:t>semantic rule</a:t>
            </a:r>
            <a:r>
              <a:rPr lang="en-US" altLang="zh-CN" sz="2800" dirty="0"/>
              <a:t>——</a:t>
            </a:r>
            <a:r>
              <a:rPr lang="zh-CN" altLang="en-US" sz="2800" dirty="0"/>
              <a:t>翻译规则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语义规则的执行顺序反映属性的相互关系</a:t>
            </a:r>
          </a:p>
        </p:txBody>
      </p:sp>
      <p:pic>
        <p:nvPicPr>
          <p:cNvPr id="7172" name="Picture 4" descr="general">
            <a:extLst>
              <a:ext uri="{FF2B5EF4-FFF2-40B4-BE49-F238E27FC236}">
                <a16:creationId xmlns:a16="http://schemas.microsoft.com/office/drawing/2014/main" id="{2B0E6F29-7061-4E6E-B100-700932BEB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00175"/>
            <a:ext cx="662146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7D119D2-2090-4162-8606-80BA65D21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  </a:t>
            </a:r>
            <a:r>
              <a:rPr lang="zh-CN" altLang="en-US"/>
              <a:t>语法制导定义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1BB3172-2374-470E-B24D-5B88607F2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3340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扩充</a:t>
            </a:r>
            <a:r>
              <a:rPr lang="en-US" altLang="zh-CN" sz="2800" dirty="0"/>
              <a:t>CFG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/>
              <a:t>语法符号</a:t>
            </a:r>
            <a:r>
              <a:rPr lang="zh-CN" altLang="en-US" sz="2400" dirty="0">
                <a:sym typeface="Wingdings" panose="05000000000000000000" pitchFamily="2" charset="2"/>
              </a:rPr>
              <a:t>附加</a:t>
            </a:r>
            <a:r>
              <a:rPr lang="zh-CN" altLang="en-US" sz="2400" b="1" dirty="0">
                <a:ea typeface="黑体" panose="02010609060101010101" pitchFamily="49" charset="-122"/>
              </a:rPr>
              <a:t>属性</a:t>
            </a:r>
            <a:r>
              <a:rPr lang="en-US" altLang="zh-CN" sz="2400" dirty="0">
                <a:ea typeface="黑体" panose="02010609060101010101" pitchFamily="49" charset="-122"/>
              </a:rPr>
              <a:t>——</a:t>
            </a:r>
            <a:r>
              <a:rPr lang="zh-CN" altLang="en-US" sz="2400" dirty="0"/>
              <a:t>语法树节点，记录域</a:t>
            </a:r>
          </a:p>
          <a:p>
            <a:pPr lvl="1" eaLnBrk="1" hangingPunct="1"/>
            <a:r>
              <a:rPr lang="zh-CN" altLang="en-US" sz="2400" dirty="0"/>
              <a:t>产生式</a:t>
            </a:r>
            <a:r>
              <a:rPr lang="zh-CN" altLang="en-US" sz="2400" dirty="0">
                <a:sym typeface="Wingdings" panose="05000000000000000000" pitchFamily="2" charset="2"/>
              </a:rPr>
              <a:t>附加</a:t>
            </a:r>
            <a:r>
              <a:rPr lang="zh-CN" altLang="en-US" sz="2400" b="1" dirty="0">
                <a:ea typeface="黑体" panose="02010609060101010101" pitchFamily="49" charset="-122"/>
              </a:rPr>
              <a:t>语义规则</a:t>
            </a:r>
            <a:r>
              <a:rPr lang="en-US" altLang="zh-CN" sz="2400" dirty="0"/>
              <a:t>——</a:t>
            </a:r>
            <a:r>
              <a:rPr lang="zh-CN" altLang="en-US" sz="2400" dirty="0"/>
              <a:t>语法树节点，属性计算规则</a:t>
            </a:r>
          </a:p>
          <a:p>
            <a:pPr eaLnBrk="1" hangingPunct="1"/>
            <a:r>
              <a:rPr lang="zh-CN" altLang="en-US" sz="2800" dirty="0"/>
              <a:t>属性类型</a:t>
            </a:r>
          </a:p>
          <a:p>
            <a:pPr lvl="1" eaLnBrk="1" hangingPunct="1"/>
            <a:r>
              <a:rPr lang="zh-CN" altLang="en-US" sz="2400" dirty="0"/>
              <a:t>综合，</a:t>
            </a:r>
            <a:r>
              <a:rPr lang="en-US" altLang="zh-CN" sz="2400" dirty="0">
                <a:solidFill>
                  <a:srgbClr val="FF3300"/>
                </a:solidFill>
              </a:rPr>
              <a:t>synthesized</a:t>
            </a:r>
            <a:r>
              <a:rPr lang="zh-CN" altLang="en-US" sz="2400" dirty="0"/>
              <a:t>，根据孩子节点属性计算</a:t>
            </a:r>
          </a:p>
          <a:p>
            <a:pPr lvl="1" eaLnBrk="1" hangingPunct="1"/>
            <a:r>
              <a:rPr lang="zh-CN" altLang="en-US" sz="2400" dirty="0"/>
              <a:t>继承，</a:t>
            </a:r>
            <a:r>
              <a:rPr lang="en-US" altLang="zh-CN" sz="2400" dirty="0">
                <a:solidFill>
                  <a:srgbClr val="FF3300"/>
                </a:solidFill>
              </a:rPr>
              <a:t>inherited</a:t>
            </a:r>
            <a:r>
              <a:rPr lang="zh-CN" altLang="en-US" sz="2400" dirty="0"/>
              <a:t>，由父、兄弟节点属性计算</a:t>
            </a:r>
          </a:p>
          <a:p>
            <a:pPr eaLnBrk="1" hangingPunct="1"/>
            <a:r>
              <a:rPr lang="zh-CN" altLang="en-US" sz="2800" dirty="0"/>
              <a:t>依赖图，</a:t>
            </a:r>
            <a:r>
              <a:rPr lang="en-US" altLang="zh-CN" sz="2800" dirty="0">
                <a:solidFill>
                  <a:srgbClr val="FF3300"/>
                </a:solidFill>
              </a:rPr>
              <a:t>dependency graph</a:t>
            </a:r>
          </a:p>
          <a:p>
            <a:pPr eaLnBrk="1" hangingPunct="1"/>
            <a:r>
              <a:rPr lang="zh-CN" altLang="en-US" sz="2800" dirty="0"/>
              <a:t>注释语法树：节点属性值计算完毕</a:t>
            </a:r>
            <a:br>
              <a:rPr lang="zh-CN" altLang="en-US" sz="2800" dirty="0"/>
            </a:br>
            <a:r>
              <a:rPr lang="en-US" altLang="zh-CN" sz="2800" dirty="0">
                <a:solidFill>
                  <a:srgbClr val="FF3300"/>
                </a:solidFill>
              </a:rPr>
              <a:t>annotated parse tree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3300"/>
                </a:solidFill>
              </a:rPr>
              <a:t>annotating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3300"/>
                </a:solidFill>
              </a:rPr>
              <a:t>decorating</a:t>
            </a:r>
            <a:br>
              <a:rPr lang="en-US" altLang="zh-CN" sz="2800" dirty="0"/>
            </a:br>
            <a:endParaRPr lang="en-US" altLang="zh-C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11C31B0-4E00-49D0-8EA0-098A1DFE5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5.1.1 </a:t>
            </a:r>
            <a:r>
              <a:rPr lang="zh-CN" altLang="en-US"/>
              <a:t>语法制导定义的形式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B3F6570-158F-4C95-B7A1-6A38D344F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每个产生式</a:t>
            </a:r>
            <a:r>
              <a:rPr lang="en-US" altLang="zh-CN" sz="2800"/>
              <a:t>A </a:t>
            </a:r>
            <a:r>
              <a:rPr lang="en-US" altLang="zh-CN" sz="2800">
                <a:sym typeface="Symbol" panose="05050102010706020507" pitchFamily="18" charset="2"/>
              </a:rPr>
              <a:t> </a:t>
            </a:r>
            <a:r>
              <a:rPr lang="zh-CN" altLang="en-US" sz="2800"/>
              <a:t>与一组语义规则相关联，每个语义规则具有如下形式：</a:t>
            </a:r>
          </a:p>
          <a:p>
            <a:pPr lvl="1" eaLnBrk="1" hangingPunct="1"/>
            <a:r>
              <a:rPr lang="en-US" altLang="zh-CN" sz="2400"/>
              <a:t>b = f(c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en-US" altLang="zh-CN" sz="2400"/>
              <a:t>)</a:t>
            </a:r>
            <a:r>
              <a:rPr lang="zh-CN" altLang="en-US" sz="2400"/>
              <a:t>，两种可能情况</a:t>
            </a:r>
          </a:p>
          <a:p>
            <a:pPr lvl="1" eaLnBrk="1" hangingPunct="1"/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的综合属性，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zh-CN" altLang="en-US" sz="2400">
                <a:sym typeface="Symbol" panose="05050102010706020507" pitchFamily="18" charset="2"/>
              </a:rPr>
              <a:t>中语法符号的属性</a:t>
            </a:r>
          </a:p>
          <a:p>
            <a:pPr lvl="1" eaLnBrk="1" hangingPunct="1"/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zh-CN" altLang="en-US" sz="2400">
                <a:sym typeface="Symbol" panose="05050102010706020507" pitchFamily="18" charset="2"/>
              </a:rPr>
              <a:t>中某个符号</a:t>
            </a:r>
            <a:r>
              <a:rPr lang="zh-CN" altLang="en-US" sz="2400"/>
              <a:t>的继承属性，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zh-CN" altLang="en-US" sz="2400">
                <a:sym typeface="Symbol" panose="05050102010706020507" pitchFamily="18" charset="2"/>
              </a:rPr>
              <a:t>中语法符号的属性</a:t>
            </a:r>
          </a:p>
          <a:p>
            <a:pPr lvl="1" eaLnBrk="1" hangingPunct="1"/>
            <a:r>
              <a:rPr lang="en-US" altLang="zh-CN" sz="2400">
                <a:sym typeface="Symbol" panose="05050102010706020507" pitchFamily="18" charset="2"/>
              </a:rPr>
              <a:t>b</a:t>
            </a:r>
            <a:r>
              <a:rPr lang="zh-CN" altLang="en-US" sz="2400">
                <a:sym typeface="Symbol" panose="05050102010706020507" pitchFamily="18" charset="2"/>
              </a:rPr>
              <a:t>依赖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属性文法</a:t>
            </a:r>
            <a:r>
              <a:rPr lang="zh-CN" altLang="en-US" sz="2800">
                <a:sym typeface="Symbol" panose="05050102010706020507" pitchFamily="18" charset="2"/>
              </a:rPr>
              <a:t>：扩充了语法制导定义，无副作用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3FAF855-516D-40E9-820B-CD18BA5A1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102245-9633-4ADC-90C5-95AE92222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267200"/>
            <a:ext cx="7772400" cy="137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/>
              <a:t>digit.lexval</a:t>
            </a:r>
            <a:r>
              <a:rPr lang="zh-CN" altLang="en-US" sz="2800"/>
              <a:t>：终结符只有综合属性，由词法分析器提供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开始符号通常没有继承属性</a:t>
            </a:r>
            <a:endParaRPr lang="zh-CN" altLang="en-US" sz="2800"/>
          </a:p>
        </p:txBody>
      </p:sp>
      <p:sp>
        <p:nvSpPr>
          <p:cNvPr id="10244" name="Line 4">
            <a:extLst>
              <a:ext uri="{FF2B5EF4-FFF2-40B4-BE49-F238E27FC236}">
                <a16:creationId xmlns:a16="http://schemas.microsoft.com/office/drawing/2014/main" id="{D54FE5D1-6565-49B6-9835-8CA704CB9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BA5E1CE7-3E40-4DF2-B851-174F721D9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8A8167C3-9F13-41F8-BFDD-F85BCE84C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11C04463-0157-4D90-A4D2-427280069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191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799A273F-362C-431B-880E-E4B476285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371600"/>
            <a:ext cx="0" cy="281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842" name="Text Box 10">
            <a:extLst>
              <a:ext uri="{FF2B5EF4-FFF2-40B4-BE49-F238E27FC236}">
                <a16:creationId xmlns:a16="http://schemas.microsoft.com/office/drawing/2014/main" id="{156FEA83-DC80-4406-97E8-74D4561BE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28800"/>
            <a:ext cx="708660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</a:rPr>
              <a:t>L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 E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			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print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  E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T			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E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+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  T				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endParaRPr kumimoji="0"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T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F	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*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F		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</a:p>
        </p:txBody>
      </p:sp>
      <p:sp>
        <p:nvSpPr>
          <p:cNvPr id="10250" name="Text Box 12">
            <a:extLst>
              <a:ext uri="{FF2B5EF4-FFF2-40B4-BE49-F238E27FC236}">
                <a16:creationId xmlns:a16="http://schemas.microsoft.com/office/drawing/2014/main" id="{1E5DF942-FD1A-4CB3-AEE2-25CAAFD08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10251" name="Text Box 13">
            <a:extLst>
              <a:ext uri="{FF2B5EF4-FFF2-40B4-BE49-F238E27FC236}">
                <a16:creationId xmlns:a16="http://schemas.microsoft.com/office/drawing/2014/main" id="{81151776-067B-4886-AB72-3612CFED6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</a:p>
        </p:txBody>
      </p:sp>
      <p:sp>
        <p:nvSpPr>
          <p:cNvPr id="10252" name="Text Box 15">
            <a:extLst>
              <a:ext uri="{FF2B5EF4-FFF2-40B4-BE49-F238E27FC236}">
                <a16:creationId xmlns:a16="http://schemas.microsoft.com/office/drawing/2014/main" id="{D6490A89-56EF-4C35-866C-6788AA276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B0D1CE0-1963-4D77-BD80-E911FC17C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 </a:t>
            </a:r>
            <a:r>
              <a:rPr lang="zh-CN" altLang="en-US"/>
              <a:t>综合属性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4AD983E-1268-4774-AEC0-530BB9F1E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只有综合属性：</a:t>
            </a:r>
            <a:r>
              <a:rPr lang="en-US" altLang="zh-CN" b="1">
                <a:solidFill>
                  <a:schemeClr val="folHlink"/>
                </a:solidFill>
                <a:ea typeface="黑体" panose="02010609060101010101" pitchFamily="49" charset="-122"/>
              </a:rPr>
              <a:t>S-</a:t>
            </a:r>
            <a:r>
              <a:rPr lang="zh-CN" altLang="en-US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属性定义</a:t>
            </a:r>
            <a:endParaRPr lang="zh-CN" altLang="en-US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语法树自底向上计算属性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151179B-0276-4966-A8C0-B463705595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</a:t>
            </a:r>
          </a:p>
        </p:txBody>
      </p:sp>
      <p:pic>
        <p:nvPicPr>
          <p:cNvPr id="12291" name="Picture 4" descr="anntree">
            <a:extLst>
              <a:ext uri="{FF2B5EF4-FFF2-40B4-BE49-F238E27FC236}">
                <a16:creationId xmlns:a16="http://schemas.microsoft.com/office/drawing/2014/main" id="{FE273BBC-BAD8-44C0-834B-4F20BAE6A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4622800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EAABE18-5DB1-4D26-86D3-493134A3B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5.1.3  </a:t>
            </a:r>
            <a:r>
              <a:rPr lang="zh-CN" altLang="en-US"/>
              <a:t>继承属性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A843E4D-C939-47ED-A67F-AEC38152A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752600"/>
          </a:xfrm>
        </p:spPr>
        <p:txBody>
          <a:bodyPr/>
          <a:lstStyle/>
          <a:p>
            <a:pPr eaLnBrk="1" hangingPunct="1"/>
            <a:r>
              <a:rPr lang="zh-CN" altLang="en-US"/>
              <a:t>表达程序语言结构在上下文中的相互依赖关系更加自然、方便</a:t>
            </a:r>
            <a:endParaRPr lang="zh-CN" alt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74DA65D-BB7E-438E-BED3-81E0DE61C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  </a:t>
            </a:r>
            <a:r>
              <a:rPr lang="zh-CN" altLang="en-US"/>
              <a:t>变量定义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AF0E119-1AA8-4F7A-9B28-0FA4D945E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real  id</a:t>
            </a:r>
            <a:r>
              <a:rPr lang="en-US" altLang="zh-CN" b="1" baseline="-25000"/>
              <a:t>1</a:t>
            </a:r>
            <a:r>
              <a:rPr lang="en-US" altLang="zh-CN" b="1"/>
              <a:t>, id</a:t>
            </a:r>
            <a:r>
              <a:rPr lang="en-US" altLang="zh-CN" b="1" baseline="-25000"/>
              <a:t>2</a:t>
            </a:r>
            <a:r>
              <a:rPr lang="en-US" altLang="zh-CN" b="1"/>
              <a:t>, id</a:t>
            </a:r>
            <a:r>
              <a:rPr lang="en-US" altLang="zh-CN" b="1" baseline="-25000"/>
              <a:t>3</a:t>
            </a:r>
            <a:r>
              <a:rPr lang="en-US" altLang="zh-CN" b="1"/>
              <a:t>;</a:t>
            </a:r>
          </a:p>
        </p:txBody>
      </p:sp>
      <p:sp>
        <p:nvSpPr>
          <p:cNvPr id="14340" name="Line 4">
            <a:extLst>
              <a:ext uri="{FF2B5EF4-FFF2-40B4-BE49-F238E27FC236}">
                <a16:creationId xmlns:a16="http://schemas.microsoft.com/office/drawing/2014/main" id="{9E8FD6D5-16A2-4E31-9216-76B4C3CCF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AED982DE-4039-45D5-BE78-7C902DDDC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133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6ACD8729-2A40-4B72-B4D7-A2FEDDD75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590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A39B1E3D-D868-4947-9E1A-7DB46471D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33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39562E84-DDE4-4EDB-BE3B-DFF9ACA10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1336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4553" name="Text Box 9">
            <a:extLst>
              <a:ext uri="{FF2B5EF4-FFF2-40B4-BE49-F238E27FC236}">
                <a16:creationId xmlns:a16="http://schemas.microsoft.com/office/drawing/2014/main" id="{3C53E2CC-027B-4CB4-B43E-69C2C891C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590800"/>
            <a:ext cx="7086600" cy="260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D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3A1227DB-50B2-49E2-A47F-A8DA6D5FE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133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E00F8471-99EB-46B1-8236-099DD0A11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133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defvar">
            <a:extLst>
              <a:ext uri="{FF2B5EF4-FFF2-40B4-BE49-F238E27FC236}">
                <a16:creationId xmlns:a16="http://schemas.microsoft.com/office/drawing/2014/main" id="{446F646A-F988-467D-857F-3BED1F7DF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524000"/>
            <a:ext cx="48768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>
            <a:extLst>
              <a:ext uri="{FF2B5EF4-FFF2-40B4-BE49-F238E27FC236}">
                <a16:creationId xmlns:a16="http://schemas.microsoft.com/office/drawing/2014/main" id="{5979A888-7966-4EEA-8D11-B64026E2F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</a:t>
            </a:r>
            <a:r>
              <a:rPr lang="zh-CN" altLang="en-US"/>
              <a:t>（续）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81E93CE-171D-402B-A52D-2ADC4F3C5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/>
              <a:t>自顶向下传递属性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835C698-0900-4D70-8842-4A3DF91A0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5.1.4  </a:t>
            </a:r>
            <a:r>
              <a:rPr lang="zh-CN" altLang="en-US"/>
              <a:t>依赖图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8269E9F-CD69-4887-9F1F-D18EB8D91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888288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属性</a:t>
            </a:r>
            <a:r>
              <a:rPr lang="en-US" altLang="zh-CN" sz="2800" dirty="0"/>
              <a:t>b</a:t>
            </a:r>
            <a:r>
              <a:rPr lang="zh-CN" altLang="en-US" sz="2800" dirty="0"/>
              <a:t>依赖属性</a:t>
            </a:r>
            <a:r>
              <a:rPr lang="en-US" altLang="zh-CN" sz="2800" dirty="0"/>
              <a:t>c</a:t>
            </a:r>
            <a:r>
              <a:rPr lang="zh-CN" altLang="en-US" sz="2800" dirty="0"/>
              <a:t>，则</a:t>
            </a:r>
            <a:r>
              <a:rPr lang="en-US" altLang="zh-CN" sz="2800" dirty="0"/>
              <a:t>b</a:t>
            </a:r>
            <a:r>
              <a:rPr lang="zh-CN" altLang="en-US" sz="2800" dirty="0"/>
              <a:t>应在</a:t>
            </a:r>
            <a:r>
              <a:rPr lang="en-US" altLang="zh-CN" sz="2800" dirty="0"/>
              <a:t>c</a:t>
            </a:r>
            <a:r>
              <a:rPr lang="zh-CN" altLang="en-US" sz="2800" dirty="0"/>
              <a:t>之后计算</a:t>
            </a:r>
          </a:p>
          <a:p>
            <a:pPr eaLnBrk="1" hangingPunct="1"/>
            <a:r>
              <a:rPr lang="zh-CN" altLang="en-US" sz="2800" dirty="0"/>
              <a:t>用有向图表示这种依赖关系</a:t>
            </a:r>
            <a:r>
              <a:rPr lang="en-US" altLang="zh-CN" sz="2800" dirty="0"/>
              <a:t>——</a:t>
            </a:r>
            <a:r>
              <a:rPr lang="zh-CN" altLang="en-US" sz="2800" dirty="0"/>
              <a:t>依赖图</a:t>
            </a:r>
          </a:p>
          <a:p>
            <a:pPr eaLnBrk="1" hangingPunct="1"/>
            <a:r>
              <a:rPr lang="zh-CN" altLang="en-US" sz="2800" dirty="0"/>
              <a:t>构造方法：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语法树中每个节点</a:t>
            </a:r>
            <a:r>
              <a:rPr lang="en-US" altLang="zh-CN" sz="2000" dirty="0"/>
              <a:t>n </a:t>
            </a:r>
            <a:r>
              <a:rPr lang="en-US" altLang="zh-CN" sz="2000" b="1" dirty="0"/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n</a:t>
            </a:r>
            <a:r>
              <a:rPr lang="zh-CN" altLang="en-US" sz="2000" dirty="0"/>
              <a:t>的每个语法符号的属性</a:t>
            </a:r>
            <a:r>
              <a:rPr lang="en-US" altLang="zh-CN" sz="2000" dirty="0"/>
              <a:t>a </a:t>
            </a:r>
            <a:r>
              <a:rPr lang="en-US" altLang="zh-CN" sz="2000" b="1" dirty="0"/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在依赖图中为</a:t>
            </a:r>
            <a:r>
              <a:rPr lang="en-US" altLang="zh-CN" sz="2000" dirty="0"/>
              <a:t>a</a:t>
            </a:r>
            <a:r>
              <a:rPr lang="zh-CN" altLang="en-US" sz="2000" dirty="0"/>
              <a:t>构造一个节点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语法树中每个节点</a:t>
            </a:r>
            <a:r>
              <a:rPr lang="en-US" altLang="zh-CN" sz="2000" dirty="0"/>
              <a:t>n </a:t>
            </a:r>
            <a:r>
              <a:rPr lang="en-US" altLang="zh-CN" sz="2000" b="1" dirty="0"/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n</a:t>
            </a:r>
            <a:r>
              <a:rPr lang="zh-CN" altLang="en-US" sz="2000" dirty="0"/>
              <a:t>使用的产生式的每个语义规则</a:t>
            </a:r>
            <a:r>
              <a:rPr lang="en-US" altLang="zh-CN" sz="2000" dirty="0"/>
              <a:t>b = f(c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…, c</a:t>
            </a:r>
            <a:r>
              <a:rPr lang="en-US" altLang="zh-CN" sz="2000" baseline="-25000" dirty="0"/>
              <a:t>k</a:t>
            </a:r>
            <a:r>
              <a:rPr lang="en-US" altLang="zh-CN" sz="2000" dirty="0"/>
              <a:t>) </a:t>
            </a:r>
            <a:r>
              <a:rPr lang="en-US" altLang="zh-CN" sz="2000" b="1" dirty="0"/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 to k </a:t>
            </a:r>
            <a:r>
              <a:rPr lang="en-US" altLang="zh-CN" sz="2000" b="1" dirty="0"/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zh-CN" altLang="en-US" sz="2000" dirty="0"/>
              <a:t>构造从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i</a:t>
            </a:r>
            <a:r>
              <a:rPr lang="zh-CN" altLang="en-US" sz="2000" dirty="0"/>
              <a:t>到</a:t>
            </a:r>
            <a:r>
              <a:rPr lang="en-US" altLang="zh-CN" sz="2000" dirty="0"/>
              <a:t>b</a:t>
            </a:r>
            <a:r>
              <a:rPr lang="zh-CN" altLang="en-US" sz="2000" dirty="0"/>
              <a:t>的一条边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CFDD573-1C3F-48BB-B51D-0C1FACC22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5.4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21EF279-8FDC-405A-A397-8FEEFECF2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 </a:t>
            </a:r>
            <a:r>
              <a:rPr kumimoji="0" lang="en-US" altLang="zh-CN">
                <a:sym typeface="Symbol" panose="05050102010706020507" pitchFamily="18" charset="2"/>
              </a:rPr>
              <a:t> E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E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,	E.val = E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.val + E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.val</a:t>
            </a:r>
          </a:p>
        </p:txBody>
      </p:sp>
      <p:pic>
        <p:nvPicPr>
          <p:cNvPr id="17412" name="Picture 4" descr="depgra1">
            <a:extLst>
              <a:ext uri="{FF2B5EF4-FFF2-40B4-BE49-F238E27FC236}">
                <a16:creationId xmlns:a16="http://schemas.microsoft.com/office/drawing/2014/main" id="{1722BC9C-6780-4011-9814-91F716991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57400"/>
            <a:ext cx="579437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3B7F57A-0AD6-4EB7-AA3D-3E7FE4498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5.5</a:t>
            </a:r>
          </a:p>
        </p:txBody>
      </p:sp>
      <p:pic>
        <p:nvPicPr>
          <p:cNvPr id="18435" name="Picture 4" descr="vardep">
            <a:extLst>
              <a:ext uri="{FF2B5EF4-FFF2-40B4-BE49-F238E27FC236}">
                <a16:creationId xmlns:a16="http://schemas.microsoft.com/office/drawing/2014/main" id="{754819AD-C624-464F-91C5-555B303F6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1287463"/>
            <a:ext cx="5445125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6D6471D-389D-4A27-AF12-385A0910E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5.1.5  </a:t>
            </a:r>
            <a:r>
              <a:rPr lang="zh-CN" altLang="en-US" dirty="0"/>
              <a:t>属性计算顺序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6CCDD23-2B4D-46DE-86D2-BF1E30A94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拓扑排序，计算顺序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/>
              <a:t>, m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k</a:t>
            </a:r>
            <a:r>
              <a:rPr lang="zh-CN" altLang="en-US" dirty="0"/>
              <a:t>满足依赖关系，则依赖图存在边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</a:t>
            </a:r>
            <a:r>
              <a:rPr kumimoji="0" lang="en-US" altLang="zh-CN" dirty="0" err="1">
                <a:sym typeface="Symbol" panose="05050102010706020507" pitchFamily="18" charset="2"/>
              </a:rPr>
              <a:t>m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dirty="0" err="1">
                <a:sym typeface="Wingdings" panose="05000000000000000000" pitchFamily="2" charset="2"/>
              </a:rPr>
              <a:t>i</a:t>
            </a:r>
            <a:r>
              <a:rPr kumimoji="0" lang="en-US" altLang="zh-CN" dirty="0">
                <a:sym typeface="Wingdings" panose="05000000000000000000" pitchFamily="2" charset="2"/>
              </a:rPr>
              <a:t> &lt; j</a:t>
            </a:r>
          </a:p>
          <a:p>
            <a:pPr eaLnBrk="1" hangingPunct="1"/>
            <a:r>
              <a:rPr kumimoji="0" lang="zh-CN" altLang="en-US" dirty="0">
                <a:sym typeface="Wingdings" panose="05000000000000000000" pitchFamily="2" charset="2"/>
              </a:rPr>
              <a:t>计算</a:t>
            </a:r>
            <a:r>
              <a:rPr kumimoji="0" lang="en-US" altLang="zh-CN" dirty="0">
                <a:sym typeface="Wingdings" panose="05000000000000000000" pitchFamily="2" charset="2"/>
              </a:rPr>
              <a:t>b=(c</a:t>
            </a:r>
            <a:r>
              <a:rPr lang="en-US" altLang="zh-CN" baseline="-25000" dirty="0"/>
              <a:t>1</a:t>
            </a:r>
            <a:r>
              <a:rPr lang="en-US" altLang="zh-CN" dirty="0"/>
              <a:t>, c</a:t>
            </a:r>
            <a:r>
              <a:rPr lang="en-US" altLang="zh-CN" baseline="-25000" dirty="0"/>
              <a:t>2</a:t>
            </a:r>
            <a:r>
              <a:rPr lang="en-US" altLang="zh-CN" dirty="0"/>
              <a:t>, …, c</a:t>
            </a:r>
            <a:r>
              <a:rPr lang="en-US" altLang="zh-CN" baseline="-25000" dirty="0"/>
              <a:t>k</a:t>
            </a:r>
            <a:r>
              <a:rPr lang="en-US" altLang="zh-CN" dirty="0"/>
              <a:t>)</a:t>
            </a:r>
            <a:r>
              <a:rPr lang="zh-CN" altLang="en-US" dirty="0"/>
              <a:t>时，属性值</a:t>
            </a:r>
            <a:r>
              <a:rPr kumimoji="0" lang="en-US" altLang="zh-CN" dirty="0">
                <a:sym typeface="Wingdings" panose="05000000000000000000" pitchFamily="2" charset="2"/>
              </a:rPr>
              <a:t>c</a:t>
            </a:r>
            <a:r>
              <a:rPr lang="en-US" altLang="zh-CN" baseline="-25000" dirty="0"/>
              <a:t>1</a:t>
            </a:r>
            <a:r>
              <a:rPr lang="en-US" altLang="zh-CN" dirty="0"/>
              <a:t>, c</a:t>
            </a:r>
            <a:r>
              <a:rPr lang="en-US" altLang="zh-CN" baseline="-25000" dirty="0"/>
              <a:t>2</a:t>
            </a:r>
            <a:r>
              <a:rPr lang="en-US" altLang="zh-CN" dirty="0"/>
              <a:t>, …, c</a:t>
            </a:r>
            <a:r>
              <a:rPr lang="en-US" altLang="zh-CN" baseline="-25000" dirty="0"/>
              <a:t>k</a:t>
            </a:r>
            <a:r>
              <a:rPr lang="zh-CN" altLang="en-US" dirty="0"/>
              <a:t>已经计算出来</a:t>
            </a:r>
          </a:p>
          <a:p>
            <a:pPr eaLnBrk="1" hangingPunct="1"/>
            <a:r>
              <a:rPr lang="zh-CN" altLang="en-US" dirty="0"/>
              <a:t>文法</a:t>
            </a:r>
            <a:r>
              <a:rPr lang="zh-CN" altLang="en-US" dirty="0">
                <a:sym typeface="Wingdings" panose="05000000000000000000" pitchFamily="2" charset="2"/>
              </a:rPr>
              <a:t>语法树依赖图拓扑排序语义规则计算顺序输入串翻译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7A2C0DD-F829-4055-8AF5-67A081551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5.6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28277B2-B396-4051-8777-AF2B76888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5.5</a:t>
            </a:r>
            <a:r>
              <a:rPr lang="zh-CN" altLang="en-US" dirty="0"/>
              <a:t>依赖图的边，编号由小到大</a:t>
            </a:r>
            <a:r>
              <a:rPr lang="zh-CN" altLang="en-US" dirty="0">
                <a:sym typeface="Wingdings" panose="05000000000000000000" pitchFamily="2" charset="2"/>
              </a:rPr>
              <a:t>排列满足要求的拓扑排序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4</a:t>
            </a:r>
            <a:r>
              <a:rPr lang="en-US" altLang="zh-CN" sz="2800" dirty="0">
                <a:sym typeface="Wingdings" panose="05000000000000000000" pitchFamily="2" charset="2"/>
              </a:rPr>
              <a:t>=real;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=real;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3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=a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9</a:t>
            </a:r>
            <a:r>
              <a:rPr lang="en-US" altLang="zh-CN" sz="2800" dirty="0">
                <a:sym typeface="Wingdings" panose="05000000000000000000" pitchFamily="2" charset="2"/>
              </a:rPr>
              <a:t>=a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9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C1B6E85-43A8-4483-A450-AC4DB9710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  </a:t>
            </a:r>
            <a:r>
              <a:rPr lang="zh-CN" altLang="en-US"/>
              <a:t>构造语法树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55A636C-01D9-4C9C-BCF0-EF5BFEBB8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作为中间表示形式</a:t>
            </a:r>
            <a:r>
              <a:rPr lang="en-US" altLang="zh-CN" dirty="0"/>
              <a:t>——</a:t>
            </a:r>
            <a:r>
              <a:rPr lang="zh-CN" altLang="en-US" dirty="0"/>
              <a:t>分离分析与翻译</a:t>
            </a:r>
          </a:p>
          <a:p>
            <a:pPr eaLnBrk="1" hangingPunct="1"/>
            <a:r>
              <a:rPr lang="zh-CN" altLang="en-US" dirty="0"/>
              <a:t>在进行语法分析的同时进行翻译存在的不足：</a:t>
            </a:r>
          </a:p>
          <a:p>
            <a:pPr lvl="1" eaLnBrk="1" hangingPunct="1"/>
            <a:r>
              <a:rPr lang="zh-CN" altLang="en-US" dirty="0"/>
              <a:t>适合分析的文法可能未反映自然的语言结构</a:t>
            </a:r>
          </a:p>
          <a:p>
            <a:pPr lvl="1" eaLnBrk="1" hangingPunct="1"/>
            <a:r>
              <a:rPr lang="zh-CN" altLang="en-US" dirty="0"/>
              <a:t>分析顺序可能与翻译顺序不一致</a:t>
            </a:r>
          </a:p>
          <a:p>
            <a:pPr eaLnBrk="1" hangingPunct="1"/>
            <a:r>
              <a:rPr lang="zh-CN" altLang="en-US" dirty="0"/>
              <a:t>利用语法制导翻译方法来构造语法树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在语法树上进行后续翻译工作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73E5A8D-DF8E-438E-A01C-799D6C1C4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5.2.1  </a:t>
            </a:r>
            <a:r>
              <a:rPr lang="zh-CN" altLang="en-US"/>
              <a:t>语法树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FB6AB5B-9355-472C-858E-E3963EA4D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（抽象）语法树，压缩形式</a:t>
            </a:r>
          </a:p>
          <a:p>
            <a:pPr lvl="1" eaLnBrk="1" hangingPunct="1"/>
            <a:r>
              <a:rPr lang="zh-CN" altLang="en-US"/>
              <a:t>关键字和运算符均在内部节点</a:t>
            </a:r>
          </a:p>
          <a:p>
            <a:pPr lvl="1" eaLnBrk="1" hangingPunct="1"/>
            <a:r>
              <a:rPr lang="zh-CN" altLang="en-US"/>
              <a:t>链式结构会被压缩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AA9F9D2-2EB4-489A-9FD5-6BE14BF92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语法树压缩例</a:t>
            </a:r>
          </a:p>
        </p:txBody>
      </p:sp>
      <p:pic>
        <p:nvPicPr>
          <p:cNvPr id="23555" name="Picture 4" descr="anntree">
            <a:extLst>
              <a:ext uri="{FF2B5EF4-FFF2-40B4-BE49-F238E27FC236}">
                <a16:creationId xmlns:a16="http://schemas.microsoft.com/office/drawing/2014/main" id="{09A31571-9E66-45CE-8AFE-AD093B271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08100"/>
            <a:ext cx="495935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 descr="syntree">
            <a:extLst>
              <a:ext uri="{FF2B5EF4-FFF2-40B4-BE49-F238E27FC236}">
                <a16:creationId xmlns:a16="http://schemas.microsoft.com/office/drawing/2014/main" id="{3A9FF1B7-27DF-4446-8305-F1CE35182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447800"/>
            <a:ext cx="3375025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3D51D0B-9A84-465E-890C-EBAB70B16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5.2.2  </a:t>
            </a:r>
            <a:r>
              <a:rPr lang="zh-CN" altLang="en-US"/>
              <a:t>表达式语法树的构造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F43ED42-7078-4028-A00F-8BEB84584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与表达式翻译为后缀形式类似</a:t>
            </a:r>
          </a:p>
          <a:p>
            <a:pPr eaLnBrk="1" hangingPunct="1"/>
            <a:r>
              <a:rPr lang="zh-CN" altLang="en-US"/>
              <a:t>数据结构：语法树每个节点用一个记录表示</a:t>
            </a:r>
          </a:p>
          <a:p>
            <a:pPr lvl="1" eaLnBrk="1" hangingPunct="1"/>
            <a:r>
              <a:rPr lang="zh-CN" altLang="en-US"/>
              <a:t>运算符节点记录格式：</a:t>
            </a:r>
            <a:br>
              <a:rPr lang="zh-CN" altLang="en-US"/>
            </a:br>
            <a:r>
              <a:rPr lang="en-US" altLang="zh-CN" sz="2400"/>
              <a:t>{</a:t>
            </a:r>
            <a:br>
              <a:rPr lang="en-US" altLang="zh-CN" sz="2400"/>
            </a:br>
            <a:r>
              <a:rPr lang="en-US" altLang="zh-CN" sz="2400"/>
              <a:t>	</a:t>
            </a:r>
            <a:r>
              <a:rPr lang="zh-CN" altLang="en-US" sz="2400"/>
              <a:t>运算符</a:t>
            </a:r>
            <a:br>
              <a:rPr lang="zh-CN" altLang="en-US" sz="2400"/>
            </a:br>
            <a:r>
              <a:rPr lang="zh-CN" altLang="en-US" sz="2400"/>
              <a:t>	指向运算对象节点</a:t>
            </a:r>
            <a:r>
              <a:rPr lang="en-US" altLang="zh-CN" sz="2400"/>
              <a:t>1</a:t>
            </a:r>
            <a:r>
              <a:rPr lang="zh-CN" altLang="en-US" sz="2400"/>
              <a:t>的指针</a:t>
            </a:r>
            <a:br>
              <a:rPr lang="zh-CN" altLang="en-US" sz="2400"/>
            </a:br>
            <a:r>
              <a:rPr lang="zh-CN" altLang="en-US" sz="2400"/>
              <a:t>	执行运算对象节点</a:t>
            </a:r>
            <a:r>
              <a:rPr lang="en-US" altLang="zh-CN" sz="2400"/>
              <a:t>2</a:t>
            </a:r>
            <a:r>
              <a:rPr lang="zh-CN" altLang="en-US" sz="2400"/>
              <a:t>的指针</a:t>
            </a:r>
            <a:br>
              <a:rPr lang="zh-CN" altLang="en-US" sz="2400"/>
            </a:br>
            <a:r>
              <a:rPr lang="zh-CN" altLang="en-US" sz="2400"/>
              <a:t> </a:t>
            </a:r>
            <a:r>
              <a:rPr lang="en-US" altLang="zh-CN" sz="2400"/>
              <a:t>…</a:t>
            </a:r>
            <a:br>
              <a:rPr lang="en-US" altLang="zh-CN" sz="2400"/>
            </a:br>
            <a:r>
              <a:rPr lang="en-US" altLang="zh-CN" sz="240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3517EC3-1AC7-4BC2-918F-0508466D5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辅助函数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7709C32-779E-4385-B21D-42CB4E5C2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190500" lvl="1" indent="0" eaLnBrk="1" hangingPunct="1">
              <a:buNone/>
            </a:pPr>
            <a:r>
              <a:rPr lang="en-US" altLang="zh-CN" dirty="0" err="1"/>
              <a:t>mknode</a:t>
            </a:r>
            <a:r>
              <a:rPr lang="en-US" altLang="zh-CN" dirty="0"/>
              <a:t>(op, left, right)</a:t>
            </a:r>
            <a:r>
              <a:rPr lang="zh-CN" altLang="en-US" dirty="0"/>
              <a:t>：为运算符</a:t>
            </a:r>
            <a:r>
              <a:rPr lang="en-US" altLang="zh-CN" dirty="0"/>
              <a:t>op</a:t>
            </a:r>
            <a:r>
              <a:rPr lang="zh-CN" altLang="en-US" dirty="0"/>
              <a:t>创建语法树中节点，标记为</a:t>
            </a:r>
            <a:r>
              <a:rPr lang="en-US" altLang="zh-CN" dirty="0"/>
              <a:t>op</a:t>
            </a:r>
            <a:r>
              <a:rPr lang="zh-CN" altLang="en-US" dirty="0"/>
              <a:t>（运算符），运算对象节点指针</a:t>
            </a:r>
            <a:r>
              <a:rPr lang="en-US" altLang="zh-CN" dirty="0"/>
              <a:t>left</a:t>
            </a:r>
            <a:r>
              <a:rPr lang="zh-CN" altLang="en-US" dirty="0"/>
              <a:t>和</a:t>
            </a:r>
            <a:r>
              <a:rPr lang="en-US" altLang="zh-CN" dirty="0"/>
              <a:t>right</a:t>
            </a:r>
          </a:p>
          <a:p>
            <a:pPr marL="190500" lvl="1" indent="0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mkleaf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, entry)</a:t>
            </a:r>
            <a:r>
              <a:rPr lang="zh-CN" altLang="en-US" dirty="0"/>
              <a:t>：为标识符创建语法树节点，标记为</a:t>
            </a:r>
            <a:r>
              <a:rPr lang="en-US" altLang="zh-CN" b="1" dirty="0"/>
              <a:t>id</a:t>
            </a:r>
            <a:r>
              <a:rPr lang="zh-CN" altLang="en-US" dirty="0"/>
              <a:t>，另一个域为符号表项指针</a:t>
            </a:r>
            <a:r>
              <a:rPr lang="en-US" altLang="zh-CN" dirty="0"/>
              <a:t>entry</a:t>
            </a:r>
          </a:p>
          <a:p>
            <a:pPr marL="190500" lvl="1" indent="0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mkleaf</a:t>
            </a:r>
            <a:r>
              <a:rPr lang="en-US" altLang="zh-CN" dirty="0"/>
              <a:t>(</a:t>
            </a:r>
            <a:r>
              <a:rPr lang="en-US" altLang="zh-CN" b="1" dirty="0"/>
              <a:t>num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)</a:t>
            </a:r>
            <a:r>
              <a:rPr lang="zh-CN" altLang="en-US" dirty="0"/>
              <a:t>：为运算数创建节点，标记为</a:t>
            </a:r>
            <a:r>
              <a:rPr lang="en-US" altLang="zh-CN" b="1" dirty="0"/>
              <a:t>num</a:t>
            </a:r>
            <a:r>
              <a:rPr lang="zh-CN" altLang="en-US" dirty="0"/>
              <a:t>，另一个域为数值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164C3B4-A40A-472E-A30E-FF2F19AC6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5.7  a-4+c</a:t>
            </a:r>
            <a:r>
              <a:rPr lang="zh-CN" altLang="en-US"/>
              <a:t>的语法树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44415EE-BACF-4B90-9708-C95612902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(1)  p</a:t>
            </a:r>
            <a:r>
              <a:rPr lang="en-US" altLang="zh-CN" sz="2400" baseline="-25000"/>
              <a:t>1</a:t>
            </a:r>
            <a:r>
              <a:rPr lang="en-US" altLang="zh-CN" sz="2400"/>
              <a:t>=mkleaf(</a:t>
            </a:r>
            <a:r>
              <a:rPr lang="en-US" altLang="zh-CN" sz="2400" b="1"/>
              <a:t>id</a:t>
            </a:r>
            <a:r>
              <a:rPr lang="en-US" altLang="zh-CN" sz="2400"/>
              <a:t>, entry_a);	     (4)  p</a:t>
            </a:r>
            <a:r>
              <a:rPr lang="en-US" altLang="zh-CN" sz="2400" baseline="-25000"/>
              <a:t>4</a:t>
            </a:r>
            <a:r>
              <a:rPr lang="en-US" altLang="zh-CN" sz="2400"/>
              <a:t>=mkleaf(</a:t>
            </a:r>
            <a:r>
              <a:rPr lang="en-US" altLang="zh-CN" sz="2400" b="1"/>
              <a:t>id</a:t>
            </a:r>
            <a:r>
              <a:rPr lang="en-US" altLang="zh-CN" sz="2400"/>
              <a:t>, entry_c);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(2)  p</a:t>
            </a:r>
            <a:r>
              <a:rPr lang="en-US" altLang="zh-CN" sz="2400" baseline="-25000"/>
              <a:t>2</a:t>
            </a:r>
            <a:r>
              <a:rPr lang="en-US" altLang="zh-CN" sz="2400"/>
              <a:t>=mkleaf(</a:t>
            </a:r>
            <a:r>
              <a:rPr lang="en-US" altLang="zh-CN" sz="2400" b="1"/>
              <a:t>num</a:t>
            </a:r>
            <a:r>
              <a:rPr lang="en-US" altLang="zh-CN" sz="2400"/>
              <a:t>, 4);	     (5)  p</a:t>
            </a:r>
            <a:r>
              <a:rPr lang="en-US" altLang="zh-CN" sz="2400" baseline="-25000"/>
              <a:t>5</a:t>
            </a:r>
            <a:r>
              <a:rPr lang="en-US" altLang="zh-CN" sz="2400"/>
              <a:t>=mknode(‘+’, p</a:t>
            </a:r>
            <a:r>
              <a:rPr lang="en-US" altLang="zh-CN" sz="2400" baseline="-25000"/>
              <a:t>3</a:t>
            </a:r>
            <a:r>
              <a:rPr lang="en-US" altLang="zh-CN" sz="2400"/>
              <a:t>, p</a:t>
            </a:r>
            <a:r>
              <a:rPr lang="en-US" altLang="zh-CN" sz="2400" baseline="-25000"/>
              <a:t>4</a:t>
            </a:r>
            <a:r>
              <a:rPr lang="en-US" altLang="zh-CN" sz="240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(3)  p</a:t>
            </a:r>
            <a:r>
              <a:rPr lang="en-US" altLang="zh-CN" sz="2400" baseline="-25000"/>
              <a:t>3</a:t>
            </a:r>
            <a:r>
              <a:rPr lang="en-US" altLang="zh-CN" sz="2400"/>
              <a:t>=mknode(‘-’, p</a:t>
            </a:r>
            <a:r>
              <a:rPr lang="en-US" altLang="zh-CN" sz="2400" baseline="-25000"/>
              <a:t>1</a:t>
            </a:r>
            <a:r>
              <a:rPr lang="en-US" altLang="zh-CN" sz="2400"/>
              <a:t>, p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</a:p>
        </p:txBody>
      </p:sp>
      <p:pic>
        <p:nvPicPr>
          <p:cNvPr id="26628" name="Picture 4" descr="syntree2">
            <a:extLst>
              <a:ext uri="{FF2B5EF4-FFF2-40B4-BE49-F238E27FC236}">
                <a16:creationId xmlns:a16="http://schemas.microsoft.com/office/drawing/2014/main" id="{8797CDCC-612C-4721-AAF0-CF0CE0F5F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4200525" cy="264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5">
            <a:extLst>
              <a:ext uri="{FF2B5EF4-FFF2-40B4-BE49-F238E27FC236}">
                <a16:creationId xmlns:a16="http://schemas.microsoft.com/office/drawing/2014/main" id="{1524B412-0497-4555-985B-734AACDE7E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0" y="39624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29FD0BC-EDF8-449A-A252-74CA570703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00600" y="4038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D36D4D11-1464-4336-8165-4D0FC25589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276600" y="3124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D898F54E-8253-4C99-840F-D580F4FB42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096000" y="3124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E754B6C3-0420-4950-9712-81F7059ECA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029200" y="2362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E488F67-A461-41FD-9CFB-F60393FF2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5.2.3  </a:t>
            </a:r>
            <a:r>
              <a:rPr lang="zh-CN" altLang="en-US" sz="4000"/>
              <a:t>构造语法树的语法制导定义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8656FD5-5D08-470B-B0CC-9CDEEB301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4724400"/>
          </a:xfrm>
        </p:spPr>
        <p:txBody>
          <a:bodyPr/>
          <a:lstStyle/>
          <a:p>
            <a:pPr eaLnBrk="1" hangingPunct="1"/>
            <a:r>
              <a:rPr lang="zh-CN" altLang="en-US" sz="4000"/>
              <a:t>例</a:t>
            </a:r>
            <a:r>
              <a:rPr lang="en-US" altLang="zh-CN" sz="4000"/>
              <a:t>5.8</a:t>
            </a:r>
          </a:p>
        </p:txBody>
      </p:sp>
      <p:sp>
        <p:nvSpPr>
          <p:cNvPr id="27652" name="Line 4">
            <a:extLst>
              <a:ext uri="{FF2B5EF4-FFF2-40B4-BE49-F238E27FC236}">
                <a16:creationId xmlns:a16="http://schemas.microsoft.com/office/drawing/2014/main" id="{6689D27E-5F1C-4A76-8E8C-16B9F513A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8288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6BF97F85-8EE5-43D1-A016-A0CA7329B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9050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44D2165C-B63F-4C6C-BCA4-D5082737E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3622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5" name="Line 7">
            <a:extLst>
              <a:ext uri="{FF2B5EF4-FFF2-40B4-BE49-F238E27FC236}">
                <a16:creationId xmlns:a16="http://schemas.microsoft.com/office/drawing/2014/main" id="{5ADFE8FA-C3BE-4C12-AE30-9DCBA27B8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51054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Line 8">
            <a:extLst>
              <a:ext uri="{FF2B5EF4-FFF2-40B4-BE49-F238E27FC236}">
                <a16:creationId xmlns:a16="http://schemas.microsoft.com/office/drawing/2014/main" id="{0D9E39DF-DD02-49E0-AC9C-636F5E9A5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9050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0856CCA4-96DA-42E2-8095-B4A15BA25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62200"/>
            <a:ext cx="7696200" cy="268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mknode</a:t>
            </a:r>
            <a:r>
              <a:rPr kumimoji="0" lang="en-US" altLang="zh-CN" sz="2400">
                <a:sym typeface="Symbol" panose="05050102010706020507" pitchFamily="18" charset="2"/>
              </a:rPr>
              <a:t>(“+”,E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mknode</a:t>
            </a:r>
            <a:r>
              <a:rPr kumimoji="0" lang="en-US" altLang="zh-CN" sz="2400">
                <a:sym typeface="Symbol" panose="05050102010706020507" pitchFamily="18" charset="2"/>
              </a:rPr>
              <a:t>(“-”,E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T	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>
                <a:sym typeface="Symbol" panose="05050102010706020507" pitchFamily="18" charset="2"/>
              </a:rPr>
              <a:t> 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	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mkleaf</a:t>
            </a:r>
            <a:r>
              <a:rPr kumimoji="0" lang="en-US" altLang="zh-CN" sz="2400">
                <a:sym typeface="Symbol" panose="05050102010706020507" pitchFamily="18" charset="2"/>
              </a:rPr>
              <a:t>(id,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lexval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mkleaf</a:t>
            </a:r>
            <a:r>
              <a:rPr kumimoji="0" lang="en-US" altLang="zh-CN" sz="2400">
                <a:sym typeface="Symbol" panose="05050102010706020507" pitchFamily="18" charset="2"/>
              </a:rPr>
              <a:t>(num,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7658" name="Text Box 11">
            <a:extLst>
              <a:ext uri="{FF2B5EF4-FFF2-40B4-BE49-F238E27FC236}">
                <a16:creationId xmlns:a16="http://schemas.microsoft.com/office/drawing/2014/main" id="{42328FD1-F4EF-476B-99BC-4B122B6F3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05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27659" name="Text Box 12">
            <a:extLst>
              <a:ext uri="{FF2B5EF4-FFF2-40B4-BE49-F238E27FC236}">
                <a16:creationId xmlns:a16="http://schemas.microsoft.com/office/drawing/2014/main" id="{4D593E14-19EF-4D57-989E-87D8FF10D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905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871F64D-02C1-4B84-873A-CDB25B5C3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5.8</a:t>
            </a:r>
            <a:r>
              <a:rPr lang="zh-CN" altLang="en-US"/>
              <a:t>（续）</a:t>
            </a:r>
          </a:p>
        </p:txBody>
      </p:sp>
      <p:pic>
        <p:nvPicPr>
          <p:cNvPr id="28675" name="Picture 4" descr="syntree3">
            <a:extLst>
              <a:ext uri="{FF2B5EF4-FFF2-40B4-BE49-F238E27FC236}">
                <a16:creationId xmlns:a16="http://schemas.microsoft.com/office/drawing/2014/main" id="{ADCBEAA8-26C9-499A-A994-8BE37E315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0"/>
            <a:ext cx="4894263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329FB75-7120-40D5-99D5-C7C9F1A1C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5.2.4  </a:t>
            </a:r>
            <a:r>
              <a:rPr lang="zh-CN" altLang="en-US"/>
              <a:t>用有向无环图表示表达式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3AD2C51-5BC8-4337-AAE4-00CCD888E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公共子表达式用公共节点表示</a:t>
            </a:r>
          </a:p>
          <a:p>
            <a:pPr eaLnBrk="1" hangingPunct="1"/>
            <a:r>
              <a:rPr lang="zh-CN" altLang="en-US"/>
              <a:t>可能出现一个节点有多个“父节点”的情况</a:t>
            </a:r>
          </a:p>
          <a:p>
            <a:pPr eaLnBrk="1" hangingPunct="1"/>
            <a:r>
              <a:rPr lang="zh-CN" altLang="en-US"/>
              <a:t>构造方法</a:t>
            </a:r>
          </a:p>
          <a:p>
            <a:pPr lvl="1" eaLnBrk="1" hangingPunct="1"/>
            <a:r>
              <a:rPr lang="zh-CN" altLang="en-US"/>
              <a:t>类似语法树构造</a:t>
            </a:r>
          </a:p>
          <a:p>
            <a:pPr lvl="1" eaLnBrk="1" hangingPunct="1"/>
            <a:r>
              <a:rPr lang="zh-CN" altLang="en-US"/>
              <a:t>构造节点前检查是否已构造相同节点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167911A-DA1D-4CC0-AAB2-473A90CFE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</a:t>
            </a:r>
            <a:r>
              <a:rPr lang="en-US" altLang="zh-CN"/>
              <a:t>5.9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538626E-9C1A-4D8D-8E49-90E02ADC4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724400"/>
          </a:xfrm>
        </p:spPr>
        <p:txBody>
          <a:bodyPr/>
          <a:lstStyle/>
          <a:p>
            <a:pPr eaLnBrk="1" hangingPunct="1"/>
            <a:r>
              <a:rPr lang="en-US" altLang="zh-CN" dirty="0" err="1"/>
              <a:t>a+a</a:t>
            </a:r>
            <a:r>
              <a:rPr lang="en-US" altLang="zh-CN" dirty="0"/>
              <a:t>*(b-c)+(b-c)*d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(1)  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a);		(8)  p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b)(=p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(2) 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a)(=p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);	(9)  p</a:t>
            </a:r>
            <a:r>
              <a:rPr lang="en-US" altLang="zh-CN" sz="2400" baseline="-25000" dirty="0"/>
              <a:t>9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c)(=p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(3)  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b);		(10)  p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(‘-’, p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9</a:t>
            </a:r>
            <a:r>
              <a:rPr lang="en-US" altLang="zh-CN" sz="2400" dirty="0"/>
              <a:t>)(=p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(4)  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c);		(11)  p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(5)  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(‘-’, 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); 	(12)  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(‘*’, p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(6)  p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(‘*’,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); 	(13)  p</a:t>
            </a:r>
            <a:r>
              <a:rPr lang="en-US" altLang="zh-CN" sz="2400" baseline="-25000" dirty="0"/>
              <a:t>13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(‘+’, 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(6)  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(‘+’, 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);</a:t>
            </a:r>
            <a:endParaRPr lang="en-US" altLang="zh-CN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CD1A844-86AB-4001-BD71-5CDB17F00CA1}"/>
              </a:ext>
            </a:extLst>
          </p:cNvPr>
          <p:cNvCxnSpPr/>
          <p:nvPr/>
        </p:nvCxnSpPr>
        <p:spPr bwMode="auto">
          <a:xfrm flipV="1">
            <a:off x="3275856" y="2276872"/>
            <a:ext cx="0" cy="288032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2469DEC-39A5-4E1F-93EB-B8E747B62948}"/>
              </a:ext>
            </a:extLst>
          </p:cNvPr>
          <p:cNvCxnSpPr/>
          <p:nvPr/>
        </p:nvCxnSpPr>
        <p:spPr bwMode="auto">
          <a:xfrm flipH="1">
            <a:off x="3263888" y="2276872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789E29-3029-45C3-AC98-D78D6270726F}"/>
              </a:ext>
            </a:extLst>
          </p:cNvPr>
          <p:cNvCxnSpPr/>
          <p:nvPr/>
        </p:nvCxnSpPr>
        <p:spPr bwMode="auto">
          <a:xfrm flipH="1">
            <a:off x="3234476" y="2733517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222BE35-35AE-42E2-B46A-67CB00A2CB1E}"/>
              </a:ext>
            </a:extLst>
          </p:cNvPr>
          <p:cNvCxnSpPr/>
          <p:nvPr/>
        </p:nvCxnSpPr>
        <p:spPr bwMode="auto">
          <a:xfrm flipH="1">
            <a:off x="3779912" y="3206375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3049022-76EC-4801-BC18-6CC7D052A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5.9</a:t>
            </a:r>
            <a:r>
              <a:rPr lang="zh-CN" altLang="en-US"/>
              <a:t>（续）</a:t>
            </a:r>
          </a:p>
        </p:txBody>
      </p:sp>
      <p:pic>
        <p:nvPicPr>
          <p:cNvPr id="31747" name="Picture 5" descr="expdag">
            <a:extLst>
              <a:ext uri="{FF2B5EF4-FFF2-40B4-BE49-F238E27FC236}">
                <a16:creationId xmlns:a16="http://schemas.microsoft.com/office/drawing/2014/main" id="{037C3176-30F9-4B0E-8A74-F4FF50C92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73175"/>
            <a:ext cx="5584825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>
            <a:extLst>
              <a:ext uri="{FF2B5EF4-FFF2-40B4-BE49-F238E27FC236}">
                <a16:creationId xmlns:a16="http://schemas.microsoft.com/office/drawing/2014/main" id="{4A62ECED-DE6D-4BDF-AF82-A6EBF5E4DF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19200" y="36576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0689F3CA-9890-4202-9127-68FA3BAC75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57400" y="4419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3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31750" name="Rectangle 8">
            <a:extLst>
              <a:ext uri="{FF2B5EF4-FFF2-40B4-BE49-F238E27FC236}">
                <a16:creationId xmlns:a16="http://schemas.microsoft.com/office/drawing/2014/main" id="{FCBAB6B6-C264-49EA-A14F-B1FC071102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53000" y="4343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4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31751" name="Rectangle 9">
            <a:extLst>
              <a:ext uri="{FF2B5EF4-FFF2-40B4-BE49-F238E27FC236}">
                <a16:creationId xmlns:a16="http://schemas.microsoft.com/office/drawing/2014/main" id="{3D9BF3BC-1B86-453D-B947-B2594C77E97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14800" y="3657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5 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31752" name="Rectangle 10">
            <a:extLst>
              <a:ext uri="{FF2B5EF4-FFF2-40B4-BE49-F238E27FC236}">
                <a16:creationId xmlns:a16="http://schemas.microsoft.com/office/drawing/2014/main" id="{D8675B86-F643-4374-8C48-CDBCB8DD3C5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124200" y="28194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31753" name="Rectangle 11">
            <a:extLst>
              <a:ext uri="{FF2B5EF4-FFF2-40B4-BE49-F238E27FC236}">
                <a16:creationId xmlns:a16="http://schemas.microsoft.com/office/drawing/2014/main" id="{0EAFBB2F-09E5-4C5F-91F7-53EFFB7956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62200" y="2133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31754" name="Rectangle 12">
            <a:extLst>
              <a:ext uri="{FF2B5EF4-FFF2-40B4-BE49-F238E27FC236}">
                <a16:creationId xmlns:a16="http://schemas.microsoft.com/office/drawing/2014/main" id="{B1732C8B-88D4-41E0-93E8-F45E014EB1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781800" y="28194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31755" name="Rectangle 13">
            <a:extLst>
              <a:ext uri="{FF2B5EF4-FFF2-40B4-BE49-F238E27FC236}">
                <a16:creationId xmlns:a16="http://schemas.microsoft.com/office/drawing/2014/main" id="{FE0CEE4A-1A61-41D0-ABD7-9D06611E5B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740400" y="1981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31756" name="Rectangle 15">
            <a:extLst>
              <a:ext uri="{FF2B5EF4-FFF2-40B4-BE49-F238E27FC236}">
                <a16:creationId xmlns:a16="http://schemas.microsoft.com/office/drawing/2014/main" id="{2F44055B-FF7B-475C-9395-018FAD83B8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14800" y="1219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1F5B5D3-5767-4952-9244-8D799AE9C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  <a:r>
              <a:rPr lang="zh-CN" altLang="en-US"/>
              <a:t>的实现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49AF546-05CE-4536-90F6-DBF6ABF26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 = i + 10</a:t>
            </a:r>
          </a:p>
        </p:txBody>
      </p:sp>
      <p:pic>
        <p:nvPicPr>
          <p:cNvPr id="32772" name="Picture 6" descr="expdag1">
            <a:extLst>
              <a:ext uri="{FF2B5EF4-FFF2-40B4-BE49-F238E27FC236}">
                <a16:creationId xmlns:a16="http://schemas.microsoft.com/office/drawing/2014/main" id="{2AD760FC-6302-47E9-A757-2CEFA7927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3217863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7" descr="dagimpl">
            <a:extLst>
              <a:ext uri="{FF2B5EF4-FFF2-40B4-BE49-F238E27FC236}">
                <a16:creationId xmlns:a16="http://schemas.microsoft.com/office/drawing/2014/main" id="{2F8BDDD9-03B3-4945-8FAC-D5F000AF0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286000"/>
            <a:ext cx="44989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E71A189-3817-4562-A76C-EE33178FF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5.1  </a:t>
            </a:r>
            <a:r>
              <a:rPr lang="zh-CN" altLang="en-US"/>
              <a:t>构造</a:t>
            </a:r>
            <a:r>
              <a:rPr lang="en-US" altLang="zh-CN"/>
              <a:t>DAG</a:t>
            </a:r>
            <a:r>
              <a:rPr lang="zh-CN" altLang="en-US"/>
              <a:t>节点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18F224C-5716-453A-B1C3-404773CF1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输入：标记（操作符）</a:t>
            </a:r>
            <a:r>
              <a:rPr lang="en-US" altLang="zh-CN" sz="2800" dirty="0"/>
              <a:t>op</a:t>
            </a:r>
            <a:r>
              <a:rPr lang="zh-CN" altLang="en-US" sz="2800" dirty="0"/>
              <a:t>，节点</a:t>
            </a:r>
            <a:r>
              <a:rPr lang="en-US" altLang="zh-CN" sz="2800" i="1" dirty="0"/>
              <a:t>l</a:t>
            </a:r>
            <a:r>
              <a:rPr lang="zh-CN" altLang="en-US" sz="2800" dirty="0"/>
              <a:t>，节点</a:t>
            </a:r>
            <a:r>
              <a:rPr lang="en-US" altLang="zh-CN" sz="2800" i="1" dirty="0"/>
              <a:t>r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输出：具有</a:t>
            </a:r>
            <a:r>
              <a:rPr lang="en-US" altLang="zh-CN" sz="2800" dirty="0"/>
              <a:t>&lt;op, </a:t>
            </a:r>
            <a:r>
              <a:rPr lang="en-US" altLang="zh-CN" sz="2800" i="1" dirty="0"/>
              <a:t>l</a:t>
            </a:r>
            <a:r>
              <a:rPr lang="en-US" altLang="zh-CN" sz="2800" dirty="0"/>
              <a:t>, </a:t>
            </a:r>
            <a:r>
              <a:rPr lang="en-US" altLang="zh-CN" sz="2800" i="1" dirty="0"/>
              <a:t>r</a:t>
            </a:r>
            <a:r>
              <a:rPr lang="en-US" altLang="zh-CN" sz="2800" dirty="0"/>
              <a:t>&gt;</a:t>
            </a:r>
            <a:r>
              <a:rPr lang="zh-CN" altLang="en-US" sz="2800" dirty="0"/>
              <a:t>形式的节点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在创建节点前，搜索节点数组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寻找标记为</a:t>
            </a:r>
            <a:r>
              <a:rPr lang="en-US" altLang="zh-CN" sz="2400" dirty="0"/>
              <a:t>op</a:t>
            </a:r>
            <a:r>
              <a:rPr lang="zh-CN" altLang="en-US" sz="2400" dirty="0"/>
              <a:t>，左孩子</a:t>
            </a:r>
            <a:r>
              <a:rPr lang="en-US" altLang="zh-CN" sz="2400" i="1" dirty="0"/>
              <a:t>l</a:t>
            </a:r>
            <a:r>
              <a:rPr lang="zh-CN" altLang="en-US" sz="2400" dirty="0"/>
              <a:t>，右孩子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的节点</a:t>
            </a:r>
            <a:r>
              <a:rPr lang="en-US" altLang="zh-CN" sz="2400" dirty="0"/>
              <a:t>m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若找到，直接返回</a:t>
            </a:r>
            <a:r>
              <a:rPr lang="en-US" altLang="zh-CN" sz="2400" dirty="0"/>
              <a:t>m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否则，创建新节点，标记为</a:t>
            </a:r>
            <a:r>
              <a:rPr lang="en-US" altLang="zh-CN" sz="2400" dirty="0"/>
              <a:t>op</a:t>
            </a:r>
            <a:r>
              <a:rPr lang="zh-CN" altLang="en-US" sz="2400" dirty="0"/>
              <a:t>，左孩子为</a:t>
            </a:r>
            <a:r>
              <a:rPr lang="en-US" altLang="zh-CN" sz="2400" i="1" dirty="0"/>
              <a:t>l</a:t>
            </a:r>
            <a:r>
              <a:rPr lang="zh-CN" altLang="en-US" sz="2400" dirty="0"/>
              <a:t>，右孩子为</a:t>
            </a:r>
            <a:r>
              <a:rPr lang="en-US" altLang="zh-CN" sz="2400" i="1" dirty="0"/>
              <a:t>r</a:t>
            </a:r>
            <a:r>
              <a:rPr lang="zh-CN" altLang="en-US" sz="2400" dirty="0"/>
              <a:t>，将该节点返回</a:t>
            </a:r>
          </a:p>
          <a:p>
            <a:pPr marL="0" indent="0" eaLnBrk="1" hangingPunct="1"/>
            <a:r>
              <a:rPr lang="zh-CN" altLang="en-US" sz="2800" dirty="0"/>
              <a:t>搜索方法：</a:t>
            </a:r>
            <a:r>
              <a:rPr lang="en-US" altLang="zh-CN" sz="2800" dirty="0"/>
              <a:t>hash</a:t>
            </a:r>
            <a:r>
              <a:rPr lang="zh-CN" altLang="en-US" sz="2800" dirty="0"/>
              <a:t>技术</a:t>
            </a:r>
            <a:r>
              <a:rPr lang="en-US" altLang="zh-CN" sz="2800" dirty="0"/>
              <a:t>…</a:t>
            </a:r>
          </a:p>
          <a:p>
            <a:pPr marL="0" indent="0" eaLnBrk="1" hangingPunct="1"/>
            <a:r>
              <a:rPr lang="zh-CN" altLang="en-US" sz="2800" dirty="0"/>
              <a:t>代码优化阶段类似方法：局部值标号（</a:t>
            </a:r>
            <a:r>
              <a:rPr lang="en-US" altLang="zh-CN" sz="2800" dirty="0"/>
              <a:t>Local Value Numbering</a:t>
            </a:r>
            <a:r>
              <a:rPr lang="zh-CN" altLang="en-US" sz="2800" dirty="0"/>
              <a:t>，</a:t>
            </a:r>
            <a:r>
              <a:rPr lang="en-US" altLang="zh-CN" sz="2800" dirty="0"/>
              <a:t>LVN</a:t>
            </a:r>
            <a:r>
              <a:rPr lang="zh-CN" altLang="en-US" sz="2800"/>
              <a:t>）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en-US" altLang="zh-CN" sz="2800" dirty="0" err="1">
                <a:sym typeface="Wingdings" panose="05000000000000000000" pitchFamily="2" charset="2"/>
              </a:rPr>
              <a:t>G</a:t>
            </a:r>
            <a:r>
              <a:rPr lang="en-US" altLang="zh-CN" sz="2800" dirty="0" err="1"/>
              <a:t>ocal</a:t>
            </a:r>
            <a:r>
              <a:rPr lang="en-US" altLang="zh-CN" sz="2800" dirty="0"/>
              <a:t> Value Numbering</a:t>
            </a:r>
            <a:r>
              <a:rPr lang="zh-CN" altLang="en-US" sz="2800" dirty="0"/>
              <a:t>，</a:t>
            </a:r>
            <a:r>
              <a:rPr lang="en-US" altLang="zh-CN" sz="2800" dirty="0"/>
              <a:t>GVN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726D55D-C5CD-4E9B-ADDD-EF41BF95F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AAF1CA4-0ABC-4E4E-9AEF-AAC10CF68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{StmtK,ExpK} NodeKind;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{IfK,RepeatK,AssignK,ReadK,WriteK} StmtKind;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{OpK,ConstK,IdK} ExpKind;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{Void,Integer,Boolean} ExpType;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#define MAXCHILDREN 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struct treeNode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	struct treeNode * child[MAXCHILDREN];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struct treeNode * sibling;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int lineno;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NodeKind nodekind;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union { StmtKind stmt; ExpKind exp;} 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union { TokenType op;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        int val;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        char * name; } attr;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ExpType type; /* for type checking of exps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} TreeNode;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164C46F-7932-4117-A53B-1342D586A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辅助函数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9F0C46A-7315-4E45-8F24-EC9CD3009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TreeNode * newStmtNode(StmtKind kind)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TreeNode * t = (TreeNode *) malloc(sizeof(TreeNode));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int i;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if (t==NULL)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fprintf(listing,"Out of memory error at line %d\n",lineno);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else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for (i=0;i&lt;MAXCHILDREN;i++) t-&gt;child[i]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t-&gt;sibling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t-&gt;nodekind = StmtK;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t-&gt;kind.stmt = kind;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t-&gt;lineno = lineno;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2DE0442-4E20-428A-96B0-E0B5B0135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辅助函数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94EFC07-4A30-4759-AF64-D62B94E19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TreeNode * newExpNode(ExpKind kind)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TreeNode * t = (TreeNode *) malloc(sizeof(TreeNode));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int 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if (t==NULL)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fprintf(listing,"Out of memory error at line %d\n",lineno);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else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for (i=0;i&lt;MAXCHILDREN;i++) t-&gt;child[i] = NULL;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t-&gt;sibling = NULL;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t-&gt;nodekind = ExpK;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t-&gt;kind.exp = kind;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t-&gt;lineno = lineno;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t-&gt;type = Void;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8AE244C-158C-4F3D-A2F1-4D42F573F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BCF46EE-7E6D-421D-9F5F-8C23DBB38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TreeNode * simple_exp(void)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TreeNode * t = term();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while ((token==PLUS) || (token==MINUS))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TreeNode * p = newExpNode(OpK);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if (p!=NULL)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p-&gt;child[0] =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p-&gt;attr.op = token;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match(token);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t-&gt;child[1] = term();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0DAF10E-73A5-4A72-A11E-A73BD0D69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——IF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0FB9B54-4851-4432-9839-A1462D293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TreeNode * if_stmt(void)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TreeNode * t = newStmtNode(IfK);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match(IF);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(t!=NULL) t-&gt;child[0] = exp();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match(THEN);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(t!=NULL) t-&gt;child[1] = stmt_sequence();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(token==ELSE)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match(ELSE);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if (t!=NULL) t-&gt;child[2] = stmt_sequence();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match(END);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7752860-D027-439D-8061-F068901E2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——Yacc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6633A29-E51C-43FF-AACA-ECA84975E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#define YYSTYPE TreeNode *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simple_exp  : simple_exp PLUS term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newExpNode(OpK);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$$-&gt;attr.op = PLUS;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simple_exp MINUS term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newExpNode(OpK);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$3;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$$-&gt;attr.op = MINUS;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term { $$ = $1;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9557DE8-EB70-4575-B7E1-1824EDDBC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——Yacc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830F17-13D1-44A3-839D-1949A448F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if_stmt     : IF exp THEN stmt_seq END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newStmtNode(IfK);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IF exp THEN stmt_seq ELSE stmt_seq END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newStmtNode(IfK);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$4;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$$-&gt;child[2] = $6;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3A4AE9D-792C-4539-BAFE-F0979ED1A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5.3  </a:t>
            </a:r>
            <a:r>
              <a:rPr lang="zh-CN" altLang="en-US"/>
              <a:t>自底向上计算</a:t>
            </a:r>
            <a:r>
              <a:rPr lang="en-US" altLang="zh-CN"/>
              <a:t>S-</a:t>
            </a:r>
            <a:r>
              <a:rPr lang="zh-CN" altLang="en-US"/>
              <a:t>属性定义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3433D2B-9AA9-4788-B3EF-57A603EB6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133600"/>
          </a:xfrm>
        </p:spPr>
        <p:txBody>
          <a:bodyPr/>
          <a:lstStyle/>
          <a:p>
            <a:pPr eaLnBrk="1" hangingPunct="1"/>
            <a:r>
              <a:rPr lang="zh-CN" altLang="en-US" dirty="0"/>
              <a:t>与</a:t>
            </a:r>
            <a:r>
              <a:rPr lang="en-US" altLang="zh-CN" dirty="0"/>
              <a:t>LR(1)</a:t>
            </a:r>
            <a:r>
              <a:rPr lang="zh-CN" altLang="en-US" dirty="0"/>
              <a:t>分析器结合</a:t>
            </a:r>
          </a:p>
          <a:p>
            <a:pPr lvl="1" eaLnBrk="1" hangingPunct="1"/>
            <a:r>
              <a:rPr lang="zh-CN" altLang="en-US" dirty="0"/>
              <a:t>属性值如何保存？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在栈中保存语法符号的属性值</a:t>
            </a:r>
          </a:p>
          <a:p>
            <a:pPr lvl="1" eaLnBrk="1" hangingPunct="1"/>
            <a:r>
              <a:rPr lang="zh-CN" altLang="en-US" dirty="0"/>
              <a:t>何时计算属性？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归约时，利用栈中语法符号（产生式右部）属性值计算新的（左部非终结符的）综合属性值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2486094-485C-40FC-8972-BD32FEF19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自底向上计算</a:t>
            </a:r>
            <a:r>
              <a:rPr lang="en-US" altLang="zh-CN"/>
              <a:t>S-</a:t>
            </a:r>
            <a:r>
              <a:rPr lang="zh-CN" altLang="en-US"/>
              <a:t>属性定义示例</a:t>
            </a:r>
          </a:p>
        </p:txBody>
      </p:sp>
      <p:pic>
        <p:nvPicPr>
          <p:cNvPr id="43011" name="Picture 4" descr="attstack">
            <a:extLst>
              <a:ext uri="{FF2B5EF4-FFF2-40B4-BE49-F238E27FC236}">
                <a16:creationId xmlns:a16="http://schemas.microsoft.com/office/drawing/2014/main" id="{0F111027-2DC4-4488-A1A3-D50D124FF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752600"/>
            <a:ext cx="2544762" cy="284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5" descr="attstack1">
            <a:extLst>
              <a:ext uri="{FF2B5EF4-FFF2-40B4-BE49-F238E27FC236}">
                <a16:creationId xmlns:a16="http://schemas.microsoft.com/office/drawing/2014/main" id="{5BA1D269-2BD2-4263-A8BC-F3AC4AA31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09800"/>
            <a:ext cx="2544763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6">
            <a:extLst>
              <a:ext uri="{FF2B5EF4-FFF2-40B4-BE49-F238E27FC236}">
                <a16:creationId xmlns:a16="http://schemas.microsoft.com/office/drawing/2014/main" id="{97F3BF24-52D1-4AC7-8CE6-74661F35F02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95600" y="1600200"/>
            <a:ext cx="3886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A  XYZ</a:t>
            </a:r>
            <a:r>
              <a:rPr kumimoji="0" lang="en-US" altLang="zh-CN" sz="2800">
                <a:sym typeface="Wingdings" panose="05000000000000000000" pitchFamily="2" charset="2"/>
              </a:rPr>
              <a:t>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A.</a:t>
            </a:r>
            <a:r>
              <a:rPr kumimoji="0" lang="en-US" altLang="zh-CN" sz="2800" i="1"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f</a:t>
            </a:r>
            <a:r>
              <a:rPr kumimoji="0" lang="en-US" altLang="zh-CN" sz="2800">
                <a:sym typeface="Symbol" panose="05050102010706020507" pitchFamily="18" charset="2"/>
              </a:rPr>
              <a:t>(X.</a:t>
            </a:r>
            <a:r>
              <a:rPr kumimoji="0" lang="en-US" altLang="zh-CN" sz="2800" i="1">
                <a:sym typeface="Symbol" panose="05050102010706020507" pitchFamily="18" charset="2"/>
              </a:rPr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,Y.</a:t>
            </a:r>
            <a:r>
              <a:rPr kumimoji="0" lang="en-US" altLang="zh-CN" sz="2800" i="1">
                <a:sym typeface="Symbol" panose="05050102010706020507" pitchFamily="18" charset="2"/>
              </a:rPr>
              <a:t>y</a:t>
            </a:r>
            <a:r>
              <a:rPr kumimoji="0" lang="en-US" altLang="zh-CN" sz="2800">
                <a:sym typeface="Symbol" panose="05050102010706020507" pitchFamily="18" charset="2"/>
              </a:rPr>
              <a:t>,Z.</a:t>
            </a:r>
            <a:r>
              <a:rPr kumimoji="0" lang="en-US" altLang="zh-CN" sz="2800" i="1">
                <a:sym typeface="Symbol" panose="05050102010706020507" pitchFamily="18" charset="2"/>
              </a:rPr>
              <a:t>z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r>
              <a:rPr kumimoji="0" lang="en-US" altLang="zh-CN" sz="2800">
                <a:sym typeface="Wingdings" panose="05000000000000000000" pitchFamily="2" charset="2"/>
              </a:rPr>
              <a:t>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val[ntop]=f(val[top-2], val[top-1], val[top])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69C0E8A-7E44-405A-9D76-1ABC9ABDA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5.10</a:t>
            </a:r>
          </a:p>
        </p:txBody>
      </p:sp>
      <p:sp>
        <p:nvSpPr>
          <p:cNvPr id="44035" name="Line 4">
            <a:extLst>
              <a:ext uri="{FF2B5EF4-FFF2-40B4-BE49-F238E27FC236}">
                <a16:creationId xmlns:a16="http://schemas.microsoft.com/office/drawing/2014/main" id="{A9069E91-247F-4876-B71F-BA47BAB04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Line 5">
            <a:extLst>
              <a:ext uri="{FF2B5EF4-FFF2-40B4-BE49-F238E27FC236}">
                <a16:creationId xmlns:a16="http://schemas.microsoft.com/office/drawing/2014/main" id="{DA532DE2-0633-4A29-883A-A8FC1DE1C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Line 6">
            <a:extLst>
              <a:ext uri="{FF2B5EF4-FFF2-40B4-BE49-F238E27FC236}">
                <a16:creationId xmlns:a16="http://schemas.microsoft.com/office/drawing/2014/main" id="{6CDF1B2C-9513-4E24-9617-D5098533E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7">
            <a:extLst>
              <a:ext uri="{FF2B5EF4-FFF2-40B4-BE49-F238E27FC236}">
                <a16:creationId xmlns:a16="http://schemas.microsoft.com/office/drawing/2014/main" id="{CB8D01C3-C3D6-4766-A96A-5F5145CBA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562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Line 8">
            <a:extLst>
              <a:ext uri="{FF2B5EF4-FFF2-40B4-BE49-F238E27FC236}">
                <a16:creationId xmlns:a16="http://schemas.microsoft.com/office/drawing/2014/main" id="{14247506-2A25-49D3-9CAC-92EA42F6D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447800"/>
            <a:ext cx="0" cy="411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6E7B3A11-C446-4028-A85B-F479861D3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467600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L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E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T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[top-2]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+val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T		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T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F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[top-2]*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F		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[top-1]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041" name="Text Box 10">
            <a:extLst>
              <a:ext uri="{FF2B5EF4-FFF2-40B4-BE49-F238E27FC236}">
                <a16:creationId xmlns:a16="http://schemas.microsoft.com/office/drawing/2014/main" id="{078FB287-A97F-4784-BF36-E8BCD02B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44042" name="Text Box 11">
            <a:extLst>
              <a:ext uri="{FF2B5EF4-FFF2-40B4-BE49-F238E27FC236}">
                <a16:creationId xmlns:a16="http://schemas.microsoft.com/office/drawing/2014/main" id="{C82B366C-DE78-438E-884B-D27AB52F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44043" name="Text Box 12">
            <a:extLst>
              <a:ext uri="{FF2B5EF4-FFF2-40B4-BE49-F238E27FC236}">
                <a16:creationId xmlns:a16="http://schemas.microsoft.com/office/drawing/2014/main" id="{16B347D5-DC73-464D-877B-810DFE650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代码片断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DA6C1E0-1FB4-4CE2-9CC3-82FEEA463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5.10</a:t>
            </a:r>
            <a:r>
              <a:rPr lang="zh-CN" altLang="en-US"/>
              <a:t>（续）</a:t>
            </a:r>
          </a:p>
        </p:txBody>
      </p:sp>
      <p:pic>
        <p:nvPicPr>
          <p:cNvPr id="45059" name="Picture 19" descr="valsattr">
            <a:extLst>
              <a:ext uri="{FF2B5EF4-FFF2-40B4-BE49-F238E27FC236}">
                <a16:creationId xmlns:a16="http://schemas.microsoft.com/office/drawing/2014/main" id="{0E1017D9-C5B8-4AD6-9FE5-59F6A0D17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0638"/>
            <a:ext cx="5067300" cy="556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D6B9184-CEE3-4C47-8331-A619C1826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  L-</a:t>
            </a:r>
            <a:r>
              <a:rPr lang="zh-CN" altLang="en-US"/>
              <a:t>属性定义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9D60B74-5EFF-462A-B4AE-BB843FDBF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语法分析同时进行翻译，按深度优先顺序进行属性计算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procedure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sym typeface="Symbol" panose="05050102010706020507" pitchFamily="18" charset="2"/>
              </a:rPr>
              <a:t>dfsvisit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n:node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{	</a:t>
            </a:r>
            <a:r>
              <a:rPr lang="en-US" altLang="zh-CN" sz="2000" b="1" dirty="0">
                <a:sym typeface="Symbol" panose="05050102010706020507" pitchFamily="18" charset="2"/>
              </a:rPr>
              <a:t>for</a:t>
            </a:r>
            <a:r>
              <a:rPr lang="en-US" altLang="zh-CN" sz="2000" dirty="0">
                <a:sym typeface="Symbol" panose="05050102010706020507" pitchFamily="18" charset="2"/>
              </a:rPr>
              <a:t> n</a:t>
            </a:r>
            <a:r>
              <a:rPr lang="zh-CN" altLang="en-US" sz="2000" dirty="0">
                <a:sym typeface="Symbol" panose="05050102010706020507" pitchFamily="18" charset="2"/>
              </a:rPr>
              <a:t>的每个孩子，由左至右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{	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</a:t>
            </a:r>
            <a:r>
              <a:rPr lang="zh-CN" altLang="en-US" sz="2000" dirty="0">
                <a:sym typeface="Symbol" panose="05050102010706020507" pitchFamily="18" charset="2"/>
              </a:rPr>
              <a:t>计算</a:t>
            </a:r>
            <a:r>
              <a:rPr lang="en-US" altLang="zh-CN" sz="2000" dirty="0">
                <a:sym typeface="Symbol" panose="05050102010706020507" pitchFamily="18" charset="2"/>
              </a:rPr>
              <a:t>m</a:t>
            </a:r>
            <a:r>
              <a:rPr lang="zh-CN" altLang="en-US" sz="2000" dirty="0">
                <a:sym typeface="Symbol" panose="05050102010706020507" pitchFamily="18" charset="2"/>
              </a:rPr>
              <a:t>的继承属性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r>
              <a:rPr lang="zh-CN" altLang="en-US" sz="2000" dirty="0">
                <a:sym typeface="Symbol" panose="05050102010706020507" pitchFamily="18" charset="2"/>
              </a:rPr>
              <a:t>（利用</a:t>
            </a:r>
            <a:r>
              <a:rPr lang="en-US" altLang="zh-CN" sz="2000" dirty="0"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ym typeface="Symbol" panose="05050102010706020507" pitchFamily="18" charset="2"/>
              </a:rPr>
              <a:t>的继承属性和</a:t>
            </a:r>
            <a:r>
              <a:rPr lang="en-US" altLang="zh-CN" sz="2000" dirty="0">
                <a:sym typeface="Symbol" panose="05050102010706020507" pitchFamily="18" charset="2"/>
              </a:rPr>
              <a:t>m</a:t>
            </a:r>
            <a:r>
              <a:rPr lang="zh-CN" altLang="en-US" sz="2000" dirty="0">
                <a:sym typeface="Symbol" panose="05050102010706020507" pitchFamily="18" charset="2"/>
              </a:rPr>
              <a:t>的左兄弟的属性）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		</a:t>
            </a:r>
            <a:r>
              <a:rPr lang="en-US" altLang="zh-CN" sz="2000" dirty="0" err="1">
                <a:sym typeface="Symbol" panose="05050102010706020507" pitchFamily="18" charset="2"/>
              </a:rPr>
              <a:t>dfsvisit</a:t>
            </a:r>
            <a:r>
              <a:rPr lang="en-US" altLang="zh-CN" sz="2000" dirty="0">
                <a:sym typeface="Symbol" panose="05050102010706020507" pitchFamily="18" charset="2"/>
              </a:rPr>
              <a:t>(m);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</a:t>
            </a:r>
            <a:r>
              <a:rPr lang="zh-CN" altLang="en-US" sz="2000" dirty="0">
                <a:sym typeface="Symbol" panose="05050102010706020507" pitchFamily="18" charset="2"/>
              </a:rPr>
              <a:t>计算</a:t>
            </a:r>
            <a:r>
              <a:rPr lang="en-US" altLang="zh-CN" sz="2000" dirty="0"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ym typeface="Symbol" panose="05050102010706020507" pitchFamily="18" charset="2"/>
              </a:rPr>
              <a:t>的综合属性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/>
          </a:p>
          <a:p>
            <a:pPr eaLnBrk="1" hangingPunct="1"/>
            <a:r>
              <a:rPr lang="en-US" altLang="zh-CN" sz="2800" dirty="0"/>
              <a:t>L-</a:t>
            </a:r>
            <a:r>
              <a:rPr lang="zh-CN" altLang="en-US" sz="2800" dirty="0"/>
              <a:t>属性定义</a:t>
            </a:r>
          </a:p>
          <a:p>
            <a:pPr lvl="1" eaLnBrk="1" hangingPunct="1"/>
            <a:r>
              <a:rPr lang="zh-CN" altLang="en-US" sz="2400" dirty="0"/>
              <a:t>可由深度优先计算</a:t>
            </a:r>
          </a:p>
          <a:p>
            <a:pPr lvl="1" eaLnBrk="1" hangingPunct="1"/>
            <a:r>
              <a:rPr lang="zh-CN" altLang="en-US" sz="2400" dirty="0"/>
              <a:t>包括所有基于</a:t>
            </a:r>
            <a:r>
              <a:rPr lang="en-US" altLang="zh-CN" sz="2400" dirty="0"/>
              <a:t>LL(1)</a:t>
            </a:r>
            <a:r>
              <a:rPr lang="zh-CN" altLang="en-US" sz="2400" dirty="0"/>
              <a:t>文法的语法制导定义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9DE04DE-5471-4B6D-86AD-CD01EC3D3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5.4.1  L-</a:t>
            </a:r>
            <a:r>
              <a:rPr lang="zh-CN" altLang="en-US"/>
              <a:t>属性定义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EF1B2FC-9E56-4205-9281-CBD2A01E2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一个语法制导定义，若满足如下条件，则称之为</a:t>
            </a:r>
            <a:r>
              <a:rPr lang="en-US" altLang="zh-CN" dirty="0"/>
              <a:t>L-</a:t>
            </a:r>
            <a:r>
              <a:rPr lang="zh-CN" altLang="en-US" dirty="0"/>
              <a:t>属性定义：</a:t>
            </a:r>
          </a:p>
          <a:p>
            <a:pPr marL="990600" lvl="1" indent="-533400" eaLnBrk="1" hangingPunct="1"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对产生式</a:t>
            </a:r>
            <a:r>
              <a:rPr lang="en-US" altLang="zh-CN" dirty="0">
                <a:sym typeface="Symbol" panose="05050102010706020507" pitchFamily="18" charset="2"/>
              </a:rPr>
              <a:t>A X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en-US" altLang="zh-CN" dirty="0">
                <a:sym typeface="Symbol" panose="05050102010706020507" pitchFamily="18" charset="2"/>
              </a:rPr>
              <a:t>(1≤j≤n)</a:t>
            </a:r>
            <a:r>
              <a:rPr lang="zh-CN" altLang="en-US" dirty="0">
                <a:sym typeface="Symbol" panose="05050102010706020507" pitchFamily="18" charset="2"/>
              </a:rPr>
              <a:t>的每个继承属性应仅依赖于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左边符号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j-1</a:t>
            </a:r>
            <a:r>
              <a:rPr lang="zh-CN" altLang="en-US" dirty="0">
                <a:sym typeface="Symbol" panose="05050102010706020507" pitchFamily="18" charset="2"/>
              </a:rPr>
              <a:t>的属性（继承属性和综合属性）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的继承属性</a:t>
            </a:r>
          </a:p>
          <a:p>
            <a:pPr marL="609600" indent="-609600" eaLnBrk="1" hangingPunct="1"/>
            <a:r>
              <a:rPr lang="zh-CN" altLang="en-US" dirty="0">
                <a:sym typeface="Symbol" panose="05050102010706020507" pitchFamily="18" charset="2"/>
              </a:rPr>
              <a:t>所有</a:t>
            </a:r>
            <a:r>
              <a:rPr lang="en-US" altLang="zh-CN" dirty="0">
                <a:sym typeface="Symbol" panose="05050102010706020507" pitchFamily="18" charset="2"/>
              </a:rPr>
              <a:t>S-</a:t>
            </a:r>
            <a:r>
              <a:rPr lang="zh-CN" altLang="en-US" dirty="0">
                <a:sym typeface="Symbol" panose="05050102010706020507" pitchFamily="18" charset="2"/>
              </a:rPr>
              <a:t>属性定义都是</a:t>
            </a:r>
            <a:r>
              <a:rPr lang="en-US" altLang="zh-CN" dirty="0">
                <a:sym typeface="Symbol" panose="05050102010706020507" pitchFamily="18" charset="2"/>
              </a:rPr>
              <a:t>L-</a:t>
            </a:r>
            <a:r>
              <a:rPr lang="zh-CN" altLang="en-US" dirty="0">
                <a:sym typeface="Symbol" panose="05050102010706020507" pitchFamily="18" charset="2"/>
              </a:rPr>
              <a:t>属性定义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6EF6028-8102-4673-96E2-F1318FDEE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5.11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AF9C7EB-8581-4FD3-B774-C29DF4730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86400" y="4800600"/>
            <a:ext cx="3084513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hlink"/>
                </a:solidFill>
              </a:rPr>
              <a:t>不是</a:t>
            </a:r>
            <a:r>
              <a:rPr lang="en-US" altLang="zh-CN" sz="2800">
                <a:solidFill>
                  <a:schemeClr val="hlink"/>
                </a:solidFill>
              </a:rPr>
              <a:t>L-</a:t>
            </a:r>
            <a:r>
              <a:rPr lang="zh-CN" altLang="en-US" sz="2800">
                <a:solidFill>
                  <a:schemeClr val="hlink"/>
                </a:solidFill>
              </a:rPr>
              <a:t>属性定义</a:t>
            </a:r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59D94325-437D-421F-B968-D59FAD2C3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Line 5">
            <a:extLst>
              <a:ext uri="{FF2B5EF4-FFF2-40B4-BE49-F238E27FC236}">
                <a16:creationId xmlns:a16="http://schemas.microsoft.com/office/drawing/2014/main" id="{6D51B7D1-DE71-4674-888E-D46131743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37FE1B12-5B21-4718-88F1-932491F7D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F0FFFDD4-E297-4F28-8107-9C2B9B6AC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648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Line 8">
            <a:extLst>
              <a:ext uri="{FF2B5EF4-FFF2-40B4-BE49-F238E27FC236}">
                <a16:creationId xmlns:a16="http://schemas.microsoft.com/office/drawing/2014/main" id="{ED83E637-A81C-449F-8F34-18D99FD9B7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16002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7" name="Text Box 9">
            <a:extLst>
              <a:ext uri="{FF2B5EF4-FFF2-40B4-BE49-F238E27FC236}">
                <a16:creationId xmlns:a16="http://schemas.microsoft.com/office/drawing/2014/main" id="{6B9E5491-BD1C-40FD-A078-A23A12BB2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57400"/>
            <a:ext cx="7086600" cy="2614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LM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L.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M.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(L.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3</a:t>
            </a:r>
            <a:r>
              <a:rPr kumimoji="0" lang="en-US" altLang="zh-CN" sz="2400">
                <a:sym typeface="Symbol" panose="05050102010706020507" pitchFamily="18" charset="2"/>
              </a:rPr>
              <a:t>(M.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QR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4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Q.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en-US" altLang="zh-CN" sz="2400">
                <a:sym typeface="Symbol" panose="05050102010706020507" pitchFamily="18" charset="2"/>
              </a:rPr>
              <a:t>(R.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6</a:t>
            </a:r>
            <a:r>
              <a:rPr kumimoji="0" lang="en-US" altLang="zh-CN" sz="2400">
                <a:sym typeface="Symbol" panose="05050102010706020507" pitchFamily="18" charset="2"/>
              </a:rPr>
              <a:t>(Q.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8138" name="Text Box 10">
            <a:extLst>
              <a:ext uri="{FF2B5EF4-FFF2-40B4-BE49-F238E27FC236}">
                <a16:creationId xmlns:a16="http://schemas.microsoft.com/office/drawing/2014/main" id="{D1F8C1F9-BC49-4F29-A699-B37DEE171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</a:p>
        </p:txBody>
      </p:sp>
      <p:sp>
        <p:nvSpPr>
          <p:cNvPr id="48139" name="Text Box 11">
            <a:extLst>
              <a:ext uri="{FF2B5EF4-FFF2-40B4-BE49-F238E27FC236}">
                <a16:creationId xmlns:a16="http://schemas.microsoft.com/office/drawing/2014/main" id="{79CF0AB7-A06D-4603-BB16-34ED0F24D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</a:p>
        </p:txBody>
      </p:sp>
      <p:sp>
        <p:nvSpPr>
          <p:cNvPr id="48140" name="Freeform 13">
            <a:extLst>
              <a:ext uri="{FF2B5EF4-FFF2-40B4-BE49-F238E27FC236}">
                <a16:creationId xmlns:a16="http://schemas.microsoft.com/office/drawing/2014/main" id="{5A18CF58-6123-43CD-9D6F-F0E8A5C9CE45}"/>
              </a:ext>
            </a:extLst>
          </p:cNvPr>
          <p:cNvSpPr>
            <a:spLocks/>
          </p:cNvSpPr>
          <p:nvPr/>
        </p:nvSpPr>
        <p:spPr bwMode="ltGray">
          <a:xfrm>
            <a:off x="5435600" y="4076700"/>
            <a:ext cx="1474788" cy="723900"/>
          </a:xfrm>
          <a:custGeom>
            <a:avLst/>
            <a:gdLst>
              <a:gd name="T0" fmla="*/ 2147483646 w 801"/>
              <a:gd name="T1" fmla="*/ 991973332 h 528"/>
              <a:gd name="T2" fmla="*/ 2147483646 w 801"/>
              <a:gd name="T3" fmla="*/ 450896470 h 528"/>
              <a:gd name="T4" fmla="*/ 1382636765 w 801"/>
              <a:gd name="T5" fmla="*/ 146541764 h 528"/>
              <a:gd name="T6" fmla="*/ 0 w 801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01" h="528">
                <a:moveTo>
                  <a:pt x="768" y="528"/>
                </a:moveTo>
                <a:cubicBezTo>
                  <a:pt x="764" y="480"/>
                  <a:pt x="801" y="315"/>
                  <a:pt x="741" y="240"/>
                </a:cubicBezTo>
                <a:cubicBezTo>
                  <a:pt x="681" y="165"/>
                  <a:pt x="531" y="118"/>
                  <a:pt x="408" y="78"/>
                </a:cubicBezTo>
                <a:cubicBezTo>
                  <a:pt x="285" y="38"/>
                  <a:pt x="85" y="16"/>
                  <a:pt x="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82A5FBF-C6D7-4D4A-A490-3DF6E7EF2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5.4.2  </a:t>
            </a:r>
            <a:r>
              <a:rPr lang="zh-CN" altLang="en-US"/>
              <a:t>翻译模式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69580AC-0AFC-4EA2-BF6E-3DF567A57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语义动作嵌入产生式</a:t>
            </a:r>
          </a:p>
          <a:p>
            <a:pPr eaLnBrk="1" hangingPunct="1"/>
            <a:r>
              <a:rPr lang="zh-CN" altLang="en-US"/>
              <a:t>指明计算顺序</a:t>
            </a:r>
          </a:p>
          <a:p>
            <a:pPr eaLnBrk="1" hangingPunct="1"/>
            <a:r>
              <a:rPr lang="zh-CN" altLang="en-US" sz="4000">
                <a:solidFill>
                  <a:srgbClr val="3333CC"/>
                </a:solidFill>
              </a:rPr>
              <a:t>例</a:t>
            </a:r>
            <a:r>
              <a:rPr lang="en-US" altLang="zh-CN" sz="4000">
                <a:solidFill>
                  <a:srgbClr val="3333CC"/>
                </a:solidFill>
              </a:rPr>
              <a:t>5.12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 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 T { </a:t>
            </a:r>
            <a:r>
              <a:rPr kumimoji="0" lang="en-US" altLang="zh-CN" sz="2800" i="1"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lexeme</a:t>
            </a:r>
            <a:r>
              <a:rPr kumimoji="0" lang="en-US" altLang="zh-CN" sz="2800">
                <a:sym typeface="Symbol" panose="05050102010706020507" pitchFamily="18" charset="2"/>
              </a:rPr>
              <a:t>)}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 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 { </a:t>
            </a:r>
            <a:r>
              <a:rPr kumimoji="0" lang="en-US" altLang="zh-CN" sz="2800" i="1"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sym typeface="Symbol" panose="05050102010706020507" pitchFamily="18" charset="2"/>
              </a:rPr>
              <a:t>) 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12910EB-5D68-485A-BD21-424937445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5.12</a:t>
            </a:r>
            <a:r>
              <a:rPr lang="zh-CN" altLang="en-US"/>
              <a:t>（续）</a:t>
            </a:r>
          </a:p>
        </p:txBody>
      </p:sp>
      <p:pic>
        <p:nvPicPr>
          <p:cNvPr id="50179" name="Picture 4" descr="scheme">
            <a:extLst>
              <a:ext uri="{FF2B5EF4-FFF2-40B4-BE49-F238E27FC236}">
                <a16:creationId xmlns:a16="http://schemas.microsoft.com/office/drawing/2014/main" id="{5F12C32D-2E78-4FF7-B5FC-2F11FBAEF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208963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48D86CA-49D8-41D9-B43B-3E5CBEF5B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设计翻译模式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38E6A77-C62B-4137-B7AB-9B29BBA60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609600" indent="-609600" eaLnBrk="1" hangingPunct="1"/>
            <a:r>
              <a:rPr lang="zh-CN" altLang="en-US" sz="2400" dirty="0"/>
              <a:t>以语法制导定义为基础</a:t>
            </a:r>
          </a:p>
          <a:p>
            <a:pPr marL="609600" indent="-609600" eaLnBrk="1" hangingPunct="1"/>
            <a:r>
              <a:rPr lang="zh-CN" altLang="en-US" sz="2400" dirty="0"/>
              <a:t>注意</a:t>
            </a:r>
            <a:r>
              <a:rPr lang="en-US" altLang="zh-CN" sz="2400" dirty="0"/>
              <a:t>L-</a:t>
            </a:r>
            <a:r>
              <a:rPr lang="zh-CN" altLang="en-US" sz="2400" dirty="0"/>
              <a:t>属性定义所带来的限制，确保不会违反属性计算的依赖关系</a:t>
            </a:r>
          </a:p>
          <a:p>
            <a:pPr marL="609600" indent="-609600" eaLnBrk="1" hangingPunct="1"/>
            <a:r>
              <a:rPr lang="zh-CN" altLang="en-US" sz="2400" dirty="0"/>
              <a:t>最简单情况：只有综合属性</a:t>
            </a:r>
          </a:p>
          <a:p>
            <a:pPr marL="609600" indent="-609600" eaLnBrk="1" hangingPunct="1"/>
            <a:r>
              <a:rPr lang="zh-CN" altLang="en-US" sz="2400" dirty="0"/>
              <a:t>既有综合属性，又有继承属性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一个符号的继承属性必须在符号之前（左边）的语义动作中进行计算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动作不能引用它右边符号的综合属性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产生式左部</a:t>
            </a:r>
            <a:r>
              <a:rPr lang="en-US" altLang="zh-CN" sz="2000" dirty="0"/>
              <a:t>NT</a:t>
            </a:r>
            <a:r>
              <a:rPr lang="zh-CN" altLang="en-US" sz="2000" dirty="0"/>
              <a:t>的综合属性，必须在其依赖的所有属性计算完毕后，才能计算。一般置于右部的末尾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7DA462C-91DB-401F-8C90-732399772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0321F6A-2701-4661-A08B-6BB33247F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S</a:t>
            </a:r>
            <a:r>
              <a:rPr kumimoji="0" lang="en-US" altLang="zh-CN" dirty="0">
                <a:sym typeface="Symbol" panose="05050102010706020507" pitchFamily="18" charset="2"/>
              </a:rPr>
              <a:t> 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  {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.in = 1;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.in = 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dirty="0">
                <a:sym typeface="Symbol" panose="05050102010706020507" pitchFamily="18" charset="2"/>
              </a:rPr>
              <a:t>A  a </a:t>
            </a:r>
            <a:r>
              <a:rPr kumimoji="0" lang="en-US" altLang="zh-CN" sz="2800" dirty="0">
                <a:sym typeface="Symbol" panose="05050102010706020507" pitchFamily="18" charset="2"/>
              </a:rPr>
              <a:t>{ </a:t>
            </a:r>
            <a:r>
              <a:rPr kumimoji="0" lang="en-US" altLang="zh-CN" sz="28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800" dirty="0">
                <a:sym typeface="Symbol" panose="05050102010706020507" pitchFamily="18" charset="2"/>
              </a:rPr>
              <a:t>(A.in); }</a:t>
            </a:r>
            <a:endParaRPr lang="en-US" altLang="zh-CN" dirty="0"/>
          </a:p>
          <a:p>
            <a:pPr eaLnBrk="1" hangingPunct="1"/>
            <a:r>
              <a:rPr lang="zh-CN" altLang="en-US" dirty="0"/>
              <a:t>产生式</a:t>
            </a:r>
            <a:r>
              <a:rPr lang="en-US" altLang="zh-CN" dirty="0"/>
              <a:t>1</a:t>
            </a:r>
            <a:r>
              <a:rPr lang="zh-CN" altLang="en-US" dirty="0"/>
              <a:t>不满足第一条要求，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的继承属性在符号之后进行计算。</a:t>
            </a:r>
            <a:br>
              <a:rPr lang="zh-CN" altLang="en-US" dirty="0"/>
            </a:br>
            <a:r>
              <a:rPr lang="zh-CN" altLang="en-US" dirty="0"/>
              <a:t>当利用产生式</a:t>
            </a:r>
            <a:r>
              <a:rPr lang="en-US" altLang="zh-CN" dirty="0"/>
              <a:t>2</a:t>
            </a:r>
            <a:r>
              <a:rPr lang="zh-CN" altLang="en-US" dirty="0"/>
              <a:t>进行归约时，</a:t>
            </a:r>
            <a:r>
              <a:rPr lang="en-US" altLang="zh-CN" dirty="0"/>
              <a:t>A</a:t>
            </a:r>
            <a:r>
              <a:rPr lang="zh-CN" altLang="en-US" dirty="0"/>
              <a:t>的继承属性还未得到，失败</a:t>
            </a:r>
          </a:p>
          <a:p>
            <a:pPr eaLnBrk="1" hangingPunct="1"/>
            <a:r>
              <a:rPr lang="en-US" altLang="zh-CN" dirty="0"/>
              <a:t>L-</a:t>
            </a:r>
            <a:r>
              <a:rPr lang="zh-CN" altLang="en-US" dirty="0"/>
              <a:t>属性定义总能构造出符合</a:t>
            </a:r>
            <a:r>
              <a:rPr lang="en-US" altLang="zh-CN" dirty="0"/>
              <a:t>3</a:t>
            </a:r>
            <a:r>
              <a:rPr lang="zh-CN" altLang="en-US" dirty="0"/>
              <a:t>条要求的翻译模式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ED42AB9-2EA7-4DD7-8FE6-3BCE0A950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9A1FCA1-D2EA-4958-9E74-7463224E9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981200"/>
          </a:xfrm>
        </p:spPr>
        <p:txBody>
          <a:bodyPr/>
          <a:lstStyle/>
          <a:p>
            <a:pPr eaLnBrk="1" hangingPunct="1"/>
            <a:r>
              <a:rPr lang="zh-CN" altLang="en-US" dirty="0"/>
              <a:t>数学格式化语言</a:t>
            </a:r>
            <a:r>
              <a:rPr lang="en-US" altLang="zh-CN" dirty="0"/>
              <a:t>EQN</a:t>
            </a:r>
          </a:p>
          <a:p>
            <a:pPr eaLnBrk="1" hangingPunct="1"/>
            <a:r>
              <a:rPr lang="en-US" altLang="zh-CN" b="1" dirty="0"/>
              <a:t>text</a:t>
            </a:r>
            <a:r>
              <a:rPr lang="en-US" altLang="zh-CN" dirty="0"/>
              <a:t>——</a:t>
            </a:r>
            <a:r>
              <a:rPr lang="zh-CN" altLang="en-US" dirty="0"/>
              <a:t>“文本框”，</a:t>
            </a:r>
            <a:r>
              <a:rPr lang="en-US" altLang="zh-CN" b="1" dirty="0"/>
              <a:t>sub</a:t>
            </a:r>
            <a:r>
              <a:rPr lang="en-US" altLang="zh-CN" dirty="0"/>
              <a:t>——</a:t>
            </a:r>
            <a:r>
              <a:rPr lang="zh-CN" altLang="en-US" dirty="0"/>
              <a:t>下标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E </a:t>
            </a:r>
            <a:r>
              <a:rPr lang="en-US" altLang="zh-CN" b="1" dirty="0"/>
              <a:t>sub</a:t>
            </a:r>
            <a:r>
              <a:rPr lang="en-US" altLang="zh-CN" dirty="0"/>
              <a:t> 1 .val</a:t>
            </a:r>
            <a:r>
              <a:rPr lang="en-US" altLang="zh-CN" dirty="0">
                <a:sym typeface="Wingdings" panose="05000000000000000000" pitchFamily="2" charset="2"/>
              </a:rPr>
              <a:t>E</a:t>
            </a:r>
            <a:r>
              <a:rPr lang="en-US" altLang="zh-CN" baseline="-25000" dirty="0"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.val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51F4C98-380B-4809-A7D2-6133632C1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  </a:t>
            </a:r>
            <a:r>
              <a:rPr lang="zh-CN" altLang="en-US"/>
              <a:t>语法制导定义</a:t>
            </a:r>
          </a:p>
        </p:txBody>
      </p:sp>
      <p:sp>
        <p:nvSpPr>
          <p:cNvPr id="54275" name="Line 4">
            <a:extLst>
              <a:ext uri="{FF2B5EF4-FFF2-40B4-BE49-F238E27FC236}">
                <a16:creationId xmlns:a16="http://schemas.microsoft.com/office/drawing/2014/main" id="{90825FF0-1D72-47A1-91ED-587AE91E2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76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6" name="Line 5">
            <a:extLst>
              <a:ext uri="{FF2B5EF4-FFF2-40B4-BE49-F238E27FC236}">
                <a16:creationId xmlns:a16="http://schemas.microsoft.com/office/drawing/2014/main" id="{174E7C20-A383-4AA2-B611-EF4C095F3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752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Line 6">
            <a:extLst>
              <a:ext uri="{FF2B5EF4-FFF2-40B4-BE49-F238E27FC236}">
                <a16:creationId xmlns:a16="http://schemas.microsoft.com/office/drawing/2014/main" id="{D0FD99D3-92F2-42C7-8626-41B196E72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09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Line 7">
            <a:extLst>
              <a:ext uri="{FF2B5EF4-FFF2-40B4-BE49-F238E27FC236}">
                <a16:creationId xmlns:a16="http://schemas.microsoft.com/office/drawing/2014/main" id="{88DC0804-E008-41DF-AA5A-F4C82F5B8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800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Line 8">
            <a:extLst>
              <a:ext uri="{FF2B5EF4-FFF2-40B4-BE49-F238E27FC236}">
                <a16:creationId xmlns:a16="http://schemas.microsoft.com/office/drawing/2014/main" id="{6E7A0DD5-953F-412A-90AC-A41B9C639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7526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0" name="Text Box 9">
            <a:extLst>
              <a:ext uri="{FF2B5EF4-FFF2-40B4-BE49-F238E27FC236}">
                <a16:creationId xmlns:a16="http://schemas.microsoft.com/office/drawing/2014/main" id="{CAAE0DF3-E1CE-44A2-83D6-06AAFEED0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09800"/>
            <a:ext cx="7086600" cy="2614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B			B.ps = 10;	S.ht = B.ht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B.ps;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shrink(B.ps);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</a:t>
            </a:r>
          </a:p>
        </p:txBody>
      </p:sp>
      <p:sp>
        <p:nvSpPr>
          <p:cNvPr id="54281" name="Text Box 10">
            <a:extLst>
              <a:ext uri="{FF2B5EF4-FFF2-40B4-BE49-F238E27FC236}">
                <a16:creationId xmlns:a16="http://schemas.microsoft.com/office/drawing/2014/main" id="{29985C80-0AB0-4612-A473-F2A93C73C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133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54282" name="Text Box 11">
            <a:extLst>
              <a:ext uri="{FF2B5EF4-FFF2-40B4-BE49-F238E27FC236}">
                <a16:creationId xmlns:a16="http://schemas.microsoft.com/office/drawing/2014/main" id="{21FCE379-4E02-4C04-AA87-1D8CA8C4A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54283" name="Text Box 12">
            <a:extLst>
              <a:ext uri="{FF2B5EF4-FFF2-40B4-BE49-F238E27FC236}">
                <a16:creationId xmlns:a16="http://schemas.microsoft.com/office/drawing/2014/main" id="{06A18156-AD0A-4BC5-B268-DCA210AC4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752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E7D59AC-4142-4C35-BB18-6A9DCB24A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 </a:t>
            </a:r>
            <a:r>
              <a:rPr lang="zh-CN" altLang="en-US"/>
              <a:t>翻译模式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3C5696B-B3EC-4FDC-986C-E1BE62C42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S 			{ B.ps = 10;	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		{ S.ht = B.ht;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		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		</a:t>
            </a:r>
            <a:r>
              <a:rPr kumimoji="0" lang="en-US" altLang="zh-CN" sz="2400">
                <a:sym typeface="Symbol" panose="05050102010706020507" pitchFamily="18" charset="2"/>
              </a:rPr>
              <a:t>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		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	</a:t>
            </a:r>
            <a:r>
              <a:rPr kumimoji="0" lang="en-US" altLang="zh-CN" sz="2400">
                <a:sym typeface="Symbol" panose="05050102010706020507" pitchFamily="18" charset="2"/>
              </a:rPr>
              <a:t>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 }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{ 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.h×B.ps; 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1A6E1A6-09C3-4CD2-8C5D-17C7EAD85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  </a:t>
            </a:r>
            <a:r>
              <a:rPr lang="zh-CN" altLang="en-US"/>
              <a:t>自顶向下计算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D859B6F-F104-4B29-ACDF-136C35226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在预测分析法过程中计算</a:t>
            </a:r>
            <a:r>
              <a:rPr lang="en-US" altLang="zh-CN" dirty="0"/>
              <a:t>L-</a:t>
            </a:r>
            <a:r>
              <a:rPr lang="zh-CN" altLang="en-US" dirty="0"/>
              <a:t>属性定义</a:t>
            </a:r>
          </a:p>
          <a:p>
            <a:pPr eaLnBrk="1" hangingPunct="1"/>
            <a:r>
              <a:rPr lang="zh-CN" altLang="en-US" dirty="0"/>
              <a:t>预测分析法</a:t>
            </a:r>
          </a:p>
          <a:p>
            <a:pPr lvl="1" eaLnBrk="1" hangingPunct="1"/>
            <a:r>
              <a:rPr lang="zh-CN" altLang="en-US" dirty="0"/>
              <a:t>文法无左递归，提取了左公因子</a:t>
            </a:r>
          </a:p>
          <a:p>
            <a:pPr lvl="1" eaLnBrk="1" hangingPunct="1"/>
            <a:r>
              <a:rPr lang="zh-CN" altLang="en-US" dirty="0"/>
              <a:t>每个</a:t>
            </a:r>
            <a:r>
              <a:rPr lang="en-US" altLang="zh-CN" dirty="0"/>
              <a:t>NT </a:t>
            </a:r>
            <a:r>
              <a:rPr lang="zh-CN" altLang="en-US" dirty="0"/>
              <a:t>构造一个函数，分析其所有产生式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F5EE59F-D62A-48E0-996A-364A13682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5.5.1  </a:t>
            </a:r>
            <a:r>
              <a:rPr lang="zh-CN" altLang="en-US"/>
              <a:t>消除左递归（例</a:t>
            </a:r>
            <a:r>
              <a:rPr lang="en-US" altLang="zh-CN"/>
              <a:t>5.14</a:t>
            </a:r>
            <a:r>
              <a:rPr lang="zh-CN" altLang="en-US"/>
              <a:t>）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30A19D7-2CC5-40DF-A82C-E06BD2C59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 </a:t>
            </a:r>
            <a:r>
              <a:rPr lang="en-US" altLang="zh-CN" sz="2000" dirty="0">
                <a:sym typeface="Symbol" panose="05050102010706020507" pitchFamily="18" charset="2"/>
              </a:rPr>
              <a:t>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 </a:t>
            </a:r>
            <a:r>
              <a:rPr lang="en-US" altLang="zh-CN" sz="2000" dirty="0">
                <a:sym typeface="Symbol" panose="05050102010706020507" pitchFamily="18" charset="2"/>
              </a:rPr>
              <a:t>-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	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/>
            <a:r>
              <a:rPr lang="zh-CN" altLang="en-US" dirty="0"/>
              <a:t>消除左递归</a:t>
            </a:r>
          </a:p>
          <a:p>
            <a:pPr lvl="1" eaLnBrk="1" hangingPunct="1"/>
            <a:r>
              <a:rPr lang="zh-CN" altLang="en-US" dirty="0"/>
              <a:t>语义动作如何调整？</a:t>
            </a:r>
          </a:p>
          <a:p>
            <a:pPr lvl="1" eaLnBrk="1" hangingPunct="1"/>
            <a:r>
              <a:rPr lang="zh-CN" altLang="en-US" dirty="0"/>
              <a:t>语义动作的插入位置如何确定？</a:t>
            </a:r>
            <a:endParaRPr lang="en-US" altLang="zh-CN" dirty="0"/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本例的难点：运算符的两个运算对象分离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R	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?}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R	{?}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R	{?}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R  		{?}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1800" i="1" dirty="0"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356B2A-8B54-44D2-BA4C-502AAD868317}"/>
              </a:ext>
            </a:extLst>
          </p:cNvPr>
          <p:cNvSpPr txBox="1"/>
          <p:nvPr/>
        </p:nvSpPr>
        <p:spPr>
          <a:xfrm>
            <a:off x="1645879" y="490904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CBF9B9-1B34-4CB4-A115-D72EDFA0E0F5}"/>
              </a:ext>
            </a:extLst>
          </p:cNvPr>
          <p:cNvSpPr txBox="1"/>
          <p:nvPr/>
        </p:nvSpPr>
        <p:spPr>
          <a:xfrm>
            <a:off x="1867500" y="518117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E3C8AA-2905-4EBD-A34C-2DA6A422C67A}"/>
              </a:ext>
            </a:extLst>
          </p:cNvPr>
          <p:cNvSpPr txBox="1"/>
          <p:nvPr/>
        </p:nvSpPr>
        <p:spPr>
          <a:xfrm>
            <a:off x="1808820" y="5445657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F32165-EC2D-4A5D-A148-FFC8CF81F84F}"/>
              </a:ext>
            </a:extLst>
          </p:cNvPr>
          <p:cNvSpPr txBox="1"/>
          <p:nvPr/>
        </p:nvSpPr>
        <p:spPr>
          <a:xfrm>
            <a:off x="4355975" y="4909049"/>
            <a:ext cx="4587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如何将两个产生式中的属性拉到一起？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60B9DB-50E0-4A08-AF1B-02DB00626910}"/>
              </a:ext>
            </a:extLst>
          </p:cNvPr>
          <p:cNvSpPr txBox="1"/>
          <p:nvPr/>
        </p:nvSpPr>
        <p:spPr>
          <a:xfrm>
            <a:off x="1861903" y="4904924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60FE227-BDDE-4C02-848B-23016364CCD0}"/>
              </a:ext>
            </a:extLst>
          </p:cNvPr>
          <p:cNvSpPr txBox="1"/>
          <p:nvPr/>
        </p:nvSpPr>
        <p:spPr>
          <a:xfrm>
            <a:off x="1185334" y="518117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1DB375-753E-4482-A087-4EF906884E36}"/>
              </a:ext>
            </a:extLst>
          </p:cNvPr>
          <p:cNvSpPr txBox="1"/>
          <p:nvPr/>
        </p:nvSpPr>
        <p:spPr>
          <a:xfrm>
            <a:off x="1182688" y="5445657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16DB540-FE2A-499D-B0B7-9851DDFD9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5.14</a:t>
            </a:r>
            <a:r>
              <a:rPr lang="zh-CN" altLang="en-US"/>
              <a:t>（续）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253820B-4A55-4389-A3FB-02203E4B6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继承属性</a:t>
            </a:r>
            <a:r>
              <a:rPr lang="en-US" altLang="zh-CN" dirty="0"/>
              <a:t>——</a:t>
            </a:r>
            <a:r>
              <a:rPr lang="en-US" altLang="zh-CN" dirty="0" err="1"/>
              <a:t>R.i</a:t>
            </a:r>
            <a:r>
              <a:rPr lang="zh-CN" altLang="en-US" dirty="0"/>
              <a:t>，将</a:t>
            </a:r>
            <a:r>
              <a:rPr lang="en-US" altLang="zh-CN" dirty="0"/>
              <a:t>T</a:t>
            </a:r>
            <a:r>
              <a:rPr lang="zh-CN" altLang="en-US" dirty="0"/>
              <a:t>的值向下传递</a:t>
            </a:r>
            <a:br>
              <a:rPr lang="en-US" altLang="zh-CN" dirty="0"/>
            </a:br>
            <a:r>
              <a:rPr lang="zh-CN" altLang="en-US" dirty="0"/>
              <a:t>综合属性</a:t>
            </a:r>
            <a:r>
              <a:rPr lang="en-US" altLang="zh-CN" dirty="0"/>
              <a:t>——R.s</a:t>
            </a:r>
            <a:r>
              <a:rPr lang="zh-CN" altLang="en-US" dirty="0"/>
              <a:t>，将计算结果向上传递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     	{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           R     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R.</a:t>
            </a:r>
            <a:r>
              <a:rPr lang="en-US" altLang="zh-CN" sz="2000" i="1" dirty="0">
                <a:sym typeface="Symbol" panose="05050102010706020507" pitchFamily="18" charset="2"/>
              </a:rPr>
              <a:t>s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  	{R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i="1" dirty="0">
                <a:sym typeface="Symbol" panose="05050102010706020507" pitchFamily="18" charset="2"/>
              </a:rPr>
              <a:t> 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  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   	{R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i="1" dirty="0">
                <a:sym typeface="Symbol" panose="05050102010706020507" pitchFamily="18" charset="2"/>
              </a:rPr>
              <a:t> -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  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R  		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/>
          </a:p>
        </p:txBody>
      </p:sp>
      <p:sp>
        <p:nvSpPr>
          <p:cNvPr id="58372" name="Rectangle 5">
            <a:extLst>
              <a:ext uri="{FF2B5EF4-FFF2-40B4-BE49-F238E27FC236}">
                <a16:creationId xmlns:a16="http://schemas.microsoft.com/office/drawing/2014/main" id="{14D7B985-6878-44AB-B594-1E934AD13A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152525" y="4868863"/>
            <a:ext cx="4572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T 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+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>
                <a:sym typeface="Symbol" panose="05050102010706020507" pitchFamily="18" charset="2"/>
              </a:rPr>
              <a:t> T 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-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T 	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T</a:t>
            </a:r>
            <a:r>
              <a:rPr lang="en-US" altLang="zh-CN" sz="2000">
                <a:sym typeface="Symbol" panose="05050102010706020507" pitchFamily="18" charset="2"/>
              </a:rPr>
              <a:t>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>
                <a:sym typeface="Symbol" panose="05050102010706020507" pitchFamily="18" charset="2"/>
              </a:rPr>
              <a:t>{T.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ym typeface="Symbol" panose="05050102010706020507" pitchFamily="18" charset="2"/>
              </a:rPr>
              <a:t>T 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>
                <a:sym typeface="Symbol" panose="05050102010706020507" pitchFamily="18" charset="2"/>
              </a:rPr>
              <a:t>{T.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 =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463F793-07DB-4EC7-9375-8F8F643D0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5.14</a:t>
            </a:r>
            <a:r>
              <a:rPr lang="zh-CN" altLang="en-US"/>
              <a:t>（续）</a:t>
            </a:r>
          </a:p>
        </p:txBody>
      </p:sp>
      <p:pic>
        <p:nvPicPr>
          <p:cNvPr id="59395" name="Picture 9" descr="topdown">
            <a:extLst>
              <a:ext uri="{FF2B5EF4-FFF2-40B4-BE49-F238E27FC236}">
                <a16:creationId xmlns:a16="http://schemas.microsoft.com/office/drawing/2014/main" id="{F20D9A2A-3F0C-4BEF-B050-234A14DEE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007350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5712" name="Group 16">
            <a:extLst>
              <a:ext uri="{FF2B5EF4-FFF2-40B4-BE49-F238E27FC236}">
                <a16:creationId xmlns:a16="http://schemas.microsoft.com/office/drawing/2014/main" id="{9B8B51C0-3D99-4993-95C0-1EF346CD353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286000"/>
            <a:ext cx="6400800" cy="3657600"/>
            <a:chOff x="912" y="1440"/>
            <a:chExt cx="4032" cy="2304"/>
          </a:xfrm>
        </p:grpSpPr>
        <p:sp>
          <p:nvSpPr>
            <p:cNvPr id="59397" name="Text Box 10">
              <a:extLst>
                <a:ext uri="{FF2B5EF4-FFF2-40B4-BE49-F238E27FC236}">
                  <a16:creationId xmlns:a16="http://schemas.microsoft.com/office/drawing/2014/main" id="{6A6AF457-2DFA-4BA8-8F75-78342245C7E1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912" y="2304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R.i=T.val</a:t>
              </a:r>
            </a:p>
          </p:txBody>
        </p:sp>
        <p:sp>
          <p:nvSpPr>
            <p:cNvPr id="59398" name="Line 11">
              <a:extLst>
                <a:ext uri="{FF2B5EF4-FFF2-40B4-BE49-F238E27FC236}">
                  <a16:creationId xmlns:a16="http://schemas.microsoft.com/office/drawing/2014/main" id="{76AD3EBF-64C2-4D09-A459-21D2E64C47C2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1344" y="1440"/>
              <a:ext cx="240" cy="9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9" name="Line 12">
              <a:extLst>
                <a:ext uri="{FF2B5EF4-FFF2-40B4-BE49-F238E27FC236}">
                  <a16:creationId xmlns:a16="http://schemas.microsoft.com/office/drawing/2014/main" id="{F2448FFF-FA0A-48C6-BA67-48890EA2937A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736" y="1920"/>
              <a:ext cx="240" cy="100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0" name="Line 13">
              <a:extLst>
                <a:ext uri="{FF2B5EF4-FFF2-40B4-BE49-F238E27FC236}">
                  <a16:creationId xmlns:a16="http://schemas.microsoft.com/office/drawing/2014/main" id="{9D55A795-6383-40D5-A72E-A8EB3F4AD5A1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4080" y="2448"/>
              <a:ext cx="96" cy="10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1" name="Text Box 14">
              <a:extLst>
                <a:ext uri="{FF2B5EF4-FFF2-40B4-BE49-F238E27FC236}">
                  <a16:creationId xmlns:a16="http://schemas.microsoft.com/office/drawing/2014/main" id="{720B6DC8-EB08-44EC-827F-F32ABF9AB35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776" y="2928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</a:t>
              </a:r>
              <a:r>
                <a:rPr lang="en-US" altLang="zh-CN" sz="2400" baseline="-2500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.i=R.i-T.val</a:t>
              </a:r>
            </a:p>
          </p:txBody>
        </p:sp>
        <p:sp>
          <p:nvSpPr>
            <p:cNvPr id="59402" name="Text Box 15">
              <a:extLst>
                <a:ext uri="{FF2B5EF4-FFF2-40B4-BE49-F238E27FC236}">
                  <a16:creationId xmlns:a16="http://schemas.microsoft.com/office/drawing/2014/main" id="{5C2C7C20-5572-4C7B-B775-0447F00DBAEB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600" y="3456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</a:t>
              </a:r>
              <a:r>
                <a:rPr lang="en-US" altLang="zh-CN" sz="2400" baseline="-2500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.i=R.i+T.val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64B4DCB-A189-4165-B0B7-9EBCA8F9F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消除左递归一般性方法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3D0AF9E-C0CA-4B04-BF69-084E64374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A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 Y 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g</a:t>
            </a:r>
            <a:r>
              <a:rPr lang="en-US" altLang="zh-CN" sz="2800">
                <a:sym typeface="Symbol" panose="05050102010706020507" pitchFamily="18" charset="2"/>
              </a:rPr>
              <a:t>(A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, Y.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X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f</a:t>
            </a:r>
            <a:r>
              <a:rPr lang="en-US" altLang="zh-CN" sz="2800">
                <a:sym typeface="Symbol" panose="05050102010706020507" pitchFamily="18" charset="2"/>
              </a:rPr>
              <a:t>(X.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  <a:endParaRPr lang="en-US" altLang="zh-CN"/>
          </a:p>
          <a:p>
            <a:pPr eaLnBrk="1" hangingPunct="1"/>
            <a:r>
              <a:rPr lang="zh-CN" altLang="en-US"/>
              <a:t>消除左递归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X {R.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f</a:t>
            </a:r>
            <a:r>
              <a:rPr lang="en-US" altLang="zh-CN" sz="2800">
                <a:sym typeface="Symbol" panose="05050102010706020507" pitchFamily="18" charset="2"/>
              </a:rPr>
              <a:t>(X.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)}          R 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R</a:t>
            </a:r>
            <a:r>
              <a:rPr lang="en-US" altLang="zh-CN" sz="2800">
                <a:sym typeface="Symbol" panose="05050102010706020507" pitchFamily="18" charset="2"/>
              </a:rPr>
              <a:t> Y {R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g</a:t>
            </a:r>
            <a:r>
              <a:rPr lang="en-US" altLang="zh-CN" sz="2800">
                <a:sym typeface="Symbol" panose="05050102010706020507" pitchFamily="18" charset="2"/>
              </a:rPr>
              <a:t>(R.</a:t>
            </a:r>
            <a:r>
              <a:rPr lang="en-US" altLang="zh-CN" sz="2800" i="1">
                <a:sym typeface="Symbol" panose="05050102010706020507" pitchFamily="18" charset="2"/>
              </a:rPr>
              <a:t>i, </a:t>
            </a:r>
            <a:r>
              <a:rPr lang="en-US" altLang="zh-CN" sz="2800">
                <a:sym typeface="Symbol" panose="05050102010706020507" pitchFamily="18" charset="2"/>
              </a:rPr>
              <a:t>Y</a:t>
            </a:r>
            <a:r>
              <a:rPr lang="en-US" altLang="zh-CN" sz="2800" i="1">
                <a:sym typeface="Symbol" panose="05050102010706020507" pitchFamily="18" charset="2"/>
              </a:rPr>
              <a:t>.y</a:t>
            </a:r>
            <a:r>
              <a:rPr lang="en-US" altLang="zh-CN" sz="2800">
                <a:sym typeface="Symbol" panose="05050102010706020507" pitchFamily="18" charset="2"/>
              </a:rPr>
              <a:t>)} 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 {R.</a:t>
            </a:r>
            <a:r>
              <a:rPr lang="en-US" altLang="zh-CN" sz="2800" i="1">
                <a:sym typeface="Symbol" panose="05050102010706020507" pitchFamily="18" charset="2"/>
              </a:rPr>
              <a:t>s </a:t>
            </a:r>
            <a:r>
              <a:rPr lang="en-US" altLang="zh-CN" sz="2800">
                <a:sym typeface="Symbol" panose="05050102010706020507" pitchFamily="18" charset="2"/>
              </a:rPr>
              <a:t>= 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R   {R.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 = 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}</a:t>
            </a:r>
            <a:endParaRPr lang="en-US" altLang="zh-CN">
              <a:sym typeface="Wingdings" panose="05000000000000000000" pitchFamily="2" charset="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9BDD623-EBA1-4E8A-982B-21B0993DF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左递归</a:t>
            </a:r>
            <a:r>
              <a:rPr lang="en-US" altLang="zh-CN"/>
              <a:t>/</a:t>
            </a:r>
            <a:r>
              <a:rPr lang="zh-CN" altLang="en-US"/>
              <a:t>非左递归比较</a:t>
            </a:r>
          </a:p>
        </p:txBody>
      </p:sp>
      <p:pic>
        <p:nvPicPr>
          <p:cNvPr id="61443" name="Picture 4" descr="lrecur">
            <a:extLst>
              <a:ext uri="{FF2B5EF4-FFF2-40B4-BE49-F238E27FC236}">
                <a16:creationId xmlns:a16="http://schemas.microsoft.com/office/drawing/2014/main" id="{6C141FFA-8457-4448-9C71-11FDECCC9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00200"/>
            <a:ext cx="4092575" cy="310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6" descr="lrecur2">
            <a:extLst>
              <a:ext uri="{FF2B5EF4-FFF2-40B4-BE49-F238E27FC236}">
                <a16:creationId xmlns:a16="http://schemas.microsoft.com/office/drawing/2014/main" id="{519CDED6-2072-43B1-AD4F-574F47167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088" y="1600200"/>
            <a:ext cx="4887912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35BF139-BAD0-4098-919D-BAAAA3776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创建语法树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CF56E47-CABA-4C24-9B2F-DE21BB43E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 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mknode(“+”,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 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mknode(“-”,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	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lang="en-US" altLang="zh-CN"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B08A981-9BF3-4CDE-9772-5A1894060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消除左递归后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5685FDD-F0ED-4912-B231-114BD042F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{ R.</a:t>
            </a:r>
            <a:r>
              <a:rPr kumimoji="0" lang="en-US" altLang="zh-CN" sz="2400" i="1">
                <a:sym typeface="Symbol" panose="05050102010706020507" pitchFamily="18" charset="2"/>
              </a:rPr>
              <a:t>i = 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en-US" altLang="zh-CN" sz="2400" i="1">
                <a:sym typeface="Symbol" panose="05050102010706020507" pitchFamily="18" charset="2"/>
              </a:rPr>
              <a:t>.nptr</a:t>
            </a:r>
            <a:r>
              <a:rPr kumimoji="0" lang="en-US" altLang="zh-CN" sz="2400">
                <a:sym typeface="Symbol" panose="05050102010706020507" pitchFamily="18" charset="2"/>
              </a:rPr>
              <a:t> }                                     R  {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 {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 mknode(“+”, R.</a:t>
            </a:r>
            <a:r>
              <a:rPr kumimoji="0" lang="en-US" altLang="zh-CN" sz="2400" i="1">
                <a:sym typeface="Symbol" panose="05050102010706020507" pitchFamily="18" charset="2"/>
              </a:rPr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R.</a:t>
            </a:r>
            <a:r>
              <a:rPr kumimoji="0" lang="en-US" altLang="zh-CN" sz="2400" i="1">
                <a:sym typeface="Symbol" panose="05050102010706020507" pitchFamily="18" charset="2"/>
              </a:rPr>
              <a:t>s = 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  {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 mknode(“-”, R.</a:t>
            </a:r>
            <a:r>
              <a:rPr kumimoji="0" lang="en-US" altLang="zh-CN" sz="2400" i="1">
                <a:sym typeface="Symbol" panose="05050102010706020507" pitchFamily="18" charset="2"/>
              </a:rPr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 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R.</a:t>
            </a:r>
            <a:r>
              <a:rPr kumimoji="0" lang="en-US" altLang="zh-CN" sz="2400" i="1">
                <a:sym typeface="Symbol" panose="05050102010706020507" pitchFamily="18" charset="2"/>
              </a:rPr>
              <a:t>s = 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R  	  {R.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 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 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lang="en-US" altLang="zh-CN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4C8143E-D31D-4EBF-854C-60026B6C2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创建语法树（续）</a:t>
            </a:r>
          </a:p>
        </p:txBody>
      </p:sp>
      <p:pic>
        <p:nvPicPr>
          <p:cNvPr id="64515" name="Picture 5" descr="lrecur3">
            <a:extLst>
              <a:ext uri="{FF2B5EF4-FFF2-40B4-BE49-F238E27FC236}">
                <a16:creationId xmlns:a16="http://schemas.microsoft.com/office/drawing/2014/main" id="{90E8F1C3-C3A8-4D0F-B72A-B7B0968DB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95400"/>
            <a:ext cx="5211763" cy="454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E02A93F-5951-4973-B806-0818388E8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5.5.2  </a:t>
            </a:r>
            <a:r>
              <a:rPr lang="zh-CN" altLang="en-US"/>
              <a:t>构造预测翻译器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9E95F8E-10C4-4D37-B990-0E4446698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算法</a:t>
            </a:r>
            <a:r>
              <a:rPr lang="en-US" altLang="zh-CN" sz="2400" dirty="0"/>
              <a:t>5.2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输入：语法制导翻译模式，文法适用于预测分析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输出：语法制导翻译器的代码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方法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</a:t>
            </a:r>
            <a:r>
              <a:rPr lang="en-US" altLang="zh-CN" sz="2400" dirty="0"/>
              <a:t>NT A</a:t>
            </a:r>
            <a:r>
              <a:rPr lang="zh-CN" altLang="en-US" sz="2400" dirty="0"/>
              <a:t>构造一个函数，计算综合属性返回</a:t>
            </a:r>
            <a:br>
              <a:rPr lang="zh-CN" altLang="en-US" sz="2400" dirty="0"/>
            </a:br>
            <a:r>
              <a:rPr lang="zh-CN" altLang="en-US" sz="2400" dirty="0"/>
              <a:t>每个继承属性做为一个形式参数</a:t>
            </a:r>
            <a:br>
              <a:rPr lang="zh-CN" altLang="en-US" sz="2400" dirty="0"/>
            </a:br>
            <a:r>
              <a:rPr lang="zh-CN" altLang="en-US" sz="2400" dirty="0"/>
              <a:t>假定每个</a:t>
            </a:r>
            <a:r>
              <a:rPr lang="en-US" altLang="zh-CN" sz="2400" dirty="0"/>
              <a:t>NT</a:t>
            </a:r>
            <a:r>
              <a:rPr lang="zh-CN" altLang="en-US" sz="2400" dirty="0"/>
              <a:t>只有一个综合属性</a:t>
            </a:r>
            <a:br>
              <a:rPr lang="zh-CN" altLang="en-US" sz="2400" dirty="0"/>
            </a:br>
            <a:r>
              <a:rPr lang="zh-CN" altLang="en-US" sz="2400" dirty="0"/>
              <a:t>产生式中语法符号的属性</a:t>
            </a:r>
            <a:r>
              <a:rPr lang="en-US" altLang="zh-CN" sz="2400" dirty="0"/>
              <a:t>——</a:t>
            </a:r>
            <a:r>
              <a:rPr lang="zh-CN" altLang="en-US" sz="2400" dirty="0"/>
              <a:t>函数局部变量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参照</a:t>
            </a:r>
            <a:r>
              <a:rPr lang="en-US" altLang="zh-CN" sz="2400" dirty="0"/>
              <a:t>2.4</a:t>
            </a:r>
            <a:r>
              <a:rPr lang="zh-CN" altLang="en-US" sz="2400" dirty="0"/>
              <a:t>节，</a:t>
            </a:r>
            <a:r>
              <a:rPr lang="en-US" altLang="zh-CN" sz="2400" dirty="0"/>
              <a:t>A</a:t>
            </a:r>
            <a:r>
              <a:rPr lang="zh-CN" altLang="en-US" sz="2400" dirty="0"/>
              <a:t>的代码根据当前输入符号确定使用哪个产生式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DF6E63F-92EB-4AB1-AF7E-7B5C4BA20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5.2 </a:t>
            </a:r>
            <a:r>
              <a:rPr lang="zh-CN" altLang="en-US"/>
              <a:t>构造预测翻译器（续）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E6B5EE0-3BD6-45B7-822B-B03297C2A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76800"/>
          </a:xfrm>
        </p:spPr>
        <p:txBody>
          <a:bodyPr/>
          <a:lstStyle/>
          <a:p>
            <a:pPr marL="660400" indent="-6604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/>
              <a:t>每个产生式对应代码构造如下：由左至右依次考虑产生式右部的</a:t>
            </a:r>
            <a:r>
              <a:rPr lang="en-US" altLang="zh-CN"/>
              <a:t>T</a:t>
            </a:r>
            <a:r>
              <a:rPr lang="zh-CN" altLang="en-US"/>
              <a:t>、</a:t>
            </a:r>
            <a:r>
              <a:rPr lang="en-US" altLang="zh-CN"/>
              <a:t>NT</a:t>
            </a:r>
            <a:r>
              <a:rPr lang="zh-CN" altLang="en-US"/>
              <a:t>和语义动作</a:t>
            </a:r>
          </a:p>
          <a:p>
            <a:pPr marL="1035050" lvl="1" indent="-577850" eaLnBrk="1" hangingPunct="1">
              <a:buFont typeface="Wingdings" panose="05000000000000000000" pitchFamily="2" charset="2"/>
              <a:buAutoNum type="romanLcPeriod"/>
            </a:pPr>
            <a:r>
              <a:rPr lang="zh-CN" altLang="en-US"/>
              <a:t>终结符</a:t>
            </a:r>
            <a:r>
              <a:rPr lang="en-US" altLang="zh-CN"/>
              <a:t>X</a:t>
            </a:r>
            <a:r>
              <a:rPr lang="zh-CN" altLang="en-US"/>
              <a:t>的综合属性</a:t>
            </a:r>
            <a:r>
              <a:rPr lang="en-US" altLang="zh-CN"/>
              <a:t>x</a:t>
            </a:r>
          </a:p>
          <a:p>
            <a:pPr marL="1409700" lvl="2" indent="-495300" eaLnBrk="1" hangingPunct="1"/>
            <a:r>
              <a:rPr lang="zh-CN" altLang="en-US"/>
              <a:t>保存到对应的局部变量</a:t>
            </a:r>
          </a:p>
          <a:p>
            <a:pPr marL="1409700" lvl="2" indent="-495300" eaLnBrk="1" hangingPunct="1"/>
            <a:r>
              <a:rPr lang="zh-CN" altLang="en-US"/>
              <a:t>调用</a:t>
            </a:r>
            <a:r>
              <a:rPr lang="en-US" altLang="zh-CN"/>
              <a:t>match</a:t>
            </a:r>
            <a:r>
              <a:rPr lang="zh-CN" altLang="en-US"/>
              <a:t>匹配</a:t>
            </a:r>
            <a:r>
              <a:rPr lang="en-US" altLang="zh-CN"/>
              <a:t>X</a:t>
            </a:r>
          </a:p>
          <a:p>
            <a:pPr marL="1409700" lvl="2" indent="-495300" eaLnBrk="1" hangingPunct="1"/>
            <a:r>
              <a:rPr lang="zh-CN" altLang="en-US"/>
              <a:t>输入指针前移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96770B2-C957-419C-8D15-8AD6A3C24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5.2 </a:t>
            </a:r>
            <a:r>
              <a:rPr lang="zh-CN" altLang="en-US"/>
              <a:t>构造预测翻译器（续）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3078118-734B-4B10-8868-410A1EC66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00600"/>
          </a:xfrm>
        </p:spPr>
        <p:txBody>
          <a:bodyPr/>
          <a:lstStyle/>
          <a:p>
            <a:pPr marL="1035050" lvl="1" indent="-577850" eaLnBrk="1" hangingPunct="1">
              <a:buFont typeface="Wingdings" panose="05000000000000000000" pitchFamily="2" charset="2"/>
              <a:buAutoNum type="romanLcPeriod" startAt="2"/>
            </a:pPr>
            <a:r>
              <a:rPr lang="en-US" altLang="zh-CN"/>
              <a:t>NT B</a:t>
            </a:r>
          </a:p>
          <a:p>
            <a:pPr marL="1409700" lvl="2" indent="-495300" eaLnBrk="1" hangingPunct="1"/>
            <a:r>
              <a:rPr lang="zh-CN" altLang="en-US"/>
              <a:t>在其后生成一条赋值语句</a:t>
            </a:r>
            <a:r>
              <a:rPr lang="en-US" altLang="zh-CN"/>
              <a:t>c=B(b</a:t>
            </a:r>
            <a:r>
              <a:rPr lang="en-US" altLang="zh-CN" baseline="-25000"/>
              <a:t>1</a:t>
            </a:r>
            <a:r>
              <a:rPr lang="en-US" altLang="zh-CN"/>
              <a:t>, b</a:t>
            </a:r>
            <a:r>
              <a:rPr lang="en-US" altLang="zh-CN" baseline="-25000"/>
              <a:t>2</a:t>
            </a:r>
            <a:r>
              <a:rPr lang="en-US" altLang="zh-CN"/>
              <a:t>, …, b</a:t>
            </a:r>
            <a:r>
              <a:rPr lang="en-US" altLang="zh-CN" baseline="-25000"/>
              <a:t>k</a:t>
            </a:r>
            <a:r>
              <a:rPr lang="en-US" altLang="zh-CN"/>
              <a:t>)</a:t>
            </a:r>
          </a:p>
          <a:p>
            <a:pPr marL="1409700" lvl="2" indent="-495300" eaLnBrk="1" hangingPunct="1"/>
            <a:r>
              <a:rPr lang="en-US" altLang="zh-CN"/>
              <a:t>b</a:t>
            </a:r>
            <a:r>
              <a:rPr lang="en-US" altLang="zh-CN" baseline="-25000"/>
              <a:t>1</a:t>
            </a:r>
            <a:r>
              <a:rPr lang="en-US" altLang="zh-CN"/>
              <a:t>, b</a:t>
            </a:r>
            <a:r>
              <a:rPr lang="en-US" altLang="zh-CN" baseline="-25000"/>
              <a:t>2</a:t>
            </a:r>
            <a:r>
              <a:rPr lang="en-US" altLang="zh-CN"/>
              <a:t>, …, b</a:t>
            </a:r>
            <a:r>
              <a:rPr lang="en-US" altLang="zh-CN" baseline="-25000"/>
              <a:t>k</a:t>
            </a:r>
            <a:r>
              <a:rPr lang="en-US" altLang="zh-CN"/>
              <a:t>——B</a:t>
            </a:r>
            <a:r>
              <a:rPr lang="zh-CN" altLang="en-US"/>
              <a:t>的继承属性对应变量</a:t>
            </a:r>
          </a:p>
          <a:p>
            <a:pPr marL="1409700" lvl="2" indent="-495300" eaLnBrk="1" hangingPunct="1"/>
            <a:r>
              <a:rPr lang="en-US" altLang="zh-CN"/>
              <a:t>c——B</a:t>
            </a:r>
            <a:r>
              <a:rPr lang="zh-CN" altLang="en-US"/>
              <a:t>的综合属性对应变量</a:t>
            </a:r>
          </a:p>
          <a:p>
            <a:pPr marL="1035050" lvl="1" indent="-577850" eaLnBrk="1" hangingPunct="1">
              <a:buFont typeface="Wingdings" panose="05000000000000000000" pitchFamily="2" charset="2"/>
              <a:buAutoNum type="romanLcPeriod" startAt="2"/>
            </a:pPr>
            <a:r>
              <a:rPr lang="zh-CN" altLang="en-US"/>
              <a:t>语义动作</a:t>
            </a:r>
          </a:p>
          <a:p>
            <a:pPr marL="1409700" lvl="2" indent="-495300" eaLnBrk="1" hangingPunct="1"/>
            <a:r>
              <a:rPr lang="zh-CN" altLang="en-US"/>
              <a:t>代码片断复制到翻译器相应位置</a:t>
            </a:r>
          </a:p>
          <a:p>
            <a:pPr marL="1409700" lvl="2" indent="-495300" eaLnBrk="1" hangingPunct="1">
              <a:spcBef>
                <a:spcPct val="0"/>
              </a:spcBef>
            </a:pPr>
            <a:r>
              <a:rPr lang="zh-CN" altLang="en-US"/>
              <a:t>对属性的引用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zh-CN" altLang="en-US"/>
              <a:t>对相应变量的引用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3FF3123-D060-45CF-8885-58A8EC7AF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3164414-0711-4D6D-8C35-F8E9D6C78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E</a:t>
            </a:r>
            <a:r>
              <a:rPr kumimoji="0" lang="en-US" altLang="zh-CN" sz="2400" dirty="0">
                <a:sym typeface="Symbol" panose="05050102010706020507" pitchFamily="18" charset="2"/>
              </a:rPr>
              <a:t> T 		{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i="1" dirty="0">
                <a:sym typeface="Symbol" panose="05050102010706020507" pitchFamily="18" charset="2"/>
              </a:rPr>
              <a:t> 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.nptr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	   R 		{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E.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dirty="0">
                <a:sym typeface="Symbol" panose="05050102010706020507" pitchFamily="18" charset="2"/>
              </a:rPr>
              <a:t> =R.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  <a:endParaRPr kumimoji="0"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	   </a:t>
            </a:r>
            <a:r>
              <a:rPr kumimoji="0" lang="en-US" altLang="zh-CN" sz="2400" dirty="0">
                <a:sym typeface="Symbol" panose="05050102010706020507" pitchFamily="18" charset="2"/>
              </a:rPr>
              <a:t> T  	{ 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>
                <a:sym typeface="Symbol" panose="05050102010706020507" pitchFamily="18" charset="2"/>
              </a:rPr>
              <a:t>i</a:t>
            </a:r>
            <a:r>
              <a:rPr kumimoji="0" lang="en-US" altLang="zh-CN" sz="2400" dirty="0">
                <a:sym typeface="Symbol" panose="05050102010706020507" pitchFamily="18" charset="2"/>
              </a:rPr>
              <a:t> = 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mknode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addop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lex</a:t>
            </a:r>
            <a:r>
              <a:rPr kumimoji="0" lang="en-US" altLang="zh-CN" sz="2400" dirty="0">
                <a:sym typeface="Symbol" panose="05050102010706020507" pitchFamily="18" charset="2"/>
              </a:rPr>
              <a:t> ,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	    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 	{ 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 = 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R  		{R.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 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dirty="0">
                <a:sym typeface="Symbol" panose="05050102010706020507" pitchFamily="18" charset="2"/>
              </a:rPr>
              <a:t>E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E.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mkleaf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entry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mkleaf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num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num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entry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D4420669-72F7-473F-9505-A5A7BB053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</a:p>
        </p:txBody>
      </p:sp>
      <p:sp>
        <p:nvSpPr>
          <p:cNvPr id="69635" name="Text Box 9">
            <a:extLst>
              <a:ext uri="{FF2B5EF4-FFF2-40B4-BE49-F238E27FC236}">
                <a16:creationId xmlns:a16="http://schemas.microsoft.com/office/drawing/2014/main" id="{7A989FC7-5B57-4886-86DF-22BC16276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524000"/>
            <a:ext cx="3581400" cy="171739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node main()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return E();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8AB7A02-6F35-4CDA-9BAC-B2EE59EA5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</a:p>
        </p:txBody>
      </p:sp>
      <p:sp>
        <p:nvSpPr>
          <p:cNvPr id="70659" name="Text Box 4">
            <a:extLst>
              <a:ext uri="{FF2B5EF4-FFF2-40B4-BE49-F238E27FC236}">
                <a16:creationId xmlns:a16="http://schemas.microsoft.com/office/drawing/2014/main" id="{51CE004A-22E0-4496-B22C-439677ECC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14575"/>
            <a:ext cx="3733800" cy="212365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node TD_E()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nptr = T();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return R(nptr);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0660" name="Rectangle 5">
            <a:extLst>
              <a:ext uri="{FF2B5EF4-FFF2-40B4-BE49-F238E27FC236}">
                <a16:creationId xmlns:a16="http://schemas.microsoft.com/office/drawing/2014/main" id="{EF6A8245-EFE7-4F53-AA3A-3B06C46070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962400" y="1371600"/>
            <a:ext cx="4572000" cy="85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{ R.</a:t>
            </a:r>
            <a:r>
              <a:rPr kumimoji="0" lang="en-US" altLang="zh-CN" sz="2400" i="1">
                <a:sym typeface="Symbol" panose="05050102010706020507" pitchFamily="18" charset="2"/>
              </a:rPr>
              <a:t>i = 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en-US" altLang="zh-CN" sz="2400" i="1">
                <a:sym typeface="Symbol" panose="05050102010706020507" pitchFamily="18" charset="2"/>
              </a:rPr>
              <a:t>.nptr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</a:p>
          <a:p>
            <a:pPr algn="ctr"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R {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70661" name="Freeform 6">
            <a:extLst>
              <a:ext uri="{FF2B5EF4-FFF2-40B4-BE49-F238E27FC236}">
                <a16:creationId xmlns:a16="http://schemas.microsoft.com/office/drawing/2014/main" id="{787765B5-8AC0-4C61-AAD1-F687C222F2BD}"/>
              </a:ext>
            </a:extLst>
          </p:cNvPr>
          <p:cNvSpPr>
            <a:spLocks/>
          </p:cNvSpPr>
          <p:nvPr/>
        </p:nvSpPr>
        <p:spPr bwMode="ltGray">
          <a:xfrm>
            <a:off x="5041900" y="1657350"/>
            <a:ext cx="1054100" cy="1603375"/>
          </a:xfrm>
          <a:custGeom>
            <a:avLst/>
            <a:gdLst>
              <a:gd name="T0" fmla="*/ 1673383750 w 664"/>
              <a:gd name="T1" fmla="*/ 4593412 h 1058"/>
              <a:gd name="T2" fmla="*/ 161290000 w 664"/>
              <a:gd name="T3" fmla="*/ 404214172 h 1058"/>
              <a:gd name="T4" fmla="*/ 705643750 w 664"/>
              <a:gd name="T5" fmla="*/ 2147483646 h 10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4" h="1058">
                <a:moveTo>
                  <a:pt x="664" y="2"/>
                </a:moveTo>
                <a:cubicBezTo>
                  <a:pt x="564" y="31"/>
                  <a:pt x="128" y="0"/>
                  <a:pt x="64" y="176"/>
                </a:cubicBezTo>
                <a:cubicBezTo>
                  <a:pt x="0" y="352"/>
                  <a:pt x="235" y="874"/>
                  <a:pt x="280" y="105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Freeform 7">
            <a:extLst>
              <a:ext uri="{FF2B5EF4-FFF2-40B4-BE49-F238E27FC236}">
                <a16:creationId xmlns:a16="http://schemas.microsoft.com/office/drawing/2014/main" id="{430031CA-159C-4703-9F95-72617004F961}"/>
              </a:ext>
            </a:extLst>
          </p:cNvPr>
          <p:cNvSpPr>
            <a:spLocks/>
          </p:cNvSpPr>
          <p:nvPr/>
        </p:nvSpPr>
        <p:spPr bwMode="ltGray">
          <a:xfrm>
            <a:off x="6500813" y="2120900"/>
            <a:ext cx="909637" cy="1573213"/>
          </a:xfrm>
          <a:custGeom>
            <a:avLst/>
            <a:gdLst>
              <a:gd name="T0" fmla="*/ 909775112 w 573"/>
              <a:gd name="T1" fmla="*/ 0 h 991"/>
              <a:gd name="T2" fmla="*/ 1292838652 w 573"/>
              <a:gd name="T3" fmla="*/ 1862396854 h 991"/>
              <a:gd name="T4" fmla="*/ 0 w 573"/>
              <a:gd name="T5" fmla="*/ 2147483646 h 9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3" h="991">
                <a:moveTo>
                  <a:pt x="361" y="0"/>
                </a:moveTo>
                <a:cubicBezTo>
                  <a:pt x="386" y="123"/>
                  <a:pt x="573" y="574"/>
                  <a:pt x="513" y="739"/>
                </a:cubicBezTo>
                <a:cubicBezTo>
                  <a:pt x="453" y="904"/>
                  <a:pt x="107" y="939"/>
                  <a:pt x="0" y="99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Text Box 8">
            <a:extLst>
              <a:ext uri="{FF2B5EF4-FFF2-40B4-BE49-F238E27FC236}">
                <a16:creationId xmlns:a16="http://schemas.microsoft.com/office/drawing/2014/main" id="{14D4F26F-E27D-485B-A561-6B120DF1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0"/>
            <a:ext cx="3581400" cy="215443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node TD_E()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tnptr = T();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ri = tnptr;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rs = R(ri);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enptr = rs;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return enptr;</a:t>
            </a: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1051746-D7EF-4DC5-8A65-099672FF3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</a:p>
        </p:txBody>
      </p:sp>
      <p:sp>
        <p:nvSpPr>
          <p:cNvPr id="71683" name="Text Box 5">
            <a:extLst>
              <a:ext uri="{FF2B5EF4-FFF2-40B4-BE49-F238E27FC236}">
                <a16:creationId xmlns:a16="http://schemas.microsoft.com/office/drawing/2014/main" id="{BDD10F5D-B31D-4AB0-9895-AE0B03058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7391400" cy="511678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node T()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if lookahead = ‘(’ then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{ match(‘(’);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=E(); match(‘)’); 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if lookahead = ‘id’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then { match(‘id’);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    label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mkleaf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(label);}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if lookahead = ‘num’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then { match(‘num’);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    label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mkleaf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(label);}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error;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return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CDBA8C-8DF2-40A5-B7F5-DB2BF7214A71}"/>
              </a:ext>
            </a:extLst>
          </p:cNvPr>
          <p:cNvSpPr txBox="1"/>
          <p:nvPr/>
        </p:nvSpPr>
        <p:spPr>
          <a:xfrm>
            <a:off x="4427984" y="1268760"/>
            <a:ext cx="4176464" cy="922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E.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mkleaf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entry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)}</a:t>
            </a:r>
          </a:p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mkleaf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entry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)}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10EFA58-209A-4A2F-BB46-4F2E7DC8F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495C3C56-1506-4ED5-BF53-A7ABBA371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49525"/>
            <a:ext cx="7239000" cy="336245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node R(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i:node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{if lookahead=‘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’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then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{ match(‘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’);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addoplex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T();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mknode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addoplex,i,nptr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s = R(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); 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else { s=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 }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return 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2708" name="Rectangle 5">
            <a:extLst>
              <a:ext uri="{FF2B5EF4-FFF2-40B4-BE49-F238E27FC236}">
                <a16:creationId xmlns:a16="http://schemas.microsoft.com/office/drawing/2014/main" id="{E61565D2-0BF2-439A-A7E6-64576C025C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19200" y="1241425"/>
            <a:ext cx="6400800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R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      </a:t>
            </a:r>
            <a:r>
              <a:rPr kumimoji="0" lang="en-US" altLang="zh-CN" sz="2000">
                <a:sym typeface="Symbol" panose="05050102010706020507" pitchFamily="18" charset="2"/>
              </a:rPr>
              <a:t> T  { 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i</a:t>
            </a:r>
            <a:r>
              <a:rPr kumimoji="0" lang="en-US" altLang="zh-CN" sz="2000">
                <a:sym typeface="Symbol" panose="05050102010706020507" pitchFamily="18" charset="2"/>
              </a:rPr>
              <a:t> =  mknode(</a:t>
            </a:r>
            <a:r>
              <a:rPr kumimoji="0" lang="en-US" altLang="zh-CN" sz="2000" b="1">
                <a:sym typeface="Symbol" panose="05050102010706020507" pitchFamily="18" charset="2"/>
              </a:rPr>
              <a:t>addop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lex</a:t>
            </a:r>
            <a:r>
              <a:rPr kumimoji="0" lang="en-US" altLang="zh-CN" sz="2000">
                <a:sym typeface="Symbol" panose="05050102010706020507" pitchFamily="18" charset="2"/>
              </a:rPr>
              <a:t> , R.</a:t>
            </a:r>
            <a:r>
              <a:rPr kumimoji="0" lang="en-US" altLang="zh-CN" sz="2000" i="1">
                <a:sym typeface="Symbol" panose="05050102010706020507" pitchFamily="18" charset="2"/>
              </a:rPr>
              <a:t>i </a:t>
            </a:r>
            <a:r>
              <a:rPr kumimoji="0" lang="en-US" altLang="zh-CN" sz="2000">
                <a:sym typeface="Symbol" panose="05050102010706020507" pitchFamily="18" charset="2"/>
              </a:rPr>
              <a:t>, T.</a:t>
            </a:r>
            <a:r>
              <a:rPr kumimoji="0" lang="en-US" altLang="zh-CN" sz="2000" i="1">
                <a:sym typeface="Symbol" panose="05050102010706020507" pitchFamily="18" charset="2"/>
              </a:rPr>
              <a:t>nptr </a:t>
            </a:r>
            <a:r>
              <a:rPr kumimoji="0" lang="en-US" altLang="zh-CN" sz="20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        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 { R.</a:t>
            </a:r>
            <a:r>
              <a:rPr kumimoji="0" lang="en-US" altLang="zh-CN" sz="2000" i="1">
                <a:sym typeface="Symbol" panose="05050102010706020507" pitchFamily="18" charset="2"/>
              </a:rPr>
              <a:t>s = </a:t>
            </a:r>
            <a:r>
              <a:rPr kumimoji="0" lang="en-US" altLang="zh-CN" sz="2000">
                <a:sym typeface="Symbol" panose="05050102010706020507" pitchFamily="18" charset="2"/>
              </a:rPr>
              <a:t>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ym typeface="Symbol" panose="05050102010706020507" pitchFamily="18" charset="2"/>
              </a:rPr>
              <a:t> }</a:t>
            </a:r>
          </a:p>
        </p:txBody>
      </p:sp>
      <p:sp>
        <p:nvSpPr>
          <p:cNvPr id="72709" name="Freeform 6">
            <a:extLst>
              <a:ext uri="{FF2B5EF4-FFF2-40B4-BE49-F238E27FC236}">
                <a16:creationId xmlns:a16="http://schemas.microsoft.com/office/drawing/2014/main" id="{6C52E482-8359-4BE7-A56D-BAD4B3A340D4}"/>
              </a:ext>
            </a:extLst>
          </p:cNvPr>
          <p:cNvSpPr>
            <a:spLocks/>
          </p:cNvSpPr>
          <p:nvPr/>
        </p:nvSpPr>
        <p:spPr bwMode="ltGray">
          <a:xfrm>
            <a:off x="2447925" y="1912938"/>
            <a:ext cx="2827338" cy="661987"/>
          </a:xfrm>
          <a:custGeom>
            <a:avLst/>
            <a:gdLst>
              <a:gd name="T0" fmla="*/ 2147483646 w 1781"/>
              <a:gd name="T1" fmla="*/ 0 h 417"/>
              <a:gd name="T2" fmla="*/ 2147483646 w 1781"/>
              <a:gd name="T3" fmla="*/ 670361056 h 417"/>
              <a:gd name="T4" fmla="*/ 0 w 1781"/>
              <a:gd name="T5" fmla="*/ 1050903569 h 4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81" h="417">
                <a:moveTo>
                  <a:pt x="1781" y="0"/>
                </a:moveTo>
                <a:cubicBezTo>
                  <a:pt x="1685" y="44"/>
                  <a:pt x="1502" y="197"/>
                  <a:pt x="1205" y="266"/>
                </a:cubicBezTo>
                <a:cubicBezTo>
                  <a:pt x="908" y="335"/>
                  <a:pt x="251" y="386"/>
                  <a:pt x="0" y="417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Freeform 7">
            <a:extLst>
              <a:ext uri="{FF2B5EF4-FFF2-40B4-BE49-F238E27FC236}">
                <a16:creationId xmlns:a16="http://schemas.microsoft.com/office/drawing/2014/main" id="{C50995BC-4C1B-458A-AF0F-5B324D1D0EA7}"/>
              </a:ext>
            </a:extLst>
          </p:cNvPr>
          <p:cNvSpPr>
            <a:spLocks/>
          </p:cNvSpPr>
          <p:nvPr/>
        </p:nvSpPr>
        <p:spPr bwMode="ltGray">
          <a:xfrm>
            <a:off x="3825875" y="1898650"/>
            <a:ext cx="2166938" cy="2293938"/>
          </a:xfrm>
          <a:custGeom>
            <a:avLst/>
            <a:gdLst>
              <a:gd name="T0" fmla="*/ 2147483646 w 1365"/>
              <a:gd name="T1" fmla="*/ 0 h 1445"/>
              <a:gd name="T2" fmla="*/ 2147483646 w 1365"/>
              <a:gd name="T3" fmla="*/ 2147483646 h 1445"/>
              <a:gd name="T4" fmla="*/ 0 w 1365"/>
              <a:gd name="T5" fmla="*/ 2147483646 h 14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5" h="1445">
                <a:moveTo>
                  <a:pt x="1365" y="0"/>
                </a:moveTo>
                <a:cubicBezTo>
                  <a:pt x="1303" y="195"/>
                  <a:pt x="1221" y="929"/>
                  <a:pt x="993" y="1170"/>
                </a:cubicBezTo>
                <a:cubicBezTo>
                  <a:pt x="765" y="1411"/>
                  <a:pt x="207" y="1388"/>
                  <a:pt x="0" y="1445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2" name="Freeform 9">
            <a:extLst>
              <a:ext uri="{FF2B5EF4-FFF2-40B4-BE49-F238E27FC236}">
                <a16:creationId xmlns:a16="http://schemas.microsoft.com/office/drawing/2014/main" id="{25A0A91D-D3AC-4483-B4F7-43C674AB129B}"/>
              </a:ext>
            </a:extLst>
          </p:cNvPr>
          <p:cNvSpPr>
            <a:spLocks/>
          </p:cNvSpPr>
          <p:nvPr/>
        </p:nvSpPr>
        <p:spPr bwMode="ltGray">
          <a:xfrm>
            <a:off x="704850" y="1800225"/>
            <a:ext cx="1587500" cy="2701925"/>
          </a:xfrm>
          <a:custGeom>
            <a:avLst/>
            <a:gdLst>
              <a:gd name="T0" fmla="*/ 2147483646 w 1000"/>
              <a:gd name="T1" fmla="*/ 0 h 1702"/>
              <a:gd name="T2" fmla="*/ 574595625 w 1000"/>
              <a:gd name="T3" fmla="*/ 650200313 h 1702"/>
              <a:gd name="T4" fmla="*/ 287297813 w 1000"/>
              <a:gd name="T5" fmla="*/ 2147483646 h 1702"/>
              <a:gd name="T6" fmla="*/ 2147483646 w 1000"/>
              <a:gd name="T7" fmla="*/ 2147483646 h 17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702">
                <a:moveTo>
                  <a:pt x="1000" y="0"/>
                </a:moveTo>
                <a:cubicBezTo>
                  <a:pt x="870" y="43"/>
                  <a:pt x="376" y="19"/>
                  <a:pt x="228" y="258"/>
                </a:cubicBezTo>
                <a:cubicBezTo>
                  <a:pt x="80" y="497"/>
                  <a:pt x="0" y="1195"/>
                  <a:pt x="114" y="1436"/>
                </a:cubicBezTo>
                <a:cubicBezTo>
                  <a:pt x="228" y="1677"/>
                  <a:pt x="746" y="1647"/>
                  <a:pt x="912" y="17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3" name="Freeform 10">
            <a:extLst>
              <a:ext uri="{FF2B5EF4-FFF2-40B4-BE49-F238E27FC236}">
                <a16:creationId xmlns:a16="http://schemas.microsoft.com/office/drawing/2014/main" id="{AFAF2F5B-4684-4425-9D9C-7CC6BCA8FB82}"/>
              </a:ext>
            </a:extLst>
          </p:cNvPr>
          <p:cNvSpPr>
            <a:spLocks/>
          </p:cNvSpPr>
          <p:nvPr/>
        </p:nvSpPr>
        <p:spPr bwMode="ltGray">
          <a:xfrm>
            <a:off x="668338" y="2174875"/>
            <a:ext cx="1666875" cy="2636838"/>
          </a:xfrm>
          <a:custGeom>
            <a:avLst/>
            <a:gdLst>
              <a:gd name="T0" fmla="*/ 2147483646 w 1050"/>
              <a:gd name="T1" fmla="*/ 30241881 h 1661"/>
              <a:gd name="T2" fmla="*/ 471270013 w 1050"/>
              <a:gd name="T3" fmla="*/ 579636047 h 1661"/>
              <a:gd name="T4" fmla="*/ 322580000 w 1050"/>
              <a:gd name="T5" fmla="*/ 2147483646 h 1661"/>
              <a:gd name="T6" fmla="*/ 2147483646 w 1050"/>
              <a:gd name="T7" fmla="*/ 2147483646 h 166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0" h="1661">
                <a:moveTo>
                  <a:pt x="1050" y="12"/>
                </a:moveTo>
                <a:cubicBezTo>
                  <a:pt x="905" y="48"/>
                  <a:pt x="341" y="0"/>
                  <a:pt x="187" y="230"/>
                </a:cubicBezTo>
                <a:cubicBezTo>
                  <a:pt x="33" y="460"/>
                  <a:pt x="0" y="1157"/>
                  <a:pt x="128" y="1395"/>
                </a:cubicBezTo>
                <a:cubicBezTo>
                  <a:pt x="256" y="1633"/>
                  <a:pt x="781" y="1606"/>
                  <a:pt x="953" y="166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4" name="Freeform 11">
            <a:extLst>
              <a:ext uri="{FF2B5EF4-FFF2-40B4-BE49-F238E27FC236}">
                <a16:creationId xmlns:a16="http://schemas.microsoft.com/office/drawing/2014/main" id="{4331ED88-4690-4336-843A-C038C20F34F8}"/>
              </a:ext>
            </a:extLst>
          </p:cNvPr>
          <p:cNvSpPr>
            <a:spLocks/>
          </p:cNvSpPr>
          <p:nvPr/>
        </p:nvSpPr>
        <p:spPr bwMode="ltGray">
          <a:xfrm>
            <a:off x="5275263" y="1912938"/>
            <a:ext cx="1587" cy="2447925"/>
          </a:xfrm>
          <a:custGeom>
            <a:avLst/>
            <a:gdLst>
              <a:gd name="T0" fmla="*/ 0 w 1"/>
              <a:gd name="T1" fmla="*/ 0 h 1542"/>
              <a:gd name="T2" fmla="*/ 0 w 1"/>
              <a:gd name="T3" fmla="*/ 2147483646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542">
                <a:moveTo>
                  <a:pt x="0" y="0"/>
                </a:moveTo>
                <a:lnTo>
                  <a:pt x="0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5" name="Freeform 13">
            <a:extLst>
              <a:ext uri="{FF2B5EF4-FFF2-40B4-BE49-F238E27FC236}">
                <a16:creationId xmlns:a16="http://schemas.microsoft.com/office/drawing/2014/main" id="{9E5BEDB9-C723-4DEE-9440-5734015F2300}"/>
              </a:ext>
            </a:extLst>
          </p:cNvPr>
          <p:cNvSpPr>
            <a:spLocks/>
          </p:cNvSpPr>
          <p:nvPr/>
        </p:nvSpPr>
        <p:spPr bwMode="ltGray">
          <a:xfrm>
            <a:off x="5992813" y="1884363"/>
            <a:ext cx="14287" cy="2447925"/>
          </a:xfrm>
          <a:custGeom>
            <a:avLst/>
            <a:gdLst>
              <a:gd name="T0" fmla="*/ 0 w 9"/>
              <a:gd name="T1" fmla="*/ 0 h 1542"/>
              <a:gd name="T2" fmla="*/ 22679819 w 9"/>
              <a:gd name="T3" fmla="*/ 2147483646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" h="1542">
                <a:moveTo>
                  <a:pt x="0" y="0"/>
                </a:moveTo>
                <a:lnTo>
                  <a:pt x="9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B2A25588-A5EC-419A-9D3A-3556313CEA7D}"/>
              </a:ext>
            </a:extLst>
          </p:cNvPr>
          <p:cNvSpPr>
            <a:spLocks/>
          </p:cNvSpPr>
          <p:nvPr/>
        </p:nvSpPr>
        <p:spPr bwMode="ltGray">
          <a:xfrm>
            <a:off x="2292350" y="4530725"/>
            <a:ext cx="839788" cy="122238"/>
          </a:xfrm>
          <a:custGeom>
            <a:avLst/>
            <a:gdLst>
              <a:gd name="T0" fmla="*/ 0 w 9"/>
              <a:gd name="T1" fmla="*/ 0 h 1542"/>
              <a:gd name="T2" fmla="*/ 1332642149 w 9"/>
              <a:gd name="T3" fmla="*/ 194832288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" h="1542">
                <a:moveTo>
                  <a:pt x="0" y="0"/>
                </a:moveTo>
                <a:lnTo>
                  <a:pt x="9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099E2B3-AF6E-410C-8AB1-AFA6C7351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  </a:t>
            </a:r>
            <a:r>
              <a:rPr lang="zh-CN" altLang="en-US"/>
              <a:t>自底向上计算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69A9B23-3794-40A5-A8B5-E6CD5AA78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自顶向下方法缺点：文法必须适用于预测分析法</a:t>
            </a:r>
          </a:p>
          <a:p>
            <a:pPr eaLnBrk="1" hangingPunct="1"/>
            <a:r>
              <a:rPr lang="zh-CN" altLang="en-US"/>
              <a:t>自底向上方法</a:t>
            </a:r>
          </a:p>
          <a:p>
            <a:pPr lvl="1" eaLnBrk="1" hangingPunct="1"/>
            <a:r>
              <a:rPr lang="zh-CN" altLang="en-US"/>
              <a:t>适用基于</a:t>
            </a:r>
            <a:r>
              <a:rPr lang="en-US" altLang="zh-CN"/>
              <a:t>LL(1)</a:t>
            </a:r>
            <a:r>
              <a:rPr lang="zh-CN" altLang="en-US"/>
              <a:t>文法的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</a:p>
          <a:p>
            <a:pPr lvl="1" eaLnBrk="1" hangingPunct="1"/>
            <a:r>
              <a:rPr lang="zh-CN" altLang="en-US"/>
              <a:t>适用很多基于</a:t>
            </a:r>
            <a:r>
              <a:rPr lang="en-US" altLang="zh-CN"/>
              <a:t>LR(1)</a:t>
            </a:r>
            <a:r>
              <a:rPr lang="zh-CN" altLang="en-US"/>
              <a:t>的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</a:p>
          <a:p>
            <a:pPr lvl="1" eaLnBrk="1" hangingPunct="1"/>
            <a:r>
              <a:rPr lang="zh-CN" altLang="en-US"/>
              <a:t>基本思想：用额外的栈保存属性，归约时更新栈中属性值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26769BA-5AA0-4469-A1E9-E77A98869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5.6.1  </a:t>
            </a:r>
            <a:r>
              <a:rPr lang="zh-CN" altLang="en-US"/>
              <a:t>消除翻译模式的嵌入动作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1F9C88F-C388-472F-B6E3-2C806D32B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/>
            <a:r>
              <a:rPr lang="zh-CN" altLang="en-US" dirty="0"/>
              <a:t>第一个障碍</a:t>
            </a:r>
          </a:p>
          <a:p>
            <a:pPr lvl="1" eaLnBrk="1" hangingPunct="1"/>
            <a:r>
              <a:rPr lang="zh-CN" altLang="en-US" dirty="0"/>
              <a:t>自底向上分析方法，通过移进在在栈顶形成句柄，然后归约</a:t>
            </a:r>
          </a:p>
          <a:p>
            <a:pPr lvl="1" eaLnBrk="1" hangingPunct="1"/>
            <a:r>
              <a:rPr lang="zh-CN" altLang="en-US" dirty="0"/>
              <a:t>在移进过程中不知道将来会形成哪个产生式，嵌入动作无法执行</a:t>
            </a:r>
          </a:p>
          <a:p>
            <a:pPr eaLnBrk="1" hangingPunct="1"/>
            <a:r>
              <a:rPr lang="zh-CN" altLang="en-US" dirty="0"/>
              <a:t>解决方法：</a:t>
            </a:r>
            <a:br>
              <a:rPr lang="en-US" altLang="zh-CN" dirty="0"/>
            </a:br>
            <a:r>
              <a:rPr lang="zh-CN" altLang="en-US" dirty="0"/>
              <a:t>加入“标记”（</a:t>
            </a:r>
            <a:r>
              <a:rPr lang="en-US" altLang="zh-CN" dirty="0">
                <a:solidFill>
                  <a:schemeClr val="hlink"/>
                </a:solidFill>
              </a:rPr>
              <a:t>marker</a:t>
            </a:r>
            <a:r>
              <a:rPr lang="zh-CN" altLang="en-US" dirty="0"/>
              <a:t>）</a:t>
            </a:r>
            <a:r>
              <a:rPr lang="en-US" altLang="zh-CN" dirty="0"/>
              <a:t>NT——</a:t>
            </a:r>
            <a:r>
              <a:rPr lang="zh-CN" altLang="en-US" dirty="0"/>
              <a:t>消除嵌入语义动作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E358842-93D3-409F-91D5-1315FA4FD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加标记</a:t>
            </a:r>
            <a:r>
              <a:rPr lang="en-US" altLang="zh-CN"/>
              <a:t>NT</a:t>
            </a:r>
            <a:r>
              <a:rPr lang="zh-CN" altLang="en-US"/>
              <a:t>例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CDC315D1-892A-4065-B338-425523CFB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R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+ T { print(‘+’) } R | - T { print(‘-’) } R | 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 print(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kumimoji="0" lang="zh-CN" altLang="en-US">
                <a:sym typeface="Symbol" panose="05050102010706020507" pitchFamily="18" charset="2"/>
              </a:rPr>
              <a:t>改写为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R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+ T M R | - T N R | 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 print(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  { print(‘+’) }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N</a:t>
            </a:r>
            <a:r>
              <a:rPr kumimoji="0" lang="en-US" altLang="zh-CN" sz="2400">
                <a:sym typeface="Symbol" panose="05050102010706020507" pitchFamily="18" charset="2"/>
              </a:rPr>
              <a:t>  { print(‘-’) }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属性值的计算只会在归约时进行</a:t>
            </a: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6EF02DB-97AA-4BBE-8347-A1486B1BB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5.6.2  </a:t>
            </a:r>
            <a:r>
              <a:rPr lang="zh-CN" altLang="en-US"/>
              <a:t>分析栈中的继承属性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90EB85D5-CDF7-425E-BC92-E75453835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第二个障碍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用</a:t>
            </a:r>
            <a:r>
              <a:rPr lang="en-US" altLang="zh-CN" dirty="0">
                <a:sym typeface="Wingdings" panose="05000000000000000000" pitchFamily="2" charset="2"/>
              </a:rPr>
              <a:t>C→XYZ</a:t>
            </a:r>
            <a:r>
              <a:rPr lang="zh-CN" altLang="en-US" dirty="0">
                <a:sym typeface="Wingdings" panose="05000000000000000000" pitchFamily="2" charset="2"/>
              </a:rPr>
              <a:t>归约，此时若需要</a:t>
            </a:r>
            <a:r>
              <a:rPr lang="en-US" altLang="zh-CN" dirty="0">
                <a:sym typeface="Wingdings" panose="05000000000000000000" pitchFamily="2" charset="2"/>
              </a:rPr>
              <a:t>C</a:t>
            </a:r>
            <a:r>
              <a:rPr lang="zh-CN" altLang="en-US" dirty="0">
                <a:sym typeface="Wingdings" panose="05000000000000000000" pitchFamily="2" charset="2"/>
              </a:rPr>
              <a:t>的继承属性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状态栈保存文法符号，属性栈对应位置保存其属性，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此时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（及其属性）还未在栈中！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C</a:t>
            </a:r>
            <a:r>
              <a:rPr lang="zh-CN" altLang="en-US" dirty="0">
                <a:sym typeface="Wingdings" panose="05000000000000000000" pitchFamily="2" charset="2"/>
              </a:rPr>
              <a:t>的继承属性依赖于其父亲和左兄弟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/>
              <a:t>查看</a:t>
            </a:r>
            <a:r>
              <a:rPr lang="en-US" altLang="zh-CN" dirty="0"/>
              <a:t>C</a:t>
            </a:r>
            <a:r>
              <a:rPr lang="zh-CN" altLang="en-US" dirty="0"/>
              <a:t>在右部的那些产生式！</a:t>
            </a:r>
            <a:r>
              <a:rPr lang="en-US" altLang="zh-CN" dirty="0">
                <a:sym typeface="Wingdings" panose="05000000000000000000" pitchFamily="2" charset="2"/>
              </a:rPr>
              <a:t> A→BC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若依赖左兄弟</a:t>
            </a:r>
            <a:r>
              <a:rPr lang="en-US" altLang="zh-CN" dirty="0"/>
              <a:t>B——B</a:t>
            </a:r>
            <a:r>
              <a:rPr lang="zh-CN" altLang="en-US" dirty="0"/>
              <a:t>已在栈中！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若依赖父节点</a:t>
            </a:r>
            <a:r>
              <a:rPr lang="en-US" altLang="zh-CN" dirty="0"/>
              <a:t>A</a:t>
            </a:r>
            <a:r>
              <a:rPr lang="zh-CN" altLang="en-US" dirty="0"/>
              <a:t>呢？</a:t>
            </a:r>
            <a:r>
              <a:rPr lang="en-US" altLang="zh-CN" dirty="0"/>
              <a:t>——</a:t>
            </a:r>
            <a:r>
              <a:rPr lang="zh-CN" altLang="en-US" dirty="0"/>
              <a:t>面临与刚刚</a:t>
            </a:r>
            <a:r>
              <a:rPr lang="en-US" altLang="zh-CN" dirty="0"/>
              <a:t>C</a:t>
            </a:r>
            <a:r>
              <a:rPr lang="zh-CN" altLang="en-US" dirty="0"/>
              <a:t>完全相同的问题，递归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7FF277E-E812-4D48-8896-39135FD1F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栈中的继承属性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ECE9701-E179-4D15-BDE5-1AC763338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考虑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 BC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假定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具有综合属性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由</a:t>
            </a:r>
            <a:r>
              <a:rPr kumimoji="0" lang="en-US" altLang="zh-CN" dirty="0">
                <a:sym typeface="Symbol" panose="05050102010706020507" pitchFamily="18" charset="2"/>
              </a:rPr>
              <a:t>5.3</a:t>
            </a:r>
            <a:r>
              <a:rPr kumimoji="0" lang="zh-CN" altLang="en-US" dirty="0">
                <a:sym typeface="Symbol" panose="05050102010706020507" pitchFamily="18" charset="2"/>
              </a:rPr>
              <a:t>节方法，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与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一起保存在栈中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当进行子树</a:t>
            </a:r>
            <a:r>
              <a:rPr kumimoji="0" lang="en-US" altLang="zh-CN" dirty="0">
                <a:sym typeface="Symbol" panose="05050102010706020507" pitchFamily="18" charset="2"/>
              </a:rPr>
              <a:t>C</a:t>
            </a:r>
            <a:r>
              <a:rPr kumimoji="0" lang="zh-CN" altLang="en-US" dirty="0">
                <a:sym typeface="Symbol" panose="05050102010706020507" pitchFamily="18" charset="2"/>
              </a:rPr>
              <a:t>的分析前，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必在栈中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若</a:t>
            </a:r>
            <a:r>
              <a:rPr kumimoji="0" lang="en-US" altLang="zh-CN" dirty="0">
                <a:sym typeface="Symbol" panose="05050102010706020507" pitchFamily="18" charset="2"/>
              </a:rPr>
              <a:t>C</a:t>
            </a:r>
            <a:r>
              <a:rPr kumimoji="0" lang="zh-CN" altLang="en-US" dirty="0">
                <a:sym typeface="Symbol" panose="05050102010706020507" pitchFamily="18" charset="2"/>
              </a:rPr>
              <a:t>的继承属性</a:t>
            </a:r>
            <a:r>
              <a:rPr kumimoji="0" lang="en-US" altLang="zh-CN" dirty="0" err="1">
                <a:sym typeface="Symbol" panose="05050102010706020507" pitchFamily="18" charset="2"/>
              </a:rPr>
              <a:t>C.i</a:t>
            </a:r>
            <a:r>
              <a:rPr kumimoji="0" lang="en-US" altLang="zh-CN" dirty="0">
                <a:sym typeface="Symbol" panose="05050102010706020507" pitchFamily="18" charset="2"/>
              </a:rPr>
              <a:t>=B.s</a:t>
            </a:r>
            <a:r>
              <a:rPr kumimoji="0" lang="zh-CN" altLang="en-US" dirty="0">
                <a:sym typeface="Symbol" panose="05050102010706020507" pitchFamily="18" charset="2"/>
              </a:rPr>
              <a:t>，则可直接使用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代替</a:t>
            </a:r>
            <a:r>
              <a:rPr kumimoji="0" lang="en-US" altLang="zh-CN" dirty="0" err="1">
                <a:sym typeface="Symbol" panose="05050102010706020507" pitchFamily="18" charset="2"/>
              </a:rPr>
              <a:t>C.i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“拷贝规则”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B253AF4-3927-456A-9EBD-E08E3B1EA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</a:p>
        </p:txBody>
      </p:sp>
      <p:sp>
        <p:nvSpPr>
          <p:cNvPr id="78851" name="Line 4">
            <a:extLst>
              <a:ext uri="{FF2B5EF4-FFF2-40B4-BE49-F238E27FC236}">
                <a16:creationId xmlns:a16="http://schemas.microsoft.com/office/drawing/2014/main" id="{A4392D9A-A330-4AF0-9E4A-A29C4A704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2" name="Line 5">
            <a:extLst>
              <a:ext uri="{FF2B5EF4-FFF2-40B4-BE49-F238E27FC236}">
                <a16:creationId xmlns:a16="http://schemas.microsoft.com/office/drawing/2014/main" id="{18414E25-FD19-4BA7-8F84-492449C88D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3" name="Line 6">
            <a:extLst>
              <a:ext uri="{FF2B5EF4-FFF2-40B4-BE49-F238E27FC236}">
                <a16:creationId xmlns:a16="http://schemas.microsoft.com/office/drawing/2014/main" id="{07B0FA74-C907-41C8-87BE-4A44E33A0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Line 7">
            <a:extLst>
              <a:ext uri="{FF2B5EF4-FFF2-40B4-BE49-F238E27FC236}">
                <a16:creationId xmlns:a16="http://schemas.microsoft.com/office/drawing/2014/main" id="{8DD259B1-0F9B-42A6-BC80-6649B8523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495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Line 8">
            <a:extLst>
              <a:ext uri="{FF2B5EF4-FFF2-40B4-BE49-F238E27FC236}">
                <a16:creationId xmlns:a16="http://schemas.microsoft.com/office/drawing/2014/main" id="{783B2B58-6D43-48A2-989C-87F82F544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4478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0041" name="Text Box 9">
            <a:extLst>
              <a:ext uri="{FF2B5EF4-FFF2-40B4-BE49-F238E27FC236}">
                <a16:creationId xmlns:a16="http://schemas.microsoft.com/office/drawing/2014/main" id="{216791D9-82D4-49F4-BFDE-C8F3C647F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086600" cy="260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</a:rPr>
              <a:t>D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   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   		          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78857" name="Text Box 10">
            <a:extLst>
              <a:ext uri="{FF2B5EF4-FFF2-40B4-BE49-F238E27FC236}">
                <a16:creationId xmlns:a16="http://schemas.microsoft.com/office/drawing/2014/main" id="{47AECAEC-31D9-4A51-8632-E2CD709B6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78858" name="Text Box 11">
            <a:extLst>
              <a:ext uri="{FF2B5EF4-FFF2-40B4-BE49-F238E27FC236}">
                <a16:creationId xmlns:a16="http://schemas.microsoft.com/office/drawing/2014/main" id="{7F205C21-3024-474F-A356-F71546E91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78859" name="Text Box 12">
            <a:extLst>
              <a:ext uri="{FF2B5EF4-FFF2-40B4-BE49-F238E27FC236}">
                <a16:creationId xmlns:a16="http://schemas.microsoft.com/office/drawing/2014/main" id="{97C53FB8-5229-4809-AC85-E745F146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7EDFF49-8FF6-499D-BFAA-F4C8F504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00F6F56-B7D7-40D3-85E8-82478CB76A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97888" cy="4724400"/>
          </a:xfrm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STACK				Input		Action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				        	real </a:t>
            </a:r>
            <a:r>
              <a:rPr kumimoji="0" lang="en-US" altLang="zh-CN" sz="2000" b="1" dirty="0" err="1"/>
              <a:t>a,b,c</a:t>
            </a:r>
            <a:r>
              <a:rPr kumimoji="0" lang="en-US" altLang="zh-CN" sz="2000" b="1" dirty="0"/>
              <a:t>$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real</a:t>
            </a:r>
            <a:r>
              <a:rPr kumimoji="0" lang="en-US" altLang="zh-CN" sz="2000" b="1" dirty="0"/>
              <a:t>, ‘real’]		        	        </a:t>
            </a:r>
            <a:r>
              <a:rPr kumimoji="0" lang="en-US" altLang="zh-CN" sz="2000" b="1" dirty="0" err="1"/>
              <a:t>a,b,c</a:t>
            </a:r>
            <a:r>
              <a:rPr kumimoji="0" lang="en-US" altLang="zh-CN" sz="2000" b="1" dirty="0"/>
              <a:t>$	T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real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，修改</a:t>
            </a:r>
            <a:r>
              <a:rPr kumimoji="0" lang="en-US" altLang="zh-CN" sz="2000" b="1" dirty="0" err="1">
                <a:sym typeface="Symbol" panose="05050102010706020507" pitchFamily="18" charset="2"/>
              </a:rPr>
              <a:t>T.</a:t>
            </a:r>
            <a:r>
              <a:rPr kumimoji="0" lang="en-US" altLang="zh-CN" sz="2000" b="1" i="1" dirty="0" err="1">
                <a:sym typeface="Symbol" panose="05050102010706020507" pitchFamily="18" charset="2"/>
              </a:rPr>
              <a:t>type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		        	        </a:t>
            </a:r>
            <a:r>
              <a:rPr kumimoji="0" lang="en-US" altLang="zh-CN" sz="2000" b="1" dirty="0" err="1">
                <a:sym typeface="Symbol" panose="05050102010706020507" pitchFamily="18" charset="2"/>
              </a:rPr>
              <a:t>a,b,c</a:t>
            </a:r>
            <a:r>
              <a:rPr kumimoji="0" lang="en-US" altLang="zh-CN" sz="2000" b="1" dirty="0">
                <a:sym typeface="Symbol" panose="05050102010706020507" pitchFamily="18" charset="2"/>
              </a:rPr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‘a’]                                   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  <a:endParaRPr kumimoji="0" lang="en-US" altLang="zh-CN" sz="20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		          ,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		           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 </a:t>
            </a:r>
            <a:r>
              <a:rPr kumimoji="0" lang="en-US" altLang="zh-CN" sz="2000" b="1" dirty="0">
                <a:sym typeface="Symbol" panose="05050102010706020507" pitchFamily="18" charset="2"/>
              </a:rPr>
              <a:t>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‘b’] 	             ,c$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L,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		              c$	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 </a:t>
            </a:r>
            <a:r>
              <a:rPr kumimoji="0" lang="en-US" altLang="zh-CN" sz="2000" b="1" dirty="0">
                <a:sym typeface="Symbol" panose="05050102010706020507" pitchFamily="18" charset="2"/>
              </a:rPr>
              <a:t>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‘c’]	                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L,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9F0844A-E120-4FFB-974C-7CF973512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8FCD0BA-3AE5-4042-A98F-C769031E6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对关于</a:t>
            </a:r>
            <a:r>
              <a:rPr lang="en-US" altLang="zh-CN" dirty="0"/>
              <a:t>L</a:t>
            </a:r>
            <a:r>
              <a:rPr lang="zh-CN" altLang="en-US" dirty="0"/>
              <a:t>的产生式归约时，需用</a:t>
            </a:r>
            <a:r>
              <a:rPr lang="en-US" altLang="zh-CN" dirty="0"/>
              <a:t>L</a:t>
            </a:r>
            <a:r>
              <a:rPr lang="zh-CN" altLang="en-US" dirty="0"/>
              <a:t>的继承属性</a:t>
            </a:r>
            <a:r>
              <a:rPr lang="en-US" altLang="zh-CN" dirty="0"/>
              <a:t>in</a:t>
            </a:r>
            <a:r>
              <a:rPr lang="zh-CN" altLang="en-US" dirty="0"/>
              <a:t>进行计算，而</a:t>
            </a:r>
            <a:r>
              <a:rPr lang="en-US" altLang="zh-CN" dirty="0"/>
              <a:t>L.in = </a:t>
            </a:r>
            <a:r>
              <a:rPr lang="en-US" altLang="zh-CN" dirty="0" err="1"/>
              <a:t>T.type</a:t>
            </a:r>
            <a:endParaRPr lang="en-US" altLang="zh-CN" dirty="0"/>
          </a:p>
          <a:p>
            <a:pPr eaLnBrk="1" hangingPunct="1"/>
            <a:r>
              <a:rPr lang="zh-CN" altLang="en-US" dirty="0"/>
              <a:t>此时，产生式右部位于栈顶，而</a:t>
            </a:r>
            <a:r>
              <a:rPr lang="en-US" altLang="zh-CN" dirty="0"/>
              <a:t>T</a:t>
            </a:r>
            <a:r>
              <a:rPr lang="zh-CN" altLang="en-US" dirty="0"/>
              <a:t>恰位于它们下面（左面）</a:t>
            </a:r>
          </a:p>
          <a:p>
            <a:pPr eaLnBrk="1" hangingPunct="1"/>
            <a:r>
              <a:rPr lang="zh-CN" altLang="en-US" dirty="0"/>
              <a:t>因此，在归约时，</a:t>
            </a:r>
            <a:r>
              <a:rPr lang="en-US" altLang="zh-CN" dirty="0" err="1"/>
              <a:t>T.type</a:t>
            </a:r>
            <a:r>
              <a:rPr lang="zh-CN" altLang="en-US" dirty="0"/>
              <a:t>的位置可知，无需属性的简单复制，直接使用</a:t>
            </a:r>
            <a:r>
              <a:rPr lang="en-US" altLang="zh-CN" dirty="0" err="1"/>
              <a:t>T.type</a:t>
            </a:r>
            <a:r>
              <a:rPr lang="zh-CN" altLang="en-US" dirty="0"/>
              <a:t>即可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4B4848C8-59CF-4F41-8F6B-55E1A6FF5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</a:p>
        </p:txBody>
      </p:sp>
      <p:sp>
        <p:nvSpPr>
          <p:cNvPr id="81923" name="Line 4">
            <a:extLst>
              <a:ext uri="{FF2B5EF4-FFF2-40B4-BE49-F238E27FC236}">
                <a16:creationId xmlns:a16="http://schemas.microsoft.com/office/drawing/2014/main" id="{AC477EEC-D10C-4B4A-929B-6977BFB4C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5732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Line 5">
            <a:extLst>
              <a:ext uri="{FF2B5EF4-FFF2-40B4-BE49-F238E27FC236}">
                <a16:creationId xmlns:a16="http://schemas.microsoft.com/office/drawing/2014/main" id="{39B0C533-5945-4500-AC47-1E6DE3480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494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Line 6">
            <a:extLst>
              <a:ext uri="{FF2B5EF4-FFF2-40B4-BE49-F238E27FC236}">
                <a16:creationId xmlns:a16="http://schemas.microsoft.com/office/drawing/2014/main" id="{66080ED9-AB5D-4C7D-8E03-DA533E042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1066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Line 7">
            <a:extLst>
              <a:ext uri="{FF2B5EF4-FFF2-40B4-BE49-F238E27FC236}">
                <a16:creationId xmlns:a16="http://schemas.microsoft.com/office/drawing/2014/main" id="{0C03E828-0571-4D13-B669-4033B23BC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9260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8">
            <a:extLst>
              <a:ext uri="{FF2B5EF4-FFF2-40B4-BE49-F238E27FC236}">
                <a16:creationId xmlns:a16="http://schemas.microsoft.com/office/drawing/2014/main" id="{4A3FAB19-9396-4E9F-8619-D0620968F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6494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3769" name="Text Box 9">
            <a:extLst>
              <a:ext uri="{FF2B5EF4-FFF2-40B4-BE49-F238E27FC236}">
                <a16:creationId xmlns:a16="http://schemas.microsoft.com/office/drawing/2014/main" id="{16608046-5D62-4B68-A033-1D52B28DF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06613"/>
            <a:ext cx="7467600" cy="284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</a:rPr>
              <a:t>D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]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]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-3])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-1])</a:t>
            </a:r>
          </a:p>
        </p:txBody>
      </p:sp>
      <p:sp>
        <p:nvSpPr>
          <p:cNvPr id="81929" name="Text Box 10">
            <a:extLst>
              <a:ext uri="{FF2B5EF4-FFF2-40B4-BE49-F238E27FC236}">
                <a16:creationId xmlns:a16="http://schemas.microsoft.com/office/drawing/2014/main" id="{6C9DD8FC-754E-4B0E-8921-7C9498E7F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30413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81930" name="Text Box 11">
            <a:extLst>
              <a:ext uri="{FF2B5EF4-FFF2-40B4-BE49-F238E27FC236}">
                <a16:creationId xmlns:a16="http://schemas.microsoft.com/office/drawing/2014/main" id="{E5508190-EF15-4C2B-B004-B1E7748D8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49413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81931" name="Text Box 12">
            <a:extLst>
              <a:ext uri="{FF2B5EF4-FFF2-40B4-BE49-F238E27FC236}">
                <a16:creationId xmlns:a16="http://schemas.microsoft.com/office/drawing/2014/main" id="{C94D9284-ACFA-4CB6-980D-0DED876D4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49413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代码片断</a:t>
            </a:r>
          </a:p>
        </p:txBody>
      </p:sp>
      <p:sp>
        <p:nvSpPr>
          <p:cNvPr id="81932" name="Text Box 13">
            <a:extLst>
              <a:ext uri="{FF2B5EF4-FFF2-40B4-BE49-F238E27FC236}">
                <a16:creationId xmlns:a16="http://schemas.microsoft.com/office/drawing/2014/main" id="{7796D31B-5410-435D-9C9C-F7D267986E9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315200" y="2971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T.type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L.in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81933" name="Line 14">
            <a:extLst>
              <a:ext uri="{FF2B5EF4-FFF2-40B4-BE49-F238E27FC236}">
                <a16:creationId xmlns:a16="http://schemas.microsoft.com/office/drawing/2014/main" id="{688DB3B3-4308-4C40-BD0C-AA826B535878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7543800" y="3352800"/>
            <a:ext cx="6858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Line 15">
            <a:extLst>
              <a:ext uri="{FF2B5EF4-FFF2-40B4-BE49-F238E27FC236}">
                <a16:creationId xmlns:a16="http://schemas.microsoft.com/office/drawing/2014/main" id="{CEF05673-3075-41AE-87AE-32FFBFBCB97E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7696200" y="3429000"/>
            <a:ext cx="60960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B42F312-CE41-488D-B54F-061D9193E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5.6.3  </a:t>
            </a:r>
            <a:r>
              <a:rPr lang="zh-CN" altLang="en-US"/>
              <a:t>模拟继承属性的计算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021675B3-FE68-4B62-B441-E70442FD1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5.18</a:t>
            </a:r>
            <a:r>
              <a:rPr lang="zh-CN" altLang="en-US" dirty="0"/>
              <a:t>：不能预测属性值栈中位置的文法</a:t>
            </a:r>
          </a:p>
          <a:p>
            <a:pPr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/>
              <a:t>S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aAC</a:t>
            </a:r>
            <a:r>
              <a:rPr kumimoji="0"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 = A.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S 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bABC</a:t>
            </a:r>
            <a:r>
              <a:rPr kumimoji="0" lang="en-US" altLang="zh-CN" sz="2800" dirty="0"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 = A.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C  c 		C.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  <a:r>
              <a:rPr kumimoji="0" lang="en-US" altLang="zh-CN" sz="2800" dirty="0">
                <a:sym typeface="Symbol" panose="05050102010706020507" pitchFamily="18" charset="2"/>
              </a:rPr>
              <a:t> = g(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eaLnBrk="1" hangingPunct="1"/>
            <a:r>
              <a:rPr lang="en-US" altLang="zh-CN" dirty="0"/>
              <a:t>C</a:t>
            </a:r>
            <a:r>
              <a:rPr lang="zh-CN" altLang="en-US" dirty="0"/>
              <a:t>通过拷贝规则继承了</a:t>
            </a:r>
            <a:r>
              <a:rPr lang="en-US" altLang="zh-CN" dirty="0"/>
              <a:t>A</a:t>
            </a:r>
            <a:r>
              <a:rPr lang="zh-CN" altLang="en-US" dirty="0"/>
              <a:t>的综合属性</a:t>
            </a:r>
          </a:p>
          <a:p>
            <a:pPr eaLnBrk="1" hangingPunct="1"/>
            <a:r>
              <a:rPr lang="en-US" altLang="zh-CN" dirty="0"/>
              <a:t>B</a:t>
            </a:r>
            <a:r>
              <a:rPr lang="zh-CN" altLang="en-US" dirty="0"/>
              <a:t>是否在栈中？</a:t>
            </a:r>
            <a:r>
              <a:rPr lang="en-US" altLang="zh-CN" dirty="0"/>
              <a:t>——</a:t>
            </a:r>
            <a:r>
              <a:rPr lang="zh-CN" altLang="en-US" dirty="0"/>
              <a:t>不知道！</a:t>
            </a:r>
            <a:br>
              <a:rPr lang="en-US" altLang="zh-CN" dirty="0"/>
            </a:br>
            <a:r>
              <a:rPr lang="en-US" altLang="zh-CN" dirty="0"/>
              <a:t>A.s(</a:t>
            </a:r>
            <a:r>
              <a:rPr lang="en-US" altLang="zh-CN" dirty="0" err="1"/>
              <a:t>C.i</a:t>
            </a:r>
            <a:r>
              <a:rPr lang="en-US" altLang="zh-CN" dirty="0"/>
              <a:t>)</a:t>
            </a:r>
            <a:r>
              <a:rPr lang="zh-CN" altLang="en-US" dirty="0"/>
              <a:t>在</a:t>
            </a:r>
            <a:r>
              <a:rPr lang="en-US" altLang="zh-CN" dirty="0"/>
              <a:t>top-1</a:t>
            </a:r>
            <a:r>
              <a:rPr lang="zh-CN" altLang="en-US" dirty="0"/>
              <a:t>？</a:t>
            </a:r>
            <a:r>
              <a:rPr lang="en-US" altLang="zh-CN" dirty="0"/>
              <a:t>top-2</a:t>
            </a:r>
            <a:r>
              <a:rPr lang="zh-CN" altLang="en-US" dirty="0"/>
              <a:t>？</a:t>
            </a:r>
            <a:r>
              <a:rPr lang="en-US" altLang="zh-CN" dirty="0"/>
              <a:t>——</a:t>
            </a:r>
            <a:r>
              <a:rPr lang="zh-CN" altLang="en-US" dirty="0"/>
              <a:t>不知道！</a:t>
            </a:r>
          </a:p>
          <a:p>
            <a:pPr eaLnBrk="1" hangingPunct="1"/>
            <a:r>
              <a:rPr lang="zh-CN" altLang="en-US" dirty="0"/>
              <a:t>如何解决？</a:t>
            </a:r>
            <a:r>
              <a:rPr lang="en-US" altLang="zh-CN" dirty="0"/>
              <a:t>——</a:t>
            </a:r>
            <a:r>
              <a:rPr lang="zh-CN" altLang="en-US" dirty="0"/>
              <a:t>利用</a:t>
            </a:r>
            <a:r>
              <a:rPr lang="en-US" altLang="zh-CN" dirty="0"/>
              <a:t>marker NT</a:t>
            </a:r>
            <a:r>
              <a:rPr lang="zh-CN" altLang="en-US" dirty="0"/>
              <a:t>改写文法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099CC01-FFA3-4403-83EB-5EDD09D3C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5.18</a:t>
            </a:r>
            <a:r>
              <a:rPr lang="zh-CN" altLang="en-US"/>
              <a:t>（续）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6B25428-DAD3-4F0A-BEA7-C77EC5A90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S  bAB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</a:t>
            </a:r>
            <a:r>
              <a:rPr kumimoji="0" lang="en-US" altLang="zh-CN" sz="2800">
                <a:sym typeface="Symbol" panose="05050102010706020507" pitchFamily="18" charset="2"/>
              </a:rPr>
              <a:t>C	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; C.i = 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M.s</a:t>
            </a:r>
            <a:r>
              <a:rPr kumimoji="0" lang="en-US" altLang="zh-CN" sz="2800">
                <a:sym typeface="Symbol" panose="05050102010706020507" pitchFamily="18" charset="2"/>
              </a:rPr>
              <a:t>;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C  c 		C.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g(C.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  </a:t>
            </a:r>
            <a:r>
              <a:rPr kumimoji="0" lang="en-US" altLang="zh-CN" sz="2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		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 = 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endParaRPr lang="en-US" altLang="zh-CN" i="1">
              <a:solidFill>
                <a:schemeClr val="hlink"/>
              </a:solidFill>
            </a:endParaRPr>
          </a:p>
          <a:p>
            <a:pPr eaLnBrk="1" hangingPunct="1"/>
            <a:r>
              <a:rPr lang="zh-CN" altLang="en-US"/>
              <a:t>也可用于非拷贝规则（更复杂的引用）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f(A.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改写为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aANC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N.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;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N.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N 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		N.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f(N.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1446565-26BF-453E-A394-C629A8C96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5.19</a:t>
            </a:r>
          </a:p>
        </p:txBody>
      </p:sp>
      <p:sp>
        <p:nvSpPr>
          <p:cNvPr id="84995" name="Line 4">
            <a:extLst>
              <a:ext uri="{FF2B5EF4-FFF2-40B4-BE49-F238E27FC236}">
                <a16:creationId xmlns:a16="http://schemas.microsoft.com/office/drawing/2014/main" id="{B9AA8233-B513-4EA9-9BB2-4E07CB841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6" name="Line 5">
            <a:extLst>
              <a:ext uri="{FF2B5EF4-FFF2-40B4-BE49-F238E27FC236}">
                <a16:creationId xmlns:a16="http://schemas.microsoft.com/office/drawing/2014/main" id="{772CE8D2-DBE4-4BFF-9198-EE12B303A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7" name="Line 6">
            <a:extLst>
              <a:ext uri="{FF2B5EF4-FFF2-40B4-BE49-F238E27FC236}">
                <a16:creationId xmlns:a16="http://schemas.microsoft.com/office/drawing/2014/main" id="{A38AF07F-40B6-46AB-B0A9-B05295593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Line 7">
            <a:extLst>
              <a:ext uri="{FF2B5EF4-FFF2-40B4-BE49-F238E27FC236}">
                <a16:creationId xmlns:a16="http://schemas.microsoft.com/office/drawing/2014/main" id="{3A6A7520-6776-4445-984A-93EE41B40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791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Line 8">
            <a:extLst>
              <a:ext uri="{FF2B5EF4-FFF2-40B4-BE49-F238E27FC236}">
                <a16:creationId xmlns:a16="http://schemas.microsoft.com/office/drawing/2014/main" id="{5FA9D181-04DE-4E5C-AB46-5BC43F36D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371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0" name="Text Box 9">
            <a:extLst>
              <a:ext uri="{FF2B5EF4-FFF2-40B4-BE49-F238E27FC236}">
                <a16:creationId xmlns:a16="http://schemas.microsoft.com/office/drawing/2014/main" id="{DA3B65C4-B670-42AE-B290-1696566DA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28800"/>
            <a:ext cx="70866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S  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L</a:t>
            </a:r>
            <a:r>
              <a:rPr kumimoji="0" lang="en-US" altLang="zh-CN" sz="2000" dirty="0">
                <a:sym typeface="Symbol" panose="05050102010706020507" pitchFamily="18" charset="2"/>
              </a:rPr>
              <a:t>B			B.ps = L.s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S.ht = B.ht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L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			</a:t>
            </a:r>
            <a:r>
              <a:rPr kumimoji="0" lang="en-US" altLang="zh-CN" sz="2000" dirty="0">
                <a:sym typeface="Symbol" panose="05050102010706020507" pitchFamily="18" charset="2"/>
              </a:rPr>
              <a:t>L.s = 10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r>
              <a:rPr kumimoji="0" lang="en-US" altLang="zh-CN" sz="2000" dirty="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.ps = B.ps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M.i</a:t>
            </a:r>
            <a:r>
              <a:rPr kumimoji="0" lang="en-US" altLang="zh-CN" sz="2000" dirty="0">
                <a:sym typeface="Symbol" panose="05050102010706020507" pitchFamily="18" charset="2"/>
              </a:rPr>
              <a:t> = B.ps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.ps = M.s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	B.ht = max(B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.ht,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kumimoji="0" lang="en-US" altLang="zh-CN" sz="2000" dirty="0">
                <a:sym typeface="Symbol" panose="05050102010706020507" pitchFamily="18" charset="2"/>
              </a:rPr>
              <a:t>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.ps = B.ps;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N.i</a:t>
            </a:r>
            <a:r>
              <a:rPr kumimoji="0" lang="en-US" altLang="zh-CN" sz="2000" dirty="0">
                <a:sym typeface="Symbol" panose="05050102010706020507" pitchFamily="18" charset="2"/>
              </a:rPr>
              <a:t> = B.ps;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.ps = N.s;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	B.ht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disp</a:t>
            </a:r>
            <a:r>
              <a:rPr kumimoji="0" lang="en-US" altLang="zh-CN" sz="2000" dirty="0">
                <a:sym typeface="Symbol" panose="05050102010706020507" pitchFamily="18" charset="2"/>
              </a:rPr>
              <a:t>(B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.ht,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000" dirty="0">
                <a:sym typeface="Symbol" panose="05050102010706020507" pitchFamily="18" charset="2"/>
              </a:rPr>
              <a:t>B.ht = </a:t>
            </a:r>
            <a:r>
              <a:rPr kumimoji="0" lang="en-US" altLang="zh-CN" sz="2000" b="1" dirty="0"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ym typeface="Symbol" panose="05050102010706020507" pitchFamily="18" charset="2"/>
              </a:rPr>
              <a:t>.h×B.ps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M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M.s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M.i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N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N.s = shrink(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N.i</a:t>
            </a:r>
            <a:r>
              <a:rPr kumimoji="0" lang="en-US" altLang="zh-CN" sz="2000" dirty="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5001" name="Text Box 10">
            <a:extLst>
              <a:ext uri="{FF2B5EF4-FFF2-40B4-BE49-F238E27FC236}">
                <a16:creationId xmlns:a16="http://schemas.microsoft.com/office/drawing/2014/main" id="{F5604E61-1608-46BD-930C-14D25BC25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85002" name="Text Box 11">
            <a:extLst>
              <a:ext uri="{FF2B5EF4-FFF2-40B4-BE49-F238E27FC236}">
                <a16:creationId xmlns:a16="http://schemas.microsoft.com/office/drawing/2014/main" id="{A14D58F3-713F-4ED2-889E-D646E13B2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</a:p>
        </p:txBody>
      </p:sp>
      <p:sp>
        <p:nvSpPr>
          <p:cNvPr id="85003" name="Text Box 12">
            <a:extLst>
              <a:ext uri="{FF2B5EF4-FFF2-40B4-BE49-F238E27FC236}">
                <a16:creationId xmlns:a16="http://schemas.microsoft.com/office/drawing/2014/main" id="{1D0EBB31-BF36-4538-AC64-347470B2C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</a:p>
        </p:txBody>
      </p:sp>
      <p:sp>
        <p:nvSpPr>
          <p:cNvPr id="85004" name="Text Box 13">
            <a:extLst>
              <a:ext uri="{FF2B5EF4-FFF2-40B4-BE49-F238E27FC236}">
                <a16:creationId xmlns:a16="http://schemas.microsoft.com/office/drawing/2014/main" id="{4E61A0D0-C0B0-4B30-811E-802E7842AF4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29400" y="1981200"/>
            <a:ext cx="19812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综合属性</a:t>
            </a:r>
            <a:r>
              <a:rPr lang="en-US" altLang="zh-CN" sz="2000" dirty="0">
                <a:solidFill>
                  <a:srgbClr val="FF3300"/>
                </a:solidFill>
              </a:rPr>
              <a:t>s</a:t>
            </a:r>
            <a:r>
              <a:rPr lang="zh-CN" altLang="en-US" sz="2000" dirty="0">
                <a:solidFill>
                  <a:srgbClr val="FF3300"/>
                </a:solidFill>
              </a:rPr>
              <a:t>、</a:t>
            </a:r>
            <a:r>
              <a:rPr lang="en-US" altLang="zh-CN" sz="2000" dirty="0" err="1">
                <a:solidFill>
                  <a:srgbClr val="FF3300"/>
                </a:solidFill>
              </a:rPr>
              <a:t>ht</a:t>
            </a:r>
            <a:r>
              <a:rPr lang="zh-CN" altLang="en-US" sz="2000" dirty="0">
                <a:solidFill>
                  <a:srgbClr val="FF3300"/>
                </a:solidFill>
              </a:rPr>
              <a:t>保存在栈中</a:t>
            </a: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继承属性</a:t>
            </a:r>
            <a:r>
              <a:rPr lang="en-US" altLang="zh-CN" sz="2000" dirty="0" err="1">
                <a:solidFill>
                  <a:srgbClr val="FF3300"/>
                </a:solidFill>
              </a:rPr>
              <a:t>ps</a:t>
            </a:r>
            <a:r>
              <a:rPr lang="zh-CN" altLang="en-US" sz="2000" dirty="0">
                <a:solidFill>
                  <a:srgbClr val="FF3300"/>
                </a:solidFill>
              </a:rPr>
              <a:t>不</a:t>
            </a:r>
            <a:br>
              <a:rPr lang="zh-CN" altLang="en-US" sz="2000" dirty="0">
                <a:solidFill>
                  <a:srgbClr val="FF3300"/>
                </a:solidFill>
              </a:rPr>
            </a:br>
            <a:r>
              <a:rPr lang="zh-CN" altLang="en-US" sz="2000" dirty="0">
                <a:solidFill>
                  <a:srgbClr val="FF3300"/>
                </a:solidFill>
              </a:rPr>
              <a:t>保存</a:t>
            </a:r>
          </a:p>
        </p:txBody>
      </p:sp>
      <p:sp>
        <p:nvSpPr>
          <p:cNvPr id="85005" name="Line 14">
            <a:extLst>
              <a:ext uri="{FF2B5EF4-FFF2-40B4-BE49-F238E27FC236}">
                <a16:creationId xmlns:a16="http://schemas.microsoft.com/office/drawing/2014/main" id="{F20FD827-9ACC-4CEA-8D8C-D8A4240F45C5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029200" y="2057400"/>
            <a:ext cx="1905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6" name="Line 15">
            <a:extLst>
              <a:ext uri="{FF2B5EF4-FFF2-40B4-BE49-F238E27FC236}">
                <a16:creationId xmlns:a16="http://schemas.microsoft.com/office/drawing/2014/main" id="{CF6B3D14-DED8-457C-AE11-5A7ED0751242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029200" y="2286000"/>
            <a:ext cx="19050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Freeform 16">
            <a:extLst>
              <a:ext uri="{FF2B5EF4-FFF2-40B4-BE49-F238E27FC236}">
                <a16:creationId xmlns:a16="http://schemas.microsoft.com/office/drawing/2014/main" id="{3A35A989-69AC-4EEB-AB2B-E86381297C0C}"/>
              </a:ext>
            </a:extLst>
          </p:cNvPr>
          <p:cNvSpPr>
            <a:spLocks/>
          </p:cNvSpPr>
          <p:nvPr/>
        </p:nvSpPr>
        <p:spPr bwMode="ltGray">
          <a:xfrm>
            <a:off x="4178300" y="2590800"/>
            <a:ext cx="3292475" cy="2819400"/>
          </a:xfrm>
          <a:custGeom>
            <a:avLst/>
            <a:gdLst>
              <a:gd name="T0" fmla="*/ 2147483646 w 2074"/>
              <a:gd name="T1" fmla="*/ 0 h 2222"/>
              <a:gd name="T2" fmla="*/ 2147483646 w 2074"/>
              <a:gd name="T3" fmla="*/ 2147483646 h 2222"/>
              <a:gd name="T4" fmla="*/ 745966250 w 2074"/>
              <a:gd name="T5" fmla="*/ 2147483646 h 2222"/>
              <a:gd name="T6" fmla="*/ 141128750 w 2074"/>
              <a:gd name="T7" fmla="*/ 2147483646 h 22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74" h="2222">
                <a:moveTo>
                  <a:pt x="1736" y="0"/>
                </a:moveTo>
                <a:cubicBezTo>
                  <a:pt x="1752" y="314"/>
                  <a:pt x="2074" y="1550"/>
                  <a:pt x="1834" y="1886"/>
                </a:cubicBezTo>
                <a:cubicBezTo>
                  <a:pt x="1594" y="2222"/>
                  <a:pt x="592" y="1978"/>
                  <a:pt x="296" y="2016"/>
                </a:cubicBezTo>
                <a:cubicBezTo>
                  <a:pt x="0" y="2054"/>
                  <a:pt x="28" y="2072"/>
                  <a:pt x="56" y="211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Freeform 17">
            <a:extLst>
              <a:ext uri="{FF2B5EF4-FFF2-40B4-BE49-F238E27FC236}">
                <a16:creationId xmlns:a16="http://schemas.microsoft.com/office/drawing/2014/main" id="{5A19D063-651E-41E1-81ED-B0D4844D3985}"/>
              </a:ext>
            </a:extLst>
          </p:cNvPr>
          <p:cNvSpPr>
            <a:spLocks/>
          </p:cNvSpPr>
          <p:nvPr/>
        </p:nvSpPr>
        <p:spPr bwMode="ltGray">
          <a:xfrm>
            <a:off x="4143375" y="4087813"/>
            <a:ext cx="3248025" cy="1474787"/>
          </a:xfrm>
          <a:custGeom>
            <a:avLst/>
            <a:gdLst>
              <a:gd name="T0" fmla="*/ 2147483646 w 2046"/>
              <a:gd name="T1" fmla="*/ 0 h 785"/>
              <a:gd name="T2" fmla="*/ 2147483646 w 2046"/>
              <a:gd name="T3" fmla="*/ 2147483646 h 785"/>
              <a:gd name="T4" fmla="*/ 730845313 w 2046"/>
              <a:gd name="T5" fmla="*/ 2147483646 h 785"/>
              <a:gd name="T6" fmla="*/ 80645000 w 2046"/>
              <a:gd name="T7" fmla="*/ 2147483646 h 7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46" h="785">
                <a:moveTo>
                  <a:pt x="1947" y="0"/>
                </a:moveTo>
                <a:cubicBezTo>
                  <a:pt x="1918" y="102"/>
                  <a:pt x="2046" y="496"/>
                  <a:pt x="1770" y="611"/>
                </a:cubicBezTo>
                <a:cubicBezTo>
                  <a:pt x="1494" y="726"/>
                  <a:pt x="580" y="662"/>
                  <a:pt x="290" y="691"/>
                </a:cubicBezTo>
                <a:cubicBezTo>
                  <a:pt x="0" y="720"/>
                  <a:pt x="86" y="766"/>
                  <a:pt x="32" y="785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7707694-F26E-440A-B202-36111AB36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5.19</a:t>
            </a:r>
            <a:r>
              <a:rPr lang="zh-CN" altLang="en-US"/>
              <a:t>（续）</a:t>
            </a:r>
          </a:p>
        </p:txBody>
      </p:sp>
      <p:sp>
        <p:nvSpPr>
          <p:cNvPr id="86019" name="Line 3">
            <a:extLst>
              <a:ext uri="{FF2B5EF4-FFF2-40B4-BE49-F238E27FC236}">
                <a16:creationId xmlns:a16="http://schemas.microsoft.com/office/drawing/2014/main" id="{4C56A3DA-CED7-40BA-AC8A-DB3666601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0" name="Line 4">
            <a:extLst>
              <a:ext uri="{FF2B5EF4-FFF2-40B4-BE49-F238E27FC236}">
                <a16:creationId xmlns:a16="http://schemas.microsoft.com/office/drawing/2014/main" id="{2AAECA51-0021-45B0-A394-15AD6594E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Line 5">
            <a:extLst>
              <a:ext uri="{FF2B5EF4-FFF2-40B4-BE49-F238E27FC236}">
                <a16:creationId xmlns:a16="http://schemas.microsoft.com/office/drawing/2014/main" id="{5728E6FF-7721-4EA0-8FCB-ACEAA7BDD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6">
            <a:extLst>
              <a:ext uri="{FF2B5EF4-FFF2-40B4-BE49-F238E27FC236}">
                <a16:creationId xmlns:a16="http://schemas.microsoft.com/office/drawing/2014/main" id="{10BDFF2E-7FF3-4E35-B5E9-B167E65A8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419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Line 7">
            <a:extLst>
              <a:ext uri="{FF2B5EF4-FFF2-40B4-BE49-F238E27FC236}">
                <a16:creationId xmlns:a16="http://schemas.microsoft.com/office/drawing/2014/main" id="{609ACBFB-617B-409F-9056-78435D99F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3716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D2A657CA-3EDF-4C28-B297-B2986B63F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28800"/>
            <a:ext cx="708660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S  LB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L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10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MB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max(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[top-2],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[top])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N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disp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[top-3],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[top])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[top]*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[top-1]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M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[top-1]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N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shrink(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[top-2])</a:t>
            </a:r>
          </a:p>
        </p:txBody>
      </p:sp>
      <p:sp>
        <p:nvSpPr>
          <p:cNvPr id="86025" name="Text Box 9">
            <a:extLst>
              <a:ext uri="{FF2B5EF4-FFF2-40B4-BE49-F238E27FC236}">
                <a16:creationId xmlns:a16="http://schemas.microsoft.com/office/drawing/2014/main" id="{1A4601C5-980F-48AC-AA4C-090E33A2E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86026" name="Text Box 10">
            <a:extLst>
              <a:ext uri="{FF2B5EF4-FFF2-40B4-BE49-F238E27FC236}">
                <a16:creationId xmlns:a16="http://schemas.microsoft.com/office/drawing/2014/main" id="{CC042407-C656-4D8E-A21B-7C19403D5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</a:p>
        </p:txBody>
      </p:sp>
      <p:sp>
        <p:nvSpPr>
          <p:cNvPr id="86027" name="Text Box 11">
            <a:extLst>
              <a:ext uri="{FF2B5EF4-FFF2-40B4-BE49-F238E27FC236}">
                <a16:creationId xmlns:a16="http://schemas.microsoft.com/office/drawing/2014/main" id="{35466BA4-9B9C-4C50-8D0E-3D26BEC5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代码片断</a:t>
            </a:r>
          </a:p>
        </p:txBody>
      </p:sp>
      <p:sp>
        <p:nvSpPr>
          <p:cNvPr id="86028" name="Freeform 13">
            <a:extLst>
              <a:ext uri="{FF2B5EF4-FFF2-40B4-BE49-F238E27FC236}">
                <a16:creationId xmlns:a16="http://schemas.microsoft.com/office/drawing/2014/main" id="{28B67AED-DB04-4BF4-A7C6-EB7319F88A06}"/>
              </a:ext>
            </a:extLst>
          </p:cNvPr>
          <p:cNvSpPr>
            <a:spLocks/>
          </p:cNvSpPr>
          <p:nvPr/>
        </p:nvSpPr>
        <p:spPr bwMode="ltGray">
          <a:xfrm>
            <a:off x="3048000" y="3962400"/>
            <a:ext cx="917575" cy="609600"/>
          </a:xfrm>
          <a:custGeom>
            <a:avLst/>
            <a:gdLst>
              <a:gd name="T0" fmla="*/ 0 w 578"/>
              <a:gd name="T1" fmla="*/ 613221386 h 606"/>
              <a:gd name="T2" fmla="*/ 315020325 w 578"/>
              <a:gd name="T3" fmla="*/ 102203564 h 606"/>
              <a:gd name="T4" fmla="*/ 1456650313 w 578"/>
              <a:gd name="T5" fmla="*/ 1011976 h 6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8" h="606">
                <a:moveTo>
                  <a:pt x="0" y="606"/>
                </a:moveTo>
                <a:cubicBezTo>
                  <a:pt x="19" y="522"/>
                  <a:pt x="29" y="202"/>
                  <a:pt x="125" y="101"/>
                </a:cubicBezTo>
                <a:cubicBezTo>
                  <a:pt x="221" y="0"/>
                  <a:pt x="484" y="22"/>
                  <a:pt x="578" y="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Freeform 15">
            <a:extLst>
              <a:ext uri="{FF2B5EF4-FFF2-40B4-BE49-F238E27FC236}">
                <a16:creationId xmlns:a16="http://schemas.microsoft.com/office/drawing/2014/main" id="{A691C1DE-BED1-4183-9E77-13DE3188BC29}"/>
              </a:ext>
            </a:extLst>
          </p:cNvPr>
          <p:cNvSpPr>
            <a:spLocks/>
          </p:cNvSpPr>
          <p:nvPr/>
        </p:nvSpPr>
        <p:spPr bwMode="ltGray">
          <a:xfrm>
            <a:off x="6553200" y="3657600"/>
            <a:ext cx="865188" cy="914400"/>
          </a:xfrm>
          <a:custGeom>
            <a:avLst/>
            <a:gdLst>
              <a:gd name="T0" fmla="*/ 0 w 545"/>
              <a:gd name="T1" fmla="*/ 1240545045 h 674"/>
              <a:gd name="T2" fmla="*/ 1249998222 w 545"/>
              <a:gd name="T3" fmla="*/ 620272522 h 674"/>
              <a:gd name="T4" fmla="*/ 735886050 w 545"/>
              <a:gd name="T5" fmla="*/ 0 h 6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5" h="674">
                <a:moveTo>
                  <a:pt x="0" y="674"/>
                </a:moveTo>
                <a:cubicBezTo>
                  <a:pt x="84" y="619"/>
                  <a:pt x="447" y="449"/>
                  <a:pt x="496" y="337"/>
                </a:cubicBezTo>
                <a:cubicBezTo>
                  <a:pt x="545" y="225"/>
                  <a:pt x="334" y="70"/>
                  <a:pt x="292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Text Box 116">
            <a:extLst>
              <a:ext uri="{FF2B5EF4-FFF2-40B4-BE49-F238E27FC236}">
                <a16:creationId xmlns:a16="http://schemas.microsoft.com/office/drawing/2014/main" id="{448717AB-DF25-4029-AFD1-0F03683388B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676400" y="4495800"/>
            <a:ext cx="2438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M.s=M.i(B.ps, L.s)</a:t>
            </a:r>
            <a:b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为什么从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top-1</a:t>
            </a: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获得？</a:t>
            </a:r>
          </a:p>
        </p:txBody>
      </p:sp>
      <p:sp>
        <p:nvSpPr>
          <p:cNvPr id="86031" name="Text Box 120">
            <a:extLst>
              <a:ext uri="{FF2B5EF4-FFF2-40B4-BE49-F238E27FC236}">
                <a16:creationId xmlns:a16="http://schemas.microsoft.com/office/drawing/2014/main" id="{12046F20-5855-45C4-8D92-BB7D8AC5786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876800" y="4479925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B.ht=text.h*B.ps</a:t>
            </a:r>
            <a:b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B.ps</a:t>
            </a:r>
            <a:r>
              <a:rPr lang="zh-CN" altLang="en-US" sz="2000" dirty="0">
                <a:solidFill>
                  <a:schemeClr val="hlink"/>
                </a:solidFill>
                <a:latin typeface="Tahoma" panose="020B0604030504040204" pitchFamily="34" charset="0"/>
              </a:rPr>
              <a:t>为什么总可以从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top-1</a:t>
            </a:r>
            <a:r>
              <a:rPr lang="zh-CN" altLang="en-US" sz="2000" dirty="0">
                <a:solidFill>
                  <a:schemeClr val="hlink"/>
                </a:solidFill>
                <a:latin typeface="Tahoma" panose="020B0604030504040204" pitchFamily="34" charset="0"/>
              </a:rPr>
              <a:t>获得？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760B28-0869-4336-825E-3592B4DA7903}"/>
              </a:ext>
            </a:extLst>
          </p:cNvPr>
          <p:cNvSpPr txBox="1"/>
          <p:nvPr/>
        </p:nvSpPr>
        <p:spPr>
          <a:xfrm>
            <a:off x="6178104" y="1779527"/>
            <a:ext cx="2141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S.ht=B</a:t>
            </a:r>
            <a:r>
              <a:rPr lang="en-US" altLang="zh-CN" sz="2000" dirty="0">
                <a:solidFill>
                  <a:schemeClr val="hlink"/>
                </a:solidFill>
              </a:rPr>
              <a:t>.ht</a:t>
            </a: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C0781F-BE3B-40C2-B9FB-2F9CB9414123}"/>
              </a:ext>
            </a:extLst>
          </p:cNvPr>
          <p:cNvSpPr txBox="1"/>
          <p:nvPr/>
        </p:nvSpPr>
        <p:spPr>
          <a:xfrm>
            <a:off x="6666735" y="2330704"/>
            <a:ext cx="21419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B.ht=max(B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000" dirty="0">
                <a:solidFill>
                  <a:schemeClr val="hlink"/>
                </a:solidFill>
              </a:rPr>
              <a:t>.ht,</a:t>
            </a:r>
            <a:br>
              <a:rPr lang="en-US" altLang="zh-CN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	 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000" dirty="0">
                <a:solidFill>
                  <a:schemeClr val="hlink"/>
                </a:solidFill>
              </a:rPr>
              <a:t>.ht)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EFAF22-3AD3-4FEC-977E-56ABF8F102A3}"/>
              </a:ext>
            </a:extLst>
          </p:cNvPr>
          <p:cNvSpPr txBox="1"/>
          <p:nvPr/>
        </p:nvSpPr>
        <p:spPr>
          <a:xfrm>
            <a:off x="6629400" y="2907036"/>
            <a:ext cx="21419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</a:t>
            </a:r>
            <a:r>
              <a:rPr lang="en-US" altLang="zh-CN" sz="2000" dirty="0" err="1">
                <a:solidFill>
                  <a:schemeClr val="hlink"/>
                </a:solidFill>
                <a:latin typeface="Tahoma" panose="020B0604030504040204" pitchFamily="34" charset="0"/>
              </a:rPr>
              <a:t>disp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(B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000" dirty="0">
                <a:solidFill>
                  <a:schemeClr val="hlink"/>
                </a:solidFill>
              </a:rPr>
              <a:t>.ht,</a:t>
            </a:r>
            <a:br>
              <a:rPr lang="en-US" altLang="zh-CN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	 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000" dirty="0">
                <a:solidFill>
                  <a:schemeClr val="hlink"/>
                </a:solidFill>
              </a:rPr>
              <a:t>.ht)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AA173099-E7B5-46CE-8F70-F9160E3D8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5.3</a:t>
            </a:r>
            <a:r>
              <a:rPr lang="zh-CN" altLang="en-US"/>
              <a:t>：自底向上翻译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B4CB18C-FA93-439F-A81B-9585F7657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输入：</a:t>
            </a:r>
            <a:r>
              <a:rPr lang="en-US" altLang="zh-CN" sz="2400" dirty="0"/>
              <a:t>LL(1)</a:t>
            </a:r>
            <a:r>
              <a:rPr lang="zh-CN" altLang="en-US" sz="2400" dirty="0"/>
              <a:t>文法及</a:t>
            </a:r>
            <a:r>
              <a:rPr lang="en-US" altLang="zh-CN" sz="2400" dirty="0"/>
              <a:t>L-</a:t>
            </a:r>
            <a:r>
              <a:rPr lang="zh-CN" altLang="en-US" sz="2400" dirty="0"/>
              <a:t>属性定义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输出：一个分析器，可在分析栈中计算属性值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方法：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假定每个</a:t>
            </a:r>
            <a:r>
              <a:rPr lang="en-US" altLang="zh-CN" sz="2400" dirty="0"/>
              <a:t>NT A</a:t>
            </a:r>
            <a:r>
              <a:rPr lang="zh-CN" altLang="en-US" sz="2400" dirty="0"/>
              <a:t>有一个继承属性</a:t>
            </a:r>
            <a:r>
              <a:rPr lang="en-US" altLang="zh-CN" sz="2400" dirty="0" err="1"/>
              <a:t>A.i</a:t>
            </a:r>
            <a:r>
              <a:rPr lang="zh-CN" altLang="en-US" sz="2400" dirty="0"/>
              <a:t>，每个语法符号</a:t>
            </a:r>
            <a:r>
              <a:rPr lang="en-US" altLang="zh-CN" sz="2400" dirty="0"/>
              <a:t>X</a:t>
            </a:r>
            <a:r>
              <a:rPr lang="zh-CN" altLang="en-US" sz="2400" dirty="0"/>
              <a:t>有一个综合属性</a:t>
            </a:r>
            <a:r>
              <a:rPr lang="en-US" altLang="zh-CN" sz="2400" dirty="0"/>
              <a:t>X.s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若</a:t>
            </a:r>
            <a:r>
              <a:rPr lang="en-US" altLang="zh-CN" sz="2400" dirty="0"/>
              <a:t>X</a:t>
            </a:r>
            <a:r>
              <a:rPr lang="zh-CN" altLang="en-US" sz="2400" dirty="0"/>
              <a:t>为</a:t>
            </a:r>
            <a:r>
              <a:rPr lang="en-US" altLang="zh-CN" sz="2400" dirty="0"/>
              <a:t>T</a:t>
            </a:r>
            <a:r>
              <a:rPr lang="zh-CN" altLang="en-US" sz="2400" dirty="0"/>
              <a:t>，</a:t>
            </a:r>
            <a:r>
              <a:rPr lang="en-US" altLang="zh-CN" sz="2400" dirty="0"/>
              <a:t>X.s</a:t>
            </a:r>
            <a:r>
              <a:rPr lang="zh-CN" altLang="en-US" sz="2400" dirty="0"/>
              <a:t>为词法值，保存在属性栈</a:t>
            </a:r>
            <a:r>
              <a:rPr lang="en-US" altLang="zh-CN" sz="2400" dirty="0" err="1"/>
              <a:t>val</a:t>
            </a:r>
            <a:r>
              <a:rPr lang="zh-CN" altLang="en-US" sz="2400" dirty="0"/>
              <a:t>中</a:t>
            </a:r>
          </a:p>
          <a:p>
            <a:pPr marL="533400" indent="-533400"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对每个产生式</a:t>
            </a:r>
            <a:r>
              <a:rPr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X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，引入</a:t>
            </a:r>
            <a:r>
              <a:rPr kumimoji="0" lang="en-US" altLang="zh-CN" sz="2400" dirty="0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个标记</a:t>
            </a:r>
            <a:r>
              <a:rPr kumimoji="0" lang="en-US" altLang="zh-CN" sz="2400" dirty="0">
                <a:sym typeface="Symbol" panose="05050102010706020507" pitchFamily="18" charset="2"/>
              </a:rPr>
              <a:t>NT 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, …, 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n</a:t>
            </a:r>
            <a:r>
              <a:rPr kumimoji="0" lang="en-US" altLang="zh-CN" sz="2400" dirty="0">
                <a:sym typeface="Wingdings" panose="05000000000000000000" pitchFamily="2" charset="2"/>
              </a:rPr>
              <a:t></a:t>
            </a:r>
            <a:r>
              <a:rPr kumimoji="0" lang="zh-CN" altLang="en-US" sz="2400" dirty="0">
                <a:sym typeface="Symbol" panose="05050102010706020507" pitchFamily="18" charset="2"/>
              </a:rPr>
              <a:t>产生式变为</a:t>
            </a:r>
            <a:r>
              <a:rPr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endParaRPr kumimoji="0" lang="en-US" altLang="zh-CN" sz="2400" baseline="-25000" dirty="0">
              <a:sym typeface="Symbol" panose="05050102010706020507" pitchFamily="18" charset="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综合属性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.s</a:t>
            </a:r>
            <a:r>
              <a:rPr kumimoji="0" lang="zh-CN" altLang="en-US" sz="2400" dirty="0">
                <a:sym typeface="Symbol" panose="05050102010706020507" pitchFamily="18" charset="2"/>
              </a:rPr>
              <a:t>保存在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val</a:t>
            </a:r>
            <a:r>
              <a:rPr kumimoji="0" lang="zh-CN" altLang="en-US" sz="2400" dirty="0">
                <a:sym typeface="Symbol" panose="05050102010706020507" pitchFamily="18" charset="2"/>
              </a:rPr>
              <a:t>栈，与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相关联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继承属性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.i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）也保存在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val</a:t>
            </a:r>
            <a:r>
              <a:rPr kumimoji="0" lang="zh-CN" altLang="en-US" sz="2400" dirty="0">
                <a:sym typeface="Symbol" panose="05050102010706020507" pitchFamily="18" charset="2"/>
              </a:rPr>
              <a:t>栈中，但是作为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来保存的</a:t>
            </a:r>
            <a:endParaRPr kumimoji="0" lang="zh-CN" altLang="en-US" sz="2400" baseline="-25000" dirty="0">
              <a:sym typeface="Symbol" panose="05050102010706020507" pitchFamily="18" charset="2"/>
            </a:endParaRP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17B1B376-1578-4D07-8872-0183285B90B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6200" y="3200400"/>
            <a:ext cx="1066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</a:rPr>
              <a:t>分析</a:t>
            </a:r>
            <a:r>
              <a:rPr lang="en-US" altLang="zh-CN" sz="2000">
                <a:solidFill>
                  <a:srgbClr val="FF3300"/>
                </a:solidFill>
              </a:rPr>
              <a:t>X</a:t>
            </a:r>
            <a:r>
              <a:rPr lang="en-US" altLang="zh-CN" sz="2000" baseline="-25000">
                <a:solidFill>
                  <a:srgbClr val="FF3300"/>
                </a:solidFill>
              </a:rPr>
              <a:t>j</a:t>
            </a:r>
            <a:r>
              <a:rPr lang="zh-CN" altLang="en-US" sz="2000">
                <a:solidFill>
                  <a:srgbClr val="FF3300"/>
                </a:solidFill>
              </a:rPr>
              <a:t>之前，</a:t>
            </a:r>
            <a:r>
              <a:rPr lang="en-US" altLang="zh-CN" sz="2000">
                <a:solidFill>
                  <a:srgbClr val="FF3300"/>
                </a:solidFill>
              </a:rPr>
              <a:t>X</a:t>
            </a:r>
            <a:r>
              <a:rPr lang="en-US" altLang="zh-CN" sz="2000" baseline="-25000">
                <a:solidFill>
                  <a:srgbClr val="FF3300"/>
                </a:solidFill>
              </a:rPr>
              <a:t>j</a:t>
            </a:r>
            <a:r>
              <a:rPr lang="en-US" altLang="zh-CN" sz="2000">
                <a:solidFill>
                  <a:srgbClr val="FF3300"/>
                </a:solidFill>
              </a:rPr>
              <a:t>.i</a:t>
            </a:r>
            <a:r>
              <a:rPr lang="zh-CN" altLang="en-US" sz="2000">
                <a:solidFill>
                  <a:srgbClr val="FF3300"/>
                </a:solidFill>
              </a:rPr>
              <a:t>已经在栈中</a:t>
            </a:r>
          </a:p>
        </p:txBody>
      </p:sp>
      <p:sp>
        <p:nvSpPr>
          <p:cNvPr id="87045" name="Freeform 5">
            <a:extLst>
              <a:ext uri="{FF2B5EF4-FFF2-40B4-BE49-F238E27FC236}">
                <a16:creationId xmlns:a16="http://schemas.microsoft.com/office/drawing/2014/main" id="{CF5559DD-20EB-4407-A44C-7BC2F1DDE333}"/>
              </a:ext>
            </a:extLst>
          </p:cNvPr>
          <p:cNvSpPr>
            <a:spLocks/>
          </p:cNvSpPr>
          <p:nvPr/>
        </p:nvSpPr>
        <p:spPr bwMode="ltGray">
          <a:xfrm>
            <a:off x="482600" y="4419600"/>
            <a:ext cx="889000" cy="990600"/>
          </a:xfrm>
          <a:custGeom>
            <a:avLst/>
            <a:gdLst>
              <a:gd name="T0" fmla="*/ 201612500 w 560"/>
              <a:gd name="T1" fmla="*/ 0 h 624"/>
              <a:gd name="T2" fmla="*/ 201612500 w 560"/>
              <a:gd name="T3" fmla="*/ 967740000 h 624"/>
              <a:gd name="T4" fmla="*/ 1411287500 w 560"/>
              <a:gd name="T5" fmla="*/ 157257750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0" h="624">
                <a:moveTo>
                  <a:pt x="80" y="0"/>
                </a:moveTo>
                <a:cubicBezTo>
                  <a:pt x="40" y="140"/>
                  <a:pt x="0" y="280"/>
                  <a:pt x="80" y="384"/>
                </a:cubicBezTo>
                <a:cubicBezTo>
                  <a:pt x="160" y="488"/>
                  <a:pt x="360" y="556"/>
                  <a:pt x="560" y="624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DF3C736-C748-4C86-B0CE-960159BD1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5.3</a:t>
            </a:r>
            <a:r>
              <a:rPr lang="zh-CN" altLang="en-US"/>
              <a:t>：（续）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EBF3014-87A9-48DD-B596-AFC9BA0DF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 startAt="6"/>
            </a:pPr>
            <a:r>
              <a:rPr kumimoji="0" lang="zh-CN" altLang="en-US" sz="2400" dirty="0"/>
              <a:t>分析过程中，</a:t>
            </a:r>
            <a:r>
              <a:rPr kumimoji="0" lang="en-US" altLang="zh-CN" sz="2400" dirty="0" err="1"/>
              <a:t>A.i</a:t>
            </a:r>
            <a:r>
              <a:rPr kumimoji="0" lang="zh-CN" altLang="en-US" sz="2400" dirty="0"/>
              <a:t>在栈中始终紧挨在</a:t>
            </a:r>
            <a:r>
              <a:rPr kumimoji="0" lang="en-US" altLang="zh-CN" sz="2400" dirty="0"/>
              <a:t>M</a:t>
            </a:r>
            <a:r>
              <a:rPr kumimoji="0" lang="en-US" altLang="zh-CN" sz="2400" baseline="-25000" dirty="0"/>
              <a:t>1</a:t>
            </a:r>
            <a:r>
              <a:rPr kumimoji="0" lang="zh-CN" altLang="en-US" sz="2400" dirty="0"/>
              <a:t>之下。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 startAt="6"/>
            </a:pPr>
            <a:r>
              <a:rPr kumimoji="0" lang="zh-CN" altLang="en-US" sz="2400" dirty="0"/>
              <a:t>考虑分析过程中的两种情况：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一、归约为</a:t>
            </a:r>
            <a:r>
              <a:rPr kumimoji="0" lang="en-US" altLang="zh-CN" sz="2400" dirty="0" err="1"/>
              <a:t>M</a:t>
            </a:r>
            <a:r>
              <a:rPr kumimoji="0" lang="en-US" altLang="zh-CN" sz="2400" baseline="-25000" dirty="0" err="1"/>
              <a:t>j</a:t>
            </a:r>
            <a:endParaRPr kumimoji="0" lang="en-US" altLang="zh-CN" sz="2400" dirty="0"/>
          </a:p>
          <a:p>
            <a:pPr marL="1028700" lvl="1" indent="-457200" eaLnBrk="1" hangingPunct="1">
              <a:spcBef>
                <a:spcPct val="0"/>
              </a:spcBef>
            </a:pPr>
            <a:r>
              <a:rPr kumimoji="0" lang="zh-CN" altLang="en-US" sz="2000" dirty="0"/>
              <a:t>可知它所属产生式</a:t>
            </a:r>
            <a:r>
              <a:rPr kumimoji="0" lang="zh-CN" altLang="en-US" sz="2000" dirty="0">
                <a:sym typeface="Wingdings" panose="05000000000000000000" pitchFamily="2" charset="2"/>
              </a:rPr>
              <a:t></a:t>
            </a:r>
            <a:r>
              <a:rPr kumimoji="0" lang="zh-CN" altLang="en-US" sz="2000" dirty="0"/>
              <a:t>可知计算</a:t>
            </a:r>
            <a:r>
              <a:rPr kumimoji="0" lang="en-US" altLang="zh-CN" sz="2000" dirty="0" err="1"/>
              <a:t>X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 err="1"/>
              <a:t>.i</a:t>
            </a:r>
            <a:r>
              <a:rPr kumimoji="0" lang="zh-CN" altLang="en-US" sz="2000" dirty="0"/>
              <a:t>（</a:t>
            </a:r>
            <a:r>
              <a:rPr kumimoji="0" lang="en-US" altLang="zh-CN" sz="2000" dirty="0" err="1"/>
              <a:t>M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 err="1"/>
              <a:t>.s</a:t>
            </a:r>
            <a:r>
              <a:rPr kumimoji="0" lang="zh-CN" altLang="en-US" sz="2000" dirty="0"/>
              <a:t>）所需属性值位置</a:t>
            </a:r>
          </a:p>
          <a:p>
            <a:pPr marL="1028700" lvl="1" indent="-457200" eaLnBrk="1" hangingPunct="1"/>
            <a:r>
              <a:rPr kumimoji="0" lang="en-US" altLang="zh-CN" sz="2000" dirty="0" err="1"/>
              <a:t>A.i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[top-2j+2]</a:t>
            </a:r>
            <a:r>
              <a:rPr kumimoji="0" lang="zh-CN" altLang="en-US" sz="2000" dirty="0"/>
              <a:t>，</a:t>
            </a:r>
            <a:br>
              <a:rPr kumimoji="0" lang="en-US" altLang="zh-CN" sz="2000" dirty="0"/>
            </a:b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.i(M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.s)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[top-2j+3]</a:t>
            </a:r>
            <a:r>
              <a:rPr kumimoji="0" lang="zh-CN" altLang="en-US" sz="2000" dirty="0"/>
              <a:t>，</a:t>
            </a: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.s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[top-2j+4]</a:t>
            </a:r>
            <a:r>
              <a:rPr kumimoji="0" lang="zh-CN" altLang="en-US" sz="2000" dirty="0"/>
              <a:t>，</a:t>
            </a:r>
            <a:br>
              <a:rPr kumimoji="0" lang="en-US" altLang="zh-CN" sz="2000" dirty="0"/>
            </a:br>
            <a:r>
              <a:rPr kumimoji="0" lang="en-US" altLang="zh-CN" sz="2000" dirty="0"/>
              <a:t>…</a:t>
            </a:r>
            <a:r>
              <a:rPr kumimoji="0" lang="zh-CN" altLang="en-US" sz="2000" dirty="0"/>
              <a:t> ，</a:t>
            </a:r>
            <a:br>
              <a:rPr kumimoji="0" lang="en-US" altLang="zh-CN" sz="2000" dirty="0"/>
            </a:b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j-1</a:t>
            </a:r>
            <a:r>
              <a:rPr kumimoji="0" lang="en-US" altLang="zh-CN" sz="2000" dirty="0"/>
              <a:t>.i(M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.s)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[top-1]</a:t>
            </a:r>
            <a:r>
              <a:rPr kumimoji="0" lang="zh-CN" altLang="en-US" sz="2000" dirty="0"/>
              <a:t>，</a:t>
            </a: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j-1</a:t>
            </a:r>
            <a:r>
              <a:rPr kumimoji="0" lang="en-US" altLang="zh-CN" sz="2000" dirty="0"/>
              <a:t>.s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[top]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二、归约为其他</a:t>
            </a:r>
            <a:r>
              <a:rPr kumimoji="0" lang="en-US" altLang="zh-CN" sz="2400" dirty="0"/>
              <a:t>NT</a:t>
            </a:r>
          </a:p>
          <a:p>
            <a:pPr marL="1028700" lvl="1" indent="-457200" eaLnBrk="1" hangingPunct="1"/>
            <a:r>
              <a:rPr kumimoji="0" lang="zh-CN" altLang="en-US" sz="2000" dirty="0"/>
              <a:t>仅需计算</a:t>
            </a:r>
            <a:r>
              <a:rPr kumimoji="0" lang="en-US" altLang="zh-CN" sz="2000" dirty="0" err="1"/>
              <a:t>A.s</a:t>
            </a:r>
            <a:r>
              <a:rPr kumimoji="0" lang="en-US" altLang="zh-CN" sz="2000" dirty="0" err="1">
                <a:sym typeface="Wingdings" panose="05000000000000000000" pitchFamily="2" charset="2"/>
              </a:rPr>
              <a:t></a:t>
            </a:r>
            <a:r>
              <a:rPr kumimoji="0" lang="en-US" altLang="zh-CN" sz="2000" dirty="0" err="1"/>
              <a:t>A.i</a:t>
            </a:r>
            <a:r>
              <a:rPr kumimoji="0" lang="zh-CN" altLang="en-US" sz="2000" dirty="0"/>
              <a:t>和</a:t>
            </a:r>
            <a:r>
              <a:rPr kumimoji="0" lang="en-US" altLang="zh-CN" sz="2000" dirty="0" err="1"/>
              <a:t>X</a:t>
            </a:r>
            <a:r>
              <a:rPr kumimoji="0" lang="en-US" altLang="zh-CN" sz="2000" baseline="-25000" dirty="0" err="1"/>
              <a:t>j</a:t>
            </a:r>
            <a:r>
              <a:rPr kumimoji="0" lang="zh-CN" altLang="en-US" sz="2000" dirty="0"/>
              <a:t>的属性的位置是可知的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注意两点：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1. </a:t>
            </a:r>
            <a:r>
              <a:rPr kumimoji="0" lang="zh-CN" altLang="en-US" sz="2400" dirty="0"/>
              <a:t>若</a:t>
            </a:r>
            <a:r>
              <a:rPr kumimoji="0" lang="en-US" altLang="zh-CN" sz="2400" dirty="0" err="1"/>
              <a:t>X</a:t>
            </a:r>
            <a:r>
              <a:rPr kumimoji="0" lang="en-US" altLang="zh-CN" sz="2400" baseline="-25000" dirty="0" err="1"/>
              <a:t>j</a:t>
            </a:r>
            <a:r>
              <a:rPr kumimoji="0" lang="zh-CN" altLang="en-US" sz="2400" dirty="0"/>
              <a:t>无继承属性，则不需要</a:t>
            </a:r>
            <a:r>
              <a:rPr kumimoji="0" lang="en-US" altLang="zh-CN" sz="2400" dirty="0" err="1"/>
              <a:t>M</a:t>
            </a:r>
            <a:r>
              <a:rPr kumimoji="0" lang="en-US" altLang="zh-CN" sz="2400" baseline="-25000" dirty="0" err="1"/>
              <a:t>j</a:t>
            </a:r>
            <a:endParaRPr kumimoji="0" lang="en-US" altLang="zh-CN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2. </a:t>
            </a:r>
            <a:r>
              <a:rPr kumimoji="0" lang="zh-CN" altLang="en-US" sz="2400" dirty="0"/>
              <a:t>若</a:t>
            </a:r>
            <a:r>
              <a:rPr kumimoji="0" lang="en-US" altLang="zh-CN" sz="2400" dirty="0"/>
              <a:t>X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.i</a:t>
            </a:r>
            <a:r>
              <a:rPr kumimoji="0" lang="zh-CN" altLang="en-US" sz="2400" dirty="0"/>
              <a:t>存在，但</a:t>
            </a:r>
            <a:r>
              <a:rPr kumimoji="0" lang="en-US" altLang="zh-CN" sz="2400" dirty="0"/>
              <a:t>X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.i=</a:t>
            </a:r>
            <a:r>
              <a:rPr kumimoji="0" lang="en-US" altLang="zh-CN" sz="2400" dirty="0" err="1"/>
              <a:t>A.i</a:t>
            </a:r>
            <a:r>
              <a:rPr kumimoji="0" lang="zh-CN" altLang="en-US" sz="2400" dirty="0"/>
              <a:t>，则不需要</a:t>
            </a:r>
            <a:r>
              <a:rPr kumimoji="0" lang="en-US" altLang="zh-CN" sz="2400" dirty="0"/>
              <a:t>M</a:t>
            </a:r>
            <a:r>
              <a:rPr kumimoji="0" lang="en-US" altLang="zh-CN" sz="2400" baseline="-25000" dirty="0"/>
              <a:t>1</a:t>
            </a:r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01CBC978-6FA7-4BE3-B01E-F2AC383E444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3910" y="1621064"/>
            <a:ext cx="1295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</a:rPr>
              <a:t>A</a:t>
            </a:r>
            <a:r>
              <a:rPr lang="zh-CN" altLang="en-US" sz="2000" dirty="0">
                <a:solidFill>
                  <a:srgbClr val="FF3300"/>
                </a:solidFill>
              </a:rPr>
              <a:t>之前的标记</a:t>
            </a:r>
            <a:r>
              <a:rPr lang="en-US" altLang="zh-CN" sz="2000" dirty="0">
                <a:solidFill>
                  <a:srgbClr val="FF3300"/>
                </a:solidFill>
              </a:rPr>
              <a:t>NT M</a:t>
            </a:r>
            <a:r>
              <a:rPr lang="zh-CN" altLang="en-US" sz="2000" dirty="0">
                <a:solidFill>
                  <a:srgbClr val="FF3300"/>
                </a:solidFill>
              </a:rPr>
              <a:t>（</a:t>
            </a:r>
            <a:r>
              <a:rPr lang="en-US" altLang="zh-CN" sz="2000" dirty="0">
                <a:solidFill>
                  <a:srgbClr val="FF3300"/>
                </a:solidFill>
              </a:rPr>
              <a:t>A</a:t>
            </a:r>
            <a:r>
              <a:rPr lang="zh-CN" altLang="en-US" sz="2000" dirty="0">
                <a:solidFill>
                  <a:srgbClr val="FF3300"/>
                </a:solidFill>
              </a:rPr>
              <a:t>在右部的产生式），</a:t>
            </a:r>
            <a:r>
              <a:rPr lang="en-US" altLang="zh-CN" sz="2000" dirty="0">
                <a:solidFill>
                  <a:srgbClr val="FF3300"/>
                </a:solidFill>
              </a:rPr>
              <a:t>M.s(</a:t>
            </a:r>
            <a:r>
              <a:rPr lang="en-US" altLang="zh-CN" sz="2000" dirty="0" err="1">
                <a:solidFill>
                  <a:srgbClr val="FF3300"/>
                </a:solidFill>
              </a:rPr>
              <a:t>A.i</a:t>
            </a:r>
            <a:r>
              <a:rPr lang="en-US" altLang="zh-CN" sz="2000" dirty="0">
                <a:solidFill>
                  <a:srgbClr val="FF3300"/>
                </a:solidFill>
              </a:rPr>
              <a:t>)</a:t>
            </a:r>
            <a:r>
              <a:rPr lang="zh-CN" altLang="en-US" sz="2000" dirty="0">
                <a:solidFill>
                  <a:srgbClr val="FF3300"/>
                </a:solidFill>
              </a:rPr>
              <a:t>已在栈中</a:t>
            </a:r>
          </a:p>
        </p:txBody>
      </p:sp>
      <p:sp>
        <p:nvSpPr>
          <p:cNvPr id="88069" name="Freeform 5">
            <a:extLst>
              <a:ext uri="{FF2B5EF4-FFF2-40B4-BE49-F238E27FC236}">
                <a16:creationId xmlns:a16="http://schemas.microsoft.com/office/drawing/2014/main" id="{E05580CC-17D9-49F5-898D-35AF2D46E617}"/>
              </a:ext>
            </a:extLst>
          </p:cNvPr>
          <p:cNvSpPr>
            <a:spLocks/>
          </p:cNvSpPr>
          <p:nvPr/>
        </p:nvSpPr>
        <p:spPr bwMode="ltGray">
          <a:xfrm>
            <a:off x="584200" y="3429000"/>
            <a:ext cx="1597025" cy="373063"/>
          </a:xfrm>
          <a:custGeom>
            <a:avLst/>
            <a:gdLst>
              <a:gd name="T0" fmla="*/ 0 w 1006"/>
              <a:gd name="T1" fmla="*/ 0 h 235"/>
              <a:gd name="T2" fmla="*/ 791329063 w 1006"/>
              <a:gd name="T3" fmla="*/ 587197987 h 235"/>
              <a:gd name="T4" fmla="*/ 2147483646 w 1006"/>
              <a:gd name="T5" fmla="*/ 27722550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6" h="235">
                <a:moveTo>
                  <a:pt x="0" y="0"/>
                </a:moveTo>
                <a:cubicBezTo>
                  <a:pt x="52" y="39"/>
                  <a:pt x="146" y="231"/>
                  <a:pt x="314" y="233"/>
                </a:cubicBezTo>
                <a:cubicBezTo>
                  <a:pt x="482" y="235"/>
                  <a:pt x="862" y="57"/>
                  <a:pt x="1006" y="1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19650A2-2B55-4ABD-815E-A46DD73E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5.6.4  </a:t>
            </a:r>
            <a:r>
              <a:rPr lang="zh-CN" altLang="en-US"/>
              <a:t>用综合属性代替继承属性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B47BAB74-68E3-404D-8240-2016D5511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改写语法，如</a:t>
            </a:r>
            <a:r>
              <a:rPr lang="en-US" altLang="zh-CN" sz="2800" dirty="0"/>
              <a:t>Pascal</a:t>
            </a:r>
            <a:r>
              <a:rPr lang="zh-CN" altLang="en-US" sz="2800" dirty="0"/>
              <a:t>变量定义 </a:t>
            </a:r>
            <a:r>
              <a:rPr lang="en-US" altLang="zh-CN" sz="2800" dirty="0" err="1"/>
              <a:t>m,n:integer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/>
              <a:t>D </a:t>
            </a:r>
            <a:r>
              <a:rPr kumimoji="0" lang="en-US" altLang="zh-CN" sz="2400" dirty="0">
                <a:sym typeface="Symbol" panose="05050102010706020507" pitchFamily="18" charset="2"/>
              </a:rPr>
              <a:t> L : T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T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integer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char</a:t>
            </a:r>
            <a:endParaRPr kumimoji="0"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L  L ,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变量由</a:t>
            </a:r>
            <a:r>
              <a:rPr lang="en-US" altLang="zh-CN" sz="2800" dirty="0"/>
              <a:t>L</a:t>
            </a:r>
            <a:r>
              <a:rPr lang="zh-CN" altLang="en-US" sz="2800" dirty="0"/>
              <a:t>产生，但类型不在</a:t>
            </a:r>
            <a:r>
              <a:rPr lang="en-US" altLang="zh-CN" sz="2800" dirty="0"/>
              <a:t>L</a:t>
            </a:r>
            <a:r>
              <a:rPr lang="zh-CN" altLang="en-US" sz="2800" dirty="0"/>
              <a:t>的子树中</a:t>
            </a:r>
            <a:r>
              <a:rPr lang="en-US" altLang="zh-CN" sz="2800" dirty="0"/>
              <a:t>——</a:t>
            </a:r>
            <a:r>
              <a:rPr lang="zh-CN" altLang="en-US" sz="2800" dirty="0"/>
              <a:t>需用继承属性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可改写为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/>
              <a:t>D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 L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L  ,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dirty="0">
                <a:sym typeface="Symbol" panose="05050102010706020507" pitchFamily="18" charset="2"/>
              </a:rPr>
              <a:t>L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 </a:t>
            </a:r>
            <a:r>
              <a:rPr kumimoji="0" lang="en-US" altLang="zh-CN" sz="2400" dirty="0">
                <a:sym typeface="Symbol" panose="05050102010706020507" pitchFamily="18" charset="2"/>
              </a:rPr>
              <a:t>: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T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T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integer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char</a:t>
            </a:r>
            <a:endParaRPr kumimoji="0"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/>
              <a:t>类型即可用</a:t>
            </a:r>
            <a:r>
              <a:rPr lang="en-US" altLang="zh-CN" sz="2800" dirty="0"/>
              <a:t>L</a:t>
            </a:r>
            <a:r>
              <a:rPr lang="zh-CN" altLang="en-US" sz="2800" dirty="0"/>
              <a:t>的一个综合属性表示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47F8A890-50BA-4310-ADE8-94B5CD686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Yacc</a:t>
            </a:r>
            <a:r>
              <a:rPr lang="zh-CN" altLang="en-US"/>
              <a:t>中计算属性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AD90004-24FD-4CA2-9AC8-0E3BB6DAB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A  → X    Y    { A.a = f(X.x, Y.y); }</a:t>
            </a:r>
            <a:br>
              <a:rPr lang="en-US" altLang="zh-CN" sz="2800"/>
            </a:br>
            <a:r>
              <a:rPr lang="en-US" altLang="zh-CN" sz="2800">
                <a:solidFill>
                  <a:srgbClr val="FF3300"/>
                </a:solidFill>
              </a:rPr>
              <a:t>$$      $1   $2   { $$ = f($1, $2); }</a:t>
            </a:r>
            <a:br>
              <a:rPr lang="en-US" altLang="zh-CN" sz="2800">
                <a:solidFill>
                  <a:srgbClr val="FF3300"/>
                </a:solidFill>
              </a:rPr>
            </a:br>
            <a:r>
              <a:rPr lang="zh-CN" altLang="en-US" sz="2800">
                <a:solidFill>
                  <a:srgbClr val="FF3300"/>
                </a:solidFill>
              </a:rPr>
              <a:t>栈：</a:t>
            </a:r>
            <a:r>
              <a:rPr lang="en-US" altLang="zh-CN" sz="2800">
                <a:solidFill>
                  <a:srgbClr val="FF3300"/>
                </a:solidFill>
              </a:rPr>
              <a:t>…, [X, $1], [Y, $2]</a:t>
            </a:r>
            <a:r>
              <a:rPr lang="en-US" altLang="zh-CN" sz="2800">
                <a:solidFill>
                  <a:srgbClr val="FF3300"/>
                </a:solidFill>
                <a:sym typeface="Wingdings" panose="05000000000000000000" pitchFamily="2" charset="2"/>
              </a:rPr>
              <a:t>…, [A, $$]</a:t>
            </a:r>
            <a:endParaRPr lang="en-US" altLang="zh-CN" sz="280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sz="2800"/>
              <a:t>YYSTYPE</a:t>
            </a:r>
            <a:r>
              <a:rPr lang="zh-CN" altLang="en-US" sz="2800"/>
              <a:t>：属性类型</a:t>
            </a:r>
          </a:p>
          <a:p>
            <a:pPr eaLnBrk="1" hangingPunct="1"/>
            <a:r>
              <a:rPr lang="zh-CN" altLang="en-US" sz="2800"/>
              <a:t>继承属性如何获得？</a:t>
            </a:r>
          </a:p>
          <a:p>
            <a:pPr eaLnBrk="1" hangingPunct="1"/>
            <a:r>
              <a:rPr lang="en-US" altLang="zh-CN" sz="2800"/>
              <a:t>…, $-2, $-1, $0——</a:t>
            </a:r>
            <a:br>
              <a:rPr lang="en-US" altLang="zh-CN" sz="2800"/>
            </a:br>
            <a:r>
              <a:rPr lang="zh-CN" altLang="en-US" sz="2800"/>
              <a:t>栈中</a:t>
            </a:r>
            <a:r>
              <a:rPr lang="en-US" altLang="zh-CN" sz="2800"/>
              <a:t>XYZ</a:t>
            </a:r>
            <a:r>
              <a:rPr lang="zh-CN" altLang="en-US" sz="2800"/>
              <a:t>之下符号（</a:t>
            </a:r>
            <a:r>
              <a:rPr lang="en-US" altLang="zh-CN" sz="2800"/>
              <a:t>A</a:t>
            </a:r>
            <a:r>
              <a:rPr lang="zh-CN" altLang="en-US" sz="2800"/>
              <a:t>的兄弟）的属性！</a:t>
            </a:r>
          </a:p>
          <a:p>
            <a:pPr eaLnBrk="1" hangingPunct="1"/>
            <a:r>
              <a:rPr lang="zh-CN" altLang="en-US" sz="2800"/>
              <a:t>小心使用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62A3A29-901C-4757-AB63-1ABDEA73A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Yacc</a:t>
            </a:r>
            <a:r>
              <a:rPr lang="zh-CN" altLang="en-US"/>
              <a:t>中计算属性（续）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7717A7AD-B680-4927-8717-7AF65DC42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886200"/>
            <a:ext cx="3429000" cy="99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 : int { $$ = $1;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 : id { addtype($1, $0); }</a:t>
            </a:r>
          </a:p>
        </p:txBody>
      </p:sp>
      <p:sp>
        <p:nvSpPr>
          <p:cNvPr id="92164" name="Line 4">
            <a:extLst>
              <a:ext uri="{FF2B5EF4-FFF2-40B4-BE49-F238E27FC236}">
                <a16:creationId xmlns:a16="http://schemas.microsoft.com/office/drawing/2014/main" id="{73EB6464-3762-45B7-B089-BB19552F6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Line 5">
            <a:extLst>
              <a:ext uri="{FF2B5EF4-FFF2-40B4-BE49-F238E27FC236}">
                <a16:creationId xmlns:a16="http://schemas.microsoft.com/office/drawing/2014/main" id="{40B9DAB0-52EF-45DA-9EE7-A596D1288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6">
            <a:extLst>
              <a:ext uri="{FF2B5EF4-FFF2-40B4-BE49-F238E27FC236}">
                <a16:creationId xmlns:a16="http://schemas.microsoft.com/office/drawing/2014/main" id="{FB312273-0C83-4516-B1FB-85EFB1A0C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Line 7">
            <a:extLst>
              <a:ext uri="{FF2B5EF4-FFF2-40B4-BE49-F238E27FC236}">
                <a16:creationId xmlns:a16="http://schemas.microsoft.com/office/drawing/2014/main" id="{6099E6BC-4864-41B8-86B7-BF5453D78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733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>
            <a:extLst>
              <a:ext uri="{FF2B5EF4-FFF2-40B4-BE49-F238E27FC236}">
                <a16:creationId xmlns:a16="http://schemas.microsoft.com/office/drawing/2014/main" id="{36320949-5EDD-4A30-A243-0BC718738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4478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05" name="Text Box 9">
            <a:extLst>
              <a:ext uri="{FF2B5EF4-FFF2-40B4-BE49-F238E27FC236}">
                <a16:creationId xmlns:a16="http://schemas.microsoft.com/office/drawing/2014/main" id="{F826572D-F96E-4097-901B-7DB42EB7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08660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</a:rPr>
              <a:t>D 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			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 	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0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        L</a:t>
            </a:r>
            <a:r>
              <a:rPr kumimoji="0" lang="en-US" altLang="zh-CN" sz="20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0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2170" name="Text Box 10">
            <a:extLst>
              <a:ext uri="{FF2B5EF4-FFF2-40B4-BE49-F238E27FC236}">
                <a16:creationId xmlns:a16="http://schemas.microsoft.com/office/drawing/2014/main" id="{C2C64D5B-20FE-4B44-8E20-886D56968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288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1800" b="1"/>
          </a:p>
        </p:txBody>
      </p:sp>
      <p:sp>
        <p:nvSpPr>
          <p:cNvPr id="92171" name="Text Box 11">
            <a:extLst>
              <a:ext uri="{FF2B5EF4-FFF2-40B4-BE49-F238E27FC236}">
                <a16:creationId xmlns:a16="http://schemas.microsoft.com/office/drawing/2014/main" id="{177390F3-B00E-426C-893B-3E40786D5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4478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 b="1"/>
              <a:t>产生式</a:t>
            </a:r>
          </a:p>
        </p:txBody>
      </p:sp>
      <p:sp>
        <p:nvSpPr>
          <p:cNvPr id="92172" name="Text Box 12">
            <a:extLst>
              <a:ext uri="{FF2B5EF4-FFF2-40B4-BE49-F238E27FC236}">
                <a16:creationId xmlns:a16="http://schemas.microsoft.com/office/drawing/2014/main" id="{A6A538A1-BF9B-431C-9C4F-EF3F517B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478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 b="1"/>
              <a:t>语义动作</a:t>
            </a:r>
          </a:p>
        </p:txBody>
      </p:sp>
      <p:sp>
        <p:nvSpPr>
          <p:cNvPr id="92173" name="Rectangle 13">
            <a:extLst>
              <a:ext uri="{FF2B5EF4-FFF2-40B4-BE49-F238E27FC236}">
                <a16:creationId xmlns:a16="http://schemas.microsoft.com/office/drawing/2014/main" id="{0BF0B91C-FFEE-4140-B172-C99FDE58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86200"/>
            <a:ext cx="426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 : int { curr_type = $1;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 : id { addtype($1, curr_type);</a:t>
            </a:r>
          </a:p>
        </p:txBody>
      </p:sp>
      <p:sp>
        <p:nvSpPr>
          <p:cNvPr id="92174" name="Rectangle 14">
            <a:extLst>
              <a:ext uri="{FF2B5EF4-FFF2-40B4-BE49-F238E27FC236}">
                <a16:creationId xmlns:a16="http://schemas.microsoft.com/office/drawing/2014/main" id="{79BE6E85-5579-4B0A-994A-D2E88D75C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800600"/>
            <a:ext cx="99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3300"/>
                </a:solidFill>
              </a:rPr>
              <a:t>T.type</a:t>
            </a:r>
          </a:p>
        </p:txBody>
      </p:sp>
      <p:sp>
        <p:nvSpPr>
          <p:cNvPr id="92175" name="Line 15">
            <a:extLst>
              <a:ext uri="{FF2B5EF4-FFF2-40B4-BE49-F238E27FC236}">
                <a16:creationId xmlns:a16="http://schemas.microsoft.com/office/drawing/2014/main" id="{ED7343D6-8C61-49E5-BCA8-4F22ED710D49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286000" y="4572000"/>
            <a:ext cx="3810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6" name="Rectangle 16">
            <a:extLst>
              <a:ext uri="{FF2B5EF4-FFF2-40B4-BE49-F238E27FC236}">
                <a16:creationId xmlns:a16="http://schemas.microsoft.com/office/drawing/2014/main" id="{C1935C06-C751-4A66-A1A7-76FD3E8EF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76800"/>
            <a:ext cx="144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</a:rPr>
              <a:t>推荐方法</a:t>
            </a:r>
          </a:p>
        </p:txBody>
      </p:sp>
      <p:sp>
        <p:nvSpPr>
          <p:cNvPr id="92177" name="Line 17">
            <a:extLst>
              <a:ext uri="{FF2B5EF4-FFF2-40B4-BE49-F238E27FC236}">
                <a16:creationId xmlns:a16="http://schemas.microsoft.com/office/drawing/2014/main" id="{A1BE7EBA-C28D-4CAD-AA31-274C20F198F5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6934200" y="4648200"/>
            <a:ext cx="457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149BB81-93A1-4B86-9DF2-9C9370FDC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5.7  </a:t>
            </a:r>
            <a:r>
              <a:rPr lang="zh-CN" altLang="en-US"/>
              <a:t>递归方法计算属性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15E6623-31A4-4733-B0CE-E5E2F4600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遍历语法分析树来计算属性，适用那些不能在语法分析同时计算属性的情况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A2122C2F-C81C-4294-A708-F51D24C23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ym typeface="Wingdings" panose="05000000000000000000" pitchFamily="2" charset="2"/>
              </a:rPr>
              <a:t>5.7.1  </a:t>
            </a:r>
            <a:r>
              <a:rPr lang="zh-CN" altLang="en-US">
                <a:sym typeface="Wingdings" panose="05000000000000000000" pitchFamily="2" charset="2"/>
              </a:rPr>
              <a:t>由左至右的访问顺序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111B8AB-A25E-4824-A6D1-E969B0DA3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为每个</a:t>
            </a:r>
            <a:r>
              <a:rPr lang="en-US" altLang="zh-CN" dirty="0"/>
              <a:t>NT</a:t>
            </a:r>
            <a:r>
              <a:rPr lang="zh-CN" altLang="en-US" dirty="0"/>
              <a:t>设计一个递归函数</a:t>
            </a:r>
            <a:endParaRPr lang="en-US" altLang="zh-CN" dirty="0"/>
          </a:p>
          <a:p>
            <a:pPr eaLnBrk="1" hangingPunct="1"/>
            <a:r>
              <a:rPr lang="zh-CN" altLang="en-US" dirty="0"/>
              <a:t>遍历语法树，访问节点</a:t>
            </a:r>
            <a:r>
              <a:rPr lang="en-US" altLang="zh-CN" dirty="0"/>
              <a:t>——</a:t>
            </a:r>
            <a:r>
              <a:rPr lang="zh-CN" altLang="en-US" dirty="0"/>
              <a:t>调用函数</a:t>
            </a:r>
          </a:p>
          <a:p>
            <a:pPr eaLnBrk="1" hangingPunct="1"/>
            <a:r>
              <a:rPr lang="zh-CN" altLang="en-US" dirty="0"/>
              <a:t>在每个节点，由产生式确定其孩子节点</a:t>
            </a:r>
          </a:p>
          <a:p>
            <a:pPr eaLnBrk="1" hangingPunct="1"/>
            <a:r>
              <a:rPr lang="zh-CN" altLang="en-US" dirty="0"/>
              <a:t>孩子节点的处理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语义规则</a:t>
            </a:r>
            <a:r>
              <a:rPr lang="en-US" altLang="zh-CN" dirty="0"/>
              <a:t>/</a:t>
            </a:r>
            <a:r>
              <a:rPr lang="zh-CN" altLang="en-US" dirty="0"/>
              <a:t>语义动作</a:t>
            </a:r>
            <a:r>
              <a:rPr lang="en-US" altLang="zh-CN" dirty="0"/>
              <a:t>——</a:t>
            </a:r>
            <a:r>
              <a:rPr lang="zh-CN" altLang="en-US" dirty="0"/>
              <a:t>直接执行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NT——</a:t>
            </a:r>
            <a:r>
              <a:rPr lang="zh-CN" altLang="en-US" dirty="0"/>
              <a:t>调用递归函数，孩子节点指针、继承属性作为函数参数</a:t>
            </a:r>
          </a:p>
          <a:p>
            <a:pPr lvl="1" eaLnBrk="1" hangingPunct="1"/>
            <a:r>
              <a:rPr lang="zh-CN" altLang="en-US" dirty="0"/>
              <a:t>函数返回值</a:t>
            </a:r>
            <a:r>
              <a:rPr lang="en-US" altLang="zh-CN" dirty="0"/>
              <a:t>——</a:t>
            </a:r>
            <a:r>
              <a:rPr lang="zh-CN" altLang="en-US" dirty="0"/>
              <a:t>综合属性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6FE72D9C-401D-4E0E-8B23-0546257FD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5.20</a:t>
            </a:r>
          </a:p>
        </p:txBody>
      </p:sp>
      <p:sp>
        <p:nvSpPr>
          <p:cNvPr id="95235" name="Line 4">
            <a:extLst>
              <a:ext uri="{FF2B5EF4-FFF2-40B4-BE49-F238E27FC236}">
                <a16:creationId xmlns:a16="http://schemas.microsoft.com/office/drawing/2014/main" id="{4EA9918B-9FD0-4C45-A554-4F598EBAF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6" name="Line 5">
            <a:extLst>
              <a:ext uri="{FF2B5EF4-FFF2-40B4-BE49-F238E27FC236}">
                <a16:creationId xmlns:a16="http://schemas.microsoft.com/office/drawing/2014/main" id="{76683A8B-052F-4382-97BD-815828DD0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Line 6">
            <a:extLst>
              <a:ext uri="{FF2B5EF4-FFF2-40B4-BE49-F238E27FC236}">
                <a16:creationId xmlns:a16="http://schemas.microsoft.com/office/drawing/2014/main" id="{E298A78E-B875-4D13-BA72-14927670F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8" name="Line 7">
            <a:extLst>
              <a:ext uri="{FF2B5EF4-FFF2-40B4-BE49-F238E27FC236}">
                <a16:creationId xmlns:a16="http://schemas.microsoft.com/office/drawing/2014/main" id="{844AD59C-CA5C-41B1-9530-B4FC64C92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5138738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9" name="Line 8">
            <a:extLst>
              <a:ext uri="{FF2B5EF4-FFF2-40B4-BE49-F238E27FC236}">
                <a16:creationId xmlns:a16="http://schemas.microsoft.com/office/drawing/2014/main" id="{F9CD7F84-6277-4704-AEB9-D12F3B353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2675" y="1371600"/>
            <a:ext cx="0" cy="3778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0" name="Text Box 9">
            <a:extLst>
              <a:ext uri="{FF2B5EF4-FFF2-40B4-BE49-F238E27FC236}">
                <a16:creationId xmlns:a16="http://schemas.microsoft.com/office/drawing/2014/main" id="{2B0333C0-5AA6-446A-81D6-3F137510F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1828800"/>
            <a:ext cx="7086600" cy="3345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B			B.ps = 10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S.ht = B.ht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</a:t>
            </a:r>
          </a:p>
        </p:txBody>
      </p:sp>
      <p:sp>
        <p:nvSpPr>
          <p:cNvPr id="95241" name="Text Box 10">
            <a:extLst>
              <a:ext uri="{FF2B5EF4-FFF2-40B4-BE49-F238E27FC236}">
                <a16:creationId xmlns:a16="http://schemas.microsoft.com/office/drawing/2014/main" id="{E498264E-D365-4EEB-9F64-7D9E6E9E1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1752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95242" name="Text Box 11">
            <a:extLst>
              <a:ext uri="{FF2B5EF4-FFF2-40B4-BE49-F238E27FC236}">
                <a16:creationId xmlns:a16="http://schemas.microsoft.com/office/drawing/2014/main" id="{D64488BA-8654-44E9-AA94-FA11F0EFF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1371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95243" name="Text Box 12">
            <a:extLst>
              <a:ext uri="{FF2B5EF4-FFF2-40B4-BE49-F238E27FC236}">
                <a16:creationId xmlns:a16="http://schemas.microsoft.com/office/drawing/2014/main" id="{B05EA8BD-0CF8-4781-BAC3-8457E445C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371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2855ABC7-CC14-4A46-BE03-DCED468AB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5.20  B</a:t>
            </a:r>
            <a:r>
              <a:rPr lang="zh-CN" altLang="en-US" dirty="0"/>
              <a:t>的递归函数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1036FC7D-13CB-42D9-88B9-1994A49C4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B(n, ps)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var</a:t>
            </a:r>
            <a:r>
              <a:rPr lang="en-US" altLang="zh-CN" sz="2000"/>
              <a:t> ps1, ps2, ht1, ht2;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switch</a:t>
            </a:r>
            <a:r>
              <a:rPr lang="en-US" altLang="zh-CN" sz="2000"/>
              <a:t> (</a:t>
            </a:r>
            <a:r>
              <a:rPr lang="zh-CN" altLang="en-US" sz="2000"/>
              <a:t>节点</a:t>
            </a:r>
            <a:r>
              <a:rPr lang="en-US" altLang="zh-CN" sz="2000"/>
              <a:t>n</a:t>
            </a:r>
            <a:r>
              <a:rPr lang="zh-CN" altLang="en-US" sz="2000"/>
              <a:t>所用产生式</a:t>
            </a:r>
            <a:r>
              <a:rPr lang="en-US" altLang="zh-CN" sz="200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2</a:t>
            </a:r>
            <a:r>
              <a:rPr lang="en-US" altLang="zh-CN" sz="2000"/>
              <a:t>”: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ps1 = ps;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ht1 = B(child(n, 1), ps1);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ps2 = ps;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ht2 = B(child(n, 2), ps2);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return</a:t>
            </a:r>
            <a:r>
              <a:rPr lang="en-US" altLang="zh-CN" sz="2000"/>
              <a:t> max(ht1, ht2);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7523B4E1-63C5-4070-A1AD-D5D00D6E9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5.20  B</a:t>
            </a:r>
            <a:r>
              <a:rPr lang="zh-CN" altLang="en-US"/>
              <a:t>对应函数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9DBC929-FA4A-4F69-B673-843DB6CA5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2</a:t>
            </a:r>
            <a:r>
              <a:rPr lang="en-US" altLang="zh-CN" sz="2000"/>
              <a:t>”: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ps1 = ps;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ht1 = B(child(n, 1), ps1);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ps2 = shrink(ps);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ht2 = B(child(n, 3), ps2);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return</a:t>
            </a:r>
            <a:r>
              <a:rPr lang="en-US" altLang="zh-CN" sz="2000"/>
              <a:t> disp(ht1, ht2);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lang="en-US" altLang="zh-CN" sz="2000"/>
              <a:t>”: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return ps*text.h;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default</a:t>
            </a:r>
            <a:r>
              <a:rPr lang="en-US" altLang="zh-CN" sz="200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error</a:t>
            </a:r>
            <a:r>
              <a:rPr lang="en-US" altLang="zh-CN" sz="2000"/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3A29E2E3-DB93-4E5A-82A9-8C8DD2A64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5.7.2  </a:t>
            </a:r>
            <a:r>
              <a:rPr lang="zh-CN" altLang="en-US"/>
              <a:t>其他访问顺序（例</a:t>
            </a:r>
            <a:r>
              <a:rPr lang="en-US" altLang="zh-CN"/>
              <a:t>5.21</a:t>
            </a:r>
            <a:r>
              <a:rPr lang="zh-CN" altLang="en-US"/>
              <a:t>）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049BDBD4-2A41-4DBA-86F2-4843B00BB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4387850"/>
            <a:ext cx="7772400" cy="1676400"/>
          </a:xfrm>
        </p:spPr>
        <p:txBody>
          <a:bodyPr/>
          <a:lstStyle/>
          <a:p>
            <a:pPr eaLnBrk="1" hangingPunct="1"/>
            <a:r>
              <a:rPr lang="zh-CN" altLang="en-US"/>
              <a:t>第一个产生式需要由左至右顺序访问</a:t>
            </a:r>
          </a:p>
          <a:p>
            <a:pPr eaLnBrk="1" hangingPunct="1"/>
            <a:r>
              <a:rPr lang="zh-CN" altLang="en-US"/>
              <a:t>第二个需要由右至左</a:t>
            </a:r>
          </a:p>
        </p:txBody>
      </p:sp>
      <p:sp>
        <p:nvSpPr>
          <p:cNvPr id="98308" name="Line 4">
            <a:extLst>
              <a:ext uri="{FF2B5EF4-FFF2-40B4-BE49-F238E27FC236}">
                <a16:creationId xmlns:a16="http://schemas.microsoft.com/office/drawing/2014/main" id="{DFBDEF59-BC51-4F50-9622-2BCA985E2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09" name="Line 5">
            <a:extLst>
              <a:ext uri="{FF2B5EF4-FFF2-40B4-BE49-F238E27FC236}">
                <a16:creationId xmlns:a16="http://schemas.microsoft.com/office/drawing/2014/main" id="{1D9B39D1-4BA2-4593-96CF-97C19CC56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Line 6">
            <a:extLst>
              <a:ext uri="{FF2B5EF4-FFF2-40B4-BE49-F238E27FC236}">
                <a16:creationId xmlns:a16="http://schemas.microsoft.com/office/drawing/2014/main" id="{FB61174C-86BE-430C-AB80-A21D72B84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Line 7">
            <a:extLst>
              <a:ext uri="{FF2B5EF4-FFF2-40B4-BE49-F238E27FC236}">
                <a16:creationId xmlns:a16="http://schemas.microsoft.com/office/drawing/2014/main" id="{F71FC8C1-C97C-40A8-AB37-44CF3729B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4040188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Line 8">
            <a:extLst>
              <a:ext uri="{FF2B5EF4-FFF2-40B4-BE49-F238E27FC236}">
                <a16:creationId xmlns:a16="http://schemas.microsoft.com/office/drawing/2014/main" id="{7D0A9C5F-0638-4FCF-9DDC-E8323B32B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2675" y="1339850"/>
            <a:ext cx="0" cy="2698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Text Box 9">
            <a:extLst>
              <a:ext uri="{FF2B5EF4-FFF2-40B4-BE49-F238E27FC236}">
                <a16:creationId xmlns:a16="http://schemas.microsoft.com/office/drawing/2014/main" id="{DCDB438F-1AE7-4474-8B10-7B82B5B6C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1828800"/>
            <a:ext cx="7086600" cy="224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LM		L.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l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M.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(L.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(M.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QR		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Q.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q</a:t>
            </a:r>
            <a:r>
              <a:rPr kumimoji="0" lang="en-US" altLang="zh-CN" sz="2400">
                <a:sym typeface="Symbol" panose="05050102010706020507" pitchFamily="18" charset="2"/>
              </a:rPr>
              <a:t>(R.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(Q.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8314" name="Text Box 10">
            <a:extLst>
              <a:ext uri="{FF2B5EF4-FFF2-40B4-BE49-F238E27FC236}">
                <a16:creationId xmlns:a16="http://schemas.microsoft.com/office/drawing/2014/main" id="{58694D4A-92AE-4E46-A634-859B961BB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1752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98315" name="Text Box 11">
            <a:extLst>
              <a:ext uri="{FF2B5EF4-FFF2-40B4-BE49-F238E27FC236}">
                <a16:creationId xmlns:a16="http://schemas.microsoft.com/office/drawing/2014/main" id="{6FE0037C-5C31-4485-9418-F078A3E67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1371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98316" name="Text Box 12">
            <a:extLst>
              <a:ext uri="{FF2B5EF4-FFF2-40B4-BE49-F238E27FC236}">
                <a16:creationId xmlns:a16="http://schemas.microsoft.com/office/drawing/2014/main" id="{266A88B9-CF54-44EE-8A59-183CF34A5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371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6C87FC18-3CED-42C5-AEC6-9C0AE81E5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</a:p>
        </p:txBody>
      </p:sp>
      <p:pic>
        <p:nvPicPr>
          <p:cNvPr id="99331" name="Picture 14" descr="order">
            <a:extLst>
              <a:ext uri="{FF2B5EF4-FFF2-40B4-BE49-F238E27FC236}">
                <a16:creationId xmlns:a16="http://schemas.microsoft.com/office/drawing/2014/main" id="{6ECEECEE-0D0B-459E-9FA7-42CC6558D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39941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2" name="Picture 15" descr="order2">
            <a:extLst>
              <a:ext uri="{FF2B5EF4-FFF2-40B4-BE49-F238E27FC236}">
                <a16:creationId xmlns:a16="http://schemas.microsoft.com/office/drawing/2014/main" id="{C8013F67-401A-4959-94B4-F68436EC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124200"/>
            <a:ext cx="3868738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35FA29A-C4C6-4A1C-A399-8EEFDE55D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7225CB00-114A-4285-A352-B932D8D89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A(n, ai)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switch</a:t>
            </a:r>
            <a:r>
              <a:rPr lang="en-US" altLang="zh-CN" sz="2000"/>
              <a:t> (</a:t>
            </a:r>
            <a:r>
              <a:rPr lang="zh-CN" altLang="en-US" sz="2000"/>
              <a:t>节点</a:t>
            </a:r>
            <a:r>
              <a:rPr lang="en-US" altLang="zh-CN" sz="2000"/>
              <a:t>n</a:t>
            </a:r>
            <a:r>
              <a:rPr lang="zh-CN" altLang="en-US" sz="2000"/>
              <a:t>所用产生式</a:t>
            </a:r>
            <a:r>
              <a:rPr lang="en-US" altLang="zh-CN" sz="200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A  LM”: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li = l(ai);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ls = L(child(n, 1), li);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mi = m(ls);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ms = M(child(n, 2), mi);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en-US" altLang="zh-CN" sz="2000" b="1">
                <a:sym typeface="Symbol" panose="05050102010706020507" pitchFamily="18" charset="2"/>
              </a:rPr>
              <a:t>return</a:t>
            </a:r>
            <a:r>
              <a:rPr kumimoji="0" lang="en-US" altLang="zh-CN" sz="2000">
                <a:sym typeface="Symbol" panose="05050102010706020507" pitchFamily="18" charset="2"/>
              </a:rPr>
              <a:t> f(ms);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945D909-2A3B-4485-94BD-F42ACEA31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3E5961F5-5BAE-4B7D-94C0-E2FD79EAE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A  QR”: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ri = r(ai);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rs = R(child(n, 2), ri);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qi = q(rs);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qs = Q(child(n, 1), qi);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en-US" altLang="zh-CN" sz="2000" b="1">
                <a:sym typeface="Symbol" panose="05050102010706020507" pitchFamily="18" charset="2"/>
              </a:rPr>
              <a:t>return</a:t>
            </a:r>
            <a:r>
              <a:rPr kumimoji="0" lang="en-US" altLang="zh-CN" sz="2000">
                <a:sym typeface="Symbol" panose="05050102010706020507" pitchFamily="18" charset="2"/>
              </a:rPr>
              <a:t> f(qs);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</a:t>
            </a:r>
            <a:r>
              <a:rPr kumimoji="0" lang="en-US" altLang="zh-CN" sz="2000" b="1">
                <a:sym typeface="Symbol" panose="05050102010706020507" pitchFamily="18" charset="2"/>
              </a:rPr>
              <a:t>default</a:t>
            </a:r>
            <a:r>
              <a:rPr kumimoji="0" lang="en-US" altLang="zh-CN" sz="2000">
                <a:sym typeface="Symbol" panose="05050102010706020507" pitchFamily="18" charset="2"/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error();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9C717ABC-FFED-4256-8BF3-BEE126A39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  </a:t>
            </a:r>
            <a:r>
              <a:rPr lang="zh-CN" altLang="en-US"/>
              <a:t>编译时内存空间分配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725C02C3-7EFE-4BC1-8142-0A084EFB6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依赖图</a:t>
            </a:r>
            <a:r>
              <a:rPr lang="zh-CN" altLang="en-US" dirty="0">
                <a:sym typeface="Wingdings" panose="05000000000000000000" pitchFamily="2" charset="2"/>
              </a:rPr>
              <a:t>属性计算顺序内存分配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深度优先顺序属性生存期（它第一次被计算直到依赖它的其他属性都计算完毕）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只在属性生存期内为其分配内存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31E3070-A649-4153-B1E8-38E4BDC2E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5.22  </a:t>
            </a:r>
          </a:p>
        </p:txBody>
      </p:sp>
      <p:sp>
        <p:nvSpPr>
          <p:cNvPr id="103427" name="Line 4">
            <a:extLst>
              <a:ext uri="{FF2B5EF4-FFF2-40B4-BE49-F238E27FC236}">
                <a16:creationId xmlns:a16="http://schemas.microsoft.com/office/drawing/2014/main" id="{295337D7-E393-405F-8D5E-F060030C7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8" name="Line 5">
            <a:extLst>
              <a:ext uri="{FF2B5EF4-FFF2-40B4-BE49-F238E27FC236}">
                <a16:creationId xmlns:a16="http://schemas.microsoft.com/office/drawing/2014/main" id="{71C4842B-B30C-450F-AAC0-EF695CDF6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9" name="Line 6">
            <a:extLst>
              <a:ext uri="{FF2B5EF4-FFF2-40B4-BE49-F238E27FC236}">
                <a16:creationId xmlns:a16="http://schemas.microsoft.com/office/drawing/2014/main" id="{91D52807-E0E8-4753-8C0A-1BF60D703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0" name="Line 7">
            <a:extLst>
              <a:ext uri="{FF2B5EF4-FFF2-40B4-BE49-F238E27FC236}">
                <a16:creationId xmlns:a16="http://schemas.microsoft.com/office/drawing/2014/main" id="{5EB97224-167B-44A4-B706-8D739D47E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572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1" name="Line 8">
            <a:extLst>
              <a:ext uri="{FF2B5EF4-FFF2-40B4-BE49-F238E27FC236}">
                <a16:creationId xmlns:a16="http://schemas.microsoft.com/office/drawing/2014/main" id="{A89A6861-8287-4375-B90A-5FEC0BDC1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447800"/>
            <a:ext cx="0" cy="312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545" name="Text Box 9">
            <a:extLst>
              <a:ext uri="{FF2B5EF4-FFF2-40B4-BE49-F238E27FC236}">
                <a16:creationId xmlns:a16="http://schemas.microsoft.com/office/drawing/2014/main" id="{0F1AEE96-D0AE-45F5-B3E7-64CFB3ABE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7467600" cy="271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</a:rPr>
              <a:t>D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, I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			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  I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  I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kumimoji="0" lang="en-US" altLang="zh-CN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num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]		I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array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num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.val, 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  </a:t>
            </a:r>
            <a:r>
              <a:rPr kumimoji="0" lang="en-US" altLang="zh-CN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.entry, 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03433" name="Text Box 10">
            <a:extLst>
              <a:ext uri="{FF2B5EF4-FFF2-40B4-BE49-F238E27FC236}">
                <a16:creationId xmlns:a16="http://schemas.microsoft.com/office/drawing/2014/main" id="{49226C53-EBE2-4D9C-ACD4-3BE99F094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288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103434" name="Text Box 11">
            <a:extLst>
              <a:ext uri="{FF2B5EF4-FFF2-40B4-BE49-F238E27FC236}">
                <a16:creationId xmlns:a16="http://schemas.microsoft.com/office/drawing/2014/main" id="{1E65FA5F-C0AB-495A-B6B0-22152A86E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</a:p>
        </p:txBody>
      </p:sp>
      <p:sp>
        <p:nvSpPr>
          <p:cNvPr id="103435" name="Text Box 12">
            <a:extLst>
              <a:ext uri="{FF2B5EF4-FFF2-40B4-BE49-F238E27FC236}">
                <a16:creationId xmlns:a16="http://schemas.microsoft.com/office/drawing/2014/main" id="{DB1756E8-0F6A-4F4F-958F-C5C52475C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478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代码片断</a:t>
            </a:r>
          </a:p>
        </p:txBody>
      </p:sp>
      <p:sp>
        <p:nvSpPr>
          <p:cNvPr id="103436" name="Rectangle 13">
            <a:extLst>
              <a:ext uri="{FF2B5EF4-FFF2-40B4-BE49-F238E27FC236}">
                <a16:creationId xmlns:a16="http://schemas.microsoft.com/office/drawing/2014/main" id="{E9ED02D3-7622-49DF-82B9-DF230FBA5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4648200"/>
            <a:ext cx="7772400" cy="6096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int x[3], y[5];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BEED1411-0996-415D-80F0-216584B74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5.22</a:t>
            </a:r>
            <a:r>
              <a:rPr lang="zh-CN" altLang="en-US"/>
              <a:t>（续）</a:t>
            </a:r>
          </a:p>
        </p:txBody>
      </p:sp>
      <p:pic>
        <p:nvPicPr>
          <p:cNvPr id="104451" name="Picture 12" descr="space1">
            <a:extLst>
              <a:ext uri="{FF2B5EF4-FFF2-40B4-BE49-F238E27FC236}">
                <a16:creationId xmlns:a16="http://schemas.microsoft.com/office/drawing/2014/main" id="{86B96552-0472-419C-83B9-C9C9787B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1266825"/>
            <a:ext cx="4116387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13" descr="space2">
            <a:extLst>
              <a:ext uri="{FF2B5EF4-FFF2-40B4-BE49-F238E27FC236}">
                <a16:creationId xmlns:a16="http://schemas.microsoft.com/office/drawing/2014/main" id="{0811CBA2-1291-4CFD-BE20-9BBC31F1D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4505325"/>
            <a:ext cx="6070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548DAB03-6A45-4F44-96CD-D265942DA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5.8.1  </a:t>
            </a:r>
            <a:r>
              <a:rPr lang="zh-CN" altLang="en-US"/>
              <a:t>在编译时分配空间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B7603AD6-81DC-4E3D-9E80-09A6B4295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内存分配算法</a:t>
            </a:r>
          </a:p>
          <a:p>
            <a:pPr eaLnBrk="1" hangingPunct="1"/>
            <a:r>
              <a:rPr lang="zh-CN" altLang="en-US" sz="2800" dirty="0"/>
              <a:t>寄存器池：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m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m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…</a:t>
            </a:r>
            <a:r>
              <a:rPr lang="en-US" altLang="zh-CN" sz="2000" dirty="0" err="1"/>
              <a:t>m</a:t>
            </a:r>
            <a:r>
              <a:rPr lang="en-US" altLang="zh-CN" sz="2000" baseline="-25000" dirty="0" err="1"/>
              <a:t>N</a:t>
            </a:r>
            <a:r>
              <a:rPr lang="zh-CN" altLang="en-US" sz="2000" dirty="0"/>
              <a:t>中每个节点</a:t>
            </a:r>
            <a:r>
              <a:rPr lang="en-US" altLang="zh-CN" sz="2000" dirty="0"/>
              <a:t>m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计算</a:t>
            </a:r>
            <a:r>
              <a:rPr lang="en-US" altLang="zh-CN" sz="2000" dirty="0"/>
              <a:t>m</a:t>
            </a:r>
            <a:r>
              <a:rPr lang="zh-CN" altLang="en-US" sz="2000" dirty="0"/>
              <a:t>时生存期结束的每个节点</a:t>
            </a:r>
            <a:r>
              <a:rPr lang="en-US" altLang="zh-CN" sz="2000" dirty="0"/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标记</a:t>
            </a:r>
            <a:r>
              <a:rPr lang="en-US" altLang="zh-CN" sz="2000" dirty="0"/>
              <a:t>n</a:t>
            </a:r>
            <a:r>
              <a:rPr lang="zh-CN" altLang="en-US" sz="2000" dirty="0"/>
              <a:t>的寄存器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</a:t>
            </a:r>
            <a:r>
              <a:rPr lang="zh-CN" altLang="en-US" sz="2000" dirty="0"/>
              <a:t>寄存器</a:t>
            </a:r>
            <a:r>
              <a:rPr lang="en-US" altLang="zh-CN" sz="2000" dirty="0"/>
              <a:t>r</a:t>
            </a:r>
            <a:r>
              <a:rPr lang="zh-CN" altLang="en-US" sz="2000" dirty="0"/>
              <a:t>被标记</a:t>
            </a:r>
            <a:r>
              <a:rPr lang="en-US" altLang="zh-CN" sz="2000" dirty="0"/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去除</a:t>
            </a:r>
            <a:r>
              <a:rPr lang="en-US" altLang="zh-CN" sz="2000" dirty="0"/>
              <a:t>r</a:t>
            </a:r>
            <a:r>
              <a:rPr lang="zh-CN" altLang="en-US" sz="2000" dirty="0"/>
              <a:t>的标记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</a:t>
            </a:r>
            <a:r>
              <a:rPr lang="en-US" altLang="zh-CN" sz="2000" dirty="0"/>
              <a:t>r</a:t>
            </a:r>
            <a:r>
              <a:rPr lang="zh-CN" altLang="en-US" sz="2000" dirty="0"/>
              <a:t>分配给</a:t>
            </a:r>
            <a:r>
              <a:rPr lang="en-US" altLang="zh-CN" sz="2000" dirty="0"/>
              <a:t>m</a:t>
            </a:r>
            <a:r>
              <a:rPr lang="zh-CN" altLang="en-US" sz="2000" dirty="0"/>
              <a:t>，计算</a:t>
            </a:r>
            <a:r>
              <a:rPr lang="en-US" altLang="zh-CN" sz="2000" dirty="0"/>
              <a:t>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将标记的寄存器放回寄存器池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}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 </a:t>
            </a:r>
            <a:r>
              <a:rPr lang="zh-CN" altLang="en-US" sz="2000" dirty="0"/>
              <a:t>从寄存器池为</a:t>
            </a:r>
            <a:r>
              <a:rPr lang="en-US" altLang="zh-CN" sz="2000" dirty="0"/>
              <a:t>m</a:t>
            </a:r>
            <a:r>
              <a:rPr lang="zh-CN" altLang="en-US" sz="2000" dirty="0"/>
              <a:t>分配一个寄存器，计算</a:t>
            </a:r>
            <a:r>
              <a:rPr lang="en-US" altLang="zh-CN" sz="2000" dirty="0"/>
              <a:t>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(m</a:t>
            </a:r>
            <a:r>
              <a:rPr lang="zh-CN" altLang="en-US" sz="2000" dirty="0"/>
              <a:t>的生存期已经结束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</a:t>
            </a:r>
            <a:r>
              <a:rPr lang="en-US" altLang="zh-CN" sz="2000" dirty="0"/>
              <a:t>m</a:t>
            </a:r>
            <a:r>
              <a:rPr lang="zh-CN" altLang="en-US" sz="2000" dirty="0"/>
              <a:t>的寄存器放回寄存器池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C1BC17E8-6F3B-4DE6-A085-3674030B1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算法应用实例</a:t>
            </a:r>
          </a:p>
        </p:txBody>
      </p:sp>
      <p:pic>
        <p:nvPicPr>
          <p:cNvPr id="106499" name="Picture 4" descr="space3">
            <a:extLst>
              <a:ext uri="{FF2B5EF4-FFF2-40B4-BE49-F238E27FC236}">
                <a16:creationId xmlns:a16="http://schemas.microsoft.com/office/drawing/2014/main" id="{EF3EBEF3-4909-4383-841C-140240460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8064500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C323078-0EC5-4C09-BF21-C42733A0A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5.8.2  </a:t>
            </a:r>
            <a:r>
              <a:rPr lang="zh-CN" altLang="en-US"/>
              <a:t>避免属性拷贝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419F508-4EC0-4EFF-800B-B92F185D0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b=c</a:t>
            </a:r>
            <a:r>
              <a:rPr lang="zh-CN" altLang="en-US"/>
              <a:t>：</a:t>
            </a:r>
            <a:r>
              <a:rPr lang="en-US" altLang="zh-CN"/>
              <a:t>b</a:t>
            </a:r>
            <a:r>
              <a:rPr lang="zh-CN" altLang="en-US"/>
              <a:t>的值在</a:t>
            </a:r>
            <a:r>
              <a:rPr lang="en-US" altLang="zh-CN"/>
              <a:t>c</a:t>
            </a:r>
            <a:r>
              <a:rPr lang="zh-CN" altLang="en-US"/>
              <a:t>的寄存器中，不再分配</a:t>
            </a:r>
          </a:p>
          <a:p>
            <a:pPr eaLnBrk="1" hangingPunct="1"/>
            <a:r>
              <a:rPr lang="zh-CN" altLang="en-US"/>
              <a:t>在节点</a:t>
            </a:r>
            <a:r>
              <a:rPr lang="en-US" altLang="zh-CN"/>
              <a:t>m</a:t>
            </a:r>
          </a:p>
          <a:p>
            <a:pPr lvl="1" eaLnBrk="1" hangingPunct="1"/>
            <a:r>
              <a:rPr lang="zh-CN" altLang="en-US"/>
              <a:t>首先检查是否是拷贝规则</a:t>
            </a:r>
          </a:p>
          <a:p>
            <a:pPr lvl="1" eaLnBrk="1" hangingPunct="1"/>
            <a:r>
              <a:rPr lang="zh-CN" altLang="en-US"/>
              <a:t>若是，</a:t>
            </a:r>
            <a:r>
              <a:rPr lang="en-US" altLang="zh-CN"/>
              <a:t>m</a:t>
            </a:r>
            <a:r>
              <a:rPr lang="zh-CN" altLang="en-US"/>
              <a:t>值已经在某个寄存器中，</a:t>
            </a:r>
            <a:r>
              <a:rPr lang="en-US" altLang="zh-CN"/>
              <a:t>m</a:t>
            </a:r>
            <a:r>
              <a:rPr lang="zh-CN" altLang="en-US"/>
              <a:t>加入该寄存器的等价类</a:t>
            </a:r>
          </a:p>
          <a:p>
            <a:pPr lvl="1" eaLnBrk="1" hangingPunct="1"/>
            <a:r>
              <a:rPr lang="zh-CN" altLang="en-US"/>
              <a:t>只有当寄存器等价类中所有属性的生存期均结束，才可释放该寄存器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3A0B85CF-F331-4CED-A6E0-7A6C5712D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5.24</a:t>
            </a:r>
            <a:r>
              <a:rPr lang="zh-CN" altLang="en-US"/>
              <a:t>：例</a:t>
            </a:r>
            <a:r>
              <a:rPr lang="en-US" altLang="zh-CN"/>
              <a:t>5.23</a:t>
            </a:r>
            <a:r>
              <a:rPr lang="zh-CN" altLang="en-US"/>
              <a:t>采用新方法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2A2749D-919D-4F4C-8E9C-AF82A0FD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819400"/>
            <a:ext cx="7772400" cy="3810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1 </a:t>
            </a:r>
            <a:r>
              <a:rPr lang="en-US" altLang="zh-CN" sz="2400"/>
              <a:t>=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5;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array(r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r>
              <a:rPr lang="en-US" altLang="zh-CN" sz="240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addtype(y, r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3;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array(r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r>
              <a:rPr lang="en-US" altLang="zh-CN" sz="240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addtype(x, r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</a:p>
        </p:txBody>
      </p:sp>
      <p:pic>
        <p:nvPicPr>
          <p:cNvPr id="108548" name="Picture 4" descr="space4">
            <a:extLst>
              <a:ext uri="{FF2B5EF4-FFF2-40B4-BE49-F238E27FC236}">
                <a16:creationId xmlns:a16="http://schemas.microsoft.com/office/drawing/2014/main" id="{B83B882D-3D35-4A59-B121-9294386F0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295400"/>
            <a:ext cx="70389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2D1C7E5-7E04-4DBC-9B67-AE96E0BC0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5.9  </a:t>
            </a:r>
            <a:r>
              <a:rPr lang="zh-CN" altLang="en-US"/>
              <a:t>在构造编译器时分配内存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B9D46A6-9D95-4342-BADE-C720DAE09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9776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多栈避免属性拷贝</a:t>
            </a:r>
          </a:p>
          <a:p>
            <a:pPr eaLnBrk="1" hangingPunct="1"/>
            <a:r>
              <a:rPr lang="en-US" altLang="zh-CN" sz="2800" dirty="0"/>
              <a:t>5.9.1  </a:t>
            </a:r>
            <a:r>
              <a:rPr lang="zh-CN" altLang="en-US" sz="2800" dirty="0"/>
              <a:t>预测生存期</a:t>
            </a:r>
          </a:p>
          <a:p>
            <a:pPr lvl="1" eaLnBrk="1" hangingPunct="1"/>
            <a:r>
              <a:rPr lang="zh-CN" altLang="en-US" sz="2400" dirty="0"/>
              <a:t>对特定遍历顺序，可预测属性生存期</a:t>
            </a:r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 dirty="0">
                <a:sym typeface="Symbol" panose="05050102010706020507" pitchFamily="18" charset="2"/>
              </a:rPr>
              <a:t>ABC</a:t>
            </a:r>
            <a:r>
              <a:rPr kumimoji="0" lang="zh-CN" altLang="en-US" sz="2400" dirty="0">
                <a:sym typeface="Symbol" panose="05050102010706020507" pitchFamily="18" charset="2"/>
              </a:rPr>
              <a:t>，深度优先遍历：子树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－子树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－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，返回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后，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的生存期即结束</a:t>
            </a:r>
          </a:p>
          <a:p>
            <a:pPr lvl="1" eaLnBrk="1" hangingPunct="1"/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的生存期包含在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内，则栈中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在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之上</a:t>
            </a:r>
          </a:p>
          <a:p>
            <a:pPr lvl="1" eaLnBrk="1" hangingPunct="1"/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的继承属性入栈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的继承属性并入栈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访问子树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，返回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的综合属性，入栈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对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同样进行上两个步骤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I(A), I(B), S(B), I(C), S(C)——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的综合属性，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生命期结束</a:t>
            </a:r>
            <a:r>
              <a:rPr kumimoji="0" lang="en-US" altLang="zh-CN" sz="2400" dirty="0">
                <a:sym typeface="Symbol" panose="05050102010706020507" pitchFamily="18" charset="2"/>
              </a:rPr>
              <a:t>——I(A), S(A)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4" descr="mulstack">
            <a:extLst>
              <a:ext uri="{FF2B5EF4-FFF2-40B4-BE49-F238E27FC236}">
                <a16:creationId xmlns:a16="http://schemas.microsoft.com/office/drawing/2014/main" id="{9B0C9E11-7863-4CB8-8064-62FDBF6BB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5499100" cy="460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Rectangle 2">
            <a:extLst>
              <a:ext uri="{FF2B5EF4-FFF2-40B4-BE49-F238E27FC236}">
                <a16:creationId xmlns:a16="http://schemas.microsoft.com/office/drawing/2014/main" id="{1F7808AF-E052-402A-BFD0-5F813634C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5.25</a:t>
            </a: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59268596-0FF1-4AAD-A961-4E81A1986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77F9A5B-B5EC-4570-B5E0-412D565FE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5.26  </a:t>
            </a:r>
            <a:r>
              <a:rPr lang="zh-CN" altLang="en-US"/>
              <a:t>多栈避免拷贝</a:t>
            </a:r>
          </a:p>
        </p:txBody>
      </p:sp>
      <p:pic>
        <p:nvPicPr>
          <p:cNvPr id="111619" name="Picture 4" descr="mulstack1">
            <a:extLst>
              <a:ext uri="{FF2B5EF4-FFF2-40B4-BE49-F238E27FC236}">
                <a16:creationId xmlns:a16="http://schemas.microsoft.com/office/drawing/2014/main" id="{59CBF1AA-19A6-4142-8577-52E725C6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905000"/>
            <a:ext cx="8609012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E8FAE5E-8EA1-404A-91EA-6DB1F8F1B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5.26</a:t>
            </a:r>
            <a:r>
              <a:rPr lang="zh-CN" altLang="en-US"/>
              <a:t>（续）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87757FDA-FD97-446B-8DAB-AE8F18514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S 			{ push(10, ps); }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h2 = top(ht); pop(ht);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h1 = top(ht); pop(ht);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push(max(h1, h2), ht); }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	</a:t>
            </a:r>
            <a:r>
              <a:rPr kumimoji="0" lang="en-US" altLang="zh-CN" sz="2400">
                <a:sym typeface="Symbol" panose="05050102010706020507" pitchFamily="18" charset="2"/>
              </a:rPr>
              <a:t>	{ push(shrink(top(ps)), ps); }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h2 = top(ht); pop(ht);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h1 = top(ht); pop(ht);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push(max(h1, h2), ht); }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{ push(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.h*top(ps), ht); }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310DC9C-1058-4C5C-A2FA-D2FE2F41F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  </a:t>
            </a:r>
            <a:r>
              <a:rPr lang="zh-CN" altLang="en-US"/>
              <a:t>中间代码生成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7FE2048-B888-4D79-A700-B9AE80642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E </a:t>
            </a:r>
            <a:r>
              <a:rPr lang="en-US" altLang="zh-CN" b="1"/>
              <a:t>and</a:t>
            </a:r>
            <a:r>
              <a:rPr lang="en-US" altLang="zh-CN"/>
              <a:t> F</a:t>
            </a:r>
            <a:r>
              <a:rPr lang="zh-CN" altLang="en-US"/>
              <a:t>，短路求值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E.true(false)</a:t>
            </a:r>
            <a:r>
              <a:rPr lang="zh-CN" altLang="en-US"/>
              <a:t>：</a:t>
            </a:r>
            <a:r>
              <a:rPr lang="en-US" altLang="zh-CN"/>
              <a:t>E</a:t>
            </a:r>
            <a:r>
              <a:rPr lang="zh-CN" altLang="en-US"/>
              <a:t>为真（假）时跳转目标</a:t>
            </a:r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  <p:sp>
        <p:nvSpPr>
          <p:cNvPr id="113668" name="Line 4">
            <a:extLst>
              <a:ext uri="{FF2B5EF4-FFF2-40B4-BE49-F238E27FC236}">
                <a16:creationId xmlns:a16="http://schemas.microsoft.com/office/drawing/2014/main" id="{15E56151-BCEC-46F1-9346-2CBAFA924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667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9" name="Line 5">
            <a:extLst>
              <a:ext uri="{FF2B5EF4-FFF2-40B4-BE49-F238E27FC236}">
                <a16:creationId xmlns:a16="http://schemas.microsoft.com/office/drawing/2014/main" id="{4125DF90-0494-4B40-9385-D4FAED2A4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743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0" name="Line 6">
            <a:extLst>
              <a:ext uri="{FF2B5EF4-FFF2-40B4-BE49-F238E27FC236}">
                <a16:creationId xmlns:a16="http://schemas.microsoft.com/office/drawing/2014/main" id="{2C82B037-F022-40D3-8348-CEF689C9D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200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1" name="Line 7">
            <a:extLst>
              <a:ext uri="{FF2B5EF4-FFF2-40B4-BE49-F238E27FC236}">
                <a16:creationId xmlns:a16="http://schemas.microsoft.com/office/drawing/2014/main" id="{E9BB88AD-80B1-47E9-96A7-786979E8A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6400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2" name="Line 8">
            <a:extLst>
              <a:ext uri="{FF2B5EF4-FFF2-40B4-BE49-F238E27FC236}">
                <a16:creationId xmlns:a16="http://schemas.microsoft.com/office/drawing/2014/main" id="{EA913BEC-3418-4769-B443-69096DB19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7432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09" name="Text Box 9">
            <a:extLst>
              <a:ext uri="{FF2B5EF4-FFF2-40B4-BE49-F238E27FC236}">
                <a16:creationId xmlns:a16="http://schemas.microsoft.com/office/drawing/2014/main" id="{B79D9AA4-76C5-4D6B-8D4C-25DB1DBD1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200400"/>
            <a:ext cx="7924800" cy="312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E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newlabel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 ||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   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 ||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 = 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place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   	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 ||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3674" name="Text Box 10">
            <a:extLst>
              <a:ext uri="{FF2B5EF4-FFF2-40B4-BE49-F238E27FC236}">
                <a16:creationId xmlns:a16="http://schemas.microsoft.com/office/drawing/2014/main" id="{9AE2F050-AD05-4A85-946B-E7B12EAA3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24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3675" name="Text Box 11">
            <a:extLst>
              <a:ext uri="{FF2B5EF4-FFF2-40B4-BE49-F238E27FC236}">
                <a16:creationId xmlns:a16="http://schemas.microsoft.com/office/drawing/2014/main" id="{0C2EE639-DD2C-4CF3-BA58-F2C30D6DC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3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13676" name="Text Box 12">
            <a:extLst>
              <a:ext uri="{FF2B5EF4-FFF2-40B4-BE49-F238E27FC236}">
                <a16:creationId xmlns:a16="http://schemas.microsoft.com/office/drawing/2014/main" id="{CFE9C669-FC83-4FBD-9F4C-A9A6A7132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743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3171E8FE-DF5B-432E-971E-BBBEFBD37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</a:t>
            </a:r>
            <a:r>
              <a:rPr lang="zh-CN" altLang="en-US"/>
              <a:t>（续）翻译模式</a:t>
            </a:r>
          </a:p>
        </p:txBody>
      </p:sp>
      <p:sp>
        <p:nvSpPr>
          <p:cNvPr id="114691" name="Line 4">
            <a:extLst>
              <a:ext uri="{FF2B5EF4-FFF2-40B4-BE49-F238E27FC236}">
                <a16:creationId xmlns:a16="http://schemas.microsoft.com/office/drawing/2014/main" id="{6C05F616-28ED-437C-A39D-A00DC739B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2" name="Line 5">
            <a:extLst>
              <a:ext uri="{FF2B5EF4-FFF2-40B4-BE49-F238E27FC236}">
                <a16:creationId xmlns:a16="http://schemas.microsoft.com/office/drawing/2014/main" id="{80D21FFE-5980-41E7-971C-35F0D25D9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3" name="Line 6">
            <a:extLst>
              <a:ext uri="{FF2B5EF4-FFF2-40B4-BE49-F238E27FC236}">
                <a16:creationId xmlns:a16="http://schemas.microsoft.com/office/drawing/2014/main" id="{74D86418-5BCD-467D-827C-0CEE96D79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4" name="Line 7">
            <a:extLst>
              <a:ext uri="{FF2B5EF4-FFF2-40B4-BE49-F238E27FC236}">
                <a16:creationId xmlns:a16="http://schemas.microsoft.com/office/drawing/2014/main" id="{DDED09C2-FE59-44E2-A5E8-8CD7BFDA4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63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5" name="Line 8">
            <a:extLst>
              <a:ext uri="{FF2B5EF4-FFF2-40B4-BE49-F238E27FC236}">
                <a16:creationId xmlns:a16="http://schemas.microsoft.com/office/drawing/2014/main" id="{20C1DEA8-516C-423C-A915-E375E4D31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600200"/>
            <a:ext cx="0" cy="403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3" name="Text Box 9">
            <a:extLst>
              <a:ext uri="{FF2B5EF4-FFF2-40B4-BE49-F238E27FC236}">
                <a16:creationId xmlns:a16="http://schemas.microsoft.com/office/drawing/2014/main" id="{6015E069-5B15-49A5-80AD-ED356DAB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924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E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{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newlabel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  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{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 }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{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place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 }</a:t>
            </a:r>
          </a:p>
        </p:txBody>
      </p:sp>
      <p:sp>
        <p:nvSpPr>
          <p:cNvPr id="114697" name="Text Box 10">
            <a:extLst>
              <a:ext uri="{FF2B5EF4-FFF2-40B4-BE49-F238E27FC236}">
                <a16:creationId xmlns:a16="http://schemas.microsoft.com/office/drawing/2014/main" id="{75B7EE20-5538-4815-AA9B-EF4A41407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4698" name="Text Box 11">
            <a:extLst>
              <a:ext uri="{FF2B5EF4-FFF2-40B4-BE49-F238E27FC236}">
                <a16:creationId xmlns:a16="http://schemas.microsoft.com/office/drawing/2014/main" id="{B086E82D-0823-4B8F-9DEF-0FC924925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14699" name="Text Box 12">
            <a:extLst>
              <a:ext uri="{FF2B5EF4-FFF2-40B4-BE49-F238E27FC236}">
                <a16:creationId xmlns:a16="http://schemas.microsoft.com/office/drawing/2014/main" id="{0F87EC22-C860-4FC3-9B80-D3DA1C838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C3717F37-2331-4C0F-86F8-13AB2900F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</a:t>
            </a:r>
            <a:r>
              <a:rPr lang="zh-CN" altLang="en-US"/>
              <a:t>（续）栈实现</a:t>
            </a:r>
          </a:p>
        </p:txBody>
      </p:sp>
      <p:sp>
        <p:nvSpPr>
          <p:cNvPr id="115715" name="Line 3">
            <a:extLst>
              <a:ext uri="{FF2B5EF4-FFF2-40B4-BE49-F238E27FC236}">
                <a16:creationId xmlns:a16="http://schemas.microsoft.com/office/drawing/2014/main" id="{EEAE4CD7-35C3-4DAF-BF9B-E9856ECA9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6" name="Line 4">
            <a:extLst>
              <a:ext uri="{FF2B5EF4-FFF2-40B4-BE49-F238E27FC236}">
                <a16:creationId xmlns:a16="http://schemas.microsoft.com/office/drawing/2014/main" id="{AC13C97B-14F2-44D2-8943-F5B28FAA7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Line 5">
            <a:extLst>
              <a:ext uri="{FF2B5EF4-FFF2-40B4-BE49-F238E27FC236}">
                <a16:creationId xmlns:a16="http://schemas.microsoft.com/office/drawing/2014/main" id="{48949800-F919-44F2-9DDE-F360AABDC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8" name="Line 6">
            <a:extLst>
              <a:ext uri="{FF2B5EF4-FFF2-40B4-BE49-F238E27FC236}">
                <a16:creationId xmlns:a16="http://schemas.microsoft.com/office/drawing/2014/main" id="{9F1B0638-0CFA-40A8-AE98-D5A7C0045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4876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9" name="Line 7">
            <a:extLst>
              <a:ext uri="{FF2B5EF4-FFF2-40B4-BE49-F238E27FC236}">
                <a16:creationId xmlns:a16="http://schemas.microsoft.com/office/drawing/2014/main" id="{C9C9555F-22CA-4A63-B741-389CDA18B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6002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Text Box 8">
            <a:extLst>
              <a:ext uri="{FF2B5EF4-FFF2-40B4-BE49-F238E27FC236}">
                <a16:creationId xmlns:a16="http://schemas.microsoft.com/office/drawing/2014/main" id="{26B8F0DD-E5D8-493C-85E4-8F2C92D0B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7924800" cy="273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sym typeface="Symbol" panose="05050102010706020507" pitchFamily="18" charset="2"/>
              </a:rPr>
              <a:t>	       { </a:t>
            </a:r>
            <a:r>
              <a:rPr kumimoji="0" lang="en-US" altLang="zh-CN" sz="2800" i="1">
                <a:sym typeface="Symbol" panose="05050102010706020507" pitchFamily="18" charset="2"/>
              </a:rPr>
              <a:t>push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newlabel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); 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i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      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sym typeface="Symbol" panose="05050102010706020507" pitchFamily="18" charset="2"/>
              </a:rPr>
              <a:t> 	       { 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i="1">
                <a:sym typeface="Symbol" panose="05050102010706020507" pitchFamily="18" charset="2"/>
              </a:rPr>
              <a:t>top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   </a:t>
            </a:r>
            <a:r>
              <a:rPr kumimoji="0" lang="en-US" altLang="zh-CN" sz="2800" i="1">
                <a:sym typeface="Symbol" panose="05050102010706020507" pitchFamily="18" charset="2"/>
              </a:rPr>
              <a:t>pop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); }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	        { 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place</a:t>
            </a:r>
            <a:r>
              <a:rPr kumimoji="0" lang="en-US" altLang="zh-CN" sz="2800">
                <a:sym typeface="Symbol" panose="05050102010706020507" pitchFamily="18" charset="2"/>
              </a:rPr>
              <a:t> ‘</a:t>
            </a:r>
            <a:r>
              <a:rPr kumimoji="0" lang="en-US" altLang="zh-CN" sz="2800" b="1"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sym typeface="Symbol" panose="05050102010706020507" pitchFamily="18" charset="2"/>
              </a:rPr>
              <a:t>’ top(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i="1">
                <a:sym typeface="Symbol" panose="05050102010706020507" pitchFamily="18" charset="2"/>
              </a:rPr>
              <a:t>top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sym typeface="Symbol" panose="05050102010706020507" pitchFamily="18" charset="2"/>
              </a:rPr>
              <a:t>)); }</a:t>
            </a:r>
          </a:p>
        </p:txBody>
      </p:sp>
      <p:sp>
        <p:nvSpPr>
          <p:cNvPr id="115721" name="Text Box 9">
            <a:extLst>
              <a:ext uri="{FF2B5EF4-FFF2-40B4-BE49-F238E27FC236}">
                <a16:creationId xmlns:a16="http://schemas.microsoft.com/office/drawing/2014/main" id="{2D955A5A-F1CA-4189-B2C0-B7236DD58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5722" name="Text Box 10">
            <a:extLst>
              <a:ext uri="{FF2B5EF4-FFF2-40B4-BE49-F238E27FC236}">
                <a16:creationId xmlns:a16="http://schemas.microsoft.com/office/drawing/2014/main" id="{5BF00310-032F-4814-8A36-F85A46E1E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600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15723" name="Text Box 11">
            <a:extLst>
              <a:ext uri="{FF2B5EF4-FFF2-40B4-BE49-F238E27FC236}">
                <a16:creationId xmlns:a16="http://schemas.microsoft.com/office/drawing/2014/main" id="{3694D789-46DF-431A-8495-F9B9E4F79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644B640-2EEC-4FB7-8441-C406EAE74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5.9.2  </a:t>
            </a:r>
            <a:r>
              <a:rPr lang="zh-CN" altLang="en-US"/>
              <a:t>非重叠生存期（例</a:t>
            </a:r>
            <a:r>
              <a:rPr lang="en-US" altLang="zh-CN"/>
              <a:t>5.28</a:t>
            </a:r>
            <a:r>
              <a:rPr lang="zh-CN" altLang="en-US"/>
              <a:t>）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7007869-9D26-405C-B07E-E8A7E213B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/>
              <a:t>每个</a:t>
            </a:r>
            <a:r>
              <a:rPr lang="en-US" altLang="zh-CN"/>
              <a:t>push</a:t>
            </a:r>
            <a:r>
              <a:rPr lang="zh-CN" altLang="en-US"/>
              <a:t>紧接一个</a:t>
            </a:r>
            <a:r>
              <a:rPr lang="en-US" altLang="zh-CN"/>
              <a:t>pop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只需一个寄存器</a:t>
            </a:r>
          </a:p>
        </p:txBody>
      </p:sp>
      <p:sp>
        <p:nvSpPr>
          <p:cNvPr id="116740" name="Line 4">
            <a:extLst>
              <a:ext uri="{FF2B5EF4-FFF2-40B4-BE49-F238E27FC236}">
                <a16:creationId xmlns:a16="http://schemas.microsoft.com/office/drawing/2014/main" id="{F3B99C47-07FA-4B93-8CEC-1EB338343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1336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1" name="Line 5">
            <a:extLst>
              <a:ext uri="{FF2B5EF4-FFF2-40B4-BE49-F238E27FC236}">
                <a16:creationId xmlns:a16="http://schemas.microsoft.com/office/drawing/2014/main" id="{29F8B5A8-E990-45FB-9B9B-4FE631537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2098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Line 6">
            <a:extLst>
              <a:ext uri="{FF2B5EF4-FFF2-40B4-BE49-F238E27FC236}">
                <a16:creationId xmlns:a16="http://schemas.microsoft.com/office/drawing/2014/main" id="{B7B00EA5-08FD-4CF2-BB74-35E17E50F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6670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3" name="Line 7">
            <a:extLst>
              <a:ext uri="{FF2B5EF4-FFF2-40B4-BE49-F238E27FC236}">
                <a16:creationId xmlns:a16="http://schemas.microsoft.com/office/drawing/2014/main" id="{EAB191ED-08F0-4EFC-A342-B9271BCB1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57912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Line 8">
            <a:extLst>
              <a:ext uri="{FF2B5EF4-FFF2-40B4-BE49-F238E27FC236}">
                <a16:creationId xmlns:a16="http://schemas.microsoft.com/office/drawing/2014/main" id="{2F57084E-49D0-42BC-9142-1266378F1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209800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5" name="Text Box 9">
            <a:extLst>
              <a:ext uri="{FF2B5EF4-FFF2-40B4-BE49-F238E27FC236}">
                <a16:creationId xmlns:a16="http://schemas.microsoft.com/office/drawing/2014/main" id="{A083FDEC-6C81-48EF-997B-92B85AB0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667000"/>
            <a:ext cx="8991600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 R		R.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E.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R.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 T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	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mknode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lexeme</a:t>
            </a:r>
            <a:r>
              <a:rPr kumimoji="0" lang="en-US" altLang="zh-CN" sz="2800">
                <a:sym typeface="Symbol" panose="05050102010706020507" pitchFamily="18" charset="2"/>
              </a:rPr>
              <a:t>, R.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, 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R.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		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 = 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		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mkleaf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6746" name="Text Box 10">
            <a:extLst>
              <a:ext uri="{FF2B5EF4-FFF2-40B4-BE49-F238E27FC236}">
                <a16:creationId xmlns:a16="http://schemas.microsoft.com/office/drawing/2014/main" id="{054061F8-D7CA-4806-90A4-D5BFDD905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590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6747" name="Text Box 11">
            <a:extLst>
              <a:ext uri="{FF2B5EF4-FFF2-40B4-BE49-F238E27FC236}">
                <a16:creationId xmlns:a16="http://schemas.microsoft.com/office/drawing/2014/main" id="{38F29B25-75B0-4AB5-B8D9-D2EED4081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09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16748" name="Text Box 12">
            <a:extLst>
              <a:ext uri="{FF2B5EF4-FFF2-40B4-BE49-F238E27FC236}">
                <a16:creationId xmlns:a16="http://schemas.microsoft.com/office/drawing/2014/main" id="{E13A0C23-C008-4597-8727-272B1C13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209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0D480AA1-F1D4-4856-888F-582CDBCF3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7E305905-7F21-48C5-80A4-8526D877C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124200"/>
          </a:xfrm>
        </p:spPr>
        <p:txBody>
          <a:bodyPr/>
          <a:lstStyle/>
          <a:p>
            <a:pPr eaLnBrk="1" hangingPunct="1"/>
            <a:r>
              <a:rPr lang="zh-CN" altLang="en-US" sz="2800"/>
              <a:t>考虑扩展下面的依赖图</a:t>
            </a:r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>
                <a:sym typeface="Symbol" panose="05050102010706020507" pitchFamily="18" charset="2"/>
              </a:rPr>
              <a:t>R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ym typeface="Symbol" panose="05050102010706020507" pitchFamily="18" charset="2"/>
              </a:rPr>
              <a:t>R.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Wingdings" panose="05000000000000000000" pitchFamily="2" charset="2"/>
              </a:rPr>
              <a:t>R.</a:t>
            </a:r>
            <a:r>
              <a:rPr lang="en-US" altLang="zh-CN" sz="2400" i="1">
                <a:sym typeface="Wingdings" panose="05000000000000000000" pitchFamily="2" charset="2"/>
              </a:rPr>
              <a:t>s</a:t>
            </a:r>
            <a:r>
              <a:rPr lang="zh-CN" altLang="en-US" sz="2400">
                <a:sym typeface="Wingdings" panose="05000000000000000000" pitchFamily="2" charset="2"/>
              </a:rPr>
              <a:t>拷贝，可用一个寄存器</a:t>
            </a:r>
          </a:p>
          <a:p>
            <a:pPr lvl="1" eaLnBrk="1" hangingPunct="1"/>
            <a:r>
              <a:rPr kumimoji="0" lang="en-US" altLang="zh-CN" sz="2400">
                <a:sym typeface="Symbol" panose="05050102010706020507" pitchFamily="18" charset="2"/>
              </a:rPr>
              <a:t>R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 T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400">
                <a:sym typeface="Symbol" panose="05050102010706020507" pitchFamily="18" charset="2"/>
              </a:rPr>
              <a:t>，计算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时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生存期结束，可用同一寄存器，由归纳假设，子树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zh-CN" altLang="en-US" sz="2400">
                <a:sym typeface="Symbol" panose="05050102010706020507" pitchFamily="18" charset="2"/>
              </a:rPr>
              <a:t>如何扩展，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400">
                <a:sym typeface="Symbol" panose="05050102010706020507" pitchFamily="18" charset="2"/>
              </a:rPr>
              <a:t>总可与最初的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zh-CN" altLang="en-US" sz="2400">
                <a:sym typeface="Symbol" panose="05050102010706020507" pitchFamily="18" charset="2"/>
              </a:rPr>
              <a:t>共用同一寄存器</a:t>
            </a:r>
          </a:p>
          <a:p>
            <a:pPr lvl="1" eaLnBrk="1" hangingPunct="1"/>
            <a:r>
              <a:rPr kumimoji="0" lang="zh-CN" altLang="en-US" sz="2400">
                <a:sym typeface="Symbol" panose="05050102010706020507" pitchFamily="18" charset="2"/>
              </a:rPr>
              <a:t>而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为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的拷贝，可共用一个寄存器</a:t>
            </a:r>
            <a:endParaRPr kumimoji="0" lang="zh-CN" altLang="en-US" sz="2400" baseline="-25000">
              <a:sym typeface="Symbol" panose="05050102010706020507" pitchFamily="18" charset="2"/>
            </a:endParaRPr>
          </a:p>
        </p:txBody>
      </p:sp>
      <p:pic>
        <p:nvPicPr>
          <p:cNvPr id="117764" name="Picture 14" descr="overlap">
            <a:extLst>
              <a:ext uri="{FF2B5EF4-FFF2-40B4-BE49-F238E27FC236}">
                <a16:creationId xmlns:a16="http://schemas.microsoft.com/office/drawing/2014/main" id="{AF02D010-8E99-49A6-BCD2-D26A5D520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3957638"/>
            <a:ext cx="3760787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55F13607-CD82-4152-B2A1-B2FB27011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06CC706-868C-4E4C-A2BE-28B3C34FA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 T  { r</a:t>
            </a:r>
            <a:r>
              <a:rPr kumimoji="0" lang="en-US" altLang="zh-CN" sz="2800" i="1">
                <a:sym typeface="Symbol" panose="05050102010706020507" pitchFamily="18" charset="2"/>
              </a:rPr>
              <a:t> = 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 i="1">
                <a:sym typeface="Symbol" panose="05050102010706020507" pitchFamily="18" charset="2"/>
              </a:rPr>
              <a:t>.nptr</a:t>
            </a:r>
            <a:r>
              <a:rPr kumimoji="0" lang="en-US" altLang="zh-CN" sz="280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    R { E.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r}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R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	   </a:t>
            </a:r>
            <a:r>
              <a:rPr kumimoji="0" lang="en-US" altLang="zh-CN" sz="2800">
                <a:sym typeface="Symbol" panose="05050102010706020507" pitchFamily="18" charset="2"/>
              </a:rPr>
              <a:t> T  { r =  mknode(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</a:t>
            </a:r>
            <a:r>
              <a:rPr kumimoji="0" lang="en-US" altLang="zh-CN" sz="2800">
                <a:sym typeface="Symbol" panose="05050102010706020507" pitchFamily="18" charset="2"/>
              </a:rPr>
              <a:t> , r</a:t>
            </a:r>
            <a:r>
              <a:rPr kumimoji="0" lang="en-US" altLang="zh-CN" sz="2800" i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, T.</a:t>
            </a:r>
            <a:r>
              <a:rPr kumimoji="0" lang="en-US" altLang="zh-CN" sz="2800" i="1">
                <a:sym typeface="Symbol" panose="05050102010706020507" pitchFamily="18" charset="2"/>
              </a:rPr>
              <a:t>nptr </a:t>
            </a:r>
            <a:r>
              <a:rPr kumimoji="0" lang="en-US" altLang="zh-CN" sz="2800">
                <a:sym typeface="Symbol" panose="05050102010706020507" pitchFamily="18" charset="2"/>
              </a:rPr>
              <a:t>)}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   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</a:t>
            </a: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kumimoji="0" lang="en-US" altLang="zh-CN" sz="2800">
                <a:sym typeface="Symbol" panose="05050102010706020507" pitchFamily="18" charset="2"/>
              </a:rPr>
              <a:t>{T.</a:t>
            </a:r>
            <a:r>
              <a:rPr kumimoji="0" lang="en-US" altLang="zh-CN" sz="2800" i="1">
                <a:sym typeface="Symbol" panose="05050102010706020507" pitchFamily="18" charset="2"/>
              </a:rPr>
              <a:t>nptr </a:t>
            </a:r>
            <a:r>
              <a:rPr kumimoji="0" lang="en-US" altLang="zh-CN" sz="2800">
                <a:sym typeface="Symbol" panose="05050102010706020507" pitchFamily="18" charset="2"/>
              </a:rPr>
              <a:t>= mkleaf(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sym typeface="Symbol" panose="05050102010706020507" pitchFamily="18" charset="2"/>
              </a:rPr>
              <a:t>)}</a:t>
            </a:r>
            <a:endParaRPr kumimoji="0" lang="en-US" altLang="zh-CN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D19905FE-9C54-47D7-AA2B-80FF6C2C1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12FCCC8-F9D9-42A1-9B08-04A88AA9D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47775"/>
            <a:ext cx="7772400" cy="5381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struct syntax_tree_node *r;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E()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r = T(); R(); return 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R()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{ 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char addoplexeme;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if (lookahead = 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addoplexeme = lexval;   match(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 = mknode(addoplexeme, r, T());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R();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33E12306-3837-472D-A652-4EFAB0F3A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  </a:t>
            </a:r>
            <a:r>
              <a:rPr lang="zh-CN" altLang="en-US"/>
              <a:t>语法制导定义分析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CE3B2789-9415-47C6-85E8-7EDC34496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/>
              <a:t>5.7</a:t>
            </a:r>
            <a:r>
              <a:rPr lang="zh-CN" altLang="en-US" sz="2800"/>
              <a:t>节：多个递归函数协同计算属性</a:t>
            </a:r>
          </a:p>
          <a:p>
            <a:pPr eaLnBrk="1" hangingPunct="1"/>
            <a:r>
              <a:rPr lang="zh-CN" altLang="en-US" sz="2800"/>
              <a:t>一次深度优先无法进行完整翻译</a:t>
            </a:r>
            <a:r>
              <a:rPr lang="en-US" altLang="zh-CN" sz="2800"/>
              <a:t>——</a:t>
            </a:r>
            <a:br>
              <a:rPr lang="en-US" altLang="zh-CN" sz="2800"/>
            </a:br>
            <a:r>
              <a:rPr lang="zh-CN" altLang="en-US" sz="2800"/>
              <a:t>每个综合属性由一个单独函数计算</a:t>
            </a:r>
          </a:p>
          <a:p>
            <a:pPr eaLnBrk="1" hangingPunct="1"/>
            <a:r>
              <a:rPr lang="zh-CN" altLang="en-US">
                <a:solidFill>
                  <a:srgbClr val="3333CC"/>
                </a:solidFill>
              </a:rPr>
              <a:t>例</a:t>
            </a:r>
            <a:r>
              <a:rPr lang="en-US" altLang="zh-CN">
                <a:solidFill>
                  <a:srgbClr val="3333CC"/>
                </a:solidFill>
              </a:rPr>
              <a:t>5.29</a:t>
            </a:r>
          </a:p>
          <a:p>
            <a:pPr lvl="1" eaLnBrk="1" hangingPunct="1"/>
            <a:r>
              <a:rPr lang="zh-CN" altLang="en-US" sz="2400"/>
              <a:t>一个“重载”标识符可以有一组可能的类型</a:t>
            </a:r>
          </a:p>
          <a:p>
            <a:pPr lvl="1" eaLnBrk="1" hangingPunct="1"/>
            <a:r>
              <a:rPr lang="zh-CN" altLang="en-US" sz="2400"/>
              <a:t>表达式有一组可能类型</a:t>
            </a:r>
          </a:p>
          <a:p>
            <a:pPr lvl="1" eaLnBrk="1" hangingPunct="1"/>
            <a:r>
              <a:rPr lang="zh-CN" altLang="en-US" sz="2400"/>
              <a:t>通过上下文确定每个子表达式的类型</a:t>
            </a:r>
          </a:p>
          <a:p>
            <a:pPr lvl="1" eaLnBrk="1" hangingPunct="1"/>
            <a:r>
              <a:rPr lang="zh-CN" altLang="en-US" sz="2400"/>
              <a:t>自底向上计算可能类型集合，自顶向下确定一个最终类型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FA4AF942-FD0A-45C6-9ACA-A9BB51D56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5.29</a:t>
            </a:r>
            <a:r>
              <a:rPr lang="zh-CN" altLang="en-US"/>
              <a:t>（续）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BBAB1C71-48FD-4954-BC72-D52C73CA7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5029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/>
              <a:t>s——</a:t>
            </a:r>
            <a:r>
              <a:rPr lang="zh-CN" altLang="en-US"/>
              <a:t>可能类型集合</a:t>
            </a:r>
            <a:br>
              <a:rPr lang="zh-CN" altLang="en-US"/>
            </a:br>
            <a:r>
              <a:rPr lang="en-US" altLang="zh-CN"/>
              <a:t>t——</a:t>
            </a:r>
            <a:r>
              <a:rPr lang="zh-CN" altLang="en-US"/>
              <a:t>根据上下文确定的最终类型</a:t>
            </a:r>
          </a:p>
        </p:txBody>
      </p:sp>
      <p:sp>
        <p:nvSpPr>
          <p:cNvPr id="121860" name="Line 4">
            <a:extLst>
              <a:ext uri="{FF2B5EF4-FFF2-40B4-BE49-F238E27FC236}">
                <a16:creationId xmlns:a16="http://schemas.microsoft.com/office/drawing/2014/main" id="{AE9C6FAB-4594-4C4B-A33F-893FD5107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1" name="Line 5">
            <a:extLst>
              <a:ext uri="{FF2B5EF4-FFF2-40B4-BE49-F238E27FC236}">
                <a16:creationId xmlns:a16="http://schemas.microsoft.com/office/drawing/2014/main" id="{7F7E7152-DD6C-4A45-9E94-5E887CF4B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2" name="Line 6">
            <a:extLst>
              <a:ext uri="{FF2B5EF4-FFF2-40B4-BE49-F238E27FC236}">
                <a16:creationId xmlns:a16="http://schemas.microsoft.com/office/drawing/2014/main" id="{A77C2018-DA9A-4A3C-9F07-1C8F402D4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3" name="Line 7">
            <a:extLst>
              <a:ext uri="{FF2B5EF4-FFF2-40B4-BE49-F238E27FC236}">
                <a16:creationId xmlns:a16="http://schemas.microsoft.com/office/drawing/2014/main" id="{C4093076-ED75-4B95-B39B-793F6A200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4876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4" name="Line 8">
            <a:extLst>
              <a:ext uri="{FF2B5EF4-FFF2-40B4-BE49-F238E27FC236}">
                <a16:creationId xmlns:a16="http://schemas.microsoft.com/office/drawing/2014/main" id="{00BCA24A-934F-49E7-9276-72732578F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2675" y="1430338"/>
            <a:ext cx="0" cy="345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Text Box 9">
            <a:extLst>
              <a:ext uri="{FF2B5EF4-FFF2-40B4-BE49-F238E27FC236}">
                <a16:creationId xmlns:a16="http://schemas.microsoft.com/office/drawing/2014/main" id="{687671DF-AC12-4824-A773-E47692BB1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1905000"/>
            <a:ext cx="7086600" cy="298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E			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S.</a:t>
            </a:r>
            <a:r>
              <a:rPr kumimoji="0" lang="en-US" altLang="zh-CN" sz="2400" i="1">
                <a:sym typeface="Symbol" panose="05050102010706020507" pitchFamily="18" charset="2"/>
              </a:rPr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 = E.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		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fs</a:t>
            </a:r>
            <a:r>
              <a:rPr kumimoji="0" lang="en-US" altLang="zh-CN" sz="2400">
                <a:sym typeface="Symbol" panose="05050102010706020507" pitchFamily="18" charset="2"/>
              </a:rPr>
              <a:t>(E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fi1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fi2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ft</a:t>
            </a:r>
            <a:r>
              <a:rPr kumimoji="0" lang="en-US" altLang="zh-CN" sz="2400">
                <a:sym typeface="Symbol" panose="05050102010706020507" pitchFamily="18" charset="2"/>
              </a:rPr>
              <a:t>(E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			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			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i="1">
                <a:sym typeface="Symbol" panose="05050102010706020507" pitchFamily="18" charset="2"/>
              </a:rPr>
              <a:t>.t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i="1">
                <a:sym typeface="Symbol" panose="05050102010706020507" pitchFamily="18" charset="2"/>
              </a:rPr>
              <a:t>h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21866" name="Text Box 10">
            <a:extLst>
              <a:ext uri="{FF2B5EF4-FFF2-40B4-BE49-F238E27FC236}">
                <a16:creationId xmlns:a16="http://schemas.microsoft.com/office/drawing/2014/main" id="{F6EB6E67-A4F6-482C-9614-F3DC8CF5F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21867" name="Text Box 11">
            <a:extLst>
              <a:ext uri="{FF2B5EF4-FFF2-40B4-BE49-F238E27FC236}">
                <a16:creationId xmlns:a16="http://schemas.microsoft.com/office/drawing/2014/main" id="{D7FF399B-8BDF-4551-8003-2C9694F2B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21868" name="Text Box 12">
            <a:extLst>
              <a:ext uri="{FF2B5EF4-FFF2-40B4-BE49-F238E27FC236}">
                <a16:creationId xmlns:a16="http://schemas.microsoft.com/office/drawing/2014/main" id="{270BFEC8-12FA-4D3D-A519-37236D08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0FEBBCE3-95EA-456D-9625-D705BB1B9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5.29</a:t>
            </a:r>
            <a:r>
              <a:rPr lang="zh-CN" altLang="en-US"/>
              <a:t>（续）</a:t>
            </a:r>
          </a:p>
        </p:txBody>
      </p:sp>
      <p:pic>
        <p:nvPicPr>
          <p:cNvPr id="122883" name="Picture 14" descr="twopass">
            <a:extLst>
              <a:ext uri="{FF2B5EF4-FFF2-40B4-BE49-F238E27FC236}">
                <a16:creationId xmlns:a16="http://schemas.microsoft.com/office/drawing/2014/main" id="{F8809B4F-DD2F-4087-A17C-B45D99D8B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821213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66E7FBF1-CFED-4BC0-BCFD-AA7391689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5.10.1  </a:t>
            </a:r>
            <a:r>
              <a:rPr lang="zh-CN" altLang="en-US"/>
              <a:t>递归计算属性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84161EA3-0037-4EB9-A1D2-A65D092C7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语法树的依赖图</a:t>
            </a:r>
            <a:r>
              <a:rPr lang="en-US" altLang="zh-CN"/>
              <a:t>——</a:t>
            </a:r>
            <a:r>
              <a:rPr lang="zh-CN" altLang="en-US"/>
              <a:t>小依赖图（对应产生式的语义规则）组成</a:t>
            </a:r>
          </a:p>
          <a:p>
            <a:pPr eaLnBrk="1" hangingPunct="1"/>
            <a:r>
              <a:rPr lang="zh-CN" altLang="en-US"/>
              <a:t>产生式</a:t>
            </a:r>
            <a:r>
              <a:rPr lang="en-US" altLang="zh-CN"/>
              <a:t>p</a:t>
            </a:r>
            <a:r>
              <a:rPr lang="zh-CN" altLang="en-US"/>
              <a:t>的依赖图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zh-CN" altLang="en-US"/>
              <a:t>仅依赖</a:t>
            </a:r>
            <a:r>
              <a:rPr lang="en-US" altLang="zh-CN"/>
              <a:t>p</a:t>
            </a:r>
            <a:r>
              <a:rPr lang="zh-CN" altLang="en-US"/>
              <a:t>的语义规则</a:t>
            </a:r>
          </a:p>
          <a:p>
            <a:pPr eaLnBrk="1" hangingPunct="1"/>
            <a:r>
              <a:rPr lang="zh-CN" altLang="en-US"/>
              <a:t>“局部依赖关系”</a:t>
            </a:r>
          </a:p>
          <a:p>
            <a:pPr eaLnBrk="1" hangingPunct="1"/>
            <a:r>
              <a:rPr lang="zh-CN" altLang="en-US"/>
              <a:t>多趟扫描</a:t>
            </a:r>
          </a:p>
          <a:p>
            <a:pPr eaLnBrk="1" hangingPunct="1"/>
            <a:r>
              <a:rPr lang="zh-CN" altLang="en-US"/>
              <a:t>递归函数（计算综合属性）取继承属性作为参数</a:t>
            </a:r>
          </a:p>
          <a:p>
            <a:pPr eaLnBrk="1" hangingPunct="1"/>
            <a:r>
              <a:rPr lang="en-US" altLang="zh-CN"/>
              <a:t>A.a</a:t>
            </a:r>
            <a:r>
              <a:rPr lang="zh-CN" altLang="en-US"/>
              <a:t>依赖</a:t>
            </a:r>
            <a:r>
              <a:rPr lang="en-US" altLang="zh-CN"/>
              <a:t>A.b——A.b</a:t>
            </a:r>
            <a:r>
              <a:rPr lang="zh-CN" altLang="en-US"/>
              <a:t>作为</a:t>
            </a:r>
            <a:r>
              <a:rPr lang="en-US" altLang="zh-CN"/>
              <a:t>A.a</a:t>
            </a:r>
            <a:r>
              <a:rPr lang="zh-CN" altLang="en-US"/>
              <a:t>函数的参数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37A3273C-FAFA-45EA-9575-8379A373E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</a:p>
        </p:txBody>
      </p:sp>
      <p:pic>
        <p:nvPicPr>
          <p:cNvPr id="124931" name="Picture 4" descr="twopass1">
            <a:extLst>
              <a:ext uri="{FF2B5EF4-FFF2-40B4-BE49-F238E27FC236}">
                <a16:creationId xmlns:a16="http://schemas.microsoft.com/office/drawing/2014/main" id="{CAB6DDA4-34DD-48DC-A1C4-BAA14A4A3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4379913" cy="4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D35A5F0A-DC28-403B-8EA4-41FD6A602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5C84206F-CBF8-4492-BD2E-249F98B9A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Es(n)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switch (</a:t>
            </a:r>
            <a:r>
              <a:rPr lang="zh-CN" altLang="en-US" sz="2400"/>
              <a:t>节点</a:t>
            </a:r>
            <a:r>
              <a:rPr lang="en-US" altLang="zh-CN" sz="2400"/>
              <a:t>n</a:t>
            </a:r>
            <a:r>
              <a:rPr lang="zh-CN" altLang="en-US" sz="2400"/>
              <a:t>使用的产生式</a:t>
            </a:r>
            <a:r>
              <a:rPr lang="en-US" altLang="zh-CN" sz="2400"/>
              <a:t>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case ‘</a:t>
            </a: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s1 = Es(child(n, 1));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s2 = Es(child(n, 2));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fs(s1, s2);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case ‘E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.s;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default: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error();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DC68E795-EE6D-4E36-A6F5-630F6E6AE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573EF580-5DF2-416C-89E9-88395B45F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Et(n, i)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switch (</a:t>
            </a:r>
            <a:r>
              <a:rPr lang="zh-CN" altLang="en-US" sz="2400"/>
              <a:t>节点</a:t>
            </a:r>
            <a:r>
              <a:rPr lang="en-US" altLang="zh-CN" sz="2400"/>
              <a:t>n</a:t>
            </a:r>
            <a:r>
              <a:rPr lang="zh-CN" altLang="en-US" sz="2400"/>
              <a:t>使用的产生式</a:t>
            </a:r>
            <a:r>
              <a:rPr lang="en-US" altLang="zh-CN" sz="2400"/>
              <a:t>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case ‘</a:t>
            </a: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i1 = fil(i);  t1 = Et(child(n, 1), i1);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i2 = fi2(i); t2 = Es(child(n, 2), i2);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ft(t1, t2);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case ‘E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h(i);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default: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error();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ABCAD70D-C658-4472-BBEA-BCD9948E0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689BA24F-1DE3-48FD-8D8D-183EEC7B8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Sr(n)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s = Es(child(n, 1));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i = g(s);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t = Et(child(n, 1), i);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280CD4F-27B4-411E-8920-333367847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5.10.2  </a:t>
            </a:r>
            <a:r>
              <a:rPr lang="zh-CN" altLang="en-US"/>
              <a:t>强无环语法制导定义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5C6E44E6-F10F-4590-9E12-58EB21D8C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上述方法可用于强无环语法制导定义（</a:t>
            </a:r>
            <a:r>
              <a:rPr lang="en-US" altLang="zh-CN">
                <a:solidFill>
                  <a:srgbClr val="FF3300"/>
                </a:solidFill>
              </a:rPr>
              <a:t>strongly noncircular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不同节点相同</a:t>
            </a:r>
            <a:r>
              <a:rPr lang="en-US" altLang="zh-CN"/>
              <a:t>NT </a:t>
            </a:r>
            <a:r>
              <a:rPr lang="zh-CN" altLang="en-US"/>
              <a:t>属性的计算可按照相同（局部）顺序</a:t>
            </a:r>
          </a:p>
          <a:p>
            <a:pPr lvl="1" eaLnBrk="1" hangingPunct="1"/>
            <a:r>
              <a:rPr lang="zh-CN" altLang="en-US"/>
              <a:t>根据此顺序确定选择哪些继承属性作为综合属性计算函数的参数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B93BDC7A-D800-49E1-A281-9FB3226D1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01090D4-3E10-4E46-8075-576C2FAE3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节点</a:t>
            </a:r>
            <a:r>
              <a:rPr lang="en-US" altLang="zh-CN" sz="2800"/>
              <a:t>n</a:t>
            </a:r>
            <a:r>
              <a:rPr lang="zh-CN" altLang="en-US" sz="2800"/>
              <a:t>，对应的</a:t>
            </a:r>
            <a:r>
              <a:rPr lang="en-US" altLang="zh-CN" sz="2800"/>
              <a:t>NT A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/>
              <a:t>依赖图中路径，</a:t>
            </a:r>
            <a:r>
              <a:rPr lang="en-US" altLang="zh-CN" sz="2400"/>
              <a:t>n</a:t>
            </a:r>
            <a:r>
              <a:rPr lang="zh-CN" altLang="en-US" sz="2400"/>
              <a:t>的一个属性</a:t>
            </a:r>
            <a:r>
              <a:rPr lang="zh-CN" altLang="en-US" sz="2400">
                <a:sym typeface="Wingdings" panose="05000000000000000000" pitchFamily="2" charset="2"/>
              </a:rPr>
              <a:t>其他节点属性</a:t>
            </a:r>
            <a:r>
              <a:rPr lang="en-US" altLang="zh-CN" sz="2400">
                <a:sym typeface="Wingdings" panose="05000000000000000000" pitchFamily="2" charset="2"/>
              </a:rPr>
              <a:t>n</a:t>
            </a:r>
            <a:r>
              <a:rPr lang="zh-CN" altLang="en-US" sz="2400">
                <a:sym typeface="Wingdings" panose="05000000000000000000" pitchFamily="2" charset="2"/>
              </a:rPr>
              <a:t>的另一个属性</a:t>
            </a: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路径位于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之下？继承属性综合属性</a:t>
            </a:r>
          </a:p>
          <a:p>
            <a:pPr eaLnBrk="1" hangingPunct="1"/>
            <a:r>
              <a:rPr lang="zh-CN" altLang="en-US" sz="2800"/>
              <a:t>令产生式</a:t>
            </a:r>
            <a:r>
              <a:rPr lang="en-US" altLang="zh-CN" sz="2800"/>
              <a:t>p</a:t>
            </a:r>
            <a:r>
              <a:rPr lang="zh-CN" altLang="en-US" sz="2800"/>
              <a:t>右部</a:t>
            </a:r>
            <a:r>
              <a:rPr lang="en-US" altLang="zh-CN" sz="2800"/>
              <a:t>NT 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en-US" altLang="zh-CN" sz="2800" baseline="-25000"/>
              <a:t>1</a:t>
            </a:r>
            <a:r>
              <a:rPr lang="en-US" altLang="zh-CN" sz="2800"/>
              <a:t>, A</a:t>
            </a:r>
            <a:r>
              <a:rPr lang="en-US" altLang="zh-CN" sz="2800" baseline="-25000"/>
              <a:t>2</a:t>
            </a:r>
            <a:r>
              <a:rPr lang="en-US" altLang="zh-CN" sz="2800"/>
              <a:t>, …, A</a:t>
            </a:r>
            <a:r>
              <a:rPr lang="en-US" altLang="zh-CN" sz="2800" baseline="-25000"/>
              <a:t>n</a:t>
            </a:r>
            <a:br>
              <a:rPr lang="en-US" altLang="zh-CN" sz="2800" baseline="-25000"/>
            </a:br>
            <a:r>
              <a:rPr lang="en-US" altLang="zh-CN" sz="2800"/>
              <a:t>RA</a:t>
            </a:r>
            <a:r>
              <a:rPr lang="en-US" altLang="zh-CN" sz="2800" baseline="-25000"/>
              <a:t>j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en-US" altLang="zh-CN" sz="2800" baseline="-25000"/>
              <a:t>j</a:t>
            </a:r>
            <a:r>
              <a:rPr lang="zh-CN" altLang="en-US" sz="2800"/>
              <a:t>的属性的局部顺序</a:t>
            </a:r>
          </a:p>
          <a:p>
            <a:pPr eaLnBrk="1" hangingPunct="1"/>
            <a:r>
              <a:rPr lang="en-US" altLang="zh-CN" sz="2800"/>
              <a:t>D</a:t>
            </a:r>
            <a:r>
              <a:rPr lang="en-US" altLang="zh-CN" sz="2800" baseline="-25000"/>
              <a:t>p</a:t>
            </a:r>
            <a:r>
              <a:rPr lang="en-US" altLang="zh-CN" sz="2800"/>
              <a:t>[RA</a:t>
            </a:r>
            <a:r>
              <a:rPr lang="en-US" altLang="zh-CN" sz="2800" baseline="-25000"/>
              <a:t>1</a:t>
            </a:r>
            <a:r>
              <a:rPr lang="en-US" altLang="zh-CN" sz="2800"/>
              <a:t>, RA</a:t>
            </a:r>
            <a:r>
              <a:rPr lang="en-US" altLang="zh-CN" sz="2800" baseline="-25000"/>
              <a:t>2</a:t>
            </a:r>
            <a:r>
              <a:rPr lang="en-US" altLang="zh-CN" sz="2800"/>
              <a:t>, …, RA</a:t>
            </a:r>
            <a:r>
              <a:rPr lang="en-US" altLang="zh-CN" sz="2800" baseline="-25000"/>
              <a:t>n</a:t>
            </a:r>
            <a:r>
              <a:rPr lang="en-US" altLang="zh-CN" sz="2800"/>
              <a:t>]</a:t>
            </a:r>
            <a:r>
              <a:rPr lang="zh-CN" altLang="en-US" sz="2800"/>
              <a:t>：按如下顺序扩展</a:t>
            </a:r>
            <a:r>
              <a:rPr lang="en-US" altLang="zh-CN" sz="2800"/>
              <a:t>D</a:t>
            </a:r>
            <a:r>
              <a:rPr lang="en-US" altLang="zh-CN" sz="2800" baseline="-25000"/>
              <a:t>p</a:t>
            </a:r>
            <a:r>
              <a:rPr lang="zh-CN" altLang="en-US" sz="2800"/>
              <a:t>得到的图</a:t>
            </a:r>
          </a:p>
          <a:p>
            <a:pPr lvl="1" eaLnBrk="1" hangingPunct="1"/>
            <a:r>
              <a:rPr lang="zh-CN" altLang="en-US" sz="2400"/>
              <a:t>若顺序</a:t>
            </a:r>
            <a:r>
              <a:rPr lang="en-US" altLang="zh-CN" sz="2400"/>
              <a:t>RA</a:t>
            </a:r>
            <a:r>
              <a:rPr lang="en-US" altLang="zh-CN" sz="2400" baseline="-25000"/>
              <a:t>j</a:t>
            </a:r>
            <a:r>
              <a:rPr lang="zh-CN" altLang="en-US" sz="2400"/>
              <a:t>中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.b</a:t>
            </a:r>
            <a:r>
              <a:rPr lang="zh-CN" altLang="en-US" sz="2400"/>
              <a:t>位于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.c</a:t>
            </a:r>
            <a:r>
              <a:rPr lang="zh-CN" altLang="en-US" sz="2400"/>
              <a:t>之前，添加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.b</a:t>
            </a:r>
            <a:r>
              <a:rPr lang="zh-CN" altLang="en-US" sz="2400"/>
              <a:t>到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.c</a:t>
            </a:r>
            <a:r>
              <a:rPr lang="zh-CN" altLang="en-US" sz="2400"/>
              <a:t>的一条边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CF5FCD6A-E03F-49C4-937E-90963A7A8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定义（续）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1CA819EF-FADA-4712-A68D-820F59A6D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一个语法制导定义如果满足如下条件，则称之为“强无环的”</a:t>
            </a:r>
          </a:p>
          <a:p>
            <a:pPr marL="990600" lvl="1" indent="-533400" eaLnBrk="1" hangingPunct="1"/>
            <a:r>
              <a:rPr lang="zh-CN" altLang="en-US"/>
              <a:t>每个</a:t>
            </a:r>
            <a:r>
              <a:rPr lang="en-US" altLang="zh-CN"/>
              <a:t>NT A</a:t>
            </a:r>
            <a:r>
              <a:rPr lang="zh-CN" altLang="en-US"/>
              <a:t>，存在其属性的局部顺序</a:t>
            </a:r>
            <a:r>
              <a:rPr lang="en-US" altLang="zh-CN"/>
              <a:t>RA</a:t>
            </a:r>
            <a:br>
              <a:rPr lang="en-US" altLang="zh-CN"/>
            </a:br>
            <a:r>
              <a:rPr lang="zh-CN" altLang="en-US"/>
              <a:t>使得：对每个形如</a:t>
            </a:r>
            <a:r>
              <a:rPr lang="en-US" altLang="zh-CN"/>
              <a:t>A→A</a:t>
            </a:r>
            <a:r>
              <a:rPr lang="en-US" altLang="zh-CN" baseline="-25000"/>
              <a:t>1</a:t>
            </a:r>
            <a:r>
              <a:rPr lang="en-US" altLang="zh-CN"/>
              <a:t>, A</a:t>
            </a:r>
            <a:r>
              <a:rPr lang="en-US" altLang="zh-CN" baseline="-25000"/>
              <a:t>2</a:t>
            </a:r>
            <a:r>
              <a:rPr lang="en-US" altLang="zh-CN"/>
              <a:t>, …, A</a:t>
            </a:r>
            <a:r>
              <a:rPr lang="en-US" altLang="zh-CN" baseline="-25000"/>
              <a:t>n</a:t>
            </a:r>
            <a:r>
              <a:rPr lang="zh-CN" altLang="en-US"/>
              <a:t>的产生式</a:t>
            </a:r>
            <a:r>
              <a:rPr lang="en-US" altLang="zh-CN"/>
              <a:t>p</a:t>
            </a:r>
            <a:r>
              <a:rPr lang="zh-CN" altLang="en-US"/>
              <a:t>，满足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en-US" altLang="zh-CN"/>
              <a:t>[RA</a:t>
            </a:r>
            <a:r>
              <a:rPr lang="en-US" altLang="zh-CN" baseline="-25000"/>
              <a:t>1</a:t>
            </a:r>
            <a:r>
              <a:rPr lang="en-US" altLang="zh-CN"/>
              <a:t>, RA</a:t>
            </a:r>
            <a:r>
              <a:rPr lang="en-US" altLang="zh-CN" baseline="-25000"/>
              <a:t>2</a:t>
            </a:r>
            <a:r>
              <a:rPr lang="en-US" altLang="zh-CN"/>
              <a:t>, …, RA</a:t>
            </a:r>
            <a:r>
              <a:rPr lang="en-US" altLang="zh-CN" baseline="-25000"/>
              <a:t>n</a:t>
            </a:r>
            <a:r>
              <a:rPr lang="en-US" altLang="zh-CN"/>
              <a:t>]</a:t>
            </a:r>
            <a:r>
              <a:rPr lang="zh-CN" altLang="en-US"/>
              <a:t>为无环图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en-US" altLang="zh-CN"/>
              <a:t>[RA</a:t>
            </a:r>
            <a:r>
              <a:rPr lang="en-US" altLang="zh-CN" baseline="-25000"/>
              <a:t>1</a:t>
            </a:r>
            <a:r>
              <a:rPr lang="en-US" altLang="zh-CN"/>
              <a:t>, RA</a:t>
            </a:r>
            <a:r>
              <a:rPr lang="en-US" altLang="zh-CN" baseline="-25000"/>
              <a:t>2</a:t>
            </a:r>
            <a:r>
              <a:rPr lang="en-US" altLang="zh-CN"/>
              <a:t>, …, RA</a:t>
            </a:r>
            <a:r>
              <a:rPr lang="en-US" altLang="zh-CN" baseline="-25000"/>
              <a:t>n</a:t>
            </a:r>
            <a:r>
              <a:rPr lang="en-US" altLang="zh-CN"/>
              <a:t>]</a:t>
            </a:r>
            <a:r>
              <a:rPr lang="zh-CN" altLang="en-US"/>
              <a:t>存在</a:t>
            </a:r>
            <a:r>
              <a:rPr lang="en-US" altLang="zh-CN"/>
              <a:t>A.b</a:t>
            </a:r>
            <a:r>
              <a:rPr lang="zh-CN" altLang="en-US"/>
              <a:t>到</a:t>
            </a:r>
            <a:r>
              <a:rPr lang="en-US" altLang="zh-CN"/>
              <a:t>A.c</a:t>
            </a:r>
            <a:r>
              <a:rPr lang="zh-CN" altLang="en-US"/>
              <a:t>的边，则顺序</a:t>
            </a:r>
            <a:r>
              <a:rPr lang="en-US" altLang="zh-CN"/>
              <a:t>RA</a:t>
            </a:r>
            <a:r>
              <a:rPr lang="zh-CN" altLang="en-US"/>
              <a:t>中</a:t>
            </a:r>
            <a:r>
              <a:rPr lang="en-US" altLang="zh-CN"/>
              <a:t>A.b</a:t>
            </a:r>
            <a:r>
              <a:rPr lang="zh-CN" altLang="en-US"/>
              <a:t>在</a:t>
            </a:r>
            <a:r>
              <a:rPr lang="en-US" altLang="zh-CN"/>
              <a:t>A.c</a:t>
            </a:r>
            <a:r>
              <a:rPr lang="zh-CN" altLang="en-US"/>
              <a:t>之前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C1606016-90FD-4B77-96D1-B761E4695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5.31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C70D1F85-3230-4A0D-B973-6BF846C3D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3352800"/>
          </a:xfrm>
        </p:spPr>
        <p:txBody>
          <a:bodyPr/>
          <a:lstStyle/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E 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800"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设定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zh-CN" altLang="en-US" sz="2800">
                <a:sym typeface="Symbol" panose="05050102010706020507" pitchFamily="18" charset="2"/>
              </a:rPr>
              <a:t>：</a:t>
            </a:r>
            <a:r>
              <a:rPr kumimoji="0" lang="en-US" altLang="zh-CN" sz="2800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Wingdings" panose="05000000000000000000" pitchFamily="2" charset="2"/>
              </a:rPr>
              <a:t>it</a:t>
            </a:r>
            <a:r>
              <a:rPr kumimoji="0" lang="zh-CN" altLang="en-US" sz="2800">
                <a:sym typeface="Wingdings" panose="05000000000000000000" pitchFamily="2" charset="2"/>
              </a:rPr>
              <a:t>， 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zh-CN" altLang="en-US" sz="2800">
                <a:sym typeface="Symbol" panose="05050102010706020507" pitchFamily="18" charset="2"/>
              </a:rPr>
              <a:t>与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zh-CN" altLang="en-US" sz="2800">
                <a:sym typeface="Symbol" panose="05050102010706020507" pitchFamily="18" charset="2"/>
              </a:rPr>
              <a:t>相同</a:t>
            </a:r>
            <a:endParaRPr kumimoji="0" lang="zh-CN" altLang="en-US" sz="2800">
              <a:sym typeface="Wingdings" panose="05000000000000000000" pitchFamily="2" charset="2"/>
            </a:endParaRPr>
          </a:p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D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p</a:t>
            </a:r>
            <a:r>
              <a:rPr kumimoji="0" lang="en-US" altLang="zh-CN" sz="2800">
                <a:sym typeface="Symbol" panose="05050102010706020507" pitchFamily="18" charset="2"/>
              </a:rPr>
              <a:t>[RE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, 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]</a:t>
            </a:r>
            <a:r>
              <a:rPr kumimoji="0" lang="zh-CN" altLang="en-US" sz="2800">
                <a:sym typeface="Symbol" panose="05050102010706020507" pitchFamily="18" charset="2"/>
              </a:rPr>
              <a:t>如上图所示</a:t>
            </a: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唯一路径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Wingdings" panose="05000000000000000000" pitchFamily="2" charset="2"/>
              </a:rPr>
              <a:t>t</a:t>
            </a:r>
            <a:r>
              <a:rPr kumimoji="0" lang="zh-CN" altLang="en-US" sz="2800">
                <a:sym typeface="Wingdings" panose="05000000000000000000" pitchFamily="2" charset="2"/>
              </a:rPr>
              <a:t>，与</a:t>
            </a:r>
            <a:r>
              <a:rPr kumimoji="0" lang="en-US" altLang="zh-CN" sz="2800">
                <a:sym typeface="Wingdings" panose="05000000000000000000" pitchFamily="2" charset="2"/>
              </a:rPr>
              <a:t>RE</a:t>
            </a:r>
            <a:r>
              <a:rPr kumimoji="0" lang="zh-CN" altLang="en-US" sz="2800">
                <a:sym typeface="Wingdings" panose="05000000000000000000" pitchFamily="2" charset="2"/>
              </a:rPr>
              <a:t>不矛盾</a:t>
            </a:r>
            <a:endParaRPr kumimoji="0" lang="zh-CN" altLang="en-US" sz="2800">
              <a:sym typeface="Symbol" panose="05050102010706020507" pitchFamily="18" charset="2"/>
            </a:endParaRPr>
          </a:p>
        </p:txBody>
      </p:sp>
      <p:pic>
        <p:nvPicPr>
          <p:cNvPr id="132100" name="Picture 4" descr="twopass2">
            <a:extLst>
              <a:ext uri="{FF2B5EF4-FFF2-40B4-BE49-F238E27FC236}">
                <a16:creationId xmlns:a16="http://schemas.microsoft.com/office/drawing/2014/main" id="{1D69F83B-302E-4964-A338-9610E3EBC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295400"/>
            <a:ext cx="4340225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060200D2-31DF-491D-99CF-1525FBE99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5.10.3  </a:t>
            </a:r>
            <a:r>
              <a:rPr lang="zh-CN" altLang="en-US"/>
              <a:t>检测回路（例</a:t>
            </a:r>
            <a:r>
              <a:rPr lang="en-US" altLang="zh-CN"/>
              <a:t>5.32</a:t>
            </a:r>
            <a:r>
              <a:rPr lang="zh-CN" altLang="en-US"/>
              <a:t>）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3D8191B-2202-4634-B956-FFFC6075B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2743200"/>
          </a:xfrm>
        </p:spPr>
        <p:txBody>
          <a:bodyPr/>
          <a:lstStyle/>
          <a:p>
            <a:pPr eaLnBrk="1" hangingPunct="1"/>
            <a:r>
              <a:rPr lang="zh-CN" altLang="en-US"/>
              <a:t>路径与产生式有关：</a:t>
            </a:r>
            <a:r>
              <a:rPr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1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zh-CN" altLang="en-US">
                <a:sym typeface="Symbol" panose="05050102010706020507" pitchFamily="18" charset="2"/>
              </a:rPr>
              <a:t>依赖</a:t>
            </a:r>
            <a:r>
              <a:rPr kumimoji="0" lang="en-US" altLang="zh-CN">
                <a:sym typeface="Symbol" panose="05050102010706020507" pitchFamily="18" charset="2"/>
              </a:rPr>
              <a:t>i</a:t>
            </a:r>
            <a:r>
              <a:rPr kumimoji="0" lang="zh-CN" altLang="en-US">
                <a:sym typeface="Symbol" panose="05050102010706020507" pitchFamily="18" charset="2"/>
              </a:rPr>
              <a:t>，否则不依赖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为获得完整依赖关系，需保存所有可能局部顺序集合</a:t>
            </a:r>
          </a:p>
        </p:txBody>
      </p:sp>
      <p:sp>
        <p:nvSpPr>
          <p:cNvPr id="133124" name="Line 4">
            <a:extLst>
              <a:ext uri="{FF2B5EF4-FFF2-40B4-BE49-F238E27FC236}">
                <a16:creationId xmlns:a16="http://schemas.microsoft.com/office/drawing/2014/main" id="{B8674BD4-F370-4C14-8875-237116451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5" name="Line 5">
            <a:extLst>
              <a:ext uri="{FF2B5EF4-FFF2-40B4-BE49-F238E27FC236}">
                <a16:creationId xmlns:a16="http://schemas.microsoft.com/office/drawing/2014/main" id="{CFECA3B4-100F-4534-912C-4C4AFE2E9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6" name="Line 6">
            <a:extLst>
              <a:ext uri="{FF2B5EF4-FFF2-40B4-BE49-F238E27FC236}">
                <a16:creationId xmlns:a16="http://schemas.microsoft.com/office/drawing/2014/main" id="{A9267AEF-F9FD-4C0E-8304-A386D8AFB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7" name="Line 7">
            <a:extLst>
              <a:ext uri="{FF2B5EF4-FFF2-40B4-BE49-F238E27FC236}">
                <a16:creationId xmlns:a16="http://schemas.microsoft.com/office/drawing/2014/main" id="{D46914DD-1BA2-4AE2-8C4B-A0F1584BF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75" y="3048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8" name="Line 8">
            <a:extLst>
              <a:ext uri="{FF2B5EF4-FFF2-40B4-BE49-F238E27FC236}">
                <a16:creationId xmlns:a16="http://schemas.microsoft.com/office/drawing/2014/main" id="{F357EFE6-B178-4834-9FA2-B7E837E44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2675" y="1430338"/>
            <a:ext cx="0" cy="1619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9" name="Text Box 9">
            <a:extLst>
              <a:ext uri="{FF2B5EF4-FFF2-40B4-BE49-F238E27FC236}">
                <a16:creationId xmlns:a16="http://schemas.microsoft.com/office/drawing/2014/main" id="{AE99BE3D-6CCC-4F4F-B5B9-944B272E1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1905000"/>
            <a:ext cx="7086600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A				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c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1 	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2	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d</a:t>
            </a:r>
            <a:endParaRPr kumimoji="0" lang="en-US" altLang="zh-CN" sz="2400" i="1">
              <a:sym typeface="Symbol" panose="05050102010706020507" pitchFamily="18" charset="2"/>
            </a:endParaRPr>
          </a:p>
        </p:txBody>
      </p:sp>
      <p:sp>
        <p:nvSpPr>
          <p:cNvPr id="133130" name="Text Box 10">
            <a:extLst>
              <a:ext uri="{FF2B5EF4-FFF2-40B4-BE49-F238E27FC236}">
                <a16:creationId xmlns:a16="http://schemas.microsoft.com/office/drawing/2014/main" id="{FF020672-0C3D-4488-8CB9-DD944E19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33131" name="Text Box 11">
            <a:extLst>
              <a:ext uri="{FF2B5EF4-FFF2-40B4-BE49-F238E27FC236}">
                <a16:creationId xmlns:a16="http://schemas.microsoft.com/office/drawing/2014/main" id="{3648F6AE-7B44-4DBB-8691-3027A2519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</a:p>
        </p:txBody>
      </p:sp>
      <p:sp>
        <p:nvSpPr>
          <p:cNvPr id="133132" name="Text Box 12">
            <a:extLst>
              <a:ext uri="{FF2B5EF4-FFF2-40B4-BE49-F238E27FC236}">
                <a16:creationId xmlns:a16="http://schemas.microsoft.com/office/drawing/2014/main" id="{B8340834-0FB6-44AA-9D61-6A51197CE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1EFBEB63-8B4B-43FE-B8BA-59C0CB29B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回路检测算法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611258B0-D58C-4353-854B-36436EA97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局部顺序</a:t>
            </a:r>
            <a:r>
              <a:rPr lang="zh-CN" altLang="en-US">
                <a:sym typeface="Wingdings" panose="05000000000000000000" pitchFamily="2" charset="2"/>
              </a:rPr>
              <a:t>有向无环图，检测</a:t>
            </a:r>
            <a:r>
              <a:rPr lang="en-US" altLang="zh-CN">
                <a:sym typeface="Wingdings" panose="05000000000000000000" pitchFamily="2" charset="2"/>
              </a:rPr>
              <a:t>DAG</a:t>
            </a:r>
          </a:p>
          <a:p>
            <a:pPr lvl="1" eaLnBrk="1" hangingPunct="1"/>
            <a:r>
              <a:rPr lang="zh-CN" altLang="en-US"/>
              <a:t>产生式</a:t>
            </a:r>
            <a:r>
              <a:rPr lang="en-US" altLang="zh-CN"/>
              <a:t>p</a:t>
            </a:r>
            <a:r>
              <a:rPr lang="zh-CN" altLang="en-US"/>
              <a:t>： </a:t>
            </a:r>
            <a:r>
              <a:rPr kumimoji="0" lang="en-US" altLang="zh-CN">
                <a:sym typeface="Symbol" panose="05050102010706020507" pitchFamily="18" charset="2"/>
              </a:rPr>
              <a:t>A </a:t>
            </a:r>
            <a:r>
              <a:rPr kumimoji="0" lang="en-US" altLang="zh-CN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n</a:t>
            </a:r>
            <a:r>
              <a:rPr lang="zh-CN" altLang="en-US"/>
              <a:t>，依赖图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endParaRPr lang="en-US" altLang="zh-CN"/>
          </a:p>
          <a:p>
            <a:pPr lvl="1" eaLnBrk="1" hangingPunct="1"/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为</a:t>
            </a:r>
            <a:r>
              <a:rPr lang="en-US" altLang="zh-CN"/>
              <a:t>X</a:t>
            </a:r>
            <a:r>
              <a:rPr lang="en-US" altLang="zh-CN" baseline="-25000"/>
              <a:t>j</a:t>
            </a:r>
            <a:r>
              <a:rPr lang="zh-CN" altLang="en-US"/>
              <a:t>的</a:t>
            </a:r>
            <a:r>
              <a:rPr lang="en-US" altLang="zh-CN"/>
              <a:t>DAG</a:t>
            </a:r>
          </a:p>
          <a:p>
            <a:pPr lvl="1" eaLnBrk="1" hangingPunct="1"/>
            <a:r>
              <a:rPr lang="zh-CN" altLang="en-US"/>
              <a:t>将</a:t>
            </a:r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中边</a:t>
            </a:r>
            <a:r>
              <a:rPr lang="en-US" altLang="zh-CN"/>
              <a:t>b</a:t>
            </a:r>
            <a:r>
              <a:rPr lang="en-US" altLang="zh-CN">
                <a:sym typeface="Wingdings" panose="05000000000000000000" pitchFamily="2" charset="2"/>
              </a:rPr>
              <a:t>a</a:t>
            </a:r>
            <a:r>
              <a:rPr lang="zh-CN" altLang="en-US">
                <a:sym typeface="Wingdings" panose="05000000000000000000" pitchFamily="2" charset="2"/>
              </a:rPr>
              <a:t>暂时加入依赖图</a:t>
            </a:r>
            <a:r>
              <a:rPr lang="en-US" altLang="zh-CN">
                <a:sym typeface="Wingdings" panose="05000000000000000000" pitchFamily="2" charset="2"/>
              </a:rPr>
              <a:t>D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若结果依赖图存在回路，则语法制导定义是有回路的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否则，图中路径形成产生式左部</a:t>
            </a:r>
            <a:r>
              <a:rPr lang="en-US" altLang="zh-CN">
                <a:sym typeface="Wingdings" panose="05000000000000000000" pitchFamily="2" charset="2"/>
              </a:rPr>
              <a:t>NT </a:t>
            </a:r>
            <a:r>
              <a:rPr lang="zh-CN" altLang="en-US">
                <a:sym typeface="Wingdings" panose="05000000000000000000" pitchFamily="2" charset="2"/>
              </a:rPr>
              <a:t>属性的新的</a:t>
            </a:r>
            <a:r>
              <a:rPr lang="en-US" altLang="zh-CN">
                <a:sym typeface="Wingdings" panose="05000000000000000000" pitchFamily="2" charset="2"/>
              </a:rPr>
              <a:t>DAG</a:t>
            </a:r>
            <a:r>
              <a:rPr lang="zh-CN" altLang="en-US">
                <a:sym typeface="Wingdings" panose="05000000000000000000" pitchFamily="2" charset="2"/>
              </a:rPr>
              <a:t>，将它</a:t>
            </a:r>
            <a:r>
              <a:rPr lang="zh-CN" altLang="en-US">
                <a:latin typeface="Monotype Corsiva" panose="03010101010201010101" pitchFamily="66" charset="0"/>
                <a:sym typeface="Wingdings" panose="05000000000000000000" pitchFamily="2" charset="2"/>
              </a:rPr>
              <a:t>加入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endParaRPr lang="en-US" altLang="zh-CN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9BB9320-2481-4338-9617-C5F171920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B5277290-E72E-42CD-B5FC-0A614B7D2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for</a:t>
            </a:r>
            <a:r>
              <a:rPr lang="en-US" altLang="zh-CN" sz="2400"/>
              <a:t> </a:t>
            </a:r>
            <a:r>
              <a:rPr lang="zh-CN" altLang="en-US" sz="2400"/>
              <a:t>每个语法符号</a:t>
            </a:r>
            <a:r>
              <a:rPr lang="en-US" altLang="zh-CN" sz="2400"/>
              <a:t>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(X)</a:t>
            </a:r>
            <a:r>
              <a:rPr lang="zh-CN" altLang="en-US" sz="2400"/>
              <a:t>仅包含一个图：节点为</a:t>
            </a:r>
            <a:r>
              <a:rPr lang="en-US" altLang="zh-CN" sz="2400"/>
              <a:t>X</a:t>
            </a:r>
            <a:r>
              <a:rPr lang="zh-CN" altLang="en-US" sz="2400"/>
              <a:t>的属性，无任何边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change = </a:t>
            </a:r>
            <a:r>
              <a:rPr lang="en-US" altLang="zh-CN" sz="2400" b="1"/>
              <a:t>false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for</a:t>
            </a:r>
            <a:r>
              <a:rPr lang="en-US" altLang="zh-CN" sz="2400"/>
              <a:t> </a:t>
            </a:r>
            <a:r>
              <a:rPr lang="zh-CN" altLang="en-US" sz="2400"/>
              <a:t>产生式</a:t>
            </a:r>
            <a:r>
              <a:rPr lang="en-US" altLang="zh-CN" sz="2400"/>
              <a:t>p</a:t>
            </a:r>
            <a:r>
              <a:rPr lang="zh-CN" altLang="en-US" sz="2400"/>
              <a:t>： </a:t>
            </a:r>
            <a:r>
              <a:rPr kumimoji="0" lang="en-US" altLang="zh-CN" sz="2400">
                <a:sym typeface="Symbol" panose="05050102010706020507" pitchFamily="18" charset="2"/>
              </a:rPr>
              <a:t>A  </a:t>
            </a:r>
            <a:r>
              <a:rPr lang="en-US" altLang="zh-CN" sz="2400"/>
              <a:t>X</a:t>
            </a:r>
            <a:r>
              <a:rPr lang="en-US" altLang="zh-CN" sz="2400" baseline="-25000"/>
              <a:t>1</a:t>
            </a:r>
            <a:r>
              <a:rPr lang="en-US" altLang="zh-CN" sz="2400"/>
              <a:t>X</a:t>
            </a:r>
            <a:r>
              <a:rPr lang="en-US" altLang="zh-CN" sz="2400" baseline="-25000"/>
              <a:t>2</a:t>
            </a:r>
            <a:r>
              <a:rPr lang="en-US" altLang="zh-CN" sz="2400"/>
              <a:t>…X</a:t>
            </a:r>
            <a:r>
              <a:rPr lang="en-US" altLang="zh-CN" sz="2400" baseline="-25000"/>
              <a:t>n</a:t>
            </a:r>
            <a:r>
              <a:rPr lang="en-US" altLang="zh-CN" sz="2400"/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en-US" altLang="zh-CN" sz="2400" b="1"/>
              <a:t>for</a:t>
            </a:r>
            <a:r>
              <a:rPr lang="en-US" altLang="zh-CN" sz="2400"/>
              <a:t> dag G</a:t>
            </a:r>
            <a:r>
              <a:rPr lang="en-US" altLang="zh-CN" sz="2400" baseline="-25000"/>
              <a:t>1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</a:t>
            </a:r>
            <a:r>
              <a:rPr lang="en-US" altLang="zh-CN" sz="2400" baseline="-25000"/>
              <a:t>1</a:t>
            </a:r>
            <a:r>
              <a:rPr lang="en-US" altLang="zh-CN" sz="2400"/>
              <a:t>), … G</a:t>
            </a:r>
            <a:r>
              <a:rPr lang="en-US" altLang="zh-CN" sz="2400" baseline="-25000"/>
              <a:t>k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</a:t>
            </a:r>
            <a:r>
              <a:rPr lang="en-US" altLang="zh-CN" sz="2400" baseline="-25000"/>
              <a:t>k</a:t>
            </a:r>
            <a:r>
              <a:rPr lang="en-US" altLang="zh-CN" sz="2400"/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D = D</a:t>
            </a:r>
            <a:r>
              <a:rPr lang="en-US" altLang="zh-CN" sz="2400" baseline="-25000"/>
              <a:t>p</a:t>
            </a:r>
            <a:r>
              <a:rPr lang="en-US" altLang="zh-CN" sz="240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</a:t>
            </a:r>
            <a:r>
              <a:rPr lang="en-US" altLang="zh-CN" sz="2400" b="1"/>
              <a:t>for</a:t>
            </a:r>
            <a:r>
              <a:rPr lang="en-US" altLang="zh-CN" sz="2400"/>
              <a:t> G</a:t>
            </a:r>
            <a:r>
              <a:rPr lang="en-US" altLang="zh-CN" sz="2400" baseline="-25000"/>
              <a:t>j</a:t>
            </a:r>
            <a:r>
              <a:rPr lang="zh-CN" altLang="en-US" sz="2400"/>
              <a:t>中边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zh-CN" altLang="en-US" sz="2400">
                <a:sym typeface="Wingdings" panose="05000000000000000000" pitchFamily="2" charset="2"/>
              </a:rPr>
              <a:t>在</a:t>
            </a:r>
            <a:r>
              <a:rPr lang="en-US" altLang="zh-CN" sz="2400">
                <a:sym typeface="Wingdings" panose="05000000000000000000" pitchFamily="2" charset="2"/>
              </a:rPr>
              <a:t>D</a:t>
            </a:r>
            <a:r>
              <a:rPr lang="zh-CN" altLang="en-US" sz="2400">
                <a:sym typeface="Wingdings" panose="05000000000000000000" pitchFamily="2" charset="2"/>
              </a:rPr>
              <a:t>中添加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r>
              <a:rPr lang="zh-CN" altLang="en-US" sz="2400">
                <a:sym typeface="Wingdings" panose="05000000000000000000" pitchFamily="2" charset="2"/>
              </a:rPr>
              <a:t>的边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D</a:t>
            </a:r>
            <a:r>
              <a:rPr lang="zh-CN" altLang="en-US" sz="2400">
                <a:sym typeface="Wingdings" panose="05000000000000000000" pitchFamily="2" charset="2"/>
              </a:rPr>
              <a:t>包含回路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ym typeface="Wingdings" panose="05000000000000000000" pitchFamily="2" charset="2"/>
              </a:rPr>
              <a:t>				失败，语法制导定义包含回路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58686A81-2B3A-41CA-8A04-C8319085F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算法描述（续）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15DC79FD-55FE-49FB-AE55-1EC4BFE61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</a:t>
            </a:r>
            <a:r>
              <a:rPr lang="en-US" altLang="zh-CN" sz="2400" b="1">
                <a:sym typeface="Wingdings" panose="05000000000000000000" pitchFamily="2" charset="2"/>
              </a:rPr>
              <a:t>else</a:t>
            </a:r>
            <a:r>
              <a:rPr lang="en-US" altLang="zh-CN" sz="2400">
                <a:sym typeface="Wingdings" panose="05000000000000000000" pitchFamily="2" charset="2"/>
              </a:rPr>
              <a:t>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G=</a:t>
            </a:r>
            <a:r>
              <a:rPr lang="zh-CN" altLang="en-US" sz="2400">
                <a:sym typeface="Wingdings" panose="05000000000000000000" pitchFamily="2" charset="2"/>
              </a:rPr>
              <a:t>包含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的属性，无边的图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en-US" altLang="zh-CN" sz="2400" b="1">
                <a:sym typeface="Wingdings" panose="05000000000000000000" pitchFamily="2" charset="2"/>
              </a:rPr>
              <a:t>for</a:t>
            </a:r>
            <a:r>
              <a:rPr lang="en-US" altLang="zh-CN" sz="2400">
                <a:sym typeface="Wingdings" panose="05000000000000000000" pitchFamily="2" charset="2"/>
              </a:rPr>
              <a:t> A</a:t>
            </a:r>
            <a:r>
              <a:rPr lang="zh-CN" altLang="en-US" sz="2400">
                <a:sym typeface="Wingdings" panose="05000000000000000000" pitchFamily="2" charset="2"/>
              </a:rPr>
              <a:t>的每对属性</a:t>
            </a:r>
            <a:r>
              <a:rPr lang="en-US" altLang="zh-CN" sz="2400">
                <a:sym typeface="Wingdings" panose="05000000000000000000" pitchFamily="2" charset="2"/>
              </a:rPr>
              <a:t>b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c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D</a:t>
            </a:r>
            <a:r>
              <a:rPr lang="zh-CN" altLang="en-US" sz="2400">
                <a:sym typeface="Wingdings" panose="05000000000000000000" pitchFamily="2" charset="2"/>
              </a:rPr>
              <a:t>中包含边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	</a:t>
            </a:r>
            <a:r>
              <a:rPr lang="zh-CN" altLang="en-US" sz="2400">
                <a:sym typeface="Wingdings" panose="05000000000000000000" pitchFamily="2" charset="2"/>
              </a:rPr>
              <a:t>添加边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r>
              <a:rPr lang="zh-CN" altLang="en-US" sz="2400">
                <a:sym typeface="Wingdings" panose="05000000000000000000" pitchFamily="2" charset="2"/>
              </a:rPr>
              <a:t>到</a:t>
            </a:r>
            <a:r>
              <a:rPr lang="en-US" altLang="zh-CN" sz="2400">
                <a:sym typeface="Wingdings" panose="05000000000000000000" pitchFamily="2" charset="2"/>
              </a:rPr>
              <a:t>G;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G</a:t>
            </a:r>
            <a:r>
              <a:rPr lang="zh-CN" altLang="en-US" sz="2400">
                <a:sym typeface="Wingdings" panose="05000000000000000000" pitchFamily="2" charset="2"/>
              </a:rPr>
              <a:t>不在</a:t>
            </a:r>
            <a:r>
              <a:rPr lang="en-US" altLang="zh-CN" sz="2400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 sz="2400">
                <a:sym typeface="Wingdings" panose="05000000000000000000" pitchFamily="2" charset="2"/>
              </a:rPr>
              <a:t>(A)</a:t>
            </a:r>
            <a:r>
              <a:rPr lang="zh-CN" altLang="en-US" sz="2400">
                <a:sym typeface="Wingdings" panose="05000000000000000000" pitchFamily="2" charset="2"/>
              </a:rPr>
              <a:t>中 </a:t>
            </a:r>
            <a:r>
              <a:rPr lang="en-US" altLang="zh-CN" sz="2400">
                <a:sym typeface="Wingdings" panose="05000000000000000000" pitchFamily="2" charset="2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</a:t>
            </a:r>
            <a:r>
              <a:rPr lang="zh-CN" altLang="en-US" sz="2400">
                <a:sym typeface="Wingdings" panose="05000000000000000000" pitchFamily="2" charset="2"/>
              </a:rPr>
              <a:t>将</a:t>
            </a:r>
            <a:r>
              <a:rPr lang="en-US" altLang="zh-CN" sz="2400">
                <a:sym typeface="Wingdings" panose="05000000000000000000" pitchFamily="2" charset="2"/>
              </a:rPr>
              <a:t>G</a:t>
            </a:r>
            <a:r>
              <a:rPr lang="zh-CN" altLang="en-US" sz="2400">
                <a:sym typeface="Wingdings" panose="05000000000000000000" pitchFamily="2" charset="2"/>
              </a:rPr>
              <a:t>加入</a:t>
            </a:r>
            <a:r>
              <a:rPr lang="en-US" altLang="zh-CN" sz="2400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 sz="2400">
                <a:sym typeface="Wingdings" panose="05000000000000000000" pitchFamily="2" charset="2"/>
              </a:rPr>
              <a:t>(A);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change = </a:t>
            </a:r>
            <a:r>
              <a:rPr lang="en-US" altLang="zh-CN" sz="2400" b="1">
                <a:sym typeface="Wingdings" panose="05000000000000000000" pitchFamily="2" charset="2"/>
              </a:rPr>
              <a:t>true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} </a:t>
            </a:r>
            <a:r>
              <a:rPr lang="en-US" altLang="zh-CN" sz="2400" b="1">
                <a:sym typeface="Wingdings" panose="05000000000000000000" pitchFamily="2" charset="2"/>
              </a:rPr>
              <a:t>until</a:t>
            </a:r>
            <a:r>
              <a:rPr lang="en-US" altLang="zh-CN" sz="2400">
                <a:sym typeface="Wingdings" panose="05000000000000000000" pitchFamily="2" charset="2"/>
              </a:rPr>
              <a:t> change = </a:t>
            </a:r>
            <a:r>
              <a:rPr lang="en-US" altLang="zh-CN" sz="2400" b="1">
                <a:sym typeface="Wingdings" panose="05000000000000000000" pitchFamily="2" charset="2"/>
              </a:rPr>
              <a:t>false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24CB9E20-46FC-470D-A356-F28ABBC17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3F53B52F-4365-4E7B-A900-B8520C24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运行时间与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大小成指数关系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改进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>
                <a:sym typeface="Wingdings" panose="05000000000000000000" pitchFamily="2" charset="2"/>
              </a:rPr>
              <a:t>dag</a:t>
            </a:r>
            <a:r>
              <a:rPr lang="zh-CN" altLang="en-US">
                <a:sym typeface="Wingdings" panose="05000000000000000000" pitchFamily="2" charset="2"/>
              </a:rPr>
              <a:t>集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(A)</a:t>
            </a:r>
            <a:r>
              <a:rPr lang="zh-CN" altLang="en-US">
                <a:sym typeface="Wingdings" panose="05000000000000000000" pitchFamily="2" charset="2"/>
              </a:rPr>
              <a:t>单一</a:t>
            </a:r>
            <a:r>
              <a:rPr lang="en-US" altLang="zh-CN">
                <a:sym typeface="Wingdings" panose="05000000000000000000" pitchFamily="2" charset="2"/>
              </a:rPr>
              <a:t>dag F(X)——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图的并集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最坏情况估计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充分但不必要：</a:t>
            </a:r>
            <a:r>
              <a:rPr lang="en-US" altLang="zh-CN">
                <a:sym typeface="Wingdings" panose="05000000000000000000" pitchFamily="2" charset="2"/>
              </a:rPr>
              <a:t>F(X)</a:t>
            </a:r>
            <a:r>
              <a:rPr lang="zh-CN" altLang="en-US">
                <a:sym typeface="Wingdings" panose="05000000000000000000" pitchFamily="2" charset="2"/>
              </a:rPr>
              <a:t>无环语法制导定义无环；</a:t>
            </a:r>
            <a:r>
              <a:rPr lang="en-US" altLang="zh-CN">
                <a:sym typeface="Wingdings" panose="05000000000000000000" pitchFamily="2" charset="2"/>
              </a:rPr>
              <a:t>F(X)</a:t>
            </a:r>
            <a:r>
              <a:rPr lang="zh-CN" altLang="en-US">
                <a:sym typeface="Wingdings" panose="05000000000000000000" pitchFamily="2" charset="2"/>
              </a:rPr>
              <a:t>有回路语法制导定义有回路</a:t>
            </a:r>
          </a:p>
        </p:txBody>
      </p:sp>
      <p:sp>
        <p:nvSpPr>
          <p:cNvPr id="137220" name="Line 4">
            <a:extLst>
              <a:ext uri="{FF2B5EF4-FFF2-40B4-BE49-F238E27FC236}">
                <a16:creationId xmlns:a16="http://schemas.microsoft.com/office/drawing/2014/main" id="{C2F1B47E-3D3B-4D0F-B6DA-AEAD6A5A0E22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572000" y="4038600"/>
            <a:ext cx="152400" cy="381000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11689</TotalTime>
  <Words>10499</Words>
  <Application>Microsoft Office PowerPoint</Application>
  <PresentationFormat>全屏显示(4:3)</PresentationFormat>
  <Paragraphs>1058</Paragraphs>
  <Slides>129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39" baseType="lpstr">
      <vt:lpstr>黑体</vt:lpstr>
      <vt:lpstr>宋体</vt:lpstr>
      <vt:lpstr>Arial</vt:lpstr>
      <vt:lpstr>Courier New</vt:lpstr>
      <vt:lpstr>Monotype Corsiva</vt:lpstr>
      <vt:lpstr>Symbol</vt:lpstr>
      <vt:lpstr>Tahoma</vt:lpstr>
      <vt:lpstr>Times New Roman</vt:lpstr>
      <vt:lpstr>Wingdings</vt:lpstr>
      <vt:lpstr>Blends</vt:lpstr>
      <vt:lpstr>第五章  语法制导翻译</vt:lpstr>
      <vt:lpstr>学习重点</vt:lpstr>
      <vt:lpstr>概述</vt:lpstr>
      <vt:lpstr>5.1  语法制导定义</vt:lpstr>
      <vt:lpstr>5.1.1 语法制导定义的形式</vt:lpstr>
      <vt:lpstr>例5.1</vt:lpstr>
      <vt:lpstr>5.1.2  综合属性</vt:lpstr>
      <vt:lpstr>例5</vt:lpstr>
      <vt:lpstr>5.1.3  继承属性</vt:lpstr>
      <vt:lpstr>例5.3  变量定义</vt:lpstr>
      <vt:lpstr>例5.3（续）</vt:lpstr>
      <vt:lpstr>5.1.4  依赖图</vt:lpstr>
      <vt:lpstr>例5.4</vt:lpstr>
      <vt:lpstr>例5.5</vt:lpstr>
      <vt:lpstr>5.1.5  属性计算顺序</vt:lpstr>
      <vt:lpstr>例5.6</vt:lpstr>
      <vt:lpstr>5.2  构造语法树</vt:lpstr>
      <vt:lpstr>5.2.1  语法树</vt:lpstr>
      <vt:lpstr>语法树压缩例</vt:lpstr>
      <vt:lpstr>5.2.2  表达式语法树的构造</vt:lpstr>
      <vt:lpstr>辅助函数</vt:lpstr>
      <vt:lpstr>例5.7  a-4+c的语法树</vt:lpstr>
      <vt:lpstr>5.2.3  构造语法树的语法制导定义</vt:lpstr>
      <vt:lpstr>例5.8（续）</vt:lpstr>
      <vt:lpstr>5.2.4  用有向无环图表示表达式</vt:lpstr>
      <vt:lpstr>图5.9</vt:lpstr>
      <vt:lpstr>例5.9（续）</vt:lpstr>
      <vt:lpstr>DAG的实现</vt:lpstr>
      <vt:lpstr>算法5.1  构造DAG节点</vt:lpstr>
      <vt:lpstr>TinyC中的语法树</vt:lpstr>
      <vt:lpstr>TinyC中的语法树——辅助函数</vt:lpstr>
      <vt:lpstr>TinyC中的语法树——辅助函数</vt:lpstr>
      <vt:lpstr>TinyC中的语法树——表达式</vt:lpstr>
      <vt:lpstr>TinyC中的语法树——IF</vt:lpstr>
      <vt:lpstr>TinyC中的语法树——Yacc</vt:lpstr>
      <vt:lpstr>TinyC中的语法树——Yacc</vt:lpstr>
      <vt:lpstr>5.3  自底向上计算S-属性定义</vt:lpstr>
      <vt:lpstr>自底向上计算S-属性定义示例</vt:lpstr>
      <vt:lpstr>例5.10</vt:lpstr>
      <vt:lpstr>例5.10（续）</vt:lpstr>
      <vt:lpstr>5.4  L-属性定义</vt:lpstr>
      <vt:lpstr>5.4.1  L-属性定义</vt:lpstr>
      <vt:lpstr>例5.11</vt:lpstr>
      <vt:lpstr>5.4.2  翻译模式</vt:lpstr>
      <vt:lpstr>例5.12（续）</vt:lpstr>
      <vt:lpstr>设计翻译模式</vt:lpstr>
      <vt:lpstr>例</vt:lpstr>
      <vt:lpstr>例5.13</vt:lpstr>
      <vt:lpstr>例5.13  语法制导定义</vt:lpstr>
      <vt:lpstr>例5.13 翻译模式</vt:lpstr>
      <vt:lpstr>5.5  自顶向下计算L-属性定义</vt:lpstr>
      <vt:lpstr>5.5.1  消除左递归（例5.14）</vt:lpstr>
      <vt:lpstr>例5.14（续）</vt:lpstr>
      <vt:lpstr>例5.14（续）</vt:lpstr>
      <vt:lpstr>消除左递归一般性方法</vt:lpstr>
      <vt:lpstr>左递归/非左递归比较</vt:lpstr>
      <vt:lpstr>例5.15  创建语法树</vt:lpstr>
      <vt:lpstr>例5.15  消除左递归后</vt:lpstr>
      <vt:lpstr>例5.15  创建语法树（续）</vt:lpstr>
      <vt:lpstr>5.5.2  构造预测翻译器</vt:lpstr>
      <vt:lpstr>算法5.2 构造预测翻译器（续）</vt:lpstr>
      <vt:lpstr>算法5.2 构造预测翻译器（续）</vt:lpstr>
      <vt:lpstr>例5.16</vt:lpstr>
      <vt:lpstr>例5.16（续）</vt:lpstr>
      <vt:lpstr>例5.16（续）</vt:lpstr>
      <vt:lpstr>例5.16（续）</vt:lpstr>
      <vt:lpstr>例5.16（续）</vt:lpstr>
      <vt:lpstr>5.6  自底向上计算L-属性定义</vt:lpstr>
      <vt:lpstr>5.6.1  消除翻译模式的嵌入动作</vt:lpstr>
      <vt:lpstr>加标记NT例</vt:lpstr>
      <vt:lpstr>5.6.2  分析栈中的继承属性</vt:lpstr>
      <vt:lpstr>栈中的继承属性</vt:lpstr>
      <vt:lpstr>例5.17</vt:lpstr>
      <vt:lpstr>例5.17（续）</vt:lpstr>
      <vt:lpstr>例5.17（续）</vt:lpstr>
      <vt:lpstr>例5.17（续）</vt:lpstr>
      <vt:lpstr>5.6.3  模拟继承属性的计算</vt:lpstr>
      <vt:lpstr>例5.18（续）</vt:lpstr>
      <vt:lpstr>例5.19</vt:lpstr>
      <vt:lpstr>例5.19（续）</vt:lpstr>
      <vt:lpstr>算法5.3：自底向上翻译</vt:lpstr>
      <vt:lpstr>算法5.3：（续）</vt:lpstr>
      <vt:lpstr>5.6.4  用综合属性代替继承属性</vt:lpstr>
      <vt:lpstr>在Yacc中计算属性</vt:lpstr>
      <vt:lpstr>在Yacc中计算属性（续）</vt:lpstr>
      <vt:lpstr>5.7  递归方法计算属性</vt:lpstr>
      <vt:lpstr>5.7.1  由左至右的访问顺序</vt:lpstr>
      <vt:lpstr>例5.20</vt:lpstr>
      <vt:lpstr>例5.20  B的递归函数</vt:lpstr>
      <vt:lpstr>例5.20  B对应函数</vt:lpstr>
      <vt:lpstr>5.7.2  其他访问顺序（例5.21）</vt:lpstr>
      <vt:lpstr>例5.21（续）</vt:lpstr>
      <vt:lpstr>例5.21（续）</vt:lpstr>
      <vt:lpstr>例5.21（续）</vt:lpstr>
      <vt:lpstr>5.8  编译时内存空间分配</vt:lpstr>
      <vt:lpstr>例5.22  </vt:lpstr>
      <vt:lpstr>例5.22（续）</vt:lpstr>
      <vt:lpstr>5.8.1  在编译时分配空间</vt:lpstr>
      <vt:lpstr>算法应用实例</vt:lpstr>
      <vt:lpstr>5.8.2  避免属性拷贝</vt:lpstr>
      <vt:lpstr>例5.24：例5.23采用新方法</vt:lpstr>
      <vt:lpstr>5.9  在构造编译器时分配内存</vt:lpstr>
      <vt:lpstr>例5.25</vt:lpstr>
      <vt:lpstr>例5.26  多栈避免拷贝</vt:lpstr>
      <vt:lpstr>例5.26（续）</vt:lpstr>
      <vt:lpstr>例5.27  中间代码生成</vt:lpstr>
      <vt:lpstr>例5.27（续）翻译模式</vt:lpstr>
      <vt:lpstr>例5.27（续）栈实现</vt:lpstr>
      <vt:lpstr>5.9.2  非重叠生存期（例5.28）</vt:lpstr>
      <vt:lpstr>例5.28（续）</vt:lpstr>
      <vt:lpstr>例5.28（续）</vt:lpstr>
      <vt:lpstr>例5.28（续）</vt:lpstr>
      <vt:lpstr>5.10  语法制导定义分析</vt:lpstr>
      <vt:lpstr>例5.29（续）</vt:lpstr>
      <vt:lpstr>例5.29（续）</vt:lpstr>
      <vt:lpstr>5.10.1  递归计算属性</vt:lpstr>
      <vt:lpstr>例5.30</vt:lpstr>
      <vt:lpstr>例5.30（续）</vt:lpstr>
      <vt:lpstr>例5.30（续）</vt:lpstr>
      <vt:lpstr>例5.30（续）</vt:lpstr>
      <vt:lpstr>5.10.2  强无环语法制导定义</vt:lpstr>
      <vt:lpstr>定义</vt:lpstr>
      <vt:lpstr>定义（续）</vt:lpstr>
      <vt:lpstr>例5.31</vt:lpstr>
      <vt:lpstr>5.10.3  检测回路（例5.32）</vt:lpstr>
      <vt:lpstr>回路检测算法</vt:lpstr>
      <vt:lpstr>算法描述</vt:lpstr>
      <vt:lpstr>算法描述（续）</vt:lpstr>
      <vt:lpstr>分析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刚 王</cp:lastModifiedBy>
  <cp:revision>1319</cp:revision>
  <dcterms:created xsi:type="dcterms:W3CDTF">2003-06-05T11:51:39Z</dcterms:created>
  <dcterms:modified xsi:type="dcterms:W3CDTF">2025-11-29T00:50:27Z</dcterms:modified>
</cp:coreProperties>
</file>