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handoutMasterIdLst>
    <p:handoutMasterId r:id="rId105"/>
  </p:handoutMasterIdLst>
  <p:sldIdLst>
    <p:sldId id="256" r:id="rId3"/>
    <p:sldId id="334" r:id="rId4"/>
    <p:sldId id="257" r:id="rId5"/>
    <p:sldId id="258" r:id="rId6"/>
    <p:sldId id="259" r:id="rId7"/>
    <p:sldId id="260" r:id="rId8"/>
    <p:sldId id="336" r:id="rId9"/>
    <p:sldId id="261" r:id="rId10"/>
    <p:sldId id="262" r:id="rId11"/>
    <p:sldId id="263" r:id="rId12"/>
    <p:sldId id="264" r:id="rId13"/>
    <p:sldId id="337" r:id="rId14"/>
    <p:sldId id="265" r:id="rId15"/>
    <p:sldId id="266" r:id="rId16"/>
    <p:sldId id="267" r:id="rId17"/>
    <p:sldId id="268" r:id="rId18"/>
    <p:sldId id="269" r:id="rId19"/>
    <p:sldId id="270" r:id="rId20"/>
    <p:sldId id="357" r:id="rId21"/>
    <p:sldId id="271" r:id="rId22"/>
    <p:sldId id="272" r:id="rId23"/>
    <p:sldId id="273" r:id="rId24"/>
    <p:sldId id="274" r:id="rId25"/>
    <p:sldId id="275" r:id="rId26"/>
    <p:sldId id="276" r:id="rId27"/>
    <p:sldId id="335" r:id="rId28"/>
    <p:sldId id="277" r:id="rId29"/>
    <p:sldId id="278" r:id="rId30"/>
    <p:sldId id="279" r:id="rId31"/>
    <p:sldId id="280" r:id="rId32"/>
    <p:sldId id="281" r:id="rId33"/>
    <p:sldId id="282" r:id="rId34"/>
    <p:sldId id="283" r:id="rId35"/>
    <p:sldId id="284" r:id="rId36"/>
    <p:sldId id="285" r:id="rId37"/>
    <p:sldId id="290" r:id="rId38"/>
    <p:sldId id="338" r:id="rId39"/>
    <p:sldId id="339" r:id="rId40"/>
    <p:sldId id="340" r:id="rId41"/>
    <p:sldId id="341" r:id="rId42"/>
    <p:sldId id="342" r:id="rId43"/>
    <p:sldId id="343" r:id="rId44"/>
    <p:sldId id="344"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287" r:id="rId58"/>
    <p:sldId id="288" r:id="rId59"/>
    <p:sldId id="289" r:id="rId60"/>
    <p:sldId id="291" r:id="rId61"/>
    <p:sldId id="292" r:id="rId62"/>
    <p:sldId id="293" r:id="rId63"/>
    <p:sldId id="294" r:id="rId64"/>
    <p:sldId id="295" r:id="rId65"/>
    <p:sldId id="296" r:id="rId66"/>
    <p:sldId id="297" r:id="rId67"/>
    <p:sldId id="298" r:id="rId68"/>
    <p:sldId id="299" r:id="rId69"/>
    <p:sldId id="300" r:id="rId70"/>
    <p:sldId id="301" r:id="rId71"/>
    <p:sldId id="302" r:id="rId72"/>
    <p:sldId id="303" r:id="rId73"/>
    <p:sldId id="304" r:id="rId74"/>
    <p:sldId id="305" r:id="rId75"/>
    <p:sldId id="306" r:id="rId76"/>
    <p:sldId id="307" r:id="rId77"/>
    <p:sldId id="308" r:id="rId78"/>
    <p:sldId id="309" r:id="rId79"/>
    <p:sldId id="310" r:id="rId80"/>
    <p:sldId id="311" r:id="rId81"/>
    <p:sldId id="312" r:id="rId82"/>
    <p:sldId id="313" r:id="rId83"/>
    <p:sldId id="314" r:id="rId84"/>
    <p:sldId id="315" r:id="rId85"/>
    <p:sldId id="316" r:id="rId86"/>
    <p:sldId id="317" r:id="rId87"/>
    <p:sldId id="318" r:id="rId88"/>
    <p:sldId id="319" r:id="rId89"/>
    <p:sldId id="320" r:id="rId90"/>
    <p:sldId id="321" r:id="rId91"/>
    <p:sldId id="322" r:id="rId92"/>
    <p:sldId id="323" r:id="rId93"/>
    <p:sldId id="324" r:id="rId94"/>
    <p:sldId id="325" r:id="rId95"/>
    <p:sldId id="326" r:id="rId96"/>
    <p:sldId id="327" r:id="rId97"/>
    <p:sldId id="328" r:id="rId98"/>
    <p:sldId id="329" r:id="rId99"/>
    <p:sldId id="330" r:id="rId100"/>
    <p:sldId id="331" r:id="rId101"/>
    <p:sldId id="332" r:id="rId102"/>
    <p:sldId id="333" r:id="rId103"/>
  </p:sldIdLst>
  <p:sldSz cx="9144000" cy="6858000" type="screen4x3"/>
  <p:notesSz cx="6759575" cy="98679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CF01"/>
    <a:srgbClr val="0000FF"/>
    <a:srgbClr val="3333CC"/>
    <a:srgbClr val="800000"/>
    <a:srgbClr val="99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973" autoAdjust="0"/>
    <p:restoredTop sz="90929"/>
  </p:normalViewPr>
  <p:slideViewPr>
    <p:cSldViewPr showGuides="1">
      <p:cViewPr varScale="1">
        <p:scale>
          <a:sx n="115" d="100"/>
          <a:sy n="115" d="100"/>
        </p:scale>
        <p:origin x="20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6" d="100"/>
          <a:sy n="46" d="100"/>
        </p:scale>
        <p:origin x="-1469" y="-86"/>
      </p:cViewPr>
      <p:guideLst>
        <p:guide orient="horz" pos="3108"/>
        <p:guide pos="2129"/>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handoutMaster" Target="handoutMasters/handoutMaster1.xml"/><Relationship Id="rId104" Type="http://schemas.openxmlformats.org/officeDocument/2006/relationships/notesMaster" Target="notesMasters/notesMaster1.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212995" name="Rectangle 3"/>
          <p:cNvSpPr>
            <a:spLocks noGrp="1" noChangeArrowheads="1"/>
          </p:cNvSpPr>
          <p:nvPr>
            <p:ph type="dt" sz="quarter" idx="1"/>
          </p:nvPr>
        </p:nvSpPr>
        <p:spPr bwMode="auto">
          <a:xfrm>
            <a:off x="3830638" y="0"/>
            <a:ext cx="2928937"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12996" name="Rectangle 4"/>
          <p:cNvSpPr>
            <a:spLocks noGrp="1" noChangeArrowheads="1"/>
          </p:cNvSpPr>
          <p:nvPr>
            <p:ph type="ftr" sz="quarter" idx="2"/>
          </p:nvPr>
        </p:nvSpPr>
        <p:spPr bwMode="auto">
          <a:xfrm>
            <a:off x="0" y="9374188"/>
            <a:ext cx="2928938" cy="493712"/>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212997" name="Rectangle 5"/>
          <p:cNvSpPr>
            <a:spLocks noGrp="1" noChangeArrowheads="1"/>
          </p:cNvSpPr>
          <p:nvPr>
            <p:ph type="sldNum" sz="quarter" idx="3"/>
          </p:nvPr>
        </p:nvSpPr>
        <p:spPr bwMode="auto">
          <a:xfrm>
            <a:off x="3830638" y="9374188"/>
            <a:ext cx="2928937" cy="493712"/>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48930C02-08F1-4CDB-997F-A94642762A9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52227" name="Rectangle 3"/>
          <p:cNvSpPr>
            <a:spLocks noGrp="1" noChangeArrowheads="1"/>
          </p:cNvSpPr>
          <p:nvPr>
            <p:ph type="dt" idx="1"/>
          </p:nvPr>
        </p:nvSpPr>
        <p:spPr bwMode="auto">
          <a:xfrm>
            <a:off x="3830638" y="0"/>
            <a:ext cx="2928937"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12813" y="739775"/>
            <a:ext cx="4933950" cy="370046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2229" name="Rectangle 5"/>
          <p:cNvSpPr>
            <a:spLocks noGrp="1" noChangeArrowheads="1"/>
          </p:cNvSpPr>
          <p:nvPr>
            <p:ph type="body" sz="quarter" idx="3"/>
          </p:nvPr>
        </p:nvSpPr>
        <p:spPr bwMode="auto">
          <a:xfrm>
            <a:off x="900113" y="4687888"/>
            <a:ext cx="4959350" cy="4440237"/>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2230" name="Rectangle 6"/>
          <p:cNvSpPr>
            <a:spLocks noGrp="1" noChangeArrowheads="1"/>
          </p:cNvSpPr>
          <p:nvPr>
            <p:ph type="ftr" sz="quarter" idx="4"/>
          </p:nvPr>
        </p:nvSpPr>
        <p:spPr bwMode="auto">
          <a:xfrm>
            <a:off x="0" y="9374188"/>
            <a:ext cx="2928938" cy="493712"/>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52231" name="Rectangle 7"/>
          <p:cNvSpPr>
            <a:spLocks noGrp="1" noChangeArrowheads="1"/>
          </p:cNvSpPr>
          <p:nvPr>
            <p:ph type="sldNum" sz="quarter" idx="5"/>
          </p:nvPr>
        </p:nvSpPr>
        <p:spPr bwMode="auto">
          <a:xfrm>
            <a:off x="3830638" y="9374188"/>
            <a:ext cx="2928937" cy="493712"/>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2EA4273E-B041-4EE0-8591-7A6804304AC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80307050502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80307050502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80307050502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80307050502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80307050502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en-US"/>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en-US"/>
            </a:p>
          </p:txBody>
        </p:sp>
      </p:grpSp>
      <p:sp>
        <p:nvSpPr>
          <p:cNvPr id="6156"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30B43706-0FF1-42D3-A6FA-19B47F7C581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8E9966C-5BA2-4F69-BFE2-774B97F92F98}"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95BD4D6A-068B-4529-95F8-A18F22054576}"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1826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E6E6F6E-0FB7-4CC3-AC49-F6E36A6BF24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38D850BC-7CD2-4F32-9C2C-6C6080CA26D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5D9E5249-9469-48A9-853C-6B14F7F53B57}"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53BE439F-9DDC-4C93-9314-16D03719DA99}"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3086AB9A-5636-4EC6-BE42-6A005594A0B2}"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3BA9E40-B2B3-4DC9-900E-771277F5F2D8}"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C33CAD5A-185F-4511-B042-91186402F817}"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76200"/>
            <a:ext cx="1951038" cy="6019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150938" y="76200"/>
            <a:ext cx="5700712" cy="6019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FA3E0711-2CFB-48CF-9736-8AF3874C1FCF}"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557213"/>
            <a:ext cx="438150" cy="474662"/>
          </a:xfrm>
          <a:prstGeom prst="rect">
            <a:avLst/>
          </a:prstGeom>
          <a:solidFill>
            <a:srgbClr val="FFC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zh-CN"/>
          </a:p>
        </p:txBody>
      </p:sp>
      <p:sp>
        <p:nvSpPr>
          <p:cNvPr id="1027" name="Rectangle 3"/>
          <p:cNvSpPr>
            <a:spLocks noChangeArrowheads="1"/>
          </p:cNvSpPr>
          <p:nvPr/>
        </p:nvSpPr>
        <p:spPr bwMode="ltGray">
          <a:xfrm>
            <a:off x="800100" y="557213"/>
            <a:ext cx="328613" cy="474662"/>
          </a:xfrm>
          <a:prstGeom prst="rect">
            <a:avLst/>
          </a:prstGeom>
          <a:gradFill rotWithShape="0">
            <a:gsLst>
              <a:gs pos="0">
                <a:srgbClr val="FFCF01"/>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zh-CN"/>
          </a:p>
        </p:txBody>
      </p:sp>
      <p:sp>
        <p:nvSpPr>
          <p:cNvPr id="1028" name="Rectangle 4"/>
          <p:cNvSpPr>
            <a:spLocks noChangeArrowheads="1"/>
          </p:cNvSpPr>
          <p:nvPr/>
        </p:nvSpPr>
        <p:spPr bwMode="ltGray">
          <a:xfrm>
            <a:off x="541338" y="979488"/>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zh-CN"/>
          </a:p>
        </p:txBody>
      </p:sp>
      <p:sp>
        <p:nvSpPr>
          <p:cNvPr id="1029" name="Rectangle 5"/>
          <p:cNvSpPr>
            <a:spLocks noChangeArrowheads="1"/>
          </p:cNvSpPr>
          <p:nvPr/>
        </p:nvSpPr>
        <p:spPr bwMode="ltGray">
          <a:xfrm>
            <a:off x="911225" y="979488"/>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zh-CN"/>
          </a:p>
        </p:txBody>
      </p:sp>
      <p:sp>
        <p:nvSpPr>
          <p:cNvPr id="1030" name="Rectangle 6"/>
          <p:cNvSpPr>
            <a:spLocks noChangeArrowheads="1"/>
          </p:cNvSpPr>
          <p:nvPr/>
        </p:nvSpPr>
        <p:spPr bwMode="ltGray">
          <a:xfrm>
            <a:off x="127000" y="906463"/>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zh-CN"/>
          </a:p>
        </p:txBody>
      </p:sp>
      <p:sp>
        <p:nvSpPr>
          <p:cNvPr id="1031" name="Rectangle 7"/>
          <p:cNvSpPr>
            <a:spLocks noChangeArrowheads="1"/>
          </p:cNvSpPr>
          <p:nvPr/>
        </p:nvSpPr>
        <p:spPr bwMode="gray">
          <a:xfrm>
            <a:off x="762000" y="449263"/>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zh-CN"/>
          </a:p>
        </p:txBody>
      </p:sp>
      <p:sp>
        <p:nvSpPr>
          <p:cNvPr id="1032" name="Rectangle 8"/>
          <p:cNvSpPr>
            <a:spLocks noChangeArrowheads="1"/>
          </p:cNvSpPr>
          <p:nvPr/>
        </p:nvSpPr>
        <p:spPr bwMode="gray">
          <a:xfrm>
            <a:off x="442913" y="1239838"/>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itchFamily="2" charset="-122"/>
              </a:defRPr>
            </a:lvl1pPr>
            <a:lvl2pPr marL="742950" indent="-285750" algn="ctr">
              <a:defRPr kumimoji="1" sz="2400">
                <a:solidFill>
                  <a:schemeClr val="tx1"/>
                </a:solidFill>
                <a:latin typeface="Tahoma" panose="020B0604030504040204" pitchFamily="34" charset="0"/>
                <a:ea typeface="宋体" pitchFamily="2" charset="-122"/>
              </a:defRPr>
            </a:lvl2pPr>
            <a:lvl3pPr marL="1143000" indent="-228600" algn="ctr">
              <a:defRPr kumimoji="1" sz="2400">
                <a:solidFill>
                  <a:schemeClr val="tx1"/>
                </a:solidFill>
                <a:latin typeface="Tahoma" panose="020B0604030504040204" pitchFamily="34" charset="0"/>
                <a:ea typeface="宋体" pitchFamily="2" charset="-122"/>
              </a:defRPr>
            </a:lvl3pPr>
            <a:lvl4pPr marL="1600200" indent="-228600" algn="ctr">
              <a:defRPr kumimoji="1" sz="2400">
                <a:solidFill>
                  <a:schemeClr val="tx1"/>
                </a:solidFill>
                <a:latin typeface="Tahoma" panose="020B0604030504040204" pitchFamily="34" charset="0"/>
                <a:ea typeface="宋体" pitchFamily="2" charset="-122"/>
              </a:defRPr>
            </a:lvl4pPr>
            <a:lvl5pPr marL="2057400" indent="-228600" algn="ctr">
              <a:defRPr kumimoji="1" sz="2400">
                <a:solidFill>
                  <a:schemeClr val="tx1"/>
                </a:solidFill>
                <a:latin typeface="Tahoma" panose="020B0604030504040204"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eaLnBrk="1" hangingPunct="1">
              <a:defRPr/>
            </a:pPr>
            <a:endParaRPr lang="zh-CN" altLang="zh-CN"/>
          </a:p>
        </p:txBody>
      </p:sp>
      <p:sp>
        <p:nvSpPr>
          <p:cNvPr id="1033" name="Rectangle 9"/>
          <p:cNvSpPr>
            <a:spLocks noGrp="1" noChangeArrowheads="1"/>
          </p:cNvSpPr>
          <p:nvPr>
            <p:ph type="title"/>
          </p:nvPr>
        </p:nvSpPr>
        <p:spPr bwMode="auto">
          <a:xfrm>
            <a:off x="1150938" y="7620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34" name="Rectangle 10"/>
          <p:cNvSpPr>
            <a:spLocks noGrp="1" noChangeArrowheads="1"/>
          </p:cNvSpPr>
          <p:nvPr>
            <p:ph type="body" idx="1"/>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131"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400"/>
            </a:lvl1pPr>
          </a:lstStyle>
          <a:p>
            <a:pPr>
              <a:defRPr/>
            </a:pPr>
            <a:endParaRPr lang="en-US" altLang="zh-CN"/>
          </a:p>
        </p:txBody>
      </p:sp>
      <p:sp>
        <p:nvSpPr>
          <p:cNvPr id="5132"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lvl1pPr>
          </a:lstStyle>
          <a:p>
            <a:pPr>
              <a:defRPr/>
            </a:pPr>
            <a:endParaRPr lang="en-US" altLang="zh-CN"/>
          </a:p>
        </p:txBody>
      </p:sp>
      <p:sp>
        <p:nvSpPr>
          <p:cNvPr id="5133"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400"/>
            </a:lvl1pPr>
          </a:lstStyle>
          <a:p>
            <a:pPr>
              <a:defRPr/>
            </a:pPr>
            <a:fld id="{20E6B0BC-F746-4AEF-AC08-2D6979FB882B}"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anose="02020803070505020304"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anose="02020803070505020304"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anose="02020803070505020304"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anose="02020803070505020304"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anose="02020803070505020304"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anose="02020803070505020304"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anose="02020803070505020304"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anose="02020803070505020304" pitchFamily="18" charset="0"/>
          <a:ea typeface="宋体" pitchFamily="2" charset="-122"/>
        </a:defRPr>
      </a:lvl9pPr>
    </p:titleStyle>
    <p:bodyStyle>
      <a:lvl1pPr marL="342900" indent="-342900" algn="l" rtl="0" eaLnBrk="0" fontAlgn="base" hangingPunct="0">
        <a:spcBef>
          <a:spcPct val="20000"/>
        </a:spcBef>
        <a:spcAft>
          <a:spcPct val="0"/>
        </a:spcAft>
        <a:buClr>
          <a:srgbClr val="FF3300"/>
        </a:buClr>
        <a:buSzPct val="75000"/>
        <a:buFont typeface="Wingdings" panose="05000000000000000000" pitchFamily="2" charset="2"/>
        <a:buChar char="m"/>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9000"/>
        <a:buFont typeface="Wingdings" panose="05000000000000000000" pitchFamily="2" charset="2"/>
        <a:buChar char="q"/>
        <a:defRPr kumimoji="1" sz="2800">
          <a:solidFill>
            <a:srgbClr val="3333CC"/>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Ø"/>
        <a:defRPr kumimoji="1" sz="2400">
          <a:solidFill>
            <a:srgbClr val="FF3300"/>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oleObject" Target="../embeddings/oleObject4.bin"/><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 Type="http://schemas.openxmlformats.org/officeDocument/2006/relationships/oleObject" Target="../embeddings/oleObject1.bin"/></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0.wmf"/><Relationship Id="rId3" Type="http://schemas.openxmlformats.org/officeDocument/2006/relationships/oleObject" Target="../embeddings/oleObject6.bin"/><Relationship Id="rId2" Type="http://schemas.openxmlformats.org/officeDocument/2006/relationships/image" Target="../media/image9.wmf"/><Relationship Id="rId1" Type="http://schemas.openxmlformats.org/officeDocument/2006/relationships/oleObject" Target="../embeddings/oleObject5.bin"/></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2.wmf"/><Relationship Id="rId3" Type="http://schemas.openxmlformats.org/officeDocument/2006/relationships/oleObject" Target="../embeddings/oleObject8.bin"/><Relationship Id="rId2" Type="http://schemas.openxmlformats.org/officeDocument/2006/relationships/image" Target="../media/image9.wmf"/><Relationship Id="rId1" Type="http://schemas.openxmlformats.org/officeDocument/2006/relationships/oleObject" Target="../embeddings/oleObject7.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9.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10.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oleObject" Target="../embeddings/oleObject12.bin"/><Relationship Id="rId2" Type="http://schemas.openxmlformats.org/officeDocument/2006/relationships/image" Target="../media/image8.wmf"/><Relationship Id="rId1" Type="http://schemas.openxmlformats.org/officeDocument/2006/relationships/oleObject" Target="../embeddings/oleObject11.bin"/></Relationships>
</file>

<file path=ppt/slides/_rels/slide8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0.wmf"/><Relationship Id="rId7" Type="http://schemas.openxmlformats.org/officeDocument/2006/relationships/oleObject" Target="../embeddings/oleObject16.bin"/><Relationship Id="rId6" Type="http://schemas.openxmlformats.org/officeDocument/2006/relationships/image" Target="../media/image19.wmf"/><Relationship Id="rId5" Type="http://schemas.openxmlformats.org/officeDocument/2006/relationships/oleObject" Target="../embeddings/oleObject15.bin"/><Relationship Id="rId4" Type="http://schemas.openxmlformats.org/officeDocument/2006/relationships/image" Target="../media/image18.wmf"/><Relationship Id="rId3" Type="http://schemas.openxmlformats.org/officeDocument/2006/relationships/oleObject" Target="../embeddings/oleObject14.bin"/><Relationship Id="rId2" Type="http://schemas.openxmlformats.org/officeDocument/2006/relationships/image" Target="../media/image17.wmf"/><Relationship Id="rId10" Type="http://schemas.openxmlformats.org/officeDocument/2006/relationships/vmlDrawing" Target="../drawings/vmlDrawing7.vml"/><Relationship Id="rId1" Type="http://schemas.openxmlformats.org/officeDocument/2006/relationships/oleObject" Target="../embeddings/oleObject13.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17.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23.wmf"/><Relationship Id="rId3" Type="http://schemas.openxmlformats.org/officeDocument/2006/relationships/oleObject" Target="../embeddings/oleObject19.bin"/><Relationship Id="rId2" Type="http://schemas.openxmlformats.org/officeDocument/2006/relationships/image" Target="../media/image22.wmf"/><Relationship Id="rId1" Type="http://schemas.openxmlformats.org/officeDocument/2006/relationships/oleObject" Target="../embeddings/oleObject18.bin"/></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50938" y="2743200"/>
            <a:ext cx="7793037" cy="1143000"/>
          </a:xfrm>
        </p:spPr>
        <p:txBody>
          <a:bodyPr/>
          <a:lstStyle/>
          <a:p>
            <a:pPr algn="ctr" eaLnBrk="1" hangingPunct="1"/>
            <a:r>
              <a:rPr lang="zh-CN" altLang="en-US"/>
              <a:t>第六章  类型检查</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a:t>内容</a:t>
            </a:r>
            <a:endParaRPr lang="zh-CN" altLang="en-US"/>
          </a:p>
        </p:txBody>
      </p:sp>
      <p:sp>
        <p:nvSpPr>
          <p:cNvPr id="6147" name="Rectangle 3"/>
          <p:cNvSpPr>
            <a:spLocks noGrp="1" noChangeArrowheads="1"/>
          </p:cNvSpPr>
          <p:nvPr>
            <p:ph type="body" idx="1"/>
          </p:nvPr>
        </p:nvSpPr>
        <p:spPr/>
        <p:txBody>
          <a:bodyPr/>
          <a:lstStyle/>
          <a:p>
            <a:pPr eaLnBrk="1" hangingPunct="1"/>
            <a:r>
              <a:rPr lang="zh-CN" altLang="en-US" dirty="0"/>
              <a:t>类型系统</a:t>
            </a:r>
            <a:endParaRPr lang="zh-CN" altLang="en-US" dirty="0"/>
          </a:p>
          <a:p>
            <a:pPr eaLnBrk="1" hangingPunct="1"/>
            <a:r>
              <a:rPr lang="zh-CN" altLang="en-US" dirty="0"/>
              <a:t>类型表达式的等价</a:t>
            </a:r>
            <a:endParaRPr lang="zh-CN" altLang="en-US" dirty="0"/>
          </a:p>
          <a:p>
            <a:pPr eaLnBrk="1" hangingPunct="1"/>
            <a:r>
              <a:rPr lang="zh-CN" altLang="en-US" dirty="0"/>
              <a:t>类型转换</a:t>
            </a:r>
            <a:endParaRPr lang="zh-CN" altLang="en-US" dirty="0"/>
          </a:p>
          <a:p>
            <a:pPr eaLnBrk="1" hangingPunct="1"/>
            <a:r>
              <a:rPr lang="zh-CN" altLang="en-US" dirty="0"/>
              <a:t>函数和运算符的重载</a:t>
            </a:r>
            <a:endParaRPr lang="zh-CN" altLang="en-US" dirty="0"/>
          </a:p>
          <a:p>
            <a:pPr eaLnBrk="1" hangingPunct="1"/>
            <a:r>
              <a:rPr lang="zh-CN" altLang="en-US" dirty="0"/>
              <a:t>多态函数</a:t>
            </a:r>
            <a:endParaRPr lang="zh-CN" altLang="en-US" dirty="0"/>
          </a:p>
          <a:p>
            <a:pPr eaLnBrk="1" hangingPunct="1"/>
            <a:r>
              <a:rPr lang="zh-CN" altLang="en-US" dirty="0"/>
              <a:t>合一算法</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a:t>静态检查（</a:t>
            </a:r>
            <a:r>
              <a:rPr lang="en-US" altLang="zh-CN">
                <a:solidFill>
                  <a:schemeClr val="hlink"/>
                </a:solidFill>
              </a:rPr>
              <a:t>static checking</a:t>
            </a:r>
            <a:r>
              <a:rPr lang="zh-CN" altLang="en-US"/>
              <a:t>）</a:t>
            </a:r>
            <a:endParaRPr lang="zh-CN" altLang="en-US"/>
          </a:p>
        </p:txBody>
      </p:sp>
      <p:sp>
        <p:nvSpPr>
          <p:cNvPr id="7171" name="Rectangle 3"/>
          <p:cNvSpPr>
            <a:spLocks noGrp="1" noChangeArrowheads="1"/>
          </p:cNvSpPr>
          <p:nvPr>
            <p:ph type="body" idx="1"/>
          </p:nvPr>
        </p:nvSpPr>
        <p:spPr>
          <a:xfrm>
            <a:off x="914400" y="1371600"/>
            <a:ext cx="8040688" cy="4724400"/>
          </a:xfrm>
        </p:spPr>
        <p:txBody>
          <a:bodyPr/>
          <a:lstStyle/>
          <a:p>
            <a:pPr marL="609600" indent="-609600" eaLnBrk="1" hangingPunct="1">
              <a:buFont typeface="Wingdings" panose="05000000000000000000" pitchFamily="2" charset="2"/>
              <a:buAutoNum type="arabicPeriod"/>
            </a:pPr>
            <a:r>
              <a:rPr lang="zh-CN" altLang="en-US" sz="2800"/>
              <a:t>类型检查（</a:t>
            </a:r>
            <a:r>
              <a:rPr lang="en-US" altLang="zh-CN" sz="2800">
                <a:solidFill>
                  <a:schemeClr val="hlink"/>
                </a:solidFill>
              </a:rPr>
              <a:t>type check</a:t>
            </a:r>
            <a:r>
              <a:rPr lang="zh-CN" altLang="en-US" sz="2800"/>
              <a:t>）</a:t>
            </a:r>
            <a:endParaRPr lang="zh-CN" altLang="en-US" sz="2800"/>
          </a:p>
          <a:p>
            <a:pPr marL="990600" lvl="1" indent="-533400" eaLnBrk="1" hangingPunct="1"/>
            <a:r>
              <a:rPr lang="zh-CN" altLang="en-US" sz="2400"/>
              <a:t>操作对象必须与操作符匹配：函数名相加</a:t>
            </a:r>
            <a:r>
              <a:rPr lang="en-US" altLang="zh-CN" sz="2400">
                <a:solidFill>
                  <a:srgbClr val="FF3300"/>
                </a:solidFill>
              </a:rPr>
              <a:t>×</a:t>
            </a:r>
            <a:endParaRPr lang="en-US" altLang="zh-CN" sz="2400">
              <a:solidFill>
                <a:srgbClr val="FF3300"/>
              </a:solidFill>
            </a:endParaRPr>
          </a:p>
          <a:p>
            <a:pPr marL="609600" indent="-609600" eaLnBrk="1" hangingPunct="1">
              <a:buFont typeface="Wingdings" panose="05000000000000000000" pitchFamily="2" charset="2"/>
              <a:buAutoNum type="arabicPeriod"/>
            </a:pPr>
            <a:r>
              <a:rPr lang="zh-CN" altLang="en-US" sz="2800"/>
              <a:t>控制流检查（</a:t>
            </a:r>
            <a:r>
              <a:rPr lang="en-US" altLang="zh-CN" sz="2800">
                <a:solidFill>
                  <a:schemeClr val="hlink"/>
                </a:solidFill>
              </a:rPr>
              <a:t>flow-of-control check</a:t>
            </a:r>
            <a:r>
              <a:rPr lang="zh-CN" altLang="en-US" sz="2800"/>
              <a:t>）</a:t>
            </a:r>
            <a:endParaRPr lang="zh-CN" altLang="en-US" sz="2800"/>
          </a:p>
          <a:p>
            <a:pPr marL="990600" lvl="1" indent="-533400" eaLnBrk="1" hangingPunct="1"/>
            <a:r>
              <a:rPr lang="en-US" altLang="zh-CN" sz="2400"/>
              <a:t>break</a:t>
            </a:r>
            <a:r>
              <a:rPr lang="zh-CN" altLang="en-US" sz="2400"/>
              <a:t>必须退出</a:t>
            </a:r>
            <a:r>
              <a:rPr lang="en-US" altLang="zh-CN" sz="2400"/>
              <a:t>while</a:t>
            </a:r>
            <a:r>
              <a:rPr lang="zh-CN" altLang="en-US" sz="2400"/>
              <a:t>、</a:t>
            </a:r>
            <a:r>
              <a:rPr lang="en-US" altLang="zh-CN" sz="2400"/>
              <a:t>for</a:t>
            </a:r>
            <a:r>
              <a:rPr lang="zh-CN" altLang="en-US" sz="2400"/>
              <a:t>、</a:t>
            </a:r>
            <a:r>
              <a:rPr lang="en-US" altLang="zh-CN" sz="2400"/>
              <a:t>switch…</a:t>
            </a:r>
            <a:endParaRPr lang="en-US" altLang="zh-CN" sz="2400"/>
          </a:p>
          <a:p>
            <a:pPr marL="609600" indent="-609600" eaLnBrk="1" hangingPunct="1">
              <a:buFont typeface="Wingdings" panose="05000000000000000000" pitchFamily="2" charset="2"/>
              <a:buAutoNum type="arabicPeriod"/>
            </a:pPr>
            <a:r>
              <a:rPr lang="zh-CN" altLang="en-US" sz="2800"/>
              <a:t>唯一性检查（</a:t>
            </a:r>
            <a:r>
              <a:rPr lang="en-US" altLang="zh-CN" sz="2800">
                <a:solidFill>
                  <a:schemeClr val="hlink"/>
                </a:solidFill>
              </a:rPr>
              <a:t>uniqueness check</a:t>
            </a:r>
            <a:r>
              <a:rPr lang="zh-CN" altLang="en-US" sz="2800"/>
              <a:t>）</a:t>
            </a:r>
            <a:endParaRPr lang="zh-CN" altLang="en-US" sz="2800"/>
          </a:p>
          <a:p>
            <a:pPr marL="990600" lvl="1" indent="-533400" eaLnBrk="1" hangingPunct="1"/>
            <a:r>
              <a:rPr lang="zh-CN" altLang="en-US" sz="2400"/>
              <a:t>对象（变量、标号</a:t>
            </a:r>
            <a:r>
              <a:rPr lang="en-US" altLang="zh-CN" sz="2400"/>
              <a:t>…</a:t>
            </a:r>
            <a:r>
              <a:rPr lang="zh-CN" altLang="en-US" sz="2400"/>
              <a:t>）定义必须唯一</a:t>
            </a:r>
            <a:endParaRPr lang="zh-CN" altLang="en-US" sz="2400"/>
          </a:p>
          <a:p>
            <a:pPr marL="609600" indent="-609600" eaLnBrk="1" hangingPunct="1">
              <a:buFont typeface="Wingdings" panose="05000000000000000000" pitchFamily="2" charset="2"/>
              <a:buAutoNum type="arabicPeriod"/>
            </a:pPr>
            <a:r>
              <a:rPr lang="zh-CN" altLang="en-US" sz="2800"/>
              <a:t>名字关联检查（</a:t>
            </a:r>
            <a:r>
              <a:rPr lang="en-US" altLang="zh-CN" sz="2800">
                <a:solidFill>
                  <a:schemeClr val="hlink"/>
                </a:solidFill>
              </a:rPr>
              <a:t>name-related check</a:t>
            </a:r>
            <a:r>
              <a:rPr lang="zh-CN" altLang="en-US" sz="2800"/>
              <a:t>）</a:t>
            </a:r>
            <a:endParaRPr lang="zh-CN" altLang="en-US" sz="2800"/>
          </a:p>
          <a:p>
            <a:pPr marL="990600" lvl="1" indent="-533400" eaLnBrk="1" hangingPunct="1"/>
            <a:r>
              <a:rPr lang="zh-CN" altLang="en-US" sz="2400"/>
              <a:t>相同名字在不同位置</a:t>
            </a:r>
            <a:endParaRPr lang="zh-CN"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a:t>类型检查</a:t>
            </a:r>
            <a:endParaRPr lang="zh-CN" altLang="en-US"/>
          </a:p>
        </p:txBody>
      </p:sp>
      <p:sp>
        <p:nvSpPr>
          <p:cNvPr id="8195" name="Rectangle 3"/>
          <p:cNvSpPr>
            <a:spLocks noGrp="1" noChangeArrowheads="1"/>
          </p:cNvSpPr>
          <p:nvPr>
            <p:ph type="body" idx="1"/>
          </p:nvPr>
        </p:nvSpPr>
        <p:spPr>
          <a:xfrm>
            <a:off x="1182688" y="2362200"/>
            <a:ext cx="7772400" cy="3733800"/>
          </a:xfrm>
        </p:spPr>
        <p:txBody>
          <a:bodyPr/>
          <a:lstStyle/>
          <a:p>
            <a:pPr eaLnBrk="1" hangingPunct="1"/>
            <a:r>
              <a:rPr lang="zh-CN" altLang="en-US"/>
              <a:t>检查语法结构的类型与上下文匹配</a:t>
            </a:r>
            <a:endParaRPr lang="zh-CN" altLang="en-US"/>
          </a:p>
          <a:p>
            <a:pPr lvl="1" eaLnBrk="1" hangingPunct="1"/>
            <a:r>
              <a:rPr lang="zh-CN" altLang="en-US"/>
              <a:t>简单的类型检查</a:t>
            </a:r>
            <a:endParaRPr lang="zh-CN" altLang="en-US"/>
          </a:p>
          <a:p>
            <a:pPr lvl="1" eaLnBrk="1" hangingPunct="1"/>
            <a:r>
              <a:rPr lang="zh-CN" altLang="en-US"/>
              <a:t>两个类型的匹配</a:t>
            </a:r>
            <a:endParaRPr lang="zh-CN" altLang="en-US"/>
          </a:p>
          <a:p>
            <a:pPr eaLnBrk="1" hangingPunct="1"/>
            <a:r>
              <a:rPr lang="zh-CN" altLang="en-US"/>
              <a:t>代码生成要利用类型信息</a:t>
            </a:r>
            <a:endParaRPr lang="zh-CN" altLang="en-US"/>
          </a:p>
          <a:p>
            <a:pPr eaLnBrk="1" hangingPunct="1"/>
            <a:r>
              <a:rPr lang="zh-CN" altLang="en-US"/>
              <a:t>重载，多态</a:t>
            </a:r>
            <a:endParaRPr lang="zh-CN" altLang="en-US"/>
          </a:p>
        </p:txBody>
      </p:sp>
      <p:pic>
        <p:nvPicPr>
          <p:cNvPr id="8196" name="Picture 4" descr="po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1447800"/>
            <a:ext cx="8101013"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CN"/>
              <a:t>6.1  </a:t>
            </a:r>
            <a:r>
              <a:rPr lang="zh-CN" altLang="en-US"/>
              <a:t>类型系统</a:t>
            </a:r>
            <a:endParaRPr lang="zh-CN" altLang="en-US"/>
          </a:p>
        </p:txBody>
      </p:sp>
      <p:sp>
        <p:nvSpPr>
          <p:cNvPr id="9219" name="Rectangle 3"/>
          <p:cNvSpPr>
            <a:spLocks noGrp="1" noChangeArrowheads="1"/>
          </p:cNvSpPr>
          <p:nvPr>
            <p:ph type="body" idx="1"/>
          </p:nvPr>
        </p:nvSpPr>
        <p:spPr>
          <a:xfrm>
            <a:off x="1182688" y="1371600"/>
            <a:ext cx="7772400" cy="4953000"/>
          </a:xfrm>
        </p:spPr>
        <p:txBody>
          <a:bodyPr/>
          <a:lstStyle/>
          <a:p>
            <a:pPr eaLnBrk="1" hangingPunct="1"/>
            <a:r>
              <a:rPr lang="zh-CN" altLang="en-US" sz="2800" dirty="0"/>
              <a:t>检查语法结构组成成分的类型是否符合要求，并将类型赋予语法结构的规则</a:t>
            </a:r>
            <a:endParaRPr lang="zh-CN" altLang="en-US" sz="2800" dirty="0"/>
          </a:p>
          <a:p>
            <a:pPr lvl="1" eaLnBrk="1" hangingPunct="1"/>
            <a:r>
              <a:rPr lang="zh-CN" altLang="en-US" sz="2400" dirty="0"/>
              <a:t>若</a:t>
            </a:r>
            <a:r>
              <a:rPr lang="en-US" altLang="zh-CN" sz="2400" dirty="0"/>
              <a:t>+, -, *</a:t>
            </a:r>
            <a:r>
              <a:rPr lang="zh-CN" altLang="en-US" sz="2400" dirty="0"/>
              <a:t>的两个运算数均为整数，则结果为整数</a:t>
            </a:r>
            <a:endParaRPr lang="zh-CN" altLang="en-US" sz="2400" dirty="0"/>
          </a:p>
          <a:p>
            <a:pPr lvl="1" eaLnBrk="1" hangingPunct="1"/>
            <a:r>
              <a:rPr lang="en-US" altLang="zh-CN" sz="2400" dirty="0"/>
              <a:t>&amp;</a:t>
            </a:r>
            <a:r>
              <a:rPr lang="zh-CN" altLang="en-US" sz="2400" dirty="0"/>
              <a:t>的结果为指向操作对象的指针，若操作对象类型为</a:t>
            </a:r>
            <a:r>
              <a:rPr lang="en-US" altLang="zh-CN" sz="2400" dirty="0"/>
              <a:t>T</a:t>
            </a:r>
            <a:r>
              <a:rPr lang="zh-CN" altLang="en-US" sz="2400" dirty="0"/>
              <a:t>，则结果类型为“指向</a:t>
            </a:r>
            <a:r>
              <a:rPr lang="en-US" altLang="zh-CN" sz="2400" dirty="0"/>
              <a:t>T</a:t>
            </a:r>
            <a:r>
              <a:rPr lang="zh-CN" altLang="en-US" sz="2400" dirty="0"/>
              <a:t>的指针”</a:t>
            </a:r>
            <a:endParaRPr lang="zh-CN" altLang="en-US" sz="2400" dirty="0"/>
          </a:p>
          <a:p>
            <a:pPr eaLnBrk="1" hangingPunct="1"/>
            <a:r>
              <a:rPr lang="zh-CN" altLang="en-US" sz="2800" dirty="0"/>
              <a:t>每个表达式都有一个相关联的类型</a:t>
            </a:r>
            <a:endParaRPr lang="zh-CN" altLang="en-US" sz="2800" dirty="0"/>
          </a:p>
          <a:p>
            <a:pPr eaLnBrk="1" hangingPunct="1"/>
            <a:r>
              <a:rPr lang="zh-CN" altLang="en-US" sz="2800" dirty="0"/>
              <a:t>类型是有结构的！</a:t>
            </a:r>
            <a:r>
              <a:rPr lang="en-US" altLang="zh-CN" sz="2800" dirty="0"/>
              <a:t>——</a:t>
            </a:r>
            <a:r>
              <a:rPr lang="zh-CN" altLang="en-US" sz="2800" dirty="0"/>
              <a:t>指针</a:t>
            </a:r>
            <a:endParaRPr lang="zh-CN" altLang="en-US" sz="2800" dirty="0"/>
          </a:p>
          <a:p>
            <a:pPr eaLnBrk="1" hangingPunct="1"/>
            <a:r>
              <a:rPr lang="zh-CN" altLang="en-US" sz="2800" dirty="0"/>
              <a:t>基本类型：语言内部支持类型</a:t>
            </a:r>
            <a:endParaRPr lang="zh-CN" altLang="en-US" sz="2800" dirty="0"/>
          </a:p>
          <a:p>
            <a:pPr eaLnBrk="1" hangingPunct="1"/>
            <a:r>
              <a:rPr lang="zh-CN" altLang="en-US" sz="2800" dirty="0"/>
              <a:t>结构类型：组合基本类型构成新类型</a:t>
            </a:r>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a:t>6.1.1  </a:t>
            </a:r>
            <a:r>
              <a:rPr lang="zh-CN" altLang="en-US"/>
              <a:t>类型表达式</a:t>
            </a:r>
            <a:endParaRPr lang="zh-CN" altLang="en-US"/>
          </a:p>
        </p:txBody>
      </p:sp>
      <p:sp>
        <p:nvSpPr>
          <p:cNvPr id="10243" name="Rectangle 3"/>
          <p:cNvSpPr>
            <a:spLocks noGrp="1" noChangeArrowheads="1"/>
          </p:cNvSpPr>
          <p:nvPr>
            <p:ph type="body" idx="1"/>
          </p:nvPr>
        </p:nvSpPr>
        <p:spPr>
          <a:xfrm>
            <a:off x="1182688" y="1371600"/>
            <a:ext cx="7772400" cy="4865688"/>
          </a:xfrm>
        </p:spPr>
        <p:txBody>
          <a:bodyPr/>
          <a:lstStyle/>
          <a:p>
            <a:pPr marL="609600" indent="-609600" eaLnBrk="1" hangingPunct="1"/>
            <a:r>
              <a:rPr lang="en-US" altLang="zh-CN" dirty="0">
                <a:solidFill>
                  <a:schemeClr val="hlink"/>
                </a:solidFill>
              </a:rPr>
              <a:t>type expression</a:t>
            </a:r>
            <a:r>
              <a:rPr lang="en-US" altLang="zh-CN" dirty="0"/>
              <a:t>——</a:t>
            </a:r>
            <a:r>
              <a:rPr lang="zh-CN" altLang="en-US" dirty="0"/>
              <a:t>用来表示语言结构的类型的表达式</a:t>
            </a:r>
            <a:endParaRPr lang="zh-CN" altLang="en-US" dirty="0"/>
          </a:p>
          <a:p>
            <a:pPr marL="609600" indent="-609600" eaLnBrk="1" hangingPunct="1"/>
            <a:r>
              <a:rPr lang="zh-CN" altLang="en-US" dirty="0"/>
              <a:t>基本类型或用类型构造符组合基本类型</a:t>
            </a:r>
            <a:endParaRPr lang="zh-CN" altLang="en-US" dirty="0"/>
          </a:p>
          <a:p>
            <a:pPr marL="990600" lvl="1" indent="-533400" eaLnBrk="1" hangingPunct="1">
              <a:buFont typeface="Wingdings" panose="05000000000000000000" pitchFamily="2" charset="2"/>
              <a:buAutoNum type="arabicPeriod"/>
            </a:pPr>
            <a:r>
              <a:rPr lang="zh-CN" altLang="en-US" dirty="0"/>
              <a:t>基本类型：</a:t>
            </a:r>
            <a:r>
              <a:rPr lang="en-US" altLang="zh-CN" i="1" dirty="0" err="1"/>
              <a:t>boolean</a:t>
            </a:r>
            <a:r>
              <a:rPr lang="en-US" altLang="zh-CN" dirty="0"/>
              <a:t>, </a:t>
            </a:r>
            <a:r>
              <a:rPr lang="en-US" altLang="zh-CN" i="1" dirty="0"/>
              <a:t>char</a:t>
            </a:r>
            <a:r>
              <a:rPr lang="en-US" altLang="zh-CN" dirty="0"/>
              <a:t>, </a:t>
            </a:r>
            <a:r>
              <a:rPr lang="en-US" altLang="zh-CN" i="1" dirty="0"/>
              <a:t>integer</a:t>
            </a:r>
            <a:r>
              <a:rPr lang="en-US" altLang="zh-CN" dirty="0"/>
              <a:t>, </a:t>
            </a:r>
            <a:r>
              <a:rPr lang="en-US" altLang="zh-CN" i="1" dirty="0"/>
              <a:t>real</a:t>
            </a:r>
            <a:r>
              <a:rPr lang="en-US" altLang="zh-CN" dirty="0"/>
              <a:t>, </a:t>
            </a:r>
            <a:r>
              <a:rPr lang="en-US" altLang="zh-CN" i="1" dirty="0" err="1"/>
              <a:t>type_error</a:t>
            </a:r>
            <a:r>
              <a:rPr lang="en-US" altLang="zh-CN" dirty="0"/>
              <a:t>, </a:t>
            </a:r>
            <a:r>
              <a:rPr lang="en-US" altLang="zh-CN" i="1" dirty="0"/>
              <a:t>void</a:t>
            </a:r>
            <a:endParaRPr lang="en-US" altLang="zh-CN" i="1" dirty="0"/>
          </a:p>
          <a:p>
            <a:pPr marL="990600" lvl="1" indent="-533400" eaLnBrk="1" hangingPunct="1">
              <a:buFont typeface="Wingdings" panose="05000000000000000000" pitchFamily="2" charset="2"/>
              <a:buAutoNum type="arabicPeriod"/>
            </a:pPr>
            <a:r>
              <a:rPr lang="zh-CN" altLang="en-US" dirty="0"/>
              <a:t>类型名</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t>类型表达式（续）</a:t>
            </a:r>
            <a:endParaRPr lang="zh-CN" altLang="en-US"/>
          </a:p>
        </p:txBody>
      </p:sp>
      <p:sp>
        <p:nvSpPr>
          <p:cNvPr id="11267" name="Rectangle 3"/>
          <p:cNvSpPr>
            <a:spLocks noGrp="1" noChangeArrowheads="1"/>
          </p:cNvSpPr>
          <p:nvPr>
            <p:ph type="body" idx="1"/>
          </p:nvPr>
        </p:nvSpPr>
        <p:spPr>
          <a:xfrm>
            <a:off x="1182688" y="1371600"/>
            <a:ext cx="7772400" cy="4794250"/>
          </a:xfrm>
        </p:spPr>
        <p:txBody>
          <a:bodyPr/>
          <a:lstStyle/>
          <a:p>
            <a:pPr marL="990600" lvl="1" indent="-533400" eaLnBrk="1" hangingPunct="1">
              <a:buFont typeface="Wingdings" panose="05000000000000000000" pitchFamily="2" charset="2"/>
              <a:buAutoNum type="arabicPeriod" startAt="3"/>
            </a:pPr>
            <a:r>
              <a:rPr lang="zh-CN" altLang="en-US"/>
              <a:t>类型构造符</a:t>
            </a:r>
            <a:endParaRPr lang="zh-CN" altLang="en-US"/>
          </a:p>
          <a:p>
            <a:pPr marL="1371600" lvl="2" indent="-457200" eaLnBrk="1" hangingPunct="1">
              <a:buFont typeface="Wingdings" panose="05000000000000000000" pitchFamily="2" charset="2"/>
              <a:buAutoNum type="alphaLcParenR"/>
            </a:pPr>
            <a:r>
              <a:rPr lang="zh-CN" altLang="en-US"/>
              <a:t>数组：</a:t>
            </a:r>
            <a:r>
              <a:rPr lang="en-US" altLang="zh-CN"/>
              <a:t>T</a:t>
            </a:r>
            <a:r>
              <a:rPr lang="zh-CN" altLang="en-US"/>
              <a:t>是类型表达式，</a:t>
            </a:r>
            <a:r>
              <a:rPr lang="en-US" altLang="zh-CN"/>
              <a:t>I</a:t>
            </a:r>
            <a:r>
              <a:rPr lang="zh-CN" altLang="en-US"/>
              <a:t>为索引集合（整数范围），则</a:t>
            </a:r>
            <a:r>
              <a:rPr lang="en-US" altLang="zh-CN"/>
              <a:t>array(I, T)</a:t>
            </a:r>
            <a:r>
              <a:rPr lang="zh-CN" altLang="en-US"/>
              <a:t>是一个类型表达式，表示元素为类型</a:t>
            </a:r>
            <a:r>
              <a:rPr lang="en-US" altLang="zh-CN"/>
              <a:t>T</a:t>
            </a:r>
            <a:r>
              <a:rPr lang="zh-CN" altLang="en-US"/>
              <a:t>的数组类型</a:t>
            </a:r>
            <a:br>
              <a:rPr lang="zh-CN" altLang="en-US"/>
            </a:br>
            <a:r>
              <a:rPr lang="en-US" altLang="zh-CN"/>
              <a:t>int A[10];——array({0, …, 9}, integer)</a:t>
            </a:r>
            <a:endParaRPr lang="en-US" altLang="zh-CN"/>
          </a:p>
          <a:p>
            <a:pPr marL="1371600" lvl="2" indent="-457200" eaLnBrk="1" hangingPunct="1">
              <a:buFont typeface="Wingdings" panose="05000000000000000000" pitchFamily="2" charset="2"/>
              <a:buAutoNum type="alphaLcParenR"/>
            </a:pPr>
            <a:r>
              <a:rPr lang="zh-CN" altLang="en-US"/>
              <a:t>笛卡儿积：</a:t>
            </a:r>
            <a:r>
              <a:rPr lang="en-US" altLang="zh-CN"/>
              <a:t>T</a:t>
            </a:r>
            <a:r>
              <a:rPr lang="en-US" altLang="zh-CN" baseline="-25000"/>
              <a:t>1</a:t>
            </a:r>
            <a:r>
              <a:rPr lang="zh-CN" altLang="en-US"/>
              <a:t>、</a:t>
            </a:r>
            <a:r>
              <a:rPr lang="en-US" altLang="zh-CN"/>
              <a:t>T</a:t>
            </a:r>
            <a:r>
              <a:rPr lang="en-US" altLang="zh-CN" baseline="-25000"/>
              <a:t>2</a:t>
            </a:r>
            <a:r>
              <a:rPr lang="zh-CN" altLang="en-US"/>
              <a:t>为类型表达式，则</a:t>
            </a:r>
            <a:r>
              <a:rPr lang="en-US" altLang="zh-CN"/>
              <a:t>T</a:t>
            </a:r>
            <a:r>
              <a:rPr lang="en-US" altLang="zh-CN" baseline="-25000"/>
              <a:t>1</a:t>
            </a:r>
            <a:r>
              <a:rPr lang="en-US" altLang="zh-CN"/>
              <a:t>×T</a:t>
            </a:r>
            <a:r>
              <a:rPr lang="en-US" altLang="zh-CN" baseline="-25000"/>
              <a:t>2</a:t>
            </a:r>
            <a:r>
              <a:rPr lang="zh-CN" altLang="en-US"/>
              <a:t>为类型表达式</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a:t>类型表达式（续）</a:t>
            </a:r>
            <a:endParaRPr lang="zh-CN" altLang="en-US"/>
          </a:p>
        </p:txBody>
      </p:sp>
      <p:sp>
        <p:nvSpPr>
          <p:cNvPr id="12291" name="Rectangle 3"/>
          <p:cNvSpPr>
            <a:spLocks noGrp="1" noChangeArrowheads="1"/>
          </p:cNvSpPr>
          <p:nvPr>
            <p:ph type="body" idx="1"/>
          </p:nvPr>
        </p:nvSpPr>
        <p:spPr>
          <a:xfrm>
            <a:off x="1182688" y="1371600"/>
            <a:ext cx="7772400" cy="4876800"/>
          </a:xfrm>
        </p:spPr>
        <p:txBody>
          <a:bodyPr/>
          <a:lstStyle/>
          <a:p>
            <a:pPr marL="1371600" lvl="2" indent="-457200" eaLnBrk="1" hangingPunct="1">
              <a:buFont typeface="Wingdings" panose="05000000000000000000" pitchFamily="2" charset="2"/>
              <a:buAutoNum type="alphaLcParenR" startAt="3"/>
            </a:pPr>
            <a:r>
              <a:rPr lang="zh-CN" altLang="en-US"/>
              <a:t>记录：与笛卡儿积的不同之处仅在于记录的域有名字。</a:t>
            </a:r>
            <a:r>
              <a:rPr lang="en-US" altLang="zh-CN"/>
              <a:t>&lt;</a:t>
            </a:r>
            <a:r>
              <a:rPr lang="zh-CN" altLang="en-US"/>
              <a:t>域名，域类型</a:t>
            </a:r>
            <a:r>
              <a:rPr lang="en-US" altLang="zh-CN"/>
              <a:t>&gt;</a:t>
            </a:r>
            <a:r>
              <a:rPr lang="zh-CN" altLang="en-US"/>
              <a:t>元组</a:t>
            </a:r>
            <a:br>
              <a:rPr lang="zh-CN" altLang="en-US"/>
            </a:br>
            <a:r>
              <a:rPr lang="en-US" altLang="zh-CN"/>
              <a:t>typedef struct {</a:t>
            </a:r>
            <a:br>
              <a:rPr lang="en-US" altLang="zh-CN"/>
            </a:br>
            <a:r>
              <a:rPr lang="en-US" altLang="zh-CN"/>
              <a:t>	int address;</a:t>
            </a:r>
            <a:br>
              <a:rPr lang="en-US" altLang="zh-CN"/>
            </a:br>
            <a:r>
              <a:rPr lang="en-US" altLang="zh-CN"/>
              <a:t>	char lexeme[15];</a:t>
            </a:r>
            <a:br>
              <a:rPr lang="en-US" altLang="zh-CN"/>
            </a:br>
            <a:r>
              <a:rPr lang="en-US" altLang="zh-CN"/>
              <a:t>} row;</a:t>
            </a:r>
            <a:br>
              <a:rPr lang="en-US" altLang="zh-CN"/>
            </a:br>
            <a:r>
              <a:rPr lang="en-US" altLang="zh-CN"/>
              <a:t>row table[101];</a:t>
            </a:r>
            <a:br>
              <a:rPr lang="en-US" altLang="zh-CN"/>
            </a:br>
            <a:r>
              <a:rPr lang="zh-CN" altLang="en-US"/>
              <a:t>类型表达式为：</a:t>
            </a:r>
            <a:br>
              <a:rPr lang="zh-CN" altLang="en-US"/>
            </a:br>
            <a:r>
              <a:rPr lang="en-US" altLang="zh-CN"/>
              <a:t>record((address×integer)×</a:t>
            </a:r>
            <a:br>
              <a:rPr lang="en-US" altLang="zh-CN"/>
            </a:br>
            <a:r>
              <a:rPr lang="en-US" altLang="zh-CN"/>
              <a:t>		(lexeme×array({0, …, 15}, char)))</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a:t>类型表达式（续）</a:t>
            </a:r>
            <a:endParaRPr lang="zh-CN" altLang="en-US"/>
          </a:p>
        </p:txBody>
      </p:sp>
      <p:sp>
        <p:nvSpPr>
          <p:cNvPr id="13315" name="Rectangle 3"/>
          <p:cNvSpPr>
            <a:spLocks noGrp="1" noChangeArrowheads="1"/>
          </p:cNvSpPr>
          <p:nvPr>
            <p:ph type="body" idx="1"/>
          </p:nvPr>
        </p:nvSpPr>
        <p:spPr>
          <a:xfrm>
            <a:off x="1182688" y="1371600"/>
            <a:ext cx="7772400" cy="4876800"/>
          </a:xfrm>
        </p:spPr>
        <p:txBody>
          <a:bodyPr/>
          <a:lstStyle/>
          <a:p>
            <a:pPr marL="1371600" lvl="2" indent="-457200" eaLnBrk="1" hangingPunct="1">
              <a:buFont typeface="Wingdings" panose="05000000000000000000" pitchFamily="2" charset="2"/>
              <a:buAutoNum type="alphaLcParenR" startAt="4"/>
            </a:pPr>
            <a:r>
              <a:rPr lang="zh-CN" altLang="en-US" sz="2000" dirty="0"/>
              <a:t>指针：</a:t>
            </a:r>
            <a:r>
              <a:rPr lang="en-US" altLang="zh-CN" sz="2000" dirty="0"/>
              <a:t>T</a:t>
            </a:r>
            <a:r>
              <a:rPr lang="zh-CN" altLang="en-US" sz="2000" dirty="0"/>
              <a:t>为类型表达式，则</a:t>
            </a:r>
            <a:r>
              <a:rPr lang="en-US" altLang="zh-CN" sz="2000" dirty="0"/>
              <a:t>pointer(T)</a:t>
            </a:r>
            <a:r>
              <a:rPr lang="zh-CN" altLang="en-US" sz="2000" dirty="0"/>
              <a:t>为类型表达式，表示“指向类型为</a:t>
            </a:r>
            <a:r>
              <a:rPr lang="en-US" altLang="zh-CN" sz="2000" dirty="0"/>
              <a:t>T</a:t>
            </a:r>
            <a:r>
              <a:rPr lang="zh-CN" altLang="en-US" sz="2000" dirty="0"/>
              <a:t>的对象的指针”类型</a:t>
            </a:r>
            <a:br>
              <a:rPr lang="zh-CN" altLang="en-US" sz="2000" dirty="0"/>
            </a:br>
            <a:r>
              <a:rPr lang="en-US" altLang="zh-CN" sz="2000" dirty="0"/>
              <a:t>row *p;——pointer(row)</a:t>
            </a:r>
            <a:endParaRPr lang="en-US" altLang="zh-CN" sz="2000" dirty="0"/>
          </a:p>
          <a:p>
            <a:pPr marL="1371600" lvl="2" indent="-457200" eaLnBrk="1" hangingPunct="1">
              <a:buFont typeface="Wingdings" panose="05000000000000000000" pitchFamily="2" charset="2"/>
              <a:buAutoNum type="alphaLcParenR" startAt="4"/>
            </a:pPr>
            <a:r>
              <a:rPr lang="zh-CN" altLang="en-US" sz="2000" dirty="0"/>
              <a:t>函数：数学上，一个集合“定义域”到另一个集合“值域”的映射。程序语言，定义域类型</a:t>
            </a:r>
            <a:r>
              <a:rPr lang="en-US" altLang="zh-CN" sz="2000" dirty="0"/>
              <a:t>D</a:t>
            </a:r>
            <a:r>
              <a:rPr lang="zh-CN" altLang="en-US" sz="2000" dirty="0"/>
              <a:t>到值域类型</a:t>
            </a:r>
            <a:r>
              <a:rPr lang="en-US" altLang="zh-CN" sz="2000" dirty="0"/>
              <a:t>R</a:t>
            </a:r>
            <a:r>
              <a:rPr lang="zh-CN" altLang="en-US" sz="2000" dirty="0"/>
              <a:t>的映射：</a:t>
            </a:r>
            <a:r>
              <a:rPr lang="en-US" altLang="zh-CN" sz="2000" dirty="0"/>
              <a:t>D</a:t>
            </a:r>
            <a:r>
              <a:rPr lang="en-US" altLang="zh-CN" sz="2000" dirty="0">
                <a:sym typeface="Wingdings" panose="05000000000000000000" pitchFamily="2" charset="2"/>
              </a:rPr>
              <a:t>R</a:t>
            </a:r>
            <a:r>
              <a:rPr lang="zh-CN" altLang="en-US" sz="2000" dirty="0">
                <a:sym typeface="Wingdings" panose="05000000000000000000" pitchFamily="2" charset="2"/>
              </a:rPr>
              <a:t>。</a:t>
            </a:r>
            <a:endParaRPr lang="en-US" altLang="zh-CN" sz="2000" dirty="0">
              <a:sym typeface="Wingdings" panose="05000000000000000000" pitchFamily="2" charset="2"/>
            </a:endParaRPr>
          </a:p>
          <a:p>
            <a:pPr marL="1714500" lvl="2" indent="-342900" eaLnBrk="1" hangingPunct="1"/>
            <a:r>
              <a:rPr lang="en-US" altLang="zh-CN" sz="2000" dirty="0">
                <a:sym typeface="Wingdings" panose="05000000000000000000" pitchFamily="2" charset="2"/>
              </a:rPr>
              <a:t>%</a:t>
            </a:r>
            <a:r>
              <a:rPr lang="zh-CN" altLang="en-US" sz="2000" dirty="0">
                <a:sym typeface="Wingdings" panose="05000000000000000000" pitchFamily="2" charset="2"/>
              </a:rPr>
              <a:t>运算符</a:t>
            </a:r>
            <a:endParaRPr lang="en-US" altLang="zh-CN" sz="2000" dirty="0">
              <a:sym typeface="Wingdings" panose="05000000000000000000" pitchFamily="2" charset="2"/>
            </a:endParaRPr>
          </a:p>
          <a:p>
            <a:pPr marL="1371600" lvl="2" indent="0" eaLnBrk="1" hangingPunct="1">
              <a:buNone/>
            </a:pPr>
            <a:r>
              <a:rPr lang="en-US" altLang="zh-CN" sz="2000" dirty="0">
                <a:sym typeface="Wingdings" panose="05000000000000000000" pitchFamily="2" charset="2"/>
              </a:rPr>
              <a:t>(</a:t>
            </a:r>
            <a:r>
              <a:rPr lang="en-US" altLang="zh-CN" sz="2000" dirty="0" err="1">
                <a:sym typeface="Wingdings" panose="05000000000000000000" pitchFamily="2" charset="2"/>
              </a:rPr>
              <a:t>int×int</a:t>
            </a:r>
            <a:r>
              <a:rPr lang="en-US" altLang="zh-CN" sz="2000" dirty="0">
                <a:sym typeface="Wingdings" panose="05000000000000000000" pitchFamily="2" charset="2"/>
              </a:rPr>
              <a:t>)int</a:t>
            </a:r>
            <a:endParaRPr lang="en-US" altLang="zh-CN" sz="2000" dirty="0">
              <a:sym typeface="Wingdings" panose="05000000000000000000" pitchFamily="2" charset="2"/>
            </a:endParaRPr>
          </a:p>
          <a:p>
            <a:pPr marL="1714500" lvl="2" indent="-342900" eaLnBrk="1" hangingPunct="1"/>
            <a:r>
              <a:rPr lang="en-US" altLang="zh-CN" sz="2000" dirty="0">
                <a:sym typeface="Wingdings" panose="05000000000000000000" pitchFamily="2" charset="2"/>
              </a:rPr>
              <a:t>int *f(char a, char b);</a:t>
            </a:r>
            <a:endParaRPr lang="en-US" altLang="zh-CN" sz="2000" dirty="0">
              <a:sym typeface="Wingdings" panose="05000000000000000000" pitchFamily="2" charset="2"/>
            </a:endParaRPr>
          </a:p>
          <a:p>
            <a:pPr marL="1371600" lvl="2" indent="0" eaLnBrk="1" hangingPunct="1">
              <a:buNone/>
            </a:pPr>
            <a:r>
              <a:rPr lang="en-US" altLang="zh-CN" sz="2000" dirty="0">
                <a:sym typeface="Wingdings" panose="05000000000000000000" pitchFamily="2" charset="2"/>
              </a:rPr>
              <a:t>(</a:t>
            </a:r>
            <a:r>
              <a:rPr lang="en-US" altLang="zh-CN" sz="2000" dirty="0" err="1">
                <a:sym typeface="Wingdings" panose="05000000000000000000" pitchFamily="2" charset="2"/>
              </a:rPr>
              <a:t>char×char</a:t>
            </a:r>
            <a:r>
              <a:rPr lang="en-US" altLang="zh-CN" sz="2000" dirty="0">
                <a:sym typeface="Wingdings" panose="05000000000000000000" pitchFamily="2" charset="2"/>
              </a:rPr>
              <a:t>)pointer(integer)</a:t>
            </a:r>
            <a:endParaRPr lang="en-US" altLang="zh-CN" sz="2000" dirty="0">
              <a:sym typeface="Wingdings" panose="05000000000000000000" pitchFamily="2" charset="2"/>
            </a:endParaRPr>
          </a:p>
          <a:p>
            <a:pPr marL="1714500" lvl="2" indent="-342900" eaLnBrk="1" hangingPunct="1"/>
            <a:r>
              <a:rPr lang="en-US" altLang="zh-CN" sz="2000" dirty="0">
                <a:sym typeface="Wingdings" panose="05000000000000000000" pitchFamily="2" charset="2"/>
              </a:rPr>
              <a:t>(</a:t>
            </a:r>
            <a:r>
              <a:rPr lang="en-US" altLang="zh-CN" sz="2000" dirty="0" err="1">
                <a:sym typeface="Wingdings" panose="05000000000000000000" pitchFamily="2" charset="2"/>
              </a:rPr>
              <a:t>integerinteger</a:t>
            </a:r>
            <a:r>
              <a:rPr lang="en-US" altLang="zh-CN" sz="2000" dirty="0">
                <a:sym typeface="Wingdings" panose="05000000000000000000" pitchFamily="2" charset="2"/>
              </a:rPr>
              <a:t>)(</a:t>
            </a:r>
            <a:r>
              <a:rPr lang="en-US" altLang="zh-CN" sz="2000" dirty="0" err="1">
                <a:sym typeface="Wingdings" panose="05000000000000000000" pitchFamily="2" charset="2"/>
              </a:rPr>
              <a:t>integerinteger</a:t>
            </a:r>
            <a:r>
              <a:rPr lang="en-US" altLang="zh-CN" sz="2000" dirty="0">
                <a:sym typeface="Wingdings" panose="05000000000000000000" pitchFamily="2" charset="2"/>
              </a:rPr>
              <a:t>)</a:t>
            </a:r>
            <a:endParaRPr lang="en-US" altLang="zh-CN" sz="2000" dirty="0">
              <a:sym typeface="Wingdings" panose="05000000000000000000" pitchFamily="2" charset="2"/>
            </a:endParaRPr>
          </a:p>
          <a:p>
            <a:pPr marL="1371600" lvl="2" indent="0" eaLnBrk="1" hangingPunct="1">
              <a:buNone/>
            </a:pPr>
            <a:r>
              <a:rPr lang="zh-CN" altLang="en-US" sz="2000" dirty="0">
                <a:sym typeface="Wingdings" panose="05000000000000000000" pitchFamily="2" charset="2"/>
              </a:rPr>
              <a:t>函数类型，参数和返回值都是接受一个整型、返回一个整型的函数</a:t>
            </a:r>
            <a:endParaRPr lang="en-US" altLang="zh-CN" sz="2000" dirty="0">
              <a:sym typeface="Wingdings" panose="05000000000000000000" pitchFamily="2" charset="2"/>
            </a:endParaRPr>
          </a:p>
          <a:p>
            <a:pPr marL="990600" lvl="1" indent="-533400" eaLnBrk="1" hangingPunct="1">
              <a:buFont typeface="Wingdings" panose="05000000000000000000" pitchFamily="2" charset="2"/>
              <a:buAutoNum type="arabicPeriod" startAt="4"/>
            </a:pPr>
            <a:r>
              <a:rPr lang="zh-CN" altLang="en-US" sz="2400" dirty="0"/>
              <a:t>可使用类型表达式变量</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a:t>图表示类型表达式</a:t>
            </a:r>
            <a:endParaRPr lang="zh-CN" altLang="en-US"/>
          </a:p>
        </p:txBody>
      </p:sp>
      <p:sp>
        <p:nvSpPr>
          <p:cNvPr id="14339" name="Rectangle 3"/>
          <p:cNvSpPr>
            <a:spLocks noGrp="1" noChangeArrowheads="1"/>
          </p:cNvSpPr>
          <p:nvPr>
            <p:ph type="body" idx="1"/>
          </p:nvPr>
        </p:nvSpPr>
        <p:spPr/>
        <p:txBody>
          <a:bodyPr/>
          <a:lstStyle/>
          <a:p>
            <a:pPr eaLnBrk="1" hangingPunct="1"/>
            <a:r>
              <a:rPr lang="en-US" altLang="zh-CN">
                <a:sym typeface="Wingdings" panose="05000000000000000000" pitchFamily="2" charset="2"/>
              </a:rPr>
              <a:t>(char×char)pointer(integer)</a:t>
            </a:r>
            <a:endParaRPr lang="en-US" altLang="zh-CN">
              <a:sym typeface="Wingdings" panose="05000000000000000000" pitchFamily="2" charset="2"/>
            </a:endParaRPr>
          </a:p>
        </p:txBody>
      </p:sp>
      <p:pic>
        <p:nvPicPr>
          <p:cNvPr id="14340" name="Picture 5" descr="typeex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438400"/>
            <a:ext cx="838835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a:t>6.1.2  </a:t>
            </a:r>
            <a:r>
              <a:rPr lang="zh-CN" altLang="en-US"/>
              <a:t>类型系统</a:t>
            </a:r>
            <a:endParaRPr lang="zh-CN" altLang="en-US"/>
          </a:p>
        </p:txBody>
      </p:sp>
      <p:sp>
        <p:nvSpPr>
          <p:cNvPr id="15363" name="Rectangle 3"/>
          <p:cNvSpPr>
            <a:spLocks noGrp="1" noChangeArrowheads="1"/>
          </p:cNvSpPr>
          <p:nvPr>
            <p:ph type="body" idx="1"/>
          </p:nvPr>
        </p:nvSpPr>
        <p:spPr>
          <a:xfrm>
            <a:off x="1182688" y="1371600"/>
            <a:ext cx="7772400" cy="5105400"/>
          </a:xfrm>
        </p:spPr>
        <p:txBody>
          <a:bodyPr/>
          <a:lstStyle/>
          <a:p>
            <a:pPr eaLnBrk="1" hangingPunct="1"/>
            <a:r>
              <a:rPr lang="en-US" altLang="zh-CN" dirty="0">
                <a:solidFill>
                  <a:schemeClr val="hlink"/>
                </a:solidFill>
              </a:rPr>
              <a:t>type system</a:t>
            </a:r>
            <a:r>
              <a:rPr lang="zh-CN" altLang="en-US" dirty="0"/>
              <a:t>：规则的集合</a:t>
            </a:r>
            <a:br>
              <a:rPr lang="zh-CN" altLang="en-US" dirty="0"/>
            </a:br>
            <a:r>
              <a:rPr lang="zh-CN" altLang="en-US" dirty="0"/>
              <a:t>规则</a:t>
            </a:r>
            <a:r>
              <a:rPr lang="en-US" altLang="zh-CN" dirty="0"/>
              <a:t>——</a:t>
            </a:r>
            <a:r>
              <a:rPr lang="zh-CN" altLang="en-US" dirty="0"/>
              <a:t>将类型表达式赋予程序的不同部分</a:t>
            </a:r>
            <a:endParaRPr lang="zh-CN" altLang="en-US" dirty="0"/>
          </a:p>
          <a:p>
            <a:pPr eaLnBrk="1" hangingPunct="1"/>
            <a:r>
              <a:rPr lang="zh-CN" altLang="en-US" dirty="0"/>
              <a:t>类型检查程序：实现一个类型系统</a:t>
            </a:r>
            <a:endParaRPr lang="zh-CN" altLang="en-US" dirty="0"/>
          </a:p>
          <a:p>
            <a:pPr eaLnBrk="1" hangingPunct="1"/>
            <a:r>
              <a:rPr lang="zh-CN" altLang="en-US" dirty="0"/>
              <a:t>语法制导方式实现</a:t>
            </a:r>
            <a:r>
              <a:rPr lang="en-US" altLang="zh-CN" dirty="0"/>
              <a:t>——</a:t>
            </a:r>
            <a:r>
              <a:rPr lang="zh-CN" altLang="en-US" dirty="0"/>
              <a:t>实现为语义规则</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t>6.1.2</a:t>
            </a:r>
            <a:r>
              <a:rPr lang="zh-CN" altLang="en-US"/>
              <a:t>静态</a:t>
            </a:r>
            <a:r>
              <a:rPr lang="en-US" altLang="zh-CN"/>
              <a:t>/</a:t>
            </a:r>
            <a:r>
              <a:rPr lang="zh-CN" altLang="en-US"/>
              <a:t>动态检查</a:t>
            </a:r>
            <a:endParaRPr lang="zh-CN" altLang="en-US"/>
          </a:p>
        </p:txBody>
      </p:sp>
      <p:sp>
        <p:nvSpPr>
          <p:cNvPr id="16387" name="Rectangle 3"/>
          <p:cNvSpPr>
            <a:spLocks noGrp="1" noChangeArrowheads="1"/>
          </p:cNvSpPr>
          <p:nvPr>
            <p:ph type="body" idx="1"/>
          </p:nvPr>
        </p:nvSpPr>
        <p:spPr>
          <a:xfrm>
            <a:off x="1182688" y="1371600"/>
            <a:ext cx="7772400" cy="5010150"/>
          </a:xfrm>
        </p:spPr>
        <p:txBody>
          <a:bodyPr/>
          <a:lstStyle/>
          <a:p>
            <a:pPr eaLnBrk="1" hangingPunct="1"/>
            <a:r>
              <a:rPr lang="zh-CN" altLang="en-US"/>
              <a:t>静态</a:t>
            </a:r>
            <a:r>
              <a:rPr lang="en-US" altLang="zh-CN"/>
              <a:t>——</a:t>
            </a:r>
            <a:r>
              <a:rPr lang="zh-CN" altLang="en-US"/>
              <a:t>编译器进行</a:t>
            </a:r>
            <a:br>
              <a:rPr lang="zh-CN" altLang="en-US"/>
            </a:br>
            <a:r>
              <a:rPr lang="zh-CN" altLang="en-US"/>
              <a:t>动态</a:t>
            </a:r>
            <a:r>
              <a:rPr lang="en-US" altLang="zh-CN"/>
              <a:t>——</a:t>
            </a:r>
            <a:r>
              <a:rPr lang="zh-CN" altLang="en-US"/>
              <a:t>运行时进行</a:t>
            </a:r>
            <a:endParaRPr lang="zh-CN" altLang="en-US"/>
          </a:p>
          <a:p>
            <a:pPr eaLnBrk="1" hangingPunct="1"/>
            <a:r>
              <a:rPr lang="zh-CN" altLang="en-US"/>
              <a:t>可靠类型系统，强类型语言</a:t>
            </a:r>
            <a:r>
              <a:rPr lang="en-US" altLang="zh-CN"/>
              <a:t>——</a:t>
            </a:r>
            <a:r>
              <a:rPr lang="zh-CN" altLang="en-US"/>
              <a:t>编译器无</a:t>
            </a:r>
            <a:r>
              <a:rPr lang="en-US" altLang="zh-CN"/>
              <a:t>type_error</a:t>
            </a:r>
            <a:r>
              <a:rPr lang="en-US" altLang="zh-CN">
                <a:sym typeface="Wingdings" panose="05000000000000000000" pitchFamily="2" charset="2"/>
              </a:rPr>
              <a:t></a:t>
            </a:r>
            <a:r>
              <a:rPr lang="zh-CN" altLang="en-US">
                <a:sym typeface="Wingdings" panose="05000000000000000000" pitchFamily="2" charset="2"/>
              </a:rPr>
              <a:t>运行时无类型错误</a:t>
            </a:r>
            <a:endParaRPr lang="zh-CN" altLang="en-US">
              <a:sym typeface="Wingdings" panose="05000000000000000000" pitchFamily="2" charset="2"/>
            </a:endParaRPr>
          </a:p>
          <a:p>
            <a:pPr eaLnBrk="1" hangingPunct="1"/>
            <a:r>
              <a:rPr lang="en-US" altLang="zh-CN"/>
              <a:t>int a[10], i; b=a[i];——</a:t>
            </a:r>
            <a:r>
              <a:rPr lang="zh-CN" altLang="en-US"/>
              <a:t>需动态检查</a:t>
            </a:r>
            <a:endParaRPr lang="zh-CN" altLang="en-US"/>
          </a:p>
          <a:p>
            <a:pPr eaLnBrk="1" hangingPunct="1"/>
            <a:r>
              <a:rPr lang="zh-CN" altLang="en-US"/>
              <a:t>安全领域也涉及类型检查（缓冲溢出问题）</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a:t>6.1.4  </a:t>
            </a:r>
            <a:r>
              <a:rPr lang="zh-CN" altLang="en-US"/>
              <a:t>错误恢复</a:t>
            </a:r>
            <a:endParaRPr lang="zh-CN" altLang="en-US"/>
          </a:p>
        </p:txBody>
      </p:sp>
      <p:sp>
        <p:nvSpPr>
          <p:cNvPr id="17411" name="Rectangle 3"/>
          <p:cNvSpPr>
            <a:spLocks noGrp="1" noChangeArrowheads="1"/>
          </p:cNvSpPr>
          <p:nvPr>
            <p:ph type="body" idx="1"/>
          </p:nvPr>
        </p:nvSpPr>
        <p:spPr/>
        <p:txBody>
          <a:bodyPr/>
          <a:lstStyle/>
          <a:p>
            <a:pPr eaLnBrk="1" hangingPunct="1"/>
            <a:r>
              <a:rPr lang="zh-CN" altLang="en-US"/>
              <a:t>最低要求：报告类型错误位置</a:t>
            </a:r>
            <a:endParaRPr lang="zh-CN" altLang="en-US"/>
          </a:p>
          <a:p>
            <a:pPr eaLnBrk="1" hangingPunct="1"/>
            <a:r>
              <a:rPr lang="zh-CN" altLang="en-US"/>
              <a:t>错误处理应融入规则中</a:t>
            </a:r>
            <a:endParaRPr lang="zh-CN" altLang="en-US"/>
          </a:p>
          <a:p>
            <a:pPr eaLnBrk="1" hangingPunct="1"/>
            <a:r>
              <a:rPr lang="zh-CN" altLang="en-US"/>
              <a:t>错误修正比描述正确程序更困难</a:t>
            </a:r>
            <a:endParaRPr lang="zh-CN" altLang="en-US"/>
          </a:p>
          <a:p>
            <a:pPr lvl="1" eaLnBrk="1" hangingPunct="1"/>
            <a:r>
              <a:rPr lang="zh-CN" altLang="en-US"/>
              <a:t>根据错误的程序、处理缺失信息，来推测正确类型</a:t>
            </a:r>
            <a:r>
              <a:rPr lang="zh-CN" altLang="en-US">
                <a:sym typeface="Wingdings" panose="05000000000000000000" pitchFamily="2" charset="2"/>
              </a:rPr>
              <a:t>在变量使用之前无需定义它</a:t>
            </a:r>
            <a:endParaRPr lang="zh-CN" altLang="en-US">
              <a:sym typeface="Wingdings" panose="05000000000000000000" pitchFamily="2" charset="2"/>
            </a:endParaRPr>
          </a:p>
          <a:p>
            <a:pPr lvl="1" eaLnBrk="1" hangingPunct="1"/>
            <a:r>
              <a:rPr lang="zh-CN" altLang="en-US">
                <a:sym typeface="Wingdings" panose="05000000000000000000" pitchFamily="2" charset="2"/>
              </a:rPr>
              <a:t>类型变量可用来处理这种问题</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a:t>6.2  </a:t>
            </a:r>
            <a:r>
              <a:rPr lang="zh-CN" altLang="en-US"/>
              <a:t>一个简单的类型检查器</a:t>
            </a:r>
            <a:endParaRPr lang="zh-CN" altLang="en-US"/>
          </a:p>
        </p:txBody>
      </p:sp>
      <p:sp>
        <p:nvSpPr>
          <p:cNvPr id="18435" name="Rectangle 3"/>
          <p:cNvSpPr>
            <a:spLocks noGrp="1" noChangeArrowheads="1"/>
          </p:cNvSpPr>
          <p:nvPr>
            <p:ph type="body" idx="1"/>
          </p:nvPr>
        </p:nvSpPr>
        <p:spPr>
          <a:xfrm>
            <a:off x="990600" y="1371600"/>
            <a:ext cx="7964488" cy="5010150"/>
          </a:xfrm>
        </p:spPr>
        <p:txBody>
          <a:bodyPr/>
          <a:lstStyle/>
          <a:p>
            <a:pPr eaLnBrk="1" hangingPunct="1">
              <a:lnSpc>
                <a:spcPct val="80000"/>
              </a:lnSpc>
              <a:spcBef>
                <a:spcPct val="10000"/>
              </a:spcBef>
              <a:buFont typeface="Wingdings" panose="05000000000000000000" pitchFamily="2" charset="2"/>
              <a:buNone/>
            </a:pPr>
            <a:r>
              <a:rPr lang="en-US" altLang="zh-CN" sz="3600" dirty="0"/>
              <a:t>6.2.1  </a:t>
            </a:r>
            <a:r>
              <a:rPr lang="zh-CN" altLang="en-US" sz="3600" dirty="0"/>
              <a:t>一种简单语言</a:t>
            </a:r>
            <a:endParaRPr lang="zh-CN" altLang="en-US" sz="3600" dirty="0"/>
          </a:p>
          <a:p>
            <a:pPr eaLnBrk="1" hangingPunct="1">
              <a:lnSpc>
                <a:spcPct val="80000"/>
              </a:lnSpc>
              <a:spcBef>
                <a:spcPct val="10000"/>
              </a:spcBef>
            </a:pPr>
            <a:r>
              <a:rPr lang="zh-CN" altLang="en-US" sz="2800" dirty="0"/>
              <a:t>用综合属性</a:t>
            </a:r>
            <a:r>
              <a:rPr lang="en-US" altLang="zh-CN" sz="2800" dirty="0"/>
              <a:t>type</a:t>
            </a:r>
            <a:r>
              <a:rPr lang="zh-CN" altLang="en-US" sz="2800" dirty="0"/>
              <a:t>保存类型表达式</a:t>
            </a:r>
            <a:endParaRPr lang="zh-CN" altLang="en-US" sz="2800" dirty="0"/>
          </a:p>
          <a:p>
            <a:pPr eaLnBrk="1" hangingPunct="1">
              <a:lnSpc>
                <a:spcPct val="80000"/>
              </a:lnSpc>
              <a:spcBef>
                <a:spcPct val="10000"/>
              </a:spcBef>
              <a:buFont typeface="Wingdings" panose="05000000000000000000" pitchFamily="2" charset="2"/>
              <a:buNone/>
            </a:pPr>
            <a:r>
              <a:rPr lang="en-US" altLang="zh-CN" sz="2400" dirty="0"/>
              <a:t>P </a:t>
            </a:r>
            <a:r>
              <a:rPr lang="en-US" altLang="zh-CN" sz="2400" dirty="0">
                <a:sym typeface="Symbol" panose="05050102010706020507" pitchFamily="18" charset="2"/>
              </a:rPr>
              <a:t>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D |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 </a:t>
            </a:r>
            <a:r>
              <a:rPr lang="en-US" altLang="zh-CN" sz="2400" dirty="0">
                <a:sym typeface="Symbol" panose="05050102010706020507" pitchFamily="18" charset="2"/>
              </a:rPr>
              <a:t>T</a:t>
            </a:r>
            <a:endParaRPr lang="en-US" altLang="zh-CN" sz="2400" i="1"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char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integer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array</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of</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endParaRPr lang="en-US" altLang="zh-CN" sz="2400" dirty="0"/>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E  </a:t>
            </a:r>
            <a:r>
              <a:rPr lang="en-US" altLang="zh-CN" sz="2400" b="1" dirty="0">
                <a:solidFill>
                  <a:schemeClr val="accent2"/>
                </a:solidFill>
                <a:sym typeface="Symbol" panose="05050102010706020507" pitchFamily="18" charset="2"/>
              </a:rPr>
              <a:t>literal</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b="1" dirty="0">
                <a:solidFill>
                  <a:schemeClr val="accent2"/>
                </a:solidFill>
                <a:sym typeface="Symbol" panose="05050102010706020507" pitchFamily="18" charset="2"/>
              </a:rPr>
              <a:t>mod</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E</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a:t>
            </a:r>
            <a:r>
              <a:rPr lang="en-US" altLang="zh-CN" sz="2400" dirty="0">
                <a:solidFill>
                  <a:schemeClr val="accent2"/>
                </a:solidFill>
                <a:sym typeface="Symbol" panose="05050102010706020507" pitchFamily="18" charset="2"/>
              </a:rPr>
              <a:t>^</a:t>
            </a:r>
            <a:endParaRPr lang="en-US" altLang="zh-CN" sz="2400" dirty="0"/>
          </a:p>
          <a:p>
            <a:pPr eaLnBrk="1" hangingPunct="1"/>
            <a:r>
              <a:rPr lang="zh-CN" altLang="en-US" sz="2800" dirty="0"/>
              <a:t>基本类型：</a:t>
            </a:r>
            <a:r>
              <a:rPr lang="en-US" altLang="zh-CN" sz="2800" dirty="0"/>
              <a:t>char</a:t>
            </a:r>
            <a:r>
              <a:rPr lang="zh-CN" altLang="en-US" sz="2800" dirty="0"/>
              <a:t>、</a:t>
            </a:r>
            <a:r>
              <a:rPr lang="en-US" altLang="zh-CN" sz="2800" dirty="0"/>
              <a:t>integer</a:t>
            </a:r>
            <a:r>
              <a:rPr lang="zh-CN" altLang="en-US" sz="2800" dirty="0"/>
              <a:t>、</a:t>
            </a:r>
            <a:r>
              <a:rPr lang="en-US" altLang="zh-CN" sz="2800" dirty="0" err="1"/>
              <a:t>type_error</a:t>
            </a:r>
            <a:endParaRPr lang="en-US" altLang="zh-CN" sz="2800" dirty="0"/>
          </a:p>
          <a:p>
            <a:pPr eaLnBrk="1" hangingPunct="1"/>
            <a:r>
              <a:rPr lang="zh-CN" altLang="en-US" sz="2800" dirty="0"/>
              <a:t>例</a:t>
            </a:r>
            <a:endParaRPr lang="zh-CN" altLang="en-US" sz="2800" dirty="0"/>
          </a:p>
          <a:p>
            <a:pPr eaLnBrk="1" hangingPunct="1">
              <a:buFont typeface="Wingdings" panose="05000000000000000000" pitchFamily="2" charset="2"/>
              <a:buNone/>
            </a:pPr>
            <a:r>
              <a:rPr lang="en-US" altLang="zh-CN" sz="2000" u="sng" dirty="0"/>
              <a:t>CODE</a:t>
            </a:r>
            <a:r>
              <a:rPr lang="en-US" altLang="zh-CN" sz="2000" dirty="0"/>
              <a:t>			</a:t>
            </a:r>
            <a:r>
              <a:rPr lang="en-US" altLang="zh-CN" sz="2000" u="sng" dirty="0"/>
              <a:t>Some Types</a:t>
            </a:r>
            <a:r>
              <a:rPr lang="en-US" altLang="zh-CN" sz="2000" dirty="0"/>
              <a:t>	       	</a:t>
            </a:r>
            <a:r>
              <a:rPr lang="en-US" altLang="zh-CN" sz="2000" u="sng" dirty="0"/>
              <a:t>Type Expressions</a:t>
            </a:r>
            <a:endParaRPr lang="en-US" altLang="zh-CN" sz="2000" u="sng" dirty="0"/>
          </a:p>
          <a:p>
            <a:pPr eaLnBrk="1" hangingPunct="1">
              <a:buFont typeface="Wingdings" panose="05000000000000000000" pitchFamily="2" charset="2"/>
              <a:buNone/>
            </a:pPr>
            <a:r>
              <a:rPr lang="en-US" altLang="zh-CN" sz="2000" dirty="0"/>
              <a:t>key: integer;  		array [256] of char  	array(1..256, char)</a:t>
            </a:r>
            <a:endParaRPr lang="en-US" altLang="zh-CN" sz="2000" dirty="0"/>
          </a:p>
          <a:p>
            <a:pPr eaLnBrk="1" hangingPunct="1">
              <a:buFont typeface="Wingdings" panose="05000000000000000000" pitchFamily="2" charset="2"/>
              <a:buNone/>
            </a:pPr>
            <a:r>
              <a:rPr lang="en-US" altLang="zh-CN" sz="2000" dirty="0"/>
              <a:t>key mod 1999  		^integer	       		pointer(integer)</a:t>
            </a:r>
            <a:endParaRPr lang="en-US" altLang="zh-CN"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a:t>翻译模式</a:t>
            </a:r>
            <a:endParaRPr lang="zh-CN" altLang="en-US"/>
          </a:p>
        </p:txBody>
      </p:sp>
      <p:sp>
        <p:nvSpPr>
          <p:cNvPr id="19459" name="Rectangle 3"/>
          <p:cNvSpPr>
            <a:spLocks noGrp="1" noChangeArrowheads="1"/>
          </p:cNvSpPr>
          <p:nvPr>
            <p:ph type="body" idx="1"/>
          </p:nvPr>
        </p:nvSpPr>
        <p:spPr>
          <a:xfrm>
            <a:off x="1182688" y="1371600"/>
            <a:ext cx="7772400" cy="5010150"/>
          </a:xfrm>
        </p:spPr>
        <p:txBody>
          <a:bodyPr/>
          <a:lstStyle/>
          <a:p>
            <a:pPr eaLnBrk="1" hangingPunct="1">
              <a:lnSpc>
                <a:spcPct val="80000"/>
              </a:lnSpc>
              <a:spcBef>
                <a:spcPct val="10000"/>
              </a:spcBef>
              <a:buFont typeface="Wingdings" panose="05000000000000000000" pitchFamily="2" charset="2"/>
              <a:buNone/>
            </a:pPr>
            <a:r>
              <a:rPr lang="en-US" altLang="zh-CN" sz="2400" dirty="0"/>
              <a:t>P </a:t>
            </a:r>
            <a:r>
              <a:rPr lang="en-US" altLang="zh-CN" sz="2400" dirty="0">
                <a:sym typeface="Symbol" panose="05050102010706020507" pitchFamily="18" charset="2"/>
              </a:rPr>
              <a:t>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 }</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D		{ }</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 </a:t>
            </a:r>
            <a:r>
              <a:rPr lang="en-US" altLang="zh-CN" sz="2400" dirty="0">
                <a:sym typeface="Symbol" panose="05050102010706020507" pitchFamily="18" charset="2"/>
              </a:rPr>
              <a:t>T		{ </a:t>
            </a:r>
            <a:r>
              <a:rPr lang="en-US" altLang="zh-CN" sz="2400" i="1" dirty="0" err="1">
                <a:sym typeface="Symbol" panose="05050102010706020507" pitchFamily="18" charset="2"/>
              </a:rPr>
              <a:t>addtype</a:t>
            </a:r>
            <a:r>
              <a:rPr lang="en-US" altLang="zh-CN" sz="2400" dirty="0">
                <a:sym typeface="Symbol" panose="05050102010706020507" pitchFamily="18" charset="2"/>
              </a:rPr>
              <a:t>(</a:t>
            </a:r>
            <a:r>
              <a:rPr lang="en-US" altLang="zh-CN" sz="2400" b="1" dirty="0" err="1">
                <a:solidFill>
                  <a:schemeClr val="accent2"/>
                </a:solidFill>
                <a:sym typeface="Symbol" panose="05050102010706020507" pitchFamily="18" charset="2"/>
              </a:rPr>
              <a:t>id</a:t>
            </a:r>
            <a:r>
              <a:rPr lang="en-US" altLang="zh-CN" sz="2400" i="1" dirty="0" err="1">
                <a:sym typeface="Symbol" panose="05050102010706020507" pitchFamily="18" charset="2"/>
              </a:rPr>
              <a:t>.entry</a:t>
            </a:r>
            <a:r>
              <a:rPr lang="en-US" altLang="zh-CN" sz="2400" i="1"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a:t>
            </a:r>
            <a:endParaRPr lang="en-US" altLang="zh-CN" sz="2400" i="1"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char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char</a:t>
            </a:r>
            <a:r>
              <a:rPr lang="en-US" altLang="zh-CN" sz="2400" dirty="0">
                <a:sym typeface="Symbol" panose="05050102010706020507" pitchFamily="18" charset="2"/>
              </a:rPr>
              <a:t> }</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integer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integer</a:t>
            </a:r>
            <a:r>
              <a:rPr lang="en-US" altLang="zh-CN" sz="2400" dirty="0">
                <a:sym typeface="Symbol" panose="05050102010706020507" pitchFamily="18" charset="2"/>
              </a:rPr>
              <a:t> }</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array</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of</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br>
              <a:rPr lang="en-US" altLang="zh-CN" sz="2400" dirty="0">
                <a:sym typeface="Symbol" panose="05050102010706020507" pitchFamily="18" charset="2"/>
              </a:rPr>
            </a:br>
            <a:r>
              <a:rPr lang="en-US" altLang="zh-CN" sz="2400"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a:t>
            </a:r>
            <a:r>
              <a:rPr lang="en-US" altLang="zh-CN" sz="2400" i="1" dirty="0">
                <a:sym typeface="Symbol" panose="05050102010706020507" pitchFamily="18" charset="2"/>
              </a:rPr>
              <a:t>array</a:t>
            </a:r>
            <a:r>
              <a:rPr lang="en-US" altLang="zh-CN" sz="2400" dirty="0">
                <a:sym typeface="Symbol" panose="05050102010706020507" pitchFamily="18" charset="2"/>
              </a:rPr>
              <a:t>(1..</a:t>
            </a:r>
            <a:r>
              <a:rPr lang="en-US" altLang="zh-CN" sz="2400" b="1" dirty="0">
                <a:solidFill>
                  <a:schemeClr val="accent2"/>
                </a:solidFill>
                <a:sym typeface="Symbol" panose="05050102010706020507" pitchFamily="18" charset="2"/>
              </a:rPr>
              <a:t>num</a:t>
            </a:r>
            <a:r>
              <a:rPr lang="en-US" altLang="zh-CN" sz="2400" dirty="0">
                <a:sym typeface="Symbol" panose="05050102010706020507" pitchFamily="18" charset="2"/>
              </a:rPr>
              <a:t>.</a:t>
            </a:r>
            <a:r>
              <a:rPr lang="en-US" altLang="zh-CN" sz="2400" i="1" dirty="0">
                <a:sym typeface="Symbol" panose="05050102010706020507" pitchFamily="18" charset="2"/>
              </a:rPr>
              <a:t>val</a:t>
            </a:r>
            <a:r>
              <a:rPr lang="en-US" altLang="zh-CN" sz="2400" dirty="0">
                <a:sym typeface="Symbol" panose="05050102010706020507" pitchFamily="18" charset="2"/>
              </a:rPr>
              <a:t>,T.</a:t>
            </a:r>
            <a:r>
              <a:rPr lang="en-US" altLang="zh-CN" sz="2400" i="1" dirty="0">
                <a:sym typeface="Symbol" panose="05050102010706020507" pitchFamily="18" charset="2"/>
              </a:rPr>
              <a:t>type</a:t>
            </a:r>
            <a:r>
              <a:rPr lang="en-US" altLang="zh-CN" sz="2400" dirty="0">
                <a:sym typeface="Symbol" panose="05050102010706020507" pitchFamily="18" charset="2"/>
              </a:rPr>
              <a:t>)}</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pointer</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a:t>
            </a:r>
            <a:endParaRPr lang="en-US" altLang="zh-CN" sz="2400" dirty="0">
              <a:sym typeface="Symbol" panose="05050102010706020507" pitchFamily="18" charset="2"/>
            </a:endParaRPr>
          </a:p>
          <a:p>
            <a:pPr eaLnBrk="1" hangingPunct="1"/>
            <a:r>
              <a:rPr lang="en-US" altLang="zh-CN" sz="2800" dirty="0" err="1">
                <a:sym typeface="Symbol" panose="05050102010706020507" pitchFamily="18" charset="2"/>
              </a:rPr>
              <a:t>D</a:t>
            </a:r>
            <a:r>
              <a:rPr lang="en-US" altLang="zh-CN" sz="2800" b="1" dirty="0" err="1">
                <a:solidFill>
                  <a:schemeClr val="accent2"/>
                </a:solidFill>
                <a:sym typeface="Symbol" panose="05050102010706020507" pitchFamily="18" charset="2"/>
              </a:rPr>
              <a:t>id</a:t>
            </a:r>
            <a:r>
              <a:rPr lang="en-US" altLang="zh-CN" sz="2800" dirty="0" err="1">
                <a:solidFill>
                  <a:schemeClr val="accent2"/>
                </a:solidFill>
                <a:sym typeface="Symbol" panose="05050102010706020507" pitchFamily="18" charset="2"/>
              </a:rPr>
              <a:t>:</a:t>
            </a:r>
            <a:r>
              <a:rPr lang="en-US" altLang="zh-CN" sz="2800" dirty="0" err="1">
                <a:sym typeface="Symbol" panose="05050102010706020507" pitchFamily="18" charset="2"/>
              </a:rPr>
              <a:t>T</a:t>
            </a:r>
            <a:r>
              <a:rPr lang="zh-CN" altLang="en-US" sz="2800" dirty="0">
                <a:sym typeface="Symbol" panose="05050102010706020507" pitchFamily="18" charset="2"/>
              </a:rPr>
              <a:t>的规则将标识符类型存入符号表</a:t>
            </a:r>
            <a:endParaRPr lang="zh-CN" altLang="en-US" sz="2800" dirty="0">
              <a:sym typeface="Symbol" panose="05050102010706020507" pitchFamily="18" charset="2"/>
            </a:endParaRPr>
          </a:p>
          <a:p>
            <a:pPr eaLnBrk="1" hangingPunct="1"/>
            <a:r>
              <a:rPr lang="en-US" altLang="zh-CN" sz="2800" dirty="0" err="1">
                <a:sym typeface="Symbol" panose="05050102010706020507" pitchFamily="18" charset="2"/>
              </a:rPr>
              <a:t>T.type</a:t>
            </a:r>
            <a:r>
              <a:rPr lang="zh-CN" altLang="en-US" sz="2800" dirty="0">
                <a:sym typeface="Symbol" panose="05050102010706020507" pitchFamily="18" charset="2"/>
              </a:rPr>
              <a:t>由后几个产生式的语义规则计算</a:t>
            </a:r>
            <a:endParaRPr lang="zh-CN" altLang="en-US" sz="2800" dirty="0">
              <a:sym typeface="Symbol" panose="05050102010706020507" pitchFamily="18" charset="2"/>
            </a:endParaRPr>
          </a:p>
          <a:p>
            <a:pPr eaLnBrk="1" hangingPunct="1"/>
            <a:r>
              <a:rPr lang="en-US" altLang="zh-CN" sz="2800" dirty="0"/>
              <a:t>P</a:t>
            </a:r>
            <a:r>
              <a:rPr lang="en-US" altLang="zh-CN" sz="2800" dirty="0">
                <a:sym typeface="Symbol" panose="05050102010706020507" pitchFamily="18" charset="2"/>
              </a:rPr>
              <a:t>D</a:t>
            </a:r>
            <a:r>
              <a:rPr lang="en-US" altLang="zh-CN" sz="2800" dirty="0">
                <a:solidFill>
                  <a:schemeClr val="accent2"/>
                </a:solidFill>
                <a:sym typeface="Symbol" panose="05050102010706020507" pitchFamily="18" charset="2"/>
              </a:rPr>
              <a:t>;</a:t>
            </a:r>
            <a:r>
              <a:rPr lang="en-US" altLang="zh-CN" sz="2800" dirty="0">
                <a:sym typeface="Symbol" panose="05050102010706020507" pitchFamily="18" charset="2"/>
              </a:rPr>
              <a:t>E</a:t>
            </a:r>
            <a:r>
              <a:rPr lang="zh-CN" altLang="en-US" sz="2800" dirty="0">
                <a:sym typeface="Symbol" panose="05050102010706020507" pitchFamily="18" charset="2"/>
              </a:rPr>
              <a:t>，</a:t>
            </a:r>
            <a:r>
              <a:rPr lang="en-US" altLang="zh-CN" sz="2800" dirty="0">
                <a:sym typeface="Symbol" panose="05050102010706020507" pitchFamily="18" charset="2"/>
              </a:rPr>
              <a:t>D</a:t>
            </a:r>
            <a:r>
              <a:rPr lang="zh-CN" altLang="en-US" sz="2800" dirty="0">
                <a:sym typeface="Symbol" panose="05050102010706020507" pitchFamily="18" charset="2"/>
              </a:rPr>
              <a:t>在</a:t>
            </a:r>
            <a:r>
              <a:rPr lang="en-US" altLang="zh-CN" sz="2800" dirty="0">
                <a:sym typeface="Symbol" panose="05050102010706020507" pitchFamily="18" charset="2"/>
              </a:rPr>
              <a:t>E</a:t>
            </a:r>
            <a:r>
              <a:rPr lang="zh-CN" altLang="en-US" sz="2800" dirty="0">
                <a:sym typeface="Symbol" panose="05050102010706020507" pitchFamily="18" charset="2"/>
              </a:rPr>
              <a:t>之前，保证在检查表达式类型之前类型信息已经存入符号表</a:t>
            </a:r>
            <a:endParaRPr lang="zh-CN" altLang="en-US" sz="2800" dirty="0">
              <a:sym typeface="Symbol" panose="05050102010706020507"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a:t>6.2.2  </a:t>
            </a:r>
            <a:r>
              <a:rPr lang="zh-CN" altLang="en-US"/>
              <a:t>表达式类型检查</a:t>
            </a:r>
            <a:endParaRPr lang="zh-CN" altLang="en-US"/>
          </a:p>
        </p:txBody>
      </p:sp>
      <p:sp>
        <p:nvSpPr>
          <p:cNvPr id="20483" name="Rectangle 3"/>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literal</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char</a:t>
            </a:r>
            <a:r>
              <a:rPr lang="en-US" altLang="zh-CN" sz="2400">
                <a:sym typeface="Symbol" panose="05050102010706020507" pitchFamily="18" charset="2"/>
              </a:rPr>
              <a:t> }</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b="1">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b="1">
                <a:solidFill>
                  <a:schemeClr val="accent2"/>
                </a:solidFill>
                <a:sym typeface="Symbol" panose="05050102010706020507" pitchFamily="18" charset="2"/>
              </a:rPr>
              <a:t>mod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ym typeface="Symbol" panose="05050102010706020507" pitchFamily="18" charset="2"/>
              </a:rPr>
              <a:t>	{E.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integer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a:solidFill>
                  <a:schemeClr val="accent2"/>
                </a:solidFill>
                <a:sym typeface="Symbol" panose="05050102010706020507" pitchFamily="18" charset="2"/>
              </a:rPr>
              <a:t>[</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array</a:t>
            </a:r>
            <a:r>
              <a:rPr lang="en-US" altLang="zh-CN" sz="2400">
                <a:sym typeface="Symbol" panose="05050102010706020507" pitchFamily="18" charset="2"/>
              </a:rPr>
              <a:t>(</a:t>
            </a:r>
            <a:r>
              <a:rPr lang="en-US" altLang="zh-CN" sz="2400" i="1">
                <a:sym typeface="Symbol" panose="05050102010706020507" pitchFamily="18" charset="2"/>
              </a:rPr>
              <a:t>s,t</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pointer</a:t>
            </a:r>
            <a:r>
              <a:rPr lang="en-US" altLang="zh-CN" sz="2400">
                <a:sym typeface="Symbol" panose="05050102010706020507" pitchFamily="18" charset="2"/>
              </a:rPr>
              <a:t>(</a:t>
            </a:r>
            <a:r>
              <a:rPr lang="en-US" altLang="zh-CN" sz="2400" i="1">
                <a:sym typeface="Symbol" panose="05050102010706020507" pitchFamily="18" charset="2"/>
              </a:rPr>
              <a:t>t</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t</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r>
              <a:rPr lang="zh-CN" altLang="en-US"/>
              <a:t>可添加其他类型和运算</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a:t>6.2.3  </a:t>
            </a:r>
            <a:r>
              <a:rPr lang="zh-CN" altLang="en-US"/>
              <a:t>语句的类型检查</a:t>
            </a:r>
            <a:endParaRPr lang="zh-CN" altLang="en-US"/>
          </a:p>
        </p:txBody>
      </p:sp>
      <p:sp>
        <p:nvSpPr>
          <p:cNvPr id="21507" name="Rectangle 3"/>
          <p:cNvSpPr>
            <a:spLocks noGrp="1" noChangeArrowheads="1"/>
          </p:cNvSpPr>
          <p:nvPr>
            <p:ph type="body" idx="1"/>
          </p:nvPr>
        </p:nvSpPr>
        <p:spPr/>
        <p:txBody>
          <a:bodyPr/>
          <a:lstStyle/>
          <a:p>
            <a:pPr eaLnBrk="1" hangingPunct="1"/>
            <a:r>
              <a:rPr lang="zh-CN" altLang="en-US" sz="2800"/>
              <a:t>赋值、条件、</a:t>
            </a:r>
            <a:r>
              <a:rPr lang="en-US" altLang="zh-CN" sz="2800"/>
              <a:t>while</a:t>
            </a:r>
            <a:endParaRPr lang="en-US" altLang="zh-CN" sz="2800"/>
          </a:p>
          <a:p>
            <a:pPr eaLnBrk="1" hangingPunct="1"/>
            <a:r>
              <a:rPr lang="zh-CN" altLang="en-US" sz="2800"/>
              <a:t>无错误，</a:t>
            </a:r>
            <a:r>
              <a:rPr lang="en-US" altLang="zh-CN" sz="2800"/>
              <a:t>void</a:t>
            </a:r>
            <a:r>
              <a:rPr lang="zh-CN" altLang="en-US" sz="2800"/>
              <a:t>；错误，</a:t>
            </a:r>
            <a:r>
              <a:rPr lang="en-US" altLang="zh-CN" sz="2800"/>
              <a:t>type_error</a:t>
            </a:r>
            <a:endParaRPr lang="en-US" altLang="zh-CN" sz="2800"/>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 </a:t>
            </a:r>
            <a:r>
              <a:rPr lang="en-US" altLang="zh-CN" sz="2400">
                <a:sym typeface="Symbol" panose="05050102010706020507" pitchFamily="18" charset="2"/>
              </a:rPr>
              <a:t>E</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void</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if</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 </a:t>
            </a:r>
            <a:r>
              <a:rPr lang="en-US" altLang="zh-CN" sz="2400" b="1">
                <a:solidFill>
                  <a:schemeClr val="accent2"/>
                </a:solidFill>
                <a:sym typeface="Symbol" panose="05050102010706020507" pitchFamily="18" charset="2"/>
              </a:rPr>
              <a:t>then</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1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i="1">
                <a:sym typeface="Symbol" panose="05050102010706020507" pitchFamily="18" charset="2"/>
              </a:rPr>
              <a:t>type == boolean</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while</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 </a:t>
            </a:r>
            <a:r>
              <a:rPr lang="en-US" altLang="zh-CN" sz="2400" b="1">
                <a:solidFill>
                  <a:schemeClr val="accent2"/>
                </a:solidFill>
                <a:sym typeface="Symbol" panose="05050102010706020507" pitchFamily="18" charset="2"/>
              </a:rPr>
              <a:t>do</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1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i="1">
                <a:sym typeface="Symbol" panose="05050102010706020507" pitchFamily="18" charset="2"/>
              </a:rPr>
              <a:t>type == boolean</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S</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2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 == void</a:t>
            </a: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(S</a:t>
            </a:r>
            <a:r>
              <a:rPr lang="en-US" altLang="zh-CN" sz="2400" baseline="-25000">
                <a:sym typeface="Symbol" panose="05050102010706020507" pitchFamily="18" charset="2"/>
              </a:rPr>
              <a:t>2</a:t>
            </a:r>
            <a:r>
              <a:rPr lang="en-US" altLang="zh-CN" sz="2400">
                <a:sym typeface="Symbol" panose="05050102010706020507" pitchFamily="18" charset="2"/>
              </a:rPr>
              <a:t>.</a:t>
            </a:r>
            <a:r>
              <a:rPr lang="en-US" altLang="zh-CN" sz="2400" i="1">
                <a:sym typeface="Symbol" panose="05050102010706020507" pitchFamily="18" charset="2"/>
              </a:rPr>
              <a:t>type == void</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void </a:t>
            </a:r>
            <a:r>
              <a:rPr lang="en-US" altLang="zh-CN" sz="2400" b="1">
                <a:sym typeface="Symbol" panose="05050102010706020507" pitchFamily="18" charset="2"/>
              </a:rPr>
              <a:t>else</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90000"/>
              </a:lnSpc>
              <a:spcBef>
                <a:spcPct val="10000"/>
              </a:spcBef>
              <a:buFont typeface="Wingdings" panose="05000000000000000000" pitchFamily="2" charset="2"/>
              <a:buNone/>
            </a:pPr>
            <a:r>
              <a:rPr lang="en-US" altLang="zh-CN" sz="2400" i="1">
                <a:sym typeface="Symbol" panose="05050102010706020507" pitchFamily="18" charset="2"/>
              </a:rPr>
              <a:t>				 type_error </a:t>
            </a:r>
            <a:r>
              <a:rPr lang="en-US" altLang="zh-CN" sz="2400">
                <a:sym typeface="Symbol" panose="05050102010706020507" pitchFamily="18" charset="2"/>
              </a:rPr>
              <a:t>}</a:t>
            </a:r>
            <a:endParaRPr lang="en-US" altLang="zh-CN">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a:t>6.2.4  </a:t>
            </a:r>
            <a:r>
              <a:rPr lang="zh-CN" altLang="en-US"/>
              <a:t>函数的类型检查</a:t>
            </a:r>
            <a:endParaRPr lang="zh-CN" altLang="en-US"/>
          </a:p>
        </p:txBody>
      </p:sp>
      <p:sp>
        <p:nvSpPr>
          <p:cNvPr id="22531" name="Rectangle 3"/>
          <p:cNvSpPr>
            <a:spLocks noGrp="1" noChangeArrowheads="1"/>
          </p:cNvSpPr>
          <p:nvPr>
            <p:ph type="body" idx="1"/>
          </p:nvPr>
        </p:nvSpPr>
        <p:spPr/>
        <p:txBody>
          <a:bodyPr/>
          <a:lstStyle/>
          <a:p>
            <a:pPr eaLnBrk="1" hangingPunct="1"/>
            <a:r>
              <a:rPr lang="zh-CN" altLang="en-US" dirty="0"/>
              <a:t>函数定义</a:t>
            </a:r>
            <a:endParaRPr lang="zh-CN" altLang="en-US" dirty="0"/>
          </a:p>
          <a:p>
            <a:pPr eaLnBrk="1" hangingPunct="1">
              <a:buFont typeface="Wingdings" panose="05000000000000000000" pitchFamily="2" charset="2"/>
              <a:buNone/>
            </a:pPr>
            <a:r>
              <a:rPr lang="en-US" altLang="zh-CN" sz="2400" dirty="0">
                <a:sym typeface="Symbol" panose="05050102010706020507" pitchFamily="18" charset="2"/>
              </a:rPr>
              <a:t>T  T</a:t>
            </a:r>
            <a:r>
              <a:rPr lang="en-US" altLang="zh-CN" sz="2400" baseline="-25000" dirty="0">
                <a:sym typeface="Symbol" panose="05050102010706020507" pitchFamily="18" charset="2"/>
              </a:rPr>
              <a:t>1</a:t>
            </a:r>
            <a:r>
              <a:rPr lang="en-US" altLang="zh-CN" sz="2800" dirty="0"/>
              <a:t>‘</a:t>
            </a:r>
            <a:r>
              <a:rPr lang="en-US" altLang="zh-CN" sz="2400" dirty="0">
                <a:solidFill>
                  <a:schemeClr val="accent2"/>
                </a:solidFill>
                <a:sym typeface="Symbol" panose="05050102010706020507" pitchFamily="18" charset="2"/>
              </a:rPr>
              <a:t></a:t>
            </a:r>
            <a:r>
              <a:rPr lang="en-US" altLang="zh-CN" sz="2400" dirty="0"/>
              <a:t>’</a:t>
            </a:r>
            <a:r>
              <a:rPr lang="en-US" altLang="zh-CN" sz="2400" dirty="0">
                <a:sym typeface="Symbol" panose="05050102010706020507" pitchFamily="18" charset="2"/>
              </a:rPr>
              <a:t>T</a:t>
            </a:r>
            <a:r>
              <a:rPr lang="en-US" altLang="zh-CN" sz="2400" baseline="-25000" dirty="0">
                <a:sym typeface="Symbol" panose="05050102010706020507" pitchFamily="18" charset="2"/>
              </a:rPr>
              <a:t>2</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T</a:t>
            </a:r>
            <a:r>
              <a:rPr lang="en-US" altLang="zh-CN" sz="2400" baseline="-25000" dirty="0">
                <a:sym typeface="Symbol" panose="05050102010706020507" pitchFamily="18" charset="2"/>
              </a:rPr>
              <a:t>1</a:t>
            </a:r>
            <a:r>
              <a:rPr lang="en-US" altLang="zh-CN" sz="2400" dirty="0">
                <a:sym typeface="Symbol" panose="05050102010706020507" pitchFamily="18" charset="2"/>
              </a:rPr>
              <a:t>.</a:t>
            </a:r>
            <a:r>
              <a:rPr lang="en-US" altLang="zh-CN" sz="2400" i="1" dirty="0">
                <a:sym typeface="Symbol" panose="05050102010706020507" pitchFamily="18" charset="2"/>
              </a:rPr>
              <a:t>type</a:t>
            </a:r>
            <a:r>
              <a:rPr lang="en-US" altLang="zh-CN" sz="2400" dirty="0">
                <a:sym typeface="Symbol" panose="05050102010706020507" pitchFamily="18" charset="2"/>
              </a:rPr>
              <a:t>T</a:t>
            </a:r>
            <a:r>
              <a:rPr lang="en-US" altLang="zh-CN" sz="2400" baseline="-25000" dirty="0">
                <a:sym typeface="Symbol" panose="05050102010706020507" pitchFamily="18" charset="2"/>
              </a:rPr>
              <a:t>2</a:t>
            </a:r>
            <a:r>
              <a:rPr lang="en-US" altLang="zh-CN" sz="2400" dirty="0">
                <a:sym typeface="Symbol" panose="05050102010706020507" pitchFamily="18" charset="2"/>
              </a:rPr>
              <a:t>.</a:t>
            </a:r>
            <a:r>
              <a:rPr lang="en-US" altLang="zh-CN" sz="2400" i="1" dirty="0">
                <a:sym typeface="Symbol" panose="05050102010706020507" pitchFamily="18" charset="2"/>
              </a:rPr>
              <a:t>type </a:t>
            </a:r>
            <a:r>
              <a:rPr lang="en-US" altLang="zh-CN" sz="2400" dirty="0">
                <a:sym typeface="Symbol" panose="05050102010706020507" pitchFamily="18" charset="2"/>
              </a:rPr>
              <a:t>}</a:t>
            </a:r>
            <a:endParaRPr lang="en-US" altLang="zh-CN" sz="2400" dirty="0"/>
          </a:p>
          <a:p>
            <a:pPr eaLnBrk="1" hangingPunct="1"/>
            <a:r>
              <a:rPr lang="zh-CN" altLang="en-US" dirty="0"/>
              <a:t>函数调用</a:t>
            </a:r>
            <a:endParaRPr lang="zh-CN" altLang="en-US" dirty="0"/>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E  E</a:t>
            </a:r>
            <a:r>
              <a:rPr lang="en-US" altLang="zh-CN" sz="2400" baseline="-25000" dirty="0">
                <a:sym typeface="Symbol" panose="05050102010706020507" pitchFamily="18" charset="2"/>
              </a:rPr>
              <a:t>1</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E</a:t>
            </a:r>
            <a:r>
              <a:rPr lang="en-US" altLang="zh-CN" sz="2400" baseline="-25000" dirty="0">
                <a:sym typeface="Symbol" panose="05050102010706020507" pitchFamily="18" charset="2"/>
              </a:rPr>
              <a:t>2</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E.</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b="1" dirty="0">
                <a:sym typeface="Symbol" panose="05050102010706020507" pitchFamily="18" charset="2"/>
              </a:rPr>
              <a:t>if</a:t>
            </a:r>
            <a:r>
              <a:rPr lang="en-US" altLang="zh-CN" sz="2400" dirty="0">
                <a:sym typeface="Symbol" panose="05050102010706020507" pitchFamily="18" charset="2"/>
              </a:rPr>
              <a:t> (E</a:t>
            </a:r>
            <a:r>
              <a:rPr lang="en-US" altLang="zh-CN" sz="2400" baseline="-25000" dirty="0">
                <a:sym typeface="Symbol" panose="05050102010706020507" pitchFamily="18" charset="2"/>
              </a:rPr>
              <a:t>2</a:t>
            </a:r>
            <a:r>
              <a:rPr lang="en-US" altLang="zh-CN" sz="2400" dirty="0">
                <a:sym typeface="Symbol" panose="05050102010706020507" pitchFamily="18" charset="2"/>
              </a:rPr>
              <a:t>.type==s)</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				</a:t>
            </a:r>
            <a:r>
              <a:rPr lang="en-US" altLang="zh-CN" sz="2400" b="1" dirty="0">
                <a:sym typeface="Symbol" panose="05050102010706020507" pitchFamily="18" charset="2"/>
              </a:rPr>
              <a:t>and</a:t>
            </a:r>
            <a:r>
              <a:rPr lang="en-US" altLang="zh-CN" sz="2400" dirty="0">
                <a:sym typeface="Symbol" panose="05050102010706020507" pitchFamily="18" charset="2"/>
              </a:rPr>
              <a:t> (E</a:t>
            </a:r>
            <a:r>
              <a:rPr lang="en-US" altLang="zh-CN" sz="2400" baseline="-25000" dirty="0">
                <a:sym typeface="Symbol" panose="05050102010706020507" pitchFamily="18" charset="2"/>
              </a:rPr>
              <a:t>1</a:t>
            </a:r>
            <a:r>
              <a:rPr lang="en-US" altLang="zh-CN" sz="2400" dirty="0">
                <a:sym typeface="Symbol" panose="05050102010706020507" pitchFamily="18" charset="2"/>
              </a:rPr>
              <a:t>.type==</a:t>
            </a:r>
            <a:r>
              <a:rPr lang="en-US" altLang="zh-CN" sz="2400" dirty="0" err="1">
                <a:sym typeface="Symbol" panose="05050102010706020507" pitchFamily="18" charset="2"/>
              </a:rPr>
              <a:t>s</a:t>
            </a:r>
            <a:r>
              <a:rPr lang="en-US" altLang="zh-CN" sz="2400" i="1" dirty="0" err="1">
                <a:sym typeface="Symbol" panose="05050102010706020507" pitchFamily="18" charset="2"/>
              </a:rPr>
              <a:t>t</a:t>
            </a:r>
            <a:r>
              <a:rPr lang="en-US" altLang="zh-CN" sz="2400" dirty="0">
                <a:sym typeface="Symbol" panose="05050102010706020507" pitchFamily="18" charset="2"/>
              </a:rPr>
              <a:t>)</a:t>
            </a:r>
            <a:endParaRPr lang="en-US" altLang="zh-CN" sz="2400"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				</a:t>
            </a:r>
            <a:r>
              <a:rPr lang="en-US" altLang="zh-CN" sz="2400" b="1" dirty="0">
                <a:sym typeface="Symbol" panose="05050102010706020507" pitchFamily="18" charset="2"/>
              </a:rPr>
              <a:t>then</a:t>
            </a:r>
            <a:r>
              <a:rPr lang="en-US" altLang="zh-CN" sz="2400" dirty="0">
                <a:sym typeface="Symbol" panose="05050102010706020507" pitchFamily="18" charset="2"/>
              </a:rPr>
              <a:t> </a:t>
            </a:r>
            <a:r>
              <a:rPr lang="en-US" altLang="zh-CN" sz="2400" i="1" dirty="0">
                <a:sym typeface="Symbol" panose="05050102010706020507" pitchFamily="18" charset="2"/>
              </a:rPr>
              <a:t>t </a:t>
            </a:r>
            <a:r>
              <a:rPr lang="en-US" altLang="zh-CN" sz="2400" b="1" dirty="0">
                <a:sym typeface="Symbol" panose="05050102010706020507" pitchFamily="18" charset="2"/>
              </a:rPr>
              <a:t>else</a:t>
            </a:r>
            <a:r>
              <a:rPr lang="en-US" altLang="zh-CN" sz="2400" dirty="0">
                <a:sym typeface="Symbol" panose="05050102010706020507" pitchFamily="18" charset="2"/>
              </a:rPr>
              <a:t> </a:t>
            </a:r>
            <a:r>
              <a:rPr lang="en-US" altLang="zh-CN" sz="2400" i="1" dirty="0" err="1">
                <a:sym typeface="Symbol" panose="05050102010706020507" pitchFamily="18" charset="2"/>
              </a:rPr>
              <a:t>type_error</a:t>
            </a:r>
            <a:r>
              <a:rPr lang="en-US" altLang="zh-CN" sz="2400" i="1" dirty="0">
                <a:sym typeface="Symbol" panose="05050102010706020507" pitchFamily="18" charset="2"/>
              </a:rPr>
              <a:t> </a:t>
            </a:r>
            <a:r>
              <a:rPr lang="en-US" altLang="zh-CN" sz="2400" dirty="0">
                <a:sym typeface="Symbol" panose="05050102010706020507" pitchFamily="18" charset="2"/>
              </a:rPr>
              <a:t>}</a:t>
            </a:r>
            <a:endParaRPr lang="en-US" altLang="zh-CN" sz="2400" dirty="0"/>
          </a:p>
          <a:p>
            <a:pPr eaLnBrk="1" hangingPunct="1"/>
            <a:r>
              <a:rPr lang="zh-CN" altLang="en-US" dirty="0"/>
              <a:t>多参数：</a:t>
            </a:r>
            <a:r>
              <a:rPr lang="en-US" altLang="zh-CN" dirty="0"/>
              <a:t>T</a:t>
            </a:r>
            <a:r>
              <a:rPr lang="en-US" altLang="zh-CN" baseline="-25000" dirty="0"/>
              <a:t>1</a:t>
            </a:r>
            <a:r>
              <a:rPr lang="en-US" altLang="zh-CN" dirty="0"/>
              <a:t>, …, T</a:t>
            </a:r>
            <a:r>
              <a:rPr lang="en-US" altLang="zh-CN" baseline="-25000" dirty="0"/>
              <a:t>n</a:t>
            </a:r>
            <a:r>
              <a:rPr lang="en-US" altLang="zh-CN" dirty="0"/>
              <a:t>——T</a:t>
            </a:r>
            <a:r>
              <a:rPr lang="en-US" altLang="zh-CN" baseline="-25000" dirty="0"/>
              <a:t>1</a:t>
            </a:r>
            <a:r>
              <a:rPr lang="en-US" altLang="zh-CN" dirty="0"/>
              <a:t>×…×T</a:t>
            </a:r>
            <a:r>
              <a:rPr lang="en-US" altLang="zh-CN" baseline="-25000" dirty="0"/>
              <a:t>n</a:t>
            </a:r>
            <a:endParaRPr lang="en-US" altLang="zh-CN" baseline="-25000" dirty="0"/>
          </a:p>
          <a:p>
            <a:pPr eaLnBrk="1" hangingPunct="1"/>
            <a:r>
              <a:rPr lang="zh-CN" altLang="en-US" dirty="0"/>
              <a:t>更复杂例子：</a:t>
            </a:r>
            <a:r>
              <a:rPr lang="en-US" altLang="zh-CN" dirty="0"/>
              <a:t>root: (</a:t>
            </a:r>
            <a:r>
              <a:rPr lang="en-US" altLang="zh-CN" dirty="0" err="1"/>
              <a:t>real</a:t>
            </a:r>
            <a:r>
              <a:rPr lang="en-US" altLang="zh-CN" dirty="0" err="1">
                <a:sym typeface="Wingdings" panose="05000000000000000000" pitchFamily="2" charset="2"/>
              </a:rPr>
              <a:t>real</a:t>
            </a:r>
            <a:r>
              <a:rPr lang="en-US" altLang="zh-CN" dirty="0">
                <a:sym typeface="Wingdings" panose="05000000000000000000" pitchFamily="2" charset="2"/>
              </a:rPr>
              <a:t>)×</a:t>
            </a:r>
            <a:r>
              <a:rPr lang="en-US" altLang="zh-CN" dirty="0" err="1">
                <a:sym typeface="Wingdings" panose="05000000000000000000" pitchFamily="2" charset="2"/>
              </a:rPr>
              <a:t>realreal</a:t>
            </a:r>
            <a:br>
              <a:rPr lang="en-US" altLang="zh-CN" dirty="0">
                <a:sym typeface="Wingdings" panose="05000000000000000000" pitchFamily="2" charset="2"/>
              </a:rPr>
            </a:br>
            <a:r>
              <a:rPr lang="en-US" altLang="zh-CN" sz="2800" dirty="0">
                <a:sym typeface="Wingdings" panose="05000000000000000000" pitchFamily="2" charset="2"/>
              </a:rPr>
              <a:t>function root(function f(real): real; x: real): real</a:t>
            </a:r>
            <a:endParaRPr lang="en-US" altLang="zh-CN" sz="2800" dirty="0">
              <a:sym typeface="Wingdings" panose="05000000000000000000" pitchFamily="2"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类型检查示例</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20" name="Text Box 6"/>
          <p:cNvSpPr txBox="1">
            <a:spLocks noChangeArrowheads="1"/>
          </p:cNvSpPr>
          <p:nvPr/>
        </p:nvSpPr>
        <p:spPr bwMode="auto">
          <a:xfrm>
            <a:off x="2915816" y="2579245"/>
            <a:ext cx="838200" cy="45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a:spcBef>
                <a:spcPct val="50000"/>
              </a:spcBef>
              <a:buClrTx/>
              <a:buSzTx/>
              <a:buFontTx/>
              <a:buNone/>
            </a:pPr>
            <a:r>
              <a:rPr kumimoji="0" lang="en-US" altLang="zh-CN" sz="2400" b="1"/>
              <a:t>id1</a:t>
            </a:r>
            <a:endParaRPr kumimoji="0" lang="en-US" altLang="zh-CN" sz="2400" b="1"/>
          </a:p>
        </p:txBody>
      </p:sp>
      <p:sp>
        <p:nvSpPr>
          <p:cNvPr id="22" name="Text Box 5"/>
          <p:cNvSpPr txBox="1">
            <a:spLocks noChangeArrowheads="1"/>
          </p:cNvSpPr>
          <p:nvPr/>
        </p:nvSpPr>
        <p:spPr bwMode="auto">
          <a:xfrm>
            <a:off x="3615903" y="2004145"/>
            <a:ext cx="784225"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spcBef>
                <a:spcPct val="50000"/>
              </a:spcBef>
              <a:buClrTx/>
              <a:buSzTx/>
              <a:buFontTx/>
              <a:buNone/>
            </a:pPr>
            <a:r>
              <a:rPr kumimoji="0" lang="en-US" altLang="zh-CN" sz="2400" b="1"/>
              <a:t>:=</a:t>
            </a:r>
            <a:endParaRPr kumimoji="0" lang="en-US" altLang="zh-CN" sz="2400" b="1"/>
          </a:p>
        </p:txBody>
      </p:sp>
      <p:sp>
        <p:nvSpPr>
          <p:cNvPr id="23" name="Text Box 7"/>
          <p:cNvSpPr txBox="1">
            <a:spLocks noChangeArrowheads="1"/>
          </p:cNvSpPr>
          <p:nvPr/>
        </p:nvSpPr>
        <p:spPr bwMode="auto">
          <a:xfrm>
            <a:off x="3712741" y="2924893"/>
            <a:ext cx="1473200" cy="45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a:spcBef>
                <a:spcPct val="50000"/>
              </a:spcBef>
              <a:buClrTx/>
              <a:buSzTx/>
              <a:buFontTx/>
              <a:buNone/>
            </a:pPr>
            <a:r>
              <a:rPr kumimoji="0" lang="en-US" altLang="zh-CN" sz="2400" b="1"/>
              <a:t>id2</a:t>
            </a:r>
            <a:endParaRPr kumimoji="0" lang="en-US" altLang="zh-CN" sz="2400" b="1"/>
          </a:p>
        </p:txBody>
      </p:sp>
      <p:sp>
        <p:nvSpPr>
          <p:cNvPr id="24" name="Text Box 8"/>
          <p:cNvSpPr txBox="1">
            <a:spLocks noChangeArrowheads="1"/>
          </p:cNvSpPr>
          <p:nvPr/>
        </p:nvSpPr>
        <p:spPr bwMode="auto">
          <a:xfrm>
            <a:off x="4363616" y="3282716"/>
            <a:ext cx="1473200"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a:spcBef>
                <a:spcPct val="50000"/>
              </a:spcBef>
              <a:buClrTx/>
              <a:buSzTx/>
              <a:buFontTx/>
              <a:buNone/>
            </a:pPr>
            <a:r>
              <a:rPr kumimoji="0" lang="en-US" altLang="zh-CN" sz="2400" b="1" dirty="0"/>
              <a:t>id3</a:t>
            </a:r>
            <a:endParaRPr kumimoji="0" lang="en-US" altLang="zh-CN" sz="2400" b="1" dirty="0"/>
          </a:p>
        </p:txBody>
      </p:sp>
      <p:sp>
        <p:nvSpPr>
          <p:cNvPr id="25" name="Text Box 9"/>
          <p:cNvSpPr txBox="1">
            <a:spLocks noChangeArrowheads="1"/>
          </p:cNvSpPr>
          <p:nvPr/>
        </p:nvSpPr>
        <p:spPr bwMode="auto">
          <a:xfrm>
            <a:off x="4439816" y="2556416"/>
            <a:ext cx="785812"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a:spcBef>
                <a:spcPct val="50000"/>
              </a:spcBef>
              <a:buClrTx/>
              <a:buSzTx/>
              <a:buFontTx/>
              <a:buNone/>
            </a:pPr>
            <a:r>
              <a:rPr kumimoji="0" lang="en-US" altLang="zh-CN" sz="2400" b="1"/>
              <a:t>+</a:t>
            </a:r>
            <a:endParaRPr kumimoji="0" lang="en-US" altLang="zh-CN" sz="2400" b="1"/>
          </a:p>
        </p:txBody>
      </p:sp>
      <p:sp>
        <p:nvSpPr>
          <p:cNvPr id="26" name="Text Box 10"/>
          <p:cNvSpPr txBox="1">
            <a:spLocks noChangeArrowheads="1"/>
          </p:cNvSpPr>
          <p:nvPr/>
        </p:nvSpPr>
        <p:spPr bwMode="auto">
          <a:xfrm>
            <a:off x="5125616" y="2940876"/>
            <a:ext cx="785812"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a:spcBef>
                <a:spcPct val="50000"/>
              </a:spcBef>
              <a:buClrTx/>
              <a:buSzTx/>
              <a:buFontTx/>
              <a:buNone/>
            </a:pPr>
            <a:r>
              <a:rPr kumimoji="0" lang="en-US" altLang="zh-CN" sz="2400" b="1"/>
              <a:t>*</a:t>
            </a:r>
            <a:endParaRPr kumimoji="0" lang="en-US" altLang="zh-CN" sz="2400" b="1"/>
          </a:p>
        </p:txBody>
      </p:sp>
      <p:sp>
        <p:nvSpPr>
          <p:cNvPr id="27" name="Text Box 11"/>
          <p:cNvSpPr txBox="1">
            <a:spLocks noChangeArrowheads="1"/>
          </p:cNvSpPr>
          <p:nvPr/>
        </p:nvSpPr>
        <p:spPr bwMode="auto">
          <a:xfrm>
            <a:off x="5884441" y="3284491"/>
            <a:ext cx="785812" cy="45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a:spcBef>
                <a:spcPct val="50000"/>
              </a:spcBef>
              <a:buClrTx/>
              <a:buSzTx/>
              <a:buFontTx/>
              <a:buNone/>
            </a:pPr>
            <a:r>
              <a:rPr kumimoji="0" lang="en-US" altLang="zh-CN" sz="2400" b="1" dirty="0"/>
              <a:t>60</a:t>
            </a:r>
            <a:endParaRPr kumimoji="0" lang="en-US" altLang="zh-CN" sz="2400" b="1" dirty="0"/>
          </a:p>
        </p:txBody>
      </p:sp>
      <p:sp>
        <p:nvSpPr>
          <p:cNvPr id="28" name="Line 12"/>
          <p:cNvSpPr>
            <a:spLocks noChangeShapeType="1"/>
          </p:cNvSpPr>
          <p:nvPr/>
        </p:nvSpPr>
        <p:spPr bwMode="auto">
          <a:xfrm>
            <a:off x="4596978" y="2927557"/>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3"/>
          <p:cNvSpPr>
            <a:spLocks noChangeShapeType="1"/>
          </p:cNvSpPr>
          <p:nvPr/>
        </p:nvSpPr>
        <p:spPr bwMode="auto">
          <a:xfrm flipH="1">
            <a:off x="3296816" y="2259859"/>
            <a:ext cx="304800" cy="31520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4"/>
          <p:cNvSpPr>
            <a:spLocks noChangeShapeType="1"/>
          </p:cNvSpPr>
          <p:nvPr/>
        </p:nvSpPr>
        <p:spPr bwMode="auto">
          <a:xfrm>
            <a:off x="4135016" y="2259859"/>
            <a:ext cx="457200" cy="2983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5"/>
          <p:cNvSpPr>
            <a:spLocks noChangeShapeType="1"/>
          </p:cNvSpPr>
          <p:nvPr/>
        </p:nvSpPr>
        <p:spPr bwMode="auto">
          <a:xfrm>
            <a:off x="4973216" y="2728668"/>
            <a:ext cx="457200" cy="2557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16"/>
          <p:cNvSpPr>
            <a:spLocks noChangeShapeType="1"/>
          </p:cNvSpPr>
          <p:nvPr/>
        </p:nvSpPr>
        <p:spPr bwMode="auto">
          <a:xfrm>
            <a:off x="5659016" y="3112239"/>
            <a:ext cx="492125" cy="22996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7"/>
          <p:cNvSpPr>
            <a:spLocks noChangeShapeType="1"/>
          </p:cNvSpPr>
          <p:nvPr/>
        </p:nvSpPr>
        <p:spPr bwMode="auto">
          <a:xfrm flipH="1">
            <a:off x="5201816" y="3112239"/>
            <a:ext cx="196850" cy="22996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8"/>
          <p:cNvSpPr>
            <a:spLocks noChangeShapeType="1"/>
          </p:cNvSpPr>
          <p:nvPr/>
        </p:nvSpPr>
        <p:spPr bwMode="auto">
          <a:xfrm flipH="1">
            <a:off x="4439816" y="2728668"/>
            <a:ext cx="196850" cy="23085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11"/>
          <p:cNvSpPr txBox="1">
            <a:spLocks noChangeArrowheads="1"/>
          </p:cNvSpPr>
          <p:nvPr/>
        </p:nvSpPr>
        <p:spPr bwMode="auto">
          <a:xfrm>
            <a:off x="5710978" y="2882891"/>
            <a:ext cx="26558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spcBef>
                <a:spcPct val="50000"/>
              </a:spcBef>
              <a:buClrTx/>
              <a:buSzTx/>
              <a:buFontTx/>
              <a:buNone/>
            </a:pPr>
            <a:r>
              <a:rPr kumimoji="0" lang="en-US" altLang="zh-CN" sz="2000" b="1" dirty="0">
                <a:solidFill>
                  <a:srgbClr val="FF0000"/>
                </a:solidFill>
              </a:rPr>
              <a:t>60</a:t>
            </a:r>
            <a:r>
              <a:rPr kumimoji="0" lang="en-US" altLang="zh-CN" sz="2000" b="1" dirty="0">
                <a:solidFill>
                  <a:srgbClr val="FF0000"/>
                </a:solidFill>
                <a:sym typeface="Wingdings" panose="05000000000000000000" pitchFamily="2" charset="2"/>
              </a:rPr>
              <a:t>60.0</a:t>
            </a:r>
            <a:r>
              <a:rPr kumimoji="0" lang="zh-CN" altLang="en-US" sz="2000" b="1" dirty="0">
                <a:solidFill>
                  <a:srgbClr val="FF0000"/>
                </a:solidFill>
                <a:sym typeface="Wingdings" panose="05000000000000000000" pitchFamily="2" charset="2"/>
              </a:rPr>
              <a:t>，</a:t>
            </a:r>
            <a:r>
              <a:rPr kumimoji="0" lang="en-US" altLang="zh-CN" sz="2000" b="1" dirty="0">
                <a:solidFill>
                  <a:srgbClr val="FF0000"/>
                </a:solidFill>
                <a:sym typeface="Wingdings" panose="05000000000000000000" pitchFamily="2" charset="2"/>
              </a:rPr>
              <a:t>.type=real</a:t>
            </a:r>
            <a:endParaRPr kumimoji="0" lang="en-US" altLang="zh-CN" sz="2000" b="1" dirty="0">
              <a:solidFill>
                <a:srgbClr val="FF0000"/>
              </a:solidFill>
            </a:endParaRPr>
          </a:p>
        </p:txBody>
      </p:sp>
      <p:sp>
        <p:nvSpPr>
          <p:cNvPr id="36" name="Text Box 11"/>
          <p:cNvSpPr txBox="1">
            <a:spLocks noChangeArrowheads="1"/>
          </p:cNvSpPr>
          <p:nvPr/>
        </p:nvSpPr>
        <p:spPr bwMode="auto">
          <a:xfrm>
            <a:off x="5051449" y="2479335"/>
            <a:ext cx="1392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spcBef>
                <a:spcPct val="50000"/>
              </a:spcBef>
              <a:buClrTx/>
              <a:buSzTx/>
              <a:buFontTx/>
              <a:buNone/>
            </a:pPr>
            <a:r>
              <a:rPr kumimoji="0" lang="en-US" altLang="zh-CN" sz="2000" b="1" dirty="0">
                <a:solidFill>
                  <a:srgbClr val="FF0000"/>
                </a:solidFill>
                <a:sym typeface="Wingdings" panose="05000000000000000000" pitchFamily="2" charset="2"/>
              </a:rPr>
              <a:t>.type=real</a:t>
            </a:r>
            <a:endParaRPr kumimoji="0" lang="en-US" altLang="zh-CN" sz="2000" b="1" dirty="0">
              <a:solidFill>
                <a:srgbClr val="FF0000"/>
              </a:solidFill>
            </a:endParaRPr>
          </a:p>
        </p:txBody>
      </p:sp>
      <p:sp>
        <p:nvSpPr>
          <p:cNvPr id="37" name="Text Box 11"/>
          <p:cNvSpPr txBox="1">
            <a:spLocks noChangeArrowheads="1"/>
          </p:cNvSpPr>
          <p:nvPr/>
        </p:nvSpPr>
        <p:spPr bwMode="auto">
          <a:xfrm>
            <a:off x="4276835" y="2025063"/>
            <a:ext cx="1874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spcBef>
                <a:spcPct val="50000"/>
              </a:spcBef>
              <a:buClrTx/>
              <a:buSzTx/>
              <a:buFontTx/>
              <a:buNone/>
            </a:pPr>
            <a:r>
              <a:rPr kumimoji="0" lang="en-US" altLang="zh-CN" sz="2000" b="1" dirty="0">
                <a:solidFill>
                  <a:srgbClr val="FF0000"/>
                </a:solidFill>
                <a:sym typeface="Wingdings" panose="05000000000000000000" pitchFamily="2" charset="2"/>
              </a:rPr>
              <a:t>.type=void</a:t>
            </a:r>
            <a:endParaRPr kumimoji="0" lang="en-US" altLang="zh-CN"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a:t>6.3  </a:t>
            </a:r>
            <a:r>
              <a:rPr lang="zh-CN" altLang="en-US"/>
              <a:t>类型表达式的等价</a:t>
            </a:r>
            <a:endParaRPr lang="zh-CN" altLang="en-US"/>
          </a:p>
        </p:txBody>
      </p:sp>
      <p:sp>
        <p:nvSpPr>
          <p:cNvPr id="23555" name="Rectangle 3"/>
          <p:cNvSpPr>
            <a:spLocks noGrp="1" noChangeArrowheads="1"/>
          </p:cNvSpPr>
          <p:nvPr>
            <p:ph type="body" idx="1"/>
          </p:nvPr>
        </p:nvSpPr>
        <p:spPr/>
        <p:txBody>
          <a:bodyPr/>
          <a:lstStyle/>
          <a:p>
            <a:pPr eaLnBrk="1" hangingPunct="1"/>
            <a:r>
              <a:rPr lang="zh-CN" altLang="en-US" dirty="0"/>
              <a:t>两个类型表达式等价的精确定义？</a:t>
            </a:r>
            <a:endParaRPr lang="zh-CN" altLang="en-US" dirty="0"/>
          </a:p>
          <a:p>
            <a:pPr eaLnBrk="1" hangingPunct="1"/>
            <a:r>
              <a:rPr lang="zh-CN" altLang="en-US" dirty="0"/>
              <a:t>用类型表示方式可快速确定等价性</a:t>
            </a:r>
            <a:endParaRPr lang="zh-CN" altLang="en-US" dirty="0"/>
          </a:p>
          <a:p>
            <a:pPr eaLnBrk="1" hangingPunct="1"/>
            <a:r>
              <a:rPr lang="zh-CN" altLang="en-US" dirty="0"/>
              <a:t>结构等价</a:t>
            </a:r>
            <a:endParaRPr lang="zh-CN" altLang="en-US" dirty="0"/>
          </a:p>
          <a:p>
            <a:pPr lvl="1" eaLnBrk="1" hangingPunct="1"/>
            <a:r>
              <a:rPr lang="zh-CN" altLang="en-US" dirty="0"/>
              <a:t>类型表达式的图表示（叶结点：基本类型、类型名，内部节点：类型构造符）是否相同</a:t>
            </a:r>
            <a:endParaRPr lang="zh-CN" altLang="en-US" dirty="0"/>
          </a:p>
          <a:p>
            <a:pPr lvl="1" eaLnBrk="1" hangingPunct="1"/>
            <a:r>
              <a:rPr lang="zh-CN" altLang="en-US" dirty="0"/>
              <a:t>递归定义类型会导致回路</a:t>
            </a:r>
            <a:endParaRPr lang="en-US" altLang="zh-CN" dirty="0"/>
          </a:p>
          <a:p>
            <a:pPr eaLnBrk="1" hangingPunct="1"/>
            <a:r>
              <a:rPr lang="zh-CN" altLang="en-US" dirty="0"/>
              <a:t>名字等价</a:t>
            </a:r>
            <a:endParaRPr lang="zh-CN" altLang="en-US"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292090" y="5013583"/>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a:t>6.3.1  </a:t>
            </a:r>
            <a:r>
              <a:rPr lang="zh-CN" altLang="en-US"/>
              <a:t>类型表达式的结构等价</a:t>
            </a:r>
            <a:endParaRPr lang="zh-CN" altLang="en-US"/>
          </a:p>
        </p:txBody>
      </p:sp>
      <p:sp>
        <p:nvSpPr>
          <p:cNvPr id="24579" name="Rectangle 3"/>
          <p:cNvSpPr>
            <a:spLocks noGrp="1" noChangeArrowheads="1"/>
          </p:cNvSpPr>
          <p:nvPr>
            <p:ph type="body" idx="1"/>
          </p:nvPr>
        </p:nvSpPr>
        <p:spPr/>
        <p:txBody>
          <a:bodyPr/>
          <a:lstStyle/>
          <a:p>
            <a:pPr marL="609600" indent="-609600" eaLnBrk="1" hangingPunct="1"/>
            <a:r>
              <a:rPr lang="zh-CN" altLang="en-US" dirty="0"/>
              <a:t>结构等价（</a:t>
            </a:r>
            <a:r>
              <a:rPr lang="en-US" altLang="zh-CN" dirty="0">
                <a:solidFill>
                  <a:srgbClr val="FF3300"/>
                </a:solidFill>
              </a:rPr>
              <a:t>structural equivalence</a:t>
            </a:r>
            <a:r>
              <a:rPr lang="zh-CN" altLang="en-US" dirty="0"/>
              <a:t>）</a:t>
            </a:r>
            <a:endParaRPr lang="zh-CN" altLang="en-US" dirty="0"/>
          </a:p>
          <a:p>
            <a:pPr marL="990600" lvl="1" indent="-533400" eaLnBrk="1" hangingPunct="1">
              <a:buFont typeface="Wingdings" panose="05000000000000000000" pitchFamily="2" charset="2"/>
              <a:buAutoNum type="arabicPeriod"/>
            </a:pPr>
            <a:r>
              <a:rPr lang="zh-CN" altLang="en-US" dirty="0"/>
              <a:t>基本类型相同</a:t>
            </a:r>
            <a:endParaRPr lang="zh-CN" altLang="en-US" dirty="0"/>
          </a:p>
          <a:p>
            <a:pPr marL="990600" lvl="1" indent="-533400" eaLnBrk="1" hangingPunct="1">
              <a:buFont typeface="Wingdings" panose="05000000000000000000" pitchFamily="2" charset="2"/>
              <a:buAutoNum type="arabicPeriod"/>
            </a:pPr>
            <a:r>
              <a:rPr lang="zh-CN" altLang="en-US" dirty="0"/>
              <a:t>对子表达式施加的类型构造符相同</a:t>
            </a:r>
            <a:endParaRPr lang="zh-CN" altLang="en-US" dirty="0"/>
          </a:p>
          <a:p>
            <a:pPr marL="990600" lvl="1" indent="-533400" eaLnBrk="1" hangingPunct="1"/>
            <a:r>
              <a:rPr lang="zh-CN" altLang="en-US" dirty="0"/>
              <a:t>两个类型表达式结构等价</a:t>
            </a:r>
            <a:r>
              <a:rPr lang="en-US" altLang="zh-CN" dirty="0"/>
              <a:t>——</a:t>
            </a:r>
            <a:r>
              <a:rPr lang="en-US" altLang="zh-CN" dirty="0" err="1"/>
              <a:t>dag</a:t>
            </a:r>
            <a:r>
              <a:rPr lang="zh-CN" altLang="en-US" dirty="0"/>
              <a:t>中对应相同结点</a:t>
            </a:r>
            <a:endParaRPr lang="zh-CN" altLang="en-US" dirty="0"/>
          </a:p>
          <a:p>
            <a:pPr marL="609600" indent="-609600" eaLnBrk="1" hangingPunct="1"/>
            <a:r>
              <a:rPr lang="zh-CN" altLang="en-US" dirty="0"/>
              <a:t>有时要放松条件</a:t>
            </a:r>
            <a:r>
              <a:rPr lang="en-US" altLang="zh-CN" dirty="0"/>
              <a:t>——</a:t>
            </a:r>
            <a:r>
              <a:rPr lang="zh-CN" altLang="en-US" dirty="0"/>
              <a:t>数组参数忽略下表范围</a:t>
            </a:r>
            <a:endParaRPr lang="zh-CN" altLang="en-US" dirty="0"/>
          </a:p>
          <a:p>
            <a:pPr marL="990600" lvl="1" indent="-533400" eaLnBrk="1" hangingPunct="1"/>
            <a:r>
              <a:rPr lang="zh-CN" altLang="en-US" dirty="0"/>
              <a:t>等价性检查算法稍做修改</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a:t>等价性检查算法</a:t>
            </a:r>
            <a:endParaRPr lang="zh-CN" altLang="en-US"/>
          </a:p>
        </p:txBody>
      </p:sp>
      <p:sp>
        <p:nvSpPr>
          <p:cNvPr id="25603" name="Rectangle 3"/>
          <p:cNvSpPr>
            <a:spLocks noGrp="1" noChangeArrowheads="1"/>
          </p:cNvSpPr>
          <p:nvPr>
            <p:ph type="body" idx="1"/>
          </p:nvPr>
        </p:nvSpPr>
        <p:spPr>
          <a:xfrm>
            <a:off x="1182688" y="1371600"/>
            <a:ext cx="7772400" cy="4937125"/>
          </a:xfrm>
        </p:spPr>
        <p:txBody>
          <a:bodyPr/>
          <a:lstStyle/>
          <a:p>
            <a:pPr eaLnBrk="1" hangingPunct="1">
              <a:spcBef>
                <a:spcPct val="10000"/>
              </a:spcBef>
              <a:buFont typeface="Wingdings" panose="05000000000000000000" pitchFamily="2" charset="2"/>
              <a:buNone/>
            </a:pPr>
            <a:r>
              <a:rPr lang="en-US" altLang="zh-CN" sz="2000"/>
              <a:t>bool sequiv(s, t)</a:t>
            </a:r>
            <a:endParaRPr lang="en-US" altLang="zh-CN" sz="2000"/>
          </a:p>
          <a:p>
            <a:pPr eaLnBrk="1" hangingPunct="1">
              <a:spcBef>
                <a:spcPct val="10000"/>
              </a:spcBef>
              <a:buFont typeface="Wingdings" panose="05000000000000000000" pitchFamily="2" charset="2"/>
              <a:buNone/>
            </a:pP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if (s</a:t>
            </a:r>
            <a:r>
              <a:rPr lang="zh-CN" altLang="en-US" sz="2000"/>
              <a:t>和</a:t>
            </a:r>
            <a:r>
              <a:rPr lang="en-US" altLang="zh-CN" sz="2000"/>
              <a:t>t</a:t>
            </a:r>
            <a:r>
              <a:rPr lang="zh-CN" altLang="en-US" sz="2000"/>
              <a:t>为相同基本类型</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true;</a:t>
            </a:r>
            <a:endParaRPr lang="en-US" altLang="zh-CN" sz="2000"/>
          </a:p>
          <a:p>
            <a:pPr eaLnBrk="1" hangingPunct="1">
              <a:spcBef>
                <a:spcPct val="10000"/>
              </a:spcBef>
              <a:buFont typeface="Wingdings" panose="05000000000000000000" pitchFamily="2" charset="2"/>
              <a:buNone/>
            </a:pPr>
            <a:r>
              <a:rPr lang="en-US" altLang="zh-CN" sz="2000"/>
              <a:t>	else if (s == array(s</a:t>
            </a:r>
            <a:r>
              <a:rPr lang="en-US" altLang="zh-CN" sz="2000" baseline="-25000"/>
              <a:t>1</a:t>
            </a:r>
            <a:r>
              <a:rPr lang="en-US" altLang="zh-CN" sz="2000"/>
              <a:t>, s</a:t>
            </a:r>
            <a:r>
              <a:rPr lang="en-US" altLang="zh-CN" sz="2000" baseline="-25000"/>
              <a:t>2</a:t>
            </a:r>
            <a:r>
              <a:rPr lang="en-US" altLang="zh-CN" sz="2000"/>
              <a:t>) and t == array(t</a:t>
            </a:r>
            <a:r>
              <a:rPr lang="en-US" altLang="zh-CN" sz="2000" baseline="-25000"/>
              <a:t>1</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if (s == s</a:t>
            </a:r>
            <a:r>
              <a:rPr lang="en-US" altLang="zh-CN" sz="2000" baseline="-25000"/>
              <a:t>1</a:t>
            </a:r>
            <a:r>
              <a:rPr lang="en-US" altLang="zh-CN" sz="2000"/>
              <a:t>×s</a:t>
            </a:r>
            <a:r>
              <a:rPr lang="en-US" altLang="zh-CN" sz="2000" baseline="-25000"/>
              <a:t>2</a:t>
            </a:r>
            <a:r>
              <a:rPr lang="en-US" altLang="zh-CN" sz="2000"/>
              <a:t> and t = t</a:t>
            </a:r>
            <a:r>
              <a:rPr lang="en-US" altLang="zh-CN" sz="2000" baseline="-25000"/>
              <a:t>1</a:t>
            </a:r>
            <a:r>
              <a:rPr lang="en-US" altLang="zh-CN" sz="2000"/>
              <a:t>×t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if (s == pointer(s</a:t>
            </a:r>
            <a:r>
              <a:rPr lang="en-US" altLang="zh-CN" sz="2000" baseline="-25000"/>
              <a:t>1</a:t>
            </a:r>
            <a:r>
              <a:rPr lang="en-US" altLang="zh-CN" sz="2000"/>
              <a:t>) and t == pointer(t</a:t>
            </a:r>
            <a:r>
              <a:rPr lang="en-US" altLang="zh-CN" sz="2000" baseline="-25000"/>
              <a:t>1</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if (s == s</a:t>
            </a:r>
            <a:r>
              <a:rPr lang="en-US" altLang="zh-CN" sz="2000" baseline="-25000"/>
              <a:t>1</a:t>
            </a:r>
            <a:r>
              <a:rPr lang="en-US" altLang="zh-CN" sz="2000">
                <a:sym typeface="Wingdings" panose="05000000000000000000" pitchFamily="2" charset="2"/>
              </a:rPr>
              <a:t>s</a:t>
            </a:r>
            <a:r>
              <a:rPr lang="en-US" altLang="zh-CN" sz="2000" baseline="-25000">
                <a:sym typeface="Wingdings" panose="05000000000000000000" pitchFamily="2" charset="2"/>
              </a:rPr>
              <a:t>2</a:t>
            </a:r>
            <a:r>
              <a:rPr lang="en-US" altLang="zh-CN" sz="2000">
                <a:sym typeface="Wingdings" panose="05000000000000000000" pitchFamily="2" charset="2"/>
              </a:rPr>
              <a:t> and t == t</a:t>
            </a:r>
            <a:r>
              <a:rPr lang="en-US" altLang="zh-CN" sz="2000" baseline="-25000">
                <a:sym typeface="Wingdings" panose="05000000000000000000" pitchFamily="2" charset="2"/>
              </a:rPr>
              <a:t>1</a:t>
            </a:r>
            <a:r>
              <a:rPr lang="en-US" altLang="zh-CN" sz="2000">
                <a:sym typeface="Wingdings" panose="05000000000000000000" pitchFamily="2" charset="2"/>
              </a:rPr>
              <a:t>t</a:t>
            </a:r>
            <a:r>
              <a:rPr lang="en-US" altLang="zh-CN" sz="2000" baseline="-25000">
                <a:sym typeface="Wingdings" panose="05000000000000000000" pitchFamily="2" charset="2"/>
              </a:rPr>
              <a:t>2</a:t>
            </a:r>
            <a:r>
              <a:rPr lang="en-US" altLang="zh-CN" sz="2000">
                <a:sym typeface="Wingdings" panose="05000000000000000000" pitchFamily="2" charset="2"/>
              </a:rPr>
              <a:t>)</a:t>
            </a:r>
            <a:endParaRPr lang="en-US" altLang="zh-CN" sz="2000">
              <a:sym typeface="Wingdings" panose="05000000000000000000" pitchFamily="2" charset="2"/>
            </a:endParaRPr>
          </a:p>
          <a:p>
            <a:pPr eaLnBrk="1" hangingPunct="1">
              <a:spcBef>
                <a:spcPct val="10000"/>
              </a:spcBef>
              <a:buFont typeface="Wingdings" panose="05000000000000000000" pitchFamily="2" charset="2"/>
              <a:buNone/>
            </a:pPr>
            <a:r>
              <a:rPr lang="en-US" altLang="zh-CN" sz="2000">
                <a:sym typeface="Wingdings" panose="05000000000000000000" pitchFamily="2" charset="2"/>
              </a:rPr>
              <a:t>		return </a:t>
            </a:r>
            <a:r>
              <a:rPr lang="en-US" altLang="zh-CN" sz="2000"/>
              <a:t>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endParaRPr lang="en-US" altLang="zh-CN" sz="2000"/>
          </a:p>
          <a:p>
            <a:pPr eaLnBrk="1" hangingPunct="1">
              <a:spcBef>
                <a:spcPct val="10000"/>
              </a:spcBef>
              <a:buFont typeface="Wingdings" panose="05000000000000000000" pitchFamily="2" charset="2"/>
              <a:buNone/>
            </a:pPr>
            <a:r>
              <a:rPr lang="en-US" altLang="zh-CN" sz="2000"/>
              <a:t>	else return false;</a:t>
            </a:r>
            <a:endParaRPr lang="en-US" altLang="zh-CN" sz="2000"/>
          </a:p>
          <a:p>
            <a:pPr eaLnBrk="1" hangingPunct="1">
              <a:spcBef>
                <a:spcPct val="10000"/>
              </a:spcBef>
              <a:buFont typeface="Wingdings" panose="05000000000000000000" pitchFamily="2" charset="2"/>
              <a:buNone/>
            </a:pPr>
            <a:r>
              <a:rPr lang="en-US" altLang="zh-CN" sz="2000"/>
              <a:t>}</a:t>
            </a:r>
            <a:endParaRPr lang="en-US" altLang="zh-CN"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dirty="0"/>
              <a:t>例</a:t>
            </a:r>
            <a:r>
              <a:rPr lang="en-US" altLang="zh-CN" dirty="0"/>
              <a:t>6.1</a:t>
            </a:r>
            <a:r>
              <a:rPr lang="zh-CN" altLang="en-US" dirty="0"/>
              <a:t>：编码类型表达式</a:t>
            </a:r>
            <a:endParaRPr lang="zh-CN" altLang="en-US" dirty="0"/>
          </a:p>
        </p:txBody>
      </p:sp>
      <p:sp>
        <p:nvSpPr>
          <p:cNvPr id="26627" name="Rectangle 3"/>
          <p:cNvSpPr>
            <a:spLocks noGrp="1" noChangeArrowheads="1"/>
          </p:cNvSpPr>
          <p:nvPr>
            <p:ph type="body" idx="1"/>
          </p:nvPr>
        </p:nvSpPr>
        <p:spPr>
          <a:xfrm>
            <a:off x="1182688" y="1371600"/>
            <a:ext cx="7772400" cy="4953000"/>
          </a:xfrm>
        </p:spPr>
        <p:txBody>
          <a:bodyPr/>
          <a:lstStyle/>
          <a:p>
            <a:pPr eaLnBrk="1" hangingPunct="1"/>
            <a:r>
              <a:rPr lang="zh-CN" altLang="en-US" sz="2800" dirty="0"/>
              <a:t>用二进制码表示类型和构造符</a:t>
            </a:r>
            <a:endParaRPr lang="zh-CN" altLang="en-US" sz="2800" dirty="0"/>
          </a:p>
          <a:p>
            <a:pPr eaLnBrk="1" hangingPunct="1"/>
            <a:r>
              <a:rPr lang="zh-CN" altLang="en-US" sz="2800" dirty="0"/>
              <a:t>节省内存，加速检测</a:t>
            </a:r>
            <a:r>
              <a:rPr lang="en-US" altLang="zh-CN" sz="2800" dirty="0"/>
              <a:t>——</a:t>
            </a:r>
            <a:r>
              <a:rPr lang="zh-CN" altLang="en-US" sz="2800" dirty="0"/>
              <a:t>二进制码不同的类型表达式肯定不等价</a:t>
            </a:r>
            <a:endParaRPr lang="zh-CN" altLang="en-US" sz="2800" dirty="0"/>
          </a:p>
          <a:p>
            <a:pPr eaLnBrk="1" hangingPunct="1"/>
            <a:r>
              <a:rPr lang="en-US" altLang="zh-CN" sz="2800" dirty="0"/>
              <a:t>D. M. Ritchie</a:t>
            </a:r>
            <a:r>
              <a:rPr lang="zh-CN" altLang="en-US" sz="2800" dirty="0"/>
              <a:t>，</a:t>
            </a:r>
            <a:r>
              <a:rPr lang="en-US" altLang="zh-CN" sz="2800" dirty="0"/>
              <a:t>C</a:t>
            </a:r>
            <a:r>
              <a:rPr lang="zh-CN" altLang="en-US" sz="2800" dirty="0"/>
              <a:t>语言发明人</a:t>
            </a:r>
            <a:endParaRPr lang="zh-CN" altLang="en-US" sz="2800" dirty="0"/>
          </a:p>
          <a:p>
            <a:pPr eaLnBrk="1" hangingPunct="1"/>
            <a:r>
              <a:rPr lang="zh-CN" altLang="en-US" sz="2800" dirty="0"/>
              <a:t>忽略数组下标范围和函数参数</a:t>
            </a:r>
            <a:br>
              <a:rPr lang="zh-CN" altLang="en-US" sz="2800" dirty="0"/>
            </a:br>
            <a:r>
              <a:rPr lang="en-US" altLang="zh-CN" sz="2800" dirty="0"/>
              <a:t>char</a:t>
            </a:r>
            <a:br>
              <a:rPr lang="en-US" altLang="zh-CN" sz="2800" dirty="0"/>
            </a:br>
            <a:r>
              <a:rPr lang="en-US" altLang="zh-CN" sz="2800" dirty="0" err="1"/>
              <a:t>freturns</a:t>
            </a:r>
            <a:r>
              <a:rPr lang="en-US" altLang="zh-CN" sz="2800" dirty="0"/>
              <a:t>(char)</a:t>
            </a:r>
            <a:br>
              <a:rPr lang="en-US" altLang="zh-CN" sz="2800" dirty="0"/>
            </a:br>
            <a:r>
              <a:rPr lang="en-US" altLang="zh-CN" sz="2800" dirty="0"/>
              <a:t>pointer(</a:t>
            </a:r>
            <a:r>
              <a:rPr lang="en-US" altLang="zh-CN" sz="2800" dirty="0" err="1"/>
              <a:t>freturns</a:t>
            </a:r>
            <a:r>
              <a:rPr lang="en-US" altLang="zh-CN" sz="2800" dirty="0"/>
              <a:t>(char))</a:t>
            </a:r>
            <a:br>
              <a:rPr lang="en-US" altLang="zh-CN" sz="2800" dirty="0"/>
            </a:br>
            <a:r>
              <a:rPr lang="en-US" altLang="zh-CN" sz="2800" dirty="0"/>
              <a:t>array(pointer(</a:t>
            </a:r>
            <a:r>
              <a:rPr lang="en-US" altLang="zh-CN" sz="2800" dirty="0" err="1"/>
              <a:t>freturns</a:t>
            </a:r>
            <a:r>
              <a:rPr lang="en-US" altLang="zh-CN" sz="2800" dirty="0"/>
              <a:t>(char)))</a:t>
            </a:r>
            <a:endParaRPr lang="en-US" altLang="zh-CN"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a:t>例</a:t>
            </a:r>
            <a:r>
              <a:rPr lang="en-US" altLang="zh-CN"/>
              <a:t>6.1</a:t>
            </a:r>
            <a:r>
              <a:rPr lang="zh-CN" altLang="en-US"/>
              <a:t>（续）</a:t>
            </a:r>
            <a:endParaRPr lang="zh-CN" altLang="en-US"/>
          </a:p>
        </p:txBody>
      </p:sp>
      <p:sp>
        <p:nvSpPr>
          <p:cNvPr id="27651" name="Rectangle 3"/>
          <p:cNvSpPr>
            <a:spLocks noGrp="1" noChangeArrowheads="1"/>
          </p:cNvSpPr>
          <p:nvPr>
            <p:ph type="body" idx="1"/>
          </p:nvPr>
        </p:nvSpPr>
        <p:spPr/>
        <p:txBody>
          <a:bodyPr/>
          <a:lstStyle/>
          <a:p>
            <a:pPr eaLnBrk="1" hangingPunct="1"/>
            <a:r>
              <a:rPr lang="zh-CN" altLang="en-US" sz="2800"/>
              <a:t>构造符的编码</a:t>
            </a:r>
            <a:br>
              <a:rPr lang="zh-CN" altLang="en-US" sz="2800"/>
            </a:br>
            <a:r>
              <a:rPr lang="en-US" altLang="zh-CN" sz="2800"/>
              <a:t>pointer		01</a:t>
            </a:r>
            <a:br>
              <a:rPr lang="en-US" altLang="zh-CN" sz="2800"/>
            </a:br>
            <a:r>
              <a:rPr lang="en-US" altLang="zh-CN" sz="2800"/>
              <a:t>array		10</a:t>
            </a:r>
            <a:br>
              <a:rPr lang="en-US" altLang="zh-CN" sz="2800"/>
            </a:br>
            <a:r>
              <a:rPr lang="en-US" altLang="zh-CN" sz="2800"/>
              <a:t>freturns		11</a:t>
            </a:r>
            <a:endParaRPr lang="en-US" altLang="zh-CN" sz="2800"/>
          </a:p>
          <a:p>
            <a:pPr eaLnBrk="1" hangingPunct="1"/>
            <a:r>
              <a:rPr lang="zh-CN" altLang="en-US" sz="2800"/>
              <a:t>基本类型编码</a:t>
            </a:r>
            <a:br>
              <a:rPr lang="zh-CN" altLang="en-US" sz="2800"/>
            </a:br>
            <a:r>
              <a:rPr lang="en-US" altLang="zh-CN" sz="2800"/>
              <a:t>boolean		0000</a:t>
            </a:r>
            <a:br>
              <a:rPr lang="en-US" altLang="zh-CN" sz="2800"/>
            </a:br>
            <a:r>
              <a:rPr lang="en-US" altLang="zh-CN" sz="2800"/>
              <a:t>char		0001</a:t>
            </a:r>
            <a:br>
              <a:rPr lang="en-US" altLang="zh-CN" sz="2800"/>
            </a:br>
            <a:r>
              <a:rPr lang="en-US" altLang="zh-CN" sz="2800"/>
              <a:t>integer		0010</a:t>
            </a:r>
            <a:br>
              <a:rPr lang="en-US" altLang="zh-CN" sz="2800"/>
            </a:br>
            <a:r>
              <a:rPr lang="en-US" altLang="zh-CN" sz="2800"/>
              <a:t>real			0011</a:t>
            </a:r>
            <a:endParaRPr lang="en-US" altLang="zh-CN"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a:t>例</a:t>
            </a:r>
            <a:r>
              <a:rPr lang="en-US" altLang="zh-CN"/>
              <a:t>6.1</a:t>
            </a:r>
            <a:r>
              <a:rPr lang="zh-CN" altLang="en-US"/>
              <a:t>（续）</a:t>
            </a:r>
            <a:endParaRPr lang="zh-CN" altLang="en-US"/>
          </a:p>
        </p:txBody>
      </p:sp>
      <p:sp>
        <p:nvSpPr>
          <p:cNvPr id="28675" name="Rectangle 3"/>
          <p:cNvSpPr>
            <a:spLocks noGrp="1" noChangeArrowheads="1"/>
          </p:cNvSpPr>
          <p:nvPr>
            <p:ph type="body" idx="1"/>
          </p:nvPr>
        </p:nvSpPr>
        <p:spPr>
          <a:xfrm>
            <a:off x="1182688" y="1371600"/>
            <a:ext cx="7772400" cy="5105400"/>
          </a:xfrm>
        </p:spPr>
        <p:txBody>
          <a:bodyPr/>
          <a:lstStyle/>
          <a:p>
            <a:pPr eaLnBrk="1" hangingPunct="1"/>
            <a:r>
              <a:rPr lang="zh-CN" altLang="en-US" sz="2800"/>
              <a:t>编码方法</a:t>
            </a:r>
            <a:endParaRPr lang="zh-CN" altLang="en-US" sz="2800"/>
          </a:p>
          <a:p>
            <a:pPr lvl="1" eaLnBrk="1" hangingPunct="1"/>
            <a:r>
              <a:rPr lang="zh-CN" altLang="en-US" sz="2400"/>
              <a:t>最右端四位二进制位表示基本类型</a:t>
            </a:r>
            <a:endParaRPr lang="zh-CN" altLang="en-US" sz="2400"/>
          </a:p>
          <a:p>
            <a:pPr lvl="1" eaLnBrk="1" hangingPunct="1"/>
            <a:r>
              <a:rPr lang="zh-CN" altLang="en-US" sz="2400"/>
              <a:t>它前面两位表示第一个构造符</a:t>
            </a:r>
            <a:endParaRPr lang="zh-CN" altLang="en-US" sz="2400"/>
          </a:p>
          <a:p>
            <a:pPr lvl="1" eaLnBrk="1" hangingPunct="1"/>
            <a:r>
              <a:rPr lang="zh-CN" altLang="en-US" sz="2400"/>
              <a:t>再前面两位表示第二个构造符</a:t>
            </a:r>
            <a:endParaRPr lang="zh-CN" altLang="en-US" sz="2400"/>
          </a:p>
          <a:p>
            <a:pPr lvl="1" eaLnBrk="1" hangingPunct="1">
              <a:buFont typeface="Wingdings" panose="05000000000000000000" pitchFamily="2" charset="2"/>
              <a:buNone/>
            </a:pPr>
            <a:r>
              <a:rPr lang="zh-CN" altLang="en-US" sz="2400"/>
              <a:t>类型表达式		编码</a:t>
            </a:r>
            <a:endParaRPr lang="zh-CN" altLang="en-US" sz="2400"/>
          </a:p>
          <a:p>
            <a:pPr lvl="1" eaLnBrk="1" hangingPunct="1">
              <a:buFont typeface="Wingdings" panose="05000000000000000000" pitchFamily="2" charset="2"/>
              <a:buNone/>
            </a:pPr>
            <a:r>
              <a:rPr lang="en-US" altLang="zh-CN" sz="2000"/>
              <a:t>char				000000 0001</a:t>
            </a:r>
            <a:endParaRPr lang="en-US" altLang="zh-CN" sz="2000"/>
          </a:p>
          <a:p>
            <a:pPr lvl="1" eaLnBrk="1" hangingPunct="1">
              <a:buFont typeface="Wingdings" panose="05000000000000000000" pitchFamily="2" charset="2"/>
              <a:buNone/>
            </a:pPr>
            <a:r>
              <a:rPr lang="en-US" altLang="zh-CN" sz="2000"/>
              <a:t>freturns(char)		000011 0001</a:t>
            </a:r>
            <a:endParaRPr lang="en-US" altLang="zh-CN" sz="2000"/>
          </a:p>
          <a:p>
            <a:pPr lvl="1" eaLnBrk="1" hangingPunct="1">
              <a:buFont typeface="Wingdings" panose="05000000000000000000" pitchFamily="2" charset="2"/>
              <a:buNone/>
            </a:pPr>
            <a:r>
              <a:rPr lang="en-US" altLang="zh-CN" sz="2000"/>
              <a:t>pointer(freturns(char))		000111 0001</a:t>
            </a:r>
            <a:endParaRPr lang="en-US" altLang="zh-CN" sz="2000"/>
          </a:p>
          <a:p>
            <a:pPr lvl="1" eaLnBrk="1" hangingPunct="1">
              <a:buFont typeface="Wingdings" panose="05000000000000000000" pitchFamily="2" charset="2"/>
              <a:buNone/>
            </a:pPr>
            <a:r>
              <a:rPr lang="en-US" altLang="zh-CN" sz="2000"/>
              <a:t>array(pointer(freturns(char)))	100111 0001</a:t>
            </a:r>
            <a:endParaRPr lang="en-US" altLang="zh-CN"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a:t>例</a:t>
            </a:r>
            <a:r>
              <a:rPr lang="en-US" altLang="zh-CN"/>
              <a:t>6.1</a:t>
            </a:r>
            <a:r>
              <a:rPr lang="zh-CN" altLang="en-US"/>
              <a:t>（续）</a:t>
            </a:r>
            <a:endParaRPr lang="zh-CN" altLang="en-US"/>
          </a:p>
        </p:txBody>
      </p:sp>
      <p:sp>
        <p:nvSpPr>
          <p:cNvPr id="29699" name="Rectangle 3"/>
          <p:cNvSpPr>
            <a:spLocks noGrp="1" noChangeArrowheads="1"/>
          </p:cNvSpPr>
          <p:nvPr>
            <p:ph type="body" idx="1"/>
          </p:nvPr>
        </p:nvSpPr>
        <p:spPr>
          <a:xfrm>
            <a:off x="1182688" y="1371600"/>
            <a:ext cx="7772400" cy="4800600"/>
          </a:xfrm>
        </p:spPr>
        <p:txBody>
          <a:bodyPr/>
          <a:lstStyle/>
          <a:p>
            <a:pPr eaLnBrk="1" hangingPunct="1"/>
            <a:r>
              <a:rPr lang="zh-CN" altLang="en-US" dirty="0"/>
              <a:t>加速等价性检查</a:t>
            </a:r>
            <a:endParaRPr lang="zh-CN" altLang="en-US" dirty="0"/>
          </a:p>
          <a:p>
            <a:pPr lvl="1" eaLnBrk="1" hangingPunct="1"/>
            <a:r>
              <a:rPr lang="zh-CN" altLang="en-US" dirty="0"/>
              <a:t>不同二进制串不可能表示相同类型</a:t>
            </a:r>
            <a:endParaRPr lang="zh-CN" altLang="en-US" dirty="0"/>
          </a:p>
          <a:p>
            <a:pPr lvl="1" eaLnBrk="1" hangingPunct="1"/>
            <a:r>
              <a:rPr lang="zh-CN" altLang="en-US" dirty="0"/>
              <a:t>不同类型可能表示为相同二进制串</a:t>
            </a:r>
            <a:r>
              <a:rPr lang="en-US" altLang="zh-CN" dirty="0"/>
              <a:t>——</a:t>
            </a:r>
            <a:r>
              <a:rPr lang="zh-CN" altLang="en-US" dirty="0"/>
              <a:t>数组下标范围、函数参数</a:t>
            </a:r>
            <a:endParaRPr lang="zh-CN" altLang="en-US" dirty="0"/>
          </a:p>
          <a:p>
            <a:pPr eaLnBrk="1" hangingPunct="1"/>
            <a:r>
              <a:rPr lang="zh-CN" altLang="en-US" dirty="0"/>
              <a:t>记录的编码</a:t>
            </a:r>
            <a:endParaRPr lang="zh-CN" altLang="en-US" dirty="0"/>
          </a:p>
          <a:p>
            <a:pPr lvl="1" eaLnBrk="1" hangingPunct="1"/>
            <a:r>
              <a:rPr lang="zh-CN" altLang="en-US" dirty="0"/>
              <a:t>在类型表达式中记录作为基本类型</a:t>
            </a:r>
            <a:endParaRPr lang="zh-CN" altLang="en-US" dirty="0"/>
          </a:p>
          <a:p>
            <a:pPr lvl="1" eaLnBrk="1" hangingPunct="1"/>
            <a:r>
              <a:rPr lang="zh-CN" altLang="en-US" dirty="0"/>
              <a:t>用另一个二进制串编码它的域</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a:t>6.3.2  </a:t>
            </a:r>
            <a:r>
              <a:rPr lang="zh-CN" altLang="en-US"/>
              <a:t>名字等价</a:t>
            </a:r>
            <a:endParaRPr lang="zh-CN" altLang="en-US"/>
          </a:p>
        </p:txBody>
      </p:sp>
      <p:sp>
        <p:nvSpPr>
          <p:cNvPr id="3072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dirty="0"/>
              <a:t>type link = ^cell;</a:t>
            </a:r>
            <a:endParaRPr lang="en-US" altLang="zh-CN" sz="2400" dirty="0"/>
          </a:p>
          <a:p>
            <a:pPr eaLnBrk="1" hangingPunct="1">
              <a:buFont typeface="Wingdings" panose="05000000000000000000" pitchFamily="2" charset="2"/>
              <a:buNone/>
            </a:pPr>
            <a:r>
              <a:rPr lang="en-US" altLang="zh-CN" sz="2400" dirty="0"/>
              <a:t>var next : link;</a:t>
            </a:r>
            <a:br>
              <a:rPr lang="en-US" altLang="zh-CN" sz="2400" dirty="0"/>
            </a:br>
            <a:r>
              <a:rPr lang="en-US" altLang="zh-CN" sz="2400" dirty="0"/>
              <a:t>  last : link;</a:t>
            </a:r>
            <a:br>
              <a:rPr lang="en-US" altLang="zh-CN" sz="2400" dirty="0"/>
            </a:br>
            <a:r>
              <a:rPr lang="en-US" altLang="zh-CN" sz="2400" dirty="0"/>
              <a:t>  p : ^cell;</a:t>
            </a:r>
            <a:br>
              <a:rPr lang="en-US" altLang="zh-CN" sz="2400" dirty="0"/>
            </a:br>
            <a:r>
              <a:rPr lang="en-US" altLang="zh-CN" sz="2400" dirty="0"/>
              <a:t>  q, r : ^cell; </a:t>
            </a:r>
            <a:endParaRPr lang="en-US" altLang="zh-CN" sz="2400" dirty="0"/>
          </a:p>
          <a:p>
            <a:pPr eaLnBrk="1" hangingPunct="1"/>
            <a:r>
              <a:rPr lang="en-US" altLang="zh-CN" sz="2800" dirty="0"/>
              <a:t>5</a:t>
            </a:r>
            <a:r>
              <a:rPr lang="zh-CN" altLang="en-US" sz="2800" dirty="0"/>
              <a:t>个变量类型是否都相同？</a:t>
            </a:r>
            <a:r>
              <a:rPr lang="en-US" altLang="zh-CN" sz="2800" dirty="0"/>
              <a:t>——</a:t>
            </a:r>
            <a:r>
              <a:rPr lang="zh-CN" altLang="en-US" sz="2800" dirty="0"/>
              <a:t>依赖具体编译器实现采用哪种类型等价判定</a:t>
            </a:r>
            <a:endParaRPr lang="zh-CN" altLang="en-US" sz="2800" dirty="0"/>
          </a:p>
          <a:p>
            <a:pPr eaLnBrk="1" hangingPunct="1"/>
            <a:r>
              <a:rPr lang="zh-CN" altLang="en-US" sz="2800" dirty="0"/>
              <a:t>类型表达式允许类型名，但不允许回路</a:t>
            </a:r>
            <a:endParaRPr lang="zh-CN" altLang="en-US" sz="2800" dirty="0"/>
          </a:p>
          <a:p>
            <a:pPr eaLnBrk="1" hangingPunct="1"/>
            <a:r>
              <a:rPr lang="zh-CN" altLang="en-US" sz="2800" dirty="0"/>
              <a:t>名字等价：类型表达式完全相同</a:t>
            </a:r>
            <a:endParaRPr lang="zh-CN" altLang="en-US" sz="2800" dirty="0"/>
          </a:p>
          <a:p>
            <a:pPr eaLnBrk="1" hangingPunct="1"/>
            <a:r>
              <a:rPr lang="zh-CN" altLang="en-US" sz="2800" dirty="0"/>
              <a:t>结构等价：类型名被替换后完全相同</a:t>
            </a:r>
            <a:endParaRPr lang="zh-CN"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a:t>例</a:t>
            </a:r>
            <a:r>
              <a:rPr lang="en-US" altLang="zh-CN"/>
              <a:t>6.2</a:t>
            </a:r>
            <a:endParaRPr lang="en-US" altLang="zh-CN"/>
          </a:p>
        </p:txBody>
      </p:sp>
      <p:sp>
        <p:nvSpPr>
          <p:cNvPr id="31747" name="Rectangle 3"/>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zh-CN" altLang="en-US" sz="2800" dirty="0"/>
              <a:t>变量			类型表达式</a:t>
            </a:r>
            <a:endParaRPr lang="zh-CN" altLang="en-US" sz="2800" dirty="0"/>
          </a:p>
          <a:p>
            <a:pPr eaLnBrk="1" hangingPunct="1">
              <a:lnSpc>
                <a:spcPct val="80000"/>
              </a:lnSpc>
              <a:spcBef>
                <a:spcPct val="10000"/>
              </a:spcBef>
              <a:buFont typeface="Wingdings" panose="05000000000000000000" pitchFamily="2" charset="2"/>
              <a:buNone/>
            </a:pPr>
            <a:r>
              <a:rPr lang="en-US" altLang="zh-CN" sz="2800" dirty="0"/>
              <a:t>next			link</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last			link</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p				pointer(cell)</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q				pointer(cell)</a:t>
            </a:r>
            <a:endParaRPr lang="en-US" altLang="zh-CN" sz="2800" dirty="0"/>
          </a:p>
          <a:p>
            <a:pPr eaLnBrk="1" hangingPunct="1">
              <a:lnSpc>
                <a:spcPct val="80000"/>
              </a:lnSpc>
              <a:spcBef>
                <a:spcPct val="10000"/>
              </a:spcBef>
              <a:buFont typeface="Wingdings" panose="05000000000000000000" pitchFamily="2" charset="2"/>
              <a:buNone/>
            </a:pPr>
            <a:r>
              <a:rPr lang="en-US" altLang="zh-CN" sz="2800" dirty="0"/>
              <a:t>r				pointer(cell)</a:t>
            </a:r>
            <a:endParaRPr lang="en-US" altLang="zh-CN" sz="2800" dirty="0"/>
          </a:p>
          <a:p>
            <a:pPr eaLnBrk="1" hangingPunct="1"/>
            <a:r>
              <a:rPr lang="zh-CN" altLang="en-US" dirty="0"/>
              <a:t>结构等价：</a:t>
            </a:r>
            <a:r>
              <a:rPr lang="en-US" altLang="zh-CN" dirty="0"/>
              <a:t>5</a:t>
            </a:r>
            <a:r>
              <a:rPr lang="zh-CN" altLang="en-US" dirty="0"/>
              <a:t>个变量类型都相同</a:t>
            </a:r>
            <a:endParaRPr lang="zh-CN" altLang="en-US" dirty="0"/>
          </a:p>
          <a:p>
            <a:pPr eaLnBrk="1" hangingPunct="1"/>
            <a:r>
              <a:rPr lang="zh-CN" altLang="en-US" dirty="0"/>
              <a:t>名字等价：</a:t>
            </a:r>
            <a:r>
              <a:rPr lang="en-US" altLang="zh-CN" dirty="0"/>
              <a:t>next, last</a:t>
            </a:r>
            <a:r>
              <a:rPr lang="zh-CN" altLang="en-US" dirty="0"/>
              <a:t>类型相同，</a:t>
            </a:r>
            <a:r>
              <a:rPr lang="en-US" altLang="zh-CN" dirty="0"/>
              <a:t>p, q, r</a:t>
            </a:r>
            <a:r>
              <a:rPr lang="zh-CN" altLang="en-US" dirty="0"/>
              <a:t>类型相同，</a:t>
            </a:r>
            <a:r>
              <a:rPr lang="en-US" altLang="zh-CN" dirty="0"/>
              <a:t>p, next</a:t>
            </a:r>
            <a:r>
              <a:rPr lang="zh-CN" altLang="en-US" dirty="0"/>
              <a:t>类型不同</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noChangeArrowheads="1"/>
          </p:cNvSpPr>
          <p:nvPr>
            <p:ph type="title"/>
          </p:nvPr>
        </p:nvSpPr>
        <p:spPr/>
        <p:txBody>
          <a:bodyPr/>
          <a:lstStyle/>
          <a:p>
            <a:pPr eaLnBrk="1" hangingPunct="1"/>
            <a:r>
              <a:rPr lang="zh-CN" altLang="en-US"/>
              <a:t>例</a:t>
            </a:r>
            <a:r>
              <a:rPr lang="en-US" altLang="zh-CN"/>
              <a:t>6.3</a:t>
            </a:r>
            <a:endParaRPr lang="en-US" altLang="zh-CN"/>
          </a:p>
        </p:txBody>
      </p:sp>
      <p:sp>
        <p:nvSpPr>
          <p:cNvPr id="32771" name="Rectangle 1027"/>
          <p:cNvSpPr>
            <a:spLocks noGrp="1" noChangeArrowheads="1"/>
          </p:cNvSpPr>
          <p:nvPr>
            <p:ph type="body" idx="1"/>
          </p:nvPr>
        </p:nvSpPr>
        <p:spPr/>
        <p:txBody>
          <a:bodyPr/>
          <a:lstStyle/>
          <a:p>
            <a:pPr eaLnBrk="1" hangingPunct="1"/>
            <a:r>
              <a:rPr lang="zh-CN" altLang="en-US" sz="2800" dirty="0"/>
              <a:t>许多</a:t>
            </a:r>
            <a:r>
              <a:rPr lang="en-US" altLang="zh-CN" sz="2800" dirty="0"/>
              <a:t>Pascal</a:t>
            </a:r>
            <a:r>
              <a:rPr lang="zh-CN" altLang="en-US" sz="2800" dirty="0"/>
              <a:t>编译器会隐含地为每条标识符定义语句涉及到的类型关联一个类型名</a:t>
            </a:r>
            <a:endParaRPr lang="zh-CN" altLang="en-US" sz="2800" dirty="0"/>
          </a:p>
          <a:p>
            <a:pPr eaLnBrk="1" hangingPunct="1">
              <a:lnSpc>
                <a:spcPct val="80000"/>
              </a:lnSpc>
              <a:spcBef>
                <a:spcPct val="10000"/>
              </a:spcBef>
              <a:buFont typeface="Wingdings" panose="05000000000000000000" pitchFamily="2" charset="2"/>
              <a:buNone/>
            </a:pPr>
            <a:r>
              <a:rPr lang="en-US" altLang="zh-CN" sz="2400" dirty="0"/>
              <a:t>type link = ^cell;</a:t>
            </a:r>
            <a:br>
              <a:rPr lang="en-US" altLang="zh-CN" sz="2400" dirty="0"/>
            </a:br>
            <a:r>
              <a:rPr lang="en-US" altLang="zh-CN" sz="2400" dirty="0"/>
              <a:t>    np = ^cell;</a:t>
            </a:r>
            <a:br>
              <a:rPr lang="en-US" altLang="zh-CN" sz="2400" dirty="0"/>
            </a:br>
            <a:r>
              <a:rPr lang="en-US" altLang="zh-CN" sz="2400" dirty="0"/>
              <a:t>    </a:t>
            </a:r>
            <a:r>
              <a:rPr lang="en-US" altLang="zh-CN" sz="2400" dirty="0" err="1"/>
              <a:t>nqr</a:t>
            </a:r>
            <a:r>
              <a:rPr lang="en-US" altLang="zh-CN" sz="2400" dirty="0"/>
              <a:t> = ^cell;</a:t>
            </a:r>
            <a:endParaRPr lang="en-US" altLang="zh-CN" sz="2400" dirty="0"/>
          </a:p>
          <a:p>
            <a:pPr eaLnBrk="1" hangingPunct="1">
              <a:lnSpc>
                <a:spcPct val="80000"/>
              </a:lnSpc>
              <a:spcBef>
                <a:spcPct val="10000"/>
              </a:spcBef>
              <a:buFont typeface="Wingdings" panose="05000000000000000000" pitchFamily="2" charset="2"/>
              <a:buNone/>
            </a:pPr>
            <a:r>
              <a:rPr lang="en-US" altLang="zh-CN" sz="2400" dirty="0"/>
              <a:t>var next : link;</a:t>
            </a:r>
            <a:br>
              <a:rPr lang="en-US" altLang="zh-CN" sz="2400" dirty="0"/>
            </a:br>
            <a:r>
              <a:rPr lang="en-US" altLang="zh-CN" sz="2400" dirty="0"/>
              <a:t>  last : link;</a:t>
            </a:r>
            <a:br>
              <a:rPr lang="en-US" altLang="zh-CN" sz="2400" dirty="0"/>
            </a:br>
            <a:r>
              <a:rPr lang="en-US" altLang="zh-CN" sz="2400" dirty="0"/>
              <a:t>  p : np;</a:t>
            </a:r>
            <a:br>
              <a:rPr lang="en-US" altLang="zh-CN" sz="2400" dirty="0"/>
            </a:br>
            <a:r>
              <a:rPr lang="en-US" altLang="zh-CN" sz="2400" dirty="0"/>
              <a:t>  q, r : </a:t>
            </a:r>
            <a:r>
              <a:rPr lang="en-US" altLang="zh-CN" sz="2400" dirty="0" err="1"/>
              <a:t>nqr</a:t>
            </a:r>
            <a:r>
              <a:rPr lang="en-US" altLang="zh-CN" sz="2400" dirty="0"/>
              <a:t>;</a:t>
            </a:r>
            <a:endParaRPr lang="en-US" altLang="zh-CN" sz="2800" dirty="0"/>
          </a:p>
          <a:p>
            <a:pPr eaLnBrk="1" hangingPunct="1"/>
            <a:r>
              <a:rPr lang="zh-CN" altLang="en-US" sz="2800" dirty="0"/>
              <a:t>名字等价：</a:t>
            </a:r>
            <a:r>
              <a:rPr lang="en-US" altLang="zh-CN" sz="2800" dirty="0"/>
              <a:t>next, last</a:t>
            </a:r>
            <a:r>
              <a:rPr lang="zh-CN" altLang="en-US" sz="2800" dirty="0"/>
              <a:t>类型相同，</a:t>
            </a:r>
            <a:r>
              <a:rPr lang="en-US" altLang="zh-CN" sz="2800" dirty="0"/>
              <a:t>q, r</a:t>
            </a:r>
            <a:r>
              <a:rPr lang="zh-CN" altLang="en-US" sz="2800" dirty="0"/>
              <a:t>类型相同，</a:t>
            </a:r>
            <a:r>
              <a:rPr lang="en-US" altLang="zh-CN" sz="2800" dirty="0"/>
              <a:t>p, next, q</a:t>
            </a:r>
            <a:r>
              <a:rPr lang="zh-CN" altLang="en-US" sz="2800" dirty="0"/>
              <a:t>类型不同</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a:t>例</a:t>
            </a:r>
            <a:r>
              <a:rPr lang="en-US" altLang="zh-CN"/>
              <a:t>6.3</a:t>
            </a:r>
            <a:r>
              <a:rPr lang="zh-CN" altLang="en-US"/>
              <a:t>（续）</a:t>
            </a:r>
            <a:endParaRPr lang="zh-CN" altLang="en-US"/>
          </a:p>
        </p:txBody>
      </p:sp>
      <p:sp>
        <p:nvSpPr>
          <p:cNvPr id="33795" name="Rectangle 3"/>
          <p:cNvSpPr>
            <a:spLocks noGrp="1" noChangeArrowheads="1"/>
          </p:cNvSpPr>
          <p:nvPr>
            <p:ph type="body" idx="1"/>
          </p:nvPr>
        </p:nvSpPr>
        <p:spPr/>
        <p:txBody>
          <a:bodyPr/>
          <a:lstStyle/>
          <a:p>
            <a:pPr eaLnBrk="1" hangingPunct="1"/>
            <a:r>
              <a:rPr lang="zh-CN" altLang="en-US" sz="2800"/>
              <a:t>实现方式</a:t>
            </a:r>
            <a:r>
              <a:rPr lang="en-US" altLang="zh-CN" sz="2800"/>
              <a:t>——</a:t>
            </a:r>
            <a:r>
              <a:rPr lang="zh-CN" altLang="en-US" sz="2800"/>
              <a:t>构造类型图</a:t>
            </a:r>
            <a:endParaRPr lang="zh-CN" altLang="en-US" sz="2800"/>
          </a:p>
          <a:p>
            <a:pPr lvl="1" eaLnBrk="1" hangingPunct="1"/>
            <a:r>
              <a:rPr lang="zh-CN" altLang="en-US" sz="2400"/>
              <a:t>对基本类型和类型构造符</a:t>
            </a:r>
            <a:r>
              <a:rPr lang="en-US" altLang="zh-CN" sz="2400"/>
              <a:t>——</a:t>
            </a:r>
            <a:r>
              <a:rPr lang="zh-CN" altLang="en-US" sz="2400"/>
              <a:t>创建新结点</a:t>
            </a:r>
            <a:endParaRPr lang="zh-CN" altLang="en-US" sz="2400"/>
          </a:p>
          <a:p>
            <a:pPr lvl="1" eaLnBrk="1" hangingPunct="1"/>
            <a:r>
              <a:rPr lang="zh-CN" altLang="en-US" sz="2400"/>
              <a:t>对新类型名</a:t>
            </a:r>
            <a:r>
              <a:rPr lang="en-US" altLang="zh-CN" sz="2400"/>
              <a:t>——</a:t>
            </a:r>
            <a:r>
              <a:rPr lang="zh-CN" altLang="en-US" sz="2400"/>
              <a:t>创建叶结点，保存与类型表达式的链接</a:t>
            </a:r>
            <a:endParaRPr lang="zh-CN" altLang="en-US" sz="2400"/>
          </a:p>
          <a:p>
            <a:pPr eaLnBrk="1" hangingPunct="1"/>
            <a:r>
              <a:rPr lang="zh-CN" altLang="en-US" sz="2800"/>
              <a:t>名字等价</a:t>
            </a:r>
            <a:r>
              <a:rPr lang="en-US" altLang="zh-CN" sz="2800"/>
              <a:t>——</a:t>
            </a:r>
            <a:r>
              <a:rPr lang="zh-CN" altLang="en-US" sz="2800"/>
              <a:t>相同结点</a:t>
            </a:r>
            <a:endParaRPr lang="zh-CN" altLang="en-US" sz="2800"/>
          </a:p>
        </p:txBody>
      </p:sp>
      <p:pic>
        <p:nvPicPr>
          <p:cNvPr id="33796" name="Picture 5" descr="nam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3581400"/>
            <a:ext cx="5476875"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a:t>6.3.3  </a:t>
            </a:r>
            <a:r>
              <a:rPr lang="zh-CN" altLang="en-US"/>
              <a:t>回路问题</a:t>
            </a:r>
            <a:endParaRPr lang="zh-CN" altLang="en-US"/>
          </a:p>
        </p:txBody>
      </p:sp>
      <p:sp>
        <p:nvSpPr>
          <p:cNvPr id="34819" name="Rectangle 3"/>
          <p:cNvSpPr>
            <a:spLocks noGrp="1" noChangeArrowheads="1"/>
          </p:cNvSpPr>
          <p:nvPr>
            <p:ph type="body" idx="1"/>
          </p:nvPr>
        </p:nvSpPr>
        <p:spPr/>
        <p:txBody>
          <a:bodyPr/>
          <a:lstStyle/>
          <a:p>
            <a:pPr eaLnBrk="1" hangingPunct="1"/>
            <a:r>
              <a:rPr lang="zh-CN" altLang="en-US"/>
              <a:t>链表、树：递归定义</a:t>
            </a:r>
            <a:endParaRPr lang="zh-CN" altLang="en-US"/>
          </a:p>
          <a:p>
            <a:pPr eaLnBrk="1" hangingPunct="1"/>
            <a:r>
              <a:rPr lang="zh-CN" altLang="en-US"/>
              <a:t>实现：记录</a:t>
            </a:r>
            <a:r>
              <a:rPr lang="en-US" altLang="zh-CN"/>
              <a:t>——</a:t>
            </a:r>
            <a:r>
              <a:rPr lang="zh-CN" altLang="en-US"/>
              <a:t>数据、指向同一记录类型的指针</a:t>
            </a:r>
            <a:r>
              <a:rPr lang="zh-CN" altLang="en-US">
                <a:sym typeface="Wingdings" panose="05000000000000000000" pitchFamily="2" charset="2"/>
              </a:rPr>
              <a:t>回路</a:t>
            </a:r>
            <a:endParaRPr lang="zh-CN" altLang="en-US">
              <a:sym typeface="Wingdings" panose="05000000000000000000" pitchFamily="2" charset="2"/>
            </a:endParaRPr>
          </a:p>
          <a:p>
            <a:pPr eaLnBrk="1" hangingPunct="1">
              <a:lnSpc>
                <a:spcPct val="80000"/>
              </a:lnSpc>
              <a:spcBef>
                <a:spcPct val="10000"/>
              </a:spcBef>
              <a:buFont typeface="Wingdings" panose="05000000000000000000" pitchFamily="2" charset="2"/>
              <a:buNone/>
            </a:pPr>
            <a:r>
              <a:rPr lang="en-US" altLang="zh-CN" sz="2800"/>
              <a:t>type link = ^cell;</a:t>
            </a:r>
            <a:endParaRPr lang="en-US" altLang="zh-CN" sz="2800"/>
          </a:p>
          <a:p>
            <a:pPr eaLnBrk="1" hangingPunct="1">
              <a:lnSpc>
                <a:spcPct val="80000"/>
              </a:lnSpc>
              <a:spcBef>
                <a:spcPct val="10000"/>
              </a:spcBef>
              <a:buFont typeface="Wingdings" panose="05000000000000000000" pitchFamily="2" charset="2"/>
              <a:buNone/>
            </a:pPr>
            <a:r>
              <a:rPr lang="en-US" altLang="zh-CN" sz="2800"/>
              <a:t>	    cell = record</a:t>
            </a:r>
            <a:endParaRPr lang="en-US" altLang="zh-CN" sz="2800"/>
          </a:p>
          <a:p>
            <a:pPr eaLnBrk="1" hangingPunct="1">
              <a:lnSpc>
                <a:spcPct val="80000"/>
              </a:lnSpc>
              <a:spcBef>
                <a:spcPct val="10000"/>
              </a:spcBef>
              <a:buFont typeface="Wingdings" panose="05000000000000000000" pitchFamily="2" charset="2"/>
              <a:buNone/>
            </a:pPr>
            <a:r>
              <a:rPr lang="en-US" altLang="zh-CN" sz="2800"/>
              <a:t>			info : integer;</a:t>
            </a:r>
            <a:endParaRPr lang="en-US" altLang="zh-CN" sz="2800"/>
          </a:p>
          <a:p>
            <a:pPr eaLnBrk="1" hangingPunct="1">
              <a:lnSpc>
                <a:spcPct val="80000"/>
              </a:lnSpc>
              <a:spcBef>
                <a:spcPct val="10000"/>
              </a:spcBef>
              <a:buFont typeface="Wingdings" panose="05000000000000000000" pitchFamily="2" charset="2"/>
              <a:buNone/>
            </a:pPr>
            <a:r>
              <a:rPr lang="en-US" altLang="zh-CN" sz="2800"/>
              <a:t>			next : link;</a:t>
            </a:r>
            <a:endParaRPr lang="en-US" altLang="zh-CN" sz="2800"/>
          </a:p>
          <a:p>
            <a:pPr eaLnBrk="1" hangingPunct="1">
              <a:lnSpc>
                <a:spcPct val="80000"/>
              </a:lnSpc>
              <a:spcBef>
                <a:spcPct val="10000"/>
              </a:spcBef>
              <a:buFont typeface="Wingdings" panose="05000000000000000000" pitchFamily="2" charset="2"/>
              <a:buNone/>
            </a:pPr>
            <a:r>
              <a:rPr lang="en-US" altLang="zh-CN" sz="2800"/>
              <a:t>		        end;</a:t>
            </a:r>
            <a:endParaRPr lang="en-US" altLang="zh-CN" sz="2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a:t>回路问题（续）</a:t>
            </a:r>
            <a:endParaRPr lang="zh-CN" altLang="en-US"/>
          </a:p>
        </p:txBody>
      </p:sp>
      <p:sp>
        <p:nvSpPr>
          <p:cNvPr id="35843" name="Rectangle 3"/>
          <p:cNvSpPr>
            <a:spLocks noGrp="1" noChangeArrowheads="1"/>
          </p:cNvSpPr>
          <p:nvPr>
            <p:ph type="body" idx="1"/>
          </p:nvPr>
        </p:nvSpPr>
        <p:spPr>
          <a:xfrm>
            <a:off x="1182688" y="1371600"/>
            <a:ext cx="7772400" cy="1219200"/>
          </a:xfrm>
        </p:spPr>
        <p:txBody>
          <a:bodyPr/>
          <a:lstStyle/>
          <a:p>
            <a:pPr eaLnBrk="1" hangingPunct="1"/>
            <a:r>
              <a:rPr lang="zh-CN" altLang="en-US"/>
              <a:t>将递归定义的类型名替换为类型表达式，类型图中会产生回路</a:t>
            </a:r>
            <a:endParaRPr lang="zh-CN" altLang="en-US"/>
          </a:p>
        </p:txBody>
      </p:sp>
      <p:pic>
        <p:nvPicPr>
          <p:cNvPr id="35844" name="Picture 4" descr="cyc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2514600"/>
            <a:ext cx="7794625" cy="313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a:t>例</a:t>
            </a:r>
            <a:r>
              <a:rPr lang="en-US" altLang="zh-CN"/>
              <a:t>6.4  C</a:t>
            </a:r>
            <a:r>
              <a:rPr lang="zh-CN" altLang="en-US"/>
              <a:t>语言避免回路</a:t>
            </a:r>
            <a:endParaRPr lang="zh-CN" altLang="en-US"/>
          </a:p>
        </p:txBody>
      </p:sp>
      <p:sp>
        <p:nvSpPr>
          <p:cNvPr id="36867" name="Rectangle 3"/>
          <p:cNvSpPr>
            <a:spLocks noGrp="1" noChangeArrowheads="1"/>
          </p:cNvSpPr>
          <p:nvPr>
            <p:ph type="body" idx="1"/>
          </p:nvPr>
        </p:nvSpPr>
        <p:spPr>
          <a:xfrm>
            <a:off x="1182688" y="1371600"/>
            <a:ext cx="7772400" cy="5181600"/>
          </a:xfrm>
        </p:spPr>
        <p:txBody>
          <a:bodyPr/>
          <a:lstStyle/>
          <a:p>
            <a:pPr eaLnBrk="1" hangingPunct="1"/>
            <a:r>
              <a:rPr lang="zh-CN" altLang="en-US" sz="2800"/>
              <a:t>对除记录之外的类型使用结构等价</a:t>
            </a:r>
            <a:endParaRPr lang="zh-CN" altLang="en-US" sz="2800"/>
          </a:p>
          <a:p>
            <a:pPr eaLnBrk="1" hangingPunct="1">
              <a:lnSpc>
                <a:spcPct val="80000"/>
              </a:lnSpc>
              <a:spcBef>
                <a:spcPct val="10000"/>
              </a:spcBef>
              <a:buFont typeface="Wingdings" panose="05000000000000000000" pitchFamily="2" charset="2"/>
              <a:buNone/>
            </a:pPr>
            <a:r>
              <a:rPr lang="en-US" altLang="zh-CN" sz="2400"/>
              <a:t>struct cell {</a:t>
            </a:r>
            <a:endParaRPr lang="en-US" altLang="zh-CN" sz="2400"/>
          </a:p>
          <a:p>
            <a:pPr eaLnBrk="1" hangingPunct="1">
              <a:lnSpc>
                <a:spcPct val="80000"/>
              </a:lnSpc>
              <a:spcBef>
                <a:spcPct val="10000"/>
              </a:spcBef>
              <a:buFont typeface="Wingdings" panose="05000000000000000000" pitchFamily="2" charset="2"/>
              <a:buNone/>
            </a:pPr>
            <a:r>
              <a:rPr lang="en-US" altLang="zh-CN" sz="2400"/>
              <a:t>	int info;</a:t>
            </a:r>
            <a:endParaRPr lang="en-US" altLang="zh-CN" sz="2400"/>
          </a:p>
          <a:p>
            <a:pPr eaLnBrk="1" hangingPunct="1">
              <a:lnSpc>
                <a:spcPct val="80000"/>
              </a:lnSpc>
              <a:spcBef>
                <a:spcPct val="10000"/>
              </a:spcBef>
              <a:buFont typeface="Wingdings" panose="05000000000000000000" pitchFamily="2" charset="2"/>
              <a:buNone/>
            </a:pPr>
            <a:r>
              <a:rPr lang="en-US" altLang="zh-CN" sz="2400"/>
              <a:t>	struct cell *next;</a:t>
            </a:r>
            <a:endParaRPr lang="en-US" altLang="zh-CN" sz="2400"/>
          </a:p>
          <a:p>
            <a:pPr eaLnBrk="1" hangingPunct="1">
              <a:lnSpc>
                <a:spcPct val="80000"/>
              </a:lnSpc>
              <a:spcBef>
                <a:spcPct val="10000"/>
              </a:spcBef>
              <a:buFont typeface="Wingdings" panose="05000000000000000000" pitchFamily="2" charset="2"/>
              <a:buNone/>
            </a:pPr>
            <a:r>
              <a:rPr lang="en-US" altLang="zh-CN" sz="2400"/>
              <a:t>};</a:t>
            </a:r>
            <a:endParaRPr lang="en-US" altLang="zh-CN" sz="2400"/>
          </a:p>
          <a:p>
            <a:pPr eaLnBrk="1" hangingPunct="1"/>
            <a:r>
              <a:rPr lang="en-US" altLang="zh-CN" sz="2800"/>
              <a:t>C</a:t>
            </a:r>
            <a:r>
              <a:rPr lang="zh-CN" altLang="en-US" sz="2800"/>
              <a:t>语言要求类型名在使用前声明</a:t>
            </a:r>
            <a:endParaRPr lang="zh-CN" altLang="en-US" sz="2800"/>
          </a:p>
          <a:p>
            <a:pPr eaLnBrk="1" hangingPunct="1"/>
            <a:r>
              <a:rPr lang="zh-CN" altLang="en-US" sz="2800"/>
              <a:t>例外：未定义记录类型的指针</a:t>
            </a:r>
            <a:endParaRPr lang="zh-CN" altLang="en-US" sz="2800"/>
          </a:p>
          <a:p>
            <a:pPr eaLnBrk="1" hangingPunct="1"/>
            <a:r>
              <a:rPr lang="zh-CN" altLang="en-US" sz="2800"/>
              <a:t>回路：只可能是记录指针引起</a:t>
            </a:r>
            <a:endParaRPr lang="zh-CN" altLang="en-US" sz="2800"/>
          </a:p>
          <a:p>
            <a:pPr eaLnBrk="1" hangingPunct="1"/>
            <a:r>
              <a:rPr lang="zh-CN" altLang="en-US" sz="2800"/>
              <a:t>结构等价判定遇到记录类型停止：只有名字相同的记录才认为类型相同</a:t>
            </a:r>
            <a:endParaRPr lang="zh-CN" altLang="en-US" sz="2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a:t>6.4  </a:t>
            </a:r>
            <a:r>
              <a:rPr lang="zh-CN" altLang="en-US"/>
              <a:t>类型转换</a:t>
            </a:r>
            <a:endParaRPr lang="zh-CN" altLang="en-US"/>
          </a:p>
        </p:txBody>
      </p:sp>
      <p:sp>
        <p:nvSpPr>
          <p:cNvPr id="37891" name="Rectangle 3"/>
          <p:cNvSpPr>
            <a:spLocks noGrp="1" noChangeArrowheads="1"/>
          </p:cNvSpPr>
          <p:nvPr>
            <p:ph type="body" idx="1"/>
          </p:nvPr>
        </p:nvSpPr>
        <p:spPr>
          <a:xfrm>
            <a:off x="1182688" y="1371600"/>
            <a:ext cx="7772400" cy="4953000"/>
          </a:xfrm>
        </p:spPr>
        <p:txBody>
          <a:bodyPr/>
          <a:lstStyle/>
          <a:p>
            <a:pPr eaLnBrk="1" hangingPunct="1"/>
            <a:r>
              <a:rPr lang="en-US" altLang="zh-CN" sz="2800"/>
              <a:t>x+i</a:t>
            </a:r>
            <a:r>
              <a:rPr lang="zh-CN" altLang="en-US" sz="2800"/>
              <a:t>，</a:t>
            </a:r>
            <a:r>
              <a:rPr lang="en-US" altLang="zh-CN" sz="2800"/>
              <a:t>x</a:t>
            </a:r>
            <a:r>
              <a:rPr lang="zh-CN" altLang="en-US" sz="2800"/>
              <a:t>为实型，</a:t>
            </a:r>
            <a:r>
              <a:rPr lang="en-US" altLang="zh-CN" sz="2800"/>
              <a:t>i</a:t>
            </a:r>
            <a:r>
              <a:rPr lang="zh-CN" altLang="en-US" sz="2800"/>
              <a:t>为整型</a:t>
            </a:r>
            <a:endParaRPr lang="zh-CN" altLang="en-US" sz="2800"/>
          </a:p>
          <a:p>
            <a:pPr lvl="1" eaLnBrk="1" hangingPunct="1"/>
            <a:r>
              <a:rPr lang="zh-CN" altLang="en-US" sz="2400"/>
              <a:t>不同保存格式，不同加法指令</a:t>
            </a:r>
            <a:endParaRPr lang="zh-CN" altLang="en-US" sz="2400"/>
          </a:p>
          <a:p>
            <a:pPr lvl="1" eaLnBrk="1" hangingPunct="1"/>
            <a:r>
              <a:rPr lang="zh-CN" altLang="en-US" sz="2400"/>
              <a:t>转换为相同类型进行运算</a:t>
            </a:r>
            <a:endParaRPr lang="zh-CN" altLang="en-US" sz="2400"/>
          </a:p>
          <a:p>
            <a:pPr eaLnBrk="1" hangingPunct="1"/>
            <a:r>
              <a:rPr lang="zh-CN" altLang="en-US" sz="2800"/>
              <a:t>语言定义指定转换方法</a:t>
            </a:r>
            <a:endParaRPr lang="zh-CN" altLang="en-US" sz="2800"/>
          </a:p>
          <a:p>
            <a:pPr lvl="1" eaLnBrk="1" hangingPunct="1"/>
            <a:r>
              <a:rPr lang="zh-CN" altLang="en-US" sz="2400"/>
              <a:t>赋值：转换为左部类型</a:t>
            </a:r>
            <a:endParaRPr lang="zh-CN" altLang="en-US" sz="2400"/>
          </a:p>
          <a:p>
            <a:pPr lvl="1" eaLnBrk="1" hangingPunct="1"/>
            <a:r>
              <a:rPr lang="zh-CN" altLang="en-US" sz="2400"/>
              <a:t>表达式：</a:t>
            </a:r>
            <a:r>
              <a:rPr lang="en-US" altLang="zh-CN" sz="2400"/>
              <a:t>int</a:t>
            </a:r>
            <a:r>
              <a:rPr lang="en-US" altLang="zh-CN" sz="2400">
                <a:sym typeface="Wingdings" panose="05000000000000000000" pitchFamily="2" charset="2"/>
              </a:rPr>
              <a:t>real</a:t>
            </a:r>
            <a:endParaRPr lang="en-US" altLang="zh-CN" sz="2400">
              <a:sym typeface="Wingdings" panose="05000000000000000000" pitchFamily="2" charset="2"/>
            </a:endParaRPr>
          </a:p>
          <a:p>
            <a:pPr lvl="1" eaLnBrk="1" hangingPunct="1"/>
            <a:r>
              <a:rPr lang="zh-CN" altLang="en-US" sz="2400">
                <a:sym typeface="Wingdings" panose="05000000000000000000" pitchFamily="2" charset="2"/>
              </a:rPr>
              <a:t>类型检查器完成转换操作的生成</a:t>
            </a:r>
            <a:endParaRPr lang="zh-CN" altLang="en-US" sz="2400">
              <a:sym typeface="Wingdings" panose="05000000000000000000" pitchFamily="2" charset="2"/>
            </a:endParaRPr>
          </a:p>
          <a:p>
            <a:pPr lvl="1" eaLnBrk="1" hangingPunct="1"/>
            <a:r>
              <a:rPr lang="en-US" altLang="zh-CN" sz="2400">
                <a:sym typeface="Wingdings" panose="05000000000000000000" pitchFamily="2" charset="2"/>
              </a:rPr>
              <a:t>x i </a:t>
            </a:r>
            <a:r>
              <a:rPr lang="en-US" altLang="zh-CN" sz="2400" b="1">
                <a:sym typeface="Wingdings" panose="05000000000000000000" pitchFamily="2" charset="2"/>
              </a:rPr>
              <a:t>inttoreal real</a:t>
            </a:r>
            <a:r>
              <a:rPr lang="en-US" altLang="zh-CN" sz="2400">
                <a:sym typeface="Wingdings" panose="05000000000000000000" pitchFamily="2" charset="2"/>
              </a:rPr>
              <a:t>+</a:t>
            </a:r>
            <a:endParaRPr lang="en-US" altLang="zh-CN" sz="2400">
              <a:sym typeface="Wingdings" panose="05000000000000000000" pitchFamily="2" charset="2"/>
            </a:endParaRPr>
          </a:p>
          <a:p>
            <a:pPr eaLnBrk="1" hangingPunct="1"/>
            <a:r>
              <a:rPr lang="zh-CN" altLang="en-US" sz="2800"/>
              <a:t>类型转换与重载紧密相连</a:t>
            </a:r>
            <a:endParaRPr lang="zh-CN" alt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a:t>强制类型转换（</a:t>
            </a:r>
            <a:r>
              <a:rPr lang="en-US" altLang="zh-CN">
                <a:solidFill>
                  <a:schemeClr val="hlink"/>
                </a:solidFill>
              </a:rPr>
              <a:t>coercion</a:t>
            </a:r>
            <a:r>
              <a:rPr lang="zh-CN" altLang="en-US"/>
              <a:t>）</a:t>
            </a:r>
            <a:endParaRPr lang="zh-CN" altLang="en-US"/>
          </a:p>
        </p:txBody>
      </p:sp>
      <p:sp>
        <p:nvSpPr>
          <p:cNvPr id="38915" name="Rectangle 3"/>
          <p:cNvSpPr>
            <a:spLocks noGrp="1" noChangeArrowheads="1"/>
          </p:cNvSpPr>
          <p:nvPr>
            <p:ph type="body" idx="1"/>
          </p:nvPr>
        </p:nvSpPr>
        <p:spPr>
          <a:xfrm>
            <a:off x="1182688" y="1371600"/>
            <a:ext cx="7772400" cy="5029200"/>
          </a:xfrm>
        </p:spPr>
        <p:txBody>
          <a:bodyPr/>
          <a:lstStyle/>
          <a:p>
            <a:pPr eaLnBrk="1" hangingPunct="1"/>
            <a:r>
              <a:rPr lang="zh-CN" altLang="en-US" sz="2800"/>
              <a:t>编译器自动进行的隐含的类型转换</a:t>
            </a:r>
            <a:endParaRPr lang="zh-CN" altLang="en-US" sz="2800"/>
          </a:p>
          <a:p>
            <a:pPr eaLnBrk="1" hangingPunct="1"/>
            <a:r>
              <a:rPr lang="zh-CN" altLang="en-US" sz="2800"/>
              <a:t>一般要求：不能丢失信息</a:t>
            </a:r>
            <a:endParaRPr lang="zh-CN" altLang="en-US" sz="2800"/>
          </a:p>
          <a:p>
            <a:pPr eaLnBrk="1" hangingPunct="1"/>
            <a:r>
              <a:rPr lang="zh-CN" altLang="en-US" sz="2800"/>
              <a:t>显式（</a:t>
            </a:r>
            <a:r>
              <a:rPr lang="en-US" altLang="zh-CN" sz="2800">
                <a:solidFill>
                  <a:schemeClr val="hlink"/>
                </a:solidFill>
              </a:rPr>
              <a:t>explicit</a:t>
            </a:r>
            <a:r>
              <a:rPr lang="zh-CN" altLang="en-US" sz="2800"/>
              <a:t>）类型转换：程序员</a:t>
            </a:r>
            <a:endParaRPr lang="zh-CN" altLang="en-US" sz="2800"/>
          </a:p>
          <a:p>
            <a:pPr lvl="1" eaLnBrk="1" hangingPunct="1"/>
            <a:r>
              <a:rPr lang="en-US" altLang="zh-CN" sz="2400"/>
              <a:t>C</a:t>
            </a:r>
            <a:r>
              <a:rPr lang="zh-CN" altLang="en-US" sz="2400"/>
              <a:t>：</a:t>
            </a:r>
            <a:r>
              <a:rPr lang="en-US" altLang="zh-CN" sz="2400"/>
              <a:t>(float)10</a:t>
            </a:r>
            <a:endParaRPr lang="en-US" altLang="zh-CN" sz="2400"/>
          </a:p>
          <a:p>
            <a:pPr lvl="1" eaLnBrk="1" hangingPunct="1"/>
            <a:r>
              <a:rPr lang="en-US" altLang="zh-CN" sz="2400"/>
              <a:t>Pascal</a:t>
            </a:r>
            <a:r>
              <a:rPr lang="zh-CN" altLang="en-US" sz="2400"/>
              <a:t>：</a:t>
            </a:r>
            <a:r>
              <a:rPr lang="en-US" altLang="zh-CN" sz="2400"/>
              <a:t>ord(‘a’)——</a:t>
            </a:r>
            <a:r>
              <a:rPr lang="zh-CN" altLang="en-US" sz="2400"/>
              <a:t>字符型</a:t>
            </a:r>
            <a:r>
              <a:rPr lang="zh-CN" altLang="en-US" sz="2400">
                <a:sym typeface="Wingdings" panose="05000000000000000000" pitchFamily="2" charset="2"/>
              </a:rPr>
              <a:t>整型</a:t>
            </a:r>
            <a:br>
              <a:rPr lang="zh-CN" altLang="en-US" sz="2400">
                <a:sym typeface="Wingdings" panose="05000000000000000000" pitchFamily="2" charset="2"/>
              </a:rPr>
            </a:br>
            <a:r>
              <a:rPr lang="zh-CN" altLang="en-US" sz="2400">
                <a:sym typeface="Wingdings" panose="05000000000000000000" pitchFamily="2" charset="2"/>
              </a:rPr>
              <a:t>		  </a:t>
            </a:r>
            <a:r>
              <a:rPr lang="en-US" altLang="zh-CN" sz="2400">
                <a:sym typeface="Wingdings" panose="05000000000000000000" pitchFamily="2" charset="2"/>
              </a:rPr>
              <a:t>chr(65)——</a:t>
            </a:r>
            <a:r>
              <a:rPr lang="zh-CN" altLang="en-US" sz="2400">
                <a:sym typeface="Wingdings" panose="05000000000000000000" pitchFamily="2" charset="2"/>
              </a:rPr>
              <a:t>整型字符型</a:t>
            </a:r>
            <a:endParaRPr lang="zh-CN" altLang="en-US" sz="2400">
              <a:sym typeface="Wingdings" panose="05000000000000000000" pitchFamily="2" charset="2"/>
            </a:endParaRPr>
          </a:p>
          <a:p>
            <a:pPr eaLnBrk="1" hangingPunct="1"/>
            <a:r>
              <a:rPr lang="zh-CN" altLang="en-US" sz="2800"/>
              <a:t>常量类型转换编译时进行，提高性能</a:t>
            </a:r>
            <a:endParaRPr lang="zh-CN" altLang="en-US" sz="2800"/>
          </a:p>
          <a:p>
            <a:pPr lvl="1" eaLnBrk="1" hangingPunct="1"/>
            <a:r>
              <a:rPr lang="en-US" altLang="zh-CN" sz="2400"/>
              <a:t>for I := 1 to N do X[I] := 1——48.4N ms</a:t>
            </a:r>
            <a:endParaRPr lang="en-US" altLang="zh-CN" sz="2400"/>
          </a:p>
          <a:p>
            <a:pPr lvl="1" eaLnBrk="1" hangingPunct="1"/>
            <a:r>
              <a:rPr lang="en-US" altLang="zh-CN" sz="2400"/>
              <a:t>for I := 1 to N do X[I] := 1.0——5.4N ms</a:t>
            </a:r>
            <a:endParaRPr lang="en-US" altLang="zh-CN"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a:t>例</a:t>
            </a:r>
            <a:r>
              <a:rPr lang="en-US" altLang="zh-CN"/>
              <a:t>6.5</a:t>
            </a:r>
            <a:endParaRPr lang="en-US" altLang="zh-CN"/>
          </a:p>
        </p:txBody>
      </p:sp>
      <p:sp>
        <p:nvSpPr>
          <p:cNvPr id="39939" name="Rectangle 3"/>
          <p:cNvSpPr>
            <a:spLocks noGrp="1" noChangeArrowheads="1"/>
          </p:cNvSpPr>
          <p:nvPr>
            <p:ph type="body" idx="1"/>
          </p:nvPr>
        </p:nvSpPr>
        <p:spPr>
          <a:xfrm>
            <a:off x="533400" y="1371600"/>
            <a:ext cx="8421688" cy="5029200"/>
          </a:xfrm>
        </p:spPr>
        <p:txBody>
          <a:bodyPr/>
          <a:lstStyle/>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real</a:t>
            </a:r>
            <a:r>
              <a:rPr lang="en-US" altLang="zh-CN" sz="2400">
                <a:sym typeface="Symbol" panose="05050102010706020507" pitchFamily="18" charset="2"/>
              </a:rPr>
              <a:t> }</a:t>
            </a:r>
            <a:endParaRPr lang="en-US" altLang="zh-CN" sz="2400"/>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b="1">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b="1">
                <a:solidFill>
                  <a:schemeClr val="accent2"/>
                </a:solidFill>
                <a:sym typeface="Symbol" panose="05050102010706020507" pitchFamily="18" charset="2"/>
              </a:rPr>
              <a:t>op</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ym typeface="Symbol" panose="05050102010706020507" pitchFamily="18" charset="2"/>
              </a:rPr>
              <a:t>	{E.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integer </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 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 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a:t>
            </a:r>
            <a:endParaRPr lang="en-US" altLang="zh-CN" sz="2400" i="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a:sym typeface="Symbol" panose="05050102010706020507" pitchFamily="18" charset="2"/>
              </a:rPr>
              <a:t>}</a:t>
            </a:r>
            <a:endParaRPr lang="en-US" altLang="zh-CN"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a:t>lcc</a:t>
            </a:r>
            <a:r>
              <a:rPr lang="zh-CN" altLang="en-US"/>
              <a:t>的类型</a:t>
            </a:r>
            <a:endParaRPr lang="zh-CN" altLang="en-US"/>
          </a:p>
        </p:txBody>
      </p:sp>
      <p:sp>
        <p:nvSpPr>
          <p:cNvPr id="40963"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typedef struct type *Type;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struct type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op;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type;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align;</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size;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union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Symbol sym;</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struct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unsigned oldstyle:1;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*proto;</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f;</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u;</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Xtype x;</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
        <p:nvSpPr>
          <p:cNvPr id="40964" name="Text Box 4"/>
          <p:cNvSpPr txBox="1">
            <a:spLocks noChangeArrowheads="1"/>
          </p:cNvSpPr>
          <p:nvPr/>
        </p:nvSpPr>
        <p:spPr bwMode="auto">
          <a:xfrm>
            <a:off x="4284663" y="191611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类型构造符（基本类型）</a:t>
            </a:r>
            <a:endParaRPr lang="zh-CN" altLang="en-US" sz="2400">
              <a:solidFill>
                <a:srgbClr val="FF3300"/>
              </a:solidFill>
              <a:latin typeface="Tahoma" panose="020B0604030504040204" pitchFamily="34" charset="0"/>
            </a:endParaRPr>
          </a:p>
        </p:txBody>
      </p:sp>
      <p:sp>
        <p:nvSpPr>
          <p:cNvPr id="40965" name="Line 5"/>
          <p:cNvSpPr>
            <a:spLocks noChangeShapeType="1"/>
          </p:cNvSpPr>
          <p:nvPr/>
        </p:nvSpPr>
        <p:spPr bwMode="auto">
          <a:xfrm flipH="1" flipV="1">
            <a:off x="2484438" y="2133600"/>
            <a:ext cx="1871662" cy="71438"/>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966" name="Text Box 6"/>
          <p:cNvSpPr txBox="1">
            <a:spLocks noChangeArrowheads="1"/>
          </p:cNvSpPr>
          <p:nvPr/>
        </p:nvSpPr>
        <p:spPr bwMode="auto">
          <a:xfrm>
            <a:off x="4643438" y="2636838"/>
            <a:ext cx="3889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子类型表达式（用链表保存类型表达式）</a:t>
            </a:r>
            <a:endParaRPr lang="zh-CN" altLang="en-US" sz="2400">
              <a:solidFill>
                <a:srgbClr val="FF3300"/>
              </a:solidFill>
              <a:latin typeface="Tahoma" panose="020B0604030504040204" pitchFamily="34" charset="0"/>
            </a:endParaRPr>
          </a:p>
        </p:txBody>
      </p:sp>
      <p:sp>
        <p:nvSpPr>
          <p:cNvPr id="40967" name="Line 7"/>
          <p:cNvSpPr>
            <a:spLocks noChangeShapeType="1"/>
          </p:cNvSpPr>
          <p:nvPr/>
        </p:nvSpPr>
        <p:spPr bwMode="auto">
          <a:xfrm flipH="1" flipV="1">
            <a:off x="2843213" y="2492375"/>
            <a:ext cx="1871662" cy="433388"/>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a:t>类型构造</a:t>
            </a:r>
            <a:endParaRPr lang="zh-CN" altLang="en-US"/>
          </a:p>
        </p:txBody>
      </p:sp>
      <p:sp>
        <p:nvSpPr>
          <p:cNvPr id="4198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static Type type(int op, Type ty, int size, int align, void *sym) {</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unsigned h = (op^((unsigned long)ty&gt;&gt;3))</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&amp;(NELEMS(typetable)-1);</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struct entry *tn;</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(op != FUNCTION &amp;&amp; (op != ARRAY || size &gt; 0))</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for (tn = typetable[h]; tn; tn = tn-&gt;link)</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(tn-&gt;type.op    == op   &amp;&amp; tn-&gt;type.type  == ty</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&amp;&amp;  tn-&gt;type.size  == size &amp;&amp; tn-&gt;type.align == align</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&amp;&amp;  tn-&gt;type.u.sym == sym)</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return &amp;tn-&gt;type;</a:t>
            </a:r>
            <a:endParaRPr lang="en-US" altLang="zh-CN" sz="1800">
              <a:solidFill>
                <a:srgbClr val="0000FF"/>
              </a:solidFill>
              <a:latin typeface="Tahoma" panose="020B0604030504040204" pitchFamily="34" charset="0"/>
            </a:endParaRPr>
          </a:p>
        </p:txBody>
      </p:sp>
      <p:sp>
        <p:nvSpPr>
          <p:cNvPr id="41988" name="Text Box 4"/>
          <p:cNvSpPr txBox="1">
            <a:spLocks noChangeArrowheads="1"/>
          </p:cNvSpPr>
          <p:nvPr/>
        </p:nvSpPr>
        <p:spPr bwMode="auto">
          <a:xfrm>
            <a:off x="250825" y="4724400"/>
            <a:ext cx="41767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函数类型和不完全数组类型无重复概念，总是创建新类型</a:t>
            </a:r>
            <a:endParaRPr lang="zh-CN" altLang="en-US" sz="2400">
              <a:solidFill>
                <a:srgbClr val="FF3300"/>
              </a:solidFill>
              <a:latin typeface="Tahoma" panose="020B0604030504040204" pitchFamily="34" charset="0"/>
            </a:endParaRPr>
          </a:p>
        </p:txBody>
      </p:sp>
      <p:sp>
        <p:nvSpPr>
          <p:cNvPr id="41989" name="Line 5"/>
          <p:cNvSpPr>
            <a:spLocks noChangeShapeType="1"/>
          </p:cNvSpPr>
          <p:nvPr/>
        </p:nvSpPr>
        <p:spPr bwMode="auto">
          <a:xfrm flipV="1">
            <a:off x="1690688" y="2997200"/>
            <a:ext cx="360362" cy="1655763"/>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990" name="Text Box 6"/>
          <p:cNvSpPr txBox="1">
            <a:spLocks noChangeArrowheads="1"/>
          </p:cNvSpPr>
          <p:nvPr/>
        </p:nvSpPr>
        <p:spPr bwMode="auto">
          <a:xfrm>
            <a:off x="4067175" y="5661025"/>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重复类型检查</a:t>
            </a:r>
            <a:endParaRPr lang="zh-CN" altLang="en-US" sz="2400">
              <a:solidFill>
                <a:srgbClr val="FF3300"/>
              </a:solidFill>
              <a:latin typeface="Tahoma" panose="020B0604030504040204" pitchFamily="34" charset="0"/>
            </a:endParaRPr>
          </a:p>
        </p:txBody>
      </p:sp>
      <p:sp>
        <p:nvSpPr>
          <p:cNvPr id="41991" name="Line 7"/>
          <p:cNvSpPr>
            <a:spLocks noChangeShapeType="1"/>
          </p:cNvSpPr>
          <p:nvPr/>
        </p:nvSpPr>
        <p:spPr bwMode="auto">
          <a:xfrm flipH="1" flipV="1">
            <a:off x="5795963" y="4437063"/>
            <a:ext cx="0" cy="1225550"/>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类型构造</a:t>
            </a:r>
            <a:endParaRPr lang="zh-CN" altLang="en-US"/>
          </a:p>
        </p:txBody>
      </p:sp>
      <p:sp>
        <p:nvSpPr>
          <p:cNvPr id="4301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NEW0(tn, PERM);</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tn-&gt;type.op = op;</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tn-&gt;type.type =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tn-&gt;type.size = size;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tn-&gt;type.align = align;</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tn-&gt;type.u.sym = sym;</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tn-&gt;link = typetable[h];</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typetable[h] = tn;</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&amp;tn-&gt;type;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a:t>指针</a:t>
            </a:r>
            <a:endParaRPr lang="zh-CN" altLang="en-US"/>
          </a:p>
        </p:txBody>
      </p:sp>
      <p:sp>
        <p:nvSpPr>
          <p:cNvPr id="44035"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ptr(Type ty)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type(POINTER, ty, IR-&gt;ptrmetric.size,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IR-&gt;ptrmetric.align, pointersym);</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deref(Type ty)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(isptr(ty))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ty = ty-&gt;type;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else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error("type error: %s\n", "pointer expected");</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isenum(ty) ? unqual(ty)-&gt;type :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endParaRPr lang="en-US" altLang="zh-CN" sz="2000">
              <a:solidFill>
                <a:srgbClr val="0000FF"/>
              </a:solidFill>
              <a:latin typeface="Tahoma" panose="020B0604030504040204" pitchFamily="34" charset="0"/>
            </a:endParaRPr>
          </a:p>
        </p:txBody>
      </p:sp>
      <p:sp>
        <p:nvSpPr>
          <p:cNvPr id="44036" name="Text Box 8"/>
          <p:cNvSpPr txBox="1">
            <a:spLocks noChangeArrowheads="1"/>
          </p:cNvSpPr>
          <p:nvPr/>
        </p:nvSpPr>
        <p:spPr bwMode="auto">
          <a:xfrm>
            <a:off x="5219700" y="2708275"/>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脱掉指针</a:t>
            </a:r>
            <a:endParaRPr lang="zh-CN" altLang="en-US" sz="2400">
              <a:solidFill>
                <a:srgbClr val="FF3300"/>
              </a:solidFill>
              <a:latin typeface="Tahoma" panose="020B0604030504040204" pitchFamily="34" charset="0"/>
            </a:endParaRPr>
          </a:p>
        </p:txBody>
      </p:sp>
      <p:sp>
        <p:nvSpPr>
          <p:cNvPr id="44037" name="Line 9"/>
          <p:cNvSpPr>
            <a:spLocks noChangeShapeType="1"/>
          </p:cNvSpPr>
          <p:nvPr/>
        </p:nvSpPr>
        <p:spPr bwMode="auto">
          <a:xfrm flipH="1">
            <a:off x="3778250" y="3070225"/>
            <a:ext cx="1382713" cy="142875"/>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a:t>数组</a:t>
            </a:r>
            <a:endParaRPr lang="zh-CN" altLang="en-US"/>
          </a:p>
        </p:txBody>
      </p:sp>
      <p:sp>
        <p:nvSpPr>
          <p:cNvPr id="45059"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array(Type ty, int n, int a)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assert(ty);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(isfunc(ty))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error("illegal type `array of %t'\n",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array(inttype, n, 0);</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(isarray(ty) &amp;&amp; ty-&gt;size == 0)</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error("missing array size\n");</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(ty-&gt;size == 0) {</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(unqual(ty) == voidtype)</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error("illegal type `array of %t'\n", ty);</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else if (Aflag &gt;= 2)</a:t>
            </a: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warning("declaring type array of %t' is undefined\n", ty);</a:t>
            </a:r>
            <a:endParaRPr lang="en-US" altLang="zh-CN" sz="2000">
              <a:solidFill>
                <a:srgbClr val="0000FF"/>
              </a:solidFill>
              <a:latin typeface="Tahoma" panose="020B0604030504040204" pitchFamily="34" charset="0"/>
            </a:endParaRPr>
          </a:p>
        </p:txBody>
      </p:sp>
      <p:sp>
        <p:nvSpPr>
          <p:cNvPr id="45060" name="Text Box 4"/>
          <p:cNvSpPr txBox="1">
            <a:spLocks noChangeArrowheads="1"/>
          </p:cNvSpPr>
          <p:nvPr/>
        </p:nvSpPr>
        <p:spPr bwMode="auto">
          <a:xfrm>
            <a:off x="4284663" y="191611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不允许函数数组</a:t>
            </a:r>
            <a:endParaRPr lang="zh-CN" altLang="en-US" sz="2400">
              <a:solidFill>
                <a:srgbClr val="FF3300"/>
              </a:solidFill>
              <a:latin typeface="Tahoma" panose="020B0604030504040204" pitchFamily="34" charset="0"/>
            </a:endParaRPr>
          </a:p>
        </p:txBody>
      </p:sp>
      <p:sp>
        <p:nvSpPr>
          <p:cNvPr id="45061" name="Line 5"/>
          <p:cNvSpPr>
            <a:spLocks noChangeShapeType="1"/>
          </p:cNvSpPr>
          <p:nvPr/>
        </p:nvSpPr>
        <p:spPr bwMode="auto">
          <a:xfrm flipH="1">
            <a:off x="3276600" y="2205038"/>
            <a:ext cx="1079500" cy="71437"/>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62" name="Text Box 6"/>
          <p:cNvSpPr txBox="1">
            <a:spLocks noChangeArrowheads="1"/>
          </p:cNvSpPr>
          <p:nvPr/>
        </p:nvSpPr>
        <p:spPr bwMode="auto">
          <a:xfrm>
            <a:off x="5254625" y="2708275"/>
            <a:ext cx="3889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数组的数组，低维必须大小已知</a:t>
            </a:r>
            <a:endParaRPr lang="zh-CN" altLang="en-US" sz="2400">
              <a:solidFill>
                <a:srgbClr val="FF3300"/>
              </a:solidFill>
              <a:latin typeface="Tahoma" panose="020B0604030504040204" pitchFamily="34" charset="0"/>
            </a:endParaRPr>
          </a:p>
        </p:txBody>
      </p:sp>
      <p:sp>
        <p:nvSpPr>
          <p:cNvPr id="45063" name="Line 7"/>
          <p:cNvSpPr>
            <a:spLocks noChangeShapeType="1"/>
          </p:cNvSpPr>
          <p:nvPr/>
        </p:nvSpPr>
        <p:spPr bwMode="auto">
          <a:xfrm flipH="1">
            <a:off x="3635375" y="3141663"/>
            <a:ext cx="1800225" cy="287337"/>
          </a:xfrm>
          <a:prstGeom prst="line">
            <a:avLst/>
          </a:prstGeom>
          <a:noFill/>
          <a:ln w="254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a:t>数组</a:t>
            </a:r>
            <a:endParaRPr lang="zh-CN" altLang="en-US"/>
          </a:p>
        </p:txBody>
      </p:sp>
      <p:sp>
        <p:nvSpPr>
          <p:cNvPr id="4608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a:solidFill>
                  <a:srgbClr val="0000FF"/>
                </a:solidFill>
                <a:latin typeface="Tahoma" panose="020B0604030504040204" pitchFamily="34" charset="0"/>
              </a:rPr>
              <a:t>	} else if (n &gt; INT_MAX/ty-&gt;size) {</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error("size of `array of %t' exceeds %d bytes\n",</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ty, INT_MAX);</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n = 1;</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return type(ARRAY, ty, n*ty-&gt;size,</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a ? a : ty-&gt;align, NULL);</a:t>
            </a:r>
            <a:endParaRPr lang="en-US" altLang="zh-CN" sz="2000">
              <a:solidFill>
                <a:srgbClr val="0000FF"/>
              </a:solidFill>
              <a:latin typeface="Tahoma" panose="020B0604030504040204" pitchFamily="34" charset="0"/>
            </a:endParaRP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4710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Type newstruct(int op, char *tag) {</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Symbol p;</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assert(tag);</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(*tag == 0)</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tag = stringd(genlabel(1));</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else</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((p = lookup(tag, types)) != NULL &amp;&amp; (p-&gt;scope == level</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 p-&gt;scope == PARAM &amp;&amp; level == PARAM+1)) {</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(p-&gt;type-&gt;op == op &amp;&amp; !p-&gt;defined)</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return p-&gt;type;</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error("redefinition of `%s' previously defined at %w\n",</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p-&gt;name, &amp;p-&gt;src);</a:t>
            </a: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t>
            </a:r>
            <a:endParaRPr lang="en-US" altLang="zh-CN" sz="1800">
              <a:solidFill>
                <a:srgbClr val="0000FF"/>
              </a:solidFill>
              <a:latin typeface="Tahoma" panose="020B0604030504040204" pitchFamily="34" charset="0"/>
            </a:endParaRPr>
          </a:p>
        </p:txBody>
      </p:sp>
      <p:sp>
        <p:nvSpPr>
          <p:cNvPr id="47108" name="Text Box 8"/>
          <p:cNvSpPr txBox="1">
            <a:spLocks noChangeArrowheads="1"/>
          </p:cNvSpPr>
          <p:nvPr/>
        </p:nvSpPr>
        <p:spPr bwMode="auto">
          <a:xfrm>
            <a:off x="3635375" y="1916113"/>
            <a:ext cx="453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50000"/>
              </a:spcBef>
              <a:buClrTx/>
              <a:buSzTx/>
              <a:buFontTx/>
              <a:buNone/>
            </a:pPr>
            <a:r>
              <a:rPr lang="zh-CN" altLang="en-US" sz="2000">
                <a:solidFill>
                  <a:srgbClr val="FF3300"/>
                </a:solidFill>
                <a:latin typeface="Tahoma" panose="020B0604030504040204" pitchFamily="34" charset="0"/>
              </a:rPr>
              <a:t>创建一个结构类型，但只是一个空架子</a:t>
            </a:r>
            <a:endParaRPr lang="zh-CN" altLang="en-US" sz="2000">
              <a:solidFill>
                <a:srgbClr val="FF3300"/>
              </a:solidFill>
              <a:latin typeface="Tahoma" panose="020B060403050404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4813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 = install(tag, &amp;types, level, PERM);</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p-&gt;type = type(op, NULL, 0, 0, 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(p-&gt;scope &gt; maxlevel)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maxlevel = p-&gt;scope;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p-&gt;src = src;</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p-&gt;type;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49155"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Field newfield(char *name, Type ty, Type fty)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Field p, *q = &amp;ty-&gt;u.sym-&gt;u.s.flist;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(name == NULL)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name = stringd(genlabel(1));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(p = *q; p; q = &amp;p-&gt;link, p = *q)</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(p-&gt;name == name)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error("duplicate field name `%s' in `%t'\n",</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name, 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NEW0(p, PERM);</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*q = 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p-&gt;name = name;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p-&gt;type = fty;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50179"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(xref) {						/*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(ty-&gt;u.sym-&gt;u.s.ftab == NULL)		/*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ty-&gt;u.sym-&gt;u.s.ftab = table(NULL, level);/*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install(name, &amp;ty-&gt;u.sym-&gt;u.s.ftab, 0, PERM)-&gt;src = src;/*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 omit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a:t>结构和联合</a:t>
            </a:r>
            <a:endParaRPr lang="zh-CN" altLang="en-US"/>
          </a:p>
        </p:txBody>
      </p:sp>
      <p:sp>
        <p:nvSpPr>
          <p:cNvPr id="51203"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static Type structdcl(int op)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 = newstruct(op, tag);</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fields(ty);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static void fields(Type ty)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 = newfield(id, ty, fty);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en-US" altLang="zh-CN" sz="2000">
              <a:solidFill>
                <a:srgbClr val="0000FF"/>
              </a:solidFill>
              <a:latin typeface="Tahoma" panose="020B060403050404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222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int eqtype(Type ty1, Type ty2, int ret)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 == ty2)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(ty1-&gt;op != ty2-&gt;op)</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switch (ty1-&gt;op)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ENUM: case UNION: case STRUCT: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UNSIGNED: case INT: case FLOAT: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POINTER:  return eqtype(ty1-&gt;type, ty2-&gt;type,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VOLATILE: case CONST+VOLATILE: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CONST:    return eqtype(ty1-&gt;type, ty2-&gt;type, 1);</a:t>
            </a:r>
            <a:endParaRPr lang="en-US" altLang="zh-CN" sz="2000">
              <a:solidFill>
                <a:srgbClr val="0000FF"/>
              </a:solidFill>
              <a:latin typeface="Tahoma" panose="020B060403050404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325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ARRAY:    if (eqtype(ty1-&gt;type, ty2-&gt;type, 1))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(ty1-&gt;size == ty2-&gt;size)</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(ty1-&gt;size == 0 || ty2-&gt;size ==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ret;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4275"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FUNCTION: if (eqtype(ty1-&gt;type, ty2-&gt;type, 1))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*p1 = ty1-&gt;u.f.proto, *p2 = ty2-&gt;u.f.proto;</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p2)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&amp;&amp; p2)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 ; *p1 &amp;&amp; *p2; p1++, p2++)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(eqtype(unqual(*p1), unqual(*p2), 1) ==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NULL &amp;&amp; *p2 == NULL)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a:t>类型等价</a:t>
            </a:r>
            <a:endParaRPr lang="zh-CN" altLang="en-US"/>
          </a:p>
        </p:txBody>
      </p:sp>
      <p:sp>
        <p:nvSpPr>
          <p:cNvPr id="55299"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else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(variadic(p1 ? ty1 : ty2))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NULL)</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p1 = p2;</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 ; *p1; p1++)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ty = unqual(*p1);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(promote(ty) != (isenum(ty) ? ty-&gt;type : ty))</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assert(0); return 0;</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6323"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void typeCheck(TreeNode * syntaxTree)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r>
              <a:rPr lang="zh-CN" altLang="zh-CN" sz="2000">
                <a:solidFill>
                  <a:srgbClr val="0000FF"/>
                </a:solidFill>
                <a:latin typeface="Tahoma" panose="020B0604030504040204" pitchFamily="34" charset="0"/>
              </a:rPr>
              <a:t>traverse(syntaxTree,nullProc,checkNode);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static void traverse( TreeNode * t, void (* preProc) (TreeNode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void (* postProc) (TreeNode *)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 != NULL)</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preProc(t);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int i;</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for (i=0; i &lt; MAXCHILDREN; i++)</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traverse(t-&gt;child[i],preProc,postProc);</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postProc(t);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traverse(t-&gt;sibling,preProc,postProc);</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endParaRPr lang="zh-CN" altLang="zh-CN" sz="2000">
              <a:solidFill>
                <a:srgbClr val="0000FF"/>
              </a:solidFill>
              <a:latin typeface="Tahoma" panose="020B060403050404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734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static void checkNode(TreeNode * 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(t-&gt;nodekind)</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ExpK: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(t-&gt;kind.exp)</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OpK: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(t-&gt;child[1]-&gt;type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typeError(t,"Op applied to non-integer");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((t-&gt;attr.op == EQ) || (t-&gt;attr.op == 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Boolean;</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else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ConstK: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IdK: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837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StmtK: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(t-&gt;kind.stmt)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IfK: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typeError(t-&gt;child[0],"if test is not Boolean");</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AssignK: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typeError(t-&gt;child[0],"assignment of non-integer value");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zh-CN"/>
              <a:t>TinyC</a:t>
            </a:r>
            <a:r>
              <a:rPr lang="zh-CN" altLang="en-US"/>
              <a:t>的类型检查</a:t>
            </a:r>
            <a:endParaRPr lang="zh-CN" altLang="en-US"/>
          </a:p>
        </p:txBody>
      </p:sp>
      <p:sp>
        <p:nvSpPr>
          <p:cNvPr id="59395"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WriteK: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typeError(t-&gt;child[0],"write of non-integer value");</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RepeatK: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(t-&gt;child[1]-&gt;type == Integer)</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typeError(t-&gt;child[1],"repeat test is not Boolean");</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endParaRPr lang="zh-CN" altLang="zh-CN" sz="2000">
              <a:solidFill>
                <a:srgbClr val="0000FF"/>
              </a:solidFill>
              <a:latin typeface="Tahoma" panose="020B060403050404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a:t>6.5 </a:t>
            </a:r>
            <a:r>
              <a:rPr lang="zh-CN" altLang="en-US"/>
              <a:t>函数和操作符重载</a:t>
            </a:r>
            <a:endParaRPr lang="zh-CN" altLang="en-US"/>
          </a:p>
        </p:txBody>
      </p:sp>
      <p:sp>
        <p:nvSpPr>
          <p:cNvPr id="60419" name="Rectangle 3"/>
          <p:cNvSpPr>
            <a:spLocks noGrp="1" noChangeArrowheads="1"/>
          </p:cNvSpPr>
          <p:nvPr>
            <p:ph type="body" idx="1"/>
          </p:nvPr>
        </p:nvSpPr>
        <p:spPr/>
        <p:txBody>
          <a:bodyPr/>
          <a:lstStyle/>
          <a:p>
            <a:pPr eaLnBrk="1" hangingPunct="1"/>
            <a:r>
              <a:rPr lang="zh-CN" altLang="en-US" sz="2800"/>
              <a:t>重载（</a:t>
            </a:r>
            <a:r>
              <a:rPr lang="en-US" altLang="zh-CN" sz="2800">
                <a:solidFill>
                  <a:schemeClr val="hlink"/>
                </a:solidFill>
              </a:rPr>
              <a:t>overloaded</a:t>
            </a:r>
            <a:r>
              <a:rPr lang="zh-CN" altLang="en-US" sz="2800"/>
              <a:t>）符号：根据上下文，具有不同的意义</a:t>
            </a:r>
            <a:endParaRPr lang="zh-CN" altLang="en-US" sz="2800"/>
          </a:p>
          <a:p>
            <a:pPr lvl="1" eaLnBrk="1" hangingPunct="1"/>
            <a:r>
              <a:rPr lang="en-US" altLang="zh-CN" sz="2400"/>
              <a:t>+</a:t>
            </a:r>
            <a:r>
              <a:rPr lang="zh-CN" altLang="en-US" sz="2400"/>
              <a:t>：整型加法，浮点型加法</a:t>
            </a:r>
            <a:endParaRPr lang="zh-CN" altLang="en-US" sz="2400"/>
          </a:p>
          <a:p>
            <a:pPr lvl="1" eaLnBrk="1" hangingPunct="1"/>
            <a:r>
              <a:rPr lang="en-US" altLang="zh-CN" sz="2400"/>
              <a:t>A(I)</a:t>
            </a:r>
            <a:r>
              <a:rPr lang="zh-CN" altLang="en-US" sz="2400"/>
              <a:t>：数组</a:t>
            </a:r>
            <a:r>
              <a:rPr lang="en-US" altLang="zh-CN" sz="2400"/>
              <a:t>A</a:t>
            </a:r>
            <a:r>
              <a:rPr lang="zh-CN" altLang="en-US" sz="2400"/>
              <a:t>的第</a:t>
            </a:r>
            <a:r>
              <a:rPr lang="en-US" altLang="zh-CN" sz="2400"/>
              <a:t>I</a:t>
            </a:r>
            <a:r>
              <a:rPr lang="zh-CN" altLang="en-US" sz="2400"/>
              <a:t>个元素，以参数</a:t>
            </a:r>
            <a:r>
              <a:rPr lang="en-US" altLang="zh-CN" sz="2400"/>
              <a:t>I</a:t>
            </a:r>
            <a:r>
              <a:rPr lang="zh-CN" altLang="en-US" sz="2400"/>
              <a:t>调用</a:t>
            </a:r>
            <a:r>
              <a:rPr lang="en-US" altLang="zh-CN" sz="2400"/>
              <a:t>A</a:t>
            </a:r>
            <a:r>
              <a:rPr lang="zh-CN" altLang="en-US" sz="2400"/>
              <a:t>，将</a:t>
            </a:r>
            <a:r>
              <a:rPr lang="en-US" altLang="zh-CN" sz="2400"/>
              <a:t>I</a:t>
            </a:r>
            <a:r>
              <a:rPr lang="zh-CN" altLang="en-US" sz="2400"/>
              <a:t>转换为类型</a:t>
            </a:r>
            <a:r>
              <a:rPr lang="en-US" altLang="zh-CN" sz="2400"/>
              <a:t>A</a:t>
            </a:r>
            <a:r>
              <a:rPr lang="zh-CN" altLang="en-US" sz="2400"/>
              <a:t>的显式类型转换</a:t>
            </a:r>
            <a:endParaRPr lang="zh-CN" altLang="en-US" sz="2400"/>
          </a:p>
          <a:p>
            <a:pPr eaLnBrk="1" hangingPunct="1"/>
            <a:r>
              <a:rPr lang="zh-CN" altLang="en-US" sz="2800"/>
              <a:t>重载的解析（</a:t>
            </a:r>
            <a:r>
              <a:rPr lang="en-US" altLang="zh-CN" sz="2800">
                <a:solidFill>
                  <a:schemeClr val="hlink"/>
                </a:solidFill>
              </a:rPr>
              <a:t>resolved</a:t>
            </a:r>
            <a:r>
              <a:rPr lang="zh-CN" altLang="en-US" sz="2800"/>
              <a:t>）：在某个特定上下文，确定符号的唯一意义</a:t>
            </a:r>
            <a:endParaRPr lang="zh-CN" altLang="en-US" sz="2800"/>
          </a:p>
          <a:p>
            <a:pPr lvl="1" eaLnBrk="1" hangingPunct="1"/>
            <a:r>
              <a:rPr lang="en-US" altLang="zh-CN" sz="2400"/>
              <a:t>1+2</a:t>
            </a:r>
            <a:r>
              <a:rPr lang="zh-CN" altLang="en-US" sz="2400"/>
              <a:t>：</a:t>
            </a:r>
            <a:r>
              <a:rPr lang="en-US" altLang="zh-CN" sz="2400"/>
              <a:t>+</a:t>
            </a:r>
            <a:r>
              <a:rPr lang="zh-CN" altLang="en-US" sz="2400"/>
              <a:t>为整型加法</a:t>
            </a:r>
            <a:endParaRPr lang="zh-CN" altLang="en-US" sz="2400"/>
          </a:p>
          <a:p>
            <a:pPr lvl="1" eaLnBrk="1" hangingPunct="1"/>
            <a:r>
              <a:rPr lang="zh-CN" altLang="en-US" sz="2400"/>
              <a:t>运算符识别，</a:t>
            </a:r>
            <a:r>
              <a:rPr lang="en-US" altLang="zh-CN" sz="2400"/>
              <a:t>operator identification</a:t>
            </a:r>
            <a:endParaRPr lang="en-US" altLang="zh-CN"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zh-CN"/>
              <a:t>6.5.1  </a:t>
            </a:r>
            <a:r>
              <a:rPr lang="zh-CN" altLang="en-US"/>
              <a:t>子表达式可能类型集合</a:t>
            </a:r>
            <a:endParaRPr lang="zh-CN" altLang="en-US"/>
          </a:p>
        </p:txBody>
      </p:sp>
      <p:sp>
        <p:nvSpPr>
          <p:cNvPr id="61443" name="Rectangle 3"/>
          <p:cNvSpPr>
            <a:spLocks noGrp="1" noChangeArrowheads="1"/>
          </p:cNvSpPr>
          <p:nvPr>
            <p:ph type="body" idx="1"/>
          </p:nvPr>
        </p:nvSpPr>
        <p:spPr>
          <a:xfrm>
            <a:off x="1182688" y="1371600"/>
            <a:ext cx="7772400" cy="5486400"/>
          </a:xfrm>
        </p:spPr>
        <p:txBody>
          <a:bodyPr/>
          <a:lstStyle/>
          <a:p>
            <a:pPr eaLnBrk="1" hangingPunct="1"/>
            <a:r>
              <a:rPr lang="zh-CN" altLang="en-US" sz="3600"/>
              <a:t>例</a:t>
            </a:r>
            <a:r>
              <a:rPr lang="en-US" altLang="zh-CN" sz="3600"/>
              <a:t>6.6</a:t>
            </a:r>
            <a:endParaRPr lang="en-US" altLang="zh-CN" sz="3600"/>
          </a:p>
          <a:p>
            <a:pPr eaLnBrk="1" hangingPunct="1"/>
            <a:r>
              <a:rPr lang="en-US" altLang="zh-CN" sz="2800"/>
              <a:t>Ada</a:t>
            </a:r>
            <a:r>
              <a:rPr lang="zh-CN" altLang="en-US" sz="2800"/>
              <a:t>允许对乘法运算符“*”进行重载</a:t>
            </a:r>
            <a:endParaRPr lang="zh-CN" altLang="en-US" sz="2800"/>
          </a:p>
          <a:p>
            <a:pPr lvl="1" eaLnBrk="1" hangingPunct="1"/>
            <a:r>
              <a:rPr lang="en-US" altLang="zh-CN" sz="2400"/>
              <a:t>function “*” (i, j : integer) return complex;</a:t>
            </a:r>
            <a:endParaRPr lang="en-US" altLang="zh-CN" sz="2400"/>
          </a:p>
          <a:p>
            <a:pPr lvl="1" eaLnBrk="1" hangingPunct="1"/>
            <a:r>
              <a:rPr lang="en-US" altLang="zh-CN" sz="2400"/>
              <a:t>function “*” (x, y : complex) return complex;</a:t>
            </a:r>
            <a:endParaRPr lang="en-US" altLang="zh-CN" sz="2400"/>
          </a:p>
          <a:p>
            <a:pPr eaLnBrk="1" hangingPunct="1"/>
            <a:r>
              <a:rPr lang="en-US" altLang="zh-CN" sz="2800"/>
              <a:t>*</a:t>
            </a:r>
            <a:r>
              <a:rPr lang="zh-CN" altLang="en-US" sz="2800"/>
              <a:t>具有三种可能类型</a:t>
            </a:r>
            <a:endParaRPr lang="zh-CN" altLang="en-US" sz="2800"/>
          </a:p>
          <a:p>
            <a:pPr lvl="1" eaLnBrk="1" hangingPunct="1"/>
            <a:r>
              <a:rPr lang="en-US" altLang="zh-CN" sz="2400" i="1"/>
              <a:t>integer</a:t>
            </a:r>
            <a:r>
              <a:rPr lang="en-US" altLang="zh-CN" sz="2400"/>
              <a:t> × </a:t>
            </a:r>
            <a:r>
              <a:rPr lang="en-US" altLang="zh-CN" sz="2400" i="1"/>
              <a:t>integer</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integer</a:t>
            </a:r>
            <a:endParaRPr kumimoji="0" lang="en-US" altLang="zh-CN" sz="2400" i="1">
              <a:sym typeface="Symbol" panose="05050102010706020507" pitchFamily="18" charset="2"/>
            </a:endParaRPr>
          </a:p>
          <a:p>
            <a:pPr lvl="1" eaLnBrk="1" hangingPunct="1"/>
            <a:r>
              <a:rPr lang="en-US" altLang="zh-CN" sz="2400" i="1"/>
              <a:t>integer</a:t>
            </a:r>
            <a:r>
              <a:rPr lang="en-US" altLang="zh-CN" sz="2400"/>
              <a:t> × </a:t>
            </a:r>
            <a:r>
              <a:rPr lang="en-US" altLang="zh-CN" sz="2400" i="1"/>
              <a:t>integer</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complex</a:t>
            </a:r>
            <a:endParaRPr kumimoji="0" lang="en-US" altLang="zh-CN" sz="2400" i="1">
              <a:sym typeface="Symbol" panose="05050102010706020507" pitchFamily="18" charset="2"/>
            </a:endParaRPr>
          </a:p>
          <a:p>
            <a:pPr lvl="1" eaLnBrk="1" hangingPunct="1"/>
            <a:r>
              <a:rPr kumimoji="0" lang="en-US" altLang="zh-CN" sz="2400" i="1">
                <a:sym typeface="Symbol" panose="05050102010706020507" pitchFamily="18" charset="2"/>
              </a:rPr>
              <a:t>complex</a:t>
            </a:r>
            <a:r>
              <a:rPr lang="en-US" altLang="zh-CN" sz="2400"/>
              <a:t> × </a:t>
            </a:r>
            <a:r>
              <a:rPr kumimoji="0" lang="en-US" altLang="zh-CN" sz="2400" i="1">
                <a:sym typeface="Symbol" panose="05050102010706020507" pitchFamily="18" charset="2"/>
              </a:rPr>
              <a:t>complex</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complex</a:t>
            </a:r>
            <a:endParaRPr kumimoji="0" lang="en-US" altLang="zh-CN" sz="2400" i="1">
              <a:sym typeface="Symbol" panose="05050102010706020507" pitchFamily="18" charset="2"/>
            </a:endParaRPr>
          </a:p>
          <a:p>
            <a:pPr lvl="1" eaLnBrk="1" hangingPunct="1"/>
            <a:r>
              <a:rPr kumimoji="0" lang="en-US" altLang="zh-CN" sz="2400">
                <a:sym typeface="Symbol" panose="05050102010706020507" pitchFamily="18" charset="2"/>
              </a:rPr>
              <a:t>2*(3*5)</a:t>
            </a:r>
            <a:r>
              <a:rPr kumimoji="0" lang="en-US" altLang="zh-CN" sz="2400">
                <a:sym typeface="Wingdings" panose="05000000000000000000" pitchFamily="2" charset="2"/>
              </a:rPr>
              <a:t></a:t>
            </a:r>
            <a:r>
              <a:rPr kumimoji="0" lang="en-US" altLang="zh-CN" sz="2400">
                <a:sym typeface="Symbol" panose="05050102010706020507" pitchFamily="18" charset="2"/>
              </a:rPr>
              <a:t>3*5——</a:t>
            </a:r>
            <a:r>
              <a:rPr kumimoji="0" lang="zh-CN" altLang="en-US" sz="2400">
                <a:sym typeface="Symbol" panose="05050102010706020507" pitchFamily="18" charset="2"/>
              </a:rPr>
              <a:t>类型</a:t>
            </a:r>
            <a:r>
              <a:rPr kumimoji="0" lang="en-US" altLang="zh-CN" sz="2400">
                <a:sym typeface="Symbol" panose="05050102010706020507" pitchFamily="18" charset="2"/>
              </a:rPr>
              <a:t>1</a:t>
            </a:r>
            <a:endParaRPr kumimoji="0" lang="en-US" altLang="zh-CN" sz="2400">
              <a:sym typeface="Symbol" panose="05050102010706020507" pitchFamily="18" charset="2"/>
            </a:endParaRPr>
          </a:p>
          <a:p>
            <a:pPr lvl="1" eaLnBrk="1" hangingPunct="1"/>
            <a:r>
              <a:rPr kumimoji="0" lang="en-US" altLang="zh-CN" sz="2400">
                <a:sym typeface="Symbol" panose="05050102010706020507" pitchFamily="18" charset="2"/>
              </a:rPr>
              <a:t>z*(3*5)</a:t>
            </a:r>
            <a:r>
              <a:rPr kumimoji="0" lang="zh-CN" altLang="en-US" sz="2400">
                <a:sym typeface="Symbol" panose="05050102010706020507" pitchFamily="18" charset="2"/>
              </a:rPr>
              <a:t>，</a:t>
            </a:r>
            <a:r>
              <a:rPr kumimoji="0" lang="en-US" altLang="zh-CN" sz="2400">
                <a:sym typeface="Symbol" panose="05050102010706020507" pitchFamily="18" charset="2"/>
              </a:rPr>
              <a:t>z</a:t>
            </a:r>
            <a:r>
              <a:rPr kumimoji="0" lang="zh-CN" altLang="en-US" sz="2400">
                <a:sym typeface="Symbol" panose="05050102010706020507" pitchFamily="18" charset="2"/>
              </a:rPr>
              <a:t>为复数类型</a:t>
            </a:r>
            <a:r>
              <a:rPr kumimoji="0" lang="zh-CN" altLang="en-US" sz="2400">
                <a:sym typeface="Wingdings" panose="05000000000000000000" pitchFamily="2" charset="2"/>
              </a:rPr>
              <a:t></a:t>
            </a:r>
            <a:r>
              <a:rPr kumimoji="0" lang="en-US" altLang="zh-CN" sz="2400">
                <a:sym typeface="Wingdings" panose="05000000000000000000" pitchFamily="2" charset="2"/>
              </a:rPr>
              <a:t>3*5——</a:t>
            </a:r>
            <a:r>
              <a:rPr kumimoji="0" lang="zh-CN" altLang="en-US" sz="2400">
                <a:sym typeface="Wingdings" panose="05000000000000000000" pitchFamily="2" charset="2"/>
              </a:rPr>
              <a:t>类型</a:t>
            </a:r>
            <a:r>
              <a:rPr kumimoji="0" lang="en-US" altLang="zh-CN" sz="2400">
                <a:sym typeface="Wingdings" panose="05000000000000000000" pitchFamily="2" charset="2"/>
              </a:rPr>
              <a:t>2</a:t>
            </a:r>
            <a:endParaRPr kumimoji="0" lang="en-US" altLang="zh-CN" sz="2400">
              <a:sym typeface="Wingdings" panose="05000000000000000000" pitchFamily="2" charset="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a:t>可能类型集合情况的处理</a:t>
            </a:r>
            <a:endParaRPr lang="zh-CN" altLang="en-US"/>
          </a:p>
        </p:txBody>
      </p:sp>
      <p:sp>
        <p:nvSpPr>
          <p:cNvPr id="6246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sym typeface="Symbol" panose="05050102010706020507" pitchFamily="18" charset="2"/>
              </a:rPr>
              <a:t>E  </a:t>
            </a:r>
            <a:r>
              <a:rPr lang="en-US" altLang="zh-CN" b="1">
                <a:solidFill>
                  <a:schemeClr val="accent2"/>
                </a:solidFill>
                <a:sym typeface="Symbol" panose="05050102010706020507" pitchFamily="18" charset="2"/>
              </a:rPr>
              <a:t>id</a:t>
            </a:r>
            <a:r>
              <a:rPr lang="en-US" altLang="zh-CN">
                <a:solidFill>
                  <a:schemeClr val="accent2"/>
                </a:solidFill>
                <a:sym typeface="Symbol" panose="05050102010706020507" pitchFamily="18" charset="2"/>
              </a:rPr>
              <a:t> 		</a:t>
            </a:r>
            <a:r>
              <a:rPr lang="en-US" altLang="zh-CN">
                <a:sym typeface="Symbol" panose="05050102010706020507" pitchFamily="18" charset="2"/>
              </a:rPr>
              <a:t>E.</a:t>
            </a:r>
            <a:r>
              <a:rPr lang="en-US" altLang="zh-CN" i="1">
                <a:sym typeface="Symbol" panose="05050102010706020507" pitchFamily="18" charset="2"/>
              </a:rPr>
              <a:t>types</a:t>
            </a:r>
            <a:r>
              <a:rPr lang="en-US" altLang="zh-CN">
                <a:sym typeface="Symbol" panose="05050102010706020507" pitchFamily="18" charset="2"/>
              </a:rPr>
              <a:t> = </a:t>
            </a:r>
            <a:r>
              <a:rPr lang="en-US" altLang="zh-CN" i="1">
                <a:sym typeface="Symbol" panose="05050102010706020507" pitchFamily="18" charset="2"/>
              </a:rPr>
              <a:t>lookup</a:t>
            </a:r>
            <a:r>
              <a:rPr lang="en-US" altLang="zh-CN">
                <a:sym typeface="Symbol" panose="05050102010706020507" pitchFamily="18" charset="2"/>
              </a:rPr>
              <a:t>(</a:t>
            </a:r>
            <a:r>
              <a:rPr lang="en-US" altLang="zh-CN" b="1">
                <a:solidFill>
                  <a:schemeClr val="accent2"/>
                </a:solidFill>
                <a:sym typeface="Symbol" panose="05050102010706020507" pitchFamily="18" charset="2"/>
              </a:rPr>
              <a:t>id</a:t>
            </a:r>
            <a:r>
              <a:rPr lang="en-US" altLang="zh-CN">
                <a:sym typeface="Symbol" panose="05050102010706020507" pitchFamily="18" charset="2"/>
              </a:rPr>
              <a:t>.</a:t>
            </a:r>
            <a:r>
              <a:rPr lang="en-US" altLang="zh-CN" i="1">
                <a:sym typeface="Symbol" panose="05050102010706020507" pitchFamily="18" charset="2"/>
              </a:rPr>
              <a:t>entry</a:t>
            </a:r>
            <a:r>
              <a:rPr lang="en-US" altLang="zh-CN">
                <a:sym typeface="Symbol" panose="05050102010706020507" pitchFamily="18" charset="2"/>
              </a:rPr>
              <a:t>)</a:t>
            </a:r>
            <a:endParaRPr lang="en-US" altLang="zh-CN"/>
          </a:p>
          <a:p>
            <a:pPr eaLnBrk="1" hangingPunct="1">
              <a:buFont typeface="Wingdings" panose="05000000000000000000" pitchFamily="2" charset="2"/>
              <a:buNone/>
            </a:pPr>
            <a:r>
              <a:rPr lang="en-US" altLang="zh-CN">
                <a:sym typeface="Symbol" panose="05050102010706020507" pitchFamily="18" charset="2"/>
              </a:rPr>
              <a:t>E  E</a:t>
            </a:r>
            <a:r>
              <a:rPr lang="en-US" altLang="zh-CN" baseline="-25000">
                <a:sym typeface="Symbol" panose="05050102010706020507" pitchFamily="18" charset="2"/>
              </a:rPr>
              <a:t>1</a:t>
            </a:r>
            <a:r>
              <a:rPr lang="en-US" altLang="zh-CN">
                <a:solidFill>
                  <a:schemeClr val="accent2"/>
                </a:solidFill>
                <a:sym typeface="Symbol" panose="05050102010706020507" pitchFamily="18" charset="2"/>
              </a:rPr>
              <a:t>(</a:t>
            </a:r>
            <a:r>
              <a:rPr lang="en-US" altLang="zh-CN">
                <a:sym typeface="Symbol" panose="05050102010706020507" pitchFamily="18" charset="2"/>
              </a:rPr>
              <a:t>E</a:t>
            </a:r>
            <a:r>
              <a:rPr lang="en-US" altLang="zh-CN" baseline="-25000">
                <a:sym typeface="Symbol" panose="05050102010706020507" pitchFamily="18" charset="2"/>
              </a:rPr>
              <a:t>2</a:t>
            </a:r>
            <a:r>
              <a:rPr lang="en-US" altLang="zh-CN">
                <a:solidFill>
                  <a:schemeClr val="accent2"/>
                </a:solidFill>
                <a:sym typeface="Symbol" panose="05050102010706020507" pitchFamily="18" charset="2"/>
              </a:rPr>
              <a:t>) 	</a:t>
            </a:r>
            <a:r>
              <a:rPr lang="en-US" altLang="zh-CN">
                <a:sym typeface="Symbol" panose="05050102010706020507" pitchFamily="18" charset="2"/>
              </a:rPr>
              <a:t>E.</a:t>
            </a:r>
            <a:r>
              <a:rPr lang="en-US" altLang="zh-CN" i="1">
                <a:sym typeface="Symbol" panose="05050102010706020507" pitchFamily="18" charset="2"/>
              </a:rPr>
              <a:t>types</a:t>
            </a:r>
            <a:r>
              <a:rPr lang="en-US" altLang="zh-CN">
                <a:sym typeface="Symbol" panose="05050102010706020507" pitchFamily="18" charset="2"/>
              </a:rPr>
              <a:t> = { t | E</a:t>
            </a:r>
            <a:r>
              <a:rPr lang="en-US" altLang="zh-CN" baseline="-25000">
                <a:sym typeface="Symbol" panose="05050102010706020507" pitchFamily="18" charset="2"/>
              </a:rPr>
              <a:t>2</a:t>
            </a:r>
            <a:r>
              <a:rPr lang="en-US" altLang="zh-CN">
                <a:sym typeface="Symbol" panose="05050102010706020507" pitchFamily="18" charset="2"/>
              </a:rPr>
              <a:t>.</a:t>
            </a:r>
            <a:r>
              <a:rPr lang="en-US" altLang="zh-CN" i="1">
                <a:sym typeface="Symbol" panose="05050102010706020507" pitchFamily="18" charset="2"/>
              </a:rPr>
              <a:t>types</a:t>
            </a:r>
            <a:r>
              <a:rPr lang="zh-CN" altLang="en-US">
                <a:sym typeface="Symbol" panose="05050102010706020507" pitchFamily="18" charset="2"/>
              </a:rPr>
              <a:t>中</a:t>
            </a:r>
            <a:br>
              <a:rPr lang="zh-CN" altLang="en-US">
                <a:sym typeface="Symbol" panose="05050102010706020507" pitchFamily="18" charset="2"/>
              </a:rPr>
            </a:br>
            <a:r>
              <a:rPr lang="zh-CN" altLang="en-US">
                <a:sym typeface="Symbol" panose="05050102010706020507" pitchFamily="18" charset="2"/>
              </a:rPr>
              <a:t>			  存在</a:t>
            </a:r>
            <a:r>
              <a:rPr lang="en-US" altLang="zh-CN">
                <a:sym typeface="Symbol" panose="05050102010706020507" pitchFamily="18" charset="2"/>
              </a:rPr>
              <a:t>s</a:t>
            </a:r>
            <a:r>
              <a:rPr lang="zh-CN" altLang="en-US">
                <a:sym typeface="Symbol" panose="05050102010706020507" pitchFamily="18" charset="2"/>
              </a:rPr>
              <a:t>使得</a:t>
            </a:r>
            <a:r>
              <a:rPr lang="en-US" altLang="zh-CN">
                <a:sym typeface="Symbol" panose="05050102010706020507" pitchFamily="18" charset="2"/>
              </a:rPr>
              <a:t>s</a:t>
            </a:r>
            <a:r>
              <a:rPr lang="en-US" altLang="zh-CN" i="1">
                <a:sym typeface="Symbol" panose="05050102010706020507" pitchFamily="18" charset="2"/>
              </a:rPr>
              <a:t>t</a:t>
            </a:r>
            <a:r>
              <a:rPr lang="zh-CN" altLang="en-US">
                <a:sym typeface="Symbol" panose="05050102010706020507" pitchFamily="18" charset="2"/>
              </a:rPr>
              <a:t>属于</a:t>
            </a:r>
            <a:br>
              <a:rPr lang="zh-CN" altLang="en-US">
                <a:sym typeface="Symbol" panose="05050102010706020507" pitchFamily="18" charset="2"/>
              </a:rPr>
            </a:br>
            <a:r>
              <a:rPr lang="zh-CN" altLang="en-US">
                <a:sym typeface="Symbol" panose="05050102010706020507" pitchFamily="18" charset="2"/>
              </a:rPr>
              <a:t>			   </a:t>
            </a:r>
            <a:r>
              <a:rPr lang="en-US" altLang="zh-CN">
                <a:sym typeface="Symbol" panose="05050102010706020507" pitchFamily="18" charset="2"/>
              </a:rPr>
              <a:t>E</a:t>
            </a:r>
            <a:r>
              <a:rPr lang="en-US" altLang="zh-CN" baseline="-25000">
                <a:sym typeface="Symbol" panose="05050102010706020507" pitchFamily="18" charset="2"/>
              </a:rPr>
              <a:t>1</a:t>
            </a:r>
            <a:r>
              <a:rPr lang="en-US" altLang="zh-CN">
                <a:sym typeface="Symbol" panose="05050102010706020507" pitchFamily="18" charset="2"/>
              </a:rPr>
              <a:t>.</a:t>
            </a:r>
            <a:r>
              <a:rPr lang="en-US" altLang="zh-CN" i="1">
                <a:sym typeface="Symbol" panose="05050102010706020507" pitchFamily="18" charset="2"/>
              </a:rPr>
              <a:t>types</a:t>
            </a:r>
            <a:r>
              <a:rPr lang="en-US" altLang="zh-CN">
                <a:sym typeface="Symbol" panose="05050102010706020507" pitchFamily="18" charset="2"/>
              </a:rPr>
              <a:t> }</a:t>
            </a:r>
            <a:endParaRPr lang="en-US" altLang="zh-CN"/>
          </a:p>
          <a:p>
            <a:pPr eaLnBrk="1" hangingPunct="1"/>
            <a:r>
              <a:rPr lang="zh-CN" altLang="en-US"/>
              <a:t>单一类型运算</a:t>
            </a:r>
            <a:r>
              <a:rPr lang="zh-CN" altLang="en-US">
                <a:sym typeface="Wingdings" panose="05000000000000000000" pitchFamily="2" charset="2"/>
              </a:rPr>
              <a:t>类型集合运算</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a:t>例</a:t>
            </a:r>
            <a:r>
              <a:rPr lang="en-US" altLang="zh-CN"/>
              <a:t>6.7</a:t>
            </a:r>
            <a:endParaRPr lang="en-US" altLang="zh-CN"/>
          </a:p>
        </p:txBody>
      </p:sp>
      <p:pic>
        <p:nvPicPr>
          <p:cNvPr id="63491" name="Picture 4" descr="overloa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04913" y="1446213"/>
            <a:ext cx="6732587"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zh-CN"/>
              <a:t>6.5.2  </a:t>
            </a:r>
            <a:r>
              <a:rPr lang="zh-CN" altLang="en-US"/>
              <a:t>确定唯一类型</a:t>
            </a:r>
            <a:endParaRPr lang="zh-CN" altLang="en-US"/>
          </a:p>
        </p:txBody>
      </p:sp>
      <p:sp>
        <p:nvSpPr>
          <p:cNvPr id="64515" name="Rectangle 3"/>
          <p:cNvSpPr>
            <a:spLocks noGrp="1" noChangeArrowheads="1"/>
          </p:cNvSpPr>
          <p:nvPr>
            <p:ph type="body" idx="1"/>
          </p:nvPr>
        </p:nvSpPr>
        <p:spPr/>
        <p:txBody>
          <a:bodyPr/>
          <a:lstStyle/>
          <a:p>
            <a:pPr eaLnBrk="1" hangingPunct="1"/>
            <a:r>
              <a:rPr lang="zh-CN" altLang="en-US" sz="2800" dirty="0"/>
              <a:t>完整表达式须有唯一类型</a:t>
            </a:r>
            <a:r>
              <a:rPr lang="zh-CN" altLang="en-US" sz="2800" dirty="0">
                <a:sym typeface="Wingdings" panose="05000000000000000000" pitchFamily="2" charset="2"/>
              </a:rPr>
              <a:t>确定每个子表达式的唯一类型，或</a:t>
            </a:r>
            <a:r>
              <a:rPr lang="en-US" altLang="zh-CN" sz="2800" dirty="0" err="1">
                <a:sym typeface="Wingdings" panose="05000000000000000000" pitchFamily="2" charset="2"/>
              </a:rPr>
              <a:t>type_error</a:t>
            </a:r>
            <a:endParaRPr lang="en-US" altLang="zh-CN" sz="2800" dirty="0">
              <a:sym typeface="Wingdings" panose="05000000000000000000" pitchFamily="2" charset="2"/>
            </a:endParaRPr>
          </a:p>
          <a:p>
            <a:pPr eaLnBrk="1" hangingPunct="1"/>
            <a:r>
              <a:rPr lang="zh-CN" altLang="en-US" sz="2800" dirty="0">
                <a:sym typeface="Wingdings" panose="05000000000000000000" pitchFamily="2" charset="2"/>
              </a:rPr>
              <a:t>自顶向下（之前的类型集合计算自底向上）</a:t>
            </a:r>
            <a:endParaRPr lang="zh-CN" altLang="en-US" sz="2800" dirty="0">
              <a:sym typeface="Wingdings" panose="05000000000000000000" pitchFamily="2" charset="2"/>
            </a:endParaRPr>
          </a:p>
          <a:p>
            <a:pPr eaLnBrk="1" hangingPunct="1"/>
            <a:r>
              <a:rPr lang="en-US" altLang="zh-CN" sz="2800" dirty="0" err="1">
                <a:sym typeface="Wingdings" panose="05000000000000000000" pitchFamily="2" charset="2"/>
              </a:rPr>
              <a:t>E.types</a:t>
            </a:r>
            <a:r>
              <a:rPr lang="zh-CN" altLang="en-US" sz="2800" dirty="0">
                <a:sym typeface="Wingdings" panose="05000000000000000000" pitchFamily="2" charset="2"/>
              </a:rPr>
              <a:t>中每个类型</a:t>
            </a:r>
            <a:r>
              <a:rPr lang="en-US" altLang="zh-CN" sz="2800" dirty="0">
                <a:sym typeface="Wingdings" panose="05000000000000000000" pitchFamily="2" charset="2"/>
              </a:rPr>
              <a:t>t</a:t>
            </a:r>
            <a:r>
              <a:rPr lang="zh-CN" altLang="en-US" sz="2800" dirty="0">
                <a:sym typeface="Wingdings" panose="05000000000000000000" pitchFamily="2" charset="2"/>
              </a:rPr>
              <a:t>均为可行（</a:t>
            </a:r>
            <a:r>
              <a:rPr lang="en-US" altLang="zh-CN" sz="2800" dirty="0">
                <a:solidFill>
                  <a:schemeClr val="hlink"/>
                </a:solidFill>
                <a:sym typeface="Wingdings" panose="05000000000000000000" pitchFamily="2" charset="2"/>
              </a:rPr>
              <a:t>feasible</a:t>
            </a:r>
            <a:r>
              <a:rPr lang="zh-CN" altLang="en-US" sz="2800" dirty="0">
                <a:sym typeface="Wingdings" panose="05000000000000000000" pitchFamily="2" charset="2"/>
              </a:rPr>
              <a:t>）类型</a:t>
            </a:r>
            <a:br>
              <a:rPr lang="en-US" altLang="zh-CN" sz="2800" dirty="0">
                <a:sym typeface="Wingdings" panose="05000000000000000000" pitchFamily="2" charset="2"/>
              </a:rPr>
            </a:br>
            <a:r>
              <a:rPr lang="en-US" altLang="zh-CN" sz="2800" dirty="0">
                <a:sym typeface="Wingdings" panose="05000000000000000000" pitchFamily="2" charset="2"/>
              </a:rPr>
              <a:t>——</a:t>
            </a:r>
            <a:r>
              <a:rPr lang="zh-CN" altLang="en-US" sz="2800" dirty="0">
                <a:sym typeface="Wingdings" panose="05000000000000000000" pitchFamily="2" charset="2"/>
              </a:rPr>
              <a:t>确定</a:t>
            </a:r>
            <a:r>
              <a:rPr lang="en-US" altLang="zh-CN" sz="2800" dirty="0">
                <a:sym typeface="Wingdings" panose="05000000000000000000" pitchFamily="2" charset="2"/>
              </a:rPr>
              <a:t>E</a:t>
            </a:r>
            <a:r>
              <a:rPr lang="zh-CN" altLang="en-US" sz="2800" dirty="0">
                <a:sym typeface="Wingdings" panose="05000000000000000000" pitchFamily="2" charset="2"/>
              </a:rPr>
              <a:t>中重载标识符的类型，某种情况下，</a:t>
            </a:r>
            <a:r>
              <a:rPr lang="en-US" altLang="zh-CN" sz="2800" dirty="0">
                <a:sym typeface="Wingdings" panose="05000000000000000000" pitchFamily="2" charset="2"/>
              </a:rPr>
              <a:t>E</a:t>
            </a:r>
            <a:r>
              <a:rPr lang="zh-CN" altLang="en-US" sz="2800" dirty="0">
                <a:sym typeface="Wingdings" panose="05000000000000000000" pitchFamily="2" charset="2"/>
              </a:rPr>
              <a:t>的类型为</a:t>
            </a:r>
            <a:r>
              <a:rPr lang="en-US" altLang="zh-CN" sz="2800" dirty="0">
                <a:sym typeface="Wingdings" panose="05000000000000000000" pitchFamily="2" charset="2"/>
              </a:rPr>
              <a:t>t</a:t>
            </a:r>
            <a:endParaRPr lang="en-US" altLang="zh-CN" sz="2800" dirty="0">
              <a:sym typeface="Wingdings" panose="05000000000000000000" pitchFamily="2" charset="2"/>
            </a:endParaRPr>
          </a:p>
          <a:p>
            <a:pPr lvl="1" eaLnBrk="1" hangingPunct="1"/>
            <a:r>
              <a:rPr lang="zh-CN" altLang="en-US" sz="2400" dirty="0"/>
              <a:t>对标识符成立，</a:t>
            </a:r>
            <a:r>
              <a:rPr lang="en-US" altLang="zh-CN" sz="2400" dirty="0" err="1"/>
              <a:t>id.types</a:t>
            </a:r>
            <a:r>
              <a:rPr lang="zh-CN" altLang="en-US" sz="2400" dirty="0"/>
              <a:t>中类型均可行</a:t>
            </a:r>
            <a:endParaRPr lang="zh-CN" altLang="en-US" sz="2400" dirty="0"/>
          </a:p>
          <a:p>
            <a:pPr lvl="1" eaLnBrk="1" hangingPunct="1"/>
            <a:r>
              <a:rPr lang="zh-CN" altLang="en-US" sz="2400" dirty="0"/>
              <a:t>归纳法：</a:t>
            </a:r>
            <a:r>
              <a:rPr lang="en-US" altLang="zh-CN" sz="2400" dirty="0"/>
              <a:t>E</a:t>
            </a:r>
            <a:r>
              <a:rPr lang="zh-CN" altLang="en-US" sz="2400" dirty="0"/>
              <a:t>为</a:t>
            </a:r>
            <a:r>
              <a:rPr lang="en-US" altLang="zh-CN" sz="2400" dirty="0"/>
              <a:t>E</a:t>
            </a:r>
            <a:r>
              <a:rPr lang="en-US" altLang="zh-CN" sz="2400" baseline="-25000" dirty="0"/>
              <a:t>1</a:t>
            </a:r>
            <a:r>
              <a:rPr lang="en-US" altLang="zh-CN" sz="2400" dirty="0"/>
              <a:t>(E</a:t>
            </a:r>
            <a:r>
              <a:rPr lang="en-US" altLang="zh-CN" sz="2400" baseline="-25000" dirty="0"/>
              <a:t>2</a:t>
            </a:r>
            <a:r>
              <a:rPr lang="en-US" altLang="zh-CN" sz="2400" dirty="0"/>
              <a:t>)</a:t>
            </a:r>
            <a:r>
              <a:rPr lang="zh-CN" altLang="en-US" sz="2400" dirty="0"/>
              <a:t>，</a:t>
            </a:r>
            <a:r>
              <a:rPr lang="en-US" altLang="zh-CN" sz="2400" dirty="0"/>
              <a:t>s</a:t>
            </a:r>
            <a:r>
              <a:rPr lang="zh-CN" altLang="en-US" sz="2400" dirty="0"/>
              <a:t>为</a:t>
            </a:r>
            <a:r>
              <a:rPr lang="en-US" altLang="zh-CN" sz="2400" dirty="0"/>
              <a:t>E</a:t>
            </a:r>
            <a:r>
              <a:rPr lang="en-US" altLang="zh-CN" sz="2400" baseline="-25000" dirty="0"/>
              <a:t>2</a:t>
            </a:r>
            <a:r>
              <a:rPr lang="zh-CN" altLang="en-US" sz="2400" dirty="0"/>
              <a:t>可行类型，</a:t>
            </a:r>
            <a:r>
              <a:rPr lang="en-US" altLang="zh-CN" sz="2400" dirty="0" err="1">
                <a:sym typeface="Symbol" panose="05050102010706020507" pitchFamily="18" charset="2"/>
              </a:rPr>
              <a:t>s</a:t>
            </a:r>
            <a:r>
              <a:rPr lang="en-US" altLang="zh-CN" sz="2400" i="1" dirty="0" err="1">
                <a:sym typeface="Symbol" panose="05050102010706020507" pitchFamily="18" charset="2"/>
              </a:rPr>
              <a:t>t</a:t>
            </a:r>
            <a:r>
              <a:rPr lang="zh-CN" altLang="en-US" sz="2400" dirty="0">
                <a:sym typeface="Symbol" panose="05050102010706020507" pitchFamily="18" charset="2"/>
              </a:rPr>
              <a:t>为</a:t>
            </a:r>
            <a:r>
              <a:rPr lang="en-US" altLang="zh-CN" sz="2400" dirty="0">
                <a:sym typeface="Symbol" panose="05050102010706020507" pitchFamily="18" charset="2"/>
              </a:rPr>
              <a:t>E</a:t>
            </a:r>
            <a:r>
              <a:rPr lang="en-US" altLang="zh-CN" sz="2400" baseline="-25000" dirty="0">
                <a:sym typeface="Symbol" panose="05050102010706020507" pitchFamily="18" charset="2"/>
              </a:rPr>
              <a:t>1</a:t>
            </a:r>
            <a:r>
              <a:rPr lang="zh-CN" altLang="en-US" sz="2400" dirty="0">
                <a:sym typeface="Symbol" panose="05050102010706020507" pitchFamily="18" charset="2"/>
              </a:rPr>
              <a:t>可行类型，因此</a:t>
            </a:r>
            <a:r>
              <a:rPr lang="en-US" altLang="zh-CN" sz="2400" dirty="0">
                <a:sym typeface="Symbol" panose="05050102010706020507" pitchFamily="18" charset="2"/>
              </a:rPr>
              <a:t>t</a:t>
            </a:r>
            <a:r>
              <a:rPr lang="zh-CN" altLang="en-US" sz="2400" dirty="0">
                <a:sym typeface="Symbol" panose="05050102010706020507" pitchFamily="18" charset="2"/>
              </a:rPr>
              <a:t>为</a:t>
            </a:r>
            <a:r>
              <a:rPr lang="en-US" altLang="zh-CN" sz="2400" dirty="0">
                <a:sym typeface="Symbol" panose="05050102010706020507" pitchFamily="18" charset="2"/>
              </a:rPr>
              <a:t>E</a:t>
            </a:r>
            <a:r>
              <a:rPr lang="zh-CN" altLang="en-US" sz="2400" dirty="0">
                <a:sym typeface="Symbol" panose="05050102010706020507" pitchFamily="18" charset="2"/>
              </a:rPr>
              <a:t>可行类型</a:t>
            </a:r>
            <a:endParaRPr lang="zh-CN" altLang="en-US" sz="2400" i="1" dirty="0">
              <a:sym typeface="Symbol" panose="05050102010706020507" pitchFamily="18" charset="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a:t>确定唯一类型的语义规则</a:t>
            </a:r>
            <a:endParaRPr lang="zh-CN" altLang="en-US"/>
          </a:p>
        </p:txBody>
      </p:sp>
      <p:sp>
        <p:nvSpPr>
          <p:cNvPr id="65539" name="Rectangle 3"/>
          <p:cNvSpPr>
            <a:spLocks noGrp="1" noChangeArrowheads="1"/>
          </p:cNvSpPr>
          <p:nvPr>
            <p:ph type="body" idx="1"/>
          </p:nvPr>
        </p:nvSpPr>
        <p:spPr>
          <a:xfrm>
            <a:off x="533400" y="1371600"/>
            <a:ext cx="8382000" cy="5486400"/>
          </a:xfrm>
        </p:spPr>
        <p:txBody>
          <a:bodyPr/>
          <a:lstStyle/>
          <a:p>
            <a:pPr eaLnBrk="1" hangingPunct="1">
              <a:spcBef>
                <a:spcPct val="10000"/>
              </a:spcBef>
              <a:buFont typeface="Wingdings" panose="05000000000000000000" pitchFamily="2" charset="2"/>
              <a:buNone/>
            </a:pPr>
            <a:r>
              <a:rPr lang="en-US" altLang="zh-CN" sz="2000" dirty="0">
                <a:sym typeface="Symbol" panose="05050102010706020507" pitchFamily="18" charset="2"/>
              </a:rPr>
              <a:t>E’  E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types</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i="1"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i="1" dirty="0">
                <a:sym typeface="Symbol" panose="05050102010706020507" pitchFamily="18" charset="2"/>
              </a:rPr>
              <a:t>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i="1" dirty="0">
                <a:sym typeface="Symbol" panose="05050102010706020507" pitchFamily="18" charset="2"/>
              </a:rPr>
              <a:t>==</a:t>
            </a:r>
            <a:r>
              <a:rPr lang="en-US" altLang="zh-CN" sz="2000" dirty="0">
                <a:sym typeface="Symbol" panose="05050102010706020507" pitchFamily="18" charset="2"/>
              </a:rPr>
              <a:t>{</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E  </a:t>
            </a:r>
            <a:r>
              <a:rPr lang="en-US" altLang="zh-CN" sz="2000" b="1" dirty="0">
                <a:solidFill>
                  <a:schemeClr val="accent2"/>
                </a:solidFill>
                <a:sym typeface="Symbol" panose="05050102010706020507" pitchFamily="18" charset="2"/>
              </a:rPr>
              <a:t>id</a:t>
            </a:r>
            <a:r>
              <a:rPr lang="en-US" altLang="zh-CN" sz="2000" dirty="0">
                <a:solidFill>
                  <a:schemeClr val="accent2"/>
                </a:solidFill>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a:t>
            </a:r>
            <a:r>
              <a:rPr lang="en-US" altLang="zh-CN" sz="2000" i="1" dirty="0">
                <a:sym typeface="Symbol" panose="05050102010706020507" pitchFamily="18" charset="2"/>
              </a:rPr>
              <a:t>lookup</a:t>
            </a:r>
            <a:r>
              <a:rPr lang="en-US" altLang="zh-CN" sz="2000" dirty="0">
                <a:sym typeface="Symbol" panose="05050102010706020507" pitchFamily="18" charset="2"/>
              </a:rPr>
              <a:t>(</a:t>
            </a:r>
            <a:r>
              <a:rPr lang="en-US" altLang="zh-CN" sz="2000" b="1" dirty="0" err="1">
                <a:solidFill>
                  <a:schemeClr val="accent2"/>
                </a:solidFill>
                <a:sym typeface="Symbol" panose="05050102010706020507" pitchFamily="18" charset="2"/>
              </a:rPr>
              <a:t>id</a:t>
            </a:r>
            <a:r>
              <a:rPr lang="en-US" altLang="zh-CN" sz="2000" dirty="0" err="1">
                <a:sym typeface="Symbol" panose="05050102010706020507" pitchFamily="18" charset="2"/>
              </a:rPr>
              <a:t>.</a:t>
            </a:r>
            <a:r>
              <a:rPr lang="en-US" altLang="zh-CN" sz="2000" i="1" dirty="0" err="1">
                <a:sym typeface="Symbol" panose="05050102010706020507" pitchFamily="18" charset="2"/>
              </a:rPr>
              <a:t>entry</a:t>
            </a:r>
            <a:r>
              <a:rPr lang="en-US" altLang="zh-CN" sz="2000" dirty="0">
                <a:sym typeface="Symbol" panose="05050102010706020507" pitchFamily="18" charset="2"/>
              </a:rPr>
              <a:t>)</a:t>
            </a:r>
            <a:endParaRPr lang="en-US" altLang="zh-CN" sz="2000"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a:t>
            </a:r>
            <a:r>
              <a:rPr lang="en-US" altLang="zh-CN" sz="2000" i="1" dirty="0">
                <a:sym typeface="Symbol" panose="05050102010706020507" pitchFamily="18" charset="2"/>
              </a:rPr>
              <a:t>gen</a:t>
            </a:r>
            <a:r>
              <a:rPr lang="en-US" altLang="zh-CN" sz="2000" dirty="0">
                <a:sym typeface="Symbol" panose="05050102010706020507" pitchFamily="18" charset="2"/>
              </a:rPr>
              <a:t>(</a:t>
            </a:r>
            <a:r>
              <a:rPr lang="en-US" altLang="zh-CN" sz="2000" b="1" dirty="0" err="1">
                <a:sym typeface="Symbol" panose="05050102010706020507" pitchFamily="18" charset="2"/>
              </a:rPr>
              <a:t>id</a:t>
            </a:r>
            <a:r>
              <a:rPr lang="en-US" altLang="zh-CN" sz="2000" dirty="0" err="1">
                <a:sym typeface="Symbol" panose="05050102010706020507" pitchFamily="18" charset="2"/>
              </a:rPr>
              <a:t>.lexeme</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dirty="0">
                <a:sym typeface="Symbol" panose="05050102010706020507" pitchFamily="18" charset="2"/>
              </a:rPr>
              <a:t>)</a:t>
            </a:r>
            <a:endParaRPr lang="en-US" altLang="zh-CN" sz="2000" dirty="0"/>
          </a:p>
          <a:p>
            <a:pPr eaLnBrk="1" hangingPunct="1">
              <a:spcBef>
                <a:spcPct val="10000"/>
              </a:spcBef>
              <a:buFont typeface="Wingdings" panose="05000000000000000000" pitchFamily="2" charset="2"/>
              <a:buNone/>
            </a:pPr>
            <a:r>
              <a:rPr lang="en-US" altLang="zh-CN" sz="2000" dirty="0">
                <a:sym typeface="Symbol" panose="05050102010706020507" pitchFamily="18" charset="2"/>
              </a:rPr>
              <a:t>E  E</a:t>
            </a:r>
            <a:r>
              <a:rPr lang="en-US" altLang="zh-CN" sz="2000" baseline="-25000" dirty="0">
                <a:sym typeface="Symbol" panose="05050102010706020507" pitchFamily="18" charset="2"/>
              </a:rPr>
              <a:t>1</a:t>
            </a:r>
            <a:r>
              <a:rPr lang="en-US" altLang="zh-CN" sz="2000" dirty="0">
                <a:solidFill>
                  <a:schemeClr val="accent2"/>
                </a:solidFill>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2</a:t>
            </a:r>
            <a:r>
              <a:rPr lang="en-US" altLang="zh-CN" sz="2000" dirty="0">
                <a:solidFill>
                  <a:schemeClr val="accent2"/>
                </a:solidFill>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 s’ |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types</a:t>
            </a:r>
            <a:r>
              <a:rPr lang="zh-CN" altLang="en-US" sz="2000" dirty="0">
                <a:sym typeface="Symbol" panose="05050102010706020507" pitchFamily="18" charset="2"/>
              </a:rPr>
              <a:t>中存在</a:t>
            </a:r>
            <a:r>
              <a:rPr lang="en-US" altLang="zh-CN" sz="2000" i="1" dirty="0">
                <a:sym typeface="Symbol" panose="05050102010706020507" pitchFamily="18" charset="2"/>
              </a:rPr>
              <a:t>s</a:t>
            </a:r>
            <a:r>
              <a:rPr lang="zh-CN" altLang="en-US" sz="2000" dirty="0">
                <a:sym typeface="Symbol" panose="05050102010706020507" pitchFamily="18" charset="2"/>
              </a:rPr>
              <a:t>使得</a:t>
            </a:r>
            <a:r>
              <a:rPr lang="en-US" altLang="zh-CN" sz="2000" i="1" dirty="0" err="1">
                <a:sym typeface="Symbol" panose="05050102010706020507" pitchFamily="18" charset="2"/>
              </a:rPr>
              <a:t>s</a:t>
            </a:r>
            <a:r>
              <a:rPr lang="en-US" altLang="zh-CN" sz="2000" dirty="0" err="1">
                <a:sym typeface="Symbol" panose="05050102010706020507" pitchFamily="18" charset="2"/>
              </a:rPr>
              <a:t></a:t>
            </a:r>
            <a:r>
              <a:rPr lang="en-US" altLang="zh-CN" sz="2000" i="1" dirty="0" err="1">
                <a:sym typeface="Symbol" panose="05050102010706020507" pitchFamily="18" charset="2"/>
              </a:rPr>
              <a:t>s</a:t>
            </a:r>
            <a:r>
              <a:rPr lang="en-US" altLang="zh-CN" sz="2000" i="1" dirty="0">
                <a:sym typeface="Symbol" panose="05050102010706020507" pitchFamily="18" charset="2"/>
              </a:rPr>
              <a:t>’</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zh-CN" altLang="en-US" sz="2000" dirty="0">
                <a:sym typeface="Symbol" panose="05050102010706020507" pitchFamily="18" charset="2"/>
              </a:rPr>
              <a:t>属于</a:t>
            </a:r>
            <a:r>
              <a:rPr lang="en-US" altLang="zh-CN" sz="2000" dirty="0">
                <a:sym typeface="Symbol" panose="05050102010706020507" pitchFamily="18" charset="2"/>
              </a:rPr>
              <a:t>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t>
            </a:r>
            <a:endParaRPr lang="en-US" altLang="zh-CN" sz="2000"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i="1" dirty="0">
                <a:sym typeface="Symbol" panose="05050102010706020507" pitchFamily="18" charset="2"/>
              </a:rPr>
              <a:t>t </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i="1" dirty="0">
                <a:sym typeface="Symbol" panose="05050102010706020507" pitchFamily="18" charset="2"/>
              </a:rPr>
              <a:t>			S =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 </a:t>
            </a:r>
            <a:r>
              <a:rPr lang="en-US" altLang="zh-CN" sz="2000" i="1" dirty="0">
                <a:sym typeface="Symbol" panose="05050102010706020507" pitchFamily="18" charset="2"/>
              </a:rPr>
              <a:t>s</a:t>
            </a:r>
            <a:r>
              <a:rPr lang="en-US" altLang="zh-CN" sz="2000" dirty="0">
                <a:latin typeface="宋体" pitchFamily="2" charset="-122"/>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and </a:t>
            </a:r>
            <a:r>
              <a:rPr lang="en-US" altLang="zh-CN" sz="2000" i="1" dirty="0">
                <a:sym typeface="Symbol" panose="05050102010706020507" pitchFamily="18" charset="2"/>
              </a:rPr>
              <a:t>s</a:t>
            </a:r>
            <a:r>
              <a:rPr lang="en-US" altLang="zh-CN" sz="2000" dirty="0">
                <a:sym typeface="Symbol" panose="05050102010706020507" pitchFamily="18" charset="2"/>
              </a:rPr>
              <a:t></a:t>
            </a:r>
            <a:r>
              <a:rPr lang="en-US" altLang="zh-CN" sz="2000" i="1" dirty="0">
                <a:sym typeface="Symbol" panose="05050102010706020507" pitchFamily="18" charset="2"/>
              </a:rPr>
              <a:t>t</a:t>
            </a:r>
            <a:r>
              <a:rPr lang="en-US" altLang="zh-CN" sz="2000" dirty="0">
                <a:latin typeface="宋体" pitchFamily="2" charset="-122"/>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t>
            </a:r>
            <a:endParaRPr lang="en-US" altLang="zh-CN" sz="2000"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unique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i="1" dirty="0">
                <a:sym typeface="Symbol" panose="05050102010706020507" pitchFamily="18" charset="2"/>
              </a:rPr>
              <a:t>S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unique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i="1" dirty="0">
                <a:sym typeface="Symbol" panose="05050102010706020507" pitchFamily="18" charset="2"/>
              </a:rPr>
              <a:t>S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code </a:t>
            </a:r>
            <a:r>
              <a:rPr lang="en-US" altLang="zh-CN" sz="2000" dirty="0">
                <a:sym typeface="Symbol" panose="05050102010706020507" pitchFamily="18" charset="2"/>
              </a:rPr>
              <a:t>||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code </a:t>
            </a:r>
            <a:r>
              <a:rPr lang="en-US" altLang="zh-CN" sz="2000" dirty="0">
                <a:sym typeface="Symbol" panose="05050102010706020507" pitchFamily="18" charset="2"/>
              </a:rPr>
              <a:t>|| </a:t>
            </a:r>
            <a:br>
              <a:rPr lang="en-US" altLang="zh-CN" sz="2000" dirty="0">
                <a:sym typeface="Symbol" panose="05050102010706020507" pitchFamily="18" charset="2"/>
              </a:rPr>
            </a:br>
            <a:r>
              <a:rPr lang="en-US" altLang="zh-CN" sz="2000" dirty="0">
                <a:sym typeface="Symbol" panose="05050102010706020507" pitchFamily="18" charset="2"/>
              </a:rPr>
              <a:t>					</a:t>
            </a:r>
            <a:r>
              <a:rPr lang="en-US" altLang="zh-CN" sz="2000" i="1" dirty="0">
                <a:sym typeface="Symbol" panose="05050102010706020507" pitchFamily="18" charset="2"/>
              </a:rPr>
              <a:t>gen</a:t>
            </a:r>
            <a:r>
              <a:rPr lang="en-US" altLang="zh-CN" sz="2000" dirty="0">
                <a:sym typeface="Symbol" panose="05050102010706020507" pitchFamily="18" charset="2"/>
              </a:rPr>
              <a:t>(‘</a:t>
            </a:r>
            <a:r>
              <a:rPr lang="en-US" altLang="zh-CN" sz="2000" b="1" dirty="0">
                <a:sym typeface="Symbol" panose="05050102010706020507" pitchFamily="18" charset="2"/>
              </a:rPr>
              <a:t>apply</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dirty="0">
                <a:sym typeface="Symbol" panose="05050102010706020507" pitchFamily="18" charset="2"/>
              </a:rPr>
              <a:t>)</a:t>
            </a:r>
            <a:endParaRPr lang="en-US" altLang="zh-CN" sz="2000" dirty="0">
              <a:sym typeface="Symbol" panose="05050102010706020507" pitchFamily="18" charset="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a:t>6.6  </a:t>
            </a:r>
            <a:r>
              <a:rPr lang="zh-CN" altLang="en-US"/>
              <a:t>多态（</a:t>
            </a:r>
            <a:r>
              <a:rPr lang="en-US" altLang="zh-CN">
                <a:solidFill>
                  <a:schemeClr val="hlink"/>
                </a:solidFill>
              </a:rPr>
              <a:t>polymorphic</a:t>
            </a:r>
            <a:r>
              <a:rPr lang="zh-CN" altLang="en-US"/>
              <a:t>）函数</a:t>
            </a:r>
            <a:endParaRPr lang="zh-CN" altLang="en-US"/>
          </a:p>
        </p:txBody>
      </p:sp>
      <p:sp>
        <p:nvSpPr>
          <p:cNvPr id="66563" name="Rectangle 3"/>
          <p:cNvSpPr>
            <a:spLocks noGrp="1" noChangeArrowheads="1"/>
          </p:cNvSpPr>
          <p:nvPr>
            <p:ph type="body" idx="1"/>
          </p:nvPr>
        </p:nvSpPr>
        <p:spPr/>
        <p:txBody>
          <a:bodyPr/>
          <a:lstStyle/>
          <a:p>
            <a:pPr eaLnBrk="1" hangingPunct="1"/>
            <a:r>
              <a:rPr lang="zh-CN" altLang="en-US"/>
              <a:t>普通函数：参数类型固定</a:t>
            </a:r>
            <a:endParaRPr lang="zh-CN" altLang="en-US"/>
          </a:p>
          <a:p>
            <a:pPr eaLnBrk="1" hangingPunct="1"/>
            <a:r>
              <a:rPr lang="zh-CN" altLang="en-US"/>
              <a:t>多态函数：对不同调用，参数可为不同类型</a:t>
            </a:r>
            <a:endParaRPr lang="zh-CN" altLang="en-US"/>
          </a:p>
          <a:p>
            <a:pPr eaLnBrk="1" hangingPunct="1"/>
            <a:r>
              <a:rPr lang="zh-CN" altLang="en-US"/>
              <a:t>某些内置操作符</a:t>
            </a:r>
            <a:r>
              <a:rPr lang="en-US" altLang="zh-CN"/>
              <a:t>——</a:t>
            </a:r>
            <a:r>
              <a:rPr lang="zh-CN" altLang="en-US"/>
              <a:t>多态操作符</a:t>
            </a:r>
            <a:endParaRPr lang="zh-CN" altLang="en-US"/>
          </a:p>
          <a:p>
            <a:pPr lvl="1" eaLnBrk="1" hangingPunct="1"/>
            <a:r>
              <a:rPr lang="zh-CN" altLang="en-US"/>
              <a:t>数组索引符</a:t>
            </a:r>
            <a:r>
              <a:rPr lang="en-US" altLang="zh-CN"/>
              <a:t>[]</a:t>
            </a:r>
            <a:r>
              <a:rPr lang="zh-CN" altLang="en-US"/>
              <a:t>，函数调用符</a:t>
            </a:r>
            <a:r>
              <a:rPr lang="en-US" altLang="zh-CN"/>
              <a:t>()</a:t>
            </a:r>
            <a:r>
              <a:rPr lang="zh-CN" altLang="en-US"/>
              <a:t>，指针操作符</a:t>
            </a:r>
            <a:r>
              <a:rPr lang="en-US" altLang="zh-CN"/>
              <a:t>&amp;</a:t>
            </a:r>
            <a:endParaRPr lang="en-US" altLang="zh-CN"/>
          </a:p>
          <a:p>
            <a:pPr lvl="1" eaLnBrk="1" hangingPunct="1"/>
            <a:r>
              <a:rPr lang="en-US" altLang="zh-CN"/>
              <a:t>&amp;</a:t>
            </a:r>
            <a:r>
              <a:rPr lang="zh-CN" altLang="en-US"/>
              <a:t>：“若操作对象类型为</a:t>
            </a:r>
            <a:r>
              <a:rPr lang="en-US" altLang="zh-CN"/>
              <a:t>…</a:t>
            </a:r>
            <a:r>
              <a:rPr lang="zh-CN" altLang="en-US"/>
              <a:t>，则操作结果的类型为指向</a:t>
            </a:r>
            <a:r>
              <a:rPr lang="en-US" altLang="zh-CN"/>
              <a:t>…</a:t>
            </a:r>
            <a:r>
              <a:rPr lang="zh-CN" altLang="en-US"/>
              <a:t>的指针</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a:t>6.6.1  </a:t>
            </a:r>
            <a:r>
              <a:rPr lang="zh-CN" altLang="en-US"/>
              <a:t>为什么使用多态函数？</a:t>
            </a:r>
            <a:endParaRPr lang="zh-CN" altLang="en-US"/>
          </a:p>
        </p:txBody>
      </p:sp>
      <p:sp>
        <p:nvSpPr>
          <p:cNvPr id="67587" name="Rectangle 3"/>
          <p:cNvSpPr>
            <a:spLocks noGrp="1" noChangeArrowheads="1"/>
          </p:cNvSpPr>
          <p:nvPr>
            <p:ph type="body" idx="1"/>
          </p:nvPr>
        </p:nvSpPr>
        <p:spPr>
          <a:xfrm>
            <a:off x="1182688" y="1371600"/>
            <a:ext cx="7772400" cy="5334000"/>
          </a:xfrm>
        </p:spPr>
        <p:txBody>
          <a:bodyPr/>
          <a:lstStyle/>
          <a:p>
            <a:pPr eaLnBrk="1" hangingPunct="1"/>
            <a:r>
              <a:rPr lang="zh-CN" altLang="en-US"/>
              <a:t>实现算法</a:t>
            </a:r>
            <a:r>
              <a:rPr lang="zh-CN" altLang="en-US">
                <a:sym typeface="Wingdings" panose="05000000000000000000" pitchFamily="2" charset="2"/>
              </a:rPr>
              <a:t>处理数据结构，而不必管其内部元素的类型</a:t>
            </a:r>
            <a:endParaRPr lang="zh-CN" altLang="en-US">
              <a:sym typeface="Wingdings" panose="05000000000000000000" pitchFamily="2" charset="2"/>
            </a:endParaRPr>
          </a:p>
          <a:p>
            <a:pPr eaLnBrk="1" hangingPunct="1">
              <a:lnSpc>
                <a:spcPct val="80000"/>
              </a:lnSpc>
              <a:spcBef>
                <a:spcPct val="10000"/>
              </a:spcBef>
              <a:buFont typeface="Wingdings" panose="05000000000000000000" pitchFamily="2" charset="2"/>
              <a:buNone/>
            </a:pPr>
            <a:r>
              <a:rPr lang="en-US" altLang="zh-CN" sz="2000"/>
              <a:t>type link = ^cell;</a:t>
            </a:r>
            <a:endParaRPr lang="en-US" altLang="zh-CN" sz="2000"/>
          </a:p>
          <a:p>
            <a:pPr eaLnBrk="1" hangingPunct="1">
              <a:lnSpc>
                <a:spcPct val="80000"/>
              </a:lnSpc>
              <a:spcBef>
                <a:spcPct val="10000"/>
              </a:spcBef>
              <a:buFont typeface="Wingdings" panose="05000000000000000000" pitchFamily="2" charset="2"/>
              <a:buNone/>
            </a:pPr>
            <a:r>
              <a:rPr lang="en-US" altLang="zh-CN" sz="2000"/>
              <a:t>	    cell = record</a:t>
            </a:r>
            <a:endParaRPr lang="en-US" altLang="zh-CN" sz="2000"/>
          </a:p>
          <a:p>
            <a:pPr eaLnBrk="1" hangingPunct="1">
              <a:lnSpc>
                <a:spcPct val="80000"/>
              </a:lnSpc>
              <a:spcBef>
                <a:spcPct val="10000"/>
              </a:spcBef>
              <a:buFont typeface="Wingdings" panose="05000000000000000000" pitchFamily="2" charset="2"/>
              <a:buNone/>
            </a:pPr>
            <a:r>
              <a:rPr lang="en-US" altLang="zh-CN" sz="2000"/>
              <a:t>			info : integer;</a:t>
            </a:r>
            <a:endParaRPr lang="en-US" altLang="zh-CN" sz="2000"/>
          </a:p>
          <a:p>
            <a:pPr eaLnBrk="1" hangingPunct="1">
              <a:lnSpc>
                <a:spcPct val="80000"/>
              </a:lnSpc>
              <a:spcBef>
                <a:spcPct val="10000"/>
              </a:spcBef>
              <a:buFont typeface="Wingdings" panose="05000000000000000000" pitchFamily="2" charset="2"/>
              <a:buNone/>
            </a:pPr>
            <a:r>
              <a:rPr lang="en-US" altLang="zh-CN" sz="2000"/>
              <a:t>			next : link</a:t>
            </a:r>
            <a:endParaRPr lang="en-US" altLang="zh-CN" sz="2000"/>
          </a:p>
          <a:p>
            <a:pPr eaLnBrk="1" hangingPunct="1">
              <a:lnSpc>
                <a:spcPct val="80000"/>
              </a:lnSpc>
              <a:spcBef>
                <a:spcPct val="10000"/>
              </a:spcBef>
              <a:buFont typeface="Wingdings" panose="05000000000000000000" pitchFamily="2" charset="2"/>
              <a:buNone/>
            </a:pPr>
            <a:r>
              <a:rPr lang="en-US" altLang="zh-CN" sz="2000"/>
              <a:t>	    end;</a:t>
            </a:r>
            <a:endParaRPr lang="en-US" altLang="zh-CN" sz="2000"/>
          </a:p>
          <a:p>
            <a:pPr eaLnBrk="1" hangingPunct="1">
              <a:lnSpc>
                <a:spcPct val="80000"/>
              </a:lnSpc>
              <a:spcBef>
                <a:spcPct val="10000"/>
              </a:spcBef>
              <a:buFont typeface="Wingdings" panose="05000000000000000000" pitchFamily="2" charset="2"/>
              <a:buNone/>
            </a:pPr>
            <a:r>
              <a:rPr lang="en-US" altLang="zh-CN" sz="2000"/>
              <a:t>function length(lptr : link) : integer;</a:t>
            </a:r>
            <a:endParaRPr lang="en-US" altLang="zh-CN" sz="2000"/>
          </a:p>
          <a:p>
            <a:pPr eaLnBrk="1" hangingPunct="1">
              <a:lnSpc>
                <a:spcPct val="80000"/>
              </a:lnSpc>
              <a:spcBef>
                <a:spcPct val="10000"/>
              </a:spcBef>
              <a:buFont typeface="Wingdings" panose="05000000000000000000" pitchFamily="2" charset="2"/>
              <a:buNone/>
            </a:pPr>
            <a:r>
              <a:rPr lang="en-US" altLang="zh-CN" sz="2000"/>
              <a:t>var len : integer;</a:t>
            </a:r>
            <a:endParaRPr lang="en-US" altLang="zh-CN" sz="2000"/>
          </a:p>
          <a:p>
            <a:pPr eaLnBrk="1" hangingPunct="1">
              <a:lnSpc>
                <a:spcPct val="80000"/>
              </a:lnSpc>
              <a:spcBef>
                <a:spcPct val="10000"/>
              </a:spcBef>
              <a:buFont typeface="Wingdings" panose="05000000000000000000" pitchFamily="2" charset="2"/>
              <a:buNone/>
            </a:pPr>
            <a:r>
              <a:rPr lang="en-US" altLang="zh-CN" sz="2000"/>
              <a:t>begin</a:t>
            </a:r>
            <a:endParaRPr lang="en-US" altLang="zh-CN" sz="2000"/>
          </a:p>
          <a:p>
            <a:pPr eaLnBrk="1" hangingPunct="1">
              <a:lnSpc>
                <a:spcPct val="80000"/>
              </a:lnSpc>
              <a:spcBef>
                <a:spcPct val="10000"/>
              </a:spcBef>
              <a:buFont typeface="Wingdings" panose="05000000000000000000" pitchFamily="2" charset="2"/>
              <a:buNone/>
            </a:pPr>
            <a:r>
              <a:rPr lang="en-US" altLang="zh-CN" sz="2000"/>
              <a:t>	len := 0;</a:t>
            </a:r>
            <a:endParaRPr lang="en-US" altLang="zh-CN" sz="2000"/>
          </a:p>
          <a:p>
            <a:pPr eaLnBrk="1" hangingPunct="1">
              <a:lnSpc>
                <a:spcPct val="80000"/>
              </a:lnSpc>
              <a:spcBef>
                <a:spcPct val="10000"/>
              </a:spcBef>
              <a:buFont typeface="Wingdings" panose="05000000000000000000" pitchFamily="2" charset="2"/>
              <a:buNone/>
            </a:pPr>
            <a:r>
              <a:rPr lang="en-US" altLang="zh-CN" sz="2000"/>
              <a:t>	while lptr &lt;&gt; nil do begin</a:t>
            </a:r>
            <a:endParaRPr lang="en-US" altLang="zh-CN" sz="2000"/>
          </a:p>
          <a:p>
            <a:pPr eaLnBrk="1" hangingPunct="1">
              <a:lnSpc>
                <a:spcPct val="80000"/>
              </a:lnSpc>
              <a:spcBef>
                <a:spcPct val="10000"/>
              </a:spcBef>
              <a:buFont typeface="Wingdings" panose="05000000000000000000" pitchFamily="2" charset="2"/>
              <a:buNone/>
            </a:pPr>
            <a:r>
              <a:rPr lang="en-US" altLang="zh-CN" sz="2000"/>
              <a:t>		len := len + 1;</a:t>
            </a:r>
            <a:endParaRPr lang="en-US" altLang="zh-CN" sz="2000"/>
          </a:p>
          <a:p>
            <a:pPr eaLnBrk="1" hangingPunct="1">
              <a:lnSpc>
                <a:spcPct val="80000"/>
              </a:lnSpc>
              <a:spcBef>
                <a:spcPct val="10000"/>
              </a:spcBef>
              <a:buFont typeface="Wingdings" panose="05000000000000000000" pitchFamily="2" charset="2"/>
              <a:buNone/>
            </a:pPr>
            <a:r>
              <a:rPr lang="en-US" altLang="zh-CN" sz="2000"/>
              <a:t>		lptr := lptr^.next;</a:t>
            </a:r>
            <a:endParaRPr lang="en-US" altLang="zh-CN" sz="2000"/>
          </a:p>
          <a:p>
            <a:pPr eaLnBrk="1" hangingPunct="1">
              <a:lnSpc>
                <a:spcPct val="80000"/>
              </a:lnSpc>
              <a:spcBef>
                <a:spcPct val="10000"/>
              </a:spcBef>
              <a:buFont typeface="Wingdings" panose="05000000000000000000" pitchFamily="2" charset="2"/>
              <a:buNone/>
            </a:pPr>
            <a:r>
              <a:rPr lang="en-US" altLang="zh-CN" sz="2000"/>
              <a:t>	end;</a:t>
            </a:r>
            <a:endParaRPr lang="en-US" altLang="zh-CN" sz="2000"/>
          </a:p>
          <a:p>
            <a:pPr eaLnBrk="1" hangingPunct="1">
              <a:lnSpc>
                <a:spcPct val="80000"/>
              </a:lnSpc>
              <a:spcBef>
                <a:spcPct val="10000"/>
              </a:spcBef>
              <a:buFont typeface="Wingdings" panose="05000000000000000000" pitchFamily="2" charset="2"/>
              <a:buNone/>
            </a:pPr>
            <a:r>
              <a:rPr lang="en-US" altLang="zh-CN" sz="2000"/>
              <a:t>	length := len</a:t>
            </a:r>
            <a:endParaRPr lang="en-US" altLang="zh-CN" sz="2000"/>
          </a:p>
          <a:p>
            <a:pPr eaLnBrk="1" hangingPunct="1">
              <a:lnSpc>
                <a:spcPct val="80000"/>
              </a:lnSpc>
              <a:spcBef>
                <a:spcPct val="10000"/>
              </a:spcBef>
              <a:buFont typeface="Wingdings" panose="05000000000000000000" pitchFamily="2" charset="2"/>
              <a:buNone/>
            </a:pPr>
            <a:r>
              <a:rPr lang="en-US" altLang="zh-CN" sz="2000"/>
              <a:t>end;</a:t>
            </a:r>
            <a:endParaRPr lang="en-US" altLang="zh-CN" sz="20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a:t>求任何类型列表长度的</a:t>
            </a:r>
            <a:r>
              <a:rPr lang="en-US" altLang="zh-CN"/>
              <a:t>ML</a:t>
            </a:r>
            <a:r>
              <a:rPr lang="zh-CN" altLang="en-US"/>
              <a:t>程序</a:t>
            </a:r>
            <a:endParaRPr lang="zh-CN" altLang="en-US"/>
          </a:p>
        </p:txBody>
      </p:sp>
      <p:sp>
        <p:nvSpPr>
          <p:cNvPr id="6861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t>fun length(lptr) =</a:t>
            </a:r>
            <a:endParaRPr lang="en-US" altLang="zh-CN"/>
          </a:p>
          <a:p>
            <a:pPr eaLnBrk="1" hangingPunct="1">
              <a:buFont typeface="Wingdings" panose="05000000000000000000" pitchFamily="2" charset="2"/>
              <a:buNone/>
            </a:pPr>
            <a:r>
              <a:rPr lang="en-US" altLang="zh-CN"/>
              <a:t>	if null(lptr) then 0</a:t>
            </a:r>
            <a:endParaRPr lang="en-US" altLang="zh-CN"/>
          </a:p>
          <a:p>
            <a:pPr eaLnBrk="1" hangingPunct="1">
              <a:buFont typeface="Wingdings" panose="05000000000000000000" pitchFamily="2" charset="2"/>
              <a:buNone/>
            </a:pPr>
            <a:r>
              <a:rPr lang="en-US" altLang="zh-CN"/>
              <a:t>	else length(tl(lptr)) + 1;</a:t>
            </a:r>
            <a:endParaRPr lang="en-US" altLang="zh-CN"/>
          </a:p>
          <a:p>
            <a:pPr eaLnBrk="1" hangingPunct="1"/>
            <a:r>
              <a:rPr lang="zh-CN" altLang="en-US"/>
              <a:t>可应用于任何类型的列表</a:t>
            </a:r>
            <a:endParaRPr lang="zh-CN" altLang="en-US"/>
          </a:p>
          <a:p>
            <a:pPr lvl="1" eaLnBrk="1" hangingPunct="1"/>
            <a:r>
              <a:rPr lang="en-US" altLang="zh-CN"/>
              <a:t>length([“sun”, “mon”, “tue”]);</a:t>
            </a:r>
            <a:endParaRPr lang="en-US" altLang="zh-CN"/>
          </a:p>
          <a:p>
            <a:pPr lvl="1" eaLnBrk="1" hangingPunct="1"/>
            <a:r>
              <a:rPr lang="en-US" altLang="zh-CN"/>
              <a:t>length([10, 9, 8]);</a:t>
            </a:r>
            <a:endParaRPr lang="en-US" altLang="zh-CN"/>
          </a:p>
        </p:txBody>
      </p:sp>
      <p:sp>
        <p:nvSpPr>
          <p:cNvPr id="68612" name="Text Box 4"/>
          <p:cNvSpPr txBox="1">
            <a:spLocks noChangeArrowheads="1"/>
          </p:cNvSpPr>
          <p:nvPr/>
        </p:nvSpPr>
        <p:spPr bwMode="ltGray">
          <a:xfrm>
            <a:off x="4724400" y="13716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递归函数</a:t>
            </a:r>
            <a:endParaRPr lang="zh-CN" altLang="en-US" sz="2400" b="1">
              <a:solidFill>
                <a:srgbClr val="3333CC"/>
              </a:solidFill>
              <a:latin typeface="Tahoma" panose="020B0604030504040204" pitchFamily="34" charset="0"/>
              <a:ea typeface="黑体" panose="02010609060101010101" pitchFamily="49" charset="-122"/>
            </a:endParaRPr>
          </a:p>
        </p:txBody>
      </p:sp>
      <p:sp>
        <p:nvSpPr>
          <p:cNvPr id="68613" name="Freeform 5"/>
          <p:cNvSpPr/>
          <p:nvPr/>
        </p:nvSpPr>
        <p:spPr bwMode="ltGray">
          <a:xfrm>
            <a:off x="1524000" y="1127125"/>
            <a:ext cx="3470275" cy="473075"/>
          </a:xfrm>
          <a:custGeom>
            <a:avLst/>
            <a:gdLst>
              <a:gd name="T0" fmla="*/ 2147483646 w 2186"/>
              <a:gd name="T1" fmla="*/ 2147483646 h 298"/>
              <a:gd name="T2" fmla="*/ 2147483646 w 2186"/>
              <a:gd name="T3" fmla="*/ 2147483646 h 298"/>
              <a:gd name="T4" fmla="*/ 2147483646 w 2186"/>
              <a:gd name="T5" fmla="*/ 2147483646 h 298"/>
              <a:gd name="T6" fmla="*/ 0 w 2186"/>
              <a:gd name="T7" fmla="*/ 2147483646 h 298"/>
              <a:gd name="T8" fmla="*/ 0 60000 65536"/>
              <a:gd name="T9" fmla="*/ 0 60000 65536"/>
              <a:gd name="T10" fmla="*/ 0 60000 65536"/>
              <a:gd name="T11" fmla="*/ 0 60000 65536"/>
              <a:gd name="T12" fmla="*/ 0 w 2186"/>
              <a:gd name="T13" fmla="*/ 0 h 298"/>
              <a:gd name="T14" fmla="*/ 2186 w 2186"/>
              <a:gd name="T15" fmla="*/ 298 h 298"/>
            </a:gdLst>
            <a:ahLst/>
            <a:cxnLst>
              <a:cxn ang="T8">
                <a:pos x="T0" y="T1"/>
              </a:cxn>
              <a:cxn ang="T9">
                <a:pos x="T2" y="T3"/>
              </a:cxn>
              <a:cxn ang="T10">
                <a:pos x="T4" y="T5"/>
              </a:cxn>
              <a:cxn ang="T11">
                <a:pos x="T6" y="T7"/>
              </a:cxn>
            </a:cxnLst>
            <a:rect l="T12" t="T13" r="T14" b="T15"/>
            <a:pathLst>
              <a:path w="2186" h="298">
                <a:moveTo>
                  <a:pt x="2186" y="229"/>
                </a:moveTo>
                <a:cubicBezTo>
                  <a:pt x="2075" y="195"/>
                  <a:pt x="1784" y="52"/>
                  <a:pt x="1512" y="26"/>
                </a:cubicBezTo>
                <a:cubicBezTo>
                  <a:pt x="1240" y="0"/>
                  <a:pt x="807" y="25"/>
                  <a:pt x="555" y="70"/>
                </a:cubicBezTo>
                <a:cubicBezTo>
                  <a:pt x="303" y="115"/>
                  <a:pt x="116" y="250"/>
                  <a:pt x="0" y="298"/>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4" name="Text Box 6"/>
          <p:cNvSpPr txBox="1">
            <a:spLocks noChangeArrowheads="1"/>
          </p:cNvSpPr>
          <p:nvPr/>
        </p:nvSpPr>
        <p:spPr bwMode="ltGray">
          <a:xfrm>
            <a:off x="5410200" y="19050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列表为空？</a:t>
            </a:r>
            <a:endParaRPr lang="zh-CN" altLang="en-US" sz="2400" b="1">
              <a:solidFill>
                <a:srgbClr val="3333CC"/>
              </a:solidFill>
              <a:latin typeface="Tahoma" panose="020B0604030504040204" pitchFamily="34" charset="0"/>
              <a:ea typeface="黑体" panose="02010609060101010101" pitchFamily="49" charset="-122"/>
            </a:endParaRPr>
          </a:p>
        </p:txBody>
      </p:sp>
      <p:sp>
        <p:nvSpPr>
          <p:cNvPr id="68615" name="Freeform 7"/>
          <p:cNvSpPr/>
          <p:nvPr/>
        </p:nvSpPr>
        <p:spPr bwMode="ltGray">
          <a:xfrm>
            <a:off x="2209800" y="1843088"/>
            <a:ext cx="3470275" cy="290512"/>
          </a:xfrm>
          <a:custGeom>
            <a:avLst/>
            <a:gdLst>
              <a:gd name="T0" fmla="*/ 2147483646 w 2186"/>
              <a:gd name="T1" fmla="*/ 2147483646 h 183"/>
              <a:gd name="T2" fmla="*/ 2147483646 w 2186"/>
              <a:gd name="T3" fmla="*/ 2147483646 h 183"/>
              <a:gd name="T4" fmla="*/ 2147483646 w 2186"/>
              <a:gd name="T5" fmla="*/ 2147483646 h 183"/>
              <a:gd name="T6" fmla="*/ 0 w 2186"/>
              <a:gd name="T7" fmla="*/ 2147483646 h 183"/>
              <a:gd name="T8" fmla="*/ 0 60000 65536"/>
              <a:gd name="T9" fmla="*/ 0 60000 65536"/>
              <a:gd name="T10" fmla="*/ 0 60000 65536"/>
              <a:gd name="T11" fmla="*/ 0 60000 65536"/>
              <a:gd name="T12" fmla="*/ 0 w 2186"/>
              <a:gd name="T13" fmla="*/ 0 h 183"/>
              <a:gd name="T14" fmla="*/ 2186 w 2186"/>
              <a:gd name="T15" fmla="*/ 183 h 183"/>
            </a:gdLst>
            <a:ahLst/>
            <a:cxnLst>
              <a:cxn ang="T8">
                <a:pos x="T0" y="T1"/>
              </a:cxn>
              <a:cxn ang="T9">
                <a:pos x="T2" y="T3"/>
              </a:cxn>
              <a:cxn ang="T10">
                <a:pos x="T4" y="T5"/>
              </a:cxn>
              <a:cxn ang="T11">
                <a:pos x="T6" y="T7"/>
              </a:cxn>
            </a:cxnLst>
            <a:rect l="T12" t="T13" r="T14" b="T15"/>
            <a:pathLst>
              <a:path w="2186" h="183">
                <a:moveTo>
                  <a:pt x="2186" y="114"/>
                </a:moveTo>
                <a:cubicBezTo>
                  <a:pt x="2074" y="97"/>
                  <a:pt x="1782" y="18"/>
                  <a:pt x="1515" y="9"/>
                </a:cubicBezTo>
                <a:cubicBezTo>
                  <a:pt x="1248" y="0"/>
                  <a:pt x="836" y="33"/>
                  <a:pt x="584" y="62"/>
                </a:cubicBezTo>
                <a:cubicBezTo>
                  <a:pt x="332" y="91"/>
                  <a:pt x="122" y="158"/>
                  <a:pt x="0" y="183"/>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6" name="Text Box 8"/>
          <p:cNvSpPr txBox="1">
            <a:spLocks noChangeArrowheads="1"/>
          </p:cNvSpPr>
          <p:nvPr/>
        </p:nvSpPr>
        <p:spPr bwMode="ltGray">
          <a:xfrm>
            <a:off x="6019800" y="25146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列表剩余部分</a:t>
            </a:r>
            <a:endParaRPr lang="zh-CN" altLang="en-US" sz="2400" b="1">
              <a:solidFill>
                <a:srgbClr val="3333CC"/>
              </a:solidFill>
              <a:latin typeface="Tahoma" panose="020B0604030504040204" pitchFamily="34" charset="0"/>
              <a:ea typeface="黑体" panose="02010609060101010101" pitchFamily="49" charset="-122"/>
            </a:endParaRPr>
          </a:p>
        </p:txBody>
      </p:sp>
      <p:sp>
        <p:nvSpPr>
          <p:cNvPr id="68617" name="Freeform 9"/>
          <p:cNvSpPr/>
          <p:nvPr/>
        </p:nvSpPr>
        <p:spPr bwMode="ltGray">
          <a:xfrm>
            <a:off x="3581400" y="2359025"/>
            <a:ext cx="2590800" cy="307975"/>
          </a:xfrm>
          <a:custGeom>
            <a:avLst/>
            <a:gdLst>
              <a:gd name="T0" fmla="*/ 2147483646 w 1632"/>
              <a:gd name="T1" fmla="*/ 2147483646 h 194"/>
              <a:gd name="T2" fmla="*/ 2147483646 w 1632"/>
              <a:gd name="T3" fmla="*/ 2147483646 h 194"/>
              <a:gd name="T4" fmla="*/ 2147483646 w 1632"/>
              <a:gd name="T5" fmla="*/ 2147483646 h 194"/>
              <a:gd name="T6" fmla="*/ 0 w 1632"/>
              <a:gd name="T7" fmla="*/ 2147483646 h 194"/>
              <a:gd name="T8" fmla="*/ 0 60000 65536"/>
              <a:gd name="T9" fmla="*/ 0 60000 65536"/>
              <a:gd name="T10" fmla="*/ 0 60000 65536"/>
              <a:gd name="T11" fmla="*/ 0 60000 65536"/>
              <a:gd name="T12" fmla="*/ 0 w 1632"/>
              <a:gd name="T13" fmla="*/ 0 h 194"/>
              <a:gd name="T14" fmla="*/ 1632 w 1632"/>
              <a:gd name="T15" fmla="*/ 194 h 194"/>
            </a:gdLst>
            <a:ahLst/>
            <a:cxnLst>
              <a:cxn ang="T8">
                <a:pos x="T0" y="T1"/>
              </a:cxn>
              <a:cxn ang="T9">
                <a:pos x="T2" y="T3"/>
              </a:cxn>
              <a:cxn ang="T10">
                <a:pos x="T4" y="T5"/>
              </a:cxn>
              <a:cxn ang="T11">
                <a:pos x="T6" y="T7"/>
              </a:cxn>
            </a:cxnLst>
            <a:rect l="T12" t="T13" r="T14" b="T15"/>
            <a:pathLst>
              <a:path w="1632" h="194">
                <a:moveTo>
                  <a:pt x="1632" y="125"/>
                </a:moveTo>
                <a:cubicBezTo>
                  <a:pt x="1542" y="106"/>
                  <a:pt x="1296" y="24"/>
                  <a:pt x="1094" y="12"/>
                </a:cubicBezTo>
                <a:cubicBezTo>
                  <a:pt x="892" y="0"/>
                  <a:pt x="602" y="26"/>
                  <a:pt x="420" y="56"/>
                </a:cubicBezTo>
                <a:cubicBezTo>
                  <a:pt x="238" y="86"/>
                  <a:pt x="88" y="165"/>
                  <a:pt x="0" y="194"/>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CN"/>
              <a:t>6.6.2  </a:t>
            </a:r>
            <a:r>
              <a:rPr lang="zh-CN" altLang="en-US"/>
              <a:t>类型变量</a:t>
            </a:r>
            <a:endParaRPr lang="zh-CN" altLang="en-US"/>
          </a:p>
        </p:txBody>
      </p:sp>
      <p:sp>
        <p:nvSpPr>
          <p:cNvPr id="69635" name="Rectangle 3"/>
          <p:cNvSpPr>
            <a:spLocks noGrp="1" noChangeArrowheads="1"/>
          </p:cNvSpPr>
          <p:nvPr>
            <p:ph type="body" idx="1"/>
          </p:nvPr>
        </p:nvSpPr>
        <p:spPr/>
        <p:txBody>
          <a:bodyPr/>
          <a:lstStyle/>
          <a:p>
            <a:pPr eaLnBrk="1" hangingPunct="1"/>
            <a:r>
              <a:rPr lang="en-US" altLang="zh-CN" sz="2800">
                <a:latin typeface="Symbol" panose="05050102010706020507" pitchFamily="18" charset="2"/>
              </a:rPr>
              <a:t>a, b</a:t>
            </a:r>
            <a:r>
              <a:rPr lang="en-US" altLang="zh-CN" sz="2800"/>
              <a:t>, …</a:t>
            </a:r>
            <a:r>
              <a:rPr lang="zh-CN" altLang="en-US" sz="2800"/>
              <a:t>，表示未知类型</a:t>
            </a:r>
            <a:endParaRPr lang="zh-CN" altLang="en-US" sz="2800"/>
          </a:p>
          <a:p>
            <a:pPr eaLnBrk="1" hangingPunct="1"/>
            <a:r>
              <a:rPr lang="zh-CN" altLang="en-US" sz="2800"/>
              <a:t>重要应用：不要求标识符先声明后使用的语言中，检查标识符使用的一致性</a:t>
            </a:r>
            <a:endParaRPr lang="zh-CN" altLang="en-US" sz="2800"/>
          </a:p>
          <a:p>
            <a:pPr eaLnBrk="1" hangingPunct="1"/>
            <a:r>
              <a:rPr lang="zh-CN" altLang="en-US" sz="2800"/>
              <a:t>类型变量表示未声明标识符的类型</a:t>
            </a:r>
            <a:endParaRPr lang="zh-CN" altLang="en-US" sz="2800"/>
          </a:p>
          <a:p>
            <a:pPr lvl="1" eaLnBrk="1" hangingPunct="1"/>
            <a:r>
              <a:rPr lang="zh-CN" altLang="en-US" sz="2400"/>
              <a:t>若类型变量发生变化，不一致！</a:t>
            </a:r>
            <a:endParaRPr lang="zh-CN" altLang="en-US" sz="2400"/>
          </a:p>
          <a:p>
            <a:pPr lvl="1" eaLnBrk="1" hangingPunct="1"/>
            <a:r>
              <a:rPr lang="zh-CN" altLang="en-US" sz="2400"/>
              <a:t>若一直未变化，一致！同时得到标识符类型</a:t>
            </a:r>
            <a:endParaRPr lang="zh-CN" altLang="en-US" sz="2400"/>
          </a:p>
          <a:p>
            <a:pPr eaLnBrk="1" hangingPunct="1"/>
            <a:r>
              <a:rPr lang="zh-CN" altLang="en-US" sz="2800"/>
              <a:t>类型推断，</a:t>
            </a:r>
            <a:r>
              <a:rPr lang="en-US" altLang="zh-CN" sz="2800">
                <a:solidFill>
                  <a:schemeClr val="hlink"/>
                </a:solidFill>
              </a:rPr>
              <a:t>type inference</a:t>
            </a:r>
            <a:endParaRPr lang="en-US" altLang="zh-CN" sz="2800">
              <a:solidFill>
                <a:schemeClr val="hlink"/>
              </a:solidFill>
            </a:endParaRPr>
          </a:p>
          <a:p>
            <a:pPr lvl="1" eaLnBrk="1" hangingPunct="1"/>
            <a:r>
              <a:rPr lang="zh-CN" altLang="en-US" sz="2400"/>
              <a:t>根据语言结构的使用方式判定其类型</a:t>
            </a:r>
            <a:endParaRPr lang="zh-CN" altLang="en-US" sz="24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a:t>例</a:t>
            </a:r>
            <a:r>
              <a:rPr lang="en-US" altLang="zh-CN"/>
              <a:t>6.8</a:t>
            </a:r>
            <a:endParaRPr lang="en-US" altLang="zh-CN"/>
          </a:p>
        </p:txBody>
      </p:sp>
      <p:sp>
        <p:nvSpPr>
          <p:cNvPr id="70659" name="Rectangle 3"/>
          <p:cNvSpPr>
            <a:spLocks noGrp="1" noChangeArrowheads="1"/>
          </p:cNvSpPr>
          <p:nvPr>
            <p:ph type="body" idx="1"/>
          </p:nvPr>
        </p:nvSpPr>
        <p:spPr>
          <a:xfrm>
            <a:off x="1182688" y="1371600"/>
            <a:ext cx="7772400" cy="4953000"/>
          </a:xfrm>
        </p:spPr>
        <p:txBody>
          <a:bodyPr/>
          <a:lstStyle/>
          <a:p>
            <a:pPr eaLnBrk="1" hangingPunct="1">
              <a:lnSpc>
                <a:spcPct val="80000"/>
              </a:lnSpc>
              <a:spcBef>
                <a:spcPct val="10000"/>
              </a:spcBef>
              <a:buFont typeface="Wingdings" panose="05000000000000000000" pitchFamily="2" charset="2"/>
              <a:buNone/>
            </a:pPr>
            <a:r>
              <a:rPr lang="en-US" altLang="zh-CN" sz="2000"/>
              <a:t>type link = ^cell;</a:t>
            </a:r>
            <a:endParaRPr lang="en-US" altLang="zh-CN" sz="2000"/>
          </a:p>
          <a:p>
            <a:pPr eaLnBrk="1" hangingPunct="1">
              <a:lnSpc>
                <a:spcPct val="80000"/>
              </a:lnSpc>
              <a:spcBef>
                <a:spcPct val="10000"/>
              </a:spcBef>
              <a:buFont typeface="Wingdings" panose="05000000000000000000" pitchFamily="2" charset="2"/>
              <a:buNone/>
            </a:pPr>
            <a:r>
              <a:rPr lang="en-US" altLang="zh-CN" sz="2000"/>
              <a:t>procedure mlist(lptr : link; procedure p);</a:t>
            </a:r>
            <a:endParaRPr lang="en-US" altLang="zh-CN" sz="2000"/>
          </a:p>
          <a:p>
            <a:pPr eaLnBrk="1" hangingPunct="1">
              <a:lnSpc>
                <a:spcPct val="80000"/>
              </a:lnSpc>
              <a:spcBef>
                <a:spcPct val="10000"/>
              </a:spcBef>
              <a:buFont typeface="Wingdings" panose="05000000000000000000" pitchFamily="2" charset="2"/>
              <a:buNone/>
            </a:pPr>
            <a:r>
              <a:rPr lang="en-US" altLang="zh-CN" sz="2000"/>
              <a:t>begin</a:t>
            </a:r>
            <a:endParaRPr lang="en-US" altLang="zh-CN" sz="2000"/>
          </a:p>
          <a:p>
            <a:pPr eaLnBrk="1" hangingPunct="1">
              <a:lnSpc>
                <a:spcPct val="80000"/>
              </a:lnSpc>
              <a:spcBef>
                <a:spcPct val="10000"/>
              </a:spcBef>
              <a:buFont typeface="Wingdings" panose="05000000000000000000" pitchFamily="2" charset="2"/>
              <a:buNone/>
            </a:pPr>
            <a:r>
              <a:rPr lang="en-US" altLang="zh-CN" sz="2000"/>
              <a:t>	while lptr &lt;&gt; nil do begin</a:t>
            </a:r>
            <a:endParaRPr lang="en-US" altLang="zh-CN" sz="2000"/>
          </a:p>
          <a:p>
            <a:pPr eaLnBrk="1" hangingPunct="1">
              <a:lnSpc>
                <a:spcPct val="80000"/>
              </a:lnSpc>
              <a:spcBef>
                <a:spcPct val="10000"/>
              </a:spcBef>
              <a:buFont typeface="Wingdings" panose="05000000000000000000" pitchFamily="2" charset="2"/>
              <a:buNone/>
            </a:pPr>
            <a:r>
              <a:rPr lang="en-US" altLang="zh-CN" sz="2000"/>
              <a:t>		p(lptr);</a:t>
            </a:r>
            <a:endParaRPr lang="en-US" altLang="zh-CN" sz="2000"/>
          </a:p>
          <a:p>
            <a:pPr eaLnBrk="1" hangingPunct="1">
              <a:lnSpc>
                <a:spcPct val="80000"/>
              </a:lnSpc>
              <a:spcBef>
                <a:spcPct val="10000"/>
              </a:spcBef>
              <a:buFont typeface="Wingdings" panose="05000000000000000000" pitchFamily="2" charset="2"/>
              <a:buNone/>
            </a:pPr>
            <a:r>
              <a:rPr lang="en-US" altLang="zh-CN" sz="2000"/>
              <a:t>		lptr := lptr^.next</a:t>
            </a:r>
            <a:endParaRPr lang="en-US" altLang="zh-CN" sz="2000"/>
          </a:p>
          <a:p>
            <a:pPr eaLnBrk="1" hangingPunct="1">
              <a:lnSpc>
                <a:spcPct val="80000"/>
              </a:lnSpc>
              <a:spcBef>
                <a:spcPct val="10000"/>
              </a:spcBef>
              <a:buFont typeface="Wingdings" panose="05000000000000000000" pitchFamily="2" charset="2"/>
              <a:buNone/>
            </a:pPr>
            <a:r>
              <a:rPr lang="en-US" altLang="zh-CN" sz="2000"/>
              <a:t>	end</a:t>
            </a:r>
            <a:endParaRPr lang="en-US" altLang="zh-CN" sz="2000"/>
          </a:p>
          <a:p>
            <a:pPr eaLnBrk="1" hangingPunct="1">
              <a:lnSpc>
                <a:spcPct val="80000"/>
              </a:lnSpc>
              <a:spcBef>
                <a:spcPct val="10000"/>
              </a:spcBef>
              <a:buFont typeface="Wingdings" panose="05000000000000000000" pitchFamily="2" charset="2"/>
              <a:buNone/>
            </a:pPr>
            <a:r>
              <a:rPr lang="en-US" altLang="zh-CN" sz="2000"/>
              <a:t>end;</a:t>
            </a:r>
            <a:endParaRPr lang="en-US" altLang="zh-CN" sz="2000"/>
          </a:p>
          <a:p>
            <a:pPr eaLnBrk="1" hangingPunct="1"/>
            <a:r>
              <a:rPr lang="en-US" altLang="zh-CN" sz="2800"/>
              <a:t>p</a:t>
            </a:r>
            <a:r>
              <a:rPr lang="zh-CN" altLang="en-US" sz="2800"/>
              <a:t>：参数情况未知，不完整的过程类型</a:t>
            </a:r>
            <a:endParaRPr lang="zh-CN" altLang="en-US" sz="2800"/>
          </a:p>
          <a:p>
            <a:pPr eaLnBrk="1" hangingPunct="1"/>
            <a:r>
              <a:rPr lang="zh-CN" altLang="en-US" sz="2800"/>
              <a:t>由</a:t>
            </a:r>
            <a:r>
              <a:rPr lang="en-US" altLang="zh-CN" sz="2800"/>
              <a:t>p(lptr)</a:t>
            </a:r>
            <a:r>
              <a:rPr lang="en-US" altLang="zh-CN" sz="2800">
                <a:sym typeface="Wingdings" panose="05000000000000000000" pitchFamily="2" charset="2"/>
              </a:rPr>
              <a:t></a:t>
            </a:r>
            <a:endParaRPr lang="en-US" altLang="zh-CN" sz="2800">
              <a:sym typeface="Wingdings" panose="05000000000000000000" pitchFamily="2" charset="2"/>
            </a:endParaRPr>
          </a:p>
          <a:p>
            <a:pPr lvl="1" eaLnBrk="1" hangingPunct="1"/>
            <a:r>
              <a:rPr lang="en-US" altLang="zh-CN" sz="2400">
                <a:sym typeface="Wingdings" panose="05000000000000000000" pitchFamily="2" charset="2"/>
              </a:rPr>
              <a:t>p</a:t>
            </a:r>
            <a:r>
              <a:rPr lang="zh-CN" altLang="en-US" sz="2400">
                <a:sym typeface="Wingdings" panose="05000000000000000000" pitchFamily="2" charset="2"/>
              </a:rPr>
              <a:t>参数为</a:t>
            </a:r>
            <a:r>
              <a:rPr lang="en-US" altLang="zh-CN" sz="2400">
                <a:sym typeface="Wingdings" panose="05000000000000000000" pitchFamily="2" charset="2"/>
              </a:rPr>
              <a:t>link</a:t>
            </a:r>
            <a:r>
              <a:rPr lang="zh-CN" altLang="en-US" sz="2400">
                <a:sym typeface="Wingdings" panose="05000000000000000000" pitchFamily="2" charset="2"/>
              </a:rPr>
              <a:t>类型，</a:t>
            </a:r>
            <a:r>
              <a:rPr lang="en-US" altLang="zh-CN" sz="2400">
                <a:sym typeface="Wingdings" panose="05000000000000000000" pitchFamily="2" charset="2"/>
              </a:rPr>
              <a:t>p</a:t>
            </a:r>
            <a:r>
              <a:rPr lang="zh-CN" altLang="en-US" sz="2400">
                <a:sym typeface="Wingdings" panose="05000000000000000000" pitchFamily="2" charset="2"/>
              </a:rPr>
              <a:t>的类型为</a:t>
            </a:r>
            <a:r>
              <a:rPr lang="en-US" altLang="zh-CN" sz="2400">
                <a:sym typeface="Wingdings" panose="05000000000000000000" pitchFamily="2" charset="2"/>
              </a:rPr>
              <a:t>link</a:t>
            </a:r>
            <a:r>
              <a:rPr lang="en-US" altLang="zh-CN" sz="2400">
                <a:sym typeface="Symbol" panose="05050102010706020507" pitchFamily="18" charset="2"/>
              </a:rPr>
              <a:t>void</a:t>
            </a:r>
            <a:endParaRPr lang="en-US" altLang="zh-CN" sz="2400">
              <a:sym typeface="Symbol" panose="05050102010706020507" pitchFamily="18" charset="2"/>
            </a:endParaRPr>
          </a:p>
          <a:p>
            <a:pPr lvl="1" eaLnBrk="1" hangingPunct="1"/>
            <a:r>
              <a:rPr lang="zh-CN" altLang="en-US" sz="2400">
                <a:sym typeface="Symbol" panose="05050102010706020507" pitchFamily="18" charset="2"/>
              </a:rPr>
              <a:t>其他使用方式均会导致</a:t>
            </a:r>
            <a:r>
              <a:rPr lang="en-US" altLang="zh-CN" sz="2400">
                <a:sym typeface="Symbol" panose="05050102010706020507" pitchFamily="18" charset="2"/>
              </a:rPr>
              <a:t>type_error</a:t>
            </a:r>
            <a:endParaRPr lang="en-US" altLang="zh-CN" sz="2400">
              <a:sym typeface="Symbol" panose="05050102010706020507" pitchFamily="18"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a:t>例</a:t>
            </a:r>
            <a:r>
              <a:rPr lang="en-US" altLang="zh-CN"/>
              <a:t>6.9</a:t>
            </a:r>
            <a:endParaRPr lang="en-US" altLang="zh-CN"/>
          </a:p>
        </p:txBody>
      </p:sp>
      <p:sp>
        <p:nvSpPr>
          <p:cNvPr id="7168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a:t>function deref(p);</a:t>
            </a:r>
            <a:endParaRPr lang="en-US" altLang="zh-CN" sz="2400"/>
          </a:p>
          <a:p>
            <a:pPr eaLnBrk="1" hangingPunct="1">
              <a:buFont typeface="Wingdings" panose="05000000000000000000" pitchFamily="2" charset="2"/>
              <a:buNone/>
            </a:pPr>
            <a:r>
              <a:rPr lang="en-US" altLang="zh-CN" sz="2400"/>
              <a:t>begin</a:t>
            </a:r>
            <a:endParaRPr lang="en-US" altLang="zh-CN" sz="2400"/>
          </a:p>
          <a:p>
            <a:pPr eaLnBrk="1" hangingPunct="1">
              <a:buFont typeface="Wingdings" panose="05000000000000000000" pitchFamily="2" charset="2"/>
              <a:buNone/>
            </a:pPr>
            <a:r>
              <a:rPr lang="en-US" altLang="zh-CN" sz="2400"/>
              <a:t>	return p^;</a:t>
            </a:r>
            <a:endParaRPr lang="en-US" altLang="zh-CN" sz="2400"/>
          </a:p>
          <a:p>
            <a:pPr eaLnBrk="1" hangingPunct="1">
              <a:buFont typeface="Wingdings" panose="05000000000000000000" pitchFamily="2" charset="2"/>
              <a:buNone/>
            </a:pPr>
            <a:r>
              <a:rPr lang="en-US" altLang="zh-CN" sz="2400"/>
              <a:t>end;</a:t>
            </a:r>
            <a:endParaRPr lang="en-US" altLang="zh-CN" sz="2400"/>
          </a:p>
          <a:p>
            <a:pPr eaLnBrk="1" hangingPunct="1"/>
            <a:r>
              <a:rPr lang="zh-CN" altLang="en-US"/>
              <a:t>扫描第一行，</a:t>
            </a:r>
            <a:r>
              <a:rPr lang="en-US" altLang="zh-CN"/>
              <a:t>p</a:t>
            </a:r>
            <a:r>
              <a:rPr lang="zh-CN" altLang="en-US"/>
              <a:t>的类型未知，用</a:t>
            </a:r>
            <a:r>
              <a:rPr lang="en-US" altLang="zh-CN">
                <a:latin typeface="Symbol" panose="05050102010706020507" pitchFamily="18" charset="2"/>
              </a:rPr>
              <a:t>b</a:t>
            </a:r>
            <a:r>
              <a:rPr lang="zh-CN" altLang="en-US"/>
              <a:t>表示</a:t>
            </a:r>
            <a:endParaRPr lang="zh-CN" altLang="en-US"/>
          </a:p>
          <a:p>
            <a:pPr eaLnBrk="1" hangingPunct="1"/>
            <a:r>
              <a:rPr lang="zh-CN" altLang="en-US"/>
              <a:t>第三行，</a:t>
            </a:r>
            <a:r>
              <a:rPr lang="en-US" altLang="zh-CN"/>
              <a:t>^</a:t>
            </a:r>
            <a:r>
              <a:rPr lang="zh-CN" altLang="en-US"/>
              <a:t>应作用于指针，因此</a:t>
            </a:r>
            <a:r>
              <a:rPr lang="en-US" altLang="zh-CN"/>
              <a:t>p</a:t>
            </a:r>
            <a:r>
              <a:rPr lang="zh-CN" altLang="en-US"/>
              <a:t>为某未知基本类型</a:t>
            </a:r>
            <a:r>
              <a:rPr lang="en-US" altLang="zh-CN">
                <a:latin typeface="Symbol" panose="05050102010706020507" pitchFamily="18" charset="2"/>
              </a:rPr>
              <a:t>a</a:t>
            </a:r>
            <a:r>
              <a:rPr lang="zh-CN" altLang="en-US"/>
              <a:t>的指针类型，</a:t>
            </a:r>
            <a:r>
              <a:rPr lang="en-US" altLang="zh-CN">
                <a:latin typeface="Symbol" panose="05050102010706020507" pitchFamily="18" charset="2"/>
              </a:rPr>
              <a:t>b</a:t>
            </a:r>
            <a:r>
              <a:rPr lang="en-US" altLang="zh-CN"/>
              <a:t>=pointer(</a:t>
            </a:r>
            <a:r>
              <a:rPr lang="en-US" altLang="zh-CN">
                <a:latin typeface="Symbol" panose="05050102010706020507" pitchFamily="18" charset="2"/>
              </a:rPr>
              <a:t>a</a:t>
            </a:r>
            <a:r>
              <a:rPr lang="en-US" altLang="zh-CN"/>
              <a:t>)</a:t>
            </a:r>
            <a:endParaRPr lang="en-US" altLang="zh-CN"/>
          </a:p>
          <a:p>
            <a:pPr eaLnBrk="1" hangingPunct="1"/>
            <a:r>
              <a:rPr lang="zh-CN" altLang="en-US"/>
              <a:t>因此函数</a:t>
            </a:r>
            <a:r>
              <a:rPr lang="en-US" altLang="zh-CN"/>
              <a:t>deref</a:t>
            </a:r>
            <a:r>
              <a:rPr lang="zh-CN" altLang="en-US"/>
              <a:t>类型为：</a:t>
            </a:r>
            <a:r>
              <a:rPr lang="en-US" altLang="zh-CN"/>
              <a:t>pointer(</a:t>
            </a:r>
            <a:r>
              <a:rPr lang="en-US" altLang="zh-CN">
                <a:latin typeface="Symbol" panose="05050102010706020507" pitchFamily="18" charset="2"/>
              </a:rPr>
              <a:t>a</a:t>
            </a:r>
            <a:r>
              <a:rPr lang="en-US" altLang="zh-CN"/>
              <a:t>)</a:t>
            </a:r>
            <a:r>
              <a:rPr lang="en-US" altLang="zh-CN">
                <a:sym typeface="Symbol" panose="05050102010706020507" pitchFamily="18" charset="2"/>
              </a:rPr>
              <a:t></a:t>
            </a:r>
            <a:r>
              <a:rPr lang="en-US" altLang="zh-CN">
                <a:latin typeface="Symbol" panose="05050102010706020507" pitchFamily="18" charset="2"/>
                <a:sym typeface="Symbol" panose="05050102010706020507" pitchFamily="18" charset="2"/>
              </a:rPr>
              <a:t>a</a:t>
            </a:r>
            <a:endParaRPr lang="en-US" altLang="zh-CN">
              <a:latin typeface="Symbol" panose="05050102010706020507" pitchFamily="18" charset="2"/>
              <a:sym typeface="Symbol" panose="05050102010706020507"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zh-CN"/>
              <a:t>6.6.3  </a:t>
            </a:r>
            <a:r>
              <a:rPr lang="zh-CN" altLang="en-US"/>
              <a:t>包含多态函数的语言</a:t>
            </a:r>
            <a:endParaRPr lang="zh-CN" altLang="en-US"/>
          </a:p>
        </p:txBody>
      </p:sp>
      <p:sp>
        <p:nvSpPr>
          <p:cNvPr id="72707" name="Rectangle 3"/>
          <p:cNvSpPr>
            <a:spLocks noGrp="1" noChangeArrowheads="1"/>
          </p:cNvSpPr>
          <p:nvPr>
            <p:ph type="body" idx="1"/>
          </p:nvPr>
        </p:nvSpPr>
        <p:spPr/>
        <p:txBody>
          <a:bodyPr/>
          <a:lstStyle/>
          <a:p>
            <a:pPr eaLnBrk="1" hangingPunct="1"/>
            <a:r>
              <a:rPr lang="zh-CN" altLang="en-US"/>
              <a:t>用   表示“对所有类型”</a:t>
            </a:r>
            <a:endParaRPr lang="zh-CN" altLang="en-US"/>
          </a:p>
          <a:p>
            <a:pPr eaLnBrk="1" hangingPunct="1"/>
            <a:r>
              <a:rPr lang="en-US" altLang="zh-CN"/>
              <a:t>deref</a:t>
            </a:r>
            <a:r>
              <a:rPr lang="zh-CN" altLang="en-US"/>
              <a:t>类型的精确描述：</a:t>
            </a:r>
            <a:endParaRPr lang="zh-CN" altLang="en-US"/>
          </a:p>
          <a:p>
            <a:pPr eaLnBrk="1" hangingPunct="1"/>
            <a:r>
              <a:rPr lang="en-US" altLang="zh-CN"/>
              <a:t>length</a:t>
            </a:r>
            <a:r>
              <a:rPr lang="zh-CN" altLang="en-US"/>
              <a:t>：</a:t>
            </a:r>
            <a:endParaRPr lang="zh-CN" altLang="en-US"/>
          </a:p>
          <a:p>
            <a:pPr lvl="1" eaLnBrk="1" hangingPunct="1"/>
            <a:r>
              <a:rPr lang="en-US" altLang="zh-CN" i="1"/>
              <a:t>list</a:t>
            </a:r>
            <a:r>
              <a:rPr lang="en-US" altLang="zh-CN"/>
              <a:t>(</a:t>
            </a:r>
            <a:r>
              <a:rPr lang="en-US" altLang="zh-CN" i="1"/>
              <a:t>integer</a:t>
            </a:r>
            <a:r>
              <a:rPr lang="en-US" altLang="zh-CN"/>
              <a:t>)</a:t>
            </a:r>
            <a:r>
              <a:rPr lang="en-US" altLang="zh-CN">
                <a:sym typeface="Symbol" panose="05050102010706020507" pitchFamily="18" charset="2"/>
              </a:rPr>
              <a:t></a:t>
            </a:r>
            <a:r>
              <a:rPr lang="en-US" altLang="zh-CN" i="1">
                <a:sym typeface="Symbol" panose="05050102010706020507" pitchFamily="18" charset="2"/>
              </a:rPr>
              <a:t>integer</a:t>
            </a:r>
            <a:endParaRPr lang="en-US" altLang="zh-CN" i="1">
              <a:sym typeface="Symbol" panose="05050102010706020507" pitchFamily="18" charset="2"/>
            </a:endParaRPr>
          </a:p>
          <a:p>
            <a:pPr lvl="1" eaLnBrk="1" hangingPunct="1"/>
            <a:r>
              <a:rPr lang="en-US" altLang="zh-CN" i="1">
                <a:sym typeface="Symbol" panose="05050102010706020507" pitchFamily="18" charset="2"/>
              </a:rPr>
              <a:t>list</a:t>
            </a:r>
            <a:r>
              <a:rPr lang="en-US" altLang="zh-CN">
                <a:sym typeface="Symbol" panose="05050102010706020507" pitchFamily="18" charset="2"/>
              </a:rPr>
              <a:t>(</a:t>
            </a:r>
            <a:r>
              <a:rPr lang="en-US" altLang="zh-CN" i="1">
                <a:sym typeface="Symbol" panose="05050102010706020507" pitchFamily="18" charset="2"/>
              </a:rPr>
              <a:t>list</a:t>
            </a:r>
            <a:r>
              <a:rPr lang="en-US" altLang="zh-CN">
                <a:sym typeface="Symbol" panose="05050102010706020507" pitchFamily="18" charset="2"/>
              </a:rPr>
              <a:t>(</a:t>
            </a:r>
            <a:r>
              <a:rPr lang="en-US" altLang="zh-CN" i="1">
                <a:sym typeface="Symbol" panose="05050102010706020507" pitchFamily="18" charset="2"/>
              </a:rPr>
              <a:t>char</a:t>
            </a:r>
            <a:r>
              <a:rPr lang="en-US" altLang="zh-CN">
                <a:sym typeface="Symbol" panose="05050102010706020507" pitchFamily="18" charset="2"/>
              </a:rPr>
              <a:t>))</a:t>
            </a:r>
            <a:r>
              <a:rPr lang="en-US" altLang="zh-CN" i="1">
                <a:sym typeface="Symbol" panose="05050102010706020507" pitchFamily="18" charset="2"/>
              </a:rPr>
              <a:t>integer</a:t>
            </a:r>
            <a:endParaRPr lang="en-US" altLang="zh-CN" i="1">
              <a:sym typeface="Symbol" panose="05050102010706020507" pitchFamily="18" charset="2"/>
            </a:endParaRPr>
          </a:p>
          <a:p>
            <a:pPr eaLnBrk="1" hangingPunct="1"/>
            <a:r>
              <a:rPr lang="en-US" altLang="zh-CN">
                <a:sym typeface="Symbol" panose="05050102010706020507" pitchFamily="18" charset="2"/>
              </a:rPr>
              <a:t>     </a:t>
            </a:r>
            <a:r>
              <a:rPr lang="zh-CN" altLang="en-US">
                <a:sym typeface="Symbol" panose="05050102010706020507" pitchFamily="18" charset="2"/>
              </a:rPr>
              <a:t>：全称量词（</a:t>
            </a:r>
            <a:r>
              <a:rPr lang="en-US" altLang="zh-CN">
                <a:sym typeface="Symbol" panose="05050102010706020507" pitchFamily="18" charset="2"/>
              </a:rPr>
              <a:t>universal quantifier</a:t>
            </a:r>
            <a:r>
              <a:rPr lang="zh-CN" altLang="en-US">
                <a:sym typeface="Symbol" panose="05050102010706020507" pitchFamily="18" charset="2"/>
              </a:rPr>
              <a:t>）</a:t>
            </a:r>
            <a:r>
              <a:rPr lang="zh-CN" altLang="en-US">
                <a:sym typeface="Wingdings" panose="05000000000000000000" pitchFamily="2" charset="2"/>
              </a:rPr>
              <a:t></a:t>
            </a:r>
            <a:br>
              <a:rPr lang="zh-CN" altLang="en-US">
                <a:sym typeface="Wingdings" panose="05000000000000000000" pitchFamily="2" charset="2"/>
              </a:rPr>
            </a:br>
            <a:r>
              <a:rPr lang="zh-CN" altLang="en-US">
                <a:sym typeface="Wingdings" panose="05000000000000000000" pitchFamily="2" charset="2"/>
              </a:rPr>
              <a:t>它所施用的类型变量称为由它约束（</a:t>
            </a:r>
            <a:r>
              <a:rPr lang="en-US" altLang="zh-CN">
                <a:sym typeface="Wingdings" panose="05000000000000000000" pitchFamily="2" charset="2"/>
              </a:rPr>
              <a:t>bound</a:t>
            </a:r>
            <a:r>
              <a:rPr lang="zh-CN" altLang="en-US">
                <a:sym typeface="Wingdings" panose="05000000000000000000" pitchFamily="2" charset="2"/>
              </a:rPr>
              <a:t>）</a:t>
            </a:r>
            <a:endParaRPr lang="zh-CN" altLang="en-US">
              <a:sym typeface="Wingdings" panose="05000000000000000000" pitchFamily="2" charset="2"/>
            </a:endParaRPr>
          </a:p>
        </p:txBody>
      </p:sp>
      <p:graphicFrame>
        <p:nvGraphicFramePr>
          <p:cNvPr id="72708" name="Object 6"/>
          <p:cNvGraphicFramePr>
            <a:graphicFrameLocks noChangeAspect="1"/>
          </p:cNvGraphicFramePr>
          <p:nvPr/>
        </p:nvGraphicFramePr>
        <p:xfrm>
          <a:off x="5410200" y="2057400"/>
          <a:ext cx="3009900" cy="479425"/>
        </p:xfrm>
        <a:graphic>
          <a:graphicData uri="http://schemas.openxmlformats.org/presentationml/2006/ole">
            <mc:AlternateContent xmlns:mc="http://schemas.openxmlformats.org/markup-compatibility/2006">
              <mc:Choice xmlns:v="urn:schemas-microsoft-com:vml" Requires="v">
                <p:oleObj spid="_x0000_s72756" name="" r:id="rId1" imgW="1295400" imgH="203200" progId="Equation.3">
                  <p:embed/>
                </p:oleObj>
              </mc:Choice>
              <mc:Fallback>
                <p:oleObj name="" r:id="rId1" imgW="1295400" imgH="2032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2057400"/>
                        <a:ext cx="3009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09" name="Object 8"/>
          <p:cNvGraphicFramePr>
            <a:graphicFrameLocks noChangeAspect="1"/>
          </p:cNvGraphicFramePr>
          <p:nvPr/>
        </p:nvGraphicFramePr>
        <p:xfrm>
          <a:off x="2913063" y="2667000"/>
          <a:ext cx="3128962" cy="479425"/>
        </p:xfrm>
        <a:graphic>
          <a:graphicData uri="http://schemas.openxmlformats.org/presentationml/2006/ole">
            <mc:AlternateContent xmlns:mc="http://schemas.openxmlformats.org/markup-compatibility/2006">
              <mc:Choice xmlns:v="urn:schemas-microsoft-com:vml" Requires="v">
                <p:oleObj spid="_x0000_s72757" name="Equation" r:id="rId3" imgW="1346200" imgH="203200" progId="Equation.3">
                  <p:embed/>
                </p:oleObj>
              </mc:Choice>
              <mc:Fallback>
                <p:oleObj name="Equation" r:id="rId3" imgW="1346200" imgH="203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3063" y="2667000"/>
                        <a:ext cx="31289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0" name="Object 9"/>
          <p:cNvGraphicFramePr>
            <a:graphicFrameLocks noChangeAspect="1"/>
          </p:cNvGraphicFramePr>
          <p:nvPr/>
        </p:nvGraphicFramePr>
        <p:xfrm>
          <a:off x="1981200" y="1447800"/>
          <a:ext cx="354013" cy="388938"/>
        </p:xfrm>
        <a:graphic>
          <a:graphicData uri="http://schemas.openxmlformats.org/presentationml/2006/ole">
            <mc:AlternateContent xmlns:mc="http://schemas.openxmlformats.org/markup-compatibility/2006">
              <mc:Choice xmlns:v="urn:schemas-microsoft-com:vml" Requires="v">
                <p:oleObj spid="_x0000_s72758" name="Equation" r:id="rId5" imgW="152400" imgH="165100" progId="Equation.3">
                  <p:embed/>
                </p:oleObj>
              </mc:Choice>
              <mc:Fallback>
                <p:oleObj name="Equation" r:id="rId5" imgW="152400" imgH="1651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4478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1" name="Object 10"/>
          <p:cNvGraphicFramePr>
            <a:graphicFrameLocks noChangeAspect="1"/>
          </p:cNvGraphicFramePr>
          <p:nvPr/>
        </p:nvGraphicFramePr>
        <p:xfrm>
          <a:off x="1676400" y="4267200"/>
          <a:ext cx="354013" cy="388938"/>
        </p:xfrm>
        <a:graphic>
          <a:graphicData uri="http://schemas.openxmlformats.org/presentationml/2006/ole">
            <mc:AlternateContent xmlns:mc="http://schemas.openxmlformats.org/markup-compatibility/2006">
              <mc:Choice xmlns:v="urn:schemas-microsoft-com:vml" Requires="v">
                <p:oleObj spid="_x0000_s72759" name="Equation" r:id="rId7" imgW="152400" imgH="165100" progId="Equation.3">
                  <p:embed/>
                </p:oleObj>
              </mc:Choice>
              <mc:Fallback>
                <p:oleObj name="Equation" r:id="rId7" imgW="152400" imgH="1651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2672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a:t>文法定义</a:t>
            </a:r>
            <a:endParaRPr lang="zh-CN" altLang="en-US"/>
          </a:p>
        </p:txBody>
      </p:sp>
      <p:sp>
        <p:nvSpPr>
          <p:cNvPr id="73731" name="Rectangle 3"/>
          <p:cNvSpPr>
            <a:spLocks noGrp="1" noChangeArrowheads="1"/>
          </p:cNvSpPr>
          <p:nvPr>
            <p:ph type="body" idx="1"/>
          </p:nvPr>
        </p:nvSpPr>
        <p:spPr>
          <a:xfrm>
            <a:off x="1182688" y="1371600"/>
            <a:ext cx="7772400" cy="5486400"/>
          </a:xfrm>
        </p:spPr>
        <p:txBody>
          <a:bodyPr/>
          <a:lstStyle/>
          <a:p>
            <a:pPr eaLnBrk="1" hangingPunct="1">
              <a:lnSpc>
                <a:spcPct val="80000"/>
              </a:lnSpc>
              <a:spcBef>
                <a:spcPct val="10000"/>
              </a:spcBef>
              <a:buFont typeface="Wingdings" panose="05000000000000000000" pitchFamily="2" charset="2"/>
              <a:buNone/>
            </a:pPr>
            <a:r>
              <a:rPr lang="en-US" altLang="zh-CN" sz="2400"/>
              <a:t>P </a:t>
            </a:r>
            <a:r>
              <a:rPr lang="en-US" altLang="zh-CN" sz="2400">
                <a:sym typeface="Symbol" panose="05050102010706020507" pitchFamily="18" charset="2"/>
              </a:rPr>
              <a:t> D ; 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t>D </a:t>
            </a:r>
            <a:r>
              <a:rPr lang="en-US" altLang="zh-CN" sz="2400">
                <a:sym typeface="Symbol" panose="05050102010706020507" pitchFamily="18" charset="2"/>
              </a:rPr>
              <a:t> D ; D | </a:t>
            </a:r>
            <a:r>
              <a:rPr lang="en-US" altLang="zh-CN" sz="2400" b="1">
                <a:sym typeface="Symbol" panose="05050102010706020507" pitchFamily="18" charset="2"/>
              </a:rPr>
              <a:t>id</a:t>
            </a:r>
            <a:r>
              <a:rPr lang="en-US" altLang="zh-CN" sz="2400">
                <a:sym typeface="Symbol" panose="05050102010706020507" pitchFamily="18" charset="2"/>
              </a:rPr>
              <a:t> : Q</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Q        </a:t>
            </a:r>
            <a:r>
              <a:rPr lang="en-US" altLang="zh-CN" sz="2400" b="1">
                <a:sym typeface="Symbol" panose="05050102010706020507" pitchFamily="18" charset="2"/>
              </a:rPr>
              <a:t>type_varible</a:t>
            </a:r>
            <a:r>
              <a:rPr lang="en-US" altLang="zh-CN" sz="2400">
                <a:sym typeface="Symbol" panose="05050102010706020507" pitchFamily="18" charset="2"/>
              </a:rPr>
              <a:t> . Q | 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T  T ‘’ 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T × T</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unary_constructor </a:t>
            </a:r>
            <a:r>
              <a:rPr lang="en-US" altLang="zh-CN" sz="2400">
                <a:sym typeface="Symbol" panose="05050102010706020507" pitchFamily="18" charset="2"/>
              </a:rPr>
              <a:t> ( 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basic_type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type_varible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 T )</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 (E) | E , E | </a:t>
            </a:r>
            <a:r>
              <a:rPr lang="en-US" altLang="zh-CN" sz="2400" b="1">
                <a:sym typeface="Symbol" panose="05050102010706020507" pitchFamily="18" charset="2"/>
              </a:rPr>
              <a:t>id</a:t>
            </a:r>
            <a:endParaRPr lang="en-US" altLang="zh-CN" sz="2400" b="1">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zh-CN" altLang="en-US" sz="2400"/>
              <a:t>程序例：</a:t>
            </a:r>
            <a:endParaRPr lang="zh-CN" altLang="en-US" sz="2400"/>
          </a:p>
          <a:p>
            <a:pPr eaLnBrk="1" hangingPunct="1">
              <a:lnSpc>
                <a:spcPct val="80000"/>
              </a:lnSpc>
              <a:spcBef>
                <a:spcPct val="10000"/>
              </a:spcBef>
              <a:buFont typeface="Wingdings" panose="05000000000000000000" pitchFamily="2" charset="2"/>
              <a:buNone/>
            </a:pPr>
            <a:r>
              <a:rPr lang="en-US" altLang="zh-CN" sz="2400"/>
              <a:t>deref :</a:t>
            </a:r>
            <a:r>
              <a:rPr lang="en-US" altLang="zh-CN" sz="2400">
                <a:solidFill>
                  <a:srgbClr val="3333CC"/>
                </a:solidFill>
              </a:rPr>
              <a:t> </a:t>
            </a:r>
            <a:endParaRPr lang="en-US" altLang="zh-CN" sz="2400">
              <a:solidFill>
                <a:srgbClr val="3333CC"/>
              </a:solidFill>
            </a:endParaRPr>
          </a:p>
          <a:p>
            <a:pPr eaLnBrk="1" hangingPunct="1">
              <a:lnSpc>
                <a:spcPct val="80000"/>
              </a:lnSpc>
              <a:spcBef>
                <a:spcPct val="10000"/>
              </a:spcBef>
              <a:buFont typeface="Wingdings" panose="05000000000000000000" pitchFamily="2" charset="2"/>
              <a:buNone/>
            </a:pPr>
            <a:r>
              <a:rPr lang="en-US" altLang="zh-CN" sz="2400"/>
              <a:t>      q : pointer(pointer(integer));</a:t>
            </a:r>
            <a:endParaRPr lang="en-US" altLang="zh-CN" sz="2400"/>
          </a:p>
          <a:p>
            <a:pPr eaLnBrk="1" hangingPunct="1">
              <a:lnSpc>
                <a:spcPct val="80000"/>
              </a:lnSpc>
              <a:spcBef>
                <a:spcPct val="10000"/>
              </a:spcBef>
              <a:buFont typeface="Wingdings" panose="05000000000000000000" pitchFamily="2" charset="2"/>
              <a:buNone/>
            </a:pPr>
            <a:r>
              <a:rPr lang="en-US" altLang="zh-CN" sz="2400"/>
              <a:t>deref(deref(q))</a:t>
            </a:r>
            <a:endParaRPr lang="en-US" altLang="zh-CN" sz="2400"/>
          </a:p>
        </p:txBody>
      </p:sp>
      <p:graphicFrame>
        <p:nvGraphicFramePr>
          <p:cNvPr id="73732" name="Object 5"/>
          <p:cNvGraphicFramePr>
            <a:graphicFrameLocks noChangeAspect="1"/>
          </p:cNvGraphicFramePr>
          <p:nvPr/>
        </p:nvGraphicFramePr>
        <p:xfrm>
          <a:off x="2057400" y="2057400"/>
          <a:ext cx="354013" cy="388938"/>
        </p:xfrm>
        <a:graphic>
          <a:graphicData uri="http://schemas.openxmlformats.org/presentationml/2006/ole">
            <mc:AlternateContent xmlns:mc="http://schemas.openxmlformats.org/markup-compatibility/2006">
              <mc:Choice xmlns:v="urn:schemas-microsoft-com:vml" Requires="v">
                <p:oleObj spid="_x0000_s73756" name="Equation" r:id="rId1" imgW="152400" imgH="165100" progId="Equation.3">
                  <p:embed/>
                </p:oleObj>
              </mc:Choice>
              <mc:Fallback>
                <p:oleObj name="Equation" r:id="rId1" imgW="152400" imgH="165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3" name="Object 6"/>
          <p:cNvGraphicFramePr>
            <a:graphicFrameLocks noChangeAspect="1"/>
          </p:cNvGraphicFramePr>
          <p:nvPr/>
        </p:nvGraphicFramePr>
        <p:xfrm>
          <a:off x="2220913" y="4941888"/>
          <a:ext cx="3070225" cy="479425"/>
        </p:xfrm>
        <a:graphic>
          <a:graphicData uri="http://schemas.openxmlformats.org/presentationml/2006/ole">
            <mc:AlternateContent xmlns:mc="http://schemas.openxmlformats.org/markup-compatibility/2006">
              <mc:Choice xmlns:v="urn:schemas-microsoft-com:vml" Requires="v">
                <p:oleObj spid="_x0000_s73757" name="Equation" r:id="rId3" imgW="1320165" imgH="203200" progId="Equation.3">
                  <p:embed/>
                </p:oleObj>
              </mc:Choice>
              <mc:Fallback>
                <p:oleObj name="Equation" r:id="rId3" imgW="1320165" imgH="203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0913" y="4941888"/>
                        <a:ext cx="3070225" cy="479425"/>
                      </a:xfrm>
                      <a:prstGeom prst="rect">
                        <a:avLst/>
                      </a:prstGeom>
                      <a:noFill/>
                      <a:ln>
                        <a:noFill/>
                      </a:ln>
                      <a:extLst>
                        <a:ext uri="{909E8E84-426E-40DD-AFC4-6F175D3DCCD1}">
                          <a14:hiddenFill xmlns:a14="http://schemas.microsoft.com/office/drawing/2010/main">
                            <a:solidFill>
                              <a:srgbClr val="3333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zh-CN" altLang="en-US"/>
              <a:t>多态函数类型检查</a:t>
            </a:r>
            <a:endParaRPr lang="zh-CN" altLang="en-US"/>
          </a:p>
        </p:txBody>
      </p:sp>
      <p:sp>
        <p:nvSpPr>
          <p:cNvPr id="74755" name="Rectangle 3"/>
          <p:cNvSpPr>
            <a:spLocks noGrp="1" noChangeArrowheads="1"/>
          </p:cNvSpPr>
          <p:nvPr>
            <p:ph type="body" idx="1"/>
          </p:nvPr>
        </p:nvSpPr>
        <p:spPr>
          <a:xfrm>
            <a:off x="1182688" y="3657600"/>
            <a:ext cx="7772400" cy="2438400"/>
          </a:xfrm>
        </p:spPr>
        <p:txBody>
          <a:bodyPr/>
          <a:lstStyle/>
          <a:p>
            <a:pPr eaLnBrk="1" hangingPunct="1"/>
            <a:r>
              <a:rPr lang="zh-CN" altLang="en-US"/>
              <a:t>每个结点两个标签：子表达式和类型表达式</a:t>
            </a:r>
            <a:endParaRPr lang="zh-CN" altLang="en-US"/>
          </a:p>
          <a:p>
            <a:pPr eaLnBrk="1" hangingPunct="1"/>
            <a:r>
              <a:rPr lang="zh-CN" altLang="en-US"/>
              <a:t>下标</a:t>
            </a:r>
            <a:r>
              <a:rPr lang="en-US" altLang="zh-CN"/>
              <a:t>o</a:t>
            </a:r>
            <a:r>
              <a:rPr lang="zh-CN" altLang="en-US"/>
              <a:t>：外层</a:t>
            </a:r>
            <a:r>
              <a:rPr lang="en-US" altLang="zh-CN"/>
              <a:t>deref</a:t>
            </a:r>
            <a:r>
              <a:rPr lang="zh-CN" altLang="en-US"/>
              <a:t>，</a:t>
            </a:r>
            <a:r>
              <a:rPr lang="en-US" altLang="zh-CN"/>
              <a:t>i</a:t>
            </a:r>
            <a:r>
              <a:rPr lang="zh-CN" altLang="en-US"/>
              <a:t>：内层</a:t>
            </a:r>
            <a:r>
              <a:rPr lang="en-US" altLang="zh-CN"/>
              <a:t>deref</a:t>
            </a:r>
            <a:endParaRPr lang="en-US" altLang="zh-CN"/>
          </a:p>
        </p:txBody>
      </p:sp>
      <p:pic>
        <p:nvPicPr>
          <p:cNvPr id="74756" name="Picture 4" descr="poly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0000" y="1295400"/>
            <a:ext cx="69596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a:t>类型检查规则的特点</a:t>
            </a:r>
            <a:endParaRPr lang="zh-CN" altLang="en-US"/>
          </a:p>
        </p:txBody>
      </p:sp>
      <p:sp>
        <p:nvSpPr>
          <p:cNvPr id="75779"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a:pPr>
            <a:r>
              <a:rPr lang="zh-CN" altLang="en-US"/>
              <a:t>不同位置出现的同一多态函数可具有不同类型的参数。</a:t>
            </a:r>
            <a:endParaRPr lang="zh-CN" altLang="en-US"/>
          </a:p>
          <a:p>
            <a:pPr marL="990600" lvl="1" indent="-533400" eaLnBrk="1" hangingPunct="1">
              <a:buFont typeface="Wingdings" panose="05000000000000000000" pitchFamily="2" charset="2"/>
              <a:buChar char="m"/>
            </a:pPr>
            <a:r>
              <a:rPr lang="en-US" altLang="zh-CN"/>
              <a:t>deref</a:t>
            </a:r>
            <a:r>
              <a:rPr lang="en-US" altLang="zh-CN" baseline="-25000"/>
              <a:t>o</a:t>
            </a:r>
            <a:r>
              <a:rPr lang="zh-CN" altLang="en-US"/>
              <a:t>参数为二重指针，而</a:t>
            </a:r>
            <a:r>
              <a:rPr lang="en-US" altLang="zh-CN"/>
              <a:t>deref</a:t>
            </a:r>
            <a:r>
              <a:rPr lang="en-US" altLang="zh-CN" baseline="-25000"/>
              <a:t>i</a:t>
            </a:r>
            <a:r>
              <a:rPr lang="zh-CN" altLang="en-US"/>
              <a:t>的参数为一重指针。</a:t>
            </a:r>
            <a:endParaRPr lang="zh-CN" altLang="en-US"/>
          </a:p>
          <a:p>
            <a:pPr marL="990600" lvl="1" indent="-533400" eaLnBrk="1" hangingPunct="1">
              <a:buFont typeface="Wingdings" panose="05000000000000000000" pitchFamily="2" charset="2"/>
              <a:buChar char="m"/>
            </a:pPr>
            <a:r>
              <a:rPr lang="zh-CN" altLang="en-US"/>
              <a:t>关键在于    的解释，对不同</a:t>
            </a:r>
            <a:r>
              <a:rPr lang="en-US" altLang="zh-CN"/>
              <a:t>deref</a:t>
            </a:r>
            <a:r>
              <a:rPr lang="zh-CN" altLang="en-US"/>
              <a:t>，约束的类型变量</a:t>
            </a:r>
            <a:r>
              <a:rPr lang="en-US" altLang="zh-CN">
                <a:latin typeface="Symbol" panose="05050102010706020507" pitchFamily="18" charset="2"/>
              </a:rPr>
              <a:t>a</a:t>
            </a:r>
            <a:r>
              <a:rPr lang="zh-CN" altLang="en-US"/>
              <a:t>所代表的意义是不同的。</a:t>
            </a:r>
            <a:endParaRPr lang="zh-CN" altLang="en-US"/>
          </a:p>
          <a:p>
            <a:pPr marL="990600" lvl="1" indent="-533400" eaLnBrk="1" hangingPunct="1">
              <a:buFont typeface="Wingdings" panose="05000000000000000000" pitchFamily="2" charset="2"/>
              <a:buChar char="m"/>
            </a:pPr>
            <a:r>
              <a:rPr lang="zh-CN" altLang="en-US"/>
              <a:t>对多态函数的每次出现，都赋予不同的</a:t>
            </a:r>
            <a:r>
              <a:rPr lang="zh-CN" altLang="en-US">
                <a:latin typeface="Symbol" panose="05050102010706020507" pitchFamily="18" charset="2"/>
              </a:rPr>
              <a:t>类型变量</a:t>
            </a:r>
            <a:r>
              <a:rPr lang="zh-CN" altLang="en-US"/>
              <a:t>，而不再使用   </a:t>
            </a:r>
            <a:r>
              <a:rPr lang="en-US" altLang="zh-CN"/>
              <a:t>——</a:t>
            </a:r>
            <a:r>
              <a:rPr lang="zh-CN" altLang="en-US"/>
              <a:t>上例中用</a:t>
            </a:r>
            <a:r>
              <a:rPr lang="en-US" altLang="zh-CN">
                <a:latin typeface="Symbol" panose="05050102010706020507" pitchFamily="18" charset="2"/>
              </a:rPr>
              <a:t>a</a:t>
            </a:r>
            <a:r>
              <a:rPr lang="en-US" altLang="zh-CN" baseline="-25000"/>
              <a:t>o</a:t>
            </a:r>
            <a:r>
              <a:rPr lang="zh-CN" altLang="en-US"/>
              <a:t>、</a:t>
            </a:r>
            <a:r>
              <a:rPr lang="en-US" altLang="zh-CN">
                <a:latin typeface="Symbol" panose="05050102010706020507" pitchFamily="18" charset="2"/>
              </a:rPr>
              <a:t>a</a:t>
            </a:r>
            <a:r>
              <a:rPr lang="en-US" altLang="zh-CN" baseline="-25000"/>
              <a:t>i</a:t>
            </a:r>
            <a:r>
              <a:rPr lang="zh-CN" altLang="en-US"/>
              <a:t>分别对应外层和内层</a:t>
            </a:r>
            <a:r>
              <a:rPr lang="en-US" altLang="zh-CN"/>
              <a:t>deref</a:t>
            </a:r>
            <a:endParaRPr lang="en-US" altLang="zh-CN"/>
          </a:p>
        </p:txBody>
      </p:sp>
      <p:graphicFrame>
        <p:nvGraphicFramePr>
          <p:cNvPr id="75780" name="Object 4"/>
          <p:cNvGraphicFramePr>
            <a:graphicFrameLocks noChangeAspect="1"/>
          </p:cNvGraphicFramePr>
          <p:nvPr/>
        </p:nvGraphicFramePr>
        <p:xfrm>
          <a:off x="3733800" y="3429000"/>
          <a:ext cx="354013" cy="388938"/>
        </p:xfrm>
        <a:graphic>
          <a:graphicData uri="http://schemas.openxmlformats.org/presentationml/2006/ole">
            <mc:AlternateContent xmlns:mc="http://schemas.openxmlformats.org/markup-compatibility/2006">
              <mc:Choice xmlns:v="urn:schemas-microsoft-com:vml" Requires="v">
                <p:oleObj spid="_x0000_s75804" name="Equation" r:id="rId1" imgW="152400" imgH="165100" progId="Equation.3">
                  <p:embed/>
                </p:oleObj>
              </mc:Choice>
              <mc:Fallback>
                <p:oleObj name="Equation" r:id="rId1" imgW="152400" imgH="165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34290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781" name="Object 5"/>
          <p:cNvGraphicFramePr>
            <a:graphicFrameLocks noChangeAspect="1"/>
          </p:cNvGraphicFramePr>
          <p:nvPr/>
        </p:nvGraphicFramePr>
        <p:xfrm>
          <a:off x="5410200" y="4800600"/>
          <a:ext cx="354013" cy="388938"/>
        </p:xfrm>
        <a:graphic>
          <a:graphicData uri="http://schemas.openxmlformats.org/presentationml/2006/ole">
            <mc:AlternateContent xmlns:mc="http://schemas.openxmlformats.org/markup-compatibility/2006">
              <mc:Choice xmlns:v="urn:schemas-microsoft-com:vml" Requires="v">
                <p:oleObj spid="_x0000_s75805" name="Equation" r:id="rId3" imgW="152400" imgH="165100" progId="Equation.3">
                  <p:embed/>
                </p:oleObj>
              </mc:Choice>
              <mc:Fallback>
                <p:oleObj name="Equation" r:id="rId3" imgW="152400" imgH="165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48006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a:t>类型检查规则的特点（二）</a:t>
            </a:r>
            <a:endParaRPr lang="zh-CN" altLang="en-US"/>
          </a:p>
        </p:txBody>
      </p:sp>
      <p:sp>
        <p:nvSpPr>
          <p:cNvPr id="76803"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startAt="2"/>
            </a:pPr>
            <a:r>
              <a:rPr lang="zh-CN" altLang="en-US" dirty="0"/>
              <a:t>类型表达式中存在变量，因此要重新考虑类型等价的概念</a:t>
            </a:r>
            <a:endParaRPr lang="zh-CN" altLang="en-US" dirty="0"/>
          </a:p>
          <a:p>
            <a:pPr marL="990600" lvl="1" indent="-533400" eaLnBrk="1" hangingPunct="1">
              <a:buFont typeface="Wingdings" panose="05000000000000000000" pitchFamily="2" charset="2"/>
              <a:buChar char="m"/>
            </a:pPr>
            <a:r>
              <a:rPr lang="zh-CN" altLang="en-US" dirty="0"/>
              <a:t>类型为</a:t>
            </a:r>
            <a:r>
              <a:rPr lang="en-US" altLang="zh-CN" i="1" dirty="0" err="1">
                <a:sym typeface="Symbol" panose="05050102010706020507" pitchFamily="18" charset="2"/>
              </a:rPr>
              <a:t>s</a:t>
            </a:r>
            <a:r>
              <a:rPr lang="en-US" altLang="zh-CN" dirty="0" err="1">
                <a:sym typeface="Symbol" panose="05050102010706020507" pitchFamily="18" charset="2"/>
              </a:rPr>
              <a:t></a:t>
            </a:r>
            <a:r>
              <a:rPr lang="en-US" altLang="zh-CN" i="1" dirty="0" err="1">
                <a:sym typeface="Symbol" panose="05050102010706020507" pitchFamily="18" charset="2"/>
              </a:rPr>
              <a:t>s</a:t>
            </a:r>
            <a:r>
              <a:rPr lang="en-US" altLang="zh-CN" i="1" dirty="0">
                <a:sym typeface="Symbol" panose="05050102010706020507" pitchFamily="18" charset="2"/>
              </a:rPr>
              <a:t>’</a:t>
            </a:r>
            <a:r>
              <a:rPr lang="zh-CN" altLang="en-US" dirty="0">
                <a:sym typeface="Symbol" panose="05050102010706020507" pitchFamily="18" charset="2"/>
              </a:rPr>
              <a:t>的</a:t>
            </a:r>
            <a:r>
              <a:rPr lang="zh-CN" altLang="en-US" dirty="0"/>
              <a:t>函数</a:t>
            </a:r>
            <a:r>
              <a:rPr lang="en-US" altLang="zh-CN" dirty="0"/>
              <a:t>E</a:t>
            </a:r>
            <a:r>
              <a:rPr lang="en-US" altLang="zh-CN" baseline="-25000" dirty="0"/>
              <a:t>1</a:t>
            </a:r>
            <a:r>
              <a:rPr lang="zh-CN" altLang="en-US" dirty="0"/>
              <a:t>施用于类型为</a:t>
            </a:r>
            <a:r>
              <a:rPr lang="en-US" altLang="zh-CN" i="1" dirty="0"/>
              <a:t>t</a:t>
            </a:r>
            <a:r>
              <a:rPr lang="zh-CN" altLang="en-US" dirty="0"/>
              <a:t>的</a:t>
            </a:r>
            <a:r>
              <a:rPr lang="en-US" altLang="zh-CN" dirty="0"/>
              <a:t>E</a:t>
            </a:r>
            <a:r>
              <a:rPr lang="en-US" altLang="zh-CN" baseline="-25000" dirty="0"/>
              <a:t>2</a:t>
            </a:r>
            <a:r>
              <a:rPr lang="zh-CN" altLang="en-US" dirty="0"/>
              <a:t>，仅判定</a:t>
            </a:r>
            <a:r>
              <a:rPr lang="en-US" altLang="zh-CN" i="1" dirty="0"/>
              <a:t>s</a:t>
            </a:r>
            <a:r>
              <a:rPr lang="zh-CN" altLang="en-US" dirty="0"/>
              <a:t>和</a:t>
            </a:r>
            <a:r>
              <a:rPr lang="en-US" altLang="zh-CN" i="1" dirty="0"/>
              <a:t>t</a:t>
            </a:r>
            <a:r>
              <a:rPr lang="zh-CN" altLang="en-US" dirty="0"/>
              <a:t>是否等价是不够的，要对它们进行“合一”（</a:t>
            </a:r>
            <a:r>
              <a:rPr lang="en-US" altLang="zh-CN" dirty="0"/>
              <a:t>unify</a:t>
            </a:r>
            <a:r>
              <a:rPr lang="zh-CN" altLang="en-US" dirty="0"/>
              <a:t>）</a:t>
            </a:r>
            <a:endParaRPr lang="zh-CN" altLang="en-US" dirty="0"/>
          </a:p>
          <a:p>
            <a:pPr marL="990600" lvl="1" indent="-533400" eaLnBrk="1" hangingPunct="1">
              <a:buFont typeface="Wingdings" panose="05000000000000000000" pitchFamily="2" charset="2"/>
              <a:buChar char="m"/>
            </a:pPr>
            <a:r>
              <a:rPr lang="zh-CN" altLang="en-US" dirty="0"/>
              <a:t>适当替换类型变量，检查是否有可能达到结构等价</a:t>
            </a:r>
            <a:endParaRPr lang="zh-CN" altLang="en-US" dirty="0"/>
          </a:p>
          <a:p>
            <a:pPr marL="990600" lvl="1" indent="-533400" eaLnBrk="1" hangingPunct="1">
              <a:buFont typeface="Wingdings" panose="05000000000000000000" pitchFamily="2" charset="2"/>
              <a:buChar char="m"/>
            </a:pPr>
            <a:r>
              <a:rPr lang="zh-CN" altLang="en-US" dirty="0"/>
              <a:t>上例：将</a:t>
            </a:r>
            <a:r>
              <a:rPr lang="en-US" altLang="zh-CN" dirty="0">
                <a:latin typeface="Symbol" panose="05050102010706020507" pitchFamily="18" charset="2"/>
              </a:rPr>
              <a:t>a</a:t>
            </a:r>
            <a:r>
              <a:rPr lang="en-US" altLang="zh-CN" baseline="-25000" dirty="0"/>
              <a:t>i</a:t>
            </a:r>
            <a:r>
              <a:rPr lang="zh-CN" altLang="en-US" dirty="0"/>
              <a:t>替换为</a:t>
            </a:r>
            <a:r>
              <a:rPr lang="en-US" altLang="zh-CN" i="1" dirty="0"/>
              <a:t>pointer</a:t>
            </a:r>
            <a:r>
              <a:rPr lang="en-US" altLang="zh-CN" dirty="0"/>
              <a:t>(</a:t>
            </a:r>
            <a:r>
              <a:rPr lang="en-US" altLang="zh-CN" i="1" dirty="0"/>
              <a:t>integer</a:t>
            </a:r>
            <a:r>
              <a:rPr lang="en-US" altLang="zh-CN" dirty="0"/>
              <a:t>)</a:t>
            </a:r>
            <a:r>
              <a:rPr lang="zh-CN" altLang="en-US" dirty="0"/>
              <a:t>，则</a:t>
            </a:r>
            <a:br>
              <a:rPr lang="zh-CN" altLang="en-US" dirty="0"/>
            </a:br>
            <a:r>
              <a:rPr lang="en-US" altLang="zh-CN" i="1" dirty="0"/>
              <a:t>pointer</a:t>
            </a:r>
            <a:r>
              <a:rPr lang="en-US" altLang="zh-CN" dirty="0"/>
              <a:t>(</a:t>
            </a:r>
            <a:r>
              <a:rPr lang="en-US" altLang="zh-CN" dirty="0">
                <a:latin typeface="Symbol" panose="05050102010706020507" pitchFamily="18" charset="2"/>
              </a:rPr>
              <a:t>a</a:t>
            </a:r>
            <a:r>
              <a:rPr lang="en-US" altLang="zh-CN" baseline="-25000" dirty="0"/>
              <a:t>i</a:t>
            </a:r>
            <a:r>
              <a:rPr lang="en-US" altLang="zh-CN" dirty="0"/>
              <a:t>)</a:t>
            </a:r>
            <a:r>
              <a:rPr lang="zh-CN" altLang="en-US" dirty="0"/>
              <a:t>与</a:t>
            </a:r>
            <a:r>
              <a:rPr lang="en-US" altLang="zh-CN" i="1" dirty="0"/>
              <a:t>pointer</a:t>
            </a:r>
            <a:r>
              <a:rPr lang="en-US" altLang="zh-CN" dirty="0"/>
              <a:t>(</a:t>
            </a:r>
            <a:r>
              <a:rPr lang="en-US" altLang="zh-CN" i="1" dirty="0"/>
              <a:t>pointer</a:t>
            </a:r>
            <a:r>
              <a:rPr lang="en-US" altLang="zh-CN" dirty="0"/>
              <a:t>( </a:t>
            </a:r>
            <a:r>
              <a:rPr lang="en-US" altLang="zh-CN" i="1" dirty="0"/>
              <a:t>integer</a:t>
            </a:r>
            <a:r>
              <a:rPr lang="en-US" altLang="zh-CN" dirty="0"/>
              <a:t>))</a:t>
            </a:r>
            <a:r>
              <a:rPr lang="zh-CN" altLang="en-US" dirty="0"/>
              <a:t>等价</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a:t>类型检查规则的特点（三）</a:t>
            </a:r>
            <a:endParaRPr lang="zh-CN" altLang="en-US"/>
          </a:p>
        </p:txBody>
      </p:sp>
      <p:sp>
        <p:nvSpPr>
          <p:cNvPr id="77827"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startAt="3"/>
            </a:pPr>
            <a:r>
              <a:rPr lang="zh-CN" altLang="en-US" dirty="0"/>
              <a:t>需要某种机制记录</a:t>
            </a:r>
            <a:r>
              <a:rPr lang="zh-CN" altLang="en-US" dirty="0">
                <a:sym typeface="Symbol" panose="05050102010706020507" pitchFamily="18" charset="2"/>
              </a:rPr>
              <a:t>合一</a:t>
            </a:r>
            <a:r>
              <a:rPr lang="zh-CN" altLang="en-US" dirty="0"/>
              <a:t>的影响</a:t>
            </a:r>
            <a:endParaRPr lang="zh-CN" altLang="en-US" dirty="0"/>
          </a:p>
          <a:p>
            <a:pPr marL="990600" lvl="1" indent="-533400" eaLnBrk="1" hangingPunct="1">
              <a:buFont typeface="Wingdings" panose="05000000000000000000" pitchFamily="2" charset="2"/>
              <a:buChar char="m"/>
            </a:pPr>
            <a:r>
              <a:rPr lang="zh-CN" altLang="en-US" dirty="0"/>
              <a:t>一个类型变量可出现在表达式的多个位置</a:t>
            </a:r>
            <a:endParaRPr lang="zh-CN" altLang="en-US" dirty="0"/>
          </a:p>
          <a:p>
            <a:pPr marL="990600" lvl="1" indent="-533400" eaLnBrk="1" hangingPunct="1">
              <a:buFont typeface="Wingdings" panose="05000000000000000000" pitchFamily="2" charset="2"/>
              <a:buChar char="m"/>
            </a:pPr>
            <a:r>
              <a:rPr lang="zh-CN" altLang="en-US" dirty="0"/>
              <a:t>若</a:t>
            </a:r>
            <a:r>
              <a:rPr lang="en-US" altLang="zh-CN" i="1" dirty="0">
                <a:sym typeface="Symbol" panose="05050102010706020507" pitchFamily="18" charset="2"/>
              </a:rPr>
              <a:t>s</a:t>
            </a:r>
            <a:r>
              <a:rPr lang="zh-CN" altLang="en-US" dirty="0">
                <a:sym typeface="Symbol" panose="05050102010706020507" pitchFamily="18" charset="2"/>
              </a:rPr>
              <a:t>和</a:t>
            </a:r>
            <a:r>
              <a:rPr lang="en-US" altLang="zh-CN" i="1" dirty="0">
                <a:sym typeface="Symbol" panose="05050102010706020507" pitchFamily="18" charset="2"/>
              </a:rPr>
              <a:t>s’</a:t>
            </a:r>
            <a:r>
              <a:rPr lang="zh-CN" altLang="en-US" dirty="0">
                <a:sym typeface="Symbol" panose="05050102010706020507" pitchFamily="18" charset="2"/>
              </a:rPr>
              <a:t>的合一使得变量</a:t>
            </a:r>
            <a:r>
              <a:rPr lang="en-US" altLang="zh-CN" dirty="0">
                <a:latin typeface="Symbol" panose="05050102010706020507" pitchFamily="18" charset="2"/>
                <a:sym typeface="Symbol" panose="05050102010706020507" pitchFamily="18" charset="2"/>
              </a:rPr>
              <a:t>a</a:t>
            </a:r>
            <a:r>
              <a:rPr lang="zh-CN" altLang="en-US" dirty="0">
                <a:sym typeface="Symbol" panose="05050102010706020507" pitchFamily="18" charset="2"/>
              </a:rPr>
              <a:t>表示类型</a:t>
            </a:r>
            <a:r>
              <a:rPr lang="en-US" altLang="zh-CN" i="1" dirty="0">
                <a:sym typeface="Symbol" panose="05050102010706020507" pitchFamily="18" charset="2"/>
              </a:rPr>
              <a:t>t</a:t>
            </a:r>
            <a:r>
              <a:rPr lang="zh-CN" altLang="en-US" dirty="0">
                <a:sym typeface="Symbol" panose="05050102010706020507" pitchFamily="18" charset="2"/>
              </a:rPr>
              <a:t>，则在整个类型表达式中，它都应表示</a:t>
            </a:r>
            <a:r>
              <a:rPr lang="en-US" altLang="zh-CN" dirty="0">
                <a:sym typeface="Symbol" panose="05050102010706020507" pitchFamily="18" charset="2"/>
              </a:rPr>
              <a:t>t</a:t>
            </a:r>
            <a:endParaRPr lang="en-US" altLang="zh-CN" dirty="0">
              <a:sym typeface="Symbol" panose="05050102010706020507" pitchFamily="18" charset="2"/>
            </a:endParaRPr>
          </a:p>
          <a:p>
            <a:pPr marL="990600" lvl="1" indent="-533400" eaLnBrk="1" hangingPunct="1">
              <a:buFont typeface="Wingdings" panose="05000000000000000000" pitchFamily="2" charset="2"/>
              <a:buChar char="m"/>
            </a:pPr>
            <a:r>
              <a:rPr lang="zh-CN" altLang="en-US" dirty="0">
                <a:sym typeface="Symbol" panose="05050102010706020507" pitchFamily="18" charset="2"/>
              </a:rPr>
              <a:t>上例： </a:t>
            </a:r>
            <a:r>
              <a:rPr lang="en-US" altLang="zh-CN" dirty="0">
                <a:latin typeface="Symbol" panose="05050102010706020507" pitchFamily="18" charset="2"/>
              </a:rPr>
              <a:t>a</a:t>
            </a:r>
            <a:r>
              <a:rPr lang="en-US" altLang="zh-CN" baseline="-25000" dirty="0"/>
              <a:t>i</a:t>
            </a:r>
            <a:r>
              <a:rPr lang="zh-CN" altLang="en-US" dirty="0"/>
              <a:t>作用域为</a:t>
            </a:r>
            <a:r>
              <a:rPr lang="en-US" altLang="zh-CN" dirty="0" err="1"/>
              <a:t>deref</a:t>
            </a:r>
            <a:r>
              <a:rPr lang="en-US" altLang="zh-CN" baseline="-25000" dirty="0" err="1"/>
              <a:t>i</a:t>
            </a:r>
            <a:r>
              <a:rPr lang="en-US" altLang="zh-CN" dirty="0"/>
              <a:t>(q)</a:t>
            </a:r>
            <a:r>
              <a:rPr lang="zh-CN" altLang="en-US" dirty="0"/>
              <a:t>，因此可用来</a:t>
            </a:r>
            <a:r>
              <a:rPr lang="zh-CN" altLang="en-US" dirty="0">
                <a:sym typeface="Symbol" panose="05050102010706020507" pitchFamily="18" charset="2"/>
              </a:rPr>
              <a:t>合一</a:t>
            </a:r>
            <a:r>
              <a:rPr lang="en-US" altLang="zh-CN" dirty="0" err="1"/>
              <a:t>deref</a:t>
            </a:r>
            <a:r>
              <a:rPr lang="en-US" altLang="zh-CN" baseline="-25000" dirty="0" err="1"/>
              <a:t>i</a:t>
            </a:r>
            <a:r>
              <a:rPr lang="zh-CN" altLang="en-US" dirty="0"/>
              <a:t>和</a:t>
            </a:r>
            <a:r>
              <a:rPr lang="en-US" altLang="zh-CN" dirty="0"/>
              <a:t>q</a:t>
            </a:r>
            <a:endParaRPr lang="en-US" altLang="zh-CN" dirty="0"/>
          </a:p>
          <a:p>
            <a:pPr marL="990600" lvl="1" indent="-533400" eaLnBrk="1" hangingPunct="1">
              <a:buFont typeface="Wingdings" panose="05000000000000000000" pitchFamily="2" charset="2"/>
              <a:buChar char="m"/>
            </a:pPr>
            <a:r>
              <a:rPr lang="zh-CN" altLang="en-US" dirty="0"/>
              <a:t>而</a:t>
            </a:r>
            <a:r>
              <a:rPr lang="en-US" altLang="zh-CN" dirty="0" err="1">
                <a:latin typeface="Symbol" panose="05050102010706020507" pitchFamily="18" charset="2"/>
              </a:rPr>
              <a:t>a</a:t>
            </a:r>
            <a:r>
              <a:rPr lang="en-US" altLang="zh-CN" baseline="-25000" dirty="0" err="1"/>
              <a:t>o</a:t>
            </a:r>
            <a:r>
              <a:rPr lang="zh-CN" altLang="en-US" dirty="0"/>
              <a:t>为不同类型变量，因此表示不同类型不违反本规则</a:t>
            </a:r>
            <a:endParaRPr lang="zh-CN" altLang="en-US" baseline="-25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zh-CN"/>
              <a:t>6.6.4  </a:t>
            </a:r>
            <a:r>
              <a:rPr lang="zh-CN" altLang="en-US"/>
              <a:t>代换，实例和合一</a:t>
            </a:r>
            <a:endParaRPr lang="zh-CN" altLang="en-US"/>
          </a:p>
        </p:txBody>
      </p:sp>
      <p:sp>
        <p:nvSpPr>
          <p:cNvPr id="78851" name="Rectangle 3"/>
          <p:cNvSpPr>
            <a:spLocks noGrp="1" noChangeArrowheads="1"/>
          </p:cNvSpPr>
          <p:nvPr>
            <p:ph type="body" idx="1"/>
          </p:nvPr>
        </p:nvSpPr>
        <p:spPr>
          <a:xfrm>
            <a:off x="1182688" y="1371600"/>
            <a:ext cx="7772400" cy="5181600"/>
          </a:xfrm>
        </p:spPr>
        <p:txBody>
          <a:bodyPr/>
          <a:lstStyle/>
          <a:p>
            <a:pPr eaLnBrk="1" hangingPunct="1"/>
            <a:r>
              <a:rPr lang="zh-CN" altLang="en-US" sz="2800"/>
              <a:t>变量表示实际类型的形式化定义</a:t>
            </a:r>
            <a:endParaRPr lang="zh-CN" altLang="en-US" sz="2800"/>
          </a:p>
          <a:p>
            <a:pPr lvl="1" eaLnBrk="1" hangingPunct="1"/>
            <a:r>
              <a:rPr lang="zh-CN" altLang="en-US" sz="2400"/>
              <a:t>类型变量</a:t>
            </a:r>
            <a:r>
              <a:rPr lang="zh-CN" altLang="en-US" sz="2400">
                <a:sym typeface="Wingdings" panose="05000000000000000000" pitchFamily="2" charset="2"/>
              </a:rPr>
              <a:t>类型表达式的映射，称为替换，</a:t>
            </a:r>
            <a:r>
              <a:rPr lang="en-US" altLang="zh-CN" sz="2400">
                <a:sym typeface="Wingdings" panose="05000000000000000000" pitchFamily="2" charset="2"/>
              </a:rPr>
              <a:t>substitution</a:t>
            </a:r>
            <a:endParaRPr lang="en-US" altLang="zh-CN" sz="2400">
              <a:sym typeface="Wingdings" panose="05000000000000000000" pitchFamily="2" charset="2"/>
            </a:endParaRPr>
          </a:p>
          <a:p>
            <a:pPr eaLnBrk="1" hangingPunct="1">
              <a:spcBef>
                <a:spcPct val="10000"/>
              </a:spcBef>
              <a:buFont typeface="Wingdings" panose="05000000000000000000" pitchFamily="2" charset="2"/>
              <a:buNone/>
            </a:pPr>
            <a:r>
              <a:rPr lang="en-US" altLang="zh-CN" sz="2000"/>
              <a:t>subst(t : type_expression) : type_expression</a:t>
            </a:r>
            <a:endParaRPr lang="en-US" altLang="zh-CN" sz="2000"/>
          </a:p>
          <a:p>
            <a:pPr eaLnBrk="1" hangingPunct="1">
              <a:spcBef>
                <a:spcPct val="10000"/>
              </a:spcBef>
              <a:buFont typeface="Wingdings" panose="05000000000000000000" pitchFamily="2" charset="2"/>
              <a:buNone/>
            </a:pPr>
            <a:r>
              <a:rPr lang="en-US" altLang="zh-CN" sz="2000"/>
              <a:t>{		//</a:t>
            </a:r>
            <a:r>
              <a:rPr lang="zh-CN" altLang="en-US" sz="2000"/>
              <a:t>利用代换（映射）</a:t>
            </a:r>
            <a:r>
              <a:rPr lang="en-US" altLang="zh-CN" sz="2000"/>
              <a:t>S</a:t>
            </a:r>
            <a:r>
              <a:rPr lang="zh-CN" altLang="en-US" sz="2000"/>
              <a:t>将类型表达式</a:t>
            </a:r>
            <a:r>
              <a:rPr lang="en-US" altLang="zh-CN" sz="2000"/>
              <a:t>t</a:t>
            </a:r>
            <a:r>
              <a:rPr lang="zh-CN" altLang="en-US" sz="2000"/>
              <a:t>中变量代换</a:t>
            </a:r>
            <a:endParaRPr lang="zh-CN" altLang="en-US" sz="2000"/>
          </a:p>
          <a:p>
            <a:pPr eaLnBrk="1" hangingPunct="1">
              <a:spcBef>
                <a:spcPct val="10000"/>
              </a:spcBef>
              <a:buFont typeface="Wingdings" panose="05000000000000000000" pitchFamily="2" charset="2"/>
              <a:buNone/>
            </a:pPr>
            <a:r>
              <a:rPr lang="zh-CN" altLang="en-US" sz="2000"/>
              <a:t>	</a:t>
            </a:r>
            <a:r>
              <a:rPr lang="en-US" altLang="zh-CN" sz="2000"/>
              <a:t>if (t</a:t>
            </a:r>
            <a:r>
              <a:rPr lang="zh-CN" altLang="en-US" sz="2000"/>
              <a:t>为基本类型</a:t>
            </a:r>
            <a:r>
              <a:rPr lang="en-US" altLang="zh-CN" sz="2000"/>
              <a:t>) return t;</a:t>
            </a:r>
            <a:endParaRPr lang="en-US" altLang="zh-CN" sz="2000"/>
          </a:p>
          <a:p>
            <a:pPr eaLnBrk="1" hangingPunct="1">
              <a:spcBef>
                <a:spcPct val="10000"/>
              </a:spcBef>
              <a:buFont typeface="Wingdings" panose="05000000000000000000" pitchFamily="2" charset="2"/>
              <a:buNone/>
            </a:pPr>
            <a:r>
              <a:rPr lang="en-US" altLang="zh-CN" sz="2000"/>
              <a:t>	else if (t</a:t>
            </a:r>
            <a:r>
              <a:rPr lang="zh-CN" altLang="en-US" sz="2000"/>
              <a:t>为类型变量</a:t>
            </a:r>
            <a:r>
              <a:rPr lang="en-US" altLang="zh-CN" sz="2000"/>
              <a:t>) return S(t);</a:t>
            </a:r>
            <a:endParaRPr lang="en-US" altLang="zh-CN" sz="2000"/>
          </a:p>
          <a:p>
            <a:pPr eaLnBrk="1" hangingPunct="1">
              <a:spcBef>
                <a:spcPct val="10000"/>
              </a:spcBef>
              <a:buFont typeface="Wingdings" panose="05000000000000000000" pitchFamily="2" charset="2"/>
              <a:buNone/>
            </a:pPr>
            <a:r>
              <a:rPr lang="en-US" altLang="zh-CN" sz="2000"/>
              <a:t>	else if (t</a:t>
            </a:r>
            <a:r>
              <a:rPr lang="zh-CN" altLang="en-US" sz="2000"/>
              <a:t>为</a:t>
            </a:r>
            <a:r>
              <a:rPr lang="en-US" altLang="zh-CN" sz="2000" i="1">
                <a:sym typeface="Symbol" panose="05050102010706020507" pitchFamily="18" charset="2"/>
              </a:rPr>
              <a:t>t</a:t>
            </a:r>
            <a:r>
              <a:rPr lang="en-US" altLang="zh-CN" sz="2000" i="1" baseline="-25000">
                <a:sym typeface="Symbol" panose="05050102010706020507" pitchFamily="18" charset="2"/>
              </a:rPr>
              <a:t>1</a:t>
            </a:r>
            <a:r>
              <a:rPr lang="en-US" altLang="zh-CN" sz="2000">
                <a:sym typeface="Symbol" panose="05050102010706020507" pitchFamily="18" charset="2"/>
              </a:rPr>
              <a:t></a:t>
            </a:r>
            <a:r>
              <a:rPr lang="en-US" altLang="zh-CN" sz="2000" i="1">
                <a:sym typeface="Symbol" panose="05050102010706020507" pitchFamily="18" charset="2"/>
              </a:rPr>
              <a:t>t</a:t>
            </a:r>
            <a:r>
              <a:rPr lang="en-US" altLang="zh-CN" sz="2000" i="1" baseline="-25000">
                <a:sym typeface="Symbol" panose="05050102010706020507" pitchFamily="18" charset="2"/>
              </a:rPr>
              <a:t>2</a:t>
            </a:r>
            <a:r>
              <a:rPr lang="en-US" altLang="zh-CN" sz="2000">
                <a:sym typeface="Symbol" panose="05050102010706020507" pitchFamily="18" charset="2"/>
              </a:rPr>
              <a:t>) return subst(</a:t>
            </a:r>
            <a:r>
              <a:rPr lang="en-US" altLang="zh-CN" sz="2000" i="1">
                <a:sym typeface="Symbol" panose="05050102010706020507" pitchFamily="18" charset="2"/>
              </a:rPr>
              <a:t>t</a:t>
            </a:r>
            <a:r>
              <a:rPr lang="en-US" altLang="zh-CN" sz="2000" i="1" baseline="-25000">
                <a:sym typeface="Symbol" panose="05050102010706020507" pitchFamily="18" charset="2"/>
              </a:rPr>
              <a:t>1</a:t>
            </a:r>
            <a:r>
              <a:rPr lang="en-US" altLang="zh-CN" sz="2000">
                <a:sym typeface="Symbol" panose="05050102010706020507" pitchFamily="18" charset="2"/>
              </a:rPr>
              <a:t>)subst(</a:t>
            </a:r>
            <a:r>
              <a:rPr lang="en-US" altLang="zh-CN" sz="2000" i="1">
                <a:sym typeface="Symbol" panose="05050102010706020507" pitchFamily="18" charset="2"/>
              </a:rPr>
              <a:t>t</a:t>
            </a:r>
            <a:r>
              <a:rPr lang="en-US" altLang="zh-CN" sz="2000" i="1" baseline="-25000">
                <a:sym typeface="Symbol" panose="05050102010706020507" pitchFamily="18" charset="2"/>
              </a:rPr>
              <a:t>2</a:t>
            </a:r>
            <a:r>
              <a:rPr lang="en-US" altLang="zh-CN" sz="2000">
                <a:sym typeface="Symbol" panose="05050102010706020507" pitchFamily="18" charset="2"/>
              </a:rPr>
              <a:t>);</a:t>
            </a:r>
            <a:endParaRPr lang="en-US" altLang="zh-CN" sz="2000">
              <a:sym typeface="Symbol" panose="05050102010706020507" pitchFamily="18" charset="2"/>
            </a:endParaRPr>
          </a:p>
          <a:p>
            <a:pPr eaLnBrk="1" hangingPunct="1">
              <a:spcBef>
                <a:spcPct val="10000"/>
              </a:spcBef>
              <a:buFont typeface="Wingdings" panose="05000000000000000000" pitchFamily="2" charset="2"/>
              <a:buNone/>
            </a:pPr>
            <a:r>
              <a:rPr lang="en-US" altLang="zh-CN" sz="2000">
                <a:sym typeface="Symbol" panose="05050102010706020507" pitchFamily="18" charset="2"/>
              </a:rPr>
              <a:t>}</a:t>
            </a:r>
            <a:endParaRPr lang="en-US" altLang="zh-CN" sz="2000"/>
          </a:p>
          <a:p>
            <a:pPr eaLnBrk="1" hangingPunct="1"/>
            <a:r>
              <a:rPr lang="en-US" altLang="zh-CN" sz="2800"/>
              <a:t>S(t)</a:t>
            </a:r>
            <a:r>
              <a:rPr lang="zh-CN" altLang="en-US" sz="2800"/>
              <a:t>表示代换</a:t>
            </a:r>
            <a:r>
              <a:rPr lang="en-US" altLang="zh-CN" sz="2800"/>
              <a:t>t</a:t>
            </a:r>
            <a:r>
              <a:rPr lang="zh-CN" altLang="en-US" sz="2800"/>
              <a:t>的类型表达式，称为</a:t>
            </a:r>
            <a:r>
              <a:rPr lang="en-US" altLang="zh-CN" sz="2800"/>
              <a:t>t</a:t>
            </a:r>
            <a:r>
              <a:rPr lang="zh-CN" altLang="en-US" sz="2800"/>
              <a:t>的实例，</a:t>
            </a:r>
            <a:r>
              <a:rPr lang="en-US" altLang="zh-CN" sz="2800">
                <a:solidFill>
                  <a:schemeClr val="hlink"/>
                </a:solidFill>
              </a:rPr>
              <a:t>instance</a:t>
            </a:r>
            <a:endParaRPr lang="en-US" altLang="zh-CN" sz="2800">
              <a:solidFill>
                <a:schemeClr val="hlink"/>
              </a:solidFill>
            </a:endParaRPr>
          </a:p>
          <a:p>
            <a:pPr eaLnBrk="1" hangingPunct="1"/>
            <a:r>
              <a:rPr lang="zh-CN" altLang="en-US" sz="2800"/>
              <a:t>若无法代换，</a:t>
            </a:r>
            <a:r>
              <a:rPr lang="en-US" altLang="zh-CN" sz="2800"/>
              <a:t>S(</a:t>
            </a:r>
            <a:r>
              <a:rPr lang="en-US" altLang="zh-CN" sz="2800">
                <a:latin typeface="Symbol" panose="05050102010706020507" pitchFamily="18" charset="2"/>
              </a:rPr>
              <a:t>a</a:t>
            </a:r>
            <a:r>
              <a:rPr lang="en-US" altLang="zh-CN" sz="2800"/>
              <a:t>)=</a:t>
            </a:r>
            <a:r>
              <a:rPr lang="en-US" altLang="zh-CN" sz="2800">
                <a:latin typeface="Symbol" panose="05050102010706020507" pitchFamily="18" charset="2"/>
              </a:rPr>
              <a:t>a</a:t>
            </a:r>
            <a:r>
              <a:rPr lang="zh-CN" altLang="en-US" sz="2800"/>
              <a:t>，恒等映射</a:t>
            </a:r>
            <a:endParaRPr lang="zh-CN" altLang="en-US" sz="28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a:t>例</a:t>
            </a:r>
            <a:r>
              <a:rPr lang="en-US" altLang="zh-CN"/>
              <a:t>6.10</a:t>
            </a:r>
            <a:endParaRPr lang="en-US" altLang="zh-CN"/>
          </a:p>
        </p:txBody>
      </p:sp>
      <p:sp>
        <p:nvSpPr>
          <p:cNvPr id="79875" name="Rectangle 3"/>
          <p:cNvSpPr>
            <a:spLocks noGrp="1" noChangeArrowheads="1"/>
          </p:cNvSpPr>
          <p:nvPr>
            <p:ph type="body" idx="1"/>
          </p:nvPr>
        </p:nvSpPr>
        <p:spPr>
          <a:xfrm>
            <a:off x="1182688" y="1371600"/>
            <a:ext cx="7772400" cy="5029200"/>
          </a:xfrm>
        </p:spPr>
        <p:txBody>
          <a:bodyPr/>
          <a:lstStyle/>
          <a:p>
            <a:pPr eaLnBrk="1" hangingPunct="1"/>
            <a:r>
              <a:rPr lang="en-US" altLang="zh-CN" sz="2800"/>
              <a:t>s&lt;t</a:t>
            </a:r>
            <a:r>
              <a:rPr lang="zh-CN" altLang="en-US" sz="2800"/>
              <a:t>表示</a:t>
            </a:r>
            <a:r>
              <a:rPr lang="en-US" altLang="zh-CN" sz="2800"/>
              <a:t>s</a:t>
            </a:r>
            <a:r>
              <a:rPr lang="zh-CN" altLang="en-US" sz="2800"/>
              <a:t>是</a:t>
            </a:r>
            <a:r>
              <a:rPr lang="en-US" altLang="zh-CN" sz="2800"/>
              <a:t>t</a:t>
            </a:r>
            <a:r>
              <a:rPr lang="zh-CN" altLang="en-US" sz="2800"/>
              <a:t>的一个实例</a:t>
            </a:r>
            <a:endParaRPr lang="zh-CN" altLang="en-US" sz="2800"/>
          </a:p>
          <a:p>
            <a:pPr lvl="1" eaLnBrk="1" hangingPunct="1"/>
            <a:r>
              <a:rPr lang="en-US" altLang="zh-CN" sz="2400" i="1"/>
              <a:t>pointer</a:t>
            </a:r>
            <a:r>
              <a:rPr lang="en-US" altLang="zh-CN" sz="2400"/>
              <a:t>(</a:t>
            </a:r>
            <a:r>
              <a:rPr lang="en-US" altLang="zh-CN" sz="2400" i="1"/>
              <a:t>integer</a:t>
            </a:r>
            <a:r>
              <a:rPr lang="en-US" altLang="zh-CN" sz="2400"/>
              <a:t>)</a:t>
            </a:r>
            <a:r>
              <a:rPr lang="en-US" altLang="zh-CN" sz="2400" i="1"/>
              <a:t> &lt; pointer</a:t>
            </a:r>
            <a:r>
              <a:rPr lang="en-US" altLang="zh-CN" sz="2400"/>
              <a:t>(</a:t>
            </a:r>
            <a:r>
              <a:rPr lang="en-US" altLang="zh-CN" sz="2400" i="1">
                <a:latin typeface="Symbol" panose="05050102010706020507" pitchFamily="18" charset="2"/>
              </a:rPr>
              <a:t>a</a:t>
            </a:r>
            <a:r>
              <a:rPr lang="en-US" altLang="zh-CN" sz="2400"/>
              <a:t>)</a:t>
            </a:r>
            <a:endParaRPr lang="en-US" altLang="zh-CN" sz="2400"/>
          </a:p>
          <a:p>
            <a:pPr lvl="1" eaLnBrk="1" hangingPunct="1"/>
            <a:r>
              <a:rPr lang="en-US" altLang="zh-CN" sz="2400" i="1"/>
              <a:t>pointer</a:t>
            </a:r>
            <a:r>
              <a:rPr lang="en-US" altLang="zh-CN" sz="2400"/>
              <a:t>(</a:t>
            </a:r>
            <a:r>
              <a:rPr lang="en-US" altLang="zh-CN" sz="2400" i="1"/>
              <a:t>real</a:t>
            </a:r>
            <a:r>
              <a:rPr lang="en-US" altLang="zh-CN" sz="2400"/>
              <a:t>) &lt; </a:t>
            </a:r>
            <a:r>
              <a:rPr lang="en-US" altLang="zh-CN" sz="2400" i="1"/>
              <a:t>pointer</a:t>
            </a:r>
            <a:r>
              <a:rPr lang="en-US" altLang="zh-CN" sz="2400"/>
              <a:t>(</a:t>
            </a:r>
            <a:r>
              <a:rPr lang="en-US" altLang="zh-CN" sz="2400" i="1">
                <a:latin typeface="Symbol" panose="05050102010706020507" pitchFamily="18" charset="2"/>
              </a:rPr>
              <a:t>a</a:t>
            </a:r>
            <a:r>
              <a:rPr lang="en-US" altLang="zh-CN" sz="2400"/>
              <a:t>)</a:t>
            </a:r>
            <a:endParaRPr lang="en-US" altLang="zh-CN" sz="2400"/>
          </a:p>
          <a:p>
            <a:pPr lvl="1" eaLnBrk="1" hangingPunct="1"/>
            <a:r>
              <a:rPr lang="en-US" altLang="zh-CN" sz="2400" i="1"/>
              <a:t>integer </a:t>
            </a:r>
            <a:r>
              <a:rPr lang="en-US" altLang="zh-CN" sz="2400">
                <a:sym typeface="Symbol" panose="05050102010706020507" pitchFamily="18" charset="2"/>
              </a:rPr>
              <a:t> </a:t>
            </a:r>
            <a:r>
              <a:rPr lang="en-US" altLang="zh-CN" sz="2400" i="1">
                <a:sym typeface="Symbol" panose="05050102010706020507" pitchFamily="18" charset="2"/>
              </a:rPr>
              <a:t>integer &lt; </a:t>
            </a:r>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a:t>
            </a:r>
            <a:r>
              <a:rPr lang="en-US" altLang="zh-CN" sz="2400">
                <a:sym typeface="Symbol" panose="05050102010706020507" pitchFamily="18" charset="2"/>
              </a:rPr>
              <a:t></a:t>
            </a:r>
            <a:r>
              <a:rPr lang="en-US" altLang="zh-CN" sz="2400" i="1">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endParaRPr lang="en-US" altLang="zh-CN" sz="2400" i="1">
              <a:latin typeface="Symbol" panose="05050102010706020507" pitchFamily="18" charset="2"/>
              <a:sym typeface="Symbol" panose="05050102010706020507" pitchFamily="18" charset="2"/>
            </a:endParaRPr>
          </a:p>
          <a:p>
            <a:pPr lvl="1" eaLnBrk="1" hangingPunct="1"/>
            <a:r>
              <a:rPr lang="en-US" altLang="zh-CN" sz="2400" i="1">
                <a:sym typeface="Symbol" panose="05050102010706020507" pitchFamily="18" charset="2"/>
              </a:rPr>
              <a:t>pointer</a:t>
            </a:r>
            <a:r>
              <a:rPr lang="en-US" altLang="zh-CN" sz="2400">
                <a:sym typeface="Symbol" panose="05050102010706020507" pitchFamily="18" charset="2"/>
              </a:rPr>
              <a:t>(</a:t>
            </a:r>
            <a:r>
              <a:rPr lang="en-US" altLang="zh-CN" sz="2400" i="1">
                <a:latin typeface="Symbol" panose="05050102010706020507" pitchFamily="18" charset="2"/>
                <a:sym typeface="Symbol" panose="05050102010706020507" pitchFamily="18" charset="2"/>
              </a:rPr>
              <a:t>a</a:t>
            </a:r>
            <a:r>
              <a:rPr lang="en-US" altLang="zh-CN" sz="2400">
                <a:sym typeface="Symbol" panose="05050102010706020507" pitchFamily="18" charset="2"/>
              </a:rPr>
              <a:t>) &lt; </a:t>
            </a:r>
            <a:r>
              <a:rPr lang="en-US" altLang="zh-CN" sz="2400" i="1">
                <a:latin typeface="Symbol" panose="05050102010706020507" pitchFamily="18" charset="2"/>
                <a:sym typeface="Symbol" panose="05050102010706020507" pitchFamily="18" charset="2"/>
              </a:rPr>
              <a:t>b</a:t>
            </a:r>
            <a:endParaRPr lang="en-US" altLang="zh-CN" sz="2400" i="1">
              <a:latin typeface="Symbol" panose="05050102010706020507" pitchFamily="18" charset="2"/>
              <a:sym typeface="Symbol" panose="05050102010706020507" pitchFamily="18" charset="2"/>
            </a:endParaRPr>
          </a:p>
          <a:p>
            <a:pPr lvl="1" eaLnBrk="1" hangingPunct="1"/>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&lt; </a:t>
            </a:r>
            <a:r>
              <a:rPr lang="en-US" altLang="zh-CN" sz="2400" i="1">
                <a:latin typeface="Symbol" panose="05050102010706020507" pitchFamily="18" charset="2"/>
                <a:sym typeface="Symbol" panose="05050102010706020507" pitchFamily="18" charset="2"/>
              </a:rPr>
              <a:t>b</a:t>
            </a:r>
            <a:endParaRPr lang="en-US" altLang="zh-CN" sz="2400" i="1">
              <a:latin typeface="Symbol" panose="05050102010706020507" pitchFamily="18" charset="2"/>
              <a:sym typeface="Symbol" panose="05050102010706020507" pitchFamily="18" charset="2"/>
            </a:endParaRPr>
          </a:p>
          <a:p>
            <a:pPr eaLnBrk="1" hangingPunct="1"/>
            <a:r>
              <a:rPr lang="zh-CN" altLang="en-US" sz="2800">
                <a:sym typeface="Symbol" panose="05050102010706020507" pitchFamily="18" charset="2"/>
              </a:rPr>
              <a:t>不是实例的情况</a:t>
            </a:r>
            <a:endParaRPr lang="zh-CN" altLang="en-US" sz="2800">
              <a:sym typeface="Symbol" panose="05050102010706020507" pitchFamily="18" charset="2"/>
            </a:endParaRPr>
          </a:p>
          <a:p>
            <a:pPr lvl="1" eaLnBrk="1" hangingPunct="1"/>
            <a:r>
              <a:rPr lang="en-US" altLang="zh-CN" sz="2400" i="1">
                <a:sym typeface="Symbol" panose="05050102010706020507" pitchFamily="18" charset="2"/>
              </a:rPr>
              <a:t>integer			real</a:t>
            </a:r>
            <a:endParaRPr lang="en-US" altLang="zh-CN" sz="2400" i="1">
              <a:sym typeface="Symbol" panose="05050102010706020507" pitchFamily="18" charset="2"/>
            </a:endParaRPr>
          </a:p>
          <a:p>
            <a:pPr lvl="1" eaLnBrk="1" hangingPunct="1"/>
            <a:r>
              <a:rPr lang="en-US" altLang="zh-CN" sz="2400" i="1"/>
              <a:t>integer </a:t>
            </a:r>
            <a:r>
              <a:rPr lang="en-US" altLang="zh-CN" sz="2400">
                <a:sym typeface="Symbol" panose="05050102010706020507" pitchFamily="18" charset="2"/>
              </a:rPr>
              <a:t> </a:t>
            </a:r>
            <a:r>
              <a:rPr lang="en-US" altLang="zh-CN" sz="2400" i="1">
                <a:sym typeface="Symbol" panose="05050102010706020507" pitchFamily="18" charset="2"/>
              </a:rPr>
              <a:t>real		</a:t>
            </a:r>
            <a:r>
              <a:rPr lang="en-US" altLang="zh-CN" sz="2400" i="1">
                <a:latin typeface="Symbol" panose="05050102010706020507" pitchFamily="18" charset="2"/>
              </a:rPr>
              <a:t>a</a:t>
            </a:r>
            <a:r>
              <a:rPr lang="en-US" altLang="zh-CN" sz="2400" i="1"/>
              <a:t>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endParaRPr lang="en-US" altLang="zh-CN" sz="2400" i="1">
              <a:latin typeface="Symbol" panose="05050102010706020507" pitchFamily="18" charset="2"/>
              <a:sym typeface="Symbol" panose="05050102010706020507" pitchFamily="18" charset="2"/>
            </a:endParaRPr>
          </a:p>
          <a:p>
            <a:pPr lvl="1" eaLnBrk="1" hangingPunct="1"/>
            <a:r>
              <a:rPr lang="en-US" altLang="zh-CN" sz="2400" i="1"/>
              <a:t>integer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a:t>
            </a:r>
            <a:r>
              <a:rPr lang="en-US" altLang="zh-CN" sz="2400" i="1">
                <a:latin typeface="Symbol" panose="05050102010706020507" pitchFamily="18" charset="2"/>
              </a:rPr>
              <a:t>a</a:t>
            </a:r>
            <a:r>
              <a:rPr lang="en-US" altLang="zh-CN" sz="2400" i="1"/>
              <a:t>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endParaRPr lang="en-US" altLang="zh-CN" sz="2400" i="1">
              <a:latin typeface="Symbol" panose="05050102010706020507" pitchFamily="18" charset="2"/>
              <a:sym typeface="Symbol" panose="05050102010706020507" pitchFamily="18" charset="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a:t>合一方法</a:t>
            </a:r>
            <a:endParaRPr lang="zh-CN" altLang="en-US"/>
          </a:p>
        </p:txBody>
      </p:sp>
      <p:sp>
        <p:nvSpPr>
          <p:cNvPr id="80899" name="Rectangle 3"/>
          <p:cNvSpPr>
            <a:spLocks noGrp="1" noChangeArrowheads="1"/>
          </p:cNvSpPr>
          <p:nvPr>
            <p:ph type="body" idx="1"/>
          </p:nvPr>
        </p:nvSpPr>
        <p:spPr>
          <a:xfrm>
            <a:off x="1182688" y="1371600"/>
            <a:ext cx="7772400" cy="5105400"/>
          </a:xfrm>
        </p:spPr>
        <p:txBody>
          <a:bodyPr/>
          <a:lstStyle/>
          <a:p>
            <a:pPr marL="609600" indent="-609600" eaLnBrk="1" hangingPunct="1"/>
            <a:r>
              <a:rPr lang="zh-CN" altLang="en-US" sz="2800"/>
              <a:t>类型表达式</a:t>
            </a:r>
            <a:r>
              <a:rPr lang="en-US" altLang="zh-CN" sz="2800"/>
              <a:t>t</a:t>
            </a:r>
            <a:r>
              <a:rPr lang="en-US" altLang="zh-CN" sz="2800" baseline="-25000"/>
              <a:t>1</a:t>
            </a:r>
            <a:r>
              <a:rPr lang="zh-CN" altLang="en-US" sz="2800"/>
              <a:t>和</a:t>
            </a:r>
            <a:r>
              <a:rPr lang="en-US" altLang="zh-CN" sz="2800"/>
              <a:t>t</a:t>
            </a:r>
            <a:r>
              <a:rPr lang="en-US" altLang="zh-CN" sz="2800" baseline="-25000"/>
              <a:t>2</a:t>
            </a:r>
            <a:r>
              <a:rPr lang="zh-CN" altLang="en-US" sz="2800"/>
              <a:t>能合一的条件</a:t>
            </a:r>
            <a:r>
              <a:rPr lang="zh-CN" altLang="en-US" sz="2800">
                <a:sym typeface="Wingdings" panose="05000000000000000000" pitchFamily="2" charset="2"/>
              </a:rPr>
              <a:t></a:t>
            </a:r>
            <a:br>
              <a:rPr lang="zh-CN" altLang="en-US" sz="2800">
                <a:sym typeface="Wingdings" panose="05000000000000000000" pitchFamily="2" charset="2"/>
              </a:rPr>
            </a:br>
            <a:r>
              <a:rPr lang="zh-CN" altLang="en-US" sz="2800">
                <a:sym typeface="Wingdings" panose="05000000000000000000" pitchFamily="2" charset="2"/>
              </a:rPr>
              <a:t>存在代换</a:t>
            </a:r>
            <a:r>
              <a:rPr lang="en-US" altLang="zh-CN" sz="2800">
                <a:sym typeface="Wingdings" panose="05000000000000000000" pitchFamily="2" charset="2"/>
              </a:rPr>
              <a:t>S</a:t>
            </a:r>
            <a:r>
              <a:rPr lang="zh-CN" altLang="en-US" sz="2800">
                <a:sym typeface="Wingdings" panose="05000000000000000000" pitchFamily="2" charset="2"/>
              </a:rPr>
              <a:t>，</a:t>
            </a:r>
            <a:r>
              <a:rPr lang="en-US" altLang="zh-CN" sz="2800">
                <a:sym typeface="Wingdings" panose="05000000000000000000" pitchFamily="2" charset="2"/>
              </a:rPr>
              <a:t>S(t</a:t>
            </a:r>
            <a:r>
              <a:rPr lang="en-US" altLang="zh-CN" sz="2800" baseline="-25000">
                <a:sym typeface="Wingdings" panose="05000000000000000000" pitchFamily="2" charset="2"/>
              </a:rPr>
              <a:t>1</a:t>
            </a:r>
            <a:r>
              <a:rPr lang="en-US" altLang="zh-CN" sz="2800">
                <a:sym typeface="Wingdings" panose="05000000000000000000" pitchFamily="2" charset="2"/>
              </a:rPr>
              <a:t>) = S(t</a:t>
            </a:r>
            <a:r>
              <a:rPr lang="en-US" altLang="zh-CN" sz="2800" baseline="-25000">
                <a:sym typeface="Wingdings" panose="05000000000000000000" pitchFamily="2" charset="2"/>
              </a:rPr>
              <a:t>2</a:t>
            </a:r>
            <a:r>
              <a:rPr lang="en-US" altLang="zh-CN" sz="2800">
                <a:sym typeface="Wingdings" panose="05000000000000000000" pitchFamily="2" charset="2"/>
              </a:rPr>
              <a:t>)</a:t>
            </a:r>
            <a:endParaRPr lang="en-US" altLang="zh-CN" sz="2800">
              <a:sym typeface="Wingdings" panose="05000000000000000000" pitchFamily="2" charset="2"/>
            </a:endParaRPr>
          </a:p>
          <a:p>
            <a:pPr marL="609600" indent="-609600" eaLnBrk="1" hangingPunct="1"/>
            <a:r>
              <a:rPr lang="zh-CN" altLang="en-US" sz="2800">
                <a:sym typeface="Wingdings" panose="05000000000000000000" pitchFamily="2" charset="2"/>
              </a:rPr>
              <a:t>最一般的合一代换，</a:t>
            </a:r>
            <a:r>
              <a:rPr lang="en-US" altLang="zh-CN" sz="2800">
                <a:solidFill>
                  <a:schemeClr val="hlink"/>
                </a:solidFill>
                <a:sym typeface="Wingdings" panose="05000000000000000000" pitchFamily="2" charset="2"/>
              </a:rPr>
              <a:t>most general unifier</a:t>
            </a:r>
            <a:r>
              <a:rPr lang="en-US" altLang="zh-CN" sz="2800">
                <a:sym typeface="Wingdings" panose="05000000000000000000" pitchFamily="2" charset="2"/>
              </a:rPr>
              <a:t>——</a:t>
            </a:r>
            <a:r>
              <a:rPr lang="zh-CN" altLang="en-US" sz="2800">
                <a:sym typeface="Wingdings" panose="05000000000000000000" pitchFamily="2" charset="2"/>
              </a:rPr>
              <a:t>最少变量约束的代换</a:t>
            </a:r>
            <a:endParaRPr lang="zh-CN" altLang="en-US" sz="2800">
              <a:sym typeface="Wingdings" panose="05000000000000000000" pitchFamily="2" charset="2"/>
            </a:endParaRPr>
          </a:p>
          <a:p>
            <a:pPr marL="990600" lvl="1" indent="-533400" eaLnBrk="1" hangingPunct="1"/>
            <a:r>
              <a:rPr lang="zh-CN" altLang="en-US" sz="2400"/>
              <a:t>类型表达式</a:t>
            </a:r>
            <a:r>
              <a:rPr lang="en-US" altLang="zh-CN" sz="2400"/>
              <a:t>t</a:t>
            </a:r>
            <a:r>
              <a:rPr lang="en-US" altLang="zh-CN" sz="2400" baseline="-25000"/>
              <a:t>1</a:t>
            </a:r>
            <a:r>
              <a:rPr lang="zh-CN" altLang="en-US" sz="2400"/>
              <a:t>和</a:t>
            </a:r>
            <a:r>
              <a:rPr lang="en-US" altLang="zh-CN" sz="2400"/>
              <a:t>t</a:t>
            </a:r>
            <a:r>
              <a:rPr lang="en-US" altLang="zh-CN" sz="2400" baseline="-25000"/>
              <a:t>2</a:t>
            </a:r>
            <a:r>
              <a:rPr lang="zh-CN" altLang="en-US" sz="2400"/>
              <a:t>的最一般的合一代换是一个代换</a:t>
            </a:r>
            <a:r>
              <a:rPr lang="en-US" altLang="zh-CN" sz="2400"/>
              <a:t>S</a:t>
            </a:r>
            <a:r>
              <a:rPr lang="zh-CN" altLang="en-US" sz="2400"/>
              <a:t>，它满足以下条件</a:t>
            </a:r>
            <a:endParaRPr lang="zh-CN" altLang="en-US" sz="2400"/>
          </a:p>
          <a:p>
            <a:pPr marL="990600" lvl="1" indent="-533400" eaLnBrk="1" hangingPunct="1">
              <a:buFont typeface="Wingdings" panose="05000000000000000000" pitchFamily="2" charset="2"/>
              <a:buAutoNum type="arabicPeriod"/>
            </a:pPr>
            <a:r>
              <a:rPr lang="en-US" altLang="zh-CN" sz="2400">
                <a:sym typeface="Wingdings" panose="05000000000000000000" pitchFamily="2" charset="2"/>
              </a:rPr>
              <a:t>S(t</a:t>
            </a:r>
            <a:r>
              <a:rPr lang="en-US" altLang="zh-CN" sz="2400" baseline="-25000">
                <a:sym typeface="Wingdings" panose="05000000000000000000" pitchFamily="2" charset="2"/>
              </a:rPr>
              <a:t>1</a:t>
            </a:r>
            <a:r>
              <a:rPr lang="en-US" altLang="zh-CN" sz="2400">
                <a:sym typeface="Wingdings" panose="05000000000000000000" pitchFamily="2" charset="2"/>
              </a:rPr>
              <a:t>) = S(t</a:t>
            </a:r>
            <a:r>
              <a:rPr lang="en-US" altLang="zh-CN" sz="2400" baseline="-25000">
                <a:sym typeface="Wingdings" panose="05000000000000000000" pitchFamily="2" charset="2"/>
              </a:rPr>
              <a:t>2</a:t>
            </a:r>
            <a:r>
              <a:rPr lang="en-US" altLang="zh-CN" sz="2400">
                <a:sym typeface="Wingdings" panose="05000000000000000000" pitchFamily="2" charset="2"/>
              </a:rPr>
              <a:t>)</a:t>
            </a:r>
            <a:endParaRPr lang="en-US" altLang="zh-CN" sz="2400">
              <a:sym typeface="Wingdings" panose="05000000000000000000" pitchFamily="2" charset="2"/>
            </a:endParaRPr>
          </a:p>
          <a:p>
            <a:pPr marL="990600" lvl="1" indent="-533400" eaLnBrk="1" hangingPunct="1">
              <a:buFont typeface="Wingdings" panose="05000000000000000000" pitchFamily="2" charset="2"/>
              <a:buAutoNum type="arabicPeriod"/>
            </a:pPr>
            <a:r>
              <a:rPr lang="zh-CN" altLang="en-US" sz="2400">
                <a:sym typeface="Wingdings" panose="05000000000000000000" pitchFamily="2" charset="2"/>
              </a:rPr>
              <a:t>对任何其他</a:t>
            </a:r>
            <a:r>
              <a:rPr lang="zh-CN" altLang="en-US" sz="2400"/>
              <a:t>代换</a:t>
            </a:r>
            <a:r>
              <a:rPr lang="en-US" altLang="zh-CN" sz="2400">
                <a:sym typeface="Wingdings" panose="05000000000000000000" pitchFamily="2" charset="2"/>
              </a:rPr>
              <a:t>S’</a:t>
            </a:r>
            <a:r>
              <a:rPr lang="zh-CN" altLang="en-US" sz="2400">
                <a:sym typeface="Wingdings" panose="05000000000000000000" pitchFamily="2" charset="2"/>
              </a:rPr>
              <a:t>，</a:t>
            </a:r>
            <a:r>
              <a:rPr lang="en-US" altLang="zh-CN" sz="2400">
                <a:sym typeface="Wingdings" panose="05000000000000000000" pitchFamily="2" charset="2"/>
              </a:rPr>
              <a:t>S’(t</a:t>
            </a:r>
            <a:r>
              <a:rPr lang="en-US" altLang="zh-CN" sz="2400" baseline="-25000">
                <a:sym typeface="Wingdings" panose="05000000000000000000" pitchFamily="2" charset="2"/>
              </a:rPr>
              <a:t>1</a:t>
            </a:r>
            <a:r>
              <a:rPr lang="en-US" altLang="zh-CN" sz="2400">
                <a:sym typeface="Wingdings" panose="05000000000000000000" pitchFamily="2" charset="2"/>
              </a:rPr>
              <a:t>) = S’(t</a:t>
            </a:r>
            <a:r>
              <a:rPr lang="en-US" altLang="zh-CN" sz="2400" baseline="-25000">
                <a:sym typeface="Wingdings" panose="05000000000000000000" pitchFamily="2" charset="2"/>
              </a:rPr>
              <a:t>2</a:t>
            </a:r>
            <a:r>
              <a:rPr lang="en-US" altLang="zh-CN" sz="2400">
                <a:sym typeface="Wingdings" panose="05000000000000000000" pitchFamily="2" charset="2"/>
              </a:rPr>
              <a:t>)</a:t>
            </a:r>
            <a:r>
              <a:rPr lang="zh-CN" altLang="en-US" sz="2400">
                <a:sym typeface="Wingdings" panose="05000000000000000000" pitchFamily="2" charset="2"/>
              </a:rPr>
              <a:t>，</a:t>
            </a:r>
            <a:r>
              <a:rPr lang="en-US" altLang="zh-CN" sz="2400">
                <a:sym typeface="Wingdings" panose="05000000000000000000" pitchFamily="2" charset="2"/>
              </a:rPr>
              <a:t>S’</a:t>
            </a:r>
            <a:r>
              <a:rPr lang="zh-CN" altLang="en-US" sz="2400">
                <a:sym typeface="Wingdings" panose="05000000000000000000" pitchFamily="2" charset="2"/>
              </a:rPr>
              <a:t>是</a:t>
            </a:r>
            <a:r>
              <a:rPr lang="en-US" altLang="zh-CN" sz="2400">
                <a:sym typeface="Wingdings" panose="05000000000000000000" pitchFamily="2" charset="2"/>
              </a:rPr>
              <a:t>S</a:t>
            </a:r>
            <a:r>
              <a:rPr lang="zh-CN" altLang="en-US" sz="2400">
                <a:sym typeface="Wingdings" panose="05000000000000000000" pitchFamily="2" charset="2"/>
              </a:rPr>
              <a:t>的一个实例，即，对任意</a:t>
            </a:r>
            <a:r>
              <a:rPr lang="en-US" altLang="zh-CN" sz="2400">
                <a:sym typeface="Wingdings" panose="05000000000000000000" pitchFamily="2" charset="2"/>
              </a:rPr>
              <a:t>t</a:t>
            </a:r>
            <a:r>
              <a:rPr lang="zh-CN" altLang="en-US" sz="2400">
                <a:sym typeface="Wingdings" panose="05000000000000000000" pitchFamily="2" charset="2"/>
              </a:rPr>
              <a:t>，</a:t>
            </a:r>
            <a:r>
              <a:rPr lang="en-US" altLang="zh-CN" sz="2400">
                <a:sym typeface="Wingdings" panose="05000000000000000000" pitchFamily="2" charset="2"/>
              </a:rPr>
              <a:t>S’(t)</a:t>
            </a:r>
            <a:r>
              <a:rPr lang="zh-CN" altLang="en-US" sz="2400">
                <a:sym typeface="Wingdings" panose="05000000000000000000" pitchFamily="2" charset="2"/>
              </a:rPr>
              <a:t>是</a:t>
            </a:r>
            <a:r>
              <a:rPr lang="en-US" altLang="zh-CN" sz="2400">
                <a:sym typeface="Wingdings" panose="05000000000000000000" pitchFamily="2" charset="2"/>
              </a:rPr>
              <a:t>S(t)</a:t>
            </a:r>
            <a:r>
              <a:rPr lang="zh-CN" altLang="en-US" sz="2400">
                <a:sym typeface="Wingdings" panose="05000000000000000000" pitchFamily="2" charset="2"/>
              </a:rPr>
              <a:t>的一个实例</a:t>
            </a:r>
            <a:endParaRPr lang="zh-CN" altLang="en-US" sz="2400">
              <a:sym typeface="Wingdings" panose="05000000000000000000" pitchFamily="2" charset="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altLang="zh-CN"/>
              <a:t>6.6.5  </a:t>
            </a:r>
            <a:r>
              <a:rPr lang="zh-CN" altLang="en-US"/>
              <a:t>多态函数类型检查</a:t>
            </a:r>
            <a:endParaRPr lang="zh-CN" altLang="en-US"/>
          </a:p>
        </p:txBody>
      </p:sp>
      <p:sp>
        <p:nvSpPr>
          <p:cNvPr id="81923" name="Rectangle 3"/>
          <p:cNvSpPr>
            <a:spLocks noGrp="1" noChangeArrowheads="1"/>
          </p:cNvSpPr>
          <p:nvPr>
            <p:ph type="body" idx="1"/>
          </p:nvPr>
        </p:nvSpPr>
        <p:spPr/>
        <p:txBody>
          <a:bodyPr/>
          <a:lstStyle/>
          <a:p>
            <a:pPr marL="609600" indent="-609600" eaLnBrk="1" hangingPunct="1"/>
            <a:r>
              <a:rPr lang="zh-CN" altLang="en-US"/>
              <a:t>检查规则由下列对类型图的操作构成</a:t>
            </a:r>
            <a:endParaRPr lang="zh-CN" altLang="en-US"/>
          </a:p>
          <a:p>
            <a:pPr marL="990600" lvl="1" indent="-533400" eaLnBrk="1" hangingPunct="1"/>
            <a:r>
              <a:rPr lang="en-US" altLang="zh-CN"/>
              <a:t>fresh(t)——</a:t>
            </a:r>
            <a:r>
              <a:rPr lang="zh-CN" altLang="en-US"/>
              <a:t>将类型表达式</a:t>
            </a:r>
            <a:r>
              <a:rPr lang="en-US" altLang="zh-CN"/>
              <a:t>t</a:t>
            </a:r>
            <a:r>
              <a:rPr lang="zh-CN" altLang="en-US"/>
              <a:t>中约束变量</a:t>
            </a:r>
            <a:r>
              <a:rPr lang="zh-CN" altLang="en-US">
                <a:sym typeface="Wingdings" panose="05000000000000000000" pitchFamily="2" charset="2"/>
              </a:rPr>
              <a:t>代换</a:t>
            </a:r>
            <a:r>
              <a:rPr lang="zh-CN" altLang="en-US"/>
              <a:t>为新变量，返回</a:t>
            </a:r>
            <a:r>
              <a:rPr lang="zh-CN" altLang="en-US">
                <a:sym typeface="Wingdings" panose="05000000000000000000" pitchFamily="2" charset="2"/>
              </a:rPr>
              <a:t>代换</a:t>
            </a:r>
            <a:r>
              <a:rPr lang="zh-CN" altLang="en-US"/>
              <a:t>后类型表达式结点指针</a:t>
            </a:r>
            <a:r>
              <a:rPr lang="zh-CN" altLang="en-US">
                <a:sym typeface="Wingdings" panose="05000000000000000000" pitchFamily="2" charset="2"/>
              </a:rPr>
              <a:t>消除</a:t>
            </a:r>
            <a:endParaRPr lang="zh-CN" altLang="en-US">
              <a:sym typeface="Wingdings" panose="05000000000000000000" pitchFamily="2" charset="2"/>
            </a:endParaRPr>
          </a:p>
          <a:p>
            <a:pPr marL="990600" lvl="1" indent="-533400" eaLnBrk="1" hangingPunct="1"/>
            <a:r>
              <a:rPr lang="en-US" altLang="zh-CN">
                <a:sym typeface="Wingdings" panose="05000000000000000000" pitchFamily="2" charset="2"/>
              </a:rPr>
              <a:t>unify(m, n)——</a:t>
            </a:r>
            <a:r>
              <a:rPr lang="zh-CN" altLang="en-US">
                <a:sym typeface="Wingdings" panose="05000000000000000000" pitchFamily="2" charset="2"/>
              </a:rPr>
              <a:t>将结点</a:t>
            </a:r>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表示的类型表达式合一，会修改、保存对应的代换。若失败，则整个类型检查过程失败</a:t>
            </a:r>
            <a:endParaRPr lang="zh-CN" altLang="en-US">
              <a:sym typeface="Wingdings" panose="05000000000000000000" pitchFamily="2" charset="2"/>
            </a:endParaRPr>
          </a:p>
          <a:p>
            <a:pPr marL="609600" indent="-609600" eaLnBrk="1" hangingPunct="1"/>
            <a:r>
              <a:rPr lang="zh-CN" altLang="en-US">
                <a:sym typeface="Wingdings" panose="05000000000000000000" pitchFamily="2" charset="2"/>
              </a:rPr>
              <a:t>图的创建仍可用</a:t>
            </a:r>
            <a:r>
              <a:rPr lang="en-US" altLang="zh-CN">
                <a:sym typeface="Wingdings" panose="05000000000000000000" pitchFamily="2" charset="2"/>
              </a:rPr>
              <a:t>mkleaf</a:t>
            </a:r>
            <a:r>
              <a:rPr lang="zh-CN" altLang="en-US">
                <a:sym typeface="Wingdings" panose="05000000000000000000" pitchFamily="2" charset="2"/>
              </a:rPr>
              <a:t>、</a:t>
            </a:r>
            <a:r>
              <a:rPr lang="en-US" altLang="zh-CN">
                <a:sym typeface="Wingdings" panose="05000000000000000000" pitchFamily="2" charset="2"/>
              </a:rPr>
              <a:t>mknode</a:t>
            </a:r>
            <a:r>
              <a:rPr lang="zh-CN" altLang="en-US">
                <a:sym typeface="Wingdings" panose="05000000000000000000" pitchFamily="2" charset="2"/>
              </a:rPr>
              <a:t>完成</a:t>
            </a:r>
            <a:endParaRPr lang="zh-CN" altLang="en-US">
              <a:sym typeface="Wingdings" panose="05000000000000000000" pitchFamily="2" charset="2"/>
            </a:endParaRPr>
          </a:p>
          <a:p>
            <a:pPr marL="609600" indent="-609600" eaLnBrk="1" hangingPunct="1"/>
            <a:r>
              <a:rPr lang="zh-CN" altLang="en-US">
                <a:sym typeface="Wingdings" panose="05000000000000000000" pitchFamily="2" charset="2"/>
              </a:rPr>
              <a:t>每个类型变量创建不同结点</a:t>
            </a:r>
            <a:endParaRPr lang="zh-CN" altLang="en-US">
              <a:sym typeface="Wingdings" panose="05000000000000000000" pitchFamily="2" charset="2"/>
            </a:endParaRPr>
          </a:p>
        </p:txBody>
      </p:sp>
      <p:graphicFrame>
        <p:nvGraphicFramePr>
          <p:cNvPr id="81924" name="Object 4"/>
          <p:cNvGraphicFramePr>
            <a:graphicFrameLocks noChangeAspect="1"/>
          </p:cNvGraphicFramePr>
          <p:nvPr/>
        </p:nvGraphicFramePr>
        <p:xfrm>
          <a:off x="3733800" y="2895600"/>
          <a:ext cx="354013" cy="388938"/>
        </p:xfrm>
        <a:graphic>
          <a:graphicData uri="http://schemas.openxmlformats.org/presentationml/2006/ole">
            <mc:AlternateContent xmlns:mc="http://schemas.openxmlformats.org/markup-compatibility/2006">
              <mc:Choice xmlns:v="urn:schemas-microsoft-com:vml" Requires="v">
                <p:oleObj spid="_x0000_s81936" name="Equation" r:id="rId1" imgW="152400" imgH="165100" progId="Equation.3">
                  <p:embed/>
                </p:oleObj>
              </mc:Choice>
              <mc:Fallback>
                <p:oleObj name="Equation" r:id="rId1" imgW="152400" imgH="165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28956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altLang="zh-CN"/>
              <a:t>unify</a:t>
            </a:r>
            <a:r>
              <a:rPr lang="zh-CN" altLang="en-US"/>
              <a:t>操作</a:t>
            </a:r>
            <a:endParaRPr lang="zh-CN" altLang="en-US"/>
          </a:p>
        </p:txBody>
      </p:sp>
      <p:sp>
        <p:nvSpPr>
          <p:cNvPr id="82947" name="Rectangle 3"/>
          <p:cNvSpPr>
            <a:spLocks noGrp="1" noChangeArrowheads="1"/>
          </p:cNvSpPr>
          <p:nvPr>
            <p:ph type="body" idx="1"/>
          </p:nvPr>
        </p:nvSpPr>
        <p:spPr/>
        <p:txBody>
          <a:bodyPr/>
          <a:lstStyle/>
          <a:p>
            <a:pPr eaLnBrk="1" hangingPunct="1"/>
            <a:r>
              <a:rPr lang="zh-CN" altLang="en-US"/>
              <a:t>合一、代换</a:t>
            </a:r>
            <a:r>
              <a:rPr lang="en-US" altLang="zh-CN"/>
              <a:t>——</a:t>
            </a:r>
            <a:r>
              <a:rPr lang="zh-CN" altLang="en-US"/>
              <a:t>基于图论的方法</a:t>
            </a:r>
            <a:endParaRPr lang="zh-CN" altLang="en-US"/>
          </a:p>
          <a:p>
            <a:pPr eaLnBrk="1" hangingPunct="1"/>
            <a:r>
              <a:rPr lang="en-US" altLang="zh-CN"/>
              <a:t>m</a:t>
            </a:r>
            <a:r>
              <a:rPr lang="zh-CN" altLang="en-US"/>
              <a:t>、</a:t>
            </a:r>
            <a:r>
              <a:rPr lang="en-US" altLang="zh-CN"/>
              <a:t>n</a:t>
            </a:r>
            <a:r>
              <a:rPr lang="zh-CN" altLang="en-US"/>
              <a:t>为类型图结点，分别表示表达式</a:t>
            </a:r>
            <a:r>
              <a:rPr lang="en-US" altLang="zh-CN"/>
              <a:t>e</a:t>
            </a:r>
            <a:r>
              <a:rPr lang="zh-CN" altLang="en-US"/>
              <a:t>、</a:t>
            </a:r>
            <a:r>
              <a:rPr lang="en-US" altLang="zh-CN"/>
              <a:t>f</a:t>
            </a:r>
            <a:r>
              <a:rPr lang="zh-CN" altLang="en-US"/>
              <a:t>，若</a:t>
            </a:r>
            <a:r>
              <a:rPr lang="en-US" altLang="zh-CN"/>
              <a:t>S(e)=S(f)</a:t>
            </a:r>
            <a:r>
              <a:rPr lang="zh-CN" altLang="en-US"/>
              <a:t>，称</a:t>
            </a:r>
            <a:r>
              <a:rPr lang="en-US" altLang="zh-CN"/>
              <a:t>m</a:t>
            </a:r>
            <a:r>
              <a:rPr lang="zh-CN" altLang="en-US"/>
              <a:t>、</a:t>
            </a:r>
            <a:r>
              <a:rPr lang="en-US" altLang="zh-CN"/>
              <a:t>n</a:t>
            </a:r>
            <a:r>
              <a:rPr lang="zh-CN" altLang="en-US"/>
              <a:t>在代换</a:t>
            </a:r>
            <a:r>
              <a:rPr lang="en-US" altLang="zh-CN"/>
              <a:t>S</a:t>
            </a:r>
            <a:r>
              <a:rPr lang="zh-CN" altLang="en-US"/>
              <a:t>下等价</a:t>
            </a:r>
            <a:endParaRPr lang="zh-CN" altLang="en-US"/>
          </a:p>
          <a:p>
            <a:pPr eaLnBrk="1" hangingPunct="1"/>
            <a:r>
              <a:rPr lang="zh-CN" altLang="en-US"/>
              <a:t>求最一般的合一代换</a:t>
            </a:r>
            <a:endParaRPr lang="zh-CN" altLang="en-US"/>
          </a:p>
          <a:p>
            <a:pPr lvl="1" eaLnBrk="1" hangingPunct="1"/>
            <a:r>
              <a:rPr lang="zh-CN" altLang="en-US"/>
              <a:t>转化为</a:t>
            </a:r>
            <a:r>
              <a:rPr lang="zh-CN" altLang="en-US">
                <a:sym typeface="Wingdings" panose="05000000000000000000" pitchFamily="2" charset="2"/>
              </a:rPr>
              <a:t></a:t>
            </a:r>
            <a:r>
              <a:rPr lang="zh-CN" altLang="en-US"/>
              <a:t>在</a:t>
            </a:r>
            <a:r>
              <a:rPr lang="en-US" altLang="zh-CN"/>
              <a:t>S</a:t>
            </a:r>
            <a:r>
              <a:rPr lang="zh-CN" altLang="en-US"/>
              <a:t>下必须等价的结点的集合划分问题</a:t>
            </a:r>
            <a:endParaRPr lang="zh-CN" altLang="en-US"/>
          </a:p>
          <a:p>
            <a:pPr lvl="1" eaLnBrk="1" hangingPunct="1"/>
            <a:r>
              <a:rPr lang="zh-CN" altLang="en-US"/>
              <a:t>类型表达式等价</a:t>
            </a:r>
            <a:r>
              <a:rPr lang="zh-CN" altLang="en-US">
                <a:sym typeface="Wingdings" panose="05000000000000000000" pitchFamily="2" charset="2"/>
              </a:rPr>
              <a:t>根必须等价</a:t>
            </a:r>
            <a:endParaRPr lang="zh-CN" altLang="en-US">
              <a:sym typeface="Wingdings" panose="05000000000000000000" pitchFamily="2" charset="2"/>
            </a:endParaRPr>
          </a:p>
          <a:p>
            <a:pPr lvl="1" eaLnBrk="1" hangingPunct="1"/>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等价表示相同操作且孩子结点等价</a:t>
            </a:r>
            <a:endParaRPr lang="zh-CN" altLang="en-US">
              <a:sym typeface="Wingdings" panose="05000000000000000000" pitchFamily="2" charset="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t>类型检查规则</a:t>
            </a:r>
            <a:endParaRPr lang="zh-CN" altLang="en-US"/>
          </a:p>
        </p:txBody>
      </p:sp>
      <p:sp>
        <p:nvSpPr>
          <p:cNvPr id="83971" name="Rectangle 3"/>
          <p:cNvSpPr>
            <a:spLocks noGrp="1" noChangeArrowheads="1"/>
          </p:cNvSpPr>
          <p:nvPr>
            <p:ph type="body" idx="1"/>
          </p:nvPr>
        </p:nvSpPr>
        <p:spPr/>
        <p:txBody>
          <a:bodyPr/>
          <a:lstStyle/>
          <a:p>
            <a:pPr eaLnBrk="1" hangingPunct="1">
              <a:spcBef>
                <a:spcPct val="10000"/>
              </a:spcBef>
              <a:buFont typeface="Wingdings" panose="05000000000000000000" pitchFamily="2" charset="2"/>
              <a:buNone/>
            </a:pPr>
            <a:r>
              <a:rPr lang="en-US" altLang="zh-CN" sz="2800">
                <a:sym typeface="Symbol" panose="05050102010706020507" pitchFamily="18" charset="2"/>
              </a:rPr>
              <a:t>E  E</a:t>
            </a:r>
            <a:r>
              <a:rPr lang="en-US" altLang="zh-CN" sz="2800" baseline="-25000">
                <a:sym typeface="Symbol" panose="05050102010706020507" pitchFamily="18" charset="2"/>
              </a:rPr>
              <a:t>1</a:t>
            </a:r>
            <a:r>
              <a:rPr lang="en-US" altLang="zh-CN" sz="2800">
                <a:solidFill>
                  <a:schemeClr val="accent2"/>
                </a:solidFill>
                <a:sym typeface="Symbol" panose="05050102010706020507" pitchFamily="18" charset="2"/>
              </a:rPr>
              <a:t>(</a:t>
            </a:r>
            <a:r>
              <a:rPr lang="en-US" altLang="zh-CN" sz="2800">
                <a:sym typeface="Symbol" panose="05050102010706020507" pitchFamily="18" charset="2"/>
              </a:rPr>
              <a:t>E</a:t>
            </a:r>
            <a:r>
              <a:rPr lang="en-US" altLang="zh-CN" sz="2800" baseline="-25000">
                <a:sym typeface="Symbol" panose="05050102010706020507" pitchFamily="18" charset="2"/>
              </a:rPr>
              <a:t>2</a:t>
            </a:r>
            <a:r>
              <a:rPr lang="en-US" altLang="zh-CN" sz="2800">
                <a:solidFill>
                  <a:schemeClr val="accent2"/>
                </a:solidFill>
                <a:sym typeface="Symbol" panose="05050102010706020507" pitchFamily="18" charset="2"/>
              </a:rPr>
              <a:t>) 	</a:t>
            </a:r>
            <a:r>
              <a:rPr lang="en-US" altLang="zh-CN" sz="2800">
                <a:sym typeface="Symbol" panose="05050102010706020507" pitchFamily="18" charset="2"/>
              </a:rPr>
              <a:t> { p = mkleaf(newtypevar);</a:t>
            </a:r>
            <a:endParaRPr lang="en-US" altLang="zh-CN" sz="2800">
              <a:sym typeface="Symbol" panose="05050102010706020507" pitchFamily="18" charset="2"/>
            </a:endParaRPr>
          </a:p>
          <a:p>
            <a:pPr eaLnBrk="1" hangingPunct="1">
              <a:spcBef>
                <a:spcPct val="10000"/>
              </a:spcBef>
              <a:buFont typeface="Wingdings" panose="05000000000000000000" pitchFamily="2" charset="2"/>
              <a:buNone/>
            </a:pPr>
            <a:r>
              <a:rPr lang="en-US" altLang="zh-CN" sz="2800">
                <a:sym typeface="Symbol" panose="05050102010706020507" pitchFamily="18" charset="2"/>
              </a:rPr>
              <a:t>			unify(E</a:t>
            </a:r>
            <a:r>
              <a:rPr lang="en-US" altLang="zh-CN" sz="2800" baseline="-25000">
                <a:sym typeface="Symbol" panose="05050102010706020507" pitchFamily="18" charset="2"/>
              </a:rPr>
              <a:t>1</a:t>
            </a:r>
            <a:r>
              <a:rPr lang="en-US" altLang="zh-CN" sz="2800">
                <a:sym typeface="Symbol" panose="05050102010706020507" pitchFamily="18" charset="2"/>
              </a:rPr>
              <a:t>.type, mknode(‘’, E</a:t>
            </a:r>
            <a:r>
              <a:rPr lang="en-US" altLang="zh-CN" sz="2800" baseline="-25000">
                <a:sym typeface="Symbol" panose="05050102010706020507" pitchFamily="18" charset="2"/>
              </a:rPr>
              <a:t>2</a:t>
            </a:r>
            <a:r>
              <a:rPr lang="en-US" altLang="zh-CN" sz="2800">
                <a:sym typeface="Symbol" panose="05050102010706020507" pitchFamily="18" charset="2"/>
              </a:rPr>
              <a:t>.type, p));</a:t>
            </a:r>
            <a:endParaRPr lang="en-US" altLang="zh-CN" sz="2800">
              <a:sym typeface="Symbol" panose="05050102010706020507" pitchFamily="18" charset="2"/>
            </a:endParaRPr>
          </a:p>
          <a:p>
            <a:pPr eaLnBrk="1" hangingPunct="1">
              <a:spcBef>
                <a:spcPct val="10000"/>
              </a:spcBef>
              <a:buFont typeface="Wingdings" panose="05000000000000000000" pitchFamily="2" charset="2"/>
              <a:buNone/>
            </a:pPr>
            <a:r>
              <a:rPr lang="en-US" altLang="zh-CN" sz="2800">
                <a:sym typeface="Symbol" panose="05050102010706020507" pitchFamily="18" charset="2"/>
              </a:rPr>
              <a:t>			E.type = p; }</a:t>
            </a:r>
            <a:endParaRPr lang="en-US" altLang="zh-CN"/>
          </a:p>
          <a:p>
            <a:pPr eaLnBrk="1" hangingPunct="1">
              <a:spcBef>
                <a:spcPct val="10000"/>
              </a:spcBef>
              <a:buFont typeface="Wingdings" panose="05000000000000000000" pitchFamily="2" charset="2"/>
              <a:buNone/>
            </a:pPr>
            <a:r>
              <a:rPr lang="en-US" altLang="zh-CN" sz="2800">
                <a:sym typeface="Symbol" panose="05050102010706020507" pitchFamily="18" charset="2"/>
              </a:rPr>
              <a:t>E  E</a:t>
            </a:r>
            <a:r>
              <a:rPr lang="en-US" altLang="zh-CN" sz="2800" baseline="-25000">
                <a:sym typeface="Symbol" panose="05050102010706020507" pitchFamily="18" charset="2"/>
              </a:rPr>
              <a:t>1</a:t>
            </a:r>
            <a:r>
              <a:rPr lang="en-US" altLang="zh-CN" sz="2800">
                <a:sym typeface="Symbol" panose="05050102010706020507" pitchFamily="18" charset="2"/>
              </a:rPr>
              <a:t> , E</a:t>
            </a:r>
            <a:r>
              <a:rPr lang="en-US" altLang="zh-CN" sz="2800" baseline="-25000">
                <a:sym typeface="Symbol" panose="05050102010706020507" pitchFamily="18" charset="2"/>
              </a:rPr>
              <a:t>2</a:t>
            </a:r>
            <a:r>
              <a:rPr lang="en-US" altLang="zh-CN" sz="2800">
                <a:sym typeface="Symbol" panose="05050102010706020507" pitchFamily="18" charset="2"/>
              </a:rPr>
              <a:t>	</a:t>
            </a:r>
            <a:br>
              <a:rPr lang="en-US" altLang="zh-CN" sz="2800">
                <a:sym typeface="Symbol" panose="05050102010706020507" pitchFamily="18" charset="2"/>
              </a:rPr>
            </a:br>
            <a:r>
              <a:rPr lang="en-US" altLang="zh-CN" sz="2800">
                <a:sym typeface="Symbol" panose="05050102010706020507" pitchFamily="18" charset="2"/>
              </a:rPr>
              <a:t>	{ E.type = mknode(‘×’, E</a:t>
            </a:r>
            <a:r>
              <a:rPr lang="en-US" altLang="zh-CN" sz="2800" baseline="-25000">
                <a:sym typeface="Symbol" panose="05050102010706020507" pitchFamily="18" charset="2"/>
              </a:rPr>
              <a:t>1</a:t>
            </a:r>
            <a:r>
              <a:rPr lang="en-US" altLang="zh-CN" sz="2800">
                <a:sym typeface="Symbol" panose="05050102010706020507" pitchFamily="18" charset="2"/>
              </a:rPr>
              <a:t>.type, E</a:t>
            </a:r>
            <a:r>
              <a:rPr lang="en-US" altLang="zh-CN" sz="2800" baseline="-25000">
                <a:sym typeface="Symbol" panose="05050102010706020507" pitchFamily="18" charset="2"/>
              </a:rPr>
              <a:t>2</a:t>
            </a:r>
            <a:r>
              <a:rPr lang="en-US" altLang="zh-CN" sz="2800">
                <a:sym typeface="Symbol" panose="05050102010706020507" pitchFamily="18" charset="2"/>
              </a:rPr>
              <a:t>.type); }</a:t>
            </a:r>
            <a:endParaRPr lang="en-US" altLang="zh-CN" sz="2800" i="1">
              <a:sym typeface="Symbol" panose="05050102010706020507" pitchFamily="18" charset="2"/>
            </a:endParaRPr>
          </a:p>
          <a:p>
            <a:pPr eaLnBrk="1" hangingPunct="1">
              <a:spcBef>
                <a:spcPct val="10000"/>
              </a:spcBef>
              <a:buFont typeface="Wingdings" panose="05000000000000000000" pitchFamily="2" charset="2"/>
              <a:buNone/>
            </a:pPr>
            <a:r>
              <a:rPr lang="en-US" altLang="zh-CN" sz="2800">
                <a:sym typeface="Symbol" panose="05050102010706020507" pitchFamily="18" charset="2"/>
              </a:rPr>
              <a:t>E  </a:t>
            </a:r>
            <a:r>
              <a:rPr lang="en-US" altLang="zh-CN" sz="2800" b="1">
                <a:solidFill>
                  <a:schemeClr val="accent2"/>
                </a:solidFill>
                <a:sym typeface="Symbol" panose="05050102010706020507" pitchFamily="18" charset="2"/>
              </a:rPr>
              <a:t>id</a:t>
            </a:r>
            <a:r>
              <a:rPr lang="en-US" altLang="zh-CN" sz="2800">
                <a:solidFill>
                  <a:schemeClr val="accent2"/>
                </a:solidFill>
                <a:sym typeface="Symbol" panose="05050102010706020507" pitchFamily="18" charset="2"/>
              </a:rPr>
              <a:t> 	</a:t>
            </a:r>
            <a:r>
              <a:rPr lang="en-US" altLang="zh-CN" sz="2800">
                <a:sym typeface="Symbol" panose="05050102010706020507" pitchFamily="18" charset="2"/>
              </a:rPr>
              <a:t>{ E.type = fresh(</a:t>
            </a:r>
            <a:r>
              <a:rPr lang="en-US" altLang="zh-CN" sz="2800" b="1">
                <a:sym typeface="Symbol" panose="05050102010706020507" pitchFamily="18" charset="2"/>
              </a:rPr>
              <a:t>id</a:t>
            </a:r>
            <a:r>
              <a:rPr lang="en-US" altLang="zh-CN" sz="2800">
                <a:sym typeface="Symbol" panose="05050102010706020507" pitchFamily="18" charset="2"/>
              </a:rPr>
              <a:t>.type); }</a:t>
            </a:r>
            <a:endParaRPr lang="en-US" altLang="zh-CN" sz="2800"/>
          </a:p>
          <a:p>
            <a:pPr eaLnBrk="1" hangingPunct="1"/>
            <a:r>
              <a:rPr lang="en-US" altLang="zh-CN">
                <a:solidFill>
                  <a:srgbClr val="3333CC"/>
                </a:solidFill>
              </a:rPr>
              <a:t>E</a:t>
            </a:r>
            <a:r>
              <a:rPr lang="en-US" altLang="zh-CN" baseline="-25000">
                <a:solidFill>
                  <a:srgbClr val="3333CC"/>
                </a:solidFill>
              </a:rPr>
              <a:t>1</a:t>
            </a:r>
            <a:r>
              <a:rPr lang="en-US" altLang="zh-CN">
                <a:solidFill>
                  <a:srgbClr val="3333CC"/>
                </a:solidFill>
              </a:rPr>
              <a:t>.type=</a:t>
            </a:r>
            <a:r>
              <a:rPr lang="en-US" altLang="zh-CN">
                <a:solidFill>
                  <a:srgbClr val="3333CC"/>
                </a:solidFill>
                <a:latin typeface="Symbol" panose="05050102010706020507" pitchFamily="18" charset="2"/>
              </a:rPr>
              <a:t>a</a:t>
            </a:r>
            <a:r>
              <a:rPr lang="zh-CN" altLang="en-US">
                <a:solidFill>
                  <a:srgbClr val="3333CC"/>
                </a:solidFill>
              </a:rPr>
              <a:t>，</a:t>
            </a:r>
            <a:r>
              <a:rPr lang="en-US" altLang="zh-CN">
                <a:solidFill>
                  <a:srgbClr val="3333CC"/>
                </a:solidFill>
              </a:rPr>
              <a:t>E</a:t>
            </a:r>
            <a:r>
              <a:rPr lang="en-US" altLang="zh-CN" baseline="-25000">
                <a:solidFill>
                  <a:srgbClr val="3333CC"/>
                </a:solidFill>
              </a:rPr>
              <a:t>2</a:t>
            </a:r>
            <a:r>
              <a:rPr lang="en-US" altLang="zh-CN">
                <a:solidFill>
                  <a:srgbClr val="3333CC"/>
                </a:solidFill>
              </a:rPr>
              <a:t>.type=</a:t>
            </a:r>
            <a:r>
              <a:rPr lang="en-US" altLang="zh-CN">
                <a:solidFill>
                  <a:srgbClr val="3333CC"/>
                </a:solidFill>
                <a:latin typeface="Symbol" panose="05050102010706020507" pitchFamily="18" charset="2"/>
              </a:rPr>
              <a:t>b</a:t>
            </a:r>
            <a:r>
              <a:rPr lang="zh-CN" altLang="en-US">
                <a:solidFill>
                  <a:srgbClr val="3333CC"/>
                </a:solidFill>
              </a:rPr>
              <a:t>，都是类型变量</a:t>
            </a:r>
            <a:endParaRPr lang="zh-CN" altLang="en-US">
              <a:solidFill>
                <a:srgbClr val="3333CC"/>
              </a:solidFill>
            </a:endParaRPr>
          </a:p>
          <a:p>
            <a:pPr eaLnBrk="1" hangingPunct="1"/>
            <a:r>
              <a:rPr lang="zh-CN" altLang="en-US">
                <a:solidFill>
                  <a:srgbClr val="3333CC"/>
                </a:solidFill>
              </a:rPr>
              <a:t>前者是函数，寻求两者等价，必有类型变量</a:t>
            </a:r>
            <a:r>
              <a:rPr lang="en-US" altLang="zh-CN">
                <a:solidFill>
                  <a:srgbClr val="3333CC"/>
                </a:solidFill>
                <a:latin typeface="Symbol" panose="05050102010706020507" pitchFamily="18" charset="2"/>
              </a:rPr>
              <a:t>g</a:t>
            </a:r>
            <a:r>
              <a:rPr lang="zh-CN" altLang="en-US">
                <a:solidFill>
                  <a:srgbClr val="3333CC"/>
                </a:solidFill>
              </a:rPr>
              <a:t>，使得</a:t>
            </a:r>
            <a:r>
              <a:rPr lang="en-US" altLang="zh-CN">
                <a:solidFill>
                  <a:srgbClr val="3333CC"/>
                </a:solidFill>
                <a:latin typeface="Symbol" panose="05050102010706020507" pitchFamily="18" charset="2"/>
              </a:rPr>
              <a:t>a=b</a:t>
            </a:r>
            <a:r>
              <a:rPr lang="en-US" altLang="zh-CN">
                <a:solidFill>
                  <a:srgbClr val="3333CC"/>
                </a:solidFill>
                <a:latin typeface="Symbol" panose="05050102010706020507" pitchFamily="18" charset="2"/>
                <a:sym typeface="Symbol" panose="05050102010706020507" pitchFamily="18" charset="2"/>
              </a:rPr>
              <a:t>g</a:t>
            </a:r>
            <a:endParaRPr lang="en-US" altLang="zh-CN">
              <a:solidFill>
                <a:srgbClr val="3333CC"/>
              </a:solidFill>
              <a:sym typeface="Symbol" panose="05050102010706020507" pitchFamily="18" charset="2"/>
            </a:endParaRPr>
          </a:p>
        </p:txBody>
      </p:sp>
      <p:sp>
        <p:nvSpPr>
          <p:cNvPr id="83972" name="Freeform 5"/>
          <p:cNvSpPr/>
          <p:nvPr/>
        </p:nvSpPr>
        <p:spPr bwMode="ltGray">
          <a:xfrm>
            <a:off x="871538" y="1600200"/>
            <a:ext cx="423862" cy="2362200"/>
          </a:xfrm>
          <a:custGeom>
            <a:avLst/>
            <a:gdLst>
              <a:gd name="T0" fmla="*/ 2147483646 w 267"/>
              <a:gd name="T1" fmla="*/ 2147483646 h 1488"/>
              <a:gd name="T2" fmla="*/ 0 w 267"/>
              <a:gd name="T3" fmla="*/ 2147483646 h 1488"/>
              <a:gd name="T4" fmla="*/ 2147483646 w 267"/>
              <a:gd name="T5" fmla="*/ 0 h 1488"/>
              <a:gd name="T6" fmla="*/ 0 60000 65536"/>
              <a:gd name="T7" fmla="*/ 0 60000 65536"/>
              <a:gd name="T8" fmla="*/ 0 60000 65536"/>
              <a:gd name="T9" fmla="*/ 0 w 267"/>
              <a:gd name="T10" fmla="*/ 0 h 1488"/>
              <a:gd name="T11" fmla="*/ 267 w 267"/>
              <a:gd name="T12" fmla="*/ 1488 h 1488"/>
            </a:gdLst>
            <a:ahLst/>
            <a:cxnLst>
              <a:cxn ang="T6">
                <a:pos x="T0" y="T1"/>
              </a:cxn>
              <a:cxn ang="T7">
                <a:pos x="T2" y="T3"/>
              </a:cxn>
              <a:cxn ang="T8">
                <a:pos x="T4" y="T5"/>
              </a:cxn>
            </a:cxnLst>
            <a:rect l="T9" t="T10" r="T11" b="T12"/>
            <a:pathLst>
              <a:path w="267" h="1488">
                <a:moveTo>
                  <a:pt x="267" y="1488"/>
                </a:moveTo>
                <a:cubicBezTo>
                  <a:pt x="223" y="1357"/>
                  <a:pt x="0" y="950"/>
                  <a:pt x="0" y="702"/>
                </a:cubicBezTo>
                <a:cubicBezTo>
                  <a:pt x="0" y="454"/>
                  <a:pt x="212" y="146"/>
                  <a:pt x="267" y="0"/>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973" name="Freeform 6"/>
          <p:cNvSpPr/>
          <p:nvPr/>
        </p:nvSpPr>
        <p:spPr bwMode="ltGray">
          <a:xfrm>
            <a:off x="5092700" y="2363788"/>
            <a:ext cx="4170363" cy="3517900"/>
          </a:xfrm>
          <a:custGeom>
            <a:avLst/>
            <a:gdLst>
              <a:gd name="T0" fmla="*/ 0 w 2627"/>
              <a:gd name="T1" fmla="*/ 2147483646 h 2216"/>
              <a:gd name="T2" fmla="*/ 2147483646 w 2627"/>
              <a:gd name="T3" fmla="*/ 2147483646 h 2216"/>
              <a:gd name="T4" fmla="*/ 2147483646 w 2627"/>
              <a:gd name="T5" fmla="*/ 0 h 2216"/>
              <a:gd name="T6" fmla="*/ 0 60000 65536"/>
              <a:gd name="T7" fmla="*/ 0 60000 65536"/>
              <a:gd name="T8" fmla="*/ 0 60000 65536"/>
              <a:gd name="T9" fmla="*/ 0 w 2627"/>
              <a:gd name="T10" fmla="*/ 0 h 2216"/>
              <a:gd name="T11" fmla="*/ 2627 w 2627"/>
              <a:gd name="T12" fmla="*/ 2216 h 2216"/>
            </a:gdLst>
            <a:ahLst/>
            <a:cxnLst>
              <a:cxn ang="T6">
                <a:pos x="T0" y="T1"/>
              </a:cxn>
              <a:cxn ang="T7">
                <a:pos x="T2" y="T3"/>
              </a:cxn>
              <a:cxn ang="T8">
                <a:pos x="T4" y="T5"/>
              </a:cxn>
            </a:cxnLst>
            <a:rect l="T9" t="T10" r="T11" b="T12"/>
            <a:pathLst>
              <a:path w="2627" h="2216">
                <a:moveTo>
                  <a:pt x="0" y="2029"/>
                </a:moveTo>
                <a:cubicBezTo>
                  <a:pt x="379" y="2004"/>
                  <a:pt x="1927" y="2216"/>
                  <a:pt x="2277" y="1878"/>
                </a:cubicBezTo>
                <a:cubicBezTo>
                  <a:pt x="2627" y="1540"/>
                  <a:pt x="2137" y="391"/>
                  <a:pt x="2100" y="0"/>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974" name="Freeform 8"/>
          <p:cNvSpPr/>
          <p:nvPr/>
        </p:nvSpPr>
        <p:spPr bwMode="ltGray">
          <a:xfrm>
            <a:off x="6019800" y="1231900"/>
            <a:ext cx="3086100" cy="1739900"/>
          </a:xfrm>
          <a:custGeom>
            <a:avLst/>
            <a:gdLst>
              <a:gd name="T0" fmla="*/ 2147483646 w 1944"/>
              <a:gd name="T1" fmla="*/ 2147483646 h 1096"/>
              <a:gd name="T2" fmla="*/ 2147483646 w 1944"/>
              <a:gd name="T3" fmla="*/ 2147483646 h 1096"/>
              <a:gd name="T4" fmla="*/ 2147483646 w 1944"/>
              <a:gd name="T5" fmla="*/ 2147483646 h 1096"/>
              <a:gd name="T6" fmla="*/ 0 w 1944"/>
              <a:gd name="T7" fmla="*/ 2147483646 h 1096"/>
              <a:gd name="T8" fmla="*/ 0 60000 65536"/>
              <a:gd name="T9" fmla="*/ 0 60000 65536"/>
              <a:gd name="T10" fmla="*/ 0 60000 65536"/>
              <a:gd name="T11" fmla="*/ 0 60000 65536"/>
              <a:gd name="T12" fmla="*/ 0 w 1944"/>
              <a:gd name="T13" fmla="*/ 0 h 1096"/>
              <a:gd name="T14" fmla="*/ 1944 w 1944"/>
              <a:gd name="T15" fmla="*/ 1096 h 1096"/>
            </a:gdLst>
            <a:ahLst/>
            <a:cxnLst>
              <a:cxn ang="T8">
                <a:pos x="T0" y="T1"/>
              </a:cxn>
              <a:cxn ang="T9">
                <a:pos x="T2" y="T3"/>
              </a:cxn>
              <a:cxn ang="T10">
                <a:pos x="T4" y="T5"/>
              </a:cxn>
              <a:cxn ang="T11">
                <a:pos x="T6" y="T7"/>
              </a:cxn>
            </a:cxnLst>
            <a:rect l="T12" t="T13" r="T14" b="T15"/>
            <a:pathLst>
              <a:path w="1944" h="1096">
                <a:moveTo>
                  <a:pt x="1584" y="1096"/>
                </a:moveTo>
                <a:cubicBezTo>
                  <a:pt x="1764" y="872"/>
                  <a:pt x="1944" y="648"/>
                  <a:pt x="1872" y="472"/>
                </a:cubicBezTo>
                <a:cubicBezTo>
                  <a:pt x="1800" y="296"/>
                  <a:pt x="1464" y="80"/>
                  <a:pt x="1152" y="40"/>
                </a:cubicBezTo>
                <a:cubicBezTo>
                  <a:pt x="840" y="0"/>
                  <a:pt x="420" y="116"/>
                  <a:pt x="0" y="232"/>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a:t>例</a:t>
            </a:r>
            <a:endParaRPr lang="zh-CN" altLang="en-US"/>
          </a:p>
        </p:txBody>
      </p:sp>
      <p:sp>
        <p:nvSpPr>
          <p:cNvPr id="84995"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a:t>表达式		类型			代换</a:t>
            </a:r>
            <a:endParaRPr lang="zh-CN" altLang="en-US"/>
          </a:p>
          <a:p>
            <a:pPr eaLnBrk="1" hangingPunct="1">
              <a:buFont typeface="Wingdings" panose="05000000000000000000" pitchFamily="2" charset="2"/>
              <a:buNone/>
            </a:pPr>
            <a:r>
              <a:rPr lang="en-US" altLang="zh-CN" sz="2400"/>
              <a:t>q			pointer(pointer(integer))</a:t>
            </a:r>
            <a:endParaRPr lang="en-US" altLang="zh-CN" sz="2400"/>
          </a:p>
          <a:p>
            <a:pPr eaLnBrk="1" hangingPunct="1">
              <a:buFont typeface="Wingdings" panose="05000000000000000000" pitchFamily="2" charset="2"/>
              <a:buNone/>
            </a:pPr>
            <a:r>
              <a:rPr lang="en-US" altLang="zh-CN" sz="2400"/>
              <a:t>deref</a:t>
            </a:r>
            <a:r>
              <a:rPr lang="en-US" altLang="zh-CN" sz="2400" baseline="-25000"/>
              <a:t>i</a:t>
            </a:r>
            <a:r>
              <a:rPr lang="en-US" altLang="zh-CN" sz="2400"/>
              <a:t>		pointer(</a:t>
            </a:r>
            <a:r>
              <a:rPr lang="en-US" altLang="zh-CN" sz="2400">
                <a:latin typeface="Symbol" panose="05050102010706020507" pitchFamily="18" charset="2"/>
              </a:rPr>
              <a:t>a</a:t>
            </a:r>
            <a:r>
              <a:rPr lang="en-US" altLang="zh-CN" sz="2400" baseline="-25000"/>
              <a:t>i</a:t>
            </a:r>
            <a:r>
              <a:rPr lang="en-US" altLang="zh-CN" sz="2400"/>
              <a:t>) </a:t>
            </a:r>
            <a:r>
              <a:rPr lang="en-US" altLang="zh-CN" sz="2400">
                <a:latin typeface="Symbol" panose="05050102010706020507" pitchFamily="18" charset="2"/>
                <a:sym typeface="Symbol" panose="05050102010706020507" pitchFamily="18" charset="2"/>
              </a:rPr>
              <a:t> a</a:t>
            </a:r>
            <a:r>
              <a:rPr lang="en-US" altLang="zh-CN" sz="2400" baseline="-25000">
                <a:sym typeface="Symbol" panose="05050102010706020507" pitchFamily="18" charset="2"/>
              </a:rPr>
              <a:t>i</a:t>
            </a:r>
            <a:endParaRPr lang="en-US" altLang="zh-CN" sz="2400">
              <a:sym typeface="Symbol" panose="05050102010706020507" pitchFamily="18" charset="2"/>
            </a:endParaRP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i</a:t>
            </a:r>
            <a:r>
              <a:rPr lang="en-US" altLang="zh-CN" sz="2400">
                <a:sym typeface="Symbol" panose="05050102010706020507" pitchFamily="18" charset="2"/>
              </a:rPr>
              <a:t>(q)	pointer(integer)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sym typeface="Symbol" panose="05050102010706020507" pitchFamily="18" charset="2"/>
              </a:rPr>
              <a:t>=pointer(integer)</a:t>
            </a:r>
            <a:endParaRPr lang="en-US" altLang="zh-CN" sz="2400">
              <a:sym typeface="Symbol" panose="05050102010706020507" pitchFamily="18" charset="2"/>
            </a:endParaRP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o</a:t>
            </a:r>
            <a:r>
              <a:rPr lang="en-US" altLang="zh-CN" sz="2400">
                <a:sym typeface="Symbol" panose="05050102010706020507" pitchFamily="18" charset="2"/>
              </a:rPr>
              <a:t>		</a:t>
            </a:r>
            <a:r>
              <a:rPr lang="en-US" altLang="zh-CN" sz="2400"/>
              <a:t>pointer(</a:t>
            </a:r>
            <a:r>
              <a:rPr lang="en-US" altLang="zh-CN" sz="2400">
                <a:latin typeface="Symbol" panose="05050102010706020507" pitchFamily="18" charset="2"/>
              </a:rPr>
              <a:t>a</a:t>
            </a:r>
            <a:r>
              <a:rPr lang="en-US" altLang="zh-CN" sz="2400" baseline="-25000"/>
              <a:t>o</a:t>
            </a:r>
            <a:r>
              <a:rPr lang="en-US" altLang="zh-CN" sz="2400"/>
              <a:t>) </a:t>
            </a:r>
            <a:r>
              <a:rPr lang="en-US" altLang="zh-CN" sz="2400">
                <a:latin typeface="Symbol" panose="05050102010706020507" pitchFamily="18" charset="2"/>
                <a:sym typeface="Symbol" panose="05050102010706020507" pitchFamily="18" charset="2"/>
              </a:rPr>
              <a:t> a</a:t>
            </a:r>
            <a:r>
              <a:rPr lang="en-US" altLang="zh-CN" sz="2400" baseline="-25000">
                <a:sym typeface="Symbol" panose="05050102010706020507" pitchFamily="18" charset="2"/>
              </a:rPr>
              <a:t>o</a:t>
            </a:r>
            <a:endParaRPr lang="en-US" altLang="zh-CN" sz="2400" baseline="-25000">
              <a:sym typeface="Symbol" panose="05050102010706020507" pitchFamily="18" charset="2"/>
            </a:endParaRP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o</a:t>
            </a:r>
            <a:r>
              <a:rPr lang="en-US" altLang="zh-CN" sz="2400">
                <a:sym typeface="Symbol" panose="05050102010706020507" pitchFamily="18" charset="2"/>
              </a:rPr>
              <a:t>(deref</a:t>
            </a:r>
            <a:r>
              <a:rPr lang="en-US" altLang="zh-CN" sz="2400" baseline="-25000">
                <a:sym typeface="Symbol" panose="05050102010706020507" pitchFamily="18" charset="2"/>
              </a:rPr>
              <a:t>i</a:t>
            </a:r>
            <a:r>
              <a:rPr lang="en-US" altLang="zh-CN" sz="2400">
                <a:sym typeface="Symbol" panose="05050102010706020507" pitchFamily="18" charset="2"/>
              </a:rPr>
              <a:t>(q))	integer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o</a:t>
            </a:r>
            <a:r>
              <a:rPr lang="en-US" altLang="zh-CN" sz="2400">
                <a:sym typeface="Symbol" panose="05050102010706020507" pitchFamily="18" charset="2"/>
              </a:rPr>
              <a:t>=integer</a:t>
            </a:r>
            <a:endParaRPr lang="en-US" altLang="zh-CN" sz="2400">
              <a:sym typeface="Symbol" panose="05050102010706020507" pitchFamily="18" charset="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a:t>例</a:t>
            </a:r>
            <a:r>
              <a:rPr lang="en-US" altLang="zh-CN"/>
              <a:t>6.11</a:t>
            </a:r>
            <a:endParaRPr lang="en-US" altLang="zh-CN"/>
          </a:p>
        </p:txBody>
      </p:sp>
      <p:pic>
        <p:nvPicPr>
          <p:cNvPr id="86019" name="Picture 4" descr="poly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1295400"/>
            <a:ext cx="2720975"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0" name="Picture 6" descr="poly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886200"/>
            <a:ext cx="7748588"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a:t>例</a:t>
            </a:r>
            <a:r>
              <a:rPr lang="en-US" altLang="zh-CN"/>
              <a:t>6.11</a:t>
            </a:r>
            <a:r>
              <a:rPr lang="zh-CN" altLang="en-US"/>
              <a:t>（续）</a:t>
            </a:r>
            <a:endParaRPr lang="zh-CN" altLang="en-US"/>
          </a:p>
        </p:txBody>
      </p:sp>
      <p:sp>
        <p:nvSpPr>
          <p:cNvPr id="87043" name="Rectangle 3"/>
          <p:cNvSpPr>
            <a:spLocks noGrp="1" noChangeArrowheads="1"/>
          </p:cNvSpPr>
          <p:nvPr>
            <p:ph type="body" idx="1"/>
          </p:nvPr>
        </p:nvSpPr>
        <p:spPr>
          <a:xfrm>
            <a:off x="1182688" y="1371600"/>
            <a:ext cx="7772400" cy="762000"/>
          </a:xfrm>
        </p:spPr>
        <p:txBody>
          <a:bodyPr/>
          <a:lstStyle/>
          <a:p>
            <a:pPr eaLnBrk="1" hangingPunct="1"/>
            <a:r>
              <a:rPr lang="en-US" altLang="zh-CN"/>
              <a:t>deref</a:t>
            </a:r>
            <a:r>
              <a:rPr lang="en-US" altLang="zh-CN" baseline="-25000"/>
              <a:t>i</a:t>
            </a:r>
            <a:r>
              <a:rPr lang="zh-CN" altLang="en-US"/>
              <a:t>的合一过程</a:t>
            </a:r>
            <a:endParaRPr lang="zh-CN" altLang="en-US"/>
          </a:p>
        </p:txBody>
      </p:sp>
      <p:pic>
        <p:nvPicPr>
          <p:cNvPr id="87044" name="Picture 4" descr="poly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2514600"/>
            <a:ext cx="8816975" cy="297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a:t>例</a:t>
            </a:r>
            <a:r>
              <a:rPr lang="en-US" altLang="zh-CN"/>
              <a:t>6.12  ML</a:t>
            </a:r>
            <a:r>
              <a:rPr lang="zh-CN" altLang="en-US"/>
              <a:t>语言多态函数检查</a:t>
            </a:r>
            <a:endParaRPr lang="zh-CN" altLang="en-US"/>
          </a:p>
        </p:txBody>
      </p:sp>
      <p:sp>
        <p:nvSpPr>
          <p:cNvPr id="88067" name="Rectangle 3"/>
          <p:cNvSpPr>
            <a:spLocks noGrp="1" noChangeArrowheads="1"/>
          </p:cNvSpPr>
          <p:nvPr>
            <p:ph type="body" idx="1"/>
          </p:nvPr>
        </p:nvSpPr>
        <p:spPr>
          <a:xfrm>
            <a:off x="1182688" y="1371600"/>
            <a:ext cx="7772400" cy="5257800"/>
          </a:xfrm>
        </p:spPr>
        <p:txBody>
          <a:bodyPr/>
          <a:lstStyle/>
          <a:p>
            <a:pPr eaLnBrk="1" hangingPunct="1">
              <a:buFont typeface="Wingdings" panose="05000000000000000000" pitchFamily="2" charset="2"/>
              <a:buNone/>
            </a:pPr>
            <a:r>
              <a:rPr lang="en-US" altLang="zh-CN" sz="2800" b="1"/>
              <a:t>fun</a:t>
            </a:r>
            <a:r>
              <a:rPr lang="en-US" altLang="zh-CN" sz="2800"/>
              <a:t> </a:t>
            </a:r>
            <a:r>
              <a:rPr lang="en-US" altLang="zh-CN" sz="2800" b="1"/>
              <a:t>id</a:t>
            </a:r>
            <a:r>
              <a:rPr lang="en-US" altLang="zh-CN" sz="2800" baseline="-25000"/>
              <a:t>0 </a:t>
            </a:r>
            <a:r>
              <a:rPr lang="en-US" altLang="zh-CN" sz="2800"/>
              <a:t>( </a:t>
            </a:r>
            <a:r>
              <a:rPr lang="en-US" altLang="zh-CN" sz="2800" b="1"/>
              <a:t>id</a:t>
            </a:r>
            <a:r>
              <a:rPr lang="en-US" altLang="zh-CN" sz="2800" baseline="-25000"/>
              <a:t>1</a:t>
            </a:r>
            <a:r>
              <a:rPr lang="en-US" altLang="zh-CN" sz="2800"/>
              <a:t>, …, </a:t>
            </a:r>
            <a:r>
              <a:rPr lang="en-US" altLang="zh-CN" sz="2800" b="1"/>
              <a:t>id</a:t>
            </a:r>
            <a:r>
              <a:rPr lang="en-US" altLang="zh-CN" sz="2800" baseline="-25000"/>
              <a:t>k </a:t>
            </a:r>
            <a:r>
              <a:rPr lang="en-US" altLang="zh-CN" sz="2800"/>
              <a:t>) = E;</a:t>
            </a:r>
            <a:endParaRPr lang="en-US" altLang="zh-CN" sz="2800"/>
          </a:p>
          <a:p>
            <a:pPr eaLnBrk="1" hangingPunct="1"/>
            <a:r>
              <a:rPr lang="en-US" altLang="zh-CN" b="1"/>
              <a:t>id</a:t>
            </a:r>
            <a:r>
              <a:rPr lang="en-US" altLang="zh-CN" baseline="-25000"/>
              <a:t>0</a:t>
            </a:r>
            <a:r>
              <a:rPr lang="zh-CN" altLang="en-US"/>
              <a:t>：函数名， </a:t>
            </a:r>
            <a:r>
              <a:rPr lang="en-US" altLang="zh-CN" b="1"/>
              <a:t>id</a:t>
            </a:r>
            <a:r>
              <a:rPr lang="en-US" altLang="zh-CN" baseline="-25000"/>
              <a:t>1</a:t>
            </a:r>
            <a:r>
              <a:rPr lang="en-US" altLang="zh-CN"/>
              <a:t>, …, </a:t>
            </a:r>
            <a:r>
              <a:rPr lang="en-US" altLang="zh-CN" b="1"/>
              <a:t>id</a:t>
            </a:r>
            <a:r>
              <a:rPr lang="en-US" altLang="zh-CN" baseline="-25000"/>
              <a:t>k</a:t>
            </a:r>
            <a:r>
              <a:rPr lang="zh-CN" altLang="en-US"/>
              <a:t>：参数，</a:t>
            </a:r>
            <a:r>
              <a:rPr lang="en-US" altLang="zh-CN"/>
              <a:t>E</a:t>
            </a:r>
            <a:r>
              <a:rPr lang="zh-CN" altLang="en-US"/>
              <a:t>遵从前面定义的用于多态函数类型检查的文法，其中的标识符只可能是函数名、参数或内置函数</a:t>
            </a:r>
            <a:endParaRPr lang="zh-CN" altLang="en-US"/>
          </a:p>
          <a:p>
            <a:pPr eaLnBrk="1" hangingPunct="1"/>
            <a:r>
              <a:rPr lang="zh-CN" altLang="en-US"/>
              <a:t>方法：例</a:t>
            </a:r>
            <a:r>
              <a:rPr lang="en-US" altLang="zh-CN"/>
              <a:t>6.9</a:t>
            </a:r>
            <a:r>
              <a:rPr lang="zh-CN" altLang="en-US"/>
              <a:t>方法的形式化</a:t>
            </a:r>
            <a:endParaRPr lang="zh-CN" altLang="en-US"/>
          </a:p>
          <a:p>
            <a:pPr lvl="1" eaLnBrk="1" hangingPunct="1"/>
            <a:r>
              <a:rPr lang="zh-CN" altLang="en-US"/>
              <a:t>为函数名和参数创建新类型变量</a:t>
            </a:r>
            <a:endParaRPr lang="zh-CN" altLang="en-US"/>
          </a:p>
          <a:p>
            <a:pPr lvl="1" eaLnBrk="1" hangingPunct="1"/>
            <a:r>
              <a:rPr lang="zh-CN" altLang="en-US"/>
              <a:t>多态函数的类型变量由    约束</a:t>
            </a:r>
            <a:endParaRPr lang="zh-CN" altLang="en-US"/>
          </a:p>
          <a:p>
            <a:pPr lvl="1" eaLnBrk="1" hangingPunct="1"/>
            <a:r>
              <a:rPr lang="zh-CN" altLang="en-US"/>
              <a:t>检查</a:t>
            </a:r>
            <a:r>
              <a:rPr lang="en-US" altLang="zh-CN" b="1"/>
              <a:t>id</a:t>
            </a:r>
            <a:r>
              <a:rPr lang="en-US" altLang="zh-CN" baseline="-25000"/>
              <a:t>0 </a:t>
            </a:r>
            <a:r>
              <a:rPr lang="en-US" altLang="zh-CN"/>
              <a:t>( </a:t>
            </a:r>
            <a:r>
              <a:rPr lang="en-US" altLang="zh-CN" b="1"/>
              <a:t>id</a:t>
            </a:r>
            <a:r>
              <a:rPr lang="en-US" altLang="zh-CN" baseline="-25000"/>
              <a:t>1</a:t>
            </a:r>
            <a:r>
              <a:rPr lang="en-US" altLang="zh-CN"/>
              <a:t>, …, </a:t>
            </a:r>
            <a:r>
              <a:rPr lang="en-US" altLang="zh-CN" b="1"/>
              <a:t>id</a:t>
            </a:r>
            <a:r>
              <a:rPr lang="en-US" altLang="zh-CN" baseline="-25000"/>
              <a:t>k </a:t>
            </a:r>
            <a:r>
              <a:rPr lang="en-US" altLang="zh-CN"/>
              <a:t>)</a:t>
            </a:r>
            <a:r>
              <a:rPr lang="zh-CN" altLang="en-US"/>
              <a:t>和</a:t>
            </a:r>
            <a:r>
              <a:rPr lang="en-US" altLang="zh-CN"/>
              <a:t>E</a:t>
            </a:r>
            <a:r>
              <a:rPr lang="zh-CN" altLang="en-US"/>
              <a:t>类型是否匹配</a:t>
            </a:r>
            <a:endParaRPr lang="zh-CN" altLang="en-US"/>
          </a:p>
          <a:p>
            <a:pPr lvl="1" eaLnBrk="1" hangingPunct="1"/>
            <a:r>
              <a:rPr lang="zh-CN" altLang="en-US"/>
              <a:t>若成功，则推断出函数类型</a:t>
            </a:r>
            <a:endParaRPr lang="zh-CN" altLang="en-US"/>
          </a:p>
        </p:txBody>
      </p:sp>
      <p:graphicFrame>
        <p:nvGraphicFramePr>
          <p:cNvPr id="88068" name="Object 5"/>
          <p:cNvGraphicFramePr>
            <a:graphicFrameLocks noChangeAspect="1"/>
          </p:cNvGraphicFramePr>
          <p:nvPr/>
        </p:nvGraphicFramePr>
        <p:xfrm>
          <a:off x="5562600" y="5105400"/>
          <a:ext cx="354013" cy="388938"/>
        </p:xfrm>
        <a:graphic>
          <a:graphicData uri="http://schemas.openxmlformats.org/presentationml/2006/ole">
            <mc:AlternateContent xmlns:mc="http://schemas.openxmlformats.org/markup-compatibility/2006">
              <mc:Choice xmlns:v="urn:schemas-microsoft-com:vml" Requires="v">
                <p:oleObj spid="_x0000_s88080" name="Equation" r:id="rId1" imgW="152400" imgH="165100" progId="Equation.3">
                  <p:embed/>
                </p:oleObj>
              </mc:Choice>
              <mc:Fallback>
                <p:oleObj name="Equation" r:id="rId1" imgW="152400" imgH="165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51054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8909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800"/>
              <a:t>fun length(lptr) =</a:t>
            </a:r>
            <a:endParaRPr lang="en-US" altLang="zh-CN" sz="2800"/>
          </a:p>
          <a:p>
            <a:pPr eaLnBrk="1" hangingPunct="1">
              <a:lnSpc>
                <a:spcPct val="90000"/>
              </a:lnSpc>
              <a:buFont typeface="Wingdings" panose="05000000000000000000" pitchFamily="2" charset="2"/>
              <a:buNone/>
            </a:pPr>
            <a:r>
              <a:rPr lang="en-US" altLang="zh-CN" sz="2800"/>
              <a:t>	if null(lptr) then 0</a:t>
            </a:r>
            <a:endParaRPr lang="en-US" altLang="zh-CN" sz="2800"/>
          </a:p>
          <a:p>
            <a:pPr eaLnBrk="1" hangingPunct="1">
              <a:lnSpc>
                <a:spcPct val="90000"/>
              </a:lnSpc>
              <a:buFont typeface="Wingdings" panose="05000000000000000000" pitchFamily="2" charset="2"/>
              <a:buNone/>
            </a:pPr>
            <a:r>
              <a:rPr lang="en-US" altLang="zh-CN" sz="2800"/>
              <a:t>	else length(tl(lptr)) + 1</a:t>
            </a:r>
            <a:r>
              <a:rPr lang="en-US" altLang="zh-CN"/>
              <a:t>;</a:t>
            </a:r>
            <a:endParaRPr lang="en-US" altLang="zh-CN"/>
          </a:p>
          <a:p>
            <a:pPr eaLnBrk="1" hangingPunct="1"/>
            <a:r>
              <a:rPr lang="zh-CN" altLang="en-US"/>
              <a:t>类型变量：</a:t>
            </a:r>
            <a:r>
              <a:rPr lang="en-US" altLang="zh-CN"/>
              <a:t>length——</a:t>
            </a:r>
            <a:r>
              <a:rPr lang="en-US" altLang="zh-CN">
                <a:latin typeface="Symbol" panose="05050102010706020507" pitchFamily="18" charset="2"/>
              </a:rPr>
              <a:t>b</a:t>
            </a:r>
            <a:r>
              <a:rPr lang="zh-CN" altLang="en-US"/>
              <a:t>，</a:t>
            </a:r>
            <a:r>
              <a:rPr lang="en-US" altLang="zh-CN"/>
              <a:t>lptr——</a:t>
            </a:r>
            <a:r>
              <a:rPr lang="en-US" altLang="zh-CN">
                <a:latin typeface="Symbol" panose="05050102010706020507" pitchFamily="18" charset="2"/>
              </a:rPr>
              <a:t>g</a:t>
            </a:r>
            <a:endParaRPr lang="en-US" altLang="zh-CN">
              <a:latin typeface="Symbol" panose="05050102010706020507" pitchFamily="18" charset="2"/>
            </a:endParaRPr>
          </a:p>
          <a:p>
            <a:pPr eaLnBrk="1" hangingPunct="1"/>
            <a:r>
              <a:rPr lang="zh-CN" altLang="en-US"/>
              <a:t>为匹配函数体：</a:t>
            </a:r>
            <a:r>
              <a:rPr lang="en-US" altLang="zh-CN">
                <a:latin typeface="Symbol" panose="05050102010706020507" pitchFamily="18" charset="2"/>
              </a:rPr>
              <a:t>b</a:t>
            </a:r>
            <a:r>
              <a:rPr lang="en-US" altLang="zh-CN"/>
              <a:t>=</a:t>
            </a:r>
            <a:endParaRPr lang="en-US" altLang="zh-CN"/>
          </a:p>
          <a:p>
            <a:pPr eaLnBrk="1" hangingPunct="1"/>
            <a:r>
              <a:rPr lang="zh-CN" altLang="en-US"/>
              <a:t>按多态函数类型检查语言重写程序</a:t>
            </a:r>
            <a:endParaRPr lang="zh-CN" altLang="en-US"/>
          </a:p>
          <a:p>
            <a:pPr eaLnBrk="1" hangingPunct="1">
              <a:buFont typeface="Wingdings" panose="05000000000000000000" pitchFamily="2" charset="2"/>
              <a:buNone/>
            </a:pPr>
            <a:r>
              <a:rPr lang="en-US" altLang="zh-CN" sz="2400"/>
              <a:t>length : </a:t>
            </a:r>
            <a:r>
              <a:rPr lang="en-US" altLang="zh-CN" sz="2400">
                <a:latin typeface="Symbol" panose="05050102010706020507" pitchFamily="18" charset="2"/>
              </a:rPr>
              <a:t>b</a:t>
            </a:r>
            <a:r>
              <a:rPr lang="en-US" altLang="zh-CN" sz="2400"/>
              <a:t>;</a:t>
            </a:r>
            <a:endParaRPr lang="en-US" altLang="zh-CN" sz="2400"/>
          </a:p>
          <a:p>
            <a:pPr eaLnBrk="1" hangingPunct="1">
              <a:buFont typeface="Wingdings" panose="05000000000000000000" pitchFamily="2" charset="2"/>
              <a:buNone/>
            </a:pPr>
            <a:r>
              <a:rPr lang="en-US" altLang="zh-CN" sz="2400"/>
              <a:t>lptr : </a:t>
            </a:r>
            <a:r>
              <a:rPr lang="en-US" altLang="zh-CN" sz="2400">
                <a:latin typeface="Symbol" panose="05050102010706020507" pitchFamily="18" charset="2"/>
              </a:rPr>
              <a:t>g</a:t>
            </a:r>
            <a:r>
              <a:rPr lang="en-US" altLang="zh-CN" sz="2400"/>
              <a:t>;</a:t>
            </a:r>
            <a:endParaRPr lang="en-US" altLang="zh-CN" sz="2400"/>
          </a:p>
          <a:p>
            <a:pPr eaLnBrk="1" hangingPunct="1">
              <a:buFont typeface="Wingdings" panose="05000000000000000000" pitchFamily="2" charset="2"/>
              <a:buNone/>
            </a:pPr>
            <a:r>
              <a:rPr lang="en-US" altLang="zh-CN" sz="2400"/>
              <a:t>if : </a:t>
            </a:r>
            <a:endParaRPr lang="en-US" altLang="zh-CN" sz="2400"/>
          </a:p>
        </p:txBody>
      </p:sp>
      <p:graphicFrame>
        <p:nvGraphicFramePr>
          <p:cNvPr id="89092" name="Object 4"/>
          <p:cNvGraphicFramePr>
            <a:graphicFrameLocks noChangeAspect="1"/>
          </p:cNvGraphicFramePr>
          <p:nvPr/>
        </p:nvGraphicFramePr>
        <p:xfrm>
          <a:off x="4953000" y="3505200"/>
          <a:ext cx="3128963" cy="479425"/>
        </p:xfrm>
        <a:graphic>
          <a:graphicData uri="http://schemas.openxmlformats.org/presentationml/2006/ole">
            <mc:AlternateContent xmlns:mc="http://schemas.openxmlformats.org/markup-compatibility/2006">
              <mc:Choice xmlns:v="urn:schemas-microsoft-com:vml" Requires="v">
                <p:oleObj spid="_x0000_s89116" name="Equation" r:id="rId1" imgW="1346200" imgH="203200" progId="Equation.3">
                  <p:embed/>
                </p:oleObj>
              </mc:Choice>
              <mc:Fallback>
                <p:oleObj name="Equation" r:id="rId1" imgW="1346200" imgH="203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505200"/>
                        <a:ext cx="31289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3" name="Object 5"/>
          <p:cNvGraphicFramePr>
            <a:graphicFrameLocks noChangeAspect="1"/>
          </p:cNvGraphicFramePr>
          <p:nvPr/>
        </p:nvGraphicFramePr>
        <p:xfrm>
          <a:off x="1563688" y="5500688"/>
          <a:ext cx="3351212" cy="404812"/>
        </p:xfrm>
        <a:graphic>
          <a:graphicData uri="http://schemas.openxmlformats.org/presentationml/2006/ole">
            <mc:AlternateContent xmlns:mc="http://schemas.openxmlformats.org/markup-compatibility/2006">
              <mc:Choice xmlns:v="urn:schemas-microsoft-com:vml" Requires="v">
                <p:oleObj spid="_x0000_s89117" name="Equation" r:id="rId3" imgW="1600200" imgH="190500" progId="Equation.3">
                  <p:embed/>
                </p:oleObj>
              </mc:Choice>
              <mc:Fallback>
                <p:oleObj name="Equation" r:id="rId3" imgW="1600200" imgH="190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3688" y="5500688"/>
                        <a:ext cx="335121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9011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a:t>null : </a:t>
            </a:r>
            <a:endParaRPr lang="en-US" altLang="zh-CN" sz="2400"/>
          </a:p>
          <a:p>
            <a:pPr eaLnBrk="1" hangingPunct="1">
              <a:buFont typeface="Wingdings" panose="05000000000000000000" pitchFamily="2" charset="2"/>
              <a:buNone/>
            </a:pPr>
            <a:r>
              <a:rPr lang="en-US" altLang="zh-CN" sz="2400"/>
              <a:t>tl : </a:t>
            </a:r>
            <a:endParaRPr lang="en-US" altLang="zh-CN" sz="2400"/>
          </a:p>
          <a:p>
            <a:pPr eaLnBrk="1" hangingPunct="1">
              <a:buFont typeface="Wingdings" panose="05000000000000000000" pitchFamily="2" charset="2"/>
              <a:buNone/>
            </a:pPr>
            <a:r>
              <a:rPr lang="en-US" altLang="zh-CN" sz="2400"/>
              <a:t>0 : </a:t>
            </a:r>
            <a:r>
              <a:rPr lang="en-US" altLang="zh-CN" sz="2400" i="1"/>
              <a:t>integer</a:t>
            </a:r>
            <a:r>
              <a:rPr lang="en-US" altLang="zh-CN" sz="2400"/>
              <a:t>;</a:t>
            </a:r>
            <a:endParaRPr lang="en-US" altLang="zh-CN" sz="2400"/>
          </a:p>
          <a:p>
            <a:pPr eaLnBrk="1" hangingPunct="1">
              <a:buFont typeface="Wingdings" panose="05000000000000000000" pitchFamily="2" charset="2"/>
              <a:buNone/>
            </a:pPr>
            <a:r>
              <a:rPr lang="en-US" altLang="zh-CN" sz="2400"/>
              <a:t>1 : </a:t>
            </a:r>
            <a:r>
              <a:rPr lang="en-US" altLang="zh-CN" sz="2400" i="1"/>
              <a:t>integer</a:t>
            </a:r>
            <a:r>
              <a:rPr lang="en-US" altLang="zh-CN" sz="2400"/>
              <a:t>;</a:t>
            </a:r>
            <a:endParaRPr lang="en-US" altLang="zh-CN" sz="2400"/>
          </a:p>
          <a:p>
            <a:pPr eaLnBrk="1" hangingPunct="1">
              <a:buFont typeface="Wingdings" panose="05000000000000000000" pitchFamily="2" charset="2"/>
              <a:buNone/>
            </a:pPr>
            <a:r>
              <a:rPr lang="en-US" altLang="zh-CN" sz="2400"/>
              <a:t>+ :</a:t>
            </a:r>
            <a:endParaRPr lang="en-US" altLang="zh-CN" sz="2400"/>
          </a:p>
          <a:p>
            <a:pPr eaLnBrk="1" hangingPunct="1">
              <a:buFont typeface="Wingdings" panose="05000000000000000000" pitchFamily="2" charset="2"/>
              <a:buNone/>
            </a:pPr>
            <a:r>
              <a:rPr lang="en-US" altLang="zh-CN" sz="2400"/>
              <a:t>match :</a:t>
            </a:r>
            <a:endParaRPr lang="en-US" altLang="zh-CN" sz="2400"/>
          </a:p>
          <a:p>
            <a:pPr eaLnBrk="1" hangingPunct="1">
              <a:buFont typeface="Wingdings" panose="05000000000000000000" pitchFamily="2" charset="2"/>
              <a:buNone/>
            </a:pPr>
            <a:r>
              <a:rPr lang="en-US" altLang="zh-CN" sz="2400"/>
              <a:t>match (</a:t>
            </a:r>
            <a:endParaRPr lang="en-US" altLang="zh-CN" sz="2400"/>
          </a:p>
          <a:p>
            <a:pPr eaLnBrk="1" hangingPunct="1">
              <a:buFont typeface="Wingdings" panose="05000000000000000000" pitchFamily="2" charset="2"/>
              <a:buNone/>
            </a:pPr>
            <a:r>
              <a:rPr lang="en-US" altLang="zh-CN" sz="2400"/>
              <a:t>	length(lptr),</a:t>
            </a:r>
            <a:endParaRPr lang="en-US" altLang="zh-CN" sz="2400"/>
          </a:p>
          <a:p>
            <a:pPr eaLnBrk="1" hangingPunct="1">
              <a:buFont typeface="Wingdings" panose="05000000000000000000" pitchFamily="2" charset="2"/>
              <a:buNone/>
            </a:pPr>
            <a:r>
              <a:rPr lang="en-US" altLang="zh-CN" sz="2400"/>
              <a:t>	if ( null(lptr), 0, length(tl(lptr)) + 1)</a:t>
            </a:r>
            <a:endParaRPr lang="en-US" altLang="zh-CN" sz="2400"/>
          </a:p>
          <a:p>
            <a:pPr eaLnBrk="1" hangingPunct="1">
              <a:buFont typeface="Wingdings" panose="05000000000000000000" pitchFamily="2" charset="2"/>
              <a:buNone/>
            </a:pPr>
            <a:r>
              <a:rPr lang="en-US" altLang="zh-CN" sz="2400"/>
              <a:t>)  </a:t>
            </a:r>
            <a:endParaRPr lang="en-US" altLang="zh-CN" sz="2400"/>
          </a:p>
        </p:txBody>
      </p:sp>
      <p:graphicFrame>
        <p:nvGraphicFramePr>
          <p:cNvPr id="90116" name="Object 5"/>
          <p:cNvGraphicFramePr>
            <a:graphicFrameLocks noChangeAspect="1"/>
          </p:cNvGraphicFramePr>
          <p:nvPr/>
        </p:nvGraphicFramePr>
        <p:xfrm>
          <a:off x="2084388" y="1408113"/>
          <a:ext cx="3217862" cy="458787"/>
        </p:xfrm>
        <a:graphic>
          <a:graphicData uri="http://schemas.openxmlformats.org/presentationml/2006/ole">
            <mc:AlternateContent xmlns:mc="http://schemas.openxmlformats.org/markup-compatibility/2006">
              <mc:Choice xmlns:v="urn:schemas-microsoft-com:vml" Requires="v">
                <p:oleObj spid="_x0000_s90168" name="Equation" r:id="rId1" imgW="1536065" imgH="215900" progId="Equation.3">
                  <p:embed/>
                </p:oleObj>
              </mc:Choice>
              <mc:Fallback>
                <p:oleObj name="Equation" r:id="rId1" imgW="1536065" imgH="215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388" y="1408113"/>
                        <a:ext cx="32178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7" name="Object 6"/>
          <p:cNvGraphicFramePr>
            <a:graphicFrameLocks noChangeAspect="1"/>
          </p:cNvGraphicFramePr>
          <p:nvPr/>
        </p:nvGraphicFramePr>
        <p:xfrm>
          <a:off x="1819275" y="1828800"/>
          <a:ext cx="2817813" cy="431800"/>
        </p:xfrm>
        <a:graphic>
          <a:graphicData uri="http://schemas.openxmlformats.org/presentationml/2006/ole">
            <mc:AlternateContent xmlns:mc="http://schemas.openxmlformats.org/markup-compatibility/2006">
              <mc:Choice xmlns:v="urn:schemas-microsoft-com:vml" Requires="v">
                <p:oleObj spid="_x0000_s90169" name="Equation" r:id="rId3" imgW="1346200" imgH="203200" progId="Equation.3">
                  <p:embed/>
                </p:oleObj>
              </mc:Choice>
              <mc:Fallback>
                <p:oleObj name="Equation" r:id="rId3" imgW="1346200" imgH="203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9275" y="1828800"/>
                        <a:ext cx="2817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8" name="Object 7"/>
          <p:cNvGraphicFramePr>
            <a:graphicFrameLocks noChangeAspect="1"/>
          </p:cNvGraphicFramePr>
          <p:nvPr/>
        </p:nvGraphicFramePr>
        <p:xfrm>
          <a:off x="1676400" y="3200400"/>
          <a:ext cx="3614738" cy="404813"/>
        </p:xfrm>
        <a:graphic>
          <a:graphicData uri="http://schemas.openxmlformats.org/presentationml/2006/ole">
            <mc:AlternateContent xmlns:mc="http://schemas.openxmlformats.org/markup-compatibility/2006">
              <mc:Choice xmlns:v="urn:schemas-microsoft-com:vml" Requires="v">
                <p:oleObj spid="_x0000_s90170" name="Equation" r:id="rId5" imgW="1727200" imgH="190500" progId="Equation.3">
                  <p:embed/>
                </p:oleObj>
              </mc:Choice>
              <mc:Fallback>
                <p:oleObj name="Equation" r:id="rId5" imgW="1727200" imgH="1905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200400"/>
                        <a:ext cx="36147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9" name="Object 8"/>
          <p:cNvGraphicFramePr>
            <a:graphicFrameLocks noChangeAspect="1"/>
          </p:cNvGraphicFramePr>
          <p:nvPr/>
        </p:nvGraphicFramePr>
        <p:xfrm>
          <a:off x="2235200" y="3581400"/>
          <a:ext cx="2260600" cy="458788"/>
        </p:xfrm>
        <a:graphic>
          <a:graphicData uri="http://schemas.openxmlformats.org/presentationml/2006/ole">
            <mc:AlternateContent xmlns:mc="http://schemas.openxmlformats.org/markup-compatibility/2006">
              <mc:Choice xmlns:v="urn:schemas-microsoft-com:vml" Requires="v">
                <p:oleObj spid="_x0000_s90171" name="Equation" r:id="rId7" imgW="1078865" imgH="215900" progId="Equation.3">
                  <p:embed/>
                </p:oleObj>
              </mc:Choice>
              <mc:Fallback>
                <p:oleObj name="Equation" r:id="rId7" imgW="1078865" imgH="2159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200" y="3581400"/>
                        <a:ext cx="22606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0" name="Text Box 9"/>
          <p:cNvSpPr txBox="1">
            <a:spLocks noChangeArrowheads="1"/>
          </p:cNvSpPr>
          <p:nvPr/>
        </p:nvSpPr>
        <p:spPr bwMode="ltGray">
          <a:xfrm>
            <a:off x="5181600" y="3733800"/>
            <a:ext cx="2819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zh-CN" altLang="en-US" sz="2400">
                <a:solidFill>
                  <a:srgbClr val="3333CC"/>
                </a:solidFill>
                <a:latin typeface="Tahoma" panose="020B0604030504040204" pitchFamily="34" charset="0"/>
              </a:rPr>
              <a:t>检查</a:t>
            </a:r>
            <a:r>
              <a:rPr lang="en-US" altLang="zh-CN" sz="2400" u="sng">
                <a:solidFill>
                  <a:srgbClr val="3333CC"/>
                </a:solidFill>
                <a:latin typeface="Tahoma" panose="020B0604030504040204" pitchFamily="34" charset="0"/>
              </a:rPr>
              <a:t>length(lptr)</a:t>
            </a:r>
            <a:r>
              <a:rPr lang="zh-CN" altLang="en-US" sz="2400">
                <a:solidFill>
                  <a:srgbClr val="3333CC"/>
                </a:solidFill>
                <a:latin typeface="Tahoma" panose="020B0604030504040204" pitchFamily="34" charset="0"/>
              </a:rPr>
              <a:t>与</a:t>
            </a:r>
            <a:r>
              <a:rPr lang="zh-CN" altLang="en-US" sz="2400" u="sng">
                <a:solidFill>
                  <a:srgbClr val="3333CC"/>
                </a:solidFill>
                <a:latin typeface="Tahoma" panose="020B0604030504040204" pitchFamily="34" charset="0"/>
              </a:rPr>
              <a:t>函数体</a:t>
            </a:r>
            <a:r>
              <a:rPr lang="zh-CN" altLang="en-US" sz="2400">
                <a:solidFill>
                  <a:srgbClr val="3333CC"/>
                </a:solidFill>
                <a:latin typeface="Tahoma" panose="020B0604030504040204" pitchFamily="34" charset="0"/>
              </a:rPr>
              <a:t>匹配</a:t>
            </a:r>
            <a:endParaRPr lang="zh-CN" altLang="en-US" sz="2400">
              <a:solidFill>
                <a:srgbClr val="3333CC"/>
              </a:solidFill>
              <a:latin typeface="Tahoma" panose="020B0604030504040204" pitchFamily="34" charset="0"/>
            </a:endParaRPr>
          </a:p>
        </p:txBody>
      </p:sp>
      <p:sp>
        <p:nvSpPr>
          <p:cNvPr id="90121" name="Freeform 10"/>
          <p:cNvSpPr/>
          <p:nvPr/>
        </p:nvSpPr>
        <p:spPr bwMode="ltGray">
          <a:xfrm>
            <a:off x="1981200" y="3886200"/>
            <a:ext cx="3505200" cy="304800"/>
          </a:xfrm>
          <a:custGeom>
            <a:avLst/>
            <a:gdLst>
              <a:gd name="T0" fmla="*/ 2147483646 w 2208"/>
              <a:gd name="T1" fmla="*/ 0 h 192"/>
              <a:gd name="T2" fmla="*/ 0 w 2208"/>
              <a:gd name="T3" fmla="*/ 2147483646 h 192"/>
              <a:gd name="T4" fmla="*/ 0 60000 65536"/>
              <a:gd name="T5" fmla="*/ 0 60000 65536"/>
              <a:gd name="T6" fmla="*/ 0 w 2208"/>
              <a:gd name="T7" fmla="*/ 0 h 192"/>
              <a:gd name="T8" fmla="*/ 2208 w 2208"/>
              <a:gd name="T9" fmla="*/ 192 h 192"/>
            </a:gdLst>
            <a:ahLst/>
            <a:cxnLst>
              <a:cxn ang="T4">
                <a:pos x="T0" y="T1"/>
              </a:cxn>
              <a:cxn ang="T5">
                <a:pos x="T2" y="T3"/>
              </a:cxn>
            </a:cxnLst>
            <a:rect l="T6" t="T7" r="T8" b="T9"/>
            <a:pathLst>
              <a:path w="2208" h="192">
                <a:moveTo>
                  <a:pt x="2208" y="0"/>
                </a:moveTo>
                <a:cubicBezTo>
                  <a:pt x="2208" y="0"/>
                  <a:pt x="1104" y="96"/>
                  <a:pt x="0" y="192"/>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22" name="Freeform 11"/>
          <p:cNvSpPr/>
          <p:nvPr/>
        </p:nvSpPr>
        <p:spPr bwMode="ltGray">
          <a:xfrm>
            <a:off x="2971800" y="4114800"/>
            <a:ext cx="3276600" cy="533400"/>
          </a:xfrm>
          <a:custGeom>
            <a:avLst/>
            <a:gdLst>
              <a:gd name="T0" fmla="*/ 2147483646 w 2064"/>
              <a:gd name="T1" fmla="*/ 0 h 336"/>
              <a:gd name="T2" fmla="*/ 0 w 2064"/>
              <a:gd name="T3" fmla="*/ 2147483646 h 336"/>
              <a:gd name="T4" fmla="*/ 0 60000 65536"/>
              <a:gd name="T5" fmla="*/ 0 60000 65536"/>
              <a:gd name="T6" fmla="*/ 0 w 2064"/>
              <a:gd name="T7" fmla="*/ 0 h 336"/>
              <a:gd name="T8" fmla="*/ 2064 w 2064"/>
              <a:gd name="T9" fmla="*/ 336 h 336"/>
            </a:gdLst>
            <a:ahLst/>
            <a:cxnLst>
              <a:cxn ang="T4">
                <a:pos x="T0" y="T1"/>
              </a:cxn>
              <a:cxn ang="T5">
                <a:pos x="T2" y="T3"/>
              </a:cxn>
            </a:cxnLst>
            <a:rect l="T6" t="T7" r="T8" b="T9"/>
            <a:pathLst>
              <a:path w="2064" h="336">
                <a:moveTo>
                  <a:pt x="2064" y="0"/>
                </a:moveTo>
                <a:cubicBezTo>
                  <a:pt x="2064" y="0"/>
                  <a:pt x="1032" y="168"/>
                  <a:pt x="0" y="336"/>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23" name="Line 13"/>
          <p:cNvSpPr>
            <a:spLocks noChangeShapeType="1"/>
          </p:cNvSpPr>
          <p:nvPr/>
        </p:nvSpPr>
        <p:spPr bwMode="ltGray">
          <a:xfrm flipH="1">
            <a:off x="3886200" y="4495800"/>
            <a:ext cx="2286000" cy="533400"/>
          </a:xfrm>
          <a:prstGeom prst="line">
            <a:avLst/>
          </a:prstGeom>
          <a:noFill/>
          <a:ln w="254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91139" name="Rectangle 3"/>
          <p:cNvSpPr>
            <a:spLocks noGrp="1" noChangeArrowheads="1"/>
          </p:cNvSpPr>
          <p:nvPr>
            <p:ph type="body" idx="1"/>
          </p:nvPr>
        </p:nvSpPr>
        <p:spPr>
          <a:xfrm>
            <a:off x="1066800" y="1371600"/>
            <a:ext cx="2590800" cy="4724400"/>
          </a:xfrm>
        </p:spPr>
        <p:txBody>
          <a:bodyPr/>
          <a:lstStyle/>
          <a:p>
            <a:pPr algn="r" eaLnBrk="1" hangingPunct="1">
              <a:spcBef>
                <a:spcPct val="10000"/>
              </a:spcBef>
              <a:buFont typeface="Wingdings" panose="05000000000000000000" pitchFamily="2" charset="2"/>
              <a:buNone/>
            </a:pPr>
            <a:r>
              <a:rPr lang="zh-CN" altLang="en-US" sz="2400"/>
              <a:t>表达式：</a:t>
            </a:r>
            <a:endParaRPr lang="zh-CN" altLang="en-US" sz="2400"/>
          </a:p>
          <a:p>
            <a:pPr algn="r" eaLnBrk="1" hangingPunct="1">
              <a:spcBef>
                <a:spcPct val="10000"/>
              </a:spcBef>
              <a:buFont typeface="Wingdings" panose="05000000000000000000" pitchFamily="2" charset="2"/>
              <a:buNone/>
            </a:pPr>
            <a:r>
              <a:rPr lang="en-US" altLang="zh-CN" sz="2400"/>
              <a:t>lptr :</a:t>
            </a:r>
            <a:endParaRPr lang="en-US" altLang="zh-CN" sz="2400"/>
          </a:p>
          <a:p>
            <a:pPr algn="r" eaLnBrk="1" hangingPunct="1">
              <a:spcBef>
                <a:spcPct val="10000"/>
              </a:spcBef>
              <a:buFont typeface="Wingdings" panose="05000000000000000000" pitchFamily="2" charset="2"/>
              <a:buNone/>
            </a:pPr>
            <a:r>
              <a:rPr lang="en-US" altLang="zh-CN" sz="2400"/>
              <a:t>length :</a:t>
            </a:r>
            <a:endParaRPr lang="en-US" altLang="zh-CN" sz="2400"/>
          </a:p>
          <a:p>
            <a:pPr algn="r" eaLnBrk="1" hangingPunct="1">
              <a:spcBef>
                <a:spcPct val="10000"/>
              </a:spcBef>
              <a:buFont typeface="Wingdings" panose="05000000000000000000" pitchFamily="2" charset="2"/>
              <a:buNone/>
            </a:pPr>
            <a:r>
              <a:rPr lang="en-US" altLang="zh-CN" sz="2400"/>
              <a:t>length(lptr) :</a:t>
            </a:r>
            <a:endParaRPr lang="en-US" altLang="zh-CN" sz="2400"/>
          </a:p>
          <a:p>
            <a:pPr algn="r" eaLnBrk="1" hangingPunct="1">
              <a:spcBef>
                <a:spcPct val="10000"/>
              </a:spcBef>
              <a:buFont typeface="Wingdings" panose="05000000000000000000" pitchFamily="2" charset="2"/>
              <a:buNone/>
            </a:pPr>
            <a:r>
              <a:rPr lang="en-US" altLang="zh-CN" sz="2400"/>
              <a:t>lptr :</a:t>
            </a:r>
            <a:endParaRPr lang="en-US" altLang="zh-CN" sz="2400"/>
          </a:p>
          <a:p>
            <a:pPr algn="r" eaLnBrk="1" hangingPunct="1">
              <a:spcBef>
                <a:spcPct val="10000"/>
              </a:spcBef>
              <a:buFont typeface="Wingdings" panose="05000000000000000000" pitchFamily="2" charset="2"/>
              <a:buNone/>
            </a:pPr>
            <a:r>
              <a:rPr lang="en-US" altLang="zh-CN" sz="2400"/>
              <a:t>null :</a:t>
            </a:r>
            <a:endParaRPr lang="en-US" altLang="zh-CN" sz="2400"/>
          </a:p>
          <a:p>
            <a:pPr algn="r" eaLnBrk="1" hangingPunct="1">
              <a:spcBef>
                <a:spcPct val="10000"/>
              </a:spcBef>
              <a:buFont typeface="Wingdings" panose="05000000000000000000" pitchFamily="2" charset="2"/>
              <a:buNone/>
            </a:pPr>
            <a:r>
              <a:rPr lang="en-US" altLang="zh-CN" sz="2400"/>
              <a:t>null(lptr) :</a:t>
            </a:r>
            <a:endParaRPr lang="en-US" altLang="zh-CN" sz="2400"/>
          </a:p>
          <a:p>
            <a:pPr algn="r" eaLnBrk="1" hangingPunct="1">
              <a:spcBef>
                <a:spcPct val="10000"/>
              </a:spcBef>
              <a:buFont typeface="Wingdings" panose="05000000000000000000" pitchFamily="2" charset="2"/>
              <a:buNone/>
            </a:pPr>
            <a:r>
              <a:rPr lang="en-US" altLang="zh-CN" sz="2400"/>
              <a:t>0 :</a:t>
            </a:r>
            <a:endParaRPr lang="en-US" altLang="zh-CN" sz="2400"/>
          </a:p>
          <a:p>
            <a:pPr algn="r" eaLnBrk="1" hangingPunct="1">
              <a:spcBef>
                <a:spcPct val="10000"/>
              </a:spcBef>
              <a:buFont typeface="Wingdings" panose="05000000000000000000" pitchFamily="2" charset="2"/>
              <a:buNone/>
            </a:pPr>
            <a:r>
              <a:rPr lang="en-US" altLang="zh-CN" sz="2400"/>
              <a:t>lptr :</a:t>
            </a:r>
            <a:endParaRPr lang="en-US" altLang="zh-CN" sz="2400"/>
          </a:p>
          <a:p>
            <a:pPr algn="r" eaLnBrk="1" hangingPunct="1">
              <a:spcBef>
                <a:spcPct val="10000"/>
              </a:spcBef>
              <a:buFont typeface="Wingdings" panose="05000000000000000000" pitchFamily="2" charset="2"/>
              <a:buNone/>
            </a:pPr>
            <a:r>
              <a:rPr lang="en-US" altLang="zh-CN" sz="2400"/>
              <a:t>tl :</a:t>
            </a:r>
            <a:endParaRPr lang="en-US" altLang="zh-CN" sz="2400"/>
          </a:p>
          <a:p>
            <a:pPr algn="r" eaLnBrk="1" hangingPunct="1">
              <a:spcBef>
                <a:spcPct val="10000"/>
              </a:spcBef>
              <a:buFont typeface="Wingdings" panose="05000000000000000000" pitchFamily="2" charset="2"/>
              <a:buNone/>
            </a:pPr>
            <a:r>
              <a:rPr lang="en-US" altLang="zh-CN" sz="2400"/>
              <a:t>tl(lptr) :</a:t>
            </a:r>
            <a:endParaRPr lang="en-US" altLang="zh-CN" sz="2400"/>
          </a:p>
        </p:txBody>
      </p:sp>
      <p:sp>
        <p:nvSpPr>
          <p:cNvPr id="91140" name="Rectangle 4"/>
          <p:cNvSpPr>
            <a:spLocks noChangeArrowheads="1"/>
          </p:cNvSpPr>
          <p:nvPr/>
        </p:nvSpPr>
        <p:spPr bwMode="auto">
          <a:xfrm>
            <a:off x="3886200" y="1371600"/>
            <a:ext cx="2819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10000"/>
              </a:spcBef>
              <a:buFont typeface="Wingdings" panose="05000000000000000000" pitchFamily="2" charset="2"/>
              <a:buNone/>
            </a:pPr>
            <a:r>
              <a:rPr lang="zh-CN" altLang="en-US" sz="2400"/>
              <a:t>类型</a:t>
            </a: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g</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rPr>
              <a:t>b</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rPr>
              <a:t>d</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rPr>
              <a:t>g</a:t>
            </a:r>
            <a:endParaRPr lang="en-US" altLang="zh-CN" sz="2400">
              <a:latin typeface="Symbol" panose="05050102010706020507" pitchFamily="18" charset="2"/>
            </a:endParaRPr>
          </a:p>
          <a:p>
            <a:pPr eaLnBrk="1" hangingPunct="1">
              <a:spcBef>
                <a:spcPct val="10000"/>
              </a:spcBef>
              <a:buFont typeface="Wingdings" panose="05000000000000000000" pitchFamily="2" charset="2"/>
              <a:buNone/>
            </a:pPr>
            <a:r>
              <a:rPr lang="en-US" altLang="zh-CN" sz="2400"/>
              <a:t>list(</a:t>
            </a:r>
            <a:r>
              <a:rPr lang="en-US" altLang="zh-CN" sz="2400">
                <a:latin typeface="Symbol" panose="05050102010706020507" pitchFamily="18" charset="2"/>
              </a:rPr>
              <a:t>a</a:t>
            </a:r>
            <a:r>
              <a:rPr lang="en-US" altLang="zh-CN" sz="2400" baseline="-25000"/>
              <a:t>n</a:t>
            </a:r>
            <a:r>
              <a:rPr lang="en-US" altLang="zh-CN" sz="2400"/>
              <a:t>)</a:t>
            </a:r>
            <a:r>
              <a:rPr lang="en-US" altLang="zh-CN" sz="2400">
                <a:latin typeface="Symbol" panose="05050102010706020507" pitchFamily="18" charset="2"/>
                <a:sym typeface="Symbol" panose="05050102010706020507" pitchFamily="18" charset="2"/>
              </a:rPr>
              <a:t></a:t>
            </a:r>
            <a:r>
              <a:rPr lang="en-US" altLang="zh-CN" sz="2400">
                <a:sym typeface="Symbol" panose="05050102010706020507" pitchFamily="18" charset="2"/>
              </a:rPr>
              <a:t>boolean</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boolean</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endParaRPr lang="en-US" altLang="zh-CN" sz="2400">
              <a:sym typeface="Symbol" panose="05050102010706020507" pitchFamily="18" charset="2"/>
            </a:endParaRPr>
          </a:p>
        </p:txBody>
      </p:sp>
      <p:sp>
        <p:nvSpPr>
          <p:cNvPr id="91141" name="Rectangle 5"/>
          <p:cNvSpPr>
            <a:spLocks noChangeArrowheads="1"/>
          </p:cNvSpPr>
          <p:nvPr/>
        </p:nvSpPr>
        <p:spPr bwMode="auto">
          <a:xfrm>
            <a:off x="6705600" y="1371600"/>
            <a:ext cx="2133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10000"/>
              </a:spcBef>
              <a:buFont typeface="Wingdings" panose="05000000000000000000" pitchFamily="2" charset="2"/>
              <a:buNone/>
            </a:pPr>
            <a:r>
              <a:rPr lang="zh-CN" altLang="en-US" sz="2400"/>
              <a:t>替换</a:t>
            </a: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b=g</a:t>
            </a:r>
            <a:r>
              <a:rPr lang="en-US" altLang="zh-CN" sz="2400">
                <a:latin typeface="Symbol" panose="05050102010706020507" pitchFamily="18" charset="2"/>
                <a:sym typeface="Symbol" panose="05050102010706020507" pitchFamily="18" charset="2"/>
              </a:rPr>
              <a:t>d</a:t>
            </a: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g=</a:t>
            </a: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endParaRPr lang="en-US" altLang="zh-CN" sz="2400">
              <a:latin typeface="Symbol" panose="05050102010706020507" pitchFamily="18" charset="2"/>
              <a:sym typeface="Symbol" panose="05050102010706020507" pitchFamily="18" charset="2"/>
            </a:endParaRPr>
          </a:p>
        </p:txBody>
      </p:sp>
      <p:sp>
        <p:nvSpPr>
          <p:cNvPr id="91142" name="Text Box 6"/>
          <p:cNvSpPr txBox="1">
            <a:spLocks noChangeArrowheads="1"/>
          </p:cNvSpPr>
          <p:nvPr/>
        </p:nvSpPr>
        <p:spPr bwMode="ltGray">
          <a:xfrm>
            <a:off x="0" y="1676400"/>
            <a:ext cx="2724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rPr>
              <a:t>length</a:t>
            </a:r>
            <a:r>
              <a:rPr lang="zh-CN" altLang="en-US" sz="2000" b="1">
                <a:solidFill>
                  <a:srgbClr val="3333CC"/>
                </a:solidFill>
                <a:latin typeface="Tahoma" panose="020B0604030504040204" pitchFamily="34" charset="0"/>
              </a:rPr>
              <a:t>参数为</a:t>
            </a:r>
            <a:r>
              <a:rPr lang="en-US" altLang="zh-CN" sz="2000" b="1">
                <a:solidFill>
                  <a:srgbClr val="3333CC"/>
                </a:solidFill>
                <a:latin typeface="Tahoma" panose="020B0604030504040204" pitchFamily="34" charset="0"/>
              </a:rPr>
              <a:t>lptr</a:t>
            </a:r>
            <a:r>
              <a:rPr lang="zh-CN" altLang="en-US" sz="2000" b="1">
                <a:solidFill>
                  <a:srgbClr val="3333CC"/>
                </a:solidFill>
                <a:latin typeface="Tahoma" panose="020B0604030504040204" pitchFamily="34" charset="0"/>
              </a:rPr>
              <a:t>－</a:t>
            </a:r>
            <a:r>
              <a:rPr lang="en-US" altLang="zh-CN" sz="2000" b="1">
                <a:solidFill>
                  <a:srgbClr val="3333CC"/>
                </a:solidFill>
                <a:latin typeface="Symbol" panose="05050102010706020507" pitchFamily="18" charset="2"/>
              </a:rPr>
              <a:t>g</a:t>
            </a:r>
            <a:br>
              <a:rPr lang="en-US" altLang="zh-CN" sz="2000" b="1">
                <a:solidFill>
                  <a:srgbClr val="3333CC"/>
                </a:solidFill>
                <a:latin typeface="Symbol" panose="05050102010706020507" pitchFamily="18" charset="2"/>
              </a:rPr>
            </a:br>
            <a:r>
              <a:rPr lang="zh-CN" altLang="en-US" sz="2000" b="1">
                <a:solidFill>
                  <a:srgbClr val="3333CC"/>
                </a:solidFill>
                <a:latin typeface="Tahoma" panose="020B0604030504040204" pitchFamily="34" charset="0"/>
              </a:rPr>
              <a:t>返回类型为</a:t>
            </a:r>
            <a:r>
              <a:rPr lang="en-US" altLang="zh-CN" sz="2000" b="1">
                <a:solidFill>
                  <a:srgbClr val="3333CC"/>
                </a:solidFill>
                <a:latin typeface="Symbol" panose="05050102010706020507" pitchFamily="18" charset="2"/>
              </a:rPr>
              <a:t>d</a:t>
            </a:r>
            <a:endParaRPr lang="en-US" altLang="zh-CN" sz="2000" b="1">
              <a:solidFill>
                <a:srgbClr val="3333CC"/>
              </a:solidFill>
              <a:latin typeface="Symbol" panose="05050102010706020507" pitchFamily="18" charset="2"/>
            </a:endParaRPr>
          </a:p>
        </p:txBody>
      </p:sp>
      <p:sp>
        <p:nvSpPr>
          <p:cNvPr id="91143" name="Freeform 7"/>
          <p:cNvSpPr/>
          <p:nvPr/>
        </p:nvSpPr>
        <p:spPr bwMode="ltGray">
          <a:xfrm>
            <a:off x="2138363" y="2193925"/>
            <a:ext cx="477837" cy="534988"/>
          </a:xfrm>
          <a:custGeom>
            <a:avLst/>
            <a:gdLst>
              <a:gd name="T0" fmla="*/ 0 w 301"/>
              <a:gd name="T1" fmla="*/ 0 h 337"/>
              <a:gd name="T2" fmla="*/ 2147483646 w 301"/>
              <a:gd name="T3" fmla="*/ 2147483646 h 337"/>
              <a:gd name="T4" fmla="*/ 0 60000 65536"/>
              <a:gd name="T5" fmla="*/ 0 60000 65536"/>
              <a:gd name="T6" fmla="*/ 0 w 301"/>
              <a:gd name="T7" fmla="*/ 0 h 337"/>
              <a:gd name="T8" fmla="*/ 301 w 301"/>
              <a:gd name="T9" fmla="*/ 337 h 337"/>
            </a:gdLst>
            <a:ahLst/>
            <a:cxnLst>
              <a:cxn ang="T4">
                <a:pos x="T0" y="T1"/>
              </a:cxn>
              <a:cxn ang="T5">
                <a:pos x="T2" y="T3"/>
              </a:cxn>
            </a:cxnLst>
            <a:rect l="T6" t="T7" r="T8" b="T9"/>
            <a:pathLst>
              <a:path w="301" h="337">
                <a:moveTo>
                  <a:pt x="0" y="0"/>
                </a:moveTo>
                <a:lnTo>
                  <a:pt x="301" y="337"/>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1144" name="Text Box 8"/>
          <p:cNvSpPr txBox="1">
            <a:spLocks noChangeArrowheads="1"/>
          </p:cNvSpPr>
          <p:nvPr/>
        </p:nvSpPr>
        <p:spPr bwMode="ltGray">
          <a:xfrm>
            <a:off x="0" y="3048000"/>
            <a:ext cx="19812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rPr>
              <a:t>null</a:t>
            </a:r>
            <a:r>
              <a:rPr lang="zh-CN" altLang="en-US" sz="2000" b="1">
                <a:solidFill>
                  <a:srgbClr val="3333CC"/>
                </a:solidFill>
                <a:latin typeface="Tahoma" panose="020B0604030504040204" pitchFamily="34" charset="0"/>
              </a:rPr>
              <a:t>参数类型为</a:t>
            </a:r>
            <a:r>
              <a:rPr lang="en-US" altLang="zh-CN" sz="2000" b="1">
                <a:solidFill>
                  <a:srgbClr val="3333CC"/>
                </a:solidFill>
                <a:latin typeface="Tahoma" panose="020B0604030504040204" pitchFamily="34" charset="0"/>
              </a:rPr>
              <a:t>list(</a:t>
            </a:r>
            <a:r>
              <a:rPr lang="en-US" altLang="zh-CN" sz="2000" b="1">
                <a:solidFill>
                  <a:srgbClr val="3333CC"/>
                </a:solidFill>
                <a:latin typeface="Symbol" panose="05050102010706020507" pitchFamily="18" charset="2"/>
              </a:rPr>
              <a:t>a</a:t>
            </a:r>
            <a:r>
              <a:rPr lang="en-US" altLang="zh-CN" sz="2000" b="1" baseline="-25000">
                <a:solidFill>
                  <a:srgbClr val="3333CC"/>
                </a:solidFill>
                <a:latin typeface="Tahoma" panose="020B0604030504040204" pitchFamily="34" charset="0"/>
              </a:rPr>
              <a:t>n</a:t>
            </a:r>
            <a:r>
              <a:rPr lang="en-US" altLang="zh-CN" sz="2000" b="1">
                <a:solidFill>
                  <a:srgbClr val="3333CC"/>
                </a:solidFill>
                <a:latin typeface="Tahoma" panose="020B0604030504040204" pitchFamily="34" charset="0"/>
              </a:rPr>
              <a:t>)</a:t>
            </a:r>
            <a:r>
              <a:rPr lang="en-US" altLang="zh-CN" sz="2000" b="1">
                <a:solidFill>
                  <a:srgbClr val="3333CC"/>
                </a:solidFill>
                <a:latin typeface="Tahoma" panose="020B0604030504040204" pitchFamily="34" charset="0"/>
                <a:sym typeface="Wingdings" panose="05000000000000000000" pitchFamily="2" charset="2"/>
              </a:rPr>
              <a:t></a:t>
            </a:r>
            <a:r>
              <a:rPr lang="en-US" altLang="zh-CN" sz="2000" b="1">
                <a:solidFill>
                  <a:srgbClr val="3333CC"/>
                </a:solidFill>
                <a:latin typeface="Tahoma" panose="020B0604030504040204" pitchFamily="34" charset="0"/>
              </a:rPr>
              <a:t>lptr</a:t>
            </a:r>
            <a:r>
              <a:rPr lang="zh-CN" altLang="en-US" sz="2000" b="1">
                <a:solidFill>
                  <a:srgbClr val="3333CC"/>
                </a:solidFill>
                <a:latin typeface="Tahoma" panose="020B0604030504040204" pitchFamily="34" charset="0"/>
              </a:rPr>
              <a:t>类型</a:t>
            </a:r>
            <a:r>
              <a:rPr lang="en-US" altLang="zh-CN" sz="2000" b="1">
                <a:solidFill>
                  <a:srgbClr val="3333CC"/>
                </a:solidFill>
                <a:latin typeface="Symbol" panose="05050102010706020507" pitchFamily="18" charset="2"/>
                <a:sym typeface="Symbol" panose="05050102010706020507" pitchFamily="18" charset="2"/>
              </a:rPr>
              <a:t>g</a:t>
            </a:r>
            <a:r>
              <a:rPr lang="en-US" altLang="zh-CN" sz="2000" b="1">
                <a:solidFill>
                  <a:srgbClr val="3333CC"/>
                </a:solidFill>
                <a:latin typeface="Tahoma" panose="020B0604030504040204" pitchFamily="34" charset="0"/>
                <a:sym typeface="Symbol" panose="05050102010706020507" pitchFamily="18" charset="2"/>
              </a:rPr>
              <a:t>=list(</a:t>
            </a:r>
            <a:r>
              <a:rPr lang="en-US" altLang="zh-CN" sz="2000" b="1">
                <a:solidFill>
                  <a:srgbClr val="3333CC"/>
                </a:solidFill>
                <a:latin typeface="Symbol" panose="05050102010706020507" pitchFamily="18" charset="2"/>
                <a:sym typeface="Symbol" panose="05050102010706020507" pitchFamily="18" charset="2"/>
              </a:rPr>
              <a:t>a</a:t>
            </a:r>
            <a:r>
              <a:rPr lang="en-US" altLang="zh-CN" sz="2000" b="1" baseline="-25000">
                <a:solidFill>
                  <a:srgbClr val="3333CC"/>
                </a:solidFill>
                <a:latin typeface="Tahoma" panose="020B0604030504040204" pitchFamily="34" charset="0"/>
                <a:sym typeface="Symbol" panose="05050102010706020507" pitchFamily="18" charset="2"/>
              </a:rPr>
              <a:t>n</a:t>
            </a:r>
            <a:r>
              <a:rPr lang="en-US" altLang="zh-CN" sz="2000" b="1">
                <a:solidFill>
                  <a:srgbClr val="3333CC"/>
                </a:solidFill>
                <a:latin typeface="Tahoma" panose="020B0604030504040204" pitchFamily="34" charset="0"/>
                <a:sym typeface="Symbol" panose="05050102010706020507" pitchFamily="18" charset="2"/>
              </a:rPr>
              <a:t>) length</a:t>
            </a:r>
            <a:r>
              <a:rPr lang="zh-CN" altLang="en-US" sz="2000" b="1">
                <a:solidFill>
                  <a:srgbClr val="3333CC"/>
                </a:solidFill>
                <a:latin typeface="Tahoma" panose="020B0604030504040204" pitchFamily="34" charset="0"/>
                <a:sym typeface="Symbol" panose="05050102010706020507" pitchFamily="18" charset="2"/>
              </a:rPr>
              <a:t>类型为</a:t>
            </a:r>
            <a:r>
              <a:rPr lang="en-US" altLang="zh-CN" sz="2000" b="1">
                <a:solidFill>
                  <a:srgbClr val="3333CC"/>
                </a:solidFill>
                <a:latin typeface="Tahoma" panose="020B0604030504040204" pitchFamily="34" charset="0"/>
                <a:sym typeface="Symbol" panose="05050102010706020507" pitchFamily="18" charset="2"/>
              </a:rPr>
              <a:t>list(</a:t>
            </a:r>
            <a:r>
              <a:rPr lang="en-US" altLang="zh-CN" sz="2000" b="1">
                <a:solidFill>
                  <a:srgbClr val="3333CC"/>
                </a:solidFill>
                <a:latin typeface="Symbol" panose="05050102010706020507" pitchFamily="18" charset="2"/>
                <a:sym typeface="Symbol" panose="05050102010706020507" pitchFamily="18" charset="2"/>
              </a:rPr>
              <a:t>a</a:t>
            </a:r>
            <a:r>
              <a:rPr lang="en-US" altLang="zh-CN" sz="2000" b="1" baseline="-25000">
                <a:solidFill>
                  <a:srgbClr val="3333CC"/>
                </a:solidFill>
                <a:latin typeface="Tahoma" panose="020B0604030504040204" pitchFamily="34" charset="0"/>
                <a:sym typeface="Symbol" panose="05050102010706020507" pitchFamily="18" charset="2"/>
              </a:rPr>
              <a:t>n</a:t>
            </a:r>
            <a:r>
              <a:rPr lang="en-US" altLang="zh-CN" sz="2000" b="1">
                <a:solidFill>
                  <a:srgbClr val="3333CC"/>
                </a:solidFill>
                <a:latin typeface="Tahoma" panose="020B0604030504040204" pitchFamily="34" charset="0"/>
                <a:sym typeface="Symbol" panose="05050102010706020507" pitchFamily="18" charset="2"/>
              </a:rPr>
              <a:t>)</a:t>
            </a:r>
            <a:r>
              <a:rPr lang="en-US" altLang="zh-CN" sz="2000" b="1">
                <a:solidFill>
                  <a:srgbClr val="3333CC"/>
                </a:solidFill>
                <a:latin typeface="Symbol" panose="05050102010706020507" pitchFamily="18" charset="2"/>
                <a:sym typeface="Symbol" panose="05050102010706020507" pitchFamily="18" charset="2"/>
              </a:rPr>
              <a:t>d</a:t>
            </a:r>
            <a:endParaRPr lang="en-US" altLang="zh-CN" sz="2000" b="1">
              <a:solidFill>
                <a:srgbClr val="3333CC"/>
              </a:solidFill>
              <a:latin typeface="Symbol" panose="05050102010706020507" pitchFamily="18" charset="2"/>
              <a:sym typeface="Symbol" panose="05050102010706020507" pitchFamily="18" charset="2"/>
            </a:endParaRPr>
          </a:p>
        </p:txBody>
      </p:sp>
      <p:sp>
        <p:nvSpPr>
          <p:cNvPr id="91145" name="Freeform 9"/>
          <p:cNvSpPr/>
          <p:nvPr/>
        </p:nvSpPr>
        <p:spPr bwMode="ltGray">
          <a:xfrm>
            <a:off x="1785938" y="3587750"/>
            <a:ext cx="830262" cy="284163"/>
          </a:xfrm>
          <a:custGeom>
            <a:avLst/>
            <a:gdLst>
              <a:gd name="T0" fmla="*/ 0 w 523"/>
              <a:gd name="T1" fmla="*/ 0 h 179"/>
              <a:gd name="T2" fmla="*/ 2147483646 w 523"/>
              <a:gd name="T3" fmla="*/ 2147483646 h 179"/>
              <a:gd name="T4" fmla="*/ 0 60000 65536"/>
              <a:gd name="T5" fmla="*/ 0 60000 65536"/>
              <a:gd name="T6" fmla="*/ 0 w 523"/>
              <a:gd name="T7" fmla="*/ 0 h 179"/>
              <a:gd name="T8" fmla="*/ 523 w 523"/>
              <a:gd name="T9" fmla="*/ 179 h 179"/>
            </a:gdLst>
            <a:ahLst/>
            <a:cxnLst>
              <a:cxn ang="T4">
                <a:pos x="T0" y="T1"/>
              </a:cxn>
              <a:cxn ang="T5">
                <a:pos x="T2" y="T3"/>
              </a:cxn>
            </a:cxnLst>
            <a:rect l="T6" t="T7" r="T8" b="T9"/>
            <a:pathLst>
              <a:path w="523" h="179">
                <a:moveTo>
                  <a:pt x="0" y="0"/>
                </a:moveTo>
                <a:lnTo>
                  <a:pt x="523" y="179"/>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a:t>例</a:t>
            </a:r>
            <a:r>
              <a:rPr lang="en-US" altLang="zh-CN"/>
              <a:t>6.12</a:t>
            </a:r>
            <a:r>
              <a:rPr lang="zh-CN" altLang="en-US"/>
              <a:t>（续）</a:t>
            </a:r>
            <a:endParaRPr lang="zh-CN" altLang="en-US"/>
          </a:p>
        </p:txBody>
      </p:sp>
      <p:sp>
        <p:nvSpPr>
          <p:cNvPr id="92163" name="Rectangle 3"/>
          <p:cNvSpPr>
            <a:spLocks noGrp="1" noChangeArrowheads="1"/>
          </p:cNvSpPr>
          <p:nvPr>
            <p:ph type="body" idx="1"/>
          </p:nvPr>
        </p:nvSpPr>
        <p:spPr>
          <a:xfrm>
            <a:off x="457200" y="1371600"/>
            <a:ext cx="2590800" cy="4724400"/>
          </a:xfrm>
        </p:spPr>
        <p:txBody>
          <a:bodyPr/>
          <a:lstStyle/>
          <a:p>
            <a:pPr algn="r" eaLnBrk="1" hangingPunct="1">
              <a:spcBef>
                <a:spcPct val="10000"/>
              </a:spcBef>
              <a:buFont typeface="Wingdings" panose="05000000000000000000" pitchFamily="2" charset="2"/>
              <a:buNone/>
            </a:pPr>
            <a:r>
              <a:rPr lang="zh-CN" altLang="en-US" sz="2400"/>
              <a:t>表达式：</a:t>
            </a:r>
            <a:endParaRPr lang="zh-CN" altLang="en-US" sz="2400"/>
          </a:p>
          <a:p>
            <a:pPr algn="r" eaLnBrk="1" hangingPunct="1">
              <a:spcBef>
                <a:spcPct val="10000"/>
              </a:spcBef>
              <a:buFont typeface="Wingdings" panose="05000000000000000000" pitchFamily="2" charset="2"/>
              <a:buNone/>
            </a:pPr>
            <a:r>
              <a:rPr lang="en-US" altLang="zh-CN" sz="2400"/>
              <a:t>length :</a:t>
            </a:r>
            <a:endParaRPr lang="en-US" altLang="zh-CN" sz="2400"/>
          </a:p>
          <a:p>
            <a:pPr algn="r" eaLnBrk="1" hangingPunct="1">
              <a:spcBef>
                <a:spcPct val="10000"/>
              </a:spcBef>
              <a:buFont typeface="Wingdings" panose="05000000000000000000" pitchFamily="2" charset="2"/>
              <a:buNone/>
            </a:pPr>
            <a:r>
              <a:rPr lang="en-US" altLang="zh-CN" sz="2400"/>
              <a:t>length(tl(lptr)) :</a:t>
            </a:r>
            <a:endParaRPr lang="en-US" altLang="zh-CN" sz="2400"/>
          </a:p>
          <a:p>
            <a:pPr algn="r" eaLnBrk="1" hangingPunct="1">
              <a:spcBef>
                <a:spcPct val="10000"/>
              </a:spcBef>
              <a:buFont typeface="Wingdings" panose="05000000000000000000" pitchFamily="2" charset="2"/>
              <a:buNone/>
            </a:pPr>
            <a:r>
              <a:rPr lang="en-US" altLang="zh-CN" sz="2400"/>
              <a:t>1 :</a:t>
            </a:r>
            <a:endParaRPr lang="en-US" altLang="zh-CN" sz="2400"/>
          </a:p>
          <a:p>
            <a:pPr algn="r" eaLnBrk="1" hangingPunct="1">
              <a:spcBef>
                <a:spcPct val="10000"/>
              </a:spcBef>
              <a:buFont typeface="Wingdings" panose="05000000000000000000" pitchFamily="2" charset="2"/>
              <a:buNone/>
            </a:pPr>
            <a:r>
              <a:rPr lang="en-US" altLang="zh-CN" sz="2400"/>
              <a:t>+ :</a:t>
            </a:r>
            <a:endParaRPr lang="en-US" altLang="zh-CN" sz="2400"/>
          </a:p>
          <a:p>
            <a:pPr algn="r" eaLnBrk="1" hangingPunct="1">
              <a:spcBef>
                <a:spcPct val="10000"/>
              </a:spcBef>
              <a:buFont typeface="Wingdings" panose="05000000000000000000" pitchFamily="2" charset="2"/>
              <a:buNone/>
            </a:pPr>
            <a:r>
              <a:rPr lang="en-US" altLang="zh-CN" sz="2400"/>
              <a:t>length(tl(lptr)) + 1:</a:t>
            </a:r>
            <a:endParaRPr lang="en-US" altLang="zh-CN" sz="2400"/>
          </a:p>
          <a:p>
            <a:pPr algn="r" eaLnBrk="1" hangingPunct="1">
              <a:spcBef>
                <a:spcPct val="10000"/>
              </a:spcBef>
              <a:buFont typeface="Wingdings" panose="05000000000000000000" pitchFamily="2" charset="2"/>
              <a:buNone/>
            </a:pPr>
            <a:r>
              <a:rPr lang="en-US" altLang="zh-CN" sz="2400"/>
              <a:t>if :</a:t>
            </a:r>
            <a:endParaRPr lang="en-US" altLang="zh-CN" sz="2400"/>
          </a:p>
          <a:p>
            <a:pPr algn="r" eaLnBrk="1" hangingPunct="1">
              <a:spcBef>
                <a:spcPct val="10000"/>
              </a:spcBef>
              <a:buFont typeface="Wingdings" panose="05000000000000000000" pitchFamily="2" charset="2"/>
              <a:buNone/>
            </a:pPr>
            <a:r>
              <a:rPr lang="en-US" altLang="zh-CN" sz="2400"/>
              <a:t>if (…) :</a:t>
            </a:r>
            <a:endParaRPr lang="en-US" altLang="zh-CN" sz="2400"/>
          </a:p>
          <a:p>
            <a:pPr algn="r" eaLnBrk="1" hangingPunct="1">
              <a:spcBef>
                <a:spcPct val="10000"/>
              </a:spcBef>
              <a:buFont typeface="Wingdings" panose="05000000000000000000" pitchFamily="2" charset="2"/>
              <a:buNone/>
            </a:pPr>
            <a:r>
              <a:rPr lang="en-US" altLang="zh-CN" sz="2400"/>
              <a:t>match :</a:t>
            </a:r>
            <a:endParaRPr lang="en-US" altLang="zh-CN" sz="2400"/>
          </a:p>
          <a:p>
            <a:pPr algn="r" eaLnBrk="1" hangingPunct="1">
              <a:spcBef>
                <a:spcPct val="10000"/>
              </a:spcBef>
              <a:buFont typeface="Wingdings" panose="05000000000000000000" pitchFamily="2" charset="2"/>
              <a:buNone/>
            </a:pPr>
            <a:r>
              <a:rPr lang="en-US" altLang="zh-CN" sz="2400"/>
              <a:t>match(…) :</a:t>
            </a:r>
            <a:endParaRPr lang="en-US" altLang="zh-CN" sz="2400"/>
          </a:p>
        </p:txBody>
      </p:sp>
      <p:sp>
        <p:nvSpPr>
          <p:cNvPr id="92164" name="Rectangle 4"/>
          <p:cNvSpPr>
            <a:spLocks noChangeArrowheads="1"/>
          </p:cNvSpPr>
          <p:nvPr/>
        </p:nvSpPr>
        <p:spPr bwMode="auto">
          <a:xfrm>
            <a:off x="3048000" y="1371600"/>
            <a:ext cx="365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10000"/>
              </a:spcBef>
              <a:buFont typeface="Wingdings" panose="05000000000000000000" pitchFamily="2" charset="2"/>
              <a:buNone/>
            </a:pPr>
            <a:r>
              <a:rPr lang="zh-CN" altLang="en-US" sz="2400"/>
              <a:t>类型</a:t>
            </a:r>
            <a:endParaRPr lang="zh-CN" altLang="en-US" sz="2400"/>
          </a:p>
          <a:p>
            <a:pPr eaLnBrk="1" hangingPunct="1">
              <a:spcBef>
                <a:spcPct val="10000"/>
              </a:spcBef>
              <a:buFont typeface="Wingdings" panose="05000000000000000000" pitchFamily="2" charset="2"/>
              <a:buNone/>
            </a:pPr>
            <a:r>
              <a:rPr lang="en-US" altLang="zh-CN" sz="2400"/>
              <a:t>list(</a:t>
            </a:r>
            <a:r>
              <a:rPr lang="en-US" altLang="zh-CN" sz="2400">
                <a:latin typeface="Symbol" panose="05050102010706020507" pitchFamily="18" charset="2"/>
              </a:rPr>
              <a:t>a</a:t>
            </a:r>
            <a:r>
              <a:rPr lang="en-US" altLang="zh-CN" sz="2400" baseline="-25000"/>
              <a:t>n</a:t>
            </a:r>
            <a:r>
              <a:rPr lang="en-US" altLang="zh-CN" sz="2400"/>
              <a:t>)</a:t>
            </a:r>
            <a:r>
              <a:rPr lang="en-US" altLang="zh-CN" sz="2400">
                <a:latin typeface="Symbol" panose="05050102010706020507" pitchFamily="18" charset="2"/>
                <a:sym typeface="Symbol" panose="05050102010706020507" pitchFamily="18" charset="2"/>
              </a:rPr>
              <a:t>d</a:t>
            </a: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d</a:t>
            </a: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integer×integer </a:t>
            </a:r>
            <a:r>
              <a:rPr lang="en-US" altLang="zh-CN" sz="2400">
                <a:latin typeface="Symbol" panose="05050102010706020507" pitchFamily="18" charset="2"/>
                <a:sym typeface="Symbol" panose="05050102010706020507" pitchFamily="18" charset="2"/>
              </a:rPr>
              <a:t></a:t>
            </a: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boolean×</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baseline="-25000">
              <a:sym typeface="Symbol" panose="05050102010706020507" pitchFamily="18" charset="2"/>
            </a:endParaRPr>
          </a:p>
        </p:txBody>
      </p:sp>
      <p:sp>
        <p:nvSpPr>
          <p:cNvPr id="92165" name="Rectangle 5"/>
          <p:cNvSpPr>
            <a:spLocks noChangeArrowheads="1"/>
          </p:cNvSpPr>
          <p:nvPr/>
        </p:nvSpPr>
        <p:spPr bwMode="auto">
          <a:xfrm>
            <a:off x="6705600" y="1371600"/>
            <a:ext cx="2133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eaLnBrk="1" hangingPunct="1">
              <a:spcBef>
                <a:spcPct val="10000"/>
              </a:spcBef>
              <a:buFont typeface="Wingdings" panose="05000000000000000000" pitchFamily="2" charset="2"/>
              <a:buNone/>
            </a:pPr>
            <a:r>
              <a:rPr lang="zh-CN" altLang="en-US" sz="2400"/>
              <a:t>替换</a:t>
            </a: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d</a:t>
            </a:r>
            <a:r>
              <a:rPr lang="en-US" altLang="zh-CN" sz="2400"/>
              <a:t>=integer</a:t>
            </a:r>
            <a:endParaRPr lang="en-US" altLang="zh-CN" sz="2400"/>
          </a:p>
          <a:p>
            <a:pPr eaLnBrk="1" hangingPunct="1">
              <a:spcBef>
                <a:spcPct val="10000"/>
              </a:spcBef>
              <a:buFont typeface="Wingdings" panose="05000000000000000000" pitchFamily="2" charset="2"/>
              <a:buNone/>
            </a:pPr>
            <a:endParaRPr lang="en-US" altLang="zh-CN" sz="2400"/>
          </a:p>
          <a:p>
            <a:pPr eaLnBrk="1" hangingPunct="1">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i</a:t>
            </a:r>
            <a:r>
              <a:rPr lang="en-US" altLang="zh-CN" sz="2400"/>
              <a:t>=integer</a:t>
            </a:r>
            <a:endParaRPr lang="en-US" altLang="zh-CN" sz="2400"/>
          </a:p>
          <a:p>
            <a:pPr eaLnBrk="1" hangingPunct="1">
              <a:spcBef>
                <a:spcPct val="10000"/>
              </a:spcBef>
              <a:buFont typeface="Wingdings" panose="05000000000000000000" pitchFamily="2" charset="2"/>
              <a:buNone/>
            </a:pPr>
            <a:endParaRPr lang="en-US" altLang="zh-CN" sz="2400"/>
          </a:p>
          <a:p>
            <a:pPr eaLnBrk="1" hangingPunct="1">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m</a:t>
            </a:r>
            <a:r>
              <a:rPr lang="en-US" altLang="zh-CN" sz="2400"/>
              <a:t>=integer</a:t>
            </a:r>
            <a:endParaRPr lang="en-US" altLang="zh-CN" sz="2400"/>
          </a:p>
        </p:txBody>
      </p:sp>
      <p:sp>
        <p:nvSpPr>
          <p:cNvPr id="92166" name="Text Box 6"/>
          <p:cNvSpPr txBox="1">
            <a:spLocks noChangeArrowheads="1"/>
          </p:cNvSpPr>
          <p:nvPr/>
        </p:nvSpPr>
        <p:spPr bwMode="ltGray">
          <a:xfrm>
            <a:off x="152400" y="5318125"/>
            <a:ext cx="1676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sym typeface="Symbol" panose="05050102010706020507" pitchFamily="18" charset="2"/>
              </a:rPr>
              <a:t>length</a:t>
            </a:r>
            <a:r>
              <a:rPr lang="zh-CN" altLang="en-US" sz="2000" b="1">
                <a:solidFill>
                  <a:srgbClr val="3333CC"/>
                </a:solidFill>
                <a:latin typeface="Tahoma" panose="020B0604030504040204" pitchFamily="34" charset="0"/>
                <a:sym typeface="Symbol" panose="05050102010706020507" pitchFamily="18" charset="2"/>
              </a:rPr>
              <a:t>的返回类型，因此</a:t>
            </a:r>
            <a:r>
              <a:rPr lang="en-US" altLang="zh-CN" sz="2000" b="1">
                <a:solidFill>
                  <a:srgbClr val="3333CC"/>
                </a:solidFill>
                <a:latin typeface="Symbol" panose="05050102010706020507" pitchFamily="18" charset="2"/>
              </a:rPr>
              <a:t>d</a:t>
            </a:r>
            <a:r>
              <a:rPr lang="en-US" altLang="zh-CN" sz="2000" b="1">
                <a:solidFill>
                  <a:srgbClr val="3333CC"/>
                </a:solidFill>
              </a:rPr>
              <a:t>=integer</a:t>
            </a:r>
            <a:endParaRPr lang="en-US" altLang="zh-CN" sz="2000" b="1">
              <a:solidFill>
                <a:srgbClr val="3333CC"/>
              </a:solidFill>
            </a:endParaRPr>
          </a:p>
        </p:txBody>
      </p:sp>
      <p:sp>
        <p:nvSpPr>
          <p:cNvPr id="92167" name="Freeform 7"/>
          <p:cNvSpPr/>
          <p:nvPr/>
        </p:nvSpPr>
        <p:spPr bwMode="ltGray">
          <a:xfrm>
            <a:off x="1168400" y="3798888"/>
            <a:ext cx="336550" cy="1589087"/>
          </a:xfrm>
          <a:custGeom>
            <a:avLst/>
            <a:gdLst>
              <a:gd name="T0" fmla="*/ 0 w 212"/>
              <a:gd name="T1" fmla="*/ 2147483646 h 1001"/>
              <a:gd name="T2" fmla="*/ 2147483646 w 212"/>
              <a:gd name="T3" fmla="*/ 0 h 1001"/>
              <a:gd name="T4" fmla="*/ 0 60000 65536"/>
              <a:gd name="T5" fmla="*/ 0 60000 65536"/>
              <a:gd name="T6" fmla="*/ 0 w 212"/>
              <a:gd name="T7" fmla="*/ 0 h 1001"/>
              <a:gd name="T8" fmla="*/ 212 w 212"/>
              <a:gd name="T9" fmla="*/ 1001 h 1001"/>
            </a:gdLst>
            <a:ahLst/>
            <a:cxnLst>
              <a:cxn ang="T4">
                <a:pos x="T0" y="T1"/>
              </a:cxn>
              <a:cxn ang="T5">
                <a:pos x="T2" y="T3"/>
              </a:cxn>
            </a:cxnLst>
            <a:rect l="T6" t="T7" r="T8" b="T9"/>
            <a:pathLst>
              <a:path w="212" h="1001">
                <a:moveTo>
                  <a:pt x="0" y="1001"/>
                </a:moveTo>
                <a:lnTo>
                  <a:pt x="212" y="0"/>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68" name="Text Box 8"/>
          <p:cNvSpPr txBox="1">
            <a:spLocks noChangeArrowheads="1"/>
          </p:cNvSpPr>
          <p:nvPr/>
        </p:nvSpPr>
        <p:spPr bwMode="ltGray">
          <a:xfrm>
            <a:off x="3505200" y="5486400"/>
            <a:ext cx="1981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spcBef>
                <a:spcPct val="50000"/>
              </a:spcBef>
              <a:buClrTx/>
              <a:buSzTx/>
              <a:buFontTx/>
              <a:buNone/>
            </a:pPr>
            <a:r>
              <a:rPr lang="en-US" altLang="zh-CN" sz="2000" b="1">
                <a:solidFill>
                  <a:srgbClr val="3333CC"/>
                </a:solidFill>
                <a:latin typeface="Symbol" panose="05050102010706020507" pitchFamily="18" charset="2"/>
              </a:rPr>
              <a:t>a</a:t>
            </a:r>
            <a:r>
              <a:rPr lang="en-US" altLang="zh-CN" sz="2000" b="1" baseline="-25000">
                <a:solidFill>
                  <a:srgbClr val="3333CC"/>
                </a:solidFill>
              </a:rPr>
              <a:t>n</a:t>
            </a:r>
            <a:r>
              <a:rPr lang="zh-CN" altLang="en-US" sz="2000" b="1">
                <a:solidFill>
                  <a:srgbClr val="3333CC"/>
                </a:solidFill>
              </a:rPr>
              <a:t>最终未被替代，</a:t>
            </a:r>
            <a:r>
              <a:rPr lang="en-US" altLang="zh-CN" sz="2000" b="1">
                <a:solidFill>
                  <a:srgbClr val="3333CC"/>
                </a:solidFill>
              </a:rPr>
              <a:t>length</a:t>
            </a:r>
            <a:r>
              <a:rPr lang="zh-CN" altLang="en-US" sz="2000" b="1">
                <a:solidFill>
                  <a:srgbClr val="3333CC"/>
                </a:solidFill>
              </a:rPr>
              <a:t>类型为</a:t>
            </a:r>
            <a:endParaRPr lang="zh-CN" altLang="en-US" sz="2000" b="1">
              <a:solidFill>
                <a:srgbClr val="3333CC"/>
              </a:solidFill>
            </a:endParaRPr>
          </a:p>
        </p:txBody>
      </p:sp>
      <p:graphicFrame>
        <p:nvGraphicFramePr>
          <p:cNvPr id="92169" name="Object 9"/>
          <p:cNvGraphicFramePr>
            <a:graphicFrameLocks noChangeAspect="1"/>
          </p:cNvGraphicFramePr>
          <p:nvPr/>
        </p:nvGraphicFramePr>
        <p:xfrm>
          <a:off x="3395663" y="6096000"/>
          <a:ext cx="2670175" cy="417513"/>
        </p:xfrm>
        <a:graphic>
          <a:graphicData uri="http://schemas.openxmlformats.org/presentationml/2006/ole">
            <mc:AlternateContent xmlns:mc="http://schemas.openxmlformats.org/markup-compatibility/2006">
              <mc:Choice xmlns:v="urn:schemas-microsoft-com:vml" Requires="v">
                <p:oleObj spid="_x0000_s92181" name="Equation" r:id="rId1" imgW="1485900" imgH="228600" progId="Equation.3">
                  <p:embed/>
                </p:oleObj>
              </mc:Choice>
              <mc:Fallback>
                <p:oleObj name="Equation" r:id="rId1" imgW="1485900" imgH="2286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663" y="6096000"/>
                        <a:ext cx="2670175"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ltLang="zh-CN"/>
              <a:t>6.7  </a:t>
            </a:r>
            <a:r>
              <a:rPr lang="zh-CN" altLang="en-US"/>
              <a:t>合一算法</a:t>
            </a:r>
            <a:endParaRPr lang="zh-CN" altLang="en-US"/>
          </a:p>
        </p:txBody>
      </p:sp>
      <p:sp>
        <p:nvSpPr>
          <p:cNvPr id="93187" name="Rectangle 3"/>
          <p:cNvSpPr>
            <a:spLocks noGrp="1" noChangeArrowheads="1"/>
          </p:cNvSpPr>
          <p:nvPr>
            <p:ph type="body" idx="1"/>
          </p:nvPr>
        </p:nvSpPr>
        <p:spPr/>
        <p:txBody>
          <a:bodyPr/>
          <a:lstStyle/>
          <a:p>
            <a:pPr eaLnBrk="1" hangingPunct="1"/>
            <a:r>
              <a:rPr lang="zh-CN" altLang="en-US"/>
              <a:t>合一：类型表达式</a:t>
            </a:r>
            <a:r>
              <a:rPr lang="en-US" altLang="zh-CN"/>
              <a:t>e</a:t>
            </a:r>
            <a:r>
              <a:rPr lang="zh-CN" altLang="en-US"/>
              <a:t>、</a:t>
            </a:r>
            <a:r>
              <a:rPr lang="en-US" altLang="zh-CN"/>
              <a:t>f</a:t>
            </a:r>
            <a:r>
              <a:rPr lang="zh-CN" altLang="en-US"/>
              <a:t>通过变量代换，是否可达到类型等价</a:t>
            </a:r>
            <a:endParaRPr lang="zh-CN" altLang="en-US"/>
          </a:p>
          <a:p>
            <a:pPr lvl="1" eaLnBrk="1" hangingPunct="1"/>
            <a:r>
              <a:rPr lang="zh-CN" altLang="en-US"/>
              <a:t>特殊情况：等价性检查，无变量</a:t>
            </a:r>
            <a:endParaRPr lang="zh-CN" altLang="en-US"/>
          </a:p>
          <a:p>
            <a:pPr lvl="1" eaLnBrk="1" hangingPunct="1"/>
            <a:r>
              <a:rPr lang="zh-CN" altLang="en-US"/>
              <a:t>本节算法适用类型图有回路情况</a:t>
            </a:r>
            <a:endParaRPr lang="zh-CN" altLang="en-US"/>
          </a:p>
          <a:p>
            <a:pPr lvl="1" eaLnBrk="1" hangingPunct="1"/>
            <a:r>
              <a:rPr lang="zh-CN" altLang="en-US"/>
              <a:t>算法寻找最一般的合一代换</a:t>
            </a:r>
            <a:r>
              <a:rPr lang="en-US" altLang="zh-CN"/>
              <a:t>S</a:t>
            </a:r>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a:t>例</a:t>
            </a:r>
            <a:r>
              <a:rPr lang="en-US" altLang="zh-CN"/>
              <a:t>6.13</a:t>
            </a:r>
            <a:endParaRPr lang="en-US" altLang="zh-CN"/>
          </a:p>
        </p:txBody>
      </p:sp>
      <p:sp>
        <p:nvSpPr>
          <p:cNvPr id="94211" name="Rectangle 3"/>
          <p:cNvSpPr>
            <a:spLocks noGrp="1" noChangeArrowheads="1"/>
          </p:cNvSpPr>
          <p:nvPr>
            <p:ph type="body" idx="1"/>
          </p:nvPr>
        </p:nvSpPr>
        <p:spPr/>
        <p:txBody>
          <a:bodyPr/>
          <a:lstStyle/>
          <a:p>
            <a:pPr eaLnBrk="1" hangingPunct="1"/>
            <a:r>
              <a:rPr lang="en-US" altLang="zh-CN"/>
              <a:t>e</a:t>
            </a:r>
            <a:r>
              <a:rPr lang="zh-CN" altLang="en-US"/>
              <a:t>、</a:t>
            </a:r>
            <a:r>
              <a:rPr lang="en-US" altLang="zh-CN"/>
              <a:t>f</a:t>
            </a:r>
            <a:r>
              <a:rPr lang="zh-CN" altLang="en-US"/>
              <a:t>：</a:t>
            </a:r>
            <a:endParaRPr lang="zh-CN" altLang="en-US"/>
          </a:p>
          <a:p>
            <a:pPr eaLnBrk="1" hangingPunct="1"/>
            <a:endParaRPr lang="zh-CN" altLang="en-US"/>
          </a:p>
          <a:p>
            <a:pPr eaLnBrk="1" hangingPunct="1"/>
            <a:r>
              <a:rPr lang="zh-CN" altLang="en-US"/>
              <a:t>两个合一代换</a:t>
            </a:r>
            <a:r>
              <a:rPr lang="en-US" altLang="zh-CN"/>
              <a:t>S, S’</a:t>
            </a:r>
            <a:r>
              <a:rPr lang="zh-CN" altLang="en-US"/>
              <a:t>：</a:t>
            </a:r>
            <a:endParaRPr lang="zh-CN" altLang="en-US"/>
          </a:p>
          <a:p>
            <a:pPr eaLnBrk="1" hangingPunct="1">
              <a:lnSpc>
                <a:spcPct val="80000"/>
              </a:lnSpc>
              <a:spcBef>
                <a:spcPct val="10000"/>
              </a:spcBef>
              <a:buFont typeface="Wingdings" panose="05000000000000000000" pitchFamily="2" charset="2"/>
              <a:buNone/>
            </a:pPr>
            <a:r>
              <a:rPr lang="en-US" altLang="zh-CN" sz="2400" u="sng"/>
              <a:t>x		S(x)		S’(x)</a:t>
            </a:r>
            <a:endParaRPr lang="en-US" altLang="zh-CN" sz="2400" u="sng"/>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1		 </a:t>
            </a: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4		 </a:t>
            </a: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1</a:t>
            </a:r>
            <a:endParaRPr lang="en-US" altLang="zh-CN" sz="2400" baseline="-25000"/>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5		</a:t>
            </a:r>
            <a:r>
              <a:rPr lang="en-US" altLang="zh-CN" sz="2400"/>
              <a:t>list(</a:t>
            </a:r>
            <a:r>
              <a:rPr lang="en-US" altLang="zh-CN" sz="2400">
                <a:latin typeface="Symbol" panose="05050102010706020507" pitchFamily="18" charset="2"/>
              </a:rPr>
              <a:t>a</a:t>
            </a:r>
            <a:r>
              <a:rPr lang="en-US" altLang="zh-CN" sz="2400" baseline="-25000"/>
              <a:t>2</a:t>
            </a:r>
            <a:r>
              <a:rPr lang="en-US" altLang="zh-CN" sz="2400"/>
              <a:t>)		 list(</a:t>
            </a:r>
            <a:r>
              <a:rPr lang="en-US" altLang="zh-CN" sz="2400">
                <a:latin typeface="Symbol" panose="05050102010706020507" pitchFamily="18" charset="2"/>
              </a:rPr>
              <a:t>a</a:t>
            </a:r>
            <a:r>
              <a:rPr lang="en-US" altLang="zh-CN" sz="2400" baseline="-25000"/>
              <a:t>1</a:t>
            </a:r>
            <a:r>
              <a:rPr lang="en-US" altLang="zh-CN" sz="2400"/>
              <a:t>)</a:t>
            </a:r>
            <a:endParaRPr lang="en-US" altLang="zh-CN" sz="2400"/>
          </a:p>
          <a:p>
            <a:pPr eaLnBrk="1" hangingPunct="1"/>
            <a:r>
              <a:rPr lang="zh-CN" altLang="en-US"/>
              <a:t>代换结果：</a:t>
            </a:r>
            <a:endParaRPr lang="zh-CN" altLang="en-US"/>
          </a:p>
        </p:txBody>
      </p:sp>
      <p:graphicFrame>
        <p:nvGraphicFramePr>
          <p:cNvPr id="94212" name="Object 4"/>
          <p:cNvGraphicFramePr>
            <a:graphicFrameLocks noChangeAspect="1"/>
          </p:cNvGraphicFramePr>
          <p:nvPr/>
        </p:nvGraphicFramePr>
        <p:xfrm>
          <a:off x="2667000" y="1447800"/>
          <a:ext cx="4724400" cy="1092200"/>
        </p:xfrm>
        <a:graphic>
          <a:graphicData uri="http://schemas.openxmlformats.org/presentationml/2006/ole">
            <mc:AlternateContent xmlns:mc="http://schemas.openxmlformats.org/markup-compatibility/2006">
              <mc:Choice xmlns:v="urn:schemas-microsoft-com:vml" Requires="v">
                <p:oleObj spid="_x0000_s94239" name="Equation" r:id="rId1" imgW="2006600" imgH="457200" progId="Equation.3">
                  <p:embed/>
                </p:oleObj>
              </mc:Choice>
              <mc:Fallback>
                <p:oleObj name="Equation" r:id="rId1" imgW="20066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447800"/>
                        <a:ext cx="47244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3" name="Object 5"/>
          <p:cNvGraphicFramePr>
            <a:graphicFrameLocks noChangeAspect="1"/>
          </p:cNvGraphicFramePr>
          <p:nvPr/>
        </p:nvGraphicFramePr>
        <p:xfrm>
          <a:off x="1295400" y="5689600"/>
          <a:ext cx="6937375" cy="1092200"/>
        </p:xfrm>
        <a:graphic>
          <a:graphicData uri="http://schemas.openxmlformats.org/presentationml/2006/ole">
            <mc:AlternateContent xmlns:mc="http://schemas.openxmlformats.org/markup-compatibility/2006">
              <mc:Choice xmlns:v="urn:schemas-microsoft-com:vml" Requires="v">
                <p:oleObj spid="_x0000_s94240" name="Equation" r:id="rId3" imgW="2946400" imgH="457200" progId="Equation.3">
                  <p:embed/>
                </p:oleObj>
              </mc:Choice>
              <mc:Fallback>
                <p:oleObj name="Equation" r:id="rId3" imgW="2946400" imgH="457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5689600"/>
                        <a:ext cx="693737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4" name="Text Box 6"/>
          <p:cNvSpPr txBox="1">
            <a:spLocks noChangeArrowheads="1"/>
          </p:cNvSpPr>
          <p:nvPr/>
        </p:nvSpPr>
        <p:spPr bwMode="ltGray">
          <a:xfrm>
            <a:off x="5486400" y="2971800"/>
            <a:ext cx="27432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8030705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8030705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8030705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8030705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803070505020304" pitchFamily="18" charset="0"/>
                <a:ea typeface="宋体" pitchFamily="2" charset="-122"/>
              </a:defRPr>
            </a:lvl9pPr>
          </a:lstStyle>
          <a:p>
            <a:pPr algn="ctr" eaLnBrk="1" hangingPunct="1">
              <a:buClrTx/>
              <a:buSzTx/>
              <a:buFontTx/>
              <a:buNone/>
            </a:pPr>
            <a:r>
              <a:rPr lang="zh-CN" altLang="en-US" sz="2400" b="1">
                <a:solidFill>
                  <a:srgbClr val="3333CC"/>
                </a:solidFill>
              </a:rPr>
              <a:t>最一般的合一代换</a:t>
            </a:r>
            <a:endParaRPr lang="zh-CN" altLang="en-US" sz="2400" b="1">
              <a:solidFill>
                <a:srgbClr val="3333CC"/>
              </a:solidFill>
            </a:endParaRPr>
          </a:p>
          <a:p>
            <a:pPr algn="ctr" eaLnBrk="1" hangingPunct="1">
              <a:buClrTx/>
              <a:buSzTx/>
              <a:buFontTx/>
              <a:buNone/>
            </a:pPr>
            <a:r>
              <a:rPr lang="en-US" altLang="zh-CN" sz="2400" b="1">
                <a:solidFill>
                  <a:srgbClr val="3333CC"/>
                </a:solidFill>
              </a:rPr>
              <a:t>S’(e)</a:t>
            </a:r>
            <a:r>
              <a:rPr lang="zh-CN" altLang="en-US" sz="2400" b="1">
                <a:solidFill>
                  <a:srgbClr val="3333CC"/>
                </a:solidFill>
              </a:rPr>
              <a:t>是</a:t>
            </a:r>
            <a:r>
              <a:rPr lang="en-US" altLang="zh-CN" sz="2400" b="1">
                <a:solidFill>
                  <a:srgbClr val="3333CC"/>
                </a:solidFill>
              </a:rPr>
              <a:t>S(e)</a:t>
            </a:r>
            <a:r>
              <a:rPr lang="zh-CN" altLang="en-US" sz="2400" b="1">
                <a:solidFill>
                  <a:srgbClr val="3333CC"/>
                </a:solidFill>
              </a:rPr>
              <a:t>的实例，反之不成立</a:t>
            </a:r>
            <a:endParaRPr lang="zh-CN" altLang="en-US" sz="2400" b="1">
              <a:solidFill>
                <a:srgbClr val="3333CC"/>
              </a:solidFill>
            </a:endParaRPr>
          </a:p>
        </p:txBody>
      </p:sp>
      <p:sp>
        <p:nvSpPr>
          <p:cNvPr id="94215" name="Freeform 7"/>
          <p:cNvSpPr/>
          <p:nvPr/>
        </p:nvSpPr>
        <p:spPr bwMode="ltGray">
          <a:xfrm>
            <a:off x="4267200" y="2451100"/>
            <a:ext cx="3429000" cy="596900"/>
          </a:xfrm>
          <a:custGeom>
            <a:avLst/>
            <a:gdLst>
              <a:gd name="T0" fmla="*/ 2147483646 w 2160"/>
              <a:gd name="T1" fmla="*/ 2147483646 h 376"/>
              <a:gd name="T2" fmla="*/ 2147483646 w 2160"/>
              <a:gd name="T3" fmla="*/ 2147483646 h 376"/>
              <a:gd name="T4" fmla="*/ 0 w 2160"/>
              <a:gd name="T5" fmla="*/ 2147483646 h 376"/>
              <a:gd name="T6" fmla="*/ 0 60000 65536"/>
              <a:gd name="T7" fmla="*/ 0 60000 65536"/>
              <a:gd name="T8" fmla="*/ 0 60000 65536"/>
              <a:gd name="T9" fmla="*/ 0 w 2160"/>
              <a:gd name="T10" fmla="*/ 0 h 376"/>
              <a:gd name="T11" fmla="*/ 2160 w 2160"/>
              <a:gd name="T12" fmla="*/ 376 h 376"/>
            </a:gdLst>
            <a:ahLst/>
            <a:cxnLst>
              <a:cxn ang="T6">
                <a:pos x="T0" y="T1"/>
              </a:cxn>
              <a:cxn ang="T7">
                <a:pos x="T2" y="T3"/>
              </a:cxn>
              <a:cxn ang="T8">
                <a:pos x="T4" y="T5"/>
              </a:cxn>
            </a:cxnLst>
            <a:rect l="T9" t="T10" r="T11" b="T12"/>
            <a:pathLst>
              <a:path w="2160" h="376">
                <a:moveTo>
                  <a:pt x="2160" y="376"/>
                </a:moveTo>
                <a:cubicBezTo>
                  <a:pt x="1932" y="228"/>
                  <a:pt x="1704" y="80"/>
                  <a:pt x="1344" y="40"/>
                </a:cubicBezTo>
                <a:cubicBezTo>
                  <a:pt x="984" y="0"/>
                  <a:pt x="492" y="68"/>
                  <a:pt x="0" y="136"/>
                </a:cubicBezTo>
              </a:path>
            </a:pathLst>
          </a:custGeom>
          <a:noFill/>
          <a:ln w="25400" cap="flat" cmpd="sng">
            <a:solidFill>
              <a:srgbClr val="FF3300"/>
            </a:solidFill>
            <a:prstDash val="solid"/>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4216" name="Line 8"/>
          <p:cNvSpPr>
            <a:spLocks noChangeShapeType="1"/>
          </p:cNvSpPr>
          <p:nvPr/>
        </p:nvSpPr>
        <p:spPr bwMode="ltGray">
          <a:xfrm flipH="1">
            <a:off x="5257800" y="4038600"/>
            <a:ext cx="2362200" cy="1752600"/>
          </a:xfrm>
          <a:prstGeom prst="line">
            <a:avLst/>
          </a:prstGeom>
          <a:noFill/>
          <a:ln w="254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CN" altLang="en-US"/>
              <a:t>算法思想</a:t>
            </a:r>
            <a:endParaRPr lang="zh-CN" altLang="en-US"/>
          </a:p>
        </p:txBody>
      </p:sp>
      <p:sp>
        <p:nvSpPr>
          <p:cNvPr id="95235" name="Rectangle 3"/>
          <p:cNvSpPr>
            <a:spLocks noGrp="1" noChangeArrowheads="1"/>
          </p:cNvSpPr>
          <p:nvPr>
            <p:ph type="body" idx="1"/>
          </p:nvPr>
        </p:nvSpPr>
        <p:spPr/>
        <p:txBody>
          <a:bodyPr/>
          <a:lstStyle/>
          <a:p>
            <a:pPr eaLnBrk="1" hangingPunct="1"/>
            <a:r>
              <a:rPr lang="zh-CN" altLang="en-US"/>
              <a:t>用树表示表达式</a:t>
            </a:r>
            <a:r>
              <a:rPr lang="en-US" altLang="zh-CN"/>
              <a:t>——S(e)</a:t>
            </a:r>
            <a:r>
              <a:rPr lang="zh-CN" altLang="en-US"/>
              <a:t>的结点数目可能与</a:t>
            </a:r>
            <a:r>
              <a:rPr lang="en-US" altLang="zh-CN"/>
              <a:t>e</a:t>
            </a:r>
            <a:r>
              <a:rPr lang="zh-CN" altLang="en-US"/>
              <a:t>、</a:t>
            </a:r>
            <a:r>
              <a:rPr lang="en-US" altLang="zh-CN"/>
              <a:t>f</a:t>
            </a:r>
            <a:r>
              <a:rPr lang="zh-CN" altLang="en-US"/>
              <a:t>的结点数目呈指数关系</a:t>
            </a:r>
            <a:r>
              <a:rPr lang="zh-CN" altLang="en-US">
                <a:sym typeface="Wingdings" panose="05000000000000000000" pitchFamily="2" charset="2"/>
              </a:rPr>
              <a:t></a:t>
            </a:r>
            <a:r>
              <a:rPr lang="zh-CN" altLang="en-US"/>
              <a:t>图表示</a:t>
            </a:r>
            <a:endParaRPr lang="zh-CN" altLang="en-US"/>
          </a:p>
          <a:p>
            <a:pPr eaLnBrk="1" hangingPunct="1"/>
            <a:r>
              <a:rPr lang="zh-CN" altLang="en-US"/>
              <a:t>图论方法：在最一般的合一代换下必须等价的结点，进行集合划分</a:t>
            </a:r>
            <a:endParaRPr lang="zh-CN" altLang="en-US"/>
          </a:p>
        </p:txBody>
      </p:sp>
      <p:pic>
        <p:nvPicPr>
          <p:cNvPr id="95236" name="Picture 4" descr="unif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657600"/>
            <a:ext cx="85502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CN" altLang="en-US"/>
              <a:t>算法</a:t>
            </a:r>
            <a:r>
              <a:rPr lang="en-US" altLang="zh-CN"/>
              <a:t>6.1  </a:t>
            </a:r>
            <a:r>
              <a:rPr lang="zh-CN" altLang="en-US"/>
              <a:t>合一算法</a:t>
            </a:r>
            <a:endParaRPr lang="zh-CN" altLang="en-US"/>
          </a:p>
        </p:txBody>
      </p:sp>
      <p:sp>
        <p:nvSpPr>
          <p:cNvPr id="96259" name="Rectangle 3"/>
          <p:cNvSpPr>
            <a:spLocks noGrp="1" noChangeArrowheads="1"/>
          </p:cNvSpPr>
          <p:nvPr>
            <p:ph type="body" idx="1"/>
          </p:nvPr>
        </p:nvSpPr>
        <p:spPr>
          <a:xfrm>
            <a:off x="1182688" y="1371600"/>
            <a:ext cx="7772400" cy="5486400"/>
          </a:xfrm>
        </p:spPr>
        <p:txBody>
          <a:bodyPr/>
          <a:lstStyle/>
          <a:p>
            <a:pPr marL="0" indent="0" eaLnBrk="1" hangingPunct="1">
              <a:buFont typeface="Wingdings" panose="05000000000000000000" pitchFamily="2" charset="2"/>
              <a:buNone/>
            </a:pPr>
            <a:r>
              <a:rPr lang="zh-CN" altLang="en-US" sz="2800"/>
              <a:t>输入：一个类型图和要进行合一的结点</a:t>
            </a:r>
            <a:r>
              <a:rPr lang="en-US" altLang="zh-CN" sz="2800"/>
              <a:t>m</a:t>
            </a:r>
            <a:r>
              <a:rPr lang="zh-CN" altLang="en-US" sz="2800"/>
              <a:t>、</a:t>
            </a:r>
            <a:r>
              <a:rPr lang="en-US" altLang="zh-CN" sz="2800"/>
              <a:t>n</a:t>
            </a:r>
            <a:endParaRPr lang="en-US" altLang="zh-CN" sz="2800"/>
          </a:p>
          <a:p>
            <a:pPr marL="0" indent="0" eaLnBrk="1" hangingPunct="1">
              <a:buFont typeface="Wingdings" panose="05000000000000000000" pitchFamily="2" charset="2"/>
              <a:buNone/>
            </a:pPr>
            <a:r>
              <a:rPr lang="zh-CN" altLang="en-US" sz="2800"/>
              <a:t>输出：若一致，返回</a:t>
            </a:r>
            <a:r>
              <a:rPr lang="en-US" altLang="zh-CN" sz="2800"/>
              <a:t>true</a:t>
            </a:r>
            <a:r>
              <a:rPr lang="zh-CN" altLang="en-US" sz="2800"/>
              <a:t>；否则，返回</a:t>
            </a:r>
            <a:r>
              <a:rPr lang="en-US" altLang="zh-CN" sz="2800"/>
              <a:t>false</a:t>
            </a:r>
            <a:r>
              <a:rPr lang="zh-CN" altLang="en-US" sz="2800"/>
              <a:t>。本算法的函数可修改为前面给出的多态函数类型检查规则所需的</a:t>
            </a:r>
            <a:r>
              <a:rPr lang="en-US" altLang="zh-CN" sz="2800"/>
              <a:t>unify</a:t>
            </a:r>
            <a:r>
              <a:rPr lang="zh-CN" altLang="en-US" sz="2800"/>
              <a:t>函数</a:t>
            </a:r>
            <a:endParaRPr lang="zh-CN" altLang="en-US" sz="2800"/>
          </a:p>
          <a:p>
            <a:pPr marL="0" indent="0" eaLnBrk="1" hangingPunct="1">
              <a:buFont typeface="Wingdings" panose="05000000000000000000" pitchFamily="2" charset="2"/>
              <a:buNone/>
            </a:pPr>
            <a:r>
              <a:rPr lang="zh-CN" altLang="en-US" sz="2800"/>
              <a:t>方法：</a:t>
            </a:r>
            <a:endParaRPr lang="zh-CN" altLang="en-US" sz="2800"/>
          </a:p>
          <a:p>
            <a:pPr marL="0" indent="0" eaLnBrk="1" hangingPunct="1">
              <a:buFont typeface="Wingdings" panose="05000000000000000000" pitchFamily="2" charset="2"/>
              <a:buNone/>
            </a:pPr>
            <a:endParaRPr lang="zh-CN" altLang="en-US" sz="2800"/>
          </a:p>
          <a:p>
            <a:pPr marL="0" indent="0" eaLnBrk="1" hangingPunct="1">
              <a:buFont typeface="Wingdings" panose="05000000000000000000" pitchFamily="2" charset="2"/>
              <a:buNone/>
            </a:pPr>
            <a:br>
              <a:rPr lang="zh-CN" altLang="en-US" sz="2400">
                <a:solidFill>
                  <a:srgbClr val="3333CC"/>
                </a:solidFill>
              </a:rPr>
            </a:br>
            <a:r>
              <a:rPr lang="zh-CN" altLang="en-US" sz="2400">
                <a:solidFill>
                  <a:srgbClr val="3333CC"/>
                </a:solidFill>
              </a:rPr>
              <a:t>结点用上图所示记录实现</a:t>
            </a:r>
            <a:endParaRPr lang="zh-CN" altLang="en-US" sz="2400">
              <a:solidFill>
                <a:srgbClr val="3333CC"/>
              </a:solidFill>
            </a:endParaRPr>
          </a:p>
          <a:p>
            <a:pPr marL="0" indent="0" eaLnBrk="1" hangingPunct="1">
              <a:buFont typeface="Wingdings" panose="05000000000000000000" pitchFamily="2" charset="2"/>
              <a:buNone/>
            </a:pPr>
            <a:r>
              <a:rPr lang="en-US" altLang="zh-CN" sz="2400">
                <a:solidFill>
                  <a:srgbClr val="3333CC"/>
                </a:solidFill>
              </a:rPr>
              <a:t>set</a:t>
            </a:r>
            <a:r>
              <a:rPr lang="zh-CN" altLang="en-US" sz="2400">
                <a:solidFill>
                  <a:srgbClr val="3333CC"/>
                </a:solidFill>
              </a:rPr>
              <a:t>域维护等价结点集合</a:t>
            </a:r>
            <a:endParaRPr lang="zh-CN" altLang="en-US" sz="2400">
              <a:solidFill>
                <a:srgbClr val="3333CC"/>
              </a:solidFill>
            </a:endParaRPr>
          </a:p>
          <a:p>
            <a:pPr marL="0" indent="0" eaLnBrk="1" hangingPunct="1">
              <a:buFont typeface="Wingdings" panose="05000000000000000000" pitchFamily="2" charset="2"/>
              <a:buNone/>
            </a:pPr>
            <a:r>
              <a:rPr lang="zh-CN" altLang="en-US" sz="2400">
                <a:solidFill>
                  <a:srgbClr val="3333CC"/>
                </a:solidFill>
              </a:rPr>
              <a:t>每个等价类选出一个代表结点</a:t>
            </a:r>
            <a:r>
              <a:rPr lang="en-US" altLang="zh-CN" sz="2400">
                <a:solidFill>
                  <a:srgbClr val="3333CC"/>
                </a:solidFill>
              </a:rPr>
              <a:t>——set</a:t>
            </a:r>
            <a:r>
              <a:rPr lang="zh-CN" altLang="en-US" sz="2400">
                <a:solidFill>
                  <a:srgbClr val="3333CC"/>
                </a:solidFill>
              </a:rPr>
              <a:t>域为空指针</a:t>
            </a:r>
            <a:endParaRPr lang="zh-CN" altLang="en-US" sz="2400">
              <a:solidFill>
                <a:srgbClr val="3333CC"/>
              </a:solidFill>
            </a:endParaRPr>
          </a:p>
          <a:p>
            <a:pPr marL="0" indent="0" eaLnBrk="1" hangingPunct="1">
              <a:buFont typeface="Wingdings" panose="05000000000000000000" pitchFamily="2" charset="2"/>
              <a:buNone/>
            </a:pPr>
            <a:r>
              <a:rPr lang="zh-CN" altLang="en-US" sz="2400">
                <a:solidFill>
                  <a:srgbClr val="3333CC"/>
                </a:solidFill>
              </a:rPr>
              <a:t>等价类内其他结点指向代表结点</a:t>
            </a:r>
            <a:endParaRPr lang="zh-CN" altLang="en-US" sz="2400">
              <a:solidFill>
                <a:srgbClr val="3333CC"/>
              </a:solidFill>
            </a:endParaRPr>
          </a:p>
          <a:p>
            <a:pPr marL="0" indent="0" eaLnBrk="1" hangingPunct="1">
              <a:buFont typeface="Wingdings" panose="05000000000000000000" pitchFamily="2" charset="2"/>
              <a:buNone/>
            </a:pPr>
            <a:r>
              <a:rPr lang="zh-CN" altLang="en-US" sz="2400">
                <a:solidFill>
                  <a:srgbClr val="3333CC"/>
                </a:solidFill>
              </a:rPr>
              <a:t>初始，每个结点形成一个等价类</a:t>
            </a:r>
            <a:endParaRPr lang="zh-CN" altLang="en-US" sz="2400">
              <a:solidFill>
                <a:srgbClr val="3333CC"/>
              </a:solidFill>
            </a:endParaRPr>
          </a:p>
        </p:txBody>
      </p:sp>
      <p:pic>
        <p:nvPicPr>
          <p:cNvPr id="96260" name="Picture 6" descr="nod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3225800"/>
            <a:ext cx="5459413"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a:t>算法</a:t>
            </a:r>
            <a:r>
              <a:rPr lang="en-US" altLang="zh-CN"/>
              <a:t>6.1</a:t>
            </a:r>
            <a:r>
              <a:rPr lang="zh-CN" altLang="en-US"/>
              <a:t>（续）</a:t>
            </a:r>
            <a:endParaRPr lang="zh-CN" altLang="en-US"/>
          </a:p>
        </p:txBody>
      </p:sp>
      <p:sp>
        <p:nvSpPr>
          <p:cNvPr id="97283" name="Rectangle 3"/>
          <p:cNvSpPr>
            <a:spLocks noGrp="1" noChangeArrowheads="1"/>
          </p:cNvSpPr>
          <p:nvPr>
            <p:ph type="body" idx="1"/>
          </p:nvPr>
        </p:nvSpPr>
        <p:spPr>
          <a:xfrm>
            <a:off x="1182688" y="1295400"/>
            <a:ext cx="7772400" cy="5562600"/>
          </a:xfrm>
        </p:spPr>
        <p:txBody>
          <a:bodyPr/>
          <a:lstStyle/>
          <a:p>
            <a:pPr marL="381000" indent="-381000" eaLnBrk="1" hangingPunct="1">
              <a:lnSpc>
                <a:spcPct val="90000"/>
              </a:lnSpc>
              <a:spcBef>
                <a:spcPct val="10000"/>
              </a:spcBef>
              <a:buFont typeface="Wingdings" panose="05000000000000000000" pitchFamily="2" charset="2"/>
              <a:buNone/>
            </a:pPr>
            <a:r>
              <a:rPr lang="en-US" altLang="zh-CN" sz="2400"/>
              <a:t>bool</a:t>
            </a:r>
            <a:r>
              <a:rPr lang="en-US" altLang="zh-CN" sz="2400" b="1"/>
              <a:t> </a:t>
            </a:r>
            <a:r>
              <a:rPr lang="en-US" altLang="zh-CN" sz="2400"/>
              <a:t>unify(node m, n)</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s = find(m);</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t = find(n);</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if </a:t>
            </a:r>
            <a:r>
              <a:rPr lang="en-US" altLang="zh-CN" sz="2400"/>
              <a:t>(s == t) </a:t>
            </a:r>
            <a:r>
              <a:rPr lang="en-US" altLang="zh-CN" sz="2400" b="1"/>
              <a:t>return true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else if </a:t>
            </a:r>
            <a:r>
              <a:rPr lang="en-US" altLang="zh-CN" sz="2400"/>
              <a:t>(s</a:t>
            </a:r>
            <a:r>
              <a:rPr lang="zh-CN" altLang="en-US" sz="2400"/>
              <a:t>和</a:t>
            </a:r>
            <a:r>
              <a:rPr lang="en-US" altLang="zh-CN" sz="2400"/>
              <a:t>t</a:t>
            </a:r>
            <a:r>
              <a:rPr lang="zh-CN" altLang="en-US" sz="2400"/>
              <a:t>为相同基本类型结点</a:t>
            </a:r>
            <a:r>
              <a:rPr lang="en-US" altLang="zh-CN" sz="2400"/>
              <a:t>) </a:t>
            </a:r>
            <a:r>
              <a:rPr lang="en-US" altLang="zh-CN" sz="2400" b="1"/>
              <a:t>return true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else if </a:t>
            </a:r>
            <a:r>
              <a:rPr lang="en-US" altLang="zh-CN" sz="2400"/>
              <a:t>(s</a:t>
            </a:r>
            <a:r>
              <a:rPr lang="zh-CN" altLang="en-US" sz="2400"/>
              <a:t>为操作符结点，孩子结点为</a:t>
            </a:r>
            <a:r>
              <a:rPr lang="en-US" altLang="zh-CN" sz="2400"/>
              <a:t>s</a:t>
            </a:r>
            <a:r>
              <a:rPr lang="en-US" altLang="zh-CN" sz="2400" baseline="-25000"/>
              <a:t>1</a:t>
            </a:r>
            <a:r>
              <a:rPr lang="en-US" altLang="zh-CN" sz="2400"/>
              <a:t>, s</a:t>
            </a:r>
            <a:r>
              <a:rPr lang="en-US" altLang="zh-CN" sz="2400" baseline="-25000"/>
              <a:t>2</a:t>
            </a:r>
            <a:r>
              <a:rPr lang="en-US" altLang="zh-CN" sz="2400"/>
              <a:t> </a:t>
            </a:r>
            <a:r>
              <a:rPr lang="zh-CN" altLang="en-US" sz="2400"/>
              <a:t>且</a:t>
            </a:r>
            <a:br>
              <a:rPr lang="zh-CN" altLang="en-US" sz="2400"/>
            </a:br>
            <a:r>
              <a:rPr lang="zh-CN" altLang="en-US" sz="2400"/>
              <a:t>		</a:t>
            </a:r>
            <a:r>
              <a:rPr lang="en-US" altLang="zh-CN" sz="2400"/>
              <a:t>t</a:t>
            </a:r>
            <a:r>
              <a:rPr lang="zh-CN" altLang="en-US" sz="2400"/>
              <a:t>为操作符结点，孩子结点为</a:t>
            </a:r>
            <a:r>
              <a:rPr lang="en-US" altLang="zh-CN" sz="2400"/>
              <a:t>t</a:t>
            </a:r>
            <a:r>
              <a:rPr lang="en-US" altLang="zh-CN" sz="2400" baseline="-25000"/>
              <a:t>1</a:t>
            </a:r>
            <a:r>
              <a:rPr lang="en-US" altLang="zh-CN" sz="2400"/>
              <a:t>, t</a:t>
            </a:r>
            <a:r>
              <a:rPr lang="en-US" altLang="zh-CN" sz="2400" baseline="-25000"/>
              <a:t>2</a:t>
            </a:r>
            <a:r>
              <a:rPr lang="en-US" altLang="zh-CN" sz="2400"/>
              <a:t>) {</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union(s, 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return</a:t>
            </a:r>
            <a:r>
              <a:rPr lang="en-US" altLang="zh-CN" sz="2400"/>
              <a:t> unify(s</a:t>
            </a:r>
            <a:r>
              <a:rPr lang="en-US" altLang="zh-CN" sz="2400" baseline="-25000"/>
              <a:t>1</a:t>
            </a:r>
            <a:r>
              <a:rPr lang="en-US" altLang="zh-CN" sz="2400"/>
              <a:t>, t</a:t>
            </a:r>
            <a:r>
              <a:rPr lang="en-US" altLang="zh-CN" sz="2400" baseline="-25000"/>
              <a:t>1</a:t>
            </a:r>
            <a:r>
              <a:rPr lang="en-US" altLang="zh-CN" sz="2400"/>
              <a:t>) </a:t>
            </a:r>
            <a:r>
              <a:rPr lang="en-US" altLang="zh-CN" sz="2400" b="1"/>
              <a:t>and</a:t>
            </a:r>
            <a:r>
              <a:rPr lang="en-US" altLang="zh-CN" sz="2400"/>
              <a:t> unify(s</a:t>
            </a:r>
            <a:r>
              <a:rPr lang="en-US" altLang="zh-CN" sz="2400" baseline="-25000"/>
              <a:t>2</a:t>
            </a:r>
            <a:r>
              <a:rPr lang="en-US" altLang="zh-CN" sz="2400"/>
              <a:t>, t</a:t>
            </a:r>
            <a:r>
              <a:rPr lang="en-US" altLang="zh-CN" sz="2400" baseline="-25000"/>
              <a:t>2</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 </a:t>
            </a:r>
            <a:r>
              <a:rPr lang="en-US" altLang="zh-CN" sz="2400" b="1"/>
              <a:t>else if </a:t>
            </a:r>
            <a:r>
              <a:rPr lang="en-US" altLang="zh-CN" sz="2400"/>
              <a:t>(s</a:t>
            </a:r>
            <a:r>
              <a:rPr lang="zh-CN" altLang="en-US" sz="2400"/>
              <a:t>或</a:t>
            </a:r>
            <a:r>
              <a:rPr lang="en-US" altLang="zh-CN" sz="2400"/>
              <a:t>t</a:t>
            </a:r>
            <a:r>
              <a:rPr lang="zh-CN" altLang="en-US" sz="2400"/>
              <a:t>表示类型变量</a:t>
            </a:r>
            <a:r>
              <a:rPr lang="en-US" altLang="zh-CN" sz="2400"/>
              <a:t>) {</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union(s, 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return true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	} </a:t>
            </a:r>
            <a:r>
              <a:rPr lang="en-US" altLang="zh-CN" sz="2400" b="1"/>
              <a:t>else return false</a:t>
            </a:r>
            <a:r>
              <a:rPr lang="en-US" altLang="zh-CN" sz="2400"/>
              <a:t>;</a:t>
            </a:r>
            <a:endParaRPr lang="en-US" altLang="zh-CN" sz="2400"/>
          </a:p>
          <a:p>
            <a:pPr marL="381000" indent="-381000" eaLnBrk="1" hangingPunct="1">
              <a:lnSpc>
                <a:spcPct val="90000"/>
              </a:lnSpc>
              <a:spcBef>
                <a:spcPct val="10000"/>
              </a:spcBef>
              <a:buFont typeface="Wingdings" panose="05000000000000000000" pitchFamily="2" charset="2"/>
              <a:buNone/>
            </a:pPr>
            <a:r>
              <a:rPr lang="en-US" altLang="zh-CN" sz="2400"/>
              <a:t>}</a:t>
            </a:r>
            <a:endParaRPr lang="en-US" altLang="zh-CN" sz="24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n-US" altLang="zh-CN"/>
              <a:t>find</a:t>
            </a:r>
            <a:r>
              <a:rPr lang="zh-CN" altLang="en-US"/>
              <a:t>和</a:t>
            </a:r>
            <a:r>
              <a:rPr lang="en-US" altLang="zh-CN"/>
              <a:t>union</a:t>
            </a:r>
            <a:r>
              <a:rPr lang="zh-CN" altLang="en-US"/>
              <a:t>操作</a:t>
            </a:r>
            <a:endParaRPr lang="zh-CN" altLang="en-US"/>
          </a:p>
        </p:txBody>
      </p:sp>
      <p:sp>
        <p:nvSpPr>
          <p:cNvPr id="98307" name="Rectangle 3"/>
          <p:cNvSpPr>
            <a:spLocks noGrp="1" noChangeArrowheads="1"/>
          </p:cNvSpPr>
          <p:nvPr>
            <p:ph type="body" idx="1"/>
          </p:nvPr>
        </p:nvSpPr>
        <p:spPr>
          <a:xfrm>
            <a:off x="1182688" y="1371600"/>
            <a:ext cx="7772400" cy="5181600"/>
          </a:xfrm>
        </p:spPr>
        <p:txBody>
          <a:bodyPr/>
          <a:lstStyle/>
          <a:p>
            <a:pPr marL="609600" indent="-609600" eaLnBrk="1" hangingPunct="1">
              <a:lnSpc>
                <a:spcPct val="90000"/>
              </a:lnSpc>
              <a:buFont typeface="Wingdings" panose="05000000000000000000" pitchFamily="2" charset="2"/>
              <a:buAutoNum type="arabicPeriod"/>
            </a:pPr>
            <a:r>
              <a:rPr lang="en-US" altLang="zh-CN"/>
              <a:t>find(n)</a:t>
            </a:r>
            <a:endParaRPr lang="en-US" altLang="zh-CN"/>
          </a:p>
          <a:p>
            <a:pPr marL="990600" lvl="1" indent="-533400" eaLnBrk="1" hangingPunct="1">
              <a:lnSpc>
                <a:spcPct val="90000"/>
              </a:lnSpc>
            </a:pPr>
            <a:r>
              <a:rPr lang="zh-CN" altLang="en-US"/>
              <a:t>返回结点</a:t>
            </a:r>
            <a:r>
              <a:rPr lang="en-US" altLang="zh-CN"/>
              <a:t>n</a:t>
            </a:r>
            <a:r>
              <a:rPr lang="zh-CN" altLang="en-US"/>
              <a:t>等价类的代表结点</a:t>
            </a:r>
            <a:endParaRPr lang="zh-CN" altLang="en-US"/>
          </a:p>
          <a:p>
            <a:pPr marL="609600" indent="-609600" eaLnBrk="1" hangingPunct="1">
              <a:lnSpc>
                <a:spcPct val="90000"/>
              </a:lnSpc>
              <a:buFont typeface="Wingdings" panose="05000000000000000000" pitchFamily="2" charset="2"/>
              <a:buAutoNum type="arabicPeriod"/>
            </a:pPr>
            <a:r>
              <a:rPr lang="en-US" altLang="zh-CN"/>
              <a:t>union(m, n)</a:t>
            </a:r>
            <a:endParaRPr lang="en-US" altLang="zh-CN"/>
          </a:p>
          <a:p>
            <a:pPr marL="990600" lvl="1" indent="-533400" eaLnBrk="1" hangingPunct="1">
              <a:lnSpc>
                <a:spcPct val="90000"/>
              </a:lnSpc>
            </a:pPr>
            <a:r>
              <a:rPr lang="zh-CN" altLang="en-US"/>
              <a:t>将结点</a:t>
            </a:r>
            <a:r>
              <a:rPr lang="en-US" altLang="zh-CN"/>
              <a:t>m</a:t>
            </a:r>
            <a:r>
              <a:rPr lang="zh-CN" altLang="en-US"/>
              <a:t>、</a:t>
            </a:r>
            <a:r>
              <a:rPr lang="en-US" altLang="zh-CN"/>
              <a:t>n</a:t>
            </a:r>
            <a:r>
              <a:rPr lang="zh-CN" altLang="en-US"/>
              <a:t>所在等价类合并</a:t>
            </a:r>
            <a:endParaRPr lang="zh-CN" altLang="en-US"/>
          </a:p>
          <a:p>
            <a:pPr marL="990600" lvl="1" indent="-533400" eaLnBrk="1" hangingPunct="1">
              <a:lnSpc>
                <a:spcPct val="90000"/>
              </a:lnSpc>
            </a:pPr>
            <a:r>
              <a:rPr lang="zh-CN" altLang="en-US"/>
              <a:t>若两个等价类代表结点中某个不是变量结点，则将其作为合并等价类的代表结点。</a:t>
            </a:r>
            <a:endParaRPr lang="zh-CN" altLang="en-US"/>
          </a:p>
          <a:p>
            <a:pPr marL="990600" lvl="1" indent="-533400" eaLnBrk="1" hangingPunct="1">
              <a:lnSpc>
                <a:spcPct val="90000"/>
              </a:lnSpc>
            </a:pPr>
            <a:r>
              <a:rPr lang="zh-CN" altLang="en-US"/>
              <a:t>否则，其中任一个作为新代表结点。</a:t>
            </a:r>
            <a:endParaRPr lang="zh-CN" altLang="en-US"/>
          </a:p>
          <a:p>
            <a:pPr marL="990600" lvl="1" indent="-533400" eaLnBrk="1" hangingPunct="1">
              <a:lnSpc>
                <a:spcPct val="90000"/>
              </a:lnSpc>
            </a:pPr>
            <a:r>
              <a:rPr lang="zh-CN" altLang="en-US"/>
              <a:t>原因：若等价类包含类型构造符或基本类型，变量结点不能做为代表结点</a:t>
            </a:r>
            <a:endParaRPr lang="zh-CN" altLang="en-US"/>
          </a:p>
          <a:p>
            <a:pPr marL="990600" lvl="1" indent="-533400" eaLnBrk="1" hangingPunct="1">
              <a:lnSpc>
                <a:spcPct val="90000"/>
              </a:lnSpc>
            </a:pPr>
            <a:r>
              <a:rPr lang="zh-CN" altLang="en-US"/>
              <a:t>否则，（纯变量）表达式可通过变量达到合一</a:t>
            </a:r>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a:t>算法（续）</a:t>
            </a:r>
            <a:endParaRPr lang="zh-CN" altLang="en-US"/>
          </a:p>
        </p:txBody>
      </p:sp>
      <p:sp>
        <p:nvSpPr>
          <p:cNvPr id="99331" name="Rectangle 3"/>
          <p:cNvSpPr>
            <a:spLocks noGrp="1" noChangeArrowheads="1"/>
          </p:cNvSpPr>
          <p:nvPr>
            <p:ph type="body" idx="1"/>
          </p:nvPr>
        </p:nvSpPr>
        <p:spPr>
          <a:xfrm>
            <a:off x="1182688" y="1371600"/>
            <a:ext cx="7772400" cy="5257800"/>
          </a:xfrm>
        </p:spPr>
        <p:txBody>
          <a:bodyPr/>
          <a:lstStyle/>
          <a:p>
            <a:pPr eaLnBrk="1" hangingPunct="1">
              <a:lnSpc>
                <a:spcPct val="90000"/>
              </a:lnSpc>
            </a:pPr>
            <a:r>
              <a:rPr lang="en-US" altLang="zh-CN"/>
              <a:t>union</a:t>
            </a:r>
            <a:r>
              <a:rPr lang="zh-CN" altLang="en-US"/>
              <a:t>的实现：将一个等价类代表结点的</a:t>
            </a:r>
            <a:r>
              <a:rPr lang="en-US" altLang="zh-CN"/>
              <a:t>set</a:t>
            </a:r>
            <a:r>
              <a:rPr lang="zh-CN" altLang="en-US"/>
              <a:t>指针指向另一个的代表结点</a:t>
            </a:r>
            <a:endParaRPr lang="zh-CN" altLang="en-US"/>
          </a:p>
          <a:p>
            <a:pPr eaLnBrk="1" hangingPunct="1">
              <a:lnSpc>
                <a:spcPct val="90000"/>
              </a:lnSpc>
            </a:pPr>
            <a:r>
              <a:rPr lang="en-US" altLang="zh-CN"/>
              <a:t>find</a:t>
            </a:r>
            <a:r>
              <a:rPr lang="zh-CN" altLang="en-US"/>
              <a:t>：沿</a:t>
            </a:r>
            <a:r>
              <a:rPr lang="en-US" altLang="zh-CN"/>
              <a:t>set</a:t>
            </a:r>
            <a:r>
              <a:rPr lang="zh-CN" altLang="en-US"/>
              <a:t>链遍历，直到空指针</a:t>
            </a:r>
            <a:endParaRPr lang="zh-CN" altLang="en-US"/>
          </a:p>
          <a:p>
            <a:pPr eaLnBrk="1" hangingPunct="1">
              <a:lnSpc>
                <a:spcPct val="90000"/>
              </a:lnSpc>
            </a:pPr>
            <a:r>
              <a:rPr lang="zh-CN" altLang="en-US"/>
              <a:t>算法</a:t>
            </a:r>
            <a:r>
              <a:rPr lang="en-US" altLang="zh-CN"/>
              <a:t>6.1</a:t>
            </a:r>
            <a:r>
              <a:rPr lang="zh-CN" altLang="en-US"/>
              <a:t>，使用</a:t>
            </a:r>
            <a:r>
              <a:rPr lang="en-US" altLang="zh-CN"/>
              <a:t>s=find(m)</a:t>
            </a:r>
            <a:r>
              <a:rPr lang="zh-CN" altLang="en-US"/>
              <a:t>和</a:t>
            </a:r>
            <a:r>
              <a:rPr lang="en-US" altLang="zh-CN"/>
              <a:t>t=find(n)</a:t>
            </a:r>
            <a:endParaRPr lang="en-US" altLang="zh-CN"/>
          </a:p>
          <a:p>
            <a:pPr lvl="1" eaLnBrk="1" hangingPunct="1">
              <a:lnSpc>
                <a:spcPct val="90000"/>
              </a:lnSpc>
            </a:pPr>
            <a:r>
              <a:rPr lang="en-US" altLang="zh-CN"/>
              <a:t>s</a:t>
            </a:r>
            <a:r>
              <a:rPr lang="zh-CN" altLang="en-US"/>
              <a:t>、</a:t>
            </a:r>
            <a:r>
              <a:rPr lang="en-US" altLang="zh-CN"/>
              <a:t>t</a:t>
            </a:r>
            <a:r>
              <a:rPr lang="zh-CN" altLang="en-US"/>
              <a:t>相等</a:t>
            </a:r>
            <a:r>
              <a:rPr lang="zh-CN" altLang="en-US">
                <a:sym typeface="Wingdings" panose="05000000000000000000" pitchFamily="2" charset="2"/>
              </a:rPr>
              <a:t></a:t>
            </a:r>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已在相同等价类中</a:t>
            </a:r>
            <a:endParaRPr lang="zh-CN" altLang="en-US">
              <a:sym typeface="Wingdings" panose="05000000000000000000" pitchFamily="2" charset="2"/>
            </a:endParaRP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为相同基本类型返回真</a:t>
            </a:r>
            <a:endParaRPr lang="zh-CN" altLang="en-US">
              <a:sym typeface="Wingdings" panose="05000000000000000000" pitchFamily="2" charset="2"/>
            </a:endParaRP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为相同类型操作符合并两个等价类，继续递归检查他们孩子结点等价性</a:t>
            </a:r>
            <a:endParaRPr lang="zh-CN" altLang="en-US">
              <a:sym typeface="Wingdings" panose="05000000000000000000" pitchFamily="2" charset="2"/>
            </a:endParaRP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其中一个为变量合并，类型操作符或基本类型成为代表结点变量不会与两个不同的表达式合一</a:t>
            </a:r>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zh-CN" altLang="en-US"/>
              <a:t>例</a:t>
            </a:r>
            <a:r>
              <a:rPr lang="en-US" altLang="zh-CN"/>
              <a:t>6.14</a:t>
            </a:r>
            <a:endParaRPr lang="en-US" altLang="zh-CN"/>
          </a:p>
        </p:txBody>
      </p:sp>
      <p:sp>
        <p:nvSpPr>
          <p:cNvPr id="100355" name="Rectangle 3"/>
          <p:cNvSpPr>
            <a:spLocks noGrp="1" noChangeArrowheads="1"/>
          </p:cNvSpPr>
          <p:nvPr>
            <p:ph type="body" idx="1"/>
          </p:nvPr>
        </p:nvSpPr>
        <p:spPr/>
        <p:txBody>
          <a:bodyPr/>
          <a:lstStyle/>
          <a:p>
            <a:pPr eaLnBrk="1" hangingPunct="1"/>
            <a:r>
              <a:rPr lang="zh-CN" altLang="en-US" dirty="0"/>
              <a:t>考虑例</a:t>
            </a:r>
            <a:r>
              <a:rPr lang="en-US" altLang="zh-CN" dirty="0"/>
              <a:t>6.13</a:t>
            </a:r>
            <a:r>
              <a:rPr lang="zh-CN" altLang="en-US" dirty="0"/>
              <a:t>的表达式，初始</a:t>
            </a:r>
            <a:r>
              <a:rPr lang="en-US" altLang="zh-CN" dirty="0" err="1"/>
              <a:t>dag</a:t>
            </a:r>
            <a:r>
              <a:rPr lang="zh-CN" altLang="en-US" dirty="0"/>
              <a:t>为</a:t>
            </a:r>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zh-CN" altLang="en-US" dirty="0"/>
              <a:t>合一过程</a:t>
            </a:r>
            <a:endParaRPr lang="zh-CN" altLang="en-US" dirty="0"/>
          </a:p>
          <a:p>
            <a:pPr eaLnBrk="1" hangingPunct="1">
              <a:buFont typeface="Wingdings" panose="05000000000000000000" pitchFamily="2" charset="2"/>
              <a:buNone/>
            </a:pPr>
            <a:r>
              <a:rPr lang="en-US" altLang="zh-CN" sz="2400" dirty="0">
                <a:solidFill>
                  <a:srgbClr val="3333CC"/>
                </a:solidFill>
              </a:rPr>
              <a:t>unify(1, 9)</a:t>
            </a:r>
            <a:r>
              <a:rPr lang="zh-CN" altLang="en-US" sz="2400" dirty="0">
                <a:solidFill>
                  <a:srgbClr val="3333CC"/>
                </a:solidFill>
              </a:rPr>
              <a:t>：相同操作符，合并，</a:t>
            </a:r>
            <a:r>
              <a:rPr lang="en-US" altLang="zh-CN" sz="2400" dirty="0">
                <a:solidFill>
                  <a:srgbClr val="3333CC"/>
                </a:solidFill>
              </a:rPr>
              <a:t>unify(2, 10), unify(8, 14)</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unify(2, 10)</a:t>
            </a:r>
            <a:r>
              <a:rPr lang="zh-CN" altLang="en-US" sz="2400" dirty="0">
                <a:solidFill>
                  <a:srgbClr val="3333CC"/>
                </a:solidFill>
              </a:rPr>
              <a:t>：相同操作符，合并，</a:t>
            </a:r>
            <a:r>
              <a:rPr lang="en-US" altLang="zh-CN" sz="2400" dirty="0">
                <a:solidFill>
                  <a:srgbClr val="3333CC"/>
                </a:solidFill>
              </a:rPr>
              <a:t>unify(3, 11), unify(6, 13)</a:t>
            </a:r>
            <a:endParaRPr lang="en-US" altLang="zh-CN" sz="2400" dirty="0">
              <a:solidFill>
                <a:srgbClr val="3333CC"/>
              </a:solidFill>
            </a:endParaRPr>
          </a:p>
        </p:txBody>
      </p:sp>
      <p:pic>
        <p:nvPicPr>
          <p:cNvPr id="100356" name="Picture 4" descr="unify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2125" y="1828800"/>
            <a:ext cx="815975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CN" altLang="en-US"/>
              <a:t>例</a:t>
            </a:r>
            <a:r>
              <a:rPr lang="en-US" altLang="zh-CN"/>
              <a:t>6.14</a:t>
            </a:r>
            <a:r>
              <a:rPr lang="zh-CN" altLang="en-US"/>
              <a:t>（续）</a:t>
            </a:r>
            <a:endParaRPr lang="zh-CN" altLang="en-US"/>
          </a:p>
        </p:txBody>
      </p:sp>
      <p:sp>
        <p:nvSpPr>
          <p:cNvPr id="101379" name="Rectangle 3"/>
          <p:cNvSpPr>
            <a:spLocks noGrp="1" noChangeArrowheads="1"/>
          </p:cNvSpPr>
          <p:nvPr>
            <p:ph type="body" idx="1"/>
          </p:nvPr>
        </p:nvSpPr>
        <p:spPr>
          <a:xfrm>
            <a:off x="1182688" y="3429000"/>
            <a:ext cx="7772400" cy="3200400"/>
          </a:xfrm>
        </p:spPr>
        <p:txBody>
          <a:bodyPr/>
          <a:lstStyle/>
          <a:p>
            <a:pPr marL="342900" marR="0" lvl="0" indent="-34290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Char char="m"/>
              <a:defRPr/>
            </a:pPr>
            <a:r>
              <a:rPr kumimoji="1" lang="zh-CN" altLang="en-US" sz="3200" b="0" i="0" u="none" strike="noStrike" kern="0" cap="none" spc="0" normalizeH="0" baseline="0" noProof="0" dirty="0">
                <a:ln>
                  <a:noFill/>
                </a:ln>
                <a:solidFill>
                  <a:srgbClr val="000000"/>
                </a:solidFill>
                <a:effectLst/>
                <a:uLnTx/>
                <a:uFillTx/>
                <a:latin typeface="Times New Roman" panose="02020803070505020304"/>
                <a:ea typeface="宋体"/>
                <a:cs typeface="+mn-cs"/>
              </a:rPr>
              <a:t>合一过程</a:t>
            </a:r>
            <a:endParaRPr kumimoji="1" lang="zh-CN" altLang="en-US" sz="3200" b="0" i="0" u="none" strike="noStrike" kern="0" cap="none" spc="0" normalizeH="0" baseline="0" noProof="0" dirty="0">
              <a:ln>
                <a:noFill/>
              </a:ln>
              <a:solidFill>
                <a:srgbClr val="000000"/>
              </a:solidFill>
              <a:effectLst/>
              <a:uLnTx/>
              <a:uFillTx/>
              <a:latin typeface="Times New Roman" panose="02020803070505020304"/>
              <a:ea typeface="宋体"/>
              <a:cs typeface="+mn-cs"/>
            </a:endParaRPr>
          </a:p>
          <a:p>
            <a:pPr eaLnBrk="1" hangingPunct="1">
              <a:buFont typeface="Wingdings" panose="05000000000000000000" pitchFamily="2" charset="2"/>
              <a:buNone/>
            </a:pPr>
            <a:r>
              <a:rPr lang="en-US" altLang="zh-CN" sz="2400" dirty="0">
                <a:solidFill>
                  <a:srgbClr val="3333CC"/>
                </a:solidFill>
              </a:rPr>
              <a:t>unify(1, 9)</a:t>
            </a:r>
            <a:r>
              <a:rPr lang="zh-CN" altLang="en-US" sz="2400" dirty="0">
                <a:solidFill>
                  <a:srgbClr val="3333CC"/>
                </a:solidFill>
              </a:rPr>
              <a:t>：相同操作符，合并，</a:t>
            </a:r>
            <a:r>
              <a:rPr lang="en-US" altLang="zh-CN" sz="2400" dirty="0">
                <a:solidFill>
                  <a:srgbClr val="3333CC"/>
                </a:solidFill>
              </a:rPr>
              <a:t>unify(2, 10), unify(8, 14)</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unify(2, 10)</a:t>
            </a:r>
            <a:r>
              <a:rPr lang="zh-CN" altLang="en-US" sz="2400" dirty="0">
                <a:solidFill>
                  <a:srgbClr val="3333CC"/>
                </a:solidFill>
              </a:rPr>
              <a:t>：相同操作符，合并，</a:t>
            </a:r>
            <a:r>
              <a:rPr lang="en-US" altLang="zh-CN" sz="2400" dirty="0">
                <a:solidFill>
                  <a:srgbClr val="3333CC"/>
                </a:solidFill>
              </a:rPr>
              <a:t>unify(3, 11), unify(6, 13)</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unify(3, 11)</a:t>
            </a:r>
            <a:r>
              <a:rPr lang="zh-CN" altLang="en-US" sz="2400" dirty="0">
                <a:solidFill>
                  <a:srgbClr val="3333CC"/>
                </a:solidFill>
              </a:rPr>
              <a:t>：相同操作符，合并，</a:t>
            </a:r>
            <a:r>
              <a:rPr lang="en-US" altLang="zh-CN" sz="2400" dirty="0">
                <a:solidFill>
                  <a:srgbClr val="3333CC"/>
                </a:solidFill>
              </a:rPr>
              <a:t>unify(4, 7), unify(5, 12)</a:t>
            </a:r>
            <a:endParaRPr lang="en-US" altLang="zh-CN"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unify(4, 7)</a:t>
            </a:r>
            <a:r>
              <a:rPr lang="zh-CN" altLang="en-US" sz="2400" dirty="0">
                <a:solidFill>
                  <a:srgbClr val="3333CC"/>
                </a:solidFill>
              </a:rPr>
              <a:t>：两个变量，合并，</a:t>
            </a:r>
            <a:r>
              <a:rPr lang="en-US" altLang="zh-CN" sz="2400" dirty="0">
                <a:solidFill>
                  <a:srgbClr val="3333CC"/>
                </a:solidFill>
                <a:latin typeface="Symbol" panose="05050102010706020507" pitchFamily="18" charset="2"/>
              </a:rPr>
              <a:t>4</a:t>
            </a:r>
            <a:r>
              <a:rPr lang="zh-CN" altLang="en-US" sz="2400" dirty="0">
                <a:solidFill>
                  <a:srgbClr val="3333CC"/>
                </a:solidFill>
              </a:rPr>
              <a:t>作为代表结点，返回真</a:t>
            </a:r>
            <a:endParaRPr lang="zh-CN" altLang="en-US"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unify(5, 12)</a:t>
            </a:r>
            <a:r>
              <a:rPr lang="zh-CN" altLang="en-US" sz="2400" dirty="0">
                <a:solidFill>
                  <a:srgbClr val="3333CC"/>
                </a:solidFill>
              </a:rPr>
              <a:t>：两个变量，合并，</a:t>
            </a:r>
            <a:r>
              <a:rPr lang="en-US" altLang="zh-CN" sz="2400" dirty="0">
                <a:solidFill>
                  <a:srgbClr val="3333CC"/>
                </a:solidFill>
                <a:latin typeface="Symbol" panose="05050102010706020507" pitchFamily="18" charset="2"/>
              </a:rPr>
              <a:t>5</a:t>
            </a:r>
            <a:r>
              <a:rPr lang="zh-CN" altLang="en-US" sz="2400" dirty="0">
                <a:solidFill>
                  <a:srgbClr val="3333CC"/>
                </a:solidFill>
              </a:rPr>
              <a:t>作为代表结点，返回真</a:t>
            </a:r>
            <a:endParaRPr lang="zh-CN" altLang="en-US" sz="2400" dirty="0">
              <a:solidFill>
                <a:srgbClr val="3333CC"/>
              </a:solidFill>
            </a:endParaRPr>
          </a:p>
          <a:p>
            <a:pPr eaLnBrk="1" hangingPunct="1">
              <a:buFont typeface="Wingdings" panose="05000000000000000000" pitchFamily="2" charset="2"/>
              <a:buNone/>
            </a:pPr>
            <a:r>
              <a:rPr lang="en-US" altLang="zh-CN" sz="2400" dirty="0">
                <a:solidFill>
                  <a:srgbClr val="3333CC"/>
                </a:solidFill>
              </a:rPr>
              <a:t>unify(3, 11)</a:t>
            </a:r>
            <a:r>
              <a:rPr lang="zh-CN" altLang="en-US" sz="2400" dirty="0">
                <a:solidFill>
                  <a:srgbClr val="3333CC"/>
                </a:solidFill>
              </a:rPr>
              <a:t>为真，</a:t>
            </a:r>
            <a:r>
              <a:rPr lang="en-US" altLang="zh-CN" sz="2400" dirty="0">
                <a:solidFill>
                  <a:srgbClr val="3333CC"/>
                </a:solidFill>
              </a:rPr>
              <a:t>3</a:t>
            </a:r>
            <a:r>
              <a:rPr lang="zh-CN" altLang="en-US" sz="2400" dirty="0">
                <a:solidFill>
                  <a:srgbClr val="3333CC"/>
                </a:solidFill>
              </a:rPr>
              <a:t>作为代表结点</a:t>
            </a:r>
            <a:endParaRPr lang="zh-CN" altLang="en-US" sz="2400" dirty="0">
              <a:solidFill>
                <a:srgbClr val="3333CC"/>
              </a:solidFill>
            </a:endParaRPr>
          </a:p>
        </p:txBody>
      </p:sp>
      <p:pic>
        <p:nvPicPr>
          <p:cNvPr id="101380" name="Picture 5" descr="unify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0938" y="1340768"/>
            <a:ext cx="7343775" cy="200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CN" altLang="en-US"/>
              <a:t>例</a:t>
            </a:r>
            <a:r>
              <a:rPr lang="en-US" altLang="zh-CN"/>
              <a:t>6.14</a:t>
            </a:r>
            <a:r>
              <a:rPr lang="zh-CN" altLang="en-US"/>
              <a:t>（续）</a:t>
            </a:r>
            <a:endParaRPr lang="zh-CN" altLang="en-US"/>
          </a:p>
        </p:txBody>
      </p:sp>
      <p:sp>
        <p:nvSpPr>
          <p:cNvPr id="102403" name="Rectangle 3"/>
          <p:cNvSpPr>
            <a:spLocks noGrp="1" noChangeArrowheads="1"/>
          </p:cNvSpPr>
          <p:nvPr>
            <p:ph type="body" idx="1"/>
          </p:nvPr>
        </p:nvSpPr>
        <p:spPr>
          <a:xfrm>
            <a:off x="1182688" y="3810000"/>
            <a:ext cx="7772400" cy="2819400"/>
          </a:xfrm>
        </p:spPr>
        <p:txBody>
          <a:bodyPr/>
          <a:lstStyle/>
          <a:p>
            <a:pPr eaLnBrk="1" hangingPunct="1">
              <a:buFont typeface="Wingdings" panose="05000000000000000000" pitchFamily="2" charset="2"/>
              <a:buNone/>
            </a:pPr>
            <a:r>
              <a:rPr lang="en-US" altLang="zh-CN" sz="2400">
                <a:solidFill>
                  <a:srgbClr val="3333CC"/>
                </a:solidFill>
              </a:rPr>
              <a:t>unify(6, 13)</a:t>
            </a:r>
            <a:r>
              <a:rPr lang="zh-CN" altLang="en-US" sz="2400">
                <a:solidFill>
                  <a:srgbClr val="3333CC"/>
                </a:solidFill>
              </a:rPr>
              <a:t>：相同操作符，合并，</a:t>
            </a:r>
            <a:r>
              <a:rPr lang="en-US" altLang="zh-CN" sz="2400">
                <a:solidFill>
                  <a:srgbClr val="3333CC"/>
                </a:solidFill>
              </a:rPr>
              <a:t>unify(4, 4)—</a:t>
            </a:r>
            <a:r>
              <a:rPr lang="zh-CN" altLang="en-US" sz="2400">
                <a:solidFill>
                  <a:srgbClr val="3333CC"/>
                </a:solidFill>
              </a:rPr>
              <a:t>真</a:t>
            </a:r>
            <a:r>
              <a:rPr lang="zh-CN" altLang="en-US" sz="2400">
                <a:solidFill>
                  <a:srgbClr val="3333CC"/>
                </a:solidFill>
                <a:sym typeface="Wingdings" panose="05000000000000000000" pitchFamily="2" charset="2"/>
              </a:rPr>
              <a:t></a:t>
            </a:r>
            <a:r>
              <a:rPr lang="en-US" altLang="zh-CN" sz="2400">
                <a:solidFill>
                  <a:srgbClr val="3333CC"/>
                </a:solidFill>
              </a:rPr>
              <a:t>unify(6,13)</a:t>
            </a:r>
            <a:r>
              <a:rPr lang="zh-CN" altLang="en-US" sz="2400">
                <a:solidFill>
                  <a:srgbClr val="3333CC"/>
                </a:solidFill>
              </a:rPr>
              <a:t>为真，</a:t>
            </a:r>
            <a:r>
              <a:rPr lang="en-US" altLang="zh-CN" sz="2400">
                <a:solidFill>
                  <a:srgbClr val="3333CC"/>
                </a:solidFill>
              </a:rPr>
              <a:t>6</a:t>
            </a:r>
            <a:r>
              <a:rPr lang="zh-CN" altLang="en-US" sz="2400">
                <a:solidFill>
                  <a:srgbClr val="3333CC"/>
                </a:solidFill>
              </a:rPr>
              <a:t>作为代表结点</a:t>
            </a:r>
            <a:br>
              <a:rPr lang="zh-CN" altLang="en-US" sz="2400">
                <a:solidFill>
                  <a:srgbClr val="3333CC"/>
                </a:solidFill>
              </a:rPr>
            </a:br>
            <a:r>
              <a:rPr lang="zh-CN" altLang="en-US" sz="2400">
                <a:solidFill>
                  <a:srgbClr val="3333CC"/>
                </a:solidFill>
                <a:sym typeface="Wingdings" panose="05000000000000000000" pitchFamily="2" charset="2"/>
              </a:rPr>
              <a:t></a:t>
            </a:r>
            <a:r>
              <a:rPr lang="en-US" altLang="zh-CN" sz="2400">
                <a:solidFill>
                  <a:srgbClr val="3333CC"/>
                </a:solidFill>
                <a:sym typeface="Wingdings" panose="05000000000000000000" pitchFamily="2" charset="2"/>
              </a:rPr>
              <a:t>unify(2, 10)</a:t>
            </a:r>
            <a:r>
              <a:rPr lang="zh-CN" altLang="en-US" sz="2400">
                <a:solidFill>
                  <a:srgbClr val="3333CC"/>
                </a:solidFill>
                <a:sym typeface="Wingdings" panose="05000000000000000000" pitchFamily="2" charset="2"/>
              </a:rPr>
              <a:t>为真，</a:t>
            </a:r>
            <a:r>
              <a:rPr lang="en-US" altLang="zh-CN" sz="2400">
                <a:solidFill>
                  <a:srgbClr val="3333CC"/>
                </a:solidFill>
                <a:sym typeface="Wingdings" panose="05000000000000000000" pitchFamily="2" charset="2"/>
              </a:rPr>
              <a:t>2</a:t>
            </a:r>
            <a:r>
              <a:rPr lang="zh-CN" altLang="en-US" sz="2400">
                <a:solidFill>
                  <a:srgbClr val="3333CC"/>
                </a:solidFill>
                <a:sym typeface="Wingdings" panose="05000000000000000000" pitchFamily="2" charset="2"/>
              </a:rPr>
              <a:t>作为代表结点</a:t>
            </a:r>
            <a:endParaRPr lang="zh-CN" altLang="en-US" sz="2400">
              <a:solidFill>
                <a:srgbClr val="3333CC"/>
              </a:solidFill>
            </a:endParaRPr>
          </a:p>
          <a:p>
            <a:pPr eaLnBrk="1" hangingPunct="1">
              <a:buFont typeface="Wingdings" panose="05000000000000000000" pitchFamily="2" charset="2"/>
              <a:buNone/>
            </a:pPr>
            <a:r>
              <a:rPr lang="en-US" altLang="zh-CN" sz="2400">
                <a:solidFill>
                  <a:srgbClr val="3333CC"/>
                </a:solidFill>
              </a:rPr>
              <a:t>unify(8, 14)</a:t>
            </a:r>
            <a:r>
              <a:rPr lang="zh-CN" altLang="en-US" sz="2400">
                <a:solidFill>
                  <a:srgbClr val="3333CC"/>
                </a:solidFill>
              </a:rPr>
              <a:t>：一个变量，合并，</a:t>
            </a:r>
            <a:r>
              <a:rPr lang="en-US" altLang="zh-CN" sz="2400">
                <a:solidFill>
                  <a:srgbClr val="3333CC"/>
                </a:solidFill>
              </a:rPr>
              <a:t>8</a:t>
            </a:r>
            <a:r>
              <a:rPr lang="zh-CN" altLang="en-US" sz="2400">
                <a:solidFill>
                  <a:srgbClr val="3333CC"/>
                </a:solidFill>
              </a:rPr>
              <a:t>作为代表结点，返回真</a:t>
            </a:r>
            <a:endParaRPr lang="zh-CN" altLang="en-US" sz="2400">
              <a:solidFill>
                <a:srgbClr val="3333CC"/>
              </a:solidFill>
            </a:endParaRPr>
          </a:p>
          <a:p>
            <a:pPr eaLnBrk="1" hangingPunct="1">
              <a:buFont typeface="Wingdings" panose="05000000000000000000" pitchFamily="2" charset="2"/>
              <a:buNone/>
            </a:pPr>
            <a:r>
              <a:rPr lang="zh-CN" altLang="en-US" sz="2400">
                <a:solidFill>
                  <a:srgbClr val="3333CC"/>
                </a:solidFill>
                <a:sym typeface="Wingdings" panose="05000000000000000000" pitchFamily="2" charset="2"/>
              </a:rPr>
              <a:t></a:t>
            </a:r>
            <a:r>
              <a:rPr lang="en-US" altLang="zh-CN" sz="2400">
                <a:solidFill>
                  <a:srgbClr val="3333CC"/>
                </a:solidFill>
              </a:rPr>
              <a:t>unify(1, 9)</a:t>
            </a:r>
            <a:r>
              <a:rPr lang="zh-CN" altLang="en-US" sz="2400">
                <a:solidFill>
                  <a:srgbClr val="3333CC"/>
                </a:solidFill>
              </a:rPr>
              <a:t>为真，</a:t>
            </a:r>
            <a:r>
              <a:rPr lang="en-US" altLang="zh-CN" sz="2400">
                <a:solidFill>
                  <a:srgbClr val="3333CC"/>
                </a:solidFill>
              </a:rPr>
              <a:t>1</a:t>
            </a:r>
            <a:r>
              <a:rPr lang="zh-CN" altLang="en-US" sz="2400">
                <a:solidFill>
                  <a:srgbClr val="3333CC"/>
                </a:solidFill>
              </a:rPr>
              <a:t>作为代表结点</a:t>
            </a:r>
            <a:endParaRPr lang="zh-CN" altLang="en-US" sz="2400">
              <a:solidFill>
                <a:srgbClr val="3333CC"/>
              </a:solidFill>
            </a:endParaRPr>
          </a:p>
        </p:txBody>
      </p:sp>
      <p:pic>
        <p:nvPicPr>
          <p:cNvPr id="102404" name="Picture 6" descr="unify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447800"/>
            <a:ext cx="81597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zh-CN" altLang="en-US"/>
              <a:t>例</a:t>
            </a:r>
            <a:r>
              <a:rPr lang="en-US" altLang="zh-CN"/>
              <a:t>6.14</a:t>
            </a:r>
            <a:r>
              <a:rPr lang="zh-CN" altLang="en-US"/>
              <a:t>（续）</a:t>
            </a:r>
            <a:endParaRPr lang="zh-CN" altLang="en-US"/>
          </a:p>
        </p:txBody>
      </p:sp>
      <p:sp>
        <p:nvSpPr>
          <p:cNvPr id="103427" name="Rectangle 5"/>
          <p:cNvSpPr>
            <a:spLocks noGrp="1" noChangeArrowheads="1"/>
          </p:cNvSpPr>
          <p:nvPr>
            <p:ph type="body" idx="1"/>
          </p:nvPr>
        </p:nvSpPr>
        <p:spPr>
          <a:xfrm>
            <a:off x="1182688" y="1371600"/>
            <a:ext cx="7772400" cy="609600"/>
          </a:xfrm>
        </p:spPr>
        <p:txBody>
          <a:bodyPr/>
          <a:lstStyle/>
          <a:p>
            <a:pPr eaLnBrk="1" hangingPunct="1">
              <a:buFont typeface="Wingdings" panose="05000000000000000000" pitchFamily="2" charset="2"/>
              <a:buNone/>
            </a:pPr>
            <a:r>
              <a:rPr lang="zh-CN" altLang="en-US">
                <a:solidFill>
                  <a:srgbClr val="FF3300"/>
                </a:solidFill>
              </a:rPr>
              <a:t>最终结果</a:t>
            </a:r>
            <a:endParaRPr lang="zh-CN" altLang="en-US">
              <a:solidFill>
                <a:srgbClr val="FF3300"/>
              </a:solidFill>
            </a:endParaRPr>
          </a:p>
        </p:txBody>
      </p:sp>
      <p:pic>
        <p:nvPicPr>
          <p:cNvPr id="103428" name="Picture 6" descr="unif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565400"/>
            <a:ext cx="85502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a:t>构造合一代换</a:t>
            </a:r>
            <a:endParaRPr lang="zh-CN" altLang="en-US"/>
          </a:p>
        </p:txBody>
      </p:sp>
      <p:sp>
        <p:nvSpPr>
          <p:cNvPr id="104451" name="Rectangle 3"/>
          <p:cNvSpPr>
            <a:spLocks noGrp="1" noChangeArrowheads="1"/>
          </p:cNvSpPr>
          <p:nvPr>
            <p:ph type="body" idx="1"/>
          </p:nvPr>
        </p:nvSpPr>
        <p:spPr/>
        <p:txBody>
          <a:bodyPr/>
          <a:lstStyle/>
          <a:p>
            <a:pPr eaLnBrk="1" hangingPunct="1"/>
            <a:r>
              <a:rPr lang="zh-CN" altLang="en-US"/>
              <a:t>算法</a:t>
            </a:r>
            <a:r>
              <a:rPr lang="en-US" altLang="zh-CN"/>
              <a:t>6.1</a:t>
            </a:r>
            <a:r>
              <a:rPr lang="zh-CN" altLang="en-US"/>
              <a:t>最终得到的类型图中，每个结点</a:t>
            </a:r>
            <a:r>
              <a:rPr lang="en-US" altLang="zh-CN"/>
              <a:t>n</a:t>
            </a:r>
            <a:r>
              <a:rPr lang="zh-CN" altLang="en-US"/>
              <a:t>表示与</a:t>
            </a:r>
            <a:r>
              <a:rPr lang="en-US" altLang="zh-CN"/>
              <a:t>find(n)</a:t>
            </a:r>
            <a:r>
              <a:rPr lang="zh-CN" altLang="en-US"/>
              <a:t>相关联的类型表达式</a:t>
            </a:r>
            <a:endParaRPr lang="zh-CN" altLang="en-US"/>
          </a:p>
          <a:p>
            <a:pPr eaLnBrk="1" hangingPunct="1"/>
            <a:r>
              <a:rPr lang="zh-CN" altLang="en-US"/>
              <a:t>对每个变量</a:t>
            </a:r>
            <a:r>
              <a:rPr lang="en-US" altLang="zh-CN">
                <a:latin typeface="Symbol" panose="05050102010706020507" pitchFamily="18" charset="2"/>
              </a:rPr>
              <a:t>a</a:t>
            </a:r>
            <a:r>
              <a:rPr lang="zh-CN" altLang="en-US"/>
              <a:t>，</a:t>
            </a:r>
            <a:r>
              <a:rPr lang="en-US" altLang="zh-CN"/>
              <a:t>find(</a:t>
            </a:r>
            <a:r>
              <a:rPr lang="en-US" altLang="zh-CN">
                <a:latin typeface="Symbol" panose="05050102010706020507" pitchFamily="18" charset="2"/>
              </a:rPr>
              <a:t>a</a:t>
            </a:r>
            <a:r>
              <a:rPr lang="en-US" altLang="zh-CN"/>
              <a:t>)</a:t>
            </a:r>
            <a:r>
              <a:rPr lang="zh-CN" altLang="en-US"/>
              <a:t>表示</a:t>
            </a:r>
            <a:r>
              <a:rPr lang="en-US" altLang="zh-CN">
                <a:latin typeface="Symbol" panose="05050102010706020507" pitchFamily="18" charset="2"/>
              </a:rPr>
              <a:t>a</a:t>
            </a:r>
            <a:r>
              <a:rPr lang="zh-CN" altLang="en-US"/>
              <a:t>的等价类的代表结点</a:t>
            </a:r>
            <a:r>
              <a:rPr lang="en-US" altLang="zh-CN"/>
              <a:t>n</a:t>
            </a:r>
            <a:endParaRPr lang="en-US" altLang="zh-CN"/>
          </a:p>
          <a:p>
            <a:pPr eaLnBrk="1" hangingPunct="1"/>
            <a:r>
              <a:rPr lang="zh-CN" altLang="en-US"/>
              <a:t>因此，</a:t>
            </a:r>
            <a:r>
              <a:rPr lang="en-US" altLang="zh-CN"/>
              <a:t>n</a:t>
            </a:r>
            <a:r>
              <a:rPr lang="zh-CN" altLang="en-US"/>
              <a:t>表示的表达式实际上就是</a:t>
            </a:r>
            <a:r>
              <a:rPr lang="en-US" altLang="zh-CN"/>
              <a:t>S(</a:t>
            </a:r>
            <a:r>
              <a:rPr lang="en-US" altLang="zh-CN">
                <a:latin typeface="Symbol" panose="05050102010706020507" pitchFamily="18" charset="2"/>
              </a:rPr>
              <a:t>a</a:t>
            </a:r>
            <a:r>
              <a:rPr lang="en-US" altLang="zh-CN"/>
              <a:t>)</a:t>
            </a:r>
            <a:endParaRPr lang="en-US" altLang="zh-CN"/>
          </a:p>
          <a:p>
            <a:pPr eaLnBrk="1" hangingPunct="1"/>
            <a:r>
              <a:rPr lang="zh-CN" altLang="en-US"/>
              <a:t>如上例</a:t>
            </a:r>
            <a:endParaRPr lang="zh-CN" altLang="en-US"/>
          </a:p>
          <a:p>
            <a:pPr lvl="1" eaLnBrk="1" hangingPunct="1"/>
            <a:r>
              <a:rPr lang="en-US" altLang="zh-CN">
                <a:latin typeface="Symbol" panose="05050102010706020507" pitchFamily="18" charset="2"/>
              </a:rPr>
              <a:t>a</a:t>
            </a:r>
            <a:r>
              <a:rPr lang="en-US" altLang="zh-CN" baseline="-25000"/>
              <a:t>3</a:t>
            </a:r>
            <a:r>
              <a:rPr lang="zh-CN" altLang="en-US"/>
              <a:t>的代表结点为</a:t>
            </a:r>
            <a:r>
              <a:rPr lang="en-US" altLang="zh-CN"/>
              <a:t>4</a:t>
            </a:r>
            <a:r>
              <a:rPr lang="zh-CN" altLang="en-US"/>
              <a:t>，表示</a:t>
            </a:r>
            <a:r>
              <a:rPr lang="en-US" altLang="zh-CN">
                <a:latin typeface="Symbol" panose="05050102010706020507" pitchFamily="18" charset="2"/>
              </a:rPr>
              <a:t>a</a:t>
            </a:r>
            <a:r>
              <a:rPr lang="en-US" altLang="zh-CN" baseline="-25000"/>
              <a:t>1</a:t>
            </a:r>
            <a:endParaRPr lang="en-US" altLang="zh-CN"/>
          </a:p>
          <a:p>
            <a:pPr lvl="1" eaLnBrk="1" hangingPunct="1"/>
            <a:r>
              <a:rPr lang="en-US" altLang="zh-CN">
                <a:latin typeface="Symbol" panose="05050102010706020507" pitchFamily="18" charset="2"/>
              </a:rPr>
              <a:t>a</a:t>
            </a:r>
            <a:r>
              <a:rPr lang="en-US" altLang="zh-CN" baseline="-25000"/>
              <a:t>5</a:t>
            </a:r>
            <a:r>
              <a:rPr lang="zh-CN" altLang="en-US"/>
              <a:t>的代表结点为</a:t>
            </a:r>
            <a:r>
              <a:rPr lang="en-US" altLang="zh-CN"/>
              <a:t>8</a:t>
            </a:r>
            <a:r>
              <a:rPr lang="zh-CN" altLang="en-US"/>
              <a:t>，表示</a:t>
            </a:r>
            <a:r>
              <a:rPr lang="en-US" altLang="zh-CN"/>
              <a:t>list(</a:t>
            </a:r>
            <a:r>
              <a:rPr lang="en-US" altLang="zh-CN">
                <a:latin typeface="Symbol" panose="05050102010706020507" pitchFamily="18" charset="2"/>
              </a:rPr>
              <a:t>a</a:t>
            </a:r>
            <a:r>
              <a:rPr lang="en-US" altLang="zh-CN" baseline="-25000"/>
              <a:t>2</a:t>
            </a:r>
            <a:r>
              <a:rPr lang="en-US" altLang="zh-CN"/>
              <a:t>)</a:t>
            </a:r>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a:t>例</a:t>
            </a:r>
            <a:r>
              <a:rPr lang="en-US" altLang="zh-CN"/>
              <a:t>6.15</a:t>
            </a:r>
            <a:endParaRPr lang="en-US" altLang="zh-CN"/>
          </a:p>
        </p:txBody>
      </p:sp>
      <p:sp>
        <p:nvSpPr>
          <p:cNvPr id="105475" name="Rectangle 3"/>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en-US" altLang="zh-CN"/>
              <a:t>e : real </a:t>
            </a:r>
            <a:r>
              <a:rPr lang="en-US" altLang="zh-CN">
                <a:latin typeface="Symbol" panose="05050102010706020507" pitchFamily="18" charset="2"/>
                <a:sym typeface="Symbol" panose="05050102010706020507" pitchFamily="18" charset="2"/>
              </a:rPr>
              <a:t> </a:t>
            </a:r>
            <a:r>
              <a:rPr lang="en-US" altLang="zh-CN">
                <a:sym typeface="Symbol" panose="05050102010706020507" pitchFamily="18" charset="2"/>
              </a:rPr>
              <a:t>e</a:t>
            </a:r>
            <a:endParaRPr lang="en-US" altLang="zh-CN">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a:sym typeface="Symbol" panose="05050102010706020507" pitchFamily="18" charset="2"/>
              </a:rPr>
              <a:t>f : </a:t>
            </a:r>
            <a:r>
              <a:rPr lang="en-US" altLang="zh-CN"/>
              <a:t> real </a:t>
            </a:r>
            <a:r>
              <a:rPr lang="en-US" altLang="zh-CN">
                <a:latin typeface="Symbol" panose="05050102010706020507" pitchFamily="18" charset="2"/>
                <a:sym typeface="Symbol" panose="05050102010706020507" pitchFamily="18" charset="2"/>
              </a:rPr>
              <a:t> (</a:t>
            </a:r>
            <a:r>
              <a:rPr lang="en-US" altLang="zh-CN"/>
              <a:t>real </a:t>
            </a:r>
            <a:r>
              <a:rPr lang="en-US" altLang="zh-CN">
                <a:latin typeface="Symbol" panose="05050102010706020507" pitchFamily="18" charset="2"/>
                <a:sym typeface="Symbol" panose="05050102010706020507" pitchFamily="18" charset="2"/>
              </a:rPr>
              <a:t></a:t>
            </a:r>
            <a:r>
              <a:rPr lang="en-US" altLang="zh-CN">
                <a:sym typeface="Symbol" panose="05050102010706020507" pitchFamily="18" charset="2"/>
              </a:rPr>
              <a:t> f)</a:t>
            </a:r>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buFont typeface="Wingdings" panose="05000000000000000000" pitchFamily="2" charset="2"/>
              <a:buNone/>
            </a:pPr>
            <a:endParaRPr lang="en-US" altLang="zh-CN" sz="2400">
              <a:solidFill>
                <a:srgbClr val="3333CC"/>
              </a:solidFill>
            </a:endParaRPr>
          </a:p>
          <a:p>
            <a:pPr eaLnBrk="1" hangingPunct="1">
              <a:buFont typeface="Wingdings" panose="05000000000000000000" pitchFamily="2" charset="2"/>
              <a:buNone/>
            </a:pPr>
            <a:r>
              <a:rPr lang="en-US" altLang="zh-CN" sz="2400">
                <a:solidFill>
                  <a:srgbClr val="3333CC"/>
                </a:solidFill>
              </a:rPr>
              <a:t>unify(1, 3)</a:t>
            </a:r>
            <a:r>
              <a:rPr lang="zh-CN" altLang="en-US" sz="2400">
                <a:solidFill>
                  <a:srgbClr val="3333CC"/>
                </a:solidFill>
              </a:rPr>
              <a:t>：相同操作符，合并，</a:t>
            </a:r>
            <a:r>
              <a:rPr lang="en-US" altLang="zh-CN" sz="2400">
                <a:solidFill>
                  <a:srgbClr val="3333CC"/>
                </a:solidFill>
              </a:rPr>
              <a:t>unify(2, 4), unify(1, 5)</a:t>
            </a:r>
            <a:endParaRPr lang="en-US" altLang="zh-CN" sz="2400">
              <a:solidFill>
                <a:srgbClr val="3333CC"/>
              </a:solidFill>
            </a:endParaRPr>
          </a:p>
          <a:p>
            <a:pPr eaLnBrk="1" hangingPunct="1">
              <a:buFont typeface="Wingdings" panose="05000000000000000000" pitchFamily="2" charset="2"/>
              <a:buNone/>
            </a:pPr>
            <a:r>
              <a:rPr lang="en-US" altLang="zh-CN" sz="2400">
                <a:solidFill>
                  <a:srgbClr val="3333CC"/>
                </a:solidFill>
              </a:rPr>
              <a:t>unify(2, 4)</a:t>
            </a:r>
            <a:r>
              <a:rPr lang="zh-CN" altLang="en-US" sz="2400">
                <a:solidFill>
                  <a:srgbClr val="3333CC"/>
                </a:solidFill>
              </a:rPr>
              <a:t>：相同基本类型，合并，返回真</a:t>
            </a:r>
            <a:endParaRPr lang="zh-CN" altLang="en-US" sz="2400">
              <a:solidFill>
                <a:srgbClr val="3333CC"/>
              </a:solidFill>
            </a:endParaRPr>
          </a:p>
        </p:txBody>
      </p:sp>
      <p:pic>
        <p:nvPicPr>
          <p:cNvPr id="105476" name="Picture 4" descr="unify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2590800"/>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a:t>例</a:t>
            </a:r>
            <a:r>
              <a:rPr lang="en-US" altLang="zh-CN"/>
              <a:t>6.15</a:t>
            </a:r>
            <a:r>
              <a:rPr lang="zh-CN" altLang="en-US"/>
              <a:t>（续）</a:t>
            </a:r>
            <a:endParaRPr lang="zh-CN" altLang="en-US"/>
          </a:p>
        </p:txBody>
      </p:sp>
      <p:sp>
        <p:nvSpPr>
          <p:cNvPr id="106499" name="Rectangle 3"/>
          <p:cNvSpPr>
            <a:spLocks noGrp="1" noChangeArrowheads="1"/>
          </p:cNvSpPr>
          <p:nvPr>
            <p:ph type="body" idx="1"/>
          </p:nvPr>
        </p:nvSpPr>
        <p:spPr>
          <a:xfrm>
            <a:off x="1182688" y="3581400"/>
            <a:ext cx="7772400" cy="1066800"/>
          </a:xfrm>
        </p:spPr>
        <p:txBody>
          <a:bodyPr/>
          <a:lstStyle/>
          <a:p>
            <a:pPr eaLnBrk="1" hangingPunct="1">
              <a:lnSpc>
                <a:spcPct val="80000"/>
              </a:lnSpc>
              <a:spcBef>
                <a:spcPct val="10000"/>
              </a:spcBef>
              <a:buFont typeface="Wingdings" panose="05000000000000000000" pitchFamily="2" charset="2"/>
              <a:buNone/>
            </a:pPr>
            <a:r>
              <a:rPr lang="en-US" altLang="zh-CN" sz="2400">
                <a:solidFill>
                  <a:srgbClr val="3333CC"/>
                </a:solidFill>
              </a:rPr>
              <a:t>unify(1, 5)</a:t>
            </a:r>
            <a:r>
              <a:rPr lang="zh-CN" altLang="en-US" sz="2400">
                <a:solidFill>
                  <a:srgbClr val="3333CC"/>
                </a:solidFill>
              </a:rPr>
              <a:t>：相同操作符，合并，</a:t>
            </a:r>
            <a:r>
              <a:rPr lang="en-US" altLang="zh-CN" sz="2400">
                <a:solidFill>
                  <a:srgbClr val="3333CC"/>
                </a:solidFill>
              </a:rPr>
              <a:t>unify(2, 6), unify(1, 1)</a:t>
            </a:r>
            <a:endParaRPr lang="en-US" altLang="zh-CN" sz="2400">
              <a:solidFill>
                <a:srgbClr val="3333CC"/>
              </a:solidFill>
            </a:endParaRPr>
          </a:p>
          <a:p>
            <a:pPr eaLnBrk="1" hangingPunct="1">
              <a:lnSpc>
                <a:spcPct val="80000"/>
              </a:lnSpc>
              <a:spcBef>
                <a:spcPct val="10000"/>
              </a:spcBef>
              <a:buFont typeface="Wingdings" panose="05000000000000000000" pitchFamily="2" charset="2"/>
              <a:buNone/>
            </a:pPr>
            <a:r>
              <a:rPr lang="en-US" altLang="zh-CN" sz="2400">
                <a:solidFill>
                  <a:srgbClr val="3333CC"/>
                </a:solidFill>
              </a:rPr>
              <a:t>unify(2, 6)</a:t>
            </a:r>
            <a:r>
              <a:rPr lang="zh-CN" altLang="en-US" sz="2400">
                <a:solidFill>
                  <a:srgbClr val="3333CC"/>
                </a:solidFill>
              </a:rPr>
              <a:t>：相同基本类型，合并，返回真</a:t>
            </a:r>
            <a:endParaRPr lang="zh-CN" altLang="en-US" sz="2400">
              <a:solidFill>
                <a:srgbClr val="3333CC"/>
              </a:solidFill>
            </a:endParaRPr>
          </a:p>
          <a:p>
            <a:pPr eaLnBrk="1" hangingPunct="1">
              <a:lnSpc>
                <a:spcPct val="80000"/>
              </a:lnSpc>
              <a:spcBef>
                <a:spcPct val="10000"/>
              </a:spcBef>
              <a:buFont typeface="Wingdings" panose="05000000000000000000" pitchFamily="2" charset="2"/>
              <a:buNone/>
            </a:pPr>
            <a:r>
              <a:rPr lang="zh-CN" altLang="en-US" sz="2400">
                <a:solidFill>
                  <a:srgbClr val="3333CC"/>
                </a:solidFill>
                <a:sym typeface="Wingdings" panose="05000000000000000000" pitchFamily="2" charset="2"/>
              </a:rPr>
              <a:t></a:t>
            </a:r>
            <a:r>
              <a:rPr lang="en-US" altLang="zh-CN" sz="2400">
                <a:solidFill>
                  <a:srgbClr val="3333CC"/>
                </a:solidFill>
                <a:sym typeface="Wingdings" panose="05000000000000000000" pitchFamily="2" charset="2"/>
              </a:rPr>
              <a:t>unify(1, 5)</a:t>
            </a:r>
            <a:r>
              <a:rPr lang="zh-CN" altLang="en-US" sz="2400">
                <a:solidFill>
                  <a:srgbClr val="3333CC"/>
                </a:solidFill>
                <a:sym typeface="Wingdings" panose="05000000000000000000" pitchFamily="2" charset="2"/>
              </a:rPr>
              <a:t>为真</a:t>
            </a:r>
            <a:r>
              <a:rPr lang="en-US" altLang="zh-CN" sz="2400">
                <a:solidFill>
                  <a:srgbClr val="3333CC"/>
                </a:solidFill>
                <a:sym typeface="Wingdings" panose="05000000000000000000" pitchFamily="2" charset="2"/>
              </a:rPr>
              <a:t>unify(1, 3)</a:t>
            </a:r>
            <a:r>
              <a:rPr lang="zh-CN" altLang="en-US" sz="2400">
                <a:solidFill>
                  <a:srgbClr val="3333CC"/>
                </a:solidFill>
                <a:sym typeface="Wingdings" panose="05000000000000000000" pitchFamily="2" charset="2"/>
              </a:rPr>
              <a:t>为真</a:t>
            </a:r>
            <a:endParaRPr lang="zh-CN" altLang="en-US" sz="2400">
              <a:solidFill>
                <a:srgbClr val="3333CC"/>
              </a:solidFill>
            </a:endParaRPr>
          </a:p>
        </p:txBody>
      </p:sp>
      <p:pic>
        <p:nvPicPr>
          <p:cNvPr id="106500" name="Picture 5" descr="unify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1266825"/>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Picture 6" descr="unify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572000"/>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3333CC"/>
      </a:accent2>
      <a:accent3>
        <a:srgbClr val="FFFFFF"/>
      </a:accent3>
      <a:accent4>
        <a:srgbClr val="000000"/>
      </a:accent4>
      <a:accent5>
        <a:srgbClr val="AAEFD1"/>
      </a:accent5>
      <a:accent6>
        <a:srgbClr val="2D2DB9"/>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19327</Words>
  <Application>WPS 演示</Application>
  <PresentationFormat>全屏显示(4:3)</PresentationFormat>
  <Paragraphs>1171</Paragraphs>
  <Slides>101</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19</vt:i4>
      </vt:variant>
      <vt:variant>
        <vt:lpstr>幻灯片标题</vt:lpstr>
      </vt:variant>
      <vt:variant>
        <vt:i4>101</vt:i4>
      </vt:variant>
    </vt:vector>
  </HeadingPairs>
  <TitlesOfParts>
    <vt:vector size="139" baseType="lpstr">
      <vt:lpstr>Arial</vt:lpstr>
      <vt:lpstr>宋体</vt:lpstr>
      <vt:lpstr>Wingdings</vt:lpstr>
      <vt:lpstr>Tahoma</vt:lpstr>
      <vt:lpstr>汉仪书宋二KW</vt:lpstr>
      <vt:lpstr>Times New Roman</vt:lpstr>
      <vt:lpstr>微软雅黑</vt:lpstr>
      <vt:lpstr>宋体</vt:lpstr>
      <vt:lpstr>Arial Unicode MS</vt:lpstr>
      <vt:lpstr>Symbol</vt:lpstr>
      <vt:lpstr>Kingsoft Sign</vt:lpstr>
      <vt:lpstr>黑体</vt:lpstr>
      <vt:lpstr>汉仪中黑KW</vt:lpstr>
      <vt:lpstr>Times New Roman</vt:lpstr>
      <vt:lpstr>宋体</vt:lpstr>
      <vt:lpstr>Symbol</vt:lpstr>
      <vt:lpstr>Wingdings</vt:lpstr>
      <vt:lpstr>黑体</vt:lpstr>
      <vt:lpstr>Blends</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第六章  类型检查</vt:lpstr>
      <vt:lpstr>内容</vt:lpstr>
      <vt:lpstr>静态检查（static checking）</vt:lpstr>
      <vt:lpstr>类型检查</vt:lpstr>
      <vt:lpstr>6.1  类型系统</vt:lpstr>
      <vt:lpstr>6.1.1  类型表达式</vt:lpstr>
      <vt:lpstr>类型表达式（续）</vt:lpstr>
      <vt:lpstr>类型表达式（续）</vt:lpstr>
      <vt:lpstr>类型表达式（续）</vt:lpstr>
      <vt:lpstr>图表示类型表达式</vt:lpstr>
      <vt:lpstr>6.1.2  类型系统</vt:lpstr>
      <vt:lpstr>6.1.2静态/动态检查</vt:lpstr>
      <vt:lpstr>6.1.4  错误恢复</vt:lpstr>
      <vt:lpstr>6.2  一个简单的类型检查器</vt:lpstr>
      <vt:lpstr>翻译模式</vt:lpstr>
      <vt:lpstr>6.2.2  表达式类型检查</vt:lpstr>
      <vt:lpstr>6.2.3  语句的类型检查</vt:lpstr>
      <vt:lpstr>6.2.4  函数的类型检查</vt:lpstr>
      <vt:lpstr>类型检查示例</vt:lpstr>
      <vt:lpstr>6.3  类型表达式的等价</vt:lpstr>
      <vt:lpstr>6.3.1  类型表达式的结构等价</vt:lpstr>
      <vt:lpstr>等价性检查算法</vt:lpstr>
      <vt:lpstr>例6.1：编码类型表达式</vt:lpstr>
      <vt:lpstr>例6.1（续）</vt:lpstr>
      <vt:lpstr>例6.1（续）</vt:lpstr>
      <vt:lpstr>例6.1（续）</vt:lpstr>
      <vt:lpstr>6.3.2  名字等价</vt:lpstr>
      <vt:lpstr>例6.2</vt:lpstr>
      <vt:lpstr>例6.3</vt:lpstr>
      <vt:lpstr>例6.3（续）</vt:lpstr>
      <vt:lpstr>6.3.3  回路问题</vt:lpstr>
      <vt:lpstr>回路问题（续）</vt:lpstr>
      <vt:lpstr>例6.4  C语言避免回路</vt:lpstr>
      <vt:lpstr>6.4  类型转换</vt:lpstr>
      <vt:lpstr>强制类型转换（coercion）</vt:lpstr>
      <vt:lpstr>例6.5</vt:lpstr>
      <vt:lpstr>lcc的类型</vt:lpstr>
      <vt:lpstr>类型构造</vt:lpstr>
      <vt:lpstr>类型构造</vt:lpstr>
      <vt:lpstr>指针</vt:lpstr>
      <vt:lpstr>数组</vt:lpstr>
      <vt:lpstr>数组</vt:lpstr>
      <vt:lpstr>结构和联合</vt:lpstr>
      <vt:lpstr>结构和联合</vt:lpstr>
      <vt:lpstr>结构和联合</vt:lpstr>
      <vt:lpstr>结构和联合</vt:lpstr>
      <vt:lpstr>结构和联合</vt:lpstr>
      <vt:lpstr>类型等价</vt:lpstr>
      <vt:lpstr>类型等价</vt:lpstr>
      <vt:lpstr>类型等价</vt:lpstr>
      <vt:lpstr>类型等价</vt:lpstr>
      <vt:lpstr>TinyC的类型检查</vt:lpstr>
      <vt:lpstr>TinyC的类型检查</vt:lpstr>
      <vt:lpstr>TinyC的类型检查</vt:lpstr>
      <vt:lpstr>TinyC的类型检查</vt:lpstr>
      <vt:lpstr>6.5 函数和操作符重载</vt:lpstr>
      <vt:lpstr>6.5.1  子表达式可能类型集合</vt:lpstr>
      <vt:lpstr>可能类型集合情况的处理</vt:lpstr>
      <vt:lpstr>例6.7</vt:lpstr>
      <vt:lpstr>6.5.2  确定唯一类型</vt:lpstr>
      <vt:lpstr>确定唯一类型的语义规则</vt:lpstr>
      <vt:lpstr>6.6  多态（polymorphic）函数</vt:lpstr>
      <vt:lpstr>6.6.1  为什么使用多态函数？</vt:lpstr>
      <vt:lpstr>求任何类型列表长度的ML程序</vt:lpstr>
      <vt:lpstr>6.6.2  类型变量</vt:lpstr>
      <vt:lpstr>例6.8</vt:lpstr>
      <vt:lpstr>例6.9</vt:lpstr>
      <vt:lpstr>6.6.3  包含多态函数的语言</vt:lpstr>
      <vt:lpstr>文法定义</vt:lpstr>
      <vt:lpstr>多态函数类型检查</vt:lpstr>
      <vt:lpstr>类型检查规则的特点</vt:lpstr>
      <vt:lpstr>类型检查规则的特点（二）</vt:lpstr>
      <vt:lpstr>类型检查规则的特点（三）</vt:lpstr>
      <vt:lpstr>6.6.4  代换，实例和合一</vt:lpstr>
      <vt:lpstr>例6.10</vt:lpstr>
      <vt:lpstr>合一方法</vt:lpstr>
      <vt:lpstr>6.6.5  多态函数类型检查</vt:lpstr>
      <vt:lpstr>unify操作</vt:lpstr>
      <vt:lpstr>类型检查规则</vt:lpstr>
      <vt:lpstr>例</vt:lpstr>
      <vt:lpstr>例6.11</vt:lpstr>
      <vt:lpstr>例6.11（续）</vt:lpstr>
      <vt:lpstr>例6.12  ML语言多态函数检查</vt:lpstr>
      <vt:lpstr>例6.12（续）</vt:lpstr>
      <vt:lpstr>例6.12（续）</vt:lpstr>
      <vt:lpstr>例6.12（续）</vt:lpstr>
      <vt:lpstr>例6.12（续）</vt:lpstr>
      <vt:lpstr>6.7  合一算法</vt:lpstr>
      <vt:lpstr>例6.13</vt:lpstr>
      <vt:lpstr>算法思想</vt:lpstr>
      <vt:lpstr>算法6.1  合一算法</vt:lpstr>
      <vt:lpstr>算法6.1（续）</vt:lpstr>
      <vt:lpstr>find和union操作</vt:lpstr>
      <vt:lpstr>算法（续）</vt:lpstr>
      <vt:lpstr>例6.14</vt:lpstr>
      <vt:lpstr>例6.14（续）</vt:lpstr>
      <vt:lpstr>例6.14（续）</vt:lpstr>
      <vt:lpstr>例6.14（续）</vt:lpstr>
      <vt:lpstr>构造合一代换</vt:lpstr>
      <vt:lpstr>例6.15</vt:lpstr>
      <vt:lpstr>例6.15（续）</vt:lpstr>
    </vt:vector>
  </TitlesOfParts>
  <Company>南开大学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介绍</dc:title>
  <dc:creator>王刚</dc:creator>
  <cp:lastModifiedBy>林晖鹏</cp:lastModifiedBy>
  <cp:revision>1454</cp:revision>
  <dcterms:created xsi:type="dcterms:W3CDTF">2025-12-22T01:05:09Z</dcterms:created>
  <dcterms:modified xsi:type="dcterms:W3CDTF">2025-12-22T01:05:09Z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EB6E33CE7ABC641645994869E5AE806E_42</vt:lpwstr>
  </property>
</Properties>
</file>