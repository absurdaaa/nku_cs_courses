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98"/>
  </p:notesMasterIdLst>
  <p:sldIdLst>
    <p:sldId id="256" r:id="rId2"/>
    <p:sldId id="494" r:id="rId3"/>
    <p:sldId id="257" r:id="rId4"/>
    <p:sldId id="259" r:id="rId5"/>
    <p:sldId id="260" r:id="rId6"/>
    <p:sldId id="390" r:id="rId7"/>
    <p:sldId id="261" r:id="rId8"/>
    <p:sldId id="399" r:id="rId9"/>
    <p:sldId id="262" r:id="rId10"/>
    <p:sldId id="263" r:id="rId11"/>
    <p:sldId id="264" r:id="rId12"/>
    <p:sldId id="400" r:id="rId13"/>
    <p:sldId id="375" r:id="rId14"/>
    <p:sldId id="265" r:id="rId15"/>
    <p:sldId id="266" r:id="rId16"/>
    <p:sldId id="470" r:id="rId17"/>
    <p:sldId id="471" r:id="rId18"/>
    <p:sldId id="472" r:id="rId19"/>
    <p:sldId id="473" r:id="rId20"/>
    <p:sldId id="474" r:id="rId21"/>
    <p:sldId id="267" r:id="rId22"/>
    <p:sldId id="401" r:id="rId23"/>
    <p:sldId id="268" r:id="rId24"/>
    <p:sldId id="269" r:id="rId25"/>
    <p:sldId id="402" r:id="rId26"/>
    <p:sldId id="391" r:id="rId27"/>
    <p:sldId id="270" r:id="rId28"/>
    <p:sldId id="403" r:id="rId29"/>
    <p:sldId id="271" r:id="rId30"/>
    <p:sldId id="272" r:id="rId31"/>
    <p:sldId id="404" r:id="rId32"/>
    <p:sldId id="405" r:id="rId33"/>
    <p:sldId id="406" r:id="rId34"/>
    <p:sldId id="273" r:id="rId35"/>
    <p:sldId id="274" r:id="rId36"/>
    <p:sldId id="407" r:id="rId37"/>
    <p:sldId id="275" r:id="rId38"/>
    <p:sldId id="408" r:id="rId39"/>
    <p:sldId id="276" r:id="rId40"/>
    <p:sldId id="277" r:id="rId41"/>
    <p:sldId id="278" r:id="rId42"/>
    <p:sldId id="409" r:id="rId43"/>
    <p:sldId id="279" r:id="rId44"/>
    <p:sldId id="410" r:id="rId45"/>
    <p:sldId id="376" r:id="rId46"/>
    <p:sldId id="475" r:id="rId47"/>
    <p:sldId id="437" r:id="rId48"/>
    <p:sldId id="438" r:id="rId49"/>
    <p:sldId id="439" r:id="rId50"/>
    <p:sldId id="440" r:id="rId51"/>
    <p:sldId id="441" r:id="rId52"/>
    <p:sldId id="442" r:id="rId53"/>
    <p:sldId id="443" r:id="rId54"/>
    <p:sldId id="444" r:id="rId55"/>
    <p:sldId id="445" r:id="rId56"/>
    <p:sldId id="446" r:id="rId57"/>
    <p:sldId id="490" r:id="rId58"/>
    <p:sldId id="491" r:id="rId59"/>
    <p:sldId id="492" r:id="rId60"/>
    <p:sldId id="447" r:id="rId61"/>
    <p:sldId id="448" r:id="rId62"/>
    <p:sldId id="280" r:id="rId63"/>
    <p:sldId id="411" r:id="rId64"/>
    <p:sldId id="281" r:id="rId65"/>
    <p:sldId id="282" r:id="rId66"/>
    <p:sldId id="283" r:id="rId67"/>
    <p:sldId id="386" r:id="rId68"/>
    <p:sldId id="485" r:id="rId69"/>
    <p:sldId id="413" r:id="rId70"/>
    <p:sldId id="284" r:id="rId71"/>
    <p:sldId id="285" r:id="rId72"/>
    <p:sldId id="286" r:id="rId73"/>
    <p:sldId id="287" r:id="rId74"/>
    <p:sldId id="288" r:id="rId75"/>
    <p:sldId id="289" r:id="rId76"/>
    <p:sldId id="290" r:id="rId77"/>
    <p:sldId id="432" r:id="rId78"/>
    <p:sldId id="291" r:id="rId79"/>
    <p:sldId id="483" r:id="rId80"/>
    <p:sldId id="433" r:id="rId81"/>
    <p:sldId id="292" r:id="rId82"/>
    <p:sldId id="434" r:id="rId83"/>
    <p:sldId id="293" r:id="rId84"/>
    <p:sldId id="295" r:id="rId85"/>
    <p:sldId id="296" r:id="rId86"/>
    <p:sldId id="297" r:id="rId87"/>
    <p:sldId id="298" r:id="rId88"/>
    <p:sldId id="299" r:id="rId89"/>
    <p:sldId id="416" r:id="rId90"/>
    <p:sldId id="300" r:id="rId91"/>
    <p:sldId id="495" r:id="rId92"/>
    <p:sldId id="417" r:id="rId93"/>
    <p:sldId id="301" r:id="rId94"/>
    <p:sldId id="302" r:id="rId95"/>
    <p:sldId id="303" r:id="rId96"/>
    <p:sldId id="304" r:id="rId97"/>
    <p:sldId id="305" r:id="rId98"/>
    <p:sldId id="306" r:id="rId99"/>
    <p:sldId id="307" r:id="rId100"/>
    <p:sldId id="308" r:id="rId101"/>
    <p:sldId id="309" r:id="rId102"/>
    <p:sldId id="480" r:id="rId103"/>
    <p:sldId id="482" r:id="rId104"/>
    <p:sldId id="481" r:id="rId105"/>
    <p:sldId id="484" r:id="rId106"/>
    <p:sldId id="449" r:id="rId107"/>
    <p:sldId id="450" r:id="rId108"/>
    <p:sldId id="451" r:id="rId109"/>
    <p:sldId id="452" r:id="rId110"/>
    <p:sldId id="453" r:id="rId111"/>
    <p:sldId id="454" r:id="rId112"/>
    <p:sldId id="455" r:id="rId113"/>
    <p:sldId id="456" r:id="rId114"/>
    <p:sldId id="457" r:id="rId115"/>
    <p:sldId id="458" r:id="rId116"/>
    <p:sldId id="459" r:id="rId117"/>
    <p:sldId id="461" r:id="rId118"/>
    <p:sldId id="463" r:id="rId119"/>
    <p:sldId id="464" r:id="rId120"/>
    <p:sldId id="310" r:id="rId121"/>
    <p:sldId id="468" r:id="rId122"/>
    <p:sldId id="418" r:id="rId123"/>
    <p:sldId id="469" r:id="rId124"/>
    <p:sldId id="397" r:id="rId125"/>
    <p:sldId id="398" r:id="rId126"/>
    <p:sldId id="313" r:id="rId127"/>
    <p:sldId id="314" r:id="rId128"/>
    <p:sldId id="312" r:id="rId129"/>
    <p:sldId id="315" r:id="rId130"/>
    <p:sldId id="419" r:id="rId131"/>
    <p:sldId id="377" r:id="rId132"/>
    <p:sldId id="420" r:id="rId133"/>
    <p:sldId id="316" r:id="rId134"/>
    <p:sldId id="317" r:id="rId135"/>
    <p:sldId id="318" r:id="rId136"/>
    <p:sldId id="378" r:id="rId137"/>
    <p:sldId id="319" r:id="rId138"/>
    <p:sldId id="379" r:id="rId139"/>
    <p:sldId id="320" r:id="rId140"/>
    <p:sldId id="380" r:id="rId141"/>
    <p:sldId id="321" r:id="rId142"/>
    <p:sldId id="465" r:id="rId143"/>
    <p:sldId id="466" r:id="rId144"/>
    <p:sldId id="467" r:id="rId145"/>
    <p:sldId id="372" r:id="rId146"/>
    <p:sldId id="426" r:id="rId147"/>
    <p:sldId id="359" r:id="rId148"/>
    <p:sldId id="360" r:id="rId149"/>
    <p:sldId id="361" r:id="rId150"/>
    <p:sldId id="362" r:id="rId151"/>
    <p:sldId id="363" r:id="rId152"/>
    <p:sldId id="364" r:id="rId153"/>
    <p:sldId id="365" r:id="rId154"/>
    <p:sldId id="366" r:id="rId155"/>
    <p:sldId id="335" r:id="rId156"/>
    <p:sldId id="336" r:id="rId157"/>
    <p:sldId id="427" r:id="rId158"/>
    <p:sldId id="436" r:id="rId159"/>
    <p:sldId id="337" r:id="rId160"/>
    <p:sldId id="341" r:id="rId161"/>
    <p:sldId id="338" r:id="rId162"/>
    <p:sldId id="339" r:id="rId163"/>
    <p:sldId id="342" r:id="rId164"/>
    <p:sldId id="343" r:id="rId165"/>
    <p:sldId id="344" r:id="rId166"/>
    <p:sldId id="431" r:id="rId167"/>
    <p:sldId id="345" r:id="rId168"/>
    <p:sldId id="346" r:id="rId169"/>
    <p:sldId id="347" r:id="rId170"/>
    <p:sldId id="428" r:id="rId171"/>
    <p:sldId id="348" r:id="rId172"/>
    <p:sldId id="349" r:id="rId173"/>
    <p:sldId id="350" r:id="rId174"/>
    <p:sldId id="389" r:id="rId175"/>
    <p:sldId id="394" r:id="rId176"/>
    <p:sldId id="395" r:id="rId177"/>
    <p:sldId id="351" r:id="rId178"/>
    <p:sldId id="429" r:id="rId179"/>
    <p:sldId id="388" r:id="rId180"/>
    <p:sldId id="352" r:id="rId181"/>
    <p:sldId id="430" r:id="rId182"/>
    <p:sldId id="493" r:id="rId183"/>
    <p:sldId id="353" r:id="rId184"/>
    <p:sldId id="354" r:id="rId185"/>
    <p:sldId id="355" r:id="rId186"/>
    <p:sldId id="356" r:id="rId187"/>
    <p:sldId id="357" r:id="rId188"/>
    <p:sldId id="396" r:id="rId189"/>
    <p:sldId id="358" r:id="rId190"/>
    <p:sldId id="387" r:id="rId191"/>
    <p:sldId id="477" r:id="rId192"/>
    <p:sldId id="478" r:id="rId193"/>
    <p:sldId id="486" r:id="rId194"/>
    <p:sldId id="487" r:id="rId195"/>
    <p:sldId id="488" r:id="rId196"/>
    <p:sldId id="489" r:id="rId19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DDDDDD"/>
    <a:srgbClr val="009900"/>
    <a:srgbClr val="66FF33"/>
    <a:srgbClr val="0000FF"/>
    <a:srgbClr val="800000"/>
    <a:srgbClr val="990000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 autoAdjust="0"/>
    <p:restoredTop sz="94562" autoAdjust="0"/>
  </p:normalViewPr>
  <p:slideViewPr>
    <p:cSldViewPr>
      <p:cViewPr varScale="1">
        <p:scale>
          <a:sx n="107" d="100"/>
          <a:sy n="107" d="100"/>
        </p:scale>
        <p:origin x="176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6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190" Type="http://schemas.openxmlformats.org/officeDocument/2006/relationships/slide" Target="slides/slide189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viewProps" Target="view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theme" Target="theme/theme1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notesMaster" Target="notesMasters/notesMaster1.xml"/><Relationship Id="rId202" Type="http://schemas.openxmlformats.org/officeDocument/2006/relationships/tableStyles" Target="tableStyles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5B6D11E-30D9-4145-B2C0-201F01C4B42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1F67392-0F07-4B02-8C69-72F8ED0399C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8B2CD0B-BB53-48DC-9935-D10D30B8BD6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CF17B03F-954A-481E-8631-07501DF28EB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E5E5E8E9-7171-4E32-B7CD-11AF63F0C1A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F1E2DB99-3380-43AA-8290-2D4782F6C9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fld id="{F4D6D158-1FC6-4653-AEF5-310BD7902D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D6D158-1FC6-4653-AEF5-310BD7902D34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1265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7ACCD22D-3D83-43BB-B8A7-869E9C4D8F77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8B1954FD-329A-440C-8A6B-3C711741EB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3D4F8F19-BBFE-466C-BBE1-09F4F3F3C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40C65B8B-64AE-458A-914E-C66D9BDAD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41C840E7-E195-4852-92E1-FF3D3E5295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71DCA614-ADEC-4301-B7AD-7BB24D14A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6E9497CB-EC01-411F-A1BF-DA5EEE5EEE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BD3A86A4-BB22-480B-847B-3C568F4E2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66ADC8DE-F743-4E99-B333-8B5F2E1596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A1482C69-E58B-4B2C-8B4A-02D06DEFF6F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19A24338-C823-4359-BC89-D814EE454E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462C8A8E-28A1-491A-B0CB-B43DF4ABA6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434E79C5-7097-4E07-800B-AB0B359CCA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4F885A0-7C9E-4035-8CDD-CD6487B4C56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554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935BD6F-5268-4490-A7F2-11BB48763D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27C1178-806C-40D0-B549-12193C1D3F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177797D-12FF-428C-B1BF-C38CA751CD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BB6EB-3469-428C-9ADE-1130CD47AC3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6416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CE7AD4F-0BFC-4122-9055-486F8DD4D4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F934041-04E7-4A2F-AC9F-F265E1D335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580A7251-8B74-4818-A3BD-603B113AE1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588D14-CEDA-4B99-B001-BEC22F9556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3182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CB62AB3-3125-49D6-8B4F-C5DAA7206E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B3080B4-C8AF-45F9-B4F2-F010E6BD23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9165F81-7BA6-478A-A26D-6CA677F4A8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4D009F-45BA-41A9-B4AC-D6F711EE96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488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150C27B6-786C-4E99-B71B-82C9788344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93841029-83E0-4D5F-AD00-891D44C2C28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28C9FB37-C0C4-418F-A91F-2674BF69D9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FA41F4-982C-4A24-8D73-0FCE955B8FE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05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B0907744-548F-4F6B-A6D0-69F863D38D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C4E5CAA-3A8C-4359-9A9D-295F2C3E62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D6611D92-1AB4-446A-AAA5-4980DBBCF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DAA394-8EE0-4061-80A9-5198757D831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08788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DECB9415-913A-4494-A6F5-BF0381ED3E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A9CC7514-A5E2-422C-9364-04E21D2E31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142344EC-5083-4D73-B780-9C65FE8D57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36EEC3-E3C0-4473-9275-36D7C0EDE9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1982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9C6DB7D-AB60-4759-AB9E-C00D696A6F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D48E0E7-B386-4F79-9FFF-7F5CF5D963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21D66FE-A090-453C-8524-9741406B09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964C6C-6E39-408C-AB18-1C28D628040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11878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C099A70-4E8F-435D-80BB-F06A03FFDC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6EB37DE-86BC-4C75-9BB9-EBC49B1BF3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65BE11E-2704-438E-A18F-A4D28AFA0C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8E5915-F9C0-4FDC-A0D1-EADD2A76E7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4388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2CC0264-9FE4-4765-8A17-69EE25665E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940B954-04AC-4530-814D-BFDE6205F2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674F96C-594B-45FB-ADF5-F96106C345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82E622-412F-4DD3-A7C8-474E9160DE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9157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76200"/>
            <a:ext cx="19510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76200"/>
            <a:ext cx="5700712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FA46196C-BB57-482B-AEB0-DA2CBBEADC5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2A6397B-55D7-46DC-8EF3-7EEE445485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4F5AA13-9F93-42C7-92D7-36FE277FD6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965BB2-2A4A-43F9-A780-CD0D223E83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283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76200"/>
            <a:ext cx="779303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1371600"/>
            <a:ext cx="381000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371600"/>
            <a:ext cx="381000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4ACE574-276E-4A5B-BBAC-A6501A4E24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B246A23-DBF4-4D19-9171-875ACBBA6D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6696C4C-273A-4D88-8680-84EA4AC255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23015C-D55D-4B25-8600-6EC9DF00CF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5338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F6A0BAA-69F6-40CA-8386-5C292E3FF86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557213"/>
            <a:ext cx="438150" cy="47466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b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104EF41-B61E-4543-B99B-5060A5E86D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557213"/>
            <a:ext cx="328613" cy="474662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b="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059CD01-F664-41AE-A5D9-1DE94688529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9794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b="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94A664E-2B22-4033-8170-AF433663E72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9794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b="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77C755A-A975-49B1-AEC5-2832EDE2D8F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9064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b="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34AF60A-6516-4F00-A713-1ECFB3A15F6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4492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b="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714675B1-2799-42B3-A762-72E8E383545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2398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b="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DC6030BD-D0F0-4D2F-88B1-8E65C02FA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805D37A4-2890-472A-BC98-60FB7ABE46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E0090679-DCFA-4FB6-A665-C003BACCF13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F55532E4-766E-4BCC-BE61-0D148AB471B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EDB2A5D8-43BC-4E27-A159-E698DCA0FFE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="0"/>
            </a:lvl1pPr>
          </a:lstStyle>
          <a:p>
            <a:pPr>
              <a:defRPr/>
            </a:pPr>
            <a:fld id="{A0D18BB4-20DA-4E60-A96A-3B9AA7714D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58" r:id="rId2"/>
    <p:sldLayoutId id="2147483859" r:id="rId3"/>
    <p:sldLayoutId id="2147483860" r:id="rId4"/>
    <p:sldLayoutId id="2147483861" r:id="rId5"/>
    <p:sldLayoutId id="2147483862" r:id="rId6"/>
    <p:sldLayoutId id="2147483863" r:id="rId7"/>
    <p:sldLayoutId id="2147483864" r:id="rId8"/>
    <p:sldLayoutId id="2147483865" r:id="rId9"/>
    <p:sldLayoutId id="2147483866" r:id="rId10"/>
    <p:sldLayoutId id="2147483867" r:id="rId11"/>
    <p:sldLayoutId id="214748386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Font typeface="Wingdings" panose="05000000000000000000" pitchFamily="2" charset="2"/>
        <a:buChar char="m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9000"/>
        <a:buFont typeface="Wingdings" panose="05000000000000000000" pitchFamily="2" charset="2"/>
        <a:buChar char="q"/>
        <a:defRPr kumimoji="1" sz="2800">
          <a:solidFill>
            <a:srgbClr val="3333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kumimoji="1" sz="2400">
          <a:solidFill>
            <a:srgbClr val="FF33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14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" Target="slide14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wmf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" Target="slide60.xml"/><Relationship Id="rId2" Type="http://schemas.openxmlformats.org/officeDocument/2006/relationships/slide" Target="slide73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0452EDD-5340-4330-A2FF-508D4C34D0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743200"/>
            <a:ext cx="7793037" cy="1143000"/>
          </a:xfrm>
        </p:spPr>
        <p:txBody>
          <a:bodyPr/>
          <a:lstStyle/>
          <a:p>
            <a:pPr algn="ctr" eaLnBrk="1" hangingPunct="1"/>
            <a:r>
              <a:rPr lang="zh-CN" altLang="en-US"/>
              <a:t>第三章  词法分析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91D20BB-4E1A-45AB-9BEB-D950D6D55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0">
                <a:solidFill>
                  <a:schemeClr val="tx2"/>
                </a:solidFill>
              </a:rPr>
              <a:t>概述</a:t>
            </a:r>
          </a:p>
        </p:txBody>
      </p:sp>
      <p:sp>
        <p:nvSpPr>
          <p:cNvPr id="260099" name="Rectangle 3">
            <a:extLst>
              <a:ext uri="{FF2B5EF4-FFF2-40B4-BE49-F238E27FC236}">
                <a16:creationId xmlns:a16="http://schemas.microsoft.com/office/drawing/2014/main" id="{9DE90ED8-C03A-4C44-94DA-2FC400C2E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Char char="m"/>
              <a:defRPr/>
            </a:pPr>
            <a:r>
              <a:rPr lang="zh-CN" altLang="en-US" sz="3200" b="0" dirty="0">
                <a:latin typeface="Times New Roman" pitchFamily="18" charset="0"/>
              </a:rPr>
              <a:t>正则表达式</a:t>
            </a:r>
            <a:r>
              <a:rPr lang="en-US" altLang="zh-CN" sz="3200" b="0" dirty="0">
                <a:latin typeface="Times New Roman" pitchFamily="18" charset="0"/>
              </a:rPr>
              <a:t>——</a:t>
            </a:r>
            <a:r>
              <a:rPr lang="zh-CN" altLang="en-US" sz="3200" b="0" dirty="0">
                <a:latin typeface="Times New Roman" pitchFamily="18" charset="0"/>
              </a:rPr>
              <a:t>描述单词</a:t>
            </a:r>
          </a:p>
          <a:p>
            <a:pPr marL="342900" indent="-342900" eaLnBrk="1" hangingPunct="1"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Char char="m"/>
              <a:defRPr/>
            </a:pPr>
            <a:r>
              <a:rPr lang="zh-CN" altLang="en-US" sz="3200" b="0" dirty="0">
                <a:latin typeface="Times New Roman" pitchFamily="18" charset="0"/>
              </a:rPr>
              <a:t>有限自动机</a:t>
            </a:r>
            <a:r>
              <a:rPr lang="en-US" altLang="zh-CN" sz="3200" b="0" dirty="0">
                <a:latin typeface="Times New Roman" pitchFamily="18" charset="0"/>
              </a:rPr>
              <a:t>——</a:t>
            </a:r>
            <a:r>
              <a:rPr lang="zh-CN" altLang="en-US" sz="3200" b="0" dirty="0">
                <a:latin typeface="Times New Roman" pitchFamily="18" charset="0"/>
              </a:rPr>
              <a:t>识别单词</a:t>
            </a:r>
          </a:p>
          <a:p>
            <a:pPr marL="342900" indent="-342900" eaLnBrk="1" hangingPunct="1"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Char char="m"/>
              <a:defRPr/>
            </a:pPr>
            <a:r>
              <a:rPr lang="en-US" altLang="zh-CN" sz="3200" b="0" dirty="0">
                <a:latin typeface="Times New Roman" pitchFamily="18" charset="0"/>
              </a:rPr>
              <a:t>NFA</a:t>
            </a:r>
            <a:r>
              <a:rPr lang="en-US" altLang="zh-CN" sz="3200" b="0" dirty="0">
                <a:latin typeface="Times New Roman" pitchFamily="18" charset="0"/>
                <a:sym typeface="Wingdings" pitchFamily="2" charset="2"/>
              </a:rPr>
              <a:t>DFA</a:t>
            </a:r>
          </a:p>
          <a:p>
            <a:pPr marL="342900" indent="-342900" eaLnBrk="1" hangingPunct="1"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Char char="m"/>
              <a:defRPr/>
            </a:pPr>
            <a:r>
              <a:rPr lang="zh-CN" altLang="en-US" sz="3200" b="0" dirty="0">
                <a:latin typeface="Times New Roman" pitchFamily="18" charset="0"/>
              </a:rPr>
              <a:t>正则表达式</a:t>
            </a:r>
            <a:r>
              <a:rPr lang="zh-CN" altLang="en-US" sz="3200" b="0" dirty="0">
                <a:latin typeface="Times New Roman" pitchFamily="18" charset="0"/>
                <a:sym typeface="Wingdings" pitchFamily="2" charset="2"/>
              </a:rPr>
              <a:t></a:t>
            </a:r>
            <a:r>
              <a:rPr lang="en-US" altLang="zh-CN" sz="3200" b="0" dirty="0">
                <a:latin typeface="Times New Roman" pitchFamily="18" charset="0"/>
                <a:sym typeface="Wingdings" pitchFamily="2" charset="2"/>
              </a:rPr>
              <a:t>NFA</a:t>
            </a:r>
          </a:p>
          <a:p>
            <a:pPr marL="342900" indent="-342900" eaLnBrk="1" hangingPunct="1"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Char char="m"/>
              <a:defRPr/>
            </a:pPr>
            <a:r>
              <a:rPr lang="zh-CN" altLang="en-US" sz="3200" b="0" dirty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itchFamily="18" charset="0"/>
                <a:sym typeface="Wingdings" pitchFamily="2" charset="2"/>
              </a:rPr>
              <a:t>正则表达式</a:t>
            </a:r>
            <a:r>
              <a:rPr lang="en-US" altLang="zh-CN" sz="3200" b="0" dirty="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latin typeface="Times New Roman" pitchFamily="18" charset="0"/>
                <a:sym typeface="Wingdings" pitchFamily="2" charset="2"/>
              </a:rPr>
              <a:t>DFA</a:t>
            </a:r>
          </a:p>
          <a:p>
            <a:pPr marL="342900" indent="-342900" eaLnBrk="1" hangingPunct="1"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Char char="m"/>
              <a:defRPr/>
            </a:pPr>
            <a:r>
              <a:rPr lang="en-US" altLang="zh-CN" sz="3200" b="0" dirty="0">
                <a:latin typeface="Times New Roman" pitchFamily="18" charset="0"/>
                <a:sym typeface="Wingdings" pitchFamily="2" charset="2"/>
              </a:rPr>
              <a:t>DFA</a:t>
            </a:r>
            <a:r>
              <a:rPr lang="zh-CN" altLang="en-US" sz="3200" b="0" dirty="0">
                <a:latin typeface="Times New Roman" pitchFamily="18" charset="0"/>
                <a:sym typeface="Wingdings" pitchFamily="2" charset="2"/>
              </a:rPr>
              <a:t>的化简</a:t>
            </a:r>
            <a:endParaRPr lang="zh-CN" altLang="en-US" sz="3200" b="0" dirty="0">
              <a:latin typeface="Times New Roman" pitchFamily="18" charset="0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1F2D20A-E759-49EA-A3B1-B7206A3BF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  </a:t>
            </a:r>
            <a:r>
              <a:rPr lang="zh-CN" altLang="en-US"/>
              <a:t>词法分析器的角色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39EF7D0-C08A-472E-8606-1DB8D0531C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657600"/>
            <a:ext cx="7772400" cy="19812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字符流</a:t>
            </a:r>
            <a:r>
              <a:rPr lang="zh-CN" altLang="en-US" sz="2800">
                <a:sym typeface="Wingdings" panose="05000000000000000000" pitchFamily="2" charset="2"/>
              </a:rPr>
              <a:t>单词流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>
                <a:sym typeface="Wingdings" panose="05000000000000000000" pitchFamily="2" charset="2"/>
              </a:rPr>
              <a:t>用户接口：过滤注释、空白符，错误信息，预处理</a:t>
            </a:r>
            <a:endParaRPr lang="zh-CN" altLang="en-US" sz="2800"/>
          </a:p>
        </p:txBody>
      </p:sp>
      <p:grpSp>
        <p:nvGrpSpPr>
          <p:cNvPr id="7172" name="Group 4">
            <a:extLst>
              <a:ext uri="{FF2B5EF4-FFF2-40B4-BE49-F238E27FC236}">
                <a16:creationId xmlns:a16="http://schemas.microsoft.com/office/drawing/2014/main" id="{EBCBAB45-CF64-4236-AC41-24D9F7A250EB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143000"/>
            <a:ext cx="7543800" cy="2514600"/>
            <a:chOff x="144" y="1104"/>
            <a:chExt cx="3936" cy="1728"/>
          </a:xfrm>
        </p:grpSpPr>
        <p:grpSp>
          <p:nvGrpSpPr>
            <p:cNvPr id="7173" name="Group 5">
              <a:extLst>
                <a:ext uri="{FF2B5EF4-FFF2-40B4-BE49-F238E27FC236}">
                  <a16:creationId xmlns:a16="http://schemas.microsoft.com/office/drawing/2014/main" id="{930DED7B-0DF4-4752-B4C0-66A74D2AFD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248"/>
              <a:ext cx="2544" cy="1584"/>
              <a:chOff x="768" y="1248"/>
              <a:chExt cx="2544" cy="1584"/>
            </a:xfrm>
          </p:grpSpPr>
          <p:grpSp>
            <p:nvGrpSpPr>
              <p:cNvPr id="7179" name="Group 6">
                <a:extLst>
                  <a:ext uri="{FF2B5EF4-FFF2-40B4-BE49-F238E27FC236}">
                    <a16:creationId xmlns:a16="http://schemas.microsoft.com/office/drawing/2014/main" id="{333DC180-6395-4E59-81AD-13BABEB60D3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1248"/>
                <a:ext cx="864" cy="576"/>
                <a:chOff x="720" y="1920"/>
                <a:chExt cx="864" cy="576"/>
              </a:xfrm>
            </p:grpSpPr>
            <p:sp>
              <p:nvSpPr>
                <p:cNvPr id="7190" name="Rectangle 7">
                  <a:extLst>
                    <a:ext uri="{FF2B5EF4-FFF2-40B4-BE49-F238E27FC236}">
                      <a16:creationId xmlns:a16="http://schemas.microsoft.com/office/drawing/2014/main" id="{37F87CE6-4C89-4A39-A5B4-04918C4FBA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1920"/>
                  <a:ext cx="864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7191" name="Text Box 8">
                  <a:extLst>
                    <a:ext uri="{FF2B5EF4-FFF2-40B4-BE49-F238E27FC236}">
                      <a16:creationId xmlns:a16="http://schemas.microsoft.com/office/drawing/2014/main" id="{90625690-5071-4638-ACC9-A8C47E5FC0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0" y="1920"/>
                  <a:ext cx="864" cy="5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 i="1"/>
                    <a:t>lexical analyzer</a:t>
                  </a:r>
                </a:p>
              </p:txBody>
            </p:sp>
          </p:grpSp>
          <p:grpSp>
            <p:nvGrpSpPr>
              <p:cNvPr id="7180" name="Group 9">
                <a:extLst>
                  <a:ext uri="{FF2B5EF4-FFF2-40B4-BE49-F238E27FC236}">
                    <a16:creationId xmlns:a16="http://schemas.microsoft.com/office/drawing/2014/main" id="{3C4A3AEC-4592-41FA-9647-7A7DDB1F22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8" y="1248"/>
                <a:ext cx="864" cy="576"/>
                <a:chOff x="1728" y="1920"/>
                <a:chExt cx="864" cy="576"/>
              </a:xfrm>
            </p:grpSpPr>
            <p:sp>
              <p:nvSpPr>
                <p:cNvPr id="7188" name="Rectangle 10">
                  <a:extLst>
                    <a:ext uri="{FF2B5EF4-FFF2-40B4-BE49-F238E27FC236}">
                      <a16:creationId xmlns:a16="http://schemas.microsoft.com/office/drawing/2014/main" id="{ADC38357-1DEC-4B89-815E-99D20152AC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8" y="1920"/>
                  <a:ext cx="864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7189" name="Text Box 11">
                  <a:extLst>
                    <a:ext uri="{FF2B5EF4-FFF2-40B4-BE49-F238E27FC236}">
                      <a16:creationId xmlns:a16="http://schemas.microsoft.com/office/drawing/2014/main" id="{E59AC9FB-FC47-4BB1-93C6-030F42AB472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28" y="2064"/>
                  <a:ext cx="864" cy="31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parser</a:t>
                  </a:r>
                </a:p>
              </p:txBody>
            </p:sp>
          </p:grpSp>
          <p:grpSp>
            <p:nvGrpSpPr>
              <p:cNvPr id="7181" name="Group 12">
                <a:extLst>
                  <a:ext uri="{FF2B5EF4-FFF2-40B4-BE49-F238E27FC236}">
                    <a16:creationId xmlns:a16="http://schemas.microsoft.com/office/drawing/2014/main" id="{3064CD70-41AB-41DE-81B9-331789200C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4" y="2256"/>
                <a:ext cx="864" cy="576"/>
                <a:chOff x="720" y="1920"/>
                <a:chExt cx="864" cy="576"/>
              </a:xfrm>
            </p:grpSpPr>
            <p:sp>
              <p:nvSpPr>
                <p:cNvPr id="7186" name="Rectangle 13">
                  <a:extLst>
                    <a:ext uri="{FF2B5EF4-FFF2-40B4-BE49-F238E27FC236}">
                      <a16:creationId xmlns:a16="http://schemas.microsoft.com/office/drawing/2014/main" id="{52A95E8C-8ADE-47D7-AF70-85200C4970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1920"/>
                  <a:ext cx="864" cy="576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7187" name="Text Box 14">
                  <a:extLst>
                    <a:ext uri="{FF2B5EF4-FFF2-40B4-BE49-F238E27FC236}">
                      <a16:creationId xmlns:a16="http://schemas.microsoft.com/office/drawing/2014/main" id="{FF25843D-D275-49D9-B975-21A6FB8608A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20" y="1920"/>
                  <a:ext cx="864" cy="56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symbol table</a:t>
                  </a:r>
                </a:p>
              </p:txBody>
            </p:sp>
          </p:grpSp>
          <p:sp>
            <p:nvSpPr>
              <p:cNvPr id="7182" name="Line 15">
                <a:extLst>
                  <a:ext uri="{FF2B5EF4-FFF2-40B4-BE49-F238E27FC236}">
                    <a16:creationId xmlns:a16="http://schemas.microsoft.com/office/drawing/2014/main" id="{0A881021-9A91-498B-BB80-EE3A3A3D59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1344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83" name="Line 16">
                <a:extLst>
                  <a:ext uri="{FF2B5EF4-FFF2-40B4-BE49-F238E27FC236}">
                    <a16:creationId xmlns:a16="http://schemas.microsoft.com/office/drawing/2014/main" id="{2DFCC704-6002-4390-9F3E-D40BC665BB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2" y="1680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84" name="Line 17">
                <a:extLst>
                  <a:ext uri="{FF2B5EF4-FFF2-40B4-BE49-F238E27FC236}">
                    <a16:creationId xmlns:a16="http://schemas.microsoft.com/office/drawing/2014/main" id="{B0D1848E-83D7-4DFC-8991-2C0550BC5D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48" y="1824"/>
                <a:ext cx="432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85" name="Line 18">
                <a:extLst>
                  <a:ext uri="{FF2B5EF4-FFF2-40B4-BE49-F238E27FC236}">
                    <a16:creationId xmlns:a16="http://schemas.microsoft.com/office/drawing/2014/main" id="{637CE92C-DFD5-4E5B-A775-B2D9FA6FD9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200" y="1824"/>
                <a:ext cx="38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74" name="Text Box 19">
              <a:extLst>
                <a:ext uri="{FF2B5EF4-FFF2-40B4-BE49-F238E27FC236}">
                  <a16:creationId xmlns:a16="http://schemas.microsoft.com/office/drawing/2014/main" id="{CDCA90AA-EB1B-4817-AE42-2EAB4E2533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1296"/>
              <a:ext cx="816" cy="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source program</a:t>
              </a:r>
            </a:p>
          </p:txBody>
        </p:sp>
        <p:sp>
          <p:nvSpPr>
            <p:cNvPr id="7175" name="Line 20">
              <a:extLst>
                <a:ext uri="{FF2B5EF4-FFF2-40B4-BE49-F238E27FC236}">
                  <a16:creationId xmlns:a16="http://schemas.microsoft.com/office/drawing/2014/main" id="{922211DF-49F8-4717-8A10-EB1A3C5DE0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153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6" name="Line 21">
              <a:extLst>
                <a:ext uri="{FF2B5EF4-FFF2-40B4-BE49-F238E27FC236}">
                  <a16:creationId xmlns:a16="http://schemas.microsoft.com/office/drawing/2014/main" id="{72EE545E-8CCD-4307-B77B-289F65956F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488"/>
              <a:ext cx="384" cy="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7" name="Text Box 22">
              <a:extLst>
                <a:ext uri="{FF2B5EF4-FFF2-40B4-BE49-F238E27FC236}">
                  <a16:creationId xmlns:a16="http://schemas.microsoft.com/office/drawing/2014/main" id="{606A2F25-525C-4586-85BC-3789FE8592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104"/>
              <a:ext cx="480" cy="3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token</a:t>
              </a:r>
            </a:p>
          </p:txBody>
        </p:sp>
        <p:sp>
          <p:nvSpPr>
            <p:cNvPr id="7178" name="Text Box 23">
              <a:extLst>
                <a:ext uri="{FF2B5EF4-FFF2-40B4-BE49-F238E27FC236}">
                  <a16:creationId xmlns:a16="http://schemas.microsoft.com/office/drawing/2014/main" id="{80AA655D-7543-4064-B5AC-DB6265C13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32"/>
              <a:ext cx="624" cy="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i="1"/>
                <a:t>get next token</a:t>
              </a:r>
            </a:p>
          </p:txBody>
        </p:sp>
      </p:grp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F27A940-3731-48A0-A5A3-E6BA737122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3.1.2  </a:t>
            </a:r>
            <a:r>
              <a:rPr lang="zh-CN" altLang="en-US"/>
              <a:t>基本术语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F5D72E8-F9F4-405A-AEF2-F3966ED31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8040688" cy="4876800"/>
          </a:xfrm>
        </p:spPr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3333CC"/>
                </a:solidFill>
                <a:ea typeface="黑体" panose="02010609060101010101" pitchFamily="49" charset="-122"/>
              </a:rPr>
              <a:t>单词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rgbClr val="FF3300"/>
                </a:solidFill>
              </a:rPr>
              <a:t>token</a:t>
            </a:r>
          </a:p>
          <a:p>
            <a:pPr lvl="1" eaLnBrk="1" hangingPunct="1"/>
            <a:r>
              <a:rPr lang="zh-CN" altLang="en-US" sz="2400" dirty="0"/>
              <a:t>源代码字符串集的分类</a:t>
            </a:r>
          </a:p>
          <a:p>
            <a:pPr lvl="1" eaLnBrk="1" hangingPunct="1"/>
            <a:r>
              <a:rPr lang="en-US" altLang="zh-CN" sz="2400" dirty="0"/>
              <a:t>&lt;identifier&gt;</a:t>
            </a:r>
            <a:r>
              <a:rPr lang="zh-CN" altLang="en-US" sz="2400" dirty="0"/>
              <a:t>，</a:t>
            </a:r>
            <a:r>
              <a:rPr lang="en-US" altLang="zh-CN" sz="2400" dirty="0"/>
              <a:t>&lt;number&gt;</a:t>
            </a:r>
          </a:p>
          <a:p>
            <a:pPr eaLnBrk="1" hangingPunct="1"/>
            <a:r>
              <a:rPr lang="zh-CN" altLang="en-US" sz="2800" dirty="0">
                <a:solidFill>
                  <a:srgbClr val="3333CC"/>
                </a:solidFill>
                <a:ea typeface="黑体" panose="02010609060101010101" pitchFamily="49" charset="-122"/>
              </a:rPr>
              <a:t>模式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rgbClr val="FF3300"/>
                </a:solidFill>
              </a:rPr>
              <a:t>pattern</a:t>
            </a:r>
          </a:p>
          <a:p>
            <a:pPr lvl="1" eaLnBrk="1" hangingPunct="1"/>
            <a:r>
              <a:rPr lang="zh-CN" altLang="en-US" sz="2400" dirty="0"/>
              <a:t>描述“字符串集如何分类为单词”的规则</a:t>
            </a:r>
          </a:p>
          <a:p>
            <a:pPr lvl="1" eaLnBrk="1" hangingPunct="1"/>
            <a:r>
              <a:rPr lang="zh-CN" altLang="en-US" sz="2400" dirty="0"/>
              <a:t>正规表达式，</a:t>
            </a:r>
            <a:r>
              <a:rPr lang="en-US" altLang="zh-CN" sz="2400" dirty="0"/>
              <a:t>[A-Z]*.*</a:t>
            </a:r>
          </a:p>
          <a:p>
            <a:pPr eaLnBrk="1" hangingPunct="1"/>
            <a:r>
              <a:rPr lang="zh-CN" altLang="en-US" sz="2800" dirty="0">
                <a:solidFill>
                  <a:srgbClr val="3333CC"/>
                </a:solidFill>
                <a:ea typeface="黑体" panose="02010609060101010101" pitchFamily="49" charset="-122"/>
              </a:rPr>
              <a:t>词素</a:t>
            </a:r>
            <a:r>
              <a:rPr lang="zh-CN" altLang="en-US" sz="2800" dirty="0"/>
              <a:t>，</a:t>
            </a:r>
            <a:r>
              <a:rPr lang="en-US" altLang="zh-CN" sz="2800" dirty="0">
                <a:solidFill>
                  <a:srgbClr val="FF3300"/>
                </a:solidFill>
              </a:rPr>
              <a:t>lexeme</a:t>
            </a:r>
          </a:p>
          <a:p>
            <a:pPr lvl="1" eaLnBrk="1" hangingPunct="1"/>
            <a:r>
              <a:rPr lang="zh-CN" altLang="en-US" sz="2400" dirty="0"/>
              <a:t>程序中实际出现的字符串，与模式匹配，分类为单词</a:t>
            </a:r>
          </a:p>
          <a:p>
            <a:pPr lvl="1" eaLnBrk="1" hangingPunct="1"/>
            <a:r>
              <a:rPr lang="en-US" altLang="zh-CN" sz="2400" dirty="0" err="1"/>
              <a:t>i</a:t>
            </a:r>
            <a:r>
              <a:rPr lang="zh-CN" altLang="en-US" sz="2400" dirty="0"/>
              <a:t>，</a:t>
            </a:r>
            <a:r>
              <a:rPr lang="en-US" altLang="zh-CN" sz="2400" dirty="0"/>
              <a:t>count</a:t>
            </a:r>
            <a:r>
              <a:rPr lang="zh-CN" altLang="en-US" sz="2400" dirty="0"/>
              <a:t>，</a:t>
            </a:r>
            <a:r>
              <a:rPr lang="en-US" altLang="zh-CN" sz="2400" dirty="0"/>
              <a:t>name</a:t>
            </a:r>
            <a:r>
              <a:rPr lang="zh-CN" altLang="en-US" sz="2400" dirty="0"/>
              <a:t>，</a:t>
            </a:r>
            <a:r>
              <a:rPr lang="en-US" altLang="zh-CN" sz="2400" dirty="0"/>
              <a:t>60…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9C1552D-A869-4C70-AEE2-E0D4FE16ED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基本术语（续）</a:t>
            </a:r>
          </a:p>
        </p:txBody>
      </p:sp>
      <p:sp>
        <p:nvSpPr>
          <p:cNvPr id="9219" name="Line 5">
            <a:extLst>
              <a:ext uri="{FF2B5EF4-FFF2-40B4-BE49-F238E27FC236}">
                <a16:creationId xmlns:a16="http://schemas.microsoft.com/office/drawing/2014/main" id="{ED6AB27D-C842-4B6F-B4AD-DA1AF8216C5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1143000"/>
            <a:ext cx="723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0" name="Line 6">
            <a:extLst>
              <a:ext uri="{FF2B5EF4-FFF2-40B4-BE49-F238E27FC236}">
                <a16:creationId xmlns:a16="http://schemas.microsoft.com/office/drawing/2014/main" id="{FC540334-C8EC-4336-B443-32EF5E8C11F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1200150"/>
            <a:ext cx="72263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1" name="Line 7">
            <a:extLst>
              <a:ext uri="{FF2B5EF4-FFF2-40B4-BE49-F238E27FC236}">
                <a16:creationId xmlns:a16="http://schemas.microsoft.com/office/drawing/2014/main" id="{0E13AF3B-6760-4602-BCE4-69BA7DAD2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1581150"/>
            <a:ext cx="72263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2" name="Line 8">
            <a:extLst>
              <a:ext uri="{FF2B5EF4-FFF2-40B4-BE49-F238E27FC236}">
                <a16:creationId xmlns:a16="http://schemas.microsoft.com/office/drawing/2014/main" id="{84159349-632E-4704-BA02-D49EFD3B50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3813" y="4435475"/>
            <a:ext cx="72263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3" name="Text Box 9">
            <a:extLst>
              <a:ext uri="{FF2B5EF4-FFF2-40B4-BE49-F238E27FC236}">
                <a16:creationId xmlns:a16="http://schemas.microsoft.com/office/drawing/2014/main" id="{582C18B6-55F6-44F2-A2E0-D4DDF1747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3813" y="1200150"/>
            <a:ext cx="12334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Token</a:t>
            </a:r>
          </a:p>
        </p:txBody>
      </p:sp>
      <p:sp>
        <p:nvSpPr>
          <p:cNvPr id="9224" name="Text Box 10">
            <a:extLst>
              <a:ext uri="{FF2B5EF4-FFF2-40B4-BE49-F238E27FC236}">
                <a16:creationId xmlns:a16="http://schemas.microsoft.com/office/drawing/2014/main" id="{264EF020-1C6D-4827-91B4-105CDED9C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2413" y="1200150"/>
            <a:ext cx="23796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Sample Lexemes</a:t>
            </a:r>
          </a:p>
        </p:txBody>
      </p:sp>
      <p:sp>
        <p:nvSpPr>
          <p:cNvPr id="9225" name="Text Box 11">
            <a:extLst>
              <a:ext uri="{FF2B5EF4-FFF2-40B4-BE49-F238E27FC236}">
                <a16:creationId xmlns:a16="http://schemas.microsoft.com/office/drawing/2014/main" id="{FC506FA2-00F8-4BEE-B9ED-4D3DF1821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9650" y="1200150"/>
            <a:ext cx="37893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Informal Description of Pattern</a:t>
            </a:r>
          </a:p>
        </p:txBody>
      </p:sp>
      <p:sp>
        <p:nvSpPr>
          <p:cNvPr id="9226" name="Line 12">
            <a:extLst>
              <a:ext uri="{FF2B5EF4-FFF2-40B4-BE49-F238E27FC236}">
                <a16:creationId xmlns:a16="http://schemas.microsoft.com/office/drawing/2014/main" id="{7F605134-0867-4F77-8FAA-5B2F6000F95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16200" y="1200150"/>
            <a:ext cx="1588" cy="3238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27" name="Text Box 14">
            <a:extLst>
              <a:ext uri="{FF2B5EF4-FFF2-40B4-BE49-F238E27FC236}">
                <a16:creationId xmlns:a16="http://schemas.microsoft.com/office/drawing/2014/main" id="{87004FC3-9951-4DC0-A65E-206363F54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3813" y="1581150"/>
            <a:ext cx="1322387" cy="268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const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if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relation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id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u="sng"/>
              <a:t>num</a:t>
            </a:r>
            <a:endParaRPr kumimoji="0" lang="en-US" altLang="zh-CN" sz="2000"/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literal</a:t>
            </a:r>
          </a:p>
        </p:txBody>
      </p:sp>
      <p:sp>
        <p:nvSpPr>
          <p:cNvPr id="9228" name="Text Box 15">
            <a:extLst>
              <a:ext uri="{FF2B5EF4-FFF2-40B4-BE49-F238E27FC236}">
                <a16:creationId xmlns:a16="http://schemas.microsoft.com/office/drawing/2014/main" id="{52ED7C73-E55F-4C54-891C-021DE43F4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6200" y="1581150"/>
            <a:ext cx="2290763" cy="268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/>
              <a:t>const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/>
              <a:t>if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/>
              <a:t>&lt;, &lt;=, =, &lt; &gt;, &gt;, &gt;=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/>
              <a:t>pi, </a:t>
            </a:r>
            <a:r>
              <a:rPr kumimoji="0" lang="en-US" altLang="zh-CN" sz="2000" b="0" u="sng"/>
              <a:t>count</a:t>
            </a:r>
            <a:r>
              <a:rPr kumimoji="0" lang="en-US" altLang="zh-CN" sz="2000" b="0"/>
              <a:t>, </a:t>
            </a:r>
            <a:r>
              <a:rPr kumimoji="0" lang="en-US" altLang="zh-CN" sz="2000" b="0" u="sng"/>
              <a:t>D2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 u="sng"/>
              <a:t>3.1416</a:t>
            </a:r>
            <a:r>
              <a:rPr kumimoji="0" lang="en-US" altLang="zh-CN" sz="2000" b="0"/>
              <a:t>,  </a:t>
            </a:r>
            <a:r>
              <a:rPr kumimoji="0" lang="en-US" altLang="zh-CN" sz="2000" b="0" u="sng"/>
              <a:t>0</a:t>
            </a:r>
            <a:r>
              <a:rPr kumimoji="0" lang="en-US" altLang="zh-CN" sz="2000" b="0"/>
              <a:t>,  </a:t>
            </a:r>
            <a:r>
              <a:rPr kumimoji="0" lang="en-US" altLang="zh-CN" sz="2000" b="0" u="sng"/>
              <a:t>6.02E23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/>
              <a:t>“core dumped”</a:t>
            </a:r>
          </a:p>
        </p:txBody>
      </p:sp>
      <p:sp>
        <p:nvSpPr>
          <p:cNvPr id="9229" name="Text Box 16">
            <a:extLst>
              <a:ext uri="{FF2B5EF4-FFF2-40B4-BE49-F238E27FC236}">
                <a16:creationId xmlns:a16="http://schemas.microsoft.com/office/drawing/2014/main" id="{EEE7B0B3-2CBD-400B-8A18-2254CD4AA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6963" y="1581150"/>
            <a:ext cx="4237037" cy="268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 dirty="0"/>
              <a:t>const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 dirty="0"/>
              <a:t>if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 dirty="0"/>
              <a:t>&lt; or &lt;= or = or &lt; &gt; or &gt;= or &gt;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 dirty="0"/>
              <a:t>letter followed by letters and digits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 dirty="0"/>
              <a:t>any numeric constant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 dirty="0"/>
              <a:t>any characters between “and” except “</a:t>
            </a:r>
          </a:p>
        </p:txBody>
      </p:sp>
      <p:sp>
        <p:nvSpPr>
          <p:cNvPr id="9230" name="Text Box 17">
            <a:extLst>
              <a:ext uri="{FF2B5EF4-FFF2-40B4-BE49-F238E27FC236}">
                <a16:creationId xmlns:a16="http://schemas.microsoft.com/office/drawing/2014/main" id="{F2D0D794-5EE0-4AD0-8550-7FD316098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2713" y="4795838"/>
            <a:ext cx="1497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0">
                <a:solidFill>
                  <a:srgbClr val="3333CC"/>
                </a:solidFill>
                <a:ea typeface="黑体" panose="02010609060101010101" pitchFamily="49" charset="-122"/>
              </a:rPr>
              <a:t>单词类别</a:t>
            </a:r>
          </a:p>
        </p:txBody>
      </p:sp>
      <p:sp>
        <p:nvSpPr>
          <p:cNvPr id="9231" name="Rectangle 18">
            <a:extLst>
              <a:ext uri="{FF2B5EF4-FFF2-40B4-BE49-F238E27FC236}">
                <a16:creationId xmlns:a16="http://schemas.microsoft.com/office/drawing/2014/main" id="{1CA7C6CE-639C-4DFA-8221-CE7801754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3813" y="3105150"/>
            <a:ext cx="70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cxnSp>
        <p:nvCxnSpPr>
          <p:cNvPr id="9232" name="AutoShape 19">
            <a:extLst>
              <a:ext uri="{FF2B5EF4-FFF2-40B4-BE49-F238E27FC236}">
                <a16:creationId xmlns:a16="http://schemas.microsoft.com/office/drawing/2014/main" id="{83A93683-38B1-42E6-9118-1E43A050CE4F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1293813" y="3352800"/>
            <a:ext cx="88900" cy="1747838"/>
          </a:xfrm>
          <a:prstGeom prst="curvedConnector3">
            <a:avLst>
              <a:gd name="adj1" fmla="val 357144"/>
            </a:avLst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33" name="Text Box 20">
            <a:extLst>
              <a:ext uri="{FF2B5EF4-FFF2-40B4-BE49-F238E27FC236}">
                <a16:creationId xmlns:a16="http://schemas.microsoft.com/office/drawing/2014/main" id="{EF7C75D4-473A-40EF-B6C9-039EA28641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572000"/>
            <a:ext cx="449580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0">
                <a:solidFill>
                  <a:srgbClr val="3333CC"/>
                </a:solidFill>
                <a:ea typeface="黑体" panose="02010609060101010101" pitchFamily="49" charset="-122"/>
              </a:rPr>
              <a:t>实际词素，其相关信息很关键：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solidFill>
                  <a:srgbClr val="3333CC"/>
                </a:solidFill>
                <a:ea typeface="黑体" panose="02010609060101010101" pitchFamily="49" charset="-122"/>
              </a:rPr>
              <a:t>1. </a:t>
            </a:r>
            <a:r>
              <a:rPr kumimoji="0" lang="zh-CN" altLang="en-US" sz="2400" b="0">
                <a:solidFill>
                  <a:srgbClr val="3333CC"/>
                </a:solidFill>
                <a:ea typeface="黑体" panose="02010609060101010101" pitchFamily="49" charset="-122"/>
              </a:rPr>
              <a:t>保存入符号表</a:t>
            </a:r>
          </a:p>
          <a:p>
            <a:pPr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solidFill>
                  <a:srgbClr val="3333CC"/>
                </a:solidFill>
                <a:ea typeface="黑体" panose="02010609060101010101" pitchFamily="49" charset="-122"/>
              </a:rPr>
              <a:t>2. </a:t>
            </a:r>
            <a:r>
              <a:rPr kumimoji="0" lang="zh-CN" altLang="en-US" sz="2400" b="0">
                <a:solidFill>
                  <a:srgbClr val="3333CC"/>
                </a:solidFill>
                <a:ea typeface="黑体" panose="02010609060101010101" pitchFamily="49" charset="-122"/>
              </a:rPr>
              <a:t>返回给语法分析器</a:t>
            </a:r>
          </a:p>
        </p:txBody>
      </p:sp>
      <p:sp>
        <p:nvSpPr>
          <p:cNvPr id="9234" name="Line 21">
            <a:extLst>
              <a:ext uri="{FF2B5EF4-FFF2-40B4-BE49-F238E27FC236}">
                <a16:creationId xmlns:a16="http://schemas.microsoft.com/office/drawing/2014/main" id="{419761B5-5358-4C2B-8EFA-FDC5AC82BEB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14800" y="3733800"/>
            <a:ext cx="704850" cy="8382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35" name="Rectangle 22">
            <a:extLst>
              <a:ext uri="{FF2B5EF4-FFF2-40B4-BE49-F238E27FC236}">
                <a16:creationId xmlns:a16="http://schemas.microsoft.com/office/drawing/2014/main" id="{49C1C748-93EE-4176-8279-31786C182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895600"/>
            <a:ext cx="4572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cxnSp>
        <p:nvCxnSpPr>
          <p:cNvPr id="9236" name="AutoShape 23">
            <a:extLst>
              <a:ext uri="{FF2B5EF4-FFF2-40B4-BE49-F238E27FC236}">
                <a16:creationId xmlns:a16="http://schemas.microsoft.com/office/drawing/2014/main" id="{51E01028-AE4D-4886-9D4C-00BF859F1F83}"/>
              </a:ext>
            </a:extLst>
          </p:cNvPr>
          <p:cNvCxnSpPr>
            <a:cxnSpLocks noChangeShapeType="1"/>
          </p:cNvCxnSpPr>
          <p:nvPr/>
        </p:nvCxnSpPr>
        <p:spPr bwMode="auto">
          <a:xfrm rot="16200000" flipV="1">
            <a:off x="3806825" y="3559175"/>
            <a:ext cx="1320800" cy="704850"/>
          </a:xfrm>
          <a:prstGeom prst="curvedConnector4">
            <a:avLst>
              <a:gd name="adj1" fmla="val 37139"/>
              <a:gd name="adj2" fmla="val -2481"/>
            </a:avLst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37" name="Line 24">
            <a:extLst>
              <a:ext uri="{FF2B5EF4-FFF2-40B4-BE49-F238E27FC236}">
                <a16:creationId xmlns:a16="http://schemas.microsoft.com/office/drawing/2014/main" id="{0C1FFB95-755E-49E2-8187-DD27972F7AD4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5213" y="1198563"/>
            <a:ext cx="1587" cy="32385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0" grpId="0"/>
      <p:bldP spid="9233" grpId="0"/>
      <p:bldP spid="92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F2E102C-13CF-4085-9D2E-5FA37872A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单词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1BEF685-021A-46C6-88EB-70A9FFCA2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2743200"/>
            <a:ext cx="6172200" cy="152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4800">
                <a:solidFill>
                  <a:srgbClr val="FF3300"/>
                </a:solidFill>
              </a:rPr>
              <a:t>单词</a:t>
            </a:r>
            <a:r>
              <a:rPr lang="zh-CN" altLang="en-US" sz="4800">
                <a:solidFill>
                  <a:srgbClr val="FF3300"/>
                </a:solidFill>
                <a:sym typeface="Wingdings" panose="05000000000000000000" pitchFamily="2" charset="2"/>
              </a:rPr>
              <a:t>符号串集合</a:t>
            </a:r>
            <a:endParaRPr lang="zh-CN" altLang="en-US" sz="4800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ED49CFC-3AED-425A-932A-F3BE522224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3.1.3  </a:t>
            </a:r>
            <a:r>
              <a:rPr lang="zh-CN" altLang="en-US"/>
              <a:t>单词属性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449A8A4-0E1C-426B-97CC-27D399D897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/>
            <a:r>
              <a:rPr lang="zh-CN" altLang="en-US"/>
              <a:t>词素的更多信息</a:t>
            </a:r>
          </a:p>
          <a:p>
            <a:pPr eaLnBrk="1" hangingPunct="1"/>
            <a:r>
              <a:rPr lang="zh-CN" altLang="en-US"/>
              <a:t>单词</a:t>
            </a:r>
            <a:r>
              <a:rPr lang="en-US" altLang="zh-CN"/>
              <a:t>——</a:t>
            </a:r>
            <a:r>
              <a:rPr lang="zh-CN" altLang="en-US"/>
              <a:t>影响语法分析</a:t>
            </a:r>
          </a:p>
          <a:p>
            <a:pPr eaLnBrk="1" hangingPunct="1"/>
            <a:r>
              <a:rPr lang="zh-CN" altLang="en-US"/>
              <a:t>属性</a:t>
            </a:r>
            <a:r>
              <a:rPr lang="en-US" altLang="zh-CN"/>
              <a:t>——</a:t>
            </a:r>
            <a:r>
              <a:rPr lang="zh-CN" altLang="en-US"/>
              <a:t>影响翻译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C33A403-278D-4AF5-8969-12BCE818F2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3.1</a:t>
            </a:r>
            <a:r>
              <a:rPr lang="zh-CN" altLang="en-US"/>
              <a:t>：</a:t>
            </a:r>
            <a:r>
              <a:rPr lang="en-US" altLang="zh-CN"/>
              <a:t>E := M * C ** 2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AB3A8FD-4E72-474D-AE80-BD1926A0C3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&lt;id, </a:t>
            </a:r>
            <a:r>
              <a:rPr lang="zh-CN" altLang="en-US"/>
              <a:t>符号表中</a:t>
            </a:r>
            <a:r>
              <a:rPr lang="en-US" altLang="zh-CN"/>
              <a:t>E</a:t>
            </a:r>
            <a:r>
              <a:rPr lang="zh-CN" altLang="en-US"/>
              <a:t>对应项指针</a:t>
            </a:r>
            <a:r>
              <a:rPr lang="en-US" altLang="zh-CN"/>
              <a:t>&gt;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&lt;assign_op, &gt;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&lt;id, </a:t>
            </a:r>
            <a:r>
              <a:rPr lang="zh-CN" altLang="en-US"/>
              <a:t>符号表中</a:t>
            </a:r>
            <a:r>
              <a:rPr lang="en-US" altLang="zh-CN"/>
              <a:t>M</a:t>
            </a:r>
            <a:r>
              <a:rPr lang="zh-CN" altLang="en-US"/>
              <a:t>对应项指针</a:t>
            </a:r>
            <a:r>
              <a:rPr lang="en-US" altLang="zh-CN"/>
              <a:t>&gt;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&lt;mult_op, &gt;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&lt;id, </a:t>
            </a:r>
            <a:r>
              <a:rPr lang="zh-CN" altLang="en-US"/>
              <a:t>符号表中</a:t>
            </a:r>
            <a:r>
              <a:rPr lang="en-US" altLang="zh-CN"/>
              <a:t>C</a:t>
            </a:r>
            <a:r>
              <a:rPr lang="zh-CN" altLang="en-US"/>
              <a:t>对应项指针</a:t>
            </a:r>
            <a:r>
              <a:rPr lang="en-US" altLang="zh-CN"/>
              <a:t>&gt;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&lt;exp_op, &gt;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&lt;num, </a:t>
            </a:r>
            <a:r>
              <a:rPr lang="zh-CN" altLang="en-US"/>
              <a:t>整型值</a:t>
            </a:r>
            <a:r>
              <a:rPr lang="en-US" altLang="zh-CN"/>
              <a:t>2&gt;</a:t>
            </a:r>
          </a:p>
        </p:txBody>
      </p:sp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A1C3C285-6DB2-4CD1-B491-931046BD13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3.1.4  </a:t>
            </a:r>
            <a:r>
              <a:rPr lang="zh-CN" altLang="en-US"/>
              <a:t>词法错误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2C20A96C-249A-4E21-A3AB-585D5D7768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/>
            <a:r>
              <a:rPr lang="zh-CN" altLang="en-US" sz="2800"/>
              <a:t>较少：词法分析是对源程序极为局部化的视角</a:t>
            </a:r>
          </a:p>
          <a:p>
            <a:pPr eaLnBrk="1" hangingPunct="1"/>
            <a:r>
              <a:rPr lang="en-US" altLang="zh-CN" sz="2800"/>
              <a:t>fi (a == f(x)) …——</a:t>
            </a:r>
            <a:r>
              <a:rPr lang="zh-CN" altLang="en-US" sz="2800"/>
              <a:t>词法分析无法发现</a:t>
            </a:r>
          </a:p>
          <a:p>
            <a:pPr eaLnBrk="1" hangingPunct="1"/>
            <a:r>
              <a:rPr lang="zh-CN" altLang="en-US" sz="2800"/>
              <a:t>什么情况下发生？</a:t>
            </a:r>
            <a:r>
              <a:rPr lang="en-US" altLang="zh-CN" sz="2800"/>
              <a:t>——</a:t>
            </a:r>
            <a:r>
              <a:rPr lang="zh-CN" altLang="en-US" sz="2800"/>
              <a:t>剩余输入的前缀无法与任何一个模式相匹配</a:t>
            </a:r>
          </a:p>
          <a:p>
            <a:pPr eaLnBrk="1" hangingPunct="1"/>
            <a:r>
              <a:rPr lang="zh-CN" altLang="en-US" sz="2800"/>
              <a:t>可能的错误修复方法</a:t>
            </a:r>
          </a:p>
          <a:p>
            <a:pPr lvl="1" eaLnBrk="1" hangingPunct="1"/>
            <a:r>
              <a:rPr lang="zh-CN" altLang="en-US" sz="2400"/>
              <a:t>删除、插入字符</a:t>
            </a:r>
          </a:p>
          <a:p>
            <a:pPr lvl="1" eaLnBrk="1" hangingPunct="1"/>
            <a:r>
              <a:rPr lang="zh-CN" altLang="en-US" sz="2400"/>
              <a:t>替换、交换字符</a:t>
            </a:r>
          </a:p>
          <a:p>
            <a:pPr lvl="1" eaLnBrk="1" hangingPunct="1"/>
            <a:r>
              <a:rPr lang="zh-CN" altLang="en-US" sz="2400"/>
              <a:t>最短编辑距离</a:t>
            </a:r>
          </a:p>
        </p:txBody>
      </p:sp>
    </p:spTree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8D43BE2-7B92-40F1-8F55-1B4442E954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  </a:t>
            </a:r>
            <a:r>
              <a:rPr lang="zh-CN" altLang="en-US"/>
              <a:t>缓冲技术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B53B5A2A-00BB-4FF3-8078-9612070587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sz="2800"/>
              <a:t>三种实现方式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自动生成工具</a:t>
            </a:r>
            <a:r>
              <a:rPr lang="en-US" altLang="zh-CN" sz="2400"/>
              <a:t>——Lex</a:t>
            </a:r>
            <a:r>
              <a:rPr lang="zh-CN" altLang="en-US" sz="2400"/>
              <a:t>，生成工具提供读取输入和缓冲的函数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高级语言手工编码，利用高级语言提供的</a:t>
            </a:r>
            <a:r>
              <a:rPr lang="en-US" altLang="zh-CN" sz="2400"/>
              <a:t>I/O</a:t>
            </a:r>
            <a:r>
              <a:rPr lang="zh-CN" altLang="en-US" sz="2400"/>
              <a:t>函数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汇编语言编程，直接访问磁盘</a:t>
            </a:r>
          </a:p>
          <a:p>
            <a:pPr marL="609600" indent="-609600" eaLnBrk="1" hangingPunct="1"/>
            <a:r>
              <a:rPr lang="en-US" altLang="zh-CN" sz="2800"/>
              <a:t>1</a:t>
            </a:r>
            <a:r>
              <a:rPr lang="en-US" altLang="zh-CN" sz="2800">
                <a:sym typeface="Wingdings" panose="05000000000000000000" pitchFamily="2" charset="2"/>
              </a:rPr>
              <a:t></a:t>
            </a:r>
            <a:r>
              <a:rPr lang="en-US" altLang="zh-CN" sz="2800"/>
              <a:t>3</a:t>
            </a:r>
            <a:r>
              <a:rPr lang="zh-CN" altLang="en-US" sz="2800"/>
              <a:t>，性能</a:t>
            </a:r>
            <a:r>
              <a:rPr lang="zh-CN" altLang="en-US" sz="2800">
                <a:latin typeface="宋体" panose="02010600030101010101" pitchFamily="2" charset="-122"/>
              </a:rPr>
              <a:t>↗</a:t>
            </a:r>
            <a:r>
              <a:rPr lang="zh-CN" altLang="en-US" sz="2800"/>
              <a:t> ，实现难度</a:t>
            </a:r>
            <a:r>
              <a:rPr lang="zh-CN" altLang="en-US" sz="2800">
                <a:latin typeface="宋体" panose="02010600030101010101" pitchFamily="2" charset="-122"/>
              </a:rPr>
              <a:t>↗</a:t>
            </a:r>
            <a:r>
              <a:rPr lang="zh-CN" altLang="en-US" sz="2800"/>
              <a:t> </a:t>
            </a:r>
          </a:p>
          <a:p>
            <a:pPr marL="609600" indent="-609600" eaLnBrk="1" hangingPunct="1"/>
            <a:r>
              <a:rPr lang="zh-CN" altLang="en-US" sz="2800"/>
              <a:t>唯一读取文件的阶段，值得优化</a:t>
            </a:r>
          </a:p>
        </p:txBody>
      </p:sp>
    </p:spTree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D025429-3E28-498E-8567-B5CB82EA7E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3.2.1  </a:t>
            </a:r>
            <a:r>
              <a:rPr lang="zh-CN" altLang="en-US"/>
              <a:t>双缓冲技术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8F332DF-3CDF-4257-9A11-42DADC8910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3276600"/>
          </a:xfrm>
        </p:spPr>
        <p:txBody>
          <a:bodyPr/>
          <a:lstStyle/>
          <a:p>
            <a:pPr eaLnBrk="1" hangingPunct="1"/>
            <a:r>
              <a:rPr lang="zh-CN" altLang="en-US"/>
              <a:t>单字符</a:t>
            </a:r>
            <a:r>
              <a:rPr lang="en-US" altLang="zh-CN"/>
              <a:t>I/O</a:t>
            </a:r>
            <a:r>
              <a:rPr lang="zh-CN" altLang="en-US"/>
              <a:t>＋预读和回退</a:t>
            </a:r>
            <a:r>
              <a:rPr lang="en-US" altLang="zh-CN">
                <a:sym typeface="Wingdings" panose="05000000000000000000" pitchFamily="2" charset="2"/>
              </a:rPr>
              <a:t>——</a:t>
            </a:r>
            <a:r>
              <a:rPr lang="zh-CN" altLang="en-US"/>
              <a:t>效率低下</a:t>
            </a:r>
          </a:p>
          <a:p>
            <a:pPr eaLnBrk="1" hangingPunct="1"/>
            <a:r>
              <a:rPr lang="zh-CN" altLang="en-US"/>
              <a:t>磁盘</a:t>
            </a:r>
            <a:r>
              <a:rPr lang="en-US" altLang="zh-CN">
                <a:latin typeface="Tahoma" panose="020B0604030504040204" pitchFamily="34" charset="0"/>
              </a:rPr>
              <a:t>——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缓冲区</a:t>
            </a:r>
            <a:r>
              <a:rPr lang="en-US" altLang="zh-CN">
                <a:latin typeface="Tahoma" panose="020B0604030504040204" pitchFamily="34" charset="0"/>
              </a:rPr>
              <a:t>————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词法分析器</a:t>
            </a: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双缓冲技术</a:t>
            </a: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异步</a:t>
            </a:r>
            <a:r>
              <a:rPr lang="en-US" altLang="zh-CN">
                <a:sym typeface="Wingdings" panose="05000000000000000000" pitchFamily="2" charset="2"/>
              </a:rPr>
              <a:t>I/O</a:t>
            </a:r>
            <a:r>
              <a:rPr lang="zh-CN" altLang="en-US">
                <a:sym typeface="Wingdings" panose="05000000000000000000" pitchFamily="2" charset="2"/>
              </a:rPr>
              <a:t>，高效</a:t>
            </a: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缓冲区</a:t>
            </a:r>
            <a:r>
              <a:rPr lang="en-US" altLang="zh-CN">
                <a:sym typeface="Wingdings" panose="05000000000000000000" pitchFamily="2" charset="2"/>
              </a:rPr>
              <a:t>1</a:t>
            </a:r>
            <a:r>
              <a:rPr lang="en-US" altLang="zh-CN">
                <a:latin typeface="Tahoma" panose="020B0604030504040204" pitchFamily="34" charset="0"/>
                <a:sym typeface="Wingdings" panose="05000000000000000000" pitchFamily="2" charset="2"/>
              </a:rPr>
              <a:t>——</a:t>
            </a:r>
            <a:r>
              <a:rPr lang="zh-CN" altLang="en-US">
                <a:sym typeface="Wingdings" panose="05000000000000000000" pitchFamily="2" charset="2"/>
              </a:rPr>
              <a:t>词法分析，</a:t>
            </a:r>
            <a:r>
              <a:rPr lang="zh-CN" altLang="en-US">
                <a:solidFill>
                  <a:srgbClr val="FF3300"/>
                </a:solidFill>
                <a:sym typeface="Wingdings" panose="05000000000000000000" pitchFamily="2" charset="2"/>
              </a:rPr>
              <a:t>同时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缓冲区</a:t>
            </a:r>
            <a:r>
              <a:rPr lang="en-US" altLang="zh-CN">
                <a:sym typeface="Wingdings" panose="05000000000000000000" pitchFamily="2" charset="2"/>
              </a:rPr>
              <a:t>2</a:t>
            </a:r>
            <a:r>
              <a:rPr lang="en-US" altLang="zh-CN">
                <a:latin typeface="Tahoma" panose="020B0604030504040204" pitchFamily="34" charset="0"/>
                <a:sym typeface="Wingdings" panose="05000000000000000000" pitchFamily="2" charset="2"/>
              </a:rPr>
              <a:t>——</a:t>
            </a:r>
            <a:r>
              <a:rPr lang="zh-CN" altLang="en-US">
                <a:sym typeface="Wingdings" panose="05000000000000000000" pitchFamily="2" charset="2"/>
              </a:rPr>
              <a:t>读取磁盘</a:t>
            </a:r>
          </a:p>
        </p:txBody>
      </p:sp>
      <p:sp>
        <p:nvSpPr>
          <p:cNvPr id="15364" name="Text Box 4">
            <a:extLst>
              <a:ext uri="{FF2B5EF4-FFF2-40B4-BE49-F238E27FC236}">
                <a16:creationId xmlns:a16="http://schemas.microsoft.com/office/drawing/2014/main" id="{7EFE7B22-E3C1-4946-83B7-FED54E667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8288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块</a:t>
            </a:r>
            <a:r>
              <a:rPr lang="en-US" altLang="zh-CN" sz="2400" b="0">
                <a:solidFill>
                  <a:srgbClr val="3333CC"/>
                </a:solidFill>
                <a:ea typeface="黑体" panose="02010609060101010101" pitchFamily="49" charset="-122"/>
              </a:rPr>
              <a:t>I/O</a:t>
            </a:r>
          </a:p>
        </p:txBody>
      </p:sp>
      <p:sp>
        <p:nvSpPr>
          <p:cNvPr id="15365" name="Text Box 5">
            <a:extLst>
              <a:ext uri="{FF2B5EF4-FFF2-40B4-BE49-F238E27FC236}">
                <a16:creationId xmlns:a16="http://schemas.microsoft.com/office/drawing/2014/main" id="{62A81105-81DA-49AD-9311-B93EF97560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1828800"/>
            <a:ext cx="1801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单字符读取</a:t>
            </a:r>
          </a:p>
        </p:txBody>
      </p:sp>
    </p:spTree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A5F97F3-D014-4F66-AE38-03A240B2AF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双缓冲技术图示</a:t>
            </a:r>
          </a:p>
        </p:txBody>
      </p:sp>
      <p:grpSp>
        <p:nvGrpSpPr>
          <p:cNvPr id="16387" name="Group 6">
            <a:extLst>
              <a:ext uri="{FF2B5EF4-FFF2-40B4-BE49-F238E27FC236}">
                <a16:creationId xmlns:a16="http://schemas.microsoft.com/office/drawing/2014/main" id="{3D4A42A7-5FC9-4EFC-A06B-206F2731789E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2490788"/>
            <a:ext cx="8332788" cy="542925"/>
            <a:chOff x="144" y="1344"/>
            <a:chExt cx="3936" cy="192"/>
          </a:xfrm>
        </p:grpSpPr>
        <p:grpSp>
          <p:nvGrpSpPr>
            <p:cNvPr id="16394" name="Group 7">
              <a:extLst>
                <a:ext uri="{FF2B5EF4-FFF2-40B4-BE49-F238E27FC236}">
                  <a16:creationId xmlns:a16="http://schemas.microsoft.com/office/drawing/2014/main" id="{D011570A-26A7-48A9-BAFF-389F279DB2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1" y="1344"/>
              <a:ext cx="287" cy="192"/>
              <a:chOff x="623" y="1776"/>
              <a:chExt cx="287" cy="192"/>
            </a:xfrm>
          </p:grpSpPr>
          <p:sp>
            <p:nvSpPr>
              <p:cNvPr id="16454" name="Rectangle 8">
                <a:extLst>
                  <a:ext uri="{FF2B5EF4-FFF2-40B4-BE49-F238E27FC236}">
                    <a16:creationId xmlns:a16="http://schemas.microsoft.com/office/drawing/2014/main" id="{66F64E11-3F62-44CA-866A-B1C58F819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55" name="Text Box 9">
                <a:extLst>
                  <a:ext uri="{FF2B5EF4-FFF2-40B4-BE49-F238E27FC236}">
                    <a16:creationId xmlns:a16="http://schemas.microsoft.com/office/drawing/2014/main" id="{8D65E4FF-9905-4D5C-BECD-52BB8E04B1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" y="1776"/>
                <a:ext cx="287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*</a:t>
                </a:r>
              </a:p>
            </p:txBody>
          </p:sp>
        </p:grpSp>
        <p:grpSp>
          <p:nvGrpSpPr>
            <p:cNvPr id="16395" name="Group 10">
              <a:extLst>
                <a:ext uri="{FF2B5EF4-FFF2-40B4-BE49-F238E27FC236}">
                  <a16:creationId xmlns:a16="http://schemas.microsoft.com/office/drawing/2014/main" id="{FEFA6823-CDE2-4840-B684-40A1A35773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1344"/>
              <a:ext cx="288" cy="192"/>
              <a:chOff x="624" y="1776"/>
              <a:chExt cx="288" cy="192"/>
            </a:xfrm>
          </p:grpSpPr>
          <p:sp>
            <p:nvSpPr>
              <p:cNvPr id="16452" name="Rectangle 11">
                <a:extLst>
                  <a:ext uri="{FF2B5EF4-FFF2-40B4-BE49-F238E27FC236}">
                    <a16:creationId xmlns:a16="http://schemas.microsoft.com/office/drawing/2014/main" id="{101A2B87-1DBD-4FF0-8672-5AD3238F25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53" name="Text Box 12">
                <a:extLst>
                  <a:ext uri="{FF2B5EF4-FFF2-40B4-BE49-F238E27FC236}">
                    <a16:creationId xmlns:a16="http://schemas.microsoft.com/office/drawing/2014/main" id="{D43FCF12-3F1A-4F4E-8A6C-24442E7BD2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M</a:t>
                </a:r>
              </a:p>
            </p:txBody>
          </p:sp>
        </p:grpSp>
        <p:grpSp>
          <p:nvGrpSpPr>
            <p:cNvPr id="16396" name="Group 13">
              <a:extLst>
                <a:ext uri="{FF2B5EF4-FFF2-40B4-BE49-F238E27FC236}">
                  <a16:creationId xmlns:a16="http://schemas.microsoft.com/office/drawing/2014/main" id="{22143699-E9A3-47CE-8B25-B3AD2B4E0C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344"/>
              <a:ext cx="288" cy="192"/>
              <a:chOff x="624" y="1776"/>
              <a:chExt cx="288" cy="192"/>
            </a:xfrm>
          </p:grpSpPr>
          <p:sp>
            <p:nvSpPr>
              <p:cNvPr id="16450" name="Rectangle 14">
                <a:extLst>
                  <a:ext uri="{FF2B5EF4-FFF2-40B4-BE49-F238E27FC236}">
                    <a16:creationId xmlns:a16="http://schemas.microsoft.com/office/drawing/2014/main" id="{F95714D1-3880-4346-AD8A-04C214CBFC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51" name="Text Box 15">
                <a:extLst>
                  <a:ext uri="{FF2B5EF4-FFF2-40B4-BE49-F238E27FC236}">
                    <a16:creationId xmlns:a16="http://schemas.microsoft.com/office/drawing/2014/main" id="{BC553D2D-A56A-4B62-96C5-EE5E679C7B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grpSp>
          <p:nvGrpSpPr>
            <p:cNvPr id="16397" name="Group 16">
              <a:extLst>
                <a:ext uri="{FF2B5EF4-FFF2-40B4-BE49-F238E27FC236}">
                  <a16:creationId xmlns:a16="http://schemas.microsoft.com/office/drawing/2014/main" id="{19946D30-AA87-4030-9DA6-9F7982E416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344"/>
              <a:ext cx="288" cy="192"/>
              <a:chOff x="624" y="1776"/>
              <a:chExt cx="288" cy="192"/>
            </a:xfrm>
          </p:grpSpPr>
          <p:sp>
            <p:nvSpPr>
              <p:cNvPr id="16448" name="Rectangle 17">
                <a:extLst>
                  <a:ext uri="{FF2B5EF4-FFF2-40B4-BE49-F238E27FC236}">
                    <a16:creationId xmlns:a16="http://schemas.microsoft.com/office/drawing/2014/main" id="{9571EE81-6EF1-4055-B0A8-417E2F3CF7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49" name="Text Box 18">
                <a:extLst>
                  <a:ext uri="{FF2B5EF4-FFF2-40B4-BE49-F238E27FC236}">
                    <a16:creationId xmlns:a16="http://schemas.microsoft.com/office/drawing/2014/main" id="{46F66D9E-84AD-434D-AAF4-3B82E0F945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=</a:t>
                </a:r>
              </a:p>
            </p:txBody>
          </p:sp>
        </p:grpSp>
        <p:grpSp>
          <p:nvGrpSpPr>
            <p:cNvPr id="16398" name="Group 19">
              <a:extLst>
                <a:ext uri="{FF2B5EF4-FFF2-40B4-BE49-F238E27FC236}">
                  <a16:creationId xmlns:a16="http://schemas.microsoft.com/office/drawing/2014/main" id="{F6F9A0DB-120D-4754-91BC-F44E9FE96C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3" y="1344"/>
              <a:ext cx="288" cy="192"/>
              <a:chOff x="623" y="1776"/>
              <a:chExt cx="288" cy="192"/>
            </a:xfrm>
          </p:grpSpPr>
          <p:sp>
            <p:nvSpPr>
              <p:cNvPr id="16446" name="Rectangle 20">
                <a:extLst>
                  <a:ext uri="{FF2B5EF4-FFF2-40B4-BE49-F238E27FC236}">
                    <a16:creationId xmlns:a16="http://schemas.microsoft.com/office/drawing/2014/main" id="{2E419D34-622E-450B-ADDA-CAD0D5952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47" name="Text Box 21">
                <a:extLst>
                  <a:ext uri="{FF2B5EF4-FFF2-40B4-BE49-F238E27FC236}">
                    <a16:creationId xmlns:a16="http://schemas.microsoft.com/office/drawing/2014/main" id="{BDC9E36C-96FA-4FAA-9D8C-885334C1DF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3" y="1776"/>
                <a:ext cx="28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:</a:t>
                </a:r>
              </a:p>
            </p:txBody>
          </p:sp>
        </p:grpSp>
        <p:grpSp>
          <p:nvGrpSpPr>
            <p:cNvPr id="16399" name="Group 22">
              <a:extLst>
                <a:ext uri="{FF2B5EF4-FFF2-40B4-BE49-F238E27FC236}">
                  <a16:creationId xmlns:a16="http://schemas.microsoft.com/office/drawing/2014/main" id="{151F9B2A-E974-44B6-88DF-8C40F5C64B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1344"/>
              <a:ext cx="288" cy="192"/>
              <a:chOff x="624" y="1776"/>
              <a:chExt cx="288" cy="192"/>
            </a:xfrm>
          </p:grpSpPr>
          <p:sp>
            <p:nvSpPr>
              <p:cNvPr id="16444" name="Rectangle 23">
                <a:extLst>
                  <a:ext uri="{FF2B5EF4-FFF2-40B4-BE49-F238E27FC236}">
                    <a16:creationId xmlns:a16="http://schemas.microsoft.com/office/drawing/2014/main" id="{B1F16F40-FC76-4730-A5AA-916058E3C5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45" name="Text Box 24">
                <a:extLst>
                  <a:ext uri="{FF2B5EF4-FFF2-40B4-BE49-F238E27FC236}">
                    <a16:creationId xmlns:a16="http://schemas.microsoft.com/office/drawing/2014/main" id="{BE447F3B-9056-4683-BE9D-D4C2A0C257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grpSp>
          <p:nvGrpSpPr>
            <p:cNvPr id="16400" name="Group 25">
              <a:extLst>
                <a:ext uri="{FF2B5EF4-FFF2-40B4-BE49-F238E27FC236}">
                  <a16:creationId xmlns:a16="http://schemas.microsoft.com/office/drawing/2014/main" id="{12C904B4-479B-43CD-B4B8-FFBA7B9F17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1344"/>
              <a:ext cx="288" cy="192"/>
              <a:chOff x="624" y="1776"/>
              <a:chExt cx="288" cy="192"/>
            </a:xfrm>
          </p:grpSpPr>
          <p:sp>
            <p:nvSpPr>
              <p:cNvPr id="16442" name="Rectangle 26">
                <a:extLst>
                  <a:ext uri="{FF2B5EF4-FFF2-40B4-BE49-F238E27FC236}">
                    <a16:creationId xmlns:a16="http://schemas.microsoft.com/office/drawing/2014/main" id="{AE766410-00D6-4520-86E1-998A913372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43" name="Text Box 27">
                <a:extLst>
                  <a:ext uri="{FF2B5EF4-FFF2-40B4-BE49-F238E27FC236}">
                    <a16:creationId xmlns:a16="http://schemas.microsoft.com/office/drawing/2014/main" id="{201F531A-E464-4ED0-9661-5D52B71FD2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E</a:t>
                </a:r>
              </a:p>
            </p:txBody>
          </p:sp>
        </p:grpSp>
        <p:grpSp>
          <p:nvGrpSpPr>
            <p:cNvPr id="16401" name="Group 28">
              <a:extLst>
                <a:ext uri="{FF2B5EF4-FFF2-40B4-BE49-F238E27FC236}">
                  <a16:creationId xmlns:a16="http://schemas.microsoft.com/office/drawing/2014/main" id="{D984156A-6931-4A9F-B80A-382B75DA4F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1344"/>
              <a:ext cx="287" cy="192"/>
              <a:chOff x="624" y="1776"/>
              <a:chExt cx="287" cy="192"/>
            </a:xfrm>
          </p:grpSpPr>
          <p:sp>
            <p:nvSpPr>
              <p:cNvPr id="16440" name="Rectangle 29">
                <a:extLst>
                  <a:ext uri="{FF2B5EF4-FFF2-40B4-BE49-F238E27FC236}">
                    <a16:creationId xmlns:a16="http://schemas.microsoft.com/office/drawing/2014/main" id="{BA70892D-1A1F-4E6A-A4C0-03477A8C46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41" name="Text Box 30">
                <a:extLst>
                  <a:ext uri="{FF2B5EF4-FFF2-40B4-BE49-F238E27FC236}">
                    <a16:creationId xmlns:a16="http://schemas.microsoft.com/office/drawing/2014/main" id="{97955B73-460E-4DCE-AADF-8207A98A9E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7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grpSp>
          <p:nvGrpSpPr>
            <p:cNvPr id="16402" name="Group 31">
              <a:extLst>
                <a:ext uri="{FF2B5EF4-FFF2-40B4-BE49-F238E27FC236}">
                  <a16:creationId xmlns:a16="http://schemas.microsoft.com/office/drawing/2014/main" id="{7F920DD2-EA6B-47E7-B330-653AF6D3C6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344"/>
              <a:ext cx="287" cy="192"/>
              <a:chOff x="624" y="1776"/>
              <a:chExt cx="287" cy="192"/>
            </a:xfrm>
          </p:grpSpPr>
          <p:sp>
            <p:nvSpPr>
              <p:cNvPr id="16438" name="Rectangle 32">
                <a:extLst>
                  <a:ext uri="{FF2B5EF4-FFF2-40B4-BE49-F238E27FC236}">
                    <a16:creationId xmlns:a16="http://schemas.microsoft.com/office/drawing/2014/main" id="{E66EF209-CC15-417D-B24C-CEDA0864F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39" name="Text Box 33">
                <a:extLst>
                  <a:ext uri="{FF2B5EF4-FFF2-40B4-BE49-F238E27FC236}">
                    <a16:creationId xmlns:a16="http://schemas.microsoft.com/office/drawing/2014/main" id="{9F31DDC8-EA12-4A99-9393-3684278511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7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grpSp>
          <p:nvGrpSpPr>
            <p:cNvPr id="16403" name="Group 34">
              <a:extLst>
                <a:ext uri="{FF2B5EF4-FFF2-40B4-BE49-F238E27FC236}">
                  <a16:creationId xmlns:a16="http://schemas.microsoft.com/office/drawing/2014/main" id="{C462D5F7-E3D0-430E-B175-625B5BD268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344"/>
              <a:ext cx="288" cy="192"/>
              <a:chOff x="624" y="1776"/>
              <a:chExt cx="288" cy="192"/>
            </a:xfrm>
          </p:grpSpPr>
          <p:sp>
            <p:nvSpPr>
              <p:cNvPr id="16436" name="Rectangle 35">
                <a:extLst>
                  <a:ext uri="{FF2B5EF4-FFF2-40B4-BE49-F238E27FC236}">
                    <a16:creationId xmlns:a16="http://schemas.microsoft.com/office/drawing/2014/main" id="{C2260773-4583-4DD0-BEF0-63BF51B499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37" name="Text Box 36">
                <a:extLst>
                  <a:ext uri="{FF2B5EF4-FFF2-40B4-BE49-F238E27FC236}">
                    <a16:creationId xmlns:a16="http://schemas.microsoft.com/office/drawing/2014/main" id="{795F1F21-95CA-4852-817B-D6BBEA48D8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sp>
          <p:nvSpPr>
            <p:cNvPr id="16404" name="Rectangle 37">
              <a:extLst>
                <a:ext uri="{FF2B5EF4-FFF2-40B4-BE49-F238E27FC236}">
                  <a16:creationId xmlns:a16="http://schemas.microsoft.com/office/drawing/2014/main" id="{57B332E7-23D3-460B-96C4-83F544D0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344"/>
              <a:ext cx="19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grpSp>
          <p:nvGrpSpPr>
            <p:cNvPr id="16405" name="Group 38">
              <a:extLst>
                <a:ext uri="{FF2B5EF4-FFF2-40B4-BE49-F238E27FC236}">
                  <a16:creationId xmlns:a16="http://schemas.microsoft.com/office/drawing/2014/main" id="{B5A789E2-2E15-4A01-AA98-3C4123BD18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1344"/>
              <a:ext cx="288" cy="192"/>
              <a:chOff x="624" y="1776"/>
              <a:chExt cx="288" cy="192"/>
            </a:xfrm>
          </p:grpSpPr>
          <p:sp>
            <p:nvSpPr>
              <p:cNvPr id="16434" name="Rectangle 39">
                <a:extLst>
                  <a:ext uri="{FF2B5EF4-FFF2-40B4-BE49-F238E27FC236}">
                    <a16:creationId xmlns:a16="http://schemas.microsoft.com/office/drawing/2014/main" id="{97C94573-E1E6-42F0-8FF5-A22B3C859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35" name="Text Box 40">
                <a:extLst>
                  <a:ext uri="{FF2B5EF4-FFF2-40B4-BE49-F238E27FC236}">
                    <a16:creationId xmlns:a16="http://schemas.microsoft.com/office/drawing/2014/main" id="{297569D0-2485-4AF9-8EB5-064BFFB29D8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eof</a:t>
                </a:r>
              </a:p>
            </p:txBody>
          </p:sp>
        </p:grpSp>
        <p:grpSp>
          <p:nvGrpSpPr>
            <p:cNvPr id="16406" name="Group 41">
              <a:extLst>
                <a:ext uri="{FF2B5EF4-FFF2-40B4-BE49-F238E27FC236}">
                  <a16:creationId xmlns:a16="http://schemas.microsoft.com/office/drawing/2014/main" id="{28349D34-196C-40BE-952F-B37BEFF8BF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1344"/>
              <a:ext cx="288" cy="192"/>
              <a:chOff x="624" y="1776"/>
              <a:chExt cx="288" cy="192"/>
            </a:xfrm>
          </p:grpSpPr>
          <p:sp>
            <p:nvSpPr>
              <p:cNvPr id="16432" name="Rectangle 42">
                <a:extLst>
                  <a:ext uri="{FF2B5EF4-FFF2-40B4-BE49-F238E27FC236}">
                    <a16:creationId xmlns:a16="http://schemas.microsoft.com/office/drawing/2014/main" id="{079C20CB-A97A-464A-A7A5-D78B95D7FF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33" name="Text Box 43">
                <a:extLst>
                  <a:ext uri="{FF2B5EF4-FFF2-40B4-BE49-F238E27FC236}">
                    <a16:creationId xmlns:a16="http://schemas.microsoft.com/office/drawing/2014/main" id="{E3146547-0361-4C12-A77E-8167FBB2A4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grpSp>
          <p:nvGrpSpPr>
            <p:cNvPr id="16407" name="Group 44">
              <a:extLst>
                <a:ext uri="{FF2B5EF4-FFF2-40B4-BE49-F238E27FC236}">
                  <a16:creationId xmlns:a16="http://schemas.microsoft.com/office/drawing/2014/main" id="{4730D995-44F2-4A3C-BA86-8BD8771A26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1344"/>
              <a:ext cx="288" cy="192"/>
              <a:chOff x="624" y="1776"/>
              <a:chExt cx="288" cy="192"/>
            </a:xfrm>
          </p:grpSpPr>
          <p:sp>
            <p:nvSpPr>
              <p:cNvPr id="16430" name="Rectangle 45">
                <a:extLst>
                  <a:ext uri="{FF2B5EF4-FFF2-40B4-BE49-F238E27FC236}">
                    <a16:creationId xmlns:a16="http://schemas.microsoft.com/office/drawing/2014/main" id="{BF004DAB-4728-429E-9591-791C839CB7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31" name="Text Box 46">
                <a:extLst>
                  <a:ext uri="{FF2B5EF4-FFF2-40B4-BE49-F238E27FC236}">
                    <a16:creationId xmlns:a16="http://schemas.microsoft.com/office/drawing/2014/main" id="{2331BB0A-64A5-42BF-B478-1DACD7060E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5" y="1776"/>
                <a:ext cx="287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grpSp>
          <p:nvGrpSpPr>
            <p:cNvPr id="16408" name="Group 47">
              <a:extLst>
                <a:ext uri="{FF2B5EF4-FFF2-40B4-BE49-F238E27FC236}">
                  <a16:creationId xmlns:a16="http://schemas.microsoft.com/office/drawing/2014/main" id="{EC96BFEF-E303-4629-81F8-F6C115CE15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1344"/>
              <a:ext cx="288" cy="192"/>
              <a:chOff x="624" y="1776"/>
              <a:chExt cx="288" cy="192"/>
            </a:xfrm>
          </p:grpSpPr>
          <p:sp>
            <p:nvSpPr>
              <p:cNvPr id="16428" name="Rectangle 48">
                <a:extLst>
                  <a:ext uri="{FF2B5EF4-FFF2-40B4-BE49-F238E27FC236}">
                    <a16:creationId xmlns:a16="http://schemas.microsoft.com/office/drawing/2014/main" id="{12BEF83D-5D7F-4678-9121-D3FBD355AC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29" name="Text Box 49">
                <a:extLst>
                  <a:ext uri="{FF2B5EF4-FFF2-40B4-BE49-F238E27FC236}">
                    <a16:creationId xmlns:a16="http://schemas.microsoft.com/office/drawing/2014/main" id="{20885269-D634-4F2B-AE8E-1E2ED99A63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grpSp>
          <p:nvGrpSpPr>
            <p:cNvPr id="16409" name="Group 50">
              <a:extLst>
                <a:ext uri="{FF2B5EF4-FFF2-40B4-BE49-F238E27FC236}">
                  <a16:creationId xmlns:a16="http://schemas.microsoft.com/office/drawing/2014/main" id="{D18AC8F6-CED6-4173-AC75-DDB3CA5228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344"/>
              <a:ext cx="288" cy="192"/>
              <a:chOff x="624" y="1776"/>
              <a:chExt cx="288" cy="192"/>
            </a:xfrm>
          </p:grpSpPr>
          <p:sp>
            <p:nvSpPr>
              <p:cNvPr id="16426" name="Rectangle 51">
                <a:extLst>
                  <a:ext uri="{FF2B5EF4-FFF2-40B4-BE49-F238E27FC236}">
                    <a16:creationId xmlns:a16="http://schemas.microsoft.com/office/drawing/2014/main" id="{DF9161C5-933F-4E88-B712-FCB26EF5E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27" name="Text Box 52">
                <a:extLst>
                  <a:ext uri="{FF2B5EF4-FFF2-40B4-BE49-F238E27FC236}">
                    <a16:creationId xmlns:a16="http://schemas.microsoft.com/office/drawing/2014/main" id="{39592594-A5D1-4C5A-B92A-F807D3509A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grpSp>
          <p:nvGrpSpPr>
            <p:cNvPr id="16410" name="Group 53">
              <a:extLst>
                <a:ext uri="{FF2B5EF4-FFF2-40B4-BE49-F238E27FC236}">
                  <a16:creationId xmlns:a16="http://schemas.microsoft.com/office/drawing/2014/main" id="{D965702F-DA87-4A72-949A-B7D9C390FC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1344"/>
              <a:ext cx="289" cy="192"/>
              <a:chOff x="624" y="1776"/>
              <a:chExt cx="289" cy="192"/>
            </a:xfrm>
          </p:grpSpPr>
          <p:sp>
            <p:nvSpPr>
              <p:cNvPr id="16424" name="Rectangle 54">
                <a:extLst>
                  <a:ext uri="{FF2B5EF4-FFF2-40B4-BE49-F238E27FC236}">
                    <a16:creationId xmlns:a16="http://schemas.microsoft.com/office/drawing/2014/main" id="{9083CC34-FDC0-43A8-9B54-90F979746E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25" name="Text Box 55">
                <a:extLst>
                  <a:ext uri="{FF2B5EF4-FFF2-40B4-BE49-F238E27FC236}">
                    <a16:creationId xmlns:a16="http://schemas.microsoft.com/office/drawing/2014/main" id="{9DE7EFCD-D173-4F1B-88AC-B2A5C5954A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9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eof</a:t>
                </a:r>
              </a:p>
            </p:txBody>
          </p:sp>
        </p:grpSp>
        <p:grpSp>
          <p:nvGrpSpPr>
            <p:cNvPr id="16411" name="Group 56">
              <a:extLst>
                <a:ext uri="{FF2B5EF4-FFF2-40B4-BE49-F238E27FC236}">
                  <a16:creationId xmlns:a16="http://schemas.microsoft.com/office/drawing/2014/main" id="{6C368C91-2D07-4FDC-BBB0-B06568D56F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1344"/>
              <a:ext cx="287" cy="192"/>
              <a:chOff x="624" y="1776"/>
              <a:chExt cx="287" cy="192"/>
            </a:xfrm>
          </p:grpSpPr>
          <p:sp>
            <p:nvSpPr>
              <p:cNvPr id="16422" name="Rectangle 57">
                <a:extLst>
                  <a:ext uri="{FF2B5EF4-FFF2-40B4-BE49-F238E27FC236}">
                    <a16:creationId xmlns:a16="http://schemas.microsoft.com/office/drawing/2014/main" id="{9CDC9E56-2A60-444E-B59B-2EB027F780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23" name="Text Box 58">
                <a:extLst>
                  <a:ext uri="{FF2B5EF4-FFF2-40B4-BE49-F238E27FC236}">
                    <a16:creationId xmlns:a16="http://schemas.microsoft.com/office/drawing/2014/main" id="{8506F98C-49FD-4B18-810E-19A8AD1569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7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2</a:t>
                </a:r>
              </a:p>
            </p:txBody>
          </p:sp>
        </p:grpSp>
        <p:grpSp>
          <p:nvGrpSpPr>
            <p:cNvPr id="16412" name="Group 59">
              <a:extLst>
                <a:ext uri="{FF2B5EF4-FFF2-40B4-BE49-F238E27FC236}">
                  <a16:creationId xmlns:a16="http://schemas.microsoft.com/office/drawing/2014/main" id="{743396C6-EDDE-4EB4-9A4F-31FAFD7EF1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1344"/>
              <a:ext cx="288" cy="192"/>
              <a:chOff x="624" y="1776"/>
              <a:chExt cx="288" cy="192"/>
            </a:xfrm>
          </p:grpSpPr>
          <p:sp>
            <p:nvSpPr>
              <p:cNvPr id="16420" name="Rectangle 60">
                <a:extLst>
                  <a:ext uri="{FF2B5EF4-FFF2-40B4-BE49-F238E27FC236}">
                    <a16:creationId xmlns:a16="http://schemas.microsoft.com/office/drawing/2014/main" id="{1C64F9E6-36D9-4ADA-898B-FF319DEE4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21" name="Text Box 61">
                <a:extLst>
                  <a:ext uri="{FF2B5EF4-FFF2-40B4-BE49-F238E27FC236}">
                    <a16:creationId xmlns:a16="http://schemas.microsoft.com/office/drawing/2014/main" id="{0BB8E7BA-F398-42D4-B28B-5E546CEF28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*</a:t>
                </a:r>
              </a:p>
            </p:txBody>
          </p:sp>
        </p:grpSp>
        <p:grpSp>
          <p:nvGrpSpPr>
            <p:cNvPr id="16413" name="Group 62">
              <a:extLst>
                <a:ext uri="{FF2B5EF4-FFF2-40B4-BE49-F238E27FC236}">
                  <a16:creationId xmlns:a16="http://schemas.microsoft.com/office/drawing/2014/main" id="{26934E25-D21E-41FB-A981-0455098FAE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1344"/>
              <a:ext cx="288" cy="192"/>
              <a:chOff x="624" y="1776"/>
              <a:chExt cx="288" cy="192"/>
            </a:xfrm>
          </p:grpSpPr>
          <p:sp>
            <p:nvSpPr>
              <p:cNvPr id="16418" name="Rectangle 63">
                <a:extLst>
                  <a:ext uri="{FF2B5EF4-FFF2-40B4-BE49-F238E27FC236}">
                    <a16:creationId xmlns:a16="http://schemas.microsoft.com/office/drawing/2014/main" id="{64DDA660-AE73-496E-A908-BA7CB8D292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19" name="Text Box 64">
                <a:extLst>
                  <a:ext uri="{FF2B5EF4-FFF2-40B4-BE49-F238E27FC236}">
                    <a16:creationId xmlns:a16="http://schemas.microsoft.com/office/drawing/2014/main" id="{D81D0757-D17A-43BA-86BC-809741A0C5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*</a:t>
                </a:r>
              </a:p>
            </p:txBody>
          </p:sp>
        </p:grpSp>
        <p:grpSp>
          <p:nvGrpSpPr>
            <p:cNvPr id="16414" name="Group 65">
              <a:extLst>
                <a:ext uri="{FF2B5EF4-FFF2-40B4-BE49-F238E27FC236}">
                  <a16:creationId xmlns:a16="http://schemas.microsoft.com/office/drawing/2014/main" id="{7DFDC9AF-6504-4386-9299-94A5916FCB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1344"/>
              <a:ext cx="289" cy="192"/>
              <a:chOff x="624" y="1776"/>
              <a:chExt cx="289" cy="192"/>
            </a:xfrm>
          </p:grpSpPr>
          <p:sp>
            <p:nvSpPr>
              <p:cNvPr id="16416" name="Rectangle 66">
                <a:extLst>
                  <a:ext uri="{FF2B5EF4-FFF2-40B4-BE49-F238E27FC236}">
                    <a16:creationId xmlns:a16="http://schemas.microsoft.com/office/drawing/2014/main" id="{E93E2A52-244D-4A16-8BD6-C75A90F14A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417" name="Text Box 67">
                <a:extLst>
                  <a:ext uri="{FF2B5EF4-FFF2-40B4-BE49-F238E27FC236}">
                    <a16:creationId xmlns:a16="http://schemas.microsoft.com/office/drawing/2014/main" id="{CCD8218A-53F2-41B2-BD09-8E06682B76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9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C</a:t>
                </a:r>
              </a:p>
            </p:txBody>
          </p:sp>
        </p:grpSp>
        <p:sp>
          <p:nvSpPr>
            <p:cNvPr id="16415" name="Rectangle 68">
              <a:extLst>
                <a:ext uri="{FF2B5EF4-FFF2-40B4-BE49-F238E27FC236}">
                  <a16:creationId xmlns:a16="http://schemas.microsoft.com/office/drawing/2014/main" id="{3EF67074-1B2C-4448-86B7-DD1980A3B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344"/>
              <a:ext cx="19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6388" name="AutoShape 69">
            <a:extLst>
              <a:ext uri="{FF2B5EF4-FFF2-40B4-BE49-F238E27FC236}">
                <a16:creationId xmlns:a16="http://schemas.microsoft.com/office/drawing/2014/main" id="{2455B7D3-BD7D-4348-8571-0C3A75CF0E91}"/>
              </a:ext>
            </a:extLst>
          </p:cNvPr>
          <p:cNvSpPr>
            <a:spLocks/>
          </p:cNvSpPr>
          <p:nvPr/>
        </p:nvSpPr>
        <p:spPr bwMode="auto">
          <a:xfrm rot="5400000">
            <a:off x="5007769" y="1874044"/>
            <a:ext cx="407987" cy="555625"/>
          </a:xfrm>
          <a:prstGeom prst="leftBrace">
            <a:avLst>
              <a:gd name="adj1" fmla="val 1134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6389" name="Text Box 70">
            <a:extLst>
              <a:ext uri="{FF2B5EF4-FFF2-40B4-BE49-F238E27FC236}">
                <a16:creationId xmlns:a16="http://schemas.microsoft.com/office/drawing/2014/main" id="{D4AAB2A6-39A8-432B-A31A-5706C66716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575" y="1676400"/>
            <a:ext cx="25923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/>
              <a:t>Current token</a:t>
            </a:r>
          </a:p>
        </p:txBody>
      </p:sp>
      <p:sp>
        <p:nvSpPr>
          <p:cNvPr id="16390" name="Text Box 71">
            <a:extLst>
              <a:ext uri="{FF2B5EF4-FFF2-40B4-BE49-F238E27FC236}">
                <a16:creationId xmlns:a16="http://schemas.microsoft.com/office/drawing/2014/main" id="{6BCB8F4E-63AD-4CC2-A141-0AD30DE99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6188" y="3305175"/>
            <a:ext cx="19034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/>
              <a:t>lexeme beginning</a:t>
            </a:r>
          </a:p>
        </p:txBody>
      </p:sp>
      <p:sp>
        <p:nvSpPr>
          <p:cNvPr id="16391" name="Line 72">
            <a:extLst>
              <a:ext uri="{FF2B5EF4-FFF2-40B4-BE49-F238E27FC236}">
                <a16:creationId xmlns:a16="http://schemas.microsoft.com/office/drawing/2014/main" id="{8DD219E3-A280-400B-B49A-0851754695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78325" y="3062288"/>
            <a:ext cx="647700" cy="515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392" name="Text Box 73">
            <a:extLst>
              <a:ext uri="{FF2B5EF4-FFF2-40B4-BE49-F238E27FC236}">
                <a16:creationId xmlns:a16="http://schemas.microsoft.com/office/drawing/2014/main" id="{D45D7A88-F0DB-4F4F-AEBE-B8A11221B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5088" y="3305175"/>
            <a:ext cx="2500312" cy="64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/>
              <a:t>forward (scans ahead to find pattern match)</a:t>
            </a:r>
          </a:p>
        </p:txBody>
      </p:sp>
      <p:sp>
        <p:nvSpPr>
          <p:cNvPr id="16393" name="Line 74">
            <a:extLst>
              <a:ext uri="{FF2B5EF4-FFF2-40B4-BE49-F238E27FC236}">
                <a16:creationId xmlns:a16="http://schemas.microsoft.com/office/drawing/2014/main" id="{93373F01-2F98-4447-9B8B-91D3214330C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67388" y="3062288"/>
            <a:ext cx="555625" cy="542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D522E24-4401-426E-9330-5476788529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双缓冲技术伪代码</a:t>
            </a:r>
          </a:p>
        </p:txBody>
      </p:sp>
      <p:sp>
        <p:nvSpPr>
          <p:cNvPr id="17411" name="Text Box 4">
            <a:extLst>
              <a:ext uri="{FF2B5EF4-FFF2-40B4-BE49-F238E27FC236}">
                <a16:creationId xmlns:a16="http://schemas.microsoft.com/office/drawing/2014/main" id="{A58A63C3-676A-44FC-8F3D-FCBA0AED5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363663"/>
            <a:ext cx="7162800" cy="39909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if </a:t>
            </a:r>
            <a:r>
              <a:rPr kumimoji="0" lang="en-US" altLang="zh-CN" sz="2400" b="0">
                <a:sym typeface="Symbol" panose="05050102010706020507" pitchFamily="18" charset="2"/>
              </a:rPr>
              <a:t> </a:t>
            </a:r>
            <a:r>
              <a:rPr kumimoji="0" lang="en-US" altLang="zh-CN" sz="2400" b="0" i="1">
                <a:sym typeface="Symbol" panose="05050102010706020507" pitchFamily="18" charset="2"/>
              </a:rPr>
              <a:t>forward </a:t>
            </a:r>
            <a:r>
              <a:rPr kumimoji="0" lang="en-US" altLang="zh-CN" sz="2400" b="0">
                <a:sym typeface="Symbol" panose="05050102010706020507" pitchFamily="18" charset="2"/>
              </a:rPr>
              <a:t> </a:t>
            </a:r>
            <a:r>
              <a:rPr kumimoji="0" lang="zh-CN" altLang="en-US" sz="2400" b="0">
                <a:sym typeface="Symbol" panose="05050102010706020507" pitchFamily="18" charset="2"/>
              </a:rPr>
              <a:t>位于第一半区的末端  </a:t>
            </a:r>
            <a:r>
              <a:rPr kumimoji="0" lang="en-US" altLang="zh-CN" sz="2400">
                <a:sym typeface="Symbol" panose="05050102010706020507" pitchFamily="18" charset="2"/>
              </a:rPr>
              <a:t>then  begin</a:t>
            </a:r>
          </a:p>
          <a:p>
            <a:pPr>
              <a:buClrTx/>
              <a:buSzTx/>
              <a:buFontTx/>
              <a:buNone/>
            </a:pPr>
            <a:r>
              <a:rPr kumimoji="0" lang="en-US" altLang="zh-CN" sz="2400" b="0">
                <a:sym typeface="Symbol" panose="05050102010706020507" pitchFamily="18" charset="2"/>
              </a:rPr>
              <a:t>          </a:t>
            </a:r>
            <a:r>
              <a:rPr kumimoji="0" lang="zh-CN" altLang="en-US" sz="2400" b="0">
                <a:sym typeface="Symbol" panose="05050102010706020507" pitchFamily="18" charset="2"/>
              </a:rPr>
              <a:t>装载第二个半区 </a:t>
            </a:r>
            <a:r>
              <a:rPr kumimoji="0" lang="en-US" altLang="zh-CN" sz="2400" b="0">
                <a:sym typeface="Symbol" panose="05050102010706020507" pitchFamily="18" charset="2"/>
              </a:rPr>
              <a:t>;</a:t>
            </a:r>
          </a:p>
          <a:p>
            <a:pPr>
              <a:buClrTx/>
              <a:buSzTx/>
              <a:buFontTx/>
              <a:buNone/>
            </a:pPr>
            <a:r>
              <a:rPr kumimoji="0" lang="en-US" altLang="zh-CN" sz="2400" b="0">
                <a:sym typeface="Symbol" panose="05050102010706020507" pitchFamily="18" charset="2"/>
              </a:rPr>
              <a:t>          </a:t>
            </a:r>
            <a:r>
              <a:rPr kumimoji="0" lang="en-US" altLang="zh-CN" sz="2400" b="0" i="1">
                <a:sym typeface="Symbol" panose="05050102010706020507" pitchFamily="18" charset="2"/>
              </a:rPr>
              <a:t>forward  </a:t>
            </a:r>
            <a:r>
              <a:rPr kumimoji="0" lang="en-US" altLang="zh-CN" sz="2400" b="0">
                <a:sym typeface="Symbol" panose="05050102010706020507" pitchFamily="18" charset="2"/>
              </a:rPr>
              <a:t>: =  </a:t>
            </a:r>
            <a:r>
              <a:rPr kumimoji="0" lang="en-US" altLang="zh-CN" sz="2400" b="0" i="1">
                <a:sym typeface="Symbol" panose="05050102010706020507" pitchFamily="18" charset="2"/>
              </a:rPr>
              <a:t>forward  </a:t>
            </a:r>
            <a:r>
              <a:rPr kumimoji="0" lang="en-US" altLang="zh-CN" sz="2400" b="0">
                <a:sym typeface="Symbol" panose="05050102010706020507" pitchFamily="18" charset="2"/>
              </a:rPr>
              <a:t>+ 1</a:t>
            </a:r>
          </a:p>
          <a:p>
            <a:pPr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end</a:t>
            </a:r>
          </a:p>
          <a:p>
            <a:pPr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else if  </a:t>
            </a:r>
            <a:r>
              <a:rPr kumimoji="0" lang="en-US" altLang="zh-CN" sz="2400" b="0" i="1">
                <a:sym typeface="Symbol" panose="05050102010706020507" pitchFamily="18" charset="2"/>
              </a:rPr>
              <a:t>forward  </a:t>
            </a:r>
            <a:r>
              <a:rPr kumimoji="0" lang="zh-CN" altLang="en-US" sz="2400" b="0">
                <a:sym typeface="Symbol" panose="05050102010706020507" pitchFamily="18" charset="2"/>
              </a:rPr>
              <a:t>位于第二个半区的末端  </a:t>
            </a:r>
            <a:r>
              <a:rPr kumimoji="0" lang="en-US" altLang="zh-CN" sz="2400">
                <a:sym typeface="Symbol" panose="05050102010706020507" pitchFamily="18" charset="2"/>
              </a:rPr>
              <a:t>then  begin</a:t>
            </a:r>
          </a:p>
          <a:p>
            <a:pPr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  </a:t>
            </a:r>
            <a:r>
              <a:rPr kumimoji="0" lang="zh-CN" altLang="en-US" sz="2400" b="0">
                <a:sym typeface="Symbol" panose="05050102010706020507" pitchFamily="18" charset="2"/>
              </a:rPr>
              <a:t>装载第一个半区 </a:t>
            </a:r>
            <a:r>
              <a:rPr kumimoji="0" lang="en-US" altLang="zh-CN" sz="2400" b="0">
                <a:sym typeface="Symbol" panose="05050102010706020507" pitchFamily="18" charset="2"/>
              </a:rPr>
              <a:t>;</a:t>
            </a:r>
          </a:p>
          <a:p>
            <a:pPr>
              <a:buClrTx/>
              <a:buSzTx/>
              <a:buFontTx/>
              <a:buNone/>
            </a:pPr>
            <a:r>
              <a:rPr kumimoji="0" lang="en-US" altLang="zh-CN" sz="2400" b="0">
                <a:sym typeface="Symbol" panose="05050102010706020507" pitchFamily="18" charset="2"/>
              </a:rPr>
              <a:t>           </a:t>
            </a:r>
            <a:r>
              <a:rPr kumimoji="0" lang="en-US" altLang="zh-CN" sz="2400" b="0" i="1">
                <a:sym typeface="Symbol" panose="05050102010706020507" pitchFamily="18" charset="2"/>
              </a:rPr>
              <a:t>forward </a:t>
            </a:r>
            <a:r>
              <a:rPr kumimoji="0" lang="zh-CN" altLang="en-US" sz="2400" b="0">
                <a:sym typeface="Symbol" panose="05050102010706020507" pitchFamily="18" charset="2"/>
              </a:rPr>
              <a:t>移动到第一个半区的开始</a:t>
            </a:r>
          </a:p>
          <a:p>
            <a:pPr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end</a:t>
            </a:r>
          </a:p>
          <a:p>
            <a:pPr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else </a:t>
            </a:r>
            <a:r>
              <a:rPr kumimoji="0" lang="en-US" altLang="zh-CN" sz="2400" b="0">
                <a:sym typeface="Symbol" panose="05050102010706020507" pitchFamily="18" charset="2"/>
              </a:rPr>
              <a:t> </a:t>
            </a:r>
            <a:r>
              <a:rPr kumimoji="0" lang="en-US" altLang="zh-CN" sz="2400" b="0" i="1">
                <a:sym typeface="Symbol" panose="05050102010706020507" pitchFamily="18" charset="2"/>
              </a:rPr>
              <a:t>forward  </a:t>
            </a:r>
            <a:r>
              <a:rPr kumimoji="0" lang="en-US" altLang="zh-CN" sz="2400" b="0">
                <a:sym typeface="Symbol" panose="05050102010706020507" pitchFamily="18" charset="2"/>
              </a:rPr>
              <a:t>: =  </a:t>
            </a:r>
            <a:r>
              <a:rPr kumimoji="0" lang="en-US" altLang="zh-CN" sz="2400" b="0" i="1">
                <a:sym typeface="Symbol" panose="05050102010706020507" pitchFamily="18" charset="2"/>
              </a:rPr>
              <a:t>forward  </a:t>
            </a:r>
            <a:r>
              <a:rPr kumimoji="0" lang="en-US" altLang="zh-CN" sz="2400" b="0">
                <a:sym typeface="Symbol" panose="05050102010706020507" pitchFamily="18" charset="2"/>
              </a:rPr>
              <a:t>+ 1</a:t>
            </a: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765F59D-D9B2-490A-8DA6-7B66610E39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3.2.2  </a:t>
            </a:r>
            <a:r>
              <a:rPr lang="zh-CN" altLang="en-US"/>
              <a:t>哨兵（</a:t>
            </a:r>
            <a:r>
              <a:rPr lang="en-US" altLang="zh-CN">
                <a:solidFill>
                  <a:srgbClr val="FF3300"/>
                </a:solidFill>
              </a:rPr>
              <a:t>sentinel</a:t>
            </a:r>
            <a:r>
              <a:rPr lang="zh-CN" altLang="en-US"/>
              <a:t>）技术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8149FE8-F417-405A-8259-FEACEA7470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505200"/>
            <a:ext cx="7772400" cy="2286000"/>
          </a:xfrm>
        </p:spPr>
        <p:txBody>
          <a:bodyPr/>
          <a:lstStyle/>
          <a:p>
            <a:pPr eaLnBrk="1" hangingPunct="1"/>
            <a:r>
              <a:rPr lang="zh-CN" altLang="en-US"/>
              <a:t>每个缓冲区末端添加标记</a:t>
            </a:r>
            <a:r>
              <a:rPr lang="en-US" altLang="zh-CN"/>
              <a:t>——</a:t>
            </a:r>
            <a:r>
              <a:rPr lang="zh-CN" altLang="en-US"/>
              <a:t>哨兵</a:t>
            </a:r>
          </a:p>
          <a:p>
            <a:pPr eaLnBrk="1" hangingPunct="1"/>
            <a:r>
              <a:rPr lang="zh-CN" altLang="en-US"/>
              <a:t>减少条件判断</a:t>
            </a:r>
          </a:p>
        </p:txBody>
      </p:sp>
      <p:grpSp>
        <p:nvGrpSpPr>
          <p:cNvPr id="18436" name="Group 4">
            <a:extLst>
              <a:ext uri="{FF2B5EF4-FFF2-40B4-BE49-F238E27FC236}">
                <a16:creationId xmlns:a16="http://schemas.microsoft.com/office/drawing/2014/main" id="{EB48863A-2EE4-4AFA-8BEF-D7FA6CC3F081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889125"/>
            <a:ext cx="6858000" cy="366713"/>
            <a:chOff x="144" y="1344"/>
            <a:chExt cx="3936" cy="231"/>
          </a:xfrm>
        </p:grpSpPr>
        <p:grpSp>
          <p:nvGrpSpPr>
            <p:cNvPr id="18443" name="Group 5">
              <a:extLst>
                <a:ext uri="{FF2B5EF4-FFF2-40B4-BE49-F238E27FC236}">
                  <a16:creationId xmlns:a16="http://schemas.microsoft.com/office/drawing/2014/main" id="{FF080225-1023-4226-96DF-FA89FF682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1344"/>
              <a:ext cx="288" cy="212"/>
              <a:chOff x="624" y="1776"/>
              <a:chExt cx="288" cy="212"/>
            </a:xfrm>
          </p:grpSpPr>
          <p:sp>
            <p:nvSpPr>
              <p:cNvPr id="18503" name="Rectangle 6">
                <a:extLst>
                  <a:ext uri="{FF2B5EF4-FFF2-40B4-BE49-F238E27FC236}">
                    <a16:creationId xmlns:a16="http://schemas.microsoft.com/office/drawing/2014/main" id="{D44B4781-C920-49F0-AF46-C9D01BA880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504" name="Text Box 7">
                <a:extLst>
                  <a:ext uri="{FF2B5EF4-FFF2-40B4-BE49-F238E27FC236}">
                    <a16:creationId xmlns:a16="http://schemas.microsoft.com/office/drawing/2014/main" id="{573923FB-6C4F-430D-BE9B-0CD9D68476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/>
                  <a:t>eof</a:t>
                </a:r>
                <a:endParaRPr kumimoji="0" lang="en-US" altLang="zh-CN" sz="1800"/>
              </a:p>
            </p:txBody>
          </p:sp>
        </p:grpSp>
        <p:grpSp>
          <p:nvGrpSpPr>
            <p:cNvPr id="18444" name="Group 8">
              <a:extLst>
                <a:ext uri="{FF2B5EF4-FFF2-40B4-BE49-F238E27FC236}">
                  <a16:creationId xmlns:a16="http://schemas.microsoft.com/office/drawing/2014/main" id="{06B9EDE2-100F-40C5-8C01-46E7CE9ECE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1344"/>
              <a:ext cx="288" cy="212"/>
              <a:chOff x="624" y="1776"/>
              <a:chExt cx="288" cy="212"/>
            </a:xfrm>
          </p:grpSpPr>
          <p:sp>
            <p:nvSpPr>
              <p:cNvPr id="18501" name="Rectangle 9">
                <a:extLst>
                  <a:ext uri="{FF2B5EF4-FFF2-40B4-BE49-F238E27FC236}">
                    <a16:creationId xmlns:a16="http://schemas.microsoft.com/office/drawing/2014/main" id="{374302CF-9BB2-4EA7-ADB1-E79AD3B8BE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502" name="Text Box 10">
                <a:extLst>
                  <a:ext uri="{FF2B5EF4-FFF2-40B4-BE49-F238E27FC236}">
                    <a16:creationId xmlns:a16="http://schemas.microsoft.com/office/drawing/2014/main" id="{3FBA2ADA-F32C-4751-A995-BCFAD35A04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/>
                  <a:t>*</a:t>
                </a:r>
                <a:endParaRPr kumimoji="0" lang="en-US" altLang="zh-CN" sz="1800"/>
              </a:p>
            </p:txBody>
          </p:sp>
        </p:grpSp>
        <p:grpSp>
          <p:nvGrpSpPr>
            <p:cNvPr id="18445" name="Group 11">
              <a:extLst>
                <a:ext uri="{FF2B5EF4-FFF2-40B4-BE49-F238E27FC236}">
                  <a16:creationId xmlns:a16="http://schemas.microsoft.com/office/drawing/2014/main" id="{E8288852-BAC1-4029-A5DE-D17589BE15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344"/>
              <a:ext cx="288" cy="231"/>
              <a:chOff x="624" y="1776"/>
              <a:chExt cx="288" cy="231"/>
            </a:xfrm>
          </p:grpSpPr>
          <p:sp>
            <p:nvSpPr>
              <p:cNvPr id="18499" name="Rectangle 12">
                <a:extLst>
                  <a:ext uri="{FF2B5EF4-FFF2-40B4-BE49-F238E27FC236}">
                    <a16:creationId xmlns:a16="http://schemas.microsoft.com/office/drawing/2014/main" id="{BFA775C8-512B-46BE-B74F-0C0715FF93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500" name="Text Box 13">
                <a:extLst>
                  <a:ext uri="{FF2B5EF4-FFF2-40B4-BE49-F238E27FC236}">
                    <a16:creationId xmlns:a16="http://schemas.microsoft.com/office/drawing/2014/main" id="{C416A2AD-2E05-44E9-9E56-C656402D81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M</a:t>
                </a:r>
              </a:p>
            </p:txBody>
          </p:sp>
        </p:grpSp>
        <p:grpSp>
          <p:nvGrpSpPr>
            <p:cNvPr id="18446" name="Group 14">
              <a:extLst>
                <a:ext uri="{FF2B5EF4-FFF2-40B4-BE49-F238E27FC236}">
                  <a16:creationId xmlns:a16="http://schemas.microsoft.com/office/drawing/2014/main" id="{1EC5D01E-D519-452A-ADC8-975F7BE533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344"/>
              <a:ext cx="288" cy="231"/>
              <a:chOff x="624" y="1776"/>
              <a:chExt cx="288" cy="231"/>
            </a:xfrm>
          </p:grpSpPr>
          <p:sp>
            <p:nvSpPr>
              <p:cNvPr id="18497" name="Rectangle 15">
                <a:extLst>
                  <a:ext uri="{FF2B5EF4-FFF2-40B4-BE49-F238E27FC236}">
                    <a16:creationId xmlns:a16="http://schemas.microsoft.com/office/drawing/2014/main" id="{3436F445-1AB0-4B9C-A769-B02112825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98" name="Text Box 16">
                <a:extLst>
                  <a:ext uri="{FF2B5EF4-FFF2-40B4-BE49-F238E27FC236}">
                    <a16:creationId xmlns:a16="http://schemas.microsoft.com/office/drawing/2014/main" id="{68699F1B-7B86-42A7-87CE-D50B74ECBA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grpSp>
          <p:nvGrpSpPr>
            <p:cNvPr id="18447" name="Group 17">
              <a:extLst>
                <a:ext uri="{FF2B5EF4-FFF2-40B4-BE49-F238E27FC236}">
                  <a16:creationId xmlns:a16="http://schemas.microsoft.com/office/drawing/2014/main" id="{AD8E4638-2AC0-4940-B44A-627D79EBCA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344"/>
              <a:ext cx="288" cy="231"/>
              <a:chOff x="624" y="1776"/>
              <a:chExt cx="288" cy="231"/>
            </a:xfrm>
          </p:grpSpPr>
          <p:sp>
            <p:nvSpPr>
              <p:cNvPr id="18495" name="Rectangle 18">
                <a:extLst>
                  <a:ext uri="{FF2B5EF4-FFF2-40B4-BE49-F238E27FC236}">
                    <a16:creationId xmlns:a16="http://schemas.microsoft.com/office/drawing/2014/main" id="{F07F50F2-A122-4772-8CF1-B4C467B4D4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96" name="Text Box 19">
                <a:extLst>
                  <a:ext uri="{FF2B5EF4-FFF2-40B4-BE49-F238E27FC236}">
                    <a16:creationId xmlns:a16="http://schemas.microsoft.com/office/drawing/2014/main" id="{8A2CA6BA-1811-4FD3-AD38-E71AD07BE7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=</a:t>
                </a:r>
              </a:p>
            </p:txBody>
          </p:sp>
        </p:grpSp>
        <p:grpSp>
          <p:nvGrpSpPr>
            <p:cNvPr id="18448" name="Group 20">
              <a:extLst>
                <a:ext uri="{FF2B5EF4-FFF2-40B4-BE49-F238E27FC236}">
                  <a16:creationId xmlns:a16="http://schemas.microsoft.com/office/drawing/2014/main" id="{638344FC-ABD2-4B29-A8F4-1ECE2B3595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1344"/>
              <a:ext cx="288" cy="231"/>
              <a:chOff x="624" y="1776"/>
              <a:chExt cx="288" cy="231"/>
            </a:xfrm>
          </p:grpSpPr>
          <p:sp>
            <p:nvSpPr>
              <p:cNvPr id="18493" name="Rectangle 21">
                <a:extLst>
                  <a:ext uri="{FF2B5EF4-FFF2-40B4-BE49-F238E27FC236}">
                    <a16:creationId xmlns:a16="http://schemas.microsoft.com/office/drawing/2014/main" id="{BB70BEDC-624D-424D-AE3A-C69000F5FB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94" name="Text Box 22">
                <a:extLst>
                  <a:ext uri="{FF2B5EF4-FFF2-40B4-BE49-F238E27FC236}">
                    <a16:creationId xmlns:a16="http://schemas.microsoft.com/office/drawing/2014/main" id="{EF99081D-E801-4D49-A27B-755CFCDBA0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grpSp>
          <p:nvGrpSpPr>
            <p:cNvPr id="18449" name="Group 23">
              <a:extLst>
                <a:ext uri="{FF2B5EF4-FFF2-40B4-BE49-F238E27FC236}">
                  <a16:creationId xmlns:a16="http://schemas.microsoft.com/office/drawing/2014/main" id="{96261D13-2EF7-42D2-A191-D4C6247447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1344"/>
              <a:ext cx="288" cy="231"/>
              <a:chOff x="624" y="1776"/>
              <a:chExt cx="288" cy="231"/>
            </a:xfrm>
          </p:grpSpPr>
          <p:sp>
            <p:nvSpPr>
              <p:cNvPr id="18491" name="Rectangle 24">
                <a:extLst>
                  <a:ext uri="{FF2B5EF4-FFF2-40B4-BE49-F238E27FC236}">
                    <a16:creationId xmlns:a16="http://schemas.microsoft.com/office/drawing/2014/main" id="{16133FD7-F0E9-4955-900D-57F977373F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92" name="Text Box 25">
                <a:extLst>
                  <a:ext uri="{FF2B5EF4-FFF2-40B4-BE49-F238E27FC236}">
                    <a16:creationId xmlns:a16="http://schemas.microsoft.com/office/drawing/2014/main" id="{FAAF5A45-4515-48BB-B5D5-2F79C57F8E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E</a:t>
                </a:r>
              </a:p>
            </p:txBody>
          </p:sp>
        </p:grpSp>
        <p:grpSp>
          <p:nvGrpSpPr>
            <p:cNvPr id="18450" name="Group 26">
              <a:extLst>
                <a:ext uri="{FF2B5EF4-FFF2-40B4-BE49-F238E27FC236}">
                  <a16:creationId xmlns:a16="http://schemas.microsoft.com/office/drawing/2014/main" id="{955C54D6-3658-4C3E-B652-AECE30D3C3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1344"/>
              <a:ext cx="288" cy="231"/>
              <a:chOff x="624" y="1776"/>
              <a:chExt cx="288" cy="231"/>
            </a:xfrm>
          </p:grpSpPr>
          <p:sp>
            <p:nvSpPr>
              <p:cNvPr id="18489" name="Rectangle 27">
                <a:extLst>
                  <a:ext uri="{FF2B5EF4-FFF2-40B4-BE49-F238E27FC236}">
                    <a16:creationId xmlns:a16="http://schemas.microsoft.com/office/drawing/2014/main" id="{1A055A5A-3668-483F-8988-B2E3E8A71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90" name="Text Box 28">
                <a:extLst>
                  <a:ext uri="{FF2B5EF4-FFF2-40B4-BE49-F238E27FC236}">
                    <a16:creationId xmlns:a16="http://schemas.microsoft.com/office/drawing/2014/main" id="{D7BD6F7F-4262-47EB-9F79-7012907ED0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grpSp>
          <p:nvGrpSpPr>
            <p:cNvPr id="18451" name="Group 29">
              <a:extLst>
                <a:ext uri="{FF2B5EF4-FFF2-40B4-BE49-F238E27FC236}">
                  <a16:creationId xmlns:a16="http://schemas.microsoft.com/office/drawing/2014/main" id="{FDC58CC4-935D-4F13-B695-831ABB8C8C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" y="1344"/>
              <a:ext cx="288" cy="231"/>
              <a:chOff x="624" y="1776"/>
              <a:chExt cx="288" cy="231"/>
            </a:xfrm>
          </p:grpSpPr>
          <p:sp>
            <p:nvSpPr>
              <p:cNvPr id="18487" name="Rectangle 30">
                <a:extLst>
                  <a:ext uri="{FF2B5EF4-FFF2-40B4-BE49-F238E27FC236}">
                    <a16:creationId xmlns:a16="http://schemas.microsoft.com/office/drawing/2014/main" id="{652DCBDA-71A7-47DE-BDCD-B99AD59BA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88" name="Text Box 31">
                <a:extLst>
                  <a:ext uri="{FF2B5EF4-FFF2-40B4-BE49-F238E27FC236}">
                    <a16:creationId xmlns:a16="http://schemas.microsoft.com/office/drawing/2014/main" id="{40AA8DC3-AC0E-46A6-9E3E-E9FF0F91BB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grpSp>
          <p:nvGrpSpPr>
            <p:cNvPr id="18452" name="Group 32">
              <a:extLst>
                <a:ext uri="{FF2B5EF4-FFF2-40B4-BE49-F238E27FC236}">
                  <a16:creationId xmlns:a16="http://schemas.microsoft.com/office/drawing/2014/main" id="{BCD9231F-33D5-4ABD-A489-1FACD824F2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1344"/>
              <a:ext cx="288" cy="231"/>
              <a:chOff x="624" y="1776"/>
              <a:chExt cx="288" cy="231"/>
            </a:xfrm>
          </p:grpSpPr>
          <p:sp>
            <p:nvSpPr>
              <p:cNvPr id="18485" name="Rectangle 33">
                <a:extLst>
                  <a:ext uri="{FF2B5EF4-FFF2-40B4-BE49-F238E27FC236}">
                    <a16:creationId xmlns:a16="http://schemas.microsoft.com/office/drawing/2014/main" id="{9858AC22-C50A-4C64-A2D8-ACC7F5D65B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86" name="Text Box 34">
                <a:extLst>
                  <a:ext uri="{FF2B5EF4-FFF2-40B4-BE49-F238E27FC236}">
                    <a16:creationId xmlns:a16="http://schemas.microsoft.com/office/drawing/2014/main" id="{D23EA801-CB7D-4958-93BE-745F1AEF72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sp>
          <p:nvSpPr>
            <p:cNvPr id="18453" name="Rectangle 35">
              <a:extLst>
                <a:ext uri="{FF2B5EF4-FFF2-40B4-BE49-F238E27FC236}">
                  <a16:creationId xmlns:a16="http://schemas.microsoft.com/office/drawing/2014/main" id="{931A86E6-B1C7-49F5-BC01-FF2A6F200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344"/>
              <a:ext cx="19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grpSp>
          <p:nvGrpSpPr>
            <p:cNvPr id="18454" name="Group 36">
              <a:extLst>
                <a:ext uri="{FF2B5EF4-FFF2-40B4-BE49-F238E27FC236}">
                  <a16:creationId xmlns:a16="http://schemas.microsoft.com/office/drawing/2014/main" id="{4E33FC3D-FA24-46C9-A265-1F9037CD4D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1344"/>
              <a:ext cx="288" cy="212"/>
              <a:chOff x="624" y="1776"/>
              <a:chExt cx="288" cy="212"/>
            </a:xfrm>
          </p:grpSpPr>
          <p:sp>
            <p:nvSpPr>
              <p:cNvPr id="18483" name="Rectangle 37">
                <a:extLst>
                  <a:ext uri="{FF2B5EF4-FFF2-40B4-BE49-F238E27FC236}">
                    <a16:creationId xmlns:a16="http://schemas.microsoft.com/office/drawing/2014/main" id="{331C6AF9-DC17-4846-8B2C-3121BE476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84" name="Text Box 38">
                <a:extLst>
                  <a:ext uri="{FF2B5EF4-FFF2-40B4-BE49-F238E27FC236}">
                    <a16:creationId xmlns:a16="http://schemas.microsoft.com/office/drawing/2014/main" id="{AF2726CF-87E8-4F52-8B20-5F22392C175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/>
                  <a:t>eof</a:t>
                </a:r>
                <a:endParaRPr kumimoji="0" lang="en-US" altLang="zh-CN" sz="1800"/>
              </a:p>
            </p:txBody>
          </p:sp>
        </p:grpSp>
        <p:grpSp>
          <p:nvGrpSpPr>
            <p:cNvPr id="18455" name="Group 39">
              <a:extLst>
                <a:ext uri="{FF2B5EF4-FFF2-40B4-BE49-F238E27FC236}">
                  <a16:creationId xmlns:a16="http://schemas.microsoft.com/office/drawing/2014/main" id="{DDC400A7-6058-469D-9ABE-3B2FD82859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1344"/>
              <a:ext cx="288" cy="231"/>
              <a:chOff x="624" y="1776"/>
              <a:chExt cx="288" cy="231"/>
            </a:xfrm>
          </p:grpSpPr>
          <p:sp>
            <p:nvSpPr>
              <p:cNvPr id="18481" name="Rectangle 40">
                <a:extLst>
                  <a:ext uri="{FF2B5EF4-FFF2-40B4-BE49-F238E27FC236}">
                    <a16:creationId xmlns:a16="http://schemas.microsoft.com/office/drawing/2014/main" id="{D355A367-C592-4E36-99D3-B7B3318A11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82" name="Text Box 41">
                <a:extLst>
                  <a:ext uri="{FF2B5EF4-FFF2-40B4-BE49-F238E27FC236}">
                    <a16:creationId xmlns:a16="http://schemas.microsoft.com/office/drawing/2014/main" id="{C038E50B-C080-4AA6-BFF9-C9435DD564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grpSp>
          <p:nvGrpSpPr>
            <p:cNvPr id="18456" name="Group 42">
              <a:extLst>
                <a:ext uri="{FF2B5EF4-FFF2-40B4-BE49-F238E27FC236}">
                  <a16:creationId xmlns:a16="http://schemas.microsoft.com/office/drawing/2014/main" id="{EC23F244-EC1A-4D6A-9A4A-877F79A1BA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1344"/>
              <a:ext cx="288" cy="231"/>
              <a:chOff x="624" y="1776"/>
              <a:chExt cx="288" cy="231"/>
            </a:xfrm>
          </p:grpSpPr>
          <p:sp>
            <p:nvSpPr>
              <p:cNvPr id="18479" name="Rectangle 43">
                <a:extLst>
                  <a:ext uri="{FF2B5EF4-FFF2-40B4-BE49-F238E27FC236}">
                    <a16:creationId xmlns:a16="http://schemas.microsoft.com/office/drawing/2014/main" id="{CFAA93CA-C79E-40A1-B3B2-179D37C750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80" name="Text Box 44">
                <a:extLst>
                  <a:ext uri="{FF2B5EF4-FFF2-40B4-BE49-F238E27FC236}">
                    <a16:creationId xmlns:a16="http://schemas.microsoft.com/office/drawing/2014/main" id="{860D5D1A-FB17-4E9E-923C-EDBA73FDCA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grpSp>
          <p:nvGrpSpPr>
            <p:cNvPr id="18457" name="Group 45">
              <a:extLst>
                <a:ext uri="{FF2B5EF4-FFF2-40B4-BE49-F238E27FC236}">
                  <a16:creationId xmlns:a16="http://schemas.microsoft.com/office/drawing/2014/main" id="{48D06E78-106C-485C-8628-4061E29181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1344"/>
              <a:ext cx="288" cy="231"/>
              <a:chOff x="624" y="1776"/>
              <a:chExt cx="288" cy="231"/>
            </a:xfrm>
          </p:grpSpPr>
          <p:sp>
            <p:nvSpPr>
              <p:cNvPr id="18477" name="Rectangle 46">
                <a:extLst>
                  <a:ext uri="{FF2B5EF4-FFF2-40B4-BE49-F238E27FC236}">
                    <a16:creationId xmlns:a16="http://schemas.microsoft.com/office/drawing/2014/main" id="{8D0CA1EC-9C5A-4E95-B2A8-B4FCFD6CD7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78" name="Text Box 47">
                <a:extLst>
                  <a:ext uri="{FF2B5EF4-FFF2-40B4-BE49-F238E27FC236}">
                    <a16:creationId xmlns:a16="http://schemas.microsoft.com/office/drawing/2014/main" id="{A29B5167-A10E-4C65-A710-1020F78585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grpSp>
          <p:nvGrpSpPr>
            <p:cNvPr id="18458" name="Group 48">
              <a:extLst>
                <a:ext uri="{FF2B5EF4-FFF2-40B4-BE49-F238E27FC236}">
                  <a16:creationId xmlns:a16="http://schemas.microsoft.com/office/drawing/2014/main" id="{4DCD89B4-4656-4D64-8AED-AC3D9E13D6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344"/>
              <a:ext cx="288" cy="231"/>
              <a:chOff x="624" y="1776"/>
              <a:chExt cx="288" cy="231"/>
            </a:xfrm>
          </p:grpSpPr>
          <p:sp>
            <p:nvSpPr>
              <p:cNvPr id="18475" name="Rectangle 49">
                <a:extLst>
                  <a:ext uri="{FF2B5EF4-FFF2-40B4-BE49-F238E27FC236}">
                    <a16:creationId xmlns:a16="http://schemas.microsoft.com/office/drawing/2014/main" id="{A4E27B1F-9592-40EA-85E5-140853D470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76" name="Text Box 50">
                <a:extLst>
                  <a:ext uri="{FF2B5EF4-FFF2-40B4-BE49-F238E27FC236}">
                    <a16:creationId xmlns:a16="http://schemas.microsoft.com/office/drawing/2014/main" id="{D94AD74F-2D64-4BBE-B4C9-74479BB8E5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/>
              </a:p>
            </p:txBody>
          </p:sp>
        </p:grpSp>
        <p:grpSp>
          <p:nvGrpSpPr>
            <p:cNvPr id="18459" name="Group 51">
              <a:extLst>
                <a:ext uri="{FF2B5EF4-FFF2-40B4-BE49-F238E27FC236}">
                  <a16:creationId xmlns:a16="http://schemas.microsoft.com/office/drawing/2014/main" id="{2B9FFB65-778A-4985-85EE-F6D5D98F61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1344"/>
              <a:ext cx="288" cy="212"/>
              <a:chOff x="624" y="1776"/>
              <a:chExt cx="288" cy="212"/>
            </a:xfrm>
          </p:grpSpPr>
          <p:sp>
            <p:nvSpPr>
              <p:cNvPr id="18473" name="Rectangle 52">
                <a:extLst>
                  <a:ext uri="{FF2B5EF4-FFF2-40B4-BE49-F238E27FC236}">
                    <a16:creationId xmlns:a16="http://schemas.microsoft.com/office/drawing/2014/main" id="{46291E75-48A8-45A3-A068-9DAEFA070D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74" name="Text Box 53">
                <a:extLst>
                  <a:ext uri="{FF2B5EF4-FFF2-40B4-BE49-F238E27FC236}">
                    <a16:creationId xmlns:a16="http://schemas.microsoft.com/office/drawing/2014/main" id="{9002481D-1B9A-485D-8899-83F63D872A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600"/>
                  <a:t>eof</a:t>
                </a:r>
                <a:endParaRPr kumimoji="0" lang="en-US" altLang="zh-CN" sz="1800"/>
              </a:p>
            </p:txBody>
          </p:sp>
        </p:grpSp>
        <p:grpSp>
          <p:nvGrpSpPr>
            <p:cNvPr id="18460" name="Group 54">
              <a:extLst>
                <a:ext uri="{FF2B5EF4-FFF2-40B4-BE49-F238E27FC236}">
                  <a16:creationId xmlns:a16="http://schemas.microsoft.com/office/drawing/2014/main" id="{81751A10-812D-4CCB-A3DB-3BB862FCBC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0" y="1344"/>
              <a:ext cx="288" cy="231"/>
              <a:chOff x="624" y="1776"/>
              <a:chExt cx="288" cy="231"/>
            </a:xfrm>
          </p:grpSpPr>
          <p:sp>
            <p:nvSpPr>
              <p:cNvPr id="18471" name="Rectangle 55">
                <a:extLst>
                  <a:ext uri="{FF2B5EF4-FFF2-40B4-BE49-F238E27FC236}">
                    <a16:creationId xmlns:a16="http://schemas.microsoft.com/office/drawing/2014/main" id="{A889A106-FD60-4BEA-9619-6E3903192E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72" name="Text Box 56">
                <a:extLst>
                  <a:ext uri="{FF2B5EF4-FFF2-40B4-BE49-F238E27FC236}">
                    <a16:creationId xmlns:a16="http://schemas.microsoft.com/office/drawing/2014/main" id="{7711F326-1D7C-48D3-A42A-BBA83677F1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2</a:t>
                </a:r>
              </a:p>
            </p:txBody>
          </p:sp>
        </p:grpSp>
        <p:grpSp>
          <p:nvGrpSpPr>
            <p:cNvPr id="18461" name="Group 57">
              <a:extLst>
                <a:ext uri="{FF2B5EF4-FFF2-40B4-BE49-F238E27FC236}">
                  <a16:creationId xmlns:a16="http://schemas.microsoft.com/office/drawing/2014/main" id="{23BEE44E-390C-4EAA-9A7F-295E6AD436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8" y="1344"/>
              <a:ext cx="288" cy="231"/>
              <a:chOff x="624" y="1776"/>
              <a:chExt cx="288" cy="231"/>
            </a:xfrm>
          </p:grpSpPr>
          <p:sp>
            <p:nvSpPr>
              <p:cNvPr id="18469" name="Rectangle 58">
                <a:extLst>
                  <a:ext uri="{FF2B5EF4-FFF2-40B4-BE49-F238E27FC236}">
                    <a16:creationId xmlns:a16="http://schemas.microsoft.com/office/drawing/2014/main" id="{F0A7B109-7358-4397-B6CC-AABF16BBD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70" name="Text Box 59">
                <a:extLst>
                  <a:ext uri="{FF2B5EF4-FFF2-40B4-BE49-F238E27FC236}">
                    <a16:creationId xmlns:a16="http://schemas.microsoft.com/office/drawing/2014/main" id="{DB1D2D9D-4E85-4FE4-848E-2665E75827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*</a:t>
                </a:r>
              </a:p>
            </p:txBody>
          </p:sp>
        </p:grpSp>
        <p:grpSp>
          <p:nvGrpSpPr>
            <p:cNvPr id="18462" name="Group 60">
              <a:extLst>
                <a:ext uri="{FF2B5EF4-FFF2-40B4-BE49-F238E27FC236}">
                  <a16:creationId xmlns:a16="http://schemas.microsoft.com/office/drawing/2014/main" id="{B4C11E0E-FC8A-4B3F-87A6-176F83E569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1344"/>
              <a:ext cx="288" cy="231"/>
              <a:chOff x="624" y="1776"/>
              <a:chExt cx="288" cy="231"/>
            </a:xfrm>
          </p:grpSpPr>
          <p:sp>
            <p:nvSpPr>
              <p:cNvPr id="18467" name="Rectangle 61">
                <a:extLst>
                  <a:ext uri="{FF2B5EF4-FFF2-40B4-BE49-F238E27FC236}">
                    <a16:creationId xmlns:a16="http://schemas.microsoft.com/office/drawing/2014/main" id="{94185468-8F8E-457C-8AC1-4ACFFF195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68" name="Text Box 62">
                <a:extLst>
                  <a:ext uri="{FF2B5EF4-FFF2-40B4-BE49-F238E27FC236}">
                    <a16:creationId xmlns:a16="http://schemas.microsoft.com/office/drawing/2014/main" id="{CEE0A709-95E8-46B1-A577-34777E9C3D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*</a:t>
                </a:r>
              </a:p>
            </p:txBody>
          </p:sp>
        </p:grpSp>
        <p:grpSp>
          <p:nvGrpSpPr>
            <p:cNvPr id="18463" name="Group 63">
              <a:extLst>
                <a:ext uri="{FF2B5EF4-FFF2-40B4-BE49-F238E27FC236}">
                  <a16:creationId xmlns:a16="http://schemas.microsoft.com/office/drawing/2014/main" id="{766EC866-7FF7-4D8C-8AD3-37B378D0E5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1344"/>
              <a:ext cx="288" cy="231"/>
              <a:chOff x="624" y="1776"/>
              <a:chExt cx="288" cy="231"/>
            </a:xfrm>
          </p:grpSpPr>
          <p:sp>
            <p:nvSpPr>
              <p:cNvPr id="18465" name="Rectangle 64">
                <a:extLst>
                  <a:ext uri="{FF2B5EF4-FFF2-40B4-BE49-F238E27FC236}">
                    <a16:creationId xmlns:a16="http://schemas.microsoft.com/office/drawing/2014/main" id="{C7B86021-CA96-45E5-A292-804E56ACB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4" y="1776"/>
                <a:ext cx="192" cy="192"/>
              </a:xfrm>
              <a:prstGeom prst="rect">
                <a:avLst/>
              </a:prstGeom>
              <a:noFill/>
              <a:ln w="9525" cap="rnd">
                <a:solidFill>
                  <a:schemeClr val="tx1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466" name="Text Box 65">
                <a:extLst>
                  <a:ext uri="{FF2B5EF4-FFF2-40B4-BE49-F238E27FC236}">
                    <a16:creationId xmlns:a16="http://schemas.microsoft.com/office/drawing/2014/main" id="{763ADB8D-424B-4ABF-9055-0CA841C88B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776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C</a:t>
                </a:r>
              </a:p>
            </p:txBody>
          </p:sp>
        </p:grpSp>
        <p:sp>
          <p:nvSpPr>
            <p:cNvPr id="18464" name="Rectangle 66">
              <a:extLst>
                <a:ext uri="{FF2B5EF4-FFF2-40B4-BE49-F238E27FC236}">
                  <a16:creationId xmlns:a16="http://schemas.microsoft.com/office/drawing/2014/main" id="{C2DDA5ED-856D-4343-9DEC-87F8D3E295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344"/>
              <a:ext cx="1920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8437" name="AutoShape 67">
            <a:extLst>
              <a:ext uri="{FF2B5EF4-FFF2-40B4-BE49-F238E27FC236}">
                <a16:creationId xmlns:a16="http://schemas.microsoft.com/office/drawing/2014/main" id="{1A48965D-8B8C-48CA-A2EC-86B15E9CD7E9}"/>
              </a:ext>
            </a:extLst>
          </p:cNvPr>
          <p:cNvSpPr>
            <a:spLocks/>
          </p:cNvSpPr>
          <p:nvPr/>
        </p:nvSpPr>
        <p:spPr bwMode="auto">
          <a:xfrm rot="5400000">
            <a:off x="5257800" y="1203325"/>
            <a:ext cx="304800" cy="914400"/>
          </a:xfrm>
          <a:prstGeom prst="leftBrace">
            <a:avLst>
              <a:gd name="adj1" fmla="val 25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8438" name="Text Box 68">
            <a:extLst>
              <a:ext uri="{FF2B5EF4-FFF2-40B4-BE49-F238E27FC236}">
                <a16:creationId xmlns:a16="http://schemas.microsoft.com/office/drawing/2014/main" id="{5E252615-0812-4E7D-B250-F4B80F73F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431925"/>
            <a:ext cx="2133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/>
              <a:t>Current token</a:t>
            </a:r>
          </a:p>
        </p:txBody>
      </p:sp>
      <p:sp>
        <p:nvSpPr>
          <p:cNvPr id="18439" name="Text Box 69">
            <a:extLst>
              <a:ext uri="{FF2B5EF4-FFF2-40B4-BE49-F238E27FC236}">
                <a16:creationId xmlns:a16="http://schemas.microsoft.com/office/drawing/2014/main" id="{A4ADCCA7-2D5B-4444-89B5-8A1DF58DB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346325"/>
            <a:ext cx="2286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lexeme beginning</a:t>
            </a:r>
          </a:p>
        </p:txBody>
      </p:sp>
      <p:sp>
        <p:nvSpPr>
          <p:cNvPr id="18440" name="Line 70">
            <a:extLst>
              <a:ext uri="{FF2B5EF4-FFF2-40B4-BE49-F238E27FC236}">
                <a16:creationId xmlns:a16="http://schemas.microsoft.com/office/drawing/2014/main" id="{12B8F486-E6BA-4A1F-9964-D715341AD6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5800" y="2209800"/>
            <a:ext cx="533400" cy="288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1" name="Text Box 71">
            <a:extLst>
              <a:ext uri="{FF2B5EF4-FFF2-40B4-BE49-F238E27FC236}">
                <a16:creationId xmlns:a16="http://schemas.microsoft.com/office/drawing/2014/main" id="{74766B93-35E2-443D-8D84-E9DE48139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346325"/>
            <a:ext cx="2057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forward (scans ahead to find pattern match)</a:t>
            </a:r>
          </a:p>
        </p:txBody>
      </p:sp>
      <p:sp>
        <p:nvSpPr>
          <p:cNvPr id="18442" name="Line 72">
            <a:extLst>
              <a:ext uri="{FF2B5EF4-FFF2-40B4-BE49-F238E27FC236}">
                <a16:creationId xmlns:a16="http://schemas.microsoft.com/office/drawing/2014/main" id="{E12DAE47-5C60-4B1D-8792-84F2E5A274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638800" y="2209800"/>
            <a:ext cx="457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5300901-E865-49AE-AB06-6BC0C65E56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使用哨兵技术的伪代码</a:t>
            </a:r>
          </a:p>
        </p:txBody>
      </p:sp>
      <p:sp>
        <p:nvSpPr>
          <p:cNvPr id="19459" name="Text Box 6">
            <a:extLst>
              <a:ext uri="{FF2B5EF4-FFF2-40B4-BE49-F238E27FC236}">
                <a16:creationId xmlns:a16="http://schemas.microsoft.com/office/drawing/2014/main" id="{B6248A0A-9444-494D-89B6-4DE854C09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363663"/>
            <a:ext cx="7315200" cy="5268912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kumimoji="0" lang="en-US" altLang="zh-CN" sz="2400" b="0" i="1"/>
              <a:t>forward </a:t>
            </a:r>
            <a:r>
              <a:rPr kumimoji="0" lang="en-US" altLang="zh-CN" sz="2400" b="0"/>
              <a:t>: =  </a:t>
            </a:r>
            <a:r>
              <a:rPr kumimoji="0" lang="en-US" altLang="zh-CN" sz="2400" b="0" i="1"/>
              <a:t>forward + </a:t>
            </a:r>
            <a:r>
              <a:rPr kumimoji="0" lang="en-US" altLang="zh-CN" sz="2400" b="0"/>
              <a:t>1 ;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kumimoji="0" lang="en-US" altLang="zh-CN" sz="2400"/>
              <a:t>if </a:t>
            </a:r>
            <a:r>
              <a:rPr kumimoji="0" lang="en-US" altLang="zh-CN" sz="2400" b="0" i="1"/>
              <a:t> forward </a:t>
            </a:r>
            <a:r>
              <a:rPr kumimoji="0" lang="en-US" altLang="zh-CN" sz="2400" b="0">
                <a:sym typeface="Symbol" panose="05050102010706020507" pitchFamily="18" charset="2"/>
              </a:rPr>
              <a:t> = </a:t>
            </a:r>
            <a:r>
              <a:rPr kumimoji="0" lang="en-US" altLang="zh-CN" sz="2400">
                <a:sym typeface="Symbol" panose="05050102010706020507" pitchFamily="18" charset="2"/>
              </a:rPr>
              <a:t>eof  then  begin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if </a:t>
            </a:r>
            <a:r>
              <a:rPr kumimoji="0" lang="en-US" altLang="zh-CN" sz="2400" b="0">
                <a:sym typeface="Symbol" panose="05050102010706020507" pitchFamily="18" charset="2"/>
              </a:rPr>
              <a:t> </a:t>
            </a:r>
            <a:r>
              <a:rPr kumimoji="0" lang="en-US" altLang="zh-CN" sz="2400" b="0" i="1">
                <a:sym typeface="Symbol" panose="05050102010706020507" pitchFamily="18" charset="2"/>
              </a:rPr>
              <a:t>forward </a:t>
            </a:r>
            <a:r>
              <a:rPr kumimoji="0" lang="en-US" altLang="zh-CN" sz="2400" b="0">
                <a:sym typeface="Symbol" panose="05050102010706020507" pitchFamily="18" charset="2"/>
              </a:rPr>
              <a:t> </a:t>
            </a:r>
            <a:r>
              <a:rPr kumimoji="0" lang="zh-CN" altLang="en-US" sz="2400" b="0">
                <a:sym typeface="Symbol" panose="05050102010706020507" pitchFamily="18" charset="2"/>
              </a:rPr>
              <a:t>位于第一半区的末端  </a:t>
            </a:r>
            <a:r>
              <a:rPr kumimoji="0" lang="en-US" altLang="zh-CN" sz="2400">
                <a:sym typeface="Symbol" panose="05050102010706020507" pitchFamily="18" charset="2"/>
              </a:rPr>
              <a:t>then  begin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kumimoji="0" lang="en-US" altLang="zh-CN" sz="2400" b="0">
                <a:sym typeface="Symbol" panose="05050102010706020507" pitchFamily="18" charset="2"/>
              </a:rPr>
              <a:t>          </a:t>
            </a:r>
            <a:r>
              <a:rPr kumimoji="0" lang="zh-CN" altLang="en-US" sz="2400" b="0">
                <a:sym typeface="Symbol" panose="05050102010706020507" pitchFamily="18" charset="2"/>
              </a:rPr>
              <a:t>装载第二个半区 </a:t>
            </a:r>
            <a:r>
              <a:rPr kumimoji="0" lang="en-US" altLang="zh-CN" sz="2400" b="0">
                <a:sym typeface="Symbol" panose="05050102010706020507" pitchFamily="18" charset="2"/>
              </a:rPr>
              <a:t>;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kumimoji="0" lang="en-US" altLang="zh-CN" sz="2400" b="0">
                <a:sym typeface="Symbol" panose="05050102010706020507" pitchFamily="18" charset="2"/>
              </a:rPr>
              <a:t>          </a:t>
            </a:r>
            <a:r>
              <a:rPr kumimoji="0" lang="en-US" altLang="zh-CN" sz="2400" b="0" i="1">
                <a:sym typeface="Symbol" panose="05050102010706020507" pitchFamily="18" charset="2"/>
              </a:rPr>
              <a:t>forward  </a:t>
            </a:r>
            <a:r>
              <a:rPr kumimoji="0" lang="en-US" altLang="zh-CN" sz="2400" b="0">
                <a:sym typeface="Symbol" panose="05050102010706020507" pitchFamily="18" charset="2"/>
              </a:rPr>
              <a:t>: =  </a:t>
            </a:r>
            <a:r>
              <a:rPr kumimoji="0" lang="en-US" altLang="zh-CN" sz="2400" b="0" i="1">
                <a:sym typeface="Symbol" panose="05050102010706020507" pitchFamily="18" charset="2"/>
              </a:rPr>
              <a:t>forward  </a:t>
            </a:r>
            <a:r>
              <a:rPr kumimoji="0" lang="en-US" altLang="zh-CN" sz="2400" b="0">
                <a:sym typeface="Symbol" panose="05050102010706020507" pitchFamily="18" charset="2"/>
              </a:rPr>
              <a:t>+ 1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kumimoji="0" lang="en-US" altLang="zh-CN" sz="2400" b="0">
                <a:sym typeface="Symbol" panose="05050102010706020507" pitchFamily="18" charset="2"/>
              </a:rPr>
              <a:t>    </a:t>
            </a:r>
            <a:r>
              <a:rPr kumimoji="0" lang="en-US" altLang="zh-CN" sz="2400">
                <a:sym typeface="Symbol" panose="05050102010706020507" pitchFamily="18" charset="2"/>
              </a:rPr>
              <a:t>end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else if  </a:t>
            </a:r>
            <a:r>
              <a:rPr kumimoji="0" lang="en-US" altLang="zh-CN" sz="2400" b="0" i="1">
                <a:sym typeface="Symbol" panose="05050102010706020507" pitchFamily="18" charset="2"/>
              </a:rPr>
              <a:t>forward  </a:t>
            </a:r>
            <a:r>
              <a:rPr kumimoji="0" lang="zh-CN" altLang="en-US" sz="2400" b="0">
                <a:sym typeface="Symbol" panose="05050102010706020507" pitchFamily="18" charset="2"/>
              </a:rPr>
              <a:t>位于第二个半区的末端  </a:t>
            </a:r>
            <a:r>
              <a:rPr kumimoji="0" lang="en-US" altLang="zh-CN" sz="2400">
                <a:sym typeface="Symbol" panose="05050102010706020507" pitchFamily="18" charset="2"/>
              </a:rPr>
              <a:t>then  begin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      </a:t>
            </a:r>
            <a:r>
              <a:rPr kumimoji="0" lang="zh-CN" altLang="en-US" sz="2400" b="0">
                <a:sym typeface="Symbol" panose="05050102010706020507" pitchFamily="18" charset="2"/>
              </a:rPr>
              <a:t>装载第一个半区 </a:t>
            </a:r>
            <a:r>
              <a:rPr kumimoji="0" lang="en-US" altLang="zh-CN" sz="2400" b="0">
                <a:sym typeface="Symbol" panose="05050102010706020507" pitchFamily="18" charset="2"/>
              </a:rPr>
              <a:t>;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kumimoji="0" lang="en-US" altLang="zh-CN" sz="2400" b="0">
                <a:sym typeface="Symbol" panose="05050102010706020507" pitchFamily="18" charset="2"/>
              </a:rPr>
              <a:t>           </a:t>
            </a:r>
            <a:r>
              <a:rPr kumimoji="0" lang="en-US" altLang="zh-CN" sz="2400" b="0" i="1">
                <a:sym typeface="Symbol" panose="05050102010706020507" pitchFamily="18" charset="2"/>
              </a:rPr>
              <a:t>forward </a:t>
            </a:r>
            <a:r>
              <a:rPr kumimoji="0" lang="zh-CN" altLang="en-US" sz="2400" b="0">
                <a:sym typeface="Symbol" panose="05050102010706020507" pitchFamily="18" charset="2"/>
              </a:rPr>
              <a:t>移动到第一个半区的开始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kumimoji="0" lang="zh-CN" altLang="en-US" sz="2400" b="0">
                <a:sym typeface="Symbol" panose="05050102010706020507" pitchFamily="18" charset="2"/>
              </a:rPr>
              <a:t>    </a:t>
            </a:r>
            <a:r>
              <a:rPr kumimoji="0" lang="en-US" altLang="zh-CN" sz="2400">
                <a:sym typeface="Symbol" panose="05050102010706020507" pitchFamily="18" charset="2"/>
              </a:rPr>
              <a:t>end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    else  </a:t>
            </a:r>
            <a:r>
              <a:rPr kumimoji="0" lang="en-US" altLang="zh-CN" sz="2400" b="0">
                <a:sym typeface="Symbol" panose="05050102010706020507" pitchFamily="18" charset="2"/>
              </a:rPr>
              <a:t>/ * </a:t>
            </a:r>
            <a:r>
              <a:rPr kumimoji="0" lang="zh-CN" altLang="en-US" sz="2400" b="0">
                <a:sym typeface="Symbol" panose="05050102010706020507" pitchFamily="18" charset="2"/>
              </a:rPr>
              <a:t>缓冲区内部的</a:t>
            </a:r>
            <a:r>
              <a:rPr kumimoji="0" lang="en-US" altLang="zh-CN" sz="2400">
                <a:sym typeface="Symbol" panose="05050102010706020507" pitchFamily="18" charset="2"/>
              </a:rPr>
              <a:t>eof</a:t>
            </a:r>
            <a:r>
              <a:rPr kumimoji="0" lang="zh-CN" altLang="en-US" sz="2400" b="0">
                <a:sym typeface="Symbol" panose="05050102010706020507" pitchFamily="18" charset="2"/>
              </a:rPr>
              <a:t>意味着输入的结束  * </a:t>
            </a:r>
            <a:r>
              <a:rPr kumimoji="0" lang="en-US" altLang="zh-CN" sz="2400" b="0">
                <a:sym typeface="Symbol" panose="05050102010706020507" pitchFamily="18" charset="2"/>
              </a:rPr>
              <a:t>/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kumimoji="0" lang="en-US" altLang="zh-CN" sz="2400" b="0">
                <a:sym typeface="Symbol" panose="05050102010706020507" pitchFamily="18" charset="2"/>
              </a:rPr>
              <a:t>         </a:t>
            </a:r>
            <a:r>
              <a:rPr kumimoji="0" lang="zh-CN" altLang="en-US" sz="2400" b="0">
                <a:sym typeface="Symbol" panose="05050102010706020507" pitchFamily="18" charset="2"/>
              </a:rPr>
              <a:t>结束词法分析</a:t>
            </a: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end</a:t>
            </a:r>
            <a:endParaRPr kumimoji="0" lang="en-US" altLang="zh-CN" sz="2400" b="0" i="1"/>
          </a:p>
        </p:txBody>
      </p:sp>
      <p:sp>
        <p:nvSpPr>
          <p:cNvPr id="19460" name="Text Box 7">
            <a:extLst>
              <a:ext uri="{FF2B5EF4-FFF2-40B4-BE49-F238E27FC236}">
                <a16:creationId xmlns:a16="http://schemas.microsoft.com/office/drawing/2014/main" id="{BC335724-10FA-40F2-BFE2-4F2D0458B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791200"/>
            <a:ext cx="312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solidFill>
                  <a:srgbClr val="FF5050"/>
                </a:solidFill>
              </a:rPr>
              <a:t>2nd </a:t>
            </a:r>
            <a:r>
              <a:rPr kumimoji="0" lang="en-US" altLang="zh-CN" sz="2400">
                <a:solidFill>
                  <a:srgbClr val="FF5050"/>
                </a:solidFill>
              </a:rPr>
              <a:t>eof</a:t>
            </a:r>
            <a:r>
              <a:rPr kumimoji="0" lang="en-US" altLang="zh-CN" sz="2400" b="0">
                <a:solidFill>
                  <a:srgbClr val="FF5050"/>
                </a:solidFill>
              </a:rPr>
              <a:t> </a:t>
            </a:r>
            <a:r>
              <a:rPr kumimoji="0" lang="en-US" altLang="zh-CN" sz="2400" b="0">
                <a:solidFill>
                  <a:srgbClr val="FF5050"/>
                </a:solidFill>
                <a:sym typeface="Symbol" panose="05050102010706020507" pitchFamily="18" charset="2"/>
              </a:rPr>
              <a:t> </a:t>
            </a:r>
            <a:r>
              <a:rPr kumimoji="0" lang="zh-CN" altLang="en-US" sz="2400" b="0">
                <a:solidFill>
                  <a:srgbClr val="FF5050"/>
                </a:solidFill>
                <a:sym typeface="Symbol" panose="05050102010706020507" pitchFamily="18" charset="2"/>
              </a:rPr>
              <a:t>输入结束 </a:t>
            </a:r>
            <a:r>
              <a:rPr kumimoji="0" lang="en-US" altLang="zh-CN" sz="2400" b="0">
                <a:solidFill>
                  <a:srgbClr val="FF5050"/>
                </a:solidFill>
                <a:sym typeface="Symbol" panose="05050102010706020507" pitchFamily="18" charset="2"/>
              </a:rPr>
              <a:t>!</a:t>
            </a:r>
            <a:endParaRPr kumimoji="0" lang="en-US" altLang="zh-CN" sz="2400" b="0">
              <a:solidFill>
                <a:srgbClr val="FF5050"/>
              </a:solidFill>
            </a:endParaRPr>
          </a:p>
        </p:txBody>
      </p:sp>
      <p:sp>
        <p:nvSpPr>
          <p:cNvPr id="19461" name="Text Box 8">
            <a:extLst>
              <a:ext uri="{FF2B5EF4-FFF2-40B4-BE49-F238E27FC236}">
                <a16:creationId xmlns:a16="http://schemas.microsoft.com/office/drawing/2014/main" id="{3F89464E-717B-4643-90E6-3BA40E75D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514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solidFill>
                  <a:srgbClr val="FF5050"/>
                </a:solidFill>
              </a:rPr>
              <a:t>Block I/O</a:t>
            </a:r>
          </a:p>
        </p:txBody>
      </p:sp>
      <p:sp>
        <p:nvSpPr>
          <p:cNvPr id="19462" name="Text Box 9">
            <a:extLst>
              <a:ext uri="{FF2B5EF4-FFF2-40B4-BE49-F238E27FC236}">
                <a16:creationId xmlns:a16="http://schemas.microsoft.com/office/drawing/2014/main" id="{9EF8CFAD-1208-47C0-B830-17E486C4F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1148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solidFill>
                  <a:srgbClr val="FF5050"/>
                </a:solidFill>
              </a:rPr>
              <a:t>Block I/O</a:t>
            </a:r>
          </a:p>
        </p:txBody>
      </p:sp>
      <p:sp>
        <p:nvSpPr>
          <p:cNvPr id="19463" name="Line 10">
            <a:extLst>
              <a:ext uri="{FF2B5EF4-FFF2-40B4-BE49-F238E27FC236}">
                <a16:creationId xmlns:a16="http://schemas.microsoft.com/office/drawing/2014/main" id="{970139B6-6408-451E-8D91-4D8D4BA245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19600" y="4343400"/>
            <a:ext cx="228600" cy="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464" name="Line 11">
            <a:extLst>
              <a:ext uri="{FF2B5EF4-FFF2-40B4-BE49-F238E27FC236}">
                <a16:creationId xmlns:a16="http://schemas.microsoft.com/office/drawing/2014/main" id="{42426044-CFC1-472C-B546-7941B79A41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19600" y="2743200"/>
            <a:ext cx="457200" cy="0"/>
          </a:xfrm>
          <a:prstGeom prst="line">
            <a:avLst/>
          </a:prstGeom>
          <a:noFill/>
          <a:ln w="9525">
            <a:solidFill>
              <a:srgbClr val="FF66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12BC908-9162-4D24-9468-D415079D1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lcc</a:t>
            </a:r>
            <a:r>
              <a:rPr lang="zh-CN" altLang="en-US"/>
              <a:t>的输入处理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35DF057-68EE-4260-A088-06B8ABB280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//input.c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unsigned char *cp;	/* current input character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unsigned char *limit;	/* points to last character + 1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void nextline(void)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do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if (cp &gt;= limit)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fillbuf();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if (cp &gt;= limit)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cp = limit;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if (cp == limit)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return;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}</a:t>
            </a:r>
          </a:p>
        </p:txBody>
      </p:sp>
      <p:graphicFrame>
        <p:nvGraphicFramePr>
          <p:cNvPr id="4" name="Group 50">
            <a:extLst>
              <a:ext uri="{FF2B5EF4-FFF2-40B4-BE49-F238E27FC236}">
                <a16:creationId xmlns:a16="http://schemas.microsoft.com/office/drawing/2014/main" id="{15C4A69B-3CA3-4E80-927B-9A18A11B58AD}"/>
              </a:ext>
            </a:extLst>
          </p:cNvPr>
          <p:cNvGraphicFramePr>
            <a:graphicFrameLocks/>
          </p:cNvGraphicFramePr>
          <p:nvPr/>
        </p:nvGraphicFramePr>
        <p:xfrm>
          <a:off x="4572000" y="1341438"/>
          <a:ext cx="4176713" cy="334964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4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562" marB="45562" horzOverflow="overflow">
                    <a:lnL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562" marB="45562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562" marB="45562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\n</a:t>
                      </a:r>
                    </a:p>
                  </a:txBody>
                  <a:tcPr marT="45562" marB="45562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00" name="Text Box 46">
            <a:extLst>
              <a:ext uri="{FF2B5EF4-FFF2-40B4-BE49-F238E27FC236}">
                <a16:creationId xmlns:a16="http://schemas.microsoft.com/office/drawing/2014/main" id="{8E0212D4-743A-4DB8-A34B-9F01ACD4E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1989138"/>
            <a:ext cx="5032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0">
                <a:latin typeface="Arial" panose="020B0604020202020204" pitchFamily="34" charset="0"/>
              </a:rPr>
              <a:t>cp</a:t>
            </a:r>
          </a:p>
        </p:txBody>
      </p:sp>
      <p:sp>
        <p:nvSpPr>
          <p:cNvPr id="20501" name="Line 47">
            <a:extLst>
              <a:ext uri="{FF2B5EF4-FFF2-40B4-BE49-F238E27FC236}">
                <a16:creationId xmlns:a16="http://schemas.microsoft.com/office/drawing/2014/main" id="{4BC2C4BB-2951-4148-B0EA-2AAD689A7E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67625" y="1700213"/>
            <a:ext cx="0" cy="4333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502" name="Text Box 48">
            <a:extLst>
              <a:ext uri="{FF2B5EF4-FFF2-40B4-BE49-F238E27FC236}">
                <a16:creationId xmlns:a16="http://schemas.microsoft.com/office/drawing/2014/main" id="{E48B4DB1-A39E-4AFF-8AC8-ECBB2C343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1989138"/>
            <a:ext cx="863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0">
                <a:latin typeface="Arial" panose="020B0604020202020204" pitchFamily="34" charset="0"/>
              </a:rPr>
              <a:t>limit</a:t>
            </a:r>
          </a:p>
        </p:txBody>
      </p:sp>
      <p:sp>
        <p:nvSpPr>
          <p:cNvPr id="20503" name="Line 49">
            <a:extLst>
              <a:ext uri="{FF2B5EF4-FFF2-40B4-BE49-F238E27FC236}">
                <a16:creationId xmlns:a16="http://schemas.microsoft.com/office/drawing/2014/main" id="{D353345C-BED0-4510-9994-FB4BEC9D5A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9788" y="1700213"/>
            <a:ext cx="0" cy="4333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AA2F2E8-5E64-4405-9E2C-51FC9F7335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lcc</a:t>
            </a:r>
            <a:r>
              <a:rPr lang="zh-CN" altLang="en-US"/>
              <a:t>的输入处理（续）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4C8E59E-7B5A-4A2F-9981-90E0105F93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        else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lineno++;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for (line = (char *)cp; *cp==' ' || *cp=='\t'; cp++)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if (*cp == '#')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resynch();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nextline();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} while (*cp == '\n' &amp;&amp; cp == limit);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6BD89CB4-54E2-4650-BF43-E42E27F32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lcc</a:t>
            </a:r>
            <a:r>
              <a:rPr lang="zh-CN" altLang="en-US"/>
              <a:t>的输入处理（续）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48762220-E0A9-452C-B76B-3B95D528B62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182688" y="1371600"/>
            <a:ext cx="7710487" cy="4724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void fillbuf(void)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if (bsize == 0)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return;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if (cp &gt;= limit)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cp = &amp;buffer[MAXLINE+1];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else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int n = limit - cp;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unsigned char *s = &amp;buffer[MAXLINE+1] - n;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assert(s &gt;= buffer);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line = (char *)s - ((char *)cp - line);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while (cp &lt; limit)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*s++ = *cp++;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cp = &amp;buffer[MAXLINE+1] - n;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}</a:t>
            </a:r>
          </a:p>
        </p:txBody>
      </p:sp>
      <p:graphicFrame>
        <p:nvGraphicFramePr>
          <p:cNvPr id="372786" name="Group 50">
            <a:extLst>
              <a:ext uri="{FF2B5EF4-FFF2-40B4-BE49-F238E27FC236}">
                <a16:creationId xmlns:a16="http://schemas.microsoft.com/office/drawing/2014/main" id="{D0123725-F4E9-4962-BC00-F5B23F53791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4572000" y="1341438"/>
          <a:ext cx="4176713" cy="334964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4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9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562" marB="45562" horzOverflow="overflow">
                    <a:lnL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562" marB="45562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562" marB="45562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\n</a:t>
                      </a:r>
                    </a:p>
                  </a:txBody>
                  <a:tcPr marT="45562" marB="45562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548" name="Text Box 46">
            <a:extLst>
              <a:ext uri="{FF2B5EF4-FFF2-40B4-BE49-F238E27FC236}">
                <a16:creationId xmlns:a16="http://schemas.microsoft.com/office/drawing/2014/main" id="{75CB9A6B-DB17-47C8-9324-3B50522E8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0288" y="1989138"/>
            <a:ext cx="5032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0">
                <a:latin typeface="Arial" panose="020B0604020202020204" pitchFamily="34" charset="0"/>
              </a:rPr>
              <a:t>cp</a:t>
            </a:r>
          </a:p>
        </p:txBody>
      </p:sp>
      <p:sp>
        <p:nvSpPr>
          <p:cNvPr id="22549" name="Line 47">
            <a:extLst>
              <a:ext uri="{FF2B5EF4-FFF2-40B4-BE49-F238E27FC236}">
                <a16:creationId xmlns:a16="http://schemas.microsoft.com/office/drawing/2014/main" id="{8AF6D67D-9D64-4A36-96EE-E3421ADBC5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67625" y="1700213"/>
            <a:ext cx="0" cy="4333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550" name="Text Box 48">
            <a:extLst>
              <a:ext uri="{FF2B5EF4-FFF2-40B4-BE49-F238E27FC236}">
                <a16:creationId xmlns:a16="http://schemas.microsoft.com/office/drawing/2014/main" id="{D0E084F2-F66A-47ED-AD37-1C8D3C22E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1989138"/>
            <a:ext cx="863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0">
                <a:latin typeface="Arial" panose="020B0604020202020204" pitchFamily="34" charset="0"/>
              </a:rPr>
              <a:t>limit</a:t>
            </a:r>
          </a:p>
        </p:txBody>
      </p:sp>
      <p:sp>
        <p:nvSpPr>
          <p:cNvPr id="22551" name="Line 49">
            <a:extLst>
              <a:ext uri="{FF2B5EF4-FFF2-40B4-BE49-F238E27FC236}">
                <a16:creationId xmlns:a16="http://schemas.microsoft.com/office/drawing/2014/main" id="{7934C1F0-E08C-4501-93D7-ADE761CE1C5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59788" y="1700213"/>
            <a:ext cx="0" cy="433387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EBCE3E80-F01D-4B74-B9C5-ED772B75E8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lcc</a:t>
            </a:r>
            <a:r>
              <a:rPr lang="zh-CN" altLang="en-US"/>
              <a:t>的输入处理（续）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99F6DDF-3BF0-4327-9892-8A66AFEFD1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if (feof(stdin))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bsize 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else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bsize = fread(&amp;buffer[MAXLINE+1], 1, BUFSIZE, stdin);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if (bsize &lt; 0)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error("read error\n");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exit(EXIT_FAILURE);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limit = &amp;buffer[MAXLINE+1+bsize];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*limit = '\n';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  <p:graphicFrame>
        <p:nvGraphicFramePr>
          <p:cNvPr id="373764" name="Group 4">
            <a:extLst>
              <a:ext uri="{FF2B5EF4-FFF2-40B4-BE49-F238E27FC236}">
                <a16:creationId xmlns:a16="http://schemas.microsoft.com/office/drawing/2014/main" id="{A941E9E8-3481-4DBF-AF69-12102F518C03}"/>
              </a:ext>
            </a:extLst>
          </p:cNvPr>
          <p:cNvGraphicFramePr>
            <a:graphicFrameLocks noGrp="1"/>
          </p:cNvGraphicFramePr>
          <p:nvPr/>
        </p:nvGraphicFramePr>
        <p:xfrm>
          <a:off x="3924300" y="4311650"/>
          <a:ext cx="4176713" cy="334966"/>
        </p:xfrm>
        <a:graphic>
          <a:graphicData uri="http://schemas.openxmlformats.org/drawingml/2006/table">
            <a:tbl>
              <a:tblPr/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2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563" marB="45563" horzOverflow="overflow">
                    <a:lnL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563" marB="45563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563" marB="45563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\n</a:t>
                      </a:r>
                    </a:p>
                  </a:txBody>
                  <a:tcPr marT="45563" marB="45563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572" name="Text Box 20">
            <a:extLst>
              <a:ext uri="{FF2B5EF4-FFF2-40B4-BE49-F238E27FC236}">
                <a16:creationId xmlns:a16="http://schemas.microsoft.com/office/drawing/2014/main" id="{EE378A52-671E-4656-90B7-D1865B9C2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3225" y="4959350"/>
            <a:ext cx="5032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0">
                <a:latin typeface="Arial" panose="020B0604020202020204" pitchFamily="34" charset="0"/>
              </a:rPr>
              <a:t>cp</a:t>
            </a:r>
          </a:p>
        </p:txBody>
      </p:sp>
      <p:sp>
        <p:nvSpPr>
          <p:cNvPr id="23573" name="Line 21">
            <a:extLst>
              <a:ext uri="{FF2B5EF4-FFF2-40B4-BE49-F238E27FC236}">
                <a16:creationId xmlns:a16="http://schemas.microsoft.com/office/drawing/2014/main" id="{E5D8C9B5-F187-4D7C-9471-B151B16133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00563" y="4670425"/>
            <a:ext cx="0" cy="4333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74" name="Text Box 22">
            <a:extLst>
              <a:ext uri="{FF2B5EF4-FFF2-40B4-BE49-F238E27FC236}">
                <a16:creationId xmlns:a16="http://schemas.microsoft.com/office/drawing/2014/main" id="{4E221C6E-A48D-4187-A11B-1876C2962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4959350"/>
            <a:ext cx="863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0">
                <a:latin typeface="Arial" panose="020B0604020202020204" pitchFamily="34" charset="0"/>
              </a:rPr>
              <a:t>limit</a:t>
            </a:r>
          </a:p>
        </p:txBody>
      </p:sp>
      <p:sp>
        <p:nvSpPr>
          <p:cNvPr id="23575" name="Line 23">
            <a:extLst>
              <a:ext uri="{FF2B5EF4-FFF2-40B4-BE49-F238E27FC236}">
                <a16:creationId xmlns:a16="http://schemas.microsoft.com/office/drawing/2014/main" id="{DD2FDF4B-A038-4CBA-99B3-7211634805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12088" y="4670425"/>
            <a:ext cx="0" cy="4333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373784" name="Group 24">
            <a:extLst>
              <a:ext uri="{FF2B5EF4-FFF2-40B4-BE49-F238E27FC236}">
                <a16:creationId xmlns:a16="http://schemas.microsoft.com/office/drawing/2014/main" id="{9B77B41E-5260-4EEC-898E-2E050CF7ABF4}"/>
              </a:ext>
            </a:extLst>
          </p:cNvPr>
          <p:cNvGraphicFramePr>
            <a:graphicFrameLocks noGrp="1"/>
          </p:cNvGraphicFramePr>
          <p:nvPr/>
        </p:nvGraphicFramePr>
        <p:xfrm>
          <a:off x="3852863" y="5295900"/>
          <a:ext cx="4176712" cy="334966"/>
        </p:xfrm>
        <a:graphic>
          <a:graphicData uri="http://schemas.openxmlformats.org/drawingml/2006/table">
            <a:tbl>
              <a:tblPr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563" marB="45563" horzOverflow="overflow">
                    <a:lnL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\n</a:t>
                      </a:r>
                    </a:p>
                  </a:txBody>
                  <a:tcPr marT="45563" marB="45563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563" marB="45563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590" name="Text Box 38">
            <a:extLst>
              <a:ext uri="{FF2B5EF4-FFF2-40B4-BE49-F238E27FC236}">
                <a16:creationId xmlns:a16="http://schemas.microsoft.com/office/drawing/2014/main" id="{611E982E-85F5-4C0C-A68A-D2A9DB687D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5943600"/>
            <a:ext cx="792163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 b="0">
                <a:latin typeface="Arial" panose="020B0604020202020204" pitchFamily="34" charset="0"/>
              </a:rPr>
              <a:t>cp</a:t>
            </a:r>
            <a:br>
              <a:rPr lang="en-US" altLang="zh-CN" sz="1600" b="0">
                <a:latin typeface="Arial" panose="020B0604020202020204" pitchFamily="34" charset="0"/>
              </a:rPr>
            </a:br>
            <a:r>
              <a:rPr lang="en-US" altLang="zh-CN" sz="1600" b="0">
                <a:latin typeface="Arial" panose="020B0604020202020204" pitchFamily="34" charset="0"/>
              </a:rPr>
              <a:t>limit</a:t>
            </a:r>
          </a:p>
        </p:txBody>
      </p:sp>
      <p:sp>
        <p:nvSpPr>
          <p:cNvPr id="23591" name="Line 39">
            <a:extLst>
              <a:ext uri="{FF2B5EF4-FFF2-40B4-BE49-F238E27FC236}">
                <a16:creationId xmlns:a16="http://schemas.microsoft.com/office/drawing/2014/main" id="{5A33D130-28B6-4B34-9AE7-4B9186B669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91138" y="5654675"/>
            <a:ext cx="0" cy="433388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A914C83-B90C-4F1B-B3D7-B9A32AC82D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Tiny-C</a:t>
            </a:r>
            <a:r>
              <a:rPr lang="zh-CN" altLang="en-US"/>
              <a:t>的输入处理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F66E5D65-B29E-4E14-A24F-BA567136C8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static int getNextChar(void)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{ if (!(linepos &lt; bufsize))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{ lineno++;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if (fgets(lineBuf,BUFLEN-1,source))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{ if (EchoSource) fprintf(listing,"%4d: %s",lineno,lineBuf);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bufsize = strlen(lineBuf);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linepos = 0;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return lineBuf[linepos++];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else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{ EOF_flag = TRUE;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  return EOF;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  else return lineBuf[linepos++];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F43724A-AB44-4268-90A2-7FA25A378C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  </a:t>
            </a:r>
            <a:r>
              <a:rPr lang="zh-CN" altLang="en-US"/>
              <a:t>单词的描述：正则表达式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4FD2986-DA0C-4C84-9073-E3FA3366C3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4000" dirty="0">
                <a:solidFill>
                  <a:srgbClr val="3333CC"/>
                </a:solidFill>
                <a:ea typeface="黑体" panose="02010609060101010101" pitchFamily="49" charset="-122"/>
              </a:rPr>
              <a:t>3.3.1 </a:t>
            </a:r>
            <a:r>
              <a:rPr lang="zh-CN" altLang="en-US" sz="4000" dirty="0">
                <a:solidFill>
                  <a:srgbClr val="3333CC"/>
                </a:solidFill>
              </a:rPr>
              <a:t>串和语言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rgbClr val="3333CC"/>
                </a:solidFill>
                <a:ea typeface="黑体" panose="02010609060101010101" pitchFamily="49" charset="-122"/>
              </a:rPr>
              <a:t>字母表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3300"/>
                </a:solidFill>
              </a:rPr>
              <a:t>alphabet</a:t>
            </a:r>
            <a:r>
              <a:rPr lang="zh-CN" altLang="en-US" dirty="0"/>
              <a:t>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符号的有穷集合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dirty="0"/>
              <a:t>如</a:t>
            </a:r>
            <a:r>
              <a:rPr lang="en-US" altLang="zh-CN" dirty="0"/>
              <a:t>{0, 1}, {a, b, c}, {n, m, …, z}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85A384B9-EDBC-4A37-BE4A-F227F8547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串和语言（续）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E00982B-DDE5-4F30-B32F-8AFCC385F8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>
                <a:solidFill>
                  <a:srgbClr val="3333CC"/>
                </a:solidFill>
                <a:ea typeface="黑体" panose="02010609060101010101" pitchFamily="49" charset="-122"/>
              </a:rPr>
              <a:t>符号串</a:t>
            </a:r>
            <a:r>
              <a:rPr lang="zh-CN" altLang="en-US"/>
              <a:t>（</a:t>
            </a:r>
            <a:r>
              <a:rPr lang="en-US" altLang="zh-CN">
                <a:solidFill>
                  <a:srgbClr val="FF3300"/>
                </a:solidFill>
              </a:rPr>
              <a:t>string</a:t>
            </a:r>
            <a:r>
              <a:rPr lang="zh-CN" altLang="en-US"/>
              <a:t>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/>
              <a:t>字母表中符号组成的有穷序列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/>
              <a:t>如</a:t>
            </a:r>
            <a:r>
              <a:rPr lang="en-US" altLang="zh-CN"/>
              <a:t>0011</a:t>
            </a:r>
            <a:r>
              <a:rPr lang="zh-CN" altLang="en-US"/>
              <a:t>，</a:t>
            </a:r>
            <a:r>
              <a:rPr lang="en-US" altLang="zh-CN"/>
              <a:t>abbca</a:t>
            </a:r>
            <a:r>
              <a:rPr lang="zh-CN" altLang="en-US"/>
              <a:t>，</a:t>
            </a:r>
            <a:r>
              <a:rPr lang="en-US" altLang="zh-CN"/>
              <a:t>AABBC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/>
              <a:t>也称作句子（</a:t>
            </a:r>
            <a:r>
              <a:rPr lang="en-US" altLang="zh-CN">
                <a:solidFill>
                  <a:srgbClr val="FF3300"/>
                </a:solidFill>
              </a:rPr>
              <a:t>sentence</a:t>
            </a:r>
            <a:r>
              <a:rPr lang="zh-CN" altLang="en-US"/>
              <a:t>），字（</a:t>
            </a:r>
            <a:r>
              <a:rPr lang="en-US" altLang="zh-CN">
                <a:solidFill>
                  <a:srgbClr val="FF3300"/>
                </a:solidFill>
              </a:rPr>
              <a:t>word</a:t>
            </a:r>
            <a:r>
              <a:rPr lang="zh-CN" altLang="en-US"/>
              <a:t>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s</a:t>
            </a:r>
            <a:r>
              <a:rPr lang="zh-CN" altLang="en-US"/>
              <a:t>为符号串，</a:t>
            </a:r>
            <a:r>
              <a:rPr lang="en-US" altLang="zh-CN"/>
              <a:t>|s|</a:t>
            </a:r>
            <a:r>
              <a:rPr lang="zh-CN" altLang="en-US"/>
              <a:t>表示</a:t>
            </a:r>
            <a:r>
              <a:rPr lang="en-US" altLang="zh-CN"/>
              <a:t>s</a:t>
            </a:r>
            <a:r>
              <a:rPr lang="zh-CN" altLang="en-US"/>
              <a:t>的</a:t>
            </a:r>
            <a:r>
              <a:rPr lang="zh-CN" altLang="en-US">
                <a:solidFill>
                  <a:srgbClr val="3333CC"/>
                </a:solidFill>
                <a:ea typeface="黑体" panose="02010609060101010101" pitchFamily="49" charset="-122"/>
              </a:rPr>
              <a:t>长度</a:t>
            </a:r>
            <a:r>
              <a:rPr lang="en-US" altLang="zh-CN"/>
              <a:t>——</a:t>
            </a:r>
            <a:r>
              <a:rPr lang="zh-CN" altLang="en-US">
                <a:solidFill>
                  <a:srgbClr val="3333CC"/>
                </a:solidFill>
                <a:ea typeface="黑体" panose="02010609060101010101" pitchFamily="49" charset="-122"/>
              </a:rPr>
              <a:t>符号数目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>
                <a:sym typeface="Symbol" panose="05050102010706020507" pitchFamily="18" charset="2"/>
              </a:rPr>
              <a:t> </a:t>
            </a:r>
            <a:r>
              <a:rPr kumimoji="0" lang="zh-CN" altLang="en-US">
                <a:sym typeface="Symbol" panose="05050102010706020507" pitchFamily="18" charset="2"/>
              </a:rPr>
              <a:t>：</a:t>
            </a:r>
            <a:r>
              <a:rPr kumimoji="0" lang="zh-CN" altLang="en-US">
                <a:solidFill>
                  <a:srgbClr val="3333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空符号串</a:t>
            </a:r>
            <a:r>
              <a:rPr kumimoji="0" lang="zh-CN" altLang="en-US">
                <a:sym typeface="Symbol" panose="05050102010706020507" pitchFamily="18" charset="2"/>
              </a:rPr>
              <a:t>， </a:t>
            </a:r>
            <a:r>
              <a:rPr lang="en-US" altLang="zh-CN"/>
              <a:t>|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lang="en-US" altLang="zh-CN"/>
              <a:t>|=0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E2147EA-0A4E-4AAC-AA50-A023E784E7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相关术语</a:t>
            </a:r>
            <a:r>
              <a:rPr lang="en-US" altLang="zh-CN"/>
              <a:t>——</a:t>
            </a:r>
            <a:r>
              <a:rPr lang="zh-CN" altLang="en-US"/>
              <a:t>符号串</a:t>
            </a:r>
            <a:r>
              <a:rPr lang="en-US" altLang="zh-CN"/>
              <a:t>s</a:t>
            </a:r>
            <a:r>
              <a:rPr lang="zh-CN" altLang="en-US"/>
              <a:t>为</a:t>
            </a:r>
            <a:r>
              <a:rPr lang="en-US" altLang="zh-CN"/>
              <a:t>banana</a:t>
            </a:r>
          </a:p>
        </p:txBody>
      </p:sp>
      <p:sp>
        <p:nvSpPr>
          <p:cNvPr id="27651" name="Text Box 5">
            <a:extLst>
              <a:ext uri="{FF2B5EF4-FFF2-40B4-BE49-F238E27FC236}">
                <a16:creationId xmlns:a16="http://schemas.microsoft.com/office/drawing/2014/main" id="{DCDBBAC3-97A9-4264-A2D7-012C52D66A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352550"/>
            <a:ext cx="2590800" cy="42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0">
                <a:ea typeface="黑体" panose="02010609060101010101" pitchFamily="49" charset="-122"/>
              </a:rPr>
              <a:t>术语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ea typeface="黑体" panose="02010609060101010101" pitchFamily="49" charset="-122"/>
              </a:rPr>
              <a:t>s</a:t>
            </a:r>
            <a:r>
              <a:rPr kumimoji="0" lang="zh-CN" altLang="en-US" sz="2000" b="0">
                <a:ea typeface="黑体" panose="02010609060101010101" pitchFamily="49" charset="-122"/>
              </a:rPr>
              <a:t>的</a:t>
            </a:r>
            <a:r>
              <a:rPr kumimoji="0" lang="zh-CN" altLang="en-US" sz="2000" b="0">
                <a:solidFill>
                  <a:srgbClr val="3333CC"/>
                </a:solidFill>
                <a:ea typeface="黑体" panose="02010609060101010101" pitchFamily="49" charset="-122"/>
              </a:rPr>
              <a:t>前缀</a:t>
            </a:r>
            <a:r>
              <a:rPr kumimoji="0" lang="zh-CN" altLang="en-US" sz="2000" b="0">
                <a:ea typeface="黑体" panose="02010609060101010101" pitchFamily="49" charset="-122"/>
              </a:rPr>
              <a:t>（</a:t>
            </a:r>
            <a:r>
              <a:rPr kumimoji="0" lang="en-US" altLang="zh-CN" sz="2000" b="0">
                <a:solidFill>
                  <a:srgbClr val="FF3300"/>
                </a:solidFill>
                <a:ea typeface="黑体" panose="02010609060101010101" pitchFamily="49" charset="-122"/>
              </a:rPr>
              <a:t>prefix</a:t>
            </a:r>
            <a:r>
              <a:rPr kumimoji="0" lang="zh-CN" altLang="en-US" sz="2000" b="0">
                <a:ea typeface="黑体" panose="02010609060101010101" pitchFamily="49" charset="-122"/>
              </a:rPr>
              <a:t>）</a:t>
            </a:r>
            <a:br>
              <a:rPr kumimoji="0" lang="zh-CN" altLang="en-US" sz="2000" b="0">
                <a:ea typeface="黑体" panose="02010609060101010101" pitchFamily="49" charset="-122"/>
              </a:rPr>
            </a:br>
            <a:endParaRPr kumimoji="0" lang="zh-CN" altLang="en-US" sz="2000" b="0"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ea typeface="黑体" panose="02010609060101010101" pitchFamily="49" charset="-122"/>
              </a:rPr>
              <a:t>s</a:t>
            </a:r>
            <a:r>
              <a:rPr kumimoji="0" lang="zh-CN" altLang="en-US" sz="2000" b="0">
                <a:ea typeface="黑体" panose="02010609060101010101" pitchFamily="49" charset="-122"/>
              </a:rPr>
              <a:t>的</a:t>
            </a:r>
            <a:r>
              <a:rPr kumimoji="0" lang="zh-CN" altLang="en-US" sz="2000" b="0">
                <a:solidFill>
                  <a:srgbClr val="3333CC"/>
                </a:solidFill>
                <a:ea typeface="黑体" panose="02010609060101010101" pitchFamily="49" charset="-122"/>
              </a:rPr>
              <a:t>后缀</a:t>
            </a:r>
            <a:r>
              <a:rPr kumimoji="0" lang="zh-CN" altLang="en-US" sz="2000" b="0">
                <a:ea typeface="黑体" panose="02010609060101010101" pitchFamily="49" charset="-122"/>
              </a:rPr>
              <a:t>（</a:t>
            </a:r>
            <a:r>
              <a:rPr kumimoji="0" lang="en-US" altLang="zh-CN" sz="2000" b="0">
                <a:solidFill>
                  <a:srgbClr val="FF3300"/>
                </a:solidFill>
                <a:ea typeface="黑体" panose="02010609060101010101" pitchFamily="49" charset="-122"/>
              </a:rPr>
              <a:t>suffix</a:t>
            </a:r>
            <a:r>
              <a:rPr kumimoji="0" lang="zh-CN" altLang="en-US" sz="2000" b="0">
                <a:ea typeface="黑体" panose="02010609060101010101" pitchFamily="49" charset="-122"/>
              </a:rPr>
              <a:t>）</a:t>
            </a:r>
            <a:br>
              <a:rPr kumimoji="0" lang="zh-CN" altLang="en-US" sz="2000" b="0">
                <a:ea typeface="黑体" panose="02010609060101010101" pitchFamily="49" charset="-122"/>
              </a:rPr>
            </a:br>
            <a:endParaRPr kumimoji="0" lang="zh-CN" altLang="en-US" sz="2000" b="0"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ea typeface="黑体" panose="02010609060101010101" pitchFamily="49" charset="-122"/>
              </a:rPr>
              <a:t>s</a:t>
            </a:r>
            <a:r>
              <a:rPr kumimoji="0" lang="zh-CN" altLang="en-US" sz="2000" b="0">
                <a:ea typeface="黑体" panose="02010609060101010101" pitchFamily="49" charset="-122"/>
              </a:rPr>
              <a:t>的</a:t>
            </a:r>
            <a:r>
              <a:rPr kumimoji="0" lang="zh-CN" altLang="en-US" sz="2000" b="0">
                <a:solidFill>
                  <a:srgbClr val="3333CC"/>
                </a:solidFill>
                <a:ea typeface="黑体" panose="02010609060101010101" pitchFamily="49" charset="-122"/>
              </a:rPr>
              <a:t>子串</a:t>
            </a:r>
            <a:r>
              <a:rPr kumimoji="0" lang="zh-CN" altLang="en-US" sz="2000" b="0">
                <a:ea typeface="黑体" panose="02010609060101010101" pitchFamily="49" charset="-122"/>
              </a:rPr>
              <a:t>（</a:t>
            </a:r>
            <a:r>
              <a:rPr kumimoji="0" lang="en-US" altLang="zh-CN" sz="2000" b="0">
                <a:solidFill>
                  <a:srgbClr val="FF3300"/>
                </a:solidFill>
                <a:ea typeface="黑体" panose="02010609060101010101" pitchFamily="49" charset="-122"/>
              </a:rPr>
              <a:t>substring</a:t>
            </a:r>
            <a:r>
              <a:rPr kumimoji="0" lang="zh-CN" altLang="en-US" sz="2000" b="0">
                <a:ea typeface="黑体" panose="02010609060101010101" pitchFamily="49" charset="-122"/>
              </a:rPr>
              <a:t>）</a:t>
            </a:r>
            <a:br>
              <a:rPr kumimoji="0" lang="zh-CN" altLang="en-US" sz="2000" b="0">
                <a:ea typeface="黑体" panose="02010609060101010101" pitchFamily="49" charset="-122"/>
              </a:rPr>
            </a:br>
            <a:endParaRPr kumimoji="0" lang="zh-CN" altLang="en-US" sz="2000" b="0"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ea typeface="黑体" panose="02010609060101010101" pitchFamily="49" charset="-122"/>
              </a:rPr>
              <a:t>s</a:t>
            </a:r>
            <a:r>
              <a:rPr kumimoji="0" lang="zh-CN" altLang="en-US" sz="2000" b="0">
                <a:ea typeface="黑体" panose="02010609060101010101" pitchFamily="49" charset="-122"/>
              </a:rPr>
              <a:t>的</a:t>
            </a:r>
            <a:r>
              <a:rPr kumimoji="0" lang="zh-CN" altLang="en-US" sz="2000" b="0">
                <a:solidFill>
                  <a:srgbClr val="3333CC"/>
                </a:solidFill>
                <a:ea typeface="黑体" panose="02010609060101010101" pitchFamily="49" charset="-122"/>
              </a:rPr>
              <a:t>真</a:t>
            </a:r>
            <a:r>
              <a:rPr kumimoji="0" lang="zh-CN" altLang="en-US" sz="2000" b="0">
                <a:ea typeface="黑体" panose="02010609060101010101" pitchFamily="49" charset="-122"/>
              </a:rPr>
              <a:t>（</a:t>
            </a:r>
            <a:r>
              <a:rPr kumimoji="0" lang="en-US" altLang="zh-CN" sz="2000" b="0">
                <a:solidFill>
                  <a:srgbClr val="FF3300"/>
                </a:solidFill>
                <a:ea typeface="黑体" panose="02010609060101010101" pitchFamily="49" charset="-122"/>
              </a:rPr>
              <a:t>proper</a:t>
            </a:r>
            <a:r>
              <a:rPr kumimoji="0" lang="zh-CN" altLang="en-US" sz="2000" b="0">
                <a:ea typeface="黑体" panose="02010609060101010101" pitchFamily="49" charset="-122"/>
              </a:rPr>
              <a:t>）</a:t>
            </a:r>
            <a:r>
              <a:rPr kumimoji="0" lang="zh-CN" altLang="en-US" sz="2000" b="0">
                <a:solidFill>
                  <a:srgbClr val="3333CC"/>
                </a:solidFill>
                <a:ea typeface="黑体" panose="02010609060101010101" pitchFamily="49" charset="-122"/>
              </a:rPr>
              <a:t>前缀</a:t>
            </a:r>
            <a:r>
              <a:rPr kumimoji="0" lang="zh-CN" altLang="en-US" sz="2000" b="0">
                <a:ea typeface="黑体" panose="02010609060101010101" pitchFamily="49" charset="-122"/>
              </a:rPr>
              <a:t>、</a:t>
            </a:r>
            <a:r>
              <a:rPr kumimoji="0" lang="zh-CN" altLang="en-US" sz="2000" b="0">
                <a:solidFill>
                  <a:srgbClr val="3333CC"/>
                </a:solidFill>
                <a:ea typeface="黑体" panose="02010609060101010101" pitchFamily="49" charset="-122"/>
              </a:rPr>
              <a:t>后缀</a:t>
            </a:r>
            <a:r>
              <a:rPr kumimoji="0" lang="zh-CN" altLang="en-US" sz="2000" b="0">
                <a:ea typeface="黑体" panose="02010609060101010101" pitchFamily="49" charset="-122"/>
              </a:rPr>
              <a:t>、</a:t>
            </a:r>
            <a:r>
              <a:rPr kumimoji="0" lang="zh-CN" altLang="en-US" sz="2000" b="0">
                <a:solidFill>
                  <a:srgbClr val="3333CC"/>
                </a:solidFill>
                <a:ea typeface="黑体" panose="02010609060101010101" pitchFamily="49" charset="-122"/>
              </a:rPr>
              <a:t>子串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ea typeface="黑体" panose="02010609060101010101" pitchFamily="49" charset="-122"/>
              </a:rPr>
              <a:t>s</a:t>
            </a:r>
            <a:r>
              <a:rPr kumimoji="0" lang="zh-CN" altLang="en-US" sz="2000" b="0">
                <a:ea typeface="黑体" panose="02010609060101010101" pitchFamily="49" charset="-122"/>
              </a:rPr>
              <a:t>的</a:t>
            </a:r>
            <a:r>
              <a:rPr kumimoji="0" lang="zh-CN" altLang="en-US" sz="2000" b="0">
                <a:solidFill>
                  <a:srgbClr val="3333CC"/>
                </a:solidFill>
                <a:ea typeface="黑体" panose="02010609060101010101" pitchFamily="49" charset="-122"/>
              </a:rPr>
              <a:t>子序列</a:t>
            </a:r>
            <a:br>
              <a:rPr kumimoji="0" lang="zh-CN" altLang="en-US" sz="2000" b="0">
                <a:ea typeface="黑体" panose="02010609060101010101" pitchFamily="49" charset="-122"/>
              </a:rPr>
            </a:br>
            <a:r>
              <a:rPr kumimoji="0" lang="zh-CN" altLang="en-US" sz="2000" b="0">
                <a:ea typeface="黑体" panose="02010609060101010101" pitchFamily="49" charset="-122"/>
              </a:rPr>
              <a:t>（</a:t>
            </a:r>
            <a:r>
              <a:rPr kumimoji="0" lang="en-US" altLang="zh-CN" sz="2000" b="0">
                <a:solidFill>
                  <a:srgbClr val="FF3300"/>
                </a:solidFill>
                <a:ea typeface="黑体" panose="02010609060101010101" pitchFamily="49" charset="-122"/>
              </a:rPr>
              <a:t>subsequence</a:t>
            </a:r>
            <a:r>
              <a:rPr kumimoji="0" lang="zh-CN" altLang="en-US" sz="2000" b="0"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27652" name="Line 6">
            <a:extLst>
              <a:ext uri="{FF2B5EF4-FFF2-40B4-BE49-F238E27FC236}">
                <a16:creationId xmlns:a16="http://schemas.microsoft.com/office/drawing/2014/main" id="{C4C525DC-CCB0-4553-A466-EB5E23A56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323975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3" name="Line 7">
            <a:extLst>
              <a:ext uri="{FF2B5EF4-FFF2-40B4-BE49-F238E27FC236}">
                <a16:creationId xmlns:a16="http://schemas.microsoft.com/office/drawing/2014/main" id="{C0CE8EFF-73EF-46E8-8739-6673E090F50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203325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4" name="Line 8">
            <a:extLst>
              <a:ext uri="{FF2B5EF4-FFF2-40B4-BE49-F238E27FC236}">
                <a16:creationId xmlns:a16="http://schemas.microsoft.com/office/drawing/2014/main" id="{352D8F7D-F116-4BEF-A1F7-65D4B338CDC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5546725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5" name="Line 9">
            <a:extLst>
              <a:ext uri="{FF2B5EF4-FFF2-40B4-BE49-F238E27FC236}">
                <a16:creationId xmlns:a16="http://schemas.microsoft.com/office/drawing/2014/main" id="{4BE0258C-4613-449B-AFF2-061452A477B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812925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6" name="Line 10">
            <a:extLst>
              <a:ext uri="{FF2B5EF4-FFF2-40B4-BE49-F238E27FC236}">
                <a16:creationId xmlns:a16="http://schemas.microsoft.com/office/drawing/2014/main" id="{D6286052-A005-40F4-8E92-0AC5F454B1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1323975"/>
            <a:ext cx="0" cy="4222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7" name="Text Box 11">
            <a:extLst>
              <a:ext uri="{FF2B5EF4-FFF2-40B4-BE49-F238E27FC236}">
                <a16:creationId xmlns:a16="http://schemas.microsoft.com/office/drawing/2014/main" id="{64931C44-9723-4C8B-BEE4-5B3F33EC6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1355725"/>
            <a:ext cx="5029200" cy="42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0" dirty="0">
                <a:ea typeface="黑体" panose="02010609060101010101" pitchFamily="49" charset="-122"/>
              </a:rPr>
              <a:t>定义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0" dirty="0">
                <a:latin typeface="宋体" panose="02010600030101010101" pitchFamily="2" charset="-122"/>
              </a:rPr>
              <a:t>将</a:t>
            </a:r>
            <a:r>
              <a:rPr kumimoji="0" lang="en-US" altLang="zh-CN" sz="2000" b="0" dirty="0">
                <a:latin typeface="宋体" panose="02010600030101010101" pitchFamily="2" charset="-122"/>
              </a:rPr>
              <a:t>s</a:t>
            </a:r>
            <a:r>
              <a:rPr kumimoji="0" lang="zh-CN" altLang="en-US" sz="2000" b="0" dirty="0">
                <a:latin typeface="宋体" panose="02010600030101010101" pitchFamily="2" charset="-122"/>
              </a:rPr>
              <a:t>尾部</a:t>
            </a:r>
            <a:r>
              <a:rPr kumimoji="0" lang="en-US" altLang="zh-CN" sz="2000" b="0" dirty="0">
                <a:latin typeface="宋体" panose="02010600030101010101" pitchFamily="2" charset="-122"/>
              </a:rPr>
              <a:t>0</a:t>
            </a:r>
            <a:r>
              <a:rPr kumimoji="0" lang="zh-CN" altLang="en-US" sz="2000" b="0" dirty="0">
                <a:latin typeface="宋体" panose="02010600030101010101" pitchFamily="2" charset="-122"/>
              </a:rPr>
              <a:t>个或多个符号删除得到的符号串，如</a:t>
            </a:r>
            <a:r>
              <a:rPr kumimoji="0" lang="en-US" altLang="zh-CN" sz="2000" b="0" dirty="0">
                <a:solidFill>
                  <a:srgbClr val="3333CC"/>
                </a:solidFill>
                <a:latin typeface="宋体" panose="02010600030101010101" pitchFamily="2" charset="-122"/>
              </a:rPr>
              <a:t>ban</a:t>
            </a:r>
            <a:r>
              <a:rPr kumimoji="0" lang="zh-CN" altLang="en-US" sz="2000" b="0" dirty="0">
                <a:latin typeface="宋体" panose="02010600030101010101" pitchFamily="2" charset="-122"/>
              </a:rPr>
              <a:t>，</a:t>
            </a:r>
            <a:r>
              <a:rPr kumimoji="0" lang="en-US" altLang="zh-CN" sz="2000" b="0" dirty="0">
                <a:solidFill>
                  <a:srgbClr val="3333CC"/>
                </a:solidFill>
                <a:latin typeface="宋体" panose="02010600030101010101" pitchFamily="2" charset="-122"/>
              </a:rPr>
              <a:t>banana</a:t>
            </a:r>
            <a:r>
              <a:rPr kumimoji="0" lang="zh-CN" altLang="en-US" sz="2000" b="0" dirty="0">
                <a:latin typeface="宋体" panose="02010600030101010101" pitchFamily="2" charset="-122"/>
              </a:rPr>
              <a:t>，</a:t>
            </a:r>
            <a:r>
              <a:rPr kumimoji="0" lang="en-US" altLang="zh-CN" sz="2000" b="0" dirty="0">
                <a:solidFill>
                  <a:schemeClr val="fol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0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0" dirty="0">
                <a:latin typeface="宋体" panose="02010600030101010101" pitchFamily="2" charset="-122"/>
              </a:rPr>
              <a:t>将</a:t>
            </a:r>
            <a:r>
              <a:rPr kumimoji="0" lang="en-US" altLang="zh-CN" sz="2000" b="0" dirty="0">
                <a:latin typeface="宋体" panose="02010600030101010101" pitchFamily="2" charset="-122"/>
              </a:rPr>
              <a:t>s</a:t>
            </a:r>
            <a:r>
              <a:rPr kumimoji="0" lang="zh-CN" altLang="en-US" sz="2000" b="0" dirty="0">
                <a:latin typeface="宋体" panose="02010600030101010101" pitchFamily="2" charset="-122"/>
              </a:rPr>
              <a:t>头部</a:t>
            </a:r>
            <a:r>
              <a:rPr kumimoji="0" lang="en-US" altLang="zh-CN" sz="2000" b="0" dirty="0">
                <a:latin typeface="宋体" panose="02010600030101010101" pitchFamily="2" charset="-122"/>
              </a:rPr>
              <a:t>0</a:t>
            </a:r>
            <a:r>
              <a:rPr kumimoji="0" lang="zh-CN" altLang="en-US" sz="2000" b="0" dirty="0">
                <a:latin typeface="宋体" panose="02010600030101010101" pitchFamily="2" charset="-122"/>
              </a:rPr>
              <a:t>个或多个符号删除所得符号串，</a:t>
            </a:r>
            <a:br>
              <a:rPr kumimoji="0" lang="zh-CN" altLang="en-US" sz="2000" b="0" dirty="0">
                <a:latin typeface="宋体" panose="02010600030101010101" pitchFamily="2" charset="-122"/>
              </a:rPr>
            </a:br>
            <a:r>
              <a:rPr kumimoji="0" lang="zh-CN" altLang="en-US" sz="2000" b="0" dirty="0">
                <a:latin typeface="宋体" panose="02010600030101010101" pitchFamily="2" charset="-122"/>
              </a:rPr>
              <a:t>如</a:t>
            </a:r>
            <a:r>
              <a:rPr kumimoji="0" lang="en-US" altLang="zh-CN" sz="2000" b="0" dirty="0">
                <a:solidFill>
                  <a:srgbClr val="3333CC"/>
                </a:solidFill>
                <a:latin typeface="宋体" panose="02010600030101010101" pitchFamily="2" charset="-122"/>
              </a:rPr>
              <a:t>ana</a:t>
            </a:r>
            <a:r>
              <a:rPr kumimoji="0" lang="zh-CN" altLang="en-US" sz="2000" b="0" dirty="0">
                <a:latin typeface="宋体" panose="02010600030101010101" pitchFamily="2" charset="-122"/>
              </a:rPr>
              <a:t>，</a:t>
            </a:r>
            <a:r>
              <a:rPr kumimoji="0" lang="en-US" altLang="zh-CN" sz="2000" b="0" dirty="0">
                <a:solidFill>
                  <a:srgbClr val="3333CC"/>
                </a:solidFill>
                <a:latin typeface="宋体" panose="02010600030101010101" pitchFamily="2" charset="-122"/>
              </a:rPr>
              <a:t>banana</a:t>
            </a:r>
            <a:r>
              <a:rPr kumimoji="0" lang="zh-CN" altLang="en-US" sz="2000" b="0" dirty="0">
                <a:latin typeface="宋体" panose="02010600030101010101" pitchFamily="2" charset="-122"/>
              </a:rPr>
              <a:t>，</a:t>
            </a:r>
            <a:r>
              <a:rPr kumimoji="0" lang="en-US" altLang="zh-CN" sz="2000" b="0" dirty="0">
                <a:solidFill>
                  <a:schemeClr val="fol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000" b="0" dirty="0">
              <a:solidFill>
                <a:schemeClr val="folHlink"/>
              </a:solidFill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0" dirty="0">
                <a:latin typeface="宋体" panose="02010600030101010101" pitchFamily="2" charset="-122"/>
              </a:rPr>
              <a:t>将</a:t>
            </a:r>
            <a:r>
              <a:rPr kumimoji="0" lang="en-US" altLang="zh-CN" sz="2000" b="0" dirty="0">
                <a:latin typeface="宋体" panose="02010600030101010101" pitchFamily="2" charset="-122"/>
              </a:rPr>
              <a:t>s</a:t>
            </a:r>
            <a:r>
              <a:rPr kumimoji="0" lang="zh-CN" altLang="en-US" sz="2000" b="0" dirty="0">
                <a:latin typeface="宋体" panose="02010600030101010101" pitchFamily="2" charset="-122"/>
              </a:rPr>
              <a:t>删除一个前缀和后缀所得符号串，如</a:t>
            </a:r>
            <a:r>
              <a:rPr kumimoji="0" lang="en-US" altLang="zh-CN" sz="2000" b="0" dirty="0">
                <a:solidFill>
                  <a:srgbClr val="3333CC"/>
                </a:solidFill>
                <a:latin typeface="宋体" panose="02010600030101010101" pitchFamily="2" charset="-122"/>
              </a:rPr>
              <a:t>nan</a:t>
            </a:r>
            <a:r>
              <a:rPr kumimoji="0" lang="zh-CN" altLang="en-US" sz="2000" b="0" dirty="0">
                <a:latin typeface="宋体" panose="02010600030101010101" pitchFamily="2" charset="-122"/>
              </a:rPr>
              <a:t>，前缀、后缀都是特殊子串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 dirty="0">
                <a:latin typeface="宋体" panose="02010600030101010101" pitchFamily="2" charset="-122"/>
              </a:rPr>
              <a:t>s</a:t>
            </a:r>
            <a:r>
              <a:rPr kumimoji="0" lang="zh-CN" altLang="en-US" sz="2000" b="0" dirty="0">
                <a:latin typeface="宋体" panose="02010600030101010101" pitchFamily="2" charset="-122"/>
              </a:rPr>
              <a:t>的非空前缀、后缀、子串，且不等于</a:t>
            </a:r>
            <a:r>
              <a:rPr kumimoji="0" lang="en-US" altLang="zh-CN" sz="2000" b="0" dirty="0">
                <a:latin typeface="宋体" panose="02010600030101010101" pitchFamily="2" charset="-122"/>
              </a:rPr>
              <a:t>s</a:t>
            </a:r>
            <a:br>
              <a:rPr kumimoji="0" lang="en-US" altLang="zh-CN" sz="2000" b="0" dirty="0">
                <a:latin typeface="宋体" panose="02010600030101010101" pitchFamily="2" charset="-122"/>
              </a:rPr>
            </a:br>
            <a:endParaRPr kumimoji="0" lang="en-US" altLang="zh-CN" sz="2000" b="0" dirty="0">
              <a:latin typeface="宋体" panose="02010600030101010101" pitchFamily="2" charset="-122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0" dirty="0">
                <a:latin typeface="宋体" panose="02010600030101010101" pitchFamily="2" charset="-122"/>
              </a:rPr>
              <a:t>在</a:t>
            </a:r>
            <a:r>
              <a:rPr kumimoji="0" lang="en-US" altLang="zh-CN" sz="2000" b="0" dirty="0">
                <a:latin typeface="宋体" panose="02010600030101010101" pitchFamily="2" charset="-122"/>
              </a:rPr>
              <a:t>s</a:t>
            </a:r>
            <a:r>
              <a:rPr kumimoji="0" lang="zh-CN" altLang="en-US" sz="2000" b="0" dirty="0">
                <a:latin typeface="宋体" panose="02010600030101010101" pitchFamily="2" charset="-122"/>
              </a:rPr>
              <a:t>中删除一个或多个符号（不要求连续）得到的符号串，</a:t>
            </a:r>
            <a:r>
              <a:rPr kumimoji="0" lang="en-US" altLang="zh-CN" sz="2000" b="0" dirty="0" err="1">
                <a:solidFill>
                  <a:srgbClr val="3333CC"/>
                </a:solidFill>
                <a:latin typeface="宋体" panose="02010600030101010101" pitchFamily="2" charset="-122"/>
              </a:rPr>
              <a:t>bnan</a:t>
            </a:r>
            <a:r>
              <a:rPr kumimoji="0" lang="zh-CN" altLang="en-US" sz="2000" b="0" dirty="0">
                <a:latin typeface="宋体" panose="02010600030101010101" pitchFamily="2" charset="-122"/>
              </a:rPr>
              <a:t>，</a:t>
            </a:r>
            <a:r>
              <a:rPr kumimoji="0" lang="en-US" altLang="zh-CN" sz="2000" b="0" dirty="0" err="1">
                <a:solidFill>
                  <a:srgbClr val="3333CC"/>
                </a:solidFill>
                <a:latin typeface="宋体" panose="02010600030101010101" pitchFamily="2" charset="-122"/>
              </a:rPr>
              <a:t>nn</a:t>
            </a:r>
            <a:endParaRPr kumimoji="0" lang="en-US" altLang="zh-CN" sz="2000" b="0" dirty="0">
              <a:solidFill>
                <a:srgbClr val="3333CC"/>
              </a:solidFill>
              <a:latin typeface="宋体" panose="02010600030101010101" pitchFamily="2" charset="-122"/>
            </a:endParaRPr>
          </a:p>
        </p:txBody>
      </p:sp>
      <p:sp>
        <p:nvSpPr>
          <p:cNvPr id="27658" name="Line 12">
            <a:extLst>
              <a:ext uri="{FF2B5EF4-FFF2-40B4-BE49-F238E27FC236}">
                <a16:creationId xmlns:a16="http://schemas.microsoft.com/office/drawing/2014/main" id="{5F2D7A35-4BB5-42FD-864B-EDBB9AF24126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2498725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59" name="Line 13">
            <a:extLst>
              <a:ext uri="{FF2B5EF4-FFF2-40B4-BE49-F238E27FC236}">
                <a16:creationId xmlns:a16="http://schemas.microsoft.com/office/drawing/2014/main" id="{3957C5D7-7771-4B5A-A905-6C5DFA7EFBD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260725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0" name="Line 14">
            <a:extLst>
              <a:ext uri="{FF2B5EF4-FFF2-40B4-BE49-F238E27FC236}">
                <a16:creationId xmlns:a16="http://schemas.microsoft.com/office/drawing/2014/main" id="{1DBC0B17-DDE0-4990-A177-A9D24DA0F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098925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61" name="Line 15">
            <a:extLst>
              <a:ext uri="{FF2B5EF4-FFF2-40B4-BE49-F238E27FC236}">
                <a16:creationId xmlns:a16="http://schemas.microsoft.com/office/drawing/2014/main" id="{6EEF2322-7BEC-4A93-9CF7-B4E23F451644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784725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F405BBE2-5483-417A-B41D-74111C3077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语言的定义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9222A44-9875-4C1A-8F09-934246EE55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66825"/>
            <a:ext cx="7772400" cy="990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/>
              <a:t>一个</a:t>
            </a:r>
            <a:r>
              <a:rPr lang="zh-CN" altLang="en-US">
                <a:solidFill>
                  <a:srgbClr val="3333CC"/>
                </a:solidFill>
                <a:ea typeface="黑体" panose="02010609060101010101" pitchFamily="49" charset="-122"/>
              </a:rPr>
              <a:t>语言</a:t>
            </a:r>
            <a:r>
              <a:rPr lang="zh-CN" altLang="en-US"/>
              <a:t>（</a:t>
            </a:r>
            <a:r>
              <a:rPr lang="en-US" altLang="zh-CN">
                <a:solidFill>
                  <a:srgbClr val="FF3300"/>
                </a:solidFill>
              </a:rPr>
              <a:t>Language</a:t>
            </a:r>
            <a:r>
              <a:rPr lang="zh-CN" altLang="en-US"/>
              <a:t>）</a:t>
            </a:r>
            <a:r>
              <a:rPr lang="en-US" altLang="zh-CN"/>
              <a:t>L</a:t>
            </a:r>
            <a:r>
              <a:rPr lang="zh-CN" altLang="en-US"/>
              <a:t>：</a:t>
            </a:r>
            <a:br>
              <a:rPr lang="zh-CN" altLang="en-US" sz="2800"/>
            </a:br>
            <a:r>
              <a:rPr lang="zh-CN" altLang="en-US" sz="2800"/>
              <a:t>是一个给定字母表之上的任意符号串集合</a:t>
            </a:r>
          </a:p>
        </p:txBody>
      </p:sp>
      <p:sp>
        <p:nvSpPr>
          <p:cNvPr id="28676" name="Text Box 4">
            <a:extLst>
              <a:ext uri="{FF2B5EF4-FFF2-40B4-BE49-F238E27FC236}">
                <a16:creationId xmlns:a16="http://schemas.microsoft.com/office/drawing/2014/main" id="{87886C60-9B99-4782-8408-97A337A9F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19075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Alphabet</a:t>
            </a:r>
          </a:p>
        </p:txBody>
      </p:sp>
      <p:sp>
        <p:nvSpPr>
          <p:cNvPr id="28677" name="Text Box 5">
            <a:extLst>
              <a:ext uri="{FF2B5EF4-FFF2-40B4-BE49-F238E27FC236}">
                <a16:creationId xmlns:a16="http://schemas.microsoft.com/office/drawing/2014/main" id="{2D1CC971-4F75-493C-A71C-7356A6BEE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19075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Languages</a:t>
            </a:r>
          </a:p>
        </p:txBody>
      </p:sp>
      <p:sp>
        <p:nvSpPr>
          <p:cNvPr id="28678" name="Text Box 6">
            <a:extLst>
              <a:ext uri="{FF2B5EF4-FFF2-40B4-BE49-F238E27FC236}">
                <a16:creationId xmlns:a16="http://schemas.microsoft.com/office/drawing/2014/main" id="{7A8479D0-0991-4984-A10B-E97BC8EA4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3500" y="2852936"/>
            <a:ext cx="6477000" cy="232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     </a:t>
            </a:r>
            <a:r>
              <a:rPr kumimoji="0" lang="en-US" altLang="zh-CN" sz="2000">
                <a:solidFill>
                  <a:srgbClr val="FF5050"/>
                </a:solidFill>
              </a:rPr>
              <a:t>{0,1}</a:t>
            </a:r>
            <a:r>
              <a:rPr kumimoji="0" lang="en-US" altLang="zh-CN" sz="2000"/>
              <a:t>                               </a:t>
            </a:r>
            <a:r>
              <a:rPr kumimoji="0" lang="en-US" altLang="zh-CN" sz="2000">
                <a:solidFill>
                  <a:srgbClr val="FF5050"/>
                </a:solidFill>
              </a:rPr>
              <a:t>{1,10,100,1000,10000…}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FF5050"/>
                </a:solidFill>
              </a:rPr>
              <a:t>                                             {0,1,00,11,000,111,…}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     </a:t>
            </a:r>
            <a:r>
              <a:rPr kumimoji="0" lang="en-US" altLang="zh-CN" sz="2000">
                <a:solidFill>
                  <a:srgbClr val="00CC00"/>
                </a:solidFill>
              </a:rPr>
              <a:t>{a,b,c}                            {abc,aabbcc,aaabbbccc,…}</a:t>
            </a:r>
            <a:endParaRPr kumimoji="0" lang="en-US" altLang="zh-CN" sz="2000"/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     </a:t>
            </a:r>
            <a:r>
              <a:rPr kumimoji="0" lang="en-US" altLang="zh-CN" sz="2000">
                <a:solidFill>
                  <a:srgbClr val="0066FF"/>
                </a:solidFill>
              </a:rPr>
              <a:t>{A, … ,Z}                      {TEE,FORE,BALL,…}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0066FF"/>
                </a:solidFill>
              </a:rPr>
              <a:t>                                            {FOR,WHILE,GOTO,…}</a:t>
            </a:r>
            <a:endParaRPr kumimoji="0" lang="en-US" altLang="zh-CN" sz="2000"/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     </a:t>
            </a:r>
            <a:endParaRPr kumimoji="0" lang="en-US" altLang="zh-CN" sz="2000">
              <a:solidFill>
                <a:srgbClr val="990000"/>
              </a:solidFill>
            </a:endParaRP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828D007-0631-45BF-B64D-7FAB71C946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语言的定义（续）</a:t>
            </a:r>
          </a:p>
        </p:txBody>
      </p:sp>
      <p:sp>
        <p:nvSpPr>
          <p:cNvPr id="29699" name="Text Box 4">
            <a:extLst>
              <a:ext uri="{FF2B5EF4-FFF2-40B4-BE49-F238E27FC236}">
                <a16:creationId xmlns:a16="http://schemas.microsoft.com/office/drawing/2014/main" id="{526BC9E2-B12A-4800-B479-E50B2FB80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3081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Alphabet</a:t>
            </a:r>
          </a:p>
        </p:txBody>
      </p:sp>
      <p:sp>
        <p:nvSpPr>
          <p:cNvPr id="29700" name="Text Box 5">
            <a:extLst>
              <a:ext uri="{FF2B5EF4-FFF2-40B4-BE49-F238E27FC236}">
                <a16:creationId xmlns:a16="http://schemas.microsoft.com/office/drawing/2014/main" id="{E71B2F0A-7F72-460B-9D21-C536BE364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3081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Languages</a:t>
            </a:r>
          </a:p>
        </p:txBody>
      </p:sp>
      <p:sp>
        <p:nvSpPr>
          <p:cNvPr id="29701" name="Text Box 6">
            <a:extLst>
              <a:ext uri="{FF2B5EF4-FFF2-40B4-BE49-F238E27FC236}">
                <a16:creationId xmlns:a16="http://schemas.microsoft.com/office/drawing/2014/main" id="{E50DC899-602D-4C30-BE05-47F1F1FB5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917700"/>
            <a:ext cx="6477000" cy="113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     </a:t>
            </a:r>
            <a:r>
              <a:rPr kumimoji="0" lang="en-US" altLang="zh-CN" sz="2000">
                <a:solidFill>
                  <a:srgbClr val="990000"/>
                </a:solidFill>
              </a:rPr>
              <a:t>{A,…,Z,a,…,z,0,…9,    { All legal PASCAL progs}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990000"/>
                </a:solidFill>
              </a:rPr>
              <a:t>       +,-,…,&lt;,&gt;,…}              { All grammatically correct </a:t>
            </a:r>
          </a:p>
          <a:p>
            <a:pPr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990000"/>
                </a:solidFill>
              </a:rPr>
              <a:t>                                               English sentences }</a:t>
            </a:r>
          </a:p>
        </p:txBody>
      </p:sp>
      <p:sp>
        <p:nvSpPr>
          <p:cNvPr id="29702" name="Rectangle 7">
            <a:extLst>
              <a:ext uri="{FF2B5EF4-FFF2-40B4-BE49-F238E27FC236}">
                <a16:creationId xmlns:a16="http://schemas.microsoft.com/office/drawing/2014/main" id="{E9CCF8C1-BA19-47B7-ACC2-38525D887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3" y="32004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 b="0">
                <a:latin typeface="Tahoma" panose="020B0604030504040204" pitchFamily="34" charset="0"/>
              </a:rPr>
              <a:t>特例：</a:t>
            </a:r>
            <a:r>
              <a:rPr kumimoji="0" lang="zh-CN" altLang="en-US">
                <a:solidFill>
                  <a:srgbClr val="00CC00"/>
                </a:solidFill>
                <a:sym typeface="Symbol" panose="05050102010706020507" pitchFamily="18" charset="2"/>
              </a:rPr>
              <a:t></a:t>
            </a:r>
            <a:r>
              <a:rPr kumimoji="0" lang="en-US" altLang="zh-CN">
                <a:solidFill>
                  <a:srgbClr val="00CC00"/>
                </a:solidFill>
                <a:sym typeface="Symbol" panose="05050102010706020507" pitchFamily="18" charset="2"/>
              </a:rPr>
              <a:t>—</a:t>
            </a:r>
            <a:r>
              <a:rPr kumimoji="0" lang="zh-CN" altLang="en-US">
                <a:solidFill>
                  <a:srgbClr val="00CC00"/>
                </a:solidFill>
                <a:sym typeface="Symbol" panose="05050102010706020507" pitchFamily="18" charset="2"/>
              </a:rPr>
              <a:t>空语言，</a:t>
            </a:r>
            <a:r>
              <a:rPr kumimoji="0" lang="en-US" altLang="zh-CN">
                <a:solidFill>
                  <a:srgbClr val="00CC00"/>
                </a:solidFill>
                <a:sym typeface="Symbol" panose="05050102010706020507" pitchFamily="18" charset="2"/>
              </a:rPr>
              <a:t>{</a:t>
            </a:r>
            <a:r>
              <a:rPr kumimoji="0" lang="en-US" altLang="zh-CN" b="0">
                <a:solidFill>
                  <a:srgbClr val="0099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>
                <a:solidFill>
                  <a:srgbClr val="00CC00"/>
                </a:solidFill>
                <a:sym typeface="Symbol" panose="05050102010706020507" pitchFamily="18" charset="2"/>
              </a:rPr>
              <a:t>}—</a:t>
            </a:r>
            <a:r>
              <a:rPr kumimoji="0" lang="zh-CN" altLang="en-US">
                <a:solidFill>
                  <a:srgbClr val="00CC00"/>
                </a:solidFill>
                <a:sym typeface="Symbol" panose="05050102010706020507" pitchFamily="18" charset="2"/>
              </a:rPr>
              <a:t>只含空字</a:t>
            </a: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A412935-BE2A-4D18-81EB-DD8729EB8C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895600"/>
            <a:ext cx="8458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4800" b="0">
                <a:solidFill>
                  <a:srgbClr val="FF3300"/>
                </a:solidFill>
              </a:rPr>
              <a:t>语言</a:t>
            </a:r>
            <a:r>
              <a:rPr lang="zh-CN" altLang="en-US" sz="4800" b="0">
                <a:solidFill>
                  <a:srgbClr val="FF3300"/>
                </a:solidFill>
                <a:sym typeface="Wingdings" panose="05000000000000000000" pitchFamily="2" charset="2"/>
              </a:rPr>
              <a:t>符号串集合单词</a:t>
            </a:r>
            <a:endParaRPr lang="zh-CN" altLang="en-US" sz="4800" b="0">
              <a:solidFill>
                <a:srgbClr val="FF3300"/>
              </a:solidFill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389D7BEE-40E3-4096-9C28-11256BB9E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0">
                <a:solidFill>
                  <a:schemeClr val="tx2"/>
                </a:solidFill>
              </a:rPr>
              <a:t>语言和单词</a:t>
            </a:r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4C2A21-2911-4E70-ACFB-259668D2AC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符号串的运算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7742E612-4862-43EA-9C07-55D7568F10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3333CC"/>
                </a:solidFill>
                <a:ea typeface="黑体" panose="02010609060101010101" pitchFamily="49" charset="-122"/>
              </a:rPr>
              <a:t>连接</a:t>
            </a:r>
            <a:r>
              <a:rPr lang="zh-CN" altLang="en-US" dirty="0"/>
              <a:t>（</a:t>
            </a:r>
            <a:r>
              <a:rPr lang="en-US" altLang="zh-CN" dirty="0">
                <a:solidFill>
                  <a:srgbClr val="FF3300"/>
                </a:solidFill>
              </a:rPr>
              <a:t>concatenation</a:t>
            </a:r>
            <a:r>
              <a:rPr lang="zh-CN" altLang="en-US" dirty="0"/>
              <a:t>）</a:t>
            </a:r>
          </a:p>
          <a:p>
            <a:pPr lvl="1" eaLnBrk="1" hangingPunct="1"/>
            <a:r>
              <a:rPr lang="zh-CN" altLang="en-US" dirty="0"/>
              <a:t>符号串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的连接，写作</a:t>
            </a:r>
            <a:r>
              <a:rPr lang="en-US" altLang="zh-CN" dirty="0" err="1"/>
              <a:t>xy</a:t>
            </a:r>
            <a:r>
              <a:rPr lang="en-US" altLang="zh-CN" dirty="0"/>
              <a:t>——y</a:t>
            </a:r>
            <a:r>
              <a:rPr lang="zh-CN" altLang="en-US" dirty="0"/>
              <a:t>拼接于</a:t>
            </a:r>
            <a:r>
              <a:rPr lang="en-US" altLang="zh-CN" dirty="0"/>
              <a:t>x</a:t>
            </a:r>
            <a:r>
              <a:rPr lang="zh-CN" altLang="en-US" dirty="0"/>
              <a:t>后</a:t>
            </a:r>
          </a:p>
          <a:p>
            <a:pPr lvl="1" eaLnBrk="1" hangingPunct="1"/>
            <a:r>
              <a:rPr lang="en-US" altLang="zh-CN" dirty="0"/>
              <a:t>x=dog</a:t>
            </a:r>
            <a:r>
              <a:rPr lang="zh-CN" altLang="en-US" dirty="0"/>
              <a:t>，</a:t>
            </a:r>
            <a:r>
              <a:rPr lang="en-US" altLang="zh-CN" dirty="0"/>
              <a:t>y=house</a:t>
            </a:r>
            <a:r>
              <a:rPr lang="zh-CN" altLang="en-US" dirty="0"/>
              <a:t>，</a:t>
            </a:r>
            <a:r>
              <a:rPr lang="en-US" altLang="zh-CN" dirty="0" err="1"/>
              <a:t>xy</a:t>
            </a:r>
            <a:r>
              <a:rPr lang="en-US" altLang="zh-CN" dirty="0"/>
              <a:t>=doghouse</a:t>
            </a:r>
          </a:p>
          <a:p>
            <a:pPr lvl="1" eaLnBrk="1" hangingPunct="1"/>
            <a:r>
              <a:rPr lang="en-US" altLang="zh-CN" dirty="0"/>
              <a:t>s 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dirty="0">
                <a:sym typeface="Symbol" panose="05050102010706020507" pitchFamily="18" charset="2"/>
              </a:rPr>
              <a:t> = 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dirty="0">
                <a:sym typeface="Symbol" panose="05050102010706020507" pitchFamily="18" charset="2"/>
              </a:rPr>
              <a:t> s = s</a:t>
            </a: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23B7FCB-A886-40F6-B918-580B645836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符号串的运算（续）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CF5C69C-5132-445C-AB4E-83564892A3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/>
            <a:r>
              <a:rPr kumimoji="0" lang="zh-CN" altLang="en-US">
                <a:solidFill>
                  <a:srgbClr val="3333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幂</a:t>
            </a:r>
            <a:r>
              <a:rPr kumimoji="0" lang="zh-CN" altLang="en-US">
                <a:sym typeface="Symbol" panose="05050102010706020507" pitchFamily="18" charset="2"/>
              </a:rPr>
              <a:t>（</a:t>
            </a:r>
            <a:r>
              <a:rPr kumimoji="0"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exponentiation</a:t>
            </a:r>
            <a:r>
              <a:rPr kumimoji="0" lang="zh-CN" altLang="en-US">
                <a:sym typeface="Symbol" panose="05050102010706020507" pitchFamily="18" charset="2"/>
              </a:rPr>
              <a:t>）</a:t>
            </a:r>
          </a:p>
          <a:p>
            <a:pPr lvl="1" eaLnBrk="1" hangingPunct="1"/>
            <a:r>
              <a:rPr kumimoji="0" lang="zh-CN" altLang="en-US">
                <a:sym typeface="Symbol" panose="05050102010706020507" pitchFamily="18" charset="2"/>
              </a:rPr>
              <a:t>连接看作积（</a:t>
            </a:r>
            <a:r>
              <a:rPr kumimoji="0"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product</a:t>
            </a:r>
            <a:r>
              <a:rPr kumimoji="0" lang="zh-CN" altLang="en-US">
                <a:sym typeface="Symbol" panose="05050102010706020507" pitchFamily="18" charset="2"/>
              </a:rPr>
              <a:t>）</a:t>
            </a:r>
          </a:p>
          <a:p>
            <a:pPr lvl="1" eaLnBrk="1" hangingPunct="1"/>
            <a:r>
              <a:rPr kumimoji="0" lang="en-US" altLang="zh-CN">
                <a:sym typeface="Symbol" panose="05050102010706020507" pitchFamily="18" charset="2"/>
              </a:rPr>
              <a:t>s</a:t>
            </a:r>
            <a:r>
              <a:rPr kumimoji="0" lang="en-US" altLang="zh-CN" baseline="30000">
                <a:sym typeface="Symbol" panose="05050102010706020507" pitchFamily="18" charset="2"/>
              </a:rPr>
              <a:t>0</a:t>
            </a:r>
            <a:r>
              <a:rPr kumimoji="0" lang="en-US" altLang="zh-CN">
                <a:sym typeface="Symbol" panose="05050102010706020507" pitchFamily="18" charset="2"/>
              </a:rPr>
              <a:t> =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en-US" altLang="zh-CN">
                <a:sym typeface="Symbol" panose="05050102010706020507" pitchFamily="18" charset="2"/>
              </a:rPr>
              <a:t>s</a:t>
            </a:r>
            <a:r>
              <a:rPr kumimoji="0" lang="en-US" altLang="zh-CN" baseline="30000">
                <a:sym typeface="Symbol" panose="05050102010706020507" pitchFamily="18" charset="2"/>
              </a:rPr>
              <a:t>i</a:t>
            </a:r>
            <a:r>
              <a:rPr kumimoji="0" lang="en-US" altLang="zh-CN">
                <a:sym typeface="Symbol" panose="05050102010706020507" pitchFamily="18" charset="2"/>
              </a:rPr>
              <a:t> = s</a:t>
            </a:r>
            <a:r>
              <a:rPr kumimoji="0" lang="en-US" altLang="zh-CN" baseline="30000">
                <a:sym typeface="Symbol" panose="05050102010706020507" pitchFamily="18" charset="2"/>
              </a:rPr>
              <a:t>i-1</a:t>
            </a:r>
            <a:r>
              <a:rPr kumimoji="0" lang="en-US" altLang="zh-CN">
                <a:sym typeface="Symbol" panose="05050102010706020507" pitchFamily="18" charset="2"/>
              </a:rPr>
              <a:t>s</a:t>
            </a:r>
          </a:p>
          <a:p>
            <a:pPr lvl="1" eaLnBrk="1" hangingPunct="1"/>
            <a:r>
              <a:rPr kumimoji="0" lang="en-US" altLang="zh-CN">
                <a:sym typeface="Symbol" panose="05050102010706020507" pitchFamily="18" charset="2"/>
              </a:rPr>
              <a:t>s</a:t>
            </a:r>
            <a:r>
              <a:rPr kumimoji="0" lang="en-US" altLang="zh-CN" baseline="30000">
                <a:sym typeface="Symbol" panose="05050102010706020507" pitchFamily="18" charset="2"/>
              </a:rPr>
              <a:t>1 </a:t>
            </a:r>
            <a:r>
              <a:rPr kumimoji="0" lang="en-US" altLang="zh-CN">
                <a:sym typeface="Symbol" panose="05050102010706020507" pitchFamily="18" charset="2"/>
              </a:rPr>
              <a:t>= s, s</a:t>
            </a:r>
            <a:r>
              <a:rPr kumimoji="0" lang="en-US" altLang="zh-CN" baseline="30000">
                <a:sym typeface="Symbol" panose="05050102010706020507" pitchFamily="18" charset="2"/>
              </a:rPr>
              <a:t>2 </a:t>
            </a:r>
            <a:r>
              <a:rPr kumimoji="0" lang="en-US" altLang="zh-CN">
                <a:sym typeface="Symbol" panose="05050102010706020507" pitchFamily="18" charset="2"/>
              </a:rPr>
              <a:t>= ss, s</a:t>
            </a:r>
            <a:r>
              <a:rPr kumimoji="0" lang="en-US" altLang="zh-CN" baseline="30000">
                <a:sym typeface="Symbol" panose="05050102010706020507" pitchFamily="18" charset="2"/>
              </a:rPr>
              <a:t>3 </a:t>
            </a:r>
            <a:r>
              <a:rPr kumimoji="0" lang="en-US" altLang="zh-CN">
                <a:sym typeface="Symbol" panose="05050102010706020507" pitchFamily="18" charset="2"/>
              </a:rPr>
              <a:t>= sss, </a:t>
            </a:r>
            <a:r>
              <a:rPr kumimoji="0" lang="en-US" altLang="zh-CN">
                <a:latin typeface="Tahoma" panose="020B0604030504040204" pitchFamily="34" charset="0"/>
                <a:sym typeface="Symbol" panose="05050102010706020507" pitchFamily="18" charset="2"/>
              </a:rPr>
              <a:t>…</a:t>
            </a:r>
            <a:endParaRPr kumimoji="0" lang="en-US" altLang="zh-CN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BEFEC00-3CCC-4F65-80B0-8FB1935B1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3.3.2  </a:t>
            </a:r>
            <a:r>
              <a:rPr lang="zh-CN" altLang="en-US"/>
              <a:t>语言的运算</a:t>
            </a:r>
          </a:p>
        </p:txBody>
      </p:sp>
      <p:grpSp>
        <p:nvGrpSpPr>
          <p:cNvPr id="33795" name="Group 21">
            <a:extLst>
              <a:ext uri="{FF2B5EF4-FFF2-40B4-BE49-F238E27FC236}">
                <a16:creationId xmlns:a16="http://schemas.microsoft.com/office/drawing/2014/main" id="{DBE06214-E0E2-4ED2-83E8-00C65A2C3FF2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371600"/>
            <a:ext cx="8153400" cy="3649663"/>
            <a:chOff x="528" y="864"/>
            <a:chExt cx="5136" cy="2736"/>
          </a:xfrm>
        </p:grpSpPr>
        <p:sp>
          <p:nvSpPr>
            <p:cNvPr id="33797" name="Text Box 4">
              <a:extLst>
                <a:ext uri="{FF2B5EF4-FFF2-40B4-BE49-F238E27FC236}">
                  <a16:creationId xmlns:a16="http://schemas.microsoft.com/office/drawing/2014/main" id="{6D431EFF-9C48-46C2-BE1D-466A93152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918"/>
              <a:ext cx="2304" cy="2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0">
                  <a:ea typeface="黑体" panose="02010609060101010101" pitchFamily="49" charset="-122"/>
                </a:rPr>
                <a:t>运算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0">
                  <a:ea typeface="黑体" panose="02010609060101010101" pitchFamily="49" charset="-122"/>
                </a:rPr>
                <a:t>L</a:t>
              </a:r>
              <a:r>
                <a:rPr kumimoji="0" lang="zh-CN" altLang="en-US" sz="2000" b="0">
                  <a:ea typeface="黑体" panose="02010609060101010101" pitchFamily="49" charset="-122"/>
                </a:rPr>
                <a:t>和</a:t>
              </a:r>
              <a:r>
                <a:rPr kumimoji="0" lang="en-US" altLang="zh-CN" sz="2000" b="0">
                  <a:ea typeface="黑体" panose="02010609060101010101" pitchFamily="49" charset="-122"/>
                </a:rPr>
                <a:t>M</a:t>
              </a:r>
              <a:r>
                <a:rPr kumimoji="0" lang="zh-CN" altLang="en-US" sz="2000" b="0">
                  <a:ea typeface="黑体" panose="02010609060101010101" pitchFamily="49" charset="-122"/>
                </a:rPr>
                <a:t>的</a:t>
              </a:r>
              <a:r>
                <a:rPr kumimoji="0" lang="zh-CN" altLang="en-US" sz="2000" b="0">
                  <a:solidFill>
                    <a:srgbClr val="3333CC"/>
                  </a:solidFill>
                  <a:ea typeface="黑体" panose="02010609060101010101" pitchFamily="49" charset="-122"/>
                </a:rPr>
                <a:t>并</a:t>
              </a:r>
              <a:r>
                <a:rPr kumimoji="0" lang="zh-CN" altLang="en-US" sz="2000" b="0">
                  <a:ea typeface="黑体" panose="02010609060101010101" pitchFamily="49" charset="-122"/>
                </a:rPr>
                <a:t>（</a:t>
              </a:r>
              <a:r>
                <a:rPr kumimoji="0" lang="en-US" altLang="zh-CN" sz="2000" b="0">
                  <a:solidFill>
                    <a:srgbClr val="FF3300"/>
                  </a:solidFill>
                  <a:ea typeface="黑体" panose="02010609060101010101" pitchFamily="49" charset="-122"/>
                </a:rPr>
                <a:t>union</a:t>
              </a:r>
              <a:r>
                <a:rPr kumimoji="0" lang="en-US" altLang="zh-CN" sz="2000" b="0">
                  <a:ea typeface="黑体" panose="02010609060101010101" pitchFamily="49" charset="-122"/>
                </a:rPr>
                <a:t>)</a:t>
              </a:r>
              <a:br>
                <a:rPr kumimoji="0" lang="en-US" altLang="zh-CN" sz="2000" b="0">
                  <a:ea typeface="黑体" panose="02010609060101010101" pitchFamily="49" charset="-122"/>
                </a:rPr>
              </a:br>
              <a:r>
                <a:rPr kumimoji="0" lang="zh-CN" altLang="en-US" sz="2000" b="0">
                  <a:ea typeface="黑体" panose="02010609060101010101" pitchFamily="49" charset="-122"/>
                </a:rPr>
                <a:t>写作</a:t>
              </a:r>
              <a:r>
                <a:rPr kumimoji="0" lang="en-US" altLang="zh-CN" sz="2000" b="0">
                  <a:ea typeface="黑体" panose="02010609060101010101" pitchFamily="49" charset="-122"/>
                </a:rPr>
                <a:t>L</a:t>
              </a:r>
              <a:r>
                <a:rPr kumimoji="0" lang="en-US" altLang="zh-CN" sz="2000" b="0"/>
                <a:t>∪M</a:t>
              </a:r>
              <a:endParaRPr kumimoji="0" lang="en-US" altLang="zh-CN" sz="2000" b="0">
                <a:ea typeface="黑体" panose="02010609060101010101" pitchFamily="49" charset="-122"/>
              </a:endParaRP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0">
                  <a:ea typeface="黑体" panose="02010609060101010101" pitchFamily="49" charset="-122"/>
                </a:rPr>
                <a:t>L</a:t>
              </a:r>
              <a:r>
                <a:rPr kumimoji="0" lang="zh-CN" altLang="en-US" sz="2000" b="0">
                  <a:ea typeface="黑体" panose="02010609060101010101" pitchFamily="49" charset="-122"/>
                </a:rPr>
                <a:t>和</a:t>
              </a:r>
              <a:r>
                <a:rPr kumimoji="0" lang="en-US" altLang="zh-CN" sz="2000" b="0">
                  <a:ea typeface="黑体" panose="02010609060101010101" pitchFamily="49" charset="-122"/>
                </a:rPr>
                <a:t>M</a:t>
              </a:r>
              <a:r>
                <a:rPr kumimoji="0" lang="zh-CN" altLang="en-US" sz="2000" b="0">
                  <a:ea typeface="黑体" panose="02010609060101010101" pitchFamily="49" charset="-122"/>
                </a:rPr>
                <a:t>的</a:t>
              </a:r>
              <a:r>
                <a:rPr kumimoji="0" lang="zh-CN" altLang="en-US" sz="2000" b="0">
                  <a:solidFill>
                    <a:srgbClr val="3333CC"/>
                  </a:solidFill>
                  <a:ea typeface="黑体" panose="02010609060101010101" pitchFamily="49" charset="-122"/>
                </a:rPr>
                <a:t>连接</a:t>
              </a:r>
              <a:br>
                <a:rPr kumimoji="0" lang="zh-CN" altLang="en-US" sz="2000" b="0">
                  <a:ea typeface="黑体" panose="02010609060101010101" pitchFamily="49" charset="-122"/>
                </a:rPr>
              </a:br>
              <a:r>
                <a:rPr kumimoji="0" lang="zh-CN" altLang="en-US" sz="2000" b="0">
                  <a:ea typeface="黑体" panose="02010609060101010101" pitchFamily="49" charset="-122"/>
                </a:rPr>
                <a:t>写作</a:t>
              </a:r>
              <a:r>
                <a:rPr kumimoji="0" lang="en-US" altLang="zh-CN" sz="2000" b="0">
                  <a:ea typeface="黑体" panose="02010609060101010101" pitchFamily="49" charset="-122"/>
                </a:rPr>
                <a:t>L</a:t>
              </a:r>
              <a:r>
                <a:rPr kumimoji="0" lang="en-US" altLang="zh-CN" sz="2000" b="0"/>
                <a:t>M</a:t>
              </a:r>
              <a:r>
                <a:rPr kumimoji="0" lang="en-US" altLang="zh-CN" sz="2000" b="0">
                  <a:ea typeface="黑体" panose="02010609060101010101" pitchFamily="49" charset="-122"/>
                </a:rPr>
                <a:t> 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0">
                  <a:ea typeface="黑体" panose="02010609060101010101" pitchFamily="49" charset="-122"/>
                </a:rPr>
                <a:t>L</a:t>
              </a:r>
              <a:r>
                <a:rPr kumimoji="0" lang="zh-CN" altLang="en-US" sz="2000" b="0">
                  <a:ea typeface="黑体" panose="02010609060101010101" pitchFamily="49" charset="-122"/>
                </a:rPr>
                <a:t>的</a:t>
              </a:r>
              <a:r>
                <a:rPr kumimoji="0" lang="en-US" altLang="zh-CN" sz="2000" b="0">
                  <a:solidFill>
                    <a:srgbClr val="3333CC"/>
                  </a:solidFill>
                  <a:ea typeface="黑体" panose="02010609060101010101" pitchFamily="49" charset="-122"/>
                </a:rPr>
                <a:t>Kleene</a:t>
              </a:r>
              <a:r>
                <a:rPr kumimoji="0" lang="zh-CN" altLang="en-US" sz="2000" b="0">
                  <a:solidFill>
                    <a:srgbClr val="3333CC"/>
                  </a:solidFill>
                  <a:ea typeface="黑体" panose="02010609060101010101" pitchFamily="49" charset="-122"/>
                </a:rPr>
                <a:t>闭包</a:t>
              </a:r>
              <a:r>
                <a:rPr kumimoji="0" lang="zh-CN" altLang="en-US" sz="2000" b="0">
                  <a:ea typeface="黑体" panose="02010609060101010101" pitchFamily="49" charset="-122"/>
                </a:rPr>
                <a:t>（</a:t>
              </a:r>
              <a:r>
                <a:rPr kumimoji="0" lang="en-US" altLang="zh-CN" sz="2000" b="0">
                  <a:solidFill>
                    <a:srgbClr val="FF3300"/>
                  </a:solidFill>
                  <a:ea typeface="黑体" panose="02010609060101010101" pitchFamily="49" charset="-122"/>
                </a:rPr>
                <a:t>closure</a:t>
              </a:r>
              <a:r>
                <a:rPr kumimoji="0" lang="zh-CN" altLang="en-US" sz="2000" b="0">
                  <a:ea typeface="黑体" panose="02010609060101010101" pitchFamily="49" charset="-122"/>
                </a:rPr>
                <a:t>）</a:t>
              </a:r>
              <a:br>
                <a:rPr kumimoji="0" lang="zh-CN" altLang="en-US" sz="2000" b="0">
                  <a:ea typeface="黑体" panose="02010609060101010101" pitchFamily="49" charset="-122"/>
                </a:rPr>
              </a:br>
              <a:r>
                <a:rPr kumimoji="0" lang="zh-CN" altLang="en-US" sz="2000" b="0">
                  <a:ea typeface="黑体" panose="02010609060101010101" pitchFamily="49" charset="-122"/>
                </a:rPr>
                <a:t>写作</a:t>
              </a:r>
              <a:r>
                <a:rPr kumimoji="0" lang="en-US" altLang="zh-CN" sz="2000" b="0">
                  <a:ea typeface="黑体" panose="02010609060101010101" pitchFamily="49" charset="-122"/>
                </a:rPr>
                <a:t>L</a:t>
              </a:r>
              <a:r>
                <a:rPr kumimoji="0" lang="en-US" altLang="zh-CN" sz="2000" b="0" baseline="30000">
                  <a:ea typeface="黑体" panose="02010609060101010101" pitchFamily="49" charset="-122"/>
                </a:rPr>
                <a:t>*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0">
                  <a:ea typeface="黑体" panose="02010609060101010101" pitchFamily="49" charset="-122"/>
                </a:rPr>
                <a:t>L</a:t>
              </a:r>
              <a:r>
                <a:rPr kumimoji="0" lang="zh-CN" altLang="en-US" sz="2000" b="0">
                  <a:ea typeface="黑体" panose="02010609060101010101" pitchFamily="49" charset="-122"/>
                </a:rPr>
                <a:t>的</a:t>
              </a:r>
              <a:r>
                <a:rPr kumimoji="0" lang="zh-CN" altLang="en-US" sz="2000" b="0">
                  <a:solidFill>
                    <a:srgbClr val="3333CC"/>
                  </a:solidFill>
                  <a:ea typeface="黑体" panose="02010609060101010101" pitchFamily="49" charset="-122"/>
                </a:rPr>
                <a:t>正则</a:t>
              </a:r>
              <a:r>
                <a:rPr kumimoji="0" lang="zh-CN" altLang="en-US" sz="2000" b="0">
                  <a:ea typeface="黑体" panose="02010609060101010101" pitchFamily="49" charset="-122"/>
                </a:rPr>
                <a:t>（</a:t>
              </a:r>
              <a:r>
                <a:rPr kumimoji="0" lang="en-US" altLang="zh-CN" sz="2000" b="0">
                  <a:solidFill>
                    <a:srgbClr val="FF3300"/>
                  </a:solidFill>
                  <a:ea typeface="黑体" panose="02010609060101010101" pitchFamily="49" charset="-122"/>
                </a:rPr>
                <a:t>positive</a:t>
              </a:r>
              <a:r>
                <a:rPr kumimoji="0" lang="zh-CN" altLang="en-US" sz="2000" b="0">
                  <a:ea typeface="黑体" panose="02010609060101010101" pitchFamily="49" charset="-122"/>
                </a:rPr>
                <a:t>）</a:t>
              </a:r>
              <a:r>
                <a:rPr kumimoji="0" lang="zh-CN" altLang="en-US" sz="2000" b="0">
                  <a:solidFill>
                    <a:srgbClr val="3333CC"/>
                  </a:solidFill>
                  <a:ea typeface="黑体" panose="02010609060101010101" pitchFamily="49" charset="-122"/>
                </a:rPr>
                <a:t>闭包</a:t>
              </a:r>
              <a:br>
                <a:rPr kumimoji="0" lang="zh-CN" altLang="en-US" sz="2000" b="0">
                  <a:ea typeface="黑体" panose="02010609060101010101" pitchFamily="49" charset="-122"/>
                </a:rPr>
              </a:br>
              <a:r>
                <a:rPr kumimoji="0" lang="zh-CN" altLang="en-US" sz="2000" b="0">
                  <a:ea typeface="黑体" panose="02010609060101010101" pitchFamily="49" charset="-122"/>
                </a:rPr>
                <a:t>写作</a:t>
              </a:r>
              <a:r>
                <a:rPr kumimoji="0" lang="en-US" altLang="zh-CN" sz="2000" b="0">
                  <a:ea typeface="黑体" panose="02010609060101010101" pitchFamily="49" charset="-122"/>
                </a:rPr>
                <a:t>L</a:t>
              </a:r>
              <a:r>
                <a:rPr kumimoji="0" lang="zh-CN" altLang="en-US" sz="2000" b="0" baseline="30000">
                  <a:ea typeface="黑体" panose="02010609060101010101" pitchFamily="49" charset="-122"/>
                </a:rPr>
                <a:t>＋</a:t>
              </a:r>
              <a:endParaRPr kumimoji="0" lang="zh-CN" altLang="en-US" sz="2000" b="0">
                <a:ea typeface="黑体" panose="02010609060101010101" pitchFamily="49" charset="-122"/>
              </a:endParaRPr>
            </a:p>
          </p:txBody>
        </p:sp>
        <p:sp>
          <p:nvSpPr>
            <p:cNvPr id="33798" name="Line 5">
              <a:extLst>
                <a:ext uri="{FF2B5EF4-FFF2-40B4-BE49-F238E27FC236}">
                  <a16:creationId xmlns:a16="http://schemas.microsoft.com/office/drawing/2014/main" id="{71ED5290-FA0F-41A5-BF61-4DB0CE92F5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940"/>
              <a:ext cx="5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799" name="Line 6">
              <a:extLst>
                <a:ext uri="{FF2B5EF4-FFF2-40B4-BE49-F238E27FC236}">
                  <a16:creationId xmlns:a16="http://schemas.microsoft.com/office/drawing/2014/main" id="{F9C42CF5-DF88-4E6E-8AAB-DCC9B77A86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864"/>
              <a:ext cx="5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0" name="Line 8">
              <a:extLst>
                <a:ext uri="{FF2B5EF4-FFF2-40B4-BE49-F238E27FC236}">
                  <a16:creationId xmlns:a16="http://schemas.microsoft.com/office/drawing/2014/main" id="{45C3370C-BD45-477D-8225-240CECAAAE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200"/>
              <a:ext cx="5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1" name="Line 9">
              <a:extLst>
                <a:ext uri="{FF2B5EF4-FFF2-40B4-BE49-F238E27FC236}">
                  <a16:creationId xmlns:a16="http://schemas.microsoft.com/office/drawing/2014/main" id="{8322A72F-9A67-4AA1-ADC7-BE9A607ED2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940"/>
              <a:ext cx="0" cy="26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2" name="Line 11">
              <a:extLst>
                <a:ext uri="{FF2B5EF4-FFF2-40B4-BE49-F238E27FC236}">
                  <a16:creationId xmlns:a16="http://schemas.microsoft.com/office/drawing/2014/main" id="{67B8EB51-D66B-4E2D-9C8A-F8B9C50A65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776"/>
              <a:ext cx="5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3" name="Line 12">
              <a:extLst>
                <a:ext uri="{FF2B5EF4-FFF2-40B4-BE49-F238E27FC236}">
                  <a16:creationId xmlns:a16="http://schemas.microsoft.com/office/drawing/2014/main" id="{FC9C7754-EC66-498E-BE38-E2DDAB4F4C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352"/>
              <a:ext cx="5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4" name="Line 13">
              <a:extLst>
                <a:ext uri="{FF2B5EF4-FFF2-40B4-BE49-F238E27FC236}">
                  <a16:creationId xmlns:a16="http://schemas.microsoft.com/office/drawing/2014/main" id="{3FC92FF6-FC1F-4E39-8F05-7A7B8F768E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928"/>
              <a:ext cx="5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805" name="Line 14">
              <a:extLst>
                <a:ext uri="{FF2B5EF4-FFF2-40B4-BE49-F238E27FC236}">
                  <a16:creationId xmlns:a16="http://schemas.microsoft.com/office/drawing/2014/main" id="{924AAD74-9C2E-48F1-9DB6-66A27D33FE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600"/>
              <a:ext cx="5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33806" name="Object 15">
              <a:extLst>
                <a:ext uri="{FF2B5EF4-FFF2-40B4-BE49-F238E27FC236}">
                  <a16:creationId xmlns:a16="http://schemas.microsoft.com/office/drawing/2014/main" id="{D3A7F26B-747C-4C44-B828-F0BA34B87CC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60" y="1392"/>
            <a:ext cx="2312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91" name="Equation" r:id="rId3" imgW="1701800" imgH="215900" progId="Equation.3">
                    <p:embed/>
                  </p:oleObj>
                </mc:Choice>
                <mc:Fallback>
                  <p:oleObj name="Equation" r:id="rId3" imgW="1701800" imgH="215900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0" y="1392"/>
                          <a:ext cx="2312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807" name="Text Box 16">
              <a:extLst>
                <a:ext uri="{FF2B5EF4-FFF2-40B4-BE49-F238E27FC236}">
                  <a16:creationId xmlns:a16="http://schemas.microsoft.com/office/drawing/2014/main" id="{630B941C-4007-4020-8D34-409E897C51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921"/>
              <a:ext cx="2304" cy="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0">
                  <a:ea typeface="黑体" panose="02010609060101010101" pitchFamily="49" charset="-122"/>
                </a:rPr>
                <a:t>定义</a:t>
              </a:r>
            </a:p>
          </p:txBody>
        </p:sp>
        <p:graphicFrame>
          <p:nvGraphicFramePr>
            <p:cNvPr id="33808" name="Object 17">
              <a:extLst>
                <a:ext uri="{FF2B5EF4-FFF2-40B4-BE49-F238E27FC236}">
                  <a16:creationId xmlns:a16="http://schemas.microsoft.com/office/drawing/2014/main" id="{68F2E519-3B08-4D58-AAB1-5935636F23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68" y="1867"/>
            <a:ext cx="2122" cy="2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92" name="Equation" r:id="rId5" imgW="1562100" imgH="215900" progId="Equation.3">
                    <p:embed/>
                  </p:oleObj>
                </mc:Choice>
                <mc:Fallback>
                  <p:oleObj name="Equation" r:id="rId5" imgW="1562100" imgH="215900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867"/>
                          <a:ext cx="2122" cy="2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9" name="Object 18">
              <a:extLst>
                <a:ext uri="{FF2B5EF4-FFF2-40B4-BE49-F238E27FC236}">
                  <a16:creationId xmlns:a16="http://schemas.microsoft.com/office/drawing/2014/main" id="{53742CC1-3CCA-4596-94FA-685AE12BA3B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15" y="2342"/>
            <a:ext cx="828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93" name="Equation" r:id="rId7" imgW="609336" imgH="431613" progId="Equation.3">
                    <p:embed/>
                  </p:oleObj>
                </mc:Choice>
                <mc:Fallback>
                  <p:oleObj name="Equation" r:id="rId7" imgW="609336" imgH="431613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5" y="2342"/>
                          <a:ext cx="828" cy="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10" name="Object 19">
              <a:extLst>
                <a:ext uri="{FF2B5EF4-FFF2-40B4-BE49-F238E27FC236}">
                  <a16:creationId xmlns:a16="http://schemas.microsoft.com/office/drawing/2014/main" id="{B4512549-3FF9-4B18-A7B8-B45205D644D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811" y="2918"/>
            <a:ext cx="845" cy="5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994" name="Equation" r:id="rId9" imgW="622030" imgH="431613" progId="Equation.3">
                    <p:embed/>
                  </p:oleObj>
                </mc:Choice>
                <mc:Fallback>
                  <p:oleObj name="Equation" r:id="rId9" imgW="622030" imgH="431613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1" y="2918"/>
                          <a:ext cx="845" cy="58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796" name="Rectangle 20">
            <a:extLst>
              <a:ext uri="{FF2B5EF4-FFF2-40B4-BE49-F238E27FC236}">
                <a16:creationId xmlns:a16="http://schemas.microsoft.com/office/drawing/2014/main" id="{FAB35EDB-158F-46E7-9CE4-40186688F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3" y="51054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b="0">
                <a:latin typeface="Tahoma" panose="020B0604030504040204" pitchFamily="34" charset="0"/>
              </a:rPr>
              <a:t>L</a:t>
            </a:r>
            <a:r>
              <a:rPr lang="en-US" altLang="zh-CN" b="0" baseline="30000">
                <a:latin typeface="Tahoma" panose="020B0604030504040204" pitchFamily="34" charset="0"/>
              </a:rPr>
              <a:t>i</a:t>
            </a:r>
            <a:r>
              <a:rPr lang="zh-CN" altLang="en-US" b="0">
                <a:latin typeface="Tahoma" panose="020B0604030504040204" pitchFamily="34" charset="0"/>
              </a:rPr>
              <a:t>表示</a:t>
            </a:r>
            <a:r>
              <a:rPr lang="en-US" altLang="zh-CN" b="0">
                <a:latin typeface="Tahoma" panose="020B0604030504040204" pitchFamily="34" charset="0"/>
              </a:rPr>
              <a:t>L</a:t>
            </a:r>
            <a:r>
              <a:rPr lang="zh-CN" altLang="en-US" b="0">
                <a:latin typeface="Tahoma" panose="020B0604030504040204" pitchFamily="34" charset="0"/>
              </a:rPr>
              <a:t>的</a:t>
            </a:r>
            <a:r>
              <a:rPr lang="en-US" altLang="zh-CN" b="0">
                <a:latin typeface="Tahoma" panose="020B0604030504040204" pitchFamily="34" charset="0"/>
              </a:rPr>
              <a:t>i</a:t>
            </a:r>
            <a:r>
              <a:rPr lang="zh-CN" altLang="en-US" b="0">
                <a:latin typeface="Tahoma" panose="020B0604030504040204" pitchFamily="34" charset="0"/>
              </a:rPr>
              <a:t>次连接</a:t>
            </a: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33BEE3D-AFDA-4A00-818A-2400AC0923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语言运算示例</a:t>
            </a:r>
          </a:p>
        </p:txBody>
      </p:sp>
      <p:sp>
        <p:nvSpPr>
          <p:cNvPr id="34819" name="Text Box 4">
            <a:extLst>
              <a:ext uri="{FF2B5EF4-FFF2-40B4-BE49-F238E27FC236}">
                <a16:creationId xmlns:a16="http://schemas.microsoft.com/office/drawing/2014/main" id="{83907806-C291-458B-B77B-CD27FE906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295400"/>
            <a:ext cx="723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L = {A, B,…, Z, a, b, …, z}      D = {0, 1, …, 9}</a:t>
            </a:r>
          </a:p>
        </p:txBody>
      </p:sp>
      <p:sp>
        <p:nvSpPr>
          <p:cNvPr id="34820" name="Text Box 5">
            <a:extLst>
              <a:ext uri="{FF2B5EF4-FFF2-40B4-BE49-F238E27FC236}">
                <a16:creationId xmlns:a16="http://schemas.microsoft.com/office/drawing/2014/main" id="{03F5AAF9-FC4C-45F6-83F1-AA009038E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057400"/>
            <a:ext cx="7620000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L </a:t>
            </a:r>
            <a:r>
              <a:rPr kumimoji="0" lang="en-US" altLang="zh-CN" sz="2400">
                <a:sym typeface="Symbol" panose="05050102010706020507" pitchFamily="18" charset="2"/>
              </a:rPr>
              <a:t> D = </a:t>
            </a:r>
            <a:r>
              <a:rPr kumimoji="0" lang="zh-CN" altLang="en-US" sz="2400">
                <a:sym typeface="Symbol" panose="05050102010706020507" pitchFamily="18" charset="2"/>
              </a:rPr>
              <a:t>数字、字母集合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LD = { </a:t>
            </a:r>
            <a:r>
              <a:rPr kumimoji="0" lang="zh-CN" altLang="en-US" sz="2400">
                <a:sym typeface="Symbol" panose="05050102010706020507" pitchFamily="18" charset="2"/>
              </a:rPr>
              <a:t>一个字母后接一个数字的串 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L</a:t>
            </a:r>
            <a:r>
              <a:rPr kumimoji="0" lang="en-US" altLang="zh-CN" sz="2400" baseline="30000">
                <a:sym typeface="Symbol" panose="05050102010706020507" pitchFamily="18" charset="2"/>
              </a:rPr>
              <a:t>2 </a:t>
            </a:r>
            <a:r>
              <a:rPr kumimoji="0" lang="en-US" altLang="zh-CN" sz="2400">
                <a:sym typeface="Symbol" panose="05050102010706020507" pitchFamily="18" charset="2"/>
              </a:rPr>
              <a:t>= { </a:t>
            </a:r>
            <a:r>
              <a:rPr kumimoji="0" lang="zh-CN" altLang="en-US" sz="2400">
                <a:sym typeface="Symbol" panose="05050102010706020507" pitchFamily="18" charset="2"/>
              </a:rPr>
              <a:t>所有两个字母的串 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L</a:t>
            </a:r>
            <a:r>
              <a:rPr kumimoji="0" lang="en-US" altLang="zh-CN" sz="2400" baseline="30000">
                <a:sym typeface="Symbol" panose="05050102010706020507" pitchFamily="18" charset="2"/>
              </a:rPr>
              <a:t>4 </a:t>
            </a:r>
            <a:r>
              <a:rPr kumimoji="0" lang="en-US" altLang="zh-CN" sz="2400">
                <a:sym typeface="Symbol" panose="05050102010706020507" pitchFamily="18" charset="2"/>
              </a:rPr>
              <a:t>= L</a:t>
            </a:r>
            <a:r>
              <a:rPr kumimoji="0" lang="en-US" altLang="zh-CN" sz="2400" baseline="30000">
                <a:sym typeface="Symbol" panose="05050102010706020507" pitchFamily="18" charset="2"/>
              </a:rPr>
              <a:t>2 </a:t>
            </a:r>
            <a:r>
              <a:rPr kumimoji="0" lang="en-US" altLang="zh-CN" sz="2400">
                <a:sym typeface="Symbol" panose="05050102010706020507" pitchFamily="18" charset="2"/>
              </a:rPr>
              <a:t> L</a:t>
            </a:r>
            <a:r>
              <a:rPr kumimoji="0" lang="en-US" altLang="zh-CN" sz="2400" baseline="30000">
                <a:sym typeface="Symbol" panose="05050102010706020507" pitchFamily="18" charset="2"/>
              </a:rPr>
              <a:t>2 </a:t>
            </a:r>
            <a:r>
              <a:rPr kumimoji="0" lang="en-US" altLang="zh-CN" sz="2400">
                <a:sym typeface="Symbol" panose="05050102010706020507" pitchFamily="18" charset="2"/>
              </a:rPr>
              <a:t> = { </a:t>
            </a:r>
            <a:r>
              <a:rPr kumimoji="0" lang="zh-CN" altLang="en-US" sz="2400">
                <a:sym typeface="Symbol" panose="05050102010706020507" pitchFamily="18" charset="2"/>
              </a:rPr>
              <a:t>所有四个字母的串 </a:t>
            </a: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EC0E148A-759F-4C13-823E-AE8FC10BFF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语言运算示例（续）</a:t>
            </a:r>
          </a:p>
        </p:txBody>
      </p:sp>
      <p:sp>
        <p:nvSpPr>
          <p:cNvPr id="35843" name="Text Box 3">
            <a:extLst>
              <a:ext uri="{FF2B5EF4-FFF2-40B4-BE49-F238E27FC236}">
                <a16:creationId xmlns:a16="http://schemas.microsoft.com/office/drawing/2014/main" id="{C27B5692-2495-4C17-9A25-8F1C1245B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295400"/>
            <a:ext cx="723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/>
              <a:t>L = {A, B,…, Z, a, b, …, z}      D = {0, 1, …, 9}</a:t>
            </a:r>
          </a:p>
        </p:txBody>
      </p:sp>
      <p:sp>
        <p:nvSpPr>
          <p:cNvPr id="35844" name="Text Box 4">
            <a:extLst>
              <a:ext uri="{FF2B5EF4-FFF2-40B4-BE49-F238E27FC236}">
                <a16:creationId xmlns:a16="http://schemas.microsoft.com/office/drawing/2014/main" id="{213BFCE5-4ABE-4EAD-9A07-D17C8FB3E8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7620000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L* = { </a:t>
            </a:r>
            <a:r>
              <a:rPr kumimoji="0" lang="zh-CN" altLang="en-US" sz="2400">
                <a:sym typeface="Symbol" panose="05050102010706020507" pitchFamily="18" charset="2"/>
              </a:rPr>
              <a:t>所有字母串，包括 </a:t>
            </a: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}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L</a:t>
            </a:r>
            <a:r>
              <a:rPr kumimoji="0" lang="en-US" altLang="zh-CN" sz="2400" baseline="30000">
                <a:sym typeface="Symbol" panose="05050102010706020507" pitchFamily="18" charset="2"/>
              </a:rPr>
              <a:t>+ </a:t>
            </a:r>
            <a:r>
              <a:rPr kumimoji="0" lang="en-US" altLang="zh-CN" sz="2400">
                <a:sym typeface="Symbol" panose="05050102010706020507" pitchFamily="18" charset="2"/>
              </a:rPr>
              <a:t>= L* - </a:t>
            </a: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D</a:t>
            </a:r>
            <a:r>
              <a:rPr kumimoji="0" lang="en-US" altLang="zh-CN" sz="2400" baseline="30000">
                <a:solidFill>
                  <a:srgbClr val="FF3300"/>
                </a:solidFill>
                <a:sym typeface="Symbol" panose="05050102010706020507" pitchFamily="18" charset="2"/>
              </a:rPr>
              <a:t>+</a:t>
            </a: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 =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L (L  D )* =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86725" name="Rectangle 5">
            <a:extLst>
              <a:ext uri="{FF2B5EF4-FFF2-40B4-BE49-F238E27FC236}">
                <a16:creationId xmlns:a16="http://schemas.microsoft.com/office/drawing/2014/main" id="{7FA5B632-308A-4961-A712-4B36B390A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3141663"/>
            <a:ext cx="1949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{</a:t>
            </a:r>
            <a:r>
              <a:rPr kumimoji="0" lang="zh-CN" altLang="en-US" sz="2400">
                <a:solidFill>
                  <a:srgbClr val="FF3300"/>
                </a:solidFill>
                <a:sym typeface="Symbol" panose="05050102010706020507" pitchFamily="18" charset="2"/>
              </a:rPr>
              <a:t>非空数字串</a:t>
            </a: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}</a:t>
            </a:r>
          </a:p>
        </p:txBody>
      </p:sp>
      <p:sp>
        <p:nvSpPr>
          <p:cNvPr id="286726" name="Rectangle 6">
            <a:extLst>
              <a:ext uri="{FF2B5EF4-FFF2-40B4-BE49-F238E27FC236}">
                <a16:creationId xmlns:a16="http://schemas.microsoft.com/office/drawing/2014/main" id="{AD3FA2CA-2533-4CB1-A381-AD69B2A62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1963" y="3716338"/>
            <a:ext cx="5818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{</a:t>
            </a:r>
            <a:r>
              <a:rPr kumimoji="0" lang="zh-CN" altLang="en-US" sz="2400">
                <a:solidFill>
                  <a:srgbClr val="FF3300"/>
                </a:solidFill>
                <a:sym typeface="Symbol" panose="05050102010706020507" pitchFamily="18" charset="2"/>
              </a:rPr>
              <a:t>字母开头的字母数字串</a:t>
            </a: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}</a:t>
            </a:r>
          </a:p>
        </p:txBody>
      </p:sp>
      <p:sp>
        <p:nvSpPr>
          <p:cNvPr id="286727" name="Rectangle 7">
            <a:extLst>
              <a:ext uri="{FF2B5EF4-FFF2-40B4-BE49-F238E27FC236}">
                <a16:creationId xmlns:a16="http://schemas.microsoft.com/office/drawing/2014/main" id="{20EC4B73-7972-42AE-80F8-6FC1E81E0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3141663"/>
            <a:ext cx="1525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——</a:t>
            </a:r>
            <a:r>
              <a:rPr kumimoji="0" lang="en-US" altLang="zh-CN" sz="2400">
                <a:solidFill>
                  <a:srgbClr val="FF33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NUM</a:t>
            </a:r>
          </a:p>
        </p:txBody>
      </p:sp>
      <p:sp>
        <p:nvSpPr>
          <p:cNvPr id="286728" name="Rectangle 8">
            <a:extLst>
              <a:ext uri="{FF2B5EF4-FFF2-40B4-BE49-F238E27FC236}">
                <a16:creationId xmlns:a16="http://schemas.microsoft.com/office/drawing/2014/main" id="{4415AE65-3ADC-4AAD-977C-011688329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3692525"/>
            <a:ext cx="1171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FF3300"/>
                </a:solidFill>
                <a:sym typeface="Symbol" panose="05050102010706020507" pitchFamily="18" charset="2"/>
              </a:rPr>
              <a:t>——</a:t>
            </a:r>
            <a:r>
              <a:rPr kumimoji="0" lang="en-US" altLang="zh-CN" sz="2400">
                <a:solidFill>
                  <a:srgbClr val="FF33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ID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5" grpId="0"/>
      <p:bldP spid="286726" grpId="0"/>
      <p:bldP spid="286727" grpId="0"/>
      <p:bldP spid="28672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A172001C-7C11-4C49-8DF6-C30FFB7AC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295400"/>
            <a:ext cx="74676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  <a:defRPr/>
            </a:pPr>
            <a:r>
              <a:rPr lang="zh-CN" altLang="en-US" sz="3600" b="0" dirty="0">
                <a:solidFill>
                  <a:srgbClr val="FF3300"/>
                </a:solidFill>
              </a:rPr>
              <a:t>语言</a:t>
            </a:r>
            <a:r>
              <a:rPr lang="zh-CN" altLang="en-US" sz="3600" b="0" dirty="0">
                <a:solidFill>
                  <a:srgbClr val="FF3300"/>
                </a:solidFill>
                <a:sym typeface="Wingdings" panose="05000000000000000000" pitchFamily="2" charset="2"/>
              </a:rPr>
              <a:t>符号串集合单词</a:t>
            </a:r>
          </a:p>
          <a:p>
            <a:pPr eaLnBrk="1" hangingPunct="1">
              <a:spcAft>
                <a:spcPct val="20000"/>
              </a:spcAft>
              <a:defRPr/>
            </a:pPr>
            <a:r>
              <a:rPr lang="zh-CN" altLang="en-US" sz="3600" b="0" dirty="0">
                <a:solidFill>
                  <a:srgbClr val="3333CC"/>
                </a:solidFill>
                <a:sym typeface="Wingdings" panose="05000000000000000000" pitchFamily="2" charset="2"/>
              </a:rPr>
              <a:t>很多单词是复杂语言（复杂符号串集合），怎么办？</a:t>
            </a:r>
            <a:endParaRPr lang="en-US" altLang="zh-CN" sz="3600" b="0" dirty="0">
              <a:solidFill>
                <a:srgbClr val="3333CC"/>
              </a:solidFill>
              <a:sym typeface="Wingdings" panose="05000000000000000000" pitchFamily="2" charset="2"/>
            </a:endParaRPr>
          </a:p>
          <a:p>
            <a:pPr marL="0" indent="0" eaLnBrk="1" hangingPunct="1">
              <a:spcAft>
                <a:spcPct val="2000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600" b="0" dirty="0">
                <a:solidFill>
                  <a:srgbClr val="3333CC"/>
                </a:solidFill>
                <a:sym typeface="Wingdings" panose="05000000000000000000" pitchFamily="2" charset="2"/>
              </a:rPr>
              <a:t>   </a:t>
            </a:r>
            <a:r>
              <a:rPr lang="zh-CN" altLang="en-US" sz="3600" b="0" dirty="0">
                <a:solidFill>
                  <a:srgbClr val="3333CC"/>
                </a:solidFill>
                <a:sym typeface="Wingdings" panose="05000000000000000000" pitchFamily="2" charset="2"/>
              </a:rPr>
              <a:t>用简单语言的运算来表示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A7804D24-8E66-4934-99D6-A47899ABE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0">
                <a:solidFill>
                  <a:schemeClr val="tx2"/>
                </a:solidFill>
              </a:rPr>
              <a:t>语言和单词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A76E69D0-4BEC-471C-AACE-ECA32DFBD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1295400"/>
            <a:ext cx="78486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Aft>
                <a:spcPct val="20000"/>
              </a:spcAft>
            </a:pPr>
            <a:r>
              <a:rPr lang="zh-CN" altLang="en-US" sz="3600" b="0">
                <a:solidFill>
                  <a:srgbClr val="3333CC"/>
                </a:solidFill>
                <a:sym typeface="Wingdings" panose="05000000000000000000" pitchFamily="2" charset="2"/>
              </a:rPr>
              <a:t>正则表达式语言（符号串集合）运算的简洁描述</a:t>
            </a:r>
          </a:p>
          <a:p>
            <a:pPr lvl="1" eaLnBrk="1" hangingPunct="1">
              <a:spcAft>
                <a:spcPct val="2000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§"/>
            </a:pPr>
            <a:r>
              <a:rPr lang="zh-CN" altLang="en-US" sz="3200" b="0">
                <a:solidFill>
                  <a:srgbClr val="FF3300"/>
                </a:solidFill>
                <a:sym typeface="Wingdings" panose="05000000000000000000" pitchFamily="2" charset="2"/>
              </a:rPr>
              <a:t>简单语言基本正则表达式</a:t>
            </a:r>
          </a:p>
          <a:p>
            <a:pPr lvl="1" eaLnBrk="1" hangingPunct="1">
              <a:spcAft>
                <a:spcPct val="2000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§"/>
            </a:pPr>
            <a:r>
              <a:rPr lang="zh-CN" altLang="en-US" sz="3200" b="0">
                <a:solidFill>
                  <a:srgbClr val="FF3300"/>
                </a:solidFill>
                <a:sym typeface="Wingdings" panose="05000000000000000000" pitchFamily="2" charset="2"/>
              </a:rPr>
              <a:t>语言运算正则表达式运算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8EE1106-FCA6-48FC-98D0-A2DAA9363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b="0">
                <a:solidFill>
                  <a:schemeClr val="tx2"/>
                </a:solidFill>
              </a:rPr>
              <a:t>语言和单词（续）</a:t>
            </a:r>
          </a:p>
        </p:txBody>
      </p:sp>
    </p:spTree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2C1CC82-E97E-42A2-A4E8-2975FC2097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3.3.3</a:t>
            </a:r>
            <a:r>
              <a:rPr lang="zh-CN" altLang="en-US"/>
              <a:t>正则表达式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D5C16A17-7EB0-456F-98F8-CE4542E03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2800" dirty="0">
                <a:solidFill>
                  <a:srgbClr val="FF3300"/>
                </a:solidFill>
              </a:rPr>
              <a:t>regular expression</a:t>
            </a:r>
            <a:br>
              <a:rPr lang="en-US" altLang="zh-CN" sz="2800" dirty="0">
                <a:solidFill>
                  <a:srgbClr val="FF3300"/>
                </a:solidFill>
              </a:rPr>
            </a:br>
            <a:r>
              <a:rPr lang="zh-CN" altLang="en-US" sz="2800" dirty="0">
                <a:solidFill>
                  <a:srgbClr val="FF3300"/>
                </a:solidFill>
              </a:rPr>
              <a:t>正规表达式、正规式、正则式、正则表达式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Pascal</a:t>
            </a:r>
            <a:r>
              <a:rPr lang="zh-CN" altLang="en-US" sz="2800" dirty="0"/>
              <a:t>标识符：</a:t>
            </a:r>
            <a:r>
              <a:rPr lang="en-US" altLang="zh-CN" sz="2800" b="1" dirty="0">
                <a:solidFill>
                  <a:srgbClr val="3333CC"/>
                </a:solidFill>
              </a:rPr>
              <a:t>letter </a:t>
            </a:r>
            <a:r>
              <a:rPr lang="en-US" altLang="zh-CN" sz="2800" dirty="0">
                <a:solidFill>
                  <a:srgbClr val="3333CC"/>
                </a:solidFill>
              </a:rPr>
              <a:t>(</a:t>
            </a:r>
            <a:r>
              <a:rPr lang="en-US" altLang="zh-CN" sz="2800" b="1" dirty="0">
                <a:solidFill>
                  <a:srgbClr val="3333CC"/>
                </a:solidFill>
              </a:rPr>
              <a:t> letter </a:t>
            </a:r>
            <a:r>
              <a:rPr lang="en-US" altLang="zh-CN" sz="2800" dirty="0">
                <a:solidFill>
                  <a:srgbClr val="3333CC"/>
                </a:solidFill>
              </a:rPr>
              <a:t>|</a:t>
            </a:r>
            <a:r>
              <a:rPr lang="en-US" altLang="zh-CN" sz="2800" b="1" dirty="0">
                <a:solidFill>
                  <a:srgbClr val="3333CC"/>
                </a:solidFill>
              </a:rPr>
              <a:t> digit </a:t>
            </a:r>
            <a:r>
              <a:rPr lang="en-US" altLang="zh-CN" sz="2800" dirty="0">
                <a:solidFill>
                  <a:srgbClr val="3333CC"/>
                </a:solidFill>
              </a:rPr>
              <a:t>)</a:t>
            </a:r>
            <a:r>
              <a:rPr lang="en-US" altLang="zh-CN" sz="2800" b="1" baseline="30000" dirty="0">
                <a:solidFill>
                  <a:srgbClr val="3333CC"/>
                </a:solidFill>
              </a:rPr>
              <a:t>*</a:t>
            </a:r>
            <a:endParaRPr lang="en-US" altLang="zh-CN" sz="2800" b="1" dirty="0">
              <a:solidFill>
                <a:srgbClr val="3333CC"/>
              </a:solidFill>
            </a:endParaRPr>
          </a:p>
          <a:p>
            <a:pPr eaLnBrk="1" hangingPunct="1"/>
            <a:r>
              <a:rPr lang="zh-CN" altLang="en-US" sz="2800" dirty="0">
                <a:solidFill>
                  <a:srgbClr val="3333CC"/>
                </a:solidFill>
                <a:ea typeface="黑体" panose="02010609060101010101" pitchFamily="49" charset="-122"/>
              </a:rPr>
              <a:t>正规集</a:t>
            </a:r>
            <a:r>
              <a:rPr lang="zh-CN" altLang="en-US" sz="2800" dirty="0">
                <a:ea typeface="黑体" panose="02010609060101010101" pitchFamily="49" charset="-122"/>
              </a:rPr>
              <a:t>（</a:t>
            </a:r>
            <a:r>
              <a:rPr lang="en-US" altLang="zh-CN" sz="2800" dirty="0">
                <a:solidFill>
                  <a:srgbClr val="FF3300"/>
                </a:solidFill>
              </a:rPr>
              <a:t>regular set</a:t>
            </a:r>
            <a:r>
              <a:rPr lang="zh-CN" altLang="en-US" sz="2800" dirty="0"/>
              <a:t>）</a:t>
            </a:r>
            <a:r>
              <a:rPr lang="en-US" altLang="zh-CN" sz="2800" dirty="0"/>
              <a:t>——</a:t>
            </a:r>
            <a:r>
              <a:rPr lang="zh-CN" altLang="en-US" sz="2800" dirty="0"/>
              <a:t>特殊的语言</a:t>
            </a:r>
          </a:p>
          <a:p>
            <a:pPr eaLnBrk="1" hangingPunct="1"/>
            <a:r>
              <a:rPr lang="zh-CN" altLang="en-US" sz="2800" dirty="0">
                <a:solidFill>
                  <a:srgbClr val="3333CC"/>
                </a:solidFill>
                <a:ea typeface="黑体" panose="02010609060101010101" pitchFamily="49" charset="-122"/>
              </a:rPr>
              <a:t>正规式</a:t>
            </a:r>
            <a:r>
              <a:rPr lang="en-US" altLang="zh-CN" sz="2800" dirty="0"/>
              <a:t>r——</a:t>
            </a:r>
            <a:r>
              <a:rPr lang="zh-CN" altLang="en-US" sz="2800" dirty="0"/>
              <a:t>表示正规集（语言）</a:t>
            </a:r>
            <a:r>
              <a:rPr lang="en-US" altLang="zh-CN" sz="2800" dirty="0"/>
              <a:t>L(r)</a:t>
            </a:r>
            <a:br>
              <a:rPr lang="en-US" altLang="zh-CN" sz="2800" dirty="0"/>
            </a:br>
            <a:r>
              <a:rPr lang="en-US" altLang="zh-CN" sz="2800" dirty="0"/>
              <a:t>——</a:t>
            </a:r>
            <a:r>
              <a:rPr lang="zh-CN" altLang="en-US" sz="2800" dirty="0"/>
              <a:t>利用</a:t>
            </a:r>
            <a:r>
              <a:rPr lang="zh-CN" altLang="en-US" sz="2800" dirty="0">
                <a:sym typeface="Wingdings" panose="05000000000000000000" pitchFamily="2" charset="2"/>
              </a:rPr>
              <a:t>一组</a:t>
            </a:r>
            <a:r>
              <a:rPr lang="zh-CN" altLang="en-US" sz="2800" dirty="0">
                <a:solidFill>
                  <a:srgbClr val="3333CC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规则</a:t>
            </a:r>
            <a:r>
              <a:rPr lang="zh-CN" altLang="en-US" sz="2800" dirty="0">
                <a:sym typeface="Wingdings" panose="05000000000000000000" pitchFamily="2" charset="2"/>
              </a:rPr>
              <a:t>（运算）来构造</a:t>
            </a:r>
            <a:endParaRPr lang="zh-CN" altLang="en-US" sz="2800" dirty="0">
              <a:solidFill>
                <a:srgbClr val="3333CC"/>
              </a:solidFill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sz="2400" dirty="0">
                <a:sym typeface="Wingdings" panose="05000000000000000000" pitchFamily="2" charset="2"/>
              </a:rPr>
              <a:t>指明如何用符号表中符号构成特定符号串集合（正规集、正规语言 ）</a:t>
            </a:r>
          </a:p>
          <a:p>
            <a:pPr lvl="1" eaLnBrk="1" hangingPunct="1"/>
            <a:r>
              <a:rPr lang="zh-CN" altLang="en-US" sz="2400" dirty="0">
                <a:sym typeface="Wingdings" panose="05000000000000000000" pitchFamily="2" charset="2"/>
              </a:rPr>
              <a:t>基本、简单的正规式如何递归地构成复杂的正规式</a:t>
            </a:r>
          </a:p>
        </p:txBody>
      </p:sp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8BD3C6D4-97BA-4563-A863-A3248CE609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正规式定义规则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5F233EDB-72C0-418D-8480-22F4C5680F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marL="609600" indent="-609600" eaLnBrk="1" hangingPunct="1"/>
            <a:r>
              <a:rPr lang="zh-CN" altLang="en-US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字母表</a:t>
            </a:r>
            <a:r>
              <a:rPr lang="en-US" altLang="zh-CN" dirty="0" err="1">
                <a:solidFill>
                  <a:srgbClr val="3333CC"/>
                </a:solidFill>
                <a:sym typeface="Wingdings" panose="05000000000000000000" pitchFamily="2" charset="2"/>
              </a:rPr>
              <a:t>Σ</a:t>
            </a:r>
            <a:r>
              <a:rPr lang="zh-CN" altLang="en-US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上的正规式</a:t>
            </a:r>
            <a:r>
              <a:rPr lang="en-US" altLang="zh-CN" dirty="0">
                <a:solidFill>
                  <a:srgbClr val="3333CC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r</a:t>
            </a:r>
            <a:r>
              <a:rPr lang="zh-CN" altLang="en-US" dirty="0">
                <a:sym typeface="Wingdings" panose="05000000000000000000" pitchFamily="2" charset="2"/>
              </a:rPr>
              <a:t>的定义规则，以及</a:t>
            </a:r>
            <a:r>
              <a:rPr lang="en-US" altLang="zh-CN" dirty="0">
                <a:sym typeface="Wingdings" panose="05000000000000000000" pitchFamily="2" charset="2"/>
              </a:rPr>
              <a:t>r</a:t>
            </a:r>
            <a:r>
              <a:rPr lang="zh-CN" altLang="en-US" dirty="0">
                <a:sym typeface="Wingdings" panose="05000000000000000000" pitchFamily="2" charset="2"/>
              </a:rPr>
              <a:t>所表示的语言</a:t>
            </a:r>
            <a:r>
              <a:rPr lang="en-US" altLang="zh-CN" dirty="0">
                <a:sym typeface="Wingdings" panose="05000000000000000000" pitchFamily="2" charset="2"/>
              </a:rPr>
              <a:t>L(r)</a:t>
            </a:r>
            <a:r>
              <a:rPr lang="zh-CN" altLang="en-US" dirty="0">
                <a:sym typeface="Wingdings" panose="05000000000000000000" pitchFamily="2" charset="2"/>
              </a:rPr>
              <a:t>定义如下：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0" indent="0" eaLnBrk="1" hangingPunct="1">
              <a:buNone/>
            </a:pPr>
            <a:r>
              <a:rPr lang="zh-CN" altLang="en-US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基本情况</a:t>
            </a:r>
            <a:endParaRPr kumimoji="0" lang="zh-CN" altLang="en-US" dirty="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dirty="0">
                <a:sym typeface="Symbol" panose="05050102010706020507" pitchFamily="18" charset="2"/>
              </a:rPr>
              <a:t>是正规式，表示语言</a:t>
            </a:r>
            <a:r>
              <a:rPr kumimoji="0" lang="en-US" altLang="zh-CN" dirty="0">
                <a:sym typeface="Symbol" panose="05050102010706020507" pitchFamily="18" charset="2"/>
              </a:rPr>
              <a:t>{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dirty="0">
                <a:sym typeface="Symbol" panose="05050102010706020507" pitchFamily="18" charset="2"/>
              </a:rPr>
              <a:t>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dirty="0">
                <a:sym typeface="Symbol" panose="05050102010706020507" pitchFamily="18" charset="2"/>
              </a:rPr>
              <a:t>若</a:t>
            </a:r>
            <a:r>
              <a:rPr kumimoji="0" lang="en-US" altLang="zh-CN" dirty="0" err="1">
                <a:sym typeface="Symbol" panose="05050102010706020507" pitchFamily="18" charset="2"/>
              </a:rPr>
              <a:t>a∈</a:t>
            </a:r>
            <a:r>
              <a:rPr lang="en-US" altLang="zh-CN" dirty="0" err="1">
                <a:sym typeface="Wingdings" panose="05000000000000000000" pitchFamily="2" charset="2"/>
              </a:rPr>
              <a:t>Σ</a:t>
            </a:r>
            <a:r>
              <a:rPr lang="zh-CN" altLang="en-US" dirty="0">
                <a:sym typeface="Wingdings" panose="05000000000000000000" pitchFamily="2" charset="2"/>
              </a:rPr>
              <a:t>，则</a:t>
            </a:r>
            <a:r>
              <a:rPr lang="en-US" altLang="zh-CN" dirty="0">
                <a:sym typeface="Wingdings" panose="05000000000000000000" pitchFamily="2" charset="2"/>
              </a:rPr>
              <a:t>a</a:t>
            </a:r>
            <a:r>
              <a:rPr lang="zh-CN" altLang="en-US" dirty="0">
                <a:sym typeface="Wingdings" panose="05000000000000000000" pitchFamily="2" charset="2"/>
              </a:rPr>
              <a:t>是正规式，表示语言</a:t>
            </a:r>
            <a:r>
              <a:rPr lang="en-US" altLang="zh-CN" dirty="0">
                <a:sym typeface="Wingdings" panose="05000000000000000000" pitchFamily="2" charset="2"/>
              </a:rPr>
              <a:t>{a}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EDE0547-7053-4F6A-91E2-4EA5E49B48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正规式定义规则（续）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D22AE3DC-7338-44AF-BD16-C83FC5CD2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dirty="0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递归规则</a:t>
            </a:r>
            <a:endParaRPr lang="en-US" altLang="zh-CN" dirty="0">
              <a:sym typeface="Wingdings" panose="05000000000000000000" pitchFamily="2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lang="en-US" altLang="zh-CN" dirty="0">
                <a:sym typeface="Wingdings" panose="05000000000000000000" pitchFamily="2" charset="2"/>
              </a:rPr>
              <a:t>r, s</a:t>
            </a:r>
            <a:r>
              <a:rPr lang="zh-CN" altLang="en-US" dirty="0">
                <a:sym typeface="Wingdings" panose="05000000000000000000" pitchFamily="2" charset="2"/>
              </a:rPr>
              <a:t>为正规式，表示语言</a:t>
            </a:r>
            <a:r>
              <a:rPr lang="en-US" altLang="zh-CN" dirty="0">
                <a:sym typeface="Wingdings" panose="05000000000000000000" pitchFamily="2" charset="2"/>
              </a:rPr>
              <a:t>L(r)</a:t>
            </a:r>
            <a:r>
              <a:rPr lang="zh-CN" altLang="en-US" dirty="0">
                <a:sym typeface="Wingdings" panose="05000000000000000000" pitchFamily="2" charset="2"/>
              </a:rPr>
              <a:t>和</a:t>
            </a:r>
            <a:r>
              <a:rPr lang="en-US" altLang="zh-CN" dirty="0">
                <a:sym typeface="Wingdings" panose="05000000000000000000" pitchFamily="2" charset="2"/>
              </a:rPr>
              <a:t>L(s)</a:t>
            </a:r>
            <a:r>
              <a:rPr lang="zh-CN" altLang="en-US" dirty="0">
                <a:sym typeface="Wingdings" panose="05000000000000000000" pitchFamily="2" charset="2"/>
              </a:rPr>
              <a:t>，则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lang="en-US" altLang="zh-CN" dirty="0">
                <a:sym typeface="Wingdings" panose="05000000000000000000" pitchFamily="2" charset="2"/>
              </a:rPr>
              <a:t>(r) | (s)</a:t>
            </a:r>
            <a:r>
              <a:rPr lang="zh-CN" altLang="en-US" dirty="0">
                <a:sym typeface="Wingdings" panose="05000000000000000000" pitchFamily="2" charset="2"/>
              </a:rPr>
              <a:t>是正规式，表示语言</a:t>
            </a:r>
            <a:r>
              <a:rPr kumimoji="0" lang="en-US" altLang="zh-CN" dirty="0">
                <a:sym typeface="Symbol" panose="05050102010706020507" pitchFamily="18" charset="2"/>
              </a:rPr>
              <a:t>L(r)∪L(s)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kumimoji="0" lang="en-US" altLang="zh-CN" dirty="0">
                <a:sym typeface="Symbol" panose="05050102010706020507" pitchFamily="18" charset="2"/>
              </a:rPr>
              <a:t>(r)(s)</a:t>
            </a:r>
            <a:r>
              <a:rPr kumimoji="0" lang="zh-CN" altLang="en-US" dirty="0">
                <a:sym typeface="Symbol" panose="05050102010706020507" pitchFamily="18" charset="2"/>
              </a:rPr>
              <a:t>是正规式，表示语言</a:t>
            </a:r>
            <a:r>
              <a:rPr kumimoji="0" lang="en-US" altLang="zh-CN" dirty="0">
                <a:sym typeface="Symbol" panose="05050102010706020507" pitchFamily="18" charset="2"/>
              </a:rPr>
              <a:t>L(r)L(s)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kumimoji="0" lang="en-US" altLang="zh-CN" dirty="0">
                <a:sym typeface="Symbol" panose="05050102010706020507" pitchFamily="18" charset="2"/>
              </a:rPr>
              <a:t>(r)</a:t>
            </a:r>
            <a:r>
              <a:rPr kumimoji="0" lang="en-US" altLang="zh-CN" baseline="30000" dirty="0">
                <a:sym typeface="Symbol" panose="05050102010706020507" pitchFamily="18" charset="2"/>
              </a:rPr>
              <a:t>*</a:t>
            </a:r>
            <a:r>
              <a:rPr kumimoji="0" lang="zh-CN" altLang="en-US" dirty="0">
                <a:sym typeface="Symbol" panose="05050102010706020507" pitchFamily="18" charset="2"/>
              </a:rPr>
              <a:t>是正规式，表示语言</a:t>
            </a:r>
            <a:r>
              <a:rPr kumimoji="0" lang="en-US" altLang="zh-CN" dirty="0">
                <a:sym typeface="Symbol" panose="05050102010706020507" pitchFamily="18" charset="2"/>
              </a:rPr>
              <a:t>(L(r))</a:t>
            </a:r>
            <a:r>
              <a:rPr kumimoji="0" lang="en-US" altLang="zh-CN" baseline="30000" dirty="0">
                <a:sym typeface="Symbol" panose="05050102010706020507" pitchFamily="18" charset="2"/>
              </a:rPr>
              <a:t>*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marL="990600" lvl="1" indent="-533400" eaLnBrk="1" hangingPunct="1">
              <a:buFont typeface="Wingdings" panose="05000000000000000000" pitchFamily="2" charset="2"/>
              <a:buAutoNum type="alphaLcParenR"/>
            </a:pPr>
            <a:r>
              <a:rPr kumimoji="0" lang="en-US" altLang="zh-CN" dirty="0">
                <a:sym typeface="Symbol" panose="05050102010706020507" pitchFamily="18" charset="2"/>
              </a:rPr>
              <a:t>(r) </a:t>
            </a:r>
            <a:r>
              <a:rPr kumimoji="0" lang="zh-CN" altLang="en-US" dirty="0">
                <a:sym typeface="Symbol" panose="05050102010706020507" pitchFamily="18" charset="2"/>
              </a:rPr>
              <a:t>是正规式，表示语言</a:t>
            </a:r>
            <a:r>
              <a:rPr kumimoji="0" lang="en-US" altLang="zh-CN" dirty="0">
                <a:sym typeface="Symbol" panose="05050102010706020507" pitchFamily="18" charset="2"/>
              </a:rPr>
              <a:t>L(r)</a:t>
            </a:r>
          </a:p>
        </p:txBody>
      </p:sp>
      <p:sp>
        <p:nvSpPr>
          <p:cNvPr id="40964" name="Line 4">
            <a:extLst>
              <a:ext uri="{FF2B5EF4-FFF2-40B4-BE49-F238E27FC236}">
                <a16:creationId xmlns:a16="http://schemas.microsoft.com/office/drawing/2014/main" id="{E4418B91-1F25-4201-918D-8A0098CAA368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4284712"/>
            <a:ext cx="18256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5" name="Line 5">
            <a:extLst>
              <a:ext uri="{FF2B5EF4-FFF2-40B4-BE49-F238E27FC236}">
                <a16:creationId xmlns:a16="http://schemas.microsoft.com/office/drawing/2014/main" id="{AFE11B88-602F-4A60-8A53-DBE4315E69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0200" y="2836912"/>
            <a:ext cx="1588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66" name="Text Box 6">
            <a:extLst>
              <a:ext uri="{FF2B5EF4-FFF2-40B4-BE49-F238E27FC236}">
                <a16:creationId xmlns:a16="http://schemas.microsoft.com/office/drawing/2014/main" id="{F4589D4C-5866-4EDE-BA7E-2C90F07ECC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760712"/>
            <a:ext cx="5492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dirty="0">
                <a:solidFill>
                  <a:srgbClr val="FF3300"/>
                </a:solidFill>
                <a:latin typeface="Tahoma" panose="020B0604030504040204" pitchFamily="34" charset="0"/>
              </a:rPr>
              <a:t>优先级降低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4" grpId="0" animBg="1"/>
      <p:bldP spid="40965" grpId="0" animBg="1"/>
      <p:bldP spid="4096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1F5EFA7-832B-4485-9B00-9597A73BBA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3.3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0404C54-0A38-473D-BF60-635E749012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marL="609600" indent="-609600" eaLnBrk="1" hangingPunct="1"/>
            <a:r>
              <a:rPr lang="en-US" altLang="zh-CN">
                <a:sym typeface="Wingdings" panose="05000000000000000000" pitchFamily="2" charset="2"/>
              </a:rPr>
              <a:t>Σ={a, b}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>
                <a:sym typeface="Wingdings" panose="05000000000000000000" pitchFamily="2" charset="2"/>
              </a:rPr>
              <a:t>a | b </a:t>
            </a:r>
            <a:r>
              <a:rPr kumimoji="0" lang="en-US" altLang="zh-CN">
                <a:sym typeface="Symbol" panose="05050102010706020507" pitchFamily="18" charset="2"/>
              </a:rPr>
              <a:t> { a, b}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en-US" altLang="zh-CN">
                <a:sym typeface="Symbol" panose="05050102010706020507" pitchFamily="18" charset="2"/>
              </a:rPr>
              <a:t>(a | b)(a | b)  { aa, ab, ba, bb 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en-US" altLang="zh-CN">
                <a:sym typeface="Symbol" panose="05050102010706020507" pitchFamily="18" charset="2"/>
              </a:rPr>
              <a:t>a</a:t>
            </a:r>
            <a:r>
              <a:rPr kumimoji="0" lang="en-US" altLang="zh-CN" baseline="30000">
                <a:sym typeface="Symbol" panose="05050102010706020507" pitchFamily="18" charset="2"/>
              </a:rPr>
              <a:t>*</a:t>
            </a:r>
            <a:r>
              <a:rPr kumimoji="0" lang="en-US" altLang="zh-CN">
                <a:sym typeface="Symbol" panose="05050102010706020507" pitchFamily="18" charset="2"/>
              </a:rPr>
              <a:t>  {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>
                <a:sym typeface="Symbol" panose="05050102010706020507" pitchFamily="18" charset="2"/>
              </a:rPr>
              <a:t>, a, aa, aaa, … }</a:t>
            </a: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0AD70C30-D635-47BD-AB4A-C28595796D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3.3 </a:t>
            </a:r>
            <a:r>
              <a:rPr lang="zh-CN" altLang="en-US"/>
              <a:t>（续）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F622ECB0-1174-4E33-87A1-3BF78BEF04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4"/>
            </a:pPr>
            <a:r>
              <a:rPr kumimoji="0" lang="en-US" altLang="zh-CN" dirty="0">
                <a:sym typeface="Symbol" panose="05050102010706020507" pitchFamily="18" charset="2"/>
              </a:rPr>
              <a:t>(a | b)</a:t>
            </a:r>
            <a:r>
              <a:rPr kumimoji="0" lang="en-US" altLang="zh-CN" baseline="30000" dirty="0">
                <a:sym typeface="Symbol" panose="05050102010706020507" pitchFamily="18" charset="2"/>
              </a:rPr>
              <a:t>*</a:t>
            </a:r>
            <a:r>
              <a:rPr kumimoji="0" lang="en-US" altLang="zh-CN" dirty="0">
                <a:sym typeface="Symbol" panose="05050102010706020507" pitchFamily="18" charset="2"/>
              </a:rPr>
              <a:t> = { </a:t>
            </a:r>
            <a:r>
              <a:rPr kumimoji="0" lang="zh-CN" altLang="en-US" dirty="0">
                <a:sym typeface="Symbol" panose="05050102010706020507" pitchFamily="18" charset="2"/>
              </a:rPr>
              <a:t>所有由</a:t>
            </a:r>
            <a:r>
              <a:rPr kumimoji="0" lang="en-US" altLang="zh-CN" dirty="0">
                <a:sym typeface="Symbol" panose="05050102010706020507" pitchFamily="18" charset="2"/>
              </a:rPr>
              <a:t>a</a:t>
            </a:r>
            <a:r>
              <a:rPr kumimoji="0" lang="zh-CN" altLang="en-US" dirty="0">
                <a:sym typeface="Symbol" panose="05050102010706020507" pitchFamily="18" charset="2"/>
              </a:rPr>
              <a:t>、</a:t>
            </a:r>
            <a:r>
              <a:rPr kumimoji="0" lang="en-US" altLang="zh-CN" dirty="0">
                <a:sym typeface="Symbol" panose="05050102010706020507" pitchFamily="18" charset="2"/>
              </a:rPr>
              <a:t>b</a:t>
            </a:r>
            <a:r>
              <a:rPr kumimoji="0" lang="zh-CN" altLang="en-US" dirty="0">
                <a:sym typeface="Symbol" panose="05050102010706020507" pitchFamily="18" charset="2"/>
              </a:rPr>
              <a:t>组成的符号串 </a:t>
            </a:r>
            <a:r>
              <a:rPr kumimoji="0" lang="en-US" altLang="zh-CN" dirty="0">
                <a:sym typeface="Symbol" panose="05050102010706020507" pitchFamily="18" charset="2"/>
              </a:rPr>
              <a:t>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 startAt="4"/>
            </a:pPr>
            <a:r>
              <a:rPr kumimoji="0" lang="en-US" altLang="zh-CN" dirty="0">
                <a:sym typeface="Symbol" panose="05050102010706020507" pitchFamily="18" charset="2"/>
              </a:rPr>
              <a:t>a | a</a:t>
            </a:r>
            <a:r>
              <a:rPr kumimoji="0" lang="en-US" altLang="zh-CN" baseline="30000" dirty="0">
                <a:sym typeface="Symbol" panose="05050102010706020507" pitchFamily="18" charset="2"/>
              </a:rPr>
              <a:t>*</a:t>
            </a:r>
            <a:r>
              <a:rPr kumimoji="0" lang="en-US" altLang="zh-CN" dirty="0">
                <a:sym typeface="Symbol" panose="05050102010706020507" pitchFamily="18" charset="2"/>
              </a:rPr>
              <a:t>b = { a</a:t>
            </a:r>
            <a:r>
              <a:rPr kumimoji="0" lang="zh-CN" altLang="en-US" dirty="0">
                <a:sym typeface="Symbol" panose="05050102010706020507" pitchFamily="18" charset="2"/>
              </a:rPr>
              <a:t>，所有以若干个</a:t>
            </a:r>
            <a:r>
              <a:rPr kumimoji="0" lang="en-US" altLang="zh-CN" dirty="0">
                <a:sym typeface="Symbol" panose="05050102010706020507" pitchFamily="18" charset="2"/>
              </a:rPr>
              <a:t>a</a:t>
            </a:r>
            <a:r>
              <a:rPr kumimoji="0" lang="zh-CN" altLang="en-US" dirty="0">
                <a:sym typeface="Symbol" panose="05050102010706020507" pitchFamily="18" charset="2"/>
              </a:rPr>
              <a:t>开头，后跟一个</a:t>
            </a:r>
            <a:r>
              <a:rPr kumimoji="0" lang="en-US" altLang="zh-CN" dirty="0">
                <a:sym typeface="Symbol" panose="05050102010706020507" pitchFamily="18" charset="2"/>
              </a:rPr>
              <a:t>b</a:t>
            </a:r>
            <a:r>
              <a:rPr kumimoji="0" lang="zh-CN" altLang="en-US" dirty="0">
                <a:sym typeface="Symbol" panose="05050102010706020507" pitchFamily="18" charset="2"/>
              </a:rPr>
              <a:t>的符号串 </a:t>
            </a:r>
            <a:r>
              <a:rPr kumimoji="0" lang="en-US" altLang="zh-CN" dirty="0">
                <a:sym typeface="Symbol" panose="05050102010706020507" pitchFamily="18" charset="2"/>
              </a:rPr>
              <a:t>}</a:t>
            </a:r>
          </a:p>
          <a:p>
            <a:pPr marL="609600" indent="-609600" eaLnBrk="1" hangingPunct="1"/>
            <a:r>
              <a:rPr kumimoji="0" lang="zh-CN" altLang="en-US" dirty="0">
                <a:sym typeface="Symbol" panose="05050102010706020507" pitchFamily="18" charset="2"/>
              </a:rPr>
              <a:t>正规式</a:t>
            </a:r>
            <a:r>
              <a:rPr kumimoji="0" lang="zh-CN" altLang="en-US" dirty="0">
                <a:solidFill>
                  <a:srgbClr val="3333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等价</a:t>
            </a:r>
            <a:r>
              <a:rPr kumimoji="0" lang="zh-CN" altLang="en-US" dirty="0">
                <a:sym typeface="Symbol" panose="05050102010706020507" pitchFamily="18" charset="2"/>
              </a:rPr>
              <a:t>（</a:t>
            </a:r>
            <a:r>
              <a:rPr kumimoji="0" lang="en-US" altLang="zh-CN" dirty="0">
                <a:solidFill>
                  <a:srgbClr val="FF3300"/>
                </a:solidFill>
                <a:sym typeface="Symbol" panose="05050102010706020507" pitchFamily="18" charset="2"/>
              </a:rPr>
              <a:t>equivalent</a:t>
            </a:r>
            <a:r>
              <a:rPr kumimoji="0" lang="zh-CN" altLang="en-US" dirty="0">
                <a:sym typeface="Symbol" panose="05050102010706020507" pitchFamily="18" charset="2"/>
              </a:rPr>
              <a:t>）：</a:t>
            </a:r>
            <a:r>
              <a:rPr kumimoji="0" lang="en-US" altLang="zh-CN" dirty="0">
                <a:sym typeface="Symbol" panose="05050102010706020507" pitchFamily="18" charset="2"/>
              </a:rPr>
              <a:t>r = s</a:t>
            </a:r>
            <a:r>
              <a:rPr kumimoji="0" lang="en-US" altLang="zh-CN" dirty="0">
                <a:sym typeface="Wingdings" panose="05000000000000000000" pitchFamily="2" charset="2"/>
              </a:rPr>
              <a:t></a:t>
            </a:r>
            <a:br>
              <a:rPr kumimoji="0" lang="en-US" altLang="zh-CN" dirty="0">
                <a:sym typeface="Wingdings" panose="05000000000000000000" pitchFamily="2" charset="2"/>
              </a:rPr>
            </a:br>
            <a:r>
              <a:rPr kumimoji="0" lang="zh-CN" altLang="en-US" dirty="0">
                <a:sym typeface="Wingdings" panose="05000000000000000000" pitchFamily="2" charset="2"/>
              </a:rPr>
              <a:t>表示的语言相同，</a:t>
            </a:r>
            <a:r>
              <a:rPr kumimoji="0" lang="en-US" altLang="zh-CN" dirty="0">
                <a:sym typeface="Wingdings" panose="05000000000000000000" pitchFamily="2" charset="2"/>
              </a:rPr>
              <a:t>L(r) = L(s)</a:t>
            </a:r>
          </a:p>
        </p:txBody>
      </p:sp>
    </p:spTree>
  </p:cSld>
  <p:clrMapOvr>
    <a:masterClrMapping/>
  </p:clrMapOvr>
  <p:transition spd="slow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DBA7EB5-E312-4AAA-84DF-936CBB4A69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正规式运算的特性</a:t>
            </a:r>
          </a:p>
        </p:txBody>
      </p:sp>
      <p:grpSp>
        <p:nvGrpSpPr>
          <p:cNvPr id="44035" name="Group 32">
            <a:extLst>
              <a:ext uri="{FF2B5EF4-FFF2-40B4-BE49-F238E27FC236}">
                <a16:creationId xmlns:a16="http://schemas.microsoft.com/office/drawing/2014/main" id="{394FC33A-766D-4DDA-8420-647B51A3BDB0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371600"/>
            <a:ext cx="7696200" cy="4078288"/>
            <a:chOff x="624" y="768"/>
            <a:chExt cx="4848" cy="2811"/>
          </a:xfrm>
        </p:grpSpPr>
        <p:sp>
          <p:nvSpPr>
            <p:cNvPr id="44036" name="Line 5">
              <a:extLst>
                <a:ext uri="{FF2B5EF4-FFF2-40B4-BE49-F238E27FC236}">
                  <a16:creationId xmlns:a16="http://schemas.microsoft.com/office/drawing/2014/main" id="{42CEE822-FF7E-40BF-8321-9C9FF7B578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768"/>
              <a:ext cx="47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7" name="Line 6">
              <a:extLst>
                <a:ext uri="{FF2B5EF4-FFF2-40B4-BE49-F238E27FC236}">
                  <a16:creationId xmlns:a16="http://schemas.microsoft.com/office/drawing/2014/main" id="{4CF9E7D6-E766-427F-9E7A-D6AE98E7B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825"/>
              <a:ext cx="47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8" name="Line 7">
              <a:extLst>
                <a:ext uri="{FF2B5EF4-FFF2-40B4-BE49-F238E27FC236}">
                  <a16:creationId xmlns:a16="http://schemas.microsoft.com/office/drawing/2014/main" id="{C90B34CA-2EB8-4CF3-8EC8-48589CAEED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448"/>
              <a:ext cx="47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9" name="Line 8">
              <a:extLst>
                <a:ext uri="{FF2B5EF4-FFF2-40B4-BE49-F238E27FC236}">
                  <a16:creationId xmlns:a16="http://schemas.microsoft.com/office/drawing/2014/main" id="{248DF2B7-24A9-4462-A982-0045719534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976"/>
              <a:ext cx="47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0" name="Line 9">
              <a:extLst>
                <a:ext uri="{FF2B5EF4-FFF2-40B4-BE49-F238E27FC236}">
                  <a16:creationId xmlns:a16="http://schemas.microsoft.com/office/drawing/2014/main" id="{6E6BB4D4-A1CD-46BD-8F62-7C617068F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552"/>
              <a:ext cx="47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1" name="Line 10">
              <a:extLst>
                <a:ext uri="{FF2B5EF4-FFF2-40B4-BE49-F238E27FC236}">
                  <a16:creationId xmlns:a16="http://schemas.microsoft.com/office/drawing/2014/main" id="{A196F2BC-1B60-48AD-A20E-FA1D0FEC71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264"/>
              <a:ext cx="47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2" name="Line 11">
              <a:extLst>
                <a:ext uri="{FF2B5EF4-FFF2-40B4-BE49-F238E27FC236}">
                  <a16:creationId xmlns:a16="http://schemas.microsoft.com/office/drawing/2014/main" id="{6580CC29-3FA6-4170-9F2B-CC9E39B3F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920"/>
              <a:ext cx="47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3" name="Line 12">
              <a:extLst>
                <a:ext uri="{FF2B5EF4-FFF2-40B4-BE49-F238E27FC236}">
                  <a16:creationId xmlns:a16="http://schemas.microsoft.com/office/drawing/2014/main" id="{222A999F-31DB-4876-9F7F-752B2C856F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680"/>
              <a:ext cx="47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4" name="Line 13">
              <a:extLst>
                <a:ext uri="{FF2B5EF4-FFF2-40B4-BE49-F238E27FC236}">
                  <a16:creationId xmlns:a16="http://schemas.microsoft.com/office/drawing/2014/main" id="{2C530810-DE16-413C-8710-8F8690627B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47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5" name="Line 14">
              <a:extLst>
                <a:ext uri="{FF2B5EF4-FFF2-40B4-BE49-F238E27FC236}">
                  <a16:creationId xmlns:a16="http://schemas.microsoft.com/office/drawing/2014/main" id="{6E789E83-6E28-42A4-8A07-A377583303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104"/>
              <a:ext cx="47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6" name="Text Box 15">
              <a:extLst>
                <a:ext uri="{FF2B5EF4-FFF2-40B4-BE49-F238E27FC236}">
                  <a16:creationId xmlns:a16="http://schemas.microsoft.com/office/drawing/2014/main" id="{34534DA0-AD93-4631-9272-7B2D29FDBE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825"/>
              <a:ext cx="1774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400"/>
                <a:t>公理</a:t>
              </a:r>
            </a:p>
          </p:txBody>
        </p:sp>
        <p:sp>
          <p:nvSpPr>
            <p:cNvPr id="44047" name="Line 16">
              <a:extLst>
                <a:ext uri="{FF2B5EF4-FFF2-40B4-BE49-F238E27FC236}">
                  <a16:creationId xmlns:a16="http://schemas.microsoft.com/office/drawing/2014/main" id="{0D980BD9-70F8-4D2D-A8F9-613AB5C8F8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06" y="825"/>
              <a:ext cx="0" cy="2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8" name="Text Box 17">
              <a:extLst>
                <a:ext uri="{FF2B5EF4-FFF2-40B4-BE49-F238E27FC236}">
                  <a16:creationId xmlns:a16="http://schemas.microsoft.com/office/drawing/2014/main" id="{8A48D780-DFAA-4459-8E98-12A779A6A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6" y="825"/>
              <a:ext cx="2915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400"/>
                <a:t>描述</a:t>
              </a:r>
            </a:p>
          </p:txBody>
        </p:sp>
        <p:sp>
          <p:nvSpPr>
            <p:cNvPr id="44049" name="Text Box 18">
              <a:extLst>
                <a:ext uri="{FF2B5EF4-FFF2-40B4-BE49-F238E27FC236}">
                  <a16:creationId xmlns:a16="http://schemas.microsoft.com/office/drawing/2014/main" id="{7829A60D-5C2D-44C5-A662-3FE82A89A8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097"/>
              <a:ext cx="1774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r | s = s | r</a:t>
              </a:r>
            </a:p>
          </p:txBody>
        </p:sp>
        <p:sp>
          <p:nvSpPr>
            <p:cNvPr id="44050" name="Text Box 19">
              <a:extLst>
                <a:ext uri="{FF2B5EF4-FFF2-40B4-BE49-F238E27FC236}">
                  <a16:creationId xmlns:a16="http://schemas.microsoft.com/office/drawing/2014/main" id="{31C006AB-F2A8-4C30-A94B-5A89805DB8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68"/>
              <a:ext cx="1920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r | (s | t) =  (r | s) | t</a:t>
              </a:r>
            </a:p>
          </p:txBody>
        </p:sp>
        <p:sp>
          <p:nvSpPr>
            <p:cNvPr id="44051" name="Text Box 20">
              <a:extLst>
                <a:ext uri="{FF2B5EF4-FFF2-40B4-BE49-F238E27FC236}">
                  <a16:creationId xmlns:a16="http://schemas.microsoft.com/office/drawing/2014/main" id="{81A94C6C-0912-46EF-8817-55EDE99074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640"/>
              <a:ext cx="1774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(r  s) t =  r (s t)</a:t>
              </a:r>
            </a:p>
          </p:txBody>
        </p:sp>
        <p:sp>
          <p:nvSpPr>
            <p:cNvPr id="44052" name="Text Box 21">
              <a:extLst>
                <a:ext uri="{FF2B5EF4-FFF2-40B4-BE49-F238E27FC236}">
                  <a16:creationId xmlns:a16="http://schemas.microsoft.com/office/drawing/2014/main" id="{5A02D120-C6A1-49A4-9DB6-E0D858369B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454"/>
              <a:ext cx="1774" cy="5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400">
                  <a:sym typeface="Symbol" panose="05050102010706020507" pitchFamily="18" charset="2"/>
                </a:rPr>
                <a:t> </a:t>
              </a:r>
              <a:r>
                <a:rPr kumimoji="0" lang="en-US" altLang="zh-CN" sz="2400"/>
                <a:t>r = 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r </a:t>
              </a: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400"/>
                <a:t> = r</a:t>
              </a:r>
            </a:p>
          </p:txBody>
        </p:sp>
        <p:sp>
          <p:nvSpPr>
            <p:cNvPr id="44053" name="Text Box 22">
              <a:extLst>
                <a:ext uri="{FF2B5EF4-FFF2-40B4-BE49-F238E27FC236}">
                  <a16:creationId xmlns:a16="http://schemas.microsoft.com/office/drawing/2014/main" id="{DC1E2C9E-51C1-489A-9135-B48CCACF62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943"/>
              <a:ext cx="1774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r* = ( r | </a:t>
              </a: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400">
                  <a:sym typeface="Symbol" panose="05050102010706020507" pitchFamily="18" charset="2"/>
                </a:rPr>
                <a:t> )*</a:t>
              </a:r>
            </a:p>
          </p:txBody>
        </p:sp>
        <p:sp>
          <p:nvSpPr>
            <p:cNvPr id="44054" name="Text Box 23">
              <a:extLst>
                <a:ext uri="{FF2B5EF4-FFF2-40B4-BE49-F238E27FC236}">
                  <a16:creationId xmlns:a16="http://schemas.microsoft.com/office/drawing/2014/main" id="{0032517D-1BD4-4486-B096-704617F6E6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913"/>
              <a:ext cx="1774" cy="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r ( s | t ) = r s | r 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( s | t ) r = s r | t r</a:t>
              </a:r>
            </a:p>
          </p:txBody>
        </p:sp>
        <p:sp>
          <p:nvSpPr>
            <p:cNvPr id="44055" name="Text Box 24">
              <a:extLst>
                <a:ext uri="{FF2B5EF4-FFF2-40B4-BE49-F238E27FC236}">
                  <a16:creationId xmlns:a16="http://schemas.microsoft.com/office/drawing/2014/main" id="{33FF2C1F-2718-4ED4-91B4-7473264FB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" y="3264"/>
              <a:ext cx="1773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r** = r*</a:t>
              </a:r>
            </a:p>
          </p:txBody>
        </p:sp>
        <p:sp>
          <p:nvSpPr>
            <p:cNvPr id="44056" name="Text Box 25">
              <a:extLst>
                <a:ext uri="{FF2B5EF4-FFF2-40B4-BE49-F238E27FC236}">
                  <a16:creationId xmlns:a16="http://schemas.microsoft.com/office/drawing/2014/main" id="{D1BE8BCD-664E-4D0D-8275-B430D37909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9" y="1097"/>
              <a:ext cx="2732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| </a:t>
              </a:r>
              <a:r>
                <a:rPr kumimoji="0" lang="zh-CN" altLang="en-US" sz="2400"/>
                <a:t>满足</a:t>
              </a:r>
              <a:r>
                <a:rPr kumimoji="0" lang="zh-CN" altLang="en-US" sz="2400">
                  <a:solidFill>
                    <a:srgbClr val="3333CC"/>
                  </a:solidFill>
                  <a:ea typeface="黑体" panose="02010609060101010101" pitchFamily="49" charset="-122"/>
                </a:rPr>
                <a:t>交换率</a:t>
              </a:r>
            </a:p>
          </p:txBody>
        </p:sp>
        <p:sp>
          <p:nvSpPr>
            <p:cNvPr id="44057" name="Text Box 26">
              <a:extLst>
                <a:ext uri="{FF2B5EF4-FFF2-40B4-BE49-F238E27FC236}">
                  <a16:creationId xmlns:a16="http://schemas.microsoft.com/office/drawing/2014/main" id="{01F3B84E-1393-4A17-ABFC-AC5F85E55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9" y="1368"/>
              <a:ext cx="2732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| </a:t>
              </a:r>
              <a:r>
                <a:rPr kumimoji="0" lang="zh-CN" altLang="en-US" sz="2400"/>
                <a:t>满足</a:t>
              </a:r>
              <a:r>
                <a:rPr kumimoji="0" lang="zh-CN" altLang="en-US" sz="2400">
                  <a:solidFill>
                    <a:srgbClr val="3333CC"/>
                  </a:solidFill>
                  <a:ea typeface="黑体" panose="02010609060101010101" pitchFamily="49" charset="-122"/>
                </a:rPr>
                <a:t>结合率</a:t>
              </a:r>
            </a:p>
          </p:txBody>
        </p:sp>
        <p:sp>
          <p:nvSpPr>
            <p:cNvPr id="44058" name="Text Box 27">
              <a:extLst>
                <a:ext uri="{FF2B5EF4-FFF2-40B4-BE49-F238E27FC236}">
                  <a16:creationId xmlns:a16="http://schemas.microsoft.com/office/drawing/2014/main" id="{21543A2F-7276-42EB-8378-9E70C4ABAA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9" y="1640"/>
              <a:ext cx="2732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400"/>
                <a:t>连接满足</a:t>
              </a:r>
              <a:r>
                <a:rPr kumimoji="0" lang="zh-CN" altLang="en-US" sz="2400">
                  <a:solidFill>
                    <a:srgbClr val="3333CC"/>
                  </a:solidFill>
                  <a:ea typeface="黑体" panose="02010609060101010101" pitchFamily="49" charset="-122"/>
                </a:rPr>
                <a:t>结合率</a:t>
              </a:r>
            </a:p>
          </p:txBody>
        </p:sp>
        <p:sp>
          <p:nvSpPr>
            <p:cNvPr id="44059" name="Text Box 28">
              <a:extLst>
                <a:ext uri="{FF2B5EF4-FFF2-40B4-BE49-F238E27FC236}">
                  <a16:creationId xmlns:a16="http://schemas.microsoft.com/office/drawing/2014/main" id="{9D3833ED-0032-4D18-8749-9F89C6455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017"/>
              <a:ext cx="2784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400"/>
                <a:t>连接和 </a:t>
              </a:r>
              <a:r>
                <a:rPr kumimoji="0" lang="en-US" altLang="zh-CN" sz="2400"/>
                <a:t>| </a:t>
              </a:r>
              <a:r>
                <a:rPr kumimoji="0" lang="zh-CN" altLang="en-US" sz="2400"/>
                <a:t>满足</a:t>
              </a:r>
              <a:r>
                <a:rPr kumimoji="0" lang="zh-CN" altLang="en-US" sz="2400">
                  <a:solidFill>
                    <a:srgbClr val="3333CC"/>
                  </a:solidFill>
                  <a:ea typeface="黑体" panose="02010609060101010101" pitchFamily="49" charset="-122"/>
                </a:rPr>
                <a:t>分配率</a:t>
              </a:r>
            </a:p>
          </p:txBody>
        </p:sp>
        <p:sp>
          <p:nvSpPr>
            <p:cNvPr id="44060" name="Text Box 29">
              <a:extLst>
                <a:ext uri="{FF2B5EF4-FFF2-40B4-BE49-F238E27FC236}">
                  <a16:creationId xmlns:a16="http://schemas.microsoft.com/office/drawing/2014/main" id="{51CA8DDF-3B93-4C94-BB60-4089EBB765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0" y="2943"/>
              <a:ext cx="2732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* </a:t>
              </a:r>
              <a:r>
                <a:rPr kumimoji="0" lang="zh-CN" altLang="en-US" sz="2400"/>
                <a:t>和</a:t>
              </a: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zh-CN" altLang="en-US" sz="2400">
                  <a:sym typeface="Symbol" panose="05050102010706020507" pitchFamily="18" charset="2"/>
                </a:rPr>
                <a:t>间的关系</a:t>
              </a:r>
            </a:p>
          </p:txBody>
        </p:sp>
        <p:sp>
          <p:nvSpPr>
            <p:cNvPr id="44061" name="Text Box 30">
              <a:extLst>
                <a:ext uri="{FF2B5EF4-FFF2-40B4-BE49-F238E27FC236}">
                  <a16:creationId xmlns:a16="http://schemas.microsoft.com/office/drawing/2014/main" id="{058CC6B3-1D91-47AA-B241-863229F81F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11" y="2544"/>
              <a:ext cx="2761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zh-CN" altLang="en-US" sz="2400">
                  <a:sym typeface="Symbol" panose="05050102010706020507" pitchFamily="18" charset="2"/>
                </a:rPr>
                <a:t>是连接运算的</a:t>
              </a:r>
              <a:r>
                <a:rPr kumimoji="0" lang="zh-CN" altLang="en-US" sz="2400">
                  <a:solidFill>
                    <a:srgbClr val="3333CC"/>
                  </a:solidFill>
                  <a:ea typeface="黑体" panose="02010609060101010101" pitchFamily="49" charset="-122"/>
                  <a:sym typeface="Symbol" panose="05050102010706020507" pitchFamily="18" charset="2"/>
                </a:rPr>
                <a:t>单位元</a:t>
              </a:r>
            </a:p>
          </p:txBody>
        </p:sp>
        <p:sp>
          <p:nvSpPr>
            <p:cNvPr id="44062" name="Text Box 31">
              <a:extLst>
                <a:ext uri="{FF2B5EF4-FFF2-40B4-BE49-F238E27FC236}">
                  <a16:creationId xmlns:a16="http://schemas.microsoft.com/office/drawing/2014/main" id="{A33CBA64-D2DA-4303-BA5A-CECD8DAA9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3263"/>
              <a:ext cx="2732" cy="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* </a:t>
              </a:r>
              <a:r>
                <a:rPr kumimoji="0" lang="zh-CN" altLang="en-US" sz="2400"/>
                <a:t>是</a:t>
              </a:r>
              <a:r>
                <a:rPr kumimoji="0" lang="zh-CN" altLang="en-US" sz="2400">
                  <a:solidFill>
                    <a:srgbClr val="3333CC"/>
                  </a:solidFill>
                  <a:ea typeface="黑体" panose="02010609060101010101" pitchFamily="49" charset="-122"/>
                </a:rPr>
                <a:t>幂等</a:t>
              </a:r>
              <a:r>
                <a:rPr kumimoji="0" lang="zh-CN" altLang="en-US" sz="2400"/>
                <a:t>的</a:t>
              </a:r>
            </a:p>
          </p:txBody>
        </p:sp>
      </p:grp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ED31D1A1-26DA-4C92-AE87-5E839D2C45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3.3.4  </a:t>
            </a:r>
            <a:r>
              <a:rPr lang="zh-CN" altLang="en-US"/>
              <a:t>正规定义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730F7A7A-D647-4098-924D-880C87FCD8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为正规式指定名字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kumimoji="0" lang="en-US" altLang="zh-CN" sz="2800" i="1"/>
              <a:t>d</a:t>
            </a:r>
            <a:r>
              <a:rPr kumimoji="0" lang="en-US" altLang="zh-CN" sz="2800" i="1" baseline="-25000"/>
              <a:t>1</a:t>
            </a:r>
            <a:r>
              <a:rPr kumimoji="0" lang="en-US" altLang="zh-CN" sz="2800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/>
              <a:t> </a:t>
            </a:r>
            <a:r>
              <a:rPr kumimoji="0" lang="en-US" altLang="zh-CN" sz="2800" i="1">
                <a:sym typeface="Math1" pitchFamily="2" charset="2"/>
              </a:rPr>
              <a:t>r</a:t>
            </a:r>
            <a:r>
              <a:rPr kumimoji="0" lang="en-US" altLang="zh-CN" sz="2800" i="1" baseline="-25000">
                <a:sym typeface="Math1" pitchFamily="2" charset="2"/>
              </a:rPr>
              <a:t>1</a:t>
            </a:r>
            <a:endParaRPr kumimoji="0" lang="en-US" altLang="zh-CN" sz="2800" i="1">
              <a:sym typeface="Math1" pitchFamily="2" charset="2"/>
            </a:endParaRP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kumimoji="0" lang="en-US" altLang="zh-CN" sz="2800" i="1"/>
              <a:t>d</a:t>
            </a:r>
            <a:r>
              <a:rPr kumimoji="0" lang="en-US" altLang="zh-CN" sz="2800" i="1" baseline="-25000"/>
              <a:t>2</a:t>
            </a:r>
            <a:r>
              <a:rPr kumimoji="0" lang="en-US" altLang="zh-CN" sz="2800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/>
              <a:t> </a:t>
            </a:r>
            <a:r>
              <a:rPr kumimoji="0" lang="en-US" altLang="zh-CN" sz="2800" i="1">
                <a:sym typeface="Math1" pitchFamily="2" charset="2"/>
              </a:rPr>
              <a:t>r</a:t>
            </a:r>
            <a:r>
              <a:rPr kumimoji="0" lang="en-US" altLang="zh-CN" sz="2800" i="1" baseline="-25000">
                <a:sym typeface="Math1" pitchFamily="2" charset="2"/>
              </a:rPr>
              <a:t>2</a:t>
            </a:r>
            <a:endParaRPr kumimoji="0" lang="en-US" altLang="zh-CN" sz="2800" i="1">
              <a:sym typeface="Math1" pitchFamily="2" charset="2"/>
            </a:endParaRP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kumimoji="0" lang="en-US" altLang="zh-CN" sz="2800" i="1">
                <a:sym typeface="Math1" pitchFamily="2" charset="2"/>
              </a:rPr>
              <a:t>…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kumimoji="0" lang="en-US" altLang="zh-CN" sz="2800" i="1"/>
              <a:t>d</a:t>
            </a:r>
            <a:r>
              <a:rPr kumimoji="0" lang="en-US" altLang="zh-CN" sz="2800" i="1" baseline="-25000"/>
              <a:t>n</a:t>
            </a:r>
            <a:r>
              <a:rPr kumimoji="0" lang="en-US" altLang="zh-CN" sz="2800"/>
              <a:t> </a:t>
            </a:r>
            <a:r>
              <a:rPr kumimoji="0" lang="en-US" altLang="zh-CN" sz="2800">
                <a:sym typeface="Symbol" panose="05050102010706020507" pitchFamily="18" charset="2"/>
              </a:rPr>
              <a:t></a:t>
            </a:r>
            <a:r>
              <a:rPr kumimoji="0" lang="en-US" altLang="zh-CN" sz="2800"/>
              <a:t> </a:t>
            </a:r>
            <a:r>
              <a:rPr kumimoji="0" lang="en-US" altLang="zh-CN" sz="2800" i="1">
                <a:sym typeface="Math1" pitchFamily="2" charset="2"/>
              </a:rPr>
              <a:t>r</a:t>
            </a:r>
            <a:r>
              <a:rPr kumimoji="0" lang="en-US" altLang="zh-CN" sz="2800" i="1" baseline="-25000">
                <a:sym typeface="Math1" pitchFamily="2" charset="2"/>
              </a:rPr>
              <a:t>n</a:t>
            </a:r>
            <a:endParaRPr kumimoji="0" lang="en-US" altLang="zh-CN" sz="2800" i="1">
              <a:sym typeface="Math1" pitchFamily="2" charset="2"/>
            </a:endParaRPr>
          </a:p>
          <a:p>
            <a:pPr eaLnBrk="1" hangingPunct="1"/>
            <a:r>
              <a:rPr kumimoji="0" lang="en-US" altLang="zh-CN" i="1">
                <a:sym typeface="Math1" pitchFamily="2" charset="2"/>
              </a:rPr>
              <a:t>d</a:t>
            </a:r>
            <a:r>
              <a:rPr kumimoji="0" lang="en-US" altLang="zh-CN" i="1" baseline="-25000">
                <a:sym typeface="Math1" pitchFamily="2" charset="2"/>
              </a:rPr>
              <a:t>i</a:t>
            </a:r>
            <a:r>
              <a:rPr kumimoji="0" lang="zh-CN" altLang="en-US">
                <a:sym typeface="Math1" pitchFamily="2" charset="2"/>
              </a:rPr>
              <a:t>是不同的名字，</a:t>
            </a:r>
            <a:r>
              <a:rPr kumimoji="0" lang="en-US" altLang="zh-CN" i="1">
                <a:sym typeface="Math1" pitchFamily="2" charset="2"/>
              </a:rPr>
              <a:t>r</a:t>
            </a:r>
            <a:r>
              <a:rPr kumimoji="0" lang="en-US" altLang="zh-CN" i="1" baseline="-25000">
                <a:sym typeface="Math1" pitchFamily="2" charset="2"/>
              </a:rPr>
              <a:t>i</a:t>
            </a:r>
            <a:r>
              <a:rPr kumimoji="0" lang="zh-CN" altLang="en-US">
                <a:sym typeface="Math1" pitchFamily="2" charset="2"/>
              </a:rPr>
              <a:t>是</a:t>
            </a:r>
            <a:r>
              <a:rPr lang="en-US" altLang="zh-CN">
                <a:sym typeface="Wingdings" panose="05000000000000000000" pitchFamily="2" charset="2"/>
              </a:rPr>
              <a:t>Σ</a:t>
            </a:r>
            <a:r>
              <a:rPr kumimoji="0" lang="en-US" altLang="zh-CN">
                <a:sym typeface="Symbol" panose="05050102010706020507" pitchFamily="18" charset="2"/>
              </a:rPr>
              <a:t>{</a:t>
            </a:r>
            <a:r>
              <a:rPr kumimoji="0" lang="en-US" altLang="zh-CN" i="1">
                <a:sym typeface="Symbol" panose="05050102010706020507" pitchFamily="18" charset="2"/>
              </a:rPr>
              <a:t>d</a:t>
            </a:r>
            <a:r>
              <a:rPr kumimoji="0" lang="en-US" altLang="zh-CN" i="1" baseline="-25000">
                <a:sym typeface="Symbol" panose="05050102010706020507" pitchFamily="18" charset="2"/>
              </a:rPr>
              <a:t>1</a:t>
            </a:r>
            <a:r>
              <a:rPr kumimoji="0" lang="en-US" altLang="zh-CN">
                <a:sym typeface="Symbol" panose="05050102010706020507" pitchFamily="18" charset="2"/>
              </a:rPr>
              <a:t>,</a:t>
            </a:r>
            <a:r>
              <a:rPr kumimoji="0" lang="en-US" altLang="zh-CN" i="1">
                <a:sym typeface="Symbol" panose="05050102010706020507" pitchFamily="18" charset="2"/>
              </a:rPr>
              <a:t> d</a:t>
            </a:r>
            <a:r>
              <a:rPr kumimoji="0" lang="en-US" altLang="zh-CN" i="1" baseline="-25000">
                <a:sym typeface="Symbol" panose="05050102010706020507" pitchFamily="18" charset="2"/>
              </a:rPr>
              <a:t>2</a:t>
            </a:r>
            <a:r>
              <a:rPr kumimoji="0" lang="en-US" altLang="zh-CN">
                <a:sym typeface="Symbol" panose="05050102010706020507" pitchFamily="18" charset="2"/>
              </a:rPr>
              <a:t>,</a:t>
            </a:r>
            <a:r>
              <a:rPr kumimoji="0" lang="en-US" altLang="zh-CN" i="1">
                <a:sym typeface="Symbol" panose="05050102010706020507" pitchFamily="18" charset="2"/>
              </a:rPr>
              <a:t> …</a:t>
            </a:r>
            <a:r>
              <a:rPr kumimoji="0" lang="en-US" altLang="zh-CN">
                <a:sym typeface="Symbol" panose="05050102010706020507" pitchFamily="18" charset="2"/>
              </a:rPr>
              <a:t>,</a:t>
            </a:r>
            <a:r>
              <a:rPr kumimoji="0" lang="en-US" altLang="zh-CN" i="1">
                <a:sym typeface="Symbol" panose="05050102010706020507" pitchFamily="18" charset="2"/>
              </a:rPr>
              <a:t> d</a:t>
            </a:r>
            <a:r>
              <a:rPr kumimoji="0" lang="en-US" altLang="zh-CN" i="1" baseline="-25000">
                <a:sym typeface="Symbol" panose="05050102010706020507" pitchFamily="18" charset="2"/>
              </a:rPr>
              <a:t>i-1</a:t>
            </a:r>
            <a:r>
              <a:rPr kumimoji="0" lang="en-US" altLang="zh-CN">
                <a:sym typeface="Symbol" panose="05050102010706020507" pitchFamily="18" charset="2"/>
              </a:rPr>
              <a:t>} </a:t>
            </a:r>
            <a:r>
              <a:rPr kumimoji="0" lang="zh-CN" altLang="en-US">
                <a:sym typeface="Symbol" panose="05050102010706020507" pitchFamily="18" charset="2"/>
              </a:rPr>
              <a:t>（即基本符号与前面定义的名字）上的正规式</a:t>
            </a: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692EC73B-14AA-4910-A171-3ED3B22503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正规定义例子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52D1228-E500-4365-AE9B-964E44DCBC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zh-CN" altLang="en-US" sz="4000"/>
              <a:t>例</a:t>
            </a:r>
            <a:r>
              <a:rPr lang="en-US" altLang="zh-CN" sz="4000"/>
              <a:t>3.4</a:t>
            </a:r>
            <a:r>
              <a:rPr lang="zh-CN" altLang="en-US" sz="4000"/>
              <a:t>：</a:t>
            </a:r>
            <a:r>
              <a:rPr lang="en-US" altLang="zh-CN" sz="4000"/>
              <a:t>Pascal</a:t>
            </a:r>
            <a:r>
              <a:rPr lang="zh-CN" altLang="en-US" sz="4000"/>
              <a:t>语言标识符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/>
              <a:t>letter  </a:t>
            </a:r>
            <a:r>
              <a:rPr kumimoji="0" lang="en-US" altLang="zh-CN" sz="2400" b="1">
                <a:sym typeface="Symbol" panose="05050102010706020507" pitchFamily="18" charset="2"/>
              </a:rPr>
              <a:t>  A | B | C | … | Z | a | b | … | z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digit   0 | 1 | 2 | … | 9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id   letter (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ym typeface="Symbol" panose="05050102010706020507" pitchFamily="18" charset="2"/>
              </a:rPr>
              <a:t>letter | digit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b="1">
                <a:sym typeface="Symbol" panose="05050102010706020507" pitchFamily="18" charset="2"/>
              </a:rPr>
              <a:t>)*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(A | … | Z | a | … | z)(A | … | Z | a | … | z | 0 | … | 9)*</a:t>
            </a:r>
            <a:endParaRPr lang="en-US" altLang="zh-CN" sz="2400"/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1AAFBBC3-796B-4E1B-940F-2A30A3549E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3.5</a:t>
            </a:r>
            <a:r>
              <a:rPr lang="zh-CN" altLang="en-US"/>
              <a:t>：</a:t>
            </a:r>
            <a:r>
              <a:rPr lang="en-US" altLang="zh-CN"/>
              <a:t>Pascal</a:t>
            </a:r>
            <a:r>
              <a:rPr lang="zh-CN" altLang="en-US"/>
              <a:t>语言无符号数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5CF1398-3152-45B2-BC9E-BBCA120A32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343400"/>
          </a:xfrm>
        </p:spPr>
        <p:txBody>
          <a:bodyPr/>
          <a:lstStyle/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digit   0 | 1 | 2 | … | 9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digits   digit digit</a:t>
            </a:r>
            <a:r>
              <a:rPr kumimoji="0" lang="en-US" altLang="zh-CN" sz="2400" b="1" baseline="30000">
                <a:sym typeface="Symbol" panose="05050102010706020507" pitchFamily="18" charset="2"/>
              </a:rPr>
              <a:t>*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optional_fraction  . digits |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optional_exponent  ( E ( + | - |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b="1">
                <a:sym typeface="Symbol" panose="05050102010706020507" pitchFamily="18" charset="2"/>
              </a:rPr>
              <a:t>) digits ) |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sz="2400" b="1">
              <a:sym typeface="Symbol" panose="05050102010706020507" pitchFamily="18" charset="2"/>
            </a:endParaRP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num  digits optional_fraction optional_exponent</a:t>
            </a:r>
          </a:p>
        </p:txBody>
      </p: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22B8C8CC-556D-49BF-98D1-6131C46FA0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3.3.5  </a:t>
            </a:r>
            <a:r>
              <a:rPr lang="zh-CN" altLang="en-US"/>
              <a:t>符号简写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A5AB1263-E3BE-447E-946C-C2610F46CC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/>
            <a:r>
              <a:rPr lang="zh-CN" altLang="en-US" baseline="30000" dirty="0"/>
              <a:t>＋</a:t>
            </a:r>
            <a:r>
              <a:rPr lang="zh-CN" altLang="en-US" dirty="0"/>
              <a:t>：一个或多个实例（一次或多次连接）</a:t>
            </a:r>
          </a:p>
          <a:p>
            <a:pPr lvl="1" eaLnBrk="1" hangingPunct="1"/>
            <a:r>
              <a:rPr lang="en-US" altLang="zh-CN" dirty="0"/>
              <a:t>r</a:t>
            </a:r>
            <a:r>
              <a:rPr lang="en-US" altLang="zh-CN" baseline="30000" dirty="0"/>
              <a:t>+</a:t>
            </a:r>
            <a:r>
              <a:rPr lang="en-US" altLang="zh-CN" dirty="0"/>
              <a:t> = </a:t>
            </a:r>
            <a:r>
              <a:rPr lang="en-US" altLang="zh-CN" dirty="0" err="1"/>
              <a:t>rr</a:t>
            </a:r>
            <a:r>
              <a:rPr lang="en-US" altLang="zh-CN" baseline="30000" dirty="0"/>
              <a:t>*</a:t>
            </a:r>
            <a:r>
              <a:rPr lang="zh-CN" altLang="en-US" dirty="0"/>
              <a:t>，表示语言</a:t>
            </a:r>
            <a:r>
              <a:rPr lang="en-US" altLang="zh-CN" dirty="0"/>
              <a:t>(L(r))</a:t>
            </a:r>
            <a:r>
              <a:rPr lang="en-US" altLang="zh-CN" baseline="30000" dirty="0"/>
              <a:t>+</a:t>
            </a:r>
          </a:p>
          <a:p>
            <a:pPr lvl="1" eaLnBrk="1" hangingPunct="1"/>
            <a:r>
              <a:rPr lang="en-US" altLang="zh-CN" dirty="0"/>
              <a:t>r</a:t>
            </a:r>
            <a:r>
              <a:rPr lang="en-US" altLang="zh-CN" baseline="30000" dirty="0"/>
              <a:t>*</a:t>
            </a:r>
            <a:r>
              <a:rPr lang="en-US" altLang="zh-CN" dirty="0"/>
              <a:t> = r</a:t>
            </a:r>
            <a:r>
              <a:rPr lang="en-US" altLang="zh-CN" baseline="30000" dirty="0"/>
              <a:t>+</a:t>
            </a:r>
            <a:r>
              <a:rPr lang="en-US" altLang="zh-CN" dirty="0"/>
              <a:t> | 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b="1" dirty="0">
              <a:sym typeface="Symbol" panose="05050102010706020507" pitchFamily="18" charset="2"/>
            </a:endParaRPr>
          </a:p>
          <a:p>
            <a:pPr eaLnBrk="1" hangingPunct="1"/>
            <a:r>
              <a:rPr kumimoji="0" lang="en-US" altLang="zh-CN" dirty="0">
                <a:sym typeface="Symbol" panose="05050102010706020507" pitchFamily="18" charset="2"/>
              </a:rPr>
              <a:t>?</a:t>
            </a:r>
            <a:r>
              <a:rPr kumimoji="0" lang="zh-CN" altLang="en-US" dirty="0">
                <a:sym typeface="Symbol" panose="05050102010706020507" pitchFamily="18" charset="2"/>
              </a:rPr>
              <a:t>：</a:t>
            </a:r>
            <a:r>
              <a:rPr kumimoji="0" lang="en-US" altLang="zh-CN" dirty="0">
                <a:sym typeface="Symbol" panose="05050102010706020507" pitchFamily="18" charset="2"/>
              </a:rPr>
              <a:t>0</a:t>
            </a:r>
            <a:r>
              <a:rPr kumimoji="0" lang="zh-CN" altLang="en-US" dirty="0">
                <a:sym typeface="Symbol" panose="05050102010706020507" pitchFamily="18" charset="2"/>
              </a:rPr>
              <a:t>个或一个实例，</a:t>
            </a:r>
            <a:r>
              <a:rPr kumimoji="0" lang="en-US" altLang="zh-CN" dirty="0">
                <a:sym typeface="Symbol" panose="05050102010706020507" pitchFamily="18" charset="2"/>
              </a:rPr>
              <a:t>r?=r | </a:t>
            </a:r>
            <a:r>
              <a:rPr kumimoji="0" lang="en-US" altLang="zh-CN" dirty="0" err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dirty="0" err="1">
                <a:sym typeface="Wingdings" panose="05000000000000000000" pitchFamily="2" charset="2"/>
              </a:rPr>
              <a:t>L</a:t>
            </a:r>
            <a:r>
              <a:rPr kumimoji="0" lang="en-US" altLang="zh-CN" dirty="0">
                <a:sym typeface="Wingdings" panose="05000000000000000000" pitchFamily="2" charset="2"/>
              </a:rPr>
              <a:t>(r)∪{</a:t>
            </a:r>
            <a:r>
              <a:rPr kumimoji="0" lang="en-US" altLang="zh-CN" dirty="0">
                <a:latin typeface="Symbol" panose="05050102010706020507" pitchFamily="18" charset="2"/>
                <a:sym typeface="Wingdings" panose="05000000000000000000" pitchFamily="2" charset="2"/>
              </a:rPr>
              <a:t>e</a:t>
            </a:r>
            <a:r>
              <a:rPr kumimoji="0" lang="en-US" altLang="zh-CN" dirty="0">
                <a:sym typeface="Wingdings" panose="05000000000000000000" pitchFamily="2" charset="2"/>
              </a:rPr>
              <a:t>}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en-US" altLang="zh-CN" sz="2400" b="1" dirty="0" err="1">
                <a:sym typeface="Symbol" panose="05050102010706020507" pitchFamily="18" charset="2"/>
              </a:rPr>
              <a:t>optional_fraction</a:t>
            </a:r>
            <a:r>
              <a:rPr kumimoji="0" lang="en-US" altLang="zh-CN" sz="2400" b="1" dirty="0">
                <a:sym typeface="Symbol" panose="05050102010706020507" pitchFamily="18" charset="2"/>
              </a:rPr>
              <a:t>  (. digits )?</a:t>
            </a:r>
          </a:p>
          <a:p>
            <a:pPr lvl="1" eaLnBrk="1" hangingPunct="1"/>
            <a:r>
              <a:rPr kumimoji="0" lang="en-US" altLang="zh-CN" sz="2400" b="1" dirty="0" err="1">
                <a:sym typeface="Symbol" panose="05050102010706020507" pitchFamily="18" charset="2"/>
              </a:rPr>
              <a:t>optional_exponent</a:t>
            </a:r>
            <a:r>
              <a:rPr kumimoji="0" lang="en-US" altLang="zh-CN" sz="2400" b="1" dirty="0">
                <a:sym typeface="Symbol" panose="05050102010706020507" pitchFamily="18" charset="2"/>
              </a:rPr>
              <a:t>  ( E ( + | - )? digits )?</a:t>
            </a:r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9B6622DE-1722-4428-AAFD-52C6D107E8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符号简写（续）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14EC87FD-35CE-426E-824D-428C2910A6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字符集</a:t>
            </a:r>
          </a:p>
          <a:p>
            <a:pPr lvl="1" eaLnBrk="1" hangingPunct="1"/>
            <a:r>
              <a:rPr kumimoji="0" lang="en-US" altLang="zh-CN">
                <a:sym typeface="Symbol" panose="05050102010706020507" pitchFamily="18" charset="2"/>
              </a:rPr>
              <a:t>[abc]  a | b | c</a:t>
            </a:r>
          </a:p>
          <a:p>
            <a:pPr lvl="1" eaLnBrk="1" hangingPunct="1"/>
            <a:r>
              <a:rPr kumimoji="0" lang="en-US" altLang="zh-CN">
                <a:sym typeface="Symbol" panose="05050102010706020507" pitchFamily="18" charset="2"/>
              </a:rPr>
              <a:t>[a-z]  a | b | … | z</a:t>
            </a:r>
          </a:p>
          <a:p>
            <a:pPr lvl="1" eaLnBrk="1" hangingPunct="1"/>
            <a:r>
              <a:rPr kumimoji="0" lang="zh-CN" altLang="en-US">
                <a:sym typeface="Symbol" panose="05050102010706020507" pitchFamily="18" charset="2"/>
              </a:rPr>
              <a:t>标识符：</a:t>
            </a:r>
            <a:r>
              <a:rPr kumimoji="0" lang="en-US" altLang="zh-CN">
                <a:sym typeface="Symbol" panose="05050102010706020507" pitchFamily="18" charset="2"/>
              </a:rPr>
              <a:t>[A-Za-z][A-Za-z0-9]</a:t>
            </a:r>
            <a:r>
              <a:rPr kumimoji="0" lang="en-US" altLang="zh-CN" baseline="30000">
                <a:sym typeface="Symbol" panose="05050102010706020507" pitchFamily="18" charset="2"/>
              </a:rPr>
              <a:t>*</a:t>
            </a: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BD21950C-3E34-4113-90DF-7E997856B0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3.3.6  </a:t>
            </a:r>
            <a:r>
              <a:rPr lang="zh-CN" altLang="en-US"/>
              <a:t>非正规集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BA68A3E8-D8ED-411C-8694-E82454F930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正规式无法描述的语言</a:t>
            </a:r>
          </a:p>
          <a:p>
            <a:pPr lvl="1" eaLnBrk="1" hangingPunct="1"/>
            <a:r>
              <a:rPr lang="en-US" altLang="zh-CN"/>
              <a:t>{wcw | w</a:t>
            </a:r>
            <a:r>
              <a:rPr lang="zh-CN" altLang="en-US"/>
              <a:t>是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组成的符号串</a:t>
            </a:r>
            <a:r>
              <a:rPr lang="en-US" altLang="zh-CN"/>
              <a:t>}</a:t>
            </a:r>
          </a:p>
          <a:p>
            <a:pPr lvl="1" eaLnBrk="1" hangingPunct="1"/>
            <a:r>
              <a:rPr lang="zh-CN" altLang="en-US"/>
              <a:t>正规式无法描述平衡或嵌套的结构</a:t>
            </a:r>
          </a:p>
          <a:p>
            <a:pPr eaLnBrk="1" hangingPunct="1"/>
            <a:r>
              <a:rPr lang="zh-CN" altLang="en-US"/>
              <a:t>正规式只能表示</a:t>
            </a:r>
          </a:p>
          <a:p>
            <a:pPr lvl="1" eaLnBrk="1" hangingPunct="1"/>
            <a:r>
              <a:rPr lang="zh-CN" altLang="en-US"/>
              <a:t>有限的重复</a:t>
            </a:r>
          </a:p>
          <a:p>
            <a:pPr lvl="1" eaLnBrk="1" hangingPunct="1"/>
            <a:r>
              <a:rPr lang="zh-CN" altLang="en-US">
                <a:solidFill>
                  <a:srgbClr val="FF3300"/>
                </a:solidFill>
                <a:ea typeface="黑体" panose="02010609060101010101" pitchFamily="49" charset="-122"/>
              </a:rPr>
              <a:t>一个</a:t>
            </a:r>
            <a:r>
              <a:rPr lang="zh-CN" altLang="en-US"/>
              <a:t>给定结构的无限重复</a:t>
            </a:r>
          </a:p>
          <a:p>
            <a:pPr eaLnBrk="1" hangingPunct="1"/>
            <a:r>
              <a:rPr lang="zh-CN" altLang="en-US"/>
              <a:t>例：</a:t>
            </a:r>
            <a:r>
              <a:rPr lang="en-US" altLang="zh-CN"/>
              <a:t>Hollerith</a:t>
            </a:r>
            <a:r>
              <a:rPr lang="zh-CN" altLang="en-US"/>
              <a:t>串</a:t>
            </a:r>
            <a:r>
              <a:rPr lang="en-US" altLang="zh-CN"/>
              <a:t>——nHa</a:t>
            </a:r>
            <a:r>
              <a:rPr lang="en-US" altLang="zh-CN" baseline="-25000"/>
              <a:t>1</a:t>
            </a:r>
            <a:r>
              <a:rPr lang="en-US" altLang="zh-CN"/>
              <a:t>a</a:t>
            </a:r>
            <a:r>
              <a:rPr lang="en-US" altLang="zh-CN" baseline="-25000"/>
              <a:t>2</a:t>
            </a:r>
            <a:r>
              <a:rPr lang="en-US" altLang="zh-CN"/>
              <a:t>…a</a:t>
            </a:r>
            <a:r>
              <a:rPr lang="en-US" altLang="zh-CN" baseline="-25000"/>
              <a:t>n</a:t>
            </a:r>
            <a:r>
              <a:rPr lang="zh-CN" altLang="en-US"/>
              <a:t>无法用正规式描述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D3A85725-8B22-429B-8D2B-C92320C771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正规式设计练习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6990A45F-DC99-47D0-B86B-1A005633E5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描述正规式表示的语言</a:t>
            </a:r>
          </a:p>
          <a:p>
            <a:pPr lvl="1" eaLnBrk="1" hangingPunct="1"/>
            <a:r>
              <a:rPr lang="en-US" altLang="zh-CN"/>
              <a:t>0*10*10*10*</a:t>
            </a:r>
            <a:r>
              <a:rPr lang="zh-CN" altLang="en-US"/>
              <a:t>：</a:t>
            </a:r>
          </a:p>
          <a:p>
            <a:pPr lvl="1" eaLnBrk="1" hangingPunct="1"/>
            <a:r>
              <a:rPr lang="en-US" altLang="zh-CN"/>
              <a:t>((</a:t>
            </a:r>
            <a:r>
              <a:rPr lang="en-US" altLang="zh-CN">
                <a:latin typeface="Symbol" panose="05050102010706020507" pitchFamily="18" charset="2"/>
              </a:rPr>
              <a:t>e</a:t>
            </a:r>
            <a:r>
              <a:rPr lang="en-US" altLang="zh-CN"/>
              <a:t> | 0) 1*)*</a:t>
            </a:r>
            <a:r>
              <a:rPr lang="zh-CN" altLang="en-US"/>
              <a:t>：</a:t>
            </a:r>
          </a:p>
          <a:p>
            <a:pPr eaLnBrk="1" hangingPunct="1"/>
            <a:r>
              <a:rPr lang="zh-CN" altLang="en-US"/>
              <a:t>设计语言的正规式</a:t>
            </a:r>
          </a:p>
          <a:p>
            <a:pPr lvl="1" eaLnBrk="1" hangingPunct="1"/>
            <a:r>
              <a:rPr lang="zh-CN" altLang="en-US"/>
              <a:t>能被</a:t>
            </a:r>
            <a:r>
              <a:rPr lang="en-US" altLang="zh-CN"/>
              <a:t>5</a:t>
            </a:r>
            <a:r>
              <a:rPr lang="zh-CN" altLang="en-US"/>
              <a:t>整除的</a:t>
            </a:r>
            <a:r>
              <a:rPr lang="en-US" altLang="zh-CN"/>
              <a:t>10</a:t>
            </a:r>
            <a:r>
              <a:rPr lang="zh-CN" altLang="en-US"/>
              <a:t>进制整数</a:t>
            </a:r>
          </a:p>
          <a:p>
            <a:pPr lvl="1" eaLnBrk="1" hangingPunct="1"/>
            <a:endParaRPr lang="zh-CN" altLang="en-US"/>
          </a:p>
          <a:p>
            <a:pPr lvl="1" eaLnBrk="1" hangingPunct="1"/>
            <a:r>
              <a:rPr lang="zh-CN" altLang="en-US"/>
              <a:t>包含五个元音，且按顺序排列的所有字母串</a:t>
            </a:r>
          </a:p>
        </p:txBody>
      </p:sp>
      <p:sp>
        <p:nvSpPr>
          <p:cNvPr id="375812" name="Rectangle 4">
            <a:extLst>
              <a:ext uri="{FF2B5EF4-FFF2-40B4-BE49-F238E27FC236}">
                <a16:creationId xmlns:a16="http://schemas.microsoft.com/office/drawing/2014/main" id="{F75E058A-C646-4F2C-8543-131FE3B318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063" y="5157788"/>
            <a:ext cx="82819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>
                <a:solidFill>
                  <a:schemeClr val="hlink"/>
                </a:solidFill>
                <a:latin typeface="Tahoma" panose="020B0604030504040204" pitchFamily="34" charset="0"/>
              </a:rPr>
              <a:t>con→[b-df-hj-np-tv-z]</a:t>
            </a:r>
          </a:p>
          <a:p>
            <a:pPr lvl="1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>
                <a:solidFill>
                  <a:schemeClr val="hlink"/>
                </a:solidFill>
                <a:latin typeface="Tahoma" panose="020B0604030504040204" pitchFamily="34" charset="0"/>
              </a:rPr>
              <a:t>string→(con)*a(con | a)*e(con | e)*i(con | i)*o(con | o)* u(con | u)*</a:t>
            </a: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375813" name="Rectangle 5">
            <a:extLst>
              <a:ext uri="{FF2B5EF4-FFF2-40B4-BE49-F238E27FC236}">
                <a16:creationId xmlns:a16="http://schemas.microsoft.com/office/drawing/2014/main" id="{85175AB6-0655-452A-AE84-A7EF58C17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033838"/>
            <a:ext cx="34845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0">
                <a:solidFill>
                  <a:schemeClr val="hlink"/>
                </a:solidFill>
              </a:rPr>
              <a:t>[1-9][0-9]*(0 | 5) | 0 | 5</a:t>
            </a:r>
          </a:p>
        </p:txBody>
      </p:sp>
      <p:sp>
        <p:nvSpPr>
          <p:cNvPr id="375814" name="Rectangle 6">
            <a:extLst>
              <a:ext uri="{FF2B5EF4-FFF2-40B4-BE49-F238E27FC236}">
                <a16:creationId xmlns:a16="http://schemas.microsoft.com/office/drawing/2014/main" id="{6DBBED37-E555-4894-97BC-17F01023D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700" y="1973263"/>
            <a:ext cx="2673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>
                <a:solidFill>
                  <a:schemeClr val="hlink"/>
                </a:solidFill>
              </a:rPr>
              <a:t>包含</a:t>
            </a:r>
            <a:r>
              <a:rPr lang="en-US" altLang="zh-CN" sz="2800" b="0">
                <a:solidFill>
                  <a:schemeClr val="hlink"/>
                </a:solidFill>
              </a:rPr>
              <a:t>3</a:t>
            </a:r>
            <a:r>
              <a:rPr lang="zh-CN" altLang="en-US" sz="2800" b="0">
                <a:solidFill>
                  <a:schemeClr val="hlink"/>
                </a:solidFill>
              </a:rPr>
              <a:t>个</a:t>
            </a:r>
            <a:r>
              <a:rPr lang="en-US" altLang="zh-CN" sz="2800" b="0">
                <a:solidFill>
                  <a:schemeClr val="hlink"/>
                </a:solidFill>
              </a:rPr>
              <a:t>1</a:t>
            </a:r>
            <a:r>
              <a:rPr lang="zh-CN" altLang="en-US" sz="2800" b="0">
                <a:solidFill>
                  <a:schemeClr val="hlink"/>
                </a:solidFill>
              </a:rPr>
              <a:t>的</a:t>
            </a:r>
            <a:r>
              <a:rPr lang="en-US" altLang="zh-CN" sz="2800" b="0">
                <a:solidFill>
                  <a:schemeClr val="hlink"/>
                </a:solidFill>
              </a:rPr>
              <a:t>01</a:t>
            </a:r>
            <a:r>
              <a:rPr lang="zh-CN" altLang="en-US" sz="2800" b="0">
                <a:solidFill>
                  <a:schemeClr val="hlink"/>
                </a:solidFill>
              </a:rPr>
              <a:t>串</a:t>
            </a:r>
          </a:p>
        </p:txBody>
      </p:sp>
      <p:sp>
        <p:nvSpPr>
          <p:cNvPr id="375815" name="Rectangle 7">
            <a:extLst>
              <a:ext uri="{FF2B5EF4-FFF2-40B4-BE49-F238E27FC236}">
                <a16:creationId xmlns:a16="http://schemas.microsoft.com/office/drawing/2014/main" id="{0D324064-1486-42C1-832A-5F2C42873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478088"/>
            <a:ext cx="1606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>
                <a:solidFill>
                  <a:schemeClr val="hlink"/>
                </a:solidFill>
              </a:rPr>
              <a:t>所有</a:t>
            </a:r>
            <a:r>
              <a:rPr lang="en-US" altLang="zh-CN" sz="2800" b="0">
                <a:solidFill>
                  <a:schemeClr val="hlink"/>
                </a:solidFill>
              </a:rPr>
              <a:t>01</a:t>
            </a:r>
            <a:r>
              <a:rPr lang="zh-CN" altLang="en-US" sz="2800" b="0">
                <a:solidFill>
                  <a:schemeClr val="hlink"/>
                </a:solidFill>
              </a:rPr>
              <a:t>串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2" grpId="0"/>
      <p:bldP spid="375813" grpId="0"/>
      <p:bldP spid="375814" grpId="0"/>
      <p:bldP spid="3758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649A6E0F-CDC8-4A98-B5B7-AC1EF73D61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3.5  Lex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EC8C01B8-AD0D-430C-8AFE-25877ED4E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/>
              <a:t>词法分析器自动生成工具</a:t>
            </a:r>
          </a:p>
        </p:txBody>
      </p:sp>
      <p:pic>
        <p:nvPicPr>
          <p:cNvPr id="52228" name="Picture 4" descr="lex3">
            <a:extLst>
              <a:ext uri="{FF2B5EF4-FFF2-40B4-BE49-F238E27FC236}">
                <a16:creationId xmlns:a16="http://schemas.microsoft.com/office/drawing/2014/main" id="{7DCA9347-86FF-4F34-B165-FF2EC46E42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6888" y="2133600"/>
            <a:ext cx="5243512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B006ECB2-00DF-4277-93B7-27C226B9F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Lex</a:t>
            </a:r>
            <a:r>
              <a:rPr lang="zh-CN" altLang="en-US"/>
              <a:t>程序结构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9DBC2A5F-F73F-4F69-8302-E372AC118B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定义段：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%{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C</a:t>
            </a:r>
            <a:r>
              <a:rPr lang="zh-CN" altLang="en-US" sz="2000"/>
              <a:t>语言代码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%}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定义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%%</a:t>
            </a:r>
            <a:br>
              <a:rPr lang="en-US" altLang="zh-CN" sz="2000"/>
            </a:b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规则段：词法规则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%%</a:t>
            </a:r>
            <a:br>
              <a:rPr lang="en-US" altLang="zh-CN" sz="2000"/>
            </a:b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/>
              <a:t>用户子程序段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8CB80FF0-3BFA-4D3C-9EC9-401859920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规则段形式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869E9AC5-4CEB-49DE-9B91-22D5EFD7F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en-US" altLang="zh-CN" sz="2800"/>
              <a:t>p</a:t>
            </a:r>
            <a:r>
              <a:rPr lang="en-US" altLang="zh-CN" sz="2800" baseline="-25000"/>
              <a:t>1</a:t>
            </a:r>
            <a:r>
              <a:rPr lang="en-US" altLang="zh-CN" sz="2800"/>
              <a:t>		{ action</a:t>
            </a:r>
            <a:r>
              <a:rPr lang="en-US" altLang="zh-CN" sz="2800" baseline="-25000"/>
              <a:t>1</a:t>
            </a:r>
            <a:r>
              <a:rPr lang="en-US" altLang="zh-CN" sz="2800"/>
              <a:t> }</a:t>
            </a:r>
            <a:br>
              <a:rPr lang="en-US" altLang="zh-CN" sz="2800"/>
            </a:br>
            <a:r>
              <a:rPr lang="en-US" altLang="zh-CN" sz="2800"/>
              <a:t>p</a:t>
            </a:r>
            <a:r>
              <a:rPr lang="en-US" altLang="zh-CN" sz="2800" baseline="-25000"/>
              <a:t>2</a:t>
            </a:r>
            <a:r>
              <a:rPr lang="en-US" altLang="zh-CN" sz="2800"/>
              <a:t>		{ action</a:t>
            </a:r>
            <a:r>
              <a:rPr lang="en-US" altLang="zh-CN" sz="2800" baseline="-25000"/>
              <a:t>2</a:t>
            </a:r>
            <a:r>
              <a:rPr lang="en-US" altLang="zh-CN" sz="2800"/>
              <a:t> }</a:t>
            </a:r>
            <a:br>
              <a:rPr lang="en-US" altLang="zh-CN" sz="2800"/>
            </a:br>
            <a:r>
              <a:rPr lang="en-US" altLang="zh-CN" sz="2800"/>
              <a:t>…</a:t>
            </a:r>
            <a:br>
              <a:rPr lang="en-US" altLang="zh-CN" sz="2800"/>
            </a:br>
            <a:r>
              <a:rPr lang="en-US" altLang="zh-CN" sz="2800"/>
              <a:t>p</a:t>
            </a:r>
            <a:r>
              <a:rPr lang="en-US" altLang="zh-CN" sz="2800" baseline="-25000"/>
              <a:t>n</a:t>
            </a:r>
            <a:r>
              <a:rPr lang="en-US" altLang="zh-CN" sz="2800"/>
              <a:t>		{ action</a:t>
            </a:r>
            <a:r>
              <a:rPr lang="en-US" altLang="zh-CN" sz="2800" baseline="-25000"/>
              <a:t>n</a:t>
            </a:r>
            <a:r>
              <a:rPr lang="en-US" altLang="zh-CN" sz="2800"/>
              <a:t> }</a:t>
            </a:r>
            <a:br>
              <a:rPr lang="en-US" altLang="zh-CN" sz="2800"/>
            </a:br>
            <a:r>
              <a:rPr lang="en-US" altLang="zh-CN"/>
              <a:t>p</a:t>
            </a:r>
            <a:r>
              <a:rPr lang="en-US" altLang="zh-CN" baseline="-25000"/>
              <a:t>i</a:t>
            </a:r>
            <a:r>
              <a:rPr lang="zh-CN" altLang="en-US"/>
              <a:t>：模式</a:t>
            </a:r>
            <a:r>
              <a:rPr lang="en-US" altLang="zh-CN"/>
              <a:t>——</a:t>
            </a:r>
            <a:r>
              <a:rPr lang="zh-CN" altLang="en-US"/>
              <a:t>正规式</a:t>
            </a:r>
            <a:br>
              <a:rPr lang="zh-CN" altLang="en-US"/>
            </a:br>
            <a:r>
              <a:rPr lang="en-US" altLang="zh-CN"/>
              <a:t>action</a:t>
            </a:r>
            <a:r>
              <a:rPr lang="en-US" altLang="zh-CN" baseline="-25000"/>
              <a:t>i</a:t>
            </a:r>
            <a:r>
              <a:rPr lang="zh-CN" altLang="en-US"/>
              <a:t>：动作</a:t>
            </a:r>
            <a:r>
              <a:rPr lang="en-US" altLang="zh-CN"/>
              <a:t>——C</a:t>
            </a:r>
            <a:r>
              <a:rPr lang="zh-CN" altLang="en-US"/>
              <a:t>语言程序段</a:t>
            </a:r>
            <a:r>
              <a:rPr lang="en-US" altLang="zh-CN"/>
              <a:t>——</a:t>
            </a:r>
            <a:r>
              <a:rPr lang="zh-CN" altLang="en-US"/>
              <a:t>当字符流前缀与</a:t>
            </a:r>
            <a:r>
              <a:rPr lang="en-US" altLang="zh-CN"/>
              <a:t>p</a:t>
            </a:r>
            <a:r>
              <a:rPr lang="en-US" altLang="zh-CN" baseline="-25000"/>
              <a:t>i</a:t>
            </a:r>
            <a:r>
              <a:rPr lang="zh-CN" altLang="en-US"/>
              <a:t>匹配时（识别出对应单词的词素）该做什么动作</a:t>
            </a:r>
          </a:p>
        </p:txBody>
      </p:sp>
    </p:spTree>
  </p:cSld>
  <p:clrMapOvr>
    <a:masterClrMapping/>
  </p:clrMapOvr>
  <p:transition spd="slow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19738DC-4596-444F-9E84-A263E76DBF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3.12</a:t>
            </a:r>
            <a:r>
              <a:rPr lang="zh-CN" altLang="en-US"/>
              <a:t>：超前搜索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2F5CA487-B5A8-4FF7-9CA0-BE2F68D6A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en-US" altLang="zh-CN"/>
              <a:t>r1/r2</a:t>
            </a:r>
            <a:r>
              <a:rPr lang="zh-CN" altLang="en-US"/>
              <a:t>：</a:t>
            </a:r>
            <a:r>
              <a:rPr lang="en-US" altLang="zh-CN"/>
              <a:t>r1</a:t>
            </a:r>
            <a:r>
              <a:rPr lang="zh-CN" altLang="en-US"/>
              <a:t>必须后接</a:t>
            </a:r>
            <a:r>
              <a:rPr lang="en-US" altLang="zh-CN"/>
              <a:t>r2</a:t>
            </a:r>
            <a:r>
              <a:rPr lang="zh-CN" altLang="en-US"/>
              <a:t>的情况下才匹配</a:t>
            </a:r>
          </a:p>
          <a:p>
            <a:pPr eaLnBrk="1" hangingPunct="1"/>
            <a:r>
              <a:rPr lang="zh-CN" altLang="en-US"/>
              <a:t>语句：</a:t>
            </a:r>
            <a:r>
              <a:rPr lang="en-US" altLang="zh-CN"/>
              <a:t>IF(I, J) = 3</a:t>
            </a:r>
            <a:br>
              <a:rPr lang="en-US" altLang="zh-CN"/>
            </a:br>
            <a:r>
              <a:rPr lang="en-US" altLang="zh-CN"/>
              <a:t>IF</a:t>
            </a:r>
            <a:r>
              <a:rPr lang="zh-CN" altLang="en-US"/>
              <a:t>是数组名还是分支语句关键字？</a:t>
            </a:r>
            <a:br>
              <a:rPr lang="zh-CN" altLang="en-US"/>
            </a:br>
            <a:r>
              <a:rPr lang="en-US" altLang="zh-CN">
                <a:solidFill>
                  <a:srgbClr val="FF3300"/>
                </a:solidFill>
              </a:rPr>
              <a:t>IF (condition) THEN </a:t>
            </a:r>
            <a:r>
              <a:rPr lang="zh-CN" altLang="en-US">
                <a:solidFill>
                  <a:srgbClr val="FF3300"/>
                </a:solidFill>
              </a:rPr>
              <a:t>语句</a:t>
            </a:r>
            <a:r>
              <a:rPr lang="en-US" altLang="zh-CN"/>
              <a:t>…</a:t>
            </a:r>
            <a:br>
              <a:rPr lang="en-US" altLang="zh-CN"/>
            </a:br>
            <a:r>
              <a:rPr lang="zh-CN" altLang="en-US"/>
              <a:t>分支语句：</a:t>
            </a:r>
            <a:r>
              <a:rPr lang="en-US" altLang="zh-CN"/>
              <a:t>IF / \( .* \) {letter}</a:t>
            </a:r>
          </a:p>
        </p:txBody>
      </p:sp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AA6C99A8-5A21-4B1A-9FDB-857590B16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Lex</a:t>
            </a:r>
            <a:r>
              <a:rPr lang="zh-CN" altLang="en-US"/>
              <a:t>中的整数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270652E1-D164-4808-8335-2DF6F4AF2E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八进制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>
                <a:solidFill>
                  <a:srgbClr val="3333CC"/>
                </a:solidFill>
              </a:rPr>
              <a:t>0713</a:t>
            </a:r>
          </a:p>
          <a:p>
            <a:pPr eaLnBrk="1" hangingPunct="1"/>
            <a:r>
              <a:rPr lang="zh-CN" altLang="en-US"/>
              <a:t>十六进制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>
                <a:solidFill>
                  <a:srgbClr val="3333CC"/>
                </a:solidFill>
              </a:rPr>
              <a:t>0x7f</a:t>
            </a:r>
          </a:p>
          <a:p>
            <a:pPr eaLnBrk="1" hangingPunct="1"/>
            <a:r>
              <a:rPr lang="zh-CN" altLang="en-US"/>
              <a:t>十进制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>
                <a:solidFill>
                  <a:srgbClr val="3333CC"/>
                </a:solidFill>
              </a:rPr>
              <a:t>99</a:t>
            </a:r>
            <a:r>
              <a:rPr lang="zh-CN" altLang="en-US"/>
              <a:t>、</a:t>
            </a:r>
            <a:r>
              <a:rPr lang="en-US" altLang="zh-CN">
                <a:solidFill>
                  <a:srgbClr val="3333CC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1E4ED3C-AE91-483C-9A10-967728CBE8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Lex</a:t>
            </a:r>
            <a:r>
              <a:rPr lang="zh-CN" altLang="en-US"/>
              <a:t>中的字符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E25C7E29-94A4-4E33-B557-98DDF8D338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\n</a:t>
            </a:r>
            <a:r>
              <a:rPr lang="en-US" altLang="zh-CN" sz="2400" dirty="0"/>
              <a:t>——</a:t>
            </a:r>
            <a:r>
              <a:rPr lang="zh-CN" altLang="en-US" sz="2400" dirty="0"/>
              <a:t>换行			</a:t>
            </a:r>
            <a:r>
              <a:rPr lang="en-US" altLang="zh-CN" sz="2400" dirty="0">
                <a:solidFill>
                  <a:srgbClr val="3333CC"/>
                </a:solidFill>
              </a:rPr>
              <a:t>\t</a:t>
            </a:r>
            <a:r>
              <a:rPr lang="en-US" altLang="zh-CN" sz="2400" dirty="0"/>
              <a:t>——</a:t>
            </a:r>
            <a:r>
              <a:rPr lang="zh-CN" altLang="en-US" sz="2400" dirty="0"/>
              <a:t>横向制表符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\v</a:t>
            </a:r>
            <a:r>
              <a:rPr lang="en-US" altLang="zh-CN" sz="2400" dirty="0"/>
              <a:t>——</a:t>
            </a:r>
            <a:r>
              <a:rPr lang="zh-CN" altLang="en-US" sz="2400" dirty="0"/>
              <a:t>纵向制表符		</a:t>
            </a:r>
            <a:r>
              <a:rPr lang="en-US" altLang="zh-CN" sz="2400" dirty="0">
                <a:solidFill>
                  <a:srgbClr val="3333CC"/>
                </a:solidFill>
              </a:rPr>
              <a:t>\b</a:t>
            </a:r>
            <a:r>
              <a:rPr lang="en-US" altLang="zh-CN" sz="2400" dirty="0"/>
              <a:t>——</a:t>
            </a:r>
            <a:r>
              <a:rPr lang="zh-CN" altLang="en-US" sz="2400" dirty="0"/>
              <a:t>退格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\r</a:t>
            </a:r>
            <a:r>
              <a:rPr lang="en-US" altLang="zh-CN" sz="2400" dirty="0"/>
              <a:t>——</a:t>
            </a:r>
            <a:r>
              <a:rPr lang="zh-CN" altLang="en-US" sz="2400" dirty="0"/>
              <a:t>回车			</a:t>
            </a:r>
            <a:r>
              <a:rPr lang="en-US" altLang="zh-CN" sz="2400" dirty="0">
                <a:solidFill>
                  <a:srgbClr val="3333CC"/>
                </a:solidFill>
              </a:rPr>
              <a:t>\f</a:t>
            </a:r>
            <a:r>
              <a:rPr lang="en-US" altLang="zh-CN" sz="2400" dirty="0"/>
              <a:t>——</a:t>
            </a:r>
            <a:r>
              <a:rPr lang="zh-CN" altLang="en-US" sz="2400" dirty="0"/>
              <a:t>换页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\a</a:t>
            </a:r>
            <a:r>
              <a:rPr lang="en-US" altLang="zh-CN" sz="2400" dirty="0"/>
              <a:t>——</a:t>
            </a:r>
            <a:r>
              <a:rPr lang="zh-CN" altLang="en-US" sz="2400" dirty="0"/>
              <a:t>报警			</a:t>
            </a:r>
            <a:r>
              <a:rPr lang="en-US" altLang="zh-CN" sz="2400" dirty="0">
                <a:solidFill>
                  <a:srgbClr val="3333CC"/>
                </a:solidFill>
              </a:rPr>
              <a:t>\\</a:t>
            </a:r>
            <a:r>
              <a:rPr lang="en-US" altLang="zh-CN" sz="2400" dirty="0"/>
              <a:t>——‘\’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\</a:t>
            </a:r>
            <a:r>
              <a:rPr lang="en-US" altLang="zh-CN" sz="2400" dirty="0" err="1">
                <a:solidFill>
                  <a:srgbClr val="3333CC"/>
                </a:solidFill>
              </a:rPr>
              <a:t>ooo</a:t>
            </a:r>
            <a:r>
              <a:rPr lang="en-US" altLang="zh-CN" sz="2400" dirty="0"/>
              <a:t>——ASCII</a:t>
            </a:r>
            <a:r>
              <a:rPr lang="zh-CN" altLang="en-US" sz="2400" dirty="0"/>
              <a:t>码值为八进制数</a:t>
            </a:r>
            <a:r>
              <a:rPr lang="en-US" altLang="zh-CN" sz="2400" dirty="0" err="1"/>
              <a:t>ooo</a:t>
            </a:r>
            <a:r>
              <a:rPr lang="zh-CN" altLang="en-US" sz="2400" dirty="0"/>
              <a:t>的字符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\</a:t>
            </a:r>
            <a:r>
              <a:rPr lang="en-US" altLang="zh-CN" sz="2400" dirty="0" err="1">
                <a:solidFill>
                  <a:srgbClr val="3333CC"/>
                </a:solidFill>
              </a:rPr>
              <a:t>xhh</a:t>
            </a:r>
            <a:r>
              <a:rPr lang="en-US" altLang="zh-CN" sz="2400" dirty="0"/>
              <a:t>——ASCII</a:t>
            </a:r>
            <a:r>
              <a:rPr lang="zh-CN" altLang="en-US" sz="2400" dirty="0"/>
              <a:t>码值为十六进制数</a:t>
            </a:r>
            <a:r>
              <a:rPr lang="en-US" altLang="zh-CN" sz="2400" dirty="0" err="1"/>
              <a:t>hh</a:t>
            </a:r>
            <a:r>
              <a:rPr lang="zh-CN" altLang="en-US" sz="2400" dirty="0"/>
              <a:t>的字符</a:t>
            </a:r>
          </a:p>
          <a:p>
            <a:pPr eaLnBrk="1" hangingPunct="1"/>
            <a:r>
              <a:rPr lang="zh-CN" altLang="en-US" sz="2800" dirty="0"/>
              <a:t>其他特殊字符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3333CC"/>
                </a:solidFill>
              </a:rPr>
              <a:t>(  )  +  *  ?  {  }  [  ]  .  "  |  ^  &lt;  &gt;  /  $</a:t>
            </a:r>
          </a:p>
          <a:p>
            <a:pPr eaLnBrk="1" hangingPunct="1"/>
            <a:r>
              <a:rPr lang="en-US" altLang="zh-CN" sz="2800" dirty="0">
                <a:solidFill>
                  <a:srgbClr val="3333CC"/>
                </a:solidFill>
              </a:rPr>
              <a:t>\</a:t>
            </a:r>
            <a:r>
              <a:rPr lang="en-US" altLang="zh-CN" sz="2800" dirty="0"/>
              <a:t>——</a:t>
            </a:r>
            <a:r>
              <a:rPr lang="zh-CN" altLang="en-US" sz="2800" dirty="0"/>
              <a:t>转义符，放在特殊字符前，使其变为普通字符</a:t>
            </a:r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DA2CED80-F569-4565-8E60-8E01995D6D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字符集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36109BF-E2EC-450F-853D-211BF0EFC8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8040688" cy="4724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3333CC"/>
                </a:solidFill>
              </a:rPr>
              <a:t>[abc]</a:t>
            </a:r>
            <a:r>
              <a:rPr lang="zh-CN" altLang="en-US" sz="2800"/>
              <a:t>：</a:t>
            </a:r>
            <a:r>
              <a:rPr lang="en-US" altLang="zh-CN" sz="2800"/>
              <a:t>a | b | 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3333CC"/>
                </a:solidFill>
              </a:rPr>
              <a:t>[a-z]</a:t>
            </a:r>
            <a:r>
              <a:rPr lang="zh-CN" altLang="en-US" sz="2800"/>
              <a:t>：</a:t>
            </a:r>
            <a:r>
              <a:rPr lang="en-US" altLang="zh-CN" sz="2800"/>
              <a:t>a | b | … | z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3333CC"/>
                </a:solidFill>
              </a:rPr>
              <a:t>[+-]</a:t>
            </a:r>
            <a:r>
              <a:rPr lang="zh-CN" altLang="en-US" sz="2800"/>
              <a:t>：</a:t>
            </a:r>
            <a:r>
              <a:rPr lang="en-US" altLang="zh-CN" sz="2800"/>
              <a:t>+ | -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3333CC"/>
                </a:solidFill>
              </a:rPr>
              <a:t>[a-zA-Z0-9_]</a:t>
            </a:r>
            <a:r>
              <a:rPr lang="zh-CN" altLang="en-US" sz="2800"/>
              <a:t>：</a:t>
            </a:r>
            <a:r>
              <a:rPr lang="en-US" altLang="zh-CN" sz="2800"/>
              <a:t>a | …| z | A | … | Z | 0 | … | 9 | _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3333CC"/>
                </a:solidFill>
              </a:rPr>
              <a:t>[^abc]</a:t>
            </a:r>
            <a:r>
              <a:rPr lang="zh-CN" altLang="en-US" sz="2800"/>
              <a:t>：除</a:t>
            </a:r>
            <a:r>
              <a:rPr lang="en-US" altLang="zh-CN" sz="2800"/>
              <a:t>a</a:t>
            </a:r>
            <a:r>
              <a:rPr lang="zh-CN" altLang="en-US" sz="2800"/>
              <a:t>、</a:t>
            </a:r>
            <a:r>
              <a:rPr lang="en-US" altLang="zh-CN" sz="2800"/>
              <a:t>b</a:t>
            </a:r>
            <a:r>
              <a:rPr lang="zh-CN" altLang="en-US" sz="2800"/>
              <a:t>、</a:t>
            </a:r>
            <a:r>
              <a:rPr lang="en-US" altLang="zh-CN" sz="2800"/>
              <a:t>c</a:t>
            </a:r>
            <a:r>
              <a:rPr lang="zh-CN" altLang="en-US" sz="2800"/>
              <a:t>之外的所有字符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3333CC"/>
                </a:solidFill>
              </a:rPr>
              <a:t>[:alpha:]</a:t>
            </a:r>
            <a:r>
              <a:rPr lang="zh-CN" altLang="en-US" sz="2800"/>
              <a:t>：大小写字母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3333CC"/>
                </a:solidFill>
              </a:rPr>
              <a:t>[:digit:]</a:t>
            </a:r>
            <a:r>
              <a:rPr lang="zh-CN" altLang="en-US" sz="2800"/>
              <a:t>：数字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3333CC"/>
                </a:solidFill>
              </a:rPr>
              <a:t>[[:alpha:]_][[:alpha:]0-9_]*</a:t>
            </a:r>
            <a:r>
              <a:rPr lang="en-US" altLang="zh-CN" sz="2800"/>
              <a:t>——</a:t>
            </a:r>
            <a:r>
              <a:rPr lang="zh-CN" altLang="en-US" sz="2800"/>
              <a:t>标识符</a:t>
            </a:r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FD0E0F3B-3A4B-4FA2-A5CE-044DEE905A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正规式构造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7D7B6D56-356C-4B81-A3BE-EF1EA8B46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|</a:t>
            </a:r>
            <a:r>
              <a:rPr lang="zh-CN" altLang="en-US"/>
              <a:t>、连接、*、</a:t>
            </a:r>
            <a:r>
              <a:rPr lang="en-US" altLang="zh-CN"/>
              <a:t>(  )</a:t>
            </a:r>
            <a:r>
              <a:rPr lang="zh-CN" altLang="en-US"/>
              <a:t>、</a:t>
            </a:r>
            <a:r>
              <a:rPr lang="en-US" altLang="zh-CN"/>
              <a:t>+</a:t>
            </a:r>
            <a:r>
              <a:rPr lang="zh-CN" altLang="en-US"/>
              <a:t>、</a:t>
            </a:r>
            <a:r>
              <a:rPr lang="en-US" altLang="zh-CN"/>
              <a:t>?</a:t>
            </a:r>
            <a:r>
              <a:rPr lang="zh-CN" altLang="en-US"/>
              <a:t>、字符集</a:t>
            </a:r>
          </a:p>
          <a:p>
            <a:pPr eaLnBrk="1" hangingPunct="1"/>
            <a:r>
              <a:rPr lang="en-US" altLang="zh-CN" b="1">
                <a:solidFill>
                  <a:srgbClr val="3333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/>
              <a:t>——[^\n]</a:t>
            </a:r>
            <a:r>
              <a:rPr lang="zh-CN" altLang="en-US"/>
              <a:t>，匹配除回车外任意字符</a:t>
            </a:r>
          </a:p>
          <a:p>
            <a:pPr eaLnBrk="1" hangingPunct="1"/>
            <a:r>
              <a:rPr lang="zh-CN" altLang="en-US"/>
              <a:t>指定重复次数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	</a:t>
            </a:r>
            <a:r>
              <a:rPr lang="en-US" altLang="zh-CN">
                <a:solidFill>
                  <a:srgbClr val="3333CC"/>
                </a:solidFill>
              </a:rPr>
              <a:t>a{3, 5}</a:t>
            </a:r>
            <a:r>
              <a:rPr lang="en-US" altLang="zh-CN"/>
              <a:t>——{aaa, aaaa, aaaaa}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	</a:t>
            </a:r>
            <a:r>
              <a:rPr lang="en-US" altLang="zh-CN">
                <a:solidFill>
                  <a:srgbClr val="3333CC"/>
                </a:solidFill>
              </a:rPr>
              <a:t>a{3, }</a:t>
            </a:r>
            <a:r>
              <a:rPr lang="en-US" altLang="zh-CN"/>
              <a:t>——{aaa, aaaa, aaaaa, aaaaaa, …}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	</a:t>
            </a:r>
            <a:r>
              <a:rPr lang="en-US" altLang="zh-CN">
                <a:solidFill>
                  <a:srgbClr val="3333CC"/>
                </a:solidFill>
              </a:rPr>
              <a:t>a{3}</a:t>
            </a:r>
            <a:r>
              <a:rPr lang="en-US" altLang="zh-CN"/>
              <a:t>——{aaa}</a:t>
            </a:r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87F9DE6D-073B-474D-A5E1-EDBE4F4CE8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1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80689071-D9C0-4593-8BBA-AC4722E96C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%{int num_lines = 0, num_chars = 0;%}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%%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\n    {++num_lines; ++num_chars;}</a:t>
            </a:r>
            <a:br>
              <a:rPr kumimoji="0" lang="en-US" altLang="zh-CN" sz="2400" b="1">
                <a:latin typeface="Courier New" panose="02070309020205020404" pitchFamily="49" charset="0"/>
              </a:rPr>
            </a:br>
            <a:r>
              <a:rPr kumimoji="0" lang="en-US" altLang="zh-CN" sz="2400" b="1">
                <a:latin typeface="Courier New" panose="02070309020205020404" pitchFamily="49" charset="0"/>
              </a:rPr>
              <a:t>.     {++num_chars;}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%%</a:t>
            </a:r>
          </a:p>
        </p:txBody>
      </p:sp>
      <p:sp>
        <p:nvSpPr>
          <p:cNvPr id="60420" name="Text Box 4">
            <a:extLst>
              <a:ext uri="{FF2B5EF4-FFF2-40B4-BE49-F238E27FC236}">
                <a16:creationId xmlns:a16="http://schemas.microsoft.com/office/drawing/2014/main" id="{7E94D191-5A46-472D-972C-6A37CC1DD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16764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0">
                <a:solidFill>
                  <a:srgbClr val="FF3300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2400" b="0">
                <a:solidFill>
                  <a:srgbClr val="FF3300"/>
                </a:solidFill>
                <a:latin typeface="Tahoma" panose="020B0604030504040204" pitchFamily="34" charset="0"/>
              </a:rPr>
              <a:t>语言代码</a:t>
            </a:r>
          </a:p>
        </p:txBody>
      </p:sp>
      <p:sp>
        <p:nvSpPr>
          <p:cNvPr id="60421" name="Line 5">
            <a:extLst>
              <a:ext uri="{FF2B5EF4-FFF2-40B4-BE49-F238E27FC236}">
                <a16:creationId xmlns:a16="http://schemas.microsoft.com/office/drawing/2014/main" id="{33B2F378-8C0E-4FC1-B679-05AED749034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58000" y="1752600"/>
            <a:ext cx="457200" cy="2286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0422" name="Text Box 6">
            <a:extLst>
              <a:ext uri="{FF2B5EF4-FFF2-40B4-BE49-F238E27FC236}">
                <a16:creationId xmlns:a16="http://schemas.microsoft.com/office/drawing/2014/main" id="{AC942288-83E1-4BFD-8C7F-6116DA963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6670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>
                <a:solidFill>
                  <a:srgbClr val="FF3300"/>
                </a:solidFill>
                <a:latin typeface="Tahoma" panose="020B0604030504040204" pitchFamily="34" charset="0"/>
              </a:rPr>
              <a:t>规则段</a:t>
            </a:r>
          </a:p>
        </p:txBody>
      </p:sp>
      <p:sp>
        <p:nvSpPr>
          <p:cNvPr id="60423" name="Line 7">
            <a:extLst>
              <a:ext uri="{FF2B5EF4-FFF2-40B4-BE49-F238E27FC236}">
                <a16:creationId xmlns:a16="http://schemas.microsoft.com/office/drawing/2014/main" id="{643D6ED9-CA9D-407E-916A-2AE6F4841B3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48400" y="2743200"/>
            <a:ext cx="457200" cy="2286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0FC3E411-6E26-43B8-AD32-1F522D5F07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1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29E30FB7-8EF4-4FED-9260-1056C8A6C1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main(int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argc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, char *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argv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[])</a:t>
            </a:r>
            <a:br>
              <a:rPr kumimoji="0" lang="en-US" altLang="zh-CN" sz="2000" b="1" dirty="0">
                <a:latin typeface="Courier New" panose="02070309020205020404" pitchFamily="49" charset="0"/>
              </a:rPr>
            </a:br>
            <a:r>
              <a:rPr kumimoji="0" lang="en-US" altLang="zh-CN" sz="2000" b="1" dirty="0">
                <a:latin typeface="Courier New" panose="02070309020205020404" pitchFamily="49" charset="0"/>
              </a:rPr>
              <a:t>{</a:t>
            </a:r>
            <a:br>
              <a:rPr kumimoji="0" lang="en-US" altLang="zh-CN" sz="2000" b="1" dirty="0">
                <a:latin typeface="Courier New" panose="02070309020205020404" pitchFamily="49" charset="0"/>
              </a:rPr>
            </a:br>
            <a:r>
              <a:rPr kumimoji="0" lang="en-US" altLang="zh-CN" sz="2000" b="1" dirty="0">
                <a:latin typeface="Courier New" panose="02070309020205020404" pitchFamily="49" charset="0"/>
              </a:rPr>
              <a:t>   ++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argv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, --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argc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;  /* skip over program name */</a:t>
            </a:r>
            <a:br>
              <a:rPr kumimoji="0" lang="en-US" altLang="zh-CN" sz="2000" b="1" dirty="0">
                <a:latin typeface="Courier New" panose="02070309020205020404" pitchFamily="49" charset="0"/>
              </a:rPr>
            </a:br>
            <a:r>
              <a:rPr kumimoji="0" lang="en-US" altLang="zh-CN" sz="2000" b="1" dirty="0">
                <a:latin typeface="Courier New" panose="02070309020205020404" pitchFamily="49" charset="0"/>
              </a:rPr>
              <a:t>   if (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argc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 &gt; 0 ) </a:t>
            </a:r>
            <a:br>
              <a:rPr kumimoji="0" lang="en-US" altLang="zh-CN" sz="2000" b="1" dirty="0">
                <a:latin typeface="Courier New" panose="02070309020205020404" pitchFamily="49" charset="0"/>
              </a:rPr>
            </a:br>
            <a:r>
              <a:rPr kumimoji="0" lang="en-US" altLang="zh-CN" sz="2000" b="1" dirty="0">
                <a:latin typeface="Courier New" panose="02070309020205020404" pitchFamily="49" charset="0"/>
              </a:rPr>
              <a:t>     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yyin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 =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fopen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(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argv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[0], "r" );</a:t>
            </a:r>
            <a:br>
              <a:rPr kumimoji="0" lang="en-US" altLang="zh-CN" sz="2000" b="1" dirty="0">
                <a:latin typeface="Courier New" panose="02070309020205020404" pitchFamily="49" charset="0"/>
              </a:rPr>
            </a:br>
            <a:r>
              <a:rPr kumimoji="0" lang="en-US" altLang="zh-CN" sz="2000" b="1" dirty="0">
                <a:latin typeface="Courier New" panose="02070309020205020404" pitchFamily="49" charset="0"/>
              </a:rPr>
              <a:t>   else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yyin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 = stdin;</a:t>
            </a:r>
            <a:br>
              <a:rPr kumimoji="0" lang="en-US" altLang="zh-CN" sz="2000" b="1" dirty="0">
                <a:latin typeface="Courier New" panose="02070309020205020404" pitchFamily="49" charset="0"/>
              </a:rPr>
            </a:br>
            <a:r>
              <a:rPr kumimoji="0" lang="en-US" altLang="zh-CN" sz="2000" b="1" dirty="0">
                <a:latin typeface="Courier New" panose="02070309020205020404" pitchFamily="49" charset="0"/>
              </a:rPr>
              <a:t> 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yylex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();</a:t>
            </a:r>
            <a:br>
              <a:rPr kumimoji="0" lang="en-US" altLang="zh-CN" sz="2000" b="1" dirty="0">
                <a:latin typeface="Courier New" panose="02070309020205020404" pitchFamily="49" charset="0"/>
              </a:rPr>
            </a:br>
            <a:r>
              <a:rPr kumimoji="0" lang="en-US" altLang="zh-CN" sz="2000" b="1" dirty="0">
                <a:latin typeface="Courier New" panose="02070309020205020404" pitchFamily="49" charset="0"/>
              </a:rPr>
              <a:t> 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printf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( "# of lines = %d, # of chars = %d\n",</a:t>
            </a:r>
            <a:br>
              <a:rPr kumimoji="0" lang="en-US" altLang="zh-CN" sz="2000" b="1" dirty="0">
                <a:latin typeface="Courier New" panose="02070309020205020404" pitchFamily="49" charset="0"/>
              </a:rPr>
            </a:br>
            <a:r>
              <a:rPr kumimoji="0" lang="en-US" altLang="zh-CN" sz="2000" b="1" dirty="0">
                <a:latin typeface="Courier New" panose="02070309020205020404" pitchFamily="49" charset="0"/>
              </a:rPr>
              <a:t>           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num_lines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,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num_chars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 );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1444" name="Text Box 4">
            <a:extLst>
              <a:ext uri="{FF2B5EF4-FFF2-40B4-BE49-F238E27FC236}">
                <a16:creationId xmlns:a16="http://schemas.microsoft.com/office/drawing/2014/main" id="{E8162C29-CFDD-4C15-B55A-6F54B8B138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764704"/>
            <a:ext cx="256381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用户子程序段</a:t>
            </a:r>
            <a:br>
              <a:rPr lang="en-US" altLang="zh-CN" sz="2400" b="0" dirty="0">
                <a:solidFill>
                  <a:srgbClr val="FF3300"/>
                </a:solidFill>
                <a:latin typeface="Tahoma" panose="020B0604030504040204" pitchFamily="34" charset="0"/>
              </a:rPr>
            </a:br>
            <a:r>
              <a:rPr lang="zh-CN" altLang="en-US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主函数参数指定输入文件</a:t>
            </a:r>
            <a:endParaRPr lang="en-US" altLang="zh-CN" sz="2400" b="0" dirty="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61445" name="Line 5">
            <a:extLst>
              <a:ext uri="{FF2B5EF4-FFF2-40B4-BE49-F238E27FC236}">
                <a16:creationId xmlns:a16="http://schemas.microsoft.com/office/drawing/2014/main" id="{54699D5B-3549-4F13-A60B-6C7F27C053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62600" y="1371600"/>
            <a:ext cx="914400" cy="2286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1446" name="Text Box 4">
            <a:extLst>
              <a:ext uri="{FF2B5EF4-FFF2-40B4-BE49-F238E27FC236}">
                <a16:creationId xmlns:a16="http://schemas.microsoft.com/office/drawing/2014/main" id="{474E4CC2-66D0-40C8-A609-27ADDD45C8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" y="1866770"/>
            <a:ext cx="143986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词法分析器使用的输入文件</a:t>
            </a:r>
            <a:endParaRPr lang="en-US" altLang="zh-CN" sz="2400" b="0" dirty="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61447" name="Line 5">
            <a:extLst>
              <a:ext uri="{FF2B5EF4-FFF2-40B4-BE49-F238E27FC236}">
                <a16:creationId xmlns:a16="http://schemas.microsoft.com/office/drawing/2014/main" id="{621DFB9C-C2D4-4F1B-89DC-C1C4875824DA}"/>
              </a:ext>
            </a:extLst>
          </p:cNvPr>
          <p:cNvSpPr>
            <a:spLocks noChangeShapeType="1"/>
          </p:cNvSpPr>
          <p:nvPr/>
        </p:nvSpPr>
        <p:spPr bwMode="auto">
          <a:xfrm>
            <a:off x="908050" y="2565400"/>
            <a:ext cx="1358900" cy="287338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1448" name="Text Box 4">
            <a:extLst>
              <a:ext uri="{FF2B5EF4-FFF2-40B4-BE49-F238E27FC236}">
                <a16:creationId xmlns:a16="http://schemas.microsoft.com/office/drawing/2014/main" id="{6F8D5ABB-D48E-43DF-89D6-1DD59E07E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184649"/>
            <a:ext cx="23225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语言标准输入</a:t>
            </a:r>
          </a:p>
        </p:txBody>
      </p:sp>
      <p:sp>
        <p:nvSpPr>
          <p:cNvPr id="61449" name="Line 5">
            <a:extLst>
              <a:ext uri="{FF2B5EF4-FFF2-40B4-BE49-F238E27FC236}">
                <a16:creationId xmlns:a16="http://schemas.microsoft.com/office/drawing/2014/main" id="{DBF62910-19D8-4BF2-858D-B7367A7019E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55976" y="3209924"/>
            <a:ext cx="1296144" cy="219076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4" grpId="0"/>
      <p:bldP spid="61445" grpId="0" animBg="1"/>
      <p:bldP spid="61446" grpId="0"/>
      <p:bldP spid="61447" grpId="0" animBg="1"/>
      <p:bldP spid="61448" grpId="0"/>
      <p:bldP spid="6144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8094547E-DA29-4600-958E-74E6F16153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1 C++</a:t>
            </a:r>
            <a:r>
              <a:rPr lang="zh-CN" altLang="en-US"/>
              <a:t>版</a:t>
            </a:r>
            <a:endParaRPr lang="en-US" altLang="zh-CN"/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BAE7501B-8CB9-4D9F-BAAA-F1C38827CB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%{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#include &lt;fstream&gt;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int num_lines = 0, num_chars = 0;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%}</a:t>
            </a:r>
          </a:p>
          <a:p>
            <a:pPr marL="0" indent="0" eaLnBrk="1" hangingPunct="1">
              <a:buClrTx/>
              <a:buSzTx/>
              <a:buFontTx/>
              <a:buNone/>
            </a:pPr>
            <a:endParaRPr kumimoji="0" lang="en-US" altLang="zh-CN" sz="2000" b="1">
              <a:latin typeface="Courier New" panose="02070309020205020404" pitchFamily="49" charset="0"/>
            </a:endParaRP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/////////////////////////////////////////////////////////////////////////////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// declarations section</a:t>
            </a:r>
          </a:p>
          <a:p>
            <a:pPr marL="0" indent="0" eaLnBrk="1" hangingPunct="1">
              <a:buClrTx/>
              <a:buSzTx/>
              <a:buFontTx/>
              <a:buNone/>
            </a:pPr>
            <a:endParaRPr kumimoji="0" lang="en-US" altLang="zh-CN" sz="2000" b="1">
              <a:latin typeface="Courier New" panose="02070309020205020404" pitchFamily="49" charset="0"/>
            </a:endParaRP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// lexical analyser name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%name count</a:t>
            </a:r>
          </a:p>
          <a:p>
            <a:pPr marL="0" indent="0" eaLnBrk="1" hangingPunct="1">
              <a:buClrTx/>
              <a:buSzTx/>
              <a:buFontTx/>
              <a:buNone/>
            </a:pPr>
            <a:endParaRPr kumimoji="0" lang="en-US" altLang="zh-CN" sz="2000" b="1">
              <a:latin typeface="Courier New" panose="02070309020205020404" pitchFamily="49" charset="0"/>
            </a:endParaRPr>
          </a:p>
          <a:p>
            <a:pPr marL="0" indent="0" eaLnBrk="1" hangingPunct="1">
              <a:buClrTx/>
              <a:buSzTx/>
              <a:buFontTx/>
              <a:buNone/>
            </a:pPr>
            <a:endParaRPr kumimoji="0" lang="en-US" altLang="zh-CN" sz="2000" b="1">
              <a:latin typeface="Courier New" panose="02070309020205020404" pitchFamily="49" charset="0"/>
            </a:endParaRP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%%</a:t>
            </a:r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CDF00110-4399-4A08-A1C8-2D39A3A502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1 C++</a:t>
            </a:r>
            <a:r>
              <a:rPr lang="zh-CN" altLang="en-US"/>
              <a:t>版（续）</a:t>
            </a:r>
            <a:endParaRPr lang="en-US" altLang="zh-CN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61267E55-945B-4F8F-B8D1-9F8E460B5F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/////////////////////////////////////////////////////////////////////////////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// rules section</a:t>
            </a:r>
          </a:p>
          <a:p>
            <a:pPr marL="0" indent="0" eaLnBrk="1" hangingPunct="1">
              <a:buClrTx/>
              <a:buSzTx/>
              <a:buFontTx/>
              <a:buNone/>
            </a:pPr>
            <a:endParaRPr kumimoji="0" lang="en-US" altLang="zh-CN" sz="2000" b="1">
              <a:latin typeface="Courier New" panose="02070309020205020404" pitchFamily="49" charset="0"/>
            </a:endParaRP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// place your Lex rules here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\n    {++num_lines; ++num_chars;}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.     {++num_chars;}</a:t>
            </a:r>
          </a:p>
          <a:p>
            <a:pPr marL="0" indent="0" eaLnBrk="1" hangingPunct="1">
              <a:buClrTx/>
              <a:buSzTx/>
              <a:buFontTx/>
              <a:buNone/>
            </a:pPr>
            <a:endParaRPr kumimoji="0" lang="en-US" altLang="zh-CN" sz="2000" b="1">
              <a:latin typeface="Courier New" panose="02070309020205020404" pitchFamily="49" charset="0"/>
            </a:endParaRP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%%</a:t>
            </a:r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AA90F5A-377E-47DB-8800-9D8FDEF9A4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1 C++</a:t>
            </a:r>
            <a:r>
              <a:rPr lang="zh-CN" altLang="en-US"/>
              <a:t>版（续）</a:t>
            </a:r>
            <a:endParaRPr lang="en-US" altLang="zh-CN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792FAB1E-A089-47C5-BAF4-B89599F2B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int main(int argc, char *argv[])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{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int n = 1;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count lexer;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if (lexer.yycreate()) {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  if (argc &gt; 1)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     lexer.yyin = new std::ifstream("a.txt");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  if (!lexer.yyin-&gt;fail()) {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     n = lexer.yylex();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  }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  n = lexer.yylex();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  cout &lt;&lt; num_lines &lt;&lt; " " &lt;&lt; num_chars &lt;&lt; endl;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}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return n;</a:t>
            </a:r>
          </a:p>
          <a:p>
            <a:pPr marL="0" indent="0" eaLnBrk="1" hangingPunct="1"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4516" name="Text Box 4">
            <a:extLst>
              <a:ext uri="{FF2B5EF4-FFF2-40B4-BE49-F238E27FC236}">
                <a16:creationId xmlns:a16="http://schemas.microsoft.com/office/drawing/2014/main" id="{B2844A81-4941-441B-8D11-FF075AE9A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420938"/>
            <a:ext cx="169227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>
                <a:solidFill>
                  <a:srgbClr val="FF3300"/>
                </a:solidFill>
                <a:latin typeface="Tahoma" panose="020B0604030504040204" pitchFamily="34" charset="0"/>
              </a:rPr>
              <a:t>变为</a:t>
            </a:r>
            <a:r>
              <a:rPr lang="en-US" altLang="zh-CN" sz="2400" b="0">
                <a:solidFill>
                  <a:srgbClr val="FF3300"/>
                </a:solidFill>
                <a:latin typeface="Tahoma" panose="020B0604030504040204" pitchFamily="34" charset="0"/>
              </a:rPr>
              <a:t>Lexer</a:t>
            </a:r>
            <a:r>
              <a:rPr lang="zh-CN" altLang="en-US" sz="2400" b="0">
                <a:solidFill>
                  <a:srgbClr val="FF3300"/>
                </a:solidFill>
                <a:latin typeface="Tahoma" panose="020B0604030504040204" pitchFamily="34" charset="0"/>
              </a:rPr>
              <a:t>的成员</a:t>
            </a:r>
            <a:endParaRPr lang="en-US" altLang="zh-CN" sz="2400" b="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64517" name="Line 5">
            <a:extLst>
              <a:ext uri="{FF2B5EF4-FFF2-40B4-BE49-F238E27FC236}">
                <a16:creationId xmlns:a16="http://schemas.microsoft.com/office/drawing/2014/main" id="{D7783B48-ADA9-4D5B-889A-5E2FA802E7C6}"/>
              </a:ext>
            </a:extLst>
          </p:cNvPr>
          <p:cNvSpPr>
            <a:spLocks noChangeShapeType="1"/>
          </p:cNvSpPr>
          <p:nvPr/>
        </p:nvSpPr>
        <p:spPr bwMode="auto">
          <a:xfrm>
            <a:off x="922338" y="3252788"/>
            <a:ext cx="1597025" cy="287337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5EF61736-46F4-4431-AF69-78A4B8933D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B31F6CB9-F358-49CC-BD80-A644C84CEB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%{ #include &lt;stdio.h&gt; %}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 b="1">
              <a:latin typeface="Courier New" panose="02070309020205020404" pitchFamily="49" charset="0"/>
            </a:endParaRP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WS	[ \t\n]*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 b="1">
              <a:latin typeface="Courier New" panose="02070309020205020404" pitchFamily="49" charset="0"/>
            </a:endParaRP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%%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[0123456789]+	          printf("NUMBER\n");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[a-zA-Z][a-zA-Z0-9]*        printf("WORD\n");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{WS}				    /* do nothing */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.				    printf(“UNKNOWN\n“);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000" b="1">
              <a:latin typeface="Courier New" panose="02070309020205020404" pitchFamily="49" charset="0"/>
            </a:endParaRPr>
          </a:p>
        </p:txBody>
      </p:sp>
      <p:sp>
        <p:nvSpPr>
          <p:cNvPr id="65540" name="Text Box 4">
            <a:extLst>
              <a:ext uri="{FF2B5EF4-FFF2-40B4-BE49-F238E27FC236}">
                <a16:creationId xmlns:a16="http://schemas.microsoft.com/office/drawing/2014/main" id="{870F7D93-40EF-4F6E-B249-02D977ECC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080" y="838200"/>
            <a:ext cx="3312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拷贝到</a:t>
            </a:r>
            <a:r>
              <a:rPr lang="en-US" altLang="zh-CN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C</a:t>
            </a:r>
            <a:r>
              <a:rPr lang="zh-CN" altLang="en-US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文件的代码</a:t>
            </a:r>
          </a:p>
        </p:txBody>
      </p:sp>
      <p:sp>
        <p:nvSpPr>
          <p:cNvPr id="65541" name="Line 5">
            <a:extLst>
              <a:ext uri="{FF2B5EF4-FFF2-40B4-BE49-F238E27FC236}">
                <a16:creationId xmlns:a16="http://schemas.microsoft.com/office/drawing/2014/main" id="{37837410-571F-4661-BC5F-C61F3DD29D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39952" y="1066800"/>
            <a:ext cx="1152128" cy="376535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5542" name="Text Box 6">
            <a:extLst>
              <a:ext uri="{FF2B5EF4-FFF2-40B4-BE49-F238E27FC236}">
                <a16:creationId xmlns:a16="http://schemas.microsoft.com/office/drawing/2014/main" id="{4A1641DD-7492-4D3C-AA01-7E8254ACE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2286000"/>
            <a:ext cx="387166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规则段：正则式带程序片段</a:t>
            </a:r>
          </a:p>
        </p:txBody>
      </p:sp>
      <p:sp>
        <p:nvSpPr>
          <p:cNvPr id="65543" name="Line 7">
            <a:extLst>
              <a:ext uri="{FF2B5EF4-FFF2-40B4-BE49-F238E27FC236}">
                <a16:creationId xmlns:a16="http://schemas.microsoft.com/office/drawing/2014/main" id="{23BBFFD6-AAE6-417F-B65C-BE73961A5C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5896" y="2514600"/>
            <a:ext cx="1317104" cy="5334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5544" name="Text Box 8">
            <a:extLst>
              <a:ext uri="{FF2B5EF4-FFF2-40B4-BE49-F238E27FC236}">
                <a16:creationId xmlns:a16="http://schemas.microsoft.com/office/drawing/2014/main" id="{FB30E291-B7BA-44DB-A944-B8C57968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600200"/>
            <a:ext cx="26433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定义段：正规定义</a:t>
            </a:r>
          </a:p>
        </p:txBody>
      </p:sp>
      <p:sp>
        <p:nvSpPr>
          <p:cNvPr id="65545" name="Line 9">
            <a:extLst>
              <a:ext uri="{FF2B5EF4-FFF2-40B4-BE49-F238E27FC236}">
                <a16:creationId xmlns:a16="http://schemas.microsoft.com/office/drawing/2014/main" id="{CBCDC86C-5E6B-422A-BE8C-96EDDFA7AD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1905000"/>
            <a:ext cx="1524000" cy="762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动作按钮: 自定义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6A7DDE7-13F0-0842-83D5-7196031F0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4652963"/>
            <a:ext cx="647700" cy="431800"/>
          </a:xfrm>
          <a:prstGeom prst="actionButtonBlan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</a:rPr>
              <a:t>返回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E036EE44-6FB2-4200-9AF0-B4E7C48E6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1E8787F4-045D-48B8-A2DE-08362AD2D9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%%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main(int argc, char *argv[])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{ 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 ++argv, --argc; </a:t>
            </a:r>
            <a:br>
              <a:rPr kumimoji="0" lang="en-US" altLang="zh-CN" sz="2400" b="1">
                <a:latin typeface="Courier New" panose="02070309020205020404" pitchFamily="49" charset="0"/>
              </a:rPr>
            </a:br>
            <a:r>
              <a:rPr kumimoji="0" lang="en-US" altLang="zh-CN" sz="2400" b="1">
                <a:latin typeface="Courier New" panose="02070309020205020404" pitchFamily="49" charset="0"/>
              </a:rPr>
              <a:t>   if ( argc &gt; 0 ) yyin = fopen( argv[0], "r" );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 else  yyin = stdin;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 yylex();</a:t>
            </a:r>
          </a:p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66564" name="Text Box 4">
            <a:extLst>
              <a:ext uri="{FF2B5EF4-FFF2-40B4-BE49-F238E27FC236}">
                <a16:creationId xmlns:a16="http://schemas.microsoft.com/office/drawing/2014/main" id="{EF4FBD99-0A63-405F-9E8E-2D83B6FB4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112" y="759941"/>
            <a:ext cx="20882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用户子程序段</a:t>
            </a:r>
          </a:p>
        </p:txBody>
      </p:sp>
      <p:sp>
        <p:nvSpPr>
          <p:cNvPr id="66565" name="Line 5">
            <a:extLst>
              <a:ext uri="{FF2B5EF4-FFF2-40B4-BE49-F238E27FC236}">
                <a16:creationId xmlns:a16="http://schemas.microsoft.com/office/drawing/2014/main" id="{3DBD68E9-7B9D-4028-A944-6175CBED1A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18112" y="1064741"/>
            <a:ext cx="838200" cy="7620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33F0E568-9C33-4028-9D14-04C217C964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 </a:t>
            </a:r>
            <a:r>
              <a:rPr lang="zh-CN" altLang="en-US"/>
              <a:t>单词的识别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1032D1A1-D5A1-40DD-AEAC-5DFECDBE37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 sz="3600"/>
              <a:t>例</a:t>
            </a:r>
            <a:r>
              <a:rPr lang="en-US" altLang="zh-CN" sz="3600"/>
              <a:t>3.6</a:t>
            </a:r>
            <a:r>
              <a:rPr lang="zh-CN" altLang="en-US" sz="3600"/>
              <a:t>：考虑文法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zh-CN" altLang="en-US" sz="1800" b="1" i="1">
                <a:solidFill>
                  <a:srgbClr val="FF3300"/>
                </a:solidFill>
              </a:rPr>
              <a:t>	</a:t>
            </a:r>
            <a:r>
              <a:rPr kumimoji="0" lang="en-US" altLang="zh-CN" sz="2400" i="1"/>
              <a:t>stmt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ym typeface="Symbol" panose="05050102010706020507" pitchFamily="18" charset="2"/>
              </a:rPr>
              <a:t>if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expr </a:t>
            </a:r>
            <a:r>
              <a:rPr kumimoji="0" lang="en-US" altLang="zh-CN" sz="2400" b="1">
                <a:sym typeface="Symbol" panose="05050102010706020507" pitchFamily="18" charset="2"/>
              </a:rPr>
              <a:t>then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stmt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	| </a:t>
            </a:r>
            <a:r>
              <a:rPr kumimoji="0" lang="en-US" altLang="zh-CN" sz="2400" b="1">
                <a:sym typeface="Symbol" panose="05050102010706020507" pitchFamily="18" charset="2"/>
              </a:rPr>
              <a:t>if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expr </a:t>
            </a:r>
            <a:r>
              <a:rPr kumimoji="0" lang="en-US" altLang="zh-CN" sz="2400" b="1">
                <a:sym typeface="Symbol" panose="05050102010706020507" pitchFamily="18" charset="2"/>
              </a:rPr>
              <a:t>then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stmt </a:t>
            </a:r>
            <a:r>
              <a:rPr kumimoji="0" lang="en-US" altLang="zh-CN" sz="2400" b="1">
                <a:sym typeface="Symbol" panose="05050102010706020507" pitchFamily="18" charset="2"/>
              </a:rPr>
              <a:t>else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stmt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	|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br>
              <a:rPr kumimoji="0" lang="en-US" altLang="zh-CN" sz="2400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expr 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 b="1">
                <a:sym typeface="Symbol" panose="05050102010706020507" pitchFamily="18" charset="2"/>
              </a:rPr>
              <a:t>relop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en-US" altLang="zh-CN" sz="2400" i="1">
                <a:sym typeface="Symbol" panose="05050102010706020507" pitchFamily="18" charset="2"/>
              </a:rPr>
              <a:t>term | term</a:t>
            </a:r>
            <a:br>
              <a:rPr kumimoji="0" lang="en-US" altLang="zh-CN" sz="2400" i="1">
                <a:sym typeface="Symbol" panose="05050102010706020507" pitchFamily="18" charset="2"/>
              </a:rPr>
            </a:br>
            <a:r>
              <a:rPr kumimoji="0" lang="en-US" altLang="zh-CN" sz="2400" i="1">
                <a:sym typeface="Symbol" panose="05050102010706020507" pitchFamily="18" charset="2"/>
              </a:rPr>
              <a:t>term </a:t>
            </a:r>
            <a:r>
              <a:rPr kumimoji="0" lang="en-US" altLang="zh-CN" sz="2400">
                <a:sym typeface="Symbol" panose="05050102010706020507" pitchFamily="18" charset="2"/>
              </a:rPr>
              <a:t> </a:t>
            </a:r>
            <a:r>
              <a:rPr kumimoji="0" lang="en-US" altLang="zh-CN" sz="2400" b="1">
                <a:sym typeface="Symbol" panose="05050102010706020507" pitchFamily="18" charset="2"/>
              </a:rPr>
              <a:t>id</a:t>
            </a:r>
            <a:r>
              <a:rPr kumimoji="0" lang="en-US" altLang="zh-CN" sz="2400">
                <a:sym typeface="Symbol" panose="05050102010706020507" pitchFamily="18" charset="2"/>
              </a:rPr>
              <a:t> | </a:t>
            </a:r>
            <a:r>
              <a:rPr kumimoji="0" lang="en-US" altLang="zh-CN" sz="2400" b="1">
                <a:sym typeface="Symbol" panose="05050102010706020507" pitchFamily="18" charset="2"/>
              </a:rPr>
              <a:t>num</a:t>
            </a:r>
            <a:endParaRPr lang="en-US" altLang="zh-CN" sz="2400" b="1"/>
          </a:p>
        </p:txBody>
      </p:sp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F43B7A03-1F5B-4370-8F59-2618F71CC2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对应的单词的正规定义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5950E03F-8381-4E7C-BE60-7DFFCA4E64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if      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 if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then 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 then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else  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 else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 err="1"/>
              <a:t>relop</a:t>
            </a:r>
            <a:r>
              <a:rPr kumimoji="0" lang="en-US" altLang="zh-CN" sz="2400" b="1" dirty="0"/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 &lt; | &lt;= | &gt; | &gt;= | = | &lt;&gt;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ym typeface="Symbol" panose="05050102010706020507" pitchFamily="18" charset="2"/>
              </a:rPr>
              <a:t>id        letter (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letter | digit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)*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sym typeface="Symbol" panose="05050102010706020507" pitchFamily="18" charset="2"/>
              </a:rPr>
              <a:t>num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  digit</a:t>
            </a:r>
            <a:r>
              <a:rPr kumimoji="0" lang="en-US" altLang="zh-CN" sz="2400" b="1" baseline="30000" dirty="0">
                <a:sym typeface="Symbol" panose="05050102010706020507" pitchFamily="18" charset="2"/>
              </a:rPr>
              <a:t>+ </a:t>
            </a:r>
            <a:r>
              <a:rPr kumimoji="0" lang="en-US" altLang="zh-CN" sz="2400" b="1" dirty="0">
                <a:sym typeface="Symbol" panose="05050102010706020507" pitchFamily="18" charset="2"/>
              </a:rPr>
              <a:t>(.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digit</a:t>
            </a:r>
            <a:r>
              <a:rPr kumimoji="0" lang="en-US" altLang="zh-CN" sz="2400" b="1" baseline="30000" dirty="0">
                <a:sym typeface="Symbol" panose="05050102010706020507" pitchFamily="18" charset="2"/>
              </a:rPr>
              <a:t>+</a:t>
            </a:r>
            <a:r>
              <a:rPr kumimoji="0" lang="en-US" altLang="zh-CN" sz="2400" b="1" dirty="0">
                <a:sym typeface="Symbol" panose="05050102010706020507" pitchFamily="18" charset="2"/>
              </a:rPr>
              <a:t> ) ?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( E(+ | -) ?</a:t>
            </a:r>
            <a:r>
              <a:rPr kumimoji="0" lang="en-US" altLang="zh-CN" sz="2400" b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400" b="1" dirty="0">
                <a:sym typeface="Symbol" panose="05050102010706020507" pitchFamily="18" charset="2"/>
              </a:rPr>
              <a:t>digit</a:t>
            </a:r>
            <a:r>
              <a:rPr kumimoji="0" lang="en-US" altLang="zh-CN" sz="2400" b="1" baseline="30000" dirty="0">
                <a:sym typeface="Symbol" panose="05050102010706020507" pitchFamily="18" charset="2"/>
              </a:rPr>
              <a:t>+</a:t>
            </a:r>
            <a:r>
              <a:rPr kumimoji="0" lang="en-US" altLang="zh-CN" sz="2400" b="1" dirty="0">
                <a:sym typeface="Symbol" panose="05050102010706020507" pitchFamily="18" charset="2"/>
              </a:rPr>
              <a:t> ) ?</a:t>
            </a:r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6594E42B-CE2D-475A-844B-2DF016D6C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过滤空白符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54853ECB-47B5-4A9B-BCE3-0412AB236E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空白符也可写成正规式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/>
              <a:t>blank    </a:t>
            </a:r>
            <a:r>
              <a:rPr kumimoji="0" lang="en-US" altLang="zh-CN" b="1">
                <a:sym typeface="Symbol" panose="05050102010706020507" pitchFamily="18" charset="2"/>
              </a:rPr>
              <a:t>  </a:t>
            </a:r>
            <a:r>
              <a:rPr kumimoji="0" lang="en-US" altLang="zh-CN" b="1" i="1">
                <a:sym typeface="Symbol" panose="05050102010706020507" pitchFamily="18" charset="2"/>
              </a:rPr>
              <a:t>b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tab          ^T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newline   ^M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delim      blank | tab | newline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ym typeface="Symbol" panose="05050102010706020507" pitchFamily="18" charset="2"/>
              </a:rPr>
              <a:t>ws           delim</a:t>
            </a:r>
            <a:r>
              <a:rPr kumimoji="0" lang="en-US" altLang="zh-CN" b="1" baseline="30000">
                <a:sym typeface="Symbol" panose="05050102010706020507" pitchFamily="18" charset="2"/>
              </a:rPr>
              <a:t>+</a:t>
            </a:r>
            <a:endParaRPr lang="en-US" altLang="zh-CN" b="1" baseline="30000"/>
          </a:p>
        </p:txBody>
      </p:sp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C3C750A0-8D84-4950-A597-3553BCAA32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全部正规定义</a:t>
            </a:r>
          </a:p>
        </p:txBody>
      </p:sp>
      <p:grpSp>
        <p:nvGrpSpPr>
          <p:cNvPr id="70659" name="Group 4">
            <a:extLst>
              <a:ext uri="{FF2B5EF4-FFF2-40B4-BE49-F238E27FC236}">
                <a16:creationId xmlns:a16="http://schemas.microsoft.com/office/drawing/2014/main" id="{D3045590-65DF-411E-AF9F-F68B14E9414F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371600"/>
            <a:ext cx="7162800" cy="4876800"/>
            <a:chOff x="864" y="1008"/>
            <a:chExt cx="4512" cy="3072"/>
          </a:xfrm>
        </p:grpSpPr>
        <p:sp>
          <p:nvSpPr>
            <p:cNvPr id="70660" name="Line 5">
              <a:extLst>
                <a:ext uri="{FF2B5EF4-FFF2-40B4-BE49-F238E27FC236}">
                  <a16:creationId xmlns:a16="http://schemas.microsoft.com/office/drawing/2014/main" id="{594BEEB9-714B-4646-A396-FA50A58EFE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008"/>
              <a:ext cx="43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61" name="Line 6">
              <a:extLst>
                <a:ext uri="{FF2B5EF4-FFF2-40B4-BE49-F238E27FC236}">
                  <a16:creationId xmlns:a16="http://schemas.microsoft.com/office/drawing/2014/main" id="{85974252-BCF3-4AB6-B10E-AD57A4AFD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056"/>
              <a:ext cx="43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62" name="Line 7">
              <a:extLst>
                <a:ext uri="{FF2B5EF4-FFF2-40B4-BE49-F238E27FC236}">
                  <a16:creationId xmlns:a16="http://schemas.microsoft.com/office/drawing/2014/main" id="{B6DC9FC1-20E8-40EA-8D9A-B9B624511F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440"/>
              <a:ext cx="43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63" name="Line 8">
              <a:extLst>
                <a:ext uri="{FF2B5EF4-FFF2-40B4-BE49-F238E27FC236}">
                  <a16:creationId xmlns:a16="http://schemas.microsoft.com/office/drawing/2014/main" id="{FE3AFFF5-4952-49F2-9685-84CB87286A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4080"/>
              <a:ext cx="43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64" name="Line 9">
              <a:extLst>
                <a:ext uri="{FF2B5EF4-FFF2-40B4-BE49-F238E27FC236}">
                  <a16:creationId xmlns:a16="http://schemas.microsoft.com/office/drawing/2014/main" id="{B76838A5-D500-4AA8-9A9E-DE9804A9CF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008"/>
              <a:ext cx="0" cy="30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65" name="Line 10">
              <a:extLst>
                <a:ext uri="{FF2B5EF4-FFF2-40B4-BE49-F238E27FC236}">
                  <a16:creationId xmlns:a16="http://schemas.microsoft.com/office/drawing/2014/main" id="{8E31EB71-583A-4AD7-83D2-3F923084BF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008"/>
              <a:ext cx="0" cy="30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666" name="Text Box 11">
              <a:extLst>
                <a:ext uri="{FF2B5EF4-FFF2-40B4-BE49-F238E27FC236}">
                  <a16:creationId xmlns:a16="http://schemas.microsoft.com/office/drawing/2014/main" id="{E419B442-49D0-4416-AF52-F6B5C76C1A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056"/>
              <a:ext cx="120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1800">
                  <a:latin typeface="Courier New" panose="02070309020205020404" pitchFamily="49" charset="0"/>
                </a:rPr>
                <a:t>Regular Expression</a:t>
              </a:r>
            </a:p>
          </p:txBody>
        </p:sp>
        <p:sp>
          <p:nvSpPr>
            <p:cNvPr id="70667" name="Text Box 12">
              <a:extLst>
                <a:ext uri="{FF2B5EF4-FFF2-40B4-BE49-F238E27FC236}">
                  <a16:creationId xmlns:a16="http://schemas.microsoft.com/office/drawing/2014/main" id="{0B8CE08F-6013-49C5-88CE-2DFF6B4EA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104"/>
              <a:ext cx="12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1800">
                  <a:latin typeface="Courier New" panose="02070309020205020404" pitchFamily="49" charset="0"/>
                </a:rPr>
                <a:t>Token</a:t>
              </a:r>
            </a:p>
          </p:txBody>
        </p:sp>
        <p:sp>
          <p:nvSpPr>
            <p:cNvPr id="70668" name="Text Box 13">
              <a:extLst>
                <a:ext uri="{FF2B5EF4-FFF2-40B4-BE49-F238E27FC236}">
                  <a16:creationId xmlns:a16="http://schemas.microsoft.com/office/drawing/2014/main" id="{1261B958-F290-489C-A812-E6C2B966AA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104"/>
              <a:ext cx="17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1800">
                  <a:latin typeface="Courier New" panose="02070309020205020404" pitchFamily="49" charset="0"/>
                </a:rPr>
                <a:t>Attribute-Value</a:t>
              </a:r>
            </a:p>
          </p:txBody>
        </p:sp>
        <p:sp>
          <p:nvSpPr>
            <p:cNvPr id="70669" name="Text Box 14">
              <a:extLst>
                <a:ext uri="{FF2B5EF4-FFF2-40B4-BE49-F238E27FC236}">
                  <a16:creationId xmlns:a16="http://schemas.microsoft.com/office/drawing/2014/main" id="{26956F31-145C-4614-8A72-9CABF76277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488"/>
              <a:ext cx="528" cy="2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ws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latin typeface="Courier New" panose="02070309020205020404" pitchFamily="49" charset="0"/>
                </a:rPr>
                <a:t>if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latin typeface="Courier New" panose="02070309020205020404" pitchFamily="49" charset="0"/>
                </a:rPr>
                <a:t>then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latin typeface="Courier New" panose="02070309020205020404" pitchFamily="49" charset="0"/>
                </a:rPr>
                <a:t>else</a:t>
              </a:r>
              <a:endParaRPr kumimoji="0" lang="en-US" altLang="zh-CN" sz="2000" b="0"/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id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num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&lt;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&lt;=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=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&lt; &gt;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&gt;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&gt;=</a:t>
              </a:r>
            </a:p>
          </p:txBody>
        </p:sp>
        <p:sp>
          <p:nvSpPr>
            <p:cNvPr id="70670" name="Text Box 15">
              <a:extLst>
                <a:ext uri="{FF2B5EF4-FFF2-40B4-BE49-F238E27FC236}">
                  <a16:creationId xmlns:a16="http://schemas.microsoft.com/office/drawing/2014/main" id="{35C8A315-69C3-4DF4-9BB4-5F16B5FC53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488"/>
              <a:ext cx="528" cy="2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-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if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then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else</a:t>
              </a:r>
              <a:endParaRPr kumimoji="0" lang="en-US" altLang="zh-CN" sz="2000" b="0"/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id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num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relop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relop</a:t>
              </a:r>
              <a:r>
                <a:rPr kumimoji="0" lang="en-US" altLang="zh-CN" sz="2000" b="0"/>
                <a:t> 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relop</a:t>
              </a:r>
              <a:endParaRPr kumimoji="0" lang="en-US" altLang="zh-CN" sz="2000" b="0"/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relop</a:t>
              </a:r>
              <a:endParaRPr kumimoji="0" lang="en-US" altLang="zh-CN" sz="2000" b="0"/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relop</a:t>
              </a:r>
              <a:endParaRPr kumimoji="0" lang="en-US" altLang="zh-CN" sz="2000" b="0"/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relop</a:t>
              </a:r>
            </a:p>
          </p:txBody>
        </p:sp>
        <p:sp>
          <p:nvSpPr>
            <p:cNvPr id="70671" name="Text Box 16">
              <a:extLst>
                <a:ext uri="{FF2B5EF4-FFF2-40B4-BE49-F238E27FC236}">
                  <a16:creationId xmlns:a16="http://schemas.microsoft.com/office/drawing/2014/main" id="{DEF98E67-A136-42E0-8C71-F14D7AFF57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488"/>
              <a:ext cx="2112" cy="21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-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-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-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-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pointer to table entry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kumimoji="0" lang="en-US" altLang="zh-CN" sz="2000"/>
                <a:t>numerical value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LT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LE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EQ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NE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GT</a:t>
              </a:r>
            </a:p>
            <a:p>
              <a:pPr algn="ctr" eaLnBrk="1" hangingPunct="1">
                <a:lnSpc>
                  <a:spcPct val="60000"/>
                </a:lnSpc>
                <a:spcBef>
                  <a:spcPct val="30000"/>
                </a:spcBef>
                <a:buClrTx/>
                <a:buSzTx/>
                <a:buFontTx/>
                <a:buNone/>
              </a:pPr>
              <a:r>
                <a:rPr kumimoji="0" lang="en-US" altLang="zh-CN" sz="2000" b="0"/>
                <a:t>GE</a:t>
              </a:r>
            </a:p>
          </p:txBody>
        </p:sp>
      </p:grp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F9BEBAD1-AC98-48EE-977F-6B92459A06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3.4.1  </a:t>
            </a:r>
            <a:r>
              <a:rPr lang="zh-CN" altLang="en-US"/>
              <a:t>状态转换图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39190159-595A-4DEC-909B-5135736020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FF3300"/>
                </a:solidFill>
              </a:rPr>
              <a:t>transition diagram</a:t>
            </a:r>
            <a:r>
              <a:rPr lang="zh-CN" altLang="en-US"/>
              <a:t>，识别单词</a:t>
            </a:r>
          </a:p>
        </p:txBody>
      </p:sp>
      <p:grpSp>
        <p:nvGrpSpPr>
          <p:cNvPr id="71684" name="Group 42">
            <a:extLst>
              <a:ext uri="{FF2B5EF4-FFF2-40B4-BE49-F238E27FC236}">
                <a16:creationId xmlns:a16="http://schemas.microsoft.com/office/drawing/2014/main" id="{E8CC6DD8-210A-4364-9ADD-FEAEE3AFA3C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55813" y="1752600"/>
            <a:ext cx="5030787" cy="1646238"/>
            <a:chOff x="1008" y="1104"/>
            <a:chExt cx="3965" cy="1298"/>
          </a:xfrm>
        </p:grpSpPr>
        <p:sp>
          <p:nvSpPr>
            <p:cNvPr id="71700" name="Line 24">
              <a:extLst>
                <a:ext uri="{FF2B5EF4-FFF2-40B4-BE49-F238E27FC236}">
                  <a16:creationId xmlns:a16="http://schemas.microsoft.com/office/drawing/2014/main" id="{532D3A5C-D036-4ECA-858F-3F03FE06469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008" y="1465"/>
              <a:ext cx="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01" name="Oval 25">
              <a:extLst>
                <a:ext uri="{FF2B5EF4-FFF2-40B4-BE49-F238E27FC236}">
                  <a16:creationId xmlns:a16="http://schemas.microsoft.com/office/drawing/2014/main" id="{4EACB29E-56E1-4525-AF8C-B67304792D9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945" y="1248"/>
              <a:ext cx="433" cy="43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702" name="Line 26">
              <a:extLst>
                <a:ext uri="{FF2B5EF4-FFF2-40B4-BE49-F238E27FC236}">
                  <a16:creationId xmlns:a16="http://schemas.microsoft.com/office/drawing/2014/main" id="{CCCE8EE8-E7E0-40BA-9456-5C9ECB55717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378" y="1465"/>
              <a:ext cx="93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703" name="Oval 27">
              <a:extLst>
                <a:ext uri="{FF2B5EF4-FFF2-40B4-BE49-F238E27FC236}">
                  <a16:creationId xmlns:a16="http://schemas.microsoft.com/office/drawing/2014/main" id="{699A91AD-DAC0-4EBD-9EC5-9BD426A772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40" y="1969"/>
              <a:ext cx="433" cy="43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704" name="Oval 28">
              <a:extLst>
                <a:ext uri="{FF2B5EF4-FFF2-40B4-BE49-F238E27FC236}">
                  <a16:creationId xmlns:a16="http://schemas.microsoft.com/office/drawing/2014/main" id="{B52B0767-B104-47D2-AD52-A68068FE054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315" y="1248"/>
              <a:ext cx="432" cy="43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705" name="Oval 29">
              <a:extLst>
                <a:ext uri="{FF2B5EF4-FFF2-40B4-BE49-F238E27FC236}">
                  <a16:creationId xmlns:a16="http://schemas.microsoft.com/office/drawing/2014/main" id="{F168B6F0-8006-4AEB-A817-FC23A20AB2B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40" y="1248"/>
              <a:ext cx="433" cy="433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706" name="Oval 30">
              <a:extLst>
                <a:ext uri="{FF2B5EF4-FFF2-40B4-BE49-F238E27FC236}">
                  <a16:creationId xmlns:a16="http://schemas.microsoft.com/office/drawing/2014/main" id="{B6B3AFBF-C6D7-4275-AB6F-7E18EAC779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13" y="2041"/>
              <a:ext cx="288" cy="28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707" name="Oval 31">
              <a:extLst>
                <a:ext uri="{FF2B5EF4-FFF2-40B4-BE49-F238E27FC236}">
                  <a16:creationId xmlns:a16="http://schemas.microsoft.com/office/drawing/2014/main" id="{CB49A279-6ABA-41AF-A24D-62987CFCBDA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13" y="1320"/>
              <a:ext cx="288" cy="28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708" name="Line 32">
              <a:extLst>
                <a:ext uri="{FF2B5EF4-FFF2-40B4-BE49-F238E27FC236}">
                  <a16:creationId xmlns:a16="http://schemas.microsoft.com/office/drawing/2014/main" id="{2CFE1565-D4B4-4FE4-8DF0-F205DAA4843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47" y="1465"/>
              <a:ext cx="79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71709" name="AutoShape 33">
              <a:extLst>
                <a:ext uri="{FF2B5EF4-FFF2-40B4-BE49-F238E27FC236}">
                  <a16:creationId xmlns:a16="http://schemas.microsoft.com/office/drawing/2014/main" id="{E0282299-9CE3-449B-BFBE-0031EF5DB989}"/>
                </a:ext>
              </a:extLst>
            </p:cNvPr>
            <p:cNvCxnSpPr>
              <a:cxnSpLocks noChangeAspect="1" noChangeShapeType="1"/>
              <a:stCxn id="71704" idx="4"/>
              <a:endCxn id="71703" idx="2"/>
            </p:cNvCxnSpPr>
            <p:nvPr/>
          </p:nvCxnSpPr>
          <p:spPr bwMode="auto">
            <a:xfrm rot="16200000" flipH="1">
              <a:off x="3783" y="1429"/>
              <a:ext cx="505" cy="1009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1710" name="Text Box 34">
              <a:extLst>
                <a:ext uri="{FF2B5EF4-FFF2-40B4-BE49-F238E27FC236}">
                  <a16:creationId xmlns:a16="http://schemas.microsoft.com/office/drawing/2014/main" id="{95BBC0C7-1BC5-4422-A2C7-6F9FB0F9BCA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81" y="1104"/>
              <a:ext cx="93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start</a:t>
              </a:r>
            </a:p>
          </p:txBody>
        </p:sp>
        <p:sp>
          <p:nvSpPr>
            <p:cNvPr id="71711" name="Text Box 35">
              <a:extLst>
                <a:ext uri="{FF2B5EF4-FFF2-40B4-BE49-F238E27FC236}">
                  <a16:creationId xmlns:a16="http://schemas.microsoft.com/office/drawing/2014/main" id="{9A801A95-A53A-43F8-9122-0C1BA377861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47" y="1681"/>
              <a:ext cx="866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other</a:t>
              </a:r>
            </a:p>
          </p:txBody>
        </p:sp>
        <p:sp>
          <p:nvSpPr>
            <p:cNvPr id="71712" name="Text Box 36">
              <a:extLst>
                <a:ext uri="{FF2B5EF4-FFF2-40B4-BE49-F238E27FC236}">
                  <a16:creationId xmlns:a16="http://schemas.microsoft.com/office/drawing/2014/main" id="{8A5DDED8-206F-428B-BAC8-C626870C174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47" y="1147"/>
              <a:ext cx="721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=</a:t>
              </a:r>
            </a:p>
          </p:txBody>
        </p:sp>
        <p:sp>
          <p:nvSpPr>
            <p:cNvPr id="71713" name="Text Box 37">
              <a:extLst>
                <a:ext uri="{FF2B5EF4-FFF2-40B4-BE49-F238E27FC236}">
                  <a16:creationId xmlns:a16="http://schemas.microsoft.com/office/drawing/2014/main" id="{AECCFBCA-BEAE-4648-84FB-894B8058B4E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451" y="1147"/>
              <a:ext cx="72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&gt;</a:t>
              </a:r>
            </a:p>
          </p:txBody>
        </p:sp>
        <p:sp>
          <p:nvSpPr>
            <p:cNvPr id="71714" name="Text Box 38">
              <a:extLst>
                <a:ext uri="{FF2B5EF4-FFF2-40B4-BE49-F238E27FC236}">
                  <a16:creationId xmlns:a16="http://schemas.microsoft.com/office/drawing/2014/main" id="{22F7B9FC-D9FC-41CE-B2B0-CC3AAAD4FBC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016" y="1296"/>
              <a:ext cx="289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0</a:t>
              </a:r>
            </a:p>
          </p:txBody>
        </p:sp>
        <p:sp>
          <p:nvSpPr>
            <p:cNvPr id="71715" name="Text Box 39">
              <a:extLst>
                <a:ext uri="{FF2B5EF4-FFF2-40B4-BE49-F238E27FC236}">
                  <a16:creationId xmlns:a16="http://schemas.microsoft.com/office/drawing/2014/main" id="{EDDE307F-B00F-43FF-A437-EF9592AB346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86" y="1296"/>
              <a:ext cx="290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6</a:t>
              </a:r>
            </a:p>
          </p:txBody>
        </p:sp>
        <p:sp>
          <p:nvSpPr>
            <p:cNvPr id="71716" name="Text Box 40">
              <a:extLst>
                <a:ext uri="{FF2B5EF4-FFF2-40B4-BE49-F238E27FC236}">
                  <a16:creationId xmlns:a16="http://schemas.microsoft.com/office/drawing/2014/main" id="{3DC52157-F9CD-4228-8BF2-25A474B60871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613" y="1296"/>
              <a:ext cx="287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7</a:t>
              </a:r>
            </a:p>
          </p:txBody>
        </p:sp>
        <p:sp>
          <p:nvSpPr>
            <p:cNvPr id="71717" name="Text Box 41">
              <a:extLst>
                <a:ext uri="{FF2B5EF4-FFF2-40B4-BE49-F238E27FC236}">
                  <a16:creationId xmlns:a16="http://schemas.microsoft.com/office/drawing/2014/main" id="{E208483A-29FD-4718-83E4-72EE907C42F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613" y="2016"/>
              <a:ext cx="287" cy="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8</a:t>
              </a:r>
            </a:p>
          </p:txBody>
        </p:sp>
      </p:grpSp>
      <p:sp>
        <p:nvSpPr>
          <p:cNvPr id="157739" name="Text Box 43">
            <a:extLst>
              <a:ext uri="{FF2B5EF4-FFF2-40B4-BE49-F238E27FC236}">
                <a16:creationId xmlns:a16="http://schemas.microsoft.com/office/drawing/2014/main" id="{395A5E8A-2B91-48B7-9A11-14C47B14D4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6670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状态</a:t>
            </a:r>
          </a:p>
        </p:txBody>
      </p:sp>
      <p:sp>
        <p:nvSpPr>
          <p:cNvPr id="157740" name="Line 44">
            <a:extLst>
              <a:ext uri="{FF2B5EF4-FFF2-40B4-BE49-F238E27FC236}">
                <a16:creationId xmlns:a16="http://schemas.microsoft.com/office/drawing/2014/main" id="{D155B7F1-9F57-4DE7-8AB1-8F63AD1E35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43000" y="2362200"/>
            <a:ext cx="2133600" cy="4572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7741" name="Line 45">
            <a:extLst>
              <a:ext uri="{FF2B5EF4-FFF2-40B4-BE49-F238E27FC236}">
                <a16:creationId xmlns:a16="http://schemas.microsoft.com/office/drawing/2014/main" id="{6DF1CFFB-2BA3-4EA3-B1D4-302D8F008B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2362200"/>
            <a:ext cx="3733800" cy="4572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7742" name="Line 46">
            <a:extLst>
              <a:ext uri="{FF2B5EF4-FFF2-40B4-BE49-F238E27FC236}">
                <a16:creationId xmlns:a16="http://schemas.microsoft.com/office/drawing/2014/main" id="{99926A67-FEBF-4202-9A64-3857FD1BF9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19200" y="2362200"/>
            <a:ext cx="5334000" cy="4572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7743" name="Line 47">
            <a:extLst>
              <a:ext uri="{FF2B5EF4-FFF2-40B4-BE49-F238E27FC236}">
                <a16:creationId xmlns:a16="http://schemas.microsoft.com/office/drawing/2014/main" id="{D950BBF9-4CEE-4AFD-8420-A6D0D83738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2819400"/>
            <a:ext cx="5181600" cy="3810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7745" name="Text Box 49">
            <a:extLst>
              <a:ext uri="{FF2B5EF4-FFF2-40B4-BE49-F238E27FC236}">
                <a16:creationId xmlns:a16="http://schemas.microsoft.com/office/drawing/2014/main" id="{8B0725BA-7B72-4AF6-871F-7FFFB2861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124200"/>
            <a:ext cx="2362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动作：在前一状态时，读入标记符号将转入指向的状态</a:t>
            </a:r>
          </a:p>
        </p:txBody>
      </p:sp>
      <p:sp>
        <p:nvSpPr>
          <p:cNvPr id="157747" name="Line 51">
            <a:extLst>
              <a:ext uri="{FF2B5EF4-FFF2-40B4-BE49-F238E27FC236}">
                <a16:creationId xmlns:a16="http://schemas.microsoft.com/office/drawing/2014/main" id="{7B332821-C0B0-479E-8E5A-85EE6DF7F6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5800" y="2209800"/>
            <a:ext cx="0" cy="9906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7748" name="Line 52">
            <a:extLst>
              <a:ext uri="{FF2B5EF4-FFF2-40B4-BE49-F238E27FC236}">
                <a16:creationId xmlns:a16="http://schemas.microsoft.com/office/drawing/2014/main" id="{113549C4-7F6C-4D50-9A4D-2A34B6C95AE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81200" y="2438400"/>
            <a:ext cx="1371600" cy="9906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7749" name="Text Box 53">
            <a:extLst>
              <a:ext uri="{FF2B5EF4-FFF2-40B4-BE49-F238E27FC236}">
                <a16:creationId xmlns:a16="http://schemas.microsoft.com/office/drawing/2014/main" id="{234CB412-C7E1-4D14-8526-A212645C4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352800"/>
            <a:ext cx="1447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初态：识别的开始</a:t>
            </a:r>
          </a:p>
        </p:txBody>
      </p:sp>
      <p:sp>
        <p:nvSpPr>
          <p:cNvPr id="157750" name="Text Box 54">
            <a:extLst>
              <a:ext uri="{FF2B5EF4-FFF2-40B4-BE49-F238E27FC236}">
                <a16:creationId xmlns:a16="http://schemas.microsoft.com/office/drawing/2014/main" id="{4CBBB2E1-A457-42C0-ADF5-F69FB004F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1981200"/>
            <a:ext cx="1524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终态：识别出单词</a:t>
            </a:r>
          </a:p>
        </p:txBody>
      </p:sp>
      <p:sp>
        <p:nvSpPr>
          <p:cNvPr id="157751" name="Line 55">
            <a:extLst>
              <a:ext uri="{FF2B5EF4-FFF2-40B4-BE49-F238E27FC236}">
                <a16:creationId xmlns:a16="http://schemas.microsoft.com/office/drawing/2014/main" id="{35018B2E-A684-49DD-B3BE-48912415DA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86600" y="2133600"/>
            <a:ext cx="609600" cy="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7754" name="Line 58">
            <a:extLst>
              <a:ext uri="{FF2B5EF4-FFF2-40B4-BE49-F238E27FC236}">
                <a16:creationId xmlns:a16="http://schemas.microsoft.com/office/drawing/2014/main" id="{DCFC7B1B-A7B2-4854-BC0B-2189E6DB28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0400" y="2133600"/>
            <a:ext cx="685800" cy="8382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7755" name="Line 59">
            <a:extLst>
              <a:ext uri="{FF2B5EF4-FFF2-40B4-BE49-F238E27FC236}">
                <a16:creationId xmlns:a16="http://schemas.microsoft.com/office/drawing/2014/main" id="{982EFEA4-9800-43A1-8766-D1D1863F06C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96000" y="2819400"/>
            <a:ext cx="838200" cy="1066800"/>
          </a:xfrm>
          <a:prstGeom prst="line">
            <a:avLst/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7756" name="Text Box 60">
            <a:extLst>
              <a:ext uri="{FF2B5EF4-FFF2-40B4-BE49-F238E27FC236}">
                <a16:creationId xmlns:a16="http://schemas.microsoft.com/office/drawing/2014/main" id="{93E3A8BA-50B7-4889-8A22-619EB6077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429000"/>
            <a:ext cx="2133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所有其他符号（如此例表示除</a:t>
            </a:r>
            <a:r>
              <a:rPr lang="en-US" altLang="zh-CN" sz="2000">
                <a:solidFill>
                  <a:schemeClr val="hlink"/>
                </a:solidFill>
                <a:latin typeface="Tahoma" panose="020B0604030504040204" pitchFamily="34" charset="0"/>
              </a:rPr>
              <a:t>=</a:t>
            </a: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外所有符号）</a:t>
            </a:r>
          </a:p>
        </p:txBody>
      </p:sp>
      <p:sp>
        <p:nvSpPr>
          <p:cNvPr id="157757" name="Text Box 61">
            <a:extLst>
              <a:ext uri="{FF2B5EF4-FFF2-40B4-BE49-F238E27FC236}">
                <a16:creationId xmlns:a16="http://schemas.microsoft.com/office/drawing/2014/main" id="{571321DE-6431-4168-AE9F-4E89E38D4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343400"/>
            <a:ext cx="3581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>
                <a:solidFill>
                  <a:schemeClr val="hlink"/>
                </a:solidFill>
                <a:latin typeface="Tahoma" panose="020B0604030504040204" pitchFamily="34" charset="0"/>
              </a:rPr>
              <a:t>确定的：一个状态发出的不同的边不可能标记相同的符号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739" grpId="0"/>
      <p:bldP spid="157745" grpId="0"/>
      <p:bldP spid="157749" grpId="0"/>
      <p:bldP spid="157750" grpId="0"/>
      <p:bldP spid="157756" grpId="0"/>
      <p:bldP spid="157757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9B6D2B7B-F0A5-497F-972C-CA82C154A1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如何识别单词？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EE1CD6F2-4A97-47E9-9E45-95D46B11A4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 dirty="0"/>
              <a:t>无论怎样的词法分析算法，应该是</a:t>
            </a:r>
          </a:p>
          <a:p>
            <a:pPr lvl="1" eaLnBrk="1" hangingPunct="1"/>
            <a:r>
              <a:rPr lang="zh-CN" altLang="en-US" dirty="0"/>
              <a:t>当前状态：已读入的符号串（前缀）处理（与模式进行匹配）</a:t>
            </a:r>
            <a:br>
              <a:rPr lang="en-US" altLang="zh-CN" dirty="0"/>
            </a:br>
            <a:r>
              <a:rPr lang="zh-CN" altLang="en-US" dirty="0"/>
              <a:t>决策：状态</a:t>
            </a:r>
            <a:r>
              <a:rPr lang="en-US" altLang="zh-CN" dirty="0"/>
              <a:t>+</a:t>
            </a:r>
            <a:r>
              <a:rPr lang="zh-CN" altLang="en-US" dirty="0"/>
              <a:t>未读入符号串与模式进行匹配</a:t>
            </a:r>
            <a:r>
              <a:rPr lang="en-US" altLang="zh-CN" dirty="0">
                <a:sym typeface="Wingdings" pitchFamily="2" charset="2"/>
              </a:rPr>
              <a:t></a:t>
            </a:r>
            <a:r>
              <a:rPr lang="zh-CN" altLang="en-US" dirty="0"/>
              <a:t>确定下一步动作</a:t>
            </a:r>
          </a:p>
          <a:p>
            <a:pPr eaLnBrk="1" hangingPunct="1"/>
            <a:r>
              <a:rPr lang="zh-CN" altLang="en-US" dirty="0"/>
              <a:t>状态转换图</a:t>
            </a:r>
            <a:r>
              <a:rPr lang="en-US" altLang="zh-CN" dirty="0"/>
              <a:t>——</a:t>
            </a:r>
            <a:r>
              <a:rPr lang="zh-CN" altLang="en-US" dirty="0"/>
              <a:t>一种词法分析算法描述</a:t>
            </a:r>
          </a:p>
          <a:p>
            <a:pPr lvl="1" eaLnBrk="1" hangingPunct="1"/>
            <a:r>
              <a:rPr lang="zh-CN" altLang="en-US" dirty="0"/>
              <a:t>整个</a:t>
            </a:r>
            <a:r>
              <a:rPr lang="en-US" altLang="zh-CN" dirty="0"/>
              <a:t>TD</a:t>
            </a:r>
            <a:r>
              <a:rPr lang="en-US" altLang="zh-CN" dirty="0">
                <a:sym typeface="Wingdings" panose="05000000000000000000" pitchFamily="2" charset="2"/>
              </a:rPr>
              <a:t></a:t>
            </a:r>
            <a:r>
              <a:rPr lang="zh-CN" altLang="en-US" dirty="0">
                <a:sym typeface="Wingdings" panose="05000000000000000000" pitchFamily="2" charset="2"/>
              </a:rPr>
              <a:t>模式</a:t>
            </a: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已读入符号串状态</a:t>
            </a: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当前状态</a:t>
            </a:r>
            <a:r>
              <a:rPr lang="en-US" altLang="zh-CN" dirty="0">
                <a:sym typeface="Wingdings" panose="05000000000000000000" pitchFamily="2" charset="2"/>
              </a:rPr>
              <a:t>+</a:t>
            </a:r>
            <a:r>
              <a:rPr lang="zh-CN" altLang="en-US" dirty="0">
                <a:sym typeface="Wingdings" panose="05000000000000000000" pitchFamily="2" charset="2"/>
              </a:rPr>
              <a:t>下一输入符号边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 eaLnBrk="1" hangingPunct="1"/>
            <a:r>
              <a:rPr lang="zh-CN" altLang="en-US" dirty="0">
                <a:sym typeface="Wingdings" panose="05000000000000000000" pitchFamily="2" charset="2"/>
              </a:rPr>
              <a:t>应采取的动作</a:t>
            </a:r>
            <a:r>
              <a:rPr lang="en-US" altLang="zh-CN" dirty="0">
                <a:sym typeface="Wingdings" panose="05000000000000000000" pitchFamily="2" charset="2"/>
              </a:rPr>
              <a:t>——</a:t>
            </a:r>
            <a:r>
              <a:rPr lang="zh-CN" altLang="en-US" dirty="0">
                <a:sym typeface="Wingdings" panose="05000000000000000000" pitchFamily="2" charset="2"/>
              </a:rPr>
              <a:t>状态迁移（沿边前进）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 eaLnBrk="1" hangingPunct="1"/>
            <a:r>
              <a:rPr lang="zh-CN" altLang="en-US" dirty="0"/>
              <a:t>已读入符号串发生变化</a:t>
            </a:r>
            <a:r>
              <a:rPr lang="en-US" altLang="zh-CN" dirty="0"/>
              <a:t>——</a:t>
            </a:r>
            <a:r>
              <a:rPr lang="zh-CN" altLang="en-US" dirty="0"/>
              <a:t>追加了一个符号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>
            <a:extLst>
              <a:ext uri="{FF2B5EF4-FFF2-40B4-BE49-F238E27FC236}">
                <a16:creationId xmlns:a16="http://schemas.microsoft.com/office/drawing/2014/main" id="{E6B92E4B-C9BF-4313-97EB-63D39B244A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状态转换图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C6F3F6-EDEE-47CE-829F-D34A20C681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743200"/>
            <a:ext cx="61722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4800" b="0" kern="0" dirty="0">
                <a:solidFill>
                  <a:srgbClr val="FF3300"/>
                </a:solidFill>
                <a:latin typeface="+mn-lt"/>
                <a:ea typeface="+mn-ea"/>
                <a:sym typeface="Wingdings" pitchFamily="2" charset="2"/>
              </a:rPr>
              <a:t>状态符号串集合</a:t>
            </a:r>
            <a:endParaRPr lang="zh-CN" altLang="en-US" sz="4800" b="0" kern="0" dirty="0">
              <a:solidFill>
                <a:srgbClr val="FF330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6BA0E9FE-5DF2-4EDA-95DD-602318D6C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如何识别单词？（续）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C9DA4F41-6AB0-4C1C-992B-35A1C87BDC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en-US" altLang="zh-CN" dirty="0"/>
              <a:t>TD</a:t>
            </a:r>
            <a:r>
              <a:rPr lang="zh-CN" altLang="en-US" dirty="0"/>
              <a:t>工作方式</a:t>
            </a:r>
          </a:p>
          <a:p>
            <a:pPr lvl="1" eaLnBrk="1" hangingPunct="1"/>
            <a:r>
              <a:rPr lang="zh-CN" altLang="en-US" dirty="0"/>
              <a:t>开始识别，位于初态</a:t>
            </a: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读入符号，转换状态</a:t>
            </a: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终态，接受！</a:t>
            </a:r>
            <a:br>
              <a:rPr lang="en-US" altLang="zh-CN" dirty="0">
                <a:sym typeface="Wingdings" panose="05000000000000000000" pitchFamily="2" charset="2"/>
              </a:rPr>
            </a:br>
            <a:r>
              <a:rPr lang="zh-CN" altLang="en-US" dirty="0">
                <a:sym typeface="Wingdings" panose="05000000000000000000" pitchFamily="2" charset="2"/>
              </a:rPr>
              <a:t>无法转换，失败！</a:t>
            </a: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C3853966-6B95-42C4-8039-6BF06EB62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</a:p>
        </p:txBody>
      </p:sp>
      <p:grpSp>
        <p:nvGrpSpPr>
          <p:cNvPr id="75779" name="Group 29">
            <a:extLst>
              <a:ext uri="{FF2B5EF4-FFF2-40B4-BE49-F238E27FC236}">
                <a16:creationId xmlns:a16="http://schemas.microsoft.com/office/drawing/2014/main" id="{C92137E2-16D8-4ECF-B566-AED0E763F7DB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1600200"/>
            <a:ext cx="4191000" cy="1371600"/>
            <a:chOff x="1488" y="1008"/>
            <a:chExt cx="2640" cy="864"/>
          </a:xfrm>
        </p:grpSpPr>
        <p:sp>
          <p:nvSpPr>
            <p:cNvPr id="75786" name="Line 5">
              <a:extLst>
                <a:ext uri="{FF2B5EF4-FFF2-40B4-BE49-F238E27FC236}">
                  <a16:creationId xmlns:a16="http://schemas.microsoft.com/office/drawing/2014/main" id="{2509F126-3B63-4AC4-B2EB-2B70C255F3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248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787" name="Oval 6">
              <a:extLst>
                <a:ext uri="{FF2B5EF4-FFF2-40B4-BE49-F238E27FC236}">
                  <a16:creationId xmlns:a16="http://schemas.microsoft.com/office/drawing/2014/main" id="{727D40D1-E807-4C46-829B-326103A88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10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5788" name="Line 7">
              <a:extLst>
                <a:ext uri="{FF2B5EF4-FFF2-40B4-BE49-F238E27FC236}">
                  <a16:creationId xmlns:a16="http://schemas.microsoft.com/office/drawing/2014/main" id="{19F7B43F-EF81-4782-B715-44F689A06C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248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789" name="Oval 8">
              <a:extLst>
                <a:ext uri="{FF2B5EF4-FFF2-40B4-BE49-F238E27FC236}">
                  <a16:creationId xmlns:a16="http://schemas.microsoft.com/office/drawing/2014/main" id="{326E8538-F08A-4CB5-B273-D5037906A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58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5790" name="Oval 9">
              <a:extLst>
                <a:ext uri="{FF2B5EF4-FFF2-40B4-BE49-F238E27FC236}">
                  <a16:creationId xmlns:a16="http://schemas.microsoft.com/office/drawing/2014/main" id="{F67621B3-C4C4-4015-AA51-7F9B77838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10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5791" name="Oval 10">
              <a:extLst>
                <a:ext uri="{FF2B5EF4-FFF2-40B4-BE49-F238E27FC236}">
                  <a16:creationId xmlns:a16="http://schemas.microsoft.com/office/drawing/2014/main" id="{94182748-B182-4CC8-99C9-B2902A5D89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0" y="110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5792" name="Oval 11">
              <a:extLst>
                <a:ext uri="{FF2B5EF4-FFF2-40B4-BE49-F238E27FC236}">
                  <a16:creationId xmlns:a16="http://schemas.microsoft.com/office/drawing/2014/main" id="{29BC3C8F-19B9-47D4-BC9F-15748686B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632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5793" name="Oval 12">
              <a:extLst>
                <a:ext uri="{FF2B5EF4-FFF2-40B4-BE49-F238E27FC236}">
                  <a16:creationId xmlns:a16="http://schemas.microsoft.com/office/drawing/2014/main" id="{04FCA136-C89C-4AC8-9953-0FB9E65714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152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5794" name="Line 13">
              <a:extLst>
                <a:ext uri="{FF2B5EF4-FFF2-40B4-BE49-F238E27FC236}">
                  <a16:creationId xmlns:a16="http://schemas.microsoft.com/office/drawing/2014/main" id="{80DA2E39-19F2-47C3-929D-AC8287A1F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2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75795" name="AutoShape 14">
              <a:extLst>
                <a:ext uri="{FF2B5EF4-FFF2-40B4-BE49-F238E27FC236}">
                  <a16:creationId xmlns:a16="http://schemas.microsoft.com/office/drawing/2014/main" id="{959FF7EF-B77E-4241-8374-F20DDB543ACA}"/>
                </a:ext>
              </a:extLst>
            </p:cNvPr>
            <p:cNvCxnSpPr>
              <a:cxnSpLocks noChangeShapeType="1"/>
              <a:stCxn id="75790" idx="4"/>
              <a:endCxn id="75789" idx="2"/>
            </p:cNvCxnSpPr>
            <p:nvPr/>
          </p:nvCxnSpPr>
          <p:spPr bwMode="auto">
            <a:xfrm rot="16200000" flipH="1">
              <a:off x="3336" y="1224"/>
              <a:ext cx="336" cy="672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5796" name="Text Box 15">
              <a:extLst>
                <a:ext uri="{FF2B5EF4-FFF2-40B4-BE49-F238E27FC236}">
                  <a16:creationId xmlns:a16="http://schemas.microsoft.com/office/drawing/2014/main" id="{8AE7911C-143C-4EE7-966E-FE2C26060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008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start</a:t>
              </a:r>
            </a:p>
          </p:txBody>
        </p:sp>
        <p:sp>
          <p:nvSpPr>
            <p:cNvPr id="75797" name="Text Box 16">
              <a:extLst>
                <a:ext uri="{FF2B5EF4-FFF2-40B4-BE49-F238E27FC236}">
                  <a16:creationId xmlns:a16="http://schemas.microsoft.com/office/drawing/2014/main" id="{4E9C1D1B-82F2-4653-8570-F6006053A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392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other</a:t>
              </a:r>
            </a:p>
          </p:txBody>
        </p:sp>
        <p:sp>
          <p:nvSpPr>
            <p:cNvPr id="75798" name="Text Box 17">
              <a:extLst>
                <a:ext uri="{FF2B5EF4-FFF2-40B4-BE49-F238E27FC236}">
                  <a16:creationId xmlns:a16="http://schemas.microsoft.com/office/drawing/2014/main" id="{9A34941B-0C11-43F1-8CE7-182FB20800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03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=</a:t>
              </a:r>
            </a:p>
          </p:txBody>
        </p:sp>
        <p:sp>
          <p:nvSpPr>
            <p:cNvPr id="75799" name="Text Box 18">
              <a:extLst>
                <a:ext uri="{FF2B5EF4-FFF2-40B4-BE49-F238E27FC236}">
                  <a16:creationId xmlns:a16="http://schemas.microsoft.com/office/drawing/2014/main" id="{97C6A285-4434-46C3-BC1C-CAB1662A3E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03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&gt;</a:t>
              </a:r>
            </a:p>
          </p:txBody>
        </p:sp>
        <p:sp>
          <p:nvSpPr>
            <p:cNvPr id="75800" name="Text Box 19">
              <a:extLst>
                <a:ext uri="{FF2B5EF4-FFF2-40B4-BE49-F238E27FC236}">
                  <a16:creationId xmlns:a16="http://schemas.microsoft.com/office/drawing/2014/main" id="{9CFCA8B2-C455-47E0-B5D3-4D8516147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10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0</a:t>
              </a:r>
            </a:p>
          </p:txBody>
        </p:sp>
        <p:sp>
          <p:nvSpPr>
            <p:cNvPr id="75801" name="Text Box 20">
              <a:extLst>
                <a:ext uri="{FF2B5EF4-FFF2-40B4-BE49-F238E27FC236}">
                  <a16:creationId xmlns:a16="http://schemas.microsoft.com/office/drawing/2014/main" id="{070200BE-F26F-402C-80F9-8C9F1BB85A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10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6</a:t>
              </a:r>
            </a:p>
          </p:txBody>
        </p:sp>
        <p:sp>
          <p:nvSpPr>
            <p:cNvPr id="75802" name="Text Box 21">
              <a:extLst>
                <a:ext uri="{FF2B5EF4-FFF2-40B4-BE49-F238E27FC236}">
                  <a16:creationId xmlns:a16="http://schemas.microsoft.com/office/drawing/2014/main" id="{ECD1C02B-3DF9-4810-9670-4FD577C46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10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7</a:t>
              </a:r>
            </a:p>
          </p:txBody>
        </p:sp>
        <p:sp>
          <p:nvSpPr>
            <p:cNvPr id="75803" name="Text Box 22">
              <a:extLst>
                <a:ext uri="{FF2B5EF4-FFF2-40B4-BE49-F238E27FC236}">
                  <a16:creationId xmlns:a16="http://schemas.microsoft.com/office/drawing/2014/main" id="{FC412FB9-486D-43DC-A33C-700D890E6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584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8</a:t>
              </a:r>
            </a:p>
          </p:txBody>
        </p:sp>
      </p:grpSp>
      <p:sp>
        <p:nvSpPr>
          <p:cNvPr id="75780" name="Text Box 23">
            <a:extLst>
              <a:ext uri="{FF2B5EF4-FFF2-40B4-BE49-F238E27FC236}">
                <a16:creationId xmlns:a16="http://schemas.microsoft.com/office/drawing/2014/main" id="{90BBC245-E90F-4747-B481-13C80D3DED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4384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*</a:t>
            </a:r>
          </a:p>
        </p:txBody>
      </p:sp>
      <p:sp>
        <p:nvSpPr>
          <p:cNvPr id="75781" name="Text Box 24">
            <a:extLst>
              <a:ext uri="{FF2B5EF4-FFF2-40B4-BE49-F238E27FC236}">
                <a16:creationId xmlns:a16="http://schemas.microsoft.com/office/drawing/2014/main" id="{614DC7D6-B7A9-445A-A073-CAA46A002D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5146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FF3300"/>
                </a:solidFill>
              </a:rPr>
              <a:t>return(G)</a:t>
            </a:r>
          </a:p>
        </p:txBody>
      </p:sp>
      <p:sp>
        <p:nvSpPr>
          <p:cNvPr id="75782" name="Text Box 25">
            <a:extLst>
              <a:ext uri="{FF2B5EF4-FFF2-40B4-BE49-F238E27FC236}">
                <a16:creationId xmlns:a16="http://schemas.microsoft.com/office/drawing/2014/main" id="{3A4BDE82-9EAC-49C1-A5D4-BE7F67640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1676400"/>
            <a:ext cx="1789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FF3300"/>
                </a:solidFill>
              </a:rPr>
              <a:t>return(GE)</a:t>
            </a:r>
          </a:p>
        </p:txBody>
      </p:sp>
      <p:sp>
        <p:nvSpPr>
          <p:cNvPr id="75783" name="Text Box 26">
            <a:extLst>
              <a:ext uri="{FF2B5EF4-FFF2-40B4-BE49-F238E27FC236}">
                <a16:creationId xmlns:a16="http://schemas.microsoft.com/office/drawing/2014/main" id="{BF25917F-88FA-418F-BC06-A3CCC08E4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5240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u="sng">
                <a:solidFill>
                  <a:srgbClr val="3333CC"/>
                </a:solidFill>
              </a:rPr>
              <a:t>&gt; = :</a:t>
            </a:r>
          </a:p>
        </p:txBody>
      </p:sp>
      <p:sp>
        <p:nvSpPr>
          <p:cNvPr id="75784" name="Text Box 27">
            <a:extLst>
              <a:ext uri="{FF2B5EF4-FFF2-40B4-BE49-F238E27FC236}">
                <a16:creationId xmlns:a16="http://schemas.microsoft.com/office/drawing/2014/main" id="{20AFC6EF-8AD2-474B-A690-17FCF2716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648200"/>
            <a:ext cx="7162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dirty="0">
                <a:solidFill>
                  <a:srgbClr val="3333CC"/>
                </a:solidFill>
              </a:rPr>
              <a:t>已经接受“</a:t>
            </a:r>
            <a:r>
              <a:rPr kumimoji="0" lang="en-US" altLang="zh-CN" sz="2400" dirty="0">
                <a:solidFill>
                  <a:srgbClr val="3333CC"/>
                </a:solidFill>
              </a:rPr>
              <a:t>&gt;</a:t>
            </a:r>
            <a:r>
              <a:rPr kumimoji="0" lang="zh-CN" altLang="en-US" sz="2400" dirty="0">
                <a:solidFill>
                  <a:srgbClr val="3333CC"/>
                </a:solidFill>
              </a:rPr>
              <a:t>”，且已经多读取一个其他符号，需退回这个符号</a:t>
            </a:r>
          </a:p>
        </p:txBody>
      </p:sp>
      <p:cxnSp>
        <p:nvCxnSpPr>
          <p:cNvPr id="75785" name="AutoShape 28">
            <a:extLst>
              <a:ext uri="{FF2B5EF4-FFF2-40B4-BE49-F238E27FC236}">
                <a16:creationId xmlns:a16="http://schemas.microsoft.com/office/drawing/2014/main" id="{60484227-1A20-47AB-BCB9-D74A7B68627D}"/>
              </a:ext>
            </a:extLst>
          </p:cNvPr>
          <p:cNvCxnSpPr>
            <a:cxnSpLocks noChangeShapeType="1"/>
            <a:endCxn id="75784" idx="0"/>
          </p:cNvCxnSpPr>
          <p:nvPr/>
        </p:nvCxnSpPr>
        <p:spPr bwMode="auto">
          <a:xfrm rot="5400000">
            <a:off x="4724400" y="2743200"/>
            <a:ext cx="1981200" cy="1828800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3333CC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E01F9B5E-3A3A-4A5F-8F47-F9471BAA2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3.7</a:t>
            </a:r>
            <a:r>
              <a:rPr lang="zh-CN" altLang="en-US"/>
              <a:t>：所有关系运算符</a:t>
            </a:r>
          </a:p>
        </p:txBody>
      </p:sp>
      <p:grpSp>
        <p:nvGrpSpPr>
          <p:cNvPr id="76803" name="Group 61">
            <a:extLst>
              <a:ext uri="{FF2B5EF4-FFF2-40B4-BE49-F238E27FC236}">
                <a16:creationId xmlns:a16="http://schemas.microsoft.com/office/drawing/2014/main" id="{D497B817-DF36-473B-BE57-48AE2613C7FD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371600"/>
            <a:ext cx="7162800" cy="4648200"/>
            <a:chOff x="816" y="864"/>
            <a:chExt cx="4512" cy="2928"/>
          </a:xfrm>
        </p:grpSpPr>
        <p:sp>
          <p:nvSpPr>
            <p:cNvPr id="76804" name="Line 5">
              <a:extLst>
                <a:ext uri="{FF2B5EF4-FFF2-40B4-BE49-F238E27FC236}">
                  <a16:creationId xmlns:a16="http://schemas.microsoft.com/office/drawing/2014/main" id="{02A689C4-EB41-499E-A4ED-300194863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104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05" name="Oval 6">
              <a:extLst>
                <a:ext uri="{FF2B5EF4-FFF2-40B4-BE49-F238E27FC236}">
                  <a16:creationId xmlns:a16="http://schemas.microsoft.com/office/drawing/2014/main" id="{183D6E10-5E89-4C6E-851F-0389501963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960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6806" name="Line 7">
              <a:extLst>
                <a:ext uri="{FF2B5EF4-FFF2-40B4-BE49-F238E27FC236}">
                  <a16:creationId xmlns:a16="http://schemas.microsoft.com/office/drawing/2014/main" id="{8B3513E0-7F2A-4B82-BE14-9DBAA6AA95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104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807" name="Text Box 8">
              <a:extLst>
                <a:ext uri="{FF2B5EF4-FFF2-40B4-BE49-F238E27FC236}">
                  <a16:creationId xmlns:a16="http://schemas.microsoft.com/office/drawing/2014/main" id="{73552FA4-E726-4277-8F30-A8B31EA38B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864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dirty="0"/>
                <a:t>start</a:t>
              </a:r>
            </a:p>
          </p:txBody>
        </p:sp>
        <p:sp>
          <p:nvSpPr>
            <p:cNvPr id="76808" name="Text Box 9">
              <a:extLst>
                <a:ext uri="{FF2B5EF4-FFF2-40B4-BE49-F238E27FC236}">
                  <a16:creationId xmlns:a16="http://schemas.microsoft.com/office/drawing/2014/main" id="{F7ED683D-876E-4012-85DE-CE9FB23D1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86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&lt;</a:t>
              </a:r>
            </a:p>
          </p:txBody>
        </p:sp>
        <p:sp>
          <p:nvSpPr>
            <p:cNvPr id="76809" name="Text Box 10">
              <a:extLst>
                <a:ext uri="{FF2B5EF4-FFF2-40B4-BE49-F238E27FC236}">
                  <a16:creationId xmlns:a16="http://schemas.microsoft.com/office/drawing/2014/main" id="{6ED0D8ED-6629-4E7B-B1D4-5F83850FA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96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dirty="0"/>
                <a:t>0</a:t>
              </a:r>
            </a:p>
          </p:txBody>
        </p:sp>
        <p:sp>
          <p:nvSpPr>
            <p:cNvPr id="76810" name="Oval 11">
              <a:extLst>
                <a:ext uri="{FF2B5EF4-FFF2-40B4-BE49-F238E27FC236}">
                  <a16:creationId xmlns:a16="http://schemas.microsoft.com/office/drawing/2014/main" id="{BFCF48F4-6B50-45ED-873E-09D3BD59E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345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6811" name="Oval 12">
              <a:extLst>
                <a:ext uri="{FF2B5EF4-FFF2-40B4-BE49-F238E27FC236}">
                  <a16:creationId xmlns:a16="http://schemas.microsoft.com/office/drawing/2014/main" id="{97BF923C-A4FF-4ECE-978D-41A139D1F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504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6812" name="Line 13">
              <a:extLst>
                <a:ext uri="{FF2B5EF4-FFF2-40B4-BE49-F238E27FC236}">
                  <a16:creationId xmlns:a16="http://schemas.microsoft.com/office/drawing/2014/main" id="{EF38B397-0771-4362-9683-FDDDBF2DEC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3120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76813" name="AutoShape 14">
              <a:extLst>
                <a:ext uri="{FF2B5EF4-FFF2-40B4-BE49-F238E27FC236}">
                  <a16:creationId xmlns:a16="http://schemas.microsoft.com/office/drawing/2014/main" id="{AC8487B4-1ED8-4BA5-B1DA-4342C26F17A1}"/>
                </a:ext>
              </a:extLst>
            </p:cNvPr>
            <p:cNvCxnSpPr>
              <a:cxnSpLocks noChangeShapeType="1"/>
              <a:stCxn id="76816" idx="4"/>
              <a:endCxn id="76810" idx="2"/>
            </p:cNvCxnSpPr>
            <p:nvPr/>
          </p:nvCxnSpPr>
          <p:spPr bwMode="auto">
            <a:xfrm rot="16200000" flipH="1">
              <a:off x="2664" y="3096"/>
              <a:ext cx="336" cy="672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6814" name="Text Box 15">
              <a:extLst>
                <a:ext uri="{FF2B5EF4-FFF2-40B4-BE49-F238E27FC236}">
                  <a16:creationId xmlns:a16="http://schemas.microsoft.com/office/drawing/2014/main" id="{4B77D286-3692-474D-99FA-3E2CDC7D0A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264"/>
              <a:ext cx="6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other</a:t>
              </a:r>
            </a:p>
          </p:txBody>
        </p:sp>
        <p:sp>
          <p:nvSpPr>
            <p:cNvPr id="76815" name="Text Box 16">
              <a:extLst>
                <a:ext uri="{FF2B5EF4-FFF2-40B4-BE49-F238E27FC236}">
                  <a16:creationId xmlns:a16="http://schemas.microsoft.com/office/drawing/2014/main" id="{167CEB9B-5967-42CC-AA41-7188C66C13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928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=</a:t>
              </a:r>
            </a:p>
          </p:txBody>
        </p:sp>
        <p:sp>
          <p:nvSpPr>
            <p:cNvPr id="76816" name="Oval 18">
              <a:extLst>
                <a:ext uri="{FF2B5EF4-FFF2-40B4-BE49-F238E27FC236}">
                  <a16:creationId xmlns:a16="http://schemas.microsoft.com/office/drawing/2014/main" id="{CF245519-881E-4F02-B419-26E3E1DE1B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97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6817" name="Text Box 19">
              <a:extLst>
                <a:ext uri="{FF2B5EF4-FFF2-40B4-BE49-F238E27FC236}">
                  <a16:creationId xmlns:a16="http://schemas.microsoft.com/office/drawing/2014/main" id="{7E21E0D9-E5CF-424C-BCC6-2E3E88601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97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6</a:t>
              </a:r>
            </a:p>
          </p:txBody>
        </p:sp>
        <p:sp>
          <p:nvSpPr>
            <p:cNvPr id="76818" name="Oval 21">
              <a:extLst>
                <a:ext uri="{FF2B5EF4-FFF2-40B4-BE49-F238E27FC236}">
                  <a16:creationId xmlns:a16="http://schemas.microsoft.com/office/drawing/2014/main" id="{A7C237D2-6BA3-49CF-8D97-E02FA856C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97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6819" name="Oval 22">
              <a:extLst>
                <a:ext uri="{FF2B5EF4-FFF2-40B4-BE49-F238E27FC236}">
                  <a16:creationId xmlns:a16="http://schemas.microsoft.com/office/drawing/2014/main" id="{B78D9A7C-9C47-4885-BB0A-EF1B6D4C8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3024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6820" name="Text Box 23">
              <a:extLst>
                <a:ext uri="{FF2B5EF4-FFF2-40B4-BE49-F238E27FC236}">
                  <a16:creationId xmlns:a16="http://schemas.microsoft.com/office/drawing/2014/main" id="{42CAFACF-2ED2-4E81-84B7-E1EF24846B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97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7</a:t>
              </a:r>
            </a:p>
          </p:txBody>
        </p:sp>
        <p:sp>
          <p:nvSpPr>
            <p:cNvPr id="76821" name="Text Box 24">
              <a:extLst>
                <a:ext uri="{FF2B5EF4-FFF2-40B4-BE49-F238E27FC236}">
                  <a16:creationId xmlns:a16="http://schemas.microsoft.com/office/drawing/2014/main" id="{6CAE3BA4-BC04-447B-98B0-61EC8D878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456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8</a:t>
              </a:r>
            </a:p>
          </p:txBody>
        </p:sp>
        <p:sp>
          <p:nvSpPr>
            <p:cNvPr id="76822" name="Text Box 25">
              <a:extLst>
                <a:ext uri="{FF2B5EF4-FFF2-40B4-BE49-F238E27FC236}">
                  <a16:creationId xmlns:a16="http://schemas.microsoft.com/office/drawing/2014/main" id="{22D985CD-B6EC-46E4-A295-BD8261E8AB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008"/>
              <a:ext cx="16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return(</a:t>
              </a:r>
              <a:r>
                <a:rPr kumimoji="0" lang="en-US" altLang="zh-CN" sz="2400"/>
                <a:t>relop</a:t>
              </a:r>
              <a:r>
                <a:rPr kumimoji="0" lang="en-US" altLang="zh-CN" sz="2400">
                  <a:solidFill>
                    <a:srgbClr val="FF3300"/>
                  </a:solidFill>
                </a:rPr>
                <a:t>, </a:t>
              </a:r>
              <a:r>
                <a:rPr kumimoji="0" lang="en-US" altLang="zh-CN" sz="2400"/>
                <a:t>LE</a:t>
              </a:r>
              <a:r>
                <a:rPr kumimoji="0" lang="en-US" altLang="zh-CN" sz="2400">
                  <a:solidFill>
                    <a:srgbClr val="FF3300"/>
                  </a:solidFill>
                </a:rPr>
                <a:t>)</a:t>
              </a:r>
            </a:p>
          </p:txBody>
        </p:sp>
        <p:sp>
          <p:nvSpPr>
            <p:cNvPr id="76823" name="Oval 27">
              <a:extLst>
                <a:ext uri="{FF2B5EF4-FFF2-40B4-BE49-F238E27FC236}">
                  <a16:creationId xmlns:a16="http://schemas.microsoft.com/office/drawing/2014/main" id="{45FDEE41-5EF8-4039-9701-03EA7FEE5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35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6824" name="Oval 28">
              <a:extLst>
                <a:ext uri="{FF2B5EF4-FFF2-40B4-BE49-F238E27FC236}">
                  <a16:creationId xmlns:a16="http://schemas.microsoft.com/office/drawing/2014/main" id="{8233CA59-3FD5-4362-A4CD-446D507CD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400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6825" name="Text Box 29">
              <a:extLst>
                <a:ext uri="{FF2B5EF4-FFF2-40B4-BE49-F238E27FC236}">
                  <a16:creationId xmlns:a16="http://schemas.microsoft.com/office/drawing/2014/main" id="{29F0EECB-F663-4B2F-A31E-176848A0F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352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5</a:t>
              </a:r>
            </a:p>
          </p:txBody>
        </p:sp>
        <p:sp>
          <p:nvSpPr>
            <p:cNvPr id="76826" name="Oval 31">
              <a:extLst>
                <a:ext uri="{FF2B5EF4-FFF2-40B4-BE49-F238E27FC236}">
                  <a16:creationId xmlns:a16="http://schemas.microsoft.com/office/drawing/2014/main" id="{66EB835B-E77C-4060-A8C3-390951731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968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6827" name="Oval 32">
              <a:extLst>
                <a:ext uri="{FF2B5EF4-FFF2-40B4-BE49-F238E27FC236}">
                  <a16:creationId xmlns:a16="http://schemas.microsoft.com/office/drawing/2014/main" id="{F3B2CFF5-AF5E-486B-A19A-9D72D8A78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016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6828" name="Text Box 33">
              <a:extLst>
                <a:ext uri="{FF2B5EF4-FFF2-40B4-BE49-F238E27FC236}">
                  <a16:creationId xmlns:a16="http://schemas.microsoft.com/office/drawing/2014/main" id="{075909A4-E6DF-4358-8D83-C44BB5D0A1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968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4</a:t>
              </a:r>
            </a:p>
          </p:txBody>
        </p:sp>
        <p:sp>
          <p:nvSpPr>
            <p:cNvPr id="76829" name="Oval 34">
              <a:extLst>
                <a:ext uri="{FF2B5EF4-FFF2-40B4-BE49-F238E27FC236}">
                  <a16:creationId xmlns:a16="http://schemas.microsoft.com/office/drawing/2014/main" id="{EBF1B74B-3579-43A7-9A9F-02D0BDDD9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1440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6830" name="Oval 35">
              <a:extLst>
                <a:ext uri="{FF2B5EF4-FFF2-40B4-BE49-F238E27FC236}">
                  <a16:creationId xmlns:a16="http://schemas.microsoft.com/office/drawing/2014/main" id="{B4867DD3-A0F2-4AB4-A825-C24B8A22FF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488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6831" name="Line 36">
              <a:extLst>
                <a:ext uri="{FF2B5EF4-FFF2-40B4-BE49-F238E27FC236}">
                  <a16:creationId xmlns:a16="http://schemas.microsoft.com/office/drawing/2014/main" id="{9A4122AF-1CC7-490D-820E-BB82F89BB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104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76832" name="AutoShape 37">
              <a:extLst>
                <a:ext uri="{FF2B5EF4-FFF2-40B4-BE49-F238E27FC236}">
                  <a16:creationId xmlns:a16="http://schemas.microsoft.com/office/drawing/2014/main" id="{042F59F4-C32B-4688-9A39-BEE6A5D5EBC9}"/>
                </a:ext>
              </a:extLst>
            </p:cNvPr>
            <p:cNvCxnSpPr>
              <a:cxnSpLocks noChangeShapeType="1"/>
              <a:stCxn id="76835" idx="4"/>
              <a:endCxn id="76829" idx="2"/>
            </p:cNvCxnSpPr>
            <p:nvPr/>
          </p:nvCxnSpPr>
          <p:spPr bwMode="auto">
            <a:xfrm rot="16200000" flipH="1">
              <a:off x="2664" y="1080"/>
              <a:ext cx="336" cy="672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6833" name="Text Box 38">
              <a:extLst>
                <a:ext uri="{FF2B5EF4-FFF2-40B4-BE49-F238E27FC236}">
                  <a16:creationId xmlns:a16="http://schemas.microsoft.com/office/drawing/2014/main" id="{52401169-54ED-42C1-80DF-016241A91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29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&gt;</a:t>
              </a:r>
            </a:p>
          </p:txBody>
        </p:sp>
        <p:sp>
          <p:nvSpPr>
            <p:cNvPr id="76834" name="Text Box 39">
              <a:extLst>
                <a:ext uri="{FF2B5EF4-FFF2-40B4-BE49-F238E27FC236}">
                  <a16:creationId xmlns:a16="http://schemas.microsoft.com/office/drawing/2014/main" id="{BB72616D-62F1-4740-85FC-C40B7AC8E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864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=</a:t>
              </a:r>
            </a:p>
          </p:txBody>
        </p:sp>
        <p:sp>
          <p:nvSpPr>
            <p:cNvPr id="76835" name="Oval 41">
              <a:extLst>
                <a:ext uri="{FF2B5EF4-FFF2-40B4-BE49-F238E27FC236}">
                  <a16:creationId xmlns:a16="http://schemas.microsoft.com/office/drawing/2014/main" id="{D38A7D7F-5193-485B-9832-19B735D264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960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6836" name="Text Box 42">
              <a:extLst>
                <a:ext uri="{FF2B5EF4-FFF2-40B4-BE49-F238E27FC236}">
                  <a16:creationId xmlns:a16="http://schemas.microsoft.com/office/drawing/2014/main" id="{E3D03327-C9E5-45FC-9FD7-271EF21ECE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96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</a:t>
              </a:r>
            </a:p>
          </p:txBody>
        </p:sp>
        <p:sp>
          <p:nvSpPr>
            <p:cNvPr id="76837" name="Oval 44">
              <a:extLst>
                <a:ext uri="{FF2B5EF4-FFF2-40B4-BE49-F238E27FC236}">
                  <a16:creationId xmlns:a16="http://schemas.microsoft.com/office/drawing/2014/main" id="{9A953719-858A-4EA3-9384-1EB3594D4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960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6838" name="Oval 45">
              <a:extLst>
                <a:ext uri="{FF2B5EF4-FFF2-40B4-BE49-F238E27FC236}">
                  <a16:creationId xmlns:a16="http://schemas.microsoft.com/office/drawing/2014/main" id="{BDC7CF46-3791-4864-BA29-D5B027E8F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008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6839" name="Text Box 46">
              <a:extLst>
                <a:ext uri="{FF2B5EF4-FFF2-40B4-BE49-F238E27FC236}">
                  <a16:creationId xmlns:a16="http://schemas.microsoft.com/office/drawing/2014/main" id="{0623D8E0-BCDD-4AE7-9E07-8E33BF4C0C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96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2</a:t>
              </a:r>
            </a:p>
          </p:txBody>
        </p:sp>
        <p:sp>
          <p:nvSpPr>
            <p:cNvPr id="76840" name="Text Box 47">
              <a:extLst>
                <a:ext uri="{FF2B5EF4-FFF2-40B4-BE49-F238E27FC236}">
                  <a16:creationId xmlns:a16="http://schemas.microsoft.com/office/drawing/2014/main" id="{D1FF6DDA-CC06-48A8-8236-B2DA510E0A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144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3</a:t>
              </a:r>
            </a:p>
          </p:txBody>
        </p:sp>
        <p:cxnSp>
          <p:nvCxnSpPr>
            <p:cNvPr id="76841" name="AutoShape 48">
              <a:extLst>
                <a:ext uri="{FF2B5EF4-FFF2-40B4-BE49-F238E27FC236}">
                  <a16:creationId xmlns:a16="http://schemas.microsoft.com/office/drawing/2014/main" id="{D2D95397-BF7F-418F-92EE-79E65A584C12}"/>
                </a:ext>
              </a:extLst>
            </p:cNvPr>
            <p:cNvCxnSpPr>
              <a:cxnSpLocks noChangeShapeType="1"/>
              <a:stCxn id="76835" idx="4"/>
              <a:endCxn id="76826" idx="2"/>
            </p:cNvCxnSpPr>
            <p:nvPr/>
          </p:nvCxnSpPr>
          <p:spPr bwMode="auto">
            <a:xfrm rot="16200000" flipH="1">
              <a:off x="2400" y="1344"/>
              <a:ext cx="864" cy="672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842" name="AutoShape 49">
              <a:extLst>
                <a:ext uri="{FF2B5EF4-FFF2-40B4-BE49-F238E27FC236}">
                  <a16:creationId xmlns:a16="http://schemas.microsoft.com/office/drawing/2014/main" id="{8723661F-530C-444A-81FA-17CBE3BCA420}"/>
                </a:ext>
              </a:extLst>
            </p:cNvPr>
            <p:cNvCxnSpPr>
              <a:cxnSpLocks noChangeShapeType="1"/>
              <a:endCxn id="76823" idx="2"/>
            </p:cNvCxnSpPr>
            <p:nvPr/>
          </p:nvCxnSpPr>
          <p:spPr bwMode="auto">
            <a:xfrm rot="16200000" flipH="1">
              <a:off x="1344" y="1488"/>
              <a:ext cx="1248" cy="768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843" name="AutoShape 50">
              <a:extLst>
                <a:ext uri="{FF2B5EF4-FFF2-40B4-BE49-F238E27FC236}">
                  <a16:creationId xmlns:a16="http://schemas.microsoft.com/office/drawing/2014/main" id="{B15FC57F-9E40-4ECB-ABAE-8B2975527ECD}"/>
                </a:ext>
              </a:extLst>
            </p:cNvPr>
            <p:cNvCxnSpPr>
              <a:cxnSpLocks noChangeShapeType="1"/>
              <a:stCxn id="76805" idx="4"/>
              <a:endCxn id="76816" idx="2"/>
            </p:cNvCxnSpPr>
            <p:nvPr/>
          </p:nvCxnSpPr>
          <p:spPr bwMode="auto">
            <a:xfrm rot="16200000" flipH="1">
              <a:off x="1032" y="1800"/>
              <a:ext cx="1872" cy="768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6844" name="Text Box 51">
              <a:extLst>
                <a:ext uri="{FF2B5EF4-FFF2-40B4-BE49-F238E27FC236}">
                  <a16:creationId xmlns:a16="http://schemas.microsoft.com/office/drawing/2014/main" id="{739A6295-0D96-4864-B749-608B2AD8A3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728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other</a:t>
              </a:r>
            </a:p>
          </p:txBody>
        </p:sp>
        <p:sp>
          <p:nvSpPr>
            <p:cNvPr id="76845" name="Text Box 52">
              <a:extLst>
                <a:ext uri="{FF2B5EF4-FFF2-40B4-BE49-F238E27FC236}">
                  <a16:creationId xmlns:a16="http://schemas.microsoft.com/office/drawing/2014/main" id="{FF91813C-4C13-41DE-861B-2976F2C6DC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592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&gt;</a:t>
              </a:r>
            </a:p>
          </p:txBody>
        </p:sp>
        <p:sp>
          <p:nvSpPr>
            <p:cNvPr id="76846" name="Text Box 53">
              <a:extLst>
                <a:ext uri="{FF2B5EF4-FFF2-40B4-BE49-F238E27FC236}">
                  <a16:creationId xmlns:a16="http://schemas.microsoft.com/office/drawing/2014/main" id="{823C2817-B599-4691-B502-8E2794E1C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01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=</a:t>
              </a:r>
            </a:p>
          </p:txBody>
        </p:sp>
        <p:sp>
          <p:nvSpPr>
            <p:cNvPr id="76847" name="Text Box 54">
              <a:extLst>
                <a:ext uri="{FF2B5EF4-FFF2-40B4-BE49-F238E27FC236}">
                  <a16:creationId xmlns:a16="http://schemas.microsoft.com/office/drawing/2014/main" id="{FBBFFC89-4C0B-49B2-A29B-5FC25002D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408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*</a:t>
              </a:r>
            </a:p>
          </p:txBody>
        </p:sp>
        <p:sp>
          <p:nvSpPr>
            <p:cNvPr id="76848" name="Text Box 55">
              <a:extLst>
                <a:ext uri="{FF2B5EF4-FFF2-40B4-BE49-F238E27FC236}">
                  <a16:creationId xmlns:a16="http://schemas.microsoft.com/office/drawing/2014/main" id="{D2E023CD-91D5-4114-AC9C-B73363851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192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*</a:t>
              </a:r>
            </a:p>
          </p:txBody>
        </p:sp>
        <p:sp>
          <p:nvSpPr>
            <p:cNvPr id="76849" name="Text Box 56">
              <a:extLst>
                <a:ext uri="{FF2B5EF4-FFF2-40B4-BE49-F238E27FC236}">
                  <a16:creationId xmlns:a16="http://schemas.microsoft.com/office/drawing/2014/main" id="{B82E22E5-573C-4D37-B443-24AA5D1C41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488"/>
              <a:ext cx="16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dirty="0">
                  <a:solidFill>
                    <a:srgbClr val="FF3300"/>
                  </a:solidFill>
                </a:rPr>
                <a:t>return(</a:t>
              </a:r>
              <a:r>
                <a:rPr kumimoji="0" lang="en-US" altLang="zh-CN" sz="2400" dirty="0" err="1"/>
                <a:t>relop</a:t>
              </a:r>
              <a:r>
                <a:rPr kumimoji="0" lang="en-US" altLang="zh-CN" sz="2400" dirty="0">
                  <a:solidFill>
                    <a:srgbClr val="FF3300"/>
                  </a:solidFill>
                </a:rPr>
                <a:t>, </a:t>
              </a:r>
              <a:r>
                <a:rPr kumimoji="0" lang="en-US" altLang="zh-CN" sz="2400" dirty="0"/>
                <a:t>NE</a:t>
              </a:r>
              <a:r>
                <a:rPr kumimoji="0" lang="en-US" altLang="zh-CN" sz="2400" dirty="0">
                  <a:solidFill>
                    <a:srgbClr val="FF3300"/>
                  </a:solidFill>
                </a:rPr>
                <a:t>)</a:t>
              </a:r>
            </a:p>
          </p:txBody>
        </p:sp>
        <p:sp>
          <p:nvSpPr>
            <p:cNvPr id="76850" name="Text Box 57">
              <a:extLst>
                <a:ext uri="{FF2B5EF4-FFF2-40B4-BE49-F238E27FC236}">
                  <a16:creationId xmlns:a16="http://schemas.microsoft.com/office/drawing/2014/main" id="{67BE2952-4393-4571-978A-2A447E1B3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016"/>
              <a:ext cx="16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return(</a:t>
              </a:r>
              <a:r>
                <a:rPr kumimoji="0" lang="en-US" altLang="zh-CN" sz="2400"/>
                <a:t>relop</a:t>
              </a:r>
              <a:r>
                <a:rPr kumimoji="0" lang="en-US" altLang="zh-CN" sz="2400">
                  <a:solidFill>
                    <a:srgbClr val="FF3300"/>
                  </a:solidFill>
                </a:rPr>
                <a:t>, </a:t>
              </a:r>
              <a:r>
                <a:rPr kumimoji="0" lang="en-US" altLang="zh-CN" sz="2400"/>
                <a:t>LT</a:t>
              </a:r>
              <a:r>
                <a:rPr kumimoji="0" lang="en-US" altLang="zh-CN" sz="2400">
                  <a:solidFill>
                    <a:srgbClr val="FF3300"/>
                  </a:solidFill>
                </a:rPr>
                <a:t>)</a:t>
              </a:r>
            </a:p>
          </p:txBody>
        </p:sp>
        <p:sp>
          <p:nvSpPr>
            <p:cNvPr id="76851" name="Text Box 58">
              <a:extLst>
                <a:ext uri="{FF2B5EF4-FFF2-40B4-BE49-F238E27FC236}">
                  <a16:creationId xmlns:a16="http://schemas.microsoft.com/office/drawing/2014/main" id="{A0126AEC-E88B-4356-A458-465B666F37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2400"/>
              <a:ext cx="16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return(</a:t>
              </a:r>
              <a:r>
                <a:rPr kumimoji="0" lang="en-US" altLang="zh-CN" sz="2400"/>
                <a:t>relop</a:t>
              </a:r>
              <a:r>
                <a:rPr kumimoji="0" lang="en-US" altLang="zh-CN" sz="2400">
                  <a:solidFill>
                    <a:srgbClr val="FF3300"/>
                  </a:solidFill>
                </a:rPr>
                <a:t>, </a:t>
              </a:r>
              <a:r>
                <a:rPr kumimoji="0" lang="en-US" altLang="zh-CN" sz="2400"/>
                <a:t>EQ</a:t>
              </a:r>
              <a:r>
                <a:rPr kumimoji="0" lang="en-US" altLang="zh-CN" sz="2400">
                  <a:solidFill>
                    <a:srgbClr val="FF3300"/>
                  </a:solidFill>
                </a:rPr>
                <a:t>)</a:t>
              </a:r>
            </a:p>
          </p:txBody>
        </p:sp>
        <p:sp>
          <p:nvSpPr>
            <p:cNvPr id="76852" name="Text Box 59">
              <a:extLst>
                <a:ext uri="{FF2B5EF4-FFF2-40B4-BE49-F238E27FC236}">
                  <a16:creationId xmlns:a16="http://schemas.microsoft.com/office/drawing/2014/main" id="{0715B44E-824B-4A12-8DF6-F1244A1EF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024"/>
              <a:ext cx="16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return(</a:t>
              </a:r>
              <a:r>
                <a:rPr kumimoji="0" lang="en-US" altLang="zh-CN" sz="2400"/>
                <a:t>relop</a:t>
              </a:r>
              <a:r>
                <a:rPr kumimoji="0" lang="en-US" altLang="zh-CN" sz="2400">
                  <a:solidFill>
                    <a:srgbClr val="FF3300"/>
                  </a:solidFill>
                </a:rPr>
                <a:t>, </a:t>
              </a:r>
              <a:r>
                <a:rPr kumimoji="0" lang="en-US" altLang="zh-CN" sz="2400"/>
                <a:t>GE</a:t>
              </a:r>
              <a:r>
                <a:rPr kumimoji="0" lang="en-US" altLang="zh-CN" sz="2400">
                  <a:solidFill>
                    <a:srgbClr val="FF3300"/>
                  </a:solidFill>
                </a:rPr>
                <a:t>)</a:t>
              </a:r>
            </a:p>
          </p:txBody>
        </p:sp>
        <p:sp>
          <p:nvSpPr>
            <p:cNvPr id="76853" name="Text Box 60">
              <a:extLst>
                <a:ext uri="{FF2B5EF4-FFF2-40B4-BE49-F238E27FC236}">
                  <a16:creationId xmlns:a16="http://schemas.microsoft.com/office/drawing/2014/main" id="{94E3C53F-546D-48C0-BE12-A0BB4B3B5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504"/>
              <a:ext cx="16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return(</a:t>
              </a:r>
              <a:r>
                <a:rPr kumimoji="0" lang="en-US" altLang="zh-CN" sz="2400"/>
                <a:t>relop</a:t>
              </a:r>
              <a:r>
                <a:rPr kumimoji="0" lang="en-US" altLang="zh-CN" sz="2400">
                  <a:solidFill>
                    <a:srgbClr val="FF3300"/>
                  </a:solidFill>
                </a:rPr>
                <a:t>, </a:t>
              </a:r>
              <a:r>
                <a:rPr kumimoji="0" lang="en-US" altLang="zh-CN" sz="2400"/>
                <a:t>GT</a:t>
              </a:r>
              <a:r>
                <a:rPr kumimoji="0" lang="en-US" altLang="zh-CN" sz="2400">
                  <a:solidFill>
                    <a:srgbClr val="FF3300"/>
                  </a:solidFill>
                </a:rPr>
                <a:t>)</a:t>
              </a:r>
            </a:p>
          </p:txBody>
        </p:sp>
      </p:grpSp>
    </p:spTree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0684810F-BA53-41E4-9D84-8DA26103F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3.8</a:t>
            </a:r>
            <a:r>
              <a:rPr lang="zh-CN" altLang="en-US"/>
              <a:t>、</a:t>
            </a:r>
            <a:r>
              <a:rPr lang="en-US" altLang="zh-CN"/>
              <a:t>3.10</a:t>
            </a:r>
            <a:r>
              <a:rPr lang="zh-CN" altLang="en-US"/>
              <a:t>：标识符与分隔符</a:t>
            </a:r>
          </a:p>
        </p:txBody>
      </p:sp>
      <p:sp>
        <p:nvSpPr>
          <p:cNvPr id="77828" name="Text Box 4">
            <a:extLst>
              <a:ext uri="{FF2B5EF4-FFF2-40B4-BE49-F238E27FC236}">
                <a16:creationId xmlns:a16="http://schemas.microsoft.com/office/drawing/2014/main" id="{7930C03B-74F8-48B7-8D3C-242CF31615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14478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u="sng">
                <a:solidFill>
                  <a:srgbClr val="3333CC"/>
                </a:solidFill>
              </a:rPr>
              <a:t>id :</a:t>
            </a:r>
            <a:endParaRPr kumimoji="0" lang="en-US" altLang="zh-CN" sz="2400">
              <a:solidFill>
                <a:srgbClr val="3333CC"/>
              </a:solidFill>
            </a:endParaRPr>
          </a:p>
        </p:txBody>
      </p:sp>
      <p:sp>
        <p:nvSpPr>
          <p:cNvPr id="77829" name="Text Box 5">
            <a:extLst>
              <a:ext uri="{FF2B5EF4-FFF2-40B4-BE49-F238E27FC236}">
                <a16:creationId xmlns:a16="http://schemas.microsoft.com/office/drawing/2014/main" id="{D7CC45B4-BCB6-41DF-93A5-1628B9E40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5052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u="sng">
                <a:solidFill>
                  <a:srgbClr val="3333CC"/>
                </a:solidFill>
              </a:rPr>
              <a:t>delim :</a:t>
            </a:r>
            <a:endParaRPr kumimoji="0" lang="en-US" altLang="zh-CN" sz="2400">
              <a:solidFill>
                <a:srgbClr val="3333CC"/>
              </a:solidFill>
            </a:endParaRPr>
          </a:p>
        </p:txBody>
      </p:sp>
      <p:sp>
        <p:nvSpPr>
          <p:cNvPr id="77830" name="Line 7">
            <a:extLst>
              <a:ext uri="{FF2B5EF4-FFF2-40B4-BE49-F238E27FC236}">
                <a16:creationId xmlns:a16="http://schemas.microsoft.com/office/drawing/2014/main" id="{A577E9B8-530F-4441-9AB1-4E287B720C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45720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1" name="Oval 8">
            <a:extLst>
              <a:ext uri="{FF2B5EF4-FFF2-40B4-BE49-F238E27FC236}">
                <a16:creationId xmlns:a16="http://schemas.microsoft.com/office/drawing/2014/main" id="{BC6AC1AD-5187-4732-A3CC-E01D65E28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343400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77832" name="Line 9">
            <a:extLst>
              <a:ext uri="{FF2B5EF4-FFF2-40B4-BE49-F238E27FC236}">
                <a16:creationId xmlns:a16="http://schemas.microsoft.com/office/drawing/2014/main" id="{53A63DC6-E306-41AD-A82D-14D110644B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57600" y="45720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3" name="Text Box 10">
            <a:extLst>
              <a:ext uri="{FF2B5EF4-FFF2-40B4-BE49-F238E27FC236}">
                <a16:creationId xmlns:a16="http://schemas.microsoft.com/office/drawing/2014/main" id="{7EB77C80-1625-451C-B0F6-F8E5F3895C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1910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sp>
        <p:nvSpPr>
          <p:cNvPr id="77834" name="Text Box 11">
            <a:extLst>
              <a:ext uri="{FF2B5EF4-FFF2-40B4-BE49-F238E27FC236}">
                <a16:creationId xmlns:a16="http://schemas.microsoft.com/office/drawing/2014/main" id="{4BA0D716-746E-4321-A747-3B6FD5D13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4191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delim</a:t>
            </a:r>
          </a:p>
        </p:txBody>
      </p:sp>
      <p:sp>
        <p:nvSpPr>
          <p:cNvPr id="77835" name="Text Box 12">
            <a:extLst>
              <a:ext uri="{FF2B5EF4-FFF2-40B4-BE49-F238E27FC236}">
                <a16:creationId xmlns:a16="http://schemas.microsoft.com/office/drawing/2014/main" id="{2756CD14-067A-4A38-ACBA-FB164A132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4343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28</a:t>
            </a:r>
          </a:p>
        </p:txBody>
      </p:sp>
      <p:sp>
        <p:nvSpPr>
          <p:cNvPr id="77836" name="Line 13">
            <a:extLst>
              <a:ext uri="{FF2B5EF4-FFF2-40B4-BE49-F238E27FC236}">
                <a16:creationId xmlns:a16="http://schemas.microsoft.com/office/drawing/2014/main" id="{B7F284F8-3221-49AE-8375-687521B6A4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4572000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37" name="Text Box 14">
            <a:extLst>
              <a:ext uri="{FF2B5EF4-FFF2-40B4-BE49-F238E27FC236}">
                <a16:creationId xmlns:a16="http://schemas.microsoft.com/office/drawing/2014/main" id="{689474B8-B3D9-482F-B1AC-9AE86E825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191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other</a:t>
            </a:r>
          </a:p>
        </p:txBody>
      </p:sp>
      <p:sp>
        <p:nvSpPr>
          <p:cNvPr id="77838" name="Oval 16">
            <a:extLst>
              <a:ext uri="{FF2B5EF4-FFF2-40B4-BE49-F238E27FC236}">
                <a16:creationId xmlns:a16="http://schemas.microsoft.com/office/drawing/2014/main" id="{DC6C85E8-0733-491B-9ECF-2E40DE70F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343400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77839" name="Oval 17">
            <a:extLst>
              <a:ext uri="{FF2B5EF4-FFF2-40B4-BE49-F238E27FC236}">
                <a16:creationId xmlns:a16="http://schemas.microsoft.com/office/drawing/2014/main" id="{C631EF25-B751-445F-B391-63DE08AE1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4419600"/>
            <a:ext cx="304800" cy="304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77840" name="Text Box 18">
            <a:extLst>
              <a:ext uri="{FF2B5EF4-FFF2-40B4-BE49-F238E27FC236}">
                <a16:creationId xmlns:a16="http://schemas.microsoft.com/office/drawing/2014/main" id="{5716152E-21D3-43DC-B61B-20B779B5B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343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30</a:t>
            </a:r>
          </a:p>
        </p:txBody>
      </p:sp>
      <p:sp>
        <p:nvSpPr>
          <p:cNvPr id="77841" name="Oval 20">
            <a:extLst>
              <a:ext uri="{FF2B5EF4-FFF2-40B4-BE49-F238E27FC236}">
                <a16:creationId xmlns:a16="http://schemas.microsoft.com/office/drawing/2014/main" id="{4F57DBC4-96C6-41ED-A547-4BEDE2EC7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343400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77842" name="Text Box 21">
            <a:extLst>
              <a:ext uri="{FF2B5EF4-FFF2-40B4-BE49-F238E27FC236}">
                <a16:creationId xmlns:a16="http://schemas.microsoft.com/office/drawing/2014/main" id="{0455571B-016B-4DAB-8038-D48D6EC602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343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29</a:t>
            </a:r>
          </a:p>
        </p:txBody>
      </p:sp>
      <p:cxnSp>
        <p:nvCxnSpPr>
          <p:cNvPr id="77843" name="AutoShape 22">
            <a:extLst>
              <a:ext uri="{FF2B5EF4-FFF2-40B4-BE49-F238E27FC236}">
                <a16:creationId xmlns:a16="http://schemas.microsoft.com/office/drawing/2014/main" id="{F5C41F03-2B9C-499D-B239-3FC60827397C}"/>
              </a:ext>
            </a:extLst>
          </p:cNvPr>
          <p:cNvCxnSpPr>
            <a:cxnSpLocks noChangeShapeType="1"/>
            <a:stCxn id="77841" idx="7"/>
            <a:endCxn id="77842" idx="0"/>
          </p:cNvCxnSpPr>
          <p:nvPr/>
        </p:nvCxnSpPr>
        <p:spPr bwMode="auto">
          <a:xfrm rot="5400000" flipH="1">
            <a:off x="4924425" y="4295775"/>
            <a:ext cx="66675" cy="161925"/>
          </a:xfrm>
          <a:prstGeom prst="curvedConnector3">
            <a:avLst>
              <a:gd name="adj1" fmla="val 442856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844" name="Text Box 23">
            <a:extLst>
              <a:ext uri="{FF2B5EF4-FFF2-40B4-BE49-F238E27FC236}">
                <a16:creationId xmlns:a16="http://schemas.microsoft.com/office/drawing/2014/main" id="{42966002-BECF-4B23-BB82-67034FF01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8100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 err="1"/>
              <a:t>delim</a:t>
            </a:r>
            <a:endParaRPr kumimoji="0" lang="en-US" altLang="zh-CN" sz="2400" dirty="0"/>
          </a:p>
        </p:txBody>
      </p:sp>
      <p:sp>
        <p:nvSpPr>
          <p:cNvPr id="77845" name="Text Box 24">
            <a:extLst>
              <a:ext uri="{FF2B5EF4-FFF2-40B4-BE49-F238E27FC236}">
                <a16:creationId xmlns:a16="http://schemas.microsoft.com/office/drawing/2014/main" id="{4B1EF929-78FA-4387-8CE7-0F121624F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426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*</a:t>
            </a:r>
          </a:p>
        </p:txBody>
      </p:sp>
      <p:sp>
        <p:nvSpPr>
          <p:cNvPr id="77846" name="Text Box 25">
            <a:extLst>
              <a:ext uri="{FF2B5EF4-FFF2-40B4-BE49-F238E27FC236}">
                <a16:creationId xmlns:a16="http://schemas.microsoft.com/office/drawing/2014/main" id="{EC091B68-859E-43F3-9F06-FE0F09A1D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743200"/>
            <a:ext cx="464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>
                <a:solidFill>
                  <a:srgbClr val="FF3300"/>
                </a:solidFill>
              </a:rPr>
              <a:t>return</a:t>
            </a:r>
            <a:r>
              <a:rPr kumimoji="0" lang="en-US" altLang="zh-CN" sz="2400" dirty="0"/>
              <a:t>( </a:t>
            </a:r>
            <a:r>
              <a:rPr kumimoji="0" lang="en-US" altLang="zh-CN" sz="2400" dirty="0" err="1"/>
              <a:t>get_token</a:t>
            </a:r>
            <a:r>
              <a:rPr kumimoji="0" lang="en-US" altLang="zh-CN" sz="2400" dirty="0"/>
              <a:t>(), </a:t>
            </a:r>
            <a:r>
              <a:rPr kumimoji="0" lang="en-US" altLang="zh-CN" sz="2400" dirty="0" err="1"/>
              <a:t>install_id</a:t>
            </a:r>
            <a:r>
              <a:rPr kumimoji="0" lang="en-US" altLang="zh-CN" sz="2400" dirty="0"/>
              <a:t>())</a:t>
            </a:r>
          </a:p>
        </p:txBody>
      </p:sp>
      <p:sp>
        <p:nvSpPr>
          <p:cNvPr id="77847" name="Line 26">
            <a:extLst>
              <a:ext uri="{FF2B5EF4-FFF2-40B4-BE49-F238E27FC236}">
                <a16:creationId xmlns:a16="http://schemas.microsoft.com/office/drawing/2014/main" id="{BD4012ED-5522-45BD-94ED-75812E92484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4384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48" name="Oval 27">
            <a:extLst>
              <a:ext uri="{FF2B5EF4-FFF2-40B4-BE49-F238E27FC236}">
                <a16:creationId xmlns:a16="http://schemas.microsoft.com/office/drawing/2014/main" id="{BA37B34E-F042-4B44-9B15-E47B6895D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209800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77849" name="Line 28">
            <a:extLst>
              <a:ext uri="{FF2B5EF4-FFF2-40B4-BE49-F238E27FC236}">
                <a16:creationId xmlns:a16="http://schemas.microsoft.com/office/drawing/2014/main" id="{AD87D859-AC2D-49B6-8044-069BCE98A69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24384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50" name="Text Box 29">
            <a:extLst>
              <a:ext uri="{FF2B5EF4-FFF2-40B4-BE49-F238E27FC236}">
                <a16:creationId xmlns:a16="http://schemas.microsoft.com/office/drawing/2014/main" id="{28D095DF-9DFF-43A4-81DB-B56F940EC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0574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sp>
        <p:nvSpPr>
          <p:cNvPr id="77851" name="Text Box 30">
            <a:extLst>
              <a:ext uri="{FF2B5EF4-FFF2-40B4-BE49-F238E27FC236}">
                <a16:creationId xmlns:a16="http://schemas.microsoft.com/office/drawing/2014/main" id="{86F34483-D155-4CAD-B7A7-1C9FC21FB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0574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letter</a:t>
            </a:r>
          </a:p>
        </p:txBody>
      </p:sp>
      <p:sp>
        <p:nvSpPr>
          <p:cNvPr id="77852" name="Text Box 31">
            <a:extLst>
              <a:ext uri="{FF2B5EF4-FFF2-40B4-BE49-F238E27FC236}">
                <a16:creationId xmlns:a16="http://schemas.microsoft.com/office/drawing/2014/main" id="{F617AB06-4A2F-4C0B-959B-F1F4E39B9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209800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9</a:t>
            </a:r>
          </a:p>
        </p:txBody>
      </p:sp>
      <p:sp>
        <p:nvSpPr>
          <p:cNvPr id="77853" name="Line 32">
            <a:extLst>
              <a:ext uri="{FF2B5EF4-FFF2-40B4-BE49-F238E27FC236}">
                <a16:creationId xmlns:a16="http://schemas.microsoft.com/office/drawing/2014/main" id="{AB10F7E6-2F35-4CA2-B6F8-45E8669B25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438400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854" name="Text Box 33">
            <a:extLst>
              <a:ext uri="{FF2B5EF4-FFF2-40B4-BE49-F238E27FC236}">
                <a16:creationId xmlns:a16="http://schemas.microsoft.com/office/drawing/2014/main" id="{6FE8D5DC-882F-4A3C-8B9C-3CFE43191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0574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other</a:t>
            </a:r>
          </a:p>
        </p:txBody>
      </p:sp>
      <p:sp>
        <p:nvSpPr>
          <p:cNvPr id="77855" name="Oval 35">
            <a:extLst>
              <a:ext uri="{FF2B5EF4-FFF2-40B4-BE49-F238E27FC236}">
                <a16:creationId xmlns:a16="http://schemas.microsoft.com/office/drawing/2014/main" id="{D30459F7-EDA8-46F9-9CDD-8D5833554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209800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77856" name="Oval 36">
            <a:extLst>
              <a:ext uri="{FF2B5EF4-FFF2-40B4-BE49-F238E27FC236}">
                <a16:creationId xmlns:a16="http://schemas.microsoft.com/office/drawing/2014/main" id="{CE8821CB-F63A-4EFF-AA16-0AD41B0835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286000"/>
            <a:ext cx="304800" cy="304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77857" name="Text Box 37">
            <a:extLst>
              <a:ext uri="{FF2B5EF4-FFF2-40B4-BE49-F238E27FC236}">
                <a16:creationId xmlns:a16="http://schemas.microsoft.com/office/drawing/2014/main" id="{F653A13C-9CE0-489E-9522-9EF0D807D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209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11</a:t>
            </a:r>
          </a:p>
        </p:txBody>
      </p:sp>
      <p:sp>
        <p:nvSpPr>
          <p:cNvPr id="77858" name="Oval 39">
            <a:extLst>
              <a:ext uri="{FF2B5EF4-FFF2-40B4-BE49-F238E27FC236}">
                <a16:creationId xmlns:a16="http://schemas.microsoft.com/office/drawing/2014/main" id="{B39E57DC-0C1F-4DC8-B806-DE07D89626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209800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77859" name="Text Box 40">
            <a:extLst>
              <a:ext uri="{FF2B5EF4-FFF2-40B4-BE49-F238E27FC236}">
                <a16:creationId xmlns:a16="http://schemas.microsoft.com/office/drawing/2014/main" id="{2B2D2B0F-BB42-4D71-8C29-2953859C4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209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10</a:t>
            </a:r>
          </a:p>
        </p:txBody>
      </p:sp>
      <p:cxnSp>
        <p:nvCxnSpPr>
          <p:cNvPr id="77860" name="AutoShape 41">
            <a:extLst>
              <a:ext uri="{FF2B5EF4-FFF2-40B4-BE49-F238E27FC236}">
                <a16:creationId xmlns:a16="http://schemas.microsoft.com/office/drawing/2014/main" id="{27FBB6AE-1965-4F75-89DE-CD441406BB7E}"/>
              </a:ext>
            </a:extLst>
          </p:cNvPr>
          <p:cNvCxnSpPr>
            <a:cxnSpLocks noChangeShapeType="1"/>
            <a:stCxn id="77858" idx="7"/>
            <a:endCxn id="77859" idx="0"/>
          </p:cNvCxnSpPr>
          <p:nvPr/>
        </p:nvCxnSpPr>
        <p:spPr bwMode="auto">
          <a:xfrm rot="5400000" flipH="1">
            <a:off x="4848225" y="2162175"/>
            <a:ext cx="66675" cy="161925"/>
          </a:xfrm>
          <a:prstGeom prst="curvedConnector3">
            <a:avLst>
              <a:gd name="adj1" fmla="val 442856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861" name="Text Box 42">
            <a:extLst>
              <a:ext uri="{FF2B5EF4-FFF2-40B4-BE49-F238E27FC236}">
                <a16:creationId xmlns:a16="http://schemas.microsoft.com/office/drawing/2014/main" id="{3381B2CE-28DB-4EF8-B09A-B29F0AFFF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6002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letter or digit</a:t>
            </a:r>
          </a:p>
        </p:txBody>
      </p:sp>
      <p:sp>
        <p:nvSpPr>
          <p:cNvPr id="77862" name="Text Box 43">
            <a:extLst>
              <a:ext uri="{FF2B5EF4-FFF2-40B4-BE49-F238E27FC236}">
                <a16:creationId xmlns:a16="http://schemas.microsoft.com/office/drawing/2014/main" id="{275D4563-48E1-4381-9055-C0729D1B4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133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*</a:t>
            </a:r>
          </a:p>
        </p:txBody>
      </p:sp>
      <p:sp>
        <p:nvSpPr>
          <p:cNvPr id="77863" name="Text Box 44">
            <a:extLst>
              <a:ext uri="{FF2B5EF4-FFF2-40B4-BE49-F238E27FC236}">
                <a16:creationId xmlns:a16="http://schemas.microsoft.com/office/drawing/2014/main" id="{6D837D05-BCED-4894-AE39-D2BA73648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352800"/>
            <a:ext cx="495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Either returns </a:t>
            </a:r>
            <a:r>
              <a:rPr kumimoji="0" lang="en-US" altLang="zh-CN" sz="2400" dirty="0" err="1"/>
              <a:t>ptr</a:t>
            </a:r>
            <a:r>
              <a:rPr kumimoji="0" lang="en-US" altLang="zh-CN" sz="2400" dirty="0"/>
              <a:t> or “0” if reserved</a:t>
            </a:r>
          </a:p>
        </p:txBody>
      </p:sp>
      <p:sp>
        <p:nvSpPr>
          <p:cNvPr id="77864" name="Line 45">
            <a:extLst>
              <a:ext uri="{FF2B5EF4-FFF2-40B4-BE49-F238E27FC236}">
                <a16:creationId xmlns:a16="http://schemas.microsoft.com/office/drawing/2014/main" id="{2F9D60D4-F4A2-4052-8F4B-BCEC180EEC3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077200" y="3124200"/>
            <a:ext cx="152400" cy="381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2" grpId="0" animBg="1"/>
      <p:bldP spid="77834" grpId="0"/>
      <p:bldP spid="77836" grpId="0" animBg="1"/>
      <p:bldP spid="77837" grpId="0"/>
      <p:bldP spid="77838" grpId="0" animBg="1"/>
      <p:bldP spid="77839" grpId="0" animBg="1"/>
      <p:bldP spid="77840" grpId="0"/>
      <p:bldP spid="77841" grpId="0" animBg="1"/>
      <p:bldP spid="77842" grpId="0"/>
      <p:bldP spid="77844" grpId="0"/>
      <p:bldP spid="77845" grpId="0"/>
      <p:bldP spid="77846" grpId="0"/>
      <p:bldP spid="77849" grpId="0" animBg="1"/>
      <p:bldP spid="77851" grpId="0"/>
      <p:bldP spid="77853" grpId="0" animBg="1"/>
      <p:bldP spid="77854" grpId="0"/>
      <p:bldP spid="77855" grpId="0" animBg="1"/>
      <p:bldP spid="77856" grpId="0" animBg="1"/>
      <p:bldP spid="77857" grpId="0"/>
      <p:bldP spid="77858" grpId="0" animBg="1"/>
      <p:bldP spid="77859" grpId="0"/>
      <p:bldP spid="77861" grpId="0"/>
      <p:bldP spid="77862" grpId="0"/>
      <p:bldP spid="77863" grpId="0"/>
      <p:bldP spid="7786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C811B220-9AB6-4AA6-B0D8-448C41301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3.9</a:t>
            </a:r>
            <a:r>
              <a:rPr lang="zh-CN" altLang="en-US"/>
              <a:t>：无符号数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F6DB3B5D-C19D-4B23-B117-F23944B95963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752600"/>
            <a:ext cx="8077200" cy="1662113"/>
            <a:chOff x="576" y="1632"/>
            <a:chExt cx="5088" cy="1047"/>
          </a:xfrm>
        </p:grpSpPr>
        <p:sp>
          <p:nvSpPr>
            <p:cNvPr id="78909" name="Line 5">
              <a:extLst>
                <a:ext uri="{FF2B5EF4-FFF2-40B4-BE49-F238E27FC236}">
                  <a16:creationId xmlns:a16="http://schemas.microsoft.com/office/drawing/2014/main" id="{4DC7F5F5-0ACC-4C0A-A59A-CC6D28376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20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910" name="Line 6">
              <a:extLst>
                <a:ext uri="{FF2B5EF4-FFF2-40B4-BE49-F238E27FC236}">
                  <a16:creationId xmlns:a16="http://schemas.microsoft.com/office/drawing/2014/main" id="{2B70A127-78CC-44BE-8D37-BCA7B4814F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2208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911" name="Line 7">
              <a:extLst>
                <a:ext uri="{FF2B5EF4-FFF2-40B4-BE49-F238E27FC236}">
                  <a16:creationId xmlns:a16="http://schemas.microsoft.com/office/drawing/2014/main" id="{E8178EB4-C5D9-412D-A14D-81358041A2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208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8912" name="Group 8">
              <a:extLst>
                <a:ext uri="{FF2B5EF4-FFF2-40B4-BE49-F238E27FC236}">
                  <a16:creationId xmlns:a16="http://schemas.microsoft.com/office/drawing/2014/main" id="{E2F4C471-AD6F-41F1-A369-E511DFA9EE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2" y="2064"/>
              <a:ext cx="288" cy="288"/>
              <a:chOff x="3696" y="1152"/>
              <a:chExt cx="288" cy="288"/>
            </a:xfrm>
          </p:grpSpPr>
          <p:sp>
            <p:nvSpPr>
              <p:cNvPr id="78964" name="Oval 9">
                <a:extLst>
                  <a:ext uri="{FF2B5EF4-FFF2-40B4-BE49-F238E27FC236}">
                    <a16:creationId xmlns:a16="http://schemas.microsoft.com/office/drawing/2014/main" id="{6D40219A-4D21-4F46-B832-31CD9C236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15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78965" name="Oval 10">
                <a:extLst>
                  <a:ext uri="{FF2B5EF4-FFF2-40B4-BE49-F238E27FC236}">
                    <a16:creationId xmlns:a16="http://schemas.microsoft.com/office/drawing/2014/main" id="{FCD37454-1976-452B-AFF3-350EB9E1DF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20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78966" name="Text Box 11">
                <a:extLst>
                  <a:ext uri="{FF2B5EF4-FFF2-40B4-BE49-F238E27FC236}">
                    <a16:creationId xmlns:a16="http://schemas.microsoft.com/office/drawing/2014/main" id="{9419B7EB-F8B4-4D89-ACCC-85C5DA0485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120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19</a:t>
                </a:r>
              </a:p>
            </p:txBody>
          </p:sp>
        </p:grpSp>
        <p:grpSp>
          <p:nvGrpSpPr>
            <p:cNvPr id="78913" name="Group 12">
              <a:extLst>
                <a:ext uri="{FF2B5EF4-FFF2-40B4-BE49-F238E27FC236}">
                  <a16:creationId xmlns:a16="http://schemas.microsoft.com/office/drawing/2014/main" id="{1C2BCEF4-32AB-4EFE-9664-E912FCAA65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064"/>
              <a:ext cx="288" cy="288"/>
              <a:chOff x="2448" y="3024"/>
              <a:chExt cx="288" cy="288"/>
            </a:xfrm>
          </p:grpSpPr>
          <p:sp>
            <p:nvSpPr>
              <p:cNvPr id="78962" name="Oval 13">
                <a:extLst>
                  <a:ext uri="{FF2B5EF4-FFF2-40B4-BE49-F238E27FC236}">
                    <a16:creationId xmlns:a16="http://schemas.microsoft.com/office/drawing/2014/main" id="{8B2C8503-09E2-4A84-BC6F-0896636B1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024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78963" name="Text Box 14">
                <a:extLst>
                  <a:ext uri="{FF2B5EF4-FFF2-40B4-BE49-F238E27FC236}">
                    <a16:creationId xmlns:a16="http://schemas.microsoft.com/office/drawing/2014/main" id="{D95D3284-0C98-497B-A025-BC1F1F23F9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072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12</a:t>
                </a:r>
              </a:p>
            </p:txBody>
          </p:sp>
        </p:grpSp>
        <p:grpSp>
          <p:nvGrpSpPr>
            <p:cNvPr id="78914" name="Group 15">
              <a:extLst>
                <a:ext uri="{FF2B5EF4-FFF2-40B4-BE49-F238E27FC236}">
                  <a16:creationId xmlns:a16="http://schemas.microsoft.com/office/drawing/2014/main" id="{BB1217E3-0707-40AF-A13C-5254C05E12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2064"/>
              <a:ext cx="288" cy="288"/>
              <a:chOff x="2448" y="3024"/>
              <a:chExt cx="288" cy="288"/>
            </a:xfrm>
          </p:grpSpPr>
          <p:sp>
            <p:nvSpPr>
              <p:cNvPr id="78960" name="Oval 16">
                <a:extLst>
                  <a:ext uri="{FF2B5EF4-FFF2-40B4-BE49-F238E27FC236}">
                    <a16:creationId xmlns:a16="http://schemas.microsoft.com/office/drawing/2014/main" id="{83D7B1A3-6FAD-4110-BA82-93A713EA79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024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78961" name="Text Box 17">
                <a:extLst>
                  <a:ext uri="{FF2B5EF4-FFF2-40B4-BE49-F238E27FC236}">
                    <a16:creationId xmlns:a16="http://schemas.microsoft.com/office/drawing/2014/main" id="{F1667753-26D5-4C50-A72F-EB3A22B343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072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14</a:t>
                </a:r>
              </a:p>
            </p:txBody>
          </p:sp>
        </p:grpSp>
        <p:grpSp>
          <p:nvGrpSpPr>
            <p:cNvPr id="78915" name="Group 18">
              <a:extLst>
                <a:ext uri="{FF2B5EF4-FFF2-40B4-BE49-F238E27FC236}">
                  <a16:creationId xmlns:a16="http://schemas.microsoft.com/office/drawing/2014/main" id="{A24FFEE9-4217-43AD-BE8D-5316C3B194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2064"/>
              <a:ext cx="288" cy="288"/>
              <a:chOff x="2448" y="3024"/>
              <a:chExt cx="288" cy="288"/>
            </a:xfrm>
          </p:grpSpPr>
          <p:sp>
            <p:nvSpPr>
              <p:cNvPr id="78958" name="Oval 19">
                <a:extLst>
                  <a:ext uri="{FF2B5EF4-FFF2-40B4-BE49-F238E27FC236}">
                    <a16:creationId xmlns:a16="http://schemas.microsoft.com/office/drawing/2014/main" id="{8A612BC6-A9CA-42CF-B5FC-5E1DD7549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024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78959" name="Text Box 20">
                <a:extLst>
                  <a:ext uri="{FF2B5EF4-FFF2-40B4-BE49-F238E27FC236}">
                    <a16:creationId xmlns:a16="http://schemas.microsoft.com/office/drawing/2014/main" id="{A208BA0B-6E6C-492B-AA5D-8CE9415BC2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072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13</a:t>
                </a:r>
              </a:p>
            </p:txBody>
          </p:sp>
        </p:grpSp>
        <p:grpSp>
          <p:nvGrpSpPr>
            <p:cNvPr id="78916" name="Group 21">
              <a:extLst>
                <a:ext uri="{FF2B5EF4-FFF2-40B4-BE49-F238E27FC236}">
                  <a16:creationId xmlns:a16="http://schemas.microsoft.com/office/drawing/2014/main" id="{B85AB1A3-D9ED-4543-8746-1291AD319B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2064"/>
              <a:ext cx="288" cy="288"/>
              <a:chOff x="2448" y="3024"/>
              <a:chExt cx="288" cy="288"/>
            </a:xfrm>
          </p:grpSpPr>
          <p:sp>
            <p:nvSpPr>
              <p:cNvPr id="78956" name="Oval 22">
                <a:extLst>
                  <a:ext uri="{FF2B5EF4-FFF2-40B4-BE49-F238E27FC236}">
                    <a16:creationId xmlns:a16="http://schemas.microsoft.com/office/drawing/2014/main" id="{4FC8E5C2-1621-4E58-AAAC-7CB99EABD6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024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78957" name="Text Box 23">
                <a:extLst>
                  <a:ext uri="{FF2B5EF4-FFF2-40B4-BE49-F238E27FC236}">
                    <a16:creationId xmlns:a16="http://schemas.microsoft.com/office/drawing/2014/main" id="{DC8459C8-3945-4540-A460-DF6A726154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072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16</a:t>
                </a:r>
              </a:p>
            </p:txBody>
          </p:sp>
        </p:grpSp>
        <p:grpSp>
          <p:nvGrpSpPr>
            <p:cNvPr id="78917" name="Group 24">
              <a:extLst>
                <a:ext uri="{FF2B5EF4-FFF2-40B4-BE49-F238E27FC236}">
                  <a16:creationId xmlns:a16="http://schemas.microsoft.com/office/drawing/2014/main" id="{FB7233F3-2B40-4229-B8B8-254C3D8EED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2064"/>
              <a:ext cx="288" cy="288"/>
              <a:chOff x="2448" y="3024"/>
              <a:chExt cx="288" cy="288"/>
            </a:xfrm>
          </p:grpSpPr>
          <p:sp>
            <p:nvSpPr>
              <p:cNvPr id="78954" name="Oval 25">
                <a:extLst>
                  <a:ext uri="{FF2B5EF4-FFF2-40B4-BE49-F238E27FC236}">
                    <a16:creationId xmlns:a16="http://schemas.microsoft.com/office/drawing/2014/main" id="{648FFAE0-6306-4EA8-99EF-B125E9698D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024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78955" name="Text Box 26">
                <a:extLst>
                  <a:ext uri="{FF2B5EF4-FFF2-40B4-BE49-F238E27FC236}">
                    <a16:creationId xmlns:a16="http://schemas.microsoft.com/office/drawing/2014/main" id="{00F8D69C-5340-4C37-8256-EA4B09D5B9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072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15</a:t>
                </a:r>
              </a:p>
            </p:txBody>
          </p:sp>
        </p:grpSp>
        <p:grpSp>
          <p:nvGrpSpPr>
            <p:cNvPr id="78918" name="Group 27">
              <a:extLst>
                <a:ext uri="{FF2B5EF4-FFF2-40B4-BE49-F238E27FC236}">
                  <a16:creationId xmlns:a16="http://schemas.microsoft.com/office/drawing/2014/main" id="{A2EDB3E6-B5C2-49B3-BD0D-A09CA6048F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2064"/>
              <a:ext cx="288" cy="288"/>
              <a:chOff x="2448" y="3024"/>
              <a:chExt cx="288" cy="288"/>
            </a:xfrm>
          </p:grpSpPr>
          <p:sp>
            <p:nvSpPr>
              <p:cNvPr id="78952" name="Oval 28">
                <a:extLst>
                  <a:ext uri="{FF2B5EF4-FFF2-40B4-BE49-F238E27FC236}">
                    <a16:creationId xmlns:a16="http://schemas.microsoft.com/office/drawing/2014/main" id="{ACE24552-0C3F-41BA-A577-2094D1E9B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024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78953" name="Text Box 29">
                <a:extLst>
                  <a:ext uri="{FF2B5EF4-FFF2-40B4-BE49-F238E27FC236}">
                    <a16:creationId xmlns:a16="http://schemas.microsoft.com/office/drawing/2014/main" id="{B8ABE524-8370-4C2C-BA91-BA02829CE1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072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18</a:t>
                </a:r>
              </a:p>
            </p:txBody>
          </p:sp>
        </p:grpSp>
        <p:grpSp>
          <p:nvGrpSpPr>
            <p:cNvPr id="78919" name="Group 30">
              <a:extLst>
                <a:ext uri="{FF2B5EF4-FFF2-40B4-BE49-F238E27FC236}">
                  <a16:creationId xmlns:a16="http://schemas.microsoft.com/office/drawing/2014/main" id="{32390ECC-1C99-47D1-BF00-FA24B0B577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2064"/>
              <a:ext cx="288" cy="288"/>
              <a:chOff x="2448" y="3024"/>
              <a:chExt cx="288" cy="288"/>
            </a:xfrm>
          </p:grpSpPr>
          <p:sp>
            <p:nvSpPr>
              <p:cNvPr id="78950" name="Oval 31">
                <a:extLst>
                  <a:ext uri="{FF2B5EF4-FFF2-40B4-BE49-F238E27FC236}">
                    <a16:creationId xmlns:a16="http://schemas.microsoft.com/office/drawing/2014/main" id="{3B29E142-9542-45F2-A771-34BAB9043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3024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78951" name="Text Box 32">
                <a:extLst>
                  <a:ext uri="{FF2B5EF4-FFF2-40B4-BE49-F238E27FC236}">
                    <a16:creationId xmlns:a16="http://schemas.microsoft.com/office/drawing/2014/main" id="{391A150C-ABD3-41F9-9866-BDED8826CE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072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17</a:t>
                </a:r>
              </a:p>
            </p:txBody>
          </p:sp>
        </p:grpSp>
        <p:sp>
          <p:nvSpPr>
            <p:cNvPr id="78920" name="Text Box 33">
              <a:extLst>
                <a:ext uri="{FF2B5EF4-FFF2-40B4-BE49-F238E27FC236}">
                  <a16:creationId xmlns:a16="http://schemas.microsoft.com/office/drawing/2014/main" id="{81C07D92-EE38-4E0A-BDE0-263D7D2DF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016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start</a:t>
              </a:r>
            </a:p>
          </p:txBody>
        </p:sp>
        <p:grpSp>
          <p:nvGrpSpPr>
            <p:cNvPr id="78921" name="Group 34">
              <a:extLst>
                <a:ext uri="{FF2B5EF4-FFF2-40B4-BE49-F238E27FC236}">
                  <a16:creationId xmlns:a16="http://schemas.microsoft.com/office/drawing/2014/main" id="{9D164A72-5ACF-4212-BCC4-668D6656B0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" y="2016"/>
              <a:ext cx="480" cy="231"/>
              <a:chOff x="3792" y="3168"/>
              <a:chExt cx="480" cy="231"/>
            </a:xfrm>
          </p:grpSpPr>
          <p:sp>
            <p:nvSpPr>
              <p:cNvPr id="78948" name="Line 35">
                <a:extLst>
                  <a:ext uri="{FF2B5EF4-FFF2-40B4-BE49-F238E27FC236}">
                    <a16:creationId xmlns:a16="http://schemas.microsoft.com/office/drawing/2014/main" id="{0B1ECF17-2FF4-4FA6-90CC-C1EE80C7F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360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949" name="Text Box 36">
                <a:extLst>
                  <a:ext uri="{FF2B5EF4-FFF2-40B4-BE49-F238E27FC236}">
                    <a16:creationId xmlns:a16="http://schemas.microsoft.com/office/drawing/2014/main" id="{520C9171-05D6-472C-B7C1-0A7A9D818E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2" y="3168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other</a:t>
                </a:r>
              </a:p>
            </p:txBody>
          </p:sp>
        </p:grpSp>
        <p:grpSp>
          <p:nvGrpSpPr>
            <p:cNvPr id="78922" name="Group 37">
              <a:extLst>
                <a:ext uri="{FF2B5EF4-FFF2-40B4-BE49-F238E27FC236}">
                  <a16:creationId xmlns:a16="http://schemas.microsoft.com/office/drawing/2014/main" id="{D7D95772-EABD-4383-BEB5-F3AC7F6588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2016"/>
              <a:ext cx="480" cy="231"/>
              <a:chOff x="1728" y="2688"/>
              <a:chExt cx="480" cy="231"/>
            </a:xfrm>
          </p:grpSpPr>
          <p:sp>
            <p:nvSpPr>
              <p:cNvPr id="78946" name="Text Box 38">
                <a:extLst>
                  <a:ext uri="{FF2B5EF4-FFF2-40B4-BE49-F238E27FC236}">
                    <a16:creationId xmlns:a16="http://schemas.microsoft.com/office/drawing/2014/main" id="{1425F232-5DFE-4323-B480-2E37EEB96E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2688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digit</a:t>
                </a:r>
              </a:p>
            </p:txBody>
          </p:sp>
          <p:sp>
            <p:nvSpPr>
              <p:cNvPr id="78947" name="Line 39">
                <a:extLst>
                  <a:ext uri="{FF2B5EF4-FFF2-40B4-BE49-F238E27FC236}">
                    <a16:creationId xmlns:a16="http://schemas.microsoft.com/office/drawing/2014/main" id="{96DA4FBE-4DEA-4B8A-909D-0707B00884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880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8923" name="Text Box 40">
              <a:extLst>
                <a:ext uri="{FF2B5EF4-FFF2-40B4-BE49-F238E27FC236}">
                  <a16:creationId xmlns:a16="http://schemas.microsoft.com/office/drawing/2014/main" id="{63F6C64B-FD11-413D-BD12-308D595B4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01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.</a:t>
              </a:r>
            </a:p>
          </p:txBody>
        </p:sp>
        <p:grpSp>
          <p:nvGrpSpPr>
            <p:cNvPr id="78924" name="Group 41">
              <a:extLst>
                <a:ext uri="{FF2B5EF4-FFF2-40B4-BE49-F238E27FC236}">
                  <a16:creationId xmlns:a16="http://schemas.microsoft.com/office/drawing/2014/main" id="{3E1ED961-8A47-474F-95C2-F68E029C97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2016"/>
              <a:ext cx="480" cy="231"/>
              <a:chOff x="1728" y="2688"/>
              <a:chExt cx="480" cy="231"/>
            </a:xfrm>
          </p:grpSpPr>
          <p:sp>
            <p:nvSpPr>
              <p:cNvPr id="78944" name="Text Box 42">
                <a:extLst>
                  <a:ext uri="{FF2B5EF4-FFF2-40B4-BE49-F238E27FC236}">
                    <a16:creationId xmlns:a16="http://schemas.microsoft.com/office/drawing/2014/main" id="{5636C916-5E83-4141-8C2B-8D880ADDE7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2688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digit</a:t>
                </a:r>
              </a:p>
            </p:txBody>
          </p:sp>
          <p:sp>
            <p:nvSpPr>
              <p:cNvPr id="78945" name="Line 43">
                <a:extLst>
                  <a:ext uri="{FF2B5EF4-FFF2-40B4-BE49-F238E27FC236}">
                    <a16:creationId xmlns:a16="http://schemas.microsoft.com/office/drawing/2014/main" id="{E7D2CA2E-EA81-4766-BF2B-EEA8BA38F1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880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8925" name="Text Box 44">
              <a:extLst>
                <a:ext uri="{FF2B5EF4-FFF2-40B4-BE49-F238E27FC236}">
                  <a16:creationId xmlns:a16="http://schemas.microsoft.com/office/drawing/2014/main" id="{0672911B-0A65-4887-ADBF-B1F19CFF5F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016"/>
              <a:ext cx="1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E</a:t>
              </a:r>
            </a:p>
          </p:txBody>
        </p:sp>
        <p:grpSp>
          <p:nvGrpSpPr>
            <p:cNvPr id="78926" name="Group 45">
              <a:extLst>
                <a:ext uri="{FF2B5EF4-FFF2-40B4-BE49-F238E27FC236}">
                  <a16:creationId xmlns:a16="http://schemas.microsoft.com/office/drawing/2014/main" id="{4752126B-06FC-4FC3-B176-2CE4722314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2016"/>
              <a:ext cx="384" cy="231"/>
              <a:chOff x="3120" y="2544"/>
              <a:chExt cx="384" cy="231"/>
            </a:xfrm>
          </p:grpSpPr>
          <p:sp>
            <p:nvSpPr>
              <p:cNvPr id="78942" name="Line 46">
                <a:extLst>
                  <a:ext uri="{FF2B5EF4-FFF2-40B4-BE49-F238E27FC236}">
                    <a16:creationId xmlns:a16="http://schemas.microsoft.com/office/drawing/2014/main" id="{A9258C47-43C0-440C-8F1E-49294848BD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736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8943" name="Text Box 47">
                <a:extLst>
                  <a:ext uri="{FF2B5EF4-FFF2-40B4-BE49-F238E27FC236}">
                    <a16:creationId xmlns:a16="http://schemas.microsoft.com/office/drawing/2014/main" id="{082F0066-65C7-42E2-9811-79B5F4AAA1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544"/>
                <a:ext cx="38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+ | -</a:t>
                </a:r>
              </a:p>
            </p:txBody>
          </p:sp>
        </p:grpSp>
        <p:grpSp>
          <p:nvGrpSpPr>
            <p:cNvPr id="78927" name="Group 48">
              <a:extLst>
                <a:ext uri="{FF2B5EF4-FFF2-40B4-BE49-F238E27FC236}">
                  <a16:creationId xmlns:a16="http://schemas.microsoft.com/office/drawing/2014/main" id="{A508883A-B28E-43A2-9AA7-667ED6B216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2016"/>
              <a:ext cx="480" cy="231"/>
              <a:chOff x="1728" y="2688"/>
              <a:chExt cx="480" cy="231"/>
            </a:xfrm>
          </p:grpSpPr>
          <p:sp>
            <p:nvSpPr>
              <p:cNvPr id="78940" name="Text Box 49">
                <a:extLst>
                  <a:ext uri="{FF2B5EF4-FFF2-40B4-BE49-F238E27FC236}">
                    <a16:creationId xmlns:a16="http://schemas.microsoft.com/office/drawing/2014/main" id="{D57D248F-CF2F-4DBD-AFAB-7533FE93ED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2688"/>
                <a:ext cx="48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digit</a:t>
                </a:r>
              </a:p>
            </p:txBody>
          </p:sp>
          <p:sp>
            <p:nvSpPr>
              <p:cNvPr id="78941" name="Line 50">
                <a:extLst>
                  <a:ext uri="{FF2B5EF4-FFF2-40B4-BE49-F238E27FC236}">
                    <a16:creationId xmlns:a16="http://schemas.microsoft.com/office/drawing/2014/main" id="{DC1CD7D8-F871-4ED2-B3F0-D99B43AAC3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880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8928" name="Text Box 51">
              <a:extLst>
                <a:ext uri="{FF2B5EF4-FFF2-40B4-BE49-F238E27FC236}">
                  <a16:creationId xmlns:a16="http://schemas.microsoft.com/office/drawing/2014/main" id="{D59ECF28-3850-4ABC-8CED-0B7B111F79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632"/>
              <a:ext cx="9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1800"/>
            </a:p>
          </p:txBody>
        </p:sp>
        <p:sp>
          <p:nvSpPr>
            <p:cNvPr id="78929" name="Text Box 52">
              <a:extLst>
                <a:ext uri="{FF2B5EF4-FFF2-40B4-BE49-F238E27FC236}">
                  <a16:creationId xmlns:a16="http://schemas.microsoft.com/office/drawing/2014/main" id="{AA672666-7935-4296-A32C-93B6DE029E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168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digit</a:t>
              </a:r>
            </a:p>
          </p:txBody>
        </p:sp>
        <p:sp>
          <p:nvSpPr>
            <p:cNvPr id="78930" name="Text Box 53">
              <a:extLst>
                <a:ext uri="{FF2B5EF4-FFF2-40B4-BE49-F238E27FC236}">
                  <a16:creationId xmlns:a16="http://schemas.microsoft.com/office/drawing/2014/main" id="{4A948A05-7C46-4B8B-8B88-677EC5EE66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448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digit</a:t>
              </a:r>
            </a:p>
          </p:txBody>
        </p:sp>
        <p:sp>
          <p:nvSpPr>
            <p:cNvPr id="78931" name="Text Box 54">
              <a:extLst>
                <a:ext uri="{FF2B5EF4-FFF2-40B4-BE49-F238E27FC236}">
                  <a16:creationId xmlns:a16="http://schemas.microsoft.com/office/drawing/2014/main" id="{F2C74869-4E78-4EBB-A465-0CFCD79EA4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68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digit</a:t>
              </a:r>
            </a:p>
          </p:txBody>
        </p:sp>
        <p:sp>
          <p:nvSpPr>
            <p:cNvPr id="78932" name="Text Box 55">
              <a:extLst>
                <a:ext uri="{FF2B5EF4-FFF2-40B4-BE49-F238E27FC236}">
                  <a16:creationId xmlns:a16="http://schemas.microsoft.com/office/drawing/2014/main" id="{0891EC7C-A49E-456B-9EDD-10805AA60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448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E</a:t>
              </a:r>
            </a:p>
          </p:txBody>
        </p:sp>
        <p:sp>
          <p:nvSpPr>
            <p:cNvPr id="78933" name="Text Box 56">
              <a:extLst>
                <a:ext uri="{FF2B5EF4-FFF2-40B4-BE49-F238E27FC236}">
                  <a16:creationId xmlns:a16="http://schemas.microsoft.com/office/drawing/2014/main" id="{2F98D5B1-705A-4ADA-9611-D370382F1E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680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digit</a:t>
              </a:r>
            </a:p>
          </p:txBody>
        </p:sp>
        <p:cxnSp>
          <p:nvCxnSpPr>
            <p:cNvPr id="78934" name="AutoShape 57">
              <a:extLst>
                <a:ext uri="{FF2B5EF4-FFF2-40B4-BE49-F238E27FC236}">
                  <a16:creationId xmlns:a16="http://schemas.microsoft.com/office/drawing/2014/main" id="{C22397E3-AA3E-4C35-ADAC-5A20A1E3B7BB}"/>
                </a:ext>
              </a:extLst>
            </p:cNvPr>
            <p:cNvCxnSpPr>
              <a:cxnSpLocks noChangeShapeType="1"/>
              <a:stCxn id="78946" idx="3"/>
              <a:endCxn id="78958" idx="7"/>
            </p:cNvCxnSpPr>
            <p:nvPr/>
          </p:nvCxnSpPr>
          <p:spPr bwMode="auto">
            <a:xfrm flipV="1">
              <a:off x="1728" y="2106"/>
              <a:ext cx="198" cy="16"/>
            </a:xfrm>
            <a:prstGeom prst="curvedConnector4">
              <a:avLst>
                <a:gd name="adj1" fmla="val -7074"/>
                <a:gd name="adj2" fmla="val 1562500"/>
              </a:avLst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935" name="AutoShape 58">
              <a:extLst>
                <a:ext uri="{FF2B5EF4-FFF2-40B4-BE49-F238E27FC236}">
                  <a16:creationId xmlns:a16="http://schemas.microsoft.com/office/drawing/2014/main" id="{99F07A6A-3CD6-49A9-A142-5FC7956691C9}"/>
                </a:ext>
              </a:extLst>
            </p:cNvPr>
            <p:cNvCxnSpPr>
              <a:cxnSpLocks noChangeShapeType="1"/>
              <a:stCxn id="78944" idx="3"/>
              <a:endCxn id="78954" idx="7"/>
            </p:cNvCxnSpPr>
            <p:nvPr/>
          </p:nvCxnSpPr>
          <p:spPr bwMode="auto">
            <a:xfrm flipV="1">
              <a:off x="2880" y="2106"/>
              <a:ext cx="198" cy="16"/>
            </a:xfrm>
            <a:prstGeom prst="curvedConnector4">
              <a:avLst>
                <a:gd name="adj1" fmla="val -6569"/>
                <a:gd name="adj2" fmla="val 1562500"/>
              </a:avLst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936" name="AutoShape 59">
              <a:extLst>
                <a:ext uri="{FF2B5EF4-FFF2-40B4-BE49-F238E27FC236}">
                  <a16:creationId xmlns:a16="http://schemas.microsoft.com/office/drawing/2014/main" id="{7EE14240-F81B-42D7-ADB1-6DB6679595F3}"/>
                </a:ext>
              </a:extLst>
            </p:cNvPr>
            <p:cNvCxnSpPr>
              <a:cxnSpLocks noChangeShapeType="1"/>
              <a:stCxn id="78940" idx="3"/>
              <a:endCxn id="78952" idx="7"/>
            </p:cNvCxnSpPr>
            <p:nvPr/>
          </p:nvCxnSpPr>
          <p:spPr bwMode="auto">
            <a:xfrm flipV="1">
              <a:off x="4608" y="2106"/>
              <a:ext cx="198" cy="16"/>
            </a:xfrm>
            <a:prstGeom prst="curvedConnector4">
              <a:avLst>
                <a:gd name="adj1" fmla="val -18690"/>
                <a:gd name="adj2" fmla="val 1562500"/>
              </a:avLst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937" name="AutoShape 60">
              <a:extLst>
                <a:ext uri="{FF2B5EF4-FFF2-40B4-BE49-F238E27FC236}">
                  <a16:creationId xmlns:a16="http://schemas.microsoft.com/office/drawing/2014/main" id="{4908E083-CE1C-4AE1-A40E-BAA2448B4A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4079" y="1729"/>
              <a:ext cx="1" cy="1248"/>
            </a:xfrm>
            <a:prstGeom prst="curvedConnector3">
              <a:avLst>
                <a:gd name="adj1" fmla="val 14400005"/>
              </a:avLst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938" name="AutoShape 61">
              <a:extLst>
                <a:ext uri="{FF2B5EF4-FFF2-40B4-BE49-F238E27FC236}">
                  <a16:creationId xmlns:a16="http://schemas.microsoft.com/office/drawing/2014/main" id="{6095861F-9D21-40CB-8A3B-4ED2B59CBB02}"/>
                </a:ext>
              </a:extLst>
            </p:cNvPr>
            <p:cNvCxnSpPr>
              <a:cxnSpLocks noChangeShapeType="1"/>
              <a:stCxn id="78958" idx="4"/>
              <a:endCxn id="78956" idx="3"/>
            </p:cNvCxnSpPr>
            <p:nvPr/>
          </p:nvCxnSpPr>
          <p:spPr bwMode="auto">
            <a:xfrm rot="5400000" flipH="1" flipV="1">
              <a:off x="2568" y="1566"/>
              <a:ext cx="42" cy="1530"/>
            </a:xfrm>
            <a:prstGeom prst="curvedConnector3">
              <a:avLst>
                <a:gd name="adj1" fmla="val -342856"/>
              </a:avLst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939" name="Text Box 62">
              <a:extLst>
                <a:ext uri="{FF2B5EF4-FFF2-40B4-BE49-F238E27FC236}">
                  <a16:creationId xmlns:a16="http://schemas.microsoft.com/office/drawing/2014/main" id="{8CA4DDBB-BC70-4AD0-B452-A2648BE0F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6" y="2016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*</a:t>
              </a:r>
            </a:p>
          </p:txBody>
        </p:sp>
      </p:grpSp>
      <p:grpSp>
        <p:nvGrpSpPr>
          <p:cNvPr id="16" name="Group 63">
            <a:extLst>
              <a:ext uri="{FF2B5EF4-FFF2-40B4-BE49-F238E27FC236}">
                <a16:creationId xmlns:a16="http://schemas.microsoft.com/office/drawing/2014/main" id="{D0B45017-9F4F-4B6D-8FDB-D79069BFC484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4800600"/>
            <a:ext cx="4495800" cy="990600"/>
            <a:chOff x="1344" y="2880"/>
            <a:chExt cx="2832" cy="624"/>
          </a:xfrm>
        </p:grpSpPr>
        <p:sp>
          <p:nvSpPr>
            <p:cNvPr id="78891" name="Line 64">
              <a:extLst>
                <a:ext uri="{FF2B5EF4-FFF2-40B4-BE49-F238E27FC236}">
                  <a16:creationId xmlns:a16="http://schemas.microsoft.com/office/drawing/2014/main" id="{EDA5CCBD-2D66-4BEB-B827-FEEAA88C0D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360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92" name="Oval 65">
              <a:extLst>
                <a:ext uri="{FF2B5EF4-FFF2-40B4-BE49-F238E27FC236}">
                  <a16:creationId xmlns:a16="http://schemas.microsoft.com/office/drawing/2014/main" id="{5C131E01-1326-4C95-970D-85E14556BD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21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8893" name="Line 66">
              <a:extLst>
                <a:ext uri="{FF2B5EF4-FFF2-40B4-BE49-F238E27FC236}">
                  <a16:creationId xmlns:a16="http://schemas.microsoft.com/office/drawing/2014/main" id="{0A3C683B-AAC9-497C-A539-31BC1123EC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360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94" name="Text Box 67">
              <a:extLst>
                <a:ext uri="{FF2B5EF4-FFF2-40B4-BE49-F238E27FC236}">
                  <a16:creationId xmlns:a16="http://schemas.microsoft.com/office/drawing/2014/main" id="{EC5E401C-1AEB-499E-8D21-70B13B370C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168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start</a:t>
              </a:r>
            </a:p>
          </p:txBody>
        </p:sp>
        <p:sp>
          <p:nvSpPr>
            <p:cNvPr id="78895" name="Text Box 68">
              <a:extLst>
                <a:ext uri="{FF2B5EF4-FFF2-40B4-BE49-F238E27FC236}">
                  <a16:creationId xmlns:a16="http://schemas.microsoft.com/office/drawing/2014/main" id="{05BBACFD-0517-435D-9BCD-619354B52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168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digit</a:t>
              </a:r>
            </a:p>
          </p:txBody>
        </p:sp>
        <p:sp>
          <p:nvSpPr>
            <p:cNvPr id="78896" name="Text Box 69">
              <a:extLst>
                <a:ext uri="{FF2B5EF4-FFF2-40B4-BE49-F238E27FC236}">
                  <a16:creationId xmlns:a16="http://schemas.microsoft.com/office/drawing/2014/main" id="{122ACC0D-FFAA-40B0-92BC-96B52C70D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26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25</a:t>
              </a:r>
            </a:p>
          </p:txBody>
        </p:sp>
        <p:sp>
          <p:nvSpPr>
            <p:cNvPr id="78897" name="Line 70">
              <a:extLst>
                <a:ext uri="{FF2B5EF4-FFF2-40B4-BE49-F238E27FC236}">
                  <a16:creationId xmlns:a16="http://schemas.microsoft.com/office/drawing/2014/main" id="{31D29D33-86AD-467F-829E-911B92302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3360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98" name="Text Box 71">
              <a:extLst>
                <a:ext uri="{FF2B5EF4-FFF2-40B4-BE49-F238E27FC236}">
                  <a16:creationId xmlns:a16="http://schemas.microsoft.com/office/drawing/2014/main" id="{069801C8-DBBD-4AAC-9F62-4457668B43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168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other</a:t>
              </a:r>
            </a:p>
          </p:txBody>
        </p:sp>
        <p:grpSp>
          <p:nvGrpSpPr>
            <p:cNvPr id="78899" name="Group 72">
              <a:extLst>
                <a:ext uri="{FF2B5EF4-FFF2-40B4-BE49-F238E27FC236}">
                  <a16:creationId xmlns:a16="http://schemas.microsoft.com/office/drawing/2014/main" id="{FC441640-8DBB-4C27-A9E3-340F6DFAFD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216"/>
              <a:ext cx="288" cy="288"/>
              <a:chOff x="3696" y="1152"/>
              <a:chExt cx="288" cy="288"/>
            </a:xfrm>
          </p:grpSpPr>
          <p:sp>
            <p:nvSpPr>
              <p:cNvPr id="78906" name="Oval 73">
                <a:extLst>
                  <a:ext uri="{FF2B5EF4-FFF2-40B4-BE49-F238E27FC236}">
                    <a16:creationId xmlns:a16="http://schemas.microsoft.com/office/drawing/2014/main" id="{2ED04211-3DAE-4940-8862-E9E053C841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15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78907" name="Oval 74">
                <a:extLst>
                  <a:ext uri="{FF2B5EF4-FFF2-40B4-BE49-F238E27FC236}">
                    <a16:creationId xmlns:a16="http://schemas.microsoft.com/office/drawing/2014/main" id="{6EDF38B4-D644-4DD6-937C-787D502CE8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20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78908" name="Text Box 75">
                <a:extLst>
                  <a:ext uri="{FF2B5EF4-FFF2-40B4-BE49-F238E27FC236}">
                    <a16:creationId xmlns:a16="http://schemas.microsoft.com/office/drawing/2014/main" id="{056F9EDF-0933-4010-9E83-4AD72561A7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120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27</a:t>
                </a:r>
              </a:p>
            </p:txBody>
          </p:sp>
        </p:grpSp>
        <p:grpSp>
          <p:nvGrpSpPr>
            <p:cNvPr id="78900" name="Group 76">
              <a:extLst>
                <a:ext uri="{FF2B5EF4-FFF2-40B4-BE49-F238E27FC236}">
                  <a16:creationId xmlns:a16="http://schemas.microsoft.com/office/drawing/2014/main" id="{74BFA02A-DE4B-459A-8271-A7F670D491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3216"/>
              <a:ext cx="288" cy="288"/>
              <a:chOff x="2880" y="1152"/>
              <a:chExt cx="288" cy="288"/>
            </a:xfrm>
          </p:grpSpPr>
          <p:sp>
            <p:nvSpPr>
              <p:cNvPr id="78903" name="Oval 77">
                <a:extLst>
                  <a:ext uri="{FF2B5EF4-FFF2-40B4-BE49-F238E27FC236}">
                    <a16:creationId xmlns:a16="http://schemas.microsoft.com/office/drawing/2014/main" id="{163351F7-3C25-4891-9BF3-260567EB55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15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78904" name="Text Box 78">
                <a:extLst>
                  <a:ext uri="{FF2B5EF4-FFF2-40B4-BE49-F238E27FC236}">
                    <a16:creationId xmlns:a16="http://schemas.microsoft.com/office/drawing/2014/main" id="{68814C9E-740D-4893-B6BD-D6E92D6F0C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120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26</a:t>
                </a:r>
              </a:p>
            </p:txBody>
          </p:sp>
          <p:cxnSp>
            <p:nvCxnSpPr>
              <p:cNvPr id="78905" name="AutoShape 79">
                <a:extLst>
                  <a:ext uri="{FF2B5EF4-FFF2-40B4-BE49-F238E27FC236}">
                    <a16:creationId xmlns:a16="http://schemas.microsoft.com/office/drawing/2014/main" id="{8D6CC9BF-521C-4EB5-A4A1-50D52810049D}"/>
                  </a:ext>
                </a:extLst>
              </p:cNvPr>
              <p:cNvCxnSpPr>
                <a:cxnSpLocks noChangeShapeType="1"/>
                <a:stCxn id="78903" idx="7"/>
                <a:endCxn id="78904" idx="0"/>
              </p:cNvCxnSpPr>
              <p:nvPr/>
            </p:nvCxnSpPr>
            <p:spPr bwMode="auto">
              <a:xfrm rot="-5400000" flipH="1" flipV="1">
                <a:off x="3072" y="1146"/>
                <a:ext cx="6" cy="102"/>
              </a:xfrm>
              <a:prstGeom prst="curvedConnector3">
                <a:avLst>
                  <a:gd name="adj1" fmla="val -3100005"/>
                </a:avLst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8901" name="Text Box 80">
              <a:extLst>
                <a:ext uri="{FF2B5EF4-FFF2-40B4-BE49-F238E27FC236}">
                  <a16:creationId xmlns:a16="http://schemas.microsoft.com/office/drawing/2014/main" id="{B232C873-141D-4406-9FD6-78499A6374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880"/>
              <a:ext cx="10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      digit</a:t>
              </a:r>
            </a:p>
          </p:txBody>
        </p:sp>
        <p:sp>
          <p:nvSpPr>
            <p:cNvPr id="78902" name="Text Box 81">
              <a:extLst>
                <a:ext uri="{FF2B5EF4-FFF2-40B4-BE49-F238E27FC236}">
                  <a16:creationId xmlns:a16="http://schemas.microsoft.com/office/drawing/2014/main" id="{4FA9410C-F9FB-49EF-A15E-DC2F2E69E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168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*</a:t>
              </a:r>
            </a:p>
          </p:txBody>
        </p:sp>
      </p:grpSp>
      <p:grpSp>
        <p:nvGrpSpPr>
          <p:cNvPr id="19" name="Group 121">
            <a:extLst>
              <a:ext uri="{FF2B5EF4-FFF2-40B4-BE49-F238E27FC236}">
                <a16:creationId xmlns:a16="http://schemas.microsoft.com/office/drawing/2014/main" id="{67087FA6-4DC8-4234-B702-53082B616F74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429000"/>
            <a:ext cx="6781800" cy="990600"/>
            <a:chOff x="768" y="2160"/>
            <a:chExt cx="4272" cy="624"/>
          </a:xfrm>
        </p:grpSpPr>
        <p:sp>
          <p:nvSpPr>
            <p:cNvPr id="78860" name="Line 83">
              <a:extLst>
                <a:ext uri="{FF2B5EF4-FFF2-40B4-BE49-F238E27FC236}">
                  <a16:creationId xmlns:a16="http://schemas.microsoft.com/office/drawing/2014/main" id="{76282E37-A096-4472-8B82-8CE0514444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2640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61" name="Text Box 84">
              <a:extLst>
                <a:ext uri="{FF2B5EF4-FFF2-40B4-BE49-F238E27FC236}">
                  <a16:creationId xmlns:a16="http://schemas.microsoft.com/office/drawing/2014/main" id="{7370CF70-7F65-455D-97E3-C0DEC36FF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448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start</a:t>
              </a:r>
            </a:p>
          </p:txBody>
        </p:sp>
        <p:sp>
          <p:nvSpPr>
            <p:cNvPr id="78862" name="Oval 85">
              <a:extLst>
                <a:ext uri="{FF2B5EF4-FFF2-40B4-BE49-F238E27FC236}">
                  <a16:creationId xmlns:a16="http://schemas.microsoft.com/office/drawing/2014/main" id="{A04C7E16-6AFE-4267-B037-067D746CA3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49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8863" name="Line 86">
              <a:extLst>
                <a:ext uri="{FF2B5EF4-FFF2-40B4-BE49-F238E27FC236}">
                  <a16:creationId xmlns:a16="http://schemas.microsoft.com/office/drawing/2014/main" id="{085EBABF-8C8E-4573-AFCF-8A72DB99ED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640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64" name="Text Box 87">
              <a:extLst>
                <a:ext uri="{FF2B5EF4-FFF2-40B4-BE49-F238E27FC236}">
                  <a16:creationId xmlns:a16="http://schemas.microsoft.com/office/drawing/2014/main" id="{BCDFEF08-555C-47C2-8215-B66A816551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448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digit</a:t>
              </a:r>
            </a:p>
          </p:txBody>
        </p:sp>
        <p:sp>
          <p:nvSpPr>
            <p:cNvPr id="78865" name="Text Box 88">
              <a:extLst>
                <a:ext uri="{FF2B5EF4-FFF2-40B4-BE49-F238E27FC236}">
                  <a16:creationId xmlns:a16="http://schemas.microsoft.com/office/drawing/2014/main" id="{24155ACB-7356-4929-BCD2-D2BE4DF11C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25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20</a:t>
              </a:r>
            </a:p>
          </p:txBody>
        </p:sp>
        <p:sp>
          <p:nvSpPr>
            <p:cNvPr id="78866" name="Line 90">
              <a:extLst>
                <a:ext uri="{FF2B5EF4-FFF2-40B4-BE49-F238E27FC236}">
                  <a16:creationId xmlns:a16="http://schemas.microsoft.com/office/drawing/2014/main" id="{4424C8F8-4729-477C-B6A8-D484B6459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640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867" name="Text Box 91">
              <a:extLst>
                <a:ext uri="{FF2B5EF4-FFF2-40B4-BE49-F238E27FC236}">
                  <a16:creationId xmlns:a16="http://schemas.microsoft.com/office/drawing/2014/main" id="{2305298F-24D5-4C17-AE05-242985936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448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.</a:t>
              </a:r>
            </a:p>
          </p:txBody>
        </p:sp>
        <p:sp>
          <p:nvSpPr>
            <p:cNvPr id="78868" name="Oval 93">
              <a:extLst>
                <a:ext uri="{FF2B5EF4-FFF2-40B4-BE49-F238E27FC236}">
                  <a16:creationId xmlns:a16="http://schemas.microsoft.com/office/drawing/2014/main" id="{201C05D9-949E-4DAB-B18A-96E6CB016B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49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8869" name="Text Box 94">
              <a:extLst>
                <a:ext uri="{FF2B5EF4-FFF2-40B4-BE49-F238E27FC236}">
                  <a16:creationId xmlns:a16="http://schemas.microsoft.com/office/drawing/2014/main" id="{3A59A134-B03D-4D0E-8AFA-661EED409A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5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21</a:t>
              </a:r>
            </a:p>
          </p:txBody>
        </p:sp>
        <p:cxnSp>
          <p:nvCxnSpPr>
            <p:cNvPr id="78870" name="AutoShape 95">
              <a:extLst>
                <a:ext uri="{FF2B5EF4-FFF2-40B4-BE49-F238E27FC236}">
                  <a16:creationId xmlns:a16="http://schemas.microsoft.com/office/drawing/2014/main" id="{2FA5BEE1-55F3-41FB-9929-BBC8B23BDBA5}"/>
                </a:ext>
              </a:extLst>
            </p:cNvPr>
            <p:cNvCxnSpPr>
              <a:cxnSpLocks noChangeShapeType="1"/>
              <a:stCxn id="78868" idx="7"/>
              <a:endCxn id="78869" idx="0"/>
            </p:cNvCxnSpPr>
            <p:nvPr/>
          </p:nvCxnSpPr>
          <p:spPr bwMode="auto">
            <a:xfrm rot="-5400000" flipH="1" flipV="1">
              <a:off x="2496" y="2490"/>
              <a:ext cx="6" cy="102"/>
            </a:xfrm>
            <a:prstGeom prst="curvedConnector3">
              <a:avLst>
                <a:gd name="adj1" fmla="val -3100005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871" name="Text Box 96">
              <a:extLst>
                <a:ext uri="{FF2B5EF4-FFF2-40B4-BE49-F238E27FC236}">
                  <a16:creationId xmlns:a16="http://schemas.microsoft.com/office/drawing/2014/main" id="{1BFBC1D2-4B56-4AE3-ABE2-DD3251D61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160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      digit</a:t>
              </a:r>
            </a:p>
          </p:txBody>
        </p:sp>
        <p:grpSp>
          <p:nvGrpSpPr>
            <p:cNvPr id="78872" name="Group 97">
              <a:extLst>
                <a:ext uri="{FF2B5EF4-FFF2-40B4-BE49-F238E27FC236}">
                  <a16:creationId xmlns:a16="http://schemas.microsoft.com/office/drawing/2014/main" id="{B1A72B19-11A0-4208-8229-F76B280225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160"/>
              <a:ext cx="2160" cy="624"/>
              <a:chOff x="3120" y="2016"/>
              <a:chExt cx="2160" cy="624"/>
            </a:xfrm>
          </p:grpSpPr>
          <p:grpSp>
            <p:nvGrpSpPr>
              <p:cNvPr id="78873" name="Group 98">
                <a:extLst>
                  <a:ext uri="{FF2B5EF4-FFF2-40B4-BE49-F238E27FC236}">
                    <a16:creationId xmlns:a16="http://schemas.microsoft.com/office/drawing/2014/main" id="{4678EEE8-26A9-4087-990F-11ABD69147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88" y="2016"/>
                <a:ext cx="1248" cy="624"/>
                <a:chOff x="2160" y="2016"/>
                <a:chExt cx="1248" cy="624"/>
              </a:xfrm>
            </p:grpSpPr>
            <p:grpSp>
              <p:nvGrpSpPr>
                <p:cNvPr id="78880" name="Group 99">
                  <a:extLst>
                    <a:ext uri="{FF2B5EF4-FFF2-40B4-BE49-F238E27FC236}">
                      <a16:creationId xmlns:a16="http://schemas.microsoft.com/office/drawing/2014/main" id="{A23573FA-2705-4382-A2C2-AEB0E75FCC1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20" y="2352"/>
                  <a:ext cx="288" cy="288"/>
                  <a:chOff x="3696" y="1152"/>
                  <a:chExt cx="288" cy="288"/>
                </a:xfrm>
              </p:grpSpPr>
              <p:sp>
                <p:nvSpPr>
                  <p:cNvPr id="78888" name="Oval 100">
                    <a:extLst>
                      <a:ext uri="{FF2B5EF4-FFF2-40B4-BE49-F238E27FC236}">
                        <a16:creationId xmlns:a16="http://schemas.microsoft.com/office/drawing/2014/main" id="{8B2FA954-2F1B-42F1-9976-BB0225AF004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96" y="1152"/>
                    <a:ext cx="288" cy="288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3300"/>
                      </a:buClr>
                      <a:buSzPct val="75000"/>
                      <a:buFont typeface="Wingdings" panose="05000000000000000000" pitchFamily="2" charset="2"/>
                      <a:buChar char="m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69000"/>
                      <a:buFont typeface="Wingdings" panose="05000000000000000000" pitchFamily="2" charset="2"/>
                      <a:buChar char="q"/>
                      <a:defRPr kumimoji="1" sz="2800">
                        <a:solidFill>
                          <a:srgbClr val="3333CC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3300"/>
                      </a:buClr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78889" name="Oval 101">
                    <a:extLst>
                      <a:ext uri="{FF2B5EF4-FFF2-40B4-BE49-F238E27FC236}">
                        <a16:creationId xmlns:a16="http://schemas.microsoft.com/office/drawing/2014/main" id="{49F485BA-030B-47F4-9B09-12EFF4144DA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744" y="1200"/>
                    <a:ext cx="192" cy="192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3300"/>
                      </a:buClr>
                      <a:buSzPct val="75000"/>
                      <a:buFont typeface="Wingdings" panose="05000000000000000000" pitchFamily="2" charset="2"/>
                      <a:buChar char="m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69000"/>
                      <a:buFont typeface="Wingdings" panose="05000000000000000000" pitchFamily="2" charset="2"/>
                      <a:buChar char="q"/>
                      <a:defRPr kumimoji="1" sz="2800">
                        <a:solidFill>
                          <a:srgbClr val="3333CC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3300"/>
                      </a:buClr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78890" name="Text Box 102">
                    <a:extLst>
                      <a:ext uri="{FF2B5EF4-FFF2-40B4-BE49-F238E27FC236}">
                        <a16:creationId xmlns:a16="http://schemas.microsoft.com/office/drawing/2014/main" id="{5562084D-68F7-4277-864F-115EAA5FE77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96" y="1200"/>
                    <a:ext cx="288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3300"/>
                      </a:buClr>
                      <a:buSzPct val="75000"/>
                      <a:buFont typeface="Wingdings" panose="05000000000000000000" pitchFamily="2" charset="2"/>
                      <a:buChar char="m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69000"/>
                      <a:buFont typeface="Wingdings" panose="05000000000000000000" pitchFamily="2" charset="2"/>
                      <a:buChar char="q"/>
                      <a:defRPr kumimoji="1" sz="2800">
                        <a:solidFill>
                          <a:srgbClr val="3333CC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3300"/>
                      </a:buClr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kumimoji="0" lang="en-US" altLang="zh-CN" sz="1800"/>
                      <a:t>24</a:t>
                    </a:r>
                  </a:p>
                </p:txBody>
              </p:sp>
            </p:grpSp>
            <p:sp>
              <p:nvSpPr>
                <p:cNvPr id="78881" name="Line 103">
                  <a:extLst>
                    <a:ext uri="{FF2B5EF4-FFF2-40B4-BE49-F238E27FC236}">
                      <a16:creationId xmlns:a16="http://schemas.microsoft.com/office/drawing/2014/main" id="{331F400C-D68E-4719-A1CA-7227CFD9A7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2" y="2496"/>
                  <a:ext cx="528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8882" name="Text Box 104">
                  <a:extLst>
                    <a:ext uri="{FF2B5EF4-FFF2-40B4-BE49-F238E27FC236}">
                      <a16:creationId xmlns:a16="http://schemas.microsoft.com/office/drawing/2014/main" id="{587141CA-34AA-4B46-8174-7B9CA45640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92" y="2304"/>
                  <a:ext cx="48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 dirty="0"/>
                    <a:t>other</a:t>
                  </a:r>
                </a:p>
              </p:txBody>
            </p:sp>
            <p:grpSp>
              <p:nvGrpSpPr>
                <p:cNvPr id="78883" name="Group 105">
                  <a:extLst>
                    <a:ext uri="{FF2B5EF4-FFF2-40B4-BE49-F238E27FC236}">
                      <a16:creationId xmlns:a16="http://schemas.microsoft.com/office/drawing/2014/main" id="{5109CB6D-D50F-4174-9817-3AB8745F65B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04" y="2352"/>
                  <a:ext cx="288" cy="288"/>
                  <a:chOff x="2880" y="1152"/>
                  <a:chExt cx="288" cy="288"/>
                </a:xfrm>
              </p:grpSpPr>
              <p:sp>
                <p:nvSpPr>
                  <p:cNvPr id="78885" name="Oval 106">
                    <a:extLst>
                      <a:ext uri="{FF2B5EF4-FFF2-40B4-BE49-F238E27FC236}">
                        <a16:creationId xmlns:a16="http://schemas.microsoft.com/office/drawing/2014/main" id="{DD54BACB-3B39-4BC1-A62D-D0315AD64BD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80" y="1152"/>
                    <a:ext cx="288" cy="288"/>
                  </a:xfrm>
                  <a:prstGeom prst="ellips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3300"/>
                      </a:buClr>
                      <a:buSzPct val="75000"/>
                      <a:buFont typeface="Wingdings" panose="05000000000000000000" pitchFamily="2" charset="2"/>
                      <a:buChar char="m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69000"/>
                      <a:buFont typeface="Wingdings" panose="05000000000000000000" pitchFamily="2" charset="2"/>
                      <a:buChar char="q"/>
                      <a:defRPr kumimoji="1" sz="2800">
                        <a:solidFill>
                          <a:srgbClr val="3333CC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3300"/>
                      </a:buClr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Tahoma" panose="020B0604030504040204" pitchFamily="34" charset="0"/>
                    </a:endParaRPr>
                  </a:p>
                </p:txBody>
              </p:sp>
              <p:sp>
                <p:nvSpPr>
                  <p:cNvPr id="78886" name="Text Box 107">
                    <a:extLst>
                      <a:ext uri="{FF2B5EF4-FFF2-40B4-BE49-F238E27FC236}">
                        <a16:creationId xmlns:a16="http://schemas.microsoft.com/office/drawing/2014/main" id="{EBDAC6FC-A296-4DAB-AE85-82F2D543DE1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80" y="1200"/>
                    <a:ext cx="288" cy="23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 type="none" w="sm" len="sm"/>
                        <a:tailEnd type="none" w="sm" len="sm"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3300"/>
                      </a:buClr>
                      <a:buSzPct val="75000"/>
                      <a:buFont typeface="Wingdings" panose="05000000000000000000" pitchFamily="2" charset="2"/>
                      <a:buChar char="m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folHlink"/>
                      </a:buClr>
                      <a:buSzPct val="69000"/>
                      <a:buFont typeface="Wingdings" panose="05000000000000000000" pitchFamily="2" charset="2"/>
                      <a:buChar char="q"/>
                      <a:defRPr kumimoji="1" sz="2800">
                        <a:solidFill>
                          <a:srgbClr val="3333CC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3300"/>
                      </a:buClr>
                      <a:buFont typeface="Wingdings" panose="05000000000000000000" pitchFamily="2" charset="2"/>
                      <a:buChar char="Ø"/>
                      <a:defRPr kumimoji="1" sz="2400">
                        <a:solidFill>
                          <a:srgbClr val="FF3300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tx1"/>
                      </a:buClr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SzTx/>
                      <a:buFontTx/>
                      <a:buNone/>
                    </a:pPr>
                    <a:r>
                      <a:rPr kumimoji="0" lang="en-US" altLang="zh-CN" sz="1800"/>
                      <a:t>23</a:t>
                    </a:r>
                  </a:p>
                </p:txBody>
              </p:sp>
              <p:cxnSp>
                <p:nvCxnSpPr>
                  <p:cNvPr id="78887" name="AutoShape 108">
                    <a:extLst>
                      <a:ext uri="{FF2B5EF4-FFF2-40B4-BE49-F238E27FC236}">
                        <a16:creationId xmlns:a16="http://schemas.microsoft.com/office/drawing/2014/main" id="{296708A8-9647-457C-B99F-6605E41F22F7}"/>
                      </a:ext>
                    </a:extLst>
                  </p:cNvPr>
                  <p:cNvCxnSpPr>
                    <a:cxnSpLocks noChangeShapeType="1"/>
                    <a:stCxn id="78885" idx="7"/>
                    <a:endCxn id="78886" idx="0"/>
                  </p:cNvCxnSpPr>
                  <p:nvPr/>
                </p:nvCxnSpPr>
                <p:spPr bwMode="auto">
                  <a:xfrm rot="-5400000" flipH="1" flipV="1">
                    <a:off x="3072" y="1146"/>
                    <a:ext cx="6" cy="102"/>
                  </a:xfrm>
                  <a:prstGeom prst="curvedConnector3">
                    <a:avLst>
                      <a:gd name="adj1" fmla="val -3100005"/>
                    </a:avLst>
                  </a:prstGeom>
                  <a:noFill/>
                  <a:ln w="12700">
                    <a:solidFill>
                      <a:schemeClr val="tx1"/>
                    </a:solidFill>
                    <a:round/>
                    <a:headEnd type="none" w="sm" len="sm"/>
                    <a:tailEnd type="triangle" w="sm" len="sm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</p:cxnSp>
            </p:grpSp>
            <p:sp>
              <p:nvSpPr>
                <p:cNvPr id="78884" name="Text Box 109">
                  <a:extLst>
                    <a:ext uri="{FF2B5EF4-FFF2-40B4-BE49-F238E27FC236}">
                      <a16:creationId xmlns:a16="http://schemas.microsoft.com/office/drawing/2014/main" id="{0DFD57ED-6F26-4341-8C35-3A50E7BA41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60" y="2016"/>
                  <a:ext cx="62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/>
                    <a:t>      digit</a:t>
                  </a:r>
                </a:p>
              </p:txBody>
            </p:sp>
          </p:grpSp>
          <p:grpSp>
            <p:nvGrpSpPr>
              <p:cNvPr id="78874" name="Group 110">
                <a:extLst>
                  <a:ext uri="{FF2B5EF4-FFF2-40B4-BE49-F238E27FC236}">
                    <a16:creationId xmlns:a16="http://schemas.microsoft.com/office/drawing/2014/main" id="{C24C3BA6-623A-4ED4-B8A2-C2B0704F4BF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20" y="2304"/>
                <a:ext cx="912" cy="336"/>
                <a:chOff x="2304" y="2304"/>
                <a:chExt cx="912" cy="336"/>
              </a:xfrm>
            </p:grpSpPr>
            <p:sp>
              <p:nvSpPr>
                <p:cNvPr id="78876" name="Oval 111">
                  <a:extLst>
                    <a:ext uri="{FF2B5EF4-FFF2-40B4-BE49-F238E27FC236}">
                      <a16:creationId xmlns:a16="http://schemas.microsoft.com/office/drawing/2014/main" id="{5E84EFB7-4BD8-430B-9118-DE67F11240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2352"/>
                  <a:ext cx="288" cy="288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78877" name="Line 112">
                  <a:extLst>
                    <a:ext uri="{FF2B5EF4-FFF2-40B4-BE49-F238E27FC236}">
                      <a16:creationId xmlns:a16="http://schemas.microsoft.com/office/drawing/2014/main" id="{97F167E8-639F-47A9-85EC-E90B32492E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92" y="2496"/>
                  <a:ext cx="624" cy="0"/>
                </a:xfrm>
                <a:prstGeom prst="line">
                  <a:avLst/>
                </a:prstGeom>
                <a:noFill/>
                <a:ln w="25400">
                  <a:solidFill>
                    <a:schemeClr val="tx1"/>
                  </a:solidFill>
                  <a:round/>
                  <a:headEnd type="none" w="sm" len="sm"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8878" name="Text Box 113">
                  <a:extLst>
                    <a:ext uri="{FF2B5EF4-FFF2-40B4-BE49-F238E27FC236}">
                      <a16:creationId xmlns:a16="http://schemas.microsoft.com/office/drawing/2014/main" id="{A08F5E9F-F698-407E-9048-FC1EEB8A016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40" y="2304"/>
                  <a:ext cx="48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/>
                    <a:t>digit</a:t>
                  </a:r>
                </a:p>
              </p:txBody>
            </p:sp>
            <p:sp>
              <p:nvSpPr>
                <p:cNvPr id="78879" name="Text Box 114">
                  <a:extLst>
                    <a:ext uri="{FF2B5EF4-FFF2-40B4-BE49-F238E27FC236}">
                      <a16:creationId xmlns:a16="http://schemas.microsoft.com/office/drawing/2014/main" id="{8D1D8503-1B71-4E37-AB82-D226EE49F6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04" y="2400"/>
                  <a:ext cx="288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1800"/>
                    <a:t>22</a:t>
                  </a:r>
                </a:p>
              </p:txBody>
            </p:sp>
          </p:grpSp>
          <p:sp>
            <p:nvSpPr>
              <p:cNvPr id="78875" name="Text Box 115">
                <a:extLst>
                  <a:ext uri="{FF2B5EF4-FFF2-40B4-BE49-F238E27FC236}">
                    <a16:creationId xmlns:a16="http://schemas.microsoft.com/office/drawing/2014/main" id="{4F5E4636-2020-4486-A282-2E53C8E676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0" y="2304"/>
                <a:ext cx="24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*</a:t>
                </a:r>
              </a:p>
            </p:txBody>
          </p:sp>
        </p:grpSp>
      </p:grpSp>
      <p:sp>
        <p:nvSpPr>
          <p:cNvPr id="161908" name="Text Box 116">
            <a:extLst>
              <a:ext uri="{FF2B5EF4-FFF2-40B4-BE49-F238E27FC236}">
                <a16:creationId xmlns:a16="http://schemas.microsoft.com/office/drawing/2014/main" id="{54F11E1C-4F9F-4093-B81B-00A5EA489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572000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FF3300"/>
                </a:solidFill>
              </a:rPr>
              <a:t>return</a:t>
            </a:r>
            <a:r>
              <a:rPr kumimoji="0" lang="en-US" altLang="zh-CN" sz="2400"/>
              <a:t>(num, install_num())</a:t>
            </a:r>
          </a:p>
        </p:txBody>
      </p:sp>
      <p:sp>
        <p:nvSpPr>
          <p:cNvPr id="78855" name="Text Box 117">
            <a:extLst>
              <a:ext uri="{FF2B5EF4-FFF2-40B4-BE49-F238E27FC236}">
                <a16:creationId xmlns:a16="http://schemas.microsoft.com/office/drawing/2014/main" id="{1BE5DB41-2461-496C-AA1F-A1F0BF50D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371600"/>
            <a:ext cx="716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num </a:t>
            </a:r>
            <a:r>
              <a:rPr kumimoji="0" lang="en-US" altLang="zh-CN" sz="2400" b="0">
                <a:sym typeface="Symbol" panose="05050102010706020507" pitchFamily="18" charset="2"/>
              </a:rPr>
              <a:t> </a:t>
            </a:r>
            <a:r>
              <a:rPr kumimoji="0" lang="en-US" altLang="zh-CN" sz="2400">
                <a:sym typeface="Symbol" panose="05050102010706020507" pitchFamily="18" charset="2"/>
              </a:rPr>
              <a:t>digit</a:t>
            </a:r>
            <a:r>
              <a:rPr kumimoji="0" lang="en-US" altLang="zh-CN" sz="2400" b="0" baseline="30000">
                <a:sym typeface="Symbol" panose="05050102010706020507" pitchFamily="18" charset="2"/>
              </a:rPr>
              <a:t>+</a:t>
            </a:r>
            <a:r>
              <a:rPr kumimoji="0" lang="en-US" altLang="zh-CN" sz="2400" b="0">
                <a:sym typeface="Symbol" panose="05050102010706020507" pitchFamily="18" charset="2"/>
              </a:rPr>
              <a:t> (.</a:t>
            </a:r>
            <a:r>
              <a:rPr kumimoji="0" lang="en-US" altLang="zh-CN" sz="2400">
                <a:sym typeface="Symbol" panose="05050102010706020507" pitchFamily="18" charset="2"/>
              </a:rPr>
              <a:t>digit</a:t>
            </a:r>
            <a:r>
              <a:rPr kumimoji="0" lang="en-US" altLang="zh-CN" sz="2400" b="0" baseline="30000">
                <a:sym typeface="Symbol" panose="05050102010706020507" pitchFamily="18" charset="2"/>
              </a:rPr>
              <a:t>+</a:t>
            </a:r>
            <a:r>
              <a:rPr kumimoji="0" lang="en-US" altLang="zh-CN" sz="2400" b="0">
                <a:sym typeface="Symbol" panose="05050102010706020507" pitchFamily="18" charset="2"/>
              </a:rPr>
              <a:t>)? (E(+|-)? </a:t>
            </a:r>
            <a:r>
              <a:rPr kumimoji="0" lang="en-US" altLang="zh-CN" sz="2400">
                <a:sym typeface="Symbol" panose="05050102010706020507" pitchFamily="18" charset="2"/>
              </a:rPr>
              <a:t>digit</a:t>
            </a:r>
            <a:r>
              <a:rPr kumimoji="0" lang="en-US" altLang="zh-CN" sz="2400" b="0" baseline="30000">
                <a:sym typeface="Symbol" panose="05050102010706020507" pitchFamily="18" charset="2"/>
              </a:rPr>
              <a:t>+</a:t>
            </a:r>
            <a:r>
              <a:rPr kumimoji="0" lang="en-US" altLang="zh-CN" sz="2400" b="0">
                <a:sym typeface="Symbol" panose="05050102010706020507" pitchFamily="18" charset="2"/>
              </a:rPr>
              <a:t>)?</a:t>
            </a:r>
          </a:p>
        </p:txBody>
      </p:sp>
      <p:sp>
        <p:nvSpPr>
          <p:cNvPr id="161910" name="Text Box 118">
            <a:extLst>
              <a:ext uri="{FF2B5EF4-FFF2-40B4-BE49-F238E27FC236}">
                <a16:creationId xmlns:a16="http://schemas.microsoft.com/office/drawing/2014/main" id="{5BEB12F2-1228-4273-9D43-5DE6346C9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23622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12.3E4</a:t>
            </a:r>
            <a:endParaRPr kumimoji="0" lang="en-US" altLang="zh-CN" sz="2400" b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161911" name="Text Box 119">
            <a:extLst>
              <a:ext uri="{FF2B5EF4-FFF2-40B4-BE49-F238E27FC236}">
                <a16:creationId xmlns:a16="http://schemas.microsoft.com/office/drawing/2014/main" id="{9B8F51C4-E9A0-4B58-834F-06E529688B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8862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12.3</a:t>
            </a:r>
            <a:endParaRPr kumimoji="0" lang="en-US" altLang="zh-CN" sz="2400" b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161912" name="Text Box 120">
            <a:extLst>
              <a:ext uri="{FF2B5EF4-FFF2-40B4-BE49-F238E27FC236}">
                <a16:creationId xmlns:a16="http://schemas.microsoft.com/office/drawing/2014/main" id="{058E8997-16AD-4C5A-BA7C-7486C3FE9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5257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12</a:t>
            </a:r>
            <a:endParaRPr kumimoji="0" lang="en-US" altLang="zh-CN" sz="2400" b="0">
              <a:solidFill>
                <a:srgbClr val="3333CC"/>
              </a:solidFill>
              <a:sym typeface="Symbol" panose="05050102010706020507" pitchFamily="18" charset="2"/>
            </a:endParaRPr>
          </a:p>
        </p:txBody>
      </p:sp>
      <p:sp>
        <p:nvSpPr>
          <p:cNvPr id="119" name="动作按钮: 自定义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B751B6A-5450-A544-8C2F-D876DD48E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6093544"/>
            <a:ext cx="647700" cy="431800"/>
          </a:xfrm>
          <a:prstGeom prst="actionButtonBlank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 dirty="0">
                <a:latin typeface="Tahoma" panose="020B0604030504040204" pitchFamily="34" charset="0"/>
              </a:rPr>
              <a:t>返回</a:t>
            </a:r>
            <a:endParaRPr lang="zh-CN" altLang="en-US" sz="24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908" grpId="0"/>
      <p:bldP spid="161910" grpId="0"/>
      <p:bldP spid="161911" grpId="0"/>
      <p:bldP spid="16191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B845D4CB-A9E8-45DA-80FE-3E5AF18725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关键字的处理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55142211-4F88-4245-8DF3-4E67D2CC50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关键字</a:t>
            </a:r>
            <a:r>
              <a:rPr lang="en-US" altLang="zh-CN"/>
              <a:t>/</a:t>
            </a:r>
            <a:r>
              <a:rPr lang="zh-CN" altLang="en-US"/>
              <a:t>保留字与标识符一样进行匹配</a:t>
            </a:r>
          </a:p>
          <a:p>
            <a:pPr lvl="1" eaLnBrk="1" hangingPunct="1"/>
            <a:r>
              <a:rPr lang="zh-CN" altLang="en-US"/>
              <a:t>保存在符号表或一个特殊的关键字表中，保存关键字的符号串和单词值（一般不需要）</a:t>
            </a:r>
          </a:p>
          <a:p>
            <a:pPr lvl="1" eaLnBrk="1" hangingPunct="1"/>
            <a:r>
              <a:rPr lang="zh-CN" altLang="en-US"/>
              <a:t>当识别出标识符</a:t>
            </a:r>
            <a:r>
              <a:rPr lang="en-US" altLang="zh-CN"/>
              <a:t>/</a:t>
            </a:r>
            <a:r>
              <a:rPr lang="zh-CN" altLang="en-US"/>
              <a:t>关键字，查询表</a:t>
            </a:r>
          </a:p>
          <a:p>
            <a:pPr lvl="1" eaLnBrk="1" hangingPunct="1"/>
            <a:r>
              <a:rPr lang="zh-CN" altLang="en-US"/>
              <a:t>若与某个关键字匹配，返回对应的单词，和单词值（若有的话）</a:t>
            </a:r>
          </a:p>
          <a:p>
            <a:pPr lvl="1" eaLnBrk="1" hangingPunct="1"/>
            <a:r>
              <a:rPr lang="zh-CN" altLang="en-US"/>
              <a:t>若与任何关键字都不匹配，则认为是标识符，进行相应处理</a:t>
            </a:r>
          </a:p>
          <a:p>
            <a:pPr lvl="1" eaLnBrk="1" hangingPunct="1"/>
            <a:endParaRPr lang="en-US" altLang="zh-CN"/>
          </a:p>
        </p:txBody>
      </p:sp>
    </p:spTree>
  </p:cSld>
  <p:clrMapOvr>
    <a:masterClrMapping/>
  </p:clrMapOvr>
  <p:transition spd="slow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20DEECD4-6833-4058-A694-30EB784616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3.4.2  </a:t>
            </a:r>
            <a:r>
              <a:rPr lang="zh-CN" altLang="en-US"/>
              <a:t>状态转换图的实现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71D41362-246B-4E1B-BB19-F00DBDDAD1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 sz="2800"/>
              <a:t>为每个状态构造一段代码</a:t>
            </a:r>
          </a:p>
          <a:p>
            <a:pPr lvl="1" eaLnBrk="1" hangingPunct="1"/>
            <a:r>
              <a:rPr lang="zh-CN" altLang="en-US" sz="2400"/>
              <a:t>普通状态</a:t>
            </a:r>
          </a:p>
          <a:p>
            <a:pPr lvl="2" eaLnBrk="1" hangingPunct="1"/>
            <a:r>
              <a:rPr lang="zh-CN" altLang="en-US" sz="2000"/>
              <a:t>读取字符</a:t>
            </a:r>
          </a:p>
          <a:p>
            <a:pPr lvl="2" eaLnBrk="1" hangingPunct="1"/>
            <a:r>
              <a:rPr lang="zh-CN" altLang="en-US" sz="2000"/>
              <a:t>每条出射边的处理：根据字符转换状态</a:t>
            </a:r>
          </a:p>
          <a:p>
            <a:pPr lvl="2" eaLnBrk="1" hangingPunct="1"/>
            <a:r>
              <a:rPr lang="zh-CN" altLang="en-US" sz="2000"/>
              <a:t>其他情况，错误</a:t>
            </a:r>
          </a:p>
          <a:p>
            <a:pPr lvl="1" eaLnBrk="1" hangingPunct="1"/>
            <a:r>
              <a:rPr lang="zh-CN" altLang="en-US" sz="2400"/>
              <a:t>终态</a:t>
            </a:r>
          </a:p>
          <a:p>
            <a:pPr lvl="2" eaLnBrk="1" hangingPunct="1"/>
            <a:r>
              <a:rPr lang="zh-CN" altLang="en-US" sz="2000"/>
              <a:t>返回单词，单词值</a:t>
            </a:r>
          </a:p>
          <a:p>
            <a:pPr eaLnBrk="1" hangingPunct="1"/>
            <a:r>
              <a:rPr lang="zh-CN" altLang="en-US" sz="2800"/>
              <a:t>错误处理</a:t>
            </a:r>
          </a:p>
          <a:p>
            <a:pPr lvl="1" eaLnBrk="1" hangingPunct="1"/>
            <a:r>
              <a:rPr lang="zh-CN" altLang="en-US" sz="2400"/>
              <a:t>尝试其他状态转换图</a:t>
            </a:r>
          </a:p>
          <a:p>
            <a:pPr lvl="1" eaLnBrk="1" hangingPunct="1"/>
            <a:r>
              <a:rPr lang="zh-CN" altLang="en-US" sz="2400"/>
              <a:t>尝试完毕，与任何单词都不匹配，词法错误，错误恢复</a:t>
            </a:r>
          </a:p>
        </p:txBody>
      </p:sp>
    </p:spTree>
  </p:cSld>
  <p:clrMapOvr>
    <a:masterClrMapping/>
  </p:clrMapOvr>
  <p:transition spd="slow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57277D00-D3C2-4AB5-98FE-E6FD06F9BA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实现代码</a:t>
            </a: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11572EE6-98E7-481D-9C43-356A665C7E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latin typeface="Courier New" panose="02070309020205020404" pitchFamily="49" charset="0"/>
              </a:rPr>
              <a:t>state = 0;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latin typeface="Courier New" panose="02070309020205020404" pitchFamily="49" charset="0"/>
              </a:rPr>
              <a:t>token </a:t>
            </a:r>
            <a:r>
              <a:rPr kumimoji="0" lang="en-US" altLang="zh-CN" sz="2400" b="1" dirty="0" err="1">
                <a:latin typeface="Courier New" panose="02070309020205020404" pitchFamily="49" charset="0"/>
              </a:rPr>
              <a:t>nexttoken</a:t>
            </a:r>
            <a:r>
              <a:rPr kumimoji="0" lang="en-US" altLang="zh-CN" sz="2400" b="1" dirty="0">
                <a:latin typeface="Courier New" panose="02070309020205020404" pitchFamily="49" charset="0"/>
              </a:rPr>
              <a:t>()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latin typeface="Courier New" panose="02070309020205020404" pitchFamily="49" charset="0"/>
              </a:rPr>
              <a:t>	while(1) {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latin typeface="Courier New" panose="02070309020205020404" pitchFamily="49" charset="0"/>
              </a:rPr>
              <a:t>		switch (state) {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latin typeface="Courier New" panose="02070309020205020404" pitchFamily="49" charset="0"/>
              </a:rPr>
              <a:t>       case 0: 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latin typeface="Courier New" panose="02070309020205020404" pitchFamily="49" charset="0"/>
              </a:rPr>
              <a:t>		  c = </a:t>
            </a:r>
            <a:r>
              <a:rPr kumimoji="0" lang="en-US" altLang="zh-CN" sz="2400" b="1" dirty="0" err="1">
                <a:latin typeface="Courier New" panose="02070309020205020404" pitchFamily="49" charset="0"/>
              </a:rPr>
              <a:t>nextchar</a:t>
            </a:r>
            <a:r>
              <a:rPr kumimoji="0" lang="en-US" altLang="zh-CN" sz="2400" b="1" dirty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latin typeface="Courier New" panose="02070309020205020404" pitchFamily="49" charset="0"/>
              </a:rPr>
              <a:t>        </a:t>
            </a:r>
            <a:endParaRPr lang="en-US" altLang="zh-CN" sz="2400" dirty="0"/>
          </a:p>
        </p:txBody>
      </p:sp>
      <p:sp>
        <p:nvSpPr>
          <p:cNvPr id="81924" name="Text Box 6">
            <a:extLst>
              <a:ext uri="{FF2B5EF4-FFF2-40B4-BE49-F238E27FC236}">
                <a16:creationId xmlns:a16="http://schemas.microsoft.com/office/drawing/2014/main" id="{759606D2-0583-4E49-B99B-9D50C3DD8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371600"/>
            <a:ext cx="18288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0" lang="zh-CN" altLang="en-US" sz="2400">
                <a:solidFill>
                  <a:schemeClr val="hlink"/>
                </a:solidFill>
              </a:rPr>
              <a:t>如何工作</a:t>
            </a:r>
            <a:r>
              <a:rPr kumimoji="0" lang="en-US" altLang="zh-CN" sz="2400">
                <a:solidFill>
                  <a:schemeClr val="hlink"/>
                </a:solidFill>
              </a:rPr>
              <a:t>?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0" lang="zh-CN" altLang="en-US" sz="2400">
                <a:solidFill>
                  <a:schemeClr val="hlink"/>
                </a:solidFill>
              </a:rPr>
              <a:t>如何扩展</a:t>
            </a:r>
            <a:r>
              <a:rPr kumimoji="0" lang="en-US" altLang="zh-CN" sz="2400">
                <a:solidFill>
                  <a:schemeClr val="hlink"/>
                </a:solidFill>
              </a:rPr>
              <a:t>?</a:t>
            </a:r>
          </a:p>
        </p:txBody>
      </p:sp>
      <p:sp>
        <p:nvSpPr>
          <p:cNvPr id="81925" name="Text Box 7">
            <a:extLst>
              <a:ext uri="{FF2B5EF4-FFF2-40B4-BE49-F238E27FC236}">
                <a16:creationId xmlns:a16="http://schemas.microsoft.com/office/drawing/2014/main" id="{A1352C68-E08B-469E-9B62-A5B80F46E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7" y="2133600"/>
            <a:ext cx="129626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chemeClr val="hlink"/>
                </a:solidFill>
              </a:rPr>
              <a:t>当前状态</a:t>
            </a:r>
          </a:p>
        </p:txBody>
      </p:sp>
      <p:sp>
        <p:nvSpPr>
          <p:cNvPr id="81926" name="Line 8">
            <a:extLst>
              <a:ext uri="{FF2B5EF4-FFF2-40B4-BE49-F238E27FC236}">
                <a16:creationId xmlns:a16="http://schemas.microsoft.com/office/drawing/2014/main" id="{4B93B04F-7890-4E34-A3B7-1EF4BB7D20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7584" y="1773238"/>
            <a:ext cx="504329" cy="40011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B9329E6F-B7BB-4852-A7EC-733D03980B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实现代码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3F399966-F67F-4A6F-9B16-3C65799CAD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		  /* c is lookahead character */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 if (c== blank || c==tab || c== newline) {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    state = 0;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    lexeme_beginning++;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    /* advance beginning of lexeme */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 }</a:t>
            </a:r>
            <a:endParaRPr lang="en-US" altLang="zh-CN" sz="2000"/>
          </a:p>
        </p:txBody>
      </p:sp>
      <p:sp>
        <p:nvSpPr>
          <p:cNvPr id="82948" name="Text Box 4">
            <a:extLst>
              <a:ext uri="{FF2B5EF4-FFF2-40B4-BE49-F238E27FC236}">
                <a16:creationId xmlns:a16="http://schemas.microsoft.com/office/drawing/2014/main" id="{8DBD6B5D-B73E-4EE3-92B2-34F0CFDF3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514600"/>
            <a:ext cx="762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>
                <a:solidFill>
                  <a:schemeClr val="hlink"/>
                </a:solidFill>
              </a:rPr>
              <a:t>作用</a:t>
            </a:r>
            <a:r>
              <a:rPr kumimoji="0" lang="en-US" altLang="zh-CN" sz="2000">
                <a:solidFill>
                  <a:schemeClr val="hlink"/>
                </a:solidFill>
              </a:rPr>
              <a:t>?</a:t>
            </a:r>
          </a:p>
        </p:txBody>
      </p:sp>
      <p:sp>
        <p:nvSpPr>
          <p:cNvPr id="82949" name="Line 5">
            <a:extLst>
              <a:ext uri="{FF2B5EF4-FFF2-40B4-BE49-F238E27FC236}">
                <a16:creationId xmlns:a16="http://schemas.microsoft.com/office/drawing/2014/main" id="{C95F4514-1226-4E8D-81DC-B91D9886C9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9800" y="2708275"/>
            <a:ext cx="706438" cy="19050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6C5E11DC-7B97-427A-8C80-4E4F63ED21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实现代码（续）</a:t>
            </a:r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4F4F4BDB-66BE-409A-851B-67B9BDFC6B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      else if (c == ‘&lt;‘) state = 1;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      else if (c == ‘=‘) state = 5;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      else if (c == ‘&gt;’) state = 6;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      else state = fail();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      break;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      … /* cases 1-8 here */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     </a:t>
            </a:r>
          </a:p>
        </p:txBody>
      </p:sp>
      <p:sp>
        <p:nvSpPr>
          <p:cNvPr id="83972" name="Text Box 7">
            <a:extLst>
              <a:ext uri="{FF2B5EF4-FFF2-40B4-BE49-F238E27FC236}">
                <a16:creationId xmlns:a16="http://schemas.microsoft.com/office/drawing/2014/main" id="{C6D1E522-E6E5-4A69-8678-B5F968BE5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2565400"/>
            <a:ext cx="20161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dirty="0">
                <a:solidFill>
                  <a:schemeClr val="hlink"/>
                </a:solidFill>
              </a:rPr>
              <a:t>不是比较运算符，怎么办？</a:t>
            </a:r>
          </a:p>
        </p:txBody>
      </p:sp>
      <p:sp>
        <p:nvSpPr>
          <p:cNvPr id="83973" name="Line 8">
            <a:extLst>
              <a:ext uri="{FF2B5EF4-FFF2-40B4-BE49-F238E27FC236}">
                <a16:creationId xmlns:a16="http://schemas.microsoft.com/office/drawing/2014/main" id="{7150878F-8C47-4E03-A639-20A4BCAE808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95513" y="2852738"/>
            <a:ext cx="431800" cy="198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50279E6-911F-4A6C-8C8A-9001B71AE048}"/>
              </a:ext>
            </a:extLst>
          </p:cNvPr>
          <p:cNvGrpSpPr/>
          <p:nvPr/>
        </p:nvGrpSpPr>
        <p:grpSpPr>
          <a:xfrm>
            <a:off x="6036407" y="2945040"/>
            <a:ext cx="2895600" cy="3810000"/>
            <a:chOff x="1295400" y="1371600"/>
            <a:chExt cx="2895600" cy="3810000"/>
          </a:xfrm>
        </p:grpSpPr>
        <p:sp>
          <p:nvSpPr>
            <p:cNvPr id="19" name="Line 5">
              <a:extLst>
                <a:ext uri="{FF2B5EF4-FFF2-40B4-BE49-F238E27FC236}">
                  <a16:creationId xmlns:a16="http://schemas.microsoft.com/office/drawing/2014/main" id="{D662ED93-7893-4558-95AD-27B37DA1CD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5400" y="1752600"/>
              <a:ext cx="990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Oval 6">
              <a:extLst>
                <a:ext uri="{FF2B5EF4-FFF2-40B4-BE49-F238E27FC236}">
                  <a16:creationId xmlns:a16="http://schemas.microsoft.com/office/drawing/2014/main" id="{A58A2506-9514-4F2E-98A0-C79AD8CBB2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15240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1" name="Line 7">
              <a:extLst>
                <a:ext uri="{FF2B5EF4-FFF2-40B4-BE49-F238E27FC236}">
                  <a16:creationId xmlns:a16="http://schemas.microsoft.com/office/drawing/2014/main" id="{06A4EB0F-491E-48B1-B4F5-403BB152CF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3200" y="1752600"/>
              <a:ext cx="99060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8">
              <a:extLst>
                <a:ext uri="{FF2B5EF4-FFF2-40B4-BE49-F238E27FC236}">
                  <a16:creationId xmlns:a16="http://schemas.microsoft.com/office/drawing/2014/main" id="{1DCF959C-AD35-499E-B6B7-4D37707EEB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1371600"/>
              <a:ext cx="9906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dirty="0"/>
                <a:t>start</a:t>
              </a:r>
            </a:p>
          </p:txBody>
        </p:sp>
        <p:sp>
          <p:nvSpPr>
            <p:cNvPr id="23" name="Text Box 9">
              <a:extLst>
                <a:ext uri="{FF2B5EF4-FFF2-40B4-BE49-F238E27FC236}">
                  <a16:creationId xmlns:a16="http://schemas.microsoft.com/office/drawing/2014/main" id="{3148934E-D12E-4D65-A0EF-7D85559D8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9400" y="13716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&lt;</a:t>
              </a:r>
            </a:p>
          </p:txBody>
        </p:sp>
        <p:sp>
          <p:nvSpPr>
            <p:cNvPr id="24" name="Text Box 10">
              <a:extLst>
                <a:ext uri="{FF2B5EF4-FFF2-40B4-BE49-F238E27FC236}">
                  <a16:creationId xmlns:a16="http://schemas.microsoft.com/office/drawing/2014/main" id="{F3711229-1698-4DB5-AF22-FAFB3F4ECD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2200" y="1524000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dirty="0"/>
                <a:t>0</a:t>
              </a:r>
            </a:p>
          </p:txBody>
        </p:sp>
        <p:sp>
          <p:nvSpPr>
            <p:cNvPr id="25" name="Oval 18">
              <a:extLst>
                <a:ext uri="{FF2B5EF4-FFF2-40B4-BE49-F238E27FC236}">
                  <a16:creationId xmlns:a16="http://schemas.microsoft.com/office/drawing/2014/main" id="{C541EE6E-0EEC-495E-8031-3266C1E83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47244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6" name="Text Box 19">
              <a:extLst>
                <a:ext uri="{FF2B5EF4-FFF2-40B4-BE49-F238E27FC236}">
                  <a16:creationId xmlns:a16="http://schemas.microsoft.com/office/drawing/2014/main" id="{CAEBAF30-101B-4BB9-A243-13B062EA6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0" y="4724400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6</a:t>
              </a:r>
            </a:p>
          </p:txBody>
        </p:sp>
        <p:sp>
          <p:nvSpPr>
            <p:cNvPr id="27" name="Oval 27">
              <a:extLst>
                <a:ext uri="{FF2B5EF4-FFF2-40B4-BE49-F238E27FC236}">
                  <a16:creationId xmlns:a16="http://schemas.microsoft.com/office/drawing/2014/main" id="{5DB3E5D7-1C10-4AF2-BD24-848B6B08C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37338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8" name="Oval 28">
              <a:extLst>
                <a:ext uri="{FF2B5EF4-FFF2-40B4-BE49-F238E27FC236}">
                  <a16:creationId xmlns:a16="http://schemas.microsoft.com/office/drawing/2014/main" id="{63267DFB-4A6F-4516-AD47-5D93A7E5D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0" y="3810000"/>
              <a:ext cx="304800" cy="3048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29" name="Text Box 29">
              <a:extLst>
                <a:ext uri="{FF2B5EF4-FFF2-40B4-BE49-F238E27FC236}">
                  <a16:creationId xmlns:a16="http://schemas.microsoft.com/office/drawing/2014/main" id="{99F52A28-8954-4C49-B449-EF54560F5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0" y="3733800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5</a:t>
              </a:r>
            </a:p>
          </p:txBody>
        </p:sp>
        <p:sp>
          <p:nvSpPr>
            <p:cNvPr id="30" name="Oval 41">
              <a:extLst>
                <a:ext uri="{FF2B5EF4-FFF2-40B4-BE49-F238E27FC236}">
                  <a16:creationId xmlns:a16="http://schemas.microsoft.com/office/drawing/2014/main" id="{D0202E3A-285E-44D7-A040-E3B5A83D6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1524000"/>
              <a:ext cx="457200" cy="4572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31" name="Text Box 42">
              <a:extLst>
                <a:ext uri="{FF2B5EF4-FFF2-40B4-BE49-F238E27FC236}">
                  <a16:creationId xmlns:a16="http://schemas.microsoft.com/office/drawing/2014/main" id="{44CE691D-DEFD-4EF0-A2FA-920B383218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0000" y="1524000"/>
              <a:ext cx="3048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</a:t>
              </a:r>
            </a:p>
          </p:txBody>
        </p:sp>
        <p:cxnSp>
          <p:nvCxnSpPr>
            <p:cNvPr id="32" name="AutoShape 49">
              <a:extLst>
                <a:ext uri="{FF2B5EF4-FFF2-40B4-BE49-F238E27FC236}">
                  <a16:creationId xmlns:a16="http://schemas.microsoft.com/office/drawing/2014/main" id="{3DC12B63-65B9-4895-A87E-765B2EEDA13F}"/>
                </a:ext>
              </a:extLst>
            </p:cNvPr>
            <p:cNvCxnSpPr>
              <a:cxnSpLocks noChangeShapeType="1"/>
              <a:endCxn id="27" idx="2"/>
            </p:cNvCxnSpPr>
            <p:nvPr/>
          </p:nvCxnSpPr>
          <p:spPr bwMode="auto">
            <a:xfrm rot="16200000" flipH="1">
              <a:off x="2133600" y="2362200"/>
              <a:ext cx="1981200" cy="1219200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3" name="AutoShape 50">
              <a:extLst>
                <a:ext uri="{FF2B5EF4-FFF2-40B4-BE49-F238E27FC236}">
                  <a16:creationId xmlns:a16="http://schemas.microsoft.com/office/drawing/2014/main" id="{9A6F6779-CF73-4DF2-A0A0-E2E34F531144}"/>
                </a:ext>
              </a:extLst>
            </p:cNvPr>
            <p:cNvCxnSpPr>
              <a:cxnSpLocks noChangeShapeType="1"/>
              <a:stCxn id="20" idx="4"/>
              <a:endCxn id="25" idx="2"/>
            </p:cNvCxnSpPr>
            <p:nvPr/>
          </p:nvCxnSpPr>
          <p:spPr bwMode="auto">
            <a:xfrm rot="16200000" flipH="1">
              <a:off x="1638300" y="2857500"/>
              <a:ext cx="2971800" cy="1219200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4" name="Text Box 52">
              <a:extLst>
                <a:ext uri="{FF2B5EF4-FFF2-40B4-BE49-F238E27FC236}">
                  <a16:creationId xmlns:a16="http://schemas.microsoft.com/office/drawing/2014/main" id="{16C2FEDA-DE24-47F1-9C78-2A23C21514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9400" y="41148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&gt;</a:t>
              </a:r>
            </a:p>
          </p:txBody>
        </p:sp>
        <p:sp>
          <p:nvSpPr>
            <p:cNvPr id="35" name="Text Box 53">
              <a:extLst>
                <a:ext uri="{FF2B5EF4-FFF2-40B4-BE49-F238E27FC236}">
                  <a16:creationId xmlns:a16="http://schemas.microsoft.com/office/drawing/2014/main" id="{B849D7AD-4686-4028-8503-CFF404C224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32004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=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/>
      <p:bldP spid="83973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39922969-CB75-4234-810A-E7981E365D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实现代码（续）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B2C490C7-B055-4E8D-B115-E525B4D6F4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95400"/>
            <a:ext cx="7772400" cy="5486400"/>
          </a:xfrm>
        </p:spPr>
        <p:txBody>
          <a:bodyPr/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int state = 0,  start = 0;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int </a:t>
            </a:r>
            <a:r>
              <a:rPr kumimoji="0" lang="en-US" altLang="zh-CN" sz="2000" b="1" dirty="0" err="1">
                <a:latin typeface="Courier New" panose="02070309020205020404" pitchFamily="49" charset="0"/>
              </a:rPr>
              <a:t>lexical_value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;    /* “</a:t>
            </a:r>
            <a:r>
              <a:rPr kumimoji="0" lang="zh-CN" altLang="en-US" sz="2000" b="1" dirty="0">
                <a:latin typeface="Courier New" panose="02070309020205020404" pitchFamily="49" charset="0"/>
              </a:rPr>
              <a:t>返回” 词法值 *</a:t>
            </a:r>
            <a:r>
              <a:rPr kumimoji="0" lang="en-US" altLang="zh-CN" sz="2000" b="1" dirty="0">
                <a:latin typeface="Courier New" panose="02070309020205020404" pitchFamily="49" charset="0"/>
              </a:rPr>
              <a:t>/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int fail()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{	   forward = lexeme beginning;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switch (start) {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  case 0:   start = 9;  break;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  case 9:   start = 12; break;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  case 12:  start = 20; break;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  case 20:  start = 25; break;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  case 25:  recover();  break;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   default:   /* compiler error */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}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     return start;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84996" name="Text Box 4">
            <a:extLst>
              <a:ext uri="{FF2B5EF4-FFF2-40B4-BE49-F238E27FC236}">
                <a16:creationId xmlns:a16="http://schemas.microsoft.com/office/drawing/2014/main" id="{7B1127C9-111A-49D7-8E44-C4FA3156C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997200"/>
            <a:ext cx="2016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800">
                <a:solidFill>
                  <a:schemeClr val="hlink"/>
                </a:solidFill>
              </a:rPr>
              <a:t>不是比较运算符，是不是标识符呢？</a:t>
            </a:r>
          </a:p>
        </p:txBody>
      </p:sp>
      <p:sp>
        <p:nvSpPr>
          <p:cNvPr id="84997" name="Line 5">
            <a:extLst>
              <a:ext uri="{FF2B5EF4-FFF2-40B4-BE49-F238E27FC236}">
                <a16:creationId xmlns:a16="http://schemas.microsoft.com/office/drawing/2014/main" id="{3579DB05-1F8B-4938-BDAF-4C641B7A8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5695" y="3284983"/>
            <a:ext cx="2160241" cy="6227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998" name="Text Box 6">
            <a:extLst>
              <a:ext uri="{FF2B5EF4-FFF2-40B4-BE49-F238E27FC236}">
                <a16:creationId xmlns:a16="http://schemas.microsoft.com/office/drawing/2014/main" id="{B0BC18BE-8C27-4F36-9F4F-C2FF211195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789040"/>
            <a:ext cx="2016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800" dirty="0">
                <a:solidFill>
                  <a:schemeClr val="hlink"/>
                </a:solidFill>
              </a:rPr>
              <a:t>也不是标识符，是不是数值常量呢？</a:t>
            </a:r>
          </a:p>
        </p:txBody>
      </p:sp>
      <p:sp>
        <p:nvSpPr>
          <p:cNvPr id="84999" name="Line 7">
            <a:extLst>
              <a:ext uri="{FF2B5EF4-FFF2-40B4-BE49-F238E27FC236}">
                <a16:creationId xmlns:a16="http://schemas.microsoft.com/office/drawing/2014/main" id="{4EADA4F2-0388-4E1D-BF71-BA41FCF1357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35696" y="3658244"/>
            <a:ext cx="2160240" cy="471905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000" name="Text Box 8">
            <a:extLst>
              <a:ext uri="{FF2B5EF4-FFF2-40B4-BE49-F238E27FC236}">
                <a16:creationId xmlns:a16="http://schemas.microsoft.com/office/drawing/2014/main" id="{954FBADF-9DA8-4D8A-9BE3-1140EECD3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745038"/>
            <a:ext cx="20161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800">
                <a:solidFill>
                  <a:schemeClr val="hlink"/>
                </a:solidFill>
              </a:rPr>
              <a:t>什么都不是，那就是词法错误了。</a:t>
            </a:r>
          </a:p>
        </p:txBody>
      </p:sp>
      <p:sp>
        <p:nvSpPr>
          <p:cNvPr id="85001" name="Line 9">
            <a:extLst>
              <a:ext uri="{FF2B5EF4-FFF2-40B4-BE49-F238E27FC236}">
                <a16:creationId xmlns:a16="http://schemas.microsoft.com/office/drawing/2014/main" id="{AA9CA1AB-F66A-4B96-91EE-0919BBCF27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1050" y="4745038"/>
            <a:ext cx="1944886" cy="280987"/>
          </a:xfrm>
          <a:prstGeom prst="line">
            <a:avLst/>
          </a:prstGeom>
          <a:noFill/>
          <a:ln w="25400">
            <a:solidFill>
              <a:schemeClr val="hlink"/>
            </a:solidFill>
            <a:round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/>
      <p:bldP spid="84997" grpId="0" animBg="1"/>
      <p:bldP spid="84998" grpId="0"/>
      <p:bldP spid="84999" grpId="0" animBg="1"/>
      <p:bldP spid="85000" grpId="0"/>
      <p:bldP spid="85001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14B50394-97C3-4080-B03D-67552CB6BD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实现代码（续）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8001829F-78CF-47AB-9F4D-AA81D60D52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latin typeface="Courier New" panose="02070309020205020404" pitchFamily="49" charset="0"/>
              </a:rPr>
              <a:t>       case 9: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latin typeface="Courier New" panose="02070309020205020404" pitchFamily="49" charset="0"/>
              </a:rPr>
              <a:t>		  c = </a:t>
            </a:r>
            <a:r>
              <a:rPr kumimoji="0" lang="en-US" altLang="zh-CN" sz="2400" b="1" dirty="0" err="1">
                <a:latin typeface="Courier New" panose="02070309020205020404" pitchFamily="49" charset="0"/>
              </a:rPr>
              <a:t>nextchar</a:t>
            </a:r>
            <a:r>
              <a:rPr kumimoji="0" lang="en-US" altLang="zh-CN" sz="2400" b="1" dirty="0">
                <a:latin typeface="Courier New" panose="02070309020205020404" pitchFamily="49" charset="0"/>
              </a:rPr>
              <a:t>();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latin typeface="Courier New" panose="02070309020205020404" pitchFamily="49" charset="0"/>
              </a:rPr>
              <a:t>        if (</a:t>
            </a:r>
            <a:r>
              <a:rPr kumimoji="0" lang="en-US" altLang="zh-CN" sz="2400" b="1" dirty="0" err="1">
                <a:latin typeface="Courier New" panose="02070309020205020404" pitchFamily="49" charset="0"/>
              </a:rPr>
              <a:t>isletter</a:t>
            </a:r>
            <a:r>
              <a:rPr kumimoji="0" lang="en-US" altLang="zh-CN" sz="2400" b="1" dirty="0">
                <a:latin typeface="Courier New" panose="02070309020205020404" pitchFamily="49" charset="0"/>
              </a:rPr>
              <a:t>(c)) state = 10;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latin typeface="Courier New" panose="02070309020205020404" pitchFamily="49" charset="0"/>
              </a:rPr>
              <a:t>        else state = fail();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>
                <a:latin typeface="Courier New" panose="02070309020205020404" pitchFamily="49" charset="0"/>
              </a:rPr>
              <a:t>        break;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 b="1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400" b="1" dirty="0">
              <a:latin typeface="Courier New" panose="02070309020205020404" pitchFamily="49" charset="0"/>
            </a:endParaRPr>
          </a:p>
        </p:txBody>
      </p:sp>
      <p:sp>
        <p:nvSpPr>
          <p:cNvPr id="4" name="Line 26">
            <a:extLst>
              <a:ext uri="{FF2B5EF4-FFF2-40B4-BE49-F238E27FC236}">
                <a16:creationId xmlns:a16="http://schemas.microsoft.com/office/drawing/2014/main" id="{641F210A-83F5-41C4-BF40-BA9E212F25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7136" y="5864696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Oval 27">
            <a:extLst>
              <a:ext uri="{FF2B5EF4-FFF2-40B4-BE49-F238E27FC236}">
                <a16:creationId xmlns:a16="http://schemas.microsoft.com/office/drawing/2014/main" id="{741C3964-A170-46D9-9139-368041EC8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736" y="5636096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6" name="Line 28">
            <a:extLst>
              <a:ext uri="{FF2B5EF4-FFF2-40B4-BE49-F238E27FC236}">
                <a16:creationId xmlns:a16="http://schemas.microsoft.com/office/drawing/2014/main" id="{0F02AE37-68F4-4540-BB7E-2A09190566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4936" y="5864696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29">
            <a:extLst>
              <a:ext uri="{FF2B5EF4-FFF2-40B4-BE49-F238E27FC236}">
                <a16:creationId xmlns:a16="http://schemas.microsoft.com/office/drawing/2014/main" id="{A615DCE4-EAD7-490F-9EDD-F28EC90ACF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336" y="5483696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sp>
        <p:nvSpPr>
          <p:cNvPr id="8" name="Text Box 30">
            <a:extLst>
              <a:ext uri="{FF2B5EF4-FFF2-40B4-BE49-F238E27FC236}">
                <a16:creationId xmlns:a16="http://schemas.microsoft.com/office/drawing/2014/main" id="{DFD702A7-1E65-4987-BDC2-704D7B28C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1136" y="5483696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letter</a:t>
            </a:r>
          </a:p>
        </p:txBody>
      </p:sp>
      <p:sp>
        <p:nvSpPr>
          <p:cNvPr id="9" name="Text Box 31">
            <a:extLst>
              <a:ext uri="{FF2B5EF4-FFF2-40B4-BE49-F238E27FC236}">
                <a16:creationId xmlns:a16="http://schemas.microsoft.com/office/drawing/2014/main" id="{92996487-4791-47CA-8D9E-73B249CDC9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736" y="5636096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9</a:t>
            </a:r>
          </a:p>
        </p:txBody>
      </p:sp>
      <p:sp>
        <p:nvSpPr>
          <p:cNvPr id="10" name="Line 32">
            <a:extLst>
              <a:ext uri="{FF2B5EF4-FFF2-40B4-BE49-F238E27FC236}">
                <a16:creationId xmlns:a16="http://schemas.microsoft.com/office/drawing/2014/main" id="{4ECB64BE-E734-4218-BB3B-24FEE3FE8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2736" y="5864696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33">
            <a:extLst>
              <a:ext uri="{FF2B5EF4-FFF2-40B4-BE49-F238E27FC236}">
                <a16:creationId xmlns:a16="http://schemas.microsoft.com/office/drawing/2014/main" id="{772D8268-317B-4399-A197-22C0C86B2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2736" y="5483696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other</a:t>
            </a:r>
          </a:p>
        </p:txBody>
      </p:sp>
      <p:sp>
        <p:nvSpPr>
          <p:cNvPr id="12" name="Oval 35">
            <a:extLst>
              <a:ext uri="{FF2B5EF4-FFF2-40B4-BE49-F238E27FC236}">
                <a16:creationId xmlns:a16="http://schemas.microsoft.com/office/drawing/2014/main" id="{A677DF0E-3809-4CE1-96E1-7FCA4FED6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0936" y="5636096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" name="Oval 36">
            <a:extLst>
              <a:ext uri="{FF2B5EF4-FFF2-40B4-BE49-F238E27FC236}">
                <a16:creationId xmlns:a16="http://schemas.microsoft.com/office/drawing/2014/main" id="{A973308B-231F-43B8-A2BA-625C34F8C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136" y="5712296"/>
            <a:ext cx="304800" cy="304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4" name="Text Box 37">
            <a:extLst>
              <a:ext uri="{FF2B5EF4-FFF2-40B4-BE49-F238E27FC236}">
                <a16:creationId xmlns:a16="http://schemas.microsoft.com/office/drawing/2014/main" id="{F6D0DE3C-86FF-43C1-8561-41944610C3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736" y="5636096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11</a:t>
            </a:r>
          </a:p>
        </p:txBody>
      </p:sp>
      <p:sp>
        <p:nvSpPr>
          <p:cNvPr id="15" name="Oval 39">
            <a:extLst>
              <a:ext uri="{FF2B5EF4-FFF2-40B4-BE49-F238E27FC236}">
                <a16:creationId xmlns:a16="http://schemas.microsoft.com/office/drawing/2014/main" id="{D73AD9E0-47D6-4571-B397-3F3ABA4AC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5536" y="5636096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6" name="Text Box 40">
            <a:extLst>
              <a:ext uri="{FF2B5EF4-FFF2-40B4-BE49-F238E27FC236}">
                <a16:creationId xmlns:a16="http://schemas.microsoft.com/office/drawing/2014/main" id="{AB30FE96-CF87-4636-8C79-D2C3FC5F1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9336" y="5636096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10</a:t>
            </a:r>
          </a:p>
        </p:txBody>
      </p:sp>
      <p:cxnSp>
        <p:nvCxnSpPr>
          <p:cNvPr id="17" name="AutoShape 41">
            <a:extLst>
              <a:ext uri="{FF2B5EF4-FFF2-40B4-BE49-F238E27FC236}">
                <a16:creationId xmlns:a16="http://schemas.microsoft.com/office/drawing/2014/main" id="{84D4B48E-9A34-4425-A9C0-40754A2B6AF9}"/>
              </a:ext>
            </a:extLst>
          </p:cNvPr>
          <p:cNvCxnSpPr>
            <a:cxnSpLocks noChangeShapeType="1"/>
            <a:stCxn id="15" idx="7"/>
            <a:endCxn id="16" idx="0"/>
          </p:cNvCxnSpPr>
          <p:nvPr/>
        </p:nvCxnSpPr>
        <p:spPr bwMode="auto">
          <a:xfrm rot="5400000" flipH="1">
            <a:off x="4881761" y="5588471"/>
            <a:ext cx="66675" cy="161925"/>
          </a:xfrm>
          <a:prstGeom prst="curvedConnector3">
            <a:avLst>
              <a:gd name="adj1" fmla="val 442856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 Box 42">
            <a:extLst>
              <a:ext uri="{FF2B5EF4-FFF2-40B4-BE49-F238E27FC236}">
                <a16:creationId xmlns:a16="http://schemas.microsoft.com/office/drawing/2014/main" id="{D03508DA-7CB6-455F-A5E5-0CB1B5715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936" y="5026496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letter or digit</a:t>
            </a:r>
          </a:p>
        </p:txBody>
      </p:sp>
      <p:sp>
        <p:nvSpPr>
          <p:cNvPr id="19" name="Text Box 43">
            <a:extLst>
              <a:ext uri="{FF2B5EF4-FFF2-40B4-BE49-F238E27FC236}">
                <a16:creationId xmlns:a16="http://schemas.microsoft.com/office/drawing/2014/main" id="{14839890-121C-4EE7-A245-567C14D4C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5736" y="555989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*</a:t>
            </a:r>
          </a:p>
        </p:txBody>
      </p:sp>
    </p:spTree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2904BD49-C2B1-46DC-B527-8643AD4057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实现代码（续）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6B102E5A-832B-4A3B-BE0E-BC5200AFC3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     case 10: 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		   c = nextchar();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      if (isletter(c)) state = 10;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      else if (isdigit(c)) state = 10;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      else state = 11;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>
                <a:latin typeface="Courier New" panose="02070309020205020404" pitchFamily="49" charset="0"/>
              </a:rPr>
              <a:t>        break: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         </a:t>
            </a:r>
            <a:endParaRPr kumimoji="0" lang="en-US" altLang="zh-CN" sz="2400" b="1">
              <a:latin typeface="Courier New" panose="02070309020205020404" pitchFamily="49" charset="0"/>
            </a:endParaRPr>
          </a:p>
        </p:txBody>
      </p:sp>
      <p:sp>
        <p:nvSpPr>
          <p:cNvPr id="20" name="Line 26">
            <a:extLst>
              <a:ext uri="{FF2B5EF4-FFF2-40B4-BE49-F238E27FC236}">
                <a16:creationId xmlns:a16="http://schemas.microsoft.com/office/drawing/2014/main" id="{DFCECFC0-AD20-425F-A7C5-6DBE6921666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7136" y="5864696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Oval 27">
            <a:extLst>
              <a:ext uri="{FF2B5EF4-FFF2-40B4-BE49-F238E27FC236}">
                <a16:creationId xmlns:a16="http://schemas.microsoft.com/office/drawing/2014/main" id="{B008B6C9-384E-4737-A918-4BCBD151F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736" y="5636096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22" name="Line 28">
            <a:extLst>
              <a:ext uri="{FF2B5EF4-FFF2-40B4-BE49-F238E27FC236}">
                <a16:creationId xmlns:a16="http://schemas.microsoft.com/office/drawing/2014/main" id="{AE59993F-35E4-4343-A861-E49DA52CD8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4936" y="5864696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Text Box 29">
            <a:extLst>
              <a:ext uri="{FF2B5EF4-FFF2-40B4-BE49-F238E27FC236}">
                <a16:creationId xmlns:a16="http://schemas.microsoft.com/office/drawing/2014/main" id="{A5ABE388-B497-4599-805D-344C29503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336" y="5483696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sp>
        <p:nvSpPr>
          <p:cNvPr id="24" name="Text Box 30">
            <a:extLst>
              <a:ext uri="{FF2B5EF4-FFF2-40B4-BE49-F238E27FC236}">
                <a16:creationId xmlns:a16="http://schemas.microsoft.com/office/drawing/2014/main" id="{89DB68D6-B2A2-40CD-B305-D71FCB5E7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1136" y="5483696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letter</a:t>
            </a:r>
          </a:p>
        </p:txBody>
      </p:sp>
      <p:sp>
        <p:nvSpPr>
          <p:cNvPr id="25" name="Text Box 31">
            <a:extLst>
              <a:ext uri="{FF2B5EF4-FFF2-40B4-BE49-F238E27FC236}">
                <a16:creationId xmlns:a16="http://schemas.microsoft.com/office/drawing/2014/main" id="{BEDDC393-2263-459F-904C-8AD3E8831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736" y="5636096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9</a:t>
            </a:r>
          </a:p>
        </p:txBody>
      </p:sp>
      <p:sp>
        <p:nvSpPr>
          <p:cNvPr id="26" name="Line 32">
            <a:extLst>
              <a:ext uri="{FF2B5EF4-FFF2-40B4-BE49-F238E27FC236}">
                <a16:creationId xmlns:a16="http://schemas.microsoft.com/office/drawing/2014/main" id="{892715B7-6A18-4B36-A2C7-31860EA0FF82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2736" y="5864696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Text Box 33">
            <a:extLst>
              <a:ext uri="{FF2B5EF4-FFF2-40B4-BE49-F238E27FC236}">
                <a16:creationId xmlns:a16="http://schemas.microsoft.com/office/drawing/2014/main" id="{0D2DD045-C33D-4E5B-AB52-27A3B8A03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2736" y="5483696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other</a:t>
            </a:r>
          </a:p>
        </p:txBody>
      </p:sp>
      <p:sp>
        <p:nvSpPr>
          <p:cNvPr id="28" name="Oval 35">
            <a:extLst>
              <a:ext uri="{FF2B5EF4-FFF2-40B4-BE49-F238E27FC236}">
                <a16:creationId xmlns:a16="http://schemas.microsoft.com/office/drawing/2014/main" id="{054058DB-56A2-4602-8BA5-FE5F692B09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0936" y="5636096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29" name="Oval 36">
            <a:extLst>
              <a:ext uri="{FF2B5EF4-FFF2-40B4-BE49-F238E27FC236}">
                <a16:creationId xmlns:a16="http://schemas.microsoft.com/office/drawing/2014/main" id="{73696B25-5807-4D42-A487-E7FEAC7AD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136" y="5712296"/>
            <a:ext cx="304800" cy="304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30" name="Text Box 37">
            <a:extLst>
              <a:ext uri="{FF2B5EF4-FFF2-40B4-BE49-F238E27FC236}">
                <a16:creationId xmlns:a16="http://schemas.microsoft.com/office/drawing/2014/main" id="{82377C83-0690-4D98-92F5-10696191F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736" y="5636096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11</a:t>
            </a:r>
          </a:p>
        </p:txBody>
      </p:sp>
      <p:sp>
        <p:nvSpPr>
          <p:cNvPr id="31" name="Oval 39">
            <a:extLst>
              <a:ext uri="{FF2B5EF4-FFF2-40B4-BE49-F238E27FC236}">
                <a16:creationId xmlns:a16="http://schemas.microsoft.com/office/drawing/2014/main" id="{D420A56D-73F9-44B7-A28F-54F895752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5536" y="5636096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32" name="Text Box 40">
            <a:extLst>
              <a:ext uri="{FF2B5EF4-FFF2-40B4-BE49-F238E27FC236}">
                <a16:creationId xmlns:a16="http://schemas.microsoft.com/office/drawing/2014/main" id="{36E88012-6E74-4352-8933-F2939A794A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9336" y="5636096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10</a:t>
            </a:r>
          </a:p>
        </p:txBody>
      </p:sp>
      <p:cxnSp>
        <p:nvCxnSpPr>
          <p:cNvPr id="33" name="AutoShape 41">
            <a:extLst>
              <a:ext uri="{FF2B5EF4-FFF2-40B4-BE49-F238E27FC236}">
                <a16:creationId xmlns:a16="http://schemas.microsoft.com/office/drawing/2014/main" id="{990C531C-B446-41C1-9322-1DEBE3782908}"/>
              </a:ext>
            </a:extLst>
          </p:cNvPr>
          <p:cNvCxnSpPr>
            <a:cxnSpLocks noChangeShapeType="1"/>
            <a:stCxn id="31" idx="7"/>
            <a:endCxn id="32" idx="0"/>
          </p:cNvCxnSpPr>
          <p:nvPr/>
        </p:nvCxnSpPr>
        <p:spPr bwMode="auto">
          <a:xfrm rot="5400000" flipH="1">
            <a:off x="4881761" y="5588471"/>
            <a:ext cx="66675" cy="161925"/>
          </a:xfrm>
          <a:prstGeom prst="curvedConnector3">
            <a:avLst>
              <a:gd name="adj1" fmla="val 442856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 Box 42">
            <a:extLst>
              <a:ext uri="{FF2B5EF4-FFF2-40B4-BE49-F238E27FC236}">
                <a16:creationId xmlns:a16="http://schemas.microsoft.com/office/drawing/2014/main" id="{264AA19F-3A12-4DD0-AF14-37EA0988B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936" y="5026496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letter or digit</a:t>
            </a:r>
          </a:p>
        </p:txBody>
      </p:sp>
      <p:sp>
        <p:nvSpPr>
          <p:cNvPr id="35" name="Text Box 43">
            <a:extLst>
              <a:ext uri="{FF2B5EF4-FFF2-40B4-BE49-F238E27FC236}">
                <a16:creationId xmlns:a16="http://schemas.microsoft.com/office/drawing/2014/main" id="{0D1FD898-71BC-4741-82B5-F0AC3D5872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5736" y="555989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*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08E1CED8-D3C7-41F2-B140-EC7F0B16D2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实现代码（续）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169154C5-4DB5-45A9-B7B8-F53BCCA915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case 11; 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		  retract(1); install_id();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 return ( gettoken() );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 … /* cases 12-24 here */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case 25: 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		  c = nextchar();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 if (isdigit(c)) state = 26;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 else state = fail();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 break;</a:t>
            </a:r>
          </a:p>
        </p:txBody>
      </p:sp>
      <p:sp>
        <p:nvSpPr>
          <p:cNvPr id="4" name="Line 26">
            <a:extLst>
              <a:ext uri="{FF2B5EF4-FFF2-40B4-BE49-F238E27FC236}">
                <a16:creationId xmlns:a16="http://schemas.microsoft.com/office/drawing/2014/main" id="{B1837595-B03B-4357-9C95-2AA261ABF4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7136" y="5864696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" name="Oval 27">
            <a:extLst>
              <a:ext uri="{FF2B5EF4-FFF2-40B4-BE49-F238E27FC236}">
                <a16:creationId xmlns:a16="http://schemas.microsoft.com/office/drawing/2014/main" id="{93F93752-684D-46BF-A8D7-9EE4DE58B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736" y="5636096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6" name="Line 28">
            <a:extLst>
              <a:ext uri="{FF2B5EF4-FFF2-40B4-BE49-F238E27FC236}">
                <a16:creationId xmlns:a16="http://schemas.microsoft.com/office/drawing/2014/main" id="{89430DE4-7901-48C2-9882-8FA3664509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4936" y="5864696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29">
            <a:extLst>
              <a:ext uri="{FF2B5EF4-FFF2-40B4-BE49-F238E27FC236}">
                <a16:creationId xmlns:a16="http://schemas.microsoft.com/office/drawing/2014/main" id="{5F1471D7-8D7C-430B-BB45-8DF0F388C5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3336" y="5483696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sp>
        <p:nvSpPr>
          <p:cNvPr id="8" name="Text Box 30">
            <a:extLst>
              <a:ext uri="{FF2B5EF4-FFF2-40B4-BE49-F238E27FC236}">
                <a16:creationId xmlns:a16="http://schemas.microsoft.com/office/drawing/2014/main" id="{0B978E8A-89D0-4EA7-B90C-852626C13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1136" y="5483696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letter</a:t>
            </a:r>
          </a:p>
        </p:txBody>
      </p:sp>
      <p:sp>
        <p:nvSpPr>
          <p:cNvPr id="9" name="Text Box 31">
            <a:extLst>
              <a:ext uri="{FF2B5EF4-FFF2-40B4-BE49-F238E27FC236}">
                <a16:creationId xmlns:a16="http://schemas.microsoft.com/office/drawing/2014/main" id="{D7A83801-C484-41FC-9931-B98F73E4F8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7736" y="5636096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9</a:t>
            </a:r>
          </a:p>
        </p:txBody>
      </p:sp>
      <p:sp>
        <p:nvSpPr>
          <p:cNvPr id="10" name="Line 32">
            <a:extLst>
              <a:ext uri="{FF2B5EF4-FFF2-40B4-BE49-F238E27FC236}">
                <a16:creationId xmlns:a16="http://schemas.microsoft.com/office/drawing/2014/main" id="{DD879FD3-789C-478D-AE3B-CBC973FE79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2736" y="5864696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33">
            <a:extLst>
              <a:ext uri="{FF2B5EF4-FFF2-40B4-BE49-F238E27FC236}">
                <a16:creationId xmlns:a16="http://schemas.microsoft.com/office/drawing/2014/main" id="{407B26BD-76B8-42BD-9ABE-233283755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2736" y="5483696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other</a:t>
            </a:r>
          </a:p>
        </p:txBody>
      </p:sp>
      <p:sp>
        <p:nvSpPr>
          <p:cNvPr id="12" name="Oval 35">
            <a:extLst>
              <a:ext uri="{FF2B5EF4-FFF2-40B4-BE49-F238E27FC236}">
                <a16:creationId xmlns:a16="http://schemas.microsoft.com/office/drawing/2014/main" id="{87746F82-E883-468D-9375-C6255D5EB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0936" y="5636096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" name="Oval 36">
            <a:extLst>
              <a:ext uri="{FF2B5EF4-FFF2-40B4-BE49-F238E27FC236}">
                <a16:creationId xmlns:a16="http://schemas.microsoft.com/office/drawing/2014/main" id="{0CDCA7C5-70A6-44CA-81C1-FB09A6C93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7136" y="5712296"/>
            <a:ext cx="304800" cy="304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4" name="Text Box 37">
            <a:extLst>
              <a:ext uri="{FF2B5EF4-FFF2-40B4-BE49-F238E27FC236}">
                <a16:creationId xmlns:a16="http://schemas.microsoft.com/office/drawing/2014/main" id="{5E0D79AC-C651-4575-AE34-2F42FDAA2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4736" y="5636096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11</a:t>
            </a:r>
          </a:p>
        </p:txBody>
      </p:sp>
      <p:sp>
        <p:nvSpPr>
          <p:cNvPr id="15" name="Oval 39">
            <a:extLst>
              <a:ext uri="{FF2B5EF4-FFF2-40B4-BE49-F238E27FC236}">
                <a16:creationId xmlns:a16="http://schemas.microsoft.com/office/drawing/2014/main" id="{1F22B35D-311A-46B5-B25A-F6CEE53D1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5536" y="5636096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6" name="Text Box 40">
            <a:extLst>
              <a:ext uri="{FF2B5EF4-FFF2-40B4-BE49-F238E27FC236}">
                <a16:creationId xmlns:a16="http://schemas.microsoft.com/office/drawing/2014/main" id="{1491FC19-36C4-48B3-AFE5-9A8CD2BD0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9336" y="5636096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10</a:t>
            </a:r>
          </a:p>
        </p:txBody>
      </p:sp>
      <p:cxnSp>
        <p:nvCxnSpPr>
          <p:cNvPr id="17" name="AutoShape 41">
            <a:extLst>
              <a:ext uri="{FF2B5EF4-FFF2-40B4-BE49-F238E27FC236}">
                <a16:creationId xmlns:a16="http://schemas.microsoft.com/office/drawing/2014/main" id="{E4BA4F74-7EA4-4B64-8D1C-06DBD6EC4E66}"/>
              </a:ext>
            </a:extLst>
          </p:cNvPr>
          <p:cNvCxnSpPr>
            <a:cxnSpLocks noChangeShapeType="1"/>
            <a:stCxn id="15" idx="7"/>
            <a:endCxn id="16" idx="0"/>
          </p:cNvCxnSpPr>
          <p:nvPr/>
        </p:nvCxnSpPr>
        <p:spPr bwMode="auto">
          <a:xfrm rot="5400000" flipH="1">
            <a:off x="4881761" y="5588471"/>
            <a:ext cx="66675" cy="161925"/>
          </a:xfrm>
          <a:prstGeom prst="curvedConnector3">
            <a:avLst>
              <a:gd name="adj1" fmla="val 442856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 Box 42">
            <a:extLst>
              <a:ext uri="{FF2B5EF4-FFF2-40B4-BE49-F238E27FC236}">
                <a16:creationId xmlns:a16="http://schemas.microsoft.com/office/drawing/2014/main" id="{F12BA737-5E87-46FF-BB18-DEC3BE630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936" y="5026496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letter or digit</a:t>
            </a:r>
          </a:p>
        </p:txBody>
      </p:sp>
      <p:sp>
        <p:nvSpPr>
          <p:cNvPr id="19" name="Text Box 43">
            <a:extLst>
              <a:ext uri="{FF2B5EF4-FFF2-40B4-BE49-F238E27FC236}">
                <a16:creationId xmlns:a16="http://schemas.microsoft.com/office/drawing/2014/main" id="{5BD2D3FB-803A-4A20-81EE-2E0C0D733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5736" y="5559896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dirty="0"/>
              <a:t>*</a:t>
            </a:r>
          </a:p>
        </p:txBody>
      </p:sp>
    </p:spTree>
  </p:cSld>
  <p:clrMapOvr>
    <a:masterClrMapping/>
  </p:clrMapOvr>
  <p:transition spd="slow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ECD47BE1-0885-4576-82FD-B8F309DD47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实现代码（续）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58E2416-D7DB-4999-BFEF-374F44749F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case 26: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		  c = nextchar();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 if (isdigit(c)) state = 26;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 else state = 27;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 break;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case 27: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		  retract(1); install_num();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  return ( NUM );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   }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4" name="Group 63">
            <a:extLst>
              <a:ext uri="{FF2B5EF4-FFF2-40B4-BE49-F238E27FC236}">
                <a16:creationId xmlns:a16="http://schemas.microsoft.com/office/drawing/2014/main" id="{A9E4D1DE-5663-43BE-B342-54001EE71E86}"/>
              </a:ext>
            </a:extLst>
          </p:cNvPr>
          <p:cNvGrpSpPr>
            <a:grpSpLocks/>
          </p:cNvGrpSpPr>
          <p:nvPr/>
        </p:nvGrpSpPr>
        <p:grpSpPr bwMode="auto">
          <a:xfrm>
            <a:off x="2123728" y="5102696"/>
            <a:ext cx="4495800" cy="990600"/>
            <a:chOff x="1344" y="2880"/>
            <a:chExt cx="2832" cy="624"/>
          </a:xfrm>
        </p:grpSpPr>
        <p:sp>
          <p:nvSpPr>
            <p:cNvPr id="5" name="Line 64">
              <a:extLst>
                <a:ext uri="{FF2B5EF4-FFF2-40B4-BE49-F238E27FC236}">
                  <a16:creationId xmlns:a16="http://schemas.microsoft.com/office/drawing/2014/main" id="{2CAE3B14-2B31-45E3-9618-E2B27356B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360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Oval 65">
              <a:extLst>
                <a:ext uri="{FF2B5EF4-FFF2-40B4-BE49-F238E27FC236}">
                  <a16:creationId xmlns:a16="http://schemas.microsoft.com/office/drawing/2014/main" id="{F07D147A-9E0B-422C-9B71-91936227B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321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" name="Line 66">
              <a:extLst>
                <a:ext uri="{FF2B5EF4-FFF2-40B4-BE49-F238E27FC236}">
                  <a16:creationId xmlns:a16="http://schemas.microsoft.com/office/drawing/2014/main" id="{907DE000-5E01-4E9F-B278-FA285C4A5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360"/>
              <a:ext cx="6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Text Box 67">
              <a:extLst>
                <a:ext uri="{FF2B5EF4-FFF2-40B4-BE49-F238E27FC236}">
                  <a16:creationId xmlns:a16="http://schemas.microsoft.com/office/drawing/2014/main" id="{636A4F5C-299C-45FA-9EC0-83B96B4117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168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start</a:t>
              </a:r>
            </a:p>
          </p:txBody>
        </p:sp>
        <p:sp>
          <p:nvSpPr>
            <p:cNvPr id="9" name="Text Box 68">
              <a:extLst>
                <a:ext uri="{FF2B5EF4-FFF2-40B4-BE49-F238E27FC236}">
                  <a16:creationId xmlns:a16="http://schemas.microsoft.com/office/drawing/2014/main" id="{917CB629-B81A-4C61-B38C-1CA2E32582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3168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digit</a:t>
              </a:r>
            </a:p>
          </p:txBody>
        </p:sp>
        <p:sp>
          <p:nvSpPr>
            <p:cNvPr id="10" name="Text Box 69">
              <a:extLst>
                <a:ext uri="{FF2B5EF4-FFF2-40B4-BE49-F238E27FC236}">
                  <a16:creationId xmlns:a16="http://schemas.microsoft.com/office/drawing/2014/main" id="{B35DA859-AF30-4312-82B5-DF42763060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26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25</a:t>
              </a:r>
            </a:p>
          </p:txBody>
        </p:sp>
        <p:sp>
          <p:nvSpPr>
            <p:cNvPr id="11" name="Line 70">
              <a:extLst>
                <a:ext uri="{FF2B5EF4-FFF2-40B4-BE49-F238E27FC236}">
                  <a16:creationId xmlns:a16="http://schemas.microsoft.com/office/drawing/2014/main" id="{14C5BD6B-5FEF-4275-8A9A-967AF1F6DD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8" y="3360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Text Box 71">
              <a:extLst>
                <a:ext uri="{FF2B5EF4-FFF2-40B4-BE49-F238E27FC236}">
                  <a16:creationId xmlns:a16="http://schemas.microsoft.com/office/drawing/2014/main" id="{24D54E6D-C2E4-4811-9F95-D1D7530AAA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168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other</a:t>
              </a:r>
            </a:p>
          </p:txBody>
        </p:sp>
        <p:grpSp>
          <p:nvGrpSpPr>
            <p:cNvPr id="13" name="Group 72">
              <a:extLst>
                <a:ext uri="{FF2B5EF4-FFF2-40B4-BE49-F238E27FC236}">
                  <a16:creationId xmlns:a16="http://schemas.microsoft.com/office/drawing/2014/main" id="{2CDE6F13-F1CD-4155-AA49-7969B7947A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3216"/>
              <a:ext cx="288" cy="288"/>
              <a:chOff x="3696" y="1152"/>
              <a:chExt cx="288" cy="288"/>
            </a:xfrm>
          </p:grpSpPr>
          <p:sp>
            <p:nvSpPr>
              <p:cNvPr id="20" name="Oval 73">
                <a:extLst>
                  <a:ext uri="{FF2B5EF4-FFF2-40B4-BE49-F238E27FC236}">
                    <a16:creationId xmlns:a16="http://schemas.microsoft.com/office/drawing/2014/main" id="{20C95F98-6381-43B9-A672-9A379DED3E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15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1" name="Oval 74">
                <a:extLst>
                  <a:ext uri="{FF2B5EF4-FFF2-40B4-BE49-F238E27FC236}">
                    <a16:creationId xmlns:a16="http://schemas.microsoft.com/office/drawing/2014/main" id="{F2262031-D2B5-466E-AC01-3D874CA5D9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120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2" name="Text Box 75">
                <a:extLst>
                  <a:ext uri="{FF2B5EF4-FFF2-40B4-BE49-F238E27FC236}">
                    <a16:creationId xmlns:a16="http://schemas.microsoft.com/office/drawing/2014/main" id="{C520F48A-E148-4F17-836D-52BDC286B8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120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27</a:t>
                </a:r>
              </a:p>
            </p:txBody>
          </p:sp>
        </p:grpSp>
        <p:grpSp>
          <p:nvGrpSpPr>
            <p:cNvPr id="14" name="Group 76">
              <a:extLst>
                <a:ext uri="{FF2B5EF4-FFF2-40B4-BE49-F238E27FC236}">
                  <a16:creationId xmlns:a16="http://schemas.microsoft.com/office/drawing/2014/main" id="{87270319-899B-4C15-8551-E5ECB1035E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3216"/>
              <a:ext cx="288" cy="288"/>
              <a:chOff x="2880" y="1152"/>
              <a:chExt cx="288" cy="288"/>
            </a:xfrm>
          </p:grpSpPr>
          <p:sp>
            <p:nvSpPr>
              <p:cNvPr id="17" name="Oval 77">
                <a:extLst>
                  <a:ext uri="{FF2B5EF4-FFF2-40B4-BE49-F238E27FC236}">
                    <a16:creationId xmlns:a16="http://schemas.microsoft.com/office/drawing/2014/main" id="{7D44CDFC-B7EB-4453-8015-3EF93A10E3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15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" name="Text Box 78">
                <a:extLst>
                  <a:ext uri="{FF2B5EF4-FFF2-40B4-BE49-F238E27FC236}">
                    <a16:creationId xmlns:a16="http://schemas.microsoft.com/office/drawing/2014/main" id="{49223B96-E5E2-4CCD-89C2-FB83383087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1200"/>
                <a:ext cx="28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/>
                  <a:t>26</a:t>
                </a:r>
              </a:p>
            </p:txBody>
          </p:sp>
          <p:cxnSp>
            <p:nvCxnSpPr>
              <p:cNvPr id="19" name="AutoShape 79">
                <a:extLst>
                  <a:ext uri="{FF2B5EF4-FFF2-40B4-BE49-F238E27FC236}">
                    <a16:creationId xmlns:a16="http://schemas.microsoft.com/office/drawing/2014/main" id="{3E3969C2-57C1-4F56-BAFB-BFA71800479F}"/>
                  </a:ext>
                </a:extLst>
              </p:cNvPr>
              <p:cNvCxnSpPr>
                <a:cxnSpLocks noChangeShapeType="1"/>
                <a:stCxn id="17" idx="7"/>
                <a:endCxn id="18" idx="0"/>
              </p:cNvCxnSpPr>
              <p:nvPr/>
            </p:nvCxnSpPr>
            <p:spPr bwMode="auto">
              <a:xfrm rot="-5400000" flipH="1" flipV="1">
                <a:off x="3072" y="1146"/>
                <a:ext cx="6" cy="102"/>
              </a:xfrm>
              <a:prstGeom prst="curvedConnector3">
                <a:avLst>
                  <a:gd name="adj1" fmla="val -3100005"/>
                </a:avLst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5" name="Text Box 80">
              <a:extLst>
                <a:ext uri="{FF2B5EF4-FFF2-40B4-BE49-F238E27FC236}">
                  <a16:creationId xmlns:a16="http://schemas.microsoft.com/office/drawing/2014/main" id="{D45E839B-14EF-4862-A035-AC6473503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880"/>
              <a:ext cx="10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      digit</a:t>
              </a:r>
            </a:p>
          </p:txBody>
        </p:sp>
        <p:sp>
          <p:nvSpPr>
            <p:cNvPr id="16" name="Text Box 81">
              <a:extLst>
                <a:ext uri="{FF2B5EF4-FFF2-40B4-BE49-F238E27FC236}">
                  <a16:creationId xmlns:a16="http://schemas.microsoft.com/office/drawing/2014/main" id="{BC09EA1C-850A-4C28-A27E-2B889DD14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168"/>
              <a:ext cx="33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*</a:t>
              </a:r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4E6CB91A-D879-4B5E-BF25-2842F554A0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3.6  </a:t>
            </a:r>
            <a:r>
              <a:rPr lang="zh-CN" altLang="en-US"/>
              <a:t>有限自动机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80935AB1-314C-4C0E-91B7-AD6F9CB38B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正规式</a:t>
            </a:r>
            <a:r>
              <a:rPr lang="en-US" altLang="zh-CN" sz="2800" dirty="0">
                <a:latin typeface="Tahoma" panose="020B0604030504040204" pitchFamily="34" charset="0"/>
              </a:rPr>
              <a:t>————</a:t>
            </a:r>
            <a:r>
              <a:rPr lang="en-US" altLang="zh-CN" sz="2800" dirty="0">
                <a:sym typeface="Wingdings" panose="05000000000000000000" pitchFamily="2" charset="2"/>
              </a:rPr>
              <a:t></a:t>
            </a:r>
            <a:r>
              <a:rPr lang="zh-CN" altLang="en-US" sz="2800" dirty="0">
                <a:sym typeface="Wingdings" panose="05000000000000000000" pitchFamily="2" charset="2"/>
              </a:rPr>
              <a:t>识别程序（</a:t>
            </a:r>
            <a:r>
              <a:rPr lang="en-US" altLang="zh-CN" sz="2800" dirty="0">
                <a:solidFill>
                  <a:srgbClr val="FF3300"/>
                </a:solidFill>
                <a:sym typeface="Wingdings" panose="05000000000000000000" pitchFamily="2" charset="2"/>
              </a:rPr>
              <a:t>recognizer</a:t>
            </a:r>
            <a:r>
              <a:rPr lang="zh-CN" altLang="en-US" sz="2800" dirty="0">
                <a:sym typeface="Wingdings" panose="05000000000000000000" pitchFamily="2" charset="2"/>
              </a:rPr>
              <a:t>）</a:t>
            </a:r>
          </a:p>
          <a:p>
            <a:pPr eaLnBrk="1" hangingPunct="1"/>
            <a:r>
              <a:rPr lang="zh-CN" altLang="en-US" sz="2800" dirty="0">
                <a:sym typeface="Wingdings" panose="05000000000000000000" pitchFamily="2" charset="2"/>
              </a:rPr>
              <a:t>有限自动机（</a:t>
            </a:r>
            <a:r>
              <a:rPr lang="en-US" altLang="zh-CN" sz="2800" dirty="0">
                <a:solidFill>
                  <a:srgbClr val="FF3300"/>
                </a:solidFill>
                <a:sym typeface="Wingdings" panose="05000000000000000000" pitchFamily="2" charset="2"/>
              </a:rPr>
              <a:t>finite automata</a:t>
            </a:r>
            <a:r>
              <a:rPr lang="zh-CN" altLang="en-US" sz="2800" dirty="0">
                <a:sym typeface="Wingdings" panose="05000000000000000000" pitchFamily="2" charset="2"/>
              </a:rPr>
              <a:t>）</a:t>
            </a:r>
          </a:p>
          <a:p>
            <a:pPr lvl="1" eaLnBrk="1" hangingPunct="1"/>
            <a:r>
              <a:rPr lang="zh-CN" altLang="en-US" sz="2400" dirty="0">
                <a:sym typeface="Wingdings" panose="05000000000000000000" pitchFamily="2" charset="2"/>
              </a:rPr>
              <a:t>非确定有限自动机</a:t>
            </a:r>
            <a:br>
              <a:rPr lang="zh-CN" altLang="en-US" sz="2400" dirty="0">
                <a:sym typeface="Wingdings" panose="05000000000000000000" pitchFamily="2" charset="2"/>
              </a:rPr>
            </a:br>
            <a:r>
              <a:rPr kumimoji="0" lang="en-US" altLang="zh-CN" sz="2400" b="1" dirty="0">
                <a:solidFill>
                  <a:srgbClr val="FF3300"/>
                </a:solidFill>
              </a:rPr>
              <a:t>Non-Deterministic Finite Automata</a:t>
            </a:r>
            <a:r>
              <a:rPr kumimoji="0" lang="en-US" altLang="zh-CN" sz="2400" b="1" dirty="0"/>
              <a:t> (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NFAs</a:t>
            </a:r>
            <a:r>
              <a:rPr kumimoji="0" lang="en-US" altLang="zh-CN" sz="2400" b="1" dirty="0"/>
              <a:t>)</a:t>
            </a:r>
            <a:r>
              <a:rPr kumimoji="0" lang="en-US" altLang="zh-CN" sz="2000" b="1" dirty="0"/>
              <a:t> </a:t>
            </a:r>
            <a:br>
              <a:rPr kumimoji="0" lang="en-US" altLang="zh-CN" sz="2000" b="1" dirty="0"/>
            </a:br>
            <a:r>
              <a:rPr kumimoji="0" lang="zh-CN" altLang="en-US" sz="2400" dirty="0"/>
              <a:t>一个状态对同一个输入符号，有多个可能的动作</a:t>
            </a:r>
          </a:p>
          <a:p>
            <a:pPr lvl="1" eaLnBrk="1" hangingPunct="1"/>
            <a:r>
              <a:rPr kumimoji="0" lang="zh-CN" altLang="en-US" sz="2400" dirty="0"/>
              <a:t>确定有限自动机</a:t>
            </a:r>
            <a:br>
              <a:rPr kumimoji="0" lang="zh-CN" altLang="en-US" sz="2400" dirty="0"/>
            </a:br>
            <a:r>
              <a:rPr kumimoji="0" lang="en-US" altLang="zh-CN" sz="2400" b="1" dirty="0">
                <a:solidFill>
                  <a:srgbClr val="FF3300"/>
                </a:solidFill>
              </a:rPr>
              <a:t>Deterministic Finite Automata</a:t>
            </a:r>
            <a:r>
              <a:rPr kumimoji="0" lang="en-US" altLang="zh-CN" sz="2400" b="1" dirty="0"/>
              <a:t> (</a:t>
            </a:r>
            <a:r>
              <a:rPr kumimoji="0" lang="en-US" altLang="zh-CN" sz="2400" b="1" dirty="0">
                <a:solidFill>
                  <a:srgbClr val="FF3300"/>
                </a:solidFill>
              </a:rPr>
              <a:t>DFAs</a:t>
            </a:r>
            <a:r>
              <a:rPr kumimoji="0" lang="en-US" altLang="zh-CN" sz="2400" b="1" dirty="0"/>
              <a:t>)</a:t>
            </a:r>
            <a:r>
              <a:rPr kumimoji="0" lang="en-US" altLang="zh-CN" sz="2000" b="1" dirty="0"/>
              <a:t> </a:t>
            </a:r>
            <a:br>
              <a:rPr kumimoji="0" lang="en-US" altLang="zh-CN" sz="2000" b="1" dirty="0"/>
            </a:br>
            <a:r>
              <a:rPr kumimoji="0" lang="zh-CN" altLang="en-US" sz="2400" dirty="0"/>
              <a:t>一个状态对一个输入符号，至多有一个动作</a:t>
            </a:r>
            <a:endParaRPr kumimoji="0" lang="zh-CN" altLang="en-US" sz="2000" b="1" dirty="0"/>
          </a:p>
        </p:txBody>
      </p:sp>
      <p:sp>
        <p:nvSpPr>
          <p:cNvPr id="90116" name="Text Box 4">
            <a:extLst>
              <a:ext uri="{FF2B5EF4-FFF2-40B4-BE49-F238E27FC236}">
                <a16:creationId xmlns:a16="http://schemas.microsoft.com/office/drawing/2014/main" id="{A65A4A7A-ABB7-4C6F-B3A5-6685E1C61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219200"/>
            <a:ext cx="1833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如何转换？</a:t>
            </a:r>
          </a:p>
        </p:txBody>
      </p:sp>
    </p:spTree>
  </p:cSld>
  <p:clrMapOvr>
    <a:masterClrMapping/>
  </p:clrMapOvr>
  <p:transition spd="slow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D8D2310A-84AC-43FF-B15C-671B89C229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zh-CN" altLang="en-US"/>
              <a:t>和</a:t>
            </a:r>
            <a:r>
              <a:rPr lang="en-US" altLang="zh-CN"/>
              <a:t>DFA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ABB37E3B-6E61-4630-B308-28B009F7E5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都可识别正规式，时</a:t>
            </a:r>
            <a:r>
              <a:rPr lang="en-US" altLang="zh-CN" sz="2800" dirty="0"/>
              <a:t>—</a:t>
            </a:r>
            <a:r>
              <a:rPr lang="zh-CN" altLang="en-US" sz="2800" dirty="0"/>
              <a:t>空折衷</a:t>
            </a:r>
          </a:p>
          <a:p>
            <a:pPr eaLnBrk="1" hangingPunct="1"/>
            <a:r>
              <a:rPr lang="en-US" altLang="zh-CN" sz="2800" dirty="0"/>
              <a:t>NFA</a:t>
            </a:r>
          </a:p>
          <a:p>
            <a:pPr lvl="1" eaLnBrk="1" hangingPunct="1"/>
            <a:r>
              <a:rPr lang="zh-CN" altLang="en-US" sz="2400" dirty="0"/>
              <a:t>正规式</a:t>
            </a:r>
            <a:r>
              <a:rPr lang="en-US" altLang="zh-CN" sz="2400" dirty="0">
                <a:latin typeface="Tahoma" panose="020B0604030504040204" pitchFamily="34" charset="0"/>
              </a:rPr>
              <a:t>——</a:t>
            </a:r>
            <a:r>
              <a:rPr lang="en-US" altLang="zh-CN" sz="2400" dirty="0">
                <a:sym typeface="Wingdings" panose="05000000000000000000" pitchFamily="2" charset="2"/>
              </a:rPr>
              <a:t>NFA</a:t>
            </a:r>
          </a:p>
          <a:p>
            <a:pPr lvl="1" eaLnBrk="1" hangingPunct="1"/>
            <a:r>
              <a:rPr lang="zh-CN" altLang="en-US" sz="2400" dirty="0">
                <a:latin typeface="Tahoma" panose="020B0604030504040204" pitchFamily="34" charset="0"/>
                <a:sym typeface="Wingdings" panose="05000000000000000000" pitchFamily="2" charset="2"/>
              </a:rPr>
              <a:t>“</a:t>
            </a:r>
            <a:r>
              <a:rPr lang="zh-CN" altLang="en-US" sz="2400" dirty="0">
                <a:sym typeface="Wingdings" panose="05000000000000000000" pitchFamily="2" charset="2"/>
              </a:rPr>
              <a:t>不确定</a:t>
            </a:r>
            <a:r>
              <a:rPr lang="zh-CN" altLang="en-US" sz="2400" dirty="0">
                <a:latin typeface="Tahoma" panose="020B0604030504040204" pitchFamily="34" charset="0"/>
                <a:sym typeface="Wingdings" panose="05000000000000000000" pitchFamily="2" charset="2"/>
              </a:rPr>
              <a:t>”</a:t>
            </a:r>
            <a:r>
              <a:rPr lang="zh-CN" altLang="en-US" sz="2400" dirty="0">
                <a:sym typeface="Wingdings" panose="05000000000000000000" pitchFamily="2" charset="2"/>
              </a:rPr>
              <a:t>，占用内存少，速度慢</a:t>
            </a:r>
          </a:p>
          <a:p>
            <a:pPr eaLnBrk="1" hangingPunct="1"/>
            <a:r>
              <a:rPr lang="en-US" altLang="zh-CN" sz="2800" dirty="0">
                <a:sym typeface="Wingdings" panose="05000000000000000000" pitchFamily="2" charset="2"/>
              </a:rPr>
              <a:t>DFA</a:t>
            </a:r>
          </a:p>
          <a:p>
            <a:pPr lvl="1" eaLnBrk="1" hangingPunct="1"/>
            <a:r>
              <a:rPr lang="zh-CN" altLang="en-US" sz="2400" dirty="0"/>
              <a:t>正规式</a:t>
            </a:r>
            <a:r>
              <a:rPr lang="en-US" altLang="zh-CN" sz="2400" dirty="0">
                <a:latin typeface="Tahoma" panose="020B0604030504040204" pitchFamily="34" charset="0"/>
              </a:rPr>
              <a:t>——</a:t>
            </a:r>
            <a:r>
              <a:rPr lang="en-US" altLang="zh-CN" sz="2400" dirty="0">
                <a:sym typeface="Wingdings" panose="05000000000000000000" pitchFamily="2" charset="2"/>
              </a:rPr>
              <a:t>DFA</a:t>
            </a:r>
          </a:p>
          <a:p>
            <a:pPr lvl="1" eaLnBrk="1" hangingPunct="1"/>
            <a:r>
              <a:rPr lang="zh-CN" altLang="en-US" sz="2400" dirty="0">
                <a:latin typeface="Tahoma" panose="020B0604030504040204" pitchFamily="34" charset="0"/>
                <a:sym typeface="Wingdings" panose="05000000000000000000" pitchFamily="2" charset="2"/>
              </a:rPr>
              <a:t>“</a:t>
            </a:r>
            <a:r>
              <a:rPr lang="zh-CN" altLang="en-US" sz="2400" dirty="0">
                <a:sym typeface="Wingdings" panose="05000000000000000000" pitchFamily="2" charset="2"/>
              </a:rPr>
              <a:t>确定</a:t>
            </a:r>
            <a:r>
              <a:rPr lang="zh-CN" altLang="en-US" sz="2400" dirty="0">
                <a:latin typeface="Tahoma" panose="020B0604030504040204" pitchFamily="34" charset="0"/>
                <a:sym typeface="Wingdings" panose="05000000000000000000" pitchFamily="2" charset="2"/>
              </a:rPr>
              <a:t>”</a:t>
            </a:r>
            <a:r>
              <a:rPr lang="zh-CN" altLang="en-US" sz="2400" dirty="0">
                <a:sym typeface="Wingdings" panose="05000000000000000000" pitchFamily="2" charset="2"/>
              </a:rPr>
              <a:t>，占用内存大，速度快</a:t>
            </a:r>
          </a:p>
          <a:p>
            <a:pPr eaLnBrk="1" hangingPunct="1"/>
            <a:r>
              <a:rPr lang="en-US" altLang="zh-CN" sz="2800" dirty="0">
                <a:sym typeface="Wingdings" panose="05000000000000000000" pitchFamily="2" charset="2"/>
              </a:rPr>
              <a:t>NFADFA</a:t>
            </a:r>
            <a:r>
              <a:rPr lang="zh-CN" altLang="en-US" sz="2800" dirty="0">
                <a:sym typeface="Wingdings" panose="05000000000000000000" pitchFamily="2" charset="2"/>
              </a:rPr>
              <a:t>，</a:t>
            </a:r>
            <a:r>
              <a:rPr lang="en-US" altLang="zh-CN" sz="2800" dirty="0">
                <a:sym typeface="Wingdings" panose="05000000000000000000" pitchFamily="2" charset="2"/>
              </a:rPr>
              <a:t>DFANFA</a:t>
            </a:r>
          </a:p>
        </p:txBody>
      </p:sp>
      <p:sp>
        <p:nvSpPr>
          <p:cNvPr id="91140" name="Text Box 4">
            <a:extLst>
              <a:ext uri="{FF2B5EF4-FFF2-40B4-BE49-F238E27FC236}">
                <a16:creationId xmlns:a16="http://schemas.microsoft.com/office/drawing/2014/main" id="{20D4D099-DB72-4F95-A79A-0DB8DEF16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193925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简单</a:t>
            </a:r>
          </a:p>
        </p:txBody>
      </p:sp>
      <p:sp>
        <p:nvSpPr>
          <p:cNvPr id="91141" name="Text Box 5">
            <a:extLst>
              <a:ext uri="{FF2B5EF4-FFF2-40B4-BE49-F238E27FC236}">
                <a16:creationId xmlns:a16="http://schemas.microsoft.com/office/drawing/2014/main" id="{816D1490-CF9F-42AB-8BCF-284D6B3F69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5814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复杂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925441FC-81E9-44BD-8F50-AFC5248FF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3.6.1  </a:t>
            </a:r>
            <a:r>
              <a:rPr lang="zh-CN" altLang="en-US"/>
              <a:t>非确定有限自动机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8A19050A-BB37-483C-ABE6-A6925FC68B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dirty="0"/>
              <a:t>数学模型，表示为五元组</a:t>
            </a:r>
            <a:br>
              <a:rPr lang="zh-CN" altLang="en-US" dirty="0"/>
            </a:br>
            <a:r>
              <a:rPr lang="en-US" altLang="zh-CN" dirty="0"/>
              <a:t>M = { S, Σ, δ, s</a:t>
            </a:r>
            <a:r>
              <a:rPr lang="en-US" altLang="zh-CN" baseline="-25000" dirty="0"/>
              <a:t>0</a:t>
            </a:r>
            <a:r>
              <a:rPr lang="en-US" altLang="zh-CN" dirty="0"/>
              <a:t>, F }</a:t>
            </a:r>
            <a:r>
              <a:rPr lang="zh-CN" altLang="en-US" dirty="0"/>
              <a:t>，其中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S</a:t>
            </a:r>
            <a:r>
              <a:rPr lang="zh-CN" altLang="en-US" dirty="0"/>
              <a:t>：有限状态集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Σ</a:t>
            </a:r>
            <a:r>
              <a:rPr lang="zh-CN" altLang="en-US" dirty="0"/>
              <a:t>：有穷字母表，其元素为输入符号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δ</a:t>
            </a:r>
            <a:r>
              <a:rPr lang="zh-CN" altLang="en-US" dirty="0"/>
              <a:t>：</a:t>
            </a:r>
            <a:r>
              <a:rPr lang="en-US" altLang="zh-CN" dirty="0"/>
              <a:t>S</a:t>
            </a:r>
            <a:r>
              <a:rPr lang="en-US" altLang="zh-CN" dirty="0">
                <a:latin typeface="宋体" panose="02010600030101010101" pitchFamily="2" charset="-122"/>
              </a:rPr>
              <a:t>×</a:t>
            </a:r>
            <a:r>
              <a:rPr lang="en-US" altLang="zh-CN" dirty="0"/>
              <a:t>Σ</a:t>
            </a:r>
            <a:r>
              <a:rPr lang="zh-CN" altLang="en-US" dirty="0"/>
              <a:t>到</a:t>
            </a:r>
            <a:r>
              <a:rPr lang="en-US" altLang="zh-CN" dirty="0"/>
              <a:t>S</a:t>
            </a:r>
            <a:r>
              <a:rPr lang="zh-CN" altLang="en-US" dirty="0"/>
              <a:t>的子集的映射，即</a:t>
            </a:r>
            <a:br>
              <a:rPr lang="zh-CN" altLang="en-US" dirty="0"/>
            </a:br>
            <a:r>
              <a:rPr lang="en-US" altLang="zh-CN" dirty="0"/>
              <a:t>δ: S×(Σ</a:t>
            </a:r>
            <a:r>
              <a:rPr kumimoji="0" lang="en-US" altLang="zh-CN" dirty="0">
                <a:sym typeface="Symbol" panose="05050102010706020507" pitchFamily="18" charset="2"/>
              </a:rPr>
              <a:t>{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dirty="0">
                <a:sym typeface="Symbol" panose="05050102010706020507" pitchFamily="18" charset="2"/>
              </a:rPr>
              <a:t>})</a:t>
            </a:r>
            <a:r>
              <a:rPr kumimoji="0" lang="en-US" altLang="zh-CN" sz="2400" dirty="0">
                <a:sym typeface="Symbol" panose="05050102010706020507" pitchFamily="18" charset="2"/>
              </a:rPr>
              <a:t> </a:t>
            </a:r>
            <a:r>
              <a:rPr kumimoji="0" lang="en-US" altLang="zh-CN" dirty="0">
                <a:sym typeface="Symbol" panose="05050102010706020507" pitchFamily="18" charset="2"/>
              </a:rPr>
              <a:t>2</a:t>
            </a:r>
            <a:r>
              <a:rPr kumimoji="0" lang="en-US" altLang="zh-CN" baseline="30000" dirty="0">
                <a:sym typeface="Symbol" panose="05050102010706020507" pitchFamily="18" charset="2"/>
              </a:rPr>
              <a:t>S</a:t>
            </a:r>
            <a:r>
              <a:rPr kumimoji="0" lang="zh-CN" altLang="en-US" dirty="0">
                <a:sym typeface="Symbol" panose="05050102010706020507" pitchFamily="18" charset="2"/>
              </a:rPr>
              <a:t>，状态转换函数</a:t>
            </a:r>
            <a:r>
              <a:rPr lang="zh-CN" altLang="en-US" dirty="0"/>
              <a:t>。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 </a:t>
            </a:r>
            <a:r>
              <a:rPr lang="en-US" altLang="zh-CN" dirty="0"/>
              <a:t>s</a:t>
            </a:r>
            <a:r>
              <a:rPr lang="en-US" altLang="zh-CN" baseline="-25000" dirty="0"/>
              <a:t>0</a:t>
            </a:r>
            <a:r>
              <a:rPr lang="en-US" altLang="zh-CN" dirty="0"/>
              <a:t>∈S</a:t>
            </a:r>
            <a:r>
              <a:rPr lang="zh-CN" altLang="en-US" dirty="0"/>
              <a:t>是唯一的初态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          是一个终态集（可空）</a:t>
            </a:r>
          </a:p>
        </p:txBody>
      </p:sp>
      <p:graphicFrame>
        <p:nvGraphicFramePr>
          <p:cNvPr id="92164" name="Object 6">
            <a:extLst>
              <a:ext uri="{FF2B5EF4-FFF2-40B4-BE49-F238E27FC236}">
                <a16:creationId xmlns:a16="http://schemas.microsoft.com/office/drawing/2014/main" id="{E24EEAD6-25F8-4F58-B929-0293D8AF86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871130"/>
              </p:ext>
            </p:extLst>
          </p:nvPr>
        </p:nvGraphicFramePr>
        <p:xfrm>
          <a:off x="2197100" y="4953000"/>
          <a:ext cx="934740" cy="412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0" name="Equation" r:id="rId3" imgW="431613" imgH="190417" progId="Equation.3">
                  <p:embed/>
                </p:oleObj>
              </mc:Choice>
              <mc:Fallback>
                <p:oleObj name="Equation" r:id="rId3" imgW="431613" imgH="19041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4953000"/>
                        <a:ext cx="934740" cy="412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A080C4D8-CCE0-40EB-96DE-30A86E2E4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表示方式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720C53EB-D74D-495B-BE6C-2D773973D6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0" lang="zh-CN" altLang="en-US" sz="2800" dirty="0">
                <a:sym typeface="Symbol" panose="05050102010706020507" pitchFamily="18" charset="2"/>
              </a:rPr>
              <a:t>五元组</a:t>
            </a:r>
          </a:p>
          <a:p>
            <a:pPr lvl="1" eaLnBrk="1" hangingPunct="1"/>
            <a:r>
              <a:rPr lang="en-US" altLang="zh-CN" sz="2400" dirty="0"/>
              <a:t>δ</a:t>
            </a:r>
            <a:r>
              <a:rPr lang="zh-CN" altLang="en-US" sz="2400" dirty="0"/>
              <a:t>用函数形式表示，</a:t>
            </a:r>
            <a:r>
              <a:rPr lang="en-US" altLang="zh-CN" sz="2400" dirty="0"/>
              <a:t>δ(s, a) = S</a:t>
            </a:r>
            <a:r>
              <a:rPr lang="en-US" altLang="zh-CN" sz="2400" dirty="0">
                <a:latin typeface="Tahoma" panose="020B0604030504040204" pitchFamily="34" charset="0"/>
              </a:rPr>
              <a:t>’</a:t>
            </a:r>
            <a:r>
              <a:rPr lang="zh-CN" altLang="en-US" sz="2400" dirty="0"/>
              <a:t>意味着，若当前状态为</a:t>
            </a:r>
            <a:r>
              <a:rPr lang="en-US" altLang="zh-CN" sz="2400" dirty="0"/>
              <a:t>s</a:t>
            </a:r>
            <a:r>
              <a:rPr lang="zh-CN" altLang="en-US" sz="2400" dirty="0"/>
              <a:t>，输入符号为</a:t>
            </a:r>
            <a:r>
              <a:rPr lang="en-US" altLang="zh-CN" sz="2400" dirty="0"/>
              <a:t>a</a:t>
            </a:r>
            <a:r>
              <a:rPr lang="zh-CN" altLang="en-US" sz="2400" dirty="0"/>
              <a:t>时，下一个状态可以是集合</a:t>
            </a:r>
            <a:r>
              <a:rPr lang="en-US" altLang="zh-CN" sz="2400" dirty="0"/>
              <a:t>S</a:t>
            </a:r>
            <a:r>
              <a:rPr lang="en-US" altLang="zh-CN" sz="2400" dirty="0">
                <a:latin typeface="Tahoma" panose="020B0604030504040204" pitchFamily="34" charset="0"/>
              </a:rPr>
              <a:t>’</a:t>
            </a:r>
            <a:r>
              <a:rPr lang="zh-CN" altLang="en-US" sz="2400" dirty="0"/>
              <a:t>中任意一个</a:t>
            </a:r>
          </a:p>
          <a:p>
            <a:pPr eaLnBrk="1" hangingPunct="1"/>
            <a:r>
              <a:rPr lang="zh-CN" altLang="en-US" sz="2800" dirty="0"/>
              <a:t>状态转换图</a:t>
            </a:r>
          </a:p>
          <a:p>
            <a:pPr lvl="1" eaLnBrk="1" hangingPunct="1"/>
            <a:r>
              <a:rPr lang="zh-CN" altLang="en-US" sz="2400" dirty="0"/>
              <a:t>状态（圆圈）、边、终态</a:t>
            </a:r>
            <a:r>
              <a:rPr lang="en-US" altLang="zh-CN" sz="2400" dirty="0">
                <a:latin typeface="Tahoma" panose="020B0604030504040204" pitchFamily="34" charset="0"/>
              </a:rPr>
              <a:t>…</a:t>
            </a:r>
            <a:endParaRPr lang="en-US" altLang="zh-CN" sz="2400" dirty="0"/>
          </a:p>
          <a:p>
            <a:pPr eaLnBrk="1" hangingPunct="1"/>
            <a:r>
              <a:rPr lang="zh-CN" altLang="en-US" sz="2800" dirty="0"/>
              <a:t>状态转换矩阵</a:t>
            </a:r>
          </a:p>
          <a:p>
            <a:pPr lvl="1" eaLnBrk="1" hangingPunct="1"/>
            <a:r>
              <a:rPr lang="zh-CN" altLang="en-US" sz="2400" dirty="0"/>
              <a:t>行</a:t>
            </a:r>
            <a:r>
              <a:rPr lang="en-US" altLang="zh-CN" sz="2400" dirty="0"/>
              <a:t>——</a:t>
            </a:r>
            <a:r>
              <a:rPr lang="zh-CN" altLang="en-US" sz="2400" dirty="0"/>
              <a:t>状态，列</a:t>
            </a:r>
            <a:r>
              <a:rPr lang="en-US" altLang="zh-CN" sz="2400" dirty="0"/>
              <a:t>——</a:t>
            </a:r>
            <a:r>
              <a:rPr lang="zh-CN" altLang="en-US" sz="2400" dirty="0"/>
              <a:t>符号，表项</a:t>
            </a:r>
            <a:r>
              <a:rPr lang="en-US" altLang="zh-CN" sz="2400" dirty="0"/>
              <a:t>——</a:t>
            </a:r>
            <a:r>
              <a:rPr lang="zh-CN" altLang="en-US" sz="2400" dirty="0"/>
              <a:t>转换状态集</a:t>
            </a:r>
          </a:p>
          <a:p>
            <a:pPr lvl="1" eaLnBrk="1" hangingPunct="1"/>
            <a:r>
              <a:rPr lang="zh-CN" altLang="en-US" sz="2400" dirty="0"/>
              <a:t>适合计算机实现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2DC68265-88A4-4E21-B532-5CA1170F45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</a:t>
            </a:r>
            <a:r>
              <a:rPr lang="en-US" altLang="zh-CN"/>
              <a:t>(a|b)</a:t>
            </a:r>
            <a:r>
              <a:rPr lang="en-US" altLang="zh-CN" baseline="30000"/>
              <a:t>*</a:t>
            </a:r>
            <a:r>
              <a:rPr lang="en-US" altLang="zh-CN"/>
              <a:t>abb</a:t>
            </a:r>
          </a:p>
        </p:txBody>
      </p:sp>
      <p:sp>
        <p:nvSpPr>
          <p:cNvPr id="94211" name="Text Box 4">
            <a:extLst>
              <a:ext uri="{FF2B5EF4-FFF2-40B4-BE49-F238E27FC236}">
                <a16:creationId xmlns:a16="http://schemas.microsoft.com/office/drawing/2014/main" id="{1E3E6816-792E-4403-B22B-360800B6B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524000"/>
            <a:ext cx="2057400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 = { 0, 1, 2, 3 }</a:t>
            </a:r>
            <a:br>
              <a:rPr kumimoji="0" lang="en-US" altLang="zh-CN" sz="2000"/>
            </a:br>
            <a:r>
              <a:rPr kumimoji="0" lang="en-US" altLang="zh-CN" sz="2000"/>
              <a:t>s</a:t>
            </a:r>
            <a:r>
              <a:rPr kumimoji="0" lang="en-US" altLang="zh-CN" sz="2000" baseline="-25000"/>
              <a:t>0</a:t>
            </a:r>
            <a:r>
              <a:rPr kumimoji="0" lang="en-US" altLang="zh-CN" sz="2000"/>
              <a:t> = 0</a:t>
            </a:r>
            <a:br>
              <a:rPr kumimoji="0" lang="en-US" altLang="zh-CN" sz="2000"/>
            </a:br>
            <a:r>
              <a:rPr kumimoji="0" lang="en-US" altLang="zh-CN" sz="2000"/>
              <a:t>F = { 3 }</a:t>
            </a:r>
            <a:br>
              <a:rPr kumimoji="0" lang="en-US" altLang="zh-CN" sz="2000"/>
            </a:br>
            <a:r>
              <a:rPr kumimoji="0" lang="en-US" altLang="zh-CN" sz="2000">
                <a:sym typeface="Symbol" panose="05050102010706020507" pitchFamily="18" charset="2"/>
              </a:rPr>
              <a:t> = { a, b }</a:t>
            </a:r>
            <a:br>
              <a:rPr kumimoji="0" lang="en-US" altLang="zh-CN" sz="2000">
                <a:sym typeface="Symbol" panose="05050102010706020507" pitchFamily="18" charset="2"/>
              </a:rPr>
            </a:br>
            <a:r>
              <a:rPr lang="en-US" altLang="zh-CN" sz="2000">
                <a:latin typeface="Symbol" panose="05050102010706020507" pitchFamily="18" charset="2"/>
              </a:rPr>
              <a:t>d</a:t>
            </a:r>
            <a:r>
              <a:rPr lang="en-US" altLang="zh-CN" sz="2000"/>
              <a:t>(0,a) = { 0, 1 }</a:t>
            </a:r>
            <a:br>
              <a:rPr lang="en-US" altLang="zh-CN" sz="2000"/>
            </a:br>
            <a:r>
              <a:rPr lang="en-US" altLang="zh-CN" sz="2000">
                <a:latin typeface="Symbol" panose="05050102010706020507" pitchFamily="18" charset="2"/>
              </a:rPr>
              <a:t>d</a:t>
            </a:r>
            <a:r>
              <a:rPr lang="en-US" altLang="zh-CN" sz="2000"/>
              <a:t>(0,b) = { 0 }</a:t>
            </a:r>
            <a:br>
              <a:rPr lang="en-US" altLang="zh-CN" sz="2000"/>
            </a:br>
            <a:r>
              <a:rPr lang="en-US" altLang="zh-CN" sz="2000">
                <a:latin typeface="Symbol" panose="05050102010706020507" pitchFamily="18" charset="2"/>
              </a:rPr>
              <a:t>d</a:t>
            </a:r>
            <a:r>
              <a:rPr lang="en-US" altLang="zh-CN" sz="2000"/>
              <a:t>(1,b) = { 2 }</a:t>
            </a:r>
            <a:br>
              <a:rPr lang="en-US" altLang="zh-CN" sz="2000"/>
            </a:br>
            <a:r>
              <a:rPr lang="en-US" altLang="zh-CN" sz="2000">
                <a:latin typeface="Symbol" panose="05050102010706020507" pitchFamily="18" charset="2"/>
              </a:rPr>
              <a:t>d</a:t>
            </a:r>
            <a:r>
              <a:rPr lang="en-US" altLang="zh-CN" sz="2000"/>
              <a:t>(2,b) = { 3 }</a:t>
            </a:r>
            <a:endParaRPr kumimoji="0" lang="en-US" altLang="zh-CN" sz="2000">
              <a:sym typeface="Symbol" panose="05050102010706020507" pitchFamily="18" charset="2"/>
            </a:endParaRPr>
          </a:p>
        </p:txBody>
      </p:sp>
      <p:sp>
        <p:nvSpPr>
          <p:cNvPr id="94212" name="Rectangle 5">
            <a:extLst>
              <a:ext uri="{FF2B5EF4-FFF2-40B4-BE49-F238E27FC236}">
                <a16:creationId xmlns:a16="http://schemas.microsoft.com/office/drawing/2014/main" id="{558F17D9-5A26-4E93-B1BD-2EA03A5B2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524000"/>
            <a:ext cx="2209800" cy="2590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Tahoma" panose="020B0604030504040204" pitchFamily="34" charset="0"/>
            </a:endParaRPr>
          </a:p>
        </p:txBody>
      </p:sp>
      <p:sp>
        <p:nvSpPr>
          <p:cNvPr id="94213" name="Text Box 13">
            <a:extLst>
              <a:ext uri="{FF2B5EF4-FFF2-40B4-BE49-F238E27FC236}">
                <a16:creationId xmlns:a16="http://schemas.microsoft.com/office/drawing/2014/main" id="{2FAAB590-FE49-4FA6-8728-A8CBC7BD2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8288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grpSp>
        <p:nvGrpSpPr>
          <p:cNvPr id="94214" name="Group 65">
            <a:extLst>
              <a:ext uri="{FF2B5EF4-FFF2-40B4-BE49-F238E27FC236}">
                <a16:creationId xmlns:a16="http://schemas.microsoft.com/office/drawing/2014/main" id="{0B5BA3F7-CAE1-47B8-AEE5-82121525AF2D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1447800"/>
            <a:ext cx="4876800" cy="1676400"/>
            <a:chOff x="2208" y="912"/>
            <a:chExt cx="3072" cy="1056"/>
          </a:xfrm>
        </p:grpSpPr>
        <p:grpSp>
          <p:nvGrpSpPr>
            <p:cNvPr id="94227" name="Group 7">
              <a:extLst>
                <a:ext uri="{FF2B5EF4-FFF2-40B4-BE49-F238E27FC236}">
                  <a16:creationId xmlns:a16="http://schemas.microsoft.com/office/drawing/2014/main" id="{E95D30D9-3A01-4E8D-8ADC-9574458123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1200"/>
              <a:ext cx="384" cy="384"/>
              <a:chOff x="2496" y="2688"/>
              <a:chExt cx="384" cy="384"/>
            </a:xfrm>
          </p:grpSpPr>
          <p:sp>
            <p:nvSpPr>
              <p:cNvPr id="94249" name="Oval 8">
                <a:extLst>
                  <a:ext uri="{FF2B5EF4-FFF2-40B4-BE49-F238E27FC236}">
                    <a16:creationId xmlns:a16="http://schemas.microsoft.com/office/drawing/2014/main" id="{D9C55D9B-F38A-4230-B121-2035392E5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96" y="2688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94250" name="Oval 9">
                <a:extLst>
                  <a:ext uri="{FF2B5EF4-FFF2-40B4-BE49-F238E27FC236}">
                    <a16:creationId xmlns:a16="http://schemas.microsoft.com/office/drawing/2014/main" id="{7DEAA8BC-483E-4DE3-8062-40AC580F2A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736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4228" name="Line 10">
              <a:extLst>
                <a:ext uri="{FF2B5EF4-FFF2-40B4-BE49-F238E27FC236}">
                  <a16:creationId xmlns:a16="http://schemas.microsoft.com/office/drawing/2014/main" id="{12B6A697-9FC5-4D24-AE0B-C9CAA18166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392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29" name="Line 11">
              <a:extLst>
                <a:ext uri="{FF2B5EF4-FFF2-40B4-BE49-F238E27FC236}">
                  <a16:creationId xmlns:a16="http://schemas.microsoft.com/office/drawing/2014/main" id="{252170CB-F751-4DF7-A3D7-93003CE97F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392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30" name="Line 12">
              <a:extLst>
                <a:ext uri="{FF2B5EF4-FFF2-40B4-BE49-F238E27FC236}">
                  <a16:creationId xmlns:a16="http://schemas.microsoft.com/office/drawing/2014/main" id="{8B2B80FC-A96E-481F-9A7C-5EAA73B4C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392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4231" name="Group 14">
              <a:extLst>
                <a:ext uri="{FF2B5EF4-FFF2-40B4-BE49-F238E27FC236}">
                  <a16:creationId xmlns:a16="http://schemas.microsoft.com/office/drawing/2014/main" id="{478D4E71-2D2B-46ED-8065-5541C96BA4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1200"/>
              <a:ext cx="384" cy="384"/>
              <a:chOff x="2736" y="1200"/>
              <a:chExt cx="384" cy="384"/>
            </a:xfrm>
          </p:grpSpPr>
          <p:sp>
            <p:nvSpPr>
              <p:cNvPr id="94247" name="Oval 15">
                <a:extLst>
                  <a:ext uri="{FF2B5EF4-FFF2-40B4-BE49-F238E27FC236}">
                    <a16:creationId xmlns:a16="http://schemas.microsoft.com/office/drawing/2014/main" id="{1BF7E754-ECD7-45AB-BBDE-6964939DC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94248" name="Text Box 16">
                <a:extLst>
                  <a:ext uri="{FF2B5EF4-FFF2-40B4-BE49-F238E27FC236}">
                    <a16:creationId xmlns:a16="http://schemas.microsoft.com/office/drawing/2014/main" id="{AB19DAE4-ABE6-4C8E-9354-1FA97B6394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/>
                  <a:t>0</a:t>
                </a:r>
              </a:p>
            </p:txBody>
          </p:sp>
        </p:grpSp>
        <p:sp>
          <p:nvSpPr>
            <p:cNvPr id="94232" name="Text Box 17">
              <a:extLst>
                <a:ext uri="{FF2B5EF4-FFF2-40B4-BE49-F238E27FC236}">
                  <a16:creationId xmlns:a16="http://schemas.microsoft.com/office/drawing/2014/main" id="{550CE249-C3FF-4400-9A6B-85A65D8463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1248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3</a:t>
              </a:r>
            </a:p>
          </p:txBody>
        </p:sp>
        <p:sp>
          <p:nvSpPr>
            <p:cNvPr id="94233" name="Text Box 18">
              <a:extLst>
                <a:ext uri="{FF2B5EF4-FFF2-40B4-BE49-F238E27FC236}">
                  <a16:creationId xmlns:a16="http://schemas.microsoft.com/office/drawing/2014/main" id="{B7819F3E-6335-4DDF-9F6C-0FFA7F2843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8" y="115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b</a:t>
              </a:r>
            </a:p>
          </p:txBody>
        </p:sp>
        <p:sp>
          <p:nvSpPr>
            <p:cNvPr id="94234" name="Line 19">
              <a:extLst>
                <a:ext uri="{FF2B5EF4-FFF2-40B4-BE49-F238E27FC236}">
                  <a16:creationId xmlns:a16="http://schemas.microsoft.com/office/drawing/2014/main" id="{11F9322F-9B20-44FB-9EE9-69643FCBB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392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4235" name="Group 20">
              <a:extLst>
                <a:ext uri="{FF2B5EF4-FFF2-40B4-BE49-F238E27FC236}">
                  <a16:creationId xmlns:a16="http://schemas.microsoft.com/office/drawing/2014/main" id="{B6A90902-C019-4DCD-976C-9772A1183A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200"/>
              <a:ext cx="384" cy="384"/>
              <a:chOff x="2736" y="1200"/>
              <a:chExt cx="384" cy="384"/>
            </a:xfrm>
          </p:grpSpPr>
          <p:sp>
            <p:nvSpPr>
              <p:cNvPr id="94245" name="Oval 21">
                <a:extLst>
                  <a:ext uri="{FF2B5EF4-FFF2-40B4-BE49-F238E27FC236}">
                    <a16:creationId xmlns:a16="http://schemas.microsoft.com/office/drawing/2014/main" id="{E5E2B290-829A-4B67-90F6-E2DFA96B6C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94246" name="Text Box 22">
                <a:extLst>
                  <a:ext uri="{FF2B5EF4-FFF2-40B4-BE49-F238E27FC236}">
                    <a16:creationId xmlns:a16="http://schemas.microsoft.com/office/drawing/2014/main" id="{819090FC-6E35-4D01-B9BA-799004ACBD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/>
                  <a:t>2</a:t>
                </a:r>
              </a:p>
            </p:txBody>
          </p:sp>
        </p:grpSp>
        <p:grpSp>
          <p:nvGrpSpPr>
            <p:cNvPr id="94236" name="Group 23">
              <a:extLst>
                <a:ext uri="{FF2B5EF4-FFF2-40B4-BE49-F238E27FC236}">
                  <a16:creationId xmlns:a16="http://schemas.microsoft.com/office/drawing/2014/main" id="{52E3EBAE-8425-420A-A6C5-CC8D262948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200"/>
              <a:ext cx="384" cy="384"/>
              <a:chOff x="2736" y="1200"/>
              <a:chExt cx="384" cy="384"/>
            </a:xfrm>
          </p:grpSpPr>
          <p:sp>
            <p:nvSpPr>
              <p:cNvPr id="94243" name="Oval 24">
                <a:extLst>
                  <a:ext uri="{FF2B5EF4-FFF2-40B4-BE49-F238E27FC236}">
                    <a16:creationId xmlns:a16="http://schemas.microsoft.com/office/drawing/2014/main" id="{251CCB57-B045-4EFC-BDF2-0A7A872FC0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94244" name="Text Box 25">
                <a:extLst>
                  <a:ext uri="{FF2B5EF4-FFF2-40B4-BE49-F238E27FC236}">
                    <a16:creationId xmlns:a16="http://schemas.microsoft.com/office/drawing/2014/main" id="{04B72DF3-FB03-4DCA-A56E-475CD2DF6C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/>
                  <a:t>1</a:t>
                </a:r>
              </a:p>
            </p:txBody>
          </p:sp>
        </p:grpSp>
        <p:sp>
          <p:nvSpPr>
            <p:cNvPr id="94237" name="Text Box 26">
              <a:extLst>
                <a:ext uri="{FF2B5EF4-FFF2-40B4-BE49-F238E27FC236}">
                  <a16:creationId xmlns:a16="http://schemas.microsoft.com/office/drawing/2014/main" id="{53DB00E6-F22F-4860-BC88-5F9F3D16AE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15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b</a:t>
              </a:r>
            </a:p>
          </p:txBody>
        </p:sp>
        <p:sp>
          <p:nvSpPr>
            <p:cNvPr id="94238" name="Text Box 27">
              <a:extLst>
                <a:ext uri="{FF2B5EF4-FFF2-40B4-BE49-F238E27FC236}">
                  <a16:creationId xmlns:a16="http://schemas.microsoft.com/office/drawing/2014/main" id="{8F68998F-C23B-424B-880E-3D0B7F8DE8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15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a</a:t>
              </a:r>
            </a:p>
          </p:txBody>
        </p:sp>
        <p:cxnSp>
          <p:nvCxnSpPr>
            <p:cNvPr id="94239" name="AutoShape 28">
              <a:extLst>
                <a:ext uri="{FF2B5EF4-FFF2-40B4-BE49-F238E27FC236}">
                  <a16:creationId xmlns:a16="http://schemas.microsoft.com/office/drawing/2014/main" id="{14178BBD-CAA2-4738-9FAB-CCC0A0506614}"/>
                </a:ext>
              </a:extLst>
            </p:cNvPr>
            <p:cNvCxnSpPr>
              <a:cxnSpLocks noChangeShapeType="1"/>
              <a:stCxn id="94247" idx="7"/>
              <a:endCxn id="94247" idx="0"/>
            </p:cNvCxnSpPr>
            <p:nvPr/>
          </p:nvCxnSpPr>
          <p:spPr bwMode="auto">
            <a:xfrm rot="5400000" flipH="1">
              <a:off x="2824" y="1160"/>
              <a:ext cx="56" cy="136"/>
            </a:xfrm>
            <a:prstGeom prst="curvedConnector3">
              <a:avLst>
                <a:gd name="adj1" fmla="val 70713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4240" name="Text Box 29">
              <a:extLst>
                <a:ext uri="{FF2B5EF4-FFF2-40B4-BE49-F238E27FC236}">
                  <a16:creationId xmlns:a16="http://schemas.microsoft.com/office/drawing/2014/main" id="{2865F4D2-6B71-4225-B9EE-DE64B862BE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91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a</a:t>
              </a:r>
            </a:p>
          </p:txBody>
        </p:sp>
        <p:cxnSp>
          <p:nvCxnSpPr>
            <p:cNvPr id="94241" name="AutoShape 30">
              <a:extLst>
                <a:ext uri="{FF2B5EF4-FFF2-40B4-BE49-F238E27FC236}">
                  <a16:creationId xmlns:a16="http://schemas.microsoft.com/office/drawing/2014/main" id="{96AD982D-F514-401C-B726-72C4F280361E}"/>
                </a:ext>
              </a:extLst>
            </p:cNvPr>
            <p:cNvCxnSpPr>
              <a:cxnSpLocks noChangeShapeType="1"/>
              <a:stCxn id="94247" idx="3"/>
              <a:endCxn id="94247" idx="4"/>
            </p:cNvCxnSpPr>
            <p:nvPr/>
          </p:nvCxnSpPr>
          <p:spPr bwMode="auto">
            <a:xfrm rot="16200000" flipH="1">
              <a:off x="2688" y="1488"/>
              <a:ext cx="56" cy="136"/>
            </a:xfrm>
            <a:prstGeom prst="curvedConnector3">
              <a:avLst>
                <a:gd name="adj1" fmla="val 60713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4242" name="Text Box 31">
              <a:extLst>
                <a:ext uri="{FF2B5EF4-FFF2-40B4-BE49-F238E27FC236}">
                  <a16:creationId xmlns:a16="http://schemas.microsoft.com/office/drawing/2014/main" id="{4F729DAC-DE71-4670-AACB-D9C6F6901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168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b</a:t>
              </a:r>
            </a:p>
          </p:txBody>
        </p:sp>
      </p:grpSp>
      <p:sp>
        <p:nvSpPr>
          <p:cNvPr id="94215" name="Text Box 53">
            <a:extLst>
              <a:ext uri="{FF2B5EF4-FFF2-40B4-BE49-F238E27FC236}">
                <a16:creationId xmlns:a16="http://schemas.microsoft.com/office/drawing/2014/main" id="{5D226D16-B51A-4D17-A096-5E92799D8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048000"/>
            <a:ext cx="2743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允许</a:t>
            </a:r>
            <a:r>
              <a:rPr kumimoji="0" lang="en-US" altLang="zh-CN" sz="2000" b="0">
                <a:solidFill>
                  <a:schemeClr val="fol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olidFill>
                  <a:schemeClr val="folHlink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rPr>
              <a:t>(null)</a:t>
            </a:r>
            <a:r>
              <a:rPr kumimoji="0" lang="zh-CN" altLang="en-US" sz="2000">
                <a:solidFill>
                  <a:srgbClr val="3333CC"/>
                </a:solidFill>
                <a:sym typeface="Symbol" panose="05050102010706020507" pitchFamily="18" charset="2"/>
              </a:rPr>
              <a:t>边</a:t>
            </a:r>
          </a:p>
        </p:txBody>
      </p:sp>
      <p:grpSp>
        <p:nvGrpSpPr>
          <p:cNvPr id="94216" name="Group 66">
            <a:extLst>
              <a:ext uri="{FF2B5EF4-FFF2-40B4-BE49-F238E27FC236}">
                <a16:creationId xmlns:a16="http://schemas.microsoft.com/office/drawing/2014/main" id="{A469FB71-02F7-44A3-B78C-FE8FB9A43AE6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3429000"/>
            <a:ext cx="1828800" cy="685800"/>
            <a:chOff x="3936" y="3120"/>
            <a:chExt cx="1152" cy="432"/>
          </a:xfrm>
        </p:grpSpPr>
        <p:sp>
          <p:nvSpPr>
            <p:cNvPr id="94219" name="Line 55">
              <a:extLst>
                <a:ext uri="{FF2B5EF4-FFF2-40B4-BE49-F238E27FC236}">
                  <a16:creationId xmlns:a16="http://schemas.microsoft.com/office/drawing/2014/main" id="{D8E6EDC1-A459-4499-9CA1-3948D648A4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360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4220" name="Group 56">
              <a:extLst>
                <a:ext uri="{FF2B5EF4-FFF2-40B4-BE49-F238E27FC236}">
                  <a16:creationId xmlns:a16="http://schemas.microsoft.com/office/drawing/2014/main" id="{F6223B43-5004-470D-9569-43B115CD1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3168"/>
              <a:ext cx="384" cy="384"/>
              <a:chOff x="2736" y="1200"/>
              <a:chExt cx="384" cy="384"/>
            </a:xfrm>
          </p:grpSpPr>
          <p:sp>
            <p:nvSpPr>
              <p:cNvPr id="94225" name="Oval 57">
                <a:extLst>
                  <a:ext uri="{FF2B5EF4-FFF2-40B4-BE49-F238E27FC236}">
                    <a16:creationId xmlns:a16="http://schemas.microsoft.com/office/drawing/2014/main" id="{DEC3AE59-8BE9-4603-A26D-EBE75B812A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94226" name="Text Box 58">
                <a:extLst>
                  <a:ext uri="{FF2B5EF4-FFF2-40B4-BE49-F238E27FC236}">
                    <a16:creationId xmlns:a16="http://schemas.microsoft.com/office/drawing/2014/main" id="{BCE0B80C-E3B6-4083-B68F-2216EC5860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/>
                  <a:t>j</a:t>
                </a:r>
              </a:p>
            </p:txBody>
          </p:sp>
        </p:grpSp>
        <p:grpSp>
          <p:nvGrpSpPr>
            <p:cNvPr id="94221" name="Group 59">
              <a:extLst>
                <a:ext uri="{FF2B5EF4-FFF2-40B4-BE49-F238E27FC236}">
                  <a16:creationId xmlns:a16="http://schemas.microsoft.com/office/drawing/2014/main" id="{CBF5EAFC-15D1-4927-B0A1-77614933B3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3168"/>
              <a:ext cx="384" cy="384"/>
              <a:chOff x="2736" y="1200"/>
              <a:chExt cx="384" cy="384"/>
            </a:xfrm>
          </p:grpSpPr>
          <p:sp>
            <p:nvSpPr>
              <p:cNvPr id="94223" name="Oval 60">
                <a:extLst>
                  <a:ext uri="{FF2B5EF4-FFF2-40B4-BE49-F238E27FC236}">
                    <a16:creationId xmlns:a16="http://schemas.microsoft.com/office/drawing/2014/main" id="{418D2EDD-17AC-4780-8EB2-E3239DF92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20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94224" name="Text Box 61">
                <a:extLst>
                  <a:ext uri="{FF2B5EF4-FFF2-40B4-BE49-F238E27FC236}">
                    <a16:creationId xmlns:a16="http://schemas.microsoft.com/office/drawing/2014/main" id="{076A93C7-4A54-462F-A8C2-909AB0AE6C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84" y="12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/>
                  <a:t>i</a:t>
                </a:r>
              </a:p>
            </p:txBody>
          </p:sp>
        </p:grpSp>
        <p:sp>
          <p:nvSpPr>
            <p:cNvPr id="94222" name="Text Box 62">
              <a:extLst>
                <a:ext uri="{FF2B5EF4-FFF2-40B4-BE49-F238E27FC236}">
                  <a16:creationId xmlns:a16="http://schemas.microsoft.com/office/drawing/2014/main" id="{E2A3BF99-F199-40DB-94E5-C71C1A1CB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312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</p:grpSp>
      <p:sp>
        <p:nvSpPr>
          <p:cNvPr id="94217" name="Text Box 63">
            <a:extLst>
              <a:ext uri="{FF2B5EF4-FFF2-40B4-BE49-F238E27FC236}">
                <a16:creationId xmlns:a16="http://schemas.microsoft.com/office/drawing/2014/main" id="{DE075DBE-18D3-42F5-AF1D-1B6AC0D67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267200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>
                <a:solidFill>
                  <a:srgbClr val="3333CC"/>
                </a:solidFill>
              </a:rPr>
              <a:t>转换状态，但不读入符号</a:t>
            </a:r>
          </a:p>
        </p:txBody>
      </p:sp>
      <p:sp>
        <p:nvSpPr>
          <p:cNvPr id="94218" name="Rectangle 64">
            <a:extLst>
              <a:ext uri="{FF2B5EF4-FFF2-40B4-BE49-F238E27FC236}">
                <a16:creationId xmlns:a16="http://schemas.microsoft.com/office/drawing/2014/main" id="{B9A3E14E-A5F8-4F83-90CA-BC7D4F28E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971800"/>
            <a:ext cx="3200400" cy="1981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slow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F1D7430F-C794-4DBA-8255-FA15568113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</a:t>
            </a:r>
            <a:r>
              <a:rPr lang="en-US" altLang="zh-CN"/>
              <a:t>(a|b)</a:t>
            </a:r>
            <a:r>
              <a:rPr lang="en-US" altLang="zh-CN" baseline="30000"/>
              <a:t>*</a:t>
            </a:r>
            <a:r>
              <a:rPr lang="en-US" altLang="zh-CN"/>
              <a:t>abb</a:t>
            </a:r>
            <a:r>
              <a:rPr lang="zh-CN" altLang="en-US"/>
              <a:t>（续）</a:t>
            </a:r>
          </a:p>
        </p:txBody>
      </p:sp>
      <p:sp>
        <p:nvSpPr>
          <p:cNvPr id="95235" name="Text Box 31">
            <a:extLst>
              <a:ext uri="{FF2B5EF4-FFF2-40B4-BE49-F238E27FC236}">
                <a16:creationId xmlns:a16="http://schemas.microsoft.com/office/drawing/2014/main" id="{C7E98E1A-7B3F-4B0C-B435-2618FAFCB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358900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>
                <a:solidFill>
                  <a:srgbClr val="3333CC"/>
                </a:solidFill>
              </a:rPr>
              <a:t>状态转换矩阵</a:t>
            </a:r>
          </a:p>
        </p:txBody>
      </p:sp>
      <p:sp>
        <p:nvSpPr>
          <p:cNvPr id="95236" name="Line 32">
            <a:extLst>
              <a:ext uri="{FF2B5EF4-FFF2-40B4-BE49-F238E27FC236}">
                <a16:creationId xmlns:a16="http://schemas.microsoft.com/office/drawing/2014/main" id="{DF496A2C-8020-42E2-A506-308FA124C0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26543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7" name="Line 33">
            <a:extLst>
              <a:ext uri="{FF2B5EF4-FFF2-40B4-BE49-F238E27FC236}">
                <a16:creationId xmlns:a16="http://schemas.microsoft.com/office/drawing/2014/main" id="{A85A3752-E44E-4E90-A392-BBBC8DD66FF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6449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8" name="Line 34">
            <a:extLst>
              <a:ext uri="{FF2B5EF4-FFF2-40B4-BE49-F238E27FC236}">
                <a16:creationId xmlns:a16="http://schemas.microsoft.com/office/drawing/2014/main" id="{E1190105-3922-4262-8650-1B3F0F13A5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111500"/>
            <a:ext cx="2362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39" name="Line 35">
            <a:extLst>
              <a:ext uri="{FF2B5EF4-FFF2-40B4-BE49-F238E27FC236}">
                <a16:creationId xmlns:a16="http://schemas.microsoft.com/office/drawing/2014/main" id="{84EE846C-0AD4-4AA4-8957-BA1BDFA24B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38600" y="23495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40" name="Line 36">
            <a:extLst>
              <a:ext uri="{FF2B5EF4-FFF2-40B4-BE49-F238E27FC236}">
                <a16:creationId xmlns:a16="http://schemas.microsoft.com/office/drawing/2014/main" id="{2D51191D-8E2B-40AF-8AFD-C2B5A7A56C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2349500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241" name="Text Box 37">
            <a:extLst>
              <a:ext uri="{FF2B5EF4-FFF2-40B4-BE49-F238E27FC236}">
                <a16:creationId xmlns:a16="http://schemas.microsoft.com/office/drawing/2014/main" id="{73AE82A0-AD4E-46EE-8E19-C91631D8A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2425700"/>
            <a:ext cx="3048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FF3300"/>
                </a:solidFill>
              </a:rPr>
              <a:t>state</a:t>
            </a:r>
          </a:p>
        </p:txBody>
      </p:sp>
      <p:sp>
        <p:nvSpPr>
          <p:cNvPr id="95242" name="Text Box 38">
            <a:extLst>
              <a:ext uri="{FF2B5EF4-FFF2-40B4-BE49-F238E27FC236}">
                <a16:creationId xmlns:a16="http://schemas.microsoft.com/office/drawing/2014/main" id="{EC2FE5D8-A31F-403D-9AA5-919FE28DD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8923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FF3300"/>
                </a:solidFill>
              </a:rPr>
              <a:t>i n p u t</a:t>
            </a:r>
          </a:p>
        </p:txBody>
      </p:sp>
      <p:sp>
        <p:nvSpPr>
          <p:cNvPr id="95243" name="Text Box 39">
            <a:extLst>
              <a:ext uri="{FF2B5EF4-FFF2-40B4-BE49-F238E27FC236}">
                <a16:creationId xmlns:a16="http://schemas.microsoft.com/office/drawing/2014/main" id="{E9BBE39A-D7EE-4036-951E-7092BAD6B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26543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0</a:t>
            </a:r>
          </a:p>
        </p:txBody>
      </p:sp>
      <p:sp>
        <p:nvSpPr>
          <p:cNvPr id="95244" name="Text Box 40">
            <a:extLst>
              <a:ext uri="{FF2B5EF4-FFF2-40B4-BE49-F238E27FC236}">
                <a16:creationId xmlns:a16="http://schemas.microsoft.com/office/drawing/2014/main" id="{7A3D4C2E-901E-4D42-A034-40E9C22A4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1115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</a:t>
            </a:r>
          </a:p>
        </p:txBody>
      </p:sp>
      <p:sp>
        <p:nvSpPr>
          <p:cNvPr id="95245" name="Text Box 41">
            <a:extLst>
              <a:ext uri="{FF2B5EF4-FFF2-40B4-BE49-F238E27FC236}">
                <a16:creationId xmlns:a16="http://schemas.microsoft.com/office/drawing/2014/main" id="{912B9DDE-8732-433A-B8EE-80AAA0D7F0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6449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2</a:t>
            </a:r>
          </a:p>
        </p:txBody>
      </p:sp>
      <p:sp>
        <p:nvSpPr>
          <p:cNvPr id="95246" name="Text Box 42">
            <a:extLst>
              <a:ext uri="{FF2B5EF4-FFF2-40B4-BE49-F238E27FC236}">
                <a16:creationId xmlns:a16="http://schemas.microsoft.com/office/drawing/2014/main" id="{FC7BE6C4-4FB7-468B-8590-AF9ED97A56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2733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sp>
        <p:nvSpPr>
          <p:cNvPr id="95247" name="Text Box 43">
            <a:extLst>
              <a:ext uri="{FF2B5EF4-FFF2-40B4-BE49-F238E27FC236}">
                <a16:creationId xmlns:a16="http://schemas.microsoft.com/office/drawing/2014/main" id="{97427B1A-3C71-4404-939B-928594760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2733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95248" name="Text Box 44">
            <a:extLst>
              <a:ext uri="{FF2B5EF4-FFF2-40B4-BE49-F238E27FC236}">
                <a16:creationId xmlns:a16="http://schemas.microsoft.com/office/drawing/2014/main" id="{B3300680-29E8-4F31-B626-DDD122A4E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6543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{ 0, 1}</a:t>
            </a:r>
          </a:p>
        </p:txBody>
      </p:sp>
      <p:sp>
        <p:nvSpPr>
          <p:cNvPr id="95249" name="Text Box 45">
            <a:extLst>
              <a:ext uri="{FF2B5EF4-FFF2-40B4-BE49-F238E27FC236}">
                <a16:creationId xmlns:a16="http://schemas.microsoft.com/office/drawing/2014/main" id="{E5CC89BC-337D-4CBC-96BE-E0C3E3A81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1877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--</a:t>
            </a:r>
          </a:p>
        </p:txBody>
      </p:sp>
      <p:sp>
        <p:nvSpPr>
          <p:cNvPr id="95250" name="Text Box 46">
            <a:extLst>
              <a:ext uri="{FF2B5EF4-FFF2-40B4-BE49-F238E27FC236}">
                <a16:creationId xmlns:a16="http://schemas.microsoft.com/office/drawing/2014/main" id="{607898FE-DB1A-434F-BD47-2C0999F80F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1877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{ 2 }</a:t>
            </a:r>
          </a:p>
        </p:txBody>
      </p:sp>
      <p:sp>
        <p:nvSpPr>
          <p:cNvPr id="95251" name="Text Box 47">
            <a:extLst>
              <a:ext uri="{FF2B5EF4-FFF2-40B4-BE49-F238E27FC236}">
                <a16:creationId xmlns:a16="http://schemas.microsoft.com/office/drawing/2014/main" id="{AFE2462E-27CA-4D8E-9F8A-7141F5EF9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37211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--</a:t>
            </a:r>
          </a:p>
        </p:txBody>
      </p:sp>
      <p:sp>
        <p:nvSpPr>
          <p:cNvPr id="95252" name="Text Box 48">
            <a:extLst>
              <a:ext uri="{FF2B5EF4-FFF2-40B4-BE49-F238E27FC236}">
                <a16:creationId xmlns:a16="http://schemas.microsoft.com/office/drawing/2014/main" id="{CD7C64BF-C1E9-401B-B0F5-FD8E9165F5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37211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{ 3 }</a:t>
            </a:r>
          </a:p>
        </p:txBody>
      </p:sp>
      <p:sp>
        <p:nvSpPr>
          <p:cNvPr id="95253" name="Text Box 49">
            <a:extLst>
              <a:ext uri="{FF2B5EF4-FFF2-40B4-BE49-F238E27FC236}">
                <a16:creationId xmlns:a16="http://schemas.microsoft.com/office/drawing/2014/main" id="{98951C89-70A8-4E1A-95BD-B4C839B22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6543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{ 0 }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494E7335-8FDC-4E3A-83D9-BF7783B73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zh-CN" altLang="en-US"/>
              <a:t>如何工作？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39807691-41FA-4BDC-B232-5D7D7E1C8B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8001000" cy="5181600"/>
          </a:xfrm>
        </p:spPr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zh-CN" altLang="en-US">
                <a:solidFill>
                  <a:srgbClr val="3333CC"/>
                </a:solidFill>
                <a:ea typeface="黑体" panose="02010609060101010101" pitchFamily="49" charset="-122"/>
              </a:rPr>
              <a:t>接受</a:t>
            </a:r>
            <a:r>
              <a:rPr lang="zh-CN" altLang="en-US">
                <a:ea typeface="黑体" panose="02010609060101010101" pitchFamily="49" charset="-122"/>
              </a:rPr>
              <a:t>（</a:t>
            </a:r>
            <a:r>
              <a:rPr lang="en-US" altLang="zh-CN">
                <a:solidFill>
                  <a:srgbClr val="FF3300"/>
                </a:solidFill>
                <a:ea typeface="黑体" panose="02010609060101010101" pitchFamily="49" charset="-122"/>
              </a:rPr>
              <a:t>accept</a:t>
            </a:r>
            <a:r>
              <a:rPr lang="zh-CN" altLang="en-US">
                <a:ea typeface="黑体" panose="02010609060101010101" pitchFamily="49" charset="-122"/>
              </a:rPr>
              <a:t>）</a:t>
            </a:r>
            <a:r>
              <a:rPr lang="zh-CN" altLang="en-US"/>
              <a:t>符号串</a:t>
            </a:r>
            <a:r>
              <a:rPr lang="en-US" altLang="zh-CN"/>
              <a:t>x</a:t>
            </a:r>
            <a:br>
              <a:rPr lang="en-US" altLang="zh-CN"/>
            </a:br>
            <a:r>
              <a:rPr lang="en-US" altLang="zh-CN">
                <a:sym typeface="Wingdings" panose="05000000000000000000" pitchFamily="2" charset="2"/>
              </a:rPr>
              <a:t></a:t>
            </a:r>
            <a:r>
              <a:rPr lang="zh-CN" altLang="en-US">
                <a:solidFill>
                  <a:schemeClr val="hlink"/>
                </a:solidFill>
                <a:ea typeface="黑体" panose="02010609060101010101" pitchFamily="49" charset="-122"/>
              </a:rPr>
              <a:t>存在</a:t>
            </a:r>
            <a:r>
              <a:rPr lang="zh-CN" altLang="en-US"/>
              <a:t>一条从初态到终态的路径，路径上的符号组成</a:t>
            </a:r>
            <a:r>
              <a:rPr lang="en-US" altLang="zh-CN"/>
              <a:t>x</a:t>
            </a:r>
          </a:p>
          <a:p>
            <a:pPr eaLnBrk="1" hangingPunct="1"/>
            <a:r>
              <a:rPr lang="en-US" altLang="zh-CN"/>
              <a:t>NFA M</a:t>
            </a:r>
            <a:r>
              <a:rPr lang="zh-CN" altLang="en-US">
                <a:solidFill>
                  <a:srgbClr val="3333CC"/>
                </a:solidFill>
                <a:ea typeface="黑体" panose="02010609060101010101" pitchFamily="49" charset="-122"/>
              </a:rPr>
              <a:t>定义的语言</a:t>
            </a:r>
            <a:r>
              <a:rPr lang="zh-CN" altLang="en-US">
                <a:ea typeface="黑体" panose="02010609060101010101" pitchFamily="49" charset="-122"/>
              </a:rPr>
              <a:t>：</a:t>
            </a:r>
            <a:r>
              <a:rPr lang="en-US" altLang="zh-CN">
                <a:ea typeface="黑体" panose="02010609060101010101" pitchFamily="49" charset="-122"/>
              </a:rPr>
              <a:t>M</a:t>
            </a:r>
            <a:r>
              <a:rPr lang="zh-CN" altLang="en-US">
                <a:latin typeface="宋体" panose="02010600030101010101" pitchFamily="2" charset="-122"/>
              </a:rPr>
              <a:t>接受的符号串集合</a:t>
            </a:r>
            <a:r>
              <a:rPr lang="zh-CN" altLang="en-US"/>
              <a:t>，记为</a:t>
            </a:r>
            <a:r>
              <a:rPr lang="en-US" altLang="zh-CN"/>
              <a:t>L(M)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494E7335-8FDC-4E3A-83D9-BF7783B73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NFA</a:t>
            </a:r>
            <a:r>
              <a:rPr lang="zh-CN" altLang="en-US" dirty="0"/>
              <a:t>如何工作？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39807691-41FA-4BDC-B232-5D7D7E1C8B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8001000" cy="5181600"/>
          </a:xfrm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7220DEF-A69D-49C8-BD75-8661B9D67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2060848"/>
            <a:ext cx="61722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FF3300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4800" b="0" kern="0" dirty="0">
                <a:solidFill>
                  <a:srgbClr val="FF3300"/>
                </a:solidFill>
                <a:latin typeface="+mn-lt"/>
                <a:ea typeface="+mn-ea"/>
                <a:sym typeface="Wingdings" pitchFamily="2" charset="2"/>
              </a:rPr>
              <a:t>状态符号串集合（从初态到此状态的所有可能路径）</a:t>
            </a:r>
            <a:endParaRPr lang="en-US" altLang="zh-CN" sz="4800" b="0" kern="0" dirty="0">
              <a:solidFill>
                <a:srgbClr val="FF3300"/>
              </a:solidFill>
              <a:latin typeface="+mn-lt"/>
              <a:ea typeface="+mn-ea"/>
              <a:sym typeface="Wingdings" pitchFamily="2" charset="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84C980D-2B44-BA48-8C32-36B143636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797152"/>
            <a:ext cx="61722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FF3300"/>
              </a:buClr>
              <a:buSzPct val="75000"/>
              <a:defRPr/>
            </a:pPr>
            <a:r>
              <a:rPr lang="zh-CN" altLang="en-US" sz="4800" b="0" kern="0" dirty="0">
                <a:solidFill>
                  <a:srgbClr val="FF3300"/>
                </a:solidFill>
                <a:sym typeface="Wingdings" pitchFamily="2" charset="2"/>
              </a:rPr>
              <a:t>终态</a:t>
            </a:r>
            <a:r>
              <a:rPr lang="en-US" altLang="zh-CN" sz="4800" b="0" kern="0" dirty="0">
                <a:solidFill>
                  <a:srgbClr val="FF3300"/>
                </a:solidFill>
                <a:sym typeface="Wingdings" pitchFamily="2" charset="2"/>
              </a:rPr>
              <a:t>L(M)</a:t>
            </a:r>
            <a:endParaRPr lang="zh-CN" altLang="en-US" sz="4800" b="0" kern="0" dirty="0">
              <a:solidFill>
                <a:srgbClr val="FF33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05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C53963B2-F938-4964-9BF7-AE3B5467B6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zh-CN" altLang="en-US"/>
              <a:t>如何工作（续）</a:t>
            </a:r>
          </a:p>
        </p:txBody>
      </p:sp>
      <p:grpSp>
        <p:nvGrpSpPr>
          <p:cNvPr id="97283" name="Group 4">
            <a:extLst>
              <a:ext uri="{FF2B5EF4-FFF2-40B4-BE49-F238E27FC236}">
                <a16:creationId xmlns:a16="http://schemas.microsoft.com/office/drawing/2014/main" id="{97816AD3-22DD-4E28-B6EF-F0A37E14B5C0}"/>
              </a:ext>
            </a:extLst>
          </p:cNvPr>
          <p:cNvGrpSpPr>
            <a:grpSpLocks/>
          </p:cNvGrpSpPr>
          <p:nvPr/>
        </p:nvGrpSpPr>
        <p:grpSpPr bwMode="auto">
          <a:xfrm>
            <a:off x="4343400" y="1981200"/>
            <a:ext cx="609600" cy="609600"/>
            <a:chOff x="2496" y="2688"/>
            <a:chExt cx="384" cy="384"/>
          </a:xfrm>
        </p:grpSpPr>
        <p:sp>
          <p:nvSpPr>
            <p:cNvPr id="97313" name="Oval 5">
              <a:extLst>
                <a:ext uri="{FF2B5EF4-FFF2-40B4-BE49-F238E27FC236}">
                  <a16:creationId xmlns:a16="http://schemas.microsoft.com/office/drawing/2014/main" id="{E132F6EC-B37B-4412-BF4A-5F2876215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688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7314" name="Oval 6">
              <a:extLst>
                <a:ext uri="{FF2B5EF4-FFF2-40B4-BE49-F238E27FC236}">
                  <a16:creationId xmlns:a16="http://schemas.microsoft.com/office/drawing/2014/main" id="{C643E385-5A25-4FFD-9E2C-7CFF05690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73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97284" name="Line 7">
            <a:extLst>
              <a:ext uri="{FF2B5EF4-FFF2-40B4-BE49-F238E27FC236}">
                <a16:creationId xmlns:a16="http://schemas.microsoft.com/office/drawing/2014/main" id="{F7B832AD-E766-4A63-9FF1-5A0B9A3722C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22860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5" name="Line 8">
            <a:extLst>
              <a:ext uri="{FF2B5EF4-FFF2-40B4-BE49-F238E27FC236}">
                <a16:creationId xmlns:a16="http://schemas.microsoft.com/office/drawing/2014/main" id="{214E9040-0A26-4C85-81F6-87567938D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22860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6" name="Line 9">
            <a:extLst>
              <a:ext uri="{FF2B5EF4-FFF2-40B4-BE49-F238E27FC236}">
                <a16:creationId xmlns:a16="http://schemas.microsoft.com/office/drawing/2014/main" id="{C170ABA0-6DB3-4085-920A-E3ADCD6FEBC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" y="22860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287" name="Text Box 10">
            <a:extLst>
              <a:ext uri="{FF2B5EF4-FFF2-40B4-BE49-F238E27FC236}">
                <a16:creationId xmlns:a16="http://schemas.microsoft.com/office/drawing/2014/main" id="{CC81F85D-B2DF-4C9A-A627-E364C5D4BC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9177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0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grpSp>
        <p:nvGrpSpPr>
          <p:cNvPr id="97288" name="Group 11">
            <a:extLst>
              <a:ext uri="{FF2B5EF4-FFF2-40B4-BE49-F238E27FC236}">
                <a16:creationId xmlns:a16="http://schemas.microsoft.com/office/drawing/2014/main" id="{54B3BC58-D10C-4DB9-A73D-477367765D5E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981200"/>
            <a:ext cx="609600" cy="609600"/>
            <a:chOff x="2736" y="1200"/>
            <a:chExt cx="384" cy="384"/>
          </a:xfrm>
        </p:grpSpPr>
        <p:sp>
          <p:nvSpPr>
            <p:cNvPr id="97311" name="Oval 12">
              <a:extLst>
                <a:ext uri="{FF2B5EF4-FFF2-40B4-BE49-F238E27FC236}">
                  <a16:creationId xmlns:a16="http://schemas.microsoft.com/office/drawing/2014/main" id="{8721800A-8173-4116-8C0D-6BF6571E3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7312" name="Text Box 13">
              <a:extLst>
                <a:ext uri="{FF2B5EF4-FFF2-40B4-BE49-F238E27FC236}">
                  <a16:creationId xmlns:a16="http://schemas.microsoft.com/office/drawing/2014/main" id="{D68A6431-0479-4C5A-B003-9A2AA2267E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0</a:t>
              </a:r>
            </a:p>
          </p:txBody>
        </p:sp>
      </p:grpSp>
      <p:sp>
        <p:nvSpPr>
          <p:cNvPr id="97289" name="Text Box 14">
            <a:extLst>
              <a:ext uri="{FF2B5EF4-FFF2-40B4-BE49-F238E27FC236}">
                <a16:creationId xmlns:a16="http://schemas.microsoft.com/office/drawing/2014/main" id="{70252721-2419-40D1-BC5A-ACE34819DE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2057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</a:p>
        </p:txBody>
      </p:sp>
      <p:sp>
        <p:nvSpPr>
          <p:cNvPr id="97290" name="Text Box 15">
            <a:extLst>
              <a:ext uri="{FF2B5EF4-FFF2-40B4-BE49-F238E27FC236}">
                <a16:creationId xmlns:a16="http://schemas.microsoft.com/office/drawing/2014/main" id="{3D34263B-E293-431C-BB72-8027C8688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19177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97291" name="Line 16">
            <a:extLst>
              <a:ext uri="{FF2B5EF4-FFF2-40B4-BE49-F238E27FC236}">
                <a16:creationId xmlns:a16="http://schemas.microsoft.com/office/drawing/2014/main" id="{BF735D76-F24C-4E30-A338-22E5FE3B7E0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2860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7292" name="Group 17">
            <a:extLst>
              <a:ext uri="{FF2B5EF4-FFF2-40B4-BE49-F238E27FC236}">
                <a16:creationId xmlns:a16="http://schemas.microsoft.com/office/drawing/2014/main" id="{22FC2408-24A5-4688-AF72-221446DC44FB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1981200"/>
            <a:ext cx="609600" cy="609600"/>
            <a:chOff x="2736" y="1200"/>
            <a:chExt cx="384" cy="384"/>
          </a:xfrm>
        </p:grpSpPr>
        <p:sp>
          <p:nvSpPr>
            <p:cNvPr id="97309" name="Oval 18">
              <a:extLst>
                <a:ext uri="{FF2B5EF4-FFF2-40B4-BE49-F238E27FC236}">
                  <a16:creationId xmlns:a16="http://schemas.microsoft.com/office/drawing/2014/main" id="{4327E61A-D2F5-444E-940D-E943DD6AA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7310" name="Text Box 19">
              <a:extLst>
                <a:ext uri="{FF2B5EF4-FFF2-40B4-BE49-F238E27FC236}">
                  <a16:creationId xmlns:a16="http://schemas.microsoft.com/office/drawing/2014/main" id="{4DBD43A1-FD83-4B5D-AFCF-D4A140B65A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2</a:t>
              </a:r>
            </a:p>
          </p:txBody>
        </p:sp>
      </p:grpSp>
      <p:grpSp>
        <p:nvGrpSpPr>
          <p:cNvPr id="97293" name="Group 20">
            <a:extLst>
              <a:ext uri="{FF2B5EF4-FFF2-40B4-BE49-F238E27FC236}">
                <a16:creationId xmlns:a16="http://schemas.microsoft.com/office/drawing/2014/main" id="{FFBDC258-B81B-4E42-BC5D-18241394C094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981200"/>
            <a:ext cx="609600" cy="609600"/>
            <a:chOff x="2736" y="1200"/>
            <a:chExt cx="384" cy="384"/>
          </a:xfrm>
        </p:grpSpPr>
        <p:sp>
          <p:nvSpPr>
            <p:cNvPr id="97307" name="Oval 21">
              <a:extLst>
                <a:ext uri="{FF2B5EF4-FFF2-40B4-BE49-F238E27FC236}">
                  <a16:creationId xmlns:a16="http://schemas.microsoft.com/office/drawing/2014/main" id="{D5A235F7-4EAD-4149-8093-E168648F7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7308" name="Text Box 22">
              <a:extLst>
                <a:ext uri="{FF2B5EF4-FFF2-40B4-BE49-F238E27FC236}">
                  <a16:creationId xmlns:a16="http://schemas.microsoft.com/office/drawing/2014/main" id="{D6DB5035-DB7D-4917-989A-70037B874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</a:t>
              </a:r>
            </a:p>
          </p:txBody>
        </p:sp>
      </p:grpSp>
      <p:sp>
        <p:nvSpPr>
          <p:cNvPr id="97294" name="Text Box 23">
            <a:extLst>
              <a:ext uri="{FF2B5EF4-FFF2-40B4-BE49-F238E27FC236}">
                <a16:creationId xmlns:a16="http://schemas.microsoft.com/office/drawing/2014/main" id="{8973A07B-1925-458F-B692-A066BBFFC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9177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97295" name="Text Box 24">
            <a:extLst>
              <a:ext uri="{FF2B5EF4-FFF2-40B4-BE49-F238E27FC236}">
                <a16:creationId xmlns:a16="http://schemas.microsoft.com/office/drawing/2014/main" id="{C61992E3-B0D3-475C-8CC8-3BF3A9537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9177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cxnSp>
        <p:nvCxnSpPr>
          <p:cNvPr id="97296" name="AutoShape 25">
            <a:extLst>
              <a:ext uri="{FF2B5EF4-FFF2-40B4-BE49-F238E27FC236}">
                <a16:creationId xmlns:a16="http://schemas.microsoft.com/office/drawing/2014/main" id="{2F17CBC6-FF5C-40AE-AFFF-14B85066D39D}"/>
              </a:ext>
            </a:extLst>
          </p:cNvPr>
          <p:cNvCxnSpPr>
            <a:cxnSpLocks noChangeShapeType="1"/>
            <a:stCxn id="97311" idx="7"/>
            <a:endCxn id="97311" idx="0"/>
          </p:cNvCxnSpPr>
          <p:nvPr/>
        </p:nvCxnSpPr>
        <p:spPr bwMode="auto">
          <a:xfrm rot="5400000" flipH="1">
            <a:off x="1054100" y="1917700"/>
            <a:ext cx="88900" cy="215900"/>
          </a:xfrm>
          <a:prstGeom prst="curvedConnector3">
            <a:avLst>
              <a:gd name="adj1" fmla="val 357144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7297" name="Text Box 26">
            <a:extLst>
              <a:ext uri="{FF2B5EF4-FFF2-40B4-BE49-F238E27FC236}">
                <a16:creationId xmlns:a16="http://schemas.microsoft.com/office/drawing/2014/main" id="{2FEF2BD1-5BB5-4DE2-B9F9-0EB6901D5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524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cxnSp>
        <p:nvCxnSpPr>
          <p:cNvPr id="97298" name="AutoShape 27">
            <a:extLst>
              <a:ext uri="{FF2B5EF4-FFF2-40B4-BE49-F238E27FC236}">
                <a16:creationId xmlns:a16="http://schemas.microsoft.com/office/drawing/2014/main" id="{5B8A2120-13AB-46F8-AA8A-8D23B0E55068}"/>
              </a:ext>
            </a:extLst>
          </p:cNvPr>
          <p:cNvCxnSpPr>
            <a:cxnSpLocks noChangeShapeType="1"/>
            <a:stCxn id="97311" idx="3"/>
            <a:endCxn id="97311" idx="4"/>
          </p:cNvCxnSpPr>
          <p:nvPr/>
        </p:nvCxnSpPr>
        <p:spPr bwMode="auto">
          <a:xfrm rot="16200000" flipH="1">
            <a:off x="838200" y="2438400"/>
            <a:ext cx="88900" cy="215900"/>
          </a:xfrm>
          <a:prstGeom prst="curvedConnector3">
            <a:avLst>
              <a:gd name="adj1" fmla="val 357144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7299" name="Text Box 28">
            <a:extLst>
              <a:ext uri="{FF2B5EF4-FFF2-40B4-BE49-F238E27FC236}">
                <a16:creationId xmlns:a16="http://schemas.microsoft.com/office/drawing/2014/main" id="{B6FA8704-5E7D-4E9C-95BF-E774AD4A40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743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97300" name="Text Box 29">
            <a:extLst>
              <a:ext uri="{FF2B5EF4-FFF2-40B4-BE49-F238E27FC236}">
                <a16:creationId xmlns:a16="http://schemas.microsoft.com/office/drawing/2014/main" id="{F31A05E2-FAEF-4152-B086-0D95E337B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905000"/>
            <a:ext cx="4191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0" lang="en-US" altLang="zh-CN" sz="2000">
                <a:solidFill>
                  <a:srgbClr val="3333CC"/>
                </a:solidFill>
              </a:rPr>
              <a:t> </a:t>
            </a:r>
            <a:r>
              <a:rPr kumimoji="0" lang="zh-CN" altLang="en-US" sz="2000">
                <a:solidFill>
                  <a:srgbClr val="3333CC"/>
                </a:solidFill>
              </a:rPr>
              <a:t>对给定符号串，跟踪状态转换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kumimoji="0" lang="zh-CN" altLang="en-US" sz="2000">
                <a:solidFill>
                  <a:srgbClr val="3333CC"/>
                </a:solidFill>
              </a:rPr>
              <a:t> 若符号读取完，且处于终态，接受</a:t>
            </a:r>
            <a:endParaRPr kumimoji="0" lang="zh-CN" altLang="en-US" sz="2000">
              <a:solidFill>
                <a:schemeClr val="accent2"/>
              </a:solidFill>
            </a:endParaRPr>
          </a:p>
        </p:txBody>
      </p:sp>
      <p:sp>
        <p:nvSpPr>
          <p:cNvPr id="97301" name="Text Box 30">
            <a:extLst>
              <a:ext uri="{FF2B5EF4-FFF2-40B4-BE49-F238E27FC236}">
                <a16:creationId xmlns:a16="http://schemas.microsoft.com/office/drawing/2014/main" id="{95F98641-882B-4B07-93B2-792F90EBB2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755900"/>
            <a:ext cx="2133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00CC00"/>
                </a:solidFill>
              </a:rPr>
              <a:t>EXAMPLE:  </a:t>
            </a:r>
            <a:r>
              <a:rPr kumimoji="0" lang="en-US" altLang="zh-CN" sz="2000"/>
              <a:t>Input:  </a:t>
            </a:r>
            <a:r>
              <a:rPr kumimoji="0" lang="en-US" altLang="zh-CN" sz="2000">
                <a:solidFill>
                  <a:srgbClr val="FF3300"/>
                </a:solidFill>
              </a:rPr>
              <a:t>ababb</a:t>
            </a:r>
          </a:p>
        </p:txBody>
      </p:sp>
      <p:sp>
        <p:nvSpPr>
          <p:cNvPr id="97302" name="Text Box 31">
            <a:extLst>
              <a:ext uri="{FF2B5EF4-FFF2-40B4-BE49-F238E27FC236}">
                <a16:creationId xmlns:a16="http://schemas.microsoft.com/office/drawing/2014/main" id="{F36A23F7-7A21-4904-BF61-3BD508983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505200"/>
            <a:ext cx="3124200" cy="1880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 dirty="0"/>
              <a:t>move</a:t>
            </a:r>
            <a:r>
              <a:rPr kumimoji="0" lang="en-US" altLang="zh-CN" sz="2000" dirty="0"/>
              <a:t>(0, a) = 1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 dirty="0"/>
              <a:t>move</a:t>
            </a:r>
            <a:r>
              <a:rPr kumimoji="0" lang="en-US" altLang="zh-CN" sz="2000" dirty="0"/>
              <a:t>(1, b) = 2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 dirty="0"/>
              <a:t>move</a:t>
            </a:r>
            <a:r>
              <a:rPr kumimoji="0" lang="en-US" altLang="zh-CN" sz="2000" dirty="0"/>
              <a:t>(2, a) = ? (undefined)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endParaRPr kumimoji="0" lang="en-US" altLang="zh-CN" sz="2000" dirty="0"/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FF3300"/>
                </a:solidFill>
              </a:rPr>
              <a:t>REJECT </a:t>
            </a:r>
            <a:r>
              <a:rPr kumimoji="0" lang="zh-CN" altLang="en-US" sz="2000" dirty="0">
                <a:solidFill>
                  <a:srgbClr val="FF3300"/>
                </a:solidFill>
              </a:rPr>
              <a:t>？</a:t>
            </a:r>
            <a:endParaRPr kumimoji="0" lang="en-US" altLang="zh-CN" sz="2000" dirty="0"/>
          </a:p>
        </p:txBody>
      </p:sp>
      <p:sp>
        <p:nvSpPr>
          <p:cNvPr id="97303" name="Text Box 32">
            <a:extLst>
              <a:ext uri="{FF2B5EF4-FFF2-40B4-BE49-F238E27FC236}">
                <a16:creationId xmlns:a16="http://schemas.microsoft.com/office/drawing/2014/main" id="{EC90403D-ED47-403F-A606-869265B68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200400"/>
            <a:ext cx="2667000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move</a:t>
            </a:r>
            <a:r>
              <a:rPr kumimoji="0" lang="en-US" altLang="zh-CN" sz="2000"/>
              <a:t>(0, a) = 0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move</a:t>
            </a:r>
            <a:r>
              <a:rPr kumimoji="0" lang="en-US" altLang="zh-CN" sz="2000"/>
              <a:t>(0, b) = 0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move</a:t>
            </a:r>
            <a:r>
              <a:rPr kumimoji="0" lang="en-US" altLang="zh-CN" sz="2000"/>
              <a:t>(0, a) = 1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move</a:t>
            </a:r>
            <a:r>
              <a:rPr kumimoji="0" lang="en-US" altLang="zh-CN" sz="2000"/>
              <a:t>(1, b) = 2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move</a:t>
            </a:r>
            <a:r>
              <a:rPr kumimoji="0" lang="en-US" altLang="zh-CN" sz="2000"/>
              <a:t>(2, b) = 3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ACCEPT !</a:t>
            </a:r>
          </a:p>
        </p:txBody>
      </p:sp>
      <p:sp>
        <p:nvSpPr>
          <p:cNvPr id="97304" name="Rectangle 33">
            <a:extLst>
              <a:ext uri="{FF2B5EF4-FFF2-40B4-BE49-F238E27FC236}">
                <a16:creationId xmlns:a16="http://schemas.microsoft.com/office/drawing/2014/main" id="{980DABCB-FB6D-469A-943D-212291A56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505200"/>
            <a:ext cx="3276600" cy="1828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97305" name="Rectangle 34">
            <a:extLst>
              <a:ext uri="{FF2B5EF4-FFF2-40B4-BE49-F238E27FC236}">
                <a16:creationId xmlns:a16="http://schemas.microsoft.com/office/drawing/2014/main" id="{73B2509D-46C5-426C-AFE0-8C65E5A6A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200400"/>
            <a:ext cx="2819400" cy="22098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97306" name="Text Box 35">
            <a:extLst>
              <a:ext uri="{FF2B5EF4-FFF2-40B4-BE49-F238E27FC236}">
                <a16:creationId xmlns:a16="http://schemas.microsoft.com/office/drawing/2014/main" id="{2E83C3BB-1108-4DD2-A76D-925BA6B2F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27432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00CC00"/>
                </a:solidFill>
              </a:rPr>
              <a:t>-OR-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00B5EF58-CBDA-4397-B12B-CCF78DBA35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zh-CN" altLang="en-US"/>
              <a:t>如何工作（续）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62F072CC-5190-49EA-837D-B0E97D9A16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124200"/>
            <a:ext cx="7772400" cy="2971800"/>
          </a:xfrm>
        </p:spPr>
        <p:txBody>
          <a:bodyPr/>
          <a:lstStyle/>
          <a:p>
            <a:pPr eaLnBrk="1" hangingPunct="1"/>
            <a:r>
              <a:rPr lang="zh-CN" altLang="en-US" dirty="0"/>
              <a:t>不是所有路径都表示接受</a:t>
            </a:r>
          </a:p>
          <a:p>
            <a:pPr eaLnBrk="1" hangingPunct="1"/>
            <a:r>
              <a:rPr kumimoji="0" lang="en-US" altLang="zh-CN" b="1" dirty="0" err="1">
                <a:solidFill>
                  <a:srgbClr val="FF3300"/>
                </a:solidFill>
              </a:rPr>
              <a:t>aabb</a:t>
            </a:r>
            <a:endParaRPr kumimoji="0" lang="en-US" altLang="zh-CN" b="1" dirty="0"/>
          </a:p>
          <a:p>
            <a:pPr lvl="1" eaLnBrk="1" hangingPunct="1"/>
            <a:r>
              <a:rPr kumimoji="0" lang="zh-CN" altLang="en-US" dirty="0"/>
              <a:t>路径</a:t>
            </a:r>
            <a:r>
              <a:rPr kumimoji="0" lang="en-US" altLang="zh-CN" b="1" dirty="0"/>
              <a:t>0 </a:t>
            </a:r>
            <a:r>
              <a:rPr kumimoji="0" lang="en-US" altLang="zh-CN" b="1" dirty="0">
                <a:sym typeface="Symbol" panose="05050102010706020507" pitchFamily="18" charset="2"/>
              </a:rPr>
              <a:t> 0  1  2  3</a:t>
            </a:r>
            <a:r>
              <a:rPr kumimoji="0" lang="zh-CN" altLang="en-US" dirty="0">
                <a:sym typeface="Symbol" panose="05050102010706020507" pitchFamily="18" charset="2"/>
              </a:rPr>
              <a:t>表示接受</a:t>
            </a:r>
          </a:p>
          <a:p>
            <a:pPr lvl="1" eaLnBrk="1" hangingPunct="1"/>
            <a:r>
              <a:rPr kumimoji="0" lang="zh-CN" altLang="en-US" dirty="0">
                <a:sym typeface="Symbol" panose="05050102010706020507" pitchFamily="18" charset="2"/>
              </a:rPr>
              <a:t>而</a:t>
            </a:r>
            <a:r>
              <a:rPr kumimoji="0" lang="en-US" altLang="zh-CN" b="1" dirty="0"/>
              <a:t>0 </a:t>
            </a:r>
            <a:r>
              <a:rPr kumimoji="0" lang="en-US" altLang="zh-CN" b="1" dirty="0">
                <a:sym typeface="Symbol" panose="05050102010706020507" pitchFamily="18" charset="2"/>
              </a:rPr>
              <a:t> 0  </a:t>
            </a:r>
            <a:r>
              <a:rPr kumimoji="0" lang="en-US" altLang="zh-CN" b="1" dirty="0"/>
              <a:t>0 </a:t>
            </a:r>
            <a:r>
              <a:rPr kumimoji="0" lang="en-US" altLang="zh-CN" b="1" dirty="0">
                <a:sym typeface="Symbol" panose="05050102010706020507" pitchFamily="18" charset="2"/>
              </a:rPr>
              <a:t> 0  0</a:t>
            </a:r>
            <a:r>
              <a:rPr kumimoji="0" lang="zh-CN" altLang="en-US" dirty="0">
                <a:sym typeface="Symbol" panose="05050102010706020507" pitchFamily="18" charset="2"/>
              </a:rPr>
              <a:t>表示不接受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 dirty="0">
                <a:sym typeface="Symbol" panose="05050102010706020507" pitchFamily="18" charset="2"/>
              </a:rPr>
              <a:t>有一条路径表示接受即表明输入合乎词法要求</a:t>
            </a:r>
          </a:p>
        </p:txBody>
      </p:sp>
      <p:grpSp>
        <p:nvGrpSpPr>
          <p:cNvPr id="98308" name="Group 5">
            <a:extLst>
              <a:ext uri="{FF2B5EF4-FFF2-40B4-BE49-F238E27FC236}">
                <a16:creationId xmlns:a16="http://schemas.microsoft.com/office/drawing/2014/main" id="{B015346E-650E-4607-B0CF-3EAF4B168DFD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1919288"/>
            <a:ext cx="609600" cy="609600"/>
            <a:chOff x="2496" y="2688"/>
            <a:chExt cx="384" cy="384"/>
          </a:xfrm>
        </p:grpSpPr>
        <p:sp>
          <p:nvSpPr>
            <p:cNvPr id="98331" name="Oval 6">
              <a:extLst>
                <a:ext uri="{FF2B5EF4-FFF2-40B4-BE49-F238E27FC236}">
                  <a16:creationId xmlns:a16="http://schemas.microsoft.com/office/drawing/2014/main" id="{28EA1EEF-AACA-42A7-814F-E34435716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688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8332" name="Oval 7">
              <a:extLst>
                <a:ext uri="{FF2B5EF4-FFF2-40B4-BE49-F238E27FC236}">
                  <a16:creationId xmlns:a16="http://schemas.microsoft.com/office/drawing/2014/main" id="{0ED126A2-C4D3-4523-95AA-1F23C0669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73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98309" name="Line 8">
            <a:extLst>
              <a:ext uri="{FF2B5EF4-FFF2-40B4-BE49-F238E27FC236}">
                <a16:creationId xmlns:a16="http://schemas.microsoft.com/office/drawing/2014/main" id="{CA624B4B-4313-4041-B1AB-6F7DFC48E8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222408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0" name="Line 9">
            <a:extLst>
              <a:ext uri="{FF2B5EF4-FFF2-40B4-BE49-F238E27FC236}">
                <a16:creationId xmlns:a16="http://schemas.microsoft.com/office/drawing/2014/main" id="{E16E5926-B2A6-4552-AD40-5E0E45B0CAE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22408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1" name="Line 10">
            <a:extLst>
              <a:ext uri="{FF2B5EF4-FFF2-40B4-BE49-F238E27FC236}">
                <a16:creationId xmlns:a16="http://schemas.microsoft.com/office/drawing/2014/main" id="{7444893C-B5FC-4DF5-8F5B-E37216F2C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222408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312" name="Text Box 11">
            <a:extLst>
              <a:ext uri="{FF2B5EF4-FFF2-40B4-BE49-F238E27FC236}">
                <a16:creationId xmlns:a16="http://schemas.microsoft.com/office/drawing/2014/main" id="{CAB24824-6851-4F9E-99C4-9D2AADA83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18288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grpSp>
        <p:nvGrpSpPr>
          <p:cNvPr id="98313" name="Group 12">
            <a:extLst>
              <a:ext uri="{FF2B5EF4-FFF2-40B4-BE49-F238E27FC236}">
                <a16:creationId xmlns:a16="http://schemas.microsoft.com/office/drawing/2014/main" id="{E5CC6505-C8DA-42CE-82B8-84D65105DD43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1919288"/>
            <a:ext cx="609600" cy="609600"/>
            <a:chOff x="2736" y="1200"/>
            <a:chExt cx="384" cy="384"/>
          </a:xfrm>
        </p:grpSpPr>
        <p:sp>
          <p:nvSpPr>
            <p:cNvPr id="98329" name="Oval 13">
              <a:extLst>
                <a:ext uri="{FF2B5EF4-FFF2-40B4-BE49-F238E27FC236}">
                  <a16:creationId xmlns:a16="http://schemas.microsoft.com/office/drawing/2014/main" id="{A10CFBA2-A5D6-43C0-9C24-E3AFA403F8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8330" name="Text Box 14">
              <a:extLst>
                <a:ext uri="{FF2B5EF4-FFF2-40B4-BE49-F238E27FC236}">
                  <a16:creationId xmlns:a16="http://schemas.microsoft.com/office/drawing/2014/main" id="{45E533B8-1AD9-4D5E-B394-39333F89F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0</a:t>
              </a:r>
            </a:p>
          </p:txBody>
        </p:sp>
      </p:grpSp>
      <p:sp>
        <p:nvSpPr>
          <p:cNvPr id="98314" name="Text Box 15">
            <a:extLst>
              <a:ext uri="{FF2B5EF4-FFF2-40B4-BE49-F238E27FC236}">
                <a16:creationId xmlns:a16="http://schemas.microsoft.com/office/drawing/2014/main" id="{20615F11-C1F8-48A9-9395-BE0826AD34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995488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</a:p>
        </p:txBody>
      </p:sp>
      <p:sp>
        <p:nvSpPr>
          <p:cNvPr id="98315" name="Text Box 16">
            <a:extLst>
              <a:ext uri="{FF2B5EF4-FFF2-40B4-BE49-F238E27FC236}">
                <a16:creationId xmlns:a16="http://schemas.microsoft.com/office/drawing/2014/main" id="{26416F59-8ED2-4A7D-AB67-63E0ACA23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828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98316" name="Line 17">
            <a:extLst>
              <a:ext uri="{FF2B5EF4-FFF2-40B4-BE49-F238E27FC236}">
                <a16:creationId xmlns:a16="http://schemas.microsoft.com/office/drawing/2014/main" id="{1C75A187-61FE-4FE4-B309-E934CD251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222408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8317" name="Group 18">
            <a:extLst>
              <a:ext uri="{FF2B5EF4-FFF2-40B4-BE49-F238E27FC236}">
                <a16:creationId xmlns:a16="http://schemas.microsoft.com/office/drawing/2014/main" id="{07D386A1-04DD-4516-8D3E-A699D598D789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919288"/>
            <a:ext cx="609600" cy="609600"/>
            <a:chOff x="2736" y="1200"/>
            <a:chExt cx="384" cy="384"/>
          </a:xfrm>
        </p:grpSpPr>
        <p:sp>
          <p:nvSpPr>
            <p:cNvPr id="98327" name="Oval 19">
              <a:extLst>
                <a:ext uri="{FF2B5EF4-FFF2-40B4-BE49-F238E27FC236}">
                  <a16:creationId xmlns:a16="http://schemas.microsoft.com/office/drawing/2014/main" id="{2B20946D-5ED7-4E4F-A1FC-3AC77C3A8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8328" name="Text Box 20">
              <a:extLst>
                <a:ext uri="{FF2B5EF4-FFF2-40B4-BE49-F238E27FC236}">
                  <a16:creationId xmlns:a16="http://schemas.microsoft.com/office/drawing/2014/main" id="{F8B50064-6B9F-47D7-B6FC-B68490D057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2</a:t>
              </a:r>
            </a:p>
          </p:txBody>
        </p:sp>
      </p:grpSp>
      <p:grpSp>
        <p:nvGrpSpPr>
          <p:cNvPr id="98318" name="Group 21">
            <a:extLst>
              <a:ext uri="{FF2B5EF4-FFF2-40B4-BE49-F238E27FC236}">
                <a16:creationId xmlns:a16="http://schemas.microsoft.com/office/drawing/2014/main" id="{A1837E54-050D-4274-B8E0-EB4CEFF3F680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1919288"/>
            <a:ext cx="609600" cy="609600"/>
            <a:chOff x="2736" y="1200"/>
            <a:chExt cx="384" cy="384"/>
          </a:xfrm>
        </p:grpSpPr>
        <p:sp>
          <p:nvSpPr>
            <p:cNvPr id="98325" name="Oval 22">
              <a:extLst>
                <a:ext uri="{FF2B5EF4-FFF2-40B4-BE49-F238E27FC236}">
                  <a16:creationId xmlns:a16="http://schemas.microsoft.com/office/drawing/2014/main" id="{4BFCB11D-8569-41E5-827D-2C93DFAD7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8326" name="Text Box 23">
              <a:extLst>
                <a:ext uri="{FF2B5EF4-FFF2-40B4-BE49-F238E27FC236}">
                  <a16:creationId xmlns:a16="http://schemas.microsoft.com/office/drawing/2014/main" id="{0DACC7D2-BCA8-4BFA-B9E8-FB121C3562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</a:t>
              </a:r>
            </a:p>
          </p:txBody>
        </p:sp>
      </p:grpSp>
      <p:sp>
        <p:nvSpPr>
          <p:cNvPr id="98319" name="Text Box 24">
            <a:extLst>
              <a:ext uri="{FF2B5EF4-FFF2-40B4-BE49-F238E27FC236}">
                <a16:creationId xmlns:a16="http://schemas.microsoft.com/office/drawing/2014/main" id="{06CDDE34-0514-41A5-9227-379451F1F0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828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98320" name="Text Box 25">
            <a:extLst>
              <a:ext uri="{FF2B5EF4-FFF2-40B4-BE49-F238E27FC236}">
                <a16:creationId xmlns:a16="http://schemas.microsoft.com/office/drawing/2014/main" id="{F9A059A3-D049-4BF2-8233-7EED10BAE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1828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cxnSp>
        <p:nvCxnSpPr>
          <p:cNvPr id="98321" name="AutoShape 26">
            <a:extLst>
              <a:ext uri="{FF2B5EF4-FFF2-40B4-BE49-F238E27FC236}">
                <a16:creationId xmlns:a16="http://schemas.microsoft.com/office/drawing/2014/main" id="{FA0AE752-921E-4BA9-A3D6-015FE5AB057E}"/>
              </a:ext>
            </a:extLst>
          </p:cNvPr>
          <p:cNvCxnSpPr>
            <a:cxnSpLocks noChangeShapeType="1"/>
            <a:stCxn id="98329" idx="7"/>
            <a:endCxn id="98329" idx="0"/>
          </p:cNvCxnSpPr>
          <p:nvPr/>
        </p:nvCxnSpPr>
        <p:spPr bwMode="auto">
          <a:xfrm rot="5400000" flipH="1">
            <a:off x="3035300" y="1855788"/>
            <a:ext cx="88900" cy="215900"/>
          </a:xfrm>
          <a:prstGeom prst="curvedConnector3">
            <a:avLst>
              <a:gd name="adj1" fmla="val 707139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322" name="Text Box 27">
            <a:extLst>
              <a:ext uri="{FF2B5EF4-FFF2-40B4-BE49-F238E27FC236}">
                <a16:creationId xmlns:a16="http://schemas.microsoft.com/office/drawing/2014/main" id="{F65ED454-9D47-46C5-9F27-61A96414C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46208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cxnSp>
        <p:nvCxnSpPr>
          <p:cNvPr id="98323" name="AutoShape 28">
            <a:extLst>
              <a:ext uri="{FF2B5EF4-FFF2-40B4-BE49-F238E27FC236}">
                <a16:creationId xmlns:a16="http://schemas.microsoft.com/office/drawing/2014/main" id="{E74B2855-928E-4A89-B1F3-D87B3A0D06F4}"/>
              </a:ext>
            </a:extLst>
          </p:cNvPr>
          <p:cNvCxnSpPr>
            <a:cxnSpLocks noChangeShapeType="1"/>
            <a:stCxn id="98329" idx="3"/>
            <a:endCxn id="98329" idx="4"/>
          </p:cNvCxnSpPr>
          <p:nvPr/>
        </p:nvCxnSpPr>
        <p:spPr bwMode="auto">
          <a:xfrm rot="16200000" flipH="1">
            <a:off x="2819400" y="2376488"/>
            <a:ext cx="88900" cy="215900"/>
          </a:xfrm>
          <a:prstGeom prst="curvedConnector3">
            <a:avLst>
              <a:gd name="adj1" fmla="val 607139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8324" name="Text Box 29">
            <a:extLst>
              <a:ext uri="{FF2B5EF4-FFF2-40B4-BE49-F238E27FC236}">
                <a16:creationId xmlns:a16="http://schemas.microsoft.com/office/drawing/2014/main" id="{F1D864C6-F6DA-43A5-9D4B-601035050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8128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1C0D3C3-76E9-5B44-ADCA-074E8AB1FC0E}"/>
              </a:ext>
            </a:extLst>
          </p:cNvPr>
          <p:cNvSpPr txBox="1"/>
          <p:nvPr/>
        </p:nvSpPr>
        <p:spPr>
          <a:xfrm>
            <a:off x="2933700" y="5803612"/>
            <a:ext cx="56327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3200" b="1" dirty="0">
                <a:solidFill>
                  <a:srgbClr val="FF3300"/>
                </a:solidFill>
              </a:rPr>
              <a:t>意味着可能要尝试所有路径！</a:t>
            </a:r>
            <a:endParaRPr lang="zh-CN" altLang="en-US" sz="32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65D641C0-747F-4727-9493-653CA4B7A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处理未定义状态转换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615EE420-2CA0-4DE4-B9DA-E6ACF156E9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971925"/>
            <a:ext cx="7772400" cy="1905000"/>
          </a:xfrm>
        </p:spPr>
        <p:txBody>
          <a:bodyPr/>
          <a:lstStyle/>
          <a:p>
            <a:pPr eaLnBrk="1" hangingPunct="1"/>
            <a:r>
              <a:rPr lang="zh-CN" altLang="en-US" sz="2800"/>
              <a:t>定义一个额外的“</a:t>
            </a:r>
            <a:r>
              <a:rPr lang="zh-CN" altLang="en-US" sz="2800">
                <a:solidFill>
                  <a:srgbClr val="3333CC"/>
                </a:solidFill>
                <a:ea typeface="黑体" panose="02010609060101010101" pitchFamily="49" charset="-122"/>
              </a:rPr>
              <a:t>死状态</a:t>
            </a:r>
            <a:r>
              <a:rPr lang="zh-CN" altLang="en-US" sz="2800"/>
              <a:t>”</a:t>
            </a:r>
          </a:p>
          <a:p>
            <a:pPr eaLnBrk="1" hangingPunct="1"/>
            <a:r>
              <a:rPr lang="zh-CN" altLang="en-US" sz="2800"/>
              <a:t>所有未定义的状态转换都指向它</a:t>
            </a:r>
          </a:p>
          <a:p>
            <a:pPr eaLnBrk="1" hangingPunct="1"/>
            <a:r>
              <a:rPr lang="zh-CN" altLang="en-US" sz="2800"/>
              <a:t>它自身的状态转换都指向自身</a:t>
            </a:r>
          </a:p>
        </p:txBody>
      </p:sp>
      <p:grpSp>
        <p:nvGrpSpPr>
          <p:cNvPr id="99332" name="Group 5">
            <a:extLst>
              <a:ext uri="{FF2B5EF4-FFF2-40B4-BE49-F238E27FC236}">
                <a16:creationId xmlns:a16="http://schemas.microsoft.com/office/drawing/2014/main" id="{3DF098E3-52D8-493F-967E-93A9086470A1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600200"/>
            <a:ext cx="609600" cy="609600"/>
            <a:chOff x="2496" y="2688"/>
            <a:chExt cx="384" cy="384"/>
          </a:xfrm>
        </p:grpSpPr>
        <p:sp>
          <p:nvSpPr>
            <p:cNvPr id="99366" name="Oval 6">
              <a:extLst>
                <a:ext uri="{FF2B5EF4-FFF2-40B4-BE49-F238E27FC236}">
                  <a16:creationId xmlns:a16="http://schemas.microsoft.com/office/drawing/2014/main" id="{169656CA-0B56-490C-8D00-4C8D0EC833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688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9367" name="Oval 7">
              <a:extLst>
                <a:ext uri="{FF2B5EF4-FFF2-40B4-BE49-F238E27FC236}">
                  <a16:creationId xmlns:a16="http://schemas.microsoft.com/office/drawing/2014/main" id="{86D6C2C6-453A-4380-A55C-729D57BDE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73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99333" name="Line 8">
            <a:extLst>
              <a:ext uri="{FF2B5EF4-FFF2-40B4-BE49-F238E27FC236}">
                <a16:creationId xmlns:a16="http://schemas.microsoft.com/office/drawing/2014/main" id="{4C0F0B55-4212-4D30-8145-9B277849CEA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19050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4" name="Line 9">
            <a:extLst>
              <a:ext uri="{FF2B5EF4-FFF2-40B4-BE49-F238E27FC236}">
                <a16:creationId xmlns:a16="http://schemas.microsoft.com/office/drawing/2014/main" id="{EF95561E-E9D1-484C-AFDE-71172524EF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9050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5" name="Line 10">
            <a:extLst>
              <a:ext uri="{FF2B5EF4-FFF2-40B4-BE49-F238E27FC236}">
                <a16:creationId xmlns:a16="http://schemas.microsoft.com/office/drawing/2014/main" id="{F58DD004-79DA-4112-9BF3-F06A17097A7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19050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36" name="Text Box 11">
            <a:extLst>
              <a:ext uri="{FF2B5EF4-FFF2-40B4-BE49-F238E27FC236}">
                <a16:creationId xmlns:a16="http://schemas.microsoft.com/office/drawing/2014/main" id="{38468A8D-3ED7-4F13-AB46-EC9B8BF2D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1509713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grpSp>
        <p:nvGrpSpPr>
          <p:cNvPr id="99337" name="Group 12">
            <a:extLst>
              <a:ext uri="{FF2B5EF4-FFF2-40B4-BE49-F238E27FC236}">
                <a16:creationId xmlns:a16="http://schemas.microsoft.com/office/drawing/2014/main" id="{DB1036B5-8333-42BF-8F8F-9669A17043EE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600200"/>
            <a:ext cx="609600" cy="609600"/>
            <a:chOff x="2736" y="1200"/>
            <a:chExt cx="384" cy="384"/>
          </a:xfrm>
        </p:grpSpPr>
        <p:sp>
          <p:nvSpPr>
            <p:cNvPr id="99364" name="Oval 13">
              <a:extLst>
                <a:ext uri="{FF2B5EF4-FFF2-40B4-BE49-F238E27FC236}">
                  <a16:creationId xmlns:a16="http://schemas.microsoft.com/office/drawing/2014/main" id="{3427F66B-70C2-40C7-8B33-058F0426D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9365" name="Text Box 14">
              <a:extLst>
                <a:ext uri="{FF2B5EF4-FFF2-40B4-BE49-F238E27FC236}">
                  <a16:creationId xmlns:a16="http://schemas.microsoft.com/office/drawing/2014/main" id="{C7071085-8A16-4765-B62F-E5FFF2C6BB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0</a:t>
              </a:r>
            </a:p>
          </p:txBody>
        </p:sp>
      </p:grpSp>
      <p:sp>
        <p:nvSpPr>
          <p:cNvPr id="99338" name="Text Box 15">
            <a:extLst>
              <a:ext uri="{FF2B5EF4-FFF2-40B4-BE49-F238E27FC236}">
                <a16:creationId xmlns:a16="http://schemas.microsoft.com/office/drawing/2014/main" id="{0D8778E9-0785-46F6-84D2-4CC04E6E2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6764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</a:p>
        </p:txBody>
      </p:sp>
      <p:sp>
        <p:nvSpPr>
          <p:cNvPr id="99339" name="Text Box 16">
            <a:extLst>
              <a:ext uri="{FF2B5EF4-FFF2-40B4-BE49-F238E27FC236}">
                <a16:creationId xmlns:a16="http://schemas.microsoft.com/office/drawing/2014/main" id="{01DEFF69-4657-4E52-83B7-F19943024E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509713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99340" name="Line 17">
            <a:extLst>
              <a:ext uri="{FF2B5EF4-FFF2-40B4-BE49-F238E27FC236}">
                <a16:creationId xmlns:a16="http://schemas.microsoft.com/office/drawing/2014/main" id="{6F06BEE0-5B71-4FF9-9D4F-91297ECA2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9050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9341" name="Group 18">
            <a:extLst>
              <a:ext uri="{FF2B5EF4-FFF2-40B4-BE49-F238E27FC236}">
                <a16:creationId xmlns:a16="http://schemas.microsoft.com/office/drawing/2014/main" id="{D950D656-7099-44F7-B4CB-01B37ED46F73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1600200"/>
            <a:ext cx="609600" cy="609600"/>
            <a:chOff x="2736" y="1200"/>
            <a:chExt cx="384" cy="384"/>
          </a:xfrm>
        </p:grpSpPr>
        <p:sp>
          <p:nvSpPr>
            <p:cNvPr id="99362" name="Oval 19">
              <a:extLst>
                <a:ext uri="{FF2B5EF4-FFF2-40B4-BE49-F238E27FC236}">
                  <a16:creationId xmlns:a16="http://schemas.microsoft.com/office/drawing/2014/main" id="{A6A71F6F-4AC7-428D-868E-7E4DF0669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9363" name="Text Box 20">
              <a:extLst>
                <a:ext uri="{FF2B5EF4-FFF2-40B4-BE49-F238E27FC236}">
                  <a16:creationId xmlns:a16="http://schemas.microsoft.com/office/drawing/2014/main" id="{DE8BFE64-D0E2-47C5-ABBF-627BB30BF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2</a:t>
              </a:r>
            </a:p>
          </p:txBody>
        </p:sp>
      </p:grpSp>
      <p:grpSp>
        <p:nvGrpSpPr>
          <p:cNvPr id="99342" name="Group 21">
            <a:extLst>
              <a:ext uri="{FF2B5EF4-FFF2-40B4-BE49-F238E27FC236}">
                <a16:creationId xmlns:a16="http://schemas.microsoft.com/office/drawing/2014/main" id="{7F19E9CA-D351-4852-8103-DE8DEB4C8048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1600200"/>
            <a:ext cx="609600" cy="609600"/>
            <a:chOff x="2736" y="1200"/>
            <a:chExt cx="384" cy="384"/>
          </a:xfrm>
        </p:grpSpPr>
        <p:sp>
          <p:nvSpPr>
            <p:cNvPr id="99360" name="Oval 22">
              <a:extLst>
                <a:ext uri="{FF2B5EF4-FFF2-40B4-BE49-F238E27FC236}">
                  <a16:creationId xmlns:a16="http://schemas.microsoft.com/office/drawing/2014/main" id="{705B770A-8474-4F01-8495-541744378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9361" name="Text Box 23">
              <a:extLst>
                <a:ext uri="{FF2B5EF4-FFF2-40B4-BE49-F238E27FC236}">
                  <a16:creationId xmlns:a16="http://schemas.microsoft.com/office/drawing/2014/main" id="{BA7CB369-CF0F-4417-8EEB-3BDD5FEE51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</a:t>
              </a:r>
            </a:p>
          </p:txBody>
        </p:sp>
      </p:grpSp>
      <p:sp>
        <p:nvSpPr>
          <p:cNvPr id="99343" name="Text Box 24">
            <a:extLst>
              <a:ext uri="{FF2B5EF4-FFF2-40B4-BE49-F238E27FC236}">
                <a16:creationId xmlns:a16="http://schemas.microsoft.com/office/drawing/2014/main" id="{B0F4D111-32C7-4335-8B3E-5A69C8061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509713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99344" name="Text Box 25">
            <a:extLst>
              <a:ext uri="{FF2B5EF4-FFF2-40B4-BE49-F238E27FC236}">
                <a16:creationId xmlns:a16="http://schemas.microsoft.com/office/drawing/2014/main" id="{CB1BDA52-3E73-4640-841E-C5539E8FA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509713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cxnSp>
        <p:nvCxnSpPr>
          <p:cNvPr id="99345" name="AutoShape 26">
            <a:extLst>
              <a:ext uri="{FF2B5EF4-FFF2-40B4-BE49-F238E27FC236}">
                <a16:creationId xmlns:a16="http://schemas.microsoft.com/office/drawing/2014/main" id="{85DC441E-E3A9-4694-AC42-2CAAF49A4EB4}"/>
              </a:ext>
            </a:extLst>
          </p:cNvPr>
          <p:cNvCxnSpPr>
            <a:cxnSpLocks noChangeShapeType="1"/>
            <a:stCxn id="99364" idx="7"/>
            <a:endCxn id="99364" idx="0"/>
          </p:cNvCxnSpPr>
          <p:nvPr/>
        </p:nvCxnSpPr>
        <p:spPr bwMode="auto">
          <a:xfrm rot="5400000" flipH="1">
            <a:off x="2959100" y="1536700"/>
            <a:ext cx="88900" cy="215900"/>
          </a:xfrm>
          <a:prstGeom prst="curvedConnector3">
            <a:avLst>
              <a:gd name="adj1" fmla="val 357144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346" name="Text Box 27">
            <a:extLst>
              <a:ext uri="{FF2B5EF4-FFF2-40B4-BE49-F238E27FC236}">
                <a16:creationId xmlns:a16="http://schemas.microsoft.com/office/drawing/2014/main" id="{3F30F42A-420B-47A1-8590-7BFA9A470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143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cxnSp>
        <p:nvCxnSpPr>
          <p:cNvPr id="99347" name="AutoShape 28">
            <a:extLst>
              <a:ext uri="{FF2B5EF4-FFF2-40B4-BE49-F238E27FC236}">
                <a16:creationId xmlns:a16="http://schemas.microsoft.com/office/drawing/2014/main" id="{1D71DA6B-59A7-4449-91DA-3E721BD46AD1}"/>
              </a:ext>
            </a:extLst>
          </p:cNvPr>
          <p:cNvCxnSpPr>
            <a:cxnSpLocks noChangeShapeType="1"/>
            <a:stCxn id="99364" idx="3"/>
            <a:endCxn id="99364" idx="4"/>
          </p:cNvCxnSpPr>
          <p:nvPr/>
        </p:nvCxnSpPr>
        <p:spPr bwMode="auto">
          <a:xfrm rot="16200000" flipH="1">
            <a:off x="2743200" y="2057400"/>
            <a:ext cx="88900" cy="215900"/>
          </a:xfrm>
          <a:prstGeom prst="curvedConnector3">
            <a:avLst>
              <a:gd name="adj1" fmla="val 357144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348" name="Text Box 29">
            <a:extLst>
              <a:ext uri="{FF2B5EF4-FFF2-40B4-BE49-F238E27FC236}">
                <a16:creationId xmlns:a16="http://schemas.microsoft.com/office/drawing/2014/main" id="{AB2B49B2-1622-4DE3-B473-1ACECB0400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362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grpSp>
        <p:nvGrpSpPr>
          <p:cNvPr id="99349" name="Group 30">
            <a:extLst>
              <a:ext uri="{FF2B5EF4-FFF2-40B4-BE49-F238E27FC236}">
                <a16:creationId xmlns:a16="http://schemas.microsoft.com/office/drawing/2014/main" id="{1815C18D-EEFD-4220-9391-DDC1F1C63029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3048000"/>
            <a:ext cx="609600" cy="609600"/>
            <a:chOff x="2736" y="1200"/>
            <a:chExt cx="384" cy="384"/>
          </a:xfrm>
        </p:grpSpPr>
        <p:sp>
          <p:nvSpPr>
            <p:cNvPr id="99358" name="Oval 31">
              <a:extLst>
                <a:ext uri="{FF2B5EF4-FFF2-40B4-BE49-F238E27FC236}">
                  <a16:creationId xmlns:a16="http://schemas.microsoft.com/office/drawing/2014/main" id="{CB875094-5B6A-42D0-850E-44A8DB581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9359" name="Text Box 32">
              <a:extLst>
                <a:ext uri="{FF2B5EF4-FFF2-40B4-BE49-F238E27FC236}">
                  <a16:creationId xmlns:a16="http://schemas.microsoft.com/office/drawing/2014/main" id="{21D38FDC-6A62-419B-9028-66E957953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4</a:t>
              </a:r>
            </a:p>
          </p:txBody>
        </p:sp>
      </p:grpSp>
      <p:sp>
        <p:nvSpPr>
          <p:cNvPr id="99350" name="Line 33">
            <a:extLst>
              <a:ext uri="{FF2B5EF4-FFF2-40B4-BE49-F238E27FC236}">
                <a16:creationId xmlns:a16="http://schemas.microsoft.com/office/drawing/2014/main" id="{5FAEFB7F-2E93-4EC3-ABF2-4812146FC12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2209800"/>
            <a:ext cx="685800" cy="914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51" name="Line 34">
            <a:extLst>
              <a:ext uri="{FF2B5EF4-FFF2-40B4-BE49-F238E27FC236}">
                <a16:creationId xmlns:a16="http://schemas.microsoft.com/office/drawing/2014/main" id="{2B99F3B4-F672-48E2-9C13-E213C28795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05400" y="2209800"/>
            <a:ext cx="228600" cy="838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52" name="Line 35">
            <a:extLst>
              <a:ext uri="{FF2B5EF4-FFF2-40B4-BE49-F238E27FC236}">
                <a16:creationId xmlns:a16="http://schemas.microsoft.com/office/drawing/2014/main" id="{B1AA9B6C-733B-42AB-85A7-E858FCA2E5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34000" y="2209800"/>
            <a:ext cx="1219200" cy="99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53" name="Text Box 36">
            <a:extLst>
              <a:ext uri="{FF2B5EF4-FFF2-40B4-BE49-F238E27FC236}">
                <a16:creationId xmlns:a16="http://schemas.microsoft.com/office/drawing/2014/main" id="{E9500188-F4ED-4583-8B33-6ED09590E0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26670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a, b</a:t>
            </a:r>
          </a:p>
        </p:txBody>
      </p:sp>
      <p:sp>
        <p:nvSpPr>
          <p:cNvPr id="99354" name="Text Box 37">
            <a:extLst>
              <a:ext uri="{FF2B5EF4-FFF2-40B4-BE49-F238E27FC236}">
                <a16:creationId xmlns:a16="http://schemas.microsoft.com/office/drawing/2014/main" id="{CB535F9A-6A42-4BAE-8C99-04A6A504B8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2860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sp>
        <p:nvSpPr>
          <p:cNvPr id="99355" name="Text Box 38">
            <a:extLst>
              <a:ext uri="{FF2B5EF4-FFF2-40B4-BE49-F238E27FC236}">
                <a16:creationId xmlns:a16="http://schemas.microsoft.com/office/drawing/2014/main" id="{B04C0F07-DA7C-4822-AB41-F224E8719A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438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cxnSp>
        <p:nvCxnSpPr>
          <p:cNvPr id="99356" name="AutoShape 39">
            <a:extLst>
              <a:ext uri="{FF2B5EF4-FFF2-40B4-BE49-F238E27FC236}">
                <a16:creationId xmlns:a16="http://schemas.microsoft.com/office/drawing/2014/main" id="{669B6FF3-4D82-4390-BDAC-D6E35E43B443}"/>
              </a:ext>
            </a:extLst>
          </p:cNvPr>
          <p:cNvCxnSpPr>
            <a:cxnSpLocks noChangeShapeType="1"/>
            <a:stCxn id="99358" idx="4"/>
            <a:endCxn id="99358" idx="2"/>
          </p:cNvCxnSpPr>
          <p:nvPr/>
        </p:nvCxnSpPr>
        <p:spPr bwMode="auto">
          <a:xfrm rot="16200000" flipV="1">
            <a:off x="4800600" y="3352800"/>
            <a:ext cx="304800" cy="304800"/>
          </a:xfrm>
          <a:prstGeom prst="curvedConnector4">
            <a:avLst>
              <a:gd name="adj1" fmla="val -75000"/>
              <a:gd name="adj2" fmla="val 175000"/>
            </a:avLst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357" name="Text Box 40">
            <a:extLst>
              <a:ext uri="{FF2B5EF4-FFF2-40B4-BE49-F238E27FC236}">
                <a16:creationId xmlns:a16="http://schemas.microsoft.com/office/drawing/2014/main" id="{7279F53A-0BF1-4CB9-861B-7C887E052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35052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</a:t>
            </a:r>
            <a:endParaRPr kumimoji="0" lang="en-US" altLang="zh-CN" sz="2400"/>
          </a:p>
        </p:txBody>
      </p:sp>
    </p:spTree>
  </p:cSld>
  <p:clrMapOvr>
    <a:masterClrMapping/>
  </p:clrMapOvr>
  <p:transition spd="slow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2C2EBDDB-0ABF-4D80-A1AA-19ECEBA01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zh-CN" altLang="en-US"/>
              <a:t>与正规式</a:t>
            </a:r>
            <a:r>
              <a:rPr lang="en-US" altLang="zh-CN"/>
              <a:t>/</a:t>
            </a:r>
            <a:r>
              <a:rPr lang="zh-CN" altLang="en-US"/>
              <a:t>编译器的关系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7F95CB16-CA84-4513-B36B-B0D3AB94FE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/>
            <a:r>
              <a:rPr lang="zh-CN" altLang="en-US"/>
              <a:t>单词</a:t>
            </a:r>
            <a:r>
              <a:rPr lang="zh-CN" altLang="en-US">
                <a:sym typeface="Wingdings" panose="05000000000000000000" pitchFamily="2" charset="2"/>
              </a:rPr>
              <a:t>模式正规式</a:t>
            </a:r>
            <a:r>
              <a:rPr lang="en-US" altLang="zh-CN">
                <a:sym typeface="Wingdings" panose="05000000000000000000" pitchFamily="2" charset="2"/>
              </a:rPr>
              <a:t>NFA?</a:t>
            </a:r>
            <a:r>
              <a:rPr lang="zh-CN" altLang="en-US">
                <a:sym typeface="Wingdings" panose="05000000000000000000" pitchFamily="2" charset="2"/>
              </a:rPr>
              <a:t>词法分析程序</a:t>
            </a:r>
          </a:p>
          <a:p>
            <a:pPr eaLnBrk="1" hangingPunct="1"/>
            <a:r>
              <a:rPr lang="zh-CN" altLang="en-US"/>
              <a:t>单词是词法分析的基本构件</a:t>
            </a:r>
          </a:p>
          <a:p>
            <a:pPr eaLnBrk="1" hangingPunct="1"/>
            <a:r>
              <a:rPr lang="zh-CN" altLang="en-US"/>
              <a:t>词法分析器可用一组</a:t>
            </a:r>
            <a:r>
              <a:rPr lang="en-US" altLang="zh-CN"/>
              <a:t>NFA</a:t>
            </a:r>
            <a:r>
              <a:rPr lang="zh-CN" altLang="en-US"/>
              <a:t>来描述，每个</a:t>
            </a:r>
            <a:r>
              <a:rPr lang="en-US" altLang="zh-CN"/>
              <a:t>NFA</a:t>
            </a:r>
            <a:r>
              <a:rPr lang="zh-CN" altLang="en-US"/>
              <a:t>表示一个单词</a:t>
            </a:r>
          </a:p>
        </p:txBody>
      </p:sp>
    </p:spTree>
  </p:cSld>
  <p:clrMapOvr>
    <a:masterClrMapping/>
  </p:clrMapOvr>
  <p:transition spd="slow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B4DF9361-7B5B-4CD5-AF40-279A8D7CC7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zh-CN" altLang="en-US"/>
              <a:t>例</a:t>
            </a:r>
            <a:r>
              <a:rPr lang="en-US" altLang="zh-CN"/>
              <a:t>2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24AD2A3E-5A4D-4FB9-9290-C5227198A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85800"/>
          </a:xfrm>
        </p:spPr>
        <p:txBody>
          <a:bodyPr/>
          <a:lstStyle/>
          <a:p>
            <a:pPr eaLnBrk="1" hangingPunct="1"/>
            <a:r>
              <a:rPr kumimoji="0" lang="en-US" altLang="zh-CN" b="1">
                <a:solidFill>
                  <a:srgbClr val="3333CC"/>
                </a:solidFill>
              </a:rPr>
              <a:t>(a (b*c)) | (a (b | c</a:t>
            </a:r>
            <a:r>
              <a:rPr kumimoji="0" lang="en-US" altLang="zh-CN" b="1" baseline="30000">
                <a:solidFill>
                  <a:srgbClr val="3333CC"/>
                </a:solidFill>
              </a:rPr>
              <a:t>+</a:t>
            </a:r>
            <a:r>
              <a:rPr kumimoji="0" lang="en-US" altLang="zh-CN" b="1">
                <a:solidFill>
                  <a:srgbClr val="3333CC"/>
                </a:solidFill>
              </a:rPr>
              <a:t>)?)</a:t>
            </a:r>
          </a:p>
        </p:txBody>
      </p:sp>
      <p:sp>
        <p:nvSpPr>
          <p:cNvPr id="101380" name="Oval 5">
            <a:extLst>
              <a:ext uri="{FF2B5EF4-FFF2-40B4-BE49-F238E27FC236}">
                <a16:creationId xmlns:a16="http://schemas.microsoft.com/office/drawing/2014/main" id="{F50ACF1A-0BC2-458B-872B-0B1824617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3200400"/>
            <a:ext cx="6858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01381" name="Oval 6">
            <a:extLst>
              <a:ext uri="{FF2B5EF4-FFF2-40B4-BE49-F238E27FC236}">
                <a16:creationId xmlns:a16="http://schemas.microsoft.com/office/drawing/2014/main" id="{A6E5FF52-C057-4724-9520-7E04CF671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209800"/>
            <a:ext cx="6858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01382" name="Oval 7">
            <a:extLst>
              <a:ext uri="{FF2B5EF4-FFF2-40B4-BE49-F238E27FC236}">
                <a16:creationId xmlns:a16="http://schemas.microsoft.com/office/drawing/2014/main" id="{8FED7DE9-9F21-40EF-9292-271A42BAD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3200400"/>
            <a:ext cx="6858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grpSp>
        <p:nvGrpSpPr>
          <p:cNvPr id="101383" name="Group 8">
            <a:extLst>
              <a:ext uri="{FF2B5EF4-FFF2-40B4-BE49-F238E27FC236}">
                <a16:creationId xmlns:a16="http://schemas.microsoft.com/office/drawing/2014/main" id="{10471BAD-600D-4EAD-B34E-C654DD2415ED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2209800"/>
            <a:ext cx="685800" cy="685800"/>
            <a:chOff x="2448" y="2448"/>
            <a:chExt cx="432" cy="432"/>
          </a:xfrm>
        </p:grpSpPr>
        <p:sp>
          <p:nvSpPr>
            <p:cNvPr id="101415" name="Oval 9">
              <a:extLst>
                <a:ext uri="{FF2B5EF4-FFF2-40B4-BE49-F238E27FC236}">
                  <a16:creationId xmlns:a16="http://schemas.microsoft.com/office/drawing/2014/main" id="{FC78759D-D924-483B-8534-BD8A36D27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48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1416" name="Oval 10">
              <a:extLst>
                <a:ext uri="{FF2B5EF4-FFF2-40B4-BE49-F238E27FC236}">
                  <a16:creationId xmlns:a16="http://schemas.microsoft.com/office/drawing/2014/main" id="{9E176353-686A-4001-83F3-1E63329C8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496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01384" name="Group 11">
            <a:extLst>
              <a:ext uri="{FF2B5EF4-FFF2-40B4-BE49-F238E27FC236}">
                <a16:creationId xmlns:a16="http://schemas.microsoft.com/office/drawing/2014/main" id="{B0C1DB3F-264C-4558-9A0B-3CADB43906C3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4267200"/>
            <a:ext cx="685800" cy="685800"/>
            <a:chOff x="2448" y="2448"/>
            <a:chExt cx="432" cy="432"/>
          </a:xfrm>
        </p:grpSpPr>
        <p:sp>
          <p:nvSpPr>
            <p:cNvPr id="101413" name="Oval 12">
              <a:extLst>
                <a:ext uri="{FF2B5EF4-FFF2-40B4-BE49-F238E27FC236}">
                  <a16:creationId xmlns:a16="http://schemas.microsoft.com/office/drawing/2014/main" id="{4ABFA21F-45C0-47AE-8526-527B51F9C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48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1414" name="Oval 13">
              <a:extLst>
                <a:ext uri="{FF2B5EF4-FFF2-40B4-BE49-F238E27FC236}">
                  <a16:creationId xmlns:a16="http://schemas.microsoft.com/office/drawing/2014/main" id="{255CA7D6-7BAA-47C4-9C51-73604B2FE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496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01385" name="Group 14">
            <a:extLst>
              <a:ext uri="{FF2B5EF4-FFF2-40B4-BE49-F238E27FC236}">
                <a16:creationId xmlns:a16="http://schemas.microsoft.com/office/drawing/2014/main" id="{3B18F1D1-B2F3-4B5D-B60B-EF75FA0E6D1E}"/>
              </a:ext>
            </a:extLst>
          </p:cNvPr>
          <p:cNvGrpSpPr>
            <a:grpSpLocks/>
          </p:cNvGrpSpPr>
          <p:nvPr/>
        </p:nvGrpSpPr>
        <p:grpSpPr bwMode="auto">
          <a:xfrm>
            <a:off x="6400800" y="4267200"/>
            <a:ext cx="685800" cy="685800"/>
            <a:chOff x="2448" y="2448"/>
            <a:chExt cx="432" cy="432"/>
          </a:xfrm>
        </p:grpSpPr>
        <p:sp>
          <p:nvSpPr>
            <p:cNvPr id="101411" name="Oval 15">
              <a:extLst>
                <a:ext uri="{FF2B5EF4-FFF2-40B4-BE49-F238E27FC236}">
                  <a16:creationId xmlns:a16="http://schemas.microsoft.com/office/drawing/2014/main" id="{A780A076-EBE1-4790-A394-A4EF27E19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48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1412" name="Oval 16">
              <a:extLst>
                <a:ext uri="{FF2B5EF4-FFF2-40B4-BE49-F238E27FC236}">
                  <a16:creationId xmlns:a16="http://schemas.microsoft.com/office/drawing/2014/main" id="{063974C9-4D0C-40FA-A780-D80A3932C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496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01386" name="Line 17">
            <a:extLst>
              <a:ext uri="{FF2B5EF4-FFF2-40B4-BE49-F238E27FC236}">
                <a16:creationId xmlns:a16="http://schemas.microsoft.com/office/drawing/2014/main" id="{A7580C3B-8FCA-48DA-98E2-F0FD081573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35814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7" name="Line 18">
            <a:extLst>
              <a:ext uri="{FF2B5EF4-FFF2-40B4-BE49-F238E27FC236}">
                <a16:creationId xmlns:a16="http://schemas.microsoft.com/office/drawing/2014/main" id="{BA613980-C6A6-43AD-A859-3DAE119847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4648200"/>
            <a:ext cx="1066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8" name="Line 19">
            <a:extLst>
              <a:ext uri="{FF2B5EF4-FFF2-40B4-BE49-F238E27FC236}">
                <a16:creationId xmlns:a16="http://schemas.microsoft.com/office/drawing/2014/main" id="{06E40877-51E1-4D0C-84DD-F5847ABC19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57800" y="2895600"/>
            <a:ext cx="1295400" cy="1447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89" name="Line 20">
            <a:extLst>
              <a:ext uri="{FF2B5EF4-FFF2-40B4-BE49-F238E27FC236}">
                <a16:creationId xmlns:a16="http://schemas.microsoft.com/office/drawing/2014/main" id="{43DF3A53-31D0-4A3B-A098-037D5FF4A8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514600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90" name="Line 21">
            <a:extLst>
              <a:ext uri="{FF2B5EF4-FFF2-40B4-BE49-F238E27FC236}">
                <a16:creationId xmlns:a16="http://schemas.microsoft.com/office/drawing/2014/main" id="{C3E65644-665E-45DB-8F61-E95BB1129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886200"/>
            <a:ext cx="9906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91" name="Line 22">
            <a:extLst>
              <a:ext uri="{FF2B5EF4-FFF2-40B4-BE49-F238E27FC236}">
                <a16:creationId xmlns:a16="http://schemas.microsoft.com/office/drawing/2014/main" id="{828FBB99-0608-4086-B24C-272041802A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2819400"/>
            <a:ext cx="7620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392" name="Line 23">
            <a:extLst>
              <a:ext uri="{FF2B5EF4-FFF2-40B4-BE49-F238E27FC236}">
                <a16:creationId xmlns:a16="http://schemas.microsoft.com/office/drawing/2014/main" id="{8E55D7D1-0846-48E7-815B-3904006E38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58140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01393" name="AutoShape 24">
            <a:extLst>
              <a:ext uri="{FF2B5EF4-FFF2-40B4-BE49-F238E27FC236}">
                <a16:creationId xmlns:a16="http://schemas.microsoft.com/office/drawing/2014/main" id="{3929E550-59FE-493A-B480-ED77B8A76FE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705600" y="4267200"/>
            <a:ext cx="342900" cy="342900"/>
          </a:xfrm>
          <a:prstGeom prst="curvedConnector4">
            <a:avLst>
              <a:gd name="adj1" fmla="val -66667"/>
              <a:gd name="adj2" fmla="val 166667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1394" name="AutoShape 25">
            <a:extLst>
              <a:ext uri="{FF2B5EF4-FFF2-40B4-BE49-F238E27FC236}">
                <a16:creationId xmlns:a16="http://schemas.microsoft.com/office/drawing/2014/main" id="{7308C623-E6B3-45BD-BADD-FB227BDF3513}"/>
              </a:ext>
            </a:extLst>
          </p:cNvPr>
          <p:cNvCxnSpPr>
            <a:cxnSpLocks noChangeShapeType="1"/>
            <a:stCxn id="101381" idx="0"/>
            <a:endCxn id="101381" idx="2"/>
          </p:cNvCxnSpPr>
          <p:nvPr/>
        </p:nvCxnSpPr>
        <p:spPr bwMode="auto">
          <a:xfrm rot="-5400000" flipH="1" flipV="1">
            <a:off x="4495800" y="2209800"/>
            <a:ext cx="342900" cy="342900"/>
          </a:xfrm>
          <a:prstGeom prst="curvedConnector4">
            <a:avLst>
              <a:gd name="adj1" fmla="val -66667"/>
              <a:gd name="adj2" fmla="val 166667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395" name="Text Box 26">
            <a:extLst>
              <a:ext uri="{FF2B5EF4-FFF2-40B4-BE49-F238E27FC236}">
                <a16:creationId xmlns:a16="http://schemas.microsoft.com/office/drawing/2014/main" id="{3ADA7AD7-6151-4880-9576-3DC63E2B0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0</a:t>
            </a:r>
          </a:p>
        </p:txBody>
      </p:sp>
      <p:sp>
        <p:nvSpPr>
          <p:cNvPr id="101396" name="Text Box 27">
            <a:extLst>
              <a:ext uri="{FF2B5EF4-FFF2-40B4-BE49-F238E27FC236}">
                <a16:creationId xmlns:a16="http://schemas.microsoft.com/office/drawing/2014/main" id="{0E3B9CB8-9C83-45AD-8275-2D7C7DC76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362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4</a:t>
            </a:r>
          </a:p>
        </p:txBody>
      </p:sp>
      <p:sp>
        <p:nvSpPr>
          <p:cNvPr id="101397" name="Text Box 28">
            <a:extLst>
              <a:ext uri="{FF2B5EF4-FFF2-40B4-BE49-F238E27FC236}">
                <a16:creationId xmlns:a16="http://schemas.microsoft.com/office/drawing/2014/main" id="{A4438551-6FC8-4B25-8AAB-2F3736D43F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362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2</a:t>
            </a:r>
          </a:p>
        </p:txBody>
      </p:sp>
      <p:sp>
        <p:nvSpPr>
          <p:cNvPr id="101398" name="Text Box 29">
            <a:extLst>
              <a:ext uri="{FF2B5EF4-FFF2-40B4-BE49-F238E27FC236}">
                <a16:creationId xmlns:a16="http://schemas.microsoft.com/office/drawing/2014/main" id="{259594AC-D2FF-4A99-A28C-0221C0DC8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</a:t>
            </a:r>
          </a:p>
        </p:txBody>
      </p:sp>
      <p:sp>
        <p:nvSpPr>
          <p:cNvPr id="101399" name="Text Box 30">
            <a:extLst>
              <a:ext uri="{FF2B5EF4-FFF2-40B4-BE49-F238E27FC236}">
                <a16:creationId xmlns:a16="http://schemas.microsoft.com/office/drawing/2014/main" id="{742816C8-2121-462A-BDD2-4535F7673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</a:p>
        </p:txBody>
      </p:sp>
      <p:sp>
        <p:nvSpPr>
          <p:cNvPr id="101400" name="Text Box 31">
            <a:extLst>
              <a:ext uri="{FF2B5EF4-FFF2-40B4-BE49-F238E27FC236}">
                <a16:creationId xmlns:a16="http://schemas.microsoft.com/office/drawing/2014/main" id="{79095083-735A-4149-9B17-F08E14BCE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419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5</a:t>
            </a:r>
          </a:p>
        </p:txBody>
      </p:sp>
      <p:sp>
        <p:nvSpPr>
          <p:cNvPr id="101401" name="Text Box 32">
            <a:extLst>
              <a:ext uri="{FF2B5EF4-FFF2-40B4-BE49-F238E27FC236}">
                <a16:creationId xmlns:a16="http://schemas.microsoft.com/office/drawing/2014/main" id="{993D0FEA-0C1B-4AD7-B1F4-5FE201A8E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2004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sp>
        <p:nvSpPr>
          <p:cNvPr id="101402" name="Text Box 33">
            <a:extLst>
              <a:ext uri="{FF2B5EF4-FFF2-40B4-BE49-F238E27FC236}">
                <a16:creationId xmlns:a16="http://schemas.microsoft.com/office/drawing/2014/main" id="{E0D55940-57CA-40C4-8D56-0D348E0C3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886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c</a:t>
            </a:r>
          </a:p>
        </p:txBody>
      </p:sp>
      <p:sp>
        <p:nvSpPr>
          <p:cNvPr id="101403" name="Text Box 34">
            <a:extLst>
              <a:ext uri="{FF2B5EF4-FFF2-40B4-BE49-F238E27FC236}">
                <a16:creationId xmlns:a16="http://schemas.microsoft.com/office/drawing/2014/main" id="{977E812A-4ED3-4B9D-B2D8-34467DEB4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057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01404" name="Text Box 35">
            <a:extLst>
              <a:ext uri="{FF2B5EF4-FFF2-40B4-BE49-F238E27FC236}">
                <a16:creationId xmlns:a16="http://schemas.microsoft.com/office/drawing/2014/main" id="{4154510A-C523-4019-931B-2ECCA95500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01405" name="Text Box 36">
            <a:extLst>
              <a:ext uri="{FF2B5EF4-FFF2-40B4-BE49-F238E27FC236}">
                <a16:creationId xmlns:a16="http://schemas.microsoft.com/office/drawing/2014/main" id="{10E4712F-BA27-44A2-B303-585A95A87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4267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c</a:t>
            </a:r>
          </a:p>
        </p:txBody>
      </p:sp>
      <p:sp>
        <p:nvSpPr>
          <p:cNvPr id="101406" name="Text Box 37">
            <a:extLst>
              <a:ext uri="{FF2B5EF4-FFF2-40B4-BE49-F238E27FC236}">
                <a16:creationId xmlns:a16="http://schemas.microsoft.com/office/drawing/2014/main" id="{FEEC5F15-178C-467C-B35A-A1AEDEEF62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01407" name="Text Box 38">
            <a:extLst>
              <a:ext uri="{FF2B5EF4-FFF2-40B4-BE49-F238E27FC236}">
                <a16:creationId xmlns:a16="http://schemas.microsoft.com/office/drawing/2014/main" id="{1A5B2510-B2AD-4C65-A0F2-83462BA1D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133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c</a:t>
            </a:r>
          </a:p>
        </p:txBody>
      </p:sp>
      <p:sp>
        <p:nvSpPr>
          <p:cNvPr id="101408" name="Text Box 39">
            <a:extLst>
              <a:ext uri="{FF2B5EF4-FFF2-40B4-BE49-F238E27FC236}">
                <a16:creationId xmlns:a16="http://schemas.microsoft.com/office/drawing/2014/main" id="{EF35CE4C-9BCB-4632-8ACB-352A24610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667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01409" name="Text Box 40">
            <a:extLst>
              <a:ext uri="{FF2B5EF4-FFF2-40B4-BE49-F238E27FC236}">
                <a16:creationId xmlns:a16="http://schemas.microsoft.com/office/drawing/2014/main" id="{44E285E5-4042-4482-8BC8-EB1CECC013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sp>
        <p:nvSpPr>
          <p:cNvPr id="101410" name="Rectangle 41">
            <a:extLst>
              <a:ext uri="{FF2B5EF4-FFF2-40B4-BE49-F238E27FC236}">
                <a16:creationId xmlns:a16="http://schemas.microsoft.com/office/drawing/2014/main" id="{0553D55D-01D7-4297-B7C5-BAC76FC3E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3" y="48006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/>
              <a:t>可接受</a:t>
            </a:r>
            <a:r>
              <a:rPr kumimoji="0" lang="en-US" altLang="zh-CN">
                <a:solidFill>
                  <a:srgbClr val="FF3300"/>
                </a:solidFill>
              </a:rPr>
              <a:t>abbc</a:t>
            </a:r>
          </a:p>
        </p:txBody>
      </p:sp>
    </p:spTree>
  </p:cSld>
  <p:clrMapOvr>
    <a:masterClrMapping/>
  </p:clrMapOvr>
  <p:transition spd="slow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196D398D-C74C-431E-BCED-2F3251A6DD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的另一解法</a:t>
            </a:r>
          </a:p>
        </p:txBody>
      </p:sp>
      <p:sp>
        <p:nvSpPr>
          <p:cNvPr id="102403" name="Oval 5">
            <a:extLst>
              <a:ext uri="{FF2B5EF4-FFF2-40B4-BE49-F238E27FC236}">
                <a16:creationId xmlns:a16="http://schemas.microsoft.com/office/drawing/2014/main" id="{48D571D4-F888-4AE2-B9F6-810913E82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524000"/>
            <a:ext cx="6858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404" name="Oval 6">
            <a:extLst>
              <a:ext uri="{FF2B5EF4-FFF2-40B4-BE49-F238E27FC236}">
                <a16:creationId xmlns:a16="http://schemas.microsoft.com/office/drawing/2014/main" id="{1DFA6A0F-F9C6-452C-96AF-373A056FF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1524000"/>
            <a:ext cx="6858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grpSp>
        <p:nvGrpSpPr>
          <p:cNvPr id="102405" name="Group 7">
            <a:extLst>
              <a:ext uri="{FF2B5EF4-FFF2-40B4-BE49-F238E27FC236}">
                <a16:creationId xmlns:a16="http://schemas.microsoft.com/office/drawing/2014/main" id="{34AB0895-7F8A-468A-8B16-CFC9999D8268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1524000"/>
            <a:ext cx="685800" cy="685800"/>
            <a:chOff x="2448" y="2448"/>
            <a:chExt cx="432" cy="432"/>
          </a:xfrm>
        </p:grpSpPr>
        <p:sp>
          <p:nvSpPr>
            <p:cNvPr id="102445" name="Oval 8">
              <a:extLst>
                <a:ext uri="{FF2B5EF4-FFF2-40B4-BE49-F238E27FC236}">
                  <a16:creationId xmlns:a16="http://schemas.microsoft.com/office/drawing/2014/main" id="{7027EC45-1EA6-47CD-9C06-752E9A8B2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48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2446" name="Oval 9">
              <a:extLst>
                <a:ext uri="{FF2B5EF4-FFF2-40B4-BE49-F238E27FC236}">
                  <a16:creationId xmlns:a16="http://schemas.microsoft.com/office/drawing/2014/main" id="{ADCE4E5E-2AEA-4C3F-A2C5-897D8489A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496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02406" name="Line 10">
            <a:extLst>
              <a:ext uri="{FF2B5EF4-FFF2-40B4-BE49-F238E27FC236}">
                <a16:creationId xmlns:a16="http://schemas.microsoft.com/office/drawing/2014/main" id="{85781AB6-E2BB-4217-8BB5-9B4A1B43679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905000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07" name="Line 11">
            <a:extLst>
              <a:ext uri="{FF2B5EF4-FFF2-40B4-BE49-F238E27FC236}">
                <a16:creationId xmlns:a16="http://schemas.microsoft.com/office/drawing/2014/main" id="{E3051ACE-1904-455F-B98C-040C3D72E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19050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02408" name="AutoShape 12">
            <a:extLst>
              <a:ext uri="{FF2B5EF4-FFF2-40B4-BE49-F238E27FC236}">
                <a16:creationId xmlns:a16="http://schemas.microsoft.com/office/drawing/2014/main" id="{F1B92040-248A-45E0-9098-D44B4B2D27F9}"/>
              </a:ext>
            </a:extLst>
          </p:cNvPr>
          <p:cNvCxnSpPr>
            <a:cxnSpLocks noChangeShapeType="1"/>
            <a:stCxn id="102403" idx="0"/>
            <a:endCxn id="102403" idx="2"/>
          </p:cNvCxnSpPr>
          <p:nvPr/>
        </p:nvCxnSpPr>
        <p:spPr bwMode="auto">
          <a:xfrm rot="-5400000" flipH="1" flipV="1">
            <a:off x="5486400" y="1524000"/>
            <a:ext cx="342900" cy="342900"/>
          </a:xfrm>
          <a:prstGeom prst="curvedConnector4">
            <a:avLst>
              <a:gd name="adj1" fmla="val -66667"/>
              <a:gd name="adj2" fmla="val 166667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09" name="Text Box 13">
            <a:extLst>
              <a:ext uri="{FF2B5EF4-FFF2-40B4-BE49-F238E27FC236}">
                <a16:creationId xmlns:a16="http://schemas.microsoft.com/office/drawing/2014/main" id="{2155D818-CCFE-4452-8AF5-E81FB1855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1676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</a:p>
        </p:txBody>
      </p:sp>
      <p:sp>
        <p:nvSpPr>
          <p:cNvPr id="102410" name="Text Box 14">
            <a:extLst>
              <a:ext uri="{FF2B5EF4-FFF2-40B4-BE49-F238E27FC236}">
                <a16:creationId xmlns:a16="http://schemas.microsoft.com/office/drawing/2014/main" id="{887FF547-A4CD-4AB6-93E6-139AE8CE1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1676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2</a:t>
            </a:r>
          </a:p>
        </p:txBody>
      </p:sp>
      <p:sp>
        <p:nvSpPr>
          <p:cNvPr id="102411" name="Text Box 15">
            <a:extLst>
              <a:ext uri="{FF2B5EF4-FFF2-40B4-BE49-F238E27FC236}">
                <a16:creationId xmlns:a16="http://schemas.microsoft.com/office/drawing/2014/main" id="{3AE95B0E-6A47-4896-B63C-CE7919F82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371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02412" name="Text Box 16">
            <a:extLst>
              <a:ext uri="{FF2B5EF4-FFF2-40B4-BE49-F238E27FC236}">
                <a16:creationId xmlns:a16="http://schemas.microsoft.com/office/drawing/2014/main" id="{DC0BA547-A729-4E15-94B7-FF02A99D1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c</a:t>
            </a:r>
          </a:p>
        </p:txBody>
      </p:sp>
      <p:sp>
        <p:nvSpPr>
          <p:cNvPr id="102413" name="Text Box 17">
            <a:extLst>
              <a:ext uri="{FF2B5EF4-FFF2-40B4-BE49-F238E27FC236}">
                <a16:creationId xmlns:a16="http://schemas.microsoft.com/office/drawing/2014/main" id="{5532CE30-B210-4182-A887-B3FEEEA9E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endParaRPr kumimoji="0" lang="en-US" altLang="zh-CN" sz="2400"/>
          </a:p>
        </p:txBody>
      </p:sp>
      <p:sp>
        <p:nvSpPr>
          <p:cNvPr id="102414" name="Text Box 18">
            <a:extLst>
              <a:ext uri="{FF2B5EF4-FFF2-40B4-BE49-F238E27FC236}">
                <a16:creationId xmlns:a16="http://schemas.microsoft.com/office/drawing/2014/main" id="{0FA7D0EF-A79D-456F-A9BB-8F961AE0F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1676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</a:t>
            </a:r>
          </a:p>
        </p:txBody>
      </p:sp>
      <p:grpSp>
        <p:nvGrpSpPr>
          <p:cNvPr id="102415" name="Group 19">
            <a:extLst>
              <a:ext uri="{FF2B5EF4-FFF2-40B4-BE49-F238E27FC236}">
                <a16:creationId xmlns:a16="http://schemas.microsoft.com/office/drawing/2014/main" id="{6A7037D4-A5D9-47FD-85AB-EE08C1B99EF7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1600200"/>
            <a:ext cx="762000" cy="457200"/>
            <a:chOff x="1104" y="2496"/>
            <a:chExt cx="480" cy="288"/>
          </a:xfrm>
        </p:grpSpPr>
        <p:sp>
          <p:nvSpPr>
            <p:cNvPr id="102443" name="Line 20">
              <a:extLst>
                <a:ext uri="{FF2B5EF4-FFF2-40B4-BE49-F238E27FC236}">
                  <a16:creationId xmlns:a16="http://schemas.microsoft.com/office/drawing/2014/main" id="{DC8D729C-FD0A-4AF7-A117-99AEF1FAA6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688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44" name="Text Box 21">
              <a:extLst>
                <a:ext uri="{FF2B5EF4-FFF2-40B4-BE49-F238E27FC236}">
                  <a16:creationId xmlns:a16="http://schemas.microsoft.com/office/drawing/2014/main" id="{6CFCAFBE-0595-4885-9806-7DB70A220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49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2400"/>
            </a:p>
          </p:txBody>
        </p:sp>
      </p:grpSp>
      <p:grpSp>
        <p:nvGrpSpPr>
          <p:cNvPr id="102416" name="Group 23">
            <a:extLst>
              <a:ext uri="{FF2B5EF4-FFF2-40B4-BE49-F238E27FC236}">
                <a16:creationId xmlns:a16="http://schemas.microsoft.com/office/drawing/2014/main" id="{246B292E-872A-44B7-BA6E-BA05E12D4C38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286000"/>
            <a:ext cx="685800" cy="685800"/>
            <a:chOff x="2448" y="2448"/>
            <a:chExt cx="432" cy="432"/>
          </a:xfrm>
        </p:grpSpPr>
        <p:sp>
          <p:nvSpPr>
            <p:cNvPr id="102441" name="Oval 24">
              <a:extLst>
                <a:ext uri="{FF2B5EF4-FFF2-40B4-BE49-F238E27FC236}">
                  <a16:creationId xmlns:a16="http://schemas.microsoft.com/office/drawing/2014/main" id="{421359CC-66E3-4F68-B3C2-2C3E7B6165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48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2442" name="Oval 25">
              <a:extLst>
                <a:ext uri="{FF2B5EF4-FFF2-40B4-BE49-F238E27FC236}">
                  <a16:creationId xmlns:a16="http://schemas.microsoft.com/office/drawing/2014/main" id="{CD82463B-3CA5-44CD-AB5E-B298BA6E8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496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02417" name="Text Box 26">
            <a:extLst>
              <a:ext uri="{FF2B5EF4-FFF2-40B4-BE49-F238E27FC236}">
                <a16:creationId xmlns:a16="http://schemas.microsoft.com/office/drawing/2014/main" id="{2C44147C-437D-47F7-AC65-26EB7BE00A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6</a:t>
            </a:r>
          </a:p>
        </p:txBody>
      </p:sp>
      <p:grpSp>
        <p:nvGrpSpPr>
          <p:cNvPr id="102418" name="Group 27">
            <a:extLst>
              <a:ext uri="{FF2B5EF4-FFF2-40B4-BE49-F238E27FC236}">
                <a16:creationId xmlns:a16="http://schemas.microsoft.com/office/drawing/2014/main" id="{E048C5F5-40FF-4A73-BB96-14EE5C0D3D6F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3200400"/>
            <a:ext cx="685800" cy="685800"/>
            <a:chOff x="2448" y="2448"/>
            <a:chExt cx="432" cy="432"/>
          </a:xfrm>
        </p:grpSpPr>
        <p:sp>
          <p:nvSpPr>
            <p:cNvPr id="102439" name="Oval 28">
              <a:extLst>
                <a:ext uri="{FF2B5EF4-FFF2-40B4-BE49-F238E27FC236}">
                  <a16:creationId xmlns:a16="http://schemas.microsoft.com/office/drawing/2014/main" id="{D126CADA-4BF6-4E42-AD5B-2B23CFFA7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48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2440" name="Oval 29">
              <a:extLst>
                <a:ext uri="{FF2B5EF4-FFF2-40B4-BE49-F238E27FC236}">
                  <a16:creationId xmlns:a16="http://schemas.microsoft.com/office/drawing/2014/main" id="{AB78ACA0-84CD-4854-9F69-EF4C28D46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496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02419" name="Group 30">
            <a:extLst>
              <a:ext uri="{FF2B5EF4-FFF2-40B4-BE49-F238E27FC236}">
                <a16:creationId xmlns:a16="http://schemas.microsoft.com/office/drawing/2014/main" id="{A68075C3-72C2-49DB-A18A-4E62EB059C52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4343400"/>
            <a:ext cx="685800" cy="685800"/>
            <a:chOff x="2448" y="2448"/>
            <a:chExt cx="432" cy="432"/>
          </a:xfrm>
        </p:grpSpPr>
        <p:sp>
          <p:nvSpPr>
            <p:cNvPr id="102437" name="Oval 31">
              <a:extLst>
                <a:ext uri="{FF2B5EF4-FFF2-40B4-BE49-F238E27FC236}">
                  <a16:creationId xmlns:a16="http://schemas.microsoft.com/office/drawing/2014/main" id="{655BEB9A-5CE4-45C2-9C64-EE472418E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48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2438" name="Oval 32">
              <a:extLst>
                <a:ext uri="{FF2B5EF4-FFF2-40B4-BE49-F238E27FC236}">
                  <a16:creationId xmlns:a16="http://schemas.microsoft.com/office/drawing/2014/main" id="{6D57DC93-4196-43D3-8504-B09DC97E9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496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02420" name="Line 33">
            <a:extLst>
              <a:ext uri="{FF2B5EF4-FFF2-40B4-BE49-F238E27FC236}">
                <a16:creationId xmlns:a16="http://schemas.microsoft.com/office/drawing/2014/main" id="{B5027F1D-4D18-4798-87F5-B556D398DF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810000"/>
            <a:ext cx="12192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21" name="Line 34">
            <a:extLst>
              <a:ext uri="{FF2B5EF4-FFF2-40B4-BE49-F238E27FC236}">
                <a16:creationId xmlns:a16="http://schemas.microsoft.com/office/drawing/2014/main" id="{086BE7F9-A79E-4E48-AB00-57E60A8ADF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2819400"/>
            <a:ext cx="11430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422" name="Line 35">
            <a:extLst>
              <a:ext uri="{FF2B5EF4-FFF2-40B4-BE49-F238E27FC236}">
                <a16:creationId xmlns:a16="http://schemas.microsoft.com/office/drawing/2014/main" id="{B3AAB16B-F5AA-421B-8985-2FFED479899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5814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02423" name="AutoShape 36">
            <a:extLst>
              <a:ext uri="{FF2B5EF4-FFF2-40B4-BE49-F238E27FC236}">
                <a16:creationId xmlns:a16="http://schemas.microsoft.com/office/drawing/2014/main" id="{44ADF523-8CB2-4F38-BD6F-60B85ECC343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7315200" y="4343400"/>
            <a:ext cx="342900" cy="342900"/>
          </a:xfrm>
          <a:prstGeom prst="curvedConnector4">
            <a:avLst>
              <a:gd name="adj1" fmla="val -66667"/>
              <a:gd name="adj2" fmla="val 166667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424" name="Text Box 37">
            <a:extLst>
              <a:ext uri="{FF2B5EF4-FFF2-40B4-BE49-F238E27FC236}">
                <a16:creationId xmlns:a16="http://schemas.microsoft.com/office/drawing/2014/main" id="{9A6BF05E-3D7C-472D-859B-5C93D6E11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5</a:t>
            </a:r>
          </a:p>
        </p:txBody>
      </p:sp>
      <p:sp>
        <p:nvSpPr>
          <p:cNvPr id="102425" name="Text Box 38">
            <a:extLst>
              <a:ext uri="{FF2B5EF4-FFF2-40B4-BE49-F238E27FC236}">
                <a16:creationId xmlns:a16="http://schemas.microsoft.com/office/drawing/2014/main" id="{95FF1BBC-1D23-49A6-90BA-EEED53C923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4495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7</a:t>
            </a:r>
          </a:p>
        </p:txBody>
      </p:sp>
      <p:sp>
        <p:nvSpPr>
          <p:cNvPr id="102426" name="Text Box 39">
            <a:extLst>
              <a:ext uri="{FF2B5EF4-FFF2-40B4-BE49-F238E27FC236}">
                <a16:creationId xmlns:a16="http://schemas.microsoft.com/office/drawing/2014/main" id="{AD3C7D6A-F02C-48DE-89F6-928F64681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c</a:t>
            </a:r>
          </a:p>
        </p:txBody>
      </p:sp>
      <p:sp>
        <p:nvSpPr>
          <p:cNvPr id="102427" name="Text Box 40">
            <a:extLst>
              <a:ext uri="{FF2B5EF4-FFF2-40B4-BE49-F238E27FC236}">
                <a16:creationId xmlns:a16="http://schemas.microsoft.com/office/drawing/2014/main" id="{89244DFB-CA09-4E26-AE46-584E5A2D3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endParaRPr kumimoji="0" lang="en-US" altLang="zh-CN" sz="2400"/>
          </a:p>
        </p:txBody>
      </p:sp>
      <p:sp>
        <p:nvSpPr>
          <p:cNvPr id="102428" name="Text Box 41">
            <a:extLst>
              <a:ext uri="{FF2B5EF4-FFF2-40B4-BE49-F238E27FC236}">
                <a16:creationId xmlns:a16="http://schemas.microsoft.com/office/drawing/2014/main" id="{C0A34D97-7F86-4438-9183-3A0AF77A91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114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c</a:t>
            </a:r>
          </a:p>
        </p:txBody>
      </p:sp>
      <p:sp>
        <p:nvSpPr>
          <p:cNvPr id="102429" name="Oval 42">
            <a:extLst>
              <a:ext uri="{FF2B5EF4-FFF2-40B4-BE49-F238E27FC236}">
                <a16:creationId xmlns:a16="http://schemas.microsoft.com/office/drawing/2014/main" id="{85167756-CCC4-45B7-85B0-3819611DA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3200400"/>
            <a:ext cx="6858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430" name="Text Box 43">
            <a:extLst>
              <a:ext uri="{FF2B5EF4-FFF2-40B4-BE49-F238E27FC236}">
                <a16:creationId xmlns:a16="http://schemas.microsoft.com/office/drawing/2014/main" id="{DD76C226-2064-433B-9D74-7C95AE46B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3352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4</a:t>
            </a:r>
          </a:p>
        </p:txBody>
      </p:sp>
      <p:sp>
        <p:nvSpPr>
          <p:cNvPr id="102431" name="Text Box 44">
            <a:extLst>
              <a:ext uri="{FF2B5EF4-FFF2-40B4-BE49-F238E27FC236}">
                <a16:creationId xmlns:a16="http://schemas.microsoft.com/office/drawing/2014/main" id="{3DDCB116-FC93-4C34-8EF1-C0D2AF292C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276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grpSp>
        <p:nvGrpSpPr>
          <p:cNvPr id="102432" name="Group 45">
            <a:extLst>
              <a:ext uri="{FF2B5EF4-FFF2-40B4-BE49-F238E27FC236}">
                <a16:creationId xmlns:a16="http://schemas.microsoft.com/office/drawing/2014/main" id="{0BDE9FA3-CF7E-4ADB-B52F-1D5DC0E293D9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3276600"/>
            <a:ext cx="762000" cy="457200"/>
            <a:chOff x="1104" y="2496"/>
            <a:chExt cx="480" cy="288"/>
          </a:xfrm>
        </p:grpSpPr>
        <p:sp>
          <p:nvSpPr>
            <p:cNvPr id="102435" name="Line 46">
              <a:extLst>
                <a:ext uri="{FF2B5EF4-FFF2-40B4-BE49-F238E27FC236}">
                  <a16:creationId xmlns:a16="http://schemas.microsoft.com/office/drawing/2014/main" id="{5BA4A6DE-0857-45F0-8039-802E70CCA8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688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436" name="Text Box 47">
              <a:extLst>
                <a:ext uri="{FF2B5EF4-FFF2-40B4-BE49-F238E27FC236}">
                  <a16:creationId xmlns:a16="http://schemas.microsoft.com/office/drawing/2014/main" id="{77344180-005A-4721-A46C-670FE0EA65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49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2400"/>
            </a:p>
          </p:txBody>
        </p:sp>
      </p:grpSp>
      <p:sp>
        <p:nvSpPr>
          <p:cNvPr id="102433" name="Text Box 48">
            <a:extLst>
              <a:ext uri="{FF2B5EF4-FFF2-40B4-BE49-F238E27FC236}">
                <a16:creationId xmlns:a16="http://schemas.microsoft.com/office/drawing/2014/main" id="{4D23567D-303C-49FC-A897-761E390CC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1614488"/>
            <a:ext cx="182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solidFill>
                  <a:srgbClr val="3333CC"/>
                </a:solidFill>
              </a:rPr>
              <a:t>a (b*c)</a:t>
            </a:r>
          </a:p>
        </p:txBody>
      </p:sp>
      <p:sp>
        <p:nvSpPr>
          <p:cNvPr id="102434" name="Text Box 49">
            <a:extLst>
              <a:ext uri="{FF2B5EF4-FFF2-40B4-BE49-F238E27FC236}">
                <a16:creationId xmlns:a16="http://schemas.microsoft.com/office/drawing/2014/main" id="{052BDE12-7267-4A0D-834A-900528390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3276600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solidFill>
                  <a:srgbClr val="3333CC"/>
                </a:solidFill>
              </a:rPr>
              <a:t>a (b | c+)?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3B35CE4D-C19C-4E6B-AADA-2F77B39BE3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2</a:t>
            </a:r>
            <a:r>
              <a:rPr lang="zh-CN" altLang="en-US"/>
              <a:t>另一解法（续）</a:t>
            </a:r>
          </a:p>
        </p:txBody>
      </p:sp>
      <p:sp>
        <p:nvSpPr>
          <p:cNvPr id="103427" name="Oval 50">
            <a:extLst>
              <a:ext uri="{FF2B5EF4-FFF2-40B4-BE49-F238E27FC236}">
                <a16:creationId xmlns:a16="http://schemas.microsoft.com/office/drawing/2014/main" id="{B7EB81C6-B459-4FB8-941D-D7730355F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1524000"/>
            <a:ext cx="6858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grpSp>
        <p:nvGrpSpPr>
          <p:cNvPr id="103428" name="Group 51">
            <a:extLst>
              <a:ext uri="{FF2B5EF4-FFF2-40B4-BE49-F238E27FC236}">
                <a16:creationId xmlns:a16="http://schemas.microsoft.com/office/drawing/2014/main" id="{4CE1CE54-6AD1-4D1D-A74A-4760151C4B48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1524000"/>
            <a:ext cx="685800" cy="685800"/>
            <a:chOff x="2448" y="2448"/>
            <a:chExt cx="432" cy="432"/>
          </a:xfrm>
        </p:grpSpPr>
        <p:sp>
          <p:nvSpPr>
            <p:cNvPr id="103476" name="Oval 52">
              <a:extLst>
                <a:ext uri="{FF2B5EF4-FFF2-40B4-BE49-F238E27FC236}">
                  <a16:creationId xmlns:a16="http://schemas.microsoft.com/office/drawing/2014/main" id="{9BF301F2-50ED-4643-BAC5-BDAFD9F9C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48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3477" name="Oval 53">
              <a:extLst>
                <a:ext uri="{FF2B5EF4-FFF2-40B4-BE49-F238E27FC236}">
                  <a16:creationId xmlns:a16="http://schemas.microsoft.com/office/drawing/2014/main" id="{D0DB057D-2464-4BE2-B231-4EB689718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496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03429" name="Line 54">
            <a:extLst>
              <a:ext uri="{FF2B5EF4-FFF2-40B4-BE49-F238E27FC236}">
                <a16:creationId xmlns:a16="http://schemas.microsoft.com/office/drawing/2014/main" id="{0D67F431-EBCF-4B10-AEFB-0ECE9977DF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1905000"/>
            <a:ext cx="1219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0" name="Line 55">
            <a:extLst>
              <a:ext uri="{FF2B5EF4-FFF2-40B4-BE49-F238E27FC236}">
                <a16:creationId xmlns:a16="http://schemas.microsoft.com/office/drawing/2014/main" id="{860C310A-CB88-4EFA-A758-A44385126A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19050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03431" name="AutoShape 56">
            <a:extLst>
              <a:ext uri="{FF2B5EF4-FFF2-40B4-BE49-F238E27FC236}">
                <a16:creationId xmlns:a16="http://schemas.microsoft.com/office/drawing/2014/main" id="{E1FB1481-FD3C-4675-A28D-7CCDD2760E0B}"/>
              </a:ext>
            </a:extLst>
          </p:cNvPr>
          <p:cNvCxnSpPr>
            <a:cxnSpLocks noChangeShapeType="1"/>
            <a:stCxn id="103427" idx="0"/>
            <a:endCxn id="103427" idx="2"/>
          </p:cNvCxnSpPr>
          <p:nvPr/>
        </p:nvCxnSpPr>
        <p:spPr bwMode="auto">
          <a:xfrm rot="-5400000" flipH="1" flipV="1">
            <a:off x="5105400" y="1524000"/>
            <a:ext cx="342900" cy="342900"/>
          </a:xfrm>
          <a:prstGeom prst="curvedConnector4">
            <a:avLst>
              <a:gd name="adj1" fmla="val -66667"/>
              <a:gd name="adj2" fmla="val 166667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432" name="Text Box 57">
            <a:extLst>
              <a:ext uri="{FF2B5EF4-FFF2-40B4-BE49-F238E27FC236}">
                <a16:creationId xmlns:a16="http://schemas.microsoft.com/office/drawing/2014/main" id="{F74FF179-F9BC-4A72-8A44-9E2296360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1676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</a:p>
        </p:txBody>
      </p:sp>
      <p:sp>
        <p:nvSpPr>
          <p:cNvPr id="103433" name="Text Box 58">
            <a:extLst>
              <a:ext uri="{FF2B5EF4-FFF2-40B4-BE49-F238E27FC236}">
                <a16:creationId xmlns:a16="http://schemas.microsoft.com/office/drawing/2014/main" id="{8146C643-5578-4C46-9E9C-8C8003E6C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676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2</a:t>
            </a:r>
          </a:p>
        </p:txBody>
      </p:sp>
      <p:sp>
        <p:nvSpPr>
          <p:cNvPr id="103434" name="Text Box 59">
            <a:extLst>
              <a:ext uri="{FF2B5EF4-FFF2-40B4-BE49-F238E27FC236}">
                <a16:creationId xmlns:a16="http://schemas.microsoft.com/office/drawing/2014/main" id="{3FB5BFA5-A37E-4F27-8A91-44383175A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371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03435" name="Text Box 60">
            <a:extLst>
              <a:ext uri="{FF2B5EF4-FFF2-40B4-BE49-F238E27FC236}">
                <a16:creationId xmlns:a16="http://schemas.microsoft.com/office/drawing/2014/main" id="{5F8646E9-D180-4C1B-B00F-247E55F5C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c</a:t>
            </a:r>
          </a:p>
        </p:txBody>
      </p:sp>
      <p:sp>
        <p:nvSpPr>
          <p:cNvPr id="103436" name="Text Box 61">
            <a:extLst>
              <a:ext uri="{FF2B5EF4-FFF2-40B4-BE49-F238E27FC236}">
                <a16:creationId xmlns:a16="http://schemas.microsoft.com/office/drawing/2014/main" id="{4B13AA02-9AF3-4D8A-89EA-E9FFF2198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1524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endParaRPr kumimoji="0" lang="en-US" altLang="zh-CN" sz="2400"/>
          </a:p>
        </p:txBody>
      </p:sp>
      <p:grpSp>
        <p:nvGrpSpPr>
          <p:cNvPr id="103437" name="Group 62">
            <a:extLst>
              <a:ext uri="{FF2B5EF4-FFF2-40B4-BE49-F238E27FC236}">
                <a16:creationId xmlns:a16="http://schemas.microsoft.com/office/drawing/2014/main" id="{51145317-D082-451B-B338-D454779A1F93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524000"/>
            <a:ext cx="685800" cy="685800"/>
            <a:chOff x="2400" y="912"/>
            <a:chExt cx="432" cy="432"/>
          </a:xfrm>
        </p:grpSpPr>
        <p:sp>
          <p:nvSpPr>
            <p:cNvPr id="103474" name="Oval 63">
              <a:extLst>
                <a:ext uri="{FF2B5EF4-FFF2-40B4-BE49-F238E27FC236}">
                  <a16:creationId xmlns:a16="http://schemas.microsoft.com/office/drawing/2014/main" id="{71742B09-EB19-48FD-8447-847D9C8C95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912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3475" name="Text Box 64">
              <a:extLst>
                <a:ext uri="{FF2B5EF4-FFF2-40B4-BE49-F238E27FC236}">
                  <a16:creationId xmlns:a16="http://schemas.microsoft.com/office/drawing/2014/main" id="{5764D747-88B6-426D-B609-03A3AB63BB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00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</a:t>
              </a:r>
            </a:p>
          </p:txBody>
        </p:sp>
      </p:grpSp>
      <p:sp>
        <p:nvSpPr>
          <p:cNvPr id="103438" name="Line 65">
            <a:extLst>
              <a:ext uri="{FF2B5EF4-FFF2-40B4-BE49-F238E27FC236}">
                <a16:creationId xmlns:a16="http://schemas.microsoft.com/office/drawing/2014/main" id="{BF2D2242-13D8-4DB3-A7C3-B8E73140B3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1905000"/>
            <a:ext cx="838200" cy="1143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39" name="Text Box 66">
            <a:extLst>
              <a:ext uri="{FF2B5EF4-FFF2-40B4-BE49-F238E27FC236}">
                <a16:creationId xmlns:a16="http://schemas.microsoft.com/office/drawing/2014/main" id="{9656D05F-CD9D-4624-9ECE-3B9A2C0ED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6002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/>
          </a:p>
        </p:txBody>
      </p:sp>
      <p:grpSp>
        <p:nvGrpSpPr>
          <p:cNvPr id="103440" name="Group 67">
            <a:extLst>
              <a:ext uri="{FF2B5EF4-FFF2-40B4-BE49-F238E27FC236}">
                <a16:creationId xmlns:a16="http://schemas.microsoft.com/office/drawing/2014/main" id="{932E5B21-987D-4BA5-A8D7-FD5EDAD50142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2971800"/>
            <a:ext cx="685800" cy="685800"/>
            <a:chOff x="2448" y="2448"/>
            <a:chExt cx="432" cy="432"/>
          </a:xfrm>
        </p:grpSpPr>
        <p:sp>
          <p:nvSpPr>
            <p:cNvPr id="103472" name="Oval 68">
              <a:extLst>
                <a:ext uri="{FF2B5EF4-FFF2-40B4-BE49-F238E27FC236}">
                  <a16:creationId xmlns:a16="http://schemas.microsoft.com/office/drawing/2014/main" id="{257E4349-8979-45B3-ACF7-D3F3DEBAB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48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3473" name="Oval 69">
              <a:extLst>
                <a:ext uri="{FF2B5EF4-FFF2-40B4-BE49-F238E27FC236}">
                  <a16:creationId xmlns:a16="http://schemas.microsoft.com/office/drawing/2014/main" id="{53A0CF20-361C-4AF7-AC76-18E4A5389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496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03441" name="Text Box 70">
            <a:extLst>
              <a:ext uri="{FF2B5EF4-FFF2-40B4-BE49-F238E27FC236}">
                <a16:creationId xmlns:a16="http://schemas.microsoft.com/office/drawing/2014/main" id="{81B2E955-24FE-4D31-8929-A3BADA69E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124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6</a:t>
            </a:r>
          </a:p>
        </p:txBody>
      </p:sp>
      <p:grpSp>
        <p:nvGrpSpPr>
          <p:cNvPr id="103442" name="Group 71">
            <a:extLst>
              <a:ext uri="{FF2B5EF4-FFF2-40B4-BE49-F238E27FC236}">
                <a16:creationId xmlns:a16="http://schemas.microsoft.com/office/drawing/2014/main" id="{ABF5E1D9-FE08-44D8-86B1-AEE69B77DB0F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3886200"/>
            <a:ext cx="685800" cy="685800"/>
            <a:chOff x="2448" y="2448"/>
            <a:chExt cx="432" cy="432"/>
          </a:xfrm>
        </p:grpSpPr>
        <p:sp>
          <p:nvSpPr>
            <p:cNvPr id="103470" name="Oval 72">
              <a:extLst>
                <a:ext uri="{FF2B5EF4-FFF2-40B4-BE49-F238E27FC236}">
                  <a16:creationId xmlns:a16="http://schemas.microsoft.com/office/drawing/2014/main" id="{7B680FA8-95FA-4852-B185-9620372B3A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48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3471" name="Oval 73">
              <a:extLst>
                <a:ext uri="{FF2B5EF4-FFF2-40B4-BE49-F238E27FC236}">
                  <a16:creationId xmlns:a16="http://schemas.microsoft.com/office/drawing/2014/main" id="{E7E7D338-EA58-4264-84ED-2FD2C1A9C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496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03443" name="Group 74">
            <a:extLst>
              <a:ext uri="{FF2B5EF4-FFF2-40B4-BE49-F238E27FC236}">
                <a16:creationId xmlns:a16="http://schemas.microsoft.com/office/drawing/2014/main" id="{65A4F5D1-4B25-4E4B-92A0-E10989BAF41C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5029200"/>
            <a:ext cx="685800" cy="685800"/>
            <a:chOff x="2448" y="2448"/>
            <a:chExt cx="432" cy="432"/>
          </a:xfrm>
        </p:grpSpPr>
        <p:sp>
          <p:nvSpPr>
            <p:cNvPr id="103468" name="Oval 75">
              <a:extLst>
                <a:ext uri="{FF2B5EF4-FFF2-40B4-BE49-F238E27FC236}">
                  <a16:creationId xmlns:a16="http://schemas.microsoft.com/office/drawing/2014/main" id="{7268AFE9-E264-43C7-A26D-0B4E5722F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48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3469" name="Oval 76">
              <a:extLst>
                <a:ext uri="{FF2B5EF4-FFF2-40B4-BE49-F238E27FC236}">
                  <a16:creationId xmlns:a16="http://schemas.microsoft.com/office/drawing/2014/main" id="{7A94C431-B843-40C7-AFD9-DE356F70F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496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03444" name="Line 77">
            <a:extLst>
              <a:ext uri="{FF2B5EF4-FFF2-40B4-BE49-F238E27FC236}">
                <a16:creationId xmlns:a16="http://schemas.microsoft.com/office/drawing/2014/main" id="{19F0413D-7209-45F7-94A4-A13ACFF44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4495800"/>
            <a:ext cx="12192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45" name="Line 78">
            <a:extLst>
              <a:ext uri="{FF2B5EF4-FFF2-40B4-BE49-F238E27FC236}">
                <a16:creationId xmlns:a16="http://schemas.microsoft.com/office/drawing/2014/main" id="{82BCE65E-29E5-4EAA-AA8A-28D6E326C9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62600" y="3505200"/>
            <a:ext cx="11430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46" name="Line 79">
            <a:extLst>
              <a:ext uri="{FF2B5EF4-FFF2-40B4-BE49-F238E27FC236}">
                <a16:creationId xmlns:a16="http://schemas.microsoft.com/office/drawing/2014/main" id="{ED1D7F0F-8E11-4A26-ACA4-F830591ED8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91000" y="42672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cxnSp>
        <p:nvCxnSpPr>
          <p:cNvPr id="103447" name="AutoShape 80">
            <a:extLst>
              <a:ext uri="{FF2B5EF4-FFF2-40B4-BE49-F238E27FC236}">
                <a16:creationId xmlns:a16="http://schemas.microsoft.com/office/drawing/2014/main" id="{BE8F321C-CFC0-4F9F-B771-5AA13DA309B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934200" y="5029200"/>
            <a:ext cx="342900" cy="342900"/>
          </a:xfrm>
          <a:prstGeom prst="curvedConnector4">
            <a:avLst>
              <a:gd name="adj1" fmla="val -66667"/>
              <a:gd name="adj2" fmla="val 166667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448" name="Text Box 81">
            <a:extLst>
              <a:ext uri="{FF2B5EF4-FFF2-40B4-BE49-F238E27FC236}">
                <a16:creationId xmlns:a16="http://schemas.microsoft.com/office/drawing/2014/main" id="{6572AD74-CCB2-400C-BA34-BDB7B0547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4038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5</a:t>
            </a:r>
          </a:p>
        </p:txBody>
      </p:sp>
      <p:sp>
        <p:nvSpPr>
          <p:cNvPr id="103449" name="Text Box 82">
            <a:extLst>
              <a:ext uri="{FF2B5EF4-FFF2-40B4-BE49-F238E27FC236}">
                <a16:creationId xmlns:a16="http://schemas.microsoft.com/office/drawing/2014/main" id="{BF0623D0-2080-4126-BD31-4BD230A3E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5181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7</a:t>
            </a:r>
          </a:p>
        </p:txBody>
      </p:sp>
      <p:sp>
        <p:nvSpPr>
          <p:cNvPr id="103450" name="Text Box 83">
            <a:extLst>
              <a:ext uri="{FF2B5EF4-FFF2-40B4-BE49-F238E27FC236}">
                <a16:creationId xmlns:a16="http://schemas.microsoft.com/office/drawing/2014/main" id="{FDB73D5E-2801-45ED-924F-B112F53D8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c</a:t>
            </a:r>
          </a:p>
        </p:txBody>
      </p:sp>
      <p:sp>
        <p:nvSpPr>
          <p:cNvPr id="103451" name="Text Box 84">
            <a:extLst>
              <a:ext uri="{FF2B5EF4-FFF2-40B4-BE49-F238E27FC236}">
                <a16:creationId xmlns:a16="http://schemas.microsoft.com/office/drawing/2014/main" id="{9EC1BFBE-351C-4DF0-AC08-D521812CB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3886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endParaRPr kumimoji="0" lang="en-US" altLang="zh-CN" sz="2400"/>
          </a:p>
        </p:txBody>
      </p:sp>
      <p:sp>
        <p:nvSpPr>
          <p:cNvPr id="103452" name="Text Box 85">
            <a:extLst>
              <a:ext uri="{FF2B5EF4-FFF2-40B4-BE49-F238E27FC236}">
                <a16:creationId xmlns:a16="http://schemas.microsoft.com/office/drawing/2014/main" id="{B20BC3AF-CB16-4D63-A7B0-0E055D7C5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800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c</a:t>
            </a:r>
          </a:p>
        </p:txBody>
      </p:sp>
      <p:sp>
        <p:nvSpPr>
          <p:cNvPr id="103453" name="Oval 86">
            <a:extLst>
              <a:ext uri="{FF2B5EF4-FFF2-40B4-BE49-F238E27FC236}">
                <a16:creationId xmlns:a16="http://schemas.microsoft.com/office/drawing/2014/main" id="{0E54E3E2-5429-4CD1-BA98-FF9B1242A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886200"/>
            <a:ext cx="6858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454" name="Text Box 87">
            <a:extLst>
              <a:ext uri="{FF2B5EF4-FFF2-40B4-BE49-F238E27FC236}">
                <a16:creationId xmlns:a16="http://schemas.microsoft.com/office/drawing/2014/main" id="{78CE482E-C3B2-4651-B4CF-CBD56A064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038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4</a:t>
            </a:r>
          </a:p>
        </p:txBody>
      </p:sp>
      <p:sp>
        <p:nvSpPr>
          <p:cNvPr id="103455" name="Text Box 88">
            <a:extLst>
              <a:ext uri="{FF2B5EF4-FFF2-40B4-BE49-F238E27FC236}">
                <a16:creationId xmlns:a16="http://schemas.microsoft.com/office/drawing/2014/main" id="{092EE5D7-6DD7-49E1-A660-A0233FC26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03456" name="Line 89">
            <a:extLst>
              <a:ext uri="{FF2B5EF4-FFF2-40B4-BE49-F238E27FC236}">
                <a16:creationId xmlns:a16="http://schemas.microsoft.com/office/drawing/2014/main" id="{35C797E8-DD7E-4757-B553-26A632BF48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581400"/>
            <a:ext cx="9144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57" name="Text Box 90">
            <a:extLst>
              <a:ext uri="{FF2B5EF4-FFF2-40B4-BE49-F238E27FC236}">
                <a16:creationId xmlns:a16="http://schemas.microsoft.com/office/drawing/2014/main" id="{E47A318A-62CF-4823-AA0B-9615D8C51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3962400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kumimoji="0" lang="zh-CN" altLang="zh-CN" sz="2400"/>
          </a:p>
        </p:txBody>
      </p:sp>
      <p:grpSp>
        <p:nvGrpSpPr>
          <p:cNvPr id="103458" name="Group 91">
            <a:extLst>
              <a:ext uri="{FF2B5EF4-FFF2-40B4-BE49-F238E27FC236}">
                <a16:creationId xmlns:a16="http://schemas.microsoft.com/office/drawing/2014/main" id="{527E113B-F516-44B4-9593-923BDA86CBD5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048000"/>
            <a:ext cx="762000" cy="457200"/>
            <a:chOff x="1104" y="2496"/>
            <a:chExt cx="480" cy="288"/>
          </a:xfrm>
        </p:grpSpPr>
        <p:sp>
          <p:nvSpPr>
            <p:cNvPr id="103466" name="Line 92">
              <a:extLst>
                <a:ext uri="{FF2B5EF4-FFF2-40B4-BE49-F238E27FC236}">
                  <a16:creationId xmlns:a16="http://schemas.microsoft.com/office/drawing/2014/main" id="{D1FC03C7-2B7E-4A6A-BF79-50A4B3B23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688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67" name="Text Box 93">
              <a:extLst>
                <a:ext uri="{FF2B5EF4-FFF2-40B4-BE49-F238E27FC236}">
                  <a16:creationId xmlns:a16="http://schemas.microsoft.com/office/drawing/2014/main" id="{60985A5A-F1D9-4E90-88B5-3280B34047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496"/>
              <a:ext cx="4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2400"/>
            </a:p>
          </p:txBody>
        </p:sp>
      </p:grpSp>
      <p:grpSp>
        <p:nvGrpSpPr>
          <p:cNvPr id="103459" name="Group 94">
            <a:extLst>
              <a:ext uri="{FF2B5EF4-FFF2-40B4-BE49-F238E27FC236}">
                <a16:creationId xmlns:a16="http://schemas.microsoft.com/office/drawing/2014/main" id="{6EF9F012-1E84-4C60-AEF0-DEA48D30F7CB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2971800"/>
            <a:ext cx="685800" cy="685800"/>
            <a:chOff x="2400" y="912"/>
            <a:chExt cx="432" cy="432"/>
          </a:xfrm>
        </p:grpSpPr>
        <p:sp>
          <p:nvSpPr>
            <p:cNvPr id="103464" name="Oval 95">
              <a:extLst>
                <a:ext uri="{FF2B5EF4-FFF2-40B4-BE49-F238E27FC236}">
                  <a16:creationId xmlns:a16="http://schemas.microsoft.com/office/drawing/2014/main" id="{A3D5C45C-8968-4A8B-96B6-E7E4103A47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912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3465" name="Text Box 96">
              <a:extLst>
                <a:ext uri="{FF2B5EF4-FFF2-40B4-BE49-F238E27FC236}">
                  <a16:creationId xmlns:a16="http://schemas.microsoft.com/office/drawing/2014/main" id="{05D2AE00-5EA5-48D1-B5EE-51B362476F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00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0</a:t>
              </a:r>
            </a:p>
          </p:txBody>
        </p:sp>
      </p:grpSp>
      <p:sp>
        <p:nvSpPr>
          <p:cNvPr id="103460" name="Text Box 97">
            <a:extLst>
              <a:ext uri="{FF2B5EF4-FFF2-40B4-BE49-F238E27FC236}">
                <a16:creationId xmlns:a16="http://schemas.microsoft.com/office/drawing/2014/main" id="{B92FC865-54DE-480E-B367-5C35691E6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362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03461" name="Text Box 98">
            <a:extLst>
              <a:ext uri="{FF2B5EF4-FFF2-40B4-BE49-F238E27FC236}">
                <a16:creationId xmlns:a16="http://schemas.microsoft.com/office/drawing/2014/main" id="{3EDE14D6-6676-4BD4-BEF2-67C8FD2EC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429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03462" name="Text Box 99">
            <a:extLst>
              <a:ext uri="{FF2B5EF4-FFF2-40B4-BE49-F238E27FC236}">
                <a16:creationId xmlns:a16="http://schemas.microsoft.com/office/drawing/2014/main" id="{EE773570-820D-405F-9955-EB87455F4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600200"/>
            <a:ext cx="2819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>
                <a:solidFill>
                  <a:srgbClr val="3333CC"/>
                </a:solidFill>
              </a:rPr>
              <a:t>两个状态转换图，进行“并”操作</a:t>
            </a:r>
          </a:p>
        </p:txBody>
      </p:sp>
      <p:sp>
        <p:nvSpPr>
          <p:cNvPr id="103463" name="Rectangle 100">
            <a:extLst>
              <a:ext uri="{FF2B5EF4-FFF2-40B4-BE49-F238E27FC236}">
                <a16:creationId xmlns:a16="http://schemas.microsoft.com/office/drawing/2014/main" id="{7F2DB87A-92E0-44C2-9982-758EB00BB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24000"/>
            <a:ext cx="2819400" cy="990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 spd="slow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8DF855F0-724A-4029-99E3-BE2789DD30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3.6.2  </a:t>
            </a:r>
            <a:r>
              <a:rPr lang="zh-CN" altLang="en-US"/>
              <a:t>确定有限自动机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4E4F0FB7-449B-43FF-A4BD-A9DE99B5B2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zh-CN" altLang="en-US" dirty="0"/>
              <a:t>五元组定义</a:t>
            </a:r>
            <a:br>
              <a:rPr lang="zh-CN" altLang="en-US" dirty="0"/>
            </a:br>
            <a:r>
              <a:rPr lang="en-US" altLang="zh-CN" dirty="0"/>
              <a:t>M = { S, </a:t>
            </a:r>
            <a:r>
              <a:rPr lang="en-US" altLang="zh-CN" dirty="0" err="1"/>
              <a:t>Σ</a:t>
            </a:r>
            <a:r>
              <a:rPr lang="en-US" altLang="zh-CN" dirty="0"/>
              <a:t>, </a:t>
            </a:r>
            <a:r>
              <a:rPr lang="en-US" altLang="zh-CN" dirty="0">
                <a:latin typeface="Symbol" panose="05050102010706020507" pitchFamily="18" charset="2"/>
              </a:rPr>
              <a:t>d</a:t>
            </a:r>
            <a:r>
              <a:rPr lang="en-US" altLang="zh-CN" dirty="0"/>
              <a:t>, s</a:t>
            </a:r>
            <a:r>
              <a:rPr lang="en-US" altLang="zh-CN" baseline="-25000" dirty="0"/>
              <a:t>0</a:t>
            </a:r>
            <a:r>
              <a:rPr lang="en-US" altLang="zh-CN" dirty="0"/>
              <a:t>, F }</a:t>
            </a:r>
            <a:r>
              <a:rPr lang="zh-CN" altLang="en-US" dirty="0"/>
              <a:t>，其中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S</a:t>
            </a:r>
            <a:r>
              <a:rPr lang="zh-CN" altLang="en-US" dirty="0"/>
              <a:t>：有限状态集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 err="1"/>
              <a:t>Σ</a:t>
            </a:r>
            <a:r>
              <a:rPr lang="zh-CN" altLang="en-US" dirty="0"/>
              <a:t>：有穷字母表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 err="1"/>
              <a:t>δ</a:t>
            </a:r>
            <a:r>
              <a:rPr lang="zh-CN" altLang="en-US" dirty="0"/>
              <a:t>：</a:t>
            </a:r>
            <a:r>
              <a:rPr lang="en-US" altLang="zh-CN" dirty="0"/>
              <a:t>S</a:t>
            </a:r>
            <a:r>
              <a:rPr lang="en-US" altLang="zh-CN" dirty="0">
                <a:latin typeface="宋体" panose="02010600030101010101" pitchFamily="2" charset="-122"/>
              </a:rPr>
              <a:t>×</a:t>
            </a:r>
            <a:r>
              <a:rPr lang="en-US" altLang="zh-CN" dirty="0"/>
              <a:t>Σ</a:t>
            </a:r>
            <a:r>
              <a:rPr lang="zh-CN" altLang="en-US" dirty="0"/>
              <a:t>到</a:t>
            </a:r>
            <a:r>
              <a:rPr lang="en-US" altLang="zh-CN" dirty="0"/>
              <a:t>S</a:t>
            </a:r>
            <a:r>
              <a:rPr lang="zh-CN" altLang="en-US" dirty="0"/>
              <a:t>的单值映射，即</a:t>
            </a:r>
            <a:br>
              <a:rPr lang="zh-CN" altLang="en-US" dirty="0"/>
            </a:br>
            <a:r>
              <a:rPr lang="en-US" altLang="zh-CN" dirty="0" err="1"/>
              <a:t>δ</a:t>
            </a:r>
            <a:r>
              <a:rPr lang="en-US" altLang="zh-CN" dirty="0"/>
              <a:t>: S×Σ</a:t>
            </a:r>
            <a:r>
              <a:rPr kumimoji="0" lang="en-US" altLang="zh-CN" dirty="0">
                <a:sym typeface="Symbol" panose="05050102010706020507" pitchFamily="18" charset="2"/>
              </a:rPr>
              <a:t> S</a:t>
            </a:r>
            <a:endParaRPr lang="en-US" altLang="zh-CN" dirty="0"/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/>
              <a:t>s</a:t>
            </a:r>
            <a:r>
              <a:rPr lang="en-US" altLang="zh-CN" baseline="-25000" dirty="0"/>
              <a:t>0</a:t>
            </a:r>
            <a:r>
              <a:rPr lang="en-US" altLang="zh-CN" dirty="0"/>
              <a:t>∈S</a:t>
            </a:r>
            <a:r>
              <a:rPr lang="zh-CN" altLang="en-US" dirty="0"/>
              <a:t>是唯一的初态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         是一个终态集（可空）</a:t>
            </a:r>
          </a:p>
        </p:txBody>
      </p:sp>
      <p:graphicFrame>
        <p:nvGraphicFramePr>
          <p:cNvPr id="104452" name="Object 4">
            <a:extLst>
              <a:ext uri="{FF2B5EF4-FFF2-40B4-BE49-F238E27FC236}">
                <a16:creationId xmlns:a16="http://schemas.microsoft.com/office/drawing/2014/main" id="{10F7A41C-D28B-424D-B3F0-1E497E54B5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4953000"/>
          <a:ext cx="10795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02" name="Equation" r:id="rId3" imgW="431613" imgH="190417" progId="Equation.3">
                  <p:embed/>
                </p:oleObj>
              </mc:Choice>
              <mc:Fallback>
                <p:oleObj name="Equation" r:id="rId3" imgW="431613" imgH="19041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4953000"/>
                        <a:ext cx="10795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77" name="Text Box 5">
            <a:extLst>
              <a:ext uri="{FF2B5EF4-FFF2-40B4-BE49-F238E27FC236}">
                <a16:creationId xmlns:a16="http://schemas.microsoft.com/office/drawing/2014/main" id="{C4D019F0-54B2-42C9-A942-7C36DFC04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8862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 type="none" w="sm" len="sm"/>
                <a:tailEnd type="none" w="lg" len="lg"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  <a:latin typeface="Tahoma" panose="020B0604030504040204" pitchFamily="34" charset="0"/>
              </a:rPr>
              <a:t>没有</a:t>
            </a:r>
            <a:r>
              <a:rPr lang="en-US" altLang="zh-CN" sz="2400">
                <a:solidFill>
                  <a:srgbClr val="FF3300"/>
                </a:solidFill>
                <a:latin typeface="Symbol" panose="05050102010706020507" pitchFamily="18" charset="2"/>
              </a:rPr>
              <a:t>e</a:t>
            </a:r>
          </a:p>
        </p:txBody>
      </p:sp>
      <p:sp>
        <p:nvSpPr>
          <p:cNvPr id="182278" name="Freeform 6">
            <a:extLst>
              <a:ext uri="{FF2B5EF4-FFF2-40B4-BE49-F238E27FC236}">
                <a16:creationId xmlns:a16="http://schemas.microsoft.com/office/drawing/2014/main" id="{EE5A8447-5956-4845-A9AB-B5B6E2B4679A}"/>
              </a:ext>
            </a:extLst>
          </p:cNvPr>
          <p:cNvSpPr>
            <a:spLocks/>
          </p:cNvSpPr>
          <p:nvPr/>
        </p:nvSpPr>
        <p:spPr bwMode="auto">
          <a:xfrm>
            <a:off x="1524000" y="3860800"/>
            <a:ext cx="1751856" cy="177800"/>
          </a:xfrm>
          <a:custGeom>
            <a:avLst/>
            <a:gdLst>
              <a:gd name="T0" fmla="*/ 0 w 1344"/>
              <a:gd name="T1" fmla="*/ 2147483646 h 160"/>
              <a:gd name="T2" fmla="*/ 2147483646 w 1344"/>
              <a:gd name="T3" fmla="*/ 2147483646 h 160"/>
              <a:gd name="T4" fmla="*/ 2147483646 w 1344"/>
              <a:gd name="T5" fmla="*/ 2147483646 h 160"/>
              <a:gd name="T6" fmla="*/ 2147483646 w 1344"/>
              <a:gd name="T7" fmla="*/ 2147483646 h 160"/>
              <a:gd name="T8" fmla="*/ 0 60000 65536"/>
              <a:gd name="T9" fmla="*/ 0 60000 65536"/>
              <a:gd name="T10" fmla="*/ 0 60000 65536"/>
              <a:gd name="T11" fmla="*/ 0 60000 65536"/>
              <a:gd name="T12" fmla="*/ 0 w 1344"/>
              <a:gd name="T13" fmla="*/ 0 h 160"/>
              <a:gd name="T14" fmla="*/ 1344 w 1344"/>
              <a:gd name="T15" fmla="*/ 160 h 1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44" h="160">
                <a:moveTo>
                  <a:pt x="0" y="112"/>
                </a:moveTo>
                <a:cubicBezTo>
                  <a:pt x="96" y="96"/>
                  <a:pt x="192" y="80"/>
                  <a:pt x="384" y="64"/>
                </a:cubicBezTo>
                <a:cubicBezTo>
                  <a:pt x="576" y="48"/>
                  <a:pt x="992" y="0"/>
                  <a:pt x="1152" y="16"/>
                </a:cubicBezTo>
                <a:cubicBezTo>
                  <a:pt x="1312" y="32"/>
                  <a:pt x="1328" y="96"/>
                  <a:pt x="1344" y="160"/>
                </a:cubicBezTo>
              </a:path>
            </a:pathLst>
          </a:custGeom>
          <a:noFill/>
          <a:ln w="25400" cap="flat" cmpd="sng">
            <a:solidFill>
              <a:schemeClr val="hlink"/>
            </a:solidFill>
            <a:prstDash val="solid"/>
            <a:miter lim="800000"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2279" name="Text Box 7">
            <a:extLst>
              <a:ext uri="{FF2B5EF4-FFF2-40B4-BE49-F238E27FC236}">
                <a16:creationId xmlns:a16="http://schemas.microsoft.com/office/drawing/2014/main" id="{04BF73F1-5A04-4CC9-B0E5-F4E8CA3E7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038600"/>
            <a:ext cx="2362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3300"/>
                </a:solidFill>
              </a:rPr>
              <a:t>值域为</a:t>
            </a:r>
            <a:r>
              <a:rPr lang="en-US" altLang="zh-CN" sz="2400">
                <a:solidFill>
                  <a:srgbClr val="FF3300"/>
                </a:solidFill>
              </a:rPr>
              <a:t>S</a:t>
            </a:r>
            <a:r>
              <a:rPr lang="zh-CN" altLang="en-US" sz="2400">
                <a:solidFill>
                  <a:srgbClr val="FF3300"/>
                </a:solidFill>
              </a:rPr>
              <a:t>，不是</a:t>
            </a:r>
            <a:r>
              <a:rPr lang="en-US" altLang="zh-CN" sz="2400">
                <a:solidFill>
                  <a:srgbClr val="FF3300"/>
                </a:solidFill>
              </a:rPr>
              <a:t>S</a:t>
            </a:r>
            <a:r>
              <a:rPr lang="zh-CN" altLang="en-US" sz="2400">
                <a:solidFill>
                  <a:srgbClr val="FF3300"/>
                </a:solidFill>
              </a:rPr>
              <a:t>的子集的集合</a:t>
            </a:r>
          </a:p>
        </p:txBody>
      </p:sp>
      <p:sp>
        <p:nvSpPr>
          <p:cNvPr id="182280" name="Line 8">
            <a:extLst>
              <a:ext uri="{FF2B5EF4-FFF2-40B4-BE49-F238E27FC236}">
                <a16:creationId xmlns:a16="http://schemas.microsoft.com/office/drawing/2014/main" id="{9A024EA7-A9F9-4BE6-9E6B-4688C54F319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95936" y="4149080"/>
            <a:ext cx="1566664" cy="41920"/>
          </a:xfrm>
          <a:prstGeom prst="line">
            <a:avLst/>
          </a:prstGeom>
          <a:noFill/>
          <a:ln w="25400">
            <a:solidFill>
              <a:schemeClr val="hlink"/>
            </a:solidFill>
            <a:miter lim="800000"/>
            <a:headEnd type="none" w="sm" len="sm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7" grpId="0"/>
      <p:bldP spid="182279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90810F60-CCDC-4B6C-A4F6-6B94C45BC7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3.1  </a:t>
            </a:r>
            <a:r>
              <a:rPr lang="zh-CN" altLang="en-US"/>
              <a:t>模拟</a:t>
            </a:r>
            <a:r>
              <a:rPr lang="en-US" altLang="zh-CN"/>
              <a:t>DFA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C99474B8-D2F1-4201-9D00-509A21733C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dirty="0"/>
              <a:t>输入：以</a:t>
            </a:r>
            <a:r>
              <a:rPr kumimoji="0" lang="en-US" altLang="zh-CN" sz="2400" dirty="0" err="1"/>
              <a:t>eof</a:t>
            </a:r>
            <a:r>
              <a:rPr kumimoji="0" lang="zh-CN" altLang="en-US" sz="2400" dirty="0"/>
              <a:t>结束的输入串</a:t>
            </a:r>
            <a:r>
              <a:rPr kumimoji="0" lang="en-US" altLang="zh-CN" sz="2400" dirty="0"/>
              <a:t>x</a:t>
            </a:r>
            <a:r>
              <a:rPr kumimoji="0" lang="zh-CN" altLang="en-US" sz="2400" dirty="0"/>
              <a:t>，初态</a:t>
            </a:r>
            <a:r>
              <a:rPr kumimoji="0" lang="en-US" altLang="zh-CN" sz="2400" dirty="0"/>
              <a:t>s</a:t>
            </a:r>
            <a:r>
              <a:rPr kumimoji="0" lang="en-US" altLang="zh-CN" sz="2400" baseline="-25000" dirty="0"/>
              <a:t>0</a:t>
            </a:r>
            <a:r>
              <a:rPr kumimoji="0" lang="zh-CN" altLang="en-US" sz="2400" dirty="0"/>
              <a:t>，终态集</a:t>
            </a:r>
            <a:r>
              <a:rPr kumimoji="0" lang="en-US" altLang="zh-CN" sz="2400" dirty="0"/>
              <a:t>F</a:t>
            </a:r>
            <a:r>
              <a:rPr kumimoji="0" lang="zh-CN" altLang="en-US" sz="2400" dirty="0"/>
              <a:t>的</a:t>
            </a:r>
            <a:r>
              <a:rPr kumimoji="0" lang="en-US" altLang="zh-CN" sz="2400" dirty="0"/>
              <a:t>DFA D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dirty="0"/>
              <a:t>输出：若</a:t>
            </a:r>
            <a:r>
              <a:rPr kumimoji="0" lang="en-US" altLang="zh-CN" sz="2400" dirty="0"/>
              <a:t>D</a:t>
            </a:r>
            <a:r>
              <a:rPr kumimoji="0" lang="zh-CN" altLang="en-US" sz="2400" dirty="0"/>
              <a:t>接受</a:t>
            </a:r>
            <a:r>
              <a:rPr kumimoji="0" lang="en-US" altLang="zh-CN" sz="2400" dirty="0"/>
              <a:t>x</a:t>
            </a:r>
            <a:r>
              <a:rPr kumimoji="0" lang="zh-CN" altLang="en-US" sz="2400" dirty="0"/>
              <a:t>，返回</a:t>
            </a:r>
            <a:r>
              <a:rPr kumimoji="0" lang="zh-CN" altLang="en-US" sz="2400" dirty="0">
                <a:latin typeface="Tahoma" panose="020B0604030504040204" pitchFamily="34" charset="0"/>
              </a:rPr>
              <a:t>“</a:t>
            </a:r>
            <a:r>
              <a:rPr kumimoji="0" lang="en-US" altLang="zh-CN" sz="2400" dirty="0"/>
              <a:t>yes</a:t>
            </a:r>
            <a:r>
              <a:rPr kumimoji="0" lang="zh-CN" altLang="en-US" sz="2400" dirty="0"/>
              <a:t>”，否则返回</a:t>
            </a:r>
            <a:r>
              <a:rPr kumimoji="0" lang="zh-CN" altLang="en-US" sz="2400" dirty="0">
                <a:latin typeface="Tahoma" panose="020B0604030504040204" pitchFamily="34" charset="0"/>
              </a:rPr>
              <a:t>“</a:t>
            </a:r>
            <a:r>
              <a:rPr kumimoji="0" lang="en-US" altLang="zh-CN" sz="2400" dirty="0"/>
              <a:t>no</a:t>
            </a:r>
            <a:r>
              <a:rPr kumimoji="0" lang="zh-CN" altLang="en-US" sz="2400" dirty="0"/>
              <a:t>”</a:t>
            </a:r>
            <a:endParaRPr kumimoji="0" lang="en-US" altLang="zh-CN" sz="2400" dirty="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dirty="0"/>
              <a:t>方法：利用</a:t>
            </a:r>
            <a:r>
              <a:rPr kumimoji="0" lang="en-US" altLang="zh-CN" sz="2400" dirty="0" err="1"/>
              <a:t>nextchar</a:t>
            </a:r>
            <a:r>
              <a:rPr kumimoji="0" lang="zh-CN" altLang="en-US" sz="2400" dirty="0"/>
              <a:t>读取符号，利用转换函数</a:t>
            </a:r>
            <a:r>
              <a:rPr kumimoji="0" lang="en-US" altLang="zh-CN" sz="2400" dirty="0">
                <a:latin typeface="Symbol" panose="05050102010706020507" pitchFamily="18" charset="2"/>
              </a:rPr>
              <a:t>d</a:t>
            </a:r>
            <a:r>
              <a:rPr kumimoji="0" lang="zh-CN" altLang="en-US" sz="2400" dirty="0"/>
              <a:t>进行状态转换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3333CC"/>
                </a:solidFill>
                <a:latin typeface="Courier New" panose="02070309020205020404" pitchFamily="49" charset="0"/>
              </a:rPr>
              <a:t>s </a:t>
            </a:r>
            <a:r>
              <a:rPr kumimoji="0" lang="en-US" altLang="zh-CN" sz="2000" b="1" dirty="0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 s</a:t>
            </a:r>
            <a:r>
              <a:rPr kumimoji="0" lang="en-US" altLang="zh-CN" sz="2000" b="1" baseline="-25000" dirty="0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  <a:endParaRPr kumimoji="0" lang="en-US" altLang="zh-CN" sz="2000" b="1" dirty="0">
              <a:solidFill>
                <a:srgbClr val="3333CC"/>
              </a:solidFill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3333CC"/>
                </a:solidFill>
                <a:latin typeface="Courier New" panose="02070309020205020404" pitchFamily="49" charset="0"/>
              </a:rPr>
              <a:t>c </a:t>
            </a:r>
            <a:r>
              <a:rPr kumimoji="0" lang="en-US" altLang="zh-CN" sz="2000" b="1" dirty="0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 </a:t>
            </a:r>
            <a:r>
              <a:rPr kumimoji="0" lang="en-US" altLang="zh-CN" sz="2000" b="1" dirty="0" err="1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nextchar</a:t>
            </a:r>
            <a:r>
              <a:rPr kumimoji="0" lang="en-US" altLang="zh-CN" sz="2000" b="1" dirty="0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while c  </a:t>
            </a:r>
            <a:r>
              <a:rPr kumimoji="0" lang="en-US" altLang="zh-CN" sz="2000" b="1" dirty="0" err="1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eof</a:t>
            </a:r>
            <a:r>
              <a:rPr kumimoji="0" lang="en-US" altLang="zh-CN" sz="2000" b="1" dirty="0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do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s  </a:t>
            </a:r>
            <a:r>
              <a:rPr kumimoji="0" lang="en-US" altLang="zh-CN" sz="2000" b="1" dirty="0">
                <a:solidFill>
                  <a:srgbClr val="3333CC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000" b="1" dirty="0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kumimoji="0" lang="en-US" altLang="zh-CN" sz="2000" b="1" dirty="0" err="1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s,c</a:t>
            </a:r>
            <a:r>
              <a:rPr kumimoji="0" lang="en-US" altLang="zh-CN" sz="2000" b="1" dirty="0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);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c  </a:t>
            </a:r>
            <a:r>
              <a:rPr kumimoji="0" lang="en-US" altLang="zh-CN" sz="2000" b="1" dirty="0" err="1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nextchar</a:t>
            </a:r>
            <a:r>
              <a:rPr kumimoji="0" lang="en-US" altLang="zh-CN" sz="2000" b="1" dirty="0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end;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if s is in F then return “yes”</a:t>
            </a:r>
          </a:p>
          <a:p>
            <a:pPr eaLnBrk="1" hangingPunct="1">
              <a:lnSpc>
                <a:spcPct val="60000"/>
              </a:lnSpc>
              <a:spcBef>
                <a:spcPct val="3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3333CC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       else return “no”</a:t>
            </a:r>
            <a:endParaRPr lang="en-US" altLang="zh-CN" sz="2000" dirty="0">
              <a:solidFill>
                <a:srgbClr val="3333CC"/>
              </a:solidFill>
            </a:endParaRPr>
          </a:p>
        </p:txBody>
      </p:sp>
    </p:spTree>
  </p:cSld>
  <p:clrMapOvr>
    <a:masterClrMapping/>
  </p:clrMapOvr>
  <p:transition spd="slow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82401118-A1E3-42D3-914C-A3128AA40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3.14</a:t>
            </a:r>
            <a:r>
              <a:rPr lang="zh-CN" altLang="en-US"/>
              <a:t>：</a:t>
            </a:r>
            <a:r>
              <a:rPr lang="en-US" altLang="zh-CN"/>
              <a:t>(a|b)</a:t>
            </a:r>
            <a:r>
              <a:rPr lang="en-US" altLang="zh-CN" baseline="30000"/>
              <a:t>*</a:t>
            </a:r>
            <a:r>
              <a:rPr lang="en-US" altLang="zh-CN"/>
              <a:t>abb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06B09FE3-396A-40D1-BF99-6B6C5A1DD7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895600"/>
            <a:ext cx="7772400" cy="2743200"/>
          </a:xfrm>
        </p:spPr>
        <p:txBody>
          <a:bodyPr/>
          <a:lstStyle/>
          <a:p>
            <a:pPr eaLnBrk="1" hangingPunct="1"/>
            <a:r>
              <a:rPr lang="zh-CN" altLang="en-US"/>
              <a:t>对比</a:t>
            </a:r>
            <a:r>
              <a:rPr lang="en-US" altLang="zh-CN"/>
              <a:t>NFA</a:t>
            </a:r>
          </a:p>
        </p:txBody>
      </p:sp>
      <p:grpSp>
        <p:nvGrpSpPr>
          <p:cNvPr id="106500" name="Group 5">
            <a:extLst>
              <a:ext uri="{FF2B5EF4-FFF2-40B4-BE49-F238E27FC236}">
                <a16:creationId xmlns:a16="http://schemas.microsoft.com/office/drawing/2014/main" id="{8B2035D7-421E-4B09-BA9C-D5A55FAEB493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766888"/>
            <a:ext cx="609600" cy="609600"/>
            <a:chOff x="2496" y="2688"/>
            <a:chExt cx="384" cy="384"/>
          </a:xfrm>
        </p:grpSpPr>
        <p:sp>
          <p:nvSpPr>
            <p:cNvPr id="106554" name="Oval 6">
              <a:extLst>
                <a:ext uri="{FF2B5EF4-FFF2-40B4-BE49-F238E27FC236}">
                  <a16:creationId xmlns:a16="http://schemas.microsoft.com/office/drawing/2014/main" id="{124389B2-E76F-4006-A61A-DFE5F49B2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688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6555" name="Oval 7">
              <a:extLst>
                <a:ext uri="{FF2B5EF4-FFF2-40B4-BE49-F238E27FC236}">
                  <a16:creationId xmlns:a16="http://schemas.microsoft.com/office/drawing/2014/main" id="{3319BBE0-FB52-4E3B-BF6A-78DA9E624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73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06501" name="Line 8">
            <a:extLst>
              <a:ext uri="{FF2B5EF4-FFF2-40B4-BE49-F238E27FC236}">
                <a16:creationId xmlns:a16="http://schemas.microsoft.com/office/drawing/2014/main" id="{7200F4D0-E552-468C-A24D-9766EB5A5D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07168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2" name="Line 9">
            <a:extLst>
              <a:ext uri="{FF2B5EF4-FFF2-40B4-BE49-F238E27FC236}">
                <a16:creationId xmlns:a16="http://schemas.microsoft.com/office/drawing/2014/main" id="{2C7F58B2-0ED6-4AA9-97C4-3DC764699B5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207168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3" name="Line 10">
            <a:extLst>
              <a:ext uri="{FF2B5EF4-FFF2-40B4-BE49-F238E27FC236}">
                <a16:creationId xmlns:a16="http://schemas.microsoft.com/office/drawing/2014/main" id="{82B7CFEC-09C9-4524-A51B-C42CD34635D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07168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04" name="Text Box 11">
            <a:extLst>
              <a:ext uri="{FF2B5EF4-FFF2-40B4-BE49-F238E27FC236}">
                <a16:creationId xmlns:a16="http://schemas.microsoft.com/office/drawing/2014/main" id="{7C75FA88-95B1-4B69-9473-59E2A5F75E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676400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grpSp>
        <p:nvGrpSpPr>
          <p:cNvPr id="106505" name="Group 12">
            <a:extLst>
              <a:ext uri="{FF2B5EF4-FFF2-40B4-BE49-F238E27FC236}">
                <a16:creationId xmlns:a16="http://schemas.microsoft.com/office/drawing/2014/main" id="{7B1C1EAA-087B-4018-BA24-89C8505A792E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1766888"/>
            <a:ext cx="609600" cy="609600"/>
            <a:chOff x="2736" y="1200"/>
            <a:chExt cx="384" cy="384"/>
          </a:xfrm>
        </p:grpSpPr>
        <p:sp>
          <p:nvSpPr>
            <p:cNvPr id="106552" name="Oval 13">
              <a:extLst>
                <a:ext uri="{FF2B5EF4-FFF2-40B4-BE49-F238E27FC236}">
                  <a16:creationId xmlns:a16="http://schemas.microsoft.com/office/drawing/2014/main" id="{02A02B1C-637E-4489-8FD9-C65492BCF5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6553" name="Text Box 14">
              <a:extLst>
                <a:ext uri="{FF2B5EF4-FFF2-40B4-BE49-F238E27FC236}">
                  <a16:creationId xmlns:a16="http://schemas.microsoft.com/office/drawing/2014/main" id="{91079C1B-BBF6-4F47-AE41-F26C36497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0</a:t>
              </a:r>
            </a:p>
          </p:txBody>
        </p:sp>
      </p:grpSp>
      <p:sp>
        <p:nvSpPr>
          <p:cNvPr id="106506" name="Text Box 15">
            <a:extLst>
              <a:ext uri="{FF2B5EF4-FFF2-40B4-BE49-F238E27FC236}">
                <a16:creationId xmlns:a16="http://schemas.microsoft.com/office/drawing/2014/main" id="{37997D14-09E4-4704-A9FC-375E4AA52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1843088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</a:p>
        </p:txBody>
      </p:sp>
      <p:sp>
        <p:nvSpPr>
          <p:cNvPr id="106507" name="Text Box 16">
            <a:extLst>
              <a:ext uri="{FF2B5EF4-FFF2-40B4-BE49-F238E27FC236}">
                <a16:creationId xmlns:a16="http://schemas.microsoft.com/office/drawing/2014/main" id="{7B0A5086-6AED-440D-8820-2B296E28FD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1676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06508" name="Line 17">
            <a:extLst>
              <a:ext uri="{FF2B5EF4-FFF2-40B4-BE49-F238E27FC236}">
                <a16:creationId xmlns:a16="http://schemas.microsoft.com/office/drawing/2014/main" id="{C936ECE4-5E98-4077-8283-C29D1E3C668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207168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509" name="Group 18">
            <a:extLst>
              <a:ext uri="{FF2B5EF4-FFF2-40B4-BE49-F238E27FC236}">
                <a16:creationId xmlns:a16="http://schemas.microsoft.com/office/drawing/2014/main" id="{B4A83EF8-7EC9-451C-A961-379CE51777A1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1766888"/>
            <a:ext cx="609600" cy="609600"/>
            <a:chOff x="2736" y="1200"/>
            <a:chExt cx="384" cy="384"/>
          </a:xfrm>
        </p:grpSpPr>
        <p:sp>
          <p:nvSpPr>
            <p:cNvPr id="106550" name="Oval 19">
              <a:extLst>
                <a:ext uri="{FF2B5EF4-FFF2-40B4-BE49-F238E27FC236}">
                  <a16:creationId xmlns:a16="http://schemas.microsoft.com/office/drawing/2014/main" id="{8685E4F7-E8C6-4DA6-B69C-AA386F0CC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6551" name="Text Box 20">
              <a:extLst>
                <a:ext uri="{FF2B5EF4-FFF2-40B4-BE49-F238E27FC236}">
                  <a16:creationId xmlns:a16="http://schemas.microsoft.com/office/drawing/2014/main" id="{8995179D-D09C-4837-BDA5-417E839AA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2</a:t>
              </a:r>
            </a:p>
          </p:txBody>
        </p:sp>
      </p:grpSp>
      <p:grpSp>
        <p:nvGrpSpPr>
          <p:cNvPr id="106510" name="Group 21">
            <a:extLst>
              <a:ext uri="{FF2B5EF4-FFF2-40B4-BE49-F238E27FC236}">
                <a16:creationId xmlns:a16="http://schemas.microsoft.com/office/drawing/2014/main" id="{43AD12DC-7D6C-4562-A328-726FFBE743D0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1766888"/>
            <a:ext cx="609600" cy="609600"/>
            <a:chOff x="2736" y="1200"/>
            <a:chExt cx="384" cy="384"/>
          </a:xfrm>
        </p:grpSpPr>
        <p:sp>
          <p:nvSpPr>
            <p:cNvPr id="106548" name="Oval 22">
              <a:extLst>
                <a:ext uri="{FF2B5EF4-FFF2-40B4-BE49-F238E27FC236}">
                  <a16:creationId xmlns:a16="http://schemas.microsoft.com/office/drawing/2014/main" id="{2CF48234-8BE3-4935-B6A1-AA4ACA73A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6549" name="Text Box 23">
              <a:extLst>
                <a:ext uri="{FF2B5EF4-FFF2-40B4-BE49-F238E27FC236}">
                  <a16:creationId xmlns:a16="http://schemas.microsoft.com/office/drawing/2014/main" id="{414C2B88-D8AC-445B-BA5F-70CDB6CF3A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</a:t>
              </a:r>
            </a:p>
          </p:txBody>
        </p:sp>
      </p:grpSp>
      <p:sp>
        <p:nvSpPr>
          <p:cNvPr id="106511" name="Text Box 24">
            <a:extLst>
              <a:ext uri="{FF2B5EF4-FFF2-40B4-BE49-F238E27FC236}">
                <a16:creationId xmlns:a16="http://schemas.microsoft.com/office/drawing/2014/main" id="{358650DB-F556-44DC-9275-3449F07F6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1676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06512" name="Text Box 25">
            <a:extLst>
              <a:ext uri="{FF2B5EF4-FFF2-40B4-BE49-F238E27FC236}">
                <a16:creationId xmlns:a16="http://schemas.microsoft.com/office/drawing/2014/main" id="{B33F837D-27E9-4C5A-B79A-F73E3BB92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676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cxnSp>
        <p:nvCxnSpPr>
          <p:cNvPr id="106513" name="AutoShape 26">
            <a:extLst>
              <a:ext uri="{FF2B5EF4-FFF2-40B4-BE49-F238E27FC236}">
                <a16:creationId xmlns:a16="http://schemas.microsoft.com/office/drawing/2014/main" id="{8817D786-5D22-473D-A355-AED9BB0EE07A}"/>
              </a:ext>
            </a:extLst>
          </p:cNvPr>
          <p:cNvCxnSpPr>
            <a:cxnSpLocks noChangeShapeType="1"/>
            <a:stCxn id="106552" idx="3"/>
            <a:endCxn id="106552" idx="4"/>
          </p:cNvCxnSpPr>
          <p:nvPr/>
        </p:nvCxnSpPr>
        <p:spPr bwMode="auto">
          <a:xfrm rot="16200000" flipH="1">
            <a:off x="3048000" y="2224088"/>
            <a:ext cx="88900" cy="215900"/>
          </a:xfrm>
          <a:prstGeom prst="curvedConnector3">
            <a:avLst>
              <a:gd name="adj1" fmla="val 357144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6514" name="Text Box 27">
            <a:extLst>
              <a:ext uri="{FF2B5EF4-FFF2-40B4-BE49-F238E27FC236}">
                <a16:creationId xmlns:a16="http://schemas.microsoft.com/office/drawing/2014/main" id="{70C2272E-C05B-4250-8578-A79668F58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52888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cxnSp>
        <p:nvCxnSpPr>
          <p:cNvPr id="106515" name="AutoShape 28">
            <a:extLst>
              <a:ext uri="{FF2B5EF4-FFF2-40B4-BE49-F238E27FC236}">
                <a16:creationId xmlns:a16="http://schemas.microsoft.com/office/drawing/2014/main" id="{0CC59397-CD66-4E58-9DA5-D8C74743C509}"/>
              </a:ext>
            </a:extLst>
          </p:cNvPr>
          <p:cNvCxnSpPr>
            <a:cxnSpLocks noChangeShapeType="1"/>
            <a:stCxn id="106554" idx="4"/>
            <a:endCxn id="106548" idx="4"/>
          </p:cNvCxnSpPr>
          <p:nvPr/>
        </p:nvCxnSpPr>
        <p:spPr bwMode="auto">
          <a:xfrm rot="5400000">
            <a:off x="5638006" y="1158082"/>
            <a:ext cx="1587" cy="2438400"/>
          </a:xfrm>
          <a:prstGeom prst="curvedConnector3">
            <a:avLst>
              <a:gd name="adj1" fmla="val 14400005"/>
            </a:avLst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16" name="AutoShape 29">
            <a:extLst>
              <a:ext uri="{FF2B5EF4-FFF2-40B4-BE49-F238E27FC236}">
                <a16:creationId xmlns:a16="http://schemas.microsoft.com/office/drawing/2014/main" id="{607DC4C4-5346-4901-B24C-4261B63A1955}"/>
              </a:ext>
            </a:extLst>
          </p:cNvPr>
          <p:cNvCxnSpPr>
            <a:cxnSpLocks noChangeShapeType="1"/>
            <a:stCxn id="106550" idx="4"/>
            <a:endCxn id="106548" idx="5"/>
          </p:cNvCxnSpPr>
          <p:nvPr/>
        </p:nvCxnSpPr>
        <p:spPr bwMode="auto">
          <a:xfrm rot="16200000" flipV="1">
            <a:off x="5092700" y="1830388"/>
            <a:ext cx="88900" cy="1003300"/>
          </a:xfrm>
          <a:prstGeom prst="curvedConnector3">
            <a:avLst>
              <a:gd name="adj1" fmla="val -119644"/>
            </a:avLst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17" name="AutoShape 30">
            <a:extLst>
              <a:ext uri="{FF2B5EF4-FFF2-40B4-BE49-F238E27FC236}">
                <a16:creationId xmlns:a16="http://schemas.microsoft.com/office/drawing/2014/main" id="{7FE39B8B-9C55-49B6-BD4D-6D1CFCC2D818}"/>
              </a:ext>
            </a:extLst>
          </p:cNvPr>
          <p:cNvCxnSpPr>
            <a:cxnSpLocks noChangeShapeType="1"/>
            <a:stCxn id="106548" idx="0"/>
            <a:endCxn id="106549" idx="1"/>
          </p:cNvCxnSpPr>
          <p:nvPr/>
        </p:nvCxnSpPr>
        <p:spPr bwMode="auto">
          <a:xfrm rot="-5400000" flipH="1" flipV="1">
            <a:off x="4152900" y="1804988"/>
            <a:ext cx="304800" cy="228600"/>
          </a:xfrm>
          <a:prstGeom prst="curvedConnector4">
            <a:avLst>
              <a:gd name="adj1" fmla="val -30213"/>
              <a:gd name="adj2" fmla="val 166667"/>
            </a:avLst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6518" name="AutoShape 31">
            <a:extLst>
              <a:ext uri="{FF2B5EF4-FFF2-40B4-BE49-F238E27FC236}">
                <a16:creationId xmlns:a16="http://schemas.microsoft.com/office/drawing/2014/main" id="{DE2DC372-DEE1-42D8-BEA6-083499205DAE}"/>
              </a:ext>
            </a:extLst>
          </p:cNvPr>
          <p:cNvCxnSpPr>
            <a:cxnSpLocks noChangeShapeType="1"/>
            <a:stCxn id="106554" idx="0"/>
            <a:endCxn id="106552" idx="0"/>
          </p:cNvCxnSpPr>
          <p:nvPr/>
        </p:nvCxnSpPr>
        <p:spPr bwMode="auto">
          <a:xfrm rot="-5400000" flipH="1" flipV="1">
            <a:off x="5028406" y="-61118"/>
            <a:ext cx="1587" cy="3657600"/>
          </a:xfrm>
          <a:prstGeom prst="curvedConnector3">
            <a:avLst>
              <a:gd name="adj1" fmla="val -14400005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6519" name="Text Box 32">
            <a:extLst>
              <a:ext uri="{FF2B5EF4-FFF2-40B4-BE49-F238E27FC236}">
                <a16:creationId xmlns:a16="http://schemas.microsoft.com/office/drawing/2014/main" id="{8168DED3-DD58-4E61-B0BF-3FB98199D9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447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sp>
        <p:nvSpPr>
          <p:cNvPr id="106520" name="Text Box 33">
            <a:extLst>
              <a:ext uri="{FF2B5EF4-FFF2-40B4-BE49-F238E27FC236}">
                <a16:creationId xmlns:a16="http://schemas.microsoft.com/office/drawing/2014/main" id="{3835A1E8-ED04-4908-939C-8452521E13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157288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06521" name="Text Box 34">
            <a:extLst>
              <a:ext uri="{FF2B5EF4-FFF2-40B4-BE49-F238E27FC236}">
                <a16:creationId xmlns:a16="http://schemas.microsoft.com/office/drawing/2014/main" id="{929A07EC-BD76-446B-AD89-83DB1DD564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0574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sp>
        <p:nvSpPr>
          <p:cNvPr id="106522" name="Text Box 35">
            <a:extLst>
              <a:ext uri="{FF2B5EF4-FFF2-40B4-BE49-F238E27FC236}">
                <a16:creationId xmlns:a16="http://schemas.microsoft.com/office/drawing/2014/main" id="{DDB6CB8D-4ED3-47AA-9B28-AC96EFB52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5146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grpSp>
        <p:nvGrpSpPr>
          <p:cNvPr id="106523" name="Group 37">
            <a:extLst>
              <a:ext uri="{FF2B5EF4-FFF2-40B4-BE49-F238E27FC236}">
                <a16:creationId xmlns:a16="http://schemas.microsoft.com/office/drawing/2014/main" id="{2C0F722C-E125-4848-AE81-7EC8D9F09040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4114800"/>
            <a:ext cx="609600" cy="609600"/>
            <a:chOff x="2496" y="2688"/>
            <a:chExt cx="384" cy="384"/>
          </a:xfrm>
        </p:grpSpPr>
        <p:sp>
          <p:nvSpPr>
            <p:cNvPr id="106546" name="Oval 38">
              <a:extLst>
                <a:ext uri="{FF2B5EF4-FFF2-40B4-BE49-F238E27FC236}">
                  <a16:creationId xmlns:a16="http://schemas.microsoft.com/office/drawing/2014/main" id="{F8EA7E04-25EE-47D0-A233-677765F95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688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6547" name="Oval 39">
              <a:extLst>
                <a:ext uri="{FF2B5EF4-FFF2-40B4-BE49-F238E27FC236}">
                  <a16:creationId xmlns:a16="http://schemas.microsoft.com/office/drawing/2014/main" id="{C9698022-FF46-4618-AC79-FA83162DF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273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06524" name="Line 40">
            <a:extLst>
              <a:ext uri="{FF2B5EF4-FFF2-40B4-BE49-F238E27FC236}">
                <a16:creationId xmlns:a16="http://schemas.microsoft.com/office/drawing/2014/main" id="{ABE6C50A-276F-4DAB-A624-78717DA552C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44196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25" name="Line 41">
            <a:extLst>
              <a:ext uri="{FF2B5EF4-FFF2-40B4-BE49-F238E27FC236}">
                <a16:creationId xmlns:a16="http://schemas.microsoft.com/office/drawing/2014/main" id="{9D4CD216-28FD-4666-92E9-31081F7887D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05200" y="44196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26" name="Line 42">
            <a:extLst>
              <a:ext uri="{FF2B5EF4-FFF2-40B4-BE49-F238E27FC236}">
                <a16:creationId xmlns:a16="http://schemas.microsoft.com/office/drawing/2014/main" id="{D48B70C5-3DB8-45A5-9165-AF986131226F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44196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27" name="Text Box 43">
            <a:extLst>
              <a:ext uri="{FF2B5EF4-FFF2-40B4-BE49-F238E27FC236}">
                <a16:creationId xmlns:a16="http://schemas.microsoft.com/office/drawing/2014/main" id="{7AB02E0B-F8C7-4D96-BA02-6CE385E0B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4024313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grpSp>
        <p:nvGrpSpPr>
          <p:cNvPr id="106528" name="Group 44">
            <a:extLst>
              <a:ext uri="{FF2B5EF4-FFF2-40B4-BE49-F238E27FC236}">
                <a16:creationId xmlns:a16="http://schemas.microsoft.com/office/drawing/2014/main" id="{95CD097A-7369-4021-8470-ECDACDE54B36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114800"/>
            <a:ext cx="609600" cy="609600"/>
            <a:chOff x="2736" y="1200"/>
            <a:chExt cx="384" cy="384"/>
          </a:xfrm>
        </p:grpSpPr>
        <p:sp>
          <p:nvSpPr>
            <p:cNvPr id="106544" name="Oval 45">
              <a:extLst>
                <a:ext uri="{FF2B5EF4-FFF2-40B4-BE49-F238E27FC236}">
                  <a16:creationId xmlns:a16="http://schemas.microsoft.com/office/drawing/2014/main" id="{A658FA4C-6DE5-4809-8BE3-12808D3AE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6545" name="Text Box 46">
              <a:extLst>
                <a:ext uri="{FF2B5EF4-FFF2-40B4-BE49-F238E27FC236}">
                  <a16:creationId xmlns:a16="http://schemas.microsoft.com/office/drawing/2014/main" id="{DA4718CF-FCB9-4DAA-836A-29FDF7FC0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0</a:t>
              </a:r>
            </a:p>
          </p:txBody>
        </p:sp>
      </p:grpSp>
      <p:sp>
        <p:nvSpPr>
          <p:cNvPr id="106529" name="Text Box 47">
            <a:extLst>
              <a:ext uri="{FF2B5EF4-FFF2-40B4-BE49-F238E27FC236}">
                <a16:creationId xmlns:a16="http://schemas.microsoft.com/office/drawing/2014/main" id="{7D0BEF81-9B1C-4855-9312-10A032E35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4191000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</a:p>
        </p:txBody>
      </p:sp>
      <p:sp>
        <p:nvSpPr>
          <p:cNvPr id="106530" name="Text Box 48">
            <a:extLst>
              <a:ext uri="{FF2B5EF4-FFF2-40B4-BE49-F238E27FC236}">
                <a16:creationId xmlns:a16="http://schemas.microsoft.com/office/drawing/2014/main" id="{0558CA52-3C86-468F-B81C-10A25A5652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0" y="4024313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06531" name="Line 49">
            <a:extLst>
              <a:ext uri="{FF2B5EF4-FFF2-40B4-BE49-F238E27FC236}">
                <a16:creationId xmlns:a16="http://schemas.microsoft.com/office/drawing/2014/main" id="{D74A1A11-1887-49C6-B29C-B45FB0D544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44196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6532" name="Group 50">
            <a:extLst>
              <a:ext uri="{FF2B5EF4-FFF2-40B4-BE49-F238E27FC236}">
                <a16:creationId xmlns:a16="http://schemas.microsoft.com/office/drawing/2014/main" id="{E8BD4F56-9D3E-46A2-9DF8-C448364D77A9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4114800"/>
            <a:ext cx="609600" cy="609600"/>
            <a:chOff x="2736" y="1200"/>
            <a:chExt cx="384" cy="384"/>
          </a:xfrm>
        </p:grpSpPr>
        <p:sp>
          <p:nvSpPr>
            <p:cNvPr id="106542" name="Oval 51">
              <a:extLst>
                <a:ext uri="{FF2B5EF4-FFF2-40B4-BE49-F238E27FC236}">
                  <a16:creationId xmlns:a16="http://schemas.microsoft.com/office/drawing/2014/main" id="{F906B1BF-83AC-46F8-9819-688D17B7C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6543" name="Text Box 52">
              <a:extLst>
                <a:ext uri="{FF2B5EF4-FFF2-40B4-BE49-F238E27FC236}">
                  <a16:creationId xmlns:a16="http://schemas.microsoft.com/office/drawing/2014/main" id="{4AE962E1-1114-4ED7-9D61-6A86D0538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2</a:t>
              </a:r>
            </a:p>
          </p:txBody>
        </p:sp>
      </p:grpSp>
      <p:grpSp>
        <p:nvGrpSpPr>
          <p:cNvPr id="106533" name="Group 53">
            <a:extLst>
              <a:ext uri="{FF2B5EF4-FFF2-40B4-BE49-F238E27FC236}">
                <a16:creationId xmlns:a16="http://schemas.microsoft.com/office/drawing/2014/main" id="{FCACF341-A703-4F89-B5C1-CD3C891683D6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4114800"/>
            <a:ext cx="609600" cy="609600"/>
            <a:chOff x="2736" y="1200"/>
            <a:chExt cx="384" cy="384"/>
          </a:xfrm>
        </p:grpSpPr>
        <p:sp>
          <p:nvSpPr>
            <p:cNvPr id="106540" name="Oval 54">
              <a:extLst>
                <a:ext uri="{FF2B5EF4-FFF2-40B4-BE49-F238E27FC236}">
                  <a16:creationId xmlns:a16="http://schemas.microsoft.com/office/drawing/2014/main" id="{D042E140-D0AF-453E-BA9D-3D33E9383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6541" name="Text Box 55">
              <a:extLst>
                <a:ext uri="{FF2B5EF4-FFF2-40B4-BE49-F238E27FC236}">
                  <a16:creationId xmlns:a16="http://schemas.microsoft.com/office/drawing/2014/main" id="{57FD8F6C-9344-4CB9-A2EF-6D42C62D6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24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</a:t>
              </a:r>
            </a:p>
          </p:txBody>
        </p:sp>
      </p:grpSp>
      <p:sp>
        <p:nvSpPr>
          <p:cNvPr id="106534" name="Text Box 56">
            <a:extLst>
              <a:ext uri="{FF2B5EF4-FFF2-40B4-BE49-F238E27FC236}">
                <a16:creationId xmlns:a16="http://schemas.microsoft.com/office/drawing/2014/main" id="{A6CAA397-004D-4B0D-B29E-19B623AB97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024313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06535" name="Text Box 57">
            <a:extLst>
              <a:ext uri="{FF2B5EF4-FFF2-40B4-BE49-F238E27FC236}">
                <a16:creationId xmlns:a16="http://schemas.microsoft.com/office/drawing/2014/main" id="{C574D646-2FB3-43E9-8EE7-B1B5190A8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024313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cxnSp>
        <p:nvCxnSpPr>
          <p:cNvPr id="106536" name="AutoShape 58">
            <a:extLst>
              <a:ext uri="{FF2B5EF4-FFF2-40B4-BE49-F238E27FC236}">
                <a16:creationId xmlns:a16="http://schemas.microsoft.com/office/drawing/2014/main" id="{3A720DED-B165-4059-A8A3-4E04F567192A}"/>
              </a:ext>
            </a:extLst>
          </p:cNvPr>
          <p:cNvCxnSpPr>
            <a:cxnSpLocks noChangeShapeType="1"/>
            <a:stCxn id="106544" idx="7"/>
            <a:endCxn id="106544" idx="0"/>
          </p:cNvCxnSpPr>
          <p:nvPr/>
        </p:nvCxnSpPr>
        <p:spPr bwMode="auto">
          <a:xfrm rot="5400000" flipH="1">
            <a:off x="3263900" y="4051300"/>
            <a:ext cx="88900" cy="215900"/>
          </a:xfrm>
          <a:prstGeom prst="curvedConnector3">
            <a:avLst>
              <a:gd name="adj1" fmla="val 357144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6537" name="Text Box 59">
            <a:extLst>
              <a:ext uri="{FF2B5EF4-FFF2-40B4-BE49-F238E27FC236}">
                <a16:creationId xmlns:a16="http://schemas.microsoft.com/office/drawing/2014/main" id="{72C59070-27AA-4296-9BA4-CBB489D26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6576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cxnSp>
        <p:nvCxnSpPr>
          <p:cNvPr id="106538" name="AutoShape 60">
            <a:extLst>
              <a:ext uri="{FF2B5EF4-FFF2-40B4-BE49-F238E27FC236}">
                <a16:creationId xmlns:a16="http://schemas.microsoft.com/office/drawing/2014/main" id="{D356578D-0AD8-46AA-B087-1979CD03F93B}"/>
              </a:ext>
            </a:extLst>
          </p:cNvPr>
          <p:cNvCxnSpPr>
            <a:cxnSpLocks noChangeShapeType="1"/>
            <a:stCxn id="106544" idx="3"/>
            <a:endCxn id="106544" idx="4"/>
          </p:cNvCxnSpPr>
          <p:nvPr/>
        </p:nvCxnSpPr>
        <p:spPr bwMode="auto">
          <a:xfrm rot="16200000" flipH="1">
            <a:off x="3048000" y="4572000"/>
            <a:ext cx="88900" cy="215900"/>
          </a:xfrm>
          <a:prstGeom prst="curvedConnector3">
            <a:avLst>
              <a:gd name="adj1" fmla="val 357144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6539" name="Text Box 61">
            <a:extLst>
              <a:ext uri="{FF2B5EF4-FFF2-40B4-BE49-F238E27FC236}">
                <a16:creationId xmlns:a16="http://schemas.microsoft.com/office/drawing/2014/main" id="{300C09CE-3EE1-49DA-A29A-E6DFBC179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487680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5410628B-82DB-4ED6-9BD8-13E11D8010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设计自动机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54D59216-BFFB-4D00-A5CE-8FAE4B02AB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一种思路：自动机运转观点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先画初态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状态的变化（画出边及指向状态）</a:t>
            </a:r>
            <a:r>
              <a:rPr lang="en-US" altLang="zh-CN" sz="2400" dirty="0"/>
              <a:t>——</a:t>
            </a:r>
            <a:r>
              <a:rPr lang="zh-CN" altLang="en-US" sz="2400" dirty="0"/>
              <a:t>对应符号拼接（边上符号）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符号串变化（当前状态</a:t>
            </a:r>
            <a:r>
              <a:rPr lang="en-US" altLang="zh-CN" sz="2400" dirty="0">
                <a:sym typeface="Wingdings" pitchFamily="2" charset="2"/>
              </a:rPr>
              <a:t></a:t>
            </a:r>
            <a:r>
              <a:rPr lang="zh-CN" altLang="en-US" sz="2400" dirty="0">
                <a:sym typeface="Wingdings" pitchFamily="2" charset="2"/>
              </a:rPr>
              <a:t>下一状态</a:t>
            </a:r>
            <a:r>
              <a:rPr lang="zh-CN" altLang="en-US" sz="2400" dirty="0"/>
              <a:t>）</a:t>
            </a:r>
          </a:p>
          <a:p>
            <a:pPr eaLnBrk="1" hangingPunct="1"/>
            <a:r>
              <a:rPr lang="zh-CN" altLang="en-US" sz="2800" dirty="0"/>
              <a:t>不包含子串</a:t>
            </a:r>
            <a:r>
              <a:rPr lang="en-US" altLang="zh-CN" sz="2800" dirty="0"/>
              <a:t>011</a:t>
            </a:r>
            <a:r>
              <a:rPr lang="zh-CN" altLang="en-US" sz="2800" dirty="0"/>
              <a:t>的</a:t>
            </a:r>
            <a:r>
              <a:rPr lang="en-US" altLang="zh-CN" sz="2800" dirty="0"/>
              <a:t>0</a:t>
            </a:r>
            <a:r>
              <a:rPr lang="zh-CN" altLang="en-US" sz="2800" dirty="0"/>
              <a:t>、</a:t>
            </a:r>
            <a:r>
              <a:rPr lang="en-US" altLang="zh-CN" sz="2800" dirty="0"/>
              <a:t>1</a:t>
            </a:r>
            <a:r>
              <a:rPr lang="zh-CN" altLang="en-US" sz="2800" dirty="0"/>
              <a:t>串</a:t>
            </a:r>
          </a:p>
        </p:txBody>
      </p:sp>
      <p:grpSp>
        <p:nvGrpSpPr>
          <p:cNvPr id="2" name="Group 95">
            <a:extLst>
              <a:ext uri="{FF2B5EF4-FFF2-40B4-BE49-F238E27FC236}">
                <a16:creationId xmlns:a16="http://schemas.microsoft.com/office/drawing/2014/main" id="{57D29909-A8F6-4BC4-A823-E9E94C01EC66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4412481"/>
            <a:ext cx="1968500" cy="1031875"/>
            <a:chOff x="68" y="2310"/>
            <a:chExt cx="1240" cy="650"/>
          </a:xfrm>
        </p:grpSpPr>
        <p:sp>
          <p:nvSpPr>
            <p:cNvPr id="107549" name="Line 45">
              <a:extLst>
                <a:ext uri="{FF2B5EF4-FFF2-40B4-BE49-F238E27FC236}">
                  <a16:creationId xmlns:a16="http://schemas.microsoft.com/office/drawing/2014/main" id="{66332EFA-2E2F-44DB-914A-B4AE1F0E9E91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113" y="2615"/>
              <a:ext cx="545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50" name="AutoShape 7">
              <a:extLst>
                <a:ext uri="{FF2B5EF4-FFF2-40B4-BE49-F238E27FC236}">
                  <a16:creationId xmlns:a16="http://schemas.microsoft.com/office/drawing/2014/main" id="{0B1B76B9-0C85-4316-B31D-DC56017D0CB1}"/>
                </a:ext>
              </a:extLst>
            </p:cNvPr>
            <p:cNvSpPr>
              <a:spLocks noChangeAspect="1" noChangeArrowheads="1"/>
            </p:cNvSpPr>
            <p:nvPr/>
          </p:nvSpPr>
          <p:spPr bwMode="ltGray">
            <a:xfrm>
              <a:off x="658" y="2310"/>
              <a:ext cx="650" cy="65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7 w 21600"/>
                <a:gd name="T25" fmla="*/ 3157 h 21600"/>
                <a:gd name="T26" fmla="*/ 18443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226" y="10800"/>
                  </a:moveTo>
                  <a:cubicBezTo>
                    <a:pt x="2226" y="15535"/>
                    <a:pt x="6065" y="19374"/>
                    <a:pt x="10800" y="19374"/>
                  </a:cubicBezTo>
                  <a:cubicBezTo>
                    <a:pt x="15535" y="19374"/>
                    <a:pt x="19374" y="15535"/>
                    <a:pt x="19374" y="10800"/>
                  </a:cubicBezTo>
                  <a:cubicBezTo>
                    <a:pt x="19374" y="6065"/>
                    <a:pt x="15535" y="2226"/>
                    <a:pt x="10800" y="2226"/>
                  </a:cubicBezTo>
                  <a:cubicBezTo>
                    <a:pt x="6065" y="2226"/>
                    <a:pt x="2226" y="6065"/>
                    <a:pt x="2226" y="10800"/>
                  </a:cubicBezTo>
                  <a:close/>
                </a:path>
              </a:pathLst>
            </a:cu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no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107551" name="Text Box 46">
              <a:extLst>
                <a:ext uri="{FF2B5EF4-FFF2-40B4-BE49-F238E27FC236}">
                  <a16:creationId xmlns:a16="http://schemas.microsoft.com/office/drawing/2014/main" id="{53DF49AE-79D3-4082-BAFE-0A67C15CDB78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68" y="2343"/>
              <a:ext cx="5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start</a:t>
              </a:r>
            </a:p>
          </p:txBody>
        </p:sp>
      </p:grpSp>
      <p:grpSp>
        <p:nvGrpSpPr>
          <p:cNvPr id="3" name="Group 87">
            <a:extLst>
              <a:ext uri="{FF2B5EF4-FFF2-40B4-BE49-F238E27FC236}">
                <a16:creationId xmlns:a16="http://schemas.microsoft.com/office/drawing/2014/main" id="{E667D74D-0F3F-4922-86C7-A498E627CD32}"/>
              </a:ext>
            </a:extLst>
          </p:cNvPr>
          <p:cNvGrpSpPr>
            <a:grpSpLocks/>
          </p:cNvGrpSpPr>
          <p:nvPr/>
        </p:nvGrpSpPr>
        <p:grpSpPr bwMode="auto">
          <a:xfrm>
            <a:off x="1177925" y="5372919"/>
            <a:ext cx="631825" cy="962025"/>
            <a:chOff x="742" y="2915"/>
            <a:chExt cx="398" cy="606"/>
          </a:xfrm>
        </p:grpSpPr>
        <p:sp>
          <p:nvSpPr>
            <p:cNvPr id="107547" name="Freeform 69">
              <a:extLst>
                <a:ext uri="{FF2B5EF4-FFF2-40B4-BE49-F238E27FC236}">
                  <a16:creationId xmlns:a16="http://schemas.microsoft.com/office/drawing/2014/main" id="{788D0DEF-D662-4EA1-8921-2EFADAD5AB3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742" y="2915"/>
              <a:ext cx="398" cy="336"/>
            </a:xfrm>
            <a:custGeom>
              <a:avLst/>
              <a:gdLst>
                <a:gd name="T0" fmla="*/ 347 w 398"/>
                <a:gd name="T1" fmla="*/ 40 h 336"/>
                <a:gd name="T2" fmla="*/ 391 w 398"/>
                <a:gd name="T3" fmla="*/ 137 h 336"/>
                <a:gd name="T4" fmla="*/ 373 w 398"/>
                <a:gd name="T5" fmla="*/ 261 h 336"/>
                <a:gd name="T6" fmla="*/ 241 w 398"/>
                <a:gd name="T7" fmla="*/ 332 h 336"/>
                <a:gd name="T8" fmla="*/ 63 w 398"/>
                <a:gd name="T9" fmla="*/ 288 h 336"/>
                <a:gd name="T10" fmla="*/ 10 w 398"/>
                <a:gd name="T11" fmla="*/ 146 h 336"/>
                <a:gd name="T12" fmla="*/ 122 w 398"/>
                <a:gd name="T13" fmla="*/ 0 h 3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8"/>
                <a:gd name="T22" fmla="*/ 0 h 336"/>
                <a:gd name="T23" fmla="*/ 398 w 398"/>
                <a:gd name="T24" fmla="*/ 336 h 3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8" h="336">
                  <a:moveTo>
                    <a:pt x="347" y="40"/>
                  </a:moveTo>
                  <a:cubicBezTo>
                    <a:pt x="354" y="56"/>
                    <a:pt x="387" y="100"/>
                    <a:pt x="391" y="137"/>
                  </a:cubicBezTo>
                  <a:cubicBezTo>
                    <a:pt x="395" y="174"/>
                    <a:pt x="398" y="229"/>
                    <a:pt x="373" y="261"/>
                  </a:cubicBezTo>
                  <a:cubicBezTo>
                    <a:pt x="348" y="293"/>
                    <a:pt x="293" y="328"/>
                    <a:pt x="241" y="332"/>
                  </a:cubicBezTo>
                  <a:cubicBezTo>
                    <a:pt x="189" y="336"/>
                    <a:pt x="101" y="319"/>
                    <a:pt x="63" y="288"/>
                  </a:cubicBezTo>
                  <a:cubicBezTo>
                    <a:pt x="25" y="257"/>
                    <a:pt x="0" y="194"/>
                    <a:pt x="10" y="146"/>
                  </a:cubicBezTo>
                  <a:cubicBezTo>
                    <a:pt x="20" y="98"/>
                    <a:pt x="99" y="30"/>
                    <a:pt x="122" y="0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48" name="Text Box 70">
              <a:extLst>
                <a:ext uri="{FF2B5EF4-FFF2-40B4-BE49-F238E27FC236}">
                  <a16:creationId xmlns:a16="http://schemas.microsoft.com/office/drawing/2014/main" id="{709E8500-1DE0-499C-85F8-C099870FAC56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748" y="3233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4" name="Group 89">
            <a:extLst>
              <a:ext uri="{FF2B5EF4-FFF2-40B4-BE49-F238E27FC236}">
                <a16:creationId xmlns:a16="http://schemas.microsoft.com/office/drawing/2014/main" id="{4E18A794-51A5-42CC-9471-D5FCE1DA565F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5372919"/>
            <a:ext cx="631825" cy="962025"/>
            <a:chOff x="2064" y="2915"/>
            <a:chExt cx="398" cy="606"/>
          </a:xfrm>
        </p:grpSpPr>
        <p:sp>
          <p:nvSpPr>
            <p:cNvPr id="107545" name="Freeform 79">
              <a:extLst>
                <a:ext uri="{FF2B5EF4-FFF2-40B4-BE49-F238E27FC236}">
                  <a16:creationId xmlns:a16="http://schemas.microsoft.com/office/drawing/2014/main" id="{5DE30A43-0D80-4A5B-93D1-71D15A5994F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064" y="2915"/>
              <a:ext cx="398" cy="336"/>
            </a:xfrm>
            <a:custGeom>
              <a:avLst/>
              <a:gdLst>
                <a:gd name="T0" fmla="*/ 347 w 398"/>
                <a:gd name="T1" fmla="*/ 40 h 336"/>
                <a:gd name="T2" fmla="*/ 391 w 398"/>
                <a:gd name="T3" fmla="*/ 137 h 336"/>
                <a:gd name="T4" fmla="*/ 373 w 398"/>
                <a:gd name="T5" fmla="*/ 261 h 336"/>
                <a:gd name="T6" fmla="*/ 241 w 398"/>
                <a:gd name="T7" fmla="*/ 332 h 336"/>
                <a:gd name="T8" fmla="*/ 63 w 398"/>
                <a:gd name="T9" fmla="*/ 288 h 336"/>
                <a:gd name="T10" fmla="*/ 10 w 398"/>
                <a:gd name="T11" fmla="*/ 146 h 336"/>
                <a:gd name="T12" fmla="*/ 122 w 398"/>
                <a:gd name="T13" fmla="*/ 0 h 3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8"/>
                <a:gd name="T22" fmla="*/ 0 h 336"/>
                <a:gd name="T23" fmla="*/ 398 w 398"/>
                <a:gd name="T24" fmla="*/ 336 h 3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8" h="336">
                  <a:moveTo>
                    <a:pt x="347" y="40"/>
                  </a:moveTo>
                  <a:cubicBezTo>
                    <a:pt x="354" y="56"/>
                    <a:pt x="387" y="100"/>
                    <a:pt x="391" y="137"/>
                  </a:cubicBezTo>
                  <a:cubicBezTo>
                    <a:pt x="395" y="174"/>
                    <a:pt x="398" y="229"/>
                    <a:pt x="373" y="261"/>
                  </a:cubicBezTo>
                  <a:cubicBezTo>
                    <a:pt x="348" y="293"/>
                    <a:pt x="293" y="328"/>
                    <a:pt x="241" y="332"/>
                  </a:cubicBezTo>
                  <a:cubicBezTo>
                    <a:pt x="189" y="336"/>
                    <a:pt x="101" y="319"/>
                    <a:pt x="63" y="288"/>
                  </a:cubicBezTo>
                  <a:cubicBezTo>
                    <a:pt x="25" y="257"/>
                    <a:pt x="0" y="194"/>
                    <a:pt x="10" y="146"/>
                  </a:cubicBezTo>
                  <a:cubicBezTo>
                    <a:pt x="20" y="98"/>
                    <a:pt x="99" y="30"/>
                    <a:pt x="122" y="0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46" name="Text Box 80">
              <a:extLst>
                <a:ext uri="{FF2B5EF4-FFF2-40B4-BE49-F238E27FC236}">
                  <a16:creationId xmlns:a16="http://schemas.microsoft.com/office/drawing/2014/main" id="{5B828457-6965-48B2-941C-D621AC41E4CE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2070" y="3233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grpSp>
        <p:nvGrpSpPr>
          <p:cNvPr id="5" name="Group 93">
            <a:extLst>
              <a:ext uri="{FF2B5EF4-FFF2-40B4-BE49-F238E27FC236}">
                <a16:creationId xmlns:a16="http://schemas.microsoft.com/office/drawing/2014/main" id="{0549A960-302F-473C-BE14-6F0C7C4221DB}"/>
              </a:ext>
            </a:extLst>
          </p:cNvPr>
          <p:cNvGrpSpPr>
            <a:grpSpLocks/>
          </p:cNvGrpSpPr>
          <p:nvPr/>
        </p:nvGrpSpPr>
        <p:grpSpPr bwMode="auto">
          <a:xfrm>
            <a:off x="4030663" y="5176069"/>
            <a:ext cx="1276350" cy="798512"/>
            <a:chOff x="2539" y="2791"/>
            <a:chExt cx="804" cy="503"/>
          </a:xfrm>
        </p:grpSpPr>
        <p:sp>
          <p:nvSpPr>
            <p:cNvPr id="107543" name="Freeform 76">
              <a:extLst>
                <a:ext uri="{FF2B5EF4-FFF2-40B4-BE49-F238E27FC236}">
                  <a16:creationId xmlns:a16="http://schemas.microsoft.com/office/drawing/2014/main" id="{B2E848D0-4AB2-42FF-9B25-44F9C196406C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539" y="2791"/>
              <a:ext cx="804" cy="182"/>
            </a:xfrm>
            <a:custGeom>
              <a:avLst/>
              <a:gdLst>
                <a:gd name="T0" fmla="*/ 804 w 804"/>
                <a:gd name="T1" fmla="*/ 0 h 182"/>
                <a:gd name="T2" fmla="*/ 528 w 804"/>
                <a:gd name="T3" fmla="*/ 156 h 182"/>
                <a:gd name="T4" fmla="*/ 240 w 804"/>
                <a:gd name="T5" fmla="*/ 156 h 182"/>
                <a:gd name="T6" fmla="*/ 0 w 804"/>
                <a:gd name="T7" fmla="*/ 12 h 1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04"/>
                <a:gd name="T13" fmla="*/ 0 h 182"/>
                <a:gd name="T14" fmla="*/ 804 w 804"/>
                <a:gd name="T15" fmla="*/ 182 h 1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04" h="182">
                  <a:moveTo>
                    <a:pt x="804" y="0"/>
                  </a:moveTo>
                  <a:cubicBezTo>
                    <a:pt x="758" y="26"/>
                    <a:pt x="622" y="130"/>
                    <a:pt x="528" y="156"/>
                  </a:cubicBezTo>
                  <a:cubicBezTo>
                    <a:pt x="434" y="182"/>
                    <a:pt x="328" y="180"/>
                    <a:pt x="240" y="156"/>
                  </a:cubicBezTo>
                  <a:cubicBezTo>
                    <a:pt x="152" y="132"/>
                    <a:pt x="50" y="42"/>
                    <a:pt x="0" y="12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44" name="Text Box 81">
              <a:extLst>
                <a:ext uri="{FF2B5EF4-FFF2-40B4-BE49-F238E27FC236}">
                  <a16:creationId xmlns:a16="http://schemas.microsoft.com/office/drawing/2014/main" id="{4306101D-51FB-41AE-A5D6-908C5F680E25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2744" y="300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grpSp>
        <p:nvGrpSpPr>
          <p:cNvPr id="6" name="Group 91">
            <a:extLst>
              <a:ext uri="{FF2B5EF4-FFF2-40B4-BE49-F238E27FC236}">
                <a16:creationId xmlns:a16="http://schemas.microsoft.com/office/drawing/2014/main" id="{6EC51918-CAA9-4C1C-85AF-83B023751FAD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3933056"/>
            <a:ext cx="2252662" cy="1508125"/>
            <a:chOff x="3833" y="2008"/>
            <a:chExt cx="1419" cy="950"/>
          </a:xfrm>
        </p:grpSpPr>
        <p:sp>
          <p:nvSpPr>
            <p:cNvPr id="107540" name="Oval 33">
              <a:extLst>
                <a:ext uri="{FF2B5EF4-FFF2-40B4-BE49-F238E27FC236}">
                  <a16:creationId xmlns:a16="http://schemas.microsoft.com/office/drawing/2014/main" id="{840BFB7F-4CFF-489F-A771-01ED949D78C9}"/>
                </a:ext>
              </a:extLst>
            </p:cNvPr>
            <p:cNvSpPr>
              <a:spLocks noChangeAspect="1" noChangeArrowheads="1"/>
            </p:cNvSpPr>
            <p:nvPr/>
          </p:nvSpPr>
          <p:spPr bwMode="ltGray">
            <a:xfrm>
              <a:off x="4604" y="2310"/>
              <a:ext cx="648" cy="648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011</a:t>
              </a:r>
            </a:p>
          </p:txBody>
        </p:sp>
        <p:sp>
          <p:nvSpPr>
            <p:cNvPr id="107541" name="Freeform 77">
              <a:extLst>
                <a:ext uri="{FF2B5EF4-FFF2-40B4-BE49-F238E27FC236}">
                  <a16:creationId xmlns:a16="http://schemas.microsoft.com/office/drawing/2014/main" id="{D19A76C1-A5F5-4F7C-B963-88E769DAA8D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833" y="2235"/>
              <a:ext cx="874" cy="196"/>
            </a:xfrm>
            <a:custGeom>
              <a:avLst/>
              <a:gdLst>
                <a:gd name="T0" fmla="*/ 0 w 874"/>
                <a:gd name="T1" fmla="*/ 165 h 196"/>
                <a:gd name="T2" fmla="*/ 227 w 874"/>
                <a:gd name="T3" fmla="*/ 29 h 196"/>
                <a:gd name="T4" fmla="*/ 586 w 874"/>
                <a:gd name="T5" fmla="*/ 28 h 196"/>
                <a:gd name="T6" fmla="*/ 874 w 874"/>
                <a:gd name="T7" fmla="*/ 196 h 1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4"/>
                <a:gd name="T13" fmla="*/ 0 h 196"/>
                <a:gd name="T14" fmla="*/ 874 w 874"/>
                <a:gd name="T15" fmla="*/ 196 h 1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4" h="196">
                  <a:moveTo>
                    <a:pt x="0" y="165"/>
                  </a:moveTo>
                  <a:cubicBezTo>
                    <a:pt x="57" y="108"/>
                    <a:pt x="129" y="52"/>
                    <a:pt x="227" y="29"/>
                  </a:cubicBezTo>
                  <a:cubicBezTo>
                    <a:pt x="325" y="6"/>
                    <a:pt x="478" y="0"/>
                    <a:pt x="586" y="28"/>
                  </a:cubicBezTo>
                  <a:cubicBezTo>
                    <a:pt x="694" y="56"/>
                    <a:pt x="814" y="161"/>
                    <a:pt x="874" y="196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42" name="Text Box 83">
              <a:extLst>
                <a:ext uri="{FF2B5EF4-FFF2-40B4-BE49-F238E27FC236}">
                  <a16:creationId xmlns:a16="http://schemas.microsoft.com/office/drawing/2014/main" id="{BEE91368-9E15-407C-9B4A-49440B59D6C9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4105" y="20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7" name="Group 92">
            <a:extLst>
              <a:ext uri="{FF2B5EF4-FFF2-40B4-BE49-F238E27FC236}">
                <a16:creationId xmlns:a16="http://schemas.microsoft.com/office/drawing/2014/main" id="{314F82A3-ACA7-48A4-B6BB-7C12F0BF71AD}"/>
              </a:ext>
            </a:extLst>
          </p:cNvPr>
          <p:cNvGrpSpPr>
            <a:grpSpLocks/>
          </p:cNvGrpSpPr>
          <p:nvPr/>
        </p:nvGrpSpPr>
        <p:grpSpPr bwMode="auto">
          <a:xfrm>
            <a:off x="7451725" y="5372919"/>
            <a:ext cx="649288" cy="962025"/>
            <a:chOff x="4694" y="2915"/>
            <a:chExt cx="409" cy="606"/>
          </a:xfrm>
        </p:grpSpPr>
        <p:sp>
          <p:nvSpPr>
            <p:cNvPr id="107538" name="Freeform 84">
              <a:extLst>
                <a:ext uri="{FF2B5EF4-FFF2-40B4-BE49-F238E27FC236}">
                  <a16:creationId xmlns:a16="http://schemas.microsoft.com/office/drawing/2014/main" id="{BCACB023-8D5D-408A-9D5B-973E62677F7F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694" y="2915"/>
              <a:ext cx="398" cy="336"/>
            </a:xfrm>
            <a:custGeom>
              <a:avLst/>
              <a:gdLst>
                <a:gd name="T0" fmla="*/ 347 w 398"/>
                <a:gd name="T1" fmla="*/ 40 h 336"/>
                <a:gd name="T2" fmla="*/ 391 w 398"/>
                <a:gd name="T3" fmla="*/ 137 h 336"/>
                <a:gd name="T4" fmla="*/ 373 w 398"/>
                <a:gd name="T5" fmla="*/ 261 h 336"/>
                <a:gd name="T6" fmla="*/ 241 w 398"/>
                <a:gd name="T7" fmla="*/ 332 h 336"/>
                <a:gd name="T8" fmla="*/ 63 w 398"/>
                <a:gd name="T9" fmla="*/ 288 h 336"/>
                <a:gd name="T10" fmla="*/ 10 w 398"/>
                <a:gd name="T11" fmla="*/ 146 h 336"/>
                <a:gd name="T12" fmla="*/ 122 w 398"/>
                <a:gd name="T13" fmla="*/ 0 h 3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8"/>
                <a:gd name="T22" fmla="*/ 0 h 336"/>
                <a:gd name="T23" fmla="*/ 398 w 398"/>
                <a:gd name="T24" fmla="*/ 336 h 3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8" h="336">
                  <a:moveTo>
                    <a:pt x="347" y="40"/>
                  </a:moveTo>
                  <a:cubicBezTo>
                    <a:pt x="354" y="56"/>
                    <a:pt x="387" y="100"/>
                    <a:pt x="391" y="137"/>
                  </a:cubicBezTo>
                  <a:cubicBezTo>
                    <a:pt x="395" y="174"/>
                    <a:pt x="398" y="229"/>
                    <a:pt x="373" y="261"/>
                  </a:cubicBezTo>
                  <a:cubicBezTo>
                    <a:pt x="348" y="293"/>
                    <a:pt x="293" y="328"/>
                    <a:pt x="241" y="332"/>
                  </a:cubicBezTo>
                  <a:cubicBezTo>
                    <a:pt x="189" y="336"/>
                    <a:pt x="101" y="319"/>
                    <a:pt x="63" y="288"/>
                  </a:cubicBezTo>
                  <a:cubicBezTo>
                    <a:pt x="25" y="257"/>
                    <a:pt x="0" y="194"/>
                    <a:pt x="10" y="146"/>
                  </a:cubicBezTo>
                  <a:cubicBezTo>
                    <a:pt x="20" y="98"/>
                    <a:pt x="99" y="30"/>
                    <a:pt x="122" y="0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39" name="Text Box 85">
              <a:extLst>
                <a:ext uri="{FF2B5EF4-FFF2-40B4-BE49-F238E27FC236}">
                  <a16:creationId xmlns:a16="http://schemas.microsoft.com/office/drawing/2014/main" id="{DC9B7E24-EA64-4168-AF1A-772D779D1E83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4700" y="3233"/>
              <a:ext cx="4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0/1</a:t>
              </a:r>
            </a:p>
          </p:txBody>
        </p:sp>
      </p:grpSp>
      <p:sp>
        <p:nvSpPr>
          <p:cNvPr id="107535" name="Text Box 11">
            <a:extLst>
              <a:ext uri="{FF2B5EF4-FFF2-40B4-BE49-F238E27FC236}">
                <a16:creationId xmlns:a16="http://schemas.microsoft.com/office/drawing/2014/main" id="{B3D93544-B586-442F-AD9F-4926DA6443E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306638" y="3933056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0">
                <a:solidFill>
                  <a:schemeClr val="folHlink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07536" name="Freeform 73">
            <a:extLst>
              <a:ext uri="{FF2B5EF4-FFF2-40B4-BE49-F238E27FC236}">
                <a16:creationId xmlns:a16="http://schemas.microsoft.com/office/drawing/2014/main" id="{2D60FEE3-B250-40A3-889B-672DA5A94AE7}"/>
              </a:ext>
            </a:extLst>
          </p:cNvPr>
          <p:cNvSpPr>
            <a:spLocks/>
          </p:cNvSpPr>
          <p:nvPr/>
        </p:nvSpPr>
        <p:spPr bwMode="ltGray">
          <a:xfrm>
            <a:off x="1908175" y="4299769"/>
            <a:ext cx="1387475" cy="311150"/>
          </a:xfrm>
          <a:custGeom>
            <a:avLst/>
            <a:gdLst>
              <a:gd name="T0" fmla="*/ 0 w 874"/>
              <a:gd name="T1" fmla="*/ 165 h 196"/>
              <a:gd name="T2" fmla="*/ 227 w 874"/>
              <a:gd name="T3" fmla="*/ 29 h 196"/>
              <a:gd name="T4" fmla="*/ 586 w 874"/>
              <a:gd name="T5" fmla="*/ 28 h 196"/>
              <a:gd name="T6" fmla="*/ 874 w 874"/>
              <a:gd name="T7" fmla="*/ 196 h 196"/>
              <a:gd name="T8" fmla="*/ 0 60000 65536"/>
              <a:gd name="T9" fmla="*/ 0 60000 65536"/>
              <a:gd name="T10" fmla="*/ 0 60000 65536"/>
              <a:gd name="T11" fmla="*/ 0 60000 65536"/>
              <a:gd name="T12" fmla="*/ 0 w 874"/>
              <a:gd name="T13" fmla="*/ 0 h 196"/>
              <a:gd name="T14" fmla="*/ 874 w 874"/>
              <a:gd name="T15" fmla="*/ 196 h 19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74" h="196">
                <a:moveTo>
                  <a:pt x="0" y="165"/>
                </a:moveTo>
                <a:cubicBezTo>
                  <a:pt x="57" y="108"/>
                  <a:pt x="129" y="52"/>
                  <a:pt x="227" y="29"/>
                </a:cubicBezTo>
                <a:cubicBezTo>
                  <a:pt x="325" y="6"/>
                  <a:pt x="478" y="0"/>
                  <a:pt x="586" y="28"/>
                </a:cubicBezTo>
                <a:cubicBezTo>
                  <a:pt x="694" y="56"/>
                  <a:pt x="814" y="161"/>
                  <a:pt x="874" y="196"/>
                </a:cubicBezTo>
              </a:path>
            </a:pathLst>
          </a:custGeom>
          <a:noFill/>
          <a:ln w="25400" cap="flat" cmpd="sng">
            <a:solidFill>
              <a:schemeClr val="folHlink"/>
            </a:solidFill>
            <a:prstDash val="solid"/>
            <a:miter lim="800000"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7537" name="AutoShape 98">
            <a:extLst>
              <a:ext uri="{FF2B5EF4-FFF2-40B4-BE49-F238E27FC236}">
                <a16:creationId xmlns:a16="http://schemas.microsoft.com/office/drawing/2014/main" id="{E1952B43-8188-48E5-B5B4-BF3F3177D1BF}"/>
              </a:ext>
            </a:extLst>
          </p:cNvPr>
          <p:cNvSpPr>
            <a:spLocks noChangeAspect="1" noChangeArrowheads="1"/>
          </p:cNvSpPr>
          <p:nvPr/>
        </p:nvSpPr>
        <p:spPr bwMode="ltGray">
          <a:xfrm>
            <a:off x="3132138" y="4390256"/>
            <a:ext cx="1031875" cy="1031875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w 21600"/>
              <a:gd name="T9" fmla="*/ 0 h 21600"/>
              <a:gd name="T10" fmla="*/ 0 w 21600"/>
              <a:gd name="T11" fmla="*/ 0 h 21600"/>
              <a:gd name="T12" fmla="*/ 0 w 21600"/>
              <a:gd name="T13" fmla="*/ 0 h 21600"/>
              <a:gd name="T14" fmla="*/ 0 w 21600"/>
              <a:gd name="T15" fmla="*/ 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57 w 21600"/>
              <a:gd name="T25" fmla="*/ 3157 h 21600"/>
              <a:gd name="T26" fmla="*/ 18443 w 21600"/>
              <a:gd name="T27" fmla="*/ 18443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2226" y="10800"/>
                </a:moveTo>
                <a:cubicBezTo>
                  <a:pt x="2226" y="15535"/>
                  <a:pt x="6065" y="19374"/>
                  <a:pt x="10800" y="19374"/>
                </a:cubicBezTo>
                <a:cubicBezTo>
                  <a:pt x="15535" y="19374"/>
                  <a:pt x="19374" y="15535"/>
                  <a:pt x="19374" y="10800"/>
                </a:cubicBezTo>
                <a:cubicBezTo>
                  <a:pt x="19374" y="6065"/>
                  <a:pt x="15535" y="2226"/>
                  <a:pt x="10800" y="2226"/>
                </a:cubicBezTo>
                <a:cubicBezTo>
                  <a:pt x="6065" y="2226"/>
                  <a:pt x="2226" y="6065"/>
                  <a:pt x="2226" y="10800"/>
                </a:cubicBezTo>
                <a:close/>
              </a:path>
            </a:pathLst>
          </a:custGeom>
          <a:noFill/>
          <a:ln w="952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>
                <a:solidFill>
                  <a:schemeClr val="folHlink"/>
                </a:solidFill>
                <a:latin typeface="Tahoma" panose="020B0604030504040204" pitchFamily="34" charset="0"/>
              </a:rPr>
              <a:t>0</a:t>
            </a:r>
          </a:p>
        </p:txBody>
      </p:sp>
      <p:grpSp>
        <p:nvGrpSpPr>
          <p:cNvPr id="9" name="Group 102">
            <a:extLst>
              <a:ext uri="{FF2B5EF4-FFF2-40B4-BE49-F238E27FC236}">
                <a16:creationId xmlns:a16="http://schemas.microsoft.com/office/drawing/2014/main" id="{7D41D4F9-7A9D-495B-BCAD-428809B29FA0}"/>
              </a:ext>
            </a:extLst>
          </p:cNvPr>
          <p:cNvGrpSpPr>
            <a:grpSpLocks/>
          </p:cNvGrpSpPr>
          <p:nvPr/>
        </p:nvGrpSpPr>
        <p:grpSpPr bwMode="auto">
          <a:xfrm>
            <a:off x="3995738" y="3933056"/>
            <a:ext cx="2255837" cy="1489075"/>
            <a:chOff x="2517" y="2008"/>
            <a:chExt cx="1421" cy="938"/>
          </a:xfrm>
        </p:grpSpPr>
        <p:sp>
          <p:nvSpPr>
            <p:cNvPr id="107532" name="Freeform 75">
              <a:extLst>
                <a:ext uri="{FF2B5EF4-FFF2-40B4-BE49-F238E27FC236}">
                  <a16:creationId xmlns:a16="http://schemas.microsoft.com/office/drawing/2014/main" id="{CF896F9D-229F-427B-8C80-F7684554F62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517" y="2235"/>
              <a:ext cx="874" cy="196"/>
            </a:xfrm>
            <a:custGeom>
              <a:avLst/>
              <a:gdLst>
                <a:gd name="T0" fmla="*/ 0 w 874"/>
                <a:gd name="T1" fmla="*/ 165 h 196"/>
                <a:gd name="T2" fmla="*/ 227 w 874"/>
                <a:gd name="T3" fmla="*/ 29 h 196"/>
                <a:gd name="T4" fmla="*/ 586 w 874"/>
                <a:gd name="T5" fmla="*/ 28 h 196"/>
                <a:gd name="T6" fmla="*/ 874 w 874"/>
                <a:gd name="T7" fmla="*/ 196 h 1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74"/>
                <a:gd name="T13" fmla="*/ 0 h 196"/>
                <a:gd name="T14" fmla="*/ 874 w 874"/>
                <a:gd name="T15" fmla="*/ 196 h 1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74" h="196">
                  <a:moveTo>
                    <a:pt x="0" y="165"/>
                  </a:moveTo>
                  <a:cubicBezTo>
                    <a:pt x="57" y="108"/>
                    <a:pt x="129" y="52"/>
                    <a:pt x="227" y="29"/>
                  </a:cubicBezTo>
                  <a:cubicBezTo>
                    <a:pt x="325" y="6"/>
                    <a:pt x="478" y="0"/>
                    <a:pt x="586" y="28"/>
                  </a:cubicBezTo>
                  <a:cubicBezTo>
                    <a:pt x="694" y="56"/>
                    <a:pt x="814" y="161"/>
                    <a:pt x="874" y="196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miter lim="800000"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533" name="Text Box 82">
              <a:extLst>
                <a:ext uri="{FF2B5EF4-FFF2-40B4-BE49-F238E27FC236}">
                  <a16:creationId xmlns:a16="http://schemas.microsoft.com/office/drawing/2014/main" id="{0E860FBF-BAA2-4FD3-9906-A21A5AC2D25D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2744" y="200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107534" name="AutoShape 100">
              <a:extLst>
                <a:ext uri="{FF2B5EF4-FFF2-40B4-BE49-F238E27FC236}">
                  <a16:creationId xmlns:a16="http://schemas.microsoft.com/office/drawing/2014/main" id="{3B5828F1-67D4-4FC2-885D-7DF6EE85253A}"/>
                </a:ext>
              </a:extLst>
            </p:cNvPr>
            <p:cNvSpPr>
              <a:spLocks noChangeAspect="1" noChangeArrowheads="1"/>
            </p:cNvSpPr>
            <p:nvPr/>
          </p:nvSpPr>
          <p:spPr bwMode="ltGray">
            <a:xfrm>
              <a:off x="3288" y="2296"/>
              <a:ext cx="650" cy="65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7 w 21600"/>
                <a:gd name="T25" fmla="*/ 3157 h 21600"/>
                <a:gd name="T26" fmla="*/ 18443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226" y="10800"/>
                  </a:moveTo>
                  <a:cubicBezTo>
                    <a:pt x="2226" y="15535"/>
                    <a:pt x="6065" y="19374"/>
                    <a:pt x="10800" y="19374"/>
                  </a:cubicBezTo>
                  <a:cubicBezTo>
                    <a:pt x="15535" y="19374"/>
                    <a:pt x="19374" y="15535"/>
                    <a:pt x="19374" y="10800"/>
                  </a:cubicBezTo>
                  <a:cubicBezTo>
                    <a:pt x="19374" y="6065"/>
                    <a:pt x="15535" y="2226"/>
                    <a:pt x="10800" y="2226"/>
                  </a:cubicBezTo>
                  <a:cubicBezTo>
                    <a:pt x="6065" y="2226"/>
                    <a:pt x="2226" y="6065"/>
                    <a:pt x="2226" y="10800"/>
                  </a:cubicBezTo>
                  <a:close/>
                </a:path>
              </a:pathLst>
            </a:cu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01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35" grpId="0"/>
      <p:bldP spid="107536" grpId="0" animBg="1"/>
      <p:bldP spid="10753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02579B1B-3B66-4DD9-9B92-41065117C7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偶数个</a:t>
            </a:r>
            <a:r>
              <a:rPr lang="en-US" altLang="zh-CN"/>
              <a:t>0</a:t>
            </a:r>
            <a:r>
              <a:rPr lang="zh-CN" altLang="en-US"/>
              <a:t>，偶数个</a:t>
            </a:r>
            <a:r>
              <a:rPr lang="en-US" altLang="zh-CN"/>
              <a:t>1</a:t>
            </a:r>
            <a:r>
              <a:rPr lang="zh-CN" altLang="en-US"/>
              <a:t>的</a:t>
            </a:r>
            <a:r>
              <a:rPr lang="en-US" altLang="zh-CN"/>
              <a:t>0/1</a:t>
            </a:r>
            <a:r>
              <a:rPr lang="zh-CN" altLang="en-US"/>
              <a:t>串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DD312B06-F1A1-4E4C-A132-E4BC050749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另一种思路：状态</a:t>
            </a:r>
            <a:r>
              <a:rPr lang="en-US" altLang="zh-CN" dirty="0"/>
              <a:t>——</a:t>
            </a:r>
            <a:r>
              <a:rPr lang="zh-CN" altLang="en-US" dirty="0"/>
              <a:t>符号串集合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符号串全集划分子集</a:t>
            </a:r>
            <a:r>
              <a:rPr lang="en-US" altLang="zh-CN" dirty="0">
                <a:sym typeface="Wingdings" pitchFamily="2" charset="2"/>
              </a:rPr>
              <a:t></a:t>
            </a:r>
            <a:r>
              <a:rPr lang="zh-CN" altLang="en-US" dirty="0">
                <a:sym typeface="Wingdings" pitchFamily="2" charset="2"/>
              </a:rPr>
              <a:t>构造所有状态</a:t>
            </a:r>
            <a:endParaRPr lang="en-US" altLang="zh-CN" dirty="0">
              <a:sym typeface="Wingdings" pitchFamily="2" charset="2"/>
            </a:endParaRPr>
          </a:p>
          <a:p>
            <a:pPr lvl="1" eaLnBrk="1" hangingPunct="1"/>
            <a:r>
              <a:rPr lang="zh-CN" altLang="en-US" dirty="0">
                <a:sym typeface="Wingdings" pitchFamily="2" charset="2"/>
              </a:rPr>
              <a:t>状态符号串集合间关系</a:t>
            </a:r>
            <a:r>
              <a:rPr lang="en-US" altLang="zh-CN" dirty="0">
                <a:sym typeface="Wingdings" pitchFamily="2" charset="2"/>
              </a:rPr>
              <a:t></a:t>
            </a:r>
            <a:r>
              <a:rPr lang="zh-CN" altLang="en-US" dirty="0">
                <a:sym typeface="Wingdings" pitchFamily="2" charset="2"/>
              </a:rPr>
              <a:t>构造边</a:t>
            </a:r>
            <a:br>
              <a:rPr lang="en-US" altLang="zh-CN" dirty="0"/>
            </a:br>
            <a:endParaRPr lang="zh-CN" altLang="en-US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D3E4FD46-0F60-461B-B995-883945CF7D97}"/>
              </a:ext>
            </a:extLst>
          </p:cNvPr>
          <p:cNvGrpSpPr>
            <a:grpSpLocks/>
          </p:cNvGrpSpPr>
          <p:nvPr/>
        </p:nvGrpSpPr>
        <p:grpSpPr bwMode="auto">
          <a:xfrm>
            <a:off x="3203575" y="3736802"/>
            <a:ext cx="1800225" cy="457200"/>
            <a:chOff x="2018" y="1719"/>
            <a:chExt cx="1134" cy="288"/>
          </a:xfrm>
        </p:grpSpPr>
        <p:sp>
          <p:nvSpPr>
            <p:cNvPr id="108580" name="Freeform 5">
              <a:extLst>
                <a:ext uri="{FF2B5EF4-FFF2-40B4-BE49-F238E27FC236}">
                  <a16:creationId xmlns:a16="http://schemas.microsoft.com/office/drawing/2014/main" id="{22C59016-6C35-438B-B583-29DCC3FDD52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018" y="1855"/>
              <a:ext cx="1134" cy="136"/>
            </a:xfrm>
            <a:custGeom>
              <a:avLst/>
              <a:gdLst>
                <a:gd name="T0" fmla="*/ 159 w 1304"/>
                <a:gd name="T1" fmla="*/ 0 h 146"/>
                <a:gd name="T2" fmla="*/ 129 w 1304"/>
                <a:gd name="T3" fmla="*/ 37 h 146"/>
                <a:gd name="T4" fmla="*/ 83 w 1304"/>
                <a:gd name="T5" fmla="*/ 49 h 146"/>
                <a:gd name="T6" fmla="*/ 33 w 1304"/>
                <a:gd name="T7" fmla="*/ 43 h 146"/>
                <a:gd name="T8" fmla="*/ 0 w 1304"/>
                <a:gd name="T9" fmla="*/ 7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4"/>
                <a:gd name="T16" fmla="*/ 0 h 146"/>
                <a:gd name="T17" fmla="*/ 1304 w 1304"/>
                <a:gd name="T18" fmla="*/ 146 h 1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4" h="146">
                  <a:moveTo>
                    <a:pt x="1304" y="0"/>
                  </a:moveTo>
                  <a:cubicBezTo>
                    <a:pt x="1261" y="18"/>
                    <a:pt x="1152" y="83"/>
                    <a:pt x="1047" y="106"/>
                  </a:cubicBezTo>
                  <a:cubicBezTo>
                    <a:pt x="942" y="129"/>
                    <a:pt x="803" y="138"/>
                    <a:pt x="675" y="141"/>
                  </a:cubicBezTo>
                  <a:cubicBezTo>
                    <a:pt x="547" y="144"/>
                    <a:pt x="388" y="146"/>
                    <a:pt x="276" y="124"/>
                  </a:cubicBezTo>
                  <a:cubicBezTo>
                    <a:pt x="164" y="102"/>
                    <a:pt x="57" y="34"/>
                    <a:pt x="0" y="10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81" name="Text Box 6">
              <a:extLst>
                <a:ext uri="{FF2B5EF4-FFF2-40B4-BE49-F238E27FC236}">
                  <a16:creationId xmlns:a16="http://schemas.microsoft.com/office/drawing/2014/main" id="{F0998973-5A19-4E6B-BB79-66615D9C8B1B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2381" y="1719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D8DC7E00-07D4-4870-BF64-61E27485713A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3305002"/>
            <a:ext cx="3713162" cy="3508375"/>
            <a:chOff x="1429" y="1447"/>
            <a:chExt cx="2339" cy="2210"/>
          </a:xfrm>
        </p:grpSpPr>
        <p:sp>
          <p:nvSpPr>
            <p:cNvPr id="108576" name="Oval 8">
              <a:extLst>
                <a:ext uri="{FF2B5EF4-FFF2-40B4-BE49-F238E27FC236}">
                  <a16:creationId xmlns:a16="http://schemas.microsoft.com/office/drawing/2014/main" id="{713229E5-C9F2-49E1-9051-B61B083CC1DE}"/>
                </a:ext>
              </a:extLst>
            </p:cNvPr>
            <p:cNvSpPr>
              <a:spLocks noChangeAspect="1" noChangeArrowheads="1"/>
            </p:cNvSpPr>
            <p:nvPr/>
          </p:nvSpPr>
          <p:spPr bwMode="ltGray">
            <a:xfrm>
              <a:off x="3120" y="1447"/>
              <a:ext cx="648" cy="648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OE</a:t>
              </a:r>
            </a:p>
          </p:txBody>
        </p:sp>
        <p:sp>
          <p:nvSpPr>
            <p:cNvPr id="108577" name="Oval 9">
              <a:extLst>
                <a:ext uri="{FF2B5EF4-FFF2-40B4-BE49-F238E27FC236}">
                  <a16:creationId xmlns:a16="http://schemas.microsoft.com/office/drawing/2014/main" id="{7189C432-5398-49CB-8593-E388D5A8D15F}"/>
                </a:ext>
              </a:extLst>
            </p:cNvPr>
            <p:cNvSpPr>
              <a:spLocks noChangeAspect="1" noChangeArrowheads="1"/>
            </p:cNvSpPr>
            <p:nvPr/>
          </p:nvSpPr>
          <p:spPr bwMode="ltGray">
            <a:xfrm>
              <a:off x="1429" y="3009"/>
              <a:ext cx="648" cy="648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EO</a:t>
              </a:r>
            </a:p>
          </p:txBody>
        </p:sp>
        <p:sp>
          <p:nvSpPr>
            <p:cNvPr id="108578" name="AutoShape 10">
              <a:extLst>
                <a:ext uri="{FF2B5EF4-FFF2-40B4-BE49-F238E27FC236}">
                  <a16:creationId xmlns:a16="http://schemas.microsoft.com/office/drawing/2014/main" id="{8F1BEB15-BF53-491D-95C7-1A0E0FEC8D0A}"/>
                </a:ext>
              </a:extLst>
            </p:cNvPr>
            <p:cNvSpPr>
              <a:spLocks noChangeAspect="1" noChangeArrowheads="1"/>
            </p:cNvSpPr>
            <p:nvPr/>
          </p:nvSpPr>
          <p:spPr bwMode="ltGray">
            <a:xfrm>
              <a:off x="1429" y="1447"/>
              <a:ext cx="650" cy="65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57 w 21600"/>
                <a:gd name="T25" fmla="*/ 3157 h 21600"/>
                <a:gd name="T26" fmla="*/ 18443 w 21600"/>
                <a:gd name="T27" fmla="*/ 18443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2226" y="10800"/>
                  </a:moveTo>
                  <a:cubicBezTo>
                    <a:pt x="2226" y="15535"/>
                    <a:pt x="6065" y="19374"/>
                    <a:pt x="10800" y="19374"/>
                  </a:cubicBezTo>
                  <a:cubicBezTo>
                    <a:pt x="15535" y="19374"/>
                    <a:pt x="19374" y="15535"/>
                    <a:pt x="19374" y="10800"/>
                  </a:cubicBezTo>
                  <a:cubicBezTo>
                    <a:pt x="19374" y="6065"/>
                    <a:pt x="15535" y="2226"/>
                    <a:pt x="10800" y="2226"/>
                  </a:cubicBezTo>
                  <a:cubicBezTo>
                    <a:pt x="6065" y="2226"/>
                    <a:pt x="2226" y="6065"/>
                    <a:pt x="2226" y="10800"/>
                  </a:cubicBezTo>
                  <a:close/>
                </a:path>
              </a:pathLst>
            </a:cu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EE</a:t>
              </a:r>
            </a:p>
          </p:txBody>
        </p:sp>
        <p:sp>
          <p:nvSpPr>
            <p:cNvPr id="108579" name="Oval 11">
              <a:extLst>
                <a:ext uri="{FF2B5EF4-FFF2-40B4-BE49-F238E27FC236}">
                  <a16:creationId xmlns:a16="http://schemas.microsoft.com/office/drawing/2014/main" id="{BCA62343-F25B-47ED-8F15-9D6A41C93B8A}"/>
                </a:ext>
              </a:extLst>
            </p:cNvPr>
            <p:cNvSpPr>
              <a:spLocks noChangeAspect="1" noChangeArrowheads="1"/>
            </p:cNvSpPr>
            <p:nvPr/>
          </p:nvSpPr>
          <p:spPr bwMode="ltGray">
            <a:xfrm>
              <a:off x="3120" y="3009"/>
              <a:ext cx="648" cy="648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OO</a:t>
              </a:r>
            </a:p>
          </p:txBody>
        </p:sp>
      </p:grpSp>
      <p:grpSp>
        <p:nvGrpSpPr>
          <p:cNvPr id="4" name="Group 12">
            <a:extLst>
              <a:ext uri="{FF2B5EF4-FFF2-40B4-BE49-F238E27FC236}">
                <a16:creationId xmlns:a16="http://schemas.microsoft.com/office/drawing/2014/main" id="{E846DD82-AAE8-4E84-B531-86B5E3510AB1}"/>
              </a:ext>
            </a:extLst>
          </p:cNvPr>
          <p:cNvGrpSpPr>
            <a:grpSpLocks/>
          </p:cNvGrpSpPr>
          <p:nvPr/>
        </p:nvGrpSpPr>
        <p:grpSpPr bwMode="auto">
          <a:xfrm>
            <a:off x="5724525" y="4292427"/>
            <a:ext cx="752475" cy="1584325"/>
            <a:chOff x="3606" y="2069"/>
            <a:chExt cx="474" cy="998"/>
          </a:xfrm>
        </p:grpSpPr>
        <p:sp>
          <p:nvSpPr>
            <p:cNvPr id="108574" name="Text Box 13">
              <a:extLst>
                <a:ext uri="{FF2B5EF4-FFF2-40B4-BE49-F238E27FC236}">
                  <a16:creationId xmlns:a16="http://schemas.microsoft.com/office/drawing/2014/main" id="{95C1C719-AE68-46C8-9AE4-461013852C50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3696" y="229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108575" name="Freeform 14">
              <a:extLst>
                <a:ext uri="{FF2B5EF4-FFF2-40B4-BE49-F238E27FC236}">
                  <a16:creationId xmlns:a16="http://schemas.microsoft.com/office/drawing/2014/main" id="{272F189C-5416-45B0-97E7-EE7880CD17EC}"/>
                </a:ext>
              </a:extLst>
            </p:cNvPr>
            <p:cNvSpPr>
              <a:spLocks/>
            </p:cNvSpPr>
            <p:nvPr/>
          </p:nvSpPr>
          <p:spPr bwMode="ltGray">
            <a:xfrm rot="5400000" flipH="1" flipV="1">
              <a:off x="3198" y="2477"/>
              <a:ext cx="998" cy="181"/>
            </a:xfrm>
            <a:custGeom>
              <a:avLst/>
              <a:gdLst>
                <a:gd name="T0" fmla="*/ 24 w 1304"/>
                <a:gd name="T1" fmla="*/ 0 h 146"/>
                <a:gd name="T2" fmla="*/ 18 w 1304"/>
                <a:gd name="T3" fmla="*/ 2649 h 146"/>
                <a:gd name="T4" fmla="*/ 12 w 1304"/>
                <a:gd name="T5" fmla="*/ 3544 h 146"/>
                <a:gd name="T6" fmla="*/ 5 w 1304"/>
                <a:gd name="T7" fmla="*/ 3117 h 146"/>
                <a:gd name="T8" fmla="*/ 0 w 1304"/>
                <a:gd name="T9" fmla="*/ 257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4"/>
                <a:gd name="T16" fmla="*/ 0 h 146"/>
                <a:gd name="T17" fmla="*/ 1304 w 1304"/>
                <a:gd name="T18" fmla="*/ 146 h 1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4" h="146">
                  <a:moveTo>
                    <a:pt x="1304" y="0"/>
                  </a:moveTo>
                  <a:cubicBezTo>
                    <a:pt x="1261" y="18"/>
                    <a:pt x="1152" y="83"/>
                    <a:pt x="1047" y="106"/>
                  </a:cubicBezTo>
                  <a:cubicBezTo>
                    <a:pt x="942" y="129"/>
                    <a:pt x="803" y="138"/>
                    <a:pt x="675" y="141"/>
                  </a:cubicBezTo>
                  <a:cubicBezTo>
                    <a:pt x="547" y="144"/>
                    <a:pt x="388" y="146"/>
                    <a:pt x="276" y="124"/>
                  </a:cubicBezTo>
                  <a:cubicBezTo>
                    <a:pt x="164" y="102"/>
                    <a:pt x="57" y="34"/>
                    <a:pt x="0" y="10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5">
            <a:extLst>
              <a:ext uri="{FF2B5EF4-FFF2-40B4-BE49-F238E27FC236}">
                <a16:creationId xmlns:a16="http://schemas.microsoft.com/office/drawing/2014/main" id="{C1331A37-EEB3-46B4-B508-555CCA88C6E3}"/>
              </a:ext>
            </a:extLst>
          </p:cNvPr>
          <p:cNvGrpSpPr>
            <a:grpSpLocks/>
          </p:cNvGrpSpPr>
          <p:nvPr/>
        </p:nvGrpSpPr>
        <p:grpSpPr bwMode="auto">
          <a:xfrm>
            <a:off x="2989263" y="4292427"/>
            <a:ext cx="752475" cy="1584325"/>
            <a:chOff x="1883" y="2069"/>
            <a:chExt cx="474" cy="998"/>
          </a:xfrm>
        </p:grpSpPr>
        <p:sp>
          <p:nvSpPr>
            <p:cNvPr id="108572" name="Text Box 16">
              <a:extLst>
                <a:ext uri="{FF2B5EF4-FFF2-40B4-BE49-F238E27FC236}">
                  <a16:creationId xmlns:a16="http://schemas.microsoft.com/office/drawing/2014/main" id="{91B8495D-8749-424B-96AB-D7B4FE85495C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1973" y="229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108573" name="Freeform 17">
              <a:extLst>
                <a:ext uri="{FF2B5EF4-FFF2-40B4-BE49-F238E27FC236}">
                  <a16:creationId xmlns:a16="http://schemas.microsoft.com/office/drawing/2014/main" id="{10225AC2-E698-4957-ABC4-28F4815845DF}"/>
                </a:ext>
              </a:extLst>
            </p:cNvPr>
            <p:cNvSpPr>
              <a:spLocks/>
            </p:cNvSpPr>
            <p:nvPr/>
          </p:nvSpPr>
          <p:spPr bwMode="ltGray">
            <a:xfrm rot="5400000" flipH="1" flipV="1">
              <a:off x="1475" y="2477"/>
              <a:ext cx="998" cy="181"/>
            </a:xfrm>
            <a:custGeom>
              <a:avLst/>
              <a:gdLst>
                <a:gd name="T0" fmla="*/ 24 w 1304"/>
                <a:gd name="T1" fmla="*/ 0 h 146"/>
                <a:gd name="T2" fmla="*/ 18 w 1304"/>
                <a:gd name="T3" fmla="*/ 2649 h 146"/>
                <a:gd name="T4" fmla="*/ 12 w 1304"/>
                <a:gd name="T5" fmla="*/ 3544 h 146"/>
                <a:gd name="T6" fmla="*/ 5 w 1304"/>
                <a:gd name="T7" fmla="*/ 3117 h 146"/>
                <a:gd name="T8" fmla="*/ 0 w 1304"/>
                <a:gd name="T9" fmla="*/ 257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4"/>
                <a:gd name="T16" fmla="*/ 0 h 146"/>
                <a:gd name="T17" fmla="*/ 1304 w 1304"/>
                <a:gd name="T18" fmla="*/ 146 h 1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4" h="146">
                  <a:moveTo>
                    <a:pt x="1304" y="0"/>
                  </a:moveTo>
                  <a:cubicBezTo>
                    <a:pt x="1261" y="18"/>
                    <a:pt x="1152" y="83"/>
                    <a:pt x="1047" y="106"/>
                  </a:cubicBezTo>
                  <a:cubicBezTo>
                    <a:pt x="942" y="129"/>
                    <a:pt x="803" y="138"/>
                    <a:pt x="675" y="141"/>
                  </a:cubicBezTo>
                  <a:cubicBezTo>
                    <a:pt x="547" y="144"/>
                    <a:pt x="388" y="146"/>
                    <a:pt x="276" y="124"/>
                  </a:cubicBezTo>
                  <a:cubicBezTo>
                    <a:pt x="164" y="102"/>
                    <a:pt x="57" y="34"/>
                    <a:pt x="0" y="10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18">
            <a:extLst>
              <a:ext uri="{FF2B5EF4-FFF2-40B4-BE49-F238E27FC236}">
                <a16:creationId xmlns:a16="http://schemas.microsoft.com/office/drawing/2014/main" id="{D5451845-BAD0-4B5D-BE20-04349558FAB9}"/>
              </a:ext>
            </a:extLst>
          </p:cNvPr>
          <p:cNvGrpSpPr>
            <a:grpSpLocks/>
          </p:cNvGrpSpPr>
          <p:nvPr/>
        </p:nvGrpSpPr>
        <p:grpSpPr bwMode="auto">
          <a:xfrm>
            <a:off x="1801813" y="4220989"/>
            <a:ext cx="754062" cy="1584325"/>
            <a:chOff x="1135" y="2024"/>
            <a:chExt cx="475" cy="998"/>
          </a:xfrm>
        </p:grpSpPr>
        <p:sp>
          <p:nvSpPr>
            <p:cNvPr id="108570" name="Text Box 19">
              <a:extLst>
                <a:ext uri="{FF2B5EF4-FFF2-40B4-BE49-F238E27FC236}">
                  <a16:creationId xmlns:a16="http://schemas.microsoft.com/office/drawing/2014/main" id="{64035230-1297-4DE4-8B70-CB1E430218FA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1135" y="232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108571" name="Freeform 20">
              <a:extLst>
                <a:ext uri="{FF2B5EF4-FFF2-40B4-BE49-F238E27FC236}">
                  <a16:creationId xmlns:a16="http://schemas.microsoft.com/office/drawing/2014/main" id="{254EC87A-16C0-44C4-858F-B2BE177B9F0E}"/>
                </a:ext>
              </a:extLst>
            </p:cNvPr>
            <p:cNvSpPr>
              <a:spLocks/>
            </p:cNvSpPr>
            <p:nvPr/>
          </p:nvSpPr>
          <p:spPr bwMode="ltGray">
            <a:xfrm rot="5400000">
              <a:off x="1021" y="2432"/>
              <a:ext cx="998" cy="181"/>
            </a:xfrm>
            <a:custGeom>
              <a:avLst/>
              <a:gdLst>
                <a:gd name="T0" fmla="*/ 24 w 1304"/>
                <a:gd name="T1" fmla="*/ 0 h 146"/>
                <a:gd name="T2" fmla="*/ 18 w 1304"/>
                <a:gd name="T3" fmla="*/ 2649 h 146"/>
                <a:gd name="T4" fmla="*/ 12 w 1304"/>
                <a:gd name="T5" fmla="*/ 3544 h 146"/>
                <a:gd name="T6" fmla="*/ 5 w 1304"/>
                <a:gd name="T7" fmla="*/ 3117 h 146"/>
                <a:gd name="T8" fmla="*/ 0 w 1304"/>
                <a:gd name="T9" fmla="*/ 257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4"/>
                <a:gd name="T16" fmla="*/ 0 h 146"/>
                <a:gd name="T17" fmla="*/ 1304 w 1304"/>
                <a:gd name="T18" fmla="*/ 146 h 1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4" h="146">
                  <a:moveTo>
                    <a:pt x="1304" y="0"/>
                  </a:moveTo>
                  <a:cubicBezTo>
                    <a:pt x="1261" y="18"/>
                    <a:pt x="1152" y="83"/>
                    <a:pt x="1047" y="106"/>
                  </a:cubicBezTo>
                  <a:cubicBezTo>
                    <a:pt x="942" y="129"/>
                    <a:pt x="803" y="138"/>
                    <a:pt x="675" y="141"/>
                  </a:cubicBezTo>
                  <a:cubicBezTo>
                    <a:pt x="547" y="144"/>
                    <a:pt x="388" y="146"/>
                    <a:pt x="276" y="124"/>
                  </a:cubicBezTo>
                  <a:cubicBezTo>
                    <a:pt x="164" y="102"/>
                    <a:pt x="57" y="34"/>
                    <a:pt x="0" y="10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21">
            <a:extLst>
              <a:ext uri="{FF2B5EF4-FFF2-40B4-BE49-F238E27FC236}">
                <a16:creationId xmlns:a16="http://schemas.microsoft.com/office/drawing/2014/main" id="{B0B857C5-512D-48A0-BC9A-D32E4DE86582}"/>
              </a:ext>
            </a:extLst>
          </p:cNvPr>
          <p:cNvGrpSpPr>
            <a:grpSpLocks/>
          </p:cNvGrpSpPr>
          <p:nvPr/>
        </p:nvGrpSpPr>
        <p:grpSpPr bwMode="auto">
          <a:xfrm>
            <a:off x="4538663" y="4220989"/>
            <a:ext cx="752475" cy="1584325"/>
            <a:chOff x="2859" y="2024"/>
            <a:chExt cx="474" cy="998"/>
          </a:xfrm>
        </p:grpSpPr>
        <p:sp>
          <p:nvSpPr>
            <p:cNvPr id="108568" name="Freeform 22">
              <a:extLst>
                <a:ext uri="{FF2B5EF4-FFF2-40B4-BE49-F238E27FC236}">
                  <a16:creationId xmlns:a16="http://schemas.microsoft.com/office/drawing/2014/main" id="{59FC65B0-22C0-4096-9E8C-F0A34D871940}"/>
                </a:ext>
              </a:extLst>
            </p:cNvPr>
            <p:cNvSpPr>
              <a:spLocks/>
            </p:cNvSpPr>
            <p:nvPr/>
          </p:nvSpPr>
          <p:spPr bwMode="ltGray">
            <a:xfrm rot="5400000">
              <a:off x="2744" y="2432"/>
              <a:ext cx="998" cy="181"/>
            </a:xfrm>
            <a:custGeom>
              <a:avLst/>
              <a:gdLst>
                <a:gd name="T0" fmla="*/ 24 w 1304"/>
                <a:gd name="T1" fmla="*/ 0 h 146"/>
                <a:gd name="T2" fmla="*/ 18 w 1304"/>
                <a:gd name="T3" fmla="*/ 2649 h 146"/>
                <a:gd name="T4" fmla="*/ 12 w 1304"/>
                <a:gd name="T5" fmla="*/ 3544 h 146"/>
                <a:gd name="T6" fmla="*/ 5 w 1304"/>
                <a:gd name="T7" fmla="*/ 3117 h 146"/>
                <a:gd name="T8" fmla="*/ 0 w 1304"/>
                <a:gd name="T9" fmla="*/ 257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4"/>
                <a:gd name="T16" fmla="*/ 0 h 146"/>
                <a:gd name="T17" fmla="*/ 1304 w 1304"/>
                <a:gd name="T18" fmla="*/ 146 h 1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4" h="146">
                  <a:moveTo>
                    <a:pt x="1304" y="0"/>
                  </a:moveTo>
                  <a:cubicBezTo>
                    <a:pt x="1261" y="18"/>
                    <a:pt x="1152" y="83"/>
                    <a:pt x="1047" y="106"/>
                  </a:cubicBezTo>
                  <a:cubicBezTo>
                    <a:pt x="942" y="129"/>
                    <a:pt x="803" y="138"/>
                    <a:pt x="675" y="141"/>
                  </a:cubicBezTo>
                  <a:cubicBezTo>
                    <a:pt x="547" y="144"/>
                    <a:pt x="388" y="146"/>
                    <a:pt x="276" y="124"/>
                  </a:cubicBezTo>
                  <a:cubicBezTo>
                    <a:pt x="164" y="102"/>
                    <a:pt x="57" y="34"/>
                    <a:pt x="0" y="10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69" name="Text Box 23">
              <a:extLst>
                <a:ext uri="{FF2B5EF4-FFF2-40B4-BE49-F238E27FC236}">
                  <a16:creationId xmlns:a16="http://schemas.microsoft.com/office/drawing/2014/main" id="{A40E0324-A4E5-43D8-ADC3-FB1A26AB837F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2859" y="229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</p:grpSp>
      <p:grpSp>
        <p:nvGrpSpPr>
          <p:cNvPr id="8" name="Group 24">
            <a:extLst>
              <a:ext uri="{FF2B5EF4-FFF2-40B4-BE49-F238E27FC236}">
                <a16:creationId xmlns:a16="http://schemas.microsoft.com/office/drawing/2014/main" id="{E6543A29-CE36-46E2-852F-A4EE0EDE3819}"/>
              </a:ext>
            </a:extLst>
          </p:cNvPr>
          <p:cNvGrpSpPr>
            <a:grpSpLocks/>
          </p:cNvGrpSpPr>
          <p:nvPr/>
        </p:nvGrpSpPr>
        <p:grpSpPr bwMode="auto">
          <a:xfrm>
            <a:off x="3203575" y="6237114"/>
            <a:ext cx="1800225" cy="457200"/>
            <a:chOff x="2018" y="3294"/>
            <a:chExt cx="1134" cy="288"/>
          </a:xfrm>
        </p:grpSpPr>
        <p:sp>
          <p:nvSpPr>
            <p:cNvPr id="108566" name="Freeform 25">
              <a:extLst>
                <a:ext uri="{FF2B5EF4-FFF2-40B4-BE49-F238E27FC236}">
                  <a16:creationId xmlns:a16="http://schemas.microsoft.com/office/drawing/2014/main" id="{09598A47-5737-4128-A545-698EDFF95A8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018" y="3430"/>
              <a:ext cx="1134" cy="136"/>
            </a:xfrm>
            <a:custGeom>
              <a:avLst/>
              <a:gdLst>
                <a:gd name="T0" fmla="*/ 159 w 1304"/>
                <a:gd name="T1" fmla="*/ 0 h 146"/>
                <a:gd name="T2" fmla="*/ 129 w 1304"/>
                <a:gd name="T3" fmla="*/ 37 h 146"/>
                <a:gd name="T4" fmla="*/ 83 w 1304"/>
                <a:gd name="T5" fmla="*/ 49 h 146"/>
                <a:gd name="T6" fmla="*/ 33 w 1304"/>
                <a:gd name="T7" fmla="*/ 43 h 146"/>
                <a:gd name="T8" fmla="*/ 0 w 1304"/>
                <a:gd name="T9" fmla="*/ 7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4"/>
                <a:gd name="T16" fmla="*/ 0 h 146"/>
                <a:gd name="T17" fmla="*/ 1304 w 1304"/>
                <a:gd name="T18" fmla="*/ 146 h 1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4" h="146">
                  <a:moveTo>
                    <a:pt x="1304" y="0"/>
                  </a:moveTo>
                  <a:cubicBezTo>
                    <a:pt x="1261" y="18"/>
                    <a:pt x="1152" y="83"/>
                    <a:pt x="1047" y="106"/>
                  </a:cubicBezTo>
                  <a:cubicBezTo>
                    <a:pt x="942" y="129"/>
                    <a:pt x="803" y="138"/>
                    <a:pt x="675" y="141"/>
                  </a:cubicBezTo>
                  <a:cubicBezTo>
                    <a:pt x="547" y="144"/>
                    <a:pt x="388" y="146"/>
                    <a:pt x="276" y="124"/>
                  </a:cubicBezTo>
                  <a:cubicBezTo>
                    <a:pt x="164" y="102"/>
                    <a:pt x="57" y="34"/>
                    <a:pt x="0" y="10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67" name="Text Box 26">
              <a:extLst>
                <a:ext uri="{FF2B5EF4-FFF2-40B4-BE49-F238E27FC236}">
                  <a16:creationId xmlns:a16="http://schemas.microsoft.com/office/drawing/2014/main" id="{EE9DD060-B7E6-4309-A6FE-D0B2AD785165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2381" y="3294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grpSp>
        <p:nvGrpSpPr>
          <p:cNvPr id="9" name="Group 27">
            <a:extLst>
              <a:ext uri="{FF2B5EF4-FFF2-40B4-BE49-F238E27FC236}">
                <a16:creationId xmlns:a16="http://schemas.microsoft.com/office/drawing/2014/main" id="{E0ED171D-77F6-40ED-83DB-B7ED5701BB03}"/>
              </a:ext>
            </a:extLst>
          </p:cNvPr>
          <p:cNvGrpSpPr>
            <a:grpSpLocks/>
          </p:cNvGrpSpPr>
          <p:nvPr/>
        </p:nvGrpSpPr>
        <p:grpSpPr bwMode="auto">
          <a:xfrm>
            <a:off x="3203575" y="5424314"/>
            <a:ext cx="1800225" cy="668338"/>
            <a:chOff x="2018" y="2782"/>
            <a:chExt cx="1134" cy="421"/>
          </a:xfrm>
        </p:grpSpPr>
        <p:sp>
          <p:nvSpPr>
            <p:cNvPr id="108564" name="Text Box 28">
              <a:extLst>
                <a:ext uri="{FF2B5EF4-FFF2-40B4-BE49-F238E27FC236}">
                  <a16:creationId xmlns:a16="http://schemas.microsoft.com/office/drawing/2014/main" id="{212F0126-B013-4406-BEBE-4B5FBE693901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2360" y="278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108565" name="Freeform 29">
              <a:extLst>
                <a:ext uri="{FF2B5EF4-FFF2-40B4-BE49-F238E27FC236}">
                  <a16:creationId xmlns:a16="http://schemas.microsoft.com/office/drawing/2014/main" id="{44B010FE-A487-4E4D-AD09-FCAEA9094A77}"/>
                </a:ext>
              </a:extLst>
            </p:cNvPr>
            <p:cNvSpPr>
              <a:spLocks/>
            </p:cNvSpPr>
            <p:nvPr/>
          </p:nvSpPr>
          <p:spPr bwMode="ltGray">
            <a:xfrm flipH="1" flipV="1">
              <a:off x="2018" y="3022"/>
              <a:ext cx="1134" cy="181"/>
            </a:xfrm>
            <a:custGeom>
              <a:avLst/>
              <a:gdLst>
                <a:gd name="T0" fmla="*/ 159 w 1304"/>
                <a:gd name="T1" fmla="*/ 0 h 146"/>
                <a:gd name="T2" fmla="*/ 129 w 1304"/>
                <a:gd name="T3" fmla="*/ 2649 h 146"/>
                <a:gd name="T4" fmla="*/ 83 w 1304"/>
                <a:gd name="T5" fmla="*/ 3544 h 146"/>
                <a:gd name="T6" fmla="*/ 33 w 1304"/>
                <a:gd name="T7" fmla="*/ 3117 h 146"/>
                <a:gd name="T8" fmla="*/ 0 w 1304"/>
                <a:gd name="T9" fmla="*/ 257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4"/>
                <a:gd name="T16" fmla="*/ 0 h 146"/>
                <a:gd name="T17" fmla="*/ 1304 w 1304"/>
                <a:gd name="T18" fmla="*/ 146 h 1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4" h="146">
                  <a:moveTo>
                    <a:pt x="1304" y="0"/>
                  </a:moveTo>
                  <a:cubicBezTo>
                    <a:pt x="1261" y="18"/>
                    <a:pt x="1152" y="83"/>
                    <a:pt x="1047" y="106"/>
                  </a:cubicBezTo>
                  <a:cubicBezTo>
                    <a:pt x="942" y="129"/>
                    <a:pt x="803" y="138"/>
                    <a:pt x="675" y="141"/>
                  </a:cubicBezTo>
                  <a:cubicBezTo>
                    <a:pt x="547" y="144"/>
                    <a:pt x="388" y="146"/>
                    <a:pt x="276" y="124"/>
                  </a:cubicBezTo>
                  <a:cubicBezTo>
                    <a:pt x="164" y="102"/>
                    <a:pt x="57" y="34"/>
                    <a:pt x="0" y="10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" name="Group 30">
            <a:extLst>
              <a:ext uri="{FF2B5EF4-FFF2-40B4-BE49-F238E27FC236}">
                <a16:creationId xmlns:a16="http://schemas.microsoft.com/office/drawing/2014/main" id="{3A73E5C2-FDFA-47EC-83C8-2F3B31F8D6B9}"/>
              </a:ext>
            </a:extLst>
          </p:cNvPr>
          <p:cNvGrpSpPr>
            <a:grpSpLocks/>
          </p:cNvGrpSpPr>
          <p:nvPr/>
        </p:nvGrpSpPr>
        <p:grpSpPr bwMode="auto">
          <a:xfrm>
            <a:off x="1331913" y="3357389"/>
            <a:ext cx="936625" cy="457200"/>
            <a:chOff x="839" y="1480"/>
            <a:chExt cx="590" cy="288"/>
          </a:xfrm>
        </p:grpSpPr>
        <p:sp>
          <p:nvSpPr>
            <p:cNvPr id="108562" name="Line 31">
              <a:extLst>
                <a:ext uri="{FF2B5EF4-FFF2-40B4-BE49-F238E27FC236}">
                  <a16:creationId xmlns:a16="http://schemas.microsoft.com/office/drawing/2014/main" id="{8010E28E-A91C-45D8-864D-C059F8D06428}"/>
                </a:ext>
              </a:extLst>
            </p:cNvPr>
            <p:cNvSpPr>
              <a:spLocks noChangeShapeType="1"/>
            </p:cNvSpPr>
            <p:nvPr/>
          </p:nvSpPr>
          <p:spPr bwMode="ltGray">
            <a:xfrm>
              <a:off x="884" y="1752"/>
              <a:ext cx="545" cy="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8563" name="Text Box 32">
              <a:extLst>
                <a:ext uri="{FF2B5EF4-FFF2-40B4-BE49-F238E27FC236}">
                  <a16:creationId xmlns:a16="http://schemas.microsoft.com/office/drawing/2014/main" id="{9F210B16-CDE6-477B-998F-CB10D9FABA3E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839" y="1480"/>
              <a:ext cx="5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start</a:t>
              </a:r>
            </a:p>
          </p:txBody>
        </p:sp>
      </p:grpSp>
      <p:sp>
        <p:nvSpPr>
          <p:cNvPr id="108558" name="Text Box 34">
            <a:extLst>
              <a:ext uri="{FF2B5EF4-FFF2-40B4-BE49-F238E27FC236}">
                <a16:creationId xmlns:a16="http://schemas.microsoft.com/office/drawing/2014/main" id="{38EA0FA5-4E7D-436E-A70C-9E558AE7C577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746500" y="2924002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0">
                <a:solidFill>
                  <a:schemeClr val="folHlink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108559" name="Freeform 35">
            <a:extLst>
              <a:ext uri="{FF2B5EF4-FFF2-40B4-BE49-F238E27FC236}">
                <a16:creationId xmlns:a16="http://schemas.microsoft.com/office/drawing/2014/main" id="{B42EE82D-0588-4CF3-92E4-F6EA1B436777}"/>
              </a:ext>
            </a:extLst>
          </p:cNvPr>
          <p:cNvSpPr>
            <a:spLocks/>
          </p:cNvSpPr>
          <p:nvPr/>
        </p:nvSpPr>
        <p:spPr bwMode="ltGray">
          <a:xfrm flipH="1" flipV="1">
            <a:off x="3203575" y="3305002"/>
            <a:ext cx="1800225" cy="287338"/>
          </a:xfrm>
          <a:custGeom>
            <a:avLst/>
            <a:gdLst>
              <a:gd name="T0" fmla="*/ 159 w 1304"/>
              <a:gd name="T1" fmla="*/ 0 h 146"/>
              <a:gd name="T2" fmla="*/ 129 w 1304"/>
              <a:gd name="T3" fmla="*/ 2649 h 146"/>
              <a:gd name="T4" fmla="*/ 83 w 1304"/>
              <a:gd name="T5" fmla="*/ 3544 h 146"/>
              <a:gd name="T6" fmla="*/ 33 w 1304"/>
              <a:gd name="T7" fmla="*/ 3117 h 146"/>
              <a:gd name="T8" fmla="*/ 0 w 1304"/>
              <a:gd name="T9" fmla="*/ 257 h 1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04"/>
              <a:gd name="T16" fmla="*/ 0 h 146"/>
              <a:gd name="T17" fmla="*/ 1304 w 1304"/>
              <a:gd name="T18" fmla="*/ 146 h 1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04" h="146">
                <a:moveTo>
                  <a:pt x="1304" y="0"/>
                </a:moveTo>
                <a:cubicBezTo>
                  <a:pt x="1261" y="18"/>
                  <a:pt x="1152" y="83"/>
                  <a:pt x="1047" y="106"/>
                </a:cubicBezTo>
                <a:cubicBezTo>
                  <a:pt x="942" y="129"/>
                  <a:pt x="803" y="138"/>
                  <a:pt x="675" y="141"/>
                </a:cubicBezTo>
                <a:cubicBezTo>
                  <a:pt x="547" y="144"/>
                  <a:pt x="388" y="146"/>
                  <a:pt x="276" y="124"/>
                </a:cubicBezTo>
                <a:cubicBezTo>
                  <a:pt x="164" y="102"/>
                  <a:pt x="57" y="34"/>
                  <a:pt x="0" y="10"/>
                </a:cubicBezTo>
              </a:path>
            </a:pathLst>
          </a:custGeom>
          <a:noFill/>
          <a:ln w="25400" cap="flat" cmpd="sng">
            <a:solidFill>
              <a:schemeClr val="folHlink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8560" name="Text Box 36">
            <a:extLst>
              <a:ext uri="{FF2B5EF4-FFF2-40B4-BE49-F238E27FC236}">
                <a16:creationId xmlns:a16="http://schemas.microsoft.com/office/drawing/2014/main" id="{112B1818-43D3-44F6-80C8-45E7360CB21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300788" y="3321670"/>
            <a:ext cx="25558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偶数个</a:t>
            </a:r>
            <a:r>
              <a:rPr lang="en-US" altLang="zh-CN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0</a:t>
            </a:r>
            <a:r>
              <a:rPr lang="zh-CN" altLang="en-US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偶数个</a:t>
            </a:r>
            <a:r>
              <a:rPr lang="en-US" altLang="zh-CN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1</a:t>
            </a:r>
            <a:br>
              <a:rPr lang="en-US" altLang="zh-CN" sz="2400" b="0" dirty="0">
                <a:solidFill>
                  <a:srgbClr val="FF3300"/>
                </a:solidFill>
                <a:latin typeface="Tahoma" panose="020B0604030504040204" pitchFamily="34" charset="0"/>
              </a:rPr>
            </a:br>
            <a:r>
              <a:rPr lang="zh-CN" altLang="en-US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拼接</a:t>
            </a:r>
            <a:r>
              <a:rPr lang="en-US" altLang="zh-CN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个</a:t>
            </a:r>
            <a:r>
              <a:rPr lang="en-US" altLang="zh-CN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0</a:t>
            </a:r>
            <a:r>
              <a:rPr lang="en-US" altLang="zh-CN" sz="2400" b="0" dirty="0">
                <a:solidFill>
                  <a:srgbClr val="FF33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</a:t>
            </a:r>
            <a:br>
              <a:rPr lang="en-US" altLang="zh-CN" sz="2400" b="0" dirty="0">
                <a:solidFill>
                  <a:srgbClr val="FF33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</a:br>
            <a:r>
              <a:rPr lang="zh-CN" altLang="en-US" sz="2400" b="0" dirty="0">
                <a:solidFill>
                  <a:srgbClr val="FF33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奇数个</a:t>
            </a:r>
            <a:r>
              <a:rPr lang="en-US" altLang="zh-CN" sz="2400" b="0" dirty="0">
                <a:solidFill>
                  <a:srgbClr val="FF33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0</a:t>
            </a:r>
            <a:r>
              <a:rPr lang="zh-CN" altLang="en-US" sz="2400" b="0" dirty="0">
                <a:solidFill>
                  <a:srgbClr val="FF33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偶数个</a:t>
            </a:r>
            <a:r>
              <a:rPr lang="en-US" altLang="zh-CN" sz="2400" b="0" dirty="0">
                <a:solidFill>
                  <a:srgbClr val="FF33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1</a:t>
            </a:r>
            <a:endParaRPr lang="en-US" altLang="zh-CN" sz="2400" b="0" dirty="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108561" name="Line 37">
            <a:extLst>
              <a:ext uri="{FF2B5EF4-FFF2-40B4-BE49-F238E27FC236}">
                <a16:creationId xmlns:a16="http://schemas.microsoft.com/office/drawing/2014/main" id="{EA689622-9202-4E9F-9AE1-BE6DE5A83E17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4211637" y="3284364"/>
            <a:ext cx="2265362" cy="457199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58" grpId="0"/>
      <p:bldP spid="108559" grpId="0" animBg="1"/>
      <p:bldP spid="108560" grpId="0"/>
      <p:bldP spid="108561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CA1C75E8-6E5C-43F5-AF15-7F6F4CDE85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能被</a:t>
            </a:r>
            <a:r>
              <a:rPr lang="en-US" altLang="zh-CN"/>
              <a:t>3</a:t>
            </a:r>
            <a:r>
              <a:rPr lang="zh-CN" altLang="en-US"/>
              <a:t>整除的二进制串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DE40072E-F1DE-4360-82D2-F9EAEBC3F2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zh-CN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4B64A0CB-B672-4039-A20F-A47066650B96}"/>
              </a:ext>
            </a:extLst>
          </p:cNvPr>
          <p:cNvGrpSpPr>
            <a:grpSpLocks/>
          </p:cNvGrpSpPr>
          <p:nvPr/>
        </p:nvGrpSpPr>
        <p:grpSpPr bwMode="auto">
          <a:xfrm>
            <a:off x="2286000" y="2133600"/>
            <a:ext cx="3352800" cy="2057400"/>
            <a:chOff x="1440" y="1344"/>
            <a:chExt cx="2112" cy="1296"/>
          </a:xfrm>
        </p:grpSpPr>
        <p:sp>
          <p:nvSpPr>
            <p:cNvPr id="109598" name="Oval 5">
              <a:extLst>
                <a:ext uri="{FF2B5EF4-FFF2-40B4-BE49-F238E27FC236}">
                  <a16:creationId xmlns:a16="http://schemas.microsoft.com/office/drawing/2014/main" id="{62EAA6A1-1637-421A-8287-42CC4CA5880D}"/>
                </a:ext>
              </a:extLst>
            </p:cNvPr>
            <p:cNvSpPr>
              <a:spLocks noChangeAspect="1" noChangeArrowheads="1"/>
            </p:cNvSpPr>
            <p:nvPr/>
          </p:nvSpPr>
          <p:spPr bwMode="ltGray">
            <a:xfrm>
              <a:off x="3120" y="1344"/>
              <a:ext cx="432" cy="432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109599" name="Oval 6">
              <a:extLst>
                <a:ext uri="{FF2B5EF4-FFF2-40B4-BE49-F238E27FC236}">
                  <a16:creationId xmlns:a16="http://schemas.microsoft.com/office/drawing/2014/main" id="{1B78F178-A473-4253-AAF0-666330C8DD0A}"/>
                </a:ext>
              </a:extLst>
            </p:cNvPr>
            <p:cNvSpPr>
              <a:spLocks noChangeAspect="1" noChangeArrowheads="1"/>
            </p:cNvSpPr>
            <p:nvPr/>
          </p:nvSpPr>
          <p:spPr bwMode="ltGray">
            <a:xfrm>
              <a:off x="2280" y="2208"/>
              <a:ext cx="432" cy="432"/>
            </a:xfrm>
            <a:prstGeom prst="ellipse">
              <a:avLst/>
            </a:pr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2</a:t>
              </a:r>
            </a:p>
          </p:txBody>
        </p:sp>
        <p:sp>
          <p:nvSpPr>
            <p:cNvPr id="109600" name="AutoShape 7">
              <a:extLst>
                <a:ext uri="{FF2B5EF4-FFF2-40B4-BE49-F238E27FC236}">
                  <a16:creationId xmlns:a16="http://schemas.microsoft.com/office/drawing/2014/main" id="{DEAB6477-6008-4B3D-A249-EFAC8A2C695B}"/>
                </a:ext>
              </a:extLst>
            </p:cNvPr>
            <p:cNvSpPr>
              <a:spLocks noChangeAspect="1" noChangeArrowheads="1"/>
            </p:cNvSpPr>
            <p:nvPr/>
          </p:nvSpPr>
          <p:spPr bwMode="ltGray">
            <a:xfrm>
              <a:off x="1440" y="1344"/>
              <a:ext cx="433" cy="43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43 w 21600"/>
                <a:gd name="T25" fmla="*/ 3143 h 21600"/>
                <a:gd name="T26" fmla="*/ 18457 w 21600"/>
                <a:gd name="T27" fmla="*/ 18457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noFill/>
            <a:ln w="9525">
              <a:solidFill>
                <a:schemeClr val="fol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F3AE64D5-22ED-4322-BB36-A819379E7E7B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1295400"/>
            <a:ext cx="3352800" cy="1143000"/>
            <a:chOff x="1872" y="816"/>
            <a:chExt cx="2112" cy="720"/>
          </a:xfrm>
        </p:grpSpPr>
        <p:sp>
          <p:nvSpPr>
            <p:cNvPr id="109594" name="Text Box 9">
              <a:extLst>
                <a:ext uri="{FF2B5EF4-FFF2-40B4-BE49-F238E27FC236}">
                  <a16:creationId xmlns:a16="http://schemas.microsoft.com/office/drawing/2014/main" id="{CFAC6C90-1472-4E89-8A0A-B1F9B5AC1F9F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3120" y="816"/>
              <a:ext cx="8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solidFill>
                    <a:srgbClr val="FF3300"/>
                  </a:solidFill>
                  <a:latin typeface="Tahoma" panose="020B0604030504040204" pitchFamily="34" charset="0"/>
                </a:rPr>
                <a:t>3N*2+1</a:t>
              </a:r>
            </a:p>
          </p:txBody>
        </p:sp>
        <p:sp>
          <p:nvSpPr>
            <p:cNvPr id="109595" name="Line 10">
              <a:extLst>
                <a:ext uri="{FF2B5EF4-FFF2-40B4-BE49-F238E27FC236}">
                  <a16:creationId xmlns:a16="http://schemas.microsoft.com/office/drawing/2014/main" id="{2B33BBA3-D8C9-4C4F-8DBE-411064861E64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H="1">
              <a:off x="2784" y="1008"/>
              <a:ext cx="432" cy="38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96" name="Text Box 11">
              <a:extLst>
                <a:ext uri="{FF2B5EF4-FFF2-40B4-BE49-F238E27FC236}">
                  <a16:creationId xmlns:a16="http://schemas.microsoft.com/office/drawing/2014/main" id="{089661E3-A289-434F-B8C1-17F6E372B24F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2256" y="1104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109597" name="Freeform 12">
              <a:extLst>
                <a:ext uri="{FF2B5EF4-FFF2-40B4-BE49-F238E27FC236}">
                  <a16:creationId xmlns:a16="http://schemas.microsoft.com/office/drawing/2014/main" id="{A6AC2211-ED1F-45FE-9C65-EC2F4D9EDA0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872" y="1385"/>
              <a:ext cx="1248" cy="151"/>
            </a:xfrm>
            <a:custGeom>
              <a:avLst/>
              <a:gdLst>
                <a:gd name="T0" fmla="*/ 0 w 1248"/>
                <a:gd name="T1" fmla="*/ 151 h 151"/>
                <a:gd name="T2" fmla="*/ 246 w 1248"/>
                <a:gd name="T3" fmla="*/ 45 h 151"/>
                <a:gd name="T4" fmla="*/ 636 w 1248"/>
                <a:gd name="T5" fmla="*/ 1 h 151"/>
                <a:gd name="T6" fmla="*/ 1061 w 1248"/>
                <a:gd name="T7" fmla="*/ 37 h 151"/>
                <a:gd name="T8" fmla="*/ 1248 w 1248"/>
                <a:gd name="T9" fmla="*/ 151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48"/>
                <a:gd name="T16" fmla="*/ 0 h 151"/>
                <a:gd name="T17" fmla="*/ 1248 w 1248"/>
                <a:gd name="T18" fmla="*/ 151 h 15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48" h="151">
                  <a:moveTo>
                    <a:pt x="0" y="151"/>
                  </a:moveTo>
                  <a:cubicBezTo>
                    <a:pt x="41" y="133"/>
                    <a:pt x="140" y="70"/>
                    <a:pt x="246" y="45"/>
                  </a:cubicBezTo>
                  <a:cubicBezTo>
                    <a:pt x="352" y="20"/>
                    <a:pt x="500" y="2"/>
                    <a:pt x="636" y="1"/>
                  </a:cubicBezTo>
                  <a:cubicBezTo>
                    <a:pt x="772" y="0"/>
                    <a:pt x="959" y="12"/>
                    <a:pt x="1061" y="37"/>
                  </a:cubicBezTo>
                  <a:cubicBezTo>
                    <a:pt x="1163" y="62"/>
                    <a:pt x="1209" y="127"/>
                    <a:pt x="1248" y="151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893262EF-1BD3-408B-BF2C-BCCDE508CCD5}"/>
              </a:ext>
            </a:extLst>
          </p:cNvPr>
          <p:cNvGrpSpPr>
            <a:grpSpLocks/>
          </p:cNvGrpSpPr>
          <p:nvPr/>
        </p:nvGrpSpPr>
        <p:grpSpPr bwMode="auto">
          <a:xfrm>
            <a:off x="3852863" y="2559050"/>
            <a:ext cx="2776537" cy="2012950"/>
            <a:chOff x="2427" y="1612"/>
            <a:chExt cx="1749" cy="1268"/>
          </a:xfrm>
        </p:grpSpPr>
        <p:sp>
          <p:nvSpPr>
            <p:cNvPr id="109590" name="Text Box 14">
              <a:extLst>
                <a:ext uri="{FF2B5EF4-FFF2-40B4-BE49-F238E27FC236}">
                  <a16:creationId xmlns:a16="http://schemas.microsoft.com/office/drawing/2014/main" id="{BECABF25-E376-4120-8AAC-82AA340D61B6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2427" y="177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109591" name="Text Box 15">
              <a:extLst>
                <a:ext uri="{FF2B5EF4-FFF2-40B4-BE49-F238E27FC236}">
                  <a16:creationId xmlns:a16="http://schemas.microsoft.com/office/drawing/2014/main" id="{510A8373-1E0D-4B05-9E10-DF7D8ED7582B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3120" y="2592"/>
              <a:ext cx="10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ahoma" panose="020B0604030504040204" pitchFamily="34" charset="0"/>
                </a:rPr>
                <a:t>(3N+1)*2</a:t>
              </a:r>
            </a:p>
          </p:txBody>
        </p:sp>
        <p:sp>
          <p:nvSpPr>
            <p:cNvPr id="109592" name="Line 16">
              <a:extLst>
                <a:ext uri="{FF2B5EF4-FFF2-40B4-BE49-F238E27FC236}">
                  <a16:creationId xmlns:a16="http://schemas.microsoft.com/office/drawing/2014/main" id="{AAD261C2-33F8-46EF-8520-90351081CFAA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H="1" flipV="1">
              <a:off x="2640" y="2016"/>
              <a:ext cx="864" cy="57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93" name="Freeform 17">
              <a:extLst>
                <a:ext uri="{FF2B5EF4-FFF2-40B4-BE49-F238E27FC236}">
                  <a16:creationId xmlns:a16="http://schemas.microsoft.com/office/drawing/2014/main" id="{B8EB4FF6-3FD2-4B12-9349-2F3CB68FEB40}"/>
                </a:ext>
              </a:extLst>
            </p:cNvPr>
            <p:cNvSpPr>
              <a:spLocks noChangeAspect="1"/>
            </p:cNvSpPr>
            <p:nvPr/>
          </p:nvSpPr>
          <p:spPr bwMode="ltGray">
            <a:xfrm>
              <a:off x="2579" y="1612"/>
              <a:ext cx="574" cy="621"/>
            </a:xfrm>
            <a:custGeom>
              <a:avLst/>
              <a:gdLst>
                <a:gd name="T0" fmla="*/ 574 w 574"/>
                <a:gd name="T1" fmla="*/ 0 h 621"/>
                <a:gd name="T2" fmla="*/ 390 w 574"/>
                <a:gd name="T3" fmla="*/ 89 h 621"/>
                <a:gd name="T4" fmla="*/ 204 w 574"/>
                <a:gd name="T5" fmla="*/ 222 h 621"/>
                <a:gd name="T6" fmla="*/ 71 w 574"/>
                <a:gd name="T7" fmla="*/ 400 h 621"/>
                <a:gd name="T8" fmla="*/ 0 w 574"/>
                <a:gd name="T9" fmla="*/ 621 h 6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4"/>
                <a:gd name="T16" fmla="*/ 0 h 621"/>
                <a:gd name="T17" fmla="*/ 574 w 574"/>
                <a:gd name="T18" fmla="*/ 621 h 6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4" h="621">
                  <a:moveTo>
                    <a:pt x="574" y="0"/>
                  </a:moveTo>
                  <a:cubicBezTo>
                    <a:pt x="543" y="15"/>
                    <a:pt x="452" y="52"/>
                    <a:pt x="390" y="89"/>
                  </a:cubicBezTo>
                  <a:cubicBezTo>
                    <a:pt x="328" y="126"/>
                    <a:pt x="257" y="170"/>
                    <a:pt x="204" y="222"/>
                  </a:cubicBezTo>
                  <a:cubicBezTo>
                    <a:pt x="151" y="274"/>
                    <a:pt x="105" y="334"/>
                    <a:pt x="71" y="400"/>
                  </a:cubicBezTo>
                  <a:cubicBezTo>
                    <a:pt x="37" y="466"/>
                    <a:pt x="15" y="575"/>
                    <a:pt x="0" y="621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8">
            <a:extLst>
              <a:ext uri="{FF2B5EF4-FFF2-40B4-BE49-F238E27FC236}">
                <a16:creationId xmlns:a16="http://schemas.microsoft.com/office/drawing/2014/main" id="{8D29A42E-389A-41BE-8840-F5CA69D6FF6E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362200"/>
            <a:ext cx="3898900" cy="1371600"/>
            <a:chOff x="672" y="1488"/>
            <a:chExt cx="2456" cy="864"/>
          </a:xfrm>
        </p:grpSpPr>
        <p:sp>
          <p:nvSpPr>
            <p:cNvPr id="109586" name="Freeform 19">
              <a:extLst>
                <a:ext uri="{FF2B5EF4-FFF2-40B4-BE49-F238E27FC236}">
                  <a16:creationId xmlns:a16="http://schemas.microsoft.com/office/drawing/2014/main" id="{7082F062-072D-4E30-8E75-2AB58042183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824" y="1584"/>
              <a:ext cx="1304" cy="146"/>
            </a:xfrm>
            <a:custGeom>
              <a:avLst/>
              <a:gdLst>
                <a:gd name="T0" fmla="*/ 1304 w 1304"/>
                <a:gd name="T1" fmla="*/ 0 h 146"/>
                <a:gd name="T2" fmla="*/ 1047 w 1304"/>
                <a:gd name="T3" fmla="*/ 106 h 146"/>
                <a:gd name="T4" fmla="*/ 675 w 1304"/>
                <a:gd name="T5" fmla="*/ 141 h 146"/>
                <a:gd name="T6" fmla="*/ 276 w 1304"/>
                <a:gd name="T7" fmla="*/ 124 h 146"/>
                <a:gd name="T8" fmla="*/ 0 w 1304"/>
                <a:gd name="T9" fmla="*/ 10 h 1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04"/>
                <a:gd name="T16" fmla="*/ 0 h 146"/>
                <a:gd name="T17" fmla="*/ 1304 w 1304"/>
                <a:gd name="T18" fmla="*/ 146 h 1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04" h="146">
                  <a:moveTo>
                    <a:pt x="1304" y="0"/>
                  </a:moveTo>
                  <a:cubicBezTo>
                    <a:pt x="1261" y="18"/>
                    <a:pt x="1152" y="83"/>
                    <a:pt x="1047" y="106"/>
                  </a:cubicBezTo>
                  <a:cubicBezTo>
                    <a:pt x="942" y="129"/>
                    <a:pt x="803" y="138"/>
                    <a:pt x="675" y="141"/>
                  </a:cubicBezTo>
                  <a:cubicBezTo>
                    <a:pt x="547" y="144"/>
                    <a:pt x="388" y="146"/>
                    <a:pt x="276" y="124"/>
                  </a:cubicBezTo>
                  <a:cubicBezTo>
                    <a:pt x="164" y="102"/>
                    <a:pt x="57" y="34"/>
                    <a:pt x="0" y="10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87" name="Text Box 20">
              <a:extLst>
                <a:ext uri="{FF2B5EF4-FFF2-40B4-BE49-F238E27FC236}">
                  <a16:creationId xmlns:a16="http://schemas.microsoft.com/office/drawing/2014/main" id="{2F37BAEF-72B8-48A9-A237-FDA49C6A5A08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2256" y="1488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109588" name="Text Box 21">
              <a:extLst>
                <a:ext uri="{FF2B5EF4-FFF2-40B4-BE49-F238E27FC236}">
                  <a16:creationId xmlns:a16="http://schemas.microsoft.com/office/drawing/2014/main" id="{6A1DD291-FA92-486F-91FB-A1E600D464DC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672" y="2064"/>
              <a:ext cx="1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ahoma" panose="020B0604030504040204" pitchFamily="34" charset="0"/>
                </a:rPr>
                <a:t>(3N+1)*2+1</a:t>
              </a:r>
            </a:p>
          </p:txBody>
        </p:sp>
        <p:sp>
          <p:nvSpPr>
            <p:cNvPr id="109589" name="Line 22">
              <a:extLst>
                <a:ext uri="{FF2B5EF4-FFF2-40B4-BE49-F238E27FC236}">
                  <a16:creationId xmlns:a16="http://schemas.microsoft.com/office/drawing/2014/main" id="{34D58E7E-D68A-4A8B-843A-0B9D4BD188F8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1392" y="1728"/>
              <a:ext cx="816" cy="2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23">
            <a:extLst>
              <a:ext uri="{FF2B5EF4-FFF2-40B4-BE49-F238E27FC236}">
                <a16:creationId xmlns:a16="http://schemas.microsoft.com/office/drawing/2014/main" id="{6C0F422D-3ED5-461B-941F-EC48ADEEE753}"/>
              </a:ext>
            </a:extLst>
          </p:cNvPr>
          <p:cNvGrpSpPr>
            <a:grpSpLocks/>
          </p:cNvGrpSpPr>
          <p:nvPr/>
        </p:nvGrpSpPr>
        <p:grpSpPr bwMode="auto">
          <a:xfrm>
            <a:off x="4246563" y="2711450"/>
            <a:ext cx="3525837" cy="985838"/>
            <a:chOff x="2675" y="1708"/>
            <a:chExt cx="2221" cy="621"/>
          </a:xfrm>
        </p:grpSpPr>
        <p:sp>
          <p:nvSpPr>
            <p:cNvPr id="109582" name="Freeform 24">
              <a:extLst>
                <a:ext uri="{FF2B5EF4-FFF2-40B4-BE49-F238E27FC236}">
                  <a16:creationId xmlns:a16="http://schemas.microsoft.com/office/drawing/2014/main" id="{75FD063C-26B0-4817-85C0-7B519BB9F38D}"/>
                </a:ext>
              </a:extLst>
            </p:cNvPr>
            <p:cNvSpPr>
              <a:spLocks noChangeAspect="1"/>
            </p:cNvSpPr>
            <p:nvPr/>
          </p:nvSpPr>
          <p:spPr bwMode="ltGray">
            <a:xfrm flipH="1" flipV="1">
              <a:off x="2675" y="1708"/>
              <a:ext cx="574" cy="621"/>
            </a:xfrm>
            <a:custGeom>
              <a:avLst/>
              <a:gdLst>
                <a:gd name="T0" fmla="*/ 574 w 574"/>
                <a:gd name="T1" fmla="*/ 0 h 621"/>
                <a:gd name="T2" fmla="*/ 390 w 574"/>
                <a:gd name="T3" fmla="*/ 89 h 621"/>
                <a:gd name="T4" fmla="*/ 204 w 574"/>
                <a:gd name="T5" fmla="*/ 222 h 621"/>
                <a:gd name="T6" fmla="*/ 71 w 574"/>
                <a:gd name="T7" fmla="*/ 400 h 621"/>
                <a:gd name="T8" fmla="*/ 0 w 574"/>
                <a:gd name="T9" fmla="*/ 621 h 6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74"/>
                <a:gd name="T16" fmla="*/ 0 h 621"/>
                <a:gd name="T17" fmla="*/ 574 w 574"/>
                <a:gd name="T18" fmla="*/ 621 h 6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74" h="621">
                  <a:moveTo>
                    <a:pt x="574" y="0"/>
                  </a:moveTo>
                  <a:cubicBezTo>
                    <a:pt x="543" y="15"/>
                    <a:pt x="452" y="52"/>
                    <a:pt x="390" y="89"/>
                  </a:cubicBezTo>
                  <a:cubicBezTo>
                    <a:pt x="328" y="126"/>
                    <a:pt x="257" y="170"/>
                    <a:pt x="204" y="222"/>
                  </a:cubicBezTo>
                  <a:cubicBezTo>
                    <a:pt x="151" y="274"/>
                    <a:pt x="105" y="334"/>
                    <a:pt x="71" y="400"/>
                  </a:cubicBezTo>
                  <a:cubicBezTo>
                    <a:pt x="37" y="466"/>
                    <a:pt x="15" y="575"/>
                    <a:pt x="0" y="621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83" name="Text Box 25">
              <a:extLst>
                <a:ext uri="{FF2B5EF4-FFF2-40B4-BE49-F238E27FC236}">
                  <a16:creationId xmlns:a16="http://schemas.microsoft.com/office/drawing/2014/main" id="{51AA3ED5-9916-4C46-9B90-FF4F100650CC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3024" y="192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chemeClr val="folHlink"/>
                  </a:solidFill>
                  <a:latin typeface="Tahoma" panose="020B0604030504040204" pitchFamily="34" charset="0"/>
                </a:rPr>
                <a:t>0</a:t>
              </a:r>
            </a:p>
          </p:txBody>
        </p:sp>
        <p:sp>
          <p:nvSpPr>
            <p:cNvPr id="109584" name="Text Box 26">
              <a:extLst>
                <a:ext uri="{FF2B5EF4-FFF2-40B4-BE49-F238E27FC236}">
                  <a16:creationId xmlns:a16="http://schemas.microsoft.com/office/drawing/2014/main" id="{0F841548-ACF0-486B-9EBC-4DFCFB51ACCE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3840" y="1920"/>
              <a:ext cx="10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ahoma" panose="020B0604030504040204" pitchFamily="34" charset="0"/>
                </a:rPr>
                <a:t>(3N+2)*2</a:t>
              </a:r>
            </a:p>
          </p:txBody>
        </p:sp>
        <p:sp>
          <p:nvSpPr>
            <p:cNvPr id="109585" name="Line 27">
              <a:extLst>
                <a:ext uri="{FF2B5EF4-FFF2-40B4-BE49-F238E27FC236}">
                  <a16:creationId xmlns:a16="http://schemas.microsoft.com/office/drawing/2014/main" id="{A4F76F7B-90DD-4B15-889F-1D82FD53B8FB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H="1" flipV="1">
              <a:off x="3216" y="1920"/>
              <a:ext cx="672" cy="14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28">
            <a:extLst>
              <a:ext uri="{FF2B5EF4-FFF2-40B4-BE49-F238E27FC236}">
                <a16:creationId xmlns:a16="http://schemas.microsoft.com/office/drawing/2014/main" id="{927AAE57-43A9-4205-BDA5-4493B3CF728F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114800"/>
            <a:ext cx="3441700" cy="914400"/>
            <a:chOff x="528" y="2592"/>
            <a:chExt cx="2168" cy="576"/>
          </a:xfrm>
        </p:grpSpPr>
        <p:sp>
          <p:nvSpPr>
            <p:cNvPr id="109578" name="Freeform 29">
              <a:extLst>
                <a:ext uri="{FF2B5EF4-FFF2-40B4-BE49-F238E27FC236}">
                  <a16:creationId xmlns:a16="http://schemas.microsoft.com/office/drawing/2014/main" id="{5523D07F-EE8B-4799-99DC-F13CAC68EFB7}"/>
                </a:ext>
              </a:extLst>
            </p:cNvPr>
            <p:cNvSpPr>
              <a:spLocks/>
            </p:cNvSpPr>
            <p:nvPr/>
          </p:nvSpPr>
          <p:spPr bwMode="ltGray">
            <a:xfrm flipV="1">
              <a:off x="2304" y="2592"/>
              <a:ext cx="392" cy="306"/>
            </a:xfrm>
            <a:custGeom>
              <a:avLst/>
              <a:gdLst>
                <a:gd name="T0" fmla="*/ 341 w 392"/>
                <a:gd name="T1" fmla="*/ 296 h 306"/>
                <a:gd name="T2" fmla="*/ 385 w 392"/>
                <a:gd name="T3" fmla="*/ 199 h 306"/>
                <a:gd name="T4" fmla="*/ 367 w 392"/>
                <a:gd name="T5" fmla="*/ 75 h 306"/>
                <a:gd name="T6" fmla="*/ 235 w 392"/>
                <a:gd name="T7" fmla="*/ 4 h 306"/>
                <a:gd name="T8" fmla="*/ 57 w 392"/>
                <a:gd name="T9" fmla="*/ 48 h 306"/>
                <a:gd name="T10" fmla="*/ 4 w 392"/>
                <a:gd name="T11" fmla="*/ 190 h 306"/>
                <a:gd name="T12" fmla="*/ 78 w 392"/>
                <a:gd name="T13" fmla="*/ 306 h 3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92"/>
                <a:gd name="T22" fmla="*/ 0 h 306"/>
                <a:gd name="T23" fmla="*/ 392 w 392"/>
                <a:gd name="T24" fmla="*/ 306 h 30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92" h="306">
                  <a:moveTo>
                    <a:pt x="341" y="296"/>
                  </a:moveTo>
                  <a:cubicBezTo>
                    <a:pt x="348" y="280"/>
                    <a:pt x="381" y="236"/>
                    <a:pt x="385" y="199"/>
                  </a:cubicBezTo>
                  <a:cubicBezTo>
                    <a:pt x="389" y="162"/>
                    <a:pt x="392" y="107"/>
                    <a:pt x="367" y="75"/>
                  </a:cubicBezTo>
                  <a:cubicBezTo>
                    <a:pt x="342" y="43"/>
                    <a:pt x="287" y="8"/>
                    <a:pt x="235" y="4"/>
                  </a:cubicBezTo>
                  <a:cubicBezTo>
                    <a:pt x="183" y="0"/>
                    <a:pt x="95" y="17"/>
                    <a:pt x="57" y="48"/>
                  </a:cubicBezTo>
                  <a:cubicBezTo>
                    <a:pt x="19" y="79"/>
                    <a:pt x="0" y="147"/>
                    <a:pt x="4" y="190"/>
                  </a:cubicBezTo>
                  <a:cubicBezTo>
                    <a:pt x="8" y="233"/>
                    <a:pt x="63" y="282"/>
                    <a:pt x="78" y="306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9579" name="Text Box 30">
              <a:extLst>
                <a:ext uri="{FF2B5EF4-FFF2-40B4-BE49-F238E27FC236}">
                  <a16:creationId xmlns:a16="http://schemas.microsoft.com/office/drawing/2014/main" id="{5DDEA158-02F2-4949-BF8E-AD031C02C165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2304" y="288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 dirty="0">
                  <a:solidFill>
                    <a:schemeClr val="folHlink"/>
                  </a:solidFill>
                  <a:latin typeface="Tahoma" panose="020B0604030504040204" pitchFamily="34" charset="0"/>
                </a:rPr>
                <a:t>1</a:t>
              </a:r>
            </a:p>
          </p:txBody>
        </p:sp>
        <p:sp>
          <p:nvSpPr>
            <p:cNvPr id="109580" name="Text Box 31">
              <a:extLst>
                <a:ext uri="{FF2B5EF4-FFF2-40B4-BE49-F238E27FC236}">
                  <a16:creationId xmlns:a16="http://schemas.microsoft.com/office/drawing/2014/main" id="{E8E36A77-5B41-4E96-9585-6380D2FC095C}"/>
                </a:ext>
              </a:extLst>
            </p:cNvPr>
            <p:cNvSpPr txBox="1">
              <a:spLocks noChangeArrowheads="1"/>
            </p:cNvSpPr>
            <p:nvPr/>
          </p:nvSpPr>
          <p:spPr bwMode="ltGray">
            <a:xfrm>
              <a:off x="528" y="2640"/>
              <a:ext cx="12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0">
                  <a:solidFill>
                    <a:srgbClr val="FF3300"/>
                  </a:solidFill>
                  <a:latin typeface="Tahoma" panose="020B0604030504040204" pitchFamily="34" charset="0"/>
                </a:rPr>
                <a:t>(3N+2)*2+1</a:t>
              </a:r>
            </a:p>
          </p:txBody>
        </p:sp>
        <p:sp>
          <p:nvSpPr>
            <p:cNvPr id="109581" name="Line 32">
              <a:extLst>
                <a:ext uri="{FF2B5EF4-FFF2-40B4-BE49-F238E27FC236}">
                  <a16:creationId xmlns:a16="http://schemas.microsoft.com/office/drawing/2014/main" id="{D49128D7-1E5D-45D1-9F7F-D5B209CA97C0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1728" y="2736"/>
              <a:ext cx="57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3" name="Freeform 29">
            <a:extLst>
              <a:ext uri="{FF2B5EF4-FFF2-40B4-BE49-F238E27FC236}">
                <a16:creationId xmlns:a16="http://schemas.microsoft.com/office/drawing/2014/main" id="{2843C22B-A5F7-BA49-82A9-DA6602163581}"/>
              </a:ext>
            </a:extLst>
          </p:cNvPr>
          <p:cNvSpPr>
            <a:spLocks/>
          </p:cNvSpPr>
          <p:nvPr/>
        </p:nvSpPr>
        <p:spPr bwMode="ltGray">
          <a:xfrm rot="4628165" flipV="1">
            <a:off x="1825154" y="2284413"/>
            <a:ext cx="622300" cy="485775"/>
          </a:xfrm>
          <a:custGeom>
            <a:avLst/>
            <a:gdLst>
              <a:gd name="T0" fmla="*/ 341 w 392"/>
              <a:gd name="T1" fmla="*/ 296 h 306"/>
              <a:gd name="T2" fmla="*/ 385 w 392"/>
              <a:gd name="T3" fmla="*/ 199 h 306"/>
              <a:gd name="T4" fmla="*/ 367 w 392"/>
              <a:gd name="T5" fmla="*/ 75 h 306"/>
              <a:gd name="T6" fmla="*/ 235 w 392"/>
              <a:gd name="T7" fmla="*/ 4 h 306"/>
              <a:gd name="T8" fmla="*/ 57 w 392"/>
              <a:gd name="T9" fmla="*/ 48 h 306"/>
              <a:gd name="T10" fmla="*/ 4 w 392"/>
              <a:gd name="T11" fmla="*/ 190 h 306"/>
              <a:gd name="T12" fmla="*/ 78 w 392"/>
              <a:gd name="T13" fmla="*/ 306 h 30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392"/>
              <a:gd name="T22" fmla="*/ 0 h 306"/>
              <a:gd name="T23" fmla="*/ 392 w 392"/>
              <a:gd name="T24" fmla="*/ 306 h 30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392" h="306">
                <a:moveTo>
                  <a:pt x="341" y="296"/>
                </a:moveTo>
                <a:cubicBezTo>
                  <a:pt x="348" y="280"/>
                  <a:pt x="381" y="236"/>
                  <a:pt x="385" y="199"/>
                </a:cubicBezTo>
                <a:cubicBezTo>
                  <a:pt x="389" y="162"/>
                  <a:pt x="392" y="107"/>
                  <a:pt x="367" y="75"/>
                </a:cubicBezTo>
                <a:cubicBezTo>
                  <a:pt x="342" y="43"/>
                  <a:pt x="287" y="8"/>
                  <a:pt x="235" y="4"/>
                </a:cubicBezTo>
                <a:cubicBezTo>
                  <a:pt x="183" y="0"/>
                  <a:pt x="95" y="17"/>
                  <a:pt x="57" y="48"/>
                </a:cubicBezTo>
                <a:cubicBezTo>
                  <a:pt x="19" y="79"/>
                  <a:pt x="0" y="147"/>
                  <a:pt x="4" y="190"/>
                </a:cubicBezTo>
                <a:cubicBezTo>
                  <a:pt x="8" y="233"/>
                  <a:pt x="63" y="282"/>
                  <a:pt x="78" y="306"/>
                </a:cubicBezTo>
              </a:path>
            </a:pathLst>
          </a:custGeom>
          <a:noFill/>
          <a:ln w="25400" cap="flat" cmpd="sng">
            <a:solidFill>
              <a:schemeClr val="folHlink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Text Box 30">
            <a:extLst>
              <a:ext uri="{FF2B5EF4-FFF2-40B4-BE49-F238E27FC236}">
                <a16:creationId xmlns:a16="http://schemas.microsoft.com/office/drawing/2014/main" id="{46EE9CDE-79AA-B749-A0CB-682B1043A4E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423988" y="225425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chemeClr val="folHlink"/>
                </a:solidFill>
                <a:latin typeface="Tahoma" panose="020B0604030504040204" pitchFamily="34" charset="0"/>
              </a:rPr>
              <a:t>0</a:t>
            </a:r>
          </a:p>
        </p:txBody>
      </p:sp>
      <p:sp>
        <p:nvSpPr>
          <p:cNvPr id="35" name="Text Box 9">
            <a:extLst>
              <a:ext uri="{FF2B5EF4-FFF2-40B4-BE49-F238E27FC236}">
                <a16:creationId xmlns:a16="http://schemas.microsoft.com/office/drawing/2014/main" id="{95F51776-900E-5748-98AC-2D464F2ECBC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41300" y="1772816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rgbClr val="FF3300"/>
                </a:solidFill>
                <a:latin typeface="Tahoma" panose="020B0604030504040204" pitchFamily="34" charset="0"/>
              </a:rPr>
              <a:t>3N*2</a:t>
            </a:r>
          </a:p>
        </p:txBody>
      </p:sp>
      <p:sp>
        <p:nvSpPr>
          <p:cNvPr id="36" name="Line 10">
            <a:extLst>
              <a:ext uri="{FF2B5EF4-FFF2-40B4-BE49-F238E27FC236}">
                <a16:creationId xmlns:a16="http://schemas.microsoft.com/office/drawing/2014/main" id="{2B494F61-A9FE-0248-BFBA-DD8A507B16A4}"/>
              </a:ext>
            </a:extLst>
          </p:cNvPr>
          <p:cNvSpPr>
            <a:spLocks noChangeShapeType="1"/>
          </p:cNvSpPr>
          <p:nvPr/>
        </p:nvSpPr>
        <p:spPr bwMode="ltGray">
          <a:xfrm>
            <a:off x="1066800" y="2169884"/>
            <a:ext cx="890588" cy="166916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/>
      <p:bldP spid="35" grpId="0"/>
      <p:bldP spid="36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F9B673F9-6639-416A-B3ED-C3644D7276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狼、羊、白菜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12D645EA-0C94-473A-8B32-781BD1A71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状态？</a:t>
            </a:r>
          </a:p>
          <a:p>
            <a:pPr eaLnBrk="1" hangingPunct="1"/>
            <a:r>
              <a:rPr lang="zh-CN" altLang="en-US"/>
              <a:t>边？</a:t>
            </a:r>
          </a:p>
          <a:p>
            <a:pPr eaLnBrk="1" hangingPunct="1"/>
            <a:r>
              <a:rPr lang="zh-CN" altLang="en-US"/>
              <a:t>初态？</a:t>
            </a:r>
          </a:p>
          <a:p>
            <a:pPr eaLnBrk="1" hangingPunct="1"/>
            <a:r>
              <a:rPr lang="zh-CN" altLang="en-US"/>
              <a:t>终态？</a:t>
            </a:r>
          </a:p>
          <a:p>
            <a:pPr eaLnBrk="1" hangingPunct="1"/>
            <a:r>
              <a:rPr lang="zh-CN" altLang="en-US"/>
              <a:t>死状态？</a:t>
            </a:r>
          </a:p>
          <a:p>
            <a:pPr eaLnBrk="1" hangingPunct="1"/>
            <a:r>
              <a:rPr lang="zh-CN" altLang="en-US"/>
              <a:t>目标？</a:t>
            </a:r>
          </a:p>
        </p:txBody>
      </p:sp>
      <p:sp>
        <p:nvSpPr>
          <p:cNvPr id="386055" name="Text Box 7">
            <a:extLst>
              <a:ext uri="{FF2B5EF4-FFF2-40B4-BE49-F238E27FC236}">
                <a16:creationId xmlns:a16="http://schemas.microsoft.com/office/drawing/2014/main" id="{A2CCD1CA-9AF9-4BB2-8638-BC9A74E9DCB0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844800" y="1379538"/>
            <a:ext cx="5111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0">
                <a:solidFill>
                  <a:srgbClr val="FF3300"/>
                </a:solidFill>
                <a:latin typeface="Tahoma" panose="020B0604030504040204" pitchFamily="34" charset="0"/>
              </a:rPr>
              <a:t>人、狼、羊、白菜的位置</a:t>
            </a:r>
          </a:p>
        </p:txBody>
      </p:sp>
      <p:sp>
        <p:nvSpPr>
          <p:cNvPr id="386057" name="Text Box 9">
            <a:extLst>
              <a:ext uri="{FF2B5EF4-FFF2-40B4-BE49-F238E27FC236}">
                <a16:creationId xmlns:a16="http://schemas.microsoft.com/office/drawing/2014/main" id="{A7F3C3E1-8080-4520-84B5-55B54BEC8D52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339975" y="1985963"/>
            <a:ext cx="5111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0">
                <a:solidFill>
                  <a:srgbClr val="FF3300"/>
                </a:solidFill>
                <a:latin typeface="Tahoma" panose="020B0604030504040204" pitchFamily="34" charset="0"/>
              </a:rPr>
              <a:t>渡河动作</a:t>
            </a:r>
          </a:p>
        </p:txBody>
      </p:sp>
      <p:sp>
        <p:nvSpPr>
          <p:cNvPr id="386058" name="Text Box 10">
            <a:extLst>
              <a:ext uri="{FF2B5EF4-FFF2-40B4-BE49-F238E27FC236}">
                <a16:creationId xmlns:a16="http://schemas.microsoft.com/office/drawing/2014/main" id="{06924169-2A7D-4C46-93CB-B51F935F51CB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773363" y="2530475"/>
            <a:ext cx="5111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0">
                <a:solidFill>
                  <a:srgbClr val="FF3300"/>
                </a:solidFill>
                <a:latin typeface="Tahoma" panose="020B0604030504040204" pitchFamily="34" charset="0"/>
              </a:rPr>
              <a:t>MWSC</a:t>
            </a:r>
          </a:p>
        </p:txBody>
      </p:sp>
      <p:sp>
        <p:nvSpPr>
          <p:cNvPr id="386059" name="Text Box 11">
            <a:extLst>
              <a:ext uri="{FF2B5EF4-FFF2-40B4-BE49-F238E27FC236}">
                <a16:creationId xmlns:a16="http://schemas.microsoft.com/office/drawing/2014/main" id="{62E0FE9E-261D-41C0-BDE3-8CD3574601B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773363" y="3136900"/>
            <a:ext cx="51117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0">
                <a:solidFill>
                  <a:srgbClr val="FF3300"/>
                </a:solidFill>
                <a:latin typeface="Symbol" panose="05050102010706020507" pitchFamily="18" charset="2"/>
              </a:rPr>
              <a:t>e</a:t>
            </a:r>
          </a:p>
        </p:txBody>
      </p:sp>
      <p:sp>
        <p:nvSpPr>
          <p:cNvPr id="386060" name="Text Box 12">
            <a:extLst>
              <a:ext uri="{FF2B5EF4-FFF2-40B4-BE49-F238E27FC236}">
                <a16:creationId xmlns:a16="http://schemas.microsoft.com/office/drawing/2014/main" id="{6180680B-1A58-42A3-BD0B-88F06751CF2A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132138" y="3713163"/>
            <a:ext cx="51117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b="0">
                <a:solidFill>
                  <a:srgbClr val="FF3300"/>
                </a:solidFill>
                <a:latin typeface="Tahoma" panose="020B0604030504040204" pitchFamily="34" charset="0"/>
              </a:rPr>
              <a:t>WS</a:t>
            </a:r>
            <a:r>
              <a:rPr lang="zh-CN" altLang="en-US" b="0">
                <a:solidFill>
                  <a:srgbClr val="FF3300"/>
                </a:solidFill>
                <a:latin typeface="Tahoma" panose="020B0604030504040204" pitchFamily="34" charset="0"/>
              </a:rPr>
              <a:t>、</a:t>
            </a:r>
            <a:r>
              <a:rPr lang="en-US" altLang="zh-CN" b="0">
                <a:solidFill>
                  <a:srgbClr val="FF3300"/>
                </a:solidFill>
                <a:latin typeface="Tahoma" panose="020B0604030504040204" pitchFamily="34" charset="0"/>
              </a:rPr>
              <a:t>MC</a:t>
            </a:r>
            <a:r>
              <a:rPr lang="zh-CN" altLang="en-US" b="0">
                <a:solidFill>
                  <a:srgbClr val="FF3300"/>
                </a:solidFill>
                <a:latin typeface="Tahoma" panose="020B0604030504040204" pitchFamily="34" charset="0"/>
              </a:rPr>
              <a:t>、</a:t>
            </a:r>
            <a:r>
              <a:rPr lang="en-US" altLang="zh-CN" b="0">
                <a:solidFill>
                  <a:srgbClr val="FF3300"/>
                </a:solidFill>
                <a:latin typeface="Tahoma" panose="020B0604030504040204" pitchFamily="34" charset="0"/>
              </a:rPr>
              <a:t>…</a:t>
            </a:r>
          </a:p>
        </p:txBody>
      </p:sp>
      <p:sp>
        <p:nvSpPr>
          <p:cNvPr id="386061" name="Text Box 13">
            <a:extLst>
              <a:ext uri="{FF2B5EF4-FFF2-40B4-BE49-F238E27FC236}">
                <a16:creationId xmlns:a16="http://schemas.microsoft.com/office/drawing/2014/main" id="{E107ADE7-B63D-4DED-B517-B7084796651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700338" y="4330700"/>
            <a:ext cx="51117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0">
                <a:solidFill>
                  <a:srgbClr val="FF3300"/>
                </a:solidFill>
                <a:latin typeface="Tahoma" panose="020B0604030504040204" pitchFamily="34" charset="0"/>
              </a:rPr>
              <a:t>初态</a:t>
            </a:r>
            <a:r>
              <a:rPr lang="zh-CN" altLang="en-US" b="0">
                <a:solidFill>
                  <a:srgbClr val="FF33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终态的路径</a:t>
            </a:r>
            <a:br>
              <a:rPr lang="zh-CN" altLang="en-US" b="0">
                <a:solidFill>
                  <a:srgbClr val="FF33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</a:br>
            <a:r>
              <a:rPr lang="zh-CN" altLang="en-US" b="0">
                <a:solidFill>
                  <a:srgbClr val="FF33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“单词”</a:t>
            </a:r>
            <a:r>
              <a:rPr lang="en-US" altLang="zh-CN" b="0">
                <a:solidFill>
                  <a:srgbClr val="FF33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——</a:t>
            </a:r>
            <a:r>
              <a:rPr lang="zh-CN" altLang="en-US" b="0">
                <a:solidFill>
                  <a:srgbClr val="FF3300"/>
                </a:solidFill>
                <a:latin typeface="Tahoma" panose="020B0604030504040204" pitchFamily="34" charset="0"/>
                <a:sym typeface="Wingdings" panose="05000000000000000000" pitchFamily="2" charset="2"/>
              </a:rPr>
              <a:t>渡河方案</a:t>
            </a:r>
            <a:endParaRPr lang="zh-CN" altLang="en-US" b="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55" grpId="0"/>
      <p:bldP spid="386057" grpId="0"/>
      <p:bldP spid="386058" grpId="0"/>
      <p:bldP spid="386059" grpId="0"/>
      <p:bldP spid="386060" grpId="0"/>
      <p:bldP spid="386061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B5D96A8A-C8AA-4900-B67A-E62BEBBC76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3.7  </a:t>
            </a:r>
            <a:r>
              <a:rPr lang="zh-CN" altLang="en-US"/>
              <a:t>由正规式构造</a:t>
            </a:r>
            <a:r>
              <a:rPr lang="en-US" altLang="zh-CN"/>
              <a:t>NFA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85446F2F-CC4E-4D5E-8600-E842E089D5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dirty="0"/>
              <a:t>目的</a:t>
            </a:r>
          </a:p>
          <a:p>
            <a:pPr lvl="1" eaLnBrk="1" hangingPunct="1"/>
            <a:r>
              <a:rPr lang="zh-CN" altLang="en-US" dirty="0"/>
              <a:t>正规式（描述单词）</a:t>
            </a:r>
            <a:br>
              <a:rPr lang="zh-CN" altLang="en-US" dirty="0"/>
            </a:br>
            <a:r>
              <a:rPr lang="zh-CN" altLang="en-US" dirty="0">
                <a:sym typeface="Wingdings" panose="05000000000000000000" pitchFamily="2" charset="2"/>
              </a:rPr>
              <a:t></a:t>
            </a:r>
            <a:r>
              <a:rPr lang="en-US" altLang="zh-CN" dirty="0">
                <a:sym typeface="Wingdings" panose="05000000000000000000" pitchFamily="2" charset="2"/>
              </a:rPr>
              <a:t>NFA</a:t>
            </a:r>
            <a:r>
              <a:rPr lang="zh-CN" altLang="en-US" dirty="0">
                <a:sym typeface="Wingdings" panose="05000000000000000000" pitchFamily="2" charset="2"/>
              </a:rPr>
              <a:t>（单词识别）</a:t>
            </a:r>
            <a:br>
              <a:rPr lang="zh-CN" altLang="en-US" dirty="0">
                <a:sym typeface="Wingdings" panose="05000000000000000000" pitchFamily="2" charset="2"/>
              </a:rPr>
            </a:br>
            <a:r>
              <a:rPr lang="zh-CN" altLang="en-US" dirty="0">
                <a:sym typeface="Wingdings" panose="05000000000000000000" pitchFamily="2" charset="2"/>
              </a:rPr>
              <a:t></a:t>
            </a:r>
            <a:r>
              <a:rPr lang="en-US" altLang="zh-CN" dirty="0">
                <a:sym typeface="Wingdings" panose="05000000000000000000" pitchFamily="2" charset="2"/>
              </a:rPr>
              <a:t>DFA</a:t>
            </a:r>
            <a:r>
              <a:rPr lang="zh-CN" altLang="en-US" dirty="0">
                <a:sym typeface="Wingdings" panose="05000000000000000000" pitchFamily="2" charset="2"/>
              </a:rPr>
              <a:t>（适于计算机高效实现）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A64682A2-F327-4E0C-8DF6-3ED7A3AD36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算法描述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D4238D0D-A5A2-493C-B696-0E61790D7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语法制导</a:t>
            </a:r>
            <a:r>
              <a:rPr lang="zh-CN" altLang="en-US" dirty="0">
                <a:sym typeface="Wingdings" panose="05000000000000000000" pitchFamily="2" charset="2"/>
              </a:rPr>
              <a:t>方式</a:t>
            </a:r>
            <a:r>
              <a:rPr lang="en-US" altLang="zh-CN" dirty="0">
                <a:latin typeface="Tahoma" panose="020B0604030504040204" pitchFamily="34" charset="0"/>
                <a:sym typeface="Wingdings" panose="05000000000000000000" pitchFamily="2" charset="2"/>
              </a:rPr>
              <a:t>——</a:t>
            </a:r>
            <a:r>
              <a:rPr lang="zh-CN" altLang="en-US" dirty="0">
                <a:sym typeface="Wingdings" panose="05000000000000000000" pitchFamily="2" charset="2"/>
              </a:rPr>
              <a:t>根据正规式的语法结构设计将其转换为</a:t>
            </a:r>
            <a:r>
              <a:rPr lang="en-US" altLang="zh-CN" dirty="0">
                <a:sym typeface="Wingdings" panose="05000000000000000000" pitchFamily="2" charset="2"/>
              </a:rPr>
              <a:t>NFA</a:t>
            </a:r>
            <a:r>
              <a:rPr lang="zh-CN" altLang="en-US" dirty="0">
                <a:sym typeface="Wingdings" panose="05000000000000000000" pitchFamily="2" charset="2"/>
              </a:rPr>
              <a:t>的方法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基本情况（基本正规式如何转换为</a:t>
            </a:r>
            <a:r>
              <a:rPr lang="en-US" altLang="zh-CN" dirty="0">
                <a:sym typeface="Wingdings" panose="05000000000000000000" pitchFamily="2" charset="2"/>
              </a:rPr>
              <a:t>NFA</a:t>
            </a:r>
            <a:r>
              <a:rPr lang="zh-CN" altLang="en-US" dirty="0">
                <a:sym typeface="Wingdings" panose="05000000000000000000" pitchFamily="2" charset="2"/>
              </a:rPr>
              <a:t>）：</a:t>
            </a:r>
            <a:br>
              <a:rPr lang="en-US" altLang="zh-CN" dirty="0">
                <a:sym typeface="Wingdings" panose="05000000000000000000" pitchFamily="2" charset="2"/>
              </a:rPr>
            </a:br>
            <a:r>
              <a:rPr lang="zh-CN" altLang="en-US" dirty="0">
                <a:sym typeface="Wingdings" panose="05000000000000000000" pitchFamily="2" charset="2"/>
              </a:rPr>
              <a:t>基本符号、 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dirty="0">
                <a:sym typeface="Wingdings" panose="05000000000000000000" pitchFamily="2" charset="2"/>
              </a:rPr>
              <a:t>直接构造简单</a:t>
            </a:r>
            <a:r>
              <a:rPr kumimoji="0" lang="en-US" altLang="zh-CN" dirty="0">
                <a:sym typeface="Wingdings" panose="05000000000000000000" pitchFamily="2" charset="2"/>
              </a:rPr>
              <a:t>NFA</a:t>
            </a: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递归规则（复杂正规式如何转换为</a:t>
            </a:r>
            <a:r>
              <a:rPr lang="en-US" altLang="zh-CN" dirty="0">
                <a:sym typeface="Wingdings" panose="05000000000000000000" pitchFamily="2" charset="2"/>
              </a:rPr>
              <a:t>NFA</a:t>
            </a:r>
            <a:r>
              <a:rPr lang="zh-CN" altLang="en-US" dirty="0">
                <a:sym typeface="Wingdings" panose="05000000000000000000" pitchFamily="2" charset="2"/>
              </a:rPr>
              <a:t>）：</a:t>
            </a:r>
            <a:br>
              <a:rPr lang="en-US" altLang="zh-CN" dirty="0">
                <a:sym typeface="Wingdings" panose="05000000000000000000" pitchFamily="2" charset="2"/>
              </a:rPr>
            </a:b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  <a:sym typeface="Wingdings" panose="05000000000000000000" pitchFamily="2" charset="2"/>
              </a:rPr>
              <a:t>递归方法</a:t>
            </a:r>
            <a:endParaRPr lang="en-US" altLang="zh-CN" sz="3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+mn-cs"/>
              <a:sym typeface="Wingdings" panose="05000000000000000000" pitchFamily="2" charset="2"/>
            </a:endParaRPr>
          </a:p>
          <a:p>
            <a:pPr lvl="2" eaLnBrk="1" hangingPunct="1"/>
            <a:r>
              <a:rPr lang="zh-CN" altLang="en-US" dirty="0">
                <a:sym typeface="Wingdings" panose="05000000000000000000" pitchFamily="2" charset="2"/>
              </a:rPr>
              <a:t>子正规式通过各种运算：</a:t>
            </a:r>
            <a:r>
              <a:rPr lang="en-US" altLang="zh-CN" dirty="0">
                <a:sym typeface="Wingdings" panose="05000000000000000000" pitchFamily="2" charset="2"/>
              </a:rPr>
              <a:t>|</a:t>
            </a:r>
            <a:r>
              <a:rPr lang="zh-CN" altLang="en-US" dirty="0">
                <a:sym typeface="Wingdings" panose="05000000000000000000" pitchFamily="2" charset="2"/>
              </a:rPr>
              <a:t>、连接、闭包构造出复杂正规式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 eaLnBrk="1" hangingPunct="1"/>
            <a:r>
              <a:rPr lang="zh-CN" altLang="en-US" dirty="0">
                <a:sym typeface="Wingdings" panose="05000000000000000000" pitchFamily="2" charset="2"/>
              </a:rPr>
              <a:t>子正规式对应的子</a:t>
            </a:r>
            <a:r>
              <a:rPr lang="en-US" altLang="zh-CN" dirty="0">
                <a:sym typeface="Wingdings" panose="05000000000000000000" pitchFamily="2" charset="2"/>
              </a:rPr>
              <a:t>NFA</a:t>
            </a:r>
            <a:r>
              <a:rPr lang="zh-CN" altLang="en-US" dirty="0">
                <a:sym typeface="Wingdings" panose="05000000000000000000" pitchFamily="2" charset="2"/>
              </a:rPr>
              <a:t>组合为原正规式的</a:t>
            </a:r>
            <a:r>
              <a:rPr lang="en-US" altLang="zh-CN" dirty="0">
                <a:sym typeface="Wingdings" panose="05000000000000000000" pitchFamily="2" charset="2"/>
              </a:rPr>
              <a:t>NFA</a:t>
            </a:r>
            <a:r>
              <a:rPr lang="zh-CN" altLang="en-US" dirty="0">
                <a:sym typeface="Wingdings" panose="05000000000000000000" pitchFamily="2" charset="2"/>
              </a:rPr>
              <a:t>，不同运算有不同的组合方法</a:t>
            </a:r>
            <a:endParaRPr lang="en-US" altLang="zh-CN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  <p:transition spd="slow"/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3D459BD2-98C3-46E2-8ED3-B062C3EB79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3.7.1  </a:t>
            </a:r>
            <a:r>
              <a:rPr lang="zh-CN" altLang="en-US"/>
              <a:t>从正规式到</a:t>
            </a:r>
            <a:r>
              <a:rPr lang="en-US" altLang="zh-CN"/>
              <a:t>NFA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DB609AA1-9F6F-4FD8-8BAF-389F1D663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533400" indent="-533400" eaLnBrk="1" hangingPunct="1"/>
            <a:r>
              <a:rPr lang="zh-CN" altLang="en-US" sz="3600"/>
              <a:t>算法</a:t>
            </a:r>
            <a:r>
              <a:rPr lang="en-US" altLang="zh-CN" sz="3600"/>
              <a:t>3.3</a:t>
            </a:r>
            <a:r>
              <a:rPr lang="zh-CN" altLang="en-US" sz="3600"/>
              <a:t>：</a:t>
            </a:r>
            <a:r>
              <a:rPr lang="en-US" altLang="zh-CN" sz="3600"/>
              <a:t>Thompson</a:t>
            </a:r>
            <a:r>
              <a:rPr lang="zh-CN" altLang="en-US" sz="3600"/>
              <a:t>构造法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lang="zh-CN" altLang="en-US"/>
              <a:t>输入：字母表</a:t>
            </a:r>
            <a:r>
              <a:rPr kumimoji="0" lang="zh-CN" altLang="en-US">
                <a:sym typeface="Symbol" panose="05050102010706020507" pitchFamily="18" charset="2"/>
              </a:rPr>
              <a:t>上的一个正规式</a:t>
            </a:r>
            <a:r>
              <a:rPr kumimoji="0" lang="en-US" altLang="zh-CN">
                <a:sym typeface="Symbol" panose="05050102010706020507" pitchFamily="18" charset="2"/>
              </a:rPr>
              <a:t>r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r>
              <a:rPr kumimoji="0" lang="zh-CN" altLang="en-US">
                <a:sym typeface="Symbol" panose="05050102010706020507" pitchFamily="18" charset="2"/>
              </a:rPr>
              <a:t>输出：一个</a:t>
            </a:r>
            <a:r>
              <a:rPr kumimoji="0" lang="en-US" altLang="zh-CN">
                <a:sym typeface="Symbol" panose="05050102010706020507" pitchFamily="18" charset="2"/>
              </a:rPr>
              <a:t>NFA N</a:t>
            </a:r>
            <a:r>
              <a:rPr kumimoji="0" lang="zh-CN" altLang="en-US">
                <a:sym typeface="Symbol" panose="05050102010706020507" pitchFamily="18" charset="2"/>
              </a:rPr>
              <a:t>，</a:t>
            </a:r>
            <a:r>
              <a:rPr kumimoji="0" lang="en-US" altLang="zh-CN">
                <a:sym typeface="Symbol" panose="05050102010706020507" pitchFamily="18" charset="2"/>
              </a:rPr>
              <a:t>L(N)=L(r)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CFD63126-6388-4B7D-A8BA-67A806CA9B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Thompson</a:t>
            </a:r>
            <a:r>
              <a:rPr lang="zh-CN" altLang="en-US"/>
              <a:t>构造法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B35B2F1C-44F7-4E86-8ACE-58D28C4971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将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r</a:t>
            </a:r>
            <a:r>
              <a:rPr kumimoji="0" lang="zh-CN" altLang="en-US" sz="2800" dirty="0">
                <a:solidFill>
                  <a:schemeClr val="hlink"/>
                </a:solidFill>
                <a:sym typeface="Symbol" panose="05050102010706020507" pitchFamily="18" charset="2"/>
              </a:rPr>
              <a:t>分解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为子正规式</a:t>
            </a: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对其中每个</a:t>
            </a:r>
            <a:r>
              <a:rPr kumimoji="0" lang="zh-CN" altLang="en-US" sz="2800" dirty="0">
                <a:solidFill>
                  <a:schemeClr val="hlink"/>
                </a:solidFill>
                <a:sym typeface="Symbol" panose="05050102010706020507" pitchFamily="18" charset="2"/>
              </a:rPr>
              <a:t>基本符号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（字母表中</a:t>
            </a:r>
            <a:r>
              <a:rPr kumimoji="0" lang="zh-CN" altLang="en-US" sz="2800" dirty="0">
                <a:solidFill>
                  <a:schemeClr val="folHlink"/>
                </a:solidFill>
                <a:sym typeface="Symbol" panose="05050102010706020507" pitchFamily="18" charset="2"/>
              </a:rPr>
              <a:t>符号和</a:t>
            </a:r>
            <a:r>
              <a:rPr kumimoji="0" lang="en-US" altLang="zh-CN" sz="2800" dirty="0">
                <a:solidFill>
                  <a:schemeClr val="fol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800" b="1" dirty="0">
                <a:solidFill>
                  <a:srgbClr val="3333CC"/>
                </a:solidFill>
                <a:sym typeface="Symbol" panose="05050102010706020507" pitchFamily="18" charset="2"/>
              </a:rPr>
              <a:t> 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），按下面给出的规则（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1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）、（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2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）构造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NFA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。</a:t>
            </a:r>
            <a:r>
              <a:rPr kumimoji="0" lang="zh-CN" altLang="en-US" sz="2800" dirty="0">
                <a:solidFill>
                  <a:srgbClr val="FF3300"/>
                </a:solidFill>
                <a:sym typeface="Symbol" panose="05050102010706020507" pitchFamily="18" charset="2"/>
              </a:rPr>
              <a:t>注意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：同一符号在不同位置需构造不同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NFA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实例</a:t>
            </a:r>
            <a:endParaRPr kumimoji="0" lang="en-US" altLang="zh-CN" sz="2800" dirty="0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按照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r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的语法结构，对每个正规式运算，按下面规则（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3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）的方法，将运算对象</a:t>
            </a:r>
            <a:r>
              <a:rPr kumimoji="0" lang="en-US" altLang="zh-CN" sz="2800" dirty="0">
                <a:solidFill>
                  <a:srgbClr val="3333CC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——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子正规式对应的子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NFA</a:t>
            </a:r>
            <a:r>
              <a:rPr kumimoji="0" lang="zh-CN" altLang="en-US" sz="2800" dirty="0">
                <a:solidFill>
                  <a:schemeClr val="hlink"/>
                </a:solidFill>
                <a:sym typeface="Symbol" panose="05050102010706020507" pitchFamily="18" charset="2"/>
              </a:rPr>
              <a:t>组合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成更大的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NFA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，直至形成完整正规式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r</a:t>
            </a:r>
            <a:r>
              <a:rPr kumimoji="0" lang="zh-CN" altLang="en-US" sz="2800" dirty="0">
                <a:solidFill>
                  <a:srgbClr val="3333CC"/>
                </a:solidFill>
                <a:sym typeface="Symbol" panose="05050102010706020507" pitchFamily="18" charset="2"/>
              </a:rPr>
              <a:t>对应的最终的</a:t>
            </a:r>
            <a:r>
              <a:rPr kumimoji="0" lang="en-US" altLang="zh-CN" sz="2800" dirty="0">
                <a:solidFill>
                  <a:srgbClr val="3333CC"/>
                </a:solidFill>
                <a:sym typeface="Symbol" panose="05050102010706020507" pitchFamily="18" charset="2"/>
              </a:rPr>
              <a:t>NFA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8D57D69B-601D-4CFA-944E-01DE8050FC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3.3  </a:t>
            </a:r>
            <a:r>
              <a:rPr lang="zh-CN" altLang="en-US"/>
              <a:t>正规式</a:t>
            </a:r>
            <a:r>
              <a:rPr lang="zh-CN" altLang="en-US">
                <a:sym typeface="Symbol" panose="05050102010706020507" pitchFamily="18" charset="2"/>
              </a:rPr>
              <a:t></a:t>
            </a:r>
            <a:r>
              <a:rPr lang="en-US" altLang="zh-CN"/>
              <a:t>NFA</a:t>
            </a:r>
            <a:r>
              <a:rPr lang="zh-CN" altLang="en-US"/>
              <a:t>（续）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03B33FD6-D5FB-446D-9C6F-CD03603B96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219200"/>
          </a:xfrm>
        </p:spPr>
        <p:txBody>
          <a:bodyPr/>
          <a:lstStyle/>
          <a:p>
            <a:pPr marL="609600" indent="-609600" eaLnBrk="1" hangingPunct="1"/>
            <a:r>
              <a:rPr lang="zh-CN" altLang="en-US"/>
              <a:t>构造规则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800"/>
              <a:t>对于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800" b="1">
                <a:sym typeface="Symbol" panose="05050102010706020507" pitchFamily="18" charset="2"/>
              </a:rPr>
              <a:t> </a:t>
            </a:r>
            <a:r>
              <a:rPr kumimoji="0" lang="zh-CN" altLang="en-US" sz="2800">
                <a:sym typeface="Symbol" panose="05050102010706020507" pitchFamily="18" charset="2"/>
              </a:rPr>
              <a:t>，构造</a:t>
            </a:r>
            <a:r>
              <a:rPr kumimoji="0" lang="en-US" altLang="zh-CN" sz="2800">
                <a:sym typeface="Symbol" panose="05050102010706020507" pitchFamily="18" charset="2"/>
              </a:rPr>
              <a:t>NFA</a:t>
            </a:r>
          </a:p>
        </p:txBody>
      </p:sp>
      <p:sp>
        <p:nvSpPr>
          <p:cNvPr id="115716" name="Text Box 4">
            <a:extLst>
              <a:ext uri="{FF2B5EF4-FFF2-40B4-BE49-F238E27FC236}">
                <a16:creationId xmlns:a16="http://schemas.microsoft.com/office/drawing/2014/main" id="{E5D0EFFA-BCFB-45AF-956C-36879CF2E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8194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chemeClr val="folHlink"/>
                </a:solidFill>
              </a:rPr>
              <a:t>L(</a:t>
            </a:r>
            <a:r>
              <a:rPr kumimoji="0" lang="en-US" altLang="zh-CN" sz="2400" b="0">
                <a:solidFill>
                  <a:schemeClr val="fol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olidFill>
                  <a:schemeClr val="folHlink"/>
                </a:solidFill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15717" name="Oval 5">
            <a:extLst>
              <a:ext uri="{FF2B5EF4-FFF2-40B4-BE49-F238E27FC236}">
                <a16:creationId xmlns:a16="http://schemas.microsoft.com/office/drawing/2014/main" id="{9BA0BFC0-2030-4879-B829-C659E1259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819400"/>
            <a:ext cx="6858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5718" name="Oval 6">
            <a:extLst>
              <a:ext uri="{FF2B5EF4-FFF2-40B4-BE49-F238E27FC236}">
                <a16:creationId xmlns:a16="http://schemas.microsoft.com/office/drawing/2014/main" id="{12D696B0-44C7-48EB-8A65-5D872D1C8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819400"/>
            <a:ext cx="6858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5719" name="Oval 7">
            <a:extLst>
              <a:ext uri="{FF2B5EF4-FFF2-40B4-BE49-F238E27FC236}">
                <a16:creationId xmlns:a16="http://schemas.microsoft.com/office/drawing/2014/main" id="{A0CFA4B5-8909-4DA0-9901-6DDD0FC24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8956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5720" name="Line 8">
            <a:extLst>
              <a:ext uri="{FF2B5EF4-FFF2-40B4-BE49-F238E27FC236}">
                <a16:creationId xmlns:a16="http://schemas.microsoft.com/office/drawing/2014/main" id="{AABEACF2-381A-4DF0-B9D7-676BE9A129DB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32004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21" name="Line 9">
            <a:extLst>
              <a:ext uri="{FF2B5EF4-FFF2-40B4-BE49-F238E27FC236}">
                <a16:creationId xmlns:a16="http://schemas.microsoft.com/office/drawing/2014/main" id="{55732425-C05B-46DA-9F07-61104AF2B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0800" y="32004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22" name="Text Box 10">
            <a:extLst>
              <a:ext uri="{FF2B5EF4-FFF2-40B4-BE49-F238E27FC236}">
                <a16:creationId xmlns:a16="http://schemas.microsoft.com/office/drawing/2014/main" id="{0B03B99E-C451-46EF-BA27-07E25B1D6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819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15723" name="Text Box 11">
            <a:extLst>
              <a:ext uri="{FF2B5EF4-FFF2-40B4-BE49-F238E27FC236}">
                <a16:creationId xmlns:a16="http://schemas.microsoft.com/office/drawing/2014/main" id="{79311018-1879-43DF-A1B4-2BAACE1C6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8194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sp>
        <p:nvSpPr>
          <p:cNvPr id="115724" name="Text Box 12">
            <a:extLst>
              <a:ext uri="{FF2B5EF4-FFF2-40B4-BE49-F238E27FC236}">
                <a16:creationId xmlns:a16="http://schemas.microsoft.com/office/drawing/2014/main" id="{3F560725-F662-4E44-811D-CAF624CFF1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895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i</a:t>
            </a:r>
          </a:p>
        </p:txBody>
      </p:sp>
      <p:sp>
        <p:nvSpPr>
          <p:cNvPr id="115725" name="Text Box 13">
            <a:extLst>
              <a:ext uri="{FF2B5EF4-FFF2-40B4-BE49-F238E27FC236}">
                <a16:creationId xmlns:a16="http://schemas.microsoft.com/office/drawing/2014/main" id="{295833A8-2B63-45DA-8DD4-FCC5603F7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895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f</a:t>
            </a:r>
          </a:p>
        </p:txBody>
      </p:sp>
      <p:sp>
        <p:nvSpPr>
          <p:cNvPr id="115726" name="Rectangle 14">
            <a:extLst>
              <a:ext uri="{FF2B5EF4-FFF2-40B4-BE49-F238E27FC236}">
                <a16:creationId xmlns:a16="http://schemas.microsoft.com/office/drawing/2014/main" id="{EB161D66-CB61-4A7D-B547-F3F43BF4A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0625" y="38100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AutoNum type="arabicPeriod" startAt="2"/>
            </a:pPr>
            <a:r>
              <a:rPr lang="zh-CN" altLang="en-US" sz="2800" b="0"/>
              <a:t>对于</a:t>
            </a:r>
            <a:r>
              <a:rPr kumimoji="0" lang="en-US" altLang="zh-CN" sz="2800"/>
              <a:t>a </a:t>
            </a:r>
            <a:r>
              <a:rPr kumimoji="0" lang="en-US" altLang="zh-CN" sz="2800">
                <a:sym typeface="Symbol" panose="05050102010706020507" pitchFamily="18" charset="2"/>
              </a:rPr>
              <a:t>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  <a:r>
              <a:rPr kumimoji="0" lang="zh-CN" altLang="en-US" sz="2800" b="0">
                <a:sym typeface="Symbol" panose="05050102010706020507" pitchFamily="18" charset="2"/>
              </a:rPr>
              <a:t>，构造</a:t>
            </a:r>
            <a:r>
              <a:rPr kumimoji="0" lang="en-US" altLang="zh-CN" sz="2800" b="0">
                <a:sym typeface="Symbol" panose="05050102010706020507" pitchFamily="18" charset="2"/>
              </a:rPr>
              <a:t>NFA</a:t>
            </a:r>
          </a:p>
        </p:txBody>
      </p:sp>
      <p:sp>
        <p:nvSpPr>
          <p:cNvPr id="115727" name="Oval 15">
            <a:extLst>
              <a:ext uri="{FF2B5EF4-FFF2-40B4-BE49-F238E27FC236}">
                <a16:creationId xmlns:a16="http://schemas.microsoft.com/office/drawing/2014/main" id="{11C19946-E3D7-4AA9-BB50-4DA422C67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4648200"/>
            <a:ext cx="6858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5728" name="Oval 16">
            <a:extLst>
              <a:ext uri="{FF2B5EF4-FFF2-40B4-BE49-F238E27FC236}">
                <a16:creationId xmlns:a16="http://schemas.microsoft.com/office/drawing/2014/main" id="{32B82788-282F-4515-877D-28A568643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4648200"/>
            <a:ext cx="6858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5729" name="Oval 17">
            <a:extLst>
              <a:ext uri="{FF2B5EF4-FFF2-40B4-BE49-F238E27FC236}">
                <a16:creationId xmlns:a16="http://schemas.microsoft.com/office/drawing/2014/main" id="{C0750667-3CC0-4DE0-9467-EB5761527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7244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5730" name="Line 18">
            <a:extLst>
              <a:ext uri="{FF2B5EF4-FFF2-40B4-BE49-F238E27FC236}">
                <a16:creationId xmlns:a16="http://schemas.microsoft.com/office/drawing/2014/main" id="{2686D200-8FBC-4CAC-B3B1-BCDBB75B8D7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50292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31" name="Line 19">
            <a:extLst>
              <a:ext uri="{FF2B5EF4-FFF2-40B4-BE49-F238E27FC236}">
                <a16:creationId xmlns:a16="http://schemas.microsoft.com/office/drawing/2014/main" id="{0D6093D7-3152-4788-8DD5-816DF73A9DA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50292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732" name="Text Box 20">
            <a:extLst>
              <a:ext uri="{FF2B5EF4-FFF2-40B4-BE49-F238E27FC236}">
                <a16:creationId xmlns:a16="http://schemas.microsoft.com/office/drawing/2014/main" id="{5C0F59E1-3BF5-4680-A42C-76965F134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46482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endParaRPr kumimoji="0" lang="en-US" altLang="zh-CN" sz="2400"/>
          </a:p>
        </p:txBody>
      </p:sp>
      <p:sp>
        <p:nvSpPr>
          <p:cNvPr id="115733" name="Text Box 21">
            <a:extLst>
              <a:ext uri="{FF2B5EF4-FFF2-40B4-BE49-F238E27FC236}">
                <a16:creationId xmlns:a16="http://schemas.microsoft.com/office/drawing/2014/main" id="{72F5B096-0BD1-406D-B725-6EC5C9353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6482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sp>
        <p:nvSpPr>
          <p:cNvPr id="115734" name="Text Box 22">
            <a:extLst>
              <a:ext uri="{FF2B5EF4-FFF2-40B4-BE49-F238E27FC236}">
                <a16:creationId xmlns:a16="http://schemas.microsoft.com/office/drawing/2014/main" id="{F6C385C6-65F3-404A-9D61-7AE72A897B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724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i</a:t>
            </a:r>
          </a:p>
        </p:txBody>
      </p:sp>
      <p:sp>
        <p:nvSpPr>
          <p:cNvPr id="115735" name="Text Box 23">
            <a:extLst>
              <a:ext uri="{FF2B5EF4-FFF2-40B4-BE49-F238E27FC236}">
                <a16:creationId xmlns:a16="http://schemas.microsoft.com/office/drawing/2014/main" id="{2BE3CDF8-C6CC-4496-9F0C-DB9F98E05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724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f</a:t>
            </a:r>
          </a:p>
        </p:txBody>
      </p:sp>
      <p:sp>
        <p:nvSpPr>
          <p:cNvPr id="115736" name="Text Box 24">
            <a:extLst>
              <a:ext uri="{FF2B5EF4-FFF2-40B4-BE49-F238E27FC236}">
                <a16:creationId xmlns:a16="http://schemas.microsoft.com/office/drawing/2014/main" id="{BACB9BE8-1FBE-4D70-900C-ACF6DA3001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48006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L(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a)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960D9D71-4684-46A2-A98C-3814DACB96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3.3  </a:t>
            </a:r>
            <a:r>
              <a:rPr lang="zh-CN" altLang="en-US"/>
              <a:t>正规式</a:t>
            </a:r>
            <a:r>
              <a:rPr lang="zh-CN" altLang="en-US">
                <a:sym typeface="Symbol" panose="05050102010706020507" pitchFamily="18" charset="2"/>
              </a:rPr>
              <a:t></a:t>
            </a:r>
            <a:r>
              <a:rPr lang="en-US" altLang="zh-CN"/>
              <a:t>NFA</a:t>
            </a:r>
            <a:r>
              <a:rPr lang="zh-CN" altLang="en-US"/>
              <a:t>（续）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DA37D019-EA1F-414A-8FCD-A7474D7BAA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12192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3"/>
            </a:pPr>
            <a:r>
              <a:rPr kumimoji="0" lang="zh-CN" altLang="en-US" sz="2400" dirty="0"/>
              <a:t>假定</a:t>
            </a:r>
            <a:r>
              <a:rPr kumimoji="0" lang="en-US" altLang="zh-CN" sz="2400" dirty="0"/>
              <a:t>N(s), N(t)</a:t>
            </a:r>
            <a:r>
              <a:rPr kumimoji="0" lang="zh-CN" altLang="en-US" sz="2400" dirty="0"/>
              <a:t>是正规式</a:t>
            </a:r>
            <a:r>
              <a:rPr kumimoji="0" lang="en-US" altLang="zh-CN" sz="2400" dirty="0"/>
              <a:t>s, t</a:t>
            </a:r>
            <a:r>
              <a:rPr kumimoji="0" lang="zh-CN" altLang="en-US" sz="2400" dirty="0"/>
              <a:t>对应的</a:t>
            </a:r>
            <a:r>
              <a:rPr kumimoji="0" lang="en-US" altLang="zh-CN" sz="2400" dirty="0"/>
              <a:t>NFA</a:t>
            </a:r>
          </a:p>
          <a:p>
            <a:pPr marL="609600" indent="-609600" eaLnBrk="1" hangingPunct="1">
              <a:buFont typeface="Wingdings" panose="05000000000000000000" pitchFamily="2" charset="2"/>
              <a:buAutoNum type="alphaLcParenR"/>
            </a:pPr>
            <a:r>
              <a:rPr kumimoji="0" lang="zh-CN" altLang="en-US" sz="2400" dirty="0">
                <a:sym typeface="Symbol" panose="05050102010706020507" pitchFamily="18" charset="2"/>
              </a:rPr>
              <a:t>对正规式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s|t</a:t>
            </a:r>
            <a:r>
              <a:rPr kumimoji="0" lang="zh-CN" altLang="en-US" sz="2400" dirty="0">
                <a:sym typeface="Symbol" panose="05050102010706020507" pitchFamily="18" charset="2"/>
              </a:rPr>
              <a:t>，构造如下组合</a:t>
            </a:r>
            <a:r>
              <a:rPr kumimoji="0" lang="en-US" altLang="zh-CN" sz="2400" dirty="0">
                <a:sym typeface="Symbol" panose="05050102010706020507" pitchFamily="18" charset="2"/>
              </a:rPr>
              <a:t>NFA N(</a:t>
            </a:r>
            <a:r>
              <a:rPr kumimoji="0" lang="en-US" altLang="zh-CN" sz="2400" dirty="0" err="1">
                <a:sym typeface="Symbol" panose="05050102010706020507" pitchFamily="18" charset="2"/>
              </a:rPr>
              <a:t>s|t</a:t>
            </a:r>
            <a:r>
              <a:rPr kumimoji="0" lang="en-US" altLang="zh-CN" sz="2400" dirty="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16742" name="Oval 5">
            <a:extLst>
              <a:ext uri="{FF2B5EF4-FFF2-40B4-BE49-F238E27FC236}">
                <a16:creationId xmlns:a16="http://schemas.microsoft.com/office/drawing/2014/main" id="{ACFC195F-33E2-4BDF-83F6-E69E19ECD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943226"/>
            <a:ext cx="685800" cy="67151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6743" name="Line 6">
            <a:extLst>
              <a:ext uri="{FF2B5EF4-FFF2-40B4-BE49-F238E27FC236}">
                <a16:creationId xmlns:a16="http://schemas.microsoft.com/office/drawing/2014/main" id="{03FF982E-4050-4DBC-85D3-6438E93E2B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6000" y="2719388"/>
            <a:ext cx="1066800" cy="447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44" name="Line 7">
            <a:extLst>
              <a:ext uri="{FF2B5EF4-FFF2-40B4-BE49-F238E27FC236}">
                <a16:creationId xmlns:a16="http://schemas.microsoft.com/office/drawing/2014/main" id="{08666346-4FF7-4C50-A894-EB47F25C586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3316288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45" name="Text Box 8">
            <a:extLst>
              <a:ext uri="{FF2B5EF4-FFF2-40B4-BE49-F238E27FC236}">
                <a16:creationId xmlns:a16="http://schemas.microsoft.com/office/drawing/2014/main" id="{78750DF6-2FE4-4D8C-8580-AF9D3F7D6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2837524"/>
            <a:ext cx="533400" cy="396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16746" name="Text Box 9">
            <a:extLst>
              <a:ext uri="{FF2B5EF4-FFF2-40B4-BE49-F238E27FC236}">
                <a16:creationId xmlns:a16="http://schemas.microsoft.com/office/drawing/2014/main" id="{2BC7577B-AFB1-4653-998E-99C3C1C66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017838"/>
            <a:ext cx="457200" cy="396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i</a:t>
            </a:r>
          </a:p>
        </p:txBody>
      </p:sp>
      <p:sp>
        <p:nvSpPr>
          <p:cNvPr id="116747" name="Oval 10">
            <a:extLst>
              <a:ext uri="{FF2B5EF4-FFF2-40B4-BE49-F238E27FC236}">
                <a16:creationId xmlns:a16="http://schemas.microsoft.com/office/drawing/2014/main" id="{45EF6B31-9951-46C8-9265-B55D33171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943226"/>
            <a:ext cx="685800" cy="671513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6748" name="Oval 11">
            <a:extLst>
              <a:ext uri="{FF2B5EF4-FFF2-40B4-BE49-F238E27FC236}">
                <a16:creationId xmlns:a16="http://schemas.microsoft.com/office/drawing/2014/main" id="{9BF99FAE-6C0F-42C9-BC1F-262DD7307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017838"/>
            <a:ext cx="533400" cy="52228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6749" name="Text Box 12">
            <a:extLst>
              <a:ext uri="{FF2B5EF4-FFF2-40B4-BE49-F238E27FC236}">
                <a16:creationId xmlns:a16="http://schemas.microsoft.com/office/drawing/2014/main" id="{97ACEB9F-ED36-4D38-B1EF-02DC4D884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017838"/>
            <a:ext cx="457200" cy="396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f</a:t>
            </a:r>
          </a:p>
        </p:txBody>
      </p:sp>
      <p:sp>
        <p:nvSpPr>
          <p:cNvPr id="116750" name="AutoShape 13">
            <a:extLst>
              <a:ext uri="{FF2B5EF4-FFF2-40B4-BE49-F238E27FC236}">
                <a16:creationId xmlns:a16="http://schemas.microsoft.com/office/drawing/2014/main" id="{8364CFA4-7AC1-44A5-9FCB-12825F48B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2420938"/>
            <a:ext cx="2133600" cy="671513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6751" name="AutoShape 14">
            <a:extLst>
              <a:ext uri="{FF2B5EF4-FFF2-40B4-BE49-F238E27FC236}">
                <a16:creationId xmlns:a16="http://schemas.microsoft.com/office/drawing/2014/main" id="{FFC8B938-9D49-4BF8-B940-BC089D97C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540126"/>
            <a:ext cx="2133600" cy="671513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6752" name="Line 15">
            <a:extLst>
              <a:ext uri="{FF2B5EF4-FFF2-40B4-BE49-F238E27FC236}">
                <a16:creationId xmlns:a16="http://schemas.microsoft.com/office/drawing/2014/main" id="{97B21A1B-783D-4CD9-8F15-BD76F0ABD12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9800" y="3465513"/>
            <a:ext cx="1143000" cy="447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53" name="Text Box 16">
            <a:extLst>
              <a:ext uri="{FF2B5EF4-FFF2-40B4-BE49-F238E27FC236}">
                <a16:creationId xmlns:a16="http://schemas.microsoft.com/office/drawing/2014/main" id="{718CCC95-85C3-409C-B6D7-BB8FD49A43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285199"/>
            <a:ext cx="533400" cy="396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16754" name="Oval 17">
            <a:extLst>
              <a:ext uri="{FF2B5EF4-FFF2-40B4-BE49-F238E27FC236}">
                <a16:creationId xmlns:a16="http://schemas.microsoft.com/office/drawing/2014/main" id="{159DCCA8-E6AD-4A52-8AED-3AD267A1A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570163"/>
            <a:ext cx="304800" cy="29845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6755" name="Oval 18">
            <a:extLst>
              <a:ext uri="{FF2B5EF4-FFF2-40B4-BE49-F238E27FC236}">
                <a16:creationId xmlns:a16="http://schemas.microsoft.com/office/drawing/2014/main" id="{2B0E0478-7724-447D-8BD0-8594AEAE1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570163"/>
            <a:ext cx="304800" cy="29845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6756" name="Oval 19">
            <a:extLst>
              <a:ext uri="{FF2B5EF4-FFF2-40B4-BE49-F238E27FC236}">
                <a16:creationId xmlns:a16="http://schemas.microsoft.com/office/drawing/2014/main" id="{E4599DE7-EEEC-499E-80E3-2163B3D9E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763963"/>
            <a:ext cx="304800" cy="29845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6757" name="Oval 20">
            <a:extLst>
              <a:ext uri="{FF2B5EF4-FFF2-40B4-BE49-F238E27FC236}">
                <a16:creationId xmlns:a16="http://schemas.microsoft.com/office/drawing/2014/main" id="{87B59ED9-63A8-4CC1-952B-2B8CECD07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763963"/>
            <a:ext cx="304800" cy="29845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6758" name="Text Box 21">
            <a:extLst>
              <a:ext uri="{FF2B5EF4-FFF2-40B4-BE49-F238E27FC236}">
                <a16:creationId xmlns:a16="http://schemas.microsoft.com/office/drawing/2014/main" id="{CB894B3D-DC61-4F3F-9714-D01AFAAD95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495551"/>
            <a:ext cx="838200" cy="396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N(s)</a:t>
            </a:r>
          </a:p>
        </p:txBody>
      </p:sp>
      <p:sp>
        <p:nvSpPr>
          <p:cNvPr id="116759" name="Text Box 22">
            <a:extLst>
              <a:ext uri="{FF2B5EF4-FFF2-40B4-BE49-F238E27FC236}">
                <a16:creationId xmlns:a16="http://schemas.microsoft.com/office/drawing/2014/main" id="{C46DCB49-15A1-4335-81CC-700EDC3A2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689351"/>
            <a:ext cx="838200" cy="396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N(t)</a:t>
            </a:r>
          </a:p>
        </p:txBody>
      </p:sp>
      <p:sp>
        <p:nvSpPr>
          <p:cNvPr id="116760" name="Line 23">
            <a:extLst>
              <a:ext uri="{FF2B5EF4-FFF2-40B4-BE49-F238E27FC236}">
                <a16:creationId xmlns:a16="http://schemas.microsoft.com/office/drawing/2014/main" id="{0F17C2C1-5428-481B-A499-52687A33BC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9200" y="3465513"/>
            <a:ext cx="838200" cy="447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61" name="Line 24">
            <a:extLst>
              <a:ext uri="{FF2B5EF4-FFF2-40B4-BE49-F238E27FC236}">
                <a16:creationId xmlns:a16="http://schemas.microsoft.com/office/drawing/2014/main" id="{9C975FC7-1643-4654-A135-3F10BAE26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719388"/>
            <a:ext cx="838200" cy="2984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762" name="Text Box 25">
            <a:extLst>
              <a:ext uri="{FF2B5EF4-FFF2-40B4-BE49-F238E27FC236}">
                <a16:creationId xmlns:a16="http://schemas.microsoft.com/office/drawing/2014/main" id="{280C9DEB-4425-4C5A-B64E-7528ADDBE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3509037"/>
            <a:ext cx="533400" cy="396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16763" name="Text Box 26">
            <a:extLst>
              <a:ext uri="{FF2B5EF4-FFF2-40B4-BE49-F238E27FC236}">
                <a16:creationId xmlns:a16="http://schemas.microsoft.com/office/drawing/2014/main" id="{7E6A6390-422C-40F2-900D-CA076AD16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2464462"/>
            <a:ext cx="533400" cy="396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16764" name="Text Box 27">
            <a:extLst>
              <a:ext uri="{FF2B5EF4-FFF2-40B4-BE49-F238E27FC236}">
                <a16:creationId xmlns:a16="http://schemas.microsoft.com/office/drawing/2014/main" id="{01288BA3-695F-4D7A-A4A3-60A9820D9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943226"/>
            <a:ext cx="1676400" cy="396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3333CC"/>
                </a:solidFill>
              </a:rPr>
              <a:t>L(s) </a:t>
            </a:r>
            <a:r>
              <a:rPr kumimoji="0" lang="en-US" altLang="zh-CN" sz="2000" dirty="0">
                <a:solidFill>
                  <a:srgbClr val="3333CC"/>
                </a:solidFill>
                <a:sym typeface="Symbol" panose="05050102010706020507" pitchFamily="18" charset="2"/>
              </a:rPr>
              <a:t></a:t>
            </a:r>
            <a:r>
              <a:rPr kumimoji="0" lang="en-US" altLang="zh-CN" sz="2000" dirty="0">
                <a:solidFill>
                  <a:srgbClr val="3333CC"/>
                </a:solidFill>
              </a:rPr>
              <a:t> L(t)</a:t>
            </a:r>
          </a:p>
        </p:txBody>
      </p:sp>
      <p:sp>
        <p:nvSpPr>
          <p:cNvPr id="116741" name="Text Box 28">
            <a:extLst>
              <a:ext uri="{FF2B5EF4-FFF2-40B4-BE49-F238E27FC236}">
                <a16:creationId xmlns:a16="http://schemas.microsoft.com/office/drawing/2014/main" id="{747835AD-2FB4-4FD9-9D4B-BA5141F11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4437063"/>
            <a:ext cx="7543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dirty="0">
                <a:solidFill>
                  <a:schemeClr val="folHlink"/>
                </a:solidFill>
              </a:rPr>
              <a:t>两个新状态：</a:t>
            </a:r>
            <a:r>
              <a:rPr kumimoji="0" lang="en-US" altLang="zh-CN" sz="2400" i="1" dirty="0" err="1">
                <a:solidFill>
                  <a:schemeClr val="folHlink"/>
                </a:solidFill>
              </a:rPr>
              <a:t>i</a:t>
            </a:r>
            <a:r>
              <a:rPr kumimoji="0" lang="en-US" altLang="zh-CN" sz="2400" i="1" dirty="0">
                <a:solidFill>
                  <a:schemeClr val="folHlink"/>
                </a:solidFill>
              </a:rPr>
              <a:t>——</a:t>
            </a:r>
            <a:r>
              <a:rPr kumimoji="0" lang="zh-CN" altLang="en-US" sz="2400" dirty="0">
                <a:solidFill>
                  <a:schemeClr val="folHlink"/>
                </a:solidFill>
              </a:rPr>
              <a:t>新初态		</a:t>
            </a:r>
            <a:r>
              <a:rPr kumimoji="0" lang="en-US" altLang="zh-CN" sz="2400" i="1" dirty="0">
                <a:solidFill>
                  <a:schemeClr val="folHlink"/>
                </a:solidFill>
              </a:rPr>
              <a:t>f——</a:t>
            </a:r>
            <a:r>
              <a:rPr kumimoji="0" lang="zh-CN" altLang="en-US" sz="2400" dirty="0">
                <a:solidFill>
                  <a:schemeClr val="folHlink"/>
                </a:solidFill>
              </a:rPr>
              <a:t>新终态</a:t>
            </a:r>
            <a:br>
              <a:rPr kumimoji="0" lang="zh-CN" altLang="en-US" sz="2400" dirty="0">
                <a:solidFill>
                  <a:schemeClr val="folHlink"/>
                </a:solidFill>
              </a:rPr>
            </a:br>
            <a:r>
              <a:rPr kumimoji="0" lang="zh-CN" altLang="en-US" sz="2400" dirty="0">
                <a:solidFill>
                  <a:schemeClr val="folHlink"/>
                </a:solidFill>
              </a:rPr>
              <a:t>原初态和终态不再是组合</a:t>
            </a:r>
            <a:r>
              <a:rPr kumimoji="0" lang="en-US" altLang="zh-CN" sz="2400" dirty="0">
                <a:solidFill>
                  <a:schemeClr val="folHlink"/>
                </a:solidFill>
              </a:rPr>
              <a:t>NFA</a:t>
            </a:r>
            <a:r>
              <a:rPr kumimoji="0" lang="zh-CN" altLang="en-US" sz="2400" dirty="0">
                <a:solidFill>
                  <a:schemeClr val="folHlink"/>
                </a:solidFill>
              </a:rPr>
              <a:t>的初态和终态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BC44C1C-B7C4-264B-9C6E-78EF98406D72}"/>
              </a:ext>
            </a:extLst>
          </p:cNvPr>
          <p:cNvSpPr txBox="1"/>
          <p:nvPr/>
        </p:nvSpPr>
        <p:spPr>
          <a:xfrm>
            <a:off x="1182688" y="5461002"/>
            <a:ext cx="61976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四条新</a:t>
            </a:r>
            <a:r>
              <a:rPr kumimoji="0" lang="en-US" altLang="zh-CN" dirty="0">
                <a:solidFill>
                  <a:schemeClr val="folHlink"/>
                </a:solidFill>
                <a:latin typeface="Symbol" pitchFamily="2" charset="2"/>
                <a:sym typeface="Symbol" panose="05050102010706020507" pitchFamily="18" charset="2"/>
              </a:rPr>
              <a:t>e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边：</a:t>
            </a:r>
            <a:r>
              <a:rPr kumimoji="0" lang="en-US" altLang="zh-CN" i="1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kumimoji="0" lang="en-US" altLang="zh-CN" dirty="0" err="1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0" lang="en-US" altLang="zh-CN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(s)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初态	 </a:t>
            </a:r>
            <a:r>
              <a:rPr kumimoji="0" lang="en-US" altLang="zh-CN" i="1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kumimoji="0" lang="en-US" altLang="zh-CN" dirty="0" err="1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0" lang="en-US" altLang="zh-CN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(t)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初态</a:t>
            </a:r>
            <a:b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	          </a:t>
            </a:r>
            <a: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N(s)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终态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0" lang="en-US" altLang="zh-CN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f</a:t>
            </a:r>
            <a: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	 N(s)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终态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0" lang="en-US" altLang="zh-CN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2" grpId="0" animBg="1"/>
      <p:bldP spid="116743" grpId="0" animBg="1"/>
      <p:bldP spid="116744" grpId="0" animBg="1"/>
      <p:bldP spid="116745" grpId="0"/>
      <p:bldP spid="116746" grpId="0"/>
      <p:bldP spid="116747" grpId="0" animBg="1"/>
      <p:bldP spid="116748" grpId="0" animBg="1"/>
      <p:bldP spid="116749" grpId="0"/>
      <p:bldP spid="116752" grpId="0" animBg="1"/>
      <p:bldP spid="116753" grpId="0"/>
      <p:bldP spid="116760" grpId="0" animBg="1"/>
      <p:bldP spid="116761" grpId="0" animBg="1"/>
      <p:bldP spid="116762" grpId="0"/>
      <p:bldP spid="116763" grpId="0"/>
      <p:bldP spid="116764" grpId="1"/>
      <p:bldP spid="116741" grpId="0"/>
      <p:bldP spid="30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FADEEC97-796C-43D6-8942-1D9D878AC8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3.3  </a:t>
            </a:r>
            <a:r>
              <a:rPr lang="zh-CN" altLang="en-US"/>
              <a:t>正规式</a:t>
            </a:r>
            <a:r>
              <a:rPr lang="zh-CN" altLang="en-US">
                <a:sym typeface="Symbol" panose="05050102010706020507" pitchFamily="18" charset="2"/>
              </a:rPr>
              <a:t></a:t>
            </a:r>
            <a:r>
              <a:rPr lang="en-US" altLang="zh-CN"/>
              <a:t>NFA</a:t>
            </a:r>
            <a:r>
              <a:rPr lang="zh-CN" altLang="en-US"/>
              <a:t>（续）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12AE7FF4-A608-4761-9A35-39AA213BB3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7772400" cy="6096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lphaLcParenR" startAt="2"/>
            </a:pPr>
            <a:r>
              <a:rPr kumimoji="0" lang="zh-CN" altLang="en-US" sz="2400">
                <a:sym typeface="Symbol" panose="05050102010706020507" pitchFamily="18" charset="2"/>
              </a:rPr>
              <a:t>对正规式</a:t>
            </a:r>
            <a:r>
              <a:rPr kumimoji="0" lang="en-US" altLang="zh-CN" sz="2400">
                <a:sym typeface="Symbol" panose="05050102010706020507" pitchFamily="18" charset="2"/>
              </a:rPr>
              <a:t>st</a:t>
            </a:r>
            <a:r>
              <a:rPr kumimoji="0" lang="zh-CN" altLang="en-US" sz="2400">
                <a:sym typeface="Symbol" panose="05050102010706020507" pitchFamily="18" charset="2"/>
              </a:rPr>
              <a:t>，构造如下组合</a:t>
            </a:r>
            <a:r>
              <a:rPr kumimoji="0" lang="en-US" altLang="zh-CN" sz="2400">
                <a:sym typeface="Symbol" panose="05050102010706020507" pitchFamily="18" charset="2"/>
              </a:rPr>
              <a:t>NFA N(st)</a:t>
            </a:r>
          </a:p>
        </p:txBody>
      </p:sp>
      <p:sp>
        <p:nvSpPr>
          <p:cNvPr id="117764" name="Text Box 4">
            <a:extLst>
              <a:ext uri="{FF2B5EF4-FFF2-40B4-BE49-F238E27FC236}">
                <a16:creationId xmlns:a16="http://schemas.microsoft.com/office/drawing/2014/main" id="{DA480EEC-0121-4268-BC0A-AB86506938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4076700"/>
            <a:ext cx="7543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dirty="0">
                <a:solidFill>
                  <a:schemeClr val="folHlink"/>
                </a:solidFill>
              </a:rPr>
              <a:t>方法一：新初态</a:t>
            </a:r>
            <a:r>
              <a:rPr kumimoji="0" lang="en-US" altLang="zh-CN" sz="2400" dirty="0">
                <a:solidFill>
                  <a:schemeClr val="folHlink"/>
                </a:solidFill>
              </a:rPr>
              <a:t>——N(s)</a:t>
            </a:r>
            <a:r>
              <a:rPr kumimoji="0" lang="zh-CN" altLang="en-US" sz="2400" dirty="0">
                <a:solidFill>
                  <a:schemeClr val="folHlink"/>
                </a:solidFill>
              </a:rPr>
              <a:t>初态，新终态</a:t>
            </a:r>
            <a:r>
              <a:rPr kumimoji="0" lang="en-US" altLang="zh-CN" sz="2400" dirty="0">
                <a:solidFill>
                  <a:schemeClr val="folHlink"/>
                </a:solidFill>
              </a:rPr>
              <a:t>——N(t)</a:t>
            </a:r>
            <a:r>
              <a:rPr kumimoji="0" lang="zh-CN" altLang="en-US" sz="2400" dirty="0">
                <a:solidFill>
                  <a:schemeClr val="folHlink"/>
                </a:solidFill>
              </a:rPr>
              <a:t>终态</a:t>
            </a:r>
            <a:br>
              <a:rPr kumimoji="0" lang="zh-CN" altLang="en-US" sz="2400" dirty="0">
                <a:solidFill>
                  <a:schemeClr val="folHlink"/>
                </a:solidFill>
              </a:rPr>
            </a:br>
            <a:r>
              <a:rPr kumimoji="0" lang="zh-CN" altLang="en-US" sz="2400" dirty="0">
                <a:solidFill>
                  <a:schemeClr val="folHlink"/>
                </a:solidFill>
              </a:rPr>
              <a:t>	    </a:t>
            </a:r>
            <a:r>
              <a:rPr kumimoji="0" lang="en-US" altLang="zh-CN" sz="2400" dirty="0">
                <a:solidFill>
                  <a:schemeClr val="folHlink"/>
                </a:solidFill>
              </a:rPr>
              <a:t>N(s)</a:t>
            </a:r>
            <a:r>
              <a:rPr kumimoji="0" lang="zh-CN" altLang="en-US" sz="2400" dirty="0">
                <a:solidFill>
                  <a:schemeClr val="folHlink"/>
                </a:solidFill>
              </a:rPr>
              <a:t>终态与</a:t>
            </a:r>
            <a:r>
              <a:rPr kumimoji="0" lang="en-US" altLang="zh-CN" sz="2400" dirty="0">
                <a:solidFill>
                  <a:schemeClr val="folHlink"/>
                </a:solidFill>
              </a:rPr>
              <a:t>N(t)</a:t>
            </a:r>
            <a:r>
              <a:rPr kumimoji="0" lang="zh-CN" altLang="en-US" sz="2400" dirty="0">
                <a:solidFill>
                  <a:schemeClr val="folHlink"/>
                </a:solidFill>
              </a:rPr>
              <a:t>初态合并</a:t>
            </a:r>
          </a:p>
        </p:txBody>
      </p:sp>
      <p:sp>
        <p:nvSpPr>
          <p:cNvPr id="117766" name="Line 6">
            <a:extLst>
              <a:ext uri="{FF2B5EF4-FFF2-40B4-BE49-F238E27FC236}">
                <a16:creationId xmlns:a16="http://schemas.microsoft.com/office/drawing/2014/main" id="{B8CDAAC4-7AA8-4A2A-92F6-10882E15183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3598" y="2286000"/>
            <a:ext cx="610299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67" name="Text Box 7">
            <a:extLst>
              <a:ext uri="{FF2B5EF4-FFF2-40B4-BE49-F238E27FC236}">
                <a16:creationId xmlns:a16="http://schemas.microsoft.com/office/drawing/2014/main" id="{C366B11C-0BE4-4B7A-81A8-137EE8ACF2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0165" y="1981200"/>
            <a:ext cx="745921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/>
              <a:t>start</a:t>
            </a:r>
          </a:p>
        </p:txBody>
      </p:sp>
      <p:grpSp>
        <p:nvGrpSpPr>
          <p:cNvPr id="117768" name="Group 8">
            <a:extLst>
              <a:ext uri="{FF2B5EF4-FFF2-40B4-BE49-F238E27FC236}">
                <a16:creationId xmlns:a16="http://schemas.microsoft.com/office/drawing/2014/main" id="{916E7A16-09FA-492B-B36E-96449AFD0F36}"/>
              </a:ext>
            </a:extLst>
          </p:cNvPr>
          <p:cNvGrpSpPr>
            <a:grpSpLocks/>
          </p:cNvGrpSpPr>
          <p:nvPr/>
        </p:nvGrpSpPr>
        <p:grpSpPr bwMode="auto">
          <a:xfrm>
            <a:off x="2973897" y="2042160"/>
            <a:ext cx="610299" cy="548640"/>
            <a:chOff x="1392" y="3264"/>
            <a:chExt cx="432" cy="432"/>
          </a:xfrm>
        </p:grpSpPr>
        <p:sp>
          <p:nvSpPr>
            <p:cNvPr id="117810" name="Oval 9">
              <a:extLst>
                <a:ext uri="{FF2B5EF4-FFF2-40B4-BE49-F238E27FC236}">
                  <a16:creationId xmlns:a16="http://schemas.microsoft.com/office/drawing/2014/main" id="{855C0D37-4F84-4699-B2E6-CBFEEE2BD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264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7811" name="Text Box 10">
              <a:extLst>
                <a:ext uri="{FF2B5EF4-FFF2-40B4-BE49-F238E27FC236}">
                  <a16:creationId xmlns:a16="http://schemas.microsoft.com/office/drawing/2014/main" id="{60EE2709-A3DD-4AE4-ACD3-E419C9DEBA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311"/>
              <a:ext cx="28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i="1"/>
                <a:t>i</a:t>
              </a:r>
            </a:p>
          </p:txBody>
        </p:sp>
      </p:grpSp>
      <p:grpSp>
        <p:nvGrpSpPr>
          <p:cNvPr id="117769" name="Group 11">
            <a:extLst>
              <a:ext uri="{FF2B5EF4-FFF2-40B4-BE49-F238E27FC236}">
                <a16:creationId xmlns:a16="http://schemas.microsoft.com/office/drawing/2014/main" id="{B675762E-785F-4238-80D1-A1545B6E7FE3}"/>
              </a:ext>
            </a:extLst>
          </p:cNvPr>
          <p:cNvGrpSpPr>
            <a:grpSpLocks/>
          </p:cNvGrpSpPr>
          <p:nvPr/>
        </p:nvGrpSpPr>
        <p:grpSpPr bwMode="auto">
          <a:xfrm>
            <a:off x="5482905" y="2042160"/>
            <a:ext cx="610299" cy="548640"/>
            <a:chOff x="4032" y="3264"/>
            <a:chExt cx="432" cy="432"/>
          </a:xfrm>
        </p:grpSpPr>
        <p:sp>
          <p:nvSpPr>
            <p:cNvPr id="117807" name="Oval 12">
              <a:extLst>
                <a:ext uri="{FF2B5EF4-FFF2-40B4-BE49-F238E27FC236}">
                  <a16:creationId xmlns:a16="http://schemas.microsoft.com/office/drawing/2014/main" id="{7068027B-F86C-4A8A-B7A4-43BA3D8BB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264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7808" name="Oval 13">
              <a:extLst>
                <a:ext uri="{FF2B5EF4-FFF2-40B4-BE49-F238E27FC236}">
                  <a16:creationId xmlns:a16="http://schemas.microsoft.com/office/drawing/2014/main" id="{9CEBDAEF-7718-4A9F-B331-9595E72ECA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312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7809" name="Text Box 14">
              <a:extLst>
                <a:ext uri="{FF2B5EF4-FFF2-40B4-BE49-F238E27FC236}">
                  <a16:creationId xmlns:a16="http://schemas.microsoft.com/office/drawing/2014/main" id="{27CE693E-2685-415C-8F1D-F3C4732533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3311"/>
              <a:ext cx="28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i="1"/>
                <a:t>f</a:t>
              </a:r>
            </a:p>
          </p:txBody>
        </p:sp>
      </p:grpSp>
      <p:sp>
        <p:nvSpPr>
          <p:cNvPr id="117770" name="AutoShape 15">
            <a:extLst>
              <a:ext uri="{FF2B5EF4-FFF2-40B4-BE49-F238E27FC236}">
                <a16:creationId xmlns:a16="http://schemas.microsoft.com/office/drawing/2014/main" id="{C02E2F86-FBCC-407C-87C0-0869E35F0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8275" y="1981200"/>
            <a:ext cx="2034330" cy="731520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7771" name="Oval 16">
            <a:extLst>
              <a:ext uri="{FF2B5EF4-FFF2-40B4-BE49-F238E27FC236}">
                <a16:creationId xmlns:a16="http://schemas.microsoft.com/office/drawing/2014/main" id="{B1A5C6BB-088D-42D4-B913-70FD9352C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928" y="2164080"/>
            <a:ext cx="271244" cy="24384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7772" name="Text Box 17">
            <a:extLst>
              <a:ext uri="{FF2B5EF4-FFF2-40B4-BE49-F238E27FC236}">
                <a16:creationId xmlns:a16="http://schemas.microsoft.com/office/drawing/2014/main" id="{4DD4D794-D9C5-4BD3-A598-A8B677AD4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4196" y="2103120"/>
            <a:ext cx="745921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N(s)</a:t>
            </a:r>
          </a:p>
        </p:txBody>
      </p:sp>
      <p:sp>
        <p:nvSpPr>
          <p:cNvPr id="117773" name="AutoShape 18">
            <a:extLst>
              <a:ext uri="{FF2B5EF4-FFF2-40B4-BE49-F238E27FC236}">
                <a16:creationId xmlns:a16="http://schemas.microsoft.com/office/drawing/2014/main" id="{F316BE82-F935-4FCD-9C63-F238C7BA9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306" y="1981200"/>
            <a:ext cx="2034330" cy="731520"/>
          </a:xfrm>
          <a:prstGeom prst="roundRect">
            <a:avLst>
              <a:gd name="adj" fmla="val 16667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7774" name="Oval 19">
            <a:extLst>
              <a:ext uri="{FF2B5EF4-FFF2-40B4-BE49-F238E27FC236}">
                <a16:creationId xmlns:a16="http://schemas.microsoft.com/office/drawing/2014/main" id="{F1B0B4C3-CAE2-4D70-A28E-1CB78D5AD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928" y="2164080"/>
            <a:ext cx="271244" cy="24384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7775" name="Text Box 20">
            <a:extLst>
              <a:ext uri="{FF2B5EF4-FFF2-40B4-BE49-F238E27FC236}">
                <a16:creationId xmlns:a16="http://schemas.microsoft.com/office/drawing/2014/main" id="{24EFE272-C365-422F-AEA6-2A34C9BBC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4794" y="2103120"/>
            <a:ext cx="745921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N(t)</a:t>
            </a:r>
          </a:p>
        </p:txBody>
      </p:sp>
      <p:sp>
        <p:nvSpPr>
          <p:cNvPr id="117776" name="Text Box 21">
            <a:extLst>
              <a:ext uri="{FF2B5EF4-FFF2-40B4-BE49-F238E27FC236}">
                <a16:creationId xmlns:a16="http://schemas.microsoft.com/office/drawing/2014/main" id="{1DFA52F5-52AE-457E-B834-66B36D482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1314" y="2103120"/>
            <a:ext cx="1627464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3333CC"/>
                </a:solidFill>
              </a:rPr>
              <a:t>L(s) L(t)</a:t>
            </a:r>
          </a:p>
        </p:txBody>
      </p:sp>
      <p:sp>
        <p:nvSpPr>
          <p:cNvPr id="117777" name="Line 22">
            <a:extLst>
              <a:ext uri="{FF2B5EF4-FFF2-40B4-BE49-F238E27FC236}">
                <a16:creationId xmlns:a16="http://schemas.microsoft.com/office/drawing/2014/main" id="{E641BBDD-0975-421A-9631-A696532FE22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01361" y="2468880"/>
            <a:ext cx="67811" cy="304800"/>
          </a:xfrm>
          <a:prstGeom prst="line">
            <a:avLst/>
          </a:prstGeom>
          <a:noFill/>
          <a:ln w="25400">
            <a:solidFill>
              <a:srgbClr val="00CC0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78" name="Text Box 23">
            <a:extLst>
              <a:ext uri="{FF2B5EF4-FFF2-40B4-BE49-F238E27FC236}">
                <a16:creationId xmlns:a16="http://schemas.microsoft.com/office/drawing/2014/main" id="{C0CF8C92-7204-4308-ACF3-78E4BC200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7677" y="2712720"/>
            <a:ext cx="1830897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dirty="0"/>
              <a:t>方法二</a:t>
            </a:r>
            <a:r>
              <a:rPr kumimoji="0" lang="en-US" altLang="zh-CN" sz="2000" dirty="0"/>
              <a:t>:</a:t>
            </a:r>
          </a:p>
        </p:txBody>
      </p:sp>
      <p:sp>
        <p:nvSpPr>
          <p:cNvPr id="117779" name="Text Box 24">
            <a:extLst>
              <a:ext uri="{FF2B5EF4-FFF2-40B4-BE49-F238E27FC236}">
                <a16:creationId xmlns:a16="http://schemas.microsoft.com/office/drawing/2014/main" id="{A17D420F-2056-48E9-A142-4382A01CC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58873" y="2712720"/>
            <a:ext cx="1220598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00CC00"/>
                </a:solidFill>
              </a:rPr>
              <a:t>overlap</a:t>
            </a:r>
          </a:p>
        </p:txBody>
      </p:sp>
      <p:grpSp>
        <p:nvGrpSpPr>
          <p:cNvPr id="117780" name="Group 25">
            <a:extLst>
              <a:ext uri="{FF2B5EF4-FFF2-40B4-BE49-F238E27FC236}">
                <a16:creationId xmlns:a16="http://schemas.microsoft.com/office/drawing/2014/main" id="{374C0F7B-0B26-40D1-87E8-73959BAA3B09}"/>
              </a:ext>
            </a:extLst>
          </p:cNvPr>
          <p:cNvGrpSpPr>
            <a:grpSpLocks/>
          </p:cNvGrpSpPr>
          <p:nvPr/>
        </p:nvGrpSpPr>
        <p:grpSpPr bwMode="auto">
          <a:xfrm>
            <a:off x="2973897" y="3261360"/>
            <a:ext cx="1898708" cy="548640"/>
            <a:chOff x="2352" y="2928"/>
            <a:chExt cx="1344" cy="432"/>
          </a:xfrm>
        </p:grpSpPr>
        <p:sp>
          <p:nvSpPr>
            <p:cNvPr id="117802" name="Text Box 26">
              <a:extLst>
                <a:ext uri="{FF2B5EF4-FFF2-40B4-BE49-F238E27FC236}">
                  <a16:creationId xmlns:a16="http://schemas.microsoft.com/office/drawing/2014/main" id="{DFE906FE-3D56-4D3B-8EE5-28C860CC2A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975"/>
              <a:ext cx="1152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2000">
                <a:solidFill>
                  <a:srgbClr val="00CC00"/>
                </a:solidFill>
              </a:endParaRPr>
            </a:p>
          </p:txBody>
        </p:sp>
        <p:sp>
          <p:nvSpPr>
            <p:cNvPr id="117803" name="AutoShape 27">
              <a:extLst>
                <a:ext uri="{FF2B5EF4-FFF2-40B4-BE49-F238E27FC236}">
                  <a16:creationId xmlns:a16="http://schemas.microsoft.com/office/drawing/2014/main" id="{775ECD00-8FD0-44E5-BD2C-0AE633281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928"/>
              <a:ext cx="1344" cy="432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7804" name="Oval 28">
              <a:extLst>
                <a:ext uri="{FF2B5EF4-FFF2-40B4-BE49-F238E27FC236}">
                  <a16:creationId xmlns:a16="http://schemas.microsoft.com/office/drawing/2014/main" id="{CC448DB5-B1FC-4A0F-90ED-439D31A24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024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7805" name="Oval 29">
              <a:extLst>
                <a:ext uri="{FF2B5EF4-FFF2-40B4-BE49-F238E27FC236}">
                  <a16:creationId xmlns:a16="http://schemas.microsoft.com/office/drawing/2014/main" id="{4C9B2EA8-93AD-4A91-9275-F426F1A29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024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7806" name="Text Box 30">
              <a:extLst>
                <a:ext uri="{FF2B5EF4-FFF2-40B4-BE49-F238E27FC236}">
                  <a16:creationId xmlns:a16="http://schemas.microsoft.com/office/drawing/2014/main" id="{45508D32-4939-4EC9-9358-EA2E09CC44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975"/>
              <a:ext cx="52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N(s)</a:t>
              </a:r>
            </a:p>
          </p:txBody>
        </p:sp>
      </p:grpSp>
      <p:sp>
        <p:nvSpPr>
          <p:cNvPr id="117781" name="Line 31">
            <a:extLst>
              <a:ext uri="{FF2B5EF4-FFF2-40B4-BE49-F238E27FC236}">
                <a16:creationId xmlns:a16="http://schemas.microsoft.com/office/drawing/2014/main" id="{D00A18D4-A5EF-405B-BE5E-E86414E794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99220" y="3505200"/>
            <a:ext cx="67811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2" name="Text Box 32">
            <a:extLst>
              <a:ext uri="{FF2B5EF4-FFF2-40B4-BE49-F238E27FC236}">
                <a16:creationId xmlns:a16="http://schemas.microsoft.com/office/drawing/2014/main" id="{4A329BE2-2896-47BE-9367-C85AEE07E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9220" y="3200400"/>
            <a:ext cx="474677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17783" name="Text Box 33">
            <a:extLst>
              <a:ext uri="{FF2B5EF4-FFF2-40B4-BE49-F238E27FC236}">
                <a16:creationId xmlns:a16="http://schemas.microsoft.com/office/drawing/2014/main" id="{E9544DA3-83CD-46FB-9028-00FB90FF6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200400"/>
            <a:ext cx="745921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start</a:t>
            </a:r>
          </a:p>
        </p:txBody>
      </p:sp>
      <p:grpSp>
        <p:nvGrpSpPr>
          <p:cNvPr id="117784" name="Group 34">
            <a:extLst>
              <a:ext uri="{FF2B5EF4-FFF2-40B4-BE49-F238E27FC236}">
                <a16:creationId xmlns:a16="http://schemas.microsoft.com/office/drawing/2014/main" id="{0DBB8CBE-A114-4A53-B02B-DC659300FA88}"/>
              </a:ext>
            </a:extLst>
          </p:cNvPr>
          <p:cNvGrpSpPr>
            <a:grpSpLocks/>
          </p:cNvGrpSpPr>
          <p:nvPr/>
        </p:nvGrpSpPr>
        <p:grpSpPr bwMode="auto">
          <a:xfrm>
            <a:off x="1278622" y="3200400"/>
            <a:ext cx="1220598" cy="548640"/>
            <a:chOff x="960" y="3264"/>
            <a:chExt cx="864" cy="432"/>
          </a:xfrm>
        </p:grpSpPr>
        <p:sp>
          <p:nvSpPr>
            <p:cNvPr id="117799" name="Oval 35">
              <a:extLst>
                <a:ext uri="{FF2B5EF4-FFF2-40B4-BE49-F238E27FC236}">
                  <a16:creationId xmlns:a16="http://schemas.microsoft.com/office/drawing/2014/main" id="{38C0E097-65B5-4A96-8440-F61E8F64D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264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7800" name="Line 36">
              <a:extLst>
                <a:ext uri="{FF2B5EF4-FFF2-40B4-BE49-F238E27FC236}">
                  <a16:creationId xmlns:a16="http://schemas.microsoft.com/office/drawing/2014/main" id="{37DE0C80-FA63-4D1C-A86D-1A83B1D46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504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801" name="Text Box 37">
              <a:extLst>
                <a:ext uri="{FF2B5EF4-FFF2-40B4-BE49-F238E27FC236}">
                  <a16:creationId xmlns:a16="http://schemas.microsoft.com/office/drawing/2014/main" id="{C09E81DB-3779-461A-8C71-71232B24E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312"/>
              <a:ext cx="288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i="1"/>
                <a:t>i</a:t>
              </a:r>
            </a:p>
          </p:txBody>
        </p:sp>
      </p:grpSp>
      <p:grpSp>
        <p:nvGrpSpPr>
          <p:cNvPr id="117785" name="Group 38">
            <a:extLst>
              <a:ext uri="{FF2B5EF4-FFF2-40B4-BE49-F238E27FC236}">
                <a16:creationId xmlns:a16="http://schemas.microsoft.com/office/drawing/2014/main" id="{034CFEF4-1BE6-417D-ADFC-48A166E9FF0D}"/>
              </a:ext>
            </a:extLst>
          </p:cNvPr>
          <p:cNvGrpSpPr>
            <a:grpSpLocks/>
          </p:cNvGrpSpPr>
          <p:nvPr/>
        </p:nvGrpSpPr>
        <p:grpSpPr bwMode="auto">
          <a:xfrm>
            <a:off x="7924101" y="3200400"/>
            <a:ext cx="610299" cy="548640"/>
            <a:chOff x="4032" y="3264"/>
            <a:chExt cx="432" cy="432"/>
          </a:xfrm>
        </p:grpSpPr>
        <p:sp>
          <p:nvSpPr>
            <p:cNvPr id="117796" name="Oval 39">
              <a:extLst>
                <a:ext uri="{FF2B5EF4-FFF2-40B4-BE49-F238E27FC236}">
                  <a16:creationId xmlns:a16="http://schemas.microsoft.com/office/drawing/2014/main" id="{0ED00AF3-88E0-4ADD-ADD6-DFED2BF755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264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7797" name="Oval 40">
              <a:extLst>
                <a:ext uri="{FF2B5EF4-FFF2-40B4-BE49-F238E27FC236}">
                  <a16:creationId xmlns:a16="http://schemas.microsoft.com/office/drawing/2014/main" id="{64A0248A-5E50-4D3A-ACF7-F83D29349B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312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7798" name="Text Box 41">
              <a:extLst>
                <a:ext uri="{FF2B5EF4-FFF2-40B4-BE49-F238E27FC236}">
                  <a16:creationId xmlns:a16="http://schemas.microsoft.com/office/drawing/2014/main" id="{61AACE1E-BDF2-48D6-837E-952B8D245C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3312"/>
              <a:ext cx="288" cy="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i="1"/>
                <a:t>f</a:t>
              </a:r>
            </a:p>
          </p:txBody>
        </p:sp>
      </p:grpSp>
      <p:grpSp>
        <p:nvGrpSpPr>
          <p:cNvPr id="117786" name="Group 42">
            <a:extLst>
              <a:ext uri="{FF2B5EF4-FFF2-40B4-BE49-F238E27FC236}">
                <a16:creationId xmlns:a16="http://schemas.microsoft.com/office/drawing/2014/main" id="{70D59E84-47FD-42A6-B58E-C054463F96CB}"/>
              </a:ext>
            </a:extLst>
          </p:cNvPr>
          <p:cNvGrpSpPr>
            <a:grpSpLocks/>
          </p:cNvGrpSpPr>
          <p:nvPr/>
        </p:nvGrpSpPr>
        <p:grpSpPr bwMode="auto">
          <a:xfrm>
            <a:off x="5482905" y="3261360"/>
            <a:ext cx="1898708" cy="548640"/>
            <a:chOff x="2352" y="2928"/>
            <a:chExt cx="1344" cy="432"/>
          </a:xfrm>
        </p:grpSpPr>
        <p:sp>
          <p:nvSpPr>
            <p:cNvPr id="117791" name="Text Box 43">
              <a:extLst>
                <a:ext uri="{FF2B5EF4-FFF2-40B4-BE49-F238E27FC236}">
                  <a16:creationId xmlns:a16="http://schemas.microsoft.com/office/drawing/2014/main" id="{091B2903-B43E-449D-876F-2EFA9F2B9B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975"/>
              <a:ext cx="1152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2000">
                <a:solidFill>
                  <a:srgbClr val="00CC00"/>
                </a:solidFill>
              </a:endParaRPr>
            </a:p>
          </p:txBody>
        </p:sp>
        <p:sp>
          <p:nvSpPr>
            <p:cNvPr id="117792" name="AutoShape 44">
              <a:extLst>
                <a:ext uri="{FF2B5EF4-FFF2-40B4-BE49-F238E27FC236}">
                  <a16:creationId xmlns:a16="http://schemas.microsoft.com/office/drawing/2014/main" id="{9CDA5689-E7A3-45B6-B16D-4D031E530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928"/>
              <a:ext cx="1344" cy="432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7793" name="Oval 45">
              <a:extLst>
                <a:ext uri="{FF2B5EF4-FFF2-40B4-BE49-F238E27FC236}">
                  <a16:creationId xmlns:a16="http://schemas.microsoft.com/office/drawing/2014/main" id="{AE772F89-3F91-4449-A70B-0D125F095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024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7794" name="Oval 46">
              <a:extLst>
                <a:ext uri="{FF2B5EF4-FFF2-40B4-BE49-F238E27FC236}">
                  <a16:creationId xmlns:a16="http://schemas.microsoft.com/office/drawing/2014/main" id="{D06E5CE9-C680-4B85-9CD9-AB85CD42E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024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7795" name="Text Box 47">
              <a:extLst>
                <a:ext uri="{FF2B5EF4-FFF2-40B4-BE49-F238E27FC236}">
                  <a16:creationId xmlns:a16="http://schemas.microsoft.com/office/drawing/2014/main" id="{303FD215-310A-45F1-967D-25D99DDC5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975"/>
              <a:ext cx="528" cy="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N(t)</a:t>
              </a:r>
            </a:p>
          </p:txBody>
        </p:sp>
      </p:grpSp>
      <p:sp>
        <p:nvSpPr>
          <p:cNvPr id="117787" name="Line 48">
            <a:extLst>
              <a:ext uri="{FF2B5EF4-FFF2-40B4-BE49-F238E27FC236}">
                <a16:creationId xmlns:a16="http://schemas.microsoft.com/office/drawing/2014/main" id="{0B5FF653-3BCC-441E-A89F-50699D41B2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69172" y="3505200"/>
            <a:ext cx="101716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8" name="Line 49">
            <a:extLst>
              <a:ext uri="{FF2B5EF4-FFF2-40B4-BE49-F238E27FC236}">
                <a16:creationId xmlns:a16="http://schemas.microsoft.com/office/drawing/2014/main" id="{633826AE-2573-4CFE-BD68-C2E6C921BD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78180" y="3505200"/>
            <a:ext cx="74592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789" name="Text Box 50">
            <a:extLst>
              <a:ext uri="{FF2B5EF4-FFF2-40B4-BE49-F238E27FC236}">
                <a16:creationId xmlns:a16="http://schemas.microsoft.com/office/drawing/2014/main" id="{D8D9EDC0-C0CC-4734-AC72-EAD92127E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3802" y="3200400"/>
            <a:ext cx="474677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17790" name="Text Box 51">
            <a:extLst>
              <a:ext uri="{FF2B5EF4-FFF2-40B4-BE49-F238E27FC236}">
                <a16:creationId xmlns:a16="http://schemas.microsoft.com/office/drawing/2014/main" id="{67682E10-16EA-472E-9830-9A24BBC24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0417" y="3200400"/>
            <a:ext cx="474677" cy="397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AB1219C6-9914-544C-9669-E094CD6609F4}"/>
              </a:ext>
            </a:extLst>
          </p:cNvPr>
          <p:cNvSpPr txBox="1"/>
          <p:nvPr/>
        </p:nvSpPr>
        <p:spPr>
          <a:xfrm>
            <a:off x="1143000" y="4937760"/>
            <a:ext cx="7029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方法二：新初态、终态</a:t>
            </a:r>
            <a: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——</a:t>
            </a:r>
            <a:r>
              <a:rPr kumimoji="0" lang="en-US" altLang="zh-CN" i="1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、</a:t>
            </a:r>
            <a:r>
              <a:rPr kumimoji="0" lang="en-US" altLang="zh-CN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f</a:t>
            </a:r>
            <a:b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	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    三条新</a:t>
            </a:r>
            <a:r>
              <a:rPr kumimoji="0" lang="en-US" altLang="zh-CN" dirty="0">
                <a:solidFill>
                  <a:schemeClr val="folHlink"/>
                </a:solidFill>
                <a:latin typeface="Symbol" pitchFamily="2" charset="2"/>
                <a:sym typeface="Symbol" panose="05050102010706020507" pitchFamily="18" charset="2"/>
              </a:rPr>
              <a:t>e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边：</a:t>
            </a:r>
            <a:r>
              <a:rPr kumimoji="0" lang="en-US" altLang="zh-CN" i="1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kumimoji="0" lang="en-US" altLang="zh-CN" dirty="0" err="1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N</a:t>
            </a:r>
            <a: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(s)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初态	</a:t>
            </a:r>
            <a: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N(t)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终态</a:t>
            </a:r>
            <a:r>
              <a:rPr kumimoji="0" lang="en-US" altLang="zh-CN" i="1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f</a:t>
            </a:r>
            <a:b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</a:br>
            <a: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		          N(s)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终态</a:t>
            </a:r>
            <a: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N(t)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初态</a:t>
            </a:r>
            <a:endParaRPr kumimoji="0" lang="zh-CN" altLang="en-US" dirty="0">
              <a:solidFill>
                <a:schemeClr val="folHlink"/>
              </a:solidFill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4" grpId="0"/>
      <p:bldP spid="117766" grpId="0" animBg="1"/>
      <p:bldP spid="117767" grpId="0"/>
      <p:bldP spid="117776" grpId="0"/>
      <p:bldP spid="117777" grpId="0" animBg="1"/>
      <p:bldP spid="117779" grpId="0"/>
      <p:bldP spid="117781" grpId="0" animBg="1"/>
      <p:bldP spid="117782" grpId="0"/>
      <p:bldP spid="117783" grpId="0"/>
      <p:bldP spid="117787" grpId="0" animBg="1"/>
      <p:bldP spid="117788" grpId="0" animBg="1"/>
      <p:bldP spid="117789" grpId="0"/>
      <p:bldP spid="117790" grpId="0"/>
      <p:bldP spid="53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4F610DA6-D13A-4509-9B98-837BC42CF5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3.3  </a:t>
            </a:r>
            <a:r>
              <a:rPr lang="zh-CN" altLang="en-US"/>
              <a:t>正规式</a:t>
            </a:r>
            <a:r>
              <a:rPr lang="zh-CN" altLang="en-US">
                <a:sym typeface="Symbol" panose="05050102010706020507" pitchFamily="18" charset="2"/>
              </a:rPr>
              <a:t></a:t>
            </a:r>
            <a:r>
              <a:rPr lang="en-US" altLang="zh-CN"/>
              <a:t>NFA</a:t>
            </a:r>
            <a:r>
              <a:rPr lang="zh-CN" altLang="en-US"/>
              <a:t>（续）</a:t>
            </a:r>
          </a:p>
        </p:txBody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E4CD1AC1-4D77-4BD0-A536-07B8AFFD77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6096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lphaLcParenR" startAt="3"/>
            </a:pPr>
            <a:r>
              <a:rPr kumimoji="0" lang="zh-CN" altLang="en-US" sz="2400">
                <a:sym typeface="Symbol" panose="05050102010706020507" pitchFamily="18" charset="2"/>
              </a:rPr>
              <a:t>对正规式</a:t>
            </a:r>
            <a:r>
              <a:rPr kumimoji="0" lang="en-US" altLang="zh-CN" sz="2400">
                <a:sym typeface="Symbol" panose="05050102010706020507" pitchFamily="18" charset="2"/>
              </a:rPr>
              <a:t>s</a:t>
            </a:r>
            <a:r>
              <a:rPr kumimoji="0" lang="en-US" altLang="zh-CN" sz="2400" baseline="30000">
                <a:sym typeface="Symbol" panose="05050102010706020507" pitchFamily="18" charset="2"/>
              </a:rPr>
              <a:t>*</a:t>
            </a:r>
            <a:r>
              <a:rPr kumimoji="0" lang="zh-CN" altLang="en-US" sz="2400">
                <a:sym typeface="Symbol" panose="05050102010706020507" pitchFamily="18" charset="2"/>
              </a:rPr>
              <a:t>，构造如下组合</a:t>
            </a:r>
            <a:r>
              <a:rPr kumimoji="0" lang="en-US" altLang="zh-CN" sz="2400">
                <a:sym typeface="Symbol" panose="05050102010706020507" pitchFamily="18" charset="2"/>
              </a:rPr>
              <a:t>NFA N(s</a:t>
            </a:r>
            <a:r>
              <a:rPr kumimoji="0" lang="en-US" altLang="zh-CN" sz="2400" baseline="30000">
                <a:sym typeface="Symbol" panose="05050102010706020507" pitchFamily="18" charset="2"/>
              </a:rPr>
              <a:t>*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118788" name="Text Box 4">
            <a:extLst>
              <a:ext uri="{FF2B5EF4-FFF2-40B4-BE49-F238E27FC236}">
                <a16:creationId xmlns:a16="http://schemas.microsoft.com/office/drawing/2014/main" id="{93AD1603-260F-4E9F-920D-D87C79006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3124200"/>
            <a:ext cx="75438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dirty="0">
                <a:solidFill>
                  <a:schemeClr val="folHlink"/>
                </a:solidFill>
              </a:rPr>
              <a:t>新初态、终态</a:t>
            </a:r>
            <a:r>
              <a:rPr kumimoji="0" lang="en-US" altLang="zh-CN" sz="2400" dirty="0">
                <a:solidFill>
                  <a:schemeClr val="folHlink"/>
                </a:solidFill>
              </a:rPr>
              <a:t>——</a:t>
            </a:r>
            <a:r>
              <a:rPr kumimoji="0" lang="en-US" altLang="zh-CN" sz="2400" i="1" dirty="0" err="1">
                <a:solidFill>
                  <a:schemeClr val="folHlink"/>
                </a:solidFill>
              </a:rPr>
              <a:t>i</a:t>
            </a:r>
            <a:r>
              <a:rPr kumimoji="0" lang="zh-CN" altLang="en-US" sz="2400" dirty="0">
                <a:solidFill>
                  <a:schemeClr val="folHlink"/>
                </a:solidFill>
              </a:rPr>
              <a:t>、</a:t>
            </a:r>
            <a:r>
              <a:rPr kumimoji="0" lang="en-US" altLang="zh-CN" sz="2400" i="1" dirty="0">
                <a:solidFill>
                  <a:schemeClr val="folHlink"/>
                </a:solidFill>
              </a:rPr>
              <a:t>f</a:t>
            </a:r>
            <a:endParaRPr kumimoji="0" lang="zh-CN" altLang="en-US" sz="2400" dirty="0">
              <a:solidFill>
                <a:schemeClr val="folHlink"/>
              </a:solidFill>
              <a:sym typeface="Symbol" panose="05050102010706020507" pitchFamily="18" charset="2"/>
            </a:endParaRPr>
          </a:p>
        </p:txBody>
      </p:sp>
      <p:grpSp>
        <p:nvGrpSpPr>
          <p:cNvPr id="118789" name="Group 5">
            <a:extLst>
              <a:ext uri="{FF2B5EF4-FFF2-40B4-BE49-F238E27FC236}">
                <a16:creationId xmlns:a16="http://schemas.microsoft.com/office/drawing/2014/main" id="{D7701FEC-A8B7-4A33-B608-B1F30C30A813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2057400"/>
            <a:ext cx="685800" cy="685800"/>
            <a:chOff x="4032" y="3264"/>
            <a:chExt cx="432" cy="432"/>
          </a:xfrm>
        </p:grpSpPr>
        <p:sp>
          <p:nvSpPr>
            <p:cNvPr id="118809" name="Oval 6">
              <a:extLst>
                <a:ext uri="{FF2B5EF4-FFF2-40B4-BE49-F238E27FC236}">
                  <a16:creationId xmlns:a16="http://schemas.microsoft.com/office/drawing/2014/main" id="{1B814F37-273A-453B-8D19-AE7FCC633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264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8810" name="Oval 7">
              <a:extLst>
                <a:ext uri="{FF2B5EF4-FFF2-40B4-BE49-F238E27FC236}">
                  <a16:creationId xmlns:a16="http://schemas.microsoft.com/office/drawing/2014/main" id="{4C4FC147-C0BC-4698-B2DF-33258904A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312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8811" name="Text Box 8">
              <a:extLst>
                <a:ext uri="{FF2B5EF4-FFF2-40B4-BE49-F238E27FC236}">
                  <a16:creationId xmlns:a16="http://schemas.microsoft.com/office/drawing/2014/main" id="{C94C73A9-04EC-4210-92EE-9DDAE68BD8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3312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i="1"/>
                <a:t>f</a:t>
              </a:r>
            </a:p>
          </p:txBody>
        </p:sp>
      </p:grpSp>
      <p:grpSp>
        <p:nvGrpSpPr>
          <p:cNvPr id="118790" name="Group 9">
            <a:extLst>
              <a:ext uri="{FF2B5EF4-FFF2-40B4-BE49-F238E27FC236}">
                <a16:creationId xmlns:a16="http://schemas.microsoft.com/office/drawing/2014/main" id="{5673BA82-31D6-4A4F-B473-D3EEE1A1FC1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2133600"/>
            <a:ext cx="2133600" cy="685800"/>
            <a:chOff x="2352" y="2928"/>
            <a:chExt cx="1344" cy="432"/>
          </a:xfrm>
        </p:grpSpPr>
        <p:sp>
          <p:nvSpPr>
            <p:cNvPr id="118804" name="Text Box 10">
              <a:extLst>
                <a:ext uri="{FF2B5EF4-FFF2-40B4-BE49-F238E27FC236}">
                  <a16:creationId xmlns:a16="http://schemas.microsoft.com/office/drawing/2014/main" id="{812B89B7-373D-4C9D-A3C3-3E02EFC22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976"/>
              <a:ext cx="115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2000">
                <a:solidFill>
                  <a:srgbClr val="00CC00"/>
                </a:solidFill>
              </a:endParaRPr>
            </a:p>
          </p:txBody>
        </p:sp>
        <p:sp>
          <p:nvSpPr>
            <p:cNvPr id="118805" name="AutoShape 11">
              <a:extLst>
                <a:ext uri="{FF2B5EF4-FFF2-40B4-BE49-F238E27FC236}">
                  <a16:creationId xmlns:a16="http://schemas.microsoft.com/office/drawing/2014/main" id="{40E86208-752B-4400-8E76-C2CBBC5E0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928"/>
              <a:ext cx="1344" cy="432"/>
            </a:xfrm>
            <a:prstGeom prst="roundRect">
              <a:avLst>
                <a:gd name="adj" fmla="val 16667"/>
              </a:avLst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8806" name="Oval 12">
              <a:extLst>
                <a:ext uri="{FF2B5EF4-FFF2-40B4-BE49-F238E27FC236}">
                  <a16:creationId xmlns:a16="http://schemas.microsoft.com/office/drawing/2014/main" id="{80F1F790-7909-4C79-BD38-CEAB08B3C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3024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8807" name="Oval 13">
              <a:extLst>
                <a:ext uri="{FF2B5EF4-FFF2-40B4-BE49-F238E27FC236}">
                  <a16:creationId xmlns:a16="http://schemas.microsoft.com/office/drawing/2014/main" id="{DC4BF0A3-1BAC-4E35-AF26-EC7DA49FB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024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18808" name="Text Box 14">
              <a:extLst>
                <a:ext uri="{FF2B5EF4-FFF2-40B4-BE49-F238E27FC236}">
                  <a16:creationId xmlns:a16="http://schemas.microsoft.com/office/drawing/2014/main" id="{84CAABA6-F36B-46E6-902B-DBCF23CBD5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976"/>
              <a:ext cx="5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N(s)</a:t>
              </a:r>
            </a:p>
          </p:txBody>
        </p:sp>
      </p:grpSp>
      <p:sp>
        <p:nvSpPr>
          <p:cNvPr id="118791" name="Line 15">
            <a:extLst>
              <a:ext uri="{FF2B5EF4-FFF2-40B4-BE49-F238E27FC236}">
                <a16:creationId xmlns:a16="http://schemas.microsoft.com/office/drawing/2014/main" id="{E532F9EA-65E0-441A-B1B9-A9631E4C08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5600" y="24384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92" name="Text Box 16">
            <a:extLst>
              <a:ext uri="{FF2B5EF4-FFF2-40B4-BE49-F238E27FC236}">
                <a16:creationId xmlns:a16="http://schemas.microsoft.com/office/drawing/2014/main" id="{0725408A-3444-46A2-8605-48CE44CFE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057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18793" name="Text Box 17">
            <a:extLst>
              <a:ext uri="{FF2B5EF4-FFF2-40B4-BE49-F238E27FC236}">
                <a16:creationId xmlns:a16="http://schemas.microsoft.com/office/drawing/2014/main" id="{475BB056-0934-4CB1-A3E3-B89C48368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20574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start</a:t>
            </a:r>
          </a:p>
        </p:txBody>
      </p:sp>
      <p:sp>
        <p:nvSpPr>
          <p:cNvPr id="118794" name="Oval 18">
            <a:extLst>
              <a:ext uri="{FF2B5EF4-FFF2-40B4-BE49-F238E27FC236}">
                <a16:creationId xmlns:a16="http://schemas.microsoft.com/office/drawing/2014/main" id="{936A8A8B-413C-4A9A-90EE-0D728C283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057400"/>
            <a:ext cx="6858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18795" name="Line 19">
            <a:extLst>
              <a:ext uri="{FF2B5EF4-FFF2-40B4-BE49-F238E27FC236}">
                <a16:creationId xmlns:a16="http://schemas.microsoft.com/office/drawing/2014/main" id="{928D83A6-B5C7-4F18-B86B-8DB0973E19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243840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96" name="Text Box 20">
            <a:extLst>
              <a:ext uri="{FF2B5EF4-FFF2-40B4-BE49-F238E27FC236}">
                <a16:creationId xmlns:a16="http://schemas.microsoft.com/office/drawing/2014/main" id="{985ECFEF-3018-468C-9B46-98C3345D2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133600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/>
              <a:t>i</a:t>
            </a:r>
          </a:p>
        </p:txBody>
      </p:sp>
      <p:sp>
        <p:nvSpPr>
          <p:cNvPr id="118797" name="Line 21">
            <a:extLst>
              <a:ext uri="{FF2B5EF4-FFF2-40B4-BE49-F238E27FC236}">
                <a16:creationId xmlns:a16="http://schemas.microsoft.com/office/drawing/2014/main" id="{534F3BA8-7FB6-4F0D-96B5-A0FCD75238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2438400"/>
            <a:ext cx="1143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798" name="Text Box 22">
            <a:extLst>
              <a:ext uri="{FF2B5EF4-FFF2-40B4-BE49-F238E27FC236}">
                <a16:creationId xmlns:a16="http://schemas.microsoft.com/office/drawing/2014/main" id="{90147BAA-01A8-4DF9-989A-2E7449F62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057400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cxnSp>
        <p:nvCxnSpPr>
          <p:cNvPr id="118799" name="AutoShape 23">
            <a:extLst>
              <a:ext uri="{FF2B5EF4-FFF2-40B4-BE49-F238E27FC236}">
                <a16:creationId xmlns:a16="http://schemas.microsoft.com/office/drawing/2014/main" id="{C960F383-358B-465C-973F-84D86F147256}"/>
              </a:ext>
            </a:extLst>
          </p:cNvPr>
          <p:cNvCxnSpPr>
            <a:cxnSpLocks noChangeShapeType="1"/>
            <a:stCxn id="118794" idx="4"/>
            <a:endCxn id="118809" idx="4"/>
          </p:cNvCxnSpPr>
          <p:nvPr/>
        </p:nvCxnSpPr>
        <p:spPr bwMode="auto">
          <a:xfrm rot="16200000" flipH="1">
            <a:off x="4685506" y="610394"/>
            <a:ext cx="1588" cy="4267200"/>
          </a:xfrm>
          <a:prstGeom prst="curvedConnector3">
            <a:avLst>
              <a:gd name="adj1" fmla="val 14400005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8800" name="AutoShape 24">
            <a:extLst>
              <a:ext uri="{FF2B5EF4-FFF2-40B4-BE49-F238E27FC236}">
                <a16:creationId xmlns:a16="http://schemas.microsoft.com/office/drawing/2014/main" id="{0F9EB0A6-1FBC-4E84-B50A-C9BB466AD721}"/>
              </a:ext>
            </a:extLst>
          </p:cNvPr>
          <p:cNvCxnSpPr>
            <a:cxnSpLocks noChangeShapeType="1"/>
            <a:stCxn id="118807" idx="0"/>
            <a:endCxn id="118806" idx="0"/>
          </p:cNvCxnSpPr>
          <p:nvPr/>
        </p:nvCxnSpPr>
        <p:spPr bwMode="auto">
          <a:xfrm rot="-5400000" flipH="1" flipV="1">
            <a:off x="4495006" y="1600994"/>
            <a:ext cx="1588" cy="1371600"/>
          </a:xfrm>
          <a:prstGeom prst="curvedConnector3">
            <a:avLst>
              <a:gd name="adj1" fmla="val -14400005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8801" name="Text Box 25">
            <a:extLst>
              <a:ext uri="{FF2B5EF4-FFF2-40B4-BE49-F238E27FC236}">
                <a16:creationId xmlns:a16="http://schemas.microsoft.com/office/drawing/2014/main" id="{365A6679-50A9-498E-B306-C947D05346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6002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18802" name="Text Box 26">
            <a:extLst>
              <a:ext uri="{FF2B5EF4-FFF2-40B4-BE49-F238E27FC236}">
                <a16:creationId xmlns:a16="http://schemas.microsoft.com/office/drawing/2014/main" id="{006D271F-8F3D-4E7E-996F-DEAE01AB7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895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18803" name="Rectangle 27">
            <a:extLst>
              <a:ext uri="{FF2B5EF4-FFF2-40B4-BE49-F238E27FC236}">
                <a16:creationId xmlns:a16="http://schemas.microsoft.com/office/drawing/2014/main" id="{78C71AFD-E182-4A90-AAC6-DE6C5A046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800600"/>
            <a:ext cx="7772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AutoNum type="alphaLcParenR" startAt="4"/>
            </a:pPr>
            <a:r>
              <a:rPr kumimoji="0" lang="zh-CN" altLang="en-US" sz="2400" b="0">
                <a:latin typeface="Tahoma" panose="020B0604030504040204" pitchFamily="34" charset="0"/>
                <a:sym typeface="Symbol" panose="05050102010706020507" pitchFamily="18" charset="2"/>
              </a:rPr>
              <a:t>对正规式</a:t>
            </a:r>
            <a:r>
              <a:rPr kumimoji="0" lang="en-US" altLang="zh-CN" sz="2400" b="0">
                <a:sym typeface="Symbol" panose="05050102010706020507" pitchFamily="18" charset="2"/>
              </a:rPr>
              <a:t>(s)</a:t>
            </a:r>
            <a:r>
              <a:rPr kumimoji="0" lang="zh-CN" altLang="en-US" sz="2400" b="0">
                <a:sym typeface="Symbol" panose="05050102010706020507" pitchFamily="18" charset="2"/>
              </a:rPr>
              <a:t>，</a:t>
            </a:r>
            <a:r>
              <a:rPr kumimoji="0" lang="en-US" altLang="zh-CN" sz="2400" b="0">
                <a:sym typeface="Symbol" panose="05050102010706020507" pitchFamily="18" charset="2"/>
              </a:rPr>
              <a:t>N((s)) = N(s)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14E5CB7-E2A2-FF40-9D74-8EF64956800B}"/>
              </a:ext>
            </a:extLst>
          </p:cNvPr>
          <p:cNvSpPr txBox="1"/>
          <p:nvPr/>
        </p:nvSpPr>
        <p:spPr>
          <a:xfrm>
            <a:off x="1182688" y="3645024"/>
            <a:ext cx="67738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四条新</a:t>
            </a:r>
            <a:r>
              <a:rPr kumimoji="0" lang="en-US" altLang="zh-CN" dirty="0">
                <a:solidFill>
                  <a:schemeClr val="folHlink"/>
                </a:solidFill>
                <a:latin typeface="Symbol" pitchFamily="2" charset="2"/>
                <a:sym typeface="Symbol" panose="05050102010706020507" pitchFamily="18" charset="2"/>
              </a:rPr>
              <a:t>e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边：   </a:t>
            </a:r>
            <a:r>
              <a:rPr kumimoji="0" lang="en-US" altLang="zh-CN" i="1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kumimoji="0" lang="en-US" altLang="zh-CN" dirty="0" err="1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0" lang="en-US" altLang="zh-CN" i="1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f</a:t>
            </a:r>
            <a:b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</a:br>
            <a: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 </a:t>
            </a:r>
            <a:r>
              <a:rPr kumimoji="0" lang="en-US" altLang="zh-CN" i="1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i</a:t>
            </a:r>
            <a:r>
              <a:rPr kumimoji="0" lang="en-US" altLang="zh-CN" dirty="0" err="1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0" lang="en-US" altLang="zh-CN" dirty="0" err="1">
                <a:solidFill>
                  <a:schemeClr val="folHlink"/>
                </a:solidFill>
                <a:latin typeface="Times New Roman" panose="02020603050405020304" pitchFamily="18" charset="0"/>
              </a:rPr>
              <a:t>N</a:t>
            </a:r>
            <a: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(s)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初态		</a:t>
            </a:r>
            <a: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N(s)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终态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0" lang="en-US" altLang="zh-CN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f</a:t>
            </a:r>
            <a:b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</a:br>
            <a: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		 N(s)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终态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0" lang="en-US" altLang="zh-CN" dirty="0">
                <a:solidFill>
                  <a:schemeClr val="folHlink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N(s)</a:t>
            </a:r>
            <a:r>
              <a:rPr kumimoji="0" lang="zh-CN" altLang="en-US" dirty="0">
                <a:solidFill>
                  <a:schemeClr val="fol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初态</a:t>
            </a:r>
            <a:endParaRPr kumimoji="0" lang="zh-CN" altLang="en-US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Text Box 21">
            <a:extLst>
              <a:ext uri="{FF2B5EF4-FFF2-40B4-BE49-F238E27FC236}">
                <a16:creationId xmlns:a16="http://schemas.microsoft.com/office/drawing/2014/main" id="{8336FFC0-B676-AD4A-9BBE-060AC6EDE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3008" y="2103120"/>
            <a:ext cx="162746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3333CC"/>
                </a:solidFill>
              </a:rPr>
              <a:t>L(s)</a:t>
            </a:r>
            <a:r>
              <a:rPr kumimoji="0" lang="zh-CN" altLang="en-US" sz="2000" dirty="0">
                <a:solidFill>
                  <a:srgbClr val="3333CC"/>
                </a:solidFill>
              </a:rPr>
              <a:t>*</a:t>
            </a:r>
            <a:endParaRPr kumimoji="0" lang="en-US" altLang="zh-CN" sz="2000" dirty="0">
              <a:solidFill>
                <a:srgbClr val="3333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/>
      <p:bldP spid="118791" grpId="0" animBg="1"/>
      <p:bldP spid="118792" grpId="0"/>
      <p:bldP spid="118793" grpId="0"/>
      <p:bldP spid="118794" grpId="0" animBg="1"/>
      <p:bldP spid="118795" grpId="0" animBg="1"/>
      <p:bldP spid="118796" grpId="0"/>
      <p:bldP spid="118797" grpId="0" animBg="1"/>
      <p:bldP spid="118798" grpId="0"/>
      <p:bldP spid="118801" grpId="0"/>
      <p:bldP spid="118802" grpId="0"/>
      <p:bldP spid="29" grpId="0"/>
      <p:bldP spid="30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BAE1BA4D-5A8B-43A2-8464-F2AF6E226D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算法特性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B0AD677A-5A64-4FFE-9801-D4ECC6B62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zh-CN" altLang="en-US" dirty="0"/>
              <a:t>每个步骤最多增加两个新状态</a:t>
            </a:r>
            <a:r>
              <a:rPr lang="zh-CN" altLang="en-US" dirty="0">
                <a:sym typeface="Wingdings" panose="05000000000000000000" pitchFamily="2" charset="2"/>
              </a:rPr>
              <a:t></a:t>
            </a:r>
            <a:br>
              <a:rPr lang="zh-CN" altLang="en-US" dirty="0">
                <a:sym typeface="Wingdings" panose="05000000000000000000" pitchFamily="2" charset="2"/>
              </a:rPr>
            </a:br>
            <a:r>
              <a:rPr lang="en-US" altLang="zh-CN" dirty="0">
                <a:sym typeface="Wingdings" panose="05000000000000000000" pitchFamily="2" charset="2"/>
              </a:rPr>
              <a:t>N(r)</a:t>
            </a:r>
            <a:r>
              <a:rPr lang="zh-CN" altLang="en-US" dirty="0">
                <a:sym typeface="Wingdings" panose="05000000000000000000" pitchFamily="2" charset="2"/>
              </a:rPr>
              <a:t>状态数</a:t>
            </a:r>
            <a:r>
              <a:rPr lang="en-US" altLang="zh-CN" dirty="0">
                <a:sym typeface="Wingdings" panose="05000000000000000000" pitchFamily="2" charset="2"/>
              </a:rPr>
              <a:t>&lt;=2*(r</a:t>
            </a:r>
            <a:r>
              <a:rPr lang="zh-CN" altLang="en-US" dirty="0">
                <a:sym typeface="Wingdings" panose="05000000000000000000" pitchFamily="2" charset="2"/>
              </a:rPr>
              <a:t>的符号数</a:t>
            </a:r>
            <a:r>
              <a:rPr lang="en-US" altLang="zh-CN" dirty="0">
                <a:sym typeface="Wingdings" panose="05000000000000000000" pitchFamily="2" charset="2"/>
              </a:rPr>
              <a:t>+</a:t>
            </a:r>
            <a:r>
              <a:rPr lang="zh-CN" altLang="en-US" dirty="0">
                <a:sym typeface="Wingdings" panose="05000000000000000000" pitchFamily="2" charset="2"/>
              </a:rPr>
              <a:t>操作符数</a:t>
            </a:r>
            <a:r>
              <a:rPr lang="en-US" altLang="zh-CN" dirty="0">
                <a:sym typeface="Wingdings" panose="05000000000000000000" pitchFamily="2" charset="2"/>
              </a:rPr>
              <a:t>)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>
                <a:sym typeface="Wingdings" panose="05000000000000000000" pitchFamily="2" charset="2"/>
              </a:rPr>
              <a:t>N(r)</a:t>
            </a:r>
            <a:r>
              <a:rPr lang="zh-CN" altLang="en-US" dirty="0">
                <a:sym typeface="Wingdings" panose="05000000000000000000" pitchFamily="2" charset="2"/>
              </a:rPr>
              <a:t>有且只有一个初态和一个终态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dirty="0">
                <a:sym typeface="Wingdings" panose="05000000000000000000" pitchFamily="2" charset="2"/>
              </a:rPr>
              <a:t>N(r)</a:t>
            </a:r>
            <a:r>
              <a:rPr lang="zh-CN" altLang="en-US" dirty="0">
                <a:sym typeface="Wingdings" panose="05000000000000000000" pitchFamily="2" charset="2"/>
              </a:rPr>
              <a:t>的每个状态，或者有一条标记为某个</a:t>
            </a:r>
            <a:r>
              <a:rPr kumimoji="0" lang="en-US" altLang="zh-CN" dirty="0"/>
              <a:t>a</a:t>
            </a:r>
            <a:r>
              <a:rPr kumimoji="0" lang="en-US" altLang="zh-CN" dirty="0">
                <a:sym typeface="Symbol" panose="05050102010706020507" pitchFamily="18" charset="2"/>
              </a:rPr>
              <a:t></a:t>
            </a:r>
            <a:r>
              <a:rPr kumimoji="0" lang="zh-CN" altLang="en-US" dirty="0">
                <a:sym typeface="Symbol" panose="05050102010706020507" pitchFamily="18" charset="2"/>
              </a:rPr>
              <a:t>的输出边，或者至多有两条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dirty="0">
                <a:sym typeface="Symbol" panose="05050102010706020507" pitchFamily="18" charset="2"/>
              </a:rPr>
              <a:t>输出边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dirty="0">
                <a:sym typeface="Symbol" panose="05050102010706020507" pitchFamily="18" charset="2"/>
              </a:rPr>
              <a:t>为状态取名要小心，避免重名</a:t>
            </a:r>
            <a:r>
              <a:rPr kumimoji="0" lang="en-US" altLang="zh-CN" dirty="0">
                <a:sym typeface="Symbol" panose="05050102010706020507" pitchFamily="18" charset="2"/>
              </a:rPr>
              <a:t>——NFA</a:t>
            </a:r>
            <a:r>
              <a:rPr kumimoji="0" lang="zh-CN" altLang="en-US" dirty="0">
                <a:sym typeface="Symbol" panose="05050102010706020507" pitchFamily="18" charset="2"/>
              </a:rPr>
              <a:t>完整构造好后再取名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531DA4E3-BA89-4CE1-AB6D-E6CEBB6E64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</a:t>
            </a:r>
            <a:r>
              <a:rPr kumimoji="0" lang="en-US" altLang="zh-CN" b="1">
                <a:solidFill>
                  <a:srgbClr val="3333CC"/>
                </a:solidFill>
              </a:rPr>
              <a:t>(ab*c) | (a(b|c*))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2B790FC7-963A-4CC5-B4E2-C06BC4E7C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772400" cy="685800"/>
          </a:xfrm>
        </p:spPr>
        <p:txBody>
          <a:bodyPr/>
          <a:lstStyle/>
          <a:p>
            <a:pPr eaLnBrk="1" hangingPunct="1"/>
            <a:r>
              <a:rPr lang="zh-CN" altLang="en-US"/>
              <a:t>正规式的分解</a:t>
            </a:r>
          </a:p>
        </p:txBody>
      </p:sp>
      <p:grpSp>
        <p:nvGrpSpPr>
          <p:cNvPr id="120836" name="Group 4">
            <a:extLst>
              <a:ext uri="{FF2B5EF4-FFF2-40B4-BE49-F238E27FC236}">
                <a16:creationId xmlns:a16="http://schemas.microsoft.com/office/drawing/2014/main" id="{A73AA6D3-C9C7-45FF-9170-06ABA2606F9A}"/>
              </a:ext>
            </a:extLst>
          </p:cNvPr>
          <p:cNvGrpSpPr>
            <a:grpSpLocks/>
          </p:cNvGrpSpPr>
          <p:nvPr/>
        </p:nvGrpSpPr>
        <p:grpSpPr bwMode="auto">
          <a:xfrm>
            <a:off x="2133600" y="1525588"/>
            <a:ext cx="6934200" cy="3884612"/>
            <a:chOff x="960" y="1209"/>
            <a:chExt cx="4368" cy="3058"/>
          </a:xfrm>
        </p:grpSpPr>
        <p:grpSp>
          <p:nvGrpSpPr>
            <p:cNvPr id="120837" name="Group 5">
              <a:extLst>
                <a:ext uri="{FF2B5EF4-FFF2-40B4-BE49-F238E27FC236}">
                  <a16:creationId xmlns:a16="http://schemas.microsoft.com/office/drawing/2014/main" id="{BB781DF8-97EA-48FC-BE74-D96044978B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209"/>
              <a:ext cx="4191" cy="2753"/>
              <a:chOff x="1584" y="1584"/>
              <a:chExt cx="3408" cy="2352"/>
            </a:xfrm>
          </p:grpSpPr>
          <p:grpSp>
            <p:nvGrpSpPr>
              <p:cNvPr id="120850" name="Group 6">
                <a:extLst>
                  <a:ext uri="{FF2B5EF4-FFF2-40B4-BE49-F238E27FC236}">
                    <a16:creationId xmlns:a16="http://schemas.microsoft.com/office/drawing/2014/main" id="{E7ABFB84-E59F-4FFF-AD62-1F3835CB47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84" y="1584"/>
                <a:ext cx="3312" cy="2180"/>
                <a:chOff x="1104" y="1632"/>
                <a:chExt cx="3312" cy="2180"/>
              </a:xfrm>
            </p:grpSpPr>
            <p:sp>
              <p:nvSpPr>
                <p:cNvPr id="120876" name="Text Box 7">
                  <a:extLst>
                    <a:ext uri="{FF2B5EF4-FFF2-40B4-BE49-F238E27FC236}">
                      <a16:creationId xmlns:a16="http://schemas.microsoft.com/office/drawing/2014/main" id="{9950E3FA-0164-412E-8A60-74BF9996E2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64" y="1632"/>
                  <a:ext cx="432" cy="3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r</a:t>
                  </a:r>
                  <a:r>
                    <a:rPr kumimoji="0" lang="en-US" altLang="zh-CN" sz="2400" baseline="-25000"/>
                    <a:t>13</a:t>
                  </a:r>
                  <a:endParaRPr kumimoji="0" lang="en-US" altLang="zh-CN" sz="2400"/>
                </a:p>
              </p:txBody>
            </p:sp>
            <p:sp>
              <p:nvSpPr>
                <p:cNvPr id="120877" name="Text Box 8">
                  <a:extLst>
                    <a:ext uri="{FF2B5EF4-FFF2-40B4-BE49-F238E27FC236}">
                      <a16:creationId xmlns:a16="http://schemas.microsoft.com/office/drawing/2014/main" id="{3E046CA1-7190-486A-AD4E-EBB4E3E5375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32" y="2016"/>
                  <a:ext cx="432" cy="3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r</a:t>
                  </a:r>
                  <a:r>
                    <a:rPr kumimoji="0" lang="en-US" altLang="zh-CN" sz="2400" baseline="-25000"/>
                    <a:t>12</a:t>
                  </a:r>
                  <a:endParaRPr kumimoji="0" lang="en-US" altLang="zh-CN" sz="2400"/>
                </a:p>
              </p:txBody>
            </p:sp>
            <p:sp>
              <p:nvSpPr>
                <p:cNvPr id="120878" name="Text Box 9">
                  <a:extLst>
                    <a:ext uri="{FF2B5EF4-FFF2-40B4-BE49-F238E27FC236}">
                      <a16:creationId xmlns:a16="http://schemas.microsoft.com/office/drawing/2014/main" id="{BDCF076B-4BC8-43D9-9EAA-28EC29813C7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84" y="2016"/>
                  <a:ext cx="432" cy="3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r</a:t>
                  </a:r>
                  <a:r>
                    <a:rPr kumimoji="0" lang="en-US" altLang="zh-CN" sz="2400" baseline="-25000"/>
                    <a:t>5</a:t>
                  </a:r>
                  <a:endParaRPr kumimoji="0" lang="en-US" altLang="zh-CN" sz="2400"/>
                </a:p>
              </p:txBody>
            </p:sp>
            <p:sp>
              <p:nvSpPr>
                <p:cNvPr id="120879" name="Text Box 10">
                  <a:extLst>
                    <a:ext uri="{FF2B5EF4-FFF2-40B4-BE49-F238E27FC236}">
                      <a16:creationId xmlns:a16="http://schemas.microsoft.com/office/drawing/2014/main" id="{1E5C6211-BF37-4D94-B839-DDD1D4EF835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04" y="2351"/>
                  <a:ext cx="432" cy="3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r</a:t>
                  </a:r>
                  <a:r>
                    <a:rPr kumimoji="0" lang="en-US" altLang="zh-CN" sz="2400" baseline="-25000"/>
                    <a:t>3</a:t>
                  </a:r>
                  <a:endParaRPr kumimoji="0" lang="en-US" altLang="zh-CN" sz="2400"/>
                </a:p>
              </p:txBody>
            </p:sp>
            <p:sp>
              <p:nvSpPr>
                <p:cNvPr id="120880" name="Text Box 11">
                  <a:extLst>
                    <a:ext uri="{FF2B5EF4-FFF2-40B4-BE49-F238E27FC236}">
                      <a16:creationId xmlns:a16="http://schemas.microsoft.com/office/drawing/2014/main" id="{BCEEEB49-6ACF-4D18-9A4B-33B9D29063C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44" y="2351"/>
                  <a:ext cx="432" cy="3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r</a:t>
                  </a:r>
                  <a:r>
                    <a:rPr kumimoji="0" lang="en-US" altLang="zh-CN" sz="2400" baseline="-25000"/>
                    <a:t>11</a:t>
                  </a:r>
                  <a:endParaRPr kumimoji="0" lang="en-US" altLang="zh-CN" sz="2400"/>
                </a:p>
              </p:txBody>
            </p:sp>
            <p:sp>
              <p:nvSpPr>
                <p:cNvPr id="120881" name="Text Box 12">
                  <a:extLst>
                    <a:ext uri="{FF2B5EF4-FFF2-40B4-BE49-F238E27FC236}">
                      <a16:creationId xmlns:a16="http://schemas.microsoft.com/office/drawing/2014/main" id="{2B3F6C9A-64CC-4CFC-B9A8-26F13CFABD5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72" y="2351"/>
                  <a:ext cx="432" cy="3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r</a:t>
                  </a:r>
                  <a:r>
                    <a:rPr kumimoji="0" lang="en-US" altLang="zh-CN" sz="2400" baseline="-25000"/>
                    <a:t>4</a:t>
                  </a:r>
                  <a:endParaRPr kumimoji="0" lang="en-US" altLang="zh-CN" sz="2400"/>
                </a:p>
              </p:txBody>
            </p:sp>
            <p:sp>
              <p:nvSpPr>
                <p:cNvPr id="120882" name="Text Box 13">
                  <a:extLst>
                    <a:ext uri="{FF2B5EF4-FFF2-40B4-BE49-F238E27FC236}">
                      <a16:creationId xmlns:a16="http://schemas.microsoft.com/office/drawing/2014/main" id="{7ECB7062-9895-4398-A1C0-5A6CAD3C1C6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504" y="2785"/>
                  <a:ext cx="432" cy="3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r</a:t>
                  </a:r>
                  <a:r>
                    <a:rPr kumimoji="0" lang="en-US" altLang="zh-CN" sz="2400" baseline="-25000"/>
                    <a:t>9</a:t>
                  </a:r>
                  <a:endParaRPr kumimoji="0" lang="en-US" altLang="zh-CN" sz="2400"/>
                </a:p>
              </p:txBody>
            </p:sp>
            <p:sp>
              <p:nvSpPr>
                <p:cNvPr id="120883" name="Text Box 14">
                  <a:extLst>
                    <a:ext uri="{FF2B5EF4-FFF2-40B4-BE49-F238E27FC236}">
                      <a16:creationId xmlns:a16="http://schemas.microsoft.com/office/drawing/2014/main" id="{8DC454E4-E0DF-4F4F-A27F-9BA46D80F1D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56" y="2351"/>
                  <a:ext cx="432" cy="3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r</a:t>
                  </a:r>
                  <a:r>
                    <a:rPr kumimoji="0" lang="en-US" altLang="zh-CN" sz="2400" baseline="-25000"/>
                    <a:t>10</a:t>
                  </a:r>
                  <a:endParaRPr kumimoji="0" lang="en-US" altLang="zh-CN" sz="2400"/>
                </a:p>
              </p:txBody>
            </p:sp>
            <p:sp>
              <p:nvSpPr>
                <p:cNvPr id="120884" name="Text Box 15">
                  <a:extLst>
                    <a:ext uri="{FF2B5EF4-FFF2-40B4-BE49-F238E27FC236}">
                      <a16:creationId xmlns:a16="http://schemas.microsoft.com/office/drawing/2014/main" id="{8DF19D72-F11F-4B55-B1C6-DF1AC5D58C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3120"/>
                  <a:ext cx="432" cy="3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r</a:t>
                  </a:r>
                  <a:r>
                    <a:rPr kumimoji="0" lang="en-US" altLang="zh-CN" sz="2400" baseline="-25000"/>
                    <a:t>8</a:t>
                  </a:r>
                  <a:endParaRPr kumimoji="0" lang="en-US" altLang="zh-CN" sz="2400"/>
                </a:p>
              </p:txBody>
            </p:sp>
            <p:sp>
              <p:nvSpPr>
                <p:cNvPr id="120885" name="Text Box 16">
                  <a:extLst>
                    <a:ext uri="{FF2B5EF4-FFF2-40B4-BE49-F238E27FC236}">
                      <a16:creationId xmlns:a16="http://schemas.microsoft.com/office/drawing/2014/main" id="{1F6FE2B7-6A02-4374-8646-55EEE2D04B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68" y="3120"/>
                  <a:ext cx="432" cy="3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r</a:t>
                  </a:r>
                  <a:r>
                    <a:rPr kumimoji="0" lang="en-US" altLang="zh-CN" sz="2400" baseline="-25000"/>
                    <a:t>7</a:t>
                  </a:r>
                  <a:endParaRPr kumimoji="0" lang="en-US" altLang="zh-CN" sz="2400"/>
                </a:p>
              </p:txBody>
            </p:sp>
            <p:sp>
              <p:nvSpPr>
                <p:cNvPr id="120886" name="Text Box 17">
                  <a:extLst>
                    <a:ext uri="{FF2B5EF4-FFF2-40B4-BE49-F238E27FC236}">
                      <a16:creationId xmlns:a16="http://schemas.microsoft.com/office/drawing/2014/main" id="{1BC837B2-844E-4BB8-8650-A1B5CAC3F39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44" y="3505"/>
                  <a:ext cx="432" cy="3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r</a:t>
                  </a:r>
                  <a:r>
                    <a:rPr kumimoji="0" lang="en-US" altLang="zh-CN" sz="2400" baseline="-25000"/>
                    <a:t>6</a:t>
                  </a:r>
                  <a:endParaRPr kumimoji="0" lang="en-US" altLang="zh-CN" sz="2400"/>
                </a:p>
              </p:txBody>
            </p:sp>
            <p:sp>
              <p:nvSpPr>
                <p:cNvPr id="120887" name="Text Box 18">
                  <a:extLst>
                    <a:ext uri="{FF2B5EF4-FFF2-40B4-BE49-F238E27FC236}">
                      <a16:creationId xmlns:a16="http://schemas.microsoft.com/office/drawing/2014/main" id="{17F5BD3F-417E-45E2-96A6-302F49795DE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00" y="3312"/>
                  <a:ext cx="432" cy="3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r</a:t>
                  </a:r>
                  <a:r>
                    <a:rPr kumimoji="0" lang="en-US" altLang="zh-CN" sz="2400" baseline="-25000"/>
                    <a:t>0</a:t>
                  </a:r>
                  <a:endParaRPr kumimoji="0" lang="en-US" altLang="zh-CN" sz="2400"/>
                </a:p>
              </p:txBody>
            </p:sp>
            <p:sp>
              <p:nvSpPr>
                <p:cNvPr id="120888" name="Text Box 19">
                  <a:extLst>
                    <a:ext uri="{FF2B5EF4-FFF2-40B4-BE49-F238E27FC236}">
                      <a16:creationId xmlns:a16="http://schemas.microsoft.com/office/drawing/2014/main" id="{70A90FCF-1168-4477-92CD-2EE2AC65B02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36" y="2928"/>
                  <a:ext cx="432" cy="3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r</a:t>
                  </a:r>
                  <a:r>
                    <a:rPr kumimoji="0" lang="en-US" altLang="zh-CN" sz="2400" baseline="-25000"/>
                    <a:t>1</a:t>
                  </a:r>
                  <a:endParaRPr kumimoji="0" lang="en-US" altLang="zh-CN" sz="2400"/>
                </a:p>
              </p:txBody>
            </p:sp>
            <p:sp>
              <p:nvSpPr>
                <p:cNvPr id="120889" name="Text Box 20">
                  <a:extLst>
                    <a:ext uri="{FF2B5EF4-FFF2-40B4-BE49-F238E27FC236}">
                      <a16:creationId xmlns:a16="http://schemas.microsoft.com/office/drawing/2014/main" id="{D1D903E5-2A8D-437B-AA1B-274C5429C6D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112" y="2928"/>
                  <a:ext cx="432" cy="3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r</a:t>
                  </a:r>
                  <a:r>
                    <a:rPr kumimoji="0" lang="en-US" altLang="zh-CN" sz="2400" baseline="-25000"/>
                    <a:t>2</a:t>
                  </a:r>
                  <a:endParaRPr kumimoji="0" lang="en-US" altLang="zh-CN" sz="2400"/>
                </a:p>
              </p:txBody>
            </p:sp>
          </p:grpSp>
          <p:sp>
            <p:nvSpPr>
              <p:cNvPr id="120851" name="Line 21">
                <a:extLst>
                  <a:ext uri="{FF2B5EF4-FFF2-40B4-BE49-F238E27FC236}">
                    <a16:creationId xmlns:a16="http://schemas.microsoft.com/office/drawing/2014/main" id="{0AD30B24-3033-4DA5-969A-E30E06F4B7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496"/>
                <a:ext cx="288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52" name="Line 22">
                <a:extLst>
                  <a:ext uri="{FF2B5EF4-FFF2-40B4-BE49-F238E27FC236}">
                    <a16:creationId xmlns:a16="http://schemas.microsoft.com/office/drawing/2014/main" id="{C315AC62-9E30-4539-9A4F-7FA9DD7481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0" y="3072"/>
                <a:ext cx="192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53" name="Line 23">
                <a:extLst>
                  <a:ext uri="{FF2B5EF4-FFF2-40B4-BE49-F238E27FC236}">
                    <a16:creationId xmlns:a16="http://schemas.microsoft.com/office/drawing/2014/main" id="{1A4FB547-9E9E-4B3F-B03E-DE085E89A0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2" y="2160"/>
                <a:ext cx="288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54" name="Line 24">
                <a:extLst>
                  <a:ext uri="{FF2B5EF4-FFF2-40B4-BE49-F238E27FC236}">
                    <a16:creationId xmlns:a16="http://schemas.microsoft.com/office/drawing/2014/main" id="{3C8CA2A0-C553-469A-B3AB-496AE460D8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6" y="2496"/>
                <a:ext cx="192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55" name="Line 25">
                <a:extLst>
                  <a:ext uri="{FF2B5EF4-FFF2-40B4-BE49-F238E27FC236}">
                    <a16:creationId xmlns:a16="http://schemas.microsoft.com/office/drawing/2014/main" id="{B56FC879-5A14-4B8B-8984-92CE514969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2544"/>
                <a:ext cx="144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56" name="Line 26">
                <a:extLst>
                  <a:ext uri="{FF2B5EF4-FFF2-40B4-BE49-F238E27FC236}">
                    <a16:creationId xmlns:a16="http://schemas.microsoft.com/office/drawing/2014/main" id="{D78BC55F-E14D-4F8E-A5AA-0EA16DC790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2208"/>
                <a:ext cx="144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57" name="Line 27">
                <a:extLst>
                  <a:ext uri="{FF2B5EF4-FFF2-40B4-BE49-F238E27FC236}">
                    <a16:creationId xmlns:a16="http://schemas.microsoft.com/office/drawing/2014/main" id="{A66091C4-AEE9-4723-8A39-A6B7BA7F1F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64" y="2160"/>
                <a:ext cx="144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58" name="Line 28">
                <a:extLst>
                  <a:ext uri="{FF2B5EF4-FFF2-40B4-BE49-F238E27FC236}">
                    <a16:creationId xmlns:a16="http://schemas.microsoft.com/office/drawing/2014/main" id="{A8DBBD9B-5E0C-48B6-8243-D288AED1ED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64" y="3264"/>
                <a:ext cx="144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59" name="Line 29">
                <a:extLst>
                  <a:ext uri="{FF2B5EF4-FFF2-40B4-BE49-F238E27FC236}">
                    <a16:creationId xmlns:a16="http://schemas.microsoft.com/office/drawing/2014/main" id="{2AF8AC60-0651-4E0A-98FB-545EEF5C0B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88" y="2928"/>
                <a:ext cx="192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60" name="Line 30">
                <a:extLst>
                  <a:ext uri="{FF2B5EF4-FFF2-40B4-BE49-F238E27FC236}">
                    <a16:creationId xmlns:a16="http://schemas.microsoft.com/office/drawing/2014/main" id="{F2A02047-FA49-470C-8DCA-933CAF3E7D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2928"/>
                <a:ext cx="24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61" name="Line 31">
                <a:extLst>
                  <a:ext uri="{FF2B5EF4-FFF2-40B4-BE49-F238E27FC236}">
                    <a16:creationId xmlns:a16="http://schemas.microsoft.com/office/drawing/2014/main" id="{994ECEFE-E4BE-40F0-B98E-66FE52BA95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28" y="2544"/>
                <a:ext cx="48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62" name="Line 32">
                <a:extLst>
                  <a:ext uri="{FF2B5EF4-FFF2-40B4-BE49-F238E27FC236}">
                    <a16:creationId xmlns:a16="http://schemas.microsoft.com/office/drawing/2014/main" id="{235C3A89-4E3A-4A42-A6BC-482ACDF610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2208"/>
                <a:ext cx="336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63" name="Line 33">
                <a:extLst>
                  <a:ext uri="{FF2B5EF4-FFF2-40B4-BE49-F238E27FC236}">
                    <a16:creationId xmlns:a16="http://schemas.microsoft.com/office/drawing/2014/main" id="{CD99E22F-4862-4961-953A-45B33F10FB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1776"/>
                <a:ext cx="528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64" name="Line 34">
                <a:extLst>
                  <a:ext uri="{FF2B5EF4-FFF2-40B4-BE49-F238E27FC236}">
                    <a16:creationId xmlns:a16="http://schemas.microsoft.com/office/drawing/2014/main" id="{310C203A-233C-44F3-9E62-5DF6E42701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52" y="1776"/>
                <a:ext cx="288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65" name="Line 35">
                <a:extLst>
                  <a:ext uri="{FF2B5EF4-FFF2-40B4-BE49-F238E27FC236}">
                    <a16:creationId xmlns:a16="http://schemas.microsoft.com/office/drawing/2014/main" id="{7D2A2648-BC7D-49FA-B192-9E878BF284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56" y="3120"/>
                <a:ext cx="96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66" name="Line 36">
                <a:extLst>
                  <a:ext uri="{FF2B5EF4-FFF2-40B4-BE49-F238E27FC236}">
                    <a16:creationId xmlns:a16="http://schemas.microsoft.com/office/drawing/2014/main" id="{5DC349C2-3593-4CC4-8A09-BDAE347DBE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3072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67" name="Line 37">
                <a:extLst>
                  <a:ext uri="{FF2B5EF4-FFF2-40B4-BE49-F238E27FC236}">
                    <a16:creationId xmlns:a16="http://schemas.microsoft.com/office/drawing/2014/main" id="{E384F436-64AC-4A69-9293-38FFC2814D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496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68" name="Line 38">
                <a:extLst>
                  <a:ext uri="{FF2B5EF4-FFF2-40B4-BE49-F238E27FC236}">
                    <a16:creationId xmlns:a16="http://schemas.microsoft.com/office/drawing/2014/main" id="{BBE6CDED-7CDC-4CCF-919D-8D77FD0209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72" y="3504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69" name="Line 39">
                <a:extLst>
                  <a:ext uri="{FF2B5EF4-FFF2-40B4-BE49-F238E27FC236}">
                    <a16:creationId xmlns:a16="http://schemas.microsoft.com/office/drawing/2014/main" id="{BD8B559D-B131-48AB-AFD1-739EA70D91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3312"/>
                <a:ext cx="24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70" name="Line 40">
                <a:extLst>
                  <a:ext uri="{FF2B5EF4-FFF2-40B4-BE49-F238E27FC236}">
                    <a16:creationId xmlns:a16="http://schemas.microsoft.com/office/drawing/2014/main" id="{1CFC4E08-4835-4FCB-A368-674A947D4E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374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71" name="Line 41">
                <a:extLst>
                  <a:ext uri="{FF2B5EF4-FFF2-40B4-BE49-F238E27FC236}">
                    <a16:creationId xmlns:a16="http://schemas.microsoft.com/office/drawing/2014/main" id="{3284E874-9AB1-4846-B69E-DDE76DE148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3312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72" name="Line 42">
                <a:extLst>
                  <a:ext uri="{FF2B5EF4-FFF2-40B4-BE49-F238E27FC236}">
                    <a16:creationId xmlns:a16="http://schemas.microsoft.com/office/drawing/2014/main" id="{D8979807-8EC0-4F80-88C4-01D42C1B9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2976"/>
                <a:ext cx="0" cy="1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73" name="Line 43">
                <a:extLst>
                  <a:ext uri="{FF2B5EF4-FFF2-40B4-BE49-F238E27FC236}">
                    <a16:creationId xmlns:a16="http://schemas.microsoft.com/office/drawing/2014/main" id="{C69C0932-EFE5-4420-A96E-E6C61DFDA6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2544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74" name="Line 44">
                <a:extLst>
                  <a:ext uri="{FF2B5EF4-FFF2-40B4-BE49-F238E27FC236}">
                    <a16:creationId xmlns:a16="http://schemas.microsoft.com/office/drawing/2014/main" id="{C73276D7-367F-489D-8CA1-705902F4D6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824"/>
                <a:ext cx="0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0875" name="Line 45">
                <a:extLst>
                  <a:ext uri="{FF2B5EF4-FFF2-40B4-BE49-F238E27FC236}">
                    <a16:creationId xmlns:a16="http://schemas.microsoft.com/office/drawing/2014/main" id="{D5095E28-FAB6-43B6-9842-7D932ED1C1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4" y="2544"/>
                <a:ext cx="288" cy="19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0838" name="Text Box 46">
              <a:extLst>
                <a:ext uri="{FF2B5EF4-FFF2-40B4-BE49-F238E27FC236}">
                  <a16:creationId xmlns:a16="http://schemas.microsoft.com/office/drawing/2014/main" id="{1977474C-223D-496C-AF66-77EC15F3FD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7" y="3737"/>
              <a:ext cx="35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3333CC"/>
                  </a:solidFill>
                </a:rPr>
                <a:t>b</a:t>
              </a:r>
            </a:p>
          </p:txBody>
        </p:sp>
        <p:sp>
          <p:nvSpPr>
            <p:cNvPr id="120839" name="Text Box 47">
              <a:extLst>
                <a:ext uri="{FF2B5EF4-FFF2-40B4-BE49-F238E27FC236}">
                  <a16:creationId xmlns:a16="http://schemas.microsoft.com/office/drawing/2014/main" id="{18A803B2-AC5C-43F5-8061-1637496B24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7" y="3343"/>
              <a:ext cx="35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3333CC"/>
                  </a:solidFill>
                </a:rPr>
                <a:t>*</a:t>
              </a:r>
            </a:p>
          </p:txBody>
        </p:sp>
        <p:sp>
          <p:nvSpPr>
            <p:cNvPr id="120840" name="Text Box 48">
              <a:extLst>
                <a:ext uri="{FF2B5EF4-FFF2-40B4-BE49-F238E27FC236}">
                  <a16:creationId xmlns:a16="http://schemas.microsoft.com/office/drawing/2014/main" id="{E8854C67-4E06-456B-871D-7499CAE3ED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9" y="3231"/>
              <a:ext cx="35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3333CC"/>
                  </a:solidFill>
                </a:rPr>
                <a:t>c</a:t>
              </a:r>
            </a:p>
          </p:txBody>
        </p:sp>
        <p:sp>
          <p:nvSpPr>
            <p:cNvPr id="120841" name="Text Box 49">
              <a:extLst>
                <a:ext uri="{FF2B5EF4-FFF2-40B4-BE49-F238E27FC236}">
                  <a16:creationId xmlns:a16="http://schemas.microsoft.com/office/drawing/2014/main" id="{C4CA9263-3DA3-46C2-8B71-021ED52D95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9" y="2557"/>
              <a:ext cx="35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3333CC"/>
                  </a:solidFill>
                </a:rPr>
                <a:t>a</a:t>
              </a:r>
            </a:p>
          </p:txBody>
        </p:sp>
        <p:sp>
          <p:nvSpPr>
            <p:cNvPr id="120842" name="Text Box 50">
              <a:extLst>
                <a:ext uri="{FF2B5EF4-FFF2-40B4-BE49-F238E27FC236}">
                  <a16:creationId xmlns:a16="http://schemas.microsoft.com/office/drawing/2014/main" id="{E85A20E9-CBA5-49AE-A32F-8A7C001FC0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90" y="2612"/>
              <a:ext cx="35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3333CC"/>
                  </a:solidFill>
                </a:rPr>
                <a:t>a</a:t>
              </a:r>
            </a:p>
          </p:txBody>
        </p:sp>
        <p:sp>
          <p:nvSpPr>
            <p:cNvPr id="120843" name="Text Box 51">
              <a:extLst>
                <a:ext uri="{FF2B5EF4-FFF2-40B4-BE49-F238E27FC236}">
                  <a16:creationId xmlns:a16="http://schemas.microsoft.com/office/drawing/2014/main" id="{920B78F8-9EE5-425C-8938-CD2DAA9C77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0" y="1715"/>
              <a:ext cx="35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3333CC"/>
                  </a:solidFill>
                </a:rPr>
                <a:t>|</a:t>
              </a:r>
            </a:p>
          </p:txBody>
        </p:sp>
        <p:sp>
          <p:nvSpPr>
            <p:cNvPr id="120844" name="Text Box 52">
              <a:extLst>
                <a:ext uri="{FF2B5EF4-FFF2-40B4-BE49-F238E27FC236}">
                  <a16:creationId xmlns:a16="http://schemas.microsoft.com/office/drawing/2014/main" id="{CC39B4FC-4EF0-4C8E-B8C4-24BD77EA5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" y="2501"/>
              <a:ext cx="35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3333CC"/>
                  </a:solidFill>
                </a:rPr>
                <a:t>(</a:t>
              </a:r>
            </a:p>
          </p:txBody>
        </p:sp>
        <p:sp>
          <p:nvSpPr>
            <p:cNvPr id="120845" name="Text Box 53">
              <a:extLst>
                <a:ext uri="{FF2B5EF4-FFF2-40B4-BE49-F238E27FC236}">
                  <a16:creationId xmlns:a16="http://schemas.microsoft.com/office/drawing/2014/main" id="{89A0B950-367B-46B6-BBBC-470375116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2" y="2445"/>
              <a:ext cx="35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3333CC"/>
                  </a:solidFill>
                </a:rPr>
                <a:t>)</a:t>
              </a:r>
            </a:p>
          </p:txBody>
        </p:sp>
        <p:sp>
          <p:nvSpPr>
            <p:cNvPr id="120846" name="Text Box 54">
              <a:extLst>
                <a:ext uri="{FF2B5EF4-FFF2-40B4-BE49-F238E27FC236}">
                  <a16:creationId xmlns:a16="http://schemas.microsoft.com/office/drawing/2014/main" id="{D3C1DE2C-F358-4C5F-8123-A33017488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16" y="3568"/>
              <a:ext cx="35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3333CC"/>
                  </a:solidFill>
                </a:rPr>
                <a:t>b</a:t>
              </a:r>
            </a:p>
          </p:txBody>
        </p:sp>
        <p:sp>
          <p:nvSpPr>
            <p:cNvPr id="120847" name="Text Box 55">
              <a:extLst>
                <a:ext uri="{FF2B5EF4-FFF2-40B4-BE49-F238E27FC236}">
                  <a16:creationId xmlns:a16="http://schemas.microsoft.com/office/drawing/2014/main" id="{D14BD301-7ED4-4BDE-A62C-CEBED9D63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9" y="3007"/>
              <a:ext cx="355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3333CC"/>
                  </a:solidFill>
                </a:rPr>
                <a:t>|</a:t>
              </a:r>
            </a:p>
          </p:txBody>
        </p:sp>
        <p:sp>
          <p:nvSpPr>
            <p:cNvPr id="120848" name="Text Box 56">
              <a:extLst>
                <a:ext uri="{FF2B5EF4-FFF2-40B4-BE49-F238E27FC236}">
                  <a16:creationId xmlns:a16="http://schemas.microsoft.com/office/drawing/2014/main" id="{FDD29400-0F6C-4EF1-9A6B-ACA870248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4" y="3512"/>
              <a:ext cx="354" cy="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3333CC"/>
                  </a:solidFill>
                </a:rPr>
                <a:t>*</a:t>
              </a:r>
            </a:p>
          </p:txBody>
        </p:sp>
        <p:sp>
          <p:nvSpPr>
            <p:cNvPr id="120849" name="Text Box 57">
              <a:extLst>
                <a:ext uri="{FF2B5EF4-FFF2-40B4-BE49-F238E27FC236}">
                  <a16:creationId xmlns:a16="http://schemas.microsoft.com/office/drawing/2014/main" id="{7B0466A3-D983-49D6-B43F-183E086E7F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6" y="3908"/>
              <a:ext cx="354" cy="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3333CC"/>
                  </a:solidFill>
                </a:rPr>
                <a:t>c</a:t>
              </a:r>
            </a:p>
          </p:txBody>
        </p:sp>
      </p:grp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AD39C97A-53E0-454D-B916-D3E2FDDC6A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</a:t>
            </a:r>
            <a:r>
              <a:rPr kumimoji="0" lang="en-US" altLang="zh-CN" b="1">
                <a:solidFill>
                  <a:srgbClr val="3333CC"/>
                </a:solidFill>
              </a:rPr>
              <a:t>(ab*c) | (a(b|c*))</a:t>
            </a:r>
            <a:r>
              <a:rPr kumimoji="0" lang="zh-CN" altLang="en-US" b="1">
                <a:solidFill>
                  <a:srgbClr val="3333CC"/>
                </a:solidFill>
              </a:rPr>
              <a:t>（续）</a:t>
            </a:r>
          </a:p>
        </p:txBody>
      </p:sp>
      <p:grpSp>
        <p:nvGrpSpPr>
          <p:cNvPr id="121859" name="Group 3">
            <a:extLst>
              <a:ext uri="{FF2B5EF4-FFF2-40B4-BE49-F238E27FC236}">
                <a16:creationId xmlns:a16="http://schemas.microsoft.com/office/drawing/2014/main" id="{9A7DECE0-FA3D-48D6-80C9-733087B014B5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1219200"/>
            <a:ext cx="2743200" cy="2133600"/>
            <a:chOff x="816" y="768"/>
            <a:chExt cx="1728" cy="1344"/>
          </a:xfrm>
        </p:grpSpPr>
        <p:sp>
          <p:nvSpPr>
            <p:cNvPr id="121926" name="Text Box 4">
              <a:extLst>
                <a:ext uri="{FF2B5EF4-FFF2-40B4-BE49-F238E27FC236}">
                  <a16:creationId xmlns:a16="http://schemas.microsoft.com/office/drawing/2014/main" id="{66F0B37D-215B-4299-8250-9D088A34B5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29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r</a:t>
              </a:r>
              <a:r>
                <a:rPr kumimoji="0" lang="en-US" altLang="zh-CN" sz="2400" baseline="-25000">
                  <a:solidFill>
                    <a:srgbClr val="FF3300"/>
                  </a:solidFill>
                </a:rPr>
                <a:t>3</a:t>
              </a:r>
              <a:r>
                <a:rPr kumimoji="0" lang="en-US" altLang="zh-CN" sz="2400">
                  <a:solidFill>
                    <a:srgbClr val="FF3300"/>
                  </a:solidFill>
                </a:rPr>
                <a:t>:</a:t>
              </a:r>
            </a:p>
          </p:txBody>
        </p:sp>
        <p:sp>
          <p:nvSpPr>
            <p:cNvPr id="121927" name="Oval 5">
              <a:extLst>
                <a:ext uri="{FF2B5EF4-FFF2-40B4-BE49-F238E27FC236}">
                  <a16:creationId xmlns:a16="http://schemas.microsoft.com/office/drawing/2014/main" id="{2965896A-D047-4351-BEBF-5D351F8738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34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grpSp>
          <p:nvGrpSpPr>
            <p:cNvPr id="121928" name="Group 6">
              <a:extLst>
                <a:ext uri="{FF2B5EF4-FFF2-40B4-BE49-F238E27FC236}">
                  <a16:creationId xmlns:a16="http://schemas.microsoft.com/office/drawing/2014/main" id="{15892555-976C-449B-9667-3E1E77677E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1344"/>
              <a:ext cx="288" cy="288"/>
              <a:chOff x="3408" y="1392"/>
              <a:chExt cx="288" cy="288"/>
            </a:xfrm>
          </p:grpSpPr>
          <p:sp>
            <p:nvSpPr>
              <p:cNvPr id="121948" name="Oval 7">
                <a:extLst>
                  <a:ext uri="{FF2B5EF4-FFF2-40B4-BE49-F238E27FC236}">
                    <a16:creationId xmlns:a16="http://schemas.microsoft.com/office/drawing/2014/main" id="{C96AB5CD-FDC2-4680-B8F3-9ED15ABA6D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21949" name="Oval 8">
                <a:extLst>
                  <a:ext uri="{FF2B5EF4-FFF2-40B4-BE49-F238E27FC236}">
                    <a16:creationId xmlns:a16="http://schemas.microsoft.com/office/drawing/2014/main" id="{F5DEF057-5B79-4FA3-9764-204B80CD2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44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21929" name="Line 9">
              <a:extLst>
                <a:ext uri="{FF2B5EF4-FFF2-40B4-BE49-F238E27FC236}">
                  <a16:creationId xmlns:a16="http://schemas.microsoft.com/office/drawing/2014/main" id="{7A310E5D-E451-4AA6-896C-D4BA8F64D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48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30" name="Line 10">
              <a:extLst>
                <a:ext uri="{FF2B5EF4-FFF2-40B4-BE49-F238E27FC236}">
                  <a16:creationId xmlns:a16="http://schemas.microsoft.com/office/drawing/2014/main" id="{C36FFBC7-1076-4035-B699-8839E60C7A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48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31" name="Text Box 11">
              <a:extLst>
                <a:ext uri="{FF2B5EF4-FFF2-40B4-BE49-F238E27FC236}">
                  <a16:creationId xmlns:a16="http://schemas.microsoft.com/office/drawing/2014/main" id="{7D49E87C-598F-4A89-B7E1-DA8EEC1DCE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24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a</a:t>
              </a:r>
            </a:p>
          </p:txBody>
        </p:sp>
        <p:sp>
          <p:nvSpPr>
            <p:cNvPr id="121932" name="Text Box 12">
              <a:extLst>
                <a:ext uri="{FF2B5EF4-FFF2-40B4-BE49-F238E27FC236}">
                  <a16:creationId xmlns:a16="http://schemas.microsoft.com/office/drawing/2014/main" id="{ADA68570-C8DF-4817-AC0A-B0C6EA980B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81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r</a:t>
              </a:r>
              <a:r>
                <a:rPr kumimoji="0" lang="en-US" altLang="zh-CN" sz="2400" baseline="-25000">
                  <a:solidFill>
                    <a:srgbClr val="FF3300"/>
                  </a:solidFill>
                </a:rPr>
                <a:t>0</a:t>
              </a:r>
              <a:r>
                <a:rPr kumimoji="0" lang="en-US" altLang="zh-CN" sz="2400">
                  <a:solidFill>
                    <a:srgbClr val="FF3300"/>
                  </a:solidFill>
                </a:rPr>
                <a:t>:</a:t>
              </a:r>
            </a:p>
          </p:txBody>
        </p:sp>
        <p:sp>
          <p:nvSpPr>
            <p:cNvPr id="121933" name="Oval 13">
              <a:extLst>
                <a:ext uri="{FF2B5EF4-FFF2-40B4-BE49-F238E27FC236}">
                  <a16:creationId xmlns:a16="http://schemas.microsoft.com/office/drawing/2014/main" id="{3BB0219E-3B41-4E46-8C2A-2203A705F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86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grpSp>
          <p:nvGrpSpPr>
            <p:cNvPr id="121934" name="Group 14">
              <a:extLst>
                <a:ext uri="{FF2B5EF4-FFF2-40B4-BE49-F238E27FC236}">
                  <a16:creationId xmlns:a16="http://schemas.microsoft.com/office/drawing/2014/main" id="{72996AD3-1B60-4045-A380-306851424A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864"/>
              <a:ext cx="288" cy="288"/>
              <a:chOff x="3408" y="1392"/>
              <a:chExt cx="288" cy="288"/>
            </a:xfrm>
          </p:grpSpPr>
          <p:sp>
            <p:nvSpPr>
              <p:cNvPr id="121946" name="Oval 15">
                <a:extLst>
                  <a:ext uri="{FF2B5EF4-FFF2-40B4-BE49-F238E27FC236}">
                    <a16:creationId xmlns:a16="http://schemas.microsoft.com/office/drawing/2014/main" id="{50436686-C895-41A5-872E-4336EE98A9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21947" name="Oval 16">
                <a:extLst>
                  <a:ext uri="{FF2B5EF4-FFF2-40B4-BE49-F238E27FC236}">
                    <a16:creationId xmlns:a16="http://schemas.microsoft.com/office/drawing/2014/main" id="{124B3F67-419C-4A43-B2ED-2B8B6C546A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44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21935" name="Line 17">
              <a:extLst>
                <a:ext uri="{FF2B5EF4-FFF2-40B4-BE49-F238E27FC236}">
                  <a16:creationId xmlns:a16="http://schemas.microsoft.com/office/drawing/2014/main" id="{6F3F1876-986F-4D52-BE74-59E35110B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00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36" name="Line 18">
              <a:extLst>
                <a:ext uri="{FF2B5EF4-FFF2-40B4-BE49-F238E27FC236}">
                  <a16:creationId xmlns:a16="http://schemas.microsoft.com/office/drawing/2014/main" id="{5B49D47E-622E-430D-99AA-30155E08C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00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37" name="Text Box 19">
              <a:extLst>
                <a:ext uri="{FF2B5EF4-FFF2-40B4-BE49-F238E27FC236}">
                  <a16:creationId xmlns:a16="http://schemas.microsoft.com/office/drawing/2014/main" id="{E494AAF1-54CE-4D83-8448-6648D7151C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7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b</a:t>
              </a:r>
            </a:p>
          </p:txBody>
        </p:sp>
        <p:sp>
          <p:nvSpPr>
            <p:cNvPr id="121938" name="Text Box 20">
              <a:extLst>
                <a:ext uri="{FF2B5EF4-FFF2-40B4-BE49-F238E27FC236}">
                  <a16:creationId xmlns:a16="http://schemas.microsoft.com/office/drawing/2014/main" id="{2212EEEF-CDA6-4D67-8CB3-E92C515ED6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77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r</a:t>
              </a:r>
              <a:r>
                <a:rPr kumimoji="0" lang="en-US" altLang="zh-CN" sz="2400" baseline="-25000">
                  <a:solidFill>
                    <a:srgbClr val="FF3300"/>
                  </a:solidFill>
                </a:rPr>
                <a:t>2</a:t>
              </a:r>
              <a:r>
                <a:rPr kumimoji="0" lang="en-US" altLang="zh-CN" sz="2400">
                  <a:solidFill>
                    <a:srgbClr val="FF3300"/>
                  </a:solidFill>
                </a:rPr>
                <a:t>:</a:t>
              </a:r>
            </a:p>
          </p:txBody>
        </p:sp>
        <p:sp>
          <p:nvSpPr>
            <p:cNvPr id="121939" name="Oval 21">
              <a:extLst>
                <a:ext uri="{FF2B5EF4-FFF2-40B4-BE49-F238E27FC236}">
                  <a16:creationId xmlns:a16="http://schemas.microsoft.com/office/drawing/2014/main" id="{DD37FAD6-0E8E-489E-8C8A-FDF4B0976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82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grpSp>
          <p:nvGrpSpPr>
            <p:cNvPr id="121940" name="Group 22">
              <a:extLst>
                <a:ext uri="{FF2B5EF4-FFF2-40B4-BE49-F238E27FC236}">
                  <a16:creationId xmlns:a16="http://schemas.microsoft.com/office/drawing/2014/main" id="{66BCC2BD-C6A1-4761-815B-A3115C5BC4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1824"/>
              <a:ext cx="288" cy="288"/>
              <a:chOff x="3408" y="1392"/>
              <a:chExt cx="288" cy="288"/>
            </a:xfrm>
          </p:grpSpPr>
          <p:sp>
            <p:nvSpPr>
              <p:cNvPr id="121944" name="Oval 23">
                <a:extLst>
                  <a:ext uri="{FF2B5EF4-FFF2-40B4-BE49-F238E27FC236}">
                    <a16:creationId xmlns:a16="http://schemas.microsoft.com/office/drawing/2014/main" id="{4DDB93FF-19F2-4C2C-96DD-085A0D60B6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21945" name="Oval 24">
                <a:extLst>
                  <a:ext uri="{FF2B5EF4-FFF2-40B4-BE49-F238E27FC236}">
                    <a16:creationId xmlns:a16="http://schemas.microsoft.com/office/drawing/2014/main" id="{0D2B4A11-1DBA-4446-9500-669D1C869F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44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21941" name="Line 25">
              <a:extLst>
                <a:ext uri="{FF2B5EF4-FFF2-40B4-BE49-F238E27FC236}">
                  <a16:creationId xmlns:a16="http://schemas.microsoft.com/office/drawing/2014/main" id="{07791234-F5A3-4665-9A41-87625D6C4D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96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42" name="Line 26">
              <a:extLst>
                <a:ext uri="{FF2B5EF4-FFF2-40B4-BE49-F238E27FC236}">
                  <a16:creationId xmlns:a16="http://schemas.microsoft.com/office/drawing/2014/main" id="{D7940FC3-454C-4D4B-8249-60FE7AE88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196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43" name="Text Box 27">
              <a:extLst>
                <a:ext uri="{FF2B5EF4-FFF2-40B4-BE49-F238E27FC236}">
                  <a16:creationId xmlns:a16="http://schemas.microsoft.com/office/drawing/2014/main" id="{738F072E-2448-4189-8A90-4FBDFE3742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7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c</a:t>
              </a:r>
            </a:p>
          </p:txBody>
        </p:sp>
      </p:grpSp>
      <p:grpSp>
        <p:nvGrpSpPr>
          <p:cNvPr id="121860" name="Group 28">
            <a:extLst>
              <a:ext uri="{FF2B5EF4-FFF2-40B4-BE49-F238E27FC236}">
                <a16:creationId xmlns:a16="http://schemas.microsoft.com/office/drawing/2014/main" id="{287701AD-5EDC-4ACD-BC38-509B84B8CAAE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2057400"/>
            <a:ext cx="3657600" cy="458788"/>
            <a:chOff x="3024" y="3072"/>
            <a:chExt cx="2304" cy="289"/>
          </a:xfrm>
        </p:grpSpPr>
        <p:sp>
          <p:nvSpPr>
            <p:cNvPr id="121915" name="Oval 29">
              <a:extLst>
                <a:ext uri="{FF2B5EF4-FFF2-40B4-BE49-F238E27FC236}">
                  <a16:creationId xmlns:a16="http://schemas.microsoft.com/office/drawing/2014/main" id="{A94D999D-DFBF-4EE7-8093-F1CA4E9805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307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1916" name="Oval 30">
              <a:extLst>
                <a:ext uri="{FF2B5EF4-FFF2-40B4-BE49-F238E27FC236}">
                  <a16:creationId xmlns:a16="http://schemas.microsoft.com/office/drawing/2014/main" id="{768A68C5-C1B1-486F-9046-1D3C34FE82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3120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1917" name="Oval 31">
              <a:extLst>
                <a:ext uri="{FF2B5EF4-FFF2-40B4-BE49-F238E27FC236}">
                  <a16:creationId xmlns:a16="http://schemas.microsoft.com/office/drawing/2014/main" id="{F4F323E3-AEE6-402C-A3CB-4769571B9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307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1918" name="Oval 32">
              <a:extLst>
                <a:ext uri="{FF2B5EF4-FFF2-40B4-BE49-F238E27FC236}">
                  <a16:creationId xmlns:a16="http://schemas.microsoft.com/office/drawing/2014/main" id="{60E861F2-F84F-4BE5-A985-38F5B0099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307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1919" name="Oval 33">
              <a:extLst>
                <a:ext uri="{FF2B5EF4-FFF2-40B4-BE49-F238E27FC236}">
                  <a16:creationId xmlns:a16="http://schemas.microsoft.com/office/drawing/2014/main" id="{F7EA06DD-C1AE-460F-824F-6F1B01DE11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307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1920" name="Line 34">
              <a:extLst>
                <a:ext uri="{FF2B5EF4-FFF2-40B4-BE49-F238E27FC236}">
                  <a16:creationId xmlns:a16="http://schemas.microsoft.com/office/drawing/2014/main" id="{5CAB6B8D-6DC3-4A27-8378-9E8F76CCBA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216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21" name="Line 35">
              <a:extLst>
                <a:ext uri="{FF2B5EF4-FFF2-40B4-BE49-F238E27FC236}">
                  <a16:creationId xmlns:a16="http://schemas.microsoft.com/office/drawing/2014/main" id="{3FB12545-D87A-4BE2-A7FC-1316235C6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3216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22" name="Line 36">
              <a:extLst>
                <a:ext uri="{FF2B5EF4-FFF2-40B4-BE49-F238E27FC236}">
                  <a16:creationId xmlns:a16="http://schemas.microsoft.com/office/drawing/2014/main" id="{90960034-23D4-4529-B66F-AF25D875F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3216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23" name="Line 37">
              <a:extLst>
                <a:ext uri="{FF2B5EF4-FFF2-40B4-BE49-F238E27FC236}">
                  <a16:creationId xmlns:a16="http://schemas.microsoft.com/office/drawing/2014/main" id="{565E5F5D-064D-4FDF-AAF2-D01AA69400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2" y="3216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1924" name="AutoShape 38">
              <a:extLst>
                <a:ext uri="{FF2B5EF4-FFF2-40B4-BE49-F238E27FC236}">
                  <a16:creationId xmlns:a16="http://schemas.microsoft.com/office/drawing/2014/main" id="{7E307EBA-35B3-4467-BA8D-660F96427740}"/>
                </a:ext>
              </a:extLst>
            </p:cNvPr>
            <p:cNvCxnSpPr>
              <a:cxnSpLocks noChangeShapeType="1"/>
              <a:stCxn id="121915" idx="4"/>
              <a:endCxn id="121919" idx="4"/>
            </p:cNvCxnSpPr>
            <p:nvPr/>
          </p:nvCxnSpPr>
          <p:spPr bwMode="auto">
            <a:xfrm rot="16200000" flipH="1">
              <a:off x="4367" y="2545"/>
              <a:ext cx="1" cy="1632"/>
            </a:xfrm>
            <a:prstGeom prst="curvedConnector3">
              <a:avLst>
                <a:gd name="adj1" fmla="val 144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925" name="AutoShape 39">
              <a:extLst>
                <a:ext uri="{FF2B5EF4-FFF2-40B4-BE49-F238E27FC236}">
                  <a16:creationId xmlns:a16="http://schemas.microsoft.com/office/drawing/2014/main" id="{F54A2AEA-2B1C-42A4-A998-CC7780A12B64}"/>
                </a:ext>
              </a:extLst>
            </p:cNvPr>
            <p:cNvCxnSpPr>
              <a:cxnSpLocks noChangeShapeType="1"/>
              <a:stCxn id="121918" idx="0"/>
              <a:endCxn id="121917" idx="0"/>
            </p:cNvCxnSpPr>
            <p:nvPr/>
          </p:nvCxnSpPr>
          <p:spPr bwMode="auto">
            <a:xfrm rot="-5400000" flipH="1" flipV="1">
              <a:off x="4343" y="2809"/>
              <a:ext cx="1" cy="528"/>
            </a:xfrm>
            <a:prstGeom prst="curvedConnector3">
              <a:avLst>
                <a:gd name="adj1" fmla="val -144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1861" name="Text Box 40">
            <a:extLst>
              <a:ext uri="{FF2B5EF4-FFF2-40B4-BE49-F238E27FC236}">
                <a16:creationId xmlns:a16="http://schemas.microsoft.com/office/drawing/2014/main" id="{15DE9B08-FA93-4260-BC5F-84DF0C4AB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905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990000"/>
                </a:solidFill>
              </a:rPr>
              <a:t>b</a:t>
            </a:r>
          </a:p>
        </p:txBody>
      </p:sp>
      <p:sp>
        <p:nvSpPr>
          <p:cNvPr id="121862" name="Text Box 41">
            <a:extLst>
              <a:ext uri="{FF2B5EF4-FFF2-40B4-BE49-F238E27FC236}">
                <a16:creationId xmlns:a16="http://schemas.microsoft.com/office/drawing/2014/main" id="{C3EB3C40-C16D-4DA8-A15B-3F50AA21A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905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solidFill>
                  <a:srgbClr val="99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21863" name="Text Box 42">
            <a:extLst>
              <a:ext uri="{FF2B5EF4-FFF2-40B4-BE49-F238E27FC236}">
                <a16:creationId xmlns:a16="http://schemas.microsoft.com/office/drawing/2014/main" id="{ED6B9529-81E2-46A8-8AE2-CC298F9E4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2590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solidFill>
                  <a:srgbClr val="99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21864" name="Text Box 43">
            <a:extLst>
              <a:ext uri="{FF2B5EF4-FFF2-40B4-BE49-F238E27FC236}">
                <a16:creationId xmlns:a16="http://schemas.microsoft.com/office/drawing/2014/main" id="{E48961E3-BA34-432F-B545-4A271E9F1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447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solidFill>
                  <a:srgbClr val="99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21865" name="Text Box 44">
            <a:extLst>
              <a:ext uri="{FF2B5EF4-FFF2-40B4-BE49-F238E27FC236}">
                <a16:creationId xmlns:a16="http://schemas.microsoft.com/office/drawing/2014/main" id="{DA948275-D198-42C0-ADE6-751478B7F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905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solidFill>
                  <a:srgbClr val="99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21866" name="Text Box 45">
            <a:extLst>
              <a:ext uri="{FF2B5EF4-FFF2-40B4-BE49-F238E27FC236}">
                <a16:creationId xmlns:a16="http://schemas.microsoft.com/office/drawing/2014/main" id="{1766EB1C-3646-4AF8-A06E-4EFAFEE96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0574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990000"/>
                </a:solidFill>
              </a:rPr>
              <a:t>r</a:t>
            </a:r>
            <a:r>
              <a:rPr kumimoji="0" lang="en-US" altLang="zh-CN" sz="2400" baseline="-25000">
                <a:solidFill>
                  <a:srgbClr val="990000"/>
                </a:solidFill>
              </a:rPr>
              <a:t>1</a:t>
            </a:r>
            <a:r>
              <a:rPr kumimoji="0" lang="en-US" altLang="zh-CN" sz="2400">
                <a:solidFill>
                  <a:srgbClr val="990000"/>
                </a:solidFill>
              </a:rPr>
              <a:t>:r</a:t>
            </a:r>
            <a:r>
              <a:rPr kumimoji="0" lang="en-US" altLang="zh-CN" sz="2400" baseline="-25000">
                <a:solidFill>
                  <a:srgbClr val="990000"/>
                </a:solidFill>
              </a:rPr>
              <a:t>0</a:t>
            </a:r>
            <a:r>
              <a:rPr kumimoji="0" lang="en-US" altLang="zh-CN" sz="2400" baseline="30000">
                <a:solidFill>
                  <a:srgbClr val="990000"/>
                </a:solidFill>
              </a:rPr>
              <a:t>*</a:t>
            </a:r>
            <a:endParaRPr kumimoji="0" lang="en-US" altLang="zh-CN" sz="2400">
              <a:solidFill>
                <a:srgbClr val="990000"/>
              </a:solidFill>
            </a:endParaRPr>
          </a:p>
        </p:txBody>
      </p:sp>
      <p:grpSp>
        <p:nvGrpSpPr>
          <p:cNvPr id="121867" name="Group 46">
            <a:extLst>
              <a:ext uri="{FF2B5EF4-FFF2-40B4-BE49-F238E27FC236}">
                <a16:creationId xmlns:a16="http://schemas.microsoft.com/office/drawing/2014/main" id="{FA99742B-AB6E-4A0D-AF39-CE22173F7C28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3213100"/>
            <a:ext cx="5867400" cy="1600200"/>
            <a:chOff x="816" y="2112"/>
            <a:chExt cx="3696" cy="1008"/>
          </a:xfrm>
        </p:grpSpPr>
        <p:sp>
          <p:nvSpPr>
            <p:cNvPr id="121894" name="Text Box 47">
              <a:extLst>
                <a:ext uri="{FF2B5EF4-FFF2-40B4-BE49-F238E27FC236}">
                  <a16:creationId xmlns:a16="http://schemas.microsoft.com/office/drawing/2014/main" id="{40FD45A0-5DA0-479F-B175-46C613563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496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chemeClr val="folHlink"/>
                  </a:solidFill>
                </a:rPr>
                <a:t>r</a:t>
              </a:r>
              <a:r>
                <a:rPr kumimoji="0" lang="en-US" altLang="zh-CN" sz="2400" baseline="-25000">
                  <a:solidFill>
                    <a:schemeClr val="folHlink"/>
                  </a:solidFill>
                </a:rPr>
                <a:t>4</a:t>
              </a:r>
              <a:r>
                <a:rPr kumimoji="0" lang="en-US" altLang="zh-CN" sz="2400">
                  <a:solidFill>
                    <a:schemeClr val="folHlink"/>
                  </a:solidFill>
                </a:rPr>
                <a:t> : r</a:t>
              </a:r>
              <a:r>
                <a:rPr kumimoji="0" lang="en-US" altLang="zh-CN" sz="2400" baseline="-25000">
                  <a:solidFill>
                    <a:schemeClr val="folHlink"/>
                  </a:solidFill>
                </a:rPr>
                <a:t>1</a:t>
              </a:r>
              <a:r>
                <a:rPr kumimoji="0" lang="en-US" altLang="zh-CN" sz="2400">
                  <a:solidFill>
                    <a:schemeClr val="folHlink"/>
                  </a:solidFill>
                </a:rPr>
                <a:t> r</a:t>
              </a:r>
              <a:r>
                <a:rPr kumimoji="0" lang="en-US" altLang="zh-CN" sz="2400" baseline="-25000">
                  <a:solidFill>
                    <a:schemeClr val="folHlink"/>
                  </a:solidFill>
                </a:rPr>
                <a:t>2</a:t>
              </a:r>
              <a:endParaRPr kumimoji="0" lang="en-US" altLang="zh-CN" sz="2400">
                <a:solidFill>
                  <a:schemeClr val="folHlink"/>
                </a:solidFill>
              </a:endParaRPr>
            </a:p>
          </p:txBody>
        </p:sp>
        <p:sp>
          <p:nvSpPr>
            <p:cNvPr id="121895" name="Oval 48">
              <a:extLst>
                <a:ext uri="{FF2B5EF4-FFF2-40B4-BE49-F238E27FC236}">
                  <a16:creationId xmlns:a16="http://schemas.microsoft.com/office/drawing/2014/main" id="{A8090A09-E704-49DA-BE79-1EC595C4D5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49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1896" name="Oval 49">
              <a:extLst>
                <a:ext uri="{FF2B5EF4-FFF2-40B4-BE49-F238E27FC236}">
                  <a16:creationId xmlns:a16="http://schemas.microsoft.com/office/drawing/2014/main" id="{C20D1318-A341-4802-980E-8939E08C1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49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1897" name="Oval 50">
              <a:extLst>
                <a:ext uri="{FF2B5EF4-FFF2-40B4-BE49-F238E27FC236}">
                  <a16:creationId xmlns:a16="http://schemas.microsoft.com/office/drawing/2014/main" id="{7EE0E4EB-3230-49EF-A71F-9570C78E2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49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1898" name="Oval 51">
              <a:extLst>
                <a:ext uri="{FF2B5EF4-FFF2-40B4-BE49-F238E27FC236}">
                  <a16:creationId xmlns:a16="http://schemas.microsoft.com/office/drawing/2014/main" id="{02FD5097-13F4-400C-A5F9-E1693EFE9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249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1899" name="Line 52">
              <a:extLst>
                <a:ext uri="{FF2B5EF4-FFF2-40B4-BE49-F238E27FC236}">
                  <a16:creationId xmlns:a16="http://schemas.microsoft.com/office/drawing/2014/main" id="{7F523D65-9BBD-4AE4-B1CB-769A68183C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640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00" name="Line 53">
              <a:extLst>
                <a:ext uri="{FF2B5EF4-FFF2-40B4-BE49-F238E27FC236}">
                  <a16:creationId xmlns:a16="http://schemas.microsoft.com/office/drawing/2014/main" id="{66C87C32-391C-40B8-9D12-ABE7673124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640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01" name="Line 54">
              <a:extLst>
                <a:ext uri="{FF2B5EF4-FFF2-40B4-BE49-F238E27FC236}">
                  <a16:creationId xmlns:a16="http://schemas.microsoft.com/office/drawing/2014/main" id="{CD2170C6-119F-41ED-B983-896E7E8117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2640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02" name="Line 55">
              <a:extLst>
                <a:ext uri="{FF2B5EF4-FFF2-40B4-BE49-F238E27FC236}">
                  <a16:creationId xmlns:a16="http://schemas.microsoft.com/office/drawing/2014/main" id="{A6098A1F-0B33-4533-87DA-257514E849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640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1903" name="AutoShape 56">
              <a:extLst>
                <a:ext uri="{FF2B5EF4-FFF2-40B4-BE49-F238E27FC236}">
                  <a16:creationId xmlns:a16="http://schemas.microsoft.com/office/drawing/2014/main" id="{03FF469E-AF4D-4656-B28E-05D610349351}"/>
                </a:ext>
              </a:extLst>
            </p:cNvPr>
            <p:cNvCxnSpPr>
              <a:cxnSpLocks noChangeShapeType="1"/>
              <a:stCxn id="121895" idx="4"/>
              <a:endCxn id="121898" idx="4"/>
            </p:cNvCxnSpPr>
            <p:nvPr/>
          </p:nvCxnSpPr>
          <p:spPr bwMode="auto">
            <a:xfrm rot="16200000" flipH="1">
              <a:off x="2879" y="1969"/>
              <a:ext cx="1" cy="1632"/>
            </a:xfrm>
            <a:prstGeom prst="curvedConnector3">
              <a:avLst>
                <a:gd name="adj1" fmla="val 144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904" name="AutoShape 57">
              <a:extLst>
                <a:ext uri="{FF2B5EF4-FFF2-40B4-BE49-F238E27FC236}">
                  <a16:creationId xmlns:a16="http://schemas.microsoft.com/office/drawing/2014/main" id="{1501DB81-1343-4862-B3B9-D5389E9362BB}"/>
                </a:ext>
              </a:extLst>
            </p:cNvPr>
            <p:cNvCxnSpPr>
              <a:cxnSpLocks noChangeShapeType="1"/>
              <a:stCxn id="121897" idx="0"/>
              <a:endCxn id="121896" idx="0"/>
            </p:cNvCxnSpPr>
            <p:nvPr/>
          </p:nvCxnSpPr>
          <p:spPr bwMode="auto">
            <a:xfrm rot="-5400000" flipH="1" flipV="1">
              <a:off x="2855" y="2233"/>
              <a:ext cx="1" cy="528"/>
            </a:xfrm>
            <a:prstGeom prst="curvedConnector3">
              <a:avLst>
                <a:gd name="adj1" fmla="val -144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1905" name="Text Box 58">
              <a:extLst>
                <a:ext uri="{FF2B5EF4-FFF2-40B4-BE49-F238E27FC236}">
                  <a16:creationId xmlns:a16="http://schemas.microsoft.com/office/drawing/2014/main" id="{669A4589-F4BC-4482-BD7F-3C9EDF5035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40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chemeClr val="folHlink"/>
                  </a:solidFill>
                </a:rPr>
                <a:t>b</a:t>
              </a:r>
            </a:p>
          </p:txBody>
        </p:sp>
        <p:sp>
          <p:nvSpPr>
            <p:cNvPr id="121906" name="Text Box 59">
              <a:extLst>
                <a:ext uri="{FF2B5EF4-FFF2-40B4-BE49-F238E27FC236}">
                  <a16:creationId xmlns:a16="http://schemas.microsoft.com/office/drawing/2014/main" id="{E93360D9-D081-4E3B-9003-6BF8EFA1E3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40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solidFill>
                    <a:schemeClr val="folHlink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1907" name="Text Box 60">
              <a:extLst>
                <a:ext uri="{FF2B5EF4-FFF2-40B4-BE49-F238E27FC236}">
                  <a16:creationId xmlns:a16="http://schemas.microsoft.com/office/drawing/2014/main" id="{97E30C24-9FBC-4071-8B86-81FFF0BC6B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83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solidFill>
                    <a:schemeClr val="folHlink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1908" name="Text Box 61">
              <a:extLst>
                <a:ext uri="{FF2B5EF4-FFF2-40B4-BE49-F238E27FC236}">
                  <a16:creationId xmlns:a16="http://schemas.microsoft.com/office/drawing/2014/main" id="{FACB6528-62B3-4FE1-9503-851961AB19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11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solidFill>
                    <a:schemeClr val="folHlink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1909" name="Text Box 62">
              <a:extLst>
                <a:ext uri="{FF2B5EF4-FFF2-40B4-BE49-F238E27FC236}">
                  <a16:creationId xmlns:a16="http://schemas.microsoft.com/office/drawing/2014/main" id="{5CDB09BD-E819-4054-ACED-022958C808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40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solidFill>
                    <a:schemeClr val="folHlink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grpSp>
          <p:nvGrpSpPr>
            <p:cNvPr id="121910" name="Group 63">
              <a:extLst>
                <a:ext uri="{FF2B5EF4-FFF2-40B4-BE49-F238E27FC236}">
                  <a16:creationId xmlns:a16="http://schemas.microsoft.com/office/drawing/2014/main" id="{40724A32-0EA6-4426-995E-3CE5B283D6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496"/>
              <a:ext cx="288" cy="288"/>
              <a:chOff x="4368" y="3216"/>
              <a:chExt cx="288" cy="288"/>
            </a:xfrm>
          </p:grpSpPr>
          <p:sp>
            <p:nvSpPr>
              <p:cNvPr id="121913" name="Oval 64">
                <a:extLst>
                  <a:ext uri="{FF2B5EF4-FFF2-40B4-BE49-F238E27FC236}">
                    <a16:creationId xmlns:a16="http://schemas.microsoft.com/office/drawing/2014/main" id="{FB28FD10-8895-4E70-8A4B-41D943B880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3264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21914" name="Oval 65">
                <a:extLst>
                  <a:ext uri="{FF2B5EF4-FFF2-40B4-BE49-F238E27FC236}">
                    <a16:creationId xmlns:a16="http://schemas.microsoft.com/office/drawing/2014/main" id="{4EAEDA43-AE85-4258-81C3-5D8C604561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3216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21911" name="Line 66">
              <a:extLst>
                <a:ext uri="{FF2B5EF4-FFF2-40B4-BE49-F238E27FC236}">
                  <a16:creationId xmlns:a16="http://schemas.microsoft.com/office/drawing/2014/main" id="{4C921F74-64F4-4B88-A960-EE63C35670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40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912" name="Text Box 67">
              <a:extLst>
                <a:ext uri="{FF2B5EF4-FFF2-40B4-BE49-F238E27FC236}">
                  <a16:creationId xmlns:a16="http://schemas.microsoft.com/office/drawing/2014/main" id="{762C5B4F-AB1E-4382-95CC-4BFF8B5E3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240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chemeClr val="folHlink"/>
                  </a:solidFill>
                </a:rPr>
                <a:t>c</a:t>
              </a:r>
            </a:p>
          </p:txBody>
        </p:sp>
      </p:grpSp>
      <p:grpSp>
        <p:nvGrpSpPr>
          <p:cNvPr id="121868" name="Group 68">
            <a:extLst>
              <a:ext uri="{FF2B5EF4-FFF2-40B4-BE49-F238E27FC236}">
                <a16:creationId xmlns:a16="http://schemas.microsoft.com/office/drawing/2014/main" id="{05E971A9-BD63-4B75-B3D9-3176E470DC84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852988"/>
            <a:ext cx="6858000" cy="1600200"/>
            <a:chOff x="816" y="3168"/>
            <a:chExt cx="4320" cy="1008"/>
          </a:xfrm>
        </p:grpSpPr>
        <p:sp>
          <p:nvSpPr>
            <p:cNvPr id="121869" name="Text Box 69">
              <a:extLst>
                <a:ext uri="{FF2B5EF4-FFF2-40B4-BE49-F238E27FC236}">
                  <a16:creationId xmlns:a16="http://schemas.microsoft.com/office/drawing/2014/main" id="{0663545F-5792-4280-A0AE-23E6DD000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600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r</a:t>
              </a:r>
              <a:r>
                <a:rPr kumimoji="0" lang="en-US" altLang="zh-CN" sz="2400" baseline="-25000"/>
                <a:t>5</a:t>
              </a:r>
              <a:r>
                <a:rPr kumimoji="0" lang="en-US" altLang="zh-CN" sz="2400"/>
                <a:t> : r</a:t>
              </a:r>
              <a:r>
                <a:rPr kumimoji="0" lang="en-US" altLang="zh-CN" sz="2400" baseline="-25000"/>
                <a:t>3</a:t>
              </a:r>
              <a:r>
                <a:rPr kumimoji="0" lang="en-US" altLang="zh-CN" sz="2400"/>
                <a:t> r</a:t>
              </a:r>
              <a:r>
                <a:rPr kumimoji="0" lang="en-US" altLang="zh-CN" sz="2400" baseline="-25000"/>
                <a:t>4</a:t>
              </a:r>
              <a:endParaRPr kumimoji="0" lang="en-US" altLang="zh-CN" sz="2400"/>
            </a:p>
          </p:txBody>
        </p:sp>
        <p:sp>
          <p:nvSpPr>
            <p:cNvPr id="121870" name="Oval 70">
              <a:extLst>
                <a:ext uri="{FF2B5EF4-FFF2-40B4-BE49-F238E27FC236}">
                  <a16:creationId xmlns:a16="http://schemas.microsoft.com/office/drawing/2014/main" id="{22EAE309-9538-456A-8BA2-37CC9E91C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55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1871" name="Oval 71">
              <a:extLst>
                <a:ext uri="{FF2B5EF4-FFF2-40B4-BE49-F238E27FC236}">
                  <a16:creationId xmlns:a16="http://schemas.microsoft.com/office/drawing/2014/main" id="{435B5415-3DE2-421F-9FCF-5ABF6A6585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55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1872" name="Oval 72">
              <a:extLst>
                <a:ext uri="{FF2B5EF4-FFF2-40B4-BE49-F238E27FC236}">
                  <a16:creationId xmlns:a16="http://schemas.microsoft.com/office/drawing/2014/main" id="{563BCC5B-558A-46DF-950D-46F4DF77D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55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1873" name="Oval 73">
              <a:extLst>
                <a:ext uri="{FF2B5EF4-FFF2-40B4-BE49-F238E27FC236}">
                  <a16:creationId xmlns:a16="http://schemas.microsoft.com/office/drawing/2014/main" id="{752C6303-A988-4331-B987-A4863EEF3C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355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1874" name="Line 74">
              <a:extLst>
                <a:ext uri="{FF2B5EF4-FFF2-40B4-BE49-F238E27FC236}">
                  <a16:creationId xmlns:a16="http://schemas.microsoft.com/office/drawing/2014/main" id="{93D056A8-D2CD-40B4-9C01-0BA64DC788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3696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75" name="Line 75">
              <a:extLst>
                <a:ext uri="{FF2B5EF4-FFF2-40B4-BE49-F238E27FC236}">
                  <a16:creationId xmlns:a16="http://schemas.microsoft.com/office/drawing/2014/main" id="{FC1FEDDA-3D84-49A8-B416-73BB46BC5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3696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76" name="Line 76">
              <a:extLst>
                <a:ext uri="{FF2B5EF4-FFF2-40B4-BE49-F238E27FC236}">
                  <a16:creationId xmlns:a16="http://schemas.microsoft.com/office/drawing/2014/main" id="{72163E5C-DF27-447C-9DC1-FD83DD86B4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3696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77" name="Line 77">
              <a:extLst>
                <a:ext uri="{FF2B5EF4-FFF2-40B4-BE49-F238E27FC236}">
                  <a16:creationId xmlns:a16="http://schemas.microsoft.com/office/drawing/2014/main" id="{63E3C905-D1BB-46DB-8175-7F596441A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3696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1878" name="AutoShape 78">
              <a:extLst>
                <a:ext uri="{FF2B5EF4-FFF2-40B4-BE49-F238E27FC236}">
                  <a16:creationId xmlns:a16="http://schemas.microsoft.com/office/drawing/2014/main" id="{EE11D9F6-89EF-43BC-9873-C0557A375A0C}"/>
                </a:ext>
              </a:extLst>
            </p:cNvPr>
            <p:cNvCxnSpPr>
              <a:cxnSpLocks noChangeShapeType="1"/>
              <a:stCxn id="121870" idx="4"/>
              <a:endCxn id="121873" idx="4"/>
            </p:cNvCxnSpPr>
            <p:nvPr/>
          </p:nvCxnSpPr>
          <p:spPr bwMode="auto">
            <a:xfrm rot="16200000" flipH="1">
              <a:off x="3503" y="3025"/>
              <a:ext cx="1" cy="1632"/>
            </a:xfrm>
            <a:prstGeom prst="curvedConnector3">
              <a:avLst>
                <a:gd name="adj1" fmla="val 144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1879" name="AutoShape 79">
              <a:extLst>
                <a:ext uri="{FF2B5EF4-FFF2-40B4-BE49-F238E27FC236}">
                  <a16:creationId xmlns:a16="http://schemas.microsoft.com/office/drawing/2014/main" id="{62E33CBD-9729-4C4D-9A35-181DD66E05D8}"/>
                </a:ext>
              </a:extLst>
            </p:cNvPr>
            <p:cNvCxnSpPr>
              <a:cxnSpLocks noChangeShapeType="1"/>
              <a:stCxn id="121872" idx="0"/>
              <a:endCxn id="121871" idx="0"/>
            </p:cNvCxnSpPr>
            <p:nvPr/>
          </p:nvCxnSpPr>
          <p:spPr bwMode="auto">
            <a:xfrm rot="-5400000" flipH="1" flipV="1">
              <a:off x="3479" y="3289"/>
              <a:ext cx="1" cy="528"/>
            </a:xfrm>
            <a:prstGeom prst="curvedConnector3">
              <a:avLst>
                <a:gd name="adj1" fmla="val -144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1880" name="Text Box 80">
              <a:extLst>
                <a:ext uri="{FF2B5EF4-FFF2-40B4-BE49-F238E27FC236}">
                  <a16:creationId xmlns:a16="http://schemas.microsoft.com/office/drawing/2014/main" id="{99CE910A-674C-4C76-8874-69E2C54ADD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45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b</a:t>
              </a:r>
            </a:p>
          </p:txBody>
        </p:sp>
        <p:sp>
          <p:nvSpPr>
            <p:cNvPr id="121881" name="Text Box 81">
              <a:extLst>
                <a:ext uri="{FF2B5EF4-FFF2-40B4-BE49-F238E27FC236}">
                  <a16:creationId xmlns:a16="http://schemas.microsoft.com/office/drawing/2014/main" id="{D8B21894-0ED3-4A91-A14A-8BBAC39C53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345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1882" name="Text Box 82">
              <a:extLst>
                <a:ext uri="{FF2B5EF4-FFF2-40B4-BE49-F238E27FC236}">
                  <a16:creationId xmlns:a16="http://schemas.microsoft.com/office/drawing/2014/main" id="{35803034-9335-4AB8-B753-ADCFB7DFA0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88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1883" name="Text Box 83">
              <a:extLst>
                <a:ext uri="{FF2B5EF4-FFF2-40B4-BE49-F238E27FC236}">
                  <a16:creationId xmlns:a16="http://schemas.microsoft.com/office/drawing/2014/main" id="{D92DD7BD-0E6E-4050-ADBD-B1D1FD6D7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1884" name="Text Box 84">
              <a:extLst>
                <a:ext uri="{FF2B5EF4-FFF2-40B4-BE49-F238E27FC236}">
                  <a16:creationId xmlns:a16="http://schemas.microsoft.com/office/drawing/2014/main" id="{27B30706-9A96-478D-B4C8-2781590D48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6" y="345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grpSp>
          <p:nvGrpSpPr>
            <p:cNvPr id="121885" name="Group 85">
              <a:extLst>
                <a:ext uri="{FF2B5EF4-FFF2-40B4-BE49-F238E27FC236}">
                  <a16:creationId xmlns:a16="http://schemas.microsoft.com/office/drawing/2014/main" id="{3A4FD2E6-C901-4C54-A0EE-18A4FE73CD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8" y="3552"/>
              <a:ext cx="288" cy="288"/>
              <a:chOff x="4368" y="3216"/>
              <a:chExt cx="288" cy="288"/>
            </a:xfrm>
          </p:grpSpPr>
          <p:sp>
            <p:nvSpPr>
              <p:cNvPr id="121892" name="Oval 86">
                <a:extLst>
                  <a:ext uri="{FF2B5EF4-FFF2-40B4-BE49-F238E27FC236}">
                    <a16:creationId xmlns:a16="http://schemas.microsoft.com/office/drawing/2014/main" id="{99998A2D-54B0-44B8-B90B-3BF26636EA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3264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21893" name="Oval 87">
                <a:extLst>
                  <a:ext uri="{FF2B5EF4-FFF2-40B4-BE49-F238E27FC236}">
                    <a16:creationId xmlns:a16="http://schemas.microsoft.com/office/drawing/2014/main" id="{AB9E7A59-5CB4-43E8-A38C-000B8B2AD9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8" y="3216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21886" name="Line 88">
              <a:extLst>
                <a:ext uri="{FF2B5EF4-FFF2-40B4-BE49-F238E27FC236}">
                  <a16:creationId xmlns:a16="http://schemas.microsoft.com/office/drawing/2014/main" id="{9898770D-5409-43AB-9330-475A1AB305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3696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87" name="Text Box 89">
              <a:extLst>
                <a:ext uri="{FF2B5EF4-FFF2-40B4-BE49-F238E27FC236}">
                  <a16:creationId xmlns:a16="http://schemas.microsoft.com/office/drawing/2014/main" id="{D372EB64-5120-42A6-89DA-091C73DB1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345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a</a:t>
              </a:r>
            </a:p>
          </p:txBody>
        </p:sp>
        <p:sp>
          <p:nvSpPr>
            <p:cNvPr id="121888" name="Oval 90">
              <a:extLst>
                <a:ext uri="{FF2B5EF4-FFF2-40B4-BE49-F238E27FC236}">
                  <a16:creationId xmlns:a16="http://schemas.microsoft.com/office/drawing/2014/main" id="{760939FE-5920-40FC-9D1E-94095999D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355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1889" name="Line 91">
              <a:extLst>
                <a:ext uri="{FF2B5EF4-FFF2-40B4-BE49-F238E27FC236}">
                  <a16:creationId xmlns:a16="http://schemas.microsoft.com/office/drawing/2014/main" id="{D2D18EB7-414E-412D-8231-E194AEFB23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696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1890" name="Text Box 92">
              <a:extLst>
                <a:ext uri="{FF2B5EF4-FFF2-40B4-BE49-F238E27FC236}">
                  <a16:creationId xmlns:a16="http://schemas.microsoft.com/office/drawing/2014/main" id="{9E37BDF3-0C90-493A-B932-326A8FC95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360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2400"/>
            </a:p>
          </p:txBody>
        </p:sp>
        <p:sp>
          <p:nvSpPr>
            <p:cNvPr id="121891" name="Text Box 93">
              <a:extLst>
                <a:ext uri="{FF2B5EF4-FFF2-40B4-BE49-F238E27FC236}">
                  <a16:creationId xmlns:a16="http://schemas.microsoft.com/office/drawing/2014/main" id="{D58C0BA1-B341-4A49-A443-625A0D67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34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c</a:t>
              </a:r>
            </a:p>
          </p:txBody>
        </p:sp>
      </p:grp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3C16283F-E10B-4C91-B8B1-D1874E6E0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</a:t>
            </a:r>
            <a:r>
              <a:rPr kumimoji="0" lang="en-US" altLang="zh-CN" b="1">
                <a:solidFill>
                  <a:srgbClr val="3333CC"/>
                </a:solidFill>
              </a:rPr>
              <a:t>(ab*c) | (a(b|c*))</a:t>
            </a:r>
            <a:r>
              <a:rPr kumimoji="0" lang="zh-CN" altLang="en-US" b="1">
                <a:solidFill>
                  <a:srgbClr val="3333CC"/>
                </a:solidFill>
              </a:rPr>
              <a:t>（续）</a:t>
            </a:r>
          </a:p>
        </p:txBody>
      </p:sp>
      <p:grpSp>
        <p:nvGrpSpPr>
          <p:cNvPr id="122883" name="Group 3">
            <a:extLst>
              <a:ext uri="{FF2B5EF4-FFF2-40B4-BE49-F238E27FC236}">
                <a16:creationId xmlns:a16="http://schemas.microsoft.com/office/drawing/2014/main" id="{DBA98CCA-3533-4DF4-9F82-6CE5D7A9C981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1219200"/>
            <a:ext cx="2743200" cy="2133600"/>
            <a:chOff x="720" y="768"/>
            <a:chExt cx="1728" cy="1344"/>
          </a:xfrm>
        </p:grpSpPr>
        <p:sp>
          <p:nvSpPr>
            <p:cNvPr id="122972" name="Text Box 4">
              <a:extLst>
                <a:ext uri="{FF2B5EF4-FFF2-40B4-BE49-F238E27FC236}">
                  <a16:creationId xmlns:a16="http://schemas.microsoft.com/office/drawing/2014/main" id="{1E6BEF40-CCF6-4747-8A33-D8C3EA93F1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29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r</a:t>
              </a:r>
              <a:r>
                <a:rPr kumimoji="0" lang="en-US" altLang="zh-CN" sz="2400" baseline="-25000">
                  <a:solidFill>
                    <a:srgbClr val="FF3300"/>
                  </a:solidFill>
                </a:rPr>
                <a:t>11</a:t>
              </a:r>
              <a:r>
                <a:rPr kumimoji="0" lang="en-US" altLang="zh-CN" sz="2400">
                  <a:solidFill>
                    <a:srgbClr val="FF3300"/>
                  </a:solidFill>
                </a:rPr>
                <a:t>:</a:t>
              </a:r>
            </a:p>
          </p:txBody>
        </p:sp>
        <p:sp>
          <p:nvSpPr>
            <p:cNvPr id="122973" name="Oval 5">
              <a:extLst>
                <a:ext uri="{FF2B5EF4-FFF2-40B4-BE49-F238E27FC236}">
                  <a16:creationId xmlns:a16="http://schemas.microsoft.com/office/drawing/2014/main" id="{314ECCB6-DCA0-48EB-AB63-A0A782574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34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grpSp>
          <p:nvGrpSpPr>
            <p:cNvPr id="122974" name="Group 6">
              <a:extLst>
                <a:ext uri="{FF2B5EF4-FFF2-40B4-BE49-F238E27FC236}">
                  <a16:creationId xmlns:a16="http://schemas.microsoft.com/office/drawing/2014/main" id="{0CF0EA2A-553F-49E8-A9D3-3DFCF9A18C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1344"/>
              <a:ext cx="288" cy="288"/>
              <a:chOff x="3408" y="1392"/>
              <a:chExt cx="288" cy="288"/>
            </a:xfrm>
          </p:grpSpPr>
          <p:sp>
            <p:nvSpPr>
              <p:cNvPr id="122994" name="Oval 7">
                <a:extLst>
                  <a:ext uri="{FF2B5EF4-FFF2-40B4-BE49-F238E27FC236}">
                    <a16:creationId xmlns:a16="http://schemas.microsoft.com/office/drawing/2014/main" id="{BC4482E2-C5AD-41BC-BAB3-B1E57D2636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22995" name="Oval 8">
                <a:extLst>
                  <a:ext uri="{FF2B5EF4-FFF2-40B4-BE49-F238E27FC236}">
                    <a16:creationId xmlns:a16="http://schemas.microsoft.com/office/drawing/2014/main" id="{3194548C-5F08-409E-8488-0DB02A2407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44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22975" name="Line 9">
              <a:extLst>
                <a:ext uri="{FF2B5EF4-FFF2-40B4-BE49-F238E27FC236}">
                  <a16:creationId xmlns:a16="http://schemas.microsoft.com/office/drawing/2014/main" id="{F140D484-7E1A-4E9E-B77D-45ECE441A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48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76" name="Line 10">
              <a:extLst>
                <a:ext uri="{FF2B5EF4-FFF2-40B4-BE49-F238E27FC236}">
                  <a16:creationId xmlns:a16="http://schemas.microsoft.com/office/drawing/2014/main" id="{C49EB446-8921-4240-B0EA-D6B90B4E42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48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77" name="Text Box 11">
              <a:extLst>
                <a:ext uri="{FF2B5EF4-FFF2-40B4-BE49-F238E27FC236}">
                  <a16:creationId xmlns:a16="http://schemas.microsoft.com/office/drawing/2014/main" id="{CE104426-DD5A-43B9-B8F0-7CD1F85BE4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24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a</a:t>
              </a:r>
            </a:p>
          </p:txBody>
        </p:sp>
        <p:sp>
          <p:nvSpPr>
            <p:cNvPr id="122978" name="Text Box 12">
              <a:extLst>
                <a:ext uri="{FF2B5EF4-FFF2-40B4-BE49-F238E27FC236}">
                  <a16:creationId xmlns:a16="http://schemas.microsoft.com/office/drawing/2014/main" id="{CB25ED76-03FC-418C-9BC2-B972E3B93C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81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r</a:t>
              </a:r>
              <a:r>
                <a:rPr kumimoji="0" lang="en-US" altLang="zh-CN" sz="2400" baseline="-25000">
                  <a:solidFill>
                    <a:srgbClr val="FF3300"/>
                  </a:solidFill>
                </a:rPr>
                <a:t>7</a:t>
              </a:r>
              <a:r>
                <a:rPr kumimoji="0" lang="en-US" altLang="zh-CN" sz="2400">
                  <a:solidFill>
                    <a:srgbClr val="FF3300"/>
                  </a:solidFill>
                </a:rPr>
                <a:t>:</a:t>
              </a:r>
            </a:p>
          </p:txBody>
        </p:sp>
        <p:sp>
          <p:nvSpPr>
            <p:cNvPr id="122979" name="Oval 13">
              <a:extLst>
                <a:ext uri="{FF2B5EF4-FFF2-40B4-BE49-F238E27FC236}">
                  <a16:creationId xmlns:a16="http://schemas.microsoft.com/office/drawing/2014/main" id="{5925DB00-3610-4036-8740-8EB5213F9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86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grpSp>
          <p:nvGrpSpPr>
            <p:cNvPr id="122980" name="Group 14">
              <a:extLst>
                <a:ext uri="{FF2B5EF4-FFF2-40B4-BE49-F238E27FC236}">
                  <a16:creationId xmlns:a16="http://schemas.microsoft.com/office/drawing/2014/main" id="{B62EEF74-D767-4720-980F-3A45FFFEA5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864"/>
              <a:ext cx="288" cy="288"/>
              <a:chOff x="3408" y="1392"/>
              <a:chExt cx="288" cy="288"/>
            </a:xfrm>
          </p:grpSpPr>
          <p:sp>
            <p:nvSpPr>
              <p:cNvPr id="122992" name="Oval 15">
                <a:extLst>
                  <a:ext uri="{FF2B5EF4-FFF2-40B4-BE49-F238E27FC236}">
                    <a16:creationId xmlns:a16="http://schemas.microsoft.com/office/drawing/2014/main" id="{ECF90363-FF7B-4007-BC24-FDBE5F278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22993" name="Oval 16">
                <a:extLst>
                  <a:ext uri="{FF2B5EF4-FFF2-40B4-BE49-F238E27FC236}">
                    <a16:creationId xmlns:a16="http://schemas.microsoft.com/office/drawing/2014/main" id="{43C44172-B245-4BC6-866D-F2D55B1F7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44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22981" name="Line 17">
              <a:extLst>
                <a:ext uri="{FF2B5EF4-FFF2-40B4-BE49-F238E27FC236}">
                  <a16:creationId xmlns:a16="http://schemas.microsoft.com/office/drawing/2014/main" id="{60DBCEAE-20C1-42AE-AFF8-7A5280DD2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00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82" name="Line 18">
              <a:extLst>
                <a:ext uri="{FF2B5EF4-FFF2-40B4-BE49-F238E27FC236}">
                  <a16:creationId xmlns:a16="http://schemas.microsoft.com/office/drawing/2014/main" id="{DBE862B0-FE93-49B6-8161-647C5D577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00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83" name="Text Box 19">
              <a:extLst>
                <a:ext uri="{FF2B5EF4-FFF2-40B4-BE49-F238E27FC236}">
                  <a16:creationId xmlns:a16="http://schemas.microsoft.com/office/drawing/2014/main" id="{C819C16B-B1B8-48C4-A924-1C17C12A7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7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b</a:t>
              </a:r>
            </a:p>
          </p:txBody>
        </p:sp>
        <p:sp>
          <p:nvSpPr>
            <p:cNvPr id="122984" name="Text Box 20">
              <a:extLst>
                <a:ext uri="{FF2B5EF4-FFF2-40B4-BE49-F238E27FC236}">
                  <a16:creationId xmlns:a16="http://schemas.microsoft.com/office/drawing/2014/main" id="{083823A9-57AE-4D3C-A599-64416F0858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177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r</a:t>
              </a:r>
              <a:r>
                <a:rPr kumimoji="0" lang="en-US" altLang="zh-CN" sz="2400" baseline="-25000">
                  <a:solidFill>
                    <a:srgbClr val="FF3300"/>
                  </a:solidFill>
                </a:rPr>
                <a:t>6</a:t>
              </a:r>
              <a:r>
                <a:rPr kumimoji="0" lang="en-US" altLang="zh-CN" sz="2400">
                  <a:solidFill>
                    <a:srgbClr val="FF3300"/>
                  </a:solidFill>
                </a:rPr>
                <a:t>:</a:t>
              </a:r>
            </a:p>
          </p:txBody>
        </p:sp>
        <p:sp>
          <p:nvSpPr>
            <p:cNvPr id="122985" name="Oval 21">
              <a:extLst>
                <a:ext uri="{FF2B5EF4-FFF2-40B4-BE49-F238E27FC236}">
                  <a16:creationId xmlns:a16="http://schemas.microsoft.com/office/drawing/2014/main" id="{BC9BB54D-4851-43F2-AE30-F73360C23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82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grpSp>
          <p:nvGrpSpPr>
            <p:cNvPr id="122986" name="Group 22">
              <a:extLst>
                <a:ext uri="{FF2B5EF4-FFF2-40B4-BE49-F238E27FC236}">
                  <a16:creationId xmlns:a16="http://schemas.microsoft.com/office/drawing/2014/main" id="{64CE8C19-BBDA-4BC2-BFBE-B325D8E315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1824"/>
              <a:ext cx="288" cy="288"/>
              <a:chOff x="3408" y="1392"/>
              <a:chExt cx="288" cy="288"/>
            </a:xfrm>
          </p:grpSpPr>
          <p:sp>
            <p:nvSpPr>
              <p:cNvPr id="122990" name="Oval 23">
                <a:extLst>
                  <a:ext uri="{FF2B5EF4-FFF2-40B4-BE49-F238E27FC236}">
                    <a16:creationId xmlns:a16="http://schemas.microsoft.com/office/drawing/2014/main" id="{5C4F86AD-1FD5-4EC0-9C39-E2E95A5DD0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22991" name="Oval 24">
                <a:extLst>
                  <a:ext uri="{FF2B5EF4-FFF2-40B4-BE49-F238E27FC236}">
                    <a16:creationId xmlns:a16="http://schemas.microsoft.com/office/drawing/2014/main" id="{158A3158-89DC-41C9-9540-624511D64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144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22987" name="Line 25">
              <a:extLst>
                <a:ext uri="{FF2B5EF4-FFF2-40B4-BE49-F238E27FC236}">
                  <a16:creationId xmlns:a16="http://schemas.microsoft.com/office/drawing/2014/main" id="{12AEB6C0-8805-46B9-A46A-7AC809C9CE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96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88" name="Line 26">
              <a:extLst>
                <a:ext uri="{FF2B5EF4-FFF2-40B4-BE49-F238E27FC236}">
                  <a16:creationId xmlns:a16="http://schemas.microsoft.com/office/drawing/2014/main" id="{1B760724-3B81-402C-BF40-4D5A3AD15E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96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89" name="Text Box 27">
              <a:extLst>
                <a:ext uri="{FF2B5EF4-FFF2-40B4-BE49-F238E27FC236}">
                  <a16:creationId xmlns:a16="http://schemas.microsoft.com/office/drawing/2014/main" id="{95456C32-AA71-4C19-83C5-EB5C11537E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7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c</a:t>
              </a:r>
            </a:p>
          </p:txBody>
        </p:sp>
      </p:grpSp>
      <p:grpSp>
        <p:nvGrpSpPr>
          <p:cNvPr id="122884" name="Group 28">
            <a:extLst>
              <a:ext uri="{FF2B5EF4-FFF2-40B4-BE49-F238E27FC236}">
                <a16:creationId xmlns:a16="http://schemas.microsoft.com/office/drawing/2014/main" id="{EE9D6E16-F24B-4780-AE2F-A6D35207DA13}"/>
              </a:ext>
            </a:extLst>
          </p:cNvPr>
          <p:cNvGrpSpPr>
            <a:grpSpLocks/>
          </p:cNvGrpSpPr>
          <p:nvPr/>
        </p:nvGrpSpPr>
        <p:grpSpPr bwMode="auto">
          <a:xfrm>
            <a:off x="4191000" y="990600"/>
            <a:ext cx="4495800" cy="1600200"/>
            <a:chOff x="2640" y="624"/>
            <a:chExt cx="2832" cy="1008"/>
          </a:xfrm>
        </p:grpSpPr>
        <p:grpSp>
          <p:nvGrpSpPr>
            <p:cNvPr id="122954" name="Group 29">
              <a:extLst>
                <a:ext uri="{FF2B5EF4-FFF2-40B4-BE49-F238E27FC236}">
                  <a16:creationId xmlns:a16="http://schemas.microsoft.com/office/drawing/2014/main" id="{498D5211-CFC4-4F23-AE6A-5E0AD4BCB2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008"/>
              <a:ext cx="2304" cy="289"/>
              <a:chOff x="3024" y="3072"/>
              <a:chExt cx="2304" cy="289"/>
            </a:xfrm>
          </p:grpSpPr>
          <p:sp>
            <p:nvSpPr>
              <p:cNvPr id="122961" name="Oval 30">
                <a:extLst>
                  <a:ext uri="{FF2B5EF4-FFF2-40B4-BE49-F238E27FC236}">
                    <a16:creationId xmlns:a16="http://schemas.microsoft.com/office/drawing/2014/main" id="{D190A785-444D-43BB-A938-13D2971A6C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307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22962" name="Oval 31">
                <a:extLst>
                  <a:ext uri="{FF2B5EF4-FFF2-40B4-BE49-F238E27FC236}">
                    <a16:creationId xmlns:a16="http://schemas.microsoft.com/office/drawing/2014/main" id="{E305D442-8E7C-43CC-8D26-1F9DCF6DC6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88" y="312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22963" name="Oval 32">
                <a:extLst>
                  <a:ext uri="{FF2B5EF4-FFF2-40B4-BE49-F238E27FC236}">
                    <a16:creationId xmlns:a16="http://schemas.microsoft.com/office/drawing/2014/main" id="{A5C879B9-6D4A-4D40-A9C9-E78F2C1CED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6" y="307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22964" name="Oval 33">
                <a:extLst>
                  <a:ext uri="{FF2B5EF4-FFF2-40B4-BE49-F238E27FC236}">
                    <a16:creationId xmlns:a16="http://schemas.microsoft.com/office/drawing/2014/main" id="{F1CC8B78-0108-4E86-9D62-96F5E570A0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307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22965" name="Oval 34">
                <a:extLst>
                  <a:ext uri="{FF2B5EF4-FFF2-40B4-BE49-F238E27FC236}">
                    <a16:creationId xmlns:a16="http://schemas.microsoft.com/office/drawing/2014/main" id="{DB407304-C518-4043-B083-ED02707976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" y="307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22966" name="Line 35">
                <a:extLst>
                  <a:ext uri="{FF2B5EF4-FFF2-40B4-BE49-F238E27FC236}">
                    <a16:creationId xmlns:a16="http://schemas.microsoft.com/office/drawing/2014/main" id="{856E7431-CA8C-4569-AB51-C118E1A675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3216"/>
                <a:ext cx="384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67" name="Line 36">
                <a:extLst>
                  <a:ext uri="{FF2B5EF4-FFF2-40B4-BE49-F238E27FC236}">
                    <a16:creationId xmlns:a16="http://schemas.microsoft.com/office/drawing/2014/main" id="{FFC741E9-36AC-4B38-AE3F-324DBEE0F0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16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68" name="Line 37">
                <a:extLst>
                  <a:ext uri="{FF2B5EF4-FFF2-40B4-BE49-F238E27FC236}">
                    <a16:creationId xmlns:a16="http://schemas.microsoft.com/office/drawing/2014/main" id="{5B23C756-D19C-4689-8F9C-4E458CF37D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4" y="3216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2969" name="Line 38">
                <a:extLst>
                  <a:ext uri="{FF2B5EF4-FFF2-40B4-BE49-F238E27FC236}">
                    <a16:creationId xmlns:a16="http://schemas.microsoft.com/office/drawing/2014/main" id="{96D71A9C-7BD0-409A-A475-EB3144026E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3216"/>
                <a:ext cx="2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cxnSp>
            <p:nvCxnSpPr>
              <p:cNvPr id="122970" name="AutoShape 39">
                <a:extLst>
                  <a:ext uri="{FF2B5EF4-FFF2-40B4-BE49-F238E27FC236}">
                    <a16:creationId xmlns:a16="http://schemas.microsoft.com/office/drawing/2014/main" id="{AB8D4C69-750C-4221-B3BB-42E0B9EB1106}"/>
                  </a:ext>
                </a:extLst>
              </p:cNvPr>
              <p:cNvCxnSpPr>
                <a:cxnSpLocks noChangeShapeType="1"/>
                <a:stCxn id="122961" idx="4"/>
                <a:endCxn id="122965" idx="4"/>
              </p:cNvCxnSpPr>
              <p:nvPr/>
            </p:nvCxnSpPr>
            <p:spPr bwMode="auto">
              <a:xfrm rot="16200000" flipH="1">
                <a:off x="4367" y="2545"/>
                <a:ext cx="1" cy="1632"/>
              </a:xfrm>
              <a:prstGeom prst="curvedConnector3">
                <a:avLst>
                  <a:gd name="adj1" fmla="val 14400005"/>
                </a:avLst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22971" name="AutoShape 40">
                <a:extLst>
                  <a:ext uri="{FF2B5EF4-FFF2-40B4-BE49-F238E27FC236}">
                    <a16:creationId xmlns:a16="http://schemas.microsoft.com/office/drawing/2014/main" id="{60940B1D-8ABF-4774-B1BB-535EDC1B3CD6}"/>
                  </a:ext>
                </a:extLst>
              </p:cNvPr>
              <p:cNvCxnSpPr>
                <a:cxnSpLocks noChangeShapeType="1"/>
                <a:stCxn id="122964" idx="0"/>
                <a:endCxn id="122963" idx="0"/>
              </p:cNvCxnSpPr>
              <p:nvPr/>
            </p:nvCxnSpPr>
            <p:spPr bwMode="auto">
              <a:xfrm rot="-5400000" flipH="1" flipV="1">
                <a:off x="4343" y="2809"/>
                <a:ext cx="1" cy="528"/>
              </a:xfrm>
              <a:prstGeom prst="curvedConnector3">
                <a:avLst>
                  <a:gd name="adj1" fmla="val -14400005"/>
                </a:avLst>
              </a:prstGeom>
              <a:noFill/>
              <a:ln w="25400">
                <a:solidFill>
                  <a:schemeClr val="tx1"/>
                </a:solidFill>
                <a:round/>
                <a:headEnd type="none" w="sm" len="sm"/>
                <a:tailEnd type="triangle" w="lg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122955" name="Text Box 41">
              <a:extLst>
                <a:ext uri="{FF2B5EF4-FFF2-40B4-BE49-F238E27FC236}">
                  <a16:creationId xmlns:a16="http://schemas.microsoft.com/office/drawing/2014/main" id="{2C3705F4-3571-42A9-8B1E-1613C89925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91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990000"/>
                  </a:solidFill>
                </a:rPr>
                <a:t>c</a:t>
              </a:r>
            </a:p>
          </p:txBody>
        </p:sp>
        <p:sp>
          <p:nvSpPr>
            <p:cNvPr id="122956" name="Text Box 42">
              <a:extLst>
                <a:ext uri="{FF2B5EF4-FFF2-40B4-BE49-F238E27FC236}">
                  <a16:creationId xmlns:a16="http://schemas.microsoft.com/office/drawing/2014/main" id="{02B675FD-7EC3-4FA4-B54F-B77D9219A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91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solidFill>
                    <a:srgbClr val="990000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57" name="Text Box 43">
              <a:extLst>
                <a:ext uri="{FF2B5EF4-FFF2-40B4-BE49-F238E27FC236}">
                  <a16:creationId xmlns:a16="http://schemas.microsoft.com/office/drawing/2014/main" id="{5A6A1424-C86A-46C6-A438-4113AAAA4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134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solidFill>
                    <a:srgbClr val="990000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58" name="Text Box 44">
              <a:extLst>
                <a:ext uri="{FF2B5EF4-FFF2-40B4-BE49-F238E27FC236}">
                  <a16:creationId xmlns:a16="http://schemas.microsoft.com/office/drawing/2014/main" id="{9C86D5D1-2BAA-4630-9013-218330C57F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62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solidFill>
                    <a:srgbClr val="990000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59" name="Text Box 45">
              <a:extLst>
                <a:ext uri="{FF2B5EF4-FFF2-40B4-BE49-F238E27FC236}">
                  <a16:creationId xmlns:a16="http://schemas.microsoft.com/office/drawing/2014/main" id="{A2AA920E-7C0C-4412-9372-4D9833F8FD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91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solidFill>
                    <a:srgbClr val="990000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60" name="Text Box 46">
              <a:extLst>
                <a:ext uri="{FF2B5EF4-FFF2-40B4-BE49-F238E27FC236}">
                  <a16:creationId xmlns:a16="http://schemas.microsoft.com/office/drawing/2014/main" id="{F81DFB3C-9898-4AAA-9785-146DEA6166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008"/>
              <a:ext cx="5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990000"/>
                  </a:solidFill>
                </a:rPr>
                <a:t>r</a:t>
              </a:r>
              <a:r>
                <a:rPr kumimoji="0" lang="en-US" altLang="zh-CN" sz="2400" baseline="-25000">
                  <a:solidFill>
                    <a:srgbClr val="990000"/>
                  </a:solidFill>
                </a:rPr>
                <a:t>8</a:t>
              </a:r>
              <a:r>
                <a:rPr kumimoji="0" lang="en-US" altLang="zh-CN" sz="2400">
                  <a:solidFill>
                    <a:srgbClr val="990000"/>
                  </a:solidFill>
                </a:rPr>
                <a:t>:r</a:t>
              </a:r>
              <a:r>
                <a:rPr kumimoji="0" lang="en-US" altLang="zh-CN" sz="2400" baseline="-25000">
                  <a:solidFill>
                    <a:srgbClr val="990000"/>
                  </a:solidFill>
                </a:rPr>
                <a:t>6</a:t>
              </a:r>
              <a:r>
                <a:rPr kumimoji="0" lang="en-US" altLang="zh-CN" sz="2400" baseline="30000">
                  <a:solidFill>
                    <a:srgbClr val="990000"/>
                  </a:solidFill>
                </a:rPr>
                <a:t>*</a:t>
              </a:r>
              <a:endParaRPr kumimoji="0" lang="en-US" altLang="zh-CN" sz="2400">
                <a:solidFill>
                  <a:srgbClr val="990000"/>
                </a:solidFill>
              </a:endParaRPr>
            </a:p>
          </p:txBody>
        </p:sp>
      </p:grpSp>
      <p:grpSp>
        <p:nvGrpSpPr>
          <p:cNvPr id="122885" name="Group 47">
            <a:extLst>
              <a:ext uri="{FF2B5EF4-FFF2-40B4-BE49-F238E27FC236}">
                <a16:creationId xmlns:a16="http://schemas.microsoft.com/office/drawing/2014/main" id="{9348C880-5D32-4F0C-A9A2-9DF604334275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590800"/>
            <a:ext cx="7772400" cy="2133600"/>
            <a:chOff x="720" y="1680"/>
            <a:chExt cx="4896" cy="1344"/>
          </a:xfrm>
        </p:grpSpPr>
        <p:sp>
          <p:nvSpPr>
            <p:cNvPr id="122922" name="Oval 48">
              <a:extLst>
                <a:ext uri="{FF2B5EF4-FFF2-40B4-BE49-F238E27FC236}">
                  <a16:creationId xmlns:a16="http://schemas.microsoft.com/office/drawing/2014/main" id="{81431E6C-F2B7-4021-BB7D-8773C8745E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400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2923" name="Oval 49">
              <a:extLst>
                <a:ext uri="{FF2B5EF4-FFF2-40B4-BE49-F238E27FC236}">
                  <a16:creationId xmlns:a16="http://schemas.microsoft.com/office/drawing/2014/main" id="{0D9DD684-95CF-40D5-AD03-96A58F8E7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400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2924" name="Oval 50">
              <a:extLst>
                <a:ext uri="{FF2B5EF4-FFF2-40B4-BE49-F238E27FC236}">
                  <a16:creationId xmlns:a16="http://schemas.microsoft.com/office/drawing/2014/main" id="{403E94C1-3CBD-4859-A7F5-69598CA40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400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2925" name="Oval 51">
              <a:extLst>
                <a:ext uri="{FF2B5EF4-FFF2-40B4-BE49-F238E27FC236}">
                  <a16:creationId xmlns:a16="http://schemas.microsoft.com/office/drawing/2014/main" id="{A5774E6B-F061-4F37-8121-A117F9754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400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2926" name="Line 52">
              <a:extLst>
                <a:ext uri="{FF2B5EF4-FFF2-40B4-BE49-F238E27FC236}">
                  <a16:creationId xmlns:a16="http://schemas.microsoft.com/office/drawing/2014/main" id="{E8A19EF9-1FCA-4730-9063-90DBE6A6CA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25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7" name="Line 53">
              <a:extLst>
                <a:ext uri="{FF2B5EF4-FFF2-40B4-BE49-F238E27FC236}">
                  <a16:creationId xmlns:a16="http://schemas.microsoft.com/office/drawing/2014/main" id="{D89E52DD-5076-4ABF-B6F8-C3BEE49A36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544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8" name="Line 54">
              <a:extLst>
                <a:ext uri="{FF2B5EF4-FFF2-40B4-BE49-F238E27FC236}">
                  <a16:creationId xmlns:a16="http://schemas.microsoft.com/office/drawing/2014/main" id="{8F5A2862-7F49-4A5F-BE48-84B48CC32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2544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29" name="Line 55">
              <a:extLst>
                <a:ext uri="{FF2B5EF4-FFF2-40B4-BE49-F238E27FC236}">
                  <a16:creationId xmlns:a16="http://schemas.microsoft.com/office/drawing/2014/main" id="{4774E923-57EF-479B-A20D-A6CC242CB4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544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2930" name="AutoShape 56">
              <a:extLst>
                <a:ext uri="{FF2B5EF4-FFF2-40B4-BE49-F238E27FC236}">
                  <a16:creationId xmlns:a16="http://schemas.microsoft.com/office/drawing/2014/main" id="{1869D54E-4DB5-4721-ABCA-400176A417AB}"/>
                </a:ext>
              </a:extLst>
            </p:cNvPr>
            <p:cNvCxnSpPr>
              <a:cxnSpLocks noChangeShapeType="1"/>
              <a:stCxn id="122922" idx="4"/>
              <a:endCxn id="122925" idx="4"/>
            </p:cNvCxnSpPr>
            <p:nvPr/>
          </p:nvCxnSpPr>
          <p:spPr bwMode="auto">
            <a:xfrm rot="16200000" flipH="1">
              <a:off x="3935" y="1873"/>
              <a:ext cx="1" cy="1632"/>
            </a:xfrm>
            <a:prstGeom prst="curvedConnector3">
              <a:avLst>
                <a:gd name="adj1" fmla="val 144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2931" name="AutoShape 57">
              <a:extLst>
                <a:ext uri="{FF2B5EF4-FFF2-40B4-BE49-F238E27FC236}">
                  <a16:creationId xmlns:a16="http://schemas.microsoft.com/office/drawing/2014/main" id="{61E74C7A-34E4-483D-8033-C1A674D3A091}"/>
                </a:ext>
              </a:extLst>
            </p:cNvPr>
            <p:cNvCxnSpPr>
              <a:cxnSpLocks noChangeShapeType="1"/>
              <a:stCxn id="122924" idx="0"/>
              <a:endCxn id="122923" idx="0"/>
            </p:cNvCxnSpPr>
            <p:nvPr/>
          </p:nvCxnSpPr>
          <p:spPr bwMode="auto">
            <a:xfrm rot="-5400000" flipH="1" flipV="1">
              <a:off x="3911" y="2137"/>
              <a:ext cx="1" cy="528"/>
            </a:xfrm>
            <a:prstGeom prst="curvedConnector3">
              <a:avLst>
                <a:gd name="adj1" fmla="val -144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2932" name="Text Box 58">
              <a:extLst>
                <a:ext uri="{FF2B5EF4-FFF2-40B4-BE49-F238E27FC236}">
                  <a16:creationId xmlns:a16="http://schemas.microsoft.com/office/drawing/2014/main" id="{DA1E24DE-BFB2-4CF6-8EEA-9A57EB514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30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chemeClr val="folHlink"/>
                  </a:solidFill>
                </a:rPr>
                <a:t>c</a:t>
              </a:r>
            </a:p>
          </p:txBody>
        </p:sp>
        <p:sp>
          <p:nvSpPr>
            <p:cNvPr id="122933" name="Text Box 59">
              <a:extLst>
                <a:ext uri="{FF2B5EF4-FFF2-40B4-BE49-F238E27FC236}">
                  <a16:creationId xmlns:a16="http://schemas.microsoft.com/office/drawing/2014/main" id="{F9DCB6B3-F096-4A4A-99F4-967DF85CA8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30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solidFill>
                    <a:schemeClr val="folHlink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34" name="Text Box 60">
              <a:extLst>
                <a:ext uri="{FF2B5EF4-FFF2-40B4-BE49-F238E27FC236}">
                  <a16:creationId xmlns:a16="http://schemas.microsoft.com/office/drawing/2014/main" id="{AE915B1D-4856-4337-BBD2-C45B0E5565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273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solidFill>
                    <a:schemeClr val="folHlink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35" name="Text Box 61">
              <a:extLst>
                <a:ext uri="{FF2B5EF4-FFF2-40B4-BE49-F238E27FC236}">
                  <a16:creationId xmlns:a16="http://schemas.microsoft.com/office/drawing/2014/main" id="{8FC57431-F1F1-4DA6-8F76-5D38A57973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01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solidFill>
                    <a:schemeClr val="folHlink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36" name="Text Box 62">
              <a:extLst>
                <a:ext uri="{FF2B5EF4-FFF2-40B4-BE49-F238E27FC236}">
                  <a16:creationId xmlns:a16="http://schemas.microsoft.com/office/drawing/2014/main" id="{A30FFE35-284F-47B2-B8D7-90D69E09C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30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solidFill>
                    <a:schemeClr val="folHlink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37" name="Text Box 63">
              <a:extLst>
                <a:ext uri="{FF2B5EF4-FFF2-40B4-BE49-F238E27FC236}">
                  <a16:creationId xmlns:a16="http://schemas.microsoft.com/office/drawing/2014/main" id="{3F0702D9-4AB4-42A0-9A5F-5AA0580B4E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400"/>
              <a:ext cx="10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chemeClr val="folHlink"/>
                  </a:solidFill>
                </a:rPr>
                <a:t>r</a:t>
              </a:r>
              <a:r>
                <a:rPr kumimoji="0" lang="en-US" altLang="zh-CN" sz="2400" baseline="-25000">
                  <a:solidFill>
                    <a:schemeClr val="folHlink"/>
                  </a:solidFill>
                </a:rPr>
                <a:t>9</a:t>
              </a:r>
              <a:r>
                <a:rPr kumimoji="0" lang="en-US" altLang="zh-CN" sz="2400">
                  <a:solidFill>
                    <a:schemeClr val="folHlink"/>
                  </a:solidFill>
                </a:rPr>
                <a:t> : r</a:t>
              </a:r>
              <a:r>
                <a:rPr kumimoji="0" lang="en-US" altLang="zh-CN" sz="2400" baseline="-25000">
                  <a:solidFill>
                    <a:schemeClr val="folHlink"/>
                  </a:solidFill>
                </a:rPr>
                <a:t>7</a:t>
              </a:r>
              <a:r>
                <a:rPr kumimoji="0" lang="en-US" altLang="zh-CN" sz="2400">
                  <a:solidFill>
                    <a:schemeClr val="folHlink"/>
                  </a:solidFill>
                </a:rPr>
                <a:t> | r</a:t>
              </a:r>
              <a:r>
                <a:rPr kumimoji="0" lang="en-US" altLang="zh-CN" sz="2400" baseline="-25000">
                  <a:solidFill>
                    <a:schemeClr val="folHlink"/>
                  </a:solidFill>
                </a:rPr>
                <a:t>8</a:t>
              </a:r>
              <a:endParaRPr kumimoji="0" lang="en-US" altLang="zh-CN" sz="2400">
                <a:solidFill>
                  <a:schemeClr val="folHlink"/>
                </a:solidFill>
              </a:endParaRPr>
            </a:p>
          </p:txBody>
        </p:sp>
        <p:sp>
          <p:nvSpPr>
            <p:cNvPr id="122938" name="Oval 64">
              <a:extLst>
                <a:ext uri="{FF2B5EF4-FFF2-40B4-BE49-F238E27FC236}">
                  <a16:creationId xmlns:a16="http://schemas.microsoft.com/office/drawing/2014/main" id="{619D1500-6214-481B-83ED-6C0E69A82C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400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2939" name="Oval 65">
              <a:extLst>
                <a:ext uri="{FF2B5EF4-FFF2-40B4-BE49-F238E27FC236}">
                  <a16:creationId xmlns:a16="http://schemas.microsoft.com/office/drawing/2014/main" id="{E133BC3B-114B-460E-9CCA-9F0E9144D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77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2940" name="Oval 66">
              <a:extLst>
                <a:ext uri="{FF2B5EF4-FFF2-40B4-BE49-F238E27FC236}">
                  <a16:creationId xmlns:a16="http://schemas.microsoft.com/office/drawing/2014/main" id="{128E4807-B953-4296-9288-24CFF75C9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77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grpSp>
          <p:nvGrpSpPr>
            <p:cNvPr id="122941" name="Group 67">
              <a:extLst>
                <a:ext uri="{FF2B5EF4-FFF2-40B4-BE49-F238E27FC236}">
                  <a16:creationId xmlns:a16="http://schemas.microsoft.com/office/drawing/2014/main" id="{881F6820-2F4F-4BAC-973A-2EBA221E20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28" y="2400"/>
              <a:ext cx="288" cy="288"/>
              <a:chOff x="5184" y="3792"/>
              <a:chExt cx="288" cy="288"/>
            </a:xfrm>
          </p:grpSpPr>
          <p:sp>
            <p:nvSpPr>
              <p:cNvPr id="122952" name="Oval 68">
                <a:extLst>
                  <a:ext uri="{FF2B5EF4-FFF2-40B4-BE49-F238E27FC236}">
                    <a16:creationId xmlns:a16="http://schemas.microsoft.com/office/drawing/2014/main" id="{C26B3F67-AEB4-4C31-82C0-D23E2F0F28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2" y="384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22953" name="Oval 69">
                <a:extLst>
                  <a:ext uri="{FF2B5EF4-FFF2-40B4-BE49-F238E27FC236}">
                    <a16:creationId xmlns:a16="http://schemas.microsoft.com/office/drawing/2014/main" id="{6F3AA968-602F-477C-8F7D-B426773ADE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4" y="379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22942" name="Line 70">
              <a:extLst>
                <a:ext uri="{FF2B5EF4-FFF2-40B4-BE49-F238E27FC236}">
                  <a16:creationId xmlns:a16="http://schemas.microsoft.com/office/drawing/2014/main" id="{3F3D26D5-0B0B-4A1B-A6D5-3CA096E88B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54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43" name="Line 71">
              <a:extLst>
                <a:ext uri="{FF2B5EF4-FFF2-40B4-BE49-F238E27FC236}">
                  <a16:creationId xmlns:a16="http://schemas.microsoft.com/office/drawing/2014/main" id="{2D5B7B5C-E86D-4CA9-B3BD-E3A655307A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2544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44" name="Line 72">
              <a:extLst>
                <a:ext uri="{FF2B5EF4-FFF2-40B4-BE49-F238E27FC236}">
                  <a16:creationId xmlns:a16="http://schemas.microsoft.com/office/drawing/2014/main" id="{42CAC52B-75AD-4ABB-836F-6F3DE919C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920"/>
              <a:ext cx="864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45" name="Line 73">
              <a:extLst>
                <a:ext uri="{FF2B5EF4-FFF2-40B4-BE49-F238E27FC236}">
                  <a16:creationId xmlns:a16="http://schemas.microsoft.com/office/drawing/2014/main" id="{F9D617CA-E4A3-4E6B-A642-0AA40ED65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920"/>
              <a:ext cx="9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46" name="Line 74">
              <a:extLst>
                <a:ext uri="{FF2B5EF4-FFF2-40B4-BE49-F238E27FC236}">
                  <a16:creationId xmlns:a16="http://schemas.microsoft.com/office/drawing/2014/main" id="{8474A50F-41A8-49A7-A058-771FAB1627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4" y="2016"/>
              <a:ext cx="43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47" name="Text Box 75">
              <a:extLst>
                <a:ext uri="{FF2B5EF4-FFF2-40B4-BE49-F238E27FC236}">
                  <a16:creationId xmlns:a16="http://schemas.microsoft.com/office/drawing/2014/main" id="{BCA6A5E5-FFD6-40A5-97E2-8C3E1DDBB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192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solidFill>
                    <a:schemeClr val="folHlink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48" name="Text Box 76">
              <a:extLst>
                <a:ext uri="{FF2B5EF4-FFF2-40B4-BE49-F238E27FC236}">
                  <a16:creationId xmlns:a16="http://schemas.microsoft.com/office/drawing/2014/main" id="{9A92DC34-BDEE-4E5C-8C42-C82539AA67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06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solidFill>
                    <a:schemeClr val="folHlink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49" name="Text Box 77">
              <a:extLst>
                <a:ext uri="{FF2B5EF4-FFF2-40B4-BE49-F238E27FC236}">
                  <a16:creationId xmlns:a16="http://schemas.microsoft.com/office/drawing/2014/main" id="{CABF16CF-3DFD-480D-B3E5-8D2B3F19D7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68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chemeClr val="folHlink"/>
                  </a:solidFill>
                </a:rPr>
                <a:t>b</a:t>
              </a:r>
            </a:p>
          </p:txBody>
        </p:sp>
        <p:sp>
          <p:nvSpPr>
            <p:cNvPr id="122950" name="Text Box 78">
              <a:extLst>
                <a:ext uri="{FF2B5EF4-FFF2-40B4-BE49-F238E27FC236}">
                  <a16:creationId xmlns:a16="http://schemas.microsoft.com/office/drawing/2014/main" id="{57566845-71B4-4121-ADA5-DA5AEDA70D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30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solidFill>
                    <a:schemeClr val="folHlink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51" name="Text Box 79">
              <a:extLst>
                <a:ext uri="{FF2B5EF4-FFF2-40B4-BE49-F238E27FC236}">
                  <a16:creationId xmlns:a16="http://schemas.microsoft.com/office/drawing/2014/main" id="{1A0616C1-5AD9-4E8C-B05C-BF02D1333D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230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solidFill>
                    <a:schemeClr val="folHlink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</p:grpSp>
      <p:grpSp>
        <p:nvGrpSpPr>
          <p:cNvPr id="122886" name="Group 80">
            <a:extLst>
              <a:ext uri="{FF2B5EF4-FFF2-40B4-BE49-F238E27FC236}">
                <a16:creationId xmlns:a16="http://schemas.microsoft.com/office/drawing/2014/main" id="{8CADD78B-4368-44C2-A1D2-578475E05B73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4724400"/>
            <a:ext cx="8229600" cy="2133600"/>
            <a:chOff x="432" y="2928"/>
            <a:chExt cx="5184" cy="1344"/>
          </a:xfrm>
        </p:grpSpPr>
        <p:sp>
          <p:nvSpPr>
            <p:cNvPr id="122887" name="Oval 81">
              <a:extLst>
                <a:ext uri="{FF2B5EF4-FFF2-40B4-BE49-F238E27FC236}">
                  <a16:creationId xmlns:a16="http://schemas.microsoft.com/office/drawing/2014/main" id="{549F35F1-079B-4BB8-98AD-9EF40DB22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648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2888" name="Oval 82">
              <a:extLst>
                <a:ext uri="{FF2B5EF4-FFF2-40B4-BE49-F238E27FC236}">
                  <a16:creationId xmlns:a16="http://schemas.microsoft.com/office/drawing/2014/main" id="{820B6E50-47E1-42A1-91F7-B5CA6BB02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648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2889" name="Oval 83">
              <a:extLst>
                <a:ext uri="{FF2B5EF4-FFF2-40B4-BE49-F238E27FC236}">
                  <a16:creationId xmlns:a16="http://schemas.microsoft.com/office/drawing/2014/main" id="{65C81DD7-E681-4451-AEDF-2A853C8EA7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648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2890" name="Oval 84">
              <a:extLst>
                <a:ext uri="{FF2B5EF4-FFF2-40B4-BE49-F238E27FC236}">
                  <a16:creationId xmlns:a16="http://schemas.microsoft.com/office/drawing/2014/main" id="{CFF0BB63-C68C-4141-85FC-62FA5D636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3648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2891" name="Line 85">
              <a:extLst>
                <a:ext uri="{FF2B5EF4-FFF2-40B4-BE49-F238E27FC236}">
                  <a16:creationId xmlns:a16="http://schemas.microsoft.com/office/drawing/2014/main" id="{1F529F14-1C21-4AF8-B209-06B07589FA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3792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2" name="Line 86">
              <a:extLst>
                <a:ext uri="{FF2B5EF4-FFF2-40B4-BE49-F238E27FC236}">
                  <a16:creationId xmlns:a16="http://schemas.microsoft.com/office/drawing/2014/main" id="{B13A82A1-E8FF-4760-B6CC-A6B08D1438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792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3" name="Line 87">
              <a:extLst>
                <a:ext uri="{FF2B5EF4-FFF2-40B4-BE49-F238E27FC236}">
                  <a16:creationId xmlns:a16="http://schemas.microsoft.com/office/drawing/2014/main" id="{FCE3318D-4AD1-4D56-903E-994896582F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3792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894" name="Line 88">
              <a:extLst>
                <a:ext uri="{FF2B5EF4-FFF2-40B4-BE49-F238E27FC236}">
                  <a16:creationId xmlns:a16="http://schemas.microsoft.com/office/drawing/2014/main" id="{6F62AE5F-CF7B-4587-B71F-A02A5162D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792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2895" name="AutoShape 89">
              <a:extLst>
                <a:ext uri="{FF2B5EF4-FFF2-40B4-BE49-F238E27FC236}">
                  <a16:creationId xmlns:a16="http://schemas.microsoft.com/office/drawing/2014/main" id="{C6BAC6B2-B580-4B98-A420-11CCEDFFAE43}"/>
                </a:ext>
              </a:extLst>
            </p:cNvPr>
            <p:cNvCxnSpPr>
              <a:cxnSpLocks noChangeShapeType="1"/>
              <a:stCxn id="122887" idx="4"/>
              <a:endCxn id="122890" idx="4"/>
            </p:cNvCxnSpPr>
            <p:nvPr/>
          </p:nvCxnSpPr>
          <p:spPr bwMode="auto">
            <a:xfrm rot="16200000" flipH="1">
              <a:off x="3935" y="3121"/>
              <a:ext cx="1" cy="1632"/>
            </a:xfrm>
            <a:prstGeom prst="curvedConnector3">
              <a:avLst>
                <a:gd name="adj1" fmla="val 144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2896" name="AutoShape 90">
              <a:extLst>
                <a:ext uri="{FF2B5EF4-FFF2-40B4-BE49-F238E27FC236}">
                  <a16:creationId xmlns:a16="http://schemas.microsoft.com/office/drawing/2014/main" id="{4EBA7B17-439A-4CE6-BCB5-B2D34DB578DF}"/>
                </a:ext>
              </a:extLst>
            </p:cNvPr>
            <p:cNvCxnSpPr>
              <a:cxnSpLocks noChangeShapeType="1"/>
              <a:stCxn id="122889" idx="0"/>
              <a:endCxn id="122888" idx="0"/>
            </p:cNvCxnSpPr>
            <p:nvPr/>
          </p:nvCxnSpPr>
          <p:spPr bwMode="auto">
            <a:xfrm rot="-5400000" flipH="1" flipV="1">
              <a:off x="3911" y="3385"/>
              <a:ext cx="1" cy="528"/>
            </a:xfrm>
            <a:prstGeom prst="curvedConnector3">
              <a:avLst>
                <a:gd name="adj1" fmla="val -144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2897" name="Text Box 91">
              <a:extLst>
                <a:ext uri="{FF2B5EF4-FFF2-40B4-BE49-F238E27FC236}">
                  <a16:creationId xmlns:a16="http://schemas.microsoft.com/office/drawing/2014/main" id="{5EF92204-9E6C-485F-ABF6-46A1BF1B9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55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c</a:t>
              </a:r>
            </a:p>
          </p:txBody>
        </p:sp>
        <p:sp>
          <p:nvSpPr>
            <p:cNvPr id="122898" name="Text Box 92">
              <a:extLst>
                <a:ext uri="{FF2B5EF4-FFF2-40B4-BE49-F238E27FC236}">
                  <a16:creationId xmlns:a16="http://schemas.microsoft.com/office/drawing/2014/main" id="{62A4BB37-9F61-4E34-9D17-0D18453B34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355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899" name="Text Box 93">
              <a:extLst>
                <a:ext uri="{FF2B5EF4-FFF2-40B4-BE49-F238E27FC236}">
                  <a16:creationId xmlns:a16="http://schemas.microsoft.com/office/drawing/2014/main" id="{FE2F5A00-F146-44D6-A4E9-FD92E8473D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98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00" name="Text Box 94">
              <a:extLst>
                <a:ext uri="{FF2B5EF4-FFF2-40B4-BE49-F238E27FC236}">
                  <a16:creationId xmlns:a16="http://schemas.microsoft.com/office/drawing/2014/main" id="{703EF527-A2EA-489D-8188-31AD41A67F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326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01" name="Text Box 95">
              <a:extLst>
                <a:ext uri="{FF2B5EF4-FFF2-40B4-BE49-F238E27FC236}">
                  <a16:creationId xmlns:a16="http://schemas.microsoft.com/office/drawing/2014/main" id="{09167D81-B094-458A-A1BE-89D5E817E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355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02" name="Text Box 96">
              <a:extLst>
                <a:ext uri="{FF2B5EF4-FFF2-40B4-BE49-F238E27FC236}">
                  <a16:creationId xmlns:a16="http://schemas.microsoft.com/office/drawing/2014/main" id="{3100029C-4F47-4575-8FA0-CBEF1DC21B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648"/>
              <a:ext cx="10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r</a:t>
              </a:r>
              <a:r>
                <a:rPr kumimoji="0" lang="en-US" altLang="zh-CN" sz="2400" baseline="-25000"/>
                <a:t>12</a:t>
              </a:r>
              <a:r>
                <a:rPr kumimoji="0" lang="en-US" altLang="zh-CN" sz="2400"/>
                <a:t> : r</a:t>
              </a:r>
              <a:r>
                <a:rPr kumimoji="0" lang="en-US" altLang="zh-CN" sz="2400" baseline="-25000"/>
                <a:t>11</a:t>
              </a:r>
              <a:r>
                <a:rPr kumimoji="0" lang="en-US" altLang="zh-CN" sz="2400"/>
                <a:t>  r</a:t>
              </a:r>
              <a:r>
                <a:rPr kumimoji="0" lang="en-US" altLang="zh-CN" sz="2400" baseline="-25000"/>
                <a:t>10</a:t>
              </a:r>
              <a:endParaRPr kumimoji="0" lang="en-US" altLang="zh-CN" sz="2400"/>
            </a:p>
          </p:txBody>
        </p:sp>
        <p:sp>
          <p:nvSpPr>
            <p:cNvPr id="122903" name="Oval 97">
              <a:extLst>
                <a:ext uri="{FF2B5EF4-FFF2-40B4-BE49-F238E27FC236}">
                  <a16:creationId xmlns:a16="http://schemas.microsoft.com/office/drawing/2014/main" id="{5C180787-4CBD-43EC-9124-3C849D8C3C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648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2904" name="Oval 98">
              <a:extLst>
                <a:ext uri="{FF2B5EF4-FFF2-40B4-BE49-F238E27FC236}">
                  <a16:creationId xmlns:a16="http://schemas.microsoft.com/office/drawing/2014/main" id="{2821FCAE-10D4-4070-9177-D5697D69DB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302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2905" name="Oval 99">
              <a:extLst>
                <a:ext uri="{FF2B5EF4-FFF2-40B4-BE49-F238E27FC236}">
                  <a16:creationId xmlns:a16="http://schemas.microsoft.com/office/drawing/2014/main" id="{7790549E-9454-47B6-A092-5E1182FFC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02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grpSp>
          <p:nvGrpSpPr>
            <p:cNvPr id="122906" name="Group 100">
              <a:extLst>
                <a:ext uri="{FF2B5EF4-FFF2-40B4-BE49-F238E27FC236}">
                  <a16:creationId xmlns:a16="http://schemas.microsoft.com/office/drawing/2014/main" id="{19AF4FA5-7A0A-4C5E-9898-FD3E4B4D52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28" y="3648"/>
              <a:ext cx="288" cy="288"/>
              <a:chOff x="5184" y="3792"/>
              <a:chExt cx="288" cy="288"/>
            </a:xfrm>
          </p:grpSpPr>
          <p:sp>
            <p:nvSpPr>
              <p:cNvPr id="122920" name="Oval 101">
                <a:extLst>
                  <a:ext uri="{FF2B5EF4-FFF2-40B4-BE49-F238E27FC236}">
                    <a16:creationId xmlns:a16="http://schemas.microsoft.com/office/drawing/2014/main" id="{8F01D19B-E5A7-4B3E-8C4D-B11A51A912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2" y="3840"/>
                <a:ext cx="192" cy="19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22921" name="Oval 102">
                <a:extLst>
                  <a:ext uri="{FF2B5EF4-FFF2-40B4-BE49-F238E27FC236}">
                    <a16:creationId xmlns:a16="http://schemas.microsoft.com/office/drawing/2014/main" id="{685E7020-91BF-430C-9AB4-5D7110A2D0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4" y="3792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22907" name="Line 103">
              <a:extLst>
                <a:ext uri="{FF2B5EF4-FFF2-40B4-BE49-F238E27FC236}">
                  <a16:creationId xmlns:a16="http://schemas.microsoft.com/office/drawing/2014/main" id="{B89F74AC-B559-4A5A-A93C-A2CD734D1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792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08" name="Line 104">
              <a:extLst>
                <a:ext uri="{FF2B5EF4-FFF2-40B4-BE49-F238E27FC236}">
                  <a16:creationId xmlns:a16="http://schemas.microsoft.com/office/drawing/2014/main" id="{0978E4F9-7B99-43BF-B3C1-4B022EDAE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6" y="3792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09" name="Line 105">
              <a:extLst>
                <a:ext uri="{FF2B5EF4-FFF2-40B4-BE49-F238E27FC236}">
                  <a16:creationId xmlns:a16="http://schemas.microsoft.com/office/drawing/2014/main" id="{48B21E2B-1786-4EA0-9FB3-625141C5F2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3168"/>
              <a:ext cx="864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0" name="Line 106">
              <a:extLst>
                <a:ext uri="{FF2B5EF4-FFF2-40B4-BE49-F238E27FC236}">
                  <a16:creationId xmlns:a16="http://schemas.microsoft.com/office/drawing/2014/main" id="{6D3762A6-07BF-46B9-AF36-A5BCB2B094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168"/>
              <a:ext cx="9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1" name="Line 107">
              <a:extLst>
                <a:ext uri="{FF2B5EF4-FFF2-40B4-BE49-F238E27FC236}">
                  <a16:creationId xmlns:a16="http://schemas.microsoft.com/office/drawing/2014/main" id="{098183B6-EDA5-455A-B3E0-5713211BC9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4" y="3264"/>
              <a:ext cx="43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2" name="Text Box 108">
              <a:extLst>
                <a:ext uri="{FF2B5EF4-FFF2-40B4-BE49-F238E27FC236}">
                  <a16:creationId xmlns:a16="http://schemas.microsoft.com/office/drawing/2014/main" id="{07DF5849-BAB8-4E45-8E78-43D217DE8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13" name="Text Box 109">
              <a:extLst>
                <a:ext uri="{FF2B5EF4-FFF2-40B4-BE49-F238E27FC236}">
                  <a16:creationId xmlns:a16="http://schemas.microsoft.com/office/drawing/2014/main" id="{9CDB456D-E6F2-402D-863E-702B91709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31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14" name="Text Box 110">
              <a:extLst>
                <a:ext uri="{FF2B5EF4-FFF2-40B4-BE49-F238E27FC236}">
                  <a16:creationId xmlns:a16="http://schemas.microsoft.com/office/drawing/2014/main" id="{E4D88370-92B2-4DB8-BA78-D430699A6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92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b</a:t>
              </a:r>
            </a:p>
          </p:txBody>
        </p:sp>
        <p:sp>
          <p:nvSpPr>
            <p:cNvPr id="122915" name="Oval 111">
              <a:extLst>
                <a:ext uri="{FF2B5EF4-FFF2-40B4-BE49-F238E27FC236}">
                  <a16:creationId xmlns:a16="http://schemas.microsoft.com/office/drawing/2014/main" id="{17BBC127-F34C-40AF-BE46-948F0A661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3648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2916" name="Line 112">
              <a:extLst>
                <a:ext uri="{FF2B5EF4-FFF2-40B4-BE49-F238E27FC236}">
                  <a16:creationId xmlns:a16="http://schemas.microsoft.com/office/drawing/2014/main" id="{33D70D97-4A52-4F62-B5FA-388C7E539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3792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17" name="Text Box 113">
              <a:extLst>
                <a:ext uri="{FF2B5EF4-FFF2-40B4-BE49-F238E27FC236}">
                  <a16:creationId xmlns:a16="http://schemas.microsoft.com/office/drawing/2014/main" id="{9C1335F4-12C4-4E4B-8616-F6E9906B95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355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a</a:t>
              </a:r>
            </a:p>
          </p:txBody>
        </p:sp>
        <p:sp>
          <p:nvSpPr>
            <p:cNvPr id="122918" name="Text Box 114">
              <a:extLst>
                <a:ext uri="{FF2B5EF4-FFF2-40B4-BE49-F238E27FC236}">
                  <a16:creationId xmlns:a16="http://schemas.microsoft.com/office/drawing/2014/main" id="{6D0BA4B4-F59B-4541-A87B-788865FE38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55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2919" name="Text Box 115">
              <a:extLst>
                <a:ext uri="{FF2B5EF4-FFF2-40B4-BE49-F238E27FC236}">
                  <a16:creationId xmlns:a16="http://schemas.microsoft.com/office/drawing/2014/main" id="{336D5A3A-3319-4056-A727-E6D503285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355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</p:grp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E8B2FEA0-D86E-4DEC-888B-591D270FA5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例：</a:t>
            </a:r>
            <a:r>
              <a:rPr kumimoji="0" lang="zh-CN" altLang="en-US" b="1">
                <a:solidFill>
                  <a:srgbClr val="3333CC"/>
                </a:solidFill>
              </a:rPr>
              <a:t>最终结果</a:t>
            </a:r>
          </a:p>
        </p:txBody>
      </p:sp>
      <p:sp>
        <p:nvSpPr>
          <p:cNvPr id="123907" name="Text Box 3">
            <a:extLst>
              <a:ext uri="{FF2B5EF4-FFF2-40B4-BE49-F238E27FC236}">
                <a16:creationId xmlns:a16="http://schemas.microsoft.com/office/drawing/2014/main" id="{FBD3C775-B95E-4E8B-9A77-B15B53DE41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295400"/>
            <a:ext cx="579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r</a:t>
            </a:r>
            <a:r>
              <a:rPr kumimoji="0" lang="en-US" altLang="zh-CN" sz="2400" baseline="-25000"/>
              <a:t>13</a:t>
            </a:r>
            <a:r>
              <a:rPr kumimoji="0" lang="en-US" altLang="zh-CN" sz="2400"/>
              <a:t> : r</a:t>
            </a:r>
            <a:r>
              <a:rPr kumimoji="0" lang="en-US" altLang="zh-CN" sz="2400" baseline="-25000"/>
              <a:t>5</a:t>
            </a:r>
            <a:r>
              <a:rPr kumimoji="0" lang="en-US" altLang="zh-CN" sz="2400"/>
              <a:t> | r</a:t>
            </a:r>
            <a:r>
              <a:rPr kumimoji="0" lang="en-US" altLang="zh-CN" sz="2400" baseline="-25000"/>
              <a:t>12</a:t>
            </a:r>
            <a:endParaRPr kumimoji="0" lang="en-US" altLang="zh-CN" sz="2400"/>
          </a:p>
        </p:txBody>
      </p:sp>
      <p:grpSp>
        <p:nvGrpSpPr>
          <p:cNvPr id="123908" name="Group 4">
            <a:extLst>
              <a:ext uri="{FF2B5EF4-FFF2-40B4-BE49-F238E27FC236}">
                <a16:creationId xmlns:a16="http://schemas.microsoft.com/office/drawing/2014/main" id="{F1F43BD3-E9A1-4146-9E16-86FABF25DC9C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1676400"/>
            <a:ext cx="8153400" cy="3886200"/>
            <a:chOff x="432" y="1440"/>
            <a:chExt cx="5136" cy="2448"/>
          </a:xfrm>
        </p:grpSpPr>
        <p:sp>
          <p:nvSpPr>
            <p:cNvPr id="123909" name="Oval 5">
              <a:extLst>
                <a:ext uri="{FF2B5EF4-FFF2-40B4-BE49-F238E27FC236}">
                  <a16:creationId xmlns:a16="http://schemas.microsoft.com/office/drawing/2014/main" id="{1F2AAC23-1266-4A37-9CA7-50B89C283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82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10" name="Oval 6">
              <a:extLst>
                <a:ext uri="{FF2B5EF4-FFF2-40B4-BE49-F238E27FC236}">
                  <a16:creationId xmlns:a16="http://schemas.microsoft.com/office/drawing/2014/main" id="{A680CB50-0535-41B0-887C-9030E65A0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82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11" name="Oval 7">
              <a:extLst>
                <a:ext uri="{FF2B5EF4-FFF2-40B4-BE49-F238E27FC236}">
                  <a16:creationId xmlns:a16="http://schemas.microsoft.com/office/drawing/2014/main" id="{91FC9762-192A-4318-9D77-4B93DA17F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182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12" name="Oval 8">
              <a:extLst>
                <a:ext uri="{FF2B5EF4-FFF2-40B4-BE49-F238E27FC236}">
                  <a16:creationId xmlns:a16="http://schemas.microsoft.com/office/drawing/2014/main" id="{179D3484-F18F-415F-9151-A1B85C169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82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13" name="Line 9">
              <a:extLst>
                <a:ext uri="{FF2B5EF4-FFF2-40B4-BE49-F238E27FC236}">
                  <a16:creationId xmlns:a16="http://schemas.microsoft.com/office/drawing/2014/main" id="{7C2EBFD7-BE76-456B-B88E-E55538FF62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96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4" name="Line 10">
              <a:extLst>
                <a:ext uri="{FF2B5EF4-FFF2-40B4-BE49-F238E27FC236}">
                  <a16:creationId xmlns:a16="http://schemas.microsoft.com/office/drawing/2014/main" id="{DC5D49EE-ED7F-4224-8CC8-5B2B9295F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96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5" name="Line 11">
              <a:extLst>
                <a:ext uri="{FF2B5EF4-FFF2-40B4-BE49-F238E27FC236}">
                  <a16:creationId xmlns:a16="http://schemas.microsoft.com/office/drawing/2014/main" id="{E802F35B-EAD4-4F16-9090-9C3025CEF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96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6" name="Line 12">
              <a:extLst>
                <a:ext uri="{FF2B5EF4-FFF2-40B4-BE49-F238E27FC236}">
                  <a16:creationId xmlns:a16="http://schemas.microsoft.com/office/drawing/2014/main" id="{3DF59C6E-ED58-4B64-BD89-6C46FAC8A3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96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3917" name="AutoShape 13">
              <a:extLst>
                <a:ext uri="{FF2B5EF4-FFF2-40B4-BE49-F238E27FC236}">
                  <a16:creationId xmlns:a16="http://schemas.microsoft.com/office/drawing/2014/main" id="{796392BB-F876-4B7B-8ABA-8350168291D1}"/>
                </a:ext>
              </a:extLst>
            </p:cNvPr>
            <p:cNvCxnSpPr>
              <a:cxnSpLocks noChangeShapeType="1"/>
              <a:stCxn id="123909" idx="4"/>
              <a:endCxn id="123912" idx="4"/>
            </p:cNvCxnSpPr>
            <p:nvPr/>
          </p:nvCxnSpPr>
          <p:spPr bwMode="auto">
            <a:xfrm rot="16200000" flipH="1">
              <a:off x="3455" y="1297"/>
              <a:ext cx="1" cy="1632"/>
            </a:xfrm>
            <a:prstGeom prst="curvedConnector3">
              <a:avLst>
                <a:gd name="adj1" fmla="val 144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918" name="AutoShape 14">
              <a:extLst>
                <a:ext uri="{FF2B5EF4-FFF2-40B4-BE49-F238E27FC236}">
                  <a16:creationId xmlns:a16="http://schemas.microsoft.com/office/drawing/2014/main" id="{532017AE-9969-48A3-BD5F-8F259B202641}"/>
                </a:ext>
              </a:extLst>
            </p:cNvPr>
            <p:cNvCxnSpPr>
              <a:cxnSpLocks noChangeShapeType="1"/>
              <a:stCxn id="123911" idx="0"/>
              <a:endCxn id="123910" idx="0"/>
            </p:cNvCxnSpPr>
            <p:nvPr/>
          </p:nvCxnSpPr>
          <p:spPr bwMode="auto">
            <a:xfrm rot="-5400000" flipH="1" flipV="1">
              <a:off x="3431" y="1561"/>
              <a:ext cx="1" cy="528"/>
            </a:xfrm>
            <a:prstGeom prst="curvedConnector3">
              <a:avLst>
                <a:gd name="adj1" fmla="val -144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919" name="Text Box 15">
              <a:extLst>
                <a:ext uri="{FF2B5EF4-FFF2-40B4-BE49-F238E27FC236}">
                  <a16:creationId xmlns:a16="http://schemas.microsoft.com/office/drawing/2014/main" id="{F8979CDC-21F5-4799-8FA3-168822839A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6" y="172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b</a:t>
              </a:r>
            </a:p>
          </p:txBody>
        </p:sp>
        <p:sp>
          <p:nvSpPr>
            <p:cNvPr id="123920" name="Text Box 16">
              <a:extLst>
                <a:ext uri="{FF2B5EF4-FFF2-40B4-BE49-F238E27FC236}">
                  <a16:creationId xmlns:a16="http://schemas.microsoft.com/office/drawing/2014/main" id="{C2C1D46D-B4F9-4C41-9A92-3A9ED22857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4" y="172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3921" name="Text Box 17">
              <a:extLst>
                <a:ext uri="{FF2B5EF4-FFF2-40B4-BE49-F238E27FC236}">
                  <a16:creationId xmlns:a16="http://schemas.microsoft.com/office/drawing/2014/main" id="{3360CACC-A7BC-4EA0-855F-4BF2681DEE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20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3922" name="Text Box 18">
              <a:extLst>
                <a:ext uri="{FF2B5EF4-FFF2-40B4-BE49-F238E27FC236}">
                  <a16:creationId xmlns:a16="http://schemas.microsoft.com/office/drawing/2014/main" id="{09721607-89B5-416B-9A3D-266E99DB4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6" y="144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3923" name="Text Box 19">
              <a:extLst>
                <a:ext uri="{FF2B5EF4-FFF2-40B4-BE49-F238E27FC236}">
                  <a16:creationId xmlns:a16="http://schemas.microsoft.com/office/drawing/2014/main" id="{E5A42E98-D483-49FD-BE73-BC84FC4EA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8" y="172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3924" name="Oval 20">
              <a:extLst>
                <a:ext uri="{FF2B5EF4-FFF2-40B4-BE49-F238E27FC236}">
                  <a16:creationId xmlns:a16="http://schemas.microsoft.com/office/drawing/2014/main" id="{93037690-971E-44CD-B27C-039E95DC0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496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25" name="Line 21">
              <a:extLst>
                <a:ext uri="{FF2B5EF4-FFF2-40B4-BE49-F238E27FC236}">
                  <a16:creationId xmlns:a16="http://schemas.microsoft.com/office/drawing/2014/main" id="{DB1A208C-938D-43EA-9C6D-DFCDB112F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96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6" name="Text Box 22">
              <a:extLst>
                <a:ext uri="{FF2B5EF4-FFF2-40B4-BE49-F238E27FC236}">
                  <a16:creationId xmlns:a16="http://schemas.microsoft.com/office/drawing/2014/main" id="{74EC1B1D-1B8E-4C7D-B1C7-F1EA81085C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4" y="172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a</a:t>
              </a:r>
            </a:p>
          </p:txBody>
        </p:sp>
        <p:sp>
          <p:nvSpPr>
            <p:cNvPr id="123927" name="Oval 23">
              <a:extLst>
                <a:ext uri="{FF2B5EF4-FFF2-40B4-BE49-F238E27FC236}">
                  <a16:creationId xmlns:a16="http://schemas.microsoft.com/office/drawing/2014/main" id="{C7C1FC4C-33A0-40EE-B85E-AAE72CA840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82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28" name="Line 24">
              <a:extLst>
                <a:ext uri="{FF2B5EF4-FFF2-40B4-BE49-F238E27FC236}">
                  <a16:creationId xmlns:a16="http://schemas.microsoft.com/office/drawing/2014/main" id="{BCC91098-F441-4593-9622-F97E2C3AAC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1968"/>
              <a:ext cx="720" cy="5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9" name="Text Box 25">
              <a:extLst>
                <a:ext uri="{FF2B5EF4-FFF2-40B4-BE49-F238E27FC236}">
                  <a16:creationId xmlns:a16="http://schemas.microsoft.com/office/drawing/2014/main" id="{92E3900A-EBCC-47EA-910A-68CAB11D84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87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kumimoji="0" lang="zh-CN" altLang="zh-CN" sz="2400"/>
            </a:p>
          </p:txBody>
        </p:sp>
        <p:sp>
          <p:nvSpPr>
            <p:cNvPr id="123930" name="Text Box 26">
              <a:extLst>
                <a:ext uri="{FF2B5EF4-FFF2-40B4-BE49-F238E27FC236}">
                  <a16:creationId xmlns:a16="http://schemas.microsoft.com/office/drawing/2014/main" id="{E6B33B05-C642-492F-95E5-7DC16B5EE6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6" y="172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c</a:t>
              </a:r>
            </a:p>
          </p:txBody>
        </p:sp>
        <p:sp>
          <p:nvSpPr>
            <p:cNvPr id="123931" name="Oval 27">
              <a:extLst>
                <a:ext uri="{FF2B5EF4-FFF2-40B4-BE49-F238E27FC236}">
                  <a16:creationId xmlns:a16="http://schemas.microsoft.com/office/drawing/2014/main" id="{DC09EEDE-E1EE-4960-9B14-B787AFE7B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" y="2448"/>
              <a:ext cx="192" cy="19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32" name="Oval 28">
              <a:extLst>
                <a:ext uri="{FF2B5EF4-FFF2-40B4-BE49-F238E27FC236}">
                  <a16:creationId xmlns:a16="http://schemas.microsoft.com/office/drawing/2014/main" id="{D90B2A6A-D124-49D9-BF9A-683FD1F3A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326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33" name="Oval 29">
              <a:extLst>
                <a:ext uri="{FF2B5EF4-FFF2-40B4-BE49-F238E27FC236}">
                  <a16:creationId xmlns:a16="http://schemas.microsoft.com/office/drawing/2014/main" id="{E3F7B86B-E6D1-4ADD-91CD-7FB8E5EB91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326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34" name="Oval 30">
              <a:extLst>
                <a:ext uri="{FF2B5EF4-FFF2-40B4-BE49-F238E27FC236}">
                  <a16:creationId xmlns:a16="http://schemas.microsoft.com/office/drawing/2014/main" id="{39E5E438-DC52-4A7B-9B8B-6A7776882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326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35" name="Oval 31">
              <a:extLst>
                <a:ext uri="{FF2B5EF4-FFF2-40B4-BE49-F238E27FC236}">
                  <a16:creationId xmlns:a16="http://schemas.microsoft.com/office/drawing/2014/main" id="{ADDDBF6F-76FD-48B7-8492-FB0BE89B2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326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36" name="Line 32">
              <a:extLst>
                <a:ext uri="{FF2B5EF4-FFF2-40B4-BE49-F238E27FC236}">
                  <a16:creationId xmlns:a16="http://schemas.microsoft.com/office/drawing/2014/main" id="{032B3F85-F32C-4B29-8738-761168423F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40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7" name="Line 33">
              <a:extLst>
                <a:ext uri="{FF2B5EF4-FFF2-40B4-BE49-F238E27FC236}">
                  <a16:creationId xmlns:a16="http://schemas.microsoft.com/office/drawing/2014/main" id="{E36268F4-121C-431B-810E-8B25DCEFFD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40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8" name="Line 34">
              <a:extLst>
                <a:ext uri="{FF2B5EF4-FFF2-40B4-BE49-F238E27FC236}">
                  <a16:creationId xmlns:a16="http://schemas.microsoft.com/office/drawing/2014/main" id="{1821B336-F052-474F-9753-3E02C03CE6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408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9" name="Line 35">
              <a:extLst>
                <a:ext uri="{FF2B5EF4-FFF2-40B4-BE49-F238E27FC236}">
                  <a16:creationId xmlns:a16="http://schemas.microsoft.com/office/drawing/2014/main" id="{8F9A1FEB-4467-420C-B57A-1D0BAA273E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340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23940" name="AutoShape 36">
              <a:extLst>
                <a:ext uri="{FF2B5EF4-FFF2-40B4-BE49-F238E27FC236}">
                  <a16:creationId xmlns:a16="http://schemas.microsoft.com/office/drawing/2014/main" id="{06D86CC0-4043-4108-B9EB-6B3D0FD0C085}"/>
                </a:ext>
              </a:extLst>
            </p:cNvPr>
            <p:cNvCxnSpPr>
              <a:cxnSpLocks noChangeShapeType="1"/>
              <a:stCxn id="123932" idx="4"/>
              <a:endCxn id="123935" idx="4"/>
            </p:cNvCxnSpPr>
            <p:nvPr/>
          </p:nvCxnSpPr>
          <p:spPr bwMode="auto">
            <a:xfrm rot="16200000" flipH="1">
              <a:off x="3695" y="2737"/>
              <a:ext cx="1" cy="1632"/>
            </a:xfrm>
            <a:prstGeom prst="curvedConnector3">
              <a:avLst>
                <a:gd name="adj1" fmla="val 144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3941" name="AutoShape 37">
              <a:extLst>
                <a:ext uri="{FF2B5EF4-FFF2-40B4-BE49-F238E27FC236}">
                  <a16:creationId xmlns:a16="http://schemas.microsoft.com/office/drawing/2014/main" id="{D85D5B64-4E23-42CC-9738-26EDA4D2F632}"/>
                </a:ext>
              </a:extLst>
            </p:cNvPr>
            <p:cNvCxnSpPr>
              <a:cxnSpLocks noChangeShapeType="1"/>
              <a:stCxn id="123934" idx="0"/>
              <a:endCxn id="123933" idx="0"/>
            </p:cNvCxnSpPr>
            <p:nvPr/>
          </p:nvCxnSpPr>
          <p:spPr bwMode="auto">
            <a:xfrm rot="-5400000" flipH="1" flipV="1">
              <a:off x="3671" y="3001"/>
              <a:ext cx="1" cy="528"/>
            </a:xfrm>
            <a:prstGeom prst="curvedConnector3">
              <a:avLst>
                <a:gd name="adj1" fmla="val -14400005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3942" name="Text Box 38">
              <a:extLst>
                <a:ext uri="{FF2B5EF4-FFF2-40B4-BE49-F238E27FC236}">
                  <a16:creationId xmlns:a16="http://schemas.microsoft.com/office/drawing/2014/main" id="{E3FC6734-5C1D-4202-853A-3AF7E3D07F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6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c</a:t>
              </a:r>
            </a:p>
          </p:txBody>
        </p:sp>
        <p:sp>
          <p:nvSpPr>
            <p:cNvPr id="123943" name="Text Box 39">
              <a:extLst>
                <a:ext uri="{FF2B5EF4-FFF2-40B4-BE49-F238E27FC236}">
                  <a16:creationId xmlns:a16="http://schemas.microsoft.com/office/drawing/2014/main" id="{943F61D5-F357-45C0-9244-4BEC5E4BB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4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3944" name="Text Box 40">
              <a:extLst>
                <a:ext uri="{FF2B5EF4-FFF2-40B4-BE49-F238E27FC236}">
                  <a16:creationId xmlns:a16="http://schemas.microsoft.com/office/drawing/2014/main" id="{DC7D1BD8-FF3E-4692-8F32-1BD9ABE379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360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3945" name="Text Box 41">
              <a:extLst>
                <a:ext uri="{FF2B5EF4-FFF2-40B4-BE49-F238E27FC236}">
                  <a16:creationId xmlns:a16="http://schemas.microsoft.com/office/drawing/2014/main" id="{7152CD32-19D4-4BED-B803-81C31FE045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6" y="288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3946" name="Text Box 42">
              <a:extLst>
                <a:ext uri="{FF2B5EF4-FFF2-40B4-BE49-F238E27FC236}">
                  <a16:creationId xmlns:a16="http://schemas.microsoft.com/office/drawing/2014/main" id="{D3E8F8E3-72BF-44E8-8612-9F1A8A2E32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8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3947" name="Oval 43">
              <a:extLst>
                <a:ext uri="{FF2B5EF4-FFF2-40B4-BE49-F238E27FC236}">
                  <a16:creationId xmlns:a16="http://schemas.microsoft.com/office/drawing/2014/main" id="{AF83C9E7-9552-4F23-9EDB-87C3E93211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326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48" name="Oval 44">
              <a:extLst>
                <a:ext uri="{FF2B5EF4-FFF2-40B4-BE49-F238E27FC236}">
                  <a16:creationId xmlns:a16="http://schemas.microsoft.com/office/drawing/2014/main" id="{7B78AEC0-5D73-4D1F-B402-EE5F6648B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640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49" name="Oval 45">
              <a:extLst>
                <a:ext uri="{FF2B5EF4-FFF2-40B4-BE49-F238E27FC236}">
                  <a16:creationId xmlns:a16="http://schemas.microsoft.com/office/drawing/2014/main" id="{D4E0FF41-ECC6-477A-AFC9-46CCD8504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640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50" name="Oval 46">
              <a:extLst>
                <a:ext uri="{FF2B5EF4-FFF2-40B4-BE49-F238E27FC236}">
                  <a16:creationId xmlns:a16="http://schemas.microsoft.com/office/drawing/2014/main" id="{516A99F3-5A5C-4E23-AC0F-C2C6A78B1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326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51" name="Line 47">
              <a:extLst>
                <a:ext uri="{FF2B5EF4-FFF2-40B4-BE49-F238E27FC236}">
                  <a16:creationId xmlns:a16="http://schemas.microsoft.com/office/drawing/2014/main" id="{DD715B48-1A79-4BB8-8F82-2CBC0E0FDF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408"/>
              <a:ext cx="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2" name="Line 48">
              <a:extLst>
                <a:ext uri="{FF2B5EF4-FFF2-40B4-BE49-F238E27FC236}">
                  <a16:creationId xmlns:a16="http://schemas.microsoft.com/office/drawing/2014/main" id="{784EE889-F004-4305-B15A-C1C46FE70A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3408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3" name="Line 49">
              <a:extLst>
                <a:ext uri="{FF2B5EF4-FFF2-40B4-BE49-F238E27FC236}">
                  <a16:creationId xmlns:a16="http://schemas.microsoft.com/office/drawing/2014/main" id="{399AEF73-D0C5-43B8-B684-A487B79615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784"/>
              <a:ext cx="864" cy="5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4" name="Line 50">
              <a:extLst>
                <a:ext uri="{FF2B5EF4-FFF2-40B4-BE49-F238E27FC236}">
                  <a16:creationId xmlns:a16="http://schemas.microsoft.com/office/drawing/2014/main" id="{5B1D4E70-FE25-4294-B49C-493A319AB6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2784"/>
              <a:ext cx="9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5" name="Line 51">
              <a:extLst>
                <a:ext uri="{FF2B5EF4-FFF2-40B4-BE49-F238E27FC236}">
                  <a16:creationId xmlns:a16="http://schemas.microsoft.com/office/drawing/2014/main" id="{0E9712CF-F63D-46A9-AF54-FCACABDEB5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04" y="2880"/>
              <a:ext cx="432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6" name="Text Box 52">
              <a:extLst>
                <a:ext uri="{FF2B5EF4-FFF2-40B4-BE49-F238E27FC236}">
                  <a16:creationId xmlns:a16="http://schemas.microsoft.com/office/drawing/2014/main" id="{34FCB23E-3B85-4FF0-B746-F69D4AD65C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4" y="278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3957" name="Text Box 53">
              <a:extLst>
                <a:ext uri="{FF2B5EF4-FFF2-40B4-BE49-F238E27FC236}">
                  <a16:creationId xmlns:a16="http://schemas.microsoft.com/office/drawing/2014/main" id="{8EAC57A5-4680-419D-BE28-7B4055BDF9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88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3958" name="Text Box 54">
              <a:extLst>
                <a:ext uri="{FF2B5EF4-FFF2-40B4-BE49-F238E27FC236}">
                  <a16:creationId xmlns:a16="http://schemas.microsoft.com/office/drawing/2014/main" id="{6378FA58-89BE-4C88-B8D7-F7C924B373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4" y="254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b</a:t>
              </a:r>
            </a:p>
          </p:txBody>
        </p:sp>
        <p:sp>
          <p:nvSpPr>
            <p:cNvPr id="123959" name="Oval 55">
              <a:extLst>
                <a:ext uri="{FF2B5EF4-FFF2-40B4-BE49-F238E27FC236}">
                  <a16:creationId xmlns:a16="http://schemas.microsoft.com/office/drawing/2014/main" id="{A2CF09F1-4BA1-44DF-926B-EFB720930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326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60" name="Line 56">
              <a:extLst>
                <a:ext uri="{FF2B5EF4-FFF2-40B4-BE49-F238E27FC236}">
                  <a16:creationId xmlns:a16="http://schemas.microsoft.com/office/drawing/2014/main" id="{358A39B4-8237-43DE-8781-362F6A8511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84"/>
              <a:ext cx="480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61" name="Text Box 57">
              <a:extLst>
                <a:ext uri="{FF2B5EF4-FFF2-40B4-BE49-F238E27FC236}">
                  <a16:creationId xmlns:a16="http://schemas.microsoft.com/office/drawing/2014/main" id="{7227CF6B-EC08-4692-B787-5F107D9F39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68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a</a:t>
              </a:r>
            </a:p>
          </p:txBody>
        </p:sp>
        <p:sp>
          <p:nvSpPr>
            <p:cNvPr id="123962" name="Oval 58">
              <a:extLst>
                <a:ext uri="{FF2B5EF4-FFF2-40B4-BE49-F238E27FC236}">
                  <a16:creationId xmlns:a16="http://schemas.microsoft.com/office/drawing/2014/main" id="{33F5AE92-918B-470C-BC60-28D6BE7EE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2400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63" name="Oval 59">
              <a:extLst>
                <a:ext uri="{FF2B5EF4-FFF2-40B4-BE49-F238E27FC236}">
                  <a16:creationId xmlns:a16="http://schemas.microsoft.com/office/drawing/2014/main" id="{63ADCE0B-6806-4A83-BC71-F9B3F5107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" y="1824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23964" name="Line 60">
              <a:extLst>
                <a:ext uri="{FF2B5EF4-FFF2-40B4-BE49-F238E27FC236}">
                  <a16:creationId xmlns:a16="http://schemas.microsoft.com/office/drawing/2014/main" id="{6756A086-737E-4375-B437-0A783C62FD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2640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65" name="Text Box 61">
              <a:extLst>
                <a:ext uri="{FF2B5EF4-FFF2-40B4-BE49-F238E27FC236}">
                  <a16:creationId xmlns:a16="http://schemas.microsoft.com/office/drawing/2014/main" id="{39ADCC6A-3213-4537-8555-63AC7AA87F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32" y="201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3966" name="Text Box 62">
              <a:extLst>
                <a:ext uri="{FF2B5EF4-FFF2-40B4-BE49-F238E27FC236}">
                  <a16:creationId xmlns:a16="http://schemas.microsoft.com/office/drawing/2014/main" id="{74345BD8-F890-4BE4-9254-6BB8397E03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288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3967" name="Text Box 63">
              <a:extLst>
                <a:ext uri="{FF2B5EF4-FFF2-40B4-BE49-F238E27FC236}">
                  <a16:creationId xmlns:a16="http://schemas.microsoft.com/office/drawing/2014/main" id="{DC18CADD-5ADB-4164-9306-222885E2A6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880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3968" name="Text Box 64">
              <a:extLst>
                <a:ext uri="{FF2B5EF4-FFF2-40B4-BE49-F238E27FC236}">
                  <a16:creationId xmlns:a16="http://schemas.microsoft.com/office/drawing/2014/main" id="{C8926181-BFFD-4217-B866-44E90463BC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0" y="201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3969" name="Line 65">
              <a:extLst>
                <a:ext uri="{FF2B5EF4-FFF2-40B4-BE49-F238E27FC236}">
                  <a16:creationId xmlns:a16="http://schemas.microsoft.com/office/drawing/2014/main" id="{4F44C393-59BE-4C97-B0C2-2B81F63CE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40" y="2064"/>
              <a:ext cx="192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0" name="Line 66">
              <a:extLst>
                <a:ext uri="{FF2B5EF4-FFF2-40B4-BE49-F238E27FC236}">
                  <a16:creationId xmlns:a16="http://schemas.microsoft.com/office/drawing/2014/main" id="{A15CFDA3-C637-45CC-86C6-6AB02B49AA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28" y="2688"/>
              <a:ext cx="0" cy="6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1" name="Text Box 67">
              <a:extLst>
                <a:ext uri="{FF2B5EF4-FFF2-40B4-BE49-F238E27FC236}">
                  <a16:creationId xmlns:a16="http://schemas.microsoft.com/office/drawing/2014/main" id="{86326BE9-6D03-48E9-A32D-57551A3C55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54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</a:t>
              </a:r>
            </a:p>
          </p:txBody>
        </p:sp>
        <p:sp>
          <p:nvSpPr>
            <p:cNvPr id="123972" name="Text Box 68">
              <a:extLst>
                <a:ext uri="{FF2B5EF4-FFF2-40B4-BE49-F238E27FC236}">
                  <a16:creationId xmlns:a16="http://schemas.microsoft.com/office/drawing/2014/main" id="{4E38E542-9657-4D10-A808-FDDF45B25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6</a:t>
              </a:r>
            </a:p>
          </p:txBody>
        </p:sp>
        <p:sp>
          <p:nvSpPr>
            <p:cNvPr id="123973" name="Text Box 69">
              <a:extLst>
                <a:ext uri="{FF2B5EF4-FFF2-40B4-BE49-F238E27FC236}">
                  <a16:creationId xmlns:a16="http://schemas.microsoft.com/office/drawing/2014/main" id="{5E7BC20E-C52D-4A24-890E-A48899373C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5</a:t>
              </a:r>
            </a:p>
          </p:txBody>
        </p:sp>
        <p:sp>
          <p:nvSpPr>
            <p:cNvPr id="123974" name="Text Box 70">
              <a:extLst>
                <a:ext uri="{FF2B5EF4-FFF2-40B4-BE49-F238E27FC236}">
                  <a16:creationId xmlns:a16="http://schemas.microsoft.com/office/drawing/2014/main" id="{95D3708F-C1B6-4FA1-BB3A-64E094348A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4</a:t>
              </a:r>
            </a:p>
          </p:txBody>
        </p:sp>
        <p:sp>
          <p:nvSpPr>
            <p:cNvPr id="123975" name="Text Box 71">
              <a:extLst>
                <a:ext uri="{FF2B5EF4-FFF2-40B4-BE49-F238E27FC236}">
                  <a16:creationId xmlns:a16="http://schemas.microsoft.com/office/drawing/2014/main" id="{8DF3CA9D-7A34-4B37-AE5B-B11526EF00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3</a:t>
              </a:r>
            </a:p>
          </p:txBody>
        </p:sp>
        <p:sp>
          <p:nvSpPr>
            <p:cNvPr id="123976" name="Text Box 72">
              <a:extLst>
                <a:ext uri="{FF2B5EF4-FFF2-40B4-BE49-F238E27FC236}">
                  <a16:creationId xmlns:a16="http://schemas.microsoft.com/office/drawing/2014/main" id="{67C958C5-6097-425C-AA9A-49FD0A52BB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31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8</a:t>
              </a:r>
            </a:p>
          </p:txBody>
        </p:sp>
        <p:sp>
          <p:nvSpPr>
            <p:cNvPr id="123977" name="Text Box 73">
              <a:extLst>
                <a:ext uri="{FF2B5EF4-FFF2-40B4-BE49-F238E27FC236}">
                  <a16:creationId xmlns:a16="http://schemas.microsoft.com/office/drawing/2014/main" id="{00AE440B-432E-4B65-966E-F5AC9750A1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2</a:t>
              </a:r>
            </a:p>
          </p:txBody>
        </p:sp>
        <p:sp>
          <p:nvSpPr>
            <p:cNvPr id="123978" name="Text Box 74">
              <a:extLst>
                <a:ext uri="{FF2B5EF4-FFF2-40B4-BE49-F238E27FC236}">
                  <a16:creationId xmlns:a16="http://schemas.microsoft.com/office/drawing/2014/main" id="{6C771F40-164E-4144-97E3-F6C96F67E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64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10</a:t>
              </a:r>
            </a:p>
          </p:txBody>
        </p:sp>
        <p:sp>
          <p:nvSpPr>
            <p:cNvPr id="123979" name="Text Box 75">
              <a:extLst>
                <a:ext uri="{FF2B5EF4-FFF2-40B4-BE49-F238E27FC236}">
                  <a16:creationId xmlns:a16="http://schemas.microsoft.com/office/drawing/2014/main" id="{64669397-9EDE-42AE-A87B-36C85C9354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31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9</a:t>
              </a:r>
            </a:p>
          </p:txBody>
        </p:sp>
        <p:sp>
          <p:nvSpPr>
            <p:cNvPr id="123980" name="Text Box 76">
              <a:extLst>
                <a:ext uri="{FF2B5EF4-FFF2-40B4-BE49-F238E27FC236}">
                  <a16:creationId xmlns:a16="http://schemas.microsoft.com/office/drawing/2014/main" id="{2564F623-6ACD-4259-8BBE-CBC45FDEE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326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12</a:t>
              </a:r>
            </a:p>
          </p:txBody>
        </p:sp>
        <p:sp>
          <p:nvSpPr>
            <p:cNvPr id="123981" name="Text Box 77">
              <a:extLst>
                <a:ext uri="{FF2B5EF4-FFF2-40B4-BE49-F238E27FC236}">
                  <a16:creationId xmlns:a16="http://schemas.microsoft.com/office/drawing/2014/main" id="{CD44D429-B670-4825-A6F1-848578017E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26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13</a:t>
              </a:r>
            </a:p>
          </p:txBody>
        </p:sp>
        <p:sp>
          <p:nvSpPr>
            <p:cNvPr id="123982" name="Text Box 78">
              <a:extLst>
                <a:ext uri="{FF2B5EF4-FFF2-40B4-BE49-F238E27FC236}">
                  <a16:creationId xmlns:a16="http://schemas.microsoft.com/office/drawing/2014/main" id="{09A2BB2B-D386-4D94-AEF5-220E48992D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326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14</a:t>
              </a:r>
            </a:p>
          </p:txBody>
        </p:sp>
        <p:sp>
          <p:nvSpPr>
            <p:cNvPr id="123983" name="Text Box 79">
              <a:extLst>
                <a:ext uri="{FF2B5EF4-FFF2-40B4-BE49-F238E27FC236}">
                  <a16:creationId xmlns:a16="http://schemas.microsoft.com/office/drawing/2014/main" id="{8BDCF019-F5F1-4AC5-AFBE-F43E316CB1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64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11</a:t>
              </a:r>
            </a:p>
          </p:txBody>
        </p:sp>
        <p:sp>
          <p:nvSpPr>
            <p:cNvPr id="123984" name="Text Box 80">
              <a:extLst>
                <a:ext uri="{FF2B5EF4-FFF2-40B4-BE49-F238E27FC236}">
                  <a16:creationId xmlns:a16="http://schemas.microsoft.com/office/drawing/2014/main" id="{1FC731E2-D2C8-4CD0-8326-82FC266AA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264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15</a:t>
              </a:r>
            </a:p>
          </p:txBody>
        </p:sp>
        <p:sp>
          <p:nvSpPr>
            <p:cNvPr id="123985" name="Text Box 81">
              <a:extLst>
                <a:ext uri="{FF2B5EF4-FFF2-40B4-BE49-F238E27FC236}">
                  <a16:creationId xmlns:a16="http://schemas.microsoft.com/office/drawing/2014/main" id="{E734DDF2-C95A-4232-A4A0-3221AD281F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0" y="187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7</a:t>
              </a:r>
            </a:p>
          </p:txBody>
        </p:sp>
        <p:sp>
          <p:nvSpPr>
            <p:cNvPr id="123986" name="Text Box 82">
              <a:extLst>
                <a:ext uri="{FF2B5EF4-FFF2-40B4-BE49-F238E27FC236}">
                  <a16:creationId xmlns:a16="http://schemas.microsoft.com/office/drawing/2014/main" id="{57D1FF4A-3B2A-441C-86B5-DAA4F10F7D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3264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16</a:t>
              </a:r>
            </a:p>
          </p:txBody>
        </p:sp>
        <p:sp>
          <p:nvSpPr>
            <p:cNvPr id="123987" name="Text Box 83">
              <a:extLst>
                <a:ext uri="{FF2B5EF4-FFF2-40B4-BE49-F238E27FC236}">
                  <a16:creationId xmlns:a16="http://schemas.microsoft.com/office/drawing/2014/main" id="{EE43D92D-7762-445D-9554-50560BC211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240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17</a:t>
              </a:r>
            </a:p>
          </p:txBody>
        </p:sp>
        <p:sp>
          <p:nvSpPr>
            <p:cNvPr id="123988" name="Text Box 84">
              <a:extLst>
                <a:ext uri="{FF2B5EF4-FFF2-40B4-BE49-F238E27FC236}">
                  <a16:creationId xmlns:a16="http://schemas.microsoft.com/office/drawing/2014/main" id="{14C3C3A6-571B-4F51-8110-956E7A528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23989" name="Text Box 85">
              <a:extLst>
                <a:ext uri="{FF2B5EF4-FFF2-40B4-BE49-F238E27FC236}">
                  <a16:creationId xmlns:a16="http://schemas.microsoft.com/office/drawing/2014/main" id="{455A0C00-DBC9-4915-8DA7-D786DA0252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3168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</p:grp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0E4C8D5C-7D9B-4C72-99C6-5E96E85CA6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正规式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r>
              <a:rPr lang="en-US" altLang="zh-CN">
                <a:sym typeface="Wingdings" panose="05000000000000000000" pitchFamily="2" charset="2"/>
              </a:rPr>
              <a:t>NFA</a:t>
            </a:r>
            <a:r>
              <a:rPr lang="zh-CN" altLang="en-US">
                <a:sym typeface="Wingdings" panose="05000000000000000000" pitchFamily="2" charset="2"/>
              </a:rPr>
              <a:t>练习</a:t>
            </a:r>
            <a:endParaRPr lang="zh-CN" altLang="en-US"/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6EECCA2E-99D5-402C-80CD-B9DE049678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solidFill>
                  <a:srgbClr val="3333CC"/>
                </a:solidFill>
              </a:rPr>
              <a:t>((</a:t>
            </a:r>
            <a:r>
              <a:rPr lang="en-US" altLang="zh-CN" dirty="0">
                <a:solidFill>
                  <a:srgbClr val="3333CC"/>
                </a:solidFill>
                <a:latin typeface="Symbol" panose="05050102010706020507" pitchFamily="18" charset="2"/>
              </a:rPr>
              <a:t>e</a:t>
            </a:r>
            <a:r>
              <a:rPr lang="en-US" altLang="zh-CN" dirty="0">
                <a:solidFill>
                  <a:srgbClr val="3333CC"/>
                </a:solidFill>
              </a:rPr>
              <a:t> | a)b*)*</a:t>
            </a:r>
            <a:r>
              <a:rPr lang="en-US" altLang="zh-CN" dirty="0"/>
              <a:t> </a:t>
            </a:r>
          </a:p>
        </p:txBody>
      </p:sp>
      <p:pic>
        <p:nvPicPr>
          <p:cNvPr id="361476" name="Picture 4" descr="16c">
            <a:extLst>
              <a:ext uri="{FF2B5EF4-FFF2-40B4-BE49-F238E27FC236}">
                <a16:creationId xmlns:a16="http://schemas.microsoft.com/office/drawing/2014/main" id="{28A806C3-226C-416C-8EBB-E260AD6A9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38400"/>
            <a:ext cx="8050213" cy="246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73AE731A-D55F-4C01-9A57-6CF6DB9574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3.6.3  NFA</a:t>
            </a:r>
            <a:r>
              <a:rPr lang="zh-CN" altLang="en-US"/>
              <a:t>到</a:t>
            </a:r>
            <a:r>
              <a:rPr lang="en-US" altLang="zh-CN"/>
              <a:t>DFA</a:t>
            </a:r>
            <a:r>
              <a:rPr lang="zh-CN" altLang="en-US"/>
              <a:t>的转换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9FA8FFBC-A288-4E9C-8B44-A0B53B7EC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/>
            <a:r>
              <a:rPr lang="zh-CN" altLang="en-US"/>
              <a:t>原因</a:t>
            </a:r>
          </a:p>
          <a:p>
            <a:pPr lvl="1" eaLnBrk="1" hangingPunct="1"/>
            <a:r>
              <a:rPr lang="zh-CN" altLang="en-US"/>
              <a:t>正规式</a:t>
            </a:r>
            <a:r>
              <a:rPr lang="en-US" altLang="zh-CN">
                <a:latin typeface="Tahoma" panose="020B0604030504040204" pitchFamily="34" charset="0"/>
              </a:rPr>
              <a:t>——</a:t>
            </a:r>
            <a:r>
              <a:rPr lang="en-US" altLang="zh-CN">
                <a:sym typeface="Wingdings" panose="05000000000000000000" pitchFamily="2" charset="2"/>
              </a:rPr>
              <a:t>NFA</a:t>
            </a: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但</a:t>
            </a:r>
            <a:r>
              <a:rPr lang="en-US" altLang="zh-CN">
                <a:sym typeface="Wingdings" panose="05000000000000000000" pitchFamily="2" charset="2"/>
              </a:rPr>
              <a:t>NFA</a:t>
            </a:r>
            <a:r>
              <a:rPr lang="zh-CN" altLang="en-US">
                <a:sym typeface="Wingdings" panose="05000000000000000000" pitchFamily="2" charset="2"/>
              </a:rPr>
              <a:t>存在缺点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同一符号</a:t>
            </a:r>
            <a:r>
              <a:rPr lang="en-US" altLang="zh-CN">
                <a:sym typeface="Wingdings" panose="05000000000000000000" pitchFamily="2" charset="2"/>
              </a:rPr>
              <a:t>/ 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>
                <a:sym typeface="Symbol" panose="05050102010706020507" pitchFamily="18" charset="2"/>
              </a:rPr>
              <a:t>和其它符号</a:t>
            </a:r>
            <a:r>
              <a:rPr kumimoji="0" lang="zh-CN" altLang="en-US">
                <a:sym typeface="Wingdings" panose="05000000000000000000" pitchFamily="2" charset="2"/>
              </a:rPr>
              <a:t></a:t>
            </a:r>
            <a:r>
              <a:rPr kumimoji="0" lang="zh-CN" altLang="en-US">
                <a:sym typeface="Symbol" panose="05050102010706020507" pitchFamily="18" charset="2"/>
              </a:rPr>
              <a:t>多义性</a:t>
            </a:r>
            <a:br>
              <a:rPr kumimoji="0" lang="zh-CN" altLang="en-US">
                <a:sym typeface="Symbol" panose="05050102010706020507" pitchFamily="18" charset="2"/>
              </a:rPr>
            </a:br>
            <a:r>
              <a:rPr kumimoji="0" lang="zh-CN" altLang="en-US">
                <a:sym typeface="Symbol" panose="05050102010706020507" pitchFamily="18" charset="2"/>
              </a:rPr>
              <a:t>难以实现</a:t>
            </a:r>
          </a:p>
        </p:txBody>
      </p:sp>
      <p:sp>
        <p:nvSpPr>
          <p:cNvPr id="125956" name="Text Box 4">
            <a:extLst>
              <a:ext uri="{FF2B5EF4-FFF2-40B4-BE49-F238E27FC236}">
                <a16:creationId xmlns:a16="http://schemas.microsoft.com/office/drawing/2014/main" id="{A1948D6E-6C28-4AD2-A0FA-91EE3FFF3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7526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简单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08231531-4A66-498C-AEA3-521363C98E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3.2</a:t>
            </a:r>
            <a:r>
              <a:rPr lang="zh-CN" altLang="en-US"/>
              <a:t>：</a:t>
            </a:r>
            <a:r>
              <a:rPr lang="en-US" altLang="zh-CN"/>
              <a:t>NFA</a:t>
            </a:r>
            <a:r>
              <a:rPr lang="zh-CN" altLang="en-US"/>
              <a:t>转换为</a:t>
            </a:r>
            <a:r>
              <a:rPr lang="en-US" altLang="zh-CN"/>
              <a:t>DFA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9382F080-171E-49AE-9EFD-B2C9D99164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/>
              <a:t>输入：一个</a:t>
            </a:r>
            <a:r>
              <a:rPr kumimoji="0" lang="en-US" altLang="zh-CN" sz="2400"/>
              <a:t>NFA N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/>
              <a:t>输出：一个</a:t>
            </a:r>
            <a:r>
              <a:rPr kumimoji="0" lang="en-US" altLang="zh-CN" sz="2400"/>
              <a:t>DFA D</a:t>
            </a:r>
            <a:r>
              <a:rPr kumimoji="0" lang="zh-CN" altLang="en-US" sz="2400"/>
              <a:t>，</a:t>
            </a:r>
            <a:r>
              <a:rPr kumimoji="0" lang="en-US" altLang="zh-CN" sz="2400"/>
              <a:t>L(D)=L(N)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/>
              <a:t>算法中用到下列操作，其中</a:t>
            </a:r>
            <a:r>
              <a:rPr kumimoji="0" lang="en-US" altLang="zh-CN" sz="2400"/>
              <a:t>s</a:t>
            </a:r>
            <a:r>
              <a:rPr kumimoji="0" lang="zh-CN" altLang="en-US" sz="2400"/>
              <a:t>表示</a:t>
            </a:r>
            <a:r>
              <a:rPr kumimoji="0" lang="en-US" altLang="zh-CN" sz="2400"/>
              <a:t>NFA</a:t>
            </a:r>
            <a:r>
              <a:rPr kumimoji="0" lang="zh-CN" altLang="en-US" sz="2400"/>
              <a:t>的一个状态，</a:t>
            </a:r>
            <a:r>
              <a:rPr kumimoji="0" lang="en-US" altLang="zh-CN" sz="2400"/>
              <a:t>T</a:t>
            </a:r>
            <a:r>
              <a:rPr kumimoji="0" lang="zh-CN" altLang="en-US" sz="2400"/>
              <a:t>表示</a:t>
            </a:r>
            <a:r>
              <a:rPr kumimoji="0" lang="en-US" altLang="zh-CN" sz="2400"/>
              <a:t>NFA</a:t>
            </a:r>
            <a:r>
              <a:rPr kumimoji="0" lang="zh-CN" altLang="en-US" sz="2400"/>
              <a:t>的一个状态集</a:t>
            </a:r>
          </a:p>
        </p:txBody>
      </p:sp>
      <p:grpSp>
        <p:nvGrpSpPr>
          <p:cNvPr id="126980" name="Group 4">
            <a:extLst>
              <a:ext uri="{FF2B5EF4-FFF2-40B4-BE49-F238E27FC236}">
                <a16:creationId xmlns:a16="http://schemas.microsoft.com/office/drawing/2014/main" id="{B299C446-CBE0-4760-BFEF-559491343136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276600"/>
            <a:ext cx="8001000" cy="2843213"/>
            <a:chOff x="624" y="2006"/>
            <a:chExt cx="5040" cy="1664"/>
          </a:xfrm>
        </p:grpSpPr>
        <p:sp>
          <p:nvSpPr>
            <p:cNvPr id="126981" name="Text Box 5">
              <a:extLst>
                <a:ext uri="{FF2B5EF4-FFF2-40B4-BE49-F238E27FC236}">
                  <a16:creationId xmlns:a16="http://schemas.microsoft.com/office/drawing/2014/main" id="{46B7582F-DF5C-4127-88AA-68E54A3E60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100"/>
              <a:ext cx="1152" cy="1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0">
                  <a:ea typeface="黑体" panose="02010609060101010101" pitchFamily="49" charset="-122"/>
                </a:rPr>
                <a:t>操作</a:t>
              </a: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 b="0">
                  <a:latin typeface="Tahoma" panose="020B0604030504040204" pitchFamily="34" charset="0"/>
                  <a:sym typeface="Symbol" panose="05050102010706020507" pitchFamily="18" charset="2"/>
                </a:rPr>
                <a:t>-closure(s)</a:t>
              </a:r>
              <a:br>
                <a:rPr kumimoji="0" lang="en-US" altLang="zh-CN" sz="2000" b="0">
                  <a:ea typeface="黑体" panose="02010609060101010101" pitchFamily="49" charset="-122"/>
                </a:rPr>
              </a:br>
              <a:r>
                <a:rPr kumimoji="0" lang="en-US" altLang="zh-CN" sz="2000" b="0">
                  <a:ea typeface="黑体" panose="02010609060101010101" pitchFamily="49" charset="-122"/>
                </a:rPr>
                <a:t> </a:t>
              </a:r>
              <a:r>
                <a:rPr kumimoji="0" lang="zh-CN" altLang="en-US" sz="2000" b="0">
                  <a:latin typeface="黑体" panose="02010609060101010101" pitchFamily="49" charset="-122"/>
                  <a:ea typeface="黑体" panose="02010609060101010101" pitchFamily="49" charset="-122"/>
                </a:rPr>
                <a:t>（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zh-CN" altLang="en-US" sz="2000" b="0">
                  <a:latin typeface="黑体" panose="02010609060101010101" pitchFamily="49" charset="-122"/>
                  <a:ea typeface="黑体" panose="02010609060101010101" pitchFamily="49" charset="-122"/>
                  <a:sym typeface="Symbol" panose="05050102010706020507" pitchFamily="18" charset="2"/>
                </a:rPr>
                <a:t>闭包）</a:t>
              </a:r>
              <a:endParaRPr kumimoji="0" lang="zh-CN" altLang="en-US" sz="2000" b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 b="0">
                  <a:latin typeface="Tahoma" panose="020B0604030504040204" pitchFamily="34" charset="0"/>
                  <a:sym typeface="Symbol" panose="05050102010706020507" pitchFamily="18" charset="2"/>
                </a:rPr>
                <a:t>-closure(T)</a:t>
              </a:r>
              <a:r>
                <a:rPr kumimoji="0" lang="en-US" altLang="zh-CN" sz="2000" b="0">
                  <a:ea typeface="黑体" panose="02010609060101010101" pitchFamily="49" charset="-122"/>
                </a:rPr>
                <a:t> </a:t>
              </a:r>
              <a:br>
                <a:rPr kumimoji="0" lang="en-US" altLang="zh-CN" sz="2000" b="0">
                  <a:ea typeface="黑体" panose="02010609060101010101" pitchFamily="49" charset="-122"/>
                </a:rPr>
              </a:br>
              <a:endParaRPr kumimoji="0" lang="en-US" altLang="zh-CN" sz="2000" b="0">
                <a:ea typeface="黑体" panose="02010609060101010101" pitchFamily="49" charset="-122"/>
              </a:endParaRPr>
            </a:p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000" b="0">
                  <a:latin typeface="Symbol" panose="05050102010706020507" pitchFamily="18" charset="2"/>
                </a:rPr>
                <a:t>d</a:t>
              </a:r>
              <a:r>
                <a:rPr lang="en-US" altLang="zh-CN" sz="2000" b="0">
                  <a:latin typeface="Tahoma" panose="020B0604030504040204" pitchFamily="34" charset="0"/>
                </a:rPr>
                <a:t>(T, a)</a:t>
              </a:r>
              <a:r>
                <a:rPr kumimoji="0" lang="en-US" altLang="zh-CN" sz="2000" b="0">
                  <a:latin typeface="Tahoma" panose="020B0604030504040204" pitchFamily="34" charset="0"/>
                  <a:ea typeface="黑体" panose="02010609060101010101" pitchFamily="49" charset="-122"/>
                </a:rPr>
                <a:t> </a:t>
              </a:r>
              <a:br>
                <a:rPr kumimoji="0" lang="en-US" altLang="zh-CN" sz="2000" b="0">
                  <a:latin typeface="Tahoma" panose="020B0604030504040204" pitchFamily="34" charset="0"/>
                  <a:ea typeface="黑体" panose="02010609060101010101" pitchFamily="49" charset="-122"/>
                </a:rPr>
              </a:br>
              <a:endParaRPr kumimoji="0" lang="en-US" altLang="zh-CN" sz="2000" b="0">
                <a:latin typeface="Tahoma" panose="020B060403050404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26982" name="Line 6">
              <a:extLst>
                <a:ext uri="{FF2B5EF4-FFF2-40B4-BE49-F238E27FC236}">
                  <a16:creationId xmlns:a16="http://schemas.microsoft.com/office/drawing/2014/main" id="{0C873FBA-A655-47C4-AF43-A584CBFE6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082"/>
              <a:ext cx="5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983" name="Line 7">
              <a:extLst>
                <a:ext uri="{FF2B5EF4-FFF2-40B4-BE49-F238E27FC236}">
                  <a16:creationId xmlns:a16="http://schemas.microsoft.com/office/drawing/2014/main" id="{8AF4C02F-DDF7-40CC-980B-AD4AD8BC6A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006"/>
              <a:ext cx="5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984" name="Line 8">
              <a:extLst>
                <a:ext uri="{FF2B5EF4-FFF2-40B4-BE49-F238E27FC236}">
                  <a16:creationId xmlns:a16="http://schemas.microsoft.com/office/drawing/2014/main" id="{8645BB25-530E-4453-9938-D6FD636A44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390"/>
              <a:ext cx="5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985" name="Line 9">
              <a:extLst>
                <a:ext uri="{FF2B5EF4-FFF2-40B4-BE49-F238E27FC236}">
                  <a16:creationId xmlns:a16="http://schemas.microsoft.com/office/drawing/2014/main" id="{51B7BED6-15AE-4D56-8165-6A3A87ED8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082"/>
              <a:ext cx="0" cy="147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986" name="Text Box 10">
              <a:extLst>
                <a:ext uri="{FF2B5EF4-FFF2-40B4-BE49-F238E27FC236}">
                  <a16:creationId xmlns:a16="http://schemas.microsoft.com/office/drawing/2014/main" id="{33627B46-14A2-42C6-A4D5-5BD271D779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102"/>
              <a:ext cx="3792" cy="1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000" b="0" dirty="0">
                  <a:ea typeface="黑体" panose="02010609060101010101" pitchFamily="49" charset="-122"/>
                </a:rPr>
                <a:t>描述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0" dirty="0"/>
                <a:t>s</a:t>
              </a:r>
              <a:r>
                <a:rPr kumimoji="0" lang="zh-CN" altLang="en-US" sz="2000" b="0" dirty="0"/>
                <a:t>以及从</a:t>
              </a:r>
              <a:r>
                <a:rPr kumimoji="0" lang="en-US" altLang="zh-CN" sz="2000" b="0" dirty="0"/>
                <a:t>s</a:t>
              </a:r>
              <a:r>
                <a:rPr kumimoji="0" lang="zh-CN" altLang="en-US" sz="2000" b="0" dirty="0"/>
                <a:t>出发仅通过</a:t>
              </a:r>
              <a:r>
                <a:rPr kumimoji="0" lang="en-US" altLang="zh-CN" sz="2000" b="0" dirty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zh-CN" altLang="en-US" sz="2000" b="0" dirty="0">
                  <a:sym typeface="Symbol" panose="05050102010706020507" pitchFamily="18" charset="2"/>
                </a:rPr>
                <a:t>边可到达的所有状态的集合</a:t>
              </a:r>
              <a:br>
                <a:rPr kumimoji="0" lang="zh-CN" altLang="en-US" sz="2000" b="0" dirty="0">
                  <a:sym typeface="Symbol" panose="05050102010706020507" pitchFamily="18" charset="2"/>
                </a:rPr>
              </a:br>
              <a:br>
                <a:rPr kumimoji="0" lang="zh-CN" altLang="en-US" sz="2000" b="0" dirty="0">
                  <a:sym typeface="Symbol" panose="05050102010706020507" pitchFamily="18" charset="2"/>
                </a:rPr>
              </a:br>
              <a:r>
                <a:rPr kumimoji="0" lang="zh-CN" altLang="en-US" sz="2000" b="0" dirty="0">
                  <a:sym typeface="Symbol" panose="05050102010706020507" pitchFamily="18" charset="2"/>
                </a:rPr>
                <a:t>∪</a:t>
              </a:r>
              <a:r>
                <a:rPr kumimoji="0" lang="en-US" altLang="zh-CN" sz="2000" b="0" dirty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 b="0" dirty="0">
                  <a:sym typeface="Symbol" panose="05050102010706020507" pitchFamily="18" charset="2"/>
                </a:rPr>
                <a:t>-closure(s), </a:t>
              </a:r>
              <a:r>
                <a:rPr kumimoji="0" lang="en-US" altLang="zh-CN" sz="2000" b="0" dirty="0" err="1">
                  <a:sym typeface="Symbol" panose="05050102010706020507" pitchFamily="18" charset="2"/>
                </a:rPr>
                <a:t>s</a:t>
              </a:r>
              <a:r>
                <a:rPr kumimoji="0" lang="en-US" altLang="zh-CN" sz="2000" b="0" dirty="0" err="1">
                  <a:latin typeface="+mn-lt"/>
                  <a:sym typeface="Symbol" panose="05050102010706020507" pitchFamily="18" charset="2"/>
                </a:rPr>
                <a:t>∈</a:t>
              </a:r>
              <a:r>
                <a:rPr kumimoji="0" lang="en-US" altLang="zh-CN" sz="2000" b="0" dirty="0" err="1">
                  <a:sym typeface="Symbol" panose="05050102010706020507" pitchFamily="18" charset="2"/>
                </a:rPr>
                <a:t>T</a:t>
              </a:r>
              <a:br>
                <a:rPr kumimoji="0" lang="en-US" altLang="zh-CN" sz="2000" b="0" dirty="0">
                  <a:sym typeface="Symbol" panose="05050102010706020507" pitchFamily="18" charset="2"/>
                </a:rPr>
              </a:br>
              <a:endParaRPr kumimoji="0" lang="en-US" altLang="zh-CN" sz="2000" b="0" dirty="0"/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0" dirty="0">
                  <a:sym typeface="Symbol" panose="05050102010706020507" pitchFamily="18" charset="2"/>
                </a:rPr>
                <a:t>∪</a:t>
              </a:r>
              <a:r>
                <a:rPr lang="en-US" altLang="zh-CN" sz="2000" b="0" dirty="0">
                  <a:latin typeface="Symbol" panose="05050102010706020507" pitchFamily="18" charset="2"/>
                </a:rPr>
                <a:t>d</a:t>
              </a:r>
              <a:r>
                <a:rPr lang="en-US" altLang="zh-CN" sz="2000" b="0" dirty="0"/>
                <a:t>(s, a)</a:t>
              </a:r>
              <a:r>
                <a:rPr kumimoji="0" lang="en-US" altLang="zh-CN" sz="2000" b="0" dirty="0">
                  <a:ea typeface="黑体" panose="02010609060101010101" pitchFamily="49" charset="-122"/>
                </a:rPr>
                <a:t>, </a:t>
              </a:r>
              <a:r>
                <a:rPr kumimoji="0" lang="en-US" altLang="zh-CN" sz="2000" b="0" dirty="0" err="1">
                  <a:sym typeface="Symbol" panose="05050102010706020507" pitchFamily="18" charset="2"/>
                </a:rPr>
                <a:t>s∈T</a:t>
              </a:r>
              <a:endParaRPr kumimoji="0" lang="en-US" altLang="zh-CN" sz="2000" b="0" dirty="0">
                <a:sym typeface="Symbol" panose="05050102010706020507" pitchFamily="18" charset="2"/>
              </a:endParaRPr>
            </a:p>
          </p:txBody>
        </p:sp>
        <p:sp>
          <p:nvSpPr>
            <p:cNvPr id="126987" name="Line 11">
              <a:extLst>
                <a:ext uri="{FF2B5EF4-FFF2-40B4-BE49-F238E27FC236}">
                  <a16:creationId xmlns:a16="http://schemas.microsoft.com/office/drawing/2014/main" id="{34170B06-9A4E-46C4-9199-5EA1D94EEA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784"/>
              <a:ext cx="5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988" name="Line 12">
              <a:extLst>
                <a:ext uri="{FF2B5EF4-FFF2-40B4-BE49-F238E27FC236}">
                  <a16:creationId xmlns:a16="http://schemas.microsoft.com/office/drawing/2014/main" id="{920C94E6-7DC3-4B61-B36C-9972FA62E1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168"/>
              <a:ext cx="5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989" name="Line 13">
              <a:extLst>
                <a:ext uri="{FF2B5EF4-FFF2-40B4-BE49-F238E27FC236}">
                  <a16:creationId xmlns:a16="http://schemas.microsoft.com/office/drawing/2014/main" id="{CEB849CC-2A16-467D-BF04-68E459E4B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552"/>
              <a:ext cx="50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6AE4141E-4B33-4C14-AD53-90707DC28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子集构造法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5D51452D-7D2D-4C1F-8BB3-EBE8A72A22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41960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3333CC"/>
                </a:solidFill>
                <a:sym typeface="Symbol" panose="05050102010706020507" pitchFamily="18" charset="2"/>
              </a:rPr>
              <a:t>NFA</a:t>
            </a:r>
            <a:r>
              <a:rPr lang="en-US" altLang="zh-CN" dirty="0">
                <a:solidFill>
                  <a:srgbClr val="3333CC"/>
                </a:solidFill>
                <a:sym typeface="Wingdings" panose="05000000000000000000" pitchFamily="2" charset="2"/>
              </a:rPr>
              <a:t>DFA</a:t>
            </a:r>
            <a:r>
              <a:rPr lang="zh-CN" altLang="en-US" dirty="0">
                <a:solidFill>
                  <a:srgbClr val="3333CC"/>
                </a:solidFill>
                <a:sym typeface="Wingdings" panose="05000000000000000000" pitchFamily="2" charset="2"/>
              </a:rPr>
              <a:t>，等价性是第一位的</a:t>
            </a:r>
            <a:endParaRPr lang="en-US" altLang="zh-CN" dirty="0">
              <a:solidFill>
                <a:srgbClr val="3333CC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kumimoji="0" lang="en-US" altLang="zh-CN" dirty="0">
                <a:solidFill>
                  <a:srgbClr val="FF3300"/>
                </a:solidFill>
                <a:sym typeface="Symbol" panose="05050102010706020507" pitchFamily="18" charset="2"/>
              </a:rPr>
              <a:t>subset construction</a:t>
            </a:r>
            <a:endParaRPr kumimoji="0" lang="en-US" altLang="zh-CN" dirty="0">
              <a:sym typeface="Symbol" panose="05050102010706020507" pitchFamily="18" charset="2"/>
            </a:endParaRP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什么是</a:t>
            </a:r>
            <a:r>
              <a:rPr lang="en-US" altLang="zh-CN" dirty="0">
                <a:sym typeface="Wingdings" panose="05000000000000000000" pitchFamily="2" charset="2"/>
              </a:rPr>
              <a:t>NFA</a:t>
            </a:r>
            <a:r>
              <a:rPr lang="zh-CN" altLang="en-US" dirty="0">
                <a:sym typeface="Wingdings" panose="05000000000000000000" pitchFamily="2" charset="2"/>
              </a:rPr>
              <a:t>？输入符号串，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输出状态集</a:t>
            </a:r>
            <a:b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lang="zh-CN" altLang="en-US" dirty="0">
                <a:sym typeface="Wingdings" panose="05000000000000000000" pitchFamily="2" charset="2"/>
              </a:rPr>
              <a:t>什么是</a:t>
            </a:r>
            <a:r>
              <a:rPr lang="en-US" altLang="zh-CN" dirty="0">
                <a:sym typeface="Wingdings" panose="05000000000000000000" pitchFamily="2" charset="2"/>
              </a:rPr>
              <a:t>DFA</a:t>
            </a:r>
            <a:r>
              <a:rPr lang="zh-CN" altLang="en-US" dirty="0">
                <a:sym typeface="Wingdings" panose="05000000000000000000" pitchFamily="2" charset="2"/>
              </a:rPr>
              <a:t>？输入符号串，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输出状态</a:t>
            </a:r>
          </a:p>
          <a:p>
            <a:pPr lvl="1" eaLnBrk="1" hangingPunct="1"/>
            <a:r>
              <a:rPr lang="en-US" altLang="zh-CN" dirty="0">
                <a:sym typeface="Wingdings" panose="05000000000000000000" pitchFamily="2" charset="2"/>
              </a:rPr>
              <a:t>NFA</a:t>
            </a:r>
            <a:r>
              <a:rPr lang="zh-CN" altLang="en-US" dirty="0">
                <a:sym typeface="Wingdings" panose="05000000000000000000" pitchFamily="2" charset="2"/>
              </a:rPr>
              <a:t>、</a:t>
            </a:r>
            <a:r>
              <a:rPr lang="en-US" altLang="zh-CN" dirty="0">
                <a:sym typeface="Wingdings" panose="05000000000000000000" pitchFamily="2" charset="2"/>
              </a:rPr>
              <a:t>DFA</a:t>
            </a:r>
            <a:r>
              <a:rPr lang="zh-CN" altLang="en-US" dirty="0">
                <a:sym typeface="Wingdings" panose="05000000000000000000" pitchFamily="2" charset="2"/>
              </a:rPr>
              <a:t>等价意味着什么？输入任意符号串，</a:t>
            </a:r>
            <a:r>
              <a:rPr lang="zh-CN" altLang="en-US" dirty="0">
                <a:solidFill>
                  <a:srgbClr val="FF0000"/>
                </a:solidFill>
                <a:sym typeface="Wingdings" panose="05000000000000000000" pitchFamily="2" charset="2"/>
              </a:rPr>
              <a:t>输出相同结果</a:t>
            </a:r>
          </a:p>
          <a:p>
            <a:pPr lvl="1" eaLnBrk="1" hangingPunct="1"/>
            <a:r>
              <a:rPr lang="en-US" altLang="zh-CN" dirty="0">
                <a:sym typeface="Wingdings" panose="05000000000000000000" pitchFamily="2" charset="2"/>
              </a:rPr>
              <a:t>DFA</a:t>
            </a:r>
            <a:r>
              <a:rPr lang="zh-CN" altLang="en-US" dirty="0">
                <a:sym typeface="Wingdings" panose="05000000000000000000" pitchFamily="2" charset="2"/>
              </a:rPr>
              <a:t>状态</a:t>
            </a:r>
            <a:r>
              <a:rPr lang="en-US" altLang="zh-CN" dirty="0">
                <a:sym typeface="Wingdings" panose="05000000000000000000" pitchFamily="2" charset="2"/>
              </a:rPr>
              <a:t>NFA</a:t>
            </a:r>
            <a:r>
              <a:rPr lang="zh-CN" altLang="en-US" dirty="0">
                <a:sym typeface="Wingdings" panose="05000000000000000000" pitchFamily="2" charset="2"/>
              </a:rPr>
              <a:t>状态集！</a:t>
            </a:r>
          </a:p>
          <a:p>
            <a:pPr lvl="1" eaLnBrk="1" hangingPunct="1"/>
            <a:r>
              <a:rPr lang="en-US" altLang="zh-CN" dirty="0">
                <a:sym typeface="Wingdings" panose="05000000000000000000" pitchFamily="2" charset="2"/>
              </a:rPr>
              <a:t>DFA</a:t>
            </a:r>
            <a:r>
              <a:rPr lang="zh-CN" altLang="en-US" dirty="0">
                <a:sym typeface="Wingdings" panose="05000000000000000000" pitchFamily="2" charset="2"/>
              </a:rPr>
              <a:t>状态</a:t>
            </a:r>
            <a:r>
              <a:rPr lang="en-US" altLang="zh-CN" dirty="0">
                <a:sym typeface="Wingdings" panose="05000000000000000000" pitchFamily="2" charset="2"/>
              </a:rPr>
              <a:t>s</a:t>
            </a:r>
            <a:r>
              <a:rPr lang="zh-CN" altLang="en-US" dirty="0">
                <a:sym typeface="Wingdings" panose="05000000000000000000" pitchFamily="2" charset="2"/>
              </a:rPr>
              <a:t>与</a:t>
            </a:r>
            <a:r>
              <a:rPr lang="en-US" altLang="zh-CN" dirty="0">
                <a:sym typeface="Wingdings" panose="05000000000000000000" pitchFamily="2" charset="2"/>
              </a:rPr>
              <a:t>NFA</a:t>
            </a:r>
            <a:r>
              <a:rPr lang="zh-CN" altLang="en-US" dirty="0">
                <a:sym typeface="Wingdings" panose="05000000000000000000" pitchFamily="2" charset="2"/>
              </a:rPr>
              <a:t>状态集</a:t>
            </a:r>
            <a:r>
              <a:rPr lang="en-US" altLang="zh-CN" dirty="0">
                <a:sym typeface="Wingdings" panose="05000000000000000000" pitchFamily="2" charset="2"/>
              </a:rPr>
              <a:t>T</a:t>
            </a:r>
            <a:r>
              <a:rPr lang="zh-CN" altLang="en-US" dirty="0">
                <a:sym typeface="Wingdings" panose="05000000000000000000" pitchFamily="2" charset="2"/>
              </a:rPr>
              <a:t>有对应关系，</a:t>
            </a:r>
            <a:br>
              <a:rPr lang="en-US" altLang="zh-CN" dirty="0">
                <a:sym typeface="Wingdings" panose="05000000000000000000" pitchFamily="2" charset="2"/>
              </a:rPr>
            </a:br>
            <a:r>
              <a:rPr lang="zh-CN" altLang="en-US" dirty="0">
                <a:sym typeface="Wingdings" panose="05000000000000000000" pitchFamily="2" charset="2"/>
              </a:rPr>
              <a:t>那么，输入</a:t>
            </a:r>
            <a:r>
              <a:rPr lang="en-US" altLang="zh-CN" dirty="0">
                <a:sym typeface="Wingdings" panose="05000000000000000000" pitchFamily="2" charset="2"/>
              </a:rPr>
              <a:t>a</a:t>
            </a:r>
            <a:r>
              <a:rPr lang="en-US" altLang="zh-CN" baseline="-25000" dirty="0"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a</a:t>
            </a:r>
            <a:r>
              <a:rPr lang="en-US" altLang="zh-CN" baseline="-25000" dirty="0">
                <a:sym typeface="Wingdings" panose="05000000000000000000" pitchFamily="2" charset="2"/>
              </a:rPr>
              <a:t>2</a:t>
            </a:r>
            <a:r>
              <a:rPr lang="en-US" altLang="zh-CN" dirty="0">
                <a:latin typeface="Tahoma" panose="020B0604030504040204" pitchFamily="34" charset="0"/>
                <a:sym typeface="Wingdings" panose="05000000000000000000" pitchFamily="2" charset="2"/>
              </a:rPr>
              <a:t>…</a:t>
            </a:r>
            <a:r>
              <a:rPr lang="en-US" altLang="zh-CN" dirty="0">
                <a:sym typeface="Wingdings" panose="05000000000000000000" pitchFamily="2" charset="2"/>
              </a:rPr>
              <a:t>a</a:t>
            </a:r>
            <a:r>
              <a:rPr lang="en-US" altLang="zh-CN" baseline="-25000" dirty="0">
                <a:sym typeface="Wingdings" panose="05000000000000000000" pitchFamily="2" charset="2"/>
              </a:rPr>
              <a:t>n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到达</a:t>
            </a:r>
            <a:r>
              <a:rPr lang="en-US" altLang="zh-CN" dirty="0">
                <a:sym typeface="Wingdings" panose="05000000000000000000" pitchFamily="2" charset="2"/>
              </a:rPr>
              <a:t>DFA</a:t>
            </a:r>
            <a:r>
              <a:rPr lang="zh-CN" altLang="en-US" dirty="0">
                <a:sym typeface="Wingdings" panose="05000000000000000000" pitchFamily="2" charset="2"/>
              </a:rPr>
              <a:t>状态</a:t>
            </a:r>
            <a:r>
              <a:rPr lang="en-US" altLang="zh-CN" dirty="0">
                <a:sym typeface="Wingdings" panose="05000000000000000000" pitchFamily="2" charset="2"/>
              </a:rPr>
              <a:t>s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br>
              <a:rPr lang="en-US" altLang="zh-CN" dirty="0">
                <a:sym typeface="Wingdings" panose="05000000000000000000" pitchFamily="2" charset="2"/>
              </a:rPr>
            </a:br>
            <a:r>
              <a:rPr lang="zh-CN" altLang="en-US" dirty="0">
                <a:sym typeface="Wingdings" panose="05000000000000000000" pitchFamily="2" charset="2"/>
              </a:rPr>
              <a:t>一定有，输入</a:t>
            </a:r>
            <a:r>
              <a:rPr lang="en-US" altLang="zh-CN" dirty="0">
                <a:sym typeface="Wingdings" panose="05000000000000000000" pitchFamily="2" charset="2"/>
              </a:rPr>
              <a:t>a</a:t>
            </a:r>
            <a:r>
              <a:rPr lang="en-US" altLang="zh-CN" baseline="-25000" dirty="0">
                <a:sym typeface="Wingdings" panose="05000000000000000000" pitchFamily="2" charset="2"/>
              </a:rPr>
              <a:t>1</a:t>
            </a:r>
            <a:r>
              <a:rPr lang="en-US" altLang="zh-CN" dirty="0">
                <a:sym typeface="Wingdings" panose="05000000000000000000" pitchFamily="2" charset="2"/>
              </a:rPr>
              <a:t>a</a:t>
            </a:r>
            <a:r>
              <a:rPr lang="en-US" altLang="zh-CN" baseline="-25000" dirty="0">
                <a:sym typeface="Wingdings" panose="05000000000000000000" pitchFamily="2" charset="2"/>
              </a:rPr>
              <a:t>2</a:t>
            </a:r>
            <a:r>
              <a:rPr lang="en-US" altLang="zh-CN" dirty="0">
                <a:latin typeface="Tahoma" panose="020B0604030504040204" pitchFamily="34" charset="0"/>
                <a:sym typeface="Wingdings" panose="05000000000000000000" pitchFamily="2" charset="2"/>
              </a:rPr>
              <a:t>…</a:t>
            </a:r>
            <a:r>
              <a:rPr lang="en-US" altLang="zh-CN" dirty="0" err="1">
                <a:sym typeface="Wingdings" panose="05000000000000000000" pitchFamily="2" charset="2"/>
              </a:rPr>
              <a:t>a</a:t>
            </a:r>
            <a:r>
              <a:rPr lang="en-US" altLang="zh-CN" baseline="-25000" dirty="0" err="1">
                <a:sym typeface="Wingdings" panose="05000000000000000000" pitchFamily="2" charset="2"/>
              </a:rPr>
              <a:t>n</a:t>
            </a:r>
            <a:r>
              <a:rPr lang="en-US" altLang="zh-CN" dirty="0" err="1">
                <a:sym typeface="Wingdings" panose="05000000000000000000" pitchFamily="2" charset="2"/>
              </a:rPr>
              <a:t>NFA</a:t>
            </a:r>
            <a:r>
              <a:rPr lang="zh-CN" altLang="en-US" dirty="0">
                <a:sym typeface="Wingdings" panose="05000000000000000000" pitchFamily="2" charset="2"/>
              </a:rPr>
              <a:t>所有可到达的状态集合为</a:t>
            </a:r>
            <a:r>
              <a:rPr lang="en-US" altLang="zh-CN" dirty="0">
                <a:sym typeface="Wingdings" panose="05000000000000000000" pitchFamily="2" charset="2"/>
              </a:rPr>
              <a:t>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EE3F40EC-6235-4B33-B020-AD344A211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算法基本思想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116596FC-3847-4072-9E70-88D7E681BD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平凡算法：穷举所有可能的符号串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每个符号串输入</a:t>
            </a:r>
            <a:r>
              <a:rPr lang="en-US" altLang="zh-CN" dirty="0"/>
              <a:t>NFA</a:t>
            </a:r>
            <a:r>
              <a:rPr lang="zh-CN" altLang="en-US" dirty="0"/>
              <a:t>，得到的状态集合</a:t>
            </a:r>
            <a:r>
              <a:rPr lang="zh-CN" altLang="en-US" dirty="0">
                <a:sym typeface="Wingdings" panose="05000000000000000000" pitchFamily="2" charset="2"/>
              </a:rPr>
              <a:t>相当于构造出一个</a:t>
            </a:r>
            <a:r>
              <a:rPr lang="en-US" altLang="zh-CN" dirty="0">
                <a:sym typeface="Wingdings" panose="05000000000000000000" pitchFamily="2" charset="2"/>
              </a:rPr>
              <a:t>DFA</a:t>
            </a:r>
            <a:r>
              <a:rPr lang="zh-CN" altLang="en-US" dirty="0">
                <a:sym typeface="Wingdings" panose="05000000000000000000" pitchFamily="2" charset="2"/>
              </a:rPr>
              <a:t>状态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ym typeface="Wingdings" panose="05000000000000000000" pitchFamily="2" charset="2"/>
              </a:rPr>
              <a:t>不可行！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ym typeface="Wingdings" panose="05000000000000000000" pitchFamily="2" charset="2"/>
              </a:rPr>
              <a:t>递推方法：按序遍历符号串，直至收敛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/>
              <a:t>输入最简单的符号串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dirty="0">
                <a:latin typeface="Symbol" panose="05050102010706020507" pitchFamily="18" charset="2"/>
                <a:sym typeface="Wingdings" panose="05000000000000000000" pitchFamily="2" charset="2"/>
              </a:rPr>
              <a:t>，</a:t>
            </a:r>
            <a:r>
              <a:rPr kumimoji="0" lang="en-US" altLang="zh-CN" dirty="0">
                <a:sym typeface="Wingdings" panose="05000000000000000000" pitchFamily="2" charset="2"/>
              </a:rPr>
              <a:t>NFA</a:t>
            </a:r>
            <a:r>
              <a:rPr kumimoji="0" lang="zh-CN" altLang="en-US" dirty="0">
                <a:sym typeface="Wingdings" panose="05000000000000000000" pitchFamily="2" charset="2"/>
              </a:rPr>
              <a:t>得到状态集合</a:t>
            </a:r>
            <a:r>
              <a:rPr kumimoji="0" lang="en-US" altLang="zh-CN" dirty="0">
                <a:sym typeface="Wingdings" panose="05000000000000000000" pitchFamily="2" charset="2"/>
              </a:rPr>
              <a:t>T</a:t>
            </a:r>
            <a:r>
              <a:rPr kumimoji="0" lang="zh-CN" altLang="en-US" dirty="0">
                <a:sym typeface="Wingdings" panose="05000000000000000000" pitchFamily="2" charset="2"/>
              </a:rPr>
              <a:t>构造出</a:t>
            </a:r>
            <a:r>
              <a:rPr kumimoji="0" lang="en-US" altLang="zh-CN" dirty="0">
                <a:sym typeface="Wingdings" panose="05000000000000000000" pitchFamily="2" charset="2"/>
              </a:rPr>
              <a:t>DFA</a:t>
            </a:r>
            <a:r>
              <a:rPr kumimoji="0" lang="zh-CN" altLang="en-US" dirty="0">
                <a:sym typeface="Wingdings" panose="05000000000000000000" pitchFamily="2" charset="2"/>
              </a:rPr>
              <a:t>状态</a:t>
            </a:r>
            <a:r>
              <a:rPr kumimoji="0" lang="en-US" altLang="zh-CN" dirty="0">
                <a:sym typeface="Wingdings" panose="05000000000000000000" pitchFamily="2" charset="2"/>
              </a:rPr>
              <a:t>A</a:t>
            </a:r>
            <a:endParaRPr kumimoji="0" lang="zh-CN" altLang="en-US" dirty="0">
              <a:sym typeface="Wingdings" panose="05000000000000000000" pitchFamily="2" charset="2"/>
            </a:endParaRPr>
          </a:p>
          <a:p>
            <a:pPr lvl="1" eaLnBrk="1" hangingPunct="1">
              <a:lnSpc>
                <a:spcPct val="90000"/>
              </a:lnSpc>
            </a:pPr>
            <a:r>
              <a:rPr kumimoji="0" lang="zh-CN" altLang="en-US" dirty="0">
                <a:sym typeface="Wingdings" panose="05000000000000000000" pitchFamily="2" charset="2"/>
              </a:rPr>
              <a:t>输入长度为</a:t>
            </a:r>
            <a:r>
              <a:rPr kumimoji="0" lang="en-US" altLang="zh-CN" dirty="0">
                <a:sym typeface="Wingdings" panose="05000000000000000000" pitchFamily="2" charset="2"/>
              </a:rPr>
              <a:t>1</a:t>
            </a:r>
            <a:r>
              <a:rPr kumimoji="0" lang="zh-CN" altLang="en-US" dirty="0">
                <a:sym typeface="Wingdings" panose="05000000000000000000" pitchFamily="2" charset="2"/>
              </a:rPr>
              <a:t>的串</a:t>
            </a:r>
            <a:r>
              <a:rPr kumimoji="0" lang="en-US" altLang="zh-CN" dirty="0">
                <a:sym typeface="Wingdings" panose="05000000000000000000" pitchFamily="2" charset="2"/>
              </a:rPr>
              <a:t>a=</a:t>
            </a:r>
            <a:r>
              <a:rPr kumimoji="0" lang="en-US" altLang="zh-CN" dirty="0" err="1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dirty="0" err="1">
                <a:sym typeface="Wingdings" panose="05000000000000000000" pitchFamily="2" charset="2"/>
              </a:rPr>
              <a:t>a</a:t>
            </a:r>
            <a:r>
              <a:rPr kumimoji="0" lang="zh-CN" altLang="en-US" dirty="0">
                <a:sym typeface="Wingdings" panose="05000000000000000000" pitchFamily="2" charset="2"/>
              </a:rPr>
              <a:t>可达的状态理解为</a:t>
            </a:r>
            <a:endParaRPr kumimoji="0" lang="en-US" altLang="zh-CN" dirty="0">
              <a:sym typeface="Wingdings" panose="05000000000000000000" pitchFamily="2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kumimoji="0" lang="zh-CN" altLang="en-US" dirty="0">
                <a:sym typeface="Wingdings" panose="05000000000000000000" pitchFamily="2" charset="2"/>
              </a:rPr>
              <a:t>从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dirty="0">
                <a:sym typeface="Wingdings" panose="05000000000000000000" pitchFamily="2" charset="2"/>
              </a:rPr>
              <a:t>对应的状态（</a:t>
            </a:r>
            <a:r>
              <a:rPr kumimoji="0" lang="en-US" altLang="zh-CN" dirty="0">
                <a:sym typeface="Wingdings" panose="05000000000000000000" pitchFamily="2" charset="2"/>
              </a:rPr>
              <a:t>T</a:t>
            </a:r>
            <a:r>
              <a:rPr kumimoji="0" lang="zh-CN" altLang="en-US" dirty="0">
                <a:sym typeface="Wingdings" panose="05000000000000000000" pitchFamily="2" charset="2"/>
              </a:rPr>
              <a:t>、</a:t>
            </a:r>
            <a:r>
              <a:rPr kumimoji="0" lang="en-US" altLang="zh-CN" dirty="0">
                <a:sym typeface="Wingdings" panose="05000000000000000000" pitchFamily="2" charset="2"/>
              </a:rPr>
              <a:t>A</a:t>
            </a:r>
            <a:r>
              <a:rPr kumimoji="0" lang="zh-CN" altLang="en-US" dirty="0">
                <a:sym typeface="Wingdings" panose="05000000000000000000" pitchFamily="2" charset="2"/>
              </a:rPr>
              <a:t>）开始</a:t>
            </a:r>
            <a:endParaRPr kumimoji="0" lang="en-US" altLang="zh-CN" dirty="0">
              <a:sym typeface="Wingdings" panose="05000000000000000000" pitchFamily="2" charset="2"/>
            </a:endParaRPr>
          </a:p>
          <a:p>
            <a:pPr lvl="2" eaLnBrk="1" hangingPunct="1">
              <a:lnSpc>
                <a:spcPct val="90000"/>
              </a:lnSpc>
            </a:pPr>
            <a:r>
              <a:rPr kumimoji="0" lang="zh-CN" altLang="en-US" dirty="0">
                <a:sym typeface="Wingdings" panose="05000000000000000000" pitchFamily="2" charset="2"/>
              </a:rPr>
              <a:t>经过标记为</a:t>
            </a:r>
            <a:r>
              <a:rPr kumimoji="0" lang="en-US" altLang="zh-CN" dirty="0">
                <a:sym typeface="Wingdings" panose="05000000000000000000" pitchFamily="2" charset="2"/>
              </a:rPr>
              <a:t>a</a:t>
            </a:r>
            <a:r>
              <a:rPr kumimoji="0" lang="zh-CN" altLang="en-US" dirty="0">
                <a:sym typeface="Wingdings" panose="05000000000000000000" pitchFamily="2" charset="2"/>
              </a:rPr>
              <a:t>的边可达的状态</a:t>
            </a:r>
          </a:p>
          <a:p>
            <a:pPr lvl="1" eaLnBrk="1" hangingPunct="1">
              <a:lnSpc>
                <a:spcPct val="90000"/>
              </a:lnSpc>
            </a:pPr>
            <a:r>
              <a:rPr kumimoji="0" lang="zh-CN" altLang="en-US" dirty="0">
                <a:sym typeface="Wingdings" panose="05000000000000000000" pitchFamily="2" charset="2"/>
              </a:rPr>
              <a:t>长度为</a:t>
            </a:r>
            <a:r>
              <a:rPr kumimoji="0" lang="en-US" altLang="zh-CN" dirty="0">
                <a:sym typeface="Wingdings" panose="05000000000000000000" pitchFamily="2" charset="2"/>
              </a:rPr>
              <a:t>2</a:t>
            </a:r>
            <a:r>
              <a:rPr kumimoji="0" lang="zh-CN" altLang="en-US" dirty="0">
                <a:sym typeface="Wingdings" panose="05000000000000000000" pitchFamily="2" charset="2"/>
              </a:rPr>
              <a:t>的串</a:t>
            </a:r>
            <a:r>
              <a:rPr kumimoji="0" lang="en-US" altLang="zh-CN" dirty="0">
                <a:sym typeface="Wingdings" panose="05000000000000000000" pitchFamily="2" charset="2"/>
              </a:rPr>
              <a:t>…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C20E9915-7F50-454A-B5A3-545F366CAE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算法基本思想</a:t>
            </a:r>
          </a:p>
        </p:txBody>
      </p:sp>
      <p:grpSp>
        <p:nvGrpSpPr>
          <p:cNvPr id="130051" name="Group 30">
            <a:extLst>
              <a:ext uri="{FF2B5EF4-FFF2-40B4-BE49-F238E27FC236}">
                <a16:creationId xmlns:a16="http://schemas.microsoft.com/office/drawing/2014/main" id="{BC110C69-F56B-4FFB-962A-CE5D550376A3}"/>
              </a:ext>
            </a:extLst>
          </p:cNvPr>
          <p:cNvGrpSpPr>
            <a:grpSpLocks/>
          </p:cNvGrpSpPr>
          <p:nvPr/>
        </p:nvGrpSpPr>
        <p:grpSpPr bwMode="auto">
          <a:xfrm>
            <a:off x="2973388" y="1066800"/>
            <a:ext cx="5942012" cy="2057400"/>
            <a:chOff x="1873" y="672"/>
            <a:chExt cx="3743" cy="1296"/>
          </a:xfrm>
        </p:grpSpPr>
        <p:grpSp>
          <p:nvGrpSpPr>
            <p:cNvPr id="130067" name="Group 7">
              <a:extLst>
                <a:ext uri="{FF2B5EF4-FFF2-40B4-BE49-F238E27FC236}">
                  <a16:creationId xmlns:a16="http://schemas.microsoft.com/office/drawing/2014/main" id="{D9C10C69-CBA0-4201-A525-323F194FBE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0" y="1604"/>
              <a:ext cx="336" cy="336"/>
              <a:chOff x="4416" y="1248"/>
              <a:chExt cx="336" cy="336"/>
            </a:xfrm>
          </p:grpSpPr>
          <p:sp>
            <p:nvSpPr>
              <p:cNvPr id="130073" name="Oval 4">
                <a:extLst>
                  <a:ext uri="{FF2B5EF4-FFF2-40B4-BE49-F238E27FC236}">
                    <a16:creationId xmlns:a16="http://schemas.microsoft.com/office/drawing/2014/main" id="{0FE23E0C-8FAF-4388-8B79-64DC5E7962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248"/>
                <a:ext cx="336" cy="336"/>
              </a:xfrm>
              <a:prstGeom prst="ellipse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30074" name="Text Box 5">
                <a:extLst>
                  <a:ext uri="{FF2B5EF4-FFF2-40B4-BE49-F238E27FC236}">
                    <a16:creationId xmlns:a16="http://schemas.microsoft.com/office/drawing/2014/main" id="{D11F83F5-2FFF-4A88-A59C-8339D5BC66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124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3333CC"/>
                    </a:solidFill>
                    <a:latin typeface="Tahoma" panose="020B0604030504040204" pitchFamily="34" charset="0"/>
                  </a:rPr>
                  <a:t>A</a:t>
                </a:r>
              </a:p>
            </p:txBody>
          </p:sp>
        </p:grpSp>
        <p:sp>
          <p:nvSpPr>
            <p:cNvPr id="130068" name="Line 11">
              <a:extLst>
                <a:ext uri="{FF2B5EF4-FFF2-40B4-BE49-F238E27FC236}">
                  <a16:creationId xmlns:a16="http://schemas.microsoft.com/office/drawing/2014/main" id="{B885A969-8FAA-4964-9B03-DFDFA80FE5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7" y="1728"/>
              <a:ext cx="158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0069" name="Text Box 13">
              <a:extLst>
                <a:ext uri="{FF2B5EF4-FFF2-40B4-BE49-F238E27FC236}">
                  <a16:creationId xmlns:a16="http://schemas.microsoft.com/office/drawing/2014/main" id="{466AE654-4908-41B8-8E2E-3E7F94CB0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672"/>
              <a:ext cx="1920" cy="9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dirty="0">
                  <a:solidFill>
                    <a:srgbClr val="FF3300"/>
                  </a:solidFill>
                  <a:latin typeface="Tahoma" panose="020B0604030504040204" pitchFamily="34" charset="0"/>
                </a:rPr>
                <a:t>最简单的符号串</a:t>
              </a:r>
              <a:r>
                <a:rPr lang="en-US" altLang="zh-CN" sz="2400" dirty="0">
                  <a:solidFill>
                    <a:srgbClr val="FF3300"/>
                  </a:solidFill>
                  <a:latin typeface="Symbol" panose="05050102010706020507" pitchFamily="18" charset="2"/>
                </a:rPr>
                <a:t>e</a:t>
              </a:r>
              <a:r>
                <a:rPr lang="zh-CN" altLang="en-US" sz="2400" dirty="0">
                  <a:solidFill>
                    <a:srgbClr val="FF3300"/>
                  </a:solidFill>
                  <a:latin typeface="Tahoma" panose="020B0604030504040204" pitchFamily="34" charset="0"/>
                </a:rPr>
                <a:t>输入</a:t>
              </a:r>
              <a:r>
                <a:rPr lang="en-US" altLang="zh-CN" sz="2400" dirty="0">
                  <a:solidFill>
                    <a:srgbClr val="FF3300"/>
                  </a:solidFill>
                  <a:latin typeface="Tahoma" panose="020B0604030504040204" pitchFamily="34" charset="0"/>
                </a:rPr>
                <a:t>NFA</a:t>
              </a:r>
              <a:r>
                <a:rPr lang="zh-CN" altLang="en-US" sz="2400" dirty="0">
                  <a:solidFill>
                    <a:srgbClr val="FF3300"/>
                  </a:solidFill>
                  <a:latin typeface="Tahoma" panose="020B0604030504040204" pitchFamily="34" charset="0"/>
                </a:rPr>
                <a:t>和</a:t>
              </a:r>
              <a:r>
                <a:rPr lang="en-US" altLang="zh-CN" sz="2400" dirty="0">
                  <a:solidFill>
                    <a:srgbClr val="FF3300"/>
                  </a:solidFill>
                  <a:latin typeface="Tahoma" panose="020B0604030504040204" pitchFamily="34" charset="0"/>
                </a:rPr>
                <a:t>DFA</a:t>
              </a:r>
              <a:r>
                <a:rPr lang="zh-CN" altLang="en-US" sz="2400" dirty="0">
                  <a:solidFill>
                    <a:srgbClr val="FF3300"/>
                  </a:solidFill>
                  <a:latin typeface="Tahoma" panose="020B0604030504040204" pitchFamily="34" charset="0"/>
                </a:rPr>
                <a:t>应得到相同结果</a:t>
              </a:r>
              <a:r>
                <a:rPr lang="en-US" altLang="zh-CN" sz="2400" dirty="0">
                  <a:solidFill>
                    <a:srgbClr val="FF3300"/>
                  </a:solidFill>
                </a:rPr>
                <a:t>——</a:t>
              </a:r>
              <a:r>
                <a:rPr lang="zh-CN" altLang="en-US" sz="2400" dirty="0">
                  <a:solidFill>
                    <a:srgbClr val="FF3300"/>
                  </a:solidFill>
                </a:rPr>
                <a:t>还</a:t>
              </a:r>
              <a:r>
                <a:rPr lang="zh-CN" altLang="en-US" sz="2400" dirty="0">
                  <a:solidFill>
                    <a:srgbClr val="FF3300"/>
                  </a:solidFill>
                  <a:latin typeface="Tahoma" panose="020B0604030504040204" pitchFamily="34" charset="0"/>
                </a:rPr>
                <a:t>未输入任何符号</a:t>
              </a:r>
              <a:r>
                <a:rPr lang="en-US" altLang="zh-CN" sz="2400" dirty="0">
                  <a:solidFill>
                    <a:srgbClr val="FF3300"/>
                  </a:solidFill>
                </a:rPr>
                <a:t>——</a:t>
              </a:r>
              <a:r>
                <a:rPr lang="zh-CN" altLang="en-US" sz="2400" dirty="0">
                  <a:solidFill>
                    <a:srgbClr val="FF3300"/>
                  </a:solidFill>
                  <a:latin typeface="Tahoma" panose="020B0604030504040204" pitchFamily="34" charset="0"/>
                </a:rPr>
                <a:t>初态</a:t>
              </a:r>
            </a:p>
          </p:txBody>
        </p:sp>
        <p:grpSp>
          <p:nvGrpSpPr>
            <p:cNvPr id="130070" name="Group 20">
              <a:extLst>
                <a:ext uri="{FF2B5EF4-FFF2-40B4-BE49-F238E27FC236}">
                  <a16:creationId xmlns:a16="http://schemas.microsoft.com/office/drawing/2014/main" id="{2003D0EF-2F3E-4611-900D-5F64CAA841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3" y="1536"/>
              <a:ext cx="1824" cy="432"/>
              <a:chOff x="1008" y="1248"/>
              <a:chExt cx="1632" cy="432"/>
            </a:xfrm>
          </p:grpSpPr>
          <p:sp>
            <p:nvSpPr>
              <p:cNvPr id="130071" name="Oval 21">
                <a:extLst>
                  <a:ext uri="{FF2B5EF4-FFF2-40B4-BE49-F238E27FC236}">
                    <a16:creationId xmlns:a16="http://schemas.microsoft.com/office/drawing/2014/main" id="{F40918C5-497F-418B-B238-8877BC81FE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248"/>
                <a:ext cx="1632" cy="432"/>
              </a:xfrm>
              <a:prstGeom prst="ellipse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30072" name="Text Box 22">
                <a:extLst>
                  <a:ext uri="{FF2B5EF4-FFF2-40B4-BE49-F238E27FC236}">
                    <a16:creationId xmlns:a16="http://schemas.microsoft.com/office/drawing/2014/main" id="{3981A78B-EF41-4C30-AD4A-0657674978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1320"/>
                <a:ext cx="16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1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3333CC"/>
                    </a:solidFill>
                    <a:latin typeface="Tahoma" panose="020B0604030504040204" pitchFamily="34" charset="0"/>
                  </a:rPr>
                  <a:t>T=</a:t>
                </a:r>
                <a:r>
                  <a:rPr lang="en-US" altLang="zh-CN" sz="2400">
                    <a:solidFill>
                      <a:srgbClr val="3333CC"/>
                    </a:solidFill>
                    <a:latin typeface="Symbol" panose="05050102010706020507" pitchFamily="18" charset="2"/>
                  </a:rPr>
                  <a:t>e</a:t>
                </a:r>
                <a:r>
                  <a:rPr lang="en-US" altLang="zh-CN" sz="2400">
                    <a:solidFill>
                      <a:srgbClr val="3333CC"/>
                    </a:solidFill>
                    <a:latin typeface="Tahoma" panose="020B0604030504040204" pitchFamily="34" charset="0"/>
                  </a:rPr>
                  <a:t>_closure(s</a:t>
                </a:r>
                <a:r>
                  <a:rPr lang="en-US" altLang="zh-CN" sz="2400" baseline="-25000">
                    <a:solidFill>
                      <a:srgbClr val="3333CC"/>
                    </a:solidFill>
                    <a:latin typeface="Tahoma" panose="020B0604030504040204" pitchFamily="34" charset="0"/>
                  </a:rPr>
                  <a:t>0</a:t>
                </a:r>
                <a:r>
                  <a:rPr lang="en-US" altLang="zh-CN" sz="2400">
                    <a:solidFill>
                      <a:srgbClr val="3333CC"/>
                    </a:solidFill>
                    <a:latin typeface="Tahoma" panose="020B0604030504040204" pitchFamily="34" charset="0"/>
                  </a:rPr>
                  <a:t>)</a:t>
                </a:r>
              </a:p>
            </p:txBody>
          </p:sp>
        </p:grpSp>
      </p:grpSp>
      <p:grpSp>
        <p:nvGrpSpPr>
          <p:cNvPr id="5" name="Group 31">
            <a:extLst>
              <a:ext uri="{FF2B5EF4-FFF2-40B4-BE49-F238E27FC236}">
                <a16:creationId xmlns:a16="http://schemas.microsoft.com/office/drawing/2014/main" id="{E571BC90-9D65-4D67-8EBC-D0F6F5E86614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3048000"/>
            <a:ext cx="4067175" cy="1676400"/>
            <a:chOff x="3072" y="1920"/>
            <a:chExt cx="2562" cy="1056"/>
          </a:xfrm>
        </p:grpSpPr>
        <p:grpSp>
          <p:nvGrpSpPr>
            <p:cNvPr id="130060" name="Group 14">
              <a:extLst>
                <a:ext uri="{FF2B5EF4-FFF2-40B4-BE49-F238E27FC236}">
                  <a16:creationId xmlns:a16="http://schemas.microsoft.com/office/drawing/2014/main" id="{7C51019E-C88E-4B31-A981-84946A469F6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44" y="2400"/>
              <a:ext cx="336" cy="336"/>
              <a:chOff x="4416" y="1248"/>
              <a:chExt cx="336" cy="336"/>
            </a:xfrm>
          </p:grpSpPr>
          <p:sp>
            <p:nvSpPr>
              <p:cNvPr id="130065" name="Oval 15">
                <a:extLst>
                  <a:ext uri="{FF2B5EF4-FFF2-40B4-BE49-F238E27FC236}">
                    <a16:creationId xmlns:a16="http://schemas.microsoft.com/office/drawing/2014/main" id="{084F0289-14E8-49D8-ABBD-5692CC829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248"/>
                <a:ext cx="336" cy="336"/>
              </a:xfrm>
              <a:prstGeom prst="ellipse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30066" name="Text Box 16">
                <a:extLst>
                  <a:ext uri="{FF2B5EF4-FFF2-40B4-BE49-F238E27FC236}">
                    <a16:creationId xmlns:a16="http://schemas.microsoft.com/office/drawing/2014/main" id="{FEA701A8-CA8A-4000-9340-8CDBB85094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124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3333CC"/>
                    </a:solidFill>
                    <a:latin typeface="Tahoma" panose="020B0604030504040204" pitchFamily="34" charset="0"/>
                  </a:rPr>
                  <a:t>B</a:t>
                </a:r>
              </a:p>
            </p:txBody>
          </p:sp>
        </p:grpSp>
        <p:sp>
          <p:nvSpPr>
            <p:cNvPr id="130061" name="Line 17">
              <a:extLst>
                <a:ext uri="{FF2B5EF4-FFF2-40B4-BE49-F238E27FC236}">
                  <a16:creationId xmlns:a16="http://schemas.microsoft.com/office/drawing/2014/main" id="{C83DD2CF-92B9-48B9-A5F3-714C95DECD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84" y="1920"/>
              <a:ext cx="192" cy="480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0062" name="Text Box 18">
              <a:extLst>
                <a:ext uri="{FF2B5EF4-FFF2-40B4-BE49-F238E27FC236}">
                  <a16:creationId xmlns:a16="http://schemas.microsoft.com/office/drawing/2014/main" id="{DE3F6F1B-7A0A-45BB-984D-4A67348C63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192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130063" name="Line 19">
              <a:extLst>
                <a:ext uri="{FF2B5EF4-FFF2-40B4-BE49-F238E27FC236}">
                  <a16:creationId xmlns:a16="http://schemas.microsoft.com/office/drawing/2014/main" id="{C02225E1-9C83-4677-896B-9775005606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1" y="2545"/>
              <a:ext cx="158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0064" name="Text Box 25">
              <a:extLst>
                <a:ext uri="{FF2B5EF4-FFF2-40B4-BE49-F238E27FC236}">
                  <a16:creationId xmlns:a16="http://schemas.microsoft.com/office/drawing/2014/main" id="{E7923CED-5625-40D9-845A-80C7AFE72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2688"/>
              <a:ext cx="256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solidFill>
                    <a:srgbClr val="FF3300"/>
                  </a:solidFill>
                  <a:latin typeface="Tahoma" panose="020B0604030504040204" pitchFamily="34" charset="0"/>
                </a:rPr>
                <a:t>B</a:t>
              </a:r>
              <a:r>
                <a:rPr lang="zh-CN" altLang="en-US" sz="2400" dirty="0">
                  <a:solidFill>
                    <a:srgbClr val="FF3300"/>
                  </a:solidFill>
                  <a:latin typeface="Tahoma" panose="020B0604030504040204" pitchFamily="34" charset="0"/>
                </a:rPr>
                <a:t>对应的</a:t>
              </a:r>
              <a:r>
                <a:rPr lang="en-US" altLang="zh-CN" sz="2400" dirty="0">
                  <a:solidFill>
                    <a:srgbClr val="FF3300"/>
                  </a:solidFill>
                  <a:latin typeface="Tahoma" panose="020B0604030504040204" pitchFamily="34" charset="0"/>
                </a:rPr>
                <a:t>NFA</a:t>
              </a:r>
              <a:r>
                <a:rPr lang="zh-CN" altLang="en-US" sz="2400" dirty="0">
                  <a:solidFill>
                    <a:srgbClr val="FF3300"/>
                  </a:solidFill>
                  <a:latin typeface="Tahoma" panose="020B0604030504040204" pitchFamily="34" charset="0"/>
                </a:rPr>
                <a:t>状态集是什么？</a:t>
              </a:r>
            </a:p>
          </p:txBody>
        </p:sp>
      </p:grpSp>
      <p:grpSp>
        <p:nvGrpSpPr>
          <p:cNvPr id="7" name="Group 32">
            <a:extLst>
              <a:ext uri="{FF2B5EF4-FFF2-40B4-BE49-F238E27FC236}">
                <a16:creationId xmlns:a16="http://schemas.microsoft.com/office/drawing/2014/main" id="{8D6D5E27-F80E-40A8-9518-5C7DD7A9BACF}"/>
              </a:ext>
            </a:extLst>
          </p:cNvPr>
          <p:cNvGrpSpPr>
            <a:grpSpLocks/>
          </p:cNvGrpSpPr>
          <p:nvPr/>
        </p:nvGrpSpPr>
        <p:grpSpPr bwMode="auto">
          <a:xfrm>
            <a:off x="0" y="2184400"/>
            <a:ext cx="5335588" cy="3378200"/>
            <a:chOff x="0" y="1376"/>
            <a:chExt cx="3361" cy="2128"/>
          </a:xfrm>
        </p:grpSpPr>
        <p:grpSp>
          <p:nvGrpSpPr>
            <p:cNvPr id="130054" name="Group 12">
              <a:extLst>
                <a:ext uri="{FF2B5EF4-FFF2-40B4-BE49-F238E27FC236}">
                  <a16:creationId xmlns:a16="http://schemas.microsoft.com/office/drawing/2014/main" id="{3F9304B8-BD99-47A5-A7AA-27DF96D444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2309"/>
              <a:ext cx="1825" cy="518"/>
              <a:chOff x="1008" y="1205"/>
              <a:chExt cx="1632" cy="517"/>
            </a:xfrm>
          </p:grpSpPr>
          <p:sp>
            <p:nvSpPr>
              <p:cNvPr id="130058" name="Oval 9">
                <a:extLst>
                  <a:ext uri="{FF2B5EF4-FFF2-40B4-BE49-F238E27FC236}">
                    <a16:creationId xmlns:a16="http://schemas.microsoft.com/office/drawing/2014/main" id="{F340333A-2FDB-4FEE-BC85-6541374EE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248"/>
                <a:ext cx="1632" cy="432"/>
              </a:xfrm>
              <a:prstGeom prst="ellipse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30059" name="Text Box 10">
                <a:extLst>
                  <a:ext uri="{FF2B5EF4-FFF2-40B4-BE49-F238E27FC236}">
                    <a16:creationId xmlns:a16="http://schemas.microsoft.com/office/drawing/2014/main" id="{B88A9117-C37D-4301-A5A5-8DCBF3812D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1205"/>
                <a:ext cx="1632" cy="5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1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3333CC"/>
                    </a:solidFill>
                    <a:latin typeface="Symbol" panose="05050102010706020507" pitchFamily="18" charset="2"/>
                  </a:rPr>
                  <a:t>e</a:t>
                </a:r>
                <a:r>
                  <a:rPr lang="en-US" altLang="zh-CN" sz="2400">
                    <a:solidFill>
                      <a:srgbClr val="3333CC"/>
                    </a:solidFill>
                    <a:latin typeface="Tahoma" panose="020B0604030504040204" pitchFamily="34" charset="0"/>
                  </a:rPr>
                  <a:t>_closure(</a:t>
                </a:r>
                <a:r>
                  <a:rPr lang="en-US" altLang="zh-CN" sz="2400">
                    <a:solidFill>
                      <a:srgbClr val="3333CC"/>
                    </a:solidFill>
                    <a:latin typeface="Symbol" panose="05050102010706020507" pitchFamily="18" charset="2"/>
                  </a:rPr>
                  <a:t>d</a:t>
                </a:r>
                <a:r>
                  <a:rPr lang="en-US" altLang="zh-CN" sz="2400">
                    <a:solidFill>
                      <a:srgbClr val="3333CC"/>
                    </a:solidFill>
                    <a:latin typeface="Tahoma" panose="020B0604030504040204" pitchFamily="34" charset="0"/>
                  </a:rPr>
                  <a:t>(T, a))</a:t>
                </a:r>
              </a:p>
            </p:txBody>
          </p:sp>
        </p:grpSp>
        <p:sp>
          <p:nvSpPr>
            <p:cNvPr id="130055" name="Line 23">
              <a:extLst>
                <a:ext uri="{FF2B5EF4-FFF2-40B4-BE49-F238E27FC236}">
                  <a16:creationId xmlns:a16="http://schemas.microsoft.com/office/drawing/2014/main" id="{7FE5C22C-A576-411E-B6B9-B1FBA42506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9" y="1968"/>
              <a:ext cx="144" cy="384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0056" name="Text Box 24">
              <a:extLst>
                <a:ext uri="{FF2B5EF4-FFF2-40B4-BE49-F238E27FC236}">
                  <a16:creationId xmlns:a16="http://schemas.microsoft.com/office/drawing/2014/main" id="{6262A614-5BC1-47CB-B583-EB3114B67B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5" y="196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130057" name="Text Box 26">
              <a:extLst>
                <a:ext uri="{FF2B5EF4-FFF2-40B4-BE49-F238E27FC236}">
                  <a16:creationId xmlns:a16="http://schemas.microsoft.com/office/drawing/2014/main" id="{662C887F-A337-4846-AF5C-0B1604E8A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376"/>
              <a:ext cx="1680" cy="2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3300"/>
                  </a:solidFill>
                  <a:latin typeface="Tahoma" panose="020B0604030504040204" pitchFamily="34" charset="0"/>
                </a:rPr>
                <a:t>A</a:t>
              </a:r>
              <a:r>
                <a:rPr lang="en-US" altLang="zh-CN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T</a:t>
              </a:r>
              <a:br>
                <a:rPr lang="en-US" altLang="zh-CN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</a:br>
              <a:r>
                <a:rPr lang="en-US" altLang="zh-CN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B</a:t>
              </a:r>
              <a:r>
                <a:rPr lang="zh-CN" altLang="en-US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：</a:t>
              </a:r>
              <a:r>
                <a:rPr lang="en-US" altLang="zh-CN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A</a:t>
              </a:r>
              <a:r>
                <a:rPr lang="zh-CN" altLang="en-US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读入</a:t>
              </a:r>
              <a:r>
                <a:rPr lang="en-US" altLang="zh-CN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a</a:t>
              </a:r>
              <a:r>
                <a:rPr lang="zh-CN" altLang="en-US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后转到的状态</a:t>
              </a:r>
              <a:br>
                <a:rPr lang="zh-CN" altLang="en-US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</a:br>
              <a:r>
                <a:rPr lang="zh-CN" altLang="en-US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与</a:t>
              </a:r>
              <a:r>
                <a:rPr lang="en-US" altLang="zh-CN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B</a:t>
              </a:r>
              <a:r>
                <a:rPr lang="zh-CN" altLang="en-US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对应的应该是：</a:t>
              </a:r>
              <a:r>
                <a:rPr lang="en-US" altLang="zh-CN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T</a:t>
              </a:r>
              <a:r>
                <a:rPr lang="zh-CN" altLang="en-US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中所有状态读入</a:t>
              </a:r>
              <a:r>
                <a:rPr lang="en-US" altLang="zh-CN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a</a:t>
              </a:r>
              <a:r>
                <a:rPr lang="zh-CN" altLang="en-US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后转到的状态（</a:t>
              </a:r>
              <a:r>
                <a:rPr lang="en-US" altLang="zh-CN" sz="2400">
                  <a:solidFill>
                    <a:srgbClr val="FF3300"/>
                  </a:solidFill>
                  <a:latin typeface="Symbol" panose="05050102010706020507" pitchFamily="18" charset="2"/>
                  <a:sym typeface="Wingdings" panose="05000000000000000000" pitchFamily="2" charset="2"/>
                </a:rPr>
                <a:t>d</a:t>
              </a:r>
              <a:r>
                <a:rPr lang="en-US" altLang="zh-CN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(T,a)</a:t>
              </a:r>
              <a:r>
                <a:rPr lang="zh-CN" altLang="en-US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），</a:t>
              </a:r>
              <a:br>
                <a:rPr lang="zh-CN" altLang="en-US" sz="2400">
                  <a:solidFill>
                    <a:srgbClr val="FF3300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</a:br>
              <a:r>
                <a:rPr lang="zh-CN" altLang="en-US" sz="2400">
                  <a:solidFill>
                    <a:srgbClr val="3333CC"/>
                  </a:solidFill>
                  <a:latin typeface="Tahoma" panose="020B0604030504040204" pitchFamily="34" charset="0"/>
                  <a:sym typeface="Wingdings" panose="05000000000000000000" pitchFamily="2" charset="2"/>
                </a:rPr>
                <a:t>注意：还需一次闭包计算</a:t>
              </a:r>
              <a:endParaRPr lang="zh-CN" altLang="en-US" sz="2400">
                <a:solidFill>
                  <a:srgbClr val="3333CC"/>
                </a:solidFill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B56CB817-5C64-47A8-B888-9B0B59AF1A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算法正确性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72F3EC7F-BAEA-4E36-9884-078D6FC191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如何保证“对任何符号串，输入</a:t>
            </a:r>
            <a:r>
              <a:rPr lang="en-US" altLang="zh-CN" dirty="0"/>
              <a:t>NFA</a:t>
            </a:r>
            <a:r>
              <a:rPr lang="zh-CN" altLang="en-US" dirty="0"/>
              <a:t>和</a:t>
            </a:r>
            <a:r>
              <a:rPr lang="en-US" altLang="zh-CN" dirty="0"/>
              <a:t>DFA</a:t>
            </a:r>
            <a:r>
              <a:rPr lang="zh-CN" altLang="en-US" dirty="0"/>
              <a:t>得到相同的结果”？</a:t>
            </a:r>
          </a:p>
          <a:p>
            <a:pPr eaLnBrk="1" hangingPunct="1"/>
            <a:r>
              <a:rPr lang="zh-CN" altLang="en-US" dirty="0"/>
              <a:t>对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r>
              <a:rPr lang="zh-CN" altLang="en-US" dirty="0"/>
              <a:t>，显然正确：</a:t>
            </a:r>
            <a:r>
              <a:rPr lang="en-US" altLang="zh-CN" dirty="0"/>
              <a:t>T</a:t>
            </a:r>
            <a:r>
              <a:rPr lang="en-US" altLang="zh-CN" dirty="0">
                <a:sym typeface="Wingdings" panose="05000000000000000000" pitchFamily="2" charset="2"/>
              </a:rPr>
              <a:t>A</a:t>
            </a:r>
            <a:endParaRPr lang="en-US" altLang="zh-CN" dirty="0"/>
          </a:p>
          <a:p>
            <a:pPr eaLnBrk="1" hangingPunct="1"/>
            <a:r>
              <a:rPr lang="zh-CN" altLang="en-US" dirty="0"/>
              <a:t>对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c…——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r>
              <a:rPr lang="zh-CN" altLang="en-US" dirty="0"/>
              <a:t>连接一个符号</a:t>
            </a:r>
            <a:r>
              <a:rPr lang="en-US" altLang="zh-CN" dirty="0"/>
              <a:t>——T</a:t>
            </a:r>
            <a:r>
              <a:rPr lang="zh-CN" altLang="en-US" dirty="0"/>
              <a:t>、</a:t>
            </a:r>
            <a:r>
              <a:rPr lang="en-US" altLang="zh-CN" dirty="0"/>
              <a:t>A</a:t>
            </a:r>
            <a:r>
              <a:rPr lang="zh-CN" altLang="en-US" dirty="0"/>
              <a:t>通过一条边到达的状态，显然也正确</a:t>
            </a:r>
          </a:p>
          <a:p>
            <a:pPr eaLnBrk="1" hangingPunct="1"/>
            <a:r>
              <a:rPr lang="zh-CN" altLang="en-US" dirty="0"/>
              <a:t>数学归纳法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F13F9AA6-72FA-40A5-AB7F-021DFE5B03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3.2</a:t>
            </a:r>
            <a:r>
              <a:rPr lang="zh-CN" altLang="en-US"/>
              <a:t>：</a:t>
            </a:r>
            <a:r>
              <a:rPr lang="en-US" altLang="zh-CN"/>
              <a:t>NFA</a:t>
            </a:r>
            <a:r>
              <a:rPr lang="zh-CN" altLang="en-US"/>
              <a:t>转换为</a:t>
            </a:r>
            <a:r>
              <a:rPr lang="en-US" altLang="zh-CN"/>
              <a:t>DFA(2)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52780CAD-6350-4545-AD3E-AAC979354A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  <a:noFill/>
        </p:spPr>
        <p:txBody>
          <a:bodyPr/>
          <a:lstStyle/>
          <a:p>
            <a:pPr eaLnBrk="1" hangingPunct="1">
              <a:buClrTx/>
              <a:buSzTx/>
              <a:buFontTx/>
              <a:buNone/>
            </a:pPr>
            <a:r>
              <a:rPr kumimoji="0" lang="zh-CN" altLang="en-US" sz="2400">
                <a:latin typeface="宋体" panose="02010600030101010101" pitchFamily="2" charset="-122"/>
              </a:rPr>
              <a:t>计算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-closure(T)</a:t>
            </a:r>
            <a:r>
              <a:rPr kumimoji="0" lang="zh-CN" altLang="en-US" sz="2400">
                <a:sym typeface="Symbol" panose="05050102010706020507" pitchFamily="18" charset="2"/>
              </a:rPr>
              <a:t>的</a:t>
            </a:r>
            <a:r>
              <a:rPr kumimoji="0" lang="zh-CN" altLang="en-US" sz="2400">
                <a:latin typeface="宋体" panose="02010600030101010101" pitchFamily="2" charset="-122"/>
                <a:sym typeface="Symbol" panose="05050102010706020507" pitchFamily="18" charset="2"/>
              </a:rPr>
              <a:t>算法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T</a:t>
            </a:r>
            <a:r>
              <a:rPr kumimoji="0" lang="zh-CN" altLang="en-US" sz="2000">
                <a:sym typeface="Symbol" panose="05050102010706020507" pitchFamily="18" charset="2"/>
              </a:rPr>
              <a:t>中所有状态压栈</a:t>
            </a:r>
            <a:r>
              <a:rPr kumimoji="0" lang="en-US" altLang="zh-CN" sz="2000">
                <a:sym typeface="Symbol" panose="05050102010706020507" pitchFamily="18" charset="2"/>
              </a:rPr>
              <a:t>;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ym typeface="Symbol" panose="05050102010706020507" pitchFamily="18" charset="2"/>
              </a:rPr>
              <a:t> -closure(T) = T;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while (</a:t>
            </a:r>
            <a:r>
              <a:rPr kumimoji="0" lang="zh-CN" altLang="en-US" sz="2000">
                <a:sym typeface="Symbol" panose="05050102010706020507" pitchFamily="18" charset="2"/>
              </a:rPr>
              <a:t>栈不空</a:t>
            </a:r>
            <a:r>
              <a:rPr kumimoji="0" lang="en-US" altLang="zh-CN" sz="2000">
                <a:sym typeface="Symbol" panose="05050102010706020507" pitchFamily="18" charset="2"/>
              </a:rPr>
              <a:t>) {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pop t;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for (</a:t>
            </a:r>
            <a:r>
              <a:rPr kumimoji="0" lang="zh-CN" altLang="en-US" sz="2000">
                <a:sym typeface="Symbol" panose="05050102010706020507" pitchFamily="18" charset="2"/>
              </a:rPr>
              <a:t>每个状态</a:t>
            </a:r>
            <a:r>
              <a:rPr kumimoji="0" lang="en-US" altLang="zh-CN" sz="2000">
                <a:sym typeface="Symbol" panose="05050102010706020507" pitchFamily="18" charset="2"/>
              </a:rPr>
              <a:t>u</a:t>
            </a:r>
            <a:r>
              <a:rPr kumimoji="0" lang="zh-CN" altLang="en-US" sz="2000">
                <a:sym typeface="Symbol" panose="05050102010706020507" pitchFamily="18" charset="2"/>
              </a:rPr>
              <a:t>，</a:t>
            </a:r>
            <a:r>
              <a:rPr kumimoji="0" lang="en-US" altLang="zh-CN" sz="2000">
                <a:sym typeface="Symbol" panose="05050102010706020507" pitchFamily="18" charset="2"/>
              </a:rPr>
              <a:t>t</a:t>
            </a:r>
            <a:r>
              <a:rPr kumimoji="0" lang="zh-CN" altLang="en-US" sz="2000">
                <a:sym typeface="Symbol" panose="05050102010706020507" pitchFamily="18" charset="2"/>
              </a:rPr>
              <a:t>到</a:t>
            </a:r>
            <a:r>
              <a:rPr kumimoji="0" lang="en-US" altLang="zh-CN" sz="2000">
                <a:sym typeface="Symbol" panose="05050102010706020507" pitchFamily="18" charset="2"/>
              </a:rPr>
              <a:t>u</a:t>
            </a:r>
            <a:r>
              <a:rPr kumimoji="0" lang="zh-CN" altLang="en-US" sz="2000">
                <a:sym typeface="Symbol" panose="05050102010706020507" pitchFamily="18" charset="2"/>
              </a:rPr>
              <a:t>有一条</a:t>
            </a:r>
            <a:r>
              <a:rPr kumimoji="0"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000">
                <a:sym typeface="Symbol" panose="05050102010706020507" pitchFamily="18" charset="2"/>
              </a:rPr>
              <a:t>边</a:t>
            </a:r>
            <a:r>
              <a:rPr kumimoji="0" lang="en-US" altLang="zh-CN" sz="2000">
                <a:sym typeface="Symbol" panose="05050102010706020507" pitchFamily="18" charset="2"/>
              </a:rPr>
              <a:t>) {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if (u</a:t>
            </a:r>
            <a:r>
              <a:rPr kumimoji="0" lang="zh-CN" altLang="en-US" sz="2000">
                <a:sym typeface="Symbol" panose="05050102010706020507" pitchFamily="18" charset="2"/>
              </a:rPr>
              <a:t>不在</a:t>
            </a:r>
            <a:r>
              <a:rPr kumimoji="0"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ym typeface="Symbol" panose="05050102010706020507" pitchFamily="18" charset="2"/>
              </a:rPr>
              <a:t> -closure(T)</a:t>
            </a:r>
            <a:r>
              <a:rPr kumimoji="0" lang="zh-CN" altLang="en-US" sz="2000">
                <a:sym typeface="Symbol" panose="05050102010706020507" pitchFamily="18" charset="2"/>
              </a:rPr>
              <a:t>中</a:t>
            </a:r>
            <a:r>
              <a:rPr kumimoji="0" lang="en-US" altLang="zh-CN" sz="2000">
                <a:sym typeface="Symbol" panose="05050102010706020507" pitchFamily="18" charset="2"/>
              </a:rPr>
              <a:t>) {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</a:t>
            </a:r>
            <a:r>
              <a:rPr kumimoji="0" lang="zh-CN" altLang="en-US" sz="2000">
                <a:sym typeface="Symbol" panose="05050102010706020507" pitchFamily="18" charset="2"/>
              </a:rPr>
              <a:t>将</a:t>
            </a:r>
            <a:r>
              <a:rPr kumimoji="0" lang="en-US" altLang="zh-CN" sz="2000">
                <a:sym typeface="Symbol" panose="05050102010706020507" pitchFamily="18" charset="2"/>
              </a:rPr>
              <a:t>u</a:t>
            </a:r>
            <a:r>
              <a:rPr kumimoji="0" lang="zh-CN" altLang="en-US" sz="2000">
                <a:sym typeface="Symbol" panose="05050102010706020507" pitchFamily="18" charset="2"/>
              </a:rPr>
              <a:t>加入</a:t>
            </a:r>
            <a:r>
              <a:rPr kumimoji="0"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ym typeface="Symbol" panose="05050102010706020507" pitchFamily="18" charset="2"/>
              </a:rPr>
              <a:t> -closure(T);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u</a:t>
            </a:r>
            <a:r>
              <a:rPr kumimoji="0" lang="zh-CN" altLang="en-US" sz="2000">
                <a:sym typeface="Symbol" panose="05050102010706020507" pitchFamily="18" charset="2"/>
              </a:rPr>
              <a:t>压栈</a:t>
            </a:r>
            <a:r>
              <a:rPr kumimoji="0" lang="en-US" altLang="zh-CN" sz="2000">
                <a:sym typeface="Symbol" panose="05050102010706020507" pitchFamily="18" charset="2"/>
              </a:rPr>
              <a:t>;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}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}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8692E756-8879-4DEE-B57C-8BABDCB85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3.2</a:t>
            </a:r>
            <a:r>
              <a:rPr lang="zh-CN" altLang="en-US"/>
              <a:t>：</a:t>
            </a:r>
            <a:r>
              <a:rPr lang="en-US" altLang="zh-CN"/>
              <a:t>NFA</a:t>
            </a:r>
            <a:r>
              <a:rPr lang="zh-CN" altLang="en-US"/>
              <a:t>转换为</a:t>
            </a:r>
            <a:r>
              <a:rPr lang="en-US" altLang="zh-CN"/>
              <a:t>DFA(3)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25F3A6AC-A651-4D13-906C-4B4C8E74CD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964488" cy="5486400"/>
          </a:xfrm>
          <a:noFill/>
        </p:spPr>
        <p:txBody>
          <a:bodyPr/>
          <a:lstStyle/>
          <a:p>
            <a:pPr eaLnBrk="1" hangingPunct="1">
              <a:buClrTx/>
              <a:buSzTx/>
              <a:buFontTx/>
              <a:buNone/>
            </a:pPr>
            <a:r>
              <a:rPr lang="en-US" altLang="zh-CN" sz="2400"/>
              <a:t>NFA</a:t>
            </a:r>
            <a:r>
              <a:rPr lang="en-US" altLang="zh-CN" sz="2400">
                <a:sym typeface="Symbol" panose="05050102010706020507" pitchFamily="18" charset="2"/>
              </a:rPr>
              <a:t>DFA</a:t>
            </a:r>
            <a:r>
              <a:rPr kumimoji="0" lang="zh-CN" altLang="en-US" sz="2400">
                <a:sym typeface="Symbol" panose="05050102010706020507" pitchFamily="18" charset="2"/>
              </a:rPr>
              <a:t>的</a:t>
            </a:r>
            <a:r>
              <a:rPr kumimoji="0" lang="zh-CN" altLang="en-US" sz="2400">
                <a:latin typeface="宋体" panose="02010600030101010101" pitchFamily="2" charset="-122"/>
                <a:sym typeface="Symbol" panose="05050102010706020507" pitchFamily="18" charset="2"/>
              </a:rPr>
              <a:t>算法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zh-CN" altLang="en-US" sz="2000">
                <a:sym typeface="Symbol" panose="05050102010706020507" pitchFamily="18" charset="2"/>
              </a:rPr>
              <a:t>初始， </a:t>
            </a:r>
            <a:r>
              <a:rPr kumimoji="0"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ym typeface="Symbol" panose="05050102010706020507" pitchFamily="18" charset="2"/>
              </a:rPr>
              <a:t> -closure(s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0</a:t>
            </a:r>
            <a:r>
              <a:rPr kumimoji="0" lang="en-US" altLang="zh-CN" sz="2000">
                <a:sym typeface="Symbol" panose="05050102010706020507" pitchFamily="18" charset="2"/>
              </a:rPr>
              <a:t>)</a:t>
            </a:r>
            <a:r>
              <a:rPr kumimoji="0" lang="zh-CN" altLang="en-US" sz="2000">
                <a:sym typeface="Symbol" panose="05050102010706020507" pitchFamily="18" charset="2"/>
              </a:rPr>
              <a:t>是</a:t>
            </a:r>
            <a:r>
              <a:rPr kumimoji="0" lang="en-US" altLang="zh-CN" sz="2000">
                <a:sym typeface="Symbol" panose="05050102010706020507" pitchFamily="18" charset="2"/>
              </a:rPr>
              <a:t>Dstates</a:t>
            </a:r>
            <a:r>
              <a:rPr kumimoji="0" lang="zh-CN" altLang="en-US" sz="2000">
                <a:sym typeface="Symbol" panose="05050102010706020507" pitchFamily="18" charset="2"/>
              </a:rPr>
              <a:t>（</a:t>
            </a:r>
            <a:r>
              <a:rPr kumimoji="0" lang="en-US" altLang="zh-CN" sz="2000">
                <a:sym typeface="Symbol" panose="05050102010706020507" pitchFamily="18" charset="2"/>
              </a:rPr>
              <a:t>DFA</a:t>
            </a:r>
            <a:r>
              <a:rPr kumimoji="0" lang="zh-CN" altLang="en-US" sz="2000">
                <a:sym typeface="Symbol" panose="05050102010706020507" pitchFamily="18" charset="2"/>
              </a:rPr>
              <a:t>状态集）中唯一状态，且未标记</a:t>
            </a:r>
            <a:r>
              <a:rPr kumimoji="0" lang="en-US" altLang="zh-CN" sz="2000">
                <a:sym typeface="Symbol" panose="05050102010706020507" pitchFamily="18" charset="2"/>
              </a:rPr>
              <a:t>;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while (Dstates</a:t>
            </a:r>
            <a:r>
              <a:rPr kumimoji="0" lang="zh-CN" altLang="en-US" sz="2000">
                <a:sym typeface="Symbol" panose="05050102010706020507" pitchFamily="18" charset="2"/>
              </a:rPr>
              <a:t>中存在未标记状态</a:t>
            </a:r>
            <a:r>
              <a:rPr kumimoji="0" lang="en-US" altLang="zh-CN" sz="2000">
                <a:sym typeface="Symbol" panose="05050102010706020507" pitchFamily="18" charset="2"/>
              </a:rPr>
              <a:t>T) {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</a:t>
            </a:r>
            <a:r>
              <a:rPr kumimoji="0" lang="zh-CN" altLang="en-US" sz="2000">
                <a:sym typeface="Symbol" panose="05050102010706020507" pitchFamily="18" charset="2"/>
              </a:rPr>
              <a:t>标记</a:t>
            </a:r>
            <a:r>
              <a:rPr kumimoji="0" lang="en-US" altLang="zh-CN" sz="2000">
                <a:sym typeface="Symbol" panose="05050102010706020507" pitchFamily="18" charset="2"/>
              </a:rPr>
              <a:t>T;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for (</a:t>
            </a:r>
            <a:r>
              <a:rPr kumimoji="0" lang="zh-CN" altLang="en-US" sz="2000">
                <a:sym typeface="Symbol" panose="05050102010706020507" pitchFamily="18" charset="2"/>
              </a:rPr>
              <a:t>每个输入符号</a:t>
            </a:r>
            <a:r>
              <a:rPr kumimoji="0" lang="en-US" altLang="zh-CN" sz="2000">
                <a:sym typeface="Symbol" panose="05050102010706020507" pitchFamily="18" charset="2"/>
              </a:rPr>
              <a:t>a) {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U = </a:t>
            </a:r>
            <a:r>
              <a:rPr kumimoji="0"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ym typeface="Symbol" panose="05050102010706020507" pitchFamily="18" charset="2"/>
              </a:rPr>
              <a:t> -closure(</a:t>
            </a:r>
            <a:r>
              <a:rPr lang="en-US" altLang="zh-CN" sz="2000"/>
              <a:t>δ(</a:t>
            </a:r>
            <a:r>
              <a:rPr kumimoji="0" lang="en-US" altLang="zh-CN" sz="2000">
                <a:sym typeface="Symbol" panose="05050102010706020507" pitchFamily="18" charset="2"/>
              </a:rPr>
              <a:t>T, a));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if (U</a:t>
            </a:r>
            <a:r>
              <a:rPr kumimoji="0" lang="zh-CN" altLang="en-US" sz="2000">
                <a:sym typeface="Symbol" panose="05050102010706020507" pitchFamily="18" charset="2"/>
              </a:rPr>
              <a:t>不在</a:t>
            </a:r>
            <a:r>
              <a:rPr kumimoji="0" lang="en-US" altLang="zh-CN" sz="2000">
                <a:sym typeface="Symbol" panose="05050102010706020507" pitchFamily="18" charset="2"/>
              </a:rPr>
              <a:t>Dstates</a:t>
            </a:r>
            <a:r>
              <a:rPr kumimoji="0" lang="zh-CN" altLang="en-US" sz="2000">
                <a:sym typeface="Symbol" panose="05050102010706020507" pitchFamily="18" charset="2"/>
              </a:rPr>
              <a:t>中</a:t>
            </a:r>
            <a:r>
              <a:rPr kumimoji="0" lang="en-US" altLang="zh-CN" sz="2000">
                <a:sym typeface="Symbol" panose="05050102010706020507" pitchFamily="18" charset="2"/>
              </a:rPr>
              <a:t>)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	</a:t>
            </a:r>
            <a:r>
              <a:rPr kumimoji="0" lang="zh-CN" altLang="en-US" sz="2000">
                <a:sym typeface="Symbol" panose="05050102010706020507" pitchFamily="18" charset="2"/>
              </a:rPr>
              <a:t>将</a:t>
            </a:r>
            <a:r>
              <a:rPr kumimoji="0" lang="en-US" altLang="zh-CN" sz="2000">
                <a:sym typeface="Symbol" panose="05050102010706020507" pitchFamily="18" charset="2"/>
              </a:rPr>
              <a:t>U</a:t>
            </a:r>
            <a:r>
              <a:rPr kumimoji="0" lang="zh-CN" altLang="en-US" sz="2000">
                <a:sym typeface="Symbol" panose="05050102010706020507" pitchFamily="18" charset="2"/>
              </a:rPr>
              <a:t>加入</a:t>
            </a:r>
            <a:r>
              <a:rPr kumimoji="0" lang="en-US" altLang="zh-CN" sz="2000">
                <a:sym typeface="Symbol" panose="05050102010706020507" pitchFamily="18" charset="2"/>
              </a:rPr>
              <a:t>Dstates</a:t>
            </a:r>
            <a:r>
              <a:rPr kumimoji="0" lang="zh-CN" altLang="en-US" sz="2000">
                <a:sym typeface="Symbol" panose="05050102010706020507" pitchFamily="18" charset="2"/>
              </a:rPr>
              <a:t>，且设为未标记</a:t>
            </a:r>
            <a:r>
              <a:rPr kumimoji="0" lang="en-US" altLang="zh-CN" sz="2000">
                <a:sym typeface="Symbol" panose="05050102010706020507" pitchFamily="18" charset="2"/>
              </a:rPr>
              <a:t>;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		Dtran[T, a] = U;	//DFA</a:t>
            </a:r>
            <a:r>
              <a:rPr kumimoji="0" lang="zh-CN" altLang="en-US" sz="2000">
                <a:sym typeface="Symbol" panose="05050102010706020507" pitchFamily="18" charset="2"/>
              </a:rPr>
              <a:t>状态转换矩阵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zh-CN" altLang="en-US" sz="2000">
                <a:sym typeface="Symbol" panose="05050102010706020507" pitchFamily="18" charset="2"/>
              </a:rPr>
              <a:t>	</a:t>
            </a:r>
            <a:r>
              <a:rPr kumimoji="0" lang="en-US" altLang="zh-CN" sz="2000">
                <a:sym typeface="Symbol" panose="05050102010706020507" pitchFamily="18" charset="2"/>
              </a:rPr>
              <a:t>}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}</a:t>
            </a:r>
          </a:p>
          <a:p>
            <a:pPr eaLnBrk="1" hangingPunct="1">
              <a:buClrTx/>
              <a:buSzTx/>
              <a:buFontTx/>
              <a:buNone/>
            </a:pPr>
            <a:r>
              <a:rPr kumimoji="0"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>
                <a:sym typeface="Symbol" panose="05050102010706020507" pitchFamily="18" charset="2"/>
              </a:rPr>
              <a:t> -closure(s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0</a:t>
            </a:r>
            <a:r>
              <a:rPr kumimoji="0" lang="en-US" altLang="zh-CN" sz="2000">
                <a:sym typeface="Symbol" panose="05050102010706020507" pitchFamily="18" charset="2"/>
              </a:rPr>
              <a:t>)</a:t>
            </a:r>
            <a:r>
              <a:rPr kumimoji="0" lang="zh-CN" altLang="en-US" sz="2000">
                <a:sym typeface="Symbol" panose="05050102010706020507" pitchFamily="18" charset="2"/>
              </a:rPr>
              <a:t>为初态，包含</a:t>
            </a:r>
            <a:r>
              <a:rPr kumimoji="0" lang="en-US" altLang="zh-CN" sz="2000">
                <a:sym typeface="Symbol" panose="05050102010706020507" pitchFamily="18" charset="2"/>
              </a:rPr>
              <a:t>NFA</a:t>
            </a:r>
            <a:r>
              <a:rPr kumimoji="0" lang="zh-CN" altLang="en-US" sz="2000">
                <a:sym typeface="Symbol" panose="05050102010706020507" pitchFamily="18" charset="2"/>
              </a:rPr>
              <a:t>终态的</a:t>
            </a:r>
            <a:r>
              <a:rPr kumimoji="0" lang="en-US" altLang="zh-CN" sz="2000">
                <a:sym typeface="Symbol" panose="05050102010706020507" pitchFamily="18" charset="2"/>
              </a:rPr>
              <a:t>DFA</a:t>
            </a:r>
            <a:r>
              <a:rPr kumimoji="0" lang="zh-CN" altLang="en-US" sz="2000">
                <a:sym typeface="Symbol" panose="05050102010706020507" pitchFamily="18" charset="2"/>
              </a:rPr>
              <a:t>状态为</a:t>
            </a:r>
            <a:r>
              <a:rPr kumimoji="0" lang="en-US" altLang="zh-CN" sz="2000">
                <a:sym typeface="Symbol" panose="05050102010706020507" pitchFamily="18" charset="2"/>
              </a:rPr>
              <a:t>DFA</a:t>
            </a:r>
            <a:r>
              <a:rPr kumimoji="0" lang="zh-CN" altLang="en-US" sz="2000">
                <a:sym typeface="Symbol" panose="05050102010706020507" pitchFamily="18" charset="2"/>
              </a:rPr>
              <a:t>终态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DD575F12-D69F-47A1-A59F-14100E5C7B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en-US" altLang="zh-CN">
                <a:sym typeface="Symbol" panose="05050102010706020507" pitchFamily="18" charset="2"/>
              </a:rPr>
              <a:t>DFA</a:t>
            </a:r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34147" name="Line 5">
            <a:extLst>
              <a:ext uri="{FF2B5EF4-FFF2-40B4-BE49-F238E27FC236}">
                <a16:creationId xmlns:a16="http://schemas.microsoft.com/office/drawing/2014/main" id="{0541D00B-0DB5-4096-9402-CE50FCB346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2895600"/>
            <a:ext cx="3048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48" name="Line 6">
            <a:extLst>
              <a:ext uri="{FF2B5EF4-FFF2-40B4-BE49-F238E27FC236}">
                <a16:creationId xmlns:a16="http://schemas.microsoft.com/office/drawing/2014/main" id="{D576A76A-8AA8-4D5F-9B6D-B8D3A237B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36576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49" name="Oval 7">
            <a:extLst>
              <a:ext uri="{FF2B5EF4-FFF2-40B4-BE49-F238E27FC236}">
                <a16:creationId xmlns:a16="http://schemas.microsoft.com/office/drawing/2014/main" id="{42F13574-5152-4ABF-B85D-99802C502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200400"/>
            <a:ext cx="8382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4150" name="Oval 8">
            <a:extLst>
              <a:ext uri="{FF2B5EF4-FFF2-40B4-BE49-F238E27FC236}">
                <a16:creationId xmlns:a16="http://schemas.microsoft.com/office/drawing/2014/main" id="{6943B5D1-13CA-4BC2-8C56-A45665F98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200400"/>
            <a:ext cx="8382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4151" name="Oval 9">
            <a:extLst>
              <a:ext uri="{FF2B5EF4-FFF2-40B4-BE49-F238E27FC236}">
                <a16:creationId xmlns:a16="http://schemas.microsoft.com/office/drawing/2014/main" id="{AFC406B8-163A-4729-8A32-A32EF7EB9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4114800"/>
            <a:ext cx="8382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4152" name="Oval 10">
            <a:extLst>
              <a:ext uri="{FF2B5EF4-FFF2-40B4-BE49-F238E27FC236}">
                <a16:creationId xmlns:a16="http://schemas.microsoft.com/office/drawing/2014/main" id="{EE85E852-D027-423C-A296-B02870E9F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114800"/>
            <a:ext cx="8382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grpSp>
        <p:nvGrpSpPr>
          <p:cNvPr id="134153" name="Group 11">
            <a:extLst>
              <a:ext uri="{FF2B5EF4-FFF2-40B4-BE49-F238E27FC236}">
                <a16:creationId xmlns:a16="http://schemas.microsoft.com/office/drawing/2014/main" id="{98A0C64F-0DEB-452F-811C-1D6E93D2C9F2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3200400"/>
            <a:ext cx="838200" cy="838200"/>
            <a:chOff x="3648" y="2304"/>
            <a:chExt cx="528" cy="528"/>
          </a:xfrm>
        </p:grpSpPr>
        <p:sp>
          <p:nvSpPr>
            <p:cNvPr id="134188" name="Oval 12">
              <a:extLst>
                <a:ext uri="{FF2B5EF4-FFF2-40B4-BE49-F238E27FC236}">
                  <a16:creationId xmlns:a16="http://schemas.microsoft.com/office/drawing/2014/main" id="{C7E367DE-8820-40E6-8893-D93035B31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304"/>
              <a:ext cx="528" cy="52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34189" name="Oval 13">
              <a:extLst>
                <a:ext uri="{FF2B5EF4-FFF2-40B4-BE49-F238E27FC236}">
                  <a16:creationId xmlns:a16="http://schemas.microsoft.com/office/drawing/2014/main" id="{581F3731-210A-4053-8510-F249B6934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352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34154" name="Line 14">
            <a:extLst>
              <a:ext uri="{FF2B5EF4-FFF2-40B4-BE49-F238E27FC236}">
                <a16:creationId xmlns:a16="http://schemas.microsoft.com/office/drawing/2014/main" id="{869E2E06-5D88-4A16-8EA7-06807BBCEF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657600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55" name="Line 15">
            <a:extLst>
              <a:ext uri="{FF2B5EF4-FFF2-40B4-BE49-F238E27FC236}">
                <a16:creationId xmlns:a16="http://schemas.microsoft.com/office/drawing/2014/main" id="{8CEF007E-5EB4-4A83-A35F-828B0A7500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2819400"/>
            <a:ext cx="4572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56" name="Line 16">
            <a:extLst>
              <a:ext uri="{FF2B5EF4-FFF2-40B4-BE49-F238E27FC236}">
                <a16:creationId xmlns:a16="http://schemas.microsoft.com/office/drawing/2014/main" id="{227B698C-3B82-4B3D-A980-07733816D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962400"/>
            <a:ext cx="7620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57" name="Line 17">
            <a:extLst>
              <a:ext uri="{FF2B5EF4-FFF2-40B4-BE49-F238E27FC236}">
                <a16:creationId xmlns:a16="http://schemas.microsoft.com/office/drawing/2014/main" id="{04A31FF9-8D95-474C-BECF-E5737379DD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45720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58" name="Oval 18">
            <a:extLst>
              <a:ext uri="{FF2B5EF4-FFF2-40B4-BE49-F238E27FC236}">
                <a16:creationId xmlns:a16="http://schemas.microsoft.com/office/drawing/2014/main" id="{8C22CA3D-125F-43CC-9397-ED0457D1B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3200400"/>
            <a:ext cx="8382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4159" name="Oval 19">
            <a:extLst>
              <a:ext uri="{FF2B5EF4-FFF2-40B4-BE49-F238E27FC236}">
                <a16:creationId xmlns:a16="http://schemas.microsoft.com/office/drawing/2014/main" id="{57AF4195-E87C-4836-862D-E8F19986C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133600"/>
            <a:ext cx="8382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4160" name="Oval 20">
            <a:extLst>
              <a:ext uri="{FF2B5EF4-FFF2-40B4-BE49-F238E27FC236}">
                <a16:creationId xmlns:a16="http://schemas.microsoft.com/office/drawing/2014/main" id="{6BC2974A-340B-42A1-9AB0-4CBCEFA85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133600"/>
            <a:ext cx="8382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4161" name="Line 21">
            <a:extLst>
              <a:ext uri="{FF2B5EF4-FFF2-40B4-BE49-F238E27FC236}">
                <a16:creationId xmlns:a16="http://schemas.microsoft.com/office/drawing/2014/main" id="{4886E2FA-D811-4C37-97D7-501A6AED486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25908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2" name="Line 22">
            <a:extLst>
              <a:ext uri="{FF2B5EF4-FFF2-40B4-BE49-F238E27FC236}">
                <a16:creationId xmlns:a16="http://schemas.microsoft.com/office/drawing/2014/main" id="{39F03AC0-BD29-4BDC-AB3E-D07B543FE4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59080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3" name="Oval 23">
            <a:extLst>
              <a:ext uri="{FF2B5EF4-FFF2-40B4-BE49-F238E27FC236}">
                <a16:creationId xmlns:a16="http://schemas.microsoft.com/office/drawing/2014/main" id="{8E28FE12-3985-4584-8167-BE0F7517E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133600"/>
            <a:ext cx="8382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4164" name="Line 24">
            <a:extLst>
              <a:ext uri="{FF2B5EF4-FFF2-40B4-BE49-F238E27FC236}">
                <a16:creationId xmlns:a16="http://schemas.microsoft.com/office/drawing/2014/main" id="{1B68D711-2DF9-4060-BF31-625EA11789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3962400"/>
            <a:ext cx="10668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4165" name="Text Box 25">
            <a:extLst>
              <a:ext uri="{FF2B5EF4-FFF2-40B4-BE49-F238E27FC236}">
                <a16:creationId xmlns:a16="http://schemas.microsoft.com/office/drawing/2014/main" id="{CAD7C7D5-3DFE-4757-A4BD-BE25A3A39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352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0</a:t>
            </a:r>
          </a:p>
        </p:txBody>
      </p:sp>
      <p:sp>
        <p:nvSpPr>
          <p:cNvPr id="134166" name="Text Box 26">
            <a:extLst>
              <a:ext uri="{FF2B5EF4-FFF2-40B4-BE49-F238E27FC236}">
                <a16:creationId xmlns:a16="http://schemas.microsoft.com/office/drawing/2014/main" id="{9B5F9ADC-C602-45F6-90CE-BFDB4EF9F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3352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8</a:t>
            </a:r>
          </a:p>
        </p:txBody>
      </p:sp>
      <p:sp>
        <p:nvSpPr>
          <p:cNvPr id="134167" name="Text Box 27">
            <a:extLst>
              <a:ext uri="{FF2B5EF4-FFF2-40B4-BE49-F238E27FC236}">
                <a16:creationId xmlns:a16="http://schemas.microsoft.com/office/drawing/2014/main" id="{0A7C516A-1587-40C0-8120-0BB9EBCFB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352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5</a:t>
            </a:r>
          </a:p>
        </p:txBody>
      </p:sp>
      <p:sp>
        <p:nvSpPr>
          <p:cNvPr id="134168" name="Text Box 28">
            <a:extLst>
              <a:ext uri="{FF2B5EF4-FFF2-40B4-BE49-F238E27FC236}">
                <a16:creationId xmlns:a16="http://schemas.microsoft.com/office/drawing/2014/main" id="{DB965813-F85B-47E1-8D29-73940DD3A1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286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4</a:t>
            </a:r>
          </a:p>
        </p:txBody>
      </p:sp>
      <p:sp>
        <p:nvSpPr>
          <p:cNvPr id="134169" name="Text Box 29">
            <a:extLst>
              <a:ext uri="{FF2B5EF4-FFF2-40B4-BE49-F238E27FC236}">
                <a16:creationId xmlns:a16="http://schemas.microsoft.com/office/drawing/2014/main" id="{1B7169AD-5A64-413D-93F3-FB00A5AF8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2672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7</a:t>
            </a:r>
          </a:p>
        </p:txBody>
      </p:sp>
      <p:sp>
        <p:nvSpPr>
          <p:cNvPr id="134170" name="Text Box 30">
            <a:extLst>
              <a:ext uri="{FF2B5EF4-FFF2-40B4-BE49-F238E27FC236}">
                <a16:creationId xmlns:a16="http://schemas.microsoft.com/office/drawing/2014/main" id="{47841F17-E069-4096-BEBF-3B40AC8B7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286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</a:p>
        </p:txBody>
      </p:sp>
      <p:sp>
        <p:nvSpPr>
          <p:cNvPr id="134171" name="Text Box 31">
            <a:extLst>
              <a:ext uri="{FF2B5EF4-FFF2-40B4-BE49-F238E27FC236}">
                <a16:creationId xmlns:a16="http://schemas.microsoft.com/office/drawing/2014/main" id="{C9EC7DAF-0ED2-4D41-8AEC-3E927837E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2672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6</a:t>
            </a:r>
          </a:p>
        </p:txBody>
      </p:sp>
      <p:sp>
        <p:nvSpPr>
          <p:cNvPr id="134172" name="Text Box 32">
            <a:extLst>
              <a:ext uri="{FF2B5EF4-FFF2-40B4-BE49-F238E27FC236}">
                <a16:creationId xmlns:a16="http://schemas.microsoft.com/office/drawing/2014/main" id="{01181E62-15D3-4518-866B-0552D86F8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3622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2</a:t>
            </a:r>
          </a:p>
        </p:txBody>
      </p:sp>
      <p:sp>
        <p:nvSpPr>
          <p:cNvPr id="134173" name="Text Box 33">
            <a:extLst>
              <a:ext uri="{FF2B5EF4-FFF2-40B4-BE49-F238E27FC236}">
                <a16:creationId xmlns:a16="http://schemas.microsoft.com/office/drawing/2014/main" id="{276CA798-9D03-4314-B5C6-D88674C05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352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</a:t>
            </a:r>
          </a:p>
        </p:txBody>
      </p:sp>
      <p:cxnSp>
        <p:nvCxnSpPr>
          <p:cNvPr id="134174" name="AutoShape 34">
            <a:extLst>
              <a:ext uri="{FF2B5EF4-FFF2-40B4-BE49-F238E27FC236}">
                <a16:creationId xmlns:a16="http://schemas.microsoft.com/office/drawing/2014/main" id="{30E1D38D-6384-4CD2-B0C8-1CDEE602AD54}"/>
              </a:ext>
            </a:extLst>
          </p:cNvPr>
          <p:cNvCxnSpPr>
            <a:cxnSpLocks noChangeShapeType="1"/>
            <a:stCxn id="134149" idx="4"/>
            <a:endCxn id="134188" idx="4"/>
          </p:cNvCxnSpPr>
          <p:nvPr/>
        </p:nvCxnSpPr>
        <p:spPr bwMode="auto">
          <a:xfrm rot="16200000" flipH="1">
            <a:off x="4761706" y="381794"/>
            <a:ext cx="1588" cy="7315200"/>
          </a:xfrm>
          <a:prstGeom prst="curvedConnector3">
            <a:avLst>
              <a:gd name="adj1" fmla="val 75700000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4175" name="AutoShape 35">
            <a:extLst>
              <a:ext uri="{FF2B5EF4-FFF2-40B4-BE49-F238E27FC236}">
                <a16:creationId xmlns:a16="http://schemas.microsoft.com/office/drawing/2014/main" id="{10F75DF9-C9FF-439D-9847-7504454086F7}"/>
              </a:ext>
            </a:extLst>
          </p:cNvPr>
          <p:cNvCxnSpPr>
            <a:cxnSpLocks noChangeShapeType="1"/>
            <a:stCxn id="134158" idx="0"/>
            <a:endCxn id="134150" idx="0"/>
          </p:cNvCxnSpPr>
          <p:nvPr/>
        </p:nvCxnSpPr>
        <p:spPr bwMode="auto">
          <a:xfrm rot="-5400000" flipH="1" flipV="1">
            <a:off x="4799806" y="800894"/>
            <a:ext cx="1588" cy="4800600"/>
          </a:xfrm>
          <a:prstGeom prst="curvedConnector3">
            <a:avLst>
              <a:gd name="adj1" fmla="val -116000032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4176" name="Text Box 36">
            <a:extLst>
              <a:ext uri="{FF2B5EF4-FFF2-40B4-BE49-F238E27FC236}">
                <a16:creationId xmlns:a16="http://schemas.microsoft.com/office/drawing/2014/main" id="{7B474608-9F05-4773-BEBA-838EAA6C8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8813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4177" name="Text Box 37">
            <a:extLst>
              <a:ext uri="{FF2B5EF4-FFF2-40B4-BE49-F238E27FC236}">
                <a16:creationId xmlns:a16="http://schemas.microsoft.com/office/drawing/2014/main" id="{17339059-979A-475A-B27B-8DF42E7903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971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4178" name="Text Box 38">
            <a:extLst>
              <a:ext uri="{FF2B5EF4-FFF2-40B4-BE49-F238E27FC236}">
                <a16:creationId xmlns:a16="http://schemas.microsoft.com/office/drawing/2014/main" id="{2B075E54-8A0B-4090-820A-1A2A2B1B3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1371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4179" name="Text Box 39">
            <a:extLst>
              <a:ext uri="{FF2B5EF4-FFF2-40B4-BE49-F238E27FC236}">
                <a16:creationId xmlns:a16="http://schemas.microsoft.com/office/drawing/2014/main" id="{1AA5D82F-9D72-4D64-8F72-22F5091789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37195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4180" name="Text Box 40">
            <a:extLst>
              <a:ext uri="{FF2B5EF4-FFF2-40B4-BE49-F238E27FC236}">
                <a16:creationId xmlns:a16="http://schemas.microsoft.com/office/drawing/2014/main" id="{0A660F9B-4A93-49EF-B49B-7F761F598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50911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4181" name="Text Box 41">
            <a:extLst>
              <a:ext uri="{FF2B5EF4-FFF2-40B4-BE49-F238E27FC236}">
                <a16:creationId xmlns:a16="http://schemas.microsoft.com/office/drawing/2014/main" id="{5226BC1C-D1BF-4920-B739-49C948B07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7957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4182" name="Text Box 42">
            <a:extLst>
              <a:ext uri="{FF2B5EF4-FFF2-40B4-BE49-F238E27FC236}">
                <a16:creationId xmlns:a16="http://schemas.microsoft.com/office/drawing/2014/main" id="{D668F43A-B0A2-4923-BA2D-3C9AA550A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2623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4183" name="Text Box 43">
            <a:extLst>
              <a:ext uri="{FF2B5EF4-FFF2-40B4-BE49-F238E27FC236}">
                <a16:creationId xmlns:a16="http://schemas.microsoft.com/office/drawing/2014/main" id="{ED51B4BF-3B37-469C-8E01-D5D03CF0AF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21955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34184" name="Text Box 44">
            <a:extLst>
              <a:ext uri="{FF2B5EF4-FFF2-40B4-BE49-F238E27FC236}">
                <a16:creationId xmlns:a16="http://schemas.microsoft.com/office/drawing/2014/main" id="{5249885E-FC65-4C28-80BE-31C6474C2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1955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endParaRPr kumimoji="0" lang="en-US" altLang="zh-CN" sz="2400"/>
          </a:p>
        </p:txBody>
      </p:sp>
      <p:sp>
        <p:nvSpPr>
          <p:cNvPr id="134185" name="Text Box 45">
            <a:extLst>
              <a:ext uri="{FF2B5EF4-FFF2-40B4-BE49-F238E27FC236}">
                <a16:creationId xmlns:a16="http://schemas.microsoft.com/office/drawing/2014/main" id="{B894DE5C-0F06-4C3B-93E6-AA6482AE1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1767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c</a:t>
            </a:r>
            <a:endParaRPr kumimoji="0" lang="en-US" altLang="zh-CN" sz="2400"/>
          </a:p>
        </p:txBody>
      </p:sp>
      <p:sp>
        <p:nvSpPr>
          <p:cNvPr id="134186" name="Text Box 46">
            <a:extLst>
              <a:ext uri="{FF2B5EF4-FFF2-40B4-BE49-F238E27FC236}">
                <a16:creationId xmlns:a16="http://schemas.microsoft.com/office/drawing/2014/main" id="{1D5A2F85-3E28-4464-989E-778A6B729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3262313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4187" name="Line 47">
            <a:extLst>
              <a:ext uri="{FF2B5EF4-FFF2-40B4-BE49-F238E27FC236}">
                <a16:creationId xmlns:a16="http://schemas.microsoft.com/office/drawing/2014/main" id="{B67BBB93-6A84-4C68-92D0-9232E357286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" y="3643313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9DE2EDDA-D7D3-4628-AFE2-9F3E54B329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en-US" altLang="zh-CN">
                <a:sym typeface="Symbol" panose="05050102010706020507" pitchFamily="18" charset="2"/>
              </a:rPr>
              <a:t>DFA</a:t>
            </a:r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（续）</a:t>
            </a:r>
          </a:p>
        </p:txBody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DE4D9498-F0DE-4948-9B57-6D47364EE2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886200"/>
            <a:ext cx="7772400" cy="28194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-closure({0}) = { 0, 1, 2, 6, 8}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</a:t>
            </a:r>
            <a:r>
              <a:rPr lang="en-US" altLang="zh-CN" sz="2400"/>
              <a:t>δ(</a:t>
            </a:r>
            <a:r>
              <a:rPr kumimoji="0" lang="en-US" altLang="zh-CN" sz="2400">
                <a:sym typeface="Symbol" panose="05050102010706020507" pitchFamily="18" charset="2"/>
              </a:rPr>
              <a:t>{ 0, 1, 2, 6, 8},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) =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-closure({3}) = {3}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</a:t>
            </a:r>
            <a:r>
              <a:rPr lang="en-US" altLang="zh-CN" sz="2400"/>
              <a:t>δ(</a:t>
            </a:r>
            <a:r>
              <a:rPr kumimoji="0" lang="en-US" altLang="zh-CN" sz="2400">
                <a:sym typeface="Symbol" panose="05050102010706020507" pitchFamily="18" charset="2"/>
              </a:rPr>
              <a:t>{ 0, 1, 2, 6, 8},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b</a:t>
            </a:r>
            <a:r>
              <a:rPr kumimoji="0" lang="en-US" altLang="zh-CN" sz="2400">
                <a:sym typeface="Symbol" panose="05050102010706020507" pitchFamily="18" charset="2"/>
              </a:rPr>
              <a:t>) =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-closure({}) = {}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</a:t>
            </a:r>
            <a:r>
              <a:rPr lang="en-US" altLang="zh-CN" sz="2400"/>
              <a:t>δ(</a:t>
            </a:r>
            <a:r>
              <a:rPr kumimoji="0" lang="en-US" altLang="zh-CN" sz="2400">
                <a:sym typeface="Symbol" panose="05050102010706020507" pitchFamily="18" charset="2"/>
              </a:rPr>
              <a:t>{ 0, 1, 2, 6, 8},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c</a:t>
            </a:r>
            <a:r>
              <a:rPr kumimoji="0" lang="en-US" altLang="zh-CN" sz="2400">
                <a:sym typeface="Symbol" panose="05050102010706020507" pitchFamily="18" charset="2"/>
              </a:rPr>
              <a:t>) =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-closure({7}) = {1, 2, 5, 6, 7, 8}</a:t>
            </a:r>
          </a:p>
        </p:txBody>
      </p:sp>
      <p:sp>
        <p:nvSpPr>
          <p:cNvPr id="135172" name="Line 184">
            <a:extLst>
              <a:ext uri="{FF2B5EF4-FFF2-40B4-BE49-F238E27FC236}">
                <a16:creationId xmlns:a16="http://schemas.microsoft.com/office/drawing/2014/main" id="{EBA2FFB9-6EE2-4E40-B0C5-73766788EB1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473700" y="2211388"/>
            <a:ext cx="182563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73" name="Line 185">
            <a:extLst>
              <a:ext uri="{FF2B5EF4-FFF2-40B4-BE49-F238E27FC236}">
                <a16:creationId xmlns:a16="http://schemas.microsoft.com/office/drawing/2014/main" id="{320E1628-FECA-4DE2-8768-3AAB24B58D7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069013" y="2668588"/>
            <a:ext cx="274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74" name="Oval 186">
            <a:extLst>
              <a:ext uri="{FF2B5EF4-FFF2-40B4-BE49-F238E27FC236}">
                <a16:creationId xmlns:a16="http://schemas.microsoft.com/office/drawing/2014/main" id="{66CA3466-4B19-4809-8DB4-D956814854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0" y="2393950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5175" name="Oval 187">
            <a:extLst>
              <a:ext uri="{FF2B5EF4-FFF2-40B4-BE49-F238E27FC236}">
                <a16:creationId xmlns:a16="http://schemas.microsoft.com/office/drawing/2014/main" id="{2EB73041-A6C5-4347-BFEE-B99CAD57D22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82875" y="2393950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5176" name="Oval 188">
            <a:extLst>
              <a:ext uri="{FF2B5EF4-FFF2-40B4-BE49-F238E27FC236}">
                <a16:creationId xmlns:a16="http://schemas.microsoft.com/office/drawing/2014/main" id="{50B78C9F-BB7E-4B1A-9D48-389049A8BE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97275" y="2943225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5177" name="Oval 189">
            <a:extLst>
              <a:ext uri="{FF2B5EF4-FFF2-40B4-BE49-F238E27FC236}">
                <a16:creationId xmlns:a16="http://schemas.microsoft.com/office/drawing/2014/main" id="{1B3ACFE5-3404-46E4-88F7-6869B6538B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59300" y="2943225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grpSp>
        <p:nvGrpSpPr>
          <p:cNvPr id="135178" name="Group 190">
            <a:extLst>
              <a:ext uri="{FF2B5EF4-FFF2-40B4-BE49-F238E27FC236}">
                <a16:creationId xmlns:a16="http://schemas.microsoft.com/office/drawing/2014/main" id="{3CCB6493-B3B8-4EDF-A5BB-59E8C2E69A8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97613" y="2393950"/>
            <a:ext cx="503237" cy="503238"/>
            <a:chOff x="3648" y="2304"/>
            <a:chExt cx="528" cy="528"/>
          </a:xfrm>
        </p:grpSpPr>
        <p:sp>
          <p:nvSpPr>
            <p:cNvPr id="135213" name="Oval 191">
              <a:extLst>
                <a:ext uri="{FF2B5EF4-FFF2-40B4-BE49-F238E27FC236}">
                  <a16:creationId xmlns:a16="http://schemas.microsoft.com/office/drawing/2014/main" id="{FC6BD4B5-65E5-4D50-8534-EA97F15B2C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8" y="2304"/>
              <a:ext cx="528" cy="52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35214" name="Oval 192">
              <a:extLst>
                <a:ext uri="{FF2B5EF4-FFF2-40B4-BE49-F238E27FC236}">
                  <a16:creationId xmlns:a16="http://schemas.microsoft.com/office/drawing/2014/main" id="{D4C711C8-1FAD-42E6-B77F-F0F8B0BD30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96" y="2352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35179" name="Line 193">
            <a:extLst>
              <a:ext uri="{FF2B5EF4-FFF2-40B4-BE49-F238E27FC236}">
                <a16:creationId xmlns:a16="http://schemas.microsoft.com/office/drawing/2014/main" id="{63D7E615-CC42-40BE-B7F6-B4E528C647D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08238" y="2668588"/>
            <a:ext cx="274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0" name="Line 194">
            <a:extLst>
              <a:ext uri="{FF2B5EF4-FFF2-40B4-BE49-F238E27FC236}">
                <a16:creationId xmlns:a16="http://schemas.microsoft.com/office/drawing/2014/main" id="{E0B54230-002D-4979-AD3B-E7B62D331CB6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049588" y="2165350"/>
            <a:ext cx="273050" cy="274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1" name="Line 195">
            <a:extLst>
              <a:ext uri="{FF2B5EF4-FFF2-40B4-BE49-F238E27FC236}">
                <a16:creationId xmlns:a16="http://schemas.microsoft.com/office/drawing/2014/main" id="{83C1AE4C-CB53-4002-AAF6-ADDD8C42041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140075" y="2851150"/>
            <a:ext cx="457200" cy="274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2" name="Line 196">
            <a:extLst>
              <a:ext uri="{FF2B5EF4-FFF2-40B4-BE49-F238E27FC236}">
                <a16:creationId xmlns:a16="http://schemas.microsoft.com/office/drawing/2014/main" id="{C527DC43-2B6B-4505-96D1-C0DD00C851A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100513" y="3217863"/>
            <a:ext cx="4587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3" name="Oval 197">
            <a:extLst>
              <a:ext uri="{FF2B5EF4-FFF2-40B4-BE49-F238E27FC236}">
                <a16:creationId xmlns:a16="http://schemas.microsoft.com/office/drawing/2014/main" id="{5AC676D8-FB1D-4287-B077-8197962B0D7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5775" y="2393950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5184" name="Oval 198">
            <a:extLst>
              <a:ext uri="{FF2B5EF4-FFF2-40B4-BE49-F238E27FC236}">
                <a16:creationId xmlns:a16="http://schemas.microsoft.com/office/drawing/2014/main" id="{CC381DBD-FB67-4DE9-9E38-92A8253FCE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8188" y="1752600"/>
            <a:ext cx="503237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5185" name="Oval 199">
            <a:extLst>
              <a:ext uri="{FF2B5EF4-FFF2-40B4-BE49-F238E27FC236}">
                <a16:creationId xmlns:a16="http://schemas.microsoft.com/office/drawing/2014/main" id="{41CB2C46-77E1-434F-9FA0-59D6806C3F9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38625" y="1752600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5186" name="Line 200">
            <a:extLst>
              <a:ext uri="{FF2B5EF4-FFF2-40B4-BE49-F238E27FC236}">
                <a16:creationId xmlns:a16="http://schemas.microsoft.com/office/drawing/2014/main" id="{17857A8B-B0B9-4F12-A1AB-6191B14D3F2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781425" y="202723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7" name="Line 201">
            <a:extLst>
              <a:ext uri="{FF2B5EF4-FFF2-40B4-BE49-F238E27FC236}">
                <a16:creationId xmlns:a16="http://schemas.microsoft.com/office/drawing/2014/main" id="{5C9B9940-3755-442B-B261-1B6CED1E680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741863" y="2027238"/>
            <a:ext cx="3206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88" name="Oval 202">
            <a:extLst>
              <a:ext uri="{FF2B5EF4-FFF2-40B4-BE49-F238E27FC236}">
                <a16:creationId xmlns:a16="http://schemas.microsoft.com/office/drawing/2014/main" id="{FD9ACCD9-7D2D-4FA8-A15D-A2E6261FC8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62538" y="1752600"/>
            <a:ext cx="503237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5189" name="Line 203">
            <a:extLst>
              <a:ext uri="{FF2B5EF4-FFF2-40B4-BE49-F238E27FC236}">
                <a16:creationId xmlns:a16="http://schemas.microsoft.com/office/drawing/2014/main" id="{2C2E2DEB-8EF3-41C1-81AB-43867A7B7FFD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016500" y="2857500"/>
            <a:ext cx="622300" cy="222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5190" name="Text Box 204">
            <a:extLst>
              <a:ext uri="{FF2B5EF4-FFF2-40B4-BE49-F238E27FC236}">
                <a16:creationId xmlns:a16="http://schemas.microsoft.com/office/drawing/2014/main" id="{0499567C-5928-432D-B67F-F6E7B41DF80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97075" y="248602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0</a:t>
            </a:r>
          </a:p>
        </p:txBody>
      </p:sp>
      <p:sp>
        <p:nvSpPr>
          <p:cNvPr id="135191" name="Text Box 205">
            <a:extLst>
              <a:ext uri="{FF2B5EF4-FFF2-40B4-BE49-F238E27FC236}">
                <a16:creationId xmlns:a16="http://schemas.microsoft.com/office/drawing/2014/main" id="{E0AC45D8-A727-404D-A7C8-D6461559367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389688" y="2486025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8</a:t>
            </a:r>
          </a:p>
        </p:txBody>
      </p:sp>
      <p:sp>
        <p:nvSpPr>
          <p:cNvPr id="135192" name="Text Box 206">
            <a:extLst>
              <a:ext uri="{FF2B5EF4-FFF2-40B4-BE49-F238E27FC236}">
                <a16:creationId xmlns:a16="http://schemas.microsoft.com/office/drawing/2014/main" id="{E8E60218-ECE8-413D-A3A9-FA31B486D50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56263" y="2486025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5</a:t>
            </a:r>
          </a:p>
        </p:txBody>
      </p:sp>
      <p:sp>
        <p:nvSpPr>
          <p:cNvPr id="135193" name="Text Box 207">
            <a:extLst>
              <a:ext uri="{FF2B5EF4-FFF2-40B4-BE49-F238E27FC236}">
                <a16:creationId xmlns:a16="http://schemas.microsoft.com/office/drawing/2014/main" id="{FB00F70A-9BC7-4199-8387-FFD29652056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53025" y="1844675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4</a:t>
            </a:r>
          </a:p>
        </p:txBody>
      </p:sp>
      <p:sp>
        <p:nvSpPr>
          <p:cNvPr id="135194" name="Text Box 208">
            <a:extLst>
              <a:ext uri="{FF2B5EF4-FFF2-40B4-BE49-F238E27FC236}">
                <a16:creationId xmlns:a16="http://schemas.microsoft.com/office/drawing/2014/main" id="{2E3624FF-C92E-4BD9-A20E-ACB0EF28A7B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49788" y="3033713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7</a:t>
            </a:r>
          </a:p>
        </p:txBody>
      </p:sp>
      <p:sp>
        <p:nvSpPr>
          <p:cNvPr id="135195" name="Text Box 209">
            <a:extLst>
              <a:ext uri="{FF2B5EF4-FFF2-40B4-BE49-F238E27FC236}">
                <a16:creationId xmlns:a16="http://schemas.microsoft.com/office/drawing/2014/main" id="{EA6A5208-A62F-4BE2-AF43-E4F3DF344C0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284663" y="1844675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</a:p>
        </p:txBody>
      </p:sp>
      <p:sp>
        <p:nvSpPr>
          <p:cNvPr id="135196" name="Text Box 210">
            <a:extLst>
              <a:ext uri="{FF2B5EF4-FFF2-40B4-BE49-F238E27FC236}">
                <a16:creationId xmlns:a16="http://schemas.microsoft.com/office/drawing/2014/main" id="{67C0ECB4-941E-472A-BC07-F5704BE5261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689350" y="3033713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6</a:t>
            </a:r>
          </a:p>
        </p:txBody>
      </p:sp>
      <p:sp>
        <p:nvSpPr>
          <p:cNvPr id="135197" name="Text Box 211">
            <a:extLst>
              <a:ext uri="{FF2B5EF4-FFF2-40B4-BE49-F238E27FC236}">
                <a16:creationId xmlns:a16="http://schemas.microsoft.com/office/drawing/2014/main" id="{1E624BC9-3CF2-4474-A03B-6142394DDCC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68675" y="1890713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2</a:t>
            </a:r>
          </a:p>
        </p:txBody>
      </p:sp>
      <p:sp>
        <p:nvSpPr>
          <p:cNvPr id="135198" name="Text Box 212">
            <a:extLst>
              <a:ext uri="{FF2B5EF4-FFF2-40B4-BE49-F238E27FC236}">
                <a16:creationId xmlns:a16="http://schemas.microsoft.com/office/drawing/2014/main" id="{96828FEA-80C4-4D2C-A23D-A022EDF3F20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774950" y="248602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</a:t>
            </a:r>
          </a:p>
        </p:txBody>
      </p:sp>
      <p:cxnSp>
        <p:nvCxnSpPr>
          <p:cNvPr id="135199" name="AutoShape 213">
            <a:extLst>
              <a:ext uri="{FF2B5EF4-FFF2-40B4-BE49-F238E27FC236}">
                <a16:creationId xmlns:a16="http://schemas.microsoft.com/office/drawing/2014/main" id="{BA193D12-A3BD-427D-BF03-A38954D74595}"/>
              </a:ext>
            </a:extLst>
          </p:cNvPr>
          <p:cNvCxnSpPr>
            <a:cxnSpLocks noChangeAspect="1" noChangeShapeType="1"/>
            <a:stCxn id="135174" idx="4"/>
            <a:endCxn id="135213" idx="4"/>
          </p:cNvCxnSpPr>
          <p:nvPr/>
        </p:nvCxnSpPr>
        <p:spPr bwMode="auto">
          <a:xfrm rot="16200000" flipH="1">
            <a:off x="4352132" y="702469"/>
            <a:ext cx="1587" cy="4391025"/>
          </a:xfrm>
          <a:prstGeom prst="curvedConnector3">
            <a:avLst>
              <a:gd name="adj1" fmla="val 51499986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5200" name="Text Box 215">
            <a:extLst>
              <a:ext uri="{FF2B5EF4-FFF2-40B4-BE49-F238E27FC236}">
                <a16:creationId xmlns:a16="http://schemas.microsoft.com/office/drawing/2014/main" id="{CC381E8E-CF37-4205-A473-A0087126FD4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57800" y="2165350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5201" name="Text Box 216">
            <a:extLst>
              <a:ext uri="{FF2B5EF4-FFF2-40B4-BE49-F238E27FC236}">
                <a16:creationId xmlns:a16="http://schemas.microsoft.com/office/drawing/2014/main" id="{C8562DD6-B620-4D12-8DA2-9BFDA2BC518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140075" y="2165350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5202" name="Text Box 217">
            <a:extLst>
              <a:ext uri="{FF2B5EF4-FFF2-40B4-BE49-F238E27FC236}">
                <a16:creationId xmlns:a16="http://schemas.microsoft.com/office/drawing/2014/main" id="{290E121D-1CCF-404B-A57D-CDC2FC1D187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91000" y="1295400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5203" name="Text Box 218">
            <a:extLst>
              <a:ext uri="{FF2B5EF4-FFF2-40B4-BE49-F238E27FC236}">
                <a16:creationId xmlns:a16="http://schemas.microsoft.com/office/drawing/2014/main" id="{009335E8-645D-4821-BBEE-4ACA0BA969F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53025" y="2576513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5204" name="Text Box 219">
            <a:extLst>
              <a:ext uri="{FF2B5EF4-FFF2-40B4-BE49-F238E27FC236}">
                <a16:creationId xmlns:a16="http://schemas.microsoft.com/office/drawing/2014/main" id="{50725737-4136-41A2-9137-FB4065314BD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92588" y="3262313"/>
            <a:ext cx="27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5205" name="Text Box 220">
            <a:extLst>
              <a:ext uri="{FF2B5EF4-FFF2-40B4-BE49-F238E27FC236}">
                <a16:creationId xmlns:a16="http://schemas.microsoft.com/office/drawing/2014/main" id="{EB87B5E5-0629-488E-9D14-CE5F6B04180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78188" y="2576513"/>
            <a:ext cx="27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5206" name="Text Box 221">
            <a:extLst>
              <a:ext uri="{FF2B5EF4-FFF2-40B4-BE49-F238E27FC236}">
                <a16:creationId xmlns:a16="http://schemas.microsoft.com/office/drawing/2014/main" id="{571CCEE4-073D-4C65-862D-11104392A88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362200" y="2500313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5207" name="Text Box 222">
            <a:extLst>
              <a:ext uri="{FF2B5EF4-FFF2-40B4-BE49-F238E27FC236}">
                <a16:creationId xmlns:a16="http://schemas.microsoft.com/office/drawing/2014/main" id="{64E01C15-CEF4-45E1-9AA6-9752B824D83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72025" y="1646238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35208" name="Text Box 223">
            <a:extLst>
              <a:ext uri="{FF2B5EF4-FFF2-40B4-BE49-F238E27FC236}">
                <a16:creationId xmlns:a16="http://schemas.microsoft.com/office/drawing/2014/main" id="{C38F8559-8327-4887-8EC5-2667ACF2F37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71913" y="1600200"/>
            <a:ext cx="27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endParaRPr kumimoji="0" lang="en-US" altLang="zh-CN" sz="2400"/>
          </a:p>
        </p:txBody>
      </p:sp>
      <p:sp>
        <p:nvSpPr>
          <p:cNvPr id="135209" name="Text Box 224">
            <a:extLst>
              <a:ext uri="{FF2B5EF4-FFF2-40B4-BE49-F238E27FC236}">
                <a16:creationId xmlns:a16="http://schemas.microsoft.com/office/drawing/2014/main" id="{35D99C0E-F67D-4688-A502-D8F587CD96F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92588" y="2805113"/>
            <a:ext cx="27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c</a:t>
            </a:r>
            <a:endParaRPr kumimoji="0" lang="en-US" altLang="zh-CN" sz="2400"/>
          </a:p>
        </p:txBody>
      </p:sp>
      <p:sp>
        <p:nvSpPr>
          <p:cNvPr id="135210" name="Text Box 225">
            <a:extLst>
              <a:ext uri="{FF2B5EF4-FFF2-40B4-BE49-F238E27FC236}">
                <a16:creationId xmlns:a16="http://schemas.microsoft.com/office/drawing/2014/main" id="{79C39572-57F8-49AE-875F-9A1B7DB42FC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19800" y="2528888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5211" name="Line 226">
            <a:extLst>
              <a:ext uri="{FF2B5EF4-FFF2-40B4-BE49-F238E27FC236}">
                <a16:creationId xmlns:a16="http://schemas.microsoft.com/office/drawing/2014/main" id="{F1368815-7F30-4E8D-8DC4-5B992D91A29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447800" y="2667000"/>
            <a:ext cx="4572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35212" name="AutoShape 228">
            <a:extLst>
              <a:ext uri="{FF2B5EF4-FFF2-40B4-BE49-F238E27FC236}">
                <a16:creationId xmlns:a16="http://schemas.microsoft.com/office/drawing/2014/main" id="{A5AF716E-7C34-4904-9B4F-6BC62A39D7AB}"/>
              </a:ext>
            </a:extLst>
          </p:cNvPr>
          <p:cNvCxnSpPr>
            <a:cxnSpLocks noChangeAspect="1" noChangeShapeType="1"/>
            <a:stCxn id="135175" idx="0"/>
            <a:endCxn id="135183" idx="0"/>
          </p:cNvCxnSpPr>
          <p:nvPr/>
        </p:nvCxnSpPr>
        <p:spPr bwMode="auto">
          <a:xfrm rot="5400000" flipV="1">
            <a:off x="4375944" y="953294"/>
            <a:ext cx="1588" cy="2882900"/>
          </a:xfrm>
          <a:prstGeom prst="curvedConnector3">
            <a:avLst>
              <a:gd name="adj1" fmla="val -64300014"/>
            </a:avLst>
          </a:prstGeom>
          <a:noFill/>
          <a:ln w="25400">
            <a:solidFill>
              <a:schemeClr val="tx1"/>
            </a:solidFill>
            <a:round/>
            <a:headEnd type="triangle" w="sm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build="p" autoUpdateAnimBg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62AE8F21-0508-4716-A7F0-74B254B37D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en-US" altLang="zh-CN">
                <a:sym typeface="Symbol" panose="05050102010706020507" pitchFamily="18" charset="2"/>
              </a:rPr>
              <a:t>DFA</a:t>
            </a:r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（续）</a:t>
            </a:r>
          </a:p>
        </p:txBody>
      </p:sp>
      <p:sp>
        <p:nvSpPr>
          <p:cNvPr id="302083" name="Rectangle 3">
            <a:extLst>
              <a:ext uri="{FF2B5EF4-FFF2-40B4-BE49-F238E27FC236}">
                <a16:creationId xmlns:a16="http://schemas.microsoft.com/office/drawing/2014/main" id="{C297A25A-EADA-40B5-A919-A8D6512F2D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886200"/>
            <a:ext cx="7772400" cy="28194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</a:t>
            </a:r>
            <a:r>
              <a:rPr lang="en-US" altLang="zh-CN" sz="2400"/>
              <a:t>δ(</a:t>
            </a:r>
            <a:r>
              <a:rPr kumimoji="0" lang="en-US" altLang="zh-CN" sz="2400">
                <a:sym typeface="Symbol" panose="05050102010706020507" pitchFamily="18" charset="2"/>
              </a:rPr>
              <a:t>{ 3},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) =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-closure({}) = {}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</a:t>
            </a:r>
            <a:r>
              <a:rPr lang="en-US" altLang="zh-CN" sz="2400"/>
              <a:t>δ(</a:t>
            </a:r>
            <a:r>
              <a:rPr kumimoji="0" lang="en-US" altLang="zh-CN" sz="2400">
                <a:sym typeface="Symbol" panose="05050102010706020507" pitchFamily="18" charset="2"/>
              </a:rPr>
              <a:t>{ 3},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b</a:t>
            </a:r>
            <a:r>
              <a:rPr kumimoji="0" lang="en-US" altLang="zh-CN" sz="2400">
                <a:sym typeface="Symbol" panose="05050102010706020507" pitchFamily="18" charset="2"/>
              </a:rPr>
              <a:t>) =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-closure({4}) = {1, 2, 4, 5, 6, 8}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</a:t>
            </a:r>
            <a:r>
              <a:rPr lang="en-US" altLang="zh-CN" sz="2400"/>
              <a:t>δ(</a:t>
            </a:r>
            <a:r>
              <a:rPr kumimoji="0" lang="en-US" altLang="zh-CN" sz="2400">
                <a:sym typeface="Symbol" panose="05050102010706020507" pitchFamily="18" charset="2"/>
              </a:rPr>
              <a:t>{ 3},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c</a:t>
            </a:r>
            <a:r>
              <a:rPr kumimoji="0" lang="en-US" altLang="zh-CN" sz="2400">
                <a:sym typeface="Symbol" panose="05050102010706020507" pitchFamily="18" charset="2"/>
              </a:rPr>
              <a:t>) =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-closure({}) = {}</a:t>
            </a:r>
          </a:p>
        </p:txBody>
      </p:sp>
      <p:sp>
        <p:nvSpPr>
          <p:cNvPr id="136196" name="Line 4">
            <a:extLst>
              <a:ext uri="{FF2B5EF4-FFF2-40B4-BE49-F238E27FC236}">
                <a16:creationId xmlns:a16="http://schemas.microsoft.com/office/drawing/2014/main" id="{52FBAD3B-2EB4-40AA-9EF7-E27C56D8F6C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473700" y="2211388"/>
            <a:ext cx="182563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197" name="Line 5">
            <a:extLst>
              <a:ext uri="{FF2B5EF4-FFF2-40B4-BE49-F238E27FC236}">
                <a16:creationId xmlns:a16="http://schemas.microsoft.com/office/drawing/2014/main" id="{B243AB17-4D70-4F46-A663-968E8070BFF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069013" y="2668588"/>
            <a:ext cx="274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198" name="Oval 6">
            <a:extLst>
              <a:ext uri="{FF2B5EF4-FFF2-40B4-BE49-F238E27FC236}">
                <a16:creationId xmlns:a16="http://schemas.microsoft.com/office/drawing/2014/main" id="{A9A1502E-BBA7-45EC-8559-6F0961B6F3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0" y="2393950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6199" name="Oval 7">
            <a:extLst>
              <a:ext uri="{FF2B5EF4-FFF2-40B4-BE49-F238E27FC236}">
                <a16:creationId xmlns:a16="http://schemas.microsoft.com/office/drawing/2014/main" id="{36BB4CAC-95A0-4DD3-BCEF-CF40A37B69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82875" y="2393950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6200" name="Oval 8">
            <a:extLst>
              <a:ext uri="{FF2B5EF4-FFF2-40B4-BE49-F238E27FC236}">
                <a16:creationId xmlns:a16="http://schemas.microsoft.com/office/drawing/2014/main" id="{052494C7-8528-426B-9ECD-571E0BB067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97275" y="2943225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6201" name="Oval 9">
            <a:extLst>
              <a:ext uri="{FF2B5EF4-FFF2-40B4-BE49-F238E27FC236}">
                <a16:creationId xmlns:a16="http://schemas.microsoft.com/office/drawing/2014/main" id="{0C3637A6-BAD3-45BB-B441-065565E89E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59300" y="2943225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grpSp>
        <p:nvGrpSpPr>
          <p:cNvPr id="136202" name="Group 10">
            <a:extLst>
              <a:ext uri="{FF2B5EF4-FFF2-40B4-BE49-F238E27FC236}">
                <a16:creationId xmlns:a16="http://schemas.microsoft.com/office/drawing/2014/main" id="{EB78B812-9CA5-4B0D-995B-6EF75FD46CD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97613" y="2393950"/>
            <a:ext cx="503237" cy="503238"/>
            <a:chOff x="3648" y="2304"/>
            <a:chExt cx="528" cy="528"/>
          </a:xfrm>
        </p:grpSpPr>
        <p:sp>
          <p:nvSpPr>
            <p:cNvPr id="136237" name="Oval 11">
              <a:extLst>
                <a:ext uri="{FF2B5EF4-FFF2-40B4-BE49-F238E27FC236}">
                  <a16:creationId xmlns:a16="http://schemas.microsoft.com/office/drawing/2014/main" id="{2E95CDFD-5362-4B29-8C60-EDF7EAC81C3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8" y="2304"/>
              <a:ext cx="528" cy="52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36238" name="Oval 12">
              <a:extLst>
                <a:ext uri="{FF2B5EF4-FFF2-40B4-BE49-F238E27FC236}">
                  <a16:creationId xmlns:a16="http://schemas.microsoft.com/office/drawing/2014/main" id="{7633CD1C-65A8-4705-8DA6-439ED92D457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96" y="2352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36203" name="Line 13">
            <a:extLst>
              <a:ext uri="{FF2B5EF4-FFF2-40B4-BE49-F238E27FC236}">
                <a16:creationId xmlns:a16="http://schemas.microsoft.com/office/drawing/2014/main" id="{83C4A207-4C41-45CE-A032-1DE6ABE3D15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08238" y="2668588"/>
            <a:ext cx="274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04" name="Line 14">
            <a:extLst>
              <a:ext uri="{FF2B5EF4-FFF2-40B4-BE49-F238E27FC236}">
                <a16:creationId xmlns:a16="http://schemas.microsoft.com/office/drawing/2014/main" id="{D4AA0850-C15D-43B2-8840-766865CBD084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049588" y="2165350"/>
            <a:ext cx="273050" cy="274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05" name="Line 15">
            <a:extLst>
              <a:ext uri="{FF2B5EF4-FFF2-40B4-BE49-F238E27FC236}">
                <a16:creationId xmlns:a16="http://schemas.microsoft.com/office/drawing/2014/main" id="{6001993A-F401-4CBD-8B6B-4391194EE6B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140075" y="2851150"/>
            <a:ext cx="457200" cy="274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06" name="Line 16">
            <a:extLst>
              <a:ext uri="{FF2B5EF4-FFF2-40B4-BE49-F238E27FC236}">
                <a16:creationId xmlns:a16="http://schemas.microsoft.com/office/drawing/2014/main" id="{8ED219FB-B8CB-4E01-AD6E-D14FE83E1FC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100513" y="3217863"/>
            <a:ext cx="4587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07" name="Oval 17">
            <a:extLst>
              <a:ext uri="{FF2B5EF4-FFF2-40B4-BE49-F238E27FC236}">
                <a16:creationId xmlns:a16="http://schemas.microsoft.com/office/drawing/2014/main" id="{5B884E17-3B97-4D86-A680-4493676A9B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5775" y="2393950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6208" name="Oval 18">
            <a:extLst>
              <a:ext uri="{FF2B5EF4-FFF2-40B4-BE49-F238E27FC236}">
                <a16:creationId xmlns:a16="http://schemas.microsoft.com/office/drawing/2014/main" id="{76A577AA-9260-49D6-A85C-568AEEB08E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8188" y="1752600"/>
            <a:ext cx="503237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6209" name="Oval 19">
            <a:extLst>
              <a:ext uri="{FF2B5EF4-FFF2-40B4-BE49-F238E27FC236}">
                <a16:creationId xmlns:a16="http://schemas.microsoft.com/office/drawing/2014/main" id="{41B8208E-4D22-4BE8-BBCE-99133C2DD6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38625" y="1752600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6210" name="Line 20">
            <a:extLst>
              <a:ext uri="{FF2B5EF4-FFF2-40B4-BE49-F238E27FC236}">
                <a16:creationId xmlns:a16="http://schemas.microsoft.com/office/drawing/2014/main" id="{F7CAC75D-33B5-47E4-A84D-B2D8BB6176D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781425" y="202723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11" name="Line 21">
            <a:extLst>
              <a:ext uri="{FF2B5EF4-FFF2-40B4-BE49-F238E27FC236}">
                <a16:creationId xmlns:a16="http://schemas.microsoft.com/office/drawing/2014/main" id="{E2222322-BF80-4150-A3B5-7E067058141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741863" y="2027238"/>
            <a:ext cx="3206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12" name="Oval 22">
            <a:extLst>
              <a:ext uri="{FF2B5EF4-FFF2-40B4-BE49-F238E27FC236}">
                <a16:creationId xmlns:a16="http://schemas.microsoft.com/office/drawing/2014/main" id="{50643F46-B6F0-4678-9B6A-A6BAC1A5CF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62538" y="1752600"/>
            <a:ext cx="503237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6213" name="Line 23">
            <a:extLst>
              <a:ext uri="{FF2B5EF4-FFF2-40B4-BE49-F238E27FC236}">
                <a16:creationId xmlns:a16="http://schemas.microsoft.com/office/drawing/2014/main" id="{8347F49E-B28E-45BC-9658-21E712320070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016500" y="2857500"/>
            <a:ext cx="622300" cy="222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214" name="Text Box 24">
            <a:extLst>
              <a:ext uri="{FF2B5EF4-FFF2-40B4-BE49-F238E27FC236}">
                <a16:creationId xmlns:a16="http://schemas.microsoft.com/office/drawing/2014/main" id="{52E36203-BE04-4355-9621-6A0F26C5C29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97075" y="248602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0</a:t>
            </a:r>
          </a:p>
        </p:txBody>
      </p:sp>
      <p:sp>
        <p:nvSpPr>
          <p:cNvPr id="136215" name="Text Box 25">
            <a:extLst>
              <a:ext uri="{FF2B5EF4-FFF2-40B4-BE49-F238E27FC236}">
                <a16:creationId xmlns:a16="http://schemas.microsoft.com/office/drawing/2014/main" id="{D20BA7D0-9176-4488-9E10-BADF22A06B6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389688" y="2486025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8</a:t>
            </a:r>
          </a:p>
        </p:txBody>
      </p:sp>
      <p:sp>
        <p:nvSpPr>
          <p:cNvPr id="136216" name="Text Box 26">
            <a:extLst>
              <a:ext uri="{FF2B5EF4-FFF2-40B4-BE49-F238E27FC236}">
                <a16:creationId xmlns:a16="http://schemas.microsoft.com/office/drawing/2014/main" id="{BB1441E7-416F-4FF9-A6DE-5D69B55ADF1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56263" y="2486025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5</a:t>
            </a:r>
          </a:p>
        </p:txBody>
      </p:sp>
      <p:sp>
        <p:nvSpPr>
          <p:cNvPr id="136217" name="Text Box 27">
            <a:extLst>
              <a:ext uri="{FF2B5EF4-FFF2-40B4-BE49-F238E27FC236}">
                <a16:creationId xmlns:a16="http://schemas.microsoft.com/office/drawing/2014/main" id="{4DABDC38-590A-466A-8996-78F31ABA9EF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53025" y="1844675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4</a:t>
            </a:r>
          </a:p>
        </p:txBody>
      </p:sp>
      <p:sp>
        <p:nvSpPr>
          <p:cNvPr id="136218" name="Text Box 28">
            <a:extLst>
              <a:ext uri="{FF2B5EF4-FFF2-40B4-BE49-F238E27FC236}">
                <a16:creationId xmlns:a16="http://schemas.microsoft.com/office/drawing/2014/main" id="{DB48A136-C782-4B9B-95D7-07B46E24EE4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49788" y="3033713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7</a:t>
            </a:r>
          </a:p>
        </p:txBody>
      </p:sp>
      <p:sp>
        <p:nvSpPr>
          <p:cNvPr id="136219" name="Text Box 29">
            <a:extLst>
              <a:ext uri="{FF2B5EF4-FFF2-40B4-BE49-F238E27FC236}">
                <a16:creationId xmlns:a16="http://schemas.microsoft.com/office/drawing/2014/main" id="{C294EC70-DC6B-43C5-ACDC-50378ABABF3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284663" y="1844675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</a:p>
        </p:txBody>
      </p:sp>
      <p:sp>
        <p:nvSpPr>
          <p:cNvPr id="136220" name="Text Box 30">
            <a:extLst>
              <a:ext uri="{FF2B5EF4-FFF2-40B4-BE49-F238E27FC236}">
                <a16:creationId xmlns:a16="http://schemas.microsoft.com/office/drawing/2014/main" id="{53C1713B-F8B7-4F49-AF14-4CC4E59E2C7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689350" y="3033713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6</a:t>
            </a:r>
          </a:p>
        </p:txBody>
      </p:sp>
      <p:sp>
        <p:nvSpPr>
          <p:cNvPr id="136221" name="Text Box 31">
            <a:extLst>
              <a:ext uri="{FF2B5EF4-FFF2-40B4-BE49-F238E27FC236}">
                <a16:creationId xmlns:a16="http://schemas.microsoft.com/office/drawing/2014/main" id="{2DC077B7-217A-4D09-81F9-BC73A2BF8C2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68675" y="1890713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2</a:t>
            </a:r>
          </a:p>
        </p:txBody>
      </p:sp>
      <p:sp>
        <p:nvSpPr>
          <p:cNvPr id="136222" name="Text Box 32">
            <a:extLst>
              <a:ext uri="{FF2B5EF4-FFF2-40B4-BE49-F238E27FC236}">
                <a16:creationId xmlns:a16="http://schemas.microsoft.com/office/drawing/2014/main" id="{A969B4AD-3221-46A1-9201-49DBAB1CEC4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774950" y="248602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</a:t>
            </a:r>
          </a:p>
        </p:txBody>
      </p:sp>
      <p:cxnSp>
        <p:nvCxnSpPr>
          <p:cNvPr id="136223" name="AutoShape 33">
            <a:extLst>
              <a:ext uri="{FF2B5EF4-FFF2-40B4-BE49-F238E27FC236}">
                <a16:creationId xmlns:a16="http://schemas.microsoft.com/office/drawing/2014/main" id="{E7A8A77B-4AFF-429C-82DE-933484B85EEF}"/>
              </a:ext>
            </a:extLst>
          </p:cNvPr>
          <p:cNvCxnSpPr>
            <a:cxnSpLocks noChangeAspect="1" noChangeShapeType="1"/>
            <a:stCxn id="136198" idx="4"/>
            <a:endCxn id="136237" idx="4"/>
          </p:cNvCxnSpPr>
          <p:nvPr/>
        </p:nvCxnSpPr>
        <p:spPr bwMode="auto">
          <a:xfrm rot="16200000" flipH="1">
            <a:off x="4352132" y="702469"/>
            <a:ext cx="1587" cy="4391025"/>
          </a:xfrm>
          <a:prstGeom prst="curvedConnector3">
            <a:avLst>
              <a:gd name="adj1" fmla="val 51499986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6224" name="Text Box 34">
            <a:extLst>
              <a:ext uri="{FF2B5EF4-FFF2-40B4-BE49-F238E27FC236}">
                <a16:creationId xmlns:a16="http://schemas.microsoft.com/office/drawing/2014/main" id="{FF7E54E8-6191-48B3-BF2B-9914EB3509F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57800" y="2165350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6225" name="Text Box 35">
            <a:extLst>
              <a:ext uri="{FF2B5EF4-FFF2-40B4-BE49-F238E27FC236}">
                <a16:creationId xmlns:a16="http://schemas.microsoft.com/office/drawing/2014/main" id="{80BD5C81-CAAB-4C17-B4B4-7BF3A6AE1CF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140075" y="2165350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6226" name="Text Box 36">
            <a:extLst>
              <a:ext uri="{FF2B5EF4-FFF2-40B4-BE49-F238E27FC236}">
                <a16:creationId xmlns:a16="http://schemas.microsoft.com/office/drawing/2014/main" id="{1BCB56D2-69E5-4624-8986-66F718C063D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91000" y="1295400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6227" name="Text Box 37">
            <a:extLst>
              <a:ext uri="{FF2B5EF4-FFF2-40B4-BE49-F238E27FC236}">
                <a16:creationId xmlns:a16="http://schemas.microsoft.com/office/drawing/2014/main" id="{0E7C33BB-5F79-4C7E-A6AB-BBCB0D20762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53025" y="2576513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6228" name="Text Box 38">
            <a:extLst>
              <a:ext uri="{FF2B5EF4-FFF2-40B4-BE49-F238E27FC236}">
                <a16:creationId xmlns:a16="http://schemas.microsoft.com/office/drawing/2014/main" id="{52A264B8-0332-4F1A-8A01-3B2AE2CFCB7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92588" y="3262313"/>
            <a:ext cx="27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6229" name="Text Box 39">
            <a:extLst>
              <a:ext uri="{FF2B5EF4-FFF2-40B4-BE49-F238E27FC236}">
                <a16:creationId xmlns:a16="http://schemas.microsoft.com/office/drawing/2014/main" id="{9AE71AFE-6364-4513-8B99-181688D6D08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78188" y="2576513"/>
            <a:ext cx="27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6230" name="Text Box 40">
            <a:extLst>
              <a:ext uri="{FF2B5EF4-FFF2-40B4-BE49-F238E27FC236}">
                <a16:creationId xmlns:a16="http://schemas.microsoft.com/office/drawing/2014/main" id="{03CA872A-733F-4BC3-9C28-929421323A1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362200" y="2500313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6231" name="Text Box 41">
            <a:extLst>
              <a:ext uri="{FF2B5EF4-FFF2-40B4-BE49-F238E27FC236}">
                <a16:creationId xmlns:a16="http://schemas.microsoft.com/office/drawing/2014/main" id="{7AFB0876-45FF-4584-8BC8-0C42FBCBF4E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72025" y="1646238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36232" name="Text Box 42">
            <a:extLst>
              <a:ext uri="{FF2B5EF4-FFF2-40B4-BE49-F238E27FC236}">
                <a16:creationId xmlns:a16="http://schemas.microsoft.com/office/drawing/2014/main" id="{07E9AF81-1179-4852-9707-0D8468BB4A2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71913" y="1600200"/>
            <a:ext cx="27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endParaRPr kumimoji="0" lang="en-US" altLang="zh-CN" sz="2400"/>
          </a:p>
        </p:txBody>
      </p:sp>
      <p:sp>
        <p:nvSpPr>
          <p:cNvPr id="136233" name="Text Box 43">
            <a:extLst>
              <a:ext uri="{FF2B5EF4-FFF2-40B4-BE49-F238E27FC236}">
                <a16:creationId xmlns:a16="http://schemas.microsoft.com/office/drawing/2014/main" id="{660CC76A-10AE-4794-B633-3946559A7B0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92588" y="2805113"/>
            <a:ext cx="27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c</a:t>
            </a:r>
            <a:endParaRPr kumimoji="0" lang="en-US" altLang="zh-CN" sz="2400"/>
          </a:p>
        </p:txBody>
      </p:sp>
      <p:sp>
        <p:nvSpPr>
          <p:cNvPr id="136234" name="Text Box 44">
            <a:extLst>
              <a:ext uri="{FF2B5EF4-FFF2-40B4-BE49-F238E27FC236}">
                <a16:creationId xmlns:a16="http://schemas.microsoft.com/office/drawing/2014/main" id="{7137C8B8-33B9-4407-9AC1-44D5B4E48FA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19800" y="2528888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6235" name="Line 45">
            <a:extLst>
              <a:ext uri="{FF2B5EF4-FFF2-40B4-BE49-F238E27FC236}">
                <a16:creationId xmlns:a16="http://schemas.microsoft.com/office/drawing/2014/main" id="{16618E02-A9CF-4050-B710-74EE27A66DB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447800" y="2667000"/>
            <a:ext cx="4572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36236" name="AutoShape 46">
            <a:extLst>
              <a:ext uri="{FF2B5EF4-FFF2-40B4-BE49-F238E27FC236}">
                <a16:creationId xmlns:a16="http://schemas.microsoft.com/office/drawing/2014/main" id="{F1C649E6-85B8-4AFF-A8AB-4ADBEC5E8468}"/>
              </a:ext>
            </a:extLst>
          </p:cNvPr>
          <p:cNvCxnSpPr>
            <a:cxnSpLocks noChangeAspect="1" noChangeShapeType="1"/>
            <a:stCxn id="136199" idx="0"/>
            <a:endCxn id="136207" idx="0"/>
          </p:cNvCxnSpPr>
          <p:nvPr/>
        </p:nvCxnSpPr>
        <p:spPr bwMode="auto">
          <a:xfrm rot="5400000" flipV="1">
            <a:off x="4375944" y="953294"/>
            <a:ext cx="1588" cy="2882900"/>
          </a:xfrm>
          <a:prstGeom prst="curvedConnector3">
            <a:avLst>
              <a:gd name="adj1" fmla="val -64300014"/>
            </a:avLst>
          </a:prstGeom>
          <a:noFill/>
          <a:ln w="25400">
            <a:solidFill>
              <a:schemeClr val="tx1"/>
            </a:solidFill>
            <a:round/>
            <a:headEnd type="triangle" w="sm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2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2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2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2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2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3" grpId="0" build="p" autoUpdateAnimBg="0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492BA392-FEDC-4111-9FB0-19EC13FD18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en-US" altLang="zh-CN">
                <a:sym typeface="Symbol" panose="05050102010706020507" pitchFamily="18" charset="2"/>
              </a:rPr>
              <a:t>DFA</a:t>
            </a:r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（续）</a:t>
            </a:r>
          </a:p>
        </p:txBody>
      </p:sp>
      <p:sp>
        <p:nvSpPr>
          <p:cNvPr id="256003" name="Rectangle 3">
            <a:extLst>
              <a:ext uri="{FF2B5EF4-FFF2-40B4-BE49-F238E27FC236}">
                <a16:creationId xmlns:a16="http://schemas.microsoft.com/office/drawing/2014/main" id="{6770A8DB-1F9B-499B-9EB5-41DDC447B7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657600"/>
            <a:ext cx="7772400" cy="3048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</a:t>
            </a:r>
            <a:r>
              <a:rPr lang="en-US" altLang="zh-CN" sz="2400"/>
              <a:t>δ(</a:t>
            </a:r>
            <a:r>
              <a:rPr kumimoji="0" lang="en-US" altLang="zh-CN" sz="2400">
                <a:sym typeface="Symbol" panose="05050102010706020507" pitchFamily="18" charset="2"/>
              </a:rPr>
              <a:t>{ 1, 2, 5, 6, 7, 8},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) =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-closure({3}) = {3}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</a:t>
            </a:r>
            <a:r>
              <a:rPr lang="en-US" altLang="zh-CN" sz="2400"/>
              <a:t>δ(</a:t>
            </a:r>
            <a:r>
              <a:rPr kumimoji="0" lang="en-US" altLang="zh-CN" sz="2400">
                <a:sym typeface="Symbol" panose="05050102010706020507" pitchFamily="18" charset="2"/>
              </a:rPr>
              <a:t>{ 1, 2, 5, 6, 7, 8},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b</a:t>
            </a:r>
            <a:r>
              <a:rPr kumimoji="0" lang="en-US" altLang="zh-CN" sz="2400">
                <a:sym typeface="Symbol" panose="05050102010706020507" pitchFamily="18" charset="2"/>
              </a:rPr>
              <a:t>) =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-closure({}) = {}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</a:t>
            </a:r>
            <a:r>
              <a:rPr lang="en-US" altLang="zh-CN" sz="2400"/>
              <a:t>δ(</a:t>
            </a:r>
            <a:r>
              <a:rPr kumimoji="0" lang="en-US" altLang="zh-CN" sz="2400">
                <a:sym typeface="Symbol" panose="05050102010706020507" pitchFamily="18" charset="2"/>
              </a:rPr>
              <a:t>{ 1, 2, 5, 6, 7, 8},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c</a:t>
            </a:r>
            <a:r>
              <a:rPr kumimoji="0" lang="en-US" altLang="zh-CN" sz="2400">
                <a:sym typeface="Symbol" panose="05050102010706020507" pitchFamily="18" charset="2"/>
              </a:rPr>
              <a:t>) =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-closure({7}) = {1, 2, 5, 6, 7, 8}</a:t>
            </a:r>
          </a:p>
        </p:txBody>
      </p:sp>
      <p:sp>
        <p:nvSpPr>
          <p:cNvPr id="137220" name="Line 91">
            <a:extLst>
              <a:ext uri="{FF2B5EF4-FFF2-40B4-BE49-F238E27FC236}">
                <a16:creationId xmlns:a16="http://schemas.microsoft.com/office/drawing/2014/main" id="{168879E4-A15B-4B0B-B489-5D664914F0D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473700" y="2211388"/>
            <a:ext cx="182563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1" name="Line 92">
            <a:extLst>
              <a:ext uri="{FF2B5EF4-FFF2-40B4-BE49-F238E27FC236}">
                <a16:creationId xmlns:a16="http://schemas.microsoft.com/office/drawing/2014/main" id="{E4773F91-D3DA-4FA9-A41A-8B7553B4EE2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069013" y="2668588"/>
            <a:ext cx="274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2" name="Oval 93">
            <a:extLst>
              <a:ext uri="{FF2B5EF4-FFF2-40B4-BE49-F238E27FC236}">
                <a16:creationId xmlns:a16="http://schemas.microsoft.com/office/drawing/2014/main" id="{1E845DAC-A120-45FB-970E-FEA21F1F33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0" y="2393950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7223" name="Oval 94">
            <a:extLst>
              <a:ext uri="{FF2B5EF4-FFF2-40B4-BE49-F238E27FC236}">
                <a16:creationId xmlns:a16="http://schemas.microsoft.com/office/drawing/2014/main" id="{20D2AD23-598C-481A-BC5E-957B231EE0A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82875" y="2393950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7224" name="Oval 95">
            <a:extLst>
              <a:ext uri="{FF2B5EF4-FFF2-40B4-BE49-F238E27FC236}">
                <a16:creationId xmlns:a16="http://schemas.microsoft.com/office/drawing/2014/main" id="{80F389CC-801D-48C1-B5EF-AE468D127D7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97275" y="2943225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7225" name="Oval 96">
            <a:extLst>
              <a:ext uri="{FF2B5EF4-FFF2-40B4-BE49-F238E27FC236}">
                <a16:creationId xmlns:a16="http://schemas.microsoft.com/office/drawing/2014/main" id="{22788F62-771A-43B3-812B-9C48CC858EA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59300" y="2943225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grpSp>
        <p:nvGrpSpPr>
          <p:cNvPr id="137226" name="Group 97">
            <a:extLst>
              <a:ext uri="{FF2B5EF4-FFF2-40B4-BE49-F238E27FC236}">
                <a16:creationId xmlns:a16="http://schemas.microsoft.com/office/drawing/2014/main" id="{D8C8D951-F95B-4A8A-8DB7-2FE4059DE66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97613" y="2393950"/>
            <a:ext cx="503237" cy="503238"/>
            <a:chOff x="3648" y="2304"/>
            <a:chExt cx="528" cy="528"/>
          </a:xfrm>
        </p:grpSpPr>
        <p:sp>
          <p:nvSpPr>
            <p:cNvPr id="137261" name="Oval 98">
              <a:extLst>
                <a:ext uri="{FF2B5EF4-FFF2-40B4-BE49-F238E27FC236}">
                  <a16:creationId xmlns:a16="http://schemas.microsoft.com/office/drawing/2014/main" id="{672579F4-93CC-4A2B-8BE5-71B7BD079FF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8" y="2304"/>
              <a:ext cx="528" cy="52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37262" name="Oval 99">
              <a:extLst>
                <a:ext uri="{FF2B5EF4-FFF2-40B4-BE49-F238E27FC236}">
                  <a16:creationId xmlns:a16="http://schemas.microsoft.com/office/drawing/2014/main" id="{B8397ADB-3BE9-432E-A177-3DB5CFBE04E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96" y="2352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37227" name="Line 100">
            <a:extLst>
              <a:ext uri="{FF2B5EF4-FFF2-40B4-BE49-F238E27FC236}">
                <a16:creationId xmlns:a16="http://schemas.microsoft.com/office/drawing/2014/main" id="{1E813D44-86B3-4490-BB4D-9EA9FCC6F76E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08238" y="2668588"/>
            <a:ext cx="274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8" name="Line 101">
            <a:extLst>
              <a:ext uri="{FF2B5EF4-FFF2-40B4-BE49-F238E27FC236}">
                <a16:creationId xmlns:a16="http://schemas.microsoft.com/office/drawing/2014/main" id="{004EDD84-7BCD-438B-B8A2-4C7DAC8179E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049588" y="2165350"/>
            <a:ext cx="273050" cy="274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29" name="Line 102">
            <a:extLst>
              <a:ext uri="{FF2B5EF4-FFF2-40B4-BE49-F238E27FC236}">
                <a16:creationId xmlns:a16="http://schemas.microsoft.com/office/drawing/2014/main" id="{8ABC68C8-8059-4ED4-9CB2-DAE431A6265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140075" y="2851150"/>
            <a:ext cx="457200" cy="274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30" name="Line 103">
            <a:extLst>
              <a:ext uri="{FF2B5EF4-FFF2-40B4-BE49-F238E27FC236}">
                <a16:creationId xmlns:a16="http://schemas.microsoft.com/office/drawing/2014/main" id="{00327348-7798-437B-8AB3-9884A643AD5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100513" y="3217863"/>
            <a:ext cx="4587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31" name="Oval 104">
            <a:extLst>
              <a:ext uri="{FF2B5EF4-FFF2-40B4-BE49-F238E27FC236}">
                <a16:creationId xmlns:a16="http://schemas.microsoft.com/office/drawing/2014/main" id="{94156770-08CE-449D-8603-FDDD143033D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5775" y="2393950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7232" name="Oval 105">
            <a:extLst>
              <a:ext uri="{FF2B5EF4-FFF2-40B4-BE49-F238E27FC236}">
                <a16:creationId xmlns:a16="http://schemas.microsoft.com/office/drawing/2014/main" id="{5DA51FC4-AD6F-42CC-8F1B-5404250A42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8188" y="1752600"/>
            <a:ext cx="503237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7233" name="Oval 106">
            <a:extLst>
              <a:ext uri="{FF2B5EF4-FFF2-40B4-BE49-F238E27FC236}">
                <a16:creationId xmlns:a16="http://schemas.microsoft.com/office/drawing/2014/main" id="{D572F0E4-6782-4DA0-B541-BFEA379161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38625" y="1752600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7234" name="Line 107">
            <a:extLst>
              <a:ext uri="{FF2B5EF4-FFF2-40B4-BE49-F238E27FC236}">
                <a16:creationId xmlns:a16="http://schemas.microsoft.com/office/drawing/2014/main" id="{A25E0D97-1791-4F88-8175-CFF857F0069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781425" y="202723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35" name="Line 108">
            <a:extLst>
              <a:ext uri="{FF2B5EF4-FFF2-40B4-BE49-F238E27FC236}">
                <a16:creationId xmlns:a16="http://schemas.microsoft.com/office/drawing/2014/main" id="{ED9E1796-5DB7-4806-A3BE-9A5D04361ED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741863" y="2027238"/>
            <a:ext cx="3206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36" name="Oval 109">
            <a:extLst>
              <a:ext uri="{FF2B5EF4-FFF2-40B4-BE49-F238E27FC236}">
                <a16:creationId xmlns:a16="http://schemas.microsoft.com/office/drawing/2014/main" id="{2BFCE2AA-56EF-4732-8B37-F292E0A0834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62538" y="1752600"/>
            <a:ext cx="503237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7237" name="Line 110">
            <a:extLst>
              <a:ext uri="{FF2B5EF4-FFF2-40B4-BE49-F238E27FC236}">
                <a16:creationId xmlns:a16="http://schemas.microsoft.com/office/drawing/2014/main" id="{70770916-5CB2-4927-8D63-05CA73C0F5ED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016500" y="2857500"/>
            <a:ext cx="622300" cy="222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7238" name="Text Box 111">
            <a:extLst>
              <a:ext uri="{FF2B5EF4-FFF2-40B4-BE49-F238E27FC236}">
                <a16:creationId xmlns:a16="http://schemas.microsoft.com/office/drawing/2014/main" id="{015E2F49-EE67-4A86-BF97-29A6A0D02E8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97075" y="248602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0</a:t>
            </a:r>
          </a:p>
        </p:txBody>
      </p:sp>
      <p:sp>
        <p:nvSpPr>
          <p:cNvPr id="137239" name="Text Box 112">
            <a:extLst>
              <a:ext uri="{FF2B5EF4-FFF2-40B4-BE49-F238E27FC236}">
                <a16:creationId xmlns:a16="http://schemas.microsoft.com/office/drawing/2014/main" id="{46BAE042-6A10-42CF-844A-301B1BAF2E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389688" y="2486025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8</a:t>
            </a:r>
          </a:p>
        </p:txBody>
      </p:sp>
      <p:sp>
        <p:nvSpPr>
          <p:cNvPr id="137240" name="Text Box 113">
            <a:extLst>
              <a:ext uri="{FF2B5EF4-FFF2-40B4-BE49-F238E27FC236}">
                <a16:creationId xmlns:a16="http://schemas.microsoft.com/office/drawing/2014/main" id="{5DD91824-8293-4D20-8E08-A14CF36AD2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56263" y="2486025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5</a:t>
            </a:r>
          </a:p>
        </p:txBody>
      </p:sp>
      <p:sp>
        <p:nvSpPr>
          <p:cNvPr id="137241" name="Text Box 114">
            <a:extLst>
              <a:ext uri="{FF2B5EF4-FFF2-40B4-BE49-F238E27FC236}">
                <a16:creationId xmlns:a16="http://schemas.microsoft.com/office/drawing/2014/main" id="{7D5499B7-8D58-4258-9A3F-29096F240E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53025" y="1844675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4</a:t>
            </a:r>
          </a:p>
        </p:txBody>
      </p:sp>
      <p:sp>
        <p:nvSpPr>
          <p:cNvPr id="137242" name="Text Box 115">
            <a:extLst>
              <a:ext uri="{FF2B5EF4-FFF2-40B4-BE49-F238E27FC236}">
                <a16:creationId xmlns:a16="http://schemas.microsoft.com/office/drawing/2014/main" id="{28ADD8EB-BC6E-4F16-BEC4-36C61031EDA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49788" y="3033713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7</a:t>
            </a:r>
          </a:p>
        </p:txBody>
      </p:sp>
      <p:sp>
        <p:nvSpPr>
          <p:cNvPr id="137243" name="Text Box 116">
            <a:extLst>
              <a:ext uri="{FF2B5EF4-FFF2-40B4-BE49-F238E27FC236}">
                <a16:creationId xmlns:a16="http://schemas.microsoft.com/office/drawing/2014/main" id="{C2404806-7552-4107-AFE2-193761582D7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284663" y="1844675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</a:p>
        </p:txBody>
      </p:sp>
      <p:sp>
        <p:nvSpPr>
          <p:cNvPr id="137244" name="Text Box 117">
            <a:extLst>
              <a:ext uri="{FF2B5EF4-FFF2-40B4-BE49-F238E27FC236}">
                <a16:creationId xmlns:a16="http://schemas.microsoft.com/office/drawing/2014/main" id="{2BE37238-6C7F-4FF1-A2E7-03A73F448FE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689350" y="3033713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6</a:t>
            </a:r>
          </a:p>
        </p:txBody>
      </p:sp>
      <p:sp>
        <p:nvSpPr>
          <p:cNvPr id="137245" name="Text Box 118">
            <a:extLst>
              <a:ext uri="{FF2B5EF4-FFF2-40B4-BE49-F238E27FC236}">
                <a16:creationId xmlns:a16="http://schemas.microsoft.com/office/drawing/2014/main" id="{4CAC6C2A-A4B3-42C9-87BB-DB57940752D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68675" y="1890713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2</a:t>
            </a:r>
          </a:p>
        </p:txBody>
      </p:sp>
      <p:sp>
        <p:nvSpPr>
          <p:cNvPr id="137246" name="Text Box 119">
            <a:extLst>
              <a:ext uri="{FF2B5EF4-FFF2-40B4-BE49-F238E27FC236}">
                <a16:creationId xmlns:a16="http://schemas.microsoft.com/office/drawing/2014/main" id="{79477441-2AA5-46D3-ADFD-D38C41B9E90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774950" y="248602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</a:t>
            </a:r>
          </a:p>
        </p:txBody>
      </p:sp>
      <p:cxnSp>
        <p:nvCxnSpPr>
          <p:cNvPr id="137247" name="AutoShape 120">
            <a:extLst>
              <a:ext uri="{FF2B5EF4-FFF2-40B4-BE49-F238E27FC236}">
                <a16:creationId xmlns:a16="http://schemas.microsoft.com/office/drawing/2014/main" id="{EA9E6400-52E4-48B8-B769-59E8CD0C5CF4}"/>
              </a:ext>
            </a:extLst>
          </p:cNvPr>
          <p:cNvCxnSpPr>
            <a:cxnSpLocks noChangeAspect="1" noChangeShapeType="1"/>
            <a:stCxn id="137222" idx="4"/>
            <a:endCxn id="137261" idx="4"/>
          </p:cNvCxnSpPr>
          <p:nvPr/>
        </p:nvCxnSpPr>
        <p:spPr bwMode="auto">
          <a:xfrm rot="16200000" flipH="1">
            <a:off x="4352132" y="702469"/>
            <a:ext cx="1587" cy="4391025"/>
          </a:xfrm>
          <a:prstGeom prst="curvedConnector3">
            <a:avLst>
              <a:gd name="adj1" fmla="val 51499986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7248" name="Text Box 121">
            <a:extLst>
              <a:ext uri="{FF2B5EF4-FFF2-40B4-BE49-F238E27FC236}">
                <a16:creationId xmlns:a16="http://schemas.microsoft.com/office/drawing/2014/main" id="{AB85C4A3-9ACD-4BDB-9801-4686BB91673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57800" y="2165350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7249" name="Text Box 122">
            <a:extLst>
              <a:ext uri="{FF2B5EF4-FFF2-40B4-BE49-F238E27FC236}">
                <a16:creationId xmlns:a16="http://schemas.microsoft.com/office/drawing/2014/main" id="{E4519E66-2FA2-4878-9C59-DAC5645687F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140075" y="2165350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7250" name="Text Box 123">
            <a:extLst>
              <a:ext uri="{FF2B5EF4-FFF2-40B4-BE49-F238E27FC236}">
                <a16:creationId xmlns:a16="http://schemas.microsoft.com/office/drawing/2014/main" id="{DA4D4F08-39A0-4B61-AC55-F1813C2F0B5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91000" y="1295400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7251" name="Text Box 124">
            <a:extLst>
              <a:ext uri="{FF2B5EF4-FFF2-40B4-BE49-F238E27FC236}">
                <a16:creationId xmlns:a16="http://schemas.microsoft.com/office/drawing/2014/main" id="{405F7376-08F9-4C89-9988-B500951EA55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53025" y="2576513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7252" name="Text Box 125">
            <a:extLst>
              <a:ext uri="{FF2B5EF4-FFF2-40B4-BE49-F238E27FC236}">
                <a16:creationId xmlns:a16="http://schemas.microsoft.com/office/drawing/2014/main" id="{F19E8952-DCD1-4B57-B6F3-704C647AEA2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92588" y="3262313"/>
            <a:ext cx="27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7253" name="Text Box 126">
            <a:extLst>
              <a:ext uri="{FF2B5EF4-FFF2-40B4-BE49-F238E27FC236}">
                <a16:creationId xmlns:a16="http://schemas.microsoft.com/office/drawing/2014/main" id="{9CD520DC-18B3-40F3-AC87-4913D4DC147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78188" y="2576513"/>
            <a:ext cx="27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7254" name="Text Box 127">
            <a:extLst>
              <a:ext uri="{FF2B5EF4-FFF2-40B4-BE49-F238E27FC236}">
                <a16:creationId xmlns:a16="http://schemas.microsoft.com/office/drawing/2014/main" id="{F64DE645-382C-4166-B052-C2B6FFE3CE4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362200" y="2500313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7255" name="Text Box 128">
            <a:extLst>
              <a:ext uri="{FF2B5EF4-FFF2-40B4-BE49-F238E27FC236}">
                <a16:creationId xmlns:a16="http://schemas.microsoft.com/office/drawing/2014/main" id="{4DF5E4AF-5E92-4FCE-86C8-6E88947EBD5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72025" y="1646238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37256" name="Text Box 129">
            <a:extLst>
              <a:ext uri="{FF2B5EF4-FFF2-40B4-BE49-F238E27FC236}">
                <a16:creationId xmlns:a16="http://schemas.microsoft.com/office/drawing/2014/main" id="{2A1A5C65-89C4-4BDF-B6AF-F121A21C34D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71913" y="1600200"/>
            <a:ext cx="27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endParaRPr kumimoji="0" lang="en-US" altLang="zh-CN" sz="2400"/>
          </a:p>
        </p:txBody>
      </p:sp>
      <p:sp>
        <p:nvSpPr>
          <p:cNvPr id="137257" name="Text Box 130">
            <a:extLst>
              <a:ext uri="{FF2B5EF4-FFF2-40B4-BE49-F238E27FC236}">
                <a16:creationId xmlns:a16="http://schemas.microsoft.com/office/drawing/2014/main" id="{2122D005-7D36-4189-8B96-6318A0F8FB2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92588" y="2805113"/>
            <a:ext cx="27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c</a:t>
            </a:r>
            <a:endParaRPr kumimoji="0" lang="en-US" altLang="zh-CN" sz="2400"/>
          </a:p>
        </p:txBody>
      </p:sp>
      <p:sp>
        <p:nvSpPr>
          <p:cNvPr id="137258" name="Text Box 131">
            <a:extLst>
              <a:ext uri="{FF2B5EF4-FFF2-40B4-BE49-F238E27FC236}">
                <a16:creationId xmlns:a16="http://schemas.microsoft.com/office/drawing/2014/main" id="{2C40204C-F094-4C85-8138-747D369B68D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19800" y="2528888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7259" name="Line 132">
            <a:extLst>
              <a:ext uri="{FF2B5EF4-FFF2-40B4-BE49-F238E27FC236}">
                <a16:creationId xmlns:a16="http://schemas.microsoft.com/office/drawing/2014/main" id="{F9034279-6908-4EBE-B015-E4829857918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447800" y="2667000"/>
            <a:ext cx="4572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37260" name="AutoShape 133">
            <a:extLst>
              <a:ext uri="{FF2B5EF4-FFF2-40B4-BE49-F238E27FC236}">
                <a16:creationId xmlns:a16="http://schemas.microsoft.com/office/drawing/2014/main" id="{A13EF9E4-8CBA-41B9-95FE-CB7ADEDB136C}"/>
              </a:ext>
            </a:extLst>
          </p:cNvPr>
          <p:cNvCxnSpPr>
            <a:cxnSpLocks noChangeAspect="1" noChangeShapeType="1"/>
            <a:stCxn id="137223" idx="0"/>
            <a:endCxn id="137231" idx="0"/>
          </p:cNvCxnSpPr>
          <p:nvPr/>
        </p:nvCxnSpPr>
        <p:spPr bwMode="auto">
          <a:xfrm rot="5400000" flipV="1">
            <a:off x="4375944" y="953294"/>
            <a:ext cx="1588" cy="2882900"/>
          </a:xfrm>
          <a:prstGeom prst="curvedConnector3">
            <a:avLst>
              <a:gd name="adj1" fmla="val -64300014"/>
            </a:avLst>
          </a:prstGeom>
          <a:noFill/>
          <a:ln w="25400">
            <a:solidFill>
              <a:schemeClr val="tx1"/>
            </a:solidFill>
            <a:round/>
            <a:headEnd type="triangle" w="sm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3" grpId="0" build="p" autoUpdateAnimBg="0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958B4844-2139-4530-BDDD-E9D06EF680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en-US" altLang="zh-CN">
                <a:sym typeface="Symbol" panose="05050102010706020507" pitchFamily="18" charset="2"/>
              </a:rPr>
              <a:t>DFA</a:t>
            </a:r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（续）</a:t>
            </a:r>
          </a:p>
        </p:txBody>
      </p:sp>
      <p:sp>
        <p:nvSpPr>
          <p:cNvPr id="303107" name="Rectangle 3">
            <a:extLst>
              <a:ext uri="{FF2B5EF4-FFF2-40B4-BE49-F238E27FC236}">
                <a16:creationId xmlns:a16="http://schemas.microsoft.com/office/drawing/2014/main" id="{5EBA546B-2D6B-4CBB-B193-130F614B96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657600"/>
            <a:ext cx="7772400" cy="3048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</a:t>
            </a:r>
            <a:r>
              <a:rPr lang="en-US" altLang="zh-CN" sz="2400"/>
              <a:t>δ(</a:t>
            </a:r>
            <a:r>
              <a:rPr kumimoji="0" lang="en-US" altLang="zh-CN" sz="2400">
                <a:sym typeface="Symbol" panose="05050102010706020507" pitchFamily="18" charset="2"/>
              </a:rPr>
              <a:t>{ 1, 2, 4, 5, 6, 8},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a</a:t>
            </a:r>
            <a:r>
              <a:rPr kumimoji="0" lang="en-US" altLang="zh-CN" sz="2400">
                <a:sym typeface="Symbol" panose="05050102010706020507" pitchFamily="18" charset="2"/>
              </a:rPr>
              <a:t>) =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-closure({3}) = {3}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</a:t>
            </a:r>
            <a:r>
              <a:rPr lang="en-US" altLang="zh-CN" sz="2400"/>
              <a:t>δ(</a:t>
            </a:r>
            <a:r>
              <a:rPr kumimoji="0" lang="en-US" altLang="zh-CN" sz="2400">
                <a:sym typeface="Symbol" panose="05050102010706020507" pitchFamily="18" charset="2"/>
              </a:rPr>
              <a:t>{ 1, 2, 4, 5, 6, 8},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b</a:t>
            </a:r>
            <a:r>
              <a:rPr kumimoji="0" lang="en-US" altLang="zh-CN" sz="2400">
                <a:sym typeface="Symbol" panose="05050102010706020507" pitchFamily="18" charset="2"/>
              </a:rPr>
              <a:t>) =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-closure({}) = {}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</a:t>
            </a:r>
            <a:r>
              <a:rPr lang="en-US" altLang="zh-CN" sz="2400"/>
              <a:t>δ(</a:t>
            </a:r>
            <a:r>
              <a:rPr kumimoji="0" lang="en-US" altLang="zh-CN" sz="2400">
                <a:sym typeface="Symbol" panose="05050102010706020507" pitchFamily="18" charset="2"/>
              </a:rPr>
              <a:t>{ 1, 2, 4, 5, 6, 8}, </a:t>
            </a:r>
            <a:r>
              <a:rPr kumimoji="0" lang="en-US" altLang="zh-CN" sz="2400">
                <a:solidFill>
                  <a:srgbClr val="3333CC"/>
                </a:solidFill>
                <a:sym typeface="Symbol" panose="05050102010706020507" pitchFamily="18" charset="2"/>
              </a:rPr>
              <a:t>c</a:t>
            </a:r>
            <a:r>
              <a:rPr kumimoji="0" lang="en-US" altLang="zh-CN" sz="2400">
                <a:sym typeface="Symbol" panose="05050102010706020507" pitchFamily="18" charset="2"/>
              </a:rPr>
              <a:t>) = </a:t>
            </a:r>
            <a:r>
              <a:rPr kumimoji="0" lang="en-US" altLang="zh-CN" sz="24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-closure({7}) = {1, 2, 5, 6, 7, 8}</a:t>
            </a:r>
          </a:p>
        </p:txBody>
      </p:sp>
      <p:sp>
        <p:nvSpPr>
          <p:cNvPr id="138244" name="Line 4">
            <a:extLst>
              <a:ext uri="{FF2B5EF4-FFF2-40B4-BE49-F238E27FC236}">
                <a16:creationId xmlns:a16="http://schemas.microsoft.com/office/drawing/2014/main" id="{F4A32122-E8F8-4233-AABB-ADF9DEC2E46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473700" y="2211388"/>
            <a:ext cx="182563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45" name="Line 5">
            <a:extLst>
              <a:ext uri="{FF2B5EF4-FFF2-40B4-BE49-F238E27FC236}">
                <a16:creationId xmlns:a16="http://schemas.microsoft.com/office/drawing/2014/main" id="{F50DE5A6-581C-449F-86F6-E44D87DCFCF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069013" y="2668588"/>
            <a:ext cx="274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46" name="Oval 6">
            <a:extLst>
              <a:ext uri="{FF2B5EF4-FFF2-40B4-BE49-F238E27FC236}">
                <a16:creationId xmlns:a16="http://schemas.microsoft.com/office/drawing/2014/main" id="{F0998EAF-F002-47AD-A040-A902C489DE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05000" y="2393950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8247" name="Oval 7">
            <a:extLst>
              <a:ext uri="{FF2B5EF4-FFF2-40B4-BE49-F238E27FC236}">
                <a16:creationId xmlns:a16="http://schemas.microsoft.com/office/drawing/2014/main" id="{9251F913-1C77-4664-862D-4123545E22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82875" y="2393950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8248" name="Oval 8">
            <a:extLst>
              <a:ext uri="{FF2B5EF4-FFF2-40B4-BE49-F238E27FC236}">
                <a16:creationId xmlns:a16="http://schemas.microsoft.com/office/drawing/2014/main" id="{7192858B-FDE8-4ACC-AB0E-9D813937ED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97275" y="2943225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8249" name="Oval 9">
            <a:extLst>
              <a:ext uri="{FF2B5EF4-FFF2-40B4-BE49-F238E27FC236}">
                <a16:creationId xmlns:a16="http://schemas.microsoft.com/office/drawing/2014/main" id="{56443300-D00F-4DE2-AC5D-0E917FA737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59300" y="2943225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grpSp>
        <p:nvGrpSpPr>
          <p:cNvPr id="138250" name="Group 10">
            <a:extLst>
              <a:ext uri="{FF2B5EF4-FFF2-40B4-BE49-F238E27FC236}">
                <a16:creationId xmlns:a16="http://schemas.microsoft.com/office/drawing/2014/main" id="{2093C1FB-C544-4BB9-851C-A739F7A3CD6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97613" y="2393950"/>
            <a:ext cx="503237" cy="503238"/>
            <a:chOff x="3648" y="2304"/>
            <a:chExt cx="528" cy="528"/>
          </a:xfrm>
        </p:grpSpPr>
        <p:sp>
          <p:nvSpPr>
            <p:cNvPr id="138285" name="Oval 11">
              <a:extLst>
                <a:ext uri="{FF2B5EF4-FFF2-40B4-BE49-F238E27FC236}">
                  <a16:creationId xmlns:a16="http://schemas.microsoft.com/office/drawing/2014/main" id="{97F2A672-560F-471F-8E14-AF609CBC5D2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48" y="2304"/>
              <a:ext cx="528" cy="52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38286" name="Oval 12">
              <a:extLst>
                <a:ext uri="{FF2B5EF4-FFF2-40B4-BE49-F238E27FC236}">
                  <a16:creationId xmlns:a16="http://schemas.microsoft.com/office/drawing/2014/main" id="{C2E60B40-27B6-434B-A187-58E51725C6E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96" y="2352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38251" name="Line 13">
            <a:extLst>
              <a:ext uri="{FF2B5EF4-FFF2-40B4-BE49-F238E27FC236}">
                <a16:creationId xmlns:a16="http://schemas.microsoft.com/office/drawing/2014/main" id="{41106986-7476-4BB3-9A51-A3B4DEAAC18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08238" y="2668588"/>
            <a:ext cx="27463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52" name="Line 14">
            <a:extLst>
              <a:ext uri="{FF2B5EF4-FFF2-40B4-BE49-F238E27FC236}">
                <a16:creationId xmlns:a16="http://schemas.microsoft.com/office/drawing/2014/main" id="{C7A723F2-7A72-4E64-BE7C-D023C928ECD0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3049588" y="2165350"/>
            <a:ext cx="273050" cy="274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53" name="Line 15">
            <a:extLst>
              <a:ext uri="{FF2B5EF4-FFF2-40B4-BE49-F238E27FC236}">
                <a16:creationId xmlns:a16="http://schemas.microsoft.com/office/drawing/2014/main" id="{51719426-252C-4B00-A5C3-7E0CDD1DE0BC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140075" y="2851150"/>
            <a:ext cx="457200" cy="27463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54" name="Line 16">
            <a:extLst>
              <a:ext uri="{FF2B5EF4-FFF2-40B4-BE49-F238E27FC236}">
                <a16:creationId xmlns:a16="http://schemas.microsoft.com/office/drawing/2014/main" id="{8365B197-08D4-42E6-BC97-8F096ECFE58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100513" y="3217863"/>
            <a:ext cx="4587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55" name="Oval 17">
            <a:extLst>
              <a:ext uri="{FF2B5EF4-FFF2-40B4-BE49-F238E27FC236}">
                <a16:creationId xmlns:a16="http://schemas.microsoft.com/office/drawing/2014/main" id="{64444D5B-77C3-4706-AA71-19C9132729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565775" y="2393950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8256" name="Oval 18">
            <a:extLst>
              <a:ext uri="{FF2B5EF4-FFF2-40B4-BE49-F238E27FC236}">
                <a16:creationId xmlns:a16="http://schemas.microsoft.com/office/drawing/2014/main" id="{63542A22-7ADD-4E95-979E-E305616414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278188" y="1752600"/>
            <a:ext cx="503237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8257" name="Oval 19">
            <a:extLst>
              <a:ext uri="{FF2B5EF4-FFF2-40B4-BE49-F238E27FC236}">
                <a16:creationId xmlns:a16="http://schemas.microsoft.com/office/drawing/2014/main" id="{51119E9F-8407-4897-BDF8-1EA81A1ADD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38625" y="1752600"/>
            <a:ext cx="503238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8258" name="Line 20">
            <a:extLst>
              <a:ext uri="{FF2B5EF4-FFF2-40B4-BE49-F238E27FC236}">
                <a16:creationId xmlns:a16="http://schemas.microsoft.com/office/drawing/2014/main" id="{9736C16B-76FC-4131-B2FE-F16B903CE86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781425" y="2027238"/>
            <a:ext cx="45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59" name="Line 21">
            <a:extLst>
              <a:ext uri="{FF2B5EF4-FFF2-40B4-BE49-F238E27FC236}">
                <a16:creationId xmlns:a16="http://schemas.microsoft.com/office/drawing/2014/main" id="{E342D0BC-7EE4-474A-BEE2-773CC9D2B603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741863" y="2027238"/>
            <a:ext cx="3206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60" name="Oval 22">
            <a:extLst>
              <a:ext uri="{FF2B5EF4-FFF2-40B4-BE49-F238E27FC236}">
                <a16:creationId xmlns:a16="http://schemas.microsoft.com/office/drawing/2014/main" id="{F03FDF0C-7395-4CA9-884C-E9A55BFC87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062538" y="1752600"/>
            <a:ext cx="503237" cy="503238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8261" name="Line 23">
            <a:extLst>
              <a:ext uri="{FF2B5EF4-FFF2-40B4-BE49-F238E27FC236}">
                <a16:creationId xmlns:a16="http://schemas.microsoft.com/office/drawing/2014/main" id="{82511E29-A4B7-427C-9A6C-11E7DF89D9B5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5016500" y="2857500"/>
            <a:ext cx="622300" cy="2222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8262" name="Text Box 24">
            <a:extLst>
              <a:ext uri="{FF2B5EF4-FFF2-40B4-BE49-F238E27FC236}">
                <a16:creationId xmlns:a16="http://schemas.microsoft.com/office/drawing/2014/main" id="{23F7BBC9-EE60-41F8-9B1E-A2D78140F0F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997075" y="248602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0</a:t>
            </a:r>
          </a:p>
        </p:txBody>
      </p:sp>
      <p:sp>
        <p:nvSpPr>
          <p:cNvPr id="138263" name="Text Box 25">
            <a:extLst>
              <a:ext uri="{FF2B5EF4-FFF2-40B4-BE49-F238E27FC236}">
                <a16:creationId xmlns:a16="http://schemas.microsoft.com/office/drawing/2014/main" id="{BA6CED70-62E3-4CEB-8664-EA54B3D3AF1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389688" y="2486025"/>
            <a:ext cx="319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8</a:t>
            </a:r>
          </a:p>
        </p:txBody>
      </p:sp>
      <p:sp>
        <p:nvSpPr>
          <p:cNvPr id="138264" name="Text Box 26">
            <a:extLst>
              <a:ext uri="{FF2B5EF4-FFF2-40B4-BE49-F238E27FC236}">
                <a16:creationId xmlns:a16="http://schemas.microsoft.com/office/drawing/2014/main" id="{82A4C8B2-C03B-4AFD-8DFB-F8B0E5BA9A6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656263" y="2486025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5</a:t>
            </a:r>
          </a:p>
        </p:txBody>
      </p:sp>
      <p:sp>
        <p:nvSpPr>
          <p:cNvPr id="138265" name="Text Box 27">
            <a:extLst>
              <a:ext uri="{FF2B5EF4-FFF2-40B4-BE49-F238E27FC236}">
                <a16:creationId xmlns:a16="http://schemas.microsoft.com/office/drawing/2014/main" id="{5DCD3D20-4CAF-4DA7-AB78-AF37676D254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53025" y="1844675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4</a:t>
            </a:r>
          </a:p>
        </p:txBody>
      </p:sp>
      <p:sp>
        <p:nvSpPr>
          <p:cNvPr id="138266" name="Text Box 28">
            <a:extLst>
              <a:ext uri="{FF2B5EF4-FFF2-40B4-BE49-F238E27FC236}">
                <a16:creationId xmlns:a16="http://schemas.microsoft.com/office/drawing/2014/main" id="{62668D53-23D0-4FED-A9A7-08EDBCC7C2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49788" y="3033713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7</a:t>
            </a:r>
          </a:p>
        </p:txBody>
      </p:sp>
      <p:sp>
        <p:nvSpPr>
          <p:cNvPr id="138267" name="Text Box 29">
            <a:extLst>
              <a:ext uri="{FF2B5EF4-FFF2-40B4-BE49-F238E27FC236}">
                <a16:creationId xmlns:a16="http://schemas.microsoft.com/office/drawing/2014/main" id="{7B9CCF0A-BA51-42BB-9911-78B97F5362B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284663" y="1844675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</a:p>
        </p:txBody>
      </p:sp>
      <p:sp>
        <p:nvSpPr>
          <p:cNvPr id="138268" name="Text Box 30">
            <a:extLst>
              <a:ext uri="{FF2B5EF4-FFF2-40B4-BE49-F238E27FC236}">
                <a16:creationId xmlns:a16="http://schemas.microsoft.com/office/drawing/2014/main" id="{5654A4CB-181B-4222-B019-4C60BBA2F59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689350" y="3033713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6</a:t>
            </a:r>
          </a:p>
        </p:txBody>
      </p:sp>
      <p:sp>
        <p:nvSpPr>
          <p:cNvPr id="138269" name="Text Box 31">
            <a:extLst>
              <a:ext uri="{FF2B5EF4-FFF2-40B4-BE49-F238E27FC236}">
                <a16:creationId xmlns:a16="http://schemas.microsoft.com/office/drawing/2014/main" id="{9272C505-1D88-4611-AD9C-C5E50C91D23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368675" y="1890713"/>
            <a:ext cx="320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2</a:t>
            </a:r>
          </a:p>
        </p:txBody>
      </p:sp>
      <p:sp>
        <p:nvSpPr>
          <p:cNvPr id="138270" name="Text Box 32">
            <a:extLst>
              <a:ext uri="{FF2B5EF4-FFF2-40B4-BE49-F238E27FC236}">
                <a16:creationId xmlns:a16="http://schemas.microsoft.com/office/drawing/2014/main" id="{1849360B-733C-435F-8B14-1EB1D045220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774950" y="2486025"/>
            <a:ext cx="319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</a:t>
            </a:r>
          </a:p>
        </p:txBody>
      </p:sp>
      <p:cxnSp>
        <p:nvCxnSpPr>
          <p:cNvPr id="138271" name="AutoShape 33">
            <a:extLst>
              <a:ext uri="{FF2B5EF4-FFF2-40B4-BE49-F238E27FC236}">
                <a16:creationId xmlns:a16="http://schemas.microsoft.com/office/drawing/2014/main" id="{26239142-E3E5-46CC-964B-143843820DB0}"/>
              </a:ext>
            </a:extLst>
          </p:cNvPr>
          <p:cNvCxnSpPr>
            <a:cxnSpLocks noChangeAspect="1" noChangeShapeType="1"/>
            <a:stCxn id="138246" idx="4"/>
            <a:endCxn id="138285" idx="4"/>
          </p:cNvCxnSpPr>
          <p:nvPr/>
        </p:nvCxnSpPr>
        <p:spPr bwMode="auto">
          <a:xfrm rot="16200000" flipH="1">
            <a:off x="4352132" y="702469"/>
            <a:ext cx="1587" cy="4391025"/>
          </a:xfrm>
          <a:prstGeom prst="curvedConnector3">
            <a:avLst>
              <a:gd name="adj1" fmla="val 51499986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8272" name="Text Box 34">
            <a:extLst>
              <a:ext uri="{FF2B5EF4-FFF2-40B4-BE49-F238E27FC236}">
                <a16:creationId xmlns:a16="http://schemas.microsoft.com/office/drawing/2014/main" id="{357A4B0A-7797-49D6-A47F-467499D8B8C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257800" y="2165350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8273" name="Text Box 35">
            <a:extLst>
              <a:ext uri="{FF2B5EF4-FFF2-40B4-BE49-F238E27FC236}">
                <a16:creationId xmlns:a16="http://schemas.microsoft.com/office/drawing/2014/main" id="{AFF8472C-FA2A-409E-984A-E23EA12F593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140075" y="2165350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8274" name="Text Box 36">
            <a:extLst>
              <a:ext uri="{FF2B5EF4-FFF2-40B4-BE49-F238E27FC236}">
                <a16:creationId xmlns:a16="http://schemas.microsoft.com/office/drawing/2014/main" id="{FB4B2539-A5EC-496A-9A6B-54DE297DB3B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91000" y="1295400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8275" name="Text Box 37">
            <a:extLst>
              <a:ext uri="{FF2B5EF4-FFF2-40B4-BE49-F238E27FC236}">
                <a16:creationId xmlns:a16="http://schemas.microsoft.com/office/drawing/2014/main" id="{0CBC721B-552B-46DF-91A1-A9D0D4BC99D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53025" y="2576513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8276" name="Text Box 38">
            <a:extLst>
              <a:ext uri="{FF2B5EF4-FFF2-40B4-BE49-F238E27FC236}">
                <a16:creationId xmlns:a16="http://schemas.microsoft.com/office/drawing/2014/main" id="{DBC073BD-096B-4F7A-8D61-3DEF6FC4839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92588" y="3262313"/>
            <a:ext cx="27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8277" name="Text Box 39">
            <a:extLst>
              <a:ext uri="{FF2B5EF4-FFF2-40B4-BE49-F238E27FC236}">
                <a16:creationId xmlns:a16="http://schemas.microsoft.com/office/drawing/2014/main" id="{338CA227-A2C7-4A97-BA20-6A1E961CE00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278188" y="2576513"/>
            <a:ext cx="27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8278" name="Text Box 40">
            <a:extLst>
              <a:ext uri="{FF2B5EF4-FFF2-40B4-BE49-F238E27FC236}">
                <a16:creationId xmlns:a16="http://schemas.microsoft.com/office/drawing/2014/main" id="{109EF8E9-1558-49F1-8FBF-E3438935D6A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362200" y="2500313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8279" name="Text Box 41">
            <a:extLst>
              <a:ext uri="{FF2B5EF4-FFF2-40B4-BE49-F238E27FC236}">
                <a16:creationId xmlns:a16="http://schemas.microsoft.com/office/drawing/2014/main" id="{F231A863-179E-42A4-99DD-E5B344BEAB1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772025" y="1646238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38280" name="Text Box 42">
            <a:extLst>
              <a:ext uri="{FF2B5EF4-FFF2-40B4-BE49-F238E27FC236}">
                <a16:creationId xmlns:a16="http://schemas.microsoft.com/office/drawing/2014/main" id="{FA6468A3-A6DB-457E-B8E1-163DBA8D036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71913" y="1600200"/>
            <a:ext cx="27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endParaRPr kumimoji="0" lang="en-US" altLang="zh-CN" sz="2400"/>
          </a:p>
        </p:txBody>
      </p:sp>
      <p:sp>
        <p:nvSpPr>
          <p:cNvPr id="138281" name="Text Box 43">
            <a:extLst>
              <a:ext uri="{FF2B5EF4-FFF2-40B4-BE49-F238E27FC236}">
                <a16:creationId xmlns:a16="http://schemas.microsoft.com/office/drawing/2014/main" id="{3E2FA6CC-F417-4690-AD2C-10C8A603951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192588" y="2805113"/>
            <a:ext cx="274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c</a:t>
            </a:r>
            <a:endParaRPr kumimoji="0" lang="en-US" altLang="zh-CN" sz="2400"/>
          </a:p>
        </p:txBody>
      </p:sp>
      <p:sp>
        <p:nvSpPr>
          <p:cNvPr id="138282" name="Text Box 44">
            <a:extLst>
              <a:ext uri="{FF2B5EF4-FFF2-40B4-BE49-F238E27FC236}">
                <a16:creationId xmlns:a16="http://schemas.microsoft.com/office/drawing/2014/main" id="{81146666-DFDF-44CE-BFF0-21FC9EB8987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019800" y="2528888"/>
            <a:ext cx="274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38283" name="Line 45">
            <a:extLst>
              <a:ext uri="{FF2B5EF4-FFF2-40B4-BE49-F238E27FC236}">
                <a16:creationId xmlns:a16="http://schemas.microsoft.com/office/drawing/2014/main" id="{EEA56A6C-6858-4881-8BDB-178EB7EA03D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447800" y="2667000"/>
            <a:ext cx="457200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38284" name="AutoShape 46">
            <a:extLst>
              <a:ext uri="{FF2B5EF4-FFF2-40B4-BE49-F238E27FC236}">
                <a16:creationId xmlns:a16="http://schemas.microsoft.com/office/drawing/2014/main" id="{04686675-8CCB-4F2F-8F25-2A5E5DAB16AF}"/>
              </a:ext>
            </a:extLst>
          </p:cNvPr>
          <p:cNvCxnSpPr>
            <a:cxnSpLocks noChangeAspect="1" noChangeShapeType="1"/>
            <a:stCxn id="138247" idx="0"/>
            <a:endCxn id="138255" idx="0"/>
          </p:cNvCxnSpPr>
          <p:nvPr/>
        </p:nvCxnSpPr>
        <p:spPr bwMode="auto">
          <a:xfrm rot="5400000" flipV="1">
            <a:off x="4375944" y="953294"/>
            <a:ext cx="1588" cy="2882900"/>
          </a:xfrm>
          <a:prstGeom prst="curvedConnector3">
            <a:avLst>
              <a:gd name="adj1" fmla="val -64300014"/>
            </a:avLst>
          </a:prstGeom>
          <a:noFill/>
          <a:ln w="25400">
            <a:solidFill>
              <a:schemeClr val="tx1"/>
            </a:solidFill>
            <a:round/>
            <a:headEnd type="triangle" w="sm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3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3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3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7" grpId="0" build="p" autoUpdateAnimBg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49BAC7B9-EF21-4D42-8C60-2B6285B9A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en-US" altLang="zh-CN">
                <a:sym typeface="Symbol" panose="05050102010706020507" pitchFamily="18" charset="2"/>
              </a:rPr>
              <a:t>DFA</a:t>
            </a:r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1</a:t>
            </a:r>
            <a:r>
              <a:rPr lang="zh-CN" altLang="en-US">
                <a:sym typeface="Symbol" panose="05050102010706020507" pitchFamily="18" charset="2"/>
              </a:rPr>
              <a:t>（续）</a:t>
            </a:r>
          </a:p>
        </p:txBody>
      </p:sp>
      <p:sp>
        <p:nvSpPr>
          <p:cNvPr id="139267" name="Text Box 5">
            <a:extLst>
              <a:ext uri="{FF2B5EF4-FFF2-40B4-BE49-F238E27FC236}">
                <a16:creationId xmlns:a16="http://schemas.microsoft.com/office/drawing/2014/main" id="{0F291930-559C-417E-B09B-68DDDAECCE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1242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>
                <a:solidFill>
                  <a:srgbClr val="3333CC"/>
                </a:solidFill>
              </a:rPr>
              <a:t>哪些是终态 </a:t>
            </a:r>
            <a:r>
              <a:rPr kumimoji="0" lang="en-US" altLang="zh-CN" sz="2400">
                <a:solidFill>
                  <a:srgbClr val="3333CC"/>
                </a:solidFill>
              </a:rPr>
              <a:t>?</a:t>
            </a:r>
          </a:p>
        </p:txBody>
      </p:sp>
      <p:sp>
        <p:nvSpPr>
          <p:cNvPr id="139268" name="Oval 7">
            <a:extLst>
              <a:ext uri="{FF2B5EF4-FFF2-40B4-BE49-F238E27FC236}">
                <a16:creationId xmlns:a16="http://schemas.microsoft.com/office/drawing/2014/main" id="{F4B0E886-6B49-4CC8-AD06-54C7291B8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2743200"/>
            <a:ext cx="20574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9269" name="Oval 8">
            <a:extLst>
              <a:ext uri="{FF2B5EF4-FFF2-40B4-BE49-F238E27FC236}">
                <a16:creationId xmlns:a16="http://schemas.microsoft.com/office/drawing/2014/main" id="{6D744395-D68B-4392-A541-C2DE65DE47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971800"/>
            <a:ext cx="20574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9270" name="Oval 9">
            <a:extLst>
              <a:ext uri="{FF2B5EF4-FFF2-40B4-BE49-F238E27FC236}">
                <a16:creationId xmlns:a16="http://schemas.microsoft.com/office/drawing/2014/main" id="{962574ED-29E5-438E-9EDC-4D4D022C1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600200"/>
            <a:ext cx="2057400" cy="685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9271" name="Oval 10">
            <a:extLst>
              <a:ext uri="{FF2B5EF4-FFF2-40B4-BE49-F238E27FC236}">
                <a16:creationId xmlns:a16="http://schemas.microsoft.com/office/drawing/2014/main" id="{C33AE76B-E67E-4BB3-A3C0-491243A9E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524000"/>
            <a:ext cx="838200" cy="838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39272" name="Text Box 11">
            <a:extLst>
              <a:ext uri="{FF2B5EF4-FFF2-40B4-BE49-F238E27FC236}">
                <a16:creationId xmlns:a16="http://schemas.microsoft.com/office/drawing/2014/main" id="{1186BBA5-FA49-4BA8-9EE9-53CDA0A4E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2895600"/>
            <a:ext cx="1981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1, 2, 5, 6, 7, 8</a:t>
            </a:r>
          </a:p>
        </p:txBody>
      </p:sp>
      <p:sp>
        <p:nvSpPr>
          <p:cNvPr id="139273" name="Text Box 12">
            <a:extLst>
              <a:ext uri="{FF2B5EF4-FFF2-40B4-BE49-F238E27FC236}">
                <a16:creationId xmlns:a16="http://schemas.microsoft.com/office/drawing/2014/main" id="{269C6B9E-C15C-46AD-8BFE-1405F3010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31242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1, 2, 4, 5, 6, 8</a:t>
            </a:r>
          </a:p>
        </p:txBody>
      </p:sp>
      <p:sp>
        <p:nvSpPr>
          <p:cNvPr id="139274" name="Text Box 13">
            <a:extLst>
              <a:ext uri="{FF2B5EF4-FFF2-40B4-BE49-F238E27FC236}">
                <a16:creationId xmlns:a16="http://schemas.microsoft.com/office/drawing/2014/main" id="{762635C2-D3E5-4520-A005-D91840040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17526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0, 1, 2, 6, 8</a:t>
            </a:r>
          </a:p>
        </p:txBody>
      </p:sp>
      <p:sp>
        <p:nvSpPr>
          <p:cNvPr id="139275" name="Text Box 14">
            <a:extLst>
              <a:ext uri="{FF2B5EF4-FFF2-40B4-BE49-F238E27FC236}">
                <a16:creationId xmlns:a16="http://schemas.microsoft.com/office/drawing/2014/main" id="{1AA662D6-B315-47DA-B7CE-D2545DA59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1800" y="17526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</a:p>
        </p:txBody>
      </p:sp>
      <p:cxnSp>
        <p:nvCxnSpPr>
          <p:cNvPr id="139276" name="AutoShape 15">
            <a:extLst>
              <a:ext uri="{FF2B5EF4-FFF2-40B4-BE49-F238E27FC236}">
                <a16:creationId xmlns:a16="http://schemas.microsoft.com/office/drawing/2014/main" id="{F94089CF-30EA-4B63-B293-EB078E063B9E}"/>
              </a:ext>
            </a:extLst>
          </p:cNvPr>
          <p:cNvCxnSpPr>
            <a:cxnSpLocks noChangeShapeType="1"/>
            <a:stCxn id="139270" idx="7"/>
            <a:endCxn id="139271" idx="1"/>
          </p:cNvCxnSpPr>
          <p:nvPr/>
        </p:nvCxnSpPr>
        <p:spPr bwMode="auto">
          <a:xfrm rot="-5400000">
            <a:off x="5293519" y="242094"/>
            <a:ext cx="53975" cy="2862263"/>
          </a:xfrm>
          <a:prstGeom prst="curvedConnector3">
            <a:avLst>
              <a:gd name="adj1" fmla="val 750000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9277" name="AutoShape 16">
            <a:extLst>
              <a:ext uri="{FF2B5EF4-FFF2-40B4-BE49-F238E27FC236}">
                <a16:creationId xmlns:a16="http://schemas.microsoft.com/office/drawing/2014/main" id="{26D7841C-63AA-472D-B80A-76A37C48A969}"/>
              </a:ext>
            </a:extLst>
          </p:cNvPr>
          <p:cNvCxnSpPr>
            <a:cxnSpLocks noChangeShapeType="1"/>
            <a:stCxn id="139269" idx="2"/>
            <a:endCxn id="139268" idx="6"/>
          </p:cNvCxnSpPr>
          <p:nvPr/>
        </p:nvCxnSpPr>
        <p:spPr bwMode="auto">
          <a:xfrm rot="10800000">
            <a:off x="5715000" y="3086100"/>
            <a:ext cx="1295400" cy="228600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9278" name="AutoShape 17">
            <a:extLst>
              <a:ext uri="{FF2B5EF4-FFF2-40B4-BE49-F238E27FC236}">
                <a16:creationId xmlns:a16="http://schemas.microsoft.com/office/drawing/2014/main" id="{36D5B047-30CE-492B-A9E2-552114BCB832}"/>
              </a:ext>
            </a:extLst>
          </p:cNvPr>
          <p:cNvCxnSpPr>
            <a:cxnSpLocks noChangeShapeType="1"/>
            <a:stCxn id="139269" idx="0"/>
            <a:endCxn id="139271" idx="6"/>
          </p:cNvCxnSpPr>
          <p:nvPr/>
        </p:nvCxnSpPr>
        <p:spPr bwMode="auto">
          <a:xfrm rot="5400000" flipH="1">
            <a:off x="7239000" y="2171700"/>
            <a:ext cx="1028700" cy="571500"/>
          </a:xfrm>
          <a:prstGeom prst="curvedConnector2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9279" name="AutoShape 18">
            <a:extLst>
              <a:ext uri="{FF2B5EF4-FFF2-40B4-BE49-F238E27FC236}">
                <a16:creationId xmlns:a16="http://schemas.microsoft.com/office/drawing/2014/main" id="{C02B6C2D-23AF-4A6D-9432-F5D4F66E960C}"/>
              </a:ext>
            </a:extLst>
          </p:cNvPr>
          <p:cNvCxnSpPr>
            <a:cxnSpLocks noChangeShapeType="1"/>
            <a:stCxn id="139271" idx="4"/>
            <a:endCxn id="139269" idx="1"/>
          </p:cNvCxnSpPr>
          <p:nvPr/>
        </p:nvCxnSpPr>
        <p:spPr bwMode="auto">
          <a:xfrm rot="16200000" flipH="1">
            <a:off x="6825456" y="2585244"/>
            <a:ext cx="709613" cy="263525"/>
          </a:xfrm>
          <a:prstGeom prst="curvedConnector3">
            <a:avLst>
              <a:gd name="adj1" fmla="val 42954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9280" name="AutoShape 19">
            <a:extLst>
              <a:ext uri="{FF2B5EF4-FFF2-40B4-BE49-F238E27FC236}">
                <a16:creationId xmlns:a16="http://schemas.microsoft.com/office/drawing/2014/main" id="{D8DBF98B-E526-40B1-9A73-7CDF1A6E3318}"/>
              </a:ext>
            </a:extLst>
          </p:cNvPr>
          <p:cNvCxnSpPr>
            <a:cxnSpLocks noChangeShapeType="1"/>
            <a:stCxn id="139268" idx="0"/>
            <a:endCxn id="139271" idx="2"/>
          </p:cNvCxnSpPr>
          <p:nvPr/>
        </p:nvCxnSpPr>
        <p:spPr bwMode="auto">
          <a:xfrm rot="-5400000">
            <a:off x="5257800" y="1371600"/>
            <a:ext cx="800100" cy="1943100"/>
          </a:xfrm>
          <a:prstGeom prst="curvedConnector2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9281" name="AutoShape 20">
            <a:extLst>
              <a:ext uri="{FF2B5EF4-FFF2-40B4-BE49-F238E27FC236}">
                <a16:creationId xmlns:a16="http://schemas.microsoft.com/office/drawing/2014/main" id="{04A9B70B-9985-4931-A99D-D06A56EF866A}"/>
              </a:ext>
            </a:extLst>
          </p:cNvPr>
          <p:cNvCxnSpPr>
            <a:cxnSpLocks noChangeShapeType="1"/>
            <a:stCxn id="139270" idx="4"/>
            <a:endCxn id="139268" idx="2"/>
          </p:cNvCxnSpPr>
          <p:nvPr/>
        </p:nvCxnSpPr>
        <p:spPr bwMode="auto">
          <a:xfrm rot="16200000" flipH="1">
            <a:off x="3009900" y="2438400"/>
            <a:ext cx="800100" cy="495300"/>
          </a:xfrm>
          <a:prstGeom prst="curvedConnector2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9282" name="Text Box 21">
            <a:extLst>
              <a:ext uri="{FF2B5EF4-FFF2-40B4-BE49-F238E27FC236}">
                <a16:creationId xmlns:a16="http://schemas.microsoft.com/office/drawing/2014/main" id="{1029CD76-2580-4C51-A6FA-D2A8FF3FE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505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c</a:t>
            </a:r>
          </a:p>
        </p:txBody>
      </p:sp>
      <p:sp>
        <p:nvSpPr>
          <p:cNvPr id="139283" name="Text Box 22">
            <a:extLst>
              <a:ext uri="{FF2B5EF4-FFF2-40B4-BE49-F238E27FC236}">
                <a16:creationId xmlns:a16="http://schemas.microsoft.com/office/drawing/2014/main" id="{E2F064D2-7DBA-4BDA-AC3D-A3480F8959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2362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39284" name="Text Box 23">
            <a:extLst>
              <a:ext uri="{FF2B5EF4-FFF2-40B4-BE49-F238E27FC236}">
                <a16:creationId xmlns:a16="http://schemas.microsoft.com/office/drawing/2014/main" id="{9764F237-71CD-4CCA-816E-9C6D414BEE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8600" y="2133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sp>
        <p:nvSpPr>
          <p:cNvPr id="139285" name="Text Box 24">
            <a:extLst>
              <a:ext uri="{FF2B5EF4-FFF2-40B4-BE49-F238E27FC236}">
                <a16:creationId xmlns:a16="http://schemas.microsoft.com/office/drawing/2014/main" id="{64A04574-03FA-440B-8105-9D3190A43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752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sp>
        <p:nvSpPr>
          <p:cNvPr id="139286" name="Text Box 25">
            <a:extLst>
              <a:ext uri="{FF2B5EF4-FFF2-40B4-BE49-F238E27FC236}">
                <a16:creationId xmlns:a16="http://schemas.microsoft.com/office/drawing/2014/main" id="{A9DCF8DD-5CDF-4002-B4FC-F6352E4DB9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219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sp>
        <p:nvSpPr>
          <p:cNvPr id="139287" name="Text Box 26">
            <a:extLst>
              <a:ext uri="{FF2B5EF4-FFF2-40B4-BE49-F238E27FC236}">
                <a16:creationId xmlns:a16="http://schemas.microsoft.com/office/drawing/2014/main" id="{383C7775-7285-41E4-ABA4-A704F2E74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362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c</a:t>
            </a:r>
          </a:p>
        </p:txBody>
      </p:sp>
      <p:sp>
        <p:nvSpPr>
          <p:cNvPr id="139288" name="Text Box 27">
            <a:extLst>
              <a:ext uri="{FF2B5EF4-FFF2-40B4-BE49-F238E27FC236}">
                <a16:creationId xmlns:a16="http://schemas.microsoft.com/office/drawing/2014/main" id="{63DBF504-6177-44CF-B46F-49CDF1766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c</a:t>
            </a:r>
          </a:p>
        </p:txBody>
      </p:sp>
      <p:cxnSp>
        <p:nvCxnSpPr>
          <p:cNvPr id="139289" name="AutoShape 28">
            <a:extLst>
              <a:ext uri="{FF2B5EF4-FFF2-40B4-BE49-F238E27FC236}">
                <a16:creationId xmlns:a16="http://schemas.microsoft.com/office/drawing/2014/main" id="{8B823249-AC7C-4ECF-AC2F-3B78B119066F}"/>
              </a:ext>
            </a:extLst>
          </p:cNvPr>
          <p:cNvCxnSpPr>
            <a:cxnSpLocks noChangeShapeType="1"/>
            <a:stCxn id="139268" idx="3"/>
            <a:endCxn id="139268" idx="4"/>
          </p:cNvCxnSpPr>
          <p:nvPr/>
        </p:nvCxnSpPr>
        <p:spPr bwMode="auto">
          <a:xfrm rot="16200000" flipH="1">
            <a:off x="4272757" y="3015456"/>
            <a:ext cx="100012" cy="727075"/>
          </a:xfrm>
          <a:prstGeom prst="curvedConnector3">
            <a:avLst>
              <a:gd name="adj1" fmla="val 625394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39290" name="Group 29">
            <a:extLst>
              <a:ext uri="{FF2B5EF4-FFF2-40B4-BE49-F238E27FC236}">
                <a16:creationId xmlns:a16="http://schemas.microsoft.com/office/drawing/2014/main" id="{DBFBE933-0969-4CF4-8892-C39EFF43859A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505200"/>
            <a:ext cx="4038600" cy="2209800"/>
            <a:chOff x="720" y="2784"/>
            <a:chExt cx="2544" cy="1392"/>
          </a:xfrm>
        </p:grpSpPr>
        <p:sp>
          <p:nvSpPr>
            <p:cNvPr id="139291" name="Oval 30">
              <a:extLst>
                <a:ext uri="{FF2B5EF4-FFF2-40B4-BE49-F238E27FC236}">
                  <a16:creationId xmlns:a16="http://schemas.microsoft.com/office/drawing/2014/main" id="{4F704EB1-9F48-4AE3-9FD1-8A55430BD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504"/>
              <a:ext cx="576" cy="53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39292" name="Oval 31">
              <a:extLst>
                <a:ext uri="{FF2B5EF4-FFF2-40B4-BE49-F238E27FC236}">
                  <a16:creationId xmlns:a16="http://schemas.microsoft.com/office/drawing/2014/main" id="{B3C54649-162D-405B-A524-F87E10472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88" y="3600"/>
              <a:ext cx="576" cy="52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39293" name="Oval 32">
              <a:extLst>
                <a:ext uri="{FF2B5EF4-FFF2-40B4-BE49-F238E27FC236}">
                  <a16:creationId xmlns:a16="http://schemas.microsoft.com/office/drawing/2014/main" id="{FCA295CC-DFFC-4E9F-874F-943649EB4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832"/>
              <a:ext cx="576" cy="53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39294" name="Oval 33">
              <a:extLst>
                <a:ext uri="{FF2B5EF4-FFF2-40B4-BE49-F238E27FC236}">
                  <a16:creationId xmlns:a16="http://schemas.microsoft.com/office/drawing/2014/main" id="{F39DE6C7-BE48-4B96-8182-F78D65667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928"/>
              <a:ext cx="528" cy="52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39295" name="Text Box 34">
              <a:extLst>
                <a:ext uri="{FF2B5EF4-FFF2-40B4-BE49-F238E27FC236}">
                  <a16:creationId xmlns:a16="http://schemas.microsoft.com/office/drawing/2014/main" id="{987B4C46-B86A-410E-97E7-BB5E82C2C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364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D</a:t>
              </a:r>
            </a:p>
          </p:txBody>
        </p:sp>
        <p:sp>
          <p:nvSpPr>
            <p:cNvPr id="139296" name="Text Box 35">
              <a:extLst>
                <a:ext uri="{FF2B5EF4-FFF2-40B4-BE49-F238E27FC236}">
                  <a16:creationId xmlns:a16="http://schemas.microsoft.com/office/drawing/2014/main" id="{AA512770-7224-4987-9770-40BFC9E6B9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3744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C</a:t>
              </a:r>
            </a:p>
          </p:txBody>
        </p:sp>
        <p:sp>
          <p:nvSpPr>
            <p:cNvPr id="139297" name="Text Box 36">
              <a:extLst>
                <a:ext uri="{FF2B5EF4-FFF2-40B4-BE49-F238E27FC236}">
                  <a16:creationId xmlns:a16="http://schemas.microsoft.com/office/drawing/2014/main" id="{1BA9DAA1-55A6-4AF6-9472-DAAD7088C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976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A</a:t>
              </a:r>
            </a:p>
          </p:txBody>
        </p:sp>
        <p:sp>
          <p:nvSpPr>
            <p:cNvPr id="139298" name="Text Box 37">
              <a:extLst>
                <a:ext uri="{FF2B5EF4-FFF2-40B4-BE49-F238E27FC236}">
                  <a16:creationId xmlns:a16="http://schemas.microsoft.com/office/drawing/2014/main" id="{E6B6E64F-1099-4358-9723-2A87DF00BB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07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B</a:t>
              </a:r>
            </a:p>
          </p:txBody>
        </p:sp>
        <p:cxnSp>
          <p:nvCxnSpPr>
            <p:cNvPr id="139299" name="AutoShape 38">
              <a:extLst>
                <a:ext uri="{FF2B5EF4-FFF2-40B4-BE49-F238E27FC236}">
                  <a16:creationId xmlns:a16="http://schemas.microsoft.com/office/drawing/2014/main" id="{B5B23F2D-04F7-48B5-B01C-BC7650279E2C}"/>
                </a:ext>
              </a:extLst>
            </p:cNvPr>
            <p:cNvCxnSpPr>
              <a:cxnSpLocks noChangeShapeType="1"/>
              <a:stCxn id="139293" idx="7"/>
              <a:endCxn id="139294" idx="1"/>
            </p:cNvCxnSpPr>
            <p:nvPr/>
          </p:nvCxnSpPr>
          <p:spPr bwMode="auto">
            <a:xfrm rot="5400000" flipV="1">
              <a:off x="1630" y="2493"/>
              <a:ext cx="94" cy="929"/>
            </a:xfrm>
            <a:prstGeom prst="curvedConnector3">
              <a:avLst>
                <a:gd name="adj1" fmla="val -56384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9300" name="AutoShape 39">
              <a:extLst>
                <a:ext uri="{FF2B5EF4-FFF2-40B4-BE49-F238E27FC236}">
                  <a16:creationId xmlns:a16="http://schemas.microsoft.com/office/drawing/2014/main" id="{2228CDEF-9015-4E62-AE8A-FD2966D3C104}"/>
                </a:ext>
              </a:extLst>
            </p:cNvPr>
            <p:cNvCxnSpPr>
              <a:cxnSpLocks noChangeShapeType="1"/>
              <a:stCxn id="139292" idx="2"/>
              <a:endCxn id="139291" idx="6"/>
            </p:cNvCxnSpPr>
            <p:nvPr/>
          </p:nvCxnSpPr>
          <p:spPr bwMode="auto">
            <a:xfrm rot="10800000">
              <a:off x="1632" y="3773"/>
              <a:ext cx="1056" cy="91"/>
            </a:xfrm>
            <a:prstGeom prst="curvedConnector3">
              <a:avLst>
                <a:gd name="adj1" fmla="val 5000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9301" name="AutoShape 40">
              <a:extLst>
                <a:ext uri="{FF2B5EF4-FFF2-40B4-BE49-F238E27FC236}">
                  <a16:creationId xmlns:a16="http://schemas.microsoft.com/office/drawing/2014/main" id="{BB130880-AFD9-4F90-9C97-972FA9441CC4}"/>
                </a:ext>
              </a:extLst>
            </p:cNvPr>
            <p:cNvCxnSpPr>
              <a:cxnSpLocks noChangeShapeType="1"/>
              <a:stCxn id="139292" idx="0"/>
              <a:endCxn id="139294" idx="6"/>
            </p:cNvCxnSpPr>
            <p:nvPr/>
          </p:nvCxnSpPr>
          <p:spPr bwMode="auto">
            <a:xfrm rot="5400000" flipH="1">
              <a:off x="2580" y="3204"/>
              <a:ext cx="408" cy="384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9302" name="AutoShape 41">
              <a:extLst>
                <a:ext uri="{FF2B5EF4-FFF2-40B4-BE49-F238E27FC236}">
                  <a16:creationId xmlns:a16="http://schemas.microsoft.com/office/drawing/2014/main" id="{494C2EB2-F4A0-4D51-AD22-FCF78DCA5280}"/>
                </a:ext>
              </a:extLst>
            </p:cNvPr>
            <p:cNvCxnSpPr>
              <a:cxnSpLocks noChangeShapeType="1"/>
              <a:stCxn id="139294" idx="4"/>
              <a:endCxn id="139292" idx="1"/>
            </p:cNvCxnSpPr>
            <p:nvPr/>
          </p:nvCxnSpPr>
          <p:spPr bwMode="auto">
            <a:xfrm rot="16200000" flipH="1">
              <a:off x="2439" y="3345"/>
              <a:ext cx="221" cy="444"/>
            </a:xfrm>
            <a:prstGeom prst="curvedConnector3">
              <a:avLst>
                <a:gd name="adj1" fmla="val 3257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9303" name="AutoShape 42">
              <a:extLst>
                <a:ext uri="{FF2B5EF4-FFF2-40B4-BE49-F238E27FC236}">
                  <a16:creationId xmlns:a16="http://schemas.microsoft.com/office/drawing/2014/main" id="{32B8814E-CE1C-411D-8EE9-3411001C5205}"/>
                </a:ext>
              </a:extLst>
            </p:cNvPr>
            <p:cNvCxnSpPr>
              <a:cxnSpLocks noChangeShapeType="1"/>
              <a:stCxn id="139291" idx="0"/>
              <a:endCxn id="139294" idx="2"/>
            </p:cNvCxnSpPr>
            <p:nvPr/>
          </p:nvCxnSpPr>
          <p:spPr bwMode="auto">
            <a:xfrm rot="-5400000">
              <a:off x="1548" y="2988"/>
              <a:ext cx="312" cy="720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9304" name="AutoShape 43">
              <a:extLst>
                <a:ext uri="{FF2B5EF4-FFF2-40B4-BE49-F238E27FC236}">
                  <a16:creationId xmlns:a16="http://schemas.microsoft.com/office/drawing/2014/main" id="{6AF989DC-9D98-496C-9B52-B38825614E97}"/>
                </a:ext>
              </a:extLst>
            </p:cNvPr>
            <p:cNvCxnSpPr>
              <a:cxnSpLocks noChangeShapeType="1"/>
              <a:stCxn id="139293" idx="4"/>
              <a:endCxn id="139291" idx="2"/>
            </p:cNvCxnSpPr>
            <p:nvPr/>
          </p:nvCxnSpPr>
          <p:spPr bwMode="auto">
            <a:xfrm rot="16200000" flipH="1">
              <a:off x="830" y="3547"/>
              <a:ext cx="404" cy="48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9305" name="Text Box 44">
              <a:extLst>
                <a:ext uri="{FF2B5EF4-FFF2-40B4-BE49-F238E27FC236}">
                  <a16:creationId xmlns:a16="http://schemas.microsoft.com/office/drawing/2014/main" id="{7CA8AAD9-1CC4-44F7-B19E-C7A8130C67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88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c</a:t>
              </a:r>
            </a:p>
          </p:txBody>
        </p:sp>
        <p:sp>
          <p:nvSpPr>
            <p:cNvPr id="139306" name="Text Box 45">
              <a:extLst>
                <a:ext uri="{FF2B5EF4-FFF2-40B4-BE49-F238E27FC236}">
                  <a16:creationId xmlns:a16="http://schemas.microsoft.com/office/drawing/2014/main" id="{8E4A43CA-04E3-403E-91F1-5C78F20C09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36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b</a:t>
              </a:r>
            </a:p>
          </p:txBody>
        </p:sp>
        <p:sp>
          <p:nvSpPr>
            <p:cNvPr id="139307" name="Text Box 46">
              <a:extLst>
                <a:ext uri="{FF2B5EF4-FFF2-40B4-BE49-F238E27FC236}">
                  <a16:creationId xmlns:a16="http://schemas.microsoft.com/office/drawing/2014/main" id="{DD38FA0E-58DD-4F22-AEE0-35DDD14F9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a</a:t>
              </a:r>
            </a:p>
          </p:txBody>
        </p:sp>
        <p:sp>
          <p:nvSpPr>
            <p:cNvPr id="139308" name="Text Box 47">
              <a:extLst>
                <a:ext uri="{FF2B5EF4-FFF2-40B4-BE49-F238E27FC236}">
                  <a16:creationId xmlns:a16="http://schemas.microsoft.com/office/drawing/2014/main" id="{056D7EBF-9237-447A-BC85-2B83778E8C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31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a</a:t>
              </a:r>
            </a:p>
          </p:txBody>
        </p:sp>
        <p:sp>
          <p:nvSpPr>
            <p:cNvPr id="139309" name="Text Box 48">
              <a:extLst>
                <a:ext uri="{FF2B5EF4-FFF2-40B4-BE49-F238E27FC236}">
                  <a16:creationId xmlns:a16="http://schemas.microsoft.com/office/drawing/2014/main" id="{3DF8C6E3-C8B5-4D55-A925-111BBDA3C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7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a</a:t>
              </a:r>
            </a:p>
          </p:txBody>
        </p:sp>
        <p:sp>
          <p:nvSpPr>
            <p:cNvPr id="139310" name="Text Box 49">
              <a:extLst>
                <a:ext uri="{FF2B5EF4-FFF2-40B4-BE49-F238E27FC236}">
                  <a16:creationId xmlns:a16="http://schemas.microsoft.com/office/drawing/2014/main" id="{16E5E343-3672-44F6-B487-32AA9C65D1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340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c</a:t>
              </a:r>
            </a:p>
          </p:txBody>
        </p:sp>
        <p:sp>
          <p:nvSpPr>
            <p:cNvPr id="139311" name="Text Box 50">
              <a:extLst>
                <a:ext uri="{FF2B5EF4-FFF2-40B4-BE49-F238E27FC236}">
                  <a16:creationId xmlns:a16="http://schemas.microsoft.com/office/drawing/2014/main" id="{AD7325F6-B289-4645-A522-887CB3D47D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3801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c</a:t>
              </a:r>
            </a:p>
          </p:txBody>
        </p:sp>
        <p:cxnSp>
          <p:nvCxnSpPr>
            <p:cNvPr id="139312" name="AutoShape 51">
              <a:extLst>
                <a:ext uri="{FF2B5EF4-FFF2-40B4-BE49-F238E27FC236}">
                  <a16:creationId xmlns:a16="http://schemas.microsoft.com/office/drawing/2014/main" id="{76277C56-2112-4773-8673-488C96593977}"/>
                </a:ext>
              </a:extLst>
            </p:cNvPr>
            <p:cNvCxnSpPr>
              <a:cxnSpLocks noChangeShapeType="1"/>
              <a:stCxn id="139291" idx="3"/>
              <a:endCxn id="139291" idx="4"/>
            </p:cNvCxnSpPr>
            <p:nvPr/>
          </p:nvCxnSpPr>
          <p:spPr bwMode="auto">
            <a:xfrm rot="16200000" flipH="1">
              <a:off x="1202" y="3900"/>
              <a:ext cx="79" cy="204"/>
            </a:xfrm>
            <a:prstGeom prst="curvedConnector3">
              <a:avLst>
                <a:gd name="adj1" fmla="val 282278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9313" name="Oval 52">
              <a:extLst>
                <a:ext uri="{FF2B5EF4-FFF2-40B4-BE49-F238E27FC236}">
                  <a16:creationId xmlns:a16="http://schemas.microsoft.com/office/drawing/2014/main" id="{0319229F-2931-4623-B5D3-89F7A691E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928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39314" name="Oval 53">
              <a:extLst>
                <a:ext uri="{FF2B5EF4-FFF2-40B4-BE49-F238E27FC236}">
                  <a16:creationId xmlns:a16="http://schemas.microsoft.com/office/drawing/2014/main" id="{AEA7DF85-BCAB-4B07-B7B9-D8E53A30F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696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39315" name="Oval 54">
              <a:extLst>
                <a:ext uri="{FF2B5EF4-FFF2-40B4-BE49-F238E27FC236}">
                  <a16:creationId xmlns:a16="http://schemas.microsoft.com/office/drawing/2014/main" id="{8DF337EE-5CA5-4BE9-8CE4-C71D38853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6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52865B30-6C10-4260-BC5E-8FA8977D63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76200"/>
            <a:ext cx="7877175" cy="1143000"/>
          </a:xfrm>
        </p:spPr>
        <p:txBody>
          <a:bodyPr/>
          <a:lstStyle/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3.15</a:t>
            </a:r>
            <a:r>
              <a:rPr lang="zh-CN" altLang="en-US">
                <a:sym typeface="Symbol" panose="05050102010706020507" pitchFamily="18" charset="2"/>
              </a:rPr>
              <a:t>：</a:t>
            </a:r>
            <a:r>
              <a:rPr kumimoji="0" lang="en-US" altLang="zh-CN" b="1">
                <a:solidFill>
                  <a:srgbClr val="FF3300"/>
                </a:solidFill>
              </a:rPr>
              <a:t>(a | b)*abb NFA</a:t>
            </a:r>
            <a:r>
              <a:rPr kumimoji="0" lang="en-US" altLang="zh-CN" b="1">
                <a:solidFill>
                  <a:srgbClr val="FF3300"/>
                </a:solidFill>
                <a:sym typeface="Wingdings" panose="05000000000000000000" pitchFamily="2" charset="2"/>
              </a:rPr>
              <a:t>DFA</a:t>
            </a:r>
            <a:endParaRPr kumimoji="0" lang="en-US" altLang="zh-CN" b="1">
              <a:solidFill>
                <a:srgbClr val="FF3300"/>
              </a:solidFill>
            </a:endParaRPr>
          </a:p>
        </p:txBody>
      </p:sp>
      <p:grpSp>
        <p:nvGrpSpPr>
          <p:cNvPr id="140291" name="Group 5">
            <a:extLst>
              <a:ext uri="{FF2B5EF4-FFF2-40B4-BE49-F238E27FC236}">
                <a16:creationId xmlns:a16="http://schemas.microsoft.com/office/drawing/2014/main" id="{0463C7C1-7CCD-4051-85BE-016BA89A3841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4235450"/>
            <a:ext cx="609600" cy="609600"/>
            <a:chOff x="1488" y="2880"/>
            <a:chExt cx="384" cy="384"/>
          </a:xfrm>
        </p:grpSpPr>
        <p:sp>
          <p:nvSpPr>
            <p:cNvPr id="140341" name="Oval 6">
              <a:extLst>
                <a:ext uri="{FF2B5EF4-FFF2-40B4-BE49-F238E27FC236}">
                  <a16:creationId xmlns:a16="http://schemas.microsoft.com/office/drawing/2014/main" id="{75685630-F8E8-4D34-A5DF-0AEB11A2F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88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0342" name="Oval 7">
              <a:extLst>
                <a:ext uri="{FF2B5EF4-FFF2-40B4-BE49-F238E27FC236}">
                  <a16:creationId xmlns:a16="http://schemas.microsoft.com/office/drawing/2014/main" id="{5F7C925D-A8E0-41C5-AF28-995092359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928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40292" name="Oval 8">
            <a:extLst>
              <a:ext uri="{FF2B5EF4-FFF2-40B4-BE49-F238E27FC236}">
                <a16:creationId xmlns:a16="http://schemas.microsoft.com/office/drawing/2014/main" id="{6FE73658-765F-4DD9-AAEB-3CF44A15E1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4159250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40293" name="Oval 9">
            <a:extLst>
              <a:ext uri="{FF2B5EF4-FFF2-40B4-BE49-F238E27FC236}">
                <a16:creationId xmlns:a16="http://schemas.microsoft.com/office/drawing/2014/main" id="{C4844869-B31D-45C9-8DA7-DC5C40D29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482850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40294" name="Oval 10">
            <a:extLst>
              <a:ext uri="{FF2B5EF4-FFF2-40B4-BE49-F238E27FC236}">
                <a16:creationId xmlns:a16="http://schemas.microsoft.com/office/drawing/2014/main" id="{644B1DD7-CCA1-4868-94CF-987570BEC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3321050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40295" name="Oval 11">
            <a:extLst>
              <a:ext uri="{FF2B5EF4-FFF2-40B4-BE49-F238E27FC236}">
                <a16:creationId xmlns:a16="http://schemas.microsoft.com/office/drawing/2014/main" id="{2EC6DF8C-1AF3-4658-8D4F-2857BB574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3321050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40296" name="Oval 12">
            <a:extLst>
              <a:ext uri="{FF2B5EF4-FFF2-40B4-BE49-F238E27FC236}">
                <a16:creationId xmlns:a16="http://schemas.microsoft.com/office/drawing/2014/main" id="{076A4ED7-6B40-494C-8584-70298E483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159250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40297" name="Oval 13">
            <a:extLst>
              <a:ext uri="{FF2B5EF4-FFF2-40B4-BE49-F238E27FC236}">
                <a16:creationId xmlns:a16="http://schemas.microsoft.com/office/drawing/2014/main" id="{165EAC33-C7CB-43F8-A979-C40892F3D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321050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40298" name="Oval 14">
            <a:extLst>
              <a:ext uri="{FF2B5EF4-FFF2-40B4-BE49-F238E27FC236}">
                <a16:creationId xmlns:a16="http://schemas.microsoft.com/office/drawing/2014/main" id="{193743BA-8218-40BA-8706-CEA2DC2DB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482850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40299" name="Oval 15">
            <a:extLst>
              <a:ext uri="{FF2B5EF4-FFF2-40B4-BE49-F238E27FC236}">
                <a16:creationId xmlns:a16="http://schemas.microsoft.com/office/drawing/2014/main" id="{84F44AE7-F122-42A0-9CA7-F4BDBDC61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321050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40300" name="Oval 16">
            <a:extLst>
              <a:ext uri="{FF2B5EF4-FFF2-40B4-BE49-F238E27FC236}">
                <a16:creationId xmlns:a16="http://schemas.microsoft.com/office/drawing/2014/main" id="{4BC98EEF-4A4C-42D7-9C36-235DC1928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321050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40301" name="Oval 17">
            <a:extLst>
              <a:ext uri="{FF2B5EF4-FFF2-40B4-BE49-F238E27FC236}">
                <a16:creationId xmlns:a16="http://schemas.microsoft.com/office/drawing/2014/main" id="{D109914F-ABEC-4011-B479-F1527DE8F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3321050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40302" name="Line 18">
            <a:extLst>
              <a:ext uri="{FF2B5EF4-FFF2-40B4-BE49-F238E27FC236}">
                <a16:creationId xmlns:a16="http://schemas.microsoft.com/office/drawing/2014/main" id="{36035DDD-3669-4544-9672-E43DE294BB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854450"/>
            <a:ext cx="6858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3" name="Line 19">
            <a:extLst>
              <a:ext uri="{FF2B5EF4-FFF2-40B4-BE49-F238E27FC236}">
                <a16:creationId xmlns:a16="http://schemas.microsoft.com/office/drawing/2014/main" id="{BAABF78B-CD0D-4E31-89BC-C53EB2723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38600" y="446405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4" name="Line 20">
            <a:extLst>
              <a:ext uri="{FF2B5EF4-FFF2-40B4-BE49-F238E27FC236}">
                <a16:creationId xmlns:a16="http://schemas.microsoft.com/office/drawing/2014/main" id="{FA4514FD-CC9E-4E87-9146-50F5B0829E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3854450"/>
            <a:ext cx="3048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5" name="Line 21">
            <a:extLst>
              <a:ext uri="{FF2B5EF4-FFF2-40B4-BE49-F238E27FC236}">
                <a16:creationId xmlns:a16="http://schemas.microsoft.com/office/drawing/2014/main" id="{3A86DCA9-4219-4944-ADD5-2CA10C14A6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362585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6" name="Line 22">
            <a:extLst>
              <a:ext uri="{FF2B5EF4-FFF2-40B4-BE49-F238E27FC236}">
                <a16:creationId xmlns:a16="http://schemas.microsoft.com/office/drawing/2014/main" id="{B0E068ED-7CD2-47F7-B859-5BBEA8FD5E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362585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7" name="Line 23">
            <a:extLst>
              <a:ext uri="{FF2B5EF4-FFF2-40B4-BE49-F238E27FC236}">
                <a16:creationId xmlns:a16="http://schemas.microsoft.com/office/drawing/2014/main" id="{CDE349BC-9FE5-4FB6-B37B-689B091E91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3016250"/>
            <a:ext cx="5334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8" name="Line 24">
            <a:extLst>
              <a:ext uri="{FF2B5EF4-FFF2-40B4-BE49-F238E27FC236}">
                <a16:creationId xmlns:a16="http://schemas.microsoft.com/office/drawing/2014/main" id="{58786FF0-AB4E-4D7D-A3E2-6AB12697E718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787650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09" name="Line 25">
            <a:extLst>
              <a:ext uri="{FF2B5EF4-FFF2-40B4-BE49-F238E27FC236}">
                <a16:creationId xmlns:a16="http://schemas.microsoft.com/office/drawing/2014/main" id="{749D1AD5-03FF-4E6B-82F4-D4DC8328F3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940050"/>
            <a:ext cx="3810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0" name="Line 26">
            <a:extLst>
              <a:ext uri="{FF2B5EF4-FFF2-40B4-BE49-F238E27FC236}">
                <a16:creationId xmlns:a16="http://schemas.microsoft.com/office/drawing/2014/main" id="{506F6C49-8092-4FA3-8F30-9FAC53AD02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19800" y="362585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1" name="Line 27">
            <a:extLst>
              <a:ext uri="{FF2B5EF4-FFF2-40B4-BE49-F238E27FC236}">
                <a16:creationId xmlns:a16="http://schemas.microsoft.com/office/drawing/2014/main" id="{5EBA57D4-EC7B-4184-8011-D074E8448C0E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362585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2" name="Line 28">
            <a:extLst>
              <a:ext uri="{FF2B5EF4-FFF2-40B4-BE49-F238E27FC236}">
                <a16:creationId xmlns:a16="http://schemas.microsoft.com/office/drawing/2014/main" id="{2A09BFEC-D3E3-41E4-A2D9-A7BD236B2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48600" y="3625850"/>
            <a:ext cx="228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0313" name="Line 29">
            <a:extLst>
              <a:ext uri="{FF2B5EF4-FFF2-40B4-BE49-F238E27FC236}">
                <a16:creationId xmlns:a16="http://schemas.microsoft.com/office/drawing/2014/main" id="{D541AA8F-712F-418B-B42F-93AB70EA49A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2000" y="3930650"/>
            <a:ext cx="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40314" name="AutoShape 30">
            <a:extLst>
              <a:ext uri="{FF2B5EF4-FFF2-40B4-BE49-F238E27FC236}">
                <a16:creationId xmlns:a16="http://schemas.microsoft.com/office/drawing/2014/main" id="{8E73F600-FDFE-4A55-B09F-1324298BECCB}"/>
              </a:ext>
            </a:extLst>
          </p:cNvPr>
          <p:cNvCxnSpPr>
            <a:cxnSpLocks noChangeShapeType="1"/>
            <a:stCxn id="140299" idx="4"/>
            <a:endCxn id="140300" idx="4"/>
          </p:cNvCxnSpPr>
          <p:nvPr/>
        </p:nvCxnSpPr>
        <p:spPr bwMode="auto">
          <a:xfrm rot="16200000" flipH="1">
            <a:off x="4037806" y="1340644"/>
            <a:ext cx="1588" cy="5181600"/>
          </a:xfrm>
          <a:prstGeom prst="curvedConnector3">
            <a:avLst>
              <a:gd name="adj1" fmla="val 79799968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0315" name="AutoShape 31">
            <a:extLst>
              <a:ext uri="{FF2B5EF4-FFF2-40B4-BE49-F238E27FC236}">
                <a16:creationId xmlns:a16="http://schemas.microsoft.com/office/drawing/2014/main" id="{F1EAA88B-B0C5-4250-ADB5-331AA5612013}"/>
              </a:ext>
            </a:extLst>
          </p:cNvPr>
          <p:cNvCxnSpPr>
            <a:cxnSpLocks noChangeShapeType="1"/>
            <a:stCxn id="140297" idx="0"/>
            <a:endCxn id="140301" idx="0"/>
          </p:cNvCxnSpPr>
          <p:nvPr/>
        </p:nvCxnSpPr>
        <p:spPr bwMode="auto">
          <a:xfrm rot="-5400000" flipH="1" flipV="1">
            <a:off x="4152106" y="1759744"/>
            <a:ext cx="1588" cy="3124200"/>
          </a:xfrm>
          <a:prstGeom prst="curvedConnector3">
            <a:avLst>
              <a:gd name="adj1" fmla="val -83300000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0316" name="Text Box 32">
            <a:extLst>
              <a:ext uri="{FF2B5EF4-FFF2-40B4-BE49-F238E27FC236}">
                <a16:creationId xmlns:a16="http://schemas.microsoft.com/office/drawing/2014/main" id="{50540898-A09E-46E1-A6B8-4E2CD20D0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47345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0</a:t>
            </a:r>
          </a:p>
        </p:txBody>
      </p:sp>
      <p:sp>
        <p:nvSpPr>
          <p:cNvPr id="140317" name="Text Box 33">
            <a:extLst>
              <a:ext uri="{FF2B5EF4-FFF2-40B4-BE49-F238E27FC236}">
                <a16:creationId xmlns:a16="http://schemas.microsoft.com/office/drawing/2014/main" id="{BDD48B57-33F4-4E54-999D-B26D94CDD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47345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</a:t>
            </a:r>
          </a:p>
        </p:txBody>
      </p:sp>
      <p:sp>
        <p:nvSpPr>
          <p:cNvPr id="140318" name="Text Box 34">
            <a:extLst>
              <a:ext uri="{FF2B5EF4-FFF2-40B4-BE49-F238E27FC236}">
                <a16:creationId xmlns:a16="http://schemas.microsoft.com/office/drawing/2014/main" id="{41F9DE52-2054-4CF9-A6E2-7294A6EBE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63525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2</a:t>
            </a:r>
          </a:p>
        </p:txBody>
      </p:sp>
      <p:sp>
        <p:nvSpPr>
          <p:cNvPr id="140319" name="Text Box 35">
            <a:extLst>
              <a:ext uri="{FF2B5EF4-FFF2-40B4-BE49-F238E27FC236}">
                <a16:creationId xmlns:a16="http://schemas.microsoft.com/office/drawing/2014/main" id="{88974C4E-0FF7-427D-B113-7B3D2C6A3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263525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3</a:t>
            </a:r>
          </a:p>
        </p:txBody>
      </p:sp>
      <p:sp>
        <p:nvSpPr>
          <p:cNvPr id="140320" name="Text Box 36">
            <a:extLst>
              <a:ext uri="{FF2B5EF4-FFF2-40B4-BE49-F238E27FC236}">
                <a16:creationId xmlns:a16="http://schemas.microsoft.com/office/drawing/2014/main" id="{CE117A3D-04DB-4792-A31A-279296837E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31165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5</a:t>
            </a:r>
          </a:p>
        </p:txBody>
      </p:sp>
      <p:sp>
        <p:nvSpPr>
          <p:cNvPr id="140321" name="Text Box 37">
            <a:extLst>
              <a:ext uri="{FF2B5EF4-FFF2-40B4-BE49-F238E27FC236}">
                <a16:creationId xmlns:a16="http://schemas.microsoft.com/office/drawing/2014/main" id="{F3635A68-36B5-4D64-B5A4-DFD6BE7FD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31165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4</a:t>
            </a:r>
          </a:p>
        </p:txBody>
      </p:sp>
      <p:sp>
        <p:nvSpPr>
          <p:cNvPr id="140322" name="Text Box 38">
            <a:extLst>
              <a:ext uri="{FF2B5EF4-FFF2-40B4-BE49-F238E27FC236}">
                <a16:creationId xmlns:a16="http://schemas.microsoft.com/office/drawing/2014/main" id="{6DDC502E-8D8C-4BA1-A3D8-470CDDC00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47345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6</a:t>
            </a:r>
          </a:p>
        </p:txBody>
      </p:sp>
      <p:sp>
        <p:nvSpPr>
          <p:cNvPr id="140323" name="Text Box 39">
            <a:extLst>
              <a:ext uri="{FF2B5EF4-FFF2-40B4-BE49-F238E27FC236}">
                <a16:creationId xmlns:a16="http://schemas.microsoft.com/office/drawing/2014/main" id="{3493CD63-D7A3-403F-A52B-7FFC0CAD7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47345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7</a:t>
            </a:r>
          </a:p>
        </p:txBody>
      </p:sp>
      <p:sp>
        <p:nvSpPr>
          <p:cNvPr id="140324" name="Text Box 40">
            <a:extLst>
              <a:ext uri="{FF2B5EF4-FFF2-40B4-BE49-F238E27FC236}">
                <a16:creationId xmlns:a16="http://schemas.microsoft.com/office/drawing/2014/main" id="{2B08A8AA-611E-449D-B617-5DB21073A0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347345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8</a:t>
            </a:r>
          </a:p>
        </p:txBody>
      </p:sp>
      <p:sp>
        <p:nvSpPr>
          <p:cNvPr id="140325" name="Text Box 41">
            <a:extLst>
              <a:ext uri="{FF2B5EF4-FFF2-40B4-BE49-F238E27FC236}">
                <a16:creationId xmlns:a16="http://schemas.microsoft.com/office/drawing/2014/main" id="{913C3976-BB1E-49ED-A14D-EAFBFDAAE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9600" y="3473450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9</a:t>
            </a:r>
          </a:p>
        </p:txBody>
      </p:sp>
      <p:sp>
        <p:nvSpPr>
          <p:cNvPr id="140326" name="Text Box 42">
            <a:extLst>
              <a:ext uri="{FF2B5EF4-FFF2-40B4-BE49-F238E27FC236}">
                <a16:creationId xmlns:a16="http://schemas.microsoft.com/office/drawing/2014/main" id="{C2ACFFAD-6815-4B48-AB94-29A42F920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4343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10</a:t>
            </a:r>
          </a:p>
        </p:txBody>
      </p:sp>
      <p:sp>
        <p:nvSpPr>
          <p:cNvPr id="140327" name="Text Box 43">
            <a:extLst>
              <a:ext uri="{FF2B5EF4-FFF2-40B4-BE49-F238E27FC236}">
                <a16:creationId xmlns:a16="http://schemas.microsoft.com/office/drawing/2014/main" id="{AD5A42B5-8351-4FFF-9FE8-418EBD76A3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200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40328" name="Text Box 44">
            <a:extLst>
              <a:ext uri="{FF2B5EF4-FFF2-40B4-BE49-F238E27FC236}">
                <a16:creationId xmlns:a16="http://schemas.microsoft.com/office/drawing/2014/main" id="{D583C24E-CFCE-4E51-BFA0-A14539CC65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819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40329" name="Text Box 45">
            <a:extLst>
              <a:ext uri="{FF2B5EF4-FFF2-40B4-BE49-F238E27FC236}">
                <a16:creationId xmlns:a16="http://schemas.microsoft.com/office/drawing/2014/main" id="{C6C76433-6978-400B-AA94-8F876DA4C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3886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140330" name="Text Box 46">
            <a:extLst>
              <a:ext uri="{FF2B5EF4-FFF2-40B4-BE49-F238E27FC236}">
                <a16:creationId xmlns:a16="http://schemas.microsoft.com/office/drawing/2014/main" id="{E9616783-E69B-476E-9327-DF8F8D565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4800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40331" name="Text Box 47">
            <a:extLst>
              <a:ext uri="{FF2B5EF4-FFF2-40B4-BE49-F238E27FC236}">
                <a16:creationId xmlns:a16="http://schemas.microsoft.com/office/drawing/2014/main" id="{4240AB52-6205-4773-80C5-282240327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194945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40332" name="Text Box 48">
            <a:extLst>
              <a:ext uri="{FF2B5EF4-FFF2-40B4-BE49-F238E27FC236}">
                <a16:creationId xmlns:a16="http://schemas.microsoft.com/office/drawing/2014/main" id="{692D561D-23CE-4F9E-98AA-9FFF5A46F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743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40333" name="Text Box 49">
            <a:extLst>
              <a:ext uri="{FF2B5EF4-FFF2-40B4-BE49-F238E27FC236}">
                <a16:creationId xmlns:a16="http://schemas.microsoft.com/office/drawing/2014/main" id="{CDD19B8A-9770-44EF-AAA2-E55B347282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962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40334" name="Text Box 50">
            <a:extLst>
              <a:ext uri="{FF2B5EF4-FFF2-40B4-BE49-F238E27FC236}">
                <a16:creationId xmlns:a16="http://schemas.microsoft.com/office/drawing/2014/main" id="{68464B63-3103-4095-9DBA-8FF5E0DA2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9150" y="324485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40335" name="Text Box 51">
            <a:extLst>
              <a:ext uri="{FF2B5EF4-FFF2-40B4-BE49-F238E27FC236}">
                <a16:creationId xmlns:a16="http://schemas.microsoft.com/office/drawing/2014/main" id="{87F70509-AA6F-4657-BDCA-44805D474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550" y="324485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endParaRPr kumimoji="0" lang="en-US" altLang="zh-CN" sz="2400"/>
          </a:p>
        </p:txBody>
      </p:sp>
      <p:sp>
        <p:nvSpPr>
          <p:cNvPr id="140336" name="Text Box 52">
            <a:extLst>
              <a:ext uri="{FF2B5EF4-FFF2-40B4-BE49-F238E27FC236}">
                <a16:creationId xmlns:a16="http://schemas.microsoft.com/office/drawing/2014/main" id="{4CC0E652-32AF-45A2-A5E1-BF7D71831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362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endParaRPr kumimoji="0" lang="en-US" altLang="zh-CN" sz="2400"/>
          </a:p>
        </p:txBody>
      </p:sp>
      <p:sp>
        <p:nvSpPr>
          <p:cNvPr id="140337" name="Text Box 53">
            <a:extLst>
              <a:ext uri="{FF2B5EF4-FFF2-40B4-BE49-F238E27FC236}">
                <a16:creationId xmlns:a16="http://schemas.microsoft.com/office/drawing/2014/main" id="{50BE8153-CF68-4429-BC9D-3B0D3367DA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038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</a:t>
            </a:r>
            <a:endParaRPr kumimoji="0" lang="en-US" altLang="zh-CN" sz="2400"/>
          </a:p>
        </p:txBody>
      </p:sp>
      <p:sp>
        <p:nvSpPr>
          <p:cNvPr id="140338" name="Text Box 54">
            <a:extLst>
              <a:ext uri="{FF2B5EF4-FFF2-40B4-BE49-F238E27FC236}">
                <a16:creationId xmlns:a16="http://schemas.microsoft.com/office/drawing/2014/main" id="{2B151AD0-5AE7-4FCF-A3AC-11ABCDE94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27950" y="324485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</a:t>
            </a:r>
            <a:endParaRPr kumimoji="0" lang="en-US" altLang="zh-CN" sz="2400"/>
          </a:p>
        </p:txBody>
      </p:sp>
      <p:sp>
        <p:nvSpPr>
          <p:cNvPr id="140339" name="Text Box 55">
            <a:extLst>
              <a:ext uri="{FF2B5EF4-FFF2-40B4-BE49-F238E27FC236}">
                <a16:creationId xmlns:a16="http://schemas.microsoft.com/office/drawing/2014/main" id="{A27FACD0-9073-4AFD-B438-643585008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38100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</a:t>
            </a:r>
            <a:endParaRPr kumimoji="0" lang="en-US" altLang="zh-CN" sz="2400"/>
          </a:p>
        </p:txBody>
      </p:sp>
      <p:sp>
        <p:nvSpPr>
          <p:cNvPr id="140340" name="Text Box 56">
            <a:extLst>
              <a:ext uri="{FF2B5EF4-FFF2-40B4-BE49-F238E27FC236}">
                <a16:creationId xmlns:a16="http://schemas.microsoft.com/office/drawing/2014/main" id="{ED446BB7-B5D1-4946-85FA-FCAE20C8E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2004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start</a:t>
            </a:r>
            <a:endParaRPr kumimoji="0" lang="en-US" altLang="zh-CN" sz="240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11E05C3B-9525-459F-B14E-92D74B15B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3.15</a:t>
            </a:r>
            <a:r>
              <a:rPr lang="zh-CN" altLang="en-US">
                <a:sym typeface="Symbol" panose="05050102010706020507" pitchFamily="18" charset="2"/>
              </a:rPr>
              <a:t>：</a:t>
            </a:r>
            <a:r>
              <a:rPr kumimoji="0" lang="zh-CN" altLang="en-US">
                <a:sym typeface="Symbol" panose="05050102010706020507" pitchFamily="18" charset="2"/>
              </a:rPr>
              <a:t>（续）</a:t>
            </a:r>
          </a:p>
        </p:txBody>
      </p:sp>
      <p:grpSp>
        <p:nvGrpSpPr>
          <p:cNvPr id="2" name="Group 114">
            <a:extLst>
              <a:ext uri="{FF2B5EF4-FFF2-40B4-BE49-F238E27FC236}">
                <a16:creationId xmlns:a16="http://schemas.microsoft.com/office/drawing/2014/main" id="{8528AE19-ABE6-424D-AD6C-575B1ABB9338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267200"/>
            <a:ext cx="7543800" cy="1143000"/>
            <a:chOff x="672" y="3024"/>
            <a:chExt cx="4752" cy="720"/>
          </a:xfrm>
        </p:grpSpPr>
        <p:sp>
          <p:nvSpPr>
            <p:cNvPr id="141368" name="Text Box 56">
              <a:extLst>
                <a:ext uri="{FF2B5EF4-FFF2-40B4-BE49-F238E27FC236}">
                  <a16:creationId xmlns:a16="http://schemas.microsoft.com/office/drawing/2014/main" id="{25CDA989-9725-4A3B-8608-6DBEBDD05E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072"/>
              <a:ext cx="4752" cy="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zh-CN" altLang="en-US" sz="2400"/>
                <a:t>第一步：</a:t>
              </a:r>
              <a:endParaRPr kumimoji="0" lang="zh-CN" altLang="en-US" sz="2400">
                <a:solidFill>
                  <a:srgbClr val="00CC00"/>
                </a:solidFill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6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3333CC"/>
                  </a:solidFill>
                  <a:sym typeface="Symbol" panose="05050102010706020507" pitchFamily="18" charset="2"/>
                </a:rPr>
                <a:t>A = </a:t>
              </a:r>
              <a:r>
                <a:rPr kumimoji="0" lang="en-US" altLang="zh-CN" sz="2400" b="0">
                  <a:solidFill>
                    <a:schemeClr val="folHlink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400">
                  <a:solidFill>
                    <a:schemeClr val="folHlink"/>
                  </a:solidFill>
                  <a:sym typeface="Symbol" panose="05050102010706020507" pitchFamily="18" charset="2"/>
                </a:rPr>
                <a:t> </a:t>
              </a:r>
              <a:r>
                <a:rPr kumimoji="0" lang="en-US" altLang="zh-CN" sz="2400">
                  <a:solidFill>
                    <a:srgbClr val="3333CC"/>
                  </a:solidFill>
                  <a:sym typeface="Symbol" panose="05050102010706020507" pitchFamily="18" charset="2"/>
                </a:rPr>
                <a:t>-closure(0) = {0, 1, 2, 4, 7}</a:t>
              </a:r>
              <a:r>
                <a:rPr kumimoji="0" lang="zh-CN" altLang="en-US" sz="2400">
                  <a:sym typeface="Symbol" panose="05050102010706020507" pitchFamily="18" charset="2"/>
                </a:rPr>
                <a:t>作为</a:t>
              </a:r>
              <a:r>
                <a:rPr kumimoji="0" lang="en-US" altLang="zh-CN" sz="2400">
                  <a:sym typeface="Symbol" panose="05050102010706020507" pitchFamily="18" charset="2"/>
                </a:rPr>
                <a:t>DFA</a:t>
              </a:r>
              <a:r>
                <a:rPr kumimoji="0" lang="zh-CN" altLang="en-US" sz="2400">
                  <a:sym typeface="Symbol" panose="05050102010706020507" pitchFamily="18" charset="2"/>
                </a:rPr>
                <a:t>的初态</a:t>
              </a:r>
            </a:p>
          </p:txBody>
        </p:sp>
        <p:sp>
          <p:nvSpPr>
            <p:cNvPr id="141369" name="Rectangle 59">
              <a:extLst>
                <a:ext uri="{FF2B5EF4-FFF2-40B4-BE49-F238E27FC236}">
                  <a16:creationId xmlns:a16="http://schemas.microsoft.com/office/drawing/2014/main" id="{557595C3-BEAD-4D84-9A19-C5969B89E6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3024"/>
              <a:ext cx="4752" cy="72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41316" name="Group 113">
            <a:extLst>
              <a:ext uri="{FF2B5EF4-FFF2-40B4-BE49-F238E27FC236}">
                <a16:creationId xmlns:a16="http://schemas.microsoft.com/office/drawing/2014/main" id="{2E6E8C84-7302-4B43-AC65-02CBED335DA1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219200"/>
            <a:ext cx="8534400" cy="2947988"/>
            <a:chOff x="192" y="864"/>
            <a:chExt cx="5376" cy="2101"/>
          </a:xfrm>
        </p:grpSpPr>
        <p:sp>
          <p:nvSpPr>
            <p:cNvPr id="141317" name="Oval 62">
              <a:extLst>
                <a:ext uri="{FF2B5EF4-FFF2-40B4-BE49-F238E27FC236}">
                  <a16:creationId xmlns:a16="http://schemas.microsoft.com/office/drawing/2014/main" id="{79B9EF64-F1BA-4239-BEF2-BF635CE65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2304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1318" name="Oval 63">
              <a:extLst>
                <a:ext uri="{FF2B5EF4-FFF2-40B4-BE49-F238E27FC236}">
                  <a16:creationId xmlns:a16="http://schemas.microsoft.com/office/drawing/2014/main" id="{05241132-F4D0-4BD2-9FF5-4B6583C81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2352"/>
              <a:ext cx="288" cy="288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1319" name="Oval 64">
              <a:extLst>
                <a:ext uri="{FF2B5EF4-FFF2-40B4-BE49-F238E27FC236}">
                  <a16:creationId xmlns:a16="http://schemas.microsoft.com/office/drawing/2014/main" id="{3249DEF2-52DB-475D-8807-4F5734E18B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256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1320" name="Oval 65">
              <a:extLst>
                <a:ext uri="{FF2B5EF4-FFF2-40B4-BE49-F238E27FC236}">
                  <a16:creationId xmlns:a16="http://schemas.microsoft.com/office/drawing/2014/main" id="{FB1A0BD1-48D3-4EF0-9F2D-90EE97438A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1321" name="Oval 66">
              <a:extLst>
                <a:ext uri="{FF2B5EF4-FFF2-40B4-BE49-F238E27FC236}">
                  <a16:creationId xmlns:a16="http://schemas.microsoft.com/office/drawing/2014/main" id="{F390B5E3-0D56-4D33-9E3B-CC55F023DC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728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1322" name="Oval 67">
              <a:extLst>
                <a:ext uri="{FF2B5EF4-FFF2-40B4-BE49-F238E27FC236}">
                  <a16:creationId xmlns:a16="http://schemas.microsoft.com/office/drawing/2014/main" id="{AA26B910-3E41-4062-AA00-EAEFA34F5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728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1323" name="Oval 68">
              <a:extLst>
                <a:ext uri="{FF2B5EF4-FFF2-40B4-BE49-F238E27FC236}">
                  <a16:creationId xmlns:a16="http://schemas.microsoft.com/office/drawing/2014/main" id="{AE067E50-9755-45F7-8697-C06898856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256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1324" name="Oval 69">
              <a:extLst>
                <a:ext uri="{FF2B5EF4-FFF2-40B4-BE49-F238E27FC236}">
                  <a16:creationId xmlns:a16="http://schemas.microsoft.com/office/drawing/2014/main" id="{647F8CDD-4604-47FE-A8A3-76088FA3E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728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1325" name="Oval 70">
              <a:extLst>
                <a:ext uri="{FF2B5EF4-FFF2-40B4-BE49-F238E27FC236}">
                  <a16:creationId xmlns:a16="http://schemas.microsoft.com/office/drawing/2014/main" id="{A9458513-6BBD-470E-B27B-79772AB35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200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1326" name="Oval 71">
              <a:extLst>
                <a:ext uri="{FF2B5EF4-FFF2-40B4-BE49-F238E27FC236}">
                  <a16:creationId xmlns:a16="http://schemas.microsoft.com/office/drawing/2014/main" id="{FFEBD3B1-8D5A-4C51-87F0-F78E45902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728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1327" name="Oval 72">
              <a:extLst>
                <a:ext uri="{FF2B5EF4-FFF2-40B4-BE49-F238E27FC236}">
                  <a16:creationId xmlns:a16="http://schemas.microsoft.com/office/drawing/2014/main" id="{0C41C067-6BF5-44F1-B0B3-0D3A78878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728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1328" name="Oval 73">
              <a:extLst>
                <a:ext uri="{FF2B5EF4-FFF2-40B4-BE49-F238E27FC236}">
                  <a16:creationId xmlns:a16="http://schemas.microsoft.com/office/drawing/2014/main" id="{12E2EBD3-1737-4972-95E9-9C0CF93962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728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1329" name="Line 74">
              <a:extLst>
                <a:ext uri="{FF2B5EF4-FFF2-40B4-BE49-F238E27FC236}">
                  <a16:creationId xmlns:a16="http://schemas.microsoft.com/office/drawing/2014/main" id="{30F48306-70D2-48D3-ADD6-8E398B1903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064"/>
              <a:ext cx="43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30" name="Line 75">
              <a:extLst>
                <a:ext uri="{FF2B5EF4-FFF2-40B4-BE49-F238E27FC236}">
                  <a16:creationId xmlns:a16="http://schemas.microsoft.com/office/drawing/2014/main" id="{FEDAA6D3-117A-4134-B9F0-7C8324F531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44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31" name="Line 76">
              <a:extLst>
                <a:ext uri="{FF2B5EF4-FFF2-40B4-BE49-F238E27FC236}">
                  <a16:creationId xmlns:a16="http://schemas.microsoft.com/office/drawing/2014/main" id="{FEE0C1DE-C116-40A8-B926-B7BBFCFF9A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2064"/>
              <a:ext cx="19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32" name="Line 77">
              <a:extLst>
                <a:ext uri="{FF2B5EF4-FFF2-40B4-BE49-F238E27FC236}">
                  <a16:creationId xmlns:a16="http://schemas.microsoft.com/office/drawing/2014/main" id="{6E468162-EC0F-44D0-ADA1-92E0AE8D0D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920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33" name="Line 78">
              <a:extLst>
                <a:ext uri="{FF2B5EF4-FFF2-40B4-BE49-F238E27FC236}">
                  <a16:creationId xmlns:a16="http://schemas.microsoft.com/office/drawing/2014/main" id="{273A77D7-CB98-4F47-8E33-5BE4B2E630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920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34" name="Line 79">
              <a:extLst>
                <a:ext uri="{FF2B5EF4-FFF2-40B4-BE49-F238E27FC236}">
                  <a16:creationId xmlns:a16="http://schemas.microsoft.com/office/drawing/2014/main" id="{E5E0F1D4-EC76-4E8E-9D24-E3F0CB976F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536"/>
              <a:ext cx="336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35" name="Line 80">
              <a:extLst>
                <a:ext uri="{FF2B5EF4-FFF2-40B4-BE49-F238E27FC236}">
                  <a16:creationId xmlns:a16="http://schemas.microsoft.com/office/drawing/2014/main" id="{3A71B28E-9B70-496C-9D5D-637C8AC05B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392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36" name="Line 81">
              <a:extLst>
                <a:ext uri="{FF2B5EF4-FFF2-40B4-BE49-F238E27FC236}">
                  <a16:creationId xmlns:a16="http://schemas.microsoft.com/office/drawing/2014/main" id="{7F658D87-7F42-4845-9EFC-248BCE9793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488"/>
              <a:ext cx="24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37" name="Line 82">
              <a:extLst>
                <a:ext uri="{FF2B5EF4-FFF2-40B4-BE49-F238E27FC236}">
                  <a16:creationId xmlns:a16="http://schemas.microsoft.com/office/drawing/2014/main" id="{240CCFF9-571D-4A23-AB61-BE344F7FF4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1920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38" name="Line 83">
              <a:extLst>
                <a:ext uri="{FF2B5EF4-FFF2-40B4-BE49-F238E27FC236}">
                  <a16:creationId xmlns:a16="http://schemas.microsoft.com/office/drawing/2014/main" id="{47FDA1D6-401B-4BC5-8331-64408A4D4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920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39" name="Line 84">
              <a:extLst>
                <a:ext uri="{FF2B5EF4-FFF2-40B4-BE49-F238E27FC236}">
                  <a16:creationId xmlns:a16="http://schemas.microsoft.com/office/drawing/2014/main" id="{AE05EFA7-840D-46D8-8199-5A48DFBFB4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920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340" name="Line 85">
              <a:extLst>
                <a:ext uri="{FF2B5EF4-FFF2-40B4-BE49-F238E27FC236}">
                  <a16:creationId xmlns:a16="http://schemas.microsoft.com/office/drawing/2014/main" id="{1A964121-3695-4D99-A401-06D09EC5B2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0" y="2112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41341" name="AutoShape 86">
              <a:extLst>
                <a:ext uri="{FF2B5EF4-FFF2-40B4-BE49-F238E27FC236}">
                  <a16:creationId xmlns:a16="http://schemas.microsoft.com/office/drawing/2014/main" id="{8BDAA94D-8882-4C5F-ABFE-FB4A79AE9EEE}"/>
                </a:ext>
              </a:extLst>
            </p:cNvPr>
            <p:cNvCxnSpPr>
              <a:cxnSpLocks noChangeShapeType="1"/>
              <a:stCxn id="141326" idx="4"/>
              <a:endCxn id="141327" idx="4"/>
            </p:cNvCxnSpPr>
            <p:nvPr/>
          </p:nvCxnSpPr>
          <p:spPr bwMode="auto">
            <a:xfrm rot="16200000" flipH="1">
              <a:off x="2543" y="481"/>
              <a:ext cx="1" cy="3264"/>
            </a:xfrm>
            <a:prstGeom prst="curvedConnector3">
              <a:avLst>
                <a:gd name="adj1" fmla="val 79799968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1342" name="AutoShape 87">
              <a:extLst>
                <a:ext uri="{FF2B5EF4-FFF2-40B4-BE49-F238E27FC236}">
                  <a16:creationId xmlns:a16="http://schemas.microsoft.com/office/drawing/2014/main" id="{3024A0C9-2C8D-433B-8778-751685C31D10}"/>
                </a:ext>
              </a:extLst>
            </p:cNvPr>
            <p:cNvCxnSpPr>
              <a:cxnSpLocks noChangeShapeType="1"/>
              <a:stCxn id="141324" idx="0"/>
              <a:endCxn id="141328" idx="0"/>
            </p:cNvCxnSpPr>
            <p:nvPr/>
          </p:nvCxnSpPr>
          <p:spPr bwMode="auto">
            <a:xfrm rot="-5400000" flipH="1" flipV="1">
              <a:off x="2615" y="745"/>
              <a:ext cx="1" cy="1968"/>
            </a:xfrm>
            <a:prstGeom prst="curvedConnector3">
              <a:avLst>
                <a:gd name="adj1" fmla="val -8330000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1343" name="Text Box 88">
              <a:extLst>
                <a:ext uri="{FF2B5EF4-FFF2-40B4-BE49-F238E27FC236}">
                  <a16:creationId xmlns:a16="http://schemas.microsoft.com/office/drawing/2014/main" id="{85B57614-A6FE-480D-A369-8C29B95DD8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825"/>
              <a:ext cx="240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0</a:t>
              </a:r>
            </a:p>
          </p:txBody>
        </p:sp>
        <p:sp>
          <p:nvSpPr>
            <p:cNvPr id="141344" name="Text Box 89">
              <a:extLst>
                <a:ext uri="{FF2B5EF4-FFF2-40B4-BE49-F238E27FC236}">
                  <a16:creationId xmlns:a16="http://schemas.microsoft.com/office/drawing/2014/main" id="{C534F638-A54B-4FDA-9148-DC868F1AA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5"/>
              <a:ext cx="240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</a:t>
              </a:r>
            </a:p>
          </p:txBody>
        </p:sp>
        <p:sp>
          <p:nvSpPr>
            <p:cNvPr id="141345" name="Text Box 90">
              <a:extLst>
                <a:ext uri="{FF2B5EF4-FFF2-40B4-BE49-F238E27FC236}">
                  <a16:creationId xmlns:a16="http://schemas.microsoft.com/office/drawing/2014/main" id="{EB57AF09-6B06-4E0C-8629-0B01668D84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296"/>
              <a:ext cx="24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2</a:t>
              </a:r>
            </a:p>
          </p:txBody>
        </p:sp>
        <p:sp>
          <p:nvSpPr>
            <p:cNvPr id="141346" name="Text Box 91">
              <a:extLst>
                <a:ext uri="{FF2B5EF4-FFF2-40B4-BE49-F238E27FC236}">
                  <a16:creationId xmlns:a16="http://schemas.microsoft.com/office/drawing/2014/main" id="{496C7F70-5285-4F4B-BE30-33AA6FB76E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296"/>
              <a:ext cx="24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3</a:t>
              </a:r>
            </a:p>
          </p:txBody>
        </p:sp>
        <p:sp>
          <p:nvSpPr>
            <p:cNvPr id="141347" name="Text Box 92">
              <a:extLst>
                <a:ext uri="{FF2B5EF4-FFF2-40B4-BE49-F238E27FC236}">
                  <a16:creationId xmlns:a16="http://schemas.microsoft.com/office/drawing/2014/main" id="{74207929-C1FB-48CE-B96D-7300636D8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352"/>
              <a:ext cx="24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5</a:t>
              </a:r>
            </a:p>
          </p:txBody>
        </p:sp>
        <p:sp>
          <p:nvSpPr>
            <p:cNvPr id="141348" name="Text Box 93">
              <a:extLst>
                <a:ext uri="{FF2B5EF4-FFF2-40B4-BE49-F238E27FC236}">
                  <a16:creationId xmlns:a16="http://schemas.microsoft.com/office/drawing/2014/main" id="{4D6279A8-417B-49BD-84FB-12E8AD57F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352"/>
              <a:ext cx="24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4</a:t>
              </a:r>
            </a:p>
          </p:txBody>
        </p:sp>
        <p:sp>
          <p:nvSpPr>
            <p:cNvPr id="141349" name="Text Box 94">
              <a:extLst>
                <a:ext uri="{FF2B5EF4-FFF2-40B4-BE49-F238E27FC236}">
                  <a16:creationId xmlns:a16="http://schemas.microsoft.com/office/drawing/2014/main" id="{106B5F37-CF90-403B-8333-74AF442DF8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825"/>
              <a:ext cx="240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6</a:t>
              </a:r>
            </a:p>
          </p:txBody>
        </p:sp>
        <p:sp>
          <p:nvSpPr>
            <p:cNvPr id="141350" name="Text Box 95">
              <a:extLst>
                <a:ext uri="{FF2B5EF4-FFF2-40B4-BE49-F238E27FC236}">
                  <a16:creationId xmlns:a16="http://schemas.microsoft.com/office/drawing/2014/main" id="{D192496E-7061-4207-94AB-2D7367FA63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825"/>
              <a:ext cx="240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7</a:t>
              </a:r>
            </a:p>
          </p:txBody>
        </p:sp>
        <p:sp>
          <p:nvSpPr>
            <p:cNvPr id="141351" name="Text Box 96">
              <a:extLst>
                <a:ext uri="{FF2B5EF4-FFF2-40B4-BE49-F238E27FC236}">
                  <a16:creationId xmlns:a16="http://schemas.microsoft.com/office/drawing/2014/main" id="{ADDF7814-2673-4E0C-873D-0D75369336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825"/>
              <a:ext cx="240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8</a:t>
              </a:r>
            </a:p>
          </p:txBody>
        </p:sp>
        <p:sp>
          <p:nvSpPr>
            <p:cNvPr id="141352" name="Text Box 97">
              <a:extLst>
                <a:ext uri="{FF2B5EF4-FFF2-40B4-BE49-F238E27FC236}">
                  <a16:creationId xmlns:a16="http://schemas.microsoft.com/office/drawing/2014/main" id="{39DA1CCB-B489-4421-8C75-7B18171CF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1825"/>
              <a:ext cx="240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9</a:t>
              </a:r>
            </a:p>
          </p:txBody>
        </p:sp>
        <p:sp>
          <p:nvSpPr>
            <p:cNvPr id="141353" name="Text Box 98">
              <a:extLst>
                <a:ext uri="{FF2B5EF4-FFF2-40B4-BE49-F238E27FC236}">
                  <a16:creationId xmlns:a16="http://schemas.microsoft.com/office/drawing/2014/main" id="{DF3C3F06-2D45-43B7-8E79-9AF151F932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2352"/>
              <a:ext cx="384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10</a:t>
              </a:r>
            </a:p>
          </p:txBody>
        </p:sp>
        <p:sp>
          <p:nvSpPr>
            <p:cNvPr id="141354" name="Text Box 99">
              <a:extLst>
                <a:ext uri="{FF2B5EF4-FFF2-40B4-BE49-F238E27FC236}">
                  <a16:creationId xmlns:a16="http://schemas.microsoft.com/office/drawing/2014/main" id="{5BBB95E2-3D8B-4140-A3A1-8B4138D8A8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632"/>
              <a:ext cx="28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1355" name="Text Box 100">
              <a:extLst>
                <a:ext uri="{FF2B5EF4-FFF2-40B4-BE49-F238E27FC236}">
                  <a16:creationId xmlns:a16="http://schemas.microsoft.com/office/drawing/2014/main" id="{D7429084-A050-4AF6-81E0-5BBEE045CD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392"/>
              <a:ext cx="28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1356" name="Text Box 101">
              <a:extLst>
                <a:ext uri="{FF2B5EF4-FFF2-40B4-BE49-F238E27FC236}">
                  <a16:creationId xmlns:a16="http://schemas.microsoft.com/office/drawing/2014/main" id="{5E158ED4-4662-4877-948A-18622D9DE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064"/>
              <a:ext cx="28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1357" name="Text Box 102">
              <a:extLst>
                <a:ext uri="{FF2B5EF4-FFF2-40B4-BE49-F238E27FC236}">
                  <a16:creationId xmlns:a16="http://schemas.microsoft.com/office/drawing/2014/main" id="{7416F8C7-751F-431A-97A6-C44F081600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639"/>
              <a:ext cx="28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1358" name="Text Box 103">
              <a:extLst>
                <a:ext uri="{FF2B5EF4-FFF2-40B4-BE49-F238E27FC236}">
                  <a16:creationId xmlns:a16="http://schemas.microsoft.com/office/drawing/2014/main" id="{6A457FDD-EF7E-4357-B48F-E6C71ABC9D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864"/>
              <a:ext cx="28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1359" name="Text Box 104">
              <a:extLst>
                <a:ext uri="{FF2B5EF4-FFF2-40B4-BE49-F238E27FC236}">
                  <a16:creationId xmlns:a16="http://schemas.microsoft.com/office/drawing/2014/main" id="{5032E464-0FA5-4400-9961-14623466FF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344"/>
              <a:ext cx="28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1360" name="Text Box 105">
              <a:extLst>
                <a:ext uri="{FF2B5EF4-FFF2-40B4-BE49-F238E27FC236}">
                  <a16:creationId xmlns:a16="http://schemas.microsoft.com/office/drawing/2014/main" id="{F0CD5382-5517-42C8-AEA6-9E9089F2A7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160"/>
              <a:ext cx="28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1361" name="Text Box 106">
              <a:extLst>
                <a:ext uri="{FF2B5EF4-FFF2-40B4-BE49-F238E27FC236}">
                  <a16:creationId xmlns:a16="http://schemas.microsoft.com/office/drawing/2014/main" id="{8EDB4047-937D-43E1-AB2E-822932C7A6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680"/>
              <a:ext cx="28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1362" name="Text Box 107">
              <a:extLst>
                <a:ext uri="{FF2B5EF4-FFF2-40B4-BE49-F238E27FC236}">
                  <a16:creationId xmlns:a16="http://schemas.microsoft.com/office/drawing/2014/main" id="{9A260573-6847-4F61-8A0A-DC596FD30C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680"/>
              <a:ext cx="28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a</a:t>
              </a:r>
              <a:endParaRPr kumimoji="0" lang="en-US" altLang="zh-CN" sz="2400"/>
            </a:p>
          </p:txBody>
        </p:sp>
        <p:sp>
          <p:nvSpPr>
            <p:cNvPr id="141363" name="Text Box 108">
              <a:extLst>
                <a:ext uri="{FF2B5EF4-FFF2-40B4-BE49-F238E27FC236}">
                  <a16:creationId xmlns:a16="http://schemas.microsoft.com/office/drawing/2014/main" id="{A9D22425-4879-4ECE-91B8-A7664CD36A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153"/>
              <a:ext cx="288" cy="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a</a:t>
              </a:r>
              <a:endParaRPr kumimoji="0" lang="en-US" altLang="zh-CN" sz="2400"/>
            </a:p>
          </p:txBody>
        </p:sp>
        <p:sp>
          <p:nvSpPr>
            <p:cNvPr id="141364" name="Text Box 109">
              <a:extLst>
                <a:ext uri="{FF2B5EF4-FFF2-40B4-BE49-F238E27FC236}">
                  <a16:creationId xmlns:a16="http://schemas.microsoft.com/office/drawing/2014/main" id="{493F5CCC-20E9-40D1-8073-F8EE034783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160"/>
              <a:ext cx="28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1365" name="Text Box 110">
              <a:extLst>
                <a:ext uri="{FF2B5EF4-FFF2-40B4-BE49-F238E27FC236}">
                  <a16:creationId xmlns:a16="http://schemas.microsoft.com/office/drawing/2014/main" id="{21479E5B-9F9E-4110-AC0E-E89F1D7D6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680"/>
              <a:ext cx="28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1366" name="Text Box 111">
              <a:extLst>
                <a:ext uri="{FF2B5EF4-FFF2-40B4-BE49-F238E27FC236}">
                  <a16:creationId xmlns:a16="http://schemas.microsoft.com/office/drawing/2014/main" id="{9F898EB0-9A6A-4CA8-9C22-61B327B5CB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2016"/>
              <a:ext cx="28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1367" name="Text Box 112">
              <a:extLst>
                <a:ext uri="{FF2B5EF4-FFF2-40B4-BE49-F238E27FC236}">
                  <a16:creationId xmlns:a16="http://schemas.microsoft.com/office/drawing/2014/main" id="{AFF3C989-1497-4EC2-B824-5519D07834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632"/>
              <a:ext cx="52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start</a:t>
              </a:r>
              <a:endParaRPr kumimoji="0" lang="en-US" altLang="zh-CN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A2584531-7CA4-4E08-822D-A20CCDF930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3.15</a:t>
            </a:r>
            <a:r>
              <a:rPr lang="zh-CN" altLang="en-US">
                <a:sym typeface="Symbol" panose="05050102010706020507" pitchFamily="18" charset="2"/>
              </a:rPr>
              <a:t>：</a:t>
            </a:r>
            <a:r>
              <a:rPr kumimoji="0" lang="zh-CN" altLang="en-US">
                <a:sym typeface="Symbol" panose="05050102010706020507" pitchFamily="18" charset="2"/>
              </a:rPr>
              <a:t>（续）</a:t>
            </a:r>
          </a:p>
        </p:txBody>
      </p:sp>
      <p:grpSp>
        <p:nvGrpSpPr>
          <p:cNvPr id="2" name="Group 61">
            <a:extLst>
              <a:ext uri="{FF2B5EF4-FFF2-40B4-BE49-F238E27FC236}">
                <a16:creationId xmlns:a16="http://schemas.microsoft.com/office/drawing/2014/main" id="{87B830B1-8842-4A69-BD67-113EAAB9272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810000"/>
            <a:ext cx="7635875" cy="2257425"/>
            <a:chOff x="672" y="2400"/>
            <a:chExt cx="4810" cy="1912"/>
          </a:xfrm>
        </p:grpSpPr>
        <p:sp>
          <p:nvSpPr>
            <p:cNvPr id="142392" name="Rectangle 4">
              <a:extLst>
                <a:ext uri="{FF2B5EF4-FFF2-40B4-BE49-F238E27FC236}">
                  <a16:creationId xmlns:a16="http://schemas.microsoft.com/office/drawing/2014/main" id="{EA5C050B-539C-4F05-A152-F8C16F76E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00"/>
              <a:ext cx="4752" cy="187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2393" name="Text Box 5">
              <a:extLst>
                <a:ext uri="{FF2B5EF4-FFF2-40B4-BE49-F238E27FC236}">
                  <a16:creationId xmlns:a16="http://schemas.microsoft.com/office/drawing/2014/main" id="{B6C501D3-0F7E-4236-9B88-072E77D90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448"/>
              <a:ext cx="4810" cy="1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000"/>
                <a:t>第二步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u="sng">
                  <a:solidFill>
                    <a:srgbClr val="990000"/>
                  </a:solidFill>
                  <a:sym typeface="Symbol" panose="05050102010706020507" pitchFamily="18" charset="2"/>
                </a:rPr>
                <a:t>a</a:t>
              </a:r>
              <a:r>
                <a:rPr kumimoji="0" lang="en-US" altLang="zh-CN" sz="2000">
                  <a:sym typeface="Symbol" panose="05050102010706020507" pitchFamily="18" charset="2"/>
                </a:rPr>
                <a:t>: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-closure(δ(A,a)) =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-closure(δ({0,1,2,4,7},a)) 	=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-closure({3,8}) </a:t>
              </a:r>
              <a:r>
                <a:rPr kumimoji="0" lang="en-US" altLang="zh-CN" sz="2000">
                  <a:solidFill>
                    <a:srgbClr val="FF3300"/>
                  </a:solidFill>
                  <a:sym typeface="Symbol" panose="05050102010706020507" pitchFamily="18" charset="2"/>
                </a:rPr>
                <a:t>= {1,2,3,4,6,7,8} = B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spcAft>
                  <a:spcPct val="30000"/>
                </a:spcAft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3333CC"/>
                  </a:solidFill>
                  <a:sym typeface="Symbol" panose="05050102010706020507" pitchFamily="18" charset="2"/>
                </a:rPr>
                <a:t>Dtran[A,a] = B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u="sng">
                  <a:solidFill>
                    <a:srgbClr val="A50021"/>
                  </a:solidFill>
                </a:rPr>
                <a:t>b</a:t>
              </a:r>
              <a:r>
                <a:rPr kumimoji="0" lang="en-US" altLang="zh-CN" sz="2000"/>
                <a:t> :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-closure(δ(A,b)) =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-closure(δ({0,1,2,4,7},b))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ym typeface="Symbol" panose="05050102010706020507" pitchFamily="18" charset="2"/>
                </a:rPr>
                <a:t>	=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-closure({5}) </a:t>
              </a:r>
              <a:r>
                <a:rPr kumimoji="0" lang="en-US" altLang="zh-CN" sz="2000">
                  <a:solidFill>
                    <a:srgbClr val="FF3300"/>
                  </a:solidFill>
                  <a:sym typeface="Symbol" panose="05050102010706020507" pitchFamily="18" charset="2"/>
                </a:rPr>
                <a:t>= {1,2,4,5,6,7} = C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3333CC"/>
                  </a:solidFill>
                  <a:sym typeface="Symbol" panose="05050102010706020507" pitchFamily="18" charset="2"/>
                </a:rPr>
                <a:t>Dtran[A,b] = C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zh-CN" sz="2000">
                <a:solidFill>
                  <a:srgbClr val="3333CC"/>
                </a:solidFill>
                <a:sym typeface="Symbol" panose="05050102010706020507" pitchFamily="18" charset="2"/>
              </a:endParaRPr>
            </a:p>
          </p:txBody>
        </p:sp>
      </p:grpSp>
      <p:grpSp>
        <p:nvGrpSpPr>
          <p:cNvPr id="142340" name="Group 62">
            <a:extLst>
              <a:ext uri="{FF2B5EF4-FFF2-40B4-BE49-F238E27FC236}">
                <a16:creationId xmlns:a16="http://schemas.microsoft.com/office/drawing/2014/main" id="{FE2010A4-1DEE-4AE5-AFD6-E84B1BA6E767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219200"/>
            <a:ext cx="8534400" cy="2562225"/>
            <a:chOff x="192" y="768"/>
            <a:chExt cx="5376" cy="1614"/>
          </a:xfrm>
        </p:grpSpPr>
        <p:sp>
          <p:nvSpPr>
            <p:cNvPr id="142341" name="Oval 9">
              <a:extLst>
                <a:ext uri="{FF2B5EF4-FFF2-40B4-BE49-F238E27FC236}">
                  <a16:creationId xmlns:a16="http://schemas.microsoft.com/office/drawing/2014/main" id="{79518ED6-E5DC-4B1A-991B-81924D308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91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2342" name="Oval 10">
              <a:extLst>
                <a:ext uri="{FF2B5EF4-FFF2-40B4-BE49-F238E27FC236}">
                  <a16:creationId xmlns:a16="http://schemas.microsoft.com/office/drawing/2014/main" id="{C240713C-2B96-4904-96B1-2B20F0E4C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1957"/>
              <a:ext cx="288" cy="24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2343" name="Oval 11">
              <a:extLst>
                <a:ext uri="{FF2B5EF4-FFF2-40B4-BE49-F238E27FC236}">
                  <a16:creationId xmlns:a16="http://schemas.microsoft.com/office/drawing/2014/main" id="{780BF230-97E4-4E95-8D5F-76A4A659F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875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2344" name="Oval 12">
              <a:extLst>
                <a:ext uri="{FF2B5EF4-FFF2-40B4-BE49-F238E27FC236}">
                  <a16:creationId xmlns:a16="http://schemas.microsoft.com/office/drawing/2014/main" id="{FDC24E04-3112-4B40-B240-58E26D897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977"/>
              <a:ext cx="384" cy="32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2345" name="Oval 13">
              <a:extLst>
                <a:ext uri="{FF2B5EF4-FFF2-40B4-BE49-F238E27FC236}">
                  <a16:creationId xmlns:a16="http://schemas.microsoft.com/office/drawing/2014/main" id="{EE17E856-9546-4BB3-83B6-EE57D1306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2346" name="Oval 14">
              <a:extLst>
                <a:ext uri="{FF2B5EF4-FFF2-40B4-BE49-F238E27FC236}">
                  <a16:creationId xmlns:a16="http://schemas.microsoft.com/office/drawing/2014/main" id="{B4903D27-AE7D-418C-80D8-B9A8157BA5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2347" name="Oval 15">
              <a:extLst>
                <a:ext uri="{FF2B5EF4-FFF2-40B4-BE49-F238E27FC236}">
                  <a16:creationId xmlns:a16="http://schemas.microsoft.com/office/drawing/2014/main" id="{DA4038E9-142E-4929-8CEC-D1BA20622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875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2348" name="Oval 16">
              <a:extLst>
                <a:ext uri="{FF2B5EF4-FFF2-40B4-BE49-F238E27FC236}">
                  <a16:creationId xmlns:a16="http://schemas.microsoft.com/office/drawing/2014/main" id="{2857616E-2A4B-4E2D-9CB0-A05F194BB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2349" name="Oval 17">
              <a:extLst>
                <a:ext uri="{FF2B5EF4-FFF2-40B4-BE49-F238E27FC236}">
                  <a16:creationId xmlns:a16="http://schemas.microsoft.com/office/drawing/2014/main" id="{EE75E8FA-E72B-4F9E-8310-066CD3B9D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977"/>
              <a:ext cx="384" cy="32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2350" name="Oval 18">
              <a:extLst>
                <a:ext uri="{FF2B5EF4-FFF2-40B4-BE49-F238E27FC236}">
                  <a16:creationId xmlns:a16="http://schemas.microsoft.com/office/drawing/2014/main" id="{70F48501-9802-47CD-8F09-7496AD11C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2351" name="Oval 19">
              <a:extLst>
                <a:ext uri="{FF2B5EF4-FFF2-40B4-BE49-F238E27FC236}">
                  <a16:creationId xmlns:a16="http://schemas.microsoft.com/office/drawing/2014/main" id="{B31729DD-0EBF-402D-9695-9228B5110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2352" name="Oval 20">
              <a:extLst>
                <a:ext uri="{FF2B5EF4-FFF2-40B4-BE49-F238E27FC236}">
                  <a16:creationId xmlns:a16="http://schemas.microsoft.com/office/drawing/2014/main" id="{26085595-9ACB-41DC-AF90-86603629E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2353" name="Line 21">
              <a:extLst>
                <a:ext uri="{FF2B5EF4-FFF2-40B4-BE49-F238E27FC236}">
                  <a16:creationId xmlns:a16="http://schemas.microsoft.com/office/drawing/2014/main" id="{8947014D-20DB-457D-A71C-E4F3384376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712"/>
              <a:ext cx="432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54" name="Line 22">
              <a:extLst>
                <a:ext uri="{FF2B5EF4-FFF2-40B4-BE49-F238E27FC236}">
                  <a16:creationId xmlns:a16="http://schemas.microsoft.com/office/drawing/2014/main" id="{7B53C982-05CE-49B9-9802-6D5F489CAF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3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55" name="Line 23">
              <a:extLst>
                <a:ext uri="{FF2B5EF4-FFF2-40B4-BE49-F238E27FC236}">
                  <a16:creationId xmlns:a16="http://schemas.microsoft.com/office/drawing/2014/main" id="{787D3456-C9B4-4191-8DCE-44A4A9B994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1712"/>
              <a:ext cx="192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56" name="Line 24">
              <a:extLst>
                <a:ext uri="{FF2B5EF4-FFF2-40B4-BE49-F238E27FC236}">
                  <a16:creationId xmlns:a16="http://schemas.microsoft.com/office/drawing/2014/main" id="{0D14CBFF-34F7-48C5-A09E-C2CF429559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589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57" name="Line 25">
              <a:extLst>
                <a:ext uri="{FF2B5EF4-FFF2-40B4-BE49-F238E27FC236}">
                  <a16:creationId xmlns:a16="http://schemas.microsoft.com/office/drawing/2014/main" id="{8FC3BDE6-D8B9-4BE0-8BBE-C32C1B17CF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589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58" name="Line 26">
              <a:extLst>
                <a:ext uri="{FF2B5EF4-FFF2-40B4-BE49-F238E27FC236}">
                  <a16:creationId xmlns:a16="http://schemas.microsoft.com/office/drawing/2014/main" id="{75709575-943F-4B64-9C73-BFD54F3972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263"/>
              <a:ext cx="336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59" name="Line 27">
              <a:extLst>
                <a:ext uri="{FF2B5EF4-FFF2-40B4-BE49-F238E27FC236}">
                  <a16:creationId xmlns:a16="http://schemas.microsoft.com/office/drawing/2014/main" id="{FECDD6A9-3682-42FD-AD50-B1BB21DB1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141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60" name="Line 28">
              <a:extLst>
                <a:ext uri="{FF2B5EF4-FFF2-40B4-BE49-F238E27FC236}">
                  <a16:creationId xmlns:a16="http://schemas.microsoft.com/office/drawing/2014/main" id="{FBE9235C-ADEC-4906-A18B-335252A07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222"/>
              <a:ext cx="240" cy="2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61" name="Line 29">
              <a:extLst>
                <a:ext uri="{FF2B5EF4-FFF2-40B4-BE49-F238E27FC236}">
                  <a16:creationId xmlns:a16="http://schemas.microsoft.com/office/drawing/2014/main" id="{42B6E9EF-7A44-4C21-8FE9-858746D1C7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158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62" name="Line 30">
              <a:extLst>
                <a:ext uri="{FF2B5EF4-FFF2-40B4-BE49-F238E27FC236}">
                  <a16:creationId xmlns:a16="http://schemas.microsoft.com/office/drawing/2014/main" id="{52CCEE43-AAF4-48D7-94E4-76FDBA0388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58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63" name="Line 31">
              <a:extLst>
                <a:ext uri="{FF2B5EF4-FFF2-40B4-BE49-F238E27FC236}">
                  <a16:creationId xmlns:a16="http://schemas.microsoft.com/office/drawing/2014/main" id="{DF8A6677-66C9-415A-8A13-D360B6703C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589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364" name="Line 32">
              <a:extLst>
                <a:ext uri="{FF2B5EF4-FFF2-40B4-BE49-F238E27FC236}">
                  <a16:creationId xmlns:a16="http://schemas.microsoft.com/office/drawing/2014/main" id="{60951577-99EE-411E-BD58-6F712B7DD6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0" y="1752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42365" name="AutoShape 33">
              <a:extLst>
                <a:ext uri="{FF2B5EF4-FFF2-40B4-BE49-F238E27FC236}">
                  <a16:creationId xmlns:a16="http://schemas.microsoft.com/office/drawing/2014/main" id="{A7991890-CB80-4D09-9197-3EFDC641B425}"/>
                </a:ext>
              </a:extLst>
            </p:cNvPr>
            <p:cNvCxnSpPr>
              <a:cxnSpLocks noChangeShapeType="1"/>
              <a:stCxn id="142350" idx="4"/>
              <a:endCxn id="142351" idx="4"/>
            </p:cNvCxnSpPr>
            <p:nvPr/>
          </p:nvCxnSpPr>
          <p:spPr bwMode="auto">
            <a:xfrm rot="16200000" flipH="1">
              <a:off x="2543" y="121"/>
              <a:ext cx="1" cy="3264"/>
            </a:xfrm>
            <a:prstGeom prst="curvedConnector3">
              <a:avLst>
                <a:gd name="adj1" fmla="val 59499986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2366" name="AutoShape 34">
              <a:extLst>
                <a:ext uri="{FF2B5EF4-FFF2-40B4-BE49-F238E27FC236}">
                  <a16:creationId xmlns:a16="http://schemas.microsoft.com/office/drawing/2014/main" id="{BDCFBC62-541C-42D3-8D85-E99300D83ED8}"/>
                </a:ext>
              </a:extLst>
            </p:cNvPr>
            <p:cNvCxnSpPr>
              <a:cxnSpLocks noChangeShapeType="1"/>
              <a:stCxn id="142348" idx="0"/>
              <a:endCxn id="142352" idx="0"/>
            </p:cNvCxnSpPr>
            <p:nvPr/>
          </p:nvCxnSpPr>
          <p:spPr bwMode="auto">
            <a:xfrm rot="-5400000" flipH="1" flipV="1">
              <a:off x="2615" y="443"/>
              <a:ext cx="1" cy="1968"/>
            </a:xfrm>
            <a:prstGeom prst="curvedConnector3">
              <a:avLst>
                <a:gd name="adj1" fmla="val -59400014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2367" name="Text Box 35">
              <a:extLst>
                <a:ext uri="{FF2B5EF4-FFF2-40B4-BE49-F238E27FC236}">
                  <a16:creationId xmlns:a16="http://schemas.microsoft.com/office/drawing/2014/main" id="{1B0DD686-EDC2-4C4D-A5C5-5057BF98F9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0</a:t>
              </a:r>
            </a:p>
          </p:txBody>
        </p:sp>
        <p:sp>
          <p:nvSpPr>
            <p:cNvPr id="142368" name="Text Box 36">
              <a:extLst>
                <a:ext uri="{FF2B5EF4-FFF2-40B4-BE49-F238E27FC236}">
                  <a16:creationId xmlns:a16="http://schemas.microsoft.com/office/drawing/2014/main" id="{9D9EF886-DB40-40E9-BC81-AD2466AFC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</a:t>
              </a:r>
            </a:p>
          </p:txBody>
        </p:sp>
        <p:sp>
          <p:nvSpPr>
            <p:cNvPr id="142369" name="Text Box 37">
              <a:extLst>
                <a:ext uri="{FF2B5EF4-FFF2-40B4-BE49-F238E27FC236}">
                  <a16:creationId xmlns:a16="http://schemas.microsoft.com/office/drawing/2014/main" id="{B5968821-C9DA-4344-96F2-53C8C3CDFB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059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2</a:t>
              </a:r>
            </a:p>
          </p:txBody>
        </p:sp>
        <p:sp>
          <p:nvSpPr>
            <p:cNvPr id="142370" name="Text Box 38">
              <a:extLst>
                <a:ext uri="{FF2B5EF4-FFF2-40B4-BE49-F238E27FC236}">
                  <a16:creationId xmlns:a16="http://schemas.microsoft.com/office/drawing/2014/main" id="{C74D9FAB-598F-4D44-B377-12EF898F59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059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3</a:t>
              </a:r>
            </a:p>
          </p:txBody>
        </p:sp>
        <p:sp>
          <p:nvSpPr>
            <p:cNvPr id="142371" name="Text Box 39">
              <a:extLst>
                <a:ext uri="{FF2B5EF4-FFF2-40B4-BE49-F238E27FC236}">
                  <a16:creationId xmlns:a16="http://schemas.microsoft.com/office/drawing/2014/main" id="{ED0FEE53-BD11-4508-9C96-5683E8667B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9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5</a:t>
              </a:r>
            </a:p>
          </p:txBody>
        </p:sp>
        <p:sp>
          <p:nvSpPr>
            <p:cNvPr id="142372" name="Text Box 40">
              <a:extLst>
                <a:ext uri="{FF2B5EF4-FFF2-40B4-BE49-F238E27FC236}">
                  <a16:creationId xmlns:a16="http://schemas.microsoft.com/office/drawing/2014/main" id="{B17D67CD-D67C-416A-B020-41617455C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9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4</a:t>
              </a:r>
            </a:p>
          </p:txBody>
        </p:sp>
        <p:sp>
          <p:nvSpPr>
            <p:cNvPr id="142373" name="Text Box 41">
              <a:extLst>
                <a:ext uri="{FF2B5EF4-FFF2-40B4-BE49-F238E27FC236}">
                  <a16:creationId xmlns:a16="http://schemas.microsoft.com/office/drawing/2014/main" id="{020B89EC-4956-4DB7-948F-62BD9C239A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6</a:t>
              </a:r>
            </a:p>
          </p:txBody>
        </p:sp>
        <p:sp>
          <p:nvSpPr>
            <p:cNvPr id="142374" name="Text Box 42">
              <a:extLst>
                <a:ext uri="{FF2B5EF4-FFF2-40B4-BE49-F238E27FC236}">
                  <a16:creationId xmlns:a16="http://schemas.microsoft.com/office/drawing/2014/main" id="{4BF67DD5-C3C5-4886-B1AD-7CD3D67E49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7</a:t>
              </a:r>
            </a:p>
          </p:txBody>
        </p:sp>
        <p:sp>
          <p:nvSpPr>
            <p:cNvPr id="142375" name="Text Box 43">
              <a:extLst>
                <a:ext uri="{FF2B5EF4-FFF2-40B4-BE49-F238E27FC236}">
                  <a16:creationId xmlns:a16="http://schemas.microsoft.com/office/drawing/2014/main" id="{F1C2E829-9166-4E3B-ADF7-BE19B7D9E4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8</a:t>
              </a:r>
            </a:p>
          </p:txBody>
        </p:sp>
        <p:sp>
          <p:nvSpPr>
            <p:cNvPr id="142376" name="Text Box 44">
              <a:extLst>
                <a:ext uri="{FF2B5EF4-FFF2-40B4-BE49-F238E27FC236}">
                  <a16:creationId xmlns:a16="http://schemas.microsoft.com/office/drawing/2014/main" id="{D19F3028-9D6E-49B8-BD7C-A23D660C7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9</a:t>
              </a:r>
            </a:p>
          </p:txBody>
        </p:sp>
        <p:sp>
          <p:nvSpPr>
            <p:cNvPr id="142377" name="Text Box 45">
              <a:extLst>
                <a:ext uri="{FF2B5EF4-FFF2-40B4-BE49-F238E27FC236}">
                  <a16:creationId xmlns:a16="http://schemas.microsoft.com/office/drawing/2014/main" id="{C5AADA8B-EC07-4946-B6BF-FD19DBEFFF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192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10</a:t>
              </a:r>
            </a:p>
          </p:txBody>
        </p:sp>
        <p:sp>
          <p:nvSpPr>
            <p:cNvPr id="142378" name="Text Box 46">
              <a:extLst>
                <a:ext uri="{FF2B5EF4-FFF2-40B4-BE49-F238E27FC236}">
                  <a16:creationId xmlns:a16="http://schemas.microsoft.com/office/drawing/2014/main" id="{53150776-7F3E-4FB3-8591-1B9733DE7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36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2379" name="Text Box 47">
              <a:extLst>
                <a:ext uri="{FF2B5EF4-FFF2-40B4-BE49-F238E27FC236}">
                  <a16:creationId xmlns:a16="http://schemas.microsoft.com/office/drawing/2014/main" id="{2914BCFB-5BBA-43BD-9BC3-A1AD842D92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1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2380" name="Text Box 48">
              <a:extLst>
                <a:ext uri="{FF2B5EF4-FFF2-40B4-BE49-F238E27FC236}">
                  <a16:creationId xmlns:a16="http://schemas.microsoft.com/office/drawing/2014/main" id="{71DB6DF1-495F-4FCE-A144-190B5DE57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72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2381" name="Text Box 49">
              <a:extLst>
                <a:ext uri="{FF2B5EF4-FFF2-40B4-BE49-F238E27FC236}">
                  <a16:creationId xmlns:a16="http://schemas.microsoft.com/office/drawing/2014/main" id="{5846254C-D4A9-4E1A-A368-EE9211E1AA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09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2382" name="Text Box 50">
              <a:extLst>
                <a:ext uri="{FF2B5EF4-FFF2-40B4-BE49-F238E27FC236}">
                  <a16:creationId xmlns:a16="http://schemas.microsoft.com/office/drawing/2014/main" id="{16266941-97D0-4011-9E48-1BCCE4FB7C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7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2383" name="Text Box 51">
              <a:extLst>
                <a:ext uri="{FF2B5EF4-FFF2-40B4-BE49-F238E27FC236}">
                  <a16:creationId xmlns:a16="http://schemas.microsoft.com/office/drawing/2014/main" id="{30E6BBB4-B9C5-48BC-A498-E2CD94C3F1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115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2384" name="Text Box 52">
              <a:extLst>
                <a:ext uri="{FF2B5EF4-FFF2-40B4-BE49-F238E27FC236}">
                  <a16:creationId xmlns:a16="http://schemas.microsoft.com/office/drawing/2014/main" id="{D778534A-58AB-48B6-AE70-519DBE6A1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79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2385" name="Text Box 53">
              <a:extLst>
                <a:ext uri="{FF2B5EF4-FFF2-40B4-BE49-F238E27FC236}">
                  <a16:creationId xmlns:a16="http://schemas.microsoft.com/office/drawing/2014/main" id="{8C44B39F-5FD1-4BBC-8B10-A6793CB60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3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2386" name="Text Box 54">
              <a:extLst>
                <a:ext uri="{FF2B5EF4-FFF2-40B4-BE49-F238E27FC236}">
                  <a16:creationId xmlns:a16="http://schemas.microsoft.com/office/drawing/2014/main" id="{51F7A364-F534-4907-999E-44FD96ADB3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3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a</a:t>
              </a:r>
              <a:endParaRPr kumimoji="0" lang="en-US" altLang="zh-CN" sz="2400"/>
            </a:p>
          </p:txBody>
        </p:sp>
        <p:sp>
          <p:nvSpPr>
            <p:cNvPr id="142387" name="Text Box 55">
              <a:extLst>
                <a:ext uri="{FF2B5EF4-FFF2-40B4-BE49-F238E27FC236}">
                  <a16:creationId xmlns:a16="http://schemas.microsoft.com/office/drawing/2014/main" id="{23D9E83B-F7AD-41E6-8706-DA98A56F47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91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a</a:t>
              </a:r>
              <a:endParaRPr kumimoji="0" lang="en-US" altLang="zh-CN" sz="2400"/>
            </a:p>
          </p:txBody>
        </p:sp>
        <p:sp>
          <p:nvSpPr>
            <p:cNvPr id="142388" name="Text Box 56">
              <a:extLst>
                <a:ext uri="{FF2B5EF4-FFF2-40B4-BE49-F238E27FC236}">
                  <a16:creationId xmlns:a16="http://schemas.microsoft.com/office/drawing/2014/main" id="{DDB38DC0-7675-4F1C-B220-8AEE8C7753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809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2389" name="Text Box 57">
              <a:extLst>
                <a:ext uri="{FF2B5EF4-FFF2-40B4-BE49-F238E27FC236}">
                  <a16:creationId xmlns:a16="http://schemas.microsoft.com/office/drawing/2014/main" id="{2A43D733-89F3-4A5F-BB18-8897AADBDB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3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2390" name="Text Box 58">
              <a:extLst>
                <a:ext uri="{FF2B5EF4-FFF2-40B4-BE49-F238E27FC236}">
                  <a16:creationId xmlns:a16="http://schemas.microsoft.com/office/drawing/2014/main" id="{A7CBECBC-5FB2-46A8-AE83-95589067E8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7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2391" name="Text Box 59">
              <a:extLst>
                <a:ext uri="{FF2B5EF4-FFF2-40B4-BE49-F238E27FC236}">
                  <a16:creationId xmlns:a16="http://schemas.microsoft.com/office/drawing/2014/main" id="{3EB3EBB0-3D67-4FC8-B72D-1B7D46D292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360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start</a:t>
              </a:r>
              <a:endParaRPr kumimoji="0" lang="en-US" altLang="zh-CN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F0D66AA9-204C-4410-8F3D-0C95542E05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3.15</a:t>
            </a:r>
            <a:r>
              <a:rPr lang="zh-CN" altLang="en-US">
                <a:sym typeface="Symbol" panose="05050102010706020507" pitchFamily="18" charset="2"/>
              </a:rPr>
              <a:t>：</a:t>
            </a:r>
            <a:r>
              <a:rPr kumimoji="0" lang="zh-CN" altLang="en-US">
                <a:sym typeface="Symbol" panose="05050102010706020507" pitchFamily="18" charset="2"/>
              </a:rPr>
              <a:t>（续）</a:t>
            </a:r>
          </a:p>
        </p:txBody>
      </p:sp>
      <p:grpSp>
        <p:nvGrpSpPr>
          <p:cNvPr id="2" name="Group 171">
            <a:extLst>
              <a:ext uri="{FF2B5EF4-FFF2-40B4-BE49-F238E27FC236}">
                <a16:creationId xmlns:a16="http://schemas.microsoft.com/office/drawing/2014/main" id="{E065E689-203A-43C3-A439-B946DCF4273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810000"/>
            <a:ext cx="7543800" cy="2057400"/>
            <a:chOff x="672" y="2562"/>
            <a:chExt cx="4752" cy="1680"/>
          </a:xfrm>
        </p:grpSpPr>
        <p:sp>
          <p:nvSpPr>
            <p:cNvPr id="143416" name="Rectangle 4">
              <a:extLst>
                <a:ext uri="{FF2B5EF4-FFF2-40B4-BE49-F238E27FC236}">
                  <a16:creationId xmlns:a16="http://schemas.microsoft.com/office/drawing/2014/main" id="{00C657F9-7174-454A-864B-A71FAB7EDB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562"/>
              <a:ext cx="4752" cy="168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3417" name="Text Box 5">
              <a:extLst>
                <a:ext uri="{FF2B5EF4-FFF2-40B4-BE49-F238E27FC236}">
                  <a16:creationId xmlns:a16="http://schemas.microsoft.com/office/drawing/2014/main" id="{35A28A49-95CF-4FD0-95DF-4C36AFB4A4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562"/>
              <a:ext cx="4752" cy="16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000"/>
                <a:t>第三步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u="sng">
                  <a:solidFill>
                    <a:srgbClr val="A50021"/>
                  </a:solidFill>
                </a:rPr>
                <a:t>a</a:t>
              </a:r>
              <a:r>
                <a:rPr kumimoji="0" lang="en-US" altLang="zh-CN" sz="2000"/>
                <a:t> :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-closure(δ(B,a)) =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-closure(δ({1,2,3,4,6,7,8},a))}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FF3300"/>
                  </a:solidFill>
                  <a:sym typeface="Symbol" panose="05050102010706020507" pitchFamily="18" charset="2"/>
                </a:rPr>
                <a:t>= {1,2,3,4,6,7,8} = B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3333CC"/>
                  </a:solidFill>
                  <a:sym typeface="Symbol" panose="05050102010706020507" pitchFamily="18" charset="2"/>
                </a:rPr>
                <a:t>Dtran[B,a] = B</a:t>
              </a:r>
              <a:endParaRPr kumimoji="0" lang="en-US" altLang="zh-CN" sz="2000">
                <a:solidFill>
                  <a:srgbClr val="00CC00"/>
                </a:solidFill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u="sng">
                  <a:solidFill>
                    <a:srgbClr val="A50021"/>
                  </a:solidFill>
                </a:rPr>
                <a:t>b</a:t>
              </a:r>
              <a:r>
                <a:rPr kumimoji="0" lang="en-US" altLang="zh-CN" sz="2000"/>
                <a:t> :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-closure(δ(B,b)) =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-closure(δ({1,2,3,4,6,7,8},b))}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FF3300"/>
                  </a:solidFill>
                  <a:sym typeface="Symbol" panose="05050102010706020507" pitchFamily="18" charset="2"/>
                </a:rPr>
                <a:t>= {1,2,4,5,6,7,9} = D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3333CC"/>
                  </a:solidFill>
                  <a:sym typeface="Symbol" panose="05050102010706020507" pitchFamily="18" charset="2"/>
                </a:rPr>
                <a:t>Dtran[B,b] = D</a:t>
              </a:r>
            </a:p>
          </p:txBody>
        </p:sp>
      </p:grpSp>
      <p:grpSp>
        <p:nvGrpSpPr>
          <p:cNvPr id="143364" name="Group 170">
            <a:extLst>
              <a:ext uri="{FF2B5EF4-FFF2-40B4-BE49-F238E27FC236}">
                <a16:creationId xmlns:a16="http://schemas.microsoft.com/office/drawing/2014/main" id="{1BE335D9-BA55-4174-9F81-DC4DB0BB187D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219200"/>
            <a:ext cx="8534400" cy="2514600"/>
            <a:chOff x="192" y="768"/>
            <a:chExt cx="5376" cy="1584"/>
          </a:xfrm>
        </p:grpSpPr>
        <p:sp>
          <p:nvSpPr>
            <p:cNvPr id="143365" name="Text Box 157">
              <a:extLst>
                <a:ext uri="{FF2B5EF4-FFF2-40B4-BE49-F238E27FC236}">
                  <a16:creationId xmlns:a16="http://schemas.microsoft.com/office/drawing/2014/main" id="{0BA49635-4087-46B3-A598-6F2DB6FBA4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06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3366" name="Oval 117">
              <a:extLst>
                <a:ext uri="{FF2B5EF4-FFF2-40B4-BE49-F238E27FC236}">
                  <a16:creationId xmlns:a16="http://schemas.microsoft.com/office/drawing/2014/main" id="{4AC3106F-69BB-42A1-B159-B95B9EE29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91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3367" name="Oval 118">
              <a:extLst>
                <a:ext uri="{FF2B5EF4-FFF2-40B4-BE49-F238E27FC236}">
                  <a16:creationId xmlns:a16="http://schemas.microsoft.com/office/drawing/2014/main" id="{44576FA3-458A-4226-AE68-5FFEA47F4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1957"/>
              <a:ext cx="288" cy="24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3368" name="Oval 119">
              <a:extLst>
                <a:ext uri="{FF2B5EF4-FFF2-40B4-BE49-F238E27FC236}">
                  <a16:creationId xmlns:a16="http://schemas.microsoft.com/office/drawing/2014/main" id="{ED9287E4-4BDE-470E-B5C8-FEA69B716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875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3369" name="Oval 120">
              <a:extLst>
                <a:ext uri="{FF2B5EF4-FFF2-40B4-BE49-F238E27FC236}">
                  <a16:creationId xmlns:a16="http://schemas.microsoft.com/office/drawing/2014/main" id="{7556484E-D954-4F68-A084-C172B7EBA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977"/>
              <a:ext cx="384" cy="32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3370" name="Oval 121">
              <a:extLst>
                <a:ext uri="{FF2B5EF4-FFF2-40B4-BE49-F238E27FC236}">
                  <a16:creationId xmlns:a16="http://schemas.microsoft.com/office/drawing/2014/main" id="{B4FDCE31-69D0-4036-8053-DAFCE2382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3371" name="Oval 122">
              <a:extLst>
                <a:ext uri="{FF2B5EF4-FFF2-40B4-BE49-F238E27FC236}">
                  <a16:creationId xmlns:a16="http://schemas.microsoft.com/office/drawing/2014/main" id="{5A9AEF5C-0A0B-4CF1-93E0-756658512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3372" name="Oval 123">
              <a:extLst>
                <a:ext uri="{FF2B5EF4-FFF2-40B4-BE49-F238E27FC236}">
                  <a16:creationId xmlns:a16="http://schemas.microsoft.com/office/drawing/2014/main" id="{63FA89F1-118C-4107-9CF9-BFB66149D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875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3373" name="Oval 124">
              <a:extLst>
                <a:ext uri="{FF2B5EF4-FFF2-40B4-BE49-F238E27FC236}">
                  <a16:creationId xmlns:a16="http://schemas.microsoft.com/office/drawing/2014/main" id="{10AF8F70-518F-45D8-9E2D-07E661E18C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3374" name="Oval 125">
              <a:extLst>
                <a:ext uri="{FF2B5EF4-FFF2-40B4-BE49-F238E27FC236}">
                  <a16:creationId xmlns:a16="http://schemas.microsoft.com/office/drawing/2014/main" id="{C8B61EA8-7EB7-423F-9F10-D836BF62E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977"/>
              <a:ext cx="384" cy="32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3375" name="Oval 126">
              <a:extLst>
                <a:ext uri="{FF2B5EF4-FFF2-40B4-BE49-F238E27FC236}">
                  <a16:creationId xmlns:a16="http://schemas.microsoft.com/office/drawing/2014/main" id="{00A02724-CFDA-4AD5-B0DB-AC53672BC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3376" name="Oval 127">
              <a:extLst>
                <a:ext uri="{FF2B5EF4-FFF2-40B4-BE49-F238E27FC236}">
                  <a16:creationId xmlns:a16="http://schemas.microsoft.com/office/drawing/2014/main" id="{31919801-7FFE-4F1B-AB0F-481BF813B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3377" name="Oval 128">
              <a:extLst>
                <a:ext uri="{FF2B5EF4-FFF2-40B4-BE49-F238E27FC236}">
                  <a16:creationId xmlns:a16="http://schemas.microsoft.com/office/drawing/2014/main" id="{E6E31214-CBB9-41F9-8529-D4DA85DA2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3378" name="Line 129">
              <a:extLst>
                <a:ext uri="{FF2B5EF4-FFF2-40B4-BE49-F238E27FC236}">
                  <a16:creationId xmlns:a16="http://schemas.microsoft.com/office/drawing/2014/main" id="{F5B53647-6E84-41B4-B49C-5F9ED49E90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712"/>
              <a:ext cx="432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79" name="Line 130">
              <a:extLst>
                <a:ext uri="{FF2B5EF4-FFF2-40B4-BE49-F238E27FC236}">
                  <a16:creationId xmlns:a16="http://schemas.microsoft.com/office/drawing/2014/main" id="{AC7FA06C-EF6E-4C77-99B4-B3358BF022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3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80" name="Line 131">
              <a:extLst>
                <a:ext uri="{FF2B5EF4-FFF2-40B4-BE49-F238E27FC236}">
                  <a16:creationId xmlns:a16="http://schemas.microsoft.com/office/drawing/2014/main" id="{BD909A56-98A3-47A3-8402-2A7B69DAD4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1712"/>
              <a:ext cx="192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81" name="Line 132">
              <a:extLst>
                <a:ext uri="{FF2B5EF4-FFF2-40B4-BE49-F238E27FC236}">
                  <a16:creationId xmlns:a16="http://schemas.microsoft.com/office/drawing/2014/main" id="{9127116E-04B0-4A8F-B211-6E463CBDD9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589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82" name="Line 133">
              <a:extLst>
                <a:ext uri="{FF2B5EF4-FFF2-40B4-BE49-F238E27FC236}">
                  <a16:creationId xmlns:a16="http://schemas.microsoft.com/office/drawing/2014/main" id="{58AC4839-8829-4C6D-B919-7910B952EE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589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83" name="Line 134">
              <a:extLst>
                <a:ext uri="{FF2B5EF4-FFF2-40B4-BE49-F238E27FC236}">
                  <a16:creationId xmlns:a16="http://schemas.microsoft.com/office/drawing/2014/main" id="{52C742FB-B4CD-4A5C-AE0A-1BE3CF7714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263"/>
              <a:ext cx="336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84" name="Line 135">
              <a:extLst>
                <a:ext uri="{FF2B5EF4-FFF2-40B4-BE49-F238E27FC236}">
                  <a16:creationId xmlns:a16="http://schemas.microsoft.com/office/drawing/2014/main" id="{D0CE7F57-60CF-467A-85A2-150560EB0A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141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85" name="Line 136">
              <a:extLst>
                <a:ext uri="{FF2B5EF4-FFF2-40B4-BE49-F238E27FC236}">
                  <a16:creationId xmlns:a16="http://schemas.microsoft.com/office/drawing/2014/main" id="{B194A845-1D60-4F27-A14B-81DB837C10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222"/>
              <a:ext cx="240" cy="2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86" name="Line 137">
              <a:extLst>
                <a:ext uri="{FF2B5EF4-FFF2-40B4-BE49-F238E27FC236}">
                  <a16:creationId xmlns:a16="http://schemas.microsoft.com/office/drawing/2014/main" id="{FF0F8F7D-769F-47A0-8692-E5A91DCCB8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158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87" name="Line 138">
              <a:extLst>
                <a:ext uri="{FF2B5EF4-FFF2-40B4-BE49-F238E27FC236}">
                  <a16:creationId xmlns:a16="http://schemas.microsoft.com/office/drawing/2014/main" id="{AA5D0FDC-7B7E-445A-8AAB-7866416EC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58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88" name="Line 139">
              <a:extLst>
                <a:ext uri="{FF2B5EF4-FFF2-40B4-BE49-F238E27FC236}">
                  <a16:creationId xmlns:a16="http://schemas.microsoft.com/office/drawing/2014/main" id="{E6BE7100-43D9-482D-853B-1C2020CF33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589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389" name="Line 140">
              <a:extLst>
                <a:ext uri="{FF2B5EF4-FFF2-40B4-BE49-F238E27FC236}">
                  <a16:creationId xmlns:a16="http://schemas.microsoft.com/office/drawing/2014/main" id="{9EC52F21-C3C8-4142-85F9-5DEB3FFA1A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0" y="1752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43390" name="AutoShape 141">
              <a:extLst>
                <a:ext uri="{FF2B5EF4-FFF2-40B4-BE49-F238E27FC236}">
                  <a16:creationId xmlns:a16="http://schemas.microsoft.com/office/drawing/2014/main" id="{8B360889-BE35-4F2A-A52F-2CBB50E44A2F}"/>
                </a:ext>
              </a:extLst>
            </p:cNvPr>
            <p:cNvCxnSpPr>
              <a:cxnSpLocks noChangeShapeType="1"/>
              <a:stCxn id="143375" idx="4"/>
              <a:endCxn id="143376" idx="4"/>
            </p:cNvCxnSpPr>
            <p:nvPr/>
          </p:nvCxnSpPr>
          <p:spPr bwMode="auto">
            <a:xfrm rot="16200000" flipH="1">
              <a:off x="2543" y="121"/>
              <a:ext cx="1" cy="3264"/>
            </a:xfrm>
            <a:prstGeom prst="curvedConnector3">
              <a:avLst>
                <a:gd name="adj1" fmla="val 59499986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3391" name="AutoShape 142">
              <a:extLst>
                <a:ext uri="{FF2B5EF4-FFF2-40B4-BE49-F238E27FC236}">
                  <a16:creationId xmlns:a16="http://schemas.microsoft.com/office/drawing/2014/main" id="{23F76FE5-4F54-4BE5-B2EF-223040DED5BD}"/>
                </a:ext>
              </a:extLst>
            </p:cNvPr>
            <p:cNvCxnSpPr>
              <a:cxnSpLocks noChangeShapeType="1"/>
              <a:stCxn id="143373" idx="0"/>
              <a:endCxn id="143377" idx="0"/>
            </p:cNvCxnSpPr>
            <p:nvPr/>
          </p:nvCxnSpPr>
          <p:spPr bwMode="auto">
            <a:xfrm rot="-5400000" flipH="1" flipV="1">
              <a:off x="2615" y="443"/>
              <a:ext cx="1" cy="1968"/>
            </a:xfrm>
            <a:prstGeom prst="curvedConnector3">
              <a:avLst>
                <a:gd name="adj1" fmla="val -59400014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392" name="Text Box 143">
              <a:extLst>
                <a:ext uri="{FF2B5EF4-FFF2-40B4-BE49-F238E27FC236}">
                  <a16:creationId xmlns:a16="http://schemas.microsoft.com/office/drawing/2014/main" id="{9BE7FFE8-144F-4E38-B7FB-ABC85C5CDB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0</a:t>
              </a:r>
            </a:p>
          </p:txBody>
        </p:sp>
        <p:sp>
          <p:nvSpPr>
            <p:cNvPr id="143393" name="Text Box 144">
              <a:extLst>
                <a:ext uri="{FF2B5EF4-FFF2-40B4-BE49-F238E27FC236}">
                  <a16:creationId xmlns:a16="http://schemas.microsoft.com/office/drawing/2014/main" id="{8BCCBA27-005A-47D8-B1EA-A28288356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</a:t>
              </a:r>
            </a:p>
          </p:txBody>
        </p:sp>
        <p:sp>
          <p:nvSpPr>
            <p:cNvPr id="143394" name="Text Box 145">
              <a:extLst>
                <a:ext uri="{FF2B5EF4-FFF2-40B4-BE49-F238E27FC236}">
                  <a16:creationId xmlns:a16="http://schemas.microsoft.com/office/drawing/2014/main" id="{C68C9C13-83CD-44C2-BF9A-F290FD1DF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059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2</a:t>
              </a:r>
            </a:p>
          </p:txBody>
        </p:sp>
        <p:sp>
          <p:nvSpPr>
            <p:cNvPr id="143395" name="Text Box 146">
              <a:extLst>
                <a:ext uri="{FF2B5EF4-FFF2-40B4-BE49-F238E27FC236}">
                  <a16:creationId xmlns:a16="http://schemas.microsoft.com/office/drawing/2014/main" id="{E6E7418B-A40A-488E-8C77-30D37546C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059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3</a:t>
              </a:r>
            </a:p>
          </p:txBody>
        </p:sp>
        <p:sp>
          <p:nvSpPr>
            <p:cNvPr id="143396" name="Text Box 147">
              <a:extLst>
                <a:ext uri="{FF2B5EF4-FFF2-40B4-BE49-F238E27FC236}">
                  <a16:creationId xmlns:a16="http://schemas.microsoft.com/office/drawing/2014/main" id="{5B638730-A3AD-47D2-93FD-7C193DD285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9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5</a:t>
              </a:r>
            </a:p>
          </p:txBody>
        </p:sp>
        <p:sp>
          <p:nvSpPr>
            <p:cNvPr id="143397" name="Text Box 148">
              <a:extLst>
                <a:ext uri="{FF2B5EF4-FFF2-40B4-BE49-F238E27FC236}">
                  <a16:creationId xmlns:a16="http://schemas.microsoft.com/office/drawing/2014/main" id="{2F241A39-115A-4252-AC0E-BF0D5763E2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9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4</a:t>
              </a:r>
            </a:p>
          </p:txBody>
        </p:sp>
        <p:sp>
          <p:nvSpPr>
            <p:cNvPr id="143398" name="Text Box 149">
              <a:extLst>
                <a:ext uri="{FF2B5EF4-FFF2-40B4-BE49-F238E27FC236}">
                  <a16:creationId xmlns:a16="http://schemas.microsoft.com/office/drawing/2014/main" id="{7281A8DD-9093-4EDD-A69B-6E8E22913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6</a:t>
              </a:r>
            </a:p>
          </p:txBody>
        </p:sp>
        <p:sp>
          <p:nvSpPr>
            <p:cNvPr id="143399" name="Text Box 150">
              <a:extLst>
                <a:ext uri="{FF2B5EF4-FFF2-40B4-BE49-F238E27FC236}">
                  <a16:creationId xmlns:a16="http://schemas.microsoft.com/office/drawing/2014/main" id="{DA17EF5A-97E4-463A-BEA4-105A063A82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7</a:t>
              </a:r>
            </a:p>
          </p:txBody>
        </p:sp>
        <p:sp>
          <p:nvSpPr>
            <p:cNvPr id="143400" name="Text Box 151">
              <a:extLst>
                <a:ext uri="{FF2B5EF4-FFF2-40B4-BE49-F238E27FC236}">
                  <a16:creationId xmlns:a16="http://schemas.microsoft.com/office/drawing/2014/main" id="{89D2C979-5B10-461F-9C3A-91D35A8EA5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8</a:t>
              </a:r>
            </a:p>
          </p:txBody>
        </p:sp>
        <p:sp>
          <p:nvSpPr>
            <p:cNvPr id="143401" name="Text Box 152">
              <a:extLst>
                <a:ext uri="{FF2B5EF4-FFF2-40B4-BE49-F238E27FC236}">
                  <a16:creationId xmlns:a16="http://schemas.microsoft.com/office/drawing/2014/main" id="{2977B6DA-B706-4438-AD75-FA5087F3D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9</a:t>
              </a:r>
            </a:p>
          </p:txBody>
        </p:sp>
        <p:sp>
          <p:nvSpPr>
            <p:cNvPr id="143402" name="Text Box 153">
              <a:extLst>
                <a:ext uri="{FF2B5EF4-FFF2-40B4-BE49-F238E27FC236}">
                  <a16:creationId xmlns:a16="http://schemas.microsoft.com/office/drawing/2014/main" id="{FFAB636D-B33F-4897-BE8B-AB36AA0195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192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10</a:t>
              </a:r>
            </a:p>
          </p:txBody>
        </p:sp>
        <p:sp>
          <p:nvSpPr>
            <p:cNvPr id="143403" name="Text Box 154">
              <a:extLst>
                <a:ext uri="{FF2B5EF4-FFF2-40B4-BE49-F238E27FC236}">
                  <a16:creationId xmlns:a16="http://schemas.microsoft.com/office/drawing/2014/main" id="{3A1463F0-AFBC-46CB-B2C5-CC96EB4083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36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3404" name="Text Box 155">
              <a:extLst>
                <a:ext uri="{FF2B5EF4-FFF2-40B4-BE49-F238E27FC236}">
                  <a16:creationId xmlns:a16="http://schemas.microsoft.com/office/drawing/2014/main" id="{78EAF0A3-37BB-4585-8D2C-CBDC6CB5AD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1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3405" name="Text Box 156">
              <a:extLst>
                <a:ext uri="{FF2B5EF4-FFF2-40B4-BE49-F238E27FC236}">
                  <a16:creationId xmlns:a16="http://schemas.microsoft.com/office/drawing/2014/main" id="{F3D76D86-07ED-452B-8D3C-DE217A4171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72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3406" name="Text Box 158">
              <a:extLst>
                <a:ext uri="{FF2B5EF4-FFF2-40B4-BE49-F238E27FC236}">
                  <a16:creationId xmlns:a16="http://schemas.microsoft.com/office/drawing/2014/main" id="{1E8BC23D-A2B5-4C51-8A82-9646FDDED3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7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3407" name="Text Box 159">
              <a:extLst>
                <a:ext uri="{FF2B5EF4-FFF2-40B4-BE49-F238E27FC236}">
                  <a16:creationId xmlns:a16="http://schemas.microsoft.com/office/drawing/2014/main" id="{7B3AC329-7875-465B-AE21-E70A3458FF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115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3408" name="Text Box 160">
              <a:extLst>
                <a:ext uri="{FF2B5EF4-FFF2-40B4-BE49-F238E27FC236}">
                  <a16:creationId xmlns:a16="http://schemas.microsoft.com/office/drawing/2014/main" id="{58406591-A9CA-423B-8950-24337354E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79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3409" name="Text Box 161">
              <a:extLst>
                <a:ext uri="{FF2B5EF4-FFF2-40B4-BE49-F238E27FC236}">
                  <a16:creationId xmlns:a16="http://schemas.microsoft.com/office/drawing/2014/main" id="{6ED50073-0DA8-4607-8DEA-4F92FB091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3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3410" name="Text Box 162">
              <a:extLst>
                <a:ext uri="{FF2B5EF4-FFF2-40B4-BE49-F238E27FC236}">
                  <a16:creationId xmlns:a16="http://schemas.microsoft.com/office/drawing/2014/main" id="{CA909A7A-4D7D-4A04-A7D8-ADB66346C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3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a</a:t>
              </a:r>
              <a:endParaRPr kumimoji="0" lang="en-US" altLang="zh-CN" sz="2400"/>
            </a:p>
          </p:txBody>
        </p:sp>
        <p:sp>
          <p:nvSpPr>
            <p:cNvPr id="143411" name="Text Box 163">
              <a:extLst>
                <a:ext uri="{FF2B5EF4-FFF2-40B4-BE49-F238E27FC236}">
                  <a16:creationId xmlns:a16="http://schemas.microsoft.com/office/drawing/2014/main" id="{206132C5-F66C-4CDA-B619-86B3CAD75A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91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a</a:t>
              </a:r>
              <a:endParaRPr kumimoji="0" lang="en-US" altLang="zh-CN" sz="2400"/>
            </a:p>
          </p:txBody>
        </p:sp>
        <p:sp>
          <p:nvSpPr>
            <p:cNvPr id="143412" name="Text Box 164">
              <a:extLst>
                <a:ext uri="{FF2B5EF4-FFF2-40B4-BE49-F238E27FC236}">
                  <a16:creationId xmlns:a16="http://schemas.microsoft.com/office/drawing/2014/main" id="{E53507DE-9FCD-48EB-89BB-F70EBE4EAB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809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3413" name="Text Box 165">
              <a:extLst>
                <a:ext uri="{FF2B5EF4-FFF2-40B4-BE49-F238E27FC236}">
                  <a16:creationId xmlns:a16="http://schemas.microsoft.com/office/drawing/2014/main" id="{4C4DEACD-3805-4636-9D8A-35473361AD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3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3414" name="Text Box 166">
              <a:extLst>
                <a:ext uri="{FF2B5EF4-FFF2-40B4-BE49-F238E27FC236}">
                  <a16:creationId xmlns:a16="http://schemas.microsoft.com/office/drawing/2014/main" id="{A4423385-EFBA-470D-BD8D-F6D8CEFE10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7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3415" name="Text Box 167">
              <a:extLst>
                <a:ext uri="{FF2B5EF4-FFF2-40B4-BE49-F238E27FC236}">
                  <a16:creationId xmlns:a16="http://schemas.microsoft.com/office/drawing/2014/main" id="{3DACCFBF-D55F-41F4-8627-B8BD077E54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360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start</a:t>
              </a:r>
              <a:endParaRPr kumimoji="0" lang="en-US" altLang="zh-CN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22B3D6E7-EEEA-4990-BA8C-D34323B0BB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3.15</a:t>
            </a:r>
            <a:r>
              <a:rPr lang="zh-CN" altLang="en-US">
                <a:sym typeface="Symbol" panose="05050102010706020507" pitchFamily="18" charset="2"/>
              </a:rPr>
              <a:t>：</a:t>
            </a:r>
            <a:r>
              <a:rPr kumimoji="0" lang="zh-CN" altLang="en-US">
                <a:sym typeface="Symbol" panose="05050102010706020507" pitchFamily="18" charset="2"/>
              </a:rPr>
              <a:t>（续）</a:t>
            </a:r>
          </a:p>
        </p:txBody>
      </p:sp>
      <p:grpSp>
        <p:nvGrpSpPr>
          <p:cNvPr id="2" name="Group 164">
            <a:extLst>
              <a:ext uri="{FF2B5EF4-FFF2-40B4-BE49-F238E27FC236}">
                <a16:creationId xmlns:a16="http://schemas.microsoft.com/office/drawing/2014/main" id="{43566C3B-E989-421B-8C6B-09B1528DBDA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790950"/>
            <a:ext cx="7543800" cy="2762250"/>
            <a:chOff x="672" y="2580"/>
            <a:chExt cx="4752" cy="1740"/>
          </a:xfrm>
        </p:grpSpPr>
        <p:sp>
          <p:nvSpPr>
            <p:cNvPr id="144440" name="Rectangle 5">
              <a:extLst>
                <a:ext uri="{FF2B5EF4-FFF2-40B4-BE49-F238E27FC236}">
                  <a16:creationId xmlns:a16="http://schemas.microsoft.com/office/drawing/2014/main" id="{F1BB2052-6983-48CF-8EB7-D87F44B16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580"/>
              <a:ext cx="4752" cy="174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4441" name="Text Box 6">
              <a:extLst>
                <a:ext uri="{FF2B5EF4-FFF2-40B4-BE49-F238E27FC236}">
                  <a16:creationId xmlns:a16="http://schemas.microsoft.com/office/drawing/2014/main" id="{06E5EEE9-D32C-43E3-9784-DDC3A2389F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580"/>
              <a:ext cx="4752" cy="1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000"/>
                <a:t>第四步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u="sng">
                  <a:solidFill>
                    <a:srgbClr val="A50021"/>
                  </a:solidFill>
                </a:rPr>
                <a:t>a</a:t>
              </a:r>
              <a:r>
                <a:rPr kumimoji="0" lang="en-US" altLang="zh-CN" sz="2000"/>
                <a:t> :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-closure(δ(C,a)) =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-closure(δ({1,2,4,5,6,7},a))}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FF3300"/>
                  </a:solidFill>
                  <a:sym typeface="Symbol" panose="05050102010706020507" pitchFamily="18" charset="2"/>
                </a:rPr>
                <a:t>= {1,2,3,4,6,7,8} = B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3333CC"/>
                  </a:solidFill>
                  <a:sym typeface="Symbol" panose="05050102010706020507" pitchFamily="18" charset="2"/>
                </a:rPr>
                <a:t>Dtran[C,a] = B</a:t>
              </a:r>
              <a:endParaRPr kumimoji="0" lang="en-US" altLang="zh-CN" sz="2000">
                <a:solidFill>
                  <a:srgbClr val="00CC00"/>
                </a:solidFill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u="sng">
                  <a:solidFill>
                    <a:srgbClr val="A50021"/>
                  </a:solidFill>
                </a:rPr>
                <a:t>b</a:t>
              </a:r>
              <a:r>
                <a:rPr kumimoji="0" lang="en-US" altLang="zh-CN" sz="2000"/>
                <a:t> :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-closure(δ(C,b)) =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-closure(δ({1,2,4,5,6,7},b))}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FF3300"/>
                  </a:solidFill>
                  <a:sym typeface="Symbol" panose="05050102010706020507" pitchFamily="18" charset="2"/>
                </a:rPr>
                <a:t>= {1,2,4,5,6,7} = C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3333CC"/>
                  </a:solidFill>
                  <a:sym typeface="Symbol" panose="05050102010706020507" pitchFamily="18" charset="2"/>
                </a:rPr>
                <a:t>Dtran[C,b] = C</a:t>
              </a:r>
            </a:p>
          </p:txBody>
        </p:sp>
      </p:grpSp>
      <p:grpSp>
        <p:nvGrpSpPr>
          <p:cNvPr id="144388" name="Group 165">
            <a:extLst>
              <a:ext uri="{FF2B5EF4-FFF2-40B4-BE49-F238E27FC236}">
                <a16:creationId xmlns:a16="http://schemas.microsoft.com/office/drawing/2014/main" id="{45C8476B-F564-48D8-B9C1-07DC47768F9D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219200"/>
            <a:ext cx="8534400" cy="2562225"/>
            <a:chOff x="192" y="768"/>
            <a:chExt cx="5376" cy="1614"/>
          </a:xfrm>
        </p:grpSpPr>
        <p:sp>
          <p:nvSpPr>
            <p:cNvPr id="144389" name="Oval 113">
              <a:extLst>
                <a:ext uri="{FF2B5EF4-FFF2-40B4-BE49-F238E27FC236}">
                  <a16:creationId xmlns:a16="http://schemas.microsoft.com/office/drawing/2014/main" id="{6D527E18-C42B-4C4A-98E8-DFF8E3D85B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91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4390" name="Oval 114">
              <a:extLst>
                <a:ext uri="{FF2B5EF4-FFF2-40B4-BE49-F238E27FC236}">
                  <a16:creationId xmlns:a16="http://schemas.microsoft.com/office/drawing/2014/main" id="{F1D33FCE-F266-4758-B335-FB208DCF57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1957"/>
              <a:ext cx="288" cy="24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4391" name="Oval 115">
              <a:extLst>
                <a:ext uri="{FF2B5EF4-FFF2-40B4-BE49-F238E27FC236}">
                  <a16:creationId xmlns:a16="http://schemas.microsoft.com/office/drawing/2014/main" id="{F00E5B28-45C4-4848-9007-6BC01A9C2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875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4392" name="Oval 116">
              <a:extLst>
                <a:ext uri="{FF2B5EF4-FFF2-40B4-BE49-F238E27FC236}">
                  <a16:creationId xmlns:a16="http://schemas.microsoft.com/office/drawing/2014/main" id="{5296F5FE-E44A-46B1-95E7-27ADAD6796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977"/>
              <a:ext cx="384" cy="32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4393" name="Oval 117">
              <a:extLst>
                <a:ext uri="{FF2B5EF4-FFF2-40B4-BE49-F238E27FC236}">
                  <a16:creationId xmlns:a16="http://schemas.microsoft.com/office/drawing/2014/main" id="{C56B21AC-A66C-4E63-923B-94346A3B8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4394" name="Oval 118">
              <a:extLst>
                <a:ext uri="{FF2B5EF4-FFF2-40B4-BE49-F238E27FC236}">
                  <a16:creationId xmlns:a16="http://schemas.microsoft.com/office/drawing/2014/main" id="{622EA4CC-D4CE-46AA-B2DE-106A046A25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4395" name="Oval 119">
              <a:extLst>
                <a:ext uri="{FF2B5EF4-FFF2-40B4-BE49-F238E27FC236}">
                  <a16:creationId xmlns:a16="http://schemas.microsoft.com/office/drawing/2014/main" id="{1D90A30A-2C7F-4B5C-BB8D-82DEFCC55F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875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4396" name="Oval 120">
              <a:extLst>
                <a:ext uri="{FF2B5EF4-FFF2-40B4-BE49-F238E27FC236}">
                  <a16:creationId xmlns:a16="http://schemas.microsoft.com/office/drawing/2014/main" id="{2A703D4C-66D5-4537-878F-C8FC80AA4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4397" name="Oval 121">
              <a:extLst>
                <a:ext uri="{FF2B5EF4-FFF2-40B4-BE49-F238E27FC236}">
                  <a16:creationId xmlns:a16="http://schemas.microsoft.com/office/drawing/2014/main" id="{507E56B1-87BB-4B98-A7A6-6FFF6B53D8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977"/>
              <a:ext cx="384" cy="32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4398" name="Oval 122">
              <a:extLst>
                <a:ext uri="{FF2B5EF4-FFF2-40B4-BE49-F238E27FC236}">
                  <a16:creationId xmlns:a16="http://schemas.microsoft.com/office/drawing/2014/main" id="{067DC98C-D1F3-4182-AB67-493460C20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4399" name="Oval 123">
              <a:extLst>
                <a:ext uri="{FF2B5EF4-FFF2-40B4-BE49-F238E27FC236}">
                  <a16:creationId xmlns:a16="http://schemas.microsoft.com/office/drawing/2014/main" id="{CC280148-03A2-45B5-9515-9AC9BEF3BA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4400" name="Oval 124">
              <a:extLst>
                <a:ext uri="{FF2B5EF4-FFF2-40B4-BE49-F238E27FC236}">
                  <a16:creationId xmlns:a16="http://schemas.microsoft.com/office/drawing/2014/main" id="{972E9053-04E8-4122-AD98-71358985DF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4401" name="Line 125">
              <a:extLst>
                <a:ext uri="{FF2B5EF4-FFF2-40B4-BE49-F238E27FC236}">
                  <a16:creationId xmlns:a16="http://schemas.microsoft.com/office/drawing/2014/main" id="{1905808F-6C85-471F-BDA1-042B328AEB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712"/>
              <a:ext cx="432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02" name="Line 126">
              <a:extLst>
                <a:ext uri="{FF2B5EF4-FFF2-40B4-BE49-F238E27FC236}">
                  <a16:creationId xmlns:a16="http://schemas.microsoft.com/office/drawing/2014/main" id="{865E3B71-EAF0-4C92-AC58-FAA22B7179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3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03" name="Line 127">
              <a:extLst>
                <a:ext uri="{FF2B5EF4-FFF2-40B4-BE49-F238E27FC236}">
                  <a16:creationId xmlns:a16="http://schemas.microsoft.com/office/drawing/2014/main" id="{0ED32857-E107-4CC0-BFFC-50E880BDD7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1712"/>
              <a:ext cx="192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04" name="Line 128">
              <a:extLst>
                <a:ext uri="{FF2B5EF4-FFF2-40B4-BE49-F238E27FC236}">
                  <a16:creationId xmlns:a16="http://schemas.microsoft.com/office/drawing/2014/main" id="{684743E7-B4CD-4554-980B-940FD63209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589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05" name="Line 129">
              <a:extLst>
                <a:ext uri="{FF2B5EF4-FFF2-40B4-BE49-F238E27FC236}">
                  <a16:creationId xmlns:a16="http://schemas.microsoft.com/office/drawing/2014/main" id="{F51DEDDC-01B4-4CA0-BAA0-A15F4B2B1B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589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06" name="Line 130">
              <a:extLst>
                <a:ext uri="{FF2B5EF4-FFF2-40B4-BE49-F238E27FC236}">
                  <a16:creationId xmlns:a16="http://schemas.microsoft.com/office/drawing/2014/main" id="{6236CB51-B6BD-4C84-8661-996E9A4479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263"/>
              <a:ext cx="336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07" name="Line 131">
              <a:extLst>
                <a:ext uri="{FF2B5EF4-FFF2-40B4-BE49-F238E27FC236}">
                  <a16:creationId xmlns:a16="http://schemas.microsoft.com/office/drawing/2014/main" id="{C27E0187-A47C-4441-878D-5DFAAF517B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141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08" name="Line 132">
              <a:extLst>
                <a:ext uri="{FF2B5EF4-FFF2-40B4-BE49-F238E27FC236}">
                  <a16:creationId xmlns:a16="http://schemas.microsoft.com/office/drawing/2014/main" id="{22B19EA1-556D-499C-B00A-1C260965D3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222"/>
              <a:ext cx="240" cy="2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09" name="Line 133">
              <a:extLst>
                <a:ext uri="{FF2B5EF4-FFF2-40B4-BE49-F238E27FC236}">
                  <a16:creationId xmlns:a16="http://schemas.microsoft.com/office/drawing/2014/main" id="{61C3C900-D838-4732-B0A0-B05004F532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158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10" name="Line 134">
              <a:extLst>
                <a:ext uri="{FF2B5EF4-FFF2-40B4-BE49-F238E27FC236}">
                  <a16:creationId xmlns:a16="http://schemas.microsoft.com/office/drawing/2014/main" id="{71F4686B-060F-4EE9-A5CC-43A46BCDE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58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11" name="Line 135">
              <a:extLst>
                <a:ext uri="{FF2B5EF4-FFF2-40B4-BE49-F238E27FC236}">
                  <a16:creationId xmlns:a16="http://schemas.microsoft.com/office/drawing/2014/main" id="{4EA10AE2-8C73-4589-A4C2-A056E16F4E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589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412" name="Line 136">
              <a:extLst>
                <a:ext uri="{FF2B5EF4-FFF2-40B4-BE49-F238E27FC236}">
                  <a16:creationId xmlns:a16="http://schemas.microsoft.com/office/drawing/2014/main" id="{92BA0420-A65D-438B-AF03-528334457F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0" y="1752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44413" name="AutoShape 137">
              <a:extLst>
                <a:ext uri="{FF2B5EF4-FFF2-40B4-BE49-F238E27FC236}">
                  <a16:creationId xmlns:a16="http://schemas.microsoft.com/office/drawing/2014/main" id="{5D41155B-6ED7-479E-ABD1-62BCB67096A6}"/>
                </a:ext>
              </a:extLst>
            </p:cNvPr>
            <p:cNvCxnSpPr>
              <a:cxnSpLocks noChangeShapeType="1"/>
              <a:stCxn id="144398" idx="4"/>
              <a:endCxn id="144399" idx="4"/>
            </p:cNvCxnSpPr>
            <p:nvPr/>
          </p:nvCxnSpPr>
          <p:spPr bwMode="auto">
            <a:xfrm rot="16200000" flipH="1">
              <a:off x="2543" y="121"/>
              <a:ext cx="1" cy="3264"/>
            </a:xfrm>
            <a:prstGeom prst="curvedConnector3">
              <a:avLst>
                <a:gd name="adj1" fmla="val 59499986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414" name="AutoShape 138">
              <a:extLst>
                <a:ext uri="{FF2B5EF4-FFF2-40B4-BE49-F238E27FC236}">
                  <a16:creationId xmlns:a16="http://schemas.microsoft.com/office/drawing/2014/main" id="{DBE468AE-5D53-4DDC-B04C-8D9158B70613}"/>
                </a:ext>
              </a:extLst>
            </p:cNvPr>
            <p:cNvCxnSpPr>
              <a:cxnSpLocks noChangeShapeType="1"/>
              <a:stCxn id="144396" idx="0"/>
              <a:endCxn id="144400" idx="0"/>
            </p:cNvCxnSpPr>
            <p:nvPr/>
          </p:nvCxnSpPr>
          <p:spPr bwMode="auto">
            <a:xfrm rot="-5400000" flipH="1" flipV="1">
              <a:off x="2615" y="443"/>
              <a:ext cx="1" cy="1968"/>
            </a:xfrm>
            <a:prstGeom prst="curvedConnector3">
              <a:avLst>
                <a:gd name="adj1" fmla="val -59400014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4415" name="Text Box 139">
              <a:extLst>
                <a:ext uri="{FF2B5EF4-FFF2-40B4-BE49-F238E27FC236}">
                  <a16:creationId xmlns:a16="http://schemas.microsoft.com/office/drawing/2014/main" id="{187DB4AF-D9C8-4E16-B998-76BA8777FB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0</a:t>
              </a:r>
            </a:p>
          </p:txBody>
        </p:sp>
        <p:sp>
          <p:nvSpPr>
            <p:cNvPr id="144416" name="Text Box 140">
              <a:extLst>
                <a:ext uri="{FF2B5EF4-FFF2-40B4-BE49-F238E27FC236}">
                  <a16:creationId xmlns:a16="http://schemas.microsoft.com/office/drawing/2014/main" id="{AEF5AABE-24D4-4B42-A30E-39CA483AD1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</a:t>
              </a:r>
            </a:p>
          </p:txBody>
        </p:sp>
        <p:sp>
          <p:nvSpPr>
            <p:cNvPr id="144417" name="Text Box 141">
              <a:extLst>
                <a:ext uri="{FF2B5EF4-FFF2-40B4-BE49-F238E27FC236}">
                  <a16:creationId xmlns:a16="http://schemas.microsoft.com/office/drawing/2014/main" id="{7F8DB486-4F63-4E90-9CA4-011B94BABD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059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2</a:t>
              </a:r>
            </a:p>
          </p:txBody>
        </p:sp>
        <p:sp>
          <p:nvSpPr>
            <p:cNvPr id="144418" name="Text Box 142">
              <a:extLst>
                <a:ext uri="{FF2B5EF4-FFF2-40B4-BE49-F238E27FC236}">
                  <a16:creationId xmlns:a16="http://schemas.microsoft.com/office/drawing/2014/main" id="{C5FAE8CC-17C6-400B-9101-98DEC1679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059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3</a:t>
              </a:r>
            </a:p>
          </p:txBody>
        </p:sp>
        <p:sp>
          <p:nvSpPr>
            <p:cNvPr id="144419" name="Text Box 143">
              <a:extLst>
                <a:ext uri="{FF2B5EF4-FFF2-40B4-BE49-F238E27FC236}">
                  <a16:creationId xmlns:a16="http://schemas.microsoft.com/office/drawing/2014/main" id="{257DAC84-A7F1-4BF8-A276-63AE15EA5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9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5</a:t>
              </a:r>
            </a:p>
          </p:txBody>
        </p:sp>
        <p:sp>
          <p:nvSpPr>
            <p:cNvPr id="144420" name="Text Box 144">
              <a:extLst>
                <a:ext uri="{FF2B5EF4-FFF2-40B4-BE49-F238E27FC236}">
                  <a16:creationId xmlns:a16="http://schemas.microsoft.com/office/drawing/2014/main" id="{14327EFD-E854-4798-879E-9D0E142E63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9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4</a:t>
              </a:r>
            </a:p>
          </p:txBody>
        </p:sp>
        <p:sp>
          <p:nvSpPr>
            <p:cNvPr id="144421" name="Text Box 145">
              <a:extLst>
                <a:ext uri="{FF2B5EF4-FFF2-40B4-BE49-F238E27FC236}">
                  <a16:creationId xmlns:a16="http://schemas.microsoft.com/office/drawing/2014/main" id="{FF129550-CAE1-49C7-BD79-5F356A79EA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6</a:t>
              </a:r>
            </a:p>
          </p:txBody>
        </p:sp>
        <p:sp>
          <p:nvSpPr>
            <p:cNvPr id="144422" name="Text Box 146">
              <a:extLst>
                <a:ext uri="{FF2B5EF4-FFF2-40B4-BE49-F238E27FC236}">
                  <a16:creationId xmlns:a16="http://schemas.microsoft.com/office/drawing/2014/main" id="{886B6651-A363-4185-B2D9-44C20DCE4B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7</a:t>
              </a:r>
            </a:p>
          </p:txBody>
        </p:sp>
        <p:sp>
          <p:nvSpPr>
            <p:cNvPr id="144423" name="Text Box 147">
              <a:extLst>
                <a:ext uri="{FF2B5EF4-FFF2-40B4-BE49-F238E27FC236}">
                  <a16:creationId xmlns:a16="http://schemas.microsoft.com/office/drawing/2014/main" id="{3201877A-FF6C-45CA-A880-CCAE56A76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8</a:t>
              </a:r>
            </a:p>
          </p:txBody>
        </p:sp>
        <p:sp>
          <p:nvSpPr>
            <p:cNvPr id="144424" name="Text Box 148">
              <a:extLst>
                <a:ext uri="{FF2B5EF4-FFF2-40B4-BE49-F238E27FC236}">
                  <a16:creationId xmlns:a16="http://schemas.microsoft.com/office/drawing/2014/main" id="{0FD2E616-7094-41EF-B9A4-6D78C8F5B7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9</a:t>
              </a:r>
            </a:p>
          </p:txBody>
        </p:sp>
        <p:sp>
          <p:nvSpPr>
            <p:cNvPr id="144425" name="Text Box 149">
              <a:extLst>
                <a:ext uri="{FF2B5EF4-FFF2-40B4-BE49-F238E27FC236}">
                  <a16:creationId xmlns:a16="http://schemas.microsoft.com/office/drawing/2014/main" id="{D03B4D4F-BC2F-4544-B5A2-8BB0EF5304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192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10</a:t>
              </a:r>
            </a:p>
          </p:txBody>
        </p:sp>
        <p:sp>
          <p:nvSpPr>
            <p:cNvPr id="144426" name="Text Box 150">
              <a:extLst>
                <a:ext uri="{FF2B5EF4-FFF2-40B4-BE49-F238E27FC236}">
                  <a16:creationId xmlns:a16="http://schemas.microsoft.com/office/drawing/2014/main" id="{903C907B-82EE-4E00-A52E-6BC2045E7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36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4427" name="Text Box 151">
              <a:extLst>
                <a:ext uri="{FF2B5EF4-FFF2-40B4-BE49-F238E27FC236}">
                  <a16:creationId xmlns:a16="http://schemas.microsoft.com/office/drawing/2014/main" id="{CC96E6F5-E38F-4805-913B-A62A6B8137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1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4428" name="Text Box 152">
              <a:extLst>
                <a:ext uri="{FF2B5EF4-FFF2-40B4-BE49-F238E27FC236}">
                  <a16:creationId xmlns:a16="http://schemas.microsoft.com/office/drawing/2014/main" id="{77CC8CF3-8CED-48C7-BB0D-05B89A8AFC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72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4429" name="Text Box 153">
              <a:extLst>
                <a:ext uri="{FF2B5EF4-FFF2-40B4-BE49-F238E27FC236}">
                  <a16:creationId xmlns:a16="http://schemas.microsoft.com/office/drawing/2014/main" id="{3B4DE944-456E-458F-A785-CD16BDC2F5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09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4430" name="Text Box 154">
              <a:extLst>
                <a:ext uri="{FF2B5EF4-FFF2-40B4-BE49-F238E27FC236}">
                  <a16:creationId xmlns:a16="http://schemas.microsoft.com/office/drawing/2014/main" id="{CF2D9F3B-182F-4185-A1E7-C506AF8733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7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4431" name="Text Box 155">
              <a:extLst>
                <a:ext uri="{FF2B5EF4-FFF2-40B4-BE49-F238E27FC236}">
                  <a16:creationId xmlns:a16="http://schemas.microsoft.com/office/drawing/2014/main" id="{03516A0C-930D-40A7-AAC7-1AD102D479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115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4432" name="Text Box 156">
              <a:extLst>
                <a:ext uri="{FF2B5EF4-FFF2-40B4-BE49-F238E27FC236}">
                  <a16:creationId xmlns:a16="http://schemas.microsoft.com/office/drawing/2014/main" id="{CC061016-89B5-4C6A-8FD1-945B827282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79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4433" name="Text Box 157">
              <a:extLst>
                <a:ext uri="{FF2B5EF4-FFF2-40B4-BE49-F238E27FC236}">
                  <a16:creationId xmlns:a16="http://schemas.microsoft.com/office/drawing/2014/main" id="{70513ED6-4164-4AA6-817D-CC101594A6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3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4434" name="Text Box 158">
              <a:extLst>
                <a:ext uri="{FF2B5EF4-FFF2-40B4-BE49-F238E27FC236}">
                  <a16:creationId xmlns:a16="http://schemas.microsoft.com/office/drawing/2014/main" id="{EAB6EDBB-4395-49E6-B6B7-F0F17216E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3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a</a:t>
              </a:r>
              <a:endParaRPr kumimoji="0" lang="en-US" altLang="zh-CN" sz="2400"/>
            </a:p>
          </p:txBody>
        </p:sp>
        <p:sp>
          <p:nvSpPr>
            <p:cNvPr id="144435" name="Text Box 159">
              <a:extLst>
                <a:ext uri="{FF2B5EF4-FFF2-40B4-BE49-F238E27FC236}">
                  <a16:creationId xmlns:a16="http://schemas.microsoft.com/office/drawing/2014/main" id="{5DB319A5-205E-4367-9EEF-0575A5EB8D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91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a</a:t>
              </a:r>
              <a:endParaRPr kumimoji="0" lang="en-US" altLang="zh-CN" sz="2400"/>
            </a:p>
          </p:txBody>
        </p:sp>
        <p:sp>
          <p:nvSpPr>
            <p:cNvPr id="144436" name="Text Box 160">
              <a:extLst>
                <a:ext uri="{FF2B5EF4-FFF2-40B4-BE49-F238E27FC236}">
                  <a16:creationId xmlns:a16="http://schemas.microsoft.com/office/drawing/2014/main" id="{94B1A465-E039-4A2F-BCEE-AF2256C16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809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4437" name="Text Box 161">
              <a:extLst>
                <a:ext uri="{FF2B5EF4-FFF2-40B4-BE49-F238E27FC236}">
                  <a16:creationId xmlns:a16="http://schemas.microsoft.com/office/drawing/2014/main" id="{93E16D7B-0C76-465B-95EA-B5E167396F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3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4438" name="Text Box 162">
              <a:extLst>
                <a:ext uri="{FF2B5EF4-FFF2-40B4-BE49-F238E27FC236}">
                  <a16:creationId xmlns:a16="http://schemas.microsoft.com/office/drawing/2014/main" id="{87D3316C-B869-40D1-9792-3CFAA2EC1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7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4439" name="Text Box 163">
              <a:extLst>
                <a:ext uri="{FF2B5EF4-FFF2-40B4-BE49-F238E27FC236}">
                  <a16:creationId xmlns:a16="http://schemas.microsoft.com/office/drawing/2014/main" id="{905C445B-ADB7-41A0-BE08-893779908A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360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start</a:t>
              </a:r>
              <a:endParaRPr kumimoji="0" lang="en-US" altLang="zh-CN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6949D0C8-0FDC-42C6-A271-EC3788671F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3.15</a:t>
            </a:r>
            <a:r>
              <a:rPr lang="zh-CN" altLang="en-US">
                <a:sym typeface="Symbol" panose="05050102010706020507" pitchFamily="18" charset="2"/>
              </a:rPr>
              <a:t>：</a:t>
            </a:r>
            <a:r>
              <a:rPr kumimoji="0" lang="zh-CN" altLang="en-US">
                <a:sym typeface="Symbol" panose="05050102010706020507" pitchFamily="18" charset="2"/>
              </a:rPr>
              <a:t>（续）</a:t>
            </a:r>
          </a:p>
        </p:txBody>
      </p:sp>
      <p:grpSp>
        <p:nvGrpSpPr>
          <p:cNvPr id="2" name="Group 165">
            <a:extLst>
              <a:ext uri="{FF2B5EF4-FFF2-40B4-BE49-F238E27FC236}">
                <a16:creationId xmlns:a16="http://schemas.microsoft.com/office/drawing/2014/main" id="{BDE79E7D-6325-4BB3-BEF2-5E89B6BE7E1B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733800"/>
            <a:ext cx="7543800" cy="2819400"/>
            <a:chOff x="672" y="2448"/>
            <a:chExt cx="4752" cy="1776"/>
          </a:xfrm>
        </p:grpSpPr>
        <p:sp>
          <p:nvSpPr>
            <p:cNvPr id="145464" name="Rectangle 3">
              <a:extLst>
                <a:ext uri="{FF2B5EF4-FFF2-40B4-BE49-F238E27FC236}">
                  <a16:creationId xmlns:a16="http://schemas.microsoft.com/office/drawing/2014/main" id="{61A4AAE0-8E20-4429-8702-323E6B625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448"/>
              <a:ext cx="4752" cy="177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5465" name="Text Box 4">
              <a:extLst>
                <a:ext uri="{FF2B5EF4-FFF2-40B4-BE49-F238E27FC236}">
                  <a16:creationId xmlns:a16="http://schemas.microsoft.com/office/drawing/2014/main" id="{0FCB490F-350B-4BD5-8687-DBFC269B59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448"/>
              <a:ext cx="4752" cy="1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000"/>
                <a:t>第五步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u="sng">
                  <a:solidFill>
                    <a:srgbClr val="A50021"/>
                  </a:solidFill>
                </a:rPr>
                <a:t>a</a:t>
              </a:r>
              <a:r>
                <a:rPr kumimoji="0" lang="en-US" altLang="zh-CN" sz="2000"/>
                <a:t> :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-closure(δ(D,a)) =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-closure(δ({1,2,4,5,6,7,9},a))}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FF3300"/>
                  </a:solidFill>
                  <a:sym typeface="Symbol" panose="05050102010706020507" pitchFamily="18" charset="2"/>
                </a:rPr>
                <a:t>= {1,2,3,4,6,7,8} = B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3333CC"/>
                  </a:solidFill>
                  <a:sym typeface="Symbol" panose="05050102010706020507" pitchFamily="18" charset="2"/>
                </a:rPr>
                <a:t>Dtran[D,a] = B</a:t>
              </a:r>
              <a:endParaRPr kumimoji="0" lang="en-US" altLang="zh-CN" sz="2000">
                <a:solidFill>
                  <a:srgbClr val="00CC00"/>
                </a:solidFill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u="sng">
                  <a:solidFill>
                    <a:srgbClr val="A50021"/>
                  </a:solidFill>
                </a:rPr>
                <a:t>b</a:t>
              </a:r>
              <a:r>
                <a:rPr kumimoji="0" lang="en-US" altLang="zh-CN" sz="2000"/>
                <a:t> :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-closure(δ(D,b)) =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-closure(δ({1,2,4,5,6,7,9},b))}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FF3300"/>
                  </a:solidFill>
                  <a:sym typeface="Symbol" panose="05050102010706020507" pitchFamily="18" charset="2"/>
                </a:rPr>
                <a:t>= {1,2,4,5,6,7,10} = E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3333CC"/>
                  </a:solidFill>
                  <a:sym typeface="Symbol" panose="05050102010706020507" pitchFamily="18" charset="2"/>
                </a:rPr>
                <a:t>Dtran[D,b] = E</a:t>
              </a:r>
            </a:p>
          </p:txBody>
        </p:sp>
      </p:grpSp>
      <p:grpSp>
        <p:nvGrpSpPr>
          <p:cNvPr id="145412" name="Group 167">
            <a:extLst>
              <a:ext uri="{FF2B5EF4-FFF2-40B4-BE49-F238E27FC236}">
                <a16:creationId xmlns:a16="http://schemas.microsoft.com/office/drawing/2014/main" id="{3D527F51-BCCB-4AFB-AE16-1847185D6312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219200"/>
            <a:ext cx="8534400" cy="2562225"/>
            <a:chOff x="192" y="768"/>
            <a:chExt cx="5376" cy="1614"/>
          </a:xfrm>
        </p:grpSpPr>
        <p:sp>
          <p:nvSpPr>
            <p:cNvPr id="145413" name="Oval 113">
              <a:extLst>
                <a:ext uri="{FF2B5EF4-FFF2-40B4-BE49-F238E27FC236}">
                  <a16:creationId xmlns:a16="http://schemas.microsoft.com/office/drawing/2014/main" id="{808B4494-753B-4368-9A80-6E20E0226B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91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5414" name="Oval 114">
              <a:extLst>
                <a:ext uri="{FF2B5EF4-FFF2-40B4-BE49-F238E27FC236}">
                  <a16:creationId xmlns:a16="http://schemas.microsoft.com/office/drawing/2014/main" id="{256C2A61-98B3-43E7-A4E9-EF71FDE25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1957"/>
              <a:ext cx="288" cy="24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5415" name="Oval 115">
              <a:extLst>
                <a:ext uri="{FF2B5EF4-FFF2-40B4-BE49-F238E27FC236}">
                  <a16:creationId xmlns:a16="http://schemas.microsoft.com/office/drawing/2014/main" id="{836C2664-66F6-4204-8391-B5D521D6EB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875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5416" name="Oval 116">
              <a:extLst>
                <a:ext uri="{FF2B5EF4-FFF2-40B4-BE49-F238E27FC236}">
                  <a16:creationId xmlns:a16="http://schemas.microsoft.com/office/drawing/2014/main" id="{8D8458B8-CFA3-400A-9091-700835694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977"/>
              <a:ext cx="384" cy="32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5417" name="Oval 117">
              <a:extLst>
                <a:ext uri="{FF2B5EF4-FFF2-40B4-BE49-F238E27FC236}">
                  <a16:creationId xmlns:a16="http://schemas.microsoft.com/office/drawing/2014/main" id="{593F8EBF-89BE-47CC-A513-B961BDEC8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5418" name="Oval 118">
              <a:extLst>
                <a:ext uri="{FF2B5EF4-FFF2-40B4-BE49-F238E27FC236}">
                  <a16:creationId xmlns:a16="http://schemas.microsoft.com/office/drawing/2014/main" id="{0E8FB43F-58AC-4910-8D8D-AE3C7CDF4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5419" name="Oval 119">
              <a:extLst>
                <a:ext uri="{FF2B5EF4-FFF2-40B4-BE49-F238E27FC236}">
                  <a16:creationId xmlns:a16="http://schemas.microsoft.com/office/drawing/2014/main" id="{DE9A885A-9479-4BA2-B5CD-82DC2D47EE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875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5420" name="Oval 120">
              <a:extLst>
                <a:ext uri="{FF2B5EF4-FFF2-40B4-BE49-F238E27FC236}">
                  <a16:creationId xmlns:a16="http://schemas.microsoft.com/office/drawing/2014/main" id="{A9F7E0A5-8FFE-4856-BFF1-430C9105D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5421" name="Oval 121">
              <a:extLst>
                <a:ext uri="{FF2B5EF4-FFF2-40B4-BE49-F238E27FC236}">
                  <a16:creationId xmlns:a16="http://schemas.microsoft.com/office/drawing/2014/main" id="{F639240B-CA6E-4A25-9F7B-F98ED13CC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977"/>
              <a:ext cx="384" cy="32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5422" name="Oval 122">
              <a:extLst>
                <a:ext uri="{FF2B5EF4-FFF2-40B4-BE49-F238E27FC236}">
                  <a16:creationId xmlns:a16="http://schemas.microsoft.com/office/drawing/2014/main" id="{FE37057E-C0C1-4711-9A96-3517D5036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5423" name="Oval 123">
              <a:extLst>
                <a:ext uri="{FF2B5EF4-FFF2-40B4-BE49-F238E27FC236}">
                  <a16:creationId xmlns:a16="http://schemas.microsoft.com/office/drawing/2014/main" id="{F3608A51-681A-4FB1-98A9-0247E3B1E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5424" name="Oval 124">
              <a:extLst>
                <a:ext uri="{FF2B5EF4-FFF2-40B4-BE49-F238E27FC236}">
                  <a16:creationId xmlns:a16="http://schemas.microsoft.com/office/drawing/2014/main" id="{BF6F9B7D-3815-4177-9EF4-77D4903699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5425" name="Line 125">
              <a:extLst>
                <a:ext uri="{FF2B5EF4-FFF2-40B4-BE49-F238E27FC236}">
                  <a16:creationId xmlns:a16="http://schemas.microsoft.com/office/drawing/2014/main" id="{5A52A772-7B0E-4670-AC19-8720E4CB4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712"/>
              <a:ext cx="432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26" name="Line 126">
              <a:extLst>
                <a:ext uri="{FF2B5EF4-FFF2-40B4-BE49-F238E27FC236}">
                  <a16:creationId xmlns:a16="http://schemas.microsoft.com/office/drawing/2014/main" id="{D25AC59E-B204-4B85-8984-37BA429E5E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3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27" name="Line 127">
              <a:extLst>
                <a:ext uri="{FF2B5EF4-FFF2-40B4-BE49-F238E27FC236}">
                  <a16:creationId xmlns:a16="http://schemas.microsoft.com/office/drawing/2014/main" id="{714B9ACD-02E8-4FE4-8881-011E941521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1712"/>
              <a:ext cx="192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28" name="Line 128">
              <a:extLst>
                <a:ext uri="{FF2B5EF4-FFF2-40B4-BE49-F238E27FC236}">
                  <a16:creationId xmlns:a16="http://schemas.microsoft.com/office/drawing/2014/main" id="{E2C293FE-80D3-448A-8F33-3BB00048EE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589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29" name="Line 129">
              <a:extLst>
                <a:ext uri="{FF2B5EF4-FFF2-40B4-BE49-F238E27FC236}">
                  <a16:creationId xmlns:a16="http://schemas.microsoft.com/office/drawing/2014/main" id="{367CCABA-A377-4EB1-BE5A-3CE05A50A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589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30" name="Line 130">
              <a:extLst>
                <a:ext uri="{FF2B5EF4-FFF2-40B4-BE49-F238E27FC236}">
                  <a16:creationId xmlns:a16="http://schemas.microsoft.com/office/drawing/2014/main" id="{6C37CA09-C822-45F2-9521-942A7B9BEE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263"/>
              <a:ext cx="336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31" name="Line 131">
              <a:extLst>
                <a:ext uri="{FF2B5EF4-FFF2-40B4-BE49-F238E27FC236}">
                  <a16:creationId xmlns:a16="http://schemas.microsoft.com/office/drawing/2014/main" id="{56B8A67F-4488-4588-97FE-6DFBFA2F1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141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32" name="Line 132">
              <a:extLst>
                <a:ext uri="{FF2B5EF4-FFF2-40B4-BE49-F238E27FC236}">
                  <a16:creationId xmlns:a16="http://schemas.microsoft.com/office/drawing/2014/main" id="{DC06CE4E-745E-4ACD-993D-15DFB51E42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222"/>
              <a:ext cx="240" cy="2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33" name="Line 133">
              <a:extLst>
                <a:ext uri="{FF2B5EF4-FFF2-40B4-BE49-F238E27FC236}">
                  <a16:creationId xmlns:a16="http://schemas.microsoft.com/office/drawing/2014/main" id="{AE54A34E-9156-4353-BA69-104E26A0F3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158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34" name="Line 134">
              <a:extLst>
                <a:ext uri="{FF2B5EF4-FFF2-40B4-BE49-F238E27FC236}">
                  <a16:creationId xmlns:a16="http://schemas.microsoft.com/office/drawing/2014/main" id="{4B984C2F-0D21-47F7-91EF-E938A76CE5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58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35" name="Line 135">
              <a:extLst>
                <a:ext uri="{FF2B5EF4-FFF2-40B4-BE49-F238E27FC236}">
                  <a16:creationId xmlns:a16="http://schemas.microsoft.com/office/drawing/2014/main" id="{AA2B44CB-8BDD-4128-A378-53019B63C3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589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436" name="Line 136">
              <a:extLst>
                <a:ext uri="{FF2B5EF4-FFF2-40B4-BE49-F238E27FC236}">
                  <a16:creationId xmlns:a16="http://schemas.microsoft.com/office/drawing/2014/main" id="{7C7AEC49-46D5-4A47-BDB0-4A57EDDC5C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0" y="1752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45437" name="AutoShape 137">
              <a:extLst>
                <a:ext uri="{FF2B5EF4-FFF2-40B4-BE49-F238E27FC236}">
                  <a16:creationId xmlns:a16="http://schemas.microsoft.com/office/drawing/2014/main" id="{147759F4-9D31-46DA-AC4B-5CB3B11D9DE9}"/>
                </a:ext>
              </a:extLst>
            </p:cNvPr>
            <p:cNvCxnSpPr>
              <a:cxnSpLocks noChangeShapeType="1"/>
              <a:stCxn id="145422" idx="4"/>
              <a:endCxn id="145423" idx="4"/>
            </p:cNvCxnSpPr>
            <p:nvPr/>
          </p:nvCxnSpPr>
          <p:spPr bwMode="auto">
            <a:xfrm rot="16200000" flipH="1">
              <a:off x="2543" y="121"/>
              <a:ext cx="1" cy="3264"/>
            </a:xfrm>
            <a:prstGeom prst="curvedConnector3">
              <a:avLst>
                <a:gd name="adj1" fmla="val 59499986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5438" name="AutoShape 138">
              <a:extLst>
                <a:ext uri="{FF2B5EF4-FFF2-40B4-BE49-F238E27FC236}">
                  <a16:creationId xmlns:a16="http://schemas.microsoft.com/office/drawing/2014/main" id="{A52F57CE-C961-4F3E-9B3D-2C9ADCBB1A1E}"/>
                </a:ext>
              </a:extLst>
            </p:cNvPr>
            <p:cNvCxnSpPr>
              <a:cxnSpLocks noChangeShapeType="1"/>
              <a:stCxn id="145420" idx="0"/>
              <a:endCxn id="145424" idx="0"/>
            </p:cNvCxnSpPr>
            <p:nvPr/>
          </p:nvCxnSpPr>
          <p:spPr bwMode="auto">
            <a:xfrm rot="-5400000" flipH="1" flipV="1">
              <a:off x="2615" y="443"/>
              <a:ext cx="1" cy="1968"/>
            </a:xfrm>
            <a:prstGeom prst="curvedConnector3">
              <a:avLst>
                <a:gd name="adj1" fmla="val -59400014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5439" name="Text Box 139">
              <a:extLst>
                <a:ext uri="{FF2B5EF4-FFF2-40B4-BE49-F238E27FC236}">
                  <a16:creationId xmlns:a16="http://schemas.microsoft.com/office/drawing/2014/main" id="{F0F81735-3646-4FD2-9463-1C4925D22B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0</a:t>
              </a:r>
            </a:p>
          </p:txBody>
        </p:sp>
        <p:sp>
          <p:nvSpPr>
            <p:cNvPr id="145440" name="Text Box 140">
              <a:extLst>
                <a:ext uri="{FF2B5EF4-FFF2-40B4-BE49-F238E27FC236}">
                  <a16:creationId xmlns:a16="http://schemas.microsoft.com/office/drawing/2014/main" id="{7A624924-69B3-48BD-8C1B-C1932C4488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</a:t>
              </a:r>
            </a:p>
          </p:txBody>
        </p:sp>
        <p:sp>
          <p:nvSpPr>
            <p:cNvPr id="145441" name="Text Box 141">
              <a:extLst>
                <a:ext uri="{FF2B5EF4-FFF2-40B4-BE49-F238E27FC236}">
                  <a16:creationId xmlns:a16="http://schemas.microsoft.com/office/drawing/2014/main" id="{381AF2C4-2061-4A68-9771-A1D86F8B5C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059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2</a:t>
              </a:r>
            </a:p>
          </p:txBody>
        </p:sp>
        <p:sp>
          <p:nvSpPr>
            <p:cNvPr id="145442" name="Text Box 142">
              <a:extLst>
                <a:ext uri="{FF2B5EF4-FFF2-40B4-BE49-F238E27FC236}">
                  <a16:creationId xmlns:a16="http://schemas.microsoft.com/office/drawing/2014/main" id="{413177AE-9EEC-4777-AE91-85AEEFED4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059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3</a:t>
              </a:r>
            </a:p>
          </p:txBody>
        </p:sp>
        <p:sp>
          <p:nvSpPr>
            <p:cNvPr id="145443" name="Text Box 143">
              <a:extLst>
                <a:ext uri="{FF2B5EF4-FFF2-40B4-BE49-F238E27FC236}">
                  <a16:creationId xmlns:a16="http://schemas.microsoft.com/office/drawing/2014/main" id="{D39FDD10-EE08-477E-BEA8-212A34E5D6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9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5</a:t>
              </a:r>
            </a:p>
          </p:txBody>
        </p:sp>
        <p:sp>
          <p:nvSpPr>
            <p:cNvPr id="145444" name="Text Box 144">
              <a:extLst>
                <a:ext uri="{FF2B5EF4-FFF2-40B4-BE49-F238E27FC236}">
                  <a16:creationId xmlns:a16="http://schemas.microsoft.com/office/drawing/2014/main" id="{4488EF64-D234-46AF-A877-DB0D5A26C8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9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4</a:t>
              </a:r>
            </a:p>
          </p:txBody>
        </p:sp>
        <p:sp>
          <p:nvSpPr>
            <p:cNvPr id="145445" name="Text Box 145">
              <a:extLst>
                <a:ext uri="{FF2B5EF4-FFF2-40B4-BE49-F238E27FC236}">
                  <a16:creationId xmlns:a16="http://schemas.microsoft.com/office/drawing/2014/main" id="{2D0E684B-E58F-4612-8086-9C6D4C223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6</a:t>
              </a:r>
            </a:p>
          </p:txBody>
        </p:sp>
        <p:sp>
          <p:nvSpPr>
            <p:cNvPr id="145446" name="Text Box 146">
              <a:extLst>
                <a:ext uri="{FF2B5EF4-FFF2-40B4-BE49-F238E27FC236}">
                  <a16:creationId xmlns:a16="http://schemas.microsoft.com/office/drawing/2014/main" id="{FB4A2F10-3108-4A54-96ED-B9A693F880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7</a:t>
              </a:r>
            </a:p>
          </p:txBody>
        </p:sp>
        <p:sp>
          <p:nvSpPr>
            <p:cNvPr id="145447" name="Text Box 147">
              <a:extLst>
                <a:ext uri="{FF2B5EF4-FFF2-40B4-BE49-F238E27FC236}">
                  <a16:creationId xmlns:a16="http://schemas.microsoft.com/office/drawing/2014/main" id="{A1CC3A34-9D95-4DD9-89A0-F708E1AFA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8</a:t>
              </a:r>
            </a:p>
          </p:txBody>
        </p:sp>
        <p:sp>
          <p:nvSpPr>
            <p:cNvPr id="145448" name="Text Box 148">
              <a:extLst>
                <a:ext uri="{FF2B5EF4-FFF2-40B4-BE49-F238E27FC236}">
                  <a16:creationId xmlns:a16="http://schemas.microsoft.com/office/drawing/2014/main" id="{015ABCF5-0D9C-493C-8F62-A8A80C7093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9</a:t>
              </a:r>
            </a:p>
          </p:txBody>
        </p:sp>
        <p:sp>
          <p:nvSpPr>
            <p:cNvPr id="145449" name="Text Box 149">
              <a:extLst>
                <a:ext uri="{FF2B5EF4-FFF2-40B4-BE49-F238E27FC236}">
                  <a16:creationId xmlns:a16="http://schemas.microsoft.com/office/drawing/2014/main" id="{70D1F1CD-A752-4313-9DDC-514FF1CDF2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192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10</a:t>
              </a:r>
            </a:p>
          </p:txBody>
        </p:sp>
        <p:sp>
          <p:nvSpPr>
            <p:cNvPr id="145450" name="Text Box 150">
              <a:extLst>
                <a:ext uri="{FF2B5EF4-FFF2-40B4-BE49-F238E27FC236}">
                  <a16:creationId xmlns:a16="http://schemas.microsoft.com/office/drawing/2014/main" id="{90B36DFD-5E7D-4C9E-99DD-33D1242242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36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5451" name="Text Box 151">
              <a:extLst>
                <a:ext uri="{FF2B5EF4-FFF2-40B4-BE49-F238E27FC236}">
                  <a16:creationId xmlns:a16="http://schemas.microsoft.com/office/drawing/2014/main" id="{B9538EE6-BC8B-4862-A08C-8D9E89D95F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1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5452" name="Text Box 152">
              <a:extLst>
                <a:ext uri="{FF2B5EF4-FFF2-40B4-BE49-F238E27FC236}">
                  <a16:creationId xmlns:a16="http://schemas.microsoft.com/office/drawing/2014/main" id="{A396436C-1DA0-403C-A99A-88E133ACE9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72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5453" name="Text Box 153">
              <a:extLst>
                <a:ext uri="{FF2B5EF4-FFF2-40B4-BE49-F238E27FC236}">
                  <a16:creationId xmlns:a16="http://schemas.microsoft.com/office/drawing/2014/main" id="{F455AF28-C608-41CB-88B5-EB37C59BCD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09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5454" name="Text Box 154">
              <a:extLst>
                <a:ext uri="{FF2B5EF4-FFF2-40B4-BE49-F238E27FC236}">
                  <a16:creationId xmlns:a16="http://schemas.microsoft.com/office/drawing/2014/main" id="{EBF0C465-7E9E-433B-892C-D3164077F1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7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5455" name="Text Box 155">
              <a:extLst>
                <a:ext uri="{FF2B5EF4-FFF2-40B4-BE49-F238E27FC236}">
                  <a16:creationId xmlns:a16="http://schemas.microsoft.com/office/drawing/2014/main" id="{5175448B-BC73-41D2-9A60-4D1692A4BD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115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5456" name="Text Box 156">
              <a:extLst>
                <a:ext uri="{FF2B5EF4-FFF2-40B4-BE49-F238E27FC236}">
                  <a16:creationId xmlns:a16="http://schemas.microsoft.com/office/drawing/2014/main" id="{C672ACC0-E3BC-4B27-8F4E-1A74B007D1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79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5457" name="Text Box 157">
              <a:extLst>
                <a:ext uri="{FF2B5EF4-FFF2-40B4-BE49-F238E27FC236}">
                  <a16:creationId xmlns:a16="http://schemas.microsoft.com/office/drawing/2014/main" id="{C529A8E1-CB34-447E-B8AC-7D595D06C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3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5458" name="Text Box 158">
              <a:extLst>
                <a:ext uri="{FF2B5EF4-FFF2-40B4-BE49-F238E27FC236}">
                  <a16:creationId xmlns:a16="http://schemas.microsoft.com/office/drawing/2014/main" id="{29B9E8A5-FA55-47AB-BF2A-4E818302C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3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a</a:t>
              </a:r>
              <a:endParaRPr kumimoji="0" lang="en-US" altLang="zh-CN" sz="2400"/>
            </a:p>
          </p:txBody>
        </p:sp>
        <p:sp>
          <p:nvSpPr>
            <p:cNvPr id="145459" name="Text Box 159">
              <a:extLst>
                <a:ext uri="{FF2B5EF4-FFF2-40B4-BE49-F238E27FC236}">
                  <a16:creationId xmlns:a16="http://schemas.microsoft.com/office/drawing/2014/main" id="{A638E9B4-2503-46C2-85EF-E5070EF90F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91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a</a:t>
              </a:r>
              <a:endParaRPr kumimoji="0" lang="en-US" altLang="zh-CN" sz="2400"/>
            </a:p>
          </p:txBody>
        </p:sp>
        <p:sp>
          <p:nvSpPr>
            <p:cNvPr id="145460" name="Text Box 160">
              <a:extLst>
                <a:ext uri="{FF2B5EF4-FFF2-40B4-BE49-F238E27FC236}">
                  <a16:creationId xmlns:a16="http://schemas.microsoft.com/office/drawing/2014/main" id="{3D5E5FA4-6F79-4A73-BA7B-55AE7FF56D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809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5461" name="Text Box 161">
              <a:extLst>
                <a:ext uri="{FF2B5EF4-FFF2-40B4-BE49-F238E27FC236}">
                  <a16:creationId xmlns:a16="http://schemas.microsoft.com/office/drawing/2014/main" id="{CD6A5250-7C3A-4E44-8BF9-45F790D40D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3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5462" name="Text Box 162">
              <a:extLst>
                <a:ext uri="{FF2B5EF4-FFF2-40B4-BE49-F238E27FC236}">
                  <a16:creationId xmlns:a16="http://schemas.microsoft.com/office/drawing/2014/main" id="{8C1409BF-56B1-4714-BB40-26F1820187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7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5463" name="Text Box 163">
              <a:extLst>
                <a:ext uri="{FF2B5EF4-FFF2-40B4-BE49-F238E27FC236}">
                  <a16:creationId xmlns:a16="http://schemas.microsoft.com/office/drawing/2014/main" id="{B0D4C56F-2F8C-4636-B68F-EDCB8F699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360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start</a:t>
              </a:r>
              <a:endParaRPr kumimoji="0" lang="en-US" altLang="zh-CN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B7935DA3-9D42-432C-9456-1E3616FF8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3.15</a:t>
            </a:r>
            <a:r>
              <a:rPr lang="zh-CN" altLang="en-US">
                <a:sym typeface="Symbol" panose="05050102010706020507" pitchFamily="18" charset="2"/>
              </a:rPr>
              <a:t>：</a:t>
            </a:r>
            <a:r>
              <a:rPr kumimoji="0" lang="zh-CN" altLang="en-US">
                <a:sym typeface="Symbol" panose="05050102010706020507" pitchFamily="18" charset="2"/>
              </a:rPr>
              <a:t>（续）</a:t>
            </a:r>
          </a:p>
        </p:txBody>
      </p:sp>
      <p:grpSp>
        <p:nvGrpSpPr>
          <p:cNvPr id="2" name="Group 164">
            <a:extLst>
              <a:ext uri="{FF2B5EF4-FFF2-40B4-BE49-F238E27FC236}">
                <a16:creationId xmlns:a16="http://schemas.microsoft.com/office/drawing/2014/main" id="{F6EA6968-C758-43C8-8F79-0D38495C9476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3733800"/>
            <a:ext cx="7543800" cy="2686050"/>
            <a:chOff x="672" y="2580"/>
            <a:chExt cx="4752" cy="1692"/>
          </a:xfrm>
        </p:grpSpPr>
        <p:sp>
          <p:nvSpPr>
            <p:cNvPr id="146488" name="Rectangle 5">
              <a:extLst>
                <a:ext uri="{FF2B5EF4-FFF2-40B4-BE49-F238E27FC236}">
                  <a16:creationId xmlns:a16="http://schemas.microsoft.com/office/drawing/2014/main" id="{BBB0DAF9-647F-4D4C-8BDB-DEAA9AFE7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580"/>
              <a:ext cx="4752" cy="1692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6489" name="Text Box 6">
              <a:extLst>
                <a:ext uri="{FF2B5EF4-FFF2-40B4-BE49-F238E27FC236}">
                  <a16:creationId xmlns:a16="http://schemas.microsoft.com/office/drawing/2014/main" id="{C3A4406B-279E-40BF-8217-EEE6C9FF4B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2580"/>
              <a:ext cx="4752" cy="1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2000"/>
                <a:t>第六步</a:t>
              </a: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u="sng">
                  <a:solidFill>
                    <a:srgbClr val="A50021"/>
                  </a:solidFill>
                </a:rPr>
                <a:t>a</a:t>
              </a:r>
              <a:r>
                <a:rPr kumimoji="0" lang="en-US" altLang="zh-CN" sz="2000"/>
                <a:t> :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-closure(δ(E,a)) =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-closure(δ({1,2,4,5,6,7,10},a))}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FF3300"/>
                  </a:solidFill>
                  <a:sym typeface="Symbol" panose="05050102010706020507" pitchFamily="18" charset="2"/>
                </a:rPr>
                <a:t>= {1,2,3,4,6,7,8} = B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3333CC"/>
                  </a:solidFill>
                  <a:sym typeface="Symbol" panose="05050102010706020507" pitchFamily="18" charset="2"/>
                </a:rPr>
                <a:t>Dtran[E,a] = B</a:t>
              </a:r>
              <a:endParaRPr kumimoji="0" lang="en-US" altLang="zh-CN" sz="2000">
                <a:solidFill>
                  <a:srgbClr val="00CC00"/>
                </a:solidFill>
                <a:sym typeface="Symbol" panose="05050102010706020507" pitchFamily="18" charset="2"/>
              </a:endParaRPr>
            </a:p>
            <a:p>
              <a:pPr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 u="sng">
                  <a:solidFill>
                    <a:srgbClr val="A50021"/>
                  </a:solidFill>
                </a:rPr>
                <a:t>b</a:t>
              </a:r>
              <a:r>
                <a:rPr kumimoji="0" lang="en-US" altLang="zh-CN" sz="2000"/>
                <a:t> :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-closure(δ(E,b)) = </a:t>
              </a: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  <a:r>
                <a:rPr kumimoji="0" lang="en-US" altLang="zh-CN" sz="2000">
                  <a:sym typeface="Symbol" panose="05050102010706020507" pitchFamily="18" charset="2"/>
                </a:rPr>
                <a:t> -closure(δ({1,2,4,5,6,7,10},b))}</a:t>
              </a:r>
            </a:p>
            <a:p>
              <a:pPr algn="ctr" eaLnBrk="1" hangingPunct="1"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rgbClr val="FF3300"/>
                  </a:solidFill>
                  <a:sym typeface="Symbol" panose="05050102010706020507" pitchFamily="18" charset="2"/>
                </a:rPr>
                <a:t>= {1,2,4,5,6,7} = C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2000">
                  <a:solidFill>
                    <a:schemeClr val="tx2"/>
                  </a:solidFill>
                  <a:sym typeface="Symbol" panose="05050102010706020507" pitchFamily="18" charset="2"/>
                </a:rPr>
                <a:t>Dtran[E,b] = C</a:t>
              </a:r>
            </a:p>
          </p:txBody>
        </p:sp>
      </p:grpSp>
      <p:grpSp>
        <p:nvGrpSpPr>
          <p:cNvPr id="146436" name="Group 165">
            <a:extLst>
              <a:ext uri="{FF2B5EF4-FFF2-40B4-BE49-F238E27FC236}">
                <a16:creationId xmlns:a16="http://schemas.microsoft.com/office/drawing/2014/main" id="{2905C832-1A95-4B8B-BE76-F9C1495B70A1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219200"/>
            <a:ext cx="8534400" cy="2562225"/>
            <a:chOff x="192" y="768"/>
            <a:chExt cx="5376" cy="1614"/>
          </a:xfrm>
        </p:grpSpPr>
        <p:sp>
          <p:nvSpPr>
            <p:cNvPr id="146437" name="Oval 113">
              <a:extLst>
                <a:ext uri="{FF2B5EF4-FFF2-40B4-BE49-F238E27FC236}">
                  <a16:creationId xmlns:a16="http://schemas.microsoft.com/office/drawing/2014/main" id="{0CED6773-6A3B-4458-BDC6-45567B827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91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6438" name="Oval 114">
              <a:extLst>
                <a:ext uri="{FF2B5EF4-FFF2-40B4-BE49-F238E27FC236}">
                  <a16:creationId xmlns:a16="http://schemas.microsoft.com/office/drawing/2014/main" id="{DC5856D7-1FE2-4D91-98EE-5E6035C2C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4" y="1957"/>
              <a:ext cx="288" cy="24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6439" name="Oval 115">
              <a:extLst>
                <a:ext uri="{FF2B5EF4-FFF2-40B4-BE49-F238E27FC236}">
                  <a16:creationId xmlns:a16="http://schemas.microsoft.com/office/drawing/2014/main" id="{59ABB954-6CE2-4B9C-9A18-3D146C7F1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1875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6440" name="Oval 116">
              <a:extLst>
                <a:ext uri="{FF2B5EF4-FFF2-40B4-BE49-F238E27FC236}">
                  <a16:creationId xmlns:a16="http://schemas.microsoft.com/office/drawing/2014/main" id="{31CEBF61-6837-43F8-B53A-1CC3E77452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977"/>
              <a:ext cx="384" cy="32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6441" name="Oval 117">
              <a:extLst>
                <a:ext uri="{FF2B5EF4-FFF2-40B4-BE49-F238E27FC236}">
                  <a16:creationId xmlns:a16="http://schemas.microsoft.com/office/drawing/2014/main" id="{139C46C3-EDC2-400B-B8EC-71772A3BC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6442" name="Oval 118">
              <a:extLst>
                <a:ext uri="{FF2B5EF4-FFF2-40B4-BE49-F238E27FC236}">
                  <a16:creationId xmlns:a16="http://schemas.microsoft.com/office/drawing/2014/main" id="{791DFC5D-CD20-42EF-A8CA-3C013A07C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6443" name="Oval 119">
              <a:extLst>
                <a:ext uri="{FF2B5EF4-FFF2-40B4-BE49-F238E27FC236}">
                  <a16:creationId xmlns:a16="http://schemas.microsoft.com/office/drawing/2014/main" id="{99352075-7665-4E69-879B-12641C695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875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6444" name="Oval 120">
              <a:extLst>
                <a:ext uri="{FF2B5EF4-FFF2-40B4-BE49-F238E27FC236}">
                  <a16:creationId xmlns:a16="http://schemas.microsoft.com/office/drawing/2014/main" id="{DCF788D0-CAF0-40A1-9CDC-F67CDBDF5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6445" name="Oval 121">
              <a:extLst>
                <a:ext uri="{FF2B5EF4-FFF2-40B4-BE49-F238E27FC236}">
                  <a16:creationId xmlns:a16="http://schemas.microsoft.com/office/drawing/2014/main" id="{0D872C57-B97D-4367-9BEC-C0676AFA8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977"/>
              <a:ext cx="384" cy="327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6446" name="Oval 122">
              <a:extLst>
                <a:ext uri="{FF2B5EF4-FFF2-40B4-BE49-F238E27FC236}">
                  <a16:creationId xmlns:a16="http://schemas.microsoft.com/office/drawing/2014/main" id="{5A9D617A-904A-448C-A1DD-AAC56E5DD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6447" name="Oval 123">
              <a:extLst>
                <a:ext uri="{FF2B5EF4-FFF2-40B4-BE49-F238E27FC236}">
                  <a16:creationId xmlns:a16="http://schemas.microsoft.com/office/drawing/2014/main" id="{363C61B2-2A51-4F31-9B73-E05B513C2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6448" name="Oval 124">
              <a:extLst>
                <a:ext uri="{FF2B5EF4-FFF2-40B4-BE49-F238E27FC236}">
                  <a16:creationId xmlns:a16="http://schemas.microsoft.com/office/drawing/2014/main" id="{E9721B10-FBBB-4986-93CB-C24AC7DD7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426"/>
              <a:ext cx="384" cy="32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6449" name="Line 125">
              <a:extLst>
                <a:ext uri="{FF2B5EF4-FFF2-40B4-BE49-F238E27FC236}">
                  <a16:creationId xmlns:a16="http://schemas.microsoft.com/office/drawing/2014/main" id="{1C934A4A-7465-4861-92DD-16E9AA0B42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1712"/>
              <a:ext cx="432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50" name="Line 126">
              <a:extLst>
                <a:ext uri="{FF2B5EF4-FFF2-40B4-BE49-F238E27FC236}">
                  <a16:creationId xmlns:a16="http://schemas.microsoft.com/office/drawing/2014/main" id="{C26C11D0-973E-4FB8-A138-BC0BE0A986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03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51" name="Line 127">
              <a:extLst>
                <a:ext uri="{FF2B5EF4-FFF2-40B4-BE49-F238E27FC236}">
                  <a16:creationId xmlns:a16="http://schemas.microsoft.com/office/drawing/2014/main" id="{88E9B074-78D1-437E-AA0A-E456043923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1712"/>
              <a:ext cx="192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52" name="Line 128">
              <a:extLst>
                <a:ext uri="{FF2B5EF4-FFF2-40B4-BE49-F238E27FC236}">
                  <a16:creationId xmlns:a16="http://schemas.microsoft.com/office/drawing/2014/main" id="{23D029C5-7405-4563-85BF-F1FB314DEF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1589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53" name="Line 129">
              <a:extLst>
                <a:ext uri="{FF2B5EF4-FFF2-40B4-BE49-F238E27FC236}">
                  <a16:creationId xmlns:a16="http://schemas.microsoft.com/office/drawing/2014/main" id="{64C08D25-D442-40FF-BEF4-8139FDC7F2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1589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54" name="Line 130">
              <a:extLst>
                <a:ext uri="{FF2B5EF4-FFF2-40B4-BE49-F238E27FC236}">
                  <a16:creationId xmlns:a16="http://schemas.microsoft.com/office/drawing/2014/main" id="{366FF059-AED0-4E2A-8931-712752123D9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263"/>
              <a:ext cx="336" cy="20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55" name="Line 131">
              <a:extLst>
                <a:ext uri="{FF2B5EF4-FFF2-40B4-BE49-F238E27FC236}">
                  <a16:creationId xmlns:a16="http://schemas.microsoft.com/office/drawing/2014/main" id="{28C4D20A-3641-41A2-80F1-8147F308E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141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56" name="Line 132">
              <a:extLst>
                <a:ext uri="{FF2B5EF4-FFF2-40B4-BE49-F238E27FC236}">
                  <a16:creationId xmlns:a16="http://schemas.microsoft.com/office/drawing/2014/main" id="{2F46E2CC-F134-49BA-B8F6-F5BE10F4D9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222"/>
              <a:ext cx="240" cy="2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57" name="Line 133">
              <a:extLst>
                <a:ext uri="{FF2B5EF4-FFF2-40B4-BE49-F238E27FC236}">
                  <a16:creationId xmlns:a16="http://schemas.microsoft.com/office/drawing/2014/main" id="{CA60F762-F083-4CED-AD88-91270E01A2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158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58" name="Line 134">
              <a:extLst>
                <a:ext uri="{FF2B5EF4-FFF2-40B4-BE49-F238E27FC236}">
                  <a16:creationId xmlns:a16="http://schemas.microsoft.com/office/drawing/2014/main" id="{5B09870B-A696-4BE4-BE3E-82FE84B556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1589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59" name="Line 135">
              <a:extLst>
                <a:ext uri="{FF2B5EF4-FFF2-40B4-BE49-F238E27FC236}">
                  <a16:creationId xmlns:a16="http://schemas.microsoft.com/office/drawing/2014/main" id="{0D885AC1-2815-4E08-AF11-AD1CA3267D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1589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460" name="Line 136">
              <a:extLst>
                <a:ext uri="{FF2B5EF4-FFF2-40B4-BE49-F238E27FC236}">
                  <a16:creationId xmlns:a16="http://schemas.microsoft.com/office/drawing/2014/main" id="{A4C376CD-CC1D-426C-A0E0-0EE40E0253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0" y="1752"/>
              <a:ext cx="0" cy="12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46461" name="AutoShape 137">
              <a:extLst>
                <a:ext uri="{FF2B5EF4-FFF2-40B4-BE49-F238E27FC236}">
                  <a16:creationId xmlns:a16="http://schemas.microsoft.com/office/drawing/2014/main" id="{65B25F10-53E6-44D4-9336-34D816FF45DC}"/>
                </a:ext>
              </a:extLst>
            </p:cNvPr>
            <p:cNvCxnSpPr>
              <a:cxnSpLocks noChangeShapeType="1"/>
              <a:stCxn id="146446" idx="4"/>
              <a:endCxn id="146447" idx="4"/>
            </p:cNvCxnSpPr>
            <p:nvPr/>
          </p:nvCxnSpPr>
          <p:spPr bwMode="auto">
            <a:xfrm rot="16200000" flipH="1">
              <a:off x="2543" y="121"/>
              <a:ext cx="1" cy="3264"/>
            </a:xfrm>
            <a:prstGeom prst="curvedConnector3">
              <a:avLst>
                <a:gd name="adj1" fmla="val 59499986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6462" name="AutoShape 138">
              <a:extLst>
                <a:ext uri="{FF2B5EF4-FFF2-40B4-BE49-F238E27FC236}">
                  <a16:creationId xmlns:a16="http://schemas.microsoft.com/office/drawing/2014/main" id="{CBDF45FC-2204-461C-841E-0615B56BCA7D}"/>
                </a:ext>
              </a:extLst>
            </p:cNvPr>
            <p:cNvCxnSpPr>
              <a:cxnSpLocks noChangeShapeType="1"/>
              <a:stCxn id="146444" idx="0"/>
              <a:endCxn id="146448" idx="0"/>
            </p:cNvCxnSpPr>
            <p:nvPr/>
          </p:nvCxnSpPr>
          <p:spPr bwMode="auto">
            <a:xfrm rot="-5400000" flipH="1" flipV="1">
              <a:off x="2615" y="443"/>
              <a:ext cx="1" cy="1968"/>
            </a:xfrm>
            <a:prstGeom prst="curvedConnector3">
              <a:avLst>
                <a:gd name="adj1" fmla="val -59400014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6463" name="Text Box 139">
              <a:extLst>
                <a:ext uri="{FF2B5EF4-FFF2-40B4-BE49-F238E27FC236}">
                  <a16:creationId xmlns:a16="http://schemas.microsoft.com/office/drawing/2014/main" id="{68EE2C0B-65BA-41B9-BFFC-17F7A0EBA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0</a:t>
              </a:r>
            </a:p>
          </p:txBody>
        </p:sp>
        <p:sp>
          <p:nvSpPr>
            <p:cNvPr id="146464" name="Text Box 140">
              <a:extLst>
                <a:ext uri="{FF2B5EF4-FFF2-40B4-BE49-F238E27FC236}">
                  <a16:creationId xmlns:a16="http://schemas.microsoft.com/office/drawing/2014/main" id="{523DA1FF-2CF0-4EE4-A16D-3FB113C1F9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</a:t>
              </a:r>
            </a:p>
          </p:txBody>
        </p:sp>
        <p:sp>
          <p:nvSpPr>
            <p:cNvPr id="146465" name="Text Box 141">
              <a:extLst>
                <a:ext uri="{FF2B5EF4-FFF2-40B4-BE49-F238E27FC236}">
                  <a16:creationId xmlns:a16="http://schemas.microsoft.com/office/drawing/2014/main" id="{CB3A3FF4-B355-4533-BB03-A7814C9B14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059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2</a:t>
              </a:r>
            </a:p>
          </p:txBody>
        </p:sp>
        <p:sp>
          <p:nvSpPr>
            <p:cNvPr id="146466" name="Text Box 142">
              <a:extLst>
                <a:ext uri="{FF2B5EF4-FFF2-40B4-BE49-F238E27FC236}">
                  <a16:creationId xmlns:a16="http://schemas.microsoft.com/office/drawing/2014/main" id="{D2590EE9-207D-420E-94D8-168C6A706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059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3</a:t>
              </a:r>
            </a:p>
          </p:txBody>
        </p:sp>
        <p:sp>
          <p:nvSpPr>
            <p:cNvPr id="146467" name="Text Box 143">
              <a:extLst>
                <a:ext uri="{FF2B5EF4-FFF2-40B4-BE49-F238E27FC236}">
                  <a16:creationId xmlns:a16="http://schemas.microsoft.com/office/drawing/2014/main" id="{549261DD-CBA3-4251-BCE4-68A7E2A2CD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9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5</a:t>
              </a:r>
            </a:p>
          </p:txBody>
        </p:sp>
        <p:sp>
          <p:nvSpPr>
            <p:cNvPr id="146468" name="Text Box 144">
              <a:extLst>
                <a:ext uri="{FF2B5EF4-FFF2-40B4-BE49-F238E27FC236}">
                  <a16:creationId xmlns:a16="http://schemas.microsoft.com/office/drawing/2014/main" id="{19934AC8-F06E-4270-9DD4-D99EE42063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95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4</a:t>
              </a:r>
            </a:p>
          </p:txBody>
        </p:sp>
        <p:sp>
          <p:nvSpPr>
            <p:cNvPr id="146469" name="Text Box 145">
              <a:extLst>
                <a:ext uri="{FF2B5EF4-FFF2-40B4-BE49-F238E27FC236}">
                  <a16:creationId xmlns:a16="http://schemas.microsoft.com/office/drawing/2014/main" id="{98759D79-67FF-4357-8899-7800AD184C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6</a:t>
              </a:r>
            </a:p>
          </p:txBody>
        </p:sp>
        <p:sp>
          <p:nvSpPr>
            <p:cNvPr id="146470" name="Text Box 146">
              <a:extLst>
                <a:ext uri="{FF2B5EF4-FFF2-40B4-BE49-F238E27FC236}">
                  <a16:creationId xmlns:a16="http://schemas.microsoft.com/office/drawing/2014/main" id="{9C28BC4D-F555-4D1F-A3CA-5FA4422990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7</a:t>
              </a:r>
            </a:p>
          </p:txBody>
        </p:sp>
        <p:sp>
          <p:nvSpPr>
            <p:cNvPr id="146471" name="Text Box 147">
              <a:extLst>
                <a:ext uri="{FF2B5EF4-FFF2-40B4-BE49-F238E27FC236}">
                  <a16:creationId xmlns:a16="http://schemas.microsoft.com/office/drawing/2014/main" id="{3487C6DB-9FF7-47E5-93C2-D6DDE5F78A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8</a:t>
              </a:r>
            </a:p>
          </p:txBody>
        </p:sp>
        <p:sp>
          <p:nvSpPr>
            <p:cNvPr id="146472" name="Text Box 148">
              <a:extLst>
                <a:ext uri="{FF2B5EF4-FFF2-40B4-BE49-F238E27FC236}">
                  <a16:creationId xmlns:a16="http://schemas.microsoft.com/office/drawing/2014/main" id="{921C8D7E-9D4E-46CD-89EC-B72CE3686C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15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9</a:t>
              </a:r>
            </a:p>
          </p:txBody>
        </p:sp>
        <p:sp>
          <p:nvSpPr>
            <p:cNvPr id="146473" name="Text Box 149">
              <a:extLst>
                <a:ext uri="{FF2B5EF4-FFF2-40B4-BE49-F238E27FC236}">
                  <a16:creationId xmlns:a16="http://schemas.microsoft.com/office/drawing/2014/main" id="{3DB5AD04-2401-4BA0-B3D7-322289BA66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192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10</a:t>
              </a:r>
            </a:p>
          </p:txBody>
        </p:sp>
        <p:sp>
          <p:nvSpPr>
            <p:cNvPr id="146474" name="Text Box 150">
              <a:extLst>
                <a:ext uri="{FF2B5EF4-FFF2-40B4-BE49-F238E27FC236}">
                  <a16:creationId xmlns:a16="http://schemas.microsoft.com/office/drawing/2014/main" id="{14626040-D1F2-4500-9C96-B364B6544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136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6475" name="Text Box 151">
              <a:extLst>
                <a:ext uri="{FF2B5EF4-FFF2-40B4-BE49-F238E27FC236}">
                  <a16:creationId xmlns:a16="http://schemas.microsoft.com/office/drawing/2014/main" id="{B3508109-A574-4D0A-93E0-C8AEB9E022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1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6476" name="Text Box 152">
              <a:extLst>
                <a:ext uri="{FF2B5EF4-FFF2-40B4-BE49-F238E27FC236}">
                  <a16:creationId xmlns:a16="http://schemas.microsoft.com/office/drawing/2014/main" id="{45756F8C-22A1-48A5-BE34-88267BF6D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727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6477" name="Text Box 153">
              <a:extLst>
                <a:ext uri="{FF2B5EF4-FFF2-40B4-BE49-F238E27FC236}">
                  <a16:creationId xmlns:a16="http://schemas.microsoft.com/office/drawing/2014/main" id="{3418EEFA-4325-493E-92B6-9E7C58AFF6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09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6478" name="Text Box 154">
              <a:extLst>
                <a:ext uri="{FF2B5EF4-FFF2-40B4-BE49-F238E27FC236}">
                  <a16:creationId xmlns:a16="http://schemas.microsoft.com/office/drawing/2014/main" id="{1CA91354-ECC3-4130-A536-E2D6F47461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7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6479" name="Text Box 155">
              <a:extLst>
                <a:ext uri="{FF2B5EF4-FFF2-40B4-BE49-F238E27FC236}">
                  <a16:creationId xmlns:a16="http://schemas.microsoft.com/office/drawing/2014/main" id="{88CA8012-013B-4249-8B62-AC5FC33E30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115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6480" name="Text Box 156">
              <a:extLst>
                <a:ext uri="{FF2B5EF4-FFF2-40B4-BE49-F238E27FC236}">
                  <a16:creationId xmlns:a16="http://schemas.microsoft.com/office/drawing/2014/main" id="{EF8F6206-C4E3-4692-B109-8B4DDACC89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793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6481" name="Text Box 157">
              <a:extLst>
                <a:ext uri="{FF2B5EF4-FFF2-40B4-BE49-F238E27FC236}">
                  <a16:creationId xmlns:a16="http://schemas.microsoft.com/office/drawing/2014/main" id="{295C1A59-5851-4C1C-9D46-574E4C5906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4" y="13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46482" name="Text Box 158">
              <a:extLst>
                <a:ext uri="{FF2B5EF4-FFF2-40B4-BE49-F238E27FC236}">
                  <a16:creationId xmlns:a16="http://schemas.microsoft.com/office/drawing/2014/main" id="{E66CD5FD-4EB1-4E36-AC43-58F8CEE56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3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a</a:t>
              </a:r>
              <a:endParaRPr kumimoji="0" lang="en-US" altLang="zh-CN" sz="2400"/>
            </a:p>
          </p:txBody>
        </p:sp>
        <p:sp>
          <p:nvSpPr>
            <p:cNvPr id="146483" name="Text Box 159">
              <a:extLst>
                <a:ext uri="{FF2B5EF4-FFF2-40B4-BE49-F238E27FC236}">
                  <a16:creationId xmlns:a16="http://schemas.microsoft.com/office/drawing/2014/main" id="{F587FE53-021C-4EB0-862B-DA95E9F9B3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91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a</a:t>
              </a:r>
              <a:endParaRPr kumimoji="0" lang="en-US" altLang="zh-CN" sz="2400"/>
            </a:p>
          </p:txBody>
        </p:sp>
        <p:sp>
          <p:nvSpPr>
            <p:cNvPr id="146484" name="Text Box 160">
              <a:extLst>
                <a:ext uri="{FF2B5EF4-FFF2-40B4-BE49-F238E27FC236}">
                  <a16:creationId xmlns:a16="http://schemas.microsoft.com/office/drawing/2014/main" id="{0183EFAA-7857-42C0-A1A4-1EFD7F855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809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6485" name="Text Box 161">
              <a:extLst>
                <a:ext uri="{FF2B5EF4-FFF2-40B4-BE49-F238E27FC236}">
                  <a16:creationId xmlns:a16="http://schemas.microsoft.com/office/drawing/2014/main" id="{95CB0442-E320-4052-BE0A-ECB6AA4CC4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3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6486" name="Text Box 162">
              <a:extLst>
                <a:ext uri="{FF2B5EF4-FFF2-40B4-BE49-F238E27FC236}">
                  <a16:creationId xmlns:a16="http://schemas.microsoft.com/office/drawing/2014/main" id="{F14B9BB0-3DA3-4577-BBDA-8708B6537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7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46487" name="Text Box 163">
              <a:extLst>
                <a:ext uri="{FF2B5EF4-FFF2-40B4-BE49-F238E27FC236}">
                  <a16:creationId xmlns:a16="http://schemas.microsoft.com/office/drawing/2014/main" id="{A8D5154C-5A17-44D3-B924-9D7E69D642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1360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start</a:t>
              </a:r>
              <a:endParaRPr kumimoji="0" lang="en-US" altLang="zh-CN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99FE05CB-029A-432A-91EF-03126C3942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例</a:t>
            </a:r>
            <a:r>
              <a:rPr lang="en-US" altLang="zh-CN">
                <a:sym typeface="Symbol" panose="05050102010706020507" pitchFamily="18" charset="2"/>
              </a:rPr>
              <a:t>3.15</a:t>
            </a:r>
            <a:r>
              <a:rPr lang="zh-CN" altLang="en-US">
                <a:sym typeface="Symbol" panose="05050102010706020507" pitchFamily="18" charset="2"/>
              </a:rPr>
              <a:t>：结果</a:t>
            </a:r>
            <a:endParaRPr kumimoji="0" lang="zh-CN" altLang="en-US">
              <a:sym typeface="Symbol" panose="05050102010706020507" pitchFamily="18" charset="2"/>
            </a:endParaRPr>
          </a:p>
        </p:txBody>
      </p:sp>
      <p:grpSp>
        <p:nvGrpSpPr>
          <p:cNvPr id="147459" name="Group 7">
            <a:extLst>
              <a:ext uri="{FF2B5EF4-FFF2-40B4-BE49-F238E27FC236}">
                <a16:creationId xmlns:a16="http://schemas.microsoft.com/office/drawing/2014/main" id="{D151C68B-089D-4602-AA64-55A2E5B62234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1219200"/>
            <a:ext cx="5257800" cy="2454275"/>
            <a:chOff x="1152" y="1200"/>
            <a:chExt cx="3312" cy="1546"/>
          </a:xfrm>
        </p:grpSpPr>
        <p:sp>
          <p:nvSpPr>
            <p:cNvPr id="147499" name="Line 8">
              <a:extLst>
                <a:ext uri="{FF2B5EF4-FFF2-40B4-BE49-F238E27FC236}">
                  <a16:creationId xmlns:a16="http://schemas.microsoft.com/office/drawing/2014/main" id="{40367793-81AA-4831-9A85-60786DF165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736"/>
              <a:ext cx="33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00" name="Line 9">
              <a:extLst>
                <a:ext uri="{FF2B5EF4-FFF2-40B4-BE49-F238E27FC236}">
                  <a16:creationId xmlns:a16="http://schemas.microsoft.com/office/drawing/2014/main" id="{B07F912B-3157-443D-B715-BD91958E7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248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01" name="Line 10">
              <a:extLst>
                <a:ext uri="{FF2B5EF4-FFF2-40B4-BE49-F238E27FC236}">
                  <a16:creationId xmlns:a16="http://schemas.microsoft.com/office/drawing/2014/main" id="{4CDFEAB3-2B51-4EDC-8660-411F3E9DD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536"/>
              <a:ext cx="0" cy="1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02" name="Line 11">
              <a:extLst>
                <a:ext uri="{FF2B5EF4-FFF2-40B4-BE49-F238E27FC236}">
                  <a16:creationId xmlns:a16="http://schemas.microsoft.com/office/drawing/2014/main" id="{9E873ED8-DC31-457E-B457-1355EE1CE9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680"/>
              <a:ext cx="33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03" name="Text Box 12">
              <a:extLst>
                <a:ext uri="{FF2B5EF4-FFF2-40B4-BE49-F238E27FC236}">
                  <a16:creationId xmlns:a16="http://schemas.microsoft.com/office/drawing/2014/main" id="{A2B1AB10-AE7E-42FF-A75A-8EB2300F8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1392"/>
              <a:ext cx="6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State</a:t>
              </a:r>
            </a:p>
          </p:txBody>
        </p:sp>
        <p:sp>
          <p:nvSpPr>
            <p:cNvPr id="147504" name="Text Box 13">
              <a:extLst>
                <a:ext uri="{FF2B5EF4-FFF2-40B4-BE49-F238E27FC236}">
                  <a16:creationId xmlns:a16="http://schemas.microsoft.com/office/drawing/2014/main" id="{A9896001-8BE6-4CB4-A43A-DFD8B1DE41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200"/>
              <a:ext cx="22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Input Symbol</a:t>
              </a:r>
            </a:p>
          </p:txBody>
        </p:sp>
        <p:sp>
          <p:nvSpPr>
            <p:cNvPr id="147505" name="Text Box 14">
              <a:extLst>
                <a:ext uri="{FF2B5EF4-FFF2-40B4-BE49-F238E27FC236}">
                  <a16:creationId xmlns:a16="http://schemas.microsoft.com/office/drawing/2014/main" id="{99650F60-B97A-4FD0-81F1-08B6F2939F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44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a</a:t>
              </a:r>
            </a:p>
          </p:txBody>
        </p:sp>
        <p:sp>
          <p:nvSpPr>
            <p:cNvPr id="147506" name="Text Box 15">
              <a:extLst>
                <a:ext uri="{FF2B5EF4-FFF2-40B4-BE49-F238E27FC236}">
                  <a16:creationId xmlns:a16="http://schemas.microsoft.com/office/drawing/2014/main" id="{64F4F6D9-384D-4E17-93C2-93BFA12B96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440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b</a:t>
              </a:r>
            </a:p>
          </p:txBody>
        </p:sp>
        <p:sp>
          <p:nvSpPr>
            <p:cNvPr id="147507" name="Text Box 16">
              <a:extLst>
                <a:ext uri="{FF2B5EF4-FFF2-40B4-BE49-F238E27FC236}">
                  <a16:creationId xmlns:a16="http://schemas.microsoft.com/office/drawing/2014/main" id="{2EE557F5-1A60-4A4B-BC46-AF055FEB7C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728"/>
              <a:ext cx="33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       A                         B                          C</a:t>
              </a:r>
            </a:p>
          </p:txBody>
        </p:sp>
        <p:sp>
          <p:nvSpPr>
            <p:cNvPr id="147508" name="Text Box 17">
              <a:extLst>
                <a:ext uri="{FF2B5EF4-FFF2-40B4-BE49-F238E27FC236}">
                  <a16:creationId xmlns:a16="http://schemas.microsoft.com/office/drawing/2014/main" id="{8D21CCCB-09D9-44B8-97F6-D38C35BAF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920"/>
              <a:ext cx="33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       B                         B                          D</a:t>
              </a:r>
            </a:p>
          </p:txBody>
        </p:sp>
        <p:sp>
          <p:nvSpPr>
            <p:cNvPr id="147509" name="Text Box 18">
              <a:extLst>
                <a:ext uri="{FF2B5EF4-FFF2-40B4-BE49-F238E27FC236}">
                  <a16:creationId xmlns:a16="http://schemas.microsoft.com/office/drawing/2014/main" id="{4F8FBA26-D569-4354-B625-AC9637FA1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112"/>
              <a:ext cx="33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       C                         B                          C</a:t>
              </a:r>
            </a:p>
          </p:txBody>
        </p:sp>
        <p:sp>
          <p:nvSpPr>
            <p:cNvPr id="147510" name="Text Box 19">
              <a:extLst>
                <a:ext uri="{FF2B5EF4-FFF2-40B4-BE49-F238E27FC236}">
                  <a16:creationId xmlns:a16="http://schemas.microsoft.com/office/drawing/2014/main" id="{DB2E4D6E-06AE-4E90-9F7C-34B798B84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496"/>
              <a:ext cx="33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       E                         B                          C</a:t>
              </a:r>
            </a:p>
          </p:txBody>
        </p:sp>
        <p:sp>
          <p:nvSpPr>
            <p:cNvPr id="147511" name="Text Box 20">
              <a:extLst>
                <a:ext uri="{FF2B5EF4-FFF2-40B4-BE49-F238E27FC236}">
                  <a16:creationId xmlns:a16="http://schemas.microsoft.com/office/drawing/2014/main" id="{FE029DA1-44E6-4873-A185-52214D70CE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304"/>
              <a:ext cx="33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       D                         B                          E</a:t>
              </a:r>
            </a:p>
          </p:txBody>
        </p:sp>
      </p:grpSp>
      <p:grpSp>
        <p:nvGrpSpPr>
          <p:cNvPr id="147460" name="Group 62">
            <a:extLst>
              <a:ext uri="{FF2B5EF4-FFF2-40B4-BE49-F238E27FC236}">
                <a16:creationId xmlns:a16="http://schemas.microsoft.com/office/drawing/2014/main" id="{8B542393-9F3E-418B-B051-8048FF3E7356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4814888"/>
            <a:ext cx="685800" cy="685800"/>
            <a:chOff x="1440" y="3408"/>
            <a:chExt cx="432" cy="432"/>
          </a:xfrm>
        </p:grpSpPr>
        <p:sp>
          <p:nvSpPr>
            <p:cNvPr id="147497" name="Oval 63">
              <a:extLst>
                <a:ext uri="{FF2B5EF4-FFF2-40B4-BE49-F238E27FC236}">
                  <a16:creationId xmlns:a16="http://schemas.microsoft.com/office/drawing/2014/main" id="{FDBF8562-5A3C-483C-B2A9-E1CD89013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408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7498" name="Text Box 64">
              <a:extLst>
                <a:ext uri="{FF2B5EF4-FFF2-40B4-BE49-F238E27FC236}">
                  <a16:creationId xmlns:a16="http://schemas.microsoft.com/office/drawing/2014/main" id="{EF31B930-E448-4527-BA0F-EDC76E7C2F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45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A</a:t>
              </a:r>
            </a:p>
          </p:txBody>
        </p:sp>
      </p:grpSp>
      <p:grpSp>
        <p:nvGrpSpPr>
          <p:cNvPr id="147461" name="Group 65">
            <a:extLst>
              <a:ext uri="{FF2B5EF4-FFF2-40B4-BE49-F238E27FC236}">
                <a16:creationId xmlns:a16="http://schemas.microsoft.com/office/drawing/2014/main" id="{222B4208-6EF5-4638-A8D4-D4D06A434F0F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3976688"/>
            <a:ext cx="685800" cy="685800"/>
            <a:chOff x="1440" y="3408"/>
            <a:chExt cx="432" cy="432"/>
          </a:xfrm>
        </p:grpSpPr>
        <p:sp>
          <p:nvSpPr>
            <p:cNvPr id="147495" name="Oval 66">
              <a:extLst>
                <a:ext uri="{FF2B5EF4-FFF2-40B4-BE49-F238E27FC236}">
                  <a16:creationId xmlns:a16="http://schemas.microsoft.com/office/drawing/2014/main" id="{8478EF36-0F96-468C-B9FC-FE939AFAC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408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7496" name="Text Box 67">
              <a:extLst>
                <a:ext uri="{FF2B5EF4-FFF2-40B4-BE49-F238E27FC236}">
                  <a16:creationId xmlns:a16="http://schemas.microsoft.com/office/drawing/2014/main" id="{30728398-7A02-499A-9A2F-181AB93A93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45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C</a:t>
              </a:r>
            </a:p>
          </p:txBody>
        </p:sp>
      </p:grpSp>
      <p:grpSp>
        <p:nvGrpSpPr>
          <p:cNvPr id="147462" name="Group 68">
            <a:extLst>
              <a:ext uri="{FF2B5EF4-FFF2-40B4-BE49-F238E27FC236}">
                <a16:creationId xmlns:a16="http://schemas.microsoft.com/office/drawing/2014/main" id="{D7BEE52A-B97F-4389-A1AA-34FEB0978BC7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4814888"/>
            <a:ext cx="685800" cy="685800"/>
            <a:chOff x="1440" y="3408"/>
            <a:chExt cx="432" cy="432"/>
          </a:xfrm>
        </p:grpSpPr>
        <p:sp>
          <p:nvSpPr>
            <p:cNvPr id="147493" name="Oval 69">
              <a:extLst>
                <a:ext uri="{FF2B5EF4-FFF2-40B4-BE49-F238E27FC236}">
                  <a16:creationId xmlns:a16="http://schemas.microsoft.com/office/drawing/2014/main" id="{C531DBEA-FC69-4E15-A7CE-ABD2847D1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408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7494" name="Text Box 70">
              <a:extLst>
                <a:ext uri="{FF2B5EF4-FFF2-40B4-BE49-F238E27FC236}">
                  <a16:creationId xmlns:a16="http://schemas.microsoft.com/office/drawing/2014/main" id="{3FDEBBA6-2D30-4DA6-949C-EAB3D7370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45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B</a:t>
              </a:r>
            </a:p>
          </p:txBody>
        </p:sp>
      </p:grpSp>
      <p:grpSp>
        <p:nvGrpSpPr>
          <p:cNvPr id="147463" name="Group 71">
            <a:extLst>
              <a:ext uri="{FF2B5EF4-FFF2-40B4-BE49-F238E27FC236}">
                <a16:creationId xmlns:a16="http://schemas.microsoft.com/office/drawing/2014/main" id="{EF2CA0FC-B612-4085-9904-7150932237CE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4814888"/>
            <a:ext cx="685800" cy="685800"/>
            <a:chOff x="1440" y="3408"/>
            <a:chExt cx="432" cy="432"/>
          </a:xfrm>
        </p:grpSpPr>
        <p:sp>
          <p:nvSpPr>
            <p:cNvPr id="147491" name="Oval 72">
              <a:extLst>
                <a:ext uri="{FF2B5EF4-FFF2-40B4-BE49-F238E27FC236}">
                  <a16:creationId xmlns:a16="http://schemas.microsoft.com/office/drawing/2014/main" id="{FF24D3BC-6B2D-4C2A-91AD-98B766CA5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3408"/>
              <a:ext cx="432" cy="43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47492" name="Text Box 73">
              <a:extLst>
                <a:ext uri="{FF2B5EF4-FFF2-40B4-BE49-F238E27FC236}">
                  <a16:creationId xmlns:a16="http://schemas.microsoft.com/office/drawing/2014/main" id="{49E16740-3C34-4E63-90D0-33230B8620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456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D</a:t>
              </a:r>
            </a:p>
          </p:txBody>
        </p:sp>
      </p:grpSp>
      <p:grpSp>
        <p:nvGrpSpPr>
          <p:cNvPr id="147464" name="Group 74">
            <a:extLst>
              <a:ext uri="{FF2B5EF4-FFF2-40B4-BE49-F238E27FC236}">
                <a16:creationId xmlns:a16="http://schemas.microsoft.com/office/drawing/2014/main" id="{F5BD2C60-3099-459D-91C1-D53009AB2F84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4814888"/>
            <a:ext cx="685800" cy="685800"/>
            <a:chOff x="4032" y="3504"/>
            <a:chExt cx="432" cy="432"/>
          </a:xfrm>
        </p:grpSpPr>
        <p:grpSp>
          <p:nvGrpSpPr>
            <p:cNvPr id="147487" name="Group 75">
              <a:extLst>
                <a:ext uri="{FF2B5EF4-FFF2-40B4-BE49-F238E27FC236}">
                  <a16:creationId xmlns:a16="http://schemas.microsoft.com/office/drawing/2014/main" id="{E2AFDB8D-3D8B-4208-A547-11A9DDAFFF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3504"/>
              <a:ext cx="432" cy="432"/>
              <a:chOff x="1440" y="3408"/>
              <a:chExt cx="432" cy="432"/>
            </a:xfrm>
          </p:grpSpPr>
          <p:sp>
            <p:nvSpPr>
              <p:cNvPr id="147489" name="Oval 76">
                <a:extLst>
                  <a:ext uri="{FF2B5EF4-FFF2-40B4-BE49-F238E27FC236}">
                    <a16:creationId xmlns:a16="http://schemas.microsoft.com/office/drawing/2014/main" id="{FEC464B7-6303-408D-BFA9-C1038917B5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408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47490" name="Text Box 77">
                <a:extLst>
                  <a:ext uri="{FF2B5EF4-FFF2-40B4-BE49-F238E27FC236}">
                    <a16:creationId xmlns:a16="http://schemas.microsoft.com/office/drawing/2014/main" id="{5973DC9E-529A-4858-ACC6-76424C63C0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/>
                  <a:t>E</a:t>
                </a:r>
              </a:p>
            </p:txBody>
          </p:sp>
        </p:grpSp>
        <p:sp>
          <p:nvSpPr>
            <p:cNvPr id="147488" name="Oval 78">
              <a:extLst>
                <a:ext uri="{FF2B5EF4-FFF2-40B4-BE49-F238E27FC236}">
                  <a16:creationId xmlns:a16="http://schemas.microsoft.com/office/drawing/2014/main" id="{4AAF5C0B-A5A8-4E97-8CF3-8CECBE988D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552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cxnSp>
        <p:nvCxnSpPr>
          <p:cNvPr id="147465" name="AutoShape 79">
            <a:extLst>
              <a:ext uri="{FF2B5EF4-FFF2-40B4-BE49-F238E27FC236}">
                <a16:creationId xmlns:a16="http://schemas.microsoft.com/office/drawing/2014/main" id="{31118236-D575-48CB-9A90-51BE471042AB}"/>
              </a:ext>
            </a:extLst>
          </p:cNvPr>
          <p:cNvCxnSpPr>
            <a:cxnSpLocks noChangeShapeType="1"/>
            <a:stCxn id="147497" idx="6"/>
            <a:endCxn id="147493" idx="2"/>
          </p:cNvCxnSpPr>
          <p:nvPr/>
        </p:nvCxnSpPr>
        <p:spPr bwMode="auto">
          <a:xfrm>
            <a:off x="2743200" y="5157788"/>
            <a:ext cx="6858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7466" name="AutoShape 80">
            <a:extLst>
              <a:ext uri="{FF2B5EF4-FFF2-40B4-BE49-F238E27FC236}">
                <a16:creationId xmlns:a16="http://schemas.microsoft.com/office/drawing/2014/main" id="{41AEEDD4-3B32-4BFA-9E4F-F85637463685}"/>
              </a:ext>
            </a:extLst>
          </p:cNvPr>
          <p:cNvCxnSpPr>
            <a:cxnSpLocks noChangeShapeType="1"/>
            <a:stCxn id="147495" idx="4"/>
            <a:endCxn id="147493" idx="7"/>
          </p:cNvCxnSpPr>
          <p:nvPr/>
        </p:nvCxnSpPr>
        <p:spPr bwMode="auto">
          <a:xfrm rot="5400000">
            <a:off x="4186238" y="4491038"/>
            <a:ext cx="252412" cy="595312"/>
          </a:xfrm>
          <a:prstGeom prst="curvedConnector3">
            <a:avLst>
              <a:gd name="adj1" fmla="val 30190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7467" name="AutoShape 81">
            <a:extLst>
              <a:ext uri="{FF2B5EF4-FFF2-40B4-BE49-F238E27FC236}">
                <a16:creationId xmlns:a16="http://schemas.microsoft.com/office/drawing/2014/main" id="{8044E380-596C-4A2E-A48C-A845B28B900C}"/>
              </a:ext>
            </a:extLst>
          </p:cNvPr>
          <p:cNvCxnSpPr>
            <a:cxnSpLocks noChangeShapeType="1"/>
            <a:stCxn id="147489" idx="1"/>
            <a:endCxn id="147495" idx="6"/>
          </p:cNvCxnSpPr>
          <p:nvPr/>
        </p:nvCxnSpPr>
        <p:spPr bwMode="auto">
          <a:xfrm rot="5400000" flipH="1">
            <a:off x="5467351" y="3805237"/>
            <a:ext cx="595312" cy="1624013"/>
          </a:xfrm>
          <a:prstGeom prst="curvedConnector2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7468" name="AutoShape 82">
            <a:extLst>
              <a:ext uri="{FF2B5EF4-FFF2-40B4-BE49-F238E27FC236}">
                <a16:creationId xmlns:a16="http://schemas.microsoft.com/office/drawing/2014/main" id="{FEA73459-B499-4861-A41A-6B84CAAEFF4A}"/>
              </a:ext>
            </a:extLst>
          </p:cNvPr>
          <p:cNvCxnSpPr>
            <a:cxnSpLocks noChangeShapeType="1"/>
            <a:stCxn id="147489" idx="3"/>
            <a:endCxn id="147493" idx="5"/>
          </p:cNvCxnSpPr>
          <p:nvPr/>
        </p:nvCxnSpPr>
        <p:spPr bwMode="auto">
          <a:xfrm rot="5400000">
            <a:off x="5295107" y="4120356"/>
            <a:ext cx="1588" cy="2562225"/>
          </a:xfrm>
          <a:prstGeom prst="curvedConnector3">
            <a:avLst>
              <a:gd name="adj1" fmla="val 20700009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7469" name="AutoShape 83">
            <a:extLst>
              <a:ext uri="{FF2B5EF4-FFF2-40B4-BE49-F238E27FC236}">
                <a16:creationId xmlns:a16="http://schemas.microsoft.com/office/drawing/2014/main" id="{0D62ACEA-ABAF-4DBE-9396-F6421FF66927}"/>
              </a:ext>
            </a:extLst>
          </p:cNvPr>
          <p:cNvCxnSpPr>
            <a:cxnSpLocks noChangeShapeType="1"/>
            <a:stCxn id="147493" idx="4"/>
            <a:endCxn id="147493" idx="3"/>
          </p:cNvCxnSpPr>
          <p:nvPr/>
        </p:nvCxnSpPr>
        <p:spPr bwMode="auto">
          <a:xfrm rot="16200000" flipV="1">
            <a:off x="3600450" y="5329238"/>
            <a:ext cx="100013" cy="242887"/>
          </a:xfrm>
          <a:prstGeom prst="curvedConnector3">
            <a:avLst>
              <a:gd name="adj1" fmla="val -228569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7470" name="AutoShape 84">
            <a:extLst>
              <a:ext uri="{FF2B5EF4-FFF2-40B4-BE49-F238E27FC236}">
                <a16:creationId xmlns:a16="http://schemas.microsoft.com/office/drawing/2014/main" id="{CD392F3B-CCF8-4E61-B377-AE9FE9E96698}"/>
              </a:ext>
            </a:extLst>
          </p:cNvPr>
          <p:cNvCxnSpPr>
            <a:cxnSpLocks noChangeShapeType="1"/>
            <a:stCxn id="147491" idx="3"/>
            <a:endCxn id="147493" idx="6"/>
          </p:cNvCxnSpPr>
          <p:nvPr/>
        </p:nvCxnSpPr>
        <p:spPr bwMode="auto">
          <a:xfrm rot="16200000" flipV="1">
            <a:off x="4500563" y="4772025"/>
            <a:ext cx="242887" cy="1014413"/>
          </a:xfrm>
          <a:prstGeom prst="curvedConnector4">
            <a:avLst>
              <a:gd name="adj1" fmla="val -135296"/>
              <a:gd name="adj2" fmla="val 54931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7471" name="AutoShape 85">
            <a:extLst>
              <a:ext uri="{FF2B5EF4-FFF2-40B4-BE49-F238E27FC236}">
                <a16:creationId xmlns:a16="http://schemas.microsoft.com/office/drawing/2014/main" id="{7501DF66-AE6A-43F4-B5EA-EDD41E2E0F79}"/>
              </a:ext>
            </a:extLst>
          </p:cNvPr>
          <p:cNvCxnSpPr>
            <a:cxnSpLocks noChangeShapeType="1"/>
            <a:stCxn id="147497" idx="0"/>
            <a:endCxn id="147495" idx="2"/>
          </p:cNvCxnSpPr>
          <p:nvPr/>
        </p:nvCxnSpPr>
        <p:spPr bwMode="auto">
          <a:xfrm rot="-5400000">
            <a:off x="3086100" y="3633788"/>
            <a:ext cx="495300" cy="1866900"/>
          </a:xfrm>
          <a:prstGeom prst="curvedConnector2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7472" name="AutoShape 86">
            <a:extLst>
              <a:ext uri="{FF2B5EF4-FFF2-40B4-BE49-F238E27FC236}">
                <a16:creationId xmlns:a16="http://schemas.microsoft.com/office/drawing/2014/main" id="{1AEA3703-EDDF-48BD-9563-B3A73F35BA5F}"/>
              </a:ext>
            </a:extLst>
          </p:cNvPr>
          <p:cNvCxnSpPr>
            <a:cxnSpLocks noChangeShapeType="1"/>
            <a:stCxn id="147491" idx="6"/>
            <a:endCxn id="147489" idx="2"/>
          </p:cNvCxnSpPr>
          <p:nvPr/>
        </p:nvCxnSpPr>
        <p:spPr bwMode="auto">
          <a:xfrm>
            <a:off x="5715000" y="5157788"/>
            <a:ext cx="762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7473" name="AutoShape 87">
            <a:extLst>
              <a:ext uri="{FF2B5EF4-FFF2-40B4-BE49-F238E27FC236}">
                <a16:creationId xmlns:a16="http://schemas.microsoft.com/office/drawing/2014/main" id="{208A9992-4B10-4389-9285-B5CB3EC8E5DA}"/>
              </a:ext>
            </a:extLst>
          </p:cNvPr>
          <p:cNvCxnSpPr>
            <a:cxnSpLocks noChangeShapeType="1"/>
            <a:stCxn id="147493" idx="6"/>
            <a:endCxn id="147491" idx="2"/>
          </p:cNvCxnSpPr>
          <p:nvPr/>
        </p:nvCxnSpPr>
        <p:spPr bwMode="auto">
          <a:xfrm>
            <a:off x="4114800" y="5157788"/>
            <a:ext cx="9144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7474" name="Line 88">
            <a:extLst>
              <a:ext uri="{FF2B5EF4-FFF2-40B4-BE49-F238E27FC236}">
                <a16:creationId xmlns:a16="http://schemas.microsoft.com/office/drawing/2014/main" id="{8D3C9259-4AC9-4C36-9B44-E59C44667D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5195888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47475" name="AutoShape 89">
            <a:extLst>
              <a:ext uri="{FF2B5EF4-FFF2-40B4-BE49-F238E27FC236}">
                <a16:creationId xmlns:a16="http://schemas.microsoft.com/office/drawing/2014/main" id="{2A56A40E-7873-43CF-8806-AAB0003EB4E5}"/>
              </a:ext>
            </a:extLst>
          </p:cNvPr>
          <p:cNvCxnSpPr>
            <a:cxnSpLocks noChangeShapeType="1"/>
            <a:stCxn id="147495" idx="0"/>
            <a:endCxn id="147495" idx="1"/>
          </p:cNvCxnSpPr>
          <p:nvPr/>
        </p:nvCxnSpPr>
        <p:spPr bwMode="auto">
          <a:xfrm rot="-5400000" flipH="1" flipV="1">
            <a:off x="4438651" y="3905250"/>
            <a:ext cx="100012" cy="242887"/>
          </a:xfrm>
          <a:prstGeom prst="curvedConnector3">
            <a:avLst>
              <a:gd name="adj1" fmla="val -228569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7476" name="Text Box 90">
            <a:extLst>
              <a:ext uri="{FF2B5EF4-FFF2-40B4-BE49-F238E27FC236}">
                <a16:creationId xmlns:a16="http://schemas.microsoft.com/office/drawing/2014/main" id="{D90391B4-2313-4381-8554-C61C74C87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4800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sp>
        <p:nvSpPr>
          <p:cNvPr id="147477" name="Text Box 91">
            <a:extLst>
              <a:ext uri="{FF2B5EF4-FFF2-40B4-BE49-F238E27FC236}">
                <a16:creationId xmlns:a16="http://schemas.microsoft.com/office/drawing/2014/main" id="{5D6D81DD-2EE5-4DB4-9E1A-5CF0F82F8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800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47478" name="Text Box 92">
            <a:extLst>
              <a:ext uri="{FF2B5EF4-FFF2-40B4-BE49-F238E27FC236}">
                <a16:creationId xmlns:a16="http://schemas.microsoft.com/office/drawing/2014/main" id="{CAA8D2E6-1426-435A-9035-C55D66EA5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800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47479" name="Text Box 93">
            <a:extLst>
              <a:ext uri="{FF2B5EF4-FFF2-40B4-BE49-F238E27FC236}">
                <a16:creationId xmlns:a16="http://schemas.microsoft.com/office/drawing/2014/main" id="{E3D49AED-AAD1-4B60-ACE4-A1068276D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038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47480" name="Text Box 94">
            <a:extLst>
              <a:ext uri="{FF2B5EF4-FFF2-40B4-BE49-F238E27FC236}">
                <a16:creationId xmlns:a16="http://schemas.microsoft.com/office/drawing/2014/main" id="{E072596E-7FE1-46D8-99A2-930941C98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5956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47481" name="Text Box 95">
            <a:extLst>
              <a:ext uri="{FF2B5EF4-FFF2-40B4-BE49-F238E27FC236}">
                <a16:creationId xmlns:a16="http://schemas.microsoft.com/office/drawing/2014/main" id="{BD8653C4-1BDF-4C10-9059-8572158DE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038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47482" name="Text Box 96">
            <a:extLst>
              <a:ext uri="{FF2B5EF4-FFF2-40B4-BE49-F238E27FC236}">
                <a16:creationId xmlns:a16="http://schemas.microsoft.com/office/drawing/2014/main" id="{BFEEE508-DA3D-4DA6-88F5-0A8EA54C64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5424488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sp>
        <p:nvSpPr>
          <p:cNvPr id="147483" name="Text Box 97">
            <a:extLst>
              <a:ext uri="{FF2B5EF4-FFF2-40B4-BE49-F238E27FC236}">
                <a16:creationId xmlns:a16="http://schemas.microsoft.com/office/drawing/2014/main" id="{BB88F2F1-3B83-47E9-A97D-6D53FAA63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105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sp>
        <p:nvSpPr>
          <p:cNvPr id="147484" name="Text Box 98">
            <a:extLst>
              <a:ext uri="{FF2B5EF4-FFF2-40B4-BE49-F238E27FC236}">
                <a16:creationId xmlns:a16="http://schemas.microsoft.com/office/drawing/2014/main" id="{A509164A-75E2-4CEA-9F6A-FC40D34ED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8006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sp>
        <p:nvSpPr>
          <p:cNvPr id="147485" name="Text Box 99">
            <a:extLst>
              <a:ext uri="{FF2B5EF4-FFF2-40B4-BE49-F238E27FC236}">
                <a16:creationId xmlns:a16="http://schemas.microsoft.com/office/drawing/2014/main" id="{416AB484-4FB3-4C35-ACE2-D2598960E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52578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  <p:sp>
        <p:nvSpPr>
          <p:cNvPr id="147486" name="Text Box 100">
            <a:extLst>
              <a:ext uri="{FF2B5EF4-FFF2-40B4-BE49-F238E27FC236}">
                <a16:creationId xmlns:a16="http://schemas.microsoft.com/office/drawing/2014/main" id="{72024C2E-E695-4DED-B42B-A949900F3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343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a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34AF24B8-87A5-4EA6-94C6-283A75DBE9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3.7.2  </a:t>
            </a:r>
            <a:r>
              <a:rPr lang="zh-CN" altLang="en-US" dirty="0"/>
              <a:t>模拟</a:t>
            </a:r>
            <a:r>
              <a:rPr lang="en-US" altLang="zh-CN" dirty="0"/>
              <a:t>NFA</a:t>
            </a:r>
            <a:r>
              <a:rPr lang="zh-CN" altLang="en-US" dirty="0"/>
              <a:t>（算法</a:t>
            </a:r>
            <a:r>
              <a:rPr lang="en-US" altLang="zh-CN" dirty="0"/>
              <a:t>3.4</a:t>
            </a:r>
            <a:r>
              <a:rPr lang="zh-CN" altLang="en-US" dirty="0"/>
              <a:t>）</a:t>
            </a:r>
          </a:p>
        </p:txBody>
      </p:sp>
      <p:sp>
        <p:nvSpPr>
          <p:cNvPr id="144387" name="Text Box 3">
            <a:extLst>
              <a:ext uri="{FF2B5EF4-FFF2-40B4-BE49-F238E27FC236}">
                <a16:creationId xmlns:a16="http://schemas.microsoft.com/office/drawing/2014/main" id="{FC601B9F-A00C-4460-BC3E-0A2DF1139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1600200"/>
            <a:ext cx="472440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latin typeface="Courier New" panose="02070309020205020404" pitchFamily="49" charset="0"/>
              </a:rPr>
              <a:t>s </a:t>
            </a:r>
            <a:r>
              <a:rPr kumimoji="0" lang="en-US" altLang="zh-CN" sz="2000" dirty="0">
                <a:latin typeface="Courier New" panose="02070309020205020404" pitchFamily="49" charset="0"/>
                <a:sym typeface="Symbol" panose="05050102010706020507" pitchFamily="18" charset="2"/>
              </a:rPr>
              <a:t> s</a:t>
            </a:r>
            <a:r>
              <a:rPr kumimoji="0" lang="en-US" altLang="zh-CN" sz="2000" baseline="-25000" dirty="0"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  <a:endParaRPr kumimoji="0" lang="en-US" altLang="zh-CN" sz="2000" dirty="0">
              <a:latin typeface="Courier New" panose="02070309020205020404" pitchFamily="49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latin typeface="Courier New" panose="02070309020205020404" pitchFamily="49" charset="0"/>
              </a:rPr>
              <a:t>c </a:t>
            </a:r>
            <a:r>
              <a:rPr kumimoji="0" lang="en-US" altLang="zh-CN" sz="2000" dirty="0">
                <a:latin typeface="Courier New" panose="02070309020205020404" pitchFamily="49" charset="0"/>
                <a:sym typeface="Symbol" panose="05050102010706020507" pitchFamily="18" charset="2"/>
              </a:rPr>
              <a:t> </a:t>
            </a:r>
            <a:r>
              <a:rPr kumimoji="0" lang="en-US" altLang="zh-CN" sz="2000" dirty="0" err="1">
                <a:latin typeface="Courier New" panose="02070309020205020404" pitchFamily="49" charset="0"/>
                <a:sym typeface="Symbol" panose="05050102010706020507" pitchFamily="18" charset="2"/>
              </a:rPr>
              <a:t>nextchar</a:t>
            </a:r>
            <a:r>
              <a:rPr kumimoji="0" lang="en-US" altLang="zh-CN" sz="2000" dirty="0">
                <a:latin typeface="Courier New" panose="02070309020205020404" pitchFamily="49" charset="0"/>
                <a:sym typeface="Symbol" panose="05050102010706020507" pitchFamily="18" charset="2"/>
              </a:rPr>
              <a:t>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latin typeface="Courier New" panose="02070309020205020404" pitchFamily="49" charset="0"/>
                <a:sym typeface="Symbol" panose="05050102010706020507" pitchFamily="18" charset="2"/>
              </a:rPr>
              <a:t>while c  </a:t>
            </a:r>
            <a:r>
              <a:rPr kumimoji="0" lang="en-US" altLang="zh-CN" sz="2000" dirty="0" err="1">
                <a:latin typeface="Courier New" panose="02070309020205020404" pitchFamily="49" charset="0"/>
                <a:sym typeface="Symbol" panose="05050102010706020507" pitchFamily="18" charset="2"/>
              </a:rPr>
              <a:t>eof</a:t>
            </a:r>
            <a:r>
              <a:rPr kumimoji="0" lang="en-US" altLang="zh-CN" sz="2000" dirty="0">
                <a:latin typeface="Courier New" panose="02070309020205020404" pitchFamily="49" charset="0"/>
                <a:sym typeface="Symbol" panose="05050102010706020507" pitchFamily="18" charset="2"/>
              </a:rPr>
              <a:t> do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latin typeface="Courier New" panose="02070309020205020404" pitchFamily="49" charset="0"/>
                <a:sym typeface="Symbol" panose="05050102010706020507" pitchFamily="18" charset="2"/>
              </a:rPr>
              <a:t>  s  </a:t>
            </a:r>
            <a:r>
              <a:rPr kumimoji="0" lang="en-US" altLang="zh-CN" sz="2000" dirty="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000" dirty="0"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kumimoji="0" lang="en-US" altLang="zh-CN" sz="2000" dirty="0" err="1">
                <a:latin typeface="Courier New" panose="02070309020205020404" pitchFamily="49" charset="0"/>
                <a:sym typeface="Symbol" panose="05050102010706020507" pitchFamily="18" charset="2"/>
              </a:rPr>
              <a:t>s,c</a:t>
            </a:r>
            <a:r>
              <a:rPr kumimoji="0" lang="en-US" altLang="zh-CN" sz="2000" dirty="0">
                <a:latin typeface="Courier New" panose="02070309020205020404" pitchFamily="49" charset="0"/>
                <a:sym typeface="Symbol" panose="05050102010706020507" pitchFamily="18" charset="2"/>
              </a:rPr>
              <a:t>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latin typeface="Courier New" panose="02070309020205020404" pitchFamily="49" charset="0"/>
                <a:sym typeface="Symbol" panose="05050102010706020507" pitchFamily="18" charset="2"/>
              </a:rPr>
              <a:t>  c  </a:t>
            </a:r>
            <a:r>
              <a:rPr kumimoji="0" lang="en-US" altLang="zh-CN" sz="2000" dirty="0" err="1">
                <a:latin typeface="Courier New" panose="02070309020205020404" pitchFamily="49" charset="0"/>
                <a:sym typeface="Symbol" panose="05050102010706020507" pitchFamily="18" charset="2"/>
              </a:rPr>
              <a:t>nextchar</a:t>
            </a:r>
            <a:r>
              <a:rPr kumimoji="0" lang="en-US" altLang="zh-CN" sz="2000" dirty="0">
                <a:latin typeface="Courier New" panose="02070309020205020404" pitchFamily="49" charset="0"/>
                <a:sym typeface="Symbol" panose="05050102010706020507" pitchFamily="18" charset="2"/>
              </a:rPr>
              <a:t>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latin typeface="Courier New" panose="02070309020205020404" pitchFamily="49" charset="0"/>
                <a:sym typeface="Symbol" panose="05050102010706020507" pitchFamily="18" charset="2"/>
              </a:rPr>
              <a:t>end;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latin typeface="Courier New" panose="02070309020205020404" pitchFamily="49" charset="0"/>
                <a:sym typeface="Symbol" panose="05050102010706020507" pitchFamily="18" charset="2"/>
              </a:rPr>
              <a:t>if s is in F then return “yes”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latin typeface="Courier New" panose="02070309020205020404" pitchFamily="49" charset="0"/>
                <a:sym typeface="Symbol" panose="05050102010706020507" pitchFamily="18" charset="2"/>
              </a:rPr>
              <a:t>             else return “no”</a:t>
            </a:r>
          </a:p>
        </p:txBody>
      </p:sp>
      <p:sp>
        <p:nvSpPr>
          <p:cNvPr id="144388" name="Text Box 4">
            <a:extLst>
              <a:ext uri="{FF2B5EF4-FFF2-40B4-BE49-F238E27FC236}">
                <a16:creationId xmlns:a16="http://schemas.microsoft.com/office/drawing/2014/main" id="{E8DBA52B-BB32-47EC-A17B-1BB3B33F4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0"/>
            <a:ext cx="4343400" cy="29305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</a:rPr>
              <a:t>T </a:t>
            </a: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 </a:t>
            </a:r>
            <a:r>
              <a:rPr kumimoji="0" lang="en-US" altLang="zh-CN" sz="2400" b="0" dirty="0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dirty="0">
                <a:solidFill>
                  <a:srgbClr val="FF3300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-closure({s</a:t>
            </a:r>
            <a:r>
              <a:rPr kumimoji="0" lang="en-US" altLang="zh-CN" sz="2000" baseline="-25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0</a:t>
            </a: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})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</a:rPr>
              <a:t>c </a:t>
            </a: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 </a:t>
            </a:r>
            <a:r>
              <a:rPr kumimoji="0" lang="en-US" altLang="zh-CN" sz="2000" dirty="0" err="1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nextchar</a:t>
            </a: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while c  </a:t>
            </a:r>
            <a:r>
              <a:rPr kumimoji="0" lang="en-US" altLang="zh-CN" sz="2000" dirty="0" err="1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eof</a:t>
            </a: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do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T  </a:t>
            </a:r>
            <a:r>
              <a:rPr kumimoji="0" lang="en-US" altLang="zh-CN" sz="2400" b="0" dirty="0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000" dirty="0">
                <a:solidFill>
                  <a:srgbClr val="FF3300"/>
                </a:solidFill>
                <a:sym typeface="Symbol" panose="05050102010706020507" pitchFamily="18" charset="2"/>
              </a:rPr>
              <a:t> </a:t>
            </a: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-closure(</a:t>
            </a:r>
            <a:r>
              <a:rPr kumimoji="0" lang="en-US" altLang="zh-CN" sz="2000" dirty="0">
                <a:solidFill>
                  <a:srgbClr val="FF33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(</a:t>
            </a:r>
            <a:r>
              <a:rPr kumimoji="0" lang="en-US" altLang="zh-CN" sz="2000" dirty="0" err="1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T,c</a:t>
            </a: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));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c  </a:t>
            </a:r>
            <a:r>
              <a:rPr kumimoji="0" lang="en-US" altLang="zh-CN" sz="2000" dirty="0" err="1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nextchar</a:t>
            </a: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end;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if TF then return “yes”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dirty="0">
                <a:solidFill>
                  <a:srgbClr val="FF3300"/>
                </a:solidFill>
                <a:latin typeface="Courier New" panose="02070309020205020404" pitchFamily="49" charset="0"/>
                <a:sym typeface="Symbol" panose="05050102010706020507" pitchFamily="18" charset="2"/>
              </a:rPr>
              <a:t>          else return “no”</a:t>
            </a:r>
          </a:p>
        </p:txBody>
      </p:sp>
      <p:sp>
        <p:nvSpPr>
          <p:cNvPr id="148485" name="Text Box 5">
            <a:extLst>
              <a:ext uri="{FF2B5EF4-FFF2-40B4-BE49-F238E27FC236}">
                <a16:creationId xmlns:a16="http://schemas.microsoft.com/office/drawing/2014/main" id="{F8025ED1-E14D-4DF5-9D1F-003FA98389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4419600"/>
            <a:ext cx="1676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>
                <a:solidFill>
                  <a:srgbClr val="FF3300"/>
                </a:solidFill>
                <a:latin typeface="Tahoma" panose="020B0604030504040204" pitchFamily="34" charset="0"/>
              </a:rPr>
              <a:t>对照</a:t>
            </a:r>
            <a:r>
              <a:rPr lang="en-US" altLang="zh-CN" sz="2400" b="0">
                <a:solidFill>
                  <a:srgbClr val="FF3300"/>
                </a:solidFill>
                <a:latin typeface="Tahoma" panose="020B0604030504040204" pitchFamily="34" charset="0"/>
              </a:rPr>
              <a:t>DFA</a:t>
            </a:r>
            <a:r>
              <a:rPr lang="zh-CN" altLang="en-US" sz="2400" b="0">
                <a:solidFill>
                  <a:srgbClr val="FF3300"/>
                </a:solidFill>
                <a:latin typeface="Tahoma" panose="020B0604030504040204" pitchFamily="34" charset="0"/>
              </a:rPr>
              <a:t>模拟算法</a:t>
            </a:r>
          </a:p>
        </p:txBody>
      </p:sp>
      <p:sp>
        <p:nvSpPr>
          <p:cNvPr id="148486" name="Line 6">
            <a:extLst>
              <a:ext uri="{FF2B5EF4-FFF2-40B4-BE49-F238E27FC236}">
                <a16:creationId xmlns:a16="http://schemas.microsoft.com/office/drawing/2014/main" id="{06831E26-6FD1-4071-A751-15BBA69ACE8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67400" y="4038600"/>
            <a:ext cx="533400" cy="762000"/>
          </a:xfrm>
          <a:prstGeom prst="line">
            <a:avLst/>
          </a:prstGeom>
          <a:noFill/>
          <a:ln w="254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144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144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2000" fill="hold"/>
                                        <p:tgtEl>
                                          <p:spTgt spid="144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2000" fill="hold"/>
                                        <p:tgtEl>
                                          <p:spTgt spid="144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2000" fill="hold"/>
                                        <p:tgtEl>
                                          <p:spTgt spid="144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" dur="2000" fill="hold"/>
                                        <p:tgtEl>
                                          <p:spTgt spid="144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2000" fill="hold"/>
                                        <p:tgtEl>
                                          <p:spTgt spid="14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14438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144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3D3C46DF-E08F-4217-82FB-5F56E6C408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3.7.3  NFA</a:t>
            </a:r>
            <a:r>
              <a:rPr lang="zh-CN" altLang="en-US"/>
              <a:t>与</a:t>
            </a:r>
            <a:r>
              <a:rPr lang="en-US" altLang="zh-CN"/>
              <a:t>DFA</a:t>
            </a:r>
            <a:r>
              <a:rPr lang="zh-CN" altLang="en-US"/>
              <a:t>的比较</a:t>
            </a:r>
          </a:p>
        </p:txBody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15BD6F1F-FF86-473B-935D-B746AE500A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3733800"/>
          </a:xfrm>
        </p:spPr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zh-CN" altLang="en-US"/>
              <a:t>模拟算法</a:t>
            </a:r>
          </a:p>
          <a:p>
            <a:pPr lvl="1" eaLnBrk="1" hangingPunct="1"/>
            <a:r>
              <a:rPr lang="zh-CN" altLang="en-US"/>
              <a:t>两个栈：当前状态集</a:t>
            </a:r>
            <a:r>
              <a:rPr lang="en-US" altLang="zh-CN"/>
              <a:t>/</a:t>
            </a:r>
            <a:r>
              <a:rPr lang="zh-CN" altLang="en-US"/>
              <a:t>下一状态集</a:t>
            </a:r>
          </a:p>
          <a:p>
            <a:pPr lvl="1" eaLnBrk="1" hangingPunct="1"/>
            <a:r>
              <a:rPr lang="zh-CN" altLang="en-US"/>
              <a:t>时间与</a:t>
            </a:r>
            <a:r>
              <a:rPr lang="en-US" altLang="zh-CN"/>
              <a:t>|N|*|x|</a:t>
            </a:r>
            <a:r>
              <a:rPr lang="zh-CN" altLang="en-US"/>
              <a:t>成比例，</a:t>
            </a:r>
            <a:r>
              <a:rPr lang="en-US" altLang="zh-CN"/>
              <a:t>|N|——</a:t>
            </a:r>
            <a:r>
              <a:rPr lang="zh-CN" altLang="en-US"/>
              <a:t>状态数，</a:t>
            </a:r>
            <a:br>
              <a:rPr lang="zh-CN" altLang="en-US"/>
            </a:br>
            <a:r>
              <a:rPr lang="en-US" altLang="zh-CN"/>
              <a:t>|x|——</a:t>
            </a:r>
            <a:r>
              <a:rPr lang="zh-CN" altLang="en-US"/>
              <a:t>输入串长度</a:t>
            </a:r>
          </a:p>
          <a:p>
            <a:pPr eaLnBrk="1" hangingPunct="1"/>
            <a:r>
              <a:rPr lang="en-US" altLang="zh-CN"/>
              <a:t>NFA</a:t>
            </a:r>
            <a:r>
              <a:rPr lang="zh-CN" altLang="en-US"/>
              <a:t>实现正规式</a:t>
            </a:r>
            <a:r>
              <a:rPr lang="en-US" altLang="zh-CN"/>
              <a:t>/DFA</a:t>
            </a:r>
            <a:r>
              <a:rPr lang="zh-CN" altLang="en-US"/>
              <a:t>实现正规式</a:t>
            </a:r>
            <a:r>
              <a:rPr lang="en-US" altLang="zh-CN"/>
              <a:t>——</a:t>
            </a:r>
            <a:br>
              <a:rPr lang="en-US" altLang="zh-CN"/>
            </a:br>
            <a:r>
              <a:rPr lang="zh-CN" altLang="en-US"/>
              <a:t>时－空的折衷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14CA228C-16EC-4E0D-A242-8C2D4BDE69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一种解决方法</a:t>
            </a:r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099589AA-2F89-4CBE-9BC0-74BB86ABDB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3733800"/>
          </a:xfrm>
        </p:spPr>
        <p:txBody>
          <a:bodyPr/>
          <a:lstStyle/>
          <a:p>
            <a:pPr eaLnBrk="1" hangingPunct="1"/>
            <a:r>
              <a:rPr lang="zh-CN" altLang="en-US" dirty="0"/>
              <a:t>“</a:t>
            </a:r>
            <a:r>
              <a:rPr lang="en-US" altLang="zh-CN" dirty="0">
                <a:solidFill>
                  <a:schemeClr val="hlink"/>
                </a:solidFill>
              </a:rPr>
              <a:t>lazy transition evaluation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使用</a:t>
            </a:r>
            <a:r>
              <a:rPr lang="en-US" altLang="zh-CN" dirty="0"/>
              <a:t>DFA</a:t>
            </a:r>
            <a:r>
              <a:rPr lang="zh-CN" altLang="en-US" dirty="0"/>
              <a:t>进行词法分析</a:t>
            </a:r>
          </a:p>
          <a:p>
            <a:pPr lvl="1" eaLnBrk="1" hangingPunct="1"/>
            <a:r>
              <a:rPr lang="zh-CN" altLang="en-US" dirty="0"/>
              <a:t>但不预先构造完整的</a:t>
            </a:r>
            <a:r>
              <a:rPr lang="en-US" altLang="zh-CN" dirty="0"/>
              <a:t>DFA</a:t>
            </a:r>
            <a:r>
              <a:rPr lang="zh-CN" altLang="en-US" dirty="0"/>
              <a:t>，而是翻译（词法分析）过程中用到哪些状态和转换关系才即时计算，并利用缓存机制</a:t>
            </a:r>
          </a:p>
        </p:txBody>
      </p:sp>
      <p:grpSp>
        <p:nvGrpSpPr>
          <p:cNvPr id="150532" name="Group 4">
            <a:extLst>
              <a:ext uri="{FF2B5EF4-FFF2-40B4-BE49-F238E27FC236}">
                <a16:creationId xmlns:a16="http://schemas.microsoft.com/office/drawing/2014/main" id="{513EFEED-1A4D-4423-91F5-300F46ECBDBF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3671888"/>
            <a:ext cx="4495800" cy="1585912"/>
            <a:chOff x="1488" y="2256"/>
            <a:chExt cx="2832" cy="999"/>
          </a:xfrm>
        </p:grpSpPr>
        <p:sp>
          <p:nvSpPr>
            <p:cNvPr id="150533" name="Text Box 5">
              <a:extLst>
                <a:ext uri="{FF2B5EF4-FFF2-40B4-BE49-F238E27FC236}">
                  <a16:creationId xmlns:a16="http://schemas.microsoft.com/office/drawing/2014/main" id="{4FE80CB8-17BD-4731-886B-F45603635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256"/>
              <a:ext cx="8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space</a:t>
              </a:r>
            </a:p>
          </p:txBody>
        </p:sp>
        <p:sp>
          <p:nvSpPr>
            <p:cNvPr id="150534" name="Text Box 6">
              <a:extLst>
                <a:ext uri="{FF2B5EF4-FFF2-40B4-BE49-F238E27FC236}">
                  <a16:creationId xmlns:a16="http://schemas.microsoft.com/office/drawing/2014/main" id="{871A90E7-EDFA-4AFE-AEC7-8B7AF1CC24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592"/>
              <a:ext cx="8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>
                  <a:solidFill>
                    <a:srgbClr val="FF3300"/>
                  </a:solidFill>
                </a:rPr>
                <a:t>O(|r|)</a:t>
              </a:r>
            </a:p>
          </p:txBody>
        </p:sp>
        <p:sp>
          <p:nvSpPr>
            <p:cNvPr id="150535" name="Text Box 7">
              <a:extLst>
                <a:ext uri="{FF2B5EF4-FFF2-40B4-BE49-F238E27FC236}">
                  <a16:creationId xmlns:a16="http://schemas.microsoft.com/office/drawing/2014/main" id="{201FE8AF-BFAB-490A-93A5-7FFA118343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592"/>
              <a:ext cx="100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>
                  <a:solidFill>
                    <a:srgbClr val="FF3300"/>
                  </a:solidFill>
                </a:rPr>
                <a:t>O(|r|*|x|)</a:t>
              </a:r>
            </a:p>
          </p:txBody>
        </p:sp>
        <p:sp>
          <p:nvSpPr>
            <p:cNvPr id="150536" name="Text Box 8">
              <a:extLst>
                <a:ext uri="{FF2B5EF4-FFF2-40B4-BE49-F238E27FC236}">
                  <a16:creationId xmlns:a16="http://schemas.microsoft.com/office/drawing/2014/main" id="{6384EA5C-99E8-4225-B79C-3B6161C24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928"/>
              <a:ext cx="8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>
                  <a:solidFill>
                    <a:srgbClr val="FF3300"/>
                  </a:solidFill>
                </a:rPr>
                <a:t>O(|x|)</a:t>
              </a:r>
            </a:p>
          </p:txBody>
        </p:sp>
        <p:sp>
          <p:nvSpPr>
            <p:cNvPr id="150537" name="Text Box 9">
              <a:extLst>
                <a:ext uri="{FF2B5EF4-FFF2-40B4-BE49-F238E27FC236}">
                  <a16:creationId xmlns:a16="http://schemas.microsoft.com/office/drawing/2014/main" id="{D9A69E99-65FE-4EAC-9C27-3221160760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928"/>
              <a:ext cx="8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>
                  <a:solidFill>
                    <a:srgbClr val="FF3300"/>
                  </a:solidFill>
                </a:rPr>
                <a:t>O(2</a:t>
              </a:r>
              <a:r>
                <a:rPr kumimoji="0" lang="en-US" altLang="zh-CN" sz="2800" baseline="30000">
                  <a:solidFill>
                    <a:srgbClr val="FF3300"/>
                  </a:solidFill>
                </a:rPr>
                <a:t>|r|</a:t>
              </a:r>
              <a:r>
                <a:rPr kumimoji="0" lang="en-US" altLang="zh-CN" sz="2800">
                  <a:solidFill>
                    <a:srgbClr val="FF3300"/>
                  </a:solidFill>
                </a:rPr>
                <a:t>)</a:t>
              </a:r>
            </a:p>
          </p:txBody>
        </p:sp>
        <p:sp>
          <p:nvSpPr>
            <p:cNvPr id="150538" name="Text Box 10">
              <a:extLst>
                <a:ext uri="{FF2B5EF4-FFF2-40B4-BE49-F238E27FC236}">
                  <a16:creationId xmlns:a16="http://schemas.microsoft.com/office/drawing/2014/main" id="{ACE4482A-2E36-49EE-9CE3-7F6BE84B1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928"/>
              <a:ext cx="8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DFA</a:t>
              </a:r>
            </a:p>
          </p:txBody>
        </p:sp>
        <p:sp>
          <p:nvSpPr>
            <p:cNvPr id="150539" name="Text Box 11">
              <a:extLst>
                <a:ext uri="{FF2B5EF4-FFF2-40B4-BE49-F238E27FC236}">
                  <a16:creationId xmlns:a16="http://schemas.microsoft.com/office/drawing/2014/main" id="{AFC58BE7-076C-4DD2-B0CF-621B11E79D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592"/>
              <a:ext cx="8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NFA</a:t>
              </a:r>
            </a:p>
          </p:txBody>
        </p:sp>
        <p:sp>
          <p:nvSpPr>
            <p:cNvPr id="150540" name="Text Box 12">
              <a:extLst>
                <a:ext uri="{FF2B5EF4-FFF2-40B4-BE49-F238E27FC236}">
                  <a16:creationId xmlns:a16="http://schemas.microsoft.com/office/drawing/2014/main" id="{A8AD5A11-D007-4609-8A1E-4E0636DC4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256"/>
              <a:ext cx="8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800"/>
                <a:t>time</a:t>
              </a:r>
            </a:p>
          </p:txBody>
        </p:sp>
      </p:grp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C760D563-9871-4D48-9D35-11D26E168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8A065BB4-0910-45DE-A0E8-B035BAB82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词法分析器的构造</a:t>
            </a:r>
          </a:p>
          <a:p>
            <a:pPr lvl="1" eaLnBrk="1" hangingPunct="1"/>
            <a:r>
              <a:rPr lang="zh-CN" altLang="en-US"/>
              <a:t>正规式</a:t>
            </a:r>
            <a:r>
              <a:rPr lang="zh-CN" altLang="en-US">
                <a:sym typeface="Wingdings" panose="05000000000000000000" pitchFamily="2" charset="2"/>
              </a:rPr>
              <a:t>构造</a:t>
            </a:r>
            <a:r>
              <a:rPr lang="en-US" altLang="zh-CN">
                <a:sym typeface="Wingdings" panose="05000000000000000000" pitchFamily="2" charset="2"/>
              </a:rPr>
              <a:t>NFA</a:t>
            </a:r>
          </a:p>
          <a:p>
            <a:pPr lvl="1" eaLnBrk="1" hangingPunct="1"/>
            <a:r>
              <a:rPr lang="en-US" altLang="zh-CN"/>
              <a:t>NFA</a:t>
            </a: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转换</a:t>
            </a:r>
            <a:r>
              <a:rPr lang="en-US" altLang="zh-CN">
                <a:sym typeface="Wingdings" panose="05000000000000000000" pitchFamily="2" charset="2"/>
              </a:rPr>
              <a:t>DFA</a:t>
            </a: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模拟</a:t>
            </a:r>
            <a:r>
              <a:rPr lang="en-US" altLang="zh-CN">
                <a:sym typeface="Wingdings" panose="05000000000000000000" pitchFamily="2" charset="2"/>
              </a:rPr>
              <a:t>DFA</a:t>
            </a:r>
            <a:r>
              <a:rPr lang="zh-CN" altLang="en-US">
                <a:sym typeface="Wingdings" panose="05000000000000000000" pitchFamily="2" charset="2"/>
              </a:rPr>
              <a:t>词法分析器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39F0AF70-D25B-41B7-95CC-9B5B6512AC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</a:t>
            </a:r>
          </a:p>
        </p:txBody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288F3063-C4BE-43A3-9BFA-00EE109452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/>
              <a:t>自动生成</a:t>
            </a:r>
            <a:r>
              <a:rPr lang="en-US" altLang="zh-CN"/>
              <a:t>——Lex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olidFill>
                  <a:schemeClr val="tx1"/>
                </a:solidFill>
                <a:sym typeface="Symbol" panose="05050102010706020507" pitchFamily="18" charset="2"/>
              </a:rPr>
              <a:t>Pattern       Action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olidFill>
                  <a:schemeClr val="tx1"/>
                </a:solidFill>
                <a:sym typeface="Symbol" panose="05050102010706020507" pitchFamily="18" charset="2"/>
              </a:rPr>
              <a:t>Pattern       Action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b="1">
                <a:solidFill>
                  <a:schemeClr val="tx1"/>
                </a:solidFill>
                <a:sym typeface="Symbol" panose="05050102010706020507" pitchFamily="18" charset="2"/>
              </a:rPr>
              <a:t>    …               …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>
                <a:sym typeface="Symbol" panose="05050102010706020507" pitchFamily="18" charset="2"/>
              </a:rPr>
              <a:t>模式</a:t>
            </a:r>
            <a:r>
              <a:rPr kumimoji="0" lang="en-US" altLang="zh-CN">
                <a:sym typeface="Symbol" panose="05050102010706020507" pitchFamily="18" charset="2"/>
              </a:rPr>
              <a:t>——</a:t>
            </a:r>
            <a:r>
              <a:rPr kumimoji="0" lang="zh-CN" altLang="en-US">
                <a:sym typeface="Symbol" panose="05050102010706020507" pitchFamily="18" charset="2"/>
              </a:rPr>
              <a:t>正规式</a:t>
            </a:r>
            <a:r>
              <a:rPr kumimoji="0" lang="en-US" altLang="zh-CN">
                <a:sym typeface="Symbol" panose="05050102010706020507" pitchFamily="18" charset="2"/>
              </a:rPr>
              <a:t>——</a:t>
            </a:r>
          </a:p>
          <a:p>
            <a:pPr lvl="1" eaLnBrk="1" hangingPunct="1">
              <a:lnSpc>
                <a:spcPct val="8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>
                <a:sym typeface="Symbol" panose="05050102010706020507" pitchFamily="18" charset="2"/>
              </a:rPr>
              <a:t>识别一个单词的词素</a:t>
            </a:r>
          </a:p>
        </p:txBody>
      </p:sp>
      <p:sp>
        <p:nvSpPr>
          <p:cNvPr id="152580" name="AutoShape 4">
            <a:extLst>
              <a:ext uri="{FF2B5EF4-FFF2-40B4-BE49-F238E27FC236}">
                <a16:creationId xmlns:a16="http://schemas.microsoft.com/office/drawing/2014/main" id="{288AA659-CF1E-45E8-927D-6CE5ED606ACD}"/>
              </a:ext>
            </a:extLst>
          </p:cNvPr>
          <p:cNvSpPr>
            <a:spLocks/>
          </p:cNvSpPr>
          <p:nvPr/>
        </p:nvSpPr>
        <p:spPr bwMode="auto">
          <a:xfrm>
            <a:off x="4800600" y="2224088"/>
            <a:ext cx="76200" cy="1066800"/>
          </a:xfrm>
          <a:prstGeom prst="rightBrace">
            <a:avLst>
              <a:gd name="adj1" fmla="val 116667"/>
              <a:gd name="adj2" fmla="val 46278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52581" name="Text Box 5">
            <a:extLst>
              <a:ext uri="{FF2B5EF4-FFF2-40B4-BE49-F238E27FC236}">
                <a16:creationId xmlns:a16="http://schemas.microsoft.com/office/drawing/2014/main" id="{74083E09-8A2F-4805-9556-60BFC3BDF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2452688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e.g.</a:t>
            </a:r>
          </a:p>
        </p:txBody>
      </p:sp>
      <p:sp>
        <p:nvSpPr>
          <p:cNvPr id="152582" name="Oval 6">
            <a:extLst>
              <a:ext uri="{FF2B5EF4-FFF2-40B4-BE49-F238E27FC236}">
                <a16:creationId xmlns:a16="http://schemas.microsoft.com/office/drawing/2014/main" id="{D1B05A33-A09E-4FC4-893A-B8E5881EF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605088"/>
            <a:ext cx="381000" cy="3810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52583" name="AutoShape 7">
            <a:extLst>
              <a:ext uri="{FF2B5EF4-FFF2-40B4-BE49-F238E27FC236}">
                <a16:creationId xmlns:a16="http://schemas.microsoft.com/office/drawing/2014/main" id="{64EC57C0-4287-49C8-866C-FE9A6BF13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1995488"/>
            <a:ext cx="1828800" cy="60960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52584" name="AutoShape 8">
            <a:extLst>
              <a:ext uri="{FF2B5EF4-FFF2-40B4-BE49-F238E27FC236}">
                <a16:creationId xmlns:a16="http://schemas.microsoft.com/office/drawing/2014/main" id="{3C55E281-E486-4B6F-826D-9BDFAD7CD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909888"/>
            <a:ext cx="1828800" cy="609600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52585" name="Oval 9">
            <a:extLst>
              <a:ext uri="{FF2B5EF4-FFF2-40B4-BE49-F238E27FC236}">
                <a16:creationId xmlns:a16="http://schemas.microsoft.com/office/drawing/2014/main" id="{C3E35453-F58D-4D43-9AD4-5FD188522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2986088"/>
            <a:ext cx="381000" cy="3810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52586" name="Oval 10">
            <a:extLst>
              <a:ext uri="{FF2B5EF4-FFF2-40B4-BE49-F238E27FC236}">
                <a16:creationId xmlns:a16="http://schemas.microsoft.com/office/drawing/2014/main" id="{B767A161-EE49-41C1-AD26-C7E40E38C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2071688"/>
            <a:ext cx="381000" cy="3810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52587" name="Line 11">
            <a:extLst>
              <a:ext uri="{FF2B5EF4-FFF2-40B4-BE49-F238E27FC236}">
                <a16:creationId xmlns:a16="http://schemas.microsoft.com/office/drawing/2014/main" id="{6F23B1B0-24B8-4FA2-A904-6C54EC5C0E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3600" y="2376488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588" name="Line 12">
            <a:extLst>
              <a:ext uri="{FF2B5EF4-FFF2-40B4-BE49-F238E27FC236}">
                <a16:creationId xmlns:a16="http://schemas.microsoft.com/office/drawing/2014/main" id="{FB7A8909-018A-4116-AE0E-C0E51D161B0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2986088"/>
            <a:ext cx="381000" cy="228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589" name="Line 13">
            <a:extLst>
              <a:ext uri="{FF2B5EF4-FFF2-40B4-BE49-F238E27FC236}">
                <a16:creationId xmlns:a16="http://schemas.microsoft.com/office/drawing/2014/main" id="{96319B99-6481-4C3C-83D4-994B9F0BA9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986088"/>
            <a:ext cx="3810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590" name="Text Box 14">
            <a:extLst>
              <a:ext uri="{FF2B5EF4-FFF2-40B4-BE49-F238E27FC236}">
                <a16:creationId xmlns:a16="http://schemas.microsoft.com/office/drawing/2014/main" id="{9AAFFE24-3244-45F7-8022-450D2BD8C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224088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52591" name="Text Box 15">
            <a:extLst>
              <a:ext uri="{FF2B5EF4-FFF2-40B4-BE49-F238E27FC236}">
                <a16:creationId xmlns:a16="http://schemas.microsoft.com/office/drawing/2014/main" id="{A5DD0D27-A0EF-4318-89AD-CA7E94C3D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2757488"/>
            <a:ext cx="533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52592" name="Text Box 16">
            <a:extLst>
              <a:ext uri="{FF2B5EF4-FFF2-40B4-BE49-F238E27FC236}">
                <a16:creationId xmlns:a16="http://schemas.microsoft.com/office/drawing/2014/main" id="{A337FE3E-7C87-463B-9158-C77AD3A3E6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214688"/>
            <a:ext cx="457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52593" name="Oval 17">
            <a:extLst>
              <a:ext uri="{FF2B5EF4-FFF2-40B4-BE49-F238E27FC236}">
                <a16:creationId xmlns:a16="http://schemas.microsoft.com/office/drawing/2014/main" id="{F3F2014E-FB0E-48C2-809D-5003D7098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3062288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52594" name="Oval 18">
            <a:extLst>
              <a:ext uri="{FF2B5EF4-FFF2-40B4-BE49-F238E27FC236}">
                <a16:creationId xmlns:a16="http://schemas.microsoft.com/office/drawing/2014/main" id="{DEC6FE10-F3E0-4CF7-B5A7-ABB922240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0" y="2147888"/>
            <a:ext cx="228600" cy="228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52595" name="Text Box 19">
            <a:extLst>
              <a:ext uri="{FF2B5EF4-FFF2-40B4-BE49-F238E27FC236}">
                <a16:creationId xmlns:a16="http://schemas.microsoft.com/office/drawing/2014/main" id="{0187C76B-CAA4-46B2-8051-18C114FF0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595688"/>
            <a:ext cx="1143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/>
              <a:t>etc.</a:t>
            </a:r>
          </a:p>
        </p:txBody>
      </p:sp>
      <p:sp>
        <p:nvSpPr>
          <p:cNvPr id="152596" name="Text Box 20">
            <a:extLst>
              <a:ext uri="{FF2B5EF4-FFF2-40B4-BE49-F238E27FC236}">
                <a16:creationId xmlns:a16="http://schemas.microsoft.com/office/drawing/2014/main" id="{C34F09E2-3204-4093-9294-6BF1F41EB6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986088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FF3300"/>
                </a:solidFill>
              </a:rPr>
              <a:t>(abc)*ab</a:t>
            </a:r>
          </a:p>
        </p:txBody>
      </p:sp>
      <p:sp>
        <p:nvSpPr>
          <p:cNvPr id="152597" name="Text Box 21">
            <a:extLst>
              <a:ext uri="{FF2B5EF4-FFF2-40B4-BE49-F238E27FC236}">
                <a16:creationId xmlns:a16="http://schemas.microsoft.com/office/drawing/2014/main" id="{447D283A-9179-475F-8054-B0BFD8F83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071688"/>
            <a:ext cx="175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FF3300"/>
                </a:solidFill>
              </a:rPr>
              <a:t>(a | b)*abb</a:t>
            </a:r>
          </a:p>
        </p:txBody>
      </p:sp>
      <p:sp>
        <p:nvSpPr>
          <p:cNvPr id="152598" name="Text Box 22">
            <a:extLst>
              <a:ext uri="{FF2B5EF4-FFF2-40B4-BE49-F238E27FC236}">
                <a16:creationId xmlns:a16="http://schemas.microsoft.com/office/drawing/2014/main" id="{DB9737CB-6162-42E9-8718-3A229EA26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3824288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>
                <a:solidFill>
                  <a:srgbClr val="3333CC"/>
                </a:solidFill>
              </a:rPr>
              <a:t>分析器</a:t>
            </a:r>
            <a:r>
              <a:rPr kumimoji="0" lang="en-US" altLang="zh-CN" sz="2800">
                <a:solidFill>
                  <a:srgbClr val="3333CC"/>
                </a:solidFill>
              </a:rPr>
              <a:t>!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899699C9-0898-4D7C-B937-EAFF640CD7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3.8  </a:t>
            </a:r>
            <a:r>
              <a:rPr lang="zh-CN" altLang="en-US"/>
              <a:t>自动生成工具的设计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5861260C-5C20-4F7A-8664-F5F730921D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2743200"/>
          </a:xfrm>
        </p:spPr>
        <p:txBody>
          <a:bodyPr/>
          <a:lstStyle/>
          <a:p>
            <a:pPr eaLnBrk="1" hangingPunct="1"/>
            <a:r>
              <a:rPr lang="zh-CN" altLang="en-US"/>
              <a:t>编写自动生成词法分析器的程序，</a:t>
            </a:r>
            <a:r>
              <a:rPr lang="en-US" altLang="zh-CN"/>
              <a:t>Lex</a:t>
            </a:r>
          </a:p>
          <a:p>
            <a:pPr eaLnBrk="1" hangingPunct="1"/>
            <a:r>
              <a:rPr lang="en-US" altLang="zh-CN"/>
              <a:t>Lex</a:t>
            </a:r>
            <a:r>
              <a:rPr lang="zh-CN" altLang="en-US"/>
              <a:t>程序格式</a:t>
            </a:r>
            <a:br>
              <a:rPr lang="zh-CN" altLang="en-US"/>
            </a:br>
            <a:r>
              <a:rPr lang="en-US" altLang="zh-CN" sz="2400"/>
              <a:t>p</a:t>
            </a:r>
            <a:r>
              <a:rPr lang="en-US" altLang="zh-CN" sz="2400" baseline="-25000"/>
              <a:t>1</a:t>
            </a:r>
            <a:r>
              <a:rPr lang="en-US" altLang="zh-CN" sz="2400"/>
              <a:t>		{ action</a:t>
            </a:r>
            <a:r>
              <a:rPr lang="en-US" altLang="zh-CN" sz="2400" baseline="-25000"/>
              <a:t>1</a:t>
            </a:r>
            <a:r>
              <a:rPr lang="en-US" altLang="zh-CN" sz="2400"/>
              <a:t> }</a:t>
            </a:r>
            <a:br>
              <a:rPr lang="en-US" altLang="zh-CN" sz="2400"/>
            </a:br>
            <a:r>
              <a:rPr lang="en-US" altLang="zh-CN" sz="2400"/>
              <a:t>p</a:t>
            </a:r>
            <a:r>
              <a:rPr lang="en-US" altLang="zh-CN" sz="2400" baseline="-25000"/>
              <a:t>2</a:t>
            </a:r>
            <a:r>
              <a:rPr lang="en-US" altLang="zh-CN" sz="2400"/>
              <a:t>		{ action</a:t>
            </a:r>
            <a:r>
              <a:rPr lang="en-US" altLang="zh-CN" sz="2400" baseline="-25000"/>
              <a:t>1</a:t>
            </a:r>
            <a:r>
              <a:rPr lang="en-US" altLang="zh-CN" sz="2400"/>
              <a:t> }</a:t>
            </a:r>
            <a:br>
              <a:rPr lang="en-US" altLang="zh-CN" sz="2400"/>
            </a:br>
            <a:r>
              <a:rPr lang="en-US" altLang="zh-CN" sz="2400"/>
              <a:t>…</a:t>
            </a:r>
            <a:br>
              <a:rPr lang="en-US" altLang="zh-CN" sz="2400"/>
            </a:br>
            <a:r>
              <a:rPr lang="en-US" altLang="zh-CN" sz="2400"/>
              <a:t>p</a:t>
            </a:r>
            <a:r>
              <a:rPr lang="en-US" altLang="zh-CN" sz="2400" baseline="-25000"/>
              <a:t>n</a:t>
            </a:r>
            <a:r>
              <a:rPr lang="en-US" altLang="zh-CN" sz="2400"/>
              <a:t>		{ action</a:t>
            </a:r>
            <a:r>
              <a:rPr lang="en-US" altLang="zh-CN" sz="2400" baseline="-25000"/>
              <a:t>1</a:t>
            </a:r>
            <a:r>
              <a:rPr lang="en-US" altLang="zh-CN" sz="2400"/>
              <a:t> }</a:t>
            </a:r>
            <a:endParaRPr lang="en-US" altLang="zh-CN"/>
          </a:p>
        </p:txBody>
      </p:sp>
      <p:grpSp>
        <p:nvGrpSpPr>
          <p:cNvPr id="153604" name="Group 4">
            <a:extLst>
              <a:ext uri="{FF2B5EF4-FFF2-40B4-BE49-F238E27FC236}">
                <a16:creationId xmlns:a16="http://schemas.microsoft.com/office/drawing/2014/main" id="{33C252AE-BD34-4F5D-841F-8D56D87E7D20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038600"/>
            <a:ext cx="7162800" cy="1600200"/>
            <a:chOff x="912" y="1152"/>
            <a:chExt cx="4512" cy="1008"/>
          </a:xfrm>
        </p:grpSpPr>
        <p:sp>
          <p:nvSpPr>
            <p:cNvPr id="153605" name="Text Box 5">
              <a:extLst>
                <a:ext uri="{FF2B5EF4-FFF2-40B4-BE49-F238E27FC236}">
                  <a16:creationId xmlns:a16="http://schemas.microsoft.com/office/drawing/2014/main" id="{DE778EFF-821C-4743-B215-5BBF81E227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152"/>
              <a:ext cx="134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Lex Specification</a:t>
              </a:r>
            </a:p>
          </p:txBody>
        </p:sp>
        <p:sp>
          <p:nvSpPr>
            <p:cNvPr id="153606" name="Text Box 6">
              <a:extLst>
                <a:ext uri="{FF2B5EF4-FFF2-40B4-BE49-F238E27FC236}">
                  <a16:creationId xmlns:a16="http://schemas.microsoft.com/office/drawing/2014/main" id="{153E963E-AC02-4A5F-A2B5-CE6D24D97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152"/>
              <a:ext cx="1248" cy="52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Lex Compiler</a:t>
              </a:r>
            </a:p>
          </p:txBody>
        </p:sp>
        <p:sp>
          <p:nvSpPr>
            <p:cNvPr id="153607" name="Text Box 7">
              <a:extLst>
                <a:ext uri="{FF2B5EF4-FFF2-40B4-BE49-F238E27FC236}">
                  <a16:creationId xmlns:a16="http://schemas.microsoft.com/office/drawing/2014/main" id="{53084382-B378-4C7E-9829-7669B2B14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152"/>
              <a:ext cx="134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Transition Table</a:t>
              </a:r>
            </a:p>
          </p:txBody>
        </p:sp>
        <p:sp>
          <p:nvSpPr>
            <p:cNvPr id="153608" name="Line 8">
              <a:extLst>
                <a:ext uri="{FF2B5EF4-FFF2-40B4-BE49-F238E27FC236}">
                  <a16:creationId xmlns:a16="http://schemas.microsoft.com/office/drawing/2014/main" id="{4DF0A20A-2824-483B-9FE2-806AB5805B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392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09" name="Line 9">
              <a:extLst>
                <a:ext uri="{FF2B5EF4-FFF2-40B4-BE49-F238E27FC236}">
                  <a16:creationId xmlns:a16="http://schemas.microsoft.com/office/drawing/2014/main" id="{55FD6AFA-EAF2-4EF9-82DD-8C768A9F5E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392"/>
              <a:ext cx="4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10" name="Text Box 10">
              <a:extLst>
                <a:ext uri="{FF2B5EF4-FFF2-40B4-BE49-F238E27FC236}">
                  <a16:creationId xmlns:a16="http://schemas.microsoft.com/office/drawing/2014/main" id="{E6DC31B9-731B-41DC-B14A-1020F0D16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872"/>
              <a:ext cx="17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(a)  Lex Compiler</a:t>
              </a:r>
            </a:p>
          </p:txBody>
        </p:sp>
      </p:grp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1F2E2D9D-00F0-46BC-8E45-E72D1D04D7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利用有限自动机实现</a:t>
            </a:r>
          </a:p>
        </p:txBody>
      </p:sp>
      <p:grpSp>
        <p:nvGrpSpPr>
          <p:cNvPr id="154627" name="Group 4">
            <a:extLst>
              <a:ext uri="{FF2B5EF4-FFF2-40B4-BE49-F238E27FC236}">
                <a16:creationId xmlns:a16="http://schemas.microsoft.com/office/drawing/2014/main" id="{70867E83-8D2D-4165-B68A-95B6A5B1048A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3200400"/>
            <a:ext cx="2133600" cy="1978025"/>
            <a:chOff x="2640" y="2736"/>
            <a:chExt cx="1344" cy="1246"/>
          </a:xfrm>
        </p:grpSpPr>
        <p:sp>
          <p:nvSpPr>
            <p:cNvPr id="154633" name="Text Box 5">
              <a:extLst>
                <a:ext uri="{FF2B5EF4-FFF2-40B4-BE49-F238E27FC236}">
                  <a16:creationId xmlns:a16="http://schemas.microsoft.com/office/drawing/2014/main" id="{5DCEE0EA-FEA9-42DD-BE0E-470960AD9B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2736"/>
              <a:ext cx="1344" cy="503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FA </a:t>
              </a:r>
            </a:p>
            <a:p>
              <a:pPr algn="ctr" eaLnBrk="1" hangingPunct="1">
                <a:lnSpc>
                  <a:spcPct val="4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Simulator</a:t>
              </a:r>
            </a:p>
          </p:txBody>
        </p:sp>
        <p:sp>
          <p:nvSpPr>
            <p:cNvPr id="154634" name="Text Box 6">
              <a:extLst>
                <a:ext uri="{FF2B5EF4-FFF2-40B4-BE49-F238E27FC236}">
                  <a16:creationId xmlns:a16="http://schemas.microsoft.com/office/drawing/2014/main" id="{E0751C9C-3310-4838-8F45-CC74F8DB45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456"/>
              <a:ext cx="1344" cy="52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Transition Table</a:t>
              </a:r>
            </a:p>
          </p:txBody>
        </p:sp>
        <p:cxnSp>
          <p:nvCxnSpPr>
            <p:cNvPr id="154635" name="AutoShape 7">
              <a:extLst>
                <a:ext uri="{FF2B5EF4-FFF2-40B4-BE49-F238E27FC236}">
                  <a16:creationId xmlns:a16="http://schemas.microsoft.com/office/drawing/2014/main" id="{39849A23-1919-42E0-A30A-1D4B56D23AC1}"/>
                </a:ext>
              </a:extLst>
            </p:cNvPr>
            <p:cNvCxnSpPr>
              <a:cxnSpLocks noChangeShapeType="1"/>
              <a:stCxn id="154633" idx="2"/>
              <a:endCxn id="154634" idx="0"/>
            </p:cNvCxnSpPr>
            <p:nvPr/>
          </p:nvCxnSpPr>
          <p:spPr bwMode="auto">
            <a:xfrm>
              <a:off x="3312" y="3239"/>
              <a:ext cx="0" cy="217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54628" name="Text Box 8">
            <a:extLst>
              <a:ext uri="{FF2B5EF4-FFF2-40B4-BE49-F238E27FC236}">
                <a16:creationId xmlns:a16="http://schemas.microsoft.com/office/drawing/2014/main" id="{F8A69857-F00D-488E-A7B0-01FCFDD95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133600"/>
            <a:ext cx="2514600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/>
              <a:t>lexeme</a:t>
            </a:r>
          </a:p>
        </p:txBody>
      </p:sp>
      <p:sp>
        <p:nvSpPr>
          <p:cNvPr id="154629" name="Text Box 9">
            <a:extLst>
              <a:ext uri="{FF2B5EF4-FFF2-40B4-BE49-F238E27FC236}">
                <a16:creationId xmlns:a16="http://schemas.microsoft.com/office/drawing/2014/main" id="{0FD09B3A-DD16-4190-BF08-7D7761586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133600"/>
            <a:ext cx="213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/>
              <a:t>input</a:t>
            </a:r>
            <a:r>
              <a:rPr kumimoji="0" lang="en-US" altLang="zh-CN" sz="2000"/>
              <a:t> buffer</a:t>
            </a:r>
          </a:p>
        </p:txBody>
      </p:sp>
      <p:sp>
        <p:nvSpPr>
          <p:cNvPr id="154630" name="Line 10">
            <a:extLst>
              <a:ext uri="{FF2B5EF4-FFF2-40B4-BE49-F238E27FC236}">
                <a16:creationId xmlns:a16="http://schemas.microsoft.com/office/drawing/2014/main" id="{3318DDF9-EFEA-4B99-AB53-6FEF461CC0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38400" y="25908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31" name="Line 11">
            <a:extLst>
              <a:ext uri="{FF2B5EF4-FFF2-40B4-BE49-F238E27FC236}">
                <a16:creationId xmlns:a16="http://schemas.microsoft.com/office/drawing/2014/main" id="{9B1D6401-43CD-4F57-9203-D9CC13F14A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2590800"/>
            <a:ext cx="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4632" name="Text Box 12">
            <a:extLst>
              <a:ext uri="{FF2B5EF4-FFF2-40B4-BE49-F238E27FC236}">
                <a16:creationId xmlns:a16="http://schemas.microsoft.com/office/drawing/2014/main" id="{BDAC771E-7791-4541-98CA-143D09B69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088" y="4460875"/>
            <a:ext cx="4141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/>
              <a:t>(b)  Schematic lexical analyzer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6F396753-C8B7-4751-B063-9594DC86F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3.8.1  </a:t>
            </a:r>
            <a:r>
              <a:rPr lang="zh-CN" altLang="en-US"/>
              <a:t>基于</a:t>
            </a:r>
            <a:r>
              <a:rPr lang="en-US" altLang="zh-CN"/>
              <a:t>NFA</a:t>
            </a:r>
            <a:r>
              <a:rPr lang="zh-CN" altLang="en-US"/>
              <a:t>的实现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326BC7ED-0C5B-40B6-8014-D099C270B5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4191000"/>
            <a:ext cx="7772400" cy="16764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为</a:t>
            </a:r>
            <a:r>
              <a:rPr lang="en-US" altLang="zh-CN" sz="2800" dirty="0"/>
              <a:t>Lex</a:t>
            </a:r>
            <a:r>
              <a:rPr lang="zh-CN" altLang="en-US" sz="2800" dirty="0"/>
              <a:t>程序中每个正规式构造</a:t>
            </a:r>
            <a:r>
              <a:rPr lang="en-US" altLang="zh-CN" sz="2800" dirty="0"/>
              <a:t>NFA</a:t>
            </a:r>
            <a:r>
              <a:rPr lang="zh-CN" altLang="en-US" sz="2800" dirty="0"/>
              <a:t>（算法</a:t>
            </a:r>
            <a:r>
              <a:rPr lang="en-US" altLang="zh-CN" sz="2800" dirty="0"/>
              <a:t>3.3</a:t>
            </a:r>
            <a:r>
              <a:rPr lang="zh-CN" altLang="en-US" sz="2800" dirty="0"/>
              <a:t>）</a:t>
            </a:r>
          </a:p>
          <a:p>
            <a:pPr eaLnBrk="1" hangingPunct="1"/>
            <a:r>
              <a:rPr lang="zh-CN" altLang="en-US" sz="2800" dirty="0"/>
              <a:t>组合，形成如上</a:t>
            </a:r>
            <a:r>
              <a:rPr lang="en-US" altLang="zh-CN" sz="2800" dirty="0"/>
              <a:t>NFA</a:t>
            </a:r>
          </a:p>
          <a:p>
            <a:pPr eaLnBrk="1" hangingPunct="1"/>
            <a:r>
              <a:rPr lang="zh-CN" altLang="en-US" sz="2800" dirty="0"/>
              <a:t>如何识别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>
                <a:hlinkClick r:id="rId2" action="ppaction://hlinksldjump"/>
              </a:rPr>
              <a:t>回顾“数”的状态转换图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>
                <a:hlinkClick r:id="rId3" action="ppaction://hlinksldjump"/>
              </a:rPr>
              <a:t>回顾</a:t>
            </a:r>
            <a:r>
              <a:rPr lang="en-US" altLang="zh-CN" sz="2400" dirty="0">
                <a:hlinkClick r:id="rId3" action="ppaction://hlinksldjump"/>
              </a:rPr>
              <a:t>Lex</a:t>
            </a:r>
            <a:r>
              <a:rPr lang="zh-CN" altLang="en-US" sz="2400" dirty="0">
                <a:hlinkClick r:id="rId3" action="ppaction://hlinksldjump"/>
              </a:rPr>
              <a:t>编程</a:t>
            </a:r>
            <a:endParaRPr lang="en-US" altLang="zh-CN" sz="2400" dirty="0"/>
          </a:p>
        </p:txBody>
      </p:sp>
      <p:sp>
        <p:nvSpPr>
          <p:cNvPr id="155652" name="Oval 4">
            <a:extLst>
              <a:ext uri="{FF2B5EF4-FFF2-40B4-BE49-F238E27FC236}">
                <a16:creationId xmlns:a16="http://schemas.microsoft.com/office/drawing/2014/main" id="{CA0CA1B6-26DB-485D-8662-3394DC714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2860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55653" name="Oval 5">
            <a:extLst>
              <a:ext uri="{FF2B5EF4-FFF2-40B4-BE49-F238E27FC236}">
                <a16:creationId xmlns:a16="http://schemas.microsoft.com/office/drawing/2014/main" id="{F155D736-6CBE-4FD2-8594-43FE38EA8E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4478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55654" name="Oval 6">
            <a:extLst>
              <a:ext uri="{FF2B5EF4-FFF2-40B4-BE49-F238E27FC236}">
                <a16:creationId xmlns:a16="http://schemas.microsoft.com/office/drawing/2014/main" id="{A6460D52-CF74-41F0-BEDD-37136DA4C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4290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55655" name="Oval 7">
            <a:extLst>
              <a:ext uri="{FF2B5EF4-FFF2-40B4-BE49-F238E27FC236}">
                <a16:creationId xmlns:a16="http://schemas.microsoft.com/office/drawing/2014/main" id="{8CC196B1-E7EC-4C5C-B5E6-A43EBD4A6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2438400"/>
            <a:ext cx="533400" cy="5334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grpSp>
        <p:nvGrpSpPr>
          <p:cNvPr id="155656" name="Group 8">
            <a:extLst>
              <a:ext uri="{FF2B5EF4-FFF2-40B4-BE49-F238E27FC236}">
                <a16:creationId xmlns:a16="http://schemas.microsoft.com/office/drawing/2014/main" id="{D0935E23-2FA5-4A4B-BEE1-1334C2E956FE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1447800"/>
            <a:ext cx="533400" cy="533400"/>
            <a:chOff x="4560" y="2400"/>
            <a:chExt cx="336" cy="336"/>
          </a:xfrm>
        </p:grpSpPr>
        <p:sp>
          <p:nvSpPr>
            <p:cNvPr id="155677" name="Oval 9">
              <a:extLst>
                <a:ext uri="{FF2B5EF4-FFF2-40B4-BE49-F238E27FC236}">
                  <a16:creationId xmlns:a16="http://schemas.microsoft.com/office/drawing/2014/main" id="{12129FE8-2509-4A06-ADC9-A8194476D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400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55678" name="Oval 10">
              <a:extLst>
                <a:ext uri="{FF2B5EF4-FFF2-40B4-BE49-F238E27FC236}">
                  <a16:creationId xmlns:a16="http://schemas.microsoft.com/office/drawing/2014/main" id="{B31BD48F-458E-4839-B243-A0920FA693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448"/>
              <a:ext cx="240" cy="2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55657" name="Group 11">
            <a:extLst>
              <a:ext uri="{FF2B5EF4-FFF2-40B4-BE49-F238E27FC236}">
                <a16:creationId xmlns:a16="http://schemas.microsoft.com/office/drawing/2014/main" id="{C5380018-261C-4199-8BD4-22F12496E281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3429000"/>
            <a:ext cx="533400" cy="533400"/>
            <a:chOff x="3552" y="3552"/>
            <a:chExt cx="336" cy="336"/>
          </a:xfrm>
        </p:grpSpPr>
        <p:sp>
          <p:nvSpPr>
            <p:cNvPr id="155675" name="Oval 12">
              <a:extLst>
                <a:ext uri="{FF2B5EF4-FFF2-40B4-BE49-F238E27FC236}">
                  <a16:creationId xmlns:a16="http://schemas.microsoft.com/office/drawing/2014/main" id="{C0BE9DB6-F378-40B5-A1AA-8021B41322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2" y="3552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55676" name="Oval 13">
              <a:extLst>
                <a:ext uri="{FF2B5EF4-FFF2-40B4-BE49-F238E27FC236}">
                  <a16:creationId xmlns:a16="http://schemas.microsoft.com/office/drawing/2014/main" id="{B80B261E-5852-4C5A-A646-B84E8A38D3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3600"/>
              <a:ext cx="240" cy="2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grpSp>
        <p:nvGrpSpPr>
          <p:cNvPr id="155658" name="Group 14">
            <a:extLst>
              <a:ext uri="{FF2B5EF4-FFF2-40B4-BE49-F238E27FC236}">
                <a16:creationId xmlns:a16="http://schemas.microsoft.com/office/drawing/2014/main" id="{85C632A6-BE42-4A5E-B2EE-D4D8D2BF8FF6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2438400"/>
            <a:ext cx="533400" cy="533400"/>
            <a:chOff x="4176" y="3168"/>
            <a:chExt cx="336" cy="336"/>
          </a:xfrm>
        </p:grpSpPr>
        <p:sp>
          <p:nvSpPr>
            <p:cNvPr id="155673" name="Oval 15">
              <a:extLst>
                <a:ext uri="{FF2B5EF4-FFF2-40B4-BE49-F238E27FC236}">
                  <a16:creationId xmlns:a16="http://schemas.microsoft.com/office/drawing/2014/main" id="{C280DF1E-87C8-4529-BA99-D29B6B0E6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3168"/>
              <a:ext cx="336" cy="33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55674" name="Oval 16">
              <a:extLst>
                <a:ext uri="{FF2B5EF4-FFF2-40B4-BE49-F238E27FC236}">
                  <a16:creationId xmlns:a16="http://schemas.microsoft.com/office/drawing/2014/main" id="{F27B804C-F044-47F4-9BD6-C396F7FE0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216"/>
              <a:ext cx="240" cy="2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</p:grpSp>
      <p:sp>
        <p:nvSpPr>
          <p:cNvPr id="155659" name="AutoShape 17">
            <a:extLst>
              <a:ext uri="{FF2B5EF4-FFF2-40B4-BE49-F238E27FC236}">
                <a16:creationId xmlns:a16="http://schemas.microsoft.com/office/drawing/2014/main" id="{8F1B9030-12CC-4EFD-A978-D5E174840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3276600"/>
            <a:ext cx="2438400" cy="762000"/>
          </a:xfrm>
          <a:prstGeom prst="roundRect">
            <a:avLst>
              <a:gd name="adj" fmla="val 24167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55660" name="AutoShape 18">
            <a:extLst>
              <a:ext uri="{FF2B5EF4-FFF2-40B4-BE49-F238E27FC236}">
                <a16:creationId xmlns:a16="http://schemas.microsoft.com/office/drawing/2014/main" id="{0FBE8DDB-99E2-450A-B5C4-421517D79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2286000"/>
            <a:ext cx="2438400" cy="762000"/>
          </a:xfrm>
          <a:prstGeom prst="roundRect">
            <a:avLst>
              <a:gd name="adj" fmla="val 24167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55661" name="AutoShape 19">
            <a:extLst>
              <a:ext uri="{FF2B5EF4-FFF2-40B4-BE49-F238E27FC236}">
                <a16:creationId xmlns:a16="http://schemas.microsoft.com/office/drawing/2014/main" id="{59E6768E-B843-4B35-A483-D6E2C8A54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371600"/>
            <a:ext cx="2438400" cy="762000"/>
          </a:xfrm>
          <a:prstGeom prst="roundRect">
            <a:avLst>
              <a:gd name="adj" fmla="val 24167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55662" name="Line 20">
            <a:extLst>
              <a:ext uri="{FF2B5EF4-FFF2-40B4-BE49-F238E27FC236}">
                <a16:creationId xmlns:a16="http://schemas.microsoft.com/office/drawing/2014/main" id="{2F41AD5F-093E-4EC6-AAAA-3AFEB21B3119}"/>
              </a:ext>
            </a:extLst>
          </p:cNvPr>
          <p:cNvSpPr>
            <a:spLocks noChangeShapeType="1"/>
          </p:cNvSpPr>
          <p:nvPr/>
        </p:nvSpPr>
        <p:spPr bwMode="auto">
          <a:xfrm>
            <a:off x="2286000" y="25908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63" name="Line 21">
            <a:extLst>
              <a:ext uri="{FF2B5EF4-FFF2-40B4-BE49-F238E27FC236}">
                <a16:creationId xmlns:a16="http://schemas.microsoft.com/office/drawing/2014/main" id="{DEC87E2B-E545-49E0-ADEF-11BC9760F1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1828800"/>
            <a:ext cx="838200" cy="533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64" name="Line 22">
            <a:extLst>
              <a:ext uri="{FF2B5EF4-FFF2-40B4-BE49-F238E27FC236}">
                <a16:creationId xmlns:a16="http://schemas.microsoft.com/office/drawing/2014/main" id="{220E39F3-F476-475E-A4B3-B70C85293AEA}"/>
              </a:ext>
            </a:extLst>
          </p:cNvPr>
          <p:cNvSpPr>
            <a:spLocks noChangeShapeType="1"/>
          </p:cNvSpPr>
          <p:nvPr/>
        </p:nvSpPr>
        <p:spPr bwMode="auto">
          <a:xfrm>
            <a:off x="3581400" y="26670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65" name="Line 23">
            <a:extLst>
              <a:ext uri="{FF2B5EF4-FFF2-40B4-BE49-F238E27FC236}">
                <a16:creationId xmlns:a16="http://schemas.microsoft.com/office/drawing/2014/main" id="{CD41BA1B-2E87-418C-89ED-09CE335693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2819400"/>
            <a:ext cx="914400" cy="914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5666" name="Text Box 24">
            <a:extLst>
              <a:ext uri="{FF2B5EF4-FFF2-40B4-BE49-F238E27FC236}">
                <a16:creationId xmlns:a16="http://schemas.microsoft.com/office/drawing/2014/main" id="{77E2A1B0-616E-442D-9F06-60099F3C9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184525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55667" name="Text Box 25">
            <a:extLst>
              <a:ext uri="{FF2B5EF4-FFF2-40B4-BE49-F238E27FC236}">
                <a16:creationId xmlns:a16="http://schemas.microsoft.com/office/drawing/2014/main" id="{31D2F917-750A-4788-BEC3-00960B94E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362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55668" name="Text Box 26">
            <a:extLst>
              <a:ext uri="{FF2B5EF4-FFF2-40B4-BE49-F238E27FC236}">
                <a16:creationId xmlns:a16="http://schemas.microsoft.com/office/drawing/2014/main" id="{5005A701-EF75-4D1B-B285-F2AA08AABE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8288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55669" name="Text Box 27">
            <a:extLst>
              <a:ext uri="{FF2B5EF4-FFF2-40B4-BE49-F238E27FC236}">
                <a16:creationId xmlns:a16="http://schemas.microsoft.com/office/drawing/2014/main" id="{75F4E86A-9EB1-4785-91FB-CA3511C88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1524000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N(P</a:t>
            </a:r>
            <a:r>
              <a:rPr kumimoji="0" lang="en-US" altLang="zh-CN" sz="2000" baseline="-25000"/>
              <a:t>1</a:t>
            </a:r>
            <a:r>
              <a:rPr kumimoji="0" lang="en-US" altLang="zh-CN" sz="2000"/>
              <a:t>)</a:t>
            </a:r>
          </a:p>
        </p:txBody>
      </p:sp>
      <p:sp>
        <p:nvSpPr>
          <p:cNvPr id="155670" name="Text Box 28">
            <a:extLst>
              <a:ext uri="{FF2B5EF4-FFF2-40B4-BE49-F238E27FC236}">
                <a16:creationId xmlns:a16="http://schemas.microsoft.com/office/drawing/2014/main" id="{3FF428C5-918A-4243-823F-5096BAAE6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14600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N(P</a:t>
            </a:r>
            <a:r>
              <a:rPr kumimoji="0" lang="en-US" altLang="zh-CN" sz="2000" baseline="-25000"/>
              <a:t>2</a:t>
            </a:r>
            <a:r>
              <a:rPr kumimoji="0" lang="en-US" altLang="zh-CN" sz="2000"/>
              <a:t>)</a:t>
            </a:r>
          </a:p>
        </p:txBody>
      </p:sp>
      <p:sp>
        <p:nvSpPr>
          <p:cNvPr id="155671" name="Text Box 29">
            <a:extLst>
              <a:ext uri="{FF2B5EF4-FFF2-40B4-BE49-F238E27FC236}">
                <a16:creationId xmlns:a16="http://schemas.microsoft.com/office/drawing/2014/main" id="{6A04C647-2F11-4307-BB9C-A65724E275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505200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/>
              <a:t>N(P</a:t>
            </a:r>
            <a:r>
              <a:rPr kumimoji="0" lang="en-US" altLang="zh-CN" sz="2000" baseline="-25000"/>
              <a:t>n</a:t>
            </a:r>
            <a:r>
              <a:rPr kumimoji="0" lang="en-US" altLang="zh-CN" sz="2000"/>
              <a:t>)</a:t>
            </a:r>
          </a:p>
        </p:txBody>
      </p:sp>
      <p:sp>
        <p:nvSpPr>
          <p:cNvPr id="155672" name="Text Box 30">
            <a:extLst>
              <a:ext uri="{FF2B5EF4-FFF2-40B4-BE49-F238E27FC236}">
                <a16:creationId xmlns:a16="http://schemas.microsoft.com/office/drawing/2014/main" id="{7E19DAFF-B054-4460-B1F1-044AB8ABE8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2362200"/>
            <a:ext cx="381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s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0</a:t>
            </a:r>
            <a:endParaRPr kumimoji="0" lang="en-US" altLang="zh-CN" sz="200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61F06E88-AADE-4A6F-A7C6-18738103E6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修改算法</a:t>
            </a:r>
            <a:r>
              <a:rPr lang="en-US" altLang="zh-CN"/>
              <a:t>3.4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0CE17BDF-23A2-478B-98B9-97862BA70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寻找与模式匹配的输入串的“最长前缀”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计算下一状态集，有终态加入，接受</a:t>
            </a:r>
            <a:br>
              <a:rPr lang="zh-CN" altLang="en-US" sz="2400"/>
            </a:br>
            <a:r>
              <a:rPr lang="zh-CN" altLang="en-US" sz="2400"/>
              <a:t>记录当前输入指针和匹配的模式</a:t>
            </a:r>
            <a:br>
              <a:rPr lang="zh-CN" altLang="en-US" sz="2400"/>
            </a:br>
            <a:r>
              <a:rPr lang="zh-CN" altLang="en-US" sz="2400"/>
              <a:t>多个终态加入</a:t>
            </a:r>
            <a:r>
              <a:rPr lang="zh-CN" altLang="en-US" sz="2400">
                <a:sym typeface="Wingdings" panose="05000000000000000000" pitchFamily="2" charset="2"/>
              </a:rPr>
              <a:t>取</a:t>
            </a:r>
            <a:r>
              <a:rPr lang="en-US" altLang="zh-CN" sz="2400"/>
              <a:t>Lex</a:t>
            </a:r>
            <a:r>
              <a:rPr lang="zh-CN" altLang="en-US" sz="2400"/>
              <a:t>程序中位置最前模式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继续读入字符，进行状态转换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直到“终止”（</a:t>
            </a:r>
            <a:r>
              <a:rPr lang="en-US" altLang="zh-CN" sz="2400">
                <a:solidFill>
                  <a:srgbClr val="FF3300"/>
                </a:solidFill>
              </a:rPr>
              <a:t>termination</a:t>
            </a:r>
            <a:r>
              <a:rPr lang="zh-CN" altLang="en-US" sz="2400"/>
              <a:t>）状态</a:t>
            </a:r>
            <a:r>
              <a:rPr lang="en-US" altLang="zh-CN" sz="2400"/>
              <a:t>——</a:t>
            </a:r>
            <a:r>
              <a:rPr lang="zh-CN" altLang="en-US" sz="2400"/>
              <a:t>当前状态集对当前输入符号无状态转换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/>
              <a:t>最后匹配的模式即为所求，将输入指针退回对应的位置，可得词素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BF133DC6-5715-43C5-9C4F-A839AB8DBCA4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1981200"/>
            <a:ext cx="685800" cy="304800"/>
            <a:chOff x="4560" y="1296"/>
            <a:chExt cx="432" cy="192"/>
          </a:xfrm>
        </p:grpSpPr>
        <p:sp>
          <p:nvSpPr>
            <p:cNvPr id="156677" name="Line 4">
              <a:extLst>
                <a:ext uri="{FF2B5EF4-FFF2-40B4-BE49-F238E27FC236}">
                  <a16:creationId xmlns:a16="http://schemas.microsoft.com/office/drawing/2014/main" id="{3275771E-651E-4CE5-BFD7-2D83E7D1A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296"/>
              <a:ext cx="432" cy="19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6678" name="Line 5">
              <a:extLst>
                <a:ext uri="{FF2B5EF4-FFF2-40B4-BE49-F238E27FC236}">
                  <a16:creationId xmlns:a16="http://schemas.microsoft.com/office/drawing/2014/main" id="{B037D30A-F9CB-4E29-846F-BE3D689F83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1296"/>
              <a:ext cx="432" cy="19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C6E27246-940C-43DB-A4BD-B7F6AE4A77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3.18</a:t>
            </a:r>
          </a:p>
        </p:txBody>
      </p:sp>
      <p:sp>
        <p:nvSpPr>
          <p:cNvPr id="157699" name="Text Box 4">
            <a:extLst>
              <a:ext uri="{FF2B5EF4-FFF2-40B4-BE49-F238E27FC236}">
                <a16:creationId xmlns:a16="http://schemas.microsoft.com/office/drawing/2014/main" id="{56A0B3EF-EA25-46C6-8468-872DCC167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1371600"/>
            <a:ext cx="243840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Let :   a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           abb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           a*b</a:t>
            </a:r>
            <a:r>
              <a:rPr kumimoji="0" lang="en-US" altLang="zh-CN" sz="2400" baseline="30000">
                <a:solidFill>
                  <a:srgbClr val="3333CC"/>
                </a:solidFill>
              </a:rPr>
              <a:t>+</a:t>
            </a:r>
            <a:endParaRPr kumimoji="0" lang="en-US" altLang="zh-CN" sz="2400">
              <a:solidFill>
                <a:srgbClr val="3333CC"/>
              </a:solidFill>
            </a:endParaRPr>
          </a:p>
        </p:txBody>
      </p:sp>
      <p:sp>
        <p:nvSpPr>
          <p:cNvPr id="157700" name="AutoShape 5">
            <a:extLst>
              <a:ext uri="{FF2B5EF4-FFF2-40B4-BE49-F238E27FC236}">
                <a16:creationId xmlns:a16="http://schemas.microsoft.com/office/drawing/2014/main" id="{CB296EB9-EEF9-40D4-B995-1ECE990723B3}"/>
              </a:ext>
            </a:extLst>
          </p:cNvPr>
          <p:cNvSpPr>
            <a:spLocks/>
          </p:cNvSpPr>
          <p:nvPr/>
        </p:nvSpPr>
        <p:spPr bwMode="auto">
          <a:xfrm>
            <a:off x="3429000" y="1447800"/>
            <a:ext cx="457200" cy="1143000"/>
          </a:xfrm>
          <a:prstGeom prst="rightBrace">
            <a:avLst>
              <a:gd name="adj1" fmla="val 20833"/>
              <a:gd name="adj2" fmla="val 51667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57701" name="Text Box 6">
            <a:extLst>
              <a:ext uri="{FF2B5EF4-FFF2-40B4-BE49-F238E27FC236}">
                <a16:creationId xmlns:a16="http://schemas.microsoft.com/office/drawing/2014/main" id="{EBD7AF7F-6578-4C51-AA55-F810A3509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1828800"/>
            <a:ext cx="2301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/>
              <a:t>3 patterns</a:t>
            </a:r>
          </a:p>
        </p:txBody>
      </p:sp>
      <p:sp>
        <p:nvSpPr>
          <p:cNvPr id="157702" name="Text Box 8">
            <a:extLst>
              <a:ext uri="{FF2B5EF4-FFF2-40B4-BE49-F238E27FC236}">
                <a16:creationId xmlns:a16="http://schemas.microsoft.com/office/drawing/2014/main" id="{824862BC-47CF-4008-B73F-FAC3B1BF2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2971800"/>
            <a:ext cx="2301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NFA’s :</a:t>
            </a:r>
          </a:p>
        </p:txBody>
      </p:sp>
      <p:grpSp>
        <p:nvGrpSpPr>
          <p:cNvPr id="157703" name="Group 51">
            <a:extLst>
              <a:ext uri="{FF2B5EF4-FFF2-40B4-BE49-F238E27FC236}">
                <a16:creationId xmlns:a16="http://schemas.microsoft.com/office/drawing/2014/main" id="{789BFB4D-EC1F-4991-A236-BCF524E88047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2819400"/>
            <a:ext cx="5257800" cy="2665413"/>
            <a:chOff x="1008" y="2208"/>
            <a:chExt cx="3552" cy="1680"/>
          </a:xfrm>
        </p:grpSpPr>
        <p:sp>
          <p:nvSpPr>
            <p:cNvPr id="157704" name="Oval 9">
              <a:extLst>
                <a:ext uri="{FF2B5EF4-FFF2-40B4-BE49-F238E27FC236}">
                  <a16:creationId xmlns:a16="http://schemas.microsoft.com/office/drawing/2014/main" id="{9D7F83B4-DCBC-4AE5-AA1B-75B3FC618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784"/>
              <a:ext cx="432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57705" name="Oval 10">
              <a:extLst>
                <a:ext uri="{FF2B5EF4-FFF2-40B4-BE49-F238E27FC236}">
                  <a16:creationId xmlns:a16="http://schemas.microsoft.com/office/drawing/2014/main" id="{2552BEBB-56C6-45AF-A600-E8279297CF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2784"/>
              <a:ext cx="432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57706" name="Oval 11">
              <a:extLst>
                <a:ext uri="{FF2B5EF4-FFF2-40B4-BE49-F238E27FC236}">
                  <a16:creationId xmlns:a16="http://schemas.microsoft.com/office/drawing/2014/main" id="{70A79F7E-1A88-476B-B170-E6819FA61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784"/>
              <a:ext cx="432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grpSp>
          <p:nvGrpSpPr>
            <p:cNvPr id="157707" name="Group 12">
              <a:extLst>
                <a:ext uri="{FF2B5EF4-FFF2-40B4-BE49-F238E27FC236}">
                  <a16:creationId xmlns:a16="http://schemas.microsoft.com/office/drawing/2014/main" id="{DD96B500-85DA-4E3D-9EA6-2CD59659B0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2256"/>
              <a:ext cx="432" cy="384"/>
              <a:chOff x="4224" y="2688"/>
              <a:chExt cx="432" cy="384"/>
            </a:xfrm>
          </p:grpSpPr>
          <p:sp>
            <p:nvSpPr>
              <p:cNvPr id="157744" name="Oval 13">
                <a:extLst>
                  <a:ext uri="{FF2B5EF4-FFF2-40B4-BE49-F238E27FC236}">
                    <a16:creationId xmlns:a16="http://schemas.microsoft.com/office/drawing/2014/main" id="{4E8062AB-0A59-4143-86FC-064F104205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688"/>
                <a:ext cx="432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57745" name="Oval 14">
                <a:extLst>
                  <a:ext uri="{FF2B5EF4-FFF2-40B4-BE49-F238E27FC236}">
                    <a16:creationId xmlns:a16="http://schemas.microsoft.com/office/drawing/2014/main" id="{A26464F6-E7D4-4E82-9C60-004E74F117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736"/>
                <a:ext cx="336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57708" name="Oval 15">
              <a:extLst>
                <a:ext uri="{FF2B5EF4-FFF2-40B4-BE49-F238E27FC236}">
                  <a16:creationId xmlns:a16="http://schemas.microsoft.com/office/drawing/2014/main" id="{50257460-B9F0-4AB2-97F0-B546C563A4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456"/>
              <a:ext cx="432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57709" name="Oval 16">
              <a:extLst>
                <a:ext uri="{FF2B5EF4-FFF2-40B4-BE49-F238E27FC236}">
                  <a16:creationId xmlns:a16="http://schemas.microsoft.com/office/drawing/2014/main" id="{648F83C8-32C3-4A0C-B592-A410C1A86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256"/>
              <a:ext cx="432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grpSp>
          <p:nvGrpSpPr>
            <p:cNvPr id="157710" name="Group 17">
              <a:extLst>
                <a:ext uri="{FF2B5EF4-FFF2-40B4-BE49-F238E27FC236}">
                  <a16:creationId xmlns:a16="http://schemas.microsoft.com/office/drawing/2014/main" id="{D9DD616E-18C9-4A5E-8995-E17BEF38A3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2784"/>
              <a:ext cx="432" cy="384"/>
              <a:chOff x="4224" y="2688"/>
              <a:chExt cx="432" cy="384"/>
            </a:xfrm>
          </p:grpSpPr>
          <p:sp>
            <p:nvSpPr>
              <p:cNvPr id="157742" name="Oval 18">
                <a:extLst>
                  <a:ext uri="{FF2B5EF4-FFF2-40B4-BE49-F238E27FC236}">
                    <a16:creationId xmlns:a16="http://schemas.microsoft.com/office/drawing/2014/main" id="{60388BFD-8EB9-472A-BDBF-009529285C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688"/>
                <a:ext cx="432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57743" name="Oval 19">
                <a:extLst>
                  <a:ext uri="{FF2B5EF4-FFF2-40B4-BE49-F238E27FC236}">
                    <a16:creationId xmlns:a16="http://schemas.microsoft.com/office/drawing/2014/main" id="{2A73EBDF-894B-4A6B-8BAC-893FFCE7CD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736"/>
                <a:ext cx="336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57711" name="Group 20">
              <a:extLst>
                <a:ext uri="{FF2B5EF4-FFF2-40B4-BE49-F238E27FC236}">
                  <a16:creationId xmlns:a16="http://schemas.microsoft.com/office/drawing/2014/main" id="{315B768D-08F2-400A-8FFA-40700063C7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3456"/>
              <a:ext cx="432" cy="384"/>
              <a:chOff x="4224" y="2688"/>
              <a:chExt cx="432" cy="384"/>
            </a:xfrm>
          </p:grpSpPr>
          <p:sp>
            <p:nvSpPr>
              <p:cNvPr id="157740" name="Oval 21">
                <a:extLst>
                  <a:ext uri="{FF2B5EF4-FFF2-40B4-BE49-F238E27FC236}">
                    <a16:creationId xmlns:a16="http://schemas.microsoft.com/office/drawing/2014/main" id="{D92D3F9F-97BD-4E59-9B87-80F1D5D28E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688"/>
                <a:ext cx="432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57741" name="Oval 22">
                <a:extLst>
                  <a:ext uri="{FF2B5EF4-FFF2-40B4-BE49-F238E27FC236}">
                    <a16:creationId xmlns:a16="http://schemas.microsoft.com/office/drawing/2014/main" id="{74B70E96-E28F-4FFE-992D-1D0227B6BA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736"/>
                <a:ext cx="336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57712" name="Line 23">
              <a:extLst>
                <a:ext uri="{FF2B5EF4-FFF2-40B4-BE49-F238E27FC236}">
                  <a16:creationId xmlns:a16="http://schemas.microsoft.com/office/drawing/2014/main" id="{8C61A3CC-2D2B-4B1E-8CFF-E43F60F46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4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713" name="Line 24">
              <a:extLst>
                <a:ext uri="{FF2B5EF4-FFF2-40B4-BE49-F238E27FC236}">
                  <a16:creationId xmlns:a16="http://schemas.microsoft.com/office/drawing/2014/main" id="{46BED2AA-4D7D-4DBA-BABE-79FBBF8D2D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976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714" name="Line 25">
              <a:extLst>
                <a:ext uri="{FF2B5EF4-FFF2-40B4-BE49-F238E27FC236}">
                  <a16:creationId xmlns:a16="http://schemas.microsoft.com/office/drawing/2014/main" id="{B5581CBA-7A06-4C60-98D6-1733D5DE3E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648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715" name="Line 26">
              <a:extLst>
                <a:ext uri="{FF2B5EF4-FFF2-40B4-BE49-F238E27FC236}">
                  <a16:creationId xmlns:a16="http://schemas.microsoft.com/office/drawing/2014/main" id="{F36C89C8-394A-427D-BF24-33C5CC506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976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716" name="Line 27">
              <a:extLst>
                <a:ext uri="{FF2B5EF4-FFF2-40B4-BE49-F238E27FC236}">
                  <a16:creationId xmlns:a16="http://schemas.microsoft.com/office/drawing/2014/main" id="{46ADF480-AE25-4E71-A7E2-7558E0514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976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717" name="Line 28">
              <a:extLst>
                <a:ext uri="{FF2B5EF4-FFF2-40B4-BE49-F238E27FC236}">
                  <a16:creationId xmlns:a16="http://schemas.microsoft.com/office/drawing/2014/main" id="{F43B62B5-DAC5-4D95-A0E3-58F15152B2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976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718" name="Line 29">
              <a:extLst>
                <a:ext uri="{FF2B5EF4-FFF2-40B4-BE49-F238E27FC236}">
                  <a16:creationId xmlns:a16="http://schemas.microsoft.com/office/drawing/2014/main" id="{F96BF02C-BD68-4D2B-ADCD-A3D62A024F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64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719" name="Line 30">
              <a:extLst>
                <a:ext uri="{FF2B5EF4-FFF2-40B4-BE49-F238E27FC236}">
                  <a16:creationId xmlns:a16="http://schemas.microsoft.com/office/drawing/2014/main" id="{21EF301B-A76D-477A-923C-26647EBEE9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448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57720" name="AutoShape 31">
              <a:extLst>
                <a:ext uri="{FF2B5EF4-FFF2-40B4-BE49-F238E27FC236}">
                  <a16:creationId xmlns:a16="http://schemas.microsoft.com/office/drawing/2014/main" id="{71B58218-09E7-4773-A48B-7A292C1CC060}"/>
                </a:ext>
              </a:extLst>
            </p:cNvPr>
            <p:cNvCxnSpPr>
              <a:cxnSpLocks noChangeShapeType="1"/>
              <a:stCxn id="157740" idx="6"/>
              <a:endCxn id="157740" idx="0"/>
            </p:cNvCxnSpPr>
            <p:nvPr/>
          </p:nvCxnSpPr>
          <p:spPr bwMode="auto">
            <a:xfrm flipH="1" flipV="1">
              <a:off x="2712" y="3456"/>
              <a:ext cx="216" cy="192"/>
            </a:xfrm>
            <a:prstGeom prst="curvedConnector4">
              <a:avLst>
                <a:gd name="adj1" fmla="val -66667"/>
                <a:gd name="adj2" fmla="val 17500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7721" name="AutoShape 32">
              <a:extLst>
                <a:ext uri="{FF2B5EF4-FFF2-40B4-BE49-F238E27FC236}">
                  <a16:creationId xmlns:a16="http://schemas.microsoft.com/office/drawing/2014/main" id="{C27BCCD8-C3D9-4CC3-9606-0CD4D02306AE}"/>
                </a:ext>
              </a:extLst>
            </p:cNvPr>
            <p:cNvCxnSpPr>
              <a:cxnSpLocks noChangeShapeType="1"/>
              <a:stCxn id="157708" idx="6"/>
              <a:endCxn id="157708" idx="0"/>
            </p:cNvCxnSpPr>
            <p:nvPr/>
          </p:nvCxnSpPr>
          <p:spPr bwMode="auto">
            <a:xfrm flipH="1" flipV="1">
              <a:off x="1896" y="3456"/>
              <a:ext cx="216" cy="192"/>
            </a:xfrm>
            <a:prstGeom prst="curvedConnector4">
              <a:avLst>
                <a:gd name="adj1" fmla="val -66667"/>
                <a:gd name="adj2" fmla="val 17500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7722" name="Text Box 33">
              <a:extLst>
                <a:ext uri="{FF2B5EF4-FFF2-40B4-BE49-F238E27FC236}">
                  <a16:creationId xmlns:a16="http://schemas.microsoft.com/office/drawing/2014/main" id="{6123D8A0-40B8-47A2-B0B5-A9769BC245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208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start</a:t>
              </a:r>
            </a:p>
          </p:txBody>
        </p:sp>
        <p:sp>
          <p:nvSpPr>
            <p:cNvPr id="157723" name="Text Box 34">
              <a:extLst>
                <a:ext uri="{FF2B5EF4-FFF2-40B4-BE49-F238E27FC236}">
                  <a16:creationId xmlns:a16="http://schemas.microsoft.com/office/drawing/2014/main" id="{47DBA035-68FE-44FA-BA8D-7F1A8A46A4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2736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start</a:t>
              </a:r>
            </a:p>
          </p:txBody>
        </p:sp>
        <p:sp>
          <p:nvSpPr>
            <p:cNvPr id="157724" name="Text Box 35">
              <a:extLst>
                <a:ext uri="{FF2B5EF4-FFF2-40B4-BE49-F238E27FC236}">
                  <a16:creationId xmlns:a16="http://schemas.microsoft.com/office/drawing/2014/main" id="{379FBFAB-416F-4B7E-A828-71D50CB16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409"/>
              <a:ext cx="72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start</a:t>
              </a:r>
            </a:p>
          </p:txBody>
        </p:sp>
        <p:sp>
          <p:nvSpPr>
            <p:cNvPr id="157725" name="Text Box 36">
              <a:extLst>
                <a:ext uri="{FF2B5EF4-FFF2-40B4-BE49-F238E27FC236}">
                  <a16:creationId xmlns:a16="http://schemas.microsoft.com/office/drawing/2014/main" id="{A371DBBB-7020-4B2F-91DE-92D3CB3182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35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1</a:t>
              </a:r>
            </a:p>
          </p:txBody>
        </p:sp>
        <p:sp>
          <p:nvSpPr>
            <p:cNvPr id="157726" name="Text Box 37">
              <a:extLst>
                <a:ext uri="{FF2B5EF4-FFF2-40B4-BE49-F238E27FC236}">
                  <a16:creationId xmlns:a16="http://schemas.microsoft.com/office/drawing/2014/main" id="{A8179015-498A-490A-A48C-16693E10AD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216"/>
              <a:ext cx="4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b</a:t>
              </a:r>
            </a:p>
          </p:txBody>
        </p:sp>
        <p:sp>
          <p:nvSpPr>
            <p:cNvPr id="157727" name="Text Box 38">
              <a:extLst>
                <a:ext uri="{FF2B5EF4-FFF2-40B4-BE49-F238E27FC236}">
                  <a16:creationId xmlns:a16="http://schemas.microsoft.com/office/drawing/2014/main" id="{5B8B5E44-7400-4CEC-AD83-FA653DC677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3600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b</a:t>
              </a:r>
            </a:p>
          </p:txBody>
        </p:sp>
        <p:sp>
          <p:nvSpPr>
            <p:cNvPr id="157728" name="Text Box 39">
              <a:extLst>
                <a:ext uri="{FF2B5EF4-FFF2-40B4-BE49-F238E27FC236}">
                  <a16:creationId xmlns:a16="http://schemas.microsoft.com/office/drawing/2014/main" id="{78DC3AB2-3293-40DE-8DB1-D6488B9DE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736"/>
              <a:ext cx="4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b</a:t>
              </a:r>
            </a:p>
          </p:txBody>
        </p:sp>
        <p:sp>
          <p:nvSpPr>
            <p:cNvPr id="157729" name="Text Box 40">
              <a:extLst>
                <a:ext uri="{FF2B5EF4-FFF2-40B4-BE49-F238E27FC236}">
                  <a16:creationId xmlns:a16="http://schemas.microsoft.com/office/drawing/2014/main" id="{DC4819B4-5D9E-4E1D-A4CA-B874BB769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1" y="2736"/>
              <a:ext cx="4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b</a:t>
              </a:r>
            </a:p>
          </p:txBody>
        </p:sp>
        <p:sp>
          <p:nvSpPr>
            <p:cNvPr id="157730" name="Text Box 41">
              <a:extLst>
                <a:ext uri="{FF2B5EF4-FFF2-40B4-BE49-F238E27FC236}">
                  <a16:creationId xmlns:a16="http://schemas.microsoft.com/office/drawing/2014/main" id="{8239F3C3-1DDA-4FB5-A42C-022127BC0F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20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a</a:t>
              </a:r>
            </a:p>
          </p:txBody>
        </p:sp>
        <p:sp>
          <p:nvSpPr>
            <p:cNvPr id="157731" name="Text Box 42">
              <a:extLst>
                <a:ext uri="{FF2B5EF4-FFF2-40B4-BE49-F238E27FC236}">
                  <a16:creationId xmlns:a16="http://schemas.microsoft.com/office/drawing/2014/main" id="{85A88B59-A409-4E9F-B426-8F19503DF4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736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a</a:t>
              </a:r>
            </a:p>
          </p:txBody>
        </p:sp>
        <p:sp>
          <p:nvSpPr>
            <p:cNvPr id="157732" name="Text Box 43">
              <a:extLst>
                <a:ext uri="{FF2B5EF4-FFF2-40B4-BE49-F238E27FC236}">
                  <a16:creationId xmlns:a16="http://schemas.microsoft.com/office/drawing/2014/main" id="{FD6FDBD6-7E2F-4442-81E2-268D8F51B8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3168"/>
              <a:ext cx="43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a</a:t>
              </a:r>
            </a:p>
          </p:txBody>
        </p:sp>
        <p:sp>
          <p:nvSpPr>
            <p:cNvPr id="157733" name="Text Box 44">
              <a:extLst>
                <a:ext uri="{FF2B5EF4-FFF2-40B4-BE49-F238E27FC236}">
                  <a16:creationId xmlns:a16="http://schemas.microsoft.com/office/drawing/2014/main" id="{B00F4BC2-DBE7-4343-89CA-43F059AF6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352"/>
              <a:ext cx="3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2</a:t>
              </a:r>
            </a:p>
          </p:txBody>
        </p:sp>
        <p:sp>
          <p:nvSpPr>
            <p:cNvPr id="157734" name="Text Box 45">
              <a:extLst>
                <a:ext uri="{FF2B5EF4-FFF2-40B4-BE49-F238E27FC236}">
                  <a16:creationId xmlns:a16="http://schemas.microsoft.com/office/drawing/2014/main" id="{AD4EBC5A-E949-436C-A00A-9208E02500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881"/>
              <a:ext cx="336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3</a:t>
              </a:r>
            </a:p>
          </p:txBody>
        </p:sp>
        <p:sp>
          <p:nvSpPr>
            <p:cNvPr id="157735" name="Text Box 46">
              <a:extLst>
                <a:ext uri="{FF2B5EF4-FFF2-40B4-BE49-F238E27FC236}">
                  <a16:creationId xmlns:a16="http://schemas.microsoft.com/office/drawing/2014/main" id="{B5A5F201-FFEB-46C4-8287-EB8B6CE3A8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2881"/>
              <a:ext cx="33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4</a:t>
              </a:r>
            </a:p>
          </p:txBody>
        </p:sp>
        <p:sp>
          <p:nvSpPr>
            <p:cNvPr id="157736" name="Text Box 47">
              <a:extLst>
                <a:ext uri="{FF2B5EF4-FFF2-40B4-BE49-F238E27FC236}">
                  <a16:creationId xmlns:a16="http://schemas.microsoft.com/office/drawing/2014/main" id="{7753AE9F-0CAF-4967-95E2-1F73E87A6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9" y="2881"/>
              <a:ext cx="337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5</a:t>
              </a:r>
            </a:p>
          </p:txBody>
        </p:sp>
        <p:sp>
          <p:nvSpPr>
            <p:cNvPr id="157737" name="Text Box 48">
              <a:extLst>
                <a:ext uri="{FF2B5EF4-FFF2-40B4-BE49-F238E27FC236}">
                  <a16:creationId xmlns:a16="http://schemas.microsoft.com/office/drawing/2014/main" id="{CE31ABA3-2739-417D-9591-2F2C6F4AE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552"/>
              <a:ext cx="3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8</a:t>
              </a:r>
            </a:p>
          </p:txBody>
        </p:sp>
        <p:sp>
          <p:nvSpPr>
            <p:cNvPr id="157738" name="Text Box 49">
              <a:extLst>
                <a:ext uri="{FF2B5EF4-FFF2-40B4-BE49-F238E27FC236}">
                  <a16:creationId xmlns:a16="http://schemas.microsoft.com/office/drawing/2014/main" id="{331D20E6-FB21-4242-BECA-9B2D629A03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552"/>
              <a:ext cx="3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7</a:t>
              </a:r>
            </a:p>
          </p:txBody>
        </p:sp>
        <p:sp>
          <p:nvSpPr>
            <p:cNvPr id="157739" name="Text Box 50">
              <a:extLst>
                <a:ext uri="{FF2B5EF4-FFF2-40B4-BE49-F238E27FC236}">
                  <a16:creationId xmlns:a16="http://schemas.microsoft.com/office/drawing/2014/main" id="{897ADDED-5067-40E0-A09A-433A6E6080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881"/>
              <a:ext cx="336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6</a:t>
              </a:r>
            </a:p>
          </p:txBody>
        </p:sp>
      </p:grp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2" name="Picture 53" descr="lex">
            <a:extLst>
              <a:ext uri="{FF2B5EF4-FFF2-40B4-BE49-F238E27FC236}">
                <a16:creationId xmlns:a16="http://schemas.microsoft.com/office/drawing/2014/main" id="{1E1A9283-4D4B-408D-B7D0-BF7CE1B3E8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652838"/>
            <a:ext cx="4897438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8723" name="Rectangle 2">
            <a:extLst>
              <a:ext uri="{FF2B5EF4-FFF2-40B4-BE49-F238E27FC236}">
                <a16:creationId xmlns:a16="http://schemas.microsoft.com/office/drawing/2014/main" id="{9050C4BC-E848-4A87-8A97-AF4D1734E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3.18</a:t>
            </a:r>
            <a:r>
              <a:rPr lang="zh-CN" altLang="en-US"/>
              <a:t>（续）</a:t>
            </a:r>
          </a:p>
        </p:txBody>
      </p:sp>
      <p:sp>
        <p:nvSpPr>
          <p:cNvPr id="158724" name="Text Box 4">
            <a:extLst>
              <a:ext uri="{FF2B5EF4-FFF2-40B4-BE49-F238E27FC236}">
                <a16:creationId xmlns:a16="http://schemas.microsoft.com/office/drawing/2014/main" id="{30801905-8849-4B61-BE60-882594AC7A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11430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3333CC"/>
                </a:solidFill>
              </a:rPr>
              <a:t>Combined NFA :</a:t>
            </a:r>
          </a:p>
        </p:txBody>
      </p:sp>
      <p:grpSp>
        <p:nvGrpSpPr>
          <p:cNvPr id="158725" name="Group 54">
            <a:extLst>
              <a:ext uri="{FF2B5EF4-FFF2-40B4-BE49-F238E27FC236}">
                <a16:creationId xmlns:a16="http://schemas.microsoft.com/office/drawing/2014/main" id="{4735590C-3B4E-4AFF-A05B-513553E4F20A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524000"/>
            <a:ext cx="6324600" cy="2227263"/>
            <a:chOff x="336" y="960"/>
            <a:chExt cx="4944" cy="1694"/>
          </a:xfrm>
        </p:grpSpPr>
        <p:sp>
          <p:nvSpPr>
            <p:cNvPr id="158726" name="Oval 5">
              <a:extLst>
                <a:ext uri="{FF2B5EF4-FFF2-40B4-BE49-F238E27FC236}">
                  <a16:creationId xmlns:a16="http://schemas.microsoft.com/office/drawing/2014/main" id="{281D1E6F-9A39-4731-A9C6-637F3464B7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1545"/>
              <a:ext cx="432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58727" name="Oval 6">
              <a:extLst>
                <a:ext uri="{FF2B5EF4-FFF2-40B4-BE49-F238E27FC236}">
                  <a16:creationId xmlns:a16="http://schemas.microsoft.com/office/drawing/2014/main" id="{F61E3627-3F0A-4907-9543-C53121855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545"/>
              <a:ext cx="432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58728" name="Oval 7">
              <a:extLst>
                <a:ext uri="{FF2B5EF4-FFF2-40B4-BE49-F238E27FC236}">
                  <a16:creationId xmlns:a16="http://schemas.microsoft.com/office/drawing/2014/main" id="{CC52BD58-7B57-4358-8FE5-914C30AFC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1545"/>
              <a:ext cx="432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grpSp>
          <p:nvGrpSpPr>
            <p:cNvPr id="158729" name="Group 8">
              <a:extLst>
                <a:ext uri="{FF2B5EF4-FFF2-40B4-BE49-F238E27FC236}">
                  <a16:creationId xmlns:a16="http://schemas.microsoft.com/office/drawing/2014/main" id="{B9BB052E-4861-41DC-A96C-71012B419A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1017"/>
              <a:ext cx="432" cy="384"/>
              <a:chOff x="4224" y="2688"/>
              <a:chExt cx="432" cy="384"/>
            </a:xfrm>
          </p:grpSpPr>
          <p:sp>
            <p:nvSpPr>
              <p:cNvPr id="158772" name="Oval 9">
                <a:extLst>
                  <a:ext uri="{FF2B5EF4-FFF2-40B4-BE49-F238E27FC236}">
                    <a16:creationId xmlns:a16="http://schemas.microsoft.com/office/drawing/2014/main" id="{A5BF8910-F6CF-43BB-8805-5957E8AAC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688"/>
                <a:ext cx="432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58773" name="Oval 10">
                <a:extLst>
                  <a:ext uri="{FF2B5EF4-FFF2-40B4-BE49-F238E27FC236}">
                    <a16:creationId xmlns:a16="http://schemas.microsoft.com/office/drawing/2014/main" id="{653A9083-661F-4ACF-92CF-348989F16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736"/>
                <a:ext cx="336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58730" name="Oval 11">
              <a:extLst>
                <a:ext uri="{FF2B5EF4-FFF2-40B4-BE49-F238E27FC236}">
                  <a16:creationId xmlns:a16="http://schemas.microsoft.com/office/drawing/2014/main" id="{1C21BB78-8330-4E9A-AB18-9ED49DBC35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217"/>
              <a:ext cx="432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grpSp>
          <p:nvGrpSpPr>
            <p:cNvPr id="158731" name="Group 12">
              <a:extLst>
                <a:ext uri="{FF2B5EF4-FFF2-40B4-BE49-F238E27FC236}">
                  <a16:creationId xmlns:a16="http://schemas.microsoft.com/office/drawing/2014/main" id="{BB8A41BF-7568-4772-98BC-C6675CC91D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48" y="1545"/>
              <a:ext cx="432" cy="384"/>
              <a:chOff x="4224" y="2688"/>
              <a:chExt cx="432" cy="384"/>
            </a:xfrm>
          </p:grpSpPr>
          <p:sp>
            <p:nvSpPr>
              <p:cNvPr id="158770" name="Oval 13">
                <a:extLst>
                  <a:ext uri="{FF2B5EF4-FFF2-40B4-BE49-F238E27FC236}">
                    <a16:creationId xmlns:a16="http://schemas.microsoft.com/office/drawing/2014/main" id="{0D375B6D-5357-4A5A-8520-3B2174C5A5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688"/>
                <a:ext cx="432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58771" name="Oval 14">
                <a:extLst>
                  <a:ext uri="{FF2B5EF4-FFF2-40B4-BE49-F238E27FC236}">
                    <a16:creationId xmlns:a16="http://schemas.microsoft.com/office/drawing/2014/main" id="{6AE1B84A-53D0-4376-B1EF-0821826D6C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736"/>
                <a:ext cx="336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58732" name="Group 15">
              <a:extLst>
                <a:ext uri="{FF2B5EF4-FFF2-40B4-BE49-F238E27FC236}">
                  <a16:creationId xmlns:a16="http://schemas.microsoft.com/office/drawing/2014/main" id="{D6AD5979-C8AE-4087-A63A-9B1249C42F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2217"/>
              <a:ext cx="432" cy="384"/>
              <a:chOff x="4224" y="2688"/>
              <a:chExt cx="432" cy="384"/>
            </a:xfrm>
          </p:grpSpPr>
          <p:sp>
            <p:nvSpPr>
              <p:cNvPr id="158768" name="Oval 16">
                <a:extLst>
                  <a:ext uri="{FF2B5EF4-FFF2-40B4-BE49-F238E27FC236}">
                    <a16:creationId xmlns:a16="http://schemas.microsoft.com/office/drawing/2014/main" id="{824A2F13-6DDE-4C3E-B8F8-C06056FF3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2688"/>
                <a:ext cx="432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58769" name="Oval 17">
                <a:extLst>
                  <a:ext uri="{FF2B5EF4-FFF2-40B4-BE49-F238E27FC236}">
                    <a16:creationId xmlns:a16="http://schemas.microsoft.com/office/drawing/2014/main" id="{C9821D98-47D4-4276-A46F-7818ED2B8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2736"/>
                <a:ext cx="336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58733" name="Line 18">
              <a:extLst>
                <a:ext uri="{FF2B5EF4-FFF2-40B4-BE49-F238E27FC236}">
                  <a16:creationId xmlns:a16="http://schemas.microsoft.com/office/drawing/2014/main" id="{02022ABE-035E-4C66-956A-BC80B1DF0F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1209"/>
              <a:ext cx="96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34" name="Line 19">
              <a:extLst>
                <a:ext uri="{FF2B5EF4-FFF2-40B4-BE49-F238E27FC236}">
                  <a16:creationId xmlns:a16="http://schemas.microsoft.com/office/drawing/2014/main" id="{231A4A4E-A3D6-4E4B-903D-7E25C65A1C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737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35" name="Line 20">
              <a:extLst>
                <a:ext uri="{FF2B5EF4-FFF2-40B4-BE49-F238E27FC236}">
                  <a16:creationId xmlns:a16="http://schemas.microsoft.com/office/drawing/2014/main" id="{36DAE359-1213-4199-9C53-99FB52FB0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929"/>
              <a:ext cx="96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36" name="Line 21">
              <a:extLst>
                <a:ext uri="{FF2B5EF4-FFF2-40B4-BE49-F238E27FC236}">
                  <a16:creationId xmlns:a16="http://schemas.microsoft.com/office/drawing/2014/main" id="{34C6CD3B-AF79-4704-9BD0-F7F24D1785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737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37" name="Line 22">
              <a:extLst>
                <a:ext uri="{FF2B5EF4-FFF2-40B4-BE49-F238E27FC236}">
                  <a16:creationId xmlns:a16="http://schemas.microsoft.com/office/drawing/2014/main" id="{3E21B518-5B2F-40CC-939C-91588B1B3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88" y="1737"/>
              <a:ext cx="91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38" name="Line 23">
              <a:extLst>
                <a:ext uri="{FF2B5EF4-FFF2-40B4-BE49-F238E27FC236}">
                  <a16:creationId xmlns:a16="http://schemas.microsoft.com/office/drawing/2014/main" id="{21B463F4-F5F5-4AEF-B50E-15704E158F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737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39" name="Line 24">
              <a:extLst>
                <a:ext uri="{FF2B5EF4-FFF2-40B4-BE49-F238E27FC236}">
                  <a16:creationId xmlns:a16="http://schemas.microsoft.com/office/drawing/2014/main" id="{DBB46E50-B2DD-4FD4-96AD-AD9FE325F3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2409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40" name="Line 25">
              <a:extLst>
                <a:ext uri="{FF2B5EF4-FFF2-40B4-BE49-F238E27FC236}">
                  <a16:creationId xmlns:a16="http://schemas.microsoft.com/office/drawing/2014/main" id="{F8650600-8177-476F-B81F-3AFF55FE86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209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58741" name="AutoShape 26">
              <a:extLst>
                <a:ext uri="{FF2B5EF4-FFF2-40B4-BE49-F238E27FC236}">
                  <a16:creationId xmlns:a16="http://schemas.microsoft.com/office/drawing/2014/main" id="{154D65B4-FE50-4D41-84C1-DC49D4E3381B}"/>
                </a:ext>
              </a:extLst>
            </p:cNvPr>
            <p:cNvCxnSpPr>
              <a:cxnSpLocks noChangeShapeType="1"/>
              <a:stCxn id="158768" idx="6"/>
              <a:endCxn id="158768" idx="0"/>
            </p:cNvCxnSpPr>
            <p:nvPr/>
          </p:nvCxnSpPr>
          <p:spPr bwMode="auto">
            <a:xfrm flipH="1" flipV="1">
              <a:off x="3432" y="2217"/>
              <a:ext cx="216" cy="192"/>
            </a:xfrm>
            <a:prstGeom prst="curvedConnector4">
              <a:avLst>
                <a:gd name="adj1" fmla="val -66667"/>
                <a:gd name="adj2" fmla="val 17500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8742" name="AutoShape 27">
              <a:extLst>
                <a:ext uri="{FF2B5EF4-FFF2-40B4-BE49-F238E27FC236}">
                  <a16:creationId xmlns:a16="http://schemas.microsoft.com/office/drawing/2014/main" id="{E7807A00-9DB3-4D88-9BB6-C4475D50D32E}"/>
                </a:ext>
              </a:extLst>
            </p:cNvPr>
            <p:cNvCxnSpPr>
              <a:cxnSpLocks noChangeShapeType="1"/>
              <a:stCxn id="158730" idx="6"/>
              <a:endCxn id="158730" idx="0"/>
            </p:cNvCxnSpPr>
            <p:nvPr/>
          </p:nvCxnSpPr>
          <p:spPr bwMode="auto">
            <a:xfrm flipH="1" flipV="1">
              <a:off x="2616" y="2217"/>
              <a:ext cx="216" cy="192"/>
            </a:xfrm>
            <a:prstGeom prst="curvedConnector4">
              <a:avLst>
                <a:gd name="adj1" fmla="val -66667"/>
                <a:gd name="adj2" fmla="val 17500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8743" name="Text Box 28">
              <a:extLst>
                <a:ext uri="{FF2B5EF4-FFF2-40B4-BE49-F238E27FC236}">
                  <a16:creationId xmlns:a16="http://schemas.microsoft.com/office/drawing/2014/main" id="{E0445C53-DF09-4371-966C-38D17E9771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017"/>
              <a:ext cx="720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58744" name="Text Box 29">
              <a:extLst>
                <a:ext uri="{FF2B5EF4-FFF2-40B4-BE49-F238E27FC236}">
                  <a16:creationId xmlns:a16="http://schemas.microsoft.com/office/drawing/2014/main" id="{8BD3D820-6CCE-4244-9C50-D86E67BA58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1488"/>
              <a:ext cx="720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58745" name="Text Box 30">
              <a:extLst>
                <a:ext uri="{FF2B5EF4-FFF2-40B4-BE49-F238E27FC236}">
                  <a16:creationId xmlns:a16="http://schemas.microsoft.com/office/drawing/2014/main" id="{A012B6E2-CA49-41FB-A419-B187A2544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4" y="2112"/>
              <a:ext cx="720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grpSp>
          <p:nvGrpSpPr>
            <p:cNvPr id="158746" name="Group 31">
              <a:extLst>
                <a:ext uri="{FF2B5EF4-FFF2-40B4-BE49-F238E27FC236}">
                  <a16:creationId xmlns:a16="http://schemas.microsoft.com/office/drawing/2014/main" id="{6AE2E444-F642-41B5-AF71-D453DAD5A0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1593"/>
              <a:ext cx="432" cy="398"/>
              <a:chOff x="2304" y="1296"/>
              <a:chExt cx="432" cy="398"/>
            </a:xfrm>
          </p:grpSpPr>
          <p:sp>
            <p:nvSpPr>
              <p:cNvPr id="158766" name="Oval 32">
                <a:extLst>
                  <a:ext uri="{FF2B5EF4-FFF2-40B4-BE49-F238E27FC236}">
                    <a16:creationId xmlns:a16="http://schemas.microsoft.com/office/drawing/2014/main" id="{A0F2A3C6-AE48-4631-B4C7-E5D8A03E0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1296"/>
                <a:ext cx="432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58767" name="Text Box 33">
                <a:extLst>
                  <a:ext uri="{FF2B5EF4-FFF2-40B4-BE49-F238E27FC236}">
                    <a16:creationId xmlns:a16="http://schemas.microsoft.com/office/drawing/2014/main" id="{8BAE5C91-FDE6-441C-BDD1-C17275F0D6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1392"/>
                <a:ext cx="336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/>
                  <a:t>0</a:t>
                </a:r>
              </a:p>
            </p:txBody>
          </p:sp>
        </p:grpSp>
        <p:sp>
          <p:nvSpPr>
            <p:cNvPr id="158747" name="Text Box 34">
              <a:extLst>
                <a:ext uri="{FF2B5EF4-FFF2-40B4-BE49-F238E27FC236}">
                  <a16:creationId xmlns:a16="http://schemas.microsoft.com/office/drawing/2014/main" id="{02AAE35F-B8A9-4780-BE52-05E34D2CB1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1968"/>
              <a:ext cx="432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b</a:t>
              </a:r>
            </a:p>
          </p:txBody>
        </p:sp>
        <p:sp>
          <p:nvSpPr>
            <p:cNvPr id="158748" name="Text Box 35">
              <a:extLst>
                <a:ext uri="{FF2B5EF4-FFF2-40B4-BE49-F238E27FC236}">
                  <a16:creationId xmlns:a16="http://schemas.microsoft.com/office/drawing/2014/main" id="{EF0B51BA-E993-4716-9D0F-63D1AD7ED6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352"/>
              <a:ext cx="432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b</a:t>
              </a:r>
            </a:p>
          </p:txBody>
        </p:sp>
        <p:sp>
          <p:nvSpPr>
            <p:cNvPr id="158749" name="Text Box 36">
              <a:extLst>
                <a:ext uri="{FF2B5EF4-FFF2-40B4-BE49-F238E27FC236}">
                  <a16:creationId xmlns:a16="http://schemas.microsoft.com/office/drawing/2014/main" id="{1B1D48FF-9E67-4846-A8CD-D110AD18CC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488"/>
              <a:ext cx="43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b</a:t>
              </a:r>
            </a:p>
          </p:txBody>
        </p:sp>
        <p:sp>
          <p:nvSpPr>
            <p:cNvPr id="158750" name="Text Box 37">
              <a:extLst>
                <a:ext uri="{FF2B5EF4-FFF2-40B4-BE49-F238E27FC236}">
                  <a16:creationId xmlns:a16="http://schemas.microsoft.com/office/drawing/2014/main" id="{F03E80B3-7045-43FB-B12B-E1FBAD7F76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488"/>
              <a:ext cx="43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b</a:t>
              </a:r>
            </a:p>
          </p:txBody>
        </p:sp>
        <p:sp>
          <p:nvSpPr>
            <p:cNvPr id="158751" name="Text Box 38">
              <a:extLst>
                <a:ext uri="{FF2B5EF4-FFF2-40B4-BE49-F238E27FC236}">
                  <a16:creationId xmlns:a16="http://schemas.microsoft.com/office/drawing/2014/main" id="{D17FB1D2-6A51-485D-BE5E-03D5ED456E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960"/>
              <a:ext cx="432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a</a:t>
              </a:r>
            </a:p>
          </p:txBody>
        </p:sp>
        <p:sp>
          <p:nvSpPr>
            <p:cNvPr id="158752" name="Text Box 39">
              <a:extLst>
                <a:ext uri="{FF2B5EF4-FFF2-40B4-BE49-F238E27FC236}">
                  <a16:creationId xmlns:a16="http://schemas.microsoft.com/office/drawing/2014/main" id="{AFD6738B-43A3-4A40-BCB4-5596A806E4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488"/>
              <a:ext cx="432" cy="3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a</a:t>
              </a:r>
            </a:p>
          </p:txBody>
        </p:sp>
        <p:sp>
          <p:nvSpPr>
            <p:cNvPr id="158753" name="Text Box 40">
              <a:extLst>
                <a:ext uri="{FF2B5EF4-FFF2-40B4-BE49-F238E27FC236}">
                  <a16:creationId xmlns:a16="http://schemas.microsoft.com/office/drawing/2014/main" id="{CBA4BAEA-4A4A-48CF-BA1E-CDB10DA634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920"/>
              <a:ext cx="432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a</a:t>
              </a:r>
            </a:p>
          </p:txBody>
        </p:sp>
        <p:sp>
          <p:nvSpPr>
            <p:cNvPr id="158754" name="Text Box 41">
              <a:extLst>
                <a:ext uri="{FF2B5EF4-FFF2-40B4-BE49-F238E27FC236}">
                  <a16:creationId xmlns:a16="http://schemas.microsoft.com/office/drawing/2014/main" id="{D00BA919-CE76-4871-806B-906B6801F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113"/>
              <a:ext cx="336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2</a:t>
              </a:r>
            </a:p>
          </p:txBody>
        </p:sp>
        <p:sp>
          <p:nvSpPr>
            <p:cNvPr id="158755" name="Text Box 42">
              <a:extLst>
                <a:ext uri="{FF2B5EF4-FFF2-40B4-BE49-F238E27FC236}">
                  <a16:creationId xmlns:a16="http://schemas.microsoft.com/office/drawing/2014/main" id="{95294AB4-F72D-4405-81EC-59970D45EB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641"/>
              <a:ext cx="336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3</a:t>
              </a:r>
            </a:p>
          </p:txBody>
        </p:sp>
        <p:sp>
          <p:nvSpPr>
            <p:cNvPr id="158756" name="Text Box 43">
              <a:extLst>
                <a:ext uri="{FF2B5EF4-FFF2-40B4-BE49-F238E27FC236}">
                  <a16:creationId xmlns:a16="http://schemas.microsoft.com/office/drawing/2014/main" id="{82A1D359-F4CB-40E2-A454-FAF6F6B253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641"/>
              <a:ext cx="336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4</a:t>
              </a:r>
            </a:p>
          </p:txBody>
        </p:sp>
        <p:sp>
          <p:nvSpPr>
            <p:cNvPr id="158757" name="Text Box 44">
              <a:extLst>
                <a:ext uri="{FF2B5EF4-FFF2-40B4-BE49-F238E27FC236}">
                  <a16:creationId xmlns:a16="http://schemas.microsoft.com/office/drawing/2014/main" id="{265CCCD8-380E-4BB6-81EC-6380643F45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641"/>
              <a:ext cx="336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5</a:t>
              </a:r>
            </a:p>
          </p:txBody>
        </p:sp>
        <p:sp>
          <p:nvSpPr>
            <p:cNvPr id="158758" name="Text Box 45">
              <a:extLst>
                <a:ext uri="{FF2B5EF4-FFF2-40B4-BE49-F238E27FC236}">
                  <a16:creationId xmlns:a16="http://schemas.microsoft.com/office/drawing/2014/main" id="{CBD71207-64B3-41F1-92AD-2789370A16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313"/>
              <a:ext cx="336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8</a:t>
              </a:r>
            </a:p>
          </p:txBody>
        </p:sp>
        <p:sp>
          <p:nvSpPr>
            <p:cNvPr id="158759" name="Text Box 46">
              <a:extLst>
                <a:ext uri="{FF2B5EF4-FFF2-40B4-BE49-F238E27FC236}">
                  <a16:creationId xmlns:a16="http://schemas.microsoft.com/office/drawing/2014/main" id="{13AE9A07-6D6E-43AA-87A0-53555ED0D6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2313"/>
              <a:ext cx="336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7</a:t>
              </a:r>
            </a:p>
          </p:txBody>
        </p:sp>
        <p:sp>
          <p:nvSpPr>
            <p:cNvPr id="158760" name="Text Box 47">
              <a:extLst>
                <a:ext uri="{FF2B5EF4-FFF2-40B4-BE49-F238E27FC236}">
                  <a16:creationId xmlns:a16="http://schemas.microsoft.com/office/drawing/2014/main" id="{65159875-5B93-4083-B4B4-C8CD5268C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6" y="1641"/>
              <a:ext cx="336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6</a:t>
              </a:r>
            </a:p>
          </p:txBody>
        </p:sp>
        <p:grpSp>
          <p:nvGrpSpPr>
            <p:cNvPr id="158761" name="Group 48">
              <a:extLst>
                <a:ext uri="{FF2B5EF4-FFF2-40B4-BE49-F238E27FC236}">
                  <a16:creationId xmlns:a16="http://schemas.microsoft.com/office/drawing/2014/main" id="{3E97ADAF-C6F0-46C2-A639-AB44A33659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0" y="1017"/>
              <a:ext cx="432" cy="398"/>
              <a:chOff x="2304" y="1296"/>
              <a:chExt cx="432" cy="398"/>
            </a:xfrm>
          </p:grpSpPr>
          <p:sp>
            <p:nvSpPr>
              <p:cNvPr id="158764" name="Oval 49">
                <a:extLst>
                  <a:ext uri="{FF2B5EF4-FFF2-40B4-BE49-F238E27FC236}">
                    <a16:creationId xmlns:a16="http://schemas.microsoft.com/office/drawing/2014/main" id="{4F91C964-C6EA-48ED-B528-032D30A911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1296"/>
                <a:ext cx="432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58765" name="Text Box 50">
                <a:extLst>
                  <a:ext uri="{FF2B5EF4-FFF2-40B4-BE49-F238E27FC236}">
                    <a16:creationId xmlns:a16="http://schemas.microsoft.com/office/drawing/2014/main" id="{55CF7878-1C38-42AE-8A8A-09F8C257DC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1392"/>
                <a:ext cx="336" cy="3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000"/>
                  <a:t>1</a:t>
                </a:r>
              </a:p>
            </p:txBody>
          </p:sp>
        </p:grpSp>
        <p:sp>
          <p:nvSpPr>
            <p:cNvPr id="158762" name="Line 51">
              <a:extLst>
                <a:ext uri="{FF2B5EF4-FFF2-40B4-BE49-F238E27FC236}">
                  <a16:creationId xmlns:a16="http://schemas.microsoft.com/office/drawing/2014/main" id="{12E8EBF2-99A5-47EA-92DC-AF13F6829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785"/>
              <a:ext cx="52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763" name="Text Box 52">
              <a:extLst>
                <a:ext uri="{FF2B5EF4-FFF2-40B4-BE49-F238E27FC236}">
                  <a16:creationId xmlns:a16="http://schemas.microsoft.com/office/drawing/2014/main" id="{CE7F1C1B-59DF-493C-A8E5-8CD9E5F3F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681"/>
              <a:ext cx="768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000"/>
                <a:t>start</a:t>
              </a:r>
            </a:p>
          </p:txBody>
        </p:sp>
      </p:grp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46" name="Picture 59" descr="lex1">
            <a:extLst>
              <a:ext uri="{FF2B5EF4-FFF2-40B4-BE49-F238E27FC236}">
                <a16:creationId xmlns:a16="http://schemas.microsoft.com/office/drawing/2014/main" id="{A6C5421C-20F2-4AB1-8892-289E06D9D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900488"/>
            <a:ext cx="6056313" cy="1433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747" name="Rectangle 2">
            <a:extLst>
              <a:ext uri="{FF2B5EF4-FFF2-40B4-BE49-F238E27FC236}">
                <a16:creationId xmlns:a16="http://schemas.microsoft.com/office/drawing/2014/main" id="{1F2CFF9C-ADDB-4CF1-B3D8-AC1A38C915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3.8.2  </a:t>
            </a:r>
            <a:r>
              <a:rPr lang="zh-CN" altLang="en-US"/>
              <a:t>利用</a:t>
            </a:r>
            <a:r>
              <a:rPr lang="en-US" altLang="zh-CN"/>
              <a:t>DFA</a:t>
            </a:r>
            <a:r>
              <a:rPr lang="zh-CN" altLang="en-US"/>
              <a:t>实现（ 例</a:t>
            </a:r>
            <a:r>
              <a:rPr lang="en-US" altLang="zh-CN"/>
              <a:t>3.19</a:t>
            </a:r>
            <a:r>
              <a:rPr lang="zh-CN" altLang="en-US"/>
              <a:t>）</a:t>
            </a:r>
          </a:p>
        </p:txBody>
      </p:sp>
      <p:grpSp>
        <p:nvGrpSpPr>
          <p:cNvPr id="159748" name="Group 4">
            <a:extLst>
              <a:ext uri="{FF2B5EF4-FFF2-40B4-BE49-F238E27FC236}">
                <a16:creationId xmlns:a16="http://schemas.microsoft.com/office/drawing/2014/main" id="{9A48E330-6025-46FD-A041-11A4F88AA848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295400"/>
            <a:ext cx="5257800" cy="2667000"/>
            <a:chOff x="1056" y="1248"/>
            <a:chExt cx="3154" cy="2560"/>
          </a:xfrm>
        </p:grpSpPr>
        <p:sp>
          <p:nvSpPr>
            <p:cNvPr id="159749" name="Rectangle 5">
              <a:extLst>
                <a:ext uri="{FF2B5EF4-FFF2-40B4-BE49-F238E27FC236}">
                  <a16:creationId xmlns:a16="http://schemas.microsoft.com/office/drawing/2014/main" id="{7F097E92-906F-42D7-96B6-226B129E8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" y="3488"/>
              <a:ext cx="11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zh-CN" sz="2000"/>
            </a:p>
          </p:txBody>
        </p:sp>
        <p:sp>
          <p:nvSpPr>
            <p:cNvPr id="159750" name="Rectangle 6">
              <a:extLst>
                <a:ext uri="{FF2B5EF4-FFF2-40B4-BE49-F238E27FC236}">
                  <a16:creationId xmlns:a16="http://schemas.microsoft.com/office/drawing/2014/main" id="{5C65646F-8D2E-492E-A940-03C7230A3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488"/>
              <a:ext cx="73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abb</a:t>
              </a:r>
            </a:p>
          </p:txBody>
        </p:sp>
        <p:sp>
          <p:nvSpPr>
            <p:cNvPr id="159751" name="Rectangle 7">
              <a:extLst>
                <a:ext uri="{FF2B5EF4-FFF2-40B4-BE49-F238E27FC236}">
                  <a16:creationId xmlns:a16="http://schemas.microsoft.com/office/drawing/2014/main" id="{DD94FA18-CD65-41C6-8219-26B9576C3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488"/>
              <a:ext cx="768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{8}</a:t>
              </a:r>
            </a:p>
          </p:txBody>
        </p:sp>
        <p:sp>
          <p:nvSpPr>
            <p:cNvPr id="159752" name="Rectangle 8">
              <a:extLst>
                <a:ext uri="{FF2B5EF4-FFF2-40B4-BE49-F238E27FC236}">
                  <a16:creationId xmlns:a16="http://schemas.microsoft.com/office/drawing/2014/main" id="{23115111-2702-43F6-93B9-D1B5CC382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488"/>
              <a:ext cx="672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-</a:t>
              </a:r>
            </a:p>
          </p:txBody>
        </p:sp>
        <p:sp>
          <p:nvSpPr>
            <p:cNvPr id="159753" name="Rectangle 9">
              <a:extLst>
                <a:ext uri="{FF2B5EF4-FFF2-40B4-BE49-F238E27FC236}">
                  <a16:creationId xmlns:a16="http://schemas.microsoft.com/office/drawing/2014/main" id="{D37C2D0F-012C-470C-8762-5C04F853E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488"/>
              <a:ext cx="86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{6,8}</a:t>
              </a:r>
            </a:p>
          </p:txBody>
        </p:sp>
        <p:sp>
          <p:nvSpPr>
            <p:cNvPr id="159754" name="Rectangle 10">
              <a:extLst>
                <a:ext uri="{FF2B5EF4-FFF2-40B4-BE49-F238E27FC236}">
                  <a16:creationId xmlns:a16="http://schemas.microsoft.com/office/drawing/2014/main" id="{1D828689-8889-41F8-8DD7-A80D7B383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" y="3168"/>
              <a:ext cx="11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zh-CN" sz="2000"/>
            </a:p>
          </p:txBody>
        </p:sp>
        <p:sp>
          <p:nvSpPr>
            <p:cNvPr id="159755" name="Rectangle 11">
              <a:extLst>
                <a:ext uri="{FF2B5EF4-FFF2-40B4-BE49-F238E27FC236}">
                  <a16:creationId xmlns:a16="http://schemas.microsoft.com/office/drawing/2014/main" id="{6105C14E-0D0A-4616-BD8D-FAF5E8758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3168"/>
              <a:ext cx="73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a*b</a:t>
              </a:r>
              <a:r>
                <a:rPr lang="en-US" altLang="zh-CN" sz="2000" baseline="30000"/>
                <a:t>+</a:t>
              </a:r>
              <a:endParaRPr lang="en-US" altLang="zh-CN" sz="2000"/>
            </a:p>
          </p:txBody>
        </p:sp>
        <p:sp>
          <p:nvSpPr>
            <p:cNvPr id="159756" name="Rectangle 12">
              <a:extLst>
                <a:ext uri="{FF2B5EF4-FFF2-40B4-BE49-F238E27FC236}">
                  <a16:creationId xmlns:a16="http://schemas.microsoft.com/office/drawing/2014/main" id="{60F3ADB1-F106-43FF-8687-E3CCC109A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3168"/>
              <a:ext cx="768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{6,8}</a:t>
              </a:r>
            </a:p>
          </p:txBody>
        </p:sp>
        <p:sp>
          <p:nvSpPr>
            <p:cNvPr id="159757" name="Rectangle 13">
              <a:extLst>
                <a:ext uri="{FF2B5EF4-FFF2-40B4-BE49-F238E27FC236}">
                  <a16:creationId xmlns:a16="http://schemas.microsoft.com/office/drawing/2014/main" id="{3EF51B80-A2DA-4055-B847-8EF741DEBF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3168"/>
              <a:ext cx="672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-</a:t>
              </a:r>
            </a:p>
          </p:txBody>
        </p:sp>
        <p:sp>
          <p:nvSpPr>
            <p:cNvPr id="159758" name="Rectangle 14">
              <a:extLst>
                <a:ext uri="{FF2B5EF4-FFF2-40B4-BE49-F238E27FC236}">
                  <a16:creationId xmlns:a16="http://schemas.microsoft.com/office/drawing/2014/main" id="{6DBEE780-16B5-47A4-81E4-E1ACC6D8D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168"/>
              <a:ext cx="86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{5,8}</a:t>
              </a:r>
            </a:p>
          </p:txBody>
        </p:sp>
        <p:sp>
          <p:nvSpPr>
            <p:cNvPr id="159759" name="Rectangle 15">
              <a:extLst>
                <a:ext uri="{FF2B5EF4-FFF2-40B4-BE49-F238E27FC236}">
                  <a16:creationId xmlns:a16="http://schemas.microsoft.com/office/drawing/2014/main" id="{00331466-267D-43AE-8C91-799078F15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" y="2848"/>
              <a:ext cx="11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zh-CN" sz="2000"/>
            </a:p>
          </p:txBody>
        </p:sp>
        <p:sp>
          <p:nvSpPr>
            <p:cNvPr id="159760" name="Rectangle 16">
              <a:extLst>
                <a:ext uri="{FF2B5EF4-FFF2-40B4-BE49-F238E27FC236}">
                  <a16:creationId xmlns:a16="http://schemas.microsoft.com/office/drawing/2014/main" id="{BC0E76D5-866F-4007-8711-266EDE99D1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848"/>
              <a:ext cx="73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none</a:t>
              </a:r>
            </a:p>
          </p:txBody>
        </p:sp>
        <p:sp>
          <p:nvSpPr>
            <p:cNvPr id="159761" name="Rectangle 17">
              <a:extLst>
                <a:ext uri="{FF2B5EF4-FFF2-40B4-BE49-F238E27FC236}">
                  <a16:creationId xmlns:a16="http://schemas.microsoft.com/office/drawing/2014/main" id="{9E4F331B-495D-4CC4-AED5-E41A9C422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848"/>
              <a:ext cx="768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{8}</a:t>
              </a:r>
            </a:p>
          </p:txBody>
        </p:sp>
        <p:sp>
          <p:nvSpPr>
            <p:cNvPr id="159762" name="Rectangle 18">
              <a:extLst>
                <a:ext uri="{FF2B5EF4-FFF2-40B4-BE49-F238E27FC236}">
                  <a16:creationId xmlns:a16="http://schemas.microsoft.com/office/drawing/2014/main" id="{7F61F14A-C32E-4767-B29A-818D85E5A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848"/>
              <a:ext cx="672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{7}</a:t>
              </a:r>
            </a:p>
          </p:txBody>
        </p:sp>
        <p:sp>
          <p:nvSpPr>
            <p:cNvPr id="159763" name="Rectangle 19">
              <a:extLst>
                <a:ext uri="{FF2B5EF4-FFF2-40B4-BE49-F238E27FC236}">
                  <a16:creationId xmlns:a16="http://schemas.microsoft.com/office/drawing/2014/main" id="{ED4F95DA-D4A0-45C9-ABC6-8FD8CC8376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848"/>
              <a:ext cx="86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{7}</a:t>
              </a:r>
            </a:p>
          </p:txBody>
        </p:sp>
        <p:sp>
          <p:nvSpPr>
            <p:cNvPr id="159764" name="Rectangle 20">
              <a:extLst>
                <a:ext uri="{FF2B5EF4-FFF2-40B4-BE49-F238E27FC236}">
                  <a16:creationId xmlns:a16="http://schemas.microsoft.com/office/drawing/2014/main" id="{1CCFAB1C-58EC-4B3C-A58C-384D34FB8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" y="2528"/>
              <a:ext cx="11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zh-CN" sz="2000"/>
            </a:p>
          </p:txBody>
        </p:sp>
        <p:sp>
          <p:nvSpPr>
            <p:cNvPr id="159765" name="Rectangle 21">
              <a:extLst>
                <a:ext uri="{FF2B5EF4-FFF2-40B4-BE49-F238E27FC236}">
                  <a16:creationId xmlns:a16="http://schemas.microsoft.com/office/drawing/2014/main" id="{261792DC-4716-4A11-AAD2-0827A4E5F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528"/>
              <a:ext cx="73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a*b</a:t>
              </a:r>
              <a:r>
                <a:rPr lang="en-US" altLang="zh-CN" sz="2000" baseline="30000"/>
                <a:t>+</a:t>
              </a:r>
              <a:endParaRPr lang="en-US" altLang="zh-CN" sz="2000"/>
            </a:p>
          </p:txBody>
        </p:sp>
        <p:sp>
          <p:nvSpPr>
            <p:cNvPr id="159766" name="Rectangle 22">
              <a:extLst>
                <a:ext uri="{FF2B5EF4-FFF2-40B4-BE49-F238E27FC236}">
                  <a16:creationId xmlns:a16="http://schemas.microsoft.com/office/drawing/2014/main" id="{8C380245-16FD-4F04-A92A-315CDE63A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528"/>
              <a:ext cx="768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{8}</a:t>
              </a:r>
            </a:p>
          </p:txBody>
        </p:sp>
        <p:sp>
          <p:nvSpPr>
            <p:cNvPr id="159767" name="Rectangle 23">
              <a:extLst>
                <a:ext uri="{FF2B5EF4-FFF2-40B4-BE49-F238E27FC236}">
                  <a16:creationId xmlns:a16="http://schemas.microsoft.com/office/drawing/2014/main" id="{18C65639-6EFC-4034-AE09-2A9DBC35F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528"/>
              <a:ext cx="672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-</a:t>
              </a:r>
            </a:p>
          </p:txBody>
        </p:sp>
        <p:sp>
          <p:nvSpPr>
            <p:cNvPr id="159768" name="Rectangle 24">
              <a:extLst>
                <a:ext uri="{FF2B5EF4-FFF2-40B4-BE49-F238E27FC236}">
                  <a16:creationId xmlns:a16="http://schemas.microsoft.com/office/drawing/2014/main" id="{EEB62877-F69E-4EBB-B72A-D244CDB5F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528"/>
              <a:ext cx="86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{8}</a:t>
              </a:r>
            </a:p>
          </p:txBody>
        </p:sp>
        <p:sp>
          <p:nvSpPr>
            <p:cNvPr id="159769" name="Rectangle 25">
              <a:extLst>
                <a:ext uri="{FF2B5EF4-FFF2-40B4-BE49-F238E27FC236}">
                  <a16:creationId xmlns:a16="http://schemas.microsoft.com/office/drawing/2014/main" id="{E95834F6-EAC3-411C-BD30-F84C0FD54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" y="2208"/>
              <a:ext cx="11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zh-CN" sz="2000"/>
            </a:p>
          </p:txBody>
        </p:sp>
        <p:sp>
          <p:nvSpPr>
            <p:cNvPr id="159770" name="Rectangle 26">
              <a:extLst>
                <a:ext uri="{FF2B5EF4-FFF2-40B4-BE49-F238E27FC236}">
                  <a16:creationId xmlns:a16="http://schemas.microsoft.com/office/drawing/2014/main" id="{CD0DC95A-D43D-4B97-8463-C2D2634A5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2208"/>
              <a:ext cx="73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a</a:t>
              </a:r>
            </a:p>
          </p:txBody>
        </p:sp>
        <p:sp>
          <p:nvSpPr>
            <p:cNvPr id="159771" name="Rectangle 27">
              <a:extLst>
                <a:ext uri="{FF2B5EF4-FFF2-40B4-BE49-F238E27FC236}">
                  <a16:creationId xmlns:a16="http://schemas.microsoft.com/office/drawing/2014/main" id="{C9D05072-056F-40BA-AAA3-9ECF04986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208"/>
              <a:ext cx="768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{5,8}</a:t>
              </a:r>
            </a:p>
          </p:txBody>
        </p:sp>
        <p:sp>
          <p:nvSpPr>
            <p:cNvPr id="159772" name="Rectangle 28">
              <a:extLst>
                <a:ext uri="{FF2B5EF4-FFF2-40B4-BE49-F238E27FC236}">
                  <a16:creationId xmlns:a16="http://schemas.microsoft.com/office/drawing/2014/main" id="{48DA7310-976A-4AD4-B63F-DCBF86D2D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208"/>
              <a:ext cx="672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{7}</a:t>
              </a:r>
            </a:p>
          </p:txBody>
        </p:sp>
        <p:sp>
          <p:nvSpPr>
            <p:cNvPr id="159773" name="Rectangle 29">
              <a:extLst>
                <a:ext uri="{FF2B5EF4-FFF2-40B4-BE49-F238E27FC236}">
                  <a16:creationId xmlns:a16="http://schemas.microsoft.com/office/drawing/2014/main" id="{9223476F-9371-46C3-BA96-1E827395F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208"/>
              <a:ext cx="86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{2,4,7}</a:t>
              </a:r>
            </a:p>
          </p:txBody>
        </p:sp>
        <p:sp>
          <p:nvSpPr>
            <p:cNvPr id="159774" name="Rectangle 30">
              <a:extLst>
                <a:ext uri="{FF2B5EF4-FFF2-40B4-BE49-F238E27FC236}">
                  <a16:creationId xmlns:a16="http://schemas.microsoft.com/office/drawing/2014/main" id="{16149CB0-D067-490A-8E89-304849475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" y="1888"/>
              <a:ext cx="11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zh-CN" sz="2000"/>
            </a:p>
          </p:txBody>
        </p:sp>
        <p:sp>
          <p:nvSpPr>
            <p:cNvPr id="159775" name="Rectangle 31">
              <a:extLst>
                <a:ext uri="{FF2B5EF4-FFF2-40B4-BE49-F238E27FC236}">
                  <a16:creationId xmlns:a16="http://schemas.microsoft.com/office/drawing/2014/main" id="{54ABCF51-9B19-417A-93FC-13705F1B47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888"/>
              <a:ext cx="73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none</a:t>
              </a:r>
            </a:p>
          </p:txBody>
        </p:sp>
        <p:sp>
          <p:nvSpPr>
            <p:cNvPr id="159776" name="Rectangle 32">
              <a:extLst>
                <a:ext uri="{FF2B5EF4-FFF2-40B4-BE49-F238E27FC236}">
                  <a16:creationId xmlns:a16="http://schemas.microsoft.com/office/drawing/2014/main" id="{38E5B97E-CA6A-4E86-A33B-D5B49167F4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888"/>
              <a:ext cx="768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{8}</a:t>
              </a:r>
            </a:p>
          </p:txBody>
        </p:sp>
        <p:sp>
          <p:nvSpPr>
            <p:cNvPr id="159777" name="Rectangle 33">
              <a:extLst>
                <a:ext uri="{FF2B5EF4-FFF2-40B4-BE49-F238E27FC236}">
                  <a16:creationId xmlns:a16="http://schemas.microsoft.com/office/drawing/2014/main" id="{F9BCC681-3046-4A95-860D-2F15DA220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888"/>
              <a:ext cx="672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{2,4,7}</a:t>
              </a:r>
            </a:p>
          </p:txBody>
        </p:sp>
        <p:sp>
          <p:nvSpPr>
            <p:cNvPr id="159778" name="Rectangle 34">
              <a:extLst>
                <a:ext uri="{FF2B5EF4-FFF2-40B4-BE49-F238E27FC236}">
                  <a16:creationId xmlns:a16="http://schemas.microsoft.com/office/drawing/2014/main" id="{03ABBF14-7C21-4D9F-9262-198DFBB40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888"/>
              <a:ext cx="86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{0,1,3,7}</a:t>
              </a:r>
            </a:p>
          </p:txBody>
        </p:sp>
        <p:sp>
          <p:nvSpPr>
            <p:cNvPr id="159779" name="Rectangle 35">
              <a:extLst>
                <a:ext uri="{FF2B5EF4-FFF2-40B4-BE49-F238E27FC236}">
                  <a16:creationId xmlns:a16="http://schemas.microsoft.com/office/drawing/2014/main" id="{8306029F-5C7E-4D01-9E89-5E20CB298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" y="1568"/>
              <a:ext cx="11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zh-CN" sz="2000"/>
            </a:p>
          </p:txBody>
        </p:sp>
        <p:sp>
          <p:nvSpPr>
            <p:cNvPr id="159780" name="Rectangle 36">
              <a:extLst>
                <a:ext uri="{FF2B5EF4-FFF2-40B4-BE49-F238E27FC236}">
                  <a16:creationId xmlns:a16="http://schemas.microsoft.com/office/drawing/2014/main" id="{DEF556B6-0F10-4CD8-9DD7-BE0D634C67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568"/>
              <a:ext cx="73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Pattern</a:t>
              </a:r>
            </a:p>
          </p:txBody>
        </p:sp>
        <p:sp>
          <p:nvSpPr>
            <p:cNvPr id="159781" name="Rectangle 37">
              <a:extLst>
                <a:ext uri="{FF2B5EF4-FFF2-40B4-BE49-F238E27FC236}">
                  <a16:creationId xmlns:a16="http://schemas.microsoft.com/office/drawing/2014/main" id="{C248FA1F-7434-4EEA-8A95-E14097389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568"/>
              <a:ext cx="768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b</a:t>
              </a:r>
            </a:p>
          </p:txBody>
        </p:sp>
        <p:sp>
          <p:nvSpPr>
            <p:cNvPr id="159782" name="Rectangle 38">
              <a:extLst>
                <a:ext uri="{FF2B5EF4-FFF2-40B4-BE49-F238E27FC236}">
                  <a16:creationId xmlns:a16="http://schemas.microsoft.com/office/drawing/2014/main" id="{6EF3F73C-8ECC-4864-80B4-DD2367F94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568"/>
              <a:ext cx="672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a</a:t>
              </a:r>
            </a:p>
          </p:txBody>
        </p:sp>
        <p:sp>
          <p:nvSpPr>
            <p:cNvPr id="159783" name="Rectangle 39">
              <a:extLst>
                <a:ext uri="{FF2B5EF4-FFF2-40B4-BE49-F238E27FC236}">
                  <a16:creationId xmlns:a16="http://schemas.microsoft.com/office/drawing/2014/main" id="{AA472280-1A60-4CAC-98AC-AEAD53985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568"/>
              <a:ext cx="86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STATE</a:t>
              </a:r>
            </a:p>
          </p:txBody>
        </p:sp>
        <p:sp>
          <p:nvSpPr>
            <p:cNvPr id="159784" name="Rectangle 40">
              <a:extLst>
                <a:ext uri="{FF2B5EF4-FFF2-40B4-BE49-F238E27FC236}">
                  <a16:creationId xmlns:a16="http://schemas.microsoft.com/office/drawing/2014/main" id="{C20186E5-8922-4696-8015-EBC1CD24E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5" y="1248"/>
              <a:ext cx="11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zh-CN" sz="2000"/>
            </a:p>
          </p:txBody>
        </p:sp>
        <p:sp>
          <p:nvSpPr>
            <p:cNvPr id="159785" name="Rectangle 41">
              <a:extLst>
                <a:ext uri="{FF2B5EF4-FFF2-40B4-BE49-F238E27FC236}">
                  <a16:creationId xmlns:a16="http://schemas.microsoft.com/office/drawing/2014/main" id="{DB92EA90-4CD3-44F8-940E-B55434557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0" y="1248"/>
              <a:ext cx="735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zh-CN" sz="2000"/>
            </a:p>
          </p:txBody>
        </p:sp>
        <p:sp>
          <p:nvSpPr>
            <p:cNvPr id="159786" name="Rectangle 42">
              <a:extLst>
                <a:ext uri="{FF2B5EF4-FFF2-40B4-BE49-F238E27FC236}">
                  <a16:creationId xmlns:a16="http://schemas.microsoft.com/office/drawing/2014/main" id="{1FB344BC-42F8-44A0-A4F4-7B0DA29FDB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248"/>
              <a:ext cx="1440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r>
                <a:rPr lang="en-US" altLang="zh-CN" sz="2000"/>
                <a:t>Input Symbol</a:t>
              </a:r>
            </a:p>
          </p:txBody>
        </p:sp>
        <p:sp>
          <p:nvSpPr>
            <p:cNvPr id="159787" name="Rectangle 43">
              <a:extLst>
                <a:ext uri="{FF2B5EF4-FFF2-40B4-BE49-F238E27FC236}">
                  <a16:creationId xmlns:a16="http://schemas.microsoft.com/office/drawing/2014/main" id="{627949C6-061C-4251-B518-C9527B3C10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1248"/>
              <a:ext cx="864" cy="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tabLst>
                  <a:tab pos="1025525" algn="l"/>
                </a:tabLst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tabLst>
                  <a:tab pos="1025525" algn="l"/>
                </a:tabLst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tabLst>
                  <a:tab pos="1025525" algn="l"/>
                </a:tabLst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tabLst>
                  <a:tab pos="1025525" algn="l"/>
                </a:tabLst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</a:pPr>
              <a:endParaRPr lang="zh-CN" altLang="zh-CN" sz="2000"/>
            </a:p>
          </p:txBody>
        </p:sp>
        <p:sp>
          <p:nvSpPr>
            <p:cNvPr id="159788" name="Line 44">
              <a:extLst>
                <a:ext uri="{FF2B5EF4-FFF2-40B4-BE49-F238E27FC236}">
                  <a16:creationId xmlns:a16="http://schemas.microsoft.com/office/drawing/2014/main" id="{66E7B99E-8746-43E1-AB04-053C9DEB4A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248"/>
              <a:ext cx="315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89" name="Line 45">
              <a:extLst>
                <a:ext uri="{FF2B5EF4-FFF2-40B4-BE49-F238E27FC236}">
                  <a16:creationId xmlns:a16="http://schemas.microsoft.com/office/drawing/2014/main" id="{16E73F71-B262-4342-BE33-FDC6060F9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568"/>
              <a:ext cx="31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90" name="Line 46">
              <a:extLst>
                <a:ext uri="{FF2B5EF4-FFF2-40B4-BE49-F238E27FC236}">
                  <a16:creationId xmlns:a16="http://schemas.microsoft.com/office/drawing/2014/main" id="{3250580C-65A3-4E64-B732-F1A622883D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888"/>
              <a:ext cx="31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91" name="Line 47">
              <a:extLst>
                <a:ext uri="{FF2B5EF4-FFF2-40B4-BE49-F238E27FC236}">
                  <a16:creationId xmlns:a16="http://schemas.microsoft.com/office/drawing/2014/main" id="{72091B2E-0AD2-46FB-923A-338D3DFDDE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208"/>
              <a:ext cx="31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92" name="Line 48">
              <a:extLst>
                <a:ext uri="{FF2B5EF4-FFF2-40B4-BE49-F238E27FC236}">
                  <a16:creationId xmlns:a16="http://schemas.microsoft.com/office/drawing/2014/main" id="{8E70A1F6-FEF6-4640-8969-32D4BA59CC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528"/>
              <a:ext cx="31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93" name="Line 49">
              <a:extLst>
                <a:ext uri="{FF2B5EF4-FFF2-40B4-BE49-F238E27FC236}">
                  <a16:creationId xmlns:a16="http://schemas.microsoft.com/office/drawing/2014/main" id="{87939165-FE13-496E-98A9-1EA7255BBD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848"/>
              <a:ext cx="31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94" name="Line 50">
              <a:extLst>
                <a:ext uri="{FF2B5EF4-FFF2-40B4-BE49-F238E27FC236}">
                  <a16:creationId xmlns:a16="http://schemas.microsoft.com/office/drawing/2014/main" id="{973DD1EB-BB91-4F55-A102-E1D696CD93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168"/>
              <a:ext cx="31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95" name="Line 51">
              <a:extLst>
                <a:ext uri="{FF2B5EF4-FFF2-40B4-BE49-F238E27FC236}">
                  <a16:creationId xmlns:a16="http://schemas.microsoft.com/office/drawing/2014/main" id="{7744EE70-602C-41E9-BE45-A652138D25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488"/>
              <a:ext cx="315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96" name="Line 52">
              <a:extLst>
                <a:ext uri="{FF2B5EF4-FFF2-40B4-BE49-F238E27FC236}">
                  <a16:creationId xmlns:a16="http://schemas.microsoft.com/office/drawing/2014/main" id="{B471126B-52D6-4B46-8EC2-F9C10BE6B1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808"/>
              <a:ext cx="3154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97" name="Line 53">
              <a:extLst>
                <a:ext uri="{FF2B5EF4-FFF2-40B4-BE49-F238E27FC236}">
                  <a16:creationId xmlns:a16="http://schemas.microsoft.com/office/drawing/2014/main" id="{48B65DBD-FBC9-4BEB-B265-CCFE42C804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248"/>
              <a:ext cx="0" cy="25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98" name="Line 54">
              <a:extLst>
                <a:ext uri="{FF2B5EF4-FFF2-40B4-BE49-F238E27FC236}">
                  <a16:creationId xmlns:a16="http://schemas.microsoft.com/office/drawing/2014/main" id="{4519148C-62A7-41F5-AF3F-ED68F5504C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248"/>
              <a:ext cx="0" cy="25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799" name="Line 55">
              <a:extLst>
                <a:ext uri="{FF2B5EF4-FFF2-40B4-BE49-F238E27FC236}">
                  <a16:creationId xmlns:a16="http://schemas.microsoft.com/office/drawing/2014/main" id="{4FF0B6C1-F5E8-477E-91BB-D562F1709E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248"/>
              <a:ext cx="0" cy="25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800" name="Line 56">
              <a:extLst>
                <a:ext uri="{FF2B5EF4-FFF2-40B4-BE49-F238E27FC236}">
                  <a16:creationId xmlns:a16="http://schemas.microsoft.com/office/drawing/2014/main" id="{45049870-E8A1-4257-88BC-2BBCD8FD3D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5" y="1248"/>
              <a:ext cx="0" cy="25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801" name="Line 57">
              <a:extLst>
                <a:ext uri="{FF2B5EF4-FFF2-40B4-BE49-F238E27FC236}">
                  <a16:creationId xmlns:a16="http://schemas.microsoft.com/office/drawing/2014/main" id="{B133B18B-101D-4EF2-A8EA-CCF1B6595D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0" y="1248"/>
              <a:ext cx="0" cy="256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802" name="Line 58">
              <a:extLst>
                <a:ext uri="{FF2B5EF4-FFF2-40B4-BE49-F238E27FC236}">
                  <a16:creationId xmlns:a16="http://schemas.microsoft.com/office/drawing/2014/main" id="{988ABB43-0EAF-45A2-942C-98BA7A3151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568"/>
              <a:ext cx="0" cy="22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1E6F2492-F163-41F3-8B24-A4371D8DDC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3.8.3  </a:t>
            </a:r>
            <a:r>
              <a:rPr lang="zh-CN" altLang="en-US"/>
              <a:t>超前搜索的实现</a:t>
            </a:r>
            <a:r>
              <a:rPr lang="en-US" altLang="zh-CN"/>
              <a:t>(</a:t>
            </a:r>
            <a:r>
              <a:rPr lang="zh-CN" altLang="en-US"/>
              <a:t>例</a:t>
            </a:r>
            <a:r>
              <a:rPr lang="en-US" altLang="zh-CN"/>
              <a:t>3.20)</a:t>
            </a:r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CF7CAE73-2573-478A-9F60-6A7756A7B3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352800"/>
            <a:ext cx="7772400" cy="2743200"/>
          </a:xfrm>
        </p:spPr>
        <p:txBody>
          <a:bodyPr/>
          <a:lstStyle/>
          <a:p>
            <a:pPr eaLnBrk="1" hangingPunct="1"/>
            <a:r>
              <a:rPr lang="en-US" altLang="zh-CN" dirty="0"/>
              <a:t>IF/‘(’any* ‘)’letter</a:t>
            </a:r>
          </a:p>
          <a:p>
            <a:pPr eaLnBrk="1" hangingPunct="1"/>
            <a:r>
              <a:rPr lang="en-US" altLang="zh-CN" dirty="0"/>
              <a:t>‘/’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  <a:r>
              <a:rPr kumimoji="0" lang="en-US" altLang="zh-CN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endParaRPr kumimoji="0" lang="en-US" altLang="zh-CN" b="1" dirty="0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 dirty="0">
                <a:sym typeface="Symbol" panose="05050102010706020507" pitchFamily="18" charset="2"/>
              </a:rPr>
              <a:t>识别符号串后，词素结束位置应该是</a:t>
            </a:r>
            <a:r>
              <a:rPr lang="en-US" altLang="zh-CN" dirty="0"/>
              <a:t>‘</a:t>
            </a:r>
            <a:r>
              <a:rPr kumimoji="0" lang="en-US" altLang="zh-CN" dirty="0">
                <a:sym typeface="Symbol" panose="05050102010706020507" pitchFamily="18" charset="2"/>
              </a:rPr>
              <a:t>/’</a:t>
            </a:r>
            <a:r>
              <a:rPr kumimoji="0" lang="zh-CN" altLang="en-US" dirty="0">
                <a:sym typeface="Symbol" panose="05050102010706020507" pitchFamily="18" charset="2"/>
              </a:rPr>
              <a:t>之前的位置</a:t>
            </a:r>
          </a:p>
        </p:txBody>
      </p:sp>
      <p:pic>
        <p:nvPicPr>
          <p:cNvPr id="160772" name="Picture 4" descr="lex2">
            <a:extLst>
              <a:ext uri="{FF2B5EF4-FFF2-40B4-BE49-F238E27FC236}">
                <a16:creationId xmlns:a16="http://schemas.microsoft.com/office/drawing/2014/main" id="{9B2BFF53-1B25-4361-B78E-3DE7EED9C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1600"/>
            <a:ext cx="8047038" cy="156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6E5EDC9E-EC02-435B-97F2-C5639D7709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3.9  DFA</a:t>
            </a:r>
            <a:r>
              <a:rPr lang="zh-CN" altLang="en-US"/>
              <a:t>的优化</a:t>
            </a:r>
          </a:p>
        </p:txBody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65F90B8B-2D76-4BFE-A89F-3F432E8110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4000"/>
              <a:t>3.9.1  NFA</a:t>
            </a:r>
            <a:r>
              <a:rPr lang="zh-CN" altLang="en-US" sz="4000"/>
              <a:t>的</a:t>
            </a:r>
            <a:r>
              <a:rPr lang="zh-CN" altLang="en-US" sz="4000">
                <a:solidFill>
                  <a:srgbClr val="3333CC"/>
                </a:solidFill>
                <a:ea typeface="黑体" panose="02010609060101010101" pitchFamily="49" charset="-122"/>
              </a:rPr>
              <a:t>重要状态</a:t>
            </a:r>
          </a:p>
          <a:p>
            <a:pPr lvl="1" eaLnBrk="1" hangingPunct="1"/>
            <a:r>
              <a:rPr lang="zh-CN" altLang="en-US">
                <a:solidFill>
                  <a:schemeClr val="folHlink"/>
                </a:solidFill>
              </a:rPr>
              <a:t>具有非</a:t>
            </a:r>
            <a:r>
              <a:rPr kumimoji="0" lang="en-US" altLang="zh-CN">
                <a:solidFill>
                  <a:schemeClr val="fol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>
                <a:solidFill>
                  <a:schemeClr val="folHlink"/>
                </a:solidFill>
                <a:sym typeface="Symbol" panose="05050102010706020507" pitchFamily="18" charset="2"/>
              </a:rPr>
              <a:t>输出边</a:t>
            </a:r>
          </a:p>
          <a:p>
            <a:pPr eaLnBrk="1" hangingPunct="1"/>
            <a:r>
              <a:rPr kumimoji="0" lang="en-US" altLang="zh-CN">
                <a:sym typeface="Symbol" panose="05050102010706020507" pitchFamily="18" charset="2"/>
              </a:rPr>
              <a:t>NFA</a:t>
            </a:r>
            <a:r>
              <a:rPr lang="en-US" altLang="zh-CN">
                <a:sym typeface="Symbol" panose="05050102010706020507" pitchFamily="18" charset="2"/>
              </a:rPr>
              <a:t>DFA</a:t>
            </a:r>
          </a:p>
          <a:p>
            <a:pPr lvl="1" eaLnBrk="1" hangingPunct="1"/>
            <a:r>
              <a:rPr kumimoji="0" lang="en-US" altLang="zh-CN">
                <a:sym typeface="Symbol" panose="05050102010706020507" pitchFamily="18" charset="2"/>
              </a:rPr>
              <a:t>δ(s,a)</a:t>
            </a:r>
            <a:r>
              <a:rPr kumimoji="0" lang="zh-CN" altLang="en-US">
                <a:sym typeface="Symbol" panose="05050102010706020507" pitchFamily="18" charset="2"/>
              </a:rPr>
              <a:t>不空，当且仅当</a:t>
            </a:r>
            <a:r>
              <a:rPr kumimoji="0" lang="en-US" altLang="zh-CN">
                <a:sym typeface="Symbol" panose="05050102010706020507" pitchFamily="18" charset="2"/>
              </a:rPr>
              <a:t>s</a:t>
            </a:r>
            <a:r>
              <a:rPr kumimoji="0" lang="zh-CN" altLang="en-US">
                <a:sym typeface="Symbol" panose="05050102010706020507" pitchFamily="18" charset="2"/>
              </a:rPr>
              <a:t>是重要状态</a:t>
            </a:r>
            <a:r>
              <a:rPr kumimoji="0" lang="zh-CN" altLang="en-US">
                <a:sym typeface="Wingdings" panose="05000000000000000000" pitchFamily="2" charset="2"/>
              </a:rPr>
              <a:t></a:t>
            </a:r>
            <a:endParaRPr kumimoji="0" lang="zh-CN" altLang="en-US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>
                <a:sym typeface="Symbol" panose="05050102010706020507" pitchFamily="18" charset="2"/>
              </a:rPr>
              <a:t>决定了</a:t>
            </a:r>
            <a:r>
              <a:rPr kumimoji="0" lang="en-US" altLang="zh-CN">
                <a:solidFill>
                  <a:schemeClr val="folHlink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>
                <a:sym typeface="Symbol" panose="05050102010706020507" pitchFamily="18" charset="2"/>
              </a:rPr>
              <a:t>-closure(δ(T,a)) </a:t>
            </a:r>
            <a:r>
              <a:rPr kumimoji="0" lang="zh-CN" altLang="en-US">
                <a:sym typeface="Symbol" panose="05050102010706020507" pitchFamily="18" charset="2"/>
              </a:rPr>
              <a:t>的计算</a:t>
            </a:r>
            <a:r>
              <a:rPr kumimoji="0" lang="zh-CN" altLang="en-US">
                <a:sym typeface="Wingdings" panose="05000000000000000000" pitchFamily="2" charset="2"/>
              </a:rPr>
              <a:t>子集构造法的核心</a:t>
            </a:r>
            <a:endParaRPr kumimoji="0" lang="zh-CN" altLang="en-US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>
                <a:sym typeface="Symbol" panose="05050102010706020507" pitchFamily="18" charset="2"/>
              </a:rPr>
              <a:t>两个子集若具有相同的重要状态，且同时包含或同时不包含终态，则可看作等价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A8CF6DC4-E3ED-41B2-9BCD-3E6758BF5E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重要状态</a:t>
            </a:r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1290B5B0-4796-4800-BC18-DE882231D6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/>
              <a:t>正规式</a:t>
            </a:r>
            <a:r>
              <a:rPr lang="zh-CN" altLang="en-US">
                <a:sym typeface="Symbol" panose="05050102010706020507" pitchFamily="18" charset="2"/>
              </a:rPr>
              <a:t></a:t>
            </a:r>
            <a:r>
              <a:rPr lang="en-US" altLang="zh-CN">
                <a:sym typeface="Symbol" panose="05050102010706020507" pitchFamily="18" charset="2"/>
              </a:rPr>
              <a:t>NFADFA</a:t>
            </a:r>
            <a:r>
              <a:rPr lang="zh-CN" altLang="en-US">
                <a:sym typeface="Symbol" panose="05050102010706020507" pitchFamily="18" charset="2"/>
              </a:rPr>
              <a:t>，两个步骤可合并</a:t>
            </a:r>
          </a:p>
          <a:p>
            <a:pPr lvl="1" eaLnBrk="1" hangingPunct="1"/>
            <a:r>
              <a:rPr lang="zh-CN" altLang="en-US">
                <a:sym typeface="Symbol" panose="05050102010706020507" pitchFamily="18" charset="2"/>
              </a:rPr>
              <a:t>关键：利用重要状态的特性</a:t>
            </a:r>
          </a:p>
          <a:p>
            <a:pPr lvl="1" eaLnBrk="1" hangingPunct="1"/>
            <a:r>
              <a:rPr lang="en-US" altLang="zh-CN">
                <a:sym typeface="Symbol" panose="05050102010706020507" pitchFamily="18" charset="2"/>
              </a:rPr>
              <a:t>Thompson</a:t>
            </a:r>
            <a:r>
              <a:rPr lang="zh-CN" altLang="en-US">
                <a:sym typeface="Symbol" panose="05050102010706020507" pitchFamily="18" charset="2"/>
              </a:rPr>
              <a:t>算法：</a:t>
            </a:r>
            <a:br>
              <a:rPr lang="zh-CN" altLang="en-US">
                <a:sym typeface="Symbol" panose="05050102010706020507" pitchFamily="18" charset="2"/>
              </a:rPr>
            </a:br>
            <a:r>
              <a:rPr lang="zh-CN" altLang="en-US">
                <a:sym typeface="Symbol" panose="05050102010706020507" pitchFamily="18" charset="2"/>
              </a:rPr>
              <a:t>正规式中符号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r>
              <a:rPr lang="en-US" altLang="zh-CN">
                <a:sym typeface="Wingdings" panose="05000000000000000000" pitchFamily="2" charset="2"/>
              </a:rPr>
              <a:t>NFA</a:t>
            </a:r>
            <a:r>
              <a:rPr lang="zh-CN" altLang="en-US">
                <a:sym typeface="Wingdings" panose="05000000000000000000" pitchFamily="2" charset="2"/>
              </a:rPr>
              <a:t>重要状态</a:t>
            </a:r>
            <a:endParaRPr lang="zh-CN" altLang="en-US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BA5DE92F-C656-45A9-A02C-47A7230631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扩充正规式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DF201B55-BFFC-4C00-9F85-A0F1974BE2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sz="2800">
                <a:solidFill>
                  <a:schemeClr val="folHlink"/>
                </a:solidFill>
              </a:rPr>
              <a:t>正规式</a:t>
            </a:r>
            <a:r>
              <a:rPr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NFA</a:t>
            </a:r>
            <a:r>
              <a:rPr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，只有一个终态，非重要状态</a:t>
            </a:r>
          </a:p>
          <a:p>
            <a:pPr eaLnBrk="1" hangingPunct="1"/>
            <a:r>
              <a:rPr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r(r)#</a:t>
            </a:r>
          </a:p>
          <a:p>
            <a:pPr eaLnBrk="1" hangingPunct="1"/>
            <a:r>
              <a:rPr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终态有</a:t>
            </a:r>
            <a:r>
              <a:rPr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#</a:t>
            </a:r>
            <a:r>
              <a:rPr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输出边</a:t>
            </a:r>
            <a:r>
              <a:rPr lang="zh-CN" altLang="en-US" sz="2800">
                <a:solidFill>
                  <a:schemeClr val="folHlink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重要状态</a:t>
            </a:r>
          </a:p>
          <a:p>
            <a:pPr eaLnBrk="1" hangingPunct="1"/>
            <a:r>
              <a:rPr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构造时不考虑终态，完成后具有</a:t>
            </a:r>
            <a:r>
              <a:rPr lang="en-US" altLang="zh-CN" sz="2800">
                <a:solidFill>
                  <a:schemeClr val="folHlink"/>
                </a:solidFill>
                <a:sym typeface="Symbol" panose="05050102010706020507" pitchFamily="18" charset="2"/>
              </a:rPr>
              <a:t>#</a:t>
            </a:r>
            <a:r>
              <a:rPr lang="zh-CN" altLang="en-US" sz="2800">
                <a:solidFill>
                  <a:schemeClr val="folHlink"/>
                </a:solidFill>
                <a:sym typeface="Symbol" panose="05050102010706020507" pitchFamily="18" charset="2"/>
              </a:rPr>
              <a:t>输出边的状态为终态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4C93E67C-3376-4A12-879B-998ABBBB01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语法树表示正规式</a:t>
            </a:r>
          </a:p>
        </p:txBody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A226DB14-475C-4D9A-95BC-42D8A1D20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0"/>
              <a:t>内部结点</a:t>
            </a:r>
            <a:br>
              <a:rPr lang="zh-CN" altLang="en-US" sz="2800" b="0"/>
            </a:br>
            <a:r>
              <a:rPr lang="en-US" altLang="zh-CN" sz="2800" b="0">
                <a:solidFill>
                  <a:srgbClr val="FF3300"/>
                </a:solidFill>
              </a:rPr>
              <a:t>cat-node</a:t>
            </a:r>
            <a:r>
              <a:rPr lang="en-US" altLang="zh-CN" sz="2800" b="0"/>
              <a:t>, </a:t>
            </a:r>
            <a:r>
              <a:rPr lang="en-US" altLang="zh-CN" sz="2800" b="0">
                <a:solidFill>
                  <a:srgbClr val="FF3300"/>
                </a:solidFill>
              </a:rPr>
              <a:t>or-node</a:t>
            </a:r>
            <a:r>
              <a:rPr lang="en-US" altLang="zh-CN" sz="2800" b="0"/>
              <a:t>, </a:t>
            </a:r>
            <a:r>
              <a:rPr lang="en-US" altLang="zh-CN" sz="2800" b="0">
                <a:solidFill>
                  <a:srgbClr val="FF3300"/>
                </a:solidFill>
              </a:rPr>
              <a:t>star-node</a:t>
            </a:r>
            <a:r>
              <a:rPr lang="en-US" altLang="zh-CN" sz="2800" b="0"/>
              <a:t>——</a:t>
            </a:r>
            <a:br>
              <a:rPr lang="en-US" altLang="zh-CN" sz="2800" b="0"/>
            </a:br>
            <a:r>
              <a:rPr lang="zh-CN" altLang="en-US" sz="2800" b="0"/>
              <a:t>连接，</a:t>
            </a:r>
            <a:r>
              <a:rPr lang="en-US" altLang="zh-CN" sz="2800" b="0"/>
              <a:t>|</a:t>
            </a:r>
            <a:r>
              <a:rPr lang="zh-CN" altLang="en-US" sz="2800" b="0"/>
              <a:t>，闭包操作</a:t>
            </a:r>
          </a:p>
          <a:p>
            <a:pPr eaLnBrk="1" hangingPunct="1"/>
            <a:r>
              <a:rPr lang="zh-CN" altLang="en-US" sz="2800" b="0"/>
              <a:t>孩子结点</a:t>
            </a:r>
            <a:r>
              <a:rPr lang="en-US" altLang="zh-CN" sz="2800" b="0"/>
              <a:t>——</a:t>
            </a:r>
            <a:r>
              <a:rPr lang="zh-CN" altLang="en-US" sz="2800" b="0"/>
              <a:t>操作对象，子正规式</a:t>
            </a:r>
          </a:p>
          <a:p>
            <a:pPr eaLnBrk="1" hangingPunct="1"/>
            <a:r>
              <a:rPr lang="zh-CN" altLang="en-US" sz="2800" b="0"/>
              <a:t>非</a:t>
            </a:r>
            <a:r>
              <a:rPr kumimoji="0" lang="en-US" altLang="zh-CN" sz="28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800" b="0">
                <a:sym typeface="Symbol" panose="05050102010706020507" pitchFamily="18" charset="2"/>
              </a:rPr>
              <a:t>叶结点，用整数标记</a:t>
            </a:r>
            <a:r>
              <a:rPr kumimoji="0" lang="en-US" altLang="zh-CN" sz="2800" b="0">
                <a:sym typeface="Symbol" panose="05050102010706020507" pitchFamily="18" charset="2"/>
              </a:rPr>
              <a:t>——</a:t>
            </a:r>
            <a:br>
              <a:rPr kumimoji="0" lang="en-US" altLang="zh-CN" sz="2800" b="0">
                <a:sym typeface="Symbol" panose="05050102010706020507" pitchFamily="18" charset="2"/>
              </a:rPr>
            </a:br>
            <a:r>
              <a:rPr kumimoji="0" lang="zh-CN" altLang="en-US" sz="2800" b="0">
                <a:solidFill>
                  <a:schemeClr val="folHlink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位置</a:t>
            </a:r>
            <a:r>
              <a:rPr kumimoji="0" lang="zh-CN" altLang="en-US" sz="2800" b="0">
                <a:sym typeface="Symbol" panose="05050102010706020507" pitchFamily="18" charset="2"/>
              </a:rPr>
              <a:t>，</a:t>
            </a:r>
            <a:r>
              <a:rPr kumimoji="0" lang="en-US" altLang="zh-CN" sz="2800" b="0">
                <a:solidFill>
                  <a:srgbClr val="FF3300"/>
                </a:solidFill>
                <a:sym typeface="Symbol" panose="05050102010706020507" pitchFamily="18" charset="2"/>
              </a:rPr>
              <a:t>position</a:t>
            </a:r>
            <a:r>
              <a:rPr kumimoji="0" lang="zh-CN" altLang="en-US" sz="2800" b="0">
                <a:sym typeface="Symbol" panose="05050102010706020507" pitchFamily="18" charset="2"/>
              </a:rPr>
              <a:t>，叶结点位置，符号位置</a:t>
            </a:r>
          </a:p>
          <a:p>
            <a:pPr eaLnBrk="1" hangingPunct="1"/>
            <a:r>
              <a:rPr kumimoji="0" lang="zh-CN" altLang="en-US" sz="2800" b="0">
                <a:sym typeface="Symbol" panose="05050102010706020507" pitchFamily="18" charset="2"/>
              </a:rPr>
              <a:t>位置</a:t>
            </a:r>
            <a:r>
              <a:rPr kumimoji="0" lang="zh-CN" altLang="en-US" sz="2800" b="0">
                <a:sym typeface="Wingdings" panose="05000000000000000000" pitchFamily="2" charset="2"/>
              </a:rPr>
              <a:t></a:t>
            </a:r>
            <a:r>
              <a:rPr kumimoji="0" lang="en-US" altLang="zh-CN" sz="2800" b="0">
                <a:sym typeface="Symbol" panose="05050102010706020507" pitchFamily="18" charset="2"/>
              </a:rPr>
              <a:t>NFA</a:t>
            </a:r>
            <a:r>
              <a:rPr kumimoji="0" lang="zh-CN" altLang="en-US" sz="2800" b="0">
                <a:sym typeface="Symbol" panose="05050102010706020507" pitchFamily="18" charset="2"/>
              </a:rPr>
              <a:t>的重要状态</a:t>
            </a:r>
            <a:r>
              <a:rPr kumimoji="0" lang="zh-CN" altLang="en-US" sz="2800" b="0">
                <a:sym typeface="Wingdings" panose="05000000000000000000" pitchFamily="2" charset="2"/>
              </a:rPr>
              <a:t>正规式中的符号</a:t>
            </a:r>
            <a:endParaRPr kumimoji="0" lang="zh-CN" altLang="en-US" sz="2800" b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7651AC7F-99E6-4827-ACBB-23C3803876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语法树表示正规式（续）</a:t>
            </a:r>
          </a:p>
        </p:txBody>
      </p:sp>
      <p:sp>
        <p:nvSpPr>
          <p:cNvPr id="165891" name="Rectangle 66">
            <a:extLst>
              <a:ext uri="{FF2B5EF4-FFF2-40B4-BE49-F238E27FC236}">
                <a16:creationId xmlns:a16="http://schemas.microsoft.com/office/drawing/2014/main" id="{E799C081-DADE-4D35-84AB-B20A37D4B4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en-US" altLang="zh-CN">
                <a:solidFill>
                  <a:srgbClr val="3333CC"/>
                </a:solidFill>
                <a:sym typeface="Symbol" panose="05050102010706020507" pitchFamily="18" charset="2"/>
              </a:rPr>
              <a:t>(a|b)</a:t>
            </a:r>
            <a:r>
              <a:rPr lang="en-US" altLang="zh-CN" baseline="30000">
                <a:solidFill>
                  <a:srgbClr val="3333CC"/>
                </a:solidFill>
                <a:sym typeface="Symbol" panose="05050102010706020507" pitchFamily="18" charset="2"/>
              </a:rPr>
              <a:t>*</a:t>
            </a:r>
            <a:r>
              <a:rPr lang="en-US" altLang="zh-CN">
                <a:solidFill>
                  <a:srgbClr val="3333CC"/>
                </a:solidFill>
                <a:sym typeface="Symbol" panose="05050102010706020507" pitchFamily="18" charset="2"/>
              </a:rPr>
              <a:t>abb#</a:t>
            </a:r>
            <a:r>
              <a:rPr lang="zh-CN" altLang="en-US">
                <a:sym typeface="Symbol" panose="05050102010706020507" pitchFamily="18" charset="2"/>
              </a:rPr>
              <a:t>对应的语法树</a:t>
            </a:r>
          </a:p>
        </p:txBody>
      </p:sp>
      <p:pic>
        <p:nvPicPr>
          <p:cNvPr id="165892" name="Picture 67" descr="syntree1">
            <a:extLst>
              <a:ext uri="{FF2B5EF4-FFF2-40B4-BE49-F238E27FC236}">
                <a16:creationId xmlns:a16="http://schemas.microsoft.com/office/drawing/2014/main" id="{35F56E02-5F19-453E-9325-40ECC71BF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911350"/>
            <a:ext cx="3224213" cy="3424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8B2DB5FF-BB9F-4E9D-8391-C63F9FC9AE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语法树表示正规式（续）</a:t>
            </a:r>
          </a:p>
        </p:txBody>
      </p:sp>
      <p:grpSp>
        <p:nvGrpSpPr>
          <p:cNvPr id="166915" name="Group 64">
            <a:extLst>
              <a:ext uri="{FF2B5EF4-FFF2-40B4-BE49-F238E27FC236}">
                <a16:creationId xmlns:a16="http://schemas.microsoft.com/office/drawing/2014/main" id="{1BD7E1F0-9140-4968-8779-0EA81F069169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981200"/>
            <a:ext cx="8534400" cy="3657600"/>
            <a:chOff x="192" y="1440"/>
            <a:chExt cx="5376" cy="2304"/>
          </a:xfrm>
        </p:grpSpPr>
        <p:sp>
          <p:nvSpPr>
            <p:cNvPr id="166917" name="Text Box 55">
              <a:extLst>
                <a:ext uri="{FF2B5EF4-FFF2-40B4-BE49-F238E27FC236}">
                  <a16:creationId xmlns:a16="http://schemas.microsoft.com/office/drawing/2014/main" id="{1C7B40EB-E1BD-4336-AD11-076310A284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" y="2256"/>
              <a:ext cx="5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start</a:t>
              </a:r>
              <a:endParaRPr kumimoji="0" lang="en-US" altLang="zh-CN" sz="2400"/>
            </a:p>
          </p:txBody>
        </p:sp>
        <p:grpSp>
          <p:nvGrpSpPr>
            <p:cNvPr id="166918" name="Group 4">
              <a:extLst>
                <a:ext uri="{FF2B5EF4-FFF2-40B4-BE49-F238E27FC236}">
                  <a16:creationId xmlns:a16="http://schemas.microsoft.com/office/drawing/2014/main" id="{C4350810-D771-42BC-A537-A255359FA1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8" y="3360"/>
              <a:ext cx="384" cy="384"/>
              <a:chOff x="1488" y="2880"/>
              <a:chExt cx="384" cy="384"/>
            </a:xfrm>
          </p:grpSpPr>
          <p:sp>
            <p:nvSpPr>
              <p:cNvPr id="166971" name="Oval 5">
                <a:extLst>
                  <a:ext uri="{FF2B5EF4-FFF2-40B4-BE49-F238E27FC236}">
                    <a16:creationId xmlns:a16="http://schemas.microsoft.com/office/drawing/2014/main" id="{3C32939A-C1D9-49BE-88FA-78DC8F3C24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2880"/>
                <a:ext cx="384" cy="384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66972" name="Oval 6">
                <a:extLst>
                  <a:ext uri="{FF2B5EF4-FFF2-40B4-BE49-F238E27FC236}">
                    <a16:creationId xmlns:a16="http://schemas.microsoft.com/office/drawing/2014/main" id="{914CAF37-2C59-4D2D-9B37-D0EE4BF40B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928"/>
                <a:ext cx="288" cy="288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66919" name="Oval 7">
              <a:extLst>
                <a:ext uri="{FF2B5EF4-FFF2-40B4-BE49-F238E27FC236}">
                  <a16:creationId xmlns:a16="http://schemas.microsoft.com/office/drawing/2014/main" id="{1E05B3E8-0166-4CF8-89E5-976EC92EB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832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66920" name="Oval 8">
              <a:extLst>
                <a:ext uri="{FF2B5EF4-FFF2-40B4-BE49-F238E27FC236}">
                  <a16:creationId xmlns:a16="http://schemas.microsoft.com/office/drawing/2014/main" id="{D45C2746-45C8-42D1-B9E8-86A0FDBCCD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776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66921" name="Oval 9">
              <a:extLst>
                <a:ext uri="{FF2B5EF4-FFF2-40B4-BE49-F238E27FC236}">
                  <a16:creationId xmlns:a16="http://schemas.microsoft.com/office/drawing/2014/main" id="{5D581D53-4B18-417B-849D-BA7C5962F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304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66922" name="Oval 10">
              <a:extLst>
                <a:ext uri="{FF2B5EF4-FFF2-40B4-BE49-F238E27FC236}">
                  <a16:creationId xmlns:a16="http://schemas.microsoft.com/office/drawing/2014/main" id="{BA97BC2E-5128-42E7-9518-82D9840C0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304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66923" name="Oval 11">
              <a:extLst>
                <a:ext uri="{FF2B5EF4-FFF2-40B4-BE49-F238E27FC236}">
                  <a16:creationId xmlns:a16="http://schemas.microsoft.com/office/drawing/2014/main" id="{199B7B63-B0B4-4529-8204-DAA487815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2832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66924" name="Oval 12">
              <a:extLst>
                <a:ext uri="{FF2B5EF4-FFF2-40B4-BE49-F238E27FC236}">
                  <a16:creationId xmlns:a16="http://schemas.microsoft.com/office/drawing/2014/main" id="{0990788B-401A-4FA8-B0B2-1C7B16D619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304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66925" name="Oval 13">
              <a:extLst>
                <a:ext uri="{FF2B5EF4-FFF2-40B4-BE49-F238E27FC236}">
                  <a16:creationId xmlns:a16="http://schemas.microsoft.com/office/drawing/2014/main" id="{684DB369-161E-4F1E-B4D0-3E0550F4C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8" y="1776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66926" name="Oval 14">
              <a:extLst>
                <a:ext uri="{FF2B5EF4-FFF2-40B4-BE49-F238E27FC236}">
                  <a16:creationId xmlns:a16="http://schemas.microsoft.com/office/drawing/2014/main" id="{3FA65B26-5EBE-449A-A094-B1F015BBD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304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66927" name="Oval 15">
              <a:extLst>
                <a:ext uri="{FF2B5EF4-FFF2-40B4-BE49-F238E27FC236}">
                  <a16:creationId xmlns:a16="http://schemas.microsoft.com/office/drawing/2014/main" id="{3756B82C-6091-4A3A-8BFD-29348E9FF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304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66928" name="Oval 16">
              <a:extLst>
                <a:ext uri="{FF2B5EF4-FFF2-40B4-BE49-F238E27FC236}">
                  <a16:creationId xmlns:a16="http://schemas.microsoft.com/office/drawing/2014/main" id="{F3D7FA2F-C41E-4B89-A9B7-07E395CC23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304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66929" name="Line 17">
              <a:extLst>
                <a:ext uri="{FF2B5EF4-FFF2-40B4-BE49-F238E27FC236}">
                  <a16:creationId xmlns:a16="http://schemas.microsoft.com/office/drawing/2014/main" id="{8DA57C51-7B89-404B-918A-ECC0A3ED72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640"/>
              <a:ext cx="43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0" name="Line 18">
              <a:extLst>
                <a:ext uri="{FF2B5EF4-FFF2-40B4-BE49-F238E27FC236}">
                  <a16:creationId xmlns:a16="http://schemas.microsoft.com/office/drawing/2014/main" id="{42BEA761-CE4D-4CDC-9AE3-865B67CFA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302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1" name="Line 19">
              <a:extLst>
                <a:ext uri="{FF2B5EF4-FFF2-40B4-BE49-F238E27FC236}">
                  <a16:creationId xmlns:a16="http://schemas.microsoft.com/office/drawing/2014/main" id="{B473E310-1CAE-423F-8380-F9F180A21D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2640"/>
              <a:ext cx="19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2" name="Line 20">
              <a:extLst>
                <a:ext uri="{FF2B5EF4-FFF2-40B4-BE49-F238E27FC236}">
                  <a16:creationId xmlns:a16="http://schemas.microsoft.com/office/drawing/2014/main" id="{EB9BC07A-12CC-4A41-B04E-585FD78A33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" y="2496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3" name="Line 21">
              <a:extLst>
                <a:ext uri="{FF2B5EF4-FFF2-40B4-BE49-F238E27FC236}">
                  <a16:creationId xmlns:a16="http://schemas.microsoft.com/office/drawing/2014/main" id="{37295644-83E6-460A-A513-8DD92DFB1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496"/>
              <a:ext cx="3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4" name="Line 22">
              <a:extLst>
                <a:ext uri="{FF2B5EF4-FFF2-40B4-BE49-F238E27FC236}">
                  <a16:creationId xmlns:a16="http://schemas.microsoft.com/office/drawing/2014/main" id="{F735556D-398F-45FE-911D-4EEEFA31E5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2112"/>
              <a:ext cx="336" cy="24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5" name="Line 23">
              <a:extLst>
                <a:ext uri="{FF2B5EF4-FFF2-40B4-BE49-F238E27FC236}">
                  <a16:creationId xmlns:a16="http://schemas.microsoft.com/office/drawing/2014/main" id="{4B904BB7-C06C-447E-ACCD-116993FC75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968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6" name="Line 24">
              <a:extLst>
                <a:ext uri="{FF2B5EF4-FFF2-40B4-BE49-F238E27FC236}">
                  <a16:creationId xmlns:a16="http://schemas.microsoft.com/office/drawing/2014/main" id="{582358B9-4079-46AD-A125-D03833B35A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064"/>
              <a:ext cx="240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7" name="Line 25">
              <a:extLst>
                <a:ext uri="{FF2B5EF4-FFF2-40B4-BE49-F238E27FC236}">
                  <a16:creationId xmlns:a16="http://schemas.microsoft.com/office/drawing/2014/main" id="{EF29A9F0-74C2-453A-A143-BE5350A5C9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92" y="2496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8" name="Line 26">
              <a:extLst>
                <a:ext uri="{FF2B5EF4-FFF2-40B4-BE49-F238E27FC236}">
                  <a16:creationId xmlns:a16="http://schemas.microsoft.com/office/drawing/2014/main" id="{7A290E9D-B3F8-4E11-B794-5D762B49F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68" y="2496"/>
              <a:ext cx="19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39" name="Line 27">
              <a:extLst>
                <a:ext uri="{FF2B5EF4-FFF2-40B4-BE49-F238E27FC236}">
                  <a16:creationId xmlns:a16="http://schemas.microsoft.com/office/drawing/2014/main" id="{54467A1E-40B9-45F6-A6F5-6EB6CEBE18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" y="2496"/>
              <a:ext cx="14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40" name="Line 28">
              <a:extLst>
                <a:ext uri="{FF2B5EF4-FFF2-40B4-BE49-F238E27FC236}">
                  <a16:creationId xmlns:a16="http://schemas.microsoft.com/office/drawing/2014/main" id="{17736FE1-57E0-4B1C-B4FD-D224502774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0" y="2688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66941" name="AutoShape 29">
              <a:extLst>
                <a:ext uri="{FF2B5EF4-FFF2-40B4-BE49-F238E27FC236}">
                  <a16:creationId xmlns:a16="http://schemas.microsoft.com/office/drawing/2014/main" id="{4BBE6806-4209-4F94-A6FB-EB3C92B76320}"/>
                </a:ext>
              </a:extLst>
            </p:cNvPr>
            <p:cNvCxnSpPr>
              <a:cxnSpLocks noChangeShapeType="1"/>
              <a:stCxn id="166926" idx="4"/>
              <a:endCxn id="166927" idx="4"/>
            </p:cNvCxnSpPr>
            <p:nvPr/>
          </p:nvCxnSpPr>
          <p:spPr bwMode="auto">
            <a:xfrm rot="16200000" flipH="1">
              <a:off x="2543" y="1057"/>
              <a:ext cx="1" cy="3264"/>
            </a:xfrm>
            <a:prstGeom prst="curvedConnector3">
              <a:avLst>
                <a:gd name="adj1" fmla="val 79799968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6942" name="AutoShape 30">
              <a:extLst>
                <a:ext uri="{FF2B5EF4-FFF2-40B4-BE49-F238E27FC236}">
                  <a16:creationId xmlns:a16="http://schemas.microsoft.com/office/drawing/2014/main" id="{CC66E378-A66E-417E-A23C-332E28457DD4}"/>
                </a:ext>
              </a:extLst>
            </p:cNvPr>
            <p:cNvCxnSpPr>
              <a:cxnSpLocks noChangeShapeType="1"/>
              <a:stCxn id="166924" idx="0"/>
              <a:endCxn id="166928" idx="0"/>
            </p:cNvCxnSpPr>
            <p:nvPr/>
          </p:nvCxnSpPr>
          <p:spPr bwMode="auto">
            <a:xfrm rot="-5400000" flipH="1" flipV="1">
              <a:off x="2615" y="1321"/>
              <a:ext cx="1" cy="1968"/>
            </a:xfrm>
            <a:prstGeom prst="curvedConnector3">
              <a:avLst>
                <a:gd name="adj1" fmla="val -8330000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6943" name="Text Box 31">
              <a:extLst>
                <a:ext uri="{FF2B5EF4-FFF2-40B4-BE49-F238E27FC236}">
                  <a16:creationId xmlns:a16="http://schemas.microsoft.com/office/drawing/2014/main" id="{73C9A536-5F70-44B3-B5FF-E7CD63E44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240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A</a:t>
              </a:r>
            </a:p>
          </p:txBody>
        </p:sp>
        <p:sp>
          <p:nvSpPr>
            <p:cNvPr id="166944" name="Text Box 32">
              <a:extLst>
                <a:ext uri="{FF2B5EF4-FFF2-40B4-BE49-F238E27FC236}">
                  <a16:creationId xmlns:a16="http://schemas.microsoft.com/office/drawing/2014/main" id="{1CBFF694-7771-42F3-B0A9-6EF270C8E8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40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B</a:t>
              </a:r>
            </a:p>
          </p:txBody>
        </p:sp>
        <p:sp>
          <p:nvSpPr>
            <p:cNvPr id="166945" name="Text Box 33">
              <a:extLst>
                <a:ext uri="{FF2B5EF4-FFF2-40B4-BE49-F238E27FC236}">
                  <a16:creationId xmlns:a16="http://schemas.microsoft.com/office/drawing/2014/main" id="{2965C59E-4BA0-4522-8428-7FDAA62455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87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1</a:t>
              </a:r>
            </a:p>
          </p:txBody>
        </p:sp>
        <p:sp>
          <p:nvSpPr>
            <p:cNvPr id="166946" name="Text Box 34">
              <a:extLst>
                <a:ext uri="{FF2B5EF4-FFF2-40B4-BE49-F238E27FC236}">
                  <a16:creationId xmlns:a16="http://schemas.microsoft.com/office/drawing/2014/main" id="{D50B089D-4E28-4517-84C9-B9AB3627AA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87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C</a:t>
              </a:r>
            </a:p>
          </p:txBody>
        </p:sp>
        <p:sp>
          <p:nvSpPr>
            <p:cNvPr id="166947" name="Text Box 35">
              <a:extLst>
                <a:ext uri="{FF2B5EF4-FFF2-40B4-BE49-F238E27FC236}">
                  <a16:creationId xmlns:a16="http://schemas.microsoft.com/office/drawing/2014/main" id="{23006C1F-CC2D-4FF1-A56C-2EE76C7A7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92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D</a:t>
              </a:r>
            </a:p>
          </p:txBody>
        </p:sp>
        <p:sp>
          <p:nvSpPr>
            <p:cNvPr id="166948" name="Text Box 36">
              <a:extLst>
                <a:ext uri="{FF2B5EF4-FFF2-40B4-BE49-F238E27FC236}">
                  <a16:creationId xmlns:a16="http://schemas.microsoft.com/office/drawing/2014/main" id="{E8D961D6-6DC8-49B4-B26E-6385A0EF5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92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2</a:t>
              </a:r>
            </a:p>
          </p:txBody>
        </p:sp>
        <p:sp>
          <p:nvSpPr>
            <p:cNvPr id="166949" name="Text Box 37">
              <a:extLst>
                <a:ext uri="{FF2B5EF4-FFF2-40B4-BE49-F238E27FC236}">
                  <a16:creationId xmlns:a16="http://schemas.microsoft.com/office/drawing/2014/main" id="{7EF95EC8-F59F-4F7A-8E18-40007FC9C9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40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E</a:t>
              </a:r>
            </a:p>
          </p:txBody>
        </p:sp>
        <p:sp>
          <p:nvSpPr>
            <p:cNvPr id="166950" name="Text Box 38">
              <a:extLst>
                <a:ext uri="{FF2B5EF4-FFF2-40B4-BE49-F238E27FC236}">
                  <a16:creationId xmlns:a16="http://schemas.microsoft.com/office/drawing/2014/main" id="{FBAF64AD-262E-4ED2-B2EB-297CF53B0B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40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3</a:t>
              </a:r>
            </a:p>
          </p:txBody>
        </p:sp>
        <p:sp>
          <p:nvSpPr>
            <p:cNvPr id="166951" name="Text Box 39">
              <a:extLst>
                <a:ext uri="{FF2B5EF4-FFF2-40B4-BE49-F238E27FC236}">
                  <a16:creationId xmlns:a16="http://schemas.microsoft.com/office/drawing/2014/main" id="{78F0F291-7F3B-4011-B81A-464FFE2012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6" y="240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4</a:t>
              </a:r>
            </a:p>
          </p:txBody>
        </p:sp>
        <p:sp>
          <p:nvSpPr>
            <p:cNvPr id="166952" name="Text Box 40">
              <a:extLst>
                <a:ext uri="{FF2B5EF4-FFF2-40B4-BE49-F238E27FC236}">
                  <a16:creationId xmlns:a16="http://schemas.microsoft.com/office/drawing/2014/main" id="{B9775ABB-1E1E-4FD8-A1C6-CC2305AFEA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2400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5</a:t>
              </a:r>
            </a:p>
          </p:txBody>
        </p:sp>
        <p:sp>
          <p:nvSpPr>
            <p:cNvPr id="166953" name="Text Box 41">
              <a:extLst>
                <a:ext uri="{FF2B5EF4-FFF2-40B4-BE49-F238E27FC236}">
                  <a16:creationId xmlns:a16="http://schemas.microsoft.com/office/drawing/2014/main" id="{F4E5F7B5-7C45-4129-8F56-5025BD37E5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34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/>
                <a:t>F</a:t>
              </a:r>
            </a:p>
          </p:txBody>
        </p:sp>
        <p:sp>
          <p:nvSpPr>
            <p:cNvPr id="166954" name="Text Box 42">
              <a:extLst>
                <a:ext uri="{FF2B5EF4-FFF2-40B4-BE49-F238E27FC236}">
                  <a16:creationId xmlns:a16="http://schemas.microsoft.com/office/drawing/2014/main" id="{4718AB9E-4873-4ECB-9D2B-719EFFDB21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2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66955" name="Text Box 43">
              <a:extLst>
                <a:ext uri="{FF2B5EF4-FFF2-40B4-BE49-F238E27FC236}">
                  <a16:creationId xmlns:a16="http://schemas.microsoft.com/office/drawing/2014/main" id="{1968CF1F-7448-41C3-A030-C50C93D006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0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66956" name="Text Box 44">
              <a:extLst>
                <a:ext uri="{FF2B5EF4-FFF2-40B4-BE49-F238E27FC236}">
                  <a16:creationId xmlns:a16="http://schemas.microsoft.com/office/drawing/2014/main" id="{BC9535C4-7DFB-4DEF-853E-436DB5157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73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66957" name="Text Box 45">
              <a:extLst>
                <a:ext uri="{FF2B5EF4-FFF2-40B4-BE49-F238E27FC236}">
                  <a16:creationId xmlns:a16="http://schemas.microsoft.com/office/drawing/2014/main" id="{6227947B-B5FF-4F13-968C-AF055629BF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21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66958" name="Text Box 46">
              <a:extLst>
                <a:ext uri="{FF2B5EF4-FFF2-40B4-BE49-F238E27FC236}">
                  <a16:creationId xmlns:a16="http://schemas.microsoft.com/office/drawing/2014/main" id="{84B79799-1224-4C7D-81BD-2EFC45AC19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14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66959" name="Text Box 47">
              <a:extLst>
                <a:ext uri="{FF2B5EF4-FFF2-40B4-BE49-F238E27FC236}">
                  <a16:creationId xmlns:a16="http://schemas.microsoft.com/office/drawing/2014/main" id="{F8389EF2-7C5C-4B77-B8EF-881F70A517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19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66960" name="Text Box 48">
              <a:extLst>
                <a:ext uri="{FF2B5EF4-FFF2-40B4-BE49-F238E27FC236}">
                  <a16:creationId xmlns:a16="http://schemas.microsoft.com/office/drawing/2014/main" id="{CFB5290B-F2B5-420B-8D04-D390F0BE09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73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66961" name="Text Box 49">
              <a:extLst>
                <a:ext uri="{FF2B5EF4-FFF2-40B4-BE49-F238E27FC236}">
                  <a16:creationId xmlns:a16="http://schemas.microsoft.com/office/drawing/2014/main" id="{39D7F25D-4A9B-4C77-AC0A-54A806259E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16" y="22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 b="0">
                  <a:latin typeface="Symbol" panose="05050102010706020507" pitchFamily="18" charset="2"/>
                  <a:sym typeface="Symbol" panose="05050102010706020507" pitchFamily="18" charset="2"/>
                </a:rPr>
                <a:t>e</a:t>
              </a:r>
            </a:p>
          </p:txBody>
        </p:sp>
        <p:sp>
          <p:nvSpPr>
            <p:cNvPr id="166962" name="Text Box 50">
              <a:extLst>
                <a:ext uri="{FF2B5EF4-FFF2-40B4-BE49-F238E27FC236}">
                  <a16:creationId xmlns:a16="http://schemas.microsoft.com/office/drawing/2014/main" id="{D4CAA96F-8374-44DD-B5AC-F204D48A4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72" y="22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a</a:t>
              </a:r>
              <a:endParaRPr kumimoji="0" lang="en-US" altLang="zh-CN" sz="2400"/>
            </a:p>
          </p:txBody>
        </p:sp>
        <p:sp>
          <p:nvSpPr>
            <p:cNvPr id="166963" name="Text Box 51">
              <a:extLst>
                <a:ext uri="{FF2B5EF4-FFF2-40B4-BE49-F238E27FC236}">
                  <a16:creationId xmlns:a16="http://schemas.microsoft.com/office/drawing/2014/main" id="{29473D7D-F067-46FA-B809-D683A353A7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72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a</a:t>
              </a:r>
              <a:endParaRPr kumimoji="0" lang="en-US" altLang="zh-CN" sz="2400"/>
            </a:p>
          </p:txBody>
        </p:sp>
        <p:sp>
          <p:nvSpPr>
            <p:cNvPr id="166964" name="Text Box 52">
              <a:extLst>
                <a:ext uri="{FF2B5EF4-FFF2-40B4-BE49-F238E27FC236}">
                  <a16:creationId xmlns:a16="http://schemas.microsoft.com/office/drawing/2014/main" id="{1E101F6A-3B37-412D-89FA-325C41640B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2784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66965" name="Text Box 53">
              <a:extLst>
                <a:ext uri="{FF2B5EF4-FFF2-40B4-BE49-F238E27FC236}">
                  <a16:creationId xmlns:a16="http://schemas.microsoft.com/office/drawing/2014/main" id="{69396FF7-A035-42C0-8FDA-968F24587A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2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66966" name="Text Box 54">
              <a:extLst>
                <a:ext uri="{FF2B5EF4-FFF2-40B4-BE49-F238E27FC236}">
                  <a16:creationId xmlns:a16="http://schemas.microsoft.com/office/drawing/2014/main" id="{E7E738FC-204A-4B24-B9AE-A42B9AAF75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2640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b</a:t>
              </a:r>
              <a:endParaRPr kumimoji="0" lang="en-US" altLang="zh-CN" sz="2400"/>
            </a:p>
          </p:txBody>
        </p:sp>
        <p:sp>
          <p:nvSpPr>
            <p:cNvPr id="166967" name="Oval 56">
              <a:extLst>
                <a:ext uri="{FF2B5EF4-FFF2-40B4-BE49-F238E27FC236}">
                  <a16:creationId xmlns:a16="http://schemas.microsoft.com/office/drawing/2014/main" id="{336FB68D-2197-49C5-B843-CB20ADB1C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8" y="2832"/>
              <a:ext cx="384" cy="384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66968" name="Line 57">
              <a:extLst>
                <a:ext uri="{FF2B5EF4-FFF2-40B4-BE49-F238E27FC236}">
                  <a16:creationId xmlns:a16="http://schemas.microsoft.com/office/drawing/2014/main" id="{1770071B-8AF4-41C6-A8EE-1D26CF8167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0" y="3216"/>
              <a:ext cx="0" cy="1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969" name="Text Box 58">
              <a:extLst>
                <a:ext uri="{FF2B5EF4-FFF2-40B4-BE49-F238E27FC236}">
                  <a16:creationId xmlns:a16="http://schemas.microsoft.com/office/drawing/2014/main" id="{04D34741-B9BC-497C-BD2D-0579A50D9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84" y="292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olidFill>
                    <a:srgbClr val="FF3300"/>
                  </a:solidFill>
                </a:rPr>
                <a:t>6</a:t>
              </a:r>
            </a:p>
          </p:txBody>
        </p:sp>
        <p:sp>
          <p:nvSpPr>
            <p:cNvPr id="166970" name="Text Box 59">
              <a:extLst>
                <a:ext uri="{FF2B5EF4-FFF2-40B4-BE49-F238E27FC236}">
                  <a16:creationId xmlns:a16="http://schemas.microsoft.com/office/drawing/2014/main" id="{09019515-5708-4013-9C4D-2C3419708C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31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2400">
                  <a:sym typeface="Symbol" panose="05050102010706020507" pitchFamily="18" charset="2"/>
                </a:rPr>
                <a:t>#</a:t>
              </a:r>
              <a:endParaRPr kumimoji="0" lang="en-US" altLang="zh-CN" sz="2400"/>
            </a:p>
          </p:txBody>
        </p:sp>
      </p:grpSp>
      <p:sp>
        <p:nvSpPr>
          <p:cNvPr id="166916" name="Rectangle 62">
            <a:extLst>
              <a:ext uri="{FF2B5EF4-FFF2-40B4-BE49-F238E27FC236}">
                <a16:creationId xmlns:a16="http://schemas.microsoft.com/office/drawing/2014/main" id="{C51F6D4B-44DB-4D56-B1D4-E613D13766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(a|b)</a:t>
            </a:r>
            <a:r>
              <a:rPr lang="en-US" altLang="zh-CN" baseline="30000">
                <a:sym typeface="Symbol" panose="05050102010706020507" pitchFamily="18" charset="2"/>
              </a:rPr>
              <a:t>*</a:t>
            </a:r>
            <a:r>
              <a:rPr lang="en-US" altLang="zh-CN">
                <a:sym typeface="Symbol" panose="05050102010706020507" pitchFamily="18" charset="2"/>
              </a:rPr>
              <a:t>abb#</a:t>
            </a:r>
            <a:r>
              <a:rPr lang="zh-CN" altLang="en-US">
                <a:sym typeface="Symbol" panose="05050102010706020507" pitchFamily="18" charset="2"/>
              </a:rPr>
              <a:t>对应的</a:t>
            </a:r>
            <a:r>
              <a:rPr lang="en-US" altLang="zh-CN">
                <a:sym typeface="Symbol" panose="05050102010706020507" pitchFamily="18" charset="2"/>
              </a:rPr>
              <a:t>NFA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444B391E-0B0E-4956-979B-D6A944C97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3.9.2  </a:t>
            </a:r>
            <a:r>
              <a:rPr lang="zh-CN" altLang="en-US"/>
              <a:t>正规式直接转换为</a:t>
            </a:r>
            <a:r>
              <a:rPr lang="en-US" altLang="zh-CN"/>
              <a:t>DFA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66AAF951-A960-4CAE-9458-6BC5B5CE88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扩充正规式</a:t>
            </a:r>
            <a:r>
              <a:rPr lang="en-US" altLang="zh-CN">
                <a:sym typeface="Symbol" panose="05050102010706020507" pitchFamily="18" charset="2"/>
              </a:rPr>
              <a:t>(r)#</a:t>
            </a:r>
            <a:r>
              <a:rPr lang="zh-CN" altLang="en-US">
                <a:sym typeface="Symbol" panose="05050102010706020507" pitchFamily="18" charset="2"/>
              </a:rPr>
              <a:t>，构造语法树</a:t>
            </a:r>
            <a:r>
              <a:rPr lang="en-US" altLang="zh-CN">
                <a:sym typeface="Symbol" panose="05050102010706020507" pitchFamily="18" charset="2"/>
              </a:rPr>
              <a:t>T</a:t>
            </a:r>
          </a:p>
          <a:p>
            <a:pPr eaLnBrk="1" hangingPunct="1"/>
            <a:r>
              <a:rPr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nullable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firstpos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lastpos</a:t>
            </a:r>
            <a:r>
              <a:rPr lang="en-US" altLang="zh-CN">
                <a:sym typeface="Symbol" panose="05050102010706020507" pitchFamily="18" charset="2"/>
              </a:rPr>
              <a:t>, </a:t>
            </a:r>
            <a:r>
              <a:rPr lang="en-US" altLang="zh-CN">
                <a:solidFill>
                  <a:srgbClr val="FF3300"/>
                </a:solidFill>
                <a:sym typeface="Symbol" panose="05050102010706020507" pitchFamily="18" charset="2"/>
              </a:rPr>
              <a:t>followpos</a:t>
            </a:r>
          </a:p>
          <a:p>
            <a:pPr lvl="1" eaLnBrk="1" hangingPunct="1"/>
            <a:r>
              <a:rPr lang="zh-CN" altLang="en-US">
                <a:sym typeface="Symbol" panose="05050102010706020507" pitchFamily="18" charset="2"/>
              </a:rPr>
              <a:t>函数</a:t>
            </a:r>
            <a:r>
              <a:rPr lang="en-US" altLang="zh-CN">
                <a:sym typeface="Symbol" panose="05050102010706020507" pitchFamily="18" charset="2"/>
              </a:rPr>
              <a:t>nullable, firstpos, lastpos</a:t>
            </a:r>
            <a:r>
              <a:rPr lang="zh-CN" altLang="en-US">
                <a:sym typeface="Symbol" panose="05050102010706020507" pitchFamily="18" charset="2"/>
              </a:rPr>
              <a:t>定义在</a:t>
            </a:r>
            <a:r>
              <a:rPr lang="en-US" altLang="zh-CN">
                <a:sym typeface="Symbol" panose="05050102010706020507" pitchFamily="18" charset="2"/>
              </a:rPr>
              <a:t>T</a:t>
            </a:r>
            <a:r>
              <a:rPr lang="zh-CN" altLang="en-US">
                <a:sym typeface="Symbol" panose="05050102010706020507" pitchFamily="18" charset="2"/>
              </a:rPr>
              <a:t>的结点上</a:t>
            </a:r>
          </a:p>
          <a:p>
            <a:pPr lvl="1" eaLnBrk="1" hangingPunct="1"/>
            <a:r>
              <a:rPr lang="en-US" altLang="zh-CN">
                <a:sym typeface="Symbol" panose="05050102010706020507" pitchFamily="18" charset="2"/>
              </a:rPr>
              <a:t>followpos</a:t>
            </a:r>
            <a:r>
              <a:rPr lang="zh-CN" altLang="en-US">
                <a:sym typeface="Symbol" panose="05050102010706020507" pitchFamily="18" charset="2"/>
              </a:rPr>
              <a:t>函数定义在</a:t>
            </a:r>
            <a:r>
              <a:rPr lang="en-US" altLang="zh-CN">
                <a:sym typeface="Symbol" panose="05050102010706020507" pitchFamily="18" charset="2"/>
              </a:rPr>
              <a:t>position</a:t>
            </a:r>
            <a:r>
              <a:rPr lang="zh-CN" altLang="en-US">
                <a:sym typeface="Symbol" panose="05050102010706020507" pitchFamily="18" charset="2"/>
              </a:rPr>
              <a:t>集上，其计算依赖上面三个函数 </a:t>
            </a:r>
          </a:p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最后，利用</a:t>
            </a:r>
            <a:r>
              <a:rPr lang="en-US" altLang="zh-CN">
                <a:sym typeface="Symbol" panose="05050102010706020507" pitchFamily="18" charset="2"/>
              </a:rPr>
              <a:t>followpos</a:t>
            </a:r>
            <a:r>
              <a:rPr lang="zh-CN" altLang="en-US">
                <a:sym typeface="Symbol" panose="05050102010706020507" pitchFamily="18" charset="2"/>
              </a:rPr>
              <a:t>构造</a:t>
            </a:r>
            <a:r>
              <a:rPr lang="en-US" altLang="zh-CN">
                <a:sym typeface="Symbol" panose="05050102010706020507" pitchFamily="18" charset="2"/>
              </a:rPr>
              <a:t>DFA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290FD956-2C6E-4AE3-82A2-D4B1EA4495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followpos</a:t>
            </a:r>
          </a:p>
        </p:txBody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810C5FE0-1C51-4A56-8CFF-FC2A558A99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0" lang="zh-CN" altLang="en-US" sz="2800">
                <a:sym typeface="Symbol" panose="05050102010706020507" pitchFamily="18" charset="2"/>
              </a:rPr>
              <a:t>符号只在标有该符号的</a:t>
            </a:r>
            <a:r>
              <a:rPr kumimoji="0" lang="en-US" altLang="zh-CN" sz="2800">
                <a:sym typeface="Symbol" panose="05050102010706020507" pitchFamily="18" charset="2"/>
              </a:rPr>
              <a:t>position</a:t>
            </a:r>
            <a:r>
              <a:rPr kumimoji="0" lang="zh-CN" altLang="en-US" sz="2800">
                <a:sym typeface="Symbol" panose="05050102010706020507" pitchFamily="18" charset="2"/>
              </a:rPr>
              <a:t>处匹配</a:t>
            </a:r>
          </a:p>
          <a:p>
            <a:pPr eaLnBrk="1" hangingPunct="1"/>
            <a:r>
              <a:rPr kumimoji="0" lang="en-US" altLang="zh-CN" sz="2800">
                <a:sym typeface="Wingdings" panose="05000000000000000000" pitchFamily="2" charset="2"/>
              </a:rPr>
              <a:t>position</a:t>
            </a:r>
            <a:r>
              <a:rPr kumimoji="0" lang="zh-CN" altLang="en-US" sz="2800">
                <a:sym typeface="Wingdings" panose="05000000000000000000" pitchFamily="2" charset="2"/>
              </a:rPr>
              <a:t>的相邻关系，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800">
                <a:sym typeface="Symbol" panose="05050102010706020507" pitchFamily="18" charset="2"/>
              </a:rPr>
              <a:t>-closure(</a:t>
            </a:r>
            <a:r>
              <a:rPr kumimoji="0" lang="en-US" altLang="zh-CN" sz="28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800">
                <a:sym typeface="Symbol" panose="05050102010706020507" pitchFamily="18" charset="2"/>
              </a:rPr>
              <a:t>(</a:t>
            </a:r>
            <a:r>
              <a:rPr kumimoji="0" lang="en-US" altLang="zh-CN" sz="2800">
                <a:latin typeface="Tahoma" panose="020B0604030504040204" pitchFamily="34" charset="0"/>
                <a:sym typeface="Symbol" panose="05050102010706020507" pitchFamily="18" charset="2"/>
              </a:rPr>
              <a:t>…</a:t>
            </a:r>
            <a:r>
              <a:rPr kumimoji="0" lang="en-US" altLang="zh-CN" sz="2800">
                <a:sym typeface="Symbol" panose="05050102010706020507" pitchFamily="18" charset="2"/>
              </a:rPr>
              <a:t>))</a:t>
            </a:r>
            <a:endParaRPr kumimoji="0" lang="en-US" altLang="zh-CN" sz="2800">
              <a:sym typeface="Wingdings" panose="05000000000000000000" pitchFamily="2" charset="2"/>
            </a:endParaRPr>
          </a:p>
          <a:p>
            <a:pPr eaLnBrk="1" hangingPunct="1"/>
            <a:r>
              <a:rPr kumimoji="0" lang="en-US" altLang="zh-CN" sz="2800">
                <a:sym typeface="Wingdings" panose="05000000000000000000" pitchFamily="2" charset="2"/>
              </a:rPr>
              <a:t>followpos</a:t>
            </a:r>
            <a:r>
              <a:rPr kumimoji="0" lang="en-US" altLang="zh-CN" sz="2800">
                <a:latin typeface="Tahoma" panose="020B0604030504040204" pitchFamily="34" charset="0"/>
                <a:sym typeface="Wingdings" panose="05000000000000000000" pitchFamily="2" charset="2"/>
              </a:rPr>
              <a:t>——</a:t>
            </a:r>
            <a:r>
              <a:rPr kumimoji="0" lang="zh-CN" altLang="en-US" sz="2800">
                <a:sym typeface="Wingdings" panose="05000000000000000000" pitchFamily="2" charset="2"/>
              </a:rPr>
              <a:t>表示位置间的相邻关系</a:t>
            </a:r>
          </a:p>
          <a:p>
            <a:pPr lvl="1" eaLnBrk="1" hangingPunct="1"/>
            <a:r>
              <a:rPr kumimoji="0" lang="en-US" altLang="zh-CN" sz="2400">
                <a:sym typeface="Symbol" panose="05050102010706020507" pitchFamily="18" charset="2"/>
              </a:rPr>
              <a:t>i</a:t>
            </a:r>
            <a:r>
              <a:rPr kumimoji="0" lang="zh-CN" altLang="en-US" sz="2400">
                <a:sym typeface="Symbol" panose="05050102010706020507" pitchFamily="18" charset="2"/>
              </a:rPr>
              <a:t>：一个</a:t>
            </a:r>
            <a:r>
              <a:rPr kumimoji="0" lang="en-US" altLang="zh-CN" sz="2400">
                <a:sym typeface="Symbol" panose="05050102010706020507" pitchFamily="18" charset="2"/>
              </a:rPr>
              <a:t>position</a:t>
            </a:r>
          </a:p>
          <a:p>
            <a:pPr lvl="1" eaLnBrk="1" hangingPunct="1"/>
            <a:r>
              <a:rPr kumimoji="0" lang="en-US" altLang="zh-CN" sz="2400">
                <a:sym typeface="Symbol" panose="05050102010706020507" pitchFamily="18" charset="2"/>
              </a:rPr>
              <a:t>followpos(i)</a:t>
            </a:r>
            <a:r>
              <a:rPr kumimoji="0" lang="zh-CN" altLang="en-US" sz="2400">
                <a:sym typeface="Symbol" panose="05050102010706020507" pitchFamily="18" charset="2"/>
              </a:rPr>
              <a:t>：一个</a:t>
            </a:r>
            <a:r>
              <a:rPr kumimoji="0" lang="en-US" altLang="zh-CN" sz="2400">
                <a:sym typeface="Symbol" panose="05050102010706020507" pitchFamily="18" charset="2"/>
              </a:rPr>
              <a:t>position</a:t>
            </a:r>
            <a:r>
              <a:rPr kumimoji="0" lang="zh-CN" altLang="en-US" sz="2400">
                <a:sym typeface="Symbol" panose="05050102010706020507" pitchFamily="18" charset="2"/>
              </a:rPr>
              <a:t>集合，其中的每个</a:t>
            </a:r>
            <a:r>
              <a:rPr kumimoji="0" lang="en-US" altLang="zh-CN" sz="2400">
                <a:sym typeface="Symbol" panose="05050102010706020507" pitchFamily="18" charset="2"/>
              </a:rPr>
              <a:t>position  j</a:t>
            </a:r>
            <a:r>
              <a:rPr kumimoji="0" lang="zh-CN" altLang="en-US" sz="2400">
                <a:sym typeface="Symbol" panose="05050102010706020507" pitchFamily="18" charset="2"/>
              </a:rPr>
              <a:t>满足：</a:t>
            </a:r>
          </a:p>
          <a:p>
            <a:pPr lvl="2" eaLnBrk="1" hangingPunct="1"/>
            <a:r>
              <a:rPr kumimoji="0" lang="zh-CN" altLang="en-US" sz="2000">
                <a:sym typeface="Symbol" panose="05050102010706020507" pitchFamily="18" charset="2"/>
              </a:rPr>
              <a:t>存在一个输入串</a:t>
            </a:r>
            <a:r>
              <a:rPr kumimoji="0" lang="en-US" altLang="zh-CN" sz="2000">
                <a:latin typeface="Tahoma" panose="020B0604030504040204" pitchFamily="34" charset="0"/>
                <a:sym typeface="Symbol" panose="05050102010706020507" pitchFamily="18" charset="2"/>
              </a:rPr>
              <a:t>…</a:t>
            </a:r>
            <a:r>
              <a:rPr kumimoji="0" lang="en-US" altLang="zh-CN" sz="2000">
                <a:sym typeface="Symbol" panose="05050102010706020507" pitchFamily="18" charset="2"/>
              </a:rPr>
              <a:t>cd</a:t>
            </a:r>
            <a:r>
              <a:rPr kumimoji="0" lang="en-US" altLang="zh-CN" sz="2000">
                <a:latin typeface="Tahoma" panose="020B0604030504040204" pitchFamily="34" charset="0"/>
                <a:sym typeface="Symbol" panose="05050102010706020507" pitchFamily="18" charset="2"/>
              </a:rPr>
              <a:t>…</a:t>
            </a:r>
            <a:endParaRPr kumimoji="0" lang="en-US" altLang="zh-CN" sz="2000">
              <a:sym typeface="Symbol" panose="05050102010706020507" pitchFamily="18" charset="2"/>
            </a:endParaRPr>
          </a:p>
          <a:p>
            <a:pPr lvl="2" eaLnBrk="1" hangingPunct="1"/>
            <a:r>
              <a:rPr kumimoji="0" lang="en-US" altLang="zh-CN" sz="2000">
                <a:sym typeface="Symbol" panose="05050102010706020507" pitchFamily="18" charset="2"/>
              </a:rPr>
              <a:t>c</a:t>
            </a:r>
            <a:r>
              <a:rPr kumimoji="0" lang="zh-CN" altLang="en-US" sz="2000">
                <a:sym typeface="Symbol" panose="05050102010706020507" pitchFamily="18" charset="2"/>
              </a:rPr>
              <a:t>在</a:t>
            </a:r>
            <a:r>
              <a:rPr kumimoji="0" lang="en-US" altLang="zh-CN" sz="2000">
                <a:sym typeface="Symbol" panose="05050102010706020507" pitchFamily="18" charset="2"/>
              </a:rPr>
              <a:t>i</a:t>
            </a:r>
            <a:r>
              <a:rPr kumimoji="0" lang="zh-CN" altLang="en-US" sz="2000">
                <a:sym typeface="Symbol" panose="05050102010706020507" pitchFamily="18" charset="2"/>
              </a:rPr>
              <a:t>处匹配，</a:t>
            </a:r>
            <a:r>
              <a:rPr kumimoji="0" lang="en-US" altLang="zh-CN" sz="2000">
                <a:sym typeface="Symbol" panose="05050102010706020507" pitchFamily="18" charset="2"/>
              </a:rPr>
              <a:t>d</a:t>
            </a:r>
            <a:r>
              <a:rPr kumimoji="0" lang="zh-CN" altLang="en-US" sz="2000">
                <a:sym typeface="Symbol" panose="05050102010706020507" pitchFamily="18" charset="2"/>
              </a:rPr>
              <a:t>在</a:t>
            </a:r>
            <a:r>
              <a:rPr kumimoji="0" lang="en-US" altLang="zh-CN" sz="2000">
                <a:sym typeface="Symbol" panose="05050102010706020507" pitchFamily="18" charset="2"/>
              </a:rPr>
              <a:t>j</a:t>
            </a:r>
            <a:r>
              <a:rPr kumimoji="0" lang="zh-CN" altLang="en-US" sz="2000">
                <a:sym typeface="Symbol" panose="05050102010706020507" pitchFamily="18" charset="2"/>
              </a:rPr>
              <a:t>处匹配（</a:t>
            </a:r>
            <a:r>
              <a:rPr kumimoji="0" lang="en-US" altLang="zh-CN" sz="2000">
                <a:sym typeface="Symbol" panose="05050102010706020507" pitchFamily="18" charset="2"/>
              </a:rPr>
              <a:t>i</a:t>
            </a:r>
            <a:r>
              <a:rPr kumimoji="0" lang="zh-CN" altLang="en-US" sz="2000">
                <a:sym typeface="Symbol" panose="05050102010706020507" pitchFamily="18" charset="2"/>
              </a:rPr>
              <a:t>，</a:t>
            </a:r>
            <a:r>
              <a:rPr kumimoji="0" lang="en-US" altLang="zh-CN" sz="2000">
                <a:sym typeface="Symbol" panose="05050102010706020507" pitchFamily="18" charset="2"/>
              </a:rPr>
              <a:t>j</a:t>
            </a:r>
            <a:r>
              <a:rPr kumimoji="0" lang="zh-CN" altLang="en-US" sz="2000">
                <a:sym typeface="Symbol" panose="05050102010706020507" pitchFamily="18" charset="2"/>
              </a:rPr>
              <a:t>相邻）</a:t>
            </a:r>
          </a:p>
          <a:p>
            <a:pPr lvl="2" eaLnBrk="1" hangingPunct="1"/>
            <a:r>
              <a:rPr kumimoji="0" lang="en-US" altLang="zh-CN" sz="2000">
                <a:sym typeface="Symbol" panose="05050102010706020507" pitchFamily="18" charset="2"/>
              </a:rPr>
              <a:t>j</a:t>
            </a:r>
            <a:r>
              <a:rPr kumimoji="0" lang="zh-CN" altLang="en-US" sz="2000">
                <a:sym typeface="Symbol" panose="05050102010706020507" pitchFamily="18" charset="2"/>
              </a:rPr>
              <a:t>跟随（</a:t>
            </a:r>
            <a:r>
              <a:rPr kumimoji="0" lang="en-US" altLang="zh-CN" sz="2000">
                <a:sym typeface="Symbol" panose="05050102010706020507" pitchFamily="18" charset="2"/>
              </a:rPr>
              <a:t>follow</a:t>
            </a:r>
            <a:r>
              <a:rPr kumimoji="0" lang="zh-CN" altLang="en-US" sz="2000">
                <a:sym typeface="Symbol" panose="05050102010706020507" pitchFamily="18" charset="2"/>
              </a:rPr>
              <a:t>）</a:t>
            </a:r>
            <a:r>
              <a:rPr kumimoji="0" lang="en-US" altLang="zh-CN" sz="2000">
                <a:sym typeface="Symbol" panose="05050102010706020507" pitchFamily="18" charset="2"/>
              </a:rPr>
              <a:t>i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6C49FF19-C279-403A-9FAD-5E93326ED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3.21</a:t>
            </a:r>
          </a:p>
        </p:txBody>
      </p:sp>
      <p:pic>
        <p:nvPicPr>
          <p:cNvPr id="169987" name="Picture 4" descr="syntree1">
            <a:extLst>
              <a:ext uri="{FF2B5EF4-FFF2-40B4-BE49-F238E27FC236}">
                <a16:creationId xmlns:a16="http://schemas.microsoft.com/office/drawing/2014/main" id="{8D00CB09-548F-42A0-85C0-3A8637AA3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60575"/>
            <a:ext cx="3222625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9988" name="Rectangle 5">
            <a:extLst>
              <a:ext uri="{FF2B5EF4-FFF2-40B4-BE49-F238E27FC236}">
                <a16:creationId xmlns:a16="http://schemas.microsoft.com/office/drawing/2014/main" id="{90221112-BBC3-452D-BE5A-FAEE2FD1E8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762000"/>
          </a:xfrm>
          <a:noFill/>
        </p:spPr>
        <p:txBody>
          <a:bodyPr/>
          <a:lstStyle/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(a|b)</a:t>
            </a:r>
            <a:r>
              <a:rPr lang="en-US" altLang="zh-CN" baseline="30000">
                <a:sym typeface="Symbol" panose="05050102010706020507" pitchFamily="18" charset="2"/>
              </a:rPr>
              <a:t>*</a:t>
            </a:r>
            <a:r>
              <a:rPr lang="en-US" altLang="zh-CN">
                <a:sym typeface="Symbol" panose="05050102010706020507" pitchFamily="18" charset="2"/>
              </a:rPr>
              <a:t>abb#</a:t>
            </a:r>
            <a:r>
              <a:rPr lang="zh-CN" altLang="en-US">
                <a:sym typeface="Symbol" panose="05050102010706020507" pitchFamily="18" charset="2"/>
              </a:rPr>
              <a:t>：</a:t>
            </a:r>
            <a:r>
              <a:rPr lang="en-US" altLang="zh-CN">
                <a:sym typeface="Symbol" panose="05050102010706020507" pitchFamily="18" charset="2"/>
              </a:rPr>
              <a:t>followpos(1)={1, 2, 3}</a:t>
            </a:r>
          </a:p>
        </p:txBody>
      </p:sp>
      <p:sp>
        <p:nvSpPr>
          <p:cNvPr id="169989" name="Oval 28">
            <a:extLst>
              <a:ext uri="{FF2B5EF4-FFF2-40B4-BE49-F238E27FC236}">
                <a16:creationId xmlns:a16="http://schemas.microsoft.com/office/drawing/2014/main" id="{7D4A148E-5429-499A-A62A-F24D3F8F7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194175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69990" name="Oval 29">
            <a:extLst>
              <a:ext uri="{FF2B5EF4-FFF2-40B4-BE49-F238E27FC236}">
                <a16:creationId xmlns:a16="http://schemas.microsoft.com/office/drawing/2014/main" id="{262C9D05-2694-40E0-BBD8-8668C294A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00" y="2517775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69991" name="Oval 30">
            <a:extLst>
              <a:ext uri="{FF2B5EF4-FFF2-40B4-BE49-F238E27FC236}">
                <a16:creationId xmlns:a16="http://schemas.microsoft.com/office/drawing/2014/main" id="{F0117844-BD2C-4BCF-A188-46D322416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4194175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69992" name="Oval 31">
            <a:extLst>
              <a:ext uri="{FF2B5EF4-FFF2-40B4-BE49-F238E27FC236}">
                <a16:creationId xmlns:a16="http://schemas.microsoft.com/office/drawing/2014/main" id="{82D26C4F-08AE-4BB8-8E90-A799AC8F1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3355975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69993" name="Oval 32">
            <a:extLst>
              <a:ext uri="{FF2B5EF4-FFF2-40B4-BE49-F238E27FC236}">
                <a16:creationId xmlns:a16="http://schemas.microsoft.com/office/drawing/2014/main" id="{6029D8B1-4A32-48F3-974D-9A44CBCE3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517775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69994" name="Oval 33">
            <a:extLst>
              <a:ext uri="{FF2B5EF4-FFF2-40B4-BE49-F238E27FC236}">
                <a16:creationId xmlns:a16="http://schemas.microsoft.com/office/drawing/2014/main" id="{847D3BA2-175E-4ABC-8F6F-4D9223A67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355975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69995" name="Oval 34">
            <a:extLst>
              <a:ext uri="{FF2B5EF4-FFF2-40B4-BE49-F238E27FC236}">
                <a16:creationId xmlns:a16="http://schemas.microsoft.com/office/drawing/2014/main" id="{B1E0A480-A896-47D7-BB8B-B95845892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355975"/>
            <a:ext cx="609600" cy="6096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69996" name="Line 35">
            <a:extLst>
              <a:ext uri="{FF2B5EF4-FFF2-40B4-BE49-F238E27FC236}">
                <a16:creationId xmlns:a16="http://schemas.microsoft.com/office/drawing/2014/main" id="{F0FAF3E1-27B6-4826-8759-E17670B08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5800" y="3889375"/>
            <a:ext cx="6858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97" name="Line 36">
            <a:extLst>
              <a:ext uri="{FF2B5EF4-FFF2-40B4-BE49-F238E27FC236}">
                <a16:creationId xmlns:a16="http://schemas.microsoft.com/office/drawing/2014/main" id="{7EE918A0-537B-4788-92D5-90164FBD3F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715000" y="4498975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98" name="Line 37">
            <a:extLst>
              <a:ext uri="{FF2B5EF4-FFF2-40B4-BE49-F238E27FC236}">
                <a16:creationId xmlns:a16="http://schemas.microsoft.com/office/drawing/2014/main" id="{400D29F7-9462-460F-9FD3-C82E298175A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8000" y="3889375"/>
            <a:ext cx="3048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99" name="Line 38">
            <a:extLst>
              <a:ext uri="{FF2B5EF4-FFF2-40B4-BE49-F238E27FC236}">
                <a16:creationId xmlns:a16="http://schemas.microsoft.com/office/drawing/2014/main" id="{1D16304B-D179-48F8-90E7-565B785380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95800" y="3051175"/>
            <a:ext cx="5334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00" name="Line 39">
            <a:extLst>
              <a:ext uri="{FF2B5EF4-FFF2-40B4-BE49-F238E27FC236}">
                <a16:creationId xmlns:a16="http://schemas.microsoft.com/office/drawing/2014/main" id="{107E7F49-3362-43F4-9010-D0742621337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2822575"/>
            <a:ext cx="685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01" name="Line 40">
            <a:extLst>
              <a:ext uri="{FF2B5EF4-FFF2-40B4-BE49-F238E27FC236}">
                <a16:creationId xmlns:a16="http://schemas.microsoft.com/office/drawing/2014/main" id="{83D91B06-534D-48B8-ADC0-F212DEFE14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2974975"/>
            <a:ext cx="3810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02" name="Line 41">
            <a:extLst>
              <a:ext uri="{FF2B5EF4-FFF2-40B4-BE49-F238E27FC236}">
                <a16:creationId xmlns:a16="http://schemas.microsoft.com/office/drawing/2014/main" id="{81BEE0F0-B1CE-4F06-8100-4822F73B8E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96200" y="3660775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70003" name="AutoShape 42">
            <a:extLst>
              <a:ext uri="{FF2B5EF4-FFF2-40B4-BE49-F238E27FC236}">
                <a16:creationId xmlns:a16="http://schemas.microsoft.com/office/drawing/2014/main" id="{9961774F-947A-4190-8F1A-40245C3B3530}"/>
              </a:ext>
            </a:extLst>
          </p:cNvPr>
          <p:cNvCxnSpPr>
            <a:cxnSpLocks noChangeShapeType="1"/>
            <a:stCxn id="169992" idx="0"/>
            <a:endCxn id="169995" idx="0"/>
          </p:cNvCxnSpPr>
          <p:nvPr/>
        </p:nvCxnSpPr>
        <p:spPr bwMode="auto">
          <a:xfrm rot="-5400000" flipH="1" flipV="1">
            <a:off x="5828506" y="1794669"/>
            <a:ext cx="1588" cy="3124200"/>
          </a:xfrm>
          <a:prstGeom prst="curvedConnector3">
            <a:avLst>
              <a:gd name="adj1" fmla="val -83300000"/>
            </a:avLst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0004" name="Text Box 43">
            <a:extLst>
              <a:ext uri="{FF2B5EF4-FFF2-40B4-BE49-F238E27FC236}">
                <a16:creationId xmlns:a16="http://schemas.microsoft.com/office/drawing/2014/main" id="{B4E75617-4801-45E3-B0D6-D29C1A974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5083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B</a:t>
            </a:r>
          </a:p>
        </p:txBody>
      </p:sp>
      <p:sp>
        <p:nvSpPr>
          <p:cNvPr id="170005" name="Text Box 44">
            <a:extLst>
              <a:ext uri="{FF2B5EF4-FFF2-40B4-BE49-F238E27FC236}">
                <a16:creationId xmlns:a16="http://schemas.microsoft.com/office/drawing/2014/main" id="{DB219A40-077D-4244-BD1B-DB57F58DE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26701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FF3300"/>
                </a:solidFill>
              </a:rPr>
              <a:t>1</a:t>
            </a:r>
          </a:p>
        </p:txBody>
      </p:sp>
      <p:sp>
        <p:nvSpPr>
          <p:cNvPr id="170006" name="Text Box 45">
            <a:extLst>
              <a:ext uri="{FF2B5EF4-FFF2-40B4-BE49-F238E27FC236}">
                <a16:creationId xmlns:a16="http://schemas.microsoft.com/office/drawing/2014/main" id="{96D67A39-8F57-4EA2-901C-84949F9EB3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26701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C</a:t>
            </a:r>
          </a:p>
        </p:txBody>
      </p:sp>
      <p:sp>
        <p:nvSpPr>
          <p:cNvPr id="170007" name="Text Box 46">
            <a:extLst>
              <a:ext uri="{FF2B5EF4-FFF2-40B4-BE49-F238E27FC236}">
                <a16:creationId xmlns:a16="http://schemas.microsoft.com/office/drawing/2014/main" id="{904F8320-C169-4648-B203-AA7B3CC4B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43465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D</a:t>
            </a:r>
          </a:p>
        </p:txBody>
      </p:sp>
      <p:sp>
        <p:nvSpPr>
          <p:cNvPr id="170008" name="Text Box 47">
            <a:extLst>
              <a:ext uri="{FF2B5EF4-FFF2-40B4-BE49-F238E27FC236}">
                <a16:creationId xmlns:a16="http://schemas.microsoft.com/office/drawing/2014/main" id="{CD64BF99-DA26-4E4E-B38A-DFFA59C5C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43465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FF3300"/>
                </a:solidFill>
              </a:rPr>
              <a:t>2</a:t>
            </a:r>
          </a:p>
        </p:txBody>
      </p:sp>
      <p:sp>
        <p:nvSpPr>
          <p:cNvPr id="170009" name="Text Box 48">
            <a:extLst>
              <a:ext uri="{FF2B5EF4-FFF2-40B4-BE49-F238E27FC236}">
                <a16:creationId xmlns:a16="http://schemas.microsoft.com/office/drawing/2014/main" id="{78DA7285-9E57-4459-9497-E6A8AB0D9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5083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E</a:t>
            </a:r>
          </a:p>
        </p:txBody>
      </p:sp>
      <p:sp>
        <p:nvSpPr>
          <p:cNvPr id="170010" name="Text Box 49">
            <a:extLst>
              <a:ext uri="{FF2B5EF4-FFF2-40B4-BE49-F238E27FC236}">
                <a16:creationId xmlns:a16="http://schemas.microsoft.com/office/drawing/2014/main" id="{A01DC039-B9BF-44B5-A4AD-BC2002F214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35083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olidFill>
                  <a:srgbClr val="FF3300"/>
                </a:solidFill>
              </a:rPr>
              <a:t>3</a:t>
            </a:r>
          </a:p>
        </p:txBody>
      </p:sp>
      <p:sp>
        <p:nvSpPr>
          <p:cNvPr id="170011" name="Text Box 50">
            <a:extLst>
              <a:ext uri="{FF2B5EF4-FFF2-40B4-BE49-F238E27FC236}">
                <a16:creationId xmlns:a16="http://schemas.microsoft.com/office/drawing/2014/main" id="{187DFB7C-3BD4-4BEC-901B-329B10AEF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289877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70012" name="Text Box 51">
            <a:extLst>
              <a:ext uri="{FF2B5EF4-FFF2-40B4-BE49-F238E27FC236}">
                <a16:creationId xmlns:a16="http://schemas.microsoft.com/office/drawing/2014/main" id="{9AEDBC05-2EC8-46F0-85E7-D808F598D7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404177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70013" name="Text Box 52">
            <a:extLst>
              <a:ext uri="{FF2B5EF4-FFF2-40B4-BE49-F238E27FC236}">
                <a16:creationId xmlns:a16="http://schemas.microsoft.com/office/drawing/2014/main" id="{DBC3EA96-FB2B-4AE8-9EDD-AD7AC01ED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98437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70014" name="Text Box 53">
            <a:extLst>
              <a:ext uri="{FF2B5EF4-FFF2-40B4-BE49-F238E27FC236}">
                <a16:creationId xmlns:a16="http://schemas.microsoft.com/office/drawing/2014/main" id="{76DFB2B9-304B-44F1-8C3E-65EDD20C3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282257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70015" name="Text Box 54">
            <a:extLst>
              <a:ext uri="{FF2B5EF4-FFF2-40B4-BE49-F238E27FC236}">
                <a16:creationId xmlns:a16="http://schemas.microsoft.com/office/drawing/2014/main" id="{FB534446-9379-42A1-952F-0ED41720D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404177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70016" name="Text Box 55">
            <a:extLst>
              <a:ext uri="{FF2B5EF4-FFF2-40B4-BE49-F238E27FC236}">
                <a16:creationId xmlns:a16="http://schemas.microsoft.com/office/drawing/2014/main" id="{8F8957AE-3C3D-44BA-8E2D-D66E167CC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550" y="327977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</a:p>
        </p:txBody>
      </p:sp>
      <p:sp>
        <p:nvSpPr>
          <p:cNvPr id="170017" name="Text Box 56">
            <a:extLst>
              <a:ext uri="{FF2B5EF4-FFF2-40B4-BE49-F238E27FC236}">
                <a16:creationId xmlns:a16="http://schemas.microsoft.com/office/drawing/2014/main" id="{72DDAA6C-A78A-4515-9D1E-7637F03BC4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44157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endParaRPr kumimoji="0" lang="en-US" altLang="zh-CN" sz="2400"/>
          </a:p>
        </p:txBody>
      </p:sp>
      <p:sp>
        <p:nvSpPr>
          <p:cNvPr id="170018" name="Text Box 57">
            <a:extLst>
              <a:ext uri="{FF2B5EF4-FFF2-40B4-BE49-F238E27FC236}">
                <a16:creationId xmlns:a16="http://schemas.microsoft.com/office/drawing/2014/main" id="{DB75E68A-A1CE-4CBD-8505-BDF37E7C7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117975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b</a:t>
            </a:r>
            <a:endParaRPr kumimoji="0" lang="en-US" altLang="zh-CN" sz="2400"/>
          </a:p>
        </p:txBody>
      </p:sp>
      <p:graphicFrame>
        <p:nvGraphicFramePr>
          <p:cNvPr id="219306" name="Group 170">
            <a:extLst>
              <a:ext uri="{FF2B5EF4-FFF2-40B4-BE49-F238E27FC236}">
                <a16:creationId xmlns:a16="http://schemas.microsoft.com/office/drawing/2014/main" id="{F22ABA25-059F-492F-90F2-681A6BEBEF4F}"/>
              </a:ext>
            </a:extLst>
          </p:cNvPr>
          <p:cNvGraphicFramePr>
            <a:graphicFrameLocks noGrp="1"/>
          </p:cNvGraphicFramePr>
          <p:nvPr/>
        </p:nvGraphicFramePr>
        <p:xfrm>
          <a:off x="2286000" y="4572000"/>
          <a:ext cx="2590800" cy="854076"/>
        </p:xfrm>
        <a:graphic>
          <a:graphicData uri="http://schemas.openxmlformats.org/drawingml/2006/table">
            <a:tbl>
              <a:tblPr/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7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</a:p>
                  </a:txBody>
                  <a:tcPr marL="0" marR="0"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36E0D23B-822E-4965-9DB3-EC6DEAC2D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followpos</a:t>
            </a:r>
            <a:r>
              <a:rPr lang="zh-CN" altLang="en-US"/>
              <a:t>的计算</a:t>
            </a:r>
          </a:p>
        </p:txBody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0CC49C69-8D2E-4FB9-99E8-F457583BDE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 sz="2800"/>
              <a:t>对子正规式，其首尾符号的对应位置之间存在跟随关系</a:t>
            </a:r>
          </a:p>
          <a:p>
            <a:pPr lvl="1" eaLnBrk="1" hangingPunct="1"/>
            <a:r>
              <a:rPr lang="en-US" altLang="zh-CN" sz="2400"/>
              <a:t>rs</a:t>
            </a:r>
            <a:r>
              <a:rPr lang="zh-CN" altLang="en-US" sz="2400"/>
              <a:t>，</a:t>
            </a:r>
            <a:r>
              <a:rPr lang="en-US" altLang="zh-CN" sz="2400"/>
              <a:t>s</a:t>
            </a:r>
            <a:r>
              <a:rPr lang="zh-CN" altLang="en-US" sz="2400"/>
              <a:t>的首位置</a:t>
            </a:r>
            <a:r>
              <a:rPr lang="zh-CN" altLang="en-US" sz="2400">
                <a:solidFill>
                  <a:srgbClr val="FF3300"/>
                </a:solidFill>
              </a:rPr>
              <a:t>跟随</a:t>
            </a:r>
            <a:r>
              <a:rPr lang="en-US" altLang="zh-CN" sz="2400"/>
              <a:t>r</a:t>
            </a:r>
            <a:r>
              <a:rPr lang="zh-CN" altLang="en-US" sz="2400"/>
              <a:t>的尾位置</a:t>
            </a:r>
          </a:p>
          <a:p>
            <a:pPr lvl="1" eaLnBrk="1" hangingPunct="1"/>
            <a:r>
              <a:rPr lang="en-US" altLang="zh-CN" sz="2400"/>
              <a:t>r*</a:t>
            </a:r>
            <a:r>
              <a:rPr lang="zh-CN" altLang="en-US" sz="2400"/>
              <a:t>，</a:t>
            </a:r>
            <a:r>
              <a:rPr lang="en-US" altLang="zh-CN" sz="2400"/>
              <a:t>r</a:t>
            </a:r>
            <a:r>
              <a:rPr lang="zh-CN" altLang="en-US" sz="2400"/>
              <a:t>的首位置</a:t>
            </a:r>
            <a:r>
              <a:rPr lang="zh-CN" altLang="en-US" sz="2400">
                <a:solidFill>
                  <a:srgbClr val="FF3300"/>
                </a:solidFill>
              </a:rPr>
              <a:t>跟随</a:t>
            </a:r>
            <a:r>
              <a:rPr lang="zh-CN" altLang="en-US" sz="2400"/>
              <a:t>其尾位置</a:t>
            </a:r>
          </a:p>
          <a:p>
            <a:pPr eaLnBrk="1" hangingPunct="1"/>
            <a:r>
              <a:rPr lang="en-US" altLang="zh-CN" sz="2800"/>
              <a:t>firstpos(n)</a:t>
            </a:r>
            <a:r>
              <a:rPr lang="zh-CN" altLang="en-US" sz="2800"/>
              <a:t>：对以</a:t>
            </a:r>
            <a:r>
              <a:rPr lang="en-US" altLang="zh-CN" sz="2800"/>
              <a:t>n</a:t>
            </a:r>
            <a:r>
              <a:rPr lang="zh-CN" altLang="en-US" sz="2800"/>
              <a:t>为根的子正规式，可匹配其首符号的位置的集合</a:t>
            </a:r>
          </a:p>
          <a:p>
            <a:pPr eaLnBrk="1" hangingPunct="1"/>
            <a:r>
              <a:rPr lang="en-US" altLang="zh-CN" sz="2800"/>
              <a:t>lastpos(n)</a:t>
            </a:r>
            <a:r>
              <a:rPr lang="zh-CN" altLang="en-US" sz="2800"/>
              <a:t>：可匹配尾符号的位置的集合</a:t>
            </a:r>
          </a:p>
          <a:p>
            <a:pPr eaLnBrk="1" hangingPunct="1"/>
            <a:r>
              <a:rPr lang="zh-CN" altLang="en-US" sz="2800"/>
              <a:t>前例</a:t>
            </a:r>
            <a:r>
              <a:rPr lang="en-US" altLang="zh-CN" sz="2800"/>
              <a:t>: firstpos(n) = {1, 2, 3}, lastpos(n) = {6}</a:t>
            </a:r>
          </a:p>
          <a:p>
            <a:pPr eaLnBrk="1" hangingPunct="1"/>
            <a:r>
              <a:rPr lang="en-US" altLang="zh-CN" sz="2800"/>
              <a:t>nullable(n)</a:t>
            </a:r>
            <a:r>
              <a:rPr lang="zh-CN" altLang="en-US" sz="2800"/>
              <a:t>：可匹配空串</a:t>
            </a:r>
          </a:p>
        </p:txBody>
      </p:sp>
    </p:spTree>
  </p:cSld>
  <p:clrMapOvr>
    <a:masterClrMapping/>
  </p:clrMapOvr>
  <p:transition spd="slow"/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E2123E85-8073-410C-9BD5-B979B86374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计算</a:t>
            </a:r>
            <a:r>
              <a:rPr lang="en-US" altLang="zh-CN"/>
              <a:t>firstpos, lastpos, nullable</a:t>
            </a:r>
          </a:p>
        </p:txBody>
      </p:sp>
      <p:sp>
        <p:nvSpPr>
          <p:cNvPr id="172035" name="Text Box 4">
            <a:extLst>
              <a:ext uri="{FF2B5EF4-FFF2-40B4-BE49-F238E27FC236}">
                <a16:creationId xmlns:a16="http://schemas.microsoft.com/office/drawing/2014/main" id="{17E744F8-548D-496B-8C64-FD158E17A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68275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0">
                <a:ea typeface="黑体" panose="02010609060101010101" pitchFamily="49" charset="-122"/>
              </a:rPr>
              <a:t>结点</a:t>
            </a:r>
            <a:r>
              <a:rPr kumimoji="0" lang="en-US" altLang="zh-CN" sz="2400" b="0">
                <a:ea typeface="黑体" panose="02010609060101010101" pitchFamily="49" charset="-122"/>
              </a:rPr>
              <a:t>n</a:t>
            </a:r>
          </a:p>
        </p:txBody>
      </p:sp>
      <p:sp>
        <p:nvSpPr>
          <p:cNvPr id="172036" name="Line 5">
            <a:extLst>
              <a:ext uri="{FF2B5EF4-FFF2-40B4-BE49-F238E27FC236}">
                <a16:creationId xmlns:a16="http://schemas.microsoft.com/office/drawing/2014/main" id="{496F6540-D4FE-4A38-A791-D188748B2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172085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37" name="Line 6">
            <a:extLst>
              <a:ext uri="{FF2B5EF4-FFF2-40B4-BE49-F238E27FC236}">
                <a16:creationId xmlns:a16="http://schemas.microsoft.com/office/drawing/2014/main" id="{8FA67138-0E75-4CD5-A9E2-1B04A499E685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16002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38" name="Line 7">
            <a:extLst>
              <a:ext uri="{FF2B5EF4-FFF2-40B4-BE49-F238E27FC236}">
                <a16:creationId xmlns:a16="http://schemas.microsoft.com/office/drawing/2014/main" id="{79EEEEBF-C194-4153-BC1E-BC185F9D20C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21336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39" name="Line 8">
            <a:extLst>
              <a:ext uri="{FF2B5EF4-FFF2-40B4-BE49-F238E27FC236}">
                <a16:creationId xmlns:a16="http://schemas.microsoft.com/office/drawing/2014/main" id="{31BE46FC-845D-4DF0-B188-01A0346DE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7400" y="1720850"/>
            <a:ext cx="0" cy="315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40" name="Line 9">
            <a:extLst>
              <a:ext uri="{FF2B5EF4-FFF2-40B4-BE49-F238E27FC236}">
                <a16:creationId xmlns:a16="http://schemas.microsoft.com/office/drawing/2014/main" id="{0332CC39-6D77-4F31-A05B-278C1C562A1C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3048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41" name="Line 10">
            <a:extLst>
              <a:ext uri="{FF2B5EF4-FFF2-40B4-BE49-F238E27FC236}">
                <a16:creationId xmlns:a16="http://schemas.microsoft.com/office/drawing/2014/main" id="{ADEE9C73-E0DA-4660-A653-B6A918E2B3F1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39624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42" name="Line 11">
            <a:extLst>
              <a:ext uri="{FF2B5EF4-FFF2-40B4-BE49-F238E27FC236}">
                <a16:creationId xmlns:a16="http://schemas.microsoft.com/office/drawing/2014/main" id="{866BEFF5-987E-4AE3-BEEE-440096A46F52}"/>
              </a:ext>
            </a:extLst>
          </p:cNvPr>
          <p:cNvSpPr>
            <a:spLocks noChangeShapeType="1"/>
          </p:cNvSpPr>
          <p:nvPr/>
        </p:nvSpPr>
        <p:spPr bwMode="auto">
          <a:xfrm>
            <a:off x="914400" y="48768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43" name="Text Box 13">
            <a:extLst>
              <a:ext uri="{FF2B5EF4-FFF2-40B4-BE49-F238E27FC236}">
                <a16:creationId xmlns:a16="http://schemas.microsoft.com/office/drawing/2014/main" id="{6BCD44EA-CEC2-48A2-9C7C-BADFC811F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0" y="169068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ea typeface="黑体" panose="02010609060101010101" pitchFamily="49" charset="-122"/>
              </a:rPr>
              <a:t>firstpos</a:t>
            </a:r>
            <a:r>
              <a:rPr kumimoji="0" lang="en-US" altLang="zh-CN" sz="2400" b="0">
                <a:ea typeface="黑体" panose="02010609060101010101" pitchFamily="49" charset="-122"/>
              </a:rPr>
              <a:t>(</a:t>
            </a:r>
            <a:r>
              <a:rPr kumimoji="0" lang="en-US" altLang="zh-CN" sz="2400" b="0" i="1">
                <a:ea typeface="黑体" panose="02010609060101010101" pitchFamily="49" charset="-122"/>
              </a:rPr>
              <a:t>n</a:t>
            </a:r>
            <a:r>
              <a:rPr kumimoji="0" lang="en-US" altLang="zh-CN" sz="2400" b="0"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72044" name="Line 15">
            <a:extLst>
              <a:ext uri="{FF2B5EF4-FFF2-40B4-BE49-F238E27FC236}">
                <a16:creationId xmlns:a16="http://schemas.microsoft.com/office/drawing/2014/main" id="{E7DC9AED-4F26-4C7B-834C-53A4D1E1FD1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1720850"/>
            <a:ext cx="0" cy="315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2045" name="Text Box 16">
            <a:extLst>
              <a:ext uri="{FF2B5EF4-FFF2-40B4-BE49-F238E27FC236}">
                <a16:creationId xmlns:a16="http://schemas.microsoft.com/office/drawing/2014/main" id="{7EF3CAF1-D17A-4C3B-AEAD-86C134CC66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286000"/>
            <a:ext cx="1447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>
                <a:ea typeface="黑体" panose="02010609060101010101" pitchFamily="49" charset="-122"/>
              </a:rPr>
              <a:t>n</a:t>
            </a:r>
            <a:r>
              <a:rPr kumimoji="0" lang="zh-CN" altLang="en-US" sz="2000" b="0">
                <a:ea typeface="黑体" panose="02010609060101010101" pitchFamily="49" charset="-122"/>
              </a:rPr>
              <a:t>是标记为</a:t>
            </a:r>
            <a:r>
              <a:rPr kumimoji="0" lang="en-US" altLang="zh-CN" sz="2000" b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zh-CN" altLang="en-US" sz="2000" b="0">
                <a:latin typeface="Tahoma" panose="020B0604030504040204" pitchFamily="34" charset="0"/>
                <a:sym typeface="Symbol" panose="05050102010706020507" pitchFamily="18" charset="2"/>
              </a:rPr>
              <a:t>的叶结点</a:t>
            </a:r>
          </a:p>
        </p:txBody>
      </p:sp>
      <p:sp>
        <p:nvSpPr>
          <p:cNvPr id="172046" name="Text Box 17">
            <a:extLst>
              <a:ext uri="{FF2B5EF4-FFF2-40B4-BE49-F238E27FC236}">
                <a16:creationId xmlns:a16="http://schemas.microsoft.com/office/drawing/2014/main" id="{D9D2541D-D4A2-40EA-9608-D8C1BC25C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3108325"/>
            <a:ext cx="1828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>
                <a:ea typeface="黑体" panose="02010609060101010101" pitchFamily="49" charset="-122"/>
              </a:rPr>
              <a:t>n</a:t>
            </a:r>
            <a:r>
              <a:rPr kumimoji="0" lang="zh-CN" altLang="en-US" sz="2000" b="0">
                <a:ea typeface="黑体" panose="02010609060101010101" pitchFamily="49" charset="-122"/>
              </a:rPr>
              <a:t>是标记为</a:t>
            </a:r>
            <a:br>
              <a:rPr kumimoji="0" lang="zh-CN" altLang="en-US" sz="2000" b="0">
                <a:ea typeface="黑体" panose="02010609060101010101" pitchFamily="49" charset="-122"/>
              </a:rPr>
            </a:br>
            <a:r>
              <a:rPr kumimoji="0" lang="zh-CN" altLang="en-US" sz="2000" b="0">
                <a:latin typeface="Tahoma" panose="020B0604030504040204" pitchFamily="34" charset="0"/>
                <a:sym typeface="Symbol" panose="05050102010706020507" pitchFamily="18" charset="2"/>
              </a:rPr>
              <a:t>位置</a:t>
            </a:r>
            <a:r>
              <a:rPr kumimoji="0" lang="en-US" altLang="zh-CN" sz="2000" i="1">
                <a:sym typeface="Symbol" panose="05050102010706020507" pitchFamily="18" charset="2"/>
              </a:rPr>
              <a:t>i</a:t>
            </a:r>
            <a:r>
              <a:rPr kumimoji="0" lang="zh-CN" altLang="en-US" sz="2000">
                <a:sym typeface="Symbol" panose="05050102010706020507" pitchFamily="18" charset="2"/>
              </a:rPr>
              <a:t>的</a:t>
            </a:r>
            <a:r>
              <a:rPr kumimoji="0" lang="zh-CN" altLang="en-US" sz="2000" b="0">
                <a:latin typeface="Tahoma" panose="020B0604030504040204" pitchFamily="34" charset="0"/>
                <a:sym typeface="Symbol" panose="05050102010706020507" pitchFamily="18" charset="2"/>
              </a:rPr>
              <a:t>叶结点</a:t>
            </a:r>
          </a:p>
        </p:txBody>
      </p:sp>
      <p:sp>
        <p:nvSpPr>
          <p:cNvPr id="172047" name="Text Box 18">
            <a:extLst>
              <a:ext uri="{FF2B5EF4-FFF2-40B4-BE49-F238E27FC236}">
                <a16:creationId xmlns:a16="http://schemas.microsoft.com/office/drawing/2014/main" id="{730E992B-764E-40EC-A15E-16D4570C3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6764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ea typeface="黑体" panose="02010609060101010101" pitchFamily="49" charset="-122"/>
              </a:rPr>
              <a:t>nullable</a:t>
            </a:r>
            <a:r>
              <a:rPr kumimoji="0" lang="en-US" altLang="zh-CN" sz="2400" b="0">
                <a:ea typeface="黑体" panose="02010609060101010101" pitchFamily="49" charset="-122"/>
              </a:rPr>
              <a:t>(</a:t>
            </a:r>
            <a:r>
              <a:rPr kumimoji="0" lang="en-US" altLang="zh-CN" sz="2400" b="0" i="1">
                <a:ea typeface="黑体" panose="02010609060101010101" pitchFamily="49" charset="-122"/>
              </a:rPr>
              <a:t>n</a:t>
            </a:r>
            <a:r>
              <a:rPr kumimoji="0" lang="en-US" altLang="zh-CN" sz="2400" b="0"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72048" name="Text Box 19">
            <a:extLst>
              <a:ext uri="{FF2B5EF4-FFF2-40B4-BE49-F238E27FC236}">
                <a16:creationId xmlns:a16="http://schemas.microsoft.com/office/drawing/2014/main" id="{67D54931-5B28-4697-A2BB-2AFDE2F06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346325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ea typeface="黑体" panose="02010609060101010101" pitchFamily="49" charset="-122"/>
              </a:rPr>
              <a:t>true</a:t>
            </a:r>
            <a:endParaRPr kumimoji="0" lang="en-US" altLang="zh-CN" sz="2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72049" name="Text Box 20">
            <a:extLst>
              <a:ext uri="{FF2B5EF4-FFF2-40B4-BE49-F238E27FC236}">
                <a16:creationId xmlns:a16="http://schemas.microsoft.com/office/drawing/2014/main" id="{5D897758-CF50-40B4-BFC7-F2F8B8123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260725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ea typeface="黑体" panose="02010609060101010101" pitchFamily="49" charset="-122"/>
              </a:rPr>
              <a:t>false</a:t>
            </a:r>
            <a:endParaRPr kumimoji="0" lang="en-US" altLang="zh-CN" sz="2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72050" name="Text Box 22">
            <a:extLst>
              <a:ext uri="{FF2B5EF4-FFF2-40B4-BE49-F238E27FC236}">
                <a16:creationId xmlns:a16="http://schemas.microsoft.com/office/drawing/2014/main" id="{A38D0069-13DF-4402-A80B-8C717A5F6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2346325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sym typeface="Symbol" panose="05050102010706020507" pitchFamily="18" charset="2"/>
              </a:rPr>
              <a:t></a:t>
            </a:r>
          </a:p>
        </p:txBody>
      </p:sp>
      <p:sp>
        <p:nvSpPr>
          <p:cNvPr id="172051" name="Text Box 24">
            <a:extLst>
              <a:ext uri="{FF2B5EF4-FFF2-40B4-BE49-F238E27FC236}">
                <a16:creationId xmlns:a16="http://schemas.microsoft.com/office/drawing/2014/main" id="{A80CDD96-5750-48D8-89C2-C95EBE852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0" y="3260725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ea typeface="黑体" panose="02010609060101010101" pitchFamily="49" charset="-122"/>
              </a:rPr>
              <a:t>{</a:t>
            </a:r>
            <a:r>
              <a:rPr kumimoji="0" lang="en-US" altLang="zh-CN" sz="2000" i="1">
                <a:ea typeface="黑体" panose="02010609060101010101" pitchFamily="49" charset="-122"/>
              </a:rPr>
              <a:t>i</a:t>
            </a:r>
            <a:r>
              <a:rPr kumimoji="0" lang="en-US" altLang="zh-CN" sz="2000">
                <a:ea typeface="黑体" panose="02010609060101010101" pitchFamily="49" charset="-122"/>
              </a:rPr>
              <a:t>}</a:t>
            </a:r>
            <a:endParaRPr kumimoji="0" lang="en-US" altLang="zh-CN" sz="2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72052" name="Text Box 25">
            <a:extLst>
              <a:ext uri="{FF2B5EF4-FFF2-40B4-BE49-F238E27FC236}">
                <a16:creationId xmlns:a16="http://schemas.microsoft.com/office/drawing/2014/main" id="{0CE60807-4F2B-4375-B074-8BA0130BC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4191000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>
                <a:ea typeface="黑体" panose="02010609060101010101" pitchFamily="49" charset="-122"/>
              </a:rPr>
              <a:t>nullable</a:t>
            </a:r>
            <a:r>
              <a:rPr kumimoji="0" lang="en-US" altLang="zh-CN" sz="2000">
                <a:ea typeface="黑体" panose="02010609060101010101" pitchFamily="49" charset="-122"/>
              </a:rPr>
              <a:t>(</a:t>
            </a:r>
            <a:r>
              <a:rPr kumimoji="0" lang="en-US" altLang="zh-CN" sz="2000" i="1">
                <a:ea typeface="黑体" panose="02010609060101010101" pitchFamily="49" charset="-122"/>
              </a:rPr>
              <a:t>c</a:t>
            </a:r>
            <a:r>
              <a:rPr kumimoji="0" lang="en-US" altLang="zh-CN" sz="2000" baseline="-25000">
                <a:ea typeface="黑体" panose="02010609060101010101" pitchFamily="49" charset="-122"/>
              </a:rPr>
              <a:t>1</a:t>
            </a:r>
            <a:r>
              <a:rPr kumimoji="0" lang="en-US" altLang="zh-CN" sz="2000">
                <a:ea typeface="黑体" panose="02010609060101010101" pitchFamily="49" charset="-122"/>
              </a:rPr>
              <a:t>) or </a:t>
            </a:r>
            <a:r>
              <a:rPr kumimoji="0" lang="en-US" altLang="zh-CN" sz="2000" i="1">
                <a:ea typeface="黑体" panose="02010609060101010101" pitchFamily="49" charset="-122"/>
              </a:rPr>
              <a:t>nullable</a:t>
            </a:r>
            <a:r>
              <a:rPr kumimoji="0" lang="en-US" altLang="zh-CN" sz="2000">
                <a:ea typeface="黑体" panose="02010609060101010101" pitchFamily="49" charset="-122"/>
              </a:rPr>
              <a:t>(</a:t>
            </a:r>
            <a:r>
              <a:rPr kumimoji="0" lang="en-US" altLang="zh-CN" sz="2000" i="1">
                <a:ea typeface="黑体" panose="02010609060101010101" pitchFamily="49" charset="-122"/>
              </a:rPr>
              <a:t>c</a:t>
            </a:r>
            <a:r>
              <a:rPr kumimoji="0" lang="en-US" altLang="zh-CN" sz="2000" baseline="-25000">
                <a:ea typeface="黑体" panose="02010609060101010101" pitchFamily="49" charset="-122"/>
              </a:rPr>
              <a:t>2</a:t>
            </a:r>
            <a:r>
              <a:rPr kumimoji="0" lang="en-US" altLang="zh-CN" sz="2000">
                <a:ea typeface="黑体" panose="02010609060101010101" pitchFamily="49" charset="-122"/>
              </a:rPr>
              <a:t>)</a:t>
            </a:r>
            <a:endParaRPr kumimoji="0" lang="en-US" altLang="zh-CN" sz="2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72053" name="Text Box 27">
            <a:extLst>
              <a:ext uri="{FF2B5EF4-FFF2-40B4-BE49-F238E27FC236}">
                <a16:creationId xmlns:a16="http://schemas.microsoft.com/office/drawing/2014/main" id="{EF7FE99B-4D28-4265-BD38-CFA1521F6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0" y="4191000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>
                <a:ea typeface="黑体" panose="02010609060101010101" pitchFamily="49" charset="-122"/>
              </a:rPr>
              <a:t>firstpos</a:t>
            </a:r>
            <a:r>
              <a:rPr kumimoji="0" lang="en-US" altLang="zh-CN" sz="2000">
                <a:ea typeface="黑体" panose="02010609060101010101" pitchFamily="49" charset="-122"/>
              </a:rPr>
              <a:t>(</a:t>
            </a:r>
            <a:r>
              <a:rPr kumimoji="0" lang="en-US" altLang="zh-CN" sz="2000" i="1">
                <a:ea typeface="黑体" panose="02010609060101010101" pitchFamily="49" charset="-122"/>
              </a:rPr>
              <a:t>c</a:t>
            </a:r>
            <a:r>
              <a:rPr kumimoji="0" lang="en-US" altLang="zh-CN" sz="2000" baseline="-25000">
                <a:ea typeface="黑体" panose="02010609060101010101" pitchFamily="49" charset="-122"/>
              </a:rPr>
              <a:t>1</a:t>
            </a:r>
            <a:r>
              <a:rPr kumimoji="0" lang="en-US" altLang="zh-CN" sz="2000">
                <a:ea typeface="黑体" panose="02010609060101010101" pitchFamily="49" charset="-122"/>
              </a:rPr>
              <a:t>) </a:t>
            </a:r>
            <a:r>
              <a:rPr kumimoji="0" lang="en-US" altLang="zh-CN" sz="2000">
                <a:latin typeface="宋体" panose="02010600030101010101" pitchFamily="2" charset="-122"/>
              </a:rPr>
              <a:t>∪</a:t>
            </a:r>
            <a:r>
              <a:rPr kumimoji="0" lang="en-US" altLang="zh-CN" sz="2000">
                <a:ea typeface="黑体" panose="02010609060101010101" pitchFamily="49" charset="-122"/>
              </a:rPr>
              <a:t> </a:t>
            </a:r>
            <a:r>
              <a:rPr kumimoji="0" lang="en-US" altLang="zh-CN" sz="2000" i="1">
                <a:ea typeface="黑体" panose="02010609060101010101" pitchFamily="49" charset="-122"/>
              </a:rPr>
              <a:t>firstpos</a:t>
            </a:r>
            <a:r>
              <a:rPr kumimoji="0" lang="en-US" altLang="zh-CN" sz="2000">
                <a:ea typeface="黑体" panose="02010609060101010101" pitchFamily="49" charset="-122"/>
              </a:rPr>
              <a:t>(</a:t>
            </a:r>
            <a:r>
              <a:rPr kumimoji="0" lang="en-US" altLang="zh-CN" sz="2000" i="1">
                <a:ea typeface="黑体" panose="02010609060101010101" pitchFamily="49" charset="-122"/>
              </a:rPr>
              <a:t>c</a:t>
            </a:r>
            <a:r>
              <a:rPr kumimoji="0" lang="en-US" altLang="zh-CN" sz="2000" baseline="-25000">
                <a:ea typeface="黑体" panose="02010609060101010101" pitchFamily="49" charset="-122"/>
              </a:rPr>
              <a:t>2</a:t>
            </a:r>
            <a:r>
              <a:rPr kumimoji="0" lang="en-US" altLang="zh-CN" sz="2000">
                <a:ea typeface="黑体" panose="02010609060101010101" pitchFamily="49" charset="-122"/>
              </a:rPr>
              <a:t>)</a:t>
            </a:r>
          </a:p>
        </p:txBody>
      </p:sp>
      <p:pic>
        <p:nvPicPr>
          <p:cNvPr id="172054" name="Picture 33" descr="node1">
            <a:extLst>
              <a:ext uri="{FF2B5EF4-FFF2-40B4-BE49-F238E27FC236}">
                <a16:creationId xmlns:a16="http://schemas.microsoft.com/office/drawing/2014/main" id="{346D981B-A3F9-41F4-8156-05BCEB1D0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994150"/>
            <a:ext cx="1247775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866A8E57-1F6F-464B-9FA1-38C80D9F93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计算</a:t>
            </a:r>
            <a:r>
              <a:rPr lang="en-US" altLang="zh-CN"/>
              <a:t>firstpos, lastpos, nullable</a:t>
            </a:r>
          </a:p>
        </p:txBody>
      </p:sp>
      <p:sp>
        <p:nvSpPr>
          <p:cNvPr id="173059" name="Text Box 3">
            <a:extLst>
              <a:ext uri="{FF2B5EF4-FFF2-40B4-BE49-F238E27FC236}">
                <a16:creationId xmlns:a16="http://schemas.microsoft.com/office/drawing/2014/main" id="{88ABC2D4-AE5F-42D6-B0EE-C44906790F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45415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0">
                <a:ea typeface="黑体" panose="02010609060101010101" pitchFamily="49" charset="-122"/>
              </a:rPr>
              <a:t>结点</a:t>
            </a:r>
            <a:r>
              <a:rPr kumimoji="0" lang="en-US" altLang="zh-CN" sz="2400" b="0">
                <a:ea typeface="黑体" panose="02010609060101010101" pitchFamily="49" charset="-122"/>
              </a:rPr>
              <a:t>n</a:t>
            </a:r>
          </a:p>
        </p:txBody>
      </p:sp>
      <p:sp>
        <p:nvSpPr>
          <p:cNvPr id="173060" name="Line 4">
            <a:extLst>
              <a:ext uri="{FF2B5EF4-FFF2-40B4-BE49-F238E27FC236}">
                <a16:creationId xmlns:a16="http://schemas.microsoft.com/office/drawing/2014/main" id="{F891F2E9-0CFB-4E7F-8AAB-5A55645BD51A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49225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61" name="Line 5">
            <a:extLst>
              <a:ext uri="{FF2B5EF4-FFF2-40B4-BE49-F238E27FC236}">
                <a16:creationId xmlns:a16="http://schemas.microsoft.com/office/drawing/2014/main" id="{9BF43B21-5D4A-456B-83E9-2A251BDB56C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3716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62" name="Line 6">
            <a:extLst>
              <a:ext uri="{FF2B5EF4-FFF2-40B4-BE49-F238E27FC236}">
                <a16:creationId xmlns:a16="http://schemas.microsoft.com/office/drawing/2014/main" id="{84792D57-7189-47E5-9076-7DADB994B910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1905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63" name="Line 7">
            <a:extLst>
              <a:ext uri="{FF2B5EF4-FFF2-40B4-BE49-F238E27FC236}">
                <a16:creationId xmlns:a16="http://schemas.microsoft.com/office/drawing/2014/main" id="{97DAFE13-5FBE-41CF-803D-38ABFAC6BE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3600" y="1492250"/>
            <a:ext cx="0" cy="2622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64" name="Line 8">
            <a:extLst>
              <a:ext uri="{FF2B5EF4-FFF2-40B4-BE49-F238E27FC236}">
                <a16:creationId xmlns:a16="http://schemas.microsoft.com/office/drawing/2014/main" id="{B0179A67-E705-4344-A695-926292735805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30480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65" name="Line 9">
            <a:extLst>
              <a:ext uri="{FF2B5EF4-FFF2-40B4-BE49-F238E27FC236}">
                <a16:creationId xmlns:a16="http://schemas.microsoft.com/office/drawing/2014/main" id="{CD750C10-FEEA-465C-B7BD-66740B5BDAF9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4114800"/>
            <a:ext cx="800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66" name="Text Box 12">
            <a:extLst>
              <a:ext uri="{FF2B5EF4-FFF2-40B4-BE49-F238E27FC236}">
                <a16:creationId xmlns:a16="http://schemas.microsoft.com/office/drawing/2014/main" id="{9AAA173C-D743-4B08-98C3-3673EBFEFF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146208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ea typeface="黑体" panose="02010609060101010101" pitchFamily="49" charset="-122"/>
              </a:rPr>
              <a:t>firstpos</a:t>
            </a:r>
            <a:r>
              <a:rPr kumimoji="0" lang="en-US" altLang="zh-CN" sz="2400" b="0">
                <a:ea typeface="黑体" panose="02010609060101010101" pitchFamily="49" charset="-122"/>
              </a:rPr>
              <a:t>(</a:t>
            </a:r>
            <a:r>
              <a:rPr kumimoji="0" lang="en-US" altLang="zh-CN" sz="2400" b="0" i="1">
                <a:ea typeface="黑体" panose="02010609060101010101" pitchFamily="49" charset="-122"/>
              </a:rPr>
              <a:t>n</a:t>
            </a:r>
            <a:r>
              <a:rPr kumimoji="0" lang="en-US" altLang="zh-CN" sz="2400" b="0"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73067" name="Line 14">
            <a:extLst>
              <a:ext uri="{FF2B5EF4-FFF2-40B4-BE49-F238E27FC236}">
                <a16:creationId xmlns:a16="http://schemas.microsoft.com/office/drawing/2014/main" id="{CC79A5A6-726B-453A-A24D-3C4827ED07B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1492250"/>
            <a:ext cx="0" cy="2622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68" name="Text Box 17">
            <a:extLst>
              <a:ext uri="{FF2B5EF4-FFF2-40B4-BE49-F238E27FC236}">
                <a16:creationId xmlns:a16="http://schemas.microsoft.com/office/drawing/2014/main" id="{59B93A02-344A-4AA5-B4B3-3DE017A0E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1447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i="1">
                <a:ea typeface="黑体" panose="02010609060101010101" pitchFamily="49" charset="-122"/>
              </a:rPr>
              <a:t>nullable</a:t>
            </a:r>
            <a:r>
              <a:rPr kumimoji="0" lang="en-US" altLang="zh-CN" sz="2400" b="0">
                <a:ea typeface="黑体" panose="02010609060101010101" pitchFamily="49" charset="-122"/>
              </a:rPr>
              <a:t>(</a:t>
            </a:r>
            <a:r>
              <a:rPr kumimoji="0" lang="en-US" altLang="zh-CN" sz="2400" b="0" i="1">
                <a:ea typeface="黑体" panose="02010609060101010101" pitchFamily="49" charset="-122"/>
              </a:rPr>
              <a:t>n</a:t>
            </a:r>
            <a:r>
              <a:rPr kumimoji="0" lang="en-US" altLang="zh-CN" sz="2400" b="0"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73069" name="Text Box 20">
            <a:extLst>
              <a:ext uri="{FF2B5EF4-FFF2-40B4-BE49-F238E27FC236}">
                <a16:creationId xmlns:a16="http://schemas.microsoft.com/office/drawing/2014/main" id="{560C2690-A343-4D83-90A7-9166E00D2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357563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ea typeface="黑体" panose="02010609060101010101" pitchFamily="49" charset="-122"/>
              </a:rPr>
              <a:t>true</a:t>
            </a:r>
            <a:endParaRPr kumimoji="0" lang="en-US" altLang="zh-CN" sz="2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73070" name="Text Box 24">
            <a:extLst>
              <a:ext uri="{FF2B5EF4-FFF2-40B4-BE49-F238E27FC236}">
                <a16:creationId xmlns:a16="http://schemas.microsoft.com/office/drawing/2014/main" id="{FED0E5EA-B4B8-46FA-9196-BD0774E7A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975" y="2306638"/>
            <a:ext cx="320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>
                <a:ea typeface="黑体" panose="02010609060101010101" pitchFamily="49" charset="-122"/>
              </a:rPr>
              <a:t>nullable</a:t>
            </a:r>
            <a:r>
              <a:rPr kumimoji="0" lang="en-US" altLang="zh-CN" sz="2000">
                <a:ea typeface="黑体" panose="02010609060101010101" pitchFamily="49" charset="-122"/>
              </a:rPr>
              <a:t>(</a:t>
            </a:r>
            <a:r>
              <a:rPr kumimoji="0" lang="en-US" altLang="zh-CN" sz="2000" i="1">
                <a:ea typeface="黑体" panose="02010609060101010101" pitchFamily="49" charset="-122"/>
              </a:rPr>
              <a:t>c</a:t>
            </a:r>
            <a:r>
              <a:rPr kumimoji="0" lang="en-US" altLang="zh-CN" sz="2000" baseline="-25000">
                <a:ea typeface="黑体" panose="02010609060101010101" pitchFamily="49" charset="-122"/>
              </a:rPr>
              <a:t>1</a:t>
            </a:r>
            <a:r>
              <a:rPr kumimoji="0" lang="en-US" altLang="zh-CN" sz="2000">
                <a:ea typeface="黑体" panose="02010609060101010101" pitchFamily="49" charset="-122"/>
              </a:rPr>
              <a:t>) and </a:t>
            </a:r>
            <a:r>
              <a:rPr kumimoji="0" lang="en-US" altLang="zh-CN" sz="2000" i="1">
                <a:ea typeface="黑体" panose="02010609060101010101" pitchFamily="49" charset="-122"/>
              </a:rPr>
              <a:t>nullable</a:t>
            </a:r>
            <a:r>
              <a:rPr kumimoji="0" lang="en-US" altLang="zh-CN" sz="2000">
                <a:ea typeface="黑体" panose="02010609060101010101" pitchFamily="49" charset="-122"/>
              </a:rPr>
              <a:t>(</a:t>
            </a:r>
            <a:r>
              <a:rPr kumimoji="0" lang="en-US" altLang="zh-CN" sz="2000" i="1">
                <a:ea typeface="黑体" panose="02010609060101010101" pitchFamily="49" charset="-122"/>
              </a:rPr>
              <a:t>c</a:t>
            </a:r>
            <a:r>
              <a:rPr kumimoji="0" lang="en-US" altLang="zh-CN" sz="2000" baseline="-25000">
                <a:ea typeface="黑体" panose="02010609060101010101" pitchFamily="49" charset="-122"/>
              </a:rPr>
              <a:t>2</a:t>
            </a:r>
            <a:r>
              <a:rPr kumimoji="0" lang="en-US" altLang="zh-CN" sz="2000">
                <a:ea typeface="黑体" panose="02010609060101010101" pitchFamily="49" charset="-122"/>
              </a:rPr>
              <a:t>)</a:t>
            </a:r>
            <a:endParaRPr kumimoji="0" lang="en-US" altLang="zh-CN" sz="2000"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73071" name="Text Box 26">
            <a:extLst>
              <a:ext uri="{FF2B5EF4-FFF2-40B4-BE49-F238E27FC236}">
                <a16:creationId xmlns:a16="http://schemas.microsoft.com/office/drawing/2014/main" id="{3B77668A-70A4-48DC-BFAB-72253687B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985963"/>
            <a:ext cx="3048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>
                <a:ea typeface="黑体" panose="02010609060101010101" pitchFamily="49" charset="-122"/>
              </a:rPr>
              <a:t>if</a:t>
            </a:r>
            <a:r>
              <a:rPr kumimoji="0" lang="en-US" altLang="zh-CN" sz="2000" i="1">
                <a:ea typeface="黑体" panose="02010609060101010101" pitchFamily="49" charset="-122"/>
              </a:rPr>
              <a:t> nullable</a:t>
            </a:r>
            <a:r>
              <a:rPr kumimoji="0" lang="en-US" altLang="zh-CN" sz="2000">
                <a:ea typeface="黑体" panose="02010609060101010101" pitchFamily="49" charset="-122"/>
              </a:rPr>
              <a:t>(</a:t>
            </a:r>
            <a:r>
              <a:rPr kumimoji="0" lang="en-US" altLang="zh-CN" sz="2000" i="1">
                <a:ea typeface="黑体" panose="02010609060101010101" pitchFamily="49" charset="-122"/>
              </a:rPr>
              <a:t>c</a:t>
            </a:r>
            <a:r>
              <a:rPr kumimoji="0" lang="en-US" altLang="zh-CN" sz="2000" baseline="-25000">
                <a:ea typeface="黑体" panose="02010609060101010101" pitchFamily="49" charset="-122"/>
              </a:rPr>
              <a:t>1</a:t>
            </a:r>
            <a:r>
              <a:rPr kumimoji="0" lang="en-US" altLang="zh-CN" sz="2000">
                <a:ea typeface="黑体" panose="02010609060101010101" pitchFamily="49" charset="-122"/>
              </a:rPr>
              <a:t>) then</a:t>
            </a:r>
            <a:br>
              <a:rPr kumimoji="0" lang="en-US" altLang="zh-CN" sz="2000" i="1">
                <a:ea typeface="黑体" panose="02010609060101010101" pitchFamily="49" charset="-122"/>
              </a:rPr>
            </a:br>
            <a:r>
              <a:rPr kumimoji="0" lang="en-US" altLang="zh-CN" sz="2000" i="1">
                <a:ea typeface="黑体" panose="02010609060101010101" pitchFamily="49" charset="-122"/>
              </a:rPr>
              <a:t>firstpos</a:t>
            </a:r>
            <a:r>
              <a:rPr kumimoji="0" lang="en-US" altLang="zh-CN" sz="2000">
                <a:ea typeface="黑体" panose="02010609060101010101" pitchFamily="49" charset="-122"/>
              </a:rPr>
              <a:t>(</a:t>
            </a:r>
            <a:r>
              <a:rPr kumimoji="0" lang="en-US" altLang="zh-CN" sz="2000" i="1">
                <a:ea typeface="黑体" panose="02010609060101010101" pitchFamily="49" charset="-122"/>
              </a:rPr>
              <a:t>c</a:t>
            </a:r>
            <a:r>
              <a:rPr kumimoji="0" lang="en-US" altLang="zh-CN" sz="2000" baseline="-25000">
                <a:ea typeface="黑体" panose="02010609060101010101" pitchFamily="49" charset="-122"/>
              </a:rPr>
              <a:t>1</a:t>
            </a:r>
            <a:r>
              <a:rPr kumimoji="0" lang="en-US" altLang="zh-CN" sz="2000">
                <a:ea typeface="黑体" panose="02010609060101010101" pitchFamily="49" charset="-122"/>
              </a:rPr>
              <a:t>) </a:t>
            </a:r>
            <a:r>
              <a:rPr kumimoji="0" lang="en-US" altLang="zh-CN" sz="2000">
                <a:latin typeface="宋体" panose="02010600030101010101" pitchFamily="2" charset="-122"/>
              </a:rPr>
              <a:t>∪</a:t>
            </a:r>
            <a:r>
              <a:rPr kumimoji="0" lang="en-US" altLang="zh-CN" sz="2000">
                <a:ea typeface="黑体" panose="02010609060101010101" pitchFamily="49" charset="-122"/>
              </a:rPr>
              <a:t> </a:t>
            </a:r>
            <a:r>
              <a:rPr kumimoji="0" lang="en-US" altLang="zh-CN" sz="2000" i="1">
                <a:ea typeface="黑体" panose="02010609060101010101" pitchFamily="49" charset="-122"/>
              </a:rPr>
              <a:t>firstpos</a:t>
            </a:r>
            <a:r>
              <a:rPr kumimoji="0" lang="en-US" altLang="zh-CN" sz="2000">
                <a:ea typeface="黑体" panose="02010609060101010101" pitchFamily="49" charset="-122"/>
              </a:rPr>
              <a:t>(</a:t>
            </a:r>
            <a:r>
              <a:rPr kumimoji="0" lang="en-US" altLang="zh-CN" sz="2000" i="1">
                <a:ea typeface="黑体" panose="02010609060101010101" pitchFamily="49" charset="-122"/>
              </a:rPr>
              <a:t>c</a:t>
            </a:r>
            <a:r>
              <a:rPr kumimoji="0" lang="en-US" altLang="zh-CN" sz="2000" baseline="-25000">
                <a:ea typeface="黑体" panose="02010609060101010101" pitchFamily="49" charset="-122"/>
              </a:rPr>
              <a:t>2</a:t>
            </a:r>
            <a:r>
              <a:rPr kumimoji="0" lang="en-US" altLang="zh-CN" sz="2000">
                <a:ea typeface="黑体" panose="02010609060101010101" pitchFamily="49" charset="-122"/>
              </a:rPr>
              <a:t>)</a:t>
            </a:r>
            <a:br>
              <a:rPr kumimoji="0" lang="en-US" altLang="zh-CN" sz="2000">
                <a:ea typeface="黑体" panose="02010609060101010101" pitchFamily="49" charset="-122"/>
              </a:rPr>
            </a:br>
            <a:r>
              <a:rPr kumimoji="0" lang="en-US" altLang="zh-CN" sz="2000">
                <a:ea typeface="黑体" panose="02010609060101010101" pitchFamily="49" charset="-122"/>
              </a:rPr>
              <a:t>else </a:t>
            </a:r>
            <a:r>
              <a:rPr kumimoji="0" lang="en-US" altLang="zh-CN" sz="2000" i="1">
                <a:ea typeface="黑体" panose="02010609060101010101" pitchFamily="49" charset="-122"/>
              </a:rPr>
              <a:t>firstpos</a:t>
            </a:r>
            <a:r>
              <a:rPr kumimoji="0" lang="en-US" altLang="zh-CN" sz="2000">
                <a:ea typeface="黑体" panose="02010609060101010101" pitchFamily="49" charset="-122"/>
              </a:rPr>
              <a:t>(</a:t>
            </a:r>
            <a:r>
              <a:rPr kumimoji="0" lang="en-US" altLang="zh-CN" sz="2000" i="1">
                <a:ea typeface="黑体" panose="02010609060101010101" pitchFamily="49" charset="-122"/>
              </a:rPr>
              <a:t>c</a:t>
            </a:r>
            <a:r>
              <a:rPr kumimoji="0" lang="en-US" altLang="zh-CN" sz="2000" baseline="-25000">
                <a:ea typeface="黑体" panose="02010609060101010101" pitchFamily="49" charset="-122"/>
              </a:rPr>
              <a:t>1</a:t>
            </a:r>
            <a:r>
              <a:rPr kumimoji="0" lang="en-US" altLang="zh-CN" sz="2000"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73072" name="Text Box 27">
            <a:extLst>
              <a:ext uri="{FF2B5EF4-FFF2-40B4-BE49-F238E27FC236}">
                <a16:creationId xmlns:a16="http://schemas.microsoft.com/office/drawing/2014/main" id="{1DF77D16-C779-4924-83B4-B936EF7F4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3373438"/>
            <a:ext cx="3048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i="1">
                <a:ea typeface="黑体" panose="02010609060101010101" pitchFamily="49" charset="-122"/>
              </a:rPr>
              <a:t>firstpos</a:t>
            </a:r>
            <a:r>
              <a:rPr kumimoji="0" lang="en-US" altLang="zh-CN" sz="2000">
                <a:ea typeface="黑体" panose="02010609060101010101" pitchFamily="49" charset="-122"/>
              </a:rPr>
              <a:t>(</a:t>
            </a:r>
            <a:r>
              <a:rPr kumimoji="0" lang="en-US" altLang="zh-CN" sz="2000" i="1">
                <a:ea typeface="黑体" panose="02010609060101010101" pitchFamily="49" charset="-122"/>
              </a:rPr>
              <a:t>c</a:t>
            </a:r>
            <a:r>
              <a:rPr kumimoji="0" lang="en-US" altLang="zh-CN" sz="2000" baseline="-25000">
                <a:ea typeface="黑体" panose="02010609060101010101" pitchFamily="49" charset="-122"/>
              </a:rPr>
              <a:t>1</a:t>
            </a:r>
            <a:r>
              <a:rPr kumimoji="0" lang="en-US" altLang="zh-CN" sz="2000">
                <a:ea typeface="黑体" panose="02010609060101010101" pitchFamily="49" charset="-122"/>
              </a:rPr>
              <a:t>)</a:t>
            </a:r>
          </a:p>
        </p:txBody>
      </p:sp>
      <p:pic>
        <p:nvPicPr>
          <p:cNvPr id="173073" name="Picture 29" descr="node2">
            <a:extLst>
              <a:ext uri="{FF2B5EF4-FFF2-40B4-BE49-F238E27FC236}">
                <a16:creationId xmlns:a16="http://schemas.microsoft.com/office/drawing/2014/main" id="{C4DE0F3A-BBF8-41DC-8748-C8EB0E950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078038"/>
            <a:ext cx="1247775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3074" name="Picture 30" descr="node3">
            <a:extLst>
              <a:ext uri="{FF2B5EF4-FFF2-40B4-BE49-F238E27FC236}">
                <a16:creationId xmlns:a16="http://schemas.microsoft.com/office/drawing/2014/main" id="{9D124290-F0FC-4A11-9525-CBE07A54E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176588"/>
            <a:ext cx="48260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7C5C0B9F-5479-4C65-8E33-24A307DC8C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计算</a:t>
            </a:r>
            <a:r>
              <a:rPr lang="en-US" altLang="zh-CN"/>
              <a:t>followpos</a:t>
            </a:r>
          </a:p>
        </p:txBody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375C92BA-0078-4993-9807-E590F48D88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altLang="zh-CN"/>
              <a:t>lastpos</a:t>
            </a:r>
            <a:r>
              <a:rPr lang="zh-CN" altLang="en-US"/>
              <a:t>计算同</a:t>
            </a:r>
            <a:r>
              <a:rPr lang="en-US" altLang="zh-CN"/>
              <a:t>firstpos</a:t>
            </a:r>
            <a:r>
              <a:rPr lang="zh-CN" altLang="en-US"/>
              <a:t>，</a:t>
            </a:r>
            <a:r>
              <a:rPr lang="en-US" altLang="zh-CN"/>
              <a:t>c</a:t>
            </a:r>
            <a:r>
              <a:rPr lang="en-US" altLang="zh-CN" baseline="-25000"/>
              <a:t>1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en-US" altLang="zh-CN" baseline="-25000"/>
              <a:t>2</a:t>
            </a:r>
            <a:r>
              <a:rPr lang="zh-CN" altLang="en-US"/>
              <a:t>交换即可</a:t>
            </a:r>
          </a:p>
          <a:p>
            <a:pPr marL="609600" indent="-609600" eaLnBrk="1" hangingPunct="1"/>
            <a:r>
              <a:rPr lang="en-US" altLang="zh-CN"/>
              <a:t>followpos</a:t>
            </a:r>
            <a:r>
              <a:rPr lang="zh-CN" altLang="en-US"/>
              <a:t>的计算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i="1"/>
              <a:t>n</a:t>
            </a:r>
            <a:r>
              <a:rPr lang="en-US" altLang="zh-CN"/>
              <a:t>——</a:t>
            </a:r>
            <a:r>
              <a:rPr lang="en-US" altLang="zh-CN">
                <a:ea typeface="黑体" panose="02010609060101010101" pitchFamily="49" charset="-122"/>
              </a:rPr>
              <a:t>·</a:t>
            </a:r>
            <a:r>
              <a:rPr lang="zh-CN" altLang="en-US"/>
              <a:t>结点，左孩子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zh-CN" altLang="en-US"/>
              <a:t>，右孩子</a:t>
            </a:r>
            <a:r>
              <a:rPr lang="en-US" altLang="zh-CN" i="1"/>
              <a:t>c</a:t>
            </a:r>
            <a:r>
              <a:rPr lang="en-US" altLang="zh-CN" baseline="-25000"/>
              <a:t>2</a:t>
            </a:r>
            <a:r>
              <a:rPr lang="zh-CN" altLang="en-US"/>
              <a:t>，</a:t>
            </a:r>
            <a:br>
              <a:rPr lang="zh-CN" altLang="en-US" baseline="-25000"/>
            </a:br>
            <a:r>
              <a:rPr lang="en-US" altLang="zh-CN" i="1"/>
              <a:t>i</a:t>
            </a:r>
            <a:r>
              <a:rPr lang="en-US" altLang="zh-CN">
                <a:latin typeface="宋体" panose="02010600030101010101" pitchFamily="2" charset="-122"/>
              </a:rPr>
              <a:t>∈</a:t>
            </a:r>
            <a:r>
              <a:rPr lang="en-US" altLang="zh-CN" i="1"/>
              <a:t>lastpos</a:t>
            </a:r>
            <a:r>
              <a:rPr lang="en-US" altLang="zh-CN"/>
              <a:t>(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 i="1"/>
              <a:t>c</a:t>
            </a:r>
            <a:r>
              <a:rPr lang="en-US" altLang="zh-CN" baseline="-25000"/>
              <a:t>1</a:t>
            </a:r>
            <a:r>
              <a:rPr lang="zh-CN" altLang="en-US"/>
              <a:t>的尾位置</a:t>
            </a:r>
            <a:r>
              <a:rPr lang="zh-CN" altLang="en-US">
                <a:sym typeface="Wingdings" panose="05000000000000000000" pitchFamily="2" charset="2"/>
              </a:rPr>
              <a:t>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对所有</a:t>
            </a:r>
            <a:r>
              <a:rPr lang="en-US" altLang="zh-CN" i="1">
                <a:sym typeface="Wingdings" panose="05000000000000000000" pitchFamily="2" charset="2"/>
              </a:rPr>
              <a:t>j</a:t>
            </a:r>
            <a:r>
              <a:rPr lang="en-US" altLang="zh-CN">
                <a:latin typeface="宋体" panose="02010600030101010101" pitchFamily="2" charset="-122"/>
              </a:rPr>
              <a:t>∈</a:t>
            </a:r>
            <a:r>
              <a:rPr lang="en-US" altLang="zh-CN" i="1"/>
              <a:t>firstpos</a:t>
            </a:r>
            <a:r>
              <a:rPr lang="en-US" altLang="zh-CN"/>
              <a:t>(</a:t>
            </a:r>
            <a:r>
              <a:rPr lang="en-US" altLang="zh-CN" i="1"/>
              <a:t>c</a:t>
            </a:r>
            <a:r>
              <a:rPr lang="en-US" altLang="zh-CN" baseline="-25000"/>
              <a:t>2</a:t>
            </a:r>
            <a:r>
              <a:rPr lang="en-US" altLang="zh-CN"/>
              <a:t>) </a:t>
            </a:r>
            <a:r>
              <a:rPr lang="zh-CN" altLang="en-US"/>
              <a:t>，</a:t>
            </a:r>
            <a:r>
              <a:rPr lang="en-US" altLang="zh-CN" i="1"/>
              <a:t>j</a:t>
            </a:r>
            <a:r>
              <a:rPr lang="en-US" altLang="zh-CN">
                <a:latin typeface="宋体" panose="02010600030101010101" pitchFamily="2" charset="-122"/>
              </a:rPr>
              <a:t>∈</a:t>
            </a:r>
            <a:r>
              <a:rPr lang="en-US" altLang="zh-CN" i="1"/>
              <a:t>followpos</a:t>
            </a:r>
            <a:r>
              <a:rPr lang="en-US" altLang="zh-CN"/>
              <a:t>(</a:t>
            </a:r>
            <a:r>
              <a:rPr lang="en-US" altLang="zh-CN" i="1"/>
              <a:t>i</a:t>
            </a:r>
            <a:r>
              <a:rPr lang="en-US" altLang="zh-CN"/>
              <a:t>)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i="1"/>
              <a:t>n——</a:t>
            </a:r>
            <a:r>
              <a:rPr lang="en-US" altLang="zh-CN"/>
              <a:t>*</a:t>
            </a:r>
            <a:r>
              <a:rPr lang="zh-CN" altLang="en-US"/>
              <a:t>结点，</a:t>
            </a:r>
            <a:br>
              <a:rPr lang="zh-CN" altLang="en-US"/>
            </a:br>
            <a:r>
              <a:rPr lang="en-US" altLang="zh-CN" i="1"/>
              <a:t>i</a:t>
            </a:r>
            <a:r>
              <a:rPr lang="en-US" altLang="zh-CN">
                <a:latin typeface="宋体" panose="02010600030101010101" pitchFamily="2" charset="-122"/>
              </a:rPr>
              <a:t>∈</a:t>
            </a:r>
            <a:r>
              <a:rPr lang="en-US" altLang="zh-CN" i="1"/>
              <a:t>lastpos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</a:t>
            </a:r>
            <a:r>
              <a:rPr lang="zh-CN" altLang="en-US"/>
              <a:t>，</a:t>
            </a:r>
            <a:r>
              <a:rPr lang="en-US" altLang="zh-CN" i="1"/>
              <a:t>n</a:t>
            </a:r>
            <a:r>
              <a:rPr lang="zh-CN" altLang="en-US"/>
              <a:t>的尾位置</a:t>
            </a:r>
            <a:r>
              <a:rPr lang="zh-CN" altLang="en-US">
                <a:sym typeface="Wingdings" panose="05000000000000000000" pitchFamily="2" charset="2"/>
              </a:rPr>
              <a:t>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对所有</a:t>
            </a:r>
            <a:r>
              <a:rPr lang="en-US" altLang="zh-CN" i="1">
                <a:sym typeface="Wingdings" panose="05000000000000000000" pitchFamily="2" charset="2"/>
              </a:rPr>
              <a:t>j</a:t>
            </a:r>
            <a:r>
              <a:rPr lang="en-US" altLang="zh-CN">
                <a:latin typeface="宋体" panose="02010600030101010101" pitchFamily="2" charset="-122"/>
              </a:rPr>
              <a:t>∈</a:t>
            </a:r>
            <a:r>
              <a:rPr lang="en-US" altLang="zh-CN" i="1"/>
              <a:t>firstpos</a:t>
            </a:r>
            <a:r>
              <a:rPr lang="en-US" altLang="zh-CN"/>
              <a:t>(</a:t>
            </a:r>
            <a:r>
              <a:rPr lang="en-US" altLang="zh-CN" i="1"/>
              <a:t>n</a:t>
            </a:r>
            <a:r>
              <a:rPr lang="en-US" altLang="zh-CN"/>
              <a:t>) </a:t>
            </a:r>
            <a:r>
              <a:rPr lang="zh-CN" altLang="en-US"/>
              <a:t>， </a:t>
            </a:r>
            <a:r>
              <a:rPr lang="en-US" altLang="zh-CN" i="1"/>
              <a:t>j</a:t>
            </a:r>
            <a:r>
              <a:rPr lang="en-US" altLang="zh-CN">
                <a:latin typeface="宋体" panose="02010600030101010101" pitchFamily="2" charset="-122"/>
              </a:rPr>
              <a:t>∈</a:t>
            </a:r>
            <a:r>
              <a:rPr lang="en-US" altLang="zh-CN" i="1"/>
              <a:t>followpos</a:t>
            </a:r>
            <a:r>
              <a:rPr lang="en-US" altLang="zh-CN"/>
              <a:t>(</a:t>
            </a:r>
            <a:r>
              <a:rPr lang="en-US" altLang="zh-CN" i="1"/>
              <a:t>i</a:t>
            </a:r>
            <a:r>
              <a:rPr lang="en-US" altLang="zh-CN"/>
              <a:t>)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106" name="Picture 18" descr="syntree2">
            <a:extLst>
              <a:ext uri="{FF2B5EF4-FFF2-40B4-BE49-F238E27FC236}">
                <a16:creationId xmlns:a16="http://schemas.microsoft.com/office/drawing/2014/main" id="{EDC0D637-6EE6-4363-B14E-FBF698F27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4419600" cy="419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5107" name="Rectangle 2">
            <a:extLst>
              <a:ext uri="{FF2B5EF4-FFF2-40B4-BE49-F238E27FC236}">
                <a16:creationId xmlns:a16="http://schemas.microsoft.com/office/drawing/2014/main" id="{86DE58D3-6758-440C-8B60-B215D03C41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3.22</a:t>
            </a:r>
          </a:p>
        </p:txBody>
      </p:sp>
      <p:sp>
        <p:nvSpPr>
          <p:cNvPr id="175108" name="Text Box 6">
            <a:extLst>
              <a:ext uri="{FF2B5EF4-FFF2-40B4-BE49-F238E27FC236}">
                <a16:creationId xmlns:a16="http://schemas.microsoft.com/office/drawing/2014/main" id="{33ADE3E9-FA90-43C3-AD86-4FC198D03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1323975"/>
            <a:ext cx="1447800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800" b="0">
                <a:ea typeface="黑体" panose="02010609060101010101" pitchFamily="49" charset="-122"/>
              </a:rPr>
              <a:t>位置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ea typeface="黑体" panose="02010609060101010101" pitchFamily="49" charset="-122"/>
              </a:rPr>
              <a:t>1</a:t>
            </a:r>
            <a:br>
              <a:rPr kumimoji="0" lang="en-US" altLang="zh-CN" sz="2800">
                <a:ea typeface="黑体" panose="02010609060101010101" pitchFamily="49" charset="-122"/>
              </a:rPr>
            </a:br>
            <a:r>
              <a:rPr kumimoji="0" lang="en-US" altLang="zh-CN" sz="2800">
                <a:ea typeface="黑体" panose="02010609060101010101" pitchFamily="49" charset="-122"/>
              </a:rPr>
              <a:t>2</a:t>
            </a:r>
            <a:br>
              <a:rPr kumimoji="0" lang="en-US" altLang="zh-CN" sz="2800">
                <a:ea typeface="黑体" panose="02010609060101010101" pitchFamily="49" charset="-122"/>
              </a:rPr>
            </a:br>
            <a:r>
              <a:rPr kumimoji="0" lang="en-US" altLang="zh-CN" sz="2800">
                <a:ea typeface="黑体" panose="02010609060101010101" pitchFamily="49" charset="-122"/>
              </a:rPr>
              <a:t>3</a:t>
            </a:r>
            <a:br>
              <a:rPr kumimoji="0" lang="en-US" altLang="zh-CN" sz="2800">
                <a:ea typeface="黑体" panose="02010609060101010101" pitchFamily="49" charset="-122"/>
              </a:rPr>
            </a:br>
            <a:r>
              <a:rPr kumimoji="0" lang="en-US" altLang="zh-CN" sz="2800">
                <a:ea typeface="黑体" panose="02010609060101010101" pitchFamily="49" charset="-122"/>
              </a:rPr>
              <a:t>4</a:t>
            </a:r>
            <a:br>
              <a:rPr kumimoji="0" lang="en-US" altLang="zh-CN" sz="2800">
                <a:ea typeface="黑体" panose="02010609060101010101" pitchFamily="49" charset="-122"/>
              </a:rPr>
            </a:br>
            <a:r>
              <a:rPr kumimoji="0" lang="en-US" altLang="zh-CN" sz="2800">
                <a:ea typeface="黑体" panose="02010609060101010101" pitchFamily="49" charset="-122"/>
              </a:rPr>
              <a:t>5</a:t>
            </a:r>
            <a:br>
              <a:rPr kumimoji="0" lang="en-US" altLang="zh-CN" sz="2800">
                <a:ea typeface="黑体" panose="02010609060101010101" pitchFamily="49" charset="-122"/>
              </a:rPr>
            </a:br>
            <a:r>
              <a:rPr kumimoji="0" lang="en-US" altLang="zh-CN" sz="2800">
                <a:ea typeface="黑体" panose="02010609060101010101" pitchFamily="49" charset="-122"/>
              </a:rPr>
              <a:t>6</a:t>
            </a:r>
          </a:p>
        </p:txBody>
      </p:sp>
      <p:sp>
        <p:nvSpPr>
          <p:cNvPr id="175109" name="Line 7">
            <a:extLst>
              <a:ext uri="{FF2B5EF4-FFF2-40B4-BE49-F238E27FC236}">
                <a16:creationId xmlns:a16="http://schemas.microsoft.com/office/drawing/2014/main" id="{E92053BC-2DA9-451C-9BE6-75CA2AA6550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4500" y="1416050"/>
            <a:ext cx="3238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10" name="Line 8">
            <a:extLst>
              <a:ext uri="{FF2B5EF4-FFF2-40B4-BE49-F238E27FC236}">
                <a16:creationId xmlns:a16="http://schemas.microsoft.com/office/drawing/2014/main" id="{351DE571-5E38-45C5-8D1B-8CEB60F3EA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4500" y="1295400"/>
            <a:ext cx="3238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11" name="Line 9">
            <a:extLst>
              <a:ext uri="{FF2B5EF4-FFF2-40B4-BE49-F238E27FC236}">
                <a16:creationId xmlns:a16="http://schemas.microsoft.com/office/drawing/2014/main" id="{1F6E78FE-9F89-42B0-8043-6628A489F5F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0" y="1416050"/>
            <a:ext cx="0" cy="3184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12" name="Text Box 10">
            <a:extLst>
              <a:ext uri="{FF2B5EF4-FFF2-40B4-BE49-F238E27FC236}">
                <a16:creationId xmlns:a16="http://schemas.microsoft.com/office/drawing/2014/main" id="{3EB0E9DD-1684-48DD-A8CE-3D5DF83876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1323975"/>
            <a:ext cx="1600200" cy="3295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 i="1">
                <a:ea typeface="黑体" panose="02010609060101010101" pitchFamily="49" charset="-122"/>
              </a:rPr>
              <a:t>followpos</a:t>
            </a:r>
            <a:endParaRPr kumimoji="0" lang="en-US" altLang="zh-CN" sz="2800" b="0">
              <a:ea typeface="黑体" panose="02010609060101010101" pitchFamily="49" charset="-122"/>
            </a:endParaRP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800">
                <a:ea typeface="黑体" panose="02010609060101010101" pitchFamily="49" charset="-122"/>
              </a:rPr>
              <a:t>{</a:t>
            </a:r>
            <a:r>
              <a:rPr kumimoji="0" lang="en-US" altLang="zh-CN" sz="2800">
                <a:solidFill>
                  <a:srgbClr val="3333CC"/>
                </a:solidFill>
                <a:ea typeface="黑体" panose="02010609060101010101" pitchFamily="49" charset="-122"/>
              </a:rPr>
              <a:t>1</a:t>
            </a:r>
            <a:r>
              <a:rPr kumimoji="0" lang="en-US" altLang="zh-CN" sz="2800">
                <a:ea typeface="黑体" panose="02010609060101010101" pitchFamily="49" charset="-122"/>
              </a:rPr>
              <a:t>,</a:t>
            </a:r>
            <a:r>
              <a:rPr kumimoji="0" lang="en-US" altLang="zh-CN" sz="2800">
                <a:solidFill>
                  <a:srgbClr val="3333CC"/>
                </a:solidFill>
                <a:ea typeface="黑体" panose="02010609060101010101" pitchFamily="49" charset="-122"/>
              </a:rPr>
              <a:t>2</a:t>
            </a:r>
            <a:r>
              <a:rPr kumimoji="0" lang="en-US" altLang="zh-CN" sz="2800">
                <a:ea typeface="黑体" panose="02010609060101010101" pitchFamily="49" charset="-122"/>
              </a:rPr>
              <a:t>,</a:t>
            </a:r>
            <a:r>
              <a:rPr kumimoji="0" lang="en-US" altLang="zh-CN" sz="2800">
                <a:solidFill>
                  <a:srgbClr val="FF3300"/>
                </a:solidFill>
                <a:ea typeface="黑体" panose="02010609060101010101" pitchFamily="49" charset="-122"/>
              </a:rPr>
              <a:t>3</a:t>
            </a:r>
            <a:r>
              <a:rPr kumimoji="0" lang="en-US" altLang="zh-CN" sz="2800">
                <a:ea typeface="黑体" panose="02010609060101010101" pitchFamily="49" charset="-122"/>
              </a:rPr>
              <a:t>}</a:t>
            </a:r>
            <a:br>
              <a:rPr kumimoji="0" lang="en-US" altLang="zh-CN" sz="2800">
                <a:ea typeface="黑体" panose="02010609060101010101" pitchFamily="49" charset="-122"/>
              </a:rPr>
            </a:br>
            <a:r>
              <a:rPr kumimoji="0" lang="en-US" altLang="zh-CN" sz="2800">
                <a:ea typeface="黑体" panose="02010609060101010101" pitchFamily="49" charset="-122"/>
              </a:rPr>
              <a:t>{</a:t>
            </a:r>
            <a:r>
              <a:rPr kumimoji="0" lang="en-US" altLang="zh-CN" sz="2800">
                <a:solidFill>
                  <a:srgbClr val="3333CC"/>
                </a:solidFill>
                <a:ea typeface="黑体" panose="02010609060101010101" pitchFamily="49" charset="-122"/>
              </a:rPr>
              <a:t>1</a:t>
            </a:r>
            <a:r>
              <a:rPr kumimoji="0" lang="en-US" altLang="zh-CN" sz="2800">
                <a:ea typeface="黑体" panose="02010609060101010101" pitchFamily="49" charset="-122"/>
              </a:rPr>
              <a:t>,</a:t>
            </a:r>
            <a:r>
              <a:rPr kumimoji="0" lang="en-US" altLang="zh-CN" sz="2800">
                <a:solidFill>
                  <a:srgbClr val="3333CC"/>
                </a:solidFill>
                <a:ea typeface="黑体" panose="02010609060101010101" pitchFamily="49" charset="-122"/>
              </a:rPr>
              <a:t>2</a:t>
            </a:r>
            <a:r>
              <a:rPr kumimoji="0" lang="en-US" altLang="zh-CN" sz="2800">
                <a:ea typeface="黑体" panose="02010609060101010101" pitchFamily="49" charset="-122"/>
              </a:rPr>
              <a:t>,</a:t>
            </a:r>
            <a:r>
              <a:rPr kumimoji="0" lang="en-US" altLang="zh-CN" sz="2800">
                <a:solidFill>
                  <a:srgbClr val="FF3300"/>
                </a:solidFill>
                <a:ea typeface="黑体" panose="02010609060101010101" pitchFamily="49" charset="-122"/>
              </a:rPr>
              <a:t>3</a:t>
            </a:r>
            <a:r>
              <a:rPr kumimoji="0" lang="en-US" altLang="zh-CN" sz="2800">
                <a:ea typeface="黑体" panose="02010609060101010101" pitchFamily="49" charset="-122"/>
              </a:rPr>
              <a:t>}</a:t>
            </a:r>
            <a:br>
              <a:rPr kumimoji="0" lang="en-US" altLang="zh-CN" sz="2800">
                <a:ea typeface="黑体" panose="02010609060101010101" pitchFamily="49" charset="-122"/>
              </a:rPr>
            </a:br>
            <a:r>
              <a:rPr kumimoji="0" lang="en-US" altLang="zh-CN" sz="2800">
                <a:ea typeface="黑体" panose="02010609060101010101" pitchFamily="49" charset="-122"/>
              </a:rPr>
              <a:t>{</a:t>
            </a:r>
            <a:r>
              <a:rPr kumimoji="0" lang="en-US" altLang="zh-CN" sz="2800">
                <a:solidFill>
                  <a:srgbClr val="009900"/>
                </a:solidFill>
                <a:ea typeface="黑体" panose="02010609060101010101" pitchFamily="49" charset="-122"/>
              </a:rPr>
              <a:t>4</a:t>
            </a:r>
            <a:r>
              <a:rPr kumimoji="0" lang="en-US" altLang="zh-CN" sz="2800">
                <a:ea typeface="黑体" panose="02010609060101010101" pitchFamily="49" charset="-122"/>
              </a:rPr>
              <a:t>}</a:t>
            </a:r>
            <a:br>
              <a:rPr kumimoji="0" lang="en-US" altLang="zh-CN" sz="2800">
                <a:ea typeface="黑体" panose="02010609060101010101" pitchFamily="49" charset="-122"/>
              </a:rPr>
            </a:br>
            <a:r>
              <a:rPr kumimoji="0" lang="en-US" altLang="zh-CN" sz="2800">
                <a:ea typeface="黑体" panose="02010609060101010101" pitchFamily="49" charset="-122"/>
              </a:rPr>
              <a:t>{</a:t>
            </a:r>
            <a:r>
              <a:rPr kumimoji="0" lang="en-US" altLang="zh-CN" sz="2800">
                <a:solidFill>
                  <a:srgbClr val="800000"/>
                </a:solidFill>
                <a:ea typeface="黑体" panose="02010609060101010101" pitchFamily="49" charset="-122"/>
              </a:rPr>
              <a:t>5</a:t>
            </a:r>
            <a:r>
              <a:rPr kumimoji="0" lang="en-US" altLang="zh-CN" sz="2800">
                <a:ea typeface="黑体" panose="02010609060101010101" pitchFamily="49" charset="-122"/>
              </a:rPr>
              <a:t>}</a:t>
            </a:r>
            <a:br>
              <a:rPr kumimoji="0" lang="en-US" altLang="zh-CN" sz="2800">
                <a:ea typeface="黑体" panose="02010609060101010101" pitchFamily="49" charset="-122"/>
              </a:rPr>
            </a:br>
            <a:r>
              <a:rPr kumimoji="0" lang="en-US" altLang="zh-CN" sz="2800">
                <a:ea typeface="黑体" panose="02010609060101010101" pitchFamily="49" charset="-122"/>
              </a:rPr>
              <a:t>{6}</a:t>
            </a:r>
            <a:br>
              <a:rPr kumimoji="0" lang="en-US" altLang="zh-CN" sz="2800">
                <a:ea typeface="黑体" panose="02010609060101010101" pitchFamily="49" charset="-122"/>
              </a:rPr>
            </a:br>
            <a:r>
              <a:rPr kumimoji="0" lang="en-US" altLang="zh-CN" sz="2800">
                <a:ea typeface="黑体" panose="02010609060101010101" pitchFamily="49" charset="-122"/>
              </a:rPr>
              <a:t>-</a:t>
            </a:r>
          </a:p>
        </p:txBody>
      </p:sp>
      <p:sp>
        <p:nvSpPr>
          <p:cNvPr id="175113" name="Line 16">
            <a:extLst>
              <a:ext uri="{FF2B5EF4-FFF2-40B4-BE49-F238E27FC236}">
                <a16:creationId xmlns:a16="http://schemas.microsoft.com/office/drawing/2014/main" id="{183B5238-27C4-4B60-ACA5-0C57B9D499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4500" y="1828800"/>
            <a:ext cx="3238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5114" name="Line 17">
            <a:extLst>
              <a:ext uri="{FF2B5EF4-FFF2-40B4-BE49-F238E27FC236}">
                <a16:creationId xmlns:a16="http://schemas.microsoft.com/office/drawing/2014/main" id="{81AAE5B5-0D75-4D87-BDDA-920CE2606C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24500" y="4600575"/>
            <a:ext cx="3238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78FEF016-9534-455B-BC88-433E51C1FC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例</a:t>
            </a:r>
            <a:r>
              <a:rPr lang="en-US" altLang="zh-CN"/>
              <a:t>3.22</a:t>
            </a:r>
            <a:r>
              <a:rPr lang="zh-CN" altLang="en-US"/>
              <a:t>（续）</a:t>
            </a:r>
          </a:p>
        </p:txBody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714CD265-9DF6-447E-B99D-B1988E8311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505200"/>
            <a:ext cx="7772400" cy="2743200"/>
          </a:xfrm>
        </p:spPr>
        <p:txBody>
          <a:bodyPr/>
          <a:lstStyle/>
          <a:p>
            <a:pPr marL="609600" indent="-609600" eaLnBrk="1" hangingPunct="1"/>
            <a:r>
              <a:rPr lang="zh-CN" altLang="en-US"/>
              <a:t>有向图</a:t>
            </a:r>
          </a:p>
          <a:p>
            <a:pPr marL="990600" lvl="1" indent="-533400" eaLnBrk="1" hangingPunct="1"/>
            <a:r>
              <a:rPr lang="zh-CN" altLang="en-US"/>
              <a:t>位置</a:t>
            </a:r>
            <a:r>
              <a:rPr lang="en-US" altLang="zh-CN">
                <a:latin typeface="Tahoma" panose="020B0604030504040204" pitchFamily="34" charset="0"/>
              </a:rPr>
              <a:t>——</a:t>
            </a:r>
            <a:r>
              <a:rPr lang="zh-CN" altLang="en-US"/>
              <a:t>状态，</a:t>
            </a:r>
            <a:r>
              <a:rPr lang="en-US" altLang="zh-CN" i="1"/>
              <a:t>j</a:t>
            </a:r>
            <a:r>
              <a:rPr lang="en-US" altLang="zh-CN"/>
              <a:t>∈</a:t>
            </a:r>
            <a:r>
              <a:rPr lang="en-US" altLang="zh-CN" i="1"/>
              <a:t>followpos</a:t>
            </a:r>
            <a:r>
              <a:rPr lang="en-US" altLang="zh-CN"/>
              <a:t>(</a:t>
            </a:r>
            <a:r>
              <a:rPr lang="en-US" altLang="zh-CN" i="1"/>
              <a:t>i</a:t>
            </a:r>
            <a:r>
              <a:rPr lang="en-US" altLang="zh-CN"/>
              <a:t>)</a:t>
            </a:r>
            <a:r>
              <a:rPr lang="en-US" altLang="zh-CN">
                <a:latin typeface="Tahoma" panose="020B0604030504040204" pitchFamily="34" charset="0"/>
              </a:rPr>
              <a:t>——</a:t>
            </a:r>
            <a:r>
              <a:rPr lang="zh-CN" altLang="en-US"/>
              <a:t>边</a:t>
            </a:r>
            <a:r>
              <a:rPr lang="en-US" altLang="zh-CN" i="1"/>
              <a:t>i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 i="1">
                <a:sym typeface="Symbol" panose="05050102010706020507" pitchFamily="18" charset="2"/>
              </a:rPr>
              <a:t>j</a:t>
            </a:r>
          </a:p>
        </p:txBody>
      </p:sp>
      <p:pic>
        <p:nvPicPr>
          <p:cNvPr id="176132" name="Picture 4" descr="follow">
            <a:extLst>
              <a:ext uri="{FF2B5EF4-FFF2-40B4-BE49-F238E27FC236}">
                <a16:creationId xmlns:a16="http://schemas.microsoft.com/office/drawing/2014/main" id="{FD752723-2AC3-44DA-A596-A19834C58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25" y="1346200"/>
            <a:ext cx="536575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5">
            <a:extLst>
              <a:ext uri="{FF2B5EF4-FFF2-40B4-BE49-F238E27FC236}">
                <a16:creationId xmlns:a16="http://schemas.microsoft.com/office/drawing/2014/main" id="{9DEBB5BC-6639-4AD1-8F1A-5B303FAAF087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371600"/>
            <a:ext cx="5029200" cy="2057400"/>
            <a:chOff x="1008" y="864"/>
            <a:chExt cx="3168" cy="1296"/>
          </a:xfrm>
        </p:grpSpPr>
        <p:sp>
          <p:nvSpPr>
            <p:cNvPr id="176134" name="Text Box 5">
              <a:extLst>
                <a:ext uri="{FF2B5EF4-FFF2-40B4-BE49-F238E27FC236}">
                  <a16:creationId xmlns:a16="http://schemas.microsoft.com/office/drawing/2014/main" id="{B4491F3F-CD4F-45F8-A730-00BB2D9C03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0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a</a:t>
              </a:r>
            </a:p>
          </p:txBody>
        </p:sp>
        <p:sp>
          <p:nvSpPr>
            <p:cNvPr id="176135" name="Text Box 6">
              <a:extLst>
                <a:ext uri="{FF2B5EF4-FFF2-40B4-BE49-F238E27FC236}">
                  <a16:creationId xmlns:a16="http://schemas.microsoft.com/office/drawing/2014/main" id="{81248F86-CC2E-4B08-9DAB-A2DA1FF3A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86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a</a:t>
              </a:r>
            </a:p>
          </p:txBody>
        </p:sp>
        <p:sp>
          <p:nvSpPr>
            <p:cNvPr id="176136" name="Text Box 7">
              <a:extLst>
                <a:ext uri="{FF2B5EF4-FFF2-40B4-BE49-F238E27FC236}">
                  <a16:creationId xmlns:a16="http://schemas.microsoft.com/office/drawing/2014/main" id="{DD991EA3-9CE3-4ECF-8EE2-7B32093530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87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b</a:t>
              </a:r>
            </a:p>
          </p:txBody>
        </p:sp>
        <p:sp>
          <p:nvSpPr>
            <p:cNvPr id="176137" name="Text Box 8">
              <a:extLst>
                <a:ext uri="{FF2B5EF4-FFF2-40B4-BE49-F238E27FC236}">
                  <a16:creationId xmlns:a16="http://schemas.microsoft.com/office/drawing/2014/main" id="{ADBD16CE-41D3-4B06-B4A5-F8E27B313C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39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b</a:t>
              </a:r>
            </a:p>
          </p:txBody>
        </p:sp>
        <p:sp>
          <p:nvSpPr>
            <p:cNvPr id="176138" name="Text Box 10">
              <a:extLst>
                <a:ext uri="{FF2B5EF4-FFF2-40B4-BE49-F238E27FC236}">
                  <a16:creationId xmlns:a16="http://schemas.microsoft.com/office/drawing/2014/main" id="{F41069F9-E5D6-4F81-8C8B-7B7D822FA8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39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a</a:t>
              </a:r>
            </a:p>
          </p:txBody>
        </p:sp>
        <p:sp>
          <p:nvSpPr>
            <p:cNvPr id="176139" name="Text Box 11">
              <a:extLst>
                <a:ext uri="{FF2B5EF4-FFF2-40B4-BE49-F238E27FC236}">
                  <a16:creationId xmlns:a16="http://schemas.microsoft.com/office/drawing/2014/main" id="{E9F01070-18E6-455A-8CE3-573C291808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29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a</a:t>
              </a:r>
            </a:p>
          </p:txBody>
        </p:sp>
        <p:sp>
          <p:nvSpPr>
            <p:cNvPr id="176140" name="Text Box 12">
              <a:extLst>
                <a:ext uri="{FF2B5EF4-FFF2-40B4-BE49-F238E27FC236}">
                  <a16:creationId xmlns:a16="http://schemas.microsoft.com/office/drawing/2014/main" id="{106A599F-60BD-48AC-B54C-6F8D4236CA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29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b</a:t>
              </a:r>
            </a:p>
          </p:txBody>
        </p:sp>
        <p:sp>
          <p:nvSpPr>
            <p:cNvPr id="176141" name="Text Box 13">
              <a:extLst>
                <a:ext uri="{FF2B5EF4-FFF2-40B4-BE49-F238E27FC236}">
                  <a16:creationId xmlns:a16="http://schemas.microsoft.com/office/drawing/2014/main" id="{03BDCDAD-DC8D-4F2F-95D2-12B948FB38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72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b</a:t>
              </a:r>
            </a:p>
          </p:txBody>
        </p:sp>
        <p:sp>
          <p:nvSpPr>
            <p:cNvPr id="176142" name="Text Box 14">
              <a:extLst>
                <a:ext uri="{FF2B5EF4-FFF2-40B4-BE49-F238E27FC236}">
                  <a16:creationId xmlns:a16="http://schemas.microsoft.com/office/drawing/2014/main" id="{4FA0173E-5EE7-44D9-867C-C86B8D9A1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b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ED61A4B6-65A0-4566-BEF2-7DCD8CBA99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3.22</a:t>
            </a:r>
            <a:r>
              <a:rPr lang="zh-CN" altLang="en-US"/>
              <a:t>（续）</a:t>
            </a:r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B100B440-8BC7-4668-BCD2-7616F4698A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505200"/>
            <a:ext cx="7772400" cy="33528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>
                <a:sym typeface="Symbol" panose="05050102010706020507" pitchFamily="18" charset="2"/>
              </a:rPr>
              <a:t>看作</a:t>
            </a:r>
            <a:r>
              <a:rPr lang="en-US" altLang="zh-CN" sz="2800">
                <a:sym typeface="Symbol" panose="05050102010706020507" pitchFamily="18" charset="2"/>
              </a:rPr>
              <a:t>NFA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 i="1">
                <a:sym typeface="Symbol" panose="05050102010706020507" pitchFamily="18" charset="2"/>
              </a:rPr>
              <a:t>firstpos</a:t>
            </a:r>
            <a:r>
              <a:rPr lang="en-US" altLang="zh-CN" sz="2400">
                <a:sym typeface="Symbol" panose="05050102010706020507" pitchFamily="18" charset="2"/>
              </a:rPr>
              <a:t>(root)</a:t>
            </a:r>
            <a:r>
              <a:rPr lang="zh-CN" altLang="en-US" sz="2400">
                <a:sym typeface="Symbol" panose="05050102010706020507" pitchFamily="18" charset="2"/>
              </a:rPr>
              <a:t>中的位置均为初态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zh-CN" altLang="en-US" sz="2400">
                <a:sym typeface="Symbol" panose="05050102010706020507" pitchFamily="18" charset="2"/>
              </a:rPr>
              <a:t>边</a:t>
            </a:r>
            <a:r>
              <a:rPr lang="en-US" altLang="zh-CN" sz="2400">
                <a:sym typeface="Symbol" panose="05050102010706020507" pitchFamily="18" charset="2"/>
              </a:rPr>
              <a:t>(</a:t>
            </a:r>
            <a:r>
              <a:rPr lang="en-US" altLang="zh-CN" sz="2400" i="1">
                <a:sym typeface="Symbol" panose="05050102010706020507" pitchFamily="18" charset="2"/>
              </a:rPr>
              <a:t>i</a:t>
            </a:r>
            <a:r>
              <a:rPr lang="en-US" altLang="zh-CN" sz="2400">
                <a:sym typeface="Symbol" panose="05050102010706020507" pitchFamily="18" charset="2"/>
              </a:rPr>
              <a:t>, </a:t>
            </a:r>
            <a:r>
              <a:rPr lang="en-US" altLang="zh-CN" sz="2400" i="1">
                <a:sym typeface="Symbol" panose="05050102010706020507" pitchFamily="18" charset="2"/>
              </a:rPr>
              <a:t>j</a:t>
            </a:r>
            <a:r>
              <a:rPr lang="en-US" altLang="zh-CN" sz="2400">
                <a:sym typeface="Symbol" panose="05050102010706020507" pitchFamily="18" charset="2"/>
              </a:rPr>
              <a:t>)</a:t>
            </a:r>
            <a:r>
              <a:rPr lang="zh-CN" altLang="en-US" sz="2400">
                <a:sym typeface="Symbol" panose="05050102010706020507" pitchFamily="18" charset="2"/>
              </a:rPr>
              <a:t>标记为位置</a:t>
            </a:r>
            <a:r>
              <a:rPr lang="en-US" altLang="zh-CN" sz="2400" i="1">
                <a:sym typeface="Symbol" panose="05050102010706020507" pitchFamily="18" charset="2"/>
              </a:rPr>
              <a:t>i</a:t>
            </a:r>
            <a:r>
              <a:rPr lang="zh-CN" altLang="en-US" sz="2400">
                <a:sym typeface="Symbol" panose="05050102010706020507" pitchFamily="18" charset="2"/>
              </a:rPr>
              <a:t>的符号</a:t>
            </a:r>
          </a:p>
          <a:p>
            <a:pPr marL="990600" lvl="1" indent="-5334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>
                <a:sym typeface="Symbol" panose="05050102010706020507" pitchFamily="18" charset="2"/>
              </a:rPr>
              <a:t>#</a:t>
            </a:r>
            <a:r>
              <a:rPr lang="zh-CN" altLang="en-US" sz="2400">
                <a:sym typeface="Symbol" panose="05050102010706020507" pitchFamily="18" charset="2"/>
              </a:rPr>
              <a:t>对应位置为唯一终态</a:t>
            </a:r>
          </a:p>
        </p:txBody>
      </p:sp>
      <p:pic>
        <p:nvPicPr>
          <p:cNvPr id="177156" name="Picture 4" descr="follow">
            <a:extLst>
              <a:ext uri="{FF2B5EF4-FFF2-40B4-BE49-F238E27FC236}">
                <a16:creationId xmlns:a16="http://schemas.microsoft.com/office/drawing/2014/main" id="{BA77A363-7FC3-41B3-9109-165754263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125" y="1346200"/>
            <a:ext cx="5365750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7157" name="Group 5">
            <a:extLst>
              <a:ext uri="{FF2B5EF4-FFF2-40B4-BE49-F238E27FC236}">
                <a16:creationId xmlns:a16="http://schemas.microsoft.com/office/drawing/2014/main" id="{166DED29-1495-4B85-8EC8-B05620FB3E97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371600"/>
            <a:ext cx="5029200" cy="2057400"/>
            <a:chOff x="1008" y="864"/>
            <a:chExt cx="3168" cy="1296"/>
          </a:xfrm>
        </p:grpSpPr>
        <p:sp>
          <p:nvSpPr>
            <p:cNvPr id="177158" name="Text Box 6">
              <a:extLst>
                <a:ext uri="{FF2B5EF4-FFF2-40B4-BE49-F238E27FC236}">
                  <a16:creationId xmlns:a16="http://schemas.microsoft.com/office/drawing/2014/main" id="{7F28A048-9B21-4E3C-A099-C3907D2F8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00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a</a:t>
              </a:r>
            </a:p>
          </p:txBody>
        </p:sp>
        <p:sp>
          <p:nvSpPr>
            <p:cNvPr id="177159" name="Text Box 7">
              <a:extLst>
                <a:ext uri="{FF2B5EF4-FFF2-40B4-BE49-F238E27FC236}">
                  <a16:creationId xmlns:a16="http://schemas.microsoft.com/office/drawing/2014/main" id="{DE7C0C94-EE0A-430D-B8ED-60E7F9D90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86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a</a:t>
              </a:r>
            </a:p>
          </p:txBody>
        </p:sp>
        <p:sp>
          <p:nvSpPr>
            <p:cNvPr id="177160" name="Text Box 8">
              <a:extLst>
                <a:ext uri="{FF2B5EF4-FFF2-40B4-BE49-F238E27FC236}">
                  <a16:creationId xmlns:a16="http://schemas.microsoft.com/office/drawing/2014/main" id="{C5A4A3C5-2F91-41D7-9B5C-4FBD9AE80B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87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b</a:t>
              </a:r>
            </a:p>
          </p:txBody>
        </p:sp>
        <p:sp>
          <p:nvSpPr>
            <p:cNvPr id="177161" name="Text Box 9">
              <a:extLst>
                <a:ext uri="{FF2B5EF4-FFF2-40B4-BE49-F238E27FC236}">
                  <a16:creationId xmlns:a16="http://schemas.microsoft.com/office/drawing/2014/main" id="{DEE42043-8AFE-4F59-87EF-AEDBCC66B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39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b</a:t>
              </a:r>
            </a:p>
          </p:txBody>
        </p:sp>
        <p:sp>
          <p:nvSpPr>
            <p:cNvPr id="177162" name="Text Box 10">
              <a:extLst>
                <a:ext uri="{FF2B5EF4-FFF2-40B4-BE49-F238E27FC236}">
                  <a16:creationId xmlns:a16="http://schemas.microsoft.com/office/drawing/2014/main" id="{D561C274-E065-43E0-9C8A-5EBCFDA23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1392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a</a:t>
              </a:r>
            </a:p>
          </p:txBody>
        </p:sp>
        <p:sp>
          <p:nvSpPr>
            <p:cNvPr id="177163" name="Text Box 11">
              <a:extLst>
                <a:ext uri="{FF2B5EF4-FFF2-40B4-BE49-F238E27FC236}">
                  <a16:creationId xmlns:a16="http://schemas.microsoft.com/office/drawing/2014/main" id="{8B0D10FE-FFD1-4C35-B2B8-809309A1AC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129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a</a:t>
              </a:r>
            </a:p>
          </p:txBody>
        </p:sp>
        <p:sp>
          <p:nvSpPr>
            <p:cNvPr id="177164" name="Text Box 12">
              <a:extLst>
                <a:ext uri="{FF2B5EF4-FFF2-40B4-BE49-F238E27FC236}">
                  <a16:creationId xmlns:a16="http://schemas.microsoft.com/office/drawing/2014/main" id="{E3A9D6A7-99C5-4CA9-B503-3DEA133EB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29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b</a:t>
              </a:r>
            </a:p>
          </p:txBody>
        </p:sp>
        <p:sp>
          <p:nvSpPr>
            <p:cNvPr id="177165" name="Text Box 13">
              <a:extLst>
                <a:ext uri="{FF2B5EF4-FFF2-40B4-BE49-F238E27FC236}">
                  <a16:creationId xmlns:a16="http://schemas.microsoft.com/office/drawing/2014/main" id="{B9A573ED-254E-452C-B3ED-8D2890498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728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b</a:t>
              </a:r>
            </a:p>
          </p:txBody>
        </p:sp>
        <p:sp>
          <p:nvSpPr>
            <p:cNvPr id="177166" name="Text Box 14">
              <a:extLst>
                <a:ext uri="{FF2B5EF4-FFF2-40B4-BE49-F238E27FC236}">
                  <a16:creationId xmlns:a16="http://schemas.microsoft.com/office/drawing/2014/main" id="{3E744B5B-0303-4A4F-B9B6-2BD9B0DE2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129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3333CC"/>
                  </a:solidFill>
                </a:rPr>
                <a:t>b</a:t>
              </a:r>
            </a:p>
          </p:txBody>
        </p:sp>
      </p:grp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>
            <a:extLst>
              <a:ext uri="{FF2B5EF4-FFF2-40B4-BE49-F238E27FC236}">
                <a16:creationId xmlns:a16="http://schemas.microsoft.com/office/drawing/2014/main" id="{494B5B8B-0FE2-4E1B-AA6D-664DA7D9F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3.5  </a:t>
            </a:r>
            <a:r>
              <a:rPr lang="zh-CN" altLang="en-US"/>
              <a:t>正规式直接构造</a:t>
            </a:r>
            <a:r>
              <a:rPr lang="en-US" altLang="zh-CN"/>
              <a:t>DFA</a:t>
            </a:r>
          </a:p>
        </p:txBody>
      </p:sp>
      <p:sp>
        <p:nvSpPr>
          <p:cNvPr id="178179" name="Rectangle 4">
            <a:extLst>
              <a:ext uri="{FF2B5EF4-FFF2-40B4-BE49-F238E27FC236}">
                <a16:creationId xmlns:a16="http://schemas.microsoft.com/office/drawing/2014/main" id="{0CF67084-05F8-4A6D-974C-9E0406BAD1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  <a:noFill/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输入：</a:t>
            </a:r>
            <a:r>
              <a:rPr kumimoji="0" lang="zh-CN" altLang="en-US" sz="2400">
                <a:sym typeface="Symbol" panose="05050102010706020507" pitchFamily="18" charset="2"/>
              </a:rPr>
              <a:t>一个正规式</a:t>
            </a:r>
            <a:r>
              <a:rPr kumimoji="0" lang="en-US" altLang="zh-CN" sz="2400">
                <a:sym typeface="Symbol" panose="05050102010706020507" pitchFamily="18" charset="2"/>
              </a:rPr>
              <a:t>r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400">
                <a:sym typeface="Symbol" panose="05050102010706020507" pitchFamily="18" charset="2"/>
              </a:rPr>
              <a:t>输出：一个</a:t>
            </a:r>
            <a:r>
              <a:rPr kumimoji="0" lang="en-US" altLang="zh-CN" sz="2400">
                <a:sym typeface="Symbol" panose="05050102010706020507" pitchFamily="18" charset="2"/>
              </a:rPr>
              <a:t>DFA D</a:t>
            </a:r>
            <a:r>
              <a:rPr kumimoji="0" lang="zh-CN" altLang="en-US" sz="2400">
                <a:sym typeface="Symbol" panose="05050102010706020507" pitchFamily="18" charset="2"/>
              </a:rPr>
              <a:t>，</a:t>
            </a:r>
            <a:r>
              <a:rPr kumimoji="0" lang="en-US" altLang="zh-CN" sz="2400">
                <a:sym typeface="Symbol" panose="05050102010706020507" pitchFamily="18" charset="2"/>
              </a:rPr>
              <a:t>L(D)=L(r)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400">
                <a:sym typeface="Symbol" panose="05050102010706020507" pitchFamily="18" charset="2"/>
              </a:rPr>
              <a:t>方法：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构造扩充正规式</a:t>
            </a:r>
            <a:r>
              <a:rPr kumimoji="0" lang="en-US" altLang="zh-CN" sz="2400">
                <a:sym typeface="Symbol" panose="05050102010706020507" pitchFamily="18" charset="2"/>
              </a:rPr>
              <a:t>(r)#</a:t>
            </a:r>
            <a:r>
              <a:rPr kumimoji="0" lang="zh-CN" altLang="en-US" sz="2400">
                <a:sym typeface="Symbol" panose="05050102010706020507" pitchFamily="18" charset="2"/>
              </a:rPr>
              <a:t>对应的语法树</a:t>
            </a:r>
            <a:r>
              <a:rPr kumimoji="0" lang="en-US" altLang="zh-CN" sz="2400">
                <a:sym typeface="Symbol" panose="05050102010706020507" pitchFamily="18" charset="2"/>
              </a:rPr>
              <a:t>T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深度优先搜索</a:t>
            </a:r>
            <a:r>
              <a:rPr kumimoji="0" lang="en-US" altLang="zh-CN" sz="2400">
                <a:sym typeface="Symbol" panose="05050102010706020507" pitchFamily="18" charset="2"/>
              </a:rPr>
              <a:t>T</a:t>
            </a:r>
            <a:r>
              <a:rPr kumimoji="0" lang="zh-CN" altLang="en-US" sz="2400">
                <a:sym typeface="Symbol" panose="05050102010706020507" pitchFamily="18" charset="2"/>
              </a:rPr>
              <a:t>，计算函数</a:t>
            </a:r>
            <a:r>
              <a:rPr kumimoji="0" lang="en-US" altLang="zh-CN" sz="2400" i="1">
                <a:sym typeface="Symbol" panose="05050102010706020507" pitchFamily="18" charset="2"/>
              </a:rPr>
              <a:t>nullable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 i="1">
                <a:sym typeface="Symbol" panose="05050102010706020507" pitchFamily="18" charset="2"/>
              </a:rPr>
              <a:t>firstpos</a:t>
            </a:r>
            <a:r>
              <a:rPr kumimoji="0" lang="en-US" altLang="zh-CN" sz="2400">
                <a:sym typeface="Symbol" panose="05050102010706020507" pitchFamily="18" charset="2"/>
              </a:rPr>
              <a:t>, </a:t>
            </a:r>
            <a:r>
              <a:rPr kumimoji="0" lang="en-US" altLang="zh-CN" sz="2400" i="1">
                <a:sym typeface="Symbol" panose="05050102010706020507" pitchFamily="18" charset="2"/>
              </a:rPr>
              <a:t>lastpos</a:t>
            </a:r>
            <a:r>
              <a:rPr kumimoji="0" lang="zh-CN" altLang="en-US" sz="2400">
                <a:sym typeface="Symbol" panose="05050102010706020507" pitchFamily="18" charset="2"/>
              </a:rPr>
              <a:t>和</a:t>
            </a:r>
            <a:r>
              <a:rPr kumimoji="0" lang="en-US" altLang="zh-CN" sz="2400" i="1">
                <a:sym typeface="Symbol" panose="05050102010706020507" pitchFamily="18" charset="2"/>
              </a:rPr>
              <a:t>followpos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构造</a:t>
            </a:r>
            <a:r>
              <a:rPr kumimoji="0" lang="en-US" altLang="zh-CN" sz="2400">
                <a:sym typeface="Symbol" panose="05050102010706020507" pitchFamily="18" charset="2"/>
              </a:rPr>
              <a:t>D</a:t>
            </a:r>
            <a:r>
              <a:rPr kumimoji="0" lang="zh-CN" altLang="en-US" sz="2400">
                <a:sym typeface="Symbol" panose="05050102010706020507" pitchFamily="18" charset="2"/>
              </a:rPr>
              <a:t>的状态集</a:t>
            </a:r>
            <a:r>
              <a:rPr kumimoji="0" lang="en-US" altLang="zh-CN" sz="2400">
                <a:sym typeface="Symbol" panose="05050102010706020507" pitchFamily="18" charset="2"/>
              </a:rPr>
              <a:t>Dstates</a:t>
            </a:r>
            <a:r>
              <a:rPr kumimoji="0" lang="zh-CN" altLang="en-US" sz="2400">
                <a:sym typeface="Symbol" panose="05050102010706020507" pitchFamily="18" charset="2"/>
              </a:rPr>
              <a:t>和状态转换表</a:t>
            </a:r>
            <a:r>
              <a:rPr kumimoji="0" lang="en-US" altLang="zh-CN" sz="2400">
                <a:sym typeface="Symbol" panose="05050102010706020507" pitchFamily="18" charset="2"/>
              </a:rPr>
              <a:t>Dtran</a:t>
            </a:r>
            <a:r>
              <a:rPr kumimoji="0" lang="zh-CN" altLang="en-US" sz="2400">
                <a:sym typeface="Symbol" panose="05050102010706020507" pitchFamily="18" charset="2"/>
              </a:rPr>
              <a:t>，算法如下所示。状态</a:t>
            </a:r>
            <a:r>
              <a:rPr kumimoji="0" lang="en-US" altLang="zh-CN" sz="2400">
                <a:sym typeface="Symbol" panose="05050102010706020507" pitchFamily="18" charset="2"/>
              </a:rPr>
              <a:t>——</a:t>
            </a:r>
            <a:r>
              <a:rPr kumimoji="0" lang="zh-CN" altLang="en-US" sz="2400">
                <a:sym typeface="Symbol" panose="05050102010706020507" pitchFamily="18" charset="2"/>
              </a:rPr>
              <a:t>位置集，</a:t>
            </a:r>
            <a:r>
              <a:rPr kumimoji="0" lang="en-US" altLang="zh-CN" sz="2400" i="1">
                <a:sym typeface="Symbol" panose="05050102010706020507" pitchFamily="18" charset="2"/>
              </a:rPr>
              <a:t>firstpos</a:t>
            </a:r>
            <a:r>
              <a:rPr kumimoji="0" lang="en-US" altLang="zh-CN" sz="2400">
                <a:sym typeface="Symbol" panose="05050102010706020507" pitchFamily="18" charset="2"/>
              </a:rPr>
              <a:t>(</a:t>
            </a:r>
            <a:r>
              <a:rPr kumimoji="0" lang="en-US" altLang="zh-CN" sz="2400" i="1">
                <a:sym typeface="Symbol" panose="05050102010706020507" pitchFamily="18" charset="2"/>
              </a:rPr>
              <a:t>root</a:t>
            </a:r>
            <a:r>
              <a:rPr kumimoji="0" lang="en-US" altLang="zh-CN" sz="2400">
                <a:sym typeface="Symbol" panose="05050102010706020507" pitchFamily="18" charset="2"/>
              </a:rPr>
              <a:t>) </a:t>
            </a:r>
            <a:r>
              <a:rPr kumimoji="0" lang="zh-CN" altLang="en-US" sz="2400">
                <a:sym typeface="Symbol" panose="05050102010706020507" pitchFamily="18" charset="2"/>
              </a:rPr>
              <a:t>为初态，</a:t>
            </a:r>
            <a:r>
              <a:rPr kumimoji="0" lang="en-US" altLang="zh-CN" sz="2400">
                <a:sym typeface="Symbol" panose="05050102010706020507" pitchFamily="18" charset="2"/>
              </a:rPr>
              <a:t>#</a:t>
            </a:r>
            <a:r>
              <a:rPr kumimoji="0" lang="zh-CN" altLang="en-US" sz="2400">
                <a:sym typeface="Symbol" panose="05050102010706020507" pitchFamily="18" charset="2"/>
              </a:rPr>
              <a:t>对应位置为终态。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endParaRPr kumimoji="0" lang="en-US" altLang="zh-CN" sz="2400" i="1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2F82F2C8-5379-4CE8-862C-B70485747E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3.5 </a:t>
            </a:r>
            <a:r>
              <a:rPr lang="zh-CN" altLang="en-US"/>
              <a:t>（续）</a:t>
            </a:r>
          </a:p>
        </p:txBody>
      </p:sp>
      <p:sp>
        <p:nvSpPr>
          <p:cNvPr id="179203" name="Rectangle 3">
            <a:extLst>
              <a:ext uri="{FF2B5EF4-FFF2-40B4-BE49-F238E27FC236}">
                <a16:creationId xmlns:a16="http://schemas.microsoft.com/office/drawing/2014/main" id="{091A11D6-0274-4533-8F8A-8F7624C6B3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  <a:noFill/>
        </p:spPr>
        <p:txBody>
          <a:bodyPr/>
          <a:lstStyle/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/>
              <a:t>构造</a:t>
            </a:r>
            <a:r>
              <a:rPr kumimoji="0" lang="en-US" altLang="zh-CN" sz="2000"/>
              <a:t>Dstates</a:t>
            </a:r>
            <a:r>
              <a:rPr kumimoji="0" lang="zh-CN" altLang="en-US" sz="2000"/>
              <a:t>和</a:t>
            </a:r>
            <a:r>
              <a:rPr kumimoji="0" lang="en-US" altLang="zh-CN" sz="2000"/>
              <a:t>Dtrans</a:t>
            </a:r>
            <a:r>
              <a:rPr kumimoji="0" lang="zh-CN" altLang="en-US" sz="2000"/>
              <a:t>算法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zh-CN" altLang="en-US" sz="2000"/>
              <a:t>初始，</a:t>
            </a:r>
            <a:r>
              <a:rPr kumimoji="0" lang="en-US" altLang="zh-CN" sz="2000"/>
              <a:t>Dstates</a:t>
            </a:r>
            <a:r>
              <a:rPr kumimoji="0" lang="zh-CN" altLang="en-US" sz="2000"/>
              <a:t>中唯一状态为</a:t>
            </a:r>
            <a:r>
              <a:rPr kumimoji="0" lang="en-US" altLang="zh-CN" sz="2000" i="1"/>
              <a:t>firstpos</a:t>
            </a:r>
            <a:r>
              <a:rPr kumimoji="0" lang="en-US" altLang="zh-CN" sz="2000"/>
              <a:t>(</a:t>
            </a:r>
            <a:r>
              <a:rPr kumimoji="0" lang="en-US" altLang="zh-CN" sz="2000" i="1"/>
              <a:t>root</a:t>
            </a:r>
            <a:r>
              <a:rPr kumimoji="0" lang="en-US" altLang="zh-CN" sz="2000"/>
              <a:t>)</a:t>
            </a:r>
            <a:r>
              <a:rPr kumimoji="0" lang="zh-CN" altLang="en-US" sz="2000"/>
              <a:t>，设为未标记，其中</a:t>
            </a:r>
            <a:r>
              <a:rPr kumimoji="0" lang="en-US" altLang="zh-CN" sz="2000"/>
              <a:t>root</a:t>
            </a:r>
            <a:r>
              <a:rPr kumimoji="0" lang="zh-CN" altLang="en-US" sz="2000"/>
              <a:t>为</a:t>
            </a:r>
            <a:r>
              <a:rPr kumimoji="0" lang="en-US" altLang="zh-CN" sz="2000"/>
              <a:t>(r)#</a:t>
            </a:r>
            <a:r>
              <a:rPr kumimoji="0" lang="zh-CN" altLang="en-US" sz="2000"/>
              <a:t>对应语法树的根</a:t>
            </a:r>
            <a:r>
              <a:rPr kumimoji="0" lang="en-US" altLang="zh-CN" sz="2000"/>
              <a:t>;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 b="1"/>
              <a:t>while</a:t>
            </a:r>
            <a:r>
              <a:rPr kumimoji="0" lang="en-US" altLang="zh-CN" sz="2000"/>
              <a:t> (Dstates</a:t>
            </a:r>
            <a:r>
              <a:rPr kumimoji="0" lang="zh-CN" altLang="en-US" sz="2000"/>
              <a:t>中有未标记状态</a:t>
            </a:r>
            <a:r>
              <a:rPr kumimoji="0" lang="en-US" altLang="zh-CN" sz="2000"/>
              <a:t>T) {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/>
              <a:t>	</a:t>
            </a:r>
            <a:r>
              <a:rPr kumimoji="0" lang="zh-CN" altLang="en-US" sz="2000"/>
              <a:t>标记</a:t>
            </a:r>
            <a:r>
              <a:rPr kumimoji="0" lang="en-US" altLang="zh-CN" sz="2000"/>
              <a:t>T;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/>
              <a:t>	</a:t>
            </a:r>
            <a:r>
              <a:rPr kumimoji="0" lang="en-US" altLang="zh-CN" sz="2000" b="1"/>
              <a:t>for </a:t>
            </a:r>
            <a:r>
              <a:rPr kumimoji="0" lang="zh-CN" altLang="en-US" sz="2000"/>
              <a:t>（每个符号</a:t>
            </a:r>
            <a:r>
              <a:rPr kumimoji="0" lang="en-US" altLang="zh-CN" sz="2000"/>
              <a:t>a) {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/>
              <a:t>		U=∪</a:t>
            </a:r>
            <a:r>
              <a:rPr kumimoji="0" lang="en-US" altLang="zh-CN" sz="2000" i="1"/>
              <a:t>followpos</a:t>
            </a:r>
            <a:r>
              <a:rPr kumimoji="0" lang="en-US" altLang="zh-CN" sz="2000"/>
              <a:t>(</a:t>
            </a:r>
            <a:r>
              <a:rPr kumimoji="0" lang="en-US" altLang="zh-CN" sz="2000" i="1"/>
              <a:t>p</a:t>
            </a:r>
            <a:r>
              <a:rPr kumimoji="0" lang="en-US" altLang="zh-CN" sz="2000"/>
              <a:t>) (p∈T, </a:t>
            </a:r>
            <a:r>
              <a:rPr kumimoji="0" lang="zh-CN" altLang="en-US" sz="2000"/>
              <a:t>且位置</a:t>
            </a:r>
            <a:r>
              <a:rPr kumimoji="0" lang="en-US" altLang="zh-CN" sz="2000"/>
              <a:t>p</a:t>
            </a:r>
            <a:r>
              <a:rPr kumimoji="0" lang="zh-CN" altLang="en-US" sz="2000"/>
              <a:t>处符号为</a:t>
            </a:r>
            <a:r>
              <a:rPr kumimoji="0" lang="en-US" altLang="zh-CN" sz="2000"/>
              <a:t>a);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/>
              <a:t>		</a:t>
            </a:r>
            <a:r>
              <a:rPr kumimoji="0" lang="en-US" altLang="zh-CN" sz="2000" b="1"/>
              <a:t>if</a:t>
            </a:r>
            <a:r>
              <a:rPr kumimoji="0" lang="en-US" altLang="zh-CN" sz="2000"/>
              <a:t> (U</a:t>
            </a:r>
            <a:r>
              <a:rPr kumimoji="0" lang="zh-CN" altLang="en-US" sz="2000"/>
              <a:t>不空且不在</a:t>
            </a:r>
            <a:r>
              <a:rPr kumimoji="0" lang="en-US" altLang="zh-CN" sz="2000"/>
              <a:t>Dstates</a:t>
            </a:r>
            <a:r>
              <a:rPr kumimoji="0" lang="zh-CN" altLang="en-US" sz="2000"/>
              <a:t>中</a:t>
            </a:r>
            <a:r>
              <a:rPr kumimoji="0" lang="en-US" altLang="zh-CN" sz="2000"/>
              <a:t>) {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/>
              <a:t>			</a:t>
            </a:r>
            <a:r>
              <a:rPr kumimoji="0" lang="zh-CN" altLang="en-US" sz="2000"/>
              <a:t>将</a:t>
            </a:r>
            <a:r>
              <a:rPr kumimoji="0" lang="en-US" altLang="zh-CN" sz="2000"/>
              <a:t>U</a:t>
            </a:r>
            <a:r>
              <a:rPr kumimoji="0" lang="zh-CN" altLang="en-US" sz="2000"/>
              <a:t>加入</a:t>
            </a:r>
            <a:r>
              <a:rPr kumimoji="0" lang="en-US" altLang="zh-CN" sz="2000"/>
              <a:t>Dstates</a:t>
            </a:r>
            <a:r>
              <a:rPr kumimoji="0" lang="zh-CN" altLang="en-US" sz="2000"/>
              <a:t>，设为未标记</a:t>
            </a:r>
            <a:r>
              <a:rPr kumimoji="0" lang="en-US" altLang="zh-CN" sz="2000"/>
              <a:t>;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/>
              <a:t>		}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/>
              <a:t>		Dtran[T, a] = U;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/>
              <a:t>	}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kumimoji="0" lang="en-US" altLang="zh-CN" sz="2000"/>
              <a:t>}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8C178A7B-7E15-4A1D-8E30-5F6991BB7F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3.23</a:t>
            </a:r>
          </a:p>
        </p:txBody>
      </p:sp>
      <p:sp>
        <p:nvSpPr>
          <p:cNvPr id="180227" name="Rectangle 3">
            <a:extLst>
              <a:ext uri="{FF2B5EF4-FFF2-40B4-BE49-F238E27FC236}">
                <a16:creationId xmlns:a16="http://schemas.microsoft.com/office/drawing/2014/main" id="{FFE84BAB-151C-4CC5-85D0-EAF7362477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219200"/>
            <a:ext cx="7772400" cy="3429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A=</a:t>
            </a:r>
            <a:r>
              <a:rPr lang="en-US" altLang="zh-CN" sz="2000" b="1" i="1"/>
              <a:t>firstpos</a:t>
            </a:r>
            <a:r>
              <a:rPr lang="en-US" altLang="zh-CN" sz="2000" b="1"/>
              <a:t>(root)={1, 2, 3}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Dtrans[A, a]=</a:t>
            </a:r>
            <a:r>
              <a:rPr lang="en-US" altLang="zh-CN" sz="2000" b="1" i="1"/>
              <a:t>followpos</a:t>
            </a:r>
            <a:r>
              <a:rPr lang="en-US" altLang="zh-CN" sz="2000" b="1"/>
              <a:t>(1)</a:t>
            </a:r>
            <a:r>
              <a:rPr lang="en-US" altLang="zh-CN" sz="2000" b="1">
                <a:latin typeface="宋体" panose="02010600030101010101" pitchFamily="2" charset="-122"/>
              </a:rPr>
              <a:t>∪</a:t>
            </a:r>
            <a:r>
              <a:rPr lang="en-US" altLang="zh-CN" sz="2000" b="1" i="1"/>
              <a:t>followpos</a:t>
            </a:r>
            <a:r>
              <a:rPr lang="en-US" altLang="zh-CN" sz="2000" b="1"/>
              <a:t>(3)={1,2,3,4}=B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Dtrans[A, b]=</a:t>
            </a:r>
            <a:r>
              <a:rPr lang="en-US" altLang="zh-CN" sz="2000" b="1" i="1"/>
              <a:t>followpos</a:t>
            </a:r>
            <a:r>
              <a:rPr lang="en-US" altLang="zh-CN" sz="2000" b="1"/>
              <a:t>(2)={1,2,3}=A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Dtrans[B, a]=</a:t>
            </a:r>
            <a:r>
              <a:rPr lang="en-US" altLang="zh-CN" sz="2000" b="1" i="1"/>
              <a:t>followpos</a:t>
            </a:r>
            <a:r>
              <a:rPr lang="en-US" altLang="zh-CN" sz="2000" b="1"/>
              <a:t>(1)</a:t>
            </a:r>
            <a:r>
              <a:rPr lang="en-US" altLang="zh-CN" sz="2000" b="1">
                <a:latin typeface="宋体" panose="02010600030101010101" pitchFamily="2" charset="-122"/>
              </a:rPr>
              <a:t>∪</a:t>
            </a:r>
            <a:r>
              <a:rPr lang="en-US" altLang="zh-CN" sz="2000" b="1" i="1"/>
              <a:t>followpos</a:t>
            </a:r>
            <a:r>
              <a:rPr lang="en-US" altLang="zh-CN" sz="2000" b="1"/>
              <a:t>(3)={1,2,3,4}=B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Dtrans[B, b]=</a:t>
            </a:r>
            <a:r>
              <a:rPr lang="en-US" altLang="zh-CN" sz="2000" b="1" i="1"/>
              <a:t>followpos</a:t>
            </a:r>
            <a:r>
              <a:rPr lang="en-US" altLang="zh-CN" sz="2000" b="1"/>
              <a:t>(2)</a:t>
            </a:r>
            <a:r>
              <a:rPr lang="en-US" altLang="zh-CN" sz="2000" b="1">
                <a:latin typeface="宋体" panose="02010600030101010101" pitchFamily="2" charset="-122"/>
              </a:rPr>
              <a:t>∪</a:t>
            </a:r>
            <a:r>
              <a:rPr lang="en-US" altLang="zh-CN" sz="2000" b="1" i="1"/>
              <a:t>followpos</a:t>
            </a:r>
            <a:r>
              <a:rPr lang="en-US" altLang="zh-CN" sz="2000" b="1"/>
              <a:t>(4)={1,2,3,5}=C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Dtrans[C, a]=</a:t>
            </a:r>
            <a:r>
              <a:rPr lang="en-US" altLang="zh-CN" sz="2000" b="1" i="1"/>
              <a:t>followpos</a:t>
            </a:r>
            <a:r>
              <a:rPr lang="en-US" altLang="zh-CN" sz="2000" b="1"/>
              <a:t>(1)</a:t>
            </a:r>
            <a:r>
              <a:rPr lang="en-US" altLang="zh-CN" sz="2000" b="1">
                <a:latin typeface="宋体" panose="02010600030101010101" pitchFamily="2" charset="-122"/>
              </a:rPr>
              <a:t>∪</a:t>
            </a:r>
            <a:r>
              <a:rPr lang="en-US" altLang="zh-CN" sz="2000" b="1" i="1"/>
              <a:t>followpos</a:t>
            </a:r>
            <a:r>
              <a:rPr lang="en-US" altLang="zh-CN" sz="2000" b="1"/>
              <a:t>(3)={1,2,3,4}=B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Dtrans[C, b]=</a:t>
            </a:r>
            <a:r>
              <a:rPr lang="en-US" altLang="zh-CN" sz="2000" b="1" i="1"/>
              <a:t>followpos</a:t>
            </a:r>
            <a:r>
              <a:rPr lang="en-US" altLang="zh-CN" sz="2000" b="1"/>
              <a:t>(2)</a:t>
            </a:r>
            <a:r>
              <a:rPr lang="en-US" altLang="zh-CN" sz="2000" b="1">
                <a:latin typeface="宋体" panose="02010600030101010101" pitchFamily="2" charset="-122"/>
              </a:rPr>
              <a:t>∪</a:t>
            </a:r>
            <a:r>
              <a:rPr lang="en-US" altLang="zh-CN" sz="2000" b="1" i="1"/>
              <a:t>followpos</a:t>
            </a:r>
            <a:r>
              <a:rPr lang="en-US" altLang="zh-CN" sz="2000" b="1"/>
              <a:t>(5)={1,2,3,6}=D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Dtrans[D, a]=</a:t>
            </a:r>
            <a:r>
              <a:rPr lang="en-US" altLang="zh-CN" sz="2000" b="1" i="1"/>
              <a:t>followpos</a:t>
            </a:r>
            <a:r>
              <a:rPr lang="en-US" altLang="zh-CN" sz="2000" b="1"/>
              <a:t>(1)</a:t>
            </a:r>
            <a:r>
              <a:rPr lang="en-US" altLang="zh-CN" sz="2000" b="1">
                <a:latin typeface="宋体" panose="02010600030101010101" pitchFamily="2" charset="-122"/>
              </a:rPr>
              <a:t>∪</a:t>
            </a:r>
            <a:r>
              <a:rPr lang="en-US" altLang="zh-CN" sz="2000" b="1" i="1"/>
              <a:t>followpos</a:t>
            </a:r>
            <a:r>
              <a:rPr lang="en-US" altLang="zh-CN" sz="2000" b="1"/>
              <a:t>(3)={1,2,3,4}=B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Dtrans[D, b]=</a:t>
            </a:r>
            <a:r>
              <a:rPr lang="en-US" altLang="zh-CN" sz="2000" b="1" i="1"/>
              <a:t>followpos</a:t>
            </a:r>
            <a:r>
              <a:rPr lang="en-US" altLang="zh-CN" sz="2000" b="1"/>
              <a:t>(2)={1,2,3}=A</a:t>
            </a:r>
          </a:p>
        </p:txBody>
      </p:sp>
      <p:pic>
        <p:nvPicPr>
          <p:cNvPr id="180228" name="Picture 5" descr="dfa">
            <a:extLst>
              <a:ext uri="{FF2B5EF4-FFF2-40B4-BE49-F238E27FC236}">
                <a16:creationId xmlns:a16="http://schemas.microsoft.com/office/drawing/2014/main" id="{12A3AE7C-0FCE-443D-8CB1-4542B90CB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4495800"/>
            <a:ext cx="5537200" cy="219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A7036EAB-2B9A-41D4-A2A9-D27EACD54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正规式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r>
              <a:rPr lang="en-US" altLang="zh-CN">
                <a:sym typeface="Wingdings" panose="05000000000000000000" pitchFamily="2" charset="2"/>
              </a:rPr>
              <a:t>DFA vs. NFADFA</a:t>
            </a:r>
            <a:endParaRPr lang="en-US" altLang="zh-CN"/>
          </a:p>
        </p:txBody>
      </p:sp>
      <p:pic>
        <p:nvPicPr>
          <p:cNvPr id="181251" name="Picture 10" descr="reg2dfa">
            <a:extLst>
              <a:ext uri="{FF2B5EF4-FFF2-40B4-BE49-F238E27FC236}">
                <a16:creationId xmlns:a16="http://schemas.microsoft.com/office/drawing/2014/main" id="{88D27EF0-2FB6-4E8B-B0C2-52B41F197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3" y="1535113"/>
            <a:ext cx="7050087" cy="379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>
            <a:extLst>
              <a:ext uri="{FF2B5EF4-FFF2-40B4-BE49-F238E27FC236}">
                <a16:creationId xmlns:a16="http://schemas.microsoft.com/office/drawing/2014/main" id="{35F4620D-49D3-45CC-9315-DE54F73BF4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正规式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r>
              <a:rPr lang="en-US" altLang="zh-CN">
                <a:sym typeface="Wingdings" panose="05000000000000000000" pitchFamily="2" charset="2"/>
              </a:rPr>
              <a:t>DFA</a:t>
            </a:r>
            <a:r>
              <a:rPr lang="zh-CN" altLang="en-US">
                <a:sym typeface="Wingdings" panose="05000000000000000000" pitchFamily="2" charset="2"/>
              </a:rPr>
              <a:t>练习</a:t>
            </a:r>
            <a:endParaRPr lang="zh-CN" altLang="en-US"/>
          </a:p>
        </p:txBody>
      </p:sp>
      <p:sp>
        <p:nvSpPr>
          <p:cNvPr id="182275" name="Rectangle 3">
            <a:extLst>
              <a:ext uri="{FF2B5EF4-FFF2-40B4-BE49-F238E27FC236}">
                <a16:creationId xmlns:a16="http://schemas.microsoft.com/office/drawing/2014/main" id="{73B1085C-129E-4E8D-B315-A6ACC9E25B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solidFill>
                  <a:srgbClr val="3333CC"/>
                </a:solidFill>
              </a:rPr>
              <a:t>((</a:t>
            </a:r>
            <a:r>
              <a:rPr lang="en-US" altLang="zh-CN">
                <a:solidFill>
                  <a:srgbClr val="3333CC"/>
                </a:solidFill>
                <a:latin typeface="Symbol" panose="05050102010706020507" pitchFamily="18" charset="2"/>
              </a:rPr>
              <a:t>e</a:t>
            </a:r>
            <a:r>
              <a:rPr lang="en-US" altLang="zh-CN">
                <a:solidFill>
                  <a:srgbClr val="3333CC"/>
                </a:solidFill>
              </a:rPr>
              <a:t> | a)b*)*</a:t>
            </a:r>
          </a:p>
        </p:txBody>
      </p:sp>
      <p:pic>
        <p:nvPicPr>
          <p:cNvPr id="275461" name="Picture 5" descr="18c">
            <a:extLst>
              <a:ext uri="{FF2B5EF4-FFF2-40B4-BE49-F238E27FC236}">
                <a16:creationId xmlns:a16="http://schemas.microsoft.com/office/drawing/2014/main" id="{53995E11-2BB5-44D7-B29E-593E9BBA2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3030538" cy="3475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75511" name="Group 55">
            <a:extLst>
              <a:ext uri="{FF2B5EF4-FFF2-40B4-BE49-F238E27FC236}">
                <a16:creationId xmlns:a16="http://schemas.microsoft.com/office/drawing/2014/main" id="{69C8021E-566D-4A6C-909E-D332E35F6BC1}"/>
              </a:ext>
            </a:extLst>
          </p:cNvPr>
          <p:cNvGraphicFramePr>
            <a:graphicFrameLocks noGrp="1"/>
          </p:cNvGraphicFramePr>
          <p:nvPr/>
        </p:nvGraphicFramePr>
        <p:xfrm>
          <a:off x="5410200" y="1447800"/>
          <a:ext cx="2667000" cy="2073276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31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followpos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31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{1, 2, 3}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1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{1, 2, 3}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19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34" marB="4573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9000"/>
                        <a:buFont typeface="Wingdings" panose="05000000000000000000" pitchFamily="2" charset="2"/>
                        <a:defRPr kumimoji="1" sz="2400">
                          <a:solidFill>
                            <a:srgbClr val="3333CC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000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1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 </a:t>
                      </a:r>
                    </a:p>
                  </a:txBody>
                  <a:tcPr marT="45734" marB="4573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5513" name="Text Box 57">
            <a:extLst>
              <a:ext uri="{FF2B5EF4-FFF2-40B4-BE49-F238E27FC236}">
                <a16:creationId xmlns:a16="http://schemas.microsoft.com/office/drawing/2014/main" id="{CE2A0EDC-168B-45E1-A0AB-9135D7940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3505200"/>
            <a:ext cx="518160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3333CC"/>
                </a:solidFill>
                <a:latin typeface="Tahoma" panose="020B0604030504040204" pitchFamily="34" charset="0"/>
              </a:rPr>
              <a:t>firstpos(root) = {1, 2, 3} = A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3333CC"/>
                </a:solidFill>
                <a:latin typeface="Symbol" panose="05050102010706020507" pitchFamily="18" charset="2"/>
              </a:rPr>
              <a:t>d</a:t>
            </a:r>
            <a:r>
              <a:rPr lang="en-US" altLang="zh-CN" sz="2000">
                <a:solidFill>
                  <a:srgbClr val="3333CC"/>
                </a:solidFill>
                <a:latin typeface="Tahoma" panose="020B0604030504040204" pitchFamily="34" charset="0"/>
              </a:rPr>
              <a:t>(A, a) = followpos(1) = { 1, 2, 3 } = A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3333CC"/>
                </a:solidFill>
                <a:latin typeface="Symbol" panose="05050102010706020507" pitchFamily="18" charset="2"/>
              </a:rPr>
              <a:t>d</a:t>
            </a:r>
            <a:r>
              <a:rPr lang="en-US" altLang="zh-CN" sz="2000">
                <a:solidFill>
                  <a:srgbClr val="3333CC"/>
                </a:solidFill>
                <a:latin typeface="Tahoma" panose="020B0604030504040204" pitchFamily="34" charset="0"/>
              </a:rPr>
              <a:t>(A, b) = followpos(1) = { 1, 2, 3 } = A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5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513" grpId="0" autoUpdateAnimBg="0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>
            <a:extLst>
              <a:ext uri="{FF2B5EF4-FFF2-40B4-BE49-F238E27FC236}">
                <a16:creationId xmlns:a16="http://schemas.microsoft.com/office/drawing/2014/main" id="{CE54D180-7F9E-40F8-A3D4-D862B186D7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正规式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r>
              <a:rPr lang="en-US" altLang="zh-CN">
                <a:sym typeface="Wingdings" panose="05000000000000000000" pitchFamily="2" charset="2"/>
              </a:rPr>
              <a:t>DFA</a:t>
            </a:r>
            <a:r>
              <a:rPr lang="zh-CN" altLang="en-US">
                <a:sym typeface="Wingdings" panose="05000000000000000000" pitchFamily="2" charset="2"/>
              </a:rPr>
              <a:t>练习（续）</a:t>
            </a:r>
            <a:endParaRPr lang="zh-CN" altLang="en-US"/>
          </a:p>
        </p:txBody>
      </p:sp>
      <p:pic>
        <p:nvPicPr>
          <p:cNvPr id="183299" name="Picture 24" descr="18a2">
            <a:extLst>
              <a:ext uri="{FF2B5EF4-FFF2-40B4-BE49-F238E27FC236}">
                <a16:creationId xmlns:a16="http://schemas.microsoft.com/office/drawing/2014/main" id="{02903946-79D0-4907-92FA-E13DEF0D5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763" y="2222500"/>
            <a:ext cx="2022475" cy="2411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>
            <a:extLst>
              <a:ext uri="{FF2B5EF4-FFF2-40B4-BE49-F238E27FC236}">
                <a16:creationId xmlns:a16="http://schemas.microsoft.com/office/drawing/2014/main" id="{5E6C60E2-4A21-4C08-9761-640DC6D9D8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3.9.3  </a:t>
            </a:r>
            <a:r>
              <a:rPr lang="zh-CN" altLang="en-US"/>
              <a:t>最小化</a:t>
            </a:r>
            <a:r>
              <a:rPr lang="en-US" altLang="zh-CN"/>
              <a:t>DFA</a:t>
            </a:r>
          </a:p>
        </p:txBody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69651ADC-ED95-4A44-93C4-7B243C7E5A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3962400"/>
          </a:xfrm>
        </p:spPr>
        <p:txBody>
          <a:bodyPr/>
          <a:lstStyle/>
          <a:p>
            <a:pPr eaLnBrk="1" hangingPunct="1"/>
            <a:r>
              <a:rPr lang="zh-CN" altLang="en-US" dirty="0"/>
              <a:t>对于一个正规式，识别它的</a:t>
            </a:r>
            <a:r>
              <a:rPr lang="en-US" altLang="zh-CN" dirty="0"/>
              <a:t>DFA</a:t>
            </a:r>
            <a:r>
              <a:rPr lang="zh-CN" altLang="en-US" dirty="0"/>
              <a:t>中，存在唯一一个状态数最少的</a:t>
            </a:r>
            <a:r>
              <a:rPr lang="en-US" altLang="zh-CN" dirty="0"/>
              <a:t>DFA</a:t>
            </a:r>
          </a:p>
          <a:p>
            <a:pPr eaLnBrk="1" hangingPunct="1"/>
            <a:r>
              <a:rPr lang="zh-CN" altLang="en-US" dirty="0"/>
              <a:t>问题：</a:t>
            </a:r>
            <a:r>
              <a:rPr lang="en-US" altLang="zh-CN" dirty="0"/>
              <a:t>DFA M</a:t>
            </a:r>
            <a:r>
              <a:rPr lang="zh-CN" altLang="en-US" dirty="0"/>
              <a:t>，状态集</a:t>
            </a:r>
            <a:r>
              <a:rPr lang="en-US" altLang="zh-CN" dirty="0"/>
              <a:t>S</a:t>
            </a:r>
            <a:r>
              <a:rPr lang="zh-CN" altLang="en-US" dirty="0"/>
              <a:t>，字母表</a:t>
            </a:r>
            <a:r>
              <a:rPr lang="en-US" altLang="zh-CN" dirty="0">
                <a:latin typeface="宋体" panose="02010600030101010101" pitchFamily="2" charset="-122"/>
              </a:rPr>
              <a:t>Σ</a:t>
            </a:r>
            <a:r>
              <a:rPr lang="zh-CN" altLang="en-US" dirty="0">
                <a:latin typeface="宋体" panose="02010600030101010101" pitchFamily="2" charset="-122"/>
              </a:rPr>
              <a:t>，化简之，使状态数最少</a:t>
            </a:r>
          </a:p>
          <a:p>
            <a:pPr eaLnBrk="1" hangingPunct="1"/>
            <a:r>
              <a:rPr lang="zh-CN" altLang="en-US" dirty="0"/>
              <a:t>概念：符号串</a:t>
            </a:r>
            <a:r>
              <a:rPr lang="en-US" altLang="zh-CN" dirty="0"/>
              <a:t>w</a:t>
            </a:r>
            <a:r>
              <a:rPr lang="zh-CN" altLang="en-US" dirty="0">
                <a:solidFill>
                  <a:srgbClr val="3333CC"/>
                </a:solidFill>
                <a:ea typeface="黑体" panose="02010609060101010101" pitchFamily="49" charset="-122"/>
              </a:rPr>
              <a:t>区分</a:t>
            </a:r>
            <a:r>
              <a:rPr lang="en-US" altLang="zh-CN" dirty="0">
                <a:ea typeface="黑体" panose="02010609060101010101" pitchFamily="49" charset="-122"/>
              </a:rPr>
              <a:t>(</a:t>
            </a:r>
            <a:r>
              <a:rPr lang="en-US" altLang="zh-CN" dirty="0">
                <a:solidFill>
                  <a:srgbClr val="FF3300"/>
                </a:solidFill>
                <a:ea typeface="黑体" panose="02010609060101010101" pitchFamily="49" charset="-122"/>
              </a:rPr>
              <a:t>distinguish</a:t>
            </a:r>
            <a:r>
              <a:rPr lang="en-US" altLang="zh-CN" dirty="0">
                <a:ea typeface="黑体" panose="02010609060101010101" pitchFamily="49" charset="-122"/>
              </a:rPr>
              <a:t>)</a:t>
            </a:r>
            <a:r>
              <a:rPr lang="zh-CN" altLang="en-US" dirty="0"/>
              <a:t>状态</a:t>
            </a:r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t</a:t>
            </a:r>
          </a:p>
          <a:p>
            <a:pPr lvl="1" eaLnBrk="1" hangingPunct="1"/>
            <a:r>
              <a:rPr lang="zh-CN" altLang="en-US" dirty="0"/>
              <a:t>分别从</a:t>
            </a:r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t</a:t>
            </a:r>
            <a:r>
              <a:rPr lang="zh-CN" altLang="en-US" dirty="0"/>
              <a:t>开始，读入</a:t>
            </a:r>
            <a:r>
              <a:rPr lang="en-US" altLang="zh-CN" dirty="0"/>
              <a:t>w</a:t>
            </a:r>
            <a:r>
              <a:rPr lang="zh-CN" altLang="en-US" dirty="0"/>
              <a:t>、转换状态，读取完毕后，一个到达终态，另一个到达非终态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即，从单词识别的角度，两者不等价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2">
            <a:extLst>
              <a:ext uri="{FF2B5EF4-FFF2-40B4-BE49-F238E27FC236}">
                <a16:creationId xmlns:a16="http://schemas.microsoft.com/office/drawing/2014/main" id="{FDA6A916-43CB-4CF3-9584-EC39A41349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“区分”</a:t>
            </a:r>
          </a:p>
        </p:txBody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1AB4C3C7-5DF1-4775-907C-8CC7FF0AE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733800"/>
            <a:ext cx="7772400" cy="1600200"/>
          </a:xfrm>
        </p:spPr>
        <p:txBody>
          <a:bodyPr/>
          <a:lstStyle/>
          <a:p>
            <a:pPr eaLnBrk="1" hangingPunct="1"/>
            <a:r>
              <a:rPr lang="zh-CN" altLang="en-US"/>
              <a:t>区分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B</a:t>
            </a:r>
          </a:p>
          <a:p>
            <a:pPr lvl="1" eaLnBrk="1" hangingPunct="1"/>
            <a:r>
              <a:rPr lang="en-US" altLang="zh-CN"/>
              <a:t>a</a:t>
            </a:r>
            <a:r>
              <a:rPr lang="zh-CN" altLang="en-US"/>
              <a:t>不可，以</a:t>
            </a:r>
            <a:r>
              <a:rPr lang="en-US" altLang="zh-CN"/>
              <a:t>a</a:t>
            </a:r>
            <a:r>
              <a:rPr lang="zh-CN" altLang="en-US"/>
              <a:t>开头的任何符号串均不可</a:t>
            </a:r>
            <a:endParaRPr lang="en-US" altLang="zh-CN"/>
          </a:p>
          <a:p>
            <a:pPr lvl="1" eaLnBrk="1" hangingPunct="1"/>
            <a:r>
              <a:rPr lang="en-US" altLang="zh-CN"/>
              <a:t>b</a:t>
            </a:r>
            <a:r>
              <a:rPr lang="zh-CN" altLang="en-US"/>
              <a:t>不可，但</a:t>
            </a:r>
            <a:r>
              <a:rPr lang="en-US" altLang="zh-CN"/>
              <a:t>bb</a:t>
            </a:r>
            <a:r>
              <a:rPr lang="zh-CN" altLang="en-US"/>
              <a:t>可区分</a:t>
            </a:r>
            <a:endParaRPr lang="en-US" altLang="zh-CN"/>
          </a:p>
          <a:p>
            <a:pPr eaLnBrk="1" hangingPunct="1"/>
            <a:r>
              <a:rPr lang="zh-CN" altLang="en-US"/>
              <a:t>区分</a:t>
            </a:r>
            <a:r>
              <a:rPr lang="en-US" altLang="zh-CN"/>
              <a:t>A</a:t>
            </a:r>
            <a:r>
              <a:rPr lang="zh-CN" altLang="en-US"/>
              <a:t>、</a:t>
            </a:r>
            <a:r>
              <a:rPr lang="en-US" altLang="zh-CN"/>
              <a:t>C</a:t>
            </a:r>
          </a:p>
          <a:p>
            <a:pPr lvl="1" eaLnBrk="1" hangingPunct="1"/>
            <a:r>
              <a:rPr lang="zh-CN" altLang="en-US"/>
              <a:t>任何符号串均不可</a:t>
            </a:r>
            <a:endParaRPr lang="en-US" altLang="zh-CN"/>
          </a:p>
        </p:txBody>
      </p:sp>
      <p:grpSp>
        <p:nvGrpSpPr>
          <p:cNvPr id="185348" name="Group 4">
            <a:extLst>
              <a:ext uri="{FF2B5EF4-FFF2-40B4-BE49-F238E27FC236}">
                <a16:creationId xmlns:a16="http://schemas.microsoft.com/office/drawing/2014/main" id="{674A6439-92F8-42B3-B3CB-E954EB6E82CE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1295400"/>
            <a:ext cx="5867400" cy="2195513"/>
            <a:chOff x="960" y="777"/>
            <a:chExt cx="3696" cy="1383"/>
          </a:xfrm>
        </p:grpSpPr>
        <p:grpSp>
          <p:nvGrpSpPr>
            <p:cNvPr id="185349" name="Group 5">
              <a:extLst>
                <a:ext uri="{FF2B5EF4-FFF2-40B4-BE49-F238E27FC236}">
                  <a16:creationId xmlns:a16="http://schemas.microsoft.com/office/drawing/2014/main" id="{B3F14CEA-772D-4686-94AE-6FD834D372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545"/>
              <a:ext cx="432" cy="432"/>
              <a:chOff x="1440" y="3408"/>
              <a:chExt cx="432" cy="432"/>
            </a:xfrm>
          </p:grpSpPr>
          <p:sp>
            <p:nvSpPr>
              <p:cNvPr id="185386" name="Oval 6">
                <a:extLst>
                  <a:ext uri="{FF2B5EF4-FFF2-40B4-BE49-F238E27FC236}">
                    <a16:creationId xmlns:a16="http://schemas.microsoft.com/office/drawing/2014/main" id="{057DB8ED-6392-41E4-A87C-68008B435B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408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5387" name="Text Box 7">
                <a:extLst>
                  <a:ext uri="{FF2B5EF4-FFF2-40B4-BE49-F238E27FC236}">
                    <a16:creationId xmlns:a16="http://schemas.microsoft.com/office/drawing/2014/main" id="{3E9A9B3D-FE3B-4E78-8124-0922C430F7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/>
                  <a:t>A</a:t>
                </a:r>
              </a:p>
            </p:txBody>
          </p:sp>
        </p:grpSp>
        <p:grpSp>
          <p:nvGrpSpPr>
            <p:cNvPr id="185350" name="Group 8">
              <a:extLst>
                <a:ext uri="{FF2B5EF4-FFF2-40B4-BE49-F238E27FC236}">
                  <a16:creationId xmlns:a16="http://schemas.microsoft.com/office/drawing/2014/main" id="{EEC97AB1-FA40-4E64-A980-FB0B8F5973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1017"/>
              <a:ext cx="432" cy="432"/>
              <a:chOff x="1440" y="3408"/>
              <a:chExt cx="432" cy="432"/>
            </a:xfrm>
          </p:grpSpPr>
          <p:sp>
            <p:nvSpPr>
              <p:cNvPr id="185384" name="Oval 9">
                <a:extLst>
                  <a:ext uri="{FF2B5EF4-FFF2-40B4-BE49-F238E27FC236}">
                    <a16:creationId xmlns:a16="http://schemas.microsoft.com/office/drawing/2014/main" id="{8AA0430F-0646-4103-A089-A8A870F55C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408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5385" name="Text Box 10">
                <a:extLst>
                  <a:ext uri="{FF2B5EF4-FFF2-40B4-BE49-F238E27FC236}">
                    <a16:creationId xmlns:a16="http://schemas.microsoft.com/office/drawing/2014/main" id="{2DA2B8D9-1114-417F-8A4F-72B937FBD9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/>
                  <a:t>C</a:t>
                </a:r>
              </a:p>
            </p:txBody>
          </p:sp>
        </p:grpSp>
        <p:grpSp>
          <p:nvGrpSpPr>
            <p:cNvPr id="185351" name="Group 11">
              <a:extLst>
                <a:ext uri="{FF2B5EF4-FFF2-40B4-BE49-F238E27FC236}">
                  <a16:creationId xmlns:a16="http://schemas.microsoft.com/office/drawing/2014/main" id="{BB0EAFB9-BB17-4DC9-BE83-964478917D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1545"/>
              <a:ext cx="432" cy="432"/>
              <a:chOff x="1440" y="3408"/>
              <a:chExt cx="432" cy="432"/>
            </a:xfrm>
          </p:grpSpPr>
          <p:sp>
            <p:nvSpPr>
              <p:cNvPr id="185382" name="Oval 12">
                <a:extLst>
                  <a:ext uri="{FF2B5EF4-FFF2-40B4-BE49-F238E27FC236}">
                    <a16:creationId xmlns:a16="http://schemas.microsoft.com/office/drawing/2014/main" id="{35E122A6-68E2-45D0-A59A-71DA64CA44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408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5383" name="Text Box 13">
                <a:extLst>
                  <a:ext uri="{FF2B5EF4-FFF2-40B4-BE49-F238E27FC236}">
                    <a16:creationId xmlns:a16="http://schemas.microsoft.com/office/drawing/2014/main" id="{EB440205-56DE-49EB-B18B-6EB15F298B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/>
                  <a:t>B</a:t>
                </a:r>
              </a:p>
            </p:txBody>
          </p:sp>
        </p:grpSp>
        <p:grpSp>
          <p:nvGrpSpPr>
            <p:cNvPr id="185352" name="Group 14">
              <a:extLst>
                <a:ext uri="{FF2B5EF4-FFF2-40B4-BE49-F238E27FC236}">
                  <a16:creationId xmlns:a16="http://schemas.microsoft.com/office/drawing/2014/main" id="{F982A155-181A-448F-BF45-A83368EFC8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1545"/>
              <a:ext cx="432" cy="432"/>
              <a:chOff x="1440" y="3408"/>
              <a:chExt cx="432" cy="432"/>
            </a:xfrm>
          </p:grpSpPr>
          <p:sp>
            <p:nvSpPr>
              <p:cNvPr id="185380" name="Oval 15">
                <a:extLst>
                  <a:ext uri="{FF2B5EF4-FFF2-40B4-BE49-F238E27FC236}">
                    <a16:creationId xmlns:a16="http://schemas.microsoft.com/office/drawing/2014/main" id="{848599F2-ECEC-4472-A28B-E2455C01A9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408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85381" name="Text Box 16">
                <a:extLst>
                  <a:ext uri="{FF2B5EF4-FFF2-40B4-BE49-F238E27FC236}">
                    <a16:creationId xmlns:a16="http://schemas.microsoft.com/office/drawing/2014/main" id="{CBD2BCD3-FA22-4DC9-9305-A06A0BE90D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/>
                  <a:t>D</a:t>
                </a:r>
              </a:p>
            </p:txBody>
          </p:sp>
        </p:grpSp>
        <p:grpSp>
          <p:nvGrpSpPr>
            <p:cNvPr id="185353" name="Group 17">
              <a:extLst>
                <a:ext uri="{FF2B5EF4-FFF2-40B4-BE49-F238E27FC236}">
                  <a16:creationId xmlns:a16="http://schemas.microsoft.com/office/drawing/2014/main" id="{7E3EF47A-52A5-4D0B-A99B-F5AA46C915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1545"/>
              <a:ext cx="432" cy="432"/>
              <a:chOff x="4032" y="3504"/>
              <a:chExt cx="432" cy="432"/>
            </a:xfrm>
          </p:grpSpPr>
          <p:grpSp>
            <p:nvGrpSpPr>
              <p:cNvPr id="185376" name="Group 18">
                <a:extLst>
                  <a:ext uri="{FF2B5EF4-FFF2-40B4-BE49-F238E27FC236}">
                    <a16:creationId xmlns:a16="http://schemas.microsoft.com/office/drawing/2014/main" id="{DF206993-CD40-4F34-8361-C4A97C7529E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2" y="3504"/>
                <a:ext cx="432" cy="432"/>
                <a:chOff x="1440" y="3408"/>
                <a:chExt cx="432" cy="432"/>
              </a:xfrm>
            </p:grpSpPr>
            <p:sp>
              <p:nvSpPr>
                <p:cNvPr id="185378" name="Oval 19">
                  <a:extLst>
                    <a:ext uri="{FF2B5EF4-FFF2-40B4-BE49-F238E27FC236}">
                      <a16:creationId xmlns:a16="http://schemas.microsoft.com/office/drawing/2014/main" id="{AAFAB89C-C0E3-478E-A7A4-DFDEB91971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3408"/>
                  <a:ext cx="432" cy="432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85379" name="Text Box 20">
                  <a:extLst>
                    <a:ext uri="{FF2B5EF4-FFF2-40B4-BE49-F238E27FC236}">
                      <a16:creationId xmlns:a16="http://schemas.microsoft.com/office/drawing/2014/main" id="{2E06099D-89BD-447D-B6E7-E898A075073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88" y="3456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E</a:t>
                  </a:r>
                </a:p>
              </p:txBody>
            </p:sp>
          </p:grpSp>
          <p:sp>
            <p:nvSpPr>
              <p:cNvPr id="185377" name="Oval 21">
                <a:extLst>
                  <a:ext uri="{FF2B5EF4-FFF2-40B4-BE49-F238E27FC236}">
                    <a16:creationId xmlns:a16="http://schemas.microsoft.com/office/drawing/2014/main" id="{0473CD34-691D-477C-8E3B-48F8077C3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3552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cxnSp>
          <p:nvCxnSpPr>
            <p:cNvPr id="185354" name="AutoShape 22">
              <a:extLst>
                <a:ext uri="{FF2B5EF4-FFF2-40B4-BE49-F238E27FC236}">
                  <a16:creationId xmlns:a16="http://schemas.microsoft.com/office/drawing/2014/main" id="{32C63996-3260-454A-9E8D-CB52C469A1AA}"/>
                </a:ext>
              </a:extLst>
            </p:cNvPr>
            <p:cNvCxnSpPr>
              <a:cxnSpLocks noChangeShapeType="1"/>
              <a:stCxn id="185386" idx="6"/>
              <a:endCxn id="185382" idx="2"/>
            </p:cNvCxnSpPr>
            <p:nvPr/>
          </p:nvCxnSpPr>
          <p:spPr bwMode="auto">
            <a:xfrm>
              <a:off x="1872" y="1761"/>
              <a:ext cx="432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355" name="AutoShape 23">
              <a:extLst>
                <a:ext uri="{FF2B5EF4-FFF2-40B4-BE49-F238E27FC236}">
                  <a16:creationId xmlns:a16="http://schemas.microsoft.com/office/drawing/2014/main" id="{EFA98801-0B14-444B-AB44-2A7B70FB1F98}"/>
                </a:ext>
              </a:extLst>
            </p:cNvPr>
            <p:cNvCxnSpPr>
              <a:cxnSpLocks noChangeShapeType="1"/>
              <a:stCxn id="185384" idx="4"/>
              <a:endCxn id="185382" idx="7"/>
            </p:cNvCxnSpPr>
            <p:nvPr/>
          </p:nvCxnSpPr>
          <p:spPr bwMode="auto">
            <a:xfrm rot="5400000">
              <a:off x="2781" y="1341"/>
              <a:ext cx="159" cy="375"/>
            </a:xfrm>
            <a:prstGeom prst="curvedConnector3">
              <a:avLst>
                <a:gd name="adj1" fmla="val 3019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356" name="AutoShape 24">
              <a:extLst>
                <a:ext uri="{FF2B5EF4-FFF2-40B4-BE49-F238E27FC236}">
                  <a16:creationId xmlns:a16="http://schemas.microsoft.com/office/drawing/2014/main" id="{2558DABC-45D7-4A31-B603-51AA53A87F53}"/>
                </a:ext>
              </a:extLst>
            </p:cNvPr>
            <p:cNvCxnSpPr>
              <a:cxnSpLocks noChangeShapeType="1"/>
              <a:stCxn id="185378" idx="1"/>
              <a:endCxn id="185384" idx="6"/>
            </p:cNvCxnSpPr>
            <p:nvPr/>
          </p:nvCxnSpPr>
          <p:spPr bwMode="auto">
            <a:xfrm rot="5400000" flipH="1">
              <a:off x="3588" y="909"/>
              <a:ext cx="375" cy="1023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357" name="AutoShape 25">
              <a:extLst>
                <a:ext uri="{FF2B5EF4-FFF2-40B4-BE49-F238E27FC236}">
                  <a16:creationId xmlns:a16="http://schemas.microsoft.com/office/drawing/2014/main" id="{46E2619C-7A49-4839-AE44-EB93ED43C2FA}"/>
                </a:ext>
              </a:extLst>
            </p:cNvPr>
            <p:cNvCxnSpPr>
              <a:cxnSpLocks noChangeShapeType="1"/>
              <a:stCxn id="185378" idx="3"/>
              <a:endCxn id="185382" idx="5"/>
            </p:cNvCxnSpPr>
            <p:nvPr/>
          </p:nvCxnSpPr>
          <p:spPr bwMode="auto">
            <a:xfrm rot="5400000">
              <a:off x="3479" y="1108"/>
              <a:ext cx="1" cy="1614"/>
            </a:xfrm>
            <a:prstGeom prst="curvedConnector3">
              <a:avLst>
                <a:gd name="adj1" fmla="val 2070000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358" name="AutoShape 26">
              <a:extLst>
                <a:ext uri="{FF2B5EF4-FFF2-40B4-BE49-F238E27FC236}">
                  <a16:creationId xmlns:a16="http://schemas.microsoft.com/office/drawing/2014/main" id="{E9A6A5BE-F8B3-41D9-95A0-E292ED3B6389}"/>
                </a:ext>
              </a:extLst>
            </p:cNvPr>
            <p:cNvCxnSpPr>
              <a:cxnSpLocks noChangeShapeType="1"/>
              <a:stCxn id="185382" idx="4"/>
              <a:endCxn id="185382" idx="3"/>
            </p:cNvCxnSpPr>
            <p:nvPr/>
          </p:nvCxnSpPr>
          <p:spPr bwMode="auto">
            <a:xfrm rot="16200000" flipV="1">
              <a:off x="2412" y="1869"/>
              <a:ext cx="63" cy="153"/>
            </a:xfrm>
            <a:prstGeom prst="curvedConnector3">
              <a:avLst>
                <a:gd name="adj1" fmla="val -409528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359" name="AutoShape 27">
              <a:extLst>
                <a:ext uri="{FF2B5EF4-FFF2-40B4-BE49-F238E27FC236}">
                  <a16:creationId xmlns:a16="http://schemas.microsoft.com/office/drawing/2014/main" id="{BA008354-D903-4365-B6E5-F22C2C2BDF27}"/>
                </a:ext>
              </a:extLst>
            </p:cNvPr>
            <p:cNvCxnSpPr>
              <a:cxnSpLocks noChangeShapeType="1"/>
              <a:stCxn id="185380" idx="3"/>
              <a:endCxn id="185382" idx="6"/>
            </p:cNvCxnSpPr>
            <p:nvPr/>
          </p:nvCxnSpPr>
          <p:spPr bwMode="auto">
            <a:xfrm rot="16200000" flipV="1">
              <a:off x="2979" y="1518"/>
              <a:ext cx="153" cy="639"/>
            </a:xfrm>
            <a:prstGeom prst="curvedConnector4">
              <a:avLst>
                <a:gd name="adj1" fmla="val -48370"/>
                <a:gd name="adj2" fmla="val 54931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360" name="AutoShape 28">
              <a:extLst>
                <a:ext uri="{FF2B5EF4-FFF2-40B4-BE49-F238E27FC236}">
                  <a16:creationId xmlns:a16="http://schemas.microsoft.com/office/drawing/2014/main" id="{4529F6C4-811C-4EAE-9A65-09CC73816ABF}"/>
                </a:ext>
              </a:extLst>
            </p:cNvPr>
            <p:cNvCxnSpPr>
              <a:cxnSpLocks noChangeShapeType="1"/>
              <a:stCxn id="185386" idx="0"/>
              <a:endCxn id="185384" idx="2"/>
            </p:cNvCxnSpPr>
            <p:nvPr/>
          </p:nvCxnSpPr>
          <p:spPr bwMode="auto">
            <a:xfrm rot="-5400000">
              <a:off x="2088" y="801"/>
              <a:ext cx="312" cy="1176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361" name="AutoShape 29">
              <a:extLst>
                <a:ext uri="{FF2B5EF4-FFF2-40B4-BE49-F238E27FC236}">
                  <a16:creationId xmlns:a16="http://schemas.microsoft.com/office/drawing/2014/main" id="{CBA4C76B-7ECC-4741-AB39-0A7B0EFA6A68}"/>
                </a:ext>
              </a:extLst>
            </p:cNvPr>
            <p:cNvCxnSpPr>
              <a:cxnSpLocks noChangeShapeType="1"/>
              <a:stCxn id="185380" idx="6"/>
              <a:endCxn id="185378" idx="2"/>
            </p:cNvCxnSpPr>
            <p:nvPr/>
          </p:nvCxnSpPr>
          <p:spPr bwMode="auto">
            <a:xfrm>
              <a:off x="3744" y="1761"/>
              <a:ext cx="480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85362" name="AutoShape 30">
              <a:extLst>
                <a:ext uri="{FF2B5EF4-FFF2-40B4-BE49-F238E27FC236}">
                  <a16:creationId xmlns:a16="http://schemas.microsoft.com/office/drawing/2014/main" id="{51D7231C-DA40-45EB-842B-29A30C8909FD}"/>
                </a:ext>
              </a:extLst>
            </p:cNvPr>
            <p:cNvCxnSpPr>
              <a:cxnSpLocks noChangeShapeType="1"/>
              <a:stCxn id="185382" idx="6"/>
              <a:endCxn id="185380" idx="2"/>
            </p:cNvCxnSpPr>
            <p:nvPr/>
          </p:nvCxnSpPr>
          <p:spPr bwMode="auto">
            <a:xfrm>
              <a:off x="2736" y="1761"/>
              <a:ext cx="576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5363" name="Line 31">
              <a:extLst>
                <a:ext uri="{FF2B5EF4-FFF2-40B4-BE49-F238E27FC236}">
                  <a16:creationId xmlns:a16="http://schemas.microsoft.com/office/drawing/2014/main" id="{E6E12098-6BF9-4D41-9422-322A98EE95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785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85364" name="AutoShape 32">
              <a:extLst>
                <a:ext uri="{FF2B5EF4-FFF2-40B4-BE49-F238E27FC236}">
                  <a16:creationId xmlns:a16="http://schemas.microsoft.com/office/drawing/2014/main" id="{332CB79C-5F57-4D07-A429-0B21F4168225}"/>
                </a:ext>
              </a:extLst>
            </p:cNvPr>
            <p:cNvCxnSpPr>
              <a:cxnSpLocks noChangeShapeType="1"/>
              <a:stCxn id="185384" idx="0"/>
              <a:endCxn id="185384" idx="1"/>
            </p:cNvCxnSpPr>
            <p:nvPr/>
          </p:nvCxnSpPr>
          <p:spPr bwMode="auto">
            <a:xfrm rot="-5400000" flipH="1" flipV="1">
              <a:off x="2940" y="972"/>
              <a:ext cx="63" cy="153"/>
            </a:xfrm>
            <a:prstGeom prst="curvedConnector3">
              <a:avLst>
                <a:gd name="adj1" fmla="val -22856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5365" name="Text Box 33">
              <a:extLst>
                <a:ext uri="{FF2B5EF4-FFF2-40B4-BE49-F238E27FC236}">
                  <a16:creationId xmlns:a16="http://schemas.microsoft.com/office/drawing/2014/main" id="{8F295526-AA22-4BE2-A5F5-F959AC9165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593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start</a:t>
              </a:r>
            </a:p>
          </p:txBody>
        </p:sp>
        <p:sp>
          <p:nvSpPr>
            <p:cNvPr id="185366" name="Text Box 34">
              <a:extLst>
                <a:ext uri="{FF2B5EF4-FFF2-40B4-BE49-F238E27FC236}">
                  <a16:creationId xmlns:a16="http://schemas.microsoft.com/office/drawing/2014/main" id="{58205184-753E-46A9-9A66-6694582B73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59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b</a:t>
              </a:r>
            </a:p>
          </p:txBody>
        </p:sp>
        <p:sp>
          <p:nvSpPr>
            <p:cNvPr id="185367" name="Text Box 35">
              <a:extLst>
                <a:ext uri="{FF2B5EF4-FFF2-40B4-BE49-F238E27FC236}">
                  <a16:creationId xmlns:a16="http://schemas.microsoft.com/office/drawing/2014/main" id="{CEFCDBA8-F6AB-4DB0-8FB5-36E2B8426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59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b</a:t>
              </a:r>
            </a:p>
          </p:txBody>
        </p:sp>
        <p:sp>
          <p:nvSpPr>
            <p:cNvPr id="185368" name="Text Box 36">
              <a:extLst>
                <a:ext uri="{FF2B5EF4-FFF2-40B4-BE49-F238E27FC236}">
                  <a16:creationId xmlns:a16="http://schemas.microsoft.com/office/drawing/2014/main" id="{9BA88FC2-7608-4119-A3E7-78A433000A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11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b</a:t>
              </a:r>
            </a:p>
          </p:txBody>
        </p:sp>
        <p:sp>
          <p:nvSpPr>
            <p:cNvPr id="185369" name="Text Box 37">
              <a:extLst>
                <a:ext uri="{FF2B5EF4-FFF2-40B4-BE49-F238E27FC236}">
                  <a16:creationId xmlns:a16="http://schemas.microsoft.com/office/drawing/2014/main" id="{65D827E3-5981-46BE-9C7F-9A61976F1A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777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b</a:t>
              </a:r>
            </a:p>
          </p:txBody>
        </p:sp>
        <p:sp>
          <p:nvSpPr>
            <p:cNvPr id="185370" name="Text Box 38">
              <a:extLst>
                <a:ext uri="{FF2B5EF4-FFF2-40B4-BE49-F238E27FC236}">
                  <a16:creationId xmlns:a16="http://schemas.microsoft.com/office/drawing/2014/main" id="{B004D181-01C4-46FF-8837-5FA648EA8C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11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b</a:t>
              </a:r>
            </a:p>
          </p:txBody>
        </p:sp>
        <p:sp>
          <p:nvSpPr>
            <p:cNvPr id="185371" name="Text Box 39">
              <a:extLst>
                <a:ext uri="{FF2B5EF4-FFF2-40B4-BE49-F238E27FC236}">
                  <a16:creationId xmlns:a16="http://schemas.microsoft.com/office/drawing/2014/main" id="{7CCD62AA-206A-4AFC-9589-06E2ACA82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929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a</a:t>
              </a:r>
            </a:p>
          </p:txBody>
        </p:sp>
        <p:sp>
          <p:nvSpPr>
            <p:cNvPr id="185372" name="Text Box 40">
              <a:extLst>
                <a:ext uri="{FF2B5EF4-FFF2-40B4-BE49-F238E27FC236}">
                  <a16:creationId xmlns:a16="http://schemas.microsoft.com/office/drawing/2014/main" id="{A8A3AE8C-01BC-43CD-BE6E-169E42C1E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785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a</a:t>
              </a:r>
            </a:p>
          </p:txBody>
        </p:sp>
        <p:sp>
          <p:nvSpPr>
            <p:cNvPr id="185373" name="Text Box 41">
              <a:extLst>
                <a:ext uri="{FF2B5EF4-FFF2-40B4-BE49-F238E27FC236}">
                  <a16:creationId xmlns:a16="http://schemas.microsoft.com/office/drawing/2014/main" id="{ECA989E0-472F-4434-A00B-8217D440DE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59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a</a:t>
              </a:r>
            </a:p>
          </p:txBody>
        </p:sp>
        <p:sp>
          <p:nvSpPr>
            <p:cNvPr id="185374" name="Text Box 42">
              <a:extLst>
                <a:ext uri="{FF2B5EF4-FFF2-40B4-BE49-F238E27FC236}">
                  <a16:creationId xmlns:a16="http://schemas.microsoft.com/office/drawing/2014/main" id="{B37C1248-958A-42EC-BB51-E73F6BBD05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881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a</a:t>
              </a:r>
            </a:p>
          </p:txBody>
        </p:sp>
        <p:sp>
          <p:nvSpPr>
            <p:cNvPr id="185375" name="Text Box 43">
              <a:extLst>
                <a:ext uri="{FF2B5EF4-FFF2-40B4-BE49-F238E27FC236}">
                  <a16:creationId xmlns:a16="http://schemas.microsoft.com/office/drawing/2014/main" id="{9F092CD4-59E4-4431-AF8F-8F41176CB4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305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4367E44F-FA7F-4BCA-8E9E-657690651B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算法思想</a:t>
            </a:r>
          </a:p>
        </p:txBody>
      </p:sp>
      <p:sp>
        <p:nvSpPr>
          <p:cNvPr id="186371" name="Rectangle 3">
            <a:extLst>
              <a:ext uri="{FF2B5EF4-FFF2-40B4-BE49-F238E27FC236}">
                <a16:creationId xmlns:a16="http://schemas.microsoft.com/office/drawing/2014/main" id="{B143E949-8F24-45BF-9F43-07B94F0D6C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状态不可区分</a:t>
            </a:r>
            <a:r>
              <a:rPr lang="en-US" altLang="zh-CN" sz="2800" dirty="0">
                <a:sym typeface="Wingdings" panose="05000000000000000000" pitchFamily="2" charset="2"/>
              </a:rPr>
              <a:t></a:t>
            </a:r>
            <a:r>
              <a:rPr lang="zh-CN" altLang="en-US" sz="2800" dirty="0">
                <a:sym typeface="Wingdings" panose="05000000000000000000" pitchFamily="2" charset="2"/>
              </a:rPr>
              <a:t>在单词识别中作用等价</a:t>
            </a:r>
            <a:r>
              <a:rPr lang="en-US" altLang="zh-CN" sz="2800" dirty="0">
                <a:sym typeface="Wingdings" panose="05000000000000000000" pitchFamily="2" charset="2"/>
              </a:rPr>
              <a:t></a:t>
            </a:r>
            <a:r>
              <a:rPr lang="zh-CN" altLang="en-US" sz="2800" dirty="0">
                <a:sym typeface="Wingdings" panose="05000000000000000000" pitchFamily="2" charset="2"/>
              </a:rPr>
              <a:t>合并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NFA</a:t>
            </a:r>
            <a:r>
              <a:rPr lang="en-US" altLang="zh-CN" sz="2800" dirty="0">
                <a:sym typeface="Wingdings" panose="05000000000000000000" pitchFamily="2" charset="2"/>
              </a:rPr>
              <a:t>DFA</a:t>
            </a:r>
            <a:r>
              <a:rPr lang="zh-CN" altLang="en-US" sz="2800" dirty="0">
                <a:sym typeface="Wingdings" panose="05000000000000000000" pitchFamily="2" charset="2"/>
              </a:rPr>
              <a:t>，计算对应状态，考虑前缀</a:t>
            </a:r>
          </a:p>
          <a:p>
            <a:pPr eaLnBrk="1" hangingPunct="1"/>
            <a:r>
              <a:rPr lang="en-US" altLang="zh-CN" sz="2800" dirty="0">
                <a:sym typeface="Wingdings" panose="05000000000000000000" pitchFamily="2" charset="2"/>
              </a:rPr>
              <a:t>DFA</a:t>
            </a:r>
            <a:r>
              <a:rPr lang="zh-CN" altLang="en-US" sz="2800" dirty="0">
                <a:sym typeface="Wingdings" panose="05000000000000000000" pitchFamily="2" charset="2"/>
              </a:rPr>
              <a:t>化简，考虑“后缀”</a:t>
            </a:r>
          </a:p>
          <a:p>
            <a:pPr lvl="1" eaLnBrk="1" hangingPunct="1"/>
            <a:r>
              <a:rPr lang="zh-CN" altLang="en-US" sz="2400" dirty="0"/>
              <a:t>不产生新状态，原有状态</a:t>
            </a:r>
            <a:r>
              <a:rPr lang="zh-CN" altLang="en-US" sz="2400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合并</a:t>
            </a:r>
          </a:p>
          <a:p>
            <a:pPr lvl="1" eaLnBrk="1" hangingPunct="1"/>
            <a:r>
              <a:rPr lang="zh-CN" altLang="en-US" sz="2400" dirty="0"/>
              <a:t>状态</a:t>
            </a:r>
            <a:r>
              <a:rPr lang="zh-CN" altLang="en-US" sz="2400" dirty="0">
                <a:sym typeface="Wingdings" panose="05000000000000000000" pitchFamily="2" charset="2"/>
              </a:rPr>
              <a:t>已读入符号串集合</a:t>
            </a:r>
          </a:p>
          <a:p>
            <a:pPr lvl="1" eaLnBrk="1" hangingPunct="1"/>
            <a:r>
              <a:rPr lang="zh-CN" altLang="en-US" sz="2400" dirty="0"/>
              <a:t>状态合并</a:t>
            </a:r>
            <a:r>
              <a:rPr lang="zh-CN" altLang="en-US" sz="2400" dirty="0">
                <a:sym typeface="Wingdings" panose="05000000000000000000" pitchFamily="2" charset="2"/>
              </a:rPr>
              <a:t>符号串集合合并</a:t>
            </a:r>
          </a:p>
          <a:p>
            <a:pPr lvl="1" eaLnBrk="1" hangingPunct="1"/>
            <a:r>
              <a:rPr lang="zh-CN" altLang="en-US" sz="2400" dirty="0">
                <a:sym typeface="Wingdings" panose="05000000000000000000" pitchFamily="2" charset="2"/>
              </a:rPr>
              <a:t>符号串</a:t>
            </a:r>
            <a:r>
              <a:rPr lang="en-US" altLang="zh-CN" sz="2400" dirty="0">
                <a:sym typeface="Wingdings" panose="05000000000000000000" pitchFamily="2" charset="2"/>
              </a:rPr>
              <a:t>s</a:t>
            </a:r>
            <a:r>
              <a:rPr lang="zh-CN" altLang="en-US" sz="2400" dirty="0">
                <a:sym typeface="Wingdings" panose="05000000000000000000" pitchFamily="2" charset="2"/>
              </a:rPr>
              <a:t>、</a:t>
            </a:r>
            <a:r>
              <a:rPr lang="en-US" altLang="zh-CN" sz="2400" dirty="0">
                <a:sym typeface="Wingdings" panose="05000000000000000000" pitchFamily="2" charset="2"/>
              </a:rPr>
              <a:t>t</a:t>
            </a:r>
            <a:r>
              <a:rPr lang="zh-CN" altLang="en-US" sz="2400" dirty="0">
                <a:sym typeface="Wingdings" panose="05000000000000000000" pitchFamily="2" charset="2"/>
              </a:rPr>
              <a:t>并入一个集合（一个状态）</a:t>
            </a:r>
            <a:br>
              <a:rPr lang="zh-CN" altLang="en-US" sz="2400" dirty="0">
                <a:sym typeface="Wingdings" panose="05000000000000000000" pitchFamily="2" charset="2"/>
              </a:rPr>
            </a:br>
            <a:r>
              <a:rPr lang="zh-CN" altLang="en-US" sz="2400" dirty="0">
                <a:sym typeface="Wingdings" panose="05000000000000000000" pitchFamily="2" charset="2"/>
              </a:rPr>
              <a:t>对任何符号串</a:t>
            </a:r>
            <a:r>
              <a:rPr lang="en-US" altLang="zh-CN" sz="2400" dirty="0">
                <a:sym typeface="Wingdings" panose="05000000000000000000" pitchFamily="2" charset="2"/>
              </a:rPr>
              <a:t>u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 err="1">
                <a:sym typeface="Wingdings" panose="05000000000000000000" pitchFamily="2" charset="2"/>
              </a:rPr>
              <a:t>su</a:t>
            </a:r>
            <a:r>
              <a:rPr lang="zh-CN" altLang="en-US" sz="2400" dirty="0">
                <a:sym typeface="Wingdings" panose="05000000000000000000" pitchFamily="2" charset="2"/>
              </a:rPr>
              <a:t>、</a:t>
            </a:r>
            <a:r>
              <a:rPr lang="en-US" altLang="zh-CN" sz="2400" dirty="0" err="1">
                <a:sym typeface="Wingdings" panose="05000000000000000000" pitchFamily="2" charset="2"/>
              </a:rPr>
              <a:t>tu</a:t>
            </a:r>
            <a:r>
              <a:rPr lang="zh-CN" altLang="en-US" sz="2400" dirty="0">
                <a:sym typeface="Wingdings" panose="05000000000000000000" pitchFamily="2" charset="2"/>
              </a:rPr>
              <a:t>都同时（不）被</a:t>
            </a:r>
            <a:r>
              <a:rPr lang="en-US" altLang="zh-CN" sz="2400" dirty="0">
                <a:sym typeface="Wingdings" panose="05000000000000000000" pitchFamily="2" charset="2"/>
              </a:rPr>
              <a:t>DFA</a:t>
            </a:r>
            <a:r>
              <a:rPr lang="zh-CN" altLang="en-US" sz="2400" dirty="0">
                <a:sym typeface="Wingdings" panose="05000000000000000000" pitchFamily="2" charset="2"/>
              </a:rPr>
              <a:t>接受</a:t>
            </a:r>
            <a:r>
              <a:rPr lang="en-US" altLang="zh-CN" sz="2400" dirty="0">
                <a:sym typeface="Wingdings" panose="05000000000000000000" pitchFamily="2" charset="2"/>
              </a:rPr>
              <a:t>——</a:t>
            </a:r>
            <a:r>
              <a:rPr lang="zh-CN" altLang="en-US" sz="2400" dirty="0">
                <a:sym typeface="Wingdings" panose="05000000000000000000" pitchFamily="2" charset="2"/>
              </a:rPr>
              <a:t>两个状态是不可“区分”的</a:t>
            </a:r>
          </a:p>
          <a:p>
            <a:pPr lvl="1" eaLnBrk="1" hangingPunct="1"/>
            <a:r>
              <a:rPr lang="zh-CN" altLang="en-US" sz="2400" dirty="0"/>
              <a:t>从终态“逆向”计算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>
            <a:extLst>
              <a:ext uri="{FF2B5EF4-FFF2-40B4-BE49-F238E27FC236}">
                <a16:creationId xmlns:a16="http://schemas.microsoft.com/office/drawing/2014/main" id="{C5B5BC2C-3723-4C22-BC4F-0817A7572D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化简方法</a:t>
            </a: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3C9BB073-E23A-4672-A54F-C4FA9B6A60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/>
            <a:r>
              <a:rPr lang="zh-CN" altLang="en-US" dirty="0"/>
              <a:t>不可区分的状态</a:t>
            </a:r>
            <a:r>
              <a:rPr lang="zh-CN" altLang="en-US" dirty="0">
                <a:sym typeface="Wingdings" panose="05000000000000000000" pitchFamily="2" charset="2"/>
              </a:rPr>
              <a:t>合并</a:t>
            </a:r>
            <a:endParaRPr lang="zh-CN" altLang="en-US" dirty="0"/>
          </a:p>
          <a:p>
            <a:pPr eaLnBrk="1" hangingPunct="1"/>
            <a:r>
              <a:rPr lang="zh-CN" altLang="en-US" dirty="0"/>
              <a:t>实际算法是不断分裂而不是合并，算法执行过程中</a:t>
            </a:r>
          </a:p>
          <a:p>
            <a:pPr lvl="1" eaLnBrk="1" hangingPunct="1"/>
            <a:r>
              <a:rPr lang="zh-CN" altLang="en-US" dirty="0"/>
              <a:t>当前同组状态：尚未区分开（后续有可能区分开）</a:t>
            </a:r>
          </a:p>
          <a:p>
            <a:pPr lvl="1" eaLnBrk="1" hangingPunct="1"/>
            <a:r>
              <a:rPr lang="zh-CN" altLang="en-US" dirty="0"/>
              <a:t>当前不同组状态：已区分开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F6C0094E-C30E-43DE-B055-EDEC676B9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化简方法（续）</a:t>
            </a:r>
          </a:p>
        </p:txBody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A75510BF-EE3A-411A-94F2-D4B610C70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495800"/>
          </a:xfrm>
        </p:spPr>
        <p:txBody>
          <a:bodyPr/>
          <a:lstStyle/>
          <a:p>
            <a:pPr eaLnBrk="1" hangingPunct="1"/>
            <a:r>
              <a:rPr lang="zh-CN" altLang="en-US" dirty="0"/>
              <a:t>初始划分，两个组：终态与非终态</a:t>
            </a:r>
          </a:p>
          <a:p>
            <a:pPr eaLnBrk="1" hangingPunct="1"/>
            <a:r>
              <a:rPr lang="zh-CN" altLang="en-US" dirty="0"/>
              <a:t>分裂方法，对于状态组</a:t>
            </a:r>
            <a:r>
              <a:rPr lang="en-US" altLang="zh-CN" dirty="0"/>
              <a:t>A={s</a:t>
            </a:r>
            <a:r>
              <a:rPr lang="en-US" altLang="zh-CN" baseline="-25000" dirty="0"/>
              <a:t>1</a:t>
            </a:r>
            <a:r>
              <a:rPr lang="en-US" altLang="zh-CN" dirty="0"/>
              <a:t>,s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s</a:t>
            </a:r>
            <a:r>
              <a:rPr lang="en-US" altLang="zh-CN" baseline="-25000" dirty="0" err="1"/>
              <a:t>k</a:t>
            </a:r>
            <a:r>
              <a:rPr lang="en-US" altLang="zh-CN" dirty="0"/>
              <a:t>}</a:t>
            </a:r>
          </a:p>
          <a:p>
            <a:pPr lvl="1" eaLnBrk="1" hangingPunct="1"/>
            <a:r>
              <a:rPr lang="zh-CN" altLang="en-US" dirty="0"/>
              <a:t>对每个符号</a:t>
            </a:r>
            <a:r>
              <a:rPr lang="en-US" altLang="zh-CN" dirty="0"/>
              <a:t>a</a:t>
            </a:r>
            <a:r>
              <a:rPr lang="zh-CN" altLang="en-US" dirty="0"/>
              <a:t>，得到其转换状态</a:t>
            </a:r>
            <a:r>
              <a:rPr lang="en-US" altLang="zh-CN" dirty="0"/>
              <a:t>t</a:t>
            </a:r>
            <a:r>
              <a:rPr lang="en-US" altLang="zh-CN" baseline="-25000" dirty="0"/>
              <a:t>1</a:t>
            </a:r>
            <a:r>
              <a:rPr lang="en-US" altLang="zh-CN" dirty="0"/>
              <a:t>,t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k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若</a:t>
            </a:r>
            <a:r>
              <a:rPr lang="en-US" altLang="zh-CN" dirty="0"/>
              <a:t>t</a:t>
            </a:r>
            <a:r>
              <a:rPr lang="en-US" altLang="zh-CN" baseline="-25000" dirty="0"/>
              <a:t>1</a:t>
            </a:r>
            <a:r>
              <a:rPr lang="en-US" altLang="zh-CN" dirty="0"/>
              <a:t>,t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k</a:t>
            </a:r>
            <a:r>
              <a:rPr lang="zh-CN" altLang="en-US" dirty="0"/>
              <a:t>属于不同状态组，则需将</a:t>
            </a:r>
            <a:r>
              <a:rPr lang="en-US" altLang="zh-CN" dirty="0"/>
              <a:t>A</a:t>
            </a:r>
            <a:r>
              <a:rPr lang="zh-CN" altLang="en-US" dirty="0"/>
              <a:t>对应分裂为若干组</a:t>
            </a:r>
            <a:endParaRPr lang="zh-CN" altLang="en-US" baseline="-250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D72AABF3-F5E0-480C-AA42-CCECD323FD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化简方法（续）</a:t>
            </a: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7710B719-B0E3-423A-BBA0-97A15342BD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495800"/>
          </a:xfrm>
        </p:spPr>
        <p:txBody>
          <a:bodyPr/>
          <a:lstStyle/>
          <a:p>
            <a:pPr eaLnBrk="1" hangingPunct="1"/>
            <a:r>
              <a:rPr lang="zh-CN" altLang="en-US" dirty="0"/>
              <a:t>例如，初始分组</a:t>
            </a:r>
            <a:r>
              <a:rPr lang="en-US" altLang="zh-CN" dirty="0"/>
              <a:t>{s</a:t>
            </a:r>
            <a:r>
              <a:rPr lang="en-US" altLang="zh-CN" baseline="-25000" dirty="0"/>
              <a:t>1</a:t>
            </a:r>
            <a:r>
              <a:rPr lang="en-US" altLang="zh-CN" dirty="0"/>
              <a:t>, s</a:t>
            </a:r>
            <a:r>
              <a:rPr lang="en-US" altLang="zh-CN" baseline="-25000" dirty="0"/>
              <a:t>4</a:t>
            </a:r>
            <a:r>
              <a:rPr lang="en-US" altLang="zh-CN" dirty="0"/>
              <a:t>, s</a:t>
            </a:r>
            <a:r>
              <a:rPr lang="en-US" altLang="zh-CN" baseline="-25000" dirty="0"/>
              <a:t>5</a:t>
            </a:r>
            <a:r>
              <a:rPr lang="en-US" altLang="zh-CN" dirty="0"/>
              <a:t>}</a:t>
            </a:r>
            <a:r>
              <a:rPr lang="zh-CN" altLang="en-US" dirty="0"/>
              <a:t>、</a:t>
            </a:r>
            <a:r>
              <a:rPr lang="en-US" altLang="zh-CN" dirty="0"/>
              <a:t>{s</a:t>
            </a:r>
            <a:r>
              <a:rPr lang="en-US" altLang="zh-CN" baseline="-25000" dirty="0"/>
              <a:t>2</a:t>
            </a:r>
            <a:r>
              <a:rPr lang="en-US" altLang="zh-CN" dirty="0"/>
              <a:t>, s</a:t>
            </a:r>
            <a:r>
              <a:rPr lang="en-US" altLang="zh-CN" baseline="-25000" dirty="0"/>
              <a:t>3</a:t>
            </a:r>
            <a:r>
              <a:rPr lang="en-US" altLang="zh-CN" dirty="0"/>
              <a:t>}</a:t>
            </a:r>
            <a:br>
              <a:rPr lang="en-US" altLang="zh-CN" dirty="0"/>
            </a:br>
            <a:r>
              <a:rPr lang="en-US" altLang="zh-CN" dirty="0">
                <a:latin typeface="Symbol" panose="05050102010706020507" pitchFamily="18" charset="2"/>
              </a:rPr>
              <a:t>e</a:t>
            </a:r>
            <a:r>
              <a:rPr lang="zh-CN" altLang="en-US" dirty="0">
                <a:latin typeface="Symbol" panose="05050102010706020507" pitchFamily="18" charset="2"/>
              </a:rPr>
              <a:t>能区分两个分组，但</a:t>
            </a:r>
            <a:r>
              <a:rPr lang="zh-CN" altLang="en-US" dirty="0"/>
              <a:t>无法区分组内状态</a:t>
            </a:r>
          </a:p>
          <a:p>
            <a:pPr eaLnBrk="1" hangingPunct="1"/>
            <a:r>
              <a:rPr lang="en-US" altLang="zh-CN" dirty="0">
                <a:latin typeface="Symbol" panose="05050102010706020507" pitchFamily="18" charset="2"/>
              </a:rPr>
              <a:t>d(</a:t>
            </a:r>
            <a:r>
              <a:rPr lang="en-US" altLang="zh-CN" dirty="0"/>
              <a:t>{{s</a:t>
            </a:r>
            <a:r>
              <a:rPr lang="en-US" altLang="zh-CN" baseline="-25000" dirty="0"/>
              <a:t>1</a:t>
            </a:r>
            <a:r>
              <a:rPr lang="en-US" altLang="zh-CN" dirty="0"/>
              <a:t>, s</a:t>
            </a:r>
            <a:r>
              <a:rPr lang="en-US" altLang="zh-CN" baseline="-25000" dirty="0"/>
              <a:t>4</a:t>
            </a:r>
            <a:r>
              <a:rPr lang="en-US" altLang="zh-CN" dirty="0"/>
              <a:t>, s</a:t>
            </a:r>
            <a:r>
              <a:rPr lang="en-US" altLang="zh-CN" baseline="-25000" dirty="0"/>
              <a:t>5</a:t>
            </a:r>
            <a:r>
              <a:rPr lang="en-US" altLang="zh-CN" dirty="0"/>
              <a:t>}}, a)={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3333CC"/>
                </a:solidFill>
              </a:rPr>
              <a:t>s</a:t>
            </a:r>
            <a:r>
              <a:rPr lang="en-US" altLang="zh-CN" baseline="-25000" dirty="0">
                <a:solidFill>
                  <a:srgbClr val="3333CC"/>
                </a:solidFill>
              </a:rPr>
              <a:t>4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r>
              <a:rPr lang="en-US" altLang="zh-CN" baseline="-25000" dirty="0">
                <a:solidFill>
                  <a:srgbClr val="FF0000"/>
                </a:solidFill>
              </a:rPr>
              <a:t>3</a:t>
            </a:r>
            <a:r>
              <a:rPr lang="en-US" altLang="zh-CN" dirty="0"/>
              <a:t>}</a:t>
            </a:r>
            <a:br>
              <a:rPr lang="en-US" altLang="zh-CN" dirty="0"/>
            </a:br>
            <a:r>
              <a:rPr lang="zh-CN" altLang="en-US" dirty="0"/>
              <a:t>意味着</a:t>
            </a:r>
            <a:r>
              <a:rPr lang="en-US" altLang="zh-CN" dirty="0"/>
              <a:t>a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r>
              <a:rPr lang="zh-CN" altLang="en-US" dirty="0"/>
              <a:t>能区分</a:t>
            </a:r>
            <a:r>
              <a:rPr lang="en-US" altLang="zh-CN" dirty="0"/>
              <a:t>{s</a:t>
            </a:r>
            <a:r>
              <a:rPr lang="en-US" altLang="zh-CN" baseline="-25000" dirty="0"/>
              <a:t>1</a:t>
            </a:r>
            <a:r>
              <a:rPr lang="en-US" altLang="zh-CN" dirty="0"/>
              <a:t>, s</a:t>
            </a:r>
            <a:r>
              <a:rPr lang="en-US" altLang="zh-CN" baseline="-25000" dirty="0"/>
              <a:t>5</a:t>
            </a:r>
            <a:r>
              <a:rPr lang="en-US" altLang="zh-CN" dirty="0"/>
              <a:t>}</a:t>
            </a:r>
            <a:r>
              <a:rPr lang="zh-CN" altLang="en-US" dirty="0"/>
              <a:t>和</a:t>
            </a:r>
            <a:r>
              <a:rPr lang="en-US" altLang="zh-CN" dirty="0"/>
              <a:t>{ s</a:t>
            </a:r>
            <a:r>
              <a:rPr lang="en-US" altLang="zh-CN" baseline="-25000" dirty="0"/>
              <a:t>4 </a:t>
            </a:r>
            <a:r>
              <a:rPr lang="en-US" altLang="zh-CN" dirty="0"/>
              <a:t>}</a:t>
            </a:r>
            <a:r>
              <a:rPr lang="zh-CN" altLang="en-US" dirty="0"/>
              <a:t>！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因为从</a:t>
            </a:r>
            <a:r>
              <a:rPr lang="en-US" altLang="zh-CN" dirty="0"/>
              <a:t>{s</a:t>
            </a:r>
            <a:r>
              <a:rPr lang="en-US" altLang="zh-CN" baseline="-25000" dirty="0"/>
              <a:t>4</a:t>
            </a:r>
            <a:r>
              <a:rPr lang="en-US" altLang="zh-CN" dirty="0"/>
              <a:t>}</a:t>
            </a:r>
            <a:r>
              <a:rPr lang="zh-CN" altLang="en-US" dirty="0"/>
              <a:t>、</a:t>
            </a:r>
            <a:r>
              <a:rPr lang="en-US" altLang="zh-CN" dirty="0"/>
              <a:t>{s</a:t>
            </a:r>
            <a:r>
              <a:rPr lang="en-US" altLang="zh-CN" baseline="-25000" dirty="0"/>
              <a:t>2</a:t>
            </a:r>
            <a:r>
              <a:rPr lang="en-US" altLang="zh-CN" dirty="0"/>
              <a:t>, s</a:t>
            </a:r>
            <a:r>
              <a:rPr lang="en-US" altLang="zh-CN" baseline="-25000" dirty="0"/>
              <a:t>3</a:t>
            </a:r>
            <a:r>
              <a:rPr lang="en-US" altLang="zh-CN" dirty="0"/>
              <a:t>}</a:t>
            </a:r>
            <a:r>
              <a:rPr lang="zh-CN" altLang="en-US" dirty="0"/>
              <a:t> </a:t>
            </a:r>
            <a:r>
              <a:rPr lang="zh-CN" altLang="en-US" dirty="0">
                <a:latin typeface="Symbol" panose="05050102010706020507" pitchFamily="18" charset="2"/>
              </a:rPr>
              <a:t>开始，识别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r>
              <a:rPr lang="zh-CN" altLang="en-US" dirty="0">
                <a:latin typeface="Symbol" panose="05050102010706020507" pitchFamily="18" charset="2"/>
              </a:rPr>
              <a:t>分别导向终态和非终态</a:t>
            </a:r>
            <a:endParaRPr lang="en-US" altLang="zh-CN" dirty="0">
              <a:latin typeface="Symbol" panose="05050102010706020507" pitchFamily="18" charset="2"/>
            </a:endParaRPr>
          </a:p>
          <a:p>
            <a:pPr lvl="1" eaLnBrk="1" hangingPunct="1"/>
            <a:r>
              <a:rPr lang="zh-CN" altLang="en-US" dirty="0">
                <a:latin typeface="Symbol" panose="05050102010706020507" pitchFamily="18" charset="2"/>
              </a:rPr>
              <a:t>则从</a:t>
            </a:r>
            <a:r>
              <a:rPr lang="en-US" altLang="zh-CN" dirty="0"/>
              <a:t>{s</a:t>
            </a:r>
            <a:r>
              <a:rPr lang="en-US" altLang="zh-CN" baseline="-25000" dirty="0"/>
              <a:t>4</a:t>
            </a:r>
            <a:r>
              <a:rPr lang="en-US" altLang="zh-CN" dirty="0"/>
              <a:t>}</a:t>
            </a:r>
            <a:r>
              <a:rPr lang="zh-CN" altLang="en-US" dirty="0"/>
              <a:t>、</a:t>
            </a:r>
            <a:r>
              <a:rPr lang="en-US" altLang="zh-CN" dirty="0"/>
              <a:t>{s</a:t>
            </a:r>
            <a:r>
              <a:rPr lang="en-US" altLang="zh-CN" baseline="-25000" dirty="0"/>
              <a:t>1</a:t>
            </a:r>
            <a:r>
              <a:rPr lang="en-US" altLang="zh-CN" dirty="0"/>
              <a:t>, s</a:t>
            </a:r>
            <a:r>
              <a:rPr lang="en-US" altLang="zh-CN" baseline="-25000" dirty="0"/>
              <a:t>5</a:t>
            </a:r>
            <a:r>
              <a:rPr lang="en-US" altLang="zh-CN" dirty="0"/>
              <a:t>}</a:t>
            </a:r>
            <a:r>
              <a:rPr lang="zh-CN" altLang="en-US" dirty="0"/>
              <a:t> </a:t>
            </a:r>
            <a:r>
              <a:rPr lang="zh-CN" altLang="en-US" dirty="0">
                <a:latin typeface="Symbol" panose="05050102010706020507" pitchFamily="18" charset="2"/>
              </a:rPr>
              <a:t>开始识别</a:t>
            </a:r>
            <a:r>
              <a:rPr lang="en-US" altLang="zh-CN" dirty="0"/>
              <a:t>a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r>
              <a:rPr lang="zh-CN" altLang="en-US" dirty="0">
                <a:latin typeface="Symbol" panose="05050102010706020507" pitchFamily="18" charset="2"/>
              </a:rPr>
              <a:t>，</a:t>
            </a:r>
            <a:r>
              <a:rPr lang="en-US" altLang="zh-CN" dirty="0"/>
              <a:t>a</a:t>
            </a:r>
            <a:r>
              <a:rPr lang="zh-CN" altLang="en-US" dirty="0">
                <a:latin typeface="Symbol" panose="05050102010706020507" pitchFamily="18" charset="2"/>
              </a:rPr>
              <a:t>将它们导向</a:t>
            </a:r>
            <a:r>
              <a:rPr lang="en-US" altLang="zh-CN" dirty="0"/>
              <a:t>{s</a:t>
            </a:r>
            <a:r>
              <a:rPr lang="en-US" altLang="zh-CN" baseline="-25000" dirty="0"/>
              <a:t>4</a:t>
            </a:r>
            <a:r>
              <a:rPr lang="en-US" altLang="zh-CN" dirty="0"/>
              <a:t>}</a:t>
            </a:r>
            <a:r>
              <a:rPr lang="zh-CN" altLang="en-US" dirty="0"/>
              <a:t>、</a:t>
            </a:r>
            <a:r>
              <a:rPr lang="en-US" altLang="zh-CN" dirty="0"/>
              <a:t>{s</a:t>
            </a:r>
            <a:r>
              <a:rPr lang="en-US" altLang="zh-CN" baseline="-25000" dirty="0"/>
              <a:t>2</a:t>
            </a:r>
            <a:r>
              <a:rPr lang="en-US" altLang="zh-CN" dirty="0"/>
              <a:t>, s</a:t>
            </a:r>
            <a:r>
              <a:rPr lang="en-US" altLang="zh-CN" baseline="-25000" dirty="0"/>
              <a:t>3</a:t>
            </a:r>
            <a:r>
              <a:rPr lang="en-US" altLang="zh-CN" dirty="0"/>
              <a:t>}</a:t>
            </a:r>
            <a:r>
              <a:rPr lang="zh-CN" altLang="en-US" dirty="0"/>
              <a:t>，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r>
              <a:rPr lang="zh-CN" altLang="en-US" dirty="0"/>
              <a:t>继而导向至</a:t>
            </a:r>
            <a:r>
              <a:rPr lang="zh-CN" altLang="en-US" dirty="0">
                <a:latin typeface="Symbol" panose="05050102010706020507" pitchFamily="18" charset="2"/>
              </a:rPr>
              <a:t>终态和非终态</a:t>
            </a:r>
            <a:endParaRPr lang="en-US" altLang="zh-CN" dirty="0"/>
          </a:p>
          <a:p>
            <a:pPr eaLnBrk="1" hangingPunct="1"/>
            <a:r>
              <a:rPr lang="zh-CN" altLang="en-US" dirty="0"/>
              <a:t>因此将第一组分裂为</a:t>
            </a:r>
            <a:r>
              <a:rPr lang="en-US" altLang="zh-CN" dirty="0"/>
              <a:t>{s</a:t>
            </a:r>
            <a:r>
              <a:rPr lang="en-US" altLang="zh-CN" baseline="-25000" dirty="0"/>
              <a:t>1</a:t>
            </a:r>
            <a:r>
              <a:rPr lang="en-US" altLang="zh-CN" dirty="0"/>
              <a:t>, s</a:t>
            </a:r>
            <a:r>
              <a:rPr lang="en-US" altLang="zh-CN" baseline="-25000" dirty="0"/>
              <a:t>5</a:t>
            </a:r>
            <a:r>
              <a:rPr lang="en-US" altLang="zh-CN" dirty="0"/>
              <a:t>}</a:t>
            </a:r>
            <a:r>
              <a:rPr lang="zh-CN" altLang="en-US" dirty="0"/>
              <a:t>、</a:t>
            </a:r>
            <a:r>
              <a:rPr lang="en-US" altLang="zh-CN" dirty="0"/>
              <a:t>{ s</a:t>
            </a:r>
            <a:r>
              <a:rPr lang="en-US" altLang="zh-CN" baseline="-25000" dirty="0"/>
              <a:t>4 </a:t>
            </a:r>
            <a:r>
              <a:rPr lang="en-US" altLang="zh-CN" dirty="0"/>
              <a:t>}</a:t>
            </a:r>
          </a:p>
          <a:p>
            <a:pPr eaLnBrk="1" hangingPunct="1"/>
            <a:r>
              <a:rPr lang="zh-CN" altLang="en-US" dirty="0"/>
              <a:t>重复上述过程</a:t>
            </a:r>
            <a:r>
              <a:rPr lang="en-US" altLang="zh-CN" dirty="0"/>
              <a:t>——</a:t>
            </a:r>
            <a:r>
              <a:rPr lang="zh-CN" altLang="en-US" dirty="0"/>
              <a:t>等价于分析更长的符号串是否能区分状态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:a16="http://schemas.microsoft.com/office/drawing/2014/main" id="{A6DE0D38-5E0A-42FE-A3E3-ADEF6679B3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3.6  </a:t>
            </a:r>
            <a:r>
              <a:rPr lang="zh-CN" altLang="en-US"/>
              <a:t>最小化</a:t>
            </a:r>
            <a:r>
              <a:rPr lang="en-US" altLang="zh-CN"/>
              <a:t>DFA</a:t>
            </a:r>
          </a:p>
        </p:txBody>
      </p:sp>
      <p:sp>
        <p:nvSpPr>
          <p:cNvPr id="190467" name="Rectangle 4">
            <a:extLst>
              <a:ext uri="{FF2B5EF4-FFF2-40B4-BE49-F238E27FC236}">
                <a16:creationId xmlns:a16="http://schemas.microsoft.com/office/drawing/2014/main" id="{4120DA0D-2285-40C1-A250-4900760DB2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  <a:noFill/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输入：</a:t>
            </a:r>
            <a:r>
              <a:rPr kumimoji="0" lang="zh-CN" altLang="en-US" sz="2400">
                <a:sym typeface="Symbol" panose="05050102010706020507" pitchFamily="18" charset="2"/>
              </a:rPr>
              <a:t>一个</a:t>
            </a:r>
            <a:r>
              <a:rPr kumimoji="0" lang="en-US" altLang="zh-CN" sz="2400">
                <a:sym typeface="Symbol" panose="05050102010706020507" pitchFamily="18" charset="2"/>
              </a:rPr>
              <a:t>DFA M</a:t>
            </a:r>
            <a:r>
              <a:rPr kumimoji="0" lang="zh-CN" altLang="en-US" sz="2400">
                <a:sym typeface="Symbol" panose="05050102010706020507" pitchFamily="18" charset="2"/>
              </a:rPr>
              <a:t>，状态集</a:t>
            </a:r>
            <a:r>
              <a:rPr kumimoji="0" lang="en-US" altLang="zh-CN" sz="2400">
                <a:sym typeface="Symbol" panose="05050102010706020507" pitchFamily="18" charset="2"/>
              </a:rPr>
              <a:t>S</a:t>
            </a:r>
            <a:r>
              <a:rPr kumimoji="0" lang="zh-CN" altLang="en-US" sz="2400">
                <a:sym typeface="Symbol" panose="05050102010706020507" pitchFamily="18" charset="2"/>
              </a:rPr>
              <a:t>，字母表</a:t>
            </a:r>
            <a:r>
              <a:rPr kumimoji="0" lang="en-US" altLang="zh-CN" sz="2400">
                <a:sym typeface="Symbol" panose="05050102010706020507" pitchFamily="18" charset="2"/>
              </a:rPr>
              <a:t>Σ</a:t>
            </a:r>
            <a:r>
              <a:rPr kumimoji="0" lang="zh-CN" altLang="en-US" sz="2400">
                <a:sym typeface="Symbol" panose="05050102010706020507" pitchFamily="18" charset="2"/>
              </a:rPr>
              <a:t>，初态</a:t>
            </a:r>
            <a:r>
              <a:rPr kumimoji="0" lang="en-US" altLang="zh-CN" sz="2400">
                <a:sym typeface="Symbol" panose="05050102010706020507" pitchFamily="18" charset="2"/>
              </a:rPr>
              <a:t>s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0</a:t>
            </a:r>
            <a:r>
              <a:rPr kumimoji="0" lang="zh-CN" altLang="en-US" sz="2400">
                <a:sym typeface="Symbol" panose="05050102010706020507" pitchFamily="18" charset="2"/>
              </a:rPr>
              <a:t>，终态集</a:t>
            </a:r>
            <a:r>
              <a:rPr kumimoji="0" lang="en-US" altLang="zh-CN" sz="2400">
                <a:sym typeface="Symbol" panose="05050102010706020507" pitchFamily="18" charset="2"/>
              </a:rPr>
              <a:t>F</a:t>
            </a:r>
            <a:r>
              <a:rPr kumimoji="0" lang="zh-CN" altLang="en-US" sz="2400">
                <a:sym typeface="Symbol" panose="05050102010706020507" pitchFamily="18" charset="2"/>
              </a:rPr>
              <a:t>，对所有</a:t>
            </a:r>
            <a:r>
              <a:rPr kumimoji="0" lang="en-US" altLang="zh-CN" sz="2400">
                <a:sym typeface="Symbol" panose="05050102010706020507" pitchFamily="18" charset="2"/>
              </a:rPr>
              <a:t>(</a:t>
            </a:r>
            <a:r>
              <a:rPr kumimoji="0" lang="zh-CN" altLang="en-US" sz="2400">
                <a:sym typeface="Symbol" panose="05050102010706020507" pitchFamily="18" charset="2"/>
              </a:rPr>
              <a:t>状态，符号</a:t>
            </a:r>
            <a:r>
              <a:rPr kumimoji="0" lang="en-US" altLang="zh-CN" sz="2400">
                <a:sym typeface="Symbol" panose="05050102010706020507" pitchFamily="18" charset="2"/>
              </a:rPr>
              <a:t>)</a:t>
            </a:r>
            <a:r>
              <a:rPr kumimoji="0" lang="zh-CN" altLang="en-US" sz="2400">
                <a:sym typeface="Symbol" panose="05050102010706020507" pitchFamily="18" charset="2"/>
              </a:rPr>
              <a:t>对，状态转换均有定义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400">
                <a:sym typeface="Symbol" panose="05050102010706020507" pitchFamily="18" charset="2"/>
              </a:rPr>
              <a:t>输出：一个</a:t>
            </a:r>
            <a:r>
              <a:rPr kumimoji="0" lang="en-US" altLang="zh-CN" sz="2400">
                <a:sym typeface="Symbol" panose="05050102010706020507" pitchFamily="18" charset="2"/>
              </a:rPr>
              <a:t>DFA M’</a:t>
            </a:r>
            <a:r>
              <a:rPr kumimoji="0" lang="zh-CN" altLang="en-US" sz="2400">
                <a:sym typeface="Symbol" panose="05050102010706020507" pitchFamily="18" charset="2"/>
              </a:rPr>
              <a:t>，</a:t>
            </a:r>
            <a:r>
              <a:rPr kumimoji="0" lang="en-US" altLang="zh-CN" sz="2400">
                <a:sym typeface="Symbol" panose="05050102010706020507" pitchFamily="18" charset="2"/>
              </a:rPr>
              <a:t>L(M’)=L(M)</a:t>
            </a:r>
            <a:r>
              <a:rPr kumimoji="0" lang="zh-CN" altLang="en-US" sz="2400">
                <a:sym typeface="Symbol" panose="05050102010706020507" pitchFamily="18" charset="2"/>
              </a:rPr>
              <a:t>，且</a:t>
            </a:r>
            <a:r>
              <a:rPr kumimoji="0" lang="en-US" altLang="zh-CN" sz="2400">
                <a:sym typeface="Symbol" panose="05050102010706020507" pitchFamily="18" charset="2"/>
              </a:rPr>
              <a:t>M’</a:t>
            </a:r>
            <a:r>
              <a:rPr kumimoji="0" lang="zh-CN" altLang="en-US" sz="2400">
                <a:sym typeface="Symbol" panose="05050102010706020507" pitchFamily="18" charset="2"/>
              </a:rPr>
              <a:t>具有最少的状态数目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400">
                <a:sym typeface="Symbol" panose="05050102010706020507" pitchFamily="18" charset="2"/>
              </a:rPr>
              <a:t>方法：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构造状态集的初始划分</a:t>
            </a:r>
            <a:r>
              <a:rPr kumimoji="0" lang="en-US" altLang="zh-CN" sz="2400">
                <a:sym typeface="Symbol" panose="05050102010706020507" pitchFamily="18" charset="2"/>
              </a:rPr>
              <a:t>Π</a:t>
            </a:r>
            <a:r>
              <a:rPr kumimoji="0" lang="zh-CN" altLang="en-US" sz="2400">
                <a:sym typeface="Symbol" panose="05050102010706020507" pitchFamily="18" charset="2"/>
              </a:rPr>
              <a:t>：分为两个组，终态组</a:t>
            </a:r>
            <a:r>
              <a:rPr kumimoji="0" lang="en-US" altLang="zh-CN" sz="2400">
                <a:sym typeface="Symbol" panose="05050102010706020507" pitchFamily="18" charset="2"/>
              </a:rPr>
              <a:t>F</a:t>
            </a:r>
            <a:r>
              <a:rPr kumimoji="0" lang="zh-CN" altLang="en-US" sz="2400">
                <a:sym typeface="Symbol" panose="05050102010706020507" pitchFamily="18" charset="2"/>
              </a:rPr>
              <a:t>，和非终态组</a:t>
            </a:r>
            <a:r>
              <a:rPr kumimoji="0" lang="en-US" altLang="zh-CN" sz="2400">
                <a:sym typeface="Symbol" panose="05050102010706020507" pitchFamily="18" charset="2"/>
              </a:rPr>
              <a:t>S-F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利用下面给出的算法将</a:t>
            </a:r>
            <a:r>
              <a:rPr kumimoji="0" lang="en-US" altLang="zh-CN" sz="2400">
                <a:sym typeface="Symbol" panose="05050102010706020507" pitchFamily="18" charset="2"/>
              </a:rPr>
              <a:t>Π</a:t>
            </a:r>
            <a:r>
              <a:rPr kumimoji="0" lang="zh-CN" altLang="en-US" sz="2400">
                <a:sym typeface="Symbol" panose="05050102010706020507" pitchFamily="18" charset="2"/>
              </a:rPr>
              <a:t>继续划分为</a:t>
            </a:r>
            <a:r>
              <a:rPr kumimoji="0" lang="en-US" altLang="zh-CN" sz="2400">
                <a:sym typeface="Symbol" panose="05050102010706020507" pitchFamily="18" charset="2"/>
              </a:rPr>
              <a:t>Π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new</a:t>
            </a:r>
            <a:endParaRPr kumimoji="0" lang="en-US" altLang="zh-CN" sz="2400">
              <a:sym typeface="Symbol" panose="05050102010706020507" pitchFamily="18" charset="2"/>
            </a:endParaRP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zh-CN" altLang="en-US" sz="2400">
                <a:sym typeface="Symbol" panose="05050102010706020507" pitchFamily="18" charset="2"/>
              </a:rPr>
              <a:t>若</a:t>
            </a:r>
            <a:r>
              <a:rPr kumimoji="0" lang="en-US" altLang="zh-CN" sz="2400">
                <a:sym typeface="Symbol" panose="05050102010706020507" pitchFamily="18" charset="2"/>
              </a:rPr>
              <a:t>Π=Π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new</a:t>
            </a:r>
            <a:r>
              <a:rPr kumimoji="0" lang="zh-CN" altLang="en-US" sz="2400">
                <a:sym typeface="Symbol" panose="05050102010706020507" pitchFamily="18" charset="2"/>
              </a:rPr>
              <a:t>， </a:t>
            </a:r>
            <a:r>
              <a:rPr kumimoji="0" lang="en-US" altLang="zh-CN" sz="2400">
                <a:sym typeface="Symbol" panose="05050102010706020507" pitchFamily="18" charset="2"/>
              </a:rPr>
              <a:t>Π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final</a:t>
            </a:r>
            <a:r>
              <a:rPr kumimoji="0" lang="en-US" altLang="zh-CN" sz="2400">
                <a:latin typeface="宋体" panose="02010600030101010101" pitchFamily="2" charset="-122"/>
                <a:sym typeface="Symbol" panose="05050102010706020507" pitchFamily="18" charset="2"/>
              </a:rPr>
              <a:t>←</a:t>
            </a:r>
            <a:r>
              <a:rPr kumimoji="0" lang="en-US" altLang="zh-CN" sz="2400">
                <a:sym typeface="Symbol" panose="05050102010706020507" pitchFamily="18" charset="2"/>
              </a:rPr>
              <a:t>Π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new</a:t>
            </a:r>
            <a:r>
              <a:rPr kumimoji="0" lang="zh-CN" altLang="en-US" sz="2400">
                <a:sym typeface="Symbol" panose="05050102010706020507" pitchFamily="18" charset="2"/>
              </a:rPr>
              <a:t>，转</a:t>
            </a:r>
            <a:r>
              <a:rPr kumimoji="0" lang="en-US" altLang="zh-CN" sz="2400">
                <a:sym typeface="Symbol" panose="05050102010706020507" pitchFamily="18" charset="2"/>
              </a:rPr>
              <a:t>4</a:t>
            </a:r>
            <a:r>
              <a:rPr kumimoji="0" lang="zh-CN" altLang="en-US" sz="2400">
                <a:sym typeface="Symbol" panose="05050102010706020507" pitchFamily="18" charset="2"/>
              </a:rPr>
              <a:t>，否则， </a:t>
            </a:r>
            <a:r>
              <a:rPr kumimoji="0" lang="en-US" altLang="zh-CN" sz="2400">
                <a:sym typeface="Symbol" panose="05050102010706020507" pitchFamily="18" charset="2"/>
              </a:rPr>
              <a:t>Π</a:t>
            </a:r>
            <a:r>
              <a:rPr kumimoji="0" lang="en-US" altLang="zh-CN" sz="2400">
                <a:latin typeface="宋体" panose="02010600030101010101" pitchFamily="2" charset="-122"/>
                <a:sym typeface="Symbol" panose="05050102010706020507" pitchFamily="18" charset="2"/>
              </a:rPr>
              <a:t>←</a:t>
            </a:r>
            <a:r>
              <a:rPr kumimoji="0" lang="en-US" altLang="zh-CN" sz="2400">
                <a:sym typeface="Symbol" panose="05050102010706020507" pitchFamily="18" charset="2"/>
              </a:rPr>
              <a:t>Π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new</a:t>
            </a:r>
            <a:r>
              <a:rPr kumimoji="0" lang="zh-CN" altLang="en-US" sz="2400">
                <a:sym typeface="Symbol" panose="05050102010706020507" pitchFamily="18" charset="2"/>
              </a:rPr>
              <a:t>，转</a:t>
            </a:r>
            <a:r>
              <a:rPr kumimoji="0" lang="en-US" altLang="zh-CN" sz="2400">
                <a:sym typeface="Symbol" panose="05050102010706020507" pitchFamily="18" charset="2"/>
              </a:rPr>
              <a:t>2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414DD806-3D58-4558-897E-8F5252BF9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3.6  </a:t>
            </a:r>
            <a:r>
              <a:rPr lang="zh-CN" altLang="en-US"/>
              <a:t>最小化</a:t>
            </a:r>
            <a:r>
              <a:rPr lang="en-US" altLang="zh-CN"/>
              <a:t>DFA</a:t>
            </a:r>
            <a:r>
              <a:rPr lang="zh-CN" altLang="en-US"/>
              <a:t>（续）</a:t>
            </a:r>
          </a:p>
        </p:txBody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A95C5B30-6F7C-43E8-BB35-DCD6074C94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  <a:noFill/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 startAt="4"/>
            </a:pPr>
            <a:r>
              <a:rPr kumimoji="0" lang="zh-CN" altLang="en-US" sz="2400">
                <a:sym typeface="Symbol" panose="05050102010706020507" pitchFamily="18" charset="2"/>
              </a:rPr>
              <a:t>每个组选出一个</a:t>
            </a:r>
            <a:r>
              <a:rPr kumimoji="0" lang="zh-CN" altLang="en-US" sz="2400">
                <a:solidFill>
                  <a:srgbClr val="3333CC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代表</a:t>
            </a:r>
            <a:r>
              <a:rPr kumimoji="0" lang="zh-CN" altLang="en-US" sz="2400">
                <a:sym typeface="Symbol" panose="05050102010706020507" pitchFamily="18" charset="2"/>
              </a:rPr>
              <a:t>，作为</a:t>
            </a:r>
            <a:r>
              <a:rPr kumimoji="0" lang="en-US" altLang="zh-CN" sz="2400">
                <a:sym typeface="Symbol" panose="05050102010706020507" pitchFamily="18" charset="2"/>
              </a:rPr>
              <a:t>M’</a:t>
            </a:r>
            <a:r>
              <a:rPr kumimoji="0" lang="zh-CN" altLang="en-US" sz="2400">
                <a:sym typeface="Symbol" panose="05050102010706020507" pitchFamily="18" charset="2"/>
              </a:rPr>
              <a:t>的状态</a:t>
            </a:r>
          </a:p>
          <a:p>
            <a:pPr marL="990600" lvl="1" indent="-533400" eaLnBrk="1" hangingPunct="1"/>
            <a:r>
              <a:rPr kumimoji="0" lang="zh-CN" altLang="en-US" sz="2000">
                <a:sym typeface="Symbol" panose="05050102010706020507" pitchFamily="18" charset="2"/>
              </a:rPr>
              <a:t>令</a:t>
            </a:r>
            <a:r>
              <a:rPr kumimoji="0" lang="en-US" altLang="zh-CN" sz="2000">
                <a:sym typeface="Symbol" panose="05050102010706020507" pitchFamily="18" charset="2"/>
              </a:rPr>
              <a:t>s</a:t>
            </a:r>
            <a:r>
              <a:rPr kumimoji="0" lang="zh-CN" altLang="en-US" sz="2000">
                <a:sym typeface="Symbol" panose="05050102010706020507" pitchFamily="18" charset="2"/>
              </a:rPr>
              <a:t>为一代表状态，</a:t>
            </a:r>
            <a:r>
              <a:rPr kumimoji="0"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000">
                <a:sym typeface="Symbol" panose="05050102010706020507" pitchFamily="18" charset="2"/>
              </a:rPr>
              <a:t>(s,a)=t</a:t>
            </a:r>
            <a:r>
              <a:rPr kumimoji="0" lang="zh-CN" altLang="en-US" sz="2000">
                <a:sym typeface="Symbol" panose="05050102010706020507" pitchFamily="18" charset="2"/>
              </a:rPr>
              <a:t>，</a:t>
            </a:r>
            <a:r>
              <a:rPr kumimoji="0" lang="en-US" altLang="zh-CN" sz="2000">
                <a:sym typeface="Symbol" panose="05050102010706020507" pitchFamily="18" charset="2"/>
              </a:rPr>
              <a:t>t</a:t>
            </a:r>
            <a:r>
              <a:rPr kumimoji="0" lang="zh-CN" altLang="en-US" sz="2000">
                <a:sym typeface="Symbol" panose="05050102010706020507" pitchFamily="18" charset="2"/>
              </a:rPr>
              <a:t>所在组的代表状态为</a:t>
            </a:r>
            <a:r>
              <a:rPr kumimoji="0" lang="en-US" altLang="zh-CN" sz="2000">
                <a:sym typeface="Symbol" panose="05050102010706020507" pitchFamily="18" charset="2"/>
              </a:rPr>
              <a:t>r</a:t>
            </a:r>
            <a:r>
              <a:rPr kumimoji="0" lang="zh-CN" altLang="en-US" sz="2000">
                <a:sym typeface="Symbol" panose="05050102010706020507" pitchFamily="18" charset="2"/>
              </a:rPr>
              <a:t>，则</a:t>
            </a:r>
            <a:r>
              <a:rPr kumimoji="0" lang="en-US" altLang="zh-CN" sz="2000"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  <a:r>
              <a:rPr kumimoji="0" lang="en-US" altLang="zh-CN" sz="2000">
                <a:sym typeface="Symbol" panose="05050102010706020507" pitchFamily="18" charset="2"/>
              </a:rPr>
              <a:t>’(s,a)=r</a:t>
            </a:r>
          </a:p>
          <a:p>
            <a:pPr marL="990600" lvl="1" indent="-533400" eaLnBrk="1" hangingPunct="1"/>
            <a:r>
              <a:rPr kumimoji="0" lang="en-US" altLang="zh-CN" sz="2000">
                <a:sym typeface="Symbol" panose="05050102010706020507" pitchFamily="18" charset="2"/>
              </a:rPr>
              <a:t>s</a:t>
            </a:r>
            <a:r>
              <a:rPr kumimoji="0" lang="en-US" altLang="zh-CN" sz="2000" baseline="-25000">
                <a:sym typeface="Symbol" panose="05050102010706020507" pitchFamily="18" charset="2"/>
              </a:rPr>
              <a:t>0</a:t>
            </a:r>
            <a:r>
              <a:rPr kumimoji="0" lang="zh-CN" altLang="en-US" sz="2000">
                <a:sym typeface="Symbol" panose="05050102010706020507" pitchFamily="18" charset="2"/>
              </a:rPr>
              <a:t>所在组的代表作为</a:t>
            </a:r>
            <a:r>
              <a:rPr kumimoji="0" lang="en-US" altLang="zh-CN" sz="2000">
                <a:sym typeface="Symbol" panose="05050102010706020507" pitchFamily="18" charset="2"/>
              </a:rPr>
              <a:t>M’</a:t>
            </a:r>
            <a:r>
              <a:rPr kumimoji="0" lang="zh-CN" altLang="en-US" sz="2000">
                <a:sym typeface="Symbol" panose="05050102010706020507" pitchFamily="18" charset="2"/>
              </a:rPr>
              <a:t>的初态</a:t>
            </a:r>
          </a:p>
          <a:p>
            <a:pPr marL="990600" lvl="1" indent="-533400" eaLnBrk="1" hangingPunct="1"/>
            <a:r>
              <a:rPr kumimoji="0" lang="zh-CN" altLang="en-US" sz="2000">
                <a:sym typeface="Symbol" panose="05050102010706020507" pitchFamily="18" charset="2"/>
              </a:rPr>
              <a:t>终态所在组的代表作为</a:t>
            </a:r>
            <a:r>
              <a:rPr kumimoji="0" lang="en-US" altLang="zh-CN" sz="2000">
                <a:sym typeface="Symbol" panose="05050102010706020507" pitchFamily="18" charset="2"/>
              </a:rPr>
              <a:t>M’</a:t>
            </a:r>
            <a:r>
              <a:rPr kumimoji="0" lang="zh-CN" altLang="en-US" sz="2000">
                <a:sym typeface="Symbol" panose="05050102010706020507" pitchFamily="18" charset="2"/>
              </a:rPr>
              <a:t>的终态</a:t>
            </a:r>
          </a:p>
          <a:p>
            <a:pPr marL="990600" lvl="1" indent="-533400" eaLnBrk="1" hangingPunct="1"/>
            <a:r>
              <a:rPr kumimoji="0" lang="zh-CN" altLang="en-US" sz="200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注意</a:t>
            </a:r>
            <a:r>
              <a:rPr kumimoji="0" lang="zh-CN" altLang="en-US" sz="2000">
                <a:sym typeface="Symbol" panose="05050102010706020507" pitchFamily="18" charset="2"/>
              </a:rPr>
              <a:t>：每个组或者</a:t>
            </a:r>
            <a:r>
              <a:rPr kumimoji="0" lang="zh-CN" altLang="en-US" sz="200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只有终态</a:t>
            </a:r>
            <a:r>
              <a:rPr kumimoji="0" lang="zh-CN" altLang="en-US" sz="2000">
                <a:sym typeface="Symbol" panose="05050102010706020507" pitchFamily="18" charset="2"/>
              </a:rPr>
              <a:t>，或者</a:t>
            </a:r>
            <a:r>
              <a:rPr kumimoji="0" lang="zh-CN" altLang="en-US" sz="200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没有终态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 startAt="4"/>
            </a:pPr>
            <a:r>
              <a:rPr kumimoji="0" lang="zh-CN" altLang="en-US" sz="2400">
                <a:sym typeface="Symbol" panose="05050102010706020507" pitchFamily="18" charset="2"/>
              </a:rPr>
              <a:t>删除</a:t>
            </a:r>
            <a:r>
              <a:rPr kumimoji="0" lang="zh-CN" altLang="en-US" sz="240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死状态</a:t>
            </a:r>
            <a:r>
              <a:rPr kumimoji="0" lang="en-US" altLang="zh-CN" sz="2400">
                <a:sym typeface="Symbol" panose="05050102010706020507" pitchFamily="18" charset="2"/>
              </a:rPr>
              <a:t>——</a:t>
            </a:r>
            <a:r>
              <a:rPr kumimoji="0" lang="zh-CN" altLang="en-US" sz="2400">
                <a:sym typeface="Symbol" panose="05050102010706020507" pitchFamily="18" charset="2"/>
              </a:rPr>
              <a:t>非终态，且所有状态转换都指向自身</a:t>
            </a:r>
            <a:br>
              <a:rPr kumimoji="0" lang="zh-CN" altLang="en-US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删除所有从初态</a:t>
            </a:r>
            <a:r>
              <a:rPr kumimoji="0" lang="zh-CN" altLang="en-US" sz="2400">
                <a:solidFill>
                  <a:srgbClr val="FF3300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不可达</a:t>
            </a:r>
            <a:r>
              <a:rPr kumimoji="0" lang="zh-CN" altLang="en-US" sz="2400">
                <a:sym typeface="Symbol" panose="05050102010706020507" pitchFamily="18" charset="2"/>
              </a:rPr>
              <a:t>的状态</a:t>
            </a:r>
            <a:br>
              <a:rPr kumimoji="0" lang="zh-CN" altLang="en-US" sz="2400">
                <a:sym typeface="Symbol" panose="05050102010706020507" pitchFamily="18" charset="2"/>
              </a:rPr>
            </a:br>
            <a:r>
              <a:rPr kumimoji="0" lang="zh-CN" altLang="en-US" sz="2400">
                <a:sym typeface="Symbol" panose="05050102010706020507" pitchFamily="18" charset="2"/>
              </a:rPr>
              <a:t>其他状态指向这些状态的转换都变为未定义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FD428081-8BB4-4175-A2C2-B97C13FC7F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  <a:r>
              <a:rPr lang="en-US" altLang="zh-CN"/>
              <a:t>3.6  </a:t>
            </a:r>
            <a:r>
              <a:rPr lang="zh-CN" altLang="en-US"/>
              <a:t>最小化</a:t>
            </a:r>
            <a:r>
              <a:rPr lang="en-US" altLang="zh-CN"/>
              <a:t>DFA</a:t>
            </a:r>
            <a:r>
              <a:rPr lang="zh-CN" altLang="en-US"/>
              <a:t>（续）</a:t>
            </a:r>
          </a:p>
        </p:txBody>
      </p:sp>
      <p:sp>
        <p:nvSpPr>
          <p:cNvPr id="192515" name="Rectangle 3">
            <a:extLst>
              <a:ext uri="{FF2B5EF4-FFF2-40B4-BE49-F238E27FC236}">
                <a16:creationId xmlns:a16="http://schemas.microsoft.com/office/drawing/2014/main" id="{00F4A9B0-584E-48F7-823A-B91AC31A40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  <a:noFill/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400">
                <a:sym typeface="Symbol" panose="05050102010706020507" pitchFamily="18" charset="2"/>
              </a:rPr>
              <a:t>划分算法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en-US" altLang="zh-CN" sz="2400" b="1">
                <a:sym typeface="Symbol" panose="05050102010706020507" pitchFamily="18" charset="2"/>
              </a:rPr>
              <a:t>for </a:t>
            </a:r>
            <a:r>
              <a:rPr kumimoji="0" lang="en-US" altLang="zh-CN" sz="2400">
                <a:sym typeface="Symbol" panose="05050102010706020507" pitchFamily="18" charset="2"/>
              </a:rPr>
              <a:t>(Π</a:t>
            </a:r>
            <a:r>
              <a:rPr kumimoji="0" lang="zh-CN" altLang="en-US" sz="2400">
                <a:sym typeface="Symbol" panose="05050102010706020507" pitchFamily="18" charset="2"/>
              </a:rPr>
              <a:t>中每个状态组</a:t>
            </a:r>
            <a:r>
              <a:rPr kumimoji="0" lang="en-US" altLang="zh-CN" sz="2400">
                <a:sym typeface="Symbol" panose="05050102010706020507" pitchFamily="18" charset="2"/>
              </a:rPr>
              <a:t>G) {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</a:t>
            </a:r>
            <a:r>
              <a:rPr kumimoji="0" lang="zh-CN" altLang="en-US" sz="2400">
                <a:sym typeface="Symbol" panose="05050102010706020507" pitchFamily="18" charset="2"/>
              </a:rPr>
              <a:t>将</a:t>
            </a:r>
            <a:r>
              <a:rPr kumimoji="0" lang="en-US" altLang="zh-CN" sz="2400">
                <a:sym typeface="Symbol" panose="05050102010706020507" pitchFamily="18" charset="2"/>
              </a:rPr>
              <a:t>G</a:t>
            </a:r>
            <a:r>
              <a:rPr kumimoji="0" lang="zh-CN" altLang="en-US" sz="2400">
                <a:sym typeface="Symbol" panose="05050102010706020507" pitchFamily="18" charset="2"/>
              </a:rPr>
              <a:t>划分为若干分组，使得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400">
                <a:sym typeface="Symbol" panose="05050102010706020507" pitchFamily="18" charset="2"/>
              </a:rPr>
              <a:t>	</a:t>
            </a:r>
            <a:r>
              <a:rPr kumimoji="0" lang="en-US" altLang="zh-CN" sz="2400">
                <a:sym typeface="Symbol" panose="05050102010706020507" pitchFamily="18" charset="2"/>
              </a:rPr>
              <a:t>G</a:t>
            </a:r>
            <a:r>
              <a:rPr kumimoji="0" lang="zh-CN" altLang="en-US" sz="2400">
                <a:sym typeface="Symbol" panose="05050102010706020507" pitchFamily="18" charset="2"/>
              </a:rPr>
              <a:t>中两个状态</a:t>
            </a:r>
            <a:r>
              <a:rPr kumimoji="0" lang="en-US" altLang="zh-CN" sz="2400">
                <a:sym typeface="Symbol" panose="05050102010706020507" pitchFamily="18" charset="2"/>
              </a:rPr>
              <a:t>s</a:t>
            </a:r>
            <a:r>
              <a:rPr kumimoji="0" lang="zh-CN" altLang="en-US" sz="2400">
                <a:sym typeface="Symbol" panose="05050102010706020507" pitchFamily="18" charset="2"/>
              </a:rPr>
              <a:t>、</a:t>
            </a:r>
            <a:r>
              <a:rPr kumimoji="0" lang="en-US" altLang="zh-CN" sz="2400">
                <a:sym typeface="Symbol" panose="05050102010706020507" pitchFamily="18" charset="2"/>
              </a:rPr>
              <a:t>t</a:t>
            </a:r>
            <a:r>
              <a:rPr kumimoji="0" lang="zh-CN" altLang="en-US" sz="2400">
                <a:sym typeface="Symbol" panose="05050102010706020507" pitchFamily="18" charset="2"/>
              </a:rPr>
              <a:t>在同一分组中的充要条件为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zh-CN" altLang="en-US" sz="2400">
                <a:sym typeface="Symbol" panose="05050102010706020507" pitchFamily="18" charset="2"/>
              </a:rPr>
              <a:t>	对所有符号</a:t>
            </a:r>
            <a:r>
              <a:rPr kumimoji="0" lang="en-US" altLang="zh-CN" sz="2400">
                <a:sym typeface="Symbol" panose="05050102010706020507" pitchFamily="18" charset="2"/>
              </a:rPr>
              <a:t>a</a:t>
            </a:r>
            <a:r>
              <a:rPr kumimoji="0" lang="zh-CN" altLang="en-US" sz="2400">
                <a:sym typeface="Symbol" panose="05050102010706020507" pitchFamily="18" charset="2"/>
              </a:rPr>
              <a:t>，</a:t>
            </a:r>
            <a:r>
              <a:rPr kumimoji="0" lang="en-US" altLang="zh-CN" sz="2400">
                <a:sym typeface="Symbol" panose="05050102010706020507" pitchFamily="18" charset="2"/>
              </a:rPr>
              <a:t>s</a:t>
            </a:r>
            <a:r>
              <a:rPr kumimoji="0" lang="zh-CN" altLang="en-US" sz="2400">
                <a:sym typeface="Symbol" panose="05050102010706020507" pitchFamily="18" charset="2"/>
              </a:rPr>
              <a:t>、</a:t>
            </a:r>
            <a:r>
              <a:rPr kumimoji="0" lang="en-US" altLang="zh-CN" sz="2400">
                <a:sym typeface="Symbol" panose="05050102010706020507" pitchFamily="18" charset="2"/>
              </a:rPr>
              <a:t>t</a:t>
            </a:r>
            <a:r>
              <a:rPr kumimoji="0" lang="zh-CN" altLang="en-US" sz="2400">
                <a:sym typeface="Symbol" panose="05050102010706020507" pitchFamily="18" charset="2"/>
              </a:rPr>
              <a:t>转换后的状态处于</a:t>
            </a:r>
            <a:r>
              <a:rPr kumimoji="0" lang="en-US" altLang="zh-CN" sz="2400">
                <a:sym typeface="Symbol" panose="05050102010706020507" pitchFamily="18" charset="2"/>
              </a:rPr>
              <a:t>Π</a:t>
            </a:r>
            <a:r>
              <a:rPr kumimoji="0" lang="zh-CN" altLang="en-US" sz="2400">
                <a:sym typeface="Symbol" panose="05050102010706020507" pitchFamily="18" charset="2"/>
              </a:rPr>
              <a:t>中的同一个状态组中</a:t>
            </a:r>
            <a:r>
              <a:rPr kumimoji="0" lang="en-US" altLang="zh-CN" sz="2400">
                <a:sym typeface="Symbol" panose="05050102010706020507" pitchFamily="18" charset="2"/>
              </a:rPr>
              <a:t>;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	</a:t>
            </a:r>
            <a:r>
              <a:rPr kumimoji="0" lang="zh-CN" altLang="en-US" sz="2400">
                <a:sym typeface="Symbol" panose="05050102010706020507" pitchFamily="18" charset="2"/>
              </a:rPr>
              <a:t>在</a:t>
            </a:r>
            <a:r>
              <a:rPr kumimoji="0" lang="en-US" altLang="zh-CN" sz="2400">
                <a:sym typeface="Symbol" panose="05050102010706020507" pitchFamily="18" charset="2"/>
              </a:rPr>
              <a:t>Π</a:t>
            </a:r>
            <a:r>
              <a:rPr kumimoji="0" lang="en-US" altLang="zh-CN" sz="2400" baseline="-25000">
                <a:sym typeface="Symbol" panose="05050102010706020507" pitchFamily="18" charset="2"/>
              </a:rPr>
              <a:t>new</a:t>
            </a:r>
            <a:r>
              <a:rPr kumimoji="0" lang="zh-CN" altLang="en-US" sz="2400">
                <a:sym typeface="Symbol" panose="05050102010706020507" pitchFamily="18" charset="2"/>
              </a:rPr>
              <a:t>中，用所有分组替换</a:t>
            </a:r>
            <a:r>
              <a:rPr kumimoji="0" lang="en-US" altLang="zh-CN" sz="2400">
                <a:sym typeface="Symbol" panose="05050102010706020507" pitchFamily="18" charset="2"/>
              </a:rPr>
              <a:t>G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</a:pPr>
            <a:r>
              <a:rPr kumimoji="0" lang="en-US" altLang="zh-CN" sz="2400">
                <a:sym typeface="Symbol" panose="05050102010706020507" pitchFamily="18" charset="2"/>
              </a:rPr>
              <a:t>}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8FA7EDB0-E49B-49A6-868C-B3A0D4E8C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3.24</a:t>
            </a:r>
          </a:p>
        </p:txBody>
      </p:sp>
      <p:sp>
        <p:nvSpPr>
          <p:cNvPr id="193539" name="Rectangle 3">
            <a:extLst>
              <a:ext uri="{FF2B5EF4-FFF2-40B4-BE49-F238E27FC236}">
                <a16:creationId xmlns:a16="http://schemas.microsoft.com/office/drawing/2014/main" id="{986E07B9-08F2-4C97-9DA3-89092D3156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352800"/>
            <a:ext cx="7772400" cy="2743200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 dirty="0"/>
              <a:t>{E}, {A, B, C, D}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 dirty="0"/>
              <a:t>{A, B, C, D} </a:t>
            </a:r>
            <a:r>
              <a:rPr lang="en-US" altLang="zh-CN" sz="2400" dirty="0">
                <a:latin typeface="Tahoma" panose="020B0604030504040204" pitchFamily="34" charset="0"/>
              </a:rPr>
              <a:t>—</a:t>
            </a:r>
            <a:r>
              <a:rPr lang="en-US" altLang="zh-CN" sz="2400" dirty="0">
                <a:sym typeface="Wingdings" panose="05000000000000000000" pitchFamily="2" charset="2"/>
              </a:rPr>
              <a:t>{A, B, C} {D}{E}, {D}, {A, B, C}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lang="en-US" altLang="zh-CN" sz="2400" dirty="0">
                <a:sym typeface="Wingdings" panose="05000000000000000000" pitchFamily="2" charset="2"/>
              </a:rPr>
              <a:t>{A, B, C} </a:t>
            </a:r>
            <a:r>
              <a:rPr lang="en-US" altLang="zh-CN" sz="2400" dirty="0">
                <a:latin typeface="Tahoma" panose="020B0604030504040204" pitchFamily="34" charset="0"/>
              </a:rPr>
              <a:t>—</a:t>
            </a:r>
            <a:r>
              <a:rPr lang="en-US" altLang="zh-CN" sz="2400" dirty="0">
                <a:sym typeface="Wingdings" panose="05000000000000000000" pitchFamily="2" charset="2"/>
              </a:rPr>
              <a:t>{A, C}, {B}  {E}, {D}, {B}, {A, C}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eriod"/>
            </a:pPr>
            <a:r>
              <a:rPr kumimoji="0" lang="en-US" altLang="zh-CN" sz="2400" dirty="0" err="1">
                <a:sym typeface="Symbol" panose="05050102010706020507" pitchFamily="18" charset="2"/>
              </a:rPr>
              <a:t>Π</a:t>
            </a:r>
            <a:r>
              <a:rPr kumimoji="0" lang="en-US" altLang="zh-CN" sz="2400" baseline="-25000" dirty="0" err="1">
                <a:sym typeface="Symbol" panose="05050102010706020507" pitchFamily="18" charset="2"/>
              </a:rPr>
              <a:t>final</a:t>
            </a:r>
            <a:r>
              <a:rPr kumimoji="0" lang="zh-CN" altLang="en-US" sz="2400" dirty="0">
                <a:sym typeface="Symbol" panose="05050102010706020507" pitchFamily="18" charset="2"/>
              </a:rPr>
              <a:t>：</a:t>
            </a:r>
            <a:r>
              <a:rPr kumimoji="0" lang="en-US" altLang="zh-CN" sz="2400" dirty="0">
                <a:sym typeface="Symbol" panose="05050102010706020507" pitchFamily="18" charset="2"/>
              </a:rPr>
              <a:t>{A, C}, {B}, {D}, {E}</a:t>
            </a:r>
            <a:endParaRPr kumimoji="0" lang="en-US" altLang="zh-CN" sz="2400" baseline="-25000" dirty="0">
              <a:sym typeface="Symbol" panose="05050102010706020507" pitchFamily="18" charset="2"/>
            </a:endParaRPr>
          </a:p>
        </p:txBody>
      </p:sp>
      <p:grpSp>
        <p:nvGrpSpPr>
          <p:cNvPr id="193540" name="Group 44">
            <a:extLst>
              <a:ext uri="{FF2B5EF4-FFF2-40B4-BE49-F238E27FC236}">
                <a16:creationId xmlns:a16="http://schemas.microsoft.com/office/drawing/2014/main" id="{97E49839-8259-44F7-A82E-0865BF02B83C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1004888"/>
            <a:ext cx="5867400" cy="2195512"/>
            <a:chOff x="960" y="777"/>
            <a:chExt cx="3696" cy="1383"/>
          </a:xfrm>
        </p:grpSpPr>
        <p:grpSp>
          <p:nvGrpSpPr>
            <p:cNvPr id="193543" name="Group 5">
              <a:extLst>
                <a:ext uri="{FF2B5EF4-FFF2-40B4-BE49-F238E27FC236}">
                  <a16:creationId xmlns:a16="http://schemas.microsoft.com/office/drawing/2014/main" id="{996FA0D2-5A01-4FC9-9F88-572928DEBD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545"/>
              <a:ext cx="432" cy="432"/>
              <a:chOff x="1440" y="3408"/>
              <a:chExt cx="432" cy="432"/>
            </a:xfrm>
          </p:grpSpPr>
          <p:sp>
            <p:nvSpPr>
              <p:cNvPr id="193580" name="Oval 6">
                <a:extLst>
                  <a:ext uri="{FF2B5EF4-FFF2-40B4-BE49-F238E27FC236}">
                    <a16:creationId xmlns:a16="http://schemas.microsoft.com/office/drawing/2014/main" id="{9A477CE6-9A23-4D98-BCB0-CE19907F6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408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93581" name="Text Box 7">
                <a:extLst>
                  <a:ext uri="{FF2B5EF4-FFF2-40B4-BE49-F238E27FC236}">
                    <a16:creationId xmlns:a16="http://schemas.microsoft.com/office/drawing/2014/main" id="{F27F33B1-AF33-4E72-9FE5-2D65DEEB18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/>
                  <a:t>A</a:t>
                </a:r>
              </a:p>
            </p:txBody>
          </p:sp>
        </p:grpSp>
        <p:grpSp>
          <p:nvGrpSpPr>
            <p:cNvPr id="193544" name="Group 8">
              <a:extLst>
                <a:ext uri="{FF2B5EF4-FFF2-40B4-BE49-F238E27FC236}">
                  <a16:creationId xmlns:a16="http://schemas.microsoft.com/office/drawing/2014/main" id="{9129EDF4-A522-4FEB-8C6F-C2D39524C2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1017"/>
              <a:ext cx="432" cy="432"/>
              <a:chOff x="1440" y="3408"/>
              <a:chExt cx="432" cy="432"/>
            </a:xfrm>
          </p:grpSpPr>
          <p:sp>
            <p:nvSpPr>
              <p:cNvPr id="193578" name="Oval 9">
                <a:extLst>
                  <a:ext uri="{FF2B5EF4-FFF2-40B4-BE49-F238E27FC236}">
                    <a16:creationId xmlns:a16="http://schemas.microsoft.com/office/drawing/2014/main" id="{072BA11D-3001-4F48-853C-F8BAC1C8B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408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93579" name="Text Box 10">
                <a:extLst>
                  <a:ext uri="{FF2B5EF4-FFF2-40B4-BE49-F238E27FC236}">
                    <a16:creationId xmlns:a16="http://schemas.microsoft.com/office/drawing/2014/main" id="{E218F714-5299-495B-843A-EDB47DFFCE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/>
                  <a:t>C</a:t>
                </a:r>
              </a:p>
            </p:txBody>
          </p:sp>
        </p:grpSp>
        <p:grpSp>
          <p:nvGrpSpPr>
            <p:cNvPr id="193545" name="Group 11">
              <a:extLst>
                <a:ext uri="{FF2B5EF4-FFF2-40B4-BE49-F238E27FC236}">
                  <a16:creationId xmlns:a16="http://schemas.microsoft.com/office/drawing/2014/main" id="{B690E3B1-FD10-47FF-B47D-9FCC59F141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1545"/>
              <a:ext cx="432" cy="432"/>
              <a:chOff x="1440" y="3408"/>
              <a:chExt cx="432" cy="432"/>
            </a:xfrm>
          </p:grpSpPr>
          <p:sp>
            <p:nvSpPr>
              <p:cNvPr id="193576" name="Oval 12">
                <a:extLst>
                  <a:ext uri="{FF2B5EF4-FFF2-40B4-BE49-F238E27FC236}">
                    <a16:creationId xmlns:a16="http://schemas.microsoft.com/office/drawing/2014/main" id="{792B1D8F-5A75-4E48-9966-706A61563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408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93577" name="Text Box 13">
                <a:extLst>
                  <a:ext uri="{FF2B5EF4-FFF2-40B4-BE49-F238E27FC236}">
                    <a16:creationId xmlns:a16="http://schemas.microsoft.com/office/drawing/2014/main" id="{992A7BE0-C8AF-47B4-833D-81CAF9D9DA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/>
                  <a:t>B</a:t>
                </a:r>
              </a:p>
            </p:txBody>
          </p:sp>
        </p:grpSp>
        <p:grpSp>
          <p:nvGrpSpPr>
            <p:cNvPr id="193546" name="Group 14">
              <a:extLst>
                <a:ext uri="{FF2B5EF4-FFF2-40B4-BE49-F238E27FC236}">
                  <a16:creationId xmlns:a16="http://schemas.microsoft.com/office/drawing/2014/main" id="{79E1BAF1-6A32-4C47-9414-E0E3461122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1545"/>
              <a:ext cx="432" cy="432"/>
              <a:chOff x="1440" y="3408"/>
              <a:chExt cx="432" cy="432"/>
            </a:xfrm>
          </p:grpSpPr>
          <p:sp>
            <p:nvSpPr>
              <p:cNvPr id="193574" name="Oval 15">
                <a:extLst>
                  <a:ext uri="{FF2B5EF4-FFF2-40B4-BE49-F238E27FC236}">
                    <a16:creationId xmlns:a16="http://schemas.microsoft.com/office/drawing/2014/main" id="{FD257055-18C9-47F2-88A0-139D35E9DD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408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193575" name="Text Box 16">
                <a:extLst>
                  <a:ext uri="{FF2B5EF4-FFF2-40B4-BE49-F238E27FC236}">
                    <a16:creationId xmlns:a16="http://schemas.microsoft.com/office/drawing/2014/main" id="{7FEE177B-E8CE-42CB-B337-D41E1E2540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/>
                  <a:t>D</a:t>
                </a:r>
              </a:p>
            </p:txBody>
          </p:sp>
        </p:grpSp>
        <p:grpSp>
          <p:nvGrpSpPr>
            <p:cNvPr id="193547" name="Group 17">
              <a:extLst>
                <a:ext uri="{FF2B5EF4-FFF2-40B4-BE49-F238E27FC236}">
                  <a16:creationId xmlns:a16="http://schemas.microsoft.com/office/drawing/2014/main" id="{2523A1CC-4AFD-4F8F-80E1-8172F20055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1545"/>
              <a:ext cx="432" cy="432"/>
              <a:chOff x="4032" y="3504"/>
              <a:chExt cx="432" cy="432"/>
            </a:xfrm>
          </p:grpSpPr>
          <p:grpSp>
            <p:nvGrpSpPr>
              <p:cNvPr id="193570" name="Group 18">
                <a:extLst>
                  <a:ext uri="{FF2B5EF4-FFF2-40B4-BE49-F238E27FC236}">
                    <a16:creationId xmlns:a16="http://schemas.microsoft.com/office/drawing/2014/main" id="{4B37277C-CDF2-4857-941B-265E2DF7CC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2" y="3504"/>
                <a:ext cx="432" cy="432"/>
                <a:chOff x="1440" y="3408"/>
                <a:chExt cx="432" cy="432"/>
              </a:xfrm>
            </p:grpSpPr>
            <p:sp>
              <p:nvSpPr>
                <p:cNvPr id="193572" name="Oval 19">
                  <a:extLst>
                    <a:ext uri="{FF2B5EF4-FFF2-40B4-BE49-F238E27FC236}">
                      <a16:creationId xmlns:a16="http://schemas.microsoft.com/office/drawing/2014/main" id="{EBFF8B96-A93A-4508-B090-991D4A1B9D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3408"/>
                  <a:ext cx="432" cy="432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193573" name="Text Box 20">
                  <a:extLst>
                    <a:ext uri="{FF2B5EF4-FFF2-40B4-BE49-F238E27FC236}">
                      <a16:creationId xmlns:a16="http://schemas.microsoft.com/office/drawing/2014/main" id="{D91AA0CD-2FAE-44E3-9B98-08768CC577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88" y="3456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/>
                    <a:t>E</a:t>
                  </a:r>
                </a:p>
              </p:txBody>
            </p:sp>
          </p:grpSp>
          <p:sp>
            <p:nvSpPr>
              <p:cNvPr id="193571" name="Oval 21">
                <a:extLst>
                  <a:ext uri="{FF2B5EF4-FFF2-40B4-BE49-F238E27FC236}">
                    <a16:creationId xmlns:a16="http://schemas.microsoft.com/office/drawing/2014/main" id="{CDD8CBAE-5E66-4AF1-BFE5-2B8A8A5EB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3552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cxnSp>
          <p:nvCxnSpPr>
            <p:cNvPr id="193548" name="AutoShape 22">
              <a:extLst>
                <a:ext uri="{FF2B5EF4-FFF2-40B4-BE49-F238E27FC236}">
                  <a16:creationId xmlns:a16="http://schemas.microsoft.com/office/drawing/2014/main" id="{F1B5C196-7FFE-43A1-81E3-44EED911A250}"/>
                </a:ext>
              </a:extLst>
            </p:cNvPr>
            <p:cNvCxnSpPr>
              <a:cxnSpLocks noChangeShapeType="1"/>
              <a:stCxn id="193580" idx="6"/>
              <a:endCxn id="193576" idx="2"/>
            </p:cNvCxnSpPr>
            <p:nvPr/>
          </p:nvCxnSpPr>
          <p:spPr bwMode="auto">
            <a:xfrm>
              <a:off x="1872" y="1761"/>
              <a:ext cx="432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549" name="AutoShape 23">
              <a:extLst>
                <a:ext uri="{FF2B5EF4-FFF2-40B4-BE49-F238E27FC236}">
                  <a16:creationId xmlns:a16="http://schemas.microsoft.com/office/drawing/2014/main" id="{73B02FCA-5281-484E-962B-4D02D7CC2696}"/>
                </a:ext>
              </a:extLst>
            </p:cNvPr>
            <p:cNvCxnSpPr>
              <a:cxnSpLocks noChangeShapeType="1"/>
              <a:stCxn id="193578" idx="4"/>
              <a:endCxn id="193576" idx="7"/>
            </p:cNvCxnSpPr>
            <p:nvPr/>
          </p:nvCxnSpPr>
          <p:spPr bwMode="auto">
            <a:xfrm rot="5400000">
              <a:off x="2781" y="1341"/>
              <a:ext cx="159" cy="375"/>
            </a:xfrm>
            <a:prstGeom prst="curvedConnector3">
              <a:avLst>
                <a:gd name="adj1" fmla="val 3019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550" name="AutoShape 24">
              <a:extLst>
                <a:ext uri="{FF2B5EF4-FFF2-40B4-BE49-F238E27FC236}">
                  <a16:creationId xmlns:a16="http://schemas.microsoft.com/office/drawing/2014/main" id="{2D56CAC8-D319-447D-A092-8D2940462C74}"/>
                </a:ext>
              </a:extLst>
            </p:cNvPr>
            <p:cNvCxnSpPr>
              <a:cxnSpLocks noChangeShapeType="1"/>
              <a:stCxn id="193572" idx="1"/>
              <a:endCxn id="193578" idx="6"/>
            </p:cNvCxnSpPr>
            <p:nvPr/>
          </p:nvCxnSpPr>
          <p:spPr bwMode="auto">
            <a:xfrm rot="5400000" flipH="1">
              <a:off x="3588" y="909"/>
              <a:ext cx="375" cy="1023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551" name="AutoShape 25">
              <a:extLst>
                <a:ext uri="{FF2B5EF4-FFF2-40B4-BE49-F238E27FC236}">
                  <a16:creationId xmlns:a16="http://schemas.microsoft.com/office/drawing/2014/main" id="{66BC68D5-22C7-4315-8922-03394F6ABC1A}"/>
                </a:ext>
              </a:extLst>
            </p:cNvPr>
            <p:cNvCxnSpPr>
              <a:cxnSpLocks noChangeShapeType="1"/>
              <a:stCxn id="193572" idx="3"/>
              <a:endCxn id="193576" idx="5"/>
            </p:cNvCxnSpPr>
            <p:nvPr/>
          </p:nvCxnSpPr>
          <p:spPr bwMode="auto">
            <a:xfrm rot="5400000">
              <a:off x="3479" y="1108"/>
              <a:ext cx="1" cy="1614"/>
            </a:xfrm>
            <a:prstGeom prst="curvedConnector3">
              <a:avLst>
                <a:gd name="adj1" fmla="val 2070000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552" name="AutoShape 26">
              <a:extLst>
                <a:ext uri="{FF2B5EF4-FFF2-40B4-BE49-F238E27FC236}">
                  <a16:creationId xmlns:a16="http://schemas.microsoft.com/office/drawing/2014/main" id="{ABAA994B-C887-413E-9DA0-97C56B454EEA}"/>
                </a:ext>
              </a:extLst>
            </p:cNvPr>
            <p:cNvCxnSpPr>
              <a:cxnSpLocks noChangeShapeType="1"/>
              <a:stCxn id="193576" idx="4"/>
              <a:endCxn id="193576" idx="3"/>
            </p:cNvCxnSpPr>
            <p:nvPr/>
          </p:nvCxnSpPr>
          <p:spPr bwMode="auto">
            <a:xfrm rot="16200000" flipV="1">
              <a:off x="2412" y="1869"/>
              <a:ext cx="63" cy="153"/>
            </a:xfrm>
            <a:prstGeom prst="curvedConnector3">
              <a:avLst>
                <a:gd name="adj1" fmla="val -409528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553" name="AutoShape 27">
              <a:extLst>
                <a:ext uri="{FF2B5EF4-FFF2-40B4-BE49-F238E27FC236}">
                  <a16:creationId xmlns:a16="http://schemas.microsoft.com/office/drawing/2014/main" id="{12CF4060-67BC-4E17-9D82-D2397447EEB8}"/>
                </a:ext>
              </a:extLst>
            </p:cNvPr>
            <p:cNvCxnSpPr>
              <a:cxnSpLocks noChangeShapeType="1"/>
              <a:stCxn id="193574" idx="3"/>
              <a:endCxn id="193576" idx="6"/>
            </p:cNvCxnSpPr>
            <p:nvPr/>
          </p:nvCxnSpPr>
          <p:spPr bwMode="auto">
            <a:xfrm rot="16200000" flipV="1">
              <a:off x="2979" y="1518"/>
              <a:ext cx="153" cy="639"/>
            </a:xfrm>
            <a:prstGeom prst="curvedConnector4">
              <a:avLst>
                <a:gd name="adj1" fmla="val -48370"/>
                <a:gd name="adj2" fmla="val 54931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554" name="AutoShape 28">
              <a:extLst>
                <a:ext uri="{FF2B5EF4-FFF2-40B4-BE49-F238E27FC236}">
                  <a16:creationId xmlns:a16="http://schemas.microsoft.com/office/drawing/2014/main" id="{ED4E3D69-3D8C-49BC-8FBC-7C08E697DC7E}"/>
                </a:ext>
              </a:extLst>
            </p:cNvPr>
            <p:cNvCxnSpPr>
              <a:cxnSpLocks noChangeShapeType="1"/>
              <a:stCxn id="193580" idx="0"/>
              <a:endCxn id="193578" idx="2"/>
            </p:cNvCxnSpPr>
            <p:nvPr/>
          </p:nvCxnSpPr>
          <p:spPr bwMode="auto">
            <a:xfrm rot="-5400000">
              <a:off x="2088" y="801"/>
              <a:ext cx="312" cy="1176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555" name="AutoShape 29">
              <a:extLst>
                <a:ext uri="{FF2B5EF4-FFF2-40B4-BE49-F238E27FC236}">
                  <a16:creationId xmlns:a16="http://schemas.microsoft.com/office/drawing/2014/main" id="{3AEE28CF-C492-4B77-AC00-77B616B7968E}"/>
                </a:ext>
              </a:extLst>
            </p:cNvPr>
            <p:cNvCxnSpPr>
              <a:cxnSpLocks noChangeShapeType="1"/>
              <a:stCxn id="193574" idx="6"/>
              <a:endCxn id="193572" idx="2"/>
            </p:cNvCxnSpPr>
            <p:nvPr/>
          </p:nvCxnSpPr>
          <p:spPr bwMode="auto">
            <a:xfrm>
              <a:off x="3744" y="1761"/>
              <a:ext cx="480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3556" name="AutoShape 30">
              <a:extLst>
                <a:ext uri="{FF2B5EF4-FFF2-40B4-BE49-F238E27FC236}">
                  <a16:creationId xmlns:a16="http://schemas.microsoft.com/office/drawing/2014/main" id="{4EA8E3E7-5B11-4466-903E-BA935723FB82}"/>
                </a:ext>
              </a:extLst>
            </p:cNvPr>
            <p:cNvCxnSpPr>
              <a:cxnSpLocks noChangeShapeType="1"/>
              <a:stCxn id="193576" idx="6"/>
              <a:endCxn id="193574" idx="2"/>
            </p:cNvCxnSpPr>
            <p:nvPr/>
          </p:nvCxnSpPr>
          <p:spPr bwMode="auto">
            <a:xfrm>
              <a:off x="2736" y="1761"/>
              <a:ext cx="576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3557" name="Line 31">
              <a:extLst>
                <a:ext uri="{FF2B5EF4-FFF2-40B4-BE49-F238E27FC236}">
                  <a16:creationId xmlns:a16="http://schemas.microsoft.com/office/drawing/2014/main" id="{30036FDC-28FB-4EE0-8BDE-B50E08168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785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193558" name="AutoShape 32">
              <a:extLst>
                <a:ext uri="{FF2B5EF4-FFF2-40B4-BE49-F238E27FC236}">
                  <a16:creationId xmlns:a16="http://schemas.microsoft.com/office/drawing/2014/main" id="{B66B66FB-741C-4B40-9190-7F81BD828C65}"/>
                </a:ext>
              </a:extLst>
            </p:cNvPr>
            <p:cNvCxnSpPr>
              <a:cxnSpLocks noChangeShapeType="1"/>
              <a:stCxn id="193578" idx="0"/>
              <a:endCxn id="193578" idx="1"/>
            </p:cNvCxnSpPr>
            <p:nvPr/>
          </p:nvCxnSpPr>
          <p:spPr bwMode="auto">
            <a:xfrm rot="-5400000" flipH="1" flipV="1">
              <a:off x="2940" y="972"/>
              <a:ext cx="63" cy="153"/>
            </a:xfrm>
            <a:prstGeom prst="curvedConnector3">
              <a:avLst>
                <a:gd name="adj1" fmla="val -22856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3559" name="Text Box 33">
              <a:extLst>
                <a:ext uri="{FF2B5EF4-FFF2-40B4-BE49-F238E27FC236}">
                  <a16:creationId xmlns:a16="http://schemas.microsoft.com/office/drawing/2014/main" id="{DA5FA293-071B-48B8-B5CA-26AC2CDD3E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593"/>
              <a:ext cx="4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start</a:t>
              </a:r>
            </a:p>
          </p:txBody>
        </p:sp>
        <p:sp>
          <p:nvSpPr>
            <p:cNvPr id="193560" name="Text Box 34">
              <a:extLst>
                <a:ext uri="{FF2B5EF4-FFF2-40B4-BE49-F238E27FC236}">
                  <a16:creationId xmlns:a16="http://schemas.microsoft.com/office/drawing/2014/main" id="{D46EBAF5-AB42-4500-ABBB-D46D12AA2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59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b</a:t>
              </a:r>
            </a:p>
          </p:txBody>
        </p:sp>
        <p:sp>
          <p:nvSpPr>
            <p:cNvPr id="193561" name="Text Box 35">
              <a:extLst>
                <a:ext uri="{FF2B5EF4-FFF2-40B4-BE49-F238E27FC236}">
                  <a16:creationId xmlns:a16="http://schemas.microsoft.com/office/drawing/2014/main" id="{9165727B-DC6D-4862-8400-21AF0FDC6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59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b</a:t>
              </a:r>
            </a:p>
          </p:txBody>
        </p:sp>
        <p:sp>
          <p:nvSpPr>
            <p:cNvPr id="193562" name="Text Box 36">
              <a:extLst>
                <a:ext uri="{FF2B5EF4-FFF2-40B4-BE49-F238E27FC236}">
                  <a16:creationId xmlns:a16="http://schemas.microsoft.com/office/drawing/2014/main" id="{5010B1F4-29EE-46BC-A54B-87087C221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11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b</a:t>
              </a:r>
            </a:p>
          </p:txBody>
        </p:sp>
        <p:sp>
          <p:nvSpPr>
            <p:cNvPr id="193563" name="Text Box 37">
              <a:extLst>
                <a:ext uri="{FF2B5EF4-FFF2-40B4-BE49-F238E27FC236}">
                  <a16:creationId xmlns:a16="http://schemas.microsoft.com/office/drawing/2014/main" id="{EFACDD32-C5B9-4A83-B2D6-BD6D1E9BCD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777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b</a:t>
              </a:r>
            </a:p>
          </p:txBody>
        </p:sp>
        <p:sp>
          <p:nvSpPr>
            <p:cNvPr id="193564" name="Text Box 38">
              <a:extLst>
                <a:ext uri="{FF2B5EF4-FFF2-40B4-BE49-F238E27FC236}">
                  <a16:creationId xmlns:a16="http://schemas.microsoft.com/office/drawing/2014/main" id="{1CF8A61D-3E0B-41D3-A056-5275A0DED6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11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b</a:t>
              </a:r>
            </a:p>
          </p:txBody>
        </p:sp>
        <p:sp>
          <p:nvSpPr>
            <p:cNvPr id="193565" name="Text Box 39">
              <a:extLst>
                <a:ext uri="{FF2B5EF4-FFF2-40B4-BE49-F238E27FC236}">
                  <a16:creationId xmlns:a16="http://schemas.microsoft.com/office/drawing/2014/main" id="{180B50C5-58F6-456F-965E-CC5C0EF760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929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a</a:t>
              </a:r>
            </a:p>
          </p:txBody>
        </p:sp>
        <p:sp>
          <p:nvSpPr>
            <p:cNvPr id="193566" name="Text Box 40">
              <a:extLst>
                <a:ext uri="{FF2B5EF4-FFF2-40B4-BE49-F238E27FC236}">
                  <a16:creationId xmlns:a16="http://schemas.microsoft.com/office/drawing/2014/main" id="{22479383-F80D-4C01-A1F5-D65FFD64CD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785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a</a:t>
              </a:r>
            </a:p>
          </p:txBody>
        </p:sp>
        <p:sp>
          <p:nvSpPr>
            <p:cNvPr id="193567" name="Text Box 41">
              <a:extLst>
                <a:ext uri="{FF2B5EF4-FFF2-40B4-BE49-F238E27FC236}">
                  <a16:creationId xmlns:a16="http://schemas.microsoft.com/office/drawing/2014/main" id="{BDDD946E-0BFB-4F35-89BA-8892D1D92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59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a</a:t>
              </a:r>
            </a:p>
          </p:txBody>
        </p:sp>
        <p:sp>
          <p:nvSpPr>
            <p:cNvPr id="193568" name="Text Box 42">
              <a:extLst>
                <a:ext uri="{FF2B5EF4-FFF2-40B4-BE49-F238E27FC236}">
                  <a16:creationId xmlns:a16="http://schemas.microsoft.com/office/drawing/2014/main" id="{0524F9A5-DC0E-4B98-819A-79558C8CBD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881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a</a:t>
              </a:r>
            </a:p>
          </p:txBody>
        </p:sp>
        <p:sp>
          <p:nvSpPr>
            <p:cNvPr id="193569" name="Text Box 43">
              <a:extLst>
                <a:ext uri="{FF2B5EF4-FFF2-40B4-BE49-F238E27FC236}">
                  <a16:creationId xmlns:a16="http://schemas.microsoft.com/office/drawing/2014/main" id="{4C9EA28B-651D-4FD3-B134-DB6894626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305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/>
                <a:t>a</a:t>
              </a:r>
            </a:p>
          </p:txBody>
        </p:sp>
      </p:grpSp>
      <p:sp>
        <p:nvSpPr>
          <p:cNvPr id="193541" name="Text Box 45">
            <a:extLst>
              <a:ext uri="{FF2B5EF4-FFF2-40B4-BE49-F238E27FC236}">
                <a16:creationId xmlns:a16="http://schemas.microsoft.com/office/drawing/2014/main" id="{7C6A2E77-AAC2-4FC8-9CEC-F11BC624FA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3717925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193542" name="Text Box 46">
            <a:extLst>
              <a:ext uri="{FF2B5EF4-FFF2-40B4-BE49-F238E27FC236}">
                <a16:creationId xmlns:a16="http://schemas.microsoft.com/office/drawing/2014/main" id="{25AA20B8-C7BE-440C-B854-B49804F1C0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1148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b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1" grpId="0"/>
      <p:bldP spid="193542" grpId="0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62" name="Picture 13" descr="dfa1">
            <a:extLst>
              <a:ext uri="{FF2B5EF4-FFF2-40B4-BE49-F238E27FC236}">
                <a16:creationId xmlns:a16="http://schemas.microsoft.com/office/drawing/2014/main" id="{D32A5AA4-48FD-4A2A-A373-54624A8739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05000"/>
            <a:ext cx="5473700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63" name="Rectangle 2">
            <a:extLst>
              <a:ext uri="{FF2B5EF4-FFF2-40B4-BE49-F238E27FC236}">
                <a16:creationId xmlns:a16="http://schemas.microsoft.com/office/drawing/2014/main" id="{AA279C67-A086-4F30-978F-E3EBE64AF5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3.24</a:t>
            </a:r>
            <a:r>
              <a:rPr lang="zh-CN" altLang="en-US"/>
              <a:t>（续）</a:t>
            </a:r>
          </a:p>
        </p:txBody>
      </p:sp>
      <p:sp>
        <p:nvSpPr>
          <p:cNvPr id="194564" name="Text Box 4">
            <a:extLst>
              <a:ext uri="{FF2B5EF4-FFF2-40B4-BE49-F238E27FC236}">
                <a16:creationId xmlns:a16="http://schemas.microsoft.com/office/drawing/2014/main" id="{734AAC44-27CE-4F95-A4D2-6E7628F97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400175"/>
            <a:ext cx="838200" cy="246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 b="0">
                <a:ea typeface="黑体" panose="02010609060101010101" pitchFamily="49" charset="-122"/>
              </a:rPr>
              <a:t>状态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br>
              <a:rPr kumimoji="0" lang="zh-CN" altLang="en-US" sz="2400">
                <a:ea typeface="黑体" panose="02010609060101010101" pitchFamily="49" charset="-122"/>
              </a:rPr>
            </a:br>
            <a:r>
              <a:rPr kumimoji="0" lang="en-US" altLang="zh-CN" sz="2400">
                <a:ea typeface="黑体" panose="02010609060101010101" pitchFamily="49" charset="-122"/>
              </a:rPr>
              <a:t>A</a:t>
            </a:r>
            <a:br>
              <a:rPr kumimoji="0" lang="en-US" altLang="zh-CN" sz="2400">
                <a:ea typeface="黑体" panose="02010609060101010101" pitchFamily="49" charset="-122"/>
              </a:rPr>
            </a:br>
            <a:r>
              <a:rPr kumimoji="0" lang="en-US" altLang="zh-CN" sz="2400">
                <a:ea typeface="黑体" panose="02010609060101010101" pitchFamily="49" charset="-122"/>
              </a:rPr>
              <a:t>B</a:t>
            </a:r>
            <a:br>
              <a:rPr kumimoji="0" lang="en-US" altLang="zh-CN" sz="2400">
                <a:ea typeface="黑体" panose="02010609060101010101" pitchFamily="49" charset="-122"/>
              </a:rPr>
            </a:br>
            <a:r>
              <a:rPr kumimoji="0" lang="en-US" altLang="zh-CN" sz="2400">
                <a:ea typeface="黑体" panose="02010609060101010101" pitchFamily="49" charset="-122"/>
              </a:rPr>
              <a:t>D</a:t>
            </a:r>
            <a:br>
              <a:rPr kumimoji="0" lang="en-US" altLang="zh-CN" sz="2400">
                <a:ea typeface="黑体" panose="02010609060101010101" pitchFamily="49" charset="-122"/>
              </a:rPr>
            </a:br>
            <a:r>
              <a:rPr kumimoji="0" lang="en-US" altLang="zh-CN" sz="2400">
                <a:ea typeface="黑体" panose="02010609060101010101" pitchFamily="49" charset="-122"/>
              </a:rPr>
              <a:t>E</a:t>
            </a:r>
          </a:p>
        </p:txBody>
      </p:sp>
      <p:sp>
        <p:nvSpPr>
          <p:cNvPr id="194565" name="Line 5">
            <a:extLst>
              <a:ext uri="{FF2B5EF4-FFF2-40B4-BE49-F238E27FC236}">
                <a16:creationId xmlns:a16="http://schemas.microsoft.com/office/drawing/2014/main" id="{C0F1A44D-6337-44BF-A937-E58833C106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0700" y="1416050"/>
            <a:ext cx="3238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66" name="Line 6">
            <a:extLst>
              <a:ext uri="{FF2B5EF4-FFF2-40B4-BE49-F238E27FC236}">
                <a16:creationId xmlns:a16="http://schemas.microsoft.com/office/drawing/2014/main" id="{16998F86-6D64-41F8-8B03-9DD970768A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0700" y="1295400"/>
            <a:ext cx="3238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67" name="Line 7">
            <a:extLst>
              <a:ext uri="{FF2B5EF4-FFF2-40B4-BE49-F238E27FC236}">
                <a16:creationId xmlns:a16="http://schemas.microsoft.com/office/drawing/2014/main" id="{BD199C7A-A970-43E2-9FEA-83944B1B0C92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416050"/>
            <a:ext cx="0" cy="242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68" name="Text Box 8">
            <a:extLst>
              <a:ext uri="{FF2B5EF4-FFF2-40B4-BE49-F238E27FC236}">
                <a16:creationId xmlns:a16="http://schemas.microsoft.com/office/drawing/2014/main" id="{2A1772A4-8C90-4368-A317-C2774C6D5B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1400175"/>
            <a:ext cx="2209800" cy="246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400">
                <a:ea typeface="黑体" panose="02010609060101010101" pitchFamily="49" charset="-122"/>
              </a:rPr>
              <a:t>符号</a:t>
            </a:r>
            <a:br>
              <a:rPr kumimoji="0" lang="zh-CN" altLang="en-US" sz="2400">
                <a:ea typeface="黑体" panose="02010609060101010101" pitchFamily="49" charset="-122"/>
              </a:rPr>
            </a:br>
            <a:r>
              <a:rPr kumimoji="0" lang="en-US" altLang="zh-CN" sz="2400">
                <a:ea typeface="黑体" panose="02010609060101010101" pitchFamily="49" charset="-122"/>
              </a:rPr>
              <a:t>a            b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>
                <a:ea typeface="黑体" panose="02010609060101010101" pitchFamily="49" charset="-122"/>
              </a:rPr>
              <a:t>B           A</a:t>
            </a:r>
            <a:br>
              <a:rPr kumimoji="0" lang="en-US" altLang="zh-CN" sz="2400">
                <a:ea typeface="黑体" panose="02010609060101010101" pitchFamily="49" charset="-122"/>
              </a:rPr>
            </a:br>
            <a:r>
              <a:rPr kumimoji="0" lang="en-US" altLang="zh-CN" sz="2400">
                <a:ea typeface="黑体" panose="02010609060101010101" pitchFamily="49" charset="-122"/>
              </a:rPr>
              <a:t>B           D</a:t>
            </a:r>
            <a:br>
              <a:rPr kumimoji="0" lang="en-US" altLang="zh-CN" sz="2400">
                <a:ea typeface="黑体" panose="02010609060101010101" pitchFamily="49" charset="-122"/>
              </a:rPr>
            </a:br>
            <a:r>
              <a:rPr kumimoji="0" lang="en-US" altLang="zh-CN" sz="2400">
                <a:ea typeface="黑体" panose="02010609060101010101" pitchFamily="49" charset="-122"/>
              </a:rPr>
              <a:t>B           E </a:t>
            </a:r>
            <a:br>
              <a:rPr kumimoji="0" lang="en-US" altLang="zh-CN" sz="2400">
                <a:ea typeface="黑体" panose="02010609060101010101" pitchFamily="49" charset="-122"/>
              </a:rPr>
            </a:br>
            <a:r>
              <a:rPr kumimoji="0" lang="en-US" altLang="zh-CN" sz="2400">
                <a:ea typeface="黑体" panose="02010609060101010101" pitchFamily="49" charset="-122"/>
              </a:rPr>
              <a:t>B           A</a:t>
            </a:r>
          </a:p>
        </p:txBody>
      </p:sp>
      <p:sp>
        <p:nvSpPr>
          <p:cNvPr id="194569" name="Line 9">
            <a:extLst>
              <a:ext uri="{FF2B5EF4-FFF2-40B4-BE49-F238E27FC236}">
                <a16:creationId xmlns:a16="http://schemas.microsoft.com/office/drawing/2014/main" id="{DCE17883-C47B-4C22-BA6C-97E95F5BF694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0700" y="2314575"/>
            <a:ext cx="3238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70" name="Line 10">
            <a:extLst>
              <a:ext uri="{FF2B5EF4-FFF2-40B4-BE49-F238E27FC236}">
                <a16:creationId xmlns:a16="http://schemas.microsoft.com/office/drawing/2014/main" id="{A3F1F1E5-A838-41ED-90BF-EA9DB999FA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600700" y="3838575"/>
            <a:ext cx="3238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71" name="Line 11">
            <a:extLst>
              <a:ext uri="{FF2B5EF4-FFF2-40B4-BE49-F238E27FC236}">
                <a16:creationId xmlns:a16="http://schemas.microsoft.com/office/drawing/2014/main" id="{5295BE2D-9FF6-4F2E-9D3C-BBCAFD5E457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1857375"/>
            <a:ext cx="228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72" name="Line 12">
            <a:extLst>
              <a:ext uri="{FF2B5EF4-FFF2-40B4-BE49-F238E27FC236}">
                <a16:creationId xmlns:a16="http://schemas.microsoft.com/office/drawing/2014/main" id="{61A05749-1746-4844-9031-FE1D6EF84B7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1857375"/>
            <a:ext cx="0" cy="1981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511" name="Picture 7" descr="21d">
            <a:extLst>
              <a:ext uri="{FF2B5EF4-FFF2-40B4-BE49-F238E27FC236}">
                <a16:creationId xmlns:a16="http://schemas.microsoft.com/office/drawing/2014/main" id="{CDFB4920-BABE-4271-9D64-C7574D71B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563" y="4048125"/>
            <a:ext cx="4973637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5587" name="Picture 4" descr="18d2">
            <a:extLst>
              <a:ext uri="{FF2B5EF4-FFF2-40B4-BE49-F238E27FC236}">
                <a16:creationId xmlns:a16="http://schemas.microsoft.com/office/drawing/2014/main" id="{1B7A6355-E607-4646-8E0A-1D585A6CC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1938" y="1277938"/>
            <a:ext cx="6164262" cy="207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588" name="Rectangle 2">
            <a:extLst>
              <a:ext uri="{FF2B5EF4-FFF2-40B4-BE49-F238E27FC236}">
                <a16:creationId xmlns:a16="http://schemas.microsoft.com/office/drawing/2014/main" id="{52A78BB7-8D41-4287-A322-D20F8F5E8F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最小化</a:t>
            </a:r>
            <a:r>
              <a:rPr lang="en-US" altLang="zh-CN"/>
              <a:t>DFA</a:t>
            </a:r>
            <a:r>
              <a:rPr lang="zh-CN" altLang="en-US"/>
              <a:t>练习</a:t>
            </a:r>
          </a:p>
        </p:txBody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BE998F3C-581B-4591-9A50-ED67F15E8F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514600"/>
            <a:ext cx="7772400" cy="762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/>
              <a:t>初始划分：</a:t>
            </a:r>
            <a:r>
              <a:rPr lang="en-US" altLang="zh-CN" sz="2800"/>
              <a:t>{A, B, C}, {D, E, F}</a:t>
            </a:r>
          </a:p>
        </p:txBody>
      </p:sp>
      <p:sp>
        <p:nvSpPr>
          <p:cNvPr id="277509" name="Text Box 5">
            <a:extLst>
              <a:ext uri="{FF2B5EF4-FFF2-40B4-BE49-F238E27FC236}">
                <a16:creationId xmlns:a16="http://schemas.microsoft.com/office/drawing/2014/main" id="{1F836251-7F18-4B1D-9887-8BFF04761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29718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277510" name="Text Box 6">
            <a:extLst>
              <a:ext uri="{FF2B5EF4-FFF2-40B4-BE49-F238E27FC236}">
                <a16:creationId xmlns:a16="http://schemas.microsoft.com/office/drawing/2014/main" id="{CAF30979-D5C8-4A1D-AE7E-7762B3915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505200"/>
            <a:ext cx="304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3333CC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b</a:t>
            </a:r>
          </a:p>
        </p:txBody>
      </p:sp>
      <p:sp>
        <p:nvSpPr>
          <p:cNvPr id="277513" name="Rectangle 9">
            <a:extLst>
              <a:ext uri="{FF2B5EF4-FFF2-40B4-BE49-F238E27FC236}">
                <a16:creationId xmlns:a16="http://schemas.microsoft.com/office/drawing/2014/main" id="{EA6B70B2-8E41-40B4-A237-E84E43C33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514600"/>
            <a:ext cx="77724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0"/>
              <a:t>{A, B, C}——{A, B}, {C}</a:t>
            </a:r>
          </a:p>
        </p:txBody>
      </p:sp>
      <p:sp>
        <p:nvSpPr>
          <p:cNvPr id="277514" name="Rectangle 10">
            <a:extLst>
              <a:ext uri="{FF2B5EF4-FFF2-40B4-BE49-F238E27FC236}">
                <a16:creationId xmlns:a16="http://schemas.microsoft.com/office/drawing/2014/main" id="{F34FD614-9FC4-4559-A429-E78374872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514600"/>
            <a:ext cx="77724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800" b="0"/>
              <a:t>{A, B}——{A}, {B}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7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7" grpId="0" autoUpdateAnimBg="0"/>
      <p:bldP spid="277509" grpId="0" autoUpdateAnimBg="0"/>
      <p:bldP spid="277510" grpId="0" autoUpdateAnimBg="0"/>
      <p:bldP spid="277513" grpId="0" autoUpdateAnimBg="0"/>
      <p:bldP spid="277514" grpId="0" autoUpdateAnimBg="0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>
            <a:extLst>
              <a:ext uri="{FF2B5EF4-FFF2-40B4-BE49-F238E27FC236}">
                <a16:creationId xmlns:a16="http://schemas.microsoft.com/office/drawing/2014/main" id="{1F1D1E5E-516B-46FF-9EFB-2BE0848E7F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3.9.5  </a:t>
            </a:r>
            <a:r>
              <a:rPr lang="zh-CN" altLang="en-US"/>
              <a:t>状态转换表压缩</a:t>
            </a:r>
          </a:p>
        </p:txBody>
      </p:sp>
      <p:pic>
        <p:nvPicPr>
          <p:cNvPr id="196611" name="Picture 4" descr="table">
            <a:extLst>
              <a:ext uri="{FF2B5EF4-FFF2-40B4-BE49-F238E27FC236}">
                <a16:creationId xmlns:a16="http://schemas.microsoft.com/office/drawing/2014/main" id="{E3F375A3-925D-4A2C-A97C-3CDEC1320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1511300"/>
            <a:ext cx="5664200" cy="298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6612" name="Rectangle 6">
            <a:extLst>
              <a:ext uri="{FF2B5EF4-FFF2-40B4-BE49-F238E27FC236}">
                <a16:creationId xmlns:a16="http://schemas.microsoft.com/office/drawing/2014/main" id="{AED89AA9-3102-426E-AC66-CE6DF39920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39888" y="4495800"/>
            <a:ext cx="6742112" cy="2057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i="1"/>
              <a:t>nextstate</a:t>
            </a:r>
            <a:r>
              <a:rPr lang="en-US" altLang="zh-CN" sz="2400"/>
              <a:t>(</a:t>
            </a:r>
            <a:r>
              <a:rPr lang="en-US" altLang="zh-CN" sz="2400" i="1"/>
              <a:t>s</a:t>
            </a:r>
            <a:r>
              <a:rPr lang="en-US" altLang="zh-CN" sz="2400"/>
              <a:t>, </a:t>
            </a:r>
            <a:r>
              <a:rPr lang="en-US" altLang="zh-CN" sz="2400" i="1"/>
              <a:t>a</a:t>
            </a:r>
            <a:r>
              <a:rPr lang="en-US" altLang="zh-CN" sz="2400"/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en-US" altLang="zh-CN" sz="2400" b="1"/>
              <a:t>if </a:t>
            </a:r>
            <a:r>
              <a:rPr lang="en-US" altLang="zh-CN" sz="2400"/>
              <a:t>(</a:t>
            </a:r>
            <a:r>
              <a:rPr lang="en-US" altLang="zh-CN" sz="2400" i="1"/>
              <a:t>check</a:t>
            </a:r>
            <a:r>
              <a:rPr lang="en-US" altLang="zh-CN" sz="2400"/>
              <a:t>[</a:t>
            </a:r>
            <a:r>
              <a:rPr lang="en-US" altLang="zh-CN" sz="2400" i="1"/>
              <a:t>base</a:t>
            </a:r>
            <a:r>
              <a:rPr lang="en-US" altLang="zh-CN" sz="2400"/>
              <a:t>[</a:t>
            </a:r>
            <a:r>
              <a:rPr lang="en-US" altLang="zh-CN" sz="2400" i="1"/>
              <a:t>s</a:t>
            </a:r>
            <a:r>
              <a:rPr lang="en-US" altLang="zh-CN" sz="2400"/>
              <a:t>] </a:t>
            </a:r>
            <a:r>
              <a:rPr lang="en-US" altLang="zh-CN" sz="2400" i="1"/>
              <a:t>+ a</a:t>
            </a:r>
            <a:r>
              <a:rPr lang="en-US" altLang="zh-CN" sz="2400"/>
              <a:t>] = </a:t>
            </a:r>
            <a:r>
              <a:rPr lang="en-US" altLang="zh-CN" sz="2400" i="1"/>
              <a:t>s</a:t>
            </a:r>
            <a:r>
              <a:rPr lang="en-US" altLang="zh-CN" sz="2400"/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</a:t>
            </a:r>
            <a:r>
              <a:rPr lang="en-US" altLang="zh-CN" sz="2400" b="1"/>
              <a:t>return </a:t>
            </a:r>
            <a:r>
              <a:rPr lang="en-US" altLang="zh-CN" sz="2400" i="1"/>
              <a:t>next</a:t>
            </a:r>
            <a:r>
              <a:rPr lang="en-US" altLang="zh-CN" sz="2400"/>
              <a:t>[base[s] + </a:t>
            </a:r>
            <a:r>
              <a:rPr lang="en-US" altLang="zh-CN" sz="2400" i="1"/>
              <a:t>a</a:t>
            </a:r>
            <a:r>
              <a:rPr lang="en-US" altLang="zh-CN" sz="2400"/>
              <a:t>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</a:t>
            </a:r>
            <a:r>
              <a:rPr lang="en-US" altLang="zh-CN" sz="2400" b="1"/>
              <a:t>else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/>
              <a:t>		return </a:t>
            </a:r>
            <a:r>
              <a:rPr lang="en-US" altLang="zh-CN" sz="2400" i="1"/>
              <a:t>nextstate</a:t>
            </a:r>
            <a:r>
              <a:rPr lang="en-US" altLang="zh-CN" sz="2400"/>
              <a:t>(</a:t>
            </a:r>
            <a:r>
              <a:rPr lang="en-US" altLang="zh-CN" sz="2400" i="1"/>
              <a:t>default</a:t>
            </a:r>
            <a:r>
              <a:rPr lang="en-US" altLang="zh-CN" sz="2400"/>
              <a:t>[</a:t>
            </a:r>
            <a:r>
              <a:rPr lang="en-US" altLang="zh-CN" sz="2400" i="1"/>
              <a:t>s</a:t>
            </a:r>
            <a:r>
              <a:rPr lang="en-US" altLang="zh-CN" sz="2400"/>
              <a:t>], </a:t>
            </a:r>
            <a:r>
              <a:rPr lang="en-US" altLang="zh-CN" sz="2400" i="1"/>
              <a:t>a</a:t>
            </a:r>
            <a:r>
              <a:rPr lang="en-US" altLang="zh-CN" sz="2400"/>
              <a:t>)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>
            <a:extLst>
              <a:ext uri="{FF2B5EF4-FFF2-40B4-BE49-F238E27FC236}">
                <a16:creationId xmlns:a16="http://schemas.microsoft.com/office/drawing/2014/main" id="{77C5988E-A8C0-4A9C-95AD-AC84DEE922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状态转换表压缩（续）</a:t>
            </a:r>
          </a:p>
        </p:txBody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809D7E2E-239E-4A86-891F-46EDBB447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q</a:t>
            </a:r>
            <a:r>
              <a:rPr lang="zh-CN" altLang="en-US" dirty="0"/>
              <a:t>作为</a:t>
            </a:r>
            <a:r>
              <a:rPr lang="en-US" altLang="zh-CN" dirty="0"/>
              <a:t>s</a:t>
            </a:r>
            <a:r>
              <a:rPr lang="zh-CN" altLang="en-US" dirty="0"/>
              <a:t>的“缺省状态”</a:t>
            </a:r>
            <a:r>
              <a:rPr lang="en-US" altLang="zh-CN" dirty="0"/>
              <a:t>——</a:t>
            </a:r>
            <a:r>
              <a:rPr lang="zh-CN" altLang="en-US" dirty="0"/>
              <a:t>状态相似性</a:t>
            </a:r>
          </a:p>
          <a:p>
            <a:pPr lvl="1" eaLnBrk="1" hangingPunct="1"/>
            <a:r>
              <a:rPr lang="en-US" altLang="zh-CN" dirty="0"/>
              <a:t>q</a:t>
            </a:r>
            <a:r>
              <a:rPr lang="zh-CN" altLang="en-US" dirty="0"/>
              <a:t>：通用状态，如：标识符识别</a:t>
            </a:r>
          </a:p>
          <a:p>
            <a:pPr lvl="1" eaLnBrk="1" hangingPunct="1"/>
            <a:r>
              <a:rPr lang="en-US" altLang="zh-CN" dirty="0"/>
              <a:t>s</a:t>
            </a:r>
            <a:r>
              <a:rPr lang="zh-CN" altLang="en-US" dirty="0"/>
              <a:t>：特殊状态，如：识别关键字“</a:t>
            </a:r>
            <a:r>
              <a:rPr lang="en-US" altLang="zh-CN" dirty="0"/>
              <a:t>then”</a:t>
            </a:r>
            <a:r>
              <a:rPr lang="zh-CN" altLang="en-US" dirty="0"/>
              <a:t>，已读入“</a:t>
            </a:r>
            <a:r>
              <a:rPr lang="en-US" altLang="zh-CN" dirty="0" err="1"/>
              <a:t>th</a:t>
            </a:r>
            <a:r>
              <a:rPr lang="en-US" altLang="zh-CN" dirty="0"/>
              <a:t>”</a:t>
            </a:r>
            <a:r>
              <a:rPr lang="zh-CN" altLang="en-US" dirty="0"/>
              <a:t>的状态</a:t>
            </a:r>
          </a:p>
          <a:p>
            <a:pPr lvl="1" eaLnBrk="1" hangingPunct="1"/>
            <a:r>
              <a:rPr lang="en-US" altLang="zh-CN" dirty="0"/>
              <a:t>s</a:t>
            </a:r>
            <a:r>
              <a:rPr lang="zh-CN" altLang="en-US" dirty="0"/>
              <a:t>读入‘</a:t>
            </a:r>
            <a:r>
              <a:rPr lang="en-US" altLang="zh-CN" dirty="0"/>
              <a:t>e</a:t>
            </a:r>
            <a:r>
              <a:rPr lang="zh-CN" altLang="en-US" dirty="0"/>
              <a:t>’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继续识别“</a:t>
            </a:r>
            <a:r>
              <a:rPr lang="en-US" altLang="zh-CN" dirty="0">
                <a:sym typeface="Wingdings" panose="05000000000000000000" pitchFamily="2" charset="2"/>
              </a:rPr>
              <a:t>then”</a:t>
            </a:r>
            <a:r>
              <a:rPr lang="zh-CN" altLang="en-US" dirty="0">
                <a:sym typeface="Wingdings" panose="05000000000000000000" pitchFamily="2" charset="2"/>
              </a:rPr>
              <a:t>，否则标识符</a:t>
            </a:r>
            <a:endParaRPr lang="zh-CN" altLang="en-US" dirty="0"/>
          </a:p>
        </p:txBody>
      </p:sp>
      <p:sp>
        <p:nvSpPr>
          <p:cNvPr id="197636" name="Line 24">
            <a:extLst>
              <a:ext uri="{FF2B5EF4-FFF2-40B4-BE49-F238E27FC236}">
                <a16:creationId xmlns:a16="http://schemas.microsoft.com/office/drawing/2014/main" id="{5B647B1A-ABBD-4624-B2ED-D7F4858E70F0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49530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7637" name="Oval 25">
            <a:extLst>
              <a:ext uri="{FF2B5EF4-FFF2-40B4-BE49-F238E27FC236}">
                <a16:creationId xmlns:a16="http://schemas.microsoft.com/office/drawing/2014/main" id="{0151B511-F170-4535-B96C-CFA78517C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4724400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97638" name="Line 26">
            <a:extLst>
              <a:ext uri="{FF2B5EF4-FFF2-40B4-BE49-F238E27FC236}">
                <a16:creationId xmlns:a16="http://schemas.microsoft.com/office/drawing/2014/main" id="{DAEC0CD0-DC54-4593-885F-97666F32C8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49530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7639" name="Text Box 27">
            <a:extLst>
              <a:ext uri="{FF2B5EF4-FFF2-40B4-BE49-F238E27FC236}">
                <a16:creationId xmlns:a16="http://schemas.microsoft.com/office/drawing/2014/main" id="{B5E2692C-7818-49E6-8839-54EB46A08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572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sp>
        <p:nvSpPr>
          <p:cNvPr id="197640" name="Text Box 28">
            <a:extLst>
              <a:ext uri="{FF2B5EF4-FFF2-40B4-BE49-F238E27FC236}">
                <a16:creationId xmlns:a16="http://schemas.microsoft.com/office/drawing/2014/main" id="{960E681D-9120-4B00-AA48-5F5B75D4F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572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letter</a:t>
            </a:r>
          </a:p>
        </p:txBody>
      </p:sp>
      <p:sp>
        <p:nvSpPr>
          <p:cNvPr id="197641" name="Text Box 29">
            <a:extLst>
              <a:ext uri="{FF2B5EF4-FFF2-40B4-BE49-F238E27FC236}">
                <a16:creationId xmlns:a16="http://schemas.microsoft.com/office/drawing/2014/main" id="{8A862DF9-63D4-4450-B7A2-8F34155A4F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4724400"/>
            <a:ext cx="40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9</a:t>
            </a:r>
          </a:p>
        </p:txBody>
      </p:sp>
      <p:sp>
        <p:nvSpPr>
          <p:cNvPr id="197642" name="Line 30">
            <a:extLst>
              <a:ext uri="{FF2B5EF4-FFF2-40B4-BE49-F238E27FC236}">
                <a16:creationId xmlns:a16="http://schemas.microsoft.com/office/drawing/2014/main" id="{BAB9C30E-EF50-4225-93FE-AD78CFFC6C3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4953000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7643" name="Text Box 31">
            <a:extLst>
              <a:ext uri="{FF2B5EF4-FFF2-40B4-BE49-F238E27FC236}">
                <a16:creationId xmlns:a16="http://schemas.microsoft.com/office/drawing/2014/main" id="{32726148-EEA0-405A-A7E3-C5ECCDC3D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4572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other</a:t>
            </a:r>
          </a:p>
        </p:txBody>
      </p:sp>
      <p:sp>
        <p:nvSpPr>
          <p:cNvPr id="197644" name="Oval 32">
            <a:extLst>
              <a:ext uri="{FF2B5EF4-FFF2-40B4-BE49-F238E27FC236}">
                <a16:creationId xmlns:a16="http://schemas.microsoft.com/office/drawing/2014/main" id="{7CF3B622-EA37-40A0-9D01-A95C344B2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724400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97645" name="Oval 33">
            <a:extLst>
              <a:ext uri="{FF2B5EF4-FFF2-40B4-BE49-F238E27FC236}">
                <a16:creationId xmlns:a16="http://schemas.microsoft.com/office/drawing/2014/main" id="{9E4D8806-F16B-4B47-A42B-14DC0FEDE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4800600"/>
            <a:ext cx="304800" cy="3048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97646" name="Text Box 34">
            <a:extLst>
              <a:ext uri="{FF2B5EF4-FFF2-40B4-BE49-F238E27FC236}">
                <a16:creationId xmlns:a16="http://schemas.microsoft.com/office/drawing/2014/main" id="{F844CB7A-80BA-4D72-8F1E-09060896E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4724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11</a:t>
            </a:r>
          </a:p>
        </p:txBody>
      </p:sp>
      <p:sp>
        <p:nvSpPr>
          <p:cNvPr id="197647" name="Oval 35">
            <a:extLst>
              <a:ext uri="{FF2B5EF4-FFF2-40B4-BE49-F238E27FC236}">
                <a16:creationId xmlns:a16="http://schemas.microsoft.com/office/drawing/2014/main" id="{35EAF335-6B7B-4982-9689-1BEDB4545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724400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97648" name="Text Box 36">
            <a:extLst>
              <a:ext uri="{FF2B5EF4-FFF2-40B4-BE49-F238E27FC236}">
                <a16:creationId xmlns:a16="http://schemas.microsoft.com/office/drawing/2014/main" id="{62DE0AFB-A884-4E7E-9695-2B94F12EE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724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q</a:t>
            </a:r>
          </a:p>
        </p:txBody>
      </p:sp>
      <p:cxnSp>
        <p:nvCxnSpPr>
          <p:cNvPr id="197649" name="AutoShape 37">
            <a:extLst>
              <a:ext uri="{FF2B5EF4-FFF2-40B4-BE49-F238E27FC236}">
                <a16:creationId xmlns:a16="http://schemas.microsoft.com/office/drawing/2014/main" id="{70ED0549-783A-44F0-AE6A-2E395FB7FEBC}"/>
              </a:ext>
            </a:extLst>
          </p:cNvPr>
          <p:cNvCxnSpPr>
            <a:cxnSpLocks noChangeShapeType="1"/>
            <a:stCxn id="197647" idx="7"/>
            <a:endCxn id="197648" idx="0"/>
          </p:cNvCxnSpPr>
          <p:nvPr/>
        </p:nvCxnSpPr>
        <p:spPr bwMode="auto">
          <a:xfrm rot="5400000" flipH="1">
            <a:off x="4467225" y="4676775"/>
            <a:ext cx="66675" cy="161925"/>
          </a:xfrm>
          <a:prstGeom prst="curvedConnector3">
            <a:avLst>
              <a:gd name="adj1" fmla="val 442856"/>
            </a:avLst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7650" name="Text Box 38">
            <a:extLst>
              <a:ext uri="{FF2B5EF4-FFF2-40B4-BE49-F238E27FC236}">
                <a16:creationId xmlns:a16="http://schemas.microsoft.com/office/drawing/2014/main" id="{37864801-499E-46FA-BEBC-6D4B357C62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41148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letter or digit</a:t>
            </a:r>
          </a:p>
        </p:txBody>
      </p:sp>
      <p:sp>
        <p:nvSpPr>
          <p:cNvPr id="197651" name="Text Box 39">
            <a:extLst>
              <a:ext uri="{FF2B5EF4-FFF2-40B4-BE49-F238E27FC236}">
                <a16:creationId xmlns:a16="http://schemas.microsoft.com/office/drawing/2014/main" id="{3F71BA63-FFEA-4EA9-9CC1-1C825AED77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648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*</a:t>
            </a:r>
          </a:p>
        </p:txBody>
      </p:sp>
      <p:sp>
        <p:nvSpPr>
          <p:cNvPr id="197652" name="Line 42">
            <a:extLst>
              <a:ext uri="{FF2B5EF4-FFF2-40B4-BE49-F238E27FC236}">
                <a16:creationId xmlns:a16="http://schemas.microsoft.com/office/drawing/2014/main" id="{113612A9-C98C-41E7-9123-D9A0F5A1EC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2600" y="60960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7653" name="Oval 43">
            <a:extLst>
              <a:ext uri="{FF2B5EF4-FFF2-40B4-BE49-F238E27FC236}">
                <a16:creationId xmlns:a16="http://schemas.microsoft.com/office/drawing/2014/main" id="{3BB01B93-8F68-4A9C-B3A5-CB5636FAB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867400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97654" name="Line 44">
            <a:extLst>
              <a:ext uri="{FF2B5EF4-FFF2-40B4-BE49-F238E27FC236}">
                <a16:creationId xmlns:a16="http://schemas.microsoft.com/office/drawing/2014/main" id="{A319FC20-D4F2-4412-8ADD-9DA603C71C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096000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7655" name="Text Box 45">
            <a:extLst>
              <a:ext uri="{FF2B5EF4-FFF2-40B4-BE49-F238E27FC236}">
                <a16:creationId xmlns:a16="http://schemas.microsoft.com/office/drawing/2014/main" id="{EF191B4E-5A4A-4B44-9CC9-040ED7662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5715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start</a:t>
            </a:r>
          </a:p>
        </p:txBody>
      </p:sp>
      <p:sp>
        <p:nvSpPr>
          <p:cNvPr id="197656" name="Text Box 46">
            <a:extLst>
              <a:ext uri="{FF2B5EF4-FFF2-40B4-BE49-F238E27FC236}">
                <a16:creationId xmlns:a16="http://schemas.microsoft.com/office/drawing/2014/main" id="{76453826-5F2A-4E99-8DAE-DA18C13D5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5715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th</a:t>
            </a:r>
          </a:p>
        </p:txBody>
      </p:sp>
      <p:sp>
        <p:nvSpPr>
          <p:cNvPr id="197657" name="Text Box 47">
            <a:extLst>
              <a:ext uri="{FF2B5EF4-FFF2-40B4-BE49-F238E27FC236}">
                <a16:creationId xmlns:a16="http://schemas.microsoft.com/office/drawing/2014/main" id="{39D9837F-6480-4E86-AA35-276665C92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8674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12</a:t>
            </a:r>
          </a:p>
        </p:txBody>
      </p:sp>
      <p:sp>
        <p:nvSpPr>
          <p:cNvPr id="197658" name="Line 48">
            <a:extLst>
              <a:ext uri="{FF2B5EF4-FFF2-40B4-BE49-F238E27FC236}">
                <a16:creationId xmlns:a16="http://schemas.microsoft.com/office/drawing/2014/main" id="{6AB4AE1A-3EC2-4F36-A102-A41BD7AB3E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6096000"/>
            <a:ext cx="838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7659" name="Text Box 49">
            <a:extLst>
              <a:ext uri="{FF2B5EF4-FFF2-40B4-BE49-F238E27FC236}">
                <a16:creationId xmlns:a16="http://schemas.microsoft.com/office/drawing/2014/main" id="{9EE00235-5716-4227-B764-4393260E76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5715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e</a:t>
            </a:r>
          </a:p>
        </p:txBody>
      </p:sp>
      <p:sp>
        <p:nvSpPr>
          <p:cNvPr id="197660" name="Oval 53">
            <a:extLst>
              <a:ext uri="{FF2B5EF4-FFF2-40B4-BE49-F238E27FC236}">
                <a16:creationId xmlns:a16="http://schemas.microsoft.com/office/drawing/2014/main" id="{7F8B8BB5-63C8-475A-BD32-40CE0BCB1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867400"/>
            <a:ext cx="457200" cy="4572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197661" name="Text Box 54">
            <a:extLst>
              <a:ext uri="{FF2B5EF4-FFF2-40B4-BE49-F238E27FC236}">
                <a16:creationId xmlns:a16="http://schemas.microsoft.com/office/drawing/2014/main" id="{9A6E2C82-8253-4302-9C64-F6BAF7D01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5867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s</a:t>
            </a:r>
          </a:p>
        </p:txBody>
      </p:sp>
      <p:sp>
        <p:nvSpPr>
          <p:cNvPr id="197662" name="Text Box 57">
            <a:extLst>
              <a:ext uri="{FF2B5EF4-FFF2-40B4-BE49-F238E27FC236}">
                <a16:creationId xmlns:a16="http://schemas.microsoft.com/office/drawing/2014/main" id="{402091C4-D710-4352-B68F-B5151223C7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7912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…</a:t>
            </a:r>
          </a:p>
        </p:txBody>
      </p:sp>
      <p:sp>
        <p:nvSpPr>
          <p:cNvPr id="197663" name="Line 58">
            <a:extLst>
              <a:ext uri="{FF2B5EF4-FFF2-40B4-BE49-F238E27FC236}">
                <a16:creationId xmlns:a16="http://schemas.microsoft.com/office/drawing/2014/main" id="{E6CEEA57-2CBF-450F-B710-8031473E1B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19600" y="5181600"/>
            <a:ext cx="0" cy="685800"/>
          </a:xfrm>
          <a:prstGeom prst="line">
            <a:avLst/>
          </a:prstGeom>
          <a:noFill/>
          <a:ln w="25400">
            <a:solidFill>
              <a:srgbClr val="FF33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7664" name="Text Box 59">
            <a:extLst>
              <a:ext uri="{FF2B5EF4-FFF2-40B4-BE49-F238E27FC236}">
                <a16:creationId xmlns:a16="http://schemas.microsoft.com/office/drawing/2014/main" id="{388E2E8A-8D99-4B8C-B734-A7B01CB0EE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5334000"/>
            <a:ext cx="2819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/>
              <a:t>other letter or digit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74B6CD58-34BB-4E3A-B009-5CB249A2A9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lcc</a:t>
            </a:r>
            <a:r>
              <a:rPr lang="zh-CN" altLang="en-US"/>
              <a:t>的词法分析器</a:t>
            </a:r>
          </a:p>
        </p:txBody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706FDF5E-2535-41F5-99AD-C402FCA27D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260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Coordinate src;		/* current source coordinate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int 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char *token;		/* current token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Symbol tsym;		/* symbol table entry for current token */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int gettok(void)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for (;;)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switch (*rcp++)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…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case 'i':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if (rcp[0] == 'f'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&amp;&amp; !(map[rcp[1]]&amp;(DIGIT|LETTER))) {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cp = rcp + 1;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return IF;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}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BB914C5F-EBDA-4004-BDA0-9DA04CD674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lcc</a:t>
            </a:r>
            <a:r>
              <a:rPr lang="zh-CN" altLang="en-US"/>
              <a:t>的词法分析器（续）</a:t>
            </a:r>
          </a:p>
        </p:txBody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B4B399A1-0070-4460-9042-33D422E3A4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if (rcp[0] == 'n'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&amp;&amp;  rcp[1] == 't'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&amp;&amp; !(map[rcp[2]]&amp;(DIGIT|LETTER)))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cp = rcp + 2;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tsym = inttype-&gt;u.sym;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	return INT;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			goto id;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00FF"/>
                </a:solidFill>
                <a:latin typeface="Tahoma" panose="020B0604030504040204" pitchFamily="34" charset="0"/>
              </a:rPr>
              <a:t>…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0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标题 1">
            <a:extLst>
              <a:ext uri="{FF2B5EF4-FFF2-40B4-BE49-F238E27FC236}">
                <a16:creationId xmlns:a16="http://schemas.microsoft.com/office/drawing/2014/main" id="{9DE792A7-4E29-4249-B29B-9D2B10ABD4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Tiny-C</a:t>
            </a:r>
            <a:r>
              <a:rPr lang="zh-CN" altLang="en-US"/>
              <a:t>的词法分析器</a:t>
            </a:r>
          </a:p>
        </p:txBody>
      </p:sp>
      <p:sp>
        <p:nvSpPr>
          <p:cNvPr id="200707" name="内容占位符 2">
            <a:extLst>
              <a:ext uri="{FF2B5EF4-FFF2-40B4-BE49-F238E27FC236}">
                <a16:creationId xmlns:a16="http://schemas.microsoft.com/office/drawing/2014/main" id="{1091DA5A-FCCA-4BFD-8368-8E46D2D3E8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%{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#include "globals.h"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#include "util.h"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#include "scan.h"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/* lexeme of identifier or reserved word */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char tokenString[MAXTOKENLEN+1];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%}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8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digit       [0-9]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number      {digit}+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letter      [a-zA-Z]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identifier  {letter}+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newline     \n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whitespace  [ \t]+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sz="180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%%</a:t>
            </a:r>
            <a:endParaRPr lang="zh-CN" altLang="en-US" sz="180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标题 1">
            <a:extLst>
              <a:ext uri="{FF2B5EF4-FFF2-40B4-BE49-F238E27FC236}">
                <a16:creationId xmlns:a16="http://schemas.microsoft.com/office/drawing/2014/main" id="{D4A54B0A-DD65-4A55-9B7D-333CCCC1CD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Tiny-C</a:t>
            </a:r>
            <a:r>
              <a:rPr lang="zh-CN" altLang="en-US"/>
              <a:t>的词法分析器（续）</a:t>
            </a:r>
          </a:p>
        </p:txBody>
      </p:sp>
      <p:sp>
        <p:nvSpPr>
          <p:cNvPr id="201731" name="内容占位符 2">
            <a:extLst>
              <a:ext uri="{FF2B5EF4-FFF2-40B4-BE49-F238E27FC236}">
                <a16:creationId xmlns:a16="http://schemas.microsoft.com/office/drawing/2014/main" id="{FC106012-DE0D-4198-A074-76D2C2AEAE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"if"            {return IF;}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"then"          {return THEN;}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"else"          {return ELSE;}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"end"           {return END;}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"repeat"        {return REPEAT;}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"until"         {return UNTIL;}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"read"          {return READ;}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"write"         {return WRITE;}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":="            {return ASSIGN;}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"="             {return EQ;}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"&lt;"             {return LT;}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"+"             {return PLUS;}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"-"             {return MINUS;}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"*"             {return TIMES;}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"/"             {return OVER;}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标题 1">
            <a:extLst>
              <a:ext uri="{FF2B5EF4-FFF2-40B4-BE49-F238E27FC236}">
                <a16:creationId xmlns:a16="http://schemas.microsoft.com/office/drawing/2014/main" id="{20939D01-B0E4-4D70-AF99-D59B9A4A98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Tiny-C</a:t>
            </a:r>
            <a:r>
              <a:rPr lang="zh-CN" altLang="en-US"/>
              <a:t>的词法分析器（续）</a:t>
            </a:r>
          </a:p>
        </p:txBody>
      </p:sp>
      <p:sp>
        <p:nvSpPr>
          <p:cNvPr id="202755" name="内容占位符 2">
            <a:extLst>
              <a:ext uri="{FF2B5EF4-FFF2-40B4-BE49-F238E27FC236}">
                <a16:creationId xmlns:a16="http://schemas.microsoft.com/office/drawing/2014/main" id="{A06BB6D0-3F24-40E1-8CB9-B523ADD405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"("             {return LPAREN;}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")"             {return RPAREN;}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";"             {return SEMI;}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{number}        {return NUM;}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{identifier}    {return ID;}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{newline}       {lineno++;}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{whitespace}    {/* skip whitespace */}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"{"             { char c;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                do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                { c = input();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                  if (c == EOF) break;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                  if (c == '\n') lineno++;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                } while (c != '}');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            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.               {return ERROR;}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%%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标题 1">
            <a:extLst>
              <a:ext uri="{FF2B5EF4-FFF2-40B4-BE49-F238E27FC236}">
                <a16:creationId xmlns:a16="http://schemas.microsoft.com/office/drawing/2014/main" id="{30CCF825-214E-41CC-B0A5-EB19E2346F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Tiny-C</a:t>
            </a:r>
            <a:r>
              <a:rPr lang="zh-CN" altLang="en-US"/>
              <a:t>的词法分析器（续）</a:t>
            </a:r>
          </a:p>
        </p:txBody>
      </p:sp>
      <p:sp>
        <p:nvSpPr>
          <p:cNvPr id="203779" name="内容占位符 2">
            <a:extLst>
              <a:ext uri="{FF2B5EF4-FFF2-40B4-BE49-F238E27FC236}">
                <a16:creationId xmlns:a16="http://schemas.microsoft.com/office/drawing/2014/main" id="{D116F554-D765-4D32-BE63-64579AE03C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TokenType getToken(void)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{ static int firstTime = TRUE;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TokenType currentToken;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if (firstTime)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{ firstTime = FALSE;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  lineno++;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  yyin = source;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  yyout = listing;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currentToken = yylex();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strncpy(tokenString,yytext,MAXTOKENLEN);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if (TraceScan) {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  fprintf(listing,"\t%d: ",lineno);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  printToken(currentToken,tokenString);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}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  return currentToken;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00FF"/>
                </a:solidFill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10479</TotalTime>
  <Words>13593</Words>
  <Application>Microsoft Macintosh PowerPoint</Application>
  <PresentationFormat>全屏显示(4:3)</PresentationFormat>
  <Paragraphs>2480</Paragraphs>
  <Slides>196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196</vt:i4>
      </vt:variant>
    </vt:vector>
  </HeadingPairs>
  <TitlesOfParts>
    <vt:vector size="207" baseType="lpstr">
      <vt:lpstr>黑体</vt:lpstr>
      <vt:lpstr>黑体</vt:lpstr>
      <vt:lpstr>宋体</vt:lpstr>
      <vt:lpstr>Arial</vt:lpstr>
      <vt:lpstr>Courier New</vt:lpstr>
      <vt:lpstr>Symbol</vt:lpstr>
      <vt:lpstr>Tahoma</vt:lpstr>
      <vt:lpstr>Times New Roman</vt:lpstr>
      <vt:lpstr>Wingdings</vt:lpstr>
      <vt:lpstr>Blends</vt:lpstr>
      <vt:lpstr>Equation</vt:lpstr>
      <vt:lpstr>第三章  词法分析</vt:lpstr>
      <vt:lpstr>PowerPoint 演示文稿</vt:lpstr>
      <vt:lpstr>3.1  词法分析器的角色</vt:lpstr>
      <vt:lpstr>3.1.2  基本术语</vt:lpstr>
      <vt:lpstr>基本术语（续）</vt:lpstr>
      <vt:lpstr>单词</vt:lpstr>
      <vt:lpstr>3.1.3  单词属性</vt:lpstr>
      <vt:lpstr>例3.1：E := M * C ** 2</vt:lpstr>
      <vt:lpstr>3.1.4  词法错误</vt:lpstr>
      <vt:lpstr>3.2  缓冲技术</vt:lpstr>
      <vt:lpstr>3.2.1  双缓冲技术</vt:lpstr>
      <vt:lpstr>双缓冲技术图示</vt:lpstr>
      <vt:lpstr>双缓冲技术伪代码</vt:lpstr>
      <vt:lpstr>3.2.2  哨兵（sentinel）技术</vt:lpstr>
      <vt:lpstr>使用哨兵技术的伪代码</vt:lpstr>
      <vt:lpstr>lcc的输入处理</vt:lpstr>
      <vt:lpstr>lcc的输入处理（续）</vt:lpstr>
      <vt:lpstr>lcc的输入处理（续）</vt:lpstr>
      <vt:lpstr>lcc的输入处理（续）</vt:lpstr>
      <vt:lpstr>Tiny-C的输入处理</vt:lpstr>
      <vt:lpstr>3.3  单词的描述：正则表达式</vt:lpstr>
      <vt:lpstr>串和语言（续）</vt:lpstr>
      <vt:lpstr>相关术语——符号串s为banana</vt:lpstr>
      <vt:lpstr>语言的定义</vt:lpstr>
      <vt:lpstr>语言的定义（续）</vt:lpstr>
      <vt:lpstr>PowerPoint 演示文稿</vt:lpstr>
      <vt:lpstr>符号串的运算</vt:lpstr>
      <vt:lpstr>符号串的运算（续）</vt:lpstr>
      <vt:lpstr>3.3.2  语言的运算</vt:lpstr>
      <vt:lpstr>语言运算示例</vt:lpstr>
      <vt:lpstr>语言运算示例（续）</vt:lpstr>
      <vt:lpstr>PowerPoint 演示文稿</vt:lpstr>
      <vt:lpstr>PowerPoint 演示文稿</vt:lpstr>
      <vt:lpstr>3.3.3正则表达式</vt:lpstr>
      <vt:lpstr>正规式定义规则</vt:lpstr>
      <vt:lpstr>正规式定义规则（续）</vt:lpstr>
      <vt:lpstr>例3.3</vt:lpstr>
      <vt:lpstr>例3.3 （续）</vt:lpstr>
      <vt:lpstr>正规式运算的特性</vt:lpstr>
      <vt:lpstr>3.3.4  正规定义</vt:lpstr>
      <vt:lpstr>正规定义例子</vt:lpstr>
      <vt:lpstr>例3.5：Pascal语言无符号数</vt:lpstr>
      <vt:lpstr>3.3.5  符号简写</vt:lpstr>
      <vt:lpstr>符号简写（续）</vt:lpstr>
      <vt:lpstr>3.3.6  非正规集</vt:lpstr>
      <vt:lpstr>正规式设计练习</vt:lpstr>
      <vt:lpstr>3.5  Lex</vt:lpstr>
      <vt:lpstr>Lex程序结构</vt:lpstr>
      <vt:lpstr>规则段形式</vt:lpstr>
      <vt:lpstr>例3.12：超前搜索</vt:lpstr>
      <vt:lpstr>Lex中的整数</vt:lpstr>
      <vt:lpstr>Lex中的字符</vt:lpstr>
      <vt:lpstr>字符集</vt:lpstr>
      <vt:lpstr>正规式构造</vt:lpstr>
      <vt:lpstr>例1</vt:lpstr>
      <vt:lpstr>例1</vt:lpstr>
      <vt:lpstr>例1 C++版</vt:lpstr>
      <vt:lpstr>例1 C++版（续）</vt:lpstr>
      <vt:lpstr>例1 C++版（续）</vt:lpstr>
      <vt:lpstr>例2</vt:lpstr>
      <vt:lpstr>例2</vt:lpstr>
      <vt:lpstr>3.4 单词的识别</vt:lpstr>
      <vt:lpstr>对应的单词的正规定义</vt:lpstr>
      <vt:lpstr>过滤空白符</vt:lpstr>
      <vt:lpstr>全部正规定义</vt:lpstr>
      <vt:lpstr>3.4.1  状态转换图</vt:lpstr>
      <vt:lpstr>如何识别单词？</vt:lpstr>
      <vt:lpstr>状态转换图</vt:lpstr>
      <vt:lpstr>如何识别单词？（续）</vt:lpstr>
      <vt:lpstr>例</vt:lpstr>
      <vt:lpstr>例3.7：所有关系运算符</vt:lpstr>
      <vt:lpstr>例3.8、3.10：标识符与分隔符</vt:lpstr>
      <vt:lpstr>例3.9：无符号数</vt:lpstr>
      <vt:lpstr>关键字的处理</vt:lpstr>
      <vt:lpstr>3.4.2  状态转换图的实现</vt:lpstr>
      <vt:lpstr>实现代码</vt:lpstr>
      <vt:lpstr>实现代码</vt:lpstr>
      <vt:lpstr>实现代码（续）</vt:lpstr>
      <vt:lpstr>实现代码（续）</vt:lpstr>
      <vt:lpstr>实现代码（续）</vt:lpstr>
      <vt:lpstr>实现代码（续）</vt:lpstr>
      <vt:lpstr>实现代码（续）</vt:lpstr>
      <vt:lpstr>实现代码（续）</vt:lpstr>
      <vt:lpstr>3.6  有限自动机</vt:lpstr>
      <vt:lpstr>NFA和DFA</vt:lpstr>
      <vt:lpstr>3.6.1  非确定有限自动机</vt:lpstr>
      <vt:lpstr>表示方式</vt:lpstr>
      <vt:lpstr>例：(a|b)*abb</vt:lpstr>
      <vt:lpstr>例：(a|b)*abb（续）</vt:lpstr>
      <vt:lpstr>NFA如何工作？</vt:lpstr>
      <vt:lpstr>NFA如何工作？</vt:lpstr>
      <vt:lpstr>NFA如何工作（续）</vt:lpstr>
      <vt:lpstr>NFA如何工作（续）</vt:lpstr>
      <vt:lpstr>处理未定义状态转换</vt:lpstr>
      <vt:lpstr>NFA与正规式/编译器的关系</vt:lpstr>
      <vt:lpstr>NFA例2</vt:lpstr>
      <vt:lpstr>例2的另一解法</vt:lpstr>
      <vt:lpstr>例2另一解法（续）</vt:lpstr>
      <vt:lpstr>3.6.2  确定有限自动机</vt:lpstr>
      <vt:lpstr>算法3.1  模拟DFA</vt:lpstr>
      <vt:lpstr>例3.14：(a|b)*abb</vt:lpstr>
      <vt:lpstr>设计自动机</vt:lpstr>
      <vt:lpstr>偶数个0，偶数个1的0/1串</vt:lpstr>
      <vt:lpstr>能被3整除的二进制串</vt:lpstr>
      <vt:lpstr>狼、羊、白菜</vt:lpstr>
      <vt:lpstr>3.7  由正规式构造NFA</vt:lpstr>
      <vt:lpstr>算法描述</vt:lpstr>
      <vt:lpstr>3.7.1  从正规式到NFA</vt:lpstr>
      <vt:lpstr>Thompson构造法</vt:lpstr>
      <vt:lpstr>算法3.3  正规式NFA（续）</vt:lpstr>
      <vt:lpstr>算法3.3  正规式NFA（续）</vt:lpstr>
      <vt:lpstr>算法3.3  正规式NFA（续）</vt:lpstr>
      <vt:lpstr>算法3.3  正规式NFA（续）</vt:lpstr>
      <vt:lpstr>算法特性</vt:lpstr>
      <vt:lpstr>例：(ab*c) | (a(b|c*))</vt:lpstr>
      <vt:lpstr>例：(ab*c) | (a(b|c*))（续）</vt:lpstr>
      <vt:lpstr>例：(ab*c) | (a(b|c*))（续）</vt:lpstr>
      <vt:lpstr>例：最终结果</vt:lpstr>
      <vt:lpstr>正规式NFA练习</vt:lpstr>
      <vt:lpstr>3.6.3  NFA到DFA的转换</vt:lpstr>
      <vt:lpstr>算法3.2：NFA转换为DFA</vt:lpstr>
      <vt:lpstr>子集构造法</vt:lpstr>
      <vt:lpstr>算法基本思想</vt:lpstr>
      <vt:lpstr>算法基本思想</vt:lpstr>
      <vt:lpstr>算法正确性</vt:lpstr>
      <vt:lpstr>算法3.2：NFA转换为DFA(2)</vt:lpstr>
      <vt:lpstr>算法3.2：NFA转换为DFA(3)</vt:lpstr>
      <vt:lpstr>NFADFA例1</vt:lpstr>
      <vt:lpstr>NFADFA例1（续）</vt:lpstr>
      <vt:lpstr>NFADFA例1（续）</vt:lpstr>
      <vt:lpstr>NFADFA例1（续）</vt:lpstr>
      <vt:lpstr>NFADFA例1（续）</vt:lpstr>
      <vt:lpstr>NFADFA例1（续）</vt:lpstr>
      <vt:lpstr>例3.15：(a | b)*abb NFADFA</vt:lpstr>
      <vt:lpstr>例3.15：（续）</vt:lpstr>
      <vt:lpstr>例3.15：（续）</vt:lpstr>
      <vt:lpstr>例3.15：（续）</vt:lpstr>
      <vt:lpstr>例3.15：（续）</vt:lpstr>
      <vt:lpstr>例3.15：（续）</vt:lpstr>
      <vt:lpstr>例3.15：（续）</vt:lpstr>
      <vt:lpstr>例3.15：结果</vt:lpstr>
      <vt:lpstr>3.7.2  模拟NFA（算法3.4）</vt:lpstr>
      <vt:lpstr>3.7.3  NFA与DFA的比较</vt:lpstr>
      <vt:lpstr>一种解决方法</vt:lpstr>
      <vt:lpstr>小结</vt:lpstr>
      <vt:lpstr>小结</vt:lpstr>
      <vt:lpstr>3.8  自动生成工具的设计</vt:lpstr>
      <vt:lpstr>利用有限自动机实现</vt:lpstr>
      <vt:lpstr>3.8.1  基于NFA的实现</vt:lpstr>
      <vt:lpstr>修改算法3.4</vt:lpstr>
      <vt:lpstr>例3.18</vt:lpstr>
      <vt:lpstr>例3.18（续）</vt:lpstr>
      <vt:lpstr>3.8.2  利用DFA实现（ 例3.19）</vt:lpstr>
      <vt:lpstr>3.8.3  超前搜索的实现(例3.20)</vt:lpstr>
      <vt:lpstr>3.9  DFA的优化</vt:lpstr>
      <vt:lpstr>重要状态</vt:lpstr>
      <vt:lpstr>扩充正规式</vt:lpstr>
      <vt:lpstr>语法树表示正规式</vt:lpstr>
      <vt:lpstr>语法树表示正规式（续）</vt:lpstr>
      <vt:lpstr>语法树表示正规式（续）</vt:lpstr>
      <vt:lpstr>3.9.2  正规式直接转换为DFA</vt:lpstr>
      <vt:lpstr>followpos</vt:lpstr>
      <vt:lpstr>例3.21</vt:lpstr>
      <vt:lpstr>followpos的计算</vt:lpstr>
      <vt:lpstr>计算firstpos, lastpos, nullable</vt:lpstr>
      <vt:lpstr>计算firstpos, lastpos, nullable</vt:lpstr>
      <vt:lpstr>计算followpos</vt:lpstr>
      <vt:lpstr>例3.22</vt:lpstr>
      <vt:lpstr>例3.22（续）</vt:lpstr>
      <vt:lpstr>例3.22（续）</vt:lpstr>
      <vt:lpstr>算法3.5  正规式直接构造DFA</vt:lpstr>
      <vt:lpstr>算法3.5 （续）</vt:lpstr>
      <vt:lpstr>例3.23</vt:lpstr>
      <vt:lpstr>正规式DFA vs. NFADFA</vt:lpstr>
      <vt:lpstr>正规式DFA练习</vt:lpstr>
      <vt:lpstr>正规式DFA练习（续）</vt:lpstr>
      <vt:lpstr>3.9.3  最小化DFA</vt:lpstr>
      <vt:lpstr>“区分”</vt:lpstr>
      <vt:lpstr>算法思想</vt:lpstr>
      <vt:lpstr>化简方法</vt:lpstr>
      <vt:lpstr>化简方法（续）</vt:lpstr>
      <vt:lpstr>化简方法（续）</vt:lpstr>
      <vt:lpstr>算法3.6  最小化DFA</vt:lpstr>
      <vt:lpstr>算法3.6  最小化DFA（续）</vt:lpstr>
      <vt:lpstr>算法3.6  最小化DFA（续）</vt:lpstr>
      <vt:lpstr>例3.24</vt:lpstr>
      <vt:lpstr>例3.24（续）</vt:lpstr>
      <vt:lpstr>最小化DFA练习</vt:lpstr>
      <vt:lpstr>3.9.5  状态转换表压缩</vt:lpstr>
      <vt:lpstr>状态转换表压缩（续）</vt:lpstr>
      <vt:lpstr>lcc的词法分析器</vt:lpstr>
      <vt:lpstr>lcc的词法分析器（续）</vt:lpstr>
      <vt:lpstr>Tiny-C的词法分析器</vt:lpstr>
      <vt:lpstr>Tiny-C的词法分析器（续）</vt:lpstr>
      <vt:lpstr>Tiny-C的词法分析器（续）</vt:lpstr>
      <vt:lpstr>Tiny-C的词法分析器（续）</vt:lpstr>
    </vt:vector>
  </TitlesOfParts>
  <Company>南开大学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介绍</dc:title>
  <dc:creator>王刚</dc:creator>
  <cp:lastModifiedBy>Microsoft Office User</cp:lastModifiedBy>
  <cp:revision>1380</cp:revision>
  <dcterms:created xsi:type="dcterms:W3CDTF">2003-06-05T11:51:39Z</dcterms:created>
  <dcterms:modified xsi:type="dcterms:W3CDTF">2025-10-08T01:12:36Z</dcterms:modified>
</cp:coreProperties>
</file>