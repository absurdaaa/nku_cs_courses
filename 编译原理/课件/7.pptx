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5"/>
  </p:notesMasterIdLst>
  <p:handoutMasterIdLst>
    <p:handoutMasterId r:id="rId8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338" r:id="rId32"/>
    <p:sldId id="339" r:id="rId33"/>
    <p:sldId id="340" r:id="rId34"/>
    <p:sldId id="287" r:id="rId35"/>
    <p:sldId id="288" r:id="rId36"/>
    <p:sldId id="289" r:id="rId37"/>
    <p:sldId id="290" r:id="rId38"/>
    <p:sldId id="292" r:id="rId39"/>
    <p:sldId id="291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3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2" r:id="rId79"/>
    <p:sldId id="333" r:id="rId80"/>
    <p:sldId id="334" r:id="rId81"/>
    <p:sldId id="335" r:id="rId82"/>
    <p:sldId id="336" r:id="rId83"/>
    <p:sldId id="337" r:id="rId84"/>
  </p:sldIdLst>
  <p:sldSz cx="9144000" cy="6858000" type="screen4x3"/>
  <p:notesSz cx="6759575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FF"/>
    <a:srgbClr val="FFCF01"/>
    <a:srgbClr val="0000FF"/>
    <a:srgbClr val="996633"/>
    <a:srgbClr val="009900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9" autoAdjust="0"/>
    <p:restoredTop sz="90929"/>
  </p:normalViewPr>
  <p:slideViewPr>
    <p:cSldViewPr>
      <p:cViewPr varScale="1">
        <p:scale>
          <a:sx n="127" d="100"/>
          <a:sy n="127" d="100"/>
        </p:scale>
        <p:origin x="115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49E3A693-CBAE-4F96-B48B-2D58B0B491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EB84E775-FAAD-470C-B640-07D5A9BDBF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1C28971A-66D7-46EF-8A6B-6587E30FB76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EDCFA24D-1465-4257-B0FA-5A3A5C68A32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226C1A4-FAFE-4011-BDF0-B86A6FE2C8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177797E-A021-4EC6-BE7F-F6198219FA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DDE1247-4E35-40F5-9BFD-23CAE5EB512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355CC2B-D5C4-4529-B6F8-3CDF6BAFF15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F0737003-6698-4868-AD28-7693CDAF7C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7888"/>
            <a:ext cx="4959350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93DBD85E-C30B-414B-8058-18C082FCE5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E70E5F49-4AED-4F3A-A7E8-41567F43DE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20704E3-153F-4B51-A044-1899355539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F07E8DC-1342-43A9-9911-E91BEDC911E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F3DE750-4269-4A2F-B5EA-FD4F567EA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AD738BAE-5AC8-4A88-AA70-CC5B158D3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8BE55AD8-5480-48D3-AADA-B3EB32EFF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886FFE7-AD62-4312-B898-59AAD0585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7808220-B36E-4338-9821-76917E10F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F87AA0D3-46CF-4180-AC5C-2C7DCAD8F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2C6EA444-A03E-4A5E-831C-4D2E1C90A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BD14C171-7A92-4968-A457-2611A98BB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C28EB5F9-B8EB-481B-8B47-B054D152D4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95CC554D-A418-4827-BF4F-54527524E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A0650A2-DE8C-47C0-9D31-AF9AF241FA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990DD7E-652E-4D4F-9341-BE05F4CFD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A1E5A30-203F-4312-93CF-F1717C5D65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751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CB8CCBC-BE77-4585-9CC0-77C5CA9D13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6DE73F-EDA9-4205-9E61-E0839E32D3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4956008-00EE-437B-9738-8580A8DE8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BC304-B8FA-49E1-8B86-4201525819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87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7C2E53E-2DDC-4216-928E-DC0D881F5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DD4ECF-B574-4D99-961B-95BBF6D4CF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C2ADCF-1AD0-4936-BE72-D4C607E6E1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187A0-B184-41EB-ACB2-AC709772B2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68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6354CC2-34D8-4D78-A95A-7D405DC11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CDD3BAA-8D23-4CC4-9FF3-D73DC670E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1C6DF41-8392-465D-8193-8F875F11E4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5F6ED-0F14-477C-87ED-7EE2250D7D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632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47C203B-2704-4A28-9DA7-EDACE2FEEA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94F815A-6B32-4AC5-9437-0342FEB2B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9D999D4F-03F4-4C68-BAEA-4F3998E1E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FD03A-701C-43B4-BABF-54DA74741D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807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958E28D-7391-47F7-A616-BCAC67D979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388CEC7-87C7-4DF3-AE57-816F3E879A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9EA26AF-D6E8-43BA-A905-5F380B8961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01D47-D467-48D0-8BC9-DF47461F62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0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7B81A810-DEBF-46F9-BDD0-27C13DD633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57306F3-7252-4576-B5E0-0F28C49EE9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90404A9-AA58-46FF-83C0-6AF9BA7FF2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B20CC-F263-4602-A52A-8221D52AF2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02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E7CF22B-FFCF-4D93-84AF-6D3811DA0E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0D89289-BB67-453D-AAD6-112E664A2B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0DEB294-DC0E-4F7B-BA78-CD2032AA70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0B387-847D-4A7D-9F07-A08D120B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72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AC90D55-B9BA-4339-AA7A-DE210CA0C8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C90E9E0-0F54-493E-BB7F-82FD23E468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8E43A09-5A4B-468F-9016-781C3D50D0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B31BE-D5CC-491A-815F-845C52BA63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82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2BF49DF-05EC-4617-9D4B-9997AA8C1A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71DFA8E-3512-45E9-BB84-4C8373F13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89AA83C-8888-4FFD-AC99-79A3FFB2D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406EA-33B1-4FF7-99D1-2C37C33A4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486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E5F930A-0850-4E80-9391-ABDDA26106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B988FC-82B8-4B13-B381-4C113D8AF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095D01D-7F21-4CF3-8EAC-BD16500F9F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A3594-E26F-4BBB-BFA0-80B2A60295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728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48A7085-6002-4EA1-B88D-2BEB520EED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641D91-2E0F-4041-96A6-AD7891C305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05B38BE-EBE1-41D7-BC34-2F1258B87A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ADE9FD-0976-4C81-9D2A-0760DAA1B6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D1386B-409F-4B00-83FE-34C2A3D143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7452854-1F8E-4E05-83D4-E445E95303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6860E6D-3C11-44ED-A073-D0F4104EE0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BBABA5F-47FB-4EFF-BEFB-AD3D36217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7E4E0CE7-A4CB-45E7-A27A-8671246EC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BF781AF4-5362-4C5B-952F-7A6B85AD32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C9413D51-E980-4A97-95AC-9F510AF035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F74562AF-C9A4-40A7-B210-CD6EEF692D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BFF83BC1-5912-494E-9268-40A9A2F9D5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973A4B-7F30-47E0-9A31-5F8F4374D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第七章  运行时环境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253B237-C57E-49D1-9517-6C0CA2692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55030D9-3289-4106-8D2A-82ADFE146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源语言语义</a:t>
            </a:r>
          </a:p>
          <a:p>
            <a:pPr eaLnBrk="1" hangingPunct="1"/>
            <a:r>
              <a:rPr lang="zh-CN" altLang="en-US"/>
              <a:t>存储组织</a:t>
            </a:r>
          </a:p>
          <a:p>
            <a:pPr eaLnBrk="1" hangingPunct="1"/>
            <a:r>
              <a:rPr lang="zh-CN" altLang="en-US"/>
              <a:t>存储分配策略</a:t>
            </a:r>
          </a:p>
          <a:p>
            <a:pPr eaLnBrk="1" hangingPunct="1"/>
            <a:r>
              <a:rPr lang="zh-CN" altLang="en-US"/>
              <a:t>对非局部名字的访问</a:t>
            </a:r>
          </a:p>
          <a:p>
            <a:pPr eaLnBrk="1" hangingPunct="1"/>
            <a:r>
              <a:rPr lang="zh-CN" altLang="en-US"/>
              <a:t>参数传递</a:t>
            </a:r>
          </a:p>
          <a:p>
            <a:pPr eaLnBrk="1" hangingPunct="1"/>
            <a:r>
              <a:rPr lang="zh-CN" altLang="en-US"/>
              <a:t>符号表</a:t>
            </a:r>
          </a:p>
          <a:p>
            <a:pPr eaLnBrk="1" hangingPunct="1"/>
            <a:r>
              <a:rPr lang="zh-CN" altLang="en-US"/>
              <a:t>动态内存分配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C220F2-9606-4F66-82C0-91F77887D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  </a:t>
            </a:r>
            <a:r>
              <a:rPr lang="zh-CN" altLang="en-US"/>
              <a:t>源语言相关问题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8D468BE-4A5E-4B31-A5D4-E484E2E86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7.1.1  </a:t>
            </a:r>
            <a:r>
              <a:rPr lang="zh-CN" altLang="en-US" sz="2800" dirty="0"/>
              <a:t>过程（函数），</a:t>
            </a:r>
            <a:r>
              <a:rPr lang="en-US" altLang="zh-CN" sz="2800" dirty="0">
                <a:solidFill>
                  <a:srgbClr val="FF3300"/>
                </a:solidFill>
              </a:rPr>
              <a:t>procedure</a:t>
            </a:r>
            <a:r>
              <a:rPr lang="en-US" altLang="zh-CN" sz="2800" dirty="0"/>
              <a:t>——</a:t>
            </a:r>
            <a:r>
              <a:rPr lang="zh-CN" altLang="en-US" sz="2800" dirty="0"/>
              <a:t>静态概念</a:t>
            </a:r>
            <a:br>
              <a:rPr lang="zh-CN" altLang="en-US" sz="2800" dirty="0"/>
            </a:br>
            <a:r>
              <a:rPr lang="zh-CN" altLang="en-US" sz="2800" dirty="0"/>
              <a:t>活动，</a:t>
            </a:r>
            <a:r>
              <a:rPr lang="en-US" altLang="zh-CN" sz="2800" dirty="0">
                <a:solidFill>
                  <a:srgbClr val="FF3300"/>
                </a:solidFill>
              </a:rPr>
              <a:t>activation</a:t>
            </a:r>
            <a:r>
              <a:rPr lang="en-US" altLang="zh-CN" sz="2800" dirty="0"/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</a:t>
            </a:r>
            <a:r>
              <a:rPr lang="zh-CN" altLang="en-US" sz="2800" dirty="0"/>
              <a:t>概念</a:t>
            </a:r>
          </a:p>
          <a:p>
            <a:pPr eaLnBrk="1" hangingPunct="1"/>
            <a:r>
              <a:rPr lang="zh-CN" altLang="en-US" sz="2800" dirty="0"/>
              <a:t>过程定义，</a:t>
            </a:r>
            <a:r>
              <a:rPr lang="en-US" altLang="zh-CN" sz="2800" dirty="0">
                <a:solidFill>
                  <a:srgbClr val="FF3300"/>
                </a:solidFill>
              </a:rPr>
              <a:t>procedure definition</a:t>
            </a:r>
          </a:p>
          <a:p>
            <a:pPr eaLnBrk="1" hangingPunct="1"/>
            <a:r>
              <a:rPr lang="zh-CN" altLang="en-US" sz="2800" dirty="0"/>
              <a:t>过程名，</a:t>
            </a:r>
            <a:r>
              <a:rPr lang="en-US" altLang="zh-CN" sz="2800" dirty="0">
                <a:solidFill>
                  <a:srgbClr val="FF3300"/>
                </a:solidFill>
              </a:rPr>
              <a:t>procedure name</a:t>
            </a:r>
          </a:p>
          <a:p>
            <a:pPr eaLnBrk="1" hangingPunct="1"/>
            <a:r>
              <a:rPr lang="zh-CN" altLang="en-US" sz="2800" dirty="0"/>
              <a:t>过程体，</a:t>
            </a:r>
            <a:r>
              <a:rPr lang="en-US" altLang="zh-CN" sz="2800" dirty="0">
                <a:solidFill>
                  <a:srgbClr val="FF3300"/>
                </a:solidFill>
              </a:rPr>
              <a:t>procedure body</a:t>
            </a:r>
          </a:p>
          <a:p>
            <a:pPr eaLnBrk="1" hangingPunct="1"/>
            <a:r>
              <a:rPr lang="zh-CN" altLang="en-US" sz="2800" dirty="0"/>
              <a:t>函数，</a:t>
            </a:r>
            <a:r>
              <a:rPr lang="en-US" altLang="zh-CN" sz="2800" dirty="0">
                <a:solidFill>
                  <a:srgbClr val="FF3300"/>
                </a:solidFill>
              </a:rPr>
              <a:t>function</a:t>
            </a:r>
          </a:p>
          <a:p>
            <a:pPr eaLnBrk="1" hangingPunct="1"/>
            <a:r>
              <a:rPr lang="zh-CN" altLang="en-US" sz="2800" dirty="0"/>
              <a:t>调用，</a:t>
            </a:r>
            <a:r>
              <a:rPr lang="en-US" altLang="zh-CN" sz="2800" dirty="0">
                <a:solidFill>
                  <a:srgbClr val="FF3300"/>
                </a:solidFill>
              </a:rPr>
              <a:t>call</a:t>
            </a:r>
          </a:p>
          <a:p>
            <a:pPr eaLnBrk="1" hangingPunct="1"/>
            <a:r>
              <a:rPr lang="zh-CN" altLang="en-US" sz="2800" dirty="0"/>
              <a:t>形式参数，</a:t>
            </a:r>
            <a:r>
              <a:rPr lang="en-US" altLang="zh-CN" sz="2800" dirty="0">
                <a:solidFill>
                  <a:srgbClr val="FF3300"/>
                </a:solidFill>
              </a:rPr>
              <a:t>formal parameters</a:t>
            </a:r>
          </a:p>
          <a:p>
            <a:pPr eaLnBrk="1" hangingPunct="1"/>
            <a:r>
              <a:rPr lang="zh-CN" altLang="en-US" sz="2800" dirty="0"/>
              <a:t>实际参数，</a:t>
            </a:r>
            <a:r>
              <a:rPr lang="en-US" altLang="zh-CN" sz="2800" dirty="0">
                <a:solidFill>
                  <a:srgbClr val="FF3300"/>
                </a:solidFill>
              </a:rPr>
              <a:t>actual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5B88B18-B87B-42A2-AF67-05C825BB18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Pascal</a:t>
            </a:r>
            <a:r>
              <a:rPr lang="zh-CN" altLang="en-US"/>
              <a:t>源码示例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FD83E95-BB76-4936-A59B-7BB44956C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program sort(input, output);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var a : array [0..10] of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procedure readarray;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var i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for i := 1 to 9 do read(a[i]);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end;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function partition(y, z : integer)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var i, j, x, v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end;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4E0F73B1-C379-4972-9077-CB1FF3A7676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28600" y="2819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过程定义</a:t>
            </a: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B6171FF3-CD28-433D-8CDD-11F9F2B9BC20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1066800" y="2514600"/>
            <a:ext cx="5334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97513E2C-94F7-4624-9E1A-BB5B22FD734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572000" y="2209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过程名</a:t>
            </a:r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C86C6242-61FA-4823-9D71-7283688F24F8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4038600" y="2438400"/>
            <a:ext cx="6858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988C7F5B-9905-44A6-81F2-3B64CDF644A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638800" y="4876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形式参数</a:t>
            </a:r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08B615CF-230F-4633-BC7A-15917DFC5A77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4191000" y="4800600"/>
            <a:ext cx="1600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F6F9871A-C40A-419B-9056-43C4E5E0B1E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28600" y="49530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函数定义</a:t>
            </a:r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E3E566DC-9397-4916-8E4F-5CD13F5D7500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1066800" y="4648200"/>
            <a:ext cx="5334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AutoShape 12">
            <a:extLst>
              <a:ext uri="{FF2B5EF4-FFF2-40B4-BE49-F238E27FC236}">
                <a16:creationId xmlns:a16="http://schemas.microsoft.com/office/drawing/2014/main" id="{F605A5F1-E8D4-49DD-A63F-39C271FEB9D4}"/>
              </a:ext>
            </a:extLst>
          </p:cNvPr>
          <p:cNvSpPr>
            <a:spLocks/>
          </p:cNvSpPr>
          <p:nvPr/>
        </p:nvSpPr>
        <p:spPr bwMode="ltGray">
          <a:xfrm>
            <a:off x="6629400" y="28194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D9D8B43F-945A-4610-A4EF-3C919DE59DE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086600" y="3352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过程体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C531E42-6E16-46DB-95D9-B9E746AE8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Pascal</a:t>
            </a:r>
            <a:r>
              <a:rPr lang="zh-CN" altLang="en-US"/>
              <a:t>源码示例（续）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4864797-49CB-4C25-BA0F-BF161CB3D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procedure quicksort(m, n : integer);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var i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if (n &gt; m) then 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i := partition(m, n);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quicksort(m, i - 1);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quicksort(i + 1, 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end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end;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4260F0A3-45AE-4092-BB0A-90CE63BE8AE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362200" y="3581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调用</a:t>
            </a: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6A87F51A-2B92-4738-AD99-80284A1A8A96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3124200" y="3505200"/>
            <a:ext cx="15240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A646C52F-7A31-4A90-A2F7-13C40D33FB4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629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实际参数</a:t>
            </a:r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BB631B67-7944-4EC2-B09D-880DC7127FF9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6019800" y="3429000"/>
            <a:ext cx="7620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5C4A30A-D3F7-4B27-ACD9-CFB8B4085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Pascal</a:t>
            </a:r>
            <a:r>
              <a:rPr lang="zh-CN" altLang="en-US"/>
              <a:t>源码示例（续）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BD4445C-6B50-49BC-B601-2D64DB979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a[0] := -9999; a[10] := 9999;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readarray;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quicksort(1, 9);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4CD398-F9CB-4CDC-BE49-CF7D483F9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7.1.2  </a:t>
            </a:r>
            <a:r>
              <a:rPr lang="zh-CN" altLang="en-US"/>
              <a:t>活动树（</a:t>
            </a:r>
            <a:r>
              <a:rPr lang="en-US" altLang="zh-CN">
                <a:solidFill>
                  <a:srgbClr val="FF3300"/>
                </a:solidFill>
              </a:rPr>
              <a:t>activation tree</a:t>
            </a:r>
            <a:r>
              <a:rPr lang="zh-CN" altLang="en-US"/>
              <a:t>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99BE7C0-6F34-45BC-B491-90B2135F5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控制流</a:t>
            </a:r>
          </a:p>
          <a:p>
            <a:pPr lvl="1" eaLnBrk="1" hangingPunct="1"/>
            <a:r>
              <a:rPr lang="zh-CN" altLang="en-US" sz="2400" dirty="0"/>
              <a:t>顺序性：程序的执行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/>
              <a:t>一组操作步骤序列，在每个步骤，控制流开始于程序的特定位置</a:t>
            </a:r>
          </a:p>
          <a:p>
            <a:pPr lvl="1" eaLnBrk="1" hangingPunct="1"/>
            <a:r>
              <a:rPr lang="zh-CN" altLang="en-US" sz="2400" dirty="0"/>
              <a:t>过程的执行：起始于过程体开始，最终控制权返回到过程调用点之后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FF3300"/>
                </a:solidFill>
                <a:sym typeface="Wingdings" panose="05000000000000000000" pitchFamily="2" charset="2"/>
              </a:rPr>
              <a:t>活动树</a:t>
            </a:r>
            <a:r>
              <a:rPr lang="zh-CN" altLang="en-US" sz="2400" dirty="0">
                <a:sym typeface="Wingdings" panose="05000000000000000000" pitchFamily="2" charset="2"/>
              </a:rPr>
              <a:t>表示</a:t>
            </a:r>
            <a:endParaRPr lang="zh-CN" altLang="en-US" sz="2400" dirty="0"/>
          </a:p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活动</a:t>
            </a:r>
            <a:r>
              <a:rPr lang="zh-CN" altLang="en-US" sz="2800" dirty="0"/>
              <a:t>：一次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执行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FF3300"/>
                </a:solidFill>
              </a:rPr>
              <a:t>execution</a:t>
            </a:r>
            <a:r>
              <a:rPr lang="zh-CN" altLang="en-US" sz="2800" dirty="0"/>
              <a:t>）</a:t>
            </a:r>
          </a:p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过程</a:t>
            </a:r>
            <a:r>
              <a:rPr lang="en-US" altLang="zh-CN" sz="2800" dirty="0">
                <a:ea typeface="黑体" panose="02010609060101010101" pitchFamily="49" charset="-122"/>
              </a:rPr>
              <a:t>P</a:t>
            </a:r>
            <a:r>
              <a:rPr lang="zh-CN" altLang="en-US" sz="2800" dirty="0"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生存期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3300"/>
                </a:solidFill>
              </a:rPr>
              <a:t>lifetime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过程体执行的第一步操作到最后一步操作的操作序列，包括</a:t>
            </a:r>
            <a:r>
              <a:rPr lang="en-US" altLang="zh-CN" sz="2400" dirty="0"/>
              <a:t>P</a:t>
            </a:r>
            <a:r>
              <a:rPr lang="zh-CN" altLang="en-US" sz="2400" dirty="0"/>
              <a:t>调用其他过程的时间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CDE8D8C-26CD-49A3-98A1-CD261382B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过程的活动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32D3664-8BCC-465C-BFDB-A2130398B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 sz="2800"/>
              <a:t>p</a:t>
            </a:r>
            <a:r>
              <a:rPr lang="zh-CN" altLang="en-US" sz="2800"/>
              <a:t>调用</a:t>
            </a:r>
            <a:r>
              <a:rPr lang="en-US" altLang="zh-CN" sz="2800"/>
              <a:t>q</a:t>
            </a:r>
            <a:r>
              <a:rPr lang="zh-CN" altLang="en-US" sz="2800"/>
              <a:t>，控制最终会返回</a:t>
            </a:r>
            <a:r>
              <a:rPr lang="en-US" altLang="zh-CN" sz="2800"/>
              <a:t>p——</a:t>
            </a:r>
            <a:r>
              <a:rPr lang="zh-CN" altLang="en-US" sz="2800"/>
              <a:t>每次控制流从</a:t>
            </a:r>
            <a:r>
              <a:rPr lang="en-US" altLang="zh-CN" sz="2800"/>
              <a:t>p</a:t>
            </a:r>
            <a:r>
              <a:rPr lang="zh-CN" altLang="en-US" sz="2800"/>
              <a:t>转移到</a:t>
            </a:r>
            <a:r>
              <a:rPr lang="en-US" altLang="zh-CN" sz="2800"/>
              <a:t>q</a:t>
            </a:r>
            <a:r>
              <a:rPr lang="zh-CN" altLang="en-US" sz="2800"/>
              <a:t>，总会返回到</a:t>
            </a:r>
            <a:r>
              <a:rPr lang="en-US" altLang="zh-CN" sz="2800"/>
              <a:t>p</a:t>
            </a:r>
          </a:p>
          <a:p>
            <a:pPr eaLnBrk="1" hangingPunct="1"/>
            <a:r>
              <a:rPr lang="zh-CN" altLang="en-US" sz="2800"/>
              <a:t>过程的生命期或者不重叠、或者嵌套</a:t>
            </a:r>
            <a:r>
              <a:rPr lang="en-US" altLang="zh-CN" sz="2800"/>
              <a:t>——b</a:t>
            </a:r>
            <a:r>
              <a:rPr lang="zh-CN" altLang="en-US" sz="2800"/>
              <a:t>在</a:t>
            </a:r>
            <a:r>
              <a:rPr lang="en-US" altLang="zh-CN" sz="2800"/>
              <a:t>a</a:t>
            </a:r>
            <a:r>
              <a:rPr lang="zh-CN" altLang="en-US" sz="2800"/>
              <a:t>退出之前进入，则必在</a:t>
            </a:r>
            <a:r>
              <a:rPr lang="en-US" altLang="zh-CN" sz="2800"/>
              <a:t>a</a:t>
            </a:r>
            <a:r>
              <a:rPr lang="zh-CN" altLang="en-US" sz="2800"/>
              <a:t>之前退出</a:t>
            </a:r>
          </a:p>
          <a:p>
            <a:pPr lvl="1" eaLnBrk="1" hangingPunct="1"/>
            <a:r>
              <a:rPr lang="zh-CN" altLang="en-US" sz="2400"/>
              <a:t>利用输出语句演示嵌套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execution begin…		…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readarray			leave quicksort(1, 3)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leave readarray			enter quicksort(5, 9)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quicksort(1, 9)		…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partition(1, 9)		leave quicksort(5, 9)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leave partition(1, 9)		leave quicksort(1, 9)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quicksort(1, 3)		execution terminated.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CA97D8D-B036-4A0F-815E-950499163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递归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3BC95C7-8495-484B-A3E8-5C00C7E59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过程</a:t>
            </a:r>
            <a:r>
              <a:rPr lang="en-US" altLang="zh-CN" dirty="0"/>
              <a:t>p</a:t>
            </a:r>
            <a:r>
              <a:rPr lang="zh-CN" altLang="en-US" dirty="0"/>
              <a:t>的某个活动尚未结束，又开始它的一个新的活动</a:t>
            </a:r>
          </a:p>
          <a:p>
            <a:pPr marL="609600" indent="-609600" eaLnBrk="1" hangingPunct="1"/>
            <a:r>
              <a:rPr lang="zh-CN" altLang="en-US" dirty="0"/>
              <a:t>间接递归</a:t>
            </a:r>
          </a:p>
          <a:p>
            <a:pPr marL="609600" indent="-609600" eaLnBrk="1" hangingPunct="1"/>
            <a:r>
              <a:rPr lang="zh-CN" altLang="en-US" dirty="0"/>
              <a:t>活动树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结点</a:t>
            </a:r>
            <a:r>
              <a:rPr lang="en-US" altLang="zh-CN" dirty="0"/>
              <a:t>——</a:t>
            </a:r>
            <a:r>
              <a:rPr lang="zh-CN" altLang="en-US" dirty="0"/>
              <a:t>过程的活动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根结点</a:t>
            </a:r>
            <a:r>
              <a:rPr lang="en-US" altLang="zh-CN" dirty="0"/>
              <a:t>——</a:t>
            </a:r>
            <a:r>
              <a:rPr lang="zh-CN" altLang="en-US" dirty="0"/>
              <a:t>主程序的活动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的父结点</a:t>
            </a:r>
            <a:r>
              <a:rPr lang="zh-CN" altLang="en-US" dirty="0">
                <a:sym typeface="Wingdings" panose="05000000000000000000" pitchFamily="2" charset="2"/>
              </a:rPr>
              <a:t></a:t>
            </a:r>
            <a:r>
              <a:rPr lang="zh-CN" altLang="en-US" dirty="0"/>
              <a:t>控制流从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>
                <a:sym typeface="Wingdings" panose="05000000000000000000" pitchFamily="2" charset="2"/>
              </a:rPr>
              <a:t>b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的左边</a:t>
            </a:r>
            <a:r>
              <a:rPr lang="zh-CN" altLang="en-US" dirty="0">
                <a:sym typeface="Wingdings" panose="05000000000000000000" pitchFamily="2" charset="2"/>
              </a:rPr>
              <a:t>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zh-CN" altLang="en-US" dirty="0">
                <a:sym typeface="Wingdings" panose="05000000000000000000" pitchFamily="2" charset="2"/>
              </a:rPr>
              <a:t>的生存期在</a:t>
            </a:r>
            <a:r>
              <a:rPr lang="en-US" altLang="zh-CN" dirty="0">
                <a:sym typeface="Wingdings" panose="05000000000000000000" pitchFamily="2" charset="2"/>
              </a:rPr>
              <a:t>b</a:t>
            </a:r>
            <a:r>
              <a:rPr lang="zh-CN" altLang="en-US" dirty="0">
                <a:sym typeface="Wingdings" panose="05000000000000000000" pitchFamily="2" charset="2"/>
              </a:rPr>
              <a:t>之前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B85F0CD-78B2-4A79-9FF8-198C0CDD2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7.1</a:t>
            </a:r>
          </a:p>
        </p:txBody>
      </p:sp>
      <p:pic>
        <p:nvPicPr>
          <p:cNvPr id="14339" name="Picture 4" descr="acttree">
            <a:extLst>
              <a:ext uri="{FF2B5EF4-FFF2-40B4-BE49-F238E27FC236}">
                <a16:creationId xmlns:a16="http://schemas.microsoft.com/office/drawing/2014/main" id="{A392F82A-F2D0-4E8B-9239-9F861000F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4931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79212FE-1BA1-427B-9305-6639716AD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7.1.3  </a:t>
            </a:r>
            <a:r>
              <a:rPr lang="zh-CN" altLang="en-US"/>
              <a:t>控制栈（</a:t>
            </a:r>
            <a:r>
              <a:rPr lang="en-US" altLang="zh-CN">
                <a:solidFill>
                  <a:srgbClr val="FF3300"/>
                </a:solidFill>
              </a:rPr>
              <a:t>control stack</a:t>
            </a:r>
            <a:r>
              <a:rPr lang="zh-CN" altLang="en-US"/>
              <a:t>）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BA0C86C-E4C4-4863-BB81-E9D1C24F1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活动树深度优先遍历</a:t>
            </a:r>
            <a:r>
              <a:rPr lang="zh-CN" altLang="en-US">
                <a:sym typeface="Wingdings" panose="05000000000000000000" pitchFamily="2" charset="2"/>
              </a:rPr>
              <a:t>控制流变化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控制栈</a:t>
            </a:r>
          </a:p>
          <a:p>
            <a:pPr lvl="1" eaLnBrk="1" hangingPunct="1"/>
            <a:r>
              <a:rPr lang="zh-CN" altLang="en-US"/>
              <a:t>当活动开始，对应结点入栈</a:t>
            </a:r>
          </a:p>
          <a:p>
            <a:pPr lvl="1" eaLnBrk="1" hangingPunct="1"/>
            <a:r>
              <a:rPr lang="zh-CN" altLang="en-US"/>
              <a:t>结束后，将其弹出</a:t>
            </a:r>
          </a:p>
          <a:p>
            <a:pPr lvl="1" eaLnBrk="1" hangingPunct="1"/>
            <a:r>
              <a:rPr lang="zh-CN" altLang="en-US"/>
              <a:t>当前栈内容</a:t>
            </a:r>
            <a:r>
              <a:rPr lang="en-US" altLang="zh-CN"/>
              <a:t>——</a:t>
            </a:r>
            <a:r>
              <a:rPr lang="zh-CN" altLang="en-US"/>
              <a:t>到根结点的路径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44988E1-B7AE-4807-8555-075D93A36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7.2</a:t>
            </a:r>
          </a:p>
        </p:txBody>
      </p:sp>
      <p:pic>
        <p:nvPicPr>
          <p:cNvPr id="16387" name="Picture 4" descr="stack">
            <a:extLst>
              <a:ext uri="{FF2B5EF4-FFF2-40B4-BE49-F238E27FC236}">
                <a16:creationId xmlns:a16="http://schemas.microsoft.com/office/drawing/2014/main" id="{3D8F331C-630B-4C5E-B0F0-4D3E9606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52538"/>
            <a:ext cx="52324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88709C4-9E33-4E11-B18D-0BD615B65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7.1.4  </a:t>
            </a:r>
            <a:r>
              <a:rPr lang="zh-CN" altLang="en-US"/>
              <a:t>作用域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A50B393-AFC2-4260-9BCC-1B515A1EB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声明（</a:t>
            </a:r>
            <a:r>
              <a:rPr lang="en-US" altLang="zh-CN" sz="2800">
                <a:solidFill>
                  <a:srgbClr val="FF3300"/>
                </a:solidFill>
              </a:rPr>
              <a:t>declaration</a:t>
            </a:r>
            <a:r>
              <a:rPr lang="zh-CN" altLang="en-US" sz="2800"/>
              <a:t>）：规定名字的含义</a:t>
            </a:r>
          </a:p>
          <a:p>
            <a:pPr eaLnBrk="1" hangingPunct="1"/>
            <a:r>
              <a:rPr lang="zh-CN" altLang="en-US" sz="2800"/>
              <a:t>显式声明、隐式声明（</a:t>
            </a:r>
            <a:r>
              <a:rPr lang="en-US" altLang="zh-CN" sz="2800"/>
              <a:t>Fortran</a:t>
            </a:r>
            <a:r>
              <a:rPr lang="zh-CN" altLang="en-US" sz="2800"/>
              <a:t>）</a:t>
            </a:r>
          </a:p>
          <a:p>
            <a:pPr eaLnBrk="1" hangingPunct="1"/>
            <a:r>
              <a:rPr lang="zh-CN" altLang="en-US" sz="2800"/>
              <a:t>同一名字在程序不同位置的不同声明</a:t>
            </a:r>
          </a:p>
          <a:p>
            <a:pPr eaLnBrk="1" hangingPunct="1"/>
            <a:r>
              <a:rPr lang="zh-CN" altLang="en-US" sz="2800"/>
              <a:t>作用域（</a:t>
            </a:r>
            <a:r>
              <a:rPr lang="en-US" altLang="zh-CN" sz="2800">
                <a:solidFill>
                  <a:srgbClr val="FF3300"/>
                </a:solidFill>
              </a:rPr>
              <a:t>scope</a:t>
            </a:r>
            <a:r>
              <a:rPr lang="zh-CN" altLang="en-US" sz="2800"/>
              <a:t>）：声明起作用的范围</a:t>
            </a:r>
          </a:p>
          <a:p>
            <a:pPr lvl="1" eaLnBrk="1" hangingPunct="1"/>
            <a:r>
              <a:rPr lang="zh-CN" altLang="en-US" sz="2400"/>
              <a:t>局部的（</a:t>
            </a:r>
            <a:r>
              <a:rPr lang="en-US" altLang="zh-CN" sz="2400">
                <a:solidFill>
                  <a:srgbClr val="FF3300"/>
                </a:solidFill>
              </a:rPr>
              <a:t>local</a:t>
            </a:r>
            <a:r>
              <a:rPr lang="zh-CN" altLang="en-US" sz="2400"/>
              <a:t>）、非局部的（</a:t>
            </a:r>
            <a:r>
              <a:rPr lang="en-US" altLang="zh-CN" sz="2400">
                <a:solidFill>
                  <a:srgbClr val="FF3300"/>
                </a:solidFill>
              </a:rPr>
              <a:t>nonlocal</a:t>
            </a:r>
            <a:r>
              <a:rPr lang="zh-CN" altLang="en-US" sz="2400"/>
              <a:t>）</a:t>
            </a:r>
          </a:p>
          <a:p>
            <a:pPr eaLnBrk="1" hangingPunct="1"/>
            <a:r>
              <a:rPr lang="zh-CN" altLang="en-US" sz="2800"/>
              <a:t>作用域规则</a:t>
            </a:r>
          </a:p>
          <a:p>
            <a:pPr lvl="1" eaLnBrk="1" hangingPunct="1"/>
            <a:r>
              <a:rPr lang="zh-CN" altLang="en-US" sz="2400"/>
              <a:t>确定声明起作用的范围</a:t>
            </a:r>
          </a:p>
          <a:p>
            <a:pPr lvl="1" eaLnBrk="1" hangingPunct="1"/>
            <a:r>
              <a:rPr lang="zh-CN" altLang="en-US" sz="2400"/>
              <a:t>名字对应哪个声明</a:t>
            </a:r>
          </a:p>
          <a:p>
            <a:pPr eaLnBrk="1" hangingPunct="1"/>
            <a:r>
              <a:rPr lang="zh-CN" altLang="en-US" sz="2800"/>
              <a:t>利用符号表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D11334F-A9B4-4AF5-8CEE-80E0D988F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7.1.5  </a:t>
            </a:r>
            <a:r>
              <a:rPr lang="zh-CN" altLang="en-US"/>
              <a:t>名字的绑定（</a:t>
            </a:r>
            <a:r>
              <a:rPr lang="en-US" altLang="zh-CN">
                <a:solidFill>
                  <a:srgbClr val="FF3300"/>
                </a:solidFill>
              </a:rPr>
              <a:t>binding</a:t>
            </a:r>
            <a:r>
              <a:rPr lang="zh-CN" altLang="en-US"/>
              <a:t>）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5F94F42-524B-4B3A-AC90-57C2C8E8A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名字只声明一次，运行时也可能指向不同数据对象</a:t>
            </a:r>
          </a:p>
          <a:p>
            <a:pPr eaLnBrk="1" hangingPunct="1"/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</a:rPr>
              <a:t>环境</a:t>
            </a:r>
            <a:r>
              <a:rPr lang="zh-CN" altLang="en-US" sz="2800"/>
              <a:t>（</a:t>
            </a:r>
            <a:r>
              <a:rPr lang="en-US" altLang="zh-CN" sz="2800">
                <a:solidFill>
                  <a:srgbClr val="FF3300"/>
                </a:solidFill>
              </a:rPr>
              <a:t>environment</a:t>
            </a:r>
            <a:r>
              <a:rPr lang="zh-CN" altLang="en-US" sz="2800"/>
              <a:t>）：函数</a:t>
            </a:r>
          </a:p>
          <a:p>
            <a:pPr lvl="1" eaLnBrk="1" hangingPunct="1"/>
            <a:r>
              <a:rPr lang="zh-CN" altLang="en-US" sz="2400"/>
              <a:t>名字</a:t>
            </a:r>
            <a:r>
              <a:rPr lang="zh-CN" altLang="en-US" sz="2400">
                <a:sym typeface="Wingdings" panose="05000000000000000000" pitchFamily="2" charset="2"/>
              </a:rPr>
              <a:t>存储位置，名字</a:t>
            </a:r>
            <a:r>
              <a:rPr lang="en-US" altLang="zh-CN" sz="2400">
                <a:sym typeface="Wingdings" panose="05000000000000000000" pitchFamily="2" charset="2"/>
              </a:rPr>
              <a:t>l-value</a:t>
            </a:r>
          </a:p>
          <a:p>
            <a:pPr eaLnBrk="1" hangingPunct="1"/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状态</a:t>
            </a:r>
            <a:r>
              <a:rPr lang="zh-CN" altLang="en-US" sz="2800">
                <a:sym typeface="Wingdings" panose="05000000000000000000" pitchFamily="2" charset="2"/>
              </a:rPr>
              <a:t>（</a:t>
            </a:r>
            <a:r>
              <a:rPr lang="en-US" altLang="zh-CN" sz="2800">
                <a:solidFill>
                  <a:srgbClr val="FF3300"/>
                </a:solidFill>
                <a:sym typeface="Wingdings" panose="05000000000000000000" pitchFamily="2" charset="2"/>
              </a:rPr>
              <a:t>state</a:t>
            </a:r>
            <a:r>
              <a:rPr lang="zh-CN" altLang="en-US" sz="2800">
                <a:sym typeface="Wingdings" panose="05000000000000000000" pitchFamily="2" charset="2"/>
              </a:rPr>
              <a:t>）：函数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存储位置存储数据，</a:t>
            </a:r>
            <a:r>
              <a:rPr lang="en-US" altLang="zh-CN" sz="2400">
                <a:sym typeface="Wingdings" panose="05000000000000000000" pitchFamily="2" charset="2"/>
              </a:rPr>
              <a:t>l-valuer-value</a:t>
            </a:r>
            <a:endParaRPr lang="en-US" altLang="zh-CN" sz="2400"/>
          </a:p>
        </p:txBody>
      </p:sp>
      <p:pic>
        <p:nvPicPr>
          <p:cNvPr id="18436" name="Picture 4" descr="binding">
            <a:extLst>
              <a:ext uri="{FF2B5EF4-FFF2-40B4-BE49-F238E27FC236}">
                <a16:creationId xmlns:a16="http://schemas.microsoft.com/office/drawing/2014/main" id="{C75BF620-19DB-4542-9805-643DB42AB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267200"/>
            <a:ext cx="4865688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5950383-6083-42CC-B6C7-F859C8DB9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环境和状态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2DB55CE-BF88-41AA-B3D1-82C8B9192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zh-CN" altLang="en-US" sz="2800"/>
              <a:t>赋值语句改变状态，但不改变环境</a:t>
            </a:r>
          </a:p>
          <a:p>
            <a:pPr eaLnBrk="1" hangingPunct="1"/>
            <a:r>
              <a:rPr lang="zh-CN" altLang="en-US" sz="2800"/>
              <a:t>对某个环境，若名字</a:t>
            </a:r>
            <a:r>
              <a:rPr lang="en-US" altLang="zh-CN" sz="2800"/>
              <a:t>x</a:t>
            </a:r>
            <a:r>
              <a:rPr lang="zh-CN" altLang="en-US" sz="2800"/>
              <a:t>对应存储位置</a:t>
            </a:r>
            <a:r>
              <a:rPr lang="en-US" altLang="zh-CN" sz="2800"/>
              <a:t>s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br>
              <a:rPr lang="en-US" altLang="zh-CN" sz="2800">
                <a:sym typeface="Wingdings" panose="05000000000000000000" pitchFamily="2" charset="2"/>
              </a:rPr>
            </a:br>
            <a:r>
              <a:rPr lang="en-US" altLang="zh-CN" sz="2800">
                <a:sym typeface="Wingdings" panose="05000000000000000000" pitchFamily="2" charset="2"/>
              </a:rPr>
              <a:t>x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绑定</a:t>
            </a:r>
            <a:r>
              <a:rPr lang="zh-CN" altLang="en-US" sz="2800">
                <a:sym typeface="Wingdings" panose="05000000000000000000" pitchFamily="2" charset="2"/>
              </a:rPr>
              <a:t>到</a:t>
            </a:r>
            <a:r>
              <a:rPr lang="en-US" altLang="zh-CN" sz="2800">
                <a:sym typeface="Wingdings" panose="05000000000000000000" pitchFamily="2" charset="2"/>
              </a:rPr>
              <a:t>s</a:t>
            </a:r>
            <a:r>
              <a:rPr lang="zh-CN" altLang="en-US" sz="2800">
                <a:sym typeface="Wingdings" panose="05000000000000000000" pitchFamily="2" charset="2"/>
              </a:rPr>
              <a:t>，</a:t>
            </a:r>
            <a:r>
              <a:rPr lang="en-US" altLang="zh-CN" sz="2800">
                <a:sym typeface="Wingdings" panose="05000000000000000000" pitchFamily="2" charset="2"/>
              </a:rPr>
              <a:t>s</a:t>
            </a:r>
            <a:r>
              <a:rPr lang="zh-CN" altLang="en-US" sz="2800">
                <a:sym typeface="Wingdings" panose="05000000000000000000" pitchFamily="2" charset="2"/>
              </a:rPr>
              <a:t>是</a:t>
            </a:r>
            <a:r>
              <a:rPr lang="en-US" altLang="zh-CN" sz="2800">
                <a:sym typeface="Wingdings" panose="05000000000000000000" pitchFamily="2" charset="2"/>
              </a:rPr>
              <a:t>x</a:t>
            </a:r>
            <a:r>
              <a:rPr lang="zh-CN" altLang="en-US" sz="2800">
                <a:sym typeface="Wingdings" panose="05000000000000000000" pitchFamily="2" charset="2"/>
              </a:rPr>
              <a:t>的一个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绑定</a:t>
            </a:r>
          </a:p>
          <a:p>
            <a:pPr eaLnBrk="1" hangingPunct="1"/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</a:rPr>
              <a:t>绑定</a:t>
            </a:r>
            <a:r>
              <a:rPr lang="en-US" altLang="zh-CN" sz="2800"/>
              <a:t>——</a:t>
            </a:r>
            <a:r>
              <a:rPr lang="zh-CN" altLang="en-US" sz="2800"/>
              <a:t>声明的动态概念</a:t>
            </a:r>
            <a:br>
              <a:rPr lang="zh-CN" altLang="en-US" sz="2800"/>
            </a:br>
            <a:br>
              <a:rPr lang="zh-CN" altLang="en-US" sz="2800"/>
            </a:br>
            <a:br>
              <a:rPr lang="zh-CN" altLang="en-US" sz="2800"/>
            </a:br>
            <a:br>
              <a:rPr lang="zh-CN" altLang="en-US" sz="2800"/>
            </a:br>
            <a:endParaRPr lang="zh-CN" altLang="en-US" sz="2800"/>
          </a:p>
          <a:p>
            <a:pPr eaLnBrk="1" hangingPunct="1"/>
            <a:r>
              <a:rPr lang="en-US" altLang="zh-CN" sz="2800"/>
              <a:t>Pascal</a:t>
            </a:r>
            <a:r>
              <a:rPr lang="zh-CN" altLang="en-US" sz="2800"/>
              <a:t>过程的局部名字，不同活动</a:t>
            </a:r>
            <a:r>
              <a:rPr lang="zh-CN" altLang="en-US" sz="2800">
                <a:sym typeface="Wingdings" panose="05000000000000000000" pitchFamily="2" charset="2"/>
              </a:rPr>
              <a:t>不同存储位置</a:t>
            </a:r>
            <a:endParaRPr lang="zh-CN" altLang="en-US" sz="2800"/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E5EF73D6-1000-4601-A1E6-72F48A9AC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2766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D76F16D8-62CD-4F3B-B4E1-574F925F7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3528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C423B4AD-F9E2-46D2-9C14-5C61AC557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100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C4B12CE1-668D-4A43-9321-36700B5B7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1054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0D2583E7-D731-4B33-8881-94CE3FCE7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352800"/>
            <a:ext cx="0" cy="175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045C4CD0-AD83-49C3-AC91-C1AFBD508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810000"/>
            <a:ext cx="5410200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过程的定义		过程的活动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名字的声明		名字的绑定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声明的作用域	绑定的生存期</a:t>
            </a:r>
            <a:endParaRPr kumimoji="0" lang="zh-CN" altLang="en-US" sz="280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9466" name="Text Box 10">
            <a:extLst>
              <a:ext uri="{FF2B5EF4-FFF2-40B4-BE49-F238E27FC236}">
                <a16:creationId xmlns:a16="http://schemas.microsoft.com/office/drawing/2014/main" id="{8369290E-2A36-4949-8EEC-848EC77EC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352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静态概念</a:t>
            </a:r>
          </a:p>
        </p:txBody>
      </p:sp>
      <p:sp>
        <p:nvSpPr>
          <p:cNvPr id="19467" name="Text Box 11">
            <a:extLst>
              <a:ext uri="{FF2B5EF4-FFF2-40B4-BE49-F238E27FC236}">
                <a16:creationId xmlns:a16="http://schemas.microsoft.com/office/drawing/2014/main" id="{490CE9FD-613E-4AB5-AF4A-E1538D4D3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352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动态概念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F10B059-5273-4E67-B572-DF84DBD1F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7.1.6  </a:t>
            </a:r>
            <a:r>
              <a:rPr lang="zh-CN" altLang="en-US"/>
              <a:t>影响存储组织的几个问题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0C32372-1786-41BC-BB0D-94DF7E680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过程可否递归？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过程活动结束时，局部名字值如何处理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过程可否访问非局部名字？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过程被调用时，参数如何传递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过程可否作为参数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过程可否作为返回类型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程序可否动态控制存储分配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存储是否必须显式释放？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08A5D60-B8B2-4751-A09B-6CA536DC9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7.2  </a:t>
            </a:r>
            <a:r>
              <a:rPr lang="zh-CN" altLang="en-US"/>
              <a:t>存储组织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500420E-596E-4547-A90C-6609119AB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7.2.1  </a:t>
            </a:r>
            <a:r>
              <a:rPr lang="zh-CN" altLang="en-US"/>
              <a:t>运行时存储细化</a:t>
            </a:r>
          </a:p>
          <a:p>
            <a:pPr lvl="1" eaLnBrk="1" hangingPunct="1"/>
            <a:r>
              <a:rPr lang="zh-CN" altLang="en-US"/>
              <a:t>存储目标代码</a:t>
            </a:r>
            <a:r>
              <a:rPr lang="en-US" altLang="zh-CN"/>
              <a:t>——</a:t>
            </a:r>
            <a:r>
              <a:rPr lang="zh-CN" altLang="en-US"/>
              <a:t>大小固定</a:t>
            </a:r>
          </a:p>
          <a:p>
            <a:pPr lvl="1" eaLnBrk="1" hangingPunct="1"/>
            <a:r>
              <a:rPr lang="zh-CN" altLang="en-US"/>
              <a:t>存储数据对象</a:t>
            </a:r>
            <a:r>
              <a:rPr lang="en-US" altLang="zh-CN"/>
              <a:t>——</a:t>
            </a:r>
            <a:r>
              <a:rPr lang="zh-CN" altLang="en-US"/>
              <a:t>部分固定</a:t>
            </a:r>
          </a:p>
          <a:p>
            <a:pPr lvl="1" eaLnBrk="1" hangingPunct="1"/>
            <a:r>
              <a:rPr lang="zh-CN" altLang="en-US"/>
              <a:t>控制栈</a:t>
            </a:r>
            <a:r>
              <a:rPr lang="en-US" altLang="zh-CN"/>
              <a:t>——</a:t>
            </a:r>
            <a:r>
              <a:rPr lang="zh-CN" altLang="en-US"/>
              <a:t>保存过程的活动信息</a:t>
            </a:r>
          </a:p>
          <a:p>
            <a:pPr lvl="1" eaLnBrk="1" hangingPunct="1"/>
            <a:endParaRPr lang="en-US" altLang="zh-CN"/>
          </a:p>
        </p:txBody>
      </p:sp>
      <p:pic>
        <p:nvPicPr>
          <p:cNvPr id="21508" name="Picture 4" descr="memory">
            <a:extLst>
              <a:ext uri="{FF2B5EF4-FFF2-40B4-BE49-F238E27FC236}">
                <a16:creationId xmlns:a16="http://schemas.microsoft.com/office/drawing/2014/main" id="{C662BD03-1987-4347-8018-03626F540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505200"/>
            <a:ext cx="2073275" cy="223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7D7DF58-C340-48DF-AACC-B3F117798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活动信息的保存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E39DCCC-114E-4DB4-88EB-AC5F13063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z="2800"/>
              <a:t>过程调用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当前过程活动终止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状态信息（寄存器、</a:t>
            </a:r>
            <a:r>
              <a:rPr lang="en-US" altLang="zh-CN" sz="2400">
                <a:sym typeface="Wingdings" panose="05000000000000000000" pitchFamily="2" charset="2"/>
              </a:rPr>
              <a:t>PC</a:t>
            </a:r>
            <a:r>
              <a:rPr lang="zh-CN" altLang="en-US" sz="2400">
                <a:sym typeface="Wingdings" panose="05000000000000000000" pitchFamily="2" charset="2"/>
              </a:rPr>
              <a:t>）控制栈</a:t>
            </a:r>
          </a:p>
          <a:p>
            <a:pPr eaLnBrk="1" hangingPunct="1"/>
            <a:r>
              <a:rPr lang="zh-CN" altLang="en-US" sz="2800"/>
              <a:t>调用返回</a:t>
            </a:r>
          </a:p>
          <a:p>
            <a:pPr lvl="1" eaLnBrk="1" hangingPunct="1"/>
            <a:r>
              <a:rPr lang="zh-CN" altLang="en-US" sz="2400"/>
              <a:t>从控制栈恢复状态信息</a:t>
            </a:r>
          </a:p>
          <a:p>
            <a:pPr lvl="1" eaLnBrk="1" hangingPunct="1"/>
            <a:r>
              <a:rPr lang="zh-CN" altLang="en-US" sz="2400"/>
              <a:t>停止的过程活动重新开始</a:t>
            </a:r>
          </a:p>
          <a:p>
            <a:pPr eaLnBrk="1" hangingPunct="1"/>
            <a:r>
              <a:rPr lang="zh-CN" altLang="en-US" sz="2800"/>
              <a:t>局部数据对象</a:t>
            </a:r>
            <a:r>
              <a:rPr lang="zh-CN" altLang="en-US" sz="2800">
                <a:sym typeface="Wingdings" panose="05000000000000000000" pitchFamily="2" charset="2"/>
              </a:rPr>
              <a:t>控制栈</a:t>
            </a:r>
          </a:p>
          <a:p>
            <a:pPr eaLnBrk="1" hangingPunct="1"/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堆</a:t>
            </a:r>
            <a:endParaRPr lang="zh-CN" altLang="en-US" sz="28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/>
              <a:t>动态内存分配</a:t>
            </a:r>
          </a:p>
          <a:p>
            <a:pPr lvl="1" eaLnBrk="1" hangingPunct="1"/>
            <a:r>
              <a:rPr lang="zh-CN" altLang="en-US" sz="2400"/>
              <a:t>也可能保存活动信息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1514DE0-EF5F-4677-958B-19FD556D7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7.2.2  </a:t>
            </a:r>
            <a:r>
              <a:rPr lang="zh-CN" altLang="en-US" sz="4000"/>
              <a:t>活动记录</a:t>
            </a:r>
            <a:r>
              <a:rPr lang="en-US" altLang="zh-CN" sz="4000"/>
              <a:t>(</a:t>
            </a:r>
            <a:r>
              <a:rPr lang="en-US" altLang="zh-CN" sz="4000">
                <a:solidFill>
                  <a:srgbClr val="FF3300"/>
                </a:solidFill>
              </a:rPr>
              <a:t>activation record</a:t>
            </a:r>
            <a:r>
              <a:rPr lang="en-US" altLang="zh-CN" sz="4000"/>
              <a:t>)</a:t>
            </a:r>
          </a:p>
        </p:txBody>
      </p:sp>
      <p:pic>
        <p:nvPicPr>
          <p:cNvPr id="23555" name="Picture 4" descr="record">
            <a:extLst>
              <a:ext uri="{FF2B5EF4-FFF2-40B4-BE49-F238E27FC236}">
                <a16:creationId xmlns:a16="http://schemas.microsoft.com/office/drawing/2014/main" id="{C3CBF8CF-5C49-4C4E-BDA3-79775AA13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0275"/>
            <a:ext cx="2595563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 Box 5">
            <a:extLst>
              <a:ext uri="{FF2B5EF4-FFF2-40B4-BE49-F238E27FC236}">
                <a16:creationId xmlns:a16="http://schemas.microsoft.com/office/drawing/2014/main" id="{9735A040-6285-4712-8DC7-04433683B9A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667000" y="1219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存放被调用函数传递给调用函数的返回结果</a:t>
            </a:r>
          </a:p>
        </p:txBody>
      </p:sp>
      <p:sp>
        <p:nvSpPr>
          <p:cNvPr id="23557" name="Line 6">
            <a:extLst>
              <a:ext uri="{FF2B5EF4-FFF2-40B4-BE49-F238E27FC236}">
                <a16:creationId xmlns:a16="http://schemas.microsoft.com/office/drawing/2014/main" id="{391908A4-23DD-404F-81DF-AA7A2D8DFD99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524000" y="1524000"/>
            <a:ext cx="1295400" cy="838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Text Box 7">
            <a:extLst>
              <a:ext uri="{FF2B5EF4-FFF2-40B4-BE49-F238E27FC236}">
                <a16:creationId xmlns:a16="http://schemas.microsoft.com/office/drawing/2014/main" id="{65D634E3-6311-43F7-9F48-F01A87B111F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19400" y="1981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9900"/>
                </a:solidFill>
                <a:latin typeface="Tahoma" panose="020B0604030504040204" pitchFamily="34" charset="0"/>
              </a:rPr>
              <a:t>调用函数向被调用函数传递实际参数的区域</a:t>
            </a:r>
          </a:p>
        </p:txBody>
      </p:sp>
      <p:sp>
        <p:nvSpPr>
          <p:cNvPr id="23559" name="Line 8">
            <a:extLst>
              <a:ext uri="{FF2B5EF4-FFF2-40B4-BE49-F238E27FC236}">
                <a16:creationId xmlns:a16="http://schemas.microsoft.com/office/drawing/2014/main" id="{E7250D7A-C11D-4E2E-92FD-FD5360D9CF84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676400" y="2209800"/>
            <a:ext cx="12954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Text Box 9">
            <a:extLst>
              <a:ext uri="{FF2B5EF4-FFF2-40B4-BE49-F238E27FC236}">
                <a16:creationId xmlns:a16="http://schemas.microsoft.com/office/drawing/2014/main" id="{3DE85991-0618-467D-BE44-AFCBC5B8BB1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19400" y="2743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996633"/>
                </a:solidFill>
                <a:latin typeface="Tahoma" panose="020B0604030504040204" pitchFamily="34" charset="0"/>
              </a:rPr>
              <a:t>调用函数（父函数）活动记录的指针</a:t>
            </a:r>
          </a:p>
        </p:txBody>
      </p:sp>
      <p:sp>
        <p:nvSpPr>
          <p:cNvPr id="23561" name="Line 10">
            <a:extLst>
              <a:ext uri="{FF2B5EF4-FFF2-40B4-BE49-F238E27FC236}">
                <a16:creationId xmlns:a16="http://schemas.microsoft.com/office/drawing/2014/main" id="{52F89C65-1A11-42F5-BA41-53CB39E2FF36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676400" y="2971800"/>
            <a:ext cx="16764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Text Box 11">
            <a:extLst>
              <a:ext uri="{FF2B5EF4-FFF2-40B4-BE49-F238E27FC236}">
                <a16:creationId xmlns:a16="http://schemas.microsoft.com/office/drawing/2014/main" id="{30B648F7-422F-42CE-AE0E-D23C80FFB80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19400" y="3444875"/>
            <a:ext cx="609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9900"/>
                </a:solidFill>
                <a:latin typeface="Tahoma" panose="020B0604030504040204" pitchFamily="34" charset="0"/>
              </a:rPr>
              <a:t>用来访问那些保存在其他</a:t>
            </a:r>
            <a:br>
              <a:rPr lang="zh-CN" altLang="en-US" sz="2400">
                <a:solidFill>
                  <a:srgbClr val="009900"/>
                </a:solidFill>
                <a:latin typeface="Tahoma" panose="020B0604030504040204" pitchFamily="34" charset="0"/>
              </a:rPr>
            </a:br>
            <a:r>
              <a:rPr lang="zh-CN" altLang="en-US" sz="2400">
                <a:solidFill>
                  <a:srgbClr val="009900"/>
                </a:solidFill>
                <a:latin typeface="Tahoma" panose="020B0604030504040204" pitchFamily="34" charset="0"/>
              </a:rPr>
              <a:t>活动记录中的非局部数据</a:t>
            </a:r>
          </a:p>
        </p:txBody>
      </p:sp>
      <p:sp>
        <p:nvSpPr>
          <p:cNvPr id="23563" name="Line 12">
            <a:extLst>
              <a:ext uri="{FF2B5EF4-FFF2-40B4-BE49-F238E27FC236}">
                <a16:creationId xmlns:a16="http://schemas.microsoft.com/office/drawing/2014/main" id="{2AF54B1C-3C1B-472B-A12F-AAFFD0529F0F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676400" y="3810000"/>
            <a:ext cx="2438400" cy="76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Text Box 13">
            <a:extLst>
              <a:ext uri="{FF2B5EF4-FFF2-40B4-BE49-F238E27FC236}">
                <a16:creationId xmlns:a16="http://schemas.microsoft.com/office/drawing/2014/main" id="{8620F27C-824D-4200-87F7-AD03EEE96B2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19400" y="4435475"/>
            <a:ext cx="6096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函数调用前时刻机器状态相关的</a:t>
            </a:r>
            <a:br>
              <a:rPr lang="zh-CN" altLang="en-US" sz="2400">
                <a:latin typeface="Tahoma" panose="020B0604030504040204" pitchFamily="34" charset="0"/>
              </a:rPr>
            </a:br>
            <a:r>
              <a:rPr lang="zh-CN" altLang="en-US" sz="2400">
                <a:latin typeface="Tahoma" panose="020B0604030504040204" pitchFamily="34" charset="0"/>
              </a:rPr>
              <a:t>一些信息：程序计数器、寄存器</a:t>
            </a:r>
            <a:r>
              <a:rPr lang="en-US" altLang="zh-CN" sz="2400"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23565" name="Line 14">
            <a:extLst>
              <a:ext uri="{FF2B5EF4-FFF2-40B4-BE49-F238E27FC236}">
                <a16:creationId xmlns:a16="http://schemas.microsoft.com/office/drawing/2014/main" id="{A15E24CF-293E-476C-B9FB-6505FACEE444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1676400" y="4419600"/>
            <a:ext cx="1981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Text Box 15">
            <a:extLst>
              <a:ext uri="{FF2B5EF4-FFF2-40B4-BE49-F238E27FC236}">
                <a16:creationId xmlns:a16="http://schemas.microsoft.com/office/drawing/2014/main" id="{1E8A54EA-FDDB-499C-AAE6-4E62C816F70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95600" y="54864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CC"/>
                </a:solidFill>
                <a:latin typeface="Tahoma" panose="020B0604030504040204" pitchFamily="34" charset="0"/>
              </a:rPr>
              <a:t>保存局部数据</a:t>
            </a:r>
          </a:p>
        </p:txBody>
      </p:sp>
      <p:sp>
        <p:nvSpPr>
          <p:cNvPr id="23567" name="Line 16">
            <a:extLst>
              <a:ext uri="{FF2B5EF4-FFF2-40B4-BE49-F238E27FC236}">
                <a16:creationId xmlns:a16="http://schemas.microsoft.com/office/drawing/2014/main" id="{DE45F05F-C47A-4784-A51F-1CCB6A3408F6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1600200" y="4953000"/>
            <a:ext cx="34290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" name="Text Box 17">
            <a:extLst>
              <a:ext uri="{FF2B5EF4-FFF2-40B4-BE49-F238E27FC236}">
                <a16:creationId xmlns:a16="http://schemas.microsoft.com/office/drawing/2014/main" id="{1A2195A6-6603-4ED1-8FA6-872A9252020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048000" y="60960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CC0099"/>
                </a:solidFill>
                <a:latin typeface="Tahoma" panose="020B0604030504040204" pitchFamily="34" charset="0"/>
              </a:rPr>
              <a:t>保存临时数据：表达式计算中间结果</a:t>
            </a:r>
            <a:r>
              <a:rPr lang="en-US" altLang="zh-CN" sz="2400">
                <a:solidFill>
                  <a:srgbClr val="CC0099"/>
                </a:solidFill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23569" name="Line 18">
            <a:extLst>
              <a:ext uri="{FF2B5EF4-FFF2-40B4-BE49-F238E27FC236}">
                <a16:creationId xmlns:a16="http://schemas.microsoft.com/office/drawing/2014/main" id="{4C41300F-3D82-4D49-B265-CC321EA5C423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1752600" y="5562600"/>
            <a:ext cx="175260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93A41F8-A7B5-4B42-85F7-F0FDACE42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7.2.3  </a:t>
            </a:r>
            <a:r>
              <a:rPr lang="zh-CN" altLang="en-US"/>
              <a:t>局部数据布局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3E80274-9E2C-4691-8A41-6075BB7AD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例</a:t>
            </a:r>
            <a:r>
              <a:rPr lang="en-US" altLang="zh-CN"/>
              <a:t>7.3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类型</a:t>
            </a:r>
            <a:r>
              <a:rPr lang="zh-CN" altLang="en-US">
                <a:sym typeface="Wingdings" panose="05000000000000000000" pitchFamily="2" charset="2"/>
              </a:rPr>
              <a:t>占用空间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Wingdings" panose="05000000000000000000" pitchFamily="2" charset="2"/>
              </a:rPr>
              <a:t>对齐（</a:t>
            </a:r>
            <a:r>
              <a:rPr lang="en-US" altLang="zh-CN">
                <a:solidFill>
                  <a:srgbClr val="FF3300"/>
                </a:solidFill>
                <a:sym typeface="Wingdings" panose="05000000000000000000" pitchFamily="2" charset="2"/>
              </a:rPr>
              <a:t>align</a:t>
            </a:r>
            <a:r>
              <a:rPr lang="zh-CN" altLang="en-US">
                <a:sym typeface="Wingdings" panose="05000000000000000000" pitchFamily="2" charset="2"/>
              </a:rPr>
              <a:t>），补丁（</a:t>
            </a:r>
            <a:r>
              <a:rPr lang="en-US" altLang="zh-CN">
                <a:solidFill>
                  <a:srgbClr val="FF3300"/>
                </a:solidFill>
                <a:sym typeface="Wingdings" panose="05000000000000000000" pitchFamily="2" charset="2"/>
              </a:rPr>
              <a:t>padding</a:t>
            </a:r>
            <a:r>
              <a:rPr lang="zh-CN" altLang="en-US">
                <a:sym typeface="Wingdings" panose="05000000000000000000" pitchFamily="2" charset="2"/>
              </a:rPr>
              <a:t>），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压缩（</a:t>
            </a:r>
            <a:r>
              <a:rPr lang="en-US" altLang="zh-CN">
                <a:solidFill>
                  <a:srgbClr val="FF3300"/>
                </a:solidFill>
                <a:sym typeface="Wingdings" panose="05000000000000000000" pitchFamily="2" charset="2"/>
              </a:rPr>
              <a:t>pack</a:t>
            </a:r>
            <a:r>
              <a:rPr lang="zh-CN" altLang="en-US">
                <a:sym typeface="Wingdings" panose="05000000000000000000" pitchFamily="2" charset="2"/>
              </a:rPr>
              <a:t>）</a:t>
            </a:r>
          </a:p>
        </p:txBody>
      </p:sp>
      <p:pic>
        <p:nvPicPr>
          <p:cNvPr id="24580" name="Picture 4" descr="align">
            <a:extLst>
              <a:ext uri="{FF2B5EF4-FFF2-40B4-BE49-F238E27FC236}">
                <a16:creationId xmlns:a16="http://schemas.microsoft.com/office/drawing/2014/main" id="{E2E63545-43B3-4A18-A584-9B0F5BBFD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429000"/>
            <a:ext cx="44799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7">
            <a:extLst>
              <a:ext uri="{FF2B5EF4-FFF2-40B4-BE49-F238E27FC236}">
                <a16:creationId xmlns:a16="http://schemas.microsoft.com/office/drawing/2014/main" id="{8B1EC5F1-A75D-4D68-AF99-8633325E7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49530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char a; short b;</a:t>
            </a:r>
          </a:p>
          <a:p>
            <a:pPr lvl="1" eaLnBrk="1" hangingPunct="1">
              <a:buClr>
                <a:srgbClr val="FF33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机器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4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字节，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之后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字节补丁</a:t>
            </a:r>
          </a:p>
          <a:p>
            <a:pPr lvl="1" eaLnBrk="1" hangingPunct="1">
              <a:buClr>
                <a:srgbClr val="FF33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机器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16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字节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ED1EC2D-4FE3-4810-AE17-7587F416C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  </a:t>
            </a:r>
            <a:r>
              <a:rPr lang="zh-CN" altLang="en-US"/>
              <a:t>内存分配策略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E966922-7BEE-48CC-86BF-3059E3926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静态分配（</a:t>
            </a:r>
            <a:r>
              <a:rPr lang="en-US" altLang="zh-CN">
                <a:solidFill>
                  <a:srgbClr val="FF3300"/>
                </a:solidFill>
              </a:rPr>
              <a:t>static</a:t>
            </a:r>
            <a:r>
              <a:rPr lang="zh-CN" altLang="en-US"/>
              <a:t>）</a:t>
            </a:r>
          </a:p>
          <a:p>
            <a:pPr marL="990600" lvl="1" indent="-533400" eaLnBrk="1" hangingPunct="1"/>
            <a:r>
              <a:rPr lang="zh-CN" altLang="en-US"/>
              <a:t>在编译时（运行之前）确定所有数据的内存分布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栈分配（</a:t>
            </a:r>
            <a:r>
              <a:rPr lang="en-US" altLang="zh-CN">
                <a:solidFill>
                  <a:srgbClr val="FF3300"/>
                </a:solidFill>
              </a:rPr>
              <a:t>stack</a:t>
            </a:r>
            <a:r>
              <a:rPr lang="zh-CN" altLang="en-US"/>
              <a:t>）</a:t>
            </a:r>
          </a:p>
          <a:p>
            <a:pPr marL="990600" lvl="1" indent="-533400" eaLnBrk="1" hangingPunct="1"/>
            <a:r>
              <a:rPr lang="zh-CN" altLang="en-US"/>
              <a:t>利用栈管理运行时存储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堆分配（</a:t>
            </a:r>
            <a:r>
              <a:rPr lang="en-US" altLang="zh-CN">
                <a:solidFill>
                  <a:srgbClr val="FF3300"/>
                </a:solidFill>
              </a:rPr>
              <a:t>heap</a:t>
            </a:r>
            <a:r>
              <a:rPr lang="zh-CN" altLang="en-US"/>
              <a:t>）</a:t>
            </a:r>
          </a:p>
          <a:p>
            <a:pPr marL="990600" lvl="1" indent="-533400" eaLnBrk="1" hangingPunct="1"/>
            <a:r>
              <a:rPr lang="zh-CN" altLang="en-US"/>
              <a:t>允许用户在运行时动态地在堆之上分配、释放内存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E6FD82E-1A3B-4E11-976A-5D380FD9F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7.3.1  </a:t>
            </a:r>
            <a:r>
              <a:rPr lang="zh-CN" altLang="en-US"/>
              <a:t>静态分配策略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2BFF9BC-87EF-4838-8119-35459F8A9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局限性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数据对象的大小和对其内存位置的限制，必须在编译时已知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不允许递归</a:t>
            </a:r>
            <a:r>
              <a:rPr lang="zh-CN" altLang="en-US">
                <a:sym typeface="Wingdings" panose="05000000000000000000" pitchFamily="2" charset="2"/>
              </a:rPr>
              <a:t></a:t>
            </a:r>
            <a:br>
              <a:rPr lang="zh-CN" altLang="en-US"/>
            </a:br>
            <a:r>
              <a:rPr lang="zh-CN" altLang="en-US"/>
              <a:t>对过程的多次活动，局部名字都绑定到相同的存储位置</a:t>
            </a:r>
            <a:r>
              <a:rPr lang="en-US" altLang="zh-CN"/>
              <a:t>——</a:t>
            </a:r>
            <a:r>
              <a:rPr lang="zh-CN" altLang="en-US"/>
              <a:t>局部名字的值在多次调用间会得到保持（</a:t>
            </a:r>
            <a:r>
              <a:rPr lang="en-US" altLang="zh-CN">
                <a:solidFill>
                  <a:schemeClr val="hlink"/>
                </a:solidFill>
              </a:rPr>
              <a:t>retain</a:t>
            </a:r>
            <a:r>
              <a:rPr lang="zh-CN" altLang="en-US"/>
              <a:t>）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不允许动态数据分配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A74A380-8FD0-44BB-8E0B-174778466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DE5F2B1-933F-4976-9871-A3D44F460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PROGRAM CNSUME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CHARACTER * 50 BUF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INTEGER NEXT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CHARACTER C, PRDUCE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DATA NEXT /1/,  BUF /‘ ’/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6		C = PRDUCE()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BUF(NEXT:NEXT) = 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NEXT = NEXT + 1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IF (C .NE. ‘ ’) GOTO 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WRITE (*, ‘(A)’) BUF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END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108FE864-950E-4680-A457-4C21B2AD2DF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0" y="2286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赋初值</a:t>
            </a:r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745F18C8-B558-4605-B7F7-D30DF94E653A}"/>
              </a:ext>
            </a:extLst>
          </p:cNvPr>
          <p:cNvSpPr>
            <a:spLocks noChangeShapeType="1"/>
          </p:cNvSpPr>
          <p:nvPr/>
        </p:nvSpPr>
        <p:spPr bwMode="ltGray">
          <a:xfrm>
            <a:off x="914400" y="2667000"/>
            <a:ext cx="7620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63B630F-4138-4EF2-A9FF-E136925A4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的静态分配（续）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23147DA-BB78-45A9-A9D0-690F27C61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CHARACTER FUNCTION PRDUCE()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CHARACTER * 80 BUFFER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INTEGER NEXT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SAVE BUFFER, NEXT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DATA NEXT /81/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IF (NEXT .GT. 80) THEN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READ (*, ‘(A)’) BUFFER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NEXT =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END IF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PRDUCE = BUFFER(NEXT:NEXT)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NEXT = NEXT + 1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END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8942A1BA-D7B0-423B-A43A-39FD96CAE30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04800" y="2133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2400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保持”</a:t>
            </a:r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39BEF1D9-ECF2-44C2-ACC5-BE67478DB533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312863" y="2514600"/>
            <a:ext cx="896937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1EB6927-1DB1-4C13-A7B2-7D4380865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的静态分配（续）</a:t>
            </a:r>
          </a:p>
        </p:txBody>
      </p:sp>
      <p:pic>
        <p:nvPicPr>
          <p:cNvPr id="29699" name="Picture 7" descr="fortran">
            <a:extLst>
              <a:ext uri="{FF2B5EF4-FFF2-40B4-BE49-F238E27FC236}">
                <a16:creationId xmlns:a16="http://schemas.microsoft.com/office/drawing/2014/main" id="{6B8B8EB7-5FD1-4ED7-B2DD-0CA3EA2A8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6340475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32D0FDB-82A3-40D4-867B-A1B6CED3E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的静态分配（续）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51B097D-F0B0-416A-8DC5-4476CE4CA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用户输入“</a:t>
            </a:r>
            <a:r>
              <a:rPr lang="en-US" altLang="zh-CN" sz="2800" dirty="0"/>
              <a:t>hello world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PRDUCE</a:t>
            </a:r>
          </a:p>
          <a:p>
            <a:pPr lvl="1" eaLnBrk="1" hangingPunct="1"/>
            <a:r>
              <a:rPr lang="zh-CN" altLang="en-US" sz="2400" dirty="0"/>
              <a:t>常态：缓冲区字符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en-US" altLang="zh-CN" sz="2400" dirty="0"/>
              <a:t>CNSUME</a:t>
            </a:r>
            <a:r>
              <a:rPr lang="zh-CN" altLang="en-US" sz="2400" dirty="0"/>
              <a:t>，</a:t>
            </a:r>
            <a:r>
              <a:rPr lang="en-US" altLang="zh-CN" sz="2400" dirty="0"/>
              <a:t>NEXT</a:t>
            </a:r>
            <a:r>
              <a:rPr lang="zh-CN" altLang="en-US" sz="2400" dirty="0"/>
              <a:t>加</a:t>
            </a:r>
            <a:r>
              <a:rPr lang="en-US" altLang="zh-CN" sz="2400" dirty="0"/>
              <a:t>1</a:t>
            </a:r>
          </a:p>
          <a:p>
            <a:pPr lvl="1" eaLnBrk="1" hangingPunct="1"/>
            <a:r>
              <a:rPr lang="zh-CN" altLang="en-US" sz="2400" dirty="0"/>
              <a:t>缓冲区用完（</a:t>
            </a:r>
            <a:r>
              <a:rPr lang="en-US" altLang="zh-CN" sz="2400" dirty="0"/>
              <a:t>NEXT&gt;80</a:t>
            </a:r>
            <a:r>
              <a:rPr lang="zh-CN" altLang="en-US" sz="2400" dirty="0"/>
              <a:t>），重新读取用户输入</a:t>
            </a:r>
          </a:p>
          <a:p>
            <a:pPr eaLnBrk="1" hangingPunct="1"/>
            <a:r>
              <a:rPr lang="zh-CN" altLang="en-US" sz="2800" dirty="0"/>
              <a:t>第一次调用：</a:t>
            </a:r>
            <a:r>
              <a:rPr lang="en-US" altLang="zh-CN" sz="2800" dirty="0"/>
              <a:t>NEXT=81</a:t>
            </a:r>
            <a:r>
              <a:rPr lang="zh-CN" altLang="en-US" sz="2800" dirty="0"/>
              <a:t>，用户输入</a:t>
            </a:r>
            <a:r>
              <a:rPr lang="zh-CN" altLang="en-US" sz="2800" dirty="0">
                <a:sym typeface="Wingdings" panose="05000000000000000000" pitchFamily="2" charset="2"/>
              </a:rPr>
              <a:t></a:t>
            </a:r>
            <a:r>
              <a:rPr lang="en-US" altLang="zh-CN" sz="2800" dirty="0"/>
              <a:t>BUFFER</a:t>
            </a:r>
            <a:r>
              <a:rPr lang="zh-CN" altLang="en-US" sz="2800" dirty="0"/>
              <a:t>，</a:t>
            </a:r>
            <a:r>
              <a:rPr lang="en-US" altLang="zh-CN" sz="2800" dirty="0"/>
              <a:t>NEXT</a:t>
            </a:r>
            <a:r>
              <a:rPr lang="en-US" altLang="zh-CN" sz="2800" dirty="0">
                <a:sym typeface="Wingdings" panose="05000000000000000000" pitchFamily="2" charset="2"/>
              </a:rPr>
              <a:t>1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zh-CN" altLang="en-US" sz="2800" dirty="0"/>
              <a:t>‘</a:t>
            </a:r>
            <a:r>
              <a:rPr lang="en-US" altLang="zh-CN" sz="2800" dirty="0"/>
              <a:t>h</a:t>
            </a:r>
            <a:r>
              <a:rPr lang="zh-CN" altLang="en-US" sz="2800" dirty="0"/>
              <a:t>’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en-US" altLang="zh-CN" sz="2800" dirty="0"/>
              <a:t>CNSUME</a:t>
            </a:r>
            <a:r>
              <a:rPr lang="zh-CN" altLang="en-US" sz="2800" dirty="0"/>
              <a:t>，</a:t>
            </a:r>
            <a:r>
              <a:rPr lang="en-US" altLang="zh-CN" sz="2800" dirty="0"/>
              <a:t>NEXT</a:t>
            </a:r>
            <a:r>
              <a:rPr lang="zh-CN" altLang="en-US" sz="2800" dirty="0"/>
              <a:t>加</a:t>
            </a:r>
            <a:r>
              <a:rPr lang="en-US" altLang="zh-CN" sz="2800" dirty="0"/>
              <a:t>1</a:t>
            </a:r>
          </a:p>
          <a:p>
            <a:pPr eaLnBrk="1" hangingPunct="1"/>
            <a:r>
              <a:rPr lang="zh-CN" altLang="en-US" sz="2800" dirty="0"/>
              <a:t>第二次，</a:t>
            </a:r>
            <a:r>
              <a:rPr lang="en-US" altLang="zh-CN" sz="2800" dirty="0">
                <a:solidFill>
                  <a:schemeClr val="hlink"/>
                </a:solidFill>
              </a:rPr>
              <a:t>BUFFER</a:t>
            </a:r>
            <a:r>
              <a:rPr lang="zh-CN" altLang="en-US" sz="2800" dirty="0">
                <a:solidFill>
                  <a:schemeClr val="hlink"/>
                </a:solidFill>
              </a:rPr>
              <a:t>未变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hlink"/>
                </a:solidFill>
              </a:rPr>
              <a:t>NEXT</a:t>
            </a:r>
            <a:r>
              <a:rPr lang="zh-CN" altLang="en-US" sz="2800" dirty="0">
                <a:solidFill>
                  <a:schemeClr val="hlink"/>
                </a:solidFill>
              </a:rPr>
              <a:t>未变</a:t>
            </a:r>
            <a:r>
              <a:rPr lang="en-US" altLang="zh-CN" sz="2800" dirty="0">
                <a:solidFill>
                  <a:schemeClr val="hlink"/>
                </a:solidFill>
              </a:rPr>
              <a:t>=2</a:t>
            </a:r>
            <a:r>
              <a:rPr lang="zh-CN" altLang="en-US" sz="2800" dirty="0"/>
              <a:t>，‘</a:t>
            </a:r>
            <a:r>
              <a:rPr lang="en-US" altLang="zh-CN" sz="2800" dirty="0"/>
              <a:t>e</a:t>
            </a:r>
            <a:r>
              <a:rPr lang="zh-CN" altLang="en-US" sz="2800" dirty="0"/>
              <a:t> ’ </a:t>
            </a:r>
            <a:r>
              <a:rPr lang="en-US" altLang="zh-CN" sz="2800" dirty="0">
                <a:sym typeface="Wingdings" panose="05000000000000000000" pitchFamily="2" charset="2"/>
              </a:rPr>
              <a:t>CNSUME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NEXT</a:t>
            </a:r>
            <a:r>
              <a:rPr lang="zh-CN" altLang="en-US" sz="2800" dirty="0">
                <a:sym typeface="Wingdings" panose="05000000000000000000" pitchFamily="2" charset="2"/>
              </a:rPr>
              <a:t>加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E683788-CB4A-4578-B832-471C860D3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7.3.2  </a:t>
            </a:r>
            <a:r>
              <a:rPr lang="zh-CN" altLang="en-US"/>
              <a:t>栈分配策略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47EF276-BAA2-41ED-93CA-BADEBB3CF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过程调用</a:t>
            </a:r>
            <a:r>
              <a:rPr lang="en-US" altLang="zh-CN"/>
              <a:t>——push </a:t>
            </a:r>
            <a:r>
              <a:rPr lang="zh-CN" altLang="en-US"/>
              <a:t>活动记录</a:t>
            </a:r>
          </a:p>
          <a:p>
            <a:pPr eaLnBrk="1" hangingPunct="1"/>
            <a:r>
              <a:rPr lang="zh-CN" altLang="en-US"/>
              <a:t>过程返回</a:t>
            </a:r>
            <a:r>
              <a:rPr lang="en-US" altLang="zh-CN"/>
              <a:t>——pop </a:t>
            </a:r>
            <a:r>
              <a:rPr lang="zh-CN" altLang="en-US"/>
              <a:t>活动记录</a:t>
            </a:r>
          </a:p>
          <a:p>
            <a:pPr eaLnBrk="1" hangingPunct="1"/>
            <a:r>
              <a:rPr lang="zh-CN" altLang="en-US"/>
              <a:t>每次过程活动，局部名字都绑定到新的位置</a:t>
            </a:r>
          </a:p>
          <a:p>
            <a:pPr eaLnBrk="1" hangingPunct="1"/>
            <a:r>
              <a:rPr lang="zh-CN" altLang="en-US"/>
              <a:t>过程结束，局部名字空间被释放</a:t>
            </a:r>
            <a:r>
              <a:rPr lang="en-US" altLang="zh-CN"/>
              <a:t>——</a:t>
            </a:r>
            <a:r>
              <a:rPr lang="zh-CN" altLang="en-US"/>
              <a:t>值丢失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4D52837-BF8D-4FF1-B93F-ED9BDD679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7.5  </a:t>
            </a:r>
            <a:r>
              <a:rPr lang="zh-CN" altLang="en-US"/>
              <a:t>快速排序执行过程</a:t>
            </a:r>
          </a:p>
        </p:txBody>
      </p:sp>
      <p:pic>
        <p:nvPicPr>
          <p:cNvPr id="32771" name="Picture 5" descr="stack1">
            <a:extLst>
              <a:ext uri="{FF2B5EF4-FFF2-40B4-BE49-F238E27FC236}">
                <a16:creationId xmlns:a16="http://schemas.microsoft.com/office/drawing/2014/main" id="{E03443A0-BB1C-4382-AD83-C394C7B6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95400"/>
            <a:ext cx="5805488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8B98840-0D35-4589-BCD9-DA4D2A192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</a:t>
            </a:r>
            <a:r>
              <a:rPr lang="en-US" altLang="zh-CN">
                <a:solidFill>
                  <a:srgbClr val="FF3300"/>
                </a:solidFill>
              </a:rPr>
              <a:t>calling sequence</a:t>
            </a:r>
            <a:r>
              <a:rPr lang="zh-CN" altLang="en-US"/>
              <a:t>）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7AACB39-010B-4B2B-A5CF-B7D65C6AB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创建活动记录，填写相关信息的代码</a:t>
            </a:r>
          </a:p>
          <a:p>
            <a:pPr eaLnBrk="1" hangingPunct="1"/>
            <a:r>
              <a:rPr lang="zh-CN" altLang="en-US"/>
              <a:t>返回序列，</a:t>
            </a:r>
            <a:r>
              <a:rPr lang="en-US" altLang="zh-CN">
                <a:solidFill>
                  <a:srgbClr val="FF3300"/>
                </a:solidFill>
              </a:rPr>
              <a:t>return sequence</a:t>
            </a:r>
          </a:p>
          <a:p>
            <a:pPr eaLnBrk="1" hangingPunct="1"/>
            <a:r>
              <a:rPr lang="zh-CN" altLang="en-US"/>
              <a:t>划分到调用函数和被调用函数两部分</a:t>
            </a:r>
          </a:p>
          <a:p>
            <a:pPr eaLnBrk="1" hangingPunct="1"/>
            <a:r>
              <a:rPr lang="zh-CN" altLang="en-US"/>
              <a:t>较早确定大小的信息放在活动记录中部</a:t>
            </a:r>
          </a:p>
          <a:p>
            <a:pPr lvl="1" eaLnBrk="1" hangingPunct="1"/>
            <a:r>
              <a:rPr lang="zh-CN" altLang="en-US"/>
              <a:t>控制链接、访问链接、机器状态信息</a:t>
            </a:r>
          </a:p>
          <a:p>
            <a:pPr lvl="1" eaLnBrk="1" hangingPunct="1"/>
            <a:r>
              <a:rPr lang="zh-CN" altLang="en-US"/>
              <a:t>临时单元</a:t>
            </a:r>
          </a:p>
          <a:p>
            <a:pPr lvl="1" eaLnBrk="1" hangingPunct="1"/>
            <a:r>
              <a:rPr lang="zh-CN" altLang="en-US"/>
              <a:t>实际参数、返回值</a:t>
            </a:r>
          </a:p>
          <a:p>
            <a:pPr lvl="1" eaLnBrk="1" hangingPunct="1"/>
            <a:r>
              <a:rPr lang="zh-CN" altLang="en-US"/>
              <a:t>局部数据，</a:t>
            </a:r>
            <a:r>
              <a:rPr lang="en-US" altLang="zh-CN"/>
              <a:t>Pascal</a:t>
            </a:r>
            <a:r>
              <a:rPr lang="zh-CN" altLang="en-US"/>
              <a:t>局部数组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02E55503-B91F-4986-A7ED-9B9B85A2D85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69925" y="3886200"/>
            <a:ext cx="5492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大小确定</a:t>
            </a:r>
          </a:p>
        </p:txBody>
      </p:sp>
      <p:sp>
        <p:nvSpPr>
          <p:cNvPr id="33797" name="Text Box 6">
            <a:extLst>
              <a:ext uri="{FF2B5EF4-FFF2-40B4-BE49-F238E27FC236}">
                <a16:creationId xmlns:a16="http://schemas.microsoft.com/office/drawing/2014/main" id="{81D55C75-CE1C-4043-941A-9D9132566C3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050925" y="3886200"/>
            <a:ext cx="5492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早</a:t>
            </a: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晚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9AC04BF-34E2-4DA7-8E76-40A900C57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23F94CF-1638-418B-B862-DAA0B8452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调用者计算实际参数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82D575AF-D3D0-4230-943A-E289BA55B235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1988840"/>
            <a:ext cx="5257800" cy="4654550"/>
            <a:chOff x="1152" y="940"/>
            <a:chExt cx="3695" cy="3188"/>
          </a:xfrm>
        </p:grpSpPr>
        <p:pic>
          <p:nvPicPr>
            <p:cNvPr id="5" name="Picture 10" descr="callseq">
              <a:extLst>
                <a:ext uri="{FF2B5EF4-FFF2-40B4-BE49-F238E27FC236}">
                  <a16:creationId xmlns:a16="http://schemas.microsoft.com/office/drawing/2014/main" id="{96A4A486-3354-40AF-9D46-EE986BD498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90739B-33EA-406E-8914-2B0B81765EE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3AECE26-3CD7-4B3C-B339-1E8123A1A83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9AC04BF-34E2-4DA7-8E76-40A900C57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23F94CF-1638-418B-B862-DAA0B8452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288" y="1371600"/>
            <a:ext cx="8848800" cy="4724400"/>
          </a:xfrm>
        </p:spPr>
        <p:txBody>
          <a:bodyPr/>
          <a:lstStyle/>
          <a:p>
            <a:pPr marL="609600" indent="-609600" eaLnBrk="1" hangingPunct="1">
              <a:buFont typeface="+mj-lt"/>
              <a:buAutoNum type="arabicPeriod" startAt="2"/>
            </a:pPr>
            <a:r>
              <a:rPr lang="zh-CN" altLang="en-US" sz="2800" dirty="0"/>
              <a:t>调用者存储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返回地址</a:t>
            </a:r>
            <a:r>
              <a:rPr lang="zh-CN" altLang="en-US" sz="2800" dirty="0"/>
              <a:t>（被调用函数返回后继续运行的代码位置）和</a:t>
            </a:r>
            <a:r>
              <a:rPr lang="en-US" altLang="zh-CN" sz="2800" dirty="0" err="1">
                <a:solidFill>
                  <a:schemeClr val="folHlink"/>
                </a:solidFill>
                <a:ea typeface="黑体" panose="02010609060101010101" pitchFamily="49" charset="-122"/>
              </a:rPr>
              <a:t>top_sp</a:t>
            </a:r>
            <a:r>
              <a:rPr lang="zh-CN" altLang="en-US" sz="28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旧值</a:t>
            </a:r>
            <a:r>
              <a:rPr lang="zh-CN" altLang="en-US" sz="2800" dirty="0"/>
              <a:t>，然后将</a:t>
            </a:r>
            <a:r>
              <a:rPr lang="en-US" altLang="zh-CN" sz="2800" dirty="0" err="1">
                <a:solidFill>
                  <a:schemeClr val="folHlink"/>
                </a:solidFill>
              </a:rPr>
              <a:t>top_sp</a:t>
            </a:r>
            <a:r>
              <a:rPr lang="zh-CN" altLang="en-US" sz="2800" dirty="0"/>
              <a:t>调整到下图位置</a:t>
            </a:r>
            <a:r>
              <a:rPr lang="en-US" altLang="zh-CN" sz="2800" dirty="0"/>
              <a:t>——</a:t>
            </a:r>
            <a:r>
              <a:rPr lang="zh-CN" altLang="en-US" sz="2800" dirty="0"/>
              <a:t>要跨过</a:t>
            </a:r>
            <a:br>
              <a:rPr lang="en-US" altLang="zh-CN" sz="2800" dirty="0"/>
            </a:br>
            <a:r>
              <a:rPr lang="zh-CN" altLang="en-US" sz="2800" dirty="0"/>
              <a:t>调用者的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局部数据</a:t>
            </a:r>
            <a:r>
              <a:rPr lang="zh-CN" altLang="en-US" sz="2800" dirty="0"/>
              <a:t>和</a:t>
            </a:r>
            <a:br>
              <a:rPr lang="en-US" altLang="zh-CN" sz="2800" dirty="0"/>
            </a:b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临时单元</a:t>
            </a:r>
            <a:r>
              <a:rPr lang="zh-CN" altLang="en-US" sz="2800" dirty="0"/>
              <a:t>以及</a:t>
            </a:r>
            <a:br>
              <a:rPr lang="en-US" altLang="zh-CN" sz="2800" dirty="0"/>
            </a:br>
            <a:r>
              <a:rPr lang="zh-CN" altLang="en-US" sz="2800" dirty="0"/>
              <a:t>被调用者的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实际参数</a:t>
            </a:r>
            <a:br>
              <a:rPr lang="en-US" altLang="zh-CN" sz="2800" dirty="0">
                <a:solidFill>
                  <a:srgbClr val="FF3300"/>
                </a:solidFill>
                <a:ea typeface="黑体" panose="02010609060101010101" pitchFamily="49" charset="-122"/>
              </a:rPr>
            </a:b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状态区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320DE614-E117-4EBC-B06F-7EB02270666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95936" y="2420888"/>
            <a:ext cx="4732020" cy="4189095"/>
            <a:chOff x="1152" y="940"/>
            <a:chExt cx="3695" cy="3188"/>
          </a:xfrm>
        </p:grpSpPr>
        <p:pic>
          <p:nvPicPr>
            <p:cNvPr id="5" name="Picture 10" descr="callseq">
              <a:extLst>
                <a:ext uri="{FF2B5EF4-FFF2-40B4-BE49-F238E27FC236}">
                  <a16:creationId xmlns:a16="http://schemas.microsoft.com/office/drawing/2014/main" id="{DCD12986-9846-4D9E-ACC9-1521DB24E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B4527C1-6060-46C4-AB66-DABF2E9C903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E039167-6AD3-46A4-AE22-209575C72B5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423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9AC04BF-34E2-4DA7-8E76-40A900C57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23F94CF-1638-418B-B862-DAA0B8452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+mj-lt"/>
              <a:buAutoNum type="arabicPeriod" startAt="3"/>
            </a:pPr>
            <a:r>
              <a:rPr lang="zh-CN" altLang="en-US" sz="2800" dirty="0"/>
              <a:t>被调用者保存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寄存器值</a:t>
            </a:r>
            <a:r>
              <a:rPr lang="zh-CN" altLang="en-US" sz="2800" dirty="0"/>
              <a:t>和其他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状态信息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871E8EEC-6505-4BB6-8355-2F22B52C64D4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2060848"/>
            <a:ext cx="5257800" cy="4654550"/>
            <a:chOff x="1152" y="940"/>
            <a:chExt cx="3695" cy="3188"/>
          </a:xfrm>
        </p:grpSpPr>
        <p:pic>
          <p:nvPicPr>
            <p:cNvPr id="5" name="Picture 10" descr="callseq">
              <a:extLst>
                <a:ext uri="{FF2B5EF4-FFF2-40B4-BE49-F238E27FC236}">
                  <a16:creationId xmlns:a16="http://schemas.microsoft.com/office/drawing/2014/main" id="{EFAD61A5-D630-423D-95FD-B9A4568A2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AC647ED-E5C6-4B57-9ED7-0AFC6517F43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6A8F21-7707-41F9-9062-A9A2BCC8857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4852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9AC04BF-34E2-4DA7-8E76-40A900C57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23F94CF-1638-418B-B862-DAA0B8452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+mj-lt"/>
              <a:buAutoNum type="arabicPeriod" startAt="4"/>
            </a:pPr>
            <a:r>
              <a:rPr lang="zh-CN" altLang="en-US" sz="2800" dirty="0"/>
              <a:t>被调用者初始化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局部数据</a:t>
            </a:r>
            <a:r>
              <a:rPr lang="zh-CN" altLang="en-US" sz="2800" dirty="0"/>
              <a:t>，开始运行</a:t>
            </a:r>
          </a:p>
        </p:txBody>
      </p:sp>
      <p:grpSp>
        <p:nvGrpSpPr>
          <p:cNvPr id="6" name="Group 11">
            <a:extLst>
              <a:ext uri="{FF2B5EF4-FFF2-40B4-BE49-F238E27FC236}">
                <a16:creationId xmlns:a16="http://schemas.microsoft.com/office/drawing/2014/main" id="{AF3568D5-0E9F-449C-879E-1A720FA0B0A0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1988840"/>
            <a:ext cx="5257800" cy="4654550"/>
            <a:chOff x="1152" y="940"/>
            <a:chExt cx="3695" cy="3188"/>
          </a:xfrm>
        </p:grpSpPr>
        <p:pic>
          <p:nvPicPr>
            <p:cNvPr id="7" name="Picture 10" descr="callseq">
              <a:extLst>
                <a:ext uri="{FF2B5EF4-FFF2-40B4-BE49-F238E27FC236}">
                  <a16:creationId xmlns:a16="http://schemas.microsoft.com/office/drawing/2014/main" id="{1FEA7112-1B6F-49E6-8310-0316DE77C2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CC3D04C5-1DB4-4E6B-95B1-AFB5FA2EFA6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79CFCF-4525-416F-8A4A-90D6E9D2819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510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7240F9E-814B-4C0B-AFB0-1E62533C9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返回序列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2E8F20B-95D1-4640-A078-716CCD759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被调用者设置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返回值</a:t>
            </a:r>
            <a:r>
              <a:rPr lang="zh-CN" altLang="en-US"/>
              <a:t>（位于栈底，与调用者活动记录相邻）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利用保存的状态信息，被调用者恢复</a:t>
            </a:r>
            <a:r>
              <a:rPr lang="en-US" altLang="zh-CN">
                <a:solidFill>
                  <a:schemeClr val="folHlink"/>
                </a:solidFill>
              </a:rPr>
              <a:t>top_sp</a:t>
            </a:r>
            <a:r>
              <a:rPr lang="zh-CN" altLang="en-US"/>
              <a:t>和其他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寄存器</a:t>
            </a:r>
            <a:r>
              <a:rPr lang="zh-CN" altLang="en-US"/>
              <a:t>，然后跳转到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返回地址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调用者复制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返回值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B122892-BA28-4FC0-B3FB-83308377B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可变长度数据</a:t>
            </a:r>
          </a:p>
        </p:txBody>
      </p:sp>
      <p:grpSp>
        <p:nvGrpSpPr>
          <p:cNvPr id="37891" name="Group 13">
            <a:extLst>
              <a:ext uri="{FF2B5EF4-FFF2-40B4-BE49-F238E27FC236}">
                <a16:creationId xmlns:a16="http://schemas.microsoft.com/office/drawing/2014/main" id="{8906FDFE-25CA-4F57-9A87-717752A94A32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250950"/>
            <a:ext cx="5410200" cy="5332413"/>
            <a:chOff x="384" y="788"/>
            <a:chExt cx="3600" cy="3548"/>
          </a:xfrm>
        </p:grpSpPr>
        <p:pic>
          <p:nvPicPr>
            <p:cNvPr id="37892" name="Picture 12" descr="variable">
              <a:extLst>
                <a:ext uri="{FF2B5EF4-FFF2-40B4-BE49-F238E27FC236}">
                  <a16:creationId xmlns:a16="http://schemas.microsoft.com/office/drawing/2014/main" id="{790D5F95-8C7E-4105-97C6-E3AEEA3BD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" y="788"/>
              <a:ext cx="2541" cy="3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3" name="Text Box 5">
              <a:extLst>
                <a:ext uri="{FF2B5EF4-FFF2-40B4-BE49-F238E27FC236}">
                  <a16:creationId xmlns:a16="http://schemas.microsoft.com/office/drawing/2014/main" id="{7A9282B2-A1F5-4A6F-BE26-E19B5F188684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84" y="3243"/>
              <a:ext cx="76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ahoma" panose="020B0604030504040204" pitchFamily="34" charset="0"/>
                </a:rPr>
                <a:t>top_sp</a:t>
              </a:r>
            </a:p>
          </p:txBody>
        </p:sp>
        <p:sp>
          <p:nvSpPr>
            <p:cNvPr id="37894" name="Line 6">
              <a:extLst>
                <a:ext uri="{FF2B5EF4-FFF2-40B4-BE49-F238E27FC236}">
                  <a16:creationId xmlns:a16="http://schemas.microsoft.com/office/drawing/2014/main" id="{EC339B26-FF18-47E4-BAC6-B0C8B47EE37C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104" y="338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5" name="Text Box 7">
              <a:extLst>
                <a:ext uri="{FF2B5EF4-FFF2-40B4-BE49-F238E27FC236}">
                  <a16:creationId xmlns:a16="http://schemas.microsoft.com/office/drawing/2014/main" id="{76F71D37-44BC-490B-9C93-DA5F0B36BAA1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672" y="4032"/>
              <a:ext cx="52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ahoma" panose="020B0604030504040204" pitchFamily="34" charset="0"/>
                </a:rPr>
                <a:t>top</a:t>
              </a:r>
            </a:p>
          </p:txBody>
        </p:sp>
        <p:sp>
          <p:nvSpPr>
            <p:cNvPr id="37896" name="Line 8">
              <a:extLst>
                <a:ext uri="{FF2B5EF4-FFF2-40B4-BE49-F238E27FC236}">
                  <a16:creationId xmlns:a16="http://schemas.microsoft.com/office/drawing/2014/main" id="{C9BADE69-2711-4A59-B5D5-9FF6C870BA6F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152" y="41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7" name="Freeform 9">
              <a:extLst>
                <a:ext uri="{FF2B5EF4-FFF2-40B4-BE49-F238E27FC236}">
                  <a16:creationId xmlns:a16="http://schemas.microsoft.com/office/drawing/2014/main" id="{DF6EA1A6-D83E-473F-AAA1-9BA1D75D451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688" y="1464"/>
              <a:ext cx="362" cy="936"/>
            </a:xfrm>
            <a:custGeom>
              <a:avLst/>
              <a:gdLst>
                <a:gd name="T0" fmla="*/ 0 w 362"/>
                <a:gd name="T1" fmla="*/ 72 h 936"/>
                <a:gd name="T2" fmla="*/ 298 w 362"/>
                <a:gd name="T3" fmla="*/ 104 h 936"/>
                <a:gd name="T4" fmla="*/ 336 w 362"/>
                <a:gd name="T5" fmla="*/ 696 h 936"/>
                <a:gd name="T6" fmla="*/ 144 w 362"/>
                <a:gd name="T7" fmla="*/ 936 h 9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2"/>
                <a:gd name="T13" fmla="*/ 0 h 936"/>
                <a:gd name="T14" fmla="*/ 362 w 362"/>
                <a:gd name="T15" fmla="*/ 936 h 9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2" h="936">
                  <a:moveTo>
                    <a:pt x="0" y="72"/>
                  </a:moveTo>
                  <a:cubicBezTo>
                    <a:pt x="50" y="77"/>
                    <a:pt x="242" y="0"/>
                    <a:pt x="298" y="104"/>
                  </a:cubicBezTo>
                  <a:cubicBezTo>
                    <a:pt x="354" y="208"/>
                    <a:pt x="362" y="557"/>
                    <a:pt x="336" y="696"/>
                  </a:cubicBezTo>
                  <a:cubicBezTo>
                    <a:pt x="310" y="835"/>
                    <a:pt x="228" y="888"/>
                    <a:pt x="144" y="936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8" name="Freeform 10">
              <a:extLst>
                <a:ext uri="{FF2B5EF4-FFF2-40B4-BE49-F238E27FC236}">
                  <a16:creationId xmlns:a16="http://schemas.microsoft.com/office/drawing/2014/main" id="{A790D85E-D791-4411-B9C5-356597450C1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688" y="1671"/>
              <a:ext cx="504" cy="945"/>
            </a:xfrm>
            <a:custGeom>
              <a:avLst/>
              <a:gdLst>
                <a:gd name="T0" fmla="*/ 0 w 504"/>
                <a:gd name="T1" fmla="*/ 81 h 945"/>
                <a:gd name="T2" fmla="*/ 422 w 504"/>
                <a:gd name="T3" fmla="*/ 110 h 945"/>
                <a:gd name="T4" fmla="*/ 458 w 504"/>
                <a:gd name="T5" fmla="*/ 739 h 945"/>
                <a:gd name="T6" fmla="*/ 144 w 504"/>
                <a:gd name="T7" fmla="*/ 945 h 9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4"/>
                <a:gd name="T13" fmla="*/ 0 h 945"/>
                <a:gd name="T14" fmla="*/ 504 w 504"/>
                <a:gd name="T15" fmla="*/ 945 h 9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4" h="945">
                  <a:moveTo>
                    <a:pt x="0" y="81"/>
                  </a:moveTo>
                  <a:cubicBezTo>
                    <a:pt x="70" y="86"/>
                    <a:pt x="346" y="0"/>
                    <a:pt x="422" y="110"/>
                  </a:cubicBezTo>
                  <a:cubicBezTo>
                    <a:pt x="498" y="220"/>
                    <a:pt x="504" y="600"/>
                    <a:pt x="458" y="739"/>
                  </a:cubicBezTo>
                  <a:cubicBezTo>
                    <a:pt x="412" y="878"/>
                    <a:pt x="209" y="902"/>
                    <a:pt x="144" y="945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9" name="Freeform 11">
              <a:extLst>
                <a:ext uri="{FF2B5EF4-FFF2-40B4-BE49-F238E27FC236}">
                  <a16:creationId xmlns:a16="http://schemas.microsoft.com/office/drawing/2014/main" id="{F6D64C7B-C8CA-4450-8764-A64DBF76090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688" y="1876"/>
              <a:ext cx="676" cy="932"/>
            </a:xfrm>
            <a:custGeom>
              <a:avLst/>
              <a:gdLst>
                <a:gd name="T0" fmla="*/ 0 w 676"/>
                <a:gd name="T1" fmla="*/ 68 h 932"/>
                <a:gd name="T2" fmla="*/ 582 w 676"/>
                <a:gd name="T3" fmla="*/ 118 h 932"/>
                <a:gd name="T4" fmla="*/ 564 w 676"/>
                <a:gd name="T5" fmla="*/ 774 h 932"/>
                <a:gd name="T6" fmla="*/ 144 w 676"/>
                <a:gd name="T7" fmla="*/ 932 h 9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6"/>
                <a:gd name="T13" fmla="*/ 0 h 932"/>
                <a:gd name="T14" fmla="*/ 676 w 676"/>
                <a:gd name="T15" fmla="*/ 932 h 9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6" h="932">
                  <a:moveTo>
                    <a:pt x="0" y="68"/>
                  </a:moveTo>
                  <a:cubicBezTo>
                    <a:pt x="97" y="76"/>
                    <a:pt x="488" y="0"/>
                    <a:pt x="582" y="118"/>
                  </a:cubicBezTo>
                  <a:cubicBezTo>
                    <a:pt x="676" y="236"/>
                    <a:pt x="637" y="638"/>
                    <a:pt x="564" y="774"/>
                  </a:cubicBezTo>
                  <a:cubicBezTo>
                    <a:pt x="491" y="910"/>
                    <a:pt x="231" y="899"/>
                    <a:pt x="144" y="932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CBB8778-2912-4CA8-BEFA-7710AE8B1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7.3.3  </a:t>
            </a:r>
            <a:r>
              <a:rPr lang="zh-CN" altLang="en-US"/>
              <a:t>空悬（</a:t>
            </a:r>
            <a:r>
              <a:rPr lang="en-US" altLang="zh-CN">
                <a:solidFill>
                  <a:srgbClr val="FF3300"/>
                </a:solidFill>
              </a:rPr>
              <a:t>dangling</a:t>
            </a:r>
            <a:r>
              <a:rPr lang="zh-CN" altLang="en-US"/>
              <a:t>）引用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A75911F-8B9F-4944-83F0-D84FFB088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7.6</a:t>
            </a:r>
            <a:r>
              <a:rPr lang="zh-CN" altLang="en-US" dirty="0"/>
              <a:t>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内存空间已释放，但还存在指向它的引用</a:t>
            </a:r>
            <a:r>
              <a:rPr lang="en-US" altLang="zh-CN" dirty="0"/>
              <a:t>——</a:t>
            </a:r>
            <a:r>
              <a:rPr lang="zh-CN" altLang="en-US" dirty="0"/>
              <a:t>程序员的错误！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*dangle()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23;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return &amp;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main()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int *p;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p = dangle();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03FF268-E15B-40F7-922E-065421E65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7.3.4  </a:t>
            </a:r>
            <a:r>
              <a:rPr lang="zh-CN" altLang="en-US"/>
              <a:t>堆分配策略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C80D551-3BBD-48C5-83FA-AF746127B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5626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栈分配策略的局限，不能处理下列情况</a:t>
            </a:r>
          </a:p>
          <a:p>
            <a:pPr marL="990600" lvl="1" indent="-533400" eaLnBrk="1" hangingPunct="1"/>
            <a:r>
              <a:rPr lang="zh-CN" altLang="en-US" sz="2400"/>
              <a:t>局部名字的值在活动结束后能够保持</a:t>
            </a:r>
          </a:p>
          <a:p>
            <a:pPr marL="990600" lvl="1" indent="-533400" eaLnBrk="1" hangingPunct="1"/>
            <a:r>
              <a:rPr lang="zh-CN" altLang="en-US" sz="2400"/>
              <a:t>被调用函数的活动生存期比调用者长</a:t>
            </a:r>
            <a:r>
              <a:rPr lang="en-US" altLang="zh-CN" sz="2400"/>
              <a:t>——</a:t>
            </a:r>
            <a:r>
              <a:rPr lang="zh-CN" altLang="en-US" sz="2400"/>
              <a:t>可用活动树表示控制流的语言无法实现</a:t>
            </a:r>
          </a:p>
          <a:p>
            <a:pPr marL="609600" indent="-609600" eaLnBrk="1" hangingPunct="1"/>
            <a:r>
              <a:rPr lang="zh-CN" altLang="en-US" sz="2800"/>
              <a:t>对小的（或大小已知的）活动记录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为若干可能大小，创建空闲块链表（静态）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为大小为</a:t>
            </a:r>
            <a:r>
              <a:rPr lang="en-US" altLang="zh-CN" sz="2400"/>
              <a:t>s</a:t>
            </a:r>
            <a:r>
              <a:rPr lang="zh-CN" altLang="en-US" sz="2400"/>
              <a:t>的活动记录分配空间，尽量使用</a:t>
            </a:r>
            <a:r>
              <a:rPr lang="en-US" altLang="zh-CN" sz="2400"/>
              <a:t>s’</a:t>
            </a:r>
            <a:r>
              <a:rPr lang="zh-CN" altLang="en-US" sz="2400"/>
              <a:t>的空闲块表，</a:t>
            </a:r>
            <a:r>
              <a:rPr lang="en-US" altLang="zh-CN" sz="2400"/>
              <a:t>s’</a:t>
            </a:r>
            <a:r>
              <a:rPr lang="zh-CN" altLang="en-US" sz="2400"/>
              <a:t>为大于等于</a:t>
            </a:r>
            <a:r>
              <a:rPr lang="en-US" altLang="zh-CN" sz="2400"/>
              <a:t>s</a:t>
            </a:r>
            <a:r>
              <a:rPr lang="zh-CN" altLang="en-US" sz="2400"/>
              <a:t>的最小值。空间释放时，将块退回空闲块链表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对大块内存分配，利用堆管理器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9" descr="heap">
            <a:extLst>
              <a:ext uri="{FF2B5EF4-FFF2-40B4-BE49-F238E27FC236}">
                <a16:creationId xmlns:a16="http://schemas.microsoft.com/office/drawing/2014/main" id="{202FE2E7-BA4E-4580-9CBB-62432F306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5808663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2">
            <a:extLst>
              <a:ext uri="{FF2B5EF4-FFF2-40B4-BE49-F238E27FC236}">
                <a16:creationId xmlns:a16="http://schemas.microsoft.com/office/drawing/2014/main" id="{5656B9C3-1301-4B25-BFD5-37B9C749E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堆分配策略（续）</a:t>
            </a:r>
          </a:p>
        </p:txBody>
      </p:sp>
      <p:sp>
        <p:nvSpPr>
          <p:cNvPr id="40964" name="Freeform 6">
            <a:extLst>
              <a:ext uri="{FF2B5EF4-FFF2-40B4-BE49-F238E27FC236}">
                <a16:creationId xmlns:a16="http://schemas.microsoft.com/office/drawing/2014/main" id="{895EA6B5-3160-4D18-8DD1-208CEB687AF2}"/>
              </a:ext>
            </a:extLst>
          </p:cNvPr>
          <p:cNvSpPr>
            <a:spLocks/>
          </p:cNvSpPr>
          <p:nvPr/>
        </p:nvSpPr>
        <p:spPr bwMode="ltGray">
          <a:xfrm>
            <a:off x="3478213" y="1463675"/>
            <a:ext cx="1017587" cy="2497138"/>
          </a:xfrm>
          <a:custGeom>
            <a:avLst/>
            <a:gdLst>
              <a:gd name="T0" fmla="*/ 2147483646 w 641"/>
              <a:gd name="T1" fmla="*/ 2147483646 h 1573"/>
              <a:gd name="T2" fmla="*/ 2147483646 w 641"/>
              <a:gd name="T3" fmla="*/ 2147483646 h 1573"/>
              <a:gd name="T4" fmla="*/ 2147483646 w 641"/>
              <a:gd name="T5" fmla="*/ 2147483646 h 1573"/>
              <a:gd name="T6" fmla="*/ 2147483646 w 641"/>
              <a:gd name="T7" fmla="*/ 2147483646 h 1573"/>
              <a:gd name="T8" fmla="*/ 0 60000 65536"/>
              <a:gd name="T9" fmla="*/ 0 60000 65536"/>
              <a:gd name="T10" fmla="*/ 0 60000 65536"/>
              <a:gd name="T11" fmla="*/ 0 60000 65536"/>
              <a:gd name="T12" fmla="*/ 0 w 641"/>
              <a:gd name="T13" fmla="*/ 0 h 1573"/>
              <a:gd name="T14" fmla="*/ 641 w 641"/>
              <a:gd name="T15" fmla="*/ 1573 h 15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1" h="1573">
                <a:moveTo>
                  <a:pt x="641" y="1478"/>
                </a:moveTo>
                <a:cubicBezTo>
                  <a:pt x="552" y="1459"/>
                  <a:pt x="205" y="1573"/>
                  <a:pt x="104" y="1364"/>
                </a:cubicBezTo>
                <a:cubicBezTo>
                  <a:pt x="3" y="1155"/>
                  <a:pt x="0" y="442"/>
                  <a:pt x="33" y="221"/>
                </a:cubicBezTo>
                <a:cubicBezTo>
                  <a:pt x="66" y="0"/>
                  <a:pt x="248" y="76"/>
                  <a:pt x="305" y="3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Freeform 7">
            <a:extLst>
              <a:ext uri="{FF2B5EF4-FFF2-40B4-BE49-F238E27FC236}">
                <a16:creationId xmlns:a16="http://schemas.microsoft.com/office/drawing/2014/main" id="{44205A9A-98A7-49B6-A7CE-9EC558B5810D}"/>
              </a:ext>
            </a:extLst>
          </p:cNvPr>
          <p:cNvSpPr>
            <a:spLocks/>
          </p:cNvSpPr>
          <p:nvPr/>
        </p:nvSpPr>
        <p:spPr bwMode="ltGray">
          <a:xfrm>
            <a:off x="2897188" y="1384300"/>
            <a:ext cx="1549400" cy="4194175"/>
          </a:xfrm>
          <a:custGeom>
            <a:avLst/>
            <a:gdLst>
              <a:gd name="T0" fmla="*/ 2147483646 w 976"/>
              <a:gd name="T1" fmla="*/ 2147483646 h 2642"/>
              <a:gd name="T2" fmla="*/ 2147483646 w 976"/>
              <a:gd name="T3" fmla="*/ 2147483646 h 2642"/>
              <a:gd name="T4" fmla="*/ 2147483646 w 976"/>
              <a:gd name="T5" fmla="*/ 2147483646 h 2642"/>
              <a:gd name="T6" fmla="*/ 2147483646 w 976"/>
              <a:gd name="T7" fmla="*/ 2147483646 h 2642"/>
              <a:gd name="T8" fmla="*/ 0 60000 65536"/>
              <a:gd name="T9" fmla="*/ 0 60000 65536"/>
              <a:gd name="T10" fmla="*/ 0 60000 65536"/>
              <a:gd name="T11" fmla="*/ 0 60000 65536"/>
              <a:gd name="T12" fmla="*/ 0 w 976"/>
              <a:gd name="T13" fmla="*/ 0 h 2642"/>
              <a:gd name="T14" fmla="*/ 976 w 976"/>
              <a:gd name="T15" fmla="*/ 2642 h 26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76" h="2642">
                <a:moveTo>
                  <a:pt x="976" y="2574"/>
                </a:moveTo>
                <a:cubicBezTo>
                  <a:pt x="837" y="2524"/>
                  <a:pt x="284" y="2642"/>
                  <a:pt x="142" y="2274"/>
                </a:cubicBezTo>
                <a:cubicBezTo>
                  <a:pt x="0" y="1906"/>
                  <a:pt x="42" y="738"/>
                  <a:pt x="125" y="369"/>
                </a:cubicBezTo>
                <a:cubicBezTo>
                  <a:pt x="208" y="0"/>
                  <a:pt x="532" y="123"/>
                  <a:pt x="639" y="5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Text Box 8">
            <a:extLst>
              <a:ext uri="{FF2B5EF4-FFF2-40B4-BE49-F238E27FC236}">
                <a16:creationId xmlns:a16="http://schemas.microsoft.com/office/drawing/2014/main" id="{927AA051-D693-4EA0-8C1B-9B006055384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086600" y="3276600"/>
            <a:ext cx="1752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r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的活动记录得到保持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2333146-EE85-407B-B529-C7AFC46D5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  </a:t>
            </a:r>
            <a:r>
              <a:rPr lang="zh-CN" altLang="en-US"/>
              <a:t>访问非局部名字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34C25C0-53C8-4A2D-A7D8-A760B74FB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</a:t>
            </a:r>
          </a:p>
          <a:p>
            <a:pPr eaLnBrk="1" hangingPunct="1"/>
            <a:r>
              <a:rPr lang="zh-CN" altLang="en-US"/>
              <a:t>词法</a:t>
            </a:r>
            <a:r>
              <a:rPr lang="en-US" altLang="zh-CN"/>
              <a:t>/</a:t>
            </a:r>
            <a:r>
              <a:rPr lang="zh-CN" altLang="en-US"/>
              <a:t>静态作用域规则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lexical-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static-scope rule</a:t>
            </a:r>
            <a:br>
              <a:rPr lang="en-US" altLang="zh-CN"/>
            </a:b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Pascal</a:t>
            </a:r>
            <a:r>
              <a:rPr lang="zh-CN" altLang="en-US"/>
              <a:t>、</a:t>
            </a:r>
            <a:r>
              <a:rPr lang="en-US" altLang="zh-CN"/>
              <a:t>Ada</a:t>
            </a:r>
            <a:br>
              <a:rPr lang="en-US" altLang="zh-CN"/>
            </a:br>
            <a:r>
              <a:rPr lang="zh-CN" altLang="en-US"/>
              <a:t>嵌套问题</a:t>
            </a:r>
          </a:p>
          <a:p>
            <a:pPr eaLnBrk="1" hangingPunct="1"/>
            <a:r>
              <a:rPr lang="zh-CN" altLang="en-US"/>
              <a:t>动态作用域规则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dynamic-scope rule</a:t>
            </a:r>
            <a:br>
              <a:rPr lang="en-US" altLang="zh-CN"/>
            </a:br>
            <a:r>
              <a:rPr lang="en-US" altLang="zh-CN"/>
              <a:t>Lisp</a:t>
            </a:r>
            <a:r>
              <a:rPr lang="zh-CN" altLang="en-US"/>
              <a:t>、</a:t>
            </a:r>
            <a:r>
              <a:rPr lang="en-US" altLang="zh-CN"/>
              <a:t>APL</a:t>
            </a:r>
            <a:r>
              <a:rPr lang="zh-CN" altLang="en-US"/>
              <a:t>、</a:t>
            </a:r>
            <a:r>
              <a:rPr lang="en-US" altLang="zh-CN"/>
              <a:t>Snobol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4691D39-12B0-433F-9180-113E83817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7.4.1  </a:t>
            </a:r>
            <a:r>
              <a:rPr lang="zh-CN" altLang="en-US"/>
              <a:t>程序块（</a:t>
            </a:r>
            <a:r>
              <a:rPr lang="en-US" altLang="zh-CN">
                <a:solidFill>
                  <a:srgbClr val="FF3300"/>
                </a:solidFill>
              </a:rPr>
              <a:t>block</a:t>
            </a:r>
            <a:r>
              <a:rPr lang="zh-CN" altLang="en-US"/>
              <a:t>）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776E364-E950-4E40-B553-6333995DB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语句块＋它的局部数据声明</a:t>
            </a:r>
            <a:br>
              <a:rPr lang="zh-CN" altLang="en-US"/>
            </a:br>
            <a:r>
              <a:rPr lang="en-US" altLang="zh-CN"/>
              <a:t>{ </a:t>
            </a:r>
            <a:r>
              <a:rPr lang="zh-CN" altLang="en-US"/>
              <a:t>声明	语句</a:t>
            </a:r>
            <a:r>
              <a:rPr lang="en-US" altLang="zh-CN"/>
              <a:t>}</a:t>
            </a:r>
          </a:p>
          <a:p>
            <a:pPr eaLnBrk="1" hangingPunct="1"/>
            <a:r>
              <a:rPr lang="zh-CN" altLang="en-US"/>
              <a:t>特性：嵌套结构、不会交叉</a:t>
            </a:r>
          </a:p>
          <a:p>
            <a:pPr eaLnBrk="1" hangingPunct="1"/>
            <a:r>
              <a:rPr lang="zh-CN" altLang="en-US"/>
              <a:t>“最近嵌套规则”，</a:t>
            </a:r>
            <a:r>
              <a:rPr lang="en-US" altLang="zh-CN">
                <a:solidFill>
                  <a:srgbClr val="FF3300"/>
                </a:solidFill>
              </a:rPr>
              <a:t>most closely nested rule</a:t>
            </a:r>
          </a:p>
          <a:p>
            <a:pPr lvl="1" eaLnBrk="1" hangingPunct="1"/>
            <a:r>
              <a:rPr lang="zh-CN" altLang="en-US"/>
              <a:t>对于块</a:t>
            </a:r>
            <a:r>
              <a:rPr lang="en-US" altLang="zh-CN"/>
              <a:t>B</a:t>
            </a:r>
            <a:r>
              <a:rPr lang="zh-CN" altLang="en-US"/>
              <a:t>中的声明，其作用域包括</a:t>
            </a:r>
            <a:r>
              <a:rPr lang="en-US" altLang="zh-CN"/>
              <a:t>B</a:t>
            </a:r>
          </a:p>
          <a:p>
            <a:pPr lvl="1" eaLnBrk="1" hangingPunct="1"/>
            <a:r>
              <a:rPr lang="zh-CN" altLang="en-US"/>
              <a:t>块</a:t>
            </a:r>
            <a:r>
              <a:rPr lang="en-US" altLang="zh-CN"/>
              <a:t>B</a:t>
            </a:r>
            <a:r>
              <a:rPr lang="zh-CN" altLang="en-US"/>
              <a:t>中未声明名字</a:t>
            </a:r>
            <a:r>
              <a:rPr lang="en-US" altLang="zh-CN"/>
              <a:t>x</a:t>
            </a:r>
            <a:r>
              <a:rPr lang="zh-CN" altLang="en-US"/>
              <a:t>，则</a:t>
            </a:r>
            <a:r>
              <a:rPr lang="en-US" altLang="zh-CN"/>
              <a:t>B</a:t>
            </a:r>
            <a:r>
              <a:rPr lang="zh-CN" altLang="en-US"/>
              <a:t>中对</a:t>
            </a:r>
            <a:r>
              <a:rPr lang="en-US" altLang="zh-CN"/>
              <a:t>x</a:t>
            </a:r>
            <a:r>
              <a:rPr lang="zh-CN" altLang="en-US"/>
              <a:t>的引用由某个外层块</a:t>
            </a:r>
            <a:r>
              <a:rPr lang="en-US" altLang="zh-CN"/>
              <a:t>B’</a:t>
            </a:r>
            <a:r>
              <a:rPr lang="zh-CN" altLang="en-US"/>
              <a:t>中</a:t>
            </a:r>
            <a:r>
              <a:rPr lang="en-US" altLang="zh-CN"/>
              <a:t>x</a:t>
            </a:r>
            <a:r>
              <a:rPr lang="zh-CN" altLang="en-US"/>
              <a:t>的声明所确定，</a:t>
            </a:r>
            <a:r>
              <a:rPr lang="en-US" altLang="zh-CN"/>
              <a:t>B’</a:t>
            </a:r>
            <a:r>
              <a:rPr lang="zh-CN" altLang="en-US"/>
              <a:t>满足：</a:t>
            </a:r>
          </a:p>
          <a:p>
            <a:pPr lvl="2" eaLnBrk="1" hangingPunct="1"/>
            <a:r>
              <a:rPr lang="zh-CN" altLang="en-US"/>
              <a:t>在包围</a:t>
            </a:r>
            <a:r>
              <a:rPr lang="en-US" altLang="zh-CN"/>
              <a:t>B</a:t>
            </a:r>
            <a:r>
              <a:rPr lang="zh-CN" altLang="en-US"/>
              <a:t>的，且有</a:t>
            </a:r>
            <a:r>
              <a:rPr lang="en-US" altLang="zh-CN"/>
              <a:t>x</a:t>
            </a:r>
            <a:r>
              <a:rPr lang="zh-CN" altLang="en-US"/>
              <a:t>的声明的外层块中，</a:t>
            </a:r>
            <a:r>
              <a:rPr lang="en-US" altLang="zh-CN"/>
              <a:t>B’</a:t>
            </a:r>
            <a:r>
              <a:rPr lang="zh-CN" altLang="en-US"/>
              <a:t>是距离</a:t>
            </a:r>
            <a:r>
              <a:rPr lang="en-US" altLang="zh-CN"/>
              <a:t>B</a:t>
            </a:r>
            <a:r>
              <a:rPr lang="zh-CN" altLang="en-US"/>
              <a:t>最近的那个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F682172-70B6-4D46-BA21-03CC33E93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嵌套块作用域示例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36A4C6C-0551-41E9-B85A-6E30464F7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54102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main()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int a = 0;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int b = 0;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{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int b = 1;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{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int a = 2;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printf(“%d %d\n”, a, b);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}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{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int b = 3;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printf(“%d %d\n”, a, b);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}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printf(“%d %d\n”, a, b);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printf(“%d %d\n”, a, b);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</a:p>
        </p:txBody>
      </p:sp>
      <p:sp>
        <p:nvSpPr>
          <p:cNvPr id="44036" name="Line 4">
            <a:extLst>
              <a:ext uri="{FF2B5EF4-FFF2-40B4-BE49-F238E27FC236}">
                <a16:creationId xmlns:a16="http://schemas.microsoft.com/office/drawing/2014/main" id="{9A904A59-F98B-48F9-98A7-F770B128CBA5}"/>
              </a:ext>
            </a:extLst>
          </p:cNvPr>
          <p:cNvSpPr>
            <a:spLocks noChangeShapeType="1"/>
          </p:cNvSpPr>
          <p:nvPr/>
        </p:nvSpPr>
        <p:spPr bwMode="ltGray">
          <a:xfrm>
            <a:off x="950913" y="2057400"/>
            <a:ext cx="0" cy="4419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Line 5">
            <a:extLst>
              <a:ext uri="{FF2B5EF4-FFF2-40B4-BE49-F238E27FC236}">
                <a16:creationId xmlns:a16="http://schemas.microsoft.com/office/drawing/2014/main" id="{75EF434A-2483-4102-87C3-AB940C5B5A37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255713" y="2895600"/>
            <a:ext cx="0" cy="29718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Line 6">
            <a:extLst>
              <a:ext uri="{FF2B5EF4-FFF2-40B4-BE49-F238E27FC236}">
                <a16:creationId xmlns:a16="http://schemas.microsoft.com/office/drawing/2014/main" id="{6DA501BB-624E-415C-8053-B00A7D9FCDB2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865313" y="3505200"/>
            <a:ext cx="0" cy="5334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Line 7">
            <a:extLst>
              <a:ext uri="{FF2B5EF4-FFF2-40B4-BE49-F238E27FC236}">
                <a16:creationId xmlns:a16="http://schemas.microsoft.com/office/drawing/2014/main" id="{DE1A7A11-E5F8-42F9-8987-C13D90D62709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865313" y="4724400"/>
            <a:ext cx="0" cy="609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0C64F446-8DEB-450B-8FBA-765567C9BB3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98513" y="3733800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5BDDD27A-CB22-4D83-AF93-10F72EBE2A4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03313" y="4054475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2" name="Text Box 10">
            <a:extLst>
              <a:ext uri="{FF2B5EF4-FFF2-40B4-BE49-F238E27FC236}">
                <a16:creationId xmlns:a16="http://schemas.microsoft.com/office/drawing/2014/main" id="{511E0EB0-F680-470A-AEB7-0D28A72A526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712913" y="3581400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3" name="Text Box 11">
            <a:extLst>
              <a:ext uri="{FF2B5EF4-FFF2-40B4-BE49-F238E27FC236}">
                <a16:creationId xmlns:a16="http://schemas.microsoft.com/office/drawing/2014/main" id="{CC230544-9EBA-4EF7-BAFF-11833046B77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712913" y="4800600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4" name="Text Box 12">
            <a:extLst>
              <a:ext uri="{FF2B5EF4-FFF2-40B4-BE49-F238E27FC236}">
                <a16:creationId xmlns:a16="http://schemas.microsoft.com/office/drawing/2014/main" id="{F6C02459-25EC-43C5-9807-59A7FC22FB1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800600" y="1371600"/>
            <a:ext cx="3733800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声明</a:t>
            </a:r>
            <a:r>
              <a:rPr lang="zh-CN" altLang="en-US" sz="2400">
                <a:latin typeface="Tahoma" panose="020B0604030504040204" pitchFamily="34" charset="0"/>
              </a:rPr>
              <a:t>		    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作用域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a = 0;            B</a:t>
            </a:r>
            <a:r>
              <a:rPr lang="en-US" altLang="zh-CN" sz="2400" baseline="-25000">
                <a:latin typeface="Tahoma" panose="020B0604030504040204" pitchFamily="34" charset="0"/>
              </a:rPr>
              <a:t>0</a:t>
            </a:r>
            <a:r>
              <a:rPr lang="en-US" altLang="zh-CN" sz="2400">
                <a:latin typeface="Tahoma" panose="020B0604030504040204" pitchFamily="34" charset="0"/>
              </a:rPr>
              <a:t>-B</a:t>
            </a:r>
            <a:r>
              <a:rPr lang="en-US" altLang="zh-CN" sz="2400" baseline="-25000">
                <a:latin typeface="Tahoma" panose="020B0604030504040204" pitchFamily="34" charset="0"/>
              </a:rPr>
              <a:t>2</a:t>
            </a: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b = 0;            B</a:t>
            </a:r>
            <a:r>
              <a:rPr lang="en-US" altLang="zh-CN" sz="2400" baseline="-25000">
                <a:latin typeface="Tahoma" panose="020B0604030504040204" pitchFamily="34" charset="0"/>
              </a:rPr>
              <a:t>0</a:t>
            </a:r>
            <a:r>
              <a:rPr lang="en-US" altLang="zh-CN" sz="2400">
                <a:latin typeface="Tahoma" panose="020B0604030504040204" pitchFamily="34" charset="0"/>
              </a:rPr>
              <a:t>-B</a:t>
            </a:r>
            <a:r>
              <a:rPr lang="en-US" altLang="zh-CN" sz="2400" baseline="-250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b = 1;            B</a:t>
            </a:r>
            <a:r>
              <a:rPr lang="en-US" altLang="zh-CN" sz="2400" baseline="-25000">
                <a:latin typeface="Tahoma" panose="020B0604030504040204" pitchFamily="34" charset="0"/>
              </a:rPr>
              <a:t>1</a:t>
            </a:r>
            <a:r>
              <a:rPr lang="en-US" altLang="zh-CN" sz="2400">
                <a:latin typeface="Tahoma" panose="020B0604030504040204" pitchFamily="34" charset="0"/>
              </a:rPr>
              <a:t>-B</a:t>
            </a:r>
            <a:r>
              <a:rPr lang="en-US" altLang="zh-CN" sz="2400" baseline="-250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a = 2; 		B</a:t>
            </a:r>
            <a:r>
              <a:rPr lang="en-US" altLang="zh-CN" sz="2400" baseline="-250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b = 3; 		B</a:t>
            </a:r>
            <a:r>
              <a:rPr lang="en-US" altLang="zh-CN" sz="2400" baseline="-250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1997" name="Text Box 13">
            <a:extLst>
              <a:ext uri="{FF2B5EF4-FFF2-40B4-BE49-F238E27FC236}">
                <a16:creationId xmlns:a16="http://schemas.microsoft.com/office/drawing/2014/main" id="{EA9454F5-B8D9-4825-9596-C8787FEA4D2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248400" y="3886200"/>
            <a:ext cx="18288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运行结果</a:t>
            </a: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2	1</a:t>
            </a: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0	3</a:t>
            </a: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0	1</a:t>
            </a: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0	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129944E-17AE-4944-B0FE-D4285AFED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实现方法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1C42A66-9C3B-4D07-855A-2DF7AD17F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栈实现，将块看作无参过程，进入块时为局部变量分配空间，退出时释放</a:t>
            </a:r>
          </a:p>
          <a:p>
            <a:pPr eaLnBrk="1" hangingPunct="1"/>
            <a:r>
              <a:rPr lang="zh-CN" altLang="en-US" dirty="0"/>
              <a:t>为过程中所有块</a:t>
            </a:r>
            <a:r>
              <a:rPr lang="zh-CN" altLang="en-US"/>
              <a:t>一起分配内存</a:t>
            </a:r>
            <a:endParaRPr lang="zh-CN" altLang="en-US" dirty="0"/>
          </a:p>
        </p:txBody>
      </p:sp>
      <p:pic>
        <p:nvPicPr>
          <p:cNvPr id="45060" name="Picture 4" descr="nest">
            <a:extLst>
              <a:ext uri="{FF2B5EF4-FFF2-40B4-BE49-F238E27FC236}">
                <a16:creationId xmlns:a16="http://schemas.microsoft.com/office/drawing/2014/main" id="{9D2FD4A0-AB8A-4BEF-8642-33C249C0B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481" y="3167953"/>
            <a:ext cx="1951038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4FBE2BC-CFA7-46E4-B63E-DF04CC0AC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7.4.2  </a:t>
            </a:r>
            <a:r>
              <a:rPr lang="zh-CN" altLang="en-US"/>
              <a:t>无过程嵌套的静态作用域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3B709CA-76DC-429A-AEEB-520299F99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</a:t>
            </a:r>
          </a:p>
          <a:p>
            <a:pPr eaLnBrk="1" hangingPunct="1"/>
            <a:r>
              <a:rPr lang="zh-CN" altLang="en-US"/>
              <a:t>局部名字</a:t>
            </a:r>
            <a:r>
              <a:rPr lang="en-US" altLang="zh-CN"/>
              <a:t>——</a:t>
            </a:r>
            <a:r>
              <a:rPr lang="zh-CN" altLang="en-US"/>
              <a:t>栈</a:t>
            </a:r>
          </a:p>
          <a:p>
            <a:pPr eaLnBrk="1" hangingPunct="1"/>
            <a:r>
              <a:rPr lang="zh-CN" altLang="en-US"/>
              <a:t>任何过程之外的名字</a:t>
            </a:r>
            <a:r>
              <a:rPr lang="en-US" altLang="zh-CN"/>
              <a:t>——</a:t>
            </a:r>
            <a:r>
              <a:rPr lang="zh-CN" altLang="en-US"/>
              <a:t>静态分配</a:t>
            </a:r>
          </a:p>
          <a:p>
            <a:pPr eaLnBrk="1" hangingPunct="1"/>
            <a:r>
              <a:rPr lang="zh-CN" altLang="en-US"/>
              <a:t>非局部</a:t>
            </a:r>
            <a:r>
              <a:rPr lang="en-US" altLang="zh-CN"/>
              <a:t>——</a:t>
            </a:r>
            <a:r>
              <a:rPr lang="zh-CN" altLang="en-US"/>
              <a:t>全局概念</a:t>
            </a:r>
          </a:p>
          <a:p>
            <a:pPr eaLnBrk="1" hangingPunct="1"/>
            <a:r>
              <a:rPr lang="zh-CN" altLang="en-US"/>
              <a:t>过程可作为参数和返回值</a:t>
            </a:r>
            <a:r>
              <a:rPr lang="zh-CN" altLang="en-US">
                <a:sym typeface="Wingdings" panose="05000000000000000000" pitchFamily="2" charset="2"/>
              </a:rPr>
              <a:t>非局部名字都可用静态地址访问到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8A3547A-0445-4FAE-B9D7-BA11B3F54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过程作为参数</a:t>
            </a:r>
            <a:r>
              <a:rPr lang="en-US" altLang="zh-CN"/>
              <a:t>——</a:t>
            </a:r>
            <a:r>
              <a:rPr lang="zh-CN" altLang="en-US"/>
              <a:t>无嵌套情况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0AB6C88-6ADB-4D82-AB3E-3EF77DC46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program pass(input, output);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var 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function f(n : integer)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 	f := 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+ n end;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function g(n : integer)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	g := 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* n end;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procedure b(function h(n : integer) : integer);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	write(h(2)) end;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:=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b(f); b(g); writeln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end.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6281F4DB-DDB9-4FAF-B535-142EA66283E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638800" y="5562600"/>
            <a:ext cx="22098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运行结果：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2	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4EACFFC-2A26-4BBA-B9C2-606E99526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7.4.3  </a:t>
            </a:r>
            <a:r>
              <a:rPr lang="zh-CN" altLang="en-US" sz="4000"/>
              <a:t>包含过程嵌套的静态作用域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669B432-EA08-4982-89CA-DC6ED8AE3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Pascal</a:t>
            </a:r>
            <a:r>
              <a:rPr lang="zh-CN" altLang="en-US"/>
              <a:t>，最近嵌套规则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program sort(input, output);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var a : array[0..10] of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    x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procedure readarray;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var i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begin … a … end {readarray};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procedure exchange(i, j : integer);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begin x:=a[i];a[i]:=a[j];a[j]:=x end {exchange};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procedure quicksort(m, n : integer);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var k, v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function partition(y, z : integer)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var i, j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begin …a…  …v…  end {partition};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begin … end {quicksort};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begin … end {sort}.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021625A-DE76-4C8F-BE40-44D1DD623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嵌套深度（</a:t>
            </a:r>
            <a:r>
              <a:rPr lang="en-US" altLang="zh-CN">
                <a:solidFill>
                  <a:srgbClr val="FF3300"/>
                </a:solidFill>
              </a:rPr>
              <a:t>nesting depth</a:t>
            </a:r>
            <a:r>
              <a:rPr lang="zh-CN" altLang="en-US"/>
              <a:t>）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24AA414-D264-43A7-85BC-EA138FF05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sort				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readarray		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exchange		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quicksort		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	partition		3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028DE83-75E3-4DB9-85CD-DFF996D0F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访问链接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79C4FB3-51F9-45D3-85DD-B1EB631C2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</a:t>
            </a:r>
            <a:r>
              <a:rPr lang="zh-CN" altLang="en-US"/>
              <a:t>直接嵌套在</a:t>
            </a:r>
            <a:r>
              <a:rPr lang="en-US" altLang="zh-CN"/>
              <a:t>q</a:t>
            </a:r>
            <a:r>
              <a:rPr lang="zh-CN" altLang="en-US"/>
              <a:t>内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的访问链接指向</a:t>
            </a:r>
            <a:r>
              <a:rPr lang="en-US" altLang="zh-CN">
                <a:sym typeface="Wingdings" panose="05000000000000000000" pitchFamily="2" charset="2"/>
              </a:rPr>
              <a:t>q</a:t>
            </a:r>
            <a:r>
              <a:rPr lang="zh-CN" altLang="en-US">
                <a:sym typeface="Wingdings" panose="05000000000000000000" pitchFamily="2" charset="2"/>
              </a:rPr>
              <a:t>的最近一次活动记录内的访问链接</a:t>
            </a:r>
            <a:endParaRPr lang="zh-CN" altLang="en-US"/>
          </a:p>
        </p:txBody>
      </p:sp>
      <p:pic>
        <p:nvPicPr>
          <p:cNvPr id="50180" name="Picture 4" descr="accesslink">
            <a:extLst>
              <a:ext uri="{FF2B5EF4-FFF2-40B4-BE49-F238E27FC236}">
                <a16:creationId xmlns:a16="http://schemas.microsoft.com/office/drawing/2014/main" id="{45546807-19C2-4FC1-9E20-659247A5C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528888"/>
            <a:ext cx="635952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Freeform 5">
            <a:extLst>
              <a:ext uri="{FF2B5EF4-FFF2-40B4-BE49-F238E27FC236}">
                <a16:creationId xmlns:a16="http://schemas.microsoft.com/office/drawing/2014/main" id="{05B0F3BB-C83D-4910-902C-569AAE852163}"/>
              </a:ext>
            </a:extLst>
          </p:cNvPr>
          <p:cNvSpPr>
            <a:spLocks/>
          </p:cNvSpPr>
          <p:nvPr/>
        </p:nvSpPr>
        <p:spPr bwMode="ltGray">
          <a:xfrm>
            <a:off x="2476500" y="3095625"/>
            <a:ext cx="454025" cy="717550"/>
          </a:xfrm>
          <a:custGeom>
            <a:avLst/>
            <a:gdLst>
              <a:gd name="T0" fmla="*/ 0 w 286"/>
              <a:gd name="T1" fmla="*/ 2147483646 h 452"/>
              <a:gd name="T2" fmla="*/ 2147483646 w 286"/>
              <a:gd name="T3" fmla="*/ 2147483646 h 452"/>
              <a:gd name="T4" fmla="*/ 2147483646 w 286"/>
              <a:gd name="T5" fmla="*/ 2147483646 h 452"/>
              <a:gd name="T6" fmla="*/ 2147483646 w 286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86"/>
              <a:gd name="T13" fmla="*/ 0 h 452"/>
              <a:gd name="T14" fmla="*/ 286 w 286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6" h="452">
                <a:moveTo>
                  <a:pt x="0" y="451"/>
                </a:moveTo>
                <a:cubicBezTo>
                  <a:pt x="41" y="441"/>
                  <a:pt x="210" y="452"/>
                  <a:pt x="248" y="389"/>
                </a:cubicBezTo>
                <a:cubicBezTo>
                  <a:pt x="286" y="326"/>
                  <a:pt x="268" y="135"/>
                  <a:pt x="230" y="70"/>
                </a:cubicBezTo>
                <a:cubicBezTo>
                  <a:pt x="192" y="5"/>
                  <a:pt x="62" y="15"/>
                  <a:pt x="17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2" name="Freeform 6">
            <a:extLst>
              <a:ext uri="{FF2B5EF4-FFF2-40B4-BE49-F238E27FC236}">
                <a16:creationId xmlns:a16="http://schemas.microsoft.com/office/drawing/2014/main" id="{7CB095BE-BE2C-4B54-A1F7-731EF97E80D9}"/>
              </a:ext>
            </a:extLst>
          </p:cNvPr>
          <p:cNvSpPr>
            <a:spLocks/>
          </p:cNvSpPr>
          <p:nvPr/>
        </p:nvSpPr>
        <p:spPr bwMode="ltGray">
          <a:xfrm>
            <a:off x="4233863" y="3122613"/>
            <a:ext cx="349250" cy="717550"/>
          </a:xfrm>
          <a:custGeom>
            <a:avLst/>
            <a:gdLst>
              <a:gd name="T0" fmla="*/ 0 w 220"/>
              <a:gd name="T1" fmla="*/ 2147483646 h 452"/>
              <a:gd name="T2" fmla="*/ 2147483646 w 220"/>
              <a:gd name="T3" fmla="*/ 2147483646 h 452"/>
              <a:gd name="T4" fmla="*/ 2147483646 w 220"/>
              <a:gd name="T5" fmla="*/ 2147483646 h 452"/>
              <a:gd name="T6" fmla="*/ 2147483646 w 220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452"/>
              <a:gd name="T14" fmla="*/ 220 w 220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452">
                <a:moveTo>
                  <a:pt x="0" y="434"/>
                </a:moveTo>
                <a:cubicBezTo>
                  <a:pt x="31" y="429"/>
                  <a:pt x="154" y="452"/>
                  <a:pt x="186" y="399"/>
                </a:cubicBezTo>
                <a:cubicBezTo>
                  <a:pt x="218" y="346"/>
                  <a:pt x="220" y="181"/>
                  <a:pt x="195" y="115"/>
                </a:cubicBezTo>
                <a:cubicBezTo>
                  <a:pt x="170" y="49"/>
                  <a:pt x="69" y="24"/>
                  <a:pt x="3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3" name="Freeform 7">
            <a:extLst>
              <a:ext uri="{FF2B5EF4-FFF2-40B4-BE49-F238E27FC236}">
                <a16:creationId xmlns:a16="http://schemas.microsoft.com/office/drawing/2014/main" id="{C58EA600-E548-4314-A14E-1A7326BB7ECB}"/>
              </a:ext>
            </a:extLst>
          </p:cNvPr>
          <p:cNvSpPr>
            <a:spLocks/>
          </p:cNvSpPr>
          <p:nvPr/>
        </p:nvSpPr>
        <p:spPr bwMode="ltGray">
          <a:xfrm>
            <a:off x="4262438" y="3051175"/>
            <a:ext cx="636587" cy="1708150"/>
          </a:xfrm>
          <a:custGeom>
            <a:avLst/>
            <a:gdLst>
              <a:gd name="T0" fmla="*/ 0 w 401"/>
              <a:gd name="T1" fmla="*/ 2147483646 h 1076"/>
              <a:gd name="T2" fmla="*/ 2147483646 w 401"/>
              <a:gd name="T3" fmla="*/ 2147483646 h 1076"/>
              <a:gd name="T4" fmla="*/ 2147483646 w 401"/>
              <a:gd name="T5" fmla="*/ 2147483646 h 1076"/>
              <a:gd name="T6" fmla="*/ 2147483646 w 401"/>
              <a:gd name="T7" fmla="*/ 2147483646 h 1076"/>
              <a:gd name="T8" fmla="*/ 0 60000 65536"/>
              <a:gd name="T9" fmla="*/ 0 60000 65536"/>
              <a:gd name="T10" fmla="*/ 0 60000 65536"/>
              <a:gd name="T11" fmla="*/ 0 60000 65536"/>
              <a:gd name="T12" fmla="*/ 0 w 401"/>
              <a:gd name="T13" fmla="*/ 0 h 1076"/>
              <a:gd name="T14" fmla="*/ 401 w 401"/>
              <a:gd name="T15" fmla="*/ 1076 h 10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" h="1076">
                <a:moveTo>
                  <a:pt x="0" y="1020"/>
                </a:moveTo>
                <a:cubicBezTo>
                  <a:pt x="58" y="1005"/>
                  <a:pt x="291" y="1076"/>
                  <a:pt x="346" y="931"/>
                </a:cubicBezTo>
                <a:cubicBezTo>
                  <a:pt x="401" y="786"/>
                  <a:pt x="383" y="304"/>
                  <a:pt x="328" y="152"/>
                </a:cubicBezTo>
                <a:cubicBezTo>
                  <a:pt x="273" y="0"/>
                  <a:pt x="83" y="47"/>
                  <a:pt x="18" y="1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4" name="Freeform 10">
            <a:extLst>
              <a:ext uri="{FF2B5EF4-FFF2-40B4-BE49-F238E27FC236}">
                <a16:creationId xmlns:a16="http://schemas.microsoft.com/office/drawing/2014/main" id="{651FDD0C-E20A-4062-A8AB-03C88ECF08EA}"/>
              </a:ext>
            </a:extLst>
          </p:cNvPr>
          <p:cNvSpPr>
            <a:spLocks/>
          </p:cNvSpPr>
          <p:nvPr/>
        </p:nvSpPr>
        <p:spPr bwMode="ltGray">
          <a:xfrm>
            <a:off x="6048375" y="4757738"/>
            <a:ext cx="376238" cy="793750"/>
          </a:xfrm>
          <a:custGeom>
            <a:avLst/>
            <a:gdLst>
              <a:gd name="T0" fmla="*/ 0 w 237"/>
              <a:gd name="T1" fmla="*/ 2147483646 h 500"/>
              <a:gd name="T2" fmla="*/ 2147483646 w 237"/>
              <a:gd name="T3" fmla="*/ 2147483646 h 500"/>
              <a:gd name="T4" fmla="*/ 2147483646 w 237"/>
              <a:gd name="T5" fmla="*/ 2147483646 h 500"/>
              <a:gd name="T6" fmla="*/ 0 w 237"/>
              <a:gd name="T7" fmla="*/ 2147483646 h 500"/>
              <a:gd name="T8" fmla="*/ 0 60000 65536"/>
              <a:gd name="T9" fmla="*/ 0 60000 65536"/>
              <a:gd name="T10" fmla="*/ 0 60000 65536"/>
              <a:gd name="T11" fmla="*/ 0 60000 65536"/>
              <a:gd name="T12" fmla="*/ 0 w 237"/>
              <a:gd name="T13" fmla="*/ 0 h 500"/>
              <a:gd name="T14" fmla="*/ 237 w 237"/>
              <a:gd name="T15" fmla="*/ 500 h 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7" h="500">
                <a:moveTo>
                  <a:pt x="0" y="477"/>
                </a:moveTo>
                <a:cubicBezTo>
                  <a:pt x="32" y="468"/>
                  <a:pt x="171" y="500"/>
                  <a:pt x="204" y="432"/>
                </a:cubicBezTo>
                <a:cubicBezTo>
                  <a:pt x="237" y="364"/>
                  <a:pt x="229" y="138"/>
                  <a:pt x="195" y="69"/>
                </a:cubicBezTo>
                <a:cubicBezTo>
                  <a:pt x="161" y="0"/>
                  <a:pt x="41" y="27"/>
                  <a:pt x="0" y="1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5" name="Freeform 17">
            <a:extLst>
              <a:ext uri="{FF2B5EF4-FFF2-40B4-BE49-F238E27FC236}">
                <a16:creationId xmlns:a16="http://schemas.microsoft.com/office/drawing/2014/main" id="{FB9E7CBF-9EC3-4528-BC58-50C01CF6E6BE}"/>
              </a:ext>
            </a:extLst>
          </p:cNvPr>
          <p:cNvSpPr>
            <a:spLocks/>
          </p:cNvSpPr>
          <p:nvPr/>
        </p:nvSpPr>
        <p:spPr bwMode="ltGray">
          <a:xfrm>
            <a:off x="7807325" y="2868613"/>
            <a:ext cx="985838" cy="3676650"/>
          </a:xfrm>
          <a:custGeom>
            <a:avLst/>
            <a:gdLst>
              <a:gd name="T0" fmla="*/ 0 w 621"/>
              <a:gd name="T1" fmla="*/ 2147483646 h 2316"/>
              <a:gd name="T2" fmla="*/ 2147483646 w 621"/>
              <a:gd name="T3" fmla="*/ 2147483646 h 2316"/>
              <a:gd name="T4" fmla="*/ 2147483646 w 621"/>
              <a:gd name="T5" fmla="*/ 2147483646 h 2316"/>
              <a:gd name="T6" fmla="*/ 2147483646 w 621"/>
              <a:gd name="T7" fmla="*/ 2147483646 h 2316"/>
              <a:gd name="T8" fmla="*/ 0 60000 65536"/>
              <a:gd name="T9" fmla="*/ 0 60000 65536"/>
              <a:gd name="T10" fmla="*/ 0 60000 65536"/>
              <a:gd name="T11" fmla="*/ 0 60000 65536"/>
              <a:gd name="T12" fmla="*/ 0 w 621"/>
              <a:gd name="T13" fmla="*/ 0 h 2316"/>
              <a:gd name="T14" fmla="*/ 621 w 621"/>
              <a:gd name="T15" fmla="*/ 2316 h 23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1" h="2316">
                <a:moveTo>
                  <a:pt x="0" y="2190"/>
                </a:moveTo>
                <a:cubicBezTo>
                  <a:pt x="89" y="2159"/>
                  <a:pt x="443" y="2316"/>
                  <a:pt x="532" y="2003"/>
                </a:cubicBezTo>
                <a:cubicBezTo>
                  <a:pt x="621" y="1690"/>
                  <a:pt x="616" y="620"/>
                  <a:pt x="532" y="310"/>
                </a:cubicBezTo>
                <a:cubicBezTo>
                  <a:pt x="448" y="0"/>
                  <a:pt x="132" y="177"/>
                  <a:pt x="27" y="1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6" name="Freeform 18">
            <a:extLst>
              <a:ext uri="{FF2B5EF4-FFF2-40B4-BE49-F238E27FC236}">
                <a16:creationId xmlns:a16="http://schemas.microsoft.com/office/drawing/2014/main" id="{E80FA156-0770-4AA5-A918-F62660CE8684}"/>
              </a:ext>
            </a:extLst>
          </p:cNvPr>
          <p:cNvSpPr>
            <a:spLocks/>
          </p:cNvSpPr>
          <p:nvPr/>
        </p:nvSpPr>
        <p:spPr bwMode="ltGray">
          <a:xfrm>
            <a:off x="5991225" y="3119438"/>
            <a:ext cx="349250" cy="717550"/>
          </a:xfrm>
          <a:custGeom>
            <a:avLst/>
            <a:gdLst>
              <a:gd name="T0" fmla="*/ 0 w 220"/>
              <a:gd name="T1" fmla="*/ 2147483646 h 452"/>
              <a:gd name="T2" fmla="*/ 2147483646 w 220"/>
              <a:gd name="T3" fmla="*/ 2147483646 h 452"/>
              <a:gd name="T4" fmla="*/ 2147483646 w 220"/>
              <a:gd name="T5" fmla="*/ 2147483646 h 452"/>
              <a:gd name="T6" fmla="*/ 2147483646 w 220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452"/>
              <a:gd name="T14" fmla="*/ 220 w 220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452">
                <a:moveTo>
                  <a:pt x="0" y="434"/>
                </a:moveTo>
                <a:cubicBezTo>
                  <a:pt x="31" y="429"/>
                  <a:pt x="154" y="452"/>
                  <a:pt x="186" y="399"/>
                </a:cubicBezTo>
                <a:cubicBezTo>
                  <a:pt x="218" y="346"/>
                  <a:pt x="220" y="181"/>
                  <a:pt x="195" y="115"/>
                </a:cubicBezTo>
                <a:cubicBezTo>
                  <a:pt x="170" y="49"/>
                  <a:pt x="69" y="24"/>
                  <a:pt x="3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7" name="Freeform 19">
            <a:extLst>
              <a:ext uri="{FF2B5EF4-FFF2-40B4-BE49-F238E27FC236}">
                <a16:creationId xmlns:a16="http://schemas.microsoft.com/office/drawing/2014/main" id="{974A84B2-DE11-4628-A406-B04EF7DD0A38}"/>
              </a:ext>
            </a:extLst>
          </p:cNvPr>
          <p:cNvSpPr>
            <a:spLocks/>
          </p:cNvSpPr>
          <p:nvPr/>
        </p:nvSpPr>
        <p:spPr bwMode="ltGray">
          <a:xfrm>
            <a:off x="6019800" y="3048000"/>
            <a:ext cx="636588" cy="1708150"/>
          </a:xfrm>
          <a:custGeom>
            <a:avLst/>
            <a:gdLst>
              <a:gd name="T0" fmla="*/ 0 w 401"/>
              <a:gd name="T1" fmla="*/ 2147483646 h 1076"/>
              <a:gd name="T2" fmla="*/ 2147483646 w 401"/>
              <a:gd name="T3" fmla="*/ 2147483646 h 1076"/>
              <a:gd name="T4" fmla="*/ 2147483646 w 401"/>
              <a:gd name="T5" fmla="*/ 2147483646 h 1076"/>
              <a:gd name="T6" fmla="*/ 2147483646 w 401"/>
              <a:gd name="T7" fmla="*/ 2147483646 h 1076"/>
              <a:gd name="T8" fmla="*/ 0 60000 65536"/>
              <a:gd name="T9" fmla="*/ 0 60000 65536"/>
              <a:gd name="T10" fmla="*/ 0 60000 65536"/>
              <a:gd name="T11" fmla="*/ 0 60000 65536"/>
              <a:gd name="T12" fmla="*/ 0 w 401"/>
              <a:gd name="T13" fmla="*/ 0 h 1076"/>
              <a:gd name="T14" fmla="*/ 401 w 401"/>
              <a:gd name="T15" fmla="*/ 1076 h 10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" h="1076">
                <a:moveTo>
                  <a:pt x="0" y="1020"/>
                </a:moveTo>
                <a:cubicBezTo>
                  <a:pt x="58" y="1005"/>
                  <a:pt x="291" y="1076"/>
                  <a:pt x="346" y="931"/>
                </a:cubicBezTo>
                <a:cubicBezTo>
                  <a:pt x="401" y="786"/>
                  <a:pt x="383" y="304"/>
                  <a:pt x="328" y="152"/>
                </a:cubicBezTo>
                <a:cubicBezTo>
                  <a:pt x="273" y="0"/>
                  <a:pt x="83" y="47"/>
                  <a:pt x="18" y="1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8" name="Freeform 20">
            <a:extLst>
              <a:ext uri="{FF2B5EF4-FFF2-40B4-BE49-F238E27FC236}">
                <a16:creationId xmlns:a16="http://schemas.microsoft.com/office/drawing/2014/main" id="{9854D69B-FB50-4F05-A333-7990F3352E59}"/>
              </a:ext>
            </a:extLst>
          </p:cNvPr>
          <p:cNvSpPr>
            <a:spLocks/>
          </p:cNvSpPr>
          <p:nvPr/>
        </p:nvSpPr>
        <p:spPr bwMode="ltGray">
          <a:xfrm>
            <a:off x="7800975" y="4757738"/>
            <a:ext cx="376238" cy="793750"/>
          </a:xfrm>
          <a:custGeom>
            <a:avLst/>
            <a:gdLst>
              <a:gd name="T0" fmla="*/ 0 w 237"/>
              <a:gd name="T1" fmla="*/ 2147483646 h 500"/>
              <a:gd name="T2" fmla="*/ 2147483646 w 237"/>
              <a:gd name="T3" fmla="*/ 2147483646 h 500"/>
              <a:gd name="T4" fmla="*/ 2147483646 w 237"/>
              <a:gd name="T5" fmla="*/ 2147483646 h 500"/>
              <a:gd name="T6" fmla="*/ 0 w 237"/>
              <a:gd name="T7" fmla="*/ 2147483646 h 500"/>
              <a:gd name="T8" fmla="*/ 0 60000 65536"/>
              <a:gd name="T9" fmla="*/ 0 60000 65536"/>
              <a:gd name="T10" fmla="*/ 0 60000 65536"/>
              <a:gd name="T11" fmla="*/ 0 60000 65536"/>
              <a:gd name="T12" fmla="*/ 0 w 237"/>
              <a:gd name="T13" fmla="*/ 0 h 500"/>
              <a:gd name="T14" fmla="*/ 237 w 237"/>
              <a:gd name="T15" fmla="*/ 500 h 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7" h="500">
                <a:moveTo>
                  <a:pt x="0" y="477"/>
                </a:moveTo>
                <a:cubicBezTo>
                  <a:pt x="32" y="468"/>
                  <a:pt x="171" y="500"/>
                  <a:pt x="204" y="432"/>
                </a:cubicBezTo>
                <a:cubicBezTo>
                  <a:pt x="237" y="364"/>
                  <a:pt x="229" y="138"/>
                  <a:pt x="195" y="69"/>
                </a:cubicBezTo>
                <a:cubicBezTo>
                  <a:pt x="161" y="0"/>
                  <a:pt x="41" y="27"/>
                  <a:pt x="0" y="1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9" name="Freeform 21">
            <a:extLst>
              <a:ext uri="{FF2B5EF4-FFF2-40B4-BE49-F238E27FC236}">
                <a16:creationId xmlns:a16="http://schemas.microsoft.com/office/drawing/2014/main" id="{57BE5E4C-3EBA-4AF8-ADE8-2CEC7FDF06D9}"/>
              </a:ext>
            </a:extLst>
          </p:cNvPr>
          <p:cNvSpPr>
            <a:spLocks/>
          </p:cNvSpPr>
          <p:nvPr/>
        </p:nvSpPr>
        <p:spPr bwMode="ltGray">
          <a:xfrm>
            <a:off x="7743825" y="3119438"/>
            <a:ext cx="349250" cy="717550"/>
          </a:xfrm>
          <a:custGeom>
            <a:avLst/>
            <a:gdLst>
              <a:gd name="T0" fmla="*/ 0 w 220"/>
              <a:gd name="T1" fmla="*/ 2147483646 h 452"/>
              <a:gd name="T2" fmla="*/ 2147483646 w 220"/>
              <a:gd name="T3" fmla="*/ 2147483646 h 452"/>
              <a:gd name="T4" fmla="*/ 2147483646 w 220"/>
              <a:gd name="T5" fmla="*/ 2147483646 h 452"/>
              <a:gd name="T6" fmla="*/ 2147483646 w 220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452"/>
              <a:gd name="T14" fmla="*/ 220 w 220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452">
                <a:moveTo>
                  <a:pt x="0" y="434"/>
                </a:moveTo>
                <a:cubicBezTo>
                  <a:pt x="31" y="429"/>
                  <a:pt x="154" y="452"/>
                  <a:pt x="186" y="399"/>
                </a:cubicBezTo>
                <a:cubicBezTo>
                  <a:pt x="218" y="346"/>
                  <a:pt x="220" y="181"/>
                  <a:pt x="195" y="115"/>
                </a:cubicBezTo>
                <a:cubicBezTo>
                  <a:pt x="170" y="49"/>
                  <a:pt x="69" y="24"/>
                  <a:pt x="3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0" name="Freeform 22">
            <a:extLst>
              <a:ext uri="{FF2B5EF4-FFF2-40B4-BE49-F238E27FC236}">
                <a16:creationId xmlns:a16="http://schemas.microsoft.com/office/drawing/2014/main" id="{AA89F9E6-CC8F-493A-995F-B15F9051B1C5}"/>
              </a:ext>
            </a:extLst>
          </p:cNvPr>
          <p:cNvSpPr>
            <a:spLocks/>
          </p:cNvSpPr>
          <p:nvPr/>
        </p:nvSpPr>
        <p:spPr bwMode="ltGray">
          <a:xfrm>
            <a:off x="7772400" y="3048000"/>
            <a:ext cx="636588" cy="1708150"/>
          </a:xfrm>
          <a:custGeom>
            <a:avLst/>
            <a:gdLst>
              <a:gd name="T0" fmla="*/ 0 w 401"/>
              <a:gd name="T1" fmla="*/ 2147483646 h 1076"/>
              <a:gd name="T2" fmla="*/ 2147483646 w 401"/>
              <a:gd name="T3" fmla="*/ 2147483646 h 1076"/>
              <a:gd name="T4" fmla="*/ 2147483646 w 401"/>
              <a:gd name="T5" fmla="*/ 2147483646 h 1076"/>
              <a:gd name="T6" fmla="*/ 2147483646 w 401"/>
              <a:gd name="T7" fmla="*/ 2147483646 h 1076"/>
              <a:gd name="T8" fmla="*/ 0 60000 65536"/>
              <a:gd name="T9" fmla="*/ 0 60000 65536"/>
              <a:gd name="T10" fmla="*/ 0 60000 65536"/>
              <a:gd name="T11" fmla="*/ 0 60000 65536"/>
              <a:gd name="T12" fmla="*/ 0 w 401"/>
              <a:gd name="T13" fmla="*/ 0 h 1076"/>
              <a:gd name="T14" fmla="*/ 401 w 401"/>
              <a:gd name="T15" fmla="*/ 1076 h 10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" h="1076">
                <a:moveTo>
                  <a:pt x="0" y="1020"/>
                </a:moveTo>
                <a:cubicBezTo>
                  <a:pt x="58" y="1005"/>
                  <a:pt x="291" y="1076"/>
                  <a:pt x="346" y="931"/>
                </a:cubicBezTo>
                <a:cubicBezTo>
                  <a:pt x="401" y="786"/>
                  <a:pt x="383" y="304"/>
                  <a:pt x="328" y="152"/>
                </a:cubicBezTo>
                <a:cubicBezTo>
                  <a:pt x="273" y="0"/>
                  <a:pt x="83" y="47"/>
                  <a:pt x="18" y="1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1B29610-B8F7-4871-837B-64425FC61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使用访问链接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AF1AEF-245E-4B86-B705-901F99FEE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过程</a:t>
            </a:r>
            <a:r>
              <a:rPr lang="en-US" altLang="zh-CN"/>
              <a:t>p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zh-CN" altLang="en-US"/>
              <a:t>）访问非局部数据</a:t>
            </a:r>
            <a:r>
              <a:rPr lang="en-US" altLang="zh-CN"/>
              <a:t>a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a</a:t>
            </a:r>
            <a:r>
              <a:rPr lang="zh-CN" altLang="en-US"/>
              <a:t>），</a:t>
            </a:r>
            <a:r>
              <a:rPr lang="en-US" altLang="zh-CN"/>
              <a:t>n</a:t>
            </a:r>
            <a:r>
              <a:rPr lang="en-US" altLang="zh-CN" baseline="-25000"/>
              <a:t>a</a:t>
            </a:r>
            <a:r>
              <a:rPr lang="en-US" altLang="zh-CN"/>
              <a:t>&lt;=n</a:t>
            </a:r>
            <a:r>
              <a:rPr lang="en-US" altLang="zh-CN" baseline="-25000"/>
              <a:t>p</a:t>
            </a:r>
            <a:r>
              <a:rPr lang="zh-CN" altLang="en-US"/>
              <a:t>，访问方法为：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当控制流到达</a:t>
            </a:r>
            <a:r>
              <a:rPr lang="en-US" altLang="zh-CN"/>
              <a:t>p</a:t>
            </a:r>
            <a:r>
              <a:rPr lang="zh-CN" altLang="en-US"/>
              <a:t>，其活动记录位于栈顶。从它的访问链接开始，遍历</a:t>
            </a: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en-US" altLang="zh-CN"/>
              <a:t>-n</a:t>
            </a:r>
            <a:r>
              <a:rPr lang="en-US" altLang="zh-CN" baseline="-25000"/>
              <a:t>a</a:t>
            </a:r>
            <a:r>
              <a:rPr lang="zh-CN" altLang="en-US"/>
              <a:t>（此值在编译阶段即可获得）个访问链接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此时即可到达</a:t>
            </a:r>
            <a:r>
              <a:rPr lang="en-US" altLang="zh-CN"/>
              <a:t>a</a:t>
            </a:r>
            <a:r>
              <a:rPr lang="zh-CN" altLang="en-US"/>
              <a:t>所在过程的活动记录，由其访问链接地址即可得到</a:t>
            </a:r>
            <a:r>
              <a:rPr lang="en-US" altLang="zh-CN"/>
              <a:t>a</a:t>
            </a:r>
            <a:r>
              <a:rPr lang="zh-CN" altLang="en-US"/>
              <a:t>的地址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4E2E0E2-5845-4643-9165-21262D298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设置访问链接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18F5FCC-3EC5-45FC-9FC8-DE960E9B1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调用序列代码的一部分，假定过程</a:t>
            </a:r>
            <a:r>
              <a:rPr lang="en-US" altLang="zh-CN"/>
              <a:t>p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zh-CN" altLang="en-US"/>
              <a:t>）调用过程</a:t>
            </a:r>
            <a:r>
              <a:rPr lang="en-US" altLang="zh-CN"/>
              <a:t>x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x</a:t>
            </a:r>
            <a:r>
              <a:rPr lang="zh-CN" altLang="en-US"/>
              <a:t>）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en-US" altLang="zh-CN"/>
              <a:t>&lt;n</a:t>
            </a:r>
            <a:r>
              <a:rPr lang="en-US" altLang="zh-CN" baseline="-25000"/>
              <a:t>x</a:t>
            </a:r>
            <a:br>
              <a:rPr lang="en-US" altLang="zh-CN" baseline="-25000"/>
            </a:br>
            <a:r>
              <a:rPr lang="en-US" altLang="zh-CN">
                <a:sym typeface="Wingdings" panose="05000000000000000000" pitchFamily="2" charset="2"/>
              </a:rPr>
              <a:t>x</a:t>
            </a:r>
            <a:r>
              <a:rPr lang="zh-CN" altLang="en-US">
                <a:sym typeface="Wingdings" panose="05000000000000000000" pitchFamily="2" charset="2"/>
              </a:rPr>
              <a:t>在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内部声明，应将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的访问链接指向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的访问链接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>
                <a:sym typeface="Wingdings" panose="05000000000000000000" pitchFamily="2" charset="2"/>
              </a:rPr>
              <a:t>n</a:t>
            </a:r>
            <a:r>
              <a:rPr lang="en-US" altLang="zh-CN" baseline="-25000">
                <a:sym typeface="Wingdings" panose="05000000000000000000" pitchFamily="2" charset="2"/>
              </a:rPr>
              <a:t>p</a:t>
            </a:r>
            <a:r>
              <a:rPr lang="en-US" altLang="zh-CN">
                <a:sym typeface="Wingdings" panose="05000000000000000000" pitchFamily="2" charset="2"/>
              </a:rPr>
              <a:t>&gt;=n</a:t>
            </a:r>
            <a:r>
              <a:rPr lang="en-US" altLang="zh-CN" baseline="-25000">
                <a:sym typeface="Wingdings" panose="05000000000000000000" pitchFamily="2" charset="2"/>
              </a:rPr>
              <a:t>x</a:t>
            </a:r>
            <a:br>
              <a:rPr lang="en-US" altLang="zh-CN" baseline="-25000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</a:t>
            </a:r>
            <a:r>
              <a:rPr lang="zh-CN" altLang="en-US">
                <a:sym typeface="Wingdings" panose="05000000000000000000" pitchFamily="2" charset="2"/>
              </a:rPr>
              <a:t>当前包含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和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，深度为</a:t>
            </a:r>
            <a:r>
              <a:rPr lang="en-US" altLang="zh-CN">
                <a:sym typeface="Wingdings" panose="05000000000000000000" pitchFamily="2" charset="2"/>
              </a:rPr>
              <a:t>1, 2, …, n</a:t>
            </a:r>
            <a:r>
              <a:rPr lang="en-US" altLang="zh-CN" baseline="-25000">
                <a:sym typeface="Wingdings" panose="05000000000000000000" pitchFamily="2" charset="2"/>
              </a:rPr>
              <a:t>x</a:t>
            </a:r>
            <a:r>
              <a:rPr lang="en-US" altLang="zh-CN">
                <a:sym typeface="Wingdings" panose="05000000000000000000" pitchFamily="2" charset="2"/>
              </a:rPr>
              <a:t>-1</a:t>
            </a:r>
            <a:r>
              <a:rPr lang="zh-CN" altLang="en-US">
                <a:sym typeface="Wingdings" panose="05000000000000000000" pitchFamily="2" charset="2"/>
              </a:rPr>
              <a:t>的过程必然是相同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从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开始，遍历</a:t>
            </a:r>
            <a:r>
              <a:rPr lang="en-US" altLang="zh-CN">
                <a:sym typeface="Wingdings" panose="05000000000000000000" pitchFamily="2" charset="2"/>
              </a:rPr>
              <a:t>n</a:t>
            </a:r>
            <a:r>
              <a:rPr lang="en-US" altLang="zh-CN" baseline="-25000">
                <a:sym typeface="Wingdings" panose="05000000000000000000" pitchFamily="2" charset="2"/>
              </a:rPr>
              <a:t>p</a:t>
            </a:r>
            <a:r>
              <a:rPr lang="en-US" altLang="zh-CN">
                <a:sym typeface="Wingdings" panose="05000000000000000000" pitchFamily="2" charset="2"/>
              </a:rPr>
              <a:t>-n</a:t>
            </a:r>
            <a:r>
              <a:rPr lang="en-US" altLang="zh-CN" baseline="-25000">
                <a:sym typeface="Wingdings" panose="05000000000000000000" pitchFamily="2" charset="2"/>
              </a:rPr>
              <a:t>x</a:t>
            </a:r>
            <a:r>
              <a:rPr lang="en-US" altLang="zh-CN">
                <a:sym typeface="Wingdings" panose="05000000000000000000" pitchFamily="2" charset="2"/>
              </a:rPr>
              <a:t>+1</a:t>
            </a:r>
            <a:r>
              <a:rPr lang="zh-CN" altLang="en-US">
                <a:sym typeface="Wingdings" panose="05000000000000000000" pitchFamily="2" charset="2"/>
              </a:rPr>
              <a:t>个访问链接，到达同时包含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的最近的过程的活动记录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的访问链接应指向此记录的访问链接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3A98CD7-A5EC-48E1-AC62-492FA85C9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过程作为参数的情况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5D60C9C-DB95-4A4C-AF82-E2143CA63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program param(input, output);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procedure b(function h(n : integer) : integer);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begin writeln(h(2)) end { b 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procedure c;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var m : integer;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function f(n : integer) : integer;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	begin f := m + n end { f 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begin m := 0; b(f) end { c 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begin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end.</a:t>
            </a:r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32BAE60-7E3B-4D4F-8A42-4CF04EAEA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过程作为参数的情况（续）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DEF3B40-7447-4BA1-BB68-68665D5D2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当过程作为参数传递时，对应的访问链接也一起传递</a:t>
            </a:r>
          </a:p>
        </p:txBody>
      </p:sp>
      <p:pic>
        <p:nvPicPr>
          <p:cNvPr id="54276" name="Picture 4" descr="procedureparameter">
            <a:extLst>
              <a:ext uri="{FF2B5EF4-FFF2-40B4-BE49-F238E27FC236}">
                <a16:creationId xmlns:a16="http://schemas.microsoft.com/office/drawing/2014/main" id="{E6AB55E3-A000-4BAA-A4F8-2FFE4C97D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2414588"/>
            <a:ext cx="2343150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Freeform 5">
            <a:extLst>
              <a:ext uri="{FF2B5EF4-FFF2-40B4-BE49-F238E27FC236}">
                <a16:creationId xmlns:a16="http://schemas.microsoft.com/office/drawing/2014/main" id="{AE88CE67-67B2-412F-B5EA-1937E2F2DC71}"/>
              </a:ext>
            </a:extLst>
          </p:cNvPr>
          <p:cNvSpPr>
            <a:spLocks/>
          </p:cNvSpPr>
          <p:nvPr/>
        </p:nvSpPr>
        <p:spPr bwMode="ltGray">
          <a:xfrm>
            <a:off x="2819400" y="4732338"/>
            <a:ext cx="1138238" cy="1311275"/>
          </a:xfrm>
          <a:custGeom>
            <a:avLst/>
            <a:gdLst>
              <a:gd name="T0" fmla="*/ 2147483646 w 717"/>
              <a:gd name="T1" fmla="*/ 2147483646 h 826"/>
              <a:gd name="T2" fmla="*/ 2147483646 w 717"/>
              <a:gd name="T3" fmla="*/ 2147483646 h 826"/>
              <a:gd name="T4" fmla="*/ 2147483646 w 717"/>
              <a:gd name="T5" fmla="*/ 2147483646 h 826"/>
              <a:gd name="T6" fmla="*/ 2147483646 w 717"/>
              <a:gd name="T7" fmla="*/ 2147483646 h 826"/>
              <a:gd name="T8" fmla="*/ 2147483646 w 717"/>
              <a:gd name="T9" fmla="*/ 2147483646 h 8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7"/>
              <a:gd name="T16" fmla="*/ 0 h 826"/>
              <a:gd name="T17" fmla="*/ 717 w 717"/>
              <a:gd name="T18" fmla="*/ 826 h 8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7" h="826">
                <a:moveTo>
                  <a:pt x="659" y="605"/>
                </a:moveTo>
                <a:cubicBezTo>
                  <a:pt x="653" y="636"/>
                  <a:pt x="717" y="774"/>
                  <a:pt x="623" y="792"/>
                </a:cubicBezTo>
                <a:cubicBezTo>
                  <a:pt x="529" y="810"/>
                  <a:pt x="184" y="826"/>
                  <a:pt x="92" y="712"/>
                </a:cubicBezTo>
                <a:cubicBezTo>
                  <a:pt x="0" y="598"/>
                  <a:pt x="14" y="218"/>
                  <a:pt x="74" y="109"/>
                </a:cubicBezTo>
                <a:cubicBezTo>
                  <a:pt x="134" y="0"/>
                  <a:pt x="376" y="67"/>
                  <a:pt x="455" y="56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Freeform 6">
            <a:extLst>
              <a:ext uri="{FF2B5EF4-FFF2-40B4-BE49-F238E27FC236}">
                <a16:creationId xmlns:a16="http://schemas.microsoft.com/office/drawing/2014/main" id="{ED76003E-708A-433F-AA34-53375C2AFEA7}"/>
              </a:ext>
            </a:extLst>
          </p:cNvPr>
          <p:cNvSpPr>
            <a:spLocks/>
          </p:cNvSpPr>
          <p:nvPr/>
        </p:nvSpPr>
        <p:spPr bwMode="ltGray">
          <a:xfrm>
            <a:off x="5734050" y="3306763"/>
            <a:ext cx="676275" cy="1341437"/>
          </a:xfrm>
          <a:custGeom>
            <a:avLst/>
            <a:gdLst>
              <a:gd name="T0" fmla="*/ 0 w 426"/>
              <a:gd name="T1" fmla="*/ 2147483646 h 845"/>
              <a:gd name="T2" fmla="*/ 2147483646 w 426"/>
              <a:gd name="T3" fmla="*/ 2147483646 h 845"/>
              <a:gd name="T4" fmla="*/ 2147483646 w 426"/>
              <a:gd name="T5" fmla="*/ 2147483646 h 845"/>
              <a:gd name="T6" fmla="*/ 2147483646 w 426"/>
              <a:gd name="T7" fmla="*/ 2147483646 h 845"/>
              <a:gd name="T8" fmla="*/ 0 60000 65536"/>
              <a:gd name="T9" fmla="*/ 0 60000 65536"/>
              <a:gd name="T10" fmla="*/ 0 60000 65536"/>
              <a:gd name="T11" fmla="*/ 0 60000 65536"/>
              <a:gd name="T12" fmla="*/ 0 w 426"/>
              <a:gd name="T13" fmla="*/ 0 h 845"/>
              <a:gd name="T14" fmla="*/ 426 w 426"/>
              <a:gd name="T15" fmla="*/ 845 h 8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6" h="845">
                <a:moveTo>
                  <a:pt x="0" y="782"/>
                </a:moveTo>
                <a:cubicBezTo>
                  <a:pt x="61" y="774"/>
                  <a:pt x="304" y="845"/>
                  <a:pt x="365" y="733"/>
                </a:cubicBezTo>
                <a:cubicBezTo>
                  <a:pt x="426" y="621"/>
                  <a:pt x="418" y="224"/>
                  <a:pt x="365" y="112"/>
                </a:cubicBezTo>
                <a:cubicBezTo>
                  <a:pt x="312" y="0"/>
                  <a:pt x="114" y="72"/>
                  <a:pt x="48" y="6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Freeform 7">
            <a:extLst>
              <a:ext uri="{FF2B5EF4-FFF2-40B4-BE49-F238E27FC236}">
                <a16:creationId xmlns:a16="http://schemas.microsoft.com/office/drawing/2014/main" id="{F37935C7-B910-4C22-A688-FF9A4DCD9BB8}"/>
              </a:ext>
            </a:extLst>
          </p:cNvPr>
          <p:cNvSpPr>
            <a:spLocks/>
          </p:cNvSpPr>
          <p:nvPr/>
        </p:nvSpPr>
        <p:spPr bwMode="ltGray">
          <a:xfrm>
            <a:off x="5778500" y="3198813"/>
            <a:ext cx="906463" cy="3001962"/>
          </a:xfrm>
          <a:custGeom>
            <a:avLst/>
            <a:gdLst>
              <a:gd name="T0" fmla="*/ 0 w 571"/>
              <a:gd name="T1" fmla="*/ 2147483646 h 1891"/>
              <a:gd name="T2" fmla="*/ 2147483646 w 571"/>
              <a:gd name="T3" fmla="*/ 2147483646 h 1891"/>
              <a:gd name="T4" fmla="*/ 2147483646 w 571"/>
              <a:gd name="T5" fmla="*/ 2147483646 h 1891"/>
              <a:gd name="T6" fmla="*/ 2147483646 w 571"/>
              <a:gd name="T7" fmla="*/ 2147483646 h 1891"/>
              <a:gd name="T8" fmla="*/ 0 60000 65536"/>
              <a:gd name="T9" fmla="*/ 0 60000 65536"/>
              <a:gd name="T10" fmla="*/ 0 60000 65536"/>
              <a:gd name="T11" fmla="*/ 0 60000 65536"/>
              <a:gd name="T12" fmla="*/ 0 w 571"/>
              <a:gd name="T13" fmla="*/ 0 h 1891"/>
              <a:gd name="T14" fmla="*/ 571 w 571"/>
              <a:gd name="T15" fmla="*/ 1891 h 18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1" h="1891">
                <a:moveTo>
                  <a:pt x="0" y="1846"/>
                </a:moveTo>
                <a:cubicBezTo>
                  <a:pt x="77" y="1809"/>
                  <a:pt x="377" y="1891"/>
                  <a:pt x="461" y="1625"/>
                </a:cubicBezTo>
                <a:cubicBezTo>
                  <a:pt x="545" y="1359"/>
                  <a:pt x="571" y="502"/>
                  <a:pt x="505" y="251"/>
                </a:cubicBezTo>
                <a:cubicBezTo>
                  <a:pt x="439" y="0"/>
                  <a:pt x="154" y="146"/>
                  <a:pt x="62" y="11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1AD061C-3813-41DC-A457-02DD70C53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Display</a:t>
            </a:r>
            <a:r>
              <a:rPr lang="zh-CN" altLang="en-US"/>
              <a:t>表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CEB5444-E2BD-457E-A57B-96B491305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一维数组</a:t>
            </a:r>
            <a:r>
              <a:rPr lang="en-US" altLang="zh-CN"/>
              <a:t>d[i]</a:t>
            </a:r>
            <a:r>
              <a:rPr lang="zh-CN" altLang="en-US"/>
              <a:t>：将嵌套深度为</a:t>
            </a:r>
            <a:r>
              <a:rPr lang="en-US" altLang="zh-CN"/>
              <a:t>i</a:t>
            </a:r>
            <a:r>
              <a:rPr lang="zh-CN" altLang="en-US"/>
              <a:t>的过程的访问链接串起来</a:t>
            </a:r>
          </a:p>
        </p:txBody>
      </p:sp>
      <p:pic>
        <p:nvPicPr>
          <p:cNvPr id="55300" name="Picture 6" descr="display">
            <a:extLst>
              <a:ext uri="{FF2B5EF4-FFF2-40B4-BE49-F238E27FC236}">
                <a16:creationId xmlns:a16="http://schemas.microsoft.com/office/drawing/2014/main" id="{C5EB12BE-5225-423F-AE26-5CBF54EE9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71800"/>
            <a:ext cx="7748588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093BA38-4E02-4668-A99F-EE7A6A1CB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Display</a:t>
            </a:r>
            <a:r>
              <a:rPr lang="zh-CN" altLang="en-US"/>
              <a:t>表（续）</a:t>
            </a:r>
          </a:p>
        </p:txBody>
      </p:sp>
      <p:pic>
        <p:nvPicPr>
          <p:cNvPr id="56323" name="Picture 7" descr="display1">
            <a:extLst>
              <a:ext uri="{FF2B5EF4-FFF2-40B4-BE49-F238E27FC236}">
                <a16:creationId xmlns:a16="http://schemas.microsoft.com/office/drawing/2014/main" id="{45BB252A-173F-44AF-B8D5-A0A100418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3" y="1371600"/>
            <a:ext cx="7913687" cy="544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86FD1BE-EA57-4AA2-AE1F-2FBBCC712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display</a:t>
            </a:r>
            <a:r>
              <a:rPr lang="zh-CN" altLang="en-US"/>
              <a:t>表的设置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9CF9866-A43A-48CE-A0E0-F4E085195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当设置嵌套深度为</a:t>
            </a:r>
            <a:r>
              <a:rPr lang="en-US" altLang="zh-CN"/>
              <a:t>i</a:t>
            </a:r>
            <a:r>
              <a:rPr lang="zh-CN" altLang="en-US"/>
              <a:t>的过程的活动记录</a:t>
            </a:r>
          </a:p>
          <a:p>
            <a:pPr lvl="1" eaLnBrk="1" hangingPunct="1"/>
            <a:r>
              <a:rPr lang="zh-CN" altLang="en-US"/>
              <a:t>旧的</a:t>
            </a:r>
            <a:r>
              <a:rPr lang="en-US" altLang="zh-CN"/>
              <a:t>d[i]</a:t>
            </a:r>
            <a:r>
              <a:rPr lang="zh-CN" altLang="en-US"/>
              <a:t>值保存入新的活动记录</a:t>
            </a:r>
          </a:p>
          <a:p>
            <a:pPr lvl="1" eaLnBrk="1" hangingPunct="1"/>
            <a:r>
              <a:rPr lang="zh-CN" altLang="en-US"/>
              <a:t>设置</a:t>
            </a:r>
            <a:r>
              <a:rPr lang="en-US" altLang="zh-CN"/>
              <a:t>d[i]</a:t>
            </a:r>
            <a:r>
              <a:rPr lang="zh-CN" altLang="en-US"/>
              <a:t>指向新的活动记录</a:t>
            </a:r>
          </a:p>
          <a:p>
            <a:pPr eaLnBrk="1" hangingPunct="1"/>
            <a:r>
              <a:rPr lang="zh-CN" altLang="en-US"/>
              <a:t>正确性：假定嵌套深度</a:t>
            </a:r>
            <a:r>
              <a:rPr lang="en-US" altLang="zh-CN"/>
              <a:t>j</a:t>
            </a:r>
            <a:r>
              <a:rPr lang="zh-CN" altLang="en-US"/>
              <a:t>的过程调用深度</a:t>
            </a:r>
            <a:r>
              <a:rPr lang="en-US" altLang="zh-CN"/>
              <a:t>i</a:t>
            </a:r>
            <a:r>
              <a:rPr lang="zh-CN" altLang="en-US"/>
              <a:t>的过程</a:t>
            </a:r>
          </a:p>
          <a:p>
            <a:pPr lvl="1" eaLnBrk="1" hangingPunct="1"/>
            <a:r>
              <a:rPr lang="en-US" altLang="zh-CN"/>
              <a:t>j&lt;i</a:t>
            </a:r>
            <a:r>
              <a:rPr lang="zh-CN" altLang="en-US"/>
              <a:t>：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r>
              <a:rPr lang="en-US" altLang="zh-CN">
                <a:sym typeface="Wingdings" panose="05000000000000000000" pitchFamily="2" charset="2"/>
              </a:rPr>
              <a:t>i=j+1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d[1]~d[j]</a:t>
            </a:r>
            <a:r>
              <a:rPr lang="zh-CN" altLang="en-US">
                <a:sym typeface="Wingdings" panose="05000000000000000000" pitchFamily="2" charset="2"/>
              </a:rPr>
              <a:t>无需改变，</a:t>
            </a:r>
            <a:r>
              <a:rPr lang="en-US" altLang="zh-CN">
                <a:sym typeface="Wingdings" panose="05000000000000000000" pitchFamily="2" charset="2"/>
              </a:rPr>
              <a:t>d[i]</a:t>
            </a:r>
            <a:r>
              <a:rPr lang="zh-CN" altLang="en-US">
                <a:sym typeface="Wingdings" panose="05000000000000000000" pitchFamily="2" charset="2"/>
              </a:rPr>
              <a:t>指向新活动记录，上面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r>
              <a:rPr lang="zh-CN" altLang="en-US">
                <a:sym typeface="Wingdings" panose="05000000000000000000" pitchFamily="2" charset="2"/>
              </a:rPr>
              <a:t>图</a:t>
            </a: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j&gt;=i</a:t>
            </a:r>
            <a:r>
              <a:rPr lang="zh-CN" altLang="en-US">
                <a:sym typeface="Wingdings" panose="05000000000000000000" pitchFamily="2" charset="2"/>
              </a:rPr>
              <a:t>：包含两个过程，嵌套深度</a:t>
            </a:r>
            <a:r>
              <a:rPr lang="en-US" altLang="zh-CN">
                <a:sym typeface="Wingdings" panose="05000000000000000000" pitchFamily="2" charset="2"/>
              </a:rPr>
              <a:t>1,2,…,i-1</a:t>
            </a:r>
            <a:r>
              <a:rPr lang="zh-CN" altLang="en-US">
                <a:sym typeface="Wingdings" panose="05000000000000000000" pitchFamily="2" charset="2"/>
              </a:rPr>
              <a:t>的过程必然是相同的，将旧</a:t>
            </a:r>
            <a:r>
              <a:rPr lang="en-US" altLang="zh-CN">
                <a:sym typeface="Wingdings" panose="05000000000000000000" pitchFamily="2" charset="2"/>
              </a:rPr>
              <a:t>d[i]</a:t>
            </a:r>
            <a:r>
              <a:rPr lang="zh-CN" altLang="en-US">
                <a:sym typeface="Wingdings" panose="05000000000000000000" pitchFamily="2" charset="2"/>
              </a:rPr>
              <a:t>保存到新活动记录，并设置它指向新活动记录即可，上面</a:t>
            </a:r>
            <a:r>
              <a:rPr lang="en-US" altLang="zh-CN">
                <a:sym typeface="Wingdings" panose="05000000000000000000" pitchFamily="2" charset="2"/>
              </a:rPr>
              <a:t>(d)</a:t>
            </a:r>
            <a:r>
              <a:rPr lang="zh-CN" altLang="en-US">
                <a:sym typeface="Wingdings" panose="05000000000000000000" pitchFamily="2" charset="2"/>
              </a:rPr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41946C5-4398-4366-AB4D-9C1CF9F32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7.4.4  </a:t>
            </a:r>
            <a:r>
              <a:rPr lang="zh-CN" altLang="en-US"/>
              <a:t>动态作用域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75E468A-384C-438F-B9E0-83C628532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嵌套关系，调用关系</a:t>
            </a:r>
            <a:r>
              <a:rPr lang="zh-CN" altLang="en-US">
                <a:sym typeface="Wingdings" panose="05000000000000000000" pitchFamily="2" charset="2"/>
              </a:rPr>
              <a:t>决定名字绑定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program dynamic(input, output);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var r : real;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procedure show;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begin write(r : 5 : 3) end;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procedure small;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var r : real;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begin r := 0.125; show end;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begin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r := 0.25;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show; small; writeln;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show; small; writeln;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end.</a:t>
            </a:r>
          </a:p>
        </p:txBody>
      </p:sp>
      <p:sp>
        <p:nvSpPr>
          <p:cNvPr id="58372" name="Line 4">
            <a:extLst>
              <a:ext uri="{FF2B5EF4-FFF2-40B4-BE49-F238E27FC236}">
                <a16:creationId xmlns:a16="http://schemas.microsoft.com/office/drawing/2014/main" id="{8316ABF6-1516-4F89-A95E-8BE45E3B0972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676400" y="15240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3" name="Line 5">
            <a:extLst>
              <a:ext uri="{FF2B5EF4-FFF2-40B4-BE49-F238E27FC236}">
                <a16:creationId xmlns:a16="http://schemas.microsoft.com/office/drawing/2014/main" id="{331E7926-3952-4173-BFF8-112B990C3883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676400" y="15240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85DC7752-9901-4EF5-92CB-64209497396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477000" y="2057400"/>
            <a:ext cx="228600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静态绑定结果</a:t>
            </a: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0.250	0.250</a:t>
            </a: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0.250	0.250</a:t>
            </a:r>
            <a:b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</a:br>
            <a:endParaRPr lang="en-US" altLang="zh-CN" sz="2400">
              <a:solidFill>
                <a:schemeClr val="folHlink"/>
              </a:solidFill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动态绑定结果</a:t>
            </a: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0.250	0.125</a:t>
            </a: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0.250	0.125</a:t>
            </a:r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4E1C3A01-5CF3-443F-A8BF-08D83BE0141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495800" y="4648200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此处调用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show</a:t>
            </a:r>
            <a:b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r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绑定到</a:t>
            </a:r>
          </a:p>
        </p:txBody>
      </p:sp>
      <p:sp>
        <p:nvSpPr>
          <p:cNvPr id="58376" name="Freeform 8">
            <a:extLst>
              <a:ext uri="{FF2B5EF4-FFF2-40B4-BE49-F238E27FC236}">
                <a16:creationId xmlns:a16="http://schemas.microsoft.com/office/drawing/2014/main" id="{9901E7D1-F90B-43A2-A3DF-F65E5CCD48A4}"/>
              </a:ext>
            </a:extLst>
          </p:cNvPr>
          <p:cNvSpPr>
            <a:spLocks/>
          </p:cNvSpPr>
          <p:nvPr/>
        </p:nvSpPr>
        <p:spPr bwMode="ltGray">
          <a:xfrm>
            <a:off x="3505200" y="3886200"/>
            <a:ext cx="3416300" cy="1219200"/>
          </a:xfrm>
          <a:custGeom>
            <a:avLst/>
            <a:gdLst>
              <a:gd name="T0" fmla="*/ 2147483646 w 2152"/>
              <a:gd name="T1" fmla="*/ 2147483646 h 768"/>
              <a:gd name="T2" fmla="*/ 2147483646 w 2152"/>
              <a:gd name="T3" fmla="*/ 2147483646 h 768"/>
              <a:gd name="T4" fmla="*/ 2147483646 w 2152"/>
              <a:gd name="T5" fmla="*/ 2147483646 h 768"/>
              <a:gd name="T6" fmla="*/ 0 w 2152"/>
              <a:gd name="T7" fmla="*/ 2147483646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2152"/>
              <a:gd name="T13" fmla="*/ 0 h 768"/>
              <a:gd name="T14" fmla="*/ 2152 w 2152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52" h="768">
                <a:moveTo>
                  <a:pt x="1632" y="768"/>
                </a:moveTo>
                <a:cubicBezTo>
                  <a:pt x="1892" y="752"/>
                  <a:pt x="2152" y="736"/>
                  <a:pt x="2112" y="624"/>
                </a:cubicBezTo>
                <a:cubicBezTo>
                  <a:pt x="2072" y="512"/>
                  <a:pt x="1744" y="192"/>
                  <a:pt x="1392" y="96"/>
                </a:cubicBezTo>
                <a:cubicBezTo>
                  <a:pt x="1040" y="0"/>
                  <a:pt x="520" y="24"/>
                  <a:pt x="0" y="4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7" name="Text Box 9">
            <a:extLst>
              <a:ext uri="{FF2B5EF4-FFF2-40B4-BE49-F238E27FC236}">
                <a16:creationId xmlns:a16="http://schemas.microsoft.com/office/drawing/2014/main" id="{ABD787E2-732B-4CD0-8D36-CB36E88DCA9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0" y="5410200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此处调用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show</a:t>
            </a:r>
            <a:b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r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绑定到</a:t>
            </a:r>
          </a:p>
        </p:txBody>
      </p:sp>
      <p:sp>
        <p:nvSpPr>
          <p:cNvPr id="58378" name="Line 10">
            <a:extLst>
              <a:ext uri="{FF2B5EF4-FFF2-40B4-BE49-F238E27FC236}">
                <a16:creationId xmlns:a16="http://schemas.microsoft.com/office/drawing/2014/main" id="{6BCF4A49-F545-462E-B4D6-03BB48953D84}"/>
              </a:ext>
            </a:extLst>
          </p:cNvPr>
          <p:cNvSpPr>
            <a:spLocks noChangeShapeType="1"/>
          </p:cNvSpPr>
          <p:nvPr/>
        </p:nvSpPr>
        <p:spPr bwMode="ltGray">
          <a:xfrm>
            <a:off x="4572000" y="4343400"/>
            <a:ext cx="838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9" name="Line 11">
            <a:extLst>
              <a:ext uri="{FF2B5EF4-FFF2-40B4-BE49-F238E27FC236}">
                <a16:creationId xmlns:a16="http://schemas.microsoft.com/office/drawing/2014/main" id="{E20DD448-D9BD-4D7C-A9B7-2EDF29AA5D58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1143000" y="5334000"/>
            <a:ext cx="10668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0" name="Freeform 12">
            <a:extLst>
              <a:ext uri="{FF2B5EF4-FFF2-40B4-BE49-F238E27FC236}">
                <a16:creationId xmlns:a16="http://schemas.microsoft.com/office/drawing/2014/main" id="{77E3B96F-F769-479C-84C0-F4B153FA6246}"/>
              </a:ext>
            </a:extLst>
          </p:cNvPr>
          <p:cNvSpPr>
            <a:spLocks/>
          </p:cNvSpPr>
          <p:nvPr/>
        </p:nvSpPr>
        <p:spPr bwMode="ltGray">
          <a:xfrm>
            <a:off x="-39688" y="2205038"/>
            <a:ext cx="1639888" cy="4306887"/>
          </a:xfrm>
          <a:custGeom>
            <a:avLst/>
            <a:gdLst>
              <a:gd name="T0" fmla="*/ 2147483646 w 1033"/>
              <a:gd name="T1" fmla="*/ 2147483646 h 2713"/>
              <a:gd name="T2" fmla="*/ 2147483646 w 1033"/>
              <a:gd name="T3" fmla="*/ 2147483646 h 2713"/>
              <a:gd name="T4" fmla="*/ 2147483646 w 1033"/>
              <a:gd name="T5" fmla="*/ 2147483646 h 2713"/>
              <a:gd name="T6" fmla="*/ 2147483646 w 1033"/>
              <a:gd name="T7" fmla="*/ 2147483646 h 2713"/>
              <a:gd name="T8" fmla="*/ 2147483646 w 1033"/>
              <a:gd name="T9" fmla="*/ 2147483646 h 27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33"/>
              <a:gd name="T16" fmla="*/ 0 h 2713"/>
              <a:gd name="T17" fmla="*/ 1033 w 1033"/>
              <a:gd name="T18" fmla="*/ 2713 h 27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33" h="2713">
                <a:moveTo>
                  <a:pt x="1009" y="2342"/>
                </a:moveTo>
                <a:cubicBezTo>
                  <a:pt x="984" y="2383"/>
                  <a:pt x="1012" y="2590"/>
                  <a:pt x="858" y="2590"/>
                </a:cubicBezTo>
                <a:cubicBezTo>
                  <a:pt x="704" y="2590"/>
                  <a:pt x="174" y="2713"/>
                  <a:pt x="87" y="2342"/>
                </a:cubicBezTo>
                <a:cubicBezTo>
                  <a:pt x="0" y="1971"/>
                  <a:pt x="177" y="732"/>
                  <a:pt x="335" y="366"/>
                </a:cubicBezTo>
                <a:cubicBezTo>
                  <a:pt x="493" y="0"/>
                  <a:pt x="888" y="193"/>
                  <a:pt x="1033" y="147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8D4960D-B546-45D5-A9F0-AEF2B6895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实现方法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358BBEA-3298-41E6-97BB-D36427AA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深访问，</a:t>
            </a:r>
            <a:r>
              <a:rPr lang="en-US" altLang="zh-CN" dirty="0">
                <a:solidFill>
                  <a:srgbClr val="FF3300"/>
                </a:solidFill>
              </a:rPr>
              <a:t>deep access</a:t>
            </a:r>
          </a:p>
          <a:p>
            <a:pPr marL="990600" lvl="1" indent="-533400" eaLnBrk="1" hangingPunct="1"/>
            <a:r>
              <a:rPr lang="zh-CN" altLang="en-US" dirty="0"/>
              <a:t>访问链接，控制链接</a:t>
            </a:r>
          </a:p>
          <a:p>
            <a:pPr marL="990600" lvl="1" indent="-533400" eaLnBrk="1" hangingPunct="1"/>
            <a:r>
              <a:rPr lang="zh-CN" altLang="en-US" dirty="0"/>
              <a:t>“深入”控制栈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浅访问，</a:t>
            </a:r>
            <a:r>
              <a:rPr lang="en-US" altLang="zh-CN" dirty="0">
                <a:solidFill>
                  <a:srgbClr val="FF3300"/>
                </a:solidFill>
              </a:rPr>
              <a:t>shallow access</a:t>
            </a:r>
          </a:p>
          <a:p>
            <a:pPr marL="990600" lvl="1" indent="-533400" eaLnBrk="1" hangingPunct="1"/>
            <a:r>
              <a:rPr lang="zh-CN" altLang="en-US" dirty="0"/>
              <a:t>名字的当前绑定值保存在静态区域</a:t>
            </a:r>
          </a:p>
          <a:p>
            <a:pPr marL="990600" lvl="1" indent="-533400" eaLnBrk="1" hangingPunct="1"/>
            <a:r>
              <a:rPr lang="zh-CN" altLang="en-US" dirty="0"/>
              <a:t>过程</a:t>
            </a:r>
            <a:r>
              <a:rPr lang="en-US" altLang="zh-CN" dirty="0"/>
              <a:t>p</a:t>
            </a:r>
            <a:r>
              <a:rPr lang="zh-CN" altLang="en-US" dirty="0"/>
              <a:t>新的活动开始，它的局部名字</a:t>
            </a:r>
            <a:r>
              <a:rPr lang="en-US" altLang="zh-CN" dirty="0"/>
              <a:t>n</a:t>
            </a:r>
            <a:r>
              <a:rPr lang="zh-CN" altLang="en-US" dirty="0"/>
              <a:t>接管为</a:t>
            </a:r>
            <a:r>
              <a:rPr lang="en-US" altLang="zh-CN" dirty="0"/>
              <a:t>n</a:t>
            </a:r>
            <a:r>
              <a:rPr lang="zh-CN" altLang="en-US" dirty="0"/>
              <a:t>分配的静态区域</a:t>
            </a:r>
          </a:p>
          <a:p>
            <a:pPr marL="990600" lvl="1" indent="-533400" eaLnBrk="1" hangingPunct="1"/>
            <a:r>
              <a:rPr lang="en-US" altLang="zh-CN" dirty="0"/>
              <a:t>n</a:t>
            </a:r>
            <a:r>
              <a:rPr lang="zh-CN" altLang="en-US" dirty="0"/>
              <a:t>的原值可保存在</a:t>
            </a:r>
            <a:r>
              <a:rPr lang="en-US" altLang="zh-CN" dirty="0"/>
              <a:t>p</a:t>
            </a:r>
            <a:r>
              <a:rPr lang="zh-CN" altLang="en-US" dirty="0"/>
              <a:t>的活动记录中，当活动结束时恢复</a:t>
            </a:r>
          </a:p>
        </p:txBody>
      </p:sp>
      <p:sp>
        <p:nvSpPr>
          <p:cNvPr id="59396" name="Line 4">
            <a:extLst>
              <a:ext uri="{FF2B5EF4-FFF2-40B4-BE49-F238E27FC236}">
                <a16:creationId xmlns:a16="http://schemas.microsoft.com/office/drawing/2014/main" id="{8B89C3ED-520C-42CF-A7A6-42EF532765B2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133600" y="21336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C6841939-B96F-4D85-AA70-3C0D69DCAED2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133600" y="21336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75860E1-E28A-475C-9BA8-9E5993A80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  </a:t>
            </a:r>
            <a:r>
              <a:rPr lang="zh-CN" altLang="en-US"/>
              <a:t>参数传递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F6779B5-697F-4E6D-A6C9-4E6EBDB7F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CN"/>
              <a:t>7.5.1  </a:t>
            </a:r>
            <a:r>
              <a:rPr lang="zh-CN" altLang="en-US"/>
              <a:t>传值方式，</a:t>
            </a:r>
            <a:r>
              <a:rPr lang="en-US" altLang="zh-CN">
                <a:solidFill>
                  <a:srgbClr val="FF3300"/>
                </a:solidFill>
              </a:rPr>
              <a:t>call-by-value</a:t>
            </a:r>
          </a:p>
          <a:p>
            <a:pPr lvl="1" eaLnBrk="1" hangingPunct="1"/>
            <a:r>
              <a:rPr lang="zh-CN" altLang="en-US"/>
              <a:t>形参与局部名字同样处理</a:t>
            </a:r>
            <a:r>
              <a:rPr lang="zh-CN" altLang="en-US">
                <a:sym typeface="Wingdings" panose="05000000000000000000" pitchFamily="2" charset="2"/>
              </a:rPr>
              <a:t>存储位置在被调用函数的活动记录中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调用函数计算实参值，将其右值放置到形参的存储位置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对形参的操作不会影响实参的值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3A96A35-16DA-4979-9C35-547BD440D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传值方式例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B78D80C-FC3A-48EC-9DAB-EB968F7A9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void swap(int x, int y)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{	int temp;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temp = x; x = y; y = temp;	}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void main()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{	int a = 1, b = 2;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swap(a, b);	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printf(“a is now %d, b is </a:t>
            </a:r>
            <a:br>
              <a:rPr lang="en-US" altLang="zh-CN" sz="2400"/>
            </a:br>
            <a:r>
              <a:rPr lang="en-US" altLang="zh-CN" sz="2400"/>
              <a:t>	now %d\n”, a, b); }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21142470-2D42-4824-B57D-8A527C6489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562600" y="2133600"/>
            <a:ext cx="327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结果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a is now 1, b is now 2</a:t>
            </a: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A5101EE3-1480-4903-ADD7-CCE96C9629DB}"/>
              </a:ext>
            </a:extLst>
          </p:cNvPr>
          <p:cNvGraphicFramePr>
            <a:graphicFrameLocks noGrp="1"/>
          </p:cNvGraphicFramePr>
          <p:nvPr/>
        </p:nvGraphicFramePr>
        <p:xfrm>
          <a:off x="5364163" y="3405188"/>
          <a:ext cx="1524000" cy="2387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调用者</a:t>
                      </a:r>
                      <a:b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存储空间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18">
            <a:extLst>
              <a:ext uri="{FF2B5EF4-FFF2-40B4-BE49-F238E27FC236}">
                <a16:creationId xmlns:a16="http://schemas.microsoft.com/office/drawing/2014/main" id="{412B91B3-C2E5-415D-ADE7-5C23FAA5CB1E}"/>
              </a:ext>
            </a:extLst>
          </p:cNvPr>
          <p:cNvGraphicFramePr>
            <a:graphicFrameLocks noGrp="1"/>
          </p:cNvGraphicFramePr>
          <p:nvPr/>
        </p:nvGraphicFramePr>
        <p:xfrm>
          <a:off x="7269163" y="3405188"/>
          <a:ext cx="1524000" cy="28321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swap</a:t>
                      </a:r>
                      <a:b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存储空间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temp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8DEFA2B-D4AC-4109-AA4F-1793BB609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通过传递指针改变实参值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705D35C-002B-42E0-A31F-AD2F6039E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void swap(int *x, int *y)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int temp;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temp = *x; *x = *y; *y = temp;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void main()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int a = 1, b =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swap(&amp;a, &amp;b);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printf(“a is now %d, b is now %d\n”, a, b);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800"/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5A1A86D0-7DA3-4AFA-963C-ECFAED9ADDC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334000" y="3962400"/>
            <a:ext cx="327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结果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a is now 2, b is now 1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55179EFA-218C-4063-80EC-CD26E718E5F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096000" y="19812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显式传递地址</a:t>
            </a:r>
          </a:p>
        </p:txBody>
      </p:sp>
      <p:sp>
        <p:nvSpPr>
          <p:cNvPr id="62470" name="Freeform 6">
            <a:extLst>
              <a:ext uri="{FF2B5EF4-FFF2-40B4-BE49-F238E27FC236}">
                <a16:creationId xmlns:a16="http://schemas.microsoft.com/office/drawing/2014/main" id="{D21803A2-9FFB-43D6-95A3-68647BDC1DAD}"/>
              </a:ext>
            </a:extLst>
          </p:cNvPr>
          <p:cNvSpPr>
            <a:spLocks/>
          </p:cNvSpPr>
          <p:nvPr/>
        </p:nvSpPr>
        <p:spPr bwMode="ltGray">
          <a:xfrm>
            <a:off x="3165475" y="2362200"/>
            <a:ext cx="3387725" cy="2139950"/>
          </a:xfrm>
          <a:custGeom>
            <a:avLst/>
            <a:gdLst>
              <a:gd name="T0" fmla="*/ 2147483646 w 2134"/>
              <a:gd name="T1" fmla="*/ 0 h 1348"/>
              <a:gd name="T2" fmla="*/ 0 w 2134"/>
              <a:gd name="T3" fmla="*/ 2147483646 h 1348"/>
              <a:gd name="T4" fmla="*/ 0 60000 65536"/>
              <a:gd name="T5" fmla="*/ 0 60000 65536"/>
              <a:gd name="T6" fmla="*/ 0 w 2134"/>
              <a:gd name="T7" fmla="*/ 0 h 1348"/>
              <a:gd name="T8" fmla="*/ 2134 w 2134"/>
              <a:gd name="T9" fmla="*/ 1348 h 13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34" h="1348">
                <a:moveTo>
                  <a:pt x="2134" y="0"/>
                </a:moveTo>
                <a:lnTo>
                  <a:pt x="0" y="1348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1" name="Freeform 7">
            <a:extLst>
              <a:ext uri="{FF2B5EF4-FFF2-40B4-BE49-F238E27FC236}">
                <a16:creationId xmlns:a16="http://schemas.microsoft.com/office/drawing/2014/main" id="{C9FEA77D-5128-471A-934A-5FF8CF1B52CD}"/>
              </a:ext>
            </a:extLst>
          </p:cNvPr>
          <p:cNvSpPr>
            <a:spLocks/>
          </p:cNvSpPr>
          <p:nvPr/>
        </p:nvSpPr>
        <p:spPr bwMode="ltGray">
          <a:xfrm>
            <a:off x="3784600" y="1617663"/>
            <a:ext cx="2692400" cy="592137"/>
          </a:xfrm>
          <a:custGeom>
            <a:avLst/>
            <a:gdLst>
              <a:gd name="T0" fmla="*/ 2147483646 w 1696"/>
              <a:gd name="T1" fmla="*/ 2147483646 h 373"/>
              <a:gd name="T2" fmla="*/ 0 w 1696"/>
              <a:gd name="T3" fmla="*/ 0 h 373"/>
              <a:gd name="T4" fmla="*/ 0 60000 65536"/>
              <a:gd name="T5" fmla="*/ 0 60000 65536"/>
              <a:gd name="T6" fmla="*/ 0 w 1696"/>
              <a:gd name="T7" fmla="*/ 0 h 373"/>
              <a:gd name="T8" fmla="*/ 1696 w 1696"/>
              <a:gd name="T9" fmla="*/ 373 h 37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96" h="373">
                <a:moveTo>
                  <a:pt x="1696" y="37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63A308E-5C4D-46A2-9176-76B3BCD3C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7.5.2  </a:t>
            </a:r>
            <a:r>
              <a:rPr lang="zh-CN" altLang="en-US"/>
              <a:t>传地址方式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62DC528-11FB-497A-9927-5760AF39B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call-by-reference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call-by-address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call-by-location</a:t>
            </a:r>
            <a:r>
              <a:rPr lang="zh-CN" altLang="en-US"/>
              <a:t>，隐含传递地址</a:t>
            </a:r>
          </a:p>
          <a:p>
            <a:pPr lvl="1" eaLnBrk="1" hangingPunct="1"/>
            <a:r>
              <a:rPr lang="zh-CN" altLang="en-US"/>
              <a:t>实参是名字或表达式，且具有左值，则其左值将被传递给形参</a:t>
            </a:r>
          </a:p>
          <a:p>
            <a:pPr lvl="1" eaLnBrk="1" hangingPunct="1"/>
            <a:r>
              <a:rPr lang="zh-CN" altLang="en-US"/>
              <a:t>实参无左值，如</a:t>
            </a:r>
            <a:r>
              <a:rPr lang="en-US" altLang="zh-CN"/>
              <a:t>a+b</a:t>
            </a:r>
            <a:r>
              <a:rPr lang="zh-CN" altLang="en-US"/>
              <a:t>或</a:t>
            </a:r>
            <a:r>
              <a:rPr lang="en-US" altLang="zh-CN"/>
              <a:t>2</a:t>
            </a:r>
            <a:r>
              <a:rPr lang="zh-CN" altLang="en-US"/>
              <a:t>，则为其分配新的空间，将此空间的地址传递给形参</a:t>
            </a:r>
          </a:p>
          <a:p>
            <a:pPr lvl="1" eaLnBrk="1" hangingPunct="1"/>
            <a:r>
              <a:rPr lang="zh-CN" altLang="en-US"/>
              <a:t>形参与实参</a:t>
            </a:r>
            <a:r>
              <a:rPr lang="en-US" altLang="zh-CN"/>
              <a:t>——</a:t>
            </a:r>
            <a:r>
              <a:rPr lang="zh-CN" altLang="en-US"/>
              <a:t>同一个数据对象</a:t>
            </a:r>
          </a:p>
          <a:p>
            <a:pPr lvl="1" eaLnBrk="1" hangingPunct="1"/>
            <a:r>
              <a:rPr lang="zh-CN" altLang="en-US"/>
              <a:t>引用形参</a:t>
            </a:r>
            <a:r>
              <a:rPr lang="en-US" altLang="zh-CN"/>
              <a:t>——</a:t>
            </a:r>
            <a:r>
              <a:rPr lang="zh-CN" altLang="en-US"/>
              <a:t>用传递来的指针进行间接引用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FA3B38F-7942-4062-9101-1637F05C2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7.7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93E307D-4C8F-45B9-870D-295E2EE1B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program reference(input, output)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var a, b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procedure swap(</a:t>
            </a:r>
            <a:r>
              <a:rPr lang="en-US" altLang="zh-CN" sz="2000" u="sng"/>
              <a:t>var</a:t>
            </a:r>
            <a:r>
              <a:rPr lang="en-US" altLang="zh-CN" sz="2000"/>
              <a:t> x, y : integer);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var temp : integer;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begin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temp := x; x := y; y := temp;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end;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begin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a := 1; b := 2;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swap(a, b);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writeln(‘a =‘, a); writeln(‘b =‘, b);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end.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2FFBBCC5-BDBE-441C-BC75-0DD2E4BA821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029200" y="2895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传地址方式</a:t>
            </a:r>
          </a:p>
        </p:txBody>
      </p:sp>
      <p:sp>
        <p:nvSpPr>
          <p:cNvPr id="64517" name="Line 5">
            <a:extLst>
              <a:ext uri="{FF2B5EF4-FFF2-40B4-BE49-F238E27FC236}">
                <a16:creationId xmlns:a16="http://schemas.microsoft.com/office/drawing/2014/main" id="{A6733B73-6757-41DE-9199-122BC46807A5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048000" y="2362200"/>
            <a:ext cx="22860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61D56374-EB8C-4543-BD46-9F2D9EC32E5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219700" y="1539875"/>
            <a:ext cx="3276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结果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a 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＝ 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  <a:b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b 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＝ 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1</a:t>
            </a:r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0C8B4810-5705-4AE2-B227-DD5BB4B3A4FE}"/>
              </a:ext>
            </a:extLst>
          </p:cNvPr>
          <p:cNvGraphicFramePr>
            <a:graphicFrameLocks noGrp="1"/>
          </p:cNvGraphicFramePr>
          <p:nvPr/>
        </p:nvGraphicFramePr>
        <p:xfrm>
          <a:off x="6354763" y="3500438"/>
          <a:ext cx="1219200" cy="2387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3372860464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调用者</a:t>
                      </a:r>
                      <a:b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存储空间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765851"/>
                  </a:ext>
                </a:extLst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08713"/>
                  </a:ext>
                </a:extLst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a: 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569395"/>
                  </a:ext>
                </a:extLst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b: 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89704"/>
                  </a:ext>
                </a:extLst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281036"/>
                  </a:ext>
                </a:extLst>
              </a:tr>
            </a:tbl>
          </a:graphicData>
        </a:graphic>
      </p:graphicFrame>
      <p:graphicFrame>
        <p:nvGraphicFramePr>
          <p:cNvPr id="8" name="Group 22">
            <a:extLst>
              <a:ext uri="{FF2B5EF4-FFF2-40B4-BE49-F238E27FC236}">
                <a16:creationId xmlns:a16="http://schemas.microsoft.com/office/drawing/2014/main" id="{BD52726E-D49C-4175-90BD-49E2E6BAB321}"/>
              </a:ext>
            </a:extLst>
          </p:cNvPr>
          <p:cNvGraphicFramePr>
            <a:graphicFrameLocks noGrp="1"/>
          </p:cNvGraphicFramePr>
          <p:nvPr/>
        </p:nvGraphicFramePr>
        <p:xfrm>
          <a:off x="7802563" y="3500438"/>
          <a:ext cx="1219200" cy="28321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swap</a:t>
                      </a:r>
                      <a:b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存储空间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x:1000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y:1004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temp: 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549" name="Line 39">
            <a:extLst>
              <a:ext uri="{FF2B5EF4-FFF2-40B4-BE49-F238E27FC236}">
                <a16:creationId xmlns:a16="http://schemas.microsoft.com/office/drawing/2014/main" id="{A9747759-91DE-476C-9A4E-A27F749C99BA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7526338" y="4762500"/>
            <a:ext cx="504825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0" name="Line 40">
            <a:extLst>
              <a:ext uri="{FF2B5EF4-FFF2-40B4-BE49-F238E27FC236}">
                <a16:creationId xmlns:a16="http://schemas.microsoft.com/office/drawing/2014/main" id="{0540275C-D28E-44D8-B0CD-9F8E10E321AC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7526338" y="5138738"/>
            <a:ext cx="504825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" name="Group 41">
            <a:extLst>
              <a:ext uri="{FF2B5EF4-FFF2-40B4-BE49-F238E27FC236}">
                <a16:creationId xmlns:a16="http://schemas.microsoft.com/office/drawing/2014/main" id="{8CBD8956-E8B7-45AF-B398-82FEE431087C}"/>
              </a:ext>
            </a:extLst>
          </p:cNvPr>
          <p:cNvGraphicFramePr>
            <a:graphicFrameLocks noGrp="1"/>
          </p:cNvGraphicFramePr>
          <p:nvPr/>
        </p:nvGraphicFramePr>
        <p:xfrm>
          <a:off x="5364163" y="4554538"/>
          <a:ext cx="1219200" cy="1778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1000: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1004: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8410BF9-6DB8-4E97-A6C5-71E179F55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7.7</a:t>
            </a:r>
            <a:r>
              <a:rPr lang="zh-CN" altLang="en-US"/>
              <a:t>（续）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3549AF4-0AF1-448F-B938-E3DE3AA11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若调用</a:t>
            </a:r>
            <a:r>
              <a:rPr lang="en-US" altLang="zh-CN" sz="2800"/>
              <a:t>swap(i, a[i])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将</a:t>
            </a:r>
            <a:r>
              <a:rPr lang="en-US" altLang="zh-CN" sz="2400"/>
              <a:t>i</a:t>
            </a:r>
            <a:r>
              <a:rPr lang="zh-CN" altLang="en-US" sz="2400"/>
              <a:t>和</a:t>
            </a:r>
            <a:r>
              <a:rPr lang="en-US" altLang="zh-CN" sz="2400"/>
              <a:t>a[i]</a:t>
            </a:r>
            <a:r>
              <a:rPr lang="zh-CN" altLang="en-US" sz="2400"/>
              <a:t>的左值复制到</a:t>
            </a:r>
            <a:r>
              <a:rPr lang="en-US" altLang="zh-CN" sz="2400"/>
              <a:t>swap</a:t>
            </a:r>
            <a:r>
              <a:rPr lang="zh-CN" altLang="en-US" sz="2400"/>
              <a:t>的活动记录中，假定保存在</a:t>
            </a:r>
            <a:r>
              <a:rPr lang="en-US" altLang="zh-CN" sz="2400"/>
              <a:t>arg1</a:t>
            </a:r>
            <a:r>
              <a:rPr lang="zh-CN" altLang="en-US" sz="2400"/>
              <a:t>和</a:t>
            </a:r>
            <a:r>
              <a:rPr lang="en-US" altLang="zh-CN" sz="2400"/>
              <a:t>arg2</a:t>
            </a:r>
            <a:r>
              <a:rPr lang="zh-CN" altLang="en-US" sz="2400"/>
              <a:t>两个位置</a:t>
            </a:r>
            <a:r>
              <a:rPr lang="en-US" altLang="zh-CN" sz="2400"/>
              <a:t>——</a:t>
            </a:r>
            <a:r>
              <a:rPr lang="zh-CN" altLang="en-US" sz="2400"/>
              <a:t>分别对应形参</a:t>
            </a:r>
            <a:r>
              <a:rPr lang="en-US" altLang="zh-CN" sz="2400"/>
              <a:t>x</a:t>
            </a:r>
            <a:r>
              <a:rPr lang="zh-CN" altLang="en-US" sz="2400"/>
              <a:t>和</a:t>
            </a:r>
            <a:r>
              <a:rPr lang="en-US" altLang="zh-CN" sz="2400"/>
              <a:t>y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temp:=x——</a:t>
            </a:r>
            <a:r>
              <a:rPr lang="zh-CN" altLang="en-US" sz="2400"/>
              <a:t>将</a:t>
            </a:r>
            <a:r>
              <a:rPr lang="en-US" altLang="zh-CN" sz="2400"/>
              <a:t>arg1</a:t>
            </a:r>
            <a:r>
              <a:rPr lang="zh-CN" altLang="en-US" sz="2400"/>
              <a:t>指向位置的值（</a:t>
            </a:r>
            <a:r>
              <a:rPr lang="en-US" altLang="zh-CN" sz="2400"/>
              <a:t>i</a:t>
            </a:r>
            <a:r>
              <a:rPr lang="zh-CN" altLang="en-US" sz="2400"/>
              <a:t>的初值，假定为</a:t>
            </a:r>
            <a:r>
              <a:rPr lang="en-US" altLang="zh-CN" sz="2400"/>
              <a:t>I</a:t>
            </a:r>
            <a:r>
              <a:rPr lang="en-US" altLang="zh-CN" sz="2400" baseline="-25000"/>
              <a:t>0</a:t>
            </a:r>
            <a:r>
              <a:rPr lang="zh-CN" altLang="en-US" sz="2400"/>
              <a:t>）赋予</a:t>
            </a:r>
            <a:r>
              <a:rPr lang="en-US" altLang="zh-CN" sz="2400"/>
              <a:t>temp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x:=y——</a:t>
            </a:r>
            <a:r>
              <a:rPr lang="zh-CN" altLang="en-US" sz="2400"/>
              <a:t>将</a:t>
            </a:r>
            <a:r>
              <a:rPr lang="en-US" altLang="zh-CN" sz="2400"/>
              <a:t>arg2</a:t>
            </a:r>
            <a:r>
              <a:rPr lang="zh-CN" altLang="en-US" sz="2400"/>
              <a:t>指向位置的值赋予</a:t>
            </a:r>
            <a:r>
              <a:rPr lang="en-US" altLang="zh-CN" sz="2400"/>
              <a:t>arg1</a:t>
            </a:r>
            <a:r>
              <a:rPr lang="zh-CN" altLang="en-US" sz="2400"/>
              <a:t>指向的位置</a:t>
            </a:r>
            <a:r>
              <a:rPr lang="en-US" altLang="zh-CN" sz="2400"/>
              <a:t>——i := a[I</a:t>
            </a:r>
            <a:r>
              <a:rPr lang="en-US" altLang="zh-CN" sz="2400" baseline="-25000"/>
              <a:t>0</a:t>
            </a:r>
            <a:r>
              <a:rPr lang="en-US" altLang="zh-CN" sz="2400"/>
              <a:t>]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y:=temp——</a:t>
            </a:r>
            <a:r>
              <a:rPr lang="zh-CN" altLang="en-US" sz="2400"/>
              <a:t>将</a:t>
            </a:r>
            <a:r>
              <a:rPr lang="en-US" altLang="zh-CN" sz="2400"/>
              <a:t>temp</a:t>
            </a:r>
            <a:r>
              <a:rPr lang="zh-CN" altLang="en-US" sz="2400"/>
              <a:t>的值赋予</a:t>
            </a:r>
            <a:r>
              <a:rPr lang="en-US" altLang="zh-CN" sz="2400"/>
              <a:t>arg2</a:t>
            </a:r>
            <a:r>
              <a:rPr lang="zh-CN" altLang="en-US" sz="2400"/>
              <a:t>指向的位置</a:t>
            </a:r>
            <a:r>
              <a:rPr lang="en-US" altLang="zh-CN" sz="2400"/>
              <a:t>——a[I</a:t>
            </a:r>
            <a:r>
              <a:rPr lang="en-US" altLang="zh-CN" sz="2400" baseline="-25000"/>
              <a:t>0</a:t>
            </a:r>
            <a:r>
              <a:rPr lang="en-US" altLang="zh-CN" sz="2400"/>
              <a:t>]:=I</a:t>
            </a:r>
            <a:r>
              <a:rPr lang="en-US" altLang="zh-CN" sz="2400" baseline="-25000"/>
              <a:t>0</a:t>
            </a:r>
            <a:endParaRPr lang="en-US" altLang="zh-CN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F3C1733-3F41-443B-BF11-B523399AE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7.5.3  </a:t>
            </a:r>
            <a:r>
              <a:rPr lang="zh-CN" altLang="en-US"/>
              <a:t>复制－恢复方式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73C7697-45D4-4216-A92E-CC2DDA2E2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>
                <a:solidFill>
                  <a:srgbClr val="FF3300"/>
                </a:solidFill>
              </a:rPr>
              <a:t>copy-restore</a:t>
            </a:r>
            <a:r>
              <a:rPr lang="zh-CN" altLang="en-US"/>
              <a:t>，传值和传地址的混合，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copy-in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value-result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进入被调用函数之前，计算实参值，将其右值传送到被调用函数（传值）。另外，若实参有左值的话，还要求出左值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当调用返回时，将形参当前的右值复制回实参左值指向位置。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CEC75DD-7C3B-4F4B-A323-CB7731D2B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47F50C1-C62F-47B7-9DB7-A02EE3E48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program copyout(input, output);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var a 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procedure unsafe(var x : integer);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begin x := 2; a := 0; end;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a := 1; unsafe(a); writeln(a);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end.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418CE056-1C83-4A3A-AF19-1EB1CB78551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791200" y="1676400"/>
            <a:ext cx="28956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传地址方式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x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指向相同内存地址，先被赋值为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，然后赋值为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，因此最终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的值为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67589" name="Freeform 5">
            <a:extLst>
              <a:ext uri="{FF2B5EF4-FFF2-40B4-BE49-F238E27FC236}">
                <a16:creationId xmlns:a16="http://schemas.microsoft.com/office/drawing/2014/main" id="{77CB3C1C-E844-418C-B26C-4E26B44A3A24}"/>
              </a:ext>
            </a:extLst>
          </p:cNvPr>
          <p:cNvSpPr>
            <a:spLocks/>
          </p:cNvSpPr>
          <p:nvPr/>
        </p:nvSpPr>
        <p:spPr bwMode="ltGray">
          <a:xfrm>
            <a:off x="3938588" y="2251075"/>
            <a:ext cx="2025650" cy="309563"/>
          </a:xfrm>
          <a:custGeom>
            <a:avLst/>
            <a:gdLst>
              <a:gd name="T0" fmla="*/ 2147483646 w 1276"/>
              <a:gd name="T1" fmla="*/ 0 h 195"/>
              <a:gd name="T2" fmla="*/ 0 w 1276"/>
              <a:gd name="T3" fmla="*/ 2147483646 h 195"/>
              <a:gd name="T4" fmla="*/ 0 60000 65536"/>
              <a:gd name="T5" fmla="*/ 0 60000 65536"/>
              <a:gd name="T6" fmla="*/ 0 w 1276"/>
              <a:gd name="T7" fmla="*/ 0 h 195"/>
              <a:gd name="T8" fmla="*/ 1276 w 1276"/>
              <a:gd name="T9" fmla="*/ 195 h 1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6" h="195">
                <a:moveTo>
                  <a:pt x="1276" y="0"/>
                </a:moveTo>
                <a:lnTo>
                  <a:pt x="0" y="195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0" name="Freeform 6">
            <a:extLst>
              <a:ext uri="{FF2B5EF4-FFF2-40B4-BE49-F238E27FC236}">
                <a16:creationId xmlns:a16="http://schemas.microsoft.com/office/drawing/2014/main" id="{DCC2D8FD-0DB3-41EF-BD3F-CE2544C7F60E}"/>
              </a:ext>
            </a:extLst>
          </p:cNvPr>
          <p:cNvSpPr>
            <a:spLocks/>
          </p:cNvSpPr>
          <p:nvPr/>
        </p:nvSpPr>
        <p:spPr bwMode="ltGray">
          <a:xfrm>
            <a:off x="5064125" y="3352800"/>
            <a:ext cx="3756025" cy="327025"/>
          </a:xfrm>
          <a:custGeom>
            <a:avLst/>
            <a:gdLst>
              <a:gd name="T0" fmla="*/ 2147483646 w 2366"/>
              <a:gd name="T1" fmla="*/ 0 h 206"/>
              <a:gd name="T2" fmla="*/ 2147483646 w 2366"/>
              <a:gd name="T3" fmla="*/ 2147483646 h 206"/>
              <a:gd name="T4" fmla="*/ 0 w 2366"/>
              <a:gd name="T5" fmla="*/ 2147483646 h 206"/>
              <a:gd name="T6" fmla="*/ 0 60000 65536"/>
              <a:gd name="T7" fmla="*/ 0 60000 65536"/>
              <a:gd name="T8" fmla="*/ 0 60000 65536"/>
              <a:gd name="T9" fmla="*/ 0 w 2366"/>
              <a:gd name="T10" fmla="*/ 0 h 206"/>
              <a:gd name="T11" fmla="*/ 2366 w 2366"/>
              <a:gd name="T12" fmla="*/ 206 h 2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66" h="206">
                <a:moveTo>
                  <a:pt x="1946" y="0"/>
                </a:moveTo>
                <a:cubicBezTo>
                  <a:pt x="2134" y="72"/>
                  <a:pt x="2366" y="178"/>
                  <a:pt x="2042" y="192"/>
                </a:cubicBezTo>
                <a:cubicBezTo>
                  <a:pt x="1718" y="206"/>
                  <a:pt x="425" y="108"/>
                  <a:pt x="0" y="86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1" name="Text Box 8">
            <a:extLst>
              <a:ext uri="{FF2B5EF4-FFF2-40B4-BE49-F238E27FC236}">
                <a16:creationId xmlns:a16="http://schemas.microsoft.com/office/drawing/2014/main" id="{B7E78F1A-5A1F-4FBF-84C2-6BF5B001446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33400" y="3962400"/>
            <a:ext cx="3810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  <a:t>复制－恢复方式</a:t>
            </a:r>
            <a:b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x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指向不同内存地址，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unsafe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结束后，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a=0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x=2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，此时进行恢复，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x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a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，最终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a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的值为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2</a:t>
            </a:r>
            <a:endParaRPr lang="en-US" altLang="zh-CN" sz="20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67592" name="Freeform 9">
            <a:extLst>
              <a:ext uri="{FF2B5EF4-FFF2-40B4-BE49-F238E27FC236}">
                <a16:creationId xmlns:a16="http://schemas.microsoft.com/office/drawing/2014/main" id="{31FA5721-D250-473C-93A4-F74CD01D8DE0}"/>
              </a:ext>
            </a:extLst>
          </p:cNvPr>
          <p:cNvSpPr>
            <a:spLocks/>
          </p:cNvSpPr>
          <p:nvPr/>
        </p:nvSpPr>
        <p:spPr bwMode="ltGray">
          <a:xfrm>
            <a:off x="9525" y="2673350"/>
            <a:ext cx="2143125" cy="2447925"/>
          </a:xfrm>
          <a:custGeom>
            <a:avLst/>
            <a:gdLst>
              <a:gd name="T0" fmla="*/ 2147483646 w 1350"/>
              <a:gd name="T1" fmla="*/ 2147483646 h 1542"/>
              <a:gd name="T2" fmla="*/ 2147483646 w 1350"/>
              <a:gd name="T3" fmla="*/ 2147483646 h 1542"/>
              <a:gd name="T4" fmla="*/ 2147483646 w 1350"/>
              <a:gd name="T5" fmla="*/ 2147483646 h 1542"/>
              <a:gd name="T6" fmla="*/ 2147483646 w 1350"/>
              <a:gd name="T7" fmla="*/ 0 h 1542"/>
              <a:gd name="T8" fmla="*/ 0 60000 65536"/>
              <a:gd name="T9" fmla="*/ 0 60000 65536"/>
              <a:gd name="T10" fmla="*/ 0 60000 65536"/>
              <a:gd name="T11" fmla="*/ 0 60000 65536"/>
              <a:gd name="T12" fmla="*/ 0 w 1350"/>
              <a:gd name="T13" fmla="*/ 0 h 1542"/>
              <a:gd name="T14" fmla="*/ 1350 w 1350"/>
              <a:gd name="T15" fmla="*/ 1542 h 15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50" h="1542">
                <a:moveTo>
                  <a:pt x="473" y="1542"/>
                </a:moveTo>
                <a:cubicBezTo>
                  <a:pt x="414" y="1473"/>
                  <a:pt x="153" y="1318"/>
                  <a:pt x="109" y="1107"/>
                </a:cubicBezTo>
                <a:cubicBezTo>
                  <a:pt x="65" y="896"/>
                  <a:pt x="0" y="458"/>
                  <a:pt x="207" y="274"/>
                </a:cubicBezTo>
                <a:cubicBezTo>
                  <a:pt x="414" y="90"/>
                  <a:pt x="1112" y="57"/>
                  <a:pt x="1350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3" name="Freeform 10">
            <a:extLst>
              <a:ext uri="{FF2B5EF4-FFF2-40B4-BE49-F238E27FC236}">
                <a16:creationId xmlns:a16="http://schemas.microsoft.com/office/drawing/2014/main" id="{B2DD0E63-26CC-4347-B166-D2B28C554D1A}"/>
              </a:ext>
            </a:extLst>
          </p:cNvPr>
          <p:cNvSpPr>
            <a:spLocks/>
          </p:cNvSpPr>
          <p:nvPr/>
        </p:nvSpPr>
        <p:spPr bwMode="ltGray">
          <a:xfrm>
            <a:off x="4037013" y="3559175"/>
            <a:ext cx="590550" cy="1766888"/>
          </a:xfrm>
          <a:custGeom>
            <a:avLst/>
            <a:gdLst>
              <a:gd name="T0" fmla="*/ 0 w 372"/>
              <a:gd name="T1" fmla="*/ 2147483646 h 1113"/>
              <a:gd name="T2" fmla="*/ 2147483646 w 372"/>
              <a:gd name="T3" fmla="*/ 2147483646 h 1113"/>
              <a:gd name="T4" fmla="*/ 2147483646 w 372"/>
              <a:gd name="T5" fmla="*/ 0 h 1113"/>
              <a:gd name="T6" fmla="*/ 0 60000 65536"/>
              <a:gd name="T7" fmla="*/ 0 60000 65536"/>
              <a:gd name="T8" fmla="*/ 0 60000 65536"/>
              <a:gd name="T9" fmla="*/ 0 w 372"/>
              <a:gd name="T10" fmla="*/ 0 h 1113"/>
              <a:gd name="T11" fmla="*/ 372 w 372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113">
                <a:moveTo>
                  <a:pt x="0" y="992"/>
                </a:moveTo>
                <a:cubicBezTo>
                  <a:pt x="49" y="985"/>
                  <a:pt x="222" y="1113"/>
                  <a:pt x="284" y="948"/>
                </a:cubicBezTo>
                <a:cubicBezTo>
                  <a:pt x="346" y="783"/>
                  <a:pt x="354" y="197"/>
                  <a:pt x="372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4A20398-C54A-4A6B-91F3-DC020628D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7.5.4  </a:t>
            </a:r>
            <a:r>
              <a:rPr lang="zh-CN" altLang="en-US"/>
              <a:t>传名方式</a:t>
            </a:r>
            <a:r>
              <a:rPr lang="en-US" altLang="zh-CN"/>
              <a:t>(</a:t>
            </a:r>
            <a:r>
              <a:rPr lang="en-US" altLang="zh-CN">
                <a:solidFill>
                  <a:srgbClr val="FF3300"/>
                </a:solidFill>
              </a:rPr>
              <a:t>call-by-name</a:t>
            </a:r>
            <a:r>
              <a:rPr lang="en-US" altLang="zh-CN"/>
              <a:t>)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2C9C96D2-7928-4B85-B90F-43A79F896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sz="2800"/>
              <a:t>Algol</a:t>
            </a:r>
            <a:r>
              <a:rPr lang="zh-CN" altLang="en-US" sz="2800"/>
              <a:t>，拷贝规则，</a:t>
            </a:r>
            <a:r>
              <a:rPr lang="en-US" altLang="zh-CN" sz="2800">
                <a:solidFill>
                  <a:srgbClr val="FF3300"/>
                </a:solidFill>
              </a:rPr>
              <a:t>copy-rule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过程像宏一样处理</a:t>
            </a:r>
          </a:p>
          <a:p>
            <a:pPr marL="1371600" lvl="2" indent="-457200" eaLnBrk="1" hangingPunct="1"/>
            <a:r>
              <a:rPr lang="zh-CN" altLang="en-US" sz="2000"/>
              <a:t>被调用</a:t>
            </a:r>
            <a:r>
              <a:rPr lang="en-US" altLang="zh-CN" sz="2000"/>
              <a:t>——</a:t>
            </a:r>
            <a:r>
              <a:rPr lang="zh-CN" altLang="en-US" sz="2000"/>
              <a:t>用过程体程序文本替换过程名</a:t>
            </a:r>
          </a:p>
          <a:p>
            <a:pPr marL="1371600" lvl="2" indent="-457200" eaLnBrk="1" hangingPunct="1"/>
            <a:r>
              <a:rPr lang="zh-CN" altLang="en-US" sz="2000"/>
              <a:t>实参的程序文本替换形参</a:t>
            </a:r>
          </a:p>
          <a:p>
            <a:pPr marL="1371600" lvl="2" indent="-457200" eaLnBrk="1" hangingPunct="1"/>
            <a:r>
              <a:rPr lang="zh-CN" altLang="en-US" sz="2000"/>
              <a:t>宏扩展，</a:t>
            </a:r>
            <a:r>
              <a:rPr lang="en-US" altLang="zh-CN" sz="2000"/>
              <a:t>marco-expansion</a:t>
            </a:r>
            <a:br>
              <a:rPr lang="en-US" altLang="zh-CN" sz="2000"/>
            </a:br>
            <a:r>
              <a:rPr lang="zh-CN" altLang="en-US" sz="2000"/>
              <a:t>内联扩展，</a:t>
            </a:r>
            <a:r>
              <a:rPr lang="en-US" altLang="zh-CN" sz="2000"/>
              <a:t>in-line expansion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被调用过程内的局部名字保证与调用过程中的名字不混淆</a:t>
            </a:r>
            <a:r>
              <a:rPr lang="en-US" altLang="zh-CN" sz="2400"/>
              <a:t>——</a:t>
            </a:r>
            <a:r>
              <a:rPr lang="zh-CN" altLang="en-US" sz="2400"/>
              <a:t>可认为这些局部名字在宏扩展前改名为独一无二的名字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实参可能被加以括号，以保证完整性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79A75349-A311-44E0-9CB3-11A6B8088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7.8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CB4D5C0-2396-4808-BD60-CB1BF8FF3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swap(i, a[i]);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</a:p>
          <a:p>
            <a:pPr eaLnBrk="1" hangingPunct="1"/>
            <a:r>
              <a:rPr lang="zh-CN" altLang="en-US" sz="2800"/>
              <a:t>在传名方式下，实际上相当于如下代码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temp := 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i := a[i];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a[i] := temp;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C3CCA280-9505-4641-863E-79BAEC79160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733800" y="3048000"/>
            <a:ext cx="54864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  <a:t>结果与传值、传地址均不相同！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设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=1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a[1]=0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temp1temp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a[I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]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i——0i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a[a[I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]]——1a[0]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而期望的是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a[I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]——1a[1]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原因：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x:=temp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x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的地址此时才计算，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而传地址方式确定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x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地址的位置</a:t>
            </a:r>
          </a:p>
        </p:txBody>
      </p:sp>
      <p:sp>
        <p:nvSpPr>
          <p:cNvPr id="69637" name="Line 5">
            <a:extLst>
              <a:ext uri="{FF2B5EF4-FFF2-40B4-BE49-F238E27FC236}">
                <a16:creationId xmlns:a16="http://schemas.microsoft.com/office/drawing/2014/main" id="{85797F94-5366-4B44-9CD2-D22CFFDB6261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209800" y="3581400"/>
            <a:ext cx="1524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Line 6">
            <a:extLst>
              <a:ext uri="{FF2B5EF4-FFF2-40B4-BE49-F238E27FC236}">
                <a16:creationId xmlns:a16="http://schemas.microsoft.com/office/drawing/2014/main" id="{6C70CFFD-B8B1-4A91-8F38-DB5C5B9E1BA4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133600" y="3962400"/>
            <a:ext cx="16002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Line 7">
            <a:extLst>
              <a:ext uri="{FF2B5EF4-FFF2-40B4-BE49-F238E27FC236}">
                <a16:creationId xmlns:a16="http://schemas.microsoft.com/office/drawing/2014/main" id="{FCB32760-2DF8-425B-91AF-23EC3EC48CE8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590800" y="4343400"/>
            <a:ext cx="1143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38C9D331-144E-43F8-A79E-7F8563BA62AC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2590800" y="4419600"/>
            <a:ext cx="12192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1" name="Freeform 9">
            <a:extLst>
              <a:ext uri="{FF2B5EF4-FFF2-40B4-BE49-F238E27FC236}">
                <a16:creationId xmlns:a16="http://schemas.microsoft.com/office/drawing/2014/main" id="{BEE8B226-F0A6-4574-9DD6-9892C8ABE10A}"/>
              </a:ext>
            </a:extLst>
          </p:cNvPr>
          <p:cNvSpPr>
            <a:spLocks/>
          </p:cNvSpPr>
          <p:nvPr/>
        </p:nvSpPr>
        <p:spPr bwMode="ltGray">
          <a:xfrm>
            <a:off x="261938" y="3160713"/>
            <a:ext cx="7475537" cy="2466975"/>
          </a:xfrm>
          <a:custGeom>
            <a:avLst/>
            <a:gdLst>
              <a:gd name="T0" fmla="*/ 2147483646 w 4709"/>
              <a:gd name="T1" fmla="*/ 2147483646 h 1554"/>
              <a:gd name="T2" fmla="*/ 2147483646 w 4709"/>
              <a:gd name="T3" fmla="*/ 2147483646 h 1554"/>
              <a:gd name="T4" fmla="*/ 2147483646 w 4709"/>
              <a:gd name="T5" fmla="*/ 2147483646 h 1554"/>
              <a:gd name="T6" fmla="*/ 2147483646 w 4709"/>
              <a:gd name="T7" fmla="*/ 2147483646 h 1554"/>
              <a:gd name="T8" fmla="*/ 2147483646 w 4709"/>
              <a:gd name="T9" fmla="*/ 2147483646 h 1554"/>
              <a:gd name="T10" fmla="*/ 2147483646 w 4709"/>
              <a:gd name="T11" fmla="*/ 2147483646 h 15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709"/>
              <a:gd name="T19" fmla="*/ 0 h 1554"/>
              <a:gd name="T20" fmla="*/ 4709 w 4709"/>
              <a:gd name="T21" fmla="*/ 1554 h 15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709" h="1554">
                <a:moveTo>
                  <a:pt x="4470" y="1350"/>
                </a:moveTo>
                <a:cubicBezTo>
                  <a:pt x="4460" y="1378"/>
                  <a:pt x="4709" y="1497"/>
                  <a:pt x="4408" y="1518"/>
                </a:cubicBezTo>
                <a:cubicBezTo>
                  <a:pt x="4107" y="1539"/>
                  <a:pt x="3328" y="1554"/>
                  <a:pt x="2662" y="1474"/>
                </a:cubicBezTo>
                <a:cubicBezTo>
                  <a:pt x="1996" y="1394"/>
                  <a:pt x="822" y="1261"/>
                  <a:pt x="411" y="1040"/>
                </a:cubicBezTo>
                <a:cubicBezTo>
                  <a:pt x="0" y="819"/>
                  <a:pt x="158" y="290"/>
                  <a:pt x="198" y="145"/>
                </a:cubicBezTo>
                <a:cubicBezTo>
                  <a:pt x="238" y="0"/>
                  <a:pt x="556" y="166"/>
                  <a:pt x="650" y="17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8CB65E00-7735-4D85-815D-673BD103C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7.9  </a:t>
            </a:r>
            <a:r>
              <a:rPr lang="zh-CN" altLang="en-US"/>
              <a:t>内联函数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94A8C99-DEA5-4F43-8E43-972EAFD4A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x := f(A) + f(B);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1 </a:t>
            </a:r>
            <a:r>
              <a:rPr lang="en-US" altLang="zh-CN"/>
              <a:t>:= 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2 </a:t>
            </a:r>
            <a:r>
              <a:rPr lang="en-US" altLang="zh-CN"/>
              <a:t>:= B;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3 </a:t>
            </a:r>
            <a:r>
              <a:rPr lang="en-US" altLang="zh-CN"/>
              <a:t>:= f(t</a:t>
            </a:r>
            <a:r>
              <a:rPr lang="en-US" altLang="zh-CN" baseline="-25000"/>
              <a:t>1</a:t>
            </a:r>
            <a:r>
              <a:rPr lang="en-US" altLang="zh-CN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4 </a:t>
            </a:r>
            <a:r>
              <a:rPr lang="en-US" altLang="zh-CN"/>
              <a:t>:= f(t</a:t>
            </a:r>
            <a:r>
              <a:rPr lang="en-US" altLang="zh-CN" baseline="-25000"/>
              <a:t>2</a:t>
            </a:r>
            <a:r>
              <a:rPr lang="en-US" altLang="zh-CN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x := t</a:t>
            </a:r>
            <a:r>
              <a:rPr lang="en-US" altLang="zh-CN" baseline="-25000"/>
              <a:t>3</a:t>
            </a:r>
            <a:r>
              <a:rPr lang="en-US" altLang="zh-CN"/>
              <a:t> + t</a:t>
            </a:r>
            <a:r>
              <a:rPr lang="en-US" altLang="zh-CN" baseline="-25000"/>
              <a:t>4</a:t>
            </a:r>
            <a:r>
              <a:rPr lang="en-US" altLang="zh-CN"/>
              <a:t>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D02029F-2436-47C2-B190-655CBCDBB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7.6 </a:t>
            </a:r>
            <a:r>
              <a:rPr lang="zh-CN" altLang="en-US"/>
              <a:t>符号表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EEFC0E7-1CEC-4452-A620-796FB5255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/>
              <a:t>保存作用域和绑定信息</a:t>
            </a:r>
          </a:p>
          <a:p>
            <a:pPr eaLnBrk="1" hangingPunct="1"/>
            <a:r>
              <a:rPr lang="zh-CN" altLang="en-US" sz="2800"/>
              <a:t>基本操作</a:t>
            </a:r>
          </a:p>
          <a:p>
            <a:pPr lvl="1" eaLnBrk="1" hangingPunct="1"/>
            <a:r>
              <a:rPr lang="zh-CN" altLang="en-US" sz="2400"/>
              <a:t>添加新标识符</a:t>
            </a:r>
            <a:r>
              <a:rPr lang="en-US" altLang="zh-CN" sz="2400"/>
              <a:t>——insert</a:t>
            </a:r>
          </a:p>
          <a:p>
            <a:pPr lvl="1" eaLnBrk="1" hangingPunct="1"/>
            <a:r>
              <a:rPr lang="zh-CN" altLang="en-US" sz="2400"/>
              <a:t>查找标识符</a:t>
            </a:r>
            <a:r>
              <a:rPr lang="en-US" altLang="zh-CN" sz="2400"/>
              <a:t>——lookup</a:t>
            </a:r>
          </a:p>
          <a:p>
            <a:pPr eaLnBrk="1" hangingPunct="1"/>
            <a:r>
              <a:rPr lang="zh-CN" altLang="en-US" sz="2800"/>
              <a:t>符号表表项</a:t>
            </a:r>
            <a:r>
              <a:rPr lang="en-US" altLang="zh-CN" sz="2800"/>
              <a:t>——</a:t>
            </a:r>
            <a:r>
              <a:rPr lang="zh-CN" altLang="en-US" sz="2800"/>
              <a:t>记录</a:t>
            </a:r>
          </a:p>
          <a:p>
            <a:pPr lvl="1" eaLnBrk="1" hangingPunct="1"/>
            <a:r>
              <a:rPr lang="zh-CN" altLang="en-US" sz="2400"/>
              <a:t>一致性</a:t>
            </a:r>
          </a:p>
          <a:p>
            <a:pPr lvl="1" eaLnBrk="1" hangingPunct="1"/>
            <a:r>
              <a:rPr lang="zh-CN" altLang="en-US" sz="2400"/>
              <a:t>某些信息保存在外部，用指针指向</a:t>
            </a:r>
          </a:p>
          <a:p>
            <a:pPr lvl="1" eaLnBrk="1" hangingPunct="1"/>
            <a:r>
              <a:rPr lang="zh-CN" altLang="en-US" sz="2400"/>
              <a:t>两个主要组成部分</a:t>
            </a:r>
          </a:p>
          <a:p>
            <a:pPr lvl="2" eaLnBrk="1" hangingPunct="1"/>
            <a:r>
              <a:rPr lang="zh-CN" altLang="en-US" sz="2000"/>
              <a:t>名字：定长字符串；统一保存，指针指向</a:t>
            </a:r>
          </a:p>
          <a:p>
            <a:pPr lvl="2" eaLnBrk="1" hangingPunct="1"/>
            <a:r>
              <a:rPr lang="zh-CN" altLang="en-US" sz="2000"/>
              <a:t>属性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A42BA80-5A65-4E55-8CCF-DE0E323E5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实现方式一：线性表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9135BAD-CE3A-4B9F-B169-DC29167CF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数组方式</a:t>
            </a:r>
          </a:p>
          <a:p>
            <a:pPr lvl="1" eaLnBrk="1" hangingPunct="1"/>
            <a:r>
              <a:rPr lang="zh-CN" altLang="en-US" sz="2400"/>
              <a:t>固定大小，可能浪费，也可能不足</a:t>
            </a:r>
          </a:p>
          <a:p>
            <a:pPr eaLnBrk="1" hangingPunct="1"/>
            <a:r>
              <a:rPr lang="zh-CN" altLang="en-US" sz="2800"/>
              <a:t>链表方式</a:t>
            </a:r>
          </a:p>
          <a:p>
            <a:pPr lvl="1" eaLnBrk="1" hangingPunct="1"/>
            <a:r>
              <a:rPr lang="zh-CN" altLang="en-US" sz="2400"/>
              <a:t>动态内存分配，根据输入大小确定</a:t>
            </a:r>
          </a:p>
          <a:p>
            <a:pPr eaLnBrk="1" hangingPunct="1"/>
            <a:r>
              <a:rPr lang="zh-CN" altLang="en-US" sz="2800"/>
              <a:t>时间复杂度</a:t>
            </a:r>
          </a:p>
          <a:p>
            <a:pPr lvl="1" eaLnBrk="1" hangingPunct="1"/>
            <a:r>
              <a:rPr lang="zh-CN" altLang="en-US" sz="2400"/>
              <a:t>查找操作：与表大小线性关系</a:t>
            </a:r>
          </a:p>
          <a:p>
            <a:pPr lvl="1" eaLnBrk="1" hangingPunct="1"/>
            <a:r>
              <a:rPr lang="zh-CN" altLang="en-US" sz="2400"/>
              <a:t>插入操作</a:t>
            </a:r>
          </a:p>
          <a:p>
            <a:pPr lvl="2" eaLnBrk="1" hangingPunct="1"/>
            <a:r>
              <a:rPr lang="zh-CN" altLang="en-US" sz="2000"/>
              <a:t>一个名字允许多个表项（不检查）：常数时间</a:t>
            </a:r>
          </a:p>
          <a:p>
            <a:pPr lvl="2" eaLnBrk="1" hangingPunct="1"/>
            <a:r>
              <a:rPr lang="zh-CN" altLang="en-US" sz="2000"/>
              <a:t>检查重复表项：线性</a:t>
            </a:r>
          </a:p>
          <a:p>
            <a:pPr lvl="1" eaLnBrk="1" hangingPunct="1"/>
            <a:r>
              <a:rPr lang="en-US" altLang="zh-CN" sz="2400"/>
              <a:t>n</a:t>
            </a:r>
            <a:r>
              <a:rPr lang="zh-CN" altLang="en-US" sz="2400"/>
              <a:t>次插入，</a:t>
            </a:r>
            <a:r>
              <a:rPr lang="en-US" altLang="zh-CN" sz="2400"/>
              <a:t>e</a:t>
            </a:r>
            <a:r>
              <a:rPr lang="zh-CN" altLang="en-US" sz="2400"/>
              <a:t>次查找：</a:t>
            </a:r>
            <a:r>
              <a:rPr lang="en-US" altLang="zh-CN" sz="2400"/>
              <a:t>cn(n+e)</a:t>
            </a:r>
            <a:r>
              <a:rPr lang="zh-CN" altLang="en-US" sz="2400"/>
              <a:t>，</a:t>
            </a:r>
            <a:r>
              <a:rPr lang="en-US" altLang="zh-CN" sz="2400"/>
              <a:t>O(n</a:t>
            </a:r>
            <a:r>
              <a:rPr lang="en-US" altLang="zh-CN" sz="2400" baseline="30000"/>
              <a:t>2</a:t>
            </a:r>
            <a:r>
              <a:rPr lang="en-US" altLang="zh-CN" sz="2400"/>
              <a:t>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4EB94C0-270C-4996-9114-6FD5CA8CC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实现方式二：</a:t>
            </a:r>
            <a:r>
              <a:rPr lang="en-US" altLang="zh-CN"/>
              <a:t>hash</a:t>
            </a:r>
            <a:r>
              <a:rPr lang="zh-CN" altLang="en-US"/>
              <a:t>表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8EB66FC-589E-4272-90D0-9800815E0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开地址法：“链表数组”</a:t>
            </a:r>
          </a:p>
          <a:p>
            <a:pPr lvl="1" eaLnBrk="1" hangingPunct="1"/>
            <a:r>
              <a:rPr lang="zh-CN" altLang="en-US"/>
              <a:t>长度</a:t>
            </a:r>
            <a:r>
              <a:rPr lang="en-US" altLang="zh-CN"/>
              <a:t>m</a:t>
            </a:r>
            <a:r>
              <a:rPr lang="zh-CN" altLang="en-US"/>
              <a:t>的数组，每个元素为指向一个符号表项链表的指针</a:t>
            </a:r>
          </a:p>
          <a:p>
            <a:pPr lvl="1" eaLnBrk="1" hangingPunct="1"/>
            <a:r>
              <a:rPr lang="en-US" altLang="zh-CN"/>
              <a:t>hash</a:t>
            </a:r>
            <a:r>
              <a:rPr lang="zh-CN" altLang="en-US"/>
              <a:t>函数：</a:t>
            </a:r>
            <a:r>
              <a:rPr lang="en-US" altLang="zh-CN"/>
              <a:t>H(</a:t>
            </a:r>
            <a:r>
              <a:rPr lang="zh-CN" altLang="en-US"/>
              <a:t>名字</a:t>
            </a:r>
            <a:r>
              <a:rPr lang="en-US" altLang="zh-CN"/>
              <a:t>)</a:t>
            </a:r>
            <a:r>
              <a:rPr lang="en-US" altLang="zh-CN">
                <a:sym typeface="Wingdings" panose="05000000000000000000" pitchFamily="2" charset="2"/>
              </a:rPr>
              <a:t>{0, 1, …, m-1}</a:t>
            </a: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H(</a:t>
            </a:r>
            <a:r>
              <a:rPr lang="zh-CN" altLang="en-US">
                <a:sym typeface="Wingdings" panose="05000000000000000000" pitchFamily="2" charset="2"/>
              </a:rPr>
              <a:t>名字</a:t>
            </a:r>
            <a:r>
              <a:rPr lang="en-US" altLang="zh-CN">
                <a:sym typeface="Wingdings" panose="05000000000000000000" pitchFamily="2" charset="2"/>
              </a:rPr>
              <a:t>)=i</a:t>
            </a:r>
            <a:r>
              <a:rPr lang="zh-CN" altLang="en-US">
                <a:sym typeface="Wingdings" panose="05000000000000000000" pitchFamily="2" charset="2"/>
              </a:rPr>
              <a:t>名字存入第</a:t>
            </a:r>
            <a:r>
              <a:rPr lang="en-US" altLang="zh-CN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个链表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若</a:t>
            </a:r>
            <a:r>
              <a:rPr lang="en-US" altLang="zh-CN">
                <a:sym typeface="Wingdings" panose="05000000000000000000" pitchFamily="2" charset="2"/>
              </a:rPr>
              <a:t>hash</a:t>
            </a:r>
            <a:r>
              <a:rPr lang="zh-CN" altLang="en-US">
                <a:sym typeface="Wingdings" panose="05000000000000000000" pitchFamily="2" charset="2"/>
              </a:rPr>
              <a:t>函数设计良好，每个链表长度</a:t>
            </a:r>
            <a:r>
              <a:rPr lang="en-US" altLang="zh-CN">
                <a:sym typeface="Wingdings" panose="05000000000000000000" pitchFamily="2" charset="2"/>
              </a:rPr>
              <a:t>n/m</a:t>
            </a:r>
          </a:p>
          <a:p>
            <a:pPr lvl="1" eaLnBrk="1" hangingPunct="1"/>
            <a:r>
              <a:rPr lang="en-US" altLang="zh-CN"/>
              <a:t>n</a:t>
            </a:r>
            <a:r>
              <a:rPr lang="zh-CN" altLang="en-US"/>
              <a:t>次插入，</a:t>
            </a:r>
            <a:r>
              <a:rPr lang="en-US" altLang="zh-CN"/>
              <a:t>e</a:t>
            </a:r>
            <a:r>
              <a:rPr lang="zh-CN" altLang="en-US"/>
              <a:t>次查找：</a:t>
            </a:r>
            <a:r>
              <a:rPr lang="en-US" altLang="zh-CN"/>
              <a:t>cn(n+e)/m</a:t>
            </a:r>
          </a:p>
          <a:p>
            <a:pPr lvl="1" eaLnBrk="1" hangingPunct="1"/>
            <a:r>
              <a:rPr lang="en-US" altLang="zh-CN"/>
              <a:t>hash</a:t>
            </a:r>
            <a:r>
              <a:rPr lang="zh-CN" altLang="en-US"/>
              <a:t>函数的计算应该很高效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A52A8BD-327A-4936-B424-AE02E96E2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hash</a:t>
            </a:r>
            <a:r>
              <a:rPr lang="zh-CN" altLang="en-US"/>
              <a:t>函数的选择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A910A6F-3AB9-42F7-8291-F356930C9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原则</a:t>
            </a:r>
          </a:p>
          <a:p>
            <a:pPr lvl="1" eaLnBrk="1" hangingPunct="1"/>
            <a:r>
              <a:rPr lang="zh-CN" altLang="en-US" sz="2400"/>
              <a:t>计算简单</a:t>
            </a:r>
          </a:p>
          <a:p>
            <a:pPr lvl="1" eaLnBrk="1" hangingPunct="1"/>
            <a:r>
              <a:rPr lang="zh-CN" altLang="en-US" sz="2400"/>
              <a:t>使表项均匀分布</a:t>
            </a:r>
          </a:p>
          <a:p>
            <a:pPr eaLnBrk="1" hangingPunct="1"/>
            <a:r>
              <a:rPr lang="zh-CN" altLang="en-US" sz="2800"/>
              <a:t>常用算法</a:t>
            </a:r>
          </a:p>
          <a:p>
            <a:pPr lvl="1" eaLnBrk="1" hangingPunct="1"/>
            <a:r>
              <a:rPr lang="zh-CN" altLang="en-US" sz="2400"/>
              <a:t>字符</a:t>
            </a:r>
            <a:r>
              <a:rPr lang="zh-CN" altLang="en-US" sz="2400">
                <a:sym typeface="Wingdings" panose="05000000000000000000" pitchFamily="2" charset="2"/>
              </a:rPr>
              <a:t>整数名字整数序列</a:t>
            </a:r>
            <a:r>
              <a:rPr lang="en-US" altLang="zh-CN" sz="2400">
                <a:sym typeface="Wingdings" panose="05000000000000000000" pitchFamily="2" charset="2"/>
              </a:rPr>
              <a:t>c</a:t>
            </a:r>
            <a:r>
              <a:rPr lang="en-US" altLang="zh-CN" sz="2400" baseline="-25000">
                <a:sym typeface="Wingdings" panose="05000000000000000000" pitchFamily="2" charset="2"/>
              </a:rPr>
              <a:t>1</a:t>
            </a:r>
            <a:r>
              <a:rPr lang="en-US" altLang="zh-CN" sz="2400">
                <a:sym typeface="Wingdings" panose="05000000000000000000" pitchFamily="2" charset="2"/>
              </a:rPr>
              <a:t>, …, c</a:t>
            </a:r>
            <a:r>
              <a:rPr lang="en-US" altLang="zh-CN" sz="2400" baseline="-25000">
                <a:sym typeface="Wingdings" panose="05000000000000000000" pitchFamily="2" charset="2"/>
              </a:rPr>
              <a:t>k</a:t>
            </a:r>
            <a:endParaRPr lang="en-US" altLang="zh-CN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对整数序列进行数学运算单一整数结果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对</a:t>
            </a:r>
            <a:r>
              <a:rPr lang="en-US" altLang="zh-CN" sz="2400">
                <a:sym typeface="Wingdings" panose="05000000000000000000" pitchFamily="2" charset="2"/>
              </a:rPr>
              <a:t>m</a:t>
            </a:r>
            <a:r>
              <a:rPr lang="zh-CN" altLang="en-US" sz="2400">
                <a:sym typeface="Wingdings" panose="05000000000000000000" pitchFamily="2" charset="2"/>
              </a:rPr>
              <a:t>取模</a:t>
            </a:r>
          </a:p>
          <a:p>
            <a:pPr eaLnBrk="1" hangingPunct="1"/>
            <a:r>
              <a:rPr lang="zh-CN" altLang="en-US" sz="2800"/>
              <a:t>如：</a:t>
            </a:r>
            <a:r>
              <a:rPr lang="en-US" altLang="zh-CN" sz="2800"/>
              <a:t>h</a:t>
            </a:r>
            <a:r>
              <a:rPr lang="en-US" altLang="zh-CN" sz="2800" baseline="-25000"/>
              <a:t>0</a:t>
            </a:r>
            <a:r>
              <a:rPr lang="en-US" altLang="zh-CN" sz="2800"/>
              <a:t>=0</a:t>
            </a:r>
            <a:r>
              <a:rPr lang="zh-CN" altLang="en-US" sz="2800"/>
              <a:t>，</a:t>
            </a:r>
            <a:r>
              <a:rPr lang="en-US" altLang="zh-CN" sz="2800"/>
              <a:t>h</a:t>
            </a:r>
            <a:r>
              <a:rPr lang="en-US" altLang="zh-CN" sz="2800" baseline="-25000"/>
              <a:t>i</a:t>
            </a:r>
            <a:r>
              <a:rPr lang="en-US" altLang="zh-CN" sz="2800"/>
              <a:t>=65599*h</a:t>
            </a:r>
            <a:r>
              <a:rPr lang="en-US" altLang="zh-CN" sz="2800" baseline="-25000"/>
              <a:t>i-1</a:t>
            </a:r>
            <a:r>
              <a:rPr lang="en-US" altLang="zh-CN" sz="2800"/>
              <a:t>+c</a:t>
            </a:r>
            <a:r>
              <a:rPr lang="en-US" altLang="zh-CN" sz="2800" baseline="-25000"/>
              <a:t>i</a:t>
            </a:r>
            <a:r>
              <a:rPr lang="zh-CN" altLang="en-US" sz="2800"/>
              <a:t>，</a:t>
            </a:r>
            <a:r>
              <a:rPr lang="en-US" altLang="zh-CN" sz="2800"/>
              <a:t>H=h</a:t>
            </a:r>
            <a:r>
              <a:rPr lang="en-US" altLang="zh-CN" sz="2800" baseline="-25000"/>
              <a:t>k</a:t>
            </a:r>
            <a:r>
              <a:rPr lang="en-US" altLang="zh-CN" sz="2800"/>
              <a:t>%m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F388D790-C0BD-4198-85B9-C8FAB6EE2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作用域的处理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DFF95F0-5D1C-42A8-A828-587A29843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每个作用域一个符号表</a:t>
            </a:r>
          </a:p>
          <a:p>
            <a:pPr lvl="1" eaLnBrk="1" hangingPunct="1"/>
            <a:r>
              <a:rPr lang="zh-CN" altLang="en-US" sz="2400"/>
              <a:t>对应活动记录，附着于语法树结点</a:t>
            </a:r>
          </a:p>
          <a:p>
            <a:pPr eaLnBrk="1" hangingPunct="1"/>
            <a:r>
              <a:rPr lang="zh-CN" altLang="en-US" sz="2800"/>
              <a:t>处理作用域</a:t>
            </a:r>
            <a:r>
              <a:rPr lang="en-US" altLang="zh-CN" sz="2800"/>
              <a:t>——</a:t>
            </a:r>
            <a:r>
              <a:rPr lang="zh-CN" altLang="en-US" sz="2800"/>
              <a:t>为过程、块编号</a:t>
            </a:r>
          </a:p>
          <a:p>
            <a:pPr lvl="1" eaLnBrk="1" hangingPunct="1"/>
            <a:r>
              <a:rPr lang="zh-CN" altLang="en-US" sz="2400"/>
              <a:t>符号表项</a:t>
            </a:r>
            <a:r>
              <a:rPr lang="en-US" altLang="zh-CN" sz="2400"/>
              <a:t>——</a:t>
            </a:r>
            <a:r>
              <a:rPr lang="zh-CN" altLang="en-US" sz="2400"/>
              <a:t>保存名字和过程号</a:t>
            </a:r>
          </a:p>
          <a:p>
            <a:pPr lvl="1" eaLnBrk="1" hangingPunct="1"/>
            <a:r>
              <a:rPr lang="zh-CN" altLang="en-US" sz="2400"/>
              <a:t>名字匹配</a:t>
            </a:r>
            <a:r>
              <a:rPr lang="en-US" altLang="zh-CN" sz="2400"/>
              <a:t>——</a:t>
            </a:r>
            <a:r>
              <a:rPr lang="zh-CN" altLang="en-US" sz="2400"/>
              <a:t>名字字符串</a:t>
            </a:r>
            <a:r>
              <a:rPr lang="en-US" altLang="zh-CN" sz="2400"/>
              <a:t>&amp;</a:t>
            </a:r>
            <a:r>
              <a:rPr lang="zh-CN" altLang="en-US" sz="2400"/>
              <a:t>过程编号</a:t>
            </a:r>
          </a:p>
          <a:p>
            <a:pPr lvl="1" eaLnBrk="1" hangingPunct="1"/>
            <a:r>
              <a:rPr lang="zh-CN" altLang="en-US" sz="2400"/>
              <a:t>符号表操作</a:t>
            </a:r>
          </a:p>
          <a:p>
            <a:pPr lvl="2" eaLnBrk="1" hangingPunct="1"/>
            <a:r>
              <a:rPr lang="en-US" altLang="zh-CN" sz="2000"/>
              <a:t>lookup</a:t>
            </a:r>
            <a:r>
              <a:rPr lang="zh-CN" altLang="en-US" sz="2000"/>
              <a:t>：查找最近创建的表项</a:t>
            </a:r>
          </a:p>
          <a:p>
            <a:pPr lvl="2" eaLnBrk="1" hangingPunct="1"/>
            <a:r>
              <a:rPr lang="en-US" altLang="zh-CN" sz="2000"/>
              <a:t>insert</a:t>
            </a:r>
            <a:r>
              <a:rPr lang="zh-CN" altLang="en-US" sz="2000"/>
              <a:t>：创建新表项</a:t>
            </a:r>
          </a:p>
          <a:p>
            <a:pPr lvl="2" eaLnBrk="1" hangingPunct="1"/>
            <a:r>
              <a:rPr lang="en-US" altLang="zh-CN" sz="2000"/>
              <a:t>delete</a:t>
            </a:r>
            <a:r>
              <a:rPr lang="zh-CN" altLang="en-US" sz="2000"/>
              <a:t>：删除最近创建的表项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9FFA2D4-D4DE-4235-A9D2-C254054B7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链表实现方式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7B8E577-C684-49F9-8C73-32FE2B96C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286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2800"/>
              <a:t>front</a:t>
            </a:r>
            <a:r>
              <a:rPr lang="zh-CN" altLang="en-US" sz="2800"/>
              <a:t>：最近创建的符号表项</a:t>
            </a:r>
          </a:p>
          <a:p>
            <a:pPr eaLnBrk="1" hangingPunct="1"/>
            <a:r>
              <a:rPr lang="en-US" altLang="zh-CN" sz="2800"/>
              <a:t>insert</a:t>
            </a:r>
            <a:r>
              <a:rPr lang="zh-CN" altLang="en-US" sz="2800"/>
              <a:t>：创建表项，插入到</a:t>
            </a:r>
            <a:r>
              <a:rPr lang="en-US" altLang="zh-CN" sz="2800"/>
              <a:t>front</a:t>
            </a:r>
            <a:r>
              <a:rPr lang="zh-CN" altLang="en-US" sz="2800"/>
              <a:t>之前</a:t>
            </a:r>
          </a:p>
          <a:p>
            <a:pPr eaLnBrk="1" hangingPunct="1"/>
            <a:r>
              <a:rPr lang="en-US" altLang="zh-CN" sz="2800"/>
              <a:t>lookup</a:t>
            </a:r>
            <a:r>
              <a:rPr lang="zh-CN" altLang="en-US" sz="2800"/>
              <a:t>：从</a:t>
            </a:r>
            <a:r>
              <a:rPr lang="en-US" altLang="zh-CN" sz="2800"/>
              <a:t>front</a:t>
            </a:r>
            <a:r>
              <a:rPr lang="zh-CN" altLang="en-US" sz="2800"/>
              <a:t>开始遍历链表</a:t>
            </a:r>
          </a:p>
          <a:p>
            <a:pPr eaLnBrk="1" hangingPunct="1"/>
            <a:r>
              <a:rPr lang="en-US" altLang="zh-CN" sz="2800"/>
              <a:t>delete</a:t>
            </a:r>
          </a:p>
          <a:p>
            <a:pPr lvl="1" eaLnBrk="1" hangingPunct="1"/>
            <a:r>
              <a:rPr lang="zh-CN" altLang="en-US" sz="2400"/>
              <a:t>无需保存过程编号</a:t>
            </a:r>
          </a:p>
          <a:p>
            <a:pPr lvl="1" eaLnBrk="1" hangingPunct="1"/>
            <a:r>
              <a:rPr lang="zh-CN" altLang="en-US" sz="2400"/>
              <a:t>同一过程名字相邻，保存每个过程位置即可</a:t>
            </a:r>
          </a:p>
        </p:txBody>
      </p:sp>
      <p:pic>
        <p:nvPicPr>
          <p:cNvPr id="76804" name="Picture 4" descr="symtbl1">
            <a:extLst>
              <a:ext uri="{FF2B5EF4-FFF2-40B4-BE49-F238E27FC236}">
                <a16:creationId xmlns:a16="http://schemas.microsoft.com/office/drawing/2014/main" id="{B7892D07-61C3-4422-B617-B1139CEB7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153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2CE695F6-11CA-4EB4-9369-C2D954F58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hash</a:t>
            </a:r>
            <a:r>
              <a:rPr lang="zh-CN" altLang="en-US"/>
              <a:t>表实现方式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05E873D-C760-4B19-AB87-0F222A5CB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lookup</a:t>
            </a:r>
            <a:r>
              <a:rPr lang="zh-CN" altLang="en-US"/>
              <a:t>：相同名字总是存入同一链表，在对应链表搜索相同过程编号者即可</a:t>
            </a:r>
          </a:p>
          <a:p>
            <a:pPr eaLnBrk="1" hangingPunct="1"/>
            <a:r>
              <a:rPr lang="en-US" altLang="zh-CN"/>
              <a:t>delete</a:t>
            </a:r>
          </a:p>
          <a:p>
            <a:pPr lvl="1" eaLnBrk="1" hangingPunct="1"/>
            <a:r>
              <a:rPr lang="zh-CN" altLang="en-US"/>
              <a:t>无需遍历</a:t>
            </a:r>
            <a:r>
              <a:rPr lang="en-US" altLang="zh-CN"/>
              <a:t>hash</a:t>
            </a:r>
            <a:r>
              <a:rPr lang="zh-CN" altLang="en-US"/>
              <a:t>表所有链表</a:t>
            </a:r>
          </a:p>
          <a:p>
            <a:pPr lvl="1" eaLnBrk="1" hangingPunct="1"/>
            <a:r>
              <a:rPr lang="zh-CN" altLang="en-US"/>
              <a:t>作用域指针，</a:t>
            </a:r>
            <a:r>
              <a:rPr lang="en-US" altLang="zh-CN"/>
              <a:t>scope link</a:t>
            </a:r>
            <a:r>
              <a:rPr lang="zh-CN" altLang="en-US"/>
              <a:t>，相同作用域的所有表项串接起来</a:t>
            </a:r>
          </a:p>
          <a:p>
            <a:pPr lvl="1" eaLnBrk="1" hangingPunct="1"/>
            <a:r>
              <a:rPr lang="zh-CN" altLang="en-US"/>
              <a:t>指针设置问题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831D782C-EF8F-4C68-B457-6B8D00FCE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7.7  </a:t>
            </a:r>
            <a:r>
              <a:rPr lang="zh-CN" altLang="en-US"/>
              <a:t>高级语言的动态内存分配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94175D9-5AA0-4390-86EB-DD9050841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堆</a:t>
            </a:r>
          </a:p>
          <a:p>
            <a:pPr eaLnBrk="1" hangingPunct="1"/>
            <a:r>
              <a:rPr lang="zh-CN" altLang="en-US" sz="2800"/>
              <a:t>显式方式：</a:t>
            </a:r>
            <a:r>
              <a:rPr lang="en-US" altLang="zh-CN" sz="2800"/>
              <a:t>new, delete</a:t>
            </a:r>
          </a:p>
          <a:p>
            <a:pPr eaLnBrk="1" hangingPunct="1"/>
            <a:r>
              <a:rPr lang="zh-CN" altLang="en-US" sz="2800"/>
              <a:t>隐式方式：中间计算结果</a:t>
            </a:r>
          </a:p>
          <a:p>
            <a:pPr eaLnBrk="1" hangingPunct="1"/>
            <a:r>
              <a:rPr lang="zh-CN" altLang="en-US" sz="2800"/>
              <a:t>垃圾内存（</a:t>
            </a:r>
            <a:r>
              <a:rPr lang="en-US" altLang="zh-CN" sz="2800">
                <a:solidFill>
                  <a:srgbClr val="FF3300"/>
                </a:solidFill>
              </a:rPr>
              <a:t>garbage</a:t>
            </a:r>
            <a:r>
              <a:rPr lang="zh-CN" altLang="en-US" sz="2800"/>
              <a:t>）</a:t>
            </a:r>
          </a:p>
          <a:p>
            <a:pPr lvl="1" eaLnBrk="1" hangingPunct="1"/>
            <a:r>
              <a:rPr lang="zh-CN" altLang="en-US" sz="2400"/>
              <a:t>已分配内存未被任何指针引用</a:t>
            </a:r>
          </a:p>
          <a:p>
            <a:pPr lvl="1" eaLnBrk="1" hangingPunct="1"/>
            <a:r>
              <a:rPr lang="zh-CN" altLang="en-US" sz="2400"/>
              <a:t>垃圾收集，</a:t>
            </a:r>
            <a:r>
              <a:rPr lang="en-US" altLang="zh-CN" sz="2400">
                <a:solidFill>
                  <a:srgbClr val="FF3300"/>
                </a:solidFill>
              </a:rPr>
              <a:t>garbage collection</a:t>
            </a:r>
          </a:p>
          <a:p>
            <a:pPr eaLnBrk="1" hangingPunct="1"/>
            <a:r>
              <a:rPr lang="zh-CN" altLang="en-US" sz="2800"/>
              <a:t>空悬引用（</a:t>
            </a:r>
            <a:r>
              <a:rPr lang="en-US" altLang="zh-CN" sz="2800">
                <a:solidFill>
                  <a:srgbClr val="FF3300"/>
                </a:solidFill>
              </a:rPr>
              <a:t>dangling reference</a:t>
            </a:r>
            <a:r>
              <a:rPr lang="zh-CN" altLang="en-US" sz="2800"/>
              <a:t>）</a:t>
            </a:r>
          </a:p>
          <a:p>
            <a:pPr lvl="1" eaLnBrk="1" hangingPunct="1"/>
            <a:r>
              <a:rPr lang="zh-CN" altLang="en-US" sz="2400"/>
              <a:t>指针指向无效区域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E04B19A2-C0A3-4F0E-952B-D5B6F64EA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7.8  </a:t>
            </a:r>
            <a:r>
              <a:rPr lang="zh-CN" altLang="en-US"/>
              <a:t>动态内存分配的处理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D180B04B-6A68-476F-8004-310E5B12D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显式方式，定长块分配</a:t>
            </a:r>
          </a:p>
        </p:txBody>
      </p:sp>
      <p:pic>
        <p:nvPicPr>
          <p:cNvPr id="79876" name="Picture 4" descr="dynamic">
            <a:extLst>
              <a:ext uri="{FF2B5EF4-FFF2-40B4-BE49-F238E27FC236}">
                <a16:creationId xmlns:a16="http://schemas.microsoft.com/office/drawing/2014/main" id="{A197A603-A162-4FAA-B219-253B750AF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33600"/>
            <a:ext cx="7297738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Freeform 5">
            <a:extLst>
              <a:ext uri="{FF2B5EF4-FFF2-40B4-BE49-F238E27FC236}">
                <a16:creationId xmlns:a16="http://schemas.microsoft.com/office/drawing/2014/main" id="{CCF9159E-999B-4D4E-B6C1-DAACE8F82EAA}"/>
              </a:ext>
            </a:extLst>
          </p:cNvPr>
          <p:cNvSpPr>
            <a:spLocks/>
          </p:cNvSpPr>
          <p:nvPr/>
        </p:nvSpPr>
        <p:spPr bwMode="ltGray">
          <a:xfrm>
            <a:off x="5421313" y="22860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Freeform 6">
            <a:extLst>
              <a:ext uri="{FF2B5EF4-FFF2-40B4-BE49-F238E27FC236}">
                <a16:creationId xmlns:a16="http://schemas.microsoft.com/office/drawing/2014/main" id="{77F8E910-6F4E-4C18-B424-0AF7B27A4D7E}"/>
              </a:ext>
            </a:extLst>
          </p:cNvPr>
          <p:cNvSpPr>
            <a:spLocks/>
          </p:cNvSpPr>
          <p:nvPr/>
        </p:nvSpPr>
        <p:spPr bwMode="ltGray">
          <a:xfrm>
            <a:off x="6705600" y="22860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Freeform 7">
            <a:extLst>
              <a:ext uri="{FF2B5EF4-FFF2-40B4-BE49-F238E27FC236}">
                <a16:creationId xmlns:a16="http://schemas.microsoft.com/office/drawing/2014/main" id="{D65733E5-A79F-4277-B8E3-9F04A85695DA}"/>
              </a:ext>
            </a:extLst>
          </p:cNvPr>
          <p:cNvSpPr>
            <a:spLocks/>
          </p:cNvSpPr>
          <p:nvPr/>
        </p:nvSpPr>
        <p:spPr bwMode="ltGray">
          <a:xfrm>
            <a:off x="5821363" y="41148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0" name="Freeform 8">
            <a:extLst>
              <a:ext uri="{FF2B5EF4-FFF2-40B4-BE49-F238E27FC236}">
                <a16:creationId xmlns:a16="http://schemas.microsoft.com/office/drawing/2014/main" id="{7449D883-BF28-44A8-AB4E-F5D20C966F21}"/>
              </a:ext>
            </a:extLst>
          </p:cNvPr>
          <p:cNvSpPr>
            <a:spLocks/>
          </p:cNvSpPr>
          <p:nvPr/>
        </p:nvSpPr>
        <p:spPr bwMode="ltGray">
          <a:xfrm>
            <a:off x="7105650" y="41148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1" name="Freeform 9">
            <a:extLst>
              <a:ext uri="{FF2B5EF4-FFF2-40B4-BE49-F238E27FC236}">
                <a16:creationId xmlns:a16="http://schemas.microsoft.com/office/drawing/2014/main" id="{71D0E5ED-07F4-4935-B836-D8052E1FB19F}"/>
              </a:ext>
            </a:extLst>
          </p:cNvPr>
          <p:cNvSpPr>
            <a:spLocks/>
          </p:cNvSpPr>
          <p:nvPr/>
        </p:nvSpPr>
        <p:spPr bwMode="ltGray">
          <a:xfrm>
            <a:off x="2622550" y="4294188"/>
            <a:ext cx="2570163" cy="658812"/>
          </a:xfrm>
          <a:custGeom>
            <a:avLst/>
            <a:gdLst>
              <a:gd name="T0" fmla="*/ 2147483646 w 1619"/>
              <a:gd name="T1" fmla="*/ 2147483646 h 415"/>
              <a:gd name="T2" fmla="*/ 2147483646 w 1619"/>
              <a:gd name="T3" fmla="*/ 2147483646 h 415"/>
              <a:gd name="T4" fmla="*/ 2147483646 w 1619"/>
              <a:gd name="T5" fmla="*/ 2147483646 h 415"/>
              <a:gd name="T6" fmla="*/ 2147483646 w 1619"/>
              <a:gd name="T7" fmla="*/ 2147483646 h 415"/>
              <a:gd name="T8" fmla="*/ 0 60000 65536"/>
              <a:gd name="T9" fmla="*/ 0 60000 65536"/>
              <a:gd name="T10" fmla="*/ 0 60000 65536"/>
              <a:gd name="T11" fmla="*/ 0 60000 65536"/>
              <a:gd name="T12" fmla="*/ 0 w 1619"/>
              <a:gd name="T13" fmla="*/ 0 h 415"/>
              <a:gd name="T14" fmla="*/ 1619 w 1619"/>
              <a:gd name="T15" fmla="*/ 415 h 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9" h="415">
                <a:moveTo>
                  <a:pt x="28" y="415"/>
                </a:moveTo>
                <a:cubicBezTo>
                  <a:pt x="61" y="356"/>
                  <a:pt x="0" y="126"/>
                  <a:pt x="227" y="63"/>
                </a:cubicBezTo>
                <a:cubicBezTo>
                  <a:pt x="454" y="0"/>
                  <a:pt x="1157" y="2"/>
                  <a:pt x="1388" y="37"/>
                </a:cubicBezTo>
                <a:cubicBezTo>
                  <a:pt x="1619" y="72"/>
                  <a:pt x="1565" y="222"/>
                  <a:pt x="1612" y="271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E15D37A-8EFC-42B1-BEBF-AE9976639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隐式方式的内存释放问题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320B44F-F968-4C7F-8F37-77856AAB5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记录指向内存块的所有指针</a:t>
            </a:r>
          </a:p>
          <a:p>
            <a:pPr marL="609600" indent="-609600" eaLnBrk="1" hangingPunct="1"/>
            <a:r>
              <a:rPr lang="zh-CN" altLang="en-US"/>
              <a:t>处理两个问题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块边界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辨别块是否被使用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arenR"/>
            </a:pPr>
            <a:r>
              <a:rPr lang="zh-CN" altLang="en-US"/>
              <a:t>引用计数法，</a:t>
            </a:r>
            <a:r>
              <a:rPr lang="en-US" altLang="zh-CN"/>
              <a:t>reference count</a:t>
            </a:r>
            <a:br>
              <a:rPr lang="en-US" altLang="zh-CN"/>
            </a:br>
            <a:r>
              <a:rPr lang="zh-CN" altLang="en-US"/>
              <a:t>记录引用块的指针数目</a:t>
            </a:r>
            <a:br>
              <a:rPr lang="zh-CN" altLang="en-US"/>
            </a:br>
            <a:r>
              <a:rPr lang="zh-CN" altLang="en-US"/>
              <a:t>计数</a:t>
            </a:r>
            <a:r>
              <a:rPr lang="en-US" altLang="zh-CN"/>
              <a:t>=0</a:t>
            </a:r>
            <a:r>
              <a:rPr lang="en-US" altLang="zh-CN">
                <a:sym typeface="Wingdings" panose="05000000000000000000" pitchFamily="2" charset="2"/>
              </a:rPr>
              <a:t></a:t>
            </a:r>
            <a:r>
              <a:rPr lang="zh-CN" altLang="en-US">
                <a:sym typeface="Wingdings" panose="05000000000000000000" pitchFamily="2" charset="2"/>
              </a:rPr>
              <a:t>可以释放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性能影响较大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arenR"/>
            </a:pPr>
            <a:r>
              <a:rPr lang="zh-CN" altLang="en-US">
                <a:sym typeface="Wingdings" panose="05000000000000000000" pitchFamily="2" charset="2"/>
              </a:rPr>
              <a:t>标记技术，</a:t>
            </a:r>
            <a:r>
              <a:rPr lang="en-US" altLang="zh-CN">
                <a:sym typeface="Wingdings" panose="05000000000000000000" pitchFamily="2" charset="2"/>
              </a:rPr>
              <a:t>marking technique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暂停程序，检查所有指针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引用的内存块标记为</a:t>
            </a:r>
            <a:r>
              <a:rPr lang="en-US" altLang="zh-CN">
                <a:sym typeface="Wingdings" panose="05000000000000000000" pitchFamily="2" charset="2"/>
              </a:rPr>
              <a:t>used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未引用的内存块标记未</a:t>
            </a:r>
            <a:r>
              <a:rPr lang="en-US" altLang="zh-CN">
                <a:sym typeface="Wingdings" panose="05000000000000000000" pitchFamily="2" charset="2"/>
              </a:rPr>
              <a:t>unused</a:t>
            </a:r>
            <a:r>
              <a:rPr lang="zh-CN" altLang="en-US">
                <a:sym typeface="Wingdings" panose="05000000000000000000" pitchFamily="2" charset="2"/>
              </a:rPr>
              <a:t>，可释放</a:t>
            </a:r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B2D1DCA-D697-4489-BDAD-0337B9C6A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85B42DBF-D766-4DC7-BD4D-52543A2F9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24" name="AutoShape 4">
            <a:extLst>
              <a:ext uri="{FF2B5EF4-FFF2-40B4-BE49-F238E27FC236}">
                <a16:creationId xmlns:a16="http://schemas.microsoft.com/office/drawing/2014/main" id="{D5FB5911-DAEC-41FD-8817-B6ACC0ED25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492500" y="5084763"/>
            <a:ext cx="2663825" cy="431800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callee</a:t>
            </a:r>
            <a:r>
              <a:rPr lang="zh-CN" altLang="en-US" sz="2000">
                <a:latin typeface="Tahoma" panose="020B0604030504040204" pitchFamily="34" charset="0"/>
              </a:rPr>
              <a:t>的帧</a:t>
            </a:r>
          </a:p>
        </p:txBody>
      </p:sp>
      <p:graphicFrame>
        <p:nvGraphicFramePr>
          <p:cNvPr id="96286" name="Group 30">
            <a:extLst>
              <a:ext uri="{FF2B5EF4-FFF2-40B4-BE49-F238E27FC236}">
                <a16:creationId xmlns:a16="http://schemas.microsoft.com/office/drawing/2014/main" id="{3C6A2963-99DF-44D1-BA0B-C472800561EA}"/>
              </a:ext>
            </a:extLst>
          </p:cNvPr>
          <p:cNvGraphicFramePr>
            <a:graphicFrameLocks noGrp="1"/>
          </p:cNvGraphicFramePr>
          <p:nvPr/>
        </p:nvGraphicFramePr>
        <p:xfrm>
          <a:off x="3492500" y="2174875"/>
          <a:ext cx="2663825" cy="2773484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输入参数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返回地址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esi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edi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局部变量和全局变量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943" name="AutoShape 31">
            <a:extLst>
              <a:ext uri="{FF2B5EF4-FFF2-40B4-BE49-F238E27FC236}">
                <a16:creationId xmlns:a16="http://schemas.microsoft.com/office/drawing/2014/main" id="{31DBC63C-6F63-444B-A242-9D27A9613E62}"/>
              </a:ext>
            </a:extLst>
          </p:cNvPr>
          <p:cNvSpPr>
            <a:spLocks noChangeArrowheads="1"/>
          </p:cNvSpPr>
          <p:nvPr/>
        </p:nvSpPr>
        <p:spPr bwMode="ltGray">
          <a:xfrm flipV="1">
            <a:off x="3492500" y="1628775"/>
            <a:ext cx="2663825" cy="431800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caller</a:t>
            </a:r>
            <a:r>
              <a:rPr lang="zh-CN" altLang="en-US" sz="2000">
                <a:latin typeface="Tahoma" panose="020B0604030504040204" pitchFamily="34" charset="0"/>
              </a:rPr>
              <a:t>的帧</a:t>
            </a:r>
          </a:p>
        </p:txBody>
      </p:sp>
      <p:sp>
        <p:nvSpPr>
          <p:cNvPr id="81944" name="Text Box 32">
            <a:extLst>
              <a:ext uri="{FF2B5EF4-FFF2-40B4-BE49-F238E27FC236}">
                <a16:creationId xmlns:a16="http://schemas.microsoft.com/office/drawing/2014/main" id="{B4B76450-E4B4-4211-910D-136F4DBF715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906588" y="46878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esp</a:t>
            </a:r>
          </a:p>
        </p:txBody>
      </p:sp>
      <p:sp>
        <p:nvSpPr>
          <p:cNvPr id="81945" name="Line 33">
            <a:extLst>
              <a:ext uri="{FF2B5EF4-FFF2-40B4-BE49-F238E27FC236}">
                <a16:creationId xmlns:a16="http://schemas.microsoft.com/office/drawing/2014/main" id="{6946AE48-D238-4C3C-87E1-EFC0A1F32D4C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484438" y="4903788"/>
            <a:ext cx="10080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6" name="Text Box 34">
            <a:extLst>
              <a:ext uri="{FF2B5EF4-FFF2-40B4-BE49-F238E27FC236}">
                <a16:creationId xmlns:a16="http://schemas.microsoft.com/office/drawing/2014/main" id="{6EECF6E9-9BCE-40CD-AFBF-4F489BF2624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908175" y="4040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ebp</a:t>
            </a:r>
          </a:p>
        </p:txBody>
      </p:sp>
      <p:sp>
        <p:nvSpPr>
          <p:cNvPr id="81947" name="Line 35">
            <a:extLst>
              <a:ext uri="{FF2B5EF4-FFF2-40B4-BE49-F238E27FC236}">
                <a16:creationId xmlns:a16="http://schemas.microsoft.com/office/drawing/2014/main" id="{84991404-63ED-4C52-9B1B-DBFF20F1691D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486025" y="4256088"/>
            <a:ext cx="1008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8" name="Text Box 36">
            <a:extLst>
              <a:ext uri="{FF2B5EF4-FFF2-40B4-BE49-F238E27FC236}">
                <a16:creationId xmlns:a16="http://schemas.microsoft.com/office/drawing/2014/main" id="{B887A476-3E62-4530-8AF7-D8110DD2E1A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00788" y="41497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81949" name="Text Box 37">
            <a:extLst>
              <a:ext uri="{FF2B5EF4-FFF2-40B4-BE49-F238E27FC236}">
                <a16:creationId xmlns:a16="http://schemas.microsoft.com/office/drawing/2014/main" id="{897221EB-E251-463A-9C4A-07F8A9C5FE7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00788" y="37528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81950" name="Text Box 38">
            <a:extLst>
              <a:ext uri="{FF2B5EF4-FFF2-40B4-BE49-F238E27FC236}">
                <a16:creationId xmlns:a16="http://schemas.microsoft.com/office/drawing/2014/main" id="{631530A6-A972-4281-8161-B34D76261D5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00788" y="33924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81951" name="Text Box 39">
            <a:extLst>
              <a:ext uri="{FF2B5EF4-FFF2-40B4-BE49-F238E27FC236}">
                <a16:creationId xmlns:a16="http://schemas.microsoft.com/office/drawing/2014/main" id="{003F2E09-FBB6-4B04-B5F6-AE220BCB45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00788" y="29972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81952" name="Text Box 40">
            <a:extLst>
              <a:ext uri="{FF2B5EF4-FFF2-40B4-BE49-F238E27FC236}">
                <a16:creationId xmlns:a16="http://schemas.microsoft.com/office/drawing/2014/main" id="{82F7A3AA-5757-414C-A9AC-EA01B5EAA82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299200" y="25654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16</a:t>
            </a:r>
          </a:p>
        </p:txBody>
      </p:sp>
      <p:sp>
        <p:nvSpPr>
          <p:cNvPr id="81953" name="Text Box 41">
            <a:extLst>
              <a:ext uri="{FF2B5EF4-FFF2-40B4-BE49-F238E27FC236}">
                <a16:creationId xmlns:a16="http://schemas.microsoft.com/office/drawing/2014/main" id="{39826BF5-360D-463F-8356-0DE34B52624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00788" y="21685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20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0950580-FA16-456C-B2C5-39CC9A84A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01E0A7D-4495-40E3-9035-C4093AD34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调用序列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print(“%s: \n”, f-&gt;x.name);	// </a:t>
            </a:r>
            <a:r>
              <a:rPr lang="zh-CN" altLang="en-US" sz="2000"/>
              <a:t>打印函数起始标号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ebx\n”);		// </a:t>
            </a:r>
            <a:r>
              <a:rPr lang="zh-CN" altLang="en-US" sz="2000"/>
              <a:t>保存寄存器，设置栈指针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esi\n”);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edi\n”);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ebp\n”);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print(“mov ebp,esp\n”);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436CD5C3-882C-4B36-8BC1-D3E5A5D2EE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9F1C2D5-BD81-4444-9438-42FF428D0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计算参数在栈中偏移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offset = 16 + 4;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for (i = 0; callee[i]; i++)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Symbol p = callee[i];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Symbol q = caller[i];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p-&gt;x.offset = q-&gt;x.offset;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q-&gt;x.name = stringf(“%d”, p-&gt;x.offset);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p-&gt;sclass = q-&gt;sclass = AUTO;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offset += roundup(q-&gt;type-&gt;size, 4);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6567C05-3FE9-453D-9100-953E73E5F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032FDEB-9F11-4ACE-8832-9B98A190A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生成函数体代码，最后生成返回序列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print(“mov esp,ebp\n”);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ebp\n”);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edi\n”);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esi\n”);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ebx\n”);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print(“ret\n”);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43F95268-0827-44F1-8620-FC2AA65AE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3D3B24FB-7554-4566-AE59-2D7C42582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数据定义</a:t>
            </a:r>
          </a:p>
          <a:p>
            <a:pPr lvl="1"/>
            <a:r>
              <a:rPr lang="zh-CN" altLang="en-US"/>
              <a:t>静态局部符号保证唯一名字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if (p-&gt;scope &gt;= LOCAL &amp;&amp; p-&gt;sclass == STATIC)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stringf(“L%d”, genlabel(1));</a:t>
            </a:r>
          </a:p>
          <a:p>
            <a:pPr lvl="1"/>
            <a:r>
              <a:rPr lang="zh-CN" altLang="en-US"/>
              <a:t>生成的符号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合法汇编名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if (p-&gt;generated)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stringf(“L%s”, p-&gt;name);</a:t>
            </a:r>
          </a:p>
          <a:p>
            <a:pPr lvl="1"/>
            <a:r>
              <a:rPr lang="zh-CN" altLang="en-US"/>
              <a:t>全局符号加下划线前缀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if (p-&gt;scope == GLOBAL || p-&gt;sclass == EXTERN)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stringf(“_%s”, p-&gt;name);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...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5938F4BC-BE08-4A33-8833-333D232CC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211F077-1A41-459C-9F29-ED55CB3E9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数据定义</a:t>
            </a:r>
          </a:p>
          <a:p>
            <a:pPr lvl="1"/>
            <a:r>
              <a:rPr lang="zh-CN" altLang="en-US"/>
              <a:t>空间分配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C: print(“db %d\n”, v.uc);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S: print(“dw %d\n”, v.ss);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I: print(“dd %d\n”, v.i);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U: print(“dd 0%xH\n”, v.u);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P: print(“dd 0%xH\n”, v.p); return;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15658</TotalTime>
  <Words>5391</Words>
  <Application>Microsoft Office PowerPoint</Application>
  <PresentationFormat>全屏显示(4:3)</PresentationFormat>
  <Paragraphs>685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0" baseType="lpstr">
      <vt:lpstr>黑体</vt:lpstr>
      <vt:lpstr>宋体</vt:lpstr>
      <vt:lpstr>Symbol</vt:lpstr>
      <vt:lpstr>Tahoma</vt:lpstr>
      <vt:lpstr>Times New Roman</vt:lpstr>
      <vt:lpstr>Wingdings</vt:lpstr>
      <vt:lpstr>Blends</vt:lpstr>
      <vt:lpstr>第七章  运行时环境</vt:lpstr>
      <vt:lpstr>学习内容</vt:lpstr>
      <vt:lpstr>7.1  源语言相关问题</vt:lpstr>
      <vt:lpstr>Pascal源码示例</vt:lpstr>
      <vt:lpstr>Pascal源码示例（续）</vt:lpstr>
      <vt:lpstr>Pascal源码示例（续）</vt:lpstr>
      <vt:lpstr>7.1.2  活动树（activation tree）</vt:lpstr>
      <vt:lpstr>过程的活动</vt:lpstr>
      <vt:lpstr>递归</vt:lpstr>
      <vt:lpstr>例7.1</vt:lpstr>
      <vt:lpstr>7.1.3  控制栈（control stack）</vt:lpstr>
      <vt:lpstr>例7.2</vt:lpstr>
      <vt:lpstr>7.1.4  作用域</vt:lpstr>
      <vt:lpstr>7.1.5  名字的绑定（binding）</vt:lpstr>
      <vt:lpstr>环境和状态</vt:lpstr>
      <vt:lpstr>7.1.6  影响存储组织的几个问题</vt:lpstr>
      <vt:lpstr>7.2  存储组织</vt:lpstr>
      <vt:lpstr>活动信息的保存</vt:lpstr>
      <vt:lpstr>7.2.2  活动记录(activation record)</vt:lpstr>
      <vt:lpstr>7.2.3  局部数据布局</vt:lpstr>
      <vt:lpstr>7.3  内存分配策略</vt:lpstr>
      <vt:lpstr>7.3.1  静态分配策略</vt:lpstr>
      <vt:lpstr>例7.4 Fortran的静态分配</vt:lpstr>
      <vt:lpstr>例7.4 Fortran的静态分配（续）</vt:lpstr>
      <vt:lpstr>例7.4 Fortran的静态分配（续）</vt:lpstr>
      <vt:lpstr>例7.4 Fortran的静态分配（续）</vt:lpstr>
      <vt:lpstr>7.3.2  栈分配策略</vt:lpstr>
      <vt:lpstr>例7.5  快速排序执行过程</vt:lpstr>
      <vt:lpstr>调用序列（calling sequence）</vt:lpstr>
      <vt:lpstr>调用序列（续）</vt:lpstr>
      <vt:lpstr>调用序列（续）</vt:lpstr>
      <vt:lpstr>调用序列（续）</vt:lpstr>
      <vt:lpstr>调用序列（续）</vt:lpstr>
      <vt:lpstr>返回序列</vt:lpstr>
      <vt:lpstr>可变长度数据</vt:lpstr>
      <vt:lpstr>7.3.3  空悬（dangling）引用</vt:lpstr>
      <vt:lpstr>7.3.4  堆分配策略</vt:lpstr>
      <vt:lpstr>堆分配策略（续）</vt:lpstr>
      <vt:lpstr>7.4  访问非局部名字</vt:lpstr>
      <vt:lpstr>7.4.1  程序块（block）</vt:lpstr>
      <vt:lpstr>嵌套块作用域示例</vt:lpstr>
      <vt:lpstr>实现方法</vt:lpstr>
      <vt:lpstr>7.4.2  无过程嵌套的静态作用域</vt:lpstr>
      <vt:lpstr>过程作为参数——无嵌套情况</vt:lpstr>
      <vt:lpstr>7.4.3  包含过程嵌套的静态作用域</vt:lpstr>
      <vt:lpstr>嵌套深度（nesting depth）</vt:lpstr>
      <vt:lpstr>访问链接</vt:lpstr>
      <vt:lpstr>使用访问链接</vt:lpstr>
      <vt:lpstr>设置访问链接</vt:lpstr>
      <vt:lpstr>过程作为参数的情况</vt:lpstr>
      <vt:lpstr>过程作为参数的情况（续）</vt:lpstr>
      <vt:lpstr>Display表</vt:lpstr>
      <vt:lpstr>Display表（续）</vt:lpstr>
      <vt:lpstr>display表的设置</vt:lpstr>
      <vt:lpstr>7.4.4  动态作用域</vt:lpstr>
      <vt:lpstr>实现方法</vt:lpstr>
      <vt:lpstr>7.5  参数传递</vt:lpstr>
      <vt:lpstr>传值方式例</vt:lpstr>
      <vt:lpstr>通过传递指针改变实参值</vt:lpstr>
      <vt:lpstr>7.5.2  传地址方式</vt:lpstr>
      <vt:lpstr>例7.7</vt:lpstr>
      <vt:lpstr>例7.7（续）</vt:lpstr>
      <vt:lpstr>7.5.3  复制－恢复方式</vt:lpstr>
      <vt:lpstr>例</vt:lpstr>
      <vt:lpstr>7.5.4  传名方式(call-by-name)</vt:lpstr>
      <vt:lpstr>例7.8</vt:lpstr>
      <vt:lpstr>例7.9  内联函数</vt:lpstr>
      <vt:lpstr>7.6 符号表</vt:lpstr>
      <vt:lpstr>实现方式一：线性表</vt:lpstr>
      <vt:lpstr>实现方式二：hash表</vt:lpstr>
      <vt:lpstr>hash函数的选择</vt:lpstr>
      <vt:lpstr>作用域的处理</vt:lpstr>
      <vt:lpstr>链表实现方式</vt:lpstr>
      <vt:lpstr>hash表实现方式</vt:lpstr>
      <vt:lpstr>7.7  高级语言的动态内存分配</vt:lpstr>
      <vt:lpstr>7.8  动态内存分配的处理</vt:lpstr>
      <vt:lpstr>隐式方式的内存释放问题</vt:lpstr>
      <vt:lpstr>lcc的运行时环境处理</vt:lpstr>
      <vt:lpstr>lcc的运行时环境处理</vt:lpstr>
      <vt:lpstr>lcc的运行时环境处理</vt:lpstr>
      <vt:lpstr>lcc的运行时环境处理</vt:lpstr>
      <vt:lpstr>lcc的运行时环境处理</vt:lpstr>
      <vt:lpstr>lcc的运行时环境处理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Administrator</cp:lastModifiedBy>
  <cp:revision>1651</cp:revision>
  <dcterms:created xsi:type="dcterms:W3CDTF">2003-06-05T11:51:39Z</dcterms:created>
  <dcterms:modified xsi:type="dcterms:W3CDTF">2025-11-21T01:16:53Z</dcterms:modified>
</cp:coreProperties>
</file>