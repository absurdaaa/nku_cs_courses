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96"/>
  </p:notesMasterIdLst>
  <p:handoutMasterIdLst>
    <p:handoutMasterId r:id="rId97"/>
  </p:handoutMasterIdLst>
  <p:sldIdLst>
    <p:sldId id="256" r:id="rId2"/>
    <p:sldId id="30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508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509" r:id="rId22"/>
    <p:sldId id="274" r:id="rId23"/>
    <p:sldId id="275" r:id="rId24"/>
    <p:sldId id="310" r:id="rId25"/>
    <p:sldId id="311" r:id="rId26"/>
    <p:sldId id="276" r:id="rId27"/>
    <p:sldId id="277" r:id="rId28"/>
    <p:sldId id="278" r:id="rId29"/>
    <p:sldId id="315" r:id="rId30"/>
    <p:sldId id="312" r:id="rId31"/>
    <p:sldId id="280" r:id="rId32"/>
    <p:sldId id="281" r:id="rId33"/>
    <p:sldId id="308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313" r:id="rId42"/>
    <p:sldId id="314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299" r:id="rId54"/>
    <p:sldId id="300" r:id="rId55"/>
    <p:sldId id="301" r:id="rId56"/>
    <p:sldId id="302" r:id="rId57"/>
    <p:sldId id="303" r:id="rId58"/>
    <p:sldId id="304" r:id="rId59"/>
    <p:sldId id="305" r:id="rId60"/>
    <p:sldId id="306" r:id="rId61"/>
    <p:sldId id="316" r:id="rId62"/>
    <p:sldId id="317" r:id="rId63"/>
    <p:sldId id="318" r:id="rId64"/>
    <p:sldId id="322" r:id="rId65"/>
    <p:sldId id="323" r:id="rId66"/>
    <p:sldId id="319" r:id="rId67"/>
    <p:sldId id="320" r:id="rId68"/>
    <p:sldId id="321" r:id="rId69"/>
    <p:sldId id="326" r:id="rId70"/>
    <p:sldId id="324" r:id="rId71"/>
    <p:sldId id="325" r:id="rId72"/>
    <p:sldId id="328" r:id="rId73"/>
    <p:sldId id="329" r:id="rId74"/>
    <p:sldId id="330" r:id="rId75"/>
    <p:sldId id="327" r:id="rId76"/>
    <p:sldId id="510" r:id="rId77"/>
    <p:sldId id="511" r:id="rId78"/>
    <p:sldId id="512" r:id="rId79"/>
    <p:sldId id="513" r:id="rId80"/>
    <p:sldId id="514" r:id="rId81"/>
    <p:sldId id="515" r:id="rId82"/>
    <p:sldId id="495" r:id="rId83"/>
    <p:sldId id="499" r:id="rId84"/>
    <p:sldId id="496" r:id="rId85"/>
    <p:sldId id="504" r:id="rId86"/>
    <p:sldId id="506" r:id="rId87"/>
    <p:sldId id="507" r:id="rId88"/>
    <p:sldId id="505" r:id="rId89"/>
    <p:sldId id="498" r:id="rId90"/>
    <p:sldId id="501" r:id="rId91"/>
    <p:sldId id="503" r:id="rId92"/>
    <p:sldId id="497" r:id="rId93"/>
    <p:sldId id="500" r:id="rId94"/>
    <p:sldId id="502" r:id="rId95"/>
  </p:sldIdLst>
  <p:sldSz cx="9144000" cy="6858000" type="screen4x3"/>
  <p:notesSz cx="6759575" cy="98679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>
          <p15:clr>
            <a:srgbClr val="A4A3A4"/>
          </p15:clr>
        </p15:guide>
        <p15:guide id="2" pos="212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00FF"/>
    <a:srgbClr val="FFCF01"/>
    <a:srgbClr val="0000FF"/>
    <a:srgbClr val="996633"/>
    <a:srgbClr val="009900"/>
    <a:srgbClr val="CC0099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465" autoAdjust="0"/>
    <p:restoredTop sz="90929"/>
  </p:normalViewPr>
  <p:slideViewPr>
    <p:cSldViewPr>
      <p:cViewPr varScale="1">
        <p:scale>
          <a:sx n="115" d="100"/>
          <a:sy n="115" d="100"/>
        </p:scale>
        <p:origin x="108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6" d="100"/>
          <a:sy n="46" d="100"/>
        </p:scale>
        <p:origin x="-1469" y="-86"/>
      </p:cViewPr>
      <p:guideLst>
        <p:guide orient="horz" pos="3108"/>
        <p:guide pos="212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>
            <a:extLst>
              <a:ext uri="{FF2B5EF4-FFF2-40B4-BE49-F238E27FC236}">
                <a16:creationId xmlns:a16="http://schemas.microsoft.com/office/drawing/2014/main" id="{D9C3B97C-9FC5-4893-B759-1BDAE467E07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893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1" tIns="45716" rIns="91431" bIns="45716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43A72F27-9C6B-47E4-BAEE-13B530D8192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30638" y="0"/>
            <a:ext cx="2928937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1" tIns="45716" rIns="91431" bIns="4571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2996" name="Rectangle 4">
            <a:extLst>
              <a:ext uri="{FF2B5EF4-FFF2-40B4-BE49-F238E27FC236}">
                <a16:creationId xmlns:a16="http://schemas.microsoft.com/office/drawing/2014/main" id="{04B56782-AD05-4FDE-BC1B-1E1E984B9FE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2600"/>
            <a:ext cx="292893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1" tIns="45716" rIns="91431" bIns="45716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2997" name="Rectangle 5">
            <a:extLst>
              <a:ext uri="{FF2B5EF4-FFF2-40B4-BE49-F238E27FC236}">
                <a16:creationId xmlns:a16="http://schemas.microsoft.com/office/drawing/2014/main" id="{6A588B43-0FAD-4A54-8661-51A66D94903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30638" y="9372600"/>
            <a:ext cx="2928937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1" tIns="45716" rIns="91431" bIns="4571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E636CC4-2B01-42EF-9F7F-19012669A6C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C79243C9-1596-4701-96C0-4D690D92B80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893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1" tIns="45716" rIns="91431" bIns="45716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773C45B9-0BA3-46B1-87D4-B62D6D2BCAE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30638" y="0"/>
            <a:ext cx="2928937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1" tIns="45716" rIns="91431" bIns="4571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39C4501B-A864-4554-A63D-BE20C22D03E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4400" y="739775"/>
            <a:ext cx="4932363" cy="36988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2BC92A0D-BE48-48E9-9670-7974CC0E1DD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0113" y="4687888"/>
            <a:ext cx="4959350" cy="444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1" tIns="45716" rIns="91431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8F2963BE-1CE4-482C-B34D-5A4758AD77B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2600"/>
            <a:ext cx="2928938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1" tIns="45716" rIns="91431" bIns="45716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4340607D-E4D4-4AD9-8FCD-929A629B3B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30638" y="9372600"/>
            <a:ext cx="2928937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1" tIns="45716" rIns="91431" bIns="4571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F534744-A91E-439D-BB9E-B4DC0503885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F534744-A91E-439D-BB9E-B4DC05038856}" type="slidenum">
              <a:rPr lang="en-US" altLang="zh-CN" smtClean="0"/>
              <a:pPr>
                <a:defRPr/>
              </a:pPr>
              <a:t>29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1465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F534744-A91E-439D-BB9E-B4DC05038856}" type="slidenum">
              <a:rPr lang="en-US" altLang="zh-CN" smtClean="0"/>
              <a:pPr>
                <a:defRPr/>
              </a:pPr>
              <a:t>79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0561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F534744-A91E-439D-BB9E-B4DC05038856}" type="slidenum">
              <a:rPr lang="en-US" altLang="zh-CN" smtClean="0"/>
              <a:pPr>
                <a:defRPr/>
              </a:pPr>
              <a:t>80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215354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F534744-A91E-439D-BB9E-B4DC05038856}" type="slidenum">
              <a:rPr lang="en-US" altLang="zh-CN" smtClean="0"/>
              <a:pPr>
                <a:defRPr/>
              </a:pPr>
              <a:t>81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044803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E2D4B124-0B86-4499-8B28-9AE7622D4DDD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D20602BC-5048-4CFE-89D3-1BDEAF5268D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35F6D24E-3AD2-4E20-9EBE-ABFC73C0AE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F07A6EF0-0F7D-42F1-8F72-AB7F7756E8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10B33B0C-6EE8-4A14-A256-30CA26BAB4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E57F88AD-96BB-4E56-9E57-8FA3F7F580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15818C41-46EC-43A4-B2AB-ECC87AAB1C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EFCFFF9A-162D-4778-875B-5DC7378A7D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E7210218-1948-4D7D-8446-0436B9CD9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211E8A6D-16D8-4141-B722-927CC3CF1A4C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61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E78E8719-43C8-447E-9F34-62CEE30CBB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4C2C5F46-0DFF-4247-9953-7C77020BDF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32A1BA35-E728-4A02-B137-1BBBEC942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E823E7D7-FB01-4C13-83CB-F959FA4CCE6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360268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090FB5AA-F1A5-4B15-BC74-18CD6C8DA9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14EFF688-FE76-4DEB-A9AA-7419424424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DCC20A33-6572-419E-A01D-32C3A7E73B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9FC65C-0B23-4E3B-BA22-6613F7FDAED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4747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391F8343-C8A2-44E5-860A-465A796FAD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DE635AD-6901-478F-B65F-767357341E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8DA300A1-DD04-4E1E-AAA2-9321C24917D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F66605-20A5-4C05-A609-C1EE2CB8179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1388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9704070-BE25-44AA-8D09-00EDA6B141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2869C82F-E4A6-41D0-9553-64DBBF8CCE2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2A628793-5849-41BE-9B0A-7AE5C942E9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D7FD53-EDC0-44F6-B49E-9F6635CAA2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99624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6CF8D7D9-4485-4D04-AB6F-14B1CDEBFC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5D0C63B8-5589-4D1C-B67E-246C29D012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C11F98B3-9809-4ECE-9EC2-109097E384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A28EAD-5746-4E02-8194-B213ABA15A6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946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6F4B99F3-A95C-4E77-9691-C47158DEAF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4A3F4B04-0A44-4CCF-BC3D-EF17FA4C3C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4100928E-59A2-4B69-AC56-9D8FB6FF74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E1E78F-A5FB-417A-A26E-5E2C49C4264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5936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7D19BC30-800B-4558-AD5C-98C85ED69D3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66EF80FB-FA2E-4223-B0B0-ABA9EC6B78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B4FB0722-485C-4ED9-BACA-A32F7B084B7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90C7B3-8806-43B3-9B79-96F15D20506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44107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148E1364-C657-4ED9-ADA0-4959021B7C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63454228-C9A9-4A16-9DED-304B21CB5A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1A0B82E1-31B2-4F17-986C-B0E59F36514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7BFA59-35BF-4885-9BC7-532CC309C72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70556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10486142-57F2-4360-825F-537B9D2F3F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86AC1DB6-BB31-4691-95D7-6A2C0C406F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F9F780F4-5FE9-4F5B-9624-8FE25D9C8E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E263BD-4991-482C-A014-7B80850FA4E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1784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948913F-BB24-4B99-84A0-1A8274BCC2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2DA2A9B1-3A83-4C8E-B2C1-56FD498037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A49912C-88DB-4CA2-95A5-D4242735FF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2300DA-6AE1-4E7F-9A1A-7A3442F3875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24846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76200"/>
            <a:ext cx="1951038" cy="6019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76200"/>
            <a:ext cx="5700712" cy="6019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1067EAB3-7F21-47E5-B445-50B8CBB4B52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3F261E50-3DA4-4B7E-A87D-CF104EEFE6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26805807-FAE8-4B3B-B5D8-65B8DF4397D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417927-5956-473D-94C3-76BED982BE2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54301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85AA320-1826-440F-A1DF-2D25DAF139F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557213"/>
            <a:ext cx="438150" cy="474662"/>
          </a:xfrm>
          <a:prstGeom prst="rect">
            <a:avLst/>
          </a:prstGeom>
          <a:solidFill>
            <a:srgbClr val="FFCF0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599E442-9C0E-4EB7-B310-40C529C8AAEC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557213"/>
            <a:ext cx="328613" cy="474662"/>
          </a:xfrm>
          <a:prstGeom prst="rect">
            <a:avLst/>
          </a:prstGeom>
          <a:gradFill rotWithShape="0">
            <a:gsLst>
              <a:gs pos="0">
                <a:srgbClr val="FFCF01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207FFF3-FC8B-49E7-82E9-2DAD4588DC7A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97948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1076F53-993A-4A0A-A3B5-8897AAC7020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97948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E203A27-68A2-425B-A9CD-6F21F4C1E48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9064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54DA7E6B-C48E-46D4-BAAD-9368C1BE7877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449263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316499EC-F265-41B3-897D-E872EC08C807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23983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ACE1B63F-C251-41E2-B237-745DC4B551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76200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424144F0-AD54-4DB0-A34B-C3B77FACEB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1371600"/>
            <a:ext cx="7772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1" name="Rectangle 11">
            <a:extLst>
              <a:ext uri="{FF2B5EF4-FFF2-40B4-BE49-F238E27FC236}">
                <a16:creationId xmlns:a16="http://schemas.microsoft.com/office/drawing/2014/main" id="{4538B170-7B07-43AE-8B01-8EB96B00568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2" name="Rectangle 12">
            <a:extLst>
              <a:ext uri="{FF2B5EF4-FFF2-40B4-BE49-F238E27FC236}">
                <a16:creationId xmlns:a16="http://schemas.microsoft.com/office/drawing/2014/main" id="{666AE430-595A-4D16-86BA-F2DCB6D64D3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3" name="Rectangle 13">
            <a:extLst>
              <a:ext uri="{FF2B5EF4-FFF2-40B4-BE49-F238E27FC236}">
                <a16:creationId xmlns:a16="http://schemas.microsoft.com/office/drawing/2014/main" id="{FB7016A1-60D3-4F33-961E-3BD6703D49D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/>
            </a:lvl1pPr>
          </a:lstStyle>
          <a:p>
            <a:pPr>
              <a:defRPr/>
            </a:pPr>
            <a:fld id="{E655614F-DC4F-43F2-8511-92A4AC93306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SzPct val="75000"/>
        <a:buFont typeface="Wingdings" panose="05000000000000000000" pitchFamily="2" charset="2"/>
        <a:buChar char="m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9000"/>
        <a:buFont typeface="Wingdings" panose="05000000000000000000" pitchFamily="2" charset="2"/>
        <a:buChar char="q"/>
        <a:defRPr kumimoji="1" sz="2800">
          <a:solidFill>
            <a:srgbClr val="3333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Ø"/>
        <a:defRPr kumimoji="1" sz="2400">
          <a:solidFill>
            <a:srgbClr val="FF3300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21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17" Type="http://schemas.openxmlformats.org/officeDocument/2006/relationships/tags" Target="../tags/tag34.xml"/><Relationship Id="rId2" Type="http://schemas.openxmlformats.org/officeDocument/2006/relationships/tags" Target="../tags/tag19.xml"/><Relationship Id="rId16" Type="http://schemas.openxmlformats.org/officeDocument/2006/relationships/tags" Target="../tags/tag33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tags" Target="../tags/tag32.xml"/><Relationship Id="rId10" Type="http://schemas.openxmlformats.org/officeDocument/2006/relationships/tags" Target="../tags/tag27.xml"/><Relationship Id="rId19" Type="http://schemas.openxmlformats.org/officeDocument/2006/relationships/image" Target="../media/image21.png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tags" Target="../tags/tag51.xml"/><Relationship Id="rId2" Type="http://schemas.openxmlformats.org/officeDocument/2006/relationships/tags" Target="../tags/tag36.xml"/><Relationship Id="rId16" Type="http://schemas.openxmlformats.org/officeDocument/2006/relationships/tags" Target="../tags/tag50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image" Target="../media/image21.png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tags" Target="../tags/tag59.xml"/><Relationship Id="rId13" Type="http://schemas.openxmlformats.org/officeDocument/2006/relationships/tags" Target="../tags/tag6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12" Type="http://schemas.openxmlformats.org/officeDocument/2006/relationships/tags" Target="../tags/tag63.xml"/><Relationship Id="rId17" Type="http://schemas.openxmlformats.org/officeDocument/2006/relationships/tags" Target="../tags/tag68.xml"/><Relationship Id="rId2" Type="http://schemas.openxmlformats.org/officeDocument/2006/relationships/tags" Target="../tags/tag53.xml"/><Relationship Id="rId16" Type="http://schemas.openxmlformats.org/officeDocument/2006/relationships/tags" Target="../tags/tag67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11" Type="http://schemas.openxmlformats.org/officeDocument/2006/relationships/tags" Target="../tags/tag62.xml"/><Relationship Id="rId5" Type="http://schemas.openxmlformats.org/officeDocument/2006/relationships/tags" Target="../tags/tag56.xml"/><Relationship Id="rId15" Type="http://schemas.openxmlformats.org/officeDocument/2006/relationships/tags" Target="../tags/tag66.xml"/><Relationship Id="rId10" Type="http://schemas.openxmlformats.org/officeDocument/2006/relationships/tags" Target="../tags/tag61.xml"/><Relationship Id="rId19" Type="http://schemas.openxmlformats.org/officeDocument/2006/relationships/image" Target="../media/image21.png"/><Relationship Id="rId4" Type="http://schemas.openxmlformats.org/officeDocument/2006/relationships/tags" Target="../tags/tag55.xml"/><Relationship Id="rId9" Type="http://schemas.openxmlformats.org/officeDocument/2006/relationships/tags" Target="../tags/tag60.xml"/><Relationship Id="rId14" Type="http://schemas.openxmlformats.org/officeDocument/2006/relationships/tags" Target="../tags/tag65.xml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tags" Target="../tags/tag76.xml"/><Relationship Id="rId13" Type="http://schemas.openxmlformats.org/officeDocument/2006/relationships/tags" Target="../tags/tag81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71.xml"/><Relationship Id="rId7" Type="http://schemas.openxmlformats.org/officeDocument/2006/relationships/tags" Target="../tags/tag75.xml"/><Relationship Id="rId12" Type="http://schemas.openxmlformats.org/officeDocument/2006/relationships/tags" Target="../tags/tag80.xml"/><Relationship Id="rId17" Type="http://schemas.openxmlformats.org/officeDocument/2006/relationships/tags" Target="../tags/tag85.xml"/><Relationship Id="rId2" Type="http://schemas.openxmlformats.org/officeDocument/2006/relationships/tags" Target="../tags/tag70.xml"/><Relationship Id="rId16" Type="http://schemas.openxmlformats.org/officeDocument/2006/relationships/tags" Target="../tags/tag84.xml"/><Relationship Id="rId1" Type="http://schemas.openxmlformats.org/officeDocument/2006/relationships/tags" Target="../tags/tag69.xml"/><Relationship Id="rId6" Type="http://schemas.openxmlformats.org/officeDocument/2006/relationships/tags" Target="../tags/tag74.xml"/><Relationship Id="rId11" Type="http://schemas.openxmlformats.org/officeDocument/2006/relationships/tags" Target="../tags/tag79.xml"/><Relationship Id="rId5" Type="http://schemas.openxmlformats.org/officeDocument/2006/relationships/tags" Target="../tags/tag73.xml"/><Relationship Id="rId15" Type="http://schemas.openxmlformats.org/officeDocument/2006/relationships/tags" Target="../tags/tag83.xml"/><Relationship Id="rId10" Type="http://schemas.openxmlformats.org/officeDocument/2006/relationships/tags" Target="../tags/tag78.xml"/><Relationship Id="rId19" Type="http://schemas.openxmlformats.org/officeDocument/2006/relationships/image" Target="../media/image21.png"/><Relationship Id="rId4" Type="http://schemas.openxmlformats.org/officeDocument/2006/relationships/tags" Target="../tags/tag72.xml"/><Relationship Id="rId9" Type="http://schemas.openxmlformats.org/officeDocument/2006/relationships/tags" Target="../tags/tag77.xml"/><Relationship Id="rId14" Type="http://schemas.openxmlformats.org/officeDocument/2006/relationships/tags" Target="../tags/tag82.xm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13" Type="http://schemas.openxmlformats.org/officeDocument/2006/relationships/tags" Target="../tags/tag98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12" Type="http://schemas.openxmlformats.org/officeDocument/2006/relationships/tags" Target="../tags/tag97.xml"/><Relationship Id="rId17" Type="http://schemas.openxmlformats.org/officeDocument/2006/relationships/tags" Target="../tags/tag102.xml"/><Relationship Id="rId2" Type="http://schemas.openxmlformats.org/officeDocument/2006/relationships/tags" Target="../tags/tag87.xml"/><Relationship Id="rId16" Type="http://schemas.openxmlformats.org/officeDocument/2006/relationships/tags" Target="../tags/tag101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tags" Target="../tags/tag96.xml"/><Relationship Id="rId5" Type="http://schemas.openxmlformats.org/officeDocument/2006/relationships/tags" Target="../tags/tag90.xml"/><Relationship Id="rId15" Type="http://schemas.openxmlformats.org/officeDocument/2006/relationships/tags" Target="../tags/tag100.xml"/><Relationship Id="rId10" Type="http://schemas.openxmlformats.org/officeDocument/2006/relationships/tags" Target="../tags/tag95.xml"/><Relationship Id="rId19" Type="http://schemas.openxmlformats.org/officeDocument/2006/relationships/image" Target="../media/image21.png"/><Relationship Id="rId4" Type="http://schemas.openxmlformats.org/officeDocument/2006/relationships/tags" Target="../tags/tag89.xml"/><Relationship Id="rId9" Type="http://schemas.openxmlformats.org/officeDocument/2006/relationships/tags" Target="../tags/tag94.xml"/><Relationship Id="rId14" Type="http://schemas.openxmlformats.org/officeDocument/2006/relationships/tags" Target="../tags/tag99.xml"/></Relationships>
</file>

<file path=ppt/slides/_rels/slide88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13" Type="http://schemas.openxmlformats.org/officeDocument/2006/relationships/tags" Target="../tags/tag115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12" Type="http://schemas.openxmlformats.org/officeDocument/2006/relationships/tags" Target="../tags/tag114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tags" Target="../tags/tag113.xml"/><Relationship Id="rId5" Type="http://schemas.openxmlformats.org/officeDocument/2006/relationships/tags" Target="../tags/tag107.xml"/><Relationship Id="rId15" Type="http://schemas.openxmlformats.org/officeDocument/2006/relationships/image" Target="../media/image21.png"/><Relationship Id="rId10" Type="http://schemas.openxmlformats.org/officeDocument/2006/relationships/tags" Target="../tags/tag112.xml"/><Relationship Id="rId4" Type="http://schemas.openxmlformats.org/officeDocument/2006/relationships/tags" Target="../tags/tag106.xml"/><Relationship Id="rId9" Type="http://schemas.openxmlformats.org/officeDocument/2006/relationships/tags" Target="../tags/tag111.xml"/><Relationship Id="rId14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8" Type="http://schemas.openxmlformats.org/officeDocument/2006/relationships/tags" Target="../tags/tag123.xml"/><Relationship Id="rId13" Type="http://schemas.openxmlformats.org/officeDocument/2006/relationships/tags" Target="../tags/tag128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18.xml"/><Relationship Id="rId7" Type="http://schemas.openxmlformats.org/officeDocument/2006/relationships/tags" Target="../tags/tag122.xml"/><Relationship Id="rId12" Type="http://schemas.openxmlformats.org/officeDocument/2006/relationships/tags" Target="../tags/tag127.xml"/><Relationship Id="rId17" Type="http://schemas.openxmlformats.org/officeDocument/2006/relationships/tags" Target="../tags/tag132.xml"/><Relationship Id="rId2" Type="http://schemas.openxmlformats.org/officeDocument/2006/relationships/tags" Target="../tags/tag117.xml"/><Relationship Id="rId16" Type="http://schemas.openxmlformats.org/officeDocument/2006/relationships/tags" Target="../tags/tag131.xml"/><Relationship Id="rId1" Type="http://schemas.openxmlformats.org/officeDocument/2006/relationships/tags" Target="../tags/tag116.xml"/><Relationship Id="rId6" Type="http://schemas.openxmlformats.org/officeDocument/2006/relationships/tags" Target="../tags/tag121.xml"/><Relationship Id="rId11" Type="http://schemas.openxmlformats.org/officeDocument/2006/relationships/tags" Target="../tags/tag126.xml"/><Relationship Id="rId5" Type="http://schemas.openxmlformats.org/officeDocument/2006/relationships/tags" Target="../tags/tag120.xml"/><Relationship Id="rId15" Type="http://schemas.openxmlformats.org/officeDocument/2006/relationships/tags" Target="../tags/tag130.xml"/><Relationship Id="rId10" Type="http://schemas.openxmlformats.org/officeDocument/2006/relationships/tags" Target="../tags/tag125.xml"/><Relationship Id="rId19" Type="http://schemas.openxmlformats.org/officeDocument/2006/relationships/image" Target="../media/image21.png"/><Relationship Id="rId4" Type="http://schemas.openxmlformats.org/officeDocument/2006/relationships/tags" Target="../tags/tag119.xml"/><Relationship Id="rId9" Type="http://schemas.openxmlformats.org/officeDocument/2006/relationships/tags" Target="../tags/tag124.xml"/><Relationship Id="rId14" Type="http://schemas.openxmlformats.org/officeDocument/2006/relationships/tags" Target="../tags/tag129.xml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tags" Target="../tags/tag140.xml"/><Relationship Id="rId13" Type="http://schemas.openxmlformats.org/officeDocument/2006/relationships/tags" Target="../tags/tag145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35.xml"/><Relationship Id="rId7" Type="http://schemas.openxmlformats.org/officeDocument/2006/relationships/tags" Target="../tags/tag139.xml"/><Relationship Id="rId12" Type="http://schemas.openxmlformats.org/officeDocument/2006/relationships/tags" Target="../tags/tag144.xml"/><Relationship Id="rId17" Type="http://schemas.openxmlformats.org/officeDocument/2006/relationships/tags" Target="../tags/tag149.xml"/><Relationship Id="rId2" Type="http://schemas.openxmlformats.org/officeDocument/2006/relationships/tags" Target="../tags/tag134.xml"/><Relationship Id="rId16" Type="http://schemas.openxmlformats.org/officeDocument/2006/relationships/tags" Target="../tags/tag148.xml"/><Relationship Id="rId1" Type="http://schemas.openxmlformats.org/officeDocument/2006/relationships/tags" Target="../tags/tag133.xml"/><Relationship Id="rId6" Type="http://schemas.openxmlformats.org/officeDocument/2006/relationships/tags" Target="../tags/tag138.xml"/><Relationship Id="rId11" Type="http://schemas.openxmlformats.org/officeDocument/2006/relationships/tags" Target="../tags/tag143.xml"/><Relationship Id="rId5" Type="http://schemas.openxmlformats.org/officeDocument/2006/relationships/tags" Target="../tags/tag137.xml"/><Relationship Id="rId15" Type="http://schemas.openxmlformats.org/officeDocument/2006/relationships/tags" Target="../tags/tag147.xml"/><Relationship Id="rId10" Type="http://schemas.openxmlformats.org/officeDocument/2006/relationships/tags" Target="../tags/tag142.xml"/><Relationship Id="rId19" Type="http://schemas.openxmlformats.org/officeDocument/2006/relationships/image" Target="../media/image21.png"/><Relationship Id="rId4" Type="http://schemas.openxmlformats.org/officeDocument/2006/relationships/tags" Target="../tags/tag136.xml"/><Relationship Id="rId9" Type="http://schemas.openxmlformats.org/officeDocument/2006/relationships/tags" Target="../tags/tag141.xml"/><Relationship Id="rId14" Type="http://schemas.openxmlformats.org/officeDocument/2006/relationships/tags" Target="../tags/tag146.xml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tags" Target="../tags/tag157.xml"/><Relationship Id="rId13" Type="http://schemas.openxmlformats.org/officeDocument/2006/relationships/tags" Target="../tags/tag162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52.xml"/><Relationship Id="rId7" Type="http://schemas.openxmlformats.org/officeDocument/2006/relationships/tags" Target="../tags/tag156.xml"/><Relationship Id="rId12" Type="http://schemas.openxmlformats.org/officeDocument/2006/relationships/tags" Target="../tags/tag161.xml"/><Relationship Id="rId17" Type="http://schemas.openxmlformats.org/officeDocument/2006/relationships/tags" Target="../tags/tag166.xml"/><Relationship Id="rId2" Type="http://schemas.openxmlformats.org/officeDocument/2006/relationships/tags" Target="../tags/tag151.xml"/><Relationship Id="rId16" Type="http://schemas.openxmlformats.org/officeDocument/2006/relationships/tags" Target="../tags/tag165.xml"/><Relationship Id="rId1" Type="http://schemas.openxmlformats.org/officeDocument/2006/relationships/tags" Target="../tags/tag150.xml"/><Relationship Id="rId6" Type="http://schemas.openxmlformats.org/officeDocument/2006/relationships/tags" Target="../tags/tag155.xml"/><Relationship Id="rId11" Type="http://schemas.openxmlformats.org/officeDocument/2006/relationships/tags" Target="../tags/tag160.xml"/><Relationship Id="rId5" Type="http://schemas.openxmlformats.org/officeDocument/2006/relationships/tags" Target="../tags/tag154.xml"/><Relationship Id="rId15" Type="http://schemas.openxmlformats.org/officeDocument/2006/relationships/tags" Target="../tags/tag164.xml"/><Relationship Id="rId10" Type="http://schemas.openxmlformats.org/officeDocument/2006/relationships/tags" Target="../tags/tag159.xml"/><Relationship Id="rId19" Type="http://schemas.openxmlformats.org/officeDocument/2006/relationships/image" Target="../media/image21.png"/><Relationship Id="rId4" Type="http://schemas.openxmlformats.org/officeDocument/2006/relationships/tags" Target="../tags/tag153.xml"/><Relationship Id="rId9" Type="http://schemas.openxmlformats.org/officeDocument/2006/relationships/tags" Target="../tags/tag158.xml"/><Relationship Id="rId14" Type="http://schemas.openxmlformats.org/officeDocument/2006/relationships/tags" Target="../tags/tag163.xml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tags" Target="../tags/tag174.xml"/><Relationship Id="rId13" Type="http://schemas.openxmlformats.org/officeDocument/2006/relationships/tags" Target="../tags/tag179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69.xml"/><Relationship Id="rId7" Type="http://schemas.openxmlformats.org/officeDocument/2006/relationships/tags" Target="../tags/tag173.xml"/><Relationship Id="rId12" Type="http://schemas.openxmlformats.org/officeDocument/2006/relationships/tags" Target="../tags/tag178.xml"/><Relationship Id="rId17" Type="http://schemas.openxmlformats.org/officeDocument/2006/relationships/tags" Target="../tags/tag183.xml"/><Relationship Id="rId2" Type="http://schemas.openxmlformats.org/officeDocument/2006/relationships/tags" Target="../tags/tag168.xml"/><Relationship Id="rId16" Type="http://schemas.openxmlformats.org/officeDocument/2006/relationships/tags" Target="../tags/tag182.xml"/><Relationship Id="rId1" Type="http://schemas.openxmlformats.org/officeDocument/2006/relationships/tags" Target="../tags/tag167.xml"/><Relationship Id="rId6" Type="http://schemas.openxmlformats.org/officeDocument/2006/relationships/tags" Target="../tags/tag172.xml"/><Relationship Id="rId11" Type="http://schemas.openxmlformats.org/officeDocument/2006/relationships/tags" Target="../tags/tag177.xml"/><Relationship Id="rId5" Type="http://schemas.openxmlformats.org/officeDocument/2006/relationships/tags" Target="../tags/tag171.xml"/><Relationship Id="rId15" Type="http://schemas.openxmlformats.org/officeDocument/2006/relationships/tags" Target="../tags/tag181.xml"/><Relationship Id="rId10" Type="http://schemas.openxmlformats.org/officeDocument/2006/relationships/tags" Target="../tags/tag176.xml"/><Relationship Id="rId19" Type="http://schemas.openxmlformats.org/officeDocument/2006/relationships/image" Target="../media/image21.png"/><Relationship Id="rId4" Type="http://schemas.openxmlformats.org/officeDocument/2006/relationships/tags" Target="../tags/tag170.xml"/><Relationship Id="rId9" Type="http://schemas.openxmlformats.org/officeDocument/2006/relationships/tags" Target="../tags/tag175.xml"/><Relationship Id="rId14" Type="http://schemas.openxmlformats.org/officeDocument/2006/relationships/tags" Target="../tags/tag180.xml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tags" Target="../tags/tag191.xml"/><Relationship Id="rId13" Type="http://schemas.openxmlformats.org/officeDocument/2006/relationships/tags" Target="../tags/tag196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86.xml"/><Relationship Id="rId7" Type="http://schemas.openxmlformats.org/officeDocument/2006/relationships/tags" Target="../tags/tag190.xml"/><Relationship Id="rId12" Type="http://schemas.openxmlformats.org/officeDocument/2006/relationships/tags" Target="../tags/tag195.xml"/><Relationship Id="rId17" Type="http://schemas.openxmlformats.org/officeDocument/2006/relationships/tags" Target="../tags/tag200.xml"/><Relationship Id="rId2" Type="http://schemas.openxmlformats.org/officeDocument/2006/relationships/tags" Target="../tags/tag185.xml"/><Relationship Id="rId16" Type="http://schemas.openxmlformats.org/officeDocument/2006/relationships/tags" Target="../tags/tag199.xml"/><Relationship Id="rId1" Type="http://schemas.openxmlformats.org/officeDocument/2006/relationships/tags" Target="../tags/tag184.xml"/><Relationship Id="rId6" Type="http://schemas.openxmlformats.org/officeDocument/2006/relationships/tags" Target="../tags/tag189.xml"/><Relationship Id="rId11" Type="http://schemas.openxmlformats.org/officeDocument/2006/relationships/tags" Target="../tags/tag194.xml"/><Relationship Id="rId5" Type="http://schemas.openxmlformats.org/officeDocument/2006/relationships/tags" Target="../tags/tag188.xml"/><Relationship Id="rId15" Type="http://schemas.openxmlformats.org/officeDocument/2006/relationships/tags" Target="../tags/tag198.xml"/><Relationship Id="rId10" Type="http://schemas.openxmlformats.org/officeDocument/2006/relationships/tags" Target="../tags/tag193.xml"/><Relationship Id="rId19" Type="http://schemas.openxmlformats.org/officeDocument/2006/relationships/image" Target="../media/image21.png"/><Relationship Id="rId4" Type="http://schemas.openxmlformats.org/officeDocument/2006/relationships/tags" Target="../tags/tag187.xml"/><Relationship Id="rId9" Type="http://schemas.openxmlformats.org/officeDocument/2006/relationships/tags" Target="../tags/tag192.xml"/><Relationship Id="rId14" Type="http://schemas.openxmlformats.org/officeDocument/2006/relationships/tags" Target="../tags/tag197.xml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tags" Target="../tags/tag208.xml"/><Relationship Id="rId13" Type="http://schemas.openxmlformats.org/officeDocument/2006/relationships/tags" Target="../tags/tag2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03.xml"/><Relationship Id="rId7" Type="http://schemas.openxmlformats.org/officeDocument/2006/relationships/tags" Target="../tags/tag207.xml"/><Relationship Id="rId12" Type="http://schemas.openxmlformats.org/officeDocument/2006/relationships/tags" Target="../tags/tag212.xml"/><Relationship Id="rId17" Type="http://schemas.openxmlformats.org/officeDocument/2006/relationships/tags" Target="../tags/tag217.xml"/><Relationship Id="rId2" Type="http://schemas.openxmlformats.org/officeDocument/2006/relationships/tags" Target="../tags/tag202.xml"/><Relationship Id="rId16" Type="http://schemas.openxmlformats.org/officeDocument/2006/relationships/tags" Target="../tags/tag216.xml"/><Relationship Id="rId1" Type="http://schemas.openxmlformats.org/officeDocument/2006/relationships/tags" Target="../tags/tag201.xml"/><Relationship Id="rId6" Type="http://schemas.openxmlformats.org/officeDocument/2006/relationships/tags" Target="../tags/tag206.xml"/><Relationship Id="rId11" Type="http://schemas.openxmlformats.org/officeDocument/2006/relationships/tags" Target="../tags/tag211.xml"/><Relationship Id="rId5" Type="http://schemas.openxmlformats.org/officeDocument/2006/relationships/tags" Target="../tags/tag205.xml"/><Relationship Id="rId15" Type="http://schemas.openxmlformats.org/officeDocument/2006/relationships/tags" Target="../tags/tag215.xml"/><Relationship Id="rId10" Type="http://schemas.openxmlformats.org/officeDocument/2006/relationships/tags" Target="../tags/tag210.xml"/><Relationship Id="rId19" Type="http://schemas.openxmlformats.org/officeDocument/2006/relationships/image" Target="../media/image21.png"/><Relationship Id="rId4" Type="http://schemas.openxmlformats.org/officeDocument/2006/relationships/tags" Target="../tags/tag204.xml"/><Relationship Id="rId9" Type="http://schemas.openxmlformats.org/officeDocument/2006/relationships/tags" Target="../tags/tag209.xml"/><Relationship Id="rId14" Type="http://schemas.openxmlformats.org/officeDocument/2006/relationships/tags" Target="../tags/tag2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C48D091-5BF5-4E9C-B7B8-380762D0AE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0938" y="2743200"/>
            <a:ext cx="7793037" cy="1143000"/>
          </a:xfrm>
        </p:spPr>
        <p:txBody>
          <a:bodyPr/>
          <a:lstStyle/>
          <a:p>
            <a:pPr algn="ctr" eaLnBrk="1" hangingPunct="1"/>
            <a:r>
              <a:rPr lang="zh-CN" altLang="en-US"/>
              <a:t>第八章  中间代码生成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C4C3B1E-E5C8-47E2-8DD1-4B1135087B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学习内容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D5C86448-2506-4DF0-8EFC-9ABB0BD06A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三地址码表示方法</a:t>
            </a:r>
          </a:p>
          <a:p>
            <a:pPr eaLnBrk="1" hangingPunct="1"/>
            <a:r>
              <a:rPr lang="zh-CN" altLang="en-US" dirty="0"/>
              <a:t>声明语句的翻译</a:t>
            </a:r>
          </a:p>
          <a:p>
            <a:pPr eaLnBrk="1" hangingPunct="1"/>
            <a:r>
              <a:rPr lang="zh-CN" altLang="en-US" dirty="0"/>
              <a:t>赋值语句的翻译：数组寻址</a:t>
            </a:r>
          </a:p>
          <a:p>
            <a:pPr eaLnBrk="1" hangingPunct="1"/>
            <a:r>
              <a:rPr lang="zh-CN" altLang="en-US" dirty="0"/>
              <a:t>布尔表达式的翻译</a:t>
            </a:r>
          </a:p>
          <a:p>
            <a:pPr eaLnBrk="1" hangingPunct="1"/>
            <a:r>
              <a:rPr lang="en-US" altLang="zh-CN" dirty="0"/>
              <a:t>case</a:t>
            </a:r>
            <a:r>
              <a:rPr lang="zh-CN" altLang="en-US" dirty="0"/>
              <a:t>语句的翻译</a:t>
            </a:r>
          </a:p>
          <a:p>
            <a:pPr eaLnBrk="1" hangingPunct="1"/>
            <a:r>
              <a:rPr lang="en-US" altLang="zh-CN" dirty="0"/>
              <a:t>backpatching</a:t>
            </a:r>
            <a:r>
              <a:rPr lang="zh-CN" altLang="en-US" dirty="0"/>
              <a:t>技术的实现</a:t>
            </a:r>
          </a:p>
          <a:p>
            <a:pPr eaLnBrk="1" hangingPunct="1"/>
            <a:r>
              <a:rPr lang="zh-CN" altLang="en-US" dirty="0"/>
              <a:t>过程调用的翻译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4" descr="graph">
            <a:extLst>
              <a:ext uri="{FF2B5EF4-FFF2-40B4-BE49-F238E27FC236}">
                <a16:creationId xmlns:a16="http://schemas.microsoft.com/office/drawing/2014/main" id="{83580F89-20D2-4E7C-897B-517E1BD1B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0300" y="2286000"/>
            <a:ext cx="5016500" cy="214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Rectangle 2">
            <a:extLst>
              <a:ext uri="{FF2B5EF4-FFF2-40B4-BE49-F238E27FC236}">
                <a16:creationId xmlns:a16="http://schemas.microsoft.com/office/drawing/2014/main" id="{0C0F96FE-1DE1-4CDC-AF1C-227B063D51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8.1 </a:t>
            </a:r>
            <a:r>
              <a:rPr lang="zh-CN" altLang="en-US"/>
              <a:t>中间语言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CF28650D-8E42-430C-9F39-BAFBE60C62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/>
              <a:t>8.1.1  </a:t>
            </a:r>
            <a:r>
              <a:rPr lang="zh-CN" altLang="en-US" sz="2800"/>
              <a:t>图表示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a := b * -c + b * -c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语法树方式表示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/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后缀表示</a:t>
            </a:r>
            <a:r>
              <a:rPr lang="en-US" altLang="zh-CN" sz="2400"/>
              <a:t>——</a:t>
            </a:r>
            <a:r>
              <a:rPr lang="zh-CN" altLang="en-US" sz="2400"/>
              <a:t>语法树的线性表示方式</a:t>
            </a:r>
            <a:br>
              <a:rPr lang="zh-CN" altLang="en-US" sz="2400"/>
            </a:br>
            <a:r>
              <a:rPr lang="en-US" altLang="zh-CN" sz="2400"/>
              <a:t>a b c uminus * b c uminus * + assign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C61B243B-C2F9-4007-894C-BA46EE7B04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语法制导定义构造语法树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0B2A52D1-C403-48B4-BCFB-30EF6F8D6A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 u="sng"/>
              <a:t>PRODUCTION	Semantic Rule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S  </a:t>
            </a:r>
            <a:r>
              <a:rPr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id := </a:t>
            </a:r>
            <a:r>
              <a:rPr lang="en-US" altLang="zh-CN" sz="2400">
                <a:sym typeface="Symbol" panose="05050102010706020507" pitchFamily="18" charset="2"/>
              </a:rPr>
              <a:t>E	{ S</a:t>
            </a:r>
            <a:r>
              <a:rPr lang="en-US" altLang="zh-CN" sz="2400" i="1">
                <a:sym typeface="Symbol" panose="05050102010706020507" pitchFamily="18" charset="2"/>
              </a:rPr>
              <a:t>.nptr = mknode </a:t>
            </a:r>
            <a:r>
              <a:rPr lang="en-US" altLang="zh-CN" sz="2400">
                <a:sym typeface="Symbol" panose="05050102010706020507" pitchFamily="18" charset="2"/>
              </a:rPr>
              <a:t>(‘assign’,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				</a:t>
            </a:r>
            <a:r>
              <a:rPr lang="en-US" altLang="zh-CN" sz="2400" i="1">
                <a:sym typeface="Symbol" panose="05050102010706020507" pitchFamily="18" charset="2"/>
              </a:rPr>
              <a:t>mkleaf</a:t>
            </a:r>
            <a:r>
              <a:rPr lang="en-US" altLang="zh-CN" sz="2400">
                <a:sym typeface="Symbol" panose="05050102010706020507" pitchFamily="18" charset="2"/>
              </a:rPr>
              <a:t>(id, id</a:t>
            </a:r>
            <a:r>
              <a:rPr lang="en-US" altLang="zh-CN" sz="2400" i="1">
                <a:sym typeface="Symbol" panose="05050102010706020507" pitchFamily="18" charset="2"/>
              </a:rPr>
              <a:t>.entry</a:t>
            </a:r>
            <a:r>
              <a:rPr lang="en-US" altLang="zh-CN" sz="2400">
                <a:sym typeface="Symbol" panose="05050102010706020507" pitchFamily="18" charset="2"/>
              </a:rPr>
              <a:t>)</a:t>
            </a:r>
            <a:r>
              <a:rPr lang="en-US" altLang="zh-CN" sz="2400" i="1">
                <a:sym typeface="Symbol" panose="05050102010706020507" pitchFamily="18" charset="2"/>
              </a:rPr>
              <a:t>, </a:t>
            </a:r>
            <a:r>
              <a:rPr lang="en-US" altLang="zh-CN" sz="2400">
                <a:sym typeface="Symbol" panose="05050102010706020507" pitchFamily="18" charset="2"/>
              </a:rPr>
              <a:t>E.</a:t>
            </a:r>
            <a:r>
              <a:rPr lang="en-US" altLang="zh-CN" sz="2400" i="1">
                <a:sym typeface="Symbol" panose="05050102010706020507" pitchFamily="18" charset="2"/>
              </a:rPr>
              <a:t>nptr</a:t>
            </a:r>
            <a:r>
              <a:rPr lang="en-US" altLang="zh-CN" sz="2400">
                <a:sym typeface="Symbol" panose="05050102010706020507" pitchFamily="18" charset="2"/>
              </a:rPr>
              <a:t>) }</a:t>
            </a:r>
            <a:endParaRPr lang="en-US" altLang="zh-CN" sz="2400" i="1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E  E</a:t>
            </a:r>
            <a:r>
              <a:rPr lang="en-US" altLang="zh-CN" sz="2400" baseline="-25000">
                <a:sym typeface="Symbol" panose="05050102010706020507" pitchFamily="18" charset="2"/>
              </a:rPr>
              <a:t>1</a:t>
            </a:r>
            <a:r>
              <a:rPr lang="en-US" altLang="zh-CN" sz="2400">
                <a:sym typeface="Symbol" panose="05050102010706020507" pitchFamily="18" charset="2"/>
              </a:rPr>
              <a:t> </a:t>
            </a:r>
            <a:r>
              <a:rPr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+ </a:t>
            </a:r>
            <a:r>
              <a:rPr lang="en-US" altLang="zh-CN" sz="2400">
                <a:sym typeface="Symbol" panose="05050102010706020507" pitchFamily="18" charset="2"/>
              </a:rPr>
              <a:t>E</a:t>
            </a:r>
            <a:r>
              <a:rPr lang="en-US" altLang="zh-CN" sz="2400" baseline="-25000">
                <a:sym typeface="Symbol" panose="05050102010706020507" pitchFamily="18" charset="2"/>
              </a:rPr>
              <a:t>2</a:t>
            </a:r>
            <a:r>
              <a:rPr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	</a:t>
            </a:r>
            <a:r>
              <a:rPr lang="en-US" altLang="zh-CN" sz="2400">
                <a:sym typeface="Symbol" panose="05050102010706020507" pitchFamily="18" charset="2"/>
              </a:rPr>
              <a:t>{E.</a:t>
            </a:r>
            <a:r>
              <a:rPr lang="en-US" altLang="zh-CN" sz="2400" i="1">
                <a:sym typeface="Symbol" panose="05050102010706020507" pitchFamily="18" charset="2"/>
              </a:rPr>
              <a:t>nptr </a:t>
            </a:r>
            <a:r>
              <a:rPr lang="en-US" altLang="zh-CN" sz="2400">
                <a:sym typeface="Symbol" panose="05050102010706020507" pitchFamily="18" charset="2"/>
              </a:rPr>
              <a:t>= </a:t>
            </a:r>
            <a:r>
              <a:rPr lang="en-US" altLang="zh-CN" sz="2400" i="1">
                <a:sym typeface="Symbol" panose="05050102010706020507" pitchFamily="18" charset="2"/>
              </a:rPr>
              <a:t>mknode</a:t>
            </a:r>
            <a:r>
              <a:rPr lang="en-US" altLang="zh-CN" sz="2400">
                <a:sym typeface="Symbol" panose="05050102010706020507" pitchFamily="18" charset="2"/>
              </a:rPr>
              <a:t>(‘+’, E</a:t>
            </a:r>
            <a:r>
              <a:rPr lang="en-US" altLang="zh-CN" sz="2400" baseline="-25000">
                <a:sym typeface="Symbol" panose="05050102010706020507" pitchFamily="18" charset="2"/>
              </a:rPr>
              <a:t>1</a:t>
            </a:r>
            <a:r>
              <a:rPr lang="en-US" altLang="zh-CN" sz="2400">
                <a:sym typeface="Symbol" panose="05050102010706020507" pitchFamily="18" charset="2"/>
              </a:rPr>
              <a:t>.</a:t>
            </a:r>
            <a:r>
              <a:rPr lang="en-US" altLang="zh-CN" sz="2400" i="1">
                <a:sym typeface="Symbol" panose="05050102010706020507" pitchFamily="18" charset="2"/>
              </a:rPr>
              <a:t>nptr</a:t>
            </a:r>
            <a:r>
              <a:rPr lang="en-US" altLang="zh-CN" sz="2400">
                <a:sym typeface="Symbol" panose="05050102010706020507" pitchFamily="18" charset="2"/>
              </a:rPr>
              <a:t>,E</a:t>
            </a:r>
            <a:r>
              <a:rPr lang="en-US" altLang="zh-CN" sz="2400" baseline="-25000">
                <a:sym typeface="Symbol" panose="05050102010706020507" pitchFamily="18" charset="2"/>
              </a:rPr>
              <a:t>2</a:t>
            </a:r>
            <a:r>
              <a:rPr lang="en-US" altLang="zh-CN" sz="2400" i="1">
                <a:sym typeface="Symbol" panose="05050102010706020507" pitchFamily="18" charset="2"/>
              </a:rPr>
              <a:t>.nptr</a:t>
            </a:r>
            <a:r>
              <a:rPr lang="en-US" altLang="zh-CN" sz="2400">
                <a:sym typeface="Symbol" panose="05050102010706020507" pitchFamily="18" charset="2"/>
              </a:rPr>
              <a:t>)</a:t>
            </a:r>
            <a:r>
              <a:rPr lang="en-US" altLang="zh-CN" sz="2400" i="1">
                <a:sym typeface="Symbol" panose="05050102010706020507" pitchFamily="18" charset="2"/>
              </a:rPr>
              <a:t> </a:t>
            </a:r>
            <a:r>
              <a:rPr lang="en-US" altLang="zh-CN" sz="2400">
                <a:sym typeface="Symbol" panose="05050102010706020507" pitchFamily="18" charset="2"/>
              </a:rPr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E  E</a:t>
            </a:r>
            <a:r>
              <a:rPr lang="en-US" altLang="zh-CN" sz="2400" baseline="-25000">
                <a:sym typeface="Symbol" panose="05050102010706020507" pitchFamily="18" charset="2"/>
              </a:rPr>
              <a:t>1</a:t>
            </a:r>
            <a:r>
              <a:rPr lang="en-US" altLang="zh-CN" sz="2400">
                <a:sym typeface="Symbol" panose="05050102010706020507" pitchFamily="18" charset="2"/>
              </a:rPr>
              <a:t> </a:t>
            </a:r>
            <a:r>
              <a:rPr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* </a:t>
            </a:r>
            <a:r>
              <a:rPr lang="en-US" altLang="zh-CN" sz="2400">
                <a:sym typeface="Symbol" panose="05050102010706020507" pitchFamily="18" charset="2"/>
              </a:rPr>
              <a:t>E</a:t>
            </a:r>
            <a:r>
              <a:rPr lang="en-US" altLang="zh-CN" sz="2400" baseline="-25000">
                <a:sym typeface="Symbol" panose="05050102010706020507" pitchFamily="18" charset="2"/>
              </a:rPr>
              <a:t>2</a:t>
            </a:r>
            <a:r>
              <a:rPr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	</a:t>
            </a:r>
            <a:r>
              <a:rPr lang="en-US" altLang="zh-CN" sz="2400">
                <a:sym typeface="Symbol" panose="05050102010706020507" pitchFamily="18" charset="2"/>
              </a:rPr>
              <a:t>{E.</a:t>
            </a:r>
            <a:r>
              <a:rPr lang="en-US" altLang="zh-CN" sz="2400" i="1">
                <a:sym typeface="Symbol" panose="05050102010706020507" pitchFamily="18" charset="2"/>
              </a:rPr>
              <a:t>nptr </a:t>
            </a:r>
            <a:r>
              <a:rPr lang="en-US" altLang="zh-CN" sz="2400">
                <a:sym typeface="Symbol" panose="05050102010706020507" pitchFamily="18" charset="2"/>
              </a:rPr>
              <a:t>= </a:t>
            </a:r>
            <a:r>
              <a:rPr lang="en-US" altLang="zh-CN" sz="2400" i="1">
                <a:sym typeface="Symbol" panose="05050102010706020507" pitchFamily="18" charset="2"/>
              </a:rPr>
              <a:t>mknode</a:t>
            </a:r>
            <a:r>
              <a:rPr lang="en-US" altLang="zh-CN" sz="2400">
                <a:sym typeface="Symbol" panose="05050102010706020507" pitchFamily="18" charset="2"/>
              </a:rPr>
              <a:t>(‘*’, E</a:t>
            </a:r>
            <a:r>
              <a:rPr lang="en-US" altLang="zh-CN" sz="2400" baseline="-25000">
                <a:sym typeface="Symbol" panose="05050102010706020507" pitchFamily="18" charset="2"/>
              </a:rPr>
              <a:t>1</a:t>
            </a:r>
            <a:r>
              <a:rPr lang="en-US" altLang="zh-CN" sz="2400">
                <a:sym typeface="Symbol" panose="05050102010706020507" pitchFamily="18" charset="2"/>
              </a:rPr>
              <a:t>.</a:t>
            </a:r>
            <a:r>
              <a:rPr lang="en-US" altLang="zh-CN" sz="2400" i="1">
                <a:sym typeface="Symbol" panose="05050102010706020507" pitchFamily="18" charset="2"/>
              </a:rPr>
              <a:t>nptr</a:t>
            </a:r>
            <a:r>
              <a:rPr lang="en-US" altLang="zh-CN" sz="2400">
                <a:sym typeface="Symbol" panose="05050102010706020507" pitchFamily="18" charset="2"/>
              </a:rPr>
              <a:t>,E</a:t>
            </a:r>
            <a:r>
              <a:rPr lang="en-US" altLang="zh-CN" sz="2400" baseline="-25000">
                <a:sym typeface="Symbol" panose="05050102010706020507" pitchFamily="18" charset="2"/>
              </a:rPr>
              <a:t>2</a:t>
            </a:r>
            <a:r>
              <a:rPr lang="en-US" altLang="zh-CN" sz="2400" i="1">
                <a:sym typeface="Symbol" panose="05050102010706020507" pitchFamily="18" charset="2"/>
              </a:rPr>
              <a:t>.nptr</a:t>
            </a:r>
            <a:r>
              <a:rPr lang="en-US" altLang="zh-CN" sz="2400">
                <a:sym typeface="Symbol" panose="05050102010706020507" pitchFamily="18" charset="2"/>
              </a:rPr>
              <a:t>)</a:t>
            </a:r>
            <a:r>
              <a:rPr lang="en-US" altLang="zh-CN" sz="2400" i="1">
                <a:sym typeface="Symbol" panose="05050102010706020507" pitchFamily="18" charset="2"/>
              </a:rPr>
              <a:t> </a:t>
            </a:r>
            <a:r>
              <a:rPr lang="en-US" altLang="zh-CN" sz="2400">
                <a:sym typeface="Symbol" panose="05050102010706020507" pitchFamily="18" charset="2"/>
              </a:rPr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E  </a:t>
            </a:r>
            <a:r>
              <a:rPr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- </a:t>
            </a:r>
            <a:r>
              <a:rPr lang="en-US" altLang="zh-CN" sz="2400">
                <a:sym typeface="Symbol" panose="05050102010706020507" pitchFamily="18" charset="2"/>
              </a:rPr>
              <a:t>E</a:t>
            </a:r>
            <a:r>
              <a:rPr lang="en-US" altLang="zh-CN" sz="2400" baseline="-25000">
                <a:sym typeface="Symbol" panose="05050102010706020507" pitchFamily="18" charset="2"/>
              </a:rPr>
              <a:t>1</a:t>
            </a:r>
            <a:r>
              <a:rPr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	</a:t>
            </a:r>
            <a:r>
              <a:rPr lang="en-US" altLang="zh-CN" sz="2400">
                <a:sym typeface="Symbol" panose="05050102010706020507" pitchFamily="18" charset="2"/>
              </a:rPr>
              <a:t>{E.</a:t>
            </a:r>
            <a:r>
              <a:rPr lang="en-US" altLang="zh-CN" sz="2400" i="1">
                <a:sym typeface="Symbol" panose="05050102010706020507" pitchFamily="18" charset="2"/>
              </a:rPr>
              <a:t>nptr </a:t>
            </a:r>
            <a:r>
              <a:rPr lang="en-US" altLang="zh-CN" sz="2400">
                <a:sym typeface="Symbol" panose="05050102010706020507" pitchFamily="18" charset="2"/>
              </a:rPr>
              <a:t>= </a:t>
            </a:r>
            <a:r>
              <a:rPr lang="en-US" altLang="zh-CN" sz="2400" i="1">
                <a:sym typeface="Symbol" panose="05050102010706020507" pitchFamily="18" charset="2"/>
              </a:rPr>
              <a:t>mknode</a:t>
            </a:r>
            <a:r>
              <a:rPr lang="en-US" altLang="zh-CN" sz="2400">
                <a:sym typeface="Symbol" panose="05050102010706020507" pitchFamily="18" charset="2"/>
              </a:rPr>
              <a:t>(‘uminus’, E</a:t>
            </a:r>
            <a:r>
              <a:rPr lang="en-US" altLang="zh-CN" sz="2400" baseline="-25000">
                <a:sym typeface="Symbol" panose="05050102010706020507" pitchFamily="18" charset="2"/>
              </a:rPr>
              <a:t>1</a:t>
            </a:r>
            <a:r>
              <a:rPr lang="en-US" altLang="zh-CN" sz="2400">
                <a:sym typeface="Symbol" panose="05050102010706020507" pitchFamily="18" charset="2"/>
              </a:rPr>
              <a:t>.</a:t>
            </a:r>
            <a:r>
              <a:rPr lang="en-US" altLang="zh-CN" sz="2400" i="1">
                <a:sym typeface="Symbol" panose="05050102010706020507" pitchFamily="18" charset="2"/>
              </a:rPr>
              <a:t>nptr</a:t>
            </a:r>
            <a:r>
              <a:rPr lang="en-US" altLang="zh-CN" sz="2400">
                <a:sym typeface="Symbol" panose="05050102010706020507" pitchFamily="18" charset="2"/>
              </a:rPr>
              <a:t>)</a:t>
            </a:r>
            <a:r>
              <a:rPr lang="en-US" altLang="zh-CN" sz="2400" i="1">
                <a:sym typeface="Symbol" panose="05050102010706020507" pitchFamily="18" charset="2"/>
              </a:rPr>
              <a:t> </a:t>
            </a:r>
            <a:r>
              <a:rPr lang="en-US" altLang="zh-CN" sz="2400">
                <a:sym typeface="Symbol" panose="05050102010706020507" pitchFamily="18" charset="2"/>
              </a:rPr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E  </a:t>
            </a:r>
            <a:r>
              <a:rPr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lang="en-US" altLang="zh-CN" sz="2400">
                <a:sym typeface="Symbol" panose="05050102010706020507" pitchFamily="18" charset="2"/>
              </a:rPr>
              <a:t>E</a:t>
            </a:r>
            <a:r>
              <a:rPr lang="en-US" altLang="zh-CN" sz="2400" baseline="-25000">
                <a:sym typeface="Symbol" panose="05050102010706020507" pitchFamily="18" charset="2"/>
              </a:rPr>
              <a:t>1</a:t>
            </a:r>
            <a:r>
              <a:rPr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 ) 	</a:t>
            </a:r>
            <a:r>
              <a:rPr lang="en-US" altLang="zh-CN" sz="2400">
                <a:sym typeface="Symbol" panose="05050102010706020507" pitchFamily="18" charset="2"/>
              </a:rPr>
              <a:t>{E.</a:t>
            </a:r>
            <a:r>
              <a:rPr lang="en-US" altLang="zh-CN" sz="2400" i="1">
                <a:sym typeface="Symbol" panose="05050102010706020507" pitchFamily="18" charset="2"/>
              </a:rPr>
              <a:t>nptr </a:t>
            </a:r>
            <a:r>
              <a:rPr lang="en-US" altLang="zh-CN" sz="2400">
                <a:sym typeface="Symbol" panose="05050102010706020507" pitchFamily="18" charset="2"/>
              </a:rPr>
              <a:t>= E</a:t>
            </a:r>
            <a:r>
              <a:rPr lang="en-US" altLang="zh-CN" sz="2400" baseline="-25000">
                <a:sym typeface="Symbol" panose="05050102010706020507" pitchFamily="18" charset="2"/>
              </a:rPr>
              <a:t>1</a:t>
            </a:r>
            <a:r>
              <a:rPr lang="en-US" altLang="zh-CN" sz="2400">
                <a:sym typeface="Symbol" panose="05050102010706020507" pitchFamily="18" charset="2"/>
              </a:rPr>
              <a:t>.</a:t>
            </a:r>
            <a:r>
              <a:rPr lang="en-US" altLang="zh-CN" sz="2400" i="1">
                <a:sym typeface="Symbol" panose="05050102010706020507" pitchFamily="18" charset="2"/>
              </a:rPr>
              <a:t>nptr </a:t>
            </a:r>
            <a:r>
              <a:rPr lang="en-US" altLang="zh-CN" sz="2400">
                <a:sym typeface="Symbol" panose="05050102010706020507" pitchFamily="18" charset="2"/>
              </a:rPr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>
                <a:sym typeface="Symbol" panose="05050102010706020507" pitchFamily="18" charset="2"/>
              </a:rPr>
              <a:t>E  </a:t>
            </a:r>
            <a:r>
              <a:rPr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id 	</a:t>
            </a:r>
            <a:r>
              <a:rPr lang="en-US" altLang="zh-CN" sz="2400">
                <a:sym typeface="Symbol" panose="05050102010706020507" pitchFamily="18" charset="2"/>
              </a:rPr>
              <a:t>{E.</a:t>
            </a:r>
            <a:r>
              <a:rPr lang="en-US" altLang="zh-CN" sz="2400" i="1">
                <a:sym typeface="Symbol" panose="05050102010706020507" pitchFamily="18" charset="2"/>
              </a:rPr>
              <a:t>nptr </a:t>
            </a:r>
            <a:r>
              <a:rPr lang="en-US" altLang="zh-CN" sz="2400">
                <a:sym typeface="Symbol" panose="05050102010706020507" pitchFamily="18" charset="2"/>
              </a:rPr>
              <a:t>= </a:t>
            </a:r>
            <a:r>
              <a:rPr lang="en-US" altLang="zh-CN" sz="2400" i="1">
                <a:sym typeface="Symbol" panose="05050102010706020507" pitchFamily="18" charset="2"/>
              </a:rPr>
              <a:t>mkleaf</a:t>
            </a:r>
            <a:r>
              <a:rPr lang="en-US" altLang="zh-CN" sz="2400">
                <a:sym typeface="Symbol" panose="05050102010706020507" pitchFamily="18" charset="2"/>
              </a:rPr>
              <a:t>(id, id</a:t>
            </a:r>
            <a:r>
              <a:rPr lang="en-US" altLang="zh-CN" sz="2400" i="1">
                <a:sym typeface="Symbol" panose="05050102010706020507" pitchFamily="18" charset="2"/>
              </a:rPr>
              <a:t>.entry</a:t>
            </a:r>
            <a:r>
              <a:rPr lang="en-US" altLang="zh-CN" sz="2400">
                <a:sym typeface="Symbol" panose="05050102010706020507" pitchFamily="18" charset="2"/>
              </a:rPr>
              <a:t>)</a:t>
            </a:r>
            <a:r>
              <a:rPr lang="en-US" altLang="zh-CN" sz="2400" i="1">
                <a:sym typeface="Symbol" panose="05050102010706020507" pitchFamily="18" charset="2"/>
              </a:rPr>
              <a:t> </a:t>
            </a:r>
            <a:r>
              <a:rPr lang="en-US" altLang="zh-CN" sz="2400">
                <a:sym typeface="Symbol" panose="05050102010706020507" pitchFamily="18" charset="2"/>
              </a:rPr>
              <a:t>}</a:t>
            </a:r>
            <a:endParaRPr lang="en-US" altLang="zh-CN"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94D4D9F-B24C-4277-A24F-8288250F33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语法树的计算机内部表示</a:t>
            </a:r>
          </a:p>
        </p:txBody>
      </p:sp>
      <p:pic>
        <p:nvPicPr>
          <p:cNvPr id="9219" name="Picture 4" descr="syntree">
            <a:extLst>
              <a:ext uri="{FF2B5EF4-FFF2-40B4-BE49-F238E27FC236}">
                <a16:creationId xmlns:a16="http://schemas.microsoft.com/office/drawing/2014/main" id="{53E6DD2F-BE4D-4A10-807C-4DC5482E1D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295400"/>
            <a:ext cx="5683250" cy="395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C28C803-38B7-4D7C-A7A0-73263EBFB3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8.1.2  </a:t>
            </a:r>
            <a:r>
              <a:rPr lang="zh-CN" altLang="en-US"/>
              <a:t>三地址码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3D190C3D-9DF2-4A90-9761-EF8A03F8C4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37125"/>
          </a:xfrm>
        </p:spPr>
        <p:txBody>
          <a:bodyPr/>
          <a:lstStyle/>
          <a:p>
            <a:pPr eaLnBrk="1" hangingPunct="1"/>
            <a:r>
              <a:rPr lang="en-US" altLang="zh-CN" sz="2800">
                <a:solidFill>
                  <a:srgbClr val="FF3300"/>
                </a:solidFill>
              </a:rPr>
              <a:t>Three-Address Code</a:t>
            </a:r>
          </a:p>
          <a:p>
            <a:pPr eaLnBrk="1" hangingPunct="1"/>
            <a:r>
              <a:rPr lang="zh-CN" altLang="en-US" sz="2800"/>
              <a:t>一般形式：</a:t>
            </a:r>
            <a:r>
              <a:rPr lang="en-US" altLang="zh-CN" sz="2800"/>
              <a:t>x := y </a:t>
            </a:r>
            <a:r>
              <a:rPr lang="en-US" altLang="zh-CN" sz="2800" i="1"/>
              <a:t>op</a:t>
            </a:r>
            <a:r>
              <a:rPr lang="en-US" altLang="zh-CN" sz="2800"/>
              <a:t> z</a:t>
            </a:r>
          </a:p>
          <a:p>
            <a:pPr eaLnBrk="1" hangingPunct="1"/>
            <a:r>
              <a:rPr lang="zh-CN" altLang="en-US" sz="2800"/>
              <a:t>语法树、</a:t>
            </a:r>
            <a:r>
              <a:rPr lang="en-US" altLang="zh-CN" sz="2800"/>
              <a:t>dag</a:t>
            </a:r>
            <a:r>
              <a:rPr lang="zh-CN" altLang="en-US" sz="2800"/>
              <a:t>的线性化表示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t</a:t>
            </a:r>
            <a:r>
              <a:rPr lang="en-US" altLang="zh-CN" sz="2400" baseline="-25000"/>
              <a:t>1 </a:t>
            </a:r>
            <a:r>
              <a:rPr lang="en-US" altLang="zh-CN" sz="2400"/>
              <a:t>:= -c			t</a:t>
            </a:r>
            <a:r>
              <a:rPr lang="en-US" altLang="zh-CN" sz="2400" baseline="-25000"/>
              <a:t>1</a:t>
            </a:r>
            <a:r>
              <a:rPr lang="en-US" altLang="zh-CN" sz="2400"/>
              <a:t> := -c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t</a:t>
            </a:r>
            <a:r>
              <a:rPr lang="en-US" altLang="zh-CN" sz="2400" baseline="-25000"/>
              <a:t>2 </a:t>
            </a:r>
            <a:r>
              <a:rPr lang="en-US" altLang="zh-CN" sz="2400"/>
              <a:t>:= b * t</a:t>
            </a:r>
            <a:r>
              <a:rPr lang="en-US" altLang="zh-CN" sz="2400" baseline="-25000"/>
              <a:t>1		</a:t>
            </a:r>
            <a:r>
              <a:rPr lang="en-US" altLang="zh-CN" sz="2400"/>
              <a:t>t</a:t>
            </a:r>
            <a:r>
              <a:rPr lang="en-US" altLang="zh-CN" sz="2400" baseline="-25000"/>
              <a:t>2 </a:t>
            </a:r>
            <a:r>
              <a:rPr lang="en-US" altLang="zh-CN" sz="2400"/>
              <a:t>:= b * t</a:t>
            </a:r>
            <a:r>
              <a:rPr lang="en-US" altLang="zh-CN" sz="2400" baseline="-25000"/>
              <a:t>1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t</a:t>
            </a:r>
            <a:r>
              <a:rPr lang="en-US" altLang="zh-CN" sz="2400" baseline="-25000"/>
              <a:t>3 </a:t>
            </a:r>
            <a:r>
              <a:rPr lang="en-US" altLang="zh-CN" sz="2400"/>
              <a:t>:= -c			t</a:t>
            </a:r>
            <a:r>
              <a:rPr lang="en-US" altLang="zh-CN" sz="2400" baseline="-25000"/>
              <a:t>5</a:t>
            </a:r>
            <a:r>
              <a:rPr lang="en-US" altLang="zh-CN" sz="2400"/>
              <a:t> := t</a:t>
            </a:r>
            <a:r>
              <a:rPr lang="en-US" altLang="zh-CN" sz="2400" baseline="-25000"/>
              <a:t>2</a:t>
            </a:r>
            <a:r>
              <a:rPr lang="en-US" altLang="zh-CN" sz="2400"/>
              <a:t> + t</a:t>
            </a:r>
            <a:r>
              <a:rPr lang="en-US" altLang="zh-CN" sz="2400" baseline="-25000"/>
              <a:t>2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t</a:t>
            </a:r>
            <a:r>
              <a:rPr lang="en-US" altLang="zh-CN" sz="2400" baseline="-25000"/>
              <a:t>4</a:t>
            </a:r>
            <a:r>
              <a:rPr lang="en-US" altLang="zh-CN" sz="2400"/>
              <a:t> := b * t</a:t>
            </a:r>
            <a:r>
              <a:rPr lang="en-US" altLang="zh-CN" sz="2400" baseline="-25000"/>
              <a:t>3</a:t>
            </a:r>
            <a:r>
              <a:rPr lang="en-US" altLang="zh-CN" sz="2400"/>
              <a:t>		a := t</a:t>
            </a:r>
            <a:r>
              <a:rPr lang="en-US" altLang="zh-CN" sz="2400" baseline="-25000"/>
              <a:t>5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t</a:t>
            </a:r>
            <a:r>
              <a:rPr lang="en-US" altLang="zh-CN" sz="2400" baseline="-25000"/>
              <a:t>5</a:t>
            </a:r>
            <a:r>
              <a:rPr lang="en-US" altLang="zh-CN" sz="2400"/>
              <a:t> := t</a:t>
            </a:r>
            <a:r>
              <a:rPr lang="en-US" altLang="zh-CN" sz="2400" baseline="-25000"/>
              <a:t>2</a:t>
            </a:r>
            <a:r>
              <a:rPr lang="en-US" altLang="zh-CN" sz="2400"/>
              <a:t> + t</a:t>
            </a:r>
            <a:r>
              <a:rPr lang="en-US" altLang="zh-CN" sz="2400" baseline="-25000"/>
              <a:t>4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a := t</a:t>
            </a:r>
            <a:r>
              <a:rPr lang="en-US" altLang="zh-CN" sz="2400" baseline="-25000"/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28532433-80FE-42DC-BA4D-3141E7F3C0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8.1.3  </a:t>
            </a:r>
            <a:r>
              <a:rPr lang="zh-CN" altLang="en-US"/>
              <a:t>三地址码语句类型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336892BD-3C65-4DCA-B817-3FDDF382A8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34000"/>
          </a:xfrm>
        </p:spPr>
        <p:txBody>
          <a:bodyPr/>
          <a:lstStyle/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AutoNum type="arabicPeriod"/>
            </a:pPr>
            <a:r>
              <a:rPr lang="zh-CN" altLang="en-US" sz="2400"/>
              <a:t>二元运算：</a:t>
            </a:r>
            <a:r>
              <a:rPr lang="en-US" altLang="zh-CN" sz="2400"/>
              <a:t>x := y op z</a:t>
            </a:r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AutoNum type="arabicPeriod"/>
            </a:pPr>
            <a:r>
              <a:rPr lang="zh-CN" altLang="en-US" sz="2400"/>
              <a:t>一元运算：</a:t>
            </a:r>
            <a:r>
              <a:rPr lang="en-US" altLang="zh-CN" sz="2400"/>
              <a:t>x := op y</a:t>
            </a:r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AutoNum type="arabicPeriod"/>
            </a:pPr>
            <a:r>
              <a:rPr lang="zh-CN" altLang="en-US" sz="2400"/>
              <a:t>复制语句：</a:t>
            </a:r>
            <a:r>
              <a:rPr lang="en-US" altLang="zh-CN" sz="2400"/>
              <a:t>x := y</a:t>
            </a:r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AutoNum type="arabicPeriod"/>
            </a:pPr>
            <a:r>
              <a:rPr lang="zh-CN" altLang="en-US" sz="2400"/>
              <a:t>无条件转移：</a:t>
            </a:r>
            <a:r>
              <a:rPr lang="en-US" altLang="zh-CN" sz="2400"/>
              <a:t>goto L</a:t>
            </a:r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AutoNum type="arabicPeriod"/>
            </a:pPr>
            <a:r>
              <a:rPr lang="zh-CN" altLang="en-US" sz="2400"/>
              <a:t>条件转移：</a:t>
            </a:r>
            <a:r>
              <a:rPr lang="en-US" altLang="zh-CN" sz="2400"/>
              <a:t>if x relop y goto L</a:t>
            </a:r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AutoNum type="arabicPeriod"/>
            </a:pPr>
            <a:r>
              <a:rPr lang="zh-CN" altLang="en-US" sz="2400"/>
              <a:t>函数调用：</a:t>
            </a:r>
            <a:r>
              <a:rPr lang="en-US" altLang="zh-CN" sz="2400"/>
              <a:t>param x</a:t>
            </a:r>
            <a:r>
              <a:rPr lang="en-US" altLang="zh-CN" sz="2400" baseline="-25000"/>
              <a:t>1</a:t>
            </a:r>
            <a:br>
              <a:rPr lang="en-US" altLang="zh-CN" sz="2400" baseline="-25000"/>
            </a:br>
            <a:r>
              <a:rPr lang="en-US" altLang="zh-CN" sz="2400" baseline="-25000"/>
              <a:t>		      </a:t>
            </a:r>
            <a:r>
              <a:rPr lang="en-US" altLang="zh-CN" sz="2400"/>
              <a:t>param x</a:t>
            </a:r>
            <a:r>
              <a:rPr lang="en-US" altLang="zh-CN" sz="2400" baseline="-25000"/>
              <a:t>2</a:t>
            </a:r>
            <a:br>
              <a:rPr lang="en-US" altLang="zh-CN" sz="2400" baseline="-25000"/>
            </a:br>
            <a:r>
              <a:rPr lang="en-US" altLang="zh-CN" sz="2400" baseline="-25000"/>
              <a:t>		 </a:t>
            </a:r>
            <a:r>
              <a:rPr lang="en-US" altLang="zh-CN" sz="2400"/>
              <a:t>    …</a:t>
            </a:r>
            <a:br>
              <a:rPr lang="en-US" altLang="zh-CN" sz="2400"/>
            </a:br>
            <a:r>
              <a:rPr lang="en-US" altLang="zh-CN" sz="2400"/>
              <a:t>		    param x</a:t>
            </a:r>
            <a:r>
              <a:rPr lang="en-US" altLang="zh-CN" sz="2400" baseline="-25000"/>
              <a:t>n</a:t>
            </a:r>
            <a:br>
              <a:rPr lang="en-US" altLang="zh-CN" sz="2400" baseline="-25000"/>
            </a:br>
            <a:r>
              <a:rPr lang="en-US" altLang="zh-CN" sz="2400" baseline="-25000"/>
              <a:t>		      </a:t>
            </a:r>
            <a:r>
              <a:rPr lang="en-US" altLang="zh-CN" sz="2400"/>
              <a:t>call p, n</a:t>
            </a:r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AutoNum type="arabicPeriod"/>
            </a:pPr>
            <a:r>
              <a:rPr lang="zh-CN" altLang="en-US" sz="2400"/>
              <a:t>数组：</a:t>
            </a:r>
            <a:r>
              <a:rPr lang="en-US" altLang="zh-CN" sz="2400"/>
              <a:t>x := y [i] </a:t>
            </a:r>
            <a:r>
              <a:rPr lang="zh-CN" altLang="en-US" sz="2400"/>
              <a:t>，	</a:t>
            </a:r>
            <a:r>
              <a:rPr lang="en-US" altLang="zh-CN" sz="2400"/>
              <a:t>x [i] := y</a:t>
            </a:r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AutoNum type="arabicPeriod"/>
            </a:pPr>
            <a:r>
              <a:rPr lang="zh-CN" altLang="en-US" sz="2400"/>
              <a:t>指针：</a:t>
            </a:r>
            <a:r>
              <a:rPr lang="en-US" altLang="zh-CN" sz="2400"/>
              <a:t>x := &amp;y</a:t>
            </a:r>
            <a:r>
              <a:rPr lang="zh-CN" altLang="en-US" sz="2400"/>
              <a:t>，	</a:t>
            </a:r>
            <a:r>
              <a:rPr lang="en-US" altLang="zh-CN" sz="2400"/>
              <a:t>x := *y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E979EB0C-0F4C-430A-B757-613579A726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语法制导翻译生成三地址码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1A74A775-F2FF-4ABB-A3BE-9D7946A413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以赋值语句</a:t>
            </a:r>
            <a:r>
              <a:rPr lang="en-US" altLang="zh-CN" dirty="0"/>
              <a:t>id := E</a:t>
            </a:r>
            <a:r>
              <a:rPr lang="zh-CN" altLang="en-US" dirty="0"/>
              <a:t>为例</a:t>
            </a:r>
            <a:endParaRPr lang="en-US" altLang="zh-CN" dirty="0"/>
          </a:p>
          <a:p>
            <a:pPr eaLnBrk="1" hangingPunct="1"/>
            <a:r>
              <a:rPr lang="zh-CN" altLang="en-US" dirty="0"/>
              <a:t>利用属性保存翻译结果</a:t>
            </a:r>
          </a:p>
          <a:p>
            <a:pPr lvl="1" eaLnBrk="1" hangingPunct="1"/>
            <a:r>
              <a:rPr lang="en-US" altLang="zh-CN" dirty="0" err="1"/>
              <a:t>E.code</a:t>
            </a:r>
            <a:r>
              <a:rPr lang="zh-CN" altLang="en-US" dirty="0"/>
              <a:t>：生成的计算</a:t>
            </a:r>
            <a:r>
              <a:rPr lang="en-US" altLang="zh-CN" dirty="0"/>
              <a:t>E</a:t>
            </a:r>
            <a:r>
              <a:rPr lang="zh-CN" altLang="en-US" dirty="0"/>
              <a:t>的三地址代码</a:t>
            </a:r>
          </a:p>
          <a:p>
            <a:pPr lvl="1" eaLnBrk="1" hangingPunct="1"/>
            <a:r>
              <a:rPr lang="en-US" altLang="zh-CN" dirty="0" err="1"/>
              <a:t>E.place</a:t>
            </a:r>
            <a:r>
              <a:rPr lang="zh-CN" altLang="en-US" dirty="0"/>
              <a:t>：代码</a:t>
            </a:r>
            <a:r>
              <a:rPr lang="en-US" altLang="zh-CN" dirty="0" err="1"/>
              <a:t>E.code</a:t>
            </a:r>
            <a:r>
              <a:rPr lang="zh-CN" altLang="en-US" dirty="0"/>
              <a:t>中</a:t>
            </a:r>
            <a:r>
              <a:rPr lang="en-US" altLang="zh-CN" dirty="0"/>
              <a:t>E</a:t>
            </a:r>
            <a:r>
              <a:rPr lang="zh-CN" altLang="en-US" dirty="0"/>
              <a:t>最终计算结果的存储位置（（临时）变量名）</a:t>
            </a:r>
          </a:p>
          <a:p>
            <a:pPr eaLnBrk="1" hangingPunct="1"/>
            <a:r>
              <a:rPr lang="en-US" altLang="zh-CN" dirty="0" err="1"/>
              <a:t>newtemp</a:t>
            </a:r>
            <a:r>
              <a:rPr lang="zh-CN" altLang="en-US" dirty="0"/>
              <a:t>：生成临时变量名</a:t>
            </a:r>
          </a:p>
          <a:p>
            <a:pPr eaLnBrk="1" hangingPunct="1"/>
            <a:r>
              <a:rPr lang="en-US" altLang="zh-CN" dirty="0"/>
              <a:t>gen</a:t>
            </a:r>
            <a:r>
              <a:rPr lang="zh-CN" altLang="en-US" dirty="0"/>
              <a:t>：生成一条三地址码指令（的文本串）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D0CD21A-8A39-4DB9-AF50-0358DE63D4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赋值语句的翻译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875C97EC-9BEC-46A1-8B7E-A792D13867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371600"/>
            <a:ext cx="8040688" cy="5334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 u="sng" dirty="0"/>
              <a:t>PRODUCTION	Semantic Rule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S 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id := </a:t>
            </a:r>
            <a:r>
              <a:rPr lang="en-US" altLang="zh-CN" sz="2000" dirty="0">
                <a:sym typeface="Symbol" panose="05050102010706020507" pitchFamily="18" charset="2"/>
              </a:rPr>
              <a:t>E	{ </a:t>
            </a:r>
            <a:r>
              <a:rPr lang="en-US" altLang="zh-CN" sz="2000" dirty="0" err="1">
                <a:sym typeface="Symbol" panose="05050102010706020507" pitchFamily="18" charset="2"/>
              </a:rPr>
              <a:t>S</a:t>
            </a:r>
            <a:r>
              <a:rPr lang="en-US" altLang="zh-CN" sz="2000" i="1" dirty="0" err="1">
                <a:sym typeface="Symbol" panose="05050102010706020507" pitchFamily="18" charset="2"/>
              </a:rPr>
              <a:t>.code</a:t>
            </a:r>
            <a:r>
              <a:rPr lang="en-US" altLang="zh-CN" sz="2000" i="1" dirty="0">
                <a:sym typeface="Symbol" panose="05050102010706020507" pitchFamily="18" charset="2"/>
              </a:rPr>
              <a:t> = 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code</a:t>
            </a:r>
            <a:r>
              <a:rPr lang="en-US" altLang="zh-CN" sz="2000" dirty="0">
                <a:sym typeface="Symbol" panose="05050102010706020507" pitchFamily="18" charset="2"/>
              </a:rPr>
              <a:t> || </a:t>
            </a:r>
            <a:r>
              <a:rPr lang="en-US" altLang="zh-CN" sz="2000" i="1" dirty="0">
                <a:sym typeface="Symbol" panose="05050102010706020507" pitchFamily="18" charset="2"/>
              </a:rPr>
              <a:t>gen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dirty="0" err="1">
                <a:sym typeface="Symbol" panose="05050102010706020507" pitchFamily="18" charset="2"/>
              </a:rPr>
              <a:t>id</a:t>
            </a:r>
            <a:r>
              <a:rPr lang="en-US" altLang="zh-CN" sz="2000" i="1" dirty="0" err="1">
                <a:sym typeface="Symbol" panose="05050102010706020507" pitchFamily="18" charset="2"/>
              </a:rPr>
              <a:t>.place</a:t>
            </a:r>
            <a:r>
              <a:rPr lang="en-US" altLang="zh-CN" sz="2000" dirty="0">
                <a:sym typeface="Symbol" panose="05050102010706020507" pitchFamily="18" charset="2"/>
              </a:rPr>
              <a:t> ‘:=’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place</a:t>
            </a:r>
            <a:r>
              <a:rPr lang="en-US" altLang="zh-CN" sz="2000" dirty="0">
                <a:sym typeface="Symbol" panose="05050102010706020507" pitchFamily="18" charset="2"/>
              </a:rPr>
              <a:t>) }</a:t>
            </a:r>
            <a:endParaRPr lang="en-US" altLang="zh-CN" sz="2000" i="1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E  E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+ </a:t>
            </a:r>
            <a:r>
              <a:rPr lang="en-US" altLang="zh-CN" sz="2000" dirty="0">
                <a:sym typeface="Symbol" panose="05050102010706020507" pitchFamily="18" charset="2"/>
              </a:rPr>
              <a:t>E</a:t>
            </a:r>
            <a:r>
              <a:rPr lang="en-US" altLang="zh-CN" sz="2000" baseline="-25000" dirty="0"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 	</a:t>
            </a:r>
            <a:r>
              <a:rPr lang="en-US" altLang="zh-CN" sz="2000" dirty="0">
                <a:sym typeface="Symbol" panose="05050102010706020507" pitchFamily="18" charset="2"/>
              </a:rPr>
              <a:t>{ 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place</a:t>
            </a:r>
            <a:r>
              <a:rPr lang="en-US" altLang="zh-CN" sz="2000" dirty="0">
                <a:sym typeface="Symbol" panose="05050102010706020507" pitchFamily="18" charset="2"/>
              </a:rPr>
              <a:t>= </a:t>
            </a:r>
            <a:r>
              <a:rPr lang="en-US" altLang="zh-CN" sz="2000" i="1" dirty="0" err="1">
                <a:sym typeface="Symbol" panose="05050102010706020507" pitchFamily="18" charset="2"/>
              </a:rPr>
              <a:t>newtemp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			 </a:t>
            </a:r>
            <a:r>
              <a:rPr lang="en-US" altLang="zh-CN" sz="2000" dirty="0" err="1">
                <a:sym typeface="Symbol" panose="05050102010706020507" pitchFamily="18" charset="2"/>
              </a:rPr>
              <a:t>E</a:t>
            </a:r>
            <a:r>
              <a:rPr lang="en-US" altLang="zh-CN" sz="2000" i="1" dirty="0" err="1">
                <a:sym typeface="Symbol" panose="05050102010706020507" pitchFamily="18" charset="2"/>
              </a:rPr>
              <a:t>.code</a:t>
            </a:r>
            <a:r>
              <a:rPr lang="en-US" altLang="zh-CN" sz="2000" dirty="0">
                <a:sym typeface="Symbol" panose="05050102010706020507" pitchFamily="18" charset="2"/>
              </a:rPr>
              <a:t> = E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code </a:t>
            </a:r>
            <a:r>
              <a:rPr lang="en-US" altLang="zh-CN" sz="2000" dirty="0">
                <a:sym typeface="Symbol" panose="05050102010706020507" pitchFamily="18" charset="2"/>
              </a:rPr>
              <a:t>|| E</a:t>
            </a:r>
            <a:r>
              <a:rPr lang="en-US" altLang="zh-CN" sz="2000" baseline="-25000" dirty="0"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code </a:t>
            </a:r>
            <a:r>
              <a:rPr lang="en-US" altLang="zh-CN" sz="2000" dirty="0">
                <a:sym typeface="Symbol" panose="05050102010706020507" pitchFamily="18" charset="2"/>
              </a:rPr>
              <a:t>||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			          || </a:t>
            </a:r>
            <a:r>
              <a:rPr lang="en-US" altLang="zh-CN" sz="2000" i="1" dirty="0">
                <a:sym typeface="Symbol" panose="05050102010706020507" pitchFamily="18" charset="2"/>
              </a:rPr>
              <a:t>gen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place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‘:=’ E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place </a:t>
            </a:r>
            <a:r>
              <a:rPr lang="en-US" altLang="zh-CN" sz="2000" dirty="0">
                <a:sym typeface="Symbol" panose="05050102010706020507" pitchFamily="18" charset="2"/>
              </a:rPr>
              <a:t>‘+’ E</a:t>
            </a:r>
            <a:r>
              <a:rPr lang="en-US" altLang="zh-CN" sz="2000" baseline="-25000" dirty="0"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place</a:t>
            </a:r>
            <a:r>
              <a:rPr lang="en-US" altLang="zh-CN" sz="2000" dirty="0">
                <a:sym typeface="Symbol" panose="05050102010706020507" pitchFamily="18" charset="2"/>
              </a:rPr>
              <a:t>)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E  E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* </a:t>
            </a:r>
            <a:r>
              <a:rPr lang="en-US" altLang="zh-CN" sz="2000" dirty="0">
                <a:sym typeface="Symbol" panose="05050102010706020507" pitchFamily="18" charset="2"/>
              </a:rPr>
              <a:t>E</a:t>
            </a:r>
            <a:r>
              <a:rPr lang="en-US" altLang="zh-CN" sz="2000" baseline="-25000" dirty="0"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 	</a:t>
            </a:r>
            <a:r>
              <a:rPr lang="en-US" altLang="zh-CN" sz="2000" dirty="0">
                <a:sym typeface="Symbol" panose="05050102010706020507" pitchFamily="18" charset="2"/>
              </a:rPr>
              <a:t>{ 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place</a:t>
            </a:r>
            <a:r>
              <a:rPr lang="en-US" altLang="zh-CN" sz="2000" dirty="0">
                <a:sym typeface="Symbol" panose="05050102010706020507" pitchFamily="18" charset="2"/>
              </a:rPr>
              <a:t>= </a:t>
            </a:r>
            <a:r>
              <a:rPr lang="en-US" altLang="zh-CN" sz="2000" i="1" dirty="0" err="1">
                <a:sym typeface="Symbol" panose="05050102010706020507" pitchFamily="18" charset="2"/>
              </a:rPr>
              <a:t>newtemp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			 </a:t>
            </a:r>
            <a:r>
              <a:rPr lang="en-US" altLang="zh-CN" sz="2000" dirty="0" err="1">
                <a:sym typeface="Symbol" panose="05050102010706020507" pitchFamily="18" charset="2"/>
              </a:rPr>
              <a:t>E</a:t>
            </a:r>
            <a:r>
              <a:rPr lang="en-US" altLang="zh-CN" sz="2000" i="1" dirty="0" err="1">
                <a:sym typeface="Symbol" panose="05050102010706020507" pitchFamily="18" charset="2"/>
              </a:rPr>
              <a:t>.code</a:t>
            </a:r>
            <a:r>
              <a:rPr lang="en-US" altLang="zh-CN" sz="2000" dirty="0">
                <a:sym typeface="Symbol" panose="05050102010706020507" pitchFamily="18" charset="2"/>
              </a:rPr>
              <a:t> = E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code </a:t>
            </a:r>
            <a:r>
              <a:rPr lang="en-US" altLang="zh-CN" sz="2000" dirty="0">
                <a:sym typeface="Symbol" panose="05050102010706020507" pitchFamily="18" charset="2"/>
              </a:rPr>
              <a:t>|| E</a:t>
            </a:r>
            <a:r>
              <a:rPr lang="en-US" altLang="zh-CN" sz="2000" baseline="-25000" dirty="0"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code </a:t>
            </a:r>
            <a:r>
              <a:rPr lang="en-US" altLang="zh-CN" sz="2000" dirty="0">
                <a:sym typeface="Symbol" panose="05050102010706020507" pitchFamily="18" charset="2"/>
              </a:rPr>
              <a:t>||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			          || </a:t>
            </a:r>
            <a:r>
              <a:rPr lang="en-US" altLang="zh-CN" sz="2000" i="1" dirty="0">
                <a:sym typeface="Symbol" panose="05050102010706020507" pitchFamily="18" charset="2"/>
              </a:rPr>
              <a:t>gen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place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‘:=’ E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place </a:t>
            </a:r>
            <a:r>
              <a:rPr lang="en-US" altLang="zh-CN" sz="2000" dirty="0">
                <a:sym typeface="Symbol" panose="05050102010706020507" pitchFamily="18" charset="2"/>
              </a:rPr>
              <a:t>‘*’ E</a:t>
            </a:r>
            <a:r>
              <a:rPr lang="en-US" altLang="zh-CN" sz="2000" baseline="-25000" dirty="0"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place</a:t>
            </a:r>
            <a:r>
              <a:rPr lang="en-US" altLang="zh-CN" sz="2000" dirty="0">
                <a:sym typeface="Symbol" panose="05050102010706020507" pitchFamily="18" charset="2"/>
              </a:rPr>
              <a:t>)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E 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- </a:t>
            </a:r>
            <a:r>
              <a:rPr lang="en-US" altLang="zh-CN" sz="2000" dirty="0">
                <a:sym typeface="Symbol" panose="05050102010706020507" pitchFamily="18" charset="2"/>
              </a:rPr>
              <a:t>E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 	</a:t>
            </a:r>
            <a:r>
              <a:rPr lang="en-US" altLang="zh-CN" sz="2000" dirty="0">
                <a:sym typeface="Symbol" panose="05050102010706020507" pitchFamily="18" charset="2"/>
              </a:rPr>
              <a:t>{ 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place</a:t>
            </a:r>
            <a:r>
              <a:rPr lang="en-US" altLang="zh-CN" sz="2000" dirty="0">
                <a:sym typeface="Symbol" panose="05050102010706020507" pitchFamily="18" charset="2"/>
              </a:rPr>
              <a:t>= </a:t>
            </a:r>
            <a:r>
              <a:rPr lang="en-US" altLang="zh-CN" sz="2000" i="1" dirty="0" err="1">
                <a:sym typeface="Symbol" panose="05050102010706020507" pitchFamily="18" charset="2"/>
              </a:rPr>
              <a:t>newtemp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			 </a:t>
            </a:r>
            <a:r>
              <a:rPr lang="en-US" altLang="zh-CN" sz="2000" dirty="0" err="1">
                <a:sym typeface="Symbol" panose="05050102010706020507" pitchFamily="18" charset="2"/>
              </a:rPr>
              <a:t>E</a:t>
            </a:r>
            <a:r>
              <a:rPr lang="en-US" altLang="zh-CN" sz="2000" i="1" dirty="0" err="1">
                <a:sym typeface="Symbol" panose="05050102010706020507" pitchFamily="18" charset="2"/>
              </a:rPr>
              <a:t>.code</a:t>
            </a:r>
            <a:r>
              <a:rPr lang="en-US" altLang="zh-CN" sz="2000" dirty="0">
                <a:sym typeface="Symbol" panose="05050102010706020507" pitchFamily="18" charset="2"/>
              </a:rPr>
              <a:t> = E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code ||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				|| </a:t>
            </a:r>
            <a:r>
              <a:rPr lang="en-US" altLang="zh-CN" sz="2000" i="1" dirty="0">
                <a:sym typeface="Symbol" panose="05050102010706020507" pitchFamily="18" charset="2"/>
              </a:rPr>
              <a:t>gen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place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‘:=’ ‘</a:t>
            </a:r>
            <a:r>
              <a:rPr lang="en-US" altLang="zh-CN" sz="2000" dirty="0" err="1">
                <a:sym typeface="Symbol" panose="05050102010706020507" pitchFamily="18" charset="2"/>
              </a:rPr>
              <a:t>uminus</a:t>
            </a:r>
            <a:r>
              <a:rPr lang="en-US" altLang="zh-CN" sz="2000" dirty="0">
                <a:sym typeface="Symbol" panose="05050102010706020507" pitchFamily="18" charset="2"/>
              </a:rPr>
              <a:t>’ E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place</a:t>
            </a:r>
            <a:r>
              <a:rPr lang="en-US" altLang="zh-CN" sz="2000" dirty="0">
                <a:sym typeface="Symbol" panose="05050102010706020507" pitchFamily="18" charset="2"/>
              </a:rPr>
              <a:t>)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E 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( </a:t>
            </a:r>
            <a:r>
              <a:rPr lang="en-US" altLang="zh-CN" sz="2000" dirty="0">
                <a:sym typeface="Symbol" panose="05050102010706020507" pitchFamily="18" charset="2"/>
              </a:rPr>
              <a:t>E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 ) 	</a:t>
            </a:r>
            <a:r>
              <a:rPr lang="en-US" altLang="zh-CN" sz="2000" dirty="0">
                <a:sym typeface="Symbol" panose="05050102010706020507" pitchFamily="18" charset="2"/>
              </a:rPr>
              <a:t>{ 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place</a:t>
            </a:r>
            <a:r>
              <a:rPr lang="en-US" altLang="zh-CN" sz="2000" dirty="0">
                <a:sym typeface="Symbol" panose="05050102010706020507" pitchFamily="18" charset="2"/>
              </a:rPr>
              <a:t>= E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place</a:t>
            </a:r>
            <a:r>
              <a:rPr lang="en-US" altLang="zh-CN" sz="2000" dirty="0">
                <a:sym typeface="Symbol" panose="05050102010706020507" pitchFamily="18" charset="2"/>
              </a:rPr>
              <a:t> ; 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code</a:t>
            </a:r>
            <a:r>
              <a:rPr lang="en-US" altLang="zh-CN" sz="2000" i="1" dirty="0">
                <a:sym typeface="Symbol" panose="05050102010706020507" pitchFamily="18" charset="2"/>
              </a:rPr>
              <a:t> = </a:t>
            </a:r>
            <a:r>
              <a:rPr lang="en-US" altLang="zh-CN" sz="2000" dirty="0">
                <a:sym typeface="Symbol" panose="05050102010706020507" pitchFamily="18" charset="2"/>
              </a:rPr>
              <a:t>E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code</a:t>
            </a:r>
            <a:r>
              <a:rPr lang="en-US" altLang="zh-CN" sz="2000" dirty="0">
                <a:sym typeface="Symbol" panose="05050102010706020507" pitchFamily="18" charset="2"/>
              </a:rPr>
              <a:t>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E 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id 	</a:t>
            </a:r>
            <a:r>
              <a:rPr lang="en-US" altLang="zh-CN" sz="2000" dirty="0">
                <a:sym typeface="Symbol" panose="05050102010706020507" pitchFamily="18" charset="2"/>
              </a:rPr>
              <a:t>{ 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place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= </a:t>
            </a:r>
            <a:r>
              <a:rPr lang="en-US" altLang="zh-CN" sz="2000" dirty="0" err="1">
                <a:sym typeface="Symbol" panose="05050102010706020507" pitchFamily="18" charset="2"/>
              </a:rPr>
              <a:t>id</a:t>
            </a:r>
            <a:r>
              <a:rPr lang="en-US" altLang="zh-CN" sz="2000" i="1" dirty="0" err="1">
                <a:sym typeface="Symbol" panose="05050102010706020507" pitchFamily="18" charset="2"/>
              </a:rPr>
              <a:t>.entry</a:t>
            </a:r>
            <a:r>
              <a:rPr lang="en-US" altLang="zh-CN" sz="2000" dirty="0">
                <a:sym typeface="Symbol" panose="05050102010706020507" pitchFamily="18" charset="2"/>
              </a:rPr>
              <a:t> ; </a:t>
            </a:r>
            <a:r>
              <a:rPr lang="en-US" altLang="zh-CN" sz="2000" dirty="0" err="1">
                <a:sym typeface="Symbol" panose="05050102010706020507" pitchFamily="18" charset="2"/>
              </a:rPr>
              <a:t>E.</a:t>
            </a:r>
            <a:r>
              <a:rPr lang="en-US" altLang="zh-CN" sz="2000" i="1" dirty="0" err="1">
                <a:sym typeface="Symbol" panose="05050102010706020507" pitchFamily="18" charset="2"/>
              </a:rPr>
              <a:t>code</a:t>
            </a:r>
            <a:r>
              <a:rPr lang="en-US" altLang="zh-CN" sz="2000" dirty="0">
                <a:sym typeface="Symbol" panose="05050102010706020507" pitchFamily="18" charset="2"/>
              </a:rPr>
              <a:t> = ‘’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}</a:t>
            </a:r>
          </a:p>
        </p:txBody>
      </p:sp>
      <p:sp>
        <p:nvSpPr>
          <p:cNvPr id="4" name="Text Box 11">
            <a:extLst>
              <a:ext uri="{FF2B5EF4-FFF2-40B4-BE49-F238E27FC236}">
                <a16:creationId xmlns:a16="http://schemas.microsoft.com/office/drawing/2014/main" id="{C75D843B-431E-4369-85C0-002CA9D01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6216" y="2060848"/>
            <a:ext cx="273630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1600" b="1" dirty="0">
                <a:solidFill>
                  <a:srgbClr val="FF0000"/>
                </a:solidFill>
                <a:sym typeface="Wingdings" panose="05000000000000000000" pitchFamily="2" charset="2"/>
              </a:rPr>
              <a:t>加法表达式代码：</a:t>
            </a:r>
            <a:br>
              <a:rPr kumimoji="0" lang="en-US" altLang="zh-CN" sz="1600" b="1" dirty="0">
                <a:solidFill>
                  <a:srgbClr val="FF0000"/>
                </a:solidFill>
                <a:sym typeface="Wingdings" panose="05000000000000000000" pitchFamily="2" charset="2"/>
              </a:rPr>
            </a:br>
            <a:r>
              <a:rPr kumimoji="0" lang="zh-CN" altLang="en-US" sz="1600" b="1" dirty="0">
                <a:solidFill>
                  <a:srgbClr val="FF0000"/>
                </a:solidFill>
                <a:sym typeface="Wingdings" panose="05000000000000000000" pitchFamily="2" charset="2"/>
              </a:rPr>
              <a:t>先计算两个子表达式</a:t>
            </a:r>
            <a:br>
              <a:rPr kumimoji="0" lang="en-US" altLang="zh-CN" sz="1600" b="1" dirty="0">
                <a:solidFill>
                  <a:srgbClr val="FF0000"/>
                </a:solidFill>
                <a:sym typeface="Wingdings" panose="05000000000000000000" pitchFamily="2" charset="2"/>
              </a:rPr>
            </a:br>
            <a:r>
              <a:rPr kumimoji="0" lang="zh-CN" altLang="en-US" sz="1600" b="1" dirty="0">
                <a:solidFill>
                  <a:srgbClr val="FF0000"/>
                </a:solidFill>
                <a:sym typeface="Wingdings" panose="05000000000000000000" pitchFamily="2" charset="2"/>
              </a:rPr>
              <a:t>再执行它们结果的加法指令</a:t>
            </a:r>
            <a:endParaRPr kumimoji="0" lang="en-US" altLang="zh-CN" sz="1600" b="1" dirty="0">
              <a:solidFill>
                <a:srgbClr val="FF0000"/>
              </a:solidFill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3F8B1E19-93B0-43F3-98AB-0237180E02A2}"/>
              </a:ext>
            </a:extLst>
          </p:cNvPr>
          <p:cNvCxnSpPr>
            <a:cxnSpLocks/>
            <a:stCxn id="4" idx="1"/>
          </p:cNvCxnSpPr>
          <p:nvPr/>
        </p:nvCxnSpPr>
        <p:spPr bwMode="auto">
          <a:xfrm flipH="1">
            <a:off x="5940152" y="2476347"/>
            <a:ext cx="576064" cy="232573"/>
          </a:xfrm>
          <a:prstGeom prst="straightConnector1">
            <a:avLst/>
          </a:prstGeom>
          <a:solidFill>
            <a:srgbClr val="FFCF0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Text Box 11">
            <a:extLst>
              <a:ext uri="{FF2B5EF4-FFF2-40B4-BE49-F238E27FC236}">
                <a16:creationId xmlns:a16="http://schemas.microsoft.com/office/drawing/2014/main" id="{CD7C814F-0EC6-4E1D-B49C-159E1D5C3E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152" y="803701"/>
            <a:ext cx="2736304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1600" b="1" dirty="0">
                <a:solidFill>
                  <a:srgbClr val="FF0000"/>
                </a:solidFill>
                <a:sym typeface="Wingdings" panose="05000000000000000000" pitchFamily="2" charset="2"/>
              </a:rPr>
              <a:t>赋值语句代码：</a:t>
            </a:r>
            <a:br>
              <a:rPr kumimoji="0" lang="en-US" altLang="zh-CN" sz="1600" b="1" dirty="0">
                <a:solidFill>
                  <a:srgbClr val="FF0000"/>
                </a:solidFill>
                <a:sym typeface="Wingdings" panose="05000000000000000000" pitchFamily="2" charset="2"/>
              </a:rPr>
            </a:br>
            <a:r>
              <a:rPr kumimoji="0" lang="zh-CN" altLang="en-US" sz="1600" b="1" dirty="0">
                <a:solidFill>
                  <a:srgbClr val="FF0000"/>
                </a:solidFill>
                <a:sym typeface="Wingdings" panose="05000000000000000000" pitchFamily="2" charset="2"/>
              </a:rPr>
              <a:t>先计算右侧表达式</a:t>
            </a:r>
            <a:br>
              <a:rPr kumimoji="0" lang="en-US" altLang="zh-CN" sz="1600" b="1" dirty="0">
                <a:solidFill>
                  <a:srgbClr val="FF0000"/>
                </a:solidFill>
                <a:sym typeface="Wingdings" panose="05000000000000000000" pitchFamily="2" charset="2"/>
              </a:rPr>
            </a:br>
            <a:r>
              <a:rPr kumimoji="0" lang="zh-CN" altLang="en-US" sz="1600" b="1" dirty="0">
                <a:solidFill>
                  <a:srgbClr val="FF0000"/>
                </a:solidFill>
                <a:sym typeface="Wingdings" panose="05000000000000000000" pitchFamily="2" charset="2"/>
              </a:rPr>
              <a:t>再执行它的结果到左侧变量的赋值指令</a:t>
            </a:r>
            <a:endParaRPr kumimoji="0" lang="en-US" altLang="zh-CN" sz="1600" b="1" dirty="0">
              <a:solidFill>
                <a:srgbClr val="FF0000"/>
              </a:solidFill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B9C5D34C-5BE7-4B95-AF34-FB6CA2C5A219}"/>
              </a:ext>
            </a:extLst>
          </p:cNvPr>
          <p:cNvCxnSpPr>
            <a:cxnSpLocks/>
            <a:stCxn id="9" idx="1"/>
          </p:cNvCxnSpPr>
          <p:nvPr/>
        </p:nvCxnSpPr>
        <p:spPr bwMode="auto">
          <a:xfrm flipH="1">
            <a:off x="5220072" y="1342310"/>
            <a:ext cx="720080" cy="430506"/>
          </a:xfrm>
          <a:prstGeom prst="straightConnector1">
            <a:avLst/>
          </a:prstGeom>
          <a:solidFill>
            <a:srgbClr val="FFCF0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27430-BD6E-4C2D-9ECA-8B5C228C9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中间代码生成示例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E830A0-A598-4C33-94C6-AAE13AAB3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Text Box 6">
            <a:extLst>
              <a:ext uri="{FF2B5EF4-FFF2-40B4-BE49-F238E27FC236}">
                <a16:creationId xmlns:a16="http://schemas.microsoft.com/office/drawing/2014/main" id="{3BFA5263-AAE4-4AD7-B415-A253E9C3B7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7656" y="2654807"/>
            <a:ext cx="838200" cy="4570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id1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00A55FA6-00E3-4CC1-9A2F-DB573EA6E2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1616" y="1551341"/>
            <a:ext cx="784225" cy="457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:=</a:t>
            </a:r>
          </a:p>
        </p:txBody>
      </p:sp>
      <p:sp>
        <p:nvSpPr>
          <p:cNvPr id="6" name="Text Box 7">
            <a:extLst>
              <a:ext uri="{FF2B5EF4-FFF2-40B4-BE49-F238E27FC236}">
                <a16:creationId xmlns:a16="http://schemas.microsoft.com/office/drawing/2014/main" id="{CDB9C2BD-103E-4776-A136-1A487DC9F9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3298" y="3957754"/>
            <a:ext cx="1473200" cy="456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id2</a:t>
            </a: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724B444E-482A-4F4F-A649-B440FC62E7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6016" y="5201368"/>
            <a:ext cx="1473200" cy="457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id3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5E0D7B1C-362A-4A24-A2CA-C9121C18D6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8910" y="2654807"/>
            <a:ext cx="785812" cy="457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+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0BEA2934-4297-412C-BBDC-2852E64C06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1796" y="3958337"/>
            <a:ext cx="785812" cy="457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*</a:t>
            </a:r>
          </a:p>
        </p:txBody>
      </p:sp>
      <p:sp>
        <p:nvSpPr>
          <p:cNvPr id="10" name="Text Box 11">
            <a:extLst>
              <a:ext uri="{FF2B5EF4-FFF2-40B4-BE49-F238E27FC236}">
                <a16:creationId xmlns:a16="http://schemas.microsoft.com/office/drawing/2014/main" id="{40F88194-C9B2-4464-9D22-AB81840AAE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2532" y="5201368"/>
            <a:ext cx="785812" cy="4563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400" b="1" dirty="0"/>
              <a:t>60</a:t>
            </a:r>
          </a:p>
        </p:txBody>
      </p:sp>
      <p:sp>
        <p:nvSpPr>
          <p:cNvPr id="11" name="Line 12">
            <a:extLst>
              <a:ext uri="{FF2B5EF4-FFF2-40B4-BE49-F238E27FC236}">
                <a16:creationId xmlns:a16="http://schemas.microsoft.com/office/drawing/2014/main" id="{474A6D16-8425-43DA-A362-E2894314C5AB}"/>
              </a:ext>
            </a:extLst>
          </p:cNvPr>
          <p:cNvSpPr>
            <a:spLocks noChangeShapeType="1"/>
          </p:cNvSpPr>
          <p:nvPr/>
        </p:nvSpPr>
        <p:spPr bwMode="auto">
          <a:xfrm>
            <a:off x="4596978" y="3573016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13">
            <a:extLst>
              <a:ext uri="{FF2B5EF4-FFF2-40B4-BE49-F238E27FC236}">
                <a16:creationId xmlns:a16="http://schemas.microsoft.com/office/drawing/2014/main" id="{03831FC5-3689-49AB-A525-3F278CDCD6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17392" y="1867573"/>
            <a:ext cx="838200" cy="84866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Line 14">
            <a:extLst>
              <a:ext uri="{FF2B5EF4-FFF2-40B4-BE49-F238E27FC236}">
                <a16:creationId xmlns:a16="http://schemas.microsoft.com/office/drawing/2014/main" id="{D7CC16CF-A375-46D4-B36C-9DF4BCE912D7}"/>
              </a:ext>
            </a:extLst>
          </p:cNvPr>
          <p:cNvSpPr>
            <a:spLocks noChangeShapeType="1"/>
          </p:cNvSpPr>
          <p:nvPr/>
        </p:nvSpPr>
        <p:spPr bwMode="auto">
          <a:xfrm>
            <a:off x="4108823" y="1867573"/>
            <a:ext cx="1025847" cy="9780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2E7A9BA5-65A1-422E-932E-ACD2BE89D21F}"/>
              </a:ext>
            </a:extLst>
          </p:cNvPr>
          <p:cNvSpPr>
            <a:spLocks noChangeShapeType="1"/>
          </p:cNvSpPr>
          <p:nvPr/>
        </p:nvSpPr>
        <p:spPr bwMode="auto">
          <a:xfrm>
            <a:off x="5303894" y="3036278"/>
            <a:ext cx="885322" cy="103822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A24AAFA7-3A74-490E-980E-EE3BA653AC94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2200" y="4218475"/>
            <a:ext cx="910828" cy="9997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Line 17">
            <a:extLst>
              <a:ext uri="{FF2B5EF4-FFF2-40B4-BE49-F238E27FC236}">
                <a16:creationId xmlns:a16="http://schemas.microsoft.com/office/drawing/2014/main" id="{A292E774-9E42-46A1-B290-B2BCEBA678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30416" y="4218475"/>
            <a:ext cx="758800" cy="99976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Line 18">
            <a:extLst>
              <a:ext uri="{FF2B5EF4-FFF2-40B4-BE49-F238E27FC236}">
                <a16:creationId xmlns:a16="http://schemas.microsoft.com/office/drawing/2014/main" id="{2A0F908C-1E4E-4FFE-899F-C1F4957060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301703" y="2997984"/>
            <a:ext cx="838200" cy="103822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Text Box 11">
            <a:extLst>
              <a:ext uri="{FF2B5EF4-FFF2-40B4-BE49-F238E27FC236}">
                <a16:creationId xmlns:a16="http://schemas.microsoft.com/office/drawing/2014/main" id="{94008F67-2C57-413E-A027-C0FD56275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9475" y="5243868"/>
            <a:ext cx="15050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.place=rate</a:t>
            </a:r>
            <a:endParaRPr kumimoji="0" lang="en-US" altLang="zh-CN" sz="2000" b="1" dirty="0">
              <a:solidFill>
                <a:srgbClr val="FF0000"/>
              </a:solidFill>
            </a:endParaRPr>
          </a:p>
        </p:txBody>
      </p:sp>
      <p:sp>
        <p:nvSpPr>
          <p:cNvPr id="19" name="Text Box 11">
            <a:extLst>
              <a:ext uri="{FF2B5EF4-FFF2-40B4-BE49-F238E27FC236}">
                <a16:creationId xmlns:a16="http://schemas.microsoft.com/office/drawing/2014/main" id="{1826708A-8800-4935-8677-30914294C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5992" y="5218239"/>
            <a:ext cx="170208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.place=“60.0”</a:t>
            </a:r>
            <a:endParaRPr kumimoji="0" lang="en-US" altLang="zh-CN" sz="2000" b="1" dirty="0">
              <a:solidFill>
                <a:srgbClr val="FF0000"/>
              </a:solidFill>
            </a:endParaRPr>
          </a:p>
        </p:txBody>
      </p:sp>
      <p:sp>
        <p:nvSpPr>
          <p:cNvPr id="21" name="Text Box 11">
            <a:extLst>
              <a:ext uri="{FF2B5EF4-FFF2-40B4-BE49-F238E27FC236}">
                <a16:creationId xmlns:a16="http://schemas.microsoft.com/office/drawing/2014/main" id="{BA7001B1-C679-47AE-92B6-5AF18FB0C8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00" y="3636097"/>
            <a:ext cx="287235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.place=t0</a:t>
            </a:r>
          </a:p>
          <a:p>
            <a:pPr>
              <a:spcBef>
                <a:spcPts val="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olidFill>
                  <a:srgbClr val="FF0000"/>
                </a:solidFill>
              </a:rPr>
              <a:t>.code=“t0=rate * 60.0;”</a:t>
            </a:r>
          </a:p>
        </p:txBody>
      </p:sp>
      <p:sp>
        <p:nvSpPr>
          <p:cNvPr id="22" name="Text Box 11">
            <a:extLst>
              <a:ext uri="{FF2B5EF4-FFF2-40B4-BE49-F238E27FC236}">
                <a16:creationId xmlns:a16="http://schemas.microsoft.com/office/drawing/2014/main" id="{63F11187-BE8F-4503-AC8D-472158B6B2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3254" y="4021514"/>
            <a:ext cx="171564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.place= initial</a:t>
            </a:r>
            <a:endParaRPr kumimoji="0" lang="en-US" altLang="zh-CN" sz="2000" b="1" dirty="0">
              <a:solidFill>
                <a:srgbClr val="FF0000"/>
              </a:solidFill>
            </a:endParaRPr>
          </a:p>
        </p:txBody>
      </p:sp>
      <p:sp>
        <p:nvSpPr>
          <p:cNvPr id="23" name="Text Box 11">
            <a:extLst>
              <a:ext uri="{FF2B5EF4-FFF2-40B4-BE49-F238E27FC236}">
                <a16:creationId xmlns:a16="http://schemas.microsoft.com/office/drawing/2014/main" id="{DA64501D-4EE2-4739-ACD8-C01C6752AD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5307" y="2338966"/>
            <a:ext cx="287235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.place=t1</a:t>
            </a:r>
          </a:p>
          <a:p>
            <a:pPr>
              <a:spcBef>
                <a:spcPts val="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olidFill>
                  <a:srgbClr val="FF0000"/>
                </a:solidFill>
              </a:rPr>
              <a:t>.code=“t0=rate * 60.0;</a:t>
            </a:r>
          </a:p>
          <a:p>
            <a:pPr>
              <a:spcBef>
                <a:spcPts val="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olidFill>
                  <a:srgbClr val="FF0000"/>
                </a:solidFill>
              </a:rPr>
              <a:t>	t1=initial + t0;”</a:t>
            </a:r>
          </a:p>
        </p:txBody>
      </p:sp>
      <p:sp>
        <p:nvSpPr>
          <p:cNvPr id="26" name="Text Box 11">
            <a:extLst>
              <a:ext uri="{FF2B5EF4-FFF2-40B4-BE49-F238E27FC236}">
                <a16:creationId xmlns:a16="http://schemas.microsoft.com/office/drawing/2014/main" id="{B89B9C31-D5CD-4948-9BDC-329EABA7B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1066" y="1251682"/>
            <a:ext cx="287235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ts val="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olidFill>
                  <a:srgbClr val="FF0000"/>
                </a:solidFill>
              </a:rPr>
              <a:t>.code=“t0=rate * 60.0;</a:t>
            </a:r>
          </a:p>
          <a:p>
            <a:pPr>
              <a:spcBef>
                <a:spcPts val="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olidFill>
                  <a:srgbClr val="FF0000"/>
                </a:solidFill>
              </a:rPr>
              <a:t>	t1=initial + t0;</a:t>
            </a:r>
          </a:p>
          <a:p>
            <a:pPr>
              <a:spcBef>
                <a:spcPts val="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olidFill>
                  <a:srgbClr val="FF0000"/>
                </a:solidFill>
              </a:rPr>
              <a:t>	position=t1;”</a:t>
            </a:r>
          </a:p>
        </p:txBody>
      </p:sp>
      <p:sp>
        <p:nvSpPr>
          <p:cNvPr id="24" name="Text Box 11">
            <a:extLst>
              <a:ext uri="{FF2B5EF4-FFF2-40B4-BE49-F238E27FC236}">
                <a16:creationId xmlns:a16="http://schemas.microsoft.com/office/drawing/2014/main" id="{DB111AF1-51F2-46EA-9BC3-C0ACAFE5B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727" y="2683268"/>
            <a:ext cx="183275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.place=position</a:t>
            </a:r>
            <a:endParaRPr kumimoji="0" lang="en-US" altLang="zh-CN" sz="2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5368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1" grpId="0"/>
      <p:bldP spid="22" grpId="0"/>
      <p:bldP spid="23" grpId="0"/>
      <p:bldP spid="26" grpId="0"/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B77B69A-587F-405B-B447-A9A9D42407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控制流语句的翻译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D26BFA70-778D-4A02-AE16-04E7B84446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</p:spPr>
        <p:txBody>
          <a:bodyPr/>
          <a:lstStyle/>
          <a:p>
            <a:pPr eaLnBrk="1" hangingPunct="1"/>
            <a:r>
              <a:rPr lang="en-US" altLang="zh-CN" sz="2800" dirty="0"/>
              <a:t>while</a:t>
            </a:r>
            <a:r>
              <a:rPr lang="zh-CN" altLang="en-US" sz="2800" dirty="0"/>
              <a:t>语句：</a:t>
            </a:r>
            <a:r>
              <a:rPr lang="en-US" altLang="zh-CN" sz="2800" b="1" dirty="0">
                <a:sym typeface="Symbol" panose="05050102010706020507" pitchFamily="18" charset="2"/>
              </a:rPr>
              <a:t>S  </a:t>
            </a:r>
            <a:r>
              <a:rPr lang="en-US" altLang="zh-CN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while </a:t>
            </a:r>
            <a:r>
              <a:rPr lang="en-US" altLang="zh-CN" sz="2800" b="1" dirty="0">
                <a:sym typeface="Symbol" panose="05050102010706020507" pitchFamily="18" charset="2"/>
              </a:rPr>
              <a:t>E </a:t>
            </a:r>
            <a:r>
              <a:rPr lang="en-US" altLang="zh-CN" sz="2800" b="1" dirty="0">
                <a:solidFill>
                  <a:schemeClr val="accent2"/>
                </a:solidFill>
                <a:sym typeface="Symbol" panose="05050102010706020507" pitchFamily="18" charset="2"/>
              </a:rPr>
              <a:t>do </a:t>
            </a:r>
            <a:r>
              <a:rPr lang="en-US" altLang="zh-CN" sz="2800" b="1" dirty="0">
                <a:sym typeface="Symbol" panose="05050102010706020507" pitchFamily="18" charset="2"/>
              </a:rPr>
              <a:t>S</a:t>
            </a:r>
            <a:r>
              <a:rPr lang="en-US" altLang="zh-CN" sz="2800" b="1" baseline="-25000" dirty="0">
                <a:sym typeface="Symbol" panose="05050102010706020507" pitchFamily="18" charset="2"/>
              </a:rPr>
              <a:t>1</a:t>
            </a:r>
          </a:p>
          <a:p>
            <a:pPr eaLnBrk="1" hangingPunct="1"/>
            <a:r>
              <a:rPr lang="zh-CN" altLang="en-US" sz="2800" dirty="0">
                <a:sym typeface="Symbol" panose="05050102010706020507" pitchFamily="18" charset="2"/>
              </a:rPr>
              <a:t>翻译为	</a:t>
            </a:r>
            <a:r>
              <a:rPr lang="en-US" altLang="zh-CN" sz="2400" dirty="0" err="1">
                <a:sym typeface="Symbol" panose="05050102010706020507" pitchFamily="18" charset="2"/>
              </a:rPr>
              <a:t>S.begin</a:t>
            </a:r>
            <a:r>
              <a:rPr lang="en-US" altLang="zh-CN" sz="2400" dirty="0">
                <a:sym typeface="Symbol" panose="05050102010706020507" pitchFamily="18" charset="2"/>
              </a:rPr>
              <a:t>:	</a:t>
            </a:r>
            <a:r>
              <a:rPr lang="en-US" altLang="zh-CN" sz="2400" dirty="0" err="1">
                <a:sym typeface="Symbol" panose="05050102010706020507" pitchFamily="18" charset="2"/>
              </a:rPr>
              <a:t>E.code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					if </a:t>
            </a:r>
            <a:r>
              <a:rPr lang="en-US" altLang="zh-CN" sz="2400" dirty="0" err="1">
                <a:sym typeface="Symbol" panose="05050102010706020507" pitchFamily="18" charset="2"/>
              </a:rPr>
              <a:t>E.place</a:t>
            </a:r>
            <a:r>
              <a:rPr lang="en-US" altLang="zh-CN" sz="2400" dirty="0">
                <a:sym typeface="Symbol" panose="05050102010706020507" pitchFamily="18" charset="2"/>
              </a:rPr>
              <a:t> = 0 </a:t>
            </a:r>
            <a:r>
              <a:rPr lang="en-US" altLang="zh-CN" sz="2400" dirty="0" err="1">
                <a:sym typeface="Symbol" panose="05050102010706020507" pitchFamily="18" charset="2"/>
              </a:rPr>
              <a:t>goto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en-US" altLang="zh-CN" sz="2400" dirty="0" err="1">
                <a:sym typeface="Symbol" panose="05050102010706020507" pitchFamily="18" charset="2"/>
              </a:rPr>
              <a:t>S.after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					S</a:t>
            </a:r>
            <a:r>
              <a:rPr lang="en-US" altLang="zh-CN" sz="2400" baseline="-25000" dirty="0">
                <a:sym typeface="Symbol" panose="05050102010706020507" pitchFamily="18" charset="2"/>
              </a:rPr>
              <a:t>1</a:t>
            </a:r>
            <a:r>
              <a:rPr lang="en-US" altLang="zh-CN" sz="2400" dirty="0">
                <a:sym typeface="Symbol" panose="05050102010706020507" pitchFamily="18" charset="2"/>
              </a:rPr>
              <a:t>.code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					</a:t>
            </a:r>
            <a:r>
              <a:rPr lang="en-US" altLang="zh-CN" sz="2400" dirty="0" err="1">
                <a:sym typeface="Symbol" panose="05050102010706020507" pitchFamily="18" charset="2"/>
              </a:rPr>
              <a:t>goto</a:t>
            </a:r>
            <a:r>
              <a:rPr lang="en-US" altLang="zh-CN" sz="2400" dirty="0">
                <a:sym typeface="Symbol" panose="05050102010706020507" pitchFamily="18" charset="2"/>
              </a:rPr>
              <a:t> </a:t>
            </a:r>
            <a:r>
              <a:rPr lang="en-US" altLang="zh-CN" sz="2400" dirty="0" err="1">
                <a:sym typeface="Symbol" panose="05050102010706020507" pitchFamily="18" charset="2"/>
              </a:rPr>
              <a:t>S.begin</a:t>
            </a:r>
            <a:endParaRPr lang="en-US" altLang="zh-CN" sz="24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			</a:t>
            </a:r>
            <a:r>
              <a:rPr lang="en-US" altLang="zh-CN" sz="2400" dirty="0" err="1">
                <a:sym typeface="Symbol" panose="05050102010706020507" pitchFamily="18" charset="2"/>
              </a:rPr>
              <a:t>S.after</a:t>
            </a:r>
            <a:r>
              <a:rPr lang="en-US" altLang="zh-CN" sz="2400" dirty="0">
                <a:sym typeface="Symbol" panose="05050102010706020507" pitchFamily="18" charset="2"/>
              </a:rPr>
              <a:t>: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</a:pPr>
            <a:r>
              <a:rPr lang="zh-CN" altLang="en-US" sz="2800" dirty="0">
                <a:sym typeface="Symbol" panose="05050102010706020507" pitchFamily="18" charset="2"/>
              </a:rPr>
              <a:t>语法制导定义：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err="1"/>
              <a:t>S.</a:t>
            </a:r>
            <a:r>
              <a:rPr lang="en-US" altLang="zh-CN" sz="2000" i="1" dirty="0" err="1"/>
              <a:t>begin</a:t>
            </a:r>
            <a:r>
              <a:rPr lang="en-US" altLang="zh-CN" sz="2000" dirty="0"/>
              <a:t> = </a:t>
            </a:r>
            <a:r>
              <a:rPr lang="en-US" altLang="zh-CN" sz="2000" i="1" dirty="0" err="1"/>
              <a:t>newlabel</a:t>
            </a:r>
            <a:r>
              <a:rPr lang="en-US" altLang="zh-CN" sz="2000" dirty="0"/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err="1"/>
              <a:t>S.</a:t>
            </a:r>
            <a:r>
              <a:rPr lang="en-US" altLang="zh-CN" sz="2000" i="1" dirty="0" err="1"/>
              <a:t>after</a:t>
            </a:r>
            <a:r>
              <a:rPr lang="en-US" altLang="zh-CN" sz="2000" i="1" dirty="0"/>
              <a:t> = </a:t>
            </a:r>
            <a:r>
              <a:rPr lang="en-US" altLang="zh-CN" sz="2000" i="1" dirty="0" err="1"/>
              <a:t>newlabel</a:t>
            </a:r>
            <a:r>
              <a:rPr lang="en-US" altLang="zh-CN" sz="2000" i="1" dirty="0"/>
              <a:t> </a:t>
            </a:r>
            <a:r>
              <a:rPr lang="en-US" altLang="zh-CN" sz="2000" dirty="0"/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err="1"/>
              <a:t>S.</a:t>
            </a:r>
            <a:r>
              <a:rPr lang="en-US" altLang="zh-CN" sz="2000" i="1" dirty="0" err="1"/>
              <a:t>code</a:t>
            </a:r>
            <a:r>
              <a:rPr lang="en-US" altLang="zh-CN" sz="2000" dirty="0"/>
              <a:t> = </a:t>
            </a:r>
            <a:r>
              <a:rPr lang="en-US" altLang="zh-CN" sz="2000" i="1" dirty="0"/>
              <a:t>gen</a:t>
            </a:r>
            <a:r>
              <a:rPr lang="en-US" altLang="zh-CN" sz="2000" dirty="0"/>
              <a:t>(</a:t>
            </a:r>
            <a:r>
              <a:rPr lang="en-US" altLang="zh-CN" sz="2000" dirty="0" err="1"/>
              <a:t>S.</a:t>
            </a:r>
            <a:r>
              <a:rPr lang="en-US" altLang="zh-CN" sz="2000" i="1" dirty="0" err="1"/>
              <a:t>begin</a:t>
            </a:r>
            <a:r>
              <a:rPr lang="en-US" altLang="zh-CN" sz="2000" i="1" dirty="0"/>
              <a:t> </a:t>
            </a:r>
            <a:r>
              <a:rPr lang="en-US" altLang="zh-CN" sz="2000" dirty="0"/>
              <a:t>‘:’) || </a:t>
            </a:r>
            <a:r>
              <a:rPr lang="en-US" altLang="zh-CN" sz="2000" dirty="0" err="1"/>
              <a:t>E.</a:t>
            </a:r>
            <a:r>
              <a:rPr lang="en-US" altLang="zh-CN" sz="2000" i="1" dirty="0" err="1"/>
              <a:t>code</a:t>
            </a:r>
            <a:r>
              <a:rPr lang="en-US" altLang="zh-CN" sz="2000" i="1" dirty="0"/>
              <a:t> </a:t>
            </a:r>
            <a:r>
              <a:rPr lang="en-US" altLang="zh-CN" sz="2000" dirty="0"/>
              <a:t>|| </a:t>
            </a:r>
            <a:r>
              <a:rPr lang="en-US" altLang="zh-CN" sz="2000" i="1" dirty="0"/>
              <a:t>gen</a:t>
            </a:r>
            <a:r>
              <a:rPr lang="en-US" altLang="zh-CN" sz="2000" dirty="0"/>
              <a:t>(‘if’ </a:t>
            </a:r>
            <a:r>
              <a:rPr lang="en-US" altLang="zh-CN" sz="2000" i="1" dirty="0" err="1"/>
              <a:t>E.</a:t>
            </a:r>
            <a:r>
              <a:rPr lang="en-US" altLang="zh-CN" sz="2000" dirty="0" err="1"/>
              <a:t>place</a:t>
            </a:r>
            <a:r>
              <a:rPr lang="en-US" altLang="zh-CN" sz="2000" dirty="0"/>
              <a:t> ‘=’ ‘0’ ‘</a:t>
            </a:r>
            <a:r>
              <a:rPr lang="en-US" altLang="zh-CN" sz="2000" dirty="0" err="1"/>
              <a:t>goto</a:t>
            </a:r>
            <a:r>
              <a:rPr lang="en-US" altLang="zh-CN" sz="2000" dirty="0"/>
              <a:t>’ 	</a:t>
            </a:r>
            <a:r>
              <a:rPr lang="en-US" altLang="zh-CN" sz="2000" dirty="0" err="1"/>
              <a:t>S.</a:t>
            </a:r>
            <a:r>
              <a:rPr lang="en-US" altLang="zh-CN" sz="2000" i="1" dirty="0" err="1"/>
              <a:t>after</a:t>
            </a:r>
            <a:r>
              <a:rPr lang="en-US" altLang="zh-CN" sz="2000" dirty="0"/>
              <a:t>) || S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</a:t>
            </a:r>
            <a:r>
              <a:rPr lang="en-US" altLang="zh-CN" sz="2000" i="1" dirty="0"/>
              <a:t>code </a:t>
            </a:r>
            <a:r>
              <a:rPr lang="en-US" altLang="zh-CN" sz="2000" dirty="0"/>
              <a:t>|| gen(‘</a:t>
            </a:r>
            <a:r>
              <a:rPr lang="en-US" altLang="zh-CN" sz="2000" dirty="0" err="1"/>
              <a:t>goto</a:t>
            </a:r>
            <a:r>
              <a:rPr lang="en-US" altLang="zh-CN" sz="2000" dirty="0"/>
              <a:t>’ </a:t>
            </a:r>
            <a:r>
              <a:rPr lang="en-US" altLang="zh-CN" sz="2000" dirty="0" err="1"/>
              <a:t>S.</a:t>
            </a:r>
            <a:r>
              <a:rPr lang="en-US" altLang="zh-CN" sz="2000" i="1" dirty="0" err="1"/>
              <a:t>begin</a:t>
            </a:r>
            <a:r>
              <a:rPr lang="en-US" altLang="zh-CN" sz="2000" dirty="0"/>
              <a:t>) || gen(</a:t>
            </a:r>
            <a:r>
              <a:rPr lang="en-US" altLang="zh-CN" sz="2000" dirty="0" err="1"/>
              <a:t>S.</a:t>
            </a:r>
            <a:r>
              <a:rPr lang="en-US" altLang="zh-CN" sz="2000" i="1" dirty="0" err="1"/>
              <a:t>after</a:t>
            </a:r>
            <a:r>
              <a:rPr lang="en-US" altLang="zh-CN" sz="2000" dirty="0"/>
              <a:t> ‘:’)</a:t>
            </a:r>
          </a:p>
        </p:txBody>
      </p:sp>
      <p:sp>
        <p:nvSpPr>
          <p:cNvPr id="4" name="Text Box 11">
            <a:extLst>
              <a:ext uri="{FF2B5EF4-FFF2-40B4-BE49-F238E27FC236}">
                <a16:creationId xmlns:a16="http://schemas.microsoft.com/office/drawing/2014/main" id="{35A0D95E-0342-4D19-B25E-6F8913E29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5976" y="3647016"/>
            <a:ext cx="3312368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kumimoji="0" lang="zh-CN" alt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创建一个标号（跳转地址）</a:t>
            </a:r>
            <a:endParaRPr kumimoji="0" lang="en-US" altLang="zh-CN" sz="2000" b="1" dirty="0">
              <a:solidFill>
                <a:srgbClr val="FF0000"/>
              </a:solidFill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135756EB-A7CE-4BE9-AB3A-73DE81D22A01}"/>
              </a:ext>
            </a:extLst>
          </p:cNvPr>
          <p:cNvCxnSpPr>
            <a:cxnSpLocks/>
            <a:stCxn id="4" idx="1"/>
          </p:cNvCxnSpPr>
          <p:nvPr/>
        </p:nvCxnSpPr>
        <p:spPr bwMode="auto">
          <a:xfrm flipH="1">
            <a:off x="3059832" y="3847071"/>
            <a:ext cx="1296144" cy="304245"/>
          </a:xfrm>
          <a:prstGeom prst="straightConnector1">
            <a:avLst/>
          </a:prstGeom>
          <a:solidFill>
            <a:srgbClr val="FFCF0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stealth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BC19CF5C-F54E-43B9-94FA-AFA8A5804D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8.1.5  </a:t>
            </a:r>
            <a:r>
              <a:rPr lang="zh-CN" altLang="en-US"/>
              <a:t>三地址码的实现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D8012029-061A-4E8A-BBFB-A931210951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四元组，三元组</a:t>
            </a:r>
          </a:p>
        </p:txBody>
      </p:sp>
      <p:pic>
        <p:nvPicPr>
          <p:cNvPr id="15364" name="Picture 4" descr="3addr">
            <a:extLst>
              <a:ext uri="{FF2B5EF4-FFF2-40B4-BE49-F238E27FC236}">
                <a16:creationId xmlns:a16="http://schemas.microsoft.com/office/drawing/2014/main" id="{01FF6BC1-E192-4357-96F6-B3CC37AE77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133600"/>
            <a:ext cx="8712200" cy="314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58B6BA3F-D54D-4CAF-AEFF-85E9D2A250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三元运算的实现</a:t>
            </a:r>
            <a:r>
              <a:rPr lang="en-US" altLang="zh-CN"/>
              <a:t>——</a:t>
            </a:r>
            <a:r>
              <a:rPr lang="zh-CN" altLang="en-US"/>
              <a:t>拆分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CF5F2887-F86B-49A8-A14C-0FB70EBFA9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x[i] := y</a:t>
            </a:r>
          </a:p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  <a:p>
            <a:pPr eaLnBrk="1" hangingPunct="1"/>
            <a:r>
              <a:rPr lang="en-US" altLang="zh-CN"/>
              <a:t>x := y[i]</a:t>
            </a:r>
          </a:p>
        </p:txBody>
      </p:sp>
      <p:pic>
        <p:nvPicPr>
          <p:cNvPr id="16388" name="Picture 4" descr="tenary1">
            <a:extLst>
              <a:ext uri="{FF2B5EF4-FFF2-40B4-BE49-F238E27FC236}">
                <a16:creationId xmlns:a16="http://schemas.microsoft.com/office/drawing/2014/main" id="{AC667AB6-E50F-45AE-AE83-A373B51AC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1524000"/>
            <a:ext cx="3144838" cy="132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5" descr="tenary2">
            <a:extLst>
              <a:ext uri="{FF2B5EF4-FFF2-40B4-BE49-F238E27FC236}">
                <a16:creationId xmlns:a16="http://schemas.microsoft.com/office/drawing/2014/main" id="{4F05D7DD-EC4D-4A0F-B3ED-4968B6200E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3505200"/>
            <a:ext cx="3144838" cy="132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7B66D105-869D-4496-8210-B8F98C334D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间接三元组实现方式</a:t>
            </a:r>
          </a:p>
        </p:txBody>
      </p:sp>
      <p:pic>
        <p:nvPicPr>
          <p:cNvPr id="17411" name="Picture 4" descr="indirect">
            <a:extLst>
              <a:ext uri="{FF2B5EF4-FFF2-40B4-BE49-F238E27FC236}">
                <a16:creationId xmlns:a16="http://schemas.microsoft.com/office/drawing/2014/main" id="{5DAB888E-6357-4E01-829C-33946363C5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524000"/>
            <a:ext cx="5953125" cy="3376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390F194D-FD41-49C1-B5A8-2B801AC065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8.2  </a:t>
            </a:r>
            <a:r>
              <a:rPr lang="zh-CN" altLang="en-US"/>
              <a:t>声明语句的翻译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B8BE3B3D-F766-4831-8D04-CE751F994C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10150"/>
          </a:xfrm>
        </p:spPr>
        <p:txBody>
          <a:bodyPr/>
          <a:lstStyle/>
          <a:p>
            <a:pPr eaLnBrk="1" hangingPunct="1"/>
            <a:r>
              <a:rPr lang="en-US" altLang="zh-CN" sz="2800" dirty="0"/>
              <a:t>8.2.1  </a:t>
            </a:r>
            <a:r>
              <a:rPr lang="zh-CN" altLang="en-US" sz="2800" dirty="0"/>
              <a:t>过程内部的声明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u="sng" dirty="0"/>
              <a:t>PRODUCTION	Semantic Rule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P </a:t>
            </a:r>
            <a:r>
              <a:rPr lang="en-US" altLang="zh-CN" sz="2000" dirty="0">
                <a:sym typeface="Symbol" panose="05050102010706020507" pitchFamily="18" charset="2"/>
              </a:rPr>
              <a:t> M D 		{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M  			{</a:t>
            </a:r>
            <a:r>
              <a:rPr lang="en-US" altLang="zh-CN" sz="2000" i="1" dirty="0">
                <a:sym typeface="Symbol" panose="05050102010706020507" pitchFamily="18" charset="2"/>
              </a:rPr>
              <a:t>offset</a:t>
            </a:r>
            <a:r>
              <a:rPr lang="en-US" altLang="zh-CN" sz="2000" dirty="0">
                <a:sym typeface="Symbol" panose="05050102010706020507" pitchFamily="18" charset="2"/>
              </a:rPr>
              <a:t>:=0;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D 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id : </a:t>
            </a:r>
            <a:r>
              <a:rPr lang="en-US" altLang="zh-CN" sz="2000" dirty="0">
                <a:sym typeface="Symbol" panose="05050102010706020507" pitchFamily="18" charset="2"/>
              </a:rPr>
              <a:t>T		{ </a:t>
            </a:r>
            <a:r>
              <a:rPr lang="en-US" altLang="zh-CN" sz="2000" i="1" dirty="0" err="1">
                <a:sym typeface="Symbol" panose="05050102010706020507" pitchFamily="18" charset="2"/>
              </a:rPr>
              <a:t>addtype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dirty="0" err="1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lang="en-US" altLang="zh-CN" sz="2000" i="1" dirty="0" err="1">
                <a:sym typeface="Symbol" panose="05050102010706020507" pitchFamily="18" charset="2"/>
              </a:rPr>
              <a:t>.entry</a:t>
            </a:r>
            <a:r>
              <a:rPr lang="en-US" altLang="zh-CN" sz="2000" i="1" dirty="0">
                <a:sym typeface="Symbol" panose="05050102010706020507" pitchFamily="18" charset="2"/>
              </a:rPr>
              <a:t>, 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type</a:t>
            </a:r>
            <a:r>
              <a:rPr lang="en-US" altLang="zh-CN" sz="2000" dirty="0">
                <a:sym typeface="Symbol" panose="05050102010706020507" pitchFamily="18" charset="2"/>
              </a:rPr>
              <a:t>, </a:t>
            </a:r>
            <a:r>
              <a:rPr lang="en-US" altLang="zh-CN" sz="2000" i="1" dirty="0">
                <a:sym typeface="Symbol" panose="05050102010706020507" pitchFamily="18" charset="2"/>
              </a:rPr>
              <a:t>offset</a:t>
            </a:r>
            <a:r>
              <a:rPr lang="en-US" altLang="zh-CN" sz="2000" dirty="0">
                <a:sym typeface="Symbol" panose="05050102010706020507" pitchFamily="18" charset="2"/>
              </a:rPr>
              <a:t>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				  </a:t>
            </a:r>
            <a:r>
              <a:rPr lang="en-US" altLang="zh-CN" sz="2000" i="1" dirty="0">
                <a:sym typeface="Symbol" panose="05050102010706020507" pitchFamily="18" charset="2"/>
              </a:rPr>
              <a:t>offset</a:t>
            </a:r>
            <a:r>
              <a:rPr lang="en-US" altLang="zh-CN" sz="2000" dirty="0">
                <a:sym typeface="Symbol" panose="05050102010706020507" pitchFamily="18" charset="2"/>
              </a:rPr>
              <a:t>:=</a:t>
            </a:r>
            <a:r>
              <a:rPr lang="en-US" altLang="zh-CN" sz="2000" i="1" dirty="0">
                <a:sym typeface="Symbol" panose="05050102010706020507" pitchFamily="18" charset="2"/>
              </a:rPr>
              <a:t>offset + </a:t>
            </a:r>
            <a:r>
              <a:rPr lang="en-US" altLang="zh-CN" sz="2000" dirty="0" err="1">
                <a:sym typeface="Symbol" panose="05050102010706020507" pitchFamily="18" charset="2"/>
              </a:rPr>
              <a:t>T</a:t>
            </a:r>
            <a:r>
              <a:rPr lang="en-US" altLang="zh-CN" sz="2000" i="1" dirty="0" err="1">
                <a:sym typeface="Symbol" panose="05050102010706020507" pitchFamily="18" charset="2"/>
              </a:rPr>
              <a:t>.width</a:t>
            </a:r>
            <a:r>
              <a:rPr lang="en-US" altLang="zh-CN" sz="2000" dirty="0">
                <a:sym typeface="Symbol" panose="05050102010706020507" pitchFamily="18" charset="2"/>
              </a:rPr>
              <a:t>; }</a:t>
            </a:r>
            <a:endParaRPr lang="en-US" altLang="zh-CN" sz="2000" i="1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T 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char		</a:t>
            </a:r>
            <a:r>
              <a:rPr lang="en-US" altLang="zh-CN" sz="2000" dirty="0">
                <a:sym typeface="Symbol" panose="05050102010706020507" pitchFamily="18" charset="2"/>
              </a:rPr>
              <a:t>{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type</a:t>
            </a:r>
            <a:r>
              <a:rPr lang="en-US" altLang="zh-CN" sz="2000" dirty="0">
                <a:sym typeface="Symbol" panose="05050102010706020507" pitchFamily="18" charset="2"/>
              </a:rPr>
              <a:t> = </a:t>
            </a:r>
            <a:r>
              <a:rPr lang="en-US" altLang="zh-CN" sz="2000" i="1" dirty="0">
                <a:sym typeface="Symbol" panose="05050102010706020507" pitchFamily="18" charset="2"/>
              </a:rPr>
              <a:t>char</a:t>
            </a:r>
            <a:r>
              <a:rPr lang="en-US" altLang="zh-CN" sz="2000" dirty="0">
                <a:sym typeface="Symbol" panose="05050102010706020507" pitchFamily="18" charset="2"/>
              </a:rPr>
              <a:t>; 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width</a:t>
            </a:r>
            <a:r>
              <a:rPr lang="en-US" altLang="zh-CN" sz="2000" i="1" dirty="0">
                <a:sym typeface="Symbol" panose="05050102010706020507" pitchFamily="18" charset="2"/>
              </a:rPr>
              <a:t> = </a:t>
            </a:r>
            <a:r>
              <a:rPr lang="en-US" altLang="zh-CN" sz="2000" dirty="0">
                <a:sym typeface="Symbol" panose="05050102010706020507" pitchFamily="18" charset="2"/>
              </a:rPr>
              <a:t>1; }</a:t>
            </a:r>
            <a:endParaRPr lang="en-US" altLang="zh-CN" sz="2000" dirty="0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T 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integer 		</a:t>
            </a:r>
            <a:r>
              <a:rPr lang="en-US" altLang="zh-CN" sz="2000" dirty="0">
                <a:sym typeface="Symbol" panose="05050102010706020507" pitchFamily="18" charset="2"/>
              </a:rPr>
              <a:t>{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type</a:t>
            </a:r>
            <a:r>
              <a:rPr lang="en-US" altLang="zh-CN" sz="2000" dirty="0">
                <a:sym typeface="Symbol" panose="05050102010706020507" pitchFamily="18" charset="2"/>
              </a:rPr>
              <a:t> = </a:t>
            </a:r>
            <a:r>
              <a:rPr lang="en-US" altLang="zh-CN" sz="2000" i="1" dirty="0">
                <a:sym typeface="Symbol" panose="05050102010706020507" pitchFamily="18" charset="2"/>
              </a:rPr>
              <a:t>integer</a:t>
            </a:r>
            <a:r>
              <a:rPr lang="en-US" altLang="zh-CN" sz="2000" dirty="0">
                <a:sym typeface="Symbol" panose="05050102010706020507" pitchFamily="18" charset="2"/>
              </a:rPr>
              <a:t>;  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width</a:t>
            </a:r>
            <a:r>
              <a:rPr lang="en-US" altLang="zh-CN" sz="2000" i="1" dirty="0">
                <a:sym typeface="Symbol" panose="05050102010706020507" pitchFamily="18" charset="2"/>
              </a:rPr>
              <a:t> = </a:t>
            </a:r>
            <a:r>
              <a:rPr lang="en-US" altLang="zh-CN" sz="2000" dirty="0">
                <a:sym typeface="Symbol" panose="05050102010706020507" pitchFamily="18" charset="2"/>
              </a:rPr>
              <a:t>4; }</a:t>
            </a:r>
            <a:endParaRPr lang="en-US" altLang="zh-CN" sz="2000" dirty="0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T 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array [ num ] of </a:t>
            </a:r>
            <a:r>
              <a:rPr lang="en-US" altLang="zh-CN" sz="2000" dirty="0">
                <a:sym typeface="Symbol" panose="05050102010706020507" pitchFamily="18" charset="2"/>
              </a:rPr>
              <a:t>T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endParaRPr lang="en-US" altLang="zh-CN" sz="2000" dirty="0"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				{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type</a:t>
            </a:r>
            <a:r>
              <a:rPr lang="en-US" altLang="zh-CN" sz="2000" dirty="0">
                <a:sym typeface="Symbol" panose="05050102010706020507" pitchFamily="18" charset="2"/>
              </a:rPr>
              <a:t>=</a:t>
            </a:r>
            <a:r>
              <a:rPr lang="en-US" altLang="zh-CN" sz="2000" i="1" dirty="0">
                <a:sym typeface="Symbol" panose="05050102010706020507" pitchFamily="18" charset="2"/>
              </a:rPr>
              <a:t>array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num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val</a:t>
            </a:r>
            <a:r>
              <a:rPr lang="en-US" altLang="zh-CN" sz="2000" dirty="0">
                <a:sym typeface="Symbol" panose="05050102010706020507" pitchFamily="18" charset="2"/>
              </a:rPr>
              <a:t>,T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type</a:t>
            </a:r>
            <a:r>
              <a:rPr lang="en-US" altLang="zh-CN" sz="2000" dirty="0">
                <a:sym typeface="Symbol" panose="05050102010706020507" pitchFamily="18" charset="2"/>
              </a:rPr>
              <a:t>);</a:t>
            </a:r>
            <a:br>
              <a:rPr lang="en-US" altLang="zh-CN" sz="2000" dirty="0">
                <a:sym typeface="Symbol" panose="05050102010706020507" pitchFamily="18" charset="2"/>
              </a:rPr>
            </a:br>
            <a:r>
              <a:rPr lang="en-US" altLang="zh-CN" sz="2000" dirty="0">
                <a:sym typeface="Symbol" panose="05050102010706020507" pitchFamily="18" charset="2"/>
              </a:rPr>
              <a:t>			  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width</a:t>
            </a:r>
            <a:r>
              <a:rPr lang="en-US" altLang="zh-CN" sz="2000" i="1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= </a:t>
            </a:r>
            <a:r>
              <a:rPr lang="en-US" altLang="zh-CN" sz="2000" dirty="0" err="1">
                <a:solidFill>
                  <a:schemeClr val="accent2"/>
                </a:solidFill>
                <a:sym typeface="Symbol" panose="05050102010706020507" pitchFamily="18" charset="2"/>
              </a:rPr>
              <a:t>num</a:t>
            </a:r>
            <a:r>
              <a:rPr lang="en-US" altLang="zh-CN" sz="2000" dirty="0" err="1">
                <a:sym typeface="Symbol" panose="05050102010706020507" pitchFamily="18" charset="2"/>
              </a:rPr>
              <a:t>.val</a:t>
            </a:r>
            <a:r>
              <a:rPr lang="en-US" altLang="zh-CN" sz="2000" dirty="0">
                <a:sym typeface="Symbol" panose="05050102010706020507" pitchFamily="18" charset="2"/>
              </a:rPr>
              <a:t> * T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width</a:t>
            </a:r>
            <a:r>
              <a:rPr lang="en-US" altLang="zh-CN" sz="2000" dirty="0">
                <a:sym typeface="Symbol" panose="05050102010706020507" pitchFamily="18" charset="2"/>
              </a:rPr>
              <a:t>;}</a:t>
            </a:r>
            <a:endParaRPr lang="en-US" altLang="zh-CN" sz="2000" dirty="0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T 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^</a:t>
            </a:r>
            <a:r>
              <a:rPr lang="en-US" altLang="zh-CN" sz="2000" dirty="0">
                <a:sym typeface="Symbol" panose="05050102010706020507" pitchFamily="18" charset="2"/>
              </a:rPr>
              <a:t>T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ym typeface="Symbol" panose="05050102010706020507" pitchFamily="18" charset="2"/>
              </a:rPr>
              <a:t>		{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type</a:t>
            </a:r>
            <a:r>
              <a:rPr lang="en-US" altLang="zh-CN" sz="2000" dirty="0">
                <a:sym typeface="Symbol" panose="05050102010706020507" pitchFamily="18" charset="2"/>
              </a:rPr>
              <a:t> = </a:t>
            </a:r>
            <a:r>
              <a:rPr lang="en-US" altLang="zh-CN" sz="2000" i="1" dirty="0">
                <a:sym typeface="Symbol" panose="05050102010706020507" pitchFamily="18" charset="2"/>
              </a:rPr>
              <a:t>pointer</a:t>
            </a:r>
            <a:r>
              <a:rPr lang="en-US" altLang="zh-CN" sz="2000" dirty="0">
                <a:sym typeface="Symbol" panose="05050102010706020507" pitchFamily="18" charset="2"/>
              </a:rPr>
              <a:t>(T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type</a:t>
            </a:r>
            <a:r>
              <a:rPr lang="en-US" altLang="zh-CN" sz="2000" dirty="0">
                <a:sym typeface="Symbol" panose="05050102010706020507" pitchFamily="18" charset="2"/>
              </a:rPr>
              <a:t>);				  	  	T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.</a:t>
            </a:r>
            <a:r>
              <a:rPr lang="en-US" altLang="zh-CN" sz="2000" i="1" dirty="0">
                <a:sym typeface="Symbol" panose="05050102010706020507" pitchFamily="18" charset="2"/>
              </a:rPr>
              <a:t>width</a:t>
            </a:r>
            <a:r>
              <a:rPr lang="en-US" altLang="zh-CN" sz="2000" dirty="0">
                <a:sym typeface="Symbol" panose="05050102010706020507" pitchFamily="18" charset="2"/>
              </a:rPr>
              <a:t> = 4;}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BE65C8DB-9A64-442A-85F7-DA9BEA9A19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8.2.2  </a:t>
            </a:r>
            <a:r>
              <a:rPr lang="zh-CN" altLang="en-US"/>
              <a:t>作用域的处理</a:t>
            </a:r>
          </a:p>
        </p:txBody>
      </p:sp>
      <p:grpSp>
        <p:nvGrpSpPr>
          <p:cNvPr id="19459" name="Group 14">
            <a:extLst>
              <a:ext uri="{FF2B5EF4-FFF2-40B4-BE49-F238E27FC236}">
                <a16:creationId xmlns:a16="http://schemas.microsoft.com/office/drawing/2014/main" id="{DC75A87E-D09E-4925-8F8B-0C49356A386E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1143000"/>
            <a:ext cx="5486400" cy="4641850"/>
            <a:chOff x="1344" y="664"/>
            <a:chExt cx="3456" cy="3656"/>
          </a:xfrm>
        </p:grpSpPr>
        <p:pic>
          <p:nvPicPr>
            <p:cNvPr id="19460" name="Picture 4" descr="scope">
              <a:extLst>
                <a:ext uri="{FF2B5EF4-FFF2-40B4-BE49-F238E27FC236}">
                  <a16:creationId xmlns:a16="http://schemas.microsoft.com/office/drawing/2014/main" id="{934CC007-784F-4FD4-8DE3-A4F451BA62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4" y="816"/>
              <a:ext cx="3456" cy="35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9461" name="Freeform 6">
              <a:extLst>
                <a:ext uri="{FF2B5EF4-FFF2-40B4-BE49-F238E27FC236}">
                  <a16:creationId xmlns:a16="http://schemas.microsoft.com/office/drawing/2014/main" id="{EEE19FA9-5712-4F10-97DE-B70C5FFFFB07}"/>
                </a:ext>
              </a:extLst>
            </p:cNvPr>
            <p:cNvSpPr>
              <a:spLocks/>
            </p:cNvSpPr>
            <p:nvPr/>
          </p:nvSpPr>
          <p:spPr bwMode="ltGray">
            <a:xfrm>
              <a:off x="1440" y="2088"/>
              <a:ext cx="1152" cy="456"/>
            </a:xfrm>
            <a:custGeom>
              <a:avLst/>
              <a:gdLst>
                <a:gd name="T0" fmla="*/ 0 w 1152"/>
                <a:gd name="T1" fmla="*/ 456 h 456"/>
                <a:gd name="T2" fmla="*/ 192 w 1152"/>
                <a:gd name="T3" fmla="*/ 72 h 456"/>
                <a:gd name="T4" fmla="*/ 1152 w 1152"/>
                <a:gd name="T5" fmla="*/ 24 h 456"/>
                <a:gd name="T6" fmla="*/ 0 60000 65536"/>
                <a:gd name="T7" fmla="*/ 0 60000 65536"/>
                <a:gd name="T8" fmla="*/ 0 60000 65536"/>
                <a:gd name="T9" fmla="*/ 0 w 1152"/>
                <a:gd name="T10" fmla="*/ 0 h 456"/>
                <a:gd name="T11" fmla="*/ 1152 w 1152"/>
                <a:gd name="T12" fmla="*/ 456 h 4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52" h="456">
                  <a:moveTo>
                    <a:pt x="0" y="456"/>
                  </a:moveTo>
                  <a:cubicBezTo>
                    <a:pt x="0" y="300"/>
                    <a:pt x="0" y="144"/>
                    <a:pt x="192" y="72"/>
                  </a:cubicBezTo>
                  <a:cubicBezTo>
                    <a:pt x="384" y="0"/>
                    <a:pt x="768" y="12"/>
                    <a:pt x="1152" y="24"/>
                  </a:cubicBezTo>
                </a:path>
              </a:pathLst>
            </a:custGeom>
            <a:noFill/>
            <a:ln w="25400" cap="flat" cmpd="sng">
              <a:solidFill>
                <a:srgbClr val="FF3300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2" name="Line 7">
              <a:extLst>
                <a:ext uri="{FF2B5EF4-FFF2-40B4-BE49-F238E27FC236}">
                  <a16:creationId xmlns:a16="http://schemas.microsoft.com/office/drawing/2014/main" id="{56744FDF-56E4-4F4B-A103-53EA54F1E209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2688" y="2112"/>
              <a:ext cx="0" cy="384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3" name="Freeform 8">
              <a:extLst>
                <a:ext uri="{FF2B5EF4-FFF2-40B4-BE49-F238E27FC236}">
                  <a16:creationId xmlns:a16="http://schemas.microsoft.com/office/drawing/2014/main" id="{5B85589E-6709-4965-9731-CFC8B49D3B0E}"/>
                </a:ext>
              </a:extLst>
            </p:cNvPr>
            <p:cNvSpPr>
              <a:spLocks/>
            </p:cNvSpPr>
            <p:nvPr/>
          </p:nvSpPr>
          <p:spPr bwMode="ltGray">
            <a:xfrm>
              <a:off x="3518" y="2084"/>
              <a:ext cx="483" cy="477"/>
            </a:xfrm>
            <a:custGeom>
              <a:avLst/>
              <a:gdLst>
                <a:gd name="T0" fmla="*/ 452 w 483"/>
                <a:gd name="T1" fmla="*/ 477 h 477"/>
                <a:gd name="T2" fmla="*/ 408 w 483"/>
                <a:gd name="T3" fmla="*/ 69 h 477"/>
                <a:gd name="T4" fmla="*/ 0 w 483"/>
                <a:gd name="T5" fmla="*/ 60 h 477"/>
                <a:gd name="T6" fmla="*/ 0 60000 65536"/>
                <a:gd name="T7" fmla="*/ 0 60000 65536"/>
                <a:gd name="T8" fmla="*/ 0 60000 65536"/>
                <a:gd name="T9" fmla="*/ 0 w 483"/>
                <a:gd name="T10" fmla="*/ 0 h 477"/>
                <a:gd name="T11" fmla="*/ 483 w 483"/>
                <a:gd name="T12" fmla="*/ 477 h 47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3" h="477">
                  <a:moveTo>
                    <a:pt x="452" y="477"/>
                  </a:moveTo>
                  <a:cubicBezTo>
                    <a:pt x="445" y="409"/>
                    <a:pt x="483" y="138"/>
                    <a:pt x="408" y="69"/>
                  </a:cubicBezTo>
                  <a:cubicBezTo>
                    <a:pt x="333" y="0"/>
                    <a:pt x="85" y="62"/>
                    <a:pt x="0" y="60"/>
                  </a:cubicBezTo>
                </a:path>
              </a:pathLst>
            </a:custGeom>
            <a:noFill/>
            <a:ln w="25400" cap="flat" cmpd="sng">
              <a:solidFill>
                <a:srgbClr val="FF3300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4" name="Freeform 9">
              <a:extLst>
                <a:ext uri="{FF2B5EF4-FFF2-40B4-BE49-F238E27FC236}">
                  <a16:creationId xmlns:a16="http://schemas.microsoft.com/office/drawing/2014/main" id="{6882FAC5-D402-4734-A7CC-BC347C857764}"/>
                </a:ext>
              </a:extLst>
            </p:cNvPr>
            <p:cNvSpPr>
              <a:spLocks/>
            </p:cNvSpPr>
            <p:nvPr/>
          </p:nvSpPr>
          <p:spPr bwMode="ltGray">
            <a:xfrm>
              <a:off x="3456" y="1997"/>
              <a:ext cx="1262" cy="280"/>
            </a:xfrm>
            <a:custGeom>
              <a:avLst/>
              <a:gdLst>
                <a:gd name="T0" fmla="*/ 0 w 1262"/>
                <a:gd name="T1" fmla="*/ 32 h 280"/>
                <a:gd name="T2" fmla="*/ 1063 w 1262"/>
                <a:gd name="T3" fmla="*/ 41 h 280"/>
                <a:gd name="T4" fmla="*/ 1196 w 1262"/>
                <a:gd name="T5" fmla="*/ 280 h 280"/>
                <a:gd name="T6" fmla="*/ 0 60000 65536"/>
                <a:gd name="T7" fmla="*/ 0 60000 65536"/>
                <a:gd name="T8" fmla="*/ 0 60000 65536"/>
                <a:gd name="T9" fmla="*/ 0 w 1262"/>
                <a:gd name="T10" fmla="*/ 0 h 280"/>
                <a:gd name="T11" fmla="*/ 1262 w 1262"/>
                <a:gd name="T12" fmla="*/ 280 h 2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62" h="280">
                  <a:moveTo>
                    <a:pt x="0" y="32"/>
                  </a:moveTo>
                  <a:cubicBezTo>
                    <a:pt x="177" y="33"/>
                    <a:pt x="864" y="0"/>
                    <a:pt x="1063" y="41"/>
                  </a:cubicBezTo>
                  <a:cubicBezTo>
                    <a:pt x="1262" y="82"/>
                    <a:pt x="1168" y="230"/>
                    <a:pt x="1196" y="280"/>
                  </a:cubicBezTo>
                </a:path>
              </a:pathLst>
            </a:custGeom>
            <a:noFill/>
            <a:ln w="25400" cap="flat" cmpd="sng">
              <a:solidFill>
                <a:srgbClr val="FF3300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5" name="Freeform 10">
              <a:extLst>
                <a:ext uri="{FF2B5EF4-FFF2-40B4-BE49-F238E27FC236}">
                  <a16:creationId xmlns:a16="http://schemas.microsoft.com/office/drawing/2014/main" id="{90D731C7-8543-498A-BFBE-C963273C9ECC}"/>
                </a:ext>
              </a:extLst>
            </p:cNvPr>
            <p:cNvSpPr>
              <a:spLocks/>
            </p:cNvSpPr>
            <p:nvPr/>
          </p:nvSpPr>
          <p:spPr bwMode="ltGray">
            <a:xfrm>
              <a:off x="3408" y="1781"/>
              <a:ext cx="405" cy="605"/>
            </a:xfrm>
            <a:custGeom>
              <a:avLst/>
              <a:gdLst>
                <a:gd name="T0" fmla="*/ 0 w 405"/>
                <a:gd name="T1" fmla="*/ 43 h 605"/>
                <a:gd name="T2" fmla="*/ 349 w 405"/>
                <a:gd name="T3" fmla="*/ 80 h 605"/>
                <a:gd name="T4" fmla="*/ 336 w 405"/>
                <a:gd name="T5" fmla="*/ 523 h 605"/>
                <a:gd name="T6" fmla="*/ 48 w 405"/>
                <a:gd name="T7" fmla="*/ 571 h 6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5"/>
                <a:gd name="T13" fmla="*/ 0 h 605"/>
                <a:gd name="T14" fmla="*/ 405 w 405"/>
                <a:gd name="T15" fmla="*/ 605 h 6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5" h="605">
                  <a:moveTo>
                    <a:pt x="0" y="43"/>
                  </a:moveTo>
                  <a:cubicBezTo>
                    <a:pt x="58" y="49"/>
                    <a:pt x="293" y="0"/>
                    <a:pt x="349" y="80"/>
                  </a:cubicBezTo>
                  <a:cubicBezTo>
                    <a:pt x="405" y="160"/>
                    <a:pt x="386" y="441"/>
                    <a:pt x="336" y="523"/>
                  </a:cubicBezTo>
                  <a:cubicBezTo>
                    <a:pt x="286" y="605"/>
                    <a:pt x="168" y="591"/>
                    <a:pt x="48" y="571"/>
                  </a:cubicBezTo>
                </a:path>
              </a:pathLst>
            </a:custGeom>
            <a:noFill/>
            <a:ln w="25400" cap="flat" cmpd="sng">
              <a:solidFill>
                <a:srgbClr val="FF3300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6" name="Freeform 11">
              <a:extLst>
                <a:ext uri="{FF2B5EF4-FFF2-40B4-BE49-F238E27FC236}">
                  <a16:creationId xmlns:a16="http://schemas.microsoft.com/office/drawing/2014/main" id="{F176D507-E18C-46CC-8E2D-0AA36B5E9F45}"/>
                </a:ext>
              </a:extLst>
            </p:cNvPr>
            <p:cNvSpPr>
              <a:spLocks/>
            </p:cNvSpPr>
            <p:nvPr/>
          </p:nvSpPr>
          <p:spPr bwMode="ltGray">
            <a:xfrm>
              <a:off x="1829" y="664"/>
              <a:ext cx="2211" cy="1592"/>
            </a:xfrm>
            <a:custGeom>
              <a:avLst/>
              <a:gdLst>
                <a:gd name="T0" fmla="*/ 1579 w 2211"/>
                <a:gd name="T1" fmla="*/ 920 h 1592"/>
                <a:gd name="T2" fmla="*/ 2043 w 2211"/>
                <a:gd name="T3" fmla="*/ 807 h 1592"/>
                <a:gd name="T4" fmla="*/ 1919 w 2211"/>
                <a:gd name="T5" fmla="*/ 151 h 1592"/>
                <a:gd name="T6" fmla="*/ 289 w 2211"/>
                <a:gd name="T7" fmla="*/ 240 h 1592"/>
                <a:gd name="T8" fmla="*/ 187 w 2211"/>
                <a:gd name="T9" fmla="*/ 1592 h 15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1"/>
                <a:gd name="T16" fmla="*/ 0 h 1592"/>
                <a:gd name="T17" fmla="*/ 2211 w 2211"/>
                <a:gd name="T18" fmla="*/ 1592 h 15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1" h="1592">
                  <a:moveTo>
                    <a:pt x="1579" y="920"/>
                  </a:moveTo>
                  <a:cubicBezTo>
                    <a:pt x="1656" y="901"/>
                    <a:pt x="1986" y="935"/>
                    <a:pt x="2043" y="807"/>
                  </a:cubicBezTo>
                  <a:cubicBezTo>
                    <a:pt x="2100" y="679"/>
                    <a:pt x="2211" y="245"/>
                    <a:pt x="1919" y="151"/>
                  </a:cubicBezTo>
                  <a:cubicBezTo>
                    <a:pt x="1627" y="57"/>
                    <a:pt x="578" y="0"/>
                    <a:pt x="289" y="240"/>
                  </a:cubicBezTo>
                  <a:cubicBezTo>
                    <a:pt x="0" y="480"/>
                    <a:pt x="208" y="1310"/>
                    <a:pt x="187" y="1592"/>
                  </a:cubicBezTo>
                </a:path>
              </a:pathLst>
            </a:custGeom>
            <a:noFill/>
            <a:ln w="25400" cap="flat" cmpd="sng">
              <a:solidFill>
                <a:srgbClr val="FF3300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7" name="Line 12">
              <a:extLst>
                <a:ext uri="{FF2B5EF4-FFF2-40B4-BE49-F238E27FC236}">
                  <a16:creationId xmlns:a16="http://schemas.microsoft.com/office/drawing/2014/main" id="{2C7E4FEA-D676-4246-8660-164AD6F9D0EA}"/>
                </a:ext>
              </a:extLst>
            </p:cNvPr>
            <p:cNvSpPr>
              <a:spLocks noChangeShapeType="1"/>
            </p:cNvSpPr>
            <p:nvPr/>
          </p:nvSpPr>
          <p:spPr bwMode="ltGray">
            <a:xfrm flipV="1">
              <a:off x="3984" y="3312"/>
              <a:ext cx="0" cy="432"/>
            </a:xfrm>
            <a:prstGeom prst="line">
              <a:avLst/>
            </a:prstGeom>
            <a:noFill/>
            <a:ln w="254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68" name="Freeform 13">
              <a:extLst>
                <a:ext uri="{FF2B5EF4-FFF2-40B4-BE49-F238E27FC236}">
                  <a16:creationId xmlns:a16="http://schemas.microsoft.com/office/drawing/2014/main" id="{3FDF085D-B834-4A1D-AA0E-862CB2387578}"/>
                </a:ext>
              </a:extLst>
            </p:cNvPr>
            <p:cNvSpPr>
              <a:spLocks/>
            </p:cNvSpPr>
            <p:nvPr/>
          </p:nvSpPr>
          <p:spPr bwMode="ltGray">
            <a:xfrm>
              <a:off x="4679" y="3217"/>
              <a:ext cx="1" cy="301"/>
            </a:xfrm>
            <a:custGeom>
              <a:avLst/>
              <a:gdLst>
                <a:gd name="T0" fmla="*/ 0 w 1"/>
                <a:gd name="T1" fmla="*/ 0 h 301"/>
                <a:gd name="T2" fmla="*/ 0 w 1"/>
                <a:gd name="T3" fmla="*/ 301 h 301"/>
                <a:gd name="T4" fmla="*/ 0 60000 65536"/>
                <a:gd name="T5" fmla="*/ 0 60000 65536"/>
                <a:gd name="T6" fmla="*/ 0 w 1"/>
                <a:gd name="T7" fmla="*/ 0 h 301"/>
                <a:gd name="T8" fmla="*/ 1 w 1"/>
                <a:gd name="T9" fmla="*/ 301 h 30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01">
                  <a:moveTo>
                    <a:pt x="0" y="0"/>
                  </a:moveTo>
                  <a:lnTo>
                    <a:pt x="0" y="301"/>
                  </a:lnTo>
                </a:path>
              </a:pathLst>
            </a:custGeom>
            <a:noFill/>
            <a:ln w="25400" cap="flat" cmpd="sng">
              <a:solidFill>
                <a:srgbClr val="FF3300"/>
              </a:solidFill>
              <a:prstDash val="solid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" name="Rectangle 3">
            <a:extLst>
              <a:ext uri="{FF2B5EF4-FFF2-40B4-BE49-F238E27FC236}">
                <a16:creationId xmlns:a16="http://schemas.microsoft.com/office/drawing/2014/main" id="{9693124F-286F-41D5-9141-C13573BF0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2688" y="1371600"/>
            <a:ext cx="7772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endParaRPr lang="en-US" altLang="zh-CN" kern="0" dirty="0"/>
          </a:p>
          <a:p>
            <a:pPr eaLnBrk="1" hangingPunct="1"/>
            <a:endParaRPr lang="en-US" altLang="zh-CN" kern="0" dirty="0"/>
          </a:p>
          <a:p>
            <a:pPr eaLnBrk="1" hangingPunct="1"/>
            <a:endParaRPr lang="en-US" altLang="zh-CN" kern="0" dirty="0"/>
          </a:p>
          <a:p>
            <a:pPr eaLnBrk="1" hangingPunct="1"/>
            <a:endParaRPr lang="en-US" altLang="zh-CN" kern="0" dirty="0"/>
          </a:p>
          <a:p>
            <a:pPr eaLnBrk="1" hangingPunct="1"/>
            <a:endParaRPr lang="en-US" altLang="zh-CN" kern="0" dirty="0"/>
          </a:p>
          <a:p>
            <a:pPr eaLnBrk="1" hangingPunct="1"/>
            <a:r>
              <a:rPr lang="zh-CN" altLang="en-US" sz="2800" kern="0" dirty="0"/>
              <a:t>每个作用域一个符号表</a:t>
            </a:r>
          </a:p>
          <a:p>
            <a:pPr eaLnBrk="1" hangingPunct="1"/>
            <a:r>
              <a:rPr lang="zh-CN" altLang="en-US" sz="2800" kern="0" dirty="0"/>
              <a:t>子作用域的符号表指向</a:t>
            </a:r>
            <a:br>
              <a:rPr lang="en-US" altLang="zh-CN" sz="2800" kern="0" dirty="0"/>
            </a:br>
            <a:r>
              <a:rPr lang="zh-CN" altLang="en-US" sz="2800" kern="0" dirty="0"/>
              <a:t>父作用域的符号表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A96F548D-FB18-4103-9CE7-336CE1A1C2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处理作用域的翻译模式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D46657F8-D97E-47C1-ABA1-87AC5FE12D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P </a:t>
            </a:r>
            <a:r>
              <a:rPr lang="en-US" altLang="zh-CN" sz="2000" dirty="0">
                <a:sym typeface="Symbol" panose="05050102010706020507" pitchFamily="18" charset="2"/>
              </a:rPr>
              <a:t> M D	{ </a:t>
            </a:r>
            <a:r>
              <a:rPr lang="en-US" altLang="zh-CN" sz="2000" i="1" dirty="0" err="1">
                <a:sym typeface="Symbol" panose="05050102010706020507" pitchFamily="18" charset="2"/>
              </a:rPr>
              <a:t>addwidth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i="1" dirty="0">
                <a:sym typeface="Symbol" panose="05050102010706020507" pitchFamily="18" charset="2"/>
              </a:rPr>
              <a:t>top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dirty="0" err="1">
                <a:sym typeface="Symbol" panose="05050102010706020507" pitchFamily="18" charset="2"/>
              </a:rPr>
              <a:t>tblptr</a:t>
            </a:r>
            <a:r>
              <a:rPr lang="en-US" altLang="zh-CN" sz="2000" dirty="0">
                <a:sym typeface="Symbol" panose="05050102010706020507" pitchFamily="18" charset="2"/>
              </a:rPr>
              <a:t>), </a:t>
            </a:r>
            <a:r>
              <a:rPr lang="en-US" altLang="zh-CN" sz="2000" i="1" dirty="0">
                <a:sym typeface="Symbol" panose="05050102010706020507" pitchFamily="18" charset="2"/>
              </a:rPr>
              <a:t>top</a:t>
            </a:r>
            <a:r>
              <a:rPr lang="en-US" altLang="zh-CN" sz="2000" dirty="0">
                <a:sym typeface="Symbol" panose="05050102010706020507" pitchFamily="18" charset="2"/>
              </a:rPr>
              <a:t>(offset));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			 	</a:t>
            </a:r>
            <a:r>
              <a:rPr lang="en-US" altLang="zh-CN" sz="2000" i="1" dirty="0">
                <a:sym typeface="Symbol" panose="05050102010706020507" pitchFamily="18" charset="2"/>
              </a:rPr>
              <a:t>pop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dirty="0" err="1">
                <a:sym typeface="Symbol" panose="05050102010706020507" pitchFamily="18" charset="2"/>
              </a:rPr>
              <a:t>tblptr</a:t>
            </a:r>
            <a:r>
              <a:rPr lang="en-US" altLang="zh-CN" sz="2000" dirty="0">
                <a:sym typeface="Symbol" panose="05050102010706020507" pitchFamily="18" charset="2"/>
              </a:rPr>
              <a:t>); </a:t>
            </a:r>
            <a:r>
              <a:rPr lang="en-US" altLang="zh-CN" sz="2000" i="1" dirty="0">
                <a:sym typeface="Symbol" panose="05050102010706020507" pitchFamily="18" charset="2"/>
              </a:rPr>
              <a:t>pop</a:t>
            </a:r>
            <a:r>
              <a:rPr lang="en-US" altLang="zh-CN" sz="2000" dirty="0">
                <a:sym typeface="Symbol" panose="05050102010706020507" pitchFamily="18" charset="2"/>
              </a:rPr>
              <a:t>(offset);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M  		{ t:=</a:t>
            </a:r>
            <a:r>
              <a:rPr lang="en-US" altLang="zh-CN" sz="2000" i="1" dirty="0">
                <a:sym typeface="Symbol" panose="05050102010706020507" pitchFamily="18" charset="2"/>
              </a:rPr>
              <a:t>mktable</a:t>
            </a:r>
            <a:r>
              <a:rPr lang="en-US" altLang="zh-CN" sz="2000" dirty="0">
                <a:sym typeface="Symbol" panose="05050102010706020507" pitchFamily="18" charset="2"/>
              </a:rPr>
              <a:t>(null);  </a:t>
            </a:r>
            <a:r>
              <a:rPr lang="en-US" altLang="zh-CN" sz="2000" i="1" dirty="0">
                <a:sym typeface="Symbol" panose="05050102010706020507" pitchFamily="18" charset="2"/>
              </a:rPr>
              <a:t>push</a:t>
            </a:r>
            <a:r>
              <a:rPr lang="en-US" altLang="zh-CN" sz="2000" dirty="0">
                <a:sym typeface="Symbol" panose="05050102010706020507" pitchFamily="18" charset="2"/>
              </a:rPr>
              <a:t>(t, </a:t>
            </a:r>
            <a:r>
              <a:rPr lang="en-US" altLang="zh-CN" sz="2000" dirty="0" err="1">
                <a:sym typeface="Symbol" panose="05050102010706020507" pitchFamily="18" charset="2"/>
              </a:rPr>
              <a:t>tblptr</a:t>
            </a:r>
            <a:r>
              <a:rPr lang="en-US" altLang="zh-CN" sz="2000" dirty="0">
                <a:sym typeface="Symbol" panose="05050102010706020507" pitchFamily="18" charset="2"/>
              </a:rPr>
              <a:t>);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				</a:t>
            </a:r>
            <a:r>
              <a:rPr lang="en-US" altLang="zh-CN" sz="2000" i="1" dirty="0">
                <a:sym typeface="Symbol" panose="05050102010706020507" pitchFamily="18" charset="2"/>
              </a:rPr>
              <a:t>push</a:t>
            </a:r>
            <a:r>
              <a:rPr lang="en-US" altLang="zh-CN" sz="2000" dirty="0">
                <a:sym typeface="Symbol" panose="05050102010706020507" pitchFamily="18" charset="2"/>
              </a:rPr>
              <a:t>(0, offset);}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D  D</a:t>
            </a:r>
            <a:r>
              <a:rPr lang="en-US" altLang="zh-CN" sz="2000" baseline="-25000" dirty="0">
                <a:sym typeface="Symbol" panose="05050102010706020507" pitchFamily="18" charset="2"/>
              </a:rPr>
              <a:t>1</a:t>
            </a:r>
            <a:r>
              <a:rPr lang="en-US" altLang="zh-CN" sz="2000" dirty="0">
                <a:sym typeface="Symbol" panose="05050102010706020507" pitchFamily="18" charset="2"/>
              </a:rPr>
              <a:t>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; </a:t>
            </a:r>
            <a:r>
              <a:rPr lang="en-US" altLang="zh-CN" sz="2000" dirty="0">
                <a:sym typeface="Symbol" panose="05050102010706020507" pitchFamily="18" charset="2"/>
              </a:rPr>
              <a:t>D</a:t>
            </a:r>
            <a:r>
              <a:rPr lang="en-US" altLang="zh-CN" sz="2000" baseline="-25000" dirty="0">
                <a:sym typeface="Symbol" panose="05050102010706020507" pitchFamily="18" charset="2"/>
              </a:rPr>
              <a:t>2</a:t>
            </a:r>
            <a:r>
              <a:rPr lang="en-US" altLang="zh-CN" sz="2000" dirty="0">
                <a:sym typeface="Symbol" panose="05050102010706020507" pitchFamily="18" charset="2"/>
              </a:rPr>
              <a:t> 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D 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proc id ; </a:t>
            </a:r>
            <a:r>
              <a:rPr lang="en-US" altLang="zh-CN" sz="2000" dirty="0">
                <a:sym typeface="Symbol" panose="05050102010706020507" pitchFamily="18" charset="2"/>
              </a:rPr>
              <a:t>N D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;</a:t>
            </a:r>
            <a:r>
              <a:rPr lang="en-US" altLang="zh-CN" sz="2000" dirty="0">
                <a:sym typeface="Symbol" panose="05050102010706020507" pitchFamily="18" charset="2"/>
              </a:rPr>
              <a:t> S	{ t:=</a:t>
            </a:r>
            <a:r>
              <a:rPr lang="en-US" altLang="zh-CN" sz="2000" i="1" dirty="0">
                <a:sym typeface="Symbol" panose="05050102010706020507" pitchFamily="18" charset="2"/>
              </a:rPr>
              <a:t>top</a:t>
            </a:r>
            <a:r>
              <a:rPr lang="en-US" altLang="zh-CN" sz="2000" dirty="0">
                <a:sym typeface="Symbol" panose="05050102010706020507" pitchFamily="18" charset="2"/>
              </a:rPr>
              <a:t>(tblpr);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				</a:t>
            </a:r>
            <a:r>
              <a:rPr lang="en-US" altLang="zh-CN" sz="2000" i="1" dirty="0" err="1">
                <a:sym typeface="Symbol" panose="05050102010706020507" pitchFamily="18" charset="2"/>
              </a:rPr>
              <a:t>addwidth</a:t>
            </a:r>
            <a:r>
              <a:rPr lang="en-US" altLang="zh-CN" sz="2000" dirty="0">
                <a:sym typeface="Symbol" panose="05050102010706020507" pitchFamily="18" charset="2"/>
              </a:rPr>
              <a:t>(t, </a:t>
            </a:r>
            <a:r>
              <a:rPr lang="en-US" altLang="zh-CN" sz="2000" i="1" dirty="0">
                <a:sym typeface="Symbol" panose="05050102010706020507" pitchFamily="18" charset="2"/>
              </a:rPr>
              <a:t>top</a:t>
            </a:r>
            <a:r>
              <a:rPr lang="en-US" altLang="zh-CN" sz="2000" dirty="0">
                <a:sym typeface="Symbol" panose="05050102010706020507" pitchFamily="18" charset="2"/>
              </a:rPr>
              <a:t>(offset));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				</a:t>
            </a:r>
            <a:r>
              <a:rPr lang="en-US" altLang="zh-CN" sz="2000" i="1" dirty="0">
                <a:sym typeface="Symbol" panose="05050102010706020507" pitchFamily="18" charset="2"/>
              </a:rPr>
              <a:t>pop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dirty="0" err="1">
                <a:sym typeface="Symbol" panose="05050102010706020507" pitchFamily="18" charset="2"/>
              </a:rPr>
              <a:t>tblptr</a:t>
            </a:r>
            <a:r>
              <a:rPr lang="en-US" altLang="zh-CN" sz="2000" dirty="0">
                <a:sym typeface="Symbol" panose="05050102010706020507" pitchFamily="18" charset="2"/>
              </a:rPr>
              <a:t>); </a:t>
            </a:r>
            <a:r>
              <a:rPr lang="en-US" altLang="zh-CN" sz="2000" i="1" dirty="0">
                <a:sym typeface="Symbol" panose="05050102010706020507" pitchFamily="18" charset="2"/>
              </a:rPr>
              <a:t>pop</a:t>
            </a:r>
            <a:r>
              <a:rPr lang="en-US" altLang="zh-CN" sz="2000" dirty="0">
                <a:sym typeface="Symbol" panose="05050102010706020507" pitchFamily="18" charset="2"/>
              </a:rPr>
              <a:t>(offset);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				</a:t>
            </a:r>
            <a:r>
              <a:rPr lang="en-US" altLang="zh-CN" sz="2000" i="1" dirty="0" err="1">
                <a:sym typeface="Symbol" panose="05050102010706020507" pitchFamily="18" charset="2"/>
              </a:rPr>
              <a:t>enterproc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i="1" dirty="0">
                <a:sym typeface="Symbol" panose="05050102010706020507" pitchFamily="18" charset="2"/>
              </a:rPr>
              <a:t>top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dirty="0" err="1">
                <a:sym typeface="Symbol" panose="05050102010706020507" pitchFamily="18" charset="2"/>
              </a:rPr>
              <a:t>tblptr</a:t>
            </a:r>
            <a:r>
              <a:rPr lang="en-US" altLang="zh-CN" sz="2000" dirty="0">
                <a:sym typeface="Symbol" panose="05050102010706020507" pitchFamily="18" charset="2"/>
              </a:rPr>
              <a:t>),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lang="en-US" altLang="zh-CN" sz="2000" dirty="0">
                <a:sym typeface="Symbol" panose="05050102010706020507" pitchFamily="18" charset="2"/>
              </a:rPr>
              <a:t>.name, t);}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N   		{ t:=</a:t>
            </a:r>
            <a:r>
              <a:rPr lang="en-US" altLang="zh-CN" sz="2000" i="1" dirty="0">
                <a:sym typeface="Symbol" panose="05050102010706020507" pitchFamily="18" charset="2"/>
              </a:rPr>
              <a:t>mktable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i="1" dirty="0">
                <a:sym typeface="Symbol" panose="05050102010706020507" pitchFamily="18" charset="2"/>
              </a:rPr>
              <a:t>top</a:t>
            </a:r>
            <a:r>
              <a:rPr lang="en-US" altLang="zh-CN" sz="2000" dirty="0">
                <a:sym typeface="Symbol" panose="05050102010706020507" pitchFamily="18" charset="2"/>
              </a:rPr>
              <a:t>(tblptr)); </a:t>
            </a:r>
            <a:r>
              <a:rPr lang="en-US" altLang="zh-CN" sz="2000" i="1" dirty="0">
                <a:sym typeface="Symbol" panose="05050102010706020507" pitchFamily="18" charset="2"/>
              </a:rPr>
              <a:t>push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dirty="0" err="1">
                <a:sym typeface="Symbol" panose="05050102010706020507" pitchFamily="18" charset="2"/>
              </a:rPr>
              <a:t>t,tblptr</a:t>
            </a:r>
            <a:r>
              <a:rPr lang="en-US" altLang="zh-CN" sz="2000" dirty="0">
                <a:sym typeface="Symbol" panose="05050102010706020507" pitchFamily="18" charset="2"/>
              </a:rPr>
              <a:t>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				</a:t>
            </a:r>
            <a:r>
              <a:rPr lang="en-US" altLang="zh-CN" sz="2000" i="1" dirty="0">
                <a:sym typeface="Symbol" panose="05050102010706020507" pitchFamily="18" charset="2"/>
              </a:rPr>
              <a:t>push</a:t>
            </a:r>
            <a:r>
              <a:rPr lang="en-US" altLang="zh-CN" sz="2000" dirty="0">
                <a:sym typeface="Symbol" panose="05050102010706020507" pitchFamily="18" charset="2"/>
              </a:rPr>
              <a:t>(0,offset);}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D 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id : </a:t>
            </a:r>
            <a:r>
              <a:rPr lang="en-US" altLang="zh-CN" sz="2000" dirty="0">
                <a:sym typeface="Symbol" panose="05050102010706020507" pitchFamily="18" charset="2"/>
              </a:rPr>
              <a:t>T    { </a:t>
            </a:r>
            <a:r>
              <a:rPr lang="en-US" altLang="zh-CN" sz="2000" i="1" dirty="0">
                <a:sym typeface="Symbol" panose="05050102010706020507" pitchFamily="18" charset="2"/>
              </a:rPr>
              <a:t>enter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i="1" dirty="0">
                <a:sym typeface="Symbol" panose="05050102010706020507" pitchFamily="18" charset="2"/>
              </a:rPr>
              <a:t>top</a:t>
            </a:r>
            <a:r>
              <a:rPr lang="en-US" altLang="zh-CN" sz="2000" dirty="0">
                <a:sym typeface="Symbol" panose="05050102010706020507" pitchFamily="18" charset="2"/>
              </a:rPr>
              <a:t>(</a:t>
            </a:r>
            <a:r>
              <a:rPr lang="en-US" altLang="zh-CN" sz="2000" dirty="0" err="1">
                <a:sym typeface="Symbol" panose="05050102010706020507" pitchFamily="18" charset="2"/>
              </a:rPr>
              <a:t>tblptr</a:t>
            </a:r>
            <a:r>
              <a:rPr lang="en-US" altLang="zh-CN" sz="2000" dirty="0">
                <a:sym typeface="Symbol" panose="05050102010706020507" pitchFamily="18" charset="2"/>
              </a:rPr>
              <a:t>), </a:t>
            </a:r>
            <a:r>
              <a:rPr lang="en-US" altLang="zh-CN" sz="2000" dirty="0">
                <a:solidFill>
                  <a:schemeClr val="accent2"/>
                </a:solidFill>
                <a:sym typeface="Symbol" panose="05050102010706020507" pitchFamily="18" charset="2"/>
              </a:rPr>
              <a:t>id</a:t>
            </a:r>
            <a:r>
              <a:rPr lang="en-US" altLang="zh-CN" sz="2000" dirty="0">
                <a:sym typeface="Symbol" panose="05050102010706020507" pitchFamily="18" charset="2"/>
              </a:rPr>
              <a:t>.name, 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type</a:t>
            </a:r>
            <a:r>
              <a:rPr lang="en-US" altLang="zh-CN" sz="2000" dirty="0">
                <a:sym typeface="Symbol" panose="05050102010706020507" pitchFamily="18" charset="2"/>
              </a:rPr>
              <a:t>, </a:t>
            </a:r>
            <a:r>
              <a:rPr lang="en-US" altLang="zh-CN" sz="2000" i="1" dirty="0">
                <a:sym typeface="Symbol" panose="05050102010706020507" pitchFamily="18" charset="2"/>
              </a:rPr>
              <a:t>top</a:t>
            </a:r>
            <a:r>
              <a:rPr lang="en-US" altLang="zh-CN" sz="2000" dirty="0">
                <a:sym typeface="Symbol" panose="05050102010706020507" pitchFamily="18" charset="2"/>
              </a:rPr>
              <a:t>(offset));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ym typeface="Symbol" panose="05050102010706020507" pitchFamily="18" charset="2"/>
              </a:rPr>
              <a:t>			</a:t>
            </a:r>
            <a:r>
              <a:rPr lang="en-US" altLang="zh-CN" sz="2000" i="1" dirty="0">
                <a:sym typeface="Symbol" panose="05050102010706020507" pitchFamily="18" charset="2"/>
              </a:rPr>
              <a:t>top</a:t>
            </a:r>
            <a:r>
              <a:rPr lang="en-US" altLang="zh-CN" sz="2000" dirty="0">
                <a:sym typeface="Symbol" panose="05050102010706020507" pitchFamily="18" charset="2"/>
              </a:rPr>
              <a:t>(offset):=</a:t>
            </a:r>
            <a:r>
              <a:rPr lang="en-US" altLang="zh-CN" sz="2000" i="1" dirty="0">
                <a:sym typeface="Symbol" panose="05050102010706020507" pitchFamily="18" charset="2"/>
              </a:rPr>
              <a:t>top</a:t>
            </a:r>
            <a:r>
              <a:rPr lang="en-US" altLang="zh-CN" sz="2000" dirty="0">
                <a:sym typeface="Symbol" panose="05050102010706020507" pitchFamily="18" charset="2"/>
              </a:rPr>
              <a:t>(offset) + </a:t>
            </a:r>
            <a:r>
              <a:rPr lang="en-US" altLang="zh-CN" sz="2000" dirty="0" err="1">
                <a:sym typeface="Symbol" panose="05050102010706020507" pitchFamily="18" charset="2"/>
              </a:rPr>
              <a:t>T.</a:t>
            </a:r>
            <a:r>
              <a:rPr lang="en-US" altLang="zh-CN" sz="2000" i="1" dirty="0" err="1">
                <a:sym typeface="Symbol" panose="05050102010706020507" pitchFamily="18" charset="2"/>
              </a:rPr>
              <a:t>width</a:t>
            </a:r>
            <a:r>
              <a:rPr lang="en-US" altLang="zh-CN" sz="2000" dirty="0">
                <a:sym typeface="Symbol" panose="05050102010706020507" pitchFamily="18" charset="2"/>
              </a:rPr>
              <a:t>;</a:t>
            </a:r>
            <a:endParaRPr lang="en-US" altLang="zh-CN" sz="2000" i="1" dirty="0">
              <a:sym typeface="Symbol" panose="05050102010706020507" pitchFamily="18" charset="2"/>
            </a:endParaRPr>
          </a:p>
        </p:txBody>
      </p:sp>
      <p:sp>
        <p:nvSpPr>
          <p:cNvPr id="20484" name="Text Box 4">
            <a:extLst>
              <a:ext uri="{FF2B5EF4-FFF2-40B4-BE49-F238E27FC236}">
                <a16:creationId xmlns:a16="http://schemas.microsoft.com/office/drawing/2014/main" id="{A63E814B-A3B1-4884-BED9-6EC3007E05C6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7391400" y="457200"/>
            <a:ext cx="1524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folHlink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符号表栈</a:t>
            </a:r>
          </a:p>
        </p:txBody>
      </p:sp>
      <p:sp>
        <p:nvSpPr>
          <p:cNvPr id="20485" name="Line 5">
            <a:extLst>
              <a:ext uri="{FF2B5EF4-FFF2-40B4-BE49-F238E27FC236}">
                <a16:creationId xmlns:a16="http://schemas.microsoft.com/office/drawing/2014/main" id="{58306F48-27F3-494B-95AF-F3F46362E87A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4800600" y="838200"/>
            <a:ext cx="2743200" cy="6096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486" name="Text Box 6">
            <a:extLst>
              <a:ext uri="{FF2B5EF4-FFF2-40B4-BE49-F238E27FC236}">
                <a16:creationId xmlns:a16="http://schemas.microsoft.com/office/drawing/2014/main" id="{80557A41-D79E-44E4-B22B-7ACA72F496FB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7598250" y="886167"/>
            <a:ext cx="157594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folHlink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内存占用量栈记入符号表</a:t>
            </a:r>
            <a:endParaRPr lang="en-US" altLang="zh-CN" sz="1800" dirty="0">
              <a:solidFill>
                <a:schemeClr val="folHlink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20487" name="Freeform 7">
            <a:extLst>
              <a:ext uri="{FF2B5EF4-FFF2-40B4-BE49-F238E27FC236}">
                <a16:creationId xmlns:a16="http://schemas.microsoft.com/office/drawing/2014/main" id="{45360F74-0D4A-450D-8CC1-35B7EC47829F}"/>
              </a:ext>
            </a:extLst>
          </p:cNvPr>
          <p:cNvSpPr>
            <a:spLocks/>
          </p:cNvSpPr>
          <p:nvPr/>
        </p:nvSpPr>
        <p:spPr bwMode="ltGray">
          <a:xfrm flipV="1">
            <a:off x="6156176" y="1078468"/>
            <a:ext cx="1442074" cy="369332"/>
          </a:xfrm>
          <a:custGeom>
            <a:avLst/>
            <a:gdLst>
              <a:gd name="T0" fmla="*/ 2147483646 w 470"/>
              <a:gd name="T1" fmla="*/ 2147483646 h 433"/>
              <a:gd name="T2" fmla="*/ 0 w 470"/>
              <a:gd name="T3" fmla="*/ 0 h 433"/>
              <a:gd name="T4" fmla="*/ 0 60000 65536"/>
              <a:gd name="T5" fmla="*/ 0 60000 65536"/>
              <a:gd name="T6" fmla="*/ 0 w 470"/>
              <a:gd name="T7" fmla="*/ 0 h 433"/>
              <a:gd name="T8" fmla="*/ 470 w 470"/>
              <a:gd name="T9" fmla="*/ 433 h 4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70" h="433">
                <a:moveTo>
                  <a:pt x="470" y="433"/>
                </a:moveTo>
                <a:lnTo>
                  <a:pt x="0" y="0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Text Box 6">
            <a:extLst>
              <a:ext uri="{FF2B5EF4-FFF2-40B4-BE49-F238E27FC236}">
                <a16:creationId xmlns:a16="http://schemas.microsoft.com/office/drawing/2014/main" id="{3B9F403C-392B-4A07-9F3A-437FD73C40B1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0" y="2362200"/>
            <a:ext cx="132670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folHlink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创建新符号表，其父为空或为栈顶符号表</a:t>
            </a: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EE019F8B-15F0-4901-A66A-3ABA75A9BC9B}"/>
              </a:ext>
            </a:extLst>
          </p:cNvPr>
          <p:cNvSpPr>
            <a:spLocks/>
          </p:cNvSpPr>
          <p:nvPr/>
        </p:nvSpPr>
        <p:spPr bwMode="ltGray">
          <a:xfrm flipH="1">
            <a:off x="1150938" y="2420888"/>
            <a:ext cx="3421062" cy="216024"/>
          </a:xfrm>
          <a:custGeom>
            <a:avLst/>
            <a:gdLst>
              <a:gd name="T0" fmla="*/ 2147483646 w 470"/>
              <a:gd name="T1" fmla="*/ 2147483646 h 433"/>
              <a:gd name="T2" fmla="*/ 0 w 470"/>
              <a:gd name="T3" fmla="*/ 0 h 433"/>
              <a:gd name="T4" fmla="*/ 0 60000 65536"/>
              <a:gd name="T5" fmla="*/ 0 60000 65536"/>
              <a:gd name="T6" fmla="*/ 0 w 470"/>
              <a:gd name="T7" fmla="*/ 0 h 433"/>
              <a:gd name="T8" fmla="*/ 470 w 470"/>
              <a:gd name="T9" fmla="*/ 433 h 4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70" h="433">
                <a:moveTo>
                  <a:pt x="470" y="433"/>
                </a:moveTo>
                <a:lnTo>
                  <a:pt x="0" y="0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Freeform 7">
            <a:extLst>
              <a:ext uri="{FF2B5EF4-FFF2-40B4-BE49-F238E27FC236}">
                <a16:creationId xmlns:a16="http://schemas.microsoft.com/office/drawing/2014/main" id="{E12141DC-789D-4BA5-95F7-8908882B551A}"/>
              </a:ext>
            </a:extLst>
          </p:cNvPr>
          <p:cNvSpPr>
            <a:spLocks/>
          </p:cNvSpPr>
          <p:nvPr/>
        </p:nvSpPr>
        <p:spPr bwMode="ltGray">
          <a:xfrm flipH="1" flipV="1">
            <a:off x="963585" y="3429000"/>
            <a:ext cx="3680423" cy="1368152"/>
          </a:xfrm>
          <a:custGeom>
            <a:avLst/>
            <a:gdLst>
              <a:gd name="T0" fmla="*/ 2147483646 w 470"/>
              <a:gd name="T1" fmla="*/ 2147483646 h 433"/>
              <a:gd name="T2" fmla="*/ 0 w 470"/>
              <a:gd name="T3" fmla="*/ 0 h 433"/>
              <a:gd name="T4" fmla="*/ 0 60000 65536"/>
              <a:gd name="T5" fmla="*/ 0 60000 65536"/>
              <a:gd name="T6" fmla="*/ 0 w 470"/>
              <a:gd name="T7" fmla="*/ 0 h 433"/>
              <a:gd name="T8" fmla="*/ 470 w 470"/>
              <a:gd name="T9" fmla="*/ 433 h 4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70" h="433">
                <a:moveTo>
                  <a:pt x="470" y="433"/>
                </a:moveTo>
                <a:lnTo>
                  <a:pt x="0" y="0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Text Box 6">
            <a:extLst>
              <a:ext uri="{FF2B5EF4-FFF2-40B4-BE49-F238E27FC236}">
                <a16:creationId xmlns:a16="http://schemas.microsoft.com/office/drawing/2014/main" id="{F82ED0D9-A567-417B-AAEF-16512E7D5ED2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70818" y="5689007"/>
            <a:ext cx="216024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folHlink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声明的变量加入当前（栈顶）符号表</a:t>
            </a:r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9CE11EAB-4767-4E3E-8ED7-F95BAC29E381}"/>
              </a:ext>
            </a:extLst>
          </p:cNvPr>
          <p:cNvSpPr>
            <a:spLocks/>
          </p:cNvSpPr>
          <p:nvPr/>
        </p:nvSpPr>
        <p:spPr bwMode="ltGray">
          <a:xfrm flipH="1">
            <a:off x="2051720" y="5812548"/>
            <a:ext cx="936104" cy="396830"/>
          </a:xfrm>
          <a:custGeom>
            <a:avLst/>
            <a:gdLst>
              <a:gd name="T0" fmla="*/ 2147483646 w 470"/>
              <a:gd name="T1" fmla="*/ 2147483646 h 433"/>
              <a:gd name="T2" fmla="*/ 0 w 470"/>
              <a:gd name="T3" fmla="*/ 0 h 433"/>
              <a:gd name="T4" fmla="*/ 0 60000 65536"/>
              <a:gd name="T5" fmla="*/ 0 60000 65536"/>
              <a:gd name="T6" fmla="*/ 0 w 470"/>
              <a:gd name="T7" fmla="*/ 0 h 433"/>
              <a:gd name="T8" fmla="*/ 470 w 470"/>
              <a:gd name="T9" fmla="*/ 433 h 4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70" h="433">
                <a:moveTo>
                  <a:pt x="470" y="433"/>
                </a:moveTo>
                <a:lnTo>
                  <a:pt x="0" y="0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Text Box 6">
            <a:extLst>
              <a:ext uri="{FF2B5EF4-FFF2-40B4-BE49-F238E27FC236}">
                <a16:creationId xmlns:a16="http://schemas.microsoft.com/office/drawing/2014/main" id="{20713665-E7A2-4A5D-8A83-530F739D5504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6905351" y="3013501"/>
            <a:ext cx="191512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folHlink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函数的内存大小</a:t>
            </a:r>
            <a:br>
              <a:rPr lang="en-US" altLang="zh-CN" sz="1800" dirty="0">
                <a:solidFill>
                  <a:schemeClr val="folHlink"/>
                </a:solidFill>
                <a:latin typeface="Tahoma" panose="020B0604030504040204" pitchFamily="34" charset="0"/>
                <a:ea typeface="黑体" panose="02010609060101010101" pitchFamily="49" charset="-122"/>
              </a:rPr>
            </a:br>
            <a:r>
              <a:rPr lang="zh-CN" altLang="en-US" sz="1800" dirty="0">
                <a:solidFill>
                  <a:schemeClr val="folHlink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记入符号表中</a:t>
            </a:r>
          </a:p>
        </p:txBody>
      </p:sp>
      <p:sp>
        <p:nvSpPr>
          <p:cNvPr id="18" name="Freeform 7">
            <a:extLst>
              <a:ext uri="{FF2B5EF4-FFF2-40B4-BE49-F238E27FC236}">
                <a16:creationId xmlns:a16="http://schemas.microsoft.com/office/drawing/2014/main" id="{CF3C46DF-2423-49E7-A898-730C70C81FE8}"/>
              </a:ext>
            </a:extLst>
          </p:cNvPr>
          <p:cNvSpPr>
            <a:spLocks/>
          </p:cNvSpPr>
          <p:nvPr/>
        </p:nvSpPr>
        <p:spPr bwMode="ltGray">
          <a:xfrm flipV="1">
            <a:off x="6300193" y="3429000"/>
            <a:ext cx="720080" cy="288032"/>
          </a:xfrm>
          <a:custGeom>
            <a:avLst/>
            <a:gdLst>
              <a:gd name="T0" fmla="*/ 2147483646 w 470"/>
              <a:gd name="T1" fmla="*/ 2147483646 h 433"/>
              <a:gd name="T2" fmla="*/ 0 w 470"/>
              <a:gd name="T3" fmla="*/ 0 h 433"/>
              <a:gd name="T4" fmla="*/ 0 60000 65536"/>
              <a:gd name="T5" fmla="*/ 0 60000 65536"/>
              <a:gd name="T6" fmla="*/ 0 w 470"/>
              <a:gd name="T7" fmla="*/ 0 h 433"/>
              <a:gd name="T8" fmla="*/ 470 w 470"/>
              <a:gd name="T9" fmla="*/ 433 h 4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70" h="433">
                <a:moveTo>
                  <a:pt x="470" y="433"/>
                </a:moveTo>
                <a:lnTo>
                  <a:pt x="0" y="0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Text Box 6">
            <a:extLst>
              <a:ext uri="{FF2B5EF4-FFF2-40B4-BE49-F238E27FC236}">
                <a16:creationId xmlns:a16="http://schemas.microsoft.com/office/drawing/2014/main" id="{DED51734-7AFD-43F6-AA25-24B34C6E39CE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7164288" y="4935750"/>
            <a:ext cx="216024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folHlink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函数记入原符号表</a:t>
            </a:r>
          </a:p>
        </p:txBody>
      </p:sp>
      <p:sp>
        <p:nvSpPr>
          <p:cNvPr id="20" name="Freeform 7">
            <a:extLst>
              <a:ext uri="{FF2B5EF4-FFF2-40B4-BE49-F238E27FC236}">
                <a16:creationId xmlns:a16="http://schemas.microsoft.com/office/drawing/2014/main" id="{B0DDE739-A316-40D4-A27A-B2A6CEE7CED4}"/>
              </a:ext>
            </a:extLst>
          </p:cNvPr>
          <p:cNvSpPr>
            <a:spLocks/>
          </p:cNvSpPr>
          <p:nvPr/>
        </p:nvSpPr>
        <p:spPr bwMode="ltGray">
          <a:xfrm>
            <a:off x="7164288" y="4558352"/>
            <a:ext cx="949424" cy="436348"/>
          </a:xfrm>
          <a:custGeom>
            <a:avLst/>
            <a:gdLst>
              <a:gd name="T0" fmla="*/ 2147483646 w 470"/>
              <a:gd name="T1" fmla="*/ 2147483646 h 433"/>
              <a:gd name="T2" fmla="*/ 0 w 470"/>
              <a:gd name="T3" fmla="*/ 0 h 433"/>
              <a:gd name="T4" fmla="*/ 0 60000 65536"/>
              <a:gd name="T5" fmla="*/ 0 60000 65536"/>
              <a:gd name="T6" fmla="*/ 0 w 470"/>
              <a:gd name="T7" fmla="*/ 0 h 433"/>
              <a:gd name="T8" fmla="*/ 470 w 470"/>
              <a:gd name="T9" fmla="*/ 433 h 43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70" h="433">
                <a:moveTo>
                  <a:pt x="470" y="433"/>
                </a:moveTo>
                <a:lnTo>
                  <a:pt x="0" y="0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/>
      <p:bldP spid="20485" grpId="0" animBg="1"/>
      <p:bldP spid="20486" grpId="0"/>
      <p:bldP spid="20487" grpId="0" animBg="1"/>
      <p:bldP spid="11" grpId="0"/>
      <p:bldP spid="12" grpId="0" animBg="1"/>
      <p:bldP spid="13" grpId="0" animBg="1"/>
      <p:bldP spid="15" grpId="0"/>
      <p:bldP spid="16" grpId="0" animBg="1"/>
      <p:bldP spid="17" grpId="0"/>
      <p:bldP spid="18" grpId="0" animBg="1"/>
      <p:bldP spid="19" grpId="0"/>
      <p:bldP spid="2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D7B37DA4-713E-4665-B9B4-F0889209FE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8.2.3  </a:t>
            </a:r>
            <a:r>
              <a:rPr lang="zh-CN" altLang="en-US"/>
              <a:t>记录类型的处理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373C7669-C278-463D-8119-5EE2AA3B43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创建独立的符号表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T→ </a:t>
            </a:r>
            <a:r>
              <a:rPr lang="en-US" altLang="zh-CN" sz="2400" b="1"/>
              <a:t>record</a:t>
            </a:r>
            <a:r>
              <a:rPr lang="en-US" altLang="zh-CN" sz="2400"/>
              <a:t> L D </a:t>
            </a:r>
            <a:r>
              <a:rPr lang="en-US" altLang="zh-CN" sz="2400" b="1"/>
              <a:t>end</a:t>
            </a:r>
            <a:r>
              <a:rPr lang="en-US" altLang="zh-CN" sz="2400"/>
              <a:t>	{ T.type = record(top(tblptr));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	   T.width = top(offset);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	   pop(tblptr); pop(offset);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L→</a:t>
            </a:r>
            <a:r>
              <a:rPr lang="en-US" altLang="zh-CN" sz="2400">
                <a:latin typeface="Symbol" panose="05050102010706020507" pitchFamily="18" charset="2"/>
              </a:rPr>
              <a:t>e</a:t>
            </a:r>
            <a:r>
              <a:rPr lang="en-US" altLang="zh-CN" sz="2400"/>
              <a:t>			{ t = mktable(null);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	   push(t, tblptr); push(0, offset); 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7D9F75A5-23AD-4D92-B21F-5CBFE7BBDB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8.3  </a:t>
            </a:r>
            <a:r>
              <a:rPr lang="zh-CN" altLang="en-US"/>
              <a:t>赋值语句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F2D9E383-2975-4598-BFA6-070C3F2C79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10150"/>
          </a:xfrm>
        </p:spPr>
        <p:txBody>
          <a:bodyPr/>
          <a:lstStyle/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800" dirty="0"/>
              <a:t>8.3.1  </a:t>
            </a:r>
            <a:r>
              <a:rPr lang="zh-CN" altLang="en-US" sz="2800" dirty="0"/>
              <a:t>符号表中的名字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S→ </a:t>
            </a:r>
            <a:r>
              <a:rPr lang="en-US" altLang="zh-CN" sz="2000" b="1" dirty="0"/>
              <a:t>id</a:t>
            </a:r>
            <a:r>
              <a:rPr lang="en-US" altLang="zh-CN" sz="2000" dirty="0"/>
              <a:t> := E	{ p = lookup(</a:t>
            </a:r>
            <a:r>
              <a:rPr lang="en-US" altLang="zh-CN" sz="2000" b="1" dirty="0"/>
              <a:t>id</a:t>
            </a:r>
            <a:r>
              <a:rPr lang="en-US" altLang="zh-CN" sz="2000" dirty="0"/>
              <a:t>.name);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			   </a:t>
            </a:r>
            <a:r>
              <a:rPr lang="en-US" altLang="zh-CN" sz="2000" b="1" dirty="0"/>
              <a:t>if</a:t>
            </a:r>
            <a:r>
              <a:rPr lang="en-US" altLang="zh-CN" sz="2000" dirty="0"/>
              <a:t> (p != null) emit(p ‘:=’ </a:t>
            </a:r>
            <a:r>
              <a:rPr lang="en-US" altLang="zh-CN" sz="2000" dirty="0" err="1"/>
              <a:t>E.place</a:t>
            </a:r>
            <a:r>
              <a:rPr lang="en-US" altLang="zh-CN" sz="2000" dirty="0"/>
              <a:t>);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			   </a:t>
            </a:r>
            <a:r>
              <a:rPr lang="en-US" altLang="zh-CN" sz="2000" b="1" dirty="0"/>
              <a:t>else</a:t>
            </a:r>
            <a:r>
              <a:rPr lang="en-US" altLang="zh-CN" sz="2000" dirty="0"/>
              <a:t> error; }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E→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 + 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	{ </a:t>
            </a:r>
            <a:r>
              <a:rPr lang="en-US" altLang="zh-CN" sz="2000" dirty="0" err="1"/>
              <a:t>E.place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newtemp</a:t>
            </a:r>
            <a:r>
              <a:rPr lang="en-US" altLang="zh-CN" sz="2000" dirty="0"/>
              <a:t>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			   emit(</a:t>
            </a:r>
            <a:r>
              <a:rPr lang="en-US" altLang="zh-CN" sz="2000" dirty="0" err="1"/>
              <a:t>E.place</a:t>
            </a:r>
            <a:r>
              <a:rPr lang="en-US" altLang="zh-CN" sz="2000" dirty="0"/>
              <a:t> ‘:=’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.place ‘+’ 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.place; }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E→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 * 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	{ </a:t>
            </a:r>
            <a:r>
              <a:rPr lang="en-US" altLang="zh-CN" sz="2000" dirty="0" err="1"/>
              <a:t>E.place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newtemp</a:t>
            </a:r>
            <a:r>
              <a:rPr lang="en-US" altLang="zh-CN" sz="2000" dirty="0"/>
              <a:t>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			   emit(</a:t>
            </a:r>
            <a:r>
              <a:rPr lang="en-US" altLang="zh-CN" sz="2000" dirty="0" err="1"/>
              <a:t>E.place</a:t>
            </a:r>
            <a:r>
              <a:rPr lang="en-US" altLang="zh-CN" sz="2000" dirty="0"/>
              <a:t> ‘:=’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.place ‘*’ 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.place; }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E→ -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		{ </a:t>
            </a:r>
            <a:r>
              <a:rPr lang="en-US" altLang="zh-CN" sz="2000" dirty="0" err="1"/>
              <a:t>E.place</a:t>
            </a:r>
            <a:r>
              <a:rPr lang="en-US" altLang="zh-CN" sz="2000" dirty="0"/>
              <a:t> = </a:t>
            </a:r>
            <a:r>
              <a:rPr lang="en-US" altLang="zh-CN" sz="2000" dirty="0" err="1"/>
              <a:t>newtemp</a:t>
            </a:r>
            <a:r>
              <a:rPr lang="en-US" altLang="zh-CN" sz="2000" dirty="0"/>
              <a:t>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			   emit(</a:t>
            </a:r>
            <a:r>
              <a:rPr lang="en-US" altLang="zh-CN" sz="2000" dirty="0" err="1"/>
              <a:t>E.place</a:t>
            </a:r>
            <a:r>
              <a:rPr lang="en-US" altLang="zh-CN" sz="2000" dirty="0"/>
              <a:t> ‘:=’ ‘</a:t>
            </a:r>
            <a:r>
              <a:rPr lang="en-US" altLang="zh-CN" sz="2000" dirty="0" err="1"/>
              <a:t>uminus</a:t>
            </a:r>
            <a:r>
              <a:rPr lang="en-US" altLang="zh-CN" sz="2000" dirty="0"/>
              <a:t>’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.place; }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E→ ( E</a:t>
            </a:r>
            <a:r>
              <a:rPr lang="en-US" altLang="zh-CN" sz="2000" baseline="-25000" dirty="0"/>
              <a:t>1 </a:t>
            </a:r>
            <a:r>
              <a:rPr lang="en-US" altLang="zh-CN" sz="2000" dirty="0"/>
              <a:t>)	{ </a:t>
            </a:r>
            <a:r>
              <a:rPr lang="en-US" altLang="zh-CN" sz="2000" dirty="0" err="1"/>
              <a:t>E.place</a:t>
            </a:r>
            <a:r>
              <a:rPr lang="en-US" altLang="zh-CN" sz="2000" dirty="0"/>
              <a:t> =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.place }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E→ </a:t>
            </a:r>
            <a:r>
              <a:rPr lang="en-US" altLang="zh-CN" sz="2000" b="1" dirty="0"/>
              <a:t>id</a:t>
            </a:r>
            <a:r>
              <a:rPr lang="en-US" altLang="zh-CN" sz="2000" dirty="0"/>
              <a:t>		{ p = lookup(</a:t>
            </a:r>
            <a:r>
              <a:rPr lang="en-US" altLang="zh-CN" sz="2000" b="1" dirty="0"/>
              <a:t>id</a:t>
            </a:r>
            <a:r>
              <a:rPr lang="en-US" altLang="zh-CN" sz="2000" dirty="0"/>
              <a:t>.name);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			   </a:t>
            </a:r>
            <a:r>
              <a:rPr lang="en-US" altLang="zh-CN" sz="2000" b="1" dirty="0"/>
              <a:t>if</a:t>
            </a:r>
            <a:r>
              <a:rPr lang="en-US" altLang="zh-CN" sz="2000" dirty="0"/>
              <a:t> (p != null) </a:t>
            </a:r>
            <a:r>
              <a:rPr lang="en-US" altLang="zh-CN" sz="2000" dirty="0" err="1"/>
              <a:t>E.place</a:t>
            </a:r>
            <a:r>
              <a:rPr lang="en-US" altLang="zh-CN" sz="2000" dirty="0"/>
              <a:t> = p;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dirty="0"/>
              <a:t>			   </a:t>
            </a:r>
            <a:r>
              <a:rPr lang="en-US" altLang="zh-CN" sz="2000" b="1" dirty="0"/>
              <a:t>else</a:t>
            </a:r>
            <a:r>
              <a:rPr lang="en-US" altLang="zh-CN" sz="2000" dirty="0"/>
              <a:t> error; }</a:t>
            </a:r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16586FE5-06A3-4769-B822-E2F364D837A5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6906184" y="1219200"/>
            <a:ext cx="1828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folHlink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在符号表中查找标识符</a:t>
            </a:r>
          </a:p>
        </p:txBody>
      </p:sp>
      <p:sp>
        <p:nvSpPr>
          <p:cNvPr id="22533" name="Freeform 5">
            <a:extLst>
              <a:ext uri="{FF2B5EF4-FFF2-40B4-BE49-F238E27FC236}">
                <a16:creationId xmlns:a16="http://schemas.microsoft.com/office/drawing/2014/main" id="{B2089A24-FA12-4F05-B5E4-091E7AB22489}"/>
              </a:ext>
            </a:extLst>
          </p:cNvPr>
          <p:cNvSpPr>
            <a:spLocks/>
          </p:cNvSpPr>
          <p:nvPr/>
        </p:nvSpPr>
        <p:spPr bwMode="ltGray">
          <a:xfrm>
            <a:off x="4191000" y="1390650"/>
            <a:ext cx="2730500" cy="514350"/>
          </a:xfrm>
          <a:custGeom>
            <a:avLst/>
            <a:gdLst>
              <a:gd name="T0" fmla="*/ 2147483646 w 1595"/>
              <a:gd name="T1" fmla="*/ 0 h 372"/>
              <a:gd name="T2" fmla="*/ 0 w 1595"/>
              <a:gd name="T3" fmla="*/ 2147483646 h 372"/>
              <a:gd name="T4" fmla="*/ 0 60000 65536"/>
              <a:gd name="T5" fmla="*/ 0 60000 65536"/>
              <a:gd name="T6" fmla="*/ 0 w 1595"/>
              <a:gd name="T7" fmla="*/ 0 h 372"/>
              <a:gd name="T8" fmla="*/ 1595 w 1595"/>
              <a:gd name="T9" fmla="*/ 372 h 37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95" h="372">
                <a:moveTo>
                  <a:pt x="1595" y="0"/>
                </a:moveTo>
                <a:lnTo>
                  <a:pt x="0" y="372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1B29DE4C-B761-49B8-8E30-1847F84ACE94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6606870" y="2440982"/>
            <a:ext cx="2167397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folHlink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直接打印语句，</a:t>
            </a:r>
            <a:br>
              <a:rPr lang="en-US" altLang="zh-CN" sz="1800" dirty="0">
                <a:solidFill>
                  <a:schemeClr val="folHlink"/>
                </a:solidFill>
                <a:latin typeface="Tahoma" panose="020B0604030504040204" pitchFamily="34" charset="0"/>
                <a:ea typeface="黑体" panose="02010609060101010101" pitchFamily="49" charset="-122"/>
              </a:rPr>
            </a:br>
            <a:r>
              <a:rPr lang="zh-CN" altLang="en-US" sz="1800" dirty="0">
                <a:solidFill>
                  <a:schemeClr val="folHlink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而非保存属性中</a:t>
            </a: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0E01E0F5-5345-4879-B804-4BC79E33EE31}"/>
              </a:ext>
            </a:extLst>
          </p:cNvPr>
          <p:cNvSpPr>
            <a:spLocks/>
          </p:cNvSpPr>
          <p:nvPr/>
        </p:nvSpPr>
        <p:spPr bwMode="ltGray">
          <a:xfrm>
            <a:off x="3563888" y="2777505"/>
            <a:ext cx="3236044" cy="514350"/>
          </a:xfrm>
          <a:custGeom>
            <a:avLst/>
            <a:gdLst>
              <a:gd name="T0" fmla="*/ 2147483646 w 1595"/>
              <a:gd name="T1" fmla="*/ 0 h 372"/>
              <a:gd name="T2" fmla="*/ 0 w 1595"/>
              <a:gd name="T3" fmla="*/ 2147483646 h 372"/>
              <a:gd name="T4" fmla="*/ 0 60000 65536"/>
              <a:gd name="T5" fmla="*/ 0 60000 65536"/>
              <a:gd name="T6" fmla="*/ 0 w 1595"/>
              <a:gd name="T7" fmla="*/ 0 h 372"/>
              <a:gd name="T8" fmla="*/ 1595 w 1595"/>
              <a:gd name="T9" fmla="*/ 372 h 37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595" h="372">
                <a:moveTo>
                  <a:pt x="1595" y="0"/>
                </a:moveTo>
                <a:lnTo>
                  <a:pt x="0" y="372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CE123302-72D1-4C92-B34E-119CAEB421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8.3.2  </a:t>
            </a:r>
            <a:r>
              <a:rPr lang="zh-CN" altLang="en-US"/>
              <a:t>临时名字的重用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880C5D75-D395-40B4-B744-2E3B554263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/>
            <a:r>
              <a:rPr lang="en-US" altLang="zh-CN" sz="2800" dirty="0" err="1"/>
              <a:t>newtemp</a:t>
            </a:r>
            <a:r>
              <a:rPr lang="zh-CN" altLang="en-US" sz="2800" dirty="0"/>
              <a:t>每次产生不同名字</a:t>
            </a:r>
            <a:r>
              <a:rPr lang="en-US" altLang="zh-CN" sz="2800" dirty="0">
                <a:sym typeface="Wingdings" panose="05000000000000000000" pitchFamily="2" charset="2"/>
              </a:rPr>
              <a:t></a:t>
            </a:r>
            <a:br>
              <a:rPr lang="en-US" altLang="zh-CN" sz="2800" dirty="0">
                <a:sym typeface="Wingdings" panose="05000000000000000000" pitchFamily="2" charset="2"/>
              </a:rPr>
            </a:br>
            <a:r>
              <a:rPr lang="zh-CN" altLang="en-US" sz="2800" dirty="0"/>
              <a:t>临时变量数</a:t>
            </a:r>
            <a:r>
              <a:rPr lang="en-US" altLang="zh-CN" sz="2800" dirty="0"/>
              <a:t>=</a:t>
            </a:r>
            <a:r>
              <a:rPr lang="zh-CN" altLang="en-US" sz="2800" dirty="0"/>
              <a:t>表达式中运算符数，中间（目标）代码空间占用巨大！</a:t>
            </a:r>
            <a:endParaRPr lang="en-US" altLang="zh-CN" sz="2800" dirty="0"/>
          </a:p>
          <a:p>
            <a:pPr eaLnBrk="1" hangingPunct="1"/>
            <a:r>
              <a:rPr lang="zh-CN" altLang="en-US" sz="2800" dirty="0"/>
              <a:t>临时变量保存的中间计算结果，后续不会继续使用，继续保留浪费空间！</a:t>
            </a:r>
            <a:endParaRPr lang="en-US" altLang="zh-CN" sz="2800" dirty="0"/>
          </a:p>
          <a:p>
            <a:pPr eaLnBrk="1" hangingPunct="1"/>
            <a:r>
              <a:rPr lang="zh-CN" altLang="en-US" sz="2800" dirty="0"/>
              <a:t>能否重用临时变量保存不同中间结果？</a:t>
            </a:r>
            <a:br>
              <a:rPr lang="en-US" altLang="zh-CN" sz="2800" dirty="0"/>
            </a:br>
            <a:r>
              <a:rPr lang="en-US" altLang="zh-CN" sz="2800" dirty="0">
                <a:sym typeface="Wingdings" panose="05000000000000000000" pitchFamily="2" charset="2"/>
              </a:rPr>
              <a:t></a:t>
            </a:r>
            <a:r>
              <a:rPr lang="zh-CN" altLang="en-US" sz="2800" dirty="0">
                <a:sym typeface="Wingdings" panose="05000000000000000000" pitchFamily="2" charset="2"/>
              </a:rPr>
              <a:t>分析变量生存周期：语法制导翻译方法、在生成中间代码时进行优化</a:t>
            </a:r>
            <a:endParaRPr lang="zh-CN" altLang="en-US" sz="2800" dirty="0"/>
          </a:p>
          <a:p>
            <a:pPr eaLnBrk="1" hangingPunct="1"/>
            <a:r>
              <a:rPr lang="en-US" altLang="zh-CN" sz="2800" dirty="0"/>
              <a:t>E→E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+ E</a:t>
            </a:r>
            <a:r>
              <a:rPr lang="en-US" altLang="zh-CN" sz="2800" baseline="-25000" dirty="0"/>
              <a:t>2</a:t>
            </a:r>
            <a:r>
              <a:rPr lang="en-US" altLang="zh-CN" sz="2800" dirty="0">
                <a:sym typeface="Wingdings" panose="05000000000000000000" pitchFamily="2" charset="2"/>
              </a:rPr>
              <a:t></a:t>
            </a:r>
            <a:endParaRPr lang="en-US" altLang="zh-CN" sz="2800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计算</a:t>
            </a:r>
            <a:r>
              <a:rPr lang="en-US" altLang="zh-CN" sz="2400" dirty="0"/>
              <a:t>E</a:t>
            </a:r>
            <a:r>
              <a:rPr lang="en-US" altLang="zh-CN" sz="2400" baseline="-25000" dirty="0"/>
              <a:t>1</a:t>
            </a:r>
            <a:r>
              <a:rPr lang="en-US" altLang="zh-CN" sz="2400" dirty="0">
                <a:sym typeface="Wingdings" panose="05000000000000000000" pitchFamily="2" charset="2"/>
              </a:rPr>
              <a:t>t</a:t>
            </a:r>
            <a:r>
              <a:rPr lang="en-US" altLang="zh-CN" sz="2400" baseline="-25000" dirty="0">
                <a:sym typeface="Wingdings" panose="05000000000000000000" pitchFamily="2" charset="2"/>
              </a:rPr>
              <a:t>1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zh-CN" altLang="en-US" sz="2400" dirty="0"/>
              <a:t>计算</a:t>
            </a:r>
            <a:r>
              <a:rPr lang="en-US" altLang="zh-CN" sz="2400" dirty="0"/>
              <a:t>E</a:t>
            </a:r>
            <a:r>
              <a:rPr lang="en-US" altLang="zh-CN" sz="2400" baseline="-25000" dirty="0"/>
              <a:t>2</a:t>
            </a:r>
            <a:r>
              <a:rPr lang="en-US" altLang="zh-CN" sz="2400" dirty="0">
                <a:sym typeface="Wingdings" panose="05000000000000000000" pitchFamily="2" charset="2"/>
              </a:rPr>
              <a:t>t</a:t>
            </a:r>
            <a:r>
              <a:rPr lang="en-US" altLang="zh-CN" sz="2400" baseline="-25000" dirty="0">
                <a:sym typeface="Wingdings" panose="05000000000000000000" pitchFamily="2" charset="2"/>
              </a:rPr>
              <a:t>2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ym typeface="Wingdings" panose="05000000000000000000" pitchFamily="2" charset="2"/>
              </a:rPr>
              <a:t>t</a:t>
            </a:r>
            <a:r>
              <a:rPr lang="en-US" altLang="zh-CN" sz="2400" baseline="-25000" dirty="0">
                <a:sym typeface="Wingdings" panose="05000000000000000000" pitchFamily="2" charset="2"/>
              </a:rPr>
              <a:t>3</a:t>
            </a:r>
            <a:r>
              <a:rPr lang="en-US" altLang="zh-CN" sz="2400" dirty="0">
                <a:sym typeface="Wingdings" panose="05000000000000000000" pitchFamily="2" charset="2"/>
              </a:rPr>
              <a:t> = t</a:t>
            </a:r>
            <a:r>
              <a:rPr lang="en-US" altLang="zh-CN" sz="2400" baseline="-25000" dirty="0">
                <a:sym typeface="Wingdings" panose="05000000000000000000" pitchFamily="2" charset="2"/>
              </a:rPr>
              <a:t>1</a:t>
            </a:r>
            <a:r>
              <a:rPr lang="en-US" altLang="zh-CN" sz="2400" dirty="0">
                <a:sym typeface="Wingdings" panose="05000000000000000000" pitchFamily="2" charset="2"/>
              </a:rPr>
              <a:t> + t</a:t>
            </a:r>
            <a:r>
              <a:rPr lang="en-US" altLang="zh-CN" sz="2400" baseline="-25000" dirty="0">
                <a:sym typeface="Wingdings" panose="05000000000000000000" pitchFamily="2" charset="2"/>
              </a:rPr>
              <a:t>2</a:t>
            </a:r>
            <a:endParaRPr lang="en-US" altLang="zh-CN" sz="2400" dirty="0">
              <a:sym typeface="Wingdings" panose="05000000000000000000" pitchFamily="2" charset="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CE2CE40-0AC6-4781-A65E-DEADEFAC05EB}"/>
              </a:ext>
            </a:extLst>
          </p:cNvPr>
          <p:cNvSpPr txBox="1"/>
          <p:nvPr/>
        </p:nvSpPr>
        <p:spPr>
          <a:xfrm>
            <a:off x="3851920" y="5537537"/>
            <a:ext cx="523607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FF0000"/>
                </a:solidFill>
                <a:sym typeface="Wingdings" panose="05000000000000000000" pitchFamily="2" charset="2"/>
              </a:rPr>
              <a:t>t</a:t>
            </a:r>
            <a:r>
              <a:rPr lang="en-US" altLang="zh-CN" sz="2000" baseline="-25000" dirty="0">
                <a:solidFill>
                  <a:srgbClr val="FF0000"/>
                </a:solidFill>
                <a:sym typeface="Wingdings" panose="05000000000000000000" pitchFamily="2" charset="2"/>
              </a:rPr>
              <a:t>1 </a:t>
            </a:r>
            <a:r>
              <a:rPr lang="zh-CN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sym typeface="Wingdings" panose="05000000000000000000" pitchFamily="2" charset="2"/>
              </a:rPr>
              <a:t>t</a:t>
            </a:r>
            <a:r>
              <a:rPr lang="en-US" altLang="zh-CN" sz="2000" baseline="-25000" dirty="0">
                <a:solidFill>
                  <a:srgbClr val="FF0000"/>
                </a:solidFill>
                <a:sym typeface="Wingdings" panose="05000000000000000000" pitchFamily="2" charset="2"/>
              </a:rPr>
              <a:t>2</a:t>
            </a:r>
            <a:r>
              <a:rPr lang="zh-CN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生存周期结束！</a:t>
            </a:r>
            <a:r>
              <a:rPr lang="en-US" altLang="zh-CN" sz="2000" dirty="0">
                <a:solidFill>
                  <a:srgbClr val="FF0000"/>
                </a:solidFill>
                <a:sym typeface="Wingdings" panose="05000000000000000000" pitchFamily="2" charset="2"/>
              </a:rPr>
              <a:t>——</a:t>
            </a:r>
            <a:r>
              <a:rPr lang="zh-CN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孩子节点、子表达式、运算对象</a:t>
            </a:r>
            <a:endParaRPr lang="en-US" altLang="zh-CN" sz="20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0" lvl="1" eaLnBrk="1" hangingPunct="1">
              <a:buFont typeface="Wingdings" panose="05000000000000000000" pitchFamily="2" charset="2"/>
              <a:buNone/>
            </a:pPr>
            <a:r>
              <a:rPr lang="en-US" altLang="zh-CN" sz="2000" dirty="0">
                <a:solidFill>
                  <a:srgbClr val="FF0000"/>
                </a:solidFill>
                <a:sym typeface="Wingdings" panose="05000000000000000000" pitchFamily="2" charset="2"/>
              </a:rPr>
              <a:t>t</a:t>
            </a:r>
            <a:r>
              <a:rPr lang="en-US" altLang="zh-CN" sz="2000" baseline="-25000" dirty="0">
                <a:solidFill>
                  <a:srgbClr val="FF0000"/>
                </a:solidFill>
                <a:sym typeface="Wingdings" panose="05000000000000000000" pitchFamily="2" charset="2"/>
              </a:rPr>
              <a:t>3</a:t>
            </a:r>
            <a:r>
              <a:rPr lang="zh-CN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 生存周期开始！</a:t>
            </a:r>
            <a:r>
              <a:rPr lang="en-US" altLang="zh-CN" sz="2000" dirty="0">
                <a:solidFill>
                  <a:srgbClr val="FF0000"/>
                </a:solidFill>
                <a:sym typeface="Wingdings" panose="05000000000000000000" pitchFamily="2" charset="2"/>
              </a:rPr>
              <a:t>——</a:t>
            </a:r>
            <a:r>
              <a:rPr lang="zh-CN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父节点、运算结果</a:t>
            </a:r>
            <a:endParaRPr lang="en-US" altLang="zh-CN" sz="2000" dirty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CE123302-72D1-4C92-B34E-119CAEB421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重用算法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880C5D75-D395-40B4-B744-2E3B554263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观察不同临时名字生存周期间的关系</a:t>
            </a:r>
          </a:p>
          <a:p>
            <a:pPr eaLnBrk="1" hangingPunct="1"/>
            <a:r>
              <a:rPr lang="zh-CN" altLang="en-US" sz="2800" dirty="0">
                <a:solidFill>
                  <a:srgbClr val="FF0000"/>
                </a:solidFill>
                <a:sym typeface="Wingdings" panose="05000000000000000000" pitchFamily="2" charset="2"/>
              </a:rPr>
              <a:t>嵌套、前后，但不会交叉！</a:t>
            </a:r>
            <a:endParaRPr lang="en-US" altLang="zh-CN" sz="28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eaLnBrk="1" hangingPunct="1"/>
            <a:r>
              <a:rPr lang="en-US" altLang="zh-CN" sz="2800" dirty="0">
                <a:solidFill>
                  <a:srgbClr val="FF0000"/>
                </a:solidFill>
                <a:sym typeface="Wingdings" panose="05000000000000000000" pitchFamily="2" charset="2"/>
              </a:rPr>
              <a:t></a:t>
            </a:r>
            <a:r>
              <a:rPr lang="zh-CN" altLang="en-US" sz="2800" dirty="0">
                <a:solidFill>
                  <a:srgbClr val="FF0000"/>
                </a:solidFill>
                <a:sym typeface="Wingdings" panose="05000000000000000000" pitchFamily="2" charset="2"/>
              </a:rPr>
              <a:t>栈！</a:t>
            </a:r>
            <a:endParaRPr lang="en-US" altLang="zh-CN" sz="28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sz="2800" dirty="0">
                <a:sym typeface="Wingdings" panose="05000000000000000000" pitchFamily="2" charset="2"/>
              </a:rPr>
              <a:t>产生式翻译：</a:t>
            </a:r>
            <a:br>
              <a:rPr lang="en-US" altLang="zh-CN" sz="2800" dirty="0">
                <a:sym typeface="Wingdings" panose="05000000000000000000" pitchFamily="2" charset="2"/>
              </a:rPr>
            </a:br>
            <a:r>
              <a:rPr lang="zh-CN" altLang="en-US" sz="2800" dirty="0">
                <a:sym typeface="Wingdings" panose="05000000000000000000" pitchFamily="2" charset="2"/>
              </a:rPr>
              <a:t>孩子节点临时变量弹出栈、归还临时名字池</a:t>
            </a:r>
            <a:br>
              <a:rPr lang="en-US" altLang="zh-CN" sz="2800" dirty="0">
                <a:sym typeface="Wingdings" panose="05000000000000000000" pitchFamily="2" charset="2"/>
              </a:rPr>
            </a:br>
            <a:r>
              <a:rPr lang="zh-CN" altLang="en-US" sz="2800" dirty="0">
                <a:sym typeface="Wingdings" panose="05000000000000000000" pitchFamily="2" charset="2"/>
              </a:rPr>
              <a:t>父节点从池中分配临时名字、压栈</a:t>
            </a:r>
          </a:p>
          <a:p>
            <a:pPr eaLnBrk="1" hangingPunct="1"/>
            <a:r>
              <a:rPr lang="zh-CN" altLang="en-US" sz="2800" dirty="0">
                <a:sym typeface="Wingdings" panose="05000000000000000000" pitchFamily="2" charset="2"/>
              </a:rPr>
              <a:t>不显式使用栈</a:t>
            </a:r>
            <a:r>
              <a:rPr lang="en-US" altLang="zh-CN" sz="2800" dirty="0">
                <a:sym typeface="Wingdings" panose="05000000000000000000" pitchFamily="2" charset="2"/>
              </a:rPr>
              <a:t>——</a:t>
            </a:r>
            <a:r>
              <a:rPr lang="zh-CN" altLang="en-US" sz="2800" dirty="0">
                <a:sym typeface="Wingdings" panose="05000000000000000000" pitchFamily="2" charset="2"/>
              </a:rPr>
              <a:t>计数器</a:t>
            </a:r>
            <a:r>
              <a:rPr lang="en-US" altLang="zh-CN" sz="2800" dirty="0">
                <a:sym typeface="Wingdings" panose="05000000000000000000" pitchFamily="2" charset="2"/>
              </a:rPr>
              <a:t>c</a:t>
            </a:r>
            <a:r>
              <a:rPr lang="zh-CN" altLang="en-US" sz="2800" dirty="0">
                <a:sym typeface="Wingdings" panose="05000000000000000000" pitchFamily="2" charset="2"/>
              </a:rPr>
              <a:t>，初始为</a:t>
            </a:r>
            <a:r>
              <a:rPr lang="en-US" altLang="zh-CN" sz="2800" dirty="0">
                <a:sym typeface="Wingdings" panose="05000000000000000000" pitchFamily="2" charset="2"/>
              </a:rPr>
              <a:t>0</a:t>
            </a:r>
          </a:p>
          <a:p>
            <a:pPr lvl="1" eaLnBrk="1" hangingPunct="1"/>
            <a:r>
              <a:rPr lang="zh-CN" altLang="en-US" sz="2400" dirty="0">
                <a:sym typeface="Wingdings" panose="05000000000000000000" pitchFamily="2" charset="2"/>
              </a:rPr>
              <a:t>临时名字作为运算对象使用：</a:t>
            </a:r>
            <a:r>
              <a:rPr lang="en-US" altLang="zh-CN" sz="2400" dirty="0">
                <a:sym typeface="Wingdings" panose="05000000000000000000" pitchFamily="2" charset="2"/>
              </a:rPr>
              <a:t>c--</a:t>
            </a:r>
          </a:p>
          <a:p>
            <a:pPr lvl="1" eaLnBrk="1" hangingPunct="1"/>
            <a:r>
              <a:rPr lang="zh-CN" altLang="en-US" sz="2400" dirty="0">
                <a:sym typeface="Wingdings" panose="05000000000000000000" pitchFamily="2" charset="2"/>
              </a:rPr>
              <a:t>生成新的临时名字：</a:t>
            </a:r>
            <a:r>
              <a:rPr lang="en-US" altLang="zh-CN" sz="2400" dirty="0">
                <a:sym typeface="Wingdings" panose="05000000000000000000" pitchFamily="2" charset="2"/>
              </a:rPr>
              <a:t>$c</a:t>
            </a:r>
            <a:r>
              <a:rPr lang="zh-CN" altLang="en-US" sz="2400" dirty="0">
                <a:sym typeface="Wingdings" panose="05000000000000000000" pitchFamily="2" charset="2"/>
              </a:rPr>
              <a:t>，</a:t>
            </a:r>
            <a:r>
              <a:rPr lang="en-US" altLang="zh-CN" sz="2400" dirty="0" err="1">
                <a:sym typeface="Wingdings" panose="05000000000000000000" pitchFamily="2" charset="2"/>
              </a:rPr>
              <a:t>c++</a:t>
            </a:r>
            <a:endParaRPr lang="en-US" altLang="zh-CN" sz="24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170803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8E05B0E2-330B-411D-BA1A-2E016DF2E9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8.1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D6AE15FF-195D-4855-9670-87CA795A97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x = a * b + c * d – e * f</a:t>
            </a:r>
          </a:p>
          <a:p>
            <a:pPr eaLnBrk="1" hangingPunct="1"/>
            <a:endParaRPr lang="en-US" altLang="zh-CN"/>
          </a:p>
        </p:txBody>
      </p:sp>
      <p:pic>
        <p:nvPicPr>
          <p:cNvPr id="24580" name="Picture 4" descr="reuse">
            <a:extLst>
              <a:ext uri="{FF2B5EF4-FFF2-40B4-BE49-F238E27FC236}">
                <a16:creationId xmlns:a16="http://schemas.microsoft.com/office/drawing/2014/main" id="{BB3788C2-430F-4C76-ABCC-B529194247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981200"/>
            <a:ext cx="3048000" cy="353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Text Box 5">
            <a:extLst>
              <a:ext uri="{FF2B5EF4-FFF2-40B4-BE49-F238E27FC236}">
                <a16:creationId xmlns:a16="http://schemas.microsoft.com/office/drawing/2014/main" id="{BB52B468-15A1-4ED1-8AE6-0B84970ED7BF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228600" y="2819400"/>
            <a:ext cx="28956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3300"/>
                </a:solidFill>
              </a:rPr>
              <a:t>$0, $1</a:t>
            </a:r>
            <a:r>
              <a:rPr lang="zh-CN" altLang="en-US" sz="2000">
                <a:solidFill>
                  <a:srgbClr val="FF3300"/>
                </a:solidFill>
              </a:rPr>
              <a:t>为运算对象，</a:t>
            </a:r>
            <a:r>
              <a:rPr lang="en-US" altLang="zh-CN" sz="2000">
                <a:solidFill>
                  <a:srgbClr val="FF3300"/>
                </a:solidFill>
              </a:rPr>
              <a:t>c</a:t>
            </a:r>
            <a:r>
              <a:rPr lang="zh-CN" altLang="en-US" sz="2000">
                <a:solidFill>
                  <a:srgbClr val="FF3300"/>
                </a:solidFill>
              </a:rPr>
              <a:t>减</a:t>
            </a:r>
            <a:r>
              <a:rPr lang="en-US" altLang="zh-CN" sz="2000">
                <a:solidFill>
                  <a:srgbClr val="FF3300"/>
                </a:solidFill>
              </a:rPr>
              <a:t>2</a:t>
            </a:r>
            <a:r>
              <a:rPr lang="zh-CN" altLang="en-US" sz="2000">
                <a:solidFill>
                  <a:srgbClr val="FF3300"/>
                </a:solidFill>
              </a:rPr>
              <a:t>，变为</a:t>
            </a:r>
            <a:r>
              <a:rPr lang="en-US" altLang="zh-CN" sz="2000">
                <a:solidFill>
                  <a:srgbClr val="FF3300"/>
                </a:solidFill>
              </a:rPr>
              <a:t>0</a:t>
            </a:r>
            <a:r>
              <a:rPr lang="en-US" altLang="zh-CN" sz="2000">
                <a:solidFill>
                  <a:srgbClr val="FF3300"/>
                </a:solidFill>
                <a:sym typeface="Wingdings" panose="05000000000000000000" pitchFamily="2" charset="2"/>
              </a:rPr>
              <a:t></a:t>
            </a:r>
            <a:r>
              <a:rPr lang="zh-CN" altLang="en-US" sz="2000">
                <a:solidFill>
                  <a:srgbClr val="FF3300"/>
                </a:solidFill>
                <a:sym typeface="Wingdings" panose="05000000000000000000" pitchFamily="2" charset="2"/>
              </a:rPr>
              <a:t>结果又保存在</a:t>
            </a:r>
            <a:r>
              <a:rPr lang="en-US" altLang="zh-CN" sz="2000">
                <a:solidFill>
                  <a:srgbClr val="FF3300"/>
                </a:solidFill>
                <a:sym typeface="Wingdings" panose="05000000000000000000" pitchFamily="2" charset="2"/>
              </a:rPr>
              <a:t>$0</a:t>
            </a:r>
            <a:endParaRPr lang="en-US" altLang="zh-CN" sz="2000">
              <a:solidFill>
                <a:srgbClr val="FF3300"/>
              </a:solidFill>
            </a:endParaRPr>
          </a:p>
        </p:txBody>
      </p:sp>
      <p:sp>
        <p:nvSpPr>
          <p:cNvPr id="24582" name="Line 6">
            <a:extLst>
              <a:ext uri="{FF2B5EF4-FFF2-40B4-BE49-F238E27FC236}">
                <a16:creationId xmlns:a16="http://schemas.microsoft.com/office/drawing/2014/main" id="{CD512ABC-A11F-44BE-80A6-B6415F84BDF0}"/>
              </a:ext>
            </a:extLst>
          </p:cNvPr>
          <p:cNvSpPr>
            <a:spLocks noChangeShapeType="1"/>
          </p:cNvSpPr>
          <p:nvPr/>
        </p:nvSpPr>
        <p:spPr bwMode="ltGray">
          <a:xfrm>
            <a:off x="1981200" y="3429000"/>
            <a:ext cx="1371600" cy="533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407E0EAF-A4C2-4B6E-95BC-8FECA8986A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8.3.3  </a:t>
            </a:r>
            <a:r>
              <a:rPr lang="zh-CN" altLang="en-US"/>
              <a:t>数组元素寻址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35D705AD-3E26-4D46-A5A2-430BCD5CE9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0600" y="1371600"/>
            <a:ext cx="7964488" cy="4724400"/>
          </a:xfrm>
        </p:spPr>
        <p:txBody>
          <a:bodyPr/>
          <a:lstStyle/>
          <a:p>
            <a:pPr eaLnBrk="1" hangingPunct="1"/>
            <a:r>
              <a:rPr lang="zh-CN" altLang="en-US" sz="2800"/>
              <a:t>一维数组</a:t>
            </a:r>
          </a:p>
          <a:p>
            <a:pPr lvl="1" eaLnBrk="1" hangingPunct="1"/>
            <a:r>
              <a:rPr lang="en-US" altLang="zh-CN" sz="2400"/>
              <a:t>type A[low..high];</a:t>
            </a:r>
          </a:p>
          <a:p>
            <a:pPr lvl="1" eaLnBrk="1" hangingPunct="1"/>
            <a:r>
              <a:rPr lang="zh-CN" altLang="en-US" sz="2400"/>
              <a:t>计算</a:t>
            </a:r>
            <a:r>
              <a:rPr lang="en-US" altLang="zh-CN" sz="2400"/>
              <a:t>A[i]</a:t>
            </a:r>
            <a:r>
              <a:rPr lang="zh-CN" altLang="en-US" sz="2400"/>
              <a:t>的地址</a:t>
            </a:r>
          </a:p>
          <a:p>
            <a:pPr lvl="2" eaLnBrk="1" hangingPunct="1"/>
            <a:r>
              <a:rPr lang="en-US" altLang="zh-CN" sz="2000"/>
              <a:t>A</a:t>
            </a:r>
            <a:r>
              <a:rPr lang="zh-CN" altLang="en-US" sz="2000"/>
              <a:t>的起始地址</a:t>
            </a:r>
            <a:r>
              <a:rPr lang="en-US" altLang="zh-CN" sz="2000"/>
              <a:t>——base</a:t>
            </a:r>
          </a:p>
          <a:p>
            <a:pPr lvl="2" eaLnBrk="1" hangingPunct="1"/>
            <a:r>
              <a:rPr lang="zh-CN" altLang="en-US" sz="2000"/>
              <a:t>数组元素大小</a:t>
            </a:r>
            <a:r>
              <a:rPr lang="en-US" altLang="zh-CN" sz="2000"/>
              <a:t>——w</a:t>
            </a:r>
          </a:p>
          <a:p>
            <a:pPr lvl="2" eaLnBrk="1" hangingPunct="1"/>
            <a:r>
              <a:rPr lang="en-US" altLang="zh-CN" sz="2000"/>
              <a:t>A[i]</a:t>
            </a:r>
            <a:r>
              <a:rPr lang="zh-CN" altLang="en-US" sz="2000"/>
              <a:t>与</a:t>
            </a:r>
            <a:r>
              <a:rPr lang="en-US" altLang="zh-CN" sz="2000"/>
              <a:t>A</a:t>
            </a:r>
            <a:r>
              <a:rPr lang="zh-CN" altLang="en-US" sz="2000"/>
              <a:t>起始位置的“距离”</a:t>
            </a:r>
            <a:r>
              <a:rPr lang="en-US" altLang="zh-CN" sz="2000"/>
              <a:t>——(i – low) * w</a:t>
            </a:r>
          </a:p>
          <a:p>
            <a:pPr lvl="2" eaLnBrk="1" hangingPunct="1"/>
            <a:r>
              <a:rPr lang="zh-CN" altLang="en-US" sz="2000"/>
              <a:t>最终结果：</a:t>
            </a:r>
            <a:r>
              <a:rPr lang="en-US" altLang="zh-CN" sz="2000"/>
              <a:t>base + (i – low) * w</a:t>
            </a:r>
            <a:br>
              <a:rPr lang="en-US" altLang="zh-CN" sz="2000"/>
            </a:br>
            <a:r>
              <a:rPr lang="en-US" altLang="zh-CN" sz="2000">
                <a:sym typeface="Wingdings" panose="05000000000000000000" pitchFamily="2" charset="2"/>
              </a:rPr>
              <a:t> i * w + (base – low * w)</a:t>
            </a:r>
          </a:p>
          <a:p>
            <a:pPr lvl="2" eaLnBrk="1" hangingPunct="1"/>
            <a:r>
              <a:rPr lang="en-US" altLang="zh-CN" sz="2000">
                <a:sym typeface="Wingdings" panose="05000000000000000000" pitchFamily="2" charset="2"/>
              </a:rPr>
              <a:t>(base – low * w)</a:t>
            </a:r>
            <a:r>
              <a:rPr lang="zh-CN" altLang="en-US" sz="2000">
                <a:sym typeface="Wingdings" panose="05000000000000000000" pitchFamily="2" charset="2"/>
              </a:rPr>
              <a:t>为常量，可在编译时计算</a:t>
            </a:r>
          </a:p>
        </p:txBody>
      </p:sp>
      <p:graphicFrame>
        <p:nvGraphicFramePr>
          <p:cNvPr id="536620" name="Group 44">
            <a:extLst>
              <a:ext uri="{FF2B5EF4-FFF2-40B4-BE49-F238E27FC236}">
                <a16:creationId xmlns:a16="http://schemas.microsoft.com/office/drawing/2014/main" id="{410939BC-82FD-49FE-9150-1E75F5EA37FE}"/>
              </a:ext>
            </a:extLst>
          </p:cNvPr>
          <p:cNvGraphicFramePr>
            <a:graphicFrameLocks noGrp="1"/>
          </p:cNvGraphicFramePr>
          <p:nvPr/>
        </p:nvGraphicFramePr>
        <p:xfrm>
          <a:off x="7162800" y="1371600"/>
          <a:ext cx="1600200" cy="23622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271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pitchFamily="2" charset="-122"/>
                        </a:rPr>
                        <a:t>A[i]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51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1" lang="zh-CN" altLang="zh-CN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  <a:ea typeface="宋体" pitchFamily="2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5614" name="Text Box 38">
            <a:extLst>
              <a:ext uri="{FF2B5EF4-FFF2-40B4-BE49-F238E27FC236}">
                <a16:creationId xmlns:a16="http://schemas.microsoft.com/office/drawing/2014/main" id="{3BCB3693-671E-45EA-9B6E-ADEC8C091AAE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5791200" y="12192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base</a:t>
            </a:r>
          </a:p>
        </p:txBody>
      </p:sp>
      <p:sp>
        <p:nvSpPr>
          <p:cNvPr id="25615" name="Line 39">
            <a:extLst>
              <a:ext uri="{FF2B5EF4-FFF2-40B4-BE49-F238E27FC236}">
                <a16:creationId xmlns:a16="http://schemas.microsoft.com/office/drawing/2014/main" id="{F8D32542-D01E-49A8-A734-C21D2BF7B3C1}"/>
              </a:ext>
            </a:extLst>
          </p:cNvPr>
          <p:cNvSpPr>
            <a:spLocks noChangeShapeType="1"/>
          </p:cNvSpPr>
          <p:nvPr/>
        </p:nvSpPr>
        <p:spPr bwMode="ltGray">
          <a:xfrm>
            <a:off x="6477000" y="1371600"/>
            <a:ext cx="609600" cy="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16" name="AutoShape 40">
            <a:extLst>
              <a:ext uri="{FF2B5EF4-FFF2-40B4-BE49-F238E27FC236}">
                <a16:creationId xmlns:a16="http://schemas.microsoft.com/office/drawing/2014/main" id="{26A8295F-1A1C-4EC4-B013-E8577697295F}"/>
              </a:ext>
            </a:extLst>
          </p:cNvPr>
          <p:cNvSpPr>
            <a:spLocks/>
          </p:cNvSpPr>
          <p:nvPr/>
        </p:nvSpPr>
        <p:spPr bwMode="ltGray">
          <a:xfrm>
            <a:off x="6705600" y="1371600"/>
            <a:ext cx="381000" cy="1219200"/>
          </a:xfrm>
          <a:prstGeom prst="leftBrace">
            <a:avLst>
              <a:gd name="adj1" fmla="val 26667"/>
              <a:gd name="adj2" fmla="val 51282"/>
            </a:avLst>
          </a:prstGeom>
          <a:noFill/>
          <a:ln w="254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25617" name="Text Box 41">
            <a:extLst>
              <a:ext uri="{FF2B5EF4-FFF2-40B4-BE49-F238E27FC236}">
                <a16:creationId xmlns:a16="http://schemas.microsoft.com/office/drawing/2014/main" id="{77A8EC72-C042-4012-BF92-570E48649206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5257800" y="1752600"/>
            <a:ext cx="1524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(i – low) * w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1D4706B-608A-4A03-B9A2-1C7F088A92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数组元素寻址（续）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9F091827-BDA7-44C9-8002-034BBD079C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371600"/>
            <a:ext cx="7010400" cy="5486400"/>
          </a:xfrm>
        </p:spPr>
        <p:txBody>
          <a:bodyPr/>
          <a:lstStyle/>
          <a:p>
            <a:pPr eaLnBrk="1" hangingPunct="1"/>
            <a:r>
              <a:rPr lang="zh-CN" altLang="en-US" sz="2800"/>
              <a:t>二维数组：</a:t>
            </a:r>
          </a:p>
          <a:p>
            <a:pPr lvl="1" eaLnBrk="1" hangingPunct="1"/>
            <a:r>
              <a:rPr lang="en-US" altLang="zh-CN" sz="2400"/>
              <a:t>type A[low</a:t>
            </a:r>
            <a:r>
              <a:rPr lang="en-US" altLang="zh-CN" sz="2400" baseline="-25000"/>
              <a:t>1</a:t>
            </a:r>
            <a:r>
              <a:rPr lang="en-US" altLang="zh-CN" sz="2400"/>
              <a:t>..high</a:t>
            </a:r>
            <a:r>
              <a:rPr lang="en-US" altLang="zh-CN" sz="2400" baseline="-25000"/>
              <a:t>1</a:t>
            </a:r>
            <a:r>
              <a:rPr lang="en-US" altLang="zh-CN" sz="2400"/>
              <a:t>, low</a:t>
            </a:r>
            <a:r>
              <a:rPr lang="en-US" altLang="zh-CN" sz="2400" baseline="-25000"/>
              <a:t>2</a:t>
            </a:r>
            <a:r>
              <a:rPr lang="en-US" altLang="zh-CN" sz="2400"/>
              <a:t>..high</a:t>
            </a:r>
            <a:r>
              <a:rPr lang="en-US" altLang="zh-CN" sz="2400" baseline="-25000"/>
              <a:t>2</a:t>
            </a:r>
            <a:r>
              <a:rPr lang="en-US" altLang="zh-CN" sz="2400"/>
              <a:t>]</a:t>
            </a:r>
          </a:p>
          <a:p>
            <a:pPr lvl="1" eaLnBrk="1" hangingPunct="1"/>
            <a:r>
              <a:rPr lang="zh-CN" altLang="en-US" sz="2400"/>
              <a:t>计算</a:t>
            </a:r>
            <a:r>
              <a:rPr lang="en-US" altLang="zh-CN" sz="2400"/>
              <a:t>A[i</a:t>
            </a:r>
            <a:r>
              <a:rPr lang="en-US" altLang="zh-CN" sz="2400" baseline="-25000"/>
              <a:t>1</a:t>
            </a:r>
            <a:r>
              <a:rPr lang="en-US" altLang="zh-CN" sz="2400"/>
              <a:t>, i</a:t>
            </a:r>
            <a:r>
              <a:rPr lang="en-US" altLang="zh-CN" sz="2400" baseline="-25000"/>
              <a:t>2</a:t>
            </a:r>
            <a:r>
              <a:rPr lang="en-US" altLang="zh-CN" sz="2400"/>
              <a:t>]</a:t>
            </a:r>
            <a:r>
              <a:rPr lang="zh-CN" altLang="en-US" sz="2400"/>
              <a:t>地址</a:t>
            </a:r>
          </a:p>
          <a:p>
            <a:pPr lvl="2" eaLnBrk="1" hangingPunct="1"/>
            <a:r>
              <a:rPr lang="zh-CN" altLang="en-US" sz="2000"/>
              <a:t>数组的数组，两次利用一维数组计算方法</a:t>
            </a:r>
          </a:p>
          <a:p>
            <a:pPr lvl="2" eaLnBrk="1" hangingPunct="1"/>
            <a:r>
              <a:rPr lang="zh-CN" altLang="en-US" sz="2000"/>
              <a:t>行：</a:t>
            </a:r>
            <a:r>
              <a:rPr lang="en-US" altLang="zh-CN" sz="2000"/>
              <a:t>n</a:t>
            </a:r>
            <a:r>
              <a:rPr lang="en-US" altLang="zh-CN" sz="2000" baseline="-25000"/>
              <a:t>2</a:t>
            </a:r>
            <a:r>
              <a:rPr lang="en-US" altLang="zh-CN" sz="2000"/>
              <a:t>=high</a:t>
            </a:r>
            <a:r>
              <a:rPr lang="en-US" altLang="zh-CN" sz="2000" baseline="-25000"/>
              <a:t>2</a:t>
            </a:r>
            <a:r>
              <a:rPr lang="en-US" altLang="zh-CN" sz="2000"/>
              <a:t>–low</a:t>
            </a:r>
            <a:r>
              <a:rPr lang="en-US" altLang="zh-CN" sz="2000" baseline="-25000"/>
              <a:t>2</a:t>
            </a:r>
            <a:r>
              <a:rPr lang="en-US" altLang="zh-CN" sz="2000"/>
              <a:t>+1</a:t>
            </a:r>
            <a:r>
              <a:rPr lang="zh-CN" altLang="en-US" sz="2000"/>
              <a:t>个元素的一维数组</a:t>
            </a:r>
            <a:r>
              <a:rPr lang="zh-CN" altLang="en-US" sz="2000">
                <a:sym typeface="Wingdings" panose="05000000000000000000" pitchFamily="2" charset="2"/>
              </a:rPr>
              <a:t>元素</a:t>
            </a:r>
            <a:br>
              <a:rPr lang="zh-CN" altLang="en-US" sz="2000">
                <a:sym typeface="Wingdings" panose="05000000000000000000" pitchFamily="2" charset="2"/>
              </a:rPr>
            </a:br>
            <a:r>
              <a:rPr lang="zh-CN" altLang="en-US" sz="2000">
                <a:sym typeface="Wingdings" panose="05000000000000000000" pitchFamily="2" charset="2"/>
              </a:rPr>
              <a:t>二维数组：</a:t>
            </a:r>
            <a:r>
              <a:rPr lang="en-US" altLang="zh-CN" sz="2000">
                <a:sym typeface="Wingdings" panose="05000000000000000000" pitchFamily="2" charset="2"/>
              </a:rPr>
              <a:t>n</a:t>
            </a:r>
            <a:r>
              <a:rPr lang="en-US" altLang="zh-CN" sz="2000" baseline="-25000">
                <a:sym typeface="Wingdings" panose="05000000000000000000" pitchFamily="2" charset="2"/>
              </a:rPr>
              <a:t>1</a:t>
            </a:r>
            <a:r>
              <a:rPr lang="en-US" altLang="zh-CN" sz="2000">
                <a:sym typeface="Wingdings" panose="05000000000000000000" pitchFamily="2" charset="2"/>
              </a:rPr>
              <a:t>=high</a:t>
            </a:r>
            <a:r>
              <a:rPr lang="en-US" altLang="zh-CN" sz="2000" baseline="-25000">
                <a:sym typeface="Wingdings" panose="05000000000000000000" pitchFamily="2" charset="2"/>
              </a:rPr>
              <a:t>1</a:t>
            </a:r>
            <a:r>
              <a:rPr lang="en-US" altLang="zh-CN" sz="2000">
                <a:sym typeface="Wingdings" panose="05000000000000000000" pitchFamily="2" charset="2"/>
              </a:rPr>
              <a:t>-low</a:t>
            </a:r>
            <a:r>
              <a:rPr lang="en-US" altLang="zh-CN" sz="2000" baseline="-25000">
                <a:sym typeface="Wingdings" panose="05000000000000000000" pitchFamily="2" charset="2"/>
              </a:rPr>
              <a:t>1</a:t>
            </a:r>
            <a:r>
              <a:rPr lang="en-US" altLang="zh-CN" sz="2000">
                <a:sym typeface="Wingdings" panose="05000000000000000000" pitchFamily="2" charset="2"/>
              </a:rPr>
              <a:t>+1</a:t>
            </a:r>
            <a:r>
              <a:rPr lang="zh-CN" altLang="en-US" sz="2000">
                <a:sym typeface="Wingdings" panose="05000000000000000000" pitchFamily="2" charset="2"/>
              </a:rPr>
              <a:t>个“行”的一维数组</a:t>
            </a:r>
            <a:endParaRPr lang="zh-CN" altLang="en-US" sz="2000"/>
          </a:p>
          <a:p>
            <a:pPr lvl="2" eaLnBrk="1" hangingPunct="1"/>
            <a:r>
              <a:rPr lang="en-US" altLang="zh-CN" sz="2000"/>
              <a:t>i</a:t>
            </a:r>
            <a:r>
              <a:rPr lang="en-US" altLang="zh-CN" sz="2000" baseline="-25000"/>
              <a:t>1</a:t>
            </a:r>
            <a:r>
              <a:rPr lang="zh-CN" altLang="en-US" sz="2000"/>
              <a:t>行的位置 </a:t>
            </a:r>
            <a:r>
              <a:rPr lang="en-US" altLang="zh-CN" sz="2000"/>
              <a:t>(i</a:t>
            </a:r>
            <a:r>
              <a:rPr lang="en-US" altLang="zh-CN" sz="2000" baseline="-25000"/>
              <a:t>1 </a:t>
            </a:r>
            <a:r>
              <a:rPr lang="en-US" altLang="zh-CN" sz="2000"/>
              <a:t>- low</a:t>
            </a:r>
            <a:r>
              <a:rPr lang="en-US" altLang="zh-CN" sz="2000" baseline="-25000"/>
              <a:t>1</a:t>
            </a:r>
            <a:r>
              <a:rPr lang="en-US" altLang="zh-CN" sz="2000"/>
              <a:t>) * n</a:t>
            </a:r>
            <a:r>
              <a:rPr lang="en-US" altLang="zh-CN" sz="2000" baseline="-25000"/>
              <a:t>2</a:t>
            </a:r>
            <a:endParaRPr lang="en-US" altLang="zh-CN" sz="2000"/>
          </a:p>
          <a:p>
            <a:pPr lvl="2" eaLnBrk="1" hangingPunct="1"/>
            <a:r>
              <a:rPr lang="en-US" altLang="zh-CN" sz="2000"/>
              <a:t>A[i</a:t>
            </a:r>
            <a:r>
              <a:rPr lang="en-US" altLang="zh-CN" sz="2000" baseline="-25000"/>
              <a:t>1</a:t>
            </a:r>
            <a:r>
              <a:rPr lang="en-US" altLang="zh-CN" sz="2000"/>
              <a:t>, i</a:t>
            </a:r>
            <a:r>
              <a:rPr lang="en-US" altLang="zh-CN" sz="2000" baseline="-25000"/>
              <a:t>2</a:t>
            </a:r>
            <a:r>
              <a:rPr lang="en-US" altLang="zh-CN" sz="2000"/>
              <a:t>]</a:t>
            </a:r>
            <a:r>
              <a:rPr lang="zh-CN" altLang="en-US" sz="2000"/>
              <a:t>距行开始位置的距离：</a:t>
            </a:r>
            <a:r>
              <a:rPr lang="en-US" altLang="zh-CN" sz="2000"/>
              <a:t>i</a:t>
            </a:r>
            <a:r>
              <a:rPr lang="en-US" altLang="zh-CN" sz="2000" baseline="-25000"/>
              <a:t>2</a:t>
            </a:r>
            <a:r>
              <a:rPr lang="en-US" altLang="zh-CN" sz="2000"/>
              <a:t> – low</a:t>
            </a:r>
            <a:r>
              <a:rPr lang="en-US" altLang="zh-CN" sz="2000" baseline="-25000"/>
              <a:t>2</a:t>
            </a:r>
            <a:endParaRPr lang="en-US" altLang="zh-CN" sz="2000"/>
          </a:p>
          <a:p>
            <a:pPr lvl="2" eaLnBrk="1" hangingPunct="1"/>
            <a:r>
              <a:rPr lang="zh-CN" altLang="en-US" sz="2000"/>
              <a:t>最终结果</a:t>
            </a:r>
            <a:r>
              <a:rPr lang="en-US" altLang="zh-CN" sz="2000"/>
              <a:t>base + ((i</a:t>
            </a:r>
            <a:r>
              <a:rPr lang="en-US" altLang="zh-CN" sz="2000" baseline="-25000"/>
              <a:t>1 </a:t>
            </a:r>
            <a:r>
              <a:rPr lang="en-US" altLang="zh-CN" sz="2000"/>
              <a:t>- low</a:t>
            </a:r>
            <a:r>
              <a:rPr lang="en-US" altLang="zh-CN" sz="2000" baseline="-25000"/>
              <a:t>1</a:t>
            </a:r>
            <a:r>
              <a:rPr lang="en-US" altLang="zh-CN" sz="2000"/>
              <a:t>) * n</a:t>
            </a:r>
            <a:r>
              <a:rPr lang="en-US" altLang="zh-CN" sz="2000" baseline="-25000"/>
              <a:t>2</a:t>
            </a:r>
            <a:r>
              <a:rPr lang="en-US" altLang="zh-CN" sz="2000"/>
              <a:t> + i</a:t>
            </a:r>
            <a:r>
              <a:rPr lang="en-US" altLang="zh-CN" sz="2000" baseline="-25000"/>
              <a:t>2</a:t>
            </a:r>
            <a:r>
              <a:rPr lang="en-US" altLang="zh-CN" sz="2000"/>
              <a:t> - low</a:t>
            </a:r>
            <a:r>
              <a:rPr lang="en-US" altLang="zh-CN" sz="2000" baseline="-25000"/>
              <a:t>2</a:t>
            </a:r>
            <a:r>
              <a:rPr lang="en-US" altLang="zh-CN" sz="2000"/>
              <a:t>) * w</a:t>
            </a:r>
            <a:br>
              <a:rPr lang="en-US" altLang="zh-CN" sz="2000"/>
            </a:br>
            <a:r>
              <a:rPr lang="en-US" altLang="zh-CN" sz="2000">
                <a:sym typeface="Wingdings" panose="05000000000000000000" pitchFamily="2" charset="2"/>
              </a:rPr>
              <a:t>((i</a:t>
            </a:r>
            <a:r>
              <a:rPr lang="en-US" altLang="zh-CN" sz="2000" baseline="-25000">
                <a:sym typeface="Wingdings" panose="05000000000000000000" pitchFamily="2" charset="2"/>
              </a:rPr>
              <a:t>1</a:t>
            </a:r>
            <a:r>
              <a:rPr lang="en-US" altLang="zh-CN" sz="2000">
                <a:sym typeface="Wingdings" panose="05000000000000000000" pitchFamily="2" charset="2"/>
              </a:rPr>
              <a:t>*n</a:t>
            </a:r>
            <a:r>
              <a:rPr lang="en-US" altLang="zh-CN" sz="2000" baseline="-25000">
                <a:sym typeface="Wingdings" panose="05000000000000000000" pitchFamily="2" charset="2"/>
              </a:rPr>
              <a:t>2</a:t>
            </a:r>
            <a:r>
              <a:rPr lang="en-US" altLang="zh-CN" sz="2000">
                <a:sym typeface="Wingdings" panose="05000000000000000000" pitchFamily="2" charset="2"/>
              </a:rPr>
              <a:t>) + i</a:t>
            </a:r>
            <a:r>
              <a:rPr lang="en-US" altLang="zh-CN" sz="2000" baseline="-25000">
                <a:sym typeface="Wingdings" panose="05000000000000000000" pitchFamily="2" charset="2"/>
              </a:rPr>
              <a:t>2</a:t>
            </a:r>
            <a:r>
              <a:rPr lang="en-US" altLang="zh-CN" sz="2000">
                <a:sym typeface="Wingdings" panose="05000000000000000000" pitchFamily="2" charset="2"/>
              </a:rPr>
              <a:t>)*w + (base – ((low</a:t>
            </a:r>
            <a:r>
              <a:rPr lang="en-US" altLang="zh-CN" sz="2000" baseline="-25000">
                <a:sym typeface="Wingdings" panose="05000000000000000000" pitchFamily="2" charset="2"/>
              </a:rPr>
              <a:t>1</a:t>
            </a:r>
            <a:r>
              <a:rPr lang="en-US" altLang="zh-CN" sz="2000">
                <a:sym typeface="Wingdings" panose="05000000000000000000" pitchFamily="2" charset="2"/>
              </a:rPr>
              <a:t>*n</a:t>
            </a:r>
            <a:r>
              <a:rPr lang="en-US" altLang="zh-CN" sz="2000" baseline="-25000">
                <a:sym typeface="Wingdings" panose="05000000000000000000" pitchFamily="2" charset="2"/>
              </a:rPr>
              <a:t>2</a:t>
            </a:r>
            <a:r>
              <a:rPr lang="en-US" altLang="zh-CN" sz="2000">
                <a:sym typeface="Wingdings" panose="05000000000000000000" pitchFamily="2" charset="2"/>
              </a:rPr>
              <a:t>) + low</a:t>
            </a:r>
            <a:r>
              <a:rPr lang="en-US" altLang="zh-CN" sz="2000" baseline="-25000">
                <a:sym typeface="Wingdings" panose="05000000000000000000" pitchFamily="2" charset="2"/>
              </a:rPr>
              <a:t>2</a:t>
            </a:r>
            <a:r>
              <a:rPr lang="en-US" altLang="zh-CN" sz="2000">
                <a:sym typeface="Wingdings" panose="05000000000000000000" pitchFamily="2" charset="2"/>
              </a:rPr>
              <a:t>)*w)</a:t>
            </a:r>
          </a:p>
          <a:p>
            <a:pPr lvl="2" eaLnBrk="1" hangingPunct="1"/>
            <a:r>
              <a:rPr lang="en-US" altLang="zh-CN" sz="2000">
                <a:sym typeface="Wingdings" panose="05000000000000000000" pitchFamily="2" charset="2"/>
              </a:rPr>
              <a:t>(base – ((low</a:t>
            </a:r>
            <a:r>
              <a:rPr lang="en-US" altLang="zh-CN" sz="2000" baseline="-25000">
                <a:sym typeface="Wingdings" panose="05000000000000000000" pitchFamily="2" charset="2"/>
              </a:rPr>
              <a:t>1</a:t>
            </a:r>
            <a:r>
              <a:rPr lang="en-US" altLang="zh-CN" sz="2000">
                <a:sym typeface="Wingdings" panose="05000000000000000000" pitchFamily="2" charset="2"/>
              </a:rPr>
              <a:t>*n</a:t>
            </a:r>
            <a:r>
              <a:rPr lang="en-US" altLang="zh-CN" sz="2000" baseline="-25000">
                <a:sym typeface="Wingdings" panose="05000000000000000000" pitchFamily="2" charset="2"/>
              </a:rPr>
              <a:t>2</a:t>
            </a:r>
            <a:r>
              <a:rPr lang="en-US" altLang="zh-CN" sz="2000">
                <a:sym typeface="Wingdings" panose="05000000000000000000" pitchFamily="2" charset="2"/>
              </a:rPr>
              <a:t>) + low</a:t>
            </a:r>
            <a:r>
              <a:rPr lang="en-US" altLang="zh-CN" sz="2000" baseline="-25000">
                <a:sym typeface="Wingdings" panose="05000000000000000000" pitchFamily="2" charset="2"/>
              </a:rPr>
              <a:t>2</a:t>
            </a:r>
            <a:r>
              <a:rPr lang="en-US" altLang="zh-CN" sz="2000">
                <a:sym typeface="Wingdings" panose="05000000000000000000" pitchFamily="2" charset="2"/>
              </a:rPr>
              <a:t>)*w)</a:t>
            </a:r>
            <a:r>
              <a:rPr lang="zh-CN" altLang="en-US" sz="2000">
                <a:sym typeface="Wingdings" panose="05000000000000000000" pitchFamily="2" charset="2"/>
              </a:rPr>
              <a:t>为常量</a:t>
            </a:r>
          </a:p>
        </p:txBody>
      </p:sp>
      <p:graphicFrame>
        <p:nvGraphicFramePr>
          <p:cNvPr id="574512" name="Group 48">
            <a:extLst>
              <a:ext uri="{FF2B5EF4-FFF2-40B4-BE49-F238E27FC236}">
                <a16:creationId xmlns:a16="http://schemas.microsoft.com/office/drawing/2014/main" id="{16A7AA07-3E10-4B4B-991B-EFB5E7B1D2C5}"/>
              </a:ext>
            </a:extLst>
          </p:cNvPr>
          <p:cNvGraphicFramePr>
            <a:graphicFrameLocks noGrp="1"/>
          </p:cNvGraphicFramePr>
          <p:nvPr/>
        </p:nvGraphicFramePr>
        <p:xfrm>
          <a:off x="7543800" y="990600"/>
          <a:ext cx="1447800" cy="3314702"/>
        </p:xfrm>
        <a:graphic>
          <a:graphicData uri="http://schemas.openxmlformats.org/drawingml/2006/table">
            <a:tbl>
              <a:tblPr/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25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pitchFamily="2" charset="-122"/>
                        </a:rPr>
                        <a:t>A[low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pitchFamily="2" charset="-122"/>
                        </a:rPr>
                        <a:t>1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pitchFamily="2" charset="-122"/>
                        </a:rPr>
                        <a:t>, low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pitchFamily="2" charset="-122"/>
                        </a:rPr>
                        <a:t>2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pitchFamily="2" charset="-122"/>
                        </a:rPr>
                        <a:t>]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pitchFamily="2" charset="-122"/>
                        </a:rPr>
                        <a:t>A[low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pitchFamily="2" charset="-122"/>
                        </a:rPr>
                        <a:t>1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pitchFamily="2" charset="-122"/>
                        </a:rPr>
                        <a:t>, high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pitchFamily="2" charset="-122"/>
                        </a:rPr>
                        <a:t>2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pitchFamily="2" charset="-122"/>
                        </a:rPr>
                        <a:t>]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pitchFamily="2" charset="-122"/>
                        </a:rPr>
                        <a:t>A[i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pitchFamily="2" charset="-122"/>
                        </a:rPr>
                        <a:t>1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pitchFamily="2" charset="-122"/>
                        </a:rPr>
                        <a:t>, low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pitchFamily="2" charset="-122"/>
                        </a:rPr>
                        <a:t>2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pitchFamily="2" charset="-122"/>
                        </a:rPr>
                        <a:t>]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5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pitchFamily="2" charset="-122"/>
                        </a:rPr>
                        <a:t>A[i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pitchFamily="2" charset="-122"/>
                        </a:rPr>
                        <a:t>1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pitchFamily="2" charset="-122"/>
                        </a:rPr>
                        <a:t>, i</a:t>
                      </a:r>
                      <a:r>
                        <a:rPr kumimoji="1" lang="en-US" altLang="zh-CN" sz="2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pitchFamily="2" charset="-122"/>
                        </a:rPr>
                        <a:t>2</a:t>
                      </a:r>
                      <a:r>
                        <a:rPr kumimoji="1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pitchFamily="2" charset="-122"/>
                        </a:rPr>
                        <a:t>]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  <a:ea typeface="宋体" pitchFamily="2" charset="-122"/>
                        </a:rPr>
                        <a:t>…</a:t>
                      </a:r>
                    </a:p>
                  </a:txBody>
                  <a:tcPr marL="0" marR="0" marT="0" marB="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648" name="Text Box 43">
            <a:extLst>
              <a:ext uri="{FF2B5EF4-FFF2-40B4-BE49-F238E27FC236}">
                <a16:creationId xmlns:a16="http://schemas.microsoft.com/office/drawing/2014/main" id="{2703F52A-B29D-4C7F-9E4E-CB20CCA5AA8F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6248400" y="838200"/>
            <a:ext cx="91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base</a:t>
            </a:r>
          </a:p>
        </p:txBody>
      </p:sp>
      <p:sp>
        <p:nvSpPr>
          <p:cNvPr id="26649" name="Line 44">
            <a:extLst>
              <a:ext uri="{FF2B5EF4-FFF2-40B4-BE49-F238E27FC236}">
                <a16:creationId xmlns:a16="http://schemas.microsoft.com/office/drawing/2014/main" id="{82A3F8BB-0EE6-436D-BE36-0C235390862C}"/>
              </a:ext>
            </a:extLst>
          </p:cNvPr>
          <p:cNvSpPr>
            <a:spLocks noChangeShapeType="1"/>
          </p:cNvSpPr>
          <p:nvPr/>
        </p:nvSpPr>
        <p:spPr bwMode="ltGray">
          <a:xfrm>
            <a:off x="6934200" y="990600"/>
            <a:ext cx="609600" cy="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650" name="AutoShape 45">
            <a:extLst>
              <a:ext uri="{FF2B5EF4-FFF2-40B4-BE49-F238E27FC236}">
                <a16:creationId xmlns:a16="http://schemas.microsoft.com/office/drawing/2014/main" id="{E85A43F1-BDC4-47C4-8E81-F1E8E1ACD5BC}"/>
              </a:ext>
            </a:extLst>
          </p:cNvPr>
          <p:cNvSpPr>
            <a:spLocks/>
          </p:cNvSpPr>
          <p:nvPr/>
        </p:nvSpPr>
        <p:spPr bwMode="ltGray">
          <a:xfrm>
            <a:off x="7086600" y="990600"/>
            <a:ext cx="381000" cy="1219200"/>
          </a:xfrm>
          <a:prstGeom prst="leftBrace">
            <a:avLst>
              <a:gd name="adj1" fmla="val 26667"/>
              <a:gd name="adj2" fmla="val 51282"/>
            </a:avLst>
          </a:prstGeom>
          <a:noFill/>
          <a:ln w="254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26651" name="Text Box 46">
            <a:extLst>
              <a:ext uri="{FF2B5EF4-FFF2-40B4-BE49-F238E27FC236}">
                <a16:creationId xmlns:a16="http://schemas.microsoft.com/office/drawing/2014/main" id="{F0F02CC8-2108-46A6-9D09-37F688F48538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6324600" y="1371600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/>
              <a:t>n</a:t>
            </a:r>
            <a:r>
              <a:rPr lang="en-US" altLang="zh-CN" sz="2000" baseline="-25000"/>
              <a:t>2</a:t>
            </a:r>
            <a:r>
              <a:rPr lang="en-US" altLang="zh-CN" sz="2000"/>
              <a:t> * w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C6E2EA9E-460F-42AB-B6C2-1A2E4F9080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数组元素寻址（续）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658D5A02-00EC-46EB-AFEF-F3D114FF32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0600" y="1371600"/>
            <a:ext cx="7964488" cy="4724400"/>
          </a:xfrm>
        </p:spPr>
        <p:txBody>
          <a:bodyPr/>
          <a:lstStyle/>
          <a:p>
            <a:pPr eaLnBrk="1" hangingPunct="1"/>
            <a:r>
              <a:rPr lang="zh-CN" altLang="en-US"/>
              <a:t>扩展到多维情况</a:t>
            </a:r>
          </a:p>
          <a:p>
            <a:pPr lvl="1" eaLnBrk="1" hangingPunct="1"/>
            <a:r>
              <a:rPr lang="en-US" altLang="zh-CN"/>
              <a:t>type A[low</a:t>
            </a:r>
            <a:r>
              <a:rPr lang="en-US" altLang="zh-CN" baseline="-25000"/>
              <a:t>1</a:t>
            </a:r>
            <a:r>
              <a:rPr lang="en-US" altLang="zh-CN"/>
              <a:t>..high</a:t>
            </a:r>
            <a:r>
              <a:rPr lang="en-US" altLang="zh-CN" baseline="-25000"/>
              <a:t>1</a:t>
            </a:r>
            <a:r>
              <a:rPr lang="en-US" altLang="zh-CN"/>
              <a:t>, …, low</a:t>
            </a:r>
            <a:r>
              <a:rPr lang="en-US" altLang="zh-CN" baseline="-25000"/>
              <a:t>k</a:t>
            </a:r>
            <a:r>
              <a:rPr lang="en-US" altLang="zh-CN"/>
              <a:t>..high</a:t>
            </a:r>
            <a:r>
              <a:rPr lang="en-US" altLang="zh-CN" baseline="-25000"/>
              <a:t>k</a:t>
            </a:r>
            <a:r>
              <a:rPr lang="en-US" altLang="zh-CN"/>
              <a:t>]</a:t>
            </a:r>
          </a:p>
          <a:p>
            <a:pPr lvl="1" eaLnBrk="1" hangingPunct="1"/>
            <a:r>
              <a:rPr lang="zh-CN" altLang="en-US"/>
              <a:t>计算</a:t>
            </a:r>
            <a:r>
              <a:rPr lang="en-US" altLang="zh-CN"/>
              <a:t>A[i</a:t>
            </a:r>
            <a:r>
              <a:rPr lang="en-US" altLang="zh-CN" baseline="-25000"/>
              <a:t>1</a:t>
            </a:r>
            <a:r>
              <a:rPr lang="en-US" altLang="zh-CN"/>
              <a:t>, i</a:t>
            </a:r>
            <a:r>
              <a:rPr lang="en-US" altLang="zh-CN" baseline="-25000"/>
              <a:t>2</a:t>
            </a:r>
            <a:r>
              <a:rPr lang="en-US" altLang="zh-CN"/>
              <a:t>, …, i</a:t>
            </a:r>
            <a:r>
              <a:rPr lang="en-US" altLang="zh-CN" baseline="-25000"/>
              <a:t>k</a:t>
            </a:r>
            <a:r>
              <a:rPr lang="en-US" altLang="zh-CN"/>
              <a:t>]</a:t>
            </a:r>
            <a:r>
              <a:rPr lang="zh-CN" altLang="en-US"/>
              <a:t>的地址</a:t>
            </a:r>
          </a:p>
          <a:p>
            <a:pPr lvl="1" eaLnBrk="1" hangingPunct="1"/>
            <a:r>
              <a:rPr lang="zh-CN" altLang="en-US"/>
              <a:t>最终结果</a:t>
            </a:r>
          </a:p>
          <a:p>
            <a:pPr lvl="2" eaLnBrk="1" hangingPunct="1"/>
            <a:r>
              <a:rPr lang="en-US" altLang="zh-CN">
                <a:solidFill>
                  <a:schemeClr val="folHlink"/>
                </a:solidFill>
              </a:rPr>
              <a:t>((…((i</a:t>
            </a:r>
            <a:r>
              <a:rPr lang="en-US" altLang="zh-CN" baseline="-25000">
                <a:solidFill>
                  <a:schemeClr val="folHlink"/>
                </a:solidFill>
              </a:rPr>
              <a:t>1</a:t>
            </a:r>
            <a:r>
              <a:rPr lang="en-US" altLang="zh-CN">
                <a:solidFill>
                  <a:schemeClr val="folHlink"/>
                </a:solidFill>
              </a:rPr>
              <a:t>n</a:t>
            </a:r>
            <a:r>
              <a:rPr lang="en-US" altLang="zh-CN" baseline="-25000">
                <a:solidFill>
                  <a:schemeClr val="folHlink"/>
                </a:solidFill>
              </a:rPr>
              <a:t>2 </a:t>
            </a:r>
            <a:r>
              <a:rPr lang="en-US" altLang="zh-CN">
                <a:solidFill>
                  <a:schemeClr val="folHlink"/>
                </a:solidFill>
              </a:rPr>
              <a:t>+ i</a:t>
            </a:r>
            <a:r>
              <a:rPr lang="en-US" altLang="zh-CN" baseline="-25000">
                <a:solidFill>
                  <a:schemeClr val="folHlink"/>
                </a:solidFill>
              </a:rPr>
              <a:t>2</a:t>
            </a:r>
            <a:r>
              <a:rPr lang="en-US" altLang="zh-CN">
                <a:solidFill>
                  <a:schemeClr val="folHlink"/>
                </a:solidFill>
              </a:rPr>
              <a:t>)n</a:t>
            </a:r>
            <a:r>
              <a:rPr lang="en-US" altLang="zh-CN" baseline="-25000">
                <a:solidFill>
                  <a:schemeClr val="folHlink"/>
                </a:solidFill>
              </a:rPr>
              <a:t>3 </a:t>
            </a:r>
            <a:r>
              <a:rPr lang="en-US" altLang="zh-CN">
                <a:solidFill>
                  <a:schemeClr val="folHlink"/>
                </a:solidFill>
              </a:rPr>
              <a:t>+ i</a:t>
            </a:r>
            <a:r>
              <a:rPr lang="en-US" altLang="zh-CN" baseline="-25000">
                <a:solidFill>
                  <a:schemeClr val="folHlink"/>
                </a:solidFill>
              </a:rPr>
              <a:t>3</a:t>
            </a:r>
            <a:r>
              <a:rPr lang="en-US" altLang="zh-CN">
                <a:solidFill>
                  <a:schemeClr val="folHlink"/>
                </a:solidFill>
              </a:rPr>
              <a:t>)…)n</a:t>
            </a:r>
            <a:r>
              <a:rPr lang="en-US" altLang="zh-CN" baseline="-25000">
                <a:solidFill>
                  <a:schemeClr val="folHlink"/>
                </a:solidFill>
              </a:rPr>
              <a:t>k </a:t>
            </a:r>
            <a:r>
              <a:rPr lang="en-US" altLang="zh-CN">
                <a:solidFill>
                  <a:schemeClr val="folHlink"/>
                </a:solidFill>
              </a:rPr>
              <a:t>+ i</a:t>
            </a:r>
            <a:r>
              <a:rPr lang="en-US" altLang="zh-CN" baseline="-25000">
                <a:solidFill>
                  <a:schemeClr val="folHlink"/>
                </a:solidFill>
              </a:rPr>
              <a:t>k</a:t>
            </a:r>
            <a:r>
              <a:rPr lang="en-US" altLang="zh-CN">
                <a:solidFill>
                  <a:schemeClr val="folHlink"/>
                </a:solidFill>
              </a:rPr>
              <a:t>) * w</a:t>
            </a:r>
            <a:r>
              <a:rPr lang="en-US" altLang="zh-CN"/>
              <a:t> + </a:t>
            </a:r>
            <a:br>
              <a:rPr lang="en-US" altLang="zh-CN"/>
            </a:br>
            <a:r>
              <a:rPr lang="en-US" altLang="zh-CN"/>
              <a:t>base– ((…((low</a:t>
            </a:r>
            <a:r>
              <a:rPr lang="en-US" altLang="zh-CN" baseline="-25000"/>
              <a:t>1</a:t>
            </a:r>
            <a:r>
              <a:rPr lang="en-US" altLang="zh-CN"/>
              <a:t>n</a:t>
            </a:r>
            <a:r>
              <a:rPr lang="en-US" altLang="zh-CN" baseline="-25000"/>
              <a:t>2</a:t>
            </a:r>
            <a:r>
              <a:rPr lang="en-US" altLang="zh-CN"/>
              <a:t>+low</a:t>
            </a:r>
            <a:r>
              <a:rPr lang="en-US" altLang="zh-CN" baseline="-25000"/>
              <a:t>2</a:t>
            </a:r>
            <a:r>
              <a:rPr lang="en-US" altLang="zh-CN"/>
              <a:t>)n</a:t>
            </a:r>
            <a:r>
              <a:rPr lang="en-US" altLang="zh-CN" baseline="-25000"/>
              <a:t>3</a:t>
            </a:r>
            <a:r>
              <a:rPr lang="en-US" altLang="zh-CN"/>
              <a:t> + low</a:t>
            </a:r>
            <a:r>
              <a:rPr lang="en-US" altLang="zh-CN" baseline="-25000"/>
              <a:t>3</a:t>
            </a:r>
            <a:r>
              <a:rPr lang="en-US" altLang="zh-CN"/>
              <a:t>)…)n</a:t>
            </a:r>
            <a:r>
              <a:rPr lang="en-US" altLang="zh-CN" baseline="-25000"/>
              <a:t>k</a:t>
            </a:r>
            <a:r>
              <a:rPr lang="en-US" altLang="zh-CN"/>
              <a:t> + low</a:t>
            </a:r>
            <a:r>
              <a:rPr lang="en-US" altLang="zh-CN" baseline="-25000"/>
              <a:t>k</a:t>
            </a:r>
            <a:r>
              <a:rPr lang="en-US" altLang="zh-CN"/>
              <a:t>) * w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FC32F2F4-DB62-4DE2-B09E-AF1C26184E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实现方法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3A0B4BEF-420E-490E-8EC7-951B3731EC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34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err="1"/>
              <a:t>L→</a:t>
            </a:r>
            <a:r>
              <a:rPr lang="en-US" altLang="zh-CN" sz="2800" b="1" dirty="0" err="1"/>
              <a:t>id</a:t>
            </a:r>
            <a:r>
              <a:rPr lang="en-US" altLang="zh-CN" sz="2800" dirty="0"/>
              <a:t> [ </a:t>
            </a:r>
            <a:r>
              <a:rPr lang="en-US" altLang="zh-CN" sz="2800" dirty="0" err="1"/>
              <a:t>Elist</a:t>
            </a:r>
            <a:r>
              <a:rPr lang="en-US" altLang="zh-CN" sz="2800" dirty="0"/>
              <a:t> ] | </a:t>
            </a:r>
            <a:r>
              <a:rPr lang="en-US" altLang="zh-CN" sz="2800" b="1" dirty="0"/>
              <a:t>id</a:t>
            </a:r>
            <a:r>
              <a:rPr lang="en-US" altLang="zh-CN" sz="2800" dirty="0"/>
              <a:t>  </a:t>
            </a:r>
            <a:r>
              <a:rPr lang="en-US" altLang="zh-CN" sz="2800" dirty="0">
                <a:sym typeface="Wingdings" panose="05000000000000000000" pitchFamily="2" charset="2"/>
              </a:rPr>
              <a:t>	L→ </a:t>
            </a:r>
            <a:r>
              <a:rPr lang="en-US" altLang="zh-CN" sz="2800" dirty="0" err="1"/>
              <a:t>Elist</a:t>
            </a:r>
            <a:r>
              <a:rPr lang="en-US" altLang="zh-CN" sz="2800" dirty="0"/>
              <a:t> ] | </a:t>
            </a:r>
            <a:r>
              <a:rPr lang="en-US" altLang="zh-CN" sz="2800" b="1" dirty="0"/>
              <a:t>id</a:t>
            </a:r>
            <a:r>
              <a:rPr lang="en-US" altLang="zh-CN" sz="2800" dirty="0"/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 err="1"/>
              <a:t>Elist→Elist</a:t>
            </a:r>
            <a:r>
              <a:rPr lang="en-US" altLang="zh-CN" sz="2800" dirty="0"/>
              <a:t> , E | E  	</a:t>
            </a:r>
            <a:r>
              <a:rPr lang="en-US" altLang="zh-CN" sz="2800" dirty="0" err="1">
                <a:sym typeface="Wingdings" panose="05000000000000000000" pitchFamily="2" charset="2"/>
              </a:rPr>
              <a:t>Elist→Elist</a:t>
            </a:r>
            <a:r>
              <a:rPr lang="en-US" altLang="zh-CN" sz="2800" dirty="0">
                <a:sym typeface="Wingdings" panose="05000000000000000000" pitchFamily="2" charset="2"/>
              </a:rPr>
              <a:t> , E | </a:t>
            </a:r>
            <a:r>
              <a:rPr lang="en-US" altLang="zh-CN" sz="2800" b="1" dirty="0">
                <a:sym typeface="Wingdings" panose="05000000000000000000" pitchFamily="2" charset="2"/>
              </a:rPr>
              <a:t>id</a:t>
            </a:r>
            <a:r>
              <a:rPr lang="en-US" altLang="zh-CN" sz="2800" dirty="0">
                <a:sym typeface="Wingdings" panose="05000000000000000000" pitchFamily="2" charset="2"/>
              </a:rPr>
              <a:t> [ E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(…((i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n</a:t>
            </a:r>
            <a:r>
              <a:rPr lang="en-US" altLang="zh-CN" sz="2800" baseline="-25000" dirty="0"/>
              <a:t>2 </a:t>
            </a:r>
            <a:r>
              <a:rPr lang="en-US" altLang="zh-CN" sz="2800" dirty="0"/>
              <a:t>+ i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)n</a:t>
            </a:r>
            <a:r>
              <a:rPr lang="en-US" altLang="zh-CN" sz="2800" baseline="-25000" dirty="0"/>
              <a:t>3 </a:t>
            </a:r>
            <a:r>
              <a:rPr lang="en-US" altLang="zh-CN" sz="2800" dirty="0"/>
              <a:t>+ i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)…)</a:t>
            </a:r>
            <a:r>
              <a:rPr lang="en-US" altLang="zh-CN" sz="2800" dirty="0" err="1"/>
              <a:t>n</a:t>
            </a:r>
            <a:r>
              <a:rPr lang="en-US" altLang="zh-CN" sz="2800" baseline="-25000" dirty="0" err="1"/>
              <a:t>k</a:t>
            </a:r>
            <a:r>
              <a:rPr lang="en-US" altLang="zh-CN" sz="2800" baseline="-25000" dirty="0"/>
              <a:t> </a:t>
            </a:r>
            <a:r>
              <a:rPr lang="en-US" altLang="zh-CN" sz="2800" dirty="0"/>
              <a:t>+ </a:t>
            </a:r>
            <a:r>
              <a:rPr lang="en-US" altLang="zh-CN" sz="2800" dirty="0" err="1"/>
              <a:t>i</a:t>
            </a:r>
            <a:r>
              <a:rPr lang="en-US" altLang="zh-CN" sz="2800" baseline="-25000" dirty="0" err="1"/>
              <a:t>k</a:t>
            </a:r>
            <a:r>
              <a:rPr lang="zh-CN" altLang="en-US" sz="2800" dirty="0"/>
              <a:t>的计算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e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=i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，</a:t>
            </a:r>
            <a:r>
              <a:rPr lang="en-US" altLang="zh-CN" sz="2400" dirty="0" err="1"/>
              <a:t>e</a:t>
            </a:r>
            <a:r>
              <a:rPr lang="en-US" altLang="zh-CN" sz="2400" baseline="-25000" dirty="0" err="1"/>
              <a:t>m</a:t>
            </a:r>
            <a:r>
              <a:rPr lang="en-US" altLang="zh-CN" sz="2400" dirty="0"/>
              <a:t>=e</a:t>
            </a:r>
            <a:r>
              <a:rPr lang="en-US" altLang="zh-CN" sz="2400" baseline="-25000" dirty="0"/>
              <a:t>m-1</a:t>
            </a:r>
            <a:r>
              <a:rPr lang="en-US" altLang="zh-CN" sz="2400" dirty="0"/>
              <a:t>*n</a:t>
            </a:r>
            <a:r>
              <a:rPr lang="en-US" altLang="zh-CN" sz="2400" baseline="-25000" dirty="0"/>
              <a:t>m</a:t>
            </a:r>
            <a:r>
              <a:rPr lang="en-US" altLang="zh-CN" sz="2400" dirty="0"/>
              <a:t> + </a:t>
            </a:r>
            <a:r>
              <a:rPr lang="en-US" altLang="zh-CN" sz="2400" dirty="0" err="1"/>
              <a:t>i</a:t>
            </a:r>
            <a:r>
              <a:rPr lang="en-US" altLang="zh-CN" sz="2400" baseline="-25000" dirty="0" err="1"/>
              <a:t>m</a:t>
            </a:r>
            <a:endParaRPr lang="en-US" altLang="zh-CN" sz="2400" dirty="0"/>
          </a:p>
          <a:p>
            <a:pPr eaLnBrk="1" hangingPunct="1"/>
            <a:r>
              <a:rPr lang="en-US" altLang="zh-CN" sz="2800" dirty="0" err="1"/>
              <a:t>Elist.ndim</a:t>
            </a:r>
            <a:r>
              <a:rPr lang="zh-CN" altLang="en-US" sz="2800" dirty="0"/>
              <a:t>：数组维数</a:t>
            </a:r>
          </a:p>
          <a:p>
            <a:pPr eaLnBrk="1" hangingPunct="1"/>
            <a:r>
              <a:rPr lang="en-US" altLang="zh-CN" sz="2800" dirty="0" err="1"/>
              <a:t>Elist.place</a:t>
            </a:r>
            <a:r>
              <a:rPr lang="zh-CN" altLang="en-US" sz="2800" dirty="0"/>
              <a:t>：保存地址计算结果</a:t>
            </a:r>
            <a:r>
              <a:rPr lang="en-US" altLang="zh-CN" sz="2800" dirty="0" err="1"/>
              <a:t>e</a:t>
            </a:r>
            <a:r>
              <a:rPr lang="en-US" altLang="zh-CN" sz="2800" baseline="-25000" dirty="0" err="1"/>
              <a:t>m</a:t>
            </a:r>
            <a:r>
              <a:rPr lang="zh-CN" altLang="en-US" sz="2800" dirty="0"/>
              <a:t>的临时变量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limit(array, m)</a:t>
            </a:r>
            <a:r>
              <a:rPr lang="zh-CN" altLang="en-US" sz="2800" dirty="0"/>
              <a:t>：第</a:t>
            </a:r>
            <a:r>
              <a:rPr lang="en-US" altLang="zh-CN" sz="2800" dirty="0"/>
              <a:t>m</a:t>
            </a:r>
            <a:r>
              <a:rPr lang="zh-CN" altLang="en-US" sz="2800" dirty="0"/>
              <a:t>维的大小，</a:t>
            </a:r>
            <a:r>
              <a:rPr lang="en-US" altLang="zh-CN" sz="2800" dirty="0"/>
              <a:t>n</a:t>
            </a:r>
            <a:r>
              <a:rPr lang="en-US" altLang="zh-CN" sz="2800" baseline="-25000" dirty="0"/>
              <a:t>m</a:t>
            </a:r>
            <a:endParaRPr lang="en-US" altLang="zh-CN" sz="2800" dirty="0"/>
          </a:p>
          <a:p>
            <a:pPr eaLnBrk="1" hangingPunct="1"/>
            <a:r>
              <a:rPr lang="en-US" altLang="zh-CN" sz="2800" dirty="0" err="1"/>
              <a:t>L.place</a:t>
            </a:r>
            <a:r>
              <a:rPr lang="zh-CN" altLang="en-US" sz="2800" dirty="0"/>
              <a:t>：基地址（地址计算常量部分）</a:t>
            </a:r>
          </a:p>
          <a:p>
            <a:pPr eaLnBrk="1" hangingPunct="1"/>
            <a:r>
              <a:rPr lang="en-US" altLang="zh-CN" sz="2800" dirty="0" err="1"/>
              <a:t>L.offset</a:t>
            </a:r>
            <a:r>
              <a:rPr lang="zh-CN" altLang="en-US" sz="2800" dirty="0"/>
              <a:t>：偏移，普通变量为</a:t>
            </a:r>
            <a:r>
              <a:rPr lang="en-US" altLang="zh-CN" sz="2800" dirty="0"/>
              <a:t>null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2000" fill="hold"/>
                                        <p:tgtEl>
                                          <p:spTgt spid="2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6D514DD8-EC06-4482-9313-E12EF7D22A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8.3.4  </a:t>
            </a:r>
            <a:r>
              <a:rPr lang="zh-CN" altLang="en-US"/>
              <a:t>数组元素寻址的翻译模式</a:t>
            </a:r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7659FF34-310F-4981-99FA-9A6CE247B9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</p:spPr>
        <p:txBody>
          <a:bodyPr/>
          <a:lstStyle/>
          <a:p>
            <a:pPr marL="609600" indent="-609600" eaLnBrk="1" hangingPunct="1"/>
            <a:r>
              <a:rPr lang="zh-CN" altLang="en-US" sz="2800"/>
              <a:t>文法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arenBoth"/>
            </a:pPr>
            <a:r>
              <a:rPr lang="en-US" altLang="zh-CN" sz="2400"/>
              <a:t>S→ L := E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arenBoth"/>
            </a:pPr>
            <a:r>
              <a:rPr lang="en-US" altLang="zh-CN" sz="2400"/>
              <a:t>E→ E + E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arenBoth"/>
            </a:pPr>
            <a:r>
              <a:rPr lang="en-US" altLang="zh-CN" sz="2400"/>
              <a:t>E→ ( E )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arenBoth"/>
            </a:pPr>
            <a:r>
              <a:rPr lang="en-US" altLang="zh-CN" sz="2400"/>
              <a:t>E→ L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arenBoth"/>
            </a:pPr>
            <a:r>
              <a:rPr lang="en-US" altLang="zh-CN" sz="2400"/>
              <a:t>L→ Elist ]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arenBoth"/>
            </a:pPr>
            <a:r>
              <a:rPr lang="en-US" altLang="zh-CN" sz="2400"/>
              <a:t>L→ </a:t>
            </a:r>
            <a:r>
              <a:rPr lang="en-US" altLang="zh-CN" sz="2400" b="1"/>
              <a:t>id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arenBoth"/>
            </a:pPr>
            <a:r>
              <a:rPr lang="en-US" altLang="zh-CN" sz="2400"/>
              <a:t>Elist→ Elist , E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arenBoth"/>
            </a:pPr>
            <a:r>
              <a:rPr lang="en-US" altLang="zh-CN" sz="2400"/>
              <a:t>Elist→ </a:t>
            </a:r>
            <a:r>
              <a:rPr lang="en-US" altLang="zh-CN" sz="2400" b="1"/>
              <a:t>id</a:t>
            </a:r>
            <a:r>
              <a:rPr lang="en-US" altLang="zh-CN" sz="2400"/>
              <a:t> [ 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ED1492AB-3CAB-4E09-A1E3-CD8A5CF56C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数组元素寻址的翻译模式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B77E280-2BCE-4C85-9957-308442494E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marL="388938" indent="-388938" eaLnBrk="1" hangingPunct="1">
              <a:buFont typeface="Wingdings" panose="05000000000000000000" pitchFamily="2" charset="2"/>
              <a:buAutoNum type="arabicParenBoth"/>
              <a:tabLst>
                <a:tab pos="388938" algn="l"/>
              </a:tabLst>
            </a:pPr>
            <a:r>
              <a:rPr lang="en-US" altLang="zh-CN" sz="2400"/>
              <a:t>S→ L := E    { </a:t>
            </a:r>
            <a:r>
              <a:rPr lang="en-US" altLang="zh-CN" sz="2400" b="1"/>
              <a:t>if</a:t>
            </a:r>
            <a:r>
              <a:rPr lang="en-US" altLang="zh-CN" sz="2400"/>
              <a:t> (L.offset == </a:t>
            </a:r>
            <a:r>
              <a:rPr lang="en-US" altLang="zh-CN" sz="2400" b="1"/>
              <a:t>null</a:t>
            </a:r>
            <a:r>
              <a:rPr lang="en-US" altLang="zh-CN" sz="2400"/>
              <a:t>)</a:t>
            </a:r>
          </a:p>
          <a:p>
            <a:pPr marL="388938" indent="-388938" eaLnBrk="1" hangingPunct="1">
              <a:buFont typeface="Wingdings" panose="05000000000000000000" pitchFamily="2" charset="2"/>
              <a:buNone/>
              <a:tabLst>
                <a:tab pos="388938" algn="l"/>
              </a:tabLst>
            </a:pPr>
            <a:r>
              <a:rPr lang="en-US" altLang="zh-CN" sz="2400"/>
              <a:t>			      emit(L.place ‘:=’ E.place);</a:t>
            </a:r>
          </a:p>
          <a:p>
            <a:pPr marL="388938" indent="-388938" eaLnBrk="1" hangingPunct="1">
              <a:buFont typeface="Wingdings" panose="05000000000000000000" pitchFamily="2" charset="2"/>
              <a:buNone/>
              <a:tabLst>
                <a:tab pos="388938" algn="l"/>
              </a:tabLst>
            </a:pPr>
            <a:r>
              <a:rPr lang="en-US" altLang="zh-CN" sz="2400"/>
              <a:t>			     </a:t>
            </a:r>
            <a:r>
              <a:rPr lang="en-US" altLang="zh-CN" sz="2400" b="1"/>
              <a:t>else</a:t>
            </a:r>
          </a:p>
          <a:p>
            <a:pPr marL="388938" indent="-388938" eaLnBrk="1" hangingPunct="1">
              <a:buFont typeface="Wingdings" panose="05000000000000000000" pitchFamily="2" charset="2"/>
              <a:buNone/>
              <a:tabLst>
                <a:tab pos="388938" algn="l"/>
              </a:tabLst>
            </a:pPr>
            <a:r>
              <a:rPr lang="en-US" altLang="zh-CN" sz="2400"/>
              <a:t>			        emit(L.place ‘[’ L.offset ‘]’ ‘:=’ E.place); }</a:t>
            </a:r>
          </a:p>
          <a:p>
            <a:pPr marL="388938" indent="-388938" eaLnBrk="1" hangingPunct="1">
              <a:buFont typeface="Wingdings" panose="05000000000000000000" pitchFamily="2" charset="2"/>
              <a:buAutoNum type="arabicParenBoth" startAt="2"/>
              <a:tabLst>
                <a:tab pos="388938" algn="l"/>
              </a:tabLst>
            </a:pPr>
            <a:r>
              <a:rPr lang="en-US" altLang="zh-CN" sz="2400"/>
              <a:t>E→ E</a:t>
            </a:r>
            <a:r>
              <a:rPr lang="en-US" altLang="zh-CN" sz="2400" baseline="-25000"/>
              <a:t>1</a:t>
            </a:r>
            <a:r>
              <a:rPr lang="en-US" altLang="zh-CN" sz="2400"/>
              <a:t> + E</a:t>
            </a:r>
            <a:r>
              <a:rPr lang="en-US" altLang="zh-CN" sz="2400" baseline="-25000"/>
              <a:t>2</a:t>
            </a:r>
            <a:r>
              <a:rPr lang="en-US" altLang="zh-CN" sz="2400"/>
              <a:t>   { E.place = newtemp;</a:t>
            </a:r>
          </a:p>
          <a:p>
            <a:pPr marL="388938" indent="-388938" eaLnBrk="1" hangingPunct="1">
              <a:buFont typeface="Wingdings" panose="05000000000000000000" pitchFamily="2" charset="2"/>
              <a:buNone/>
              <a:tabLst>
                <a:tab pos="388938" algn="l"/>
              </a:tabLst>
            </a:pPr>
            <a:r>
              <a:rPr lang="en-US" altLang="zh-CN" sz="2400"/>
              <a:t>			      emit(E.place ‘:=’ E</a:t>
            </a:r>
            <a:r>
              <a:rPr lang="en-US" altLang="zh-CN" sz="2400" baseline="-25000"/>
              <a:t>1</a:t>
            </a:r>
            <a:r>
              <a:rPr lang="en-US" altLang="zh-CN" sz="2400"/>
              <a:t>.place ‘+’ E</a:t>
            </a:r>
            <a:r>
              <a:rPr lang="en-US" altLang="zh-CN" sz="2400" baseline="-25000"/>
              <a:t>2</a:t>
            </a:r>
            <a:r>
              <a:rPr lang="en-US" altLang="zh-CN" sz="2400"/>
              <a:t>.place); }</a:t>
            </a:r>
          </a:p>
          <a:p>
            <a:pPr marL="388938" indent="-388938" eaLnBrk="1" hangingPunct="1">
              <a:buFont typeface="Wingdings" panose="05000000000000000000" pitchFamily="2" charset="2"/>
              <a:buAutoNum type="arabicParenBoth" startAt="3"/>
              <a:tabLst>
                <a:tab pos="388938" algn="l"/>
              </a:tabLst>
            </a:pPr>
            <a:r>
              <a:rPr lang="en-US" altLang="zh-CN" sz="2400"/>
              <a:t>E→ ( E</a:t>
            </a:r>
            <a:r>
              <a:rPr lang="en-US" altLang="zh-CN" sz="2400" baseline="-25000"/>
              <a:t>1</a:t>
            </a:r>
            <a:r>
              <a:rPr lang="en-US" altLang="zh-CN" sz="2400"/>
              <a:t> )       { E.place = E</a:t>
            </a:r>
            <a:r>
              <a:rPr lang="en-US" altLang="zh-CN" sz="2400" baseline="-25000"/>
              <a:t>1</a:t>
            </a:r>
            <a:r>
              <a:rPr lang="en-US" altLang="zh-CN" sz="2400"/>
              <a:t>.place; }</a:t>
            </a:r>
          </a:p>
        </p:txBody>
      </p:sp>
      <p:sp>
        <p:nvSpPr>
          <p:cNvPr id="30724" name="Text Box 4">
            <a:extLst>
              <a:ext uri="{FF2B5EF4-FFF2-40B4-BE49-F238E27FC236}">
                <a16:creationId xmlns:a16="http://schemas.microsoft.com/office/drawing/2014/main" id="{8E5FC3F4-F38B-4D71-B9FA-8D81E6372166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6948264" y="1484784"/>
            <a:ext cx="1524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chemeClr val="folHlink"/>
                </a:solidFill>
                <a:latin typeface="Tahoma" panose="020B0604030504040204" pitchFamily="34" charset="0"/>
                <a:ea typeface="黑体" panose="02010609060101010101" pitchFamily="49" charset="-122"/>
              </a:rPr>
              <a:t>普通变量？数组？</a:t>
            </a:r>
          </a:p>
        </p:txBody>
      </p:sp>
      <p:sp>
        <p:nvSpPr>
          <p:cNvPr id="30725" name="Line 5">
            <a:extLst>
              <a:ext uri="{FF2B5EF4-FFF2-40B4-BE49-F238E27FC236}">
                <a16:creationId xmlns:a16="http://schemas.microsoft.com/office/drawing/2014/main" id="{F61B770F-AE0D-4C1D-A3C7-5584F97D2D0D}"/>
              </a:ext>
            </a:extLst>
          </p:cNvPr>
          <p:cNvSpPr>
            <a:spLocks noChangeShapeType="1"/>
          </p:cNvSpPr>
          <p:nvPr/>
        </p:nvSpPr>
        <p:spPr bwMode="ltGray">
          <a:xfrm flipH="1" flipV="1">
            <a:off x="5943600" y="1600200"/>
            <a:ext cx="1066800" cy="1524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1F4AF90B-5F0E-4C65-B3AC-83304404DB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数组元素寻址的翻译模式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8553BFDB-C75C-4A2E-9E40-4290042D41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10200"/>
          </a:xfrm>
        </p:spPr>
        <p:txBody>
          <a:bodyPr/>
          <a:lstStyle/>
          <a:p>
            <a:pPr marL="388938" indent="-388938" eaLnBrk="1" hangingPunct="1">
              <a:buFont typeface="Wingdings" panose="05000000000000000000" pitchFamily="2" charset="2"/>
              <a:buAutoNum type="arabicParenBoth" startAt="5"/>
              <a:tabLst>
                <a:tab pos="388938" algn="l"/>
              </a:tabLst>
            </a:pPr>
            <a:r>
              <a:rPr lang="en-US" altLang="zh-CN" sz="2400" dirty="0"/>
              <a:t>L→ </a:t>
            </a:r>
            <a:r>
              <a:rPr lang="en-US" altLang="zh-CN" sz="2400" b="1" dirty="0"/>
              <a:t>id</a:t>
            </a:r>
            <a:r>
              <a:rPr lang="en-US" altLang="zh-CN" sz="2400" dirty="0"/>
              <a:t>   { </a:t>
            </a:r>
            <a:r>
              <a:rPr lang="en-US" altLang="zh-CN" sz="2400" dirty="0" err="1"/>
              <a:t>L.place</a:t>
            </a:r>
            <a:r>
              <a:rPr lang="en-US" altLang="zh-CN" sz="2400" dirty="0"/>
              <a:t> = </a:t>
            </a:r>
            <a:r>
              <a:rPr lang="en-US" altLang="zh-CN" sz="2400" b="1" dirty="0" err="1"/>
              <a:t>id</a:t>
            </a:r>
            <a:r>
              <a:rPr lang="en-US" altLang="zh-CN" sz="2400" dirty="0" err="1"/>
              <a:t>.place</a:t>
            </a:r>
            <a:r>
              <a:rPr lang="en-US" altLang="zh-CN" sz="2400" dirty="0"/>
              <a:t>; </a:t>
            </a:r>
            <a:r>
              <a:rPr lang="en-US" altLang="zh-CN" sz="2400" dirty="0" err="1"/>
              <a:t>L.offset</a:t>
            </a:r>
            <a:r>
              <a:rPr lang="en-US" altLang="zh-CN" sz="2400" dirty="0"/>
              <a:t> = </a:t>
            </a:r>
            <a:r>
              <a:rPr lang="en-US" altLang="zh-CN" sz="2400" b="1" dirty="0"/>
              <a:t>null</a:t>
            </a:r>
            <a:r>
              <a:rPr lang="en-US" altLang="zh-CN" sz="2400" dirty="0"/>
              <a:t>; }</a:t>
            </a:r>
          </a:p>
          <a:p>
            <a:pPr marL="388938" indent="-388938" eaLnBrk="1" hangingPunct="1">
              <a:buFont typeface="Wingdings" panose="05000000000000000000" pitchFamily="2" charset="2"/>
              <a:buAutoNum type="arabicParenBoth" startAt="5"/>
              <a:tabLst>
                <a:tab pos="388938" algn="l"/>
              </a:tabLst>
            </a:pPr>
            <a:r>
              <a:rPr lang="en-US" altLang="zh-CN" sz="2400" dirty="0" err="1"/>
              <a:t>Elist</a:t>
            </a:r>
            <a:r>
              <a:rPr lang="en-US" altLang="zh-CN" sz="2400" dirty="0"/>
              <a:t>→ Elist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, E   { </a:t>
            </a:r>
            <a:br>
              <a:rPr lang="en-US" altLang="zh-CN" sz="2400" dirty="0"/>
            </a:br>
            <a:r>
              <a:rPr lang="en-US" altLang="zh-CN" sz="2400" dirty="0"/>
              <a:t>		t = </a:t>
            </a:r>
            <a:r>
              <a:rPr lang="en-US" altLang="zh-CN" sz="2400" dirty="0" err="1"/>
              <a:t>newtemp</a:t>
            </a:r>
            <a:r>
              <a:rPr lang="en-US" altLang="zh-CN" sz="2400" dirty="0"/>
              <a:t>; m = Elist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.ndim + 1;</a:t>
            </a:r>
          </a:p>
          <a:p>
            <a:pPr marL="388938" indent="-388938" eaLnBrk="1" hangingPunct="1">
              <a:buFont typeface="Wingdings" panose="05000000000000000000" pitchFamily="2" charset="2"/>
              <a:buNone/>
              <a:tabLst>
                <a:tab pos="388938" algn="l"/>
              </a:tabLst>
            </a:pPr>
            <a:r>
              <a:rPr lang="en-US" altLang="zh-CN" sz="2400" dirty="0"/>
              <a:t>		          emit(t ‘:=’ Elist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.place ‘*’ limit(Elist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.array, m));</a:t>
            </a:r>
          </a:p>
          <a:p>
            <a:pPr marL="388938" indent="-388938" eaLnBrk="1" hangingPunct="1">
              <a:buFont typeface="Wingdings" panose="05000000000000000000" pitchFamily="2" charset="2"/>
              <a:buNone/>
              <a:tabLst>
                <a:tab pos="388938" algn="l"/>
              </a:tabLst>
            </a:pPr>
            <a:r>
              <a:rPr lang="en-US" altLang="zh-CN" sz="2400" dirty="0"/>
              <a:t>			emit(t ‘:=’ t ‘+’ </a:t>
            </a:r>
            <a:r>
              <a:rPr lang="en-US" altLang="zh-CN" sz="2400" dirty="0" err="1"/>
              <a:t>E.place</a:t>
            </a:r>
            <a:r>
              <a:rPr lang="en-US" altLang="zh-CN" sz="2400" dirty="0"/>
              <a:t>);</a:t>
            </a:r>
          </a:p>
          <a:p>
            <a:pPr marL="388938" indent="-388938" eaLnBrk="1" hangingPunct="1">
              <a:buFont typeface="Wingdings" panose="05000000000000000000" pitchFamily="2" charset="2"/>
              <a:buNone/>
              <a:tabLst>
                <a:tab pos="388938" algn="l"/>
              </a:tabLst>
            </a:pPr>
            <a:r>
              <a:rPr lang="en-US" altLang="zh-CN" sz="2400" dirty="0"/>
              <a:t>			</a:t>
            </a:r>
            <a:r>
              <a:rPr lang="en-US" altLang="zh-CN" sz="2400" dirty="0" err="1"/>
              <a:t>Elist.array</a:t>
            </a:r>
            <a:r>
              <a:rPr lang="en-US" altLang="zh-CN" sz="2400" dirty="0"/>
              <a:t> = Elist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.array;</a:t>
            </a:r>
          </a:p>
          <a:p>
            <a:pPr marL="388938" indent="-388938" eaLnBrk="1" hangingPunct="1">
              <a:buFont typeface="Wingdings" panose="05000000000000000000" pitchFamily="2" charset="2"/>
              <a:buNone/>
              <a:tabLst>
                <a:tab pos="388938" algn="l"/>
              </a:tabLst>
            </a:pPr>
            <a:r>
              <a:rPr lang="en-US" altLang="zh-CN" sz="2400" dirty="0"/>
              <a:t>			</a:t>
            </a:r>
            <a:r>
              <a:rPr lang="en-US" altLang="zh-CN" sz="2400" dirty="0" err="1"/>
              <a:t>Elist.place</a:t>
            </a:r>
            <a:r>
              <a:rPr lang="en-US" altLang="zh-CN" sz="2400" dirty="0"/>
              <a:t> = t; </a:t>
            </a:r>
            <a:r>
              <a:rPr lang="en-US" altLang="zh-CN" sz="2400" dirty="0" err="1"/>
              <a:t>Elist.ndim</a:t>
            </a:r>
            <a:r>
              <a:rPr lang="en-US" altLang="zh-CN" sz="2400" dirty="0"/>
              <a:t> = m; }</a:t>
            </a:r>
          </a:p>
          <a:p>
            <a:pPr marL="388938" indent="-388938" eaLnBrk="1" hangingPunct="1">
              <a:buFont typeface="Wingdings" panose="05000000000000000000" pitchFamily="2" charset="2"/>
              <a:buAutoNum type="arabicParenBoth" startAt="5"/>
              <a:tabLst>
                <a:tab pos="388938" algn="l"/>
              </a:tabLst>
            </a:pPr>
            <a:r>
              <a:rPr lang="en-US" altLang="zh-CN" sz="2400" dirty="0" err="1"/>
              <a:t>Elist</a:t>
            </a:r>
            <a:r>
              <a:rPr lang="en-US" altLang="zh-CN" sz="2400" dirty="0"/>
              <a:t>→ </a:t>
            </a:r>
            <a:r>
              <a:rPr lang="en-US" altLang="zh-CN" sz="2400" b="1" dirty="0"/>
              <a:t>id</a:t>
            </a:r>
            <a:r>
              <a:rPr lang="en-US" altLang="zh-CN" sz="2400" dirty="0"/>
              <a:t> [ E   { </a:t>
            </a:r>
            <a:r>
              <a:rPr lang="en-US" altLang="zh-CN" sz="2400" dirty="0" err="1"/>
              <a:t>Elist.array</a:t>
            </a:r>
            <a:r>
              <a:rPr lang="en-US" altLang="zh-CN" sz="2400" dirty="0"/>
              <a:t> = </a:t>
            </a:r>
            <a:r>
              <a:rPr lang="en-US" altLang="zh-CN" sz="2400" b="1" dirty="0" err="1"/>
              <a:t>id</a:t>
            </a:r>
            <a:r>
              <a:rPr lang="en-US" altLang="zh-CN" sz="2400" dirty="0" err="1"/>
              <a:t>.place</a:t>
            </a:r>
            <a:r>
              <a:rPr lang="en-US" altLang="zh-CN" sz="2400" dirty="0"/>
              <a:t>;</a:t>
            </a:r>
          </a:p>
          <a:p>
            <a:pPr marL="388938" indent="-388938" eaLnBrk="1" hangingPunct="1">
              <a:buFont typeface="Wingdings" panose="05000000000000000000" pitchFamily="2" charset="2"/>
              <a:buNone/>
              <a:tabLst>
                <a:tab pos="388938" algn="l"/>
              </a:tabLst>
            </a:pPr>
            <a:r>
              <a:rPr lang="en-US" altLang="zh-CN" sz="2400" dirty="0"/>
              <a:t>			         </a:t>
            </a:r>
            <a:r>
              <a:rPr lang="en-US" altLang="zh-CN" sz="2400" dirty="0" err="1"/>
              <a:t>Elist.place</a:t>
            </a:r>
            <a:r>
              <a:rPr lang="en-US" altLang="zh-CN" sz="2400" dirty="0"/>
              <a:t> = </a:t>
            </a:r>
            <a:r>
              <a:rPr lang="en-US" altLang="zh-CN" sz="2400" dirty="0" err="1"/>
              <a:t>E.place</a:t>
            </a:r>
            <a:r>
              <a:rPr lang="en-US" altLang="zh-CN" sz="2400" dirty="0"/>
              <a:t>; </a:t>
            </a:r>
            <a:r>
              <a:rPr lang="en-US" altLang="zh-CN" sz="2400" dirty="0" err="1"/>
              <a:t>Elist.ndim</a:t>
            </a:r>
            <a:r>
              <a:rPr lang="en-US" altLang="zh-CN" sz="2400" dirty="0"/>
              <a:t> = 1; }</a:t>
            </a:r>
          </a:p>
        </p:txBody>
      </p:sp>
      <p:sp>
        <p:nvSpPr>
          <p:cNvPr id="31748" name="Text Box 4">
            <a:extLst>
              <a:ext uri="{FF2B5EF4-FFF2-40B4-BE49-F238E27FC236}">
                <a16:creationId xmlns:a16="http://schemas.microsoft.com/office/drawing/2014/main" id="{258DF721-1518-4F59-9982-CA5CA5310913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1828800" y="2971800"/>
            <a:ext cx="838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</a:rPr>
              <a:t>e</a:t>
            </a:r>
            <a:r>
              <a:rPr lang="en-US" altLang="zh-CN" sz="2400" baseline="-25000" dirty="0">
                <a:solidFill>
                  <a:srgbClr val="FF3300"/>
                </a:solidFill>
              </a:rPr>
              <a:t>m-1</a:t>
            </a:r>
            <a:endParaRPr lang="en-US" altLang="zh-CN" sz="2400" dirty="0">
              <a:solidFill>
                <a:srgbClr val="FF3300"/>
              </a:solidFill>
            </a:endParaRPr>
          </a:p>
        </p:txBody>
      </p:sp>
      <p:sp>
        <p:nvSpPr>
          <p:cNvPr id="31749" name="Line 5">
            <a:extLst>
              <a:ext uri="{FF2B5EF4-FFF2-40B4-BE49-F238E27FC236}">
                <a16:creationId xmlns:a16="http://schemas.microsoft.com/office/drawing/2014/main" id="{C48882B0-7B3C-46E6-99C5-94A79E21AF35}"/>
              </a:ext>
            </a:extLst>
          </p:cNvPr>
          <p:cNvSpPr>
            <a:spLocks noChangeShapeType="1"/>
          </p:cNvSpPr>
          <p:nvPr/>
        </p:nvSpPr>
        <p:spPr bwMode="ltGray">
          <a:xfrm flipV="1">
            <a:off x="2514600" y="2971800"/>
            <a:ext cx="2209800" cy="304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50" name="Text Box 6">
            <a:extLst>
              <a:ext uri="{FF2B5EF4-FFF2-40B4-BE49-F238E27FC236}">
                <a16:creationId xmlns:a16="http://schemas.microsoft.com/office/drawing/2014/main" id="{DCF85DD1-2996-463C-9CDD-69B8845A0BA2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1981200" y="3581400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 err="1">
                <a:solidFill>
                  <a:srgbClr val="FF3300"/>
                </a:solidFill>
              </a:rPr>
              <a:t>e</a:t>
            </a:r>
            <a:r>
              <a:rPr lang="en-US" altLang="zh-CN" sz="2400" baseline="-25000" dirty="0" err="1">
                <a:solidFill>
                  <a:srgbClr val="FF3300"/>
                </a:solidFill>
              </a:rPr>
              <a:t>m</a:t>
            </a:r>
            <a:endParaRPr lang="en-US" altLang="zh-CN" sz="2400" dirty="0">
              <a:solidFill>
                <a:srgbClr val="FF3300"/>
              </a:solidFill>
            </a:endParaRPr>
          </a:p>
        </p:txBody>
      </p:sp>
      <p:sp>
        <p:nvSpPr>
          <p:cNvPr id="31751" name="Line 7">
            <a:extLst>
              <a:ext uri="{FF2B5EF4-FFF2-40B4-BE49-F238E27FC236}">
                <a16:creationId xmlns:a16="http://schemas.microsoft.com/office/drawing/2014/main" id="{CFAA3601-5F26-476B-A93C-5680022A2EF8}"/>
              </a:ext>
            </a:extLst>
          </p:cNvPr>
          <p:cNvSpPr>
            <a:spLocks noChangeShapeType="1"/>
          </p:cNvSpPr>
          <p:nvPr/>
        </p:nvSpPr>
        <p:spPr bwMode="ltGray">
          <a:xfrm flipV="1">
            <a:off x="2362200" y="3429000"/>
            <a:ext cx="1371600" cy="3810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752" name="矩形 7">
            <a:extLst>
              <a:ext uri="{FF2B5EF4-FFF2-40B4-BE49-F238E27FC236}">
                <a16:creationId xmlns:a16="http://schemas.microsoft.com/office/drawing/2014/main" id="{B39B1046-8D32-48DC-A4D7-F89CFA898D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8" y="2492375"/>
            <a:ext cx="20589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 err="1">
                <a:solidFill>
                  <a:srgbClr val="FF0000"/>
                </a:solidFill>
                <a:latin typeface="Tahoma" panose="020B0604030504040204" pitchFamily="34" charset="0"/>
              </a:rPr>
              <a:t>e</a:t>
            </a:r>
            <a:r>
              <a:rPr lang="en-US" altLang="zh-CN" sz="2000" baseline="-25000" dirty="0" err="1">
                <a:solidFill>
                  <a:srgbClr val="FF0000"/>
                </a:solidFill>
                <a:latin typeface="Tahoma" panose="020B0604030504040204" pitchFamily="34" charset="0"/>
              </a:rPr>
              <a:t>m</a:t>
            </a:r>
            <a:r>
              <a:rPr lang="en-US" altLang="zh-CN" sz="2000" dirty="0">
                <a:solidFill>
                  <a:srgbClr val="FF0000"/>
                </a:solidFill>
                <a:latin typeface="Tahoma" panose="020B0604030504040204" pitchFamily="34" charset="0"/>
              </a:rPr>
              <a:t>=e</a:t>
            </a:r>
            <a:r>
              <a:rPr lang="en-US" altLang="zh-CN" sz="2000" baseline="-25000" dirty="0">
                <a:solidFill>
                  <a:srgbClr val="FF0000"/>
                </a:solidFill>
                <a:latin typeface="Tahoma" panose="020B0604030504040204" pitchFamily="34" charset="0"/>
              </a:rPr>
              <a:t>m-1</a:t>
            </a:r>
            <a:r>
              <a:rPr lang="en-US" altLang="zh-CN" sz="2000" dirty="0">
                <a:solidFill>
                  <a:srgbClr val="FF0000"/>
                </a:solidFill>
                <a:latin typeface="Tahoma" panose="020B0604030504040204" pitchFamily="34" charset="0"/>
              </a:rPr>
              <a:t>*n</a:t>
            </a:r>
            <a:r>
              <a:rPr lang="en-US" altLang="zh-CN" sz="2000" baseline="-25000" dirty="0">
                <a:solidFill>
                  <a:srgbClr val="FF0000"/>
                </a:solidFill>
                <a:latin typeface="Tahoma" panose="020B0604030504040204" pitchFamily="34" charset="0"/>
              </a:rPr>
              <a:t>m</a:t>
            </a:r>
            <a:r>
              <a:rPr lang="en-US" altLang="zh-CN" sz="2000" dirty="0">
                <a:solidFill>
                  <a:srgbClr val="FF0000"/>
                </a:solidFill>
                <a:latin typeface="Tahoma" panose="020B0604030504040204" pitchFamily="34" charset="0"/>
              </a:rPr>
              <a:t> + </a:t>
            </a:r>
            <a:r>
              <a:rPr lang="en-US" altLang="zh-CN" sz="2000" dirty="0" err="1">
                <a:solidFill>
                  <a:srgbClr val="FF0000"/>
                </a:solidFill>
                <a:latin typeface="Tahoma" panose="020B0604030504040204" pitchFamily="34" charset="0"/>
              </a:rPr>
              <a:t>i</a:t>
            </a:r>
            <a:r>
              <a:rPr lang="en-US" altLang="zh-CN" sz="2000" baseline="-25000" dirty="0" err="1">
                <a:solidFill>
                  <a:srgbClr val="FF0000"/>
                </a:solidFill>
                <a:latin typeface="Tahoma" panose="020B0604030504040204" pitchFamily="34" charset="0"/>
              </a:rPr>
              <a:t>m</a:t>
            </a:r>
            <a:endParaRPr lang="zh-CN" altLang="en-US" sz="2000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31753" name="Text Box 6">
            <a:extLst>
              <a:ext uri="{FF2B5EF4-FFF2-40B4-BE49-F238E27FC236}">
                <a16:creationId xmlns:a16="http://schemas.microsoft.com/office/drawing/2014/main" id="{0A70A905-73CA-47B7-847E-31A025E2847E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6854825" y="3652838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3300"/>
                </a:solidFill>
              </a:rPr>
              <a:t>i</a:t>
            </a:r>
            <a:r>
              <a:rPr lang="en-US" altLang="zh-CN" sz="2400" baseline="-25000">
                <a:solidFill>
                  <a:srgbClr val="FF3300"/>
                </a:solidFill>
              </a:rPr>
              <a:t>m</a:t>
            </a:r>
            <a:endParaRPr lang="en-US" altLang="zh-CN" sz="2400">
              <a:solidFill>
                <a:srgbClr val="FF3300"/>
              </a:solidFill>
            </a:endParaRPr>
          </a:p>
        </p:txBody>
      </p:sp>
      <p:sp>
        <p:nvSpPr>
          <p:cNvPr id="31754" name="Line 7">
            <a:extLst>
              <a:ext uri="{FF2B5EF4-FFF2-40B4-BE49-F238E27FC236}">
                <a16:creationId xmlns:a16="http://schemas.microsoft.com/office/drawing/2014/main" id="{C5AF888E-0D72-4095-9CB5-7C8EF26B4F16}"/>
              </a:ext>
            </a:extLst>
          </p:cNvPr>
          <p:cNvSpPr>
            <a:spLocks noChangeShapeType="1"/>
          </p:cNvSpPr>
          <p:nvPr/>
        </p:nvSpPr>
        <p:spPr bwMode="ltGray">
          <a:xfrm flipH="1" flipV="1">
            <a:off x="5724525" y="3429000"/>
            <a:ext cx="1223963" cy="431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Text Box 6">
            <a:extLst>
              <a:ext uri="{FF2B5EF4-FFF2-40B4-BE49-F238E27FC236}">
                <a16:creationId xmlns:a16="http://schemas.microsoft.com/office/drawing/2014/main" id="{FA49C8EE-9423-4C4D-BE50-E893EEFC631D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7553325" y="3230051"/>
            <a:ext cx="60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rgbClr val="FF3300"/>
                </a:solidFill>
              </a:rPr>
              <a:t>n</a:t>
            </a:r>
            <a:r>
              <a:rPr lang="en-US" altLang="zh-CN" sz="2400" baseline="-25000" dirty="0">
                <a:solidFill>
                  <a:srgbClr val="FF3300"/>
                </a:solidFill>
              </a:rPr>
              <a:t>m</a:t>
            </a:r>
            <a:endParaRPr lang="en-US" altLang="zh-CN" sz="2400" dirty="0">
              <a:solidFill>
                <a:srgbClr val="FF3300"/>
              </a:solidFill>
            </a:endParaRPr>
          </a:p>
        </p:txBody>
      </p:sp>
      <p:sp>
        <p:nvSpPr>
          <p:cNvPr id="12" name="Line 7">
            <a:extLst>
              <a:ext uri="{FF2B5EF4-FFF2-40B4-BE49-F238E27FC236}">
                <a16:creationId xmlns:a16="http://schemas.microsoft.com/office/drawing/2014/main" id="{688B5E98-FA78-4480-8E3D-69ED753AA536}"/>
              </a:ext>
            </a:extLst>
          </p:cNvPr>
          <p:cNvSpPr>
            <a:spLocks noChangeShapeType="1"/>
          </p:cNvSpPr>
          <p:nvPr/>
        </p:nvSpPr>
        <p:spPr bwMode="ltGray">
          <a:xfrm flipH="1" flipV="1">
            <a:off x="6423025" y="3006213"/>
            <a:ext cx="1223963" cy="431800"/>
          </a:xfrm>
          <a:prstGeom prst="line">
            <a:avLst/>
          </a:prstGeom>
          <a:noFill/>
          <a:ln w="25400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8" grpId="0"/>
      <p:bldP spid="31749" grpId="0" animBg="1"/>
      <p:bldP spid="31750" grpId="0"/>
      <p:bldP spid="31751" grpId="0" animBg="1"/>
      <p:bldP spid="31752" grpId="0"/>
      <p:bldP spid="31753" grpId="0"/>
      <p:bldP spid="31754" grpId="0" animBg="1"/>
      <p:bldP spid="11" grpId="0"/>
      <p:bldP spid="1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9E039DF5-5AB2-4EE2-A549-A8A3C3FCA7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数组元素寻址的翻译模式</a:t>
            </a:r>
            <a:r>
              <a:rPr lang="en-US" altLang="zh-CN"/>
              <a:t>(</a:t>
            </a:r>
            <a:r>
              <a:rPr lang="zh-CN" altLang="en-US"/>
              <a:t>续</a:t>
            </a:r>
            <a:r>
              <a:rPr lang="en-US" altLang="zh-CN"/>
              <a:t>)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8272B07C-E078-41E8-ABA2-915EC134AD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721225"/>
          </a:xfrm>
        </p:spPr>
        <p:txBody>
          <a:bodyPr/>
          <a:lstStyle/>
          <a:p>
            <a:pPr marL="609600" indent="-609600" eaLnBrk="1" hangingPunct="1">
              <a:buFont typeface="Wingdings" panose="05000000000000000000" pitchFamily="2" charset="2"/>
              <a:buAutoNum type="arabicParenBoth" startAt="4"/>
              <a:tabLst>
                <a:tab pos="388938" algn="l"/>
              </a:tabLst>
            </a:pPr>
            <a:r>
              <a:rPr lang="en-US" altLang="zh-CN" sz="2400"/>
              <a:t>E→ L       { </a:t>
            </a:r>
            <a:r>
              <a:rPr lang="en-US" altLang="zh-CN" sz="2400" b="1"/>
              <a:t>if</a:t>
            </a:r>
            <a:r>
              <a:rPr lang="en-US" altLang="zh-CN" sz="2400"/>
              <a:t> (L.offset == </a:t>
            </a:r>
            <a:r>
              <a:rPr lang="en-US" altLang="zh-CN" sz="2400" b="1"/>
              <a:t>null</a:t>
            </a:r>
            <a:r>
              <a:rPr lang="en-US" altLang="zh-CN" sz="2400"/>
              <a:t>)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  <a:tabLst>
                <a:tab pos="388938" algn="l"/>
              </a:tabLst>
            </a:pPr>
            <a:r>
              <a:rPr lang="en-US" altLang="zh-CN" sz="2400"/>
              <a:t>			    	E.place = L.place;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  <a:tabLst>
                <a:tab pos="388938" algn="l"/>
              </a:tabLst>
            </a:pPr>
            <a:r>
              <a:rPr lang="en-US" altLang="zh-CN" sz="2400"/>
              <a:t>				 </a:t>
            </a:r>
            <a:r>
              <a:rPr lang="en-US" altLang="zh-CN" sz="2400" b="1"/>
              <a:t>else</a:t>
            </a:r>
            <a:r>
              <a:rPr lang="en-US" altLang="zh-CN" sz="2400"/>
              <a:t> {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  <a:tabLst>
                <a:tab pos="388938" algn="l"/>
              </a:tabLst>
            </a:pPr>
            <a:r>
              <a:rPr lang="en-US" altLang="zh-CN" sz="2400"/>
              <a:t>			    	E.place = newtemp;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  <a:tabLst>
                <a:tab pos="388938" algn="l"/>
              </a:tabLst>
            </a:pPr>
            <a:r>
              <a:rPr lang="en-US" altLang="zh-CN" sz="2400"/>
              <a:t>		                 emit(E.place ‘:=’ L.place ‘[’ L.offset ‘]’); }}</a:t>
            </a:r>
          </a:p>
          <a:p>
            <a:pPr marL="609600" indent="-609600" eaLnBrk="1" hangingPunct="1">
              <a:buFont typeface="Wingdings" panose="05000000000000000000" pitchFamily="2" charset="2"/>
              <a:buAutoNum type="arabicParenBoth" startAt="5"/>
              <a:tabLst>
                <a:tab pos="388938" algn="l"/>
              </a:tabLst>
            </a:pPr>
            <a:r>
              <a:rPr lang="en-US" altLang="zh-CN" sz="2400"/>
              <a:t>L→ Elist ]   { L.place = newtemp; L.offset = newtemp;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  <a:tabLst>
                <a:tab pos="388938" algn="l"/>
              </a:tabLst>
            </a:pPr>
            <a:r>
              <a:rPr lang="en-US" altLang="zh-CN" sz="2400"/>
              <a:t>		emit(L.place ‘:=’ c(Elist.array));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  <a:tabLst>
                <a:tab pos="388938" algn="l"/>
              </a:tabLst>
            </a:pPr>
            <a:r>
              <a:rPr lang="en-US" altLang="zh-CN" sz="2400"/>
              <a:t>		emit(L.offset ‘:=’ Elist.place ‘*’ width(Elist.array)); }</a:t>
            </a:r>
          </a:p>
          <a:p>
            <a:pPr marL="609600" indent="-609600" eaLnBrk="1" hangingPunct="1">
              <a:buFont typeface="Wingdings" panose="05000000000000000000" pitchFamily="2" charset="2"/>
              <a:buNone/>
              <a:tabLst>
                <a:tab pos="388938" algn="l"/>
              </a:tabLst>
            </a:pPr>
            <a:endParaRPr lang="en-US" altLang="zh-CN" sz="2000"/>
          </a:p>
        </p:txBody>
      </p:sp>
      <p:sp>
        <p:nvSpPr>
          <p:cNvPr id="32772" name="Text Box 6">
            <a:extLst>
              <a:ext uri="{FF2B5EF4-FFF2-40B4-BE49-F238E27FC236}">
                <a16:creationId xmlns:a16="http://schemas.microsoft.com/office/drawing/2014/main" id="{1CDCBD49-1941-4274-BE3B-2ACC10CE3238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6477000" y="3962400"/>
            <a:ext cx="2286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FF3300"/>
                </a:solidFill>
              </a:rPr>
              <a:t>地址计算常量部分</a:t>
            </a:r>
          </a:p>
        </p:txBody>
      </p:sp>
      <p:sp>
        <p:nvSpPr>
          <p:cNvPr id="32773" name="Freeform 7">
            <a:extLst>
              <a:ext uri="{FF2B5EF4-FFF2-40B4-BE49-F238E27FC236}">
                <a16:creationId xmlns:a16="http://schemas.microsoft.com/office/drawing/2014/main" id="{2D5367C4-4170-4B49-B1EB-0A253C7DF2A5}"/>
              </a:ext>
            </a:extLst>
          </p:cNvPr>
          <p:cNvSpPr>
            <a:spLocks/>
          </p:cNvSpPr>
          <p:nvPr/>
        </p:nvSpPr>
        <p:spPr bwMode="ltGray">
          <a:xfrm>
            <a:off x="4543425" y="3989388"/>
            <a:ext cx="2085975" cy="161925"/>
          </a:xfrm>
          <a:custGeom>
            <a:avLst/>
            <a:gdLst>
              <a:gd name="T0" fmla="*/ 2147483646 w 1314"/>
              <a:gd name="T1" fmla="*/ 2147483646 h 102"/>
              <a:gd name="T2" fmla="*/ 2147483646 w 1314"/>
              <a:gd name="T3" fmla="*/ 2147483646 h 102"/>
              <a:gd name="T4" fmla="*/ 0 w 1314"/>
              <a:gd name="T5" fmla="*/ 2147483646 h 102"/>
              <a:gd name="T6" fmla="*/ 0 60000 65536"/>
              <a:gd name="T7" fmla="*/ 0 60000 65536"/>
              <a:gd name="T8" fmla="*/ 0 60000 65536"/>
              <a:gd name="T9" fmla="*/ 0 w 1314"/>
              <a:gd name="T10" fmla="*/ 0 h 102"/>
              <a:gd name="T11" fmla="*/ 1314 w 1314"/>
              <a:gd name="T12" fmla="*/ 102 h 10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14" h="102">
                <a:moveTo>
                  <a:pt x="1314" y="79"/>
                </a:moveTo>
                <a:cubicBezTo>
                  <a:pt x="1216" y="67"/>
                  <a:pt x="946" y="0"/>
                  <a:pt x="727" y="4"/>
                </a:cubicBezTo>
                <a:cubicBezTo>
                  <a:pt x="508" y="8"/>
                  <a:pt x="151" y="82"/>
                  <a:pt x="0" y="102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2" grpId="0"/>
      <p:bldP spid="3277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16" descr="array">
            <a:extLst>
              <a:ext uri="{FF2B5EF4-FFF2-40B4-BE49-F238E27FC236}">
                <a16:creationId xmlns:a16="http://schemas.microsoft.com/office/drawing/2014/main" id="{3155D4F9-B229-4D61-9918-1C81B41A91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068513"/>
            <a:ext cx="3871913" cy="4713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5" name="Rectangle 2">
            <a:extLst>
              <a:ext uri="{FF2B5EF4-FFF2-40B4-BE49-F238E27FC236}">
                <a16:creationId xmlns:a16="http://schemas.microsoft.com/office/drawing/2014/main" id="{9414E6D8-50FE-436A-B3B4-11EE47F0BA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8.2</a:t>
            </a:r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55668F1E-F3B8-4F63-B1CF-95B792CC55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0600" y="1371600"/>
            <a:ext cx="7964488" cy="4724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/>
              <a:t>10×20</a:t>
            </a:r>
            <a:r>
              <a:rPr lang="zh-CN" altLang="en-US" sz="2800" dirty="0"/>
              <a:t>的数组，</a:t>
            </a:r>
            <a:r>
              <a:rPr lang="en-US" altLang="zh-CN" sz="2800" dirty="0"/>
              <a:t>low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=low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=1</a:t>
            </a:r>
            <a:r>
              <a:rPr lang="en-US" altLang="zh-CN" sz="2800" dirty="0">
                <a:sym typeface="Wingdings" panose="05000000000000000000" pitchFamily="2" charset="2"/>
              </a:rPr>
              <a:t>, n</a:t>
            </a:r>
            <a:r>
              <a:rPr lang="en-US" altLang="zh-CN" sz="2800" baseline="-25000" dirty="0">
                <a:sym typeface="Wingdings" panose="05000000000000000000" pitchFamily="2" charset="2"/>
              </a:rPr>
              <a:t>1</a:t>
            </a:r>
            <a:r>
              <a:rPr lang="en-US" altLang="zh-CN" sz="2800" dirty="0">
                <a:sym typeface="Wingdings" panose="05000000000000000000" pitchFamily="2" charset="2"/>
              </a:rPr>
              <a:t>=10, n</a:t>
            </a:r>
            <a:r>
              <a:rPr lang="en-US" altLang="zh-CN" sz="2800" baseline="-25000" dirty="0">
                <a:sym typeface="Wingdings" panose="05000000000000000000" pitchFamily="2" charset="2"/>
              </a:rPr>
              <a:t>2</a:t>
            </a:r>
            <a:r>
              <a:rPr lang="en-US" altLang="zh-CN" sz="2800" dirty="0">
                <a:sym typeface="Wingdings" panose="05000000000000000000" pitchFamily="2" charset="2"/>
              </a:rPr>
              <a:t>=20, w=4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>
                <a:sym typeface="Wingdings" panose="05000000000000000000" pitchFamily="2" charset="2"/>
              </a:rPr>
              <a:t>翻译</a:t>
            </a:r>
            <a:r>
              <a:rPr lang="en-US" altLang="zh-CN" sz="2800" dirty="0">
                <a:sym typeface="Wingdings" panose="05000000000000000000" pitchFamily="2" charset="2"/>
              </a:rPr>
              <a:t>x := A[y, z]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dirty="0"/>
              <a:t>生成的三地址码：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/>
              <a:t>t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:= y * 20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/>
              <a:t>t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:= t</a:t>
            </a:r>
            <a:r>
              <a:rPr lang="en-US" altLang="zh-CN" sz="2800" baseline="-25000" dirty="0"/>
              <a:t>1</a:t>
            </a:r>
            <a:r>
              <a:rPr lang="en-US" altLang="zh-CN" sz="2800" dirty="0"/>
              <a:t> + z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/>
              <a:t>t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 := c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/>
              <a:t>t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 := 4 * t</a:t>
            </a:r>
            <a:r>
              <a:rPr lang="en-US" altLang="zh-CN" sz="2800" baseline="-25000" dirty="0"/>
              <a:t>1</a:t>
            </a:r>
            <a:endParaRPr lang="en-US" altLang="zh-CN" sz="2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/>
              <a:t>t</a:t>
            </a:r>
            <a:r>
              <a:rPr lang="en-US" altLang="zh-CN" sz="2800" baseline="-25000" dirty="0"/>
              <a:t>4</a:t>
            </a:r>
            <a:r>
              <a:rPr lang="en-US" altLang="zh-CN" sz="2800" dirty="0"/>
              <a:t> := t</a:t>
            </a:r>
            <a:r>
              <a:rPr lang="en-US" altLang="zh-CN" sz="2800" baseline="-25000" dirty="0"/>
              <a:t>2</a:t>
            </a:r>
            <a:r>
              <a:rPr lang="en-US" altLang="zh-CN" sz="2800" dirty="0"/>
              <a:t>[t</a:t>
            </a:r>
            <a:r>
              <a:rPr lang="en-US" altLang="zh-CN" sz="2800" baseline="-25000" dirty="0"/>
              <a:t>3</a:t>
            </a:r>
            <a:r>
              <a:rPr lang="en-US" altLang="zh-CN" sz="2800" dirty="0"/>
              <a:t>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dirty="0"/>
              <a:t>x := t</a:t>
            </a:r>
            <a:r>
              <a:rPr lang="en-US" altLang="zh-CN" sz="2800" baseline="-25000" dirty="0"/>
              <a:t>4</a:t>
            </a:r>
            <a:endParaRPr lang="en-US" altLang="zh-CN" sz="2800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569563A-F399-4071-BFB8-CDC7A925C025}"/>
              </a:ext>
            </a:extLst>
          </p:cNvPr>
          <p:cNvSpPr>
            <a:spLocks/>
          </p:cNvSpPr>
          <p:nvPr/>
        </p:nvSpPr>
        <p:spPr bwMode="ltGray">
          <a:xfrm>
            <a:off x="2699793" y="3140968"/>
            <a:ext cx="3871914" cy="1368151"/>
          </a:xfrm>
          <a:custGeom>
            <a:avLst/>
            <a:gdLst>
              <a:gd name="T0" fmla="*/ 0 w 2269"/>
              <a:gd name="T1" fmla="*/ 0 h 239"/>
              <a:gd name="T2" fmla="*/ 2147483646 w 2269"/>
              <a:gd name="T3" fmla="*/ 2147483646 h 239"/>
              <a:gd name="T4" fmla="*/ 0 60000 65536"/>
              <a:gd name="T5" fmla="*/ 0 60000 65536"/>
              <a:gd name="T6" fmla="*/ 0 w 2269"/>
              <a:gd name="T7" fmla="*/ 0 h 239"/>
              <a:gd name="T8" fmla="*/ 2269 w 2269"/>
              <a:gd name="T9" fmla="*/ 239 h 23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269" h="239">
                <a:moveTo>
                  <a:pt x="0" y="0"/>
                </a:moveTo>
                <a:lnTo>
                  <a:pt x="2269" y="239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6F6D06AD-58B5-47EA-8DCF-1C5A48E4D62F}"/>
              </a:ext>
            </a:extLst>
          </p:cNvPr>
          <p:cNvSpPr>
            <a:spLocks/>
          </p:cNvSpPr>
          <p:nvPr/>
        </p:nvSpPr>
        <p:spPr bwMode="ltGray">
          <a:xfrm>
            <a:off x="2627784" y="3717033"/>
            <a:ext cx="5112568" cy="864096"/>
          </a:xfrm>
          <a:custGeom>
            <a:avLst/>
            <a:gdLst>
              <a:gd name="T0" fmla="*/ 0 w 2269"/>
              <a:gd name="T1" fmla="*/ 0 h 239"/>
              <a:gd name="T2" fmla="*/ 2147483646 w 2269"/>
              <a:gd name="T3" fmla="*/ 2147483646 h 239"/>
              <a:gd name="T4" fmla="*/ 0 60000 65536"/>
              <a:gd name="T5" fmla="*/ 0 60000 65536"/>
              <a:gd name="T6" fmla="*/ 0 w 2269"/>
              <a:gd name="T7" fmla="*/ 0 h 239"/>
              <a:gd name="T8" fmla="*/ 2269 w 2269"/>
              <a:gd name="T9" fmla="*/ 239 h 23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269" h="239">
                <a:moveTo>
                  <a:pt x="0" y="0"/>
                </a:moveTo>
                <a:lnTo>
                  <a:pt x="2269" y="239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933915AE-2F2F-4D27-A991-786363F6AF4D}"/>
              </a:ext>
            </a:extLst>
          </p:cNvPr>
          <p:cNvSpPr>
            <a:spLocks/>
          </p:cNvSpPr>
          <p:nvPr/>
        </p:nvSpPr>
        <p:spPr bwMode="ltGray">
          <a:xfrm flipV="1">
            <a:off x="2483768" y="3645024"/>
            <a:ext cx="4087939" cy="1088505"/>
          </a:xfrm>
          <a:custGeom>
            <a:avLst/>
            <a:gdLst>
              <a:gd name="T0" fmla="*/ 0 w 2269"/>
              <a:gd name="T1" fmla="*/ 0 h 239"/>
              <a:gd name="T2" fmla="*/ 2147483646 w 2269"/>
              <a:gd name="T3" fmla="*/ 2147483646 h 239"/>
              <a:gd name="T4" fmla="*/ 0 60000 65536"/>
              <a:gd name="T5" fmla="*/ 0 60000 65536"/>
              <a:gd name="T6" fmla="*/ 0 w 2269"/>
              <a:gd name="T7" fmla="*/ 0 h 239"/>
              <a:gd name="T8" fmla="*/ 2269 w 2269"/>
              <a:gd name="T9" fmla="*/ 239 h 23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269" h="239">
                <a:moveTo>
                  <a:pt x="0" y="0"/>
                </a:moveTo>
                <a:lnTo>
                  <a:pt x="2269" y="239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Freeform 13">
            <a:extLst>
              <a:ext uri="{FF2B5EF4-FFF2-40B4-BE49-F238E27FC236}">
                <a16:creationId xmlns:a16="http://schemas.microsoft.com/office/drawing/2014/main" id="{376906F6-592F-4755-A1DD-600033DECB90}"/>
              </a:ext>
            </a:extLst>
          </p:cNvPr>
          <p:cNvSpPr>
            <a:spLocks/>
          </p:cNvSpPr>
          <p:nvPr/>
        </p:nvSpPr>
        <p:spPr bwMode="ltGray">
          <a:xfrm flipV="1">
            <a:off x="2464995" y="2636912"/>
            <a:ext cx="5275357" cy="2625380"/>
          </a:xfrm>
          <a:custGeom>
            <a:avLst/>
            <a:gdLst>
              <a:gd name="T0" fmla="*/ 0 w 2269"/>
              <a:gd name="T1" fmla="*/ 0 h 239"/>
              <a:gd name="T2" fmla="*/ 2147483646 w 2269"/>
              <a:gd name="T3" fmla="*/ 2147483646 h 239"/>
              <a:gd name="T4" fmla="*/ 0 60000 65536"/>
              <a:gd name="T5" fmla="*/ 0 60000 65536"/>
              <a:gd name="T6" fmla="*/ 0 w 2269"/>
              <a:gd name="T7" fmla="*/ 0 h 239"/>
              <a:gd name="T8" fmla="*/ 2269 w 2269"/>
              <a:gd name="T9" fmla="*/ 239 h 23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269" h="239">
                <a:moveTo>
                  <a:pt x="0" y="0"/>
                </a:moveTo>
                <a:lnTo>
                  <a:pt x="2269" y="239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35E67913-9140-4123-8AC8-042236E0AC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8.3.5  </a:t>
            </a:r>
            <a:r>
              <a:rPr lang="zh-CN" altLang="en-US"/>
              <a:t>类型转换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964B25ED-AB78-42CA-8153-897064CC51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371600"/>
            <a:ext cx="8116888" cy="5410200"/>
          </a:xfrm>
        </p:spPr>
        <p:txBody>
          <a:bodyPr/>
          <a:lstStyle/>
          <a:p>
            <a:pPr eaLnBrk="1" hangingPunct="1"/>
            <a:r>
              <a:rPr lang="en-US" altLang="zh-CN" sz="2800"/>
              <a:t>E→E</a:t>
            </a:r>
            <a:r>
              <a:rPr lang="en-US" altLang="zh-CN" sz="2800" baseline="-25000"/>
              <a:t>1 </a:t>
            </a:r>
            <a:r>
              <a:rPr lang="en-US" altLang="zh-CN" sz="2800"/>
              <a:t>+ E</a:t>
            </a:r>
            <a:r>
              <a:rPr lang="en-US" altLang="zh-CN" sz="2800" baseline="-25000"/>
              <a:t>2</a:t>
            </a:r>
            <a:r>
              <a:rPr lang="zh-CN" altLang="en-US" sz="2800"/>
              <a:t>的语义动作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E.place = newtemp;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if</a:t>
            </a:r>
            <a:r>
              <a:rPr lang="en-US" altLang="zh-CN" sz="2000"/>
              <a:t> (E</a:t>
            </a:r>
            <a:r>
              <a:rPr lang="en-US" altLang="zh-CN" sz="2000" baseline="-25000"/>
              <a:t>1</a:t>
            </a:r>
            <a:r>
              <a:rPr lang="en-US" altLang="zh-CN" sz="2000"/>
              <a:t>.type == integer &amp;&amp; E</a:t>
            </a:r>
            <a:r>
              <a:rPr lang="en-US" altLang="zh-CN" sz="2000" baseline="-25000"/>
              <a:t>2</a:t>
            </a:r>
            <a:r>
              <a:rPr lang="en-US" altLang="zh-CN" sz="2000"/>
              <a:t>.type == integer)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emit(E.place ‘:=’ E</a:t>
            </a:r>
            <a:r>
              <a:rPr lang="en-US" altLang="zh-CN" sz="2000" baseline="-25000"/>
              <a:t>1</a:t>
            </a:r>
            <a:r>
              <a:rPr lang="en-US" altLang="zh-CN" sz="2000"/>
              <a:t>.place ‘int+’ E</a:t>
            </a:r>
            <a:r>
              <a:rPr lang="en-US" altLang="zh-CN" sz="2000" baseline="-25000"/>
              <a:t>2</a:t>
            </a:r>
            <a:r>
              <a:rPr lang="en-US" altLang="zh-CN" sz="2000"/>
              <a:t>.place; E.type = integer;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else</a:t>
            </a:r>
            <a:r>
              <a:rPr lang="en-US" altLang="zh-CN" sz="2000"/>
              <a:t> </a:t>
            </a:r>
            <a:r>
              <a:rPr lang="en-US" altLang="zh-CN" sz="2000" b="1"/>
              <a:t>if</a:t>
            </a:r>
            <a:r>
              <a:rPr lang="en-US" altLang="zh-CN" sz="2000"/>
              <a:t> (E</a:t>
            </a:r>
            <a:r>
              <a:rPr lang="en-US" altLang="zh-CN" sz="2000" baseline="-25000"/>
              <a:t>1</a:t>
            </a:r>
            <a:r>
              <a:rPr lang="en-US" altLang="zh-CN" sz="2000"/>
              <a:t>.type == real &amp;&amp; E</a:t>
            </a:r>
            <a:r>
              <a:rPr lang="en-US" altLang="zh-CN" sz="2000" baseline="-25000"/>
              <a:t>2</a:t>
            </a:r>
            <a:r>
              <a:rPr lang="en-US" altLang="zh-CN" sz="2000"/>
              <a:t>.type == real)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emit(E.place ‘:=’ E</a:t>
            </a:r>
            <a:r>
              <a:rPr lang="en-US" altLang="zh-CN" sz="2000" baseline="-25000"/>
              <a:t>1</a:t>
            </a:r>
            <a:r>
              <a:rPr lang="en-US" altLang="zh-CN" sz="2000"/>
              <a:t>.place ‘real+’ E</a:t>
            </a:r>
            <a:r>
              <a:rPr lang="en-US" altLang="zh-CN" sz="2000" baseline="-25000"/>
              <a:t>2</a:t>
            </a:r>
            <a:r>
              <a:rPr lang="en-US" altLang="zh-CN" sz="2000"/>
              <a:t>.place; E.type = real;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else if</a:t>
            </a:r>
            <a:r>
              <a:rPr lang="en-US" altLang="zh-CN" sz="2000"/>
              <a:t> (E</a:t>
            </a:r>
            <a:r>
              <a:rPr lang="en-US" altLang="zh-CN" sz="2000" baseline="-25000"/>
              <a:t>1</a:t>
            </a:r>
            <a:r>
              <a:rPr lang="en-US" altLang="zh-CN" sz="2000"/>
              <a:t>.type == integer &amp;&amp; E</a:t>
            </a:r>
            <a:r>
              <a:rPr lang="en-US" altLang="zh-CN" sz="2000" baseline="-25000"/>
              <a:t>2</a:t>
            </a:r>
            <a:r>
              <a:rPr lang="en-US" altLang="zh-CN" sz="2000"/>
              <a:t>.type == real) 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u = newtemp;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emit(u ‘:=’ ‘inttoreal’ E</a:t>
            </a:r>
            <a:r>
              <a:rPr lang="en-US" altLang="zh-CN" sz="2000" baseline="-25000"/>
              <a:t>1</a:t>
            </a:r>
            <a:r>
              <a:rPr lang="en-US" altLang="zh-CN" sz="2000"/>
              <a:t>.place);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emit(E.place ‘:=’ u ‘real+’ E</a:t>
            </a:r>
            <a:r>
              <a:rPr lang="en-US" altLang="zh-CN" sz="2000" baseline="-25000"/>
              <a:t>2</a:t>
            </a:r>
            <a:r>
              <a:rPr lang="en-US" altLang="zh-CN" sz="2000"/>
              <a:t>.place; E.type = integer;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b="1"/>
              <a:t>else if</a:t>
            </a:r>
            <a:r>
              <a:rPr lang="en-US" altLang="zh-CN" sz="2000"/>
              <a:t> (E</a:t>
            </a:r>
            <a:r>
              <a:rPr lang="en-US" altLang="zh-CN" sz="2000" baseline="-25000"/>
              <a:t>1</a:t>
            </a:r>
            <a:r>
              <a:rPr lang="en-US" altLang="zh-CN" sz="2000"/>
              <a:t>.type == real &amp;&amp; E</a:t>
            </a:r>
            <a:r>
              <a:rPr lang="en-US" altLang="zh-CN" sz="2000" baseline="-25000"/>
              <a:t>2</a:t>
            </a:r>
            <a:r>
              <a:rPr lang="en-US" altLang="zh-CN" sz="2000"/>
              <a:t>.type == integer) …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026">
            <a:extLst>
              <a:ext uri="{FF2B5EF4-FFF2-40B4-BE49-F238E27FC236}">
                <a16:creationId xmlns:a16="http://schemas.microsoft.com/office/drawing/2014/main" id="{ADC3CC8E-3468-4D0D-B7FE-06F2C3A861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类型转换例子</a:t>
            </a:r>
          </a:p>
        </p:txBody>
      </p:sp>
      <p:sp>
        <p:nvSpPr>
          <p:cNvPr id="35843" name="Rectangle 1027">
            <a:extLst>
              <a:ext uri="{FF2B5EF4-FFF2-40B4-BE49-F238E27FC236}">
                <a16:creationId xmlns:a16="http://schemas.microsoft.com/office/drawing/2014/main" id="{8AFF0C71-507E-4EFD-BF13-4234EDB866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10200"/>
          </a:xfrm>
        </p:spPr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en-US" altLang="zh-CN" sz="2800"/>
              <a:t>x := y + i * j</a:t>
            </a:r>
            <a:br>
              <a:rPr lang="en-US" altLang="zh-CN" sz="2800"/>
            </a:br>
            <a:r>
              <a:rPr lang="en-US" altLang="zh-CN" sz="2800"/>
              <a:t>x</a:t>
            </a:r>
            <a:r>
              <a:rPr lang="zh-CN" altLang="en-US" sz="2800"/>
              <a:t>、</a:t>
            </a:r>
            <a:r>
              <a:rPr lang="en-US" altLang="zh-CN" sz="2800"/>
              <a:t>y——</a:t>
            </a:r>
            <a:r>
              <a:rPr lang="zh-CN" altLang="en-US" sz="2800"/>
              <a:t>实数</a:t>
            </a:r>
            <a:br>
              <a:rPr lang="zh-CN" altLang="en-US" sz="2800"/>
            </a:br>
            <a:r>
              <a:rPr lang="en-US" altLang="zh-CN" sz="2800"/>
              <a:t>i</a:t>
            </a:r>
            <a:r>
              <a:rPr lang="zh-CN" altLang="en-US" sz="2800"/>
              <a:t>、</a:t>
            </a:r>
            <a:r>
              <a:rPr lang="en-US" altLang="zh-CN" sz="2800"/>
              <a:t>j——</a:t>
            </a:r>
            <a:r>
              <a:rPr lang="zh-CN" altLang="en-US" sz="2800"/>
              <a:t>整数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endParaRPr lang="zh-CN" altLang="en-US" sz="28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800"/>
              <a:t>	</a:t>
            </a:r>
            <a:r>
              <a:rPr lang="en-US" altLang="zh-CN" sz="2800"/>
              <a:t>t</a:t>
            </a:r>
            <a:r>
              <a:rPr lang="en-US" altLang="zh-CN" sz="2800" baseline="-25000"/>
              <a:t>1</a:t>
            </a:r>
            <a:r>
              <a:rPr lang="en-US" altLang="zh-CN" sz="2800"/>
              <a:t> := i  int*  j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800"/>
              <a:t>	t</a:t>
            </a:r>
            <a:r>
              <a:rPr lang="en-US" altLang="zh-CN" sz="2800" baseline="-25000"/>
              <a:t>3</a:t>
            </a:r>
            <a:r>
              <a:rPr lang="en-US" altLang="zh-CN" sz="2800"/>
              <a:t> := inttoreal  t</a:t>
            </a:r>
            <a:r>
              <a:rPr lang="en-US" altLang="zh-CN" sz="2800" baseline="-25000"/>
              <a:t>1</a:t>
            </a:r>
            <a:endParaRPr lang="en-US" altLang="zh-CN" sz="28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800"/>
              <a:t>	t</a:t>
            </a:r>
            <a:r>
              <a:rPr lang="en-US" altLang="zh-CN" sz="2800" baseline="-25000"/>
              <a:t>2</a:t>
            </a:r>
            <a:r>
              <a:rPr lang="en-US" altLang="zh-CN" sz="2800"/>
              <a:t> := y real+ t</a:t>
            </a:r>
            <a:r>
              <a:rPr lang="en-US" altLang="zh-CN" sz="2800" baseline="-25000"/>
              <a:t>3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800"/>
              <a:t>	x := t</a:t>
            </a:r>
            <a:r>
              <a:rPr lang="en-US" altLang="zh-CN" sz="2800" baseline="-25000"/>
              <a:t>2</a:t>
            </a:r>
            <a:endParaRPr lang="en-US" altLang="zh-CN" sz="28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7F3AD406-7EB7-4DAB-8889-64F3135305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8.3.6  </a:t>
            </a:r>
            <a:r>
              <a:rPr lang="zh-CN" altLang="en-US"/>
              <a:t>记录（结构）域的访问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2789D0D0-3285-4F13-92A3-1C6EC6B01F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保存每个域的类型和相对地址</a:t>
            </a:r>
            <a:r>
              <a:rPr lang="zh-CN" altLang="en-US" sz="2800" dirty="0">
                <a:sym typeface="Wingdings" panose="05000000000000000000" pitchFamily="2" charset="2"/>
              </a:rPr>
              <a:t>符号表</a:t>
            </a:r>
          </a:p>
          <a:p>
            <a:pPr eaLnBrk="1" hangingPunct="1"/>
            <a:r>
              <a:rPr lang="en-US" altLang="zh-CN" sz="2800" dirty="0">
                <a:sym typeface="Wingdings" panose="05000000000000000000" pitchFamily="2" charset="2"/>
              </a:rPr>
              <a:t>lookup</a:t>
            </a:r>
            <a:r>
              <a:rPr lang="zh-CN" altLang="en-US" sz="2800" dirty="0">
                <a:sym typeface="Wingdings" panose="05000000000000000000" pitchFamily="2" charset="2"/>
              </a:rPr>
              <a:t>可用于域名字</a:t>
            </a:r>
          </a:p>
          <a:p>
            <a:pPr eaLnBrk="1" hangingPunct="1"/>
            <a:r>
              <a:rPr lang="zh-CN" altLang="en-US" sz="2800" dirty="0">
                <a:sym typeface="Wingdings" panose="05000000000000000000" pitchFamily="2" charset="2"/>
              </a:rPr>
              <a:t>独立符号表</a:t>
            </a:r>
          </a:p>
          <a:p>
            <a:pPr eaLnBrk="1" hangingPunct="1"/>
            <a:r>
              <a:rPr lang="en-US" altLang="zh-CN" sz="2800" dirty="0">
                <a:sym typeface="Wingdings" panose="05000000000000000000" pitchFamily="2" charset="2"/>
              </a:rPr>
              <a:t>t</a:t>
            </a:r>
            <a:r>
              <a:rPr lang="zh-CN" altLang="en-US" sz="2800" dirty="0">
                <a:sym typeface="Wingdings" panose="05000000000000000000" pitchFamily="2" charset="2"/>
              </a:rPr>
              <a:t>：符号表指针，</a:t>
            </a:r>
            <a:r>
              <a:rPr lang="en-US" altLang="zh-CN" sz="2800" dirty="0">
                <a:sym typeface="Wingdings" panose="05000000000000000000" pitchFamily="2" charset="2"/>
              </a:rPr>
              <a:t>record(t)</a:t>
            </a:r>
            <a:r>
              <a:rPr lang="en-US" altLang="zh-CN" sz="2800" dirty="0" err="1">
                <a:sym typeface="Wingdings" panose="05000000000000000000" pitchFamily="2" charset="2"/>
              </a:rPr>
              <a:t>T.type</a:t>
            </a:r>
            <a:endParaRPr lang="en-US" altLang="zh-CN" sz="2800" dirty="0"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sz="2800" dirty="0">
                <a:sym typeface="Wingdings" panose="05000000000000000000" pitchFamily="2" charset="2"/>
              </a:rPr>
              <a:t>翻译</a:t>
            </a:r>
            <a:r>
              <a:rPr lang="en-US" altLang="zh-CN" sz="2800" dirty="0">
                <a:sym typeface="Wingdings" panose="05000000000000000000" pitchFamily="2" charset="2"/>
              </a:rPr>
              <a:t>p^.info + 1</a:t>
            </a:r>
          </a:p>
          <a:p>
            <a:pPr lvl="1" eaLnBrk="1" hangingPunct="1"/>
            <a:r>
              <a:rPr lang="en-US" altLang="zh-CN" sz="2400" dirty="0"/>
              <a:t>p</a:t>
            </a:r>
            <a:r>
              <a:rPr lang="zh-CN" altLang="en-US" sz="2400" dirty="0"/>
              <a:t>的类型</a:t>
            </a:r>
            <a:r>
              <a:rPr lang="en-US" altLang="zh-CN" sz="2400" dirty="0"/>
              <a:t>pointer(record(t))</a:t>
            </a:r>
          </a:p>
          <a:p>
            <a:pPr lvl="1" eaLnBrk="1" hangingPunct="1"/>
            <a:r>
              <a:rPr lang="en-US" altLang="zh-CN" sz="2400" dirty="0"/>
              <a:t>p^</a:t>
            </a:r>
            <a:r>
              <a:rPr lang="zh-CN" altLang="en-US" sz="2400" dirty="0"/>
              <a:t>的类型</a:t>
            </a:r>
            <a:r>
              <a:rPr lang="en-US" altLang="zh-CN" sz="2400" dirty="0"/>
              <a:t>record(t)</a:t>
            </a:r>
          </a:p>
          <a:p>
            <a:pPr lvl="1" eaLnBrk="1" hangingPunct="1"/>
            <a:r>
              <a:rPr lang="zh-CN" altLang="en-US" sz="2400" dirty="0"/>
              <a:t>得到</a:t>
            </a:r>
            <a:r>
              <a:rPr lang="en-US" altLang="zh-CN" sz="2400" dirty="0"/>
              <a:t>t</a:t>
            </a:r>
            <a:r>
              <a:rPr lang="en-US" altLang="zh-CN" sz="2400" dirty="0"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sym typeface="Wingdings" panose="05000000000000000000" pitchFamily="2" charset="2"/>
              </a:rPr>
              <a:t>查找</a:t>
            </a:r>
            <a:r>
              <a:rPr lang="en-US" altLang="zh-CN" sz="2400" dirty="0">
                <a:sym typeface="Wingdings" panose="05000000000000000000" pitchFamily="2" charset="2"/>
              </a:rPr>
              <a:t>info</a:t>
            </a:r>
            <a:r>
              <a:rPr lang="zh-CN" altLang="en-US" sz="2400" dirty="0">
                <a:sym typeface="Wingdings" panose="05000000000000000000" pitchFamily="2" charset="2"/>
              </a:rPr>
              <a:t>域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12823C27-1364-4E7D-A284-6F76673089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8.4  </a:t>
            </a:r>
            <a:r>
              <a:rPr lang="zh-CN" altLang="en-US"/>
              <a:t>布尔表达式的翻译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5D4711D5-C7BD-4BD7-8B43-02518511BB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34000"/>
          </a:xfrm>
        </p:spPr>
        <p:txBody>
          <a:bodyPr/>
          <a:lstStyle/>
          <a:p>
            <a:pPr eaLnBrk="1" hangingPunct="1"/>
            <a:r>
              <a:rPr lang="en-US" altLang="zh-CN" sz="2000" dirty="0"/>
              <a:t>E→E </a:t>
            </a:r>
            <a:r>
              <a:rPr lang="en-US" altLang="zh-CN" sz="2000" b="1" dirty="0"/>
              <a:t>or</a:t>
            </a:r>
            <a:r>
              <a:rPr lang="en-US" altLang="zh-CN" sz="2000" dirty="0"/>
              <a:t> E | E </a:t>
            </a:r>
            <a:r>
              <a:rPr lang="en-US" altLang="zh-CN" sz="2000" b="1" dirty="0"/>
              <a:t>and</a:t>
            </a:r>
            <a:r>
              <a:rPr lang="en-US" altLang="zh-CN" sz="2000" dirty="0"/>
              <a:t> E | </a:t>
            </a:r>
            <a:r>
              <a:rPr lang="en-US" altLang="zh-CN" sz="2000" b="1" dirty="0"/>
              <a:t>not</a:t>
            </a:r>
            <a:r>
              <a:rPr lang="en-US" altLang="zh-CN" sz="2000" dirty="0"/>
              <a:t> E | (E) | </a:t>
            </a:r>
            <a:r>
              <a:rPr lang="en-US" altLang="zh-CN" sz="2000" b="1" dirty="0"/>
              <a:t>id</a:t>
            </a:r>
            <a:r>
              <a:rPr lang="en-US" altLang="zh-CN" sz="2000" dirty="0"/>
              <a:t> </a:t>
            </a:r>
            <a:r>
              <a:rPr lang="en-US" altLang="zh-CN" sz="2000" b="1" dirty="0" err="1"/>
              <a:t>relop</a:t>
            </a:r>
            <a:r>
              <a:rPr lang="en-US" altLang="zh-CN" sz="2000" dirty="0"/>
              <a:t> </a:t>
            </a:r>
            <a:r>
              <a:rPr lang="en-US" altLang="zh-CN" sz="2000" b="1" dirty="0"/>
              <a:t>id</a:t>
            </a:r>
            <a:r>
              <a:rPr lang="en-US" altLang="zh-CN" sz="2000" dirty="0"/>
              <a:t> | </a:t>
            </a:r>
            <a:r>
              <a:rPr lang="en-US" altLang="zh-CN" sz="2000" b="1" dirty="0"/>
              <a:t>true</a:t>
            </a:r>
            <a:r>
              <a:rPr lang="en-US" altLang="zh-CN" sz="2000" dirty="0"/>
              <a:t> | </a:t>
            </a:r>
            <a:r>
              <a:rPr lang="en-US" altLang="zh-CN" sz="2000" b="1" dirty="0"/>
              <a:t>false</a:t>
            </a:r>
          </a:p>
          <a:p>
            <a:pPr eaLnBrk="1" hangingPunct="1"/>
            <a:r>
              <a:rPr lang="en-US" altLang="zh-CN" sz="2800" dirty="0"/>
              <a:t>8.4.1  </a:t>
            </a:r>
            <a:r>
              <a:rPr lang="zh-CN" altLang="en-US" sz="2800" dirty="0"/>
              <a:t>两种翻译方式</a:t>
            </a:r>
          </a:p>
          <a:p>
            <a:pPr lvl="1" eaLnBrk="1" hangingPunct="1"/>
            <a:r>
              <a:rPr lang="zh-CN" altLang="en-US" sz="2400" dirty="0"/>
              <a:t>数值编码：</a:t>
            </a:r>
            <a:r>
              <a:rPr lang="en-US" altLang="zh-CN" sz="2400" dirty="0"/>
              <a:t>0</a:t>
            </a:r>
            <a:r>
              <a:rPr lang="zh-CN" altLang="en-US" sz="2400" dirty="0"/>
              <a:t>－</a:t>
            </a:r>
            <a:r>
              <a:rPr lang="en-US" altLang="zh-CN" sz="2400" dirty="0"/>
              <a:t>false</a:t>
            </a:r>
            <a:r>
              <a:rPr lang="zh-CN" altLang="en-US" sz="2400" dirty="0"/>
              <a:t>，非</a:t>
            </a:r>
            <a:r>
              <a:rPr lang="en-US" altLang="zh-CN" sz="2400" dirty="0"/>
              <a:t>0</a:t>
            </a:r>
            <a:r>
              <a:rPr lang="zh-CN" altLang="en-US" sz="2400" dirty="0"/>
              <a:t>－</a:t>
            </a:r>
            <a:r>
              <a:rPr lang="en-US" altLang="zh-CN" sz="2400" dirty="0" err="1"/>
              <a:t>ture</a:t>
            </a:r>
            <a:endParaRPr lang="en-US" altLang="zh-CN" sz="2400" dirty="0"/>
          </a:p>
          <a:p>
            <a:pPr lvl="1" eaLnBrk="1" hangingPunct="1"/>
            <a:r>
              <a:rPr lang="zh-CN" altLang="en-US" sz="2400" dirty="0"/>
              <a:t>结合控制流语句</a:t>
            </a:r>
            <a:br>
              <a:rPr lang="zh-CN" altLang="en-US" sz="2400" dirty="0"/>
            </a:br>
            <a:r>
              <a:rPr lang="zh-CN" altLang="en-US" sz="2400" dirty="0"/>
              <a:t>属性</a:t>
            </a:r>
            <a:r>
              <a:rPr lang="en-US" altLang="zh-CN" sz="2400" dirty="0"/>
              <a:t>true——</a:t>
            </a:r>
            <a:r>
              <a:rPr lang="zh-CN" altLang="en-US" sz="2400" dirty="0"/>
              <a:t>布尔表达式为真时跳转到的程序位置</a:t>
            </a:r>
            <a:br>
              <a:rPr lang="zh-CN" altLang="en-US" sz="2400" dirty="0"/>
            </a:br>
            <a:r>
              <a:rPr lang="zh-CN" altLang="en-US" sz="2400" dirty="0"/>
              <a:t>属性</a:t>
            </a:r>
            <a:r>
              <a:rPr lang="en-US" altLang="zh-CN" sz="2400" dirty="0"/>
              <a:t>false——</a:t>
            </a:r>
            <a:r>
              <a:rPr lang="zh-CN" altLang="en-US" sz="2400" dirty="0"/>
              <a:t>布尔表达式为假时跳转到的程序位置</a:t>
            </a:r>
          </a:p>
          <a:p>
            <a:pPr eaLnBrk="1" hangingPunct="1"/>
            <a:r>
              <a:rPr lang="zh-CN" altLang="en-US" sz="2800" dirty="0"/>
              <a:t>短路求值</a:t>
            </a:r>
          </a:p>
          <a:p>
            <a:pPr lvl="1" eaLnBrk="1" hangingPunct="1"/>
            <a:r>
              <a:rPr lang="en-US" altLang="zh-CN" sz="2400" dirty="0"/>
              <a:t>E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or E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，</a:t>
            </a:r>
            <a:r>
              <a:rPr lang="en-US" altLang="zh-CN" sz="2400" dirty="0"/>
              <a:t>E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=false</a:t>
            </a:r>
            <a:r>
              <a:rPr lang="zh-CN" altLang="en-US" sz="2400" dirty="0"/>
              <a:t>才对</a:t>
            </a:r>
            <a:r>
              <a:rPr lang="en-US" altLang="zh-CN" sz="2400" dirty="0"/>
              <a:t>E</a:t>
            </a:r>
            <a:r>
              <a:rPr lang="en-US" altLang="zh-CN" sz="2400" baseline="-25000" dirty="0"/>
              <a:t>2</a:t>
            </a:r>
            <a:r>
              <a:rPr lang="zh-CN" altLang="en-US" sz="2400" dirty="0"/>
              <a:t>求值</a:t>
            </a:r>
          </a:p>
          <a:p>
            <a:pPr lvl="1" eaLnBrk="1" hangingPunct="1"/>
            <a:r>
              <a:rPr lang="zh-CN" altLang="en-US" sz="2400" dirty="0"/>
              <a:t>注意副作用问题：函数调用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BF2B9938-2DC7-4F14-AF15-4FF1FCDF81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8.4.2  </a:t>
            </a:r>
            <a:r>
              <a:rPr lang="zh-CN" altLang="en-US"/>
              <a:t>用数值表示布尔值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F9F52E1C-EB40-4A13-9DB5-49812053FC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340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布尔表达式的翻译类似算术表达式的翻译</a:t>
            </a:r>
            <a:endParaRPr lang="en-US" altLang="zh-CN" sz="2400" dirty="0"/>
          </a:p>
          <a:p>
            <a:pPr lvl="1" eaLnBrk="1" hangingPunct="1"/>
            <a:r>
              <a:rPr lang="zh-CN" altLang="en-US" sz="2400" dirty="0"/>
              <a:t>或</a:t>
            </a:r>
            <a:r>
              <a:rPr lang="en-US" altLang="zh-CN" sz="2400" dirty="0"/>
              <a:t>—</a:t>
            </a:r>
            <a:r>
              <a:rPr lang="zh-CN" altLang="en-US" sz="2400" dirty="0"/>
              <a:t>加、与</a:t>
            </a:r>
            <a:r>
              <a:rPr lang="en-US" altLang="zh-CN" sz="2400" dirty="0"/>
              <a:t>—</a:t>
            </a:r>
            <a:r>
              <a:rPr lang="zh-CN" altLang="en-US" sz="2400" dirty="0"/>
              <a:t>乘、非</a:t>
            </a:r>
            <a:r>
              <a:rPr lang="en-US" altLang="zh-CN" sz="2400" dirty="0"/>
              <a:t>—</a:t>
            </a:r>
            <a:r>
              <a:rPr lang="zh-CN" altLang="en-US" sz="2400" dirty="0"/>
              <a:t>取负</a:t>
            </a:r>
            <a:br>
              <a:rPr lang="en-US" altLang="zh-CN" sz="2400" dirty="0"/>
            </a:br>
            <a:r>
              <a:rPr lang="en-US" altLang="zh-CN" sz="2400" dirty="0"/>
              <a:t>a or b and not c </a:t>
            </a:r>
            <a:r>
              <a:rPr lang="en-US" altLang="zh-CN" sz="2400" dirty="0">
                <a:sym typeface="Wingdings" panose="05000000000000000000" pitchFamily="2" charset="2"/>
              </a:rPr>
              <a:t>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	t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:= not c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	t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:= b and t</a:t>
            </a:r>
            <a:r>
              <a:rPr lang="en-US" altLang="zh-CN" sz="2400" baseline="-25000" dirty="0"/>
              <a:t>1</a:t>
            </a:r>
            <a:endParaRPr lang="en-US" altLang="zh-CN" sz="2400" dirty="0"/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	t</a:t>
            </a:r>
            <a:r>
              <a:rPr lang="en-US" altLang="zh-CN" sz="2400" baseline="-25000" dirty="0"/>
              <a:t>3</a:t>
            </a:r>
            <a:r>
              <a:rPr lang="en-US" altLang="zh-CN" sz="2400" dirty="0"/>
              <a:t> := a or t</a:t>
            </a:r>
            <a:r>
              <a:rPr lang="en-US" altLang="zh-CN" sz="2400" baseline="-25000" dirty="0"/>
              <a:t>2</a:t>
            </a:r>
          </a:p>
          <a:p>
            <a:pPr lvl="1" eaLnBrk="1" hangingPunct="1"/>
            <a:r>
              <a:rPr lang="zh-CN" altLang="en-US" sz="2400" dirty="0"/>
              <a:t>比较运算</a:t>
            </a:r>
            <a:r>
              <a:rPr lang="en-US" altLang="zh-CN" sz="2400" dirty="0">
                <a:sym typeface="Wingdings" panose="05000000000000000000" pitchFamily="2" charset="2"/>
              </a:rPr>
              <a:t></a:t>
            </a:r>
            <a:r>
              <a:rPr lang="zh-CN" altLang="en-US" sz="2400" dirty="0">
                <a:sym typeface="Wingdings" panose="05000000000000000000" pitchFamily="2" charset="2"/>
              </a:rPr>
              <a:t>（无）条件转移语句赋布尔值</a:t>
            </a:r>
            <a:br>
              <a:rPr lang="en-US" altLang="zh-CN" sz="2400" dirty="0">
                <a:sym typeface="Wingdings" panose="05000000000000000000" pitchFamily="2" charset="2"/>
              </a:rPr>
            </a:br>
            <a:r>
              <a:rPr lang="en-US" altLang="zh-CN" sz="2400" dirty="0"/>
              <a:t>a &lt; b </a:t>
            </a:r>
            <a:r>
              <a:rPr lang="en-US" altLang="zh-CN" sz="2400" dirty="0">
                <a:sym typeface="Wingdings" panose="05000000000000000000" pitchFamily="2" charset="2"/>
              </a:rPr>
              <a:t> if a &lt; b then 1 else 0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	100:	if a &lt; b </a:t>
            </a:r>
            <a:r>
              <a:rPr lang="en-US" altLang="zh-CN" sz="2400" dirty="0" err="1"/>
              <a:t>goto</a:t>
            </a:r>
            <a:r>
              <a:rPr lang="en-US" altLang="zh-CN" sz="2400" dirty="0"/>
              <a:t> 103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	101:	t := 0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	102:	</a:t>
            </a:r>
            <a:r>
              <a:rPr lang="en-US" altLang="zh-CN" sz="2400" dirty="0" err="1"/>
              <a:t>goto</a:t>
            </a:r>
            <a:r>
              <a:rPr lang="en-US" altLang="zh-CN" sz="2400" dirty="0"/>
              <a:t> 104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	103:	t := 1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400" dirty="0"/>
              <a:t>	104: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AE646AF5-FDF9-46AA-B697-9AE0873965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翻译模式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647F772-72F1-4532-8A29-276087D82C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76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E→E</a:t>
            </a:r>
            <a:r>
              <a:rPr lang="en-US" altLang="zh-CN" sz="2000" baseline="-25000"/>
              <a:t>1</a:t>
            </a:r>
            <a:r>
              <a:rPr lang="en-US" altLang="zh-CN" sz="2000"/>
              <a:t> </a:t>
            </a:r>
            <a:r>
              <a:rPr lang="en-US" altLang="zh-CN" sz="2000" b="1"/>
              <a:t>or</a:t>
            </a:r>
            <a:r>
              <a:rPr lang="en-US" altLang="zh-CN" sz="2000"/>
              <a:t> E</a:t>
            </a:r>
            <a:r>
              <a:rPr lang="en-US" altLang="zh-CN" sz="2000" baseline="-25000"/>
              <a:t>2</a:t>
            </a:r>
            <a:r>
              <a:rPr lang="en-US" altLang="zh-CN" sz="2000"/>
              <a:t>	{ E.place = newtemp;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		emit(E.place ‘:=’ E</a:t>
            </a:r>
            <a:r>
              <a:rPr lang="en-US" altLang="zh-CN" sz="2000" baseline="-25000"/>
              <a:t>1</a:t>
            </a:r>
            <a:r>
              <a:rPr lang="en-US" altLang="zh-CN" sz="2000"/>
              <a:t>.place ‘or’ E</a:t>
            </a:r>
            <a:r>
              <a:rPr lang="en-US" altLang="zh-CN" sz="2000" baseline="-25000"/>
              <a:t>2</a:t>
            </a:r>
            <a:r>
              <a:rPr lang="en-US" altLang="zh-CN" sz="2000"/>
              <a:t>.place);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E→E</a:t>
            </a:r>
            <a:r>
              <a:rPr lang="en-US" altLang="zh-CN" sz="2000" baseline="-25000"/>
              <a:t>1</a:t>
            </a:r>
            <a:r>
              <a:rPr lang="en-US" altLang="zh-CN" sz="2000"/>
              <a:t> </a:t>
            </a:r>
            <a:r>
              <a:rPr lang="en-US" altLang="zh-CN" sz="2000" b="1"/>
              <a:t>and</a:t>
            </a:r>
            <a:r>
              <a:rPr lang="en-US" altLang="zh-CN" sz="2000"/>
              <a:t> E</a:t>
            </a:r>
            <a:r>
              <a:rPr lang="en-US" altLang="zh-CN" sz="2000" baseline="-25000"/>
              <a:t>2</a:t>
            </a:r>
            <a:r>
              <a:rPr lang="en-US" altLang="zh-CN" sz="2000"/>
              <a:t>	{ E.place = newtemp;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		emit(E.place ‘:=’ E</a:t>
            </a:r>
            <a:r>
              <a:rPr lang="en-US" altLang="zh-CN" sz="2000" baseline="-25000"/>
              <a:t>1</a:t>
            </a:r>
            <a:r>
              <a:rPr lang="en-US" altLang="zh-CN" sz="2000"/>
              <a:t>.place ‘and’ E</a:t>
            </a:r>
            <a:r>
              <a:rPr lang="en-US" altLang="zh-CN" sz="2000" baseline="-25000"/>
              <a:t>2</a:t>
            </a:r>
            <a:r>
              <a:rPr lang="en-US" altLang="zh-CN" sz="2000"/>
              <a:t>.place);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E→</a:t>
            </a:r>
            <a:r>
              <a:rPr lang="en-US" altLang="zh-CN" sz="2000" b="1"/>
              <a:t>not</a:t>
            </a:r>
            <a:r>
              <a:rPr lang="en-US" altLang="zh-CN" sz="2000"/>
              <a:t> E</a:t>
            </a:r>
            <a:r>
              <a:rPr lang="en-US" altLang="zh-CN" sz="2000" baseline="-25000"/>
              <a:t>1</a:t>
            </a:r>
            <a:r>
              <a:rPr lang="en-US" altLang="zh-CN" sz="2000"/>
              <a:t>	{ E.place = newtemp;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		emit(E.place ‘:=’ ‘not’ E</a:t>
            </a:r>
            <a:r>
              <a:rPr lang="en-US" altLang="zh-CN" sz="2000" baseline="-25000"/>
              <a:t>1</a:t>
            </a:r>
            <a:r>
              <a:rPr lang="en-US" altLang="zh-CN" sz="2000"/>
              <a:t>.place);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E→( E</a:t>
            </a:r>
            <a:r>
              <a:rPr lang="en-US" altLang="zh-CN" sz="2000" baseline="-25000"/>
              <a:t>1</a:t>
            </a:r>
            <a:r>
              <a:rPr lang="en-US" altLang="zh-CN" sz="2000"/>
              <a:t> )	{ E.place = E</a:t>
            </a:r>
            <a:r>
              <a:rPr lang="en-US" altLang="zh-CN" sz="2000" baseline="-25000"/>
              <a:t>1</a:t>
            </a:r>
            <a:r>
              <a:rPr lang="en-US" altLang="zh-CN" sz="2000"/>
              <a:t>.place;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E→</a:t>
            </a:r>
            <a:r>
              <a:rPr lang="en-US" altLang="zh-CN" sz="2000" b="1"/>
              <a:t>id</a:t>
            </a:r>
            <a:r>
              <a:rPr lang="en-US" altLang="zh-CN" sz="2000" b="1" baseline="-25000"/>
              <a:t>1</a:t>
            </a:r>
            <a:r>
              <a:rPr lang="en-US" altLang="zh-CN" sz="2000" b="1"/>
              <a:t> relop id</a:t>
            </a:r>
            <a:r>
              <a:rPr lang="en-US" altLang="zh-CN" sz="2000" b="1" baseline="-25000"/>
              <a:t>2</a:t>
            </a:r>
            <a:r>
              <a:rPr lang="en-US" altLang="zh-CN" sz="2000"/>
              <a:t>	{ E.place = newtemp;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		emit(‘if’ </a:t>
            </a:r>
            <a:r>
              <a:rPr lang="en-US" altLang="zh-CN" sz="2000" b="1"/>
              <a:t>id</a:t>
            </a:r>
            <a:r>
              <a:rPr lang="en-US" altLang="zh-CN" sz="2000" baseline="-25000"/>
              <a:t>1</a:t>
            </a:r>
            <a:r>
              <a:rPr lang="en-US" altLang="zh-CN" sz="2000"/>
              <a:t>.place </a:t>
            </a:r>
            <a:r>
              <a:rPr lang="en-US" altLang="zh-CN" sz="2000" b="1"/>
              <a:t>relop</a:t>
            </a:r>
            <a:r>
              <a:rPr lang="en-US" altLang="zh-CN" sz="2000"/>
              <a:t>.op </a:t>
            </a:r>
            <a:r>
              <a:rPr lang="en-US" altLang="zh-CN" sz="2000" b="1"/>
              <a:t>id</a:t>
            </a:r>
            <a:r>
              <a:rPr lang="en-US" altLang="zh-CN" sz="2000" b="1" baseline="-25000"/>
              <a:t>2</a:t>
            </a:r>
            <a:r>
              <a:rPr lang="en-US" altLang="zh-CN" sz="2000"/>
              <a:t>.place ‘goto’ nextstat + 3);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		emit(E.place ‘:=’ ‘0’);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		emit(‘goto’ nextstat + 2);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			emit(E.place ‘:=’ ‘1’);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E→</a:t>
            </a:r>
            <a:r>
              <a:rPr lang="en-US" altLang="zh-CN" sz="2000" b="1"/>
              <a:t>true</a:t>
            </a:r>
            <a:r>
              <a:rPr lang="en-US" altLang="zh-CN" sz="2000"/>
              <a:t>		{ E.place = newtemp; emit(E.place ‘:=’ ‘1’); }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000"/>
              <a:t>E→</a:t>
            </a:r>
            <a:r>
              <a:rPr lang="en-US" altLang="zh-CN" sz="2000" b="1"/>
              <a:t>false</a:t>
            </a:r>
            <a:r>
              <a:rPr lang="en-US" altLang="zh-CN" sz="2000"/>
              <a:t>		{ E.place = newtemp; emit(E.place ‘:=’ ‘0’); }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CAF5CFDA-DA86-44FE-8D9D-B7B54511F2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8.3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47D3233E-0A9B-4FE9-9733-2A21418ADE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400"/>
              <a:t>翻译</a:t>
            </a:r>
            <a:r>
              <a:rPr lang="en-US" altLang="zh-CN" sz="2400"/>
              <a:t>a &lt; b or c &lt; d and e &lt; f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100: if a &lt; b goto 103     	107: t</a:t>
            </a:r>
            <a:r>
              <a:rPr lang="en-US" altLang="zh-CN" sz="2400" baseline="-25000"/>
              <a:t>2</a:t>
            </a:r>
            <a:r>
              <a:rPr lang="en-US" altLang="zh-CN" sz="2400"/>
              <a:t> := 1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101: t</a:t>
            </a:r>
            <a:r>
              <a:rPr lang="en-US" altLang="zh-CN" sz="2400" baseline="-25000"/>
              <a:t>1 </a:t>
            </a:r>
            <a:r>
              <a:rPr lang="en-US" altLang="zh-CN" sz="2400"/>
              <a:t>:= 0			108: if e &lt; f goto 111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102: goto 104		    	109: t</a:t>
            </a:r>
            <a:r>
              <a:rPr lang="en-US" altLang="zh-CN" sz="2400" baseline="-25000"/>
              <a:t>3</a:t>
            </a:r>
            <a:r>
              <a:rPr lang="en-US" altLang="zh-CN" sz="2400"/>
              <a:t> := 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103: t</a:t>
            </a:r>
            <a:r>
              <a:rPr lang="en-US" altLang="zh-CN" sz="2400" baseline="-25000"/>
              <a:t>1</a:t>
            </a:r>
            <a:r>
              <a:rPr lang="en-US" altLang="zh-CN" sz="2400"/>
              <a:t> := 1			110: goto 112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104: if c &lt; d goto 107	    	111: t</a:t>
            </a:r>
            <a:r>
              <a:rPr lang="en-US" altLang="zh-CN" sz="2400" baseline="-25000"/>
              <a:t>3</a:t>
            </a:r>
            <a:r>
              <a:rPr lang="en-US" altLang="zh-CN" sz="2400"/>
              <a:t> := 1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105: t</a:t>
            </a:r>
            <a:r>
              <a:rPr lang="en-US" altLang="zh-CN" sz="2400" baseline="-25000"/>
              <a:t>2</a:t>
            </a:r>
            <a:r>
              <a:rPr lang="en-US" altLang="zh-CN" sz="2400"/>
              <a:t> := 0			112: t</a:t>
            </a:r>
            <a:r>
              <a:rPr lang="en-US" altLang="zh-CN" sz="2400" baseline="-25000"/>
              <a:t>4</a:t>
            </a:r>
            <a:r>
              <a:rPr lang="en-US" altLang="zh-CN" sz="2400"/>
              <a:t> := t</a:t>
            </a:r>
            <a:r>
              <a:rPr lang="en-US" altLang="zh-CN" sz="2400" baseline="-25000"/>
              <a:t>2</a:t>
            </a:r>
            <a:r>
              <a:rPr lang="en-US" altLang="zh-CN" sz="2400"/>
              <a:t> and t</a:t>
            </a:r>
            <a:r>
              <a:rPr lang="en-US" altLang="zh-CN" sz="2400" baseline="-25000"/>
              <a:t>3</a:t>
            </a:r>
            <a:endParaRPr lang="en-US" altLang="zh-CN" sz="24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106: goto 108		    	113: t</a:t>
            </a:r>
            <a:r>
              <a:rPr lang="en-US" altLang="zh-CN" sz="2400" baseline="-25000"/>
              <a:t>5</a:t>
            </a:r>
            <a:r>
              <a:rPr lang="en-US" altLang="zh-CN" sz="2400"/>
              <a:t> := t</a:t>
            </a:r>
            <a:r>
              <a:rPr lang="en-US" altLang="zh-CN" sz="2400" baseline="-25000"/>
              <a:t>1</a:t>
            </a:r>
            <a:r>
              <a:rPr lang="en-US" altLang="zh-CN" sz="2400"/>
              <a:t> or t</a:t>
            </a:r>
            <a:r>
              <a:rPr lang="en-US" altLang="zh-CN" sz="2400" baseline="-25000"/>
              <a:t>4</a:t>
            </a:r>
            <a:endParaRPr lang="en-US" altLang="zh-CN" sz="24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5C138CCF-9440-44E6-9312-1722BF882C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8.4.3  </a:t>
            </a:r>
            <a:r>
              <a:rPr lang="zh-CN" altLang="en-US"/>
              <a:t>控制流语句的翻译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8E9BFFFF-AAB2-4CBA-A8C5-157A2016B6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tabLst/>
              <a:defRPr/>
            </a:pPr>
            <a:r>
              <a:rPr kumimoji="1" lang="zh-CN" alt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布尔表达式翻译回归其本质用途：程序控制流</a:t>
            </a:r>
            <a:endParaRPr lang="en-US" altLang="zh-CN" sz="2800" dirty="0">
              <a:solidFill>
                <a:srgbClr val="000000"/>
              </a:solidFill>
              <a:latin typeface="Times New Roman"/>
              <a:ea typeface="宋体"/>
              <a:sym typeface="Wingdings" panose="05000000000000000000" pitchFamily="2" charset="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9000"/>
              <a:buFont typeface="Wingdings" panose="05000000000000000000" pitchFamily="2" charset="2"/>
              <a:buChar char="q"/>
              <a:tabLst/>
              <a:defRPr/>
            </a:pPr>
            <a:r>
              <a:rPr lang="zh-CN" altLang="en-US" sz="2400" dirty="0">
                <a:sym typeface="Wingdings" panose="05000000000000000000" pitchFamily="2" charset="2"/>
              </a:rPr>
              <a:t>与控制流语句协同翻译：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9000"/>
              <a:buFont typeface="Wingdings" panose="05000000000000000000" pitchFamily="2" charset="2"/>
              <a:buChar char="q"/>
              <a:tabLst/>
              <a:defRPr/>
            </a:pPr>
            <a:r>
              <a:rPr lang="zh-CN" altLang="en-US" sz="2400" dirty="0">
                <a:sym typeface="Wingdings" panose="05000000000000000000" pitchFamily="2" charset="2"/>
              </a:rPr>
              <a:t>控制流语句确定布尔表达式为真</a:t>
            </a:r>
            <a:r>
              <a:rPr lang="en-US" altLang="zh-CN" sz="2400" dirty="0">
                <a:sym typeface="Wingdings" panose="05000000000000000000" pitchFamily="2" charset="2"/>
              </a:rPr>
              <a:t>/</a:t>
            </a:r>
            <a:r>
              <a:rPr lang="zh-CN" altLang="en-US" sz="2400" dirty="0">
                <a:sym typeface="Wingdings" panose="05000000000000000000" pitchFamily="2" charset="2"/>
              </a:rPr>
              <a:t>假时跳转的地址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9000"/>
              <a:buFont typeface="Wingdings" panose="05000000000000000000" pitchFamily="2" charset="2"/>
              <a:buChar char="q"/>
              <a:tabLst/>
              <a:defRPr/>
            </a:pPr>
            <a:r>
              <a:rPr lang="zh-CN" altLang="en-US" sz="2400" dirty="0">
                <a:sym typeface="Wingdings" panose="05000000000000000000" pitchFamily="2" charset="2"/>
              </a:rPr>
              <a:t>作为继承属性传递给布尔表达式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9000"/>
              <a:buFont typeface="Wingdings" panose="05000000000000000000" pitchFamily="2" charset="2"/>
              <a:buChar char="q"/>
              <a:tabLst/>
              <a:defRPr/>
            </a:pPr>
            <a:r>
              <a:rPr lang="zh-CN" altLang="en-US" sz="2400" dirty="0">
                <a:sym typeface="Wingdings" panose="05000000000000000000" pitchFamily="2" charset="2"/>
              </a:rPr>
              <a:t>布尔表达式（比较运算）用其生成跳转语句</a:t>
            </a:r>
            <a:endParaRPr lang="en-US" altLang="zh-CN" sz="2400" dirty="0">
              <a:sym typeface="Wingdings" panose="05000000000000000000" pitchFamily="2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dirty="0" err="1"/>
              <a:t>S→</a:t>
            </a:r>
            <a:r>
              <a:rPr lang="en-US" altLang="zh-CN" sz="2400" b="1" dirty="0" err="1"/>
              <a:t>if</a:t>
            </a:r>
            <a:r>
              <a:rPr lang="en-US" altLang="zh-CN" sz="2400" dirty="0"/>
              <a:t> E </a:t>
            </a:r>
            <a:r>
              <a:rPr lang="en-US" altLang="zh-CN" sz="2400" b="1" dirty="0"/>
              <a:t>then</a:t>
            </a:r>
            <a:r>
              <a:rPr lang="en-US" altLang="zh-CN" sz="2400" dirty="0"/>
              <a:t> S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| </a:t>
            </a:r>
            <a:r>
              <a:rPr lang="en-US" altLang="zh-CN" sz="2400" b="1" dirty="0"/>
              <a:t>if</a:t>
            </a:r>
            <a:r>
              <a:rPr lang="en-US" altLang="zh-CN" sz="2400" dirty="0"/>
              <a:t> E </a:t>
            </a:r>
            <a:r>
              <a:rPr lang="en-US" altLang="zh-CN" sz="2400" b="1" dirty="0"/>
              <a:t>then</a:t>
            </a:r>
            <a:r>
              <a:rPr lang="en-US" altLang="zh-CN" sz="2400" dirty="0"/>
              <a:t> S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 </a:t>
            </a:r>
            <a:r>
              <a:rPr lang="en-US" altLang="zh-CN" sz="2400" b="1" dirty="0"/>
              <a:t>else</a:t>
            </a:r>
            <a:r>
              <a:rPr lang="en-US" altLang="zh-CN" sz="2400" dirty="0"/>
              <a:t> S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| </a:t>
            </a:r>
            <a:r>
              <a:rPr lang="en-US" altLang="zh-CN" sz="2400" b="1" dirty="0"/>
              <a:t>while</a:t>
            </a:r>
            <a:r>
              <a:rPr lang="en-US" altLang="zh-CN" sz="2400" dirty="0"/>
              <a:t> E </a:t>
            </a:r>
            <a:r>
              <a:rPr lang="en-US" altLang="zh-CN" sz="2400" b="1" dirty="0"/>
              <a:t>do</a:t>
            </a:r>
            <a:r>
              <a:rPr lang="en-US" altLang="zh-CN" sz="2400" dirty="0"/>
              <a:t> S</a:t>
            </a:r>
            <a:r>
              <a:rPr lang="en-US" altLang="zh-CN" sz="2400" baseline="-25000" dirty="0"/>
              <a:t>1</a:t>
            </a:r>
            <a:endParaRPr lang="en-US" altLang="zh-CN" sz="2400" dirty="0"/>
          </a:p>
        </p:txBody>
      </p:sp>
      <p:pic>
        <p:nvPicPr>
          <p:cNvPr id="41988" name="Picture 5" descr="ctrl">
            <a:extLst>
              <a:ext uri="{FF2B5EF4-FFF2-40B4-BE49-F238E27FC236}">
                <a16:creationId xmlns:a16="http://schemas.microsoft.com/office/drawing/2014/main" id="{7B483E39-15EB-4572-B378-65A0F7574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63" y="4138439"/>
            <a:ext cx="8618537" cy="2674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7FF25E28-D5AE-4882-89A0-471AF3FB45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语法制导定义－</a:t>
            </a:r>
            <a:r>
              <a:rPr lang="en-US" altLang="zh-CN"/>
              <a:t>if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D70F8B61-0815-4943-AA53-9963BC629A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3581400"/>
            <a:ext cx="7772400" cy="2971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S→ </a:t>
            </a:r>
            <a:r>
              <a:rPr lang="en-US" altLang="zh-CN" sz="2000" b="1"/>
              <a:t>if</a:t>
            </a:r>
            <a:r>
              <a:rPr lang="en-US" altLang="zh-CN" sz="2000"/>
              <a:t> E </a:t>
            </a:r>
            <a:r>
              <a:rPr lang="en-US" altLang="zh-CN" sz="2000" b="1"/>
              <a:t>then</a:t>
            </a:r>
            <a:r>
              <a:rPr lang="en-US" altLang="zh-CN" sz="2000"/>
              <a:t> S</a:t>
            </a:r>
            <a:r>
              <a:rPr lang="en-US" altLang="zh-CN" sz="2000" baseline="-25000"/>
              <a:t>1</a:t>
            </a:r>
            <a:r>
              <a:rPr lang="en-US" altLang="zh-CN" sz="2000"/>
              <a:t>	E.true = newlabel;  E.false = S.next;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S</a:t>
            </a:r>
            <a:r>
              <a:rPr lang="en-US" altLang="zh-CN" sz="2000" baseline="-25000"/>
              <a:t>1</a:t>
            </a:r>
            <a:r>
              <a:rPr lang="en-US" altLang="zh-CN" sz="2000"/>
              <a:t>.next = S.next;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S.code = E.code || gen(E.true ‘:’) || S</a:t>
            </a:r>
            <a:r>
              <a:rPr lang="en-US" altLang="zh-CN" sz="2000" baseline="-25000"/>
              <a:t>1</a:t>
            </a:r>
            <a:r>
              <a:rPr lang="en-US" altLang="zh-CN" sz="2000"/>
              <a:t>.code</a:t>
            </a:r>
          </a:p>
        </p:txBody>
      </p:sp>
      <p:pic>
        <p:nvPicPr>
          <p:cNvPr id="43012" name="Picture 4" descr="if">
            <a:extLst>
              <a:ext uri="{FF2B5EF4-FFF2-40B4-BE49-F238E27FC236}">
                <a16:creationId xmlns:a16="http://schemas.microsoft.com/office/drawing/2014/main" id="{C1B6224F-782E-44D3-BA67-112B59520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371600"/>
            <a:ext cx="2746375" cy="213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EDB9ED9E-69B8-422C-9010-ABB25867E6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语法制导定义－</a:t>
            </a:r>
            <a:r>
              <a:rPr lang="en-US" altLang="zh-CN" dirty="0"/>
              <a:t>if-else</a:t>
            </a:r>
          </a:p>
        </p:txBody>
      </p:sp>
      <p:sp>
        <p:nvSpPr>
          <p:cNvPr id="578563" name="Rectangle 3">
            <a:extLst>
              <a:ext uri="{FF2B5EF4-FFF2-40B4-BE49-F238E27FC236}">
                <a16:creationId xmlns:a16="http://schemas.microsoft.com/office/drawing/2014/main" id="{1C7A7CFF-8F60-4E21-8CF9-B08F6B01C3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3429000"/>
            <a:ext cx="7772400" cy="2667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S→</a:t>
            </a:r>
            <a:r>
              <a:rPr lang="en-US" altLang="zh-CN" sz="2000" b="1"/>
              <a:t>if</a:t>
            </a:r>
            <a:r>
              <a:rPr lang="en-US" altLang="zh-CN" sz="2000"/>
              <a:t> E </a:t>
            </a:r>
            <a:r>
              <a:rPr lang="en-US" altLang="zh-CN" sz="2000" b="1"/>
              <a:t>then</a:t>
            </a:r>
            <a:r>
              <a:rPr lang="en-US" altLang="zh-CN" sz="2000"/>
              <a:t> S</a:t>
            </a:r>
            <a:r>
              <a:rPr lang="en-US" altLang="zh-CN" sz="2000" baseline="-25000"/>
              <a:t>1 </a:t>
            </a:r>
            <a:r>
              <a:rPr lang="en-US" altLang="zh-CN" sz="2000" b="1"/>
              <a:t>else</a:t>
            </a:r>
            <a:r>
              <a:rPr lang="en-US" altLang="zh-CN" sz="2000"/>
              <a:t> S</a:t>
            </a:r>
            <a:r>
              <a:rPr lang="en-US" altLang="zh-CN" sz="2000" baseline="-25000"/>
              <a:t>2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E.true = newlabel;  E.false = newlabel;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S</a:t>
            </a:r>
            <a:r>
              <a:rPr lang="en-US" altLang="zh-CN" sz="2000" baseline="-25000"/>
              <a:t>1</a:t>
            </a:r>
            <a:r>
              <a:rPr lang="en-US" altLang="zh-CN" sz="2000"/>
              <a:t>.next = S.next;  S</a:t>
            </a:r>
            <a:r>
              <a:rPr lang="en-US" altLang="zh-CN" sz="2000" baseline="-25000"/>
              <a:t>2</a:t>
            </a:r>
            <a:r>
              <a:rPr lang="en-US" altLang="zh-CN" sz="2000"/>
              <a:t>.next = S.next;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S.code = E.code || gen(E.true ‘:’) || S</a:t>
            </a:r>
            <a:r>
              <a:rPr lang="en-US" altLang="zh-CN" sz="2000" baseline="-25000"/>
              <a:t>1</a:t>
            </a:r>
            <a:r>
              <a:rPr lang="en-US" altLang="zh-CN" sz="2000"/>
              <a:t>.code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   || gen(‘goto’ S.next) || gen(E.false ‘:’) ||S</a:t>
            </a:r>
            <a:r>
              <a:rPr lang="en-US" altLang="zh-CN" sz="2000" baseline="-25000"/>
              <a:t>2</a:t>
            </a:r>
            <a:r>
              <a:rPr lang="en-US" altLang="zh-CN" sz="2000"/>
              <a:t>.code</a:t>
            </a:r>
          </a:p>
        </p:txBody>
      </p:sp>
      <p:pic>
        <p:nvPicPr>
          <p:cNvPr id="44036" name="Picture 4" descr="else">
            <a:extLst>
              <a:ext uri="{FF2B5EF4-FFF2-40B4-BE49-F238E27FC236}">
                <a16:creationId xmlns:a16="http://schemas.microsoft.com/office/drawing/2014/main" id="{62029635-16A9-4CF8-B91A-70BF0CDD97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1295400"/>
            <a:ext cx="2516188" cy="2398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8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8563" grpId="0" build="p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131A2210-9F91-4541-9FB8-42DC95B725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语法制导定义－</a:t>
            </a:r>
            <a:r>
              <a:rPr lang="en-US" altLang="zh-CN" dirty="0"/>
              <a:t>While</a:t>
            </a:r>
            <a:endParaRPr lang="zh-CN" altLang="en-US" dirty="0"/>
          </a:p>
        </p:txBody>
      </p:sp>
      <p:sp>
        <p:nvSpPr>
          <p:cNvPr id="579587" name="Rectangle 3">
            <a:extLst>
              <a:ext uri="{FF2B5EF4-FFF2-40B4-BE49-F238E27FC236}">
                <a16:creationId xmlns:a16="http://schemas.microsoft.com/office/drawing/2014/main" id="{AE672D9C-627D-4A37-BA15-0C8241B1D2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3352800"/>
            <a:ext cx="7772400" cy="3200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S→</a:t>
            </a:r>
            <a:r>
              <a:rPr lang="en-US" altLang="zh-CN" sz="2000" b="1"/>
              <a:t>while</a:t>
            </a:r>
            <a:r>
              <a:rPr lang="en-US" altLang="zh-CN" sz="2000"/>
              <a:t> E </a:t>
            </a:r>
            <a:r>
              <a:rPr lang="en-US" altLang="zh-CN" sz="2000" b="1"/>
              <a:t>do</a:t>
            </a:r>
            <a:r>
              <a:rPr lang="en-US" altLang="zh-CN" sz="2000"/>
              <a:t> S</a:t>
            </a:r>
            <a:r>
              <a:rPr lang="en-US" altLang="zh-CN" sz="2000" baseline="-25000"/>
              <a:t>1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S.begin = newlabel;  E.true = newlabel;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E.false = S.next;  S</a:t>
            </a:r>
            <a:r>
              <a:rPr lang="en-US" altLang="zh-CN" sz="2000" baseline="-25000"/>
              <a:t>1</a:t>
            </a:r>
            <a:r>
              <a:rPr lang="en-US" altLang="zh-CN" sz="2000"/>
              <a:t>.next = S.begin;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S.code = gen(S.being ‘:’) || E.code || gen(E.true ‘:’) ||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		S</a:t>
            </a:r>
            <a:r>
              <a:rPr lang="en-US" altLang="zh-CN" sz="2000" baseline="-25000"/>
              <a:t>1</a:t>
            </a:r>
            <a:r>
              <a:rPr lang="en-US" altLang="zh-CN" sz="2000"/>
              <a:t>.code || gen(‘goto’ S.begin)</a:t>
            </a:r>
          </a:p>
        </p:txBody>
      </p:sp>
      <p:pic>
        <p:nvPicPr>
          <p:cNvPr id="45060" name="Picture 4" descr="while">
            <a:extLst>
              <a:ext uri="{FF2B5EF4-FFF2-40B4-BE49-F238E27FC236}">
                <a16:creationId xmlns:a16="http://schemas.microsoft.com/office/drawing/2014/main" id="{79862539-2898-4298-A8C3-28E0B0C31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1295400"/>
            <a:ext cx="3340100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9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9587" grpId="0" build="p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3949DFF9-9CDB-4C87-853C-2BF30F9E1D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3600" dirty="0"/>
              <a:t>8.4.5  </a:t>
            </a:r>
            <a:r>
              <a:rPr lang="zh-CN" altLang="en-US" sz="3600" dirty="0"/>
              <a:t>布尔表达式结合控制流语句翻译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6F45812A-B3A2-4976-BABC-63F7843A9F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0" eaLnBrk="1" hangingPunct="1">
              <a:defRPr/>
            </a:pP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布尔运算：将“真”、“假”跳转地址继续向下传递</a:t>
            </a:r>
            <a:b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</a:b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比较</a:t>
            </a:r>
            <a:r>
              <a:rPr lang="zh-CN" altLang="en-US" sz="2400" dirty="0">
                <a:solidFill>
                  <a:srgbClr val="000000"/>
                </a:solidFill>
              </a:rPr>
              <a:t>运算：利用“真”、“假”地址生成</a:t>
            </a:r>
            <a:r>
              <a:rPr kumimoji="1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宋体"/>
                <a:cs typeface="+mn-cs"/>
              </a:rPr>
              <a:t>跳转语句</a:t>
            </a:r>
            <a:endParaRPr kumimoji="1" lang="en-US" altLang="zh-CN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宋体"/>
              <a:cs typeface="+mn-cs"/>
              <a:sym typeface="Wingdings" panose="05000000000000000000" pitchFamily="2" charset="2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E→E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 </a:t>
            </a:r>
            <a:r>
              <a:rPr lang="en-US" altLang="zh-CN" sz="2000" b="1" dirty="0"/>
              <a:t>or</a:t>
            </a:r>
            <a:r>
              <a:rPr lang="en-US" altLang="zh-CN" sz="2000" dirty="0"/>
              <a:t> 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	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.true = </a:t>
            </a:r>
            <a:r>
              <a:rPr lang="en-US" altLang="zh-CN" sz="2000" dirty="0" err="1"/>
              <a:t>E.true</a:t>
            </a:r>
            <a:r>
              <a:rPr lang="en-US" altLang="zh-CN" sz="2000" dirty="0"/>
              <a:t>;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.false = </a:t>
            </a:r>
            <a:r>
              <a:rPr lang="en-US" altLang="zh-CN" sz="2000" dirty="0" err="1"/>
              <a:t>newlabel</a:t>
            </a:r>
            <a:r>
              <a:rPr lang="en-US" altLang="zh-CN" sz="2000" dirty="0"/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	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.true = </a:t>
            </a:r>
            <a:r>
              <a:rPr lang="en-US" altLang="zh-CN" sz="2000" dirty="0" err="1"/>
              <a:t>E.true</a:t>
            </a:r>
            <a:r>
              <a:rPr lang="en-US" altLang="zh-CN" sz="2000" dirty="0"/>
              <a:t>; 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.false = </a:t>
            </a:r>
            <a:r>
              <a:rPr lang="en-US" altLang="zh-CN" sz="2000" dirty="0" err="1"/>
              <a:t>E.false</a:t>
            </a:r>
            <a:r>
              <a:rPr lang="en-US" altLang="zh-CN" sz="2000" dirty="0"/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	</a:t>
            </a:r>
            <a:r>
              <a:rPr lang="en-US" altLang="zh-CN" sz="2000" dirty="0" err="1"/>
              <a:t>E.code</a:t>
            </a:r>
            <a:r>
              <a:rPr lang="en-US" altLang="zh-CN" sz="2000" dirty="0"/>
              <a:t> =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.code || gen(E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.false ‘:’) || 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.code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E→E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 </a:t>
            </a:r>
            <a:r>
              <a:rPr lang="en-US" altLang="zh-CN" sz="2000" b="1" dirty="0"/>
              <a:t>and</a:t>
            </a:r>
            <a:r>
              <a:rPr lang="en-US" altLang="zh-CN" sz="2000" dirty="0"/>
              <a:t> 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	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.true = </a:t>
            </a:r>
            <a:r>
              <a:rPr lang="en-US" altLang="zh-CN" sz="2000" dirty="0" err="1"/>
              <a:t>newlabel</a:t>
            </a:r>
            <a:r>
              <a:rPr lang="en-US" altLang="zh-CN" sz="2000" dirty="0"/>
              <a:t>;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.false = </a:t>
            </a:r>
            <a:r>
              <a:rPr lang="en-US" altLang="zh-CN" sz="2000" dirty="0" err="1"/>
              <a:t>E.false</a:t>
            </a:r>
            <a:r>
              <a:rPr lang="en-US" altLang="zh-CN" sz="2000" dirty="0"/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	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.true = </a:t>
            </a:r>
            <a:r>
              <a:rPr lang="en-US" altLang="zh-CN" sz="2000" dirty="0" err="1"/>
              <a:t>E.true</a:t>
            </a:r>
            <a:r>
              <a:rPr lang="en-US" altLang="zh-CN" sz="2000" dirty="0"/>
              <a:t>; 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.false = </a:t>
            </a:r>
            <a:r>
              <a:rPr lang="en-US" altLang="zh-CN" sz="2000" dirty="0" err="1"/>
              <a:t>E.false</a:t>
            </a:r>
            <a:r>
              <a:rPr lang="en-US" altLang="zh-CN" sz="2000" dirty="0"/>
              <a:t>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	</a:t>
            </a:r>
            <a:r>
              <a:rPr lang="en-US" altLang="zh-CN" sz="2000" dirty="0" err="1"/>
              <a:t>E.code</a:t>
            </a:r>
            <a:r>
              <a:rPr lang="en-US" altLang="zh-CN" sz="2000" dirty="0"/>
              <a:t> =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.code || gen(E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.true ‘:’) || 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.code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err="1"/>
              <a:t>E→</a:t>
            </a:r>
            <a:r>
              <a:rPr lang="en-US" altLang="zh-CN" sz="2000" b="1" dirty="0" err="1"/>
              <a:t>not</a:t>
            </a:r>
            <a:r>
              <a:rPr lang="en-US" altLang="zh-CN" sz="2000" dirty="0"/>
              <a:t>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	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.true = </a:t>
            </a:r>
            <a:r>
              <a:rPr lang="en-US" altLang="zh-CN" sz="2000" dirty="0" err="1"/>
              <a:t>E.false</a:t>
            </a:r>
            <a:r>
              <a:rPr lang="en-US" altLang="zh-CN" sz="2000" dirty="0"/>
              <a:t>;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.false = </a:t>
            </a:r>
            <a:r>
              <a:rPr lang="en-US" altLang="zh-CN" sz="2000" dirty="0" err="1"/>
              <a:t>E.true</a:t>
            </a:r>
            <a:r>
              <a:rPr lang="en-US" altLang="zh-CN" sz="2000" dirty="0"/>
              <a:t>; </a:t>
            </a:r>
            <a:r>
              <a:rPr lang="en-US" altLang="zh-CN" sz="2000" dirty="0" err="1"/>
              <a:t>E.code</a:t>
            </a:r>
            <a:r>
              <a:rPr lang="en-US" altLang="zh-CN" sz="2000" dirty="0"/>
              <a:t> =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.code;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E→(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 )	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.true = </a:t>
            </a:r>
            <a:r>
              <a:rPr lang="en-US" altLang="zh-CN" sz="2000" dirty="0" err="1"/>
              <a:t>E.true</a:t>
            </a:r>
            <a:r>
              <a:rPr lang="en-US" altLang="zh-CN" sz="2000" dirty="0"/>
              <a:t>;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.false = </a:t>
            </a:r>
            <a:r>
              <a:rPr lang="en-US" altLang="zh-CN" sz="2000" dirty="0" err="1"/>
              <a:t>E.false</a:t>
            </a:r>
            <a:r>
              <a:rPr lang="en-US" altLang="zh-CN" sz="2000" dirty="0"/>
              <a:t>; </a:t>
            </a:r>
            <a:r>
              <a:rPr lang="en-US" altLang="zh-CN" sz="2000" dirty="0" err="1"/>
              <a:t>E.code</a:t>
            </a:r>
            <a:r>
              <a:rPr lang="en-US" altLang="zh-CN" sz="2000" dirty="0"/>
              <a:t> =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.code;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E→</a:t>
            </a:r>
            <a:r>
              <a:rPr lang="en-US" altLang="zh-CN" sz="2000" b="1" dirty="0"/>
              <a:t>id</a:t>
            </a:r>
            <a:r>
              <a:rPr lang="en-US" altLang="zh-CN" sz="2000" b="1" baseline="-25000" dirty="0"/>
              <a:t>1</a:t>
            </a:r>
            <a:r>
              <a:rPr lang="en-US" altLang="zh-CN" sz="2000" b="1" dirty="0"/>
              <a:t> </a:t>
            </a:r>
            <a:r>
              <a:rPr lang="en-US" altLang="zh-CN" sz="2000" b="1" dirty="0" err="1"/>
              <a:t>relop</a:t>
            </a:r>
            <a:r>
              <a:rPr lang="en-US" altLang="zh-CN" sz="2000" b="1" dirty="0"/>
              <a:t> id</a:t>
            </a:r>
            <a:r>
              <a:rPr lang="en-US" altLang="zh-CN" sz="2000" b="1" baseline="-25000" dirty="0"/>
              <a:t>2</a:t>
            </a:r>
            <a:r>
              <a:rPr lang="en-US" altLang="zh-CN" sz="2000" dirty="0"/>
              <a:t>	</a:t>
            </a:r>
            <a:r>
              <a:rPr lang="en-US" altLang="zh-CN" sz="2000" dirty="0" err="1"/>
              <a:t>E.code</a:t>
            </a:r>
            <a:r>
              <a:rPr lang="en-US" altLang="zh-CN" sz="2000" dirty="0"/>
              <a:t> = gen(‘if’ id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.place </a:t>
            </a:r>
            <a:r>
              <a:rPr lang="en-US" altLang="zh-CN" sz="2000" dirty="0" err="1"/>
              <a:t>relop.op</a:t>
            </a:r>
            <a:r>
              <a:rPr lang="en-US" altLang="zh-CN" sz="2000" dirty="0"/>
              <a:t> id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.place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		‘</a:t>
            </a:r>
            <a:r>
              <a:rPr lang="en-US" altLang="zh-CN" sz="2000" dirty="0" err="1"/>
              <a:t>goto</a:t>
            </a:r>
            <a:r>
              <a:rPr lang="en-US" altLang="zh-CN" sz="2000" dirty="0"/>
              <a:t>’ </a:t>
            </a:r>
            <a:r>
              <a:rPr lang="en-US" altLang="zh-CN" sz="2000" dirty="0" err="1"/>
              <a:t>E.true</a:t>
            </a:r>
            <a:r>
              <a:rPr lang="en-US" altLang="zh-CN" sz="2000" dirty="0"/>
              <a:t>) || gen(‘</a:t>
            </a:r>
            <a:r>
              <a:rPr lang="en-US" altLang="zh-CN" sz="2000" dirty="0" err="1"/>
              <a:t>goto</a:t>
            </a:r>
            <a:r>
              <a:rPr lang="en-US" altLang="zh-CN" sz="2000" dirty="0"/>
              <a:t>’ </a:t>
            </a:r>
            <a:r>
              <a:rPr lang="en-US" altLang="zh-CN" sz="2000" dirty="0" err="1"/>
              <a:t>E.false</a:t>
            </a:r>
            <a:r>
              <a:rPr lang="en-US" altLang="zh-CN" sz="2000" dirty="0"/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err="1"/>
              <a:t>E→</a:t>
            </a:r>
            <a:r>
              <a:rPr lang="en-US" altLang="zh-CN" sz="2000" b="1" dirty="0" err="1"/>
              <a:t>true</a:t>
            </a:r>
            <a:r>
              <a:rPr lang="en-US" altLang="zh-CN" sz="2000" dirty="0"/>
              <a:t>		</a:t>
            </a:r>
            <a:r>
              <a:rPr lang="en-US" altLang="zh-CN" sz="2000" dirty="0" err="1"/>
              <a:t>E.code</a:t>
            </a:r>
            <a:r>
              <a:rPr lang="en-US" altLang="zh-CN" sz="2000" dirty="0"/>
              <a:t> = gen(‘</a:t>
            </a:r>
            <a:r>
              <a:rPr lang="en-US" altLang="zh-CN" sz="2000" dirty="0" err="1"/>
              <a:t>goto</a:t>
            </a:r>
            <a:r>
              <a:rPr lang="en-US" altLang="zh-CN" sz="2000" dirty="0"/>
              <a:t>’ </a:t>
            </a:r>
            <a:r>
              <a:rPr lang="en-US" altLang="zh-CN" sz="2000" dirty="0" err="1"/>
              <a:t>E.true</a:t>
            </a:r>
            <a:r>
              <a:rPr lang="en-US" altLang="zh-CN" sz="2000" dirty="0"/>
              <a:t>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err="1"/>
              <a:t>E→</a:t>
            </a:r>
            <a:r>
              <a:rPr lang="en-US" altLang="zh-CN" sz="2000" b="1" dirty="0" err="1"/>
              <a:t>false</a:t>
            </a:r>
            <a:r>
              <a:rPr lang="en-US" altLang="zh-CN" sz="2000" dirty="0"/>
              <a:t>		</a:t>
            </a:r>
            <a:r>
              <a:rPr lang="en-US" altLang="zh-CN" sz="2000" dirty="0" err="1"/>
              <a:t>E.code</a:t>
            </a:r>
            <a:r>
              <a:rPr lang="en-US" altLang="zh-CN" sz="2000" dirty="0"/>
              <a:t> = gen(‘</a:t>
            </a:r>
            <a:r>
              <a:rPr lang="en-US" altLang="zh-CN" sz="2000" dirty="0" err="1"/>
              <a:t>goto</a:t>
            </a:r>
            <a:r>
              <a:rPr lang="en-US" altLang="zh-CN" sz="2000" dirty="0"/>
              <a:t>’ </a:t>
            </a:r>
            <a:r>
              <a:rPr lang="en-US" altLang="zh-CN" sz="2000" dirty="0" err="1"/>
              <a:t>E.false</a:t>
            </a:r>
            <a:r>
              <a:rPr lang="en-US" altLang="zh-CN" sz="2000" dirty="0"/>
              <a:t>);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BB5E5633-FFD4-4019-ADA2-F6B297A25E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8.4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E3A3BB06-77EA-4DBD-B4DC-8B746BB74E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371600"/>
            <a:ext cx="7772400" cy="4724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a &lt; b or c &lt; d and e &lt; f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生成代码：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/>
              <a:t>		</a:t>
            </a:r>
            <a:r>
              <a:rPr lang="en-US" altLang="zh-CN" sz="2400"/>
              <a:t>if a &lt; b goto Ltrue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goto L1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L1:	if c &lt; d goto L2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goto Lfalse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L2:	if e &lt; f goto Ltrue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goto Lfalse</a:t>
            </a:r>
          </a:p>
        </p:txBody>
      </p:sp>
      <p:pic>
        <p:nvPicPr>
          <p:cNvPr id="47108" name="Picture 6" descr="ctrl1">
            <a:extLst>
              <a:ext uri="{FF2B5EF4-FFF2-40B4-BE49-F238E27FC236}">
                <a16:creationId xmlns:a16="http://schemas.microsoft.com/office/drawing/2014/main" id="{783A32CD-CBA9-44AB-A976-419E98046F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676400"/>
            <a:ext cx="5113338" cy="169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reeform 7">
            <a:extLst>
              <a:ext uri="{FF2B5EF4-FFF2-40B4-BE49-F238E27FC236}">
                <a16:creationId xmlns:a16="http://schemas.microsoft.com/office/drawing/2014/main" id="{192EA781-B0E1-4DE6-A9C0-72406A27DEDF}"/>
              </a:ext>
            </a:extLst>
          </p:cNvPr>
          <p:cNvSpPr>
            <a:spLocks/>
          </p:cNvSpPr>
          <p:nvPr/>
        </p:nvSpPr>
        <p:spPr bwMode="ltGray">
          <a:xfrm flipH="1" flipV="1">
            <a:off x="4716463" y="2636838"/>
            <a:ext cx="1941512" cy="161925"/>
          </a:xfrm>
          <a:custGeom>
            <a:avLst/>
            <a:gdLst>
              <a:gd name="T0" fmla="*/ 2147483646 w 1314"/>
              <a:gd name="T1" fmla="*/ 2147483646 h 102"/>
              <a:gd name="T2" fmla="*/ 2147483646 w 1314"/>
              <a:gd name="T3" fmla="*/ 2147483646 h 102"/>
              <a:gd name="T4" fmla="*/ 0 w 1314"/>
              <a:gd name="T5" fmla="*/ 2147483646 h 102"/>
              <a:gd name="T6" fmla="*/ 0 60000 65536"/>
              <a:gd name="T7" fmla="*/ 0 60000 65536"/>
              <a:gd name="T8" fmla="*/ 0 60000 65536"/>
              <a:gd name="T9" fmla="*/ 0 w 1314"/>
              <a:gd name="T10" fmla="*/ 0 h 102"/>
              <a:gd name="T11" fmla="*/ 1314 w 1314"/>
              <a:gd name="T12" fmla="*/ 102 h 10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14" h="102">
                <a:moveTo>
                  <a:pt x="1314" y="79"/>
                </a:moveTo>
                <a:cubicBezTo>
                  <a:pt x="1216" y="67"/>
                  <a:pt x="946" y="0"/>
                  <a:pt x="727" y="4"/>
                </a:cubicBezTo>
                <a:cubicBezTo>
                  <a:pt x="508" y="8"/>
                  <a:pt x="151" y="82"/>
                  <a:pt x="0" y="102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D845C864-D67D-42DE-B5D6-1D9EE97EA0BA}"/>
              </a:ext>
            </a:extLst>
          </p:cNvPr>
          <p:cNvSpPr>
            <a:spLocks/>
          </p:cNvSpPr>
          <p:nvPr/>
        </p:nvSpPr>
        <p:spPr bwMode="ltGray">
          <a:xfrm flipH="1" flipV="1">
            <a:off x="4859338" y="3209925"/>
            <a:ext cx="2665412" cy="314325"/>
          </a:xfrm>
          <a:custGeom>
            <a:avLst/>
            <a:gdLst>
              <a:gd name="T0" fmla="*/ 2147483646 w 1314"/>
              <a:gd name="T1" fmla="*/ 2147483646 h 102"/>
              <a:gd name="T2" fmla="*/ 2147483646 w 1314"/>
              <a:gd name="T3" fmla="*/ 2147483646 h 102"/>
              <a:gd name="T4" fmla="*/ 0 w 1314"/>
              <a:gd name="T5" fmla="*/ 2147483646 h 102"/>
              <a:gd name="T6" fmla="*/ 0 60000 65536"/>
              <a:gd name="T7" fmla="*/ 0 60000 65536"/>
              <a:gd name="T8" fmla="*/ 0 60000 65536"/>
              <a:gd name="T9" fmla="*/ 0 w 1314"/>
              <a:gd name="T10" fmla="*/ 0 h 102"/>
              <a:gd name="T11" fmla="*/ 1314 w 1314"/>
              <a:gd name="T12" fmla="*/ 102 h 10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14" h="102">
                <a:moveTo>
                  <a:pt x="1314" y="79"/>
                </a:moveTo>
                <a:cubicBezTo>
                  <a:pt x="1216" y="67"/>
                  <a:pt x="946" y="0"/>
                  <a:pt x="727" y="4"/>
                </a:cubicBezTo>
                <a:cubicBezTo>
                  <a:pt x="508" y="8"/>
                  <a:pt x="151" y="82"/>
                  <a:pt x="0" y="102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09EE68F4-D2E7-4E0E-89D8-48692C9A40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8.5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4E95585-3F99-4FEA-99A2-FAE46F6894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34000"/>
          </a:xfrm>
        </p:spPr>
        <p:txBody>
          <a:bodyPr/>
          <a:lstStyle/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while a &lt; b do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if c &lt; d then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x := y + z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else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x := y – z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000"/>
              <a:t>生成代码为：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L1:	if a &lt; b goto L2		L4:	t</a:t>
            </a:r>
            <a:r>
              <a:rPr lang="en-US" altLang="zh-CN" sz="2000" baseline="-25000"/>
              <a:t>2</a:t>
            </a:r>
            <a:r>
              <a:rPr lang="en-US" altLang="zh-CN" sz="2000"/>
              <a:t> := y - z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goto Lnext			x := t</a:t>
            </a:r>
            <a:r>
              <a:rPr lang="en-US" altLang="zh-CN" sz="2000" baseline="-25000"/>
              <a:t>2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L2:	if c &lt; d goto L3			goto L1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goto L4			Lnext: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L3:	t</a:t>
            </a:r>
            <a:r>
              <a:rPr lang="en-US" altLang="zh-CN" sz="2000" baseline="-25000"/>
              <a:t>1</a:t>
            </a:r>
            <a:r>
              <a:rPr lang="en-US" altLang="zh-CN" sz="2000"/>
              <a:t> := y + z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x := t</a:t>
            </a:r>
            <a:r>
              <a:rPr lang="en-US" altLang="zh-CN" sz="2000" baseline="-25000"/>
              <a:t>1</a:t>
            </a:r>
            <a:endParaRPr lang="en-US" altLang="zh-CN" sz="2000"/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goto L1</a:t>
            </a:r>
          </a:p>
        </p:txBody>
      </p:sp>
      <p:pic>
        <p:nvPicPr>
          <p:cNvPr id="48132" name="Picture 6" descr="ctrl2">
            <a:extLst>
              <a:ext uri="{FF2B5EF4-FFF2-40B4-BE49-F238E27FC236}">
                <a16:creationId xmlns:a16="http://schemas.microsoft.com/office/drawing/2014/main" id="{D06A4BA9-4876-47CA-9396-8146913FF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0" y="1271588"/>
            <a:ext cx="4081463" cy="195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reeform 7">
            <a:extLst>
              <a:ext uri="{FF2B5EF4-FFF2-40B4-BE49-F238E27FC236}">
                <a16:creationId xmlns:a16="http://schemas.microsoft.com/office/drawing/2014/main" id="{0DF99817-F228-44D6-9350-F0A5ED0B46E3}"/>
              </a:ext>
            </a:extLst>
          </p:cNvPr>
          <p:cNvSpPr>
            <a:spLocks/>
          </p:cNvSpPr>
          <p:nvPr/>
        </p:nvSpPr>
        <p:spPr bwMode="ltGray">
          <a:xfrm flipH="1" flipV="1">
            <a:off x="5364163" y="2349500"/>
            <a:ext cx="1368425" cy="142875"/>
          </a:xfrm>
          <a:custGeom>
            <a:avLst/>
            <a:gdLst>
              <a:gd name="T0" fmla="*/ 2147483646 w 1314"/>
              <a:gd name="T1" fmla="*/ 2147483646 h 102"/>
              <a:gd name="T2" fmla="*/ 2147483646 w 1314"/>
              <a:gd name="T3" fmla="*/ 2147483646 h 102"/>
              <a:gd name="T4" fmla="*/ 0 w 1314"/>
              <a:gd name="T5" fmla="*/ 2147483646 h 102"/>
              <a:gd name="T6" fmla="*/ 0 60000 65536"/>
              <a:gd name="T7" fmla="*/ 0 60000 65536"/>
              <a:gd name="T8" fmla="*/ 0 60000 65536"/>
              <a:gd name="T9" fmla="*/ 0 w 1314"/>
              <a:gd name="T10" fmla="*/ 0 h 102"/>
              <a:gd name="T11" fmla="*/ 1314 w 1314"/>
              <a:gd name="T12" fmla="*/ 102 h 10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14" h="102">
                <a:moveTo>
                  <a:pt x="1314" y="79"/>
                </a:moveTo>
                <a:cubicBezTo>
                  <a:pt x="1216" y="67"/>
                  <a:pt x="946" y="0"/>
                  <a:pt x="727" y="4"/>
                </a:cubicBezTo>
                <a:cubicBezTo>
                  <a:pt x="508" y="8"/>
                  <a:pt x="151" y="82"/>
                  <a:pt x="0" y="102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Freeform 7">
            <a:extLst>
              <a:ext uri="{FF2B5EF4-FFF2-40B4-BE49-F238E27FC236}">
                <a16:creationId xmlns:a16="http://schemas.microsoft.com/office/drawing/2014/main" id="{44B22705-D482-4FAE-B30C-1BEAFAA99928}"/>
              </a:ext>
            </a:extLst>
          </p:cNvPr>
          <p:cNvSpPr>
            <a:spLocks/>
          </p:cNvSpPr>
          <p:nvPr/>
        </p:nvSpPr>
        <p:spPr bwMode="ltGray">
          <a:xfrm flipH="1" flipV="1">
            <a:off x="5867400" y="3179763"/>
            <a:ext cx="720725" cy="46037"/>
          </a:xfrm>
          <a:custGeom>
            <a:avLst/>
            <a:gdLst>
              <a:gd name="T0" fmla="*/ 2147483646 w 1314"/>
              <a:gd name="T1" fmla="*/ 2147483646 h 102"/>
              <a:gd name="T2" fmla="*/ 2147483646 w 1314"/>
              <a:gd name="T3" fmla="*/ 2147483646 h 102"/>
              <a:gd name="T4" fmla="*/ 0 w 1314"/>
              <a:gd name="T5" fmla="*/ 2147483646 h 102"/>
              <a:gd name="T6" fmla="*/ 0 60000 65536"/>
              <a:gd name="T7" fmla="*/ 0 60000 65536"/>
              <a:gd name="T8" fmla="*/ 0 60000 65536"/>
              <a:gd name="T9" fmla="*/ 0 w 1314"/>
              <a:gd name="T10" fmla="*/ 0 h 102"/>
              <a:gd name="T11" fmla="*/ 1314 w 1314"/>
              <a:gd name="T12" fmla="*/ 102 h 10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14" h="102">
                <a:moveTo>
                  <a:pt x="1314" y="79"/>
                </a:moveTo>
                <a:cubicBezTo>
                  <a:pt x="1216" y="67"/>
                  <a:pt x="946" y="0"/>
                  <a:pt x="727" y="4"/>
                </a:cubicBezTo>
                <a:cubicBezTo>
                  <a:pt x="508" y="8"/>
                  <a:pt x="151" y="82"/>
                  <a:pt x="0" y="102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1F33504-2451-4C10-A49D-2FC792E14935}"/>
              </a:ext>
            </a:extLst>
          </p:cNvPr>
          <p:cNvSpPr>
            <a:spLocks/>
          </p:cNvSpPr>
          <p:nvPr/>
        </p:nvSpPr>
        <p:spPr bwMode="ltGray">
          <a:xfrm flipH="1" flipV="1">
            <a:off x="6235700" y="3179763"/>
            <a:ext cx="1649413" cy="104775"/>
          </a:xfrm>
          <a:custGeom>
            <a:avLst/>
            <a:gdLst>
              <a:gd name="T0" fmla="*/ 2147483646 w 1314"/>
              <a:gd name="T1" fmla="*/ 2147483646 h 102"/>
              <a:gd name="T2" fmla="*/ 2147483646 w 1314"/>
              <a:gd name="T3" fmla="*/ 2147483646 h 102"/>
              <a:gd name="T4" fmla="*/ 0 w 1314"/>
              <a:gd name="T5" fmla="*/ 2147483646 h 102"/>
              <a:gd name="T6" fmla="*/ 0 60000 65536"/>
              <a:gd name="T7" fmla="*/ 0 60000 65536"/>
              <a:gd name="T8" fmla="*/ 0 60000 65536"/>
              <a:gd name="T9" fmla="*/ 0 w 1314"/>
              <a:gd name="T10" fmla="*/ 0 h 102"/>
              <a:gd name="T11" fmla="*/ 1314 w 1314"/>
              <a:gd name="T12" fmla="*/ 102 h 10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14" h="102">
                <a:moveTo>
                  <a:pt x="1314" y="79"/>
                </a:moveTo>
                <a:cubicBezTo>
                  <a:pt x="1216" y="67"/>
                  <a:pt x="946" y="0"/>
                  <a:pt x="727" y="4"/>
                </a:cubicBezTo>
                <a:cubicBezTo>
                  <a:pt x="508" y="8"/>
                  <a:pt x="151" y="82"/>
                  <a:pt x="0" y="102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1AAC9CEE-1FD9-49CF-BE89-046C21B924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8.4.6  </a:t>
            </a:r>
            <a:r>
              <a:rPr lang="zh-CN" altLang="en-US"/>
              <a:t>混合翻译方式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3B979720-A1C8-4997-823B-EAF4CA676D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029200"/>
          </a:xfrm>
        </p:spPr>
        <p:txBody>
          <a:bodyPr/>
          <a:lstStyle/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800"/>
              <a:t>E→E + E | E </a:t>
            </a:r>
            <a:r>
              <a:rPr lang="en-US" altLang="zh-CN" sz="2800" b="1"/>
              <a:t>and</a:t>
            </a:r>
            <a:r>
              <a:rPr lang="en-US" altLang="zh-CN" sz="2800"/>
              <a:t> E | E </a:t>
            </a:r>
            <a:r>
              <a:rPr lang="en-US" altLang="zh-CN" sz="2800" b="1"/>
              <a:t>relop</a:t>
            </a:r>
            <a:r>
              <a:rPr lang="en-US" altLang="zh-CN" sz="2800"/>
              <a:t> E | id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800"/>
              <a:t>E→E</a:t>
            </a:r>
            <a:r>
              <a:rPr lang="en-US" altLang="zh-CN" sz="2800" baseline="-25000"/>
              <a:t>1 </a:t>
            </a:r>
            <a:r>
              <a:rPr lang="en-US" altLang="zh-CN" sz="2800"/>
              <a:t>+ E</a:t>
            </a:r>
            <a:r>
              <a:rPr lang="en-US" altLang="zh-CN" sz="2800" baseline="-25000"/>
              <a:t>2</a:t>
            </a:r>
            <a:r>
              <a:rPr lang="zh-CN" altLang="en-US" sz="2800"/>
              <a:t>对应的语义规则为：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E.type = arith;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b="1"/>
              <a:t>if</a:t>
            </a:r>
            <a:r>
              <a:rPr lang="en-US" altLang="zh-CN" sz="2000"/>
              <a:t> (E</a:t>
            </a:r>
            <a:r>
              <a:rPr lang="en-US" altLang="zh-CN" sz="2000" baseline="-25000"/>
              <a:t>1</a:t>
            </a:r>
            <a:r>
              <a:rPr lang="en-US" altLang="zh-CN" sz="2000"/>
              <a:t>.type = arith </a:t>
            </a:r>
            <a:r>
              <a:rPr lang="en-US" altLang="zh-CN" sz="2000" b="1"/>
              <a:t>and</a:t>
            </a:r>
            <a:r>
              <a:rPr lang="en-US" altLang="zh-CN" sz="2000"/>
              <a:t> E</a:t>
            </a:r>
            <a:r>
              <a:rPr lang="en-US" altLang="zh-CN" sz="2000" baseline="-25000"/>
              <a:t>2</a:t>
            </a:r>
            <a:r>
              <a:rPr lang="en-US" altLang="zh-CN" sz="2000"/>
              <a:t>.type = arith) {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E.place = newtemp;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E.code = E</a:t>
            </a:r>
            <a:r>
              <a:rPr lang="en-US" altLang="zh-CN" sz="2000" baseline="-25000"/>
              <a:t>1</a:t>
            </a:r>
            <a:r>
              <a:rPr lang="en-US" altLang="zh-CN" sz="2000"/>
              <a:t>.code || E</a:t>
            </a:r>
            <a:r>
              <a:rPr lang="en-US" altLang="zh-CN" sz="2000" baseline="-25000"/>
              <a:t>2</a:t>
            </a:r>
            <a:r>
              <a:rPr lang="en-US" altLang="zh-CN" sz="2000"/>
              <a:t>.code || gen(E.place ‘:=’ E</a:t>
            </a:r>
            <a:r>
              <a:rPr lang="en-US" altLang="zh-CN" sz="2000" baseline="-25000"/>
              <a:t>1</a:t>
            </a:r>
            <a:r>
              <a:rPr lang="en-US" altLang="zh-CN" sz="2000"/>
              <a:t>.place ‘+’ E</a:t>
            </a:r>
            <a:r>
              <a:rPr lang="en-US" altLang="zh-CN" sz="2000" baseline="-25000"/>
              <a:t>2</a:t>
            </a:r>
            <a:r>
              <a:rPr lang="en-US" altLang="zh-CN" sz="2000"/>
              <a:t>.place);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} </a:t>
            </a:r>
            <a:r>
              <a:rPr lang="en-US" altLang="zh-CN" sz="2000" b="1"/>
              <a:t>else if</a:t>
            </a:r>
            <a:r>
              <a:rPr lang="en-US" altLang="zh-CN" sz="2000"/>
              <a:t> (E</a:t>
            </a:r>
            <a:r>
              <a:rPr lang="en-US" altLang="zh-CN" sz="2000" baseline="-25000"/>
              <a:t>1</a:t>
            </a:r>
            <a:r>
              <a:rPr lang="en-US" altLang="zh-CN" sz="2000"/>
              <a:t>.type = arith </a:t>
            </a:r>
            <a:r>
              <a:rPr lang="en-US" altLang="zh-CN" sz="2000" b="1"/>
              <a:t>and</a:t>
            </a:r>
            <a:r>
              <a:rPr lang="en-US" altLang="zh-CN" sz="2000"/>
              <a:t> E</a:t>
            </a:r>
            <a:r>
              <a:rPr lang="en-US" altLang="zh-CN" sz="2000" baseline="-25000"/>
              <a:t>2</a:t>
            </a:r>
            <a:r>
              <a:rPr lang="en-US" altLang="zh-CN" sz="2000"/>
              <a:t>.type = bool) {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E.place = newtemp; E</a:t>
            </a:r>
            <a:r>
              <a:rPr lang="en-US" altLang="zh-CN" sz="2000" baseline="-25000"/>
              <a:t>2</a:t>
            </a:r>
            <a:r>
              <a:rPr lang="en-US" altLang="zh-CN" sz="2000"/>
              <a:t>.true = newlabel; E</a:t>
            </a:r>
            <a:r>
              <a:rPr lang="en-US" altLang="zh-CN" sz="2000" baseline="-25000"/>
              <a:t>2</a:t>
            </a:r>
            <a:r>
              <a:rPr lang="en-US" altLang="zh-CN" sz="2000"/>
              <a:t>.false = newlabel;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E.code = E</a:t>
            </a:r>
            <a:r>
              <a:rPr lang="en-US" altLang="zh-CN" sz="2000" baseline="-25000"/>
              <a:t>1</a:t>
            </a:r>
            <a:r>
              <a:rPr lang="en-US" altLang="zh-CN" sz="2000"/>
              <a:t>.code || E</a:t>
            </a:r>
            <a:r>
              <a:rPr lang="en-US" altLang="zh-CN" sz="2000" baseline="-25000"/>
              <a:t>2</a:t>
            </a:r>
            <a:r>
              <a:rPr lang="en-US" altLang="zh-CN" sz="2000"/>
              <a:t>.code || 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gen(E</a:t>
            </a:r>
            <a:r>
              <a:rPr lang="en-US" altLang="zh-CN" sz="2000" baseline="-25000"/>
              <a:t>2</a:t>
            </a:r>
            <a:r>
              <a:rPr lang="en-US" altLang="zh-CN" sz="2000"/>
              <a:t>.true ‘:’ E.place ‘:=’ E</a:t>
            </a:r>
            <a:r>
              <a:rPr lang="en-US" altLang="zh-CN" sz="2000" baseline="-25000"/>
              <a:t>1</a:t>
            </a:r>
            <a:r>
              <a:rPr lang="en-US" altLang="zh-CN" sz="2000"/>
              <a:t>.place + 1) ||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gen(‘goto’ nextstat + 1) || 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	gen(E</a:t>
            </a:r>
            <a:r>
              <a:rPr lang="en-US" altLang="zh-CN" sz="2000" baseline="-25000"/>
              <a:t>2</a:t>
            </a:r>
            <a:r>
              <a:rPr lang="en-US" altLang="zh-CN" sz="2000"/>
              <a:t>.false ‘:’ E.place ‘:=’ E</a:t>
            </a:r>
            <a:r>
              <a:rPr lang="en-US" altLang="zh-CN" sz="2000" baseline="-25000"/>
              <a:t>1</a:t>
            </a:r>
            <a:r>
              <a:rPr lang="en-US" altLang="zh-CN" sz="2000"/>
              <a:t>.place)</a:t>
            </a: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} </a:t>
            </a:r>
            <a:r>
              <a:rPr lang="en-US" altLang="zh-CN" sz="2000" b="1"/>
              <a:t>else if</a:t>
            </a:r>
            <a:r>
              <a:rPr lang="en-US" altLang="zh-CN" sz="2000"/>
              <a:t> …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430D6019-B1FF-4DBE-8520-EE01C61CA9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8.5  case</a:t>
            </a:r>
            <a:r>
              <a:rPr lang="zh-CN" altLang="en-US"/>
              <a:t>语句的翻译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CC4108A6-8B75-4325-A78C-4E1972DE70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switch E</a:t>
            </a:r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begin</a:t>
            </a:r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case V</a:t>
            </a:r>
            <a:r>
              <a:rPr lang="en-US" altLang="zh-CN" sz="2000" baseline="-25000"/>
              <a:t>1</a:t>
            </a:r>
            <a:r>
              <a:rPr lang="en-US" altLang="zh-CN" sz="2000"/>
              <a:t> : S</a:t>
            </a:r>
            <a:r>
              <a:rPr lang="en-US" altLang="zh-CN" sz="2000" baseline="-25000"/>
              <a:t>1</a:t>
            </a:r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case V</a:t>
            </a:r>
            <a:r>
              <a:rPr lang="en-US" altLang="zh-CN" sz="2000" baseline="-25000"/>
              <a:t>2</a:t>
            </a:r>
            <a:r>
              <a:rPr lang="en-US" altLang="zh-CN" sz="2000"/>
              <a:t> : S</a:t>
            </a:r>
            <a:r>
              <a:rPr lang="en-US" altLang="zh-CN" sz="2000" baseline="-25000"/>
              <a:t>2</a:t>
            </a:r>
            <a:endParaRPr lang="en-US" altLang="zh-CN" sz="2000"/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…</a:t>
            </a:r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case V</a:t>
            </a:r>
            <a:r>
              <a:rPr lang="en-US" altLang="zh-CN" sz="2000" baseline="-25000"/>
              <a:t>n-1</a:t>
            </a:r>
            <a:r>
              <a:rPr lang="en-US" altLang="zh-CN" sz="2000"/>
              <a:t> : S</a:t>
            </a:r>
            <a:r>
              <a:rPr lang="en-US" altLang="zh-CN" sz="2000" baseline="-25000"/>
              <a:t>n-1</a:t>
            </a:r>
            <a:endParaRPr lang="en-US" altLang="zh-CN" sz="2000"/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default : S</a:t>
            </a:r>
            <a:r>
              <a:rPr lang="en-US" altLang="zh-CN" sz="2000" baseline="-25000"/>
              <a:t>n</a:t>
            </a:r>
            <a:endParaRPr lang="en-US" altLang="zh-CN" sz="2000"/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end</a:t>
            </a:r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AutoNum type="arabicPeriod"/>
            </a:pPr>
            <a:r>
              <a:rPr lang="zh-CN" altLang="en-US" sz="2400"/>
              <a:t>计算表达式</a:t>
            </a:r>
            <a:r>
              <a:rPr lang="en-US" altLang="zh-CN" sz="2400"/>
              <a:t>E</a:t>
            </a:r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AutoNum type="arabicPeriod"/>
            </a:pPr>
            <a:r>
              <a:rPr lang="zh-CN" altLang="en-US" sz="2400"/>
              <a:t>寻找哪个</a:t>
            </a:r>
            <a:r>
              <a:rPr lang="en-US" altLang="zh-CN" sz="2400"/>
              <a:t>V</a:t>
            </a:r>
            <a:r>
              <a:rPr lang="zh-CN" altLang="en-US" sz="2400"/>
              <a:t>与</a:t>
            </a:r>
            <a:r>
              <a:rPr lang="en-US" altLang="zh-CN" sz="2400"/>
              <a:t>E</a:t>
            </a:r>
            <a:r>
              <a:rPr lang="zh-CN" altLang="en-US" sz="2400"/>
              <a:t>的值相等，都不等，则选择</a:t>
            </a:r>
            <a:r>
              <a:rPr lang="en-US" altLang="zh-CN" sz="2400"/>
              <a:t>default</a:t>
            </a:r>
          </a:p>
          <a:p>
            <a:pPr marL="609600" indent="-609600" eaLnBrk="1" hangingPunct="1">
              <a:spcBef>
                <a:spcPct val="10000"/>
              </a:spcBef>
              <a:buFont typeface="Wingdings" panose="05000000000000000000" pitchFamily="2" charset="2"/>
              <a:buAutoNum type="arabicPeriod"/>
            </a:pPr>
            <a:r>
              <a:rPr lang="zh-CN" altLang="en-US" sz="2400"/>
              <a:t>运行对应的语句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A73EAB69-2EEA-47ED-83EE-F5B959139D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翻译方法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0D844EA0-46FD-4B30-BCAC-63BC679AB5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102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第</a:t>
            </a:r>
            <a:r>
              <a:rPr lang="en-US" altLang="zh-CN" sz="2800" dirty="0"/>
              <a:t>(2)</a:t>
            </a:r>
            <a:r>
              <a:rPr lang="zh-CN" altLang="en-US" sz="2800" dirty="0"/>
              <a:t>步是一个</a:t>
            </a:r>
            <a:r>
              <a:rPr lang="en-US" altLang="zh-CN" sz="2800" dirty="0"/>
              <a:t>n-</a:t>
            </a:r>
            <a:r>
              <a:rPr lang="zh-CN" altLang="en-US" sz="2800" dirty="0"/>
              <a:t>路分支</a:t>
            </a:r>
          </a:p>
          <a:p>
            <a:pPr lvl="1" eaLnBrk="1" hangingPunct="1"/>
            <a:r>
              <a:rPr lang="zh-CN" altLang="en-US" sz="2400" dirty="0"/>
              <a:t>方法</a:t>
            </a:r>
            <a:r>
              <a:rPr lang="en-US" altLang="zh-CN" sz="2400" dirty="0"/>
              <a:t>1</a:t>
            </a:r>
            <a:r>
              <a:rPr lang="zh-CN" altLang="en-US" sz="2400" dirty="0"/>
              <a:t>：翻译为简单的条件分支语句</a:t>
            </a:r>
          </a:p>
          <a:p>
            <a:pPr lvl="1" eaLnBrk="1" hangingPunct="1"/>
            <a:r>
              <a:rPr lang="zh-CN" altLang="en-US" sz="2400" dirty="0"/>
              <a:t>方法</a:t>
            </a:r>
            <a:r>
              <a:rPr lang="en-US" altLang="zh-CN" sz="2400" dirty="0"/>
              <a:t>2</a:t>
            </a:r>
            <a:r>
              <a:rPr lang="zh-CN" altLang="en-US" sz="2400" dirty="0"/>
              <a:t>：表驱动</a:t>
            </a:r>
          </a:p>
          <a:p>
            <a:pPr lvl="2" eaLnBrk="1" hangingPunct="1"/>
            <a:r>
              <a:rPr lang="zh-CN" altLang="en-US" sz="2000" dirty="0"/>
              <a:t>表项</a:t>
            </a:r>
            <a:r>
              <a:rPr lang="en-US" altLang="zh-CN" sz="2000" dirty="0"/>
              <a:t>——&lt;</a:t>
            </a:r>
            <a:r>
              <a:rPr lang="zh-CN" altLang="en-US" sz="2000" dirty="0"/>
              <a:t>值，标号</a:t>
            </a:r>
            <a:r>
              <a:rPr lang="en-US" altLang="zh-CN" sz="2000" dirty="0"/>
              <a:t>&gt;</a:t>
            </a:r>
          </a:p>
          <a:p>
            <a:pPr lvl="2" eaLnBrk="1" hangingPunct="1"/>
            <a:r>
              <a:rPr lang="zh-CN" altLang="en-US" sz="2000" dirty="0"/>
              <a:t>利用一循环进行检测</a:t>
            </a:r>
          </a:p>
          <a:p>
            <a:pPr lvl="1" eaLnBrk="1" hangingPunct="1"/>
            <a:r>
              <a:rPr lang="en-US" altLang="zh-CN" sz="2400" dirty="0"/>
              <a:t>hash</a:t>
            </a:r>
            <a:r>
              <a:rPr lang="zh-CN" altLang="en-US" sz="2400" dirty="0"/>
              <a:t>表</a:t>
            </a:r>
          </a:p>
          <a:p>
            <a:pPr lvl="1" eaLnBrk="1" hangingPunct="1"/>
            <a:r>
              <a:rPr lang="zh-CN" altLang="en-US" sz="2400" dirty="0"/>
              <a:t>直接定位</a:t>
            </a:r>
          </a:p>
          <a:p>
            <a:pPr lvl="2" eaLnBrk="1" hangingPunct="1"/>
            <a:r>
              <a:rPr lang="zh-CN" altLang="en-US" sz="2000" dirty="0"/>
              <a:t>取值范围小，</a:t>
            </a:r>
            <a:r>
              <a:rPr lang="en-US" altLang="zh-CN" sz="2000" dirty="0" err="1"/>
              <a:t>i</a:t>
            </a:r>
            <a:r>
              <a:rPr lang="en-US" altLang="zh-CN" sz="2000" baseline="-25000" dirty="0" err="1"/>
              <a:t>min</a:t>
            </a:r>
            <a:r>
              <a:rPr lang="en-US" altLang="zh-CN" sz="2000" dirty="0" err="1"/>
              <a:t>~i</a:t>
            </a:r>
            <a:r>
              <a:rPr lang="en-US" altLang="zh-CN" sz="2000" baseline="-25000" dirty="0" err="1"/>
              <a:t>max</a:t>
            </a:r>
            <a:endParaRPr lang="en-US" altLang="zh-CN" sz="2000" dirty="0"/>
          </a:p>
          <a:p>
            <a:pPr lvl="2" eaLnBrk="1" hangingPunct="1"/>
            <a:r>
              <a:rPr lang="zh-CN" altLang="en-US" sz="2000" dirty="0"/>
              <a:t>标号数组</a:t>
            </a:r>
            <a:r>
              <a:rPr lang="en-US" altLang="zh-CN" sz="2000" dirty="0"/>
              <a:t>label[</a:t>
            </a:r>
            <a:r>
              <a:rPr lang="en-US" altLang="zh-CN" sz="2000" dirty="0" err="1"/>
              <a:t>i</a:t>
            </a:r>
            <a:r>
              <a:rPr lang="en-US" altLang="zh-CN" sz="2000" baseline="-25000" dirty="0" err="1"/>
              <a:t>max</a:t>
            </a:r>
            <a:r>
              <a:rPr lang="en-US" altLang="zh-CN" sz="2000" baseline="-25000" dirty="0"/>
              <a:t> </a:t>
            </a:r>
            <a:r>
              <a:rPr lang="en-US" altLang="zh-CN" sz="2000" dirty="0"/>
              <a:t>- </a:t>
            </a:r>
            <a:r>
              <a:rPr lang="en-US" altLang="zh-CN" sz="2000" dirty="0" err="1"/>
              <a:t>i</a:t>
            </a:r>
            <a:r>
              <a:rPr lang="en-US" altLang="zh-CN" sz="2000" baseline="-25000" dirty="0" err="1"/>
              <a:t>min</a:t>
            </a:r>
            <a:r>
              <a:rPr lang="en-US" altLang="zh-CN" sz="2000" baseline="-25000" dirty="0"/>
              <a:t> </a:t>
            </a:r>
            <a:r>
              <a:rPr lang="en-US" altLang="zh-CN" sz="2000" dirty="0"/>
              <a:t>+ 1]</a:t>
            </a:r>
          </a:p>
          <a:p>
            <a:pPr lvl="2" eaLnBrk="1" hangingPunct="1"/>
            <a:r>
              <a:rPr lang="zh-CN" altLang="en-US" sz="2000" dirty="0"/>
              <a:t>值</a:t>
            </a:r>
            <a:r>
              <a:rPr lang="en-US" altLang="zh-CN" sz="2000" dirty="0"/>
              <a:t>j </a:t>
            </a:r>
            <a:r>
              <a:rPr lang="en-US" altLang="zh-CN" sz="2000" dirty="0">
                <a:sym typeface="Wingdings" panose="05000000000000000000" pitchFamily="2" charset="2"/>
              </a:rPr>
              <a:t> </a:t>
            </a:r>
            <a:r>
              <a:rPr lang="zh-CN" altLang="en-US" sz="2000" dirty="0">
                <a:sym typeface="Wingdings" panose="05000000000000000000" pitchFamily="2" charset="2"/>
              </a:rPr>
              <a:t>对应语句标号</a:t>
            </a:r>
            <a:r>
              <a:rPr lang="en-US" altLang="zh-CN" sz="2000" dirty="0">
                <a:sym typeface="Wingdings" panose="05000000000000000000" pitchFamily="2" charset="2"/>
              </a:rPr>
              <a:t>label[j - </a:t>
            </a:r>
            <a:r>
              <a:rPr lang="en-US" altLang="zh-CN" sz="2000" dirty="0" err="1">
                <a:sym typeface="Wingdings" panose="05000000000000000000" pitchFamily="2" charset="2"/>
              </a:rPr>
              <a:t>i</a:t>
            </a:r>
            <a:r>
              <a:rPr lang="en-US" altLang="zh-CN" sz="2000" baseline="-25000" dirty="0" err="1">
                <a:sym typeface="Wingdings" panose="05000000000000000000" pitchFamily="2" charset="2"/>
              </a:rPr>
              <a:t>min</a:t>
            </a:r>
            <a:r>
              <a:rPr lang="en-US" altLang="zh-CN" sz="2000" dirty="0">
                <a:sym typeface="Wingdings" panose="05000000000000000000" pitchFamily="2" charset="2"/>
              </a:rPr>
              <a:t>]</a:t>
            </a:r>
          </a:p>
          <a:p>
            <a:pPr lvl="2" eaLnBrk="1" hangingPunct="1"/>
            <a:r>
              <a:rPr lang="zh-CN" altLang="en-US" sz="2000" dirty="0">
                <a:sym typeface="Wingdings" panose="05000000000000000000" pitchFamily="2" charset="2"/>
              </a:rPr>
              <a:t>表达式求值  直接定位标号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219B4723-8B2B-448C-9B17-0B25B43D5B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翻译方法</a:t>
            </a:r>
            <a:r>
              <a:rPr lang="en-US" altLang="zh-CN"/>
              <a:t>1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859AC017-5D95-4409-9621-9CAA3A8CFC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10200"/>
          </a:xfrm>
        </p:spPr>
        <p:txBody>
          <a:bodyPr/>
          <a:lstStyle/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</a:t>
            </a:r>
            <a:r>
              <a:rPr lang="zh-CN" altLang="en-US" sz="2000"/>
              <a:t>计算</a:t>
            </a:r>
            <a:r>
              <a:rPr lang="en-US" altLang="zh-CN" sz="2000"/>
              <a:t>E</a:t>
            </a:r>
            <a:r>
              <a:rPr lang="en-US" altLang="zh-CN" sz="2000">
                <a:sym typeface="Wingdings" panose="05000000000000000000" pitchFamily="2" charset="2"/>
              </a:rPr>
              <a:t></a:t>
            </a:r>
            <a:r>
              <a:rPr lang="en-US" altLang="zh-CN" sz="2000"/>
              <a:t>t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goto test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L</a:t>
            </a:r>
            <a:r>
              <a:rPr lang="en-US" altLang="zh-CN" sz="2000" baseline="-25000"/>
              <a:t>1</a:t>
            </a:r>
            <a:r>
              <a:rPr lang="en-US" altLang="zh-CN" sz="2000"/>
              <a:t>:	S</a:t>
            </a:r>
            <a:r>
              <a:rPr lang="en-US" altLang="zh-CN" sz="2000" baseline="-25000"/>
              <a:t>1</a:t>
            </a:r>
            <a:r>
              <a:rPr lang="zh-CN" altLang="en-US" sz="2000"/>
              <a:t>代码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000"/>
              <a:t>		</a:t>
            </a:r>
            <a:r>
              <a:rPr lang="en-US" altLang="zh-CN" sz="2000"/>
              <a:t>goto next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L</a:t>
            </a:r>
            <a:r>
              <a:rPr lang="en-US" altLang="zh-CN" sz="2000" baseline="-25000"/>
              <a:t>2</a:t>
            </a:r>
            <a:r>
              <a:rPr lang="en-US" altLang="zh-CN" sz="2000"/>
              <a:t>:	S</a:t>
            </a:r>
            <a:r>
              <a:rPr lang="en-US" altLang="zh-CN" sz="2000" baseline="-25000"/>
              <a:t>2</a:t>
            </a:r>
            <a:r>
              <a:rPr lang="zh-CN" altLang="en-US" sz="2000"/>
              <a:t>代码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000"/>
              <a:t>		</a:t>
            </a:r>
            <a:r>
              <a:rPr lang="en-US" altLang="zh-CN" sz="2000"/>
              <a:t>goto next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…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L</a:t>
            </a:r>
            <a:r>
              <a:rPr lang="en-US" altLang="zh-CN" sz="2000" baseline="-25000"/>
              <a:t>n-1</a:t>
            </a:r>
            <a:r>
              <a:rPr lang="en-US" altLang="zh-CN" sz="2000"/>
              <a:t>:	S</a:t>
            </a:r>
            <a:r>
              <a:rPr lang="en-US" altLang="zh-CN" sz="2000" baseline="-25000"/>
              <a:t>n-1</a:t>
            </a:r>
            <a:r>
              <a:rPr lang="zh-CN" altLang="en-US" sz="2000"/>
              <a:t>代码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000"/>
              <a:t>		</a:t>
            </a:r>
            <a:r>
              <a:rPr lang="en-US" altLang="zh-CN" sz="2000"/>
              <a:t>goto next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L</a:t>
            </a:r>
            <a:r>
              <a:rPr lang="en-US" altLang="zh-CN" sz="2000" baseline="-25000"/>
              <a:t>n</a:t>
            </a:r>
            <a:r>
              <a:rPr lang="en-US" altLang="zh-CN" sz="2000"/>
              <a:t>:	S</a:t>
            </a:r>
            <a:r>
              <a:rPr lang="en-US" altLang="zh-CN" sz="2000" baseline="-25000"/>
              <a:t>n</a:t>
            </a:r>
            <a:r>
              <a:rPr lang="zh-CN" altLang="en-US" sz="2000"/>
              <a:t>代码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000"/>
              <a:t>		</a:t>
            </a:r>
            <a:r>
              <a:rPr lang="en-US" altLang="zh-CN" sz="2000"/>
              <a:t>goto next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test:	if (t == V</a:t>
            </a:r>
            <a:r>
              <a:rPr lang="en-US" altLang="zh-CN" sz="2000" baseline="-25000"/>
              <a:t>1</a:t>
            </a:r>
            <a:r>
              <a:rPr lang="en-US" altLang="zh-CN" sz="2000"/>
              <a:t>) goto L</a:t>
            </a:r>
            <a:r>
              <a:rPr lang="en-US" altLang="zh-CN" sz="2000" baseline="-25000"/>
              <a:t>1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 baseline="-25000"/>
              <a:t>		</a:t>
            </a:r>
            <a:r>
              <a:rPr lang="en-US" altLang="zh-CN" sz="2000"/>
              <a:t>if (t == V</a:t>
            </a:r>
            <a:r>
              <a:rPr lang="en-US" altLang="zh-CN" sz="2000" baseline="-25000"/>
              <a:t>2</a:t>
            </a:r>
            <a:r>
              <a:rPr lang="en-US" altLang="zh-CN" sz="2000"/>
              <a:t>) goto L</a:t>
            </a:r>
            <a:r>
              <a:rPr lang="en-US" altLang="zh-CN" sz="2000" baseline="-25000"/>
              <a:t>2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…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if (t == V</a:t>
            </a:r>
            <a:r>
              <a:rPr lang="en-US" altLang="zh-CN" sz="2000" baseline="-25000"/>
              <a:t>n-1</a:t>
            </a:r>
            <a:r>
              <a:rPr lang="en-US" altLang="zh-CN" sz="2000"/>
              <a:t>) goto L</a:t>
            </a:r>
            <a:r>
              <a:rPr lang="en-US" altLang="zh-CN" sz="2000" baseline="-25000"/>
              <a:t>n-1</a:t>
            </a:r>
            <a:endParaRPr lang="en-US" altLang="zh-CN" sz="2000"/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		goto L</a:t>
            </a:r>
            <a:r>
              <a:rPr lang="en-US" altLang="zh-CN" sz="2000" baseline="-25000"/>
              <a:t>n</a:t>
            </a:r>
            <a:endParaRPr lang="en-US" altLang="zh-CN" sz="2000"/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next: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F0F78D1D-ACA6-4A07-89CD-161E82A199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翻译方法</a:t>
            </a:r>
            <a:r>
              <a:rPr lang="en-US" altLang="zh-CN"/>
              <a:t>2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C4449A8E-EC98-451F-8676-E459B7267F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10200"/>
          </a:xfrm>
        </p:spPr>
        <p:txBody>
          <a:bodyPr/>
          <a:lstStyle/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/>
              <a:t>		</a:t>
            </a:r>
            <a:r>
              <a:rPr lang="zh-CN" altLang="en-US" sz="2200"/>
              <a:t>计算</a:t>
            </a:r>
            <a:r>
              <a:rPr lang="en-US" altLang="zh-CN" sz="2200"/>
              <a:t>E</a:t>
            </a:r>
            <a:r>
              <a:rPr lang="en-US" altLang="zh-CN" sz="2200">
                <a:sym typeface="Wingdings" panose="05000000000000000000" pitchFamily="2" charset="2"/>
              </a:rPr>
              <a:t></a:t>
            </a:r>
            <a:r>
              <a:rPr lang="en-US" altLang="zh-CN" sz="2200"/>
              <a:t>t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/>
              <a:t>		if t &lt;&gt; V</a:t>
            </a:r>
            <a:r>
              <a:rPr lang="en-US" altLang="zh-CN" sz="2200" baseline="-25000"/>
              <a:t>1</a:t>
            </a:r>
            <a:r>
              <a:rPr lang="en-US" altLang="zh-CN" sz="2200"/>
              <a:t> goto L</a:t>
            </a:r>
            <a:r>
              <a:rPr lang="en-US" altLang="zh-CN" sz="2200" baseline="-25000"/>
              <a:t>1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 baseline="-25000"/>
              <a:t>		</a:t>
            </a:r>
            <a:r>
              <a:rPr lang="en-US" altLang="zh-CN" sz="2200"/>
              <a:t>S</a:t>
            </a:r>
            <a:r>
              <a:rPr lang="en-US" altLang="zh-CN" sz="2200" baseline="-25000"/>
              <a:t>1</a:t>
            </a:r>
            <a:r>
              <a:rPr lang="zh-CN" altLang="en-US" sz="2200"/>
              <a:t>代码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200"/>
              <a:t>		</a:t>
            </a:r>
            <a:r>
              <a:rPr lang="en-US" altLang="zh-CN" sz="2200"/>
              <a:t>goto test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/>
              <a:t>L</a:t>
            </a:r>
            <a:r>
              <a:rPr lang="en-US" altLang="zh-CN" sz="2200" baseline="-25000"/>
              <a:t>1</a:t>
            </a:r>
            <a:r>
              <a:rPr lang="en-US" altLang="zh-CN" sz="2200"/>
              <a:t>:	if t &lt;&gt; V</a:t>
            </a:r>
            <a:r>
              <a:rPr lang="en-US" altLang="zh-CN" sz="2200" baseline="-25000"/>
              <a:t>2</a:t>
            </a:r>
            <a:r>
              <a:rPr lang="en-US" altLang="zh-CN" sz="2200"/>
              <a:t> goto L</a:t>
            </a:r>
            <a:r>
              <a:rPr lang="en-US" altLang="zh-CN" sz="2200" baseline="-25000"/>
              <a:t>2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/>
              <a:t>		S</a:t>
            </a:r>
            <a:r>
              <a:rPr lang="en-US" altLang="zh-CN" sz="2200" baseline="-25000"/>
              <a:t>2</a:t>
            </a:r>
            <a:r>
              <a:rPr lang="zh-CN" altLang="en-US" sz="2200"/>
              <a:t>代码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200"/>
              <a:t>		</a:t>
            </a:r>
            <a:r>
              <a:rPr lang="en-US" altLang="zh-CN" sz="2200"/>
              <a:t>goto next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/>
              <a:t>L</a:t>
            </a:r>
            <a:r>
              <a:rPr lang="en-US" altLang="zh-CN" sz="2200" baseline="-25000"/>
              <a:t>2</a:t>
            </a:r>
            <a:r>
              <a:rPr lang="en-US" altLang="zh-CN" sz="2200"/>
              <a:t>: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/>
              <a:t>		…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/>
              <a:t>L</a:t>
            </a:r>
            <a:r>
              <a:rPr lang="en-US" altLang="zh-CN" sz="2200" baseline="-25000"/>
              <a:t>n-2</a:t>
            </a:r>
            <a:r>
              <a:rPr lang="en-US" altLang="zh-CN" sz="2200"/>
              <a:t>:	 if t &lt;&gt; V</a:t>
            </a:r>
            <a:r>
              <a:rPr lang="en-US" altLang="zh-CN" sz="2200" baseline="-25000"/>
              <a:t>n-1</a:t>
            </a:r>
            <a:r>
              <a:rPr lang="en-US" altLang="zh-CN" sz="2200"/>
              <a:t> goto L</a:t>
            </a:r>
            <a:r>
              <a:rPr lang="en-US" altLang="zh-CN" sz="2200" baseline="-25000"/>
              <a:t>n-1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/>
              <a:t>		S</a:t>
            </a:r>
            <a:r>
              <a:rPr lang="en-US" altLang="zh-CN" sz="2200" baseline="-25000"/>
              <a:t>n-1</a:t>
            </a:r>
            <a:r>
              <a:rPr lang="zh-CN" altLang="en-US" sz="2200"/>
              <a:t>代码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zh-CN" altLang="en-US" sz="2200"/>
              <a:t>		</a:t>
            </a:r>
            <a:r>
              <a:rPr lang="en-US" altLang="zh-CN" sz="2200"/>
              <a:t>goto next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/>
              <a:t>L</a:t>
            </a:r>
            <a:r>
              <a:rPr lang="en-US" altLang="zh-CN" sz="2200" baseline="-25000"/>
              <a:t>n</a:t>
            </a:r>
            <a:r>
              <a:rPr lang="en-US" altLang="zh-CN" sz="2200"/>
              <a:t>:	S</a:t>
            </a:r>
            <a:r>
              <a:rPr lang="en-US" altLang="zh-CN" sz="2200" baseline="-25000"/>
              <a:t>n</a:t>
            </a:r>
            <a:r>
              <a:rPr lang="zh-CN" altLang="en-US" sz="2200"/>
              <a:t>代码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200"/>
              <a:t>next: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3F1727B5-C65B-4703-B82C-858727E14DD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8.6  BackPatching</a:t>
            </a:r>
            <a:r>
              <a:rPr lang="zh-CN" altLang="en-US"/>
              <a:t>技术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2D16AA96-8522-4BC5-8455-1CF064FCCA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2578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第</a:t>
            </a:r>
            <a:r>
              <a:rPr lang="en-US" altLang="zh-CN" sz="2800" dirty="0"/>
              <a:t>4</a:t>
            </a:r>
            <a:r>
              <a:rPr lang="zh-CN" altLang="en-US" sz="2800" dirty="0"/>
              <a:t>节语法制导定义实现方法</a:t>
            </a:r>
          </a:p>
          <a:p>
            <a:pPr lvl="1" eaLnBrk="1" hangingPunct="1"/>
            <a:r>
              <a:rPr lang="zh-CN" altLang="en-US" sz="2400" dirty="0"/>
              <a:t>两遍扫描：创建语法树，然后计算属性值</a:t>
            </a:r>
          </a:p>
          <a:p>
            <a:pPr lvl="1" eaLnBrk="1" hangingPunct="1"/>
            <a:r>
              <a:rPr lang="zh-CN" altLang="en-US" sz="2400" dirty="0"/>
              <a:t>若单遍扫描：生成转移语句时目的地址未知</a:t>
            </a:r>
          </a:p>
          <a:p>
            <a:pPr eaLnBrk="1" hangingPunct="1"/>
            <a:r>
              <a:rPr lang="en-US" altLang="zh-CN" sz="2800" dirty="0"/>
              <a:t>backpatching</a:t>
            </a:r>
            <a:r>
              <a:rPr lang="zh-CN" altLang="en-US" sz="2800" dirty="0"/>
              <a:t>：布尔表达式生成转移语句时“留空”，控制流语句确定地址时“填空”</a:t>
            </a:r>
            <a:endParaRPr lang="en-US" altLang="zh-CN" sz="2800" dirty="0"/>
          </a:p>
          <a:p>
            <a:pPr lvl="1" eaLnBrk="1" hangingPunct="1"/>
            <a:r>
              <a:rPr lang="zh-CN" altLang="en-US" sz="2400" dirty="0"/>
              <a:t>语句</a:t>
            </a:r>
            <a:r>
              <a:rPr lang="zh-CN" altLang="en-US" sz="2400" dirty="0">
                <a:sym typeface="Wingdings" panose="05000000000000000000" pitchFamily="2" charset="2"/>
              </a:rPr>
              <a:t></a:t>
            </a:r>
            <a:r>
              <a:rPr lang="zh-CN" altLang="en-US" sz="2400" dirty="0"/>
              <a:t>四元式数组，地址</a:t>
            </a:r>
            <a:r>
              <a:rPr lang="en-US" altLang="zh-CN" sz="2400" dirty="0"/>
              <a:t>——</a:t>
            </a:r>
            <a:r>
              <a:rPr lang="zh-CN" altLang="en-US" sz="2400" dirty="0"/>
              <a:t>数组索引</a:t>
            </a:r>
          </a:p>
          <a:p>
            <a:pPr lvl="1" eaLnBrk="1" hangingPunct="1"/>
            <a:r>
              <a:rPr lang="en-US" altLang="zh-CN" sz="2400" dirty="0" err="1"/>
              <a:t>makelist</a:t>
            </a:r>
            <a:r>
              <a:rPr lang="en-US" altLang="zh-CN" sz="2400" dirty="0"/>
              <a:t>(</a:t>
            </a:r>
            <a:r>
              <a:rPr lang="en-US" altLang="zh-CN" sz="2400" dirty="0" err="1"/>
              <a:t>i</a:t>
            </a:r>
            <a:r>
              <a:rPr lang="en-US" altLang="zh-CN" sz="2400" dirty="0"/>
              <a:t>)</a:t>
            </a:r>
            <a:r>
              <a:rPr lang="zh-CN" altLang="en-US" sz="2400" dirty="0"/>
              <a:t>：创建列表，仅包含</a:t>
            </a:r>
            <a:r>
              <a:rPr lang="en-US" altLang="zh-CN" sz="2400" dirty="0" err="1"/>
              <a:t>i</a:t>
            </a:r>
            <a:r>
              <a:rPr lang="en-US" altLang="zh-CN" sz="2400" dirty="0"/>
              <a:t>——</a:t>
            </a:r>
            <a:r>
              <a:rPr lang="zh-CN" altLang="en-US" sz="2400" dirty="0"/>
              <a:t>指向四元式数组索引</a:t>
            </a:r>
            <a:r>
              <a:rPr lang="en-US" altLang="zh-CN" sz="2400" dirty="0"/>
              <a:t>——</a:t>
            </a:r>
            <a:r>
              <a:rPr lang="zh-CN" altLang="en-US" sz="2400" dirty="0">
                <a:solidFill>
                  <a:srgbClr val="FF0000"/>
                </a:solidFill>
              </a:rPr>
              <a:t>还无法填写地址的转移语句，“留空”</a:t>
            </a:r>
          </a:p>
          <a:p>
            <a:pPr lvl="1" eaLnBrk="1" hangingPunct="1"/>
            <a:r>
              <a:rPr lang="en-US" altLang="zh-CN" sz="2400" dirty="0"/>
              <a:t>merge(p</a:t>
            </a:r>
            <a:r>
              <a:rPr lang="en-US" altLang="zh-CN" sz="2400" baseline="-25000" dirty="0"/>
              <a:t>1</a:t>
            </a:r>
            <a:r>
              <a:rPr lang="en-US" altLang="zh-CN" sz="2400" dirty="0"/>
              <a:t>, p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)</a:t>
            </a:r>
            <a:r>
              <a:rPr lang="zh-CN" altLang="en-US" sz="2400" dirty="0"/>
              <a:t>：合并列表</a:t>
            </a:r>
            <a:r>
              <a:rPr lang="en-US" altLang="zh-CN" sz="2400" dirty="0"/>
              <a:t>p</a:t>
            </a:r>
            <a:r>
              <a:rPr lang="en-US" altLang="zh-CN" sz="2400" baseline="-25000" dirty="0"/>
              <a:t>1</a:t>
            </a:r>
            <a:r>
              <a:rPr lang="zh-CN" altLang="en-US" sz="2400" dirty="0"/>
              <a:t>、</a:t>
            </a:r>
            <a:r>
              <a:rPr lang="en-US" altLang="zh-CN" sz="2400" dirty="0"/>
              <a:t>p</a:t>
            </a:r>
            <a:r>
              <a:rPr lang="en-US" altLang="zh-CN" sz="2400" baseline="-25000" dirty="0"/>
              <a:t>2</a:t>
            </a:r>
            <a:r>
              <a:rPr lang="en-US" altLang="zh-CN" sz="2400" dirty="0"/>
              <a:t> ——</a:t>
            </a:r>
            <a:r>
              <a:rPr lang="zh-CN" altLang="en-US" sz="2400" dirty="0">
                <a:solidFill>
                  <a:srgbClr val="FF0000"/>
                </a:solidFill>
              </a:rPr>
              <a:t>两个转移语句的目的地址是相同的，目前仍无法填写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lvl="1" eaLnBrk="1" hangingPunct="1"/>
            <a:r>
              <a:rPr lang="en-US" altLang="zh-CN" sz="2400" dirty="0"/>
              <a:t>backpatch(p, </a:t>
            </a:r>
            <a:r>
              <a:rPr lang="en-US" altLang="zh-CN" sz="2400" dirty="0" err="1"/>
              <a:t>i</a:t>
            </a:r>
            <a:r>
              <a:rPr lang="en-US" altLang="zh-CN" sz="2400" dirty="0"/>
              <a:t>)</a:t>
            </a:r>
            <a:r>
              <a:rPr lang="zh-CN" altLang="en-US" sz="2400" dirty="0"/>
              <a:t>：将列表</a:t>
            </a:r>
            <a:r>
              <a:rPr lang="en-US" altLang="zh-CN" sz="2400" dirty="0"/>
              <a:t>p</a:t>
            </a:r>
            <a:r>
              <a:rPr lang="zh-CN" altLang="en-US" sz="2400" dirty="0"/>
              <a:t>指向的所有语句中的空白处填入</a:t>
            </a:r>
            <a:r>
              <a:rPr lang="en-US" altLang="zh-CN" sz="2400" dirty="0" err="1"/>
              <a:t>i</a:t>
            </a:r>
            <a:r>
              <a:rPr lang="en-US" altLang="zh-CN" sz="2400" dirty="0"/>
              <a:t>——</a:t>
            </a:r>
            <a:r>
              <a:rPr lang="zh-CN" altLang="en-US" sz="2400" dirty="0">
                <a:solidFill>
                  <a:srgbClr val="FF0000"/>
                </a:solidFill>
              </a:rPr>
              <a:t>已经知道了这些转移语句的目的地址应该是</a:t>
            </a:r>
            <a:r>
              <a:rPr lang="en-US" altLang="zh-CN" sz="2400" dirty="0" err="1">
                <a:solidFill>
                  <a:srgbClr val="FF0000"/>
                </a:solidFill>
              </a:rPr>
              <a:t>i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87D8B796-07E9-4ABD-910A-CE02A6349E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8.6.1  </a:t>
            </a:r>
            <a:r>
              <a:rPr lang="zh-CN" altLang="en-US"/>
              <a:t>语法制导定义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578A2912-9B3A-4CF6-9C25-533F00766B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800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E→E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 </a:t>
            </a:r>
            <a:r>
              <a:rPr lang="en-US" altLang="zh-CN" sz="2000" b="1" dirty="0"/>
              <a:t>or</a:t>
            </a:r>
            <a:r>
              <a:rPr lang="en-US" altLang="zh-CN" sz="2000" dirty="0"/>
              <a:t> M E</a:t>
            </a:r>
            <a:r>
              <a:rPr lang="en-US" altLang="zh-CN" sz="2000" baseline="-25000" dirty="0"/>
              <a:t>2   </a:t>
            </a:r>
            <a:r>
              <a:rPr lang="en-US" altLang="zh-CN" sz="2000" dirty="0"/>
              <a:t>{ backpatch(E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.falselist, </a:t>
            </a:r>
            <a:r>
              <a:rPr lang="en-US" altLang="zh-CN" sz="2000" dirty="0" err="1"/>
              <a:t>M.quad</a:t>
            </a:r>
            <a:r>
              <a:rPr lang="en-US" altLang="zh-CN" sz="2000" dirty="0"/>
              <a:t>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	     </a:t>
            </a:r>
            <a:r>
              <a:rPr lang="en-US" altLang="zh-CN" sz="2000" dirty="0" err="1"/>
              <a:t>E.truelist</a:t>
            </a:r>
            <a:r>
              <a:rPr lang="en-US" altLang="zh-CN" sz="2000" dirty="0"/>
              <a:t> = merge(E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.truelist, 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.truelist);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	     </a:t>
            </a:r>
            <a:r>
              <a:rPr lang="en-US" altLang="zh-CN" sz="2000" dirty="0" err="1"/>
              <a:t>E.falselist</a:t>
            </a:r>
            <a:r>
              <a:rPr lang="en-US" altLang="zh-CN" sz="2000" dirty="0"/>
              <a:t> = 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.falselist;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E→E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 </a:t>
            </a:r>
            <a:r>
              <a:rPr lang="en-US" altLang="zh-CN" sz="2000" b="1" dirty="0"/>
              <a:t>and</a:t>
            </a:r>
            <a:r>
              <a:rPr lang="en-US" altLang="zh-CN" sz="2000" dirty="0"/>
              <a:t> M E</a:t>
            </a:r>
            <a:r>
              <a:rPr lang="en-US" altLang="zh-CN" sz="2000" baseline="-25000" dirty="0"/>
              <a:t>2  </a:t>
            </a:r>
            <a:r>
              <a:rPr lang="en-US" altLang="zh-CN" sz="2000" dirty="0"/>
              <a:t>{ backpatch(E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.truelist, </a:t>
            </a:r>
            <a:r>
              <a:rPr lang="en-US" altLang="zh-CN" sz="2000" dirty="0" err="1"/>
              <a:t>M.quad</a:t>
            </a:r>
            <a:r>
              <a:rPr lang="en-US" altLang="zh-CN" sz="2000" dirty="0"/>
              <a:t>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	       </a:t>
            </a:r>
            <a:r>
              <a:rPr lang="en-US" altLang="zh-CN" sz="2000" dirty="0" err="1"/>
              <a:t>E.truelist</a:t>
            </a:r>
            <a:r>
              <a:rPr lang="en-US" altLang="zh-CN" sz="2000" dirty="0"/>
              <a:t> = 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.truelist;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	    </a:t>
            </a:r>
            <a:r>
              <a:rPr lang="en-US" altLang="zh-CN" sz="2000" dirty="0" err="1"/>
              <a:t>E.falselist</a:t>
            </a:r>
            <a:r>
              <a:rPr lang="en-US" altLang="zh-CN" sz="2000" dirty="0"/>
              <a:t> = merge(E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.falselist, E</a:t>
            </a:r>
            <a:r>
              <a:rPr lang="en-US" altLang="zh-CN" sz="2000" baseline="-25000" dirty="0"/>
              <a:t>2</a:t>
            </a:r>
            <a:r>
              <a:rPr lang="en-US" altLang="zh-CN" sz="2000" dirty="0"/>
              <a:t>.falselist);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 err="1"/>
              <a:t>E→</a:t>
            </a:r>
            <a:r>
              <a:rPr lang="en-US" altLang="zh-CN" sz="2000" b="1" dirty="0" err="1"/>
              <a:t>not</a:t>
            </a:r>
            <a:r>
              <a:rPr lang="en-US" altLang="zh-CN" sz="2000" dirty="0"/>
              <a:t>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	{ </a:t>
            </a:r>
            <a:r>
              <a:rPr lang="en-US" altLang="zh-CN" sz="2000" dirty="0" err="1"/>
              <a:t>E.truelist</a:t>
            </a:r>
            <a:r>
              <a:rPr lang="en-US" altLang="zh-CN" sz="2000" dirty="0"/>
              <a:t> =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.falselist;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	   </a:t>
            </a:r>
            <a:r>
              <a:rPr lang="en-US" altLang="zh-CN" sz="2000" dirty="0" err="1"/>
              <a:t>E.falselist</a:t>
            </a:r>
            <a:r>
              <a:rPr lang="en-US" altLang="zh-CN" sz="2000" dirty="0"/>
              <a:t> =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.truelist;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E→(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 )	{ </a:t>
            </a:r>
            <a:r>
              <a:rPr lang="en-US" altLang="zh-CN" sz="2000" dirty="0" err="1"/>
              <a:t>E.truelist</a:t>
            </a:r>
            <a:r>
              <a:rPr lang="en-US" altLang="zh-CN" sz="2000" dirty="0"/>
              <a:t> =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.truelist;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 dirty="0"/>
              <a:t>			   </a:t>
            </a:r>
            <a:r>
              <a:rPr lang="en-US" altLang="zh-CN" sz="2000" dirty="0" err="1"/>
              <a:t>E.falselist</a:t>
            </a:r>
            <a:r>
              <a:rPr lang="en-US" altLang="zh-CN" sz="2000" dirty="0"/>
              <a:t> = E</a:t>
            </a:r>
            <a:r>
              <a:rPr lang="en-US" altLang="zh-CN" sz="2000" baseline="-25000" dirty="0"/>
              <a:t>1</a:t>
            </a:r>
            <a:r>
              <a:rPr lang="en-US" altLang="zh-CN" sz="2000" dirty="0"/>
              <a:t>.falselist; }</a:t>
            </a:r>
          </a:p>
        </p:txBody>
      </p:sp>
      <p:sp>
        <p:nvSpPr>
          <p:cNvPr id="55300" name="Text Box 4">
            <a:extLst>
              <a:ext uri="{FF2B5EF4-FFF2-40B4-BE49-F238E27FC236}">
                <a16:creationId xmlns:a16="http://schemas.microsoft.com/office/drawing/2014/main" id="{8A28E5C2-7571-45D8-9472-861BA1E06B6C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6400800" y="609600"/>
            <a:ext cx="1905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FF3300"/>
                </a:solidFill>
              </a:rPr>
              <a:t>用下一语句编号“填空”</a:t>
            </a:r>
          </a:p>
        </p:txBody>
      </p:sp>
      <p:sp>
        <p:nvSpPr>
          <p:cNvPr id="55301" name="Freeform 5">
            <a:extLst>
              <a:ext uri="{FF2B5EF4-FFF2-40B4-BE49-F238E27FC236}">
                <a16:creationId xmlns:a16="http://schemas.microsoft.com/office/drawing/2014/main" id="{39E94498-E772-4190-A0B4-4214EDD98A75}"/>
              </a:ext>
            </a:extLst>
          </p:cNvPr>
          <p:cNvSpPr>
            <a:spLocks/>
          </p:cNvSpPr>
          <p:nvPr/>
        </p:nvSpPr>
        <p:spPr bwMode="ltGray">
          <a:xfrm>
            <a:off x="5943600" y="1124744"/>
            <a:ext cx="716632" cy="399256"/>
          </a:xfrm>
          <a:custGeom>
            <a:avLst/>
            <a:gdLst>
              <a:gd name="T0" fmla="*/ 2147483646 w 380"/>
              <a:gd name="T1" fmla="*/ 0 h 425"/>
              <a:gd name="T2" fmla="*/ 0 w 380"/>
              <a:gd name="T3" fmla="*/ 2147483646 h 425"/>
              <a:gd name="T4" fmla="*/ 0 60000 65536"/>
              <a:gd name="T5" fmla="*/ 0 60000 65536"/>
              <a:gd name="T6" fmla="*/ 0 w 380"/>
              <a:gd name="T7" fmla="*/ 0 h 425"/>
              <a:gd name="T8" fmla="*/ 380 w 380"/>
              <a:gd name="T9" fmla="*/ 425 h 4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80" h="425">
                <a:moveTo>
                  <a:pt x="380" y="0"/>
                </a:moveTo>
                <a:lnTo>
                  <a:pt x="0" y="425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17B42EEF-3B08-4278-B3AE-30ABC4386874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6848084" y="2218601"/>
            <a:ext cx="1905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FF3300"/>
                </a:solidFill>
              </a:rPr>
              <a:t>还填不了的留给上层节点</a:t>
            </a:r>
          </a:p>
        </p:txBody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CB322514-68EC-41E4-BEA7-391ABAD43CFA}"/>
              </a:ext>
            </a:extLst>
          </p:cNvPr>
          <p:cNvSpPr>
            <a:spLocks/>
          </p:cNvSpPr>
          <p:nvPr/>
        </p:nvSpPr>
        <p:spPr bwMode="ltGray">
          <a:xfrm flipV="1">
            <a:off x="6660232" y="2066200"/>
            <a:ext cx="716632" cy="201543"/>
          </a:xfrm>
          <a:custGeom>
            <a:avLst/>
            <a:gdLst>
              <a:gd name="T0" fmla="*/ 2147483646 w 380"/>
              <a:gd name="T1" fmla="*/ 0 h 425"/>
              <a:gd name="T2" fmla="*/ 0 w 380"/>
              <a:gd name="T3" fmla="*/ 2147483646 h 425"/>
              <a:gd name="T4" fmla="*/ 0 60000 65536"/>
              <a:gd name="T5" fmla="*/ 0 60000 65536"/>
              <a:gd name="T6" fmla="*/ 0 w 380"/>
              <a:gd name="T7" fmla="*/ 0 h 425"/>
              <a:gd name="T8" fmla="*/ 380 w 380"/>
              <a:gd name="T9" fmla="*/ 425 h 4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80" h="425">
                <a:moveTo>
                  <a:pt x="380" y="0"/>
                </a:moveTo>
                <a:lnTo>
                  <a:pt x="0" y="425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025A6D77-18F3-4F78-968C-807D82EA564C}"/>
              </a:ext>
            </a:extLst>
          </p:cNvPr>
          <p:cNvSpPr>
            <a:spLocks/>
          </p:cNvSpPr>
          <p:nvPr/>
        </p:nvSpPr>
        <p:spPr bwMode="ltGray">
          <a:xfrm flipV="1">
            <a:off x="5943600" y="2321855"/>
            <a:ext cx="1076672" cy="201543"/>
          </a:xfrm>
          <a:custGeom>
            <a:avLst/>
            <a:gdLst>
              <a:gd name="T0" fmla="*/ 2147483646 w 380"/>
              <a:gd name="T1" fmla="*/ 0 h 425"/>
              <a:gd name="T2" fmla="*/ 0 w 380"/>
              <a:gd name="T3" fmla="*/ 2147483646 h 425"/>
              <a:gd name="T4" fmla="*/ 0 60000 65536"/>
              <a:gd name="T5" fmla="*/ 0 60000 65536"/>
              <a:gd name="T6" fmla="*/ 0 w 380"/>
              <a:gd name="T7" fmla="*/ 0 h 425"/>
              <a:gd name="T8" fmla="*/ 380 w 380"/>
              <a:gd name="T9" fmla="*/ 425 h 4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80" h="425">
                <a:moveTo>
                  <a:pt x="380" y="0"/>
                </a:moveTo>
                <a:lnTo>
                  <a:pt x="0" y="425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37CA8EDC-DFBC-48D4-85EF-A727BE9E6F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语法制导定义（续）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D33B5DEA-3A5B-4619-8A78-8EC4DEE261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E→</a:t>
            </a:r>
            <a:r>
              <a:rPr lang="en-US" altLang="zh-CN" sz="2400" b="1"/>
              <a:t>id</a:t>
            </a:r>
            <a:r>
              <a:rPr lang="en-US" altLang="zh-CN" sz="2400" b="1" baseline="-25000"/>
              <a:t>1</a:t>
            </a:r>
            <a:r>
              <a:rPr lang="en-US" altLang="zh-CN" sz="2400" b="1"/>
              <a:t> relop id</a:t>
            </a:r>
            <a:r>
              <a:rPr lang="en-US" altLang="zh-CN" sz="2400" b="1" baseline="-25000"/>
              <a:t>2   </a:t>
            </a:r>
            <a:r>
              <a:rPr lang="en-US" altLang="zh-CN" sz="2400"/>
              <a:t>{ E.truelist = makelist(nextquad);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        E.falselist = makelist(nextquad + 1);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emit(‘if’ </a:t>
            </a:r>
            <a:r>
              <a:rPr lang="en-US" altLang="zh-CN" sz="2400" b="1"/>
              <a:t>id</a:t>
            </a:r>
            <a:r>
              <a:rPr lang="en-US" altLang="zh-CN" sz="2400" baseline="-25000"/>
              <a:t>1</a:t>
            </a:r>
            <a:r>
              <a:rPr lang="en-US" altLang="zh-CN" sz="2400"/>
              <a:t>.place </a:t>
            </a:r>
            <a:r>
              <a:rPr lang="en-US" altLang="zh-CN" sz="2400" b="1"/>
              <a:t>relop</a:t>
            </a:r>
            <a:r>
              <a:rPr lang="en-US" altLang="zh-CN" sz="2400"/>
              <a:t>.op </a:t>
            </a:r>
            <a:r>
              <a:rPr lang="en-US" altLang="zh-CN" sz="2400" b="1"/>
              <a:t>id</a:t>
            </a:r>
            <a:r>
              <a:rPr lang="en-US" altLang="zh-CN" sz="2400" b="1" baseline="-25000"/>
              <a:t>2</a:t>
            </a:r>
            <a:r>
              <a:rPr lang="en-US" altLang="zh-CN" sz="2400"/>
              <a:t>.place ‘goto _’);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         emit(‘goto _’);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E→</a:t>
            </a:r>
            <a:r>
              <a:rPr lang="en-US" altLang="zh-CN" sz="2400" b="1"/>
              <a:t>true</a:t>
            </a:r>
            <a:r>
              <a:rPr lang="en-US" altLang="zh-CN" sz="2400"/>
              <a:t>	{ E.truelist = makelist(nextquad);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   emit(‘goto _’);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E→</a:t>
            </a:r>
            <a:r>
              <a:rPr lang="en-US" altLang="zh-CN" sz="2400" b="1"/>
              <a:t>false</a:t>
            </a:r>
            <a:r>
              <a:rPr lang="en-US" altLang="zh-CN" sz="2400"/>
              <a:t>	{ E.falselist = makelist(nextquad);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			   emit(‘goto _’);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/>
              <a:t>M→</a:t>
            </a:r>
            <a:r>
              <a:rPr lang="en-US" altLang="zh-CN" sz="2400">
                <a:latin typeface="Symbol" panose="05050102010706020507" pitchFamily="18" charset="2"/>
              </a:rPr>
              <a:t>e</a:t>
            </a:r>
            <a:r>
              <a:rPr lang="en-US" altLang="zh-CN" sz="2400"/>
              <a:t>		{ M.quad = nextquad; }</a:t>
            </a:r>
          </a:p>
        </p:txBody>
      </p:sp>
      <p:sp>
        <p:nvSpPr>
          <p:cNvPr id="56324" name="Freeform 4">
            <a:extLst>
              <a:ext uri="{FF2B5EF4-FFF2-40B4-BE49-F238E27FC236}">
                <a16:creationId xmlns:a16="http://schemas.microsoft.com/office/drawing/2014/main" id="{55EB7178-9FDD-4A6B-A39D-EBAA9FE2CC51}"/>
              </a:ext>
            </a:extLst>
          </p:cNvPr>
          <p:cNvSpPr>
            <a:spLocks/>
          </p:cNvSpPr>
          <p:nvPr/>
        </p:nvSpPr>
        <p:spPr bwMode="ltGray">
          <a:xfrm>
            <a:off x="3289300" y="1676400"/>
            <a:ext cx="901700" cy="762000"/>
          </a:xfrm>
          <a:custGeom>
            <a:avLst/>
            <a:gdLst>
              <a:gd name="T0" fmla="*/ 2147483646 w 568"/>
              <a:gd name="T1" fmla="*/ 0 h 480"/>
              <a:gd name="T2" fmla="*/ 2147483646 w 568"/>
              <a:gd name="T3" fmla="*/ 2147483646 h 480"/>
              <a:gd name="T4" fmla="*/ 2147483646 w 568"/>
              <a:gd name="T5" fmla="*/ 2147483646 h 480"/>
              <a:gd name="T6" fmla="*/ 0 60000 65536"/>
              <a:gd name="T7" fmla="*/ 0 60000 65536"/>
              <a:gd name="T8" fmla="*/ 0 60000 65536"/>
              <a:gd name="T9" fmla="*/ 0 w 568"/>
              <a:gd name="T10" fmla="*/ 0 h 480"/>
              <a:gd name="T11" fmla="*/ 568 w 568"/>
              <a:gd name="T12" fmla="*/ 480 h 4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68" h="480">
                <a:moveTo>
                  <a:pt x="568" y="0"/>
                </a:moveTo>
                <a:cubicBezTo>
                  <a:pt x="372" y="32"/>
                  <a:pt x="176" y="64"/>
                  <a:pt x="88" y="144"/>
                </a:cubicBezTo>
                <a:cubicBezTo>
                  <a:pt x="0" y="224"/>
                  <a:pt x="20" y="352"/>
                  <a:pt x="40" y="480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25" name="Freeform 5">
            <a:extLst>
              <a:ext uri="{FF2B5EF4-FFF2-40B4-BE49-F238E27FC236}">
                <a16:creationId xmlns:a16="http://schemas.microsoft.com/office/drawing/2014/main" id="{0EC4E5E9-23FC-472E-A039-74ADA201D719}"/>
              </a:ext>
            </a:extLst>
          </p:cNvPr>
          <p:cNvSpPr>
            <a:spLocks/>
          </p:cNvSpPr>
          <p:nvPr/>
        </p:nvSpPr>
        <p:spPr bwMode="ltGray">
          <a:xfrm>
            <a:off x="2657475" y="2133600"/>
            <a:ext cx="1685925" cy="860425"/>
          </a:xfrm>
          <a:custGeom>
            <a:avLst/>
            <a:gdLst>
              <a:gd name="T0" fmla="*/ 2147483646 w 1062"/>
              <a:gd name="T1" fmla="*/ 0 h 542"/>
              <a:gd name="T2" fmla="*/ 2147483646 w 1062"/>
              <a:gd name="T3" fmla="*/ 2147483646 h 542"/>
              <a:gd name="T4" fmla="*/ 2147483646 w 1062"/>
              <a:gd name="T5" fmla="*/ 2147483646 h 542"/>
              <a:gd name="T6" fmla="*/ 2147483646 w 1062"/>
              <a:gd name="T7" fmla="*/ 2147483646 h 542"/>
              <a:gd name="T8" fmla="*/ 0 60000 65536"/>
              <a:gd name="T9" fmla="*/ 0 60000 65536"/>
              <a:gd name="T10" fmla="*/ 0 60000 65536"/>
              <a:gd name="T11" fmla="*/ 0 60000 65536"/>
              <a:gd name="T12" fmla="*/ 0 w 1062"/>
              <a:gd name="T13" fmla="*/ 0 h 542"/>
              <a:gd name="T14" fmla="*/ 1062 w 1062"/>
              <a:gd name="T15" fmla="*/ 542 h 54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62" h="542">
                <a:moveTo>
                  <a:pt x="1062" y="0"/>
                </a:moveTo>
                <a:cubicBezTo>
                  <a:pt x="912" y="26"/>
                  <a:pt x="320" y="74"/>
                  <a:pt x="160" y="154"/>
                </a:cubicBezTo>
                <a:cubicBezTo>
                  <a:pt x="0" y="234"/>
                  <a:pt x="8" y="418"/>
                  <a:pt x="102" y="480"/>
                </a:cubicBezTo>
                <a:cubicBezTo>
                  <a:pt x="196" y="542"/>
                  <a:pt x="462" y="540"/>
                  <a:pt x="726" y="528"/>
                </a:cubicBez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6326" name="Text Box 6">
            <a:extLst>
              <a:ext uri="{FF2B5EF4-FFF2-40B4-BE49-F238E27FC236}">
                <a16:creationId xmlns:a16="http://schemas.microsoft.com/office/drawing/2014/main" id="{7060FB11-58AA-4843-B9F6-D81B04285718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6400800" y="609600"/>
            <a:ext cx="205963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000" dirty="0">
                <a:solidFill>
                  <a:srgbClr val="FF3300"/>
                </a:solidFill>
              </a:rPr>
              <a:t>下一语句编号</a:t>
            </a:r>
            <a:br>
              <a:rPr lang="en-US" altLang="zh-CN" sz="2000" dirty="0">
                <a:solidFill>
                  <a:srgbClr val="FF3300"/>
                </a:solidFill>
              </a:rPr>
            </a:br>
            <a:r>
              <a:rPr lang="zh-CN" altLang="en-US" sz="2000" dirty="0">
                <a:solidFill>
                  <a:srgbClr val="FF3300"/>
                </a:solidFill>
              </a:rPr>
              <a:t>为“留空”位置</a:t>
            </a:r>
          </a:p>
        </p:txBody>
      </p:sp>
      <p:sp>
        <p:nvSpPr>
          <p:cNvPr id="56327" name="Freeform 7">
            <a:extLst>
              <a:ext uri="{FF2B5EF4-FFF2-40B4-BE49-F238E27FC236}">
                <a16:creationId xmlns:a16="http://schemas.microsoft.com/office/drawing/2014/main" id="{35AAAC97-26F5-453B-8CF4-A814E23CEC31}"/>
              </a:ext>
            </a:extLst>
          </p:cNvPr>
          <p:cNvSpPr>
            <a:spLocks/>
          </p:cNvSpPr>
          <p:nvPr/>
        </p:nvSpPr>
        <p:spPr bwMode="ltGray">
          <a:xfrm>
            <a:off x="6808788" y="1219200"/>
            <a:ext cx="571524" cy="369888"/>
          </a:xfrm>
          <a:custGeom>
            <a:avLst/>
            <a:gdLst>
              <a:gd name="T0" fmla="*/ 2147483646 w 380"/>
              <a:gd name="T1" fmla="*/ 0 h 425"/>
              <a:gd name="T2" fmla="*/ 0 w 380"/>
              <a:gd name="T3" fmla="*/ 2147483646 h 425"/>
              <a:gd name="T4" fmla="*/ 0 60000 65536"/>
              <a:gd name="T5" fmla="*/ 0 60000 65536"/>
              <a:gd name="T6" fmla="*/ 0 w 380"/>
              <a:gd name="T7" fmla="*/ 0 h 425"/>
              <a:gd name="T8" fmla="*/ 380 w 380"/>
              <a:gd name="T9" fmla="*/ 425 h 4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80" h="425">
                <a:moveTo>
                  <a:pt x="380" y="0"/>
                </a:moveTo>
                <a:lnTo>
                  <a:pt x="0" y="425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201EE1DD-48E3-463E-B3F0-739C49FA82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8.6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C6C0AD3B-C20F-4B44-BF6C-1797CBFC28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/>
              <a:t>a &lt; b or c &lt; d and e &lt; f</a:t>
            </a:r>
          </a:p>
        </p:txBody>
      </p:sp>
      <p:pic>
        <p:nvPicPr>
          <p:cNvPr id="57348" name="Picture 7" descr="backpatch1">
            <a:extLst>
              <a:ext uri="{FF2B5EF4-FFF2-40B4-BE49-F238E27FC236}">
                <a16:creationId xmlns:a16="http://schemas.microsoft.com/office/drawing/2014/main" id="{79E01AD5-6411-4354-A468-2FA516112F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133600"/>
            <a:ext cx="8018463" cy="3281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D88D2A6B-674F-4638-9650-817B14F6DE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8.6</a:t>
            </a:r>
            <a:r>
              <a:rPr lang="zh-CN" altLang="en-US"/>
              <a:t>（续）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2A3086D0-E144-4BD0-8944-137C1F3462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/>
            <a:r>
              <a:rPr lang="en-US" altLang="zh-CN" sz="2400"/>
              <a:t>a &lt; b</a:t>
            </a:r>
            <a:r>
              <a:rPr lang="zh-CN" altLang="en-US" sz="2400"/>
              <a:t>归约为</a:t>
            </a:r>
            <a:r>
              <a:rPr lang="en-US" altLang="zh-CN" sz="2400"/>
              <a:t>E</a:t>
            </a:r>
            <a:r>
              <a:rPr lang="zh-CN" altLang="en-US" sz="2400"/>
              <a:t>，产生两个四元式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100:	if a &lt; b goto _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101:	goto _</a:t>
            </a:r>
          </a:p>
          <a:p>
            <a:pPr eaLnBrk="1" hangingPunct="1"/>
            <a:r>
              <a:rPr lang="en-US" altLang="zh-CN" sz="2400"/>
              <a:t>E→E</a:t>
            </a:r>
            <a:r>
              <a:rPr lang="en-US" altLang="zh-CN" sz="2400" baseline="-25000"/>
              <a:t>1</a:t>
            </a:r>
            <a:r>
              <a:rPr lang="en-US" altLang="zh-CN" sz="2400"/>
              <a:t> </a:t>
            </a:r>
            <a:r>
              <a:rPr lang="en-US" altLang="zh-CN" sz="2400" b="1"/>
              <a:t>or</a:t>
            </a:r>
            <a:r>
              <a:rPr lang="en-US" altLang="zh-CN" sz="2400"/>
              <a:t> M E</a:t>
            </a:r>
            <a:r>
              <a:rPr lang="en-US" altLang="zh-CN" sz="2400" baseline="-25000"/>
              <a:t>2</a:t>
            </a:r>
            <a:r>
              <a:rPr lang="zh-CN" altLang="en-US" sz="2400"/>
              <a:t>中的</a:t>
            </a:r>
            <a:r>
              <a:rPr lang="en-US" altLang="zh-CN" sz="2400"/>
              <a:t>M</a:t>
            </a:r>
            <a:r>
              <a:rPr lang="zh-CN" altLang="en-US" sz="2400"/>
              <a:t>，属性值为</a:t>
            </a:r>
            <a:r>
              <a:rPr lang="en-US" altLang="zh-CN" sz="2400"/>
              <a:t>102</a:t>
            </a:r>
          </a:p>
          <a:p>
            <a:pPr eaLnBrk="1" hangingPunct="1"/>
            <a:r>
              <a:rPr lang="en-US" altLang="zh-CN" sz="2400"/>
              <a:t>c &lt; d</a:t>
            </a:r>
            <a:r>
              <a:rPr lang="zh-CN" altLang="en-US" sz="2400"/>
              <a:t>归约为</a:t>
            </a:r>
            <a:r>
              <a:rPr lang="en-US" altLang="zh-CN" sz="2400"/>
              <a:t>E</a:t>
            </a:r>
            <a:r>
              <a:rPr lang="zh-CN" altLang="en-US" sz="2400"/>
              <a:t>，产生两个四元式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102:	if c &lt; d goto _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103:	goto _</a:t>
            </a:r>
          </a:p>
          <a:p>
            <a:pPr eaLnBrk="1" hangingPunct="1"/>
            <a:r>
              <a:rPr lang="en-US" altLang="zh-CN" sz="2400"/>
              <a:t>E→E</a:t>
            </a:r>
            <a:r>
              <a:rPr lang="en-US" altLang="zh-CN" sz="2400" baseline="-25000"/>
              <a:t>1</a:t>
            </a:r>
            <a:r>
              <a:rPr lang="en-US" altLang="zh-CN" sz="2400"/>
              <a:t> </a:t>
            </a:r>
            <a:r>
              <a:rPr lang="en-US" altLang="zh-CN" sz="2400" b="1"/>
              <a:t>and</a:t>
            </a:r>
            <a:r>
              <a:rPr lang="en-US" altLang="zh-CN" sz="2400"/>
              <a:t> M E</a:t>
            </a:r>
            <a:r>
              <a:rPr lang="en-US" altLang="zh-CN" sz="2400" baseline="-25000"/>
              <a:t>2</a:t>
            </a:r>
            <a:r>
              <a:rPr lang="zh-CN" altLang="en-US" sz="2400"/>
              <a:t>中的</a:t>
            </a:r>
            <a:r>
              <a:rPr lang="en-US" altLang="zh-CN" sz="2400"/>
              <a:t>M</a:t>
            </a:r>
            <a:r>
              <a:rPr lang="zh-CN" altLang="en-US" sz="2400"/>
              <a:t>，属性值为</a:t>
            </a:r>
            <a:r>
              <a:rPr lang="en-US" altLang="zh-CN" sz="2400"/>
              <a:t>104</a:t>
            </a:r>
          </a:p>
          <a:p>
            <a:pPr eaLnBrk="1" hangingPunct="1"/>
            <a:r>
              <a:rPr lang="en-US" altLang="zh-CN" sz="2400"/>
              <a:t>e &lt; f</a:t>
            </a:r>
            <a:r>
              <a:rPr lang="zh-CN" altLang="en-US" sz="2400"/>
              <a:t>归约为</a:t>
            </a:r>
            <a:r>
              <a:rPr lang="en-US" altLang="zh-CN" sz="2400"/>
              <a:t>E</a:t>
            </a:r>
            <a:r>
              <a:rPr lang="zh-CN" altLang="en-US" sz="2400"/>
              <a:t>，产生两个四元式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104:	if e &lt; f goto _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105:	goto _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27798F8B-81B1-4B35-99B1-FBBAC60502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例</a:t>
            </a:r>
            <a:r>
              <a:rPr lang="en-US" altLang="zh-CN"/>
              <a:t>8.6</a:t>
            </a:r>
            <a:r>
              <a:rPr lang="zh-CN" altLang="en-US"/>
              <a:t>（续）</a:t>
            </a: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D041BD6A-7F48-4109-8B9F-27C370E576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>
              <a:spcBef>
                <a:spcPct val="10000"/>
              </a:spcBef>
            </a:pPr>
            <a:r>
              <a:rPr lang="zh-CN" altLang="en-US" sz="2400"/>
              <a:t>利用</a:t>
            </a:r>
            <a:r>
              <a:rPr lang="en-US" altLang="zh-CN" sz="2400"/>
              <a:t>E→E</a:t>
            </a:r>
            <a:r>
              <a:rPr lang="en-US" altLang="zh-CN" sz="2400" baseline="-25000"/>
              <a:t>1</a:t>
            </a:r>
            <a:r>
              <a:rPr lang="en-US" altLang="zh-CN" sz="2400"/>
              <a:t> </a:t>
            </a:r>
            <a:r>
              <a:rPr lang="en-US" altLang="zh-CN" sz="2400" b="1"/>
              <a:t>and</a:t>
            </a:r>
            <a:r>
              <a:rPr lang="en-US" altLang="zh-CN" sz="2400"/>
              <a:t> M E</a:t>
            </a:r>
            <a:r>
              <a:rPr lang="en-US" altLang="zh-CN" sz="2400" baseline="-25000"/>
              <a:t>2</a:t>
            </a:r>
            <a:r>
              <a:rPr lang="zh-CN" altLang="en-US" sz="2400"/>
              <a:t>归约，</a:t>
            </a:r>
            <a:r>
              <a:rPr lang="en-US" altLang="zh-CN" sz="2400"/>
              <a:t>backpatch({102},104)</a:t>
            </a:r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100:	if a &lt; b goto _</a:t>
            </a:r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101:	goto _</a:t>
            </a:r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102:	if c &lt; d goto 104</a:t>
            </a:r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103</a:t>
            </a:r>
            <a:r>
              <a:rPr lang="zh-CN" altLang="en-US" sz="2000"/>
              <a:t>：	</a:t>
            </a:r>
            <a:r>
              <a:rPr lang="en-US" altLang="zh-CN" sz="2000"/>
              <a:t>goto _</a:t>
            </a:r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104:	if e &lt; f goto _</a:t>
            </a:r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105:	goto _</a:t>
            </a:r>
          </a:p>
          <a:p>
            <a:pPr eaLnBrk="1" hangingPunct="1">
              <a:spcBef>
                <a:spcPct val="10000"/>
              </a:spcBef>
            </a:pPr>
            <a:r>
              <a:rPr lang="zh-CN" altLang="en-US" sz="2400"/>
              <a:t>规约</a:t>
            </a:r>
            <a:r>
              <a:rPr lang="en-US" altLang="zh-CN" sz="2400"/>
              <a:t>E→E</a:t>
            </a:r>
            <a:r>
              <a:rPr lang="en-US" altLang="zh-CN" sz="2400" baseline="-25000"/>
              <a:t>1</a:t>
            </a:r>
            <a:r>
              <a:rPr lang="en-US" altLang="zh-CN" sz="2400"/>
              <a:t> </a:t>
            </a:r>
            <a:r>
              <a:rPr lang="en-US" altLang="zh-CN" sz="2400" b="1"/>
              <a:t>or</a:t>
            </a:r>
            <a:r>
              <a:rPr lang="en-US" altLang="zh-CN" sz="2400"/>
              <a:t> M E</a:t>
            </a:r>
            <a:r>
              <a:rPr lang="en-US" altLang="zh-CN" sz="2400" baseline="-25000"/>
              <a:t>2</a:t>
            </a:r>
            <a:r>
              <a:rPr lang="zh-CN" altLang="en-US" sz="2400"/>
              <a:t>，</a:t>
            </a:r>
            <a:r>
              <a:rPr lang="en-US" altLang="zh-CN" sz="2400"/>
              <a:t>backpatch({101},102)</a:t>
            </a:r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100:	if a &lt; b goto _</a:t>
            </a:r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101:	goto 102</a:t>
            </a:r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102:	if c &lt; d goto 104</a:t>
            </a:r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103:	goto _</a:t>
            </a:r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104:	if e &lt; f goto _</a:t>
            </a:r>
          </a:p>
          <a:p>
            <a:pPr lvl="1"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000"/>
              <a:t>105:	goto _</a:t>
            </a:r>
          </a:p>
        </p:txBody>
      </p:sp>
      <p:sp>
        <p:nvSpPr>
          <p:cNvPr id="59396" name="Text Box 4">
            <a:extLst>
              <a:ext uri="{FF2B5EF4-FFF2-40B4-BE49-F238E27FC236}">
                <a16:creationId xmlns:a16="http://schemas.microsoft.com/office/drawing/2014/main" id="{AD36535D-9A07-4B4C-9741-3F18F3979B39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5334000" y="4267200"/>
            <a:ext cx="1905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3300"/>
                </a:solidFill>
              </a:rPr>
              <a:t>E.truelist</a:t>
            </a:r>
          </a:p>
        </p:txBody>
      </p:sp>
      <p:sp>
        <p:nvSpPr>
          <p:cNvPr id="59397" name="Freeform 5">
            <a:extLst>
              <a:ext uri="{FF2B5EF4-FFF2-40B4-BE49-F238E27FC236}">
                <a16:creationId xmlns:a16="http://schemas.microsoft.com/office/drawing/2014/main" id="{EEF5560F-5676-41BF-A10D-D472781F14D6}"/>
              </a:ext>
            </a:extLst>
          </p:cNvPr>
          <p:cNvSpPr>
            <a:spLocks/>
          </p:cNvSpPr>
          <p:nvPr/>
        </p:nvSpPr>
        <p:spPr bwMode="ltGray">
          <a:xfrm>
            <a:off x="3671888" y="4495800"/>
            <a:ext cx="2189162" cy="6350"/>
          </a:xfrm>
          <a:custGeom>
            <a:avLst/>
            <a:gdLst>
              <a:gd name="T0" fmla="*/ 2147483646 w 1379"/>
              <a:gd name="T1" fmla="*/ 0 h 4"/>
              <a:gd name="T2" fmla="*/ 0 w 1379"/>
              <a:gd name="T3" fmla="*/ 2147483646 h 4"/>
              <a:gd name="T4" fmla="*/ 0 60000 65536"/>
              <a:gd name="T5" fmla="*/ 0 60000 65536"/>
              <a:gd name="T6" fmla="*/ 0 w 1379"/>
              <a:gd name="T7" fmla="*/ 0 h 4"/>
              <a:gd name="T8" fmla="*/ 1379 w 1379"/>
              <a:gd name="T9" fmla="*/ 4 h 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379" h="4">
                <a:moveTo>
                  <a:pt x="1379" y="0"/>
                </a:moveTo>
                <a:lnTo>
                  <a:pt x="0" y="4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398" name="Freeform 6">
            <a:extLst>
              <a:ext uri="{FF2B5EF4-FFF2-40B4-BE49-F238E27FC236}">
                <a16:creationId xmlns:a16="http://schemas.microsoft.com/office/drawing/2014/main" id="{CA134AB5-D6C9-4F52-A898-816391E9C44F}"/>
              </a:ext>
            </a:extLst>
          </p:cNvPr>
          <p:cNvSpPr>
            <a:spLocks/>
          </p:cNvSpPr>
          <p:nvPr/>
        </p:nvSpPr>
        <p:spPr bwMode="ltGray">
          <a:xfrm>
            <a:off x="3629025" y="4572000"/>
            <a:ext cx="2162175" cy="1266825"/>
          </a:xfrm>
          <a:custGeom>
            <a:avLst/>
            <a:gdLst>
              <a:gd name="T0" fmla="*/ 2147483646 w 1362"/>
              <a:gd name="T1" fmla="*/ 0 h 798"/>
              <a:gd name="T2" fmla="*/ 0 w 1362"/>
              <a:gd name="T3" fmla="*/ 2147483646 h 798"/>
              <a:gd name="T4" fmla="*/ 0 60000 65536"/>
              <a:gd name="T5" fmla="*/ 0 60000 65536"/>
              <a:gd name="T6" fmla="*/ 0 w 1362"/>
              <a:gd name="T7" fmla="*/ 0 h 798"/>
              <a:gd name="T8" fmla="*/ 1362 w 1362"/>
              <a:gd name="T9" fmla="*/ 798 h 79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362" h="798">
                <a:moveTo>
                  <a:pt x="1362" y="0"/>
                </a:moveTo>
                <a:lnTo>
                  <a:pt x="0" y="798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399" name="Text Box 7">
            <a:extLst>
              <a:ext uri="{FF2B5EF4-FFF2-40B4-BE49-F238E27FC236}">
                <a16:creationId xmlns:a16="http://schemas.microsoft.com/office/drawing/2014/main" id="{9F385FA5-DC1F-4A71-9C13-ECA2B7505E30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5410200" y="4876800"/>
            <a:ext cx="1905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3300"/>
                </a:solidFill>
              </a:rPr>
              <a:t>E.falselist</a:t>
            </a:r>
          </a:p>
        </p:txBody>
      </p:sp>
      <p:sp>
        <p:nvSpPr>
          <p:cNvPr id="59400" name="Freeform 8">
            <a:extLst>
              <a:ext uri="{FF2B5EF4-FFF2-40B4-BE49-F238E27FC236}">
                <a16:creationId xmlns:a16="http://schemas.microsoft.com/office/drawing/2014/main" id="{8F4514F6-F88B-44D3-A196-3D87009518B4}"/>
              </a:ext>
            </a:extLst>
          </p:cNvPr>
          <p:cNvSpPr>
            <a:spLocks/>
          </p:cNvSpPr>
          <p:nvPr/>
        </p:nvSpPr>
        <p:spPr bwMode="ltGray">
          <a:xfrm>
            <a:off x="2855913" y="5105400"/>
            <a:ext cx="3081337" cy="395288"/>
          </a:xfrm>
          <a:custGeom>
            <a:avLst/>
            <a:gdLst>
              <a:gd name="T0" fmla="*/ 2147483646 w 1941"/>
              <a:gd name="T1" fmla="*/ 0 h 249"/>
              <a:gd name="T2" fmla="*/ 0 w 1941"/>
              <a:gd name="T3" fmla="*/ 2147483646 h 249"/>
              <a:gd name="T4" fmla="*/ 0 60000 65536"/>
              <a:gd name="T5" fmla="*/ 0 60000 65536"/>
              <a:gd name="T6" fmla="*/ 0 w 1941"/>
              <a:gd name="T7" fmla="*/ 0 h 249"/>
              <a:gd name="T8" fmla="*/ 1941 w 1941"/>
              <a:gd name="T9" fmla="*/ 249 h 24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941" h="249">
                <a:moveTo>
                  <a:pt x="1941" y="0"/>
                </a:moveTo>
                <a:lnTo>
                  <a:pt x="0" y="249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9401" name="Freeform 9">
            <a:extLst>
              <a:ext uri="{FF2B5EF4-FFF2-40B4-BE49-F238E27FC236}">
                <a16:creationId xmlns:a16="http://schemas.microsoft.com/office/drawing/2014/main" id="{3CF04644-D064-45A0-BAAD-5B3D6FC07064}"/>
              </a:ext>
            </a:extLst>
          </p:cNvPr>
          <p:cNvSpPr>
            <a:spLocks/>
          </p:cNvSpPr>
          <p:nvPr/>
        </p:nvSpPr>
        <p:spPr bwMode="ltGray">
          <a:xfrm>
            <a:off x="2897188" y="5181600"/>
            <a:ext cx="2970212" cy="993775"/>
          </a:xfrm>
          <a:custGeom>
            <a:avLst/>
            <a:gdLst>
              <a:gd name="T0" fmla="*/ 2147483646 w 1871"/>
              <a:gd name="T1" fmla="*/ 0 h 626"/>
              <a:gd name="T2" fmla="*/ 0 w 1871"/>
              <a:gd name="T3" fmla="*/ 2147483646 h 626"/>
              <a:gd name="T4" fmla="*/ 0 60000 65536"/>
              <a:gd name="T5" fmla="*/ 0 60000 65536"/>
              <a:gd name="T6" fmla="*/ 0 w 1871"/>
              <a:gd name="T7" fmla="*/ 0 h 626"/>
              <a:gd name="T8" fmla="*/ 1871 w 1871"/>
              <a:gd name="T9" fmla="*/ 626 h 62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871" h="626">
                <a:moveTo>
                  <a:pt x="1871" y="0"/>
                </a:moveTo>
                <a:lnTo>
                  <a:pt x="0" y="626"/>
                </a:lnTo>
              </a:path>
            </a:pathLst>
          </a:custGeom>
          <a:noFill/>
          <a:ln w="2540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364D56FC-69AC-491F-805F-D8CE16A688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8.6.2  </a:t>
            </a:r>
            <a:r>
              <a:rPr lang="zh-CN" altLang="en-US"/>
              <a:t>控制流语句的翻译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919559E0-B583-4FD9-9B9C-3B4113F309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S→</a:t>
            </a:r>
            <a:r>
              <a:rPr lang="en-US" altLang="zh-CN" sz="2000" b="1"/>
              <a:t>if</a:t>
            </a:r>
            <a:r>
              <a:rPr lang="en-US" altLang="zh-CN" sz="2000"/>
              <a:t> E </a:t>
            </a:r>
            <a:r>
              <a:rPr lang="en-US" altLang="zh-CN" sz="2000" b="1"/>
              <a:t>then</a:t>
            </a:r>
            <a:r>
              <a:rPr lang="en-US" altLang="zh-CN" sz="2000"/>
              <a:t> M</a:t>
            </a:r>
            <a:r>
              <a:rPr lang="en-US" altLang="zh-CN" sz="2000" baseline="-25000"/>
              <a:t>1</a:t>
            </a:r>
            <a:r>
              <a:rPr lang="en-US" altLang="zh-CN" sz="2000"/>
              <a:t> S</a:t>
            </a:r>
            <a:r>
              <a:rPr lang="en-US" altLang="zh-CN" sz="2000" baseline="-25000"/>
              <a:t>1</a:t>
            </a:r>
            <a:r>
              <a:rPr lang="en-US" altLang="zh-CN" sz="2000"/>
              <a:t> N </a:t>
            </a:r>
            <a:r>
              <a:rPr lang="en-US" altLang="zh-CN" sz="2000" b="1"/>
              <a:t>else</a:t>
            </a:r>
            <a:r>
              <a:rPr lang="en-US" altLang="zh-CN" sz="2000"/>
              <a:t> M</a:t>
            </a:r>
            <a:r>
              <a:rPr lang="en-US" altLang="zh-CN" sz="2000" baseline="-25000"/>
              <a:t>2</a:t>
            </a:r>
            <a:r>
              <a:rPr lang="en-US" altLang="zh-CN" sz="2000"/>
              <a:t> S</a:t>
            </a:r>
            <a:r>
              <a:rPr lang="en-US" altLang="zh-CN" sz="2000" baseline="-25000"/>
              <a:t>2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{ backpatch(E.truelist, M</a:t>
            </a:r>
            <a:r>
              <a:rPr lang="en-US" altLang="zh-CN" sz="2000" baseline="-25000"/>
              <a:t>1</a:t>
            </a:r>
            <a:r>
              <a:rPr lang="en-US" altLang="zh-CN" sz="2000"/>
              <a:t>.quad);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   backpatch(E.falselist, M</a:t>
            </a:r>
            <a:r>
              <a:rPr lang="en-US" altLang="zh-CN" sz="2000" baseline="-25000"/>
              <a:t>2</a:t>
            </a:r>
            <a:r>
              <a:rPr lang="en-US" altLang="zh-CN" sz="2000"/>
              <a:t>.quad);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   S.nextlist = merge(S</a:t>
            </a:r>
            <a:r>
              <a:rPr lang="en-US" altLang="zh-CN" sz="2000" baseline="-25000"/>
              <a:t>1</a:t>
            </a:r>
            <a:r>
              <a:rPr lang="en-US" altLang="zh-CN" sz="2000"/>
              <a:t>.nextlist, merge(N.nextlist, S</a:t>
            </a:r>
            <a:r>
              <a:rPr lang="en-US" altLang="zh-CN" sz="2000" baseline="-25000"/>
              <a:t>2</a:t>
            </a:r>
            <a:r>
              <a:rPr lang="en-US" altLang="zh-CN" sz="2000"/>
              <a:t>.nextlist));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N→</a:t>
            </a:r>
            <a:r>
              <a:rPr lang="en-US" altLang="zh-CN" sz="2000">
                <a:latin typeface="Symbol" panose="05050102010706020507" pitchFamily="18" charset="2"/>
              </a:rPr>
              <a:t>e</a:t>
            </a:r>
            <a:r>
              <a:rPr lang="en-US" altLang="zh-CN" sz="2000"/>
              <a:t>	{ N.nextlist = makelist(nextquad); emit(‘goto _’);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M→</a:t>
            </a:r>
            <a:r>
              <a:rPr lang="en-US" altLang="zh-CN" sz="2000">
                <a:latin typeface="Symbol" panose="05050102010706020507" pitchFamily="18" charset="2"/>
              </a:rPr>
              <a:t>e</a:t>
            </a:r>
            <a:r>
              <a:rPr lang="en-US" altLang="zh-CN" sz="2000"/>
              <a:t>	{ M.quad = nextquad;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S→</a:t>
            </a:r>
            <a:r>
              <a:rPr lang="en-US" altLang="zh-CN" sz="2000" b="1"/>
              <a:t>while</a:t>
            </a:r>
            <a:r>
              <a:rPr lang="en-US" altLang="zh-CN" sz="2000"/>
              <a:t> M</a:t>
            </a:r>
            <a:r>
              <a:rPr lang="en-US" altLang="zh-CN" sz="2000" baseline="-25000"/>
              <a:t>1</a:t>
            </a:r>
            <a:r>
              <a:rPr lang="en-US" altLang="zh-CN" sz="2000"/>
              <a:t> E </a:t>
            </a:r>
            <a:r>
              <a:rPr lang="en-US" altLang="zh-CN" sz="2000" b="1"/>
              <a:t>do</a:t>
            </a:r>
            <a:r>
              <a:rPr lang="en-US" altLang="zh-CN" sz="2000"/>
              <a:t> M</a:t>
            </a:r>
            <a:r>
              <a:rPr lang="en-US" altLang="zh-CN" sz="2000" baseline="-25000"/>
              <a:t>2</a:t>
            </a:r>
            <a:r>
              <a:rPr lang="en-US" altLang="zh-CN" sz="2000"/>
              <a:t> S</a:t>
            </a:r>
            <a:r>
              <a:rPr lang="en-US" altLang="zh-CN" sz="2000" baseline="-25000"/>
              <a:t>1</a:t>
            </a:r>
            <a:endParaRPr lang="en-US" altLang="zh-CN" sz="200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{ backpatch(S</a:t>
            </a:r>
            <a:r>
              <a:rPr lang="en-US" altLang="zh-CN" sz="2000" baseline="-25000"/>
              <a:t>1</a:t>
            </a:r>
            <a:r>
              <a:rPr lang="en-US" altLang="zh-CN" sz="2000"/>
              <a:t>.nextlist, M</a:t>
            </a:r>
            <a:r>
              <a:rPr lang="en-US" altLang="zh-CN" sz="2000" baseline="-25000"/>
              <a:t>1</a:t>
            </a:r>
            <a:r>
              <a:rPr lang="en-US" altLang="zh-CN" sz="2000"/>
              <a:t>.quad);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   backpatch(E.truelist, M</a:t>
            </a:r>
            <a:r>
              <a:rPr lang="en-US" altLang="zh-CN" sz="2000" baseline="-25000"/>
              <a:t>2</a:t>
            </a:r>
            <a:r>
              <a:rPr lang="en-US" altLang="zh-CN" sz="2000"/>
              <a:t>.quad);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   S.nextlist = E.falselist;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   emit(‘goto’ M</a:t>
            </a:r>
            <a:r>
              <a:rPr lang="en-US" altLang="zh-CN" sz="2000" baseline="-25000"/>
              <a:t>1</a:t>
            </a:r>
            <a:r>
              <a:rPr lang="en-US" altLang="zh-CN" sz="2000"/>
              <a:t>.quad);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S→</a:t>
            </a:r>
            <a:r>
              <a:rPr lang="en-US" altLang="zh-CN" sz="2000" b="1"/>
              <a:t>begin</a:t>
            </a:r>
            <a:r>
              <a:rPr lang="en-US" altLang="zh-CN" sz="2000"/>
              <a:t> L </a:t>
            </a:r>
            <a:r>
              <a:rPr lang="en-US" altLang="zh-CN" sz="2000" b="1"/>
              <a:t>end</a:t>
            </a:r>
            <a:r>
              <a:rPr lang="en-US" altLang="zh-CN" sz="2000"/>
              <a:t>	{ S.nextlist = L.nextlist; }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325A1A37-DA5B-44C0-82A2-4432AE16DB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控制流语句的翻译（续）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E4676F0B-4AC6-4EF9-933F-81DBAFDF43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S→A	{ S.nextlist = </a:t>
            </a:r>
            <a:r>
              <a:rPr lang="en-US" altLang="zh-CN" sz="2000" b="1"/>
              <a:t>null</a:t>
            </a:r>
            <a:r>
              <a:rPr lang="en-US" altLang="zh-CN" sz="2000"/>
              <a:t>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L→L</a:t>
            </a:r>
            <a:r>
              <a:rPr lang="en-US" altLang="zh-CN" sz="2000" baseline="-25000"/>
              <a:t>1</a:t>
            </a:r>
            <a:r>
              <a:rPr lang="en-US" altLang="zh-CN" sz="2000"/>
              <a:t> ; M S	{ backpatch(L</a:t>
            </a:r>
            <a:r>
              <a:rPr lang="en-US" altLang="zh-CN" sz="2000" baseline="-25000"/>
              <a:t>1</a:t>
            </a:r>
            <a:r>
              <a:rPr lang="en-US" altLang="zh-CN" sz="2000"/>
              <a:t>.nextlist, M.quad);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			   L.nextlist = S.nextlist;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000"/>
              <a:t>L→S	{ L.nextlist = S.nextlist; }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E5ED186E-E96D-491A-8943-F512AC673F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8.7  </a:t>
            </a:r>
            <a:r>
              <a:rPr lang="zh-CN" altLang="en-US"/>
              <a:t>过程调用的翻译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9BF66551-BA9A-4975-B3AE-83C2077C95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34000"/>
          </a:xfrm>
        </p:spPr>
        <p:txBody>
          <a:bodyPr/>
          <a:lstStyle/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S→ </a:t>
            </a:r>
            <a:r>
              <a:rPr lang="en-US" altLang="zh-CN" sz="2400" b="1"/>
              <a:t>call</a:t>
            </a:r>
            <a:r>
              <a:rPr lang="en-US" altLang="zh-CN" sz="2400"/>
              <a:t> </a:t>
            </a:r>
            <a:r>
              <a:rPr lang="en-US" altLang="zh-CN" sz="2400" b="1"/>
              <a:t>id</a:t>
            </a:r>
            <a:r>
              <a:rPr lang="en-US" altLang="zh-CN" sz="2400"/>
              <a:t> ( Elist )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Elist→Elist , E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  <a:buFont typeface="Wingdings" panose="05000000000000000000" pitchFamily="2" charset="2"/>
              <a:buNone/>
            </a:pPr>
            <a:r>
              <a:rPr lang="en-US" altLang="zh-CN" sz="2400"/>
              <a:t>Elist→E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</a:pPr>
            <a:r>
              <a:rPr lang="zh-CN" altLang="en-US" sz="2800"/>
              <a:t>调用序列</a:t>
            </a:r>
          </a:p>
          <a:p>
            <a:pPr lvl="1" eaLnBrk="1" hangingPunct="1">
              <a:lnSpc>
                <a:spcPct val="85000"/>
              </a:lnSpc>
              <a:spcBef>
                <a:spcPct val="10000"/>
              </a:spcBef>
            </a:pPr>
            <a:r>
              <a:rPr lang="zh-CN" altLang="en-US" sz="2400"/>
              <a:t>为被调用过程活动记录分配内存</a:t>
            </a:r>
          </a:p>
          <a:p>
            <a:pPr lvl="1" eaLnBrk="1" hangingPunct="1">
              <a:lnSpc>
                <a:spcPct val="85000"/>
              </a:lnSpc>
              <a:spcBef>
                <a:spcPct val="10000"/>
              </a:spcBef>
            </a:pPr>
            <a:r>
              <a:rPr lang="zh-CN" altLang="en-US" sz="2400"/>
              <a:t>计算参数值，传递给被调用过程</a:t>
            </a:r>
          </a:p>
          <a:p>
            <a:pPr lvl="1" eaLnBrk="1" hangingPunct="1">
              <a:lnSpc>
                <a:spcPct val="85000"/>
              </a:lnSpc>
              <a:spcBef>
                <a:spcPct val="10000"/>
              </a:spcBef>
            </a:pPr>
            <a:r>
              <a:rPr lang="zh-CN" altLang="en-US" sz="2400"/>
              <a:t>保存调用过程状态，保存返回地址</a:t>
            </a:r>
          </a:p>
          <a:p>
            <a:pPr lvl="1" eaLnBrk="1" hangingPunct="1">
              <a:lnSpc>
                <a:spcPct val="85000"/>
              </a:lnSpc>
              <a:spcBef>
                <a:spcPct val="10000"/>
              </a:spcBef>
            </a:pPr>
            <a:r>
              <a:rPr lang="zh-CN" altLang="en-US" sz="2400"/>
              <a:t>生成转移语句</a:t>
            </a:r>
            <a:r>
              <a:rPr lang="zh-CN" altLang="en-US" sz="2400">
                <a:sym typeface="Wingdings" panose="05000000000000000000" pitchFamily="2" charset="2"/>
              </a:rPr>
              <a:t>被调用过程</a:t>
            </a:r>
          </a:p>
          <a:p>
            <a:pPr eaLnBrk="1" hangingPunct="1">
              <a:lnSpc>
                <a:spcPct val="85000"/>
              </a:lnSpc>
              <a:spcBef>
                <a:spcPct val="10000"/>
              </a:spcBef>
            </a:pPr>
            <a:r>
              <a:rPr lang="zh-CN" altLang="en-US" sz="2800"/>
              <a:t>返回序列</a:t>
            </a:r>
          </a:p>
          <a:p>
            <a:pPr lvl="1" eaLnBrk="1" hangingPunct="1">
              <a:lnSpc>
                <a:spcPct val="85000"/>
              </a:lnSpc>
              <a:spcBef>
                <a:spcPct val="10000"/>
              </a:spcBef>
            </a:pPr>
            <a:r>
              <a:rPr lang="zh-CN" altLang="en-US" sz="2400"/>
              <a:t>返回值传递给调用过程</a:t>
            </a:r>
          </a:p>
          <a:p>
            <a:pPr lvl="1" eaLnBrk="1" hangingPunct="1">
              <a:lnSpc>
                <a:spcPct val="85000"/>
              </a:lnSpc>
              <a:spcBef>
                <a:spcPct val="10000"/>
              </a:spcBef>
            </a:pPr>
            <a:r>
              <a:rPr lang="zh-CN" altLang="en-US" sz="2400"/>
              <a:t>恢复调用过程的活动记录</a:t>
            </a:r>
          </a:p>
          <a:p>
            <a:pPr lvl="1" eaLnBrk="1" hangingPunct="1">
              <a:lnSpc>
                <a:spcPct val="85000"/>
              </a:lnSpc>
              <a:spcBef>
                <a:spcPct val="10000"/>
              </a:spcBef>
            </a:pPr>
            <a:r>
              <a:rPr lang="zh-CN" altLang="en-US" sz="2400"/>
              <a:t>跳转回返回地址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08AEEE37-C474-4CE0-8358-40510F2B7B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简单例子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1AECDDD6-06FE-4929-9DDC-EFCB83CF92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参数传地址方式，内存静态分配</a:t>
            </a:r>
          </a:p>
          <a:p>
            <a:pPr lvl="1" eaLnBrk="1" hangingPunct="1"/>
            <a:r>
              <a:rPr lang="en-US" altLang="zh-CN"/>
              <a:t>param</a:t>
            </a:r>
            <a:r>
              <a:rPr lang="zh-CN" altLang="en-US"/>
              <a:t>语句</a:t>
            </a:r>
            <a:r>
              <a:rPr lang="en-US" altLang="zh-CN"/>
              <a:t>——</a:t>
            </a:r>
            <a:r>
              <a:rPr lang="zh-CN" altLang="en-US"/>
              <a:t>参数的占位符</a:t>
            </a:r>
          </a:p>
          <a:p>
            <a:pPr lvl="1" eaLnBrk="1" hangingPunct="1"/>
            <a:r>
              <a:rPr lang="zh-CN" altLang="en-US"/>
              <a:t>第一个</a:t>
            </a:r>
            <a:r>
              <a:rPr lang="en-US" altLang="zh-CN"/>
              <a:t>param</a:t>
            </a:r>
            <a:r>
              <a:rPr lang="zh-CN" altLang="en-US"/>
              <a:t>语句指针传递给被调用过程</a:t>
            </a:r>
          </a:p>
          <a:p>
            <a:pPr lvl="1" eaLnBrk="1" hangingPunct="1"/>
            <a:r>
              <a:rPr lang="zh-CN" altLang="en-US"/>
              <a:t>调用序列</a:t>
            </a:r>
          </a:p>
          <a:p>
            <a:pPr lvl="2" eaLnBrk="1" hangingPunct="1"/>
            <a:r>
              <a:rPr lang="zh-CN" altLang="en-US"/>
              <a:t>计算参数</a:t>
            </a:r>
          </a:p>
          <a:p>
            <a:pPr lvl="2" eaLnBrk="1" hangingPunct="1"/>
            <a:r>
              <a:rPr lang="en-US" altLang="zh-CN"/>
              <a:t>param</a:t>
            </a:r>
            <a:r>
              <a:rPr lang="zh-CN" altLang="en-US"/>
              <a:t>语句列表</a:t>
            </a:r>
            <a:r>
              <a:rPr lang="en-US" altLang="zh-CN"/>
              <a:t>——</a:t>
            </a:r>
            <a:r>
              <a:rPr lang="zh-CN" altLang="en-US"/>
              <a:t>罗列参数</a:t>
            </a:r>
          </a:p>
          <a:p>
            <a:pPr lvl="2" eaLnBrk="1" hangingPunct="1"/>
            <a:r>
              <a:rPr lang="zh-CN" altLang="en-US"/>
              <a:t>所有参数表达式</a:t>
            </a:r>
            <a:r>
              <a:rPr lang="en-US" altLang="zh-CN"/>
              <a:t>place</a:t>
            </a:r>
            <a:r>
              <a:rPr lang="zh-CN" altLang="en-US"/>
              <a:t>属性保存在队列</a:t>
            </a:r>
            <a:r>
              <a:rPr lang="en-US" altLang="zh-CN"/>
              <a:t>queue</a:t>
            </a:r>
            <a:r>
              <a:rPr lang="zh-CN" altLang="en-US"/>
              <a:t>中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E5219A45-686A-40E8-AD5C-42F3AC6E58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简单例子（续）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019862ED-0075-4E3D-A981-80779C6127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翻译模式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S→</a:t>
            </a:r>
            <a:r>
              <a:rPr lang="en-US" altLang="zh-CN" b="1"/>
              <a:t>call</a:t>
            </a:r>
            <a:r>
              <a:rPr lang="en-US" altLang="zh-CN"/>
              <a:t> </a:t>
            </a:r>
            <a:r>
              <a:rPr lang="en-US" altLang="zh-CN" b="1"/>
              <a:t>id</a:t>
            </a:r>
            <a:r>
              <a:rPr lang="en-US" altLang="zh-CN"/>
              <a:t> ( Elist 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			{ for queue</a:t>
            </a:r>
            <a:r>
              <a:rPr lang="zh-CN" altLang="en-US"/>
              <a:t>中每个项</a:t>
            </a:r>
            <a:r>
              <a:rPr lang="en-US" altLang="zh-CN"/>
              <a:t>p do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				emit(‘param’ p);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			   emit(‘call’ id.place); }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Elist→Elist , E { </a:t>
            </a:r>
            <a:r>
              <a:rPr lang="zh-CN" altLang="en-US"/>
              <a:t>将</a:t>
            </a:r>
            <a:r>
              <a:rPr lang="en-US" altLang="zh-CN"/>
              <a:t>E.place</a:t>
            </a:r>
            <a:r>
              <a:rPr lang="zh-CN" altLang="en-US"/>
              <a:t>添加到</a:t>
            </a:r>
            <a:r>
              <a:rPr lang="en-US" altLang="zh-CN"/>
              <a:t>queue</a:t>
            </a:r>
            <a:r>
              <a:rPr lang="zh-CN" altLang="en-US"/>
              <a:t>尾部</a:t>
            </a:r>
            <a:r>
              <a:rPr lang="en-US" altLang="zh-CN"/>
              <a:t>; }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/>
              <a:t>Elist→E	{ </a:t>
            </a:r>
            <a:r>
              <a:rPr lang="zh-CN" altLang="en-US"/>
              <a:t>初始化</a:t>
            </a:r>
            <a:r>
              <a:rPr lang="en-US" altLang="zh-CN"/>
              <a:t>queue</a:t>
            </a:r>
            <a:r>
              <a:rPr lang="zh-CN" altLang="en-US"/>
              <a:t>，仅包含</a:t>
            </a:r>
            <a:r>
              <a:rPr lang="en-US" altLang="zh-CN"/>
              <a:t>E.place; }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64D5AC5D-0E04-4442-B4C5-AFE4A4046C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递归遍历语法树生成代码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B0B7C44C-5FFE-40A1-835C-3D8207806A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void tree::gen_code(ostream &amp;out)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{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gen_header(out);		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生成汇编程序头部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Node *p = root-&gt;children[0];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if (p-&gt;kind == DECL_NODE)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gen_decl(out, p);		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生成变量声明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out &lt;&lt; endl &lt;&lt; endl &lt;&lt; "\t.code" &lt;&lt; endl;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recursive_gen_code(out, root);	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汇编程序生成递归函数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if (root-&gt;label.next_label != "")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out &lt;&lt; root-&gt;label.next_label &lt;&lt; ":" &lt;&lt; endl;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out &lt;&lt; "\tinvoke ExitProcess, 0" &lt;&lt; endl;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out &lt;&lt; "end " &lt;&lt; root-&gt;label.begin_label &lt;&lt; endl;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}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ED94D083-F28E-44E6-9B12-EABFF64E15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打印程序头部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5F60D58E-8A10-4304-8B19-E5362A743E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void tree::gen_header(ostream &amp;out)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{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out &lt;&lt; "\t.586" &lt;&lt; endl;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out &lt;&lt; "\t.model flat, stdcall" &lt;&lt; endl;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out &lt;&lt; "\toption casemap :none" &lt;&lt; endl;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out &lt;&lt; endl;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out &lt;&lt; "\tinclude \\masm32\\include\\windows.inc" &lt;&lt; endl;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out &lt;&lt; "\tinclude \\masm32\\include\\user32.inc" &lt;&lt; endl;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out &lt;&lt; "\tinclude \\masm32\\include\\kernel32.inc" &lt;&lt; endl;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out &lt;&lt; "\tinclude \\masm32\\include\\masm32.inc" &lt;&lt; endl;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out &lt;&lt; endl;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out &lt;&lt; "\tincludelib \\masm32\\lib\\user32.lib" &lt;&lt; endl;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out &lt;&lt; "\tincludelib \\masm32\\lib\\kernel32.lib" &lt;&lt; endl;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out &lt;&lt; "\tincludelib \\masm32\\lib\\masm32.lib" &lt;&lt; endl;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}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9FEAE150-4495-4265-8D0B-F124F39F6A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变量声明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2F128BDA-737F-4D44-BDC4-17947983D4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void tree::gen_decl(ostream &amp;out, Node *t)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{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out &lt;&lt; endl &lt;&lt; endl &lt;&lt; "\t.data" &lt;&lt; endl;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for (; t-&gt;kind == DECL_NODE; t = t-&gt;sibling)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{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for (Node *p = t-&gt;children[1]; p; p = p-&gt;sibling)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  if (p-&gt;type == Integer)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    out &lt;&lt; “\t\t_” &lt;&lt; symtbl.getname(p-&gt;attr.symtbl_seq) &lt;&lt; “ DWORD 0” &lt;&lt; endl;		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“</a:t>
            </a: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_”+C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源程序变量名</a:t>
            </a:r>
            <a:r>
              <a:rPr lang="en-US" altLang="zh-CN" sz="1800">
                <a:latin typeface="Arial Unicode MS" pitchFamily="34" charset="-122"/>
                <a:ea typeface="Arial Unicode MS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  <a:sym typeface="Wingdings" panose="05000000000000000000" pitchFamily="2" charset="2"/>
              </a:rPr>
              <a:t>汇编程序变量名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  else if (p-&gt;type == Char)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    out &lt;&lt; "\t\t_" &lt;&lt; symtbl.getname(p-&gt;attr.symtbl_seq) &lt;&lt; " BYTE 0" &lt;&lt; endl;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}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F9599C47-D27C-4109-8F22-F375263B40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变量声明（续）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66326E3E-2C3F-4E14-BD50-7D3C1DC87C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for (int i = 0; i &lt; temp_var_seq; i++)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声明临时变量（“</a:t>
            </a: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t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”</a:t>
            </a: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+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编号）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{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out &lt;&lt; "\t\tt" &lt;&lt;  i &lt;&lt; " DWORD 0" &lt;&lt; endl;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}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out &lt;&lt; "\t\tbuffer BYTE 128 dup(0)" &lt;&lt; endl;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out &lt;&lt; "\t\tLF BYTE 13, 10, 0" &lt;&lt; endl;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}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16758299-B819-4AB7-AD36-520293BF4B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递归代码生成函数入口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3B8CA212-0CAC-45B8-9C3E-B4D9A11650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void tree::recursive_gen_code(ostream &amp;out, Node *t)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{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if (t-&gt;kind == STMT_NODE)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{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stmt_gen_code(out, t);	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生成语句的汇编码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}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else if (t-&gt;kind == EXPR_NODE &amp;&amp; (t-&gt;kind_kind == OP_EXPR || t-&gt;kind_kind == NOT_EXPR))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{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expr_gen_code(out, t);	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生成表达式的汇编码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}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}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1B5A4826-41A3-4ECC-8C89-85D397A067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表达式代码生成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C7E01920-D073-4AD4-B6A2-A22EEB9AB2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void tree::expr_gen_code(ostream &amp;out, Node *t)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{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Node *e1 = t-&gt;children[0];	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第一个运算对象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Node *e2 = t-&gt;children[1];	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第二个运算对象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switch (t-&gt;attr.op)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{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case PLUS:		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加法表达式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out &lt;&lt; “\tMOV eax, ”;	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取出第一个运算对象到</a:t>
            </a: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eax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if (e1-&gt;kind_kind == ID_EXPR)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变量打印名字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  out &lt;&lt; "_" &lt;&lt; symtbl.getname(e1-&gt;attr.symtbl_seq);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else if (e1-&gt;kind_kind == CONST_EXPR)	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常量打印数值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  out &lt;&lt; e1-&gt;attr.vali;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else out &lt;&lt; “t” &lt;&lt; e1-&gt;temp_var;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运算表达式打印中间结果临时变量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out &lt;&lt; endl;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out &lt;&lt; “\tADD eax, ”;		// eax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与第二个运算对象进行加法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971956A7-3412-45DA-96F6-31C5459C12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表达式代码生成（续）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3E3B8793-3CA8-4EE3-B9DA-F71BB753A3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if (e2-&gt;kind_kind == ID_EXPR)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  out &lt;&lt; "_" &lt;&lt; symtbl.getname(e2-&gt;attr.symtbl_seq);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else if (e2-&gt;kind_kind == CONST_EXPR)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  out &lt;&lt; e2-&gt;attr.vali;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else out &lt;&lt; "t" &lt;&lt; e2-&gt;temp_var;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out &lt;&lt; endl;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out &lt;&lt; “\tMOV t” &lt;&lt; t-&gt;temp_var &lt;&lt; “, eax” &lt;&lt; endl;	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保存结果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break;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156E7BFE-E9E4-4C38-BF7C-F2AA91F53E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表达式代码生成（续）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BB69912D-D7F8-485E-BB30-DCD2BC4FFF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lvl="1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case LT:</a:t>
            </a:r>
          </a:p>
          <a:p>
            <a:pPr marL="0" lvl="1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out &lt;&lt; "\tMOV eax, ";</a:t>
            </a:r>
          </a:p>
          <a:p>
            <a:pPr marL="0" lvl="1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if (e1-&gt;kind_kind == ID_EXPR)</a:t>
            </a:r>
          </a:p>
          <a:p>
            <a:pPr marL="0" lvl="1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  out &lt;&lt; "_" &lt;&lt; symtbl.getname(e1-&gt;attr.symtbl_seq);</a:t>
            </a:r>
          </a:p>
          <a:p>
            <a:pPr marL="0" lvl="1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else if (e1-&gt;kind_kind == CONST_EXPR)</a:t>
            </a:r>
          </a:p>
          <a:p>
            <a:pPr marL="0" lvl="1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  out &lt;&lt; e1-&gt;attr.vali;</a:t>
            </a:r>
          </a:p>
          <a:p>
            <a:pPr marL="0" lvl="1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else out &lt;&lt; "t" &lt;&lt; e1-&gt;temp_var;</a:t>
            </a:r>
          </a:p>
          <a:p>
            <a:pPr marL="0" lvl="1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out &lt;&lt; endl;</a:t>
            </a:r>
          </a:p>
          <a:p>
            <a:pPr marL="0" lvl="1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out &lt;&lt; "\tCMP eax, ";</a:t>
            </a:r>
          </a:p>
          <a:p>
            <a:pPr marL="0" lvl="1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if (e2-&gt;kind_kind == ID_EXPR)</a:t>
            </a:r>
          </a:p>
          <a:p>
            <a:pPr marL="0" lvl="1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  out &lt;&lt; "_" &lt;&lt; symtbl.getname(e2-&gt;attr.symtbl_seq);</a:t>
            </a:r>
          </a:p>
          <a:p>
            <a:pPr marL="0" lvl="1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else if (e2-&gt;kind_kind == CONST_EXPR)</a:t>
            </a:r>
          </a:p>
          <a:p>
            <a:pPr marL="0" lvl="1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  out &lt;&lt; e2-&gt;attr.vali;</a:t>
            </a:r>
          </a:p>
          <a:p>
            <a:pPr marL="0" lvl="1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else out &lt;&lt; "t" &lt;&lt; e2-&gt;temp_var;</a:t>
            </a:r>
          </a:p>
          <a:p>
            <a:pPr marL="0" lvl="1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out &lt;&lt; endl;</a:t>
            </a:r>
          </a:p>
          <a:p>
            <a:pPr marL="0" lvl="1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out &lt;&lt; “\tjl ” &lt;&lt; t-&gt;label.true_label &lt;&lt; endl;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跳转到真值出口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out &lt;&lt; “\tjmp ” &lt;&lt; t-&gt;label.false_label &lt;&lt; endl;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跳转到假值出口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0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break;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32DB0760-81AE-4F3F-A2B8-7455EAA5D4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语句代码生成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EACB026D-28A6-4AC6-98A7-0AE5FD179B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void tree::stmt_gen_code(ostream &amp;out, Node *t)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{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if (t-&gt;kind_kind == COMP_STMT)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{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for (int i = 0; t-&gt;children[i]; i++)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{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  recursive_gen_code(out, t-&gt;children[i]);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  for (Node *p = t-&gt;children[i]-&gt;sibling; p; p = p-&gt;sibling)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    recursive_gen_code(out, p);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}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}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AD2A9CBB-50D9-4A2F-9F23-6D7B6A4B2A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语句代码生成（续）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96F951E6-5847-4323-8F60-5C11955A77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else if (t-&gt;kind_kind == WHILE_STMT)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{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if (t-&gt;label.begin_label != “”)	// while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循环开始标号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  out &lt;&lt; t-&gt;label.begin_label &lt;&lt; ":" &lt;&lt; endl;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recursive_gen_code(out, t-&gt;children[0]);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生成布尔表达式代码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recursive_gen_code(out, t-&gt;children[1]);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生成循环体代码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  out &lt;&lt; “\tjmp ” &lt;&lt; t-&gt;label.begin_label &lt;&lt; endl; 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跳转到循环开始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  }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2D1B0537-71C3-4C49-9778-53A939BC1F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语句代码生成（续）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85467A25-8B30-4A08-A0FF-F69BF9CCC9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void tree::get_temp_var(Node *t)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{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if (t-&gt;kind != EXPR_NODE)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	return;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if (t-&gt;attr.op &lt; PLUS || t-&gt;attr.op &gt; OVER)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	return;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Node *arg1 = t-&gt;children[0];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Node *arg2 = t-&gt;children[1];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临时变量重用（收回不用的临时变量）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if (arg1-&gt;kind_kind == OP_EXPR)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	temp_var_seq--;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if (arg2 &amp;&amp; arg2-&gt;kind_kind == OP_EXPR)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	tree::temp_var_seq--;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t-&gt;temp_var = tree::temp_var_seq;	// </a:t>
            </a:r>
            <a:r>
              <a:rPr lang="zh-CN" altLang="en-US" sz="1800">
                <a:latin typeface="Arial Unicode MS" pitchFamily="34" charset="-122"/>
                <a:ea typeface="Arial Unicode MS" pitchFamily="34" charset="-122"/>
              </a:rPr>
              <a:t>分配临时变量</a:t>
            </a:r>
            <a:endParaRPr lang="en-US" altLang="zh-CN" sz="18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tree::temp_var_seq++;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}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599080CC-BAC3-4F5C-90A9-9B74E10C7A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语句代码生成（续）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419258B0-D7DB-4215-A7B9-520AEDCB0F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71575" y="1341438"/>
            <a:ext cx="7772400" cy="4724400"/>
          </a:xfrm>
        </p:spPr>
        <p:txBody>
          <a:bodyPr/>
          <a:lstStyle/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void tree::stmt_get_label(Node *t)	// 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为语句生成标号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{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switch (t-&gt;kind_kind)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{ …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case WHILE_STMT: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{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Node *e = t-&gt;children[0];	// 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循环判定条件</a:t>
            </a: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——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布尔表达式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Node *s = t-&gt;children[1];	// 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循环体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if (t-&gt;label.begin_label == "")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  t-&gt;label.begin_label = new_label();	// 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生成循环开始标号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s-&gt;label.next_label = t-&gt;label.begin_label;	// 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循环体的“下一条语句”是循环开始标号</a:t>
            </a: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——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继续循环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s-&gt;label.begin_label = e-&gt;label.true_label = new_label();  // 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生成循环体开始标号</a:t>
            </a: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——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也是循环条件真值出口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if (t-&gt;label.next_label == "")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  t-&gt;label.next_label = new_label();		// 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生成整个循环的下一条语句标号（循环结束）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e-&gt;label.false_label = t-&gt;label.next_label;	// 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循环条件假值出口即循环结束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if (t-&gt;sibling)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  t-&gt;sibling-&gt;label.begin_label = t-&gt;label.next_label;  // 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兄弟结点的开始标号即这条语句的下一个标号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recursive_get_label(e);		// 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递归地生成布尔表达式内标号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recursive_get_label(s);		// 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递归地生成循环体内标号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}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}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}</a:t>
            </a:r>
          </a:p>
        </p:txBody>
      </p:sp>
      <p:sp>
        <p:nvSpPr>
          <p:cNvPr id="76804" name="矩形 1">
            <a:extLst>
              <a:ext uri="{FF2B5EF4-FFF2-40B4-BE49-F238E27FC236}">
                <a16:creationId xmlns:a16="http://schemas.microsoft.com/office/drawing/2014/main" id="{65E0F2A7-E69E-4A7E-90D6-1F3945FA9A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1700213"/>
            <a:ext cx="2879725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 eaLnBrk="1" hangingPunct="1">
              <a:lnSpc>
                <a:spcPct val="114000"/>
              </a:lnSpc>
            </a:pPr>
            <a:r>
              <a:rPr lang="zh-CN" altLang="en-US" sz="2000">
                <a:solidFill>
                  <a:srgbClr val="FF0000"/>
                </a:solidFill>
                <a:latin typeface="Arial Unicode MS" pitchFamily="34" charset="-122"/>
                <a:ea typeface="Arial Unicode MS" pitchFamily="34" charset="-122"/>
              </a:rPr>
              <a:t>显然，标号是继承属性</a:t>
            </a:r>
            <a:endParaRPr lang="en-US" altLang="zh-CN" sz="2000">
              <a:solidFill>
                <a:srgbClr val="FF0000"/>
              </a:solidFill>
              <a:latin typeface="Arial Unicode MS" pitchFamily="34" charset="-122"/>
              <a:ea typeface="Arial Unicode MS" pitchFamily="34" charset="-12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2A4E5EF5-B5DA-45CE-844C-D642F3AFE0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语句代码生成（续）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F82E9E01-C590-4FA5-8CE2-0600D2DF2A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71575" y="1341438"/>
            <a:ext cx="7772400" cy="4724400"/>
          </a:xfrm>
        </p:spPr>
        <p:txBody>
          <a:bodyPr/>
          <a:lstStyle/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void tree::expr_get_label(Node *t)	// 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布尔表达式生成标号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{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if (t-&gt;type != Boolean)	return;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Node *e1 = t-&gt;children[0];		// 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第一子表达式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Node *e2 = t-&gt;children[1];		// 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第二子表达式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switch (t-&gt;attr.op)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{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case AND: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e1-&gt;label.true_label = new_label();	// 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子表达式一为真，跳转到子表达式二代码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e2-&gt;label.true_label = t-&gt;label.true_label;  // 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子表达式二也为真，与操作结果为真</a:t>
            </a: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——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真值出口是相同标号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e1-&gt;label.false_label = e2-&gt;label.false_label = t-&gt;label.false_label;  // </a:t>
            </a:r>
            <a:r>
              <a:rPr lang="zh-CN" altLang="en-US" sz="1200">
                <a:latin typeface="Arial Unicode MS" pitchFamily="34" charset="-122"/>
                <a:ea typeface="Arial Unicode MS" pitchFamily="34" charset="-122"/>
              </a:rPr>
              <a:t>三者假值出口是相同标号</a:t>
            </a:r>
            <a:endParaRPr lang="en-US" altLang="zh-CN" sz="1200">
              <a:latin typeface="Arial Unicode MS" pitchFamily="34" charset="-122"/>
              <a:ea typeface="Arial Unicode MS" pitchFamily="34" charset="-122"/>
            </a:endParaRP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break;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case OR: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e1-&gt;label.false_label = new_label();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e2-&gt;label.false_label = t-&gt;label.false_label;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e1-&gt;label.true_label = e2-&gt;label.true_label = t-&gt;label.true_label;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break;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case NOT: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e1-&gt;label.true_label = t-&gt;label.false_label;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e1-&gt;label.false_label = t-&gt;label.true_label;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  break;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  }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if (e1)  recursive_get_label(e1);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  if (e2)  recursive_get_label(e2);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200">
                <a:latin typeface="Arial Unicode MS" pitchFamily="34" charset="-122"/>
                <a:ea typeface="Arial Unicode MS" pitchFamily="34" charset="-122"/>
              </a:rPr>
              <a:t>}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C7A988F8-5340-4F27-8610-380772F13F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语句代码生成（续）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2BDE3D4D-D6A3-47A4-8BDB-A76128000B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int main(int argc, char *argv[])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{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int n = 1;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lexer lexer;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parser parser;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if (parser.yycreate(&amp;lexer)) {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	if (lexer.yycreate(&amp;parser)) {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		lexer.yyin = new ifstream(argv[1]);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		lexer.yyout = new ofstream(argv[2]);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		n = parser.yyparse();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		parse_tree.get_label();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		parse_tree.gen_code(*lexer.yyout);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	}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}	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getchar();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	return n;</a:t>
            </a:r>
          </a:p>
          <a:p>
            <a:pPr marL="0" lvl="1" eaLnBrk="1" hangingPunct="1">
              <a:lnSpc>
                <a:spcPct val="114000"/>
              </a:lnSpc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1800">
                <a:latin typeface="Arial Unicode MS" pitchFamily="34" charset="-122"/>
                <a:ea typeface="Arial Unicode MS" pitchFamily="34" charset="-122"/>
              </a:rPr>
              <a:t>}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08AEEE37-C474-4CE0-8358-40510F2B7B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SSA</a:t>
            </a:r>
            <a:endParaRPr lang="zh-CN" altLang="en-US" dirty="0"/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1AECDDD6-06FE-4929-9DDC-EFCB83CF92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静态单赋值，</a:t>
            </a:r>
            <a:r>
              <a:rPr lang="en-US" altLang="zh-CN" dirty="0"/>
              <a:t>static single assignment form</a:t>
            </a:r>
            <a:endParaRPr lang="zh-CN" altLang="en-US" dirty="0"/>
          </a:p>
          <a:p>
            <a:pPr lvl="1" eaLnBrk="1" hangingPunct="1"/>
            <a:r>
              <a:rPr lang="zh-CN" altLang="en-US" dirty="0"/>
              <a:t>维基百科：</a:t>
            </a:r>
            <a:r>
              <a:rPr lang="en-US" altLang="zh-CN" dirty="0"/>
              <a:t>In compiler design, </a:t>
            </a:r>
            <a:r>
              <a:rPr lang="en-US" altLang="zh-CN" b="1" dirty="0"/>
              <a:t>static single assignment form</a:t>
            </a:r>
            <a:r>
              <a:rPr lang="en-US" altLang="zh-CN" dirty="0"/>
              <a:t> (often abbreviated as </a:t>
            </a:r>
            <a:r>
              <a:rPr lang="en-US" altLang="zh-CN" b="1" dirty="0"/>
              <a:t>SSA form</a:t>
            </a:r>
            <a:r>
              <a:rPr lang="en-US" altLang="zh-CN" dirty="0"/>
              <a:t> or simply </a:t>
            </a:r>
            <a:r>
              <a:rPr lang="en-US" altLang="zh-CN" b="1" dirty="0"/>
              <a:t>SSA</a:t>
            </a:r>
            <a:r>
              <a:rPr lang="en-US" altLang="zh-CN" dirty="0"/>
              <a:t>) is a property of an intermediate representation (IR), which requires that each variable is assigned exactly once, and every variable is defined before it is used.</a:t>
            </a:r>
          </a:p>
          <a:p>
            <a:pPr lvl="1" eaLnBrk="1" hangingPunct="1"/>
            <a:r>
              <a:rPr lang="zh-CN" altLang="en-US" dirty="0"/>
              <a:t>每个变量只被赋值一次，引用前先定义</a:t>
            </a:r>
          </a:p>
        </p:txBody>
      </p:sp>
    </p:spTree>
    <p:extLst>
      <p:ext uri="{BB962C8B-B14F-4D97-AF65-F5344CB8AC3E}">
        <p14:creationId xmlns:p14="http://schemas.microsoft.com/office/powerpoint/2010/main" val="364548027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08AEEE37-C474-4CE0-8358-40510F2B7B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如何得到</a:t>
            </a:r>
            <a:r>
              <a:rPr lang="en-US" altLang="zh-CN" dirty="0"/>
              <a:t>SSA</a:t>
            </a:r>
            <a:r>
              <a:rPr lang="zh-CN" altLang="en-US" dirty="0"/>
              <a:t>形式的</a:t>
            </a:r>
            <a:r>
              <a:rPr lang="en-US" altLang="zh-CN" dirty="0"/>
              <a:t>IR</a:t>
            </a:r>
            <a:endParaRPr lang="zh-CN" altLang="en-US" dirty="0"/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1AECDDD6-06FE-4929-9DDC-EFCB83CF92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原</a:t>
            </a:r>
            <a:r>
              <a:rPr lang="en-US" altLang="zh-CN" dirty="0"/>
              <a:t>IR</a:t>
            </a:r>
            <a:r>
              <a:rPr lang="zh-CN" altLang="en-US" dirty="0"/>
              <a:t>中的每个变量被分割成不同的版本（</a:t>
            </a:r>
            <a:r>
              <a:rPr lang="en-US" altLang="zh-CN" dirty="0"/>
              <a:t>version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每个定义（</a:t>
            </a:r>
            <a:r>
              <a:rPr lang="en-US" altLang="zh-CN" dirty="0"/>
              <a:t>definition</a:t>
            </a:r>
            <a:r>
              <a:rPr lang="zh-CN" altLang="en-US" dirty="0"/>
              <a:t>：静态分析术语，可以理解为赋值）对应一个版本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通常用原变量名加下标表示不同的版本</a:t>
            </a:r>
          </a:p>
          <a:p>
            <a:pPr eaLnBrk="1" hangingPunct="1"/>
            <a:r>
              <a:rPr lang="zh-CN" altLang="en-US" dirty="0"/>
              <a:t>在</a:t>
            </a:r>
            <a:r>
              <a:rPr lang="en-US" altLang="zh-CN" dirty="0"/>
              <a:t>SSA</a:t>
            </a:r>
            <a:r>
              <a:rPr lang="zh-CN" altLang="en-US" dirty="0"/>
              <a:t>形式中，</a:t>
            </a:r>
            <a:r>
              <a:rPr lang="en-US" altLang="zh-CN" dirty="0"/>
              <a:t>UD</a:t>
            </a:r>
            <a:r>
              <a:rPr lang="zh-CN" altLang="en-US" dirty="0"/>
              <a:t>链（</a:t>
            </a:r>
            <a:r>
              <a:rPr lang="en-US" altLang="zh-CN" dirty="0"/>
              <a:t>Use-Define Chain</a:t>
            </a:r>
            <a:r>
              <a:rPr lang="zh-CN" altLang="en-US" dirty="0"/>
              <a:t>，每个引用对应唯一定义）是十分明确的</a:t>
            </a:r>
            <a:endParaRPr lang="en-US" altLang="zh-CN" dirty="0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6F7AED8C-4E68-4160-B710-66EC5A0E17AB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2195736" y="5217036"/>
            <a:ext cx="1524000" cy="10156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aseline="0">
                <a:latin typeface="Times New Roman" panose="02020603050405020304" pitchFamily="18" charset="0"/>
              </a:rPr>
              <a:t>y := 1</a:t>
            </a:r>
          </a:p>
          <a:p>
            <a:pPr algn="ctr">
              <a:spcBef>
                <a:spcPts val="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y := 2</a:t>
            </a:r>
          </a:p>
          <a:p>
            <a:pPr algn="ctr">
              <a:spcBef>
                <a:spcPts val="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x := y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6619EE7E-172A-4050-A536-34288AAA7FAB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5562021" y="5211917"/>
            <a:ext cx="1524000" cy="10156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aseline="0" dirty="0">
                <a:latin typeface="Times New Roman" panose="02020603050405020304" pitchFamily="18" charset="0"/>
              </a:rPr>
              <a:t>y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baseline="0" dirty="0">
                <a:latin typeface="Times New Roman" panose="02020603050405020304" pitchFamily="18" charset="0"/>
              </a:rPr>
              <a:t> := 1</a:t>
            </a:r>
          </a:p>
          <a:p>
            <a:pPr algn="ctr">
              <a:spcBef>
                <a:spcPts val="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y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</a:rPr>
              <a:t> := 2</a:t>
            </a:r>
          </a:p>
          <a:p>
            <a:pPr algn="ctr">
              <a:spcBef>
                <a:spcPts val="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x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</a:rPr>
              <a:t> := y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2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" name="AutoShape 14">
            <a:extLst>
              <a:ext uri="{FF2B5EF4-FFF2-40B4-BE49-F238E27FC236}">
                <a16:creationId xmlns:a16="http://schemas.microsoft.com/office/drawing/2014/main" id="{AA287CCA-9371-4344-A7C2-40DCACF8BCD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412278" y="5567348"/>
            <a:ext cx="457200" cy="304800"/>
          </a:xfrm>
          <a:prstGeom prst="rightArrow">
            <a:avLst>
              <a:gd name="adj1" fmla="val 50000"/>
              <a:gd name="adj2" fmla="val 37500"/>
            </a:avLst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6553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08AEEE37-C474-4CE0-8358-40510F2B7B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SSA</a:t>
            </a:r>
            <a:r>
              <a:rPr lang="zh-CN" altLang="en-US" dirty="0"/>
              <a:t>的作用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1AECDDD6-06FE-4929-9DDC-EFCB83CF92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可以简化很多编译优化方法的过程</a:t>
            </a:r>
            <a:endParaRPr lang="en-US" altLang="zh-CN" dirty="0"/>
          </a:p>
          <a:p>
            <a:pPr eaLnBrk="1" hangingPunct="1"/>
            <a:r>
              <a:rPr lang="zh-CN" altLang="en-US" dirty="0"/>
              <a:t>对很多编译优化方法来说，可以获得更好的优化结果</a:t>
            </a:r>
            <a:endParaRPr lang="en-US" altLang="zh-CN" dirty="0"/>
          </a:p>
          <a:p>
            <a:pPr eaLnBrk="1" hangingPunct="1"/>
            <a:r>
              <a:rPr lang="zh-CN" altLang="en-US" dirty="0"/>
              <a:t>如下面的例子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第三行对</a:t>
            </a:r>
            <a:r>
              <a:rPr lang="en-US" altLang="zh-CN" dirty="0"/>
              <a:t>y</a:t>
            </a:r>
            <a:r>
              <a:rPr lang="zh-CN" altLang="en-US" dirty="0"/>
              <a:t>的引用来自于第二行对</a:t>
            </a:r>
            <a:r>
              <a:rPr lang="en-US" altLang="zh-CN" dirty="0"/>
              <a:t>y</a:t>
            </a:r>
            <a:r>
              <a:rPr lang="zh-CN" altLang="en-US" dirty="0"/>
              <a:t>的定义</a:t>
            </a:r>
            <a:endParaRPr lang="en-US" altLang="zh-CN" dirty="0"/>
          </a:p>
          <a:p>
            <a:pPr lvl="1" eaLnBrk="1" hangingPunct="1"/>
            <a:r>
              <a:rPr lang="en-US" altLang="zh-CN" dirty="0">
                <a:sym typeface="Wingdings" panose="05000000000000000000" pitchFamily="2" charset="2"/>
              </a:rPr>
              <a:t></a:t>
            </a:r>
            <a:r>
              <a:rPr lang="zh-CN" altLang="en-US" dirty="0">
                <a:sym typeface="Wingdings" panose="05000000000000000000" pitchFamily="2" charset="2"/>
              </a:rPr>
              <a:t>第一行的赋值是多余的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dirty="0">
                <a:sym typeface="Wingdings" panose="05000000000000000000" pitchFamily="2" charset="2"/>
              </a:rPr>
              <a:t>对非</a:t>
            </a:r>
            <a:r>
              <a:rPr lang="en-US" altLang="zh-CN" dirty="0">
                <a:sym typeface="Wingdings" panose="05000000000000000000" pitchFamily="2" charset="2"/>
              </a:rPr>
              <a:t>SSA</a:t>
            </a:r>
            <a:r>
              <a:rPr lang="zh-CN" altLang="en-US" dirty="0">
                <a:sym typeface="Wingdings" panose="05000000000000000000" pitchFamily="2" charset="2"/>
              </a:rPr>
              <a:t>形式的</a:t>
            </a:r>
            <a:r>
              <a:rPr lang="en-US" altLang="zh-CN" dirty="0">
                <a:sym typeface="Wingdings" panose="05000000000000000000" pitchFamily="2" charset="2"/>
              </a:rPr>
              <a:t>IR</a:t>
            </a:r>
            <a:r>
              <a:rPr lang="zh-CN" altLang="en-US" dirty="0">
                <a:sym typeface="Wingdings" panose="05000000000000000000" pitchFamily="2" charset="2"/>
              </a:rPr>
              <a:t>，要做到达</a:t>
            </a:r>
            <a:r>
              <a:rPr lang="en-US" altLang="zh-CN" dirty="0">
                <a:sym typeface="Wingdings" panose="05000000000000000000" pitchFamily="2" charset="2"/>
              </a:rPr>
              <a:t>-</a:t>
            </a:r>
            <a:r>
              <a:rPr lang="zh-CN" altLang="en-US" dirty="0">
                <a:sym typeface="Wingdings" panose="05000000000000000000" pitchFamily="2" charset="2"/>
              </a:rPr>
              <a:t>定义分析</a:t>
            </a:r>
            <a:endParaRPr lang="en-US" altLang="zh-CN" dirty="0">
              <a:sym typeface="Wingdings" panose="05000000000000000000" pitchFamily="2" charset="2"/>
            </a:endParaRPr>
          </a:p>
          <a:p>
            <a:pPr lvl="1" eaLnBrk="1" hangingPunct="1"/>
            <a:r>
              <a:rPr lang="zh-CN" altLang="en-US" dirty="0">
                <a:sym typeface="Wingdings" panose="05000000000000000000" pitchFamily="2" charset="2"/>
              </a:rPr>
              <a:t>而</a:t>
            </a:r>
            <a:r>
              <a:rPr lang="en-US" altLang="zh-CN" dirty="0">
                <a:sym typeface="Wingdings" panose="05000000000000000000" pitchFamily="2" charset="2"/>
              </a:rPr>
              <a:t>SSA</a:t>
            </a:r>
            <a:r>
              <a:rPr lang="zh-CN" altLang="en-US" dirty="0">
                <a:sym typeface="Wingdings" panose="05000000000000000000" pitchFamily="2" charset="2"/>
              </a:rPr>
              <a:t>形式的</a:t>
            </a:r>
            <a:r>
              <a:rPr lang="en-US" altLang="zh-CN" dirty="0">
                <a:sym typeface="Wingdings" panose="05000000000000000000" pitchFamily="2" charset="2"/>
              </a:rPr>
              <a:t>IR</a:t>
            </a:r>
            <a:r>
              <a:rPr lang="zh-CN" altLang="en-US" dirty="0">
                <a:sym typeface="Wingdings" panose="05000000000000000000" pitchFamily="2" charset="2"/>
              </a:rPr>
              <a:t>中可直接看到引用</a:t>
            </a:r>
            <a:r>
              <a:rPr lang="en-US" altLang="zh-CN" dirty="0">
                <a:sym typeface="Wingdings" panose="05000000000000000000" pitchFamily="2" charset="2"/>
              </a:rPr>
              <a:t>-</a:t>
            </a:r>
            <a:r>
              <a:rPr lang="zh-CN" altLang="en-US">
                <a:sym typeface="Wingdings" panose="05000000000000000000" pitchFamily="2" charset="2"/>
              </a:rPr>
              <a:t>定义关系</a:t>
            </a:r>
            <a:endParaRPr lang="en-US" altLang="zh-CN" dirty="0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6F7AED8C-4E68-4160-B710-66EC5A0E17AB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2195736" y="5725705"/>
            <a:ext cx="1524000" cy="10156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aseline="0">
                <a:latin typeface="Times New Roman" panose="02020603050405020304" pitchFamily="18" charset="0"/>
              </a:rPr>
              <a:t>y := 1</a:t>
            </a:r>
          </a:p>
          <a:p>
            <a:pPr algn="ctr">
              <a:spcBef>
                <a:spcPts val="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y := 2</a:t>
            </a:r>
          </a:p>
          <a:p>
            <a:pPr algn="ctr">
              <a:spcBef>
                <a:spcPts val="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x := y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6619EE7E-172A-4050-A536-34288AAA7FAB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5562021" y="5720586"/>
            <a:ext cx="1524000" cy="101566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F0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sz="2000" baseline="0" dirty="0">
                <a:latin typeface="Times New Roman" panose="02020603050405020304" pitchFamily="18" charset="0"/>
              </a:rPr>
              <a:t>y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baseline="0" dirty="0">
                <a:latin typeface="Times New Roman" panose="02020603050405020304" pitchFamily="18" charset="0"/>
              </a:rPr>
              <a:t> := 1</a:t>
            </a:r>
          </a:p>
          <a:p>
            <a:pPr algn="ctr">
              <a:spcBef>
                <a:spcPts val="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y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</a:rPr>
              <a:t> := 2</a:t>
            </a:r>
          </a:p>
          <a:p>
            <a:pPr algn="ctr">
              <a:spcBef>
                <a:spcPts val="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x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</a:rPr>
              <a:t> := y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2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" name="AutoShape 14">
            <a:extLst>
              <a:ext uri="{FF2B5EF4-FFF2-40B4-BE49-F238E27FC236}">
                <a16:creationId xmlns:a16="http://schemas.microsoft.com/office/drawing/2014/main" id="{AA287CCA-9371-4344-A7C2-40DCACF8BCD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412278" y="6076017"/>
            <a:ext cx="457200" cy="304800"/>
          </a:xfrm>
          <a:prstGeom prst="rightArrow">
            <a:avLst>
              <a:gd name="adj1" fmla="val 50000"/>
              <a:gd name="adj2" fmla="val 37500"/>
            </a:avLst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63720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08AEEE37-C474-4CE0-8358-40510F2B7B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简单</a:t>
            </a:r>
            <a:r>
              <a:rPr lang="en-US" altLang="zh-CN" dirty="0"/>
              <a:t>SSA</a:t>
            </a:r>
            <a:r>
              <a:rPr lang="zh-CN" altLang="en-US" dirty="0"/>
              <a:t>算法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1AECDDD6-06FE-4929-9DDC-EFCB83CF92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局部值编号</a:t>
            </a:r>
            <a:r>
              <a:rPr lang="en-US" altLang="zh-CN" dirty="0"/>
              <a:t>LVN</a:t>
            </a:r>
          </a:p>
          <a:p>
            <a:pPr lvl="1" eaLnBrk="1" hangingPunct="1"/>
            <a:r>
              <a:rPr lang="zh-CN" altLang="en-US" dirty="0"/>
              <a:t>对每个基本块（第</a:t>
            </a:r>
            <a:r>
              <a:rPr lang="en-US" altLang="zh-CN" dirty="0"/>
              <a:t>9</a:t>
            </a:r>
            <a:r>
              <a:rPr lang="zh-CN" altLang="en-US" dirty="0"/>
              <a:t>章，程序划分得到的永远连续执行的语句序列，基本块之间连接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>
                <a:sym typeface="Wingdings" panose="05000000000000000000" pitchFamily="2" charset="2"/>
              </a:rPr>
              <a:t>程序流</a:t>
            </a:r>
            <a:r>
              <a:rPr lang="zh-CN" altLang="en-US" dirty="0">
                <a:sym typeface="Wingdings" panose="05000000000000000000" pitchFamily="2" charset="2"/>
              </a:rPr>
              <a:t>图</a:t>
            </a:r>
            <a:r>
              <a:rPr lang="zh-CN" altLang="en-US" dirty="0"/>
              <a:t>），按执行顺序处理语句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遇到对变量的赋值，记录右侧</a:t>
            </a:r>
            <a:r>
              <a:rPr lang="en-US" altLang="zh-CN" dirty="0"/>
              <a:t>IR</a:t>
            </a:r>
            <a:r>
              <a:rPr lang="zh-CN" altLang="en-US" dirty="0"/>
              <a:t>为变量的当前定义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遇到读取变量，查询其当前定义</a:t>
            </a:r>
            <a:endParaRPr lang="en-US" altLang="zh-CN" dirty="0"/>
          </a:p>
          <a:p>
            <a:pPr eaLnBrk="1" hangingPunct="1"/>
            <a:r>
              <a:rPr lang="zh-CN" altLang="en-US" dirty="0"/>
              <a:t>局部编号完毕，基本块变为</a:t>
            </a:r>
            <a:r>
              <a:rPr lang="en-US" altLang="zh-CN" dirty="0"/>
              <a:t>filled</a:t>
            </a:r>
            <a:br>
              <a:rPr lang="en-US" altLang="zh-CN" dirty="0"/>
            </a:br>
            <a:r>
              <a:rPr lang="zh-CN" altLang="en-US" dirty="0"/>
              <a:t>只有</a:t>
            </a:r>
            <a:r>
              <a:rPr lang="en-US" altLang="zh-CN" dirty="0"/>
              <a:t>filled</a:t>
            </a:r>
            <a:r>
              <a:rPr lang="zh-CN" altLang="en-US" dirty="0"/>
              <a:t>基本块才可追加后继基本块</a:t>
            </a:r>
            <a:endParaRPr lang="en-US" altLang="zh-CN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59057A-A507-40BD-90AC-6689472C06D0}"/>
              </a:ext>
            </a:extLst>
          </p:cNvPr>
          <p:cNvSpPr/>
          <p:nvPr/>
        </p:nvSpPr>
        <p:spPr>
          <a:xfrm>
            <a:off x="2023120" y="6474023"/>
            <a:ext cx="604867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/>
              <a:t>Simple and Efficient Construction of Static Single Assignment Form, CC’13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5630056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08AEEE37-C474-4CE0-8358-40510F2B7B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简单</a:t>
            </a:r>
            <a:r>
              <a:rPr lang="en-US" altLang="zh-CN" dirty="0"/>
              <a:t>SSA</a:t>
            </a:r>
            <a:r>
              <a:rPr lang="zh-CN" altLang="en-US" dirty="0"/>
              <a:t>算法描述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491" name="Rectangle 3">
                <a:extLst>
                  <a:ext uri="{FF2B5EF4-FFF2-40B4-BE49-F238E27FC236}">
                    <a16:creationId xmlns:a16="http://schemas.microsoft.com/office/drawing/2014/main" id="{1AECDDD6-06FE-4929-9DDC-EFCB83CF9276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eaLnBrk="1" hangingPunct="1"/>
                <a:endParaRPr lang="en-US" altLang="zh-CN" dirty="0"/>
              </a:p>
              <a:p>
                <a:pPr eaLnBrk="1" hangingPunct="1"/>
                <a:endParaRPr lang="en-US" altLang="zh-CN" dirty="0"/>
              </a:p>
              <a:p>
                <a:pPr eaLnBrk="1" hangingPunct="1"/>
                <a:endParaRPr lang="en-US" altLang="zh-CN" dirty="0"/>
              </a:p>
              <a:p>
                <a:pPr eaLnBrk="1" hangingPunct="1"/>
                <a:endParaRPr lang="en-US" altLang="zh-CN" dirty="0"/>
              </a:p>
              <a:p>
                <a:pPr eaLnBrk="1" hangingPunct="1"/>
                <a:endParaRPr lang="en-US" altLang="zh-CN" dirty="0"/>
              </a:p>
              <a:p>
                <a:pPr eaLnBrk="1" hangingPunct="1"/>
                <a:endParaRPr lang="en-US" altLang="zh-CN" dirty="0"/>
              </a:p>
              <a:p>
                <a:pPr eaLnBrk="1" hangingPunct="1"/>
                <a:r>
                  <a:rPr lang="zh-CN" altLang="en-US" sz="2400" dirty="0"/>
                  <a:t>每个</a:t>
                </a:r>
                <a:r>
                  <a:rPr lang="en-US" altLang="zh-CN" sz="2400" dirty="0"/>
                  <a:t>SSA</a:t>
                </a:r>
                <a:r>
                  <a:rPr lang="zh-CN" altLang="en-US" sz="2400" dirty="0"/>
                  <a:t>值用一个名字</a:t>
                </a:r>
                <a:r>
                  <a:rPr lang="en-US" altLang="zh-CN" sz="2400" dirty="0"/>
                  <a:t>v</a:t>
                </a:r>
                <a:r>
                  <a:rPr lang="en-US" altLang="zh-CN" sz="2400" baseline="-25000" dirty="0"/>
                  <a:t>i</a:t>
                </a:r>
                <a:r>
                  <a:rPr lang="zh-CN" altLang="en-US" sz="2400" dirty="0"/>
                  <a:t>表示，名字本身并无意义</a:t>
                </a:r>
                <a:endParaRPr lang="en-US" altLang="zh-CN" sz="2400" dirty="0"/>
              </a:p>
              <a:p>
                <a:pPr eaLnBrk="1" hangingPunct="1"/>
                <a:r>
                  <a:rPr lang="zh-CN" altLang="en-US" sz="2400" dirty="0"/>
                  <a:t>难点：定义不在同一个基本块中（</a:t>
                </a:r>
                <a:r>
                  <a:rPr lang="en-US" altLang="zh-CN" sz="2400" dirty="0"/>
                  <a:t>v?</a:t>
                </a:r>
                <a:r>
                  <a:rPr lang="zh-CN" altLang="en-US" sz="2400" dirty="0"/>
                  <a:t>，特别是多个前驱中都有定义的情况）</a:t>
                </a:r>
                <a:r>
                  <a:rPr lang="en-US" altLang="zh-CN" sz="2400" dirty="0"/>
                  <a:t>——</a:t>
                </a:r>
                <a:r>
                  <a:rPr lang="zh-CN" altLang="en-US" sz="2400" dirty="0"/>
                  <a:t>第</a:t>
                </a:r>
                <a:r>
                  <a:rPr lang="en-US" altLang="zh-CN" sz="2400" dirty="0"/>
                  <a:t>10</a:t>
                </a:r>
                <a:r>
                  <a:rPr lang="zh-CN" altLang="en-US" sz="2400" dirty="0"/>
                  <a:t>章解决（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1" smtClean="0">
                        <a:latin typeface="Cambria Math" panose="02040503050406030204" pitchFamily="18" charset="0"/>
                      </a:rPr>
                      <m:t>ϕ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函数</m:t>
                    </m:r>
                  </m:oMath>
                </a14:m>
                <a:r>
                  <a:rPr lang="zh-CN" altLang="en-US" sz="2400" dirty="0"/>
                  <a:t>）</a:t>
                </a:r>
                <a:endParaRPr lang="en-US" altLang="zh-CN" sz="2400" dirty="0"/>
              </a:p>
            </p:txBody>
          </p:sp>
        </mc:Choice>
        <mc:Fallback xmlns="">
          <p:sp>
            <p:nvSpPr>
              <p:cNvPr id="63491" name="Rectangle 3">
                <a:extLst>
                  <a:ext uri="{FF2B5EF4-FFF2-40B4-BE49-F238E27FC236}">
                    <a16:creationId xmlns:a16="http://schemas.microsoft.com/office/drawing/2014/main" id="{1AECDDD6-06FE-4929-9DDC-EFCB83CF92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471" b="-36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E259057A-A507-40BD-90AC-6689472C06D0}"/>
              </a:ext>
            </a:extLst>
          </p:cNvPr>
          <p:cNvSpPr/>
          <p:nvPr/>
        </p:nvSpPr>
        <p:spPr>
          <a:xfrm>
            <a:off x="2023120" y="6474023"/>
            <a:ext cx="604867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dirty="0"/>
              <a:t>Simple and Efficient Construction of Static Single Assignment Form, CC’13</a:t>
            </a:r>
            <a:endParaRPr lang="zh-CN" altLang="en-US" sz="1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3A871BA-23BA-47D3-B23F-86F5660AE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082" y="1265390"/>
            <a:ext cx="4023836" cy="196738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6378F57-7FB4-4AD1-A957-1167A08DBA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4809" y="3284984"/>
            <a:ext cx="4574381" cy="1603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11780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08AEEE37-C474-4CE0-8358-40510F2B7B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LLVM</a:t>
            </a:r>
            <a:r>
              <a:rPr lang="zh-CN" altLang="en-US" dirty="0"/>
              <a:t>中的</a:t>
            </a:r>
            <a:r>
              <a:rPr lang="en-US" altLang="zh-CN" dirty="0"/>
              <a:t>SSA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491" name="Rectangle 3">
                <a:extLst>
                  <a:ext uri="{FF2B5EF4-FFF2-40B4-BE49-F238E27FC236}">
                    <a16:creationId xmlns:a16="http://schemas.microsoft.com/office/drawing/2014/main" id="{1AECDDD6-06FE-4929-9DDC-EFCB83CF9276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eaLnBrk="1" hangingPunct="1"/>
                <a:r>
                  <a:rPr lang="zh-CN" altLang="en-US" sz="2800" dirty="0"/>
                  <a:t>采用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>
                        <a:latin typeface="Cambria Math" panose="02040503050406030204" pitchFamily="18" charset="0"/>
                      </a:rPr>
                      <m:t>ϕ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函数</m:t>
                    </m:r>
                  </m:oMath>
                </a14:m>
                <a:r>
                  <a:rPr lang="zh-CN" altLang="en-US" sz="2800" dirty="0"/>
                  <a:t>的</a:t>
                </a:r>
                <a:r>
                  <a:rPr lang="en-US" altLang="zh-CN" sz="2800" dirty="0"/>
                  <a:t>SSA</a:t>
                </a:r>
                <a:r>
                  <a:rPr lang="zh-CN" altLang="en-US" sz="2800" dirty="0"/>
                  <a:t>算法复杂，</a:t>
                </a:r>
                <a:r>
                  <a:rPr lang="en-US" altLang="zh-CN" sz="2800" dirty="0"/>
                  <a:t>LLVM</a:t>
                </a:r>
                <a:r>
                  <a:rPr lang="zh-CN" altLang="en-US" sz="2800" dirty="0"/>
                  <a:t>采用的</a:t>
                </a:r>
                <a:r>
                  <a:rPr lang="en-US" altLang="zh-CN" sz="2800" dirty="0"/>
                  <a:t>trick</a:t>
                </a:r>
              </a:p>
              <a:p>
                <a:pPr lvl="1" eaLnBrk="1" hangingPunct="1"/>
                <a:r>
                  <a:rPr lang="en-US" altLang="zh-CN" sz="2400" dirty="0"/>
                  <a:t>LLVM does require all register values to be in SSA form, it does not require (or permit) memory objects to be in SSA form. </a:t>
                </a:r>
                <a:r>
                  <a:rPr lang="en-US" altLang="zh-CN" sz="2400" dirty="0">
                    <a:sym typeface="Wingdings" panose="05000000000000000000" pitchFamily="2" charset="2"/>
                  </a:rPr>
                  <a:t> SSA</a:t>
                </a:r>
                <a:r>
                  <a:rPr lang="zh-CN" altLang="en-US" sz="2400" dirty="0">
                    <a:sym typeface="Wingdings" panose="05000000000000000000" pitchFamily="2" charset="2"/>
                  </a:rPr>
                  <a:t>的构造从前端分离出来</a:t>
                </a:r>
                <a:endParaRPr lang="en-US" altLang="zh-CN" sz="2400" dirty="0"/>
              </a:p>
              <a:p>
                <a:pPr lvl="1" eaLnBrk="1" hangingPunct="1"/>
                <a:r>
                  <a:rPr lang="zh-CN" altLang="en-US" sz="2400" dirty="0"/>
                  <a:t>前端对局部变量采用栈式分配到内存中，内存中变量不必遵循</a:t>
                </a:r>
                <a:r>
                  <a:rPr lang="en-US" altLang="zh-CN" sz="2400" dirty="0"/>
                  <a:t>SSA</a:t>
                </a:r>
                <a:r>
                  <a:rPr lang="zh-CN" altLang="en-US" sz="2400" dirty="0"/>
                  <a:t>形式，可多次赋值，具体步骤：</a:t>
                </a:r>
                <a:endParaRPr lang="en-US" altLang="zh-CN" sz="2400" dirty="0"/>
              </a:p>
              <a:p>
                <a:pPr lvl="2" eaLnBrk="1" hangingPunct="1"/>
                <a:r>
                  <a:rPr lang="zh-CN" altLang="en-US" sz="2000" dirty="0"/>
                  <a:t>每个可变变量成为一次栈内存分配（</a:t>
                </a:r>
                <a:r>
                  <a:rPr lang="en-US" altLang="zh-CN" sz="2000" dirty="0" err="1"/>
                  <a:t>alloca</a:t>
                </a:r>
                <a:r>
                  <a:rPr lang="zh-CN" altLang="en-US" sz="2000" dirty="0"/>
                  <a:t>）</a:t>
                </a:r>
                <a:endParaRPr lang="en-US" altLang="zh-CN" sz="2000" dirty="0"/>
              </a:p>
              <a:p>
                <a:pPr lvl="2" eaLnBrk="1" hangingPunct="1"/>
                <a:r>
                  <a:rPr lang="zh-CN" altLang="en-US" sz="2000" dirty="0"/>
                  <a:t>每个变量读操作成为一次栈的读取（</a:t>
                </a:r>
                <a:r>
                  <a:rPr lang="en-US" altLang="zh-CN" sz="2000" dirty="0"/>
                  <a:t>load</a:t>
                </a:r>
                <a:r>
                  <a:rPr lang="zh-CN" altLang="en-US" sz="2000" dirty="0"/>
                  <a:t>）</a:t>
                </a:r>
                <a:endParaRPr lang="en-US" altLang="zh-CN" sz="2000" dirty="0"/>
              </a:p>
              <a:p>
                <a:pPr lvl="2" eaLnBrk="1" hangingPunct="1"/>
                <a:r>
                  <a:rPr lang="zh-CN" altLang="en-US" sz="2000" dirty="0"/>
                  <a:t>每个变量更新操作成为一次栈的保存（</a:t>
                </a:r>
                <a:r>
                  <a:rPr lang="en-US" altLang="zh-CN" sz="2000" dirty="0"/>
                  <a:t>store</a:t>
                </a:r>
                <a:r>
                  <a:rPr lang="zh-CN" altLang="en-US" sz="2000"/>
                  <a:t>）</a:t>
                </a:r>
                <a:endParaRPr lang="en-US" altLang="zh-CN" sz="2000" dirty="0"/>
              </a:p>
              <a:p>
                <a:pPr lvl="2" eaLnBrk="1" hangingPunct="1"/>
                <a:r>
                  <a:rPr lang="zh-CN" altLang="en-US" sz="2000" dirty="0"/>
                  <a:t>取一个变量的地址直接使用其栈地址即可</a:t>
                </a:r>
                <a:endParaRPr lang="en-US" altLang="zh-CN" sz="2000" dirty="0"/>
              </a:p>
              <a:p>
                <a:pPr eaLnBrk="1" hangingPunct="1"/>
                <a:r>
                  <a:rPr lang="zh-CN" altLang="en-US" sz="2800" dirty="0"/>
                  <a:t>避免了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>
                        <a:latin typeface="Cambria Math" panose="02040503050406030204" pitchFamily="18" charset="0"/>
                      </a:rPr>
                      <m:t>ϕ</m:t>
                    </m:r>
                  </m:oMath>
                </a14:m>
                <a:r>
                  <a:rPr lang="zh-CN" altLang="en-US" sz="2800" dirty="0"/>
                  <a:t>节点，但每次变量存取都要访问内存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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在中端引入“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mem2reg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”</a:t>
                </a:r>
                <a:r>
                  <a:rPr lang="en-US" altLang="zh-CN" sz="2800" dirty="0">
                    <a:sym typeface="Wingdings" panose="05000000000000000000" pitchFamily="2" charset="2"/>
                  </a:rPr>
                  <a:t>pass</a:t>
                </a:r>
                <a:r>
                  <a:rPr lang="zh-CN" altLang="en-US" sz="2800" dirty="0">
                    <a:sym typeface="Wingdings" panose="05000000000000000000" pitchFamily="2" charset="2"/>
                  </a:rPr>
                  <a:t>，高效插入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>
                        <a:latin typeface="Cambria Math" panose="02040503050406030204" pitchFamily="18" charset="0"/>
                      </a:rPr>
                      <m:t>ϕ</m:t>
                    </m:r>
                    <m:r>
                      <a:rPr lang="zh-CN" altLang="en-US" sz="2800" i="1">
                        <a:latin typeface="Cambria Math" panose="02040503050406030204" pitchFamily="18" charset="0"/>
                      </a:rPr>
                      <m:t>函数</m:t>
                    </m:r>
                  </m:oMath>
                </a14:m>
                <a:r>
                  <a:rPr lang="zh-CN" altLang="en-US" sz="2800" dirty="0"/>
                  <a:t>以及重命名变量</a:t>
                </a:r>
                <a:endParaRPr lang="en-US" altLang="zh-CN" sz="2800" dirty="0"/>
              </a:p>
            </p:txBody>
          </p:sp>
        </mc:Choice>
        <mc:Fallback xmlns="">
          <p:sp>
            <p:nvSpPr>
              <p:cNvPr id="63491" name="Rectangle 3">
                <a:extLst>
                  <a:ext uri="{FF2B5EF4-FFF2-40B4-BE49-F238E27FC236}">
                    <a16:creationId xmlns:a16="http://schemas.microsoft.com/office/drawing/2014/main" id="{1AECDDD6-06FE-4929-9DDC-EFCB83CF92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784" t="-1677" r="-471" b="-158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265084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文本框 5">
            <a:extLst>
              <a:ext uri="{FF2B5EF4-FFF2-40B4-BE49-F238E27FC236}">
                <a16:creationId xmlns:a16="http://schemas.microsoft.com/office/drawing/2014/main" id="{D0F91561-18E2-46D7-8DB2-06E1DFC7D191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dirty="0">
                <a:solidFill>
                  <a:srgbClr val="000000"/>
                </a:solidFill>
                <a:latin typeface="Symbol" panose="05050102010706020507" pitchFamily="18" charset="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____ _____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</p:txBody>
      </p:sp>
      <p:sp>
        <p:nvSpPr>
          <p:cNvPr id="145411" name="文本框 6">
            <a:extLst>
              <a:ext uri="{FF2B5EF4-FFF2-40B4-BE49-F238E27FC236}">
                <a16:creationId xmlns:a16="http://schemas.microsoft.com/office/drawing/2014/main" id="{EAB65537-5B2E-424F-9128-C1A64796A3C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终结符</a:t>
            </a:r>
          </a:p>
        </p:txBody>
      </p:sp>
      <p:sp>
        <p:nvSpPr>
          <p:cNvPr id="145412" name="文本框 7">
            <a:extLst>
              <a:ext uri="{FF2B5EF4-FFF2-40B4-BE49-F238E27FC236}">
                <a16:creationId xmlns:a16="http://schemas.microsoft.com/office/drawing/2014/main" id="{C274BB8B-38E6-4C04-8BE1-AEAE395627B6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非终结符</a:t>
            </a:r>
            <a:endParaRPr lang="zh-CN" altLang="en-US" sz="2600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3" name="文本框 8">
            <a:extLst>
              <a:ext uri="{FF2B5EF4-FFF2-40B4-BE49-F238E27FC236}">
                <a16:creationId xmlns:a16="http://schemas.microsoft.com/office/drawing/2014/main" id="{FE48D603-06D9-4B41-8B8B-8898877D86E1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空符号</a:t>
            </a:r>
          </a:p>
        </p:txBody>
      </p:sp>
      <p:sp>
        <p:nvSpPr>
          <p:cNvPr id="145414" name="文本框 9">
            <a:extLst>
              <a:ext uri="{FF2B5EF4-FFF2-40B4-BE49-F238E27FC236}">
                <a16:creationId xmlns:a16="http://schemas.microsoft.com/office/drawing/2014/main" id="{8B838FF8-D08D-4EFA-BA3F-F5422EB4360B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空字符串</a:t>
            </a:r>
            <a:endParaRPr lang="zh-CN" altLang="en-US" sz="2600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5" name="椭圆 10">
            <a:extLst>
              <a:ext uri="{FF2B5EF4-FFF2-40B4-BE49-F238E27FC236}">
                <a16:creationId xmlns:a16="http://schemas.microsoft.com/office/drawing/2014/main" id="{5B9FAEBD-B058-4D5C-854B-68F39143EFB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6" name="椭圆 11">
            <a:extLst>
              <a:ext uri="{FF2B5EF4-FFF2-40B4-BE49-F238E27FC236}">
                <a16:creationId xmlns:a16="http://schemas.microsoft.com/office/drawing/2014/main" id="{5497A87B-9772-4E65-A7D9-31CB0687923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7" name="椭圆 12">
            <a:extLst>
              <a:ext uri="{FF2B5EF4-FFF2-40B4-BE49-F238E27FC236}">
                <a16:creationId xmlns:a16="http://schemas.microsoft.com/office/drawing/2014/main" id="{832C8F45-5482-49F2-8988-E14A78C13B1D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8" name="椭圆 13">
            <a:extLst>
              <a:ext uri="{FF2B5EF4-FFF2-40B4-BE49-F238E27FC236}">
                <a16:creationId xmlns:a16="http://schemas.microsoft.com/office/drawing/2014/main" id="{675C1EEC-E67F-4EAD-B5EF-8E4DCA7A708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9" name="矩形: 圆角 14">
            <a:extLst>
              <a:ext uri="{FF2B5EF4-FFF2-40B4-BE49-F238E27FC236}">
                <a16:creationId xmlns:a16="http://schemas.microsoft.com/office/drawing/2014/main" id="{A58ECEEE-8069-4CFF-BD86-86DB54073B44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45420" name="组合 19">
            <a:extLst>
              <a:ext uri="{FF2B5EF4-FFF2-40B4-BE49-F238E27FC236}">
                <a16:creationId xmlns:a16="http://schemas.microsoft.com/office/drawing/2014/main" id="{50E2BA28-EC25-47FE-8265-9A15CA9305AD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5422" name="TitleBackground">
              <a:extLst>
                <a:ext uri="{FF2B5EF4-FFF2-40B4-BE49-F238E27FC236}">
                  <a16:creationId xmlns:a16="http://schemas.microsoft.com/office/drawing/2014/main" id="{22FBF776-37B2-42B7-86A6-EE929952525B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3" name="ColorBlock">
              <a:extLst>
                <a:ext uri="{FF2B5EF4-FFF2-40B4-BE49-F238E27FC236}">
                  <a16:creationId xmlns:a16="http://schemas.microsoft.com/office/drawing/2014/main" id="{2E3F721F-A699-4100-83BE-FDDF90E49712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4" name="TypeText">
              <a:extLst>
                <a:ext uri="{FF2B5EF4-FFF2-40B4-BE49-F238E27FC236}">
                  <a16:creationId xmlns:a16="http://schemas.microsoft.com/office/drawing/2014/main" id="{6EDD4AF2-3930-4FAB-A523-0D4BBD105F08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45425" name="TipText">
              <a:extLst>
                <a:ext uri="{FF2B5EF4-FFF2-40B4-BE49-F238E27FC236}">
                  <a16:creationId xmlns:a16="http://schemas.microsoft.com/office/drawing/2014/main" id="{85F82C6D-ECC8-4752-BCB9-66F0280A922E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45421" name="图片 4">
            <a:extLst>
              <a:ext uri="{FF2B5EF4-FFF2-40B4-BE49-F238E27FC236}">
                <a16:creationId xmlns:a16="http://schemas.microsoft.com/office/drawing/2014/main" id="{1D0EAB45-F77A-4E69-A32E-5BE99010C90C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文本框 5">
            <a:extLst>
              <a:ext uri="{FF2B5EF4-FFF2-40B4-BE49-F238E27FC236}">
                <a16:creationId xmlns:a16="http://schemas.microsoft.com/office/drawing/2014/main" id="{D0F91561-18E2-46D7-8DB2-06E1DFC7D191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3152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对下面</a:t>
            </a:r>
            <a:r>
              <a:rPr lang="en-US" altLang="zh-CN" sz="2600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CFG</a:t>
            </a:r>
            <a:r>
              <a:rPr lang="zh-CN" altLang="en-US" sz="2600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构造预测分析表，不正确的说法是</a:t>
            </a:r>
            <a:r>
              <a:rPr lang="en-US" altLang="zh-CN" sz="2600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____ _____</a:t>
            </a:r>
            <a:r>
              <a:rPr lang="zh-CN" altLang="en-US" sz="2600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Microsoft Yahei" panose="020B0503020204020204" pitchFamily="34" charset="-122"/>
              </a:rPr>
              <a:t>。</a:t>
            </a:r>
            <a:endParaRPr lang="en-US" altLang="zh-CN" sz="2600" dirty="0">
              <a:solidFill>
                <a:srgbClr val="000000"/>
              </a:solidFill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/>
              <a:t>S 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en-US" altLang="zh-CN" b="1" dirty="0"/>
              <a:t>  </a:t>
            </a:r>
            <a:r>
              <a:rPr lang="en-US" altLang="zh-CN" b="1" dirty="0" err="1"/>
              <a:t>i</a:t>
            </a:r>
            <a:r>
              <a:rPr lang="en-US" altLang="zh-CN" b="1" dirty="0"/>
              <a:t> E t SS’ | a	S’ 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en-US" altLang="zh-CN" b="1" dirty="0"/>
              <a:t> </a:t>
            </a:r>
            <a:r>
              <a:rPr lang="en-US" altLang="zh-CN" b="1" dirty="0" err="1"/>
              <a:t>eS</a:t>
            </a:r>
            <a:r>
              <a:rPr lang="en-US" altLang="zh-CN" b="1" dirty="0"/>
              <a:t> | </a:t>
            </a:r>
            <a:r>
              <a:rPr lang="en-US" altLang="zh-CN" b="1" dirty="0">
                <a:latin typeface="Symbol" panose="05050102010706020507" pitchFamily="18" charset="2"/>
              </a:rPr>
              <a:t>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/>
              <a:t>E 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en-US" altLang="zh-CN" b="1" dirty="0"/>
              <a:t> b</a:t>
            </a:r>
            <a:endParaRPr lang="zh-CN" altLang="en-US" sz="2600" dirty="0">
              <a:solidFill>
                <a:srgbClr val="000000"/>
              </a:solidFill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45411" name="文本框 6">
            <a:extLst>
              <a:ext uri="{FF2B5EF4-FFF2-40B4-BE49-F238E27FC236}">
                <a16:creationId xmlns:a16="http://schemas.microsoft.com/office/drawing/2014/main" id="{EAB65537-5B2E-424F-9128-C1A64796A3C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</a:rPr>
              <a:t>S </a:t>
            </a:r>
            <a:r>
              <a:rPr lang="en-US" altLang="zh-CN" sz="2600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</a:rPr>
              <a:t> a</a:t>
            </a:r>
            <a:r>
              <a:rPr lang="zh-CN" altLang="zh-CN" sz="2600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</a:rPr>
              <a:t>应填入列</a:t>
            </a:r>
            <a:r>
              <a:rPr lang="en-US" altLang="zh-CN" sz="2600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</a:rPr>
              <a:t>a</a:t>
            </a:r>
            <a:endParaRPr lang="zh-CN" altLang="en-US" sz="2600" dirty="0">
              <a:solidFill>
                <a:srgbClr val="000000"/>
              </a:solidFill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45412" name="文本框 7">
            <a:extLst>
              <a:ext uri="{FF2B5EF4-FFF2-40B4-BE49-F238E27FC236}">
                <a16:creationId xmlns:a16="http://schemas.microsoft.com/office/drawing/2014/main" id="{C274BB8B-38E6-4C04-8BE1-AEAE395627B6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</a:rPr>
              <a:t>S’ </a:t>
            </a:r>
            <a:r>
              <a:rPr lang="en-US" altLang="zh-CN" sz="2600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600" dirty="0" err="1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</a:rPr>
              <a:t>eS</a:t>
            </a:r>
            <a:r>
              <a:rPr lang="zh-CN" altLang="zh-CN" sz="2600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</a:rPr>
              <a:t>应填入列</a:t>
            </a:r>
            <a:r>
              <a:rPr lang="pt-BR" altLang="zh-CN" sz="2600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</a:rPr>
              <a:t>e</a:t>
            </a:r>
            <a:endParaRPr lang="zh-CN" altLang="en-US" sz="2600" dirty="0">
              <a:solidFill>
                <a:srgbClr val="000000"/>
              </a:solidFill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45413" name="文本框 8">
            <a:extLst>
              <a:ext uri="{FF2B5EF4-FFF2-40B4-BE49-F238E27FC236}">
                <a16:creationId xmlns:a16="http://schemas.microsoft.com/office/drawing/2014/main" id="{FE48D603-06D9-4B41-8B8B-8898877D86E1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</a:rPr>
              <a:t>S’ </a:t>
            </a:r>
            <a:r>
              <a:rPr lang="en-US" altLang="zh-CN" sz="2600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Symbol" panose="05050102010706020507" pitchFamily="18" charset="2"/>
              </a:rPr>
              <a:t>e</a:t>
            </a:r>
            <a:r>
              <a:rPr lang="zh-CN" altLang="zh-CN" sz="2600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</a:rPr>
              <a:t>应填入列</a:t>
            </a:r>
            <a:r>
              <a:rPr lang="en-US" altLang="zh-CN" sz="2800" b="1" dirty="0">
                <a:latin typeface="Symbol" panose="05050102010706020507" pitchFamily="18" charset="2"/>
              </a:rPr>
              <a:t>e</a:t>
            </a:r>
            <a:endParaRPr lang="zh-CN" altLang="en-US" sz="2600" dirty="0">
              <a:solidFill>
                <a:srgbClr val="000000"/>
              </a:solidFill>
              <a:ea typeface="Microsoft Yahei" panose="020B0503020204020204" pitchFamily="34" charset="-122"/>
              <a:cs typeface="Times New Roman" panose="02020603050405020304" pitchFamily="18" charset="0"/>
              <a:sym typeface="Microsoft Yahei" panose="020B0503020204020204" pitchFamily="34" charset="-122"/>
            </a:endParaRPr>
          </a:p>
        </p:txBody>
      </p:sp>
      <p:sp>
        <p:nvSpPr>
          <p:cNvPr id="145414" name="文本框 9">
            <a:extLst>
              <a:ext uri="{FF2B5EF4-FFF2-40B4-BE49-F238E27FC236}">
                <a16:creationId xmlns:a16="http://schemas.microsoft.com/office/drawing/2014/main" id="{8B838FF8-D08D-4EFA-BA3F-F5422EB4360B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</a:rPr>
              <a:t>S’ </a:t>
            </a:r>
            <a:r>
              <a:rPr lang="en-US" altLang="zh-CN" sz="2600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600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Symbol" panose="05050102010706020507" pitchFamily="18" charset="2"/>
              </a:rPr>
              <a:t>e</a:t>
            </a:r>
            <a:r>
              <a:rPr lang="zh-CN" altLang="zh-CN" sz="2600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</a:rPr>
              <a:t>应填入列</a:t>
            </a:r>
            <a:r>
              <a:rPr lang="en-US" altLang="zh-CN" sz="2600" dirty="0">
                <a:solidFill>
                  <a:srgbClr val="000000"/>
                </a:solidFill>
                <a:ea typeface="Microsoft Yahei" panose="020B0503020204020204" pitchFamily="34" charset="-122"/>
                <a:cs typeface="Times New Roman" panose="02020603050405020304" pitchFamily="18" charset="0"/>
              </a:rPr>
              <a:t>e</a:t>
            </a:r>
            <a:endParaRPr lang="zh-CN" altLang="en-US" sz="2600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5" name="椭圆 10">
            <a:extLst>
              <a:ext uri="{FF2B5EF4-FFF2-40B4-BE49-F238E27FC236}">
                <a16:creationId xmlns:a16="http://schemas.microsoft.com/office/drawing/2014/main" id="{5B9FAEBD-B058-4D5C-854B-68F39143EFB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6" name="椭圆 11">
            <a:extLst>
              <a:ext uri="{FF2B5EF4-FFF2-40B4-BE49-F238E27FC236}">
                <a16:creationId xmlns:a16="http://schemas.microsoft.com/office/drawing/2014/main" id="{5497A87B-9772-4E65-A7D9-31CB0687923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7" name="椭圆 12">
            <a:extLst>
              <a:ext uri="{FF2B5EF4-FFF2-40B4-BE49-F238E27FC236}">
                <a16:creationId xmlns:a16="http://schemas.microsoft.com/office/drawing/2014/main" id="{832C8F45-5482-49F2-8988-E14A78C13B1D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8" name="椭圆 13">
            <a:extLst>
              <a:ext uri="{FF2B5EF4-FFF2-40B4-BE49-F238E27FC236}">
                <a16:creationId xmlns:a16="http://schemas.microsoft.com/office/drawing/2014/main" id="{675C1EEC-E67F-4EAD-B5EF-8E4DCA7A708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9" name="矩形: 圆角 14">
            <a:extLst>
              <a:ext uri="{FF2B5EF4-FFF2-40B4-BE49-F238E27FC236}">
                <a16:creationId xmlns:a16="http://schemas.microsoft.com/office/drawing/2014/main" id="{A58ECEEE-8069-4CFF-BD86-86DB54073B44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45420" name="组合 19">
            <a:extLst>
              <a:ext uri="{FF2B5EF4-FFF2-40B4-BE49-F238E27FC236}">
                <a16:creationId xmlns:a16="http://schemas.microsoft.com/office/drawing/2014/main" id="{50E2BA28-EC25-47FE-8265-9A15CA9305AD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5422" name="TitleBackground">
              <a:extLst>
                <a:ext uri="{FF2B5EF4-FFF2-40B4-BE49-F238E27FC236}">
                  <a16:creationId xmlns:a16="http://schemas.microsoft.com/office/drawing/2014/main" id="{22FBF776-37B2-42B7-86A6-EE929952525B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3" name="ColorBlock">
              <a:extLst>
                <a:ext uri="{FF2B5EF4-FFF2-40B4-BE49-F238E27FC236}">
                  <a16:creationId xmlns:a16="http://schemas.microsoft.com/office/drawing/2014/main" id="{2E3F721F-A699-4100-83BE-FDDF90E49712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4" name="TypeText">
              <a:extLst>
                <a:ext uri="{FF2B5EF4-FFF2-40B4-BE49-F238E27FC236}">
                  <a16:creationId xmlns:a16="http://schemas.microsoft.com/office/drawing/2014/main" id="{6EDD4AF2-3930-4FAB-A523-0D4BBD105F08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45425" name="TipText">
              <a:extLst>
                <a:ext uri="{FF2B5EF4-FFF2-40B4-BE49-F238E27FC236}">
                  <a16:creationId xmlns:a16="http://schemas.microsoft.com/office/drawing/2014/main" id="{85F82C6D-ECC8-4752-BCB9-66F0280A922E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45421" name="图片 4">
            <a:extLst>
              <a:ext uri="{FF2B5EF4-FFF2-40B4-BE49-F238E27FC236}">
                <a16:creationId xmlns:a16="http://schemas.microsoft.com/office/drawing/2014/main" id="{1D0EAB45-F77A-4E69-A32E-5BE99010C90C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3915195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文本框 5">
            <a:extLst>
              <a:ext uri="{FF2B5EF4-FFF2-40B4-BE49-F238E27FC236}">
                <a16:creationId xmlns:a16="http://schemas.microsoft.com/office/drawing/2014/main" id="{D0F91561-18E2-46D7-8DB2-06E1DFC7D191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9756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对下面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CFG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，正确的说法是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____ _____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b="1" dirty="0"/>
              <a:t>S 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en-US" altLang="zh-CN" b="1" dirty="0"/>
              <a:t> </a:t>
            </a:r>
            <a:r>
              <a:rPr lang="pt-BR" altLang="zh-CN" b="1" dirty="0"/>
              <a:t>TU 		T 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en-US" altLang="zh-CN" b="1" dirty="0"/>
              <a:t> </a:t>
            </a:r>
            <a:r>
              <a:rPr lang="pt-BR" altLang="zh-CN" b="1" dirty="0"/>
              <a:t>0T1 | </a:t>
            </a:r>
            <a:r>
              <a:rPr lang="pt-BR" altLang="zh-CN" b="1" dirty="0">
                <a:latin typeface="Symbol" panose="05050102010706020507" pitchFamily="18" charset="2"/>
              </a:rPr>
              <a:t>e</a:t>
            </a:r>
            <a:r>
              <a:rPr lang="pt-BR" altLang="zh-CN" b="1" dirty="0"/>
              <a:t>	U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pt-BR" altLang="zh-CN" b="1" dirty="0"/>
              <a:t>1U0 | </a:t>
            </a:r>
            <a:r>
              <a:rPr lang="pt-BR" altLang="zh-CN" b="1" dirty="0">
                <a:latin typeface="Symbol" panose="05050102010706020507" pitchFamily="18" charset="2"/>
              </a:rPr>
              <a:t>e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1" name="文本框 6">
            <a:extLst>
              <a:ext uri="{FF2B5EF4-FFF2-40B4-BE49-F238E27FC236}">
                <a16:creationId xmlns:a16="http://schemas.microsoft.com/office/drawing/2014/main" id="{EAB65537-5B2E-424F-9128-C1A64796A3C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接受所有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个数相等的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串</a:t>
            </a:r>
          </a:p>
        </p:txBody>
      </p:sp>
      <p:sp>
        <p:nvSpPr>
          <p:cNvPr id="145412" name="文本框 7">
            <a:extLst>
              <a:ext uri="{FF2B5EF4-FFF2-40B4-BE49-F238E27FC236}">
                <a16:creationId xmlns:a16="http://schemas.microsoft.com/office/drawing/2014/main" id="{C274BB8B-38E6-4C04-8BE1-AEAE395627B6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存在等价的正则表达式</a:t>
            </a:r>
            <a:endParaRPr lang="zh-CN" altLang="en-US" sz="2600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3" name="文本框 8">
            <a:extLst>
              <a:ext uri="{FF2B5EF4-FFF2-40B4-BE49-F238E27FC236}">
                <a16:creationId xmlns:a16="http://schemas.microsoft.com/office/drawing/2014/main" id="{FE48D603-06D9-4B41-8B8B-8898877D86E1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LL(1)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文法</a:t>
            </a:r>
          </a:p>
        </p:txBody>
      </p:sp>
      <p:sp>
        <p:nvSpPr>
          <p:cNvPr id="145414" name="文本框 9">
            <a:extLst>
              <a:ext uri="{FF2B5EF4-FFF2-40B4-BE49-F238E27FC236}">
                <a16:creationId xmlns:a16="http://schemas.microsoft.com/office/drawing/2014/main" id="{8B838FF8-D08D-4EFA-BA3F-F5422EB4360B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是算符文法</a:t>
            </a:r>
            <a:endParaRPr lang="zh-CN" altLang="en-US" sz="2600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5" name="椭圆 10">
            <a:extLst>
              <a:ext uri="{FF2B5EF4-FFF2-40B4-BE49-F238E27FC236}">
                <a16:creationId xmlns:a16="http://schemas.microsoft.com/office/drawing/2014/main" id="{5B9FAEBD-B058-4D5C-854B-68F39143EFB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6" name="椭圆 11">
            <a:extLst>
              <a:ext uri="{FF2B5EF4-FFF2-40B4-BE49-F238E27FC236}">
                <a16:creationId xmlns:a16="http://schemas.microsoft.com/office/drawing/2014/main" id="{5497A87B-9772-4E65-A7D9-31CB0687923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7" name="椭圆 12">
            <a:extLst>
              <a:ext uri="{FF2B5EF4-FFF2-40B4-BE49-F238E27FC236}">
                <a16:creationId xmlns:a16="http://schemas.microsoft.com/office/drawing/2014/main" id="{832C8F45-5482-49F2-8988-E14A78C13B1D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8" name="椭圆 13">
            <a:extLst>
              <a:ext uri="{FF2B5EF4-FFF2-40B4-BE49-F238E27FC236}">
                <a16:creationId xmlns:a16="http://schemas.microsoft.com/office/drawing/2014/main" id="{675C1EEC-E67F-4EAD-B5EF-8E4DCA7A708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9" name="矩形: 圆角 14">
            <a:extLst>
              <a:ext uri="{FF2B5EF4-FFF2-40B4-BE49-F238E27FC236}">
                <a16:creationId xmlns:a16="http://schemas.microsoft.com/office/drawing/2014/main" id="{A58ECEEE-8069-4CFF-BD86-86DB54073B44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45420" name="组合 19">
            <a:extLst>
              <a:ext uri="{FF2B5EF4-FFF2-40B4-BE49-F238E27FC236}">
                <a16:creationId xmlns:a16="http://schemas.microsoft.com/office/drawing/2014/main" id="{50E2BA28-EC25-47FE-8265-9A15CA9305AD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5422" name="TitleBackground">
              <a:extLst>
                <a:ext uri="{FF2B5EF4-FFF2-40B4-BE49-F238E27FC236}">
                  <a16:creationId xmlns:a16="http://schemas.microsoft.com/office/drawing/2014/main" id="{22FBF776-37B2-42B7-86A6-EE929952525B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3" name="ColorBlock">
              <a:extLst>
                <a:ext uri="{FF2B5EF4-FFF2-40B4-BE49-F238E27FC236}">
                  <a16:creationId xmlns:a16="http://schemas.microsoft.com/office/drawing/2014/main" id="{2E3F721F-A699-4100-83BE-FDDF90E49712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4" name="TypeText">
              <a:extLst>
                <a:ext uri="{FF2B5EF4-FFF2-40B4-BE49-F238E27FC236}">
                  <a16:creationId xmlns:a16="http://schemas.microsoft.com/office/drawing/2014/main" id="{6EDD4AF2-3930-4FAB-A523-0D4BBD105F08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45425" name="TipText">
              <a:extLst>
                <a:ext uri="{FF2B5EF4-FFF2-40B4-BE49-F238E27FC236}">
                  <a16:creationId xmlns:a16="http://schemas.microsoft.com/office/drawing/2014/main" id="{85F82C6D-ECC8-4752-BCB9-66F0280A922E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45421" name="图片 4">
            <a:extLst>
              <a:ext uri="{FF2B5EF4-FFF2-40B4-BE49-F238E27FC236}">
                <a16:creationId xmlns:a16="http://schemas.microsoft.com/office/drawing/2014/main" id="{1D0EAB45-F77A-4E69-A32E-5BE99010C90C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747953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文本框 5">
            <a:extLst>
              <a:ext uri="{FF2B5EF4-FFF2-40B4-BE49-F238E27FC236}">
                <a16:creationId xmlns:a16="http://schemas.microsoft.com/office/drawing/2014/main" id="{D0F91561-18E2-46D7-8DB2-06E1DFC7D191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9756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文法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G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Symbol" panose="05050102010706020507" pitchFamily="18" charset="2"/>
              </a:rPr>
              <a:t>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xSx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| y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能够识别的语言是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____ _____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1" name="文本框 6">
            <a:extLst>
              <a:ext uri="{FF2B5EF4-FFF2-40B4-BE49-F238E27FC236}">
                <a16:creationId xmlns:a16="http://schemas.microsoft.com/office/drawing/2014/main" id="{EAB65537-5B2E-424F-9128-C1A64796A3C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dirty="0"/>
              <a:t>xyx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2" name="文本框 7">
            <a:extLst>
              <a:ext uri="{FF2B5EF4-FFF2-40B4-BE49-F238E27FC236}">
                <a16:creationId xmlns:a16="http://schemas.microsoft.com/office/drawing/2014/main" id="{C274BB8B-38E6-4C04-8BE1-AEAE395627B6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dirty="0"/>
              <a:t>(xyx)*</a:t>
            </a:r>
            <a:endParaRPr lang="zh-CN" altLang="en-US" sz="2600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3" name="文本框 8">
            <a:extLst>
              <a:ext uri="{FF2B5EF4-FFF2-40B4-BE49-F238E27FC236}">
                <a16:creationId xmlns:a16="http://schemas.microsoft.com/office/drawing/2014/main" id="{FE48D603-06D9-4B41-8B8B-8898877D86E1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dirty="0"/>
              <a:t>x</a:t>
            </a:r>
            <a:r>
              <a:rPr lang="pt-BR" altLang="zh-CN" baseline="30000" dirty="0"/>
              <a:t>n</a:t>
            </a:r>
            <a:r>
              <a:rPr lang="pt-BR" altLang="zh-CN" dirty="0"/>
              <a:t>yx</a:t>
            </a:r>
            <a:r>
              <a:rPr lang="pt-BR" altLang="zh-CN" baseline="30000" dirty="0"/>
              <a:t>n</a:t>
            </a:r>
            <a:r>
              <a:rPr lang="pt-BR" altLang="zh-CN" dirty="0"/>
              <a:t>(n&gt;=0)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4" name="文本框 9">
            <a:extLst>
              <a:ext uri="{FF2B5EF4-FFF2-40B4-BE49-F238E27FC236}">
                <a16:creationId xmlns:a16="http://schemas.microsoft.com/office/drawing/2014/main" id="{8B838FF8-D08D-4EFA-BA3F-F5422EB4360B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dirty="0"/>
              <a:t>x*yx*</a:t>
            </a:r>
            <a:endParaRPr lang="zh-CN" altLang="en-US" sz="2600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5" name="椭圆 10">
            <a:extLst>
              <a:ext uri="{FF2B5EF4-FFF2-40B4-BE49-F238E27FC236}">
                <a16:creationId xmlns:a16="http://schemas.microsoft.com/office/drawing/2014/main" id="{5B9FAEBD-B058-4D5C-854B-68F39143EFB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6" name="椭圆 11">
            <a:extLst>
              <a:ext uri="{FF2B5EF4-FFF2-40B4-BE49-F238E27FC236}">
                <a16:creationId xmlns:a16="http://schemas.microsoft.com/office/drawing/2014/main" id="{5497A87B-9772-4E65-A7D9-31CB0687923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7" name="椭圆 12">
            <a:extLst>
              <a:ext uri="{FF2B5EF4-FFF2-40B4-BE49-F238E27FC236}">
                <a16:creationId xmlns:a16="http://schemas.microsoft.com/office/drawing/2014/main" id="{832C8F45-5482-49F2-8988-E14A78C13B1D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8" name="椭圆 13">
            <a:extLst>
              <a:ext uri="{FF2B5EF4-FFF2-40B4-BE49-F238E27FC236}">
                <a16:creationId xmlns:a16="http://schemas.microsoft.com/office/drawing/2014/main" id="{675C1EEC-E67F-4EAD-B5EF-8E4DCA7A708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9" name="矩形: 圆角 14">
            <a:extLst>
              <a:ext uri="{FF2B5EF4-FFF2-40B4-BE49-F238E27FC236}">
                <a16:creationId xmlns:a16="http://schemas.microsoft.com/office/drawing/2014/main" id="{A58ECEEE-8069-4CFF-BD86-86DB54073B44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45420" name="组合 19">
            <a:extLst>
              <a:ext uri="{FF2B5EF4-FFF2-40B4-BE49-F238E27FC236}">
                <a16:creationId xmlns:a16="http://schemas.microsoft.com/office/drawing/2014/main" id="{50E2BA28-EC25-47FE-8265-9A15CA9305AD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5422" name="TitleBackground">
              <a:extLst>
                <a:ext uri="{FF2B5EF4-FFF2-40B4-BE49-F238E27FC236}">
                  <a16:creationId xmlns:a16="http://schemas.microsoft.com/office/drawing/2014/main" id="{22FBF776-37B2-42B7-86A6-EE929952525B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3" name="ColorBlock">
              <a:extLst>
                <a:ext uri="{FF2B5EF4-FFF2-40B4-BE49-F238E27FC236}">
                  <a16:creationId xmlns:a16="http://schemas.microsoft.com/office/drawing/2014/main" id="{2E3F721F-A699-4100-83BE-FDDF90E49712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4" name="TypeText">
              <a:extLst>
                <a:ext uri="{FF2B5EF4-FFF2-40B4-BE49-F238E27FC236}">
                  <a16:creationId xmlns:a16="http://schemas.microsoft.com/office/drawing/2014/main" id="{6EDD4AF2-3930-4FAB-A523-0D4BBD105F08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45425" name="TipText">
              <a:extLst>
                <a:ext uri="{FF2B5EF4-FFF2-40B4-BE49-F238E27FC236}">
                  <a16:creationId xmlns:a16="http://schemas.microsoft.com/office/drawing/2014/main" id="{85F82C6D-ECC8-4752-BCB9-66F0280A922E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45421" name="图片 4">
            <a:extLst>
              <a:ext uri="{FF2B5EF4-FFF2-40B4-BE49-F238E27FC236}">
                <a16:creationId xmlns:a16="http://schemas.microsoft.com/office/drawing/2014/main" id="{1D0EAB45-F77A-4E69-A32E-5BE99010C90C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4184981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文本框 5">
            <a:extLst>
              <a:ext uri="{FF2B5EF4-FFF2-40B4-BE49-F238E27FC236}">
                <a16:creationId xmlns:a16="http://schemas.microsoft.com/office/drawing/2014/main" id="{D0F91561-18E2-46D7-8DB2-06E1DFC7D191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9756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在进行同心集合并时可能会产生新的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____ _____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冲突。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1" name="文本框 6">
            <a:extLst>
              <a:ext uri="{FF2B5EF4-FFF2-40B4-BE49-F238E27FC236}">
                <a16:creationId xmlns:a16="http://schemas.microsoft.com/office/drawing/2014/main" id="{EAB65537-5B2E-424F-9128-C1A64796A3C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/>
              <a:t>移进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2" name="文本框 7">
            <a:extLst>
              <a:ext uri="{FF2B5EF4-FFF2-40B4-BE49-F238E27FC236}">
                <a16:creationId xmlns:a16="http://schemas.microsoft.com/office/drawing/2014/main" id="{C274BB8B-38E6-4C04-8BE1-AEAE395627B6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/>
              <a:t>归约</a:t>
            </a:r>
            <a:r>
              <a:rPr lang="en-US" altLang="zh-CN" dirty="0"/>
              <a:t>/</a:t>
            </a:r>
            <a:r>
              <a:rPr lang="zh-CN" altLang="en-US" dirty="0"/>
              <a:t>归约</a:t>
            </a:r>
            <a:endParaRPr lang="zh-CN" altLang="en-US" sz="2600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3" name="文本框 8">
            <a:extLst>
              <a:ext uri="{FF2B5EF4-FFF2-40B4-BE49-F238E27FC236}">
                <a16:creationId xmlns:a16="http://schemas.microsoft.com/office/drawing/2014/main" id="{FE48D603-06D9-4B41-8B8B-8898877D86E1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/>
              <a:t>归约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4" name="文本框 9">
            <a:extLst>
              <a:ext uri="{FF2B5EF4-FFF2-40B4-BE49-F238E27FC236}">
                <a16:creationId xmlns:a16="http://schemas.microsoft.com/office/drawing/2014/main" id="{8B838FF8-D08D-4EFA-BA3F-F5422EB4360B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/>
              <a:t>移进</a:t>
            </a:r>
            <a:r>
              <a:rPr lang="en-US" altLang="zh-CN" dirty="0"/>
              <a:t>/</a:t>
            </a:r>
            <a:r>
              <a:rPr lang="zh-CN" altLang="en-US" dirty="0"/>
              <a:t>归约</a:t>
            </a:r>
            <a:endParaRPr lang="zh-CN" altLang="en-US" sz="2600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5" name="椭圆 10">
            <a:extLst>
              <a:ext uri="{FF2B5EF4-FFF2-40B4-BE49-F238E27FC236}">
                <a16:creationId xmlns:a16="http://schemas.microsoft.com/office/drawing/2014/main" id="{5B9FAEBD-B058-4D5C-854B-68F39143EFB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6" name="椭圆 11">
            <a:extLst>
              <a:ext uri="{FF2B5EF4-FFF2-40B4-BE49-F238E27FC236}">
                <a16:creationId xmlns:a16="http://schemas.microsoft.com/office/drawing/2014/main" id="{5497A87B-9772-4E65-A7D9-31CB0687923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7" name="椭圆 12">
            <a:extLst>
              <a:ext uri="{FF2B5EF4-FFF2-40B4-BE49-F238E27FC236}">
                <a16:creationId xmlns:a16="http://schemas.microsoft.com/office/drawing/2014/main" id="{832C8F45-5482-49F2-8988-E14A78C13B1D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8" name="椭圆 13">
            <a:extLst>
              <a:ext uri="{FF2B5EF4-FFF2-40B4-BE49-F238E27FC236}">
                <a16:creationId xmlns:a16="http://schemas.microsoft.com/office/drawing/2014/main" id="{675C1EEC-E67F-4EAD-B5EF-8E4DCA7A708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9" name="矩形: 圆角 14">
            <a:extLst>
              <a:ext uri="{FF2B5EF4-FFF2-40B4-BE49-F238E27FC236}">
                <a16:creationId xmlns:a16="http://schemas.microsoft.com/office/drawing/2014/main" id="{A58ECEEE-8069-4CFF-BD86-86DB54073B44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45420" name="组合 19">
            <a:extLst>
              <a:ext uri="{FF2B5EF4-FFF2-40B4-BE49-F238E27FC236}">
                <a16:creationId xmlns:a16="http://schemas.microsoft.com/office/drawing/2014/main" id="{50E2BA28-EC25-47FE-8265-9A15CA9305AD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5422" name="TitleBackground">
              <a:extLst>
                <a:ext uri="{FF2B5EF4-FFF2-40B4-BE49-F238E27FC236}">
                  <a16:creationId xmlns:a16="http://schemas.microsoft.com/office/drawing/2014/main" id="{22FBF776-37B2-42B7-86A6-EE929952525B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3" name="ColorBlock">
              <a:extLst>
                <a:ext uri="{FF2B5EF4-FFF2-40B4-BE49-F238E27FC236}">
                  <a16:creationId xmlns:a16="http://schemas.microsoft.com/office/drawing/2014/main" id="{2E3F721F-A699-4100-83BE-FDDF90E49712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4" name="TypeText">
              <a:extLst>
                <a:ext uri="{FF2B5EF4-FFF2-40B4-BE49-F238E27FC236}">
                  <a16:creationId xmlns:a16="http://schemas.microsoft.com/office/drawing/2014/main" id="{6EDD4AF2-3930-4FAB-A523-0D4BBD105F08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45425" name="TipText">
              <a:extLst>
                <a:ext uri="{FF2B5EF4-FFF2-40B4-BE49-F238E27FC236}">
                  <a16:creationId xmlns:a16="http://schemas.microsoft.com/office/drawing/2014/main" id="{85F82C6D-ECC8-4752-BCB9-66F0280A922E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45421" name="图片 4">
            <a:extLst>
              <a:ext uri="{FF2B5EF4-FFF2-40B4-BE49-F238E27FC236}">
                <a16:creationId xmlns:a16="http://schemas.microsoft.com/office/drawing/2014/main" id="{1D0EAB45-F77A-4E69-A32E-5BE99010C90C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6972160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文本框 5">
            <a:extLst>
              <a:ext uri="{FF2B5EF4-FFF2-40B4-BE49-F238E27FC236}">
                <a16:creationId xmlns:a16="http://schemas.microsoft.com/office/drawing/2014/main" id="{D0F91561-18E2-46D7-8DB2-06E1DFC7D191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9756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在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LR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语法分析栈中存放的状态是识别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____ _____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DFA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状态。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1" name="文本框 6">
            <a:extLst>
              <a:ext uri="{FF2B5EF4-FFF2-40B4-BE49-F238E27FC236}">
                <a16:creationId xmlns:a16="http://schemas.microsoft.com/office/drawing/2014/main" id="{EAB65537-5B2E-424F-9128-C1A64796A3C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最右句型</a:t>
            </a:r>
          </a:p>
        </p:txBody>
      </p:sp>
      <p:sp>
        <p:nvSpPr>
          <p:cNvPr id="145412" name="文本框 7">
            <a:extLst>
              <a:ext uri="{FF2B5EF4-FFF2-40B4-BE49-F238E27FC236}">
                <a16:creationId xmlns:a16="http://schemas.microsoft.com/office/drawing/2014/main" id="{C274BB8B-38E6-4C04-8BE1-AEAE395627B6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最右句柄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3" name="文本框 8">
            <a:extLst>
              <a:ext uri="{FF2B5EF4-FFF2-40B4-BE49-F238E27FC236}">
                <a16:creationId xmlns:a16="http://schemas.microsoft.com/office/drawing/2014/main" id="{FE48D603-06D9-4B41-8B8B-8898877D86E1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活前缀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4" name="文本框 9">
            <a:extLst>
              <a:ext uri="{FF2B5EF4-FFF2-40B4-BE49-F238E27FC236}">
                <a16:creationId xmlns:a16="http://schemas.microsoft.com/office/drawing/2014/main" id="{8B838FF8-D08D-4EFA-BA3F-F5422EB4360B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项目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5" name="椭圆 10">
            <a:extLst>
              <a:ext uri="{FF2B5EF4-FFF2-40B4-BE49-F238E27FC236}">
                <a16:creationId xmlns:a16="http://schemas.microsoft.com/office/drawing/2014/main" id="{5B9FAEBD-B058-4D5C-854B-68F39143EFB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6" name="椭圆 11">
            <a:extLst>
              <a:ext uri="{FF2B5EF4-FFF2-40B4-BE49-F238E27FC236}">
                <a16:creationId xmlns:a16="http://schemas.microsoft.com/office/drawing/2014/main" id="{5497A87B-9772-4E65-A7D9-31CB0687923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7" name="椭圆 12">
            <a:extLst>
              <a:ext uri="{FF2B5EF4-FFF2-40B4-BE49-F238E27FC236}">
                <a16:creationId xmlns:a16="http://schemas.microsoft.com/office/drawing/2014/main" id="{832C8F45-5482-49F2-8988-E14A78C13B1D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8" name="椭圆 13">
            <a:extLst>
              <a:ext uri="{FF2B5EF4-FFF2-40B4-BE49-F238E27FC236}">
                <a16:creationId xmlns:a16="http://schemas.microsoft.com/office/drawing/2014/main" id="{675C1EEC-E67F-4EAD-B5EF-8E4DCA7A708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9" name="矩形: 圆角 14">
            <a:extLst>
              <a:ext uri="{FF2B5EF4-FFF2-40B4-BE49-F238E27FC236}">
                <a16:creationId xmlns:a16="http://schemas.microsoft.com/office/drawing/2014/main" id="{A58ECEEE-8069-4CFF-BD86-86DB54073B44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45420" name="组合 19">
            <a:extLst>
              <a:ext uri="{FF2B5EF4-FFF2-40B4-BE49-F238E27FC236}">
                <a16:creationId xmlns:a16="http://schemas.microsoft.com/office/drawing/2014/main" id="{50E2BA28-EC25-47FE-8265-9A15CA9305AD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5422" name="TitleBackground">
              <a:extLst>
                <a:ext uri="{FF2B5EF4-FFF2-40B4-BE49-F238E27FC236}">
                  <a16:creationId xmlns:a16="http://schemas.microsoft.com/office/drawing/2014/main" id="{22FBF776-37B2-42B7-86A6-EE929952525B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3" name="ColorBlock">
              <a:extLst>
                <a:ext uri="{FF2B5EF4-FFF2-40B4-BE49-F238E27FC236}">
                  <a16:creationId xmlns:a16="http://schemas.microsoft.com/office/drawing/2014/main" id="{2E3F721F-A699-4100-83BE-FDDF90E49712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4" name="TypeText">
              <a:extLst>
                <a:ext uri="{FF2B5EF4-FFF2-40B4-BE49-F238E27FC236}">
                  <a16:creationId xmlns:a16="http://schemas.microsoft.com/office/drawing/2014/main" id="{6EDD4AF2-3930-4FAB-A523-0D4BBD105F08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45425" name="TipText">
              <a:extLst>
                <a:ext uri="{FF2B5EF4-FFF2-40B4-BE49-F238E27FC236}">
                  <a16:creationId xmlns:a16="http://schemas.microsoft.com/office/drawing/2014/main" id="{85F82C6D-ECC8-4752-BCB9-66F0280A922E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45421" name="图片 4">
            <a:extLst>
              <a:ext uri="{FF2B5EF4-FFF2-40B4-BE49-F238E27FC236}">
                <a16:creationId xmlns:a16="http://schemas.microsoft.com/office/drawing/2014/main" id="{1D0EAB45-F77A-4E69-A32E-5BE99010C90C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636467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文本框 5">
            <a:extLst>
              <a:ext uri="{FF2B5EF4-FFF2-40B4-BE49-F238E27FC236}">
                <a16:creationId xmlns:a16="http://schemas.microsoft.com/office/drawing/2014/main" id="{D0F91561-18E2-46D7-8DB2-06E1DFC7D191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9756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上下文无关文法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____ _____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产生语言</a:t>
            </a:r>
            <a:r>
              <a:rPr lang="pt-BR" altLang="zh-CN" dirty="0"/>
              <a:t>L={a</a:t>
            </a:r>
            <a:r>
              <a:rPr lang="pt-BR" altLang="zh-CN" baseline="30000" dirty="0"/>
              <a:t>n</a:t>
            </a:r>
            <a:r>
              <a:rPr lang="pt-BR" altLang="zh-CN" dirty="0"/>
              <a:t>b</a:t>
            </a:r>
            <a:r>
              <a:rPr lang="pt-BR" altLang="zh-CN" baseline="30000" dirty="0"/>
              <a:t>n</a:t>
            </a:r>
            <a:r>
              <a:rPr lang="pt-BR" altLang="zh-CN" dirty="0"/>
              <a:t>c</a:t>
            </a:r>
            <a:r>
              <a:rPr lang="pt-BR" altLang="zh-CN" baseline="30000" dirty="0"/>
              <a:t>i</a:t>
            </a:r>
            <a:r>
              <a:rPr lang="pt-BR" altLang="zh-CN" dirty="0"/>
              <a:t>|i&gt;=1,n&gt;=1}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1" name="文本框 6">
            <a:extLst>
              <a:ext uri="{FF2B5EF4-FFF2-40B4-BE49-F238E27FC236}">
                <a16:creationId xmlns:a16="http://schemas.microsoft.com/office/drawing/2014/main" id="{EAB65537-5B2E-424F-9128-C1A64796A3C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/>
              <a:t>可以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2" name="文本框 7">
            <a:extLst>
              <a:ext uri="{FF2B5EF4-FFF2-40B4-BE49-F238E27FC236}">
                <a16:creationId xmlns:a16="http://schemas.microsoft.com/office/drawing/2014/main" id="{C274BB8B-38E6-4C04-8BE1-AEAE395627B6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dirty="0"/>
              <a:t>不可以</a:t>
            </a:r>
            <a:endParaRPr lang="zh-CN" altLang="en-US" sz="2600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5" name="椭圆 10">
            <a:extLst>
              <a:ext uri="{FF2B5EF4-FFF2-40B4-BE49-F238E27FC236}">
                <a16:creationId xmlns:a16="http://schemas.microsoft.com/office/drawing/2014/main" id="{5B9FAEBD-B058-4D5C-854B-68F39143EFBE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6" name="椭圆 11">
            <a:extLst>
              <a:ext uri="{FF2B5EF4-FFF2-40B4-BE49-F238E27FC236}">
                <a16:creationId xmlns:a16="http://schemas.microsoft.com/office/drawing/2014/main" id="{5497A87B-9772-4E65-A7D9-31CB06879237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9" name="矩形: 圆角 14">
            <a:extLst>
              <a:ext uri="{FF2B5EF4-FFF2-40B4-BE49-F238E27FC236}">
                <a16:creationId xmlns:a16="http://schemas.microsoft.com/office/drawing/2014/main" id="{A58ECEEE-8069-4CFF-BD86-86DB54073B44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45420" name="组合 19">
            <a:extLst>
              <a:ext uri="{FF2B5EF4-FFF2-40B4-BE49-F238E27FC236}">
                <a16:creationId xmlns:a16="http://schemas.microsoft.com/office/drawing/2014/main" id="{50E2BA28-EC25-47FE-8265-9A15CA9305AD}"/>
              </a:ext>
            </a:extLst>
          </p:cNvPr>
          <p:cNvGrpSpPr>
            <a:grpSpLocks/>
          </p:cNvGrpSpPr>
          <p:nvPr>
            <p:custDataLst>
              <p:tags r:id="rId8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5422" name="TitleBackground">
              <a:extLst>
                <a:ext uri="{FF2B5EF4-FFF2-40B4-BE49-F238E27FC236}">
                  <a16:creationId xmlns:a16="http://schemas.microsoft.com/office/drawing/2014/main" id="{22FBF776-37B2-42B7-86A6-EE929952525B}"/>
                </a:ext>
              </a:extLst>
            </p:cNvPr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3" name="ColorBlock">
              <a:extLst>
                <a:ext uri="{FF2B5EF4-FFF2-40B4-BE49-F238E27FC236}">
                  <a16:creationId xmlns:a16="http://schemas.microsoft.com/office/drawing/2014/main" id="{2E3F721F-A699-4100-83BE-FDDF90E49712}"/>
                </a:ext>
              </a:extLst>
            </p:cNvPr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4" name="TypeText">
              <a:extLst>
                <a:ext uri="{FF2B5EF4-FFF2-40B4-BE49-F238E27FC236}">
                  <a16:creationId xmlns:a16="http://schemas.microsoft.com/office/drawing/2014/main" id="{6EDD4AF2-3930-4FAB-A523-0D4BBD105F08}"/>
                </a:ext>
              </a:extLst>
            </p:cNvPr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45425" name="TipText">
              <a:extLst>
                <a:ext uri="{FF2B5EF4-FFF2-40B4-BE49-F238E27FC236}">
                  <a16:creationId xmlns:a16="http://schemas.microsoft.com/office/drawing/2014/main" id="{85F82C6D-ECC8-4752-BCB9-66F0280A922E}"/>
                </a:ext>
              </a:extLst>
            </p:cNvPr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45421" name="图片 4">
            <a:extLst>
              <a:ext uri="{FF2B5EF4-FFF2-40B4-BE49-F238E27FC236}">
                <a16:creationId xmlns:a16="http://schemas.microsoft.com/office/drawing/2014/main" id="{1D0EAB45-F77A-4E69-A32E-5BE99010C90C}"/>
              </a:ext>
            </a:extLst>
          </p:cNvPr>
          <p:cNvPicPr>
            <a:picLocks noChangeArrowheads="1"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4505572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文本框 5">
            <a:extLst>
              <a:ext uri="{FF2B5EF4-FFF2-40B4-BE49-F238E27FC236}">
                <a16:creationId xmlns:a16="http://schemas.microsoft.com/office/drawing/2014/main" id="{D0F91561-18E2-46D7-8DB2-06E1DFC7D191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9756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对下面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CFG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，说法错误的是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____ _____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b="1" dirty="0"/>
              <a:t>E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pt-BR" altLang="zh-CN" b="1" dirty="0"/>
              <a:t> E+E | E*E | (E) | id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1" name="文本框 6">
            <a:extLst>
              <a:ext uri="{FF2B5EF4-FFF2-40B4-BE49-F238E27FC236}">
                <a16:creationId xmlns:a16="http://schemas.microsoft.com/office/drawing/2014/main" id="{EAB65537-5B2E-424F-9128-C1A64796A3C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消除左递归后即可用预测分析法进行分析</a:t>
            </a:r>
          </a:p>
        </p:txBody>
      </p:sp>
      <p:sp>
        <p:nvSpPr>
          <p:cNvPr id="145412" name="文本框 7">
            <a:extLst>
              <a:ext uri="{FF2B5EF4-FFF2-40B4-BE49-F238E27FC236}">
                <a16:creationId xmlns:a16="http://schemas.microsoft.com/office/drawing/2014/main" id="{C274BB8B-38E6-4C04-8BE1-AEAE395627B6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可用算符优先分析算法进行分析</a:t>
            </a:r>
            <a:endParaRPr lang="zh-CN" altLang="en-US" sz="2600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3" name="文本框 8">
            <a:extLst>
              <a:ext uri="{FF2B5EF4-FFF2-40B4-BE49-F238E27FC236}">
                <a16:creationId xmlns:a16="http://schemas.microsoft.com/office/drawing/2014/main" id="{FE48D603-06D9-4B41-8B8B-8898877D86E1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可消除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LR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分析表中冲突，从而用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SLR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分析</a:t>
            </a:r>
          </a:p>
        </p:txBody>
      </p:sp>
      <p:sp>
        <p:nvSpPr>
          <p:cNvPr id="145414" name="文本框 9">
            <a:extLst>
              <a:ext uri="{FF2B5EF4-FFF2-40B4-BE49-F238E27FC236}">
                <a16:creationId xmlns:a16="http://schemas.microsoft.com/office/drawing/2014/main" id="{8B838FF8-D08D-4EFA-BA3F-F5422EB4360B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是二义性文法</a:t>
            </a:r>
            <a:endParaRPr lang="zh-CN" altLang="en-US" sz="2600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5" name="椭圆 10">
            <a:extLst>
              <a:ext uri="{FF2B5EF4-FFF2-40B4-BE49-F238E27FC236}">
                <a16:creationId xmlns:a16="http://schemas.microsoft.com/office/drawing/2014/main" id="{5B9FAEBD-B058-4D5C-854B-68F39143EFB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6" name="椭圆 11">
            <a:extLst>
              <a:ext uri="{FF2B5EF4-FFF2-40B4-BE49-F238E27FC236}">
                <a16:creationId xmlns:a16="http://schemas.microsoft.com/office/drawing/2014/main" id="{5497A87B-9772-4E65-A7D9-31CB0687923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7" name="椭圆 12">
            <a:extLst>
              <a:ext uri="{FF2B5EF4-FFF2-40B4-BE49-F238E27FC236}">
                <a16:creationId xmlns:a16="http://schemas.microsoft.com/office/drawing/2014/main" id="{832C8F45-5482-49F2-8988-E14A78C13B1D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8" name="椭圆 13">
            <a:extLst>
              <a:ext uri="{FF2B5EF4-FFF2-40B4-BE49-F238E27FC236}">
                <a16:creationId xmlns:a16="http://schemas.microsoft.com/office/drawing/2014/main" id="{675C1EEC-E67F-4EAD-B5EF-8E4DCA7A708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9" name="矩形: 圆角 14">
            <a:extLst>
              <a:ext uri="{FF2B5EF4-FFF2-40B4-BE49-F238E27FC236}">
                <a16:creationId xmlns:a16="http://schemas.microsoft.com/office/drawing/2014/main" id="{A58ECEEE-8069-4CFF-BD86-86DB54073B44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45420" name="组合 19">
            <a:extLst>
              <a:ext uri="{FF2B5EF4-FFF2-40B4-BE49-F238E27FC236}">
                <a16:creationId xmlns:a16="http://schemas.microsoft.com/office/drawing/2014/main" id="{50E2BA28-EC25-47FE-8265-9A15CA9305AD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5422" name="TitleBackground">
              <a:extLst>
                <a:ext uri="{FF2B5EF4-FFF2-40B4-BE49-F238E27FC236}">
                  <a16:creationId xmlns:a16="http://schemas.microsoft.com/office/drawing/2014/main" id="{22FBF776-37B2-42B7-86A6-EE929952525B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3" name="ColorBlock">
              <a:extLst>
                <a:ext uri="{FF2B5EF4-FFF2-40B4-BE49-F238E27FC236}">
                  <a16:creationId xmlns:a16="http://schemas.microsoft.com/office/drawing/2014/main" id="{2E3F721F-A699-4100-83BE-FDDF90E49712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4" name="TypeText">
              <a:extLst>
                <a:ext uri="{FF2B5EF4-FFF2-40B4-BE49-F238E27FC236}">
                  <a16:creationId xmlns:a16="http://schemas.microsoft.com/office/drawing/2014/main" id="{6EDD4AF2-3930-4FAB-A523-0D4BBD105F08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45425" name="TipText">
              <a:extLst>
                <a:ext uri="{FF2B5EF4-FFF2-40B4-BE49-F238E27FC236}">
                  <a16:creationId xmlns:a16="http://schemas.microsoft.com/office/drawing/2014/main" id="{85F82C6D-ECC8-4752-BCB9-66F0280A922E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45421" name="图片 4">
            <a:extLst>
              <a:ext uri="{FF2B5EF4-FFF2-40B4-BE49-F238E27FC236}">
                <a16:creationId xmlns:a16="http://schemas.microsoft.com/office/drawing/2014/main" id="{1D0EAB45-F77A-4E69-A32E-5BE99010C90C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9606818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文本框 5">
            <a:extLst>
              <a:ext uri="{FF2B5EF4-FFF2-40B4-BE49-F238E27FC236}">
                <a16:creationId xmlns:a16="http://schemas.microsoft.com/office/drawing/2014/main" id="{D0F91561-18E2-46D7-8DB2-06E1DFC7D191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9756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对下面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CFG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，说法错误的是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____ _____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b="1" dirty="0"/>
              <a:t>S 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pt-BR" altLang="zh-CN" b="1" dirty="0"/>
              <a:t> aA	A 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pt-BR" altLang="zh-CN" b="1" dirty="0"/>
              <a:t> Bb	 B 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pt-BR" altLang="zh-CN" b="1" dirty="0"/>
              <a:t> Ba</a:t>
            </a:r>
            <a:r>
              <a:rPr lang="en-US" altLang="zh-CN" b="1" dirty="0"/>
              <a:t> | a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b="1" dirty="0"/>
              <a:t>C 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en-US" altLang="zh-CN" b="1" dirty="0"/>
              <a:t> Ab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1" name="文本框 6">
            <a:extLst>
              <a:ext uri="{FF2B5EF4-FFF2-40B4-BE49-F238E27FC236}">
                <a16:creationId xmlns:a16="http://schemas.microsoft.com/office/drawing/2014/main" id="{EAB65537-5B2E-424F-9128-C1A64796A3C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是无用的</a:t>
            </a:r>
          </a:p>
        </p:txBody>
      </p:sp>
      <p:sp>
        <p:nvSpPr>
          <p:cNvPr id="145412" name="文本框 7">
            <a:extLst>
              <a:ext uri="{FF2B5EF4-FFF2-40B4-BE49-F238E27FC236}">
                <a16:creationId xmlns:a16="http://schemas.microsoft.com/office/drawing/2014/main" id="{C274BB8B-38E6-4C04-8BE1-AEAE395627B6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aa</a:t>
            </a:r>
            <a:r>
              <a:rPr lang="pt-BR" altLang="zh-CN" sz="26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+</a:t>
            </a:r>
            <a:r>
              <a:rPr lang="pt-BR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对应相同的语言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3" name="文本框 8">
            <a:extLst>
              <a:ext uri="{FF2B5EF4-FFF2-40B4-BE49-F238E27FC236}">
                <a16:creationId xmlns:a16="http://schemas.microsoft.com/office/drawing/2014/main" id="{FE48D603-06D9-4B41-8B8B-8898877D86E1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是算符文法</a:t>
            </a:r>
          </a:p>
        </p:txBody>
      </p:sp>
      <p:sp>
        <p:nvSpPr>
          <p:cNvPr id="145414" name="文本框 9">
            <a:extLst>
              <a:ext uri="{FF2B5EF4-FFF2-40B4-BE49-F238E27FC236}">
                <a16:creationId xmlns:a16="http://schemas.microsoft.com/office/drawing/2014/main" id="{8B838FF8-D08D-4EFA-BA3F-F5422EB4360B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aaab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是其活前缀</a:t>
            </a:r>
            <a:endParaRPr lang="zh-CN" altLang="en-US" sz="2600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5" name="椭圆 10">
            <a:extLst>
              <a:ext uri="{FF2B5EF4-FFF2-40B4-BE49-F238E27FC236}">
                <a16:creationId xmlns:a16="http://schemas.microsoft.com/office/drawing/2014/main" id="{5B9FAEBD-B058-4D5C-854B-68F39143EFB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6" name="椭圆 11">
            <a:extLst>
              <a:ext uri="{FF2B5EF4-FFF2-40B4-BE49-F238E27FC236}">
                <a16:creationId xmlns:a16="http://schemas.microsoft.com/office/drawing/2014/main" id="{5497A87B-9772-4E65-A7D9-31CB0687923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7" name="椭圆 12">
            <a:extLst>
              <a:ext uri="{FF2B5EF4-FFF2-40B4-BE49-F238E27FC236}">
                <a16:creationId xmlns:a16="http://schemas.microsoft.com/office/drawing/2014/main" id="{832C8F45-5482-49F2-8988-E14A78C13B1D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8" name="椭圆 13">
            <a:extLst>
              <a:ext uri="{FF2B5EF4-FFF2-40B4-BE49-F238E27FC236}">
                <a16:creationId xmlns:a16="http://schemas.microsoft.com/office/drawing/2014/main" id="{675C1EEC-E67F-4EAD-B5EF-8E4DCA7A708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9" name="矩形: 圆角 14">
            <a:extLst>
              <a:ext uri="{FF2B5EF4-FFF2-40B4-BE49-F238E27FC236}">
                <a16:creationId xmlns:a16="http://schemas.microsoft.com/office/drawing/2014/main" id="{A58ECEEE-8069-4CFF-BD86-86DB54073B44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45420" name="组合 19">
            <a:extLst>
              <a:ext uri="{FF2B5EF4-FFF2-40B4-BE49-F238E27FC236}">
                <a16:creationId xmlns:a16="http://schemas.microsoft.com/office/drawing/2014/main" id="{50E2BA28-EC25-47FE-8265-9A15CA9305AD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5422" name="TitleBackground">
              <a:extLst>
                <a:ext uri="{FF2B5EF4-FFF2-40B4-BE49-F238E27FC236}">
                  <a16:creationId xmlns:a16="http://schemas.microsoft.com/office/drawing/2014/main" id="{22FBF776-37B2-42B7-86A6-EE929952525B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3" name="ColorBlock">
              <a:extLst>
                <a:ext uri="{FF2B5EF4-FFF2-40B4-BE49-F238E27FC236}">
                  <a16:creationId xmlns:a16="http://schemas.microsoft.com/office/drawing/2014/main" id="{2E3F721F-A699-4100-83BE-FDDF90E49712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4" name="TypeText">
              <a:extLst>
                <a:ext uri="{FF2B5EF4-FFF2-40B4-BE49-F238E27FC236}">
                  <a16:creationId xmlns:a16="http://schemas.microsoft.com/office/drawing/2014/main" id="{6EDD4AF2-3930-4FAB-A523-0D4BBD105F08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45425" name="TipText">
              <a:extLst>
                <a:ext uri="{FF2B5EF4-FFF2-40B4-BE49-F238E27FC236}">
                  <a16:creationId xmlns:a16="http://schemas.microsoft.com/office/drawing/2014/main" id="{85F82C6D-ECC8-4752-BCB9-66F0280A922E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45421" name="图片 4">
            <a:extLst>
              <a:ext uri="{FF2B5EF4-FFF2-40B4-BE49-F238E27FC236}">
                <a16:creationId xmlns:a16="http://schemas.microsoft.com/office/drawing/2014/main" id="{1D0EAB45-F77A-4E69-A32E-5BE99010C90C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5243111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文本框 5">
            <a:extLst>
              <a:ext uri="{FF2B5EF4-FFF2-40B4-BE49-F238E27FC236}">
                <a16:creationId xmlns:a16="http://schemas.microsoft.com/office/drawing/2014/main" id="{D0F91561-18E2-46D7-8DB2-06E1DFC7D191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9756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用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DAG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表示下面表达式，需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____ _____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个结点。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b="1" dirty="0"/>
              <a:t>a + (a + a + a * (a + a)) * a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1" name="文本框 6">
            <a:extLst>
              <a:ext uri="{FF2B5EF4-FFF2-40B4-BE49-F238E27FC236}">
                <a16:creationId xmlns:a16="http://schemas.microsoft.com/office/drawing/2014/main" id="{EAB65537-5B2E-424F-9128-C1A64796A3C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2" name="文本框 7">
            <a:extLst>
              <a:ext uri="{FF2B5EF4-FFF2-40B4-BE49-F238E27FC236}">
                <a16:creationId xmlns:a16="http://schemas.microsoft.com/office/drawing/2014/main" id="{C274BB8B-38E6-4C04-8BE1-AEAE395627B6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3" name="文本框 8">
            <a:extLst>
              <a:ext uri="{FF2B5EF4-FFF2-40B4-BE49-F238E27FC236}">
                <a16:creationId xmlns:a16="http://schemas.microsoft.com/office/drawing/2014/main" id="{FE48D603-06D9-4B41-8B8B-8898877D86E1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4" name="文本框 9">
            <a:extLst>
              <a:ext uri="{FF2B5EF4-FFF2-40B4-BE49-F238E27FC236}">
                <a16:creationId xmlns:a16="http://schemas.microsoft.com/office/drawing/2014/main" id="{8B838FF8-D08D-4EFA-BA3F-F5422EB4360B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7</a:t>
            </a:r>
            <a:endParaRPr lang="zh-CN" altLang="en-US" sz="2600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5" name="椭圆 10">
            <a:extLst>
              <a:ext uri="{FF2B5EF4-FFF2-40B4-BE49-F238E27FC236}">
                <a16:creationId xmlns:a16="http://schemas.microsoft.com/office/drawing/2014/main" id="{5B9FAEBD-B058-4D5C-854B-68F39143EFB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6" name="椭圆 11">
            <a:extLst>
              <a:ext uri="{FF2B5EF4-FFF2-40B4-BE49-F238E27FC236}">
                <a16:creationId xmlns:a16="http://schemas.microsoft.com/office/drawing/2014/main" id="{5497A87B-9772-4E65-A7D9-31CB0687923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7" name="椭圆 12">
            <a:extLst>
              <a:ext uri="{FF2B5EF4-FFF2-40B4-BE49-F238E27FC236}">
                <a16:creationId xmlns:a16="http://schemas.microsoft.com/office/drawing/2014/main" id="{832C8F45-5482-49F2-8988-E14A78C13B1D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8" name="椭圆 13">
            <a:extLst>
              <a:ext uri="{FF2B5EF4-FFF2-40B4-BE49-F238E27FC236}">
                <a16:creationId xmlns:a16="http://schemas.microsoft.com/office/drawing/2014/main" id="{675C1EEC-E67F-4EAD-B5EF-8E4DCA7A708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9" name="矩形: 圆角 14">
            <a:extLst>
              <a:ext uri="{FF2B5EF4-FFF2-40B4-BE49-F238E27FC236}">
                <a16:creationId xmlns:a16="http://schemas.microsoft.com/office/drawing/2014/main" id="{A58ECEEE-8069-4CFF-BD86-86DB54073B44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45420" name="组合 19">
            <a:extLst>
              <a:ext uri="{FF2B5EF4-FFF2-40B4-BE49-F238E27FC236}">
                <a16:creationId xmlns:a16="http://schemas.microsoft.com/office/drawing/2014/main" id="{50E2BA28-EC25-47FE-8265-9A15CA9305AD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5422" name="TitleBackground">
              <a:extLst>
                <a:ext uri="{FF2B5EF4-FFF2-40B4-BE49-F238E27FC236}">
                  <a16:creationId xmlns:a16="http://schemas.microsoft.com/office/drawing/2014/main" id="{22FBF776-37B2-42B7-86A6-EE929952525B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3" name="ColorBlock">
              <a:extLst>
                <a:ext uri="{FF2B5EF4-FFF2-40B4-BE49-F238E27FC236}">
                  <a16:creationId xmlns:a16="http://schemas.microsoft.com/office/drawing/2014/main" id="{2E3F721F-A699-4100-83BE-FDDF90E49712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4" name="TypeText">
              <a:extLst>
                <a:ext uri="{FF2B5EF4-FFF2-40B4-BE49-F238E27FC236}">
                  <a16:creationId xmlns:a16="http://schemas.microsoft.com/office/drawing/2014/main" id="{6EDD4AF2-3930-4FAB-A523-0D4BBD105F08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45425" name="TipText">
              <a:extLst>
                <a:ext uri="{FF2B5EF4-FFF2-40B4-BE49-F238E27FC236}">
                  <a16:creationId xmlns:a16="http://schemas.microsoft.com/office/drawing/2014/main" id="{85F82C6D-ECC8-4752-BCB9-66F0280A922E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45421" name="图片 4">
            <a:extLst>
              <a:ext uri="{FF2B5EF4-FFF2-40B4-BE49-F238E27FC236}">
                <a16:creationId xmlns:a16="http://schemas.microsoft.com/office/drawing/2014/main" id="{1D0EAB45-F77A-4E69-A32E-5BE99010C90C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6616166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文本框 5">
            <a:extLst>
              <a:ext uri="{FF2B5EF4-FFF2-40B4-BE49-F238E27FC236}">
                <a16:creationId xmlns:a16="http://schemas.microsoft.com/office/drawing/2014/main" id="{D0F91561-18E2-46D7-8DB2-06E1DFC7D191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9756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属性定义更不容易和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____ _____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相结合。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1" name="文本框 6">
            <a:extLst>
              <a:ext uri="{FF2B5EF4-FFF2-40B4-BE49-F238E27FC236}">
                <a16:creationId xmlns:a16="http://schemas.microsoft.com/office/drawing/2014/main" id="{EAB65537-5B2E-424F-9128-C1A64796A3C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预测分析</a:t>
            </a:r>
          </a:p>
        </p:txBody>
      </p:sp>
      <p:sp>
        <p:nvSpPr>
          <p:cNvPr id="145412" name="文本框 7">
            <a:extLst>
              <a:ext uri="{FF2B5EF4-FFF2-40B4-BE49-F238E27FC236}">
                <a16:creationId xmlns:a16="http://schemas.microsoft.com/office/drawing/2014/main" id="{C274BB8B-38E6-4C04-8BE1-AEAE395627B6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算符优先分析</a:t>
            </a:r>
            <a:endParaRPr lang="zh-CN" altLang="en-US" sz="2600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3" name="文本框 8">
            <a:extLst>
              <a:ext uri="{FF2B5EF4-FFF2-40B4-BE49-F238E27FC236}">
                <a16:creationId xmlns:a16="http://schemas.microsoft.com/office/drawing/2014/main" id="{FE48D603-06D9-4B41-8B8B-8898877D86E1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SLR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分析</a:t>
            </a:r>
          </a:p>
        </p:txBody>
      </p:sp>
      <p:sp>
        <p:nvSpPr>
          <p:cNvPr id="145414" name="文本框 9">
            <a:extLst>
              <a:ext uri="{FF2B5EF4-FFF2-40B4-BE49-F238E27FC236}">
                <a16:creationId xmlns:a16="http://schemas.microsoft.com/office/drawing/2014/main" id="{8B838FF8-D08D-4EFA-BA3F-F5422EB4360B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规范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LR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分析</a:t>
            </a:r>
            <a:endParaRPr lang="zh-CN" altLang="en-US" sz="2600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5" name="椭圆 10">
            <a:extLst>
              <a:ext uri="{FF2B5EF4-FFF2-40B4-BE49-F238E27FC236}">
                <a16:creationId xmlns:a16="http://schemas.microsoft.com/office/drawing/2014/main" id="{5B9FAEBD-B058-4D5C-854B-68F39143EFB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6" name="椭圆 11">
            <a:extLst>
              <a:ext uri="{FF2B5EF4-FFF2-40B4-BE49-F238E27FC236}">
                <a16:creationId xmlns:a16="http://schemas.microsoft.com/office/drawing/2014/main" id="{5497A87B-9772-4E65-A7D9-31CB0687923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7" name="椭圆 12">
            <a:extLst>
              <a:ext uri="{FF2B5EF4-FFF2-40B4-BE49-F238E27FC236}">
                <a16:creationId xmlns:a16="http://schemas.microsoft.com/office/drawing/2014/main" id="{832C8F45-5482-49F2-8988-E14A78C13B1D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8" name="椭圆 13">
            <a:extLst>
              <a:ext uri="{FF2B5EF4-FFF2-40B4-BE49-F238E27FC236}">
                <a16:creationId xmlns:a16="http://schemas.microsoft.com/office/drawing/2014/main" id="{675C1EEC-E67F-4EAD-B5EF-8E4DCA7A708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9" name="矩形: 圆角 14">
            <a:extLst>
              <a:ext uri="{FF2B5EF4-FFF2-40B4-BE49-F238E27FC236}">
                <a16:creationId xmlns:a16="http://schemas.microsoft.com/office/drawing/2014/main" id="{A58ECEEE-8069-4CFF-BD86-86DB54073B44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45420" name="组合 19">
            <a:extLst>
              <a:ext uri="{FF2B5EF4-FFF2-40B4-BE49-F238E27FC236}">
                <a16:creationId xmlns:a16="http://schemas.microsoft.com/office/drawing/2014/main" id="{50E2BA28-EC25-47FE-8265-9A15CA9305AD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5422" name="TitleBackground">
              <a:extLst>
                <a:ext uri="{FF2B5EF4-FFF2-40B4-BE49-F238E27FC236}">
                  <a16:creationId xmlns:a16="http://schemas.microsoft.com/office/drawing/2014/main" id="{22FBF776-37B2-42B7-86A6-EE929952525B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3" name="ColorBlock">
              <a:extLst>
                <a:ext uri="{FF2B5EF4-FFF2-40B4-BE49-F238E27FC236}">
                  <a16:creationId xmlns:a16="http://schemas.microsoft.com/office/drawing/2014/main" id="{2E3F721F-A699-4100-83BE-FDDF90E49712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4" name="TypeText">
              <a:extLst>
                <a:ext uri="{FF2B5EF4-FFF2-40B4-BE49-F238E27FC236}">
                  <a16:creationId xmlns:a16="http://schemas.microsoft.com/office/drawing/2014/main" id="{6EDD4AF2-3930-4FAB-A523-0D4BBD105F08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45425" name="TipText">
              <a:extLst>
                <a:ext uri="{FF2B5EF4-FFF2-40B4-BE49-F238E27FC236}">
                  <a16:creationId xmlns:a16="http://schemas.microsoft.com/office/drawing/2014/main" id="{85F82C6D-ECC8-4752-BCB9-66F0280A922E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45421" name="图片 4">
            <a:extLst>
              <a:ext uri="{FF2B5EF4-FFF2-40B4-BE49-F238E27FC236}">
                <a16:creationId xmlns:a16="http://schemas.microsoft.com/office/drawing/2014/main" id="{1D0EAB45-F77A-4E69-A32E-5BE99010C90C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8847202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文本框 5">
            <a:extLst>
              <a:ext uri="{FF2B5EF4-FFF2-40B4-BE49-F238E27FC236}">
                <a16:creationId xmlns:a16="http://schemas.microsoft.com/office/drawing/2014/main" id="{D0F91561-18E2-46D7-8DB2-06E1DFC7D191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9756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如果对类型采用名字等价判定，则披着羊皮的灰太狼会被认为是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____ _____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1" name="文本框 6">
            <a:extLst>
              <a:ext uri="{FF2B5EF4-FFF2-40B4-BE49-F238E27FC236}">
                <a16:creationId xmlns:a16="http://schemas.microsoft.com/office/drawing/2014/main" id="{EAB65537-5B2E-424F-9128-C1A64796A3C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羊</a:t>
            </a:r>
          </a:p>
        </p:txBody>
      </p:sp>
      <p:sp>
        <p:nvSpPr>
          <p:cNvPr id="145412" name="文本框 7">
            <a:extLst>
              <a:ext uri="{FF2B5EF4-FFF2-40B4-BE49-F238E27FC236}">
                <a16:creationId xmlns:a16="http://schemas.microsoft.com/office/drawing/2014/main" id="{C274BB8B-38E6-4C04-8BE1-AEAE395627B6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狼</a:t>
            </a:r>
            <a:endParaRPr lang="zh-CN" altLang="en-US" sz="2600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3" name="文本框 8">
            <a:extLst>
              <a:ext uri="{FF2B5EF4-FFF2-40B4-BE49-F238E27FC236}">
                <a16:creationId xmlns:a16="http://schemas.microsoft.com/office/drawing/2014/main" id="{FE48D603-06D9-4B41-8B8B-8898877D86E1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灰太狼</a:t>
            </a:r>
          </a:p>
        </p:txBody>
      </p:sp>
      <p:sp>
        <p:nvSpPr>
          <p:cNvPr id="145414" name="文本框 9">
            <a:extLst>
              <a:ext uri="{FF2B5EF4-FFF2-40B4-BE49-F238E27FC236}">
                <a16:creationId xmlns:a16="http://schemas.microsoft.com/office/drawing/2014/main" id="{8B838FF8-D08D-4EFA-BA3F-F5422EB4360B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以上皆错</a:t>
            </a:r>
            <a:endParaRPr lang="zh-CN" altLang="en-US" sz="2600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5" name="椭圆 10">
            <a:extLst>
              <a:ext uri="{FF2B5EF4-FFF2-40B4-BE49-F238E27FC236}">
                <a16:creationId xmlns:a16="http://schemas.microsoft.com/office/drawing/2014/main" id="{5B9FAEBD-B058-4D5C-854B-68F39143EFB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6" name="椭圆 11">
            <a:extLst>
              <a:ext uri="{FF2B5EF4-FFF2-40B4-BE49-F238E27FC236}">
                <a16:creationId xmlns:a16="http://schemas.microsoft.com/office/drawing/2014/main" id="{5497A87B-9772-4E65-A7D9-31CB0687923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7" name="椭圆 12">
            <a:extLst>
              <a:ext uri="{FF2B5EF4-FFF2-40B4-BE49-F238E27FC236}">
                <a16:creationId xmlns:a16="http://schemas.microsoft.com/office/drawing/2014/main" id="{832C8F45-5482-49F2-8988-E14A78C13B1D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8" name="椭圆 13">
            <a:extLst>
              <a:ext uri="{FF2B5EF4-FFF2-40B4-BE49-F238E27FC236}">
                <a16:creationId xmlns:a16="http://schemas.microsoft.com/office/drawing/2014/main" id="{675C1EEC-E67F-4EAD-B5EF-8E4DCA7A708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9" name="矩形: 圆角 14">
            <a:extLst>
              <a:ext uri="{FF2B5EF4-FFF2-40B4-BE49-F238E27FC236}">
                <a16:creationId xmlns:a16="http://schemas.microsoft.com/office/drawing/2014/main" id="{A58ECEEE-8069-4CFF-BD86-86DB54073B44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45420" name="组合 19">
            <a:extLst>
              <a:ext uri="{FF2B5EF4-FFF2-40B4-BE49-F238E27FC236}">
                <a16:creationId xmlns:a16="http://schemas.microsoft.com/office/drawing/2014/main" id="{50E2BA28-EC25-47FE-8265-9A15CA9305AD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5422" name="TitleBackground">
              <a:extLst>
                <a:ext uri="{FF2B5EF4-FFF2-40B4-BE49-F238E27FC236}">
                  <a16:creationId xmlns:a16="http://schemas.microsoft.com/office/drawing/2014/main" id="{22FBF776-37B2-42B7-86A6-EE929952525B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3" name="ColorBlock">
              <a:extLst>
                <a:ext uri="{FF2B5EF4-FFF2-40B4-BE49-F238E27FC236}">
                  <a16:creationId xmlns:a16="http://schemas.microsoft.com/office/drawing/2014/main" id="{2E3F721F-A699-4100-83BE-FDDF90E49712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4" name="TypeText">
              <a:extLst>
                <a:ext uri="{FF2B5EF4-FFF2-40B4-BE49-F238E27FC236}">
                  <a16:creationId xmlns:a16="http://schemas.microsoft.com/office/drawing/2014/main" id="{6EDD4AF2-3930-4FAB-A523-0D4BBD105F08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45425" name="TipText">
              <a:extLst>
                <a:ext uri="{FF2B5EF4-FFF2-40B4-BE49-F238E27FC236}">
                  <a16:creationId xmlns:a16="http://schemas.microsoft.com/office/drawing/2014/main" id="{85F82C6D-ECC8-4752-BCB9-66F0280A922E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45421" name="图片 4">
            <a:extLst>
              <a:ext uri="{FF2B5EF4-FFF2-40B4-BE49-F238E27FC236}">
                <a16:creationId xmlns:a16="http://schemas.microsoft.com/office/drawing/2014/main" id="{1D0EAB45-F77A-4E69-A32E-5BE99010C90C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65448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文本框 5">
            <a:extLst>
              <a:ext uri="{FF2B5EF4-FFF2-40B4-BE49-F238E27FC236}">
                <a16:creationId xmlns:a16="http://schemas.microsoft.com/office/drawing/2014/main" id="{D0F91561-18E2-46D7-8DB2-06E1DFC7D191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914400" y="635000"/>
            <a:ext cx="797560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关于下面类型表达式，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____ _____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是正确的。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zh-CN" b="1" dirty="0"/>
              <a:t>(pointer(char)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en-US" altLang="zh-CN" b="1" dirty="0"/>
              <a:t>int</a:t>
            </a:r>
            <a:r>
              <a:rPr lang="pt-BR" altLang="zh-CN" b="1" dirty="0"/>
              <a:t>)</a:t>
            </a:r>
            <a:r>
              <a:rPr lang="en-US" altLang="zh-CN" b="1" dirty="0">
                <a:sym typeface="Symbol" panose="05050102010706020507" pitchFamily="18" charset="2"/>
              </a:rPr>
              <a:t></a:t>
            </a:r>
            <a:r>
              <a:rPr lang="en-US" altLang="zh-CN" b="1" dirty="0"/>
              <a:t>pointer(char)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1" name="文本框 6">
            <a:extLst>
              <a:ext uri="{FF2B5EF4-FFF2-40B4-BE49-F238E27FC236}">
                <a16:creationId xmlns:a16="http://schemas.microsoft.com/office/drawing/2014/main" id="{EAB65537-5B2E-424F-9128-C1A64796A3CF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1828800" y="2786063"/>
            <a:ext cx="70612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语言对这种类型的等价判定采用名字等价方式</a:t>
            </a:r>
          </a:p>
        </p:txBody>
      </p:sp>
      <p:sp>
        <p:nvSpPr>
          <p:cNvPr id="145412" name="文本框 7">
            <a:extLst>
              <a:ext uri="{FF2B5EF4-FFF2-40B4-BE49-F238E27FC236}">
                <a16:creationId xmlns:a16="http://schemas.microsoft.com/office/drawing/2014/main" id="{C274BB8B-38E6-4C04-8BE1-AEAE395627B6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1828800" y="36433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/>
              <a:t>Pascal</a:t>
            </a:r>
            <a:r>
              <a:rPr lang="zh-CN" altLang="zh-CN" dirty="0"/>
              <a:t>语言采用结构等价方式</a:t>
            </a:r>
            <a:endParaRPr lang="zh-CN" altLang="en-US" sz="2600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3" name="文本框 8">
            <a:extLst>
              <a:ext uri="{FF2B5EF4-FFF2-40B4-BE49-F238E27FC236}">
                <a16:creationId xmlns:a16="http://schemas.microsoft.com/office/drawing/2014/main" id="{FE48D603-06D9-4B41-8B8B-8898877D86E1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828800" y="450056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在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语言中，这种类型会引发类型错误</a:t>
            </a:r>
          </a:p>
        </p:txBody>
      </p:sp>
      <p:sp>
        <p:nvSpPr>
          <p:cNvPr id="145414" name="文本框 9">
            <a:extLst>
              <a:ext uri="{FF2B5EF4-FFF2-40B4-BE49-F238E27FC236}">
                <a16:creationId xmlns:a16="http://schemas.microsoft.com/office/drawing/2014/main" id="{8B838FF8-D08D-4EFA-BA3F-F5422EB4360B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1828800" y="5357813"/>
            <a:ext cx="6400800" cy="642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以上皆错</a:t>
            </a:r>
            <a:endParaRPr lang="zh-CN" altLang="en-US" sz="2600" baseline="30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5" name="椭圆 10">
            <a:extLst>
              <a:ext uri="{FF2B5EF4-FFF2-40B4-BE49-F238E27FC236}">
                <a16:creationId xmlns:a16="http://schemas.microsoft.com/office/drawing/2014/main" id="{5B9FAEBD-B058-4D5C-854B-68F39143EFBE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4956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6" name="椭圆 11">
            <a:extLst>
              <a:ext uri="{FF2B5EF4-FFF2-40B4-BE49-F238E27FC236}">
                <a16:creationId xmlns:a16="http://schemas.microsoft.com/office/drawing/2014/main" id="{5497A87B-9772-4E65-A7D9-31CB0687923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68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7" name="椭圆 12">
            <a:extLst>
              <a:ext uri="{FF2B5EF4-FFF2-40B4-BE49-F238E27FC236}">
                <a16:creationId xmlns:a16="http://schemas.microsoft.com/office/drawing/2014/main" id="{832C8F45-5482-49F2-8988-E14A78C13B1D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063"/>
            <a:ext cx="514350" cy="514350"/>
          </a:xfrm>
          <a:prstGeom prst="ellipse">
            <a:avLst/>
          </a:prstGeom>
          <a:solidFill>
            <a:srgbClr val="00FF00"/>
          </a:solidFill>
          <a:ln w="254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8" name="椭圆 13">
            <a:extLst>
              <a:ext uri="{FF2B5EF4-FFF2-40B4-BE49-F238E27FC236}">
                <a16:creationId xmlns:a16="http://schemas.microsoft.com/office/drawing/2014/main" id="{675C1EEC-E67F-4EAD-B5EF-8E4DCA7A708F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1313"/>
            <a:ext cx="514350" cy="514350"/>
          </a:xfrm>
          <a:prstGeom prst="ellipse">
            <a:avLst/>
          </a:prstGeom>
          <a:solidFill>
            <a:srgbClr val="808080"/>
          </a:solidFill>
          <a:ln w="127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5419" name="矩形: 圆角 14">
            <a:extLst>
              <a:ext uri="{FF2B5EF4-FFF2-40B4-BE49-F238E27FC236}">
                <a16:creationId xmlns:a16="http://schemas.microsoft.com/office/drawing/2014/main" id="{A58ECEEE-8069-4CFF-BD86-86DB54073B44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162"/>
          </a:xfrm>
          <a:prstGeom prst="roundRect">
            <a:avLst>
              <a:gd name="adj" fmla="val 16667"/>
            </a:avLst>
          </a:prstGeom>
          <a:solidFill>
            <a:srgbClr val="808080"/>
          </a:solidFill>
          <a:ln w="38100" algn="ctr">
            <a:solidFill>
              <a:srgbClr val="000000"/>
            </a:solidFill>
            <a:round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45420" name="组合 19">
            <a:extLst>
              <a:ext uri="{FF2B5EF4-FFF2-40B4-BE49-F238E27FC236}">
                <a16:creationId xmlns:a16="http://schemas.microsoft.com/office/drawing/2014/main" id="{50E2BA28-EC25-47FE-8265-9A15CA9305AD}"/>
              </a:ext>
            </a:extLst>
          </p:cNvPr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5422" name="TitleBackground">
              <a:extLst>
                <a:ext uri="{FF2B5EF4-FFF2-40B4-BE49-F238E27FC236}">
                  <a16:creationId xmlns:a16="http://schemas.microsoft.com/office/drawing/2014/main" id="{22FBF776-37B2-42B7-86A6-EE929952525B}"/>
                </a:ext>
              </a:extLst>
            </p:cNvPr>
            <p:cNvSpPr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3" name="ColorBlock">
              <a:extLst>
                <a:ext uri="{FF2B5EF4-FFF2-40B4-BE49-F238E27FC236}">
                  <a16:creationId xmlns:a16="http://schemas.microsoft.com/office/drawing/2014/main" id="{2E3F721F-A699-4100-83BE-FDDF90E49712}"/>
                </a:ext>
              </a:extLst>
            </p:cNvPr>
            <p:cNvSpPr>
              <a:spLocks noChangeArrowheads="1"/>
            </p:cNvSpPr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Symbol" panose="05050102010706020507" pitchFamily="18" charset="2"/>
              </a:endParaRPr>
            </a:p>
          </p:txBody>
        </p:sp>
        <p:sp>
          <p:nvSpPr>
            <p:cNvPr id="145424" name="TypeText">
              <a:extLst>
                <a:ext uri="{FF2B5EF4-FFF2-40B4-BE49-F238E27FC236}">
                  <a16:creationId xmlns:a16="http://schemas.microsoft.com/office/drawing/2014/main" id="{6EDD4AF2-3930-4FAB-A523-0D4BBD105F08}"/>
                </a:ext>
              </a:extLst>
            </p:cNvPr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54000" y="0"/>
              <a:ext cx="1905000" cy="635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45425" name="TipText">
              <a:extLst>
                <a:ext uri="{FF2B5EF4-FFF2-40B4-BE49-F238E27FC236}">
                  <a16:creationId xmlns:a16="http://schemas.microsoft.com/office/drawing/2014/main" id="{85F82C6D-ECC8-4752-BCB9-66F0280A922E}"/>
                </a:ext>
              </a:extLst>
            </p:cNvPr>
            <p:cNvSpPr txBox="1">
              <a:spLocks noChangeArrowheads="1"/>
            </p:cNvSpPr>
            <p:nvPr>
              <p:custDataLst>
                <p:tags r:id="rId17"/>
              </p:custDataLst>
            </p:nvPr>
          </p:nvSpPr>
          <p:spPr bwMode="auto">
            <a:xfrm>
              <a:off x="1525905" y="109220"/>
              <a:ext cx="2286000" cy="508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145421" name="图片 4">
            <a:extLst>
              <a:ext uri="{FF2B5EF4-FFF2-40B4-BE49-F238E27FC236}">
                <a16:creationId xmlns:a16="http://schemas.microsoft.com/office/drawing/2014/main" id="{1D0EAB45-F77A-4E69-A32E-5BE99010C90C}"/>
              </a:ext>
            </a:extLst>
          </p:cNvPr>
          <p:cNvPicPr>
            <a:picLocks noChangeArrowheads="1"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63500"/>
            <a:ext cx="14224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670191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FD1"/>
      </a:accent5>
      <a:accent6>
        <a:srgbClr val="2D2DB9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F0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F0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lends 2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Designs\Blends.pot</Template>
  <TotalTime>17855</TotalTime>
  <Words>9672</Words>
  <Application>Microsoft Office PowerPoint</Application>
  <PresentationFormat>全屏显示(4:3)</PresentationFormat>
  <Paragraphs>1045</Paragraphs>
  <Slides>94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94</vt:i4>
      </vt:variant>
    </vt:vector>
  </HeadingPairs>
  <TitlesOfParts>
    <vt:vector size="104" baseType="lpstr">
      <vt:lpstr>Arial Unicode MS</vt:lpstr>
      <vt:lpstr>Microsoft Yahei</vt:lpstr>
      <vt:lpstr>黑体</vt:lpstr>
      <vt:lpstr>宋体</vt:lpstr>
      <vt:lpstr>Cambria Math</vt:lpstr>
      <vt:lpstr>Symbol</vt:lpstr>
      <vt:lpstr>Tahoma</vt:lpstr>
      <vt:lpstr>Times New Roman</vt:lpstr>
      <vt:lpstr>Wingdings</vt:lpstr>
      <vt:lpstr>Blends</vt:lpstr>
      <vt:lpstr>第八章  中间代码生成</vt:lpstr>
      <vt:lpstr>学习内容</vt:lpstr>
      <vt:lpstr>8.1 中间语言</vt:lpstr>
      <vt:lpstr>语法制导定义构造语法树</vt:lpstr>
      <vt:lpstr>语法树的计算机内部表示</vt:lpstr>
      <vt:lpstr>8.1.2  三地址码</vt:lpstr>
      <vt:lpstr>8.1.3  三地址码语句类型</vt:lpstr>
      <vt:lpstr>语法制导翻译生成三地址码</vt:lpstr>
      <vt:lpstr>赋值语句的翻译</vt:lpstr>
      <vt:lpstr>中间代码生成示例</vt:lpstr>
      <vt:lpstr>控制流语句的翻译</vt:lpstr>
      <vt:lpstr>8.1.5  三地址码的实现</vt:lpstr>
      <vt:lpstr>三元运算的实现——拆分</vt:lpstr>
      <vt:lpstr>间接三元组实现方式</vt:lpstr>
      <vt:lpstr>8.2  声明语句的翻译</vt:lpstr>
      <vt:lpstr>8.2.2  作用域的处理</vt:lpstr>
      <vt:lpstr>处理作用域的翻译模式</vt:lpstr>
      <vt:lpstr>8.2.3  记录类型的处理</vt:lpstr>
      <vt:lpstr>8.3  赋值语句</vt:lpstr>
      <vt:lpstr>8.3.2  临时名字的重用</vt:lpstr>
      <vt:lpstr>重用算法</vt:lpstr>
      <vt:lpstr>例8.1</vt:lpstr>
      <vt:lpstr>8.3.3  数组元素寻址</vt:lpstr>
      <vt:lpstr>数组元素寻址（续）</vt:lpstr>
      <vt:lpstr>数组元素寻址（续）</vt:lpstr>
      <vt:lpstr>实现方法</vt:lpstr>
      <vt:lpstr>8.3.4  数组元素寻址的翻译模式</vt:lpstr>
      <vt:lpstr>数组元素寻址的翻译模式(续)</vt:lpstr>
      <vt:lpstr>数组元素寻址的翻译模式(续)</vt:lpstr>
      <vt:lpstr>数组元素寻址的翻译模式(续)</vt:lpstr>
      <vt:lpstr>例8.2</vt:lpstr>
      <vt:lpstr>8.3.5  类型转换</vt:lpstr>
      <vt:lpstr>类型转换例子</vt:lpstr>
      <vt:lpstr>8.3.6  记录（结构）域的访问</vt:lpstr>
      <vt:lpstr>8.4  布尔表达式的翻译</vt:lpstr>
      <vt:lpstr>8.4.2  用数值表示布尔值</vt:lpstr>
      <vt:lpstr>翻译模式</vt:lpstr>
      <vt:lpstr>例8.3</vt:lpstr>
      <vt:lpstr>8.4.3  控制流语句的翻译</vt:lpstr>
      <vt:lpstr>语法制导定义－if</vt:lpstr>
      <vt:lpstr>语法制导定义－if-else</vt:lpstr>
      <vt:lpstr>语法制导定义－While</vt:lpstr>
      <vt:lpstr>8.4.5  布尔表达式结合控制流语句翻译</vt:lpstr>
      <vt:lpstr>例8.4</vt:lpstr>
      <vt:lpstr>例8.5</vt:lpstr>
      <vt:lpstr>8.4.6  混合翻译方式</vt:lpstr>
      <vt:lpstr>8.5  case语句的翻译</vt:lpstr>
      <vt:lpstr>翻译方法</vt:lpstr>
      <vt:lpstr>翻译方法1</vt:lpstr>
      <vt:lpstr>翻译方法2</vt:lpstr>
      <vt:lpstr>8.6  BackPatching技术</vt:lpstr>
      <vt:lpstr>8.6.1  语法制导定义</vt:lpstr>
      <vt:lpstr>语法制导定义（续）</vt:lpstr>
      <vt:lpstr>例8.6</vt:lpstr>
      <vt:lpstr>例8.6（续）</vt:lpstr>
      <vt:lpstr>例8.6（续）</vt:lpstr>
      <vt:lpstr>8.6.2  控制流语句的翻译</vt:lpstr>
      <vt:lpstr>控制流语句的翻译（续）</vt:lpstr>
      <vt:lpstr>8.7  过程调用的翻译</vt:lpstr>
      <vt:lpstr>简单例子</vt:lpstr>
      <vt:lpstr>简单例子（续）</vt:lpstr>
      <vt:lpstr>递归遍历语法树生成代码</vt:lpstr>
      <vt:lpstr>打印程序头部</vt:lpstr>
      <vt:lpstr>变量声明</vt:lpstr>
      <vt:lpstr>变量声明（续）</vt:lpstr>
      <vt:lpstr>递归代码生成函数入口</vt:lpstr>
      <vt:lpstr>表达式代码生成</vt:lpstr>
      <vt:lpstr>表达式代码生成（续）</vt:lpstr>
      <vt:lpstr>表达式代码生成（续）</vt:lpstr>
      <vt:lpstr>语句代码生成</vt:lpstr>
      <vt:lpstr>语句代码生成（续）</vt:lpstr>
      <vt:lpstr>语句代码生成（续）</vt:lpstr>
      <vt:lpstr>语句代码生成（续）</vt:lpstr>
      <vt:lpstr>语句代码生成（续）</vt:lpstr>
      <vt:lpstr>语句代码生成（续）</vt:lpstr>
      <vt:lpstr>SSA</vt:lpstr>
      <vt:lpstr>如何得到SSA形式的IR</vt:lpstr>
      <vt:lpstr>SSA的作用</vt:lpstr>
      <vt:lpstr>简单SSA算法</vt:lpstr>
      <vt:lpstr>简单SSA算法描述</vt:lpstr>
      <vt:lpstr>LLVM中的SSA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南开大学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介绍</dc:title>
  <dc:creator>王刚</dc:creator>
  <cp:lastModifiedBy>Administrator</cp:lastModifiedBy>
  <cp:revision>1881</cp:revision>
  <dcterms:created xsi:type="dcterms:W3CDTF">2003-06-05T11:51:39Z</dcterms:created>
  <dcterms:modified xsi:type="dcterms:W3CDTF">2025-11-28T02:26:08Z</dcterms:modified>
</cp:coreProperties>
</file>