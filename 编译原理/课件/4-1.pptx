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5"/>
  </p:notesMasterIdLst>
  <p:handoutMasterIdLst>
    <p:handoutMasterId r:id="rId156"/>
  </p:handoutMasterIdLst>
  <p:sldIdLst>
    <p:sldId id="256" r:id="rId2"/>
    <p:sldId id="36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366" r:id="rId20"/>
    <p:sldId id="274" r:id="rId21"/>
    <p:sldId id="367" r:id="rId22"/>
    <p:sldId id="275" r:id="rId23"/>
    <p:sldId id="276" r:id="rId24"/>
    <p:sldId id="277" r:id="rId25"/>
    <p:sldId id="278" r:id="rId26"/>
    <p:sldId id="279" r:id="rId27"/>
    <p:sldId id="368" r:id="rId28"/>
    <p:sldId id="280" r:id="rId29"/>
    <p:sldId id="381" r:id="rId30"/>
    <p:sldId id="282" r:id="rId31"/>
    <p:sldId id="281" r:id="rId32"/>
    <p:sldId id="365" r:id="rId33"/>
    <p:sldId id="283" r:id="rId34"/>
    <p:sldId id="384" r:id="rId35"/>
    <p:sldId id="284" r:id="rId36"/>
    <p:sldId id="285" r:id="rId37"/>
    <p:sldId id="286" r:id="rId38"/>
    <p:sldId id="287" r:id="rId39"/>
    <p:sldId id="387" r:id="rId40"/>
    <p:sldId id="386" r:id="rId41"/>
    <p:sldId id="388" r:id="rId42"/>
    <p:sldId id="288" r:id="rId43"/>
    <p:sldId id="369" r:id="rId44"/>
    <p:sldId id="289" r:id="rId45"/>
    <p:sldId id="370" r:id="rId46"/>
    <p:sldId id="290" r:id="rId47"/>
    <p:sldId id="291" r:id="rId48"/>
    <p:sldId id="382" r:id="rId49"/>
    <p:sldId id="292" r:id="rId50"/>
    <p:sldId id="293" r:id="rId51"/>
    <p:sldId id="294" r:id="rId52"/>
    <p:sldId id="295" r:id="rId53"/>
    <p:sldId id="296" r:id="rId54"/>
    <p:sldId id="301" r:id="rId55"/>
    <p:sldId id="371" r:id="rId56"/>
    <p:sldId id="297" r:id="rId57"/>
    <p:sldId id="298" r:id="rId58"/>
    <p:sldId id="299" r:id="rId59"/>
    <p:sldId id="300" r:id="rId60"/>
    <p:sldId id="302" r:id="rId61"/>
    <p:sldId id="303" r:id="rId62"/>
    <p:sldId id="304" r:id="rId63"/>
    <p:sldId id="305" r:id="rId64"/>
    <p:sldId id="383" r:id="rId65"/>
    <p:sldId id="503" r:id="rId66"/>
    <p:sldId id="504" r:id="rId67"/>
    <p:sldId id="505" r:id="rId68"/>
    <p:sldId id="506" r:id="rId69"/>
    <p:sldId id="507" r:id="rId70"/>
    <p:sldId id="396" r:id="rId71"/>
    <p:sldId id="415" r:id="rId72"/>
    <p:sldId id="397" r:id="rId73"/>
    <p:sldId id="307" r:id="rId74"/>
    <p:sldId id="372" r:id="rId75"/>
    <p:sldId id="308" r:id="rId76"/>
    <p:sldId id="309" r:id="rId77"/>
    <p:sldId id="310" r:id="rId78"/>
    <p:sldId id="311" r:id="rId79"/>
    <p:sldId id="313" r:id="rId80"/>
    <p:sldId id="373" r:id="rId81"/>
    <p:sldId id="314" r:id="rId82"/>
    <p:sldId id="315" r:id="rId83"/>
    <p:sldId id="374" r:id="rId84"/>
    <p:sldId id="375" r:id="rId85"/>
    <p:sldId id="316" r:id="rId86"/>
    <p:sldId id="376" r:id="rId87"/>
    <p:sldId id="317" r:id="rId88"/>
    <p:sldId id="318" r:id="rId89"/>
    <p:sldId id="319" r:id="rId90"/>
    <p:sldId id="320" r:id="rId91"/>
    <p:sldId id="321" r:id="rId92"/>
    <p:sldId id="322" r:id="rId93"/>
    <p:sldId id="323" r:id="rId94"/>
    <p:sldId id="324" r:id="rId95"/>
    <p:sldId id="377" r:id="rId96"/>
    <p:sldId id="325" r:id="rId97"/>
    <p:sldId id="326" r:id="rId98"/>
    <p:sldId id="327" r:id="rId99"/>
    <p:sldId id="378" r:id="rId100"/>
    <p:sldId id="328" r:id="rId101"/>
    <p:sldId id="329" r:id="rId102"/>
    <p:sldId id="330" r:id="rId103"/>
    <p:sldId id="331" r:id="rId104"/>
    <p:sldId id="332" r:id="rId105"/>
    <p:sldId id="333" r:id="rId106"/>
    <p:sldId id="334" r:id="rId107"/>
    <p:sldId id="335" r:id="rId108"/>
    <p:sldId id="336" r:id="rId109"/>
    <p:sldId id="337" r:id="rId110"/>
    <p:sldId id="338" r:id="rId111"/>
    <p:sldId id="339" r:id="rId112"/>
    <p:sldId id="340" r:id="rId113"/>
    <p:sldId id="341" r:id="rId114"/>
    <p:sldId id="385" r:id="rId115"/>
    <p:sldId id="342" r:id="rId116"/>
    <p:sldId id="343" r:id="rId117"/>
    <p:sldId id="344" r:id="rId118"/>
    <p:sldId id="379" r:id="rId119"/>
    <p:sldId id="364" r:id="rId120"/>
    <p:sldId id="380" r:id="rId121"/>
    <p:sldId id="345" r:id="rId122"/>
    <p:sldId id="346" r:id="rId123"/>
    <p:sldId id="347" r:id="rId124"/>
    <p:sldId id="348" r:id="rId125"/>
    <p:sldId id="349" r:id="rId126"/>
    <p:sldId id="350" r:id="rId127"/>
    <p:sldId id="351" r:id="rId128"/>
    <p:sldId id="352" r:id="rId129"/>
    <p:sldId id="353" r:id="rId130"/>
    <p:sldId id="354" r:id="rId131"/>
    <p:sldId id="355" r:id="rId132"/>
    <p:sldId id="356" r:id="rId133"/>
    <p:sldId id="357" r:id="rId134"/>
    <p:sldId id="358" r:id="rId135"/>
    <p:sldId id="359" r:id="rId136"/>
    <p:sldId id="360" r:id="rId137"/>
    <p:sldId id="361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62" r:id="rId146"/>
    <p:sldId id="495" r:id="rId147"/>
    <p:sldId id="496" r:id="rId148"/>
    <p:sldId id="497" r:id="rId149"/>
    <p:sldId id="498" r:id="rId150"/>
    <p:sldId id="499" r:id="rId151"/>
    <p:sldId id="500" r:id="rId152"/>
    <p:sldId id="501" r:id="rId153"/>
    <p:sldId id="502" r:id="rId154"/>
  </p:sldIdLst>
  <p:sldSz cx="9144000" cy="6858000" type="screen4x3"/>
  <p:notesSz cx="6756400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Symbol" panose="05050102010706020507" pitchFamily="18" charset="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CF01"/>
    <a:srgbClr val="0000FF"/>
    <a:srgbClr val="3333CC"/>
    <a:srgbClr val="800000"/>
    <a:srgbClr val="99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564" autoAdjust="0"/>
  </p:normalViewPr>
  <p:slideViewPr>
    <p:cSldViewPr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89B0C7ED-6D92-4B87-8DC9-9686DC1993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2B7EFD3F-9E9D-4BF0-B213-4193D1E54CA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3EF039AF-8F33-48CC-8E09-0331FF8713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DE26DE3B-3CEC-4A7A-9213-9E228B5EC5E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D7856DA-C805-4DA7-A6C3-96AB213A43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8BC6712-6EB6-4C31-919B-36F4A6CD13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A05D219-6330-45B8-8D17-3C8162762C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F6858FF-49E3-42C5-B0E2-DDFF661E24C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E5C92F4-192C-437E-8E9D-AB253A70BF9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687888"/>
            <a:ext cx="4953000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31BCCCE1-8183-414E-9080-AC824EB70F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23EE5788-8B44-42B2-8E8F-04C70EDB7C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9C1AED9-833A-425C-8D64-1FCB886F70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CABBA9A-543F-4468-A57C-A1DA2F0A858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0C2DF97-3FF7-43A3-9F41-40A5E3730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6A5C3383-C48F-458B-B88A-56694F272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790EC4E4-FD83-4908-ABB5-85171BDE8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33AD3DB-0775-45A6-AFD2-F946D91089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4830A3BA-6B15-4CFE-8DD6-493185000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935B1CED-A468-4656-8B10-7FF4235C8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4882BB2-6797-4A68-AFE0-20D3670F8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03865BFD-E5B5-4515-93D3-A593D9FBD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93B9FE-9C82-4D3C-BB64-3B3D82156E0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A288A84-8DA5-4140-BEC5-1E0015BE4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6C0C178A-E32D-4DE9-A522-A568FC176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DD9803F-463F-4E32-95D8-AFF94423EA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B600A25-22CC-4143-A969-C001C158DB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838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E4045F4-2817-480D-B5C4-13B28CC59F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D842CD7-93E7-4580-A10E-F3B9FAC62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C4B431-1F30-4AE3-9031-FEFA2111C0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6117B-428B-4CDE-8C05-F2BB467D13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36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F1A9EF3-E2B1-4ACB-BAB6-9A56F864A1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E7590D7-9820-40F2-BCBE-D1DA2B844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21EF7EE-B3BE-4FEE-B41D-21225C55DD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CCC27-2C25-4A64-9157-C7B311118F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997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705AA8E-4E9A-4E0D-8B08-291DECCE83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F6D09F3-55FB-42C6-9C95-5D1705BF9E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8A04272-E3F3-4F59-84A8-5B5739F45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9F015-FCC0-43E4-B6DA-B1A8AE7DF7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411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3B03277-596E-42F8-80FF-A4DB208B12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9F63122-1DAE-42F6-9443-3FBFDB3BEB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A8B3355-4592-4EBA-986A-5307CBC04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9378F-F02B-4ABE-BA7C-03FB57F9B1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95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78B03940-A375-406A-B490-7F357D5536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789830E-6DD8-4FB7-9BAE-9B022BAE52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82AE41A-CFC7-42A4-92FF-276FE67BD6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35300-BFAD-4090-A677-2880E81FC7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89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30AF08E-9A3A-47BB-B739-CE3797DD4A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45B5499-0B81-464C-918A-7EEA026DF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EB9F859-5D05-41F0-A936-84E5D468AE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DB554-4449-40ED-A410-108AB62D37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242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D4241CB-4F0E-4D31-A57F-B33318670A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212849E-DE13-467F-92B1-5620A9C61B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6AA8E4E-01B9-4BF3-9122-ACF941912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97BBD-0890-4AAC-99BA-6F3EDC463E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93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08C54C4-9455-4306-A79B-55152B4B09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EF9607C-EC58-4CFC-8A49-01E302321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6CCC627-7CBA-4903-B48B-E45E1075C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9952-1013-40C6-9558-3F8F5442F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8105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B978714-26F3-439A-ABD5-1651B59CC1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8977176-F227-423D-A7C6-6EF0D2EA1D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BF9EB17-2966-4BAF-9AAF-BFAD82ACB1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D6004-D162-4FCC-8229-81E1880A2E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15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BFB00B7-FBDB-4E74-A64D-682FC8A5A9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9AA31CF-6B59-44A9-8DDC-627E9377B7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94054A-9E26-4A6F-ABC4-6C69ED0CDA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255DA-182C-4D14-AAB2-F2B00F253E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441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EE2534-178A-41B5-B37C-802DB43464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8C9981-5785-419F-A08F-3AB6019E24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CE01F0-F067-4E46-8692-CF0D844021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1143AED-9D9E-4435-AE72-CE7D7B7FA1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5A69867-C2C5-4B2B-BF37-98481E25DE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BD59C77-4128-4BE7-BE29-7457E43C2C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CA4F727-A03E-4948-AA2F-82060A2F2D1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92F3F037-7899-47F4-8C8E-C0513BBF3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0D5FB3F-0FB7-4BA4-802B-713C6A4CD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FD0DC53D-F421-48DB-8E15-A07CCEF343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812E6377-F68E-444B-B019-9BA54E2975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96051E04-6D7F-45A3-80A3-643BC5E745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97C51CB9-58BA-4474-B3A1-F8FB23DFD6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12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3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2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2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2" Type="http://schemas.openxmlformats.org/officeDocument/2006/relationships/tags" Target="../tags/tag70.xml"/><Relationship Id="rId16" Type="http://schemas.openxmlformats.org/officeDocument/2006/relationships/image" Target="../media/image12.pn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image" Target="../media/image14.png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image" Target="../media/image12.png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19" Type="http://schemas.openxmlformats.org/officeDocument/2006/relationships/image" Target="../media/image12.png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image" Target="../media/image12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7590222-7078-4D08-BB7D-59AABB43A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第四章  语法分析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6967BA4-0495-47BB-A986-845DFDF8D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学习重点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864B635-1FB5-4396-B7C8-9BE3E2B69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上下文无关文法</a:t>
            </a:r>
          </a:p>
          <a:p>
            <a:pPr eaLnBrk="1" hangingPunct="1"/>
            <a:r>
              <a:rPr lang="zh-CN" altLang="en-US" dirty="0"/>
              <a:t>自顶向下分析方法：递归实现、表驱动</a:t>
            </a:r>
          </a:p>
          <a:p>
            <a:pPr eaLnBrk="1" hangingPunct="1"/>
            <a:r>
              <a:rPr lang="zh-CN" altLang="en-US" dirty="0"/>
              <a:t>自底向上分析方法</a:t>
            </a:r>
          </a:p>
          <a:p>
            <a:pPr lvl="1" eaLnBrk="1" hangingPunct="1"/>
            <a:r>
              <a:rPr lang="zh-CN" altLang="en-US" dirty="0"/>
              <a:t>算符优先分析方法</a:t>
            </a:r>
          </a:p>
          <a:p>
            <a:pPr lvl="1" eaLnBrk="1" hangingPunct="1"/>
            <a:r>
              <a:rPr lang="en-US" altLang="zh-CN" dirty="0"/>
              <a:t>LR</a:t>
            </a:r>
            <a:r>
              <a:rPr lang="zh-CN" altLang="en-US" dirty="0"/>
              <a:t>分析方法</a:t>
            </a:r>
          </a:p>
          <a:p>
            <a:pPr lvl="2" eaLnBrk="1" hangingPunct="1"/>
            <a:r>
              <a:rPr lang="en-US" altLang="zh-CN" dirty="0"/>
              <a:t>SLR</a:t>
            </a:r>
          </a:p>
          <a:p>
            <a:pPr lvl="2" eaLnBrk="1" hangingPunct="1"/>
            <a:r>
              <a:rPr lang="zh-CN" altLang="en-US" dirty="0"/>
              <a:t>规范</a:t>
            </a:r>
            <a:r>
              <a:rPr lang="en-US" altLang="zh-CN" dirty="0"/>
              <a:t>LR</a:t>
            </a:r>
          </a:p>
          <a:p>
            <a:pPr lvl="2" eaLnBrk="1" hangingPunct="1"/>
            <a:r>
              <a:rPr lang="en-US" altLang="zh-CN" dirty="0"/>
              <a:t>LALR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5510227-C7B5-4D1E-8894-1CFE8528E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概述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2A26A62-4FF2-4B1A-90AD-153EEB50F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/>
              <a:t>为什么使用上下文无法文法？</a:t>
            </a:r>
          </a:p>
          <a:p>
            <a:pPr lvl="1" eaLnBrk="1" hangingPunct="1"/>
            <a:r>
              <a:rPr lang="zh-CN" altLang="en-US" sz="2400"/>
              <a:t>精确、容易理解的语法描述</a:t>
            </a:r>
          </a:p>
          <a:p>
            <a:pPr lvl="1" eaLnBrk="1" hangingPunct="1"/>
            <a:r>
              <a:rPr lang="zh-CN" altLang="en-US" sz="2400"/>
              <a:t>特定类别语法</a:t>
            </a:r>
            <a:r>
              <a:rPr lang="en-US" altLang="zh-CN" sz="2400"/>
              <a:t>——</a:t>
            </a:r>
            <a:r>
              <a:rPr lang="zh-CN" altLang="en-US" sz="2400"/>
              <a:t>编译器自动构造</a:t>
            </a:r>
            <a:br>
              <a:rPr lang="zh-CN" altLang="en-US" sz="2400"/>
            </a:br>
            <a:r>
              <a:rPr lang="zh-CN" altLang="en-US" sz="2400"/>
              <a:t>额外好处</a:t>
            </a:r>
            <a:r>
              <a:rPr lang="en-US" altLang="zh-CN" sz="2400"/>
              <a:t>——</a:t>
            </a:r>
            <a:r>
              <a:rPr lang="zh-CN" altLang="en-US" sz="2400"/>
              <a:t>发现二义性和难于分析的结构</a:t>
            </a:r>
          </a:p>
          <a:p>
            <a:pPr lvl="1" eaLnBrk="1" hangingPunct="1"/>
            <a:r>
              <a:rPr lang="zh-CN" altLang="en-US" sz="2400"/>
              <a:t>加入特殊结构</a:t>
            </a:r>
            <a:r>
              <a:rPr lang="en-US" altLang="zh-CN" sz="2400"/>
              <a:t>——</a:t>
            </a:r>
            <a:r>
              <a:rPr lang="zh-CN" altLang="en-US" sz="2400"/>
              <a:t>翻译、错误检测</a:t>
            </a:r>
            <a:br>
              <a:rPr lang="zh-CN" altLang="en-US" sz="2400"/>
            </a:br>
            <a:r>
              <a:rPr lang="zh-CN" altLang="en-US" sz="2400"/>
              <a:t>基于语法的翻译方法描述</a:t>
            </a:r>
            <a:r>
              <a:rPr lang="en-US" altLang="zh-CN" sz="2400">
                <a:latin typeface="Tahoma" panose="020B0604030504040204" pitchFamily="34" charset="0"/>
              </a:rPr>
              <a:t>——</a:t>
            </a:r>
            <a:r>
              <a:rPr lang="en-US" altLang="zh-CN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Wingdings" panose="05000000000000000000" pitchFamily="2" charset="2"/>
              </a:rPr>
              <a:t>程序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语言发展变化（新语句，语句变化</a:t>
            </a:r>
            <a:r>
              <a:rPr lang="en-US" altLang="zh-CN" sz="2400">
                <a:latin typeface="Tahoma" panose="020B0604030504040204" pitchFamily="34" charset="0"/>
                <a:sym typeface="Wingdings" panose="05000000000000000000" pitchFamily="2" charset="2"/>
              </a:rPr>
              <a:t>…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br>
              <a:rPr lang="zh-CN" altLang="en-US" sz="2400">
                <a:sym typeface="Wingdings" panose="05000000000000000000" pitchFamily="2" charset="2"/>
              </a:rPr>
            </a:br>
            <a:r>
              <a:rPr lang="en-US" altLang="zh-CN" sz="240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sz="2400">
                <a:sym typeface="Wingdings" panose="05000000000000000000" pitchFamily="2" charset="2"/>
              </a:rPr>
              <a:t>容易增加新结构，修改已有部分</a:t>
            </a:r>
            <a:br>
              <a:rPr lang="zh-CN" altLang="en-US" sz="2400">
                <a:sym typeface="Wingdings" panose="05000000000000000000" pitchFamily="2" charset="2"/>
              </a:rPr>
            </a:br>
            <a:r>
              <a:rPr kumimoji="0" lang="en-US" altLang="zh-CN" sz="2400" b="1"/>
              <a:t>ADA </a:t>
            </a:r>
            <a:r>
              <a:rPr kumimoji="0" lang="en-US" altLang="zh-CN" sz="2400" b="1">
                <a:sym typeface="Symbol" panose="05050102010706020507" pitchFamily="18" charset="2"/>
              </a:rPr>
              <a:t> ADA9x,  C++</a:t>
            </a:r>
            <a:r>
              <a:rPr kumimoji="0" lang="zh-CN" altLang="en-US" sz="2400" b="1">
                <a:sym typeface="Symbol" panose="05050102010706020507" pitchFamily="18" charset="2"/>
              </a:rPr>
              <a:t>增加</a:t>
            </a:r>
            <a:r>
              <a:rPr kumimoji="0" lang="en-US" altLang="zh-CN" sz="2400" b="1">
                <a:sym typeface="Symbol" panose="05050102010706020507" pitchFamily="18" charset="2"/>
              </a:rPr>
              <a:t>: </a:t>
            </a:r>
            <a:r>
              <a:rPr kumimoji="0" lang="zh-CN" altLang="en-US" sz="2400" b="1">
                <a:sym typeface="Symbol" panose="05050102010706020507" pitchFamily="18" charset="2"/>
              </a:rPr>
              <a:t>模板、异常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F8805BBA-7932-4F0C-B6EF-9CB13ED22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398838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AD3271D-9FFA-430F-A68A-C9847E2CA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  </a:t>
            </a:r>
            <a:r>
              <a:rPr lang="zh-CN" altLang="en-US"/>
              <a:t>语法分析器的角色</a:t>
            </a:r>
          </a:p>
        </p:txBody>
      </p:sp>
      <p:grpSp>
        <p:nvGrpSpPr>
          <p:cNvPr id="8195" name="Group 4">
            <a:extLst>
              <a:ext uri="{FF2B5EF4-FFF2-40B4-BE49-F238E27FC236}">
                <a16:creationId xmlns:a16="http://schemas.microsoft.com/office/drawing/2014/main" id="{E4E19024-1D44-44CD-83FA-9A744CE20551}"/>
              </a:ext>
            </a:extLst>
          </p:cNvPr>
          <p:cNvGrpSpPr>
            <a:grpSpLocks/>
          </p:cNvGrpSpPr>
          <p:nvPr/>
        </p:nvGrpSpPr>
        <p:grpSpPr bwMode="auto">
          <a:xfrm>
            <a:off x="0" y="1447800"/>
            <a:ext cx="9144000" cy="2771775"/>
            <a:chOff x="0" y="1056"/>
            <a:chExt cx="5760" cy="1746"/>
          </a:xfrm>
        </p:grpSpPr>
        <p:sp>
          <p:nvSpPr>
            <p:cNvPr id="8203" name="Text Box 5">
              <a:extLst>
                <a:ext uri="{FF2B5EF4-FFF2-40B4-BE49-F238E27FC236}">
                  <a16:creationId xmlns:a16="http://schemas.microsoft.com/office/drawing/2014/main" id="{A0507320-6C2F-4A7D-B63B-AE99C07EC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056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errors</a:t>
              </a:r>
            </a:p>
          </p:txBody>
        </p:sp>
        <p:sp>
          <p:nvSpPr>
            <p:cNvPr id="8204" name="Text Box 6">
              <a:extLst>
                <a:ext uri="{FF2B5EF4-FFF2-40B4-BE49-F238E27FC236}">
                  <a16:creationId xmlns:a16="http://schemas.microsoft.com/office/drawing/2014/main" id="{ED785B22-EE7C-4008-9AD7-B3D3F5FCA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32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lexical analyzer</a:t>
              </a:r>
            </a:p>
          </p:txBody>
        </p:sp>
        <p:sp>
          <p:nvSpPr>
            <p:cNvPr id="8205" name="Text Box 7">
              <a:extLst>
                <a:ext uri="{FF2B5EF4-FFF2-40B4-BE49-F238E27FC236}">
                  <a16:creationId xmlns:a16="http://schemas.microsoft.com/office/drawing/2014/main" id="{DD0DC3B2-CA4A-471A-AA00-EE4C76BBF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728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/>
                <a:t>parser</a:t>
              </a:r>
            </a:p>
          </p:txBody>
        </p:sp>
        <p:sp>
          <p:nvSpPr>
            <p:cNvPr id="8206" name="Text Box 8">
              <a:extLst>
                <a:ext uri="{FF2B5EF4-FFF2-40B4-BE49-F238E27FC236}">
                  <a16:creationId xmlns:a16="http://schemas.microsoft.com/office/drawing/2014/main" id="{77778BB9-E166-4AE7-B300-516E86B7B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32"/>
              <a:ext cx="912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rest of front end</a:t>
              </a:r>
            </a:p>
          </p:txBody>
        </p:sp>
        <p:sp>
          <p:nvSpPr>
            <p:cNvPr id="8207" name="Text Box 9">
              <a:extLst>
                <a:ext uri="{FF2B5EF4-FFF2-40B4-BE49-F238E27FC236}">
                  <a16:creationId xmlns:a16="http://schemas.microsoft.com/office/drawing/2014/main" id="{2B1B3C73-0B98-46D2-B8A7-9C49CEEC0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symbol  table</a:t>
              </a:r>
            </a:p>
          </p:txBody>
        </p:sp>
        <p:sp>
          <p:nvSpPr>
            <p:cNvPr id="8208" name="Line 10">
              <a:extLst>
                <a:ext uri="{FF2B5EF4-FFF2-40B4-BE49-F238E27FC236}">
                  <a16:creationId xmlns:a16="http://schemas.microsoft.com/office/drawing/2014/main" id="{C59683AD-E728-4E9F-9D81-AC83B32BF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776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11">
              <a:extLst>
                <a:ext uri="{FF2B5EF4-FFF2-40B4-BE49-F238E27FC236}">
                  <a16:creationId xmlns:a16="http://schemas.microsoft.com/office/drawing/2014/main" id="{DC186E2E-D5E3-4FA4-9F0B-C4B457CDD3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9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Line 12">
              <a:extLst>
                <a:ext uri="{FF2B5EF4-FFF2-40B4-BE49-F238E27FC236}">
                  <a16:creationId xmlns:a16="http://schemas.microsoft.com/office/drawing/2014/main" id="{4290E2D5-F1F0-4859-BC9D-71516B6A2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29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Line 13">
              <a:extLst>
                <a:ext uri="{FF2B5EF4-FFF2-40B4-BE49-F238E27FC236}">
                  <a16:creationId xmlns:a16="http://schemas.microsoft.com/office/drawing/2014/main" id="{8B8F63A6-4ECE-4A64-A86B-046428C8C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296"/>
              <a:ext cx="5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2" name="Line 14">
              <a:extLst>
                <a:ext uri="{FF2B5EF4-FFF2-40B4-BE49-F238E27FC236}">
                  <a16:creationId xmlns:a16="http://schemas.microsoft.com/office/drawing/2014/main" id="{3D035192-8918-4BAD-BC25-F1CFE8D90F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56" y="1296"/>
              <a:ext cx="432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3" name="Line 15">
              <a:extLst>
                <a:ext uri="{FF2B5EF4-FFF2-40B4-BE49-F238E27FC236}">
                  <a16:creationId xmlns:a16="http://schemas.microsoft.com/office/drawing/2014/main" id="{D2E1D867-D953-4868-A54E-8B9438690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824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Line 16">
              <a:extLst>
                <a:ext uri="{FF2B5EF4-FFF2-40B4-BE49-F238E27FC236}">
                  <a16:creationId xmlns:a16="http://schemas.microsoft.com/office/drawing/2014/main" id="{5B6E9C07-970B-46AA-A86C-F3751CC6E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Line 17">
              <a:extLst>
                <a:ext uri="{FF2B5EF4-FFF2-40B4-BE49-F238E27FC236}">
                  <a16:creationId xmlns:a16="http://schemas.microsoft.com/office/drawing/2014/main" id="{A029DC8C-6E7C-4A42-BDD5-FE042C873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112"/>
              <a:ext cx="57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Line 18">
              <a:extLst>
                <a:ext uri="{FF2B5EF4-FFF2-40B4-BE49-F238E27FC236}">
                  <a16:creationId xmlns:a16="http://schemas.microsoft.com/office/drawing/2014/main" id="{98CDAD7A-CBA2-4300-8E7B-8B1247E79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064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Line 19">
              <a:extLst>
                <a:ext uri="{FF2B5EF4-FFF2-40B4-BE49-F238E27FC236}">
                  <a16:creationId xmlns:a16="http://schemas.microsoft.com/office/drawing/2014/main" id="{51C49768-B5E3-4D01-A6F0-956710136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872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Text Box 20">
              <a:extLst>
                <a:ext uri="{FF2B5EF4-FFF2-40B4-BE49-F238E27FC236}">
                  <a16:creationId xmlns:a16="http://schemas.microsoft.com/office/drawing/2014/main" id="{306BE89E-7B53-4EFD-A0C3-0360FD688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80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source program</a:t>
              </a:r>
            </a:p>
          </p:txBody>
        </p:sp>
        <p:sp>
          <p:nvSpPr>
            <p:cNvPr id="8219" name="Text Box 21">
              <a:extLst>
                <a:ext uri="{FF2B5EF4-FFF2-40B4-BE49-F238E27FC236}">
                  <a16:creationId xmlns:a16="http://schemas.microsoft.com/office/drawing/2014/main" id="{B10E9FF0-A4D8-418D-97EE-FFADE2E22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80"/>
              <a:ext cx="6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parse tree</a:t>
              </a:r>
            </a:p>
          </p:txBody>
        </p:sp>
        <p:sp>
          <p:nvSpPr>
            <p:cNvPr id="8220" name="Text Box 22">
              <a:extLst>
                <a:ext uri="{FF2B5EF4-FFF2-40B4-BE49-F238E27FC236}">
                  <a16:creationId xmlns:a16="http://schemas.microsoft.com/office/drawing/2014/main" id="{E293E617-55A6-411A-B5A0-9D8FCD5B2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872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i="1"/>
                <a:t>get next token</a:t>
              </a:r>
            </a:p>
          </p:txBody>
        </p:sp>
        <p:sp>
          <p:nvSpPr>
            <p:cNvPr id="8221" name="Text Box 23">
              <a:extLst>
                <a:ext uri="{FF2B5EF4-FFF2-40B4-BE49-F238E27FC236}">
                  <a16:creationId xmlns:a16="http://schemas.microsoft.com/office/drawing/2014/main" id="{CE271EF3-8025-4139-9F03-9C0E0391C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6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token</a:t>
              </a:r>
            </a:p>
          </p:txBody>
        </p:sp>
      </p:grpSp>
      <p:sp>
        <p:nvSpPr>
          <p:cNvPr id="8196" name="Text Box 24">
            <a:extLst>
              <a:ext uri="{FF2B5EF4-FFF2-40B4-BE49-F238E27FC236}">
                <a16:creationId xmlns:a16="http://schemas.microsoft.com/office/drawing/2014/main" id="{C74EC360-9556-418C-BDC5-D9B9C1ED9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143000"/>
            <a:ext cx="160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6699"/>
                </a:solidFill>
              </a:rPr>
              <a:t>regular expressions</a:t>
            </a:r>
          </a:p>
        </p:txBody>
      </p:sp>
      <p:sp>
        <p:nvSpPr>
          <p:cNvPr id="8197" name="Line 25">
            <a:extLst>
              <a:ext uri="{FF2B5EF4-FFF2-40B4-BE49-F238E27FC236}">
                <a16:creationId xmlns:a16="http://schemas.microsoft.com/office/drawing/2014/main" id="{0629224F-0ED8-421E-BEA0-89FF4BAA4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676400"/>
            <a:ext cx="0" cy="685800"/>
          </a:xfrm>
          <a:prstGeom prst="line">
            <a:avLst/>
          </a:prstGeom>
          <a:noFill/>
          <a:ln w="25400">
            <a:solidFill>
              <a:srgbClr val="FF6699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Text Box 26">
            <a:extLst>
              <a:ext uri="{FF2B5EF4-FFF2-40B4-BE49-F238E27FC236}">
                <a16:creationId xmlns:a16="http://schemas.microsoft.com/office/drawing/2014/main" id="{2490BE5F-EEAD-40FB-B2A8-C05346F55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733800"/>
            <a:ext cx="32766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400" b="1" dirty="0">
                <a:solidFill>
                  <a:srgbClr val="3333CC"/>
                </a:solidFill>
              </a:rPr>
              <a:t> </a:t>
            </a:r>
            <a:r>
              <a:rPr kumimoji="0" lang="zh-CN" altLang="en-US" sz="2400" b="1" dirty="0">
                <a:solidFill>
                  <a:srgbClr val="3333CC"/>
                </a:solidFill>
              </a:rPr>
              <a:t>通常作为语法分析器的一部分实现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3333CC"/>
                </a:solidFill>
              </a:rPr>
              <a:t> 包括对单词扩充信息，以进行类型检查、语义分析等工作</a:t>
            </a:r>
          </a:p>
        </p:txBody>
      </p:sp>
      <p:sp>
        <p:nvSpPr>
          <p:cNvPr id="8199" name="Line 27">
            <a:extLst>
              <a:ext uri="{FF2B5EF4-FFF2-40B4-BE49-F238E27FC236}">
                <a16:creationId xmlns:a16="http://schemas.microsoft.com/office/drawing/2014/main" id="{5C3D6485-B9C2-45C7-B620-FA5E275A21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124200"/>
            <a:ext cx="0" cy="609600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Text Box 28">
            <a:extLst>
              <a:ext uri="{FF2B5EF4-FFF2-40B4-BE49-F238E27FC236}">
                <a16:creationId xmlns:a16="http://schemas.microsoft.com/office/drawing/2014/main" id="{48282158-08E1-4AF9-A037-81C85E483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51275"/>
            <a:ext cx="3124200" cy="2308324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CN" sz="2400" b="1" dirty="0">
                <a:solidFill>
                  <a:srgbClr val="FF3300"/>
                </a:solidFill>
              </a:rPr>
              <a:t> </a:t>
            </a:r>
            <a:r>
              <a:rPr kumimoji="0" lang="zh-CN" altLang="en-US" sz="2400" b="1" dirty="0">
                <a:solidFill>
                  <a:srgbClr val="FF3300"/>
                </a:solidFill>
              </a:rPr>
              <a:t>根据语法检查输入单词流的语法结构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FF3300"/>
                </a:solidFill>
              </a:rPr>
              <a:t> 构造语法分析树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FF3300"/>
                </a:solidFill>
              </a:rPr>
              <a:t> 语法错误和修正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A50021"/>
                </a:solidFill>
              </a:rPr>
              <a:t> 识别正确语法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zh-CN" altLang="en-US" sz="2400" b="1" dirty="0">
                <a:solidFill>
                  <a:srgbClr val="A50021"/>
                </a:solidFill>
              </a:rPr>
              <a:t> 报告错误</a:t>
            </a:r>
          </a:p>
        </p:txBody>
      </p:sp>
      <p:sp>
        <p:nvSpPr>
          <p:cNvPr id="8201" name="Line 29">
            <a:extLst>
              <a:ext uri="{FF2B5EF4-FFF2-40B4-BE49-F238E27FC236}">
                <a16:creationId xmlns:a16="http://schemas.microsoft.com/office/drawing/2014/main" id="{D35348BC-D554-4190-838C-373D896952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819400"/>
            <a:ext cx="1676400" cy="1143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Text Box 30">
            <a:extLst>
              <a:ext uri="{FF2B5EF4-FFF2-40B4-BE49-F238E27FC236}">
                <a16:creationId xmlns:a16="http://schemas.microsoft.com/office/drawing/2014/main" id="{D16F1137-B8E6-4FC7-A182-EB42FC86F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362200"/>
            <a:ext cx="1676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intermediate     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A3CE883-421B-4347-9F42-658A3C792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三类语法分析器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40D10B1-9743-4107-84E8-6BFF2F1FE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通用分析器，</a:t>
            </a:r>
            <a:r>
              <a:rPr lang="en-US" altLang="zh-CN" dirty="0" err="1">
                <a:solidFill>
                  <a:srgbClr val="FF3300"/>
                </a:solidFill>
              </a:rPr>
              <a:t>Cocke</a:t>
            </a:r>
            <a:r>
              <a:rPr lang="en-US" altLang="zh-CN" dirty="0">
                <a:solidFill>
                  <a:srgbClr val="FF3300"/>
                </a:solidFill>
              </a:rPr>
              <a:t>-Younger-</a:t>
            </a:r>
            <a:r>
              <a:rPr lang="en-US" altLang="zh-CN" dirty="0" err="1">
                <a:solidFill>
                  <a:srgbClr val="FF3300"/>
                </a:solidFill>
              </a:rPr>
              <a:t>Kasami</a:t>
            </a:r>
            <a:r>
              <a:rPr lang="zh-CN" altLang="en-US" dirty="0"/>
              <a:t>算法，适用任何文法，效率低</a:t>
            </a:r>
          </a:p>
          <a:p>
            <a:pPr eaLnBrk="1" hangingPunct="1"/>
            <a:r>
              <a:rPr lang="zh-CN" altLang="en-US" dirty="0"/>
              <a:t>自顶向下分析器，</a:t>
            </a:r>
            <a:r>
              <a:rPr lang="en-US" altLang="zh-CN" dirty="0">
                <a:solidFill>
                  <a:srgbClr val="FF3300"/>
                </a:solidFill>
              </a:rPr>
              <a:t>top-down</a:t>
            </a:r>
          </a:p>
          <a:p>
            <a:pPr eaLnBrk="1" hangingPunct="1"/>
            <a:r>
              <a:rPr lang="zh-CN" altLang="en-US" dirty="0"/>
              <a:t>自底向上分析器，</a:t>
            </a:r>
            <a:r>
              <a:rPr lang="en-US" altLang="zh-CN" dirty="0">
                <a:solidFill>
                  <a:srgbClr val="FF3300"/>
                </a:solidFill>
              </a:rPr>
              <a:t>bottom-up</a:t>
            </a:r>
          </a:p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top-down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3300"/>
                </a:solidFill>
              </a:rPr>
              <a:t>bottom-up</a:t>
            </a:r>
            <a:r>
              <a:rPr lang="zh-CN" altLang="en-US" dirty="0"/>
              <a:t>：适用特定类别文法</a:t>
            </a:r>
            <a:r>
              <a:rPr lang="en-US" altLang="zh-CN" dirty="0"/>
              <a:t>——LL</a:t>
            </a:r>
            <a:r>
              <a:rPr lang="zh-CN" altLang="en-US" dirty="0"/>
              <a:t>、</a:t>
            </a:r>
            <a:r>
              <a:rPr lang="en-US" altLang="zh-CN" dirty="0"/>
              <a:t>LR</a:t>
            </a:r>
            <a:r>
              <a:rPr lang="zh-CN" altLang="en-US" dirty="0"/>
              <a:t>，描述能力足够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38EC07A-309B-4B65-AD21-2AA79DE9F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4.1.1  </a:t>
            </a:r>
            <a:r>
              <a:rPr lang="zh-CN" altLang="en-US"/>
              <a:t>语法错误处理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E6C543D-AD8D-4B21-97E9-0814E8032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800"/>
              <a:t>不同层次的错误</a:t>
            </a:r>
          </a:p>
          <a:p>
            <a:pPr lvl="1" eaLnBrk="1" hangingPunct="1"/>
            <a:r>
              <a:rPr lang="zh-CN" altLang="en-US" sz="2400"/>
              <a:t>词法：拼写错误</a:t>
            </a:r>
          </a:p>
          <a:p>
            <a:pPr lvl="1" eaLnBrk="1" hangingPunct="1"/>
            <a:r>
              <a:rPr lang="zh-CN" altLang="en-US" sz="2400"/>
              <a:t>语法：单词漏掉、顺序错误</a:t>
            </a:r>
          </a:p>
          <a:p>
            <a:pPr lvl="1" eaLnBrk="1" hangingPunct="1"/>
            <a:r>
              <a:rPr lang="zh-CN" altLang="en-US" sz="2400"/>
              <a:t>语义：类型错误</a:t>
            </a:r>
          </a:p>
          <a:p>
            <a:pPr lvl="1" eaLnBrk="1" hangingPunct="1"/>
            <a:r>
              <a:rPr lang="zh-CN" altLang="en-US" sz="2400"/>
              <a:t>逻辑：无限循环</a:t>
            </a:r>
            <a:r>
              <a:rPr lang="en-US" altLang="zh-CN" sz="2400"/>
              <a:t>/</a:t>
            </a:r>
            <a:r>
              <a:rPr lang="zh-CN" altLang="en-US" sz="2400"/>
              <a:t>递归调用</a:t>
            </a:r>
          </a:p>
          <a:p>
            <a:pPr eaLnBrk="1" hangingPunct="1"/>
            <a:r>
              <a:rPr lang="zh-CN" altLang="en-US" sz="2800"/>
              <a:t>语法错误处理为重点</a:t>
            </a:r>
          </a:p>
          <a:p>
            <a:pPr lvl="1" eaLnBrk="1" hangingPunct="1"/>
            <a:r>
              <a:rPr lang="zh-CN" altLang="en-US" sz="2400"/>
              <a:t>语法错误相对较多</a:t>
            </a:r>
          </a:p>
          <a:p>
            <a:pPr lvl="1" eaLnBrk="1" hangingPunct="1"/>
            <a:r>
              <a:rPr lang="zh-CN" altLang="en-US" sz="2400"/>
              <a:t>编译器容易高效检测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0D307F7-180A-4A9D-9D96-FCE829586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错误处理目标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45BBEC0-7025-49E1-86FD-BF11593C9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三个“简单”的目标</a:t>
            </a:r>
          </a:p>
          <a:p>
            <a:pPr lvl="1" eaLnBrk="1" hangingPunct="1"/>
            <a:r>
              <a:rPr lang="zh-CN" altLang="en-US" sz="2400" dirty="0"/>
              <a:t>清楚、准确地检测、报告错误及其发生位置</a:t>
            </a:r>
          </a:p>
          <a:p>
            <a:pPr lvl="1" eaLnBrk="1" hangingPunct="1"/>
            <a:r>
              <a:rPr lang="zh-CN" altLang="en-US" sz="2400" dirty="0"/>
              <a:t>快速恢复，继续编译，以便发现后续错误</a:t>
            </a:r>
          </a:p>
          <a:p>
            <a:pPr lvl="1" eaLnBrk="1" hangingPunct="1"/>
            <a:r>
              <a:rPr lang="zh-CN" altLang="en-US" sz="2400" dirty="0"/>
              <a:t>不能对“正确”程序的编译速度造成很大影响</a:t>
            </a:r>
          </a:p>
          <a:p>
            <a:pPr eaLnBrk="1" hangingPunct="1"/>
            <a:r>
              <a:rPr lang="zh-CN" altLang="en-US" sz="2800" dirty="0"/>
              <a:t>完全实现困难</a:t>
            </a:r>
          </a:p>
          <a:p>
            <a:pPr eaLnBrk="1" hangingPunct="1"/>
            <a:r>
              <a:rPr lang="en-US" altLang="zh-CN" sz="2800" dirty="0"/>
              <a:t>LL</a:t>
            </a:r>
            <a:r>
              <a:rPr lang="zh-CN" altLang="en-US" sz="2800" dirty="0"/>
              <a:t>，</a:t>
            </a:r>
            <a:r>
              <a:rPr lang="en-US" altLang="zh-CN" sz="2800" dirty="0"/>
              <a:t>LR</a:t>
            </a:r>
            <a:r>
              <a:rPr lang="zh-CN" altLang="en-US" sz="2800" dirty="0"/>
              <a:t>，可最快速度发现错误</a:t>
            </a:r>
          </a:p>
          <a:p>
            <a:pPr lvl="1" eaLnBrk="1" hangingPunct="1"/>
            <a:r>
              <a:rPr lang="zh-CN" altLang="en-US" sz="2400" dirty="0"/>
              <a:t>活前缀特性，</a:t>
            </a:r>
            <a:r>
              <a:rPr lang="en-US" altLang="zh-CN" sz="2400" dirty="0">
                <a:solidFill>
                  <a:srgbClr val="FF3300"/>
                </a:solidFill>
              </a:rPr>
              <a:t>viable-prefix property</a:t>
            </a:r>
          </a:p>
          <a:p>
            <a:pPr lvl="1" eaLnBrk="1" hangingPunct="1"/>
            <a:r>
              <a:rPr lang="zh-CN" altLang="en-US" sz="2400" dirty="0"/>
              <a:t>一个输入前缀不是语言中任何符号串的前缀</a:t>
            </a:r>
            <a:br>
              <a:rPr lang="zh-CN" altLang="en-US" sz="2400" dirty="0"/>
            </a:br>
            <a:r>
              <a:rPr lang="en-US" altLang="zh-CN" sz="2400" dirty="0"/>
              <a:t>——</a:t>
            </a:r>
            <a:r>
              <a:rPr lang="zh-CN" altLang="en-US" sz="2400" dirty="0"/>
              <a:t>发生错误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62636A-80A0-4BA4-84DD-DDD9E0224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5D74267-F01F-48A4-9C92-35B3EFCF2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有关程序错误的统计</a:t>
            </a:r>
          </a:p>
          <a:p>
            <a:pPr lvl="1" eaLnBrk="1" hangingPunct="1"/>
            <a:r>
              <a:rPr lang="en-US" altLang="zh-CN"/>
              <a:t>60%</a:t>
            </a:r>
            <a:r>
              <a:rPr lang="zh-CN" altLang="en-US"/>
              <a:t>的程序无语法、语义错误</a:t>
            </a:r>
          </a:p>
          <a:p>
            <a:pPr lvl="1" eaLnBrk="1" hangingPunct="1"/>
            <a:r>
              <a:rPr lang="zh-CN" altLang="en-US"/>
              <a:t>错误发生是分散的：错误语句中</a:t>
            </a:r>
            <a:r>
              <a:rPr lang="en-US" altLang="zh-CN"/>
              <a:t>80%</a:t>
            </a:r>
            <a:r>
              <a:rPr lang="zh-CN" altLang="en-US"/>
              <a:t>只有一个错误，</a:t>
            </a:r>
            <a:r>
              <a:rPr lang="en-US" altLang="zh-CN"/>
              <a:t>13%</a:t>
            </a:r>
            <a:r>
              <a:rPr lang="zh-CN" altLang="en-US"/>
              <a:t>有两个</a:t>
            </a:r>
          </a:p>
          <a:p>
            <a:pPr lvl="1" eaLnBrk="1" hangingPunct="1"/>
            <a:r>
              <a:rPr lang="zh-CN" altLang="en-US"/>
              <a:t>多数错误是简单的：</a:t>
            </a:r>
            <a:r>
              <a:rPr lang="en-US" altLang="zh-CN"/>
              <a:t>90%</a:t>
            </a:r>
            <a:r>
              <a:rPr lang="zh-CN" altLang="en-US"/>
              <a:t>的错误是单个单词错误</a:t>
            </a:r>
          </a:p>
          <a:p>
            <a:pPr lvl="1" eaLnBrk="1" hangingPunct="1"/>
            <a:r>
              <a:rPr lang="zh-CN" altLang="en-US"/>
              <a:t>错误分类：</a:t>
            </a:r>
            <a:r>
              <a:rPr lang="en-US" altLang="zh-CN"/>
              <a:t>60%</a:t>
            </a:r>
            <a:r>
              <a:rPr lang="zh-CN" altLang="en-US"/>
              <a:t>是标点符号错误，</a:t>
            </a:r>
            <a:r>
              <a:rPr lang="en-US" altLang="zh-CN"/>
              <a:t>20%</a:t>
            </a:r>
            <a:r>
              <a:rPr lang="zh-CN" altLang="en-US"/>
              <a:t>是运算符和运算对象错误，</a:t>
            </a:r>
            <a:r>
              <a:rPr lang="en-US" altLang="zh-CN"/>
              <a:t>15%</a:t>
            </a:r>
            <a:r>
              <a:rPr lang="zh-CN" altLang="en-US"/>
              <a:t>是关键字错误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7D62484-80BB-4642-AFC7-FF33BEB72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</a:t>
            </a:r>
            <a:r>
              <a:rPr lang="zh-CN" altLang="en-US"/>
              <a:t>（续）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7996995-51C3-4C22-B7F4-BCFDF11B1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#include&lt;stdio.h&gt;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f1(int v)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  int i,j=0;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for (i=1;i&lt;5;i++)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{   j=v+f2(i) 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return j;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f2(int u)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  int j;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j=u+f1(u*u);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return j;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  int i,j=0;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 for (i=1;i&lt;10;i++)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{  j=j+i*i  printf(“%d\n”,i); 	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printf("%d\n",f1(j));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return 0;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  <a:endParaRPr lang="en-US" altLang="zh-CN" sz="2000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A4DC03C9-499A-42C4-B5FF-5A487F7AE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114800"/>
            <a:ext cx="22463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FF3300"/>
                </a:solidFill>
              </a:rPr>
              <a:t>哪些“容易”恢复？哪些“困难” </a:t>
            </a:r>
            <a:r>
              <a:rPr kumimoji="0" lang="en-US" altLang="zh-CN" sz="2000" b="1" dirty="0">
                <a:solidFill>
                  <a:srgbClr val="FF33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74B1B93-DE01-47EE-9813-633EC7A17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4.1.2  </a:t>
            </a:r>
            <a:r>
              <a:rPr lang="zh-CN" altLang="en-US"/>
              <a:t>错误恢复策略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822B012-B74D-446D-8435-BCF0854CA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>
                <a:solidFill>
                  <a:srgbClr val="FF3300"/>
                </a:solidFill>
              </a:rPr>
              <a:t>Panic</a:t>
            </a:r>
            <a:r>
              <a:rPr lang="zh-CN" altLang="en-US"/>
              <a:t>模式</a:t>
            </a:r>
          </a:p>
          <a:p>
            <a:pPr marL="990600" lvl="1" indent="-533400" eaLnBrk="1" hangingPunct="1"/>
            <a:r>
              <a:rPr lang="zh-CN" altLang="en-US"/>
              <a:t>丢弃单词，直到发现 “同步”单词</a:t>
            </a:r>
          </a:p>
          <a:p>
            <a:pPr marL="990600" lvl="1" indent="-533400" eaLnBrk="1" hangingPunct="1"/>
            <a:r>
              <a:rPr lang="zh-CN" altLang="en-US"/>
              <a:t>设计者指定同步单词集，</a:t>
            </a:r>
            <a:r>
              <a:rPr lang="en-US" altLang="zh-CN"/>
              <a:t>{</a:t>
            </a:r>
            <a:r>
              <a:rPr lang="en-US" altLang="zh-CN" b="1">
                <a:solidFill>
                  <a:srgbClr val="FF3300"/>
                </a:solidFill>
              </a:rPr>
              <a:t>end</a:t>
            </a:r>
            <a:r>
              <a:rPr lang="en-US" altLang="zh-CN"/>
              <a:t>, “</a:t>
            </a:r>
            <a:r>
              <a:rPr lang="en-US" altLang="zh-CN" b="1">
                <a:solidFill>
                  <a:srgbClr val="FF3300"/>
                </a:solidFill>
              </a:rPr>
              <a:t>;</a:t>
            </a:r>
            <a:r>
              <a:rPr lang="en-US" altLang="zh-CN"/>
              <a:t>”, “</a:t>
            </a:r>
            <a:r>
              <a:rPr lang="en-US" altLang="zh-CN" b="1">
                <a:solidFill>
                  <a:srgbClr val="FF3300"/>
                </a:solidFill>
              </a:rPr>
              <a:t>}</a:t>
            </a:r>
            <a:r>
              <a:rPr lang="en-US" altLang="zh-CN"/>
              <a:t>”, …}</a:t>
            </a:r>
          </a:p>
          <a:p>
            <a:pPr marL="990600" lvl="1" indent="-533400" eaLnBrk="1" hangingPunct="1"/>
            <a:r>
              <a:rPr lang="zh-CN" altLang="en-US"/>
              <a:t>缺点</a:t>
            </a:r>
          </a:p>
          <a:p>
            <a:pPr marL="1371600" lvl="2" indent="-457200" eaLnBrk="1" hangingPunct="1"/>
            <a:r>
              <a:rPr lang="zh-CN" altLang="en-US"/>
              <a:t>丢弃输入</a:t>
            </a:r>
            <a:r>
              <a:rPr kumimoji="0" lang="zh-CN" altLang="en-US" b="1">
                <a:sym typeface="Symbol" panose="05050102010706020507" pitchFamily="18" charset="2"/>
              </a:rPr>
              <a:t></a:t>
            </a:r>
            <a:r>
              <a:rPr kumimoji="0" lang="zh-CN" altLang="en-US">
                <a:sym typeface="Symbol" panose="05050102010706020507" pitchFamily="18" charset="2"/>
              </a:rPr>
              <a:t>遗漏定义，造成更多错误</a:t>
            </a:r>
          </a:p>
          <a:p>
            <a:pPr marL="1371600" lvl="2" indent="-457200" eaLnBrk="1" hangingPunct="1"/>
            <a:r>
              <a:rPr kumimoji="0" lang="zh-CN" altLang="en-US">
                <a:sym typeface="Symbol" panose="05050102010706020507" pitchFamily="18" charset="2"/>
              </a:rPr>
              <a:t>遗漏错误</a:t>
            </a:r>
          </a:p>
          <a:p>
            <a:pPr marL="990600" lvl="1" indent="-533400" eaLnBrk="1" hangingPunct="1"/>
            <a:r>
              <a:rPr kumimoji="0" lang="zh-CN" altLang="en-US">
                <a:sym typeface="Symbol" panose="05050102010706020507" pitchFamily="18" charset="2"/>
              </a:rPr>
              <a:t>优点</a:t>
            </a:r>
          </a:p>
          <a:p>
            <a:pPr marL="1371600" lvl="2" indent="-457200" eaLnBrk="1" hangingPunct="1"/>
            <a:r>
              <a:rPr kumimoji="0" lang="zh-CN" altLang="en-US">
                <a:sym typeface="Symbol" panose="05050102010706020507" pitchFamily="18" charset="2"/>
              </a:rPr>
              <a:t>简单</a:t>
            </a:r>
            <a:r>
              <a:rPr kumimoji="0" lang="zh-CN" altLang="en-US" b="1">
                <a:sym typeface="Symbol" panose="05050102010706020507" pitchFamily="18" charset="2"/>
              </a:rPr>
              <a:t></a:t>
            </a:r>
            <a:r>
              <a:rPr kumimoji="0" lang="zh-CN" altLang="en-US">
                <a:sym typeface="Symbol" panose="05050102010706020507" pitchFamily="18" charset="2"/>
              </a:rPr>
              <a:t>适合每个语句一个错误的情况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562B84D-70F2-45B1-BF88-BE94D7EFB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错误恢复策略（续）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D8BBE69-FD4B-49F0-ACB6-7F16EE3BA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dirty="0"/>
              <a:t>短语级（</a:t>
            </a:r>
            <a:r>
              <a:rPr lang="en-US" altLang="zh-CN" dirty="0">
                <a:solidFill>
                  <a:srgbClr val="FF3300"/>
                </a:solidFill>
              </a:rPr>
              <a:t>phrase level</a:t>
            </a:r>
            <a:r>
              <a:rPr lang="zh-CN" altLang="en-US" dirty="0"/>
              <a:t>）</a:t>
            </a:r>
          </a:p>
          <a:p>
            <a:pPr marL="990600" lvl="1" indent="-533400" eaLnBrk="1" hangingPunct="1"/>
            <a:r>
              <a:rPr lang="zh-CN" altLang="en-US" dirty="0"/>
              <a:t>局部修正，继续分析</a:t>
            </a:r>
          </a:p>
          <a:p>
            <a:pPr marL="990600" lvl="1" indent="-533400" eaLnBrk="1" hangingPunct="1"/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,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en-US" altLang="zh-CN" b="1" dirty="0">
                <a:sym typeface="Symbol" panose="05050102010706020507" pitchFamily="18" charset="2"/>
              </a:rPr>
              <a:t>  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;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zh-CN" altLang="en-US" dirty="0">
                <a:sym typeface="Symbol" panose="05050102010706020507" pitchFamily="18" charset="2"/>
              </a:rPr>
              <a:t>，删除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,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zh-CN" altLang="en-US" dirty="0">
                <a:sym typeface="Symbol" panose="05050102010706020507" pitchFamily="18" charset="2"/>
              </a:rPr>
              <a:t>，插入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;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同样由设计者指定修正方法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避免无限循环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有些情况不适用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与</a:t>
            </a:r>
            <a:r>
              <a:rPr kumimoji="0" lang="en-US" altLang="zh-CN" dirty="0">
                <a:sym typeface="Symbol" panose="05050102010706020507" pitchFamily="18" charset="2"/>
              </a:rPr>
              <a:t>Panic</a:t>
            </a:r>
            <a:r>
              <a:rPr kumimoji="0" lang="zh-CN" altLang="en-US" dirty="0">
                <a:sym typeface="Symbol" panose="05050102010706020507" pitchFamily="18" charset="2"/>
              </a:rPr>
              <a:t>模式相结合，避免丢弃过多单词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E22554D-415B-4206-AEC6-A0FE7FB0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错误恢复策略（续）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4D07C59-EC60-4347-B2F5-9DE08D03E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错误产生式（</a:t>
            </a:r>
            <a:r>
              <a:rPr lang="en-US" altLang="zh-CN" dirty="0">
                <a:solidFill>
                  <a:srgbClr val="FF3300"/>
                </a:solidFill>
              </a:rPr>
              <a:t>error production</a:t>
            </a:r>
            <a:r>
              <a:rPr lang="zh-CN" altLang="en-US" dirty="0"/>
              <a:t>）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理解、描述错误模式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文法添加生成错误语句的产生式</a:t>
            </a:r>
          </a:p>
          <a:p>
            <a:pPr marL="990600" lvl="1" indent="-533400" eaLnBrk="1" hangingPunct="1"/>
            <a:r>
              <a:rPr kumimoji="0" lang="zh-CN" altLang="en-US" dirty="0">
                <a:sym typeface="Symbol" panose="05050102010706020507" pitchFamily="18" charset="2"/>
              </a:rPr>
              <a:t>拓广文法</a:t>
            </a:r>
            <a:r>
              <a:rPr kumimoji="0" lang="zh-CN" altLang="en-US" dirty="0">
                <a:sym typeface="Wingdings" panose="05000000000000000000" pitchFamily="2" charset="2"/>
              </a:rPr>
              <a:t>语法分析器程序</a:t>
            </a:r>
          </a:p>
          <a:p>
            <a:pPr marL="990600" lvl="1" indent="-533400" eaLnBrk="1" hangingPunct="1"/>
            <a:r>
              <a:rPr kumimoji="0" lang="zh-CN" altLang="en-US" dirty="0">
                <a:sym typeface="Wingdings" panose="05000000000000000000" pitchFamily="2" charset="2"/>
              </a:rPr>
              <a:t>如，对</a:t>
            </a:r>
            <a:r>
              <a:rPr kumimoji="0" lang="en-US" altLang="zh-CN" dirty="0">
                <a:sym typeface="Wingdings" panose="05000000000000000000" pitchFamily="2" charset="2"/>
              </a:rPr>
              <a:t>C</a:t>
            </a:r>
            <a:r>
              <a:rPr kumimoji="0" lang="zh-CN" altLang="en-US" dirty="0">
                <a:sym typeface="Wingdings" panose="05000000000000000000" pitchFamily="2" charset="2"/>
              </a:rPr>
              <a:t>语言赋值语句，为</a:t>
            </a:r>
            <a:r>
              <a:rPr kumimoji="0" lang="en-US" altLang="zh-CN" dirty="0">
                <a:sym typeface="Symbol" panose="05050102010706020507" pitchFamily="18" charset="2"/>
              </a:rPr>
              <a:t>“</a:t>
            </a:r>
            <a:r>
              <a:rPr kumimoji="0" lang="en-US" altLang="zh-CN" b="1" dirty="0">
                <a:sym typeface="Symbol" panose="05050102010706020507" pitchFamily="18" charset="2"/>
              </a:rPr>
              <a:t>:=</a:t>
            </a:r>
            <a:r>
              <a:rPr kumimoji="0" lang="en-US" altLang="zh-CN" dirty="0">
                <a:sym typeface="Symbol" panose="05050102010706020507" pitchFamily="18" charset="2"/>
              </a:rPr>
              <a:t>”</a:t>
            </a:r>
            <a:r>
              <a:rPr kumimoji="0" lang="zh-CN" altLang="en-US" dirty="0">
                <a:sym typeface="Wingdings" panose="05000000000000000000" pitchFamily="2" charset="2"/>
              </a:rPr>
              <a:t>添加规则</a:t>
            </a:r>
            <a:br>
              <a:rPr kumimoji="0" lang="zh-CN" altLang="en-US" dirty="0">
                <a:sym typeface="Wingdings" panose="05000000000000000000" pitchFamily="2" charset="2"/>
              </a:rPr>
            </a:br>
            <a:r>
              <a:rPr kumimoji="0" lang="zh-CN" altLang="en-US" dirty="0">
                <a:sym typeface="Wingdings" panose="05000000000000000000" pitchFamily="2" charset="2"/>
              </a:rPr>
              <a:t>报告错误，但继续编译</a:t>
            </a:r>
          </a:p>
          <a:p>
            <a:pPr marL="990600" lvl="1" indent="-533400" eaLnBrk="1" hangingPunct="1"/>
            <a:r>
              <a:rPr kumimoji="0" lang="zh-CN" altLang="en-US" dirty="0">
                <a:sym typeface="Wingdings" panose="05000000000000000000" pitchFamily="2" charset="2"/>
              </a:rPr>
              <a:t>错误检测信息＋自动修正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/>
            <a:endParaRPr kumimoji="0"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A638534-43C6-4D25-8152-71B7CEC76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错误恢复策略（续）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048FC45-6AA7-4870-91D4-80D3A2526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lang="zh-CN" altLang="en-US"/>
              <a:t>全局修正（</a:t>
            </a:r>
            <a:r>
              <a:rPr lang="en-US" altLang="zh-CN">
                <a:solidFill>
                  <a:srgbClr val="FF3300"/>
                </a:solidFill>
              </a:rPr>
              <a:t>global correction</a:t>
            </a:r>
            <a:r>
              <a:rPr lang="zh-CN" altLang="en-US"/>
              <a:t>）</a:t>
            </a:r>
          </a:p>
          <a:p>
            <a:pPr marL="990600" lvl="1" indent="-533400" eaLnBrk="1" hangingPunct="1"/>
            <a:r>
              <a:rPr lang="zh-CN" altLang="en-US"/>
              <a:t>错误程序</a:t>
            </a:r>
            <a:r>
              <a:rPr lang="zh-CN" altLang="en-US">
                <a:sym typeface="Wingdings" panose="05000000000000000000" pitchFamily="2" charset="2"/>
              </a:rPr>
              <a:t>正确程序</a:t>
            </a: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寻找最少修正步骤，插入、删除、替换</a:t>
            </a: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不正确输入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，文法</a:t>
            </a:r>
            <a:r>
              <a:rPr lang="en-US" altLang="zh-CN">
                <a:sym typeface="Wingdings" panose="05000000000000000000" pitchFamily="2" charset="2"/>
              </a:rPr>
              <a:t>G </a:t>
            </a:r>
            <a:r>
              <a:rPr lang="en-US" altLang="zh-CN">
                <a:latin typeface="Tahoma" panose="020B0604030504040204" pitchFamily="34" charset="0"/>
              </a:rPr>
              <a:t>—————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y</a:t>
            </a:r>
            <a:r>
              <a:rPr lang="zh-CN" altLang="en-US">
                <a:sym typeface="Wingdings" panose="05000000000000000000" pitchFamily="2" charset="2"/>
              </a:rPr>
              <a:t>对应的语法分析树</a:t>
            </a: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过于复杂，时空效率低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E23D9B9B-B968-422D-AAB0-BC6CA9E32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862263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最少修正</a:t>
            </a:r>
            <a:r>
              <a:rPr lang="en-US" altLang="zh-CN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x</a:t>
            </a:r>
            <a:r>
              <a:rPr lang="en-US" altLang="zh-CN" sz="200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y</a:t>
            </a:r>
            <a:endParaRPr lang="en-US" altLang="zh-CN" sz="200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89D3433-E879-4BF9-9020-597887248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  </a:t>
            </a:r>
            <a:r>
              <a:rPr lang="zh-CN" altLang="en-US"/>
              <a:t>上下文无关文法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962EF17-79CD-4DEC-B979-FEEA0F06F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9530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定义：四元式</a:t>
            </a:r>
            <a:r>
              <a:rPr lang="en-US" altLang="zh-CN" sz="2800"/>
              <a:t>(V</a:t>
            </a:r>
            <a:r>
              <a:rPr lang="en-US" altLang="zh-CN" sz="2800" baseline="-25000"/>
              <a:t>T</a:t>
            </a:r>
            <a:r>
              <a:rPr lang="en-US" altLang="zh-CN" sz="2800"/>
              <a:t>, V</a:t>
            </a:r>
            <a:r>
              <a:rPr lang="en-US" altLang="zh-CN" sz="2800" baseline="-25000"/>
              <a:t>N</a:t>
            </a:r>
            <a:r>
              <a:rPr lang="en-US" altLang="zh-CN" sz="2800"/>
              <a:t>, S, </a:t>
            </a:r>
            <a:r>
              <a:rPr lang="en-US" altLang="zh-CN" sz="280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/>
              <a:t>)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V</a:t>
            </a:r>
            <a:r>
              <a:rPr lang="en-US" altLang="zh-CN" sz="2800" baseline="-25000"/>
              <a:t>T</a:t>
            </a:r>
            <a:r>
              <a:rPr lang="zh-CN" altLang="en-US" sz="2800"/>
              <a:t>：终结符号（单词）集，</a:t>
            </a:r>
            <a:r>
              <a:rPr lang="en-US" altLang="zh-CN" sz="2800"/>
              <a:t>T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V</a:t>
            </a:r>
            <a:r>
              <a:rPr lang="en-US" altLang="zh-CN" sz="2800" baseline="-25000"/>
              <a:t>N</a:t>
            </a:r>
            <a:r>
              <a:rPr lang="zh-CN" altLang="en-US" sz="2800"/>
              <a:t>：非终结符（语法变量）集，</a:t>
            </a:r>
            <a:r>
              <a:rPr lang="en-US" altLang="zh-CN" sz="2800"/>
              <a:t>NT</a:t>
            </a:r>
            <a:r>
              <a:rPr lang="zh-CN" altLang="en-US" sz="2800"/>
              <a:t>，定义了文法</a:t>
            </a:r>
            <a:r>
              <a:rPr lang="en-US" altLang="zh-CN" sz="2800"/>
              <a:t>/</a:t>
            </a:r>
            <a:r>
              <a:rPr lang="zh-CN" altLang="en-US" sz="2800"/>
              <a:t>语言可生成的符号串集合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S</a:t>
            </a:r>
            <a:r>
              <a:rPr lang="zh-CN" altLang="en-US" sz="2800"/>
              <a:t>：</a:t>
            </a:r>
            <a:r>
              <a:rPr lang="en-US" altLang="zh-CN" sz="2800"/>
              <a:t>S</a:t>
            </a:r>
            <a:r>
              <a:rPr lang="en-US" altLang="zh-CN" sz="2800">
                <a:latin typeface="宋体" panose="02010600030101010101" pitchFamily="2" charset="-122"/>
              </a:rPr>
              <a:t>∈</a:t>
            </a:r>
            <a:r>
              <a:rPr lang="en-US" altLang="zh-CN" sz="2800"/>
              <a:t>NT</a:t>
            </a:r>
            <a:r>
              <a:rPr lang="zh-CN" altLang="en-US" sz="2800"/>
              <a:t>，开始符号，定义语言的所有符号串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zh-CN" altLang="en-US" sz="2800">
                <a:latin typeface="Monotype Corsiva" panose="03010101010201010101" pitchFamily="66" charset="0"/>
              </a:rPr>
              <a:t>，产生式集</a:t>
            </a:r>
            <a:r>
              <a:rPr lang="zh-CN" altLang="en-US" sz="2800"/>
              <a:t>，</a:t>
            </a:r>
            <a:r>
              <a:rPr lang="en-US" altLang="zh-CN" sz="2800"/>
              <a:t>PR</a:t>
            </a:r>
            <a:r>
              <a:rPr lang="zh-CN" altLang="en-US" sz="2800"/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NT(T | NT)*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zh-CN" altLang="en-US" sz="2800">
                <a:sym typeface="Symbol" panose="05050102010706020507" pitchFamily="18" charset="2"/>
              </a:rPr>
              <a:t>规则</a:t>
            </a:r>
            <a:r>
              <a:rPr kumimoji="0" lang="zh-CN" altLang="en-US" sz="2800">
                <a:sym typeface="Wingdings" panose="05000000000000000000" pitchFamily="2" charset="2"/>
              </a:rPr>
              <a:t></a:t>
            </a:r>
            <a:r>
              <a:rPr kumimoji="0" lang="en-US" altLang="zh-CN" sz="2800">
                <a:sym typeface="Wingdings" panose="05000000000000000000" pitchFamily="2" charset="2"/>
              </a:rPr>
              <a:t>T</a:t>
            </a:r>
            <a:r>
              <a:rPr kumimoji="0" lang="zh-CN" altLang="en-US" sz="2800">
                <a:sym typeface="Wingdings" panose="05000000000000000000" pitchFamily="2" charset="2"/>
              </a:rPr>
              <a:t>、</a:t>
            </a:r>
            <a:r>
              <a:rPr kumimoji="0" lang="en-US" altLang="zh-CN" sz="2800">
                <a:sym typeface="Wingdings" panose="05000000000000000000" pitchFamily="2" charset="2"/>
              </a:rPr>
              <a:t>NT</a:t>
            </a:r>
            <a:r>
              <a:rPr kumimoji="0" lang="zh-CN" altLang="en-US" sz="2800">
                <a:sym typeface="Wingdings" panose="05000000000000000000" pitchFamily="2" charset="2"/>
              </a:rPr>
              <a:t>如何组合，生成语言的合法符号串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48C4EA1-8538-44A3-94F7-255674FB8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</a:t>
            </a:r>
            <a:r>
              <a:rPr lang="zh-CN" altLang="en-US"/>
              <a:t>：简单表达式</a:t>
            </a:r>
          </a:p>
        </p:txBody>
      </p:sp>
      <p:sp>
        <p:nvSpPr>
          <p:cNvPr id="19459" name="Text Box 5">
            <a:extLst>
              <a:ext uri="{FF2B5EF4-FFF2-40B4-BE49-F238E27FC236}">
                <a16:creationId xmlns:a16="http://schemas.microsoft.com/office/drawing/2014/main" id="{3A722CF4-A447-43D4-964D-87FCC221A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371600"/>
            <a:ext cx="3657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expr  op  expr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 i="1">
                <a:sym typeface="Symbol" panose="05050102010706020507" pitchFamily="18" charset="2"/>
              </a:rPr>
              <a:t> expr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 i="1">
                <a:sym typeface="Symbol" panose="05050102010706020507" pitchFamily="18" charset="2"/>
              </a:rPr>
              <a:t> expr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expr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id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+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-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*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 i="1">
                <a:solidFill>
                  <a:srgbClr val="3333CC"/>
                </a:solidFill>
                <a:sym typeface="Symbol" panose="05050102010706020507" pitchFamily="18" charset="2"/>
              </a:rPr>
              <a:t>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op  </a:t>
            </a:r>
            <a:r>
              <a:rPr kumimoji="0" lang="en-US" altLang="zh-CN" sz="2400" b="1">
                <a:sym typeface="Symbol" panose="05050102010706020507" pitchFamily="18" charset="2"/>
              </a:rPr>
              <a:t></a:t>
            </a:r>
            <a:r>
              <a:rPr kumimoji="0" lang="en-US" altLang="zh-CN" sz="2400" b="1" i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19460" name="Text Box 6">
            <a:extLst>
              <a:ext uri="{FF2B5EF4-FFF2-40B4-BE49-F238E27FC236}">
                <a16:creationId xmlns:a16="http://schemas.microsoft.com/office/drawing/2014/main" id="{D1DF43EB-4724-4400-A711-412EA9A7B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0574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蓝色符号</a:t>
            </a:r>
            <a:r>
              <a:rPr kumimoji="0" lang="en-US" altLang="zh-CN" sz="2400" b="1">
                <a:solidFill>
                  <a:srgbClr val="3333CC"/>
                </a:solidFill>
              </a:rPr>
              <a:t>——T</a:t>
            </a:r>
            <a:r>
              <a:rPr kumimoji="0" lang="zh-CN" altLang="en-US" sz="2400" b="1">
                <a:solidFill>
                  <a:srgbClr val="3333CC"/>
                </a:solidFill>
              </a:rPr>
              <a:t>，黑色符号</a:t>
            </a:r>
            <a:r>
              <a:rPr kumimoji="0" lang="en-US" altLang="zh-CN" sz="2400" b="1">
                <a:solidFill>
                  <a:srgbClr val="3333CC"/>
                </a:solidFill>
              </a:rPr>
              <a:t>——NT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82B3645-79AD-466D-8B3E-B41774058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4.2.1  </a:t>
            </a:r>
            <a:r>
              <a:rPr lang="zh-CN" altLang="en-US"/>
              <a:t>符号约定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4C8D340-D48D-44F7-8E5C-7AB0B400D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终结符</a:t>
            </a:r>
          </a:p>
          <a:p>
            <a:pPr marL="990600" lvl="1" indent="-533400" eaLnBrk="1" hangingPunct="1"/>
            <a:r>
              <a:rPr lang="zh-CN" altLang="en-US" dirty="0"/>
              <a:t>字母表靠前的小写字母，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  …</a:t>
            </a:r>
          </a:p>
          <a:p>
            <a:pPr marL="990600" lvl="1" indent="-533400" eaLnBrk="1" hangingPunct="1"/>
            <a:r>
              <a:rPr lang="zh-CN" altLang="en-US" dirty="0"/>
              <a:t>运算符，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  …</a:t>
            </a:r>
          </a:p>
          <a:p>
            <a:pPr marL="990600" lvl="1" indent="-533400" eaLnBrk="1" hangingPunct="1"/>
            <a:r>
              <a:rPr lang="zh-CN" altLang="en-US" dirty="0"/>
              <a:t>标点符号，</a:t>
            </a:r>
            <a:r>
              <a:rPr lang="en-US" altLang="zh-CN" dirty="0"/>
              <a:t>(</a:t>
            </a:r>
            <a:r>
              <a:rPr lang="zh-CN" altLang="en-US" dirty="0"/>
              <a:t>、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,  …</a:t>
            </a:r>
          </a:p>
          <a:p>
            <a:pPr marL="990600" lvl="1" indent="-533400" eaLnBrk="1" hangingPunct="1"/>
            <a:r>
              <a:rPr lang="zh-CN" altLang="en-US" dirty="0"/>
              <a:t>数字，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</a:p>
          <a:p>
            <a:pPr marL="990600" lvl="1" indent="-533400" eaLnBrk="1" hangingPunct="1"/>
            <a:r>
              <a:rPr lang="zh-CN" altLang="en-US" dirty="0"/>
              <a:t>粗体突出显示的名字，</a:t>
            </a:r>
            <a:r>
              <a:rPr lang="en-US" altLang="zh-CN" b="1" dirty="0"/>
              <a:t>id</a:t>
            </a:r>
            <a:r>
              <a:rPr lang="zh-CN" altLang="en-US" b="1" dirty="0"/>
              <a:t>、</a:t>
            </a:r>
            <a:r>
              <a:rPr lang="en-US" altLang="zh-CN" b="1" dirty="0"/>
              <a:t>if  …</a:t>
            </a:r>
            <a:br>
              <a:rPr lang="en-US" altLang="zh-CN" b="1" dirty="0"/>
            </a:br>
            <a:r>
              <a:rPr lang="zh-CN" altLang="en-US" dirty="0"/>
              <a:t>蓝色突出显示的名字，</a:t>
            </a:r>
            <a:r>
              <a:rPr lang="en-US" altLang="zh-CN" dirty="0"/>
              <a:t>id</a:t>
            </a:r>
            <a:r>
              <a:rPr lang="zh-CN" altLang="en-US" dirty="0"/>
              <a:t>、</a:t>
            </a:r>
            <a:r>
              <a:rPr lang="en-US" altLang="zh-CN" dirty="0"/>
              <a:t>if 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5EA8025-6163-42F0-A374-779611EE6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符号约定（续）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D7B7BEB-4DF1-43CF-BB0C-397621239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sz="2800" dirty="0"/>
              <a:t>非终结符</a:t>
            </a:r>
          </a:p>
          <a:p>
            <a:pPr marL="990600" lvl="1" indent="-533400" eaLnBrk="1" hangingPunct="1"/>
            <a:r>
              <a:rPr lang="zh-CN" altLang="en-US" sz="2400" dirty="0"/>
              <a:t>字母表靠前的大写字母，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C  …</a:t>
            </a:r>
          </a:p>
          <a:p>
            <a:pPr marL="990600" lvl="1" indent="-533400" eaLnBrk="1" hangingPunct="1"/>
            <a:r>
              <a:rPr lang="en-US" altLang="zh-CN" sz="2400" dirty="0"/>
              <a:t>S</a:t>
            </a:r>
            <a:r>
              <a:rPr lang="zh-CN" altLang="en-US" sz="2400" dirty="0"/>
              <a:t>，通常作为开始符号</a:t>
            </a:r>
          </a:p>
          <a:p>
            <a:pPr marL="990600" lvl="1" indent="-533400" eaLnBrk="1" hangingPunct="1"/>
            <a:r>
              <a:rPr lang="zh-CN" altLang="en-US" sz="2400" dirty="0"/>
              <a:t>斜体小写字符串，</a:t>
            </a:r>
            <a:r>
              <a:rPr lang="en-US" altLang="zh-CN" sz="2400" i="1" dirty="0"/>
              <a:t>expr</a:t>
            </a:r>
            <a:r>
              <a:rPr lang="zh-CN" altLang="en-US" sz="2400" dirty="0"/>
              <a:t>、</a:t>
            </a:r>
            <a:r>
              <a:rPr lang="en-US" altLang="zh-CN" sz="2400" i="1" dirty="0"/>
              <a:t>term</a:t>
            </a:r>
            <a:r>
              <a:rPr lang="zh-CN" altLang="en-US" sz="2400" dirty="0"/>
              <a:t>、</a:t>
            </a:r>
            <a:r>
              <a:rPr lang="en-US" altLang="zh-CN" sz="2400" dirty="0"/>
              <a:t>…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 dirty="0"/>
              <a:t>字母表靠后的大写字母</a:t>
            </a:r>
          </a:p>
          <a:p>
            <a:pPr marL="990600" lvl="1" indent="-533400" eaLnBrk="1" hangingPunct="1"/>
            <a:r>
              <a:rPr lang="en-US" altLang="zh-CN" sz="2400" dirty="0"/>
              <a:t>X</a:t>
            </a:r>
            <a:r>
              <a:rPr lang="zh-CN" altLang="en-US" sz="2400" dirty="0"/>
              <a:t>、</a:t>
            </a:r>
            <a:r>
              <a:rPr lang="en-US" altLang="zh-CN" sz="2400" dirty="0"/>
              <a:t>Y</a:t>
            </a:r>
            <a:r>
              <a:rPr lang="zh-CN" altLang="en-US" sz="2400" dirty="0"/>
              <a:t>、</a:t>
            </a:r>
            <a:r>
              <a:rPr lang="en-US" altLang="zh-CN" sz="2400" dirty="0"/>
              <a:t>Z</a:t>
            </a:r>
            <a:r>
              <a:rPr lang="zh-CN" altLang="en-US" sz="2400" dirty="0"/>
              <a:t>，语法符号</a:t>
            </a:r>
            <a:r>
              <a:rPr lang="en-US" altLang="zh-CN" sz="2400" dirty="0"/>
              <a:t>——T</a:t>
            </a:r>
            <a:r>
              <a:rPr lang="zh-CN" altLang="en-US" sz="2400" dirty="0"/>
              <a:t>或</a:t>
            </a:r>
            <a:r>
              <a:rPr lang="en-US" altLang="zh-CN" sz="2400" dirty="0"/>
              <a:t>NT</a:t>
            </a:r>
            <a:r>
              <a:rPr lang="zh-CN" altLang="en-US" sz="2400" dirty="0"/>
              <a:t>（变量）</a:t>
            </a:r>
            <a:endParaRPr lang="en-US" altLang="zh-CN" sz="24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 dirty="0"/>
              <a:t>字母表靠后的小写字母</a:t>
            </a:r>
          </a:p>
          <a:p>
            <a:pPr marL="990600" lvl="1" indent="-533400" eaLnBrk="1" hangingPunct="1"/>
            <a:r>
              <a:rPr lang="en-US" altLang="zh-CN" sz="2400" dirty="0"/>
              <a:t>u</a:t>
            </a:r>
            <a:r>
              <a:rPr lang="zh-CN" altLang="en-US" sz="2400" dirty="0"/>
              <a:t>、</a:t>
            </a:r>
            <a:r>
              <a:rPr lang="en-US" altLang="zh-CN" sz="2400" dirty="0"/>
              <a:t>v  …</a:t>
            </a:r>
            <a:r>
              <a:rPr lang="zh-CN" altLang="en-US" sz="2400" dirty="0"/>
              <a:t>，终结符号串，</a:t>
            </a:r>
            <a:r>
              <a:rPr lang="en-US" altLang="zh-CN" sz="2400" dirty="0"/>
              <a:t>T</a:t>
            </a:r>
            <a:r>
              <a:rPr lang="en-US" altLang="zh-CN" sz="2400" baseline="30000" dirty="0"/>
              <a:t>*</a:t>
            </a:r>
            <a:r>
              <a:rPr lang="zh-CN" altLang="en-US" sz="2400" dirty="0"/>
              <a:t>（变量）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75FCA6C-5C90-4BA7-81BA-77A76AFF2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符号约定（续）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E6DA507-2EAA-40DC-9133-B56C2A18D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3528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zh-CN" altLang="en-US" dirty="0"/>
              <a:t>小写希腊字母</a:t>
            </a:r>
          </a:p>
          <a:p>
            <a:pPr marL="990600" lvl="1" indent="-533400" eaLnBrk="1" hangingPunct="1"/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/>
              <a:t>、</a:t>
            </a:r>
            <a:r>
              <a:rPr lang="en-US" altLang="zh-CN" dirty="0">
                <a:latin typeface="Symbol" panose="05050102010706020507" pitchFamily="18" charset="2"/>
              </a:rPr>
              <a:t>b</a:t>
            </a:r>
            <a:r>
              <a:rPr lang="zh-CN" altLang="en-US" dirty="0"/>
              <a:t>、</a:t>
            </a:r>
            <a:r>
              <a:rPr lang="en-US" altLang="zh-CN" dirty="0">
                <a:latin typeface="Symbol" panose="05050102010706020507" pitchFamily="18" charset="2"/>
              </a:rPr>
              <a:t>g</a:t>
            </a:r>
            <a:r>
              <a:rPr lang="en-US" altLang="zh-CN" dirty="0"/>
              <a:t>…</a:t>
            </a:r>
            <a:r>
              <a:rPr lang="zh-CN" altLang="en-US" dirty="0"/>
              <a:t>，语法符号串，</a:t>
            </a:r>
            <a:r>
              <a:rPr kumimoji="0" lang="en-US" altLang="zh-CN" dirty="0">
                <a:sym typeface="Symbol" panose="05050102010706020507" pitchFamily="18" charset="2"/>
              </a:rPr>
              <a:t>(T  NT)*</a:t>
            </a:r>
            <a:r>
              <a:rPr lang="zh-CN" altLang="en-US" sz="2800" dirty="0"/>
              <a:t>（变量）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zh-CN" altLang="en-US" dirty="0"/>
              <a:t>左部相同的产生式可合并，</a:t>
            </a:r>
            <a:r>
              <a:rPr lang="en-US" altLang="zh-CN" sz="3200" dirty="0"/>
              <a:t>‘</a:t>
            </a:r>
            <a:r>
              <a:rPr lang="en-US" altLang="zh-CN" dirty="0"/>
              <a:t>|’——“</a:t>
            </a:r>
            <a:r>
              <a:rPr lang="zh-CN" altLang="en-US" dirty="0"/>
              <a:t>或</a:t>
            </a:r>
            <a:r>
              <a:rPr lang="en-US" altLang="zh-CN" dirty="0"/>
              <a:t>”</a:t>
            </a:r>
            <a:endParaRPr lang="zh-CN" altLang="en-US" dirty="0"/>
          </a:p>
          <a:p>
            <a:pPr marL="990600" lvl="1" indent="-533400" eaLnBrk="1" hangingPunct="1"/>
            <a:r>
              <a:rPr kumimoji="0" lang="en-US" altLang="zh-CN" dirty="0">
                <a:sym typeface="Symbol" panose="05050102010706020507" pitchFamily="18" charset="2"/>
              </a:rPr>
              <a:t>A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; A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; …; A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k</a:t>
            </a:r>
            <a:r>
              <a:rPr kumimoji="0" lang="en-US" altLang="zh-CN" dirty="0">
                <a:sym typeface="Symbol" panose="05050102010706020507" pitchFamily="18" charset="2"/>
              </a:rPr>
              <a:t>;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>
                <a:sym typeface="Symbol" panose="05050102010706020507" pitchFamily="18" charset="2"/>
              </a:rPr>
              <a:t> A 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 |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 </a:t>
            </a:r>
            <a:r>
              <a:rPr kumimoji="0" lang="en-US" altLang="zh-CN" dirty="0">
                <a:sym typeface="Symbol" panose="05050102010706020507" pitchFamily="18" charset="2"/>
              </a:rPr>
              <a:t> | … | 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k</a:t>
            </a:r>
            <a:r>
              <a:rPr kumimoji="0" lang="zh-CN" altLang="en-US" dirty="0">
                <a:sym typeface="Symbol" panose="05050102010706020507" pitchFamily="18" charset="2"/>
              </a:rPr>
              <a:t>，候选式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kumimoji="0" lang="zh-CN" altLang="en-US" dirty="0">
                <a:sym typeface="Symbol" panose="05050102010706020507" pitchFamily="18" charset="2"/>
              </a:rPr>
              <a:t>第一个产生式的左部为开始符号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F74CBC4-DFDD-40DD-B32B-E452BE03A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  </a:t>
            </a:r>
            <a:r>
              <a:rPr lang="zh-CN" altLang="en-US"/>
              <a:t>利用符号约定简化文法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7AE383B9-F904-45A9-A244-6CAA76B1C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</a:t>
            </a:r>
            <a:r>
              <a:rPr lang="zh-CN" altLang="en-US"/>
              <a:t>中表达式文法简化后结果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/>
              <a:t>	</a:t>
            </a: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A E | ( E ) | -E |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A  + | - | * |  /  | 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CFB3CD-45A8-4674-8213-8ABDE2336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4.2.2  </a:t>
            </a:r>
            <a:r>
              <a:rPr lang="zh-CN" altLang="en-US"/>
              <a:t>推导（</a:t>
            </a:r>
            <a:r>
              <a:rPr lang="en-US" altLang="zh-CN">
                <a:solidFill>
                  <a:srgbClr val="FF3300"/>
                </a:solidFill>
              </a:rPr>
              <a:t>derivation</a:t>
            </a:r>
            <a:r>
              <a:rPr lang="zh-CN" altLang="en-US"/>
              <a:t>）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3DB8649-BC60-4DE4-9E0D-DB955FE3F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/>
              <a:t>描述文法</a:t>
            </a:r>
            <a:r>
              <a:rPr lang="zh-CN" altLang="en-US" dirty="0">
                <a:solidFill>
                  <a:schemeClr val="folHlink"/>
                </a:solidFill>
                <a:ea typeface="黑体" panose="02010609060101010101" pitchFamily="49" charset="-122"/>
              </a:rPr>
              <a:t>定义</a:t>
            </a:r>
            <a:r>
              <a:rPr lang="zh-CN" altLang="en-US" dirty="0"/>
              <a:t>语言的过程</a:t>
            </a:r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  <a:ea typeface="黑体" panose="02010609060101010101" pitchFamily="49" charset="-122"/>
              </a:rPr>
              <a:t>自顶向下</a:t>
            </a:r>
            <a:r>
              <a:rPr lang="zh-CN" altLang="en-US" dirty="0"/>
              <a:t>构造</a:t>
            </a:r>
            <a:r>
              <a:rPr lang="zh-CN" altLang="en-US" dirty="0">
                <a:solidFill>
                  <a:schemeClr val="folHlink"/>
                </a:solidFill>
                <a:ea typeface="黑体" panose="02010609060101010101" pitchFamily="49" charset="-122"/>
              </a:rPr>
              <a:t>语法分析树</a:t>
            </a:r>
            <a:r>
              <a:rPr lang="zh-CN" altLang="en-US" dirty="0"/>
              <a:t>的精确描述</a:t>
            </a:r>
          </a:p>
          <a:p>
            <a:pPr eaLnBrk="1" hangingPunct="1"/>
            <a:r>
              <a:rPr lang="zh-CN" altLang="en-US" dirty="0"/>
              <a:t>将产生式</a:t>
            </a:r>
            <a:r>
              <a:rPr lang="zh-CN" altLang="en-US" dirty="0">
                <a:sym typeface="Wingdings" panose="05000000000000000000" pitchFamily="2" charset="2"/>
              </a:rPr>
              <a:t>用作</a:t>
            </a:r>
            <a:r>
              <a:rPr lang="zh-CN" altLang="en-US" dirty="0"/>
              <a:t>重写规则</a:t>
            </a:r>
          </a:p>
          <a:p>
            <a:pPr lvl="1" eaLnBrk="1" hangingPunct="1"/>
            <a:r>
              <a:rPr lang="zh-CN" altLang="en-US" dirty="0"/>
              <a:t>由开始符号起始</a:t>
            </a:r>
          </a:p>
          <a:p>
            <a:pPr lvl="1" eaLnBrk="1" hangingPunct="1"/>
            <a:r>
              <a:rPr lang="zh-CN" altLang="en-US" dirty="0"/>
              <a:t>每个步骤将符号串转换为另一个符号串</a:t>
            </a:r>
          </a:p>
          <a:p>
            <a:pPr lvl="1" eaLnBrk="1" hangingPunct="1"/>
            <a:r>
              <a:rPr lang="zh-CN" altLang="en-US" dirty="0"/>
              <a:t>转换规则：利用某个产生式，将符号串中出现的其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左部</a:t>
            </a:r>
            <a:r>
              <a:rPr lang="en-US" altLang="zh-CN" dirty="0"/>
              <a:t>NT</a:t>
            </a:r>
            <a:r>
              <a:rPr lang="zh-CN" altLang="en-US" dirty="0">
                <a:sym typeface="Wingdings" panose="05000000000000000000" pitchFamily="2" charset="2"/>
              </a:rPr>
              <a:t>替换为其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右部</a:t>
            </a:r>
            <a:r>
              <a:rPr lang="zh-CN" altLang="en-US" dirty="0">
                <a:sym typeface="Wingdings" panose="05000000000000000000" pitchFamily="2" charset="2"/>
              </a:rPr>
              <a:t>符号串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6EB27B7-2C2D-4F63-B30B-1CAE3498E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推导（续）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F502C5E-1E0E-4AD0-8049-E2F985006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kumimoji="0" lang="en-US" altLang="zh-CN" dirty="0"/>
              <a:t>E </a:t>
            </a:r>
            <a:r>
              <a:rPr kumimoji="0" lang="en-US" altLang="zh-CN" dirty="0">
                <a:sym typeface="Symbol" panose="05050102010706020507" pitchFamily="18" charset="2"/>
              </a:rPr>
              <a:t> E + E | E * E | ( E ) | -E |</a:t>
            </a:r>
            <a:r>
              <a:rPr kumimoji="0" lang="en-US" altLang="zh-CN" b="1" dirty="0">
                <a:sym typeface="Symbol" panose="05050102010706020507" pitchFamily="18" charset="2"/>
              </a:rPr>
              <a:t> id</a:t>
            </a:r>
            <a:endParaRPr lang="en-US" altLang="zh-CN" dirty="0"/>
          </a:p>
          <a:p>
            <a:pPr eaLnBrk="1" hangingPunct="1"/>
            <a:r>
              <a:rPr lang="en-US" altLang="zh-CN" dirty="0"/>
              <a:t>E </a:t>
            </a:r>
            <a:r>
              <a:rPr kumimoji="0" lang="en-US" altLang="zh-CN" dirty="0">
                <a:sym typeface="Symbol" panose="05050102010706020507" pitchFamily="18" charset="2"/>
              </a:rPr>
              <a:t> -E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Symbol" panose="05050102010706020507" pitchFamily="18" charset="2"/>
              </a:rPr>
              <a:t>可替换为</a:t>
            </a:r>
            <a:r>
              <a:rPr kumimoji="0" lang="en-US" altLang="zh-CN" dirty="0">
                <a:sym typeface="Symbol" panose="05050102010706020507" pitchFamily="18" charset="2"/>
              </a:rPr>
              <a:t>-E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>
                <a:sym typeface="Symbol" panose="05050102010706020507" pitchFamily="18" charset="2"/>
              </a:rPr>
              <a:t>E  -E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“</a:t>
            </a:r>
            <a:r>
              <a:rPr kumimoji="0" lang="en-US" altLang="zh-CN" dirty="0">
                <a:sym typeface="Symbol" panose="05050102010706020507" pitchFamily="18" charset="2"/>
              </a:rPr>
              <a:t>E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直接推出</a:t>
            </a:r>
            <a:r>
              <a:rPr kumimoji="0" lang="en-US" altLang="zh-CN" dirty="0">
                <a:sym typeface="Symbol" panose="05050102010706020507" pitchFamily="18" charset="2"/>
              </a:rPr>
              <a:t>-E</a:t>
            </a:r>
            <a:r>
              <a:rPr kumimoji="0" lang="zh-CN" altLang="en-US" dirty="0">
                <a:sym typeface="Symbol" panose="05050102010706020507" pitchFamily="18" charset="2"/>
              </a:rPr>
              <a:t>”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>
                <a:sym typeface="Symbol" panose="05050102010706020507" pitchFamily="18" charset="2"/>
              </a:rPr>
              <a:t>E*E  (E)*E</a:t>
            </a:r>
          </a:p>
          <a:p>
            <a:pPr eaLnBrk="1" hangingPunct="1"/>
            <a:r>
              <a:rPr kumimoji="0" lang="en-US" altLang="zh-CN" dirty="0">
                <a:sym typeface="Symbol" panose="05050102010706020507" pitchFamily="18" charset="2"/>
              </a:rPr>
              <a:t>E  -E  -(E)  -(</a:t>
            </a:r>
            <a:r>
              <a:rPr kumimoji="0" lang="en-US" altLang="zh-CN" b="1" dirty="0">
                <a:sym typeface="Symbol" panose="05050102010706020507" pitchFamily="18" charset="2"/>
              </a:rPr>
              <a:t>id</a:t>
            </a:r>
            <a:r>
              <a:rPr kumimoji="0" lang="en-US" altLang="zh-CN" dirty="0">
                <a:sym typeface="Symbol" panose="05050102010706020507" pitchFamily="18" charset="2"/>
              </a:rPr>
              <a:t>)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zh-CN" altLang="en-US" dirty="0">
                <a:sym typeface="Symbol" panose="05050102010706020507" pitchFamily="18" charset="2"/>
              </a:rPr>
              <a:t>替换序列，</a:t>
            </a:r>
            <a:r>
              <a:rPr kumimoji="0" lang="en-US" altLang="zh-CN" dirty="0"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Wingdings" panose="05000000000000000000" pitchFamily="2" charset="2"/>
              </a:rPr>
              <a:t></a:t>
            </a:r>
            <a:r>
              <a:rPr kumimoji="0" lang="en-US" altLang="zh-CN" dirty="0">
                <a:sym typeface="Symbol" panose="05050102010706020507" pitchFamily="18" charset="2"/>
              </a:rPr>
              <a:t>-(</a:t>
            </a:r>
            <a:r>
              <a:rPr kumimoji="0" lang="en-US" altLang="zh-CN" b="1" dirty="0">
                <a:sym typeface="Symbol" panose="05050102010706020507" pitchFamily="18" charset="2"/>
              </a:rPr>
              <a:t>id</a:t>
            </a:r>
            <a:r>
              <a:rPr kumimoji="0" lang="en-US" altLang="zh-CN" dirty="0">
                <a:sym typeface="Symbol" panose="05050102010706020507" pitchFamily="18" charset="2"/>
              </a:rPr>
              <a:t>)</a:t>
            </a:r>
            <a:r>
              <a:rPr kumimoji="0" lang="zh-CN" altLang="en-US" dirty="0">
                <a:sym typeface="Symbol" panose="05050102010706020507" pitchFamily="18" charset="2"/>
              </a:rPr>
              <a:t>的一个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推导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38A25AF-ED7B-4A86-804E-C068560EB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66265B1-802A-4224-BA1D-980B2A80C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形式化定义</a:t>
            </a: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</a:t>
            </a:r>
            <a:r>
              <a:rPr kumimoji="0" lang="en-US" altLang="zh-CN">
                <a:sym typeface="Symbol" panose="05050102010706020507" pitchFamily="18" charset="2"/>
              </a:rPr>
              <a:t>A  </a:t>
            </a:r>
            <a:r>
              <a:rPr kumimoji="0" lang="zh-CN" altLang="en-US">
                <a:sym typeface="Symbol" panose="05050102010706020507" pitchFamily="18" charset="2"/>
              </a:rPr>
              <a:t>仅当存在产生式</a:t>
            </a:r>
            <a:r>
              <a:rPr kumimoji="0" lang="en-US" altLang="zh-CN">
                <a:sym typeface="Symbol" panose="05050102010706020507" pitchFamily="18" charset="2"/>
              </a:rPr>
              <a:t>A  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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 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 …  </a:t>
            </a:r>
            <a:r>
              <a:rPr kumimoji="0" lang="en-US" altLang="zh-CN" baseline="-25000">
                <a:sym typeface="Symbol" panose="05050102010706020507" pitchFamily="18" charset="2"/>
              </a:rPr>
              <a:t>n</a:t>
            </a:r>
            <a:r>
              <a:rPr kumimoji="0" lang="en-US" altLang="zh-CN">
                <a:sym typeface="Symbol" panose="05050102010706020507" pitchFamily="18" charset="2"/>
              </a:rPr>
              <a:t> ——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 </a:t>
            </a:r>
            <a:r>
              <a:rPr kumimoji="0" lang="en-US" altLang="zh-CN" baseline="-25000">
                <a:sym typeface="Symbol" panose="05050102010706020507" pitchFamily="18" charset="2"/>
              </a:rPr>
              <a:t>n</a:t>
            </a: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若  且  ，则  </a:t>
            </a: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，“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一步推导</a:t>
            </a:r>
            <a:r>
              <a:rPr kumimoji="0" lang="zh-CN" altLang="en-US" sz="2800">
                <a:sym typeface="Symbol" panose="05050102010706020507" pitchFamily="18" charset="2"/>
              </a:rPr>
              <a:t>”，“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直接推出</a:t>
            </a:r>
            <a:r>
              <a:rPr kumimoji="0" lang="zh-CN" altLang="en-US" sz="2800">
                <a:sym typeface="Symbol" panose="05050102010706020507" pitchFamily="18" charset="2"/>
              </a:rPr>
              <a:t>”，推导步数</a:t>
            </a:r>
            <a:r>
              <a:rPr kumimoji="0" lang="en-US" altLang="zh-CN" sz="2800">
                <a:sym typeface="Symbol" panose="05050102010706020507" pitchFamily="18" charset="2"/>
              </a:rPr>
              <a:t>=1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</a:t>
            </a:r>
            <a:r>
              <a:rPr kumimoji="0" lang="zh-CN" altLang="en-US" sz="2800">
                <a:sym typeface="Symbol" panose="05050102010706020507" pitchFamily="18" charset="2"/>
              </a:rPr>
              <a:t>，“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一步或多步推导</a:t>
            </a:r>
            <a:r>
              <a:rPr kumimoji="0" lang="zh-CN" altLang="en-US" sz="2800">
                <a:sym typeface="Symbol" panose="05050102010706020507" pitchFamily="18" charset="2"/>
              </a:rPr>
              <a:t>”，推导步数≥</a:t>
            </a:r>
            <a:r>
              <a:rPr kumimoji="0" lang="en-US" altLang="zh-CN" sz="2800">
                <a:sym typeface="Symbol" panose="05050102010706020507" pitchFamily="18" charset="2"/>
              </a:rPr>
              <a:t>1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</a:t>
            </a:r>
            <a:r>
              <a:rPr kumimoji="0" lang="zh-CN" altLang="en-US" sz="2800">
                <a:sym typeface="Symbol" panose="05050102010706020507" pitchFamily="18" charset="2"/>
              </a:rPr>
              <a:t>，“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zh-CN" altLang="en-US" sz="2800">
                <a:solidFill>
                  <a:srgbClr val="FF3300"/>
                </a:solidFill>
                <a:sym typeface="Symbol" panose="05050102010706020507" pitchFamily="18" charset="2"/>
              </a:rPr>
              <a:t>步或多步推导</a:t>
            </a:r>
            <a:r>
              <a:rPr kumimoji="0" lang="zh-CN" altLang="en-US" sz="2800">
                <a:sym typeface="Symbol" panose="05050102010706020507" pitchFamily="18" charset="2"/>
              </a:rPr>
              <a:t>”，推导步数≥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F9078E6E-86FD-472B-88A5-3C0DDC4B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87A82AFF-5CC4-4B08-89CA-4407A5FD8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938EA981-A988-4987-8DD5-7659D2E97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7ABE8E47-BC79-448A-BFC4-CA3558BFA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2719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+</a:t>
            </a:r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0CD8DD21-FDCA-46F1-ABEC-CC471A457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72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8C7F78D-FE57-44DB-9746-62DA486B6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推导与语言的关系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E6C6B9F-9373-445F-8DDB-23D3067D1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文法</a:t>
            </a:r>
            <a:r>
              <a:rPr kumimoji="0" lang="en-US" altLang="zh-CN" sz="2800" dirty="0"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sym typeface="Symbol" panose="05050102010706020507" pitchFamily="18" charset="2"/>
              </a:rPr>
              <a:t>，开始符号</a:t>
            </a:r>
            <a:r>
              <a:rPr kumimoji="0" lang="en-US" altLang="zh-CN" sz="2800" dirty="0">
                <a:sym typeface="Symbol" panose="05050102010706020507" pitchFamily="18" charset="2"/>
              </a:rPr>
              <a:t>S</a:t>
            </a:r>
            <a:r>
              <a:rPr kumimoji="0" lang="zh-CN" altLang="en-US" sz="2800" dirty="0">
                <a:sym typeface="Symbol" panose="05050102010706020507" pitchFamily="18" charset="2"/>
              </a:rPr>
              <a:t>，生成的语言</a:t>
            </a:r>
            <a:r>
              <a:rPr kumimoji="0" lang="en-US" altLang="zh-CN" sz="2800" dirty="0">
                <a:sym typeface="Symbol" panose="05050102010706020507" pitchFamily="18" charset="2"/>
              </a:rPr>
              <a:t>L(G)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zh-CN" altLang="en-US" sz="2800" dirty="0">
                <a:sym typeface="Symbol" panose="05050102010706020507" pitchFamily="18" charset="2"/>
              </a:rPr>
              <a:t>终结符号串</a:t>
            </a:r>
            <a:r>
              <a:rPr kumimoji="0" lang="en-US" altLang="zh-CN" sz="2800" dirty="0">
                <a:sym typeface="Symbol" panose="05050102010706020507" pitchFamily="18" charset="2"/>
              </a:rPr>
              <a:t>w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		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wL</a:t>
            </a:r>
            <a:r>
              <a:rPr kumimoji="0" lang="en-US" altLang="zh-CN" sz="2800" dirty="0">
                <a:sym typeface="Symbol" panose="05050102010706020507" pitchFamily="18" charset="2"/>
              </a:rPr>
              <a:t>(G)   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Sw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 dirty="0">
                <a:sym typeface="Symbol" panose="05050102010706020507" pitchFamily="18" charset="2"/>
              </a:rPr>
              <a:t>w</a:t>
            </a:r>
            <a:r>
              <a:rPr kumimoji="0" lang="zh-CN" altLang="en-US" sz="2800" dirty="0">
                <a:sym typeface="Symbol" panose="05050102010706020507" pitchFamily="18" charset="2"/>
              </a:rPr>
              <a:t>：</a:t>
            </a:r>
            <a:r>
              <a:rPr kumimoji="0" lang="en-US" altLang="zh-CN" sz="2800" dirty="0"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sym typeface="Symbol" panose="05050102010706020507" pitchFamily="18" charset="2"/>
              </a:rPr>
              <a:t>的一个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句子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sentence</a:t>
            </a:r>
          </a:p>
          <a:p>
            <a:pPr eaLnBrk="1" hangingPunct="1"/>
            <a:r>
              <a:rPr kumimoji="0" lang="en-US" altLang="zh-CN" sz="2800" dirty="0">
                <a:sym typeface="Symbol" panose="05050102010706020507" pitchFamily="18" charset="2"/>
              </a:rPr>
              <a:t>CFG</a:t>
            </a: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生成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上下文无关语言</a:t>
            </a:r>
          </a:p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两个</a:t>
            </a:r>
            <a:r>
              <a:rPr kumimoji="0" lang="en-US" altLang="zh-CN" sz="2800" dirty="0">
                <a:sym typeface="Symbol" panose="05050102010706020507" pitchFamily="18" charset="2"/>
              </a:rPr>
              <a:t>CFG</a:t>
            </a:r>
            <a:r>
              <a:rPr kumimoji="0" lang="zh-CN" altLang="en-US" sz="2800" dirty="0">
                <a:sym typeface="Symbol" panose="05050102010706020507" pitchFamily="18" charset="2"/>
              </a:rPr>
              <a:t>生成相同语言，两个</a:t>
            </a:r>
            <a:r>
              <a:rPr kumimoji="0" lang="en-US" altLang="zh-CN" sz="2800" dirty="0">
                <a:sym typeface="Symbol" panose="05050102010706020507" pitchFamily="18" charset="2"/>
              </a:rPr>
              <a:t>CFG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等价</a:t>
            </a:r>
          </a:p>
          <a:p>
            <a:pPr eaLnBrk="1" hangingPunct="1"/>
            <a:r>
              <a:rPr kumimoji="0" lang="en-US" altLang="zh-CN" sz="2800" dirty="0">
                <a:sym typeface="Symbol" panose="05050102010706020507" pitchFamily="18" charset="2"/>
              </a:rPr>
              <a:t>S</a:t>
            </a:r>
            <a:r>
              <a:rPr kumimoji="0" lang="zh-CN" altLang="en-US" sz="2800" dirty="0">
                <a:sym typeface="Symbol" panose="05050102010706020507" pitchFamily="18" charset="2"/>
              </a:rPr>
              <a:t>，可能包含</a:t>
            </a:r>
            <a:r>
              <a:rPr kumimoji="0" lang="en-US" altLang="zh-CN" sz="2800" dirty="0">
                <a:sym typeface="Symbol" panose="05050102010706020507" pitchFamily="18" charset="2"/>
              </a:rPr>
              <a:t>NT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</a:t>
            </a:r>
            <a:r>
              <a:rPr kumimoji="0" lang="zh-CN" altLang="en-US" sz="2800" dirty="0">
                <a:sym typeface="Symbol" panose="05050102010706020507" pitchFamily="18" charset="2"/>
              </a:rPr>
              <a:t>：</a:t>
            </a:r>
            <a:r>
              <a:rPr kumimoji="0" lang="en-US" altLang="zh-CN" sz="2800" dirty="0"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sym typeface="Symbol" panose="05050102010706020507" pitchFamily="18" charset="2"/>
              </a:rPr>
              <a:t>的一个</a:t>
            </a:r>
            <a:r>
              <a:rPr kumimoji="0" lang="zh-CN" altLang="en-US" sz="2800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句型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sentential form</a:t>
            </a:r>
            <a:br>
              <a:rPr kumimoji="0" lang="en-US" altLang="zh-CN" sz="2800" dirty="0">
                <a:sym typeface="Symbol" panose="05050102010706020507" pitchFamily="18" charset="2"/>
              </a:rPr>
            </a:br>
            <a:r>
              <a:rPr kumimoji="0" lang="zh-CN" altLang="en-US" sz="2800" dirty="0">
                <a:sym typeface="Symbol" panose="05050102010706020507" pitchFamily="18" charset="2"/>
              </a:rPr>
              <a:t>句子：不包含</a:t>
            </a:r>
            <a:r>
              <a:rPr kumimoji="0" lang="en-US" altLang="zh-CN" sz="2800" dirty="0">
                <a:sym typeface="Symbol" panose="05050102010706020507" pitchFamily="18" charset="2"/>
              </a:rPr>
              <a:t>NT</a:t>
            </a:r>
            <a:r>
              <a:rPr kumimoji="0" lang="zh-CN" altLang="en-US" sz="2800" dirty="0">
                <a:sym typeface="Symbol" panose="05050102010706020507" pitchFamily="18" charset="2"/>
              </a:rPr>
              <a:t>的句型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5C504285-4A5A-47E0-9A56-D68F224F2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27653" name="Text Box 9">
            <a:extLst>
              <a:ext uri="{FF2B5EF4-FFF2-40B4-BE49-F238E27FC236}">
                <a16:creationId xmlns:a16="http://schemas.microsoft.com/office/drawing/2014/main" id="{9DCFB432-F125-4BDB-A405-A0A6DD76A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904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+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0C4623D-0532-4273-8B48-BD95E8A86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606B99B-B460-49A7-8E98-2CA5D8BE5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E * E 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* E 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16964771-8958-40F7-852F-3AE3EDD53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105025"/>
            <a:ext cx="21336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句型</a:t>
            </a:r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7F861CAE-8351-4152-A250-4890F698B0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38400" y="1752600"/>
            <a:ext cx="838200" cy="30797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Line 7">
            <a:extLst>
              <a:ext uri="{FF2B5EF4-FFF2-40B4-BE49-F238E27FC236}">
                <a16:creationId xmlns:a16="http://schemas.microsoft.com/office/drawing/2014/main" id="{5656478A-CA46-4F6A-9361-0EA79ACFAA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1752600"/>
            <a:ext cx="685800" cy="35242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Line 8">
            <a:extLst>
              <a:ext uri="{FF2B5EF4-FFF2-40B4-BE49-F238E27FC236}">
                <a16:creationId xmlns:a16="http://schemas.microsoft.com/office/drawing/2014/main" id="{C2C7A0C6-13A5-4B63-B15F-4FBC613A85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0" y="1752600"/>
            <a:ext cx="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Text Box 9">
            <a:extLst>
              <a:ext uri="{FF2B5EF4-FFF2-40B4-BE49-F238E27FC236}">
                <a16:creationId xmlns:a16="http://schemas.microsoft.com/office/drawing/2014/main" id="{4BBCFFDC-B9BC-478B-9735-AC8844FEB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05025"/>
            <a:ext cx="2133600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句子</a:t>
            </a:r>
          </a:p>
        </p:txBody>
      </p:sp>
      <p:sp>
        <p:nvSpPr>
          <p:cNvPr id="28681" name="Line 10">
            <a:extLst>
              <a:ext uri="{FF2B5EF4-FFF2-40B4-BE49-F238E27FC236}">
                <a16:creationId xmlns:a16="http://schemas.microsoft.com/office/drawing/2014/main" id="{D05589F7-E7D7-4F8A-944A-A584AA4B35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1828800"/>
            <a:ext cx="838200" cy="27622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Rectangle 11">
            <a:extLst>
              <a:ext uri="{FF2B5EF4-FFF2-40B4-BE49-F238E27FC236}">
                <a16:creationId xmlns:a16="http://schemas.microsoft.com/office/drawing/2014/main" id="{DB6BD578-31B2-43E7-AE56-9D1D8867E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2819400"/>
            <a:ext cx="7772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另一种推导过程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-(E+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8683" name="Line 12">
            <a:extLst>
              <a:ext uri="{FF2B5EF4-FFF2-40B4-BE49-F238E27FC236}">
                <a16:creationId xmlns:a16="http://schemas.microsoft.com/office/drawing/2014/main" id="{501B3D42-0551-4E89-A148-3057E7F58494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057400" y="1795463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4" name="Line 13">
            <a:extLst>
              <a:ext uri="{FF2B5EF4-FFF2-40B4-BE49-F238E27FC236}">
                <a16:creationId xmlns:a16="http://schemas.microsoft.com/office/drawing/2014/main" id="{86845DA3-3CF5-407C-BFEA-632F6C3F9E78}"/>
              </a:ext>
            </a:extLst>
          </p:cNvPr>
          <p:cNvSpPr>
            <a:spLocks noChangeShapeType="1"/>
          </p:cNvSpPr>
          <p:nvPr/>
        </p:nvSpPr>
        <p:spPr bwMode="ltGray">
          <a:xfrm>
            <a:off x="3338513" y="1785938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5" name="Line 14">
            <a:extLst>
              <a:ext uri="{FF2B5EF4-FFF2-40B4-BE49-F238E27FC236}">
                <a16:creationId xmlns:a16="http://schemas.microsoft.com/office/drawing/2014/main" id="{CD5F0B42-1AFE-477D-83C2-F67643E0DE4D}"/>
              </a:ext>
            </a:extLst>
          </p:cNvPr>
          <p:cNvSpPr>
            <a:spLocks noChangeShapeType="1"/>
          </p:cNvSpPr>
          <p:nvPr/>
        </p:nvSpPr>
        <p:spPr bwMode="ltGray">
          <a:xfrm>
            <a:off x="4811713" y="1781175"/>
            <a:ext cx="8270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6" name="Line 15">
            <a:extLst>
              <a:ext uri="{FF2B5EF4-FFF2-40B4-BE49-F238E27FC236}">
                <a16:creationId xmlns:a16="http://schemas.microsoft.com/office/drawing/2014/main" id="{15787527-6D57-448F-9FC7-C597B756EA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31913" y="1773238"/>
            <a:ext cx="1439862" cy="287337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16">
            <a:extLst>
              <a:ext uri="{FF2B5EF4-FFF2-40B4-BE49-F238E27FC236}">
                <a16:creationId xmlns:a16="http://schemas.microsoft.com/office/drawing/2014/main" id="{E9F3464E-6BC1-45EE-B925-65BD31DF8FD7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217613" y="1804988"/>
            <a:ext cx="3603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F98A28C-8BBC-454E-B5E7-0E2151B8F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最左推导和最右推导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6522348-FF95-4865-A2AA-05DAF9250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folHlink"/>
                </a:solidFill>
                <a:ea typeface="黑体" panose="02010609060101010101" pitchFamily="49" charset="-122"/>
              </a:rPr>
              <a:t>最左推导</a:t>
            </a:r>
            <a:r>
              <a:rPr lang="zh-CN" altLang="en-US" sz="2800"/>
              <a:t>：总替换最左边的</a:t>
            </a:r>
            <a:r>
              <a:rPr lang="en-US" altLang="zh-CN" sz="2800"/>
              <a:t>NT</a:t>
            </a:r>
            <a:br>
              <a:rPr lang="en-US" altLang="zh-CN" sz="2800"/>
            </a:br>
            <a:r>
              <a:rPr kumimoji="0" lang="en-US" altLang="zh-CN" sz="2400"/>
              <a:t>E </a:t>
            </a:r>
            <a:r>
              <a:rPr kumimoji="0" lang="en-US" altLang="zh-CN" sz="24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+E)  -(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olidFill>
                  <a:schemeClr val="folHlink"/>
                </a:solidFill>
                <a:ea typeface="黑体" panose="02010609060101010101" pitchFamily="49" charset="-122"/>
              </a:rPr>
              <a:t>最右推导</a:t>
            </a:r>
            <a:r>
              <a:rPr lang="zh-CN" altLang="en-US" sz="2800"/>
              <a:t>：总替换最右边的</a:t>
            </a:r>
            <a:r>
              <a:rPr lang="en-US" altLang="zh-CN" sz="2800"/>
              <a:t>NT</a:t>
            </a:r>
            <a:br>
              <a:rPr lang="en-US" altLang="zh-CN" sz="2800"/>
            </a:br>
            <a:r>
              <a:rPr kumimoji="0" lang="en-US" altLang="zh-CN" sz="2400"/>
              <a:t>E </a:t>
            </a:r>
            <a:r>
              <a:rPr kumimoji="0" lang="en-US" altLang="zh-CN" sz="2400">
                <a:sym typeface="Symbol" panose="05050102010706020507" pitchFamily="18" charset="2"/>
              </a:rPr>
              <a:t> -E  -(E)  -(E+E)  -(E+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  -(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形式化定义： </a:t>
            </a:r>
            <a:r>
              <a:rPr kumimoji="0" lang="en-US" altLang="zh-CN" sz="2800"/>
              <a:t>A </a:t>
            </a:r>
            <a:r>
              <a:rPr kumimoji="0" lang="en-US" altLang="zh-CN" sz="2800">
                <a:sym typeface="Symbol" panose="05050102010706020507" pitchFamily="18" charset="2"/>
              </a:rPr>
              <a:t> 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wA  w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w</a:t>
            </a:r>
            <a:r>
              <a:rPr kumimoji="0" lang="zh-CN" altLang="en-US" sz="2800">
                <a:sym typeface="Symbol" panose="05050102010706020507" pitchFamily="18" charset="2"/>
              </a:rPr>
              <a:t>只含</a:t>
            </a:r>
            <a:r>
              <a:rPr kumimoji="0" lang="en-US" altLang="zh-CN" sz="2800">
                <a:sym typeface="Symbol" panose="05050102010706020507" pitchFamily="18" charset="2"/>
              </a:rPr>
              <a:t>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Aw  w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w</a:t>
            </a:r>
            <a:r>
              <a:rPr kumimoji="0" lang="zh-CN" altLang="en-US" sz="2800">
                <a:sym typeface="Symbol" panose="05050102010706020507" pitchFamily="18" charset="2"/>
              </a:rPr>
              <a:t>只含</a:t>
            </a:r>
            <a:r>
              <a:rPr kumimoji="0" lang="en-US" altLang="zh-CN" sz="2800">
                <a:sym typeface="Symbol" panose="05050102010706020507" pitchFamily="18" charset="2"/>
              </a:rPr>
              <a:t>T</a:t>
            </a:r>
          </a:p>
          <a:p>
            <a:pPr eaLnBrk="1" hangingPunct="1"/>
            <a:r>
              <a:rPr kumimoji="0" lang="en-US" altLang="zh-CN" sz="2800">
                <a:sym typeface="Symbol" panose="05050102010706020507" pitchFamily="18" charset="2"/>
              </a:rPr>
              <a:t>S</a:t>
            </a:r>
            <a:r>
              <a:rPr kumimoji="0" lang="zh-CN" altLang="en-US" sz="2800">
                <a:sym typeface="Symbol" panose="05050102010706020507" pitchFamily="18" charset="2"/>
              </a:rPr>
              <a:t>，：</a:t>
            </a:r>
            <a:r>
              <a:rPr kumimoji="0" lang="zh-CN" altLang="en-US" sz="2800" b="1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最左句型</a:t>
            </a:r>
            <a:r>
              <a:rPr kumimoji="0" lang="zh-CN" altLang="en-US" sz="2800"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left-sentential form</a:t>
            </a:r>
            <a:endParaRPr kumimoji="0" lang="en-US" altLang="zh-CN" sz="2800" b="1">
              <a:solidFill>
                <a:srgbClr val="FF3300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97F932A4-44E2-48DE-B181-8FD8C2303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C27C6911-8B9D-4C16-93BF-6CBFB290C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39B777E9-237E-4F26-A1E0-BB9F62A6B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530AB099-AAB6-469F-91F7-8923D7B6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EE841913-13D6-42E5-9AAC-9816A8FED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057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  <p:sp>
        <p:nvSpPr>
          <p:cNvPr id="29705" name="Text Box 15">
            <a:extLst>
              <a:ext uri="{FF2B5EF4-FFF2-40B4-BE49-F238E27FC236}">
                <a16:creationId xmlns:a16="http://schemas.microsoft.com/office/drawing/2014/main" id="{13F6C553-A4D4-4AB5-B034-899E64A05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</a:p>
        </p:txBody>
      </p:sp>
      <p:sp>
        <p:nvSpPr>
          <p:cNvPr id="29706" name="Text Box 16">
            <a:extLst>
              <a:ext uri="{FF2B5EF4-FFF2-40B4-BE49-F238E27FC236}">
                <a16:creationId xmlns:a16="http://schemas.microsoft.com/office/drawing/2014/main" id="{2BB8AE1C-2F6F-4AEE-B472-EC879BFBC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</a:p>
        </p:txBody>
      </p:sp>
      <p:sp>
        <p:nvSpPr>
          <p:cNvPr id="29707" name="Text Box 17">
            <a:extLst>
              <a:ext uri="{FF2B5EF4-FFF2-40B4-BE49-F238E27FC236}">
                <a16:creationId xmlns:a16="http://schemas.microsoft.com/office/drawing/2014/main" id="{5C9EF867-7AF8-4FB6-9509-6DDC843E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</a:p>
        </p:txBody>
      </p:sp>
      <p:sp>
        <p:nvSpPr>
          <p:cNvPr id="29708" name="Text Box 18">
            <a:extLst>
              <a:ext uri="{FF2B5EF4-FFF2-40B4-BE49-F238E27FC236}">
                <a16:creationId xmlns:a16="http://schemas.microsoft.com/office/drawing/2014/main" id="{7A5CBCA2-61F0-4970-9192-CD859CB9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</a:p>
        </p:txBody>
      </p:sp>
      <p:sp>
        <p:nvSpPr>
          <p:cNvPr id="29709" name="Text Box 19">
            <a:extLst>
              <a:ext uri="{FF2B5EF4-FFF2-40B4-BE49-F238E27FC236}">
                <a16:creationId xmlns:a16="http://schemas.microsoft.com/office/drawing/2014/main" id="{EA6E2B01-1355-49B3-BC84-FEE7407BA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2845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</a:p>
        </p:txBody>
      </p:sp>
      <p:sp>
        <p:nvSpPr>
          <p:cNvPr id="29710" name="Text Box 20">
            <a:extLst>
              <a:ext uri="{FF2B5EF4-FFF2-40B4-BE49-F238E27FC236}">
                <a16:creationId xmlns:a16="http://schemas.microsoft.com/office/drawing/2014/main" id="{AA5715BB-E593-4F0C-88AF-8BEB42E4A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4581525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  <p:sp>
        <p:nvSpPr>
          <p:cNvPr id="29711" name="Text Box 21">
            <a:extLst>
              <a:ext uri="{FF2B5EF4-FFF2-40B4-BE49-F238E27FC236}">
                <a16:creationId xmlns:a16="http://schemas.microsoft.com/office/drawing/2014/main" id="{8D0A4073-2881-49FD-91B3-D2F194892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4962525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rm</a:t>
            </a:r>
          </a:p>
        </p:txBody>
      </p:sp>
      <p:sp>
        <p:nvSpPr>
          <p:cNvPr id="29712" name="Text Box 22">
            <a:extLst>
              <a:ext uri="{FF2B5EF4-FFF2-40B4-BE49-F238E27FC236}">
                <a16:creationId xmlns:a16="http://schemas.microsoft.com/office/drawing/2014/main" id="{F580D3FE-D4F9-4C67-AA52-E5571BB7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51784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29713" name="Text Box 23">
            <a:extLst>
              <a:ext uri="{FF2B5EF4-FFF2-40B4-BE49-F238E27FC236}">
                <a16:creationId xmlns:a16="http://schemas.microsoft.com/office/drawing/2014/main" id="{D39BE010-9C9E-48B4-B688-E0F654FA3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413" y="5495925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lm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/>
      <p:bldP spid="29711" grpId="0"/>
      <p:bldP spid="29712" grpId="0"/>
      <p:bldP spid="297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F8E561A-965F-4C76-80DB-BA08EDECF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4.2.3  </a:t>
            </a:r>
            <a:r>
              <a:rPr lang="zh-CN" altLang="en-US"/>
              <a:t>语法分析树和推导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8054A9E-A131-455F-BA9E-638B8A810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dirty="0"/>
              <a:t>语法树：推导的图示，但不体现推导过程的顺序</a:t>
            </a:r>
          </a:p>
          <a:p>
            <a:pPr lvl="1" eaLnBrk="1" hangingPunct="1"/>
            <a:r>
              <a:rPr lang="zh-CN" altLang="en-US" dirty="0"/>
              <a:t>内部节点：非终结符</a:t>
            </a:r>
            <a:r>
              <a:rPr lang="en-US" altLang="zh-CN" dirty="0"/>
              <a:t>A</a:t>
            </a:r>
          </a:p>
          <a:p>
            <a:pPr lvl="1" eaLnBrk="1" hangingPunct="1"/>
            <a:r>
              <a:rPr lang="zh-CN" altLang="en-US" dirty="0"/>
              <a:t>内部结点</a:t>
            </a:r>
            <a:r>
              <a:rPr lang="en-US" altLang="zh-CN" dirty="0"/>
              <a:t>A</a:t>
            </a:r>
            <a:r>
              <a:rPr lang="zh-CN" altLang="en-US" dirty="0"/>
              <a:t>的孩子节点：由左</a:t>
            </a:r>
            <a:r>
              <a:rPr lang="zh-CN" altLang="en-US" dirty="0">
                <a:sym typeface="Wingdings" panose="05000000000000000000" pitchFamily="2" charset="2"/>
              </a:rPr>
              <a:t>至</a:t>
            </a:r>
            <a:r>
              <a:rPr lang="zh-CN" altLang="en-US" dirty="0"/>
              <a:t>右，对应替换</a:t>
            </a:r>
            <a:r>
              <a:rPr lang="en-US" altLang="zh-CN" dirty="0"/>
              <a:t>A</a:t>
            </a:r>
            <a:r>
              <a:rPr lang="zh-CN" altLang="en-US" dirty="0"/>
              <a:t>的产生式右部的每个符号</a:t>
            </a:r>
          </a:p>
          <a:p>
            <a:pPr lvl="1" eaLnBrk="1" hangingPunct="1"/>
            <a:r>
              <a:rPr lang="zh-CN" altLang="en-US" dirty="0"/>
              <a:t>叶节点：由左至右</a:t>
            </a:r>
            <a:r>
              <a:rPr lang="zh-CN" altLang="en-US" dirty="0">
                <a:sym typeface="Wingdings" panose="05000000000000000000" pitchFamily="2" charset="2"/>
              </a:rPr>
              <a:t>句型，</a:t>
            </a: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yield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frontier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2FEC185-5C79-41B0-B551-9B5528EA6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语法树与推导的关系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FD7D9F3-C4C1-4BC9-8F64-643AA2918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一个推导过程：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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…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n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≡A</a:t>
            </a:r>
            <a:r>
              <a:rPr kumimoji="0" lang="zh-CN" altLang="en-US" dirty="0">
                <a:sym typeface="Symbol" panose="05050102010706020507" pitchFamily="18" charset="2"/>
              </a:rPr>
              <a:t>，单节点，标记为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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i-1</a:t>
            </a:r>
            <a:r>
              <a:rPr kumimoji="0" lang="en-US" altLang="zh-CN" dirty="0">
                <a:sym typeface="Symbol" panose="05050102010706020507" pitchFamily="18" charset="2"/>
              </a:rPr>
              <a:t>=X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…</a:t>
            </a:r>
            <a:r>
              <a:rPr kumimoji="0" lang="en-US" altLang="zh-CN" dirty="0" err="1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k</a:t>
            </a:r>
            <a:r>
              <a:rPr kumimoji="0" lang="zh-CN" altLang="en-US" dirty="0">
                <a:sym typeface="Symbol" panose="05050102010706020507" pitchFamily="18" charset="2"/>
              </a:rPr>
              <a:t>对应语法树</a:t>
            </a:r>
            <a:r>
              <a:rPr kumimoji="0" lang="en-US" altLang="zh-CN" dirty="0">
                <a:sym typeface="Symbol" panose="05050102010706020507" pitchFamily="18" charset="2"/>
              </a:rPr>
              <a:t>T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第</a:t>
            </a:r>
            <a:r>
              <a:rPr kumimoji="0" lang="en-US" altLang="zh-CN" dirty="0" err="1">
                <a:sym typeface="Symbol" panose="05050102010706020507" pitchFamily="18" charset="2"/>
              </a:rPr>
              <a:t>i</a:t>
            </a:r>
            <a:r>
              <a:rPr kumimoji="0" lang="zh-CN" altLang="en-US" dirty="0">
                <a:sym typeface="Symbol" panose="05050102010706020507" pitchFamily="18" charset="2"/>
              </a:rPr>
              <a:t>步推导，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j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1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2</a:t>
            </a:r>
            <a:r>
              <a:rPr kumimoji="0" lang="en-US" altLang="zh-CN" dirty="0">
                <a:sym typeface="Wingdings" panose="05000000000000000000" pitchFamily="2" charset="2"/>
              </a:rPr>
              <a:t>…</a:t>
            </a:r>
            <a:r>
              <a:rPr kumimoji="0" lang="en-US" altLang="zh-CN" dirty="0" err="1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 err="1">
                <a:sym typeface="Wingdings" panose="05000000000000000000" pitchFamily="2" charset="2"/>
              </a:rPr>
              <a:t>r</a:t>
            </a:r>
            <a:endParaRPr kumimoji="0" lang="en-US" altLang="zh-CN" baseline="-25000" dirty="0">
              <a:sym typeface="Wingdings" panose="05000000000000000000" pitchFamily="2" charset="2"/>
            </a:endParaRPr>
          </a:p>
          <a:p>
            <a:pPr lvl="1" eaLnBrk="1" hangingPunct="1"/>
            <a:r>
              <a:rPr kumimoji="0" lang="en-US" altLang="zh-CN" dirty="0">
                <a:sym typeface="Wingdings" panose="05000000000000000000" pitchFamily="2" charset="2"/>
              </a:rPr>
              <a:t>T</a:t>
            </a:r>
            <a:r>
              <a:rPr kumimoji="0" lang="zh-CN" altLang="en-US" dirty="0">
                <a:sym typeface="Wingdings" panose="05000000000000000000" pitchFamily="2" charset="2"/>
              </a:rPr>
              <a:t>的第</a:t>
            </a:r>
            <a:r>
              <a:rPr kumimoji="0" lang="en-US" altLang="zh-CN" dirty="0">
                <a:sym typeface="Wingdings" panose="05000000000000000000" pitchFamily="2" charset="2"/>
              </a:rPr>
              <a:t>j</a:t>
            </a:r>
            <a:r>
              <a:rPr kumimoji="0" lang="zh-CN" altLang="en-US" dirty="0">
                <a:sym typeface="Wingdings" panose="05000000000000000000" pitchFamily="2" charset="2"/>
              </a:rPr>
              <a:t>个叶节点，添加</a:t>
            </a:r>
            <a:r>
              <a:rPr kumimoji="0" lang="en-US" altLang="zh-CN" dirty="0">
                <a:sym typeface="Wingdings" panose="05000000000000000000" pitchFamily="2" charset="2"/>
              </a:rPr>
              <a:t>r</a:t>
            </a:r>
            <a:r>
              <a:rPr kumimoji="0" lang="zh-CN" altLang="en-US" dirty="0">
                <a:sym typeface="Wingdings" panose="05000000000000000000" pitchFamily="2" charset="2"/>
              </a:rPr>
              <a:t>个孩子节点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1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>
                <a:sym typeface="Wingdings" panose="05000000000000000000" pitchFamily="2" charset="2"/>
              </a:rPr>
              <a:t>2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>
                <a:sym typeface="Wingdings" panose="05000000000000000000" pitchFamily="2" charset="2"/>
              </a:rPr>
              <a:t>…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 err="1">
                <a:sym typeface="Wingdings" panose="05000000000000000000" pitchFamily="2" charset="2"/>
              </a:rPr>
              <a:t>Y</a:t>
            </a:r>
            <a:r>
              <a:rPr kumimoji="0" lang="en-US" altLang="zh-CN" baseline="-25000" dirty="0" err="1">
                <a:sym typeface="Wingdings" panose="05000000000000000000" pitchFamily="2" charset="2"/>
              </a:rPr>
              <a:t>r</a:t>
            </a:r>
            <a:r>
              <a:rPr kumimoji="0" lang="zh-CN" altLang="en-US" dirty="0">
                <a:sym typeface="Wingdings" panose="05000000000000000000" pitchFamily="2" charset="2"/>
              </a:rPr>
              <a:t>，特殊情况，</a:t>
            </a:r>
            <a:r>
              <a:rPr kumimoji="0" lang="en-US" altLang="zh-CN" dirty="0">
                <a:sym typeface="Wingdings" panose="05000000000000000000" pitchFamily="2" charset="2"/>
              </a:rPr>
              <a:t>r=0</a:t>
            </a:r>
            <a:r>
              <a:rPr kumimoji="0" lang="zh-CN" altLang="en-US" dirty="0">
                <a:sym typeface="Wingdings" panose="05000000000000000000" pitchFamily="2" charset="2"/>
              </a:rPr>
              <a:t>，一个孩子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00EFA29-9A42-4585-B776-7EE3C47EC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FCF3F28-323F-473C-8564-8C2631979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1430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32772" name="Picture 4" descr="d1t1">
            <a:extLst>
              <a:ext uri="{FF2B5EF4-FFF2-40B4-BE49-F238E27FC236}">
                <a16:creationId xmlns:a16="http://schemas.microsoft.com/office/drawing/2014/main" id="{E6722E4C-6225-4C95-8395-1B5B74FFC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888" y="1785938"/>
            <a:ext cx="35401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 descr="d1t2">
            <a:extLst>
              <a:ext uri="{FF2B5EF4-FFF2-40B4-BE49-F238E27FC236}">
                <a16:creationId xmlns:a16="http://schemas.microsoft.com/office/drawing/2014/main" id="{C8B98E83-076A-4D39-B45E-05B029771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438" y="1785938"/>
            <a:ext cx="11604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 descr="d1t3">
            <a:extLst>
              <a:ext uri="{FF2B5EF4-FFF2-40B4-BE49-F238E27FC236}">
                <a16:creationId xmlns:a16="http://schemas.microsoft.com/office/drawing/2014/main" id="{B04A7F87-07FE-4F67-9522-E158D1409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738" y="1785938"/>
            <a:ext cx="15589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7" descr="d1t4">
            <a:extLst>
              <a:ext uri="{FF2B5EF4-FFF2-40B4-BE49-F238E27FC236}">
                <a16:creationId xmlns:a16="http://schemas.microsoft.com/office/drawing/2014/main" id="{C2E9D3C5-FF2C-44D9-99ED-39E7D9A8D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38" y="2720975"/>
            <a:ext cx="155892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 Box 10">
            <a:extLst>
              <a:ext uri="{FF2B5EF4-FFF2-40B4-BE49-F238E27FC236}">
                <a16:creationId xmlns:a16="http://schemas.microsoft.com/office/drawing/2014/main" id="{67B051C7-7A94-4DAB-9C21-186D44BB5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6176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32777" name="Text Box 11">
            <a:extLst>
              <a:ext uri="{FF2B5EF4-FFF2-40B4-BE49-F238E27FC236}">
                <a16:creationId xmlns:a16="http://schemas.microsoft.com/office/drawing/2014/main" id="{A90DF927-FF49-474D-AA7F-18F3428EF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6176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32778" name="Text Box 14">
            <a:extLst>
              <a:ext uri="{FF2B5EF4-FFF2-40B4-BE49-F238E27FC236}">
                <a16:creationId xmlns:a16="http://schemas.microsoft.com/office/drawing/2014/main" id="{0896504B-7287-4C3B-9906-3B1A78FF6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47938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D609061-8E5C-4AA1-9919-28815E303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2327EE4-F4B8-4C80-970E-7C18735E3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1430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+E)  -(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33796" name="Picture 7" descr="d1t4">
            <a:extLst>
              <a:ext uri="{FF2B5EF4-FFF2-40B4-BE49-F238E27FC236}">
                <a16:creationId xmlns:a16="http://schemas.microsoft.com/office/drawing/2014/main" id="{A37625F6-53AD-4AD3-BC5C-1B16FE60E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38" y="1644650"/>
            <a:ext cx="155892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8" descr="d1t5">
            <a:extLst>
              <a:ext uri="{FF2B5EF4-FFF2-40B4-BE49-F238E27FC236}">
                <a16:creationId xmlns:a16="http://schemas.microsoft.com/office/drawing/2014/main" id="{8429D198-188C-42E3-8AFC-CB2D54520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38" y="1644650"/>
            <a:ext cx="15589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9" descr="d1t6">
            <a:extLst>
              <a:ext uri="{FF2B5EF4-FFF2-40B4-BE49-F238E27FC236}">
                <a16:creationId xmlns:a16="http://schemas.microsoft.com/office/drawing/2014/main" id="{67BD1379-4106-44E3-897E-F36004DFE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075" y="1644650"/>
            <a:ext cx="15589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9" name="Text Box 12">
            <a:extLst>
              <a:ext uri="{FF2B5EF4-FFF2-40B4-BE49-F238E27FC236}">
                <a16:creationId xmlns:a16="http://schemas.microsoft.com/office/drawing/2014/main" id="{E7412E0E-65FD-47F6-BA3B-7D8F72A68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47161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33800" name="Text Box 13">
            <a:extLst>
              <a:ext uri="{FF2B5EF4-FFF2-40B4-BE49-F238E27FC236}">
                <a16:creationId xmlns:a16="http://schemas.microsoft.com/office/drawing/2014/main" id="{E7E53E82-8791-45B6-BDF3-5A019885E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47161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33801" name="Rectangle 15">
            <a:extLst>
              <a:ext uri="{FF2B5EF4-FFF2-40B4-BE49-F238E27FC236}">
                <a16:creationId xmlns:a16="http://schemas.microsoft.com/office/drawing/2014/main" id="{3B6B9606-0826-4405-9760-6848F90B7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4038600"/>
            <a:ext cx="7772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dirty="0"/>
              <a:t>E </a:t>
            </a:r>
            <a:r>
              <a:rPr kumimoji="0" lang="en-US" altLang="zh-CN" sz="2800" dirty="0">
                <a:sym typeface="Symbol" panose="05050102010706020507" pitchFamily="18" charset="2"/>
              </a:rPr>
              <a:t> -E  -(E)  -(E+E)  -(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E+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ym typeface="Symbol" panose="05050102010706020507" pitchFamily="18" charset="2"/>
              </a:rPr>
              <a:t>)  -(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+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一棵语法树可</a:t>
            </a:r>
            <a:r>
              <a:rPr kumimoji="0" lang="zh-CN" altLang="en-US" sz="2800" dirty="0">
                <a:solidFill>
                  <a:schemeClr val="hlink"/>
                </a:solidFill>
                <a:sym typeface="Wingdings" panose="05000000000000000000" pitchFamily="2" charset="2"/>
              </a:rPr>
              <a:t>对应多个推导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一棵语法树</a:t>
            </a:r>
            <a:r>
              <a:rPr kumimoji="0" lang="zh-CN" altLang="en-US" sz="2800" dirty="0">
                <a:solidFill>
                  <a:schemeClr val="hlink"/>
                </a:solidFill>
                <a:sym typeface="Wingdings" panose="05000000000000000000" pitchFamily="2" charset="2"/>
              </a:rPr>
              <a:t>对应唯一最左推导，唯一最右推导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CB1E47A-E837-45A2-902B-AA59887D9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4.2.4  </a:t>
            </a:r>
            <a:r>
              <a:rPr lang="zh-CN" altLang="en-US"/>
              <a:t>二义性文法（例</a:t>
            </a:r>
            <a:r>
              <a:rPr lang="en-US" altLang="zh-CN"/>
              <a:t>4.6</a:t>
            </a:r>
            <a:r>
              <a:rPr lang="zh-CN" altLang="en-US"/>
              <a:t>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73BD9F7-FA45-4E77-8EA2-8FE3A2CD7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4953000"/>
            <a:ext cx="7772400" cy="533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句子</a:t>
            </a:r>
            <a:r>
              <a:rPr lang="zh-CN" altLang="en-US" sz="2800" dirty="0">
                <a:sym typeface="Wingdings" panose="05000000000000000000" pitchFamily="2" charset="2"/>
              </a:rPr>
              <a:t>对应多棵语法树，多个最左（右）推导</a:t>
            </a:r>
            <a:endParaRPr lang="zh-CN" altLang="en-US" sz="2800" dirty="0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110501C-FCB9-4A7F-A19F-0EB896941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219200"/>
            <a:ext cx="3581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E+E 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C4A4C731-4136-448F-87CF-815D6B018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219200"/>
            <a:ext cx="33131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 E*E  E+E*E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+E*E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pic>
        <p:nvPicPr>
          <p:cNvPr id="34822" name="Picture 6" descr="d2t1">
            <a:extLst>
              <a:ext uri="{FF2B5EF4-FFF2-40B4-BE49-F238E27FC236}">
                <a16:creationId xmlns:a16="http://schemas.microsoft.com/office/drawing/2014/main" id="{F2BC4F60-7293-42EC-8A07-34584F62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2895600"/>
            <a:ext cx="15367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 descr="d2t2">
            <a:extLst>
              <a:ext uri="{FF2B5EF4-FFF2-40B4-BE49-F238E27FC236}">
                <a16:creationId xmlns:a16="http://schemas.microsoft.com/office/drawing/2014/main" id="{A5BD397A-8910-426E-B60E-417BCC35C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895600"/>
            <a:ext cx="15875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ACEB04F-CA93-4493-AE7B-8B48E3997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  </a:t>
            </a:r>
            <a:r>
              <a:rPr lang="zh-CN" altLang="en-US"/>
              <a:t>设计</a:t>
            </a:r>
            <a:r>
              <a:rPr lang="en-US" altLang="zh-CN"/>
              <a:t>CFG</a:t>
            </a:r>
          </a:p>
        </p:txBody>
      </p:sp>
      <p:sp>
        <p:nvSpPr>
          <p:cNvPr id="35843" name="Rectangle 15">
            <a:extLst>
              <a:ext uri="{FF2B5EF4-FFF2-40B4-BE49-F238E27FC236}">
                <a16:creationId xmlns:a16="http://schemas.microsoft.com/office/drawing/2014/main" id="{087A13EC-058D-4399-9683-082988A7B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  <a:noFill/>
        </p:spPr>
        <p:txBody>
          <a:bodyPr/>
          <a:lstStyle/>
          <a:p>
            <a:pPr eaLnBrk="1" hangingPunct="1"/>
            <a:r>
              <a:rPr lang="en-US" altLang="zh-CN" sz="3600" dirty="0"/>
              <a:t>4.3.1  </a:t>
            </a:r>
            <a:r>
              <a:rPr lang="zh-CN" altLang="en-US" sz="3600" dirty="0"/>
              <a:t>正规式与</a:t>
            </a:r>
            <a:r>
              <a:rPr lang="en-US" altLang="zh-CN" sz="3600" dirty="0"/>
              <a:t>CFG</a:t>
            </a:r>
          </a:p>
          <a:p>
            <a:pPr eaLnBrk="1" hangingPunct="1"/>
            <a:r>
              <a:rPr lang="zh-CN" altLang="en-US" sz="2800" dirty="0"/>
              <a:t>正规式</a:t>
            </a:r>
          </a:p>
          <a:p>
            <a:pPr lvl="1" eaLnBrk="1" hangingPunct="1"/>
            <a:r>
              <a:rPr lang="zh-CN" altLang="en-US" sz="2400" dirty="0"/>
              <a:t>词法分析的基础</a:t>
            </a:r>
          </a:p>
          <a:p>
            <a:pPr lvl="1" eaLnBrk="1" hangingPunct="1"/>
            <a:r>
              <a:rPr lang="zh-CN" altLang="en-US" sz="2400" dirty="0"/>
              <a:t>描述正规语言</a:t>
            </a:r>
          </a:p>
          <a:p>
            <a:pPr lvl="1" eaLnBrk="1" hangingPunct="1"/>
            <a:r>
              <a:rPr lang="zh-CN" altLang="en-US" sz="2400" dirty="0"/>
              <a:t>描述能力不够，</a:t>
            </a:r>
            <a:r>
              <a:rPr lang="en-US" altLang="zh-CN" sz="2400" dirty="0" err="1"/>
              <a:t>a</a:t>
            </a:r>
            <a:r>
              <a:rPr lang="en-US" altLang="zh-CN" sz="2400" baseline="30000" dirty="0" err="1"/>
              <a:t>n</a:t>
            </a:r>
            <a:r>
              <a:rPr lang="en-US" altLang="zh-CN" sz="2400" dirty="0" err="1"/>
              <a:t>b</a:t>
            </a:r>
            <a:r>
              <a:rPr lang="en-US" altLang="zh-CN" sz="2400" baseline="30000" dirty="0" err="1"/>
              <a:t>n</a:t>
            </a:r>
            <a:r>
              <a:rPr lang="zh-CN" altLang="en-US" sz="2400" dirty="0"/>
              <a:t>，</a:t>
            </a:r>
            <a:r>
              <a:rPr lang="en-US" altLang="zh-CN" sz="2400" dirty="0"/>
              <a:t>n≥1</a:t>
            </a:r>
          </a:p>
          <a:p>
            <a:pPr eaLnBrk="1" hangingPunct="1"/>
            <a:r>
              <a:rPr lang="zh-CN" altLang="en-US" sz="2800" dirty="0"/>
              <a:t>上下文无关文法</a:t>
            </a:r>
          </a:p>
          <a:p>
            <a:pPr lvl="1" eaLnBrk="1" hangingPunct="1"/>
            <a:r>
              <a:rPr lang="zh-CN" altLang="en-US" sz="2400" dirty="0"/>
              <a:t>语法分析的基础</a:t>
            </a:r>
          </a:p>
          <a:p>
            <a:pPr lvl="1" eaLnBrk="1" hangingPunct="1"/>
            <a:r>
              <a:rPr lang="zh-CN" altLang="en-US" sz="2400" dirty="0"/>
              <a:t>描述程序语言结构</a:t>
            </a:r>
          </a:p>
          <a:p>
            <a:pPr lvl="1" eaLnBrk="1" hangingPunct="1"/>
            <a:r>
              <a:rPr lang="zh-CN" altLang="en-US" sz="2400" dirty="0"/>
              <a:t>上下文无关语言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1886252-55AE-4CB0-9C05-7AD222D35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正规式与上下文无关文法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71E7080-77EB-4A34-8AD7-BC7CE8971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正规式可描述</a:t>
            </a:r>
            <a:r>
              <a:rPr lang="zh-CN" altLang="en-US" dirty="0">
                <a:sym typeface="Wingdings" panose="05000000000000000000" pitchFamily="2" charset="2"/>
              </a:rPr>
              <a:t>的语言</a:t>
            </a:r>
            <a:r>
              <a:rPr lang="en-US" altLang="zh-CN" dirty="0">
                <a:sym typeface="Wingdings" panose="05000000000000000000" pitchFamily="2" charset="2"/>
              </a:rPr>
              <a:t>CFG</a:t>
            </a:r>
            <a:r>
              <a:rPr lang="zh-CN" altLang="en-US" dirty="0">
                <a:sym typeface="Wingdings" panose="05000000000000000000" pitchFamily="2" charset="2"/>
              </a:rPr>
              <a:t>均可描述，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sym typeface="Wingdings" panose="05000000000000000000" pitchFamily="2" charset="2"/>
              </a:rPr>
              <a:t>a|b</a:t>
            </a:r>
            <a:r>
              <a:rPr lang="en-US" altLang="zh-CN" dirty="0">
                <a:sym typeface="Wingdings" panose="05000000000000000000" pitchFamily="2" charset="2"/>
              </a:rPr>
              <a:t>)*abb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kumimoji="0" lang="en-US" altLang="zh-CN" sz="2800" dirty="0"/>
              <a:t>A</a:t>
            </a:r>
            <a:r>
              <a:rPr kumimoji="0" lang="en-US" altLang="zh-CN" sz="2800" baseline="-25000" dirty="0"/>
              <a:t>0</a:t>
            </a:r>
            <a:r>
              <a:rPr kumimoji="0" lang="en-US" altLang="zh-CN" sz="2800" dirty="0">
                <a:sym typeface="Symbol" panose="05050102010706020507" pitchFamily="18" charset="2"/>
              </a:rPr>
              <a:t> aA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0</a:t>
            </a:r>
            <a:r>
              <a:rPr kumimoji="0" lang="en-US" altLang="zh-CN" sz="2800" dirty="0">
                <a:sym typeface="Symbol" panose="05050102010706020507" pitchFamily="18" charset="2"/>
              </a:rPr>
              <a:t> | aA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ym typeface="Symbol" panose="05050102010706020507" pitchFamily="18" charset="2"/>
              </a:rPr>
              <a:t> | bA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0</a:t>
            </a:r>
            <a:br>
              <a:rPr kumimoji="0" lang="en-US" altLang="zh-CN" sz="2800" baseline="-250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1 </a:t>
            </a:r>
            <a:r>
              <a:rPr kumimoji="0" lang="en-US" altLang="zh-CN" sz="2800" dirty="0">
                <a:sym typeface="Symbol" panose="05050102010706020507" pitchFamily="18" charset="2"/>
              </a:rPr>
              <a:t> bA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2</a:t>
            </a:r>
            <a:br>
              <a:rPr kumimoji="0" lang="en-US" altLang="zh-CN" sz="2800" baseline="-250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800" dirty="0">
                <a:sym typeface="Symbol" panose="05050102010706020507" pitchFamily="18" charset="2"/>
              </a:rPr>
              <a:t>  bA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3</a:t>
            </a:r>
            <a:br>
              <a:rPr kumimoji="0" lang="en-US" altLang="zh-CN" sz="2800" baseline="-250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3</a:t>
            </a:r>
            <a:r>
              <a:rPr kumimoji="0" lang="en-US" altLang="zh-CN" sz="2800" dirty="0">
                <a:sym typeface="Symbol" panose="05050102010706020507" pitchFamily="18" charset="2"/>
              </a:rPr>
              <a:t>  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lang="en-US" altLang="zh-CN" sz="2800" dirty="0">
              <a:latin typeface="Symbol" panose="05050102010706020507" pitchFamily="18" charset="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正规语言</a:t>
            </a:r>
            <a:r>
              <a:rPr kumimoji="0" lang="zh-CN" altLang="en-US" dirty="0">
                <a:sym typeface="Symbol" panose="05050102010706020507" pitchFamily="18" charset="2"/>
              </a:rPr>
              <a:t>上下文无关语言</a:t>
            </a:r>
          </a:p>
        </p:txBody>
      </p:sp>
      <p:sp>
        <p:nvSpPr>
          <p:cNvPr id="36868" name="AutoShape 4">
            <a:extLst>
              <a:ext uri="{FF2B5EF4-FFF2-40B4-BE49-F238E27FC236}">
                <a16:creationId xmlns:a16="http://schemas.microsoft.com/office/drawing/2014/main" id="{411B3BBB-6A96-4CB0-A705-9E1956A2F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895600"/>
            <a:ext cx="2895600" cy="990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36869" name="AutoShape 5">
            <a:extLst>
              <a:ext uri="{FF2B5EF4-FFF2-40B4-BE49-F238E27FC236}">
                <a16:creationId xmlns:a16="http://schemas.microsoft.com/office/drawing/2014/main" id="{387B0685-85E8-4229-B03F-A5CC666A1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124200"/>
            <a:ext cx="1752600" cy="609600"/>
          </a:xfrm>
          <a:prstGeom prst="roundRect">
            <a:avLst>
              <a:gd name="adj" fmla="val 32292"/>
            </a:avLst>
          </a:prstGeom>
          <a:noFill/>
          <a:ln w="19050">
            <a:solidFill>
              <a:srgbClr val="33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7BA48219-2407-47B4-BE28-56C6BED7F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2766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Reg. Lang.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74CB270A-1706-4117-8181-C782C21AB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2766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CFLs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9934DDA-8D7C-48EC-B3E4-E5771A9FF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Wingdings" panose="05000000000000000000" pitchFamily="2" charset="2"/>
              </a:rPr>
              <a:t>CFG</a:t>
            </a:r>
            <a:endParaRPr lang="en-US" altLang="zh-C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4F3C1BA-271D-44B2-B8D2-FE7C4F4E2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3657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状态</a:t>
            </a:r>
            <a:r>
              <a:rPr lang="en-US" altLang="zh-CN" sz="2400"/>
              <a:t>i</a:t>
            </a:r>
            <a:r>
              <a:rPr lang="en-US" altLang="zh-CN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Wingdings" panose="05000000000000000000" pitchFamily="2" charset="2"/>
              </a:rPr>
              <a:t>非终结符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lang="zh-CN" altLang="en-US" sz="2400">
                <a:sym typeface="Wingdings" panose="05000000000000000000" pitchFamily="2" charset="2"/>
              </a:rPr>
              <a:t>：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0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1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2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3</a:t>
            </a:r>
            <a:endParaRPr lang="en-US" altLang="zh-CN" sz="2400">
              <a:sym typeface="Wingdings" panose="05000000000000000000" pitchFamily="2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                  </a:t>
            </a:r>
            <a:r>
              <a:rPr lang="en-US" altLang="zh-CN" sz="2400">
                <a:sym typeface="Wingdings" panose="05000000000000000000" pitchFamily="2" charset="2"/>
              </a:rPr>
              <a:t>A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aA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br>
              <a:rPr kumimoji="0" lang="en-US" altLang="zh-CN" sz="2400" baseline="-25000">
                <a:sym typeface="Symbol" panose="05050102010706020507" pitchFamily="18" charset="2"/>
              </a:rPr>
            </a:b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400">
                <a:sym typeface="Symbol" panose="05050102010706020507" pitchFamily="18" charset="2"/>
              </a:rPr>
              <a:t>                  </a:t>
            </a:r>
            <a:r>
              <a:rPr lang="en-US" altLang="zh-CN" sz="2400">
                <a:sym typeface="Wingdings" panose="05000000000000000000" pitchFamily="2" charset="2"/>
              </a:rPr>
              <a:t>A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br>
              <a:rPr kumimoji="0" lang="en-US" altLang="zh-CN" sz="2400" baseline="-25000">
                <a:sym typeface="Symbol" panose="05050102010706020507" pitchFamily="18" charset="2"/>
              </a:rPr>
            </a:br>
            <a:endParaRPr kumimoji="0" lang="en-US" altLang="zh-CN" sz="2400" baseline="-250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为终态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>
                <a:sym typeface="Symbol" panose="05050102010706020507" pitchFamily="18" charset="2"/>
              </a:rPr>
              <a:t>：</a:t>
            </a:r>
            <a:r>
              <a:rPr lang="en-US" altLang="zh-CN" sz="2400" b="1">
                <a:solidFill>
                  <a:srgbClr val="FF3300"/>
                </a:solidFill>
                <a:sym typeface="Wingdings" panose="05000000000000000000" pitchFamily="2" charset="2"/>
              </a:rPr>
              <a:t>A</a:t>
            </a:r>
            <a:r>
              <a:rPr lang="en-US" altLang="zh-CN" sz="2400" b="1" baseline="-25000">
                <a:solidFill>
                  <a:srgbClr val="FF3300"/>
                </a:solidFill>
                <a:sym typeface="Wingdings" panose="05000000000000000000" pitchFamily="2" charset="2"/>
              </a:rPr>
              <a:t>3</a:t>
            </a: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>
              <a:solidFill>
                <a:srgbClr val="FF3300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为初态，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en-US" altLang="zh-CN" sz="2400" baseline="-25000">
                <a:sym typeface="Wingdings" panose="05000000000000000000" pitchFamily="2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为开始符号：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0</a:t>
            </a:r>
          </a:p>
          <a:p>
            <a:pPr marL="609600" indent="-609600" eaLnBrk="1" hangingPunct="1"/>
            <a:r>
              <a:rPr kumimoji="0" lang="zh-CN" altLang="en-US" sz="2400">
                <a:sym typeface="Symbol" panose="05050102010706020507" pitchFamily="18" charset="2"/>
              </a:rPr>
              <a:t>正则文法</a:t>
            </a:r>
          </a:p>
        </p:txBody>
      </p:sp>
      <p:grpSp>
        <p:nvGrpSpPr>
          <p:cNvPr id="37892" name="Group 30">
            <a:extLst>
              <a:ext uri="{FF2B5EF4-FFF2-40B4-BE49-F238E27FC236}">
                <a16:creationId xmlns:a16="http://schemas.microsoft.com/office/drawing/2014/main" id="{B542CF8F-B912-4E1A-9E3C-0333DCB38F47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371600"/>
            <a:ext cx="4953000" cy="1585913"/>
            <a:chOff x="1584" y="864"/>
            <a:chExt cx="3120" cy="999"/>
          </a:xfrm>
        </p:grpSpPr>
        <p:grpSp>
          <p:nvGrpSpPr>
            <p:cNvPr id="37913" name="Group 5">
              <a:extLst>
                <a:ext uri="{FF2B5EF4-FFF2-40B4-BE49-F238E27FC236}">
                  <a16:creationId xmlns:a16="http://schemas.microsoft.com/office/drawing/2014/main" id="{D91DDBCD-3439-4416-9E04-3481F8BA8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152"/>
              <a:ext cx="384" cy="384"/>
              <a:chOff x="2496" y="2688"/>
              <a:chExt cx="384" cy="384"/>
            </a:xfrm>
          </p:grpSpPr>
          <p:sp>
            <p:nvSpPr>
              <p:cNvPr id="37936" name="Oval 6">
                <a:extLst>
                  <a:ext uri="{FF2B5EF4-FFF2-40B4-BE49-F238E27FC236}">
                    <a16:creationId xmlns:a16="http://schemas.microsoft.com/office/drawing/2014/main" id="{9494897E-2E20-4231-8F23-D8AF8009C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688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7" name="Oval 7">
                <a:extLst>
                  <a:ext uri="{FF2B5EF4-FFF2-40B4-BE49-F238E27FC236}">
                    <a16:creationId xmlns:a16="http://schemas.microsoft.com/office/drawing/2014/main" id="{C1C958F7-B417-4620-84C7-08CA9B46C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37914" name="Line 8">
              <a:extLst>
                <a:ext uri="{FF2B5EF4-FFF2-40B4-BE49-F238E27FC236}">
                  <a16:creationId xmlns:a16="http://schemas.microsoft.com/office/drawing/2014/main" id="{CBFD39D2-9446-400C-973B-C09797D1B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Line 9">
              <a:extLst>
                <a:ext uri="{FF2B5EF4-FFF2-40B4-BE49-F238E27FC236}">
                  <a16:creationId xmlns:a16="http://schemas.microsoft.com/office/drawing/2014/main" id="{2135F5CE-FB73-4893-B1B1-B1EF8281F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6" name="Line 10">
              <a:extLst>
                <a:ext uri="{FF2B5EF4-FFF2-40B4-BE49-F238E27FC236}">
                  <a16:creationId xmlns:a16="http://schemas.microsoft.com/office/drawing/2014/main" id="{4257F466-5555-468C-8A91-5EB36898C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7" name="Text Box 11">
              <a:extLst>
                <a:ext uri="{FF2B5EF4-FFF2-40B4-BE49-F238E27FC236}">
                  <a16:creationId xmlns:a16="http://schemas.microsoft.com/office/drawing/2014/main" id="{32C297CC-9920-4D55-8C76-8FC5882DB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1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400" b="1">
                  <a:solidFill>
                    <a:srgbClr val="3333CC"/>
                  </a:solidFill>
                </a:rPr>
                <a:t>start</a:t>
              </a:r>
            </a:p>
          </p:txBody>
        </p:sp>
        <p:grpSp>
          <p:nvGrpSpPr>
            <p:cNvPr id="37918" name="Group 12">
              <a:extLst>
                <a:ext uri="{FF2B5EF4-FFF2-40B4-BE49-F238E27FC236}">
                  <a16:creationId xmlns:a16="http://schemas.microsoft.com/office/drawing/2014/main" id="{1AD95FE0-921F-417D-9FF4-E1B348E5FC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152"/>
              <a:ext cx="384" cy="384"/>
              <a:chOff x="2736" y="1200"/>
              <a:chExt cx="384" cy="384"/>
            </a:xfrm>
          </p:grpSpPr>
          <p:sp>
            <p:nvSpPr>
              <p:cNvPr id="37934" name="Oval 13">
                <a:extLst>
                  <a:ext uri="{FF2B5EF4-FFF2-40B4-BE49-F238E27FC236}">
                    <a16:creationId xmlns:a16="http://schemas.microsoft.com/office/drawing/2014/main" id="{9793FCDD-69BB-4314-A4FD-4E9417EE8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5" name="Text Box 14">
                <a:extLst>
                  <a:ext uri="{FF2B5EF4-FFF2-40B4-BE49-F238E27FC236}">
                    <a16:creationId xmlns:a16="http://schemas.microsoft.com/office/drawing/2014/main" id="{66ED0676-556F-48EC-90FF-5EB453141F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0</a:t>
                </a:r>
              </a:p>
            </p:txBody>
          </p:sp>
        </p:grpSp>
        <p:sp>
          <p:nvSpPr>
            <p:cNvPr id="37919" name="Text Box 15">
              <a:extLst>
                <a:ext uri="{FF2B5EF4-FFF2-40B4-BE49-F238E27FC236}">
                  <a16:creationId xmlns:a16="http://schemas.microsoft.com/office/drawing/2014/main" id="{8BC11865-9466-47FA-BA9B-752279D19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00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3333CC"/>
                  </a:solidFill>
                </a:rPr>
                <a:t>3</a:t>
              </a:r>
            </a:p>
          </p:txBody>
        </p:sp>
        <p:sp>
          <p:nvSpPr>
            <p:cNvPr id="37920" name="Text Box 16">
              <a:extLst>
                <a:ext uri="{FF2B5EF4-FFF2-40B4-BE49-F238E27FC236}">
                  <a16:creationId xmlns:a16="http://schemas.microsoft.com/office/drawing/2014/main" id="{2A317290-4427-452B-9978-04097A05C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37921" name="Line 17">
              <a:extLst>
                <a:ext uri="{FF2B5EF4-FFF2-40B4-BE49-F238E27FC236}">
                  <a16:creationId xmlns:a16="http://schemas.microsoft.com/office/drawing/2014/main" id="{DF0B9754-295E-4142-A889-FC8B30EC0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22" name="Group 18">
              <a:extLst>
                <a:ext uri="{FF2B5EF4-FFF2-40B4-BE49-F238E27FC236}">
                  <a16:creationId xmlns:a16="http://schemas.microsoft.com/office/drawing/2014/main" id="{E10E54A7-D561-4A82-9014-4828348E64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152"/>
              <a:ext cx="384" cy="384"/>
              <a:chOff x="2736" y="1200"/>
              <a:chExt cx="384" cy="384"/>
            </a:xfrm>
          </p:grpSpPr>
          <p:sp>
            <p:nvSpPr>
              <p:cNvPr id="37932" name="Oval 19">
                <a:extLst>
                  <a:ext uri="{FF2B5EF4-FFF2-40B4-BE49-F238E27FC236}">
                    <a16:creationId xmlns:a16="http://schemas.microsoft.com/office/drawing/2014/main" id="{3B525A93-C435-4E26-8D62-1961A7088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3" name="Text Box 20">
                <a:extLst>
                  <a:ext uri="{FF2B5EF4-FFF2-40B4-BE49-F238E27FC236}">
                    <a16:creationId xmlns:a16="http://schemas.microsoft.com/office/drawing/2014/main" id="{B1E0DBD5-46B9-4529-AEAC-0D0432B028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2</a:t>
                </a:r>
              </a:p>
            </p:txBody>
          </p:sp>
        </p:grpSp>
        <p:grpSp>
          <p:nvGrpSpPr>
            <p:cNvPr id="37923" name="Group 21">
              <a:extLst>
                <a:ext uri="{FF2B5EF4-FFF2-40B4-BE49-F238E27FC236}">
                  <a16:creationId xmlns:a16="http://schemas.microsoft.com/office/drawing/2014/main" id="{B716CA81-A087-422D-A666-07C5BD4B36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152"/>
              <a:ext cx="384" cy="384"/>
              <a:chOff x="2736" y="1200"/>
              <a:chExt cx="384" cy="384"/>
            </a:xfrm>
          </p:grpSpPr>
          <p:sp>
            <p:nvSpPr>
              <p:cNvPr id="37930" name="Oval 22">
                <a:extLst>
                  <a:ext uri="{FF2B5EF4-FFF2-40B4-BE49-F238E27FC236}">
                    <a16:creationId xmlns:a16="http://schemas.microsoft.com/office/drawing/2014/main" id="{8024F4C5-C6EB-4A97-B7E2-B2B7BCF2D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31" name="Text Box 23">
                <a:extLst>
                  <a:ext uri="{FF2B5EF4-FFF2-40B4-BE49-F238E27FC236}">
                    <a16:creationId xmlns:a16="http://schemas.microsoft.com/office/drawing/2014/main" id="{928762D0-CC7E-4D78-8548-1EE629BB9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1</a:t>
                </a:r>
              </a:p>
            </p:txBody>
          </p:sp>
        </p:grpSp>
        <p:sp>
          <p:nvSpPr>
            <p:cNvPr id="37924" name="Text Box 24">
              <a:extLst>
                <a:ext uri="{FF2B5EF4-FFF2-40B4-BE49-F238E27FC236}">
                  <a16:creationId xmlns:a16="http://schemas.microsoft.com/office/drawing/2014/main" id="{E081CDD2-9FC0-46DD-A15E-4C643FA9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37925" name="Text Box 25">
              <a:extLst>
                <a:ext uri="{FF2B5EF4-FFF2-40B4-BE49-F238E27FC236}">
                  <a16:creationId xmlns:a16="http://schemas.microsoft.com/office/drawing/2014/main" id="{3ACC9253-3F04-4D52-9B47-2BD74A939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</a:p>
          </p:txBody>
        </p:sp>
        <p:cxnSp>
          <p:nvCxnSpPr>
            <p:cNvPr id="37926" name="AutoShape 26">
              <a:extLst>
                <a:ext uri="{FF2B5EF4-FFF2-40B4-BE49-F238E27FC236}">
                  <a16:creationId xmlns:a16="http://schemas.microsoft.com/office/drawing/2014/main" id="{AC42BDD5-7FA9-47FD-8CE2-A2AA544AC957}"/>
                </a:ext>
              </a:extLst>
            </p:cNvPr>
            <p:cNvCxnSpPr>
              <a:cxnSpLocks noChangeShapeType="1"/>
              <a:stCxn id="37934" idx="7"/>
              <a:endCxn id="37934" idx="0"/>
            </p:cNvCxnSpPr>
            <p:nvPr/>
          </p:nvCxnSpPr>
          <p:spPr bwMode="auto">
            <a:xfrm rot="5400000" flipH="1">
              <a:off x="2248" y="1112"/>
              <a:ext cx="56" cy="136"/>
            </a:xfrm>
            <a:prstGeom prst="curvedConnector3">
              <a:avLst>
                <a:gd name="adj1" fmla="val 7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27" name="Text Box 27">
              <a:extLst>
                <a:ext uri="{FF2B5EF4-FFF2-40B4-BE49-F238E27FC236}">
                  <a16:creationId xmlns:a16="http://schemas.microsoft.com/office/drawing/2014/main" id="{9F60BEAE-8CA3-4DB5-BFAB-C6A6DE92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86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</a:p>
          </p:txBody>
        </p:sp>
        <p:cxnSp>
          <p:nvCxnSpPr>
            <p:cNvPr id="37928" name="AutoShape 28">
              <a:extLst>
                <a:ext uri="{FF2B5EF4-FFF2-40B4-BE49-F238E27FC236}">
                  <a16:creationId xmlns:a16="http://schemas.microsoft.com/office/drawing/2014/main" id="{998F6E61-26B1-4B21-8F40-BCF2B34D0A47}"/>
                </a:ext>
              </a:extLst>
            </p:cNvPr>
            <p:cNvCxnSpPr>
              <a:cxnSpLocks noChangeShapeType="1"/>
              <a:stCxn id="37934" idx="3"/>
              <a:endCxn id="37934" idx="4"/>
            </p:cNvCxnSpPr>
            <p:nvPr/>
          </p:nvCxnSpPr>
          <p:spPr bwMode="auto">
            <a:xfrm rot="16200000" flipH="1">
              <a:off x="2112" y="1440"/>
              <a:ext cx="56" cy="136"/>
            </a:xfrm>
            <a:prstGeom prst="curvedConnector3">
              <a:avLst>
                <a:gd name="adj1" fmla="val 6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29" name="Text Box 29">
              <a:extLst>
                <a:ext uri="{FF2B5EF4-FFF2-40B4-BE49-F238E27FC236}">
                  <a16:creationId xmlns:a16="http://schemas.microsoft.com/office/drawing/2014/main" id="{2D7AC5EE-F503-45CB-A49D-9FB619189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</a:p>
          </p:txBody>
        </p:sp>
      </p:grpSp>
      <p:grpSp>
        <p:nvGrpSpPr>
          <p:cNvPr id="37893" name="Group 31">
            <a:extLst>
              <a:ext uri="{FF2B5EF4-FFF2-40B4-BE49-F238E27FC236}">
                <a16:creationId xmlns:a16="http://schemas.microsoft.com/office/drawing/2014/main" id="{2D230C05-1F66-45BB-BD53-4AE8B70AB9E5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276600"/>
            <a:ext cx="1524000" cy="533400"/>
            <a:chOff x="1536" y="2976"/>
            <a:chExt cx="960" cy="336"/>
          </a:xfrm>
        </p:grpSpPr>
        <p:grpSp>
          <p:nvGrpSpPr>
            <p:cNvPr id="37905" name="Group 32">
              <a:extLst>
                <a:ext uri="{FF2B5EF4-FFF2-40B4-BE49-F238E27FC236}">
                  <a16:creationId xmlns:a16="http://schemas.microsoft.com/office/drawing/2014/main" id="{F205A22C-9DFE-49AF-B7DB-B1A88E761F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3024"/>
              <a:ext cx="288" cy="288"/>
              <a:chOff x="1536" y="3024"/>
              <a:chExt cx="288" cy="288"/>
            </a:xfrm>
          </p:grpSpPr>
          <p:sp>
            <p:nvSpPr>
              <p:cNvPr id="37911" name="Oval 33">
                <a:extLst>
                  <a:ext uri="{FF2B5EF4-FFF2-40B4-BE49-F238E27FC236}">
                    <a16:creationId xmlns:a16="http://schemas.microsoft.com/office/drawing/2014/main" id="{D82E4FCA-AFEA-44D8-ACB3-C3DAD78E5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12" name="Text Box 34">
                <a:extLst>
                  <a:ext uri="{FF2B5EF4-FFF2-40B4-BE49-F238E27FC236}">
                    <a16:creationId xmlns:a16="http://schemas.microsoft.com/office/drawing/2014/main" id="{95E93AD6-50A1-4315-804B-0CD694AE6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</a:t>
                </a:r>
              </a:p>
            </p:txBody>
          </p:sp>
        </p:grpSp>
        <p:grpSp>
          <p:nvGrpSpPr>
            <p:cNvPr id="37906" name="Group 35">
              <a:extLst>
                <a:ext uri="{FF2B5EF4-FFF2-40B4-BE49-F238E27FC236}">
                  <a16:creationId xmlns:a16="http://schemas.microsoft.com/office/drawing/2014/main" id="{023EE47D-F82D-42FC-A231-45D3BAAD9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024"/>
              <a:ext cx="288" cy="288"/>
              <a:chOff x="1536" y="3024"/>
              <a:chExt cx="288" cy="288"/>
            </a:xfrm>
          </p:grpSpPr>
          <p:sp>
            <p:nvSpPr>
              <p:cNvPr id="37909" name="Oval 36">
                <a:extLst>
                  <a:ext uri="{FF2B5EF4-FFF2-40B4-BE49-F238E27FC236}">
                    <a16:creationId xmlns:a16="http://schemas.microsoft.com/office/drawing/2014/main" id="{BEC1184C-9F52-4669-A6D7-F1B1BE973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10" name="Text Box 37">
                <a:extLst>
                  <a:ext uri="{FF2B5EF4-FFF2-40B4-BE49-F238E27FC236}">
                    <a16:creationId xmlns:a16="http://schemas.microsoft.com/office/drawing/2014/main" id="{EC30828F-F785-47E7-B439-87205BD1D4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j</a:t>
                </a:r>
              </a:p>
            </p:txBody>
          </p:sp>
        </p:grpSp>
        <p:sp>
          <p:nvSpPr>
            <p:cNvPr id="37907" name="Line 38">
              <a:extLst>
                <a:ext uri="{FF2B5EF4-FFF2-40B4-BE49-F238E27FC236}">
                  <a16:creationId xmlns:a16="http://schemas.microsoft.com/office/drawing/2014/main" id="{5E0A8261-2B22-45D0-A0A3-0620F7074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16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Text Box 39">
              <a:extLst>
                <a:ext uri="{FF2B5EF4-FFF2-40B4-BE49-F238E27FC236}">
                  <a16:creationId xmlns:a16="http://schemas.microsoft.com/office/drawing/2014/main" id="{ED194F91-98F6-4BC0-AA21-A19C30DC8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976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rgbClr val="3333CC"/>
                  </a:solidFill>
                </a:rPr>
                <a:t>a</a:t>
              </a:r>
            </a:p>
          </p:txBody>
        </p:sp>
      </p:grpSp>
      <p:sp>
        <p:nvSpPr>
          <p:cNvPr id="37894" name="Text Box 40">
            <a:extLst>
              <a:ext uri="{FF2B5EF4-FFF2-40B4-BE49-F238E27FC236}">
                <a16:creationId xmlns:a16="http://schemas.microsoft.com/office/drawing/2014/main" id="{BC3927C8-DFBB-4A5E-972E-DB4F878DE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352800"/>
            <a:ext cx="2971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: 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aA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2000" b="1">
                <a:solidFill>
                  <a:srgbClr val="FF3300"/>
                </a:solidFill>
              </a:rPr>
              <a:t>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aA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: 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bA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,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1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bA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: A</a:t>
            </a:r>
            <a:r>
              <a:rPr kumimoji="0" lang="en-US" altLang="zh-CN" sz="2000" b="1" baseline="-25000">
                <a:solidFill>
                  <a:srgbClr val="FF3300"/>
                </a:solidFill>
              </a:rPr>
              <a:t>2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bA</a:t>
            </a:r>
            <a:r>
              <a:rPr kumimoji="0" lang="en-US" altLang="zh-CN" sz="2000" b="1" baseline="-25000">
                <a:solidFill>
                  <a:srgbClr val="FF3300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7895" name="AutoShape 41">
            <a:extLst>
              <a:ext uri="{FF2B5EF4-FFF2-40B4-BE49-F238E27FC236}">
                <a16:creationId xmlns:a16="http://schemas.microsoft.com/office/drawing/2014/main" id="{3093E7DC-4FC6-467C-A3A9-3A322B3247CE}"/>
              </a:ext>
            </a:extLst>
          </p:cNvPr>
          <p:cNvSpPr>
            <a:spLocks/>
          </p:cNvSpPr>
          <p:nvPr/>
        </p:nvSpPr>
        <p:spPr bwMode="auto">
          <a:xfrm>
            <a:off x="5105400" y="3521075"/>
            <a:ext cx="228600" cy="974725"/>
          </a:xfrm>
          <a:prstGeom prst="leftBrace">
            <a:avLst>
              <a:gd name="adj1" fmla="val 3553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37896" name="Group 42">
            <a:extLst>
              <a:ext uri="{FF2B5EF4-FFF2-40B4-BE49-F238E27FC236}">
                <a16:creationId xmlns:a16="http://schemas.microsoft.com/office/drawing/2014/main" id="{D4342842-2C55-4DBE-A412-475364A12AA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038600"/>
            <a:ext cx="1524000" cy="533400"/>
            <a:chOff x="1536" y="2976"/>
            <a:chExt cx="960" cy="336"/>
          </a:xfrm>
        </p:grpSpPr>
        <p:grpSp>
          <p:nvGrpSpPr>
            <p:cNvPr id="37897" name="Group 43">
              <a:extLst>
                <a:ext uri="{FF2B5EF4-FFF2-40B4-BE49-F238E27FC236}">
                  <a16:creationId xmlns:a16="http://schemas.microsoft.com/office/drawing/2014/main" id="{1B626B75-BBAC-4186-A5E8-67017F36CC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3024"/>
              <a:ext cx="288" cy="288"/>
              <a:chOff x="1536" y="3024"/>
              <a:chExt cx="288" cy="288"/>
            </a:xfrm>
          </p:grpSpPr>
          <p:sp>
            <p:nvSpPr>
              <p:cNvPr id="37903" name="Oval 44">
                <a:extLst>
                  <a:ext uri="{FF2B5EF4-FFF2-40B4-BE49-F238E27FC236}">
                    <a16:creationId xmlns:a16="http://schemas.microsoft.com/office/drawing/2014/main" id="{F36D88AF-A984-4540-B194-64F353804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04" name="Text Box 45">
                <a:extLst>
                  <a:ext uri="{FF2B5EF4-FFF2-40B4-BE49-F238E27FC236}">
                    <a16:creationId xmlns:a16="http://schemas.microsoft.com/office/drawing/2014/main" id="{A80A8A98-99E1-4E3B-9465-ADA2E00A4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</a:t>
                </a:r>
              </a:p>
            </p:txBody>
          </p:sp>
        </p:grpSp>
        <p:grpSp>
          <p:nvGrpSpPr>
            <p:cNvPr id="37898" name="Group 46">
              <a:extLst>
                <a:ext uri="{FF2B5EF4-FFF2-40B4-BE49-F238E27FC236}">
                  <a16:creationId xmlns:a16="http://schemas.microsoft.com/office/drawing/2014/main" id="{108A87CA-6703-4AC7-B8E3-37538B62F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024"/>
              <a:ext cx="288" cy="288"/>
              <a:chOff x="1536" y="3024"/>
              <a:chExt cx="288" cy="288"/>
            </a:xfrm>
          </p:grpSpPr>
          <p:sp>
            <p:nvSpPr>
              <p:cNvPr id="37901" name="Oval 47">
                <a:extLst>
                  <a:ext uri="{FF2B5EF4-FFF2-40B4-BE49-F238E27FC236}">
                    <a16:creationId xmlns:a16="http://schemas.microsoft.com/office/drawing/2014/main" id="{A4073B5A-450E-4C7E-9F26-C5E4061C6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024"/>
                <a:ext cx="288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7902" name="Text Box 48">
                <a:extLst>
                  <a:ext uri="{FF2B5EF4-FFF2-40B4-BE49-F238E27FC236}">
                    <a16:creationId xmlns:a16="http://schemas.microsoft.com/office/drawing/2014/main" id="{0800543E-8FC4-4F94-B025-61AC120C21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j</a:t>
                </a:r>
              </a:p>
            </p:txBody>
          </p:sp>
        </p:grpSp>
        <p:sp>
          <p:nvSpPr>
            <p:cNvPr id="37899" name="Line 49">
              <a:extLst>
                <a:ext uri="{FF2B5EF4-FFF2-40B4-BE49-F238E27FC236}">
                  <a16:creationId xmlns:a16="http://schemas.microsoft.com/office/drawing/2014/main" id="{7BD34031-F92A-4E6D-B19D-605D9190D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16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Text Box 50">
              <a:extLst>
                <a:ext uri="{FF2B5EF4-FFF2-40B4-BE49-F238E27FC236}">
                  <a16:creationId xmlns:a16="http://schemas.microsoft.com/office/drawing/2014/main" id="{B27C0C09-EA70-435B-936B-7A5384842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976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rgbClr val="3333CC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B949590-A5C7-4A59-A7EB-752229FF6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Wingdings" panose="05000000000000000000" pitchFamily="2" charset="2"/>
              </a:rPr>
              <a:t>CFG</a:t>
            </a:r>
            <a:endParaRPr lang="en-US" altLang="zh-CN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4075E5D-6013-49DC-873F-6F69C95E9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4478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en-US" altLang="zh-CN" sz="2800" dirty="0"/>
              <a:t>A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的含义是什么？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/>
              <a:t>       </a:t>
            </a:r>
            <a:r>
              <a:rPr lang="zh-CN" altLang="en-US" sz="2800" dirty="0"/>
              <a:t>状态</a:t>
            </a:r>
            <a:r>
              <a:rPr lang="en-US" altLang="zh-CN" sz="2800" dirty="0" err="1"/>
              <a:t>i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终态的路径上的符号串的集合</a:t>
            </a:r>
          </a:p>
          <a:p>
            <a:pPr marL="609600" indent="-609600" eaLnBrk="1" hangingPunct="1"/>
            <a:r>
              <a:rPr lang="zh-CN" altLang="en-US" sz="2800" dirty="0">
                <a:sym typeface="Wingdings" panose="05000000000000000000" pitchFamily="2" charset="2"/>
              </a:rPr>
              <a:t>如令</a:t>
            </a: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i</a:t>
            </a:r>
            <a:r>
              <a:rPr lang="zh-CN" altLang="en-US" sz="2800" dirty="0">
                <a:sym typeface="Wingdings" panose="05000000000000000000" pitchFamily="2" charset="2"/>
              </a:rPr>
              <a:t>对应“初态状态</a:t>
            </a:r>
            <a:r>
              <a:rPr lang="en-US" altLang="zh-CN" sz="2800" dirty="0" err="1">
                <a:sym typeface="Wingdings" panose="05000000000000000000" pitchFamily="2" charset="2"/>
              </a:rPr>
              <a:t>i</a:t>
            </a:r>
            <a:r>
              <a:rPr lang="zh-CN" altLang="en-US" sz="2800" dirty="0">
                <a:sym typeface="Wingdings" panose="05000000000000000000" pitchFamily="2" charset="2"/>
              </a:rPr>
              <a:t>路径上的符号串的集合”呢？转换规则如何调整？生成的文法具有什么特点？</a:t>
            </a:r>
          </a:p>
          <a:p>
            <a:pPr marL="609600" indent="-609600" eaLnBrk="1" hangingPunct="1"/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j</a:t>
            </a:r>
            <a:r>
              <a:rPr lang="en-US" altLang="zh-CN" sz="2800" baseline="-25000" dirty="0"/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 err="1"/>
              <a:t>A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a</a:t>
            </a:r>
            <a:br>
              <a:rPr lang="en-US" altLang="zh-CN" sz="2800" dirty="0"/>
            </a:b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0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b="1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38916" name="Text Box 39">
            <a:extLst>
              <a:ext uri="{FF2B5EF4-FFF2-40B4-BE49-F238E27FC236}">
                <a16:creationId xmlns:a16="http://schemas.microsoft.com/office/drawing/2014/main" id="{2312F882-2B99-4A6C-8CF5-78DDB15B5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4000500"/>
            <a:ext cx="2971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a,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1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endParaRPr kumimoji="0" lang="en-US" altLang="zh-CN" sz="2400" b="1" baseline="-250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b,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2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b</a:t>
            </a:r>
            <a:endParaRPr kumimoji="0" lang="en-US" altLang="zh-CN" sz="2400" b="1" baseline="-250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A</a:t>
            </a:r>
            <a:r>
              <a:rPr kumimoji="0" lang="en-US" altLang="zh-CN" sz="2400" b="1" baseline="-25000" dirty="0">
                <a:solidFill>
                  <a:srgbClr val="FF3300"/>
                </a:solidFill>
              </a:rPr>
              <a:t>3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 A</a:t>
            </a:r>
            <a:r>
              <a:rPr kumimoji="0" lang="en-US" altLang="zh-CN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b, </a:t>
            </a:r>
            <a:r>
              <a:rPr lang="en-US" altLang="zh-CN" sz="2400" b="1" dirty="0">
                <a:solidFill>
                  <a:srgbClr val="FF3300"/>
                </a:solidFill>
                <a:sym typeface="Wingdings" panose="05000000000000000000" pitchFamily="2" charset="2"/>
              </a:rPr>
              <a:t>A</a:t>
            </a:r>
            <a:r>
              <a:rPr lang="en-US" altLang="zh-CN" sz="2400" b="1" baseline="-25000" dirty="0">
                <a:solidFill>
                  <a:srgbClr val="FF3300"/>
                </a:solidFill>
                <a:sym typeface="Wingdings" panose="05000000000000000000" pitchFamily="2" charset="2"/>
              </a:rPr>
              <a:t>0</a:t>
            </a:r>
            <a:r>
              <a:rPr kumimoji="0" lang="en-US" altLang="zh-CN" sz="2400" b="1" dirty="0">
                <a:solidFill>
                  <a:srgbClr val="FF3300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92CE37E0-486C-4B48-8F0B-E70F383D64AC}"/>
              </a:ext>
            </a:extLst>
          </p:cNvPr>
          <p:cNvGrpSpPr>
            <a:grpSpLocks/>
          </p:cNvGrpSpPr>
          <p:nvPr/>
        </p:nvGrpSpPr>
        <p:grpSpPr bwMode="auto">
          <a:xfrm>
            <a:off x="760884" y="5085184"/>
            <a:ext cx="4953000" cy="1585913"/>
            <a:chOff x="1584" y="864"/>
            <a:chExt cx="3120" cy="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94CA44-3E3E-4509-A09C-2B9EBFB77F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152"/>
              <a:ext cx="384" cy="384"/>
              <a:chOff x="2496" y="2688"/>
              <a:chExt cx="384" cy="384"/>
            </a:xfrm>
          </p:grpSpPr>
          <p:sp>
            <p:nvSpPr>
              <p:cNvPr id="29" name="Oval 6">
                <a:extLst>
                  <a:ext uri="{FF2B5EF4-FFF2-40B4-BE49-F238E27FC236}">
                    <a16:creationId xmlns:a16="http://schemas.microsoft.com/office/drawing/2014/main" id="{4823BD87-9763-46B5-B92A-3FA12BFC9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688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ABA4C76B-6197-44F7-A52C-7BA353378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2238368B-C287-4D8E-B853-E2A64215E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B989D453-AB93-46A0-AE2E-980C857DA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675A8A69-F1B9-4DF1-9446-CE4F14FDA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DB1E4D90-9452-4C7C-8B51-CA2A2DFD7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1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400" b="1">
                  <a:solidFill>
                    <a:srgbClr val="3333CC"/>
                  </a:solidFill>
                </a:rPr>
                <a:t>start</a:t>
              </a:r>
            </a:p>
          </p:txBody>
        </p:sp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74537855-9B2C-4CE7-B3FA-454C864B45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152"/>
              <a:ext cx="384" cy="384"/>
              <a:chOff x="2736" y="1200"/>
              <a:chExt cx="384" cy="384"/>
            </a:xfrm>
          </p:grpSpPr>
          <p:sp>
            <p:nvSpPr>
              <p:cNvPr id="27" name="Oval 13">
                <a:extLst>
                  <a:ext uri="{FF2B5EF4-FFF2-40B4-BE49-F238E27FC236}">
                    <a16:creationId xmlns:a16="http://schemas.microsoft.com/office/drawing/2014/main" id="{FA0F551E-2148-45E0-93FB-E7BC98452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28" name="Text Box 14">
                <a:extLst>
                  <a:ext uri="{FF2B5EF4-FFF2-40B4-BE49-F238E27FC236}">
                    <a16:creationId xmlns:a16="http://schemas.microsoft.com/office/drawing/2014/main" id="{E5A6BCC7-7891-4E69-AD12-8D076BB2C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0</a:t>
                </a:r>
              </a:p>
            </p:txBody>
          </p:sp>
        </p:grp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38E5728A-B13C-4877-9B61-BD6B0B2E1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200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3333CC"/>
                  </a:solidFill>
                </a:rPr>
                <a:t>3</a:t>
              </a: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4E5BF804-5B07-47C8-BC2D-70842627B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28FA7A6D-980F-434C-8C67-A5F1DB945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" name="Group 18">
              <a:extLst>
                <a:ext uri="{FF2B5EF4-FFF2-40B4-BE49-F238E27FC236}">
                  <a16:creationId xmlns:a16="http://schemas.microsoft.com/office/drawing/2014/main" id="{20591C22-C52D-46A0-BDC3-EF6873FE6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152"/>
              <a:ext cx="384" cy="384"/>
              <a:chOff x="2736" y="1200"/>
              <a:chExt cx="384" cy="384"/>
            </a:xfrm>
          </p:grpSpPr>
          <p:sp>
            <p:nvSpPr>
              <p:cNvPr id="25" name="Oval 19">
                <a:extLst>
                  <a:ext uri="{FF2B5EF4-FFF2-40B4-BE49-F238E27FC236}">
                    <a16:creationId xmlns:a16="http://schemas.microsoft.com/office/drawing/2014/main" id="{65E38D5E-A2F9-4238-AE61-44947E131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26" name="Text Box 20">
                <a:extLst>
                  <a:ext uri="{FF2B5EF4-FFF2-40B4-BE49-F238E27FC236}">
                    <a16:creationId xmlns:a16="http://schemas.microsoft.com/office/drawing/2014/main" id="{C029681F-60EF-4977-B040-BB787CBEDC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2</a:t>
                </a:r>
              </a:p>
            </p:txBody>
          </p:sp>
        </p:grpSp>
        <p:grpSp>
          <p:nvGrpSpPr>
            <p:cNvPr id="16" name="Group 21">
              <a:extLst>
                <a:ext uri="{FF2B5EF4-FFF2-40B4-BE49-F238E27FC236}">
                  <a16:creationId xmlns:a16="http://schemas.microsoft.com/office/drawing/2014/main" id="{8B73456B-AC6F-4824-A373-45727EA573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152"/>
              <a:ext cx="384" cy="384"/>
              <a:chOff x="2736" y="1200"/>
              <a:chExt cx="384" cy="38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C8D1F3-9D36-4A87-BF8F-B813BF0C6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24" name="Text Box 23">
                <a:extLst>
                  <a:ext uri="{FF2B5EF4-FFF2-40B4-BE49-F238E27FC236}">
                    <a16:creationId xmlns:a16="http://schemas.microsoft.com/office/drawing/2014/main" id="{B4FADE53-C9E7-4EFE-8046-970B74861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>
                    <a:solidFill>
                      <a:srgbClr val="3333CC"/>
                    </a:solidFill>
                  </a:rPr>
                  <a:t>1</a:t>
                </a:r>
              </a:p>
            </p:txBody>
          </p:sp>
        </p:grpSp>
        <p:sp>
          <p:nvSpPr>
            <p:cNvPr id="17" name="Text Box 24">
              <a:extLst>
                <a:ext uri="{FF2B5EF4-FFF2-40B4-BE49-F238E27FC236}">
                  <a16:creationId xmlns:a16="http://schemas.microsoft.com/office/drawing/2014/main" id="{48DC3A63-FDCD-4875-819B-EA41903AE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8FD7F11A-353C-4FEA-8A21-3C396D878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15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</a:p>
          </p:txBody>
        </p:sp>
        <p:cxnSp>
          <p:nvCxnSpPr>
            <p:cNvPr id="19" name="AutoShape 26">
              <a:extLst>
                <a:ext uri="{FF2B5EF4-FFF2-40B4-BE49-F238E27FC236}">
                  <a16:creationId xmlns:a16="http://schemas.microsoft.com/office/drawing/2014/main" id="{8A4C4C24-694F-4EA9-8F95-4F0793B75C16}"/>
                </a:ext>
              </a:extLst>
            </p:cNvPr>
            <p:cNvCxnSpPr>
              <a:cxnSpLocks noChangeShapeType="1"/>
              <a:stCxn id="27" idx="7"/>
              <a:endCxn id="27" idx="0"/>
            </p:cNvCxnSpPr>
            <p:nvPr/>
          </p:nvCxnSpPr>
          <p:spPr bwMode="auto">
            <a:xfrm rot="5400000" flipH="1">
              <a:off x="2248" y="1112"/>
              <a:ext cx="56" cy="136"/>
            </a:xfrm>
            <a:prstGeom prst="curvedConnector3">
              <a:avLst>
                <a:gd name="adj1" fmla="val 7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8F7EA593-C583-437F-BD3F-F1E1E7F8B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86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a</a:t>
              </a:r>
            </a:p>
          </p:txBody>
        </p:sp>
        <p:cxnSp>
          <p:nvCxnSpPr>
            <p:cNvPr id="21" name="AutoShape 28">
              <a:extLst>
                <a:ext uri="{FF2B5EF4-FFF2-40B4-BE49-F238E27FC236}">
                  <a16:creationId xmlns:a16="http://schemas.microsoft.com/office/drawing/2014/main" id="{F494077C-DD08-4E3D-BB09-641FC08AB521}"/>
                </a:ext>
              </a:extLst>
            </p:cNvPr>
            <p:cNvCxnSpPr>
              <a:cxnSpLocks noChangeShapeType="1"/>
              <a:stCxn id="27" idx="3"/>
              <a:endCxn id="27" idx="4"/>
            </p:cNvCxnSpPr>
            <p:nvPr/>
          </p:nvCxnSpPr>
          <p:spPr bwMode="auto">
            <a:xfrm rot="16200000" flipH="1">
              <a:off x="2112" y="1440"/>
              <a:ext cx="56" cy="136"/>
            </a:xfrm>
            <a:prstGeom prst="curvedConnector3">
              <a:avLst>
                <a:gd name="adj1" fmla="val 6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94709D35-EE3C-43F1-BAC0-17AF16066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3333CC"/>
                  </a:solidFill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125DE2D-2815-4E7D-8F65-061E16B4C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为什么还需要正规式？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D17C28D-BA19-42CA-AFED-5ADE0C580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词法规则很简单，正规式描述能力足够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正规式更简洁、更容易理解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能更自动构造更高效的词法分析器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使编译器前端更模块化</a:t>
            </a:r>
          </a:p>
          <a:p>
            <a:pPr marL="609600" indent="-609600" eaLnBrk="1" hangingPunct="1"/>
            <a:r>
              <a:rPr lang="zh-CN" altLang="en-US" sz="2800"/>
              <a:t>词法、语法规则的划分没有固定准则</a:t>
            </a:r>
          </a:p>
          <a:p>
            <a:pPr marL="990600" lvl="1" indent="-533400" eaLnBrk="1" hangingPunct="1"/>
            <a:r>
              <a:rPr lang="zh-CN" altLang="en-US" sz="2400"/>
              <a:t>正规式更适合描述标识符、常量、关键字</a:t>
            </a:r>
            <a:br>
              <a:rPr lang="zh-CN" altLang="en-US" sz="2400"/>
            </a:br>
            <a:r>
              <a:rPr lang="en-US" altLang="zh-CN" sz="2400"/>
              <a:t>…</a:t>
            </a:r>
            <a:r>
              <a:rPr lang="zh-CN" altLang="en-US" sz="2400"/>
              <a:t>的结构</a:t>
            </a:r>
          </a:p>
          <a:p>
            <a:pPr marL="990600" lvl="1" indent="-533400" eaLnBrk="1" hangingPunct="1"/>
            <a:r>
              <a:rPr lang="en-US" altLang="zh-CN" sz="2400"/>
              <a:t>CFG</a:t>
            </a:r>
            <a:r>
              <a:rPr lang="zh-CN" altLang="en-US" sz="2400"/>
              <a:t>更适合描述单词的结构化联系、层次化结构，如括号匹配，</a:t>
            </a:r>
            <a:r>
              <a:rPr lang="en-US" altLang="zh-CN" sz="2400"/>
              <a:t>if-then-else</a:t>
            </a:r>
            <a:r>
              <a:rPr lang="zh-CN" altLang="en-US" sz="2400"/>
              <a:t>，</a:t>
            </a:r>
            <a:r>
              <a:rPr lang="en-US" altLang="zh-CN" sz="2400"/>
              <a:t>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32C2B83-AB57-4585-AB1D-AEE9497F0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4.3.2  CFG</a:t>
            </a:r>
            <a:r>
              <a:rPr lang="zh-CN" altLang="en-US"/>
              <a:t>的验证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0BAB860-FD35-487C-9C4D-25B2DF17D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888288" cy="4724400"/>
          </a:xfrm>
        </p:spPr>
        <p:txBody>
          <a:bodyPr/>
          <a:lstStyle/>
          <a:p>
            <a:pPr eaLnBrk="1" hangingPunct="1"/>
            <a:r>
              <a:rPr lang="zh-CN" altLang="en-US"/>
              <a:t>证明</a:t>
            </a:r>
            <a:r>
              <a:rPr lang="en-US" altLang="zh-CN"/>
              <a:t>CFG G</a:t>
            </a:r>
            <a:r>
              <a:rPr lang="zh-CN" altLang="en-US"/>
              <a:t>生成语言</a:t>
            </a:r>
            <a:r>
              <a:rPr lang="en-US" altLang="zh-CN"/>
              <a:t>L</a:t>
            </a:r>
          </a:p>
          <a:p>
            <a:pPr lvl="1" eaLnBrk="1" hangingPunct="1"/>
            <a:r>
              <a:rPr lang="en-US" altLang="zh-CN"/>
              <a:t>G</a:t>
            </a:r>
            <a:r>
              <a:rPr lang="zh-CN" altLang="en-US"/>
              <a:t>生成的每个符号串都在</a:t>
            </a:r>
            <a:r>
              <a:rPr lang="en-US" altLang="zh-CN"/>
              <a:t>L</a:t>
            </a:r>
            <a:r>
              <a:rPr lang="zh-CN" altLang="en-US"/>
              <a:t>中</a:t>
            </a:r>
          </a:p>
          <a:p>
            <a:pPr lvl="1" eaLnBrk="1" hangingPunct="1"/>
            <a:r>
              <a:rPr lang="en-US" altLang="zh-CN"/>
              <a:t>L</a:t>
            </a:r>
            <a:r>
              <a:rPr lang="zh-CN" altLang="en-US"/>
              <a:t>中每个符号串都可由</a:t>
            </a:r>
            <a:r>
              <a:rPr lang="en-US" altLang="zh-CN"/>
              <a:t>G</a:t>
            </a:r>
            <a:r>
              <a:rPr lang="zh-CN" altLang="en-US"/>
              <a:t>生成</a:t>
            </a:r>
          </a:p>
          <a:p>
            <a:pPr eaLnBrk="1" hangingPunct="1"/>
            <a:r>
              <a:rPr lang="zh-CN" altLang="en-US" sz="3600">
                <a:solidFill>
                  <a:srgbClr val="3333CC"/>
                </a:solidFill>
              </a:rPr>
              <a:t>例</a:t>
            </a:r>
            <a:r>
              <a:rPr lang="en-US" altLang="zh-CN" sz="3600">
                <a:solidFill>
                  <a:srgbClr val="3333CC"/>
                </a:solidFill>
              </a:rPr>
              <a:t>4.7</a:t>
            </a:r>
            <a:r>
              <a:rPr lang="zh-CN" altLang="en-US" sz="3600">
                <a:solidFill>
                  <a:srgbClr val="3333CC"/>
                </a:solidFill>
              </a:rPr>
              <a:t>：验证</a:t>
            </a:r>
            <a:r>
              <a:rPr lang="en-US" altLang="zh-CN" sz="3600">
                <a:solidFill>
                  <a:srgbClr val="3333CC"/>
                </a:solidFill>
              </a:rPr>
              <a:t>CFG</a:t>
            </a:r>
            <a:br>
              <a:rPr lang="en-US" altLang="zh-CN"/>
            </a:br>
            <a:r>
              <a:rPr lang="en-US" altLang="zh-CN"/>
              <a:t>S</a:t>
            </a:r>
            <a:r>
              <a:rPr kumimoji="0" lang="en-US" altLang="zh-CN">
                <a:sym typeface="Symbol" panose="05050102010706020507" pitchFamily="18" charset="2"/>
              </a:rPr>
              <a:t> ( S ) S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生成的语言</a:t>
            </a:r>
            <a:r>
              <a:rPr kumimoji="0" lang="en-US" altLang="zh-CN">
                <a:sym typeface="Symbol" panose="05050102010706020507" pitchFamily="18" charset="2"/>
              </a:rPr>
              <a:t>L={ </a:t>
            </a:r>
            <a:r>
              <a:rPr kumimoji="0" lang="zh-CN" altLang="en-US">
                <a:sym typeface="Symbol" panose="05050102010706020507" pitchFamily="18" charset="2"/>
              </a:rPr>
              <a:t>所有括号组成的，且括号匹配的字符串，且只有这些字符串 </a:t>
            </a:r>
            <a:r>
              <a:rPr kumimoji="0" lang="en-US" altLang="zh-CN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C787800-B924-4715-8BA9-5816379AA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</a:t>
            </a:r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zh-CN" altLang="en-US">
                <a:sym typeface="Symbol" panose="05050102010706020507" pitchFamily="18" charset="2"/>
              </a:rPr>
              <a:t>推导出的句子都</a:t>
            </a:r>
            <a:r>
              <a:rPr kumimoji="0" lang="en-US" altLang="zh-CN">
                <a:sym typeface="Symbol" panose="05050102010706020507" pitchFamily="18" charset="2"/>
              </a:rPr>
              <a:t>L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5032BCD-AB81-424E-A538-6814E94C8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数学归纳法（推导步数）：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>
                <a:sym typeface="Symbol" panose="05050102010706020507" pitchFamily="18" charset="2"/>
              </a:rPr>
              <a:t>基本情况：一步推导，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，括号匹配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假定步骤</a:t>
            </a:r>
            <a:r>
              <a:rPr lang="en-US" altLang="zh-CN" sz="2800"/>
              <a:t>&lt;n</a:t>
            </a:r>
            <a:r>
              <a:rPr lang="zh-CN" altLang="en-US" sz="2800"/>
              <a:t>的推导都生成括号匹配的句子，考虑步骤</a:t>
            </a:r>
            <a:r>
              <a:rPr lang="en-US" altLang="zh-CN" sz="2800"/>
              <a:t>=n</a:t>
            </a:r>
            <a:r>
              <a:rPr lang="zh-CN" altLang="en-US" sz="2800"/>
              <a:t>的最左推导，必形如</a:t>
            </a:r>
            <a:br>
              <a:rPr lang="zh-CN" altLang="en-US" sz="2800"/>
            </a:br>
            <a:r>
              <a:rPr lang="zh-CN" altLang="en-US" sz="2800"/>
              <a:t>	</a:t>
            </a:r>
            <a:r>
              <a:rPr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 (S)S  (x)S  (x)y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x</a:t>
            </a:r>
            <a:r>
              <a:rPr kumimoji="0" lang="zh-CN" altLang="en-US" sz="2800">
                <a:sym typeface="Symbol" panose="05050102010706020507" pitchFamily="18" charset="2"/>
              </a:rPr>
              <a:t>、</a:t>
            </a:r>
            <a:r>
              <a:rPr kumimoji="0" lang="en-US" altLang="zh-CN" sz="2800">
                <a:sym typeface="Symbol" panose="05050102010706020507" pitchFamily="18" charset="2"/>
              </a:rPr>
              <a:t>y</a:t>
            </a:r>
            <a:r>
              <a:rPr kumimoji="0" lang="zh-CN" altLang="en-US" sz="2800">
                <a:sym typeface="Symbol" panose="05050102010706020507" pitchFamily="18" charset="2"/>
              </a:rPr>
              <a:t>为步骤</a:t>
            </a:r>
            <a:r>
              <a:rPr kumimoji="0" lang="en-US" altLang="zh-CN" sz="2800">
                <a:sym typeface="Symbol" panose="05050102010706020507" pitchFamily="18" charset="2"/>
              </a:rPr>
              <a:t>&lt;n</a:t>
            </a:r>
            <a:r>
              <a:rPr kumimoji="0" lang="zh-CN" altLang="en-US" sz="2800">
                <a:sym typeface="Symbol" panose="05050102010706020507" pitchFamily="18" charset="2"/>
              </a:rPr>
              <a:t>的推导生成的句子</a:t>
            </a:r>
            <a:r>
              <a:rPr kumimoji="0" lang="en-US" altLang="zh-CN" sz="2800">
                <a:sym typeface="Symbol" panose="05050102010706020507" pitchFamily="18" charset="2"/>
              </a:rPr>
              <a:t>——</a:t>
            </a:r>
            <a:r>
              <a:rPr kumimoji="0" lang="zh-CN" altLang="en-US" sz="2800">
                <a:sym typeface="Symbol" panose="05050102010706020507" pitchFamily="18" charset="2"/>
              </a:rPr>
              <a:t>括号匹配的，因此</a:t>
            </a:r>
            <a:r>
              <a:rPr kumimoji="0" lang="en-US" altLang="zh-CN" sz="2800">
                <a:sym typeface="Symbol" panose="05050102010706020507" pitchFamily="18" charset="2"/>
              </a:rPr>
              <a:t>(x)y</a:t>
            </a:r>
            <a:r>
              <a:rPr kumimoji="0" lang="zh-CN" altLang="en-US" sz="2800">
                <a:sym typeface="Symbol" panose="05050102010706020507" pitchFamily="18" charset="2"/>
              </a:rPr>
              <a:t>是括号匹配的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综合</a:t>
            </a:r>
            <a:r>
              <a:rPr kumimoji="0" lang="en-US" altLang="zh-CN" sz="2800">
                <a:sym typeface="Symbol" panose="05050102010706020507" pitchFamily="18" charset="2"/>
              </a:rPr>
              <a:t>1</a:t>
            </a:r>
            <a:r>
              <a:rPr kumimoji="0" lang="zh-CN" altLang="en-US" sz="2800">
                <a:sym typeface="Symbol" panose="05050102010706020507" pitchFamily="18" charset="2"/>
              </a:rPr>
              <a:t>、</a:t>
            </a:r>
            <a:r>
              <a:rPr kumimoji="0" lang="en-US" altLang="zh-CN" sz="2800">
                <a:sym typeface="Symbol" panose="05050102010706020507" pitchFamily="18" charset="2"/>
              </a:rPr>
              <a:t>2</a:t>
            </a:r>
            <a:r>
              <a:rPr kumimoji="0" lang="zh-CN" altLang="en-US" sz="2800">
                <a:sym typeface="Symbol" panose="05050102010706020507" pitchFamily="18" charset="2"/>
              </a:rPr>
              <a:t>，一得证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0D97C120-0390-428A-8B7B-64652DF2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6AB61B37-5E25-4311-ABC6-58E667906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CF3FF77-178B-477A-849D-7E243297A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</a:t>
            </a:r>
            <a:r>
              <a:rPr lang="en-US" altLang="zh-CN"/>
              <a:t>L</a:t>
            </a:r>
            <a:r>
              <a:rPr lang="zh-CN" altLang="en-US"/>
              <a:t>中的符号串</a:t>
            </a:r>
            <a:r>
              <a:rPr lang="en-US" altLang="zh-CN"/>
              <a:t>S</a:t>
            </a:r>
            <a:r>
              <a:rPr lang="zh-CN" altLang="en-US"/>
              <a:t>都可推导出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90DB7BC-AE59-4F1D-9266-C95E798CE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数学归纳法（符号串长度）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基本情况：空串，可由</a:t>
            </a:r>
            <a:r>
              <a:rPr lang="en-US" altLang="zh-CN" sz="2800" dirty="0"/>
              <a:t>S</a:t>
            </a:r>
            <a:r>
              <a:rPr lang="zh-CN" altLang="en-US" sz="2800" dirty="0"/>
              <a:t>推导出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假定</a:t>
            </a:r>
            <a:r>
              <a:rPr lang="en-US" altLang="zh-CN" sz="2800" dirty="0"/>
              <a:t>L</a:t>
            </a:r>
            <a:r>
              <a:rPr lang="zh-CN" altLang="en-US" sz="2800" dirty="0"/>
              <a:t>中</a:t>
            </a:r>
            <a:r>
              <a:rPr lang="en-US" altLang="zh-CN" sz="2800" dirty="0"/>
              <a:t>&lt;2n</a:t>
            </a:r>
            <a:r>
              <a:rPr lang="zh-CN" altLang="en-US" sz="2800" dirty="0"/>
              <a:t>的符号串都可由</a:t>
            </a:r>
            <a:r>
              <a:rPr lang="en-US" altLang="zh-CN" sz="2800" dirty="0"/>
              <a:t>S</a:t>
            </a:r>
            <a:r>
              <a:rPr lang="zh-CN" altLang="en-US" sz="2800" dirty="0"/>
              <a:t>推导出。考虑长度</a:t>
            </a:r>
            <a:r>
              <a:rPr lang="en-US" altLang="zh-CN" sz="2800" dirty="0"/>
              <a:t>=2n</a:t>
            </a:r>
            <a:r>
              <a:rPr lang="zh-CN" altLang="en-US" sz="2800" dirty="0"/>
              <a:t>的符号串</a:t>
            </a:r>
            <a:r>
              <a:rPr lang="en-US" altLang="zh-CN" sz="2800" dirty="0"/>
              <a:t>w</a:t>
            </a:r>
            <a:r>
              <a:rPr lang="zh-CN" altLang="en-US" sz="2800" dirty="0"/>
              <a:t>。</a:t>
            </a:r>
            <a:br>
              <a:rPr lang="zh-CN" altLang="en-US" sz="2800" dirty="0"/>
            </a:br>
            <a:r>
              <a:rPr lang="zh-CN" altLang="en-US" sz="2800" dirty="0"/>
              <a:t>它必以‘</a:t>
            </a:r>
            <a:r>
              <a:rPr lang="en-US" altLang="zh-CN" sz="2800" dirty="0"/>
              <a:t>(</a:t>
            </a:r>
            <a:r>
              <a:rPr lang="zh-CN" altLang="en-US" sz="2800" dirty="0"/>
              <a:t>’开始，设</a:t>
            </a:r>
            <a:r>
              <a:rPr lang="en-US" altLang="zh-CN" sz="2800" dirty="0"/>
              <a:t>(x)</a:t>
            </a:r>
            <a:r>
              <a:rPr lang="zh-CN" altLang="en-US" sz="2800" dirty="0"/>
              <a:t>为</a:t>
            </a:r>
            <a:r>
              <a:rPr lang="en-US" altLang="zh-CN" sz="2800" dirty="0"/>
              <a:t>w</a:t>
            </a:r>
            <a:r>
              <a:rPr lang="zh-CN" altLang="en-US" sz="2800" dirty="0"/>
              <a:t>的最短的括号匹配的前缀，则</a:t>
            </a:r>
            <a:r>
              <a:rPr lang="en-US" altLang="zh-CN" sz="2800" dirty="0"/>
              <a:t>w</a:t>
            </a:r>
            <a:r>
              <a:rPr lang="zh-CN" altLang="en-US" sz="2800" dirty="0"/>
              <a:t>形如</a:t>
            </a:r>
            <a:r>
              <a:rPr lang="en-US" altLang="zh-CN" sz="2800" dirty="0"/>
              <a:t>(x)y</a:t>
            </a:r>
            <a:r>
              <a:rPr lang="zh-CN" altLang="en-US" sz="2800" dirty="0"/>
              <a:t>，</a:t>
            </a:r>
            <a:r>
              <a:rPr lang="en-US" altLang="zh-CN" sz="2800" dirty="0"/>
              <a:t>x</a:t>
            </a:r>
            <a:r>
              <a:rPr lang="zh-CN" altLang="en-US" sz="2800" dirty="0"/>
              <a:t>、</a:t>
            </a:r>
            <a:r>
              <a:rPr lang="en-US" altLang="zh-CN" sz="2800" dirty="0"/>
              <a:t>y</a:t>
            </a:r>
            <a:r>
              <a:rPr lang="zh-CN" altLang="en-US" sz="2800" dirty="0"/>
              <a:t>长度小于</a:t>
            </a:r>
            <a:r>
              <a:rPr lang="en-US" altLang="zh-CN" sz="2800" dirty="0"/>
              <a:t>2n</a:t>
            </a:r>
            <a:r>
              <a:rPr lang="zh-CN" altLang="en-US" sz="2800" dirty="0"/>
              <a:t>，且括号匹配，因此可由</a:t>
            </a:r>
            <a:r>
              <a:rPr lang="en-US" altLang="zh-CN" sz="2800" dirty="0"/>
              <a:t>S</a:t>
            </a:r>
            <a:r>
              <a:rPr lang="zh-CN" altLang="en-US" sz="2800" dirty="0"/>
              <a:t>推导出，则存在推导</a:t>
            </a:r>
            <a:br>
              <a:rPr lang="zh-CN" altLang="en-US" sz="2800" dirty="0"/>
            </a:br>
            <a:r>
              <a:rPr lang="en-US" altLang="zh-CN" sz="2800" dirty="0"/>
              <a:t>S </a:t>
            </a:r>
            <a:r>
              <a:rPr kumimoji="0" lang="en-US" altLang="zh-CN" sz="2800" dirty="0">
                <a:sym typeface="Symbol" panose="05050102010706020507" pitchFamily="18" charset="2"/>
              </a:rPr>
              <a:t> (S)S  (x)S  (x)y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ym typeface="Symbol" panose="05050102010706020507" pitchFamily="18" charset="2"/>
              </a:rPr>
              <a:t>由</a:t>
            </a:r>
            <a:r>
              <a:rPr kumimoji="0" lang="en-US" altLang="zh-CN" sz="2800" dirty="0">
                <a:sym typeface="Symbol" panose="05050102010706020507" pitchFamily="18" charset="2"/>
              </a:rPr>
              <a:t>1</a:t>
            </a:r>
            <a:r>
              <a:rPr kumimoji="0" lang="zh-CN" altLang="en-US" sz="2800" dirty="0">
                <a:sym typeface="Symbol" panose="05050102010706020507" pitchFamily="18" charset="2"/>
              </a:rPr>
              <a:t>、</a:t>
            </a:r>
            <a:r>
              <a:rPr kumimoji="0" lang="en-US" altLang="zh-CN" sz="2800" dirty="0">
                <a:sym typeface="Symbol" panose="05050102010706020507" pitchFamily="18" charset="2"/>
              </a:rPr>
              <a:t>2</a:t>
            </a:r>
            <a:r>
              <a:rPr kumimoji="0" lang="zh-CN" altLang="en-US" sz="2800" dirty="0">
                <a:sym typeface="Symbol" panose="05050102010706020507" pitchFamily="18" charset="2"/>
              </a:rPr>
              <a:t>，二得证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800" dirty="0">
                <a:sym typeface="Symbol" panose="05050102010706020507" pitchFamily="18" charset="2"/>
              </a:rPr>
              <a:t>由一、二，原命题得证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E863B2CC-098D-4309-B5F2-B3F882012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363" y="4495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E6C4FAFC-31DF-42A1-BE1C-3749CB20B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E0B1B95-C74E-4A3B-9E11-D867EC597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</a:t>
            </a:r>
            <a:r>
              <a:rPr lang="en-US" altLang="zh-CN"/>
              <a:t>CFG</a:t>
            </a:r>
            <a:r>
              <a:rPr lang="zh-CN" altLang="en-US"/>
              <a:t>练习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82403EB-F393-4D46-9BC1-91F0111EB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基本的递归</a:t>
            </a:r>
          </a:p>
          <a:p>
            <a:pPr eaLnBrk="1" hangingPunct="1"/>
            <a:r>
              <a:rPr lang="en-US" altLang="zh-CN"/>
              <a:t>L = { a</a:t>
            </a:r>
            <a:r>
              <a:rPr lang="en-US" altLang="zh-CN" baseline="30000"/>
              <a:t>n</a:t>
            </a:r>
            <a:r>
              <a:rPr lang="en-US" altLang="zh-CN"/>
              <a:t>bb</a:t>
            </a:r>
            <a:r>
              <a:rPr lang="en-US" altLang="zh-CN" baseline="30000"/>
              <a:t>2n</a:t>
            </a:r>
            <a:r>
              <a:rPr lang="en-US" altLang="zh-CN"/>
              <a:t> | n≥0 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271364" name="Rectangle 4">
            <a:extLst>
              <a:ext uri="{FF2B5EF4-FFF2-40B4-BE49-F238E27FC236}">
                <a16:creationId xmlns:a16="http://schemas.microsoft.com/office/drawing/2014/main" id="{943F4EA9-4B5D-448D-86B0-23C92BE161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47813" y="3005138"/>
            <a:ext cx="2116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S→b | aSbb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AAFD6FA-1D38-4D17-B3A0-22F8BF060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不包含子串</a:t>
            </a:r>
            <a:r>
              <a:rPr lang="en-US" altLang="zh-CN"/>
              <a:t>011</a:t>
            </a:r>
            <a:r>
              <a:rPr lang="zh-CN" altLang="en-US"/>
              <a:t>的</a:t>
            </a:r>
            <a:r>
              <a:rPr lang="en-US" altLang="zh-CN"/>
              <a:t>0/1</a:t>
            </a:r>
            <a:r>
              <a:rPr lang="zh-CN" altLang="en-US"/>
              <a:t>串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0ACFB37-64DC-46AC-906B-BF118626D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45060" name="Picture 4" descr="7h">
            <a:extLst>
              <a:ext uri="{FF2B5EF4-FFF2-40B4-BE49-F238E27FC236}">
                <a16:creationId xmlns:a16="http://schemas.microsoft.com/office/drawing/2014/main" id="{C189B73B-35A5-42D4-8BA2-D065D64B5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12875"/>
            <a:ext cx="6953250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0341" name="Rectangle 5">
            <a:extLst>
              <a:ext uri="{FF2B5EF4-FFF2-40B4-BE49-F238E27FC236}">
                <a16:creationId xmlns:a16="http://schemas.microsoft.com/office/drawing/2014/main" id="{A72D6F1F-1802-48C0-84A4-1CACF11109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76375" y="3486150"/>
            <a:ext cx="2471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S→0 A | 1 S | </a:t>
            </a:r>
            <a:r>
              <a:rPr lang="en-US" altLang="zh-CN" sz="2800">
                <a:latin typeface="Symbol" panose="05050102010706020507" pitchFamily="18" charset="2"/>
              </a:rPr>
              <a:t>e</a:t>
            </a:r>
            <a:r>
              <a:rPr lang="en-US" altLang="zh-CN" sz="2800"/>
              <a:t> </a:t>
            </a:r>
          </a:p>
        </p:txBody>
      </p:sp>
      <p:sp>
        <p:nvSpPr>
          <p:cNvPr id="270342" name="Rectangle 6">
            <a:extLst>
              <a:ext uri="{FF2B5EF4-FFF2-40B4-BE49-F238E27FC236}">
                <a16:creationId xmlns:a16="http://schemas.microsoft.com/office/drawing/2014/main" id="{18851663-09FA-4EAB-90E1-7C16B7DB8FE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350" y="4132263"/>
            <a:ext cx="2590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Symbol" panose="05050102010706020507" pitchFamily="18" charset="2"/>
              </a:rPr>
              <a:t>A</a:t>
            </a:r>
            <a:r>
              <a:rPr lang="en-US" altLang="zh-CN" sz="2800"/>
              <a:t>→</a:t>
            </a:r>
            <a:r>
              <a:rPr lang="en-US" altLang="zh-CN" sz="2800">
                <a:latin typeface="Symbol" panose="05050102010706020507" pitchFamily="18" charset="2"/>
              </a:rPr>
              <a:t>0 A | 1 B | e </a:t>
            </a:r>
          </a:p>
        </p:txBody>
      </p:sp>
      <p:sp>
        <p:nvSpPr>
          <p:cNvPr id="270343" name="Rectangle 7">
            <a:extLst>
              <a:ext uri="{FF2B5EF4-FFF2-40B4-BE49-F238E27FC236}">
                <a16:creationId xmlns:a16="http://schemas.microsoft.com/office/drawing/2014/main" id="{1D8D7B0C-F119-48B1-8581-71F4000322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9700" y="4722813"/>
            <a:ext cx="18097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Symbol" panose="05050102010706020507" pitchFamily="18" charset="2"/>
              </a:rPr>
              <a:t>B</a:t>
            </a:r>
            <a:r>
              <a:rPr lang="en-US" altLang="zh-CN" sz="2800"/>
              <a:t>→</a:t>
            </a:r>
            <a:r>
              <a:rPr lang="en-US" altLang="zh-CN" sz="2800">
                <a:latin typeface="Symbol" panose="05050102010706020507" pitchFamily="18" charset="2"/>
              </a:rPr>
              <a:t>0 A | 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1" grpId="0"/>
      <p:bldP spid="270342" grpId="0"/>
      <p:bldP spid="27034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F71119F-09A4-4832-82A3-2C2118BD7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形如</a:t>
            </a:r>
            <a:r>
              <a:rPr lang="en-US" altLang="zh-CN"/>
              <a:t>xy(x≠y)</a:t>
            </a:r>
            <a:r>
              <a:rPr lang="zh-CN" altLang="en-US"/>
              <a:t>的</a:t>
            </a:r>
            <a:r>
              <a:rPr lang="en-US" altLang="zh-CN"/>
              <a:t>01</a:t>
            </a:r>
            <a:r>
              <a:rPr lang="zh-CN" altLang="en-US"/>
              <a:t>串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F6236A2-C0BA-4117-A4C6-6F3CF2F86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长度是什么情况必然不是</a:t>
            </a:r>
            <a:r>
              <a:rPr lang="en-US" altLang="zh-CN"/>
              <a:t>xx</a:t>
            </a:r>
            <a:r>
              <a:rPr lang="zh-CN" altLang="en-US"/>
              <a:t>？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如何描述？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其他情况如何描述？</a:t>
            </a:r>
          </a:p>
        </p:txBody>
      </p:sp>
      <p:sp>
        <p:nvSpPr>
          <p:cNvPr id="272388" name="Rectangle 4">
            <a:extLst>
              <a:ext uri="{FF2B5EF4-FFF2-40B4-BE49-F238E27FC236}">
                <a16:creationId xmlns:a16="http://schemas.microsoft.com/office/drawing/2014/main" id="{59E7EBB5-FFFC-4CAF-B568-27F719BCFB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47813" y="1844675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奇数</a:t>
            </a:r>
          </a:p>
        </p:txBody>
      </p:sp>
      <p:sp>
        <p:nvSpPr>
          <p:cNvPr id="272389" name="Rectangle 5">
            <a:extLst>
              <a:ext uri="{FF2B5EF4-FFF2-40B4-BE49-F238E27FC236}">
                <a16:creationId xmlns:a16="http://schemas.microsoft.com/office/drawing/2014/main" id="{59F343F7-C31E-42BA-ABCC-01D1E38FF6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9725" y="2997200"/>
            <a:ext cx="2139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S→B | BSB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B→0 |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/>
      <p:bldP spid="27238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1D48E730-F894-45BD-90E3-567A9B1D3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</a:t>
            </a:r>
            <a:r>
              <a:rPr lang="en-US" altLang="zh-CN"/>
              <a:t>CFG</a:t>
            </a:r>
            <a:r>
              <a:rPr lang="zh-CN" altLang="en-US"/>
              <a:t>的难点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53E0DF5-F3DE-4EAA-8A89-85F5FD450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手工进行，无形式化方法</a:t>
            </a:r>
          </a:p>
          <a:p>
            <a:pPr eaLnBrk="1" hangingPunct="1"/>
            <a:r>
              <a:rPr lang="zh-CN" altLang="en-US"/>
              <a:t>不同的语法分析方法对</a:t>
            </a:r>
            <a:r>
              <a:rPr lang="en-US" altLang="zh-CN"/>
              <a:t>CFG</a:t>
            </a:r>
            <a:r>
              <a:rPr lang="zh-CN" altLang="en-US"/>
              <a:t>有不同的特殊要求</a:t>
            </a:r>
          </a:p>
          <a:p>
            <a:pPr lvl="1" eaLnBrk="1" hangingPunct="1"/>
            <a:r>
              <a:rPr lang="zh-CN" altLang="en-US"/>
              <a:t>如自顶向下分析方法和自底向上分析方法</a:t>
            </a:r>
          </a:p>
          <a:p>
            <a:pPr lvl="1" eaLnBrk="1" hangingPunct="1"/>
            <a:r>
              <a:rPr lang="en-US" altLang="zh-CN"/>
              <a:t>CFG</a:t>
            </a:r>
            <a:r>
              <a:rPr lang="zh-CN" altLang="en-US"/>
              <a:t>设计完成后可能需要修改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1204E61-9F17-46A5-917E-EF96A47464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CFG</a:t>
            </a:r>
            <a:r>
              <a:rPr lang="zh-CN" altLang="en-US"/>
              <a:t>的修改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2FA1168-34C5-41D2-9B03-4BAF958ED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两个目的</a:t>
            </a:r>
          </a:p>
          <a:p>
            <a:pPr lvl="1" eaLnBrk="1" hangingPunct="1"/>
            <a:r>
              <a:rPr lang="zh-CN" altLang="en-US"/>
              <a:t>去除“错误”</a:t>
            </a:r>
          </a:p>
          <a:p>
            <a:pPr lvl="1" eaLnBrk="1" hangingPunct="1"/>
            <a:r>
              <a:rPr lang="zh-CN" altLang="en-US"/>
              <a:t>重写，满足语法分析算法要求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983AECBE-C2E4-4D8A-BB62-A049B7990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124200"/>
            <a:ext cx="2743200" cy="20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en-US" altLang="zh-CN" sz="2800" b="1">
                <a:solidFill>
                  <a:srgbClr val="3333CC"/>
                </a:solidFill>
              </a:rPr>
              <a:t> </a:t>
            </a:r>
            <a:r>
              <a:rPr kumimoji="0" lang="zh-CN" altLang="en-US" sz="2800" b="1">
                <a:solidFill>
                  <a:srgbClr val="3333CC"/>
                </a:solidFill>
              </a:rPr>
              <a:t>二义性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zh-CN" altLang="en-US" sz="2800" b="1">
                <a:solidFill>
                  <a:srgbClr val="3333CC"/>
                </a:solidFill>
              </a:rPr>
              <a:t> </a:t>
            </a:r>
            <a:r>
              <a:rPr kumimoji="0" lang="en-US" altLang="zh-CN" sz="28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-moves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olidFill>
                  <a:srgbClr val="3333CC"/>
                </a:solidFill>
                <a:sym typeface="Symbol" panose="05050102010706020507" pitchFamily="18" charset="2"/>
              </a:rPr>
              <a:t>回路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zh-CN" altLang="en-US" sz="2800" b="1">
                <a:solidFill>
                  <a:srgbClr val="3333CC"/>
                </a:solidFill>
                <a:sym typeface="Symbol" panose="05050102010706020507" pitchFamily="18" charset="2"/>
              </a:rPr>
              <a:t> 左递归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Char char="-"/>
            </a:pPr>
            <a:r>
              <a:rPr kumimoji="0" lang="zh-CN" altLang="en-US" sz="2800" b="1">
                <a:solidFill>
                  <a:srgbClr val="3333CC"/>
                </a:solidFill>
                <a:sym typeface="Symbol" panose="05050102010706020507" pitchFamily="18" charset="2"/>
              </a:rPr>
              <a:t> 提取左公因子</a:t>
            </a:r>
            <a:endParaRPr kumimoji="0" lang="zh-CN" altLang="en-US" sz="2800" b="1">
              <a:solidFill>
                <a:srgbClr val="3333CC"/>
              </a:solidFill>
            </a:endParaRPr>
          </a:p>
        </p:txBody>
      </p:sp>
      <p:sp>
        <p:nvSpPr>
          <p:cNvPr id="48133" name="AutoShape 5">
            <a:extLst>
              <a:ext uri="{FF2B5EF4-FFF2-40B4-BE49-F238E27FC236}">
                <a16:creationId xmlns:a16="http://schemas.microsoft.com/office/drawing/2014/main" id="{81959F61-5B5E-4470-9F98-67186D0F2140}"/>
              </a:ext>
            </a:extLst>
          </p:cNvPr>
          <p:cNvSpPr>
            <a:spLocks/>
          </p:cNvSpPr>
          <p:nvPr/>
        </p:nvSpPr>
        <p:spPr bwMode="auto">
          <a:xfrm>
            <a:off x="3657600" y="3124200"/>
            <a:ext cx="457200" cy="1905000"/>
          </a:xfrm>
          <a:prstGeom prst="leftBrace">
            <a:avLst>
              <a:gd name="adj1" fmla="val 34722"/>
              <a:gd name="adj2" fmla="val 50000"/>
            </a:avLst>
          </a:prstGeom>
          <a:noFill/>
          <a:ln w="25400">
            <a:solidFill>
              <a:srgbClr val="3333CC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84F8FFC1-8564-4F4D-9BE5-AFFD383BA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505200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不合要求的问题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009277B-C3C3-4B77-BA32-A2FA7A9F1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4.3.3  </a:t>
            </a:r>
            <a:r>
              <a:rPr lang="zh-CN" altLang="en-US"/>
              <a:t>消除二义性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E09F1DA-FF76-4DD1-B21A-3AF012A9C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例子：条件分支语句</a:t>
            </a:r>
            <a:endParaRPr kumimoji="0" lang="zh-CN" altLang="en-US" sz="2800" i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/>
              <a:t>stmt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b="1"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expr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then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     |  </a:t>
            </a:r>
            <a:r>
              <a:rPr kumimoji="0" lang="en-US" altLang="zh-CN" sz="2800" b="1"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expr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then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stmt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ym typeface="Symbol" panose="05050102010706020507" pitchFamily="18" charset="2"/>
              </a:rPr>
              <a:t>else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r>
              <a:rPr kumimoji="0" lang="en-US" altLang="zh-CN" sz="2800" i="1"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     |  </a:t>
            </a:r>
            <a:r>
              <a:rPr kumimoji="0" lang="en-US" altLang="zh-CN" sz="2800" b="1">
                <a:sym typeface="Symbol" panose="05050102010706020507" pitchFamily="18" charset="2"/>
              </a:rPr>
              <a:t>other</a:t>
            </a:r>
            <a:r>
              <a:rPr kumimoji="0" lang="en-US" altLang="zh-CN" sz="2800">
                <a:sym typeface="Symbol" panose="05050102010706020507" pitchFamily="18" charset="2"/>
              </a:rPr>
              <a:t>  (</a:t>
            </a:r>
            <a:r>
              <a:rPr kumimoji="0" lang="zh-CN" altLang="en-US" sz="2800">
                <a:sym typeface="Symbol" panose="05050102010706020507" pitchFamily="18" charset="2"/>
              </a:rPr>
              <a:t>任何其他形式的语句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76AB727-2017-4716-A7EA-AB48F71BB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无二义性的句子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46A7121-B17C-4003-8681-4224A7EA5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S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else</a:t>
            </a:r>
            <a:r>
              <a:rPr lang="en-US" altLang="zh-CN" sz="2800"/>
              <a:t> </a:t>
            </a: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2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S</a:t>
            </a:r>
            <a:r>
              <a:rPr lang="en-US" altLang="zh-CN" sz="2800" baseline="-25000"/>
              <a:t>2</a:t>
            </a:r>
            <a:r>
              <a:rPr lang="en-US" altLang="zh-CN" sz="2800"/>
              <a:t> </a:t>
            </a:r>
            <a:r>
              <a:rPr lang="en-US" altLang="zh-CN" sz="2800" b="1"/>
              <a:t>else</a:t>
            </a:r>
            <a:r>
              <a:rPr lang="en-US" altLang="zh-CN" sz="2800"/>
              <a:t> S</a:t>
            </a:r>
            <a:r>
              <a:rPr lang="en-US" altLang="zh-CN" sz="2800" baseline="-25000"/>
              <a:t>3 </a:t>
            </a:r>
            <a:r>
              <a:rPr lang="zh-CN" altLang="en-US" sz="2800"/>
              <a:t>语法树如下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F3CEBA90-A01F-409D-9928-C28011F52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3087688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33D6C89C-2AB4-460E-9A5C-BB30B59BC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5" y="2209800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0182" name="Text Box 6">
            <a:extLst>
              <a:ext uri="{FF2B5EF4-FFF2-40B4-BE49-F238E27FC236}">
                <a16:creationId xmlns:a16="http://schemas.microsoft.com/office/drawing/2014/main" id="{46192E59-FFA8-4471-A2FF-C9E8C7E10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550" y="3087688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0183" name="Text Box 7">
            <a:extLst>
              <a:ext uri="{FF2B5EF4-FFF2-40B4-BE49-F238E27FC236}">
                <a16:creationId xmlns:a16="http://schemas.microsoft.com/office/drawing/2014/main" id="{C4F49371-A475-4A4C-8285-9F4B5A89B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087688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</a:p>
        </p:txBody>
      </p:sp>
      <p:sp>
        <p:nvSpPr>
          <p:cNvPr id="50184" name="Text Box 8">
            <a:extLst>
              <a:ext uri="{FF2B5EF4-FFF2-40B4-BE49-F238E27FC236}">
                <a16:creationId xmlns:a16="http://schemas.microsoft.com/office/drawing/2014/main" id="{A90F0F3A-92DF-4314-826E-E01ACA8BD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4463" y="4114800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</a:p>
        </p:txBody>
      </p:sp>
      <p:grpSp>
        <p:nvGrpSpPr>
          <p:cNvPr id="50185" name="Group 9">
            <a:extLst>
              <a:ext uri="{FF2B5EF4-FFF2-40B4-BE49-F238E27FC236}">
                <a16:creationId xmlns:a16="http://schemas.microsoft.com/office/drawing/2014/main" id="{09B2DEE2-7102-4E09-A75A-AB7CBE015931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3589338"/>
            <a:ext cx="901700" cy="773112"/>
            <a:chOff x="3504" y="3456"/>
            <a:chExt cx="528" cy="296"/>
          </a:xfrm>
        </p:grpSpPr>
        <p:sp>
          <p:nvSpPr>
            <p:cNvPr id="50226" name="Line 10">
              <a:extLst>
                <a:ext uri="{FF2B5EF4-FFF2-40B4-BE49-F238E27FC236}">
                  <a16:creationId xmlns:a16="http://schemas.microsoft.com/office/drawing/2014/main" id="{C7DE31D5-05BA-4394-A501-028B2818C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7" name="Line 11">
              <a:extLst>
                <a:ext uri="{FF2B5EF4-FFF2-40B4-BE49-F238E27FC236}">
                  <a16:creationId xmlns:a16="http://schemas.microsoft.com/office/drawing/2014/main" id="{7A697DA4-55AC-4AC8-8849-EC3967A6F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8" name="Line 12">
              <a:extLst>
                <a:ext uri="{FF2B5EF4-FFF2-40B4-BE49-F238E27FC236}">
                  <a16:creationId xmlns:a16="http://schemas.microsoft.com/office/drawing/2014/main" id="{9652C2CF-2EAB-4C94-832D-22D3EA161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9" name="Text Box 13">
              <a:extLst>
                <a:ext uri="{FF2B5EF4-FFF2-40B4-BE49-F238E27FC236}">
                  <a16:creationId xmlns:a16="http://schemas.microsoft.com/office/drawing/2014/main" id="{AEB13E07-4022-432E-B9F0-573155DB2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grpSp>
        <p:nvGrpSpPr>
          <p:cNvPr id="50186" name="Group 14">
            <a:extLst>
              <a:ext uri="{FF2B5EF4-FFF2-40B4-BE49-F238E27FC236}">
                <a16:creationId xmlns:a16="http://schemas.microsoft.com/office/drawing/2014/main" id="{EAF924DF-2D5A-4E66-BB4F-204FB3945A05}"/>
              </a:ext>
            </a:extLst>
          </p:cNvPr>
          <p:cNvGrpSpPr>
            <a:grpSpLocks/>
          </p:cNvGrpSpPr>
          <p:nvPr/>
        </p:nvGrpSpPr>
        <p:grpSpPr bwMode="auto">
          <a:xfrm>
            <a:off x="5060950" y="4592638"/>
            <a:ext cx="901700" cy="773112"/>
            <a:chOff x="3504" y="3456"/>
            <a:chExt cx="528" cy="296"/>
          </a:xfrm>
        </p:grpSpPr>
        <p:sp>
          <p:nvSpPr>
            <p:cNvPr id="50222" name="Line 15">
              <a:extLst>
                <a:ext uri="{FF2B5EF4-FFF2-40B4-BE49-F238E27FC236}">
                  <a16:creationId xmlns:a16="http://schemas.microsoft.com/office/drawing/2014/main" id="{79FB6DF3-1999-4D33-9E92-35FD8A68A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3" name="Line 16">
              <a:extLst>
                <a:ext uri="{FF2B5EF4-FFF2-40B4-BE49-F238E27FC236}">
                  <a16:creationId xmlns:a16="http://schemas.microsoft.com/office/drawing/2014/main" id="{E0497E1F-4516-4387-8F22-73B083961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4" name="Line 17">
              <a:extLst>
                <a:ext uri="{FF2B5EF4-FFF2-40B4-BE49-F238E27FC236}">
                  <a16:creationId xmlns:a16="http://schemas.microsoft.com/office/drawing/2014/main" id="{1EF1CAD8-2176-4EAB-A1BE-6FEE1D7FE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5" name="Text Box 18">
              <a:extLst>
                <a:ext uri="{FF2B5EF4-FFF2-40B4-BE49-F238E27FC236}">
                  <a16:creationId xmlns:a16="http://schemas.microsoft.com/office/drawing/2014/main" id="{49A9A36B-7554-471A-B2BA-54FF648DD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0187" name="Group 19">
            <a:extLst>
              <a:ext uri="{FF2B5EF4-FFF2-40B4-BE49-F238E27FC236}">
                <a16:creationId xmlns:a16="http://schemas.microsoft.com/office/drawing/2014/main" id="{50F3E00B-6A6F-4366-8C68-AAC1CB671811}"/>
              </a:ext>
            </a:extLst>
          </p:cNvPr>
          <p:cNvGrpSpPr>
            <a:grpSpLocks/>
          </p:cNvGrpSpPr>
          <p:nvPr/>
        </p:nvGrpSpPr>
        <p:grpSpPr bwMode="auto">
          <a:xfrm>
            <a:off x="8013700" y="4467225"/>
            <a:ext cx="901700" cy="769938"/>
            <a:chOff x="3504" y="3456"/>
            <a:chExt cx="528" cy="295"/>
          </a:xfrm>
        </p:grpSpPr>
        <p:sp>
          <p:nvSpPr>
            <p:cNvPr id="50218" name="Line 20">
              <a:extLst>
                <a:ext uri="{FF2B5EF4-FFF2-40B4-BE49-F238E27FC236}">
                  <a16:creationId xmlns:a16="http://schemas.microsoft.com/office/drawing/2014/main" id="{8926E01C-6DF6-4F75-A5E9-BB6BEEE59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21">
              <a:extLst>
                <a:ext uri="{FF2B5EF4-FFF2-40B4-BE49-F238E27FC236}">
                  <a16:creationId xmlns:a16="http://schemas.microsoft.com/office/drawing/2014/main" id="{58AC1D4A-4D30-4706-8ACB-D3C29A83D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22">
              <a:extLst>
                <a:ext uri="{FF2B5EF4-FFF2-40B4-BE49-F238E27FC236}">
                  <a16:creationId xmlns:a16="http://schemas.microsoft.com/office/drawing/2014/main" id="{784B317D-9D54-4D76-917C-4DFBB83FC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Text Box 23">
              <a:extLst>
                <a:ext uri="{FF2B5EF4-FFF2-40B4-BE49-F238E27FC236}">
                  <a16:creationId xmlns:a16="http://schemas.microsoft.com/office/drawing/2014/main" id="{EF2BDC48-150E-4621-A969-3805CDB1F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599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3</a:t>
              </a:r>
              <a:endParaRPr kumimoji="0" lang="en-US" altLang="zh-CN" sz="2000" b="1"/>
            </a:p>
          </p:txBody>
        </p:sp>
      </p:grpSp>
      <p:grpSp>
        <p:nvGrpSpPr>
          <p:cNvPr id="50188" name="Group 24">
            <a:extLst>
              <a:ext uri="{FF2B5EF4-FFF2-40B4-BE49-F238E27FC236}">
                <a16:creationId xmlns:a16="http://schemas.microsoft.com/office/drawing/2014/main" id="{916AED10-9346-47A7-9EBB-2C6E05D454FA}"/>
              </a:ext>
            </a:extLst>
          </p:cNvPr>
          <p:cNvGrpSpPr>
            <a:grpSpLocks/>
          </p:cNvGrpSpPr>
          <p:nvPr/>
        </p:nvGrpSpPr>
        <p:grpSpPr bwMode="auto">
          <a:xfrm>
            <a:off x="3092450" y="3589338"/>
            <a:ext cx="903288" cy="773112"/>
            <a:chOff x="3504" y="3456"/>
            <a:chExt cx="528" cy="296"/>
          </a:xfrm>
        </p:grpSpPr>
        <p:sp>
          <p:nvSpPr>
            <p:cNvPr id="50214" name="Line 25">
              <a:extLst>
                <a:ext uri="{FF2B5EF4-FFF2-40B4-BE49-F238E27FC236}">
                  <a16:creationId xmlns:a16="http://schemas.microsoft.com/office/drawing/2014/main" id="{B0FC767B-AF4B-4A20-A983-0CAE52633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26">
              <a:extLst>
                <a:ext uri="{FF2B5EF4-FFF2-40B4-BE49-F238E27FC236}">
                  <a16:creationId xmlns:a16="http://schemas.microsoft.com/office/drawing/2014/main" id="{51B3E577-ACE7-4B84-AE28-D53652065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27">
              <a:extLst>
                <a:ext uri="{FF2B5EF4-FFF2-40B4-BE49-F238E27FC236}">
                  <a16:creationId xmlns:a16="http://schemas.microsoft.com/office/drawing/2014/main" id="{0E8D7FB2-A17E-4745-AA67-662768663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Text Box 28">
              <a:extLst>
                <a:ext uri="{FF2B5EF4-FFF2-40B4-BE49-F238E27FC236}">
                  <a16:creationId xmlns:a16="http://schemas.microsoft.com/office/drawing/2014/main" id="{E51F31C2-9FB3-43AC-AE7A-C7FE254A3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91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grpSp>
        <p:nvGrpSpPr>
          <p:cNvPr id="50189" name="Group 29">
            <a:extLst>
              <a:ext uri="{FF2B5EF4-FFF2-40B4-BE49-F238E27FC236}">
                <a16:creationId xmlns:a16="http://schemas.microsoft.com/office/drawing/2014/main" id="{493CB19E-FB45-4BE0-BFA3-61F682CD4B9F}"/>
              </a:ext>
            </a:extLst>
          </p:cNvPr>
          <p:cNvGrpSpPr>
            <a:grpSpLocks/>
          </p:cNvGrpSpPr>
          <p:nvPr/>
        </p:nvGrpSpPr>
        <p:grpSpPr bwMode="auto">
          <a:xfrm>
            <a:off x="6700838" y="4467225"/>
            <a:ext cx="901700" cy="769938"/>
            <a:chOff x="3504" y="3456"/>
            <a:chExt cx="528" cy="295"/>
          </a:xfrm>
        </p:grpSpPr>
        <p:sp>
          <p:nvSpPr>
            <p:cNvPr id="50210" name="Line 30">
              <a:extLst>
                <a:ext uri="{FF2B5EF4-FFF2-40B4-BE49-F238E27FC236}">
                  <a16:creationId xmlns:a16="http://schemas.microsoft.com/office/drawing/2014/main" id="{E47114F3-C93D-4D47-A6D4-71060AA88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31">
              <a:extLst>
                <a:ext uri="{FF2B5EF4-FFF2-40B4-BE49-F238E27FC236}">
                  <a16:creationId xmlns:a16="http://schemas.microsoft.com/office/drawing/2014/main" id="{F78E3B23-0D3A-4003-89CC-3473CE717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Line 32">
              <a:extLst>
                <a:ext uri="{FF2B5EF4-FFF2-40B4-BE49-F238E27FC236}">
                  <a16:creationId xmlns:a16="http://schemas.microsoft.com/office/drawing/2014/main" id="{9E9C2EE5-517D-4A7D-B8D5-0EEF7FC6B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3" name="Text Box 33">
              <a:extLst>
                <a:ext uri="{FF2B5EF4-FFF2-40B4-BE49-F238E27FC236}">
                  <a16:creationId xmlns:a16="http://schemas.microsoft.com/office/drawing/2014/main" id="{0B80C4E8-1109-4DDE-9B08-5F22D4396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599"/>
              <a:ext cx="288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sp>
        <p:nvSpPr>
          <p:cNvPr id="50190" name="Text Box 34">
            <a:extLst>
              <a:ext uri="{FF2B5EF4-FFF2-40B4-BE49-F238E27FC236}">
                <a16:creationId xmlns:a16="http://schemas.microsoft.com/office/drawing/2014/main" id="{997F67B6-A73C-408D-8621-8837BBFCB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3087688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</a:p>
        </p:txBody>
      </p:sp>
      <p:sp>
        <p:nvSpPr>
          <p:cNvPr id="50191" name="Text Box 35">
            <a:extLst>
              <a:ext uri="{FF2B5EF4-FFF2-40B4-BE49-F238E27FC236}">
                <a16:creationId xmlns:a16="http://schemas.microsoft.com/office/drawing/2014/main" id="{743FFABE-D14A-4A3A-B0ED-184B5D3AB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4143375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</a:p>
        </p:txBody>
      </p:sp>
      <p:sp>
        <p:nvSpPr>
          <p:cNvPr id="50192" name="Text Box 36">
            <a:extLst>
              <a:ext uri="{FF2B5EF4-FFF2-40B4-BE49-F238E27FC236}">
                <a16:creationId xmlns:a16="http://schemas.microsoft.com/office/drawing/2014/main" id="{CE72B40B-5FD7-4B46-9A0B-C36DA2187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313" y="3087688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</a:p>
        </p:txBody>
      </p:sp>
      <p:sp>
        <p:nvSpPr>
          <p:cNvPr id="50193" name="Text Box 37">
            <a:extLst>
              <a:ext uri="{FF2B5EF4-FFF2-40B4-BE49-F238E27FC236}">
                <a16:creationId xmlns:a16="http://schemas.microsoft.com/office/drawing/2014/main" id="{81181300-DA8F-4395-A923-372F4BB23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575" y="4143375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</a:p>
        </p:txBody>
      </p:sp>
      <p:sp>
        <p:nvSpPr>
          <p:cNvPr id="50194" name="Text Box 38">
            <a:extLst>
              <a:ext uri="{FF2B5EF4-FFF2-40B4-BE49-F238E27FC236}">
                <a16:creationId xmlns:a16="http://schemas.microsoft.com/office/drawing/2014/main" id="{265D32B4-74F2-4617-A138-B60D95F2D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87688"/>
            <a:ext cx="738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</a:p>
        </p:txBody>
      </p:sp>
      <p:sp>
        <p:nvSpPr>
          <p:cNvPr id="50195" name="Text Box 39">
            <a:extLst>
              <a:ext uri="{FF2B5EF4-FFF2-40B4-BE49-F238E27FC236}">
                <a16:creationId xmlns:a16="http://schemas.microsoft.com/office/drawing/2014/main" id="{261D18B9-3A2F-4125-A054-AB31C3168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313" y="4143375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</a:p>
        </p:txBody>
      </p:sp>
      <p:sp>
        <p:nvSpPr>
          <p:cNvPr id="50196" name="Text Box 40">
            <a:extLst>
              <a:ext uri="{FF2B5EF4-FFF2-40B4-BE49-F238E27FC236}">
                <a16:creationId xmlns:a16="http://schemas.microsoft.com/office/drawing/2014/main" id="{55797D7F-3823-4173-97A9-102E19F48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5938" y="4114800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0197" name="Text Box 41">
            <a:extLst>
              <a:ext uri="{FF2B5EF4-FFF2-40B4-BE49-F238E27FC236}">
                <a16:creationId xmlns:a16="http://schemas.microsoft.com/office/drawing/2014/main" id="{9A2AC6F3-5811-4AF0-BB7F-89A1215DE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7213" y="4114800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0198" name="Line 42">
            <a:extLst>
              <a:ext uri="{FF2B5EF4-FFF2-40B4-BE49-F238E27FC236}">
                <a16:creationId xmlns:a16="http://schemas.microsoft.com/office/drawing/2014/main" id="{7BEF9B3F-4F29-4629-8D0C-C868006DFE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9475" y="2586038"/>
            <a:ext cx="738188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9" name="Line 43">
            <a:extLst>
              <a:ext uri="{FF2B5EF4-FFF2-40B4-BE49-F238E27FC236}">
                <a16:creationId xmlns:a16="http://schemas.microsoft.com/office/drawing/2014/main" id="{13A26672-FA63-4A02-97F6-0F581DD1F2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1175" y="2836863"/>
            <a:ext cx="163513" cy="250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0" name="Line 44">
            <a:extLst>
              <a:ext uri="{FF2B5EF4-FFF2-40B4-BE49-F238E27FC236}">
                <a16:creationId xmlns:a16="http://schemas.microsoft.com/office/drawing/2014/main" id="{5C76038F-C46F-41EC-BF82-62577F39BB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54263" y="2460625"/>
            <a:ext cx="3198812" cy="752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1" name="Line 45">
            <a:extLst>
              <a:ext uri="{FF2B5EF4-FFF2-40B4-BE49-F238E27FC236}">
                <a16:creationId xmlns:a16="http://schemas.microsoft.com/office/drawing/2014/main" id="{329A896A-5193-4974-BB75-6018673B4F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81688" y="3714750"/>
            <a:ext cx="246062" cy="37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2" name="Line 46">
            <a:extLst>
              <a:ext uri="{FF2B5EF4-FFF2-40B4-BE49-F238E27FC236}">
                <a16:creationId xmlns:a16="http://schemas.microsoft.com/office/drawing/2014/main" id="{727B5716-4C44-41E3-B3AE-258815C34B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45200" y="3589338"/>
            <a:ext cx="1574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3" name="Line 47">
            <a:extLst>
              <a:ext uri="{FF2B5EF4-FFF2-40B4-BE49-F238E27FC236}">
                <a16:creationId xmlns:a16="http://schemas.microsoft.com/office/drawing/2014/main" id="{A8C363B5-5760-4837-8974-FF91E2709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8200" y="2836863"/>
            <a:ext cx="328613" cy="376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4" name="Line 48">
            <a:extLst>
              <a:ext uri="{FF2B5EF4-FFF2-40B4-BE49-F238E27FC236}">
                <a16:creationId xmlns:a16="http://schemas.microsoft.com/office/drawing/2014/main" id="{D3A278D0-8654-42F1-8C9F-1E3EE4B391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73300" y="2711450"/>
            <a:ext cx="984250" cy="50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5" name="Line 49">
            <a:extLst>
              <a:ext uri="{FF2B5EF4-FFF2-40B4-BE49-F238E27FC236}">
                <a16:creationId xmlns:a16="http://schemas.microsoft.com/office/drawing/2014/main" id="{4963A496-CD7E-40F6-BE40-C8686D232C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7438" y="3589338"/>
            <a:ext cx="738187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6" name="Line 50">
            <a:extLst>
              <a:ext uri="{FF2B5EF4-FFF2-40B4-BE49-F238E27FC236}">
                <a16:creationId xmlns:a16="http://schemas.microsoft.com/office/drawing/2014/main" id="{CBAD293D-36E3-4C59-8CCE-E8431EB3C8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3075" y="3714750"/>
            <a:ext cx="246063" cy="50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7" name="Line 51">
            <a:extLst>
              <a:ext uri="{FF2B5EF4-FFF2-40B4-BE49-F238E27FC236}">
                <a16:creationId xmlns:a16="http://schemas.microsoft.com/office/drawing/2014/main" id="{B103CE3F-56AD-45DF-81C1-2449B85172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7750" y="3338513"/>
            <a:ext cx="2101850" cy="776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8" name="Line 52">
            <a:extLst>
              <a:ext uri="{FF2B5EF4-FFF2-40B4-BE49-F238E27FC236}">
                <a16:creationId xmlns:a16="http://schemas.microsoft.com/office/drawing/2014/main" id="{E56E5DA3-97D8-406E-80B5-F663DD238C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54263" y="2586038"/>
            <a:ext cx="205105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9" name="Line 53">
            <a:extLst>
              <a:ext uri="{FF2B5EF4-FFF2-40B4-BE49-F238E27FC236}">
                <a16:creationId xmlns:a16="http://schemas.microsoft.com/office/drawing/2014/main" id="{2123FE69-C67A-4800-935E-42515B8172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62650" y="3714750"/>
            <a:ext cx="97155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D80311A-FA66-4FA4-B016-C7CC082B2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二义性句子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9075ABB-26C1-473B-A906-0074DB77B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</a:t>
            </a:r>
            <a:r>
              <a:rPr lang="en-US" altLang="zh-CN" sz="2800" b="1"/>
              <a:t>if</a:t>
            </a:r>
            <a:r>
              <a:rPr lang="en-US" altLang="zh-CN" sz="2800"/>
              <a:t> E</a:t>
            </a:r>
            <a:r>
              <a:rPr lang="en-US" altLang="zh-CN" sz="2800" baseline="-25000"/>
              <a:t>2</a:t>
            </a:r>
            <a:r>
              <a:rPr lang="en-US" altLang="zh-CN" sz="2800"/>
              <a:t> </a:t>
            </a:r>
            <a:r>
              <a:rPr lang="en-US" altLang="zh-CN" sz="2800" b="1"/>
              <a:t>then</a:t>
            </a:r>
            <a:r>
              <a:rPr lang="en-US" altLang="zh-CN" sz="2800"/>
              <a:t> S</a:t>
            </a:r>
            <a:r>
              <a:rPr lang="en-US" altLang="zh-CN" sz="2800" baseline="-25000"/>
              <a:t>1</a:t>
            </a:r>
            <a:r>
              <a:rPr lang="en-US" altLang="zh-CN" sz="2800"/>
              <a:t> </a:t>
            </a:r>
            <a:r>
              <a:rPr lang="en-US" altLang="zh-CN" sz="2800" b="1"/>
              <a:t>else</a:t>
            </a:r>
            <a:r>
              <a:rPr lang="en-US" altLang="zh-CN" sz="2800"/>
              <a:t> S</a:t>
            </a:r>
            <a:r>
              <a:rPr lang="en-US" altLang="zh-CN" sz="2800" baseline="-25000"/>
              <a:t>2</a:t>
            </a:r>
            <a:r>
              <a:rPr lang="zh-CN" altLang="en-US" sz="2800"/>
              <a:t>有两种意义</a:t>
            </a:r>
            <a:endParaRPr lang="zh-CN" altLang="en-US" sz="2800" baseline="-25000"/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91BB347B-7F37-4F77-AAD2-966279FA6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286000"/>
            <a:ext cx="259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baseline="-25000">
                <a:solidFill>
                  <a:srgbClr val="3333CC"/>
                </a:solidFill>
              </a:rPr>
              <a:t>       </a:t>
            </a:r>
            <a:r>
              <a:rPr kumimoji="0" lang="en-US" altLang="zh-CN" sz="2800" b="1">
                <a:solidFill>
                  <a:srgbClr val="3333CC"/>
                </a:solidFill>
              </a:rPr>
              <a:t>else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endParaRPr kumimoji="0" lang="en-US" altLang="zh-CN" sz="2800" b="1">
              <a:solidFill>
                <a:srgbClr val="3333CC"/>
              </a:solidFill>
            </a:endParaRP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280055F9-2C69-4399-A1D9-F7B55B91C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286000"/>
            <a:ext cx="2590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if  E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</a:rPr>
              <a:t>  then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else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     S</a:t>
            </a:r>
            <a:r>
              <a:rPr kumimoji="0" lang="en-US" altLang="zh-CN" sz="2800" b="1" baseline="-25000">
                <a:solidFill>
                  <a:srgbClr val="3333CC"/>
                </a:solidFill>
              </a:rPr>
              <a:t>2</a:t>
            </a:r>
            <a:endParaRPr kumimoji="0" lang="en-US" altLang="zh-CN" sz="2800" b="1">
              <a:solidFill>
                <a:srgbClr val="3333CC"/>
              </a:solidFill>
            </a:endParaRPr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312435AD-FD19-4534-B420-0DF3176C3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971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vs.</a:t>
            </a:r>
          </a:p>
        </p:txBody>
      </p:sp>
      <p:sp>
        <p:nvSpPr>
          <p:cNvPr id="51207" name="AutoShape 7">
            <a:extLst>
              <a:ext uri="{FF2B5EF4-FFF2-40B4-BE49-F238E27FC236}">
                <a16:creationId xmlns:a16="http://schemas.microsoft.com/office/drawing/2014/main" id="{E61C6BF1-44E6-4A00-B4BD-193E8EDDB50F}"/>
              </a:ext>
            </a:extLst>
          </p:cNvPr>
          <p:cNvSpPr>
            <a:spLocks/>
          </p:cNvSpPr>
          <p:nvPr/>
        </p:nvSpPr>
        <p:spPr bwMode="ltGray">
          <a:xfrm>
            <a:off x="1447800" y="2895600"/>
            <a:ext cx="304800" cy="990600"/>
          </a:xfrm>
          <a:prstGeom prst="leftBrace">
            <a:avLst>
              <a:gd name="adj1" fmla="val 27083"/>
              <a:gd name="adj2" fmla="val 50000"/>
            </a:avLst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1208" name="AutoShape 8">
            <a:extLst>
              <a:ext uri="{FF2B5EF4-FFF2-40B4-BE49-F238E27FC236}">
                <a16:creationId xmlns:a16="http://schemas.microsoft.com/office/drawing/2014/main" id="{204DC9CC-2901-4F32-9636-6860359D3715}"/>
              </a:ext>
            </a:extLst>
          </p:cNvPr>
          <p:cNvSpPr>
            <a:spLocks/>
          </p:cNvSpPr>
          <p:nvPr/>
        </p:nvSpPr>
        <p:spPr bwMode="ltGray">
          <a:xfrm>
            <a:off x="5334000" y="243840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AEB8F25-46A0-4238-B573-419C35695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两个语法树</a:t>
            </a:r>
          </a:p>
        </p:txBody>
      </p:sp>
      <p:sp>
        <p:nvSpPr>
          <p:cNvPr id="52227" name="Text Box 47">
            <a:extLst>
              <a:ext uri="{FF2B5EF4-FFF2-40B4-BE49-F238E27FC236}">
                <a16:creationId xmlns:a16="http://schemas.microsoft.com/office/drawing/2014/main" id="{10C59DBE-F600-40BF-A84E-005C4FB18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8319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2228" name="Text Box 48">
            <a:extLst>
              <a:ext uri="{FF2B5EF4-FFF2-40B4-BE49-F238E27FC236}">
                <a16:creationId xmlns:a16="http://schemas.microsoft.com/office/drawing/2014/main" id="{AF44FE60-3C8F-4F01-8371-9AC773807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5939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</a:p>
        </p:txBody>
      </p:sp>
      <p:grpSp>
        <p:nvGrpSpPr>
          <p:cNvPr id="52229" name="Group 49">
            <a:extLst>
              <a:ext uri="{FF2B5EF4-FFF2-40B4-BE49-F238E27FC236}">
                <a16:creationId xmlns:a16="http://schemas.microsoft.com/office/drawing/2014/main" id="{61EED177-3EEB-4A52-AAED-F066092EB64A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989263"/>
            <a:ext cx="838200" cy="712787"/>
            <a:chOff x="3504" y="3456"/>
            <a:chExt cx="528" cy="325"/>
          </a:xfrm>
        </p:grpSpPr>
        <p:sp>
          <p:nvSpPr>
            <p:cNvPr id="52265" name="Line 50">
              <a:extLst>
                <a:ext uri="{FF2B5EF4-FFF2-40B4-BE49-F238E27FC236}">
                  <a16:creationId xmlns:a16="http://schemas.microsoft.com/office/drawing/2014/main" id="{816256D3-4B7B-4913-8435-87CDA223C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6" name="Line 51">
              <a:extLst>
                <a:ext uri="{FF2B5EF4-FFF2-40B4-BE49-F238E27FC236}">
                  <a16:creationId xmlns:a16="http://schemas.microsoft.com/office/drawing/2014/main" id="{B949388D-A61D-4634-902B-113E28BA7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7" name="Line 52">
              <a:extLst>
                <a:ext uri="{FF2B5EF4-FFF2-40B4-BE49-F238E27FC236}">
                  <a16:creationId xmlns:a16="http://schemas.microsoft.com/office/drawing/2014/main" id="{67C6831B-F431-4A44-855C-9A6B303E0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8" name="Text Box 53">
              <a:extLst>
                <a:ext uri="{FF2B5EF4-FFF2-40B4-BE49-F238E27FC236}">
                  <a16:creationId xmlns:a16="http://schemas.microsoft.com/office/drawing/2014/main" id="{AEFCCD85-0F28-4F76-B483-3FC731665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sp>
        <p:nvSpPr>
          <p:cNvPr id="52230" name="Text Box 54">
            <a:extLst>
              <a:ext uri="{FF2B5EF4-FFF2-40B4-BE49-F238E27FC236}">
                <a16:creationId xmlns:a16="http://schemas.microsoft.com/office/drawing/2014/main" id="{F25786D7-F04B-4EBB-8F8B-726FC1B56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6257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</a:p>
        </p:txBody>
      </p:sp>
      <p:sp>
        <p:nvSpPr>
          <p:cNvPr id="52231" name="Text Box 55">
            <a:extLst>
              <a:ext uri="{FF2B5EF4-FFF2-40B4-BE49-F238E27FC236}">
                <a16:creationId xmlns:a16="http://schemas.microsoft.com/office/drawing/2014/main" id="{EC865B96-1806-44FE-B819-A8AB9AE93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257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</a:p>
        </p:txBody>
      </p:sp>
      <p:sp>
        <p:nvSpPr>
          <p:cNvPr id="52232" name="Line 56">
            <a:extLst>
              <a:ext uri="{FF2B5EF4-FFF2-40B4-BE49-F238E27FC236}">
                <a16:creationId xmlns:a16="http://schemas.microsoft.com/office/drawing/2014/main" id="{158CB12A-95E8-4EEF-9DBA-FC8B4CE00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214788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3" name="Line 57">
            <a:extLst>
              <a:ext uri="{FF2B5EF4-FFF2-40B4-BE49-F238E27FC236}">
                <a16:creationId xmlns:a16="http://schemas.microsoft.com/office/drawing/2014/main" id="{F9A65E54-9B8C-4EDE-8B37-0CDF2AC287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357438"/>
            <a:ext cx="152400" cy="211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4" name="Line 58">
            <a:extLst>
              <a:ext uri="{FF2B5EF4-FFF2-40B4-BE49-F238E27FC236}">
                <a16:creationId xmlns:a16="http://schemas.microsoft.com/office/drawing/2014/main" id="{364372E9-A6D4-4BC8-AA62-BD2FC5A16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357438"/>
            <a:ext cx="3048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5" name="Line 59">
            <a:extLst>
              <a:ext uri="{FF2B5EF4-FFF2-40B4-BE49-F238E27FC236}">
                <a16:creationId xmlns:a16="http://schemas.microsoft.com/office/drawing/2014/main" id="{6FD185BF-75B5-4EA1-BF99-C1AEA1F28A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6600" y="2252663"/>
            <a:ext cx="9144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Text Box 61">
            <a:extLst>
              <a:ext uri="{FF2B5EF4-FFF2-40B4-BE49-F238E27FC236}">
                <a16:creationId xmlns:a16="http://schemas.microsoft.com/office/drawing/2014/main" id="{A6AAD7B8-594A-4B42-81F8-D6B55007D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5955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2237" name="Text Box 62">
            <a:extLst>
              <a:ext uri="{FF2B5EF4-FFF2-40B4-BE49-F238E27FC236}">
                <a16:creationId xmlns:a16="http://schemas.microsoft.com/office/drawing/2014/main" id="{FF89738D-EFF8-44DB-A420-D1DD01FE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5083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</a:p>
        </p:txBody>
      </p:sp>
      <p:grpSp>
        <p:nvGrpSpPr>
          <p:cNvPr id="52238" name="Group 63">
            <a:extLst>
              <a:ext uri="{FF2B5EF4-FFF2-40B4-BE49-F238E27FC236}">
                <a16:creationId xmlns:a16="http://schemas.microsoft.com/office/drawing/2014/main" id="{44B42F0B-E532-4CE1-8BEC-779608AB60D3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935413"/>
            <a:ext cx="838200" cy="712787"/>
            <a:chOff x="3504" y="3456"/>
            <a:chExt cx="528" cy="325"/>
          </a:xfrm>
        </p:grpSpPr>
        <p:sp>
          <p:nvSpPr>
            <p:cNvPr id="52261" name="Line 64">
              <a:extLst>
                <a:ext uri="{FF2B5EF4-FFF2-40B4-BE49-F238E27FC236}">
                  <a16:creationId xmlns:a16="http://schemas.microsoft.com/office/drawing/2014/main" id="{3E525F2F-3818-4484-A799-ABF60497AE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2" name="Line 65">
              <a:extLst>
                <a:ext uri="{FF2B5EF4-FFF2-40B4-BE49-F238E27FC236}">
                  <a16:creationId xmlns:a16="http://schemas.microsoft.com/office/drawing/2014/main" id="{E964C048-502F-4FBD-9F33-CC0E4DE5D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3" name="Line 66">
              <a:extLst>
                <a:ext uri="{FF2B5EF4-FFF2-40B4-BE49-F238E27FC236}">
                  <a16:creationId xmlns:a16="http://schemas.microsoft.com/office/drawing/2014/main" id="{81A7B044-A8CD-455D-A035-A740799D9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4" name="Text Box 67">
              <a:extLst>
                <a:ext uri="{FF2B5EF4-FFF2-40B4-BE49-F238E27FC236}">
                  <a16:creationId xmlns:a16="http://schemas.microsoft.com/office/drawing/2014/main" id="{E2C12965-E451-44EC-BB03-5A5D6D8C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2239" name="Group 68">
            <a:extLst>
              <a:ext uri="{FF2B5EF4-FFF2-40B4-BE49-F238E27FC236}">
                <a16:creationId xmlns:a16="http://schemas.microsoft.com/office/drawing/2014/main" id="{CAE6FC5A-7419-4538-8E6E-AB66AD30F617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830638"/>
            <a:ext cx="838200" cy="714375"/>
            <a:chOff x="3504" y="3456"/>
            <a:chExt cx="528" cy="326"/>
          </a:xfrm>
        </p:grpSpPr>
        <p:sp>
          <p:nvSpPr>
            <p:cNvPr id="52257" name="Line 69">
              <a:extLst>
                <a:ext uri="{FF2B5EF4-FFF2-40B4-BE49-F238E27FC236}">
                  <a16:creationId xmlns:a16="http://schemas.microsoft.com/office/drawing/2014/main" id="{173FCEE4-6EBC-48DE-AB36-652284F03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8" name="Line 70">
              <a:extLst>
                <a:ext uri="{FF2B5EF4-FFF2-40B4-BE49-F238E27FC236}">
                  <a16:creationId xmlns:a16="http://schemas.microsoft.com/office/drawing/2014/main" id="{52C0469D-813F-4ADF-A07D-38572B8D1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9" name="Line 71">
              <a:extLst>
                <a:ext uri="{FF2B5EF4-FFF2-40B4-BE49-F238E27FC236}">
                  <a16:creationId xmlns:a16="http://schemas.microsoft.com/office/drawing/2014/main" id="{192B9781-1C51-49CA-99E7-E62A8EA7E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0" name="Text Box 72">
              <a:extLst>
                <a:ext uri="{FF2B5EF4-FFF2-40B4-BE49-F238E27FC236}">
                  <a16:creationId xmlns:a16="http://schemas.microsoft.com/office/drawing/2014/main" id="{6CFAA1B2-473E-4EF5-96C7-291ED75A0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1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2240" name="Group 73">
            <a:extLst>
              <a:ext uri="{FF2B5EF4-FFF2-40B4-BE49-F238E27FC236}">
                <a16:creationId xmlns:a16="http://schemas.microsoft.com/office/drawing/2014/main" id="{C35B2A86-4A26-4E2E-83B3-C9588B5C48A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830638"/>
            <a:ext cx="838200" cy="714375"/>
            <a:chOff x="3504" y="3456"/>
            <a:chExt cx="528" cy="326"/>
          </a:xfrm>
        </p:grpSpPr>
        <p:sp>
          <p:nvSpPr>
            <p:cNvPr id="52253" name="Line 74">
              <a:extLst>
                <a:ext uri="{FF2B5EF4-FFF2-40B4-BE49-F238E27FC236}">
                  <a16:creationId xmlns:a16="http://schemas.microsoft.com/office/drawing/2014/main" id="{131D0064-2E02-49CA-BB4B-B46D45888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4" name="Line 75">
              <a:extLst>
                <a:ext uri="{FF2B5EF4-FFF2-40B4-BE49-F238E27FC236}">
                  <a16:creationId xmlns:a16="http://schemas.microsoft.com/office/drawing/2014/main" id="{D00AF9EF-B2C1-4952-9431-E21C90924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5" name="Line 76">
              <a:extLst>
                <a:ext uri="{FF2B5EF4-FFF2-40B4-BE49-F238E27FC236}">
                  <a16:creationId xmlns:a16="http://schemas.microsoft.com/office/drawing/2014/main" id="{529D914F-3E99-41BD-A0EE-B62AC668F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6" name="Text Box 77">
              <a:extLst>
                <a:ext uri="{FF2B5EF4-FFF2-40B4-BE49-F238E27FC236}">
                  <a16:creationId xmlns:a16="http://schemas.microsoft.com/office/drawing/2014/main" id="{545C7A93-C8AC-402F-8FDE-1DC8E19F3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1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sp>
        <p:nvSpPr>
          <p:cNvPr id="52241" name="Text Box 78">
            <a:extLst>
              <a:ext uri="{FF2B5EF4-FFF2-40B4-BE49-F238E27FC236}">
                <a16:creationId xmlns:a16="http://schemas.microsoft.com/office/drawing/2014/main" id="{74E11729-1E99-4718-986C-BBD8F0ABC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5369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</a:p>
        </p:txBody>
      </p:sp>
      <p:sp>
        <p:nvSpPr>
          <p:cNvPr id="52242" name="Text Box 79">
            <a:extLst>
              <a:ext uri="{FF2B5EF4-FFF2-40B4-BE49-F238E27FC236}">
                <a16:creationId xmlns:a16="http://schemas.microsoft.com/office/drawing/2014/main" id="{2D4BC661-64CE-4CD3-8E41-5E54B8A8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369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</a:p>
        </p:txBody>
      </p:sp>
      <p:sp>
        <p:nvSpPr>
          <p:cNvPr id="52243" name="Text Box 80">
            <a:extLst>
              <a:ext uri="{FF2B5EF4-FFF2-40B4-BE49-F238E27FC236}">
                <a16:creationId xmlns:a16="http://schemas.microsoft.com/office/drawing/2014/main" id="{F8BFC701-3F35-4643-9914-217DE426C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53853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</a:p>
        </p:txBody>
      </p:sp>
      <p:sp>
        <p:nvSpPr>
          <p:cNvPr id="52244" name="Text Box 81">
            <a:extLst>
              <a:ext uri="{FF2B5EF4-FFF2-40B4-BE49-F238E27FC236}">
                <a16:creationId xmlns:a16="http://schemas.microsoft.com/office/drawing/2014/main" id="{5597E287-B81F-4BEA-AC2F-D53CB1D97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099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2245" name="Text Box 82">
            <a:extLst>
              <a:ext uri="{FF2B5EF4-FFF2-40B4-BE49-F238E27FC236}">
                <a16:creationId xmlns:a16="http://schemas.microsoft.com/office/drawing/2014/main" id="{297C57A2-0FA0-4A6D-B48D-9B7E9E78B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5099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2246" name="Line 83">
            <a:extLst>
              <a:ext uri="{FF2B5EF4-FFF2-40B4-BE49-F238E27FC236}">
                <a16:creationId xmlns:a16="http://schemas.microsoft.com/office/drawing/2014/main" id="{CB58C801-7525-4778-B241-496453CFAE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3198813"/>
            <a:ext cx="2286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7" name="Line 84">
            <a:extLst>
              <a:ext uri="{FF2B5EF4-FFF2-40B4-BE49-F238E27FC236}">
                <a16:creationId xmlns:a16="http://schemas.microsoft.com/office/drawing/2014/main" id="{5BC85E93-BC40-4A6B-A8AA-45D5E8158F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3094038"/>
            <a:ext cx="13716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Line 85">
            <a:extLst>
              <a:ext uri="{FF2B5EF4-FFF2-40B4-BE49-F238E27FC236}">
                <a16:creationId xmlns:a16="http://schemas.microsoft.com/office/drawing/2014/main" id="{7182318C-A2EF-4984-93EB-31A44E7753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09403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9" name="Line 86">
            <a:extLst>
              <a:ext uri="{FF2B5EF4-FFF2-40B4-BE49-F238E27FC236}">
                <a16:creationId xmlns:a16="http://schemas.microsoft.com/office/drawing/2014/main" id="{45BCE3C2-FA38-4BD6-A284-3AD925AD6B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3198813"/>
            <a:ext cx="2286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87">
            <a:extLst>
              <a:ext uri="{FF2B5EF4-FFF2-40B4-BE49-F238E27FC236}">
                <a16:creationId xmlns:a16="http://schemas.microsoft.com/office/drawing/2014/main" id="{75FB1349-2686-4DDD-8E2B-B78675B120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00600" y="2884488"/>
            <a:ext cx="1828800" cy="630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88">
            <a:extLst>
              <a:ext uri="{FF2B5EF4-FFF2-40B4-BE49-F238E27FC236}">
                <a16:creationId xmlns:a16="http://schemas.microsoft.com/office/drawing/2014/main" id="{37A70D31-21CA-4533-8070-7596A53DA1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48200" y="3198813"/>
            <a:ext cx="8382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Rectangle 89">
            <a:extLst>
              <a:ext uri="{FF2B5EF4-FFF2-40B4-BE49-F238E27FC236}">
                <a16:creationId xmlns:a16="http://schemas.microsoft.com/office/drawing/2014/main" id="{D9245DAC-356D-47B6-B758-A88546C9B3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</a:t>
            </a: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2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S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else</a:t>
            </a:r>
            <a:r>
              <a:rPr lang="en-US" altLang="zh-CN" sz="2400"/>
              <a:t> S</a:t>
            </a:r>
            <a:r>
              <a:rPr lang="en-US" altLang="zh-CN" sz="2400" baseline="-25000"/>
              <a:t>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C7F2E2B-94B6-4D92-AE16-2571F0D47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两个语法树（续）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387B3A12-0E1C-4528-89E7-271524A00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641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F0950F7E-8133-487E-BB68-1EF36776C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9F1D37AC-C1EB-4110-8664-9D41EF2FE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641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2B074A0E-4413-4151-B519-B86226C20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6400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</a:p>
        </p:txBody>
      </p:sp>
      <p:grpSp>
        <p:nvGrpSpPr>
          <p:cNvPr id="53255" name="Group 7">
            <a:extLst>
              <a:ext uri="{FF2B5EF4-FFF2-40B4-BE49-F238E27FC236}">
                <a16:creationId xmlns:a16="http://schemas.microsoft.com/office/drawing/2014/main" id="{BB4C9E8D-9620-4B5E-90A6-11453DE513D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062288"/>
            <a:ext cx="838200" cy="712787"/>
            <a:chOff x="3504" y="3456"/>
            <a:chExt cx="528" cy="325"/>
          </a:xfrm>
        </p:grpSpPr>
        <p:sp>
          <p:nvSpPr>
            <p:cNvPr id="53289" name="Line 8">
              <a:extLst>
                <a:ext uri="{FF2B5EF4-FFF2-40B4-BE49-F238E27FC236}">
                  <a16:creationId xmlns:a16="http://schemas.microsoft.com/office/drawing/2014/main" id="{E079BF31-5D74-4380-B4DA-50144B6E7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0" name="Line 9">
              <a:extLst>
                <a:ext uri="{FF2B5EF4-FFF2-40B4-BE49-F238E27FC236}">
                  <a16:creationId xmlns:a16="http://schemas.microsoft.com/office/drawing/2014/main" id="{0A9415DA-8680-4BD6-BC17-C280DD699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1" name="Line 10">
              <a:extLst>
                <a:ext uri="{FF2B5EF4-FFF2-40B4-BE49-F238E27FC236}">
                  <a16:creationId xmlns:a16="http://schemas.microsoft.com/office/drawing/2014/main" id="{78A22C9A-CB03-43B5-97A3-3FAE1D535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2" name="Text Box 11">
              <a:extLst>
                <a:ext uri="{FF2B5EF4-FFF2-40B4-BE49-F238E27FC236}">
                  <a16:creationId xmlns:a16="http://schemas.microsoft.com/office/drawing/2014/main" id="{BF7ECA6A-C00C-4AEE-B3EF-D0C5FE4D6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grpSp>
        <p:nvGrpSpPr>
          <p:cNvPr id="53256" name="Group 12">
            <a:extLst>
              <a:ext uri="{FF2B5EF4-FFF2-40B4-BE49-F238E27FC236}">
                <a16:creationId xmlns:a16="http://schemas.microsoft.com/office/drawing/2014/main" id="{8F5D2235-F3B0-478C-8A67-7085A69CA6D4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062288"/>
            <a:ext cx="838200" cy="712787"/>
            <a:chOff x="3504" y="3456"/>
            <a:chExt cx="528" cy="325"/>
          </a:xfrm>
        </p:grpSpPr>
        <p:sp>
          <p:nvSpPr>
            <p:cNvPr id="53285" name="Line 13">
              <a:extLst>
                <a:ext uri="{FF2B5EF4-FFF2-40B4-BE49-F238E27FC236}">
                  <a16:creationId xmlns:a16="http://schemas.microsoft.com/office/drawing/2014/main" id="{6AB95125-8472-49C8-BAA3-1C3EE3C328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6" name="Line 14">
              <a:extLst>
                <a:ext uri="{FF2B5EF4-FFF2-40B4-BE49-F238E27FC236}">
                  <a16:creationId xmlns:a16="http://schemas.microsoft.com/office/drawing/2014/main" id="{78C91163-719A-4EE9-B96C-09639BD37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7" name="Line 15">
              <a:extLst>
                <a:ext uri="{FF2B5EF4-FFF2-40B4-BE49-F238E27FC236}">
                  <a16:creationId xmlns:a16="http://schemas.microsoft.com/office/drawing/2014/main" id="{A09ABCC4-2B85-4170-8F5C-482460756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8" name="Text Box 16">
              <a:extLst>
                <a:ext uri="{FF2B5EF4-FFF2-40B4-BE49-F238E27FC236}">
                  <a16:creationId xmlns:a16="http://schemas.microsoft.com/office/drawing/2014/main" id="{F2392757-2BEA-410E-9E89-6A4D9E341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sp>
        <p:nvSpPr>
          <p:cNvPr id="53257" name="Text Box 17">
            <a:extLst>
              <a:ext uri="{FF2B5EF4-FFF2-40B4-BE49-F238E27FC236}">
                <a16:creationId xmlns:a16="http://schemas.microsoft.com/office/drawing/2014/main" id="{C0667284-431C-4DFB-BAF4-3B56D6DF8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6701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</a:p>
        </p:txBody>
      </p:sp>
      <p:sp>
        <p:nvSpPr>
          <p:cNvPr id="53258" name="Text Box 18">
            <a:extLst>
              <a:ext uri="{FF2B5EF4-FFF2-40B4-BE49-F238E27FC236}">
                <a16:creationId xmlns:a16="http://schemas.microsoft.com/office/drawing/2014/main" id="{7B851959-057E-4755-9BDC-B7E63DCC0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6701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else</a:t>
            </a:r>
          </a:p>
        </p:txBody>
      </p:sp>
      <p:sp>
        <p:nvSpPr>
          <p:cNvPr id="53259" name="Text Box 19">
            <a:extLst>
              <a:ext uri="{FF2B5EF4-FFF2-40B4-BE49-F238E27FC236}">
                <a16:creationId xmlns:a16="http://schemas.microsoft.com/office/drawing/2014/main" id="{83537082-684E-4498-80F7-B10E17B22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6701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</a:p>
        </p:txBody>
      </p:sp>
      <p:sp>
        <p:nvSpPr>
          <p:cNvPr id="53260" name="Line 20">
            <a:extLst>
              <a:ext uri="{FF2B5EF4-FFF2-40B4-BE49-F238E27FC236}">
                <a16:creationId xmlns:a16="http://schemas.microsoft.com/office/drawing/2014/main" id="{0E0BA11B-FE79-4B34-B83D-FF2C6DE559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220913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1" name="Line 21">
            <a:extLst>
              <a:ext uri="{FF2B5EF4-FFF2-40B4-BE49-F238E27FC236}">
                <a16:creationId xmlns:a16="http://schemas.microsoft.com/office/drawing/2014/main" id="{85D0FC97-7379-486C-9A31-FA65E13350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430463"/>
            <a:ext cx="152400" cy="211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2" name="Line 22">
            <a:extLst>
              <a:ext uri="{FF2B5EF4-FFF2-40B4-BE49-F238E27FC236}">
                <a16:creationId xmlns:a16="http://schemas.microsoft.com/office/drawing/2014/main" id="{6D3A0253-E460-4A71-B8F8-FDEE9CEC03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400" y="2116138"/>
            <a:ext cx="2971800" cy="630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3" name="Line 23">
            <a:extLst>
              <a:ext uri="{FF2B5EF4-FFF2-40B4-BE49-F238E27FC236}">
                <a16:creationId xmlns:a16="http://schemas.microsoft.com/office/drawing/2014/main" id="{0335504D-C348-473F-819B-FD2AFFCA1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430463"/>
            <a:ext cx="3048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4" name="Line 24">
            <a:extLst>
              <a:ext uri="{FF2B5EF4-FFF2-40B4-BE49-F238E27FC236}">
                <a16:creationId xmlns:a16="http://schemas.microsoft.com/office/drawing/2014/main" id="{BE2187D8-F3D8-4658-98C6-883573B385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4200" y="2325688"/>
            <a:ext cx="9144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5" name="Line 25">
            <a:extLst>
              <a:ext uri="{FF2B5EF4-FFF2-40B4-BE49-F238E27FC236}">
                <a16:creationId xmlns:a16="http://schemas.microsoft.com/office/drawing/2014/main" id="{FCFBD5F2-5939-4BE2-BCE9-4B7D84AFDD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400" y="2220913"/>
            <a:ext cx="19050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6" name="Text Box 26">
            <a:extLst>
              <a:ext uri="{FF2B5EF4-FFF2-40B4-BE49-F238E27FC236}">
                <a16:creationId xmlns:a16="http://schemas.microsoft.com/office/drawing/2014/main" id="{8D7BA88D-AC6D-4747-BAE7-91F281597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5067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</a:p>
        </p:txBody>
      </p:sp>
      <p:grpSp>
        <p:nvGrpSpPr>
          <p:cNvPr id="53267" name="Group 27">
            <a:extLst>
              <a:ext uri="{FF2B5EF4-FFF2-40B4-BE49-F238E27FC236}">
                <a16:creationId xmlns:a16="http://schemas.microsoft.com/office/drawing/2014/main" id="{919F36CA-83E5-452C-B997-FE6A138BB7F2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903663"/>
            <a:ext cx="838200" cy="712787"/>
            <a:chOff x="3504" y="3456"/>
            <a:chExt cx="528" cy="325"/>
          </a:xfrm>
        </p:grpSpPr>
        <p:sp>
          <p:nvSpPr>
            <p:cNvPr id="53281" name="Line 28">
              <a:extLst>
                <a:ext uri="{FF2B5EF4-FFF2-40B4-BE49-F238E27FC236}">
                  <a16:creationId xmlns:a16="http://schemas.microsoft.com/office/drawing/2014/main" id="{F351053C-8B15-48F1-AE55-DA85D2941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2" name="Line 29">
              <a:extLst>
                <a:ext uri="{FF2B5EF4-FFF2-40B4-BE49-F238E27FC236}">
                  <a16:creationId xmlns:a16="http://schemas.microsoft.com/office/drawing/2014/main" id="{441086B3-2A11-43FF-ABB4-4B3895DFC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3" name="Line 30">
              <a:extLst>
                <a:ext uri="{FF2B5EF4-FFF2-40B4-BE49-F238E27FC236}">
                  <a16:creationId xmlns:a16="http://schemas.microsoft.com/office/drawing/2014/main" id="{13ACBFCF-1748-4EB6-BA14-2D7118256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4" name="Text Box 31">
              <a:extLst>
                <a:ext uri="{FF2B5EF4-FFF2-40B4-BE49-F238E27FC236}">
                  <a16:creationId xmlns:a16="http://schemas.microsoft.com/office/drawing/2014/main" id="{C94BB9A2-4E9F-4682-B3E2-06D6C5EF6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</p:grpSp>
      <p:grpSp>
        <p:nvGrpSpPr>
          <p:cNvPr id="53268" name="Group 32">
            <a:extLst>
              <a:ext uri="{FF2B5EF4-FFF2-40B4-BE49-F238E27FC236}">
                <a16:creationId xmlns:a16="http://schemas.microsoft.com/office/drawing/2014/main" id="{FD29FC06-4087-4E6F-9861-4EDB36BCED38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798888"/>
            <a:ext cx="838200" cy="712787"/>
            <a:chOff x="3504" y="3456"/>
            <a:chExt cx="528" cy="325"/>
          </a:xfrm>
        </p:grpSpPr>
        <p:sp>
          <p:nvSpPr>
            <p:cNvPr id="53277" name="Line 33">
              <a:extLst>
                <a:ext uri="{FF2B5EF4-FFF2-40B4-BE49-F238E27FC236}">
                  <a16:creationId xmlns:a16="http://schemas.microsoft.com/office/drawing/2014/main" id="{981D0DF5-1B3D-4ECE-9940-88B776F1E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8" name="Line 34">
              <a:extLst>
                <a:ext uri="{FF2B5EF4-FFF2-40B4-BE49-F238E27FC236}">
                  <a16:creationId xmlns:a16="http://schemas.microsoft.com/office/drawing/2014/main" id="{B94B0B6D-BDB3-44AD-BE4A-9BF6A3A4A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9" name="Line 35">
              <a:extLst>
                <a:ext uri="{FF2B5EF4-FFF2-40B4-BE49-F238E27FC236}">
                  <a16:creationId xmlns:a16="http://schemas.microsoft.com/office/drawing/2014/main" id="{53808276-1FFC-4478-BAE5-72C067484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0" name="Text Box 36">
              <a:extLst>
                <a:ext uri="{FF2B5EF4-FFF2-40B4-BE49-F238E27FC236}">
                  <a16:creationId xmlns:a16="http://schemas.microsoft.com/office/drawing/2014/main" id="{ADDF5EDE-8192-4F26-8D92-5B9699741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28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</p:grpSp>
      <p:sp>
        <p:nvSpPr>
          <p:cNvPr id="53269" name="Text Box 37">
            <a:extLst>
              <a:ext uri="{FF2B5EF4-FFF2-40B4-BE49-F238E27FC236}">
                <a16:creationId xmlns:a16="http://schemas.microsoft.com/office/drawing/2014/main" id="{7BE7BEB8-E82D-4944-BD9E-2F5F37253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5353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then</a:t>
            </a:r>
          </a:p>
        </p:txBody>
      </p:sp>
      <p:sp>
        <p:nvSpPr>
          <p:cNvPr id="53270" name="Text Box 38">
            <a:extLst>
              <a:ext uri="{FF2B5EF4-FFF2-40B4-BE49-F238E27FC236}">
                <a16:creationId xmlns:a16="http://schemas.microsoft.com/office/drawing/2014/main" id="{0B8A7760-EB02-41FE-9435-9EB16B518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5369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if</a:t>
            </a:r>
          </a:p>
        </p:txBody>
      </p:sp>
      <p:sp>
        <p:nvSpPr>
          <p:cNvPr id="53271" name="Text Box 39">
            <a:extLst>
              <a:ext uri="{FF2B5EF4-FFF2-40B4-BE49-F238E27FC236}">
                <a16:creationId xmlns:a16="http://schemas.microsoft.com/office/drawing/2014/main" id="{14F0D3EF-9EF0-4A9B-A762-CB8500F45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052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stmt</a:t>
            </a:r>
          </a:p>
        </p:txBody>
      </p:sp>
      <p:sp>
        <p:nvSpPr>
          <p:cNvPr id="53272" name="Line 40">
            <a:extLst>
              <a:ext uri="{FF2B5EF4-FFF2-40B4-BE49-F238E27FC236}">
                <a16:creationId xmlns:a16="http://schemas.microsoft.com/office/drawing/2014/main" id="{FDAF805C-A371-43BD-B73C-14EB421391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3167063"/>
            <a:ext cx="15240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3" name="Line 41">
            <a:extLst>
              <a:ext uri="{FF2B5EF4-FFF2-40B4-BE49-F238E27FC236}">
                <a16:creationId xmlns:a16="http://schemas.microsoft.com/office/drawing/2014/main" id="{3134837A-2144-4785-940B-2235989592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06228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4" name="Line 42">
            <a:extLst>
              <a:ext uri="{FF2B5EF4-FFF2-40B4-BE49-F238E27FC236}">
                <a16:creationId xmlns:a16="http://schemas.microsoft.com/office/drawing/2014/main" id="{6A819116-9CDF-4162-A0FC-8369E0889C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3167063"/>
            <a:ext cx="228600" cy="420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5" name="Line 43">
            <a:extLst>
              <a:ext uri="{FF2B5EF4-FFF2-40B4-BE49-F238E27FC236}">
                <a16:creationId xmlns:a16="http://schemas.microsoft.com/office/drawing/2014/main" id="{56603640-D2B3-4D0D-AF84-A9BCC02742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3062288"/>
            <a:ext cx="685800" cy="525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6" name="Rectangle 85">
            <a:extLst>
              <a:ext uri="{FF2B5EF4-FFF2-40B4-BE49-F238E27FC236}">
                <a16:creationId xmlns:a16="http://schemas.microsoft.com/office/drawing/2014/main" id="{ED6D45B1-1FF4-4ABE-B3B4-E12FC92B0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</a:t>
            </a:r>
            <a:r>
              <a:rPr lang="en-US" altLang="zh-CN" sz="2400" b="1"/>
              <a:t>if</a:t>
            </a:r>
            <a:r>
              <a:rPr lang="en-US" altLang="zh-CN" sz="2400"/>
              <a:t> E</a:t>
            </a:r>
            <a:r>
              <a:rPr lang="en-US" altLang="zh-CN" sz="2400" baseline="-25000"/>
              <a:t>2</a:t>
            </a:r>
            <a:r>
              <a:rPr lang="en-US" altLang="zh-CN" sz="2400"/>
              <a:t> </a:t>
            </a:r>
            <a:r>
              <a:rPr lang="en-US" altLang="zh-CN" sz="2400" b="1"/>
              <a:t>then</a:t>
            </a:r>
            <a:r>
              <a:rPr lang="en-US" altLang="zh-CN" sz="2400"/>
              <a:t> S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else</a:t>
            </a:r>
            <a:r>
              <a:rPr lang="en-US" altLang="zh-CN" sz="2400"/>
              <a:t> S</a:t>
            </a:r>
            <a:r>
              <a:rPr lang="en-US" altLang="zh-CN" sz="2400" baseline="-25000"/>
              <a:t>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BADD0C4-14A8-4275-B7AD-6B595B907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消除二义性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AA5A8F9-97B8-4227-B35A-F42AA1E12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724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“</a:t>
            </a:r>
            <a:r>
              <a:rPr lang="en-US" altLang="zh-CN" sz="2800" dirty="0"/>
              <a:t>else</a:t>
            </a:r>
            <a:r>
              <a:rPr lang="zh-CN" altLang="en-US" sz="2800" dirty="0"/>
              <a:t>与最近的未匹配的</a:t>
            </a:r>
            <a:r>
              <a:rPr lang="en-US" altLang="zh-CN" sz="2800" dirty="0"/>
              <a:t>then</a:t>
            </a:r>
            <a:r>
              <a:rPr lang="zh-CN" altLang="en-US" sz="2800" dirty="0"/>
              <a:t>相匹配”</a:t>
            </a:r>
          </a:p>
          <a:p>
            <a:pPr eaLnBrk="1" hangingPunct="1"/>
            <a:r>
              <a:rPr lang="zh-CN" altLang="en-US" sz="2800" dirty="0"/>
              <a:t>修改文法</a:t>
            </a:r>
            <a:r>
              <a:rPr lang="en-US" altLang="zh-CN" sz="2800" dirty="0"/>
              <a:t>—then</a:t>
            </a:r>
            <a:r>
              <a:rPr lang="zh-CN" altLang="en-US" sz="2800" dirty="0"/>
              <a:t>和</a:t>
            </a:r>
            <a:r>
              <a:rPr lang="en-US" altLang="zh-CN" sz="2800" dirty="0"/>
              <a:t>else</a:t>
            </a:r>
            <a:r>
              <a:rPr lang="zh-CN" altLang="en-US" sz="2800" dirty="0"/>
              <a:t>间的语句必须是平衡的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 err="1"/>
              <a:t>stmt</a:t>
            </a:r>
            <a:r>
              <a:rPr kumimoji="0" lang="en-US" altLang="zh-CN" sz="2400" i="1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|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unmatched_stmt</a:t>
            </a:r>
            <a:endParaRPr kumimoji="0" lang="en-US" altLang="zh-CN" sz="2400" i="1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 err="1"/>
              <a:t>matched_stmt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ym typeface="Symbol" panose="05050102010706020507" pitchFamily="18" charset="2"/>
              </a:rPr>
              <a:t>if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else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               | </a:t>
            </a:r>
            <a:r>
              <a:rPr kumimoji="0" lang="en-US" altLang="zh-CN" sz="2400" b="1" dirty="0">
                <a:sym typeface="Symbol" panose="05050102010706020507" pitchFamily="18" charset="2"/>
              </a:rPr>
              <a:t>other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 err="1">
                <a:sym typeface="Symbol" panose="05050102010706020507" pitchFamily="18" charset="2"/>
              </a:rPr>
              <a:t>un</a:t>
            </a:r>
            <a:r>
              <a:rPr kumimoji="0" lang="en-US" altLang="zh-CN" sz="2400" i="1" dirty="0" err="1"/>
              <a:t>matched_stmt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ym typeface="Symbol" panose="05050102010706020507" pitchFamily="18" charset="2"/>
              </a:rPr>
              <a:t>if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                        |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if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matched_stmt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else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unmatched_stmt</a:t>
            </a:r>
            <a:r>
              <a:rPr kumimoji="0" lang="en-US" altLang="zh-CN" sz="2000" b="1" i="1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9523157-7356-4F38-AC0F-3128B878E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4.3.4  </a:t>
            </a:r>
            <a:r>
              <a:rPr lang="zh-CN" altLang="en-US"/>
              <a:t>消除左递归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CDDD36D-5ADC-47BA-97CE-CED7FA5C4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 A</a:t>
            </a:r>
            <a:endParaRPr kumimoji="0" lang="en-US" altLang="zh-CN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自顶向下分析方法无法处理，死循环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直接左递归的消除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3333CC"/>
                </a:solidFill>
              </a:rPr>
              <a:t>	</a:t>
            </a:r>
            <a:r>
              <a:rPr kumimoji="0" lang="en-US" altLang="zh-CN" sz="2800" b="1">
                <a:solidFill>
                  <a:srgbClr val="3333CC"/>
                </a:solidFill>
              </a:rPr>
              <a:t>A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 A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| A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| … | A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| 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 | …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	</a:t>
            </a:r>
            <a:r>
              <a:rPr kumimoji="0" lang="zh-CN" altLang="en-US">
                <a:sym typeface="Symbol" panose="05050102010706020507" pitchFamily="18" charset="2"/>
              </a:rPr>
              <a:t>任何</a:t>
            </a:r>
            <a:r>
              <a:rPr kumimoji="0" lang="zh-CN" altLang="en-US" b="1">
                <a:solidFill>
                  <a:srgbClr val="3333CC"/>
                </a:solidFill>
                <a:sym typeface="Symbol" panose="05050102010706020507" pitchFamily="18" charset="2"/>
              </a:rPr>
              <a:t></a:t>
            </a:r>
            <a:r>
              <a:rPr kumimoji="0" lang="en-US" altLang="zh-CN" b="1" baseline="-25000">
                <a:solidFill>
                  <a:srgbClr val="3333CC"/>
                </a:solidFill>
                <a:sym typeface="Symbol" panose="05050102010706020507" pitchFamily="18" charset="2"/>
              </a:rPr>
              <a:t>i</a:t>
            </a:r>
            <a:r>
              <a:rPr kumimoji="0" lang="zh-CN" altLang="en-US">
                <a:sym typeface="Symbol" panose="05050102010706020507" pitchFamily="18" charset="2"/>
              </a:rPr>
              <a:t>均不以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开头，改写为：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Symbol" panose="05050102010706020507" pitchFamily="18" charset="2"/>
              </a:rPr>
              <a:t>	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 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… | 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n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	A’  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| … | </a:t>
            </a:r>
            <a:r>
              <a:rPr kumimoji="0" lang="en-US" altLang="zh-CN" sz="2800" b="1" baseline="-25000">
                <a:solidFill>
                  <a:srgbClr val="3333CC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A’ | </a:t>
            </a:r>
            <a:r>
              <a:rPr kumimoji="0" lang="en-US" altLang="zh-CN" sz="28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9971512C-BE05-451E-9BA8-F9B00CB69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85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+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E293318-34C1-4553-8731-4A515CF4D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4.8</a:t>
            </a:r>
          </a:p>
        </p:txBody>
      </p:sp>
      <p:sp>
        <p:nvSpPr>
          <p:cNvPr id="56323" name="Text Box 5">
            <a:extLst>
              <a:ext uri="{FF2B5EF4-FFF2-40B4-BE49-F238E27FC236}">
                <a16:creationId xmlns:a16="http://schemas.microsoft.com/office/drawing/2014/main" id="{D3DBAD04-6EFE-4962-AF0D-CD3D3E864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31242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/>
              <a:t>E </a:t>
            </a:r>
            <a:r>
              <a:rPr kumimoji="0" lang="en-US" altLang="zh-CN" b="1">
                <a:sym typeface="Symbol" panose="05050102010706020507" pitchFamily="18" charset="2"/>
              </a:rPr>
              <a:t> E + T  |  T</a:t>
            </a:r>
            <a:br>
              <a:rPr kumimoji="0" lang="en-US" altLang="zh-CN" b="1">
                <a:sym typeface="Symbol" panose="05050102010706020507" pitchFamily="18" charset="2"/>
              </a:rPr>
            </a:br>
            <a:br>
              <a:rPr kumimoji="0" lang="en-US" altLang="zh-CN" b="1">
                <a:sym typeface="Symbol" panose="05050102010706020507" pitchFamily="18" charset="2"/>
              </a:rPr>
            </a:b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  T * F  |  F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F   ( E )  | id</a:t>
            </a:r>
          </a:p>
        </p:txBody>
      </p:sp>
      <p:sp>
        <p:nvSpPr>
          <p:cNvPr id="56324" name="Text Box 6">
            <a:extLst>
              <a:ext uri="{FF2B5EF4-FFF2-40B4-BE49-F238E27FC236}">
                <a16:creationId xmlns:a16="http://schemas.microsoft.com/office/drawing/2014/main" id="{40E41597-CE1D-4685-9517-3F5DDFE59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371600"/>
            <a:ext cx="2895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E  TE’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E’  + TE’ |  </a:t>
            </a:r>
            <a:r>
              <a:rPr kumimoji="0" lang="en-US" altLang="zh-CN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5" name="AutoShape 7">
            <a:extLst>
              <a:ext uri="{FF2B5EF4-FFF2-40B4-BE49-F238E27FC236}">
                <a16:creationId xmlns:a16="http://schemas.microsoft.com/office/drawing/2014/main" id="{0A0C72DE-93A2-4704-846C-D697EC70F1D2}"/>
              </a:ext>
            </a:extLst>
          </p:cNvPr>
          <p:cNvSpPr>
            <a:spLocks/>
          </p:cNvSpPr>
          <p:nvPr/>
        </p:nvSpPr>
        <p:spPr bwMode="auto">
          <a:xfrm>
            <a:off x="4572000" y="14478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6326" name="Line 8">
            <a:extLst>
              <a:ext uri="{FF2B5EF4-FFF2-40B4-BE49-F238E27FC236}">
                <a16:creationId xmlns:a16="http://schemas.microsoft.com/office/drawing/2014/main" id="{14541BDB-87B4-4F1B-A295-71EB48673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905000"/>
            <a:ext cx="838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7" name="Text Box 9">
            <a:extLst>
              <a:ext uri="{FF2B5EF4-FFF2-40B4-BE49-F238E27FC236}">
                <a16:creationId xmlns:a16="http://schemas.microsoft.com/office/drawing/2014/main" id="{72EF95AC-7F5A-4B49-9118-B61E11F20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8000"/>
            <a:ext cx="307181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  FT’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T’  * FT’ | </a:t>
            </a:r>
            <a:r>
              <a:rPr kumimoji="0" lang="en-US" altLang="zh-CN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6328" name="Line 12">
            <a:extLst>
              <a:ext uri="{FF2B5EF4-FFF2-40B4-BE49-F238E27FC236}">
                <a16:creationId xmlns:a16="http://schemas.microsoft.com/office/drawing/2014/main" id="{EDED5FCF-E197-429D-BD42-E64A8B61B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754563"/>
            <a:ext cx="838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9" name="Text Box 13">
            <a:extLst>
              <a:ext uri="{FF2B5EF4-FFF2-40B4-BE49-F238E27FC236}">
                <a16:creationId xmlns:a16="http://schemas.microsoft.com/office/drawing/2014/main" id="{C2C5B192-B407-41CA-B917-07A7EB4A7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449763"/>
            <a:ext cx="2614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F   ( E )  | id</a:t>
            </a:r>
          </a:p>
        </p:txBody>
      </p:sp>
      <p:sp>
        <p:nvSpPr>
          <p:cNvPr id="56330" name="AutoShape 14">
            <a:extLst>
              <a:ext uri="{FF2B5EF4-FFF2-40B4-BE49-F238E27FC236}">
                <a16:creationId xmlns:a16="http://schemas.microsoft.com/office/drawing/2014/main" id="{DBF75713-A86B-4C61-872A-926DFE27359A}"/>
              </a:ext>
            </a:extLst>
          </p:cNvPr>
          <p:cNvSpPr>
            <a:spLocks/>
          </p:cNvSpPr>
          <p:nvPr/>
        </p:nvSpPr>
        <p:spPr bwMode="auto">
          <a:xfrm>
            <a:off x="4572000" y="31242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6331" name="Line 15">
            <a:extLst>
              <a:ext uri="{FF2B5EF4-FFF2-40B4-BE49-F238E27FC236}">
                <a16:creationId xmlns:a16="http://schemas.microsoft.com/office/drawing/2014/main" id="{44940154-F9B6-4B4A-AF60-EE531B0EC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606800"/>
            <a:ext cx="838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9B28B66-E5F6-4A44-8BD6-D7FAABB4E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</a:t>
            </a:r>
            <a:r>
              <a:rPr lang="zh-CN" altLang="en-US"/>
              <a:t>：消除间接左递归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F1BC4A7-F4D2-4AFC-BA14-5C774ADEA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</a:t>
            </a:r>
            <a:r>
              <a:rPr lang="en-US" altLang="zh-CN" sz="2400"/>
              <a:t>CFG G</a:t>
            </a:r>
            <a:r>
              <a:rPr lang="zh-CN" altLang="en-US" sz="2400"/>
              <a:t>，无环路，无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>
                <a:sym typeface="Symbol" panose="05050102010706020507" pitchFamily="18" charset="2"/>
              </a:rPr>
              <a:t>产生式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输出：等价的、无左递归的文法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非终结符按顺序排列</a:t>
            </a:r>
            <a:r>
              <a:rPr lang="en-US" altLang="zh-CN" sz="2400"/>
              <a:t>A</a:t>
            </a:r>
            <a:r>
              <a:rPr lang="en-US" altLang="zh-CN" sz="2400" baseline="-25000"/>
              <a:t>1</a:t>
            </a:r>
            <a:r>
              <a:rPr lang="en-US" altLang="zh-CN" sz="2400"/>
              <a:t>, A</a:t>
            </a:r>
            <a:r>
              <a:rPr lang="en-US" altLang="zh-CN" sz="2400" baseline="-25000"/>
              <a:t>2</a:t>
            </a:r>
            <a:r>
              <a:rPr lang="en-US" altLang="zh-CN" sz="2400"/>
              <a:t>, …, A</a:t>
            </a:r>
            <a:r>
              <a:rPr lang="en-US" altLang="zh-CN" sz="2400" baseline="-25000"/>
              <a:t>n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for (i = 1; i &lt; n; i++)</a:t>
            </a:r>
            <a:br>
              <a:rPr lang="en-US" altLang="zh-CN" sz="2400"/>
            </a:br>
            <a:r>
              <a:rPr lang="en-US" altLang="zh-CN" sz="2400"/>
              <a:t>	for (j = 1; j &lt; i - 1; j++) {</a:t>
            </a:r>
            <a:br>
              <a:rPr lang="en-US" altLang="zh-CN" sz="2400"/>
            </a:br>
            <a:r>
              <a:rPr lang="en-US" altLang="zh-CN" sz="2400"/>
              <a:t>	     </a:t>
            </a:r>
            <a:r>
              <a:rPr lang="zh-CN" altLang="en-US" sz="2400"/>
              <a:t>将所有形如</a:t>
            </a:r>
            <a:r>
              <a:rPr lang="en-US" altLang="zh-CN" sz="2400"/>
              <a:t>A</a:t>
            </a:r>
            <a:r>
              <a:rPr lang="en-US" altLang="zh-CN" sz="2400" baseline="-25000"/>
              <a:t>i </a:t>
            </a:r>
            <a:r>
              <a:rPr kumimoji="0" lang="en-US" altLang="zh-CN" sz="2400">
                <a:sym typeface="Symbol" panose="05050102010706020507" pitchFamily="18" charset="2"/>
              </a:rPr>
              <a:t> 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400">
                <a:sym typeface="Symbol" panose="05050102010706020507" pitchFamily="18" charset="2"/>
              </a:rPr>
              <a:t>的产生式替换为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	     </a:t>
            </a:r>
            <a:r>
              <a:rPr lang="en-US" altLang="zh-CN" sz="2400"/>
              <a:t>A</a:t>
            </a:r>
            <a:r>
              <a:rPr lang="en-US" altLang="zh-CN" sz="2400" baseline="-25000"/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ym typeface="Symbol" panose="05050102010706020507" pitchFamily="18" charset="2"/>
              </a:rPr>
              <a:t> | …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k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，</a:t>
            </a:r>
            <a:r>
              <a:rPr kumimoji="0" lang="zh-CN" altLang="en-US" sz="2400">
                <a:sym typeface="Symbol" panose="05050102010706020507" pitchFamily="18" charset="2"/>
              </a:rPr>
              <a:t>其中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	     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 | …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 | d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k</a:t>
            </a:r>
            <a:r>
              <a:rPr kumimoji="0" lang="zh-CN" altLang="en-US" sz="2400">
                <a:sym typeface="Symbol" panose="05050102010706020507" pitchFamily="18" charset="2"/>
              </a:rPr>
              <a:t>为其他对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zh-CN" altLang="en-US" sz="2400">
                <a:sym typeface="Symbol" panose="05050102010706020507" pitchFamily="18" charset="2"/>
              </a:rPr>
              <a:t>的产生式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	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消除所有直接左递归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10282139-873F-4BC7-8FBB-174062208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4.9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78EDF4E-BEF6-4BCB-AF02-0C773CF6B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590800"/>
            <a:ext cx="7772400" cy="3276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间接左递归</a:t>
            </a:r>
            <a:r>
              <a:rPr lang="zh-CN" altLang="en-US" sz="2800" dirty="0">
                <a:sym typeface="Wingdings" panose="05000000000000000000" pitchFamily="2" charset="2"/>
              </a:rPr>
              <a:t>直接左递归：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kumimoji="0" lang="en-US" altLang="zh-CN" sz="2400" dirty="0"/>
              <a:t>A </a:t>
            </a:r>
            <a:r>
              <a:rPr kumimoji="0" lang="en-US" altLang="zh-CN" sz="2400" dirty="0">
                <a:sym typeface="Symbol" panose="05050102010706020507" pitchFamily="18" charset="2"/>
              </a:rPr>
              <a:t> Ac |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Aad</a:t>
            </a:r>
            <a:r>
              <a:rPr kumimoji="0" lang="en-US" altLang="zh-CN" sz="2400" dirty="0">
                <a:sym typeface="Symbol" panose="05050102010706020507" pitchFamily="18" charset="2"/>
              </a:rPr>
              <a:t> | bd | 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ym typeface="Symbol" panose="05050102010706020507" pitchFamily="18" charset="2"/>
              </a:rPr>
              <a:t>消除直接左递归</a:t>
            </a:r>
            <a:br>
              <a:rPr kumimoji="0" lang="zh-CN" altLang="en-US" sz="2800" dirty="0">
                <a:sym typeface="Symbol" panose="05050102010706020507" pitchFamily="18" charset="2"/>
              </a:rPr>
            </a:br>
            <a:r>
              <a:rPr kumimoji="0" lang="en-US" altLang="zh-CN" sz="2400" dirty="0"/>
              <a:t>S </a:t>
            </a:r>
            <a:r>
              <a:rPr kumimoji="0" lang="en-US" altLang="zh-CN" sz="2400" dirty="0">
                <a:sym typeface="Symbol" panose="05050102010706020507" pitchFamily="18" charset="2"/>
              </a:rPr>
              <a:t> Aa | b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/>
              <a:t>A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bdA</a:t>
            </a:r>
            <a:r>
              <a:rPr kumimoji="0" lang="en-US" altLang="zh-CN" sz="2400" dirty="0">
                <a:sym typeface="Symbol" panose="05050102010706020507" pitchFamily="18" charset="2"/>
              </a:rPr>
              <a:t>’ | A’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A’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cA</a:t>
            </a:r>
            <a:r>
              <a:rPr kumimoji="0" lang="en-US" altLang="zh-CN" sz="2400" dirty="0">
                <a:sym typeface="Symbol" panose="05050102010706020507" pitchFamily="18" charset="2"/>
              </a:rPr>
              <a:t>’ |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adA</a:t>
            </a:r>
            <a:r>
              <a:rPr kumimoji="0" lang="en-US" altLang="zh-CN" sz="2400" dirty="0">
                <a:sym typeface="Symbol" panose="05050102010706020507" pitchFamily="18" charset="2"/>
              </a:rPr>
              <a:t>’ | 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8372" name="Text Box 5">
            <a:extLst>
              <a:ext uri="{FF2B5EF4-FFF2-40B4-BE49-F238E27FC236}">
                <a16:creationId xmlns:a16="http://schemas.microsoft.com/office/drawing/2014/main" id="{5CF44D3A-B559-4169-9CCE-6FDE886FF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95400"/>
            <a:ext cx="2590800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 | b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A </a:t>
            </a:r>
            <a:r>
              <a:rPr kumimoji="0" lang="en-US" altLang="zh-CN" sz="2800">
                <a:sym typeface="Symbol" panose="05050102010706020507" pitchFamily="18" charset="2"/>
              </a:rPr>
              <a:t> Ac | Sd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8373" name="Text Box 6">
            <a:extLst>
              <a:ext uri="{FF2B5EF4-FFF2-40B4-BE49-F238E27FC236}">
                <a16:creationId xmlns:a16="http://schemas.microsoft.com/office/drawing/2014/main" id="{AC0323FF-FDE4-4321-A3B0-F74DF0D67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6144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 Aa  Sda</a:t>
            </a:r>
          </a:p>
        </p:txBody>
      </p:sp>
      <p:sp>
        <p:nvSpPr>
          <p:cNvPr id="58374" name="AutoShape 7">
            <a:extLst>
              <a:ext uri="{FF2B5EF4-FFF2-40B4-BE49-F238E27FC236}">
                <a16:creationId xmlns:a16="http://schemas.microsoft.com/office/drawing/2014/main" id="{15649000-7E45-4590-8DAB-FFCEA7B79F2C}"/>
              </a:ext>
            </a:extLst>
          </p:cNvPr>
          <p:cNvSpPr>
            <a:spLocks/>
          </p:cNvSpPr>
          <p:nvPr/>
        </p:nvSpPr>
        <p:spPr bwMode="auto">
          <a:xfrm>
            <a:off x="3810000" y="1371600"/>
            <a:ext cx="228600" cy="914400"/>
          </a:xfrm>
          <a:prstGeom prst="rightBrace">
            <a:avLst>
              <a:gd name="adj1" fmla="val 33333"/>
              <a:gd name="adj2" fmla="val 53301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F402AC2-7C4C-4137-B89C-973EAEC91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补充：消除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产生式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4B2921D-F128-4027-868B-77E326038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524000"/>
          </a:xfrm>
        </p:spPr>
        <p:txBody>
          <a:bodyPr/>
          <a:lstStyle/>
          <a:p>
            <a:pPr eaLnBrk="1" hangingPunct="1"/>
            <a:r>
              <a:rPr kumimoji="0" lang="zh-CN" altLang="en-US"/>
              <a:t>方法：利用产生式进行代入</a:t>
            </a:r>
          </a:p>
          <a:p>
            <a:pPr eaLnBrk="1" hangingPunct="1"/>
            <a:r>
              <a:rPr kumimoji="0"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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B  uAv </a:t>
            </a:r>
            <a:r>
              <a:rPr kumimoji="0" lang="en-US" altLang="zh-CN">
                <a:sym typeface="Wingdings" panose="05000000000000000000" pitchFamily="2" charset="2"/>
              </a:rPr>
              <a:t> </a:t>
            </a:r>
            <a:r>
              <a:rPr kumimoji="0" lang="en-US" altLang="zh-CN">
                <a:sym typeface="Symbol" panose="05050102010706020507" pitchFamily="18" charset="2"/>
              </a:rPr>
              <a:t>B  uv | uAv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F508B0FE-1701-400C-9B99-E2C8EDA3F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667000"/>
            <a:ext cx="28194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TE’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E’  + TE’ | 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  FT’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T’  * FT’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F   ( E )  | id</a:t>
            </a:r>
          </a:p>
        </p:txBody>
      </p:sp>
      <p:sp>
        <p:nvSpPr>
          <p:cNvPr id="59397" name="AutoShape 7">
            <a:extLst>
              <a:ext uri="{FF2B5EF4-FFF2-40B4-BE49-F238E27FC236}">
                <a16:creationId xmlns:a16="http://schemas.microsoft.com/office/drawing/2014/main" id="{CEE0C012-3844-4B35-B3FE-C047C65B11B7}"/>
              </a:ext>
            </a:extLst>
          </p:cNvPr>
          <p:cNvSpPr>
            <a:spLocks/>
          </p:cNvSpPr>
          <p:nvPr/>
        </p:nvSpPr>
        <p:spPr bwMode="auto">
          <a:xfrm>
            <a:off x="3810000" y="2743200"/>
            <a:ext cx="533400" cy="2027238"/>
          </a:xfrm>
          <a:prstGeom prst="rightBrace">
            <a:avLst>
              <a:gd name="adj1" fmla="val 3167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59398" name="Text Box 8">
            <a:extLst>
              <a:ext uri="{FF2B5EF4-FFF2-40B4-BE49-F238E27FC236}">
                <a16:creationId xmlns:a16="http://schemas.microsoft.com/office/drawing/2014/main" id="{583FBB2A-8CBF-40AD-AC3B-9AEDED468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667000"/>
            <a:ext cx="28194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TE’ | 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E’  + TE’ |  + 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  FT’ | F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T’  * FT’ |  * F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F   ( E )  | id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6CF5631-DC25-4801-9047-4DA970623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补充：消除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产生式（续）</a:t>
            </a:r>
          </a:p>
        </p:txBody>
      </p:sp>
      <p:sp>
        <p:nvSpPr>
          <p:cNvPr id="60419" name="Text Box 7">
            <a:extLst>
              <a:ext uri="{FF2B5EF4-FFF2-40B4-BE49-F238E27FC236}">
                <a16:creationId xmlns:a16="http://schemas.microsoft.com/office/drawing/2014/main" id="{5254D7B0-F9ED-4995-9FE6-574ADAC85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3886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A</a:t>
            </a:r>
            <a:r>
              <a:rPr kumimoji="0" lang="en-US" altLang="zh-CN" sz="2800" baseline="-25000"/>
              <a:t>1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a | b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 </a:t>
            </a:r>
            <a:r>
              <a:rPr kumimoji="0" lang="en-US" altLang="zh-CN" sz="2800">
                <a:sym typeface="Symbol" panose="05050102010706020507" pitchFamily="18" charset="2"/>
              </a:rPr>
              <a:t>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 c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60420" name="AutoShape 8">
            <a:extLst>
              <a:ext uri="{FF2B5EF4-FFF2-40B4-BE49-F238E27FC236}">
                <a16:creationId xmlns:a16="http://schemas.microsoft.com/office/drawing/2014/main" id="{3CFBD991-65B0-40E1-8ECA-2D5F84612670}"/>
              </a:ext>
            </a:extLst>
          </p:cNvPr>
          <p:cNvSpPr>
            <a:spLocks/>
          </p:cNvSpPr>
          <p:nvPr/>
        </p:nvSpPr>
        <p:spPr bwMode="auto">
          <a:xfrm>
            <a:off x="4267200" y="1905000"/>
            <a:ext cx="533400" cy="1143000"/>
          </a:xfrm>
          <a:prstGeom prst="rightBrace">
            <a:avLst>
              <a:gd name="adj1" fmla="val 17857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60421" name="Text Box 9">
            <a:extLst>
              <a:ext uri="{FF2B5EF4-FFF2-40B4-BE49-F238E27FC236}">
                <a16:creationId xmlns:a16="http://schemas.microsoft.com/office/drawing/2014/main" id="{D98B1F73-BFDD-43DA-A302-12DCD2603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828800"/>
            <a:ext cx="38100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A</a:t>
            </a:r>
            <a:r>
              <a:rPr kumimoji="0" lang="en-US" altLang="zh-CN" sz="2800" baseline="-25000"/>
              <a:t>1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a | b | a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 </a:t>
            </a:r>
            <a:r>
              <a:rPr kumimoji="0" lang="en-US" altLang="zh-CN" sz="2800">
                <a:sym typeface="Symbol" panose="05050102010706020507" pitchFamily="18" charset="2"/>
              </a:rPr>
              <a:t>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        | bd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 c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 | bd A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’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          | c | bd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BBAFC99-FA50-4E11-9245-43284C8A4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补充：消除回路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AB6B6B1-4B28-4AD3-B484-6A7BF6963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286000"/>
            <a:ext cx="7772400" cy="3581400"/>
          </a:xfrm>
        </p:spPr>
        <p:txBody>
          <a:bodyPr/>
          <a:lstStyle/>
          <a:p>
            <a:pPr eaLnBrk="1" hangingPunct="1"/>
            <a:r>
              <a:rPr lang="zh-CN" altLang="en-US"/>
              <a:t>如何消除回路？</a:t>
            </a:r>
          </a:p>
          <a:p>
            <a:pPr eaLnBrk="1" hangingPunct="1"/>
            <a:r>
              <a:rPr lang="zh-CN" altLang="en-US"/>
              <a:t>保证每个产生式都加入终结符（开始符号的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产生式除外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上面文法改写为：</a:t>
            </a:r>
            <a:br>
              <a:rPr kumimoji="0" lang="zh-CN" altLang="en-US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 </a:t>
            </a: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S ( S ) | ( S )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97C3005D-16A4-4DD1-AFF2-8FCBD71E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716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SS | ( S )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61445" name="AutoShape 5">
            <a:extLst>
              <a:ext uri="{FF2B5EF4-FFF2-40B4-BE49-F238E27FC236}">
                <a16:creationId xmlns:a16="http://schemas.microsoft.com/office/drawing/2014/main" id="{49F762EF-D4C1-46A3-B4BD-FB4AECCB4662}"/>
              </a:ext>
            </a:extLst>
          </p:cNvPr>
          <p:cNvSpPr>
            <a:spLocks/>
          </p:cNvSpPr>
          <p:nvPr/>
        </p:nvSpPr>
        <p:spPr bwMode="auto">
          <a:xfrm rot="-5400000">
            <a:off x="7315200" y="16002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61446" name="Text Box 6">
            <a:extLst>
              <a:ext uri="{FF2B5EF4-FFF2-40B4-BE49-F238E27FC236}">
                <a16:creationId xmlns:a16="http://schemas.microsoft.com/office/drawing/2014/main" id="{33999F6E-EB64-4BBC-AEB8-68D95E723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9192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olidFill>
                  <a:srgbClr val="FF3300"/>
                </a:solidFill>
              </a:rPr>
              <a:t>S 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80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id="{B0698872-3E1B-477F-8752-DE6AE701A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3716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回路</a:t>
            </a:r>
            <a:r>
              <a:rPr kumimoji="0" lang="en-US" altLang="zh-CN" sz="2800">
                <a:sym typeface="Symbol" panose="05050102010706020507" pitchFamily="18" charset="2"/>
              </a:rPr>
              <a:t>:   S  SS  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32A766D-8357-423A-AFA9-5F60F3FA9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4.3.5  </a:t>
            </a:r>
            <a:r>
              <a:rPr lang="zh-CN" altLang="en-US"/>
              <a:t>提取左公因子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B18821D7-B0C3-4664-8600-42911C467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预测分析方法要求</a:t>
            </a:r>
            <a:r>
              <a:rPr lang="en-US" altLang="zh-CN" sz="2800"/>
              <a:t>——</a:t>
            </a:r>
            <a:br>
              <a:rPr lang="en-US" altLang="zh-CN" sz="2800"/>
            </a:br>
            <a:r>
              <a:rPr lang="zh-CN" altLang="en-US" sz="2800"/>
              <a:t>向前搜索一个单词，即可确定产生式</a:t>
            </a:r>
          </a:p>
          <a:p>
            <a:pPr eaLnBrk="1" hangingPunct="1"/>
            <a:r>
              <a:rPr kumimoji="0" lang="en-US" altLang="zh-CN" sz="2400" i="1"/>
              <a:t>stmt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ym typeface="Symbol" panose="05050102010706020507" pitchFamily="18" charset="2"/>
              </a:rPr>
              <a:t>  </a:t>
            </a:r>
            <a:r>
              <a:rPr kumimoji="0" lang="en-US" altLang="zh-CN" sz="2400" i="1">
                <a:sym typeface="Symbol" panose="05050102010706020507" pitchFamily="18" charset="2"/>
              </a:rPr>
              <a:t>stmt </a:t>
            </a:r>
            <a:r>
              <a:rPr kumimoji="0" lang="en-US" altLang="zh-CN" sz="2400" b="1"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           | </a:t>
            </a:r>
            <a:r>
              <a:rPr kumimoji="0" lang="en-US" altLang="zh-CN" sz="2400" b="1"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ym typeface="Symbol" panose="05050102010706020507" pitchFamily="18" charset="2"/>
              </a:rPr>
              <a:t>  </a:t>
            </a:r>
            <a:r>
              <a:rPr kumimoji="0" lang="en-US" altLang="zh-CN" sz="2400" i="1">
                <a:sym typeface="Symbol" panose="05050102010706020507" pitchFamily="18" charset="2"/>
              </a:rPr>
              <a:t>stmt	</a:t>
            </a:r>
            <a:r>
              <a:rPr kumimoji="0" lang="zh-CN" altLang="en-US" sz="2800">
                <a:sym typeface="Symbol" panose="05050102010706020507" pitchFamily="18" charset="2"/>
              </a:rPr>
              <a:t>不符合！</a:t>
            </a: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一般的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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| 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000" b="1" baseline="-25000">
                <a:sym typeface="Symbol" panose="05050102010706020507" pitchFamily="18" charset="2"/>
              </a:rPr>
              <a:t> </a:t>
            </a:r>
            <a:br>
              <a:rPr kumimoji="0" lang="en-US" altLang="zh-CN" sz="2000" b="1" baseline="-25000">
                <a:sym typeface="Symbol" panose="05050102010706020507" pitchFamily="18" charset="2"/>
              </a:rPr>
            </a:br>
            <a:r>
              <a:rPr kumimoji="0" lang="zh-CN" altLang="en-US" sz="2800">
                <a:sym typeface="Symbol" panose="05050102010706020507" pitchFamily="18" charset="2"/>
              </a:rPr>
              <a:t>改写为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 A’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A’  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| 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E2B7D54-76FB-44F4-A818-B74C75168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4.2 </a:t>
            </a:r>
            <a:r>
              <a:rPr lang="zh-CN" altLang="en-US"/>
              <a:t>提取左公因子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F6E2FA0-7DDA-4581-A2B5-B455825E0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</a:t>
            </a:r>
            <a:r>
              <a:rPr lang="en-US" altLang="zh-CN" sz="2800"/>
              <a:t>CFG 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输出：等价的、提取了左公因子的文法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  <a:br>
              <a:rPr lang="zh-CN" altLang="en-US" sz="2800"/>
            </a:br>
            <a:r>
              <a:rPr lang="zh-CN" altLang="en-US" sz="2800"/>
              <a:t>对每个非终结符</a:t>
            </a:r>
            <a:r>
              <a:rPr lang="en-US" altLang="zh-CN" sz="2800"/>
              <a:t>A</a:t>
            </a:r>
            <a:r>
              <a:rPr lang="zh-CN" altLang="en-US" sz="2800"/>
              <a:t>，寻找多个候选式公共的最长前缀</a:t>
            </a:r>
            <a:r>
              <a:rPr lang="en-US" altLang="zh-CN" sz="2800">
                <a:latin typeface="Symbol" panose="05050102010706020507" pitchFamily="18" charset="2"/>
              </a:rPr>
              <a:t>a</a:t>
            </a:r>
            <a:r>
              <a:rPr lang="zh-CN" altLang="en-US" sz="2800"/>
              <a:t>，若</a:t>
            </a:r>
            <a:r>
              <a:rPr lang="en-US" altLang="zh-CN" sz="2800">
                <a:latin typeface="Symbol" panose="05050102010706020507" pitchFamily="18" charset="2"/>
              </a:rPr>
              <a:t>a</a:t>
            </a:r>
            <a:r>
              <a:rPr lang="en-US" altLang="zh-CN" sz="2800">
                <a:latin typeface="宋体" panose="02010600030101010101" pitchFamily="2" charset="-122"/>
              </a:rPr>
              <a:t>≠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，则将所有</a:t>
            </a:r>
            <a:r>
              <a:rPr kumimoji="0" lang="en-US" altLang="zh-CN" sz="2800">
                <a:sym typeface="Symbol" panose="05050102010706020507" pitchFamily="18" charset="2"/>
              </a:rPr>
              <a:t>A</a:t>
            </a:r>
            <a:r>
              <a:rPr kumimoji="0" lang="zh-CN" altLang="en-US" sz="2800">
                <a:sym typeface="Symbol" panose="05050102010706020507" pitchFamily="18" charset="2"/>
              </a:rPr>
              <a:t>的候选式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| …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n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>
                <a:latin typeface="Symbol" panose="05050102010706020507" pitchFamily="18" charset="2"/>
                <a:sym typeface="Symbol" panose="05050102010706020507" pitchFamily="18" charset="2"/>
              </a:rPr>
              <a:t>（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>
                <a:latin typeface="Symbol" panose="05050102010706020507" pitchFamily="18" charset="2"/>
                <a:sym typeface="Symbol" panose="05050102010706020507" pitchFamily="18" charset="2"/>
              </a:rPr>
              <a:t>表示所有其他候选式），改写为</a:t>
            </a:r>
            <a:br>
              <a:rPr kumimoji="0" lang="zh-CN" altLang="en-US" sz="280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ym typeface="Symbol" panose="05050102010706020507" pitchFamily="18" charset="2"/>
              </a:rPr>
              <a:t>A’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b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A’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 | … |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n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AFAA1DF-6B67-485D-A1B2-FFBB4CBFF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4.10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C617DBA-2F05-4EE2-AF99-BAA646F99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S  iEtS | iEtSeS |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E 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i</a:t>
            </a:r>
            <a:r>
              <a:rPr kumimoji="0" lang="en-US" altLang="zh-CN">
                <a:sym typeface="Wingdings" panose="05000000000000000000" pitchFamily="2" charset="2"/>
              </a:rPr>
              <a:t></a:t>
            </a:r>
            <a:r>
              <a:rPr kumimoji="0" lang="en-US" altLang="zh-CN" b="1">
                <a:sym typeface="Wingdings" panose="05000000000000000000" pitchFamily="2" charset="2"/>
              </a:rPr>
              <a:t>if</a:t>
            </a:r>
            <a:r>
              <a:rPr kumimoji="0" lang="en-US" altLang="zh-CN">
                <a:sym typeface="Wingdings" panose="05000000000000000000" pitchFamily="2" charset="2"/>
              </a:rPr>
              <a:t>, t</a:t>
            </a:r>
            <a:r>
              <a:rPr kumimoji="0" lang="en-US" altLang="zh-CN" b="1">
                <a:sym typeface="Wingdings" panose="05000000000000000000" pitchFamily="2" charset="2"/>
              </a:rPr>
              <a:t>then</a:t>
            </a:r>
            <a:r>
              <a:rPr kumimoji="0" lang="en-US" altLang="zh-CN">
                <a:sym typeface="Wingdings" panose="05000000000000000000" pitchFamily="2" charset="2"/>
              </a:rPr>
              <a:t>, e</a:t>
            </a:r>
            <a:r>
              <a:rPr kumimoji="0" lang="en-US" altLang="zh-CN" b="1">
                <a:sym typeface="Wingdings" panose="05000000000000000000" pitchFamily="2" charset="2"/>
              </a:rPr>
              <a:t>else</a:t>
            </a:r>
            <a:r>
              <a:rPr kumimoji="0" lang="en-US" altLang="zh-CN">
                <a:sym typeface="Wingdings" panose="05000000000000000000" pitchFamily="2" charset="2"/>
              </a:rPr>
              <a:t>, E</a:t>
            </a:r>
            <a:r>
              <a:rPr kumimoji="0" lang="zh-CN" altLang="en-US">
                <a:sym typeface="Wingdings" panose="05000000000000000000" pitchFamily="2" charset="2"/>
              </a:rPr>
              <a:t>表达式</a:t>
            </a:r>
            <a:r>
              <a:rPr kumimoji="0" lang="en-US" altLang="zh-CN">
                <a:sym typeface="Wingdings" panose="05000000000000000000" pitchFamily="2" charset="2"/>
              </a:rPr>
              <a:t>, S</a:t>
            </a:r>
            <a:r>
              <a:rPr kumimoji="0" lang="zh-CN" altLang="en-US">
                <a:sym typeface="Wingdings" panose="05000000000000000000" pitchFamily="2" charset="2"/>
              </a:rPr>
              <a:t>语句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Wingdings" panose="05000000000000000000" pitchFamily="2" charset="2"/>
              </a:rPr>
              <a:t>改写为：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S  iEtSS’ |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S’  eS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E  b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7CD485E-AF36-44B5-A4D9-073D956CF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4.3.6  CFG</a:t>
            </a:r>
            <a:r>
              <a:rPr lang="zh-CN" altLang="en-US"/>
              <a:t>无法描述的语言结构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862D117-D535-45BB-8C3A-1208EE3C6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rgbClr val="3333CC"/>
                </a:solidFill>
              </a:rPr>
              <a:t>例</a:t>
            </a:r>
            <a:r>
              <a:rPr lang="en-US" altLang="zh-CN" sz="3600" dirty="0">
                <a:solidFill>
                  <a:srgbClr val="3333CC"/>
                </a:solidFill>
              </a:rPr>
              <a:t>4.11</a:t>
            </a:r>
            <a:r>
              <a:rPr lang="zh-CN" altLang="en-US" sz="3600" dirty="0">
                <a:solidFill>
                  <a:srgbClr val="3333CC"/>
                </a:solidFill>
              </a:rPr>
              <a:t>：</a:t>
            </a:r>
            <a:r>
              <a:rPr lang="en-US" altLang="zh-CN" sz="3600" dirty="0">
                <a:solidFill>
                  <a:srgbClr val="3333CC"/>
                </a:solidFill>
              </a:rPr>
              <a:t>L</a:t>
            </a:r>
            <a:r>
              <a:rPr lang="en-US" altLang="zh-CN" sz="3600" baseline="-25000" dirty="0">
                <a:solidFill>
                  <a:srgbClr val="3333CC"/>
                </a:solidFill>
              </a:rPr>
              <a:t>1</a:t>
            </a:r>
            <a:r>
              <a:rPr lang="en-US" altLang="zh-CN" sz="3600" dirty="0">
                <a:solidFill>
                  <a:srgbClr val="3333CC"/>
                </a:solidFill>
              </a:rPr>
              <a:t> = { </a:t>
            </a:r>
            <a:r>
              <a:rPr lang="en-US" altLang="zh-CN" sz="3600" dirty="0" err="1">
                <a:solidFill>
                  <a:srgbClr val="3333CC"/>
                </a:solidFill>
              </a:rPr>
              <a:t>wcw</a:t>
            </a:r>
            <a:r>
              <a:rPr lang="en-US" altLang="zh-CN" sz="3600" dirty="0">
                <a:solidFill>
                  <a:srgbClr val="3333CC"/>
                </a:solidFill>
              </a:rPr>
              <a:t> | w</a:t>
            </a:r>
            <a:r>
              <a:rPr lang="en-US" altLang="zh-CN" sz="3600" dirty="0">
                <a:solidFill>
                  <a:srgbClr val="3333CC"/>
                </a:solidFill>
                <a:latin typeface="宋体" panose="02010600030101010101" pitchFamily="2" charset="-122"/>
              </a:rPr>
              <a:t>∈</a:t>
            </a:r>
            <a:r>
              <a:rPr lang="en-US" altLang="zh-CN" sz="3600" dirty="0">
                <a:solidFill>
                  <a:srgbClr val="3333CC"/>
                </a:solidFill>
              </a:rPr>
              <a:t>(a | b)</a:t>
            </a:r>
            <a:r>
              <a:rPr lang="en-US" altLang="zh-CN" sz="3600" baseline="30000" dirty="0">
                <a:solidFill>
                  <a:srgbClr val="3333CC"/>
                </a:solidFill>
              </a:rPr>
              <a:t>*</a:t>
            </a:r>
            <a:r>
              <a:rPr lang="en-US" altLang="zh-CN" sz="3600" dirty="0">
                <a:solidFill>
                  <a:srgbClr val="3333CC"/>
                </a:solidFill>
              </a:rPr>
              <a:t> }</a:t>
            </a:r>
          </a:p>
          <a:p>
            <a:pPr marL="609600" indent="-609600" eaLnBrk="1" hangingPunct="1"/>
            <a:r>
              <a:rPr lang="zh-CN" altLang="en-US" dirty="0"/>
              <a:t>检查标识符必须在使用之前定义</a:t>
            </a:r>
          </a:p>
          <a:p>
            <a:pPr marL="609600" indent="-609600" eaLnBrk="1" hangingPunct="1"/>
            <a:r>
              <a:rPr lang="zh-CN" altLang="en-US" dirty="0"/>
              <a:t>类比语义分析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rgbClr val="3333CC"/>
                </a:solidFill>
              </a:rPr>
              <a:t>例</a:t>
            </a:r>
            <a:r>
              <a:rPr lang="en-US" altLang="zh-CN" sz="3600" dirty="0">
                <a:solidFill>
                  <a:srgbClr val="3333CC"/>
                </a:solidFill>
              </a:rPr>
              <a:t>4.12</a:t>
            </a:r>
            <a:r>
              <a:rPr lang="zh-CN" altLang="en-US" sz="3600" dirty="0">
                <a:solidFill>
                  <a:srgbClr val="3333CC"/>
                </a:solidFill>
              </a:rPr>
              <a:t>：</a:t>
            </a:r>
            <a:r>
              <a:rPr lang="en-US" altLang="zh-CN" sz="3600" dirty="0">
                <a:solidFill>
                  <a:srgbClr val="3333CC"/>
                </a:solidFill>
              </a:rPr>
              <a:t>L</a:t>
            </a:r>
            <a:r>
              <a:rPr lang="en-US" altLang="zh-CN" sz="3600" baseline="-25000" dirty="0">
                <a:solidFill>
                  <a:srgbClr val="3333CC"/>
                </a:solidFill>
              </a:rPr>
              <a:t>2 </a:t>
            </a:r>
            <a:r>
              <a:rPr lang="en-US" altLang="zh-CN" sz="3600" dirty="0">
                <a:solidFill>
                  <a:srgbClr val="3333CC"/>
                </a:solidFill>
              </a:rPr>
              <a:t>= { </a:t>
            </a:r>
            <a:r>
              <a:rPr lang="en-US" altLang="zh-CN" sz="3600" dirty="0" err="1">
                <a:solidFill>
                  <a:srgbClr val="3333CC"/>
                </a:solidFill>
              </a:rPr>
              <a:t>a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n</a:t>
            </a:r>
            <a:r>
              <a:rPr lang="en-US" altLang="zh-CN" sz="3600" dirty="0" err="1">
                <a:solidFill>
                  <a:srgbClr val="3333CC"/>
                </a:solidFill>
              </a:rPr>
              <a:t>b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m</a:t>
            </a:r>
            <a:r>
              <a:rPr lang="en-US" altLang="zh-CN" sz="3600" dirty="0" err="1">
                <a:solidFill>
                  <a:srgbClr val="3333CC"/>
                </a:solidFill>
              </a:rPr>
              <a:t>c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n</a:t>
            </a:r>
            <a:r>
              <a:rPr lang="en-US" altLang="zh-CN" sz="3600" dirty="0" err="1">
                <a:solidFill>
                  <a:srgbClr val="3333CC"/>
                </a:solidFill>
              </a:rPr>
              <a:t>d</a:t>
            </a:r>
            <a:r>
              <a:rPr lang="en-US" altLang="zh-CN" sz="3600" baseline="30000" dirty="0" err="1">
                <a:solidFill>
                  <a:srgbClr val="3333CC"/>
                </a:solidFill>
              </a:rPr>
              <a:t>m</a:t>
            </a:r>
            <a:r>
              <a:rPr lang="en-US" altLang="zh-CN" sz="3600" dirty="0">
                <a:solidFill>
                  <a:srgbClr val="3333CC"/>
                </a:solidFill>
              </a:rPr>
              <a:t> | n</a:t>
            </a:r>
            <a:r>
              <a:rPr lang="en-US" altLang="zh-CN" sz="3600" dirty="0">
                <a:solidFill>
                  <a:srgbClr val="3333CC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3600" dirty="0">
                <a:solidFill>
                  <a:srgbClr val="3333CC"/>
                </a:solidFill>
              </a:rPr>
              <a:t>1</a:t>
            </a:r>
            <a:r>
              <a:rPr lang="zh-CN" altLang="en-US" sz="3600" dirty="0">
                <a:solidFill>
                  <a:srgbClr val="3333CC"/>
                </a:solidFill>
              </a:rPr>
              <a:t>且</a:t>
            </a:r>
            <a:r>
              <a:rPr lang="en-US" altLang="zh-CN" sz="3600" dirty="0">
                <a:solidFill>
                  <a:srgbClr val="3333CC"/>
                </a:solidFill>
              </a:rPr>
              <a:t>m</a:t>
            </a:r>
            <a:r>
              <a:rPr lang="en-US" altLang="zh-CN" sz="3600" dirty="0">
                <a:solidFill>
                  <a:srgbClr val="3333CC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3600" dirty="0">
                <a:solidFill>
                  <a:srgbClr val="3333CC"/>
                </a:solidFill>
              </a:rPr>
              <a:t>1 }</a:t>
            </a:r>
          </a:p>
          <a:p>
            <a:pPr marL="609600" indent="-609600" eaLnBrk="1" hangingPunct="1"/>
            <a:r>
              <a:rPr lang="zh-CN" altLang="en-US" dirty="0"/>
              <a:t>检查函数的形参（声明）与实参（调用）的数目是否匹配</a:t>
            </a:r>
          </a:p>
          <a:p>
            <a:pPr marL="609600" indent="-609600" eaLnBrk="1" hangingPunct="1"/>
            <a:r>
              <a:rPr lang="zh-CN" altLang="en-US" dirty="0"/>
              <a:t>语法定义一般不考虑参数数目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D6B4EE9-B5AE-4F60-B168-3B8D8048B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CFG</a:t>
            </a:r>
            <a:r>
              <a:rPr lang="zh-CN" altLang="en-US"/>
              <a:t>无法描述的语言结构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35C1BE0-5A53-40CF-898F-9C4DED882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3333CC"/>
                </a:solidFill>
              </a:rPr>
              <a:t>例</a:t>
            </a:r>
            <a:r>
              <a:rPr lang="en-US" altLang="zh-CN" sz="3600">
                <a:solidFill>
                  <a:srgbClr val="3333CC"/>
                </a:solidFill>
              </a:rPr>
              <a:t>4.13</a:t>
            </a:r>
            <a:r>
              <a:rPr lang="zh-CN" altLang="en-US" sz="3600">
                <a:solidFill>
                  <a:srgbClr val="3333CC"/>
                </a:solidFill>
              </a:rPr>
              <a:t>：</a:t>
            </a:r>
            <a:r>
              <a:rPr lang="en-US" altLang="zh-CN" sz="3600">
                <a:solidFill>
                  <a:srgbClr val="3333CC"/>
                </a:solidFill>
              </a:rPr>
              <a:t>L</a:t>
            </a:r>
            <a:r>
              <a:rPr lang="en-US" altLang="zh-CN" sz="3600" baseline="-25000">
                <a:solidFill>
                  <a:srgbClr val="3333CC"/>
                </a:solidFill>
              </a:rPr>
              <a:t>3</a:t>
            </a:r>
            <a:r>
              <a:rPr lang="en-US" altLang="zh-CN" sz="3600">
                <a:solidFill>
                  <a:srgbClr val="3333CC"/>
                </a:solidFill>
              </a:rPr>
              <a:t> = { a</a:t>
            </a:r>
            <a:r>
              <a:rPr lang="en-US" altLang="zh-CN" sz="3600" baseline="30000">
                <a:solidFill>
                  <a:srgbClr val="3333CC"/>
                </a:solidFill>
              </a:rPr>
              <a:t>n</a:t>
            </a:r>
            <a:r>
              <a:rPr lang="en-US" altLang="zh-CN" sz="3600">
                <a:solidFill>
                  <a:srgbClr val="3333CC"/>
                </a:solidFill>
              </a:rPr>
              <a:t>b</a:t>
            </a:r>
            <a:r>
              <a:rPr lang="en-US" altLang="zh-CN" sz="3600" baseline="30000">
                <a:solidFill>
                  <a:srgbClr val="3333CC"/>
                </a:solidFill>
              </a:rPr>
              <a:t>n</a:t>
            </a:r>
            <a:r>
              <a:rPr lang="en-US" altLang="zh-CN" sz="3600">
                <a:solidFill>
                  <a:srgbClr val="3333CC"/>
                </a:solidFill>
              </a:rPr>
              <a:t>c</a:t>
            </a:r>
            <a:r>
              <a:rPr lang="en-US" altLang="zh-CN" sz="3600" baseline="30000">
                <a:solidFill>
                  <a:srgbClr val="3333CC"/>
                </a:solidFill>
              </a:rPr>
              <a:t>n</a:t>
            </a:r>
            <a:r>
              <a:rPr lang="en-US" altLang="zh-CN" sz="3600">
                <a:solidFill>
                  <a:srgbClr val="3333CC"/>
                </a:solidFill>
              </a:rPr>
              <a:t> | n≥0 }</a:t>
            </a:r>
          </a:p>
          <a:p>
            <a:pPr marL="609600" indent="-609600" eaLnBrk="1" hangingPunct="1"/>
            <a:r>
              <a:rPr lang="zh-CN" altLang="en-US"/>
              <a:t>排版软件，文本加下划线：</a:t>
            </a:r>
            <a:r>
              <a:rPr lang="en-US" altLang="zh-CN"/>
              <a:t>n</a:t>
            </a:r>
            <a:r>
              <a:rPr lang="zh-CN" altLang="en-US"/>
              <a:t>个字符，</a:t>
            </a:r>
            <a:r>
              <a:rPr lang="en-US" altLang="zh-CN"/>
              <a:t>n</a:t>
            </a:r>
            <a:r>
              <a:rPr lang="zh-CN" altLang="en-US"/>
              <a:t>个退格，</a:t>
            </a:r>
            <a:r>
              <a:rPr lang="en-US" altLang="zh-CN"/>
              <a:t>n</a:t>
            </a:r>
            <a:r>
              <a:rPr lang="zh-CN" altLang="en-US"/>
              <a:t>个下划线</a:t>
            </a:r>
          </a:p>
          <a:p>
            <a:pPr marL="609600" indent="-609600" eaLnBrk="1" hangingPunct="1"/>
            <a:r>
              <a:rPr lang="zh-CN" altLang="en-US"/>
              <a:t>另一种方式：字符－退格－下划线三元组序列，</a:t>
            </a:r>
            <a:r>
              <a:rPr lang="en-US" altLang="zh-CN"/>
              <a:t>(abc)</a:t>
            </a:r>
            <a:r>
              <a:rPr lang="en-US" altLang="zh-CN" baseline="30000"/>
              <a:t>*</a:t>
            </a:r>
            <a:endParaRPr lang="en-US" altLang="zh-C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76FA564-4C23-4505-B138-BB04C3C80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类似语言可用</a:t>
            </a:r>
            <a:r>
              <a:rPr lang="en-US" altLang="zh-CN"/>
              <a:t>CFG</a:t>
            </a:r>
            <a:r>
              <a:rPr lang="zh-CN" altLang="en-US"/>
              <a:t>描述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ABF55B66-7150-424B-BF93-DC0770FD2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marL="609600" indent="-609600" eaLnBrk="1" hangingPunct="1">
              <a:spcBef>
                <a:spcPct val="30000"/>
              </a:spcBef>
            </a:pPr>
            <a:r>
              <a:rPr lang="en-US" altLang="zh-CN"/>
              <a:t>L</a:t>
            </a:r>
            <a:r>
              <a:rPr lang="en-US" altLang="zh-CN" baseline="-25000"/>
              <a:t>1</a:t>
            </a:r>
            <a:r>
              <a:rPr lang="en-US" altLang="zh-CN"/>
              <a:t>’={ wcw</a:t>
            </a:r>
            <a:r>
              <a:rPr lang="en-US" altLang="zh-CN" baseline="30000"/>
              <a:t>R</a:t>
            </a:r>
            <a:r>
              <a:rPr lang="en-US" altLang="zh-CN"/>
              <a:t> | w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/>
              <a:t>(a | b)</a:t>
            </a:r>
            <a:r>
              <a:rPr lang="en-US" altLang="zh-CN" baseline="30000"/>
              <a:t>*</a:t>
            </a:r>
            <a:r>
              <a:rPr lang="zh-CN" altLang="en-US"/>
              <a:t>，</a:t>
            </a:r>
            <a:r>
              <a:rPr lang="en-US" altLang="zh-CN"/>
              <a:t>w</a:t>
            </a:r>
            <a:r>
              <a:rPr lang="en-US" altLang="zh-CN" baseline="30000"/>
              <a:t>R</a:t>
            </a:r>
            <a:r>
              <a:rPr lang="zh-CN" altLang="en-US"/>
              <a:t>为</a:t>
            </a:r>
            <a:r>
              <a:rPr lang="en-US" altLang="zh-CN"/>
              <a:t>w</a:t>
            </a:r>
            <a:r>
              <a:rPr lang="zh-CN" altLang="en-US"/>
              <a:t>的反转</a:t>
            </a:r>
            <a:r>
              <a:rPr lang="en-US" altLang="zh-CN"/>
              <a:t>}</a:t>
            </a:r>
            <a:br>
              <a:rPr lang="en-US" altLang="zh-CN"/>
            </a:br>
            <a:r>
              <a:rPr kumimoji="0" lang="en-US" altLang="zh-CN">
                <a:sym typeface="Symbol" panose="05050102010706020507" pitchFamily="18" charset="2"/>
              </a:rPr>
              <a:t>S  aSa | bSb | c</a:t>
            </a:r>
          </a:p>
          <a:p>
            <a:pPr marL="609600" indent="-609600" eaLnBrk="1" hangingPunct="1">
              <a:spcBef>
                <a:spcPct val="30000"/>
              </a:spcBef>
            </a:pPr>
            <a:r>
              <a:rPr lang="en-US" altLang="zh-CN"/>
              <a:t>L</a:t>
            </a:r>
            <a:r>
              <a:rPr lang="en-US" altLang="zh-CN" baseline="-25000"/>
              <a:t>2 </a:t>
            </a:r>
            <a:r>
              <a:rPr lang="en-US" altLang="zh-CN"/>
              <a:t>’= { a</a:t>
            </a:r>
            <a:r>
              <a:rPr lang="en-US" altLang="zh-CN" baseline="30000"/>
              <a:t>n</a:t>
            </a:r>
            <a:r>
              <a:rPr lang="en-US" altLang="zh-CN"/>
              <a:t>b</a:t>
            </a:r>
            <a:r>
              <a:rPr lang="en-US" altLang="zh-CN" baseline="30000"/>
              <a:t>m</a:t>
            </a:r>
            <a:r>
              <a:rPr lang="en-US" altLang="zh-CN"/>
              <a:t>c</a:t>
            </a:r>
            <a:r>
              <a:rPr lang="en-US" altLang="zh-CN" baseline="30000"/>
              <a:t>m</a:t>
            </a:r>
            <a:r>
              <a:rPr lang="en-US" altLang="zh-CN"/>
              <a:t>d</a:t>
            </a:r>
            <a:r>
              <a:rPr lang="en-US" altLang="zh-CN" baseline="30000"/>
              <a:t>n</a:t>
            </a:r>
            <a:r>
              <a:rPr lang="en-US" altLang="zh-CN"/>
              <a:t> | n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</a:t>
            </a:r>
            <a:r>
              <a:rPr lang="zh-CN" altLang="en-US"/>
              <a:t>且</a:t>
            </a:r>
            <a:r>
              <a:rPr lang="en-US" altLang="zh-CN"/>
              <a:t>m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 }</a:t>
            </a:r>
            <a:br>
              <a:rPr lang="en-US" altLang="zh-CN"/>
            </a:br>
            <a:r>
              <a:rPr kumimoji="0" lang="en-US" altLang="zh-CN">
                <a:sym typeface="Symbol" panose="05050102010706020507" pitchFamily="18" charset="2"/>
              </a:rPr>
              <a:t>S  aSd | aAd	 A  bAc | bc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lang="en-US" altLang="zh-CN"/>
              <a:t>L</a:t>
            </a:r>
            <a:r>
              <a:rPr lang="en-US" altLang="zh-CN" baseline="-25000"/>
              <a:t>2 </a:t>
            </a:r>
            <a:r>
              <a:rPr lang="en-US" altLang="zh-CN"/>
              <a:t>’’= { a</a:t>
            </a:r>
            <a:r>
              <a:rPr lang="en-US" altLang="zh-CN" baseline="30000"/>
              <a:t>n</a:t>
            </a:r>
            <a:r>
              <a:rPr lang="en-US" altLang="zh-CN"/>
              <a:t>b</a:t>
            </a:r>
            <a:r>
              <a:rPr lang="en-US" altLang="zh-CN" baseline="30000"/>
              <a:t>n</a:t>
            </a:r>
            <a:r>
              <a:rPr lang="en-US" altLang="zh-CN"/>
              <a:t>c</a:t>
            </a:r>
            <a:r>
              <a:rPr lang="en-US" altLang="zh-CN" baseline="30000"/>
              <a:t>m</a:t>
            </a:r>
            <a:r>
              <a:rPr lang="en-US" altLang="zh-CN"/>
              <a:t>d</a:t>
            </a:r>
            <a:r>
              <a:rPr lang="en-US" altLang="zh-CN" baseline="30000"/>
              <a:t>m</a:t>
            </a:r>
            <a:r>
              <a:rPr lang="en-US" altLang="zh-CN"/>
              <a:t> | n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</a:t>
            </a:r>
            <a:r>
              <a:rPr lang="zh-CN" altLang="en-US"/>
              <a:t>且</a:t>
            </a:r>
            <a:r>
              <a:rPr lang="en-US" altLang="zh-CN"/>
              <a:t>m</a:t>
            </a:r>
            <a:r>
              <a:rPr lang="en-US" altLang="zh-CN">
                <a:latin typeface="宋体" panose="02010600030101010101" pitchFamily="2" charset="-122"/>
              </a:rPr>
              <a:t>≥</a:t>
            </a:r>
            <a:r>
              <a:rPr lang="en-US" altLang="zh-CN"/>
              <a:t>1 }</a:t>
            </a:r>
            <a:br>
              <a:rPr lang="en-US" altLang="zh-CN"/>
            </a:br>
            <a:r>
              <a:rPr kumimoji="0" lang="en-US" altLang="zh-CN">
                <a:sym typeface="Symbol" panose="05050102010706020507" pitchFamily="18" charset="2"/>
              </a:rPr>
              <a:t>S  AB     A  aAb | ab     B  cBd | cd</a:t>
            </a:r>
          </a:p>
          <a:p>
            <a:pPr marL="609600" indent="-609600" eaLnBrk="1" hangingPunct="1">
              <a:spcBef>
                <a:spcPct val="30000"/>
              </a:spcBef>
            </a:pPr>
            <a:r>
              <a:rPr lang="en-US" altLang="zh-CN"/>
              <a:t>L</a:t>
            </a:r>
            <a:r>
              <a:rPr lang="en-US" altLang="zh-CN" baseline="-25000"/>
              <a:t>3</a:t>
            </a:r>
            <a:r>
              <a:rPr lang="en-US" altLang="zh-CN"/>
              <a:t>’ = { a</a:t>
            </a:r>
            <a:r>
              <a:rPr lang="en-US" altLang="zh-CN" baseline="30000"/>
              <a:t>n</a:t>
            </a:r>
            <a:r>
              <a:rPr lang="en-US" altLang="zh-CN"/>
              <a:t>b</a:t>
            </a:r>
            <a:r>
              <a:rPr lang="en-US" altLang="zh-CN" baseline="30000"/>
              <a:t>n</a:t>
            </a:r>
            <a:r>
              <a:rPr lang="en-US" altLang="zh-CN"/>
              <a:t> | n≥1}</a:t>
            </a:r>
            <a:br>
              <a:rPr lang="en-US" altLang="zh-CN"/>
            </a:br>
            <a:r>
              <a:rPr lang="en-US" altLang="zh-CN"/>
              <a:t>S </a:t>
            </a:r>
            <a:r>
              <a:rPr kumimoji="0" lang="en-US" altLang="zh-CN">
                <a:sym typeface="Symbol" panose="05050102010706020507" pitchFamily="18" charset="2"/>
              </a:rPr>
              <a:t> aSb | ab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833FF52-FD42-4903-B364-699AE5F9F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L</a:t>
            </a:r>
            <a:r>
              <a:rPr lang="en-US" altLang="zh-CN" sz="4800" baseline="-25000"/>
              <a:t>3</a:t>
            </a:r>
            <a:r>
              <a:rPr lang="en-US" altLang="zh-CN" sz="4800"/>
              <a:t>’</a:t>
            </a:r>
            <a:r>
              <a:rPr lang="zh-CN" altLang="en-US" sz="4800"/>
              <a:t>用</a:t>
            </a:r>
            <a:r>
              <a:rPr kumimoji="0" lang="zh-CN" altLang="en-US" sz="4800"/>
              <a:t>正规式无法描述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3D0DB38-5D11-472D-A218-1961A0D37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chemeClr val="folHlink"/>
                </a:solidFill>
              </a:rPr>
              <a:t>假定存在</a:t>
            </a:r>
            <a:r>
              <a:rPr kumimoji="0" lang="en-US" altLang="zh-CN" sz="2800">
                <a:solidFill>
                  <a:schemeClr val="folHlink"/>
                </a:solidFill>
              </a:rPr>
              <a:t>DFA D</a:t>
            </a:r>
            <a:r>
              <a:rPr kumimoji="0" lang="zh-CN" altLang="en-US" sz="2800">
                <a:solidFill>
                  <a:schemeClr val="folHlink"/>
                </a:solidFill>
              </a:rPr>
              <a:t>接受</a:t>
            </a:r>
            <a:r>
              <a:rPr kumimoji="0" lang="en-US" altLang="zh-CN" sz="2800">
                <a:solidFill>
                  <a:schemeClr val="folHlink"/>
                </a:solidFill>
              </a:rPr>
              <a:t>L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3</a:t>
            </a:r>
            <a:r>
              <a:rPr kumimoji="0" lang="en-US" altLang="zh-CN" sz="2800">
                <a:solidFill>
                  <a:schemeClr val="folHlink"/>
                </a:solidFill>
              </a:rPr>
              <a:t>’</a:t>
            </a:r>
            <a:r>
              <a:rPr kumimoji="0" lang="zh-CN" altLang="en-US" sz="2800">
                <a:solidFill>
                  <a:schemeClr val="folHlink"/>
                </a:solidFill>
              </a:rPr>
              <a:t>，其状态数为</a:t>
            </a:r>
            <a:r>
              <a:rPr kumimoji="0" lang="en-US" altLang="zh-CN" sz="2800">
                <a:solidFill>
                  <a:schemeClr val="folHlink"/>
                </a:solidFill>
              </a:rPr>
              <a:t>k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chemeClr val="folHlink"/>
                </a:solidFill>
              </a:rPr>
              <a:t>设状态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0</a:t>
            </a:r>
            <a:r>
              <a:rPr kumimoji="0" lang="en-US" altLang="zh-CN" sz="2800">
                <a:solidFill>
                  <a:schemeClr val="folHlink"/>
                </a:solidFill>
              </a:rPr>
              <a:t>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1</a:t>
            </a:r>
            <a:r>
              <a:rPr kumimoji="0" lang="en-US" altLang="zh-CN" sz="2800">
                <a:solidFill>
                  <a:schemeClr val="folHlink"/>
                </a:solidFill>
              </a:rPr>
              <a:t>, …,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</a:rPr>
              <a:t>为读入</a:t>
            </a:r>
            <a:r>
              <a:rPr kumimoji="0" lang="en-US" altLang="zh-CN" sz="280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, a, aa, …, a</a:t>
            </a:r>
            <a:r>
              <a:rPr kumimoji="0" lang="en-US" altLang="zh-CN" sz="2800" baseline="30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后的状态</a:t>
            </a:r>
            <a:r>
              <a:rPr kumimoji="0"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  <a:sym typeface="Symbol" panose="05050102010706020507" pitchFamily="18" charset="2"/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为读入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个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达到的状态（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0</a:t>
            </a:r>
            <a:r>
              <a:rPr kumimoji="0" lang="en-US" altLang="zh-CN" sz="280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≤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≤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）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总状态数</a:t>
            </a:r>
            <a:r>
              <a:rPr kumimoji="0"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0</a:t>
            </a:r>
            <a:r>
              <a:rPr kumimoji="0" lang="en-US" altLang="zh-CN" sz="2800">
                <a:solidFill>
                  <a:schemeClr val="folHlink"/>
                </a:solidFill>
              </a:rPr>
              <a:t>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1</a:t>
            </a:r>
            <a:r>
              <a:rPr kumimoji="0" lang="en-US" altLang="zh-CN" sz="2800">
                <a:solidFill>
                  <a:schemeClr val="folHlink"/>
                </a:solidFill>
              </a:rPr>
              <a:t>, …, 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k</a:t>
            </a:r>
            <a:r>
              <a:rPr kumimoji="0" lang="zh-CN" altLang="en-US" sz="2800">
                <a:solidFill>
                  <a:schemeClr val="folHlink"/>
                </a:solidFill>
              </a:rPr>
              <a:t>中至少有两个相同状态，不妨设为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、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j</a:t>
            </a:r>
            <a:r>
              <a:rPr kumimoji="0" lang="zh-CN" altLang="en-US" sz="2800">
                <a:solidFill>
                  <a:schemeClr val="folHlink"/>
                </a:solidFill>
              </a:rPr>
              <a:t>，</a:t>
            </a:r>
            <a:r>
              <a:rPr kumimoji="0" lang="en-US" altLang="zh-CN" sz="2800">
                <a:solidFill>
                  <a:schemeClr val="folHlink"/>
                </a:solidFill>
              </a:rPr>
              <a:t>i &lt; j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9628BCA-41E2-465E-A6CE-4E4787F55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L</a:t>
            </a:r>
            <a:r>
              <a:rPr lang="en-US" altLang="zh-CN" sz="4800" baseline="-25000"/>
              <a:t>3</a:t>
            </a:r>
            <a:r>
              <a:rPr lang="en-US" altLang="zh-CN" sz="4800"/>
              <a:t>’</a:t>
            </a:r>
            <a:r>
              <a:rPr lang="zh-CN" altLang="en-US" sz="4800"/>
              <a:t>用</a:t>
            </a:r>
            <a:r>
              <a:rPr kumimoji="0" lang="zh-CN" altLang="en-US" sz="4800"/>
              <a:t>正规式无法描述</a:t>
            </a:r>
            <a:r>
              <a:rPr lang="zh-CN" altLang="en-US"/>
              <a:t>（续）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EA33E4D-5BEC-482F-A090-7CCC2D1E2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chemeClr val="folHlink"/>
                </a:solidFill>
              </a:rPr>
              <a:t>a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en-US" altLang="zh-CN" sz="2800">
                <a:solidFill>
                  <a:schemeClr val="folHlink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800">
                <a:solidFill>
                  <a:schemeClr val="folHlink"/>
                </a:solidFill>
              </a:rPr>
              <a:t>L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3</a:t>
            </a:r>
            <a:r>
              <a:rPr kumimoji="0" lang="en-US" altLang="zh-CN" sz="2800">
                <a:solidFill>
                  <a:schemeClr val="folHlink"/>
                </a:solidFill>
              </a:rPr>
              <a:t>’</a:t>
            </a:r>
            <a:r>
              <a:rPr kumimoji="0" lang="en-US" altLang="zh-CN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（</a:t>
            </a:r>
            <a:r>
              <a:rPr kumimoji="0" lang="en-US" altLang="zh-CN" sz="2800">
                <a:solidFill>
                  <a:schemeClr val="folHlink"/>
                </a:solidFill>
              </a:rPr>
              <a:t>s</a:t>
            </a:r>
            <a:r>
              <a:rPr kumimoji="0" lang="en-US" altLang="zh-CN" sz="2800" baseline="-25000">
                <a:solidFill>
                  <a:schemeClr val="folHlink"/>
                </a:solidFill>
              </a:rPr>
              <a:t>j</a:t>
            </a:r>
            <a:r>
              <a:rPr kumimoji="0" lang="zh-CN" altLang="en-US" sz="2800">
                <a:solidFill>
                  <a:schemeClr val="folHlink"/>
                </a:solidFill>
              </a:rPr>
              <a:t>）到终态路径标记为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zh-CN" altLang="en-US" sz="2800">
                <a:solidFill>
                  <a:schemeClr val="folHlink"/>
                </a:solidFill>
              </a:rPr>
              <a:t>初态</a:t>
            </a:r>
            <a:r>
              <a:rPr kumimoji="0"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kumimoji="0" lang="zh-CN" altLang="en-US" sz="2800">
                <a:solidFill>
                  <a:schemeClr val="folHlink"/>
                </a:solidFill>
              </a:rPr>
              <a:t>终态还有标为</a:t>
            </a:r>
            <a:r>
              <a:rPr kumimoji="0" lang="en-US" altLang="zh-CN" sz="2800">
                <a:solidFill>
                  <a:schemeClr val="folHlink"/>
                </a:solidFill>
              </a:rPr>
              <a:t>a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j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的路径</a:t>
            </a:r>
            <a:r>
              <a:rPr kumimoji="0"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</a:t>
            </a:r>
            <a:r>
              <a:rPr kumimoji="0" lang="en-US" altLang="zh-CN" sz="2800">
                <a:solidFill>
                  <a:schemeClr val="folHlink"/>
                </a:solidFill>
              </a:rPr>
              <a:t>D</a:t>
            </a:r>
            <a:r>
              <a:rPr kumimoji="0" lang="zh-CN" altLang="en-US" sz="2800">
                <a:solidFill>
                  <a:schemeClr val="folHlink"/>
                </a:solidFill>
              </a:rPr>
              <a:t>接受</a:t>
            </a:r>
            <a:r>
              <a:rPr kumimoji="0" lang="en-US" altLang="zh-CN" sz="2800">
                <a:solidFill>
                  <a:schemeClr val="folHlink"/>
                </a:solidFill>
              </a:rPr>
              <a:t>a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j</a:t>
            </a:r>
            <a:r>
              <a:rPr kumimoji="0" lang="en-US" altLang="zh-CN" sz="2800">
                <a:solidFill>
                  <a:schemeClr val="folHlink"/>
                </a:solidFill>
              </a:rPr>
              <a:t>b</a:t>
            </a:r>
            <a:r>
              <a:rPr kumimoji="0" lang="en-US" altLang="zh-CN" sz="2800" baseline="30000">
                <a:solidFill>
                  <a:schemeClr val="folHlink"/>
                </a:solidFill>
              </a:rPr>
              <a:t>i</a:t>
            </a:r>
            <a:r>
              <a:rPr kumimoji="0" lang="zh-CN" altLang="en-US" sz="2800">
                <a:solidFill>
                  <a:schemeClr val="folHlink"/>
                </a:solidFill>
              </a:rPr>
              <a:t>，</a:t>
            </a:r>
            <a:r>
              <a:rPr kumimoji="0" lang="zh-CN" altLang="en-US" sz="2800">
                <a:solidFill>
                  <a:srgbClr val="FF3300"/>
                </a:solidFill>
              </a:rPr>
              <a:t>矛盾！</a:t>
            </a:r>
          </a:p>
        </p:txBody>
      </p:sp>
      <p:pic>
        <p:nvPicPr>
          <p:cNvPr id="69636" name="Picture 5" descr="notdfa">
            <a:extLst>
              <a:ext uri="{FF2B5EF4-FFF2-40B4-BE49-F238E27FC236}">
                <a16:creationId xmlns:a16="http://schemas.microsoft.com/office/drawing/2014/main" id="{E79A9B10-1F92-44E5-BD4A-D6159AD0E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2844800"/>
            <a:ext cx="79216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73FC3655-220D-4A94-A751-2742C0145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4.9  Yacc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D322D93E-99E9-41DF-BB74-228397F27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#include</a:t>
            </a:r>
            <a:r>
              <a:rPr lang="en-US" altLang="zh-CN" sz="2400" dirty="0"/>
              <a:t> &lt;</a:t>
            </a:r>
            <a:r>
              <a:rPr lang="en-US" altLang="zh-CN" sz="2400" dirty="0" err="1"/>
              <a:t>ctype.h</a:t>
            </a:r>
            <a:r>
              <a:rPr lang="en-US" altLang="zh-CN" sz="2400" dirty="0"/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#include</a:t>
            </a:r>
            <a:r>
              <a:rPr lang="en-US" altLang="zh-CN" sz="2400" dirty="0"/>
              <a:t>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#include</a:t>
            </a:r>
            <a:r>
              <a:rPr lang="en-US" altLang="zh-CN" sz="2400" dirty="0"/>
              <a:t> "</a:t>
            </a:r>
            <a:r>
              <a:rPr lang="en-US" altLang="zh-CN" sz="2400" dirty="0" err="1"/>
              <a:t>expr_lexer.h</a:t>
            </a:r>
            <a:r>
              <a:rPr lang="en-US" altLang="zh-CN" sz="2400" dirty="0"/>
              <a:t>"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include</a:t>
            </a:r>
            <a:r>
              <a:rPr lang="en-US" altLang="zh-CN" sz="2400" dirty="0"/>
              <a:t> {	</a:t>
            </a:r>
            <a:r>
              <a:rPr lang="en-US" altLang="zh-CN" sz="2400" dirty="0">
                <a:solidFill>
                  <a:srgbClr val="3333CC"/>
                </a:solidFill>
              </a:rPr>
              <a:t>//</a:t>
            </a:r>
            <a:r>
              <a:rPr lang="zh-CN" altLang="en-US" sz="2400" dirty="0">
                <a:solidFill>
                  <a:srgbClr val="3333CC"/>
                </a:solidFill>
              </a:rPr>
              <a:t>将代码加入生成的头文件中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</a:t>
            </a:r>
            <a:r>
              <a:rPr lang="en-US" altLang="zh-CN" sz="2400" dirty="0" err="1">
                <a:solidFill>
                  <a:srgbClr val="3333CC"/>
                </a:solidFill>
              </a:rPr>
              <a:t>ifndef</a:t>
            </a:r>
            <a:r>
              <a:rPr lang="en-US" altLang="zh-CN" sz="2400" dirty="0"/>
              <a:t> YYSTYPE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#define</a:t>
            </a:r>
            <a:r>
              <a:rPr lang="en-US" altLang="zh-CN" sz="2400" dirty="0"/>
              <a:t> YYSTYPE </a:t>
            </a:r>
            <a:r>
              <a:rPr lang="en-US" altLang="zh-CN" sz="2400" dirty="0">
                <a:solidFill>
                  <a:srgbClr val="3333CC"/>
                </a:solidFill>
              </a:rPr>
              <a:t>double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#endif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DA23430B-3EEB-4D9C-A70C-6F901EA91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程序（续）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2142DA28-4778-451E-A0CA-6A6073790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token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NUMBER</a:t>
            </a: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3333CC"/>
                </a:solidFill>
              </a:rPr>
              <a:t>//</a:t>
            </a:r>
            <a:r>
              <a:rPr lang="zh-CN" altLang="en-US" sz="2400" dirty="0">
                <a:solidFill>
                  <a:srgbClr val="3333CC"/>
                </a:solidFill>
              </a:rPr>
              <a:t>定义单词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left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'+'</a:t>
            </a:r>
            <a:r>
              <a:rPr lang="zh-CN" altLang="en-US" sz="2400" dirty="0">
                <a:solidFill>
                  <a:srgbClr val="3333CC"/>
                </a:solidFill>
              </a:rPr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'-'</a:t>
            </a:r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rgbClr val="3333CC"/>
                </a:solidFill>
              </a:rPr>
              <a:t>//</a:t>
            </a:r>
            <a:r>
              <a:rPr lang="zh-CN" altLang="en-US" sz="2400" dirty="0">
                <a:solidFill>
                  <a:srgbClr val="3333CC"/>
                </a:solidFill>
              </a:rPr>
              <a:t>定义优先级（由低到高）、结合率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left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'*'</a:t>
            </a:r>
            <a:r>
              <a:rPr lang="zh-CN" altLang="en-US" sz="2400" dirty="0">
                <a:solidFill>
                  <a:srgbClr val="3333CC"/>
                </a:solidFill>
              </a:rPr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'/'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</a:t>
            </a:r>
            <a:r>
              <a:rPr lang="en-US" altLang="zh-CN" sz="2400" dirty="0">
                <a:solidFill>
                  <a:srgbClr val="FF3300"/>
                </a:solidFill>
              </a:rPr>
              <a:t>right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3333CC"/>
                </a:solidFill>
              </a:rPr>
              <a:t>UMINUS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%%			//</a:t>
            </a:r>
            <a:r>
              <a:rPr lang="zh-CN" altLang="en-US" sz="2400" dirty="0"/>
              <a:t>定义段结束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lines</a:t>
            </a:r>
            <a:r>
              <a:rPr lang="en-US" altLang="zh-CN" sz="2400" dirty="0"/>
              <a:t>	:	</a:t>
            </a:r>
            <a:r>
              <a:rPr lang="en-US" altLang="zh-CN" sz="2400" dirty="0">
                <a:solidFill>
                  <a:srgbClr val="3333CC"/>
                </a:solidFill>
              </a:rPr>
              <a:t>lines expr '\n'</a:t>
            </a:r>
            <a:r>
              <a:rPr lang="en-US" altLang="zh-CN" sz="2400" dirty="0"/>
              <a:t>	{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("%g\n", </a:t>
            </a:r>
            <a:r>
              <a:rPr lang="en-US" altLang="zh-CN" sz="2400" dirty="0">
                <a:solidFill>
                  <a:srgbClr val="3333CC"/>
                </a:solidFill>
              </a:rPr>
              <a:t>$2</a:t>
            </a:r>
            <a:r>
              <a:rPr lang="en-US" altLang="zh-CN" sz="2400" dirty="0"/>
              <a:t>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|	</a:t>
            </a:r>
            <a:r>
              <a:rPr lang="en-US" altLang="zh-CN" sz="2400" dirty="0">
                <a:solidFill>
                  <a:srgbClr val="3333CC"/>
                </a:solidFill>
              </a:rPr>
              <a:t>lines '\n'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|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6FAFBED8-40A3-463C-A30A-2B550320D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程序（续）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CD281CD3-0419-404D-B7BE-AADD9808A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expr</a:t>
            </a:r>
            <a:r>
              <a:rPr lang="en-US" altLang="zh-CN" sz="2400"/>
              <a:t>	:	</a:t>
            </a:r>
            <a:r>
              <a:rPr lang="en-US" altLang="zh-CN" sz="2400">
                <a:solidFill>
                  <a:srgbClr val="3333CC"/>
                </a:solidFill>
              </a:rPr>
              <a:t>expr '+' expr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+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expr '-' expr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-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expr '*' expr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*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expr '/' expr</a:t>
            </a:r>
            <a:r>
              <a:rPr lang="en-US" altLang="zh-CN" sz="2400"/>
              <a:t>	{</a:t>
            </a:r>
            <a:r>
              <a:rPr lang="en-US" altLang="zh-CN" sz="2400">
                <a:solidFill>
                  <a:srgbClr val="FF3300"/>
                </a:solidFill>
              </a:rPr>
              <a:t> 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$1</a:t>
            </a:r>
            <a:r>
              <a:rPr lang="en-US" altLang="zh-CN" sz="2400"/>
              <a:t> / </a:t>
            </a:r>
            <a:r>
              <a:rPr lang="en-US" altLang="zh-CN" sz="2400">
                <a:solidFill>
                  <a:srgbClr val="FF3300"/>
                </a:solidFill>
              </a:rPr>
              <a:t>$3</a:t>
            </a:r>
            <a:r>
              <a:rPr lang="en-US" altLang="zh-CN" sz="24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'(' expr ')'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</a:t>
            </a:r>
            <a:r>
              <a:rPr lang="en-US" altLang="zh-CN" sz="2400">
                <a:solidFill>
                  <a:srgbClr val="FF3300"/>
                </a:solidFill>
              </a:rPr>
              <a:t>$2</a:t>
            </a:r>
            <a:r>
              <a:rPr lang="en-US" altLang="zh-CN" sz="24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'-' expr </a:t>
            </a:r>
            <a:r>
              <a:rPr lang="en-US" altLang="zh-CN" sz="2400">
                <a:solidFill>
                  <a:srgbClr val="FF3300"/>
                </a:solidFill>
              </a:rPr>
              <a:t>%prec</a:t>
            </a:r>
            <a:r>
              <a:rPr lang="en-US" altLang="zh-CN" sz="2400">
                <a:solidFill>
                  <a:srgbClr val="3333CC"/>
                </a:solidFill>
              </a:rPr>
              <a:t> UMINUS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FF3300"/>
                </a:solidFill>
              </a:rPr>
              <a:t>$$</a:t>
            </a:r>
            <a:r>
              <a:rPr lang="en-US" altLang="zh-CN" sz="2400"/>
              <a:t> = -</a:t>
            </a:r>
            <a:r>
              <a:rPr lang="en-US" altLang="zh-CN" sz="2400">
                <a:solidFill>
                  <a:srgbClr val="FF3300"/>
                </a:solidFill>
              </a:rPr>
              <a:t>$2</a:t>
            </a:r>
            <a:r>
              <a:rPr lang="en-US" altLang="zh-CN" sz="24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|	</a:t>
            </a:r>
            <a:r>
              <a:rPr lang="en-US" altLang="zh-CN" sz="2400">
                <a:solidFill>
                  <a:srgbClr val="3333CC"/>
                </a:solidFill>
              </a:rPr>
              <a:t>NUMBER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%%		</a:t>
            </a: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规则段结束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DE72B98C-E75E-46E7-A203-4B6FFF43E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程序（续）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BE671DBC-594B-45DB-B75D-1FBC81C96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程序段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int</a:t>
            </a:r>
            <a:r>
              <a:rPr lang="en-US" altLang="zh-CN" sz="2400"/>
              <a:t> main(</a:t>
            </a:r>
            <a:r>
              <a:rPr lang="en-US" altLang="zh-CN" sz="2400">
                <a:solidFill>
                  <a:srgbClr val="3333CC"/>
                </a:solidFill>
              </a:rPr>
              <a:t>void</a:t>
            </a:r>
            <a:r>
              <a:rPr lang="en-US" altLang="zh-CN" sz="240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solidFill>
                  <a:srgbClr val="3333CC"/>
                </a:solidFill>
              </a:rPr>
              <a:t>return</a:t>
            </a:r>
            <a:r>
              <a:rPr lang="en-US" altLang="zh-CN" sz="2400"/>
              <a:t> yyparse();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54818421-3516-457B-99FC-FA0606639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程序（续）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4568BCF0-8464-49EA-8AF0-1AB77393D8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#include</a:t>
            </a:r>
            <a:r>
              <a:rPr lang="en-US" altLang="zh-CN" sz="2400"/>
              <a:t> "expr_parser.h"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extern</a:t>
            </a:r>
            <a:r>
              <a:rPr lang="en-US" altLang="zh-CN" sz="2400"/>
              <a:t> YYSTYPE	yylval;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number	</a:t>
            </a:r>
            <a:r>
              <a:rPr lang="en-US" altLang="zh-CN" sz="2400">
                <a:solidFill>
                  <a:srgbClr val="3333CC"/>
                </a:solidFill>
              </a:rPr>
              <a:t>[0-9]+\.?|[0-9]*\.[0-9]+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%%		</a:t>
            </a: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定义段结束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[ \t]</a:t>
            </a:r>
            <a:r>
              <a:rPr lang="en-US" altLang="zh-CN" sz="2400"/>
              <a:t>	{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{number}   { sscanf(yytext, "%lf", &amp;yylval); </a:t>
            </a:r>
            <a:r>
              <a:rPr lang="en-US" altLang="zh-CN" sz="2400">
                <a:solidFill>
                  <a:srgbClr val="3333CC"/>
                </a:solidFill>
              </a:rPr>
              <a:t>return</a:t>
            </a:r>
            <a:r>
              <a:rPr lang="en-US" altLang="zh-CN" sz="2400"/>
              <a:t> NUMBER;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</a:rPr>
              <a:t>\n</a:t>
            </a:r>
            <a:r>
              <a:rPr lang="en-US" altLang="zh-CN" sz="2400"/>
              <a:t> | </a:t>
            </a:r>
            <a:r>
              <a:rPr lang="en-US" altLang="zh-CN" sz="2400">
                <a:solidFill>
                  <a:srgbClr val="3333CC"/>
                </a:solidFill>
              </a:rPr>
              <a:t>.</a:t>
            </a:r>
            <a:r>
              <a:rPr lang="en-US" altLang="zh-CN" sz="2400"/>
              <a:t>	{ </a:t>
            </a:r>
            <a:r>
              <a:rPr lang="en-US" altLang="zh-CN" sz="2400">
                <a:solidFill>
                  <a:srgbClr val="3333CC"/>
                </a:solidFill>
              </a:rPr>
              <a:t>return</a:t>
            </a:r>
            <a:r>
              <a:rPr lang="en-US" altLang="zh-CN" sz="2400"/>
              <a:t> yytext[0];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%%		</a:t>
            </a:r>
            <a:r>
              <a:rPr lang="en-US" altLang="zh-CN" sz="2400">
                <a:solidFill>
                  <a:srgbClr val="3333CC"/>
                </a:solidFill>
              </a:rPr>
              <a:t>//</a:t>
            </a:r>
            <a:r>
              <a:rPr lang="zh-CN" altLang="en-US" sz="2400">
                <a:solidFill>
                  <a:srgbClr val="3333CC"/>
                </a:solidFill>
              </a:rPr>
              <a:t>规则段结束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C5E26CE8-7DA6-4207-AF3C-46FEE86A4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4.9.4  </a:t>
            </a:r>
            <a:r>
              <a:rPr lang="en-US" altLang="zh-CN" dirty="0" err="1"/>
              <a:t>Yacc</a:t>
            </a:r>
            <a:r>
              <a:rPr lang="zh-CN" altLang="en-US" dirty="0"/>
              <a:t>的错误恢复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B91D0356-07B0-4FAA-A279-60140022F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程序员决定哪些</a:t>
            </a:r>
            <a:r>
              <a:rPr lang="en-US" altLang="zh-CN"/>
              <a:t>NT A</a:t>
            </a:r>
            <a:r>
              <a:rPr lang="zh-CN" altLang="en-US"/>
              <a:t>可能会产生错误</a:t>
            </a:r>
          </a:p>
          <a:p>
            <a:pPr eaLnBrk="1" hangingPunct="1"/>
            <a:r>
              <a:rPr lang="zh-CN" altLang="en-US"/>
              <a:t>将</a:t>
            </a:r>
            <a:r>
              <a:rPr lang="en-US" altLang="zh-CN"/>
              <a:t>A </a:t>
            </a:r>
            <a:r>
              <a:rPr lang="en-US" altLang="zh-CN" b="1">
                <a:sym typeface="Symbol" panose="05050102010706020507" pitchFamily="18" charset="2"/>
              </a:rPr>
              <a:t> </a:t>
            </a:r>
            <a:r>
              <a:rPr lang="en-US" altLang="zh-CN" b="1"/>
              <a:t>error</a:t>
            </a:r>
            <a:r>
              <a:rPr lang="en-US" altLang="zh-CN"/>
              <a:t> </a:t>
            </a:r>
            <a:r>
              <a:rPr lang="en-US" altLang="zh-CN">
                <a:latin typeface="Symbol" panose="05050102010706020507" pitchFamily="18" charset="2"/>
              </a:rPr>
              <a:t>a</a:t>
            </a:r>
            <a:r>
              <a:rPr lang="zh-CN" altLang="en-US"/>
              <a:t>加入文法</a:t>
            </a:r>
          </a:p>
          <a:p>
            <a:pPr lvl="1" eaLnBrk="1" hangingPunct="1"/>
            <a:r>
              <a:rPr lang="en-US" altLang="zh-CN">
                <a:latin typeface="Symbol" panose="05050102010706020507" pitchFamily="18" charset="2"/>
              </a:rPr>
              <a:t>a</a:t>
            </a:r>
            <a:r>
              <a:rPr lang="en-US" altLang="zh-CN"/>
              <a:t>——</a:t>
            </a:r>
            <a:r>
              <a:rPr lang="zh-CN" altLang="en-US"/>
              <a:t>文法符号串，</a:t>
            </a:r>
            <a:r>
              <a:rPr lang="en-US" altLang="zh-CN" b="1"/>
              <a:t>error</a:t>
            </a:r>
            <a:r>
              <a:rPr lang="en-US" altLang="zh-CN"/>
              <a:t>——Yacc</a:t>
            </a:r>
            <a:r>
              <a:rPr lang="zh-CN" altLang="en-US"/>
              <a:t>保留字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979077DF-F79E-4917-8E98-D49C6C3D4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的错误恢复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BDB25C88-84EB-4C7A-9507-8BE454DB1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21225"/>
          </a:xfrm>
        </p:spPr>
        <p:txBody>
          <a:bodyPr/>
          <a:lstStyle/>
          <a:p>
            <a:pPr eaLnBrk="1" hangingPunct="1"/>
            <a:r>
              <a:rPr lang="zh-CN" altLang="en-US" dirty="0"/>
              <a:t>当语法分析时遇到错误，</a:t>
            </a:r>
            <a:r>
              <a:rPr lang="en-US" altLang="zh-CN" dirty="0" err="1"/>
              <a:t>Yacc</a:t>
            </a:r>
            <a:r>
              <a:rPr lang="zh-CN" altLang="en-US" dirty="0"/>
              <a:t>处理如下：</a:t>
            </a:r>
          </a:p>
          <a:p>
            <a:pPr lvl="1" eaLnBrk="1" hangingPunct="1"/>
            <a:r>
              <a:rPr lang="zh-CN" altLang="en-US" dirty="0"/>
              <a:t>从栈中弹出状态，直至遇到项目集中含有形如</a:t>
            </a:r>
            <a:r>
              <a:rPr lang="en-US" altLang="zh-CN" dirty="0"/>
              <a:t>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·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的项目为止</a:t>
            </a:r>
          </a:p>
          <a:p>
            <a:pPr lvl="1" eaLnBrk="1" hangingPunct="1"/>
            <a:r>
              <a:rPr lang="zh-CN" altLang="en-US" dirty="0"/>
              <a:t>将</a:t>
            </a:r>
            <a:r>
              <a:rPr lang="en-US" altLang="zh-CN" b="1" dirty="0"/>
              <a:t>error</a:t>
            </a:r>
            <a:r>
              <a:rPr lang="zh-CN" altLang="en-US" dirty="0"/>
              <a:t>“移进”栈</a:t>
            </a:r>
          </a:p>
          <a:p>
            <a:pPr lvl="1" eaLnBrk="1" hangingPunct="1"/>
            <a:r>
              <a:rPr lang="zh-CN" altLang="en-US" dirty="0"/>
              <a:t>若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/>
              <a:t>为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/>
              <a:t>，立即用</a:t>
            </a:r>
            <a:r>
              <a:rPr lang="en-US" altLang="zh-CN" dirty="0"/>
              <a:t>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进行归约</a:t>
            </a:r>
          </a:p>
          <a:p>
            <a:pPr lvl="1" eaLnBrk="1" hangingPunct="1"/>
            <a:r>
              <a:rPr lang="zh-CN" altLang="en-US" dirty="0">
                <a:latin typeface="Symbol" panose="05050102010706020507" pitchFamily="18" charset="2"/>
              </a:rPr>
              <a:t>否则，移进</a:t>
            </a:r>
            <a:r>
              <a:rPr lang="en-US" altLang="zh-CN" dirty="0">
                <a:latin typeface="Symbol" panose="05050102010706020507" pitchFamily="18" charset="2"/>
              </a:rPr>
              <a:t>/</a:t>
            </a:r>
            <a:r>
              <a:rPr lang="zh-CN" altLang="en-US" dirty="0">
                <a:latin typeface="Symbol" panose="05050102010706020507" pitchFamily="18" charset="2"/>
              </a:rPr>
              <a:t>归约，在栈顶形成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，然后利用</a:t>
            </a:r>
            <a:r>
              <a:rPr lang="en-US" altLang="zh-CN" dirty="0"/>
              <a:t>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error</a:t>
            </a:r>
            <a:r>
              <a:rPr lang="en-US" altLang="zh-CN" dirty="0"/>
              <a:t> 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zh-CN" altLang="en-US" dirty="0">
                <a:latin typeface="Symbol" panose="05050102010706020507" pitchFamily="18" charset="2"/>
              </a:rPr>
              <a:t>进行归约</a:t>
            </a:r>
          </a:p>
          <a:p>
            <a:pPr lvl="1" eaLnBrk="1" hangingPunct="1"/>
            <a:r>
              <a:rPr lang="zh-CN" altLang="en-US" dirty="0">
                <a:latin typeface="Symbol" panose="05050102010706020507" pitchFamily="18" charset="2"/>
              </a:rPr>
              <a:t>恢复正常语法分析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EDF2F35B-B714-48AA-9FDC-7945EB8C2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4.52  </a:t>
            </a:r>
            <a:r>
              <a:rPr lang="zh-CN" altLang="en-US"/>
              <a:t>台式计算器的错误恢复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344F3EAB-D121-487A-A524-F0AD0AED8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加入产生式</a:t>
            </a:r>
            <a:br>
              <a:rPr lang="zh-CN" altLang="en-US" dirty="0"/>
            </a:br>
            <a:r>
              <a:rPr lang="en-US" altLang="zh-CN" sz="2800" dirty="0"/>
              <a:t>lines : error ‘\n’ { </a:t>
            </a:r>
            <a:r>
              <a:rPr lang="en-US" altLang="zh-CN" sz="2800" dirty="0" err="1"/>
              <a:t>yyerror</a:t>
            </a:r>
            <a:r>
              <a:rPr lang="en-US" altLang="zh-CN" sz="2800" dirty="0"/>
              <a:t>(</a:t>
            </a:r>
            <a:r>
              <a:rPr lang="zh-CN" altLang="en-US" sz="2800" dirty="0"/>
              <a:t>“重新输入上一行”</a:t>
            </a:r>
            <a:r>
              <a:rPr lang="en-US" altLang="zh-CN" sz="2800" dirty="0"/>
              <a:t>);</a:t>
            </a:r>
            <a:br>
              <a:rPr lang="en-US" altLang="zh-CN" sz="2800" dirty="0"/>
            </a:br>
            <a:r>
              <a:rPr lang="en-US" altLang="zh-CN" sz="2800" dirty="0"/>
              <a:t>			  </a:t>
            </a:r>
            <a:r>
              <a:rPr lang="en-US" altLang="zh-CN" sz="2800" dirty="0" err="1"/>
              <a:t>yyerrok</a:t>
            </a:r>
            <a:r>
              <a:rPr lang="en-US" altLang="zh-CN" sz="2800" dirty="0"/>
              <a:t>; }</a:t>
            </a:r>
          </a:p>
          <a:p>
            <a:pPr eaLnBrk="1" hangingPunct="1"/>
            <a:r>
              <a:rPr lang="zh-CN" altLang="en-US" dirty="0"/>
              <a:t>当输入有误</a:t>
            </a:r>
          </a:p>
          <a:p>
            <a:pPr lvl="1" eaLnBrk="1" hangingPunct="1"/>
            <a:r>
              <a:rPr lang="en-US" altLang="zh-CN" dirty="0" err="1"/>
              <a:t>Yacc</a:t>
            </a:r>
            <a:r>
              <a:rPr lang="zh-CN" altLang="en-US" dirty="0"/>
              <a:t>弹出状态，直至遇到</a:t>
            </a:r>
            <a:r>
              <a:rPr lang="en-US" altLang="zh-CN" dirty="0"/>
              <a:t>lines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·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/>
              <a:t>error</a:t>
            </a:r>
            <a:r>
              <a:rPr lang="en-US" altLang="zh-CN" dirty="0"/>
              <a:t> ‘\n’——</a:t>
            </a:r>
            <a:r>
              <a:rPr lang="zh-CN" altLang="en-US" dirty="0"/>
              <a:t>状态</a:t>
            </a:r>
            <a:r>
              <a:rPr lang="en-US" altLang="zh-CN" dirty="0"/>
              <a:t>0——</a:t>
            </a:r>
            <a:r>
              <a:rPr lang="zh-CN" altLang="en-US" dirty="0"/>
              <a:t>将上一行输入全部丢弃</a:t>
            </a:r>
          </a:p>
          <a:p>
            <a:pPr lvl="1" eaLnBrk="1" hangingPunct="1"/>
            <a:r>
              <a:rPr lang="zh-CN" altLang="en-US" dirty="0"/>
              <a:t>将</a:t>
            </a:r>
            <a:r>
              <a:rPr lang="en-US" altLang="zh-CN" dirty="0"/>
              <a:t>error</a:t>
            </a:r>
            <a:r>
              <a:rPr lang="zh-CN" altLang="en-US" dirty="0"/>
              <a:t>移进，跳过输入符号，直至</a:t>
            </a:r>
            <a:r>
              <a:rPr lang="en-US" altLang="zh-CN" dirty="0"/>
              <a:t>‘\n’——</a:t>
            </a:r>
            <a:r>
              <a:rPr lang="zh-CN" altLang="en-US" dirty="0"/>
              <a:t>开始新的一行表达式的输入</a:t>
            </a:r>
          </a:p>
          <a:p>
            <a:pPr lvl="1" eaLnBrk="1" hangingPunct="1"/>
            <a:r>
              <a:rPr lang="en-US" altLang="zh-CN" dirty="0" err="1"/>
              <a:t>yyerrok</a:t>
            </a:r>
            <a:r>
              <a:rPr lang="en-US" altLang="zh-CN" dirty="0"/>
              <a:t>——</a:t>
            </a:r>
            <a:r>
              <a:rPr lang="en-US" altLang="zh-CN" dirty="0" err="1"/>
              <a:t>Yacc</a:t>
            </a:r>
            <a:r>
              <a:rPr lang="zh-CN" altLang="en-US" dirty="0"/>
              <a:t>的错误恢复库函数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F123FF2-8072-490A-9C7D-AEEED3DDC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  </a:t>
            </a:r>
            <a:r>
              <a:rPr lang="zh-CN" altLang="en-US"/>
              <a:t>自顶向下语法分析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4CEE98A-F0FA-4976-9415-64BD7003E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/>
              <a:t>确定输入串的一个最左推导</a:t>
            </a:r>
          </a:p>
          <a:p>
            <a:pPr lvl="1" eaLnBrk="1" hangingPunct="1"/>
            <a:r>
              <a:rPr lang="zh-CN" altLang="en-US"/>
              <a:t>总是替换最左</a:t>
            </a:r>
            <a:r>
              <a:rPr lang="en-US" altLang="zh-CN"/>
              <a:t>NT</a:t>
            </a:r>
            <a:br>
              <a:rPr lang="en-US" altLang="zh-CN"/>
            </a:b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语法树的构造由左至右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与输入串的扫描顺序一致</a:t>
            </a:r>
          </a:p>
          <a:p>
            <a:pPr lvl="1" eaLnBrk="1" hangingPunct="1"/>
            <a:r>
              <a:rPr kumimoji="0" lang="en-US" altLang="zh-CN" b="1"/>
              <a:t>A </a:t>
            </a:r>
            <a:r>
              <a:rPr kumimoji="0" lang="en-US" altLang="zh-CN" b="1">
                <a:sym typeface="Symbol" panose="05050102010706020507" pitchFamily="18" charset="2"/>
              </a:rPr>
              <a:t> aBc  adDc  adec</a:t>
            </a:r>
            <a:r>
              <a:rPr kumimoji="0"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  </a:t>
            </a:r>
            <a:r>
              <a:rPr kumimoji="0" lang="en-US" altLang="zh-CN">
                <a:sym typeface="Symbol" panose="05050102010706020507" pitchFamily="18" charset="2"/>
              </a:rPr>
              <a:t>(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a, 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d, 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e, </a:t>
            </a:r>
            <a:r>
              <a:rPr kumimoji="0" lang="zh-CN" altLang="en-US">
                <a:sym typeface="Symbol" panose="05050102010706020507" pitchFamily="18" charset="2"/>
              </a:rPr>
              <a:t>扫描</a:t>
            </a:r>
            <a:r>
              <a:rPr kumimoji="0" lang="en-US" altLang="zh-CN">
                <a:sym typeface="Symbol" panose="05050102010706020507" pitchFamily="18" charset="2"/>
              </a:rPr>
              <a:t>c – </a:t>
            </a:r>
            <a:r>
              <a:rPr kumimoji="0" lang="zh-CN" altLang="en-US">
                <a:sym typeface="Symbol" panose="05050102010706020507" pitchFamily="18" charset="2"/>
              </a:rPr>
              <a:t>接受</a:t>
            </a:r>
            <a:r>
              <a:rPr kumimoji="0" lang="en-US" altLang="zh-CN">
                <a:sym typeface="Symbol" panose="05050102010706020507" pitchFamily="18" charset="2"/>
              </a:rPr>
              <a:t>!)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E09562B-90DB-4B6E-9800-197B19495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1D0A953-E494-4667-AFB4-42F2EDE13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递归下降分析，</a:t>
            </a:r>
            <a:r>
              <a:rPr kumimoji="0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recursive-descent parsing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预测分析，</a:t>
            </a:r>
            <a:r>
              <a:rPr kumimoji="0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predictive parsing</a:t>
            </a:r>
            <a:r>
              <a:rPr kumimoji="0" lang="zh-CN" altLang="en-US">
                <a:sym typeface="Symbol" panose="05050102010706020507" pitchFamily="18" charset="2"/>
              </a:rPr>
              <a:t>，无回溯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错误恢复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实现方法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EDCADB2-92F2-44CE-8C5D-4E0C0BDFC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4.4.1  </a:t>
            </a:r>
            <a:r>
              <a:rPr lang="zh-CN" altLang="en-US"/>
              <a:t>递归下降分析方法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CCEE4B5-B01D-4FC6-92CB-003D62E242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自顶向下分析方法的一般策略</a:t>
            </a:r>
          </a:p>
          <a:p>
            <a:pPr eaLnBrk="1" hangingPunct="1"/>
            <a:r>
              <a:rPr lang="zh-CN" altLang="en-US"/>
              <a:t>根据输入符号选择产生式</a:t>
            </a:r>
          </a:p>
          <a:p>
            <a:pPr eaLnBrk="1" hangingPunct="1"/>
            <a:r>
              <a:rPr lang="zh-CN" altLang="en-US"/>
              <a:t>选择错误，需要回溯</a:t>
            </a:r>
          </a:p>
          <a:p>
            <a:pPr eaLnBrk="1" hangingPunct="1"/>
            <a:r>
              <a:rPr lang="zh-CN" altLang="en-US"/>
              <a:t>分析程序语言结构，回溯很少发生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B04E676-700D-4F93-83F4-726A63555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4.14</a:t>
            </a:r>
          </a:p>
        </p:txBody>
      </p:sp>
      <p:sp>
        <p:nvSpPr>
          <p:cNvPr id="73731" name="AutoShape 4">
            <a:extLst>
              <a:ext uri="{FF2B5EF4-FFF2-40B4-BE49-F238E27FC236}">
                <a16:creationId xmlns:a16="http://schemas.microsoft.com/office/drawing/2014/main" id="{98FE1A6A-5BD4-4718-9358-F28B8C068FB9}"/>
              </a:ext>
            </a:extLst>
          </p:cNvPr>
          <p:cNvSpPr>
            <a:spLocks/>
          </p:cNvSpPr>
          <p:nvPr/>
        </p:nvSpPr>
        <p:spPr bwMode="auto">
          <a:xfrm>
            <a:off x="3657600" y="1524000"/>
            <a:ext cx="228600" cy="914400"/>
          </a:xfrm>
          <a:prstGeom prst="rightBrace">
            <a:avLst>
              <a:gd name="adj1" fmla="val 33333"/>
              <a:gd name="adj2" fmla="val 51565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E09432AB-9AEA-49E0-8268-AE3D507D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7526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/>
              <a:t>输入</a:t>
            </a:r>
            <a:r>
              <a:rPr kumimoji="0" lang="en-US" altLang="zh-CN" sz="2800"/>
              <a:t>:  </a:t>
            </a:r>
            <a:r>
              <a:rPr kumimoji="0" lang="en-US" altLang="zh-CN" sz="2800">
                <a:solidFill>
                  <a:srgbClr val="3333CC"/>
                </a:solidFill>
              </a:rPr>
              <a:t>cad</a:t>
            </a:r>
          </a:p>
        </p:txBody>
      </p:sp>
      <p:sp>
        <p:nvSpPr>
          <p:cNvPr id="73733" name="Text Box 7">
            <a:extLst>
              <a:ext uri="{FF2B5EF4-FFF2-40B4-BE49-F238E27FC236}">
                <a16:creationId xmlns:a16="http://schemas.microsoft.com/office/drawing/2014/main" id="{9B5C0932-C690-4871-BFD9-FB6DD0949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727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</a:p>
        </p:txBody>
      </p:sp>
      <p:sp>
        <p:nvSpPr>
          <p:cNvPr id="73734" name="AutoShape 8">
            <a:extLst>
              <a:ext uri="{FF2B5EF4-FFF2-40B4-BE49-F238E27FC236}">
                <a16:creationId xmlns:a16="http://schemas.microsoft.com/office/drawing/2014/main" id="{B71F53B6-77E0-473D-BEF0-1575E22A8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103563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35" name="Text Box 9">
            <a:extLst>
              <a:ext uri="{FF2B5EF4-FFF2-40B4-BE49-F238E27FC236}">
                <a16:creationId xmlns:a16="http://schemas.microsoft.com/office/drawing/2014/main" id="{3F185080-AD10-4648-9F6A-70B29BEB0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59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</a:p>
        </p:txBody>
      </p:sp>
      <p:sp>
        <p:nvSpPr>
          <p:cNvPr id="73736" name="Text Box 10">
            <a:extLst>
              <a:ext uri="{FF2B5EF4-FFF2-40B4-BE49-F238E27FC236}">
                <a16:creationId xmlns:a16="http://schemas.microsoft.com/office/drawing/2014/main" id="{4E766C21-8B80-4EE2-8EB2-665968EAF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1083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</a:p>
        </p:txBody>
      </p:sp>
      <p:sp>
        <p:nvSpPr>
          <p:cNvPr id="73737" name="Text Box 11">
            <a:extLst>
              <a:ext uri="{FF2B5EF4-FFF2-40B4-BE49-F238E27FC236}">
                <a16:creationId xmlns:a16="http://schemas.microsoft.com/office/drawing/2014/main" id="{F33117CF-6F3B-4CB7-8A01-026E750AC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1083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</a:p>
        </p:txBody>
      </p:sp>
      <p:sp>
        <p:nvSpPr>
          <p:cNvPr id="73738" name="Text Box 12">
            <a:extLst>
              <a:ext uri="{FF2B5EF4-FFF2-40B4-BE49-F238E27FC236}">
                <a16:creationId xmlns:a16="http://schemas.microsoft.com/office/drawing/2014/main" id="{73651128-03D0-4ED2-AA56-B4CC351EF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31575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</a:p>
        </p:txBody>
      </p:sp>
      <p:sp>
        <p:nvSpPr>
          <p:cNvPr id="73739" name="Line 13">
            <a:extLst>
              <a:ext uri="{FF2B5EF4-FFF2-40B4-BE49-F238E27FC236}">
                <a16:creationId xmlns:a16="http://schemas.microsoft.com/office/drawing/2014/main" id="{0602A295-7AC7-4CB8-91E4-06A7F44A61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29559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0" name="Line 14">
            <a:extLst>
              <a:ext uri="{FF2B5EF4-FFF2-40B4-BE49-F238E27FC236}">
                <a16:creationId xmlns:a16="http://schemas.microsoft.com/office/drawing/2014/main" id="{3E92C9F7-C471-41B6-88AC-E8096B90A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29559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1" name="Line 15">
            <a:extLst>
              <a:ext uri="{FF2B5EF4-FFF2-40B4-BE49-F238E27FC236}">
                <a16:creationId xmlns:a16="http://schemas.microsoft.com/office/drawing/2014/main" id="{5A5C7865-7745-41B4-84A4-FCCE067839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67000" y="29559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2" name="Text Box 17">
            <a:extLst>
              <a:ext uri="{FF2B5EF4-FFF2-40B4-BE49-F238E27FC236}">
                <a16:creationId xmlns:a16="http://schemas.microsoft.com/office/drawing/2014/main" id="{8CFE6481-4279-4B10-8A64-889553B11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1751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</a:p>
        </p:txBody>
      </p:sp>
      <p:sp>
        <p:nvSpPr>
          <p:cNvPr id="73743" name="AutoShape 18">
            <a:extLst>
              <a:ext uri="{FF2B5EF4-FFF2-40B4-BE49-F238E27FC236}">
                <a16:creationId xmlns:a16="http://schemas.microsoft.com/office/drawing/2014/main" id="{64C38A7D-A1EA-4663-A895-FFFD9888E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29138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44" name="Text Box 19">
            <a:extLst>
              <a:ext uri="{FF2B5EF4-FFF2-40B4-BE49-F238E27FC236}">
                <a16:creationId xmlns:a16="http://schemas.microsoft.com/office/drawing/2014/main" id="{E4037567-B2E6-4B44-B5FE-2AD58644A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576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</a:p>
        </p:txBody>
      </p:sp>
      <p:sp>
        <p:nvSpPr>
          <p:cNvPr id="73745" name="Text Box 20">
            <a:extLst>
              <a:ext uri="{FF2B5EF4-FFF2-40B4-BE49-F238E27FC236}">
                <a16:creationId xmlns:a16="http://schemas.microsoft.com/office/drawing/2014/main" id="{AA55FD2C-8238-4422-BDBF-91B2554C8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4037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</a:p>
        </p:txBody>
      </p:sp>
      <p:sp>
        <p:nvSpPr>
          <p:cNvPr id="73746" name="Text Box 21">
            <a:extLst>
              <a:ext uri="{FF2B5EF4-FFF2-40B4-BE49-F238E27FC236}">
                <a16:creationId xmlns:a16="http://schemas.microsoft.com/office/drawing/2014/main" id="{3AA040CC-7098-452A-97F6-F6DEC254E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037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</a:p>
        </p:txBody>
      </p:sp>
      <p:sp>
        <p:nvSpPr>
          <p:cNvPr id="73747" name="Text Box 22">
            <a:extLst>
              <a:ext uri="{FF2B5EF4-FFF2-40B4-BE49-F238E27FC236}">
                <a16:creationId xmlns:a16="http://schemas.microsoft.com/office/drawing/2014/main" id="{480641E6-9EAD-449F-A306-6402BE87D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44370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</a:p>
        </p:txBody>
      </p:sp>
      <p:sp>
        <p:nvSpPr>
          <p:cNvPr id="73748" name="Line 23">
            <a:extLst>
              <a:ext uri="{FF2B5EF4-FFF2-40B4-BE49-F238E27FC236}">
                <a16:creationId xmlns:a16="http://schemas.microsoft.com/office/drawing/2014/main" id="{87C8124F-3E0C-4758-87CF-4E44D3CEA6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42513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9" name="Line 24">
            <a:extLst>
              <a:ext uri="{FF2B5EF4-FFF2-40B4-BE49-F238E27FC236}">
                <a16:creationId xmlns:a16="http://schemas.microsoft.com/office/drawing/2014/main" id="{BC7AE209-66D6-48A0-AEA9-2FE30A8010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42513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0" name="Line 25">
            <a:extLst>
              <a:ext uri="{FF2B5EF4-FFF2-40B4-BE49-F238E27FC236}">
                <a16:creationId xmlns:a16="http://schemas.microsoft.com/office/drawing/2014/main" id="{CFE82187-ECFD-4A05-BE6A-2B1652A84A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0800" y="42513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1" name="Text Box 26">
            <a:extLst>
              <a:ext uri="{FF2B5EF4-FFF2-40B4-BE49-F238E27FC236}">
                <a16:creationId xmlns:a16="http://schemas.microsoft.com/office/drawing/2014/main" id="{6DAB0579-F104-4B70-B475-D157F274D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60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</a:p>
        </p:txBody>
      </p:sp>
      <p:sp>
        <p:nvSpPr>
          <p:cNvPr id="73752" name="Text Box 27">
            <a:extLst>
              <a:ext uri="{FF2B5EF4-FFF2-40B4-BE49-F238E27FC236}">
                <a16:creationId xmlns:a16="http://schemas.microsoft.com/office/drawing/2014/main" id="{DC75690D-9B68-4C4C-9306-EEECEE215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60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b</a:t>
            </a:r>
          </a:p>
        </p:txBody>
      </p:sp>
      <p:sp>
        <p:nvSpPr>
          <p:cNvPr id="73753" name="Line 28">
            <a:extLst>
              <a:ext uri="{FF2B5EF4-FFF2-40B4-BE49-F238E27FC236}">
                <a16:creationId xmlns:a16="http://schemas.microsoft.com/office/drawing/2014/main" id="{C078EC57-1181-4BCA-8DA6-9D546D394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7847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4" name="Line 29">
            <a:extLst>
              <a:ext uri="{FF2B5EF4-FFF2-40B4-BE49-F238E27FC236}">
                <a16:creationId xmlns:a16="http://schemas.microsoft.com/office/drawing/2014/main" id="{E6574B86-3A4B-4431-8E88-BFF61E2C83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47847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5" name="Text Box 31">
            <a:extLst>
              <a:ext uri="{FF2B5EF4-FFF2-40B4-BE49-F238E27FC236}">
                <a16:creationId xmlns:a16="http://schemas.microsoft.com/office/drawing/2014/main" id="{3B6CD677-3F6E-4810-9D32-4BC6937B2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727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</a:p>
        </p:txBody>
      </p:sp>
      <p:sp>
        <p:nvSpPr>
          <p:cNvPr id="73756" name="AutoShape 32">
            <a:extLst>
              <a:ext uri="{FF2B5EF4-FFF2-40B4-BE49-F238E27FC236}">
                <a16:creationId xmlns:a16="http://schemas.microsoft.com/office/drawing/2014/main" id="{A8277451-7A1D-4CA8-A39B-8376A5DD8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95625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57" name="Text Box 33">
            <a:extLst>
              <a:ext uri="{FF2B5EF4-FFF2-40B4-BE49-F238E27FC236}">
                <a16:creationId xmlns:a16="http://schemas.microsoft.com/office/drawing/2014/main" id="{807581F5-C852-40B7-8E9D-FE4B67829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438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</a:p>
        </p:txBody>
      </p:sp>
      <p:sp>
        <p:nvSpPr>
          <p:cNvPr id="73758" name="Text Box 34">
            <a:extLst>
              <a:ext uri="{FF2B5EF4-FFF2-40B4-BE49-F238E27FC236}">
                <a16:creationId xmlns:a16="http://schemas.microsoft.com/office/drawing/2014/main" id="{7360E734-DC6D-407D-A820-EDB099F19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955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</a:p>
        </p:txBody>
      </p:sp>
      <p:sp>
        <p:nvSpPr>
          <p:cNvPr id="73759" name="Text Box 35">
            <a:extLst>
              <a:ext uri="{FF2B5EF4-FFF2-40B4-BE49-F238E27FC236}">
                <a16:creationId xmlns:a16="http://schemas.microsoft.com/office/drawing/2014/main" id="{F229DC6C-49DA-41E9-972C-DC5A8FA4B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955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</a:p>
        </p:txBody>
      </p:sp>
      <p:sp>
        <p:nvSpPr>
          <p:cNvPr id="73760" name="Text Box 36">
            <a:extLst>
              <a:ext uri="{FF2B5EF4-FFF2-40B4-BE49-F238E27FC236}">
                <a16:creationId xmlns:a16="http://schemas.microsoft.com/office/drawing/2014/main" id="{916A31DE-B50E-4B24-80C5-058E12156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986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</a:p>
        </p:txBody>
      </p:sp>
      <p:sp>
        <p:nvSpPr>
          <p:cNvPr id="73761" name="Line 37">
            <a:extLst>
              <a:ext uri="{FF2B5EF4-FFF2-40B4-BE49-F238E27FC236}">
                <a16:creationId xmlns:a16="http://schemas.microsoft.com/office/drawing/2014/main" id="{DABACA84-C084-42C9-B037-1381EDEB75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28035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2" name="Line 38">
            <a:extLst>
              <a:ext uri="{FF2B5EF4-FFF2-40B4-BE49-F238E27FC236}">
                <a16:creationId xmlns:a16="http://schemas.microsoft.com/office/drawing/2014/main" id="{6B2FF4F7-2AB9-4E70-A7F8-4834EB4ADB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2803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3" name="Line 39">
            <a:extLst>
              <a:ext uri="{FF2B5EF4-FFF2-40B4-BE49-F238E27FC236}">
                <a16:creationId xmlns:a16="http://schemas.microsoft.com/office/drawing/2014/main" id="{5A99DF2C-4FB9-47A9-9BD7-965987BFE7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28035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4" name="Text Box 40">
            <a:extLst>
              <a:ext uri="{FF2B5EF4-FFF2-40B4-BE49-F238E27FC236}">
                <a16:creationId xmlns:a16="http://schemas.microsoft.com/office/drawing/2014/main" id="{68E884D8-6369-4806-8CA7-73294F24A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4131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</a:p>
        </p:txBody>
      </p:sp>
      <p:sp>
        <p:nvSpPr>
          <p:cNvPr id="73765" name="Text Box 41">
            <a:extLst>
              <a:ext uri="{FF2B5EF4-FFF2-40B4-BE49-F238E27FC236}">
                <a16:creationId xmlns:a16="http://schemas.microsoft.com/office/drawing/2014/main" id="{471523FE-C32D-475A-ADF0-2410888A9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4131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b</a:t>
            </a:r>
          </a:p>
        </p:txBody>
      </p:sp>
      <p:sp>
        <p:nvSpPr>
          <p:cNvPr id="73766" name="Line 42">
            <a:extLst>
              <a:ext uri="{FF2B5EF4-FFF2-40B4-BE49-F238E27FC236}">
                <a16:creationId xmlns:a16="http://schemas.microsoft.com/office/drawing/2014/main" id="{79344B08-867E-4AE7-8DA3-B2E144AE0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3369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7" name="Line 43">
            <a:extLst>
              <a:ext uri="{FF2B5EF4-FFF2-40B4-BE49-F238E27FC236}">
                <a16:creationId xmlns:a16="http://schemas.microsoft.com/office/drawing/2014/main" id="{E808ECF7-0A5D-4305-B82B-B2357972A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3336925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8" name="Oval 44">
            <a:extLst>
              <a:ext uri="{FF2B5EF4-FFF2-40B4-BE49-F238E27FC236}">
                <a16:creationId xmlns:a16="http://schemas.microsoft.com/office/drawing/2014/main" id="{B2EC33A2-E3E5-4AC5-AB1F-C55F49C59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413125"/>
            <a:ext cx="457200" cy="5334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69" name="Text Box 45">
            <a:extLst>
              <a:ext uri="{FF2B5EF4-FFF2-40B4-BE49-F238E27FC236}">
                <a16:creationId xmlns:a16="http://schemas.microsoft.com/office/drawing/2014/main" id="{C96A36AA-AF67-4FD1-B8F9-C793DF3F6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489325"/>
            <a:ext cx="2286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FF3300"/>
                </a:solidFill>
              </a:rPr>
              <a:t>回溯</a:t>
            </a:r>
          </a:p>
        </p:txBody>
      </p:sp>
      <p:sp>
        <p:nvSpPr>
          <p:cNvPr id="73770" name="Text Box 47">
            <a:extLst>
              <a:ext uri="{FF2B5EF4-FFF2-40B4-BE49-F238E27FC236}">
                <a16:creationId xmlns:a16="http://schemas.microsoft.com/office/drawing/2014/main" id="{307E665B-5458-4BC1-BC16-3D24AA5AB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513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</a:p>
        </p:txBody>
      </p:sp>
      <p:sp>
        <p:nvSpPr>
          <p:cNvPr id="73771" name="AutoShape 48">
            <a:extLst>
              <a:ext uri="{FF2B5EF4-FFF2-40B4-BE49-F238E27FC236}">
                <a16:creationId xmlns:a16="http://schemas.microsoft.com/office/drawing/2014/main" id="{9865E977-6387-437A-A7DF-8233DA904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619625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73772" name="Text Box 49">
            <a:extLst>
              <a:ext uri="{FF2B5EF4-FFF2-40B4-BE49-F238E27FC236}">
                <a16:creationId xmlns:a16="http://schemas.microsoft.com/office/drawing/2014/main" id="{6B1A25B1-44E6-4BEE-B32D-7E189D9B7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113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</a:p>
        </p:txBody>
      </p:sp>
      <p:sp>
        <p:nvSpPr>
          <p:cNvPr id="73773" name="Text Box 50">
            <a:extLst>
              <a:ext uri="{FF2B5EF4-FFF2-40B4-BE49-F238E27FC236}">
                <a16:creationId xmlns:a16="http://schemas.microsoft.com/office/drawing/2014/main" id="{F08744EA-6696-4C54-90A0-DB05DE80F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479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</a:p>
        </p:txBody>
      </p:sp>
      <p:sp>
        <p:nvSpPr>
          <p:cNvPr id="73774" name="Text Box 51">
            <a:extLst>
              <a:ext uri="{FF2B5EF4-FFF2-40B4-BE49-F238E27FC236}">
                <a16:creationId xmlns:a16="http://schemas.microsoft.com/office/drawing/2014/main" id="{92286184-ADE4-40E3-B03C-E69DA5C0F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79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</a:p>
        </p:txBody>
      </p:sp>
      <p:sp>
        <p:nvSpPr>
          <p:cNvPr id="73775" name="Text Box 52">
            <a:extLst>
              <a:ext uri="{FF2B5EF4-FFF2-40B4-BE49-F238E27FC236}">
                <a16:creationId xmlns:a16="http://schemas.microsoft.com/office/drawing/2014/main" id="{BA52B8D8-B453-4715-8091-1D0014EBA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572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</a:p>
        </p:txBody>
      </p:sp>
      <p:sp>
        <p:nvSpPr>
          <p:cNvPr id="73776" name="Line 53">
            <a:extLst>
              <a:ext uri="{FF2B5EF4-FFF2-40B4-BE49-F238E27FC236}">
                <a16:creationId xmlns:a16="http://schemas.microsoft.com/office/drawing/2014/main" id="{58D1FAC7-02B5-42F7-A7AC-A4187801D7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3275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7" name="Line 54">
            <a:extLst>
              <a:ext uri="{FF2B5EF4-FFF2-40B4-BE49-F238E27FC236}">
                <a16:creationId xmlns:a16="http://schemas.microsoft.com/office/drawing/2014/main" id="{CDB601A6-A5F2-466A-A90C-6CBBFED863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3275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8" name="Line 55">
            <a:extLst>
              <a:ext uri="{FF2B5EF4-FFF2-40B4-BE49-F238E27FC236}">
                <a16:creationId xmlns:a16="http://schemas.microsoft.com/office/drawing/2014/main" id="{A4B747FB-3B0D-4DBD-9D53-24A8853DEC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43275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9" name="Text Box 56">
            <a:extLst>
              <a:ext uri="{FF2B5EF4-FFF2-40B4-BE49-F238E27FC236}">
                <a16:creationId xmlns:a16="http://schemas.microsoft.com/office/drawing/2014/main" id="{99A34EA4-BC55-461D-9E0A-5A7B41970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0133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</a:p>
        </p:txBody>
      </p:sp>
      <p:sp>
        <p:nvSpPr>
          <p:cNvPr id="73780" name="Line 57">
            <a:extLst>
              <a:ext uri="{FF2B5EF4-FFF2-40B4-BE49-F238E27FC236}">
                <a16:creationId xmlns:a16="http://schemas.microsoft.com/office/drawing/2014/main" id="{C89AC413-E8A3-43A1-B366-A118413EAA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937125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1" name="Line 58">
            <a:extLst>
              <a:ext uri="{FF2B5EF4-FFF2-40B4-BE49-F238E27FC236}">
                <a16:creationId xmlns:a16="http://schemas.microsoft.com/office/drawing/2014/main" id="{3227CEE5-2991-47B3-ACCD-192D4EBE5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489325"/>
            <a:ext cx="1588" cy="5334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2" name="Line 59">
            <a:extLst>
              <a:ext uri="{FF2B5EF4-FFF2-40B4-BE49-F238E27FC236}">
                <a16:creationId xmlns:a16="http://schemas.microsoft.com/office/drawing/2014/main" id="{02BFB5F8-517A-4F0B-A31C-C9394EB92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89325"/>
            <a:ext cx="1588" cy="5334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3" name="Line 60">
            <a:extLst>
              <a:ext uri="{FF2B5EF4-FFF2-40B4-BE49-F238E27FC236}">
                <a16:creationId xmlns:a16="http://schemas.microsoft.com/office/drawing/2014/main" id="{CBB11FC5-99A9-48F3-9102-7460A5C384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260725"/>
            <a:ext cx="838200" cy="9144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4" name="Text Box 61">
            <a:extLst>
              <a:ext uri="{FF2B5EF4-FFF2-40B4-BE49-F238E27FC236}">
                <a16:creationId xmlns:a16="http://schemas.microsoft.com/office/drawing/2014/main" id="{6C092050-17DF-4FCB-9B3C-EEF6835FE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0989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cad</a:t>
            </a:r>
          </a:p>
        </p:txBody>
      </p:sp>
      <p:sp>
        <p:nvSpPr>
          <p:cNvPr id="73785" name="AutoShape 62">
            <a:extLst>
              <a:ext uri="{FF2B5EF4-FFF2-40B4-BE49-F238E27FC236}">
                <a16:creationId xmlns:a16="http://schemas.microsoft.com/office/drawing/2014/main" id="{238464CD-2726-4592-9348-CBC07D5B4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467225"/>
            <a:ext cx="152400" cy="152400"/>
          </a:xfrm>
          <a:prstGeom prst="triangle">
            <a:avLst>
              <a:gd name="adj" fmla="val 50000"/>
            </a:avLst>
          </a:prstGeom>
          <a:solidFill>
            <a:srgbClr val="00CC00"/>
          </a:solidFill>
          <a:ln w="25400">
            <a:solidFill>
              <a:srgbClr val="00CC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73786" name="Text Box 63">
            <a:extLst>
              <a:ext uri="{FF2B5EF4-FFF2-40B4-BE49-F238E27FC236}">
                <a16:creationId xmlns:a16="http://schemas.microsoft.com/office/drawing/2014/main" id="{B61CAF7E-D1C0-4226-90D6-4541AD7B5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810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</a:p>
        </p:txBody>
      </p:sp>
      <p:sp>
        <p:nvSpPr>
          <p:cNvPr id="73787" name="Text Box 64">
            <a:extLst>
              <a:ext uri="{FF2B5EF4-FFF2-40B4-BE49-F238E27FC236}">
                <a16:creationId xmlns:a16="http://schemas.microsoft.com/office/drawing/2014/main" id="{1AA6A6B4-2AA4-4BF9-9502-8B079DD33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3275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c</a:t>
            </a:r>
          </a:p>
        </p:txBody>
      </p:sp>
      <p:sp>
        <p:nvSpPr>
          <p:cNvPr id="73788" name="Text Box 65">
            <a:extLst>
              <a:ext uri="{FF2B5EF4-FFF2-40B4-BE49-F238E27FC236}">
                <a16:creationId xmlns:a16="http://schemas.microsoft.com/office/drawing/2014/main" id="{D9997CBC-C10B-4D1B-9D25-B9F99815F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43275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d</a:t>
            </a:r>
          </a:p>
        </p:txBody>
      </p:sp>
      <p:sp>
        <p:nvSpPr>
          <p:cNvPr id="73789" name="Text Box 66">
            <a:extLst>
              <a:ext uri="{FF2B5EF4-FFF2-40B4-BE49-F238E27FC236}">
                <a16:creationId xmlns:a16="http://schemas.microsoft.com/office/drawing/2014/main" id="{1D132B05-A15D-448F-B350-7E87639F8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44053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</a:p>
        </p:txBody>
      </p:sp>
      <p:sp>
        <p:nvSpPr>
          <p:cNvPr id="73790" name="Line 67">
            <a:extLst>
              <a:ext uri="{FF2B5EF4-FFF2-40B4-BE49-F238E27FC236}">
                <a16:creationId xmlns:a16="http://schemas.microsoft.com/office/drawing/2014/main" id="{E83632D4-6F2E-47DA-AA8D-3A639D2F51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4175125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1" name="Line 68">
            <a:extLst>
              <a:ext uri="{FF2B5EF4-FFF2-40B4-BE49-F238E27FC236}">
                <a16:creationId xmlns:a16="http://schemas.microsoft.com/office/drawing/2014/main" id="{95A3CE0F-C2AE-48B9-8EFD-AE352DC08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4175125"/>
            <a:ext cx="1588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2" name="Line 69">
            <a:extLst>
              <a:ext uri="{FF2B5EF4-FFF2-40B4-BE49-F238E27FC236}">
                <a16:creationId xmlns:a16="http://schemas.microsoft.com/office/drawing/2014/main" id="{0B894FC3-5B21-4261-BCFD-EB8FA3B4B0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77200" y="4175125"/>
            <a:ext cx="3048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3" name="Text Box 70">
            <a:extLst>
              <a:ext uri="{FF2B5EF4-FFF2-40B4-BE49-F238E27FC236}">
                <a16:creationId xmlns:a16="http://schemas.microsoft.com/office/drawing/2014/main" id="{091AC53B-72CD-43E3-8078-B982257B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860925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a</a:t>
            </a:r>
          </a:p>
        </p:txBody>
      </p:sp>
      <p:sp>
        <p:nvSpPr>
          <p:cNvPr id="73794" name="Line 71">
            <a:extLst>
              <a:ext uri="{FF2B5EF4-FFF2-40B4-BE49-F238E27FC236}">
                <a16:creationId xmlns:a16="http://schemas.microsoft.com/office/drawing/2014/main" id="{B40C0275-4986-4407-8E3E-2EB3A40F8A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4784725"/>
            <a:ext cx="1588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5" name="Line 72">
            <a:extLst>
              <a:ext uri="{FF2B5EF4-FFF2-40B4-BE49-F238E27FC236}">
                <a16:creationId xmlns:a16="http://schemas.microsoft.com/office/drawing/2014/main" id="{A31064CB-2332-4372-864E-C7E5AC1CBB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4403725"/>
            <a:ext cx="457200" cy="76200"/>
          </a:xfrm>
          <a:prstGeom prst="line">
            <a:avLst/>
          </a:prstGeom>
          <a:noFill/>
          <a:ln w="25400">
            <a:solidFill>
              <a:srgbClr val="CC99FF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96" name="Text Box 73">
            <a:extLst>
              <a:ext uri="{FF2B5EF4-FFF2-40B4-BE49-F238E27FC236}">
                <a16:creationId xmlns:a16="http://schemas.microsoft.com/office/drawing/2014/main" id="{744B15E7-CC12-4566-BC96-782355835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295400"/>
            <a:ext cx="2209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S </a:t>
            </a:r>
            <a:r>
              <a:rPr kumimoji="0" lang="en-US" altLang="zh-CN">
                <a:sym typeface="Symbol" panose="05050102010706020507" pitchFamily="18" charset="2"/>
              </a:rPr>
              <a:t> c A d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 ab | a</a:t>
            </a:r>
            <a:r>
              <a:rPr kumimoji="0" lang="en-US" altLang="zh-CN"/>
              <a:t>    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946AE59-66DF-4C56-8EBB-214C2A417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4.4.2  </a:t>
            </a:r>
            <a:r>
              <a:rPr lang="zh-CN" altLang="en-US"/>
              <a:t>预测分析方法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2040AD8-CDB8-4F02-B2D9-C063E75CF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无需回溯的递归下降法，需改写文法</a:t>
            </a:r>
          </a:p>
          <a:p>
            <a:pPr lvl="1" eaLnBrk="1" hangingPunct="1"/>
            <a:r>
              <a:rPr lang="zh-CN" altLang="en-US" b="1">
                <a:solidFill>
                  <a:srgbClr val="FF3300"/>
                </a:solidFill>
              </a:rPr>
              <a:t>消除左递归</a:t>
            </a:r>
          </a:p>
          <a:p>
            <a:pPr lvl="1" eaLnBrk="1" hangingPunct="1"/>
            <a:r>
              <a:rPr lang="zh-CN" altLang="en-US" b="1">
                <a:solidFill>
                  <a:srgbClr val="FF3300"/>
                </a:solidFill>
              </a:rPr>
              <a:t>提取左公因子</a:t>
            </a:r>
            <a:endParaRPr kumimoji="0" lang="zh-CN" altLang="en-US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“当前输入符号”＋“待扩展非终结符”</a:t>
            </a:r>
            <a:r>
              <a:rPr kumimoji="0" lang="zh-CN" altLang="en-US">
                <a:sym typeface="Wingdings" panose="05000000000000000000" pitchFamily="2" charset="2"/>
              </a:rPr>
              <a:t></a:t>
            </a:r>
            <a:br>
              <a:rPr kumimoji="0" lang="zh-CN" altLang="en-US">
                <a:sym typeface="Wingdings" panose="05000000000000000000" pitchFamily="2" charset="2"/>
              </a:rPr>
            </a:br>
            <a:r>
              <a:rPr kumimoji="0" lang="zh-CN" altLang="en-US">
                <a:sym typeface="Wingdings" panose="05000000000000000000" pitchFamily="2" charset="2"/>
              </a:rPr>
              <a:t>唯一确定应用哪个产生式</a:t>
            </a:r>
            <a:endParaRPr kumimoji="0"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B263B5B-42DA-401A-BF69-4833622F2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4.4.3  </a:t>
            </a:r>
            <a:r>
              <a:rPr lang="zh-CN" altLang="en-US"/>
              <a:t>利用状态转换图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0E04DF8E-85CC-470C-AFF4-0414D5CFD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marL="590550" indent="-533400" eaLnBrk="1" hangingPunct="1"/>
            <a:r>
              <a:rPr lang="zh-CN" altLang="en-US" sz="2800" dirty="0"/>
              <a:t>非终结符</a:t>
            </a:r>
            <a:r>
              <a:rPr lang="zh-CN" altLang="en-US" sz="2800" dirty="0">
                <a:sym typeface="Wingdings" panose="05000000000000000000" pitchFamily="2" charset="2"/>
              </a:rPr>
              <a:t></a:t>
            </a:r>
            <a:r>
              <a:rPr lang="zh-CN" altLang="en-US" sz="2800" dirty="0"/>
              <a:t>状态转换图</a:t>
            </a:r>
          </a:p>
          <a:p>
            <a:pPr marL="990600" lvl="1" indent="-533400" eaLnBrk="1" hangingPunct="1"/>
            <a:r>
              <a:rPr lang="zh-CN" altLang="en-US" sz="2400" dirty="0"/>
              <a:t>边的标记</a:t>
            </a:r>
          </a:p>
          <a:p>
            <a:pPr marL="1371600" lvl="2" indent="-457200" eaLnBrk="1" hangingPunct="1"/>
            <a:r>
              <a:rPr lang="zh-CN" altLang="en-US" sz="2000" dirty="0"/>
              <a:t>单词：与下一个输入单词匹配</a:t>
            </a:r>
            <a:r>
              <a:rPr lang="zh-CN" altLang="en-US" sz="2000" dirty="0">
                <a:sym typeface="Wingdings" panose="05000000000000000000" pitchFamily="2" charset="2"/>
              </a:rPr>
              <a:t></a:t>
            </a:r>
            <a:r>
              <a:rPr lang="zh-CN" altLang="en-US" sz="2000" dirty="0"/>
              <a:t>状态转换</a:t>
            </a:r>
          </a:p>
          <a:p>
            <a:pPr marL="1371600" lvl="2" indent="-457200" eaLnBrk="1" hangingPunct="1"/>
            <a:r>
              <a:rPr lang="zh-CN" altLang="en-US" sz="2000" dirty="0"/>
              <a:t>非终结符：对其进行扩展（调用对应函数）</a:t>
            </a:r>
          </a:p>
          <a:p>
            <a:pPr marL="609600" indent="-609600" eaLnBrk="1" hangingPunct="1"/>
            <a:r>
              <a:rPr lang="zh-CN" altLang="en-US" sz="2800" dirty="0"/>
              <a:t>为</a:t>
            </a:r>
            <a:r>
              <a:rPr lang="en-US" altLang="zh-CN" sz="2800" dirty="0"/>
              <a:t>NT A</a:t>
            </a:r>
            <a:r>
              <a:rPr lang="zh-CN" altLang="en-US" sz="2800" dirty="0"/>
              <a:t>创建对应</a:t>
            </a:r>
            <a:r>
              <a:rPr lang="en-US" altLang="zh-CN" sz="2800" dirty="0"/>
              <a:t>TD</a:t>
            </a:r>
            <a:r>
              <a:rPr lang="zh-CN" altLang="en-US" sz="2800" dirty="0"/>
              <a:t>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创建一个初态和一个终态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对每个产生式</a:t>
            </a:r>
            <a:r>
              <a:rPr kumimoji="0" lang="en-US" altLang="zh-CN" sz="2400" b="1" dirty="0"/>
              <a:t>A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b="1" dirty="0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400" b="1" dirty="0">
                <a:sym typeface="Symbol" panose="05050102010706020507" pitchFamily="18" charset="2"/>
              </a:rPr>
              <a:t>…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 err="1">
                <a:sym typeface="Symbol" panose="05050102010706020507" pitchFamily="18" charset="2"/>
              </a:rPr>
              <a:t>n</a:t>
            </a:r>
            <a:r>
              <a:rPr kumimoji="0" lang="zh-CN" altLang="en-US" sz="2400" dirty="0">
                <a:sym typeface="Symbol" panose="05050102010706020507" pitchFamily="18" charset="2"/>
              </a:rPr>
              <a:t>，创建初态到终态的一条路径，边标记为</a:t>
            </a:r>
            <a:r>
              <a:rPr kumimoji="0" lang="en-US" altLang="zh-CN" sz="2400" b="1" dirty="0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b="1" dirty="0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b="1" dirty="0">
                <a:sym typeface="Symbol" panose="05050102010706020507" pitchFamily="18" charset="2"/>
              </a:rPr>
              <a:t>…</a:t>
            </a:r>
            <a:r>
              <a:rPr kumimoji="0" lang="zh-CN" altLang="en-US" sz="2400" b="1" dirty="0">
                <a:sym typeface="Symbol" panose="05050102010706020507" pitchFamily="18" charset="2"/>
              </a:rPr>
              <a:t>、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="1" baseline="-25000" dirty="0" err="1">
                <a:sym typeface="Symbol" panose="05050102010706020507" pitchFamily="18" charset="2"/>
              </a:rPr>
              <a:t>n</a:t>
            </a:r>
            <a:endParaRPr kumimoji="0" lang="en-US" altLang="zh-CN" sz="2400" b="1" baseline="-25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2B763E9-53C4-40BE-8C41-D38762C14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4.15</a:t>
            </a:r>
          </a:p>
        </p:txBody>
      </p:sp>
      <p:grpSp>
        <p:nvGrpSpPr>
          <p:cNvPr id="76803" name="Group 4">
            <a:extLst>
              <a:ext uri="{FF2B5EF4-FFF2-40B4-BE49-F238E27FC236}">
                <a16:creationId xmlns:a16="http://schemas.microsoft.com/office/drawing/2014/main" id="{E70E62EE-34F7-415A-B9CF-F0E4927B0304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447800"/>
            <a:ext cx="5715000" cy="657225"/>
            <a:chOff x="1056" y="1632"/>
            <a:chExt cx="3600" cy="414"/>
          </a:xfrm>
        </p:grpSpPr>
        <p:sp>
          <p:nvSpPr>
            <p:cNvPr id="76854" name="Text Box 5">
              <a:extLst>
                <a:ext uri="{FF2B5EF4-FFF2-40B4-BE49-F238E27FC236}">
                  <a16:creationId xmlns:a16="http://schemas.microsoft.com/office/drawing/2014/main" id="{A4BC4DBE-D82A-4333-B991-0D51ACE0E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76855" name="Text Box 6">
              <a:extLst>
                <a:ext uri="{FF2B5EF4-FFF2-40B4-BE49-F238E27FC236}">
                  <a16:creationId xmlns:a16="http://schemas.microsoft.com/office/drawing/2014/main" id="{FCEF5FAB-45B7-4008-B8D2-46083997F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76856" name="Text Box 7">
              <a:extLst>
                <a:ext uri="{FF2B5EF4-FFF2-40B4-BE49-F238E27FC236}">
                  <a16:creationId xmlns:a16="http://schemas.microsoft.com/office/drawing/2014/main" id="{ECD4B986-292C-4197-864C-DBBE705F9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32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F   ( E )  | id</a:t>
              </a:r>
            </a:p>
          </p:txBody>
        </p:sp>
        <p:sp>
          <p:nvSpPr>
            <p:cNvPr id="76857" name="Rectangle 8">
              <a:extLst>
                <a:ext uri="{FF2B5EF4-FFF2-40B4-BE49-F238E27FC236}">
                  <a16:creationId xmlns:a16="http://schemas.microsoft.com/office/drawing/2014/main" id="{D5774412-634D-43A1-88F5-406C74519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680"/>
              <a:ext cx="3552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</p:grpSp>
      <p:grpSp>
        <p:nvGrpSpPr>
          <p:cNvPr id="76804" name="Group 105">
            <a:extLst>
              <a:ext uri="{FF2B5EF4-FFF2-40B4-BE49-F238E27FC236}">
                <a16:creationId xmlns:a16="http://schemas.microsoft.com/office/drawing/2014/main" id="{5EAEC413-67CF-48C9-81D7-9A8AFF49F6C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057400"/>
            <a:ext cx="3200400" cy="638175"/>
            <a:chOff x="528" y="1326"/>
            <a:chExt cx="2016" cy="402"/>
          </a:xfrm>
        </p:grpSpPr>
        <p:grpSp>
          <p:nvGrpSpPr>
            <p:cNvPr id="76841" name="Group 10">
              <a:extLst>
                <a:ext uri="{FF2B5EF4-FFF2-40B4-BE49-F238E27FC236}">
                  <a16:creationId xmlns:a16="http://schemas.microsoft.com/office/drawing/2014/main" id="{6B7433EB-F835-4969-93DA-475350145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392"/>
              <a:ext cx="336" cy="336"/>
              <a:chOff x="3552" y="2544"/>
              <a:chExt cx="336" cy="336"/>
            </a:xfrm>
          </p:grpSpPr>
          <p:sp>
            <p:nvSpPr>
              <p:cNvPr id="76852" name="Oval 11">
                <a:extLst>
                  <a:ext uri="{FF2B5EF4-FFF2-40B4-BE49-F238E27FC236}">
                    <a16:creationId xmlns:a16="http://schemas.microsoft.com/office/drawing/2014/main" id="{593C6C4A-9C65-4B3B-A3D8-2C90DA7D4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6853" name="Oval 12">
                <a:extLst>
                  <a:ext uri="{FF2B5EF4-FFF2-40B4-BE49-F238E27FC236}">
                    <a16:creationId xmlns:a16="http://schemas.microsoft.com/office/drawing/2014/main" id="{5B6CE942-BE15-420F-BF82-2F032234A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6842" name="Oval 13">
              <a:extLst>
                <a:ext uri="{FF2B5EF4-FFF2-40B4-BE49-F238E27FC236}">
                  <a16:creationId xmlns:a16="http://schemas.microsoft.com/office/drawing/2014/main" id="{D6429619-3D04-4E9F-9FF6-FF36C8422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43" name="Oval 14">
              <a:extLst>
                <a:ext uri="{FF2B5EF4-FFF2-40B4-BE49-F238E27FC236}">
                  <a16:creationId xmlns:a16="http://schemas.microsoft.com/office/drawing/2014/main" id="{ACFB5F63-4CE3-44AC-A45C-BD78691C0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44" name="Line 15">
              <a:extLst>
                <a:ext uri="{FF2B5EF4-FFF2-40B4-BE49-F238E27FC236}">
                  <a16:creationId xmlns:a16="http://schemas.microsoft.com/office/drawing/2014/main" id="{B1D3A09B-03E0-4593-8D14-FEBCB1F5B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5" name="Line 16">
              <a:extLst>
                <a:ext uri="{FF2B5EF4-FFF2-40B4-BE49-F238E27FC236}">
                  <a16:creationId xmlns:a16="http://schemas.microsoft.com/office/drawing/2014/main" id="{E18F7528-0D95-4FF5-A2E7-4EA31F470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46" name="Text Box 17">
              <a:extLst>
                <a:ext uri="{FF2B5EF4-FFF2-40B4-BE49-F238E27FC236}">
                  <a16:creationId xmlns:a16="http://schemas.microsoft.com/office/drawing/2014/main" id="{6D0E933D-85EB-4A86-8A41-01F49E02D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0</a:t>
              </a:r>
            </a:p>
          </p:txBody>
        </p:sp>
        <p:sp>
          <p:nvSpPr>
            <p:cNvPr id="76847" name="Text Box 18">
              <a:extLst>
                <a:ext uri="{FF2B5EF4-FFF2-40B4-BE49-F238E27FC236}">
                  <a16:creationId xmlns:a16="http://schemas.microsoft.com/office/drawing/2014/main" id="{200AB480-7D38-442A-B13E-67788FC17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2</a:t>
              </a:r>
            </a:p>
          </p:txBody>
        </p:sp>
        <p:sp>
          <p:nvSpPr>
            <p:cNvPr id="76848" name="Text Box 19">
              <a:extLst>
                <a:ext uri="{FF2B5EF4-FFF2-40B4-BE49-F238E27FC236}">
                  <a16:creationId xmlns:a16="http://schemas.microsoft.com/office/drawing/2014/main" id="{A2883E41-9A30-4C3E-ADBC-783C21C68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</a:t>
              </a:r>
            </a:p>
          </p:txBody>
        </p:sp>
        <p:sp>
          <p:nvSpPr>
            <p:cNvPr id="76849" name="Text Box 20">
              <a:extLst>
                <a:ext uri="{FF2B5EF4-FFF2-40B4-BE49-F238E27FC236}">
                  <a16:creationId xmlns:a16="http://schemas.microsoft.com/office/drawing/2014/main" id="{A5FC441D-2C03-42EB-849A-C7DFFDB7B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32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</a:p>
          </p:txBody>
        </p:sp>
        <p:sp>
          <p:nvSpPr>
            <p:cNvPr id="76850" name="Text Box 21">
              <a:extLst>
                <a:ext uri="{FF2B5EF4-FFF2-40B4-BE49-F238E27FC236}">
                  <a16:creationId xmlns:a16="http://schemas.microsoft.com/office/drawing/2014/main" id="{62277322-FE84-45C4-85CF-BCB71F32D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2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</a:p>
          </p:txBody>
        </p:sp>
        <p:sp>
          <p:nvSpPr>
            <p:cNvPr id="76851" name="Text Box 22">
              <a:extLst>
                <a:ext uri="{FF2B5EF4-FFF2-40B4-BE49-F238E27FC236}">
                  <a16:creationId xmlns:a16="http://schemas.microsoft.com/office/drawing/2014/main" id="{8BC06D1A-763B-46CE-8E9F-1C3869A9E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E:</a:t>
              </a:r>
            </a:p>
          </p:txBody>
        </p:sp>
      </p:grpSp>
      <p:grpSp>
        <p:nvGrpSpPr>
          <p:cNvPr id="76805" name="Group 104">
            <a:extLst>
              <a:ext uri="{FF2B5EF4-FFF2-40B4-BE49-F238E27FC236}">
                <a16:creationId xmlns:a16="http://schemas.microsoft.com/office/drawing/2014/main" id="{9F8BA6DD-296B-4986-A304-3CD25B19853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819400"/>
            <a:ext cx="4267200" cy="958850"/>
            <a:chOff x="528" y="1710"/>
            <a:chExt cx="2688" cy="604"/>
          </a:xfrm>
        </p:grpSpPr>
        <p:sp>
          <p:nvSpPr>
            <p:cNvPr id="76821" name="Oval 24">
              <a:extLst>
                <a:ext uri="{FF2B5EF4-FFF2-40B4-BE49-F238E27FC236}">
                  <a16:creationId xmlns:a16="http://schemas.microsoft.com/office/drawing/2014/main" id="{9E9F5FBC-051B-47B1-98EE-705EF51FA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22" name="Line 25">
              <a:extLst>
                <a:ext uri="{FF2B5EF4-FFF2-40B4-BE49-F238E27FC236}">
                  <a16:creationId xmlns:a16="http://schemas.microsoft.com/office/drawing/2014/main" id="{9D190A1E-6F0D-4817-8E85-9FDB8DDE8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3" name="Text Box 26">
              <a:extLst>
                <a:ext uri="{FF2B5EF4-FFF2-40B4-BE49-F238E27FC236}">
                  <a16:creationId xmlns:a16="http://schemas.microsoft.com/office/drawing/2014/main" id="{B663B108-9880-4A11-A10E-2DF1E5120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3</a:t>
              </a:r>
            </a:p>
          </p:txBody>
        </p:sp>
        <p:grpSp>
          <p:nvGrpSpPr>
            <p:cNvPr id="76824" name="Group 27">
              <a:extLst>
                <a:ext uri="{FF2B5EF4-FFF2-40B4-BE49-F238E27FC236}">
                  <a16:creationId xmlns:a16="http://schemas.microsoft.com/office/drawing/2014/main" id="{7AB06618-1AAF-4A30-9CEF-4F96430FB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776"/>
              <a:ext cx="336" cy="336"/>
              <a:chOff x="2448" y="2736"/>
              <a:chExt cx="336" cy="336"/>
            </a:xfrm>
          </p:grpSpPr>
          <p:grpSp>
            <p:nvGrpSpPr>
              <p:cNvPr id="76837" name="Group 28">
                <a:extLst>
                  <a:ext uri="{FF2B5EF4-FFF2-40B4-BE49-F238E27FC236}">
                    <a16:creationId xmlns:a16="http://schemas.microsoft.com/office/drawing/2014/main" id="{DD71715D-EAF7-49E7-B7BA-5FD55C3843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76839" name="Oval 29">
                  <a:extLst>
                    <a:ext uri="{FF2B5EF4-FFF2-40B4-BE49-F238E27FC236}">
                      <a16:creationId xmlns:a16="http://schemas.microsoft.com/office/drawing/2014/main" id="{148561C6-FB48-408F-8F37-D0B7E97DA0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76840" name="Oval 30">
                  <a:extLst>
                    <a:ext uri="{FF2B5EF4-FFF2-40B4-BE49-F238E27FC236}">
                      <a16:creationId xmlns:a16="http://schemas.microsoft.com/office/drawing/2014/main" id="{B972EAAC-92E0-458C-9C03-2A916269D4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76838" name="Text Box 31">
                <a:extLst>
                  <a:ext uri="{FF2B5EF4-FFF2-40B4-BE49-F238E27FC236}">
                    <a16:creationId xmlns:a16="http://schemas.microsoft.com/office/drawing/2014/main" id="{29F4100B-6933-4D05-96AA-AD27FC230C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/>
                  <a:t>6</a:t>
                </a:r>
              </a:p>
            </p:txBody>
          </p:sp>
        </p:grpSp>
        <p:sp>
          <p:nvSpPr>
            <p:cNvPr id="76825" name="Text Box 32">
              <a:extLst>
                <a:ext uri="{FF2B5EF4-FFF2-40B4-BE49-F238E27FC236}">
                  <a16:creationId xmlns:a16="http://schemas.microsoft.com/office/drawing/2014/main" id="{98AC62BA-334A-4FE9-983F-8FFEDE8D1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1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</a:p>
          </p:txBody>
        </p:sp>
        <p:sp>
          <p:nvSpPr>
            <p:cNvPr id="76826" name="Oval 34">
              <a:extLst>
                <a:ext uri="{FF2B5EF4-FFF2-40B4-BE49-F238E27FC236}">
                  <a16:creationId xmlns:a16="http://schemas.microsoft.com/office/drawing/2014/main" id="{AB96319B-A11A-4F92-A886-068DD7E87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27" name="Line 35">
              <a:extLst>
                <a:ext uri="{FF2B5EF4-FFF2-40B4-BE49-F238E27FC236}">
                  <a16:creationId xmlns:a16="http://schemas.microsoft.com/office/drawing/2014/main" id="{63568F4D-EC0B-4EC1-99EB-AC2D13D14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28" name="Text Box 36">
              <a:extLst>
                <a:ext uri="{FF2B5EF4-FFF2-40B4-BE49-F238E27FC236}">
                  <a16:creationId xmlns:a16="http://schemas.microsoft.com/office/drawing/2014/main" id="{961784F3-7B93-4627-BA84-1C1497587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4</a:t>
              </a:r>
            </a:p>
          </p:txBody>
        </p:sp>
        <p:sp>
          <p:nvSpPr>
            <p:cNvPr id="76829" name="Text Box 37">
              <a:extLst>
                <a:ext uri="{FF2B5EF4-FFF2-40B4-BE49-F238E27FC236}">
                  <a16:creationId xmlns:a16="http://schemas.microsoft.com/office/drawing/2014/main" id="{3E0F1AF7-F3EB-4F39-87A8-D5E46F148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</a:p>
          </p:txBody>
        </p:sp>
        <p:sp>
          <p:nvSpPr>
            <p:cNvPr id="76830" name="Text Box 38">
              <a:extLst>
                <a:ext uri="{FF2B5EF4-FFF2-40B4-BE49-F238E27FC236}">
                  <a16:creationId xmlns:a16="http://schemas.microsoft.com/office/drawing/2014/main" id="{32656DC8-69E1-4B19-914A-50B5AF13C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82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E’:</a:t>
              </a:r>
            </a:p>
          </p:txBody>
        </p:sp>
        <p:sp>
          <p:nvSpPr>
            <p:cNvPr id="76831" name="Oval 40">
              <a:extLst>
                <a:ext uri="{FF2B5EF4-FFF2-40B4-BE49-F238E27FC236}">
                  <a16:creationId xmlns:a16="http://schemas.microsoft.com/office/drawing/2014/main" id="{14A2F052-B5D0-4E2B-9E32-0BBD40A87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32" name="Line 41">
              <a:extLst>
                <a:ext uri="{FF2B5EF4-FFF2-40B4-BE49-F238E27FC236}">
                  <a16:creationId xmlns:a16="http://schemas.microsoft.com/office/drawing/2014/main" id="{2905FD14-4B68-4AA1-8C1C-FF75A28DF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33" name="Text Box 42">
              <a:extLst>
                <a:ext uri="{FF2B5EF4-FFF2-40B4-BE49-F238E27FC236}">
                  <a16:creationId xmlns:a16="http://schemas.microsoft.com/office/drawing/2014/main" id="{FF8F7736-66DF-4E38-BB10-3F6342934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5</a:t>
              </a:r>
            </a:p>
          </p:txBody>
        </p:sp>
        <p:sp>
          <p:nvSpPr>
            <p:cNvPr id="76834" name="Text Box 43">
              <a:extLst>
                <a:ext uri="{FF2B5EF4-FFF2-40B4-BE49-F238E27FC236}">
                  <a16:creationId xmlns:a16="http://schemas.microsoft.com/office/drawing/2014/main" id="{336C3E91-C9F8-4912-B731-F09FE87E1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</a:p>
          </p:txBody>
        </p:sp>
        <p:cxnSp>
          <p:nvCxnSpPr>
            <p:cNvPr id="76835" name="AutoShape 44">
              <a:extLst>
                <a:ext uri="{FF2B5EF4-FFF2-40B4-BE49-F238E27FC236}">
                  <a16:creationId xmlns:a16="http://schemas.microsoft.com/office/drawing/2014/main" id="{067809C9-0451-4BFE-9B99-55EF3014E2FF}"/>
                </a:ext>
              </a:extLst>
            </p:cNvPr>
            <p:cNvCxnSpPr>
              <a:cxnSpLocks noChangeShapeType="1"/>
              <a:stCxn id="76821" idx="4"/>
              <a:endCxn id="76839" idx="4"/>
            </p:cNvCxnSpPr>
            <p:nvPr/>
          </p:nvCxnSpPr>
          <p:spPr bwMode="auto">
            <a:xfrm rot="16200000" flipH="1">
              <a:off x="2039" y="1113"/>
              <a:ext cx="1" cy="2016"/>
            </a:xfrm>
            <a:prstGeom prst="curvedConnector3">
              <a:avLst>
                <a:gd name="adj1" fmla="val 1349999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36" name="Text Box 45">
              <a:extLst>
                <a:ext uri="{FF2B5EF4-FFF2-40B4-BE49-F238E27FC236}">
                  <a16:creationId xmlns:a16="http://schemas.microsoft.com/office/drawing/2014/main" id="{C589186A-3E0E-463E-AB4C-D20534AC0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06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  <p:grpSp>
        <p:nvGrpSpPr>
          <p:cNvPr id="76806" name="Group 103">
            <a:extLst>
              <a:ext uri="{FF2B5EF4-FFF2-40B4-BE49-F238E27FC236}">
                <a16:creationId xmlns:a16="http://schemas.microsoft.com/office/drawing/2014/main" id="{901740C5-6486-4157-8956-264635A4339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762375"/>
            <a:ext cx="3200400" cy="657225"/>
            <a:chOff x="528" y="2274"/>
            <a:chExt cx="2016" cy="414"/>
          </a:xfrm>
        </p:grpSpPr>
        <p:grpSp>
          <p:nvGrpSpPr>
            <p:cNvPr id="76808" name="Group 47">
              <a:extLst>
                <a:ext uri="{FF2B5EF4-FFF2-40B4-BE49-F238E27FC236}">
                  <a16:creationId xmlns:a16="http://schemas.microsoft.com/office/drawing/2014/main" id="{2B3FEACD-FB57-4647-BA2B-3362B8D6E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52"/>
              <a:ext cx="336" cy="336"/>
              <a:chOff x="3552" y="2544"/>
              <a:chExt cx="336" cy="336"/>
            </a:xfrm>
          </p:grpSpPr>
          <p:sp>
            <p:nvSpPr>
              <p:cNvPr id="76819" name="Oval 48">
                <a:extLst>
                  <a:ext uri="{FF2B5EF4-FFF2-40B4-BE49-F238E27FC236}">
                    <a16:creationId xmlns:a16="http://schemas.microsoft.com/office/drawing/2014/main" id="{1D513B5C-7C71-44D0-A715-2E8D4A03C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6820" name="Oval 49">
                <a:extLst>
                  <a:ext uri="{FF2B5EF4-FFF2-40B4-BE49-F238E27FC236}">
                    <a16:creationId xmlns:a16="http://schemas.microsoft.com/office/drawing/2014/main" id="{08A1D888-3D97-4105-8362-484810C38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6809" name="Oval 50">
              <a:extLst>
                <a:ext uri="{FF2B5EF4-FFF2-40B4-BE49-F238E27FC236}">
                  <a16:creationId xmlns:a16="http://schemas.microsoft.com/office/drawing/2014/main" id="{6BEC3A3D-0A69-4972-9742-C0BF384FA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10" name="Oval 51">
              <a:extLst>
                <a:ext uri="{FF2B5EF4-FFF2-40B4-BE49-F238E27FC236}">
                  <a16:creationId xmlns:a16="http://schemas.microsoft.com/office/drawing/2014/main" id="{81A20B0A-3743-4F63-9EFF-6F90E44E0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6811" name="Line 52">
              <a:extLst>
                <a:ext uri="{FF2B5EF4-FFF2-40B4-BE49-F238E27FC236}">
                  <a16:creationId xmlns:a16="http://schemas.microsoft.com/office/drawing/2014/main" id="{27EF8D2A-3BA7-4754-986C-BC956EC15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2" name="Line 53">
              <a:extLst>
                <a:ext uri="{FF2B5EF4-FFF2-40B4-BE49-F238E27FC236}">
                  <a16:creationId xmlns:a16="http://schemas.microsoft.com/office/drawing/2014/main" id="{67CFADFB-E1B1-4A09-8BB3-5EDA658EA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13" name="Text Box 54">
              <a:extLst>
                <a:ext uri="{FF2B5EF4-FFF2-40B4-BE49-F238E27FC236}">
                  <a16:creationId xmlns:a16="http://schemas.microsoft.com/office/drawing/2014/main" id="{976F38F5-86E0-4F33-9BF0-D49347F1A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7</a:t>
              </a:r>
            </a:p>
          </p:txBody>
        </p:sp>
        <p:sp>
          <p:nvSpPr>
            <p:cNvPr id="76814" name="Text Box 55">
              <a:extLst>
                <a:ext uri="{FF2B5EF4-FFF2-40B4-BE49-F238E27FC236}">
                  <a16:creationId xmlns:a16="http://schemas.microsoft.com/office/drawing/2014/main" id="{C5F245F1-1326-486E-985B-F1D00BCE1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9</a:t>
              </a:r>
            </a:p>
          </p:txBody>
        </p:sp>
        <p:sp>
          <p:nvSpPr>
            <p:cNvPr id="76815" name="Text Box 56">
              <a:extLst>
                <a:ext uri="{FF2B5EF4-FFF2-40B4-BE49-F238E27FC236}">
                  <a16:creationId xmlns:a16="http://schemas.microsoft.com/office/drawing/2014/main" id="{48D4C951-FA63-4858-AFCD-9C18C0F33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8</a:t>
              </a:r>
            </a:p>
          </p:txBody>
        </p:sp>
        <p:sp>
          <p:nvSpPr>
            <p:cNvPr id="76816" name="Text Box 57">
              <a:extLst>
                <a:ext uri="{FF2B5EF4-FFF2-40B4-BE49-F238E27FC236}">
                  <a16:creationId xmlns:a16="http://schemas.microsoft.com/office/drawing/2014/main" id="{5BF49DD3-ADCC-467C-B736-B5AF27A35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27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</a:p>
          </p:txBody>
        </p:sp>
        <p:sp>
          <p:nvSpPr>
            <p:cNvPr id="76817" name="Text Box 58">
              <a:extLst>
                <a:ext uri="{FF2B5EF4-FFF2-40B4-BE49-F238E27FC236}">
                  <a16:creationId xmlns:a16="http://schemas.microsoft.com/office/drawing/2014/main" id="{00C3F8AC-E7E0-4C1C-84C5-23E3FA909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27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</a:p>
          </p:txBody>
        </p:sp>
        <p:sp>
          <p:nvSpPr>
            <p:cNvPr id="76818" name="Text Box 59">
              <a:extLst>
                <a:ext uri="{FF2B5EF4-FFF2-40B4-BE49-F238E27FC236}">
                  <a16:creationId xmlns:a16="http://schemas.microsoft.com/office/drawing/2014/main" id="{87039CE7-4724-4922-AFCC-AABF93AA0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0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T:</a:t>
              </a:r>
            </a:p>
          </p:txBody>
        </p:sp>
      </p:grpSp>
      <p:sp>
        <p:nvSpPr>
          <p:cNvPr id="76807" name="Text Box 106">
            <a:extLst>
              <a:ext uri="{FF2B5EF4-FFF2-40B4-BE49-F238E27FC236}">
                <a16:creationId xmlns:a16="http://schemas.microsoft.com/office/drawing/2014/main" id="{D7405AC8-69E2-4B2D-BB03-B3250CBAA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452688"/>
            <a:ext cx="3581400" cy="2895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如何使用</a:t>
            </a:r>
            <a:r>
              <a:rPr kumimoji="0" lang="en-US" altLang="zh-CN" sz="2800" b="1">
                <a:solidFill>
                  <a:srgbClr val="FF3300"/>
                </a:solidFill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</a:rPr>
              <a:t>进行语法分析 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边如何处理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是否可以化简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化简的重要性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5B975695-F65B-400C-93E6-1990A556B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4.15</a:t>
            </a:r>
          </a:p>
        </p:txBody>
      </p:sp>
      <p:grpSp>
        <p:nvGrpSpPr>
          <p:cNvPr id="77827" name="Group 3">
            <a:extLst>
              <a:ext uri="{FF2B5EF4-FFF2-40B4-BE49-F238E27FC236}">
                <a16:creationId xmlns:a16="http://schemas.microsoft.com/office/drawing/2014/main" id="{2D9D206F-784D-40C2-BAD1-BC58206206A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447800"/>
            <a:ext cx="5715000" cy="657225"/>
            <a:chOff x="1056" y="1632"/>
            <a:chExt cx="3600" cy="414"/>
          </a:xfrm>
        </p:grpSpPr>
        <p:sp>
          <p:nvSpPr>
            <p:cNvPr id="77869" name="Text Box 4">
              <a:extLst>
                <a:ext uri="{FF2B5EF4-FFF2-40B4-BE49-F238E27FC236}">
                  <a16:creationId xmlns:a16="http://schemas.microsoft.com/office/drawing/2014/main" id="{33A0AB96-9A80-4347-A3A1-6D1A0D5EB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77870" name="Text Box 5">
              <a:extLst>
                <a:ext uri="{FF2B5EF4-FFF2-40B4-BE49-F238E27FC236}">
                  <a16:creationId xmlns:a16="http://schemas.microsoft.com/office/drawing/2014/main" id="{5FD9FDF7-2595-448F-825F-BBFE97470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680"/>
              <a:ext cx="12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77871" name="Text Box 6">
              <a:extLst>
                <a:ext uri="{FF2B5EF4-FFF2-40B4-BE49-F238E27FC236}">
                  <a16:creationId xmlns:a16="http://schemas.microsoft.com/office/drawing/2014/main" id="{10928B06-1F18-4FA4-BBCF-A1A1B69B4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32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F   ( E )  | id</a:t>
              </a:r>
            </a:p>
          </p:txBody>
        </p:sp>
        <p:sp>
          <p:nvSpPr>
            <p:cNvPr id="77872" name="Rectangle 7">
              <a:extLst>
                <a:ext uri="{FF2B5EF4-FFF2-40B4-BE49-F238E27FC236}">
                  <a16:creationId xmlns:a16="http://schemas.microsoft.com/office/drawing/2014/main" id="{7DE6A35C-FC8A-4FE3-AD65-C00675CAF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680"/>
              <a:ext cx="3552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</p:grpSp>
      <p:grpSp>
        <p:nvGrpSpPr>
          <p:cNvPr id="77828" name="Group 57">
            <a:extLst>
              <a:ext uri="{FF2B5EF4-FFF2-40B4-BE49-F238E27FC236}">
                <a16:creationId xmlns:a16="http://schemas.microsoft.com/office/drawing/2014/main" id="{CDD64A55-94F2-4554-B9E0-317F78520B6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590800"/>
            <a:ext cx="4267200" cy="930275"/>
            <a:chOff x="528" y="2880"/>
            <a:chExt cx="2688" cy="586"/>
          </a:xfrm>
        </p:grpSpPr>
        <p:sp>
          <p:nvSpPr>
            <p:cNvPr id="77850" name="Oval 58">
              <a:extLst>
                <a:ext uri="{FF2B5EF4-FFF2-40B4-BE49-F238E27FC236}">
                  <a16:creationId xmlns:a16="http://schemas.microsoft.com/office/drawing/2014/main" id="{2DAA3A0E-78D5-4FC0-99AD-378D43793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51" name="Line 59">
              <a:extLst>
                <a:ext uri="{FF2B5EF4-FFF2-40B4-BE49-F238E27FC236}">
                  <a16:creationId xmlns:a16="http://schemas.microsoft.com/office/drawing/2014/main" id="{2A4E02EF-9B38-44D8-BF88-4C359791E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2" name="Text Box 60">
              <a:extLst>
                <a:ext uri="{FF2B5EF4-FFF2-40B4-BE49-F238E27FC236}">
                  <a16:creationId xmlns:a16="http://schemas.microsoft.com/office/drawing/2014/main" id="{41BADDE2-7C59-4BAE-ACCE-44F437422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10</a:t>
              </a:r>
            </a:p>
          </p:txBody>
        </p:sp>
        <p:grpSp>
          <p:nvGrpSpPr>
            <p:cNvPr id="77853" name="Group 61">
              <a:extLst>
                <a:ext uri="{FF2B5EF4-FFF2-40B4-BE49-F238E27FC236}">
                  <a16:creationId xmlns:a16="http://schemas.microsoft.com/office/drawing/2014/main" id="{CFFAD7C8-C51B-423D-9561-B70B6DD194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966"/>
              <a:ext cx="336" cy="336"/>
              <a:chOff x="3552" y="2544"/>
              <a:chExt cx="336" cy="336"/>
            </a:xfrm>
          </p:grpSpPr>
          <p:sp>
            <p:nvSpPr>
              <p:cNvPr id="77867" name="Oval 62">
                <a:extLst>
                  <a:ext uri="{FF2B5EF4-FFF2-40B4-BE49-F238E27FC236}">
                    <a16:creationId xmlns:a16="http://schemas.microsoft.com/office/drawing/2014/main" id="{F435AC92-36C2-4833-A114-13FD38EC5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7868" name="Oval 63">
                <a:extLst>
                  <a:ext uri="{FF2B5EF4-FFF2-40B4-BE49-F238E27FC236}">
                    <a16:creationId xmlns:a16="http://schemas.microsoft.com/office/drawing/2014/main" id="{891FBBF4-454B-47D6-9429-4094FED5D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7854" name="Text Box 64">
              <a:extLst>
                <a:ext uri="{FF2B5EF4-FFF2-40B4-BE49-F238E27FC236}">
                  <a16:creationId xmlns:a16="http://schemas.microsoft.com/office/drawing/2014/main" id="{B0513D13-0704-4058-A333-19FE41DAF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13</a:t>
              </a:r>
            </a:p>
          </p:txBody>
        </p:sp>
        <p:sp>
          <p:nvSpPr>
            <p:cNvPr id="77855" name="Text Box 65">
              <a:extLst>
                <a:ext uri="{FF2B5EF4-FFF2-40B4-BE49-F238E27FC236}">
                  <a16:creationId xmlns:a16="http://schemas.microsoft.com/office/drawing/2014/main" id="{F8AC2BE9-830C-4BDC-9820-17E8C1E79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91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*</a:t>
              </a:r>
            </a:p>
          </p:txBody>
        </p:sp>
        <p:sp>
          <p:nvSpPr>
            <p:cNvPr id="77856" name="Oval 66">
              <a:extLst>
                <a:ext uri="{FF2B5EF4-FFF2-40B4-BE49-F238E27FC236}">
                  <a16:creationId xmlns:a16="http://schemas.microsoft.com/office/drawing/2014/main" id="{B6F2C2DE-5A98-4FBF-BE9C-4EAF18A05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57" name="Line 67">
              <a:extLst>
                <a:ext uri="{FF2B5EF4-FFF2-40B4-BE49-F238E27FC236}">
                  <a16:creationId xmlns:a16="http://schemas.microsoft.com/office/drawing/2014/main" id="{A69CBC94-E696-4A91-8240-DD6B1DE3D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58" name="Text Box 68">
              <a:extLst>
                <a:ext uri="{FF2B5EF4-FFF2-40B4-BE49-F238E27FC236}">
                  <a16:creationId xmlns:a16="http://schemas.microsoft.com/office/drawing/2014/main" id="{6CCB379A-52C1-4D82-9014-8D55C2302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11</a:t>
              </a:r>
            </a:p>
          </p:txBody>
        </p:sp>
        <p:sp>
          <p:nvSpPr>
            <p:cNvPr id="77859" name="Text Box 69">
              <a:extLst>
                <a:ext uri="{FF2B5EF4-FFF2-40B4-BE49-F238E27FC236}">
                  <a16:creationId xmlns:a16="http://schemas.microsoft.com/office/drawing/2014/main" id="{C8D44163-4C9E-47F0-AD58-A036299DA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</a:p>
          </p:txBody>
        </p:sp>
        <p:sp>
          <p:nvSpPr>
            <p:cNvPr id="77860" name="Text Box 70">
              <a:extLst>
                <a:ext uri="{FF2B5EF4-FFF2-40B4-BE49-F238E27FC236}">
                  <a16:creationId xmlns:a16="http://schemas.microsoft.com/office/drawing/2014/main" id="{5DAAEB8C-C15E-4DE4-BD6A-BDAF4C3BC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01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T’:</a:t>
              </a:r>
            </a:p>
          </p:txBody>
        </p:sp>
        <p:sp>
          <p:nvSpPr>
            <p:cNvPr id="77861" name="Oval 71">
              <a:extLst>
                <a:ext uri="{FF2B5EF4-FFF2-40B4-BE49-F238E27FC236}">
                  <a16:creationId xmlns:a16="http://schemas.microsoft.com/office/drawing/2014/main" id="{ADA53046-DAB9-4EB7-9634-0B4B7F176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62" name="Line 72">
              <a:extLst>
                <a:ext uri="{FF2B5EF4-FFF2-40B4-BE49-F238E27FC236}">
                  <a16:creationId xmlns:a16="http://schemas.microsoft.com/office/drawing/2014/main" id="{A69F5B58-70F2-435D-B56E-1F22CA152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3" name="Text Box 73">
              <a:extLst>
                <a:ext uri="{FF2B5EF4-FFF2-40B4-BE49-F238E27FC236}">
                  <a16:creationId xmlns:a16="http://schemas.microsoft.com/office/drawing/2014/main" id="{74FAEA84-A5DA-4EB6-8B9C-92CDBE516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12</a:t>
              </a:r>
            </a:p>
          </p:txBody>
        </p:sp>
        <p:sp>
          <p:nvSpPr>
            <p:cNvPr id="77864" name="Text Box 74">
              <a:extLst>
                <a:ext uri="{FF2B5EF4-FFF2-40B4-BE49-F238E27FC236}">
                  <a16:creationId xmlns:a16="http://schemas.microsoft.com/office/drawing/2014/main" id="{9DE61A45-0FE3-485E-BC08-17DDAD648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</a:p>
          </p:txBody>
        </p:sp>
        <p:cxnSp>
          <p:nvCxnSpPr>
            <p:cNvPr id="77865" name="AutoShape 75">
              <a:extLst>
                <a:ext uri="{FF2B5EF4-FFF2-40B4-BE49-F238E27FC236}">
                  <a16:creationId xmlns:a16="http://schemas.microsoft.com/office/drawing/2014/main" id="{3259DEEC-CE1C-4A25-A0D1-3461346207E1}"/>
                </a:ext>
              </a:extLst>
            </p:cNvPr>
            <p:cNvCxnSpPr>
              <a:cxnSpLocks noChangeShapeType="1"/>
              <a:stCxn id="77850" idx="4"/>
              <a:endCxn id="77867" idx="4"/>
            </p:cNvCxnSpPr>
            <p:nvPr/>
          </p:nvCxnSpPr>
          <p:spPr bwMode="auto">
            <a:xfrm rot="16200000" flipH="1">
              <a:off x="2039" y="2303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66" name="Text Box 76">
              <a:extLst>
                <a:ext uri="{FF2B5EF4-FFF2-40B4-BE49-F238E27FC236}">
                  <a16:creationId xmlns:a16="http://schemas.microsoft.com/office/drawing/2014/main" id="{260E067C-A7A4-4B70-AFA9-2491CEA5C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21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  <p:grpSp>
        <p:nvGrpSpPr>
          <p:cNvPr id="77829" name="Group 77">
            <a:extLst>
              <a:ext uri="{FF2B5EF4-FFF2-40B4-BE49-F238E27FC236}">
                <a16:creationId xmlns:a16="http://schemas.microsoft.com/office/drawing/2014/main" id="{D5D5F0AE-372C-4FDB-9AC8-08E456553876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657600"/>
            <a:ext cx="4267200" cy="930275"/>
            <a:chOff x="528" y="3552"/>
            <a:chExt cx="2688" cy="586"/>
          </a:xfrm>
        </p:grpSpPr>
        <p:sp>
          <p:nvSpPr>
            <p:cNvPr id="77831" name="Oval 78">
              <a:extLst>
                <a:ext uri="{FF2B5EF4-FFF2-40B4-BE49-F238E27FC236}">
                  <a16:creationId xmlns:a16="http://schemas.microsoft.com/office/drawing/2014/main" id="{A9EC5C06-D693-4886-8AAB-3E52FB238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32" name="Line 79">
              <a:extLst>
                <a:ext uri="{FF2B5EF4-FFF2-40B4-BE49-F238E27FC236}">
                  <a16:creationId xmlns:a16="http://schemas.microsoft.com/office/drawing/2014/main" id="{92969510-0F11-4EE3-9837-4ECE08BFB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3" name="Text Box 80">
              <a:extLst>
                <a:ext uri="{FF2B5EF4-FFF2-40B4-BE49-F238E27FC236}">
                  <a16:creationId xmlns:a16="http://schemas.microsoft.com/office/drawing/2014/main" id="{F3A5F5FB-D32C-4F55-AEA1-FAC9320F2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14</a:t>
              </a:r>
            </a:p>
          </p:txBody>
        </p:sp>
        <p:grpSp>
          <p:nvGrpSpPr>
            <p:cNvPr id="77834" name="Group 81">
              <a:extLst>
                <a:ext uri="{FF2B5EF4-FFF2-40B4-BE49-F238E27FC236}">
                  <a16:creationId xmlns:a16="http://schemas.microsoft.com/office/drawing/2014/main" id="{88B8947E-20E9-495D-8D16-28140C4751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3638"/>
              <a:ext cx="336" cy="336"/>
              <a:chOff x="3552" y="2544"/>
              <a:chExt cx="336" cy="336"/>
            </a:xfrm>
          </p:grpSpPr>
          <p:sp>
            <p:nvSpPr>
              <p:cNvPr id="77848" name="Oval 82">
                <a:extLst>
                  <a:ext uri="{FF2B5EF4-FFF2-40B4-BE49-F238E27FC236}">
                    <a16:creationId xmlns:a16="http://schemas.microsoft.com/office/drawing/2014/main" id="{5B62EBD7-D996-4EE4-A707-25A81FD2B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7849" name="Oval 83">
                <a:extLst>
                  <a:ext uri="{FF2B5EF4-FFF2-40B4-BE49-F238E27FC236}">
                    <a16:creationId xmlns:a16="http://schemas.microsoft.com/office/drawing/2014/main" id="{E3EBAC19-86D4-467B-BFAC-5A9646F61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7835" name="Text Box 84">
              <a:extLst>
                <a:ext uri="{FF2B5EF4-FFF2-40B4-BE49-F238E27FC236}">
                  <a16:creationId xmlns:a16="http://schemas.microsoft.com/office/drawing/2014/main" id="{3ABD6183-2473-4CD9-96A6-97C5BD594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17</a:t>
              </a:r>
            </a:p>
          </p:txBody>
        </p:sp>
        <p:sp>
          <p:nvSpPr>
            <p:cNvPr id="77836" name="Text Box 85">
              <a:extLst>
                <a:ext uri="{FF2B5EF4-FFF2-40B4-BE49-F238E27FC236}">
                  <a16:creationId xmlns:a16="http://schemas.microsoft.com/office/drawing/2014/main" id="{F9F05E01-8EEE-41C8-B9D8-7169A4F4B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55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(</a:t>
              </a:r>
            </a:p>
          </p:txBody>
        </p:sp>
        <p:sp>
          <p:nvSpPr>
            <p:cNvPr id="77837" name="Oval 86">
              <a:extLst>
                <a:ext uri="{FF2B5EF4-FFF2-40B4-BE49-F238E27FC236}">
                  <a16:creationId xmlns:a16="http://schemas.microsoft.com/office/drawing/2014/main" id="{BA7A750C-109C-4889-86D6-B57CA22E6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38" name="Line 87">
              <a:extLst>
                <a:ext uri="{FF2B5EF4-FFF2-40B4-BE49-F238E27FC236}">
                  <a16:creationId xmlns:a16="http://schemas.microsoft.com/office/drawing/2014/main" id="{C29FA97C-8876-4580-9061-34D8CE87B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9" name="Text Box 88">
              <a:extLst>
                <a:ext uri="{FF2B5EF4-FFF2-40B4-BE49-F238E27FC236}">
                  <a16:creationId xmlns:a16="http://schemas.microsoft.com/office/drawing/2014/main" id="{1B141948-E66C-41EA-8FFE-5E5A8F3B4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15</a:t>
              </a:r>
            </a:p>
          </p:txBody>
        </p:sp>
        <p:sp>
          <p:nvSpPr>
            <p:cNvPr id="77840" name="Text Box 89">
              <a:extLst>
                <a:ext uri="{FF2B5EF4-FFF2-40B4-BE49-F238E27FC236}">
                  <a16:creationId xmlns:a16="http://schemas.microsoft.com/office/drawing/2014/main" id="{7E02CCD6-05D1-47B4-B5D3-387F909FE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</a:p>
          </p:txBody>
        </p:sp>
        <p:sp>
          <p:nvSpPr>
            <p:cNvPr id="77841" name="Text Box 90">
              <a:extLst>
                <a:ext uri="{FF2B5EF4-FFF2-40B4-BE49-F238E27FC236}">
                  <a16:creationId xmlns:a16="http://schemas.microsoft.com/office/drawing/2014/main" id="{1DCCD356-FE24-4F93-AAF8-47D953EE3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68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F:</a:t>
              </a:r>
            </a:p>
          </p:txBody>
        </p:sp>
        <p:sp>
          <p:nvSpPr>
            <p:cNvPr id="77842" name="Oval 91">
              <a:extLst>
                <a:ext uri="{FF2B5EF4-FFF2-40B4-BE49-F238E27FC236}">
                  <a16:creationId xmlns:a16="http://schemas.microsoft.com/office/drawing/2014/main" id="{9338FACA-8C49-48B6-B064-B08A90970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7843" name="Line 92">
              <a:extLst>
                <a:ext uri="{FF2B5EF4-FFF2-40B4-BE49-F238E27FC236}">
                  <a16:creationId xmlns:a16="http://schemas.microsoft.com/office/drawing/2014/main" id="{755EF584-5C7E-4B8E-A9EB-AD1B372B6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44" name="Text Box 93">
              <a:extLst>
                <a:ext uri="{FF2B5EF4-FFF2-40B4-BE49-F238E27FC236}">
                  <a16:creationId xmlns:a16="http://schemas.microsoft.com/office/drawing/2014/main" id="{902287CC-2050-4E01-8B84-28BF445F9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16</a:t>
              </a:r>
            </a:p>
          </p:txBody>
        </p:sp>
        <p:sp>
          <p:nvSpPr>
            <p:cNvPr id="77845" name="Text Box 94">
              <a:extLst>
                <a:ext uri="{FF2B5EF4-FFF2-40B4-BE49-F238E27FC236}">
                  <a16:creationId xmlns:a16="http://schemas.microsoft.com/office/drawing/2014/main" id="{2D301C2C-20E6-414D-AFBC-9BD36B45D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)</a:t>
              </a:r>
            </a:p>
          </p:txBody>
        </p:sp>
        <p:cxnSp>
          <p:nvCxnSpPr>
            <p:cNvPr id="77846" name="AutoShape 95">
              <a:extLst>
                <a:ext uri="{FF2B5EF4-FFF2-40B4-BE49-F238E27FC236}">
                  <a16:creationId xmlns:a16="http://schemas.microsoft.com/office/drawing/2014/main" id="{6D75D8B2-4FF8-421D-BF47-E8788EB5DE3E}"/>
                </a:ext>
              </a:extLst>
            </p:cNvPr>
            <p:cNvCxnSpPr>
              <a:cxnSpLocks noChangeShapeType="1"/>
              <a:stCxn id="77831" idx="4"/>
              <a:endCxn id="77848" idx="4"/>
            </p:cNvCxnSpPr>
            <p:nvPr/>
          </p:nvCxnSpPr>
          <p:spPr bwMode="auto">
            <a:xfrm rot="16200000" flipH="1">
              <a:off x="2039" y="2975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47" name="Text Box 96">
              <a:extLst>
                <a:ext uri="{FF2B5EF4-FFF2-40B4-BE49-F238E27FC236}">
                  <a16:creationId xmlns:a16="http://schemas.microsoft.com/office/drawing/2014/main" id="{2E83011A-7C38-4FB1-B485-0621B34F8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88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id</a:t>
              </a:r>
              <a:endParaRPr kumimoji="0" lang="en-US" altLang="zh-CN" sz="2000" b="1"/>
            </a:p>
          </p:txBody>
        </p:sp>
      </p:grpSp>
      <p:sp>
        <p:nvSpPr>
          <p:cNvPr id="77830" name="Text Box 97">
            <a:extLst>
              <a:ext uri="{FF2B5EF4-FFF2-40B4-BE49-F238E27FC236}">
                <a16:creationId xmlns:a16="http://schemas.microsoft.com/office/drawing/2014/main" id="{420897F4-0AB6-463C-B17C-F472BFB5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452688"/>
            <a:ext cx="3581400" cy="2895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如何使用</a:t>
            </a:r>
            <a:r>
              <a:rPr kumimoji="0" lang="en-US" altLang="zh-CN" sz="2800" b="1">
                <a:solidFill>
                  <a:srgbClr val="FF3300"/>
                </a:solidFill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</a:rPr>
              <a:t>进行语法分析 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边如何处理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TD</a:t>
            </a: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是否可以化简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化简的重要性</a:t>
            </a:r>
            <a:r>
              <a:rPr kumimoji="0"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  <a:endParaRPr kumimoji="0" lang="en-US" altLang="zh-CN" sz="28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2548593-C9FB-4EB6-81DD-3A8466C48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>
                <a:solidFill>
                  <a:schemeClr val="tx2"/>
                </a:solidFill>
              </a:rPr>
              <a:t>使用</a:t>
            </a:r>
            <a:r>
              <a:rPr lang="en-US" altLang="zh-CN" sz="4400">
                <a:solidFill>
                  <a:schemeClr val="tx2"/>
                </a:solidFill>
              </a:rPr>
              <a:t>TD</a:t>
            </a:r>
            <a:r>
              <a:rPr lang="zh-CN" altLang="en-US" sz="4400">
                <a:solidFill>
                  <a:schemeClr val="tx2"/>
                </a:solidFill>
              </a:rPr>
              <a:t>进行语法分析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C1AE2A96-6B2F-4365-A6D6-6A4B9FAA4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算法：</a:t>
            </a:r>
          </a:p>
          <a:p>
            <a:pPr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folHlink"/>
                </a:solidFill>
              </a:rPr>
              <a:t>存在边</a:t>
            </a:r>
            <a:r>
              <a:rPr lang="en-US" altLang="zh-CN" sz="2800" dirty="0">
                <a:solidFill>
                  <a:schemeClr val="folHlink"/>
                </a:solidFill>
              </a:rPr>
              <a:t>s</a:t>
            </a:r>
            <a:r>
              <a:rPr lang="en-US" altLang="zh-CN" sz="2800" dirty="0">
                <a:solidFill>
                  <a:schemeClr val="folHlink"/>
                </a:solidFill>
                <a:latin typeface="Tahoma" panose="020B0604030504040204" pitchFamily="34" charset="0"/>
              </a:rPr>
              <a:t>—</a:t>
            </a:r>
            <a:r>
              <a:rPr lang="en-US" altLang="zh-CN" sz="2800" dirty="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800" dirty="0">
                <a:solidFill>
                  <a:schemeClr val="folHlink"/>
                </a:solidFill>
              </a:rPr>
              <a:t>t</a:t>
            </a:r>
          </a:p>
          <a:p>
            <a:pPr lvl="1" eaLnBrk="1" hangingPunct="1"/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当前状态为</a:t>
            </a:r>
            <a:r>
              <a:rPr lang="en-US" altLang="zh-CN" sz="2400" dirty="0">
                <a:solidFill>
                  <a:schemeClr val="folHlink"/>
                </a:solidFill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</a:rPr>
              <a:t>且下个输入符号为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应从当前状态</a:t>
            </a:r>
            <a:r>
              <a:rPr lang="en-US" altLang="zh-CN" sz="2400" dirty="0">
                <a:solidFill>
                  <a:schemeClr val="folHlink"/>
                </a:solidFill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</a:rPr>
              <a:t>转换到状态</a:t>
            </a:r>
            <a:r>
              <a:rPr lang="en-US" altLang="zh-CN" sz="2400" dirty="0">
                <a:solidFill>
                  <a:schemeClr val="folHlink"/>
                </a:solidFill>
              </a:rPr>
              <a:t>t</a:t>
            </a:r>
            <a:r>
              <a:rPr lang="zh-CN" altLang="en-US" sz="2400" dirty="0">
                <a:solidFill>
                  <a:schemeClr val="folHlink"/>
                </a:solidFill>
              </a:rPr>
              <a:t>，输入缓冲指针前移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folHlink"/>
                </a:solidFill>
              </a:rPr>
              <a:t>存在边</a:t>
            </a:r>
            <a:r>
              <a:rPr lang="en-US" altLang="zh-CN" sz="2800" dirty="0">
                <a:solidFill>
                  <a:schemeClr val="folHlink"/>
                </a:solidFill>
              </a:rPr>
              <a:t>s</a:t>
            </a:r>
            <a:r>
              <a:rPr lang="en-US" altLang="zh-CN" sz="2800" dirty="0">
                <a:solidFill>
                  <a:schemeClr val="folHlink"/>
                </a:solidFill>
                <a:latin typeface="Tahoma" panose="020B0604030504040204" pitchFamily="34" charset="0"/>
              </a:rPr>
              <a:t>——</a:t>
            </a:r>
            <a:r>
              <a:rPr lang="en-US" altLang="zh-CN" sz="2800" dirty="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800" dirty="0">
                <a:solidFill>
                  <a:schemeClr val="folHlink"/>
                </a:solidFill>
              </a:rPr>
              <a:t>t</a:t>
            </a:r>
            <a:endParaRPr lang="en-US" altLang="zh-CN" sz="2800" dirty="0">
              <a:solidFill>
                <a:schemeClr val="folHlink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不可能直接从输入缓冲读入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，将状态转换到</a:t>
            </a:r>
            <a:r>
              <a:rPr lang="en-US" altLang="zh-CN" sz="2400" dirty="0">
                <a:solidFill>
                  <a:schemeClr val="folHlink"/>
                </a:solidFill>
              </a:rPr>
              <a:t>t</a:t>
            </a: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转到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的</a:t>
            </a:r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的初态，输入缓冲指针保持不变，在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的</a:t>
            </a:r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中继续读入符号、转换状态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当到达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</a:rPr>
              <a:t>的终态，则回到原</a:t>
            </a:r>
            <a:r>
              <a:rPr lang="en-US" altLang="zh-CN" sz="2400" dirty="0">
                <a:solidFill>
                  <a:schemeClr val="folHlink"/>
                </a:solidFill>
              </a:rPr>
              <a:t>TD</a:t>
            </a:r>
            <a:r>
              <a:rPr lang="zh-CN" altLang="en-US" sz="2400" dirty="0">
                <a:solidFill>
                  <a:schemeClr val="folHlink"/>
                </a:solidFill>
              </a:rPr>
              <a:t>、状态转换到</a:t>
            </a:r>
            <a:r>
              <a:rPr lang="en-US" altLang="zh-CN" sz="2400" dirty="0">
                <a:solidFill>
                  <a:schemeClr val="folHlink"/>
                </a:solidFill>
              </a:rPr>
              <a:t>t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识别出一个“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”使得从状态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转换到状态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t</a:t>
            </a:r>
          </a:p>
          <a:p>
            <a:pPr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folHlink"/>
                </a:solidFill>
              </a:rPr>
              <a:t>存在边</a:t>
            </a:r>
            <a:r>
              <a:rPr lang="en-US" altLang="zh-CN" sz="2800" dirty="0">
                <a:solidFill>
                  <a:schemeClr val="folHlink"/>
                </a:solidFill>
              </a:rPr>
              <a:t>s</a:t>
            </a:r>
            <a:r>
              <a:rPr lang="en-US" altLang="zh-CN" sz="2800" dirty="0">
                <a:solidFill>
                  <a:schemeClr val="folHlink"/>
                </a:solidFill>
                <a:latin typeface="Tahoma" panose="020B0604030504040204" pitchFamily="34" charset="0"/>
              </a:rPr>
              <a:t>—</a:t>
            </a:r>
            <a:r>
              <a:rPr lang="en-US" altLang="zh-CN" sz="2800" dirty="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800" dirty="0">
                <a:solidFill>
                  <a:schemeClr val="folHlink"/>
                </a:solidFill>
              </a:rPr>
              <a:t>t</a:t>
            </a:r>
            <a:endParaRPr lang="en-US" altLang="zh-CN" sz="2800" dirty="0">
              <a:solidFill>
                <a:schemeClr val="folHlink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从当前状态</a:t>
            </a:r>
            <a:r>
              <a:rPr lang="en-US" altLang="zh-CN" sz="2400" dirty="0">
                <a:solidFill>
                  <a:schemeClr val="folHlink"/>
                </a:solidFill>
                <a:sym typeface="Wingdings" panose="05000000000000000000" pitchFamily="2" charset="2"/>
              </a:rPr>
              <a:t>s</a:t>
            </a:r>
            <a:r>
              <a:rPr lang="zh-CN" altLang="en-US" sz="2400" dirty="0">
                <a:solidFill>
                  <a:schemeClr val="folHlink"/>
                </a:solidFill>
                <a:sym typeface="Wingdings" panose="05000000000000000000" pitchFamily="2" charset="2"/>
              </a:rPr>
              <a:t>转换到状态</a:t>
            </a:r>
            <a:r>
              <a:rPr kumimoji="0" lang="en-US" altLang="zh-CN" sz="2400" dirty="0">
                <a:solidFill>
                  <a:schemeClr val="folHlink"/>
                </a:solidFill>
                <a:sym typeface="Symbol" panose="05050102010706020507" pitchFamily="18" charset="2"/>
              </a:rPr>
              <a:t>t</a:t>
            </a:r>
            <a:r>
              <a:rPr kumimoji="0" lang="zh-CN" altLang="en-US" sz="2400" dirty="0">
                <a:solidFill>
                  <a:schemeClr val="folHlink"/>
                </a:solidFill>
                <a:sym typeface="Symbol" panose="05050102010706020507" pitchFamily="18" charset="2"/>
              </a:rPr>
              <a:t>，输入缓冲指针不变</a:t>
            </a:r>
          </a:p>
        </p:txBody>
      </p:sp>
      <p:sp>
        <p:nvSpPr>
          <p:cNvPr id="78852" name="Text Box 4">
            <a:extLst>
              <a:ext uri="{FF2B5EF4-FFF2-40B4-BE49-F238E27FC236}">
                <a16:creationId xmlns:a16="http://schemas.microsoft.com/office/drawing/2014/main" id="{662D421F-7029-421F-9B36-62D69DC185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043010" y="178720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78853" name="Text Box 5">
            <a:extLst>
              <a:ext uri="{FF2B5EF4-FFF2-40B4-BE49-F238E27FC236}">
                <a16:creationId xmlns:a16="http://schemas.microsoft.com/office/drawing/2014/main" id="{A322AED6-19C1-43F4-AF25-164858B4B89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987824" y="3200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NT A</a:t>
            </a:r>
          </a:p>
        </p:txBody>
      </p:sp>
      <p:sp>
        <p:nvSpPr>
          <p:cNvPr id="78854" name="Text Box 6">
            <a:extLst>
              <a:ext uri="{FF2B5EF4-FFF2-40B4-BE49-F238E27FC236}">
                <a16:creationId xmlns:a16="http://schemas.microsoft.com/office/drawing/2014/main" id="{7DC5C303-7037-4DE3-B3FE-FEC389C0C51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043010" y="5791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  <a:latin typeface="Symbol" panose="05050102010706020507" pitchFamily="18" charset="2"/>
              </a:rPr>
              <a:t>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896A1708-74E9-4350-9F70-C95587270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（代码示例）</a:t>
            </a:r>
          </a:p>
        </p:txBody>
      </p:sp>
      <p:sp>
        <p:nvSpPr>
          <p:cNvPr id="79875" name="Text Box 4">
            <a:extLst>
              <a:ext uri="{FF2B5EF4-FFF2-40B4-BE49-F238E27FC236}">
                <a16:creationId xmlns:a16="http://schemas.microsoft.com/office/drawing/2014/main" id="{09D70344-754D-4038-917C-64D58A1E9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31938"/>
            <a:ext cx="1676400" cy="1301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main()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TD_E();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9876" name="Text Box 6">
            <a:extLst>
              <a:ext uri="{FF2B5EF4-FFF2-40B4-BE49-F238E27FC236}">
                <a16:creationId xmlns:a16="http://schemas.microsoft.com/office/drawing/2014/main" id="{290DCC8D-0899-46F3-8586-4F3A6C214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79738"/>
            <a:ext cx="1676400" cy="16049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TD_E()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TD_T();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TD_E’();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9877" name="Text Box 7">
            <a:extLst>
              <a:ext uri="{FF2B5EF4-FFF2-40B4-BE49-F238E27FC236}">
                <a16:creationId xmlns:a16="http://schemas.microsoft.com/office/drawing/2014/main" id="{E936168D-15D0-4A56-BFCC-1D8B2E300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447800"/>
            <a:ext cx="4267200" cy="10842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TD_E’()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 token = get_token();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if token = ‘+’ then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{ TD_T(); TD_E’(); }}</a:t>
            </a:r>
          </a:p>
        </p:txBody>
      </p:sp>
      <p:grpSp>
        <p:nvGrpSpPr>
          <p:cNvPr id="79878" name="Group 11">
            <a:extLst>
              <a:ext uri="{FF2B5EF4-FFF2-40B4-BE49-F238E27FC236}">
                <a16:creationId xmlns:a16="http://schemas.microsoft.com/office/drawing/2014/main" id="{F54FE606-517A-41E4-8A9C-0EE7109FF19F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886200"/>
            <a:ext cx="3200400" cy="638175"/>
            <a:chOff x="528" y="1326"/>
            <a:chExt cx="2016" cy="402"/>
          </a:xfrm>
        </p:grpSpPr>
        <p:grpSp>
          <p:nvGrpSpPr>
            <p:cNvPr id="79900" name="Group 12">
              <a:extLst>
                <a:ext uri="{FF2B5EF4-FFF2-40B4-BE49-F238E27FC236}">
                  <a16:creationId xmlns:a16="http://schemas.microsoft.com/office/drawing/2014/main" id="{033B1AE2-F4F4-4058-8B07-3EA90CA1C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392"/>
              <a:ext cx="336" cy="336"/>
              <a:chOff x="3552" y="2544"/>
              <a:chExt cx="336" cy="336"/>
            </a:xfrm>
          </p:grpSpPr>
          <p:sp>
            <p:nvSpPr>
              <p:cNvPr id="79911" name="Oval 13">
                <a:extLst>
                  <a:ext uri="{FF2B5EF4-FFF2-40B4-BE49-F238E27FC236}">
                    <a16:creationId xmlns:a16="http://schemas.microsoft.com/office/drawing/2014/main" id="{F2AB3524-F551-4142-9FF2-A65542D0B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79912" name="Oval 14">
                <a:extLst>
                  <a:ext uri="{FF2B5EF4-FFF2-40B4-BE49-F238E27FC236}">
                    <a16:creationId xmlns:a16="http://schemas.microsoft.com/office/drawing/2014/main" id="{157F3496-A5EB-491B-A436-7F5AA3AB5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79901" name="Oval 15">
              <a:extLst>
                <a:ext uri="{FF2B5EF4-FFF2-40B4-BE49-F238E27FC236}">
                  <a16:creationId xmlns:a16="http://schemas.microsoft.com/office/drawing/2014/main" id="{FC7EC27D-D35B-4389-B3F9-27EB6D232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902" name="Oval 16">
              <a:extLst>
                <a:ext uri="{FF2B5EF4-FFF2-40B4-BE49-F238E27FC236}">
                  <a16:creationId xmlns:a16="http://schemas.microsoft.com/office/drawing/2014/main" id="{6240051E-0286-4B61-8DA1-FAD1F840E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3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903" name="Line 17">
              <a:extLst>
                <a:ext uri="{FF2B5EF4-FFF2-40B4-BE49-F238E27FC236}">
                  <a16:creationId xmlns:a16="http://schemas.microsoft.com/office/drawing/2014/main" id="{BE863317-C142-44D0-9B8E-177F06248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4" name="Line 18">
              <a:extLst>
                <a:ext uri="{FF2B5EF4-FFF2-40B4-BE49-F238E27FC236}">
                  <a16:creationId xmlns:a16="http://schemas.microsoft.com/office/drawing/2014/main" id="{123DFECE-F3F7-42CA-B8DD-CC2355684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5" name="Text Box 19">
              <a:extLst>
                <a:ext uri="{FF2B5EF4-FFF2-40B4-BE49-F238E27FC236}">
                  <a16:creationId xmlns:a16="http://schemas.microsoft.com/office/drawing/2014/main" id="{ED41DFD6-CE8D-4FB5-887F-DFA93E325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0</a:t>
              </a:r>
            </a:p>
          </p:txBody>
        </p:sp>
        <p:sp>
          <p:nvSpPr>
            <p:cNvPr id="79906" name="Text Box 20">
              <a:extLst>
                <a:ext uri="{FF2B5EF4-FFF2-40B4-BE49-F238E27FC236}">
                  <a16:creationId xmlns:a16="http://schemas.microsoft.com/office/drawing/2014/main" id="{1AEBF388-B073-4CE5-AABD-A53EE8901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2</a:t>
              </a:r>
            </a:p>
          </p:txBody>
        </p:sp>
        <p:sp>
          <p:nvSpPr>
            <p:cNvPr id="79907" name="Text Box 21">
              <a:extLst>
                <a:ext uri="{FF2B5EF4-FFF2-40B4-BE49-F238E27FC236}">
                  <a16:creationId xmlns:a16="http://schemas.microsoft.com/office/drawing/2014/main" id="{97D41D83-0023-47AE-9035-E43A03A22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44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</a:t>
              </a:r>
            </a:p>
          </p:txBody>
        </p:sp>
        <p:sp>
          <p:nvSpPr>
            <p:cNvPr id="79908" name="Text Box 22">
              <a:extLst>
                <a:ext uri="{FF2B5EF4-FFF2-40B4-BE49-F238E27FC236}">
                  <a16:creationId xmlns:a16="http://schemas.microsoft.com/office/drawing/2014/main" id="{F8EC19CD-DA48-440D-AEC8-05C840103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32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</a:p>
          </p:txBody>
        </p:sp>
        <p:sp>
          <p:nvSpPr>
            <p:cNvPr id="79909" name="Text Box 23">
              <a:extLst>
                <a:ext uri="{FF2B5EF4-FFF2-40B4-BE49-F238E27FC236}">
                  <a16:creationId xmlns:a16="http://schemas.microsoft.com/office/drawing/2014/main" id="{679DEA29-B602-4642-B018-5C9DEF766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2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</a:p>
          </p:txBody>
        </p:sp>
        <p:sp>
          <p:nvSpPr>
            <p:cNvPr id="79910" name="Text Box 24">
              <a:extLst>
                <a:ext uri="{FF2B5EF4-FFF2-40B4-BE49-F238E27FC236}">
                  <a16:creationId xmlns:a16="http://schemas.microsoft.com/office/drawing/2014/main" id="{9385D18A-09F9-480C-9E04-170132385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E:</a:t>
              </a:r>
            </a:p>
          </p:txBody>
        </p:sp>
      </p:grpSp>
      <p:grpSp>
        <p:nvGrpSpPr>
          <p:cNvPr id="79879" name="Group 25">
            <a:extLst>
              <a:ext uri="{FF2B5EF4-FFF2-40B4-BE49-F238E27FC236}">
                <a16:creationId xmlns:a16="http://schemas.microsoft.com/office/drawing/2014/main" id="{DB8AFAED-6271-409C-ADA0-5E7FD1D4582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819400"/>
            <a:ext cx="4267200" cy="958850"/>
            <a:chOff x="528" y="1710"/>
            <a:chExt cx="2688" cy="604"/>
          </a:xfrm>
        </p:grpSpPr>
        <p:sp>
          <p:nvSpPr>
            <p:cNvPr id="79880" name="Oval 26">
              <a:extLst>
                <a:ext uri="{FF2B5EF4-FFF2-40B4-BE49-F238E27FC236}">
                  <a16:creationId xmlns:a16="http://schemas.microsoft.com/office/drawing/2014/main" id="{379525A2-92E0-4757-B29F-A5E87795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881" name="Line 27">
              <a:extLst>
                <a:ext uri="{FF2B5EF4-FFF2-40B4-BE49-F238E27FC236}">
                  <a16:creationId xmlns:a16="http://schemas.microsoft.com/office/drawing/2014/main" id="{533FBBFB-01D9-4DF6-A865-DC5BAA5C8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2" name="Text Box 28">
              <a:extLst>
                <a:ext uri="{FF2B5EF4-FFF2-40B4-BE49-F238E27FC236}">
                  <a16:creationId xmlns:a16="http://schemas.microsoft.com/office/drawing/2014/main" id="{ED98451F-BB2E-493D-AFFB-FA49D5F2B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3</a:t>
              </a:r>
            </a:p>
          </p:txBody>
        </p:sp>
        <p:grpSp>
          <p:nvGrpSpPr>
            <p:cNvPr id="79883" name="Group 29">
              <a:extLst>
                <a:ext uri="{FF2B5EF4-FFF2-40B4-BE49-F238E27FC236}">
                  <a16:creationId xmlns:a16="http://schemas.microsoft.com/office/drawing/2014/main" id="{B23AB23A-B51E-4EBD-A6E9-AD85BB29D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776"/>
              <a:ext cx="336" cy="336"/>
              <a:chOff x="2448" y="2736"/>
              <a:chExt cx="336" cy="336"/>
            </a:xfrm>
          </p:grpSpPr>
          <p:grpSp>
            <p:nvGrpSpPr>
              <p:cNvPr id="79896" name="Group 30">
                <a:extLst>
                  <a:ext uri="{FF2B5EF4-FFF2-40B4-BE49-F238E27FC236}">
                    <a16:creationId xmlns:a16="http://schemas.microsoft.com/office/drawing/2014/main" id="{F15D1D40-8832-4051-ADCE-8FAA7FFE71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79898" name="Oval 31">
                  <a:extLst>
                    <a:ext uri="{FF2B5EF4-FFF2-40B4-BE49-F238E27FC236}">
                      <a16:creationId xmlns:a16="http://schemas.microsoft.com/office/drawing/2014/main" id="{5C22D23C-F290-4B16-9C81-04CD57DA60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79899" name="Oval 32">
                  <a:extLst>
                    <a:ext uri="{FF2B5EF4-FFF2-40B4-BE49-F238E27FC236}">
                      <a16:creationId xmlns:a16="http://schemas.microsoft.com/office/drawing/2014/main" id="{08DC62D8-4DAB-47A4-B2FD-A74ECC2C7B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79897" name="Text Box 33">
                <a:extLst>
                  <a:ext uri="{FF2B5EF4-FFF2-40B4-BE49-F238E27FC236}">
                    <a16:creationId xmlns:a16="http://schemas.microsoft.com/office/drawing/2014/main" id="{3D3B32AE-8846-49C4-A6A0-3DAB0D48DC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 b="1"/>
                  <a:t>6</a:t>
                </a:r>
              </a:p>
            </p:txBody>
          </p:sp>
        </p:grpSp>
        <p:sp>
          <p:nvSpPr>
            <p:cNvPr id="79884" name="Text Box 34">
              <a:extLst>
                <a:ext uri="{FF2B5EF4-FFF2-40B4-BE49-F238E27FC236}">
                  <a16:creationId xmlns:a16="http://schemas.microsoft.com/office/drawing/2014/main" id="{C777F29D-0E01-4E92-BA40-411D1C532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1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</a:p>
          </p:txBody>
        </p:sp>
        <p:sp>
          <p:nvSpPr>
            <p:cNvPr id="79885" name="Oval 35">
              <a:extLst>
                <a:ext uri="{FF2B5EF4-FFF2-40B4-BE49-F238E27FC236}">
                  <a16:creationId xmlns:a16="http://schemas.microsoft.com/office/drawing/2014/main" id="{BD9D4E95-25CB-46EE-835C-0D39073E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886" name="Line 36">
              <a:extLst>
                <a:ext uri="{FF2B5EF4-FFF2-40B4-BE49-F238E27FC236}">
                  <a16:creationId xmlns:a16="http://schemas.microsoft.com/office/drawing/2014/main" id="{E3831962-2C32-4B0F-971A-F488FF7ED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7" name="Text Box 37">
              <a:extLst>
                <a:ext uri="{FF2B5EF4-FFF2-40B4-BE49-F238E27FC236}">
                  <a16:creationId xmlns:a16="http://schemas.microsoft.com/office/drawing/2014/main" id="{3045A7D4-7364-4849-AD82-3D173A7AA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4</a:t>
              </a:r>
            </a:p>
          </p:txBody>
        </p:sp>
        <p:sp>
          <p:nvSpPr>
            <p:cNvPr id="79888" name="Text Box 38">
              <a:extLst>
                <a:ext uri="{FF2B5EF4-FFF2-40B4-BE49-F238E27FC236}">
                  <a16:creationId xmlns:a16="http://schemas.microsoft.com/office/drawing/2014/main" id="{2F5F5F34-6877-4FB3-BFDE-1A69B1998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</a:p>
          </p:txBody>
        </p:sp>
        <p:sp>
          <p:nvSpPr>
            <p:cNvPr id="79889" name="Text Box 39">
              <a:extLst>
                <a:ext uri="{FF2B5EF4-FFF2-40B4-BE49-F238E27FC236}">
                  <a16:creationId xmlns:a16="http://schemas.microsoft.com/office/drawing/2014/main" id="{7924C9FF-3F9C-4EC4-8FD6-50452D639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82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E’:</a:t>
              </a:r>
            </a:p>
          </p:txBody>
        </p:sp>
        <p:sp>
          <p:nvSpPr>
            <p:cNvPr id="79890" name="Oval 40">
              <a:extLst>
                <a:ext uri="{FF2B5EF4-FFF2-40B4-BE49-F238E27FC236}">
                  <a16:creationId xmlns:a16="http://schemas.microsoft.com/office/drawing/2014/main" id="{1D02BF2C-AE50-49B9-A288-9A60E238E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9891" name="Line 41">
              <a:extLst>
                <a:ext uri="{FF2B5EF4-FFF2-40B4-BE49-F238E27FC236}">
                  <a16:creationId xmlns:a16="http://schemas.microsoft.com/office/drawing/2014/main" id="{4BB90600-7573-41D3-B6B3-01AF391E1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2" name="Text Box 42">
              <a:extLst>
                <a:ext uri="{FF2B5EF4-FFF2-40B4-BE49-F238E27FC236}">
                  <a16:creationId xmlns:a16="http://schemas.microsoft.com/office/drawing/2014/main" id="{D4DAED31-E6ED-4EF2-A13C-CFC295621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82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5</a:t>
              </a:r>
            </a:p>
          </p:txBody>
        </p:sp>
        <p:sp>
          <p:nvSpPr>
            <p:cNvPr id="79893" name="Text Box 43">
              <a:extLst>
                <a:ext uri="{FF2B5EF4-FFF2-40B4-BE49-F238E27FC236}">
                  <a16:creationId xmlns:a16="http://schemas.microsoft.com/office/drawing/2014/main" id="{949E0DE5-7922-4170-A215-9CF449DD9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71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E’</a:t>
              </a:r>
            </a:p>
          </p:txBody>
        </p:sp>
        <p:cxnSp>
          <p:nvCxnSpPr>
            <p:cNvPr id="79894" name="AutoShape 44">
              <a:extLst>
                <a:ext uri="{FF2B5EF4-FFF2-40B4-BE49-F238E27FC236}">
                  <a16:creationId xmlns:a16="http://schemas.microsoft.com/office/drawing/2014/main" id="{D846334F-7B1F-4E4C-9EF5-623EF3AF9A61}"/>
                </a:ext>
              </a:extLst>
            </p:cNvPr>
            <p:cNvCxnSpPr>
              <a:cxnSpLocks noChangeShapeType="1"/>
              <a:stCxn id="79880" idx="4"/>
              <a:endCxn id="79898" idx="4"/>
            </p:cNvCxnSpPr>
            <p:nvPr/>
          </p:nvCxnSpPr>
          <p:spPr bwMode="auto">
            <a:xfrm rot="16200000" flipH="1">
              <a:off x="2039" y="1113"/>
              <a:ext cx="1" cy="2016"/>
            </a:xfrm>
            <a:prstGeom prst="curvedConnector3">
              <a:avLst>
                <a:gd name="adj1" fmla="val 1349999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895" name="Text Box 45">
              <a:extLst>
                <a:ext uri="{FF2B5EF4-FFF2-40B4-BE49-F238E27FC236}">
                  <a16:creationId xmlns:a16="http://schemas.microsoft.com/office/drawing/2014/main" id="{B71BB51E-A0FB-4684-B8EE-50395F460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06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36E5F74-507A-4203-A32A-13B8467F9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（代码示例）</a:t>
            </a:r>
          </a:p>
        </p:txBody>
      </p:sp>
      <p:sp>
        <p:nvSpPr>
          <p:cNvPr id="80899" name="Text Box 4">
            <a:extLst>
              <a:ext uri="{FF2B5EF4-FFF2-40B4-BE49-F238E27FC236}">
                <a16:creationId xmlns:a16="http://schemas.microsoft.com/office/drawing/2014/main" id="{73091144-9319-4911-8475-A49CDE14A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1676400" cy="16049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TD_T()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TD_F();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TD_T’();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0900" name="Text Box 8">
            <a:extLst>
              <a:ext uri="{FF2B5EF4-FFF2-40B4-BE49-F238E27FC236}">
                <a16:creationId xmlns:a16="http://schemas.microsoft.com/office/drawing/2014/main" id="{C69FDD9D-DBC3-4BF0-8A1B-6D61ECEF7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021138"/>
            <a:ext cx="4267200" cy="1084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TD_T’()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 token = get_token();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if token = ‘*’ then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{ TD_F(); TD_T’(); }}</a:t>
            </a:r>
          </a:p>
        </p:txBody>
      </p:sp>
      <p:grpSp>
        <p:nvGrpSpPr>
          <p:cNvPr id="80901" name="Group 10">
            <a:extLst>
              <a:ext uri="{FF2B5EF4-FFF2-40B4-BE49-F238E27FC236}">
                <a16:creationId xmlns:a16="http://schemas.microsoft.com/office/drawing/2014/main" id="{A6A61F14-86E9-4A59-80F7-91C34D66F2F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600200"/>
            <a:ext cx="3200400" cy="657225"/>
            <a:chOff x="528" y="2274"/>
            <a:chExt cx="2016" cy="414"/>
          </a:xfrm>
        </p:grpSpPr>
        <p:grpSp>
          <p:nvGrpSpPr>
            <p:cNvPr id="80922" name="Group 11">
              <a:extLst>
                <a:ext uri="{FF2B5EF4-FFF2-40B4-BE49-F238E27FC236}">
                  <a16:creationId xmlns:a16="http://schemas.microsoft.com/office/drawing/2014/main" id="{E0CA3000-7380-46E4-9618-5D4AAFA70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352"/>
              <a:ext cx="336" cy="336"/>
              <a:chOff x="3552" y="2544"/>
              <a:chExt cx="336" cy="336"/>
            </a:xfrm>
          </p:grpSpPr>
          <p:sp>
            <p:nvSpPr>
              <p:cNvPr id="80933" name="Oval 12">
                <a:extLst>
                  <a:ext uri="{FF2B5EF4-FFF2-40B4-BE49-F238E27FC236}">
                    <a16:creationId xmlns:a16="http://schemas.microsoft.com/office/drawing/2014/main" id="{C76D2FD2-E833-44C8-BAF5-E058355FB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0934" name="Oval 13">
                <a:extLst>
                  <a:ext uri="{FF2B5EF4-FFF2-40B4-BE49-F238E27FC236}">
                    <a16:creationId xmlns:a16="http://schemas.microsoft.com/office/drawing/2014/main" id="{6ABA22F2-AE0F-455A-B070-8E64DB421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0923" name="Oval 14">
              <a:extLst>
                <a:ext uri="{FF2B5EF4-FFF2-40B4-BE49-F238E27FC236}">
                  <a16:creationId xmlns:a16="http://schemas.microsoft.com/office/drawing/2014/main" id="{317E7633-FFAA-413F-9914-E0ECC442D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24" name="Oval 15">
              <a:extLst>
                <a:ext uri="{FF2B5EF4-FFF2-40B4-BE49-F238E27FC236}">
                  <a16:creationId xmlns:a16="http://schemas.microsoft.com/office/drawing/2014/main" id="{73190F60-6BAD-44F6-954D-17BDCBD8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3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25" name="Line 16">
              <a:extLst>
                <a:ext uri="{FF2B5EF4-FFF2-40B4-BE49-F238E27FC236}">
                  <a16:creationId xmlns:a16="http://schemas.microsoft.com/office/drawing/2014/main" id="{0E22C756-AC90-40D1-A2DF-3876E0F1C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6" name="Line 17">
              <a:extLst>
                <a:ext uri="{FF2B5EF4-FFF2-40B4-BE49-F238E27FC236}">
                  <a16:creationId xmlns:a16="http://schemas.microsoft.com/office/drawing/2014/main" id="{FDDB368A-9D06-41BA-A989-04147DA9B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7" name="Text Box 18">
              <a:extLst>
                <a:ext uri="{FF2B5EF4-FFF2-40B4-BE49-F238E27FC236}">
                  <a16:creationId xmlns:a16="http://schemas.microsoft.com/office/drawing/2014/main" id="{4707E897-0047-463E-ADB6-5F49C544E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7</a:t>
              </a:r>
            </a:p>
          </p:txBody>
        </p:sp>
        <p:sp>
          <p:nvSpPr>
            <p:cNvPr id="80928" name="Text Box 19">
              <a:extLst>
                <a:ext uri="{FF2B5EF4-FFF2-40B4-BE49-F238E27FC236}">
                  <a16:creationId xmlns:a16="http://schemas.microsoft.com/office/drawing/2014/main" id="{A1B253DC-D8CA-4ACD-936C-07809F5CE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9</a:t>
              </a:r>
            </a:p>
          </p:txBody>
        </p:sp>
        <p:sp>
          <p:nvSpPr>
            <p:cNvPr id="80929" name="Text Box 20">
              <a:extLst>
                <a:ext uri="{FF2B5EF4-FFF2-40B4-BE49-F238E27FC236}">
                  <a16:creationId xmlns:a16="http://schemas.microsoft.com/office/drawing/2014/main" id="{47D3D7AB-1ACC-46C1-A0B8-4541C27B8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400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8</a:t>
              </a:r>
            </a:p>
          </p:txBody>
        </p:sp>
        <p:sp>
          <p:nvSpPr>
            <p:cNvPr id="80930" name="Text Box 21">
              <a:extLst>
                <a:ext uri="{FF2B5EF4-FFF2-40B4-BE49-F238E27FC236}">
                  <a16:creationId xmlns:a16="http://schemas.microsoft.com/office/drawing/2014/main" id="{52654B91-84F9-4774-8FEC-5501B8B05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27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</a:p>
          </p:txBody>
        </p:sp>
        <p:sp>
          <p:nvSpPr>
            <p:cNvPr id="80931" name="Text Box 22">
              <a:extLst>
                <a:ext uri="{FF2B5EF4-FFF2-40B4-BE49-F238E27FC236}">
                  <a16:creationId xmlns:a16="http://schemas.microsoft.com/office/drawing/2014/main" id="{F68DC0C9-AE4E-41F0-918B-4949B0501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27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</a:p>
          </p:txBody>
        </p:sp>
        <p:sp>
          <p:nvSpPr>
            <p:cNvPr id="80932" name="Text Box 23">
              <a:extLst>
                <a:ext uri="{FF2B5EF4-FFF2-40B4-BE49-F238E27FC236}">
                  <a16:creationId xmlns:a16="http://schemas.microsoft.com/office/drawing/2014/main" id="{A2E6D44F-747D-44B9-8C7E-2F37D1D9F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0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T:</a:t>
              </a:r>
            </a:p>
          </p:txBody>
        </p:sp>
      </p:grpSp>
      <p:grpSp>
        <p:nvGrpSpPr>
          <p:cNvPr id="80902" name="Group 24">
            <a:extLst>
              <a:ext uri="{FF2B5EF4-FFF2-40B4-BE49-F238E27FC236}">
                <a16:creationId xmlns:a16="http://schemas.microsoft.com/office/drawing/2014/main" id="{2E5C1B0F-8C8F-4566-832F-95B2B4763F99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803525"/>
            <a:ext cx="4267200" cy="930275"/>
            <a:chOff x="528" y="2880"/>
            <a:chExt cx="2688" cy="586"/>
          </a:xfrm>
        </p:grpSpPr>
        <p:sp>
          <p:nvSpPr>
            <p:cNvPr id="80903" name="Oval 25">
              <a:extLst>
                <a:ext uri="{FF2B5EF4-FFF2-40B4-BE49-F238E27FC236}">
                  <a16:creationId xmlns:a16="http://schemas.microsoft.com/office/drawing/2014/main" id="{68E79FF3-E76A-4295-8799-DC2A3657D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04" name="Line 26">
              <a:extLst>
                <a:ext uri="{FF2B5EF4-FFF2-40B4-BE49-F238E27FC236}">
                  <a16:creationId xmlns:a16="http://schemas.microsoft.com/office/drawing/2014/main" id="{859C5CDD-8820-43A2-A226-8FEB7CF7A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05" name="Text Box 27">
              <a:extLst>
                <a:ext uri="{FF2B5EF4-FFF2-40B4-BE49-F238E27FC236}">
                  <a16:creationId xmlns:a16="http://schemas.microsoft.com/office/drawing/2014/main" id="{F43AFA71-87A1-4938-8846-7A7D2A3FF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10</a:t>
              </a:r>
            </a:p>
          </p:txBody>
        </p:sp>
        <p:grpSp>
          <p:nvGrpSpPr>
            <p:cNvPr id="80906" name="Group 28">
              <a:extLst>
                <a:ext uri="{FF2B5EF4-FFF2-40B4-BE49-F238E27FC236}">
                  <a16:creationId xmlns:a16="http://schemas.microsoft.com/office/drawing/2014/main" id="{C4F1869D-FB59-450C-9AE2-9CB0CE1AC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966"/>
              <a:ext cx="336" cy="336"/>
              <a:chOff x="3552" y="2544"/>
              <a:chExt cx="336" cy="336"/>
            </a:xfrm>
          </p:grpSpPr>
          <p:sp>
            <p:nvSpPr>
              <p:cNvPr id="80920" name="Oval 29">
                <a:extLst>
                  <a:ext uri="{FF2B5EF4-FFF2-40B4-BE49-F238E27FC236}">
                    <a16:creationId xmlns:a16="http://schemas.microsoft.com/office/drawing/2014/main" id="{1DF3A50C-0242-4A5F-8EA8-4AA676BA8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0921" name="Oval 30">
                <a:extLst>
                  <a:ext uri="{FF2B5EF4-FFF2-40B4-BE49-F238E27FC236}">
                    <a16:creationId xmlns:a16="http://schemas.microsoft.com/office/drawing/2014/main" id="{2C54F126-B95E-429F-BF69-99EFBE814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0907" name="Text Box 31">
              <a:extLst>
                <a:ext uri="{FF2B5EF4-FFF2-40B4-BE49-F238E27FC236}">
                  <a16:creationId xmlns:a16="http://schemas.microsoft.com/office/drawing/2014/main" id="{D4B0721B-0F98-4697-B844-F3B802637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13</a:t>
              </a:r>
            </a:p>
          </p:txBody>
        </p:sp>
        <p:sp>
          <p:nvSpPr>
            <p:cNvPr id="80908" name="Text Box 32">
              <a:extLst>
                <a:ext uri="{FF2B5EF4-FFF2-40B4-BE49-F238E27FC236}">
                  <a16:creationId xmlns:a16="http://schemas.microsoft.com/office/drawing/2014/main" id="{5E8912EC-9D3F-4DCC-9D9E-EC38F37B7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91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*</a:t>
              </a:r>
            </a:p>
          </p:txBody>
        </p:sp>
        <p:sp>
          <p:nvSpPr>
            <p:cNvPr id="80909" name="Oval 33">
              <a:extLst>
                <a:ext uri="{FF2B5EF4-FFF2-40B4-BE49-F238E27FC236}">
                  <a16:creationId xmlns:a16="http://schemas.microsoft.com/office/drawing/2014/main" id="{18526D08-4B13-49CE-810E-1C55B3DE8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10" name="Line 34">
              <a:extLst>
                <a:ext uri="{FF2B5EF4-FFF2-40B4-BE49-F238E27FC236}">
                  <a16:creationId xmlns:a16="http://schemas.microsoft.com/office/drawing/2014/main" id="{08F4D4AA-C48E-4D7C-8BD3-97F8B25DB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1" name="Text Box 35">
              <a:extLst>
                <a:ext uri="{FF2B5EF4-FFF2-40B4-BE49-F238E27FC236}">
                  <a16:creationId xmlns:a16="http://schemas.microsoft.com/office/drawing/2014/main" id="{DE428495-9FBE-457A-A9DD-348AF095D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11</a:t>
              </a:r>
            </a:p>
          </p:txBody>
        </p:sp>
        <p:sp>
          <p:nvSpPr>
            <p:cNvPr id="80912" name="Text Box 36">
              <a:extLst>
                <a:ext uri="{FF2B5EF4-FFF2-40B4-BE49-F238E27FC236}">
                  <a16:creationId xmlns:a16="http://schemas.microsoft.com/office/drawing/2014/main" id="{8BE509DC-9C63-4288-A483-A00569780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</a:t>
              </a:r>
            </a:p>
          </p:txBody>
        </p:sp>
        <p:sp>
          <p:nvSpPr>
            <p:cNvPr id="80913" name="Text Box 37">
              <a:extLst>
                <a:ext uri="{FF2B5EF4-FFF2-40B4-BE49-F238E27FC236}">
                  <a16:creationId xmlns:a16="http://schemas.microsoft.com/office/drawing/2014/main" id="{0E5D03D1-6115-403D-9319-A416F3011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01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T’:</a:t>
              </a:r>
            </a:p>
          </p:txBody>
        </p:sp>
        <p:sp>
          <p:nvSpPr>
            <p:cNvPr id="80914" name="Oval 38">
              <a:extLst>
                <a:ext uri="{FF2B5EF4-FFF2-40B4-BE49-F238E27FC236}">
                  <a16:creationId xmlns:a16="http://schemas.microsoft.com/office/drawing/2014/main" id="{222EE5E3-7ACC-4664-A7DF-F1C003B38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96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0915" name="Line 39">
              <a:extLst>
                <a:ext uri="{FF2B5EF4-FFF2-40B4-BE49-F238E27FC236}">
                  <a16:creationId xmlns:a16="http://schemas.microsoft.com/office/drawing/2014/main" id="{5D560317-918C-4102-A8C4-D7137E33D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11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6" name="Text Box 40">
              <a:extLst>
                <a:ext uri="{FF2B5EF4-FFF2-40B4-BE49-F238E27FC236}">
                  <a16:creationId xmlns:a16="http://schemas.microsoft.com/office/drawing/2014/main" id="{C5942BC1-0D12-4651-A554-3210E6921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014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12</a:t>
              </a:r>
            </a:p>
          </p:txBody>
        </p:sp>
        <p:sp>
          <p:nvSpPr>
            <p:cNvPr id="80917" name="Text Box 41">
              <a:extLst>
                <a:ext uri="{FF2B5EF4-FFF2-40B4-BE49-F238E27FC236}">
                  <a16:creationId xmlns:a16="http://schemas.microsoft.com/office/drawing/2014/main" id="{244893AF-2B13-4396-A58B-79308FE64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T’</a:t>
              </a:r>
            </a:p>
          </p:txBody>
        </p:sp>
        <p:cxnSp>
          <p:nvCxnSpPr>
            <p:cNvPr id="80918" name="AutoShape 42">
              <a:extLst>
                <a:ext uri="{FF2B5EF4-FFF2-40B4-BE49-F238E27FC236}">
                  <a16:creationId xmlns:a16="http://schemas.microsoft.com/office/drawing/2014/main" id="{33ACB710-CFF9-4FB8-9C7B-3602B97EAF1A}"/>
                </a:ext>
              </a:extLst>
            </p:cNvPr>
            <p:cNvCxnSpPr>
              <a:cxnSpLocks noChangeShapeType="1"/>
              <a:stCxn id="80903" idx="4"/>
              <a:endCxn id="80920" idx="4"/>
            </p:cNvCxnSpPr>
            <p:nvPr/>
          </p:nvCxnSpPr>
          <p:spPr bwMode="auto">
            <a:xfrm rot="16200000" flipH="1">
              <a:off x="2039" y="2303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0919" name="Text Box 43">
              <a:extLst>
                <a:ext uri="{FF2B5EF4-FFF2-40B4-BE49-F238E27FC236}">
                  <a16:creationId xmlns:a16="http://schemas.microsoft.com/office/drawing/2014/main" id="{07BF9955-94BA-45D4-92AE-E8727BAB8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21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0361C3DA-9C4B-4E3A-BA4C-3108341B5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（代码示例）</a:t>
            </a:r>
          </a:p>
        </p:txBody>
      </p:sp>
      <p:sp>
        <p:nvSpPr>
          <p:cNvPr id="81923" name="Text Box 4">
            <a:extLst>
              <a:ext uri="{FF2B5EF4-FFF2-40B4-BE49-F238E27FC236}">
                <a16:creationId xmlns:a16="http://schemas.microsoft.com/office/drawing/2014/main" id="{020644A3-3601-4835-909E-F345C81C9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447800"/>
            <a:ext cx="4267200" cy="2465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TD_F()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 token = get_token();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if token = ‘(’ then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{ TD_E(); match(‘)’); 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else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if token.value &lt;&gt; id then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  {error + EXIT}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else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... }</a:t>
            </a:r>
          </a:p>
        </p:txBody>
      </p:sp>
      <p:sp>
        <p:nvSpPr>
          <p:cNvPr id="81924" name="Text Box 6">
            <a:extLst>
              <a:ext uri="{FF2B5EF4-FFF2-40B4-BE49-F238E27FC236}">
                <a16:creationId xmlns:a16="http://schemas.microsoft.com/office/drawing/2014/main" id="{531543C5-BA0B-4647-81FF-A4EAAD318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600200"/>
            <a:ext cx="2362200" cy="32210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 b="1">
                <a:solidFill>
                  <a:srgbClr val="FF3300"/>
                </a:solidFill>
                <a:sym typeface="Symbol" panose="05050102010706020507" pitchFamily="18" charset="2"/>
              </a:rPr>
              <a:t>边如何处理</a:t>
            </a: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… “else unget()</a:t>
            </a:r>
            <a:b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and terminate”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sym typeface="Symbol" panose="05050102010706020507" pitchFamily="18" charset="2"/>
              </a:rPr>
              <a:t>NOTE: </a:t>
            </a:r>
            <a:r>
              <a:rPr kumimoji="0" lang="zh-CN" altLang="en-US" sz="2400" b="1">
                <a:solidFill>
                  <a:srgbClr val="FF3300"/>
                </a:solidFill>
                <a:sym typeface="Symbol" panose="05050102010706020507" pitchFamily="18" charset="2"/>
              </a:rPr>
              <a:t>并未给出所有错误的处理代码</a:t>
            </a:r>
            <a:endParaRPr kumimoji="0" lang="zh-CN" altLang="en-US" sz="2400" b="1">
              <a:solidFill>
                <a:srgbClr val="FF3300"/>
              </a:solidFill>
            </a:endParaRPr>
          </a:p>
        </p:txBody>
      </p:sp>
      <p:grpSp>
        <p:nvGrpSpPr>
          <p:cNvPr id="81925" name="Group 7">
            <a:extLst>
              <a:ext uri="{FF2B5EF4-FFF2-40B4-BE49-F238E27FC236}">
                <a16:creationId xmlns:a16="http://schemas.microsoft.com/office/drawing/2014/main" id="{4AC09446-65AD-4529-A59B-8868DA5F592D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114800"/>
            <a:ext cx="4267200" cy="930275"/>
            <a:chOff x="528" y="3552"/>
            <a:chExt cx="2688" cy="586"/>
          </a:xfrm>
        </p:grpSpPr>
        <p:sp>
          <p:nvSpPr>
            <p:cNvPr id="81926" name="Oval 8">
              <a:extLst>
                <a:ext uri="{FF2B5EF4-FFF2-40B4-BE49-F238E27FC236}">
                  <a16:creationId xmlns:a16="http://schemas.microsoft.com/office/drawing/2014/main" id="{112647B4-10E5-4401-BFC6-6A8265181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1927" name="Line 9">
              <a:extLst>
                <a:ext uri="{FF2B5EF4-FFF2-40B4-BE49-F238E27FC236}">
                  <a16:creationId xmlns:a16="http://schemas.microsoft.com/office/drawing/2014/main" id="{3791A914-A968-4E52-A169-80772349E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28" name="Text Box 10">
              <a:extLst>
                <a:ext uri="{FF2B5EF4-FFF2-40B4-BE49-F238E27FC236}">
                  <a16:creationId xmlns:a16="http://schemas.microsoft.com/office/drawing/2014/main" id="{1C665A0A-F5A8-4645-801B-F3E4FA80B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14</a:t>
              </a:r>
            </a:p>
          </p:txBody>
        </p:sp>
        <p:grpSp>
          <p:nvGrpSpPr>
            <p:cNvPr id="81929" name="Group 11">
              <a:extLst>
                <a:ext uri="{FF2B5EF4-FFF2-40B4-BE49-F238E27FC236}">
                  <a16:creationId xmlns:a16="http://schemas.microsoft.com/office/drawing/2014/main" id="{B4C82E54-7917-4FA0-9B36-41D358CDA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3638"/>
              <a:ext cx="336" cy="336"/>
              <a:chOff x="3552" y="2544"/>
              <a:chExt cx="336" cy="336"/>
            </a:xfrm>
          </p:grpSpPr>
          <p:sp>
            <p:nvSpPr>
              <p:cNvPr id="81943" name="Oval 12">
                <a:extLst>
                  <a:ext uri="{FF2B5EF4-FFF2-40B4-BE49-F238E27FC236}">
                    <a16:creationId xmlns:a16="http://schemas.microsoft.com/office/drawing/2014/main" id="{C349AD6F-1072-4623-A06A-ACA9E6C97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1944" name="Oval 13">
                <a:extLst>
                  <a:ext uri="{FF2B5EF4-FFF2-40B4-BE49-F238E27FC236}">
                    <a16:creationId xmlns:a16="http://schemas.microsoft.com/office/drawing/2014/main" id="{1A9E9702-2CF3-4529-8945-EF4B12C72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1930" name="Text Box 14">
              <a:extLst>
                <a:ext uri="{FF2B5EF4-FFF2-40B4-BE49-F238E27FC236}">
                  <a16:creationId xmlns:a16="http://schemas.microsoft.com/office/drawing/2014/main" id="{F05A41AD-D8CC-4EA6-9E44-7DA8075D6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17</a:t>
              </a:r>
            </a:p>
          </p:txBody>
        </p:sp>
        <p:sp>
          <p:nvSpPr>
            <p:cNvPr id="81931" name="Text Box 15">
              <a:extLst>
                <a:ext uri="{FF2B5EF4-FFF2-40B4-BE49-F238E27FC236}">
                  <a16:creationId xmlns:a16="http://schemas.microsoft.com/office/drawing/2014/main" id="{8107B8AE-381B-414B-8FCB-28D89F16F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55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(</a:t>
              </a:r>
            </a:p>
          </p:txBody>
        </p:sp>
        <p:sp>
          <p:nvSpPr>
            <p:cNvPr id="81932" name="Oval 16">
              <a:extLst>
                <a:ext uri="{FF2B5EF4-FFF2-40B4-BE49-F238E27FC236}">
                  <a16:creationId xmlns:a16="http://schemas.microsoft.com/office/drawing/2014/main" id="{98C08448-8419-49A3-AB8C-C0831C0DD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1933" name="Line 17">
              <a:extLst>
                <a:ext uri="{FF2B5EF4-FFF2-40B4-BE49-F238E27FC236}">
                  <a16:creationId xmlns:a16="http://schemas.microsoft.com/office/drawing/2014/main" id="{33DC5499-17A8-4B78-9F01-F51550502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4" name="Text Box 18">
              <a:extLst>
                <a:ext uri="{FF2B5EF4-FFF2-40B4-BE49-F238E27FC236}">
                  <a16:creationId xmlns:a16="http://schemas.microsoft.com/office/drawing/2014/main" id="{A87AC095-0816-4A0B-9DAF-147A88A76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15</a:t>
              </a:r>
            </a:p>
          </p:txBody>
        </p:sp>
        <p:sp>
          <p:nvSpPr>
            <p:cNvPr id="81935" name="Text Box 19">
              <a:extLst>
                <a:ext uri="{FF2B5EF4-FFF2-40B4-BE49-F238E27FC236}">
                  <a16:creationId xmlns:a16="http://schemas.microsoft.com/office/drawing/2014/main" id="{D5CE83F2-0F41-4170-82EB-CD553F84A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E</a:t>
              </a:r>
            </a:p>
          </p:txBody>
        </p:sp>
        <p:sp>
          <p:nvSpPr>
            <p:cNvPr id="81936" name="Text Box 20">
              <a:extLst>
                <a:ext uri="{FF2B5EF4-FFF2-40B4-BE49-F238E27FC236}">
                  <a16:creationId xmlns:a16="http://schemas.microsoft.com/office/drawing/2014/main" id="{22929F47-DD79-4334-A1E6-5369C785D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68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F:</a:t>
              </a:r>
            </a:p>
          </p:txBody>
        </p:sp>
        <p:sp>
          <p:nvSpPr>
            <p:cNvPr id="81937" name="Oval 21">
              <a:extLst>
                <a:ext uri="{FF2B5EF4-FFF2-40B4-BE49-F238E27FC236}">
                  <a16:creationId xmlns:a16="http://schemas.microsoft.com/office/drawing/2014/main" id="{3DADD133-E5DD-4ACE-B612-D50E6A220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63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1938" name="Line 22">
              <a:extLst>
                <a:ext uri="{FF2B5EF4-FFF2-40B4-BE49-F238E27FC236}">
                  <a16:creationId xmlns:a16="http://schemas.microsoft.com/office/drawing/2014/main" id="{D09356B9-E06E-49BA-8A1A-081E3BE7C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78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9" name="Text Box 23">
              <a:extLst>
                <a:ext uri="{FF2B5EF4-FFF2-40B4-BE49-F238E27FC236}">
                  <a16:creationId xmlns:a16="http://schemas.microsoft.com/office/drawing/2014/main" id="{26549EAF-A90B-4A36-9F79-35AECBE72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68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16</a:t>
              </a:r>
            </a:p>
          </p:txBody>
        </p:sp>
        <p:sp>
          <p:nvSpPr>
            <p:cNvPr id="81940" name="Text Box 24">
              <a:extLst>
                <a:ext uri="{FF2B5EF4-FFF2-40B4-BE49-F238E27FC236}">
                  <a16:creationId xmlns:a16="http://schemas.microsoft.com/office/drawing/2014/main" id="{D2051AD7-F60D-4054-BE03-9622B9492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55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)</a:t>
              </a:r>
            </a:p>
          </p:txBody>
        </p:sp>
        <p:cxnSp>
          <p:nvCxnSpPr>
            <p:cNvPr id="81941" name="AutoShape 25">
              <a:extLst>
                <a:ext uri="{FF2B5EF4-FFF2-40B4-BE49-F238E27FC236}">
                  <a16:creationId xmlns:a16="http://schemas.microsoft.com/office/drawing/2014/main" id="{D7D99B55-8973-4FBA-A8E4-2111B9DB883B}"/>
                </a:ext>
              </a:extLst>
            </p:cNvPr>
            <p:cNvCxnSpPr>
              <a:cxnSpLocks noChangeShapeType="1"/>
              <a:stCxn id="81926" idx="4"/>
              <a:endCxn id="81943" idx="4"/>
            </p:cNvCxnSpPr>
            <p:nvPr/>
          </p:nvCxnSpPr>
          <p:spPr bwMode="auto">
            <a:xfrm rot="16200000" flipH="1">
              <a:off x="2039" y="2975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42" name="Text Box 26">
              <a:extLst>
                <a:ext uri="{FF2B5EF4-FFF2-40B4-BE49-F238E27FC236}">
                  <a16:creationId xmlns:a16="http://schemas.microsoft.com/office/drawing/2014/main" id="{4907A8AC-E6A3-4965-BF4A-73AA460AA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88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id</a:t>
              </a:r>
              <a:endParaRPr kumimoji="0" lang="en-US" altLang="zh-CN" sz="2000" b="1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EB82E54-1916-4F15-86FA-C56132075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TD</a:t>
            </a:r>
            <a:r>
              <a:rPr lang="zh-CN" altLang="en-US"/>
              <a:t>的化简</a:t>
            </a:r>
          </a:p>
        </p:txBody>
      </p:sp>
      <p:grpSp>
        <p:nvGrpSpPr>
          <p:cNvPr id="82947" name="Group 4">
            <a:extLst>
              <a:ext uri="{FF2B5EF4-FFF2-40B4-BE49-F238E27FC236}">
                <a16:creationId xmlns:a16="http://schemas.microsoft.com/office/drawing/2014/main" id="{0A90667A-ECFE-4805-8A56-A90F36536435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981200"/>
            <a:ext cx="4267200" cy="900113"/>
            <a:chOff x="816" y="768"/>
            <a:chExt cx="2688" cy="567"/>
          </a:xfrm>
        </p:grpSpPr>
        <p:grpSp>
          <p:nvGrpSpPr>
            <p:cNvPr id="82989" name="Group 5">
              <a:extLst>
                <a:ext uri="{FF2B5EF4-FFF2-40B4-BE49-F238E27FC236}">
                  <a16:creationId xmlns:a16="http://schemas.microsoft.com/office/drawing/2014/main" id="{1594DE8C-7154-4A7D-9BCC-4824F75C11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816"/>
              <a:ext cx="336" cy="336"/>
              <a:chOff x="2448" y="2736"/>
              <a:chExt cx="336" cy="336"/>
            </a:xfrm>
          </p:grpSpPr>
          <p:grpSp>
            <p:nvGrpSpPr>
              <p:cNvPr id="83007" name="Group 6">
                <a:extLst>
                  <a:ext uri="{FF2B5EF4-FFF2-40B4-BE49-F238E27FC236}">
                    <a16:creationId xmlns:a16="http://schemas.microsoft.com/office/drawing/2014/main" id="{AC99A844-B770-4397-9CAB-01F072ED81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3009" name="Oval 7">
                  <a:extLst>
                    <a:ext uri="{FF2B5EF4-FFF2-40B4-BE49-F238E27FC236}">
                      <a16:creationId xmlns:a16="http://schemas.microsoft.com/office/drawing/2014/main" id="{33FFE70B-8670-469E-89F6-53B4817BB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3010" name="Oval 8">
                  <a:extLst>
                    <a:ext uri="{FF2B5EF4-FFF2-40B4-BE49-F238E27FC236}">
                      <a16:creationId xmlns:a16="http://schemas.microsoft.com/office/drawing/2014/main" id="{BA626574-61C4-4D71-9A4A-4EE4F34C6C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3008" name="Text Box 9">
                <a:extLst>
                  <a:ext uri="{FF2B5EF4-FFF2-40B4-BE49-F238E27FC236}">
                    <a16:creationId xmlns:a16="http://schemas.microsoft.com/office/drawing/2014/main" id="{6EBAE190-12DC-40EA-BEBF-48C1F59C7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sp>
          <p:nvSpPr>
            <p:cNvPr id="82990" name="Line 10">
              <a:extLst>
                <a:ext uri="{FF2B5EF4-FFF2-40B4-BE49-F238E27FC236}">
                  <a16:creationId xmlns:a16="http://schemas.microsoft.com/office/drawing/2014/main" id="{8F48C874-4F5B-4308-8447-7B0D82C2B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96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91" name="Text Box 11">
              <a:extLst>
                <a:ext uri="{FF2B5EF4-FFF2-40B4-BE49-F238E27FC236}">
                  <a16:creationId xmlns:a16="http://schemas.microsoft.com/office/drawing/2014/main" id="{43992541-F849-4FF3-AE40-84CFFDD4C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76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</a:p>
          </p:txBody>
        </p:sp>
        <p:cxnSp>
          <p:nvCxnSpPr>
            <p:cNvPr id="82992" name="AutoShape 12">
              <a:extLst>
                <a:ext uri="{FF2B5EF4-FFF2-40B4-BE49-F238E27FC236}">
                  <a16:creationId xmlns:a16="http://schemas.microsoft.com/office/drawing/2014/main" id="{F13BBD50-3201-46EA-8C08-A34DBED44DA5}"/>
                </a:ext>
              </a:extLst>
            </p:cNvPr>
            <p:cNvCxnSpPr>
              <a:cxnSpLocks noChangeShapeType="1"/>
              <a:stCxn id="82997" idx="4"/>
              <a:endCxn id="83009" idx="4"/>
            </p:cNvCxnSpPr>
            <p:nvPr/>
          </p:nvCxnSpPr>
          <p:spPr bwMode="auto">
            <a:xfrm rot="16200000" flipH="1">
              <a:off x="2327" y="153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2993" name="Group 13">
              <a:extLst>
                <a:ext uri="{FF2B5EF4-FFF2-40B4-BE49-F238E27FC236}">
                  <a16:creationId xmlns:a16="http://schemas.microsoft.com/office/drawing/2014/main" id="{F05D7AA6-6C60-4A1E-B3F5-709B557A44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768"/>
              <a:ext cx="2016" cy="567"/>
              <a:chOff x="816" y="768"/>
              <a:chExt cx="2016" cy="567"/>
            </a:xfrm>
          </p:grpSpPr>
          <p:sp>
            <p:nvSpPr>
              <p:cNvPr id="82994" name="Text Box 14">
                <a:extLst>
                  <a:ext uri="{FF2B5EF4-FFF2-40B4-BE49-F238E27FC236}">
                    <a16:creationId xmlns:a16="http://schemas.microsoft.com/office/drawing/2014/main" id="{82AA37CE-7D10-4A5E-A4E0-EB5BA4F09A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86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E’:</a:t>
                </a:r>
              </a:p>
            </p:txBody>
          </p:sp>
          <p:sp>
            <p:nvSpPr>
              <p:cNvPr id="82995" name="Oval 15">
                <a:extLst>
                  <a:ext uri="{FF2B5EF4-FFF2-40B4-BE49-F238E27FC236}">
                    <a16:creationId xmlns:a16="http://schemas.microsoft.com/office/drawing/2014/main" id="{4DD7693A-713A-4BC5-A049-A14EA1BDA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816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2996" name="Text Box 16">
                <a:extLst>
                  <a:ext uri="{FF2B5EF4-FFF2-40B4-BE49-F238E27FC236}">
                    <a16:creationId xmlns:a16="http://schemas.microsoft.com/office/drawing/2014/main" id="{6668FE31-D4D8-41D5-81EB-156EE10FBC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86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5</a:t>
                </a:r>
              </a:p>
            </p:txBody>
          </p:sp>
          <p:sp>
            <p:nvSpPr>
              <p:cNvPr id="82997" name="Oval 17">
                <a:extLst>
                  <a:ext uri="{FF2B5EF4-FFF2-40B4-BE49-F238E27FC236}">
                    <a16:creationId xmlns:a16="http://schemas.microsoft.com/office/drawing/2014/main" id="{563EF6E2-CF96-4D08-94F8-4E16E58B0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816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2998" name="Line 18">
                <a:extLst>
                  <a:ext uri="{FF2B5EF4-FFF2-40B4-BE49-F238E27FC236}">
                    <a16:creationId xmlns:a16="http://schemas.microsoft.com/office/drawing/2014/main" id="{342A6831-4BAB-4A2B-AA75-81144BE27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96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99" name="Text Box 19">
                <a:extLst>
                  <a:ext uri="{FF2B5EF4-FFF2-40B4-BE49-F238E27FC236}">
                    <a16:creationId xmlns:a16="http://schemas.microsoft.com/office/drawing/2014/main" id="{466F0CB2-47CA-410A-80F7-720BA9883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86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3</a:t>
                </a:r>
              </a:p>
            </p:txBody>
          </p:sp>
          <p:sp>
            <p:nvSpPr>
              <p:cNvPr id="83000" name="Text Box 20">
                <a:extLst>
                  <a:ext uri="{FF2B5EF4-FFF2-40B4-BE49-F238E27FC236}">
                    <a16:creationId xmlns:a16="http://schemas.microsoft.com/office/drawing/2014/main" id="{AB8A1BDD-1181-4CB4-BF10-7D67FF4E6B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768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+</a:t>
                </a:r>
              </a:p>
            </p:txBody>
          </p:sp>
          <p:grpSp>
            <p:nvGrpSpPr>
              <p:cNvPr id="83001" name="Group 21">
                <a:extLst>
                  <a:ext uri="{FF2B5EF4-FFF2-40B4-BE49-F238E27FC236}">
                    <a16:creationId xmlns:a16="http://schemas.microsoft.com/office/drawing/2014/main" id="{20FF73A4-A514-4642-B504-045BDA78D3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768"/>
                <a:ext cx="672" cy="384"/>
                <a:chOff x="1776" y="2688"/>
                <a:chExt cx="672" cy="384"/>
              </a:xfrm>
            </p:grpSpPr>
            <p:sp>
              <p:nvSpPr>
                <p:cNvPr id="83003" name="Oval 22">
                  <a:extLst>
                    <a:ext uri="{FF2B5EF4-FFF2-40B4-BE49-F238E27FC236}">
                      <a16:creationId xmlns:a16="http://schemas.microsoft.com/office/drawing/2014/main" id="{0E5D8149-0093-41FA-BD50-2CD005F7B1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736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3004" name="Line 23">
                  <a:extLst>
                    <a:ext uri="{FF2B5EF4-FFF2-40B4-BE49-F238E27FC236}">
                      <a16:creationId xmlns:a16="http://schemas.microsoft.com/office/drawing/2014/main" id="{940F6DAC-F2C8-4AD5-BC09-2D547D1F77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2880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005" name="Text Box 24">
                  <a:extLst>
                    <a:ext uri="{FF2B5EF4-FFF2-40B4-BE49-F238E27FC236}">
                      <a16:creationId xmlns:a16="http://schemas.microsoft.com/office/drawing/2014/main" id="{1E8D2B45-7242-4F6E-A01B-43BB47149B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4" y="2784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4</a:t>
                  </a:r>
                </a:p>
              </p:txBody>
            </p:sp>
            <p:sp>
              <p:nvSpPr>
                <p:cNvPr id="83006" name="Text Box 25">
                  <a:extLst>
                    <a:ext uri="{FF2B5EF4-FFF2-40B4-BE49-F238E27FC236}">
                      <a16:creationId xmlns:a16="http://schemas.microsoft.com/office/drawing/2014/main" id="{62C868F2-133E-4FAF-83F8-D21B653F4A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" y="2688"/>
                  <a:ext cx="2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T</a:t>
                  </a:r>
                </a:p>
              </p:txBody>
            </p:sp>
          </p:grpSp>
          <p:sp>
            <p:nvSpPr>
              <p:cNvPr id="83002" name="Text Box 26">
                <a:extLst>
                  <a:ext uri="{FF2B5EF4-FFF2-40B4-BE49-F238E27FC236}">
                    <a16:creationId xmlns:a16="http://schemas.microsoft.com/office/drawing/2014/main" id="{1E329E2E-0B69-461D-A1CB-7EF1A0F266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10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800" b="1">
                  <a:latin typeface="Symbol" panose="05050102010706020507" pitchFamily="18" charset="2"/>
                </a:endParaRPr>
              </a:p>
            </p:txBody>
          </p:sp>
        </p:grpSp>
      </p:grpSp>
      <p:sp>
        <p:nvSpPr>
          <p:cNvPr id="82948" name="AutoShape 27">
            <a:extLst>
              <a:ext uri="{FF2B5EF4-FFF2-40B4-BE49-F238E27FC236}">
                <a16:creationId xmlns:a16="http://schemas.microsoft.com/office/drawing/2014/main" id="{6A6DCC6A-0154-4BB0-8DB8-7933DD151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590800"/>
            <a:ext cx="228600" cy="838200"/>
          </a:xfrm>
          <a:prstGeom prst="curvedRightArrow">
            <a:avLst>
              <a:gd name="adj1" fmla="val 73333"/>
              <a:gd name="adj2" fmla="val 146667"/>
              <a:gd name="adj3" fmla="val 33333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82949" name="Group 28">
            <a:extLst>
              <a:ext uri="{FF2B5EF4-FFF2-40B4-BE49-F238E27FC236}">
                <a16:creationId xmlns:a16="http://schemas.microsoft.com/office/drawing/2014/main" id="{3469BA42-F98A-4B67-A46E-11FBA2AF81E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895600"/>
            <a:ext cx="3200400" cy="1752600"/>
            <a:chOff x="816" y="1344"/>
            <a:chExt cx="2016" cy="1104"/>
          </a:xfrm>
        </p:grpSpPr>
        <p:sp>
          <p:nvSpPr>
            <p:cNvPr id="82968" name="Text Box 29">
              <a:extLst>
                <a:ext uri="{FF2B5EF4-FFF2-40B4-BE49-F238E27FC236}">
                  <a16:creationId xmlns:a16="http://schemas.microsoft.com/office/drawing/2014/main" id="{F64DCC79-B58F-4AA6-9650-4DAFFF759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8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E’:</a:t>
              </a:r>
            </a:p>
          </p:txBody>
        </p:sp>
        <p:sp>
          <p:nvSpPr>
            <p:cNvPr id="82969" name="Oval 30">
              <a:extLst>
                <a:ext uri="{FF2B5EF4-FFF2-40B4-BE49-F238E27FC236}">
                  <a16:creationId xmlns:a16="http://schemas.microsoft.com/office/drawing/2014/main" id="{FEC42110-00C5-4535-85B8-EE3DEEE0D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70" name="Text Box 31">
              <a:extLst>
                <a:ext uri="{FF2B5EF4-FFF2-40B4-BE49-F238E27FC236}">
                  <a16:creationId xmlns:a16="http://schemas.microsoft.com/office/drawing/2014/main" id="{A566DBF2-CF44-487B-9373-0DA7ED6F7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5</a:t>
              </a:r>
            </a:p>
          </p:txBody>
        </p:sp>
        <p:sp>
          <p:nvSpPr>
            <p:cNvPr id="82971" name="Oval 32">
              <a:extLst>
                <a:ext uri="{FF2B5EF4-FFF2-40B4-BE49-F238E27FC236}">
                  <a16:creationId xmlns:a16="http://schemas.microsoft.com/office/drawing/2014/main" id="{A8BA7A0D-72B4-4F34-87BE-1C80A19F4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72" name="Line 33">
              <a:extLst>
                <a:ext uri="{FF2B5EF4-FFF2-40B4-BE49-F238E27FC236}">
                  <a16:creationId xmlns:a16="http://schemas.microsoft.com/office/drawing/2014/main" id="{85BD8382-66D4-4E21-96C5-DAF062C20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7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73" name="Text Box 34">
              <a:extLst>
                <a:ext uri="{FF2B5EF4-FFF2-40B4-BE49-F238E27FC236}">
                  <a16:creationId xmlns:a16="http://schemas.microsoft.com/office/drawing/2014/main" id="{EBD72709-BDDB-464A-9CB4-925825029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</a:p>
          </p:txBody>
        </p:sp>
        <p:sp>
          <p:nvSpPr>
            <p:cNvPr id="82974" name="Text Box 35">
              <a:extLst>
                <a:ext uri="{FF2B5EF4-FFF2-40B4-BE49-F238E27FC236}">
                  <a16:creationId xmlns:a16="http://schemas.microsoft.com/office/drawing/2014/main" id="{784123D1-B9AC-4F66-A3C3-43034DD32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</a:p>
          </p:txBody>
        </p:sp>
        <p:grpSp>
          <p:nvGrpSpPr>
            <p:cNvPr id="82975" name="Group 36">
              <a:extLst>
                <a:ext uri="{FF2B5EF4-FFF2-40B4-BE49-F238E27FC236}">
                  <a16:creationId xmlns:a16="http://schemas.microsoft.com/office/drawing/2014/main" id="{99CD6D07-57F8-4C93-86BE-36EC5569C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1584"/>
              <a:ext cx="672" cy="384"/>
              <a:chOff x="1776" y="2688"/>
              <a:chExt cx="672" cy="384"/>
            </a:xfrm>
          </p:grpSpPr>
          <p:sp>
            <p:nvSpPr>
              <p:cNvPr id="82985" name="Oval 37">
                <a:extLst>
                  <a:ext uri="{FF2B5EF4-FFF2-40B4-BE49-F238E27FC236}">
                    <a16:creationId xmlns:a16="http://schemas.microsoft.com/office/drawing/2014/main" id="{3F25634D-22C1-48F0-A1B0-8848D9972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736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2986" name="Line 38">
                <a:extLst>
                  <a:ext uri="{FF2B5EF4-FFF2-40B4-BE49-F238E27FC236}">
                    <a16:creationId xmlns:a16="http://schemas.microsoft.com/office/drawing/2014/main" id="{EB3A578A-C238-4373-8E47-4666AFC55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8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87" name="Text Box 39">
                <a:extLst>
                  <a:ext uri="{FF2B5EF4-FFF2-40B4-BE49-F238E27FC236}">
                    <a16:creationId xmlns:a16="http://schemas.microsoft.com/office/drawing/2014/main" id="{51FE06AC-275B-4CD0-89BF-B86FC570EE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4</a:t>
                </a:r>
              </a:p>
            </p:txBody>
          </p:sp>
          <p:sp>
            <p:nvSpPr>
              <p:cNvPr id="82988" name="Text Box 40">
                <a:extLst>
                  <a:ext uri="{FF2B5EF4-FFF2-40B4-BE49-F238E27FC236}">
                    <a16:creationId xmlns:a16="http://schemas.microsoft.com/office/drawing/2014/main" id="{6CD0CB4A-7CC9-42A9-992E-60D9DE794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268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T</a:t>
                </a:r>
              </a:p>
            </p:txBody>
          </p:sp>
        </p:grpSp>
        <p:sp>
          <p:nvSpPr>
            <p:cNvPr id="82976" name="Text Box 41">
              <a:extLst>
                <a:ext uri="{FF2B5EF4-FFF2-40B4-BE49-F238E27FC236}">
                  <a16:creationId xmlns:a16="http://schemas.microsoft.com/office/drawing/2014/main" id="{1FF4208E-08C7-4BD7-8F58-A3B58C4BE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82977" name="Group 42">
              <a:extLst>
                <a:ext uri="{FF2B5EF4-FFF2-40B4-BE49-F238E27FC236}">
                  <a16:creationId xmlns:a16="http://schemas.microsoft.com/office/drawing/2014/main" id="{013FA6D4-31CA-4370-858F-4970C880B9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112"/>
              <a:ext cx="336" cy="336"/>
              <a:chOff x="2448" y="2736"/>
              <a:chExt cx="336" cy="336"/>
            </a:xfrm>
          </p:grpSpPr>
          <p:grpSp>
            <p:nvGrpSpPr>
              <p:cNvPr id="82981" name="Group 43">
                <a:extLst>
                  <a:ext uri="{FF2B5EF4-FFF2-40B4-BE49-F238E27FC236}">
                    <a16:creationId xmlns:a16="http://schemas.microsoft.com/office/drawing/2014/main" id="{A4F9D16B-595D-4C94-84E9-9764E03617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2983" name="Oval 44">
                  <a:extLst>
                    <a:ext uri="{FF2B5EF4-FFF2-40B4-BE49-F238E27FC236}">
                      <a16:creationId xmlns:a16="http://schemas.microsoft.com/office/drawing/2014/main" id="{344E12B3-E62F-4334-961B-021F5CD539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2984" name="Oval 45">
                  <a:extLst>
                    <a:ext uri="{FF2B5EF4-FFF2-40B4-BE49-F238E27FC236}">
                      <a16:creationId xmlns:a16="http://schemas.microsoft.com/office/drawing/2014/main" id="{CCD4E4F4-BA68-4322-A0C9-5C2894429F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2982" name="Text Box 46">
                <a:extLst>
                  <a:ext uri="{FF2B5EF4-FFF2-40B4-BE49-F238E27FC236}">
                    <a16:creationId xmlns:a16="http://schemas.microsoft.com/office/drawing/2014/main" id="{9A1A3E8A-B3DA-46D3-83ED-5BFA8492C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cxnSp>
          <p:nvCxnSpPr>
            <p:cNvPr id="82978" name="AutoShape 47">
              <a:extLst>
                <a:ext uri="{FF2B5EF4-FFF2-40B4-BE49-F238E27FC236}">
                  <a16:creationId xmlns:a16="http://schemas.microsoft.com/office/drawing/2014/main" id="{8DA6D61E-C301-4726-BE8D-D394A8EA506E}"/>
                </a:ext>
              </a:extLst>
            </p:cNvPr>
            <p:cNvCxnSpPr>
              <a:cxnSpLocks noChangeShapeType="1"/>
              <a:stCxn id="82971" idx="4"/>
              <a:endCxn id="82983" idx="2"/>
            </p:cNvCxnSpPr>
            <p:nvPr/>
          </p:nvCxnSpPr>
          <p:spPr bwMode="auto">
            <a:xfrm rot="16200000" flipH="1">
              <a:off x="1416" y="1880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79" name="AutoShape 48">
              <a:extLst>
                <a:ext uri="{FF2B5EF4-FFF2-40B4-BE49-F238E27FC236}">
                  <a16:creationId xmlns:a16="http://schemas.microsoft.com/office/drawing/2014/main" id="{712E6A24-3A05-4157-9F69-4FF626E5BBC4}"/>
                </a:ext>
              </a:extLst>
            </p:cNvPr>
            <p:cNvCxnSpPr>
              <a:cxnSpLocks noChangeShapeType="1"/>
              <a:stCxn id="82969" idx="0"/>
              <a:endCxn id="82971" idx="7"/>
            </p:cNvCxnSpPr>
            <p:nvPr/>
          </p:nvCxnSpPr>
          <p:spPr bwMode="auto">
            <a:xfrm rot="-5400000" flipH="1" flipV="1">
              <a:off x="2027" y="1036"/>
              <a:ext cx="49" cy="1225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980" name="Text Box 49">
              <a:extLst>
                <a:ext uri="{FF2B5EF4-FFF2-40B4-BE49-F238E27FC236}">
                  <a16:creationId xmlns:a16="http://schemas.microsoft.com/office/drawing/2014/main" id="{696BC107-42FB-431D-ADCD-D16F52821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34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  <p:sp>
        <p:nvSpPr>
          <p:cNvPr id="82950" name="AutoShape 50">
            <a:extLst>
              <a:ext uri="{FF2B5EF4-FFF2-40B4-BE49-F238E27FC236}">
                <a16:creationId xmlns:a16="http://schemas.microsoft.com/office/drawing/2014/main" id="{9D2B268E-C15B-49B5-8B2D-790D9A68E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82951" name="Group 51">
            <a:extLst>
              <a:ext uri="{FF2B5EF4-FFF2-40B4-BE49-F238E27FC236}">
                <a16:creationId xmlns:a16="http://schemas.microsoft.com/office/drawing/2014/main" id="{B39F4320-9476-43AE-8B98-98A651731A86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743200"/>
            <a:ext cx="2133600" cy="1828800"/>
            <a:chOff x="3504" y="1296"/>
            <a:chExt cx="1344" cy="1152"/>
          </a:xfrm>
        </p:grpSpPr>
        <p:sp>
          <p:nvSpPr>
            <p:cNvPr id="82952" name="Text Box 52">
              <a:extLst>
                <a:ext uri="{FF2B5EF4-FFF2-40B4-BE49-F238E27FC236}">
                  <a16:creationId xmlns:a16="http://schemas.microsoft.com/office/drawing/2014/main" id="{BB8197A0-43F9-4B3B-A836-53351FB12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8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E’:</a:t>
              </a:r>
            </a:p>
          </p:txBody>
        </p:sp>
        <p:sp>
          <p:nvSpPr>
            <p:cNvPr id="82953" name="Oval 53">
              <a:extLst>
                <a:ext uri="{FF2B5EF4-FFF2-40B4-BE49-F238E27FC236}">
                  <a16:creationId xmlns:a16="http://schemas.microsoft.com/office/drawing/2014/main" id="{0F55E1C8-F44D-4008-AEB2-E675DA522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54" name="Line 54">
              <a:extLst>
                <a:ext uri="{FF2B5EF4-FFF2-40B4-BE49-F238E27FC236}">
                  <a16:creationId xmlns:a16="http://schemas.microsoft.com/office/drawing/2014/main" id="{74897160-6F76-4EBA-ADF4-02E6E425F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7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5" name="Text Box 55">
              <a:extLst>
                <a:ext uri="{FF2B5EF4-FFF2-40B4-BE49-F238E27FC236}">
                  <a16:creationId xmlns:a16="http://schemas.microsoft.com/office/drawing/2014/main" id="{CA1CA5F2-A1FA-4206-8B4C-35902ABD1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</a:p>
          </p:txBody>
        </p:sp>
        <p:sp>
          <p:nvSpPr>
            <p:cNvPr id="82956" name="Text Box 56">
              <a:extLst>
                <a:ext uri="{FF2B5EF4-FFF2-40B4-BE49-F238E27FC236}">
                  <a16:creationId xmlns:a16="http://schemas.microsoft.com/office/drawing/2014/main" id="{1C99A21F-5BE1-4D0C-AA28-E15C37B6E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</a:p>
          </p:txBody>
        </p:sp>
        <p:sp>
          <p:nvSpPr>
            <p:cNvPr id="82957" name="Oval 57">
              <a:extLst>
                <a:ext uri="{FF2B5EF4-FFF2-40B4-BE49-F238E27FC236}">
                  <a16:creationId xmlns:a16="http://schemas.microsoft.com/office/drawing/2014/main" id="{F73CA459-7EE1-4673-8CA2-0C0B8F4D0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2958" name="Text Box 58">
              <a:extLst>
                <a:ext uri="{FF2B5EF4-FFF2-40B4-BE49-F238E27FC236}">
                  <a16:creationId xmlns:a16="http://schemas.microsoft.com/office/drawing/2014/main" id="{6B509BF6-A261-4F1D-8B21-FCF1A336C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4</a:t>
              </a:r>
            </a:p>
          </p:txBody>
        </p:sp>
        <p:sp>
          <p:nvSpPr>
            <p:cNvPr id="82959" name="Text Box 59">
              <a:extLst>
                <a:ext uri="{FF2B5EF4-FFF2-40B4-BE49-F238E27FC236}">
                  <a16:creationId xmlns:a16="http://schemas.microsoft.com/office/drawing/2014/main" id="{EB08F12B-BC59-43C8-A7C3-A012E663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29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82960" name="Text Box 60">
              <a:extLst>
                <a:ext uri="{FF2B5EF4-FFF2-40B4-BE49-F238E27FC236}">
                  <a16:creationId xmlns:a16="http://schemas.microsoft.com/office/drawing/2014/main" id="{6E77850C-62BF-470A-8821-18F128C2A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01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82961" name="Group 61">
              <a:extLst>
                <a:ext uri="{FF2B5EF4-FFF2-40B4-BE49-F238E27FC236}">
                  <a16:creationId xmlns:a16="http://schemas.microsoft.com/office/drawing/2014/main" id="{6C692E62-48C4-496D-BB58-3942E9577D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12"/>
              <a:ext cx="336" cy="336"/>
              <a:chOff x="2448" y="2736"/>
              <a:chExt cx="336" cy="336"/>
            </a:xfrm>
          </p:grpSpPr>
          <p:grpSp>
            <p:nvGrpSpPr>
              <p:cNvPr id="82964" name="Group 62">
                <a:extLst>
                  <a:ext uri="{FF2B5EF4-FFF2-40B4-BE49-F238E27FC236}">
                    <a16:creationId xmlns:a16="http://schemas.microsoft.com/office/drawing/2014/main" id="{C02D85BE-6C76-4BFC-932F-F0D9157B13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2966" name="Oval 63">
                  <a:extLst>
                    <a:ext uri="{FF2B5EF4-FFF2-40B4-BE49-F238E27FC236}">
                      <a16:creationId xmlns:a16="http://schemas.microsoft.com/office/drawing/2014/main" id="{B287BD6C-B6C1-491C-9125-68D6E9A4FA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2967" name="Oval 64">
                  <a:extLst>
                    <a:ext uri="{FF2B5EF4-FFF2-40B4-BE49-F238E27FC236}">
                      <a16:creationId xmlns:a16="http://schemas.microsoft.com/office/drawing/2014/main" id="{D1E0C95A-59FA-4231-A1BC-BC77DD1A85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2965" name="Text Box 65">
                <a:extLst>
                  <a:ext uri="{FF2B5EF4-FFF2-40B4-BE49-F238E27FC236}">
                    <a16:creationId xmlns:a16="http://schemas.microsoft.com/office/drawing/2014/main" id="{D0351394-73C8-49C8-A9A6-4FC666F171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cxnSp>
          <p:nvCxnSpPr>
            <p:cNvPr id="82962" name="AutoShape 66">
              <a:extLst>
                <a:ext uri="{FF2B5EF4-FFF2-40B4-BE49-F238E27FC236}">
                  <a16:creationId xmlns:a16="http://schemas.microsoft.com/office/drawing/2014/main" id="{127924A6-B8AF-400F-B928-DD36F52D0D78}"/>
                </a:ext>
              </a:extLst>
            </p:cNvPr>
            <p:cNvCxnSpPr>
              <a:cxnSpLocks noChangeShapeType="1"/>
              <a:stCxn id="82953" idx="4"/>
              <a:endCxn id="82966" idx="2"/>
            </p:cNvCxnSpPr>
            <p:nvPr/>
          </p:nvCxnSpPr>
          <p:spPr bwMode="auto">
            <a:xfrm rot="16200000" flipH="1">
              <a:off x="4104" y="1880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63" name="AutoShape 67">
              <a:extLst>
                <a:ext uri="{FF2B5EF4-FFF2-40B4-BE49-F238E27FC236}">
                  <a16:creationId xmlns:a16="http://schemas.microsoft.com/office/drawing/2014/main" id="{6F6B2732-7A52-4B39-B6AE-F8CA21745378}"/>
                </a:ext>
              </a:extLst>
            </p:cNvPr>
            <p:cNvCxnSpPr>
              <a:cxnSpLocks noChangeShapeType="1"/>
              <a:stCxn id="82957" idx="0"/>
              <a:endCxn id="82953" idx="7"/>
            </p:cNvCxnSpPr>
            <p:nvPr/>
          </p:nvCxnSpPr>
          <p:spPr bwMode="auto">
            <a:xfrm rot="-5400000" flipH="1" flipV="1">
              <a:off x="4379" y="1372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51EEC421-348D-49AC-B827-BCC3BF65A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TD</a:t>
            </a:r>
            <a:r>
              <a:rPr lang="zh-CN" altLang="en-US"/>
              <a:t>的化简</a:t>
            </a:r>
          </a:p>
        </p:txBody>
      </p:sp>
      <p:grpSp>
        <p:nvGrpSpPr>
          <p:cNvPr id="83971" name="Group 50">
            <a:extLst>
              <a:ext uri="{FF2B5EF4-FFF2-40B4-BE49-F238E27FC236}">
                <a16:creationId xmlns:a16="http://schemas.microsoft.com/office/drawing/2014/main" id="{E01CDFE2-A735-4EA5-BFC0-5A9213770FD4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219200"/>
            <a:ext cx="2133600" cy="1828800"/>
            <a:chOff x="3504" y="1296"/>
            <a:chExt cx="1344" cy="1152"/>
          </a:xfrm>
        </p:grpSpPr>
        <p:sp>
          <p:nvSpPr>
            <p:cNvPr id="84031" name="Text Box 51">
              <a:extLst>
                <a:ext uri="{FF2B5EF4-FFF2-40B4-BE49-F238E27FC236}">
                  <a16:creationId xmlns:a16="http://schemas.microsoft.com/office/drawing/2014/main" id="{7C40B675-2505-4837-AF47-C0FA22707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8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E’:</a:t>
              </a:r>
            </a:p>
          </p:txBody>
        </p:sp>
        <p:sp>
          <p:nvSpPr>
            <p:cNvPr id="84032" name="Oval 52">
              <a:extLst>
                <a:ext uri="{FF2B5EF4-FFF2-40B4-BE49-F238E27FC236}">
                  <a16:creationId xmlns:a16="http://schemas.microsoft.com/office/drawing/2014/main" id="{8377F929-2938-454F-A3C0-2897C1E1C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33" name="Line 53">
              <a:extLst>
                <a:ext uri="{FF2B5EF4-FFF2-40B4-BE49-F238E27FC236}">
                  <a16:creationId xmlns:a16="http://schemas.microsoft.com/office/drawing/2014/main" id="{31031AF1-21F3-40F8-A174-4E8E763A9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7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34" name="Text Box 54">
              <a:extLst>
                <a:ext uri="{FF2B5EF4-FFF2-40B4-BE49-F238E27FC236}">
                  <a16:creationId xmlns:a16="http://schemas.microsoft.com/office/drawing/2014/main" id="{98D0808F-8313-4D8D-8576-B750EA68F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</a:p>
          </p:txBody>
        </p:sp>
        <p:sp>
          <p:nvSpPr>
            <p:cNvPr id="84035" name="Text Box 55">
              <a:extLst>
                <a:ext uri="{FF2B5EF4-FFF2-40B4-BE49-F238E27FC236}">
                  <a16:creationId xmlns:a16="http://schemas.microsoft.com/office/drawing/2014/main" id="{9F08BA46-78E2-4A6F-973D-D651D617C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</a:p>
          </p:txBody>
        </p:sp>
        <p:sp>
          <p:nvSpPr>
            <p:cNvPr id="84036" name="Oval 56">
              <a:extLst>
                <a:ext uri="{FF2B5EF4-FFF2-40B4-BE49-F238E27FC236}">
                  <a16:creationId xmlns:a16="http://schemas.microsoft.com/office/drawing/2014/main" id="{A783C93E-931D-42D7-B243-D468C998E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63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37" name="Text Box 57">
              <a:extLst>
                <a:ext uri="{FF2B5EF4-FFF2-40B4-BE49-F238E27FC236}">
                  <a16:creationId xmlns:a16="http://schemas.microsoft.com/office/drawing/2014/main" id="{5FFE0B9D-4FFB-464F-A05A-38FBCC0E6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6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4</a:t>
              </a:r>
            </a:p>
          </p:txBody>
        </p:sp>
        <p:sp>
          <p:nvSpPr>
            <p:cNvPr id="84038" name="Text Box 58">
              <a:extLst>
                <a:ext uri="{FF2B5EF4-FFF2-40B4-BE49-F238E27FC236}">
                  <a16:creationId xmlns:a16="http://schemas.microsoft.com/office/drawing/2014/main" id="{A729B8A6-ED1B-4149-8D78-A2D8C09D2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29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84039" name="Text Box 59">
              <a:extLst>
                <a:ext uri="{FF2B5EF4-FFF2-40B4-BE49-F238E27FC236}">
                  <a16:creationId xmlns:a16="http://schemas.microsoft.com/office/drawing/2014/main" id="{1F75BBED-581C-458D-BA5F-F6A1C5E28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01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84040" name="Group 60">
              <a:extLst>
                <a:ext uri="{FF2B5EF4-FFF2-40B4-BE49-F238E27FC236}">
                  <a16:creationId xmlns:a16="http://schemas.microsoft.com/office/drawing/2014/main" id="{13767F40-C037-46C1-9982-712B2A443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112"/>
              <a:ext cx="336" cy="336"/>
              <a:chOff x="2448" y="2736"/>
              <a:chExt cx="336" cy="336"/>
            </a:xfrm>
          </p:grpSpPr>
          <p:grpSp>
            <p:nvGrpSpPr>
              <p:cNvPr id="84043" name="Group 61">
                <a:extLst>
                  <a:ext uri="{FF2B5EF4-FFF2-40B4-BE49-F238E27FC236}">
                    <a16:creationId xmlns:a16="http://schemas.microsoft.com/office/drawing/2014/main" id="{29CB655B-E0FF-4204-9FBB-2765AE3C10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4045" name="Oval 62">
                  <a:extLst>
                    <a:ext uri="{FF2B5EF4-FFF2-40B4-BE49-F238E27FC236}">
                      <a16:creationId xmlns:a16="http://schemas.microsoft.com/office/drawing/2014/main" id="{095E7971-6184-4D6A-83A1-EC4B6377B2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46" name="Oval 63">
                  <a:extLst>
                    <a:ext uri="{FF2B5EF4-FFF2-40B4-BE49-F238E27FC236}">
                      <a16:creationId xmlns:a16="http://schemas.microsoft.com/office/drawing/2014/main" id="{2F610452-6211-4FC1-AE05-CE36755B16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4044" name="Text Box 64">
                <a:extLst>
                  <a:ext uri="{FF2B5EF4-FFF2-40B4-BE49-F238E27FC236}">
                    <a16:creationId xmlns:a16="http://schemas.microsoft.com/office/drawing/2014/main" id="{5D4FA8E1-F3A5-48E4-8603-45AAE4B82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cxnSp>
          <p:nvCxnSpPr>
            <p:cNvPr id="84041" name="AutoShape 65">
              <a:extLst>
                <a:ext uri="{FF2B5EF4-FFF2-40B4-BE49-F238E27FC236}">
                  <a16:creationId xmlns:a16="http://schemas.microsoft.com/office/drawing/2014/main" id="{B6F9AAF0-91EB-401F-B05B-2D852CD6F1D6}"/>
                </a:ext>
              </a:extLst>
            </p:cNvPr>
            <p:cNvCxnSpPr>
              <a:cxnSpLocks noChangeShapeType="1"/>
              <a:stCxn id="84032" idx="4"/>
              <a:endCxn id="84045" idx="2"/>
            </p:cNvCxnSpPr>
            <p:nvPr/>
          </p:nvCxnSpPr>
          <p:spPr bwMode="auto">
            <a:xfrm rot="16200000" flipH="1">
              <a:off x="4104" y="1880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042" name="AutoShape 66">
              <a:extLst>
                <a:ext uri="{FF2B5EF4-FFF2-40B4-BE49-F238E27FC236}">
                  <a16:creationId xmlns:a16="http://schemas.microsoft.com/office/drawing/2014/main" id="{857A6828-5C92-464A-8C48-8CCB9E1D4389}"/>
                </a:ext>
              </a:extLst>
            </p:cNvPr>
            <p:cNvCxnSpPr>
              <a:cxnSpLocks noChangeShapeType="1"/>
              <a:stCxn id="84036" idx="0"/>
              <a:endCxn id="84032" idx="7"/>
            </p:cNvCxnSpPr>
            <p:nvPr/>
          </p:nvCxnSpPr>
          <p:spPr bwMode="auto">
            <a:xfrm rot="-5400000" flipH="1" flipV="1">
              <a:off x="4379" y="1372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972" name="Group 67">
            <a:extLst>
              <a:ext uri="{FF2B5EF4-FFF2-40B4-BE49-F238E27FC236}">
                <a16:creationId xmlns:a16="http://schemas.microsoft.com/office/drawing/2014/main" id="{31C3CF21-DC31-4AFB-8334-A0DE467DDA0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362200"/>
            <a:ext cx="3200400" cy="609600"/>
            <a:chOff x="768" y="2544"/>
            <a:chExt cx="2016" cy="384"/>
          </a:xfrm>
        </p:grpSpPr>
        <p:grpSp>
          <p:nvGrpSpPr>
            <p:cNvPr id="84016" name="Group 68">
              <a:extLst>
                <a:ext uri="{FF2B5EF4-FFF2-40B4-BE49-F238E27FC236}">
                  <a16:creationId xmlns:a16="http://schemas.microsoft.com/office/drawing/2014/main" id="{125E8A67-8F28-4EE1-BB13-508C36061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592"/>
              <a:ext cx="336" cy="336"/>
              <a:chOff x="3552" y="2544"/>
              <a:chExt cx="336" cy="336"/>
            </a:xfrm>
          </p:grpSpPr>
          <p:sp>
            <p:nvSpPr>
              <p:cNvPr id="84029" name="Oval 69">
                <a:extLst>
                  <a:ext uri="{FF2B5EF4-FFF2-40B4-BE49-F238E27FC236}">
                    <a16:creationId xmlns:a16="http://schemas.microsoft.com/office/drawing/2014/main" id="{3A463E9F-A912-4343-A6BD-7D57DD018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4030" name="Oval 70">
                <a:extLst>
                  <a:ext uri="{FF2B5EF4-FFF2-40B4-BE49-F238E27FC236}">
                    <a16:creationId xmlns:a16="http://schemas.microsoft.com/office/drawing/2014/main" id="{A054E014-1B86-4255-B6FD-C43F60CA1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4017" name="Oval 71">
              <a:extLst>
                <a:ext uri="{FF2B5EF4-FFF2-40B4-BE49-F238E27FC236}">
                  <a16:creationId xmlns:a16="http://schemas.microsoft.com/office/drawing/2014/main" id="{53324054-2D3A-4E6F-9E16-B5311E0C6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9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18" name="Line 72">
              <a:extLst>
                <a:ext uri="{FF2B5EF4-FFF2-40B4-BE49-F238E27FC236}">
                  <a16:creationId xmlns:a16="http://schemas.microsoft.com/office/drawing/2014/main" id="{20A30BD0-03DB-4013-900C-73D137E81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7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019" name="Text Box 73">
              <a:extLst>
                <a:ext uri="{FF2B5EF4-FFF2-40B4-BE49-F238E27FC236}">
                  <a16:creationId xmlns:a16="http://schemas.microsoft.com/office/drawing/2014/main" id="{70064C29-F40C-4F43-A9DB-503CCE5CD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2</a:t>
              </a:r>
            </a:p>
          </p:txBody>
        </p:sp>
        <p:sp>
          <p:nvSpPr>
            <p:cNvPr id="84020" name="Text Box 74">
              <a:extLst>
                <a:ext uri="{FF2B5EF4-FFF2-40B4-BE49-F238E27FC236}">
                  <a16:creationId xmlns:a16="http://schemas.microsoft.com/office/drawing/2014/main" id="{DF97DEE7-1E91-4954-88A7-917AB16BB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</a:t>
              </a:r>
            </a:p>
          </p:txBody>
        </p:sp>
        <p:sp>
          <p:nvSpPr>
            <p:cNvPr id="84021" name="Text Box 75">
              <a:extLst>
                <a:ext uri="{FF2B5EF4-FFF2-40B4-BE49-F238E27FC236}">
                  <a16:creationId xmlns:a16="http://schemas.microsoft.com/office/drawing/2014/main" id="{C49DBD3F-F01E-4FAC-A10B-2ADA4623A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</a:p>
          </p:txBody>
        </p:sp>
        <p:grpSp>
          <p:nvGrpSpPr>
            <p:cNvPr id="84022" name="Group 76">
              <a:extLst>
                <a:ext uri="{FF2B5EF4-FFF2-40B4-BE49-F238E27FC236}">
                  <a16:creationId xmlns:a16="http://schemas.microsoft.com/office/drawing/2014/main" id="{E33739FF-C527-4397-9855-C40DBCD538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544"/>
              <a:ext cx="1008" cy="384"/>
              <a:chOff x="768" y="2544"/>
              <a:chExt cx="1008" cy="384"/>
            </a:xfrm>
          </p:grpSpPr>
          <p:sp>
            <p:nvSpPr>
              <p:cNvPr id="84023" name="Line 77">
                <a:extLst>
                  <a:ext uri="{FF2B5EF4-FFF2-40B4-BE49-F238E27FC236}">
                    <a16:creationId xmlns:a16="http://schemas.microsoft.com/office/drawing/2014/main" id="{A7C5A9F2-91E8-41A4-BCB1-E775EABB8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73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24" name="Text Box 78">
                <a:extLst>
                  <a:ext uri="{FF2B5EF4-FFF2-40B4-BE49-F238E27FC236}">
                    <a16:creationId xmlns:a16="http://schemas.microsoft.com/office/drawing/2014/main" id="{B8F9445B-5E50-4CE6-90BE-4AD42DB7C1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T</a:t>
                </a:r>
              </a:p>
            </p:txBody>
          </p:sp>
          <p:grpSp>
            <p:nvGrpSpPr>
              <p:cNvPr id="84025" name="Group 79">
                <a:extLst>
                  <a:ext uri="{FF2B5EF4-FFF2-40B4-BE49-F238E27FC236}">
                    <a16:creationId xmlns:a16="http://schemas.microsoft.com/office/drawing/2014/main" id="{07D47E0F-D664-4BEA-A436-C9CD7A89FD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592"/>
                <a:ext cx="672" cy="336"/>
                <a:chOff x="768" y="2592"/>
                <a:chExt cx="672" cy="336"/>
              </a:xfrm>
            </p:grpSpPr>
            <p:sp>
              <p:nvSpPr>
                <p:cNvPr id="84026" name="Oval 80">
                  <a:extLst>
                    <a:ext uri="{FF2B5EF4-FFF2-40B4-BE49-F238E27FC236}">
                      <a16:creationId xmlns:a16="http://schemas.microsoft.com/office/drawing/2014/main" id="{8C674AC9-81B0-43D8-9CCD-EFA1856715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592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27" name="Text Box 81">
                  <a:extLst>
                    <a:ext uri="{FF2B5EF4-FFF2-40B4-BE49-F238E27FC236}">
                      <a16:creationId xmlns:a16="http://schemas.microsoft.com/office/drawing/2014/main" id="{3570C0EE-0FAE-40F9-A07D-626D7A89DB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2640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0</a:t>
                  </a:r>
                </a:p>
              </p:txBody>
            </p:sp>
            <p:sp>
              <p:nvSpPr>
                <p:cNvPr id="84028" name="Text Box 82">
                  <a:extLst>
                    <a:ext uri="{FF2B5EF4-FFF2-40B4-BE49-F238E27FC236}">
                      <a16:creationId xmlns:a16="http://schemas.microsoft.com/office/drawing/2014/main" id="{545FAE64-02B0-4D95-8FCA-D647D169CC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264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E:</a:t>
                  </a:r>
                </a:p>
              </p:txBody>
            </p:sp>
          </p:grpSp>
        </p:grpSp>
      </p:grpSp>
      <p:sp>
        <p:nvSpPr>
          <p:cNvPr id="83973" name="AutoShape 83">
            <a:extLst>
              <a:ext uri="{FF2B5EF4-FFF2-40B4-BE49-F238E27FC236}">
                <a16:creationId xmlns:a16="http://schemas.microsoft.com/office/drawing/2014/main" id="{256E2957-9D56-4078-A517-A32170DCE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895600"/>
            <a:ext cx="228600" cy="838200"/>
          </a:xfrm>
          <a:prstGeom prst="curvedRightArrow">
            <a:avLst>
              <a:gd name="adj1" fmla="val 73333"/>
              <a:gd name="adj2" fmla="val 146667"/>
              <a:gd name="adj3" fmla="val 33333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grpSp>
        <p:nvGrpSpPr>
          <p:cNvPr id="83974" name="Group 84">
            <a:extLst>
              <a:ext uri="{FF2B5EF4-FFF2-40B4-BE49-F238E27FC236}">
                <a16:creationId xmlns:a16="http://schemas.microsoft.com/office/drawing/2014/main" id="{FE7E5554-F506-47C8-9EAF-7E665FBF5142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200400"/>
            <a:ext cx="3200400" cy="1828800"/>
            <a:chOff x="864" y="3072"/>
            <a:chExt cx="2016" cy="1152"/>
          </a:xfrm>
        </p:grpSpPr>
        <p:grpSp>
          <p:nvGrpSpPr>
            <p:cNvPr id="83994" name="Group 85">
              <a:extLst>
                <a:ext uri="{FF2B5EF4-FFF2-40B4-BE49-F238E27FC236}">
                  <a16:creationId xmlns:a16="http://schemas.microsoft.com/office/drawing/2014/main" id="{398A81CB-5F73-440A-B14E-17319515A8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360"/>
              <a:ext cx="1008" cy="384"/>
              <a:chOff x="768" y="2544"/>
              <a:chExt cx="1008" cy="384"/>
            </a:xfrm>
          </p:grpSpPr>
          <p:sp>
            <p:nvSpPr>
              <p:cNvPr id="84010" name="Line 86">
                <a:extLst>
                  <a:ext uri="{FF2B5EF4-FFF2-40B4-BE49-F238E27FC236}">
                    <a16:creationId xmlns:a16="http://schemas.microsoft.com/office/drawing/2014/main" id="{C42E8867-2800-4A16-8809-837E0075A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73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11" name="Text Box 87">
                <a:extLst>
                  <a:ext uri="{FF2B5EF4-FFF2-40B4-BE49-F238E27FC236}">
                    <a16:creationId xmlns:a16="http://schemas.microsoft.com/office/drawing/2014/main" id="{2B3A8F94-7226-4430-A762-3AB56F515C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T</a:t>
                </a:r>
              </a:p>
            </p:txBody>
          </p:sp>
          <p:grpSp>
            <p:nvGrpSpPr>
              <p:cNvPr id="84012" name="Group 88">
                <a:extLst>
                  <a:ext uri="{FF2B5EF4-FFF2-40B4-BE49-F238E27FC236}">
                    <a16:creationId xmlns:a16="http://schemas.microsoft.com/office/drawing/2014/main" id="{ABAD435A-0672-4CE3-8AAC-770F32E0B2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592"/>
                <a:ext cx="672" cy="336"/>
                <a:chOff x="768" y="2592"/>
                <a:chExt cx="672" cy="336"/>
              </a:xfrm>
            </p:grpSpPr>
            <p:sp>
              <p:nvSpPr>
                <p:cNvPr id="84013" name="Oval 89">
                  <a:extLst>
                    <a:ext uri="{FF2B5EF4-FFF2-40B4-BE49-F238E27FC236}">
                      <a16:creationId xmlns:a16="http://schemas.microsoft.com/office/drawing/2014/main" id="{14F9D198-CBA1-4BC5-9F25-2E0988F137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592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14" name="Text Box 90">
                  <a:extLst>
                    <a:ext uri="{FF2B5EF4-FFF2-40B4-BE49-F238E27FC236}">
                      <a16:creationId xmlns:a16="http://schemas.microsoft.com/office/drawing/2014/main" id="{8DACE6FE-B8FF-43C2-A606-46C7E30322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2640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0</a:t>
                  </a:r>
                </a:p>
              </p:txBody>
            </p:sp>
            <p:sp>
              <p:nvSpPr>
                <p:cNvPr id="84015" name="Text Box 91">
                  <a:extLst>
                    <a:ext uri="{FF2B5EF4-FFF2-40B4-BE49-F238E27FC236}">
                      <a16:creationId xmlns:a16="http://schemas.microsoft.com/office/drawing/2014/main" id="{5B115574-F4CC-4CD3-AFEA-2C9769EDF8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264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E:</a:t>
                  </a:r>
                </a:p>
              </p:txBody>
            </p:sp>
          </p:grpSp>
        </p:grpSp>
        <p:sp>
          <p:nvSpPr>
            <p:cNvPr id="83995" name="Oval 92">
              <a:extLst>
                <a:ext uri="{FF2B5EF4-FFF2-40B4-BE49-F238E27FC236}">
                  <a16:creationId xmlns:a16="http://schemas.microsoft.com/office/drawing/2014/main" id="{96F8C7F7-3BE1-4539-9F36-D1AEF636F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3996" name="Line 93">
              <a:extLst>
                <a:ext uri="{FF2B5EF4-FFF2-40B4-BE49-F238E27FC236}">
                  <a16:creationId xmlns:a16="http://schemas.microsoft.com/office/drawing/2014/main" id="{19858D39-F5EA-41C9-B7AB-43F1F70A5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5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97" name="Text Box 94">
              <a:extLst>
                <a:ext uri="{FF2B5EF4-FFF2-40B4-BE49-F238E27FC236}">
                  <a16:creationId xmlns:a16="http://schemas.microsoft.com/office/drawing/2014/main" id="{355E76D2-BF03-4397-9794-B012314A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</a:p>
          </p:txBody>
        </p:sp>
        <p:sp>
          <p:nvSpPr>
            <p:cNvPr id="83998" name="Text Box 95">
              <a:extLst>
                <a:ext uri="{FF2B5EF4-FFF2-40B4-BE49-F238E27FC236}">
                  <a16:creationId xmlns:a16="http://schemas.microsoft.com/office/drawing/2014/main" id="{C3F7D600-33C7-4E6E-B385-D69019971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36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</a:p>
          </p:txBody>
        </p:sp>
        <p:sp>
          <p:nvSpPr>
            <p:cNvPr id="83999" name="Oval 96">
              <a:extLst>
                <a:ext uri="{FF2B5EF4-FFF2-40B4-BE49-F238E27FC236}">
                  <a16:creationId xmlns:a16="http://schemas.microsoft.com/office/drawing/2014/main" id="{9C0BC4B2-AB22-4F7D-A5E7-3BAC1A881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4000" name="Text Box 97">
              <a:extLst>
                <a:ext uri="{FF2B5EF4-FFF2-40B4-BE49-F238E27FC236}">
                  <a16:creationId xmlns:a16="http://schemas.microsoft.com/office/drawing/2014/main" id="{16FA94DC-1BA2-491D-A94A-597E56D4D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4</a:t>
              </a:r>
            </a:p>
          </p:txBody>
        </p:sp>
        <p:sp>
          <p:nvSpPr>
            <p:cNvPr id="84001" name="Text Box 98">
              <a:extLst>
                <a:ext uri="{FF2B5EF4-FFF2-40B4-BE49-F238E27FC236}">
                  <a16:creationId xmlns:a16="http://schemas.microsoft.com/office/drawing/2014/main" id="{CF0B323E-CD84-4398-8E88-21ADA94EB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07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84002" name="Text Box 99">
              <a:extLst>
                <a:ext uri="{FF2B5EF4-FFF2-40B4-BE49-F238E27FC236}">
                  <a16:creationId xmlns:a16="http://schemas.microsoft.com/office/drawing/2014/main" id="{E7DFC96E-7282-4DF9-B674-6E91E53A9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79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84003" name="Group 100">
              <a:extLst>
                <a:ext uri="{FF2B5EF4-FFF2-40B4-BE49-F238E27FC236}">
                  <a16:creationId xmlns:a16="http://schemas.microsoft.com/office/drawing/2014/main" id="{0645DF59-4EAE-4243-B7D6-DDFDE43D8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3888"/>
              <a:ext cx="336" cy="336"/>
              <a:chOff x="2448" y="2736"/>
              <a:chExt cx="336" cy="336"/>
            </a:xfrm>
          </p:grpSpPr>
          <p:grpSp>
            <p:nvGrpSpPr>
              <p:cNvPr id="84006" name="Group 101">
                <a:extLst>
                  <a:ext uri="{FF2B5EF4-FFF2-40B4-BE49-F238E27FC236}">
                    <a16:creationId xmlns:a16="http://schemas.microsoft.com/office/drawing/2014/main" id="{C6352906-1AB8-4D0B-B163-E76008AAAA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4008" name="Oval 102">
                  <a:extLst>
                    <a:ext uri="{FF2B5EF4-FFF2-40B4-BE49-F238E27FC236}">
                      <a16:creationId xmlns:a16="http://schemas.microsoft.com/office/drawing/2014/main" id="{1FE38CF1-96C6-434F-AAAC-9616476CC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4009" name="Oval 103">
                  <a:extLst>
                    <a:ext uri="{FF2B5EF4-FFF2-40B4-BE49-F238E27FC236}">
                      <a16:creationId xmlns:a16="http://schemas.microsoft.com/office/drawing/2014/main" id="{579FC6BE-1811-42DE-930D-0B87E3984F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4007" name="Text Box 104">
                <a:extLst>
                  <a:ext uri="{FF2B5EF4-FFF2-40B4-BE49-F238E27FC236}">
                    <a16:creationId xmlns:a16="http://schemas.microsoft.com/office/drawing/2014/main" id="{FF7B91EC-D983-4D89-9BB4-FFB6148984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cxnSp>
          <p:nvCxnSpPr>
            <p:cNvPr id="84004" name="AutoShape 105">
              <a:extLst>
                <a:ext uri="{FF2B5EF4-FFF2-40B4-BE49-F238E27FC236}">
                  <a16:creationId xmlns:a16="http://schemas.microsoft.com/office/drawing/2014/main" id="{21ABB8B0-2417-44E6-BE65-616A4FE9D383}"/>
                </a:ext>
              </a:extLst>
            </p:cNvPr>
            <p:cNvCxnSpPr>
              <a:cxnSpLocks noChangeShapeType="1"/>
              <a:stCxn id="83995" idx="4"/>
              <a:endCxn id="84008" idx="2"/>
            </p:cNvCxnSpPr>
            <p:nvPr/>
          </p:nvCxnSpPr>
          <p:spPr bwMode="auto">
            <a:xfrm rot="16200000" flipH="1">
              <a:off x="2136" y="3656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005" name="AutoShape 106">
              <a:extLst>
                <a:ext uri="{FF2B5EF4-FFF2-40B4-BE49-F238E27FC236}">
                  <a16:creationId xmlns:a16="http://schemas.microsoft.com/office/drawing/2014/main" id="{29DF45DB-4B37-4416-8C14-5032E4926751}"/>
                </a:ext>
              </a:extLst>
            </p:cNvPr>
            <p:cNvCxnSpPr>
              <a:cxnSpLocks noChangeShapeType="1"/>
              <a:stCxn id="83999" idx="0"/>
              <a:endCxn id="83995" idx="7"/>
            </p:cNvCxnSpPr>
            <p:nvPr/>
          </p:nvCxnSpPr>
          <p:spPr bwMode="auto">
            <a:xfrm rot="-5400000" flipH="1" flipV="1">
              <a:off x="2411" y="3148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3975" name="Line 107">
            <a:extLst>
              <a:ext uri="{FF2B5EF4-FFF2-40B4-BE49-F238E27FC236}">
                <a16:creationId xmlns:a16="http://schemas.microsoft.com/office/drawing/2014/main" id="{1F9C1203-F3FC-4BAA-961D-24531F89A8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514600"/>
            <a:ext cx="2514600" cy="990600"/>
          </a:xfrm>
          <a:prstGeom prst="line">
            <a:avLst/>
          </a:prstGeom>
          <a:noFill/>
          <a:ln w="25400">
            <a:solidFill>
              <a:srgbClr val="CC99FF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976" name="Group 108">
            <a:extLst>
              <a:ext uri="{FF2B5EF4-FFF2-40B4-BE49-F238E27FC236}">
                <a16:creationId xmlns:a16="http://schemas.microsoft.com/office/drawing/2014/main" id="{4231DE55-F850-4E44-91DD-B11CB0DAADE2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138488"/>
            <a:ext cx="3048000" cy="1890712"/>
            <a:chOff x="3648" y="3033"/>
            <a:chExt cx="1920" cy="1191"/>
          </a:xfrm>
        </p:grpSpPr>
        <p:sp>
          <p:nvSpPr>
            <p:cNvPr id="83978" name="Text Box 109">
              <a:extLst>
                <a:ext uri="{FF2B5EF4-FFF2-40B4-BE49-F238E27FC236}">
                  <a16:creationId xmlns:a16="http://schemas.microsoft.com/office/drawing/2014/main" id="{2654C28A-4B3A-4F03-A775-BF708F27E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5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E:</a:t>
              </a:r>
            </a:p>
          </p:txBody>
        </p:sp>
        <p:sp>
          <p:nvSpPr>
            <p:cNvPr id="83979" name="Oval 110">
              <a:extLst>
                <a:ext uri="{FF2B5EF4-FFF2-40B4-BE49-F238E27FC236}">
                  <a16:creationId xmlns:a16="http://schemas.microsoft.com/office/drawing/2014/main" id="{93FC4468-7777-4D7F-B22F-3F95FCFCE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3980" name="Line 111">
              <a:extLst>
                <a:ext uri="{FF2B5EF4-FFF2-40B4-BE49-F238E27FC236}">
                  <a16:creationId xmlns:a16="http://schemas.microsoft.com/office/drawing/2014/main" id="{44C55B8E-2267-4335-9586-EBF18A151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5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1" name="Text Box 112">
              <a:extLst>
                <a:ext uri="{FF2B5EF4-FFF2-40B4-BE49-F238E27FC236}">
                  <a16:creationId xmlns:a16="http://schemas.microsoft.com/office/drawing/2014/main" id="{36791111-3011-4A5E-8106-3EEB47E19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0</a:t>
              </a:r>
            </a:p>
          </p:txBody>
        </p:sp>
        <p:sp>
          <p:nvSpPr>
            <p:cNvPr id="83982" name="Text Box 113">
              <a:extLst>
                <a:ext uri="{FF2B5EF4-FFF2-40B4-BE49-F238E27FC236}">
                  <a16:creationId xmlns:a16="http://schemas.microsoft.com/office/drawing/2014/main" id="{803EEC43-8401-499F-B103-EDC8C01F8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336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83983" name="Oval 114">
              <a:extLst>
                <a:ext uri="{FF2B5EF4-FFF2-40B4-BE49-F238E27FC236}">
                  <a16:creationId xmlns:a16="http://schemas.microsoft.com/office/drawing/2014/main" id="{EF406C4E-C7EC-4651-B36C-4B6A0EFD7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3984" name="Text Box 115">
              <a:extLst>
                <a:ext uri="{FF2B5EF4-FFF2-40B4-BE49-F238E27FC236}">
                  <a16:creationId xmlns:a16="http://schemas.microsoft.com/office/drawing/2014/main" id="{4949A41A-39E1-4A6D-A12A-24F3F4D8B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</a:p>
          </p:txBody>
        </p:sp>
        <p:sp>
          <p:nvSpPr>
            <p:cNvPr id="83985" name="Text Box 116">
              <a:extLst>
                <a:ext uri="{FF2B5EF4-FFF2-40B4-BE49-F238E27FC236}">
                  <a16:creationId xmlns:a16="http://schemas.microsoft.com/office/drawing/2014/main" id="{41D7F6D1-F68B-4D2D-84A7-94E8057F9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0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/>
                <a:t>＋</a:t>
              </a:r>
            </a:p>
          </p:txBody>
        </p:sp>
        <p:sp>
          <p:nvSpPr>
            <p:cNvPr id="83986" name="Text Box 117">
              <a:extLst>
                <a:ext uri="{FF2B5EF4-FFF2-40B4-BE49-F238E27FC236}">
                  <a16:creationId xmlns:a16="http://schemas.microsoft.com/office/drawing/2014/main" id="{0A27E2F4-EC46-4790-8101-F428D828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375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83987" name="Group 118">
              <a:extLst>
                <a:ext uri="{FF2B5EF4-FFF2-40B4-BE49-F238E27FC236}">
                  <a16:creationId xmlns:a16="http://schemas.microsoft.com/office/drawing/2014/main" id="{B6636535-C175-4D0B-B35C-F927DEDFED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888"/>
              <a:ext cx="336" cy="336"/>
              <a:chOff x="2448" y="2736"/>
              <a:chExt cx="336" cy="336"/>
            </a:xfrm>
          </p:grpSpPr>
          <p:grpSp>
            <p:nvGrpSpPr>
              <p:cNvPr id="83990" name="Group 119">
                <a:extLst>
                  <a:ext uri="{FF2B5EF4-FFF2-40B4-BE49-F238E27FC236}">
                    <a16:creationId xmlns:a16="http://schemas.microsoft.com/office/drawing/2014/main" id="{9506FD5F-0E00-4E1D-9FA8-BC98DE154F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3992" name="Oval 120">
                  <a:extLst>
                    <a:ext uri="{FF2B5EF4-FFF2-40B4-BE49-F238E27FC236}">
                      <a16:creationId xmlns:a16="http://schemas.microsoft.com/office/drawing/2014/main" id="{46FF84B3-209F-4504-BE32-17C37B0D66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3993" name="Oval 121">
                  <a:extLst>
                    <a:ext uri="{FF2B5EF4-FFF2-40B4-BE49-F238E27FC236}">
                      <a16:creationId xmlns:a16="http://schemas.microsoft.com/office/drawing/2014/main" id="{ABE4BE3B-54A9-4ABE-B124-268284A954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3991" name="Text Box 122">
                <a:extLst>
                  <a:ext uri="{FF2B5EF4-FFF2-40B4-BE49-F238E27FC236}">
                    <a16:creationId xmlns:a16="http://schemas.microsoft.com/office/drawing/2014/main" id="{F6C3AB14-E777-418D-BABB-A9B67E5778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cxnSp>
          <p:nvCxnSpPr>
            <p:cNvPr id="83988" name="AutoShape 123">
              <a:extLst>
                <a:ext uri="{FF2B5EF4-FFF2-40B4-BE49-F238E27FC236}">
                  <a16:creationId xmlns:a16="http://schemas.microsoft.com/office/drawing/2014/main" id="{804245CC-F2B9-4102-A7F7-3FE3BBD61341}"/>
                </a:ext>
              </a:extLst>
            </p:cNvPr>
            <p:cNvCxnSpPr>
              <a:cxnSpLocks noChangeShapeType="1"/>
              <a:stCxn id="83983" idx="4"/>
              <a:endCxn id="83992" idx="2"/>
            </p:cNvCxnSpPr>
            <p:nvPr/>
          </p:nvCxnSpPr>
          <p:spPr bwMode="auto">
            <a:xfrm rot="16200000" flipH="1">
              <a:off x="4872" y="3704"/>
              <a:ext cx="304" cy="4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89" name="AutoShape 124">
              <a:extLst>
                <a:ext uri="{FF2B5EF4-FFF2-40B4-BE49-F238E27FC236}">
                  <a16:creationId xmlns:a16="http://schemas.microsoft.com/office/drawing/2014/main" id="{CB54EDD4-3D86-44FA-93FC-508E91E9A4FF}"/>
                </a:ext>
              </a:extLst>
            </p:cNvPr>
            <p:cNvCxnSpPr>
              <a:cxnSpLocks noChangeShapeType="1"/>
              <a:stCxn id="83983" idx="0"/>
              <a:endCxn id="83979" idx="0"/>
            </p:cNvCxnSpPr>
            <p:nvPr/>
          </p:nvCxnSpPr>
          <p:spPr bwMode="auto">
            <a:xfrm rot="-5400000" flipH="1" flipV="1">
              <a:off x="4487" y="3065"/>
              <a:ext cx="1" cy="672"/>
            </a:xfrm>
            <a:prstGeom prst="curvedConnector3">
              <a:avLst>
                <a:gd name="adj1" fmla="val -172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3977" name="AutoShape 125">
            <a:extLst>
              <a:ext uri="{FF2B5EF4-FFF2-40B4-BE49-F238E27FC236}">
                <a16:creationId xmlns:a16="http://schemas.microsoft.com/office/drawing/2014/main" id="{66F05DEB-5CDF-4201-8EF1-829A8ED69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375E2CB-CEF2-479B-975D-927805CE6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完整的化简</a:t>
            </a:r>
          </a:p>
        </p:txBody>
      </p:sp>
      <p:grpSp>
        <p:nvGrpSpPr>
          <p:cNvPr id="84995" name="Group 4">
            <a:extLst>
              <a:ext uri="{FF2B5EF4-FFF2-40B4-BE49-F238E27FC236}">
                <a16:creationId xmlns:a16="http://schemas.microsoft.com/office/drawing/2014/main" id="{309616AA-C871-4476-B9CD-62963585539D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219200"/>
            <a:ext cx="3124200" cy="1066800"/>
            <a:chOff x="1152" y="1440"/>
            <a:chExt cx="1968" cy="672"/>
          </a:xfrm>
        </p:grpSpPr>
        <p:sp>
          <p:nvSpPr>
            <p:cNvPr id="85050" name="Text Box 5">
              <a:extLst>
                <a:ext uri="{FF2B5EF4-FFF2-40B4-BE49-F238E27FC236}">
                  <a16:creationId xmlns:a16="http://schemas.microsoft.com/office/drawing/2014/main" id="{D3B6BB2D-B873-42A6-AEF2-8E85767A3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4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*</a:t>
              </a:r>
            </a:p>
          </p:txBody>
        </p:sp>
        <p:grpSp>
          <p:nvGrpSpPr>
            <p:cNvPr id="85051" name="Group 6">
              <a:extLst>
                <a:ext uri="{FF2B5EF4-FFF2-40B4-BE49-F238E27FC236}">
                  <a16:creationId xmlns:a16="http://schemas.microsoft.com/office/drawing/2014/main" id="{D0486541-4DD6-4E12-AB2F-2F3E12203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728"/>
              <a:ext cx="1008" cy="384"/>
              <a:chOff x="768" y="2544"/>
              <a:chExt cx="1008" cy="384"/>
            </a:xfrm>
          </p:grpSpPr>
          <p:sp>
            <p:nvSpPr>
              <p:cNvPr id="85061" name="Line 7">
                <a:extLst>
                  <a:ext uri="{FF2B5EF4-FFF2-40B4-BE49-F238E27FC236}">
                    <a16:creationId xmlns:a16="http://schemas.microsoft.com/office/drawing/2014/main" id="{016B0854-9551-4F69-AC2F-B0A10D659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736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62" name="Text Box 8">
                <a:extLst>
                  <a:ext uri="{FF2B5EF4-FFF2-40B4-BE49-F238E27FC236}">
                    <a16:creationId xmlns:a16="http://schemas.microsoft.com/office/drawing/2014/main" id="{B5158D07-5B79-4F58-B2C9-F7DFFE6A6F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F</a:t>
                </a:r>
              </a:p>
            </p:txBody>
          </p:sp>
          <p:grpSp>
            <p:nvGrpSpPr>
              <p:cNvPr id="85063" name="Group 9">
                <a:extLst>
                  <a:ext uri="{FF2B5EF4-FFF2-40B4-BE49-F238E27FC236}">
                    <a16:creationId xmlns:a16="http://schemas.microsoft.com/office/drawing/2014/main" id="{EB2AE09B-0E2E-4721-82E8-414B2B3EA9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2592"/>
                <a:ext cx="672" cy="336"/>
                <a:chOff x="768" y="2592"/>
                <a:chExt cx="672" cy="336"/>
              </a:xfrm>
            </p:grpSpPr>
            <p:sp>
              <p:nvSpPr>
                <p:cNvPr id="85064" name="Oval 10">
                  <a:extLst>
                    <a:ext uri="{FF2B5EF4-FFF2-40B4-BE49-F238E27FC236}">
                      <a16:creationId xmlns:a16="http://schemas.microsoft.com/office/drawing/2014/main" id="{3D3BFA7A-19F8-4C11-B92E-B99987CF46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592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5065" name="Text Box 11">
                  <a:extLst>
                    <a:ext uri="{FF2B5EF4-FFF2-40B4-BE49-F238E27FC236}">
                      <a16:creationId xmlns:a16="http://schemas.microsoft.com/office/drawing/2014/main" id="{9172229A-8B86-451C-B951-B77950F202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2640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7</a:t>
                  </a:r>
                </a:p>
              </p:txBody>
            </p:sp>
            <p:sp>
              <p:nvSpPr>
                <p:cNvPr id="85066" name="Text Box 12">
                  <a:extLst>
                    <a:ext uri="{FF2B5EF4-FFF2-40B4-BE49-F238E27FC236}">
                      <a16:creationId xmlns:a16="http://schemas.microsoft.com/office/drawing/2014/main" id="{4A565EF1-5F5B-475B-B700-2FBA31510C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264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 type="none" w="sm" len="sm"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b="1"/>
                    <a:t>T:</a:t>
                  </a:r>
                </a:p>
              </p:txBody>
            </p:sp>
          </p:grpSp>
        </p:grpSp>
        <p:sp>
          <p:nvSpPr>
            <p:cNvPr id="85052" name="Oval 13">
              <a:extLst>
                <a:ext uri="{FF2B5EF4-FFF2-40B4-BE49-F238E27FC236}">
                  <a16:creationId xmlns:a16="http://schemas.microsoft.com/office/drawing/2014/main" id="{8BDF601B-4A72-4ECC-96DA-7C6261200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76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53" name="Text Box 14">
              <a:extLst>
                <a:ext uri="{FF2B5EF4-FFF2-40B4-BE49-F238E27FC236}">
                  <a16:creationId xmlns:a16="http://schemas.microsoft.com/office/drawing/2014/main" id="{C8CD1A94-1D0F-4767-BE1C-3346CDFC8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8</a:t>
              </a:r>
            </a:p>
          </p:txBody>
        </p:sp>
        <p:sp>
          <p:nvSpPr>
            <p:cNvPr id="85054" name="Text Box 15">
              <a:extLst>
                <a:ext uri="{FF2B5EF4-FFF2-40B4-BE49-F238E27FC236}">
                  <a16:creationId xmlns:a16="http://schemas.microsoft.com/office/drawing/2014/main" id="{ACF035F2-D531-4040-B40F-4B85C80D2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72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grpSp>
          <p:nvGrpSpPr>
            <p:cNvPr id="85055" name="Group 16">
              <a:extLst>
                <a:ext uri="{FF2B5EF4-FFF2-40B4-BE49-F238E27FC236}">
                  <a16:creationId xmlns:a16="http://schemas.microsoft.com/office/drawing/2014/main" id="{5B9B2C5A-7904-4F3E-8A5E-66C9F3247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776"/>
              <a:ext cx="336" cy="336"/>
              <a:chOff x="3552" y="2544"/>
              <a:chExt cx="336" cy="336"/>
            </a:xfrm>
          </p:grpSpPr>
          <p:sp>
            <p:nvSpPr>
              <p:cNvPr id="85059" name="Oval 17">
                <a:extLst>
                  <a:ext uri="{FF2B5EF4-FFF2-40B4-BE49-F238E27FC236}">
                    <a16:creationId xmlns:a16="http://schemas.microsoft.com/office/drawing/2014/main" id="{AE4A1A66-93D9-4202-8068-F2AB403B5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5060" name="Oval 18">
                <a:extLst>
                  <a:ext uri="{FF2B5EF4-FFF2-40B4-BE49-F238E27FC236}">
                    <a16:creationId xmlns:a16="http://schemas.microsoft.com/office/drawing/2014/main" id="{E0F7DC17-CEB2-4115-AF41-D39F87082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5056" name="Text Box 19">
              <a:extLst>
                <a:ext uri="{FF2B5EF4-FFF2-40B4-BE49-F238E27FC236}">
                  <a16:creationId xmlns:a16="http://schemas.microsoft.com/office/drawing/2014/main" id="{BD04E4C5-A9C5-4133-AF5F-1D8D8E76D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82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13</a:t>
              </a:r>
            </a:p>
          </p:txBody>
        </p:sp>
        <p:cxnSp>
          <p:nvCxnSpPr>
            <p:cNvPr id="85057" name="AutoShape 20">
              <a:extLst>
                <a:ext uri="{FF2B5EF4-FFF2-40B4-BE49-F238E27FC236}">
                  <a16:creationId xmlns:a16="http://schemas.microsoft.com/office/drawing/2014/main" id="{853E6263-13CC-4146-AC0A-942013601A88}"/>
                </a:ext>
              </a:extLst>
            </p:cNvPr>
            <p:cNvCxnSpPr>
              <a:cxnSpLocks noChangeShapeType="1"/>
              <a:stCxn id="85052" idx="6"/>
              <a:endCxn id="85059" idx="2"/>
            </p:cNvCxnSpPr>
            <p:nvPr/>
          </p:nvCxnSpPr>
          <p:spPr bwMode="auto">
            <a:xfrm>
              <a:off x="2504" y="1944"/>
              <a:ext cx="272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58" name="AutoShape 21">
              <a:extLst>
                <a:ext uri="{FF2B5EF4-FFF2-40B4-BE49-F238E27FC236}">
                  <a16:creationId xmlns:a16="http://schemas.microsoft.com/office/drawing/2014/main" id="{57A00F2F-82DB-4F0E-9854-86D2CDDB204C}"/>
                </a:ext>
              </a:extLst>
            </p:cNvPr>
            <p:cNvCxnSpPr>
              <a:cxnSpLocks noChangeShapeType="1"/>
              <a:stCxn id="85052" idx="0"/>
              <a:endCxn id="85064" idx="7"/>
            </p:cNvCxnSpPr>
            <p:nvPr/>
          </p:nvCxnSpPr>
          <p:spPr bwMode="auto">
            <a:xfrm rot="-5400000" flipH="1" flipV="1">
              <a:off x="2027" y="1516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4996" name="Group 22">
            <a:extLst>
              <a:ext uri="{FF2B5EF4-FFF2-40B4-BE49-F238E27FC236}">
                <a16:creationId xmlns:a16="http://schemas.microsoft.com/office/drawing/2014/main" id="{247A50D8-5859-4059-8130-B2FAD20ED43C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286000"/>
            <a:ext cx="2133600" cy="1828800"/>
            <a:chOff x="1056" y="2352"/>
            <a:chExt cx="1344" cy="1152"/>
          </a:xfrm>
        </p:grpSpPr>
        <p:sp>
          <p:nvSpPr>
            <p:cNvPr id="85035" name="Text Box 23">
              <a:extLst>
                <a:ext uri="{FF2B5EF4-FFF2-40B4-BE49-F238E27FC236}">
                  <a16:creationId xmlns:a16="http://schemas.microsoft.com/office/drawing/2014/main" id="{233FF4B3-975E-445C-B006-D5A622A3C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73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T’:</a:t>
              </a:r>
            </a:p>
          </p:txBody>
        </p:sp>
        <p:sp>
          <p:nvSpPr>
            <p:cNvPr id="85036" name="Oval 24">
              <a:extLst>
                <a:ext uri="{FF2B5EF4-FFF2-40B4-BE49-F238E27FC236}">
                  <a16:creationId xmlns:a16="http://schemas.microsoft.com/office/drawing/2014/main" id="{F0F8180A-1CEE-4EFB-BE13-9CFA94BD6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68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37" name="Line 25">
              <a:extLst>
                <a:ext uri="{FF2B5EF4-FFF2-40B4-BE49-F238E27FC236}">
                  <a16:creationId xmlns:a16="http://schemas.microsoft.com/office/drawing/2014/main" id="{8CEF5FD3-2718-475B-9564-47E361362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3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8" name="Text Box 26">
              <a:extLst>
                <a:ext uri="{FF2B5EF4-FFF2-40B4-BE49-F238E27FC236}">
                  <a16:creationId xmlns:a16="http://schemas.microsoft.com/office/drawing/2014/main" id="{FA92C2A8-F551-41B8-9F59-2AEA873E0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73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10</a:t>
              </a:r>
            </a:p>
          </p:txBody>
        </p:sp>
        <p:sp>
          <p:nvSpPr>
            <p:cNvPr id="85039" name="Text Box 27">
              <a:extLst>
                <a:ext uri="{FF2B5EF4-FFF2-40B4-BE49-F238E27FC236}">
                  <a16:creationId xmlns:a16="http://schemas.microsoft.com/office/drawing/2014/main" id="{4043E41C-C7A4-4B98-9E3D-4A847871A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*</a:t>
              </a:r>
            </a:p>
          </p:txBody>
        </p:sp>
        <p:sp>
          <p:nvSpPr>
            <p:cNvPr id="85040" name="Oval 28">
              <a:extLst>
                <a:ext uri="{FF2B5EF4-FFF2-40B4-BE49-F238E27FC236}">
                  <a16:creationId xmlns:a16="http://schemas.microsoft.com/office/drawing/2014/main" id="{13A49F8C-3BA5-4768-8CB1-A91F9761C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8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41" name="Text Box 29">
              <a:extLst>
                <a:ext uri="{FF2B5EF4-FFF2-40B4-BE49-F238E27FC236}">
                  <a16:creationId xmlns:a16="http://schemas.microsoft.com/office/drawing/2014/main" id="{66D78557-A488-43A9-8461-21DBDCCE5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73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11</a:t>
              </a:r>
            </a:p>
          </p:txBody>
        </p:sp>
        <p:sp>
          <p:nvSpPr>
            <p:cNvPr id="85042" name="Text Box 30">
              <a:extLst>
                <a:ext uri="{FF2B5EF4-FFF2-40B4-BE49-F238E27FC236}">
                  <a16:creationId xmlns:a16="http://schemas.microsoft.com/office/drawing/2014/main" id="{64761F54-D0D0-4515-BC23-ABC018A00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35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</a:p>
          </p:txBody>
        </p:sp>
        <p:sp>
          <p:nvSpPr>
            <p:cNvPr id="85043" name="Text Box 31">
              <a:extLst>
                <a:ext uri="{FF2B5EF4-FFF2-40B4-BE49-F238E27FC236}">
                  <a16:creationId xmlns:a16="http://schemas.microsoft.com/office/drawing/2014/main" id="{9F14C2A4-D227-49DA-8428-2E3C4E2CA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0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grpSp>
          <p:nvGrpSpPr>
            <p:cNvPr id="85044" name="Group 32">
              <a:extLst>
                <a:ext uri="{FF2B5EF4-FFF2-40B4-BE49-F238E27FC236}">
                  <a16:creationId xmlns:a16="http://schemas.microsoft.com/office/drawing/2014/main" id="{D67DC42C-E789-4A11-85D4-BF63025B1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168"/>
              <a:ext cx="336" cy="336"/>
              <a:chOff x="3552" y="2544"/>
              <a:chExt cx="336" cy="336"/>
            </a:xfrm>
          </p:grpSpPr>
          <p:sp>
            <p:nvSpPr>
              <p:cNvPr id="85048" name="Oval 33">
                <a:extLst>
                  <a:ext uri="{FF2B5EF4-FFF2-40B4-BE49-F238E27FC236}">
                    <a16:creationId xmlns:a16="http://schemas.microsoft.com/office/drawing/2014/main" id="{DCE3A125-7D48-4395-88E8-0D1749EEE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5049" name="Oval 34">
                <a:extLst>
                  <a:ext uri="{FF2B5EF4-FFF2-40B4-BE49-F238E27FC236}">
                    <a16:creationId xmlns:a16="http://schemas.microsoft.com/office/drawing/2014/main" id="{D3ADE7BE-93A7-45C0-A168-D246B0383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5045" name="Text Box 35">
              <a:extLst>
                <a:ext uri="{FF2B5EF4-FFF2-40B4-BE49-F238E27FC236}">
                  <a16:creationId xmlns:a16="http://schemas.microsoft.com/office/drawing/2014/main" id="{894F41A9-306A-4B85-B3EB-E63DB8E65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21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13</a:t>
              </a:r>
            </a:p>
          </p:txBody>
        </p:sp>
        <p:cxnSp>
          <p:nvCxnSpPr>
            <p:cNvPr id="85046" name="AutoShape 36">
              <a:extLst>
                <a:ext uri="{FF2B5EF4-FFF2-40B4-BE49-F238E27FC236}">
                  <a16:creationId xmlns:a16="http://schemas.microsoft.com/office/drawing/2014/main" id="{F8A9C58D-8E7C-46FD-BECC-1E00A825070B}"/>
                </a:ext>
              </a:extLst>
            </p:cNvPr>
            <p:cNvCxnSpPr>
              <a:cxnSpLocks noChangeShapeType="1"/>
              <a:stCxn id="85036" idx="4"/>
              <a:endCxn id="85048" idx="2"/>
            </p:cNvCxnSpPr>
            <p:nvPr/>
          </p:nvCxnSpPr>
          <p:spPr bwMode="auto">
            <a:xfrm rot="16200000" flipH="1">
              <a:off x="1656" y="2936"/>
              <a:ext cx="304" cy="49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47" name="AutoShape 37">
              <a:extLst>
                <a:ext uri="{FF2B5EF4-FFF2-40B4-BE49-F238E27FC236}">
                  <a16:creationId xmlns:a16="http://schemas.microsoft.com/office/drawing/2014/main" id="{E41CFB9E-2F47-44AA-BB01-AB5A1F7E8FC1}"/>
                </a:ext>
              </a:extLst>
            </p:cNvPr>
            <p:cNvCxnSpPr>
              <a:cxnSpLocks noChangeShapeType="1"/>
              <a:stCxn id="85040" idx="0"/>
              <a:endCxn id="85036" idx="7"/>
            </p:cNvCxnSpPr>
            <p:nvPr/>
          </p:nvCxnSpPr>
          <p:spPr bwMode="auto">
            <a:xfrm rot="-5400000" flipH="1" flipV="1">
              <a:off x="1931" y="2428"/>
              <a:ext cx="49" cy="553"/>
            </a:xfrm>
            <a:prstGeom prst="curvedConnector3">
              <a:avLst>
                <a:gd name="adj1" fmla="val -27755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4997" name="Group 38">
            <a:extLst>
              <a:ext uri="{FF2B5EF4-FFF2-40B4-BE49-F238E27FC236}">
                <a16:creationId xmlns:a16="http://schemas.microsoft.com/office/drawing/2014/main" id="{A63FC1A7-8C9C-4E67-8100-AD52EDE434E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352800"/>
            <a:ext cx="4267200" cy="900113"/>
            <a:chOff x="768" y="3504"/>
            <a:chExt cx="2688" cy="567"/>
          </a:xfrm>
        </p:grpSpPr>
        <p:sp>
          <p:nvSpPr>
            <p:cNvPr id="85016" name="Oval 39">
              <a:extLst>
                <a:ext uri="{FF2B5EF4-FFF2-40B4-BE49-F238E27FC236}">
                  <a16:creationId xmlns:a16="http://schemas.microsoft.com/office/drawing/2014/main" id="{386BD808-FE77-45D2-B178-F9D48A552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5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17" name="Line 40">
              <a:extLst>
                <a:ext uri="{FF2B5EF4-FFF2-40B4-BE49-F238E27FC236}">
                  <a16:creationId xmlns:a16="http://schemas.microsoft.com/office/drawing/2014/main" id="{6E5BB81B-67F5-4CC7-B4BB-E25E88703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8" name="Text Box 41">
              <a:extLst>
                <a:ext uri="{FF2B5EF4-FFF2-40B4-BE49-F238E27FC236}">
                  <a16:creationId xmlns:a16="http://schemas.microsoft.com/office/drawing/2014/main" id="{3E6DCD2E-C730-45BB-B78B-28812BE35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14</a:t>
              </a:r>
            </a:p>
          </p:txBody>
        </p:sp>
        <p:grpSp>
          <p:nvGrpSpPr>
            <p:cNvPr id="85019" name="Group 42">
              <a:extLst>
                <a:ext uri="{FF2B5EF4-FFF2-40B4-BE49-F238E27FC236}">
                  <a16:creationId xmlns:a16="http://schemas.microsoft.com/office/drawing/2014/main" id="{29FC3153-2A96-4B42-9BF0-328437098E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552"/>
              <a:ext cx="336" cy="336"/>
              <a:chOff x="3552" y="2544"/>
              <a:chExt cx="336" cy="336"/>
            </a:xfrm>
          </p:grpSpPr>
          <p:sp>
            <p:nvSpPr>
              <p:cNvPr id="85033" name="Oval 43">
                <a:extLst>
                  <a:ext uri="{FF2B5EF4-FFF2-40B4-BE49-F238E27FC236}">
                    <a16:creationId xmlns:a16="http://schemas.microsoft.com/office/drawing/2014/main" id="{34E09D9B-887F-42C4-AC31-C70DA24173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85034" name="Oval 44">
                <a:extLst>
                  <a:ext uri="{FF2B5EF4-FFF2-40B4-BE49-F238E27FC236}">
                    <a16:creationId xmlns:a16="http://schemas.microsoft.com/office/drawing/2014/main" id="{47F4D74E-F55F-4A4B-BBC1-B2E818117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85020" name="Text Box 45">
              <a:extLst>
                <a:ext uri="{FF2B5EF4-FFF2-40B4-BE49-F238E27FC236}">
                  <a16:creationId xmlns:a16="http://schemas.microsoft.com/office/drawing/2014/main" id="{69FDA51C-EC0C-4686-991A-E9DA4DDB1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17</a:t>
              </a:r>
            </a:p>
          </p:txBody>
        </p:sp>
        <p:sp>
          <p:nvSpPr>
            <p:cNvPr id="85021" name="Text Box 46">
              <a:extLst>
                <a:ext uri="{FF2B5EF4-FFF2-40B4-BE49-F238E27FC236}">
                  <a16:creationId xmlns:a16="http://schemas.microsoft.com/office/drawing/2014/main" id="{44DA0CBF-6223-4B9B-B310-CE47F7CFF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50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(</a:t>
              </a:r>
            </a:p>
          </p:txBody>
        </p:sp>
        <p:sp>
          <p:nvSpPr>
            <p:cNvPr id="85022" name="Oval 47">
              <a:extLst>
                <a:ext uri="{FF2B5EF4-FFF2-40B4-BE49-F238E27FC236}">
                  <a16:creationId xmlns:a16="http://schemas.microsoft.com/office/drawing/2014/main" id="{EC483B66-790B-4EAE-B15F-94ACF50B0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5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23" name="Line 48">
              <a:extLst>
                <a:ext uri="{FF2B5EF4-FFF2-40B4-BE49-F238E27FC236}">
                  <a16:creationId xmlns:a16="http://schemas.microsoft.com/office/drawing/2014/main" id="{558B89C5-4792-465C-9B27-9BFF724F5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6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4" name="Text Box 49">
              <a:extLst>
                <a:ext uri="{FF2B5EF4-FFF2-40B4-BE49-F238E27FC236}">
                  <a16:creationId xmlns:a16="http://schemas.microsoft.com/office/drawing/2014/main" id="{2E7ED9A7-1335-4A78-BD7A-917DB4FE2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15</a:t>
              </a:r>
            </a:p>
          </p:txBody>
        </p:sp>
        <p:sp>
          <p:nvSpPr>
            <p:cNvPr id="85025" name="Text Box 50">
              <a:extLst>
                <a:ext uri="{FF2B5EF4-FFF2-40B4-BE49-F238E27FC236}">
                  <a16:creationId xmlns:a16="http://schemas.microsoft.com/office/drawing/2014/main" id="{96534744-4BD3-49BC-BB65-8EC5B2172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50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</a:p>
          </p:txBody>
        </p:sp>
        <p:sp>
          <p:nvSpPr>
            <p:cNvPr id="85026" name="Text Box 51">
              <a:extLst>
                <a:ext uri="{FF2B5EF4-FFF2-40B4-BE49-F238E27FC236}">
                  <a16:creationId xmlns:a16="http://schemas.microsoft.com/office/drawing/2014/main" id="{A9256680-5A0D-4D41-8392-CF6122461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600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F:</a:t>
              </a:r>
            </a:p>
          </p:txBody>
        </p:sp>
        <p:sp>
          <p:nvSpPr>
            <p:cNvPr id="85027" name="Oval 52">
              <a:extLst>
                <a:ext uri="{FF2B5EF4-FFF2-40B4-BE49-F238E27FC236}">
                  <a16:creationId xmlns:a16="http://schemas.microsoft.com/office/drawing/2014/main" id="{4334B68F-FFC8-40CA-AFF3-C91A37A6F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552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28" name="Line 53">
              <a:extLst>
                <a:ext uri="{FF2B5EF4-FFF2-40B4-BE49-F238E27FC236}">
                  <a16:creationId xmlns:a16="http://schemas.microsoft.com/office/drawing/2014/main" id="{1B9F136C-50B3-4D8A-81CB-1D34545FE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6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29" name="Text Box 54">
              <a:extLst>
                <a:ext uri="{FF2B5EF4-FFF2-40B4-BE49-F238E27FC236}">
                  <a16:creationId xmlns:a16="http://schemas.microsoft.com/office/drawing/2014/main" id="{052BD65B-46AF-4CDF-8A6C-DBC0287A7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6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16</a:t>
              </a:r>
            </a:p>
          </p:txBody>
        </p:sp>
        <p:sp>
          <p:nvSpPr>
            <p:cNvPr id="85030" name="Text Box 55">
              <a:extLst>
                <a:ext uri="{FF2B5EF4-FFF2-40B4-BE49-F238E27FC236}">
                  <a16:creationId xmlns:a16="http://schemas.microsoft.com/office/drawing/2014/main" id="{283EB4B9-B1BD-4920-BD5E-C3B35C955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50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)</a:t>
              </a:r>
            </a:p>
          </p:txBody>
        </p:sp>
        <p:cxnSp>
          <p:nvCxnSpPr>
            <p:cNvPr id="85031" name="AutoShape 56">
              <a:extLst>
                <a:ext uri="{FF2B5EF4-FFF2-40B4-BE49-F238E27FC236}">
                  <a16:creationId xmlns:a16="http://schemas.microsoft.com/office/drawing/2014/main" id="{4F1E8292-CAFC-4CAF-934C-692E62AA83E1}"/>
                </a:ext>
              </a:extLst>
            </p:cNvPr>
            <p:cNvCxnSpPr>
              <a:cxnSpLocks noChangeShapeType="1"/>
              <a:stCxn id="85016" idx="4"/>
              <a:endCxn id="85033" idx="4"/>
            </p:cNvCxnSpPr>
            <p:nvPr/>
          </p:nvCxnSpPr>
          <p:spPr bwMode="auto">
            <a:xfrm rot="16200000" flipH="1">
              <a:off x="2279" y="2889"/>
              <a:ext cx="1" cy="2016"/>
            </a:xfrm>
            <a:prstGeom prst="curvedConnector3">
              <a:avLst>
                <a:gd name="adj1" fmla="val 136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32" name="Text Box 57">
              <a:extLst>
                <a:ext uri="{FF2B5EF4-FFF2-40B4-BE49-F238E27FC236}">
                  <a16:creationId xmlns:a16="http://schemas.microsoft.com/office/drawing/2014/main" id="{60142A19-90A1-4231-B5D8-3EC5AA226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8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id</a:t>
              </a:r>
              <a:endParaRPr kumimoji="0" lang="en-US" altLang="zh-CN" sz="1800" b="1"/>
            </a:p>
          </p:txBody>
        </p:sp>
      </p:grpSp>
      <p:sp>
        <p:nvSpPr>
          <p:cNvPr id="84998" name="Text Box 58">
            <a:extLst>
              <a:ext uri="{FF2B5EF4-FFF2-40B4-BE49-F238E27FC236}">
                <a16:creationId xmlns:a16="http://schemas.microsoft.com/office/drawing/2014/main" id="{6716498D-B0ED-41FE-B9E2-838BC11A4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67200"/>
            <a:ext cx="3276600" cy="13985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化简的重要性 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  <a:br>
              <a:rPr kumimoji="0" lang="en-US" altLang="zh-CN" sz="2800" b="1">
                <a:solidFill>
                  <a:srgbClr val="FF3300"/>
                </a:solidFill>
              </a:rPr>
            </a:br>
            <a:r>
              <a:rPr kumimoji="0" lang="en-US" altLang="zh-CN" sz="2800" b="1">
                <a:solidFill>
                  <a:srgbClr val="FF3300"/>
                </a:solidFill>
              </a:rPr>
              <a:t>——</a:t>
            </a:r>
            <a:r>
              <a:rPr kumimoji="0" lang="zh-CN" altLang="en-US" sz="2800" b="1">
                <a:solidFill>
                  <a:srgbClr val="FF3300"/>
                </a:solidFill>
              </a:rPr>
              <a:t>代码的变化</a:t>
            </a:r>
            <a:r>
              <a:rPr kumimoji="0" lang="en-US" altLang="zh-CN" sz="2800" b="1">
                <a:solidFill>
                  <a:srgbClr val="FF3300"/>
                </a:solidFill>
              </a:rPr>
              <a:t>?</a:t>
            </a:r>
            <a:r>
              <a:rPr kumimoji="0" lang="zh-CN" altLang="en-US" sz="2800" b="1">
                <a:solidFill>
                  <a:srgbClr val="FF3300"/>
                </a:solidFill>
              </a:rPr>
              <a:t>速度提高</a:t>
            </a:r>
            <a:r>
              <a:rPr kumimoji="0" lang="en-US" altLang="zh-CN" sz="2800" b="1">
                <a:solidFill>
                  <a:srgbClr val="FF3300"/>
                </a:solidFill>
              </a:rPr>
              <a:t>20%-25%</a:t>
            </a:r>
          </a:p>
        </p:txBody>
      </p:sp>
      <p:grpSp>
        <p:nvGrpSpPr>
          <p:cNvPr id="84999" name="Group 59">
            <a:extLst>
              <a:ext uri="{FF2B5EF4-FFF2-40B4-BE49-F238E27FC236}">
                <a16:creationId xmlns:a16="http://schemas.microsoft.com/office/drawing/2014/main" id="{7F882021-E0BF-40A2-A6EB-26C493C5B739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219200"/>
            <a:ext cx="3048000" cy="1890713"/>
            <a:chOff x="3648" y="3033"/>
            <a:chExt cx="1920" cy="1191"/>
          </a:xfrm>
        </p:grpSpPr>
        <p:sp>
          <p:nvSpPr>
            <p:cNvPr id="85000" name="Text Box 60">
              <a:extLst>
                <a:ext uri="{FF2B5EF4-FFF2-40B4-BE49-F238E27FC236}">
                  <a16:creationId xmlns:a16="http://schemas.microsoft.com/office/drawing/2014/main" id="{CF28CE36-EA06-47E9-9EBE-427C2E981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5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E:</a:t>
              </a:r>
            </a:p>
          </p:txBody>
        </p:sp>
        <p:sp>
          <p:nvSpPr>
            <p:cNvPr id="85001" name="Oval 61">
              <a:extLst>
                <a:ext uri="{FF2B5EF4-FFF2-40B4-BE49-F238E27FC236}">
                  <a16:creationId xmlns:a16="http://schemas.microsoft.com/office/drawing/2014/main" id="{67087657-8A9F-43DA-96DC-68F3C78F3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02" name="Line 62">
              <a:extLst>
                <a:ext uri="{FF2B5EF4-FFF2-40B4-BE49-F238E27FC236}">
                  <a16:creationId xmlns:a16="http://schemas.microsoft.com/office/drawing/2014/main" id="{28A2FA94-7684-4216-9B5C-B5A0060D2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55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3" name="Text Box 63">
              <a:extLst>
                <a:ext uri="{FF2B5EF4-FFF2-40B4-BE49-F238E27FC236}">
                  <a16:creationId xmlns:a16="http://schemas.microsoft.com/office/drawing/2014/main" id="{CE4AFA57-8B8D-43FB-A0B9-F43997DB9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0</a:t>
              </a:r>
            </a:p>
          </p:txBody>
        </p:sp>
        <p:sp>
          <p:nvSpPr>
            <p:cNvPr id="85004" name="Text Box 64">
              <a:extLst>
                <a:ext uri="{FF2B5EF4-FFF2-40B4-BE49-F238E27FC236}">
                  <a16:creationId xmlns:a16="http://schemas.microsoft.com/office/drawing/2014/main" id="{D084AC7A-01DC-4731-AEB4-6CE3C2974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336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85005" name="Oval 65">
              <a:extLst>
                <a:ext uri="{FF2B5EF4-FFF2-40B4-BE49-F238E27FC236}">
                  <a16:creationId xmlns:a16="http://schemas.microsoft.com/office/drawing/2014/main" id="{119E0937-7FE1-4A2C-AB43-2FC75E119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408"/>
              <a:ext cx="33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5006" name="Text Box 66">
              <a:extLst>
                <a:ext uri="{FF2B5EF4-FFF2-40B4-BE49-F238E27FC236}">
                  <a16:creationId xmlns:a16="http://schemas.microsoft.com/office/drawing/2014/main" id="{7B8E7537-9E37-457C-A3C4-7298CF898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3</a:t>
              </a:r>
            </a:p>
          </p:txBody>
        </p:sp>
        <p:sp>
          <p:nvSpPr>
            <p:cNvPr id="85007" name="Text Box 67">
              <a:extLst>
                <a:ext uri="{FF2B5EF4-FFF2-40B4-BE49-F238E27FC236}">
                  <a16:creationId xmlns:a16="http://schemas.microsoft.com/office/drawing/2014/main" id="{42494FC4-90D8-48F1-98EC-337C48B2E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0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/>
                <a:t>＋</a:t>
              </a:r>
            </a:p>
          </p:txBody>
        </p:sp>
        <p:sp>
          <p:nvSpPr>
            <p:cNvPr id="85008" name="Text Box 68">
              <a:extLst>
                <a:ext uri="{FF2B5EF4-FFF2-40B4-BE49-F238E27FC236}">
                  <a16:creationId xmlns:a16="http://schemas.microsoft.com/office/drawing/2014/main" id="{F4D4CF7B-7CE8-41FF-8B28-305AEB17E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375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grpSp>
          <p:nvGrpSpPr>
            <p:cNvPr id="85009" name="Group 69">
              <a:extLst>
                <a:ext uri="{FF2B5EF4-FFF2-40B4-BE49-F238E27FC236}">
                  <a16:creationId xmlns:a16="http://schemas.microsoft.com/office/drawing/2014/main" id="{906AF0A6-1297-4707-9E47-B929F5383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888"/>
              <a:ext cx="336" cy="336"/>
              <a:chOff x="2448" y="2736"/>
              <a:chExt cx="336" cy="336"/>
            </a:xfrm>
          </p:grpSpPr>
          <p:grpSp>
            <p:nvGrpSpPr>
              <p:cNvPr id="85012" name="Group 70">
                <a:extLst>
                  <a:ext uri="{FF2B5EF4-FFF2-40B4-BE49-F238E27FC236}">
                    <a16:creationId xmlns:a16="http://schemas.microsoft.com/office/drawing/2014/main" id="{EE0FBA3A-A84E-472F-A0A7-63D07E9611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2736"/>
                <a:ext cx="336" cy="336"/>
                <a:chOff x="3552" y="2544"/>
                <a:chExt cx="336" cy="336"/>
              </a:xfrm>
            </p:grpSpPr>
            <p:sp>
              <p:nvSpPr>
                <p:cNvPr id="85014" name="Oval 71">
                  <a:extLst>
                    <a:ext uri="{FF2B5EF4-FFF2-40B4-BE49-F238E27FC236}">
                      <a16:creationId xmlns:a16="http://schemas.microsoft.com/office/drawing/2014/main" id="{4DD82DE1-2E0C-459D-9CEB-53306D9E02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336" cy="33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85015" name="Oval 72">
                  <a:extLst>
                    <a:ext uri="{FF2B5EF4-FFF2-40B4-BE49-F238E27FC236}">
                      <a16:creationId xmlns:a16="http://schemas.microsoft.com/office/drawing/2014/main" id="{8D2F7C05-6752-4135-8D2C-C9D0C0C033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240" cy="2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Symbol" panose="05050102010706020507" pitchFamily="18" charset="2"/>
                  </a:endParaRPr>
                </a:p>
              </p:txBody>
            </p:sp>
          </p:grpSp>
          <p:sp>
            <p:nvSpPr>
              <p:cNvPr id="85013" name="Text Box 73">
                <a:extLst>
                  <a:ext uri="{FF2B5EF4-FFF2-40B4-BE49-F238E27FC236}">
                    <a16:creationId xmlns:a16="http://schemas.microsoft.com/office/drawing/2014/main" id="{DE619D78-77FB-4B8D-A075-8BEA8199C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78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6</a:t>
                </a:r>
              </a:p>
            </p:txBody>
          </p:sp>
        </p:grpSp>
        <p:cxnSp>
          <p:nvCxnSpPr>
            <p:cNvPr id="85010" name="AutoShape 74">
              <a:extLst>
                <a:ext uri="{FF2B5EF4-FFF2-40B4-BE49-F238E27FC236}">
                  <a16:creationId xmlns:a16="http://schemas.microsoft.com/office/drawing/2014/main" id="{6FC07C1D-96C4-4F0F-87E2-9AF7638EF7FE}"/>
                </a:ext>
              </a:extLst>
            </p:cNvPr>
            <p:cNvCxnSpPr>
              <a:cxnSpLocks noChangeShapeType="1"/>
              <a:stCxn id="85005" idx="4"/>
              <a:endCxn id="85014" idx="2"/>
            </p:cNvCxnSpPr>
            <p:nvPr/>
          </p:nvCxnSpPr>
          <p:spPr bwMode="auto">
            <a:xfrm rot="16200000" flipH="1">
              <a:off x="4872" y="3704"/>
              <a:ext cx="304" cy="4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11" name="AutoShape 75">
              <a:extLst>
                <a:ext uri="{FF2B5EF4-FFF2-40B4-BE49-F238E27FC236}">
                  <a16:creationId xmlns:a16="http://schemas.microsoft.com/office/drawing/2014/main" id="{6C1677AD-C1E7-4FB9-AE0D-5E3B439EACAF}"/>
                </a:ext>
              </a:extLst>
            </p:cNvPr>
            <p:cNvCxnSpPr>
              <a:cxnSpLocks noChangeShapeType="1"/>
              <a:stCxn id="85005" idx="0"/>
              <a:endCxn id="85001" idx="0"/>
            </p:cNvCxnSpPr>
            <p:nvPr/>
          </p:nvCxnSpPr>
          <p:spPr bwMode="auto">
            <a:xfrm rot="-5400000" flipH="1" flipV="1">
              <a:off x="4487" y="3065"/>
              <a:ext cx="1" cy="672"/>
            </a:xfrm>
            <a:prstGeom prst="curvedConnector3">
              <a:avLst>
                <a:gd name="adj1" fmla="val -172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069CCD3-1713-450C-9BC8-3B14CB21D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4.4.4  </a:t>
            </a:r>
            <a:r>
              <a:rPr lang="zh-CN" altLang="en-US"/>
              <a:t>非递归预测分析方法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153C2C01-14EA-4F77-AA42-80E9278D1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810000"/>
            <a:ext cx="7772400" cy="2057400"/>
          </a:xfrm>
        </p:spPr>
        <p:txBody>
          <a:bodyPr/>
          <a:lstStyle/>
          <a:p>
            <a:pPr eaLnBrk="1" hangingPunct="1"/>
            <a:r>
              <a:rPr lang="zh-CN" altLang="en-US" sz="2800"/>
              <a:t>输入缓冲、栈、预测分析表、输出流</a:t>
            </a:r>
          </a:p>
          <a:p>
            <a:pPr lvl="1" eaLnBrk="1" hangingPunct="1"/>
            <a:r>
              <a:rPr lang="zh-CN" altLang="en-US" sz="2400"/>
              <a:t>栈：语法符号序列，栈底符</a:t>
            </a:r>
            <a:r>
              <a:rPr lang="en-US" altLang="zh-CN" sz="2400"/>
              <a:t>$</a:t>
            </a:r>
          </a:p>
          <a:p>
            <a:pPr lvl="1" eaLnBrk="1" hangingPunct="1"/>
            <a:r>
              <a:rPr lang="zh-CN" altLang="en-US" sz="2400"/>
              <a:t>预测分析表：二维数组</a:t>
            </a:r>
            <a:r>
              <a:rPr lang="en-US" altLang="zh-CN" sz="2400"/>
              <a:t>M[A,a]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为</a:t>
            </a:r>
            <a:r>
              <a:rPr lang="en-US" altLang="zh-CN" sz="2400"/>
              <a:t>NT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为</a:t>
            </a:r>
            <a:r>
              <a:rPr lang="en-US" altLang="zh-CN" sz="2400"/>
              <a:t>T</a:t>
            </a:r>
            <a:r>
              <a:rPr lang="zh-CN" altLang="en-US" sz="2400"/>
              <a:t>或</a:t>
            </a:r>
            <a:r>
              <a:rPr lang="en-US" altLang="zh-CN" sz="2400"/>
              <a:t>$</a:t>
            </a:r>
            <a:r>
              <a:rPr lang="zh-CN" altLang="en-US" sz="2400"/>
              <a:t>，其值为某种动作</a:t>
            </a: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6F75E153-B6F2-4BA2-91D6-B97D830D1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025775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Empty stack symbol</a:t>
            </a:r>
          </a:p>
        </p:txBody>
      </p:sp>
      <p:grpSp>
        <p:nvGrpSpPr>
          <p:cNvPr id="86021" name="Group 6">
            <a:extLst>
              <a:ext uri="{FF2B5EF4-FFF2-40B4-BE49-F238E27FC236}">
                <a16:creationId xmlns:a16="http://schemas.microsoft.com/office/drawing/2014/main" id="{AE21671A-A068-4E5C-A91B-0DDF77CA1E4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371600"/>
            <a:ext cx="1524000" cy="392113"/>
            <a:chOff x="2064" y="1344"/>
            <a:chExt cx="960" cy="287"/>
          </a:xfrm>
        </p:grpSpPr>
        <p:sp>
          <p:nvSpPr>
            <p:cNvPr id="86041" name="Text Box 7">
              <a:extLst>
                <a:ext uri="{FF2B5EF4-FFF2-40B4-BE49-F238E27FC236}">
                  <a16:creationId xmlns:a16="http://schemas.microsoft.com/office/drawing/2014/main" id="{D24E055B-5643-46C5-9703-924944D95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800" b="1"/>
            </a:p>
          </p:txBody>
        </p:sp>
        <p:sp>
          <p:nvSpPr>
            <p:cNvPr id="86042" name="Text Box 8">
              <a:extLst>
                <a:ext uri="{FF2B5EF4-FFF2-40B4-BE49-F238E27FC236}">
                  <a16:creationId xmlns:a16="http://schemas.microsoft.com/office/drawing/2014/main" id="{06CBD78E-1A4D-48E8-813A-F6FDEBFCD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</a:p>
          </p:txBody>
        </p:sp>
        <p:sp>
          <p:nvSpPr>
            <p:cNvPr id="86043" name="Text Box 9">
              <a:extLst>
                <a:ext uri="{FF2B5EF4-FFF2-40B4-BE49-F238E27FC236}">
                  <a16:creationId xmlns:a16="http://schemas.microsoft.com/office/drawing/2014/main" id="{9A503F2E-70DE-4594-9B23-EA4E07CBF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+</a:t>
              </a:r>
            </a:p>
          </p:txBody>
        </p:sp>
        <p:sp>
          <p:nvSpPr>
            <p:cNvPr id="86044" name="Text Box 10">
              <a:extLst>
                <a:ext uri="{FF2B5EF4-FFF2-40B4-BE49-F238E27FC236}">
                  <a16:creationId xmlns:a16="http://schemas.microsoft.com/office/drawing/2014/main" id="{8B7E001E-29C3-4F04-8FF4-C24784D4B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</a:p>
          </p:txBody>
        </p:sp>
        <p:sp>
          <p:nvSpPr>
            <p:cNvPr id="86045" name="Text Box 11">
              <a:extLst>
                <a:ext uri="{FF2B5EF4-FFF2-40B4-BE49-F238E27FC236}">
                  <a16:creationId xmlns:a16="http://schemas.microsoft.com/office/drawing/2014/main" id="{6FFCBE4F-B481-420D-9543-57BDF8C3B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344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$</a:t>
              </a:r>
            </a:p>
          </p:txBody>
        </p:sp>
      </p:grpSp>
      <p:grpSp>
        <p:nvGrpSpPr>
          <p:cNvPr id="86022" name="Group 12">
            <a:extLst>
              <a:ext uri="{FF2B5EF4-FFF2-40B4-BE49-F238E27FC236}">
                <a16:creationId xmlns:a16="http://schemas.microsoft.com/office/drawing/2014/main" id="{61D87F63-6357-4A3F-850E-07DC6F59696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038350"/>
            <a:ext cx="304800" cy="1379538"/>
            <a:chOff x="2880" y="2831"/>
            <a:chExt cx="192" cy="1009"/>
          </a:xfrm>
        </p:grpSpPr>
        <p:sp>
          <p:nvSpPr>
            <p:cNvPr id="86037" name="Text Box 13">
              <a:extLst>
                <a:ext uri="{FF2B5EF4-FFF2-40B4-BE49-F238E27FC236}">
                  <a16:creationId xmlns:a16="http://schemas.microsoft.com/office/drawing/2014/main" id="{FEA4C1C8-055C-4E74-95E6-BF0877456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073"/>
              <a:ext cx="192" cy="28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Y</a:t>
              </a:r>
            </a:p>
          </p:txBody>
        </p:sp>
        <p:sp>
          <p:nvSpPr>
            <p:cNvPr id="86038" name="Text Box 14">
              <a:extLst>
                <a:ext uri="{FF2B5EF4-FFF2-40B4-BE49-F238E27FC236}">
                  <a16:creationId xmlns:a16="http://schemas.microsoft.com/office/drawing/2014/main" id="{50FB87FE-2C14-4554-BB20-F5667DD8D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831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X</a:t>
              </a:r>
            </a:p>
          </p:txBody>
        </p:sp>
        <p:sp>
          <p:nvSpPr>
            <p:cNvPr id="86039" name="Text Box 15">
              <a:extLst>
                <a:ext uri="{FF2B5EF4-FFF2-40B4-BE49-F238E27FC236}">
                  <a16:creationId xmlns:a16="http://schemas.microsoft.com/office/drawing/2014/main" id="{61BEA138-313B-4907-B74E-7E5C7448F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553"/>
              <a:ext cx="192" cy="2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$</a:t>
              </a:r>
            </a:p>
          </p:txBody>
        </p:sp>
        <p:sp>
          <p:nvSpPr>
            <p:cNvPr id="86040" name="Text Box 16">
              <a:extLst>
                <a:ext uri="{FF2B5EF4-FFF2-40B4-BE49-F238E27FC236}">
                  <a16:creationId xmlns:a16="http://schemas.microsoft.com/office/drawing/2014/main" id="{FE66E068-5A08-4782-9DDA-242BC4A55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312"/>
              <a:ext cx="192" cy="28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Z</a:t>
              </a:r>
            </a:p>
          </p:txBody>
        </p:sp>
      </p:grpSp>
      <p:sp>
        <p:nvSpPr>
          <p:cNvPr id="86023" name="Text Box 17">
            <a:extLst>
              <a:ext uri="{FF2B5EF4-FFF2-40B4-BE49-F238E27FC236}">
                <a16:creationId xmlns:a16="http://schemas.microsoft.com/office/drawing/2014/main" id="{73C812BA-A343-4E38-A434-4154C045C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371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Input</a:t>
            </a:r>
          </a:p>
        </p:txBody>
      </p:sp>
      <p:sp>
        <p:nvSpPr>
          <p:cNvPr id="86024" name="Text Box 18">
            <a:extLst>
              <a:ext uri="{FF2B5EF4-FFF2-40B4-BE49-F238E27FC236}">
                <a16:creationId xmlns:a16="http://schemas.microsoft.com/office/drawing/2014/main" id="{1571B22B-65C6-4D63-AFA1-16E95CD10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971675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Predictive Parsing Program</a:t>
            </a:r>
          </a:p>
        </p:txBody>
      </p:sp>
      <p:sp>
        <p:nvSpPr>
          <p:cNvPr id="86025" name="Text Box 19">
            <a:extLst>
              <a:ext uri="{FF2B5EF4-FFF2-40B4-BE49-F238E27FC236}">
                <a16:creationId xmlns:a16="http://schemas.microsoft.com/office/drawing/2014/main" id="{5A3970EF-2D0F-4028-964E-459E8EC36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03835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Stack</a:t>
            </a:r>
          </a:p>
        </p:txBody>
      </p:sp>
      <p:sp>
        <p:nvSpPr>
          <p:cNvPr id="86026" name="Text Box 20">
            <a:extLst>
              <a:ext uri="{FF2B5EF4-FFF2-40B4-BE49-F238E27FC236}">
                <a16:creationId xmlns:a16="http://schemas.microsoft.com/office/drawing/2014/main" id="{F554F3A7-24A2-4B87-866A-898C2ABF0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03835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Output</a:t>
            </a:r>
          </a:p>
        </p:txBody>
      </p:sp>
      <p:sp>
        <p:nvSpPr>
          <p:cNvPr id="86027" name="Text Box 21">
            <a:extLst>
              <a:ext uri="{FF2B5EF4-FFF2-40B4-BE49-F238E27FC236}">
                <a16:creationId xmlns:a16="http://schemas.microsoft.com/office/drawing/2014/main" id="{F5FF42CD-DC8F-42CC-BD32-30F23E349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8956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Parsing Table M[A,a]</a:t>
            </a:r>
          </a:p>
        </p:txBody>
      </p:sp>
      <p:sp>
        <p:nvSpPr>
          <p:cNvPr id="86028" name="Line 22">
            <a:extLst>
              <a:ext uri="{FF2B5EF4-FFF2-40B4-BE49-F238E27FC236}">
                <a16:creationId xmlns:a16="http://schemas.microsoft.com/office/drawing/2014/main" id="{2180AAA3-F6BF-4914-BD2C-2ED734354F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1700213"/>
            <a:ext cx="1588" cy="280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Line 23">
            <a:extLst>
              <a:ext uri="{FF2B5EF4-FFF2-40B4-BE49-F238E27FC236}">
                <a16:creationId xmlns:a16="http://schemas.microsoft.com/office/drawing/2014/main" id="{43908958-FEFB-40EC-905F-106AB92982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170113"/>
            <a:ext cx="7620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24">
            <a:extLst>
              <a:ext uri="{FF2B5EF4-FFF2-40B4-BE49-F238E27FC236}">
                <a16:creationId xmlns:a16="http://schemas.microsoft.com/office/drawing/2014/main" id="{9564320D-4CDD-441D-ABA2-0C2AEB7FC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622550"/>
            <a:ext cx="0" cy="273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Line 25">
            <a:extLst>
              <a:ext uri="{FF2B5EF4-FFF2-40B4-BE49-F238E27FC236}">
                <a16:creationId xmlns:a16="http://schemas.microsoft.com/office/drawing/2014/main" id="{9595A0B9-6013-47A7-8688-6ADC5F1DC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2367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2" name="Text Box 26">
            <a:extLst>
              <a:ext uri="{FF2B5EF4-FFF2-40B4-BE49-F238E27FC236}">
                <a16:creationId xmlns:a16="http://schemas.microsoft.com/office/drawing/2014/main" id="{9CC12C65-BBE6-41BE-BF7C-BD8E4876A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371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(String + terminator)</a:t>
            </a:r>
          </a:p>
        </p:txBody>
      </p:sp>
      <p:sp>
        <p:nvSpPr>
          <p:cNvPr id="86033" name="Text Box 27">
            <a:extLst>
              <a:ext uri="{FF2B5EF4-FFF2-40B4-BE49-F238E27FC236}">
                <a16:creationId xmlns:a16="http://schemas.microsoft.com/office/drawing/2014/main" id="{38CAC529-2ABD-499E-B8DF-8345B6AAA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301875"/>
            <a:ext cx="11430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NT + T symbols of CFG</a:t>
            </a:r>
          </a:p>
        </p:txBody>
      </p:sp>
      <p:sp>
        <p:nvSpPr>
          <p:cNvPr id="86034" name="Line 28">
            <a:extLst>
              <a:ext uri="{FF2B5EF4-FFF2-40B4-BE49-F238E27FC236}">
                <a16:creationId xmlns:a16="http://schemas.microsoft.com/office/drawing/2014/main" id="{50133AE9-FFD1-4806-A284-6AA50EC848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3221038"/>
            <a:ext cx="381000" cy="650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5" name="AutoShape 29">
            <a:extLst>
              <a:ext uri="{FF2B5EF4-FFF2-40B4-BE49-F238E27FC236}">
                <a16:creationId xmlns:a16="http://schemas.microsoft.com/office/drawing/2014/main" id="{C7181032-5E01-4BB2-B5A6-4C595175A969}"/>
              </a:ext>
            </a:extLst>
          </p:cNvPr>
          <p:cNvSpPr>
            <a:spLocks/>
          </p:cNvSpPr>
          <p:nvPr/>
        </p:nvSpPr>
        <p:spPr bwMode="auto">
          <a:xfrm>
            <a:off x="6096000" y="2695575"/>
            <a:ext cx="152400" cy="788988"/>
          </a:xfrm>
          <a:prstGeom prst="rightBrace">
            <a:avLst>
              <a:gd name="adj1" fmla="val 43142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86036" name="Text Box 30">
            <a:extLst>
              <a:ext uri="{FF2B5EF4-FFF2-40B4-BE49-F238E27FC236}">
                <a16:creationId xmlns:a16="http://schemas.microsoft.com/office/drawing/2014/main" id="{05756115-A590-41C8-85D6-EF3D7B12A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695575"/>
            <a:ext cx="2133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What actions parser should take based on stack / input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14C88E89-9B04-4568-A5E0-1DDAC7838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预测分析器运行方法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BB213EAF-6801-4415-A8D4-4EF976090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考虑栈顶符号</a:t>
            </a:r>
            <a:r>
              <a:rPr lang="en-US" altLang="zh-CN" sz="2800"/>
              <a:t>X</a:t>
            </a:r>
            <a:r>
              <a:rPr lang="zh-CN" altLang="en-US" sz="2800"/>
              <a:t>，当前输入符号</a:t>
            </a:r>
            <a:r>
              <a:rPr lang="en-US" altLang="zh-CN" sz="2800"/>
              <a:t>a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X=a=$</a:t>
            </a:r>
            <a:r>
              <a:rPr lang="zh-CN" altLang="en-US" sz="2800"/>
              <a:t>，终止，接受输入串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X=a</a:t>
            </a:r>
            <a:r>
              <a:rPr lang="en-US" altLang="zh-CN" sz="2800">
                <a:ea typeface="Arial Unicode MS" pitchFamily="34" charset="-122"/>
              </a:rPr>
              <a:t>≠</a:t>
            </a:r>
            <a:r>
              <a:rPr lang="en-US" altLang="zh-CN" sz="2800"/>
              <a:t>$</a:t>
            </a:r>
            <a:r>
              <a:rPr lang="zh-CN" altLang="en-US" sz="2800"/>
              <a:t>，</a:t>
            </a:r>
            <a:r>
              <a:rPr lang="en-US" altLang="zh-CN" sz="2800"/>
              <a:t>X</a:t>
            </a:r>
            <a:r>
              <a:rPr lang="zh-CN" altLang="en-US" sz="2800"/>
              <a:t>弹出栈，输入指针前移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X</a:t>
            </a:r>
            <a:r>
              <a:rPr lang="zh-CN" altLang="en-US" sz="2800"/>
              <a:t>为</a:t>
            </a:r>
            <a:r>
              <a:rPr lang="en-US" altLang="zh-CN" sz="2800"/>
              <a:t>NT</a:t>
            </a:r>
            <a:r>
              <a:rPr lang="zh-CN" altLang="en-US" sz="2800"/>
              <a:t>：</a:t>
            </a:r>
          </a:p>
          <a:p>
            <a:pPr marL="990600" lvl="1" indent="-533400" eaLnBrk="1" hangingPunct="1"/>
            <a:r>
              <a:rPr lang="en-US" altLang="zh-CN" sz="2400"/>
              <a:t>M[X, a] = {X</a:t>
            </a:r>
            <a:r>
              <a:rPr kumimoji="0" lang="en-US" altLang="zh-CN" sz="2400">
                <a:sym typeface="Symbol" panose="05050102010706020507" pitchFamily="18" charset="2"/>
              </a:rPr>
              <a:t>UVW}</a:t>
            </a:r>
            <a:r>
              <a:rPr kumimoji="0" lang="zh-CN" altLang="en-US" sz="2400">
                <a:sym typeface="Symbol" panose="05050102010706020507" pitchFamily="18" charset="2"/>
              </a:rPr>
              <a:t>，将栈中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zh-CN" altLang="en-US" sz="2400">
                <a:sym typeface="Symbol" panose="05050102010706020507" pitchFamily="18" charset="2"/>
              </a:rPr>
              <a:t>替换为</a:t>
            </a:r>
            <a:r>
              <a:rPr kumimoji="0" lang="en-US" altLang="zh-CN" sz="2400">
                <a:sym typeface="Symbol" panose="05050102010706020507" pitchFamily="18" charset="2"/>
              </a:rPr>
              <a:t>UVW</a:t>
            </a:r>
            <a:r>
              <a:rPr kumimoji="0" lang="zh-CN" altLang="en-US" sz="2400">
                <a:sym typeface="Symbol" panose="05050102010706020507" pitchFamily="18" charset="2"/>
              </a:rPr>
              <a:t>（</a:t>
            </a:r>
            <a:r>
              <a:rPr kumimoji="0" lang="en-US" altLang="zh-CN" sz="2400">
                <a:sym typeface="Symbol" panose="05050102010706020507" pitchFamily="18" charset="2"/>
              </a:rPr>
              <a:t>U</a:t>
            </a:r>
            <a:r>
              <a:rPr kumimoji="0" lang="zh-CN" altLang="en-US" sz="2400">
                <a:sym typeface="Symbol" panose="05050102010706020507" pitchFamily="18" charset="2"/>
              </a:rPr>
              <a:t>在栈顶），输出可以是打印出产生式，表示推导</a:t>
            </a:r>
          </a:p>
          <a:p>
            <a:pPr marL="990600" lvl="1" indent="-533400" eaLnBrk="1" hangingPunct="1"/>
            <a:r>
              <a:rPr kumimoji="0" lang="en-US" altLang="zh-CN" sz="2400">
                <a:sym typeface="Symbol" panose="05050102010706020507" pitchFamily="18" charset="2"/>
              </a:rPr>
              <a:t>M[X, a]=</a:t>
            </a:r>
            <a:r>
              <a:rPr kumimoji="0" lang="en-US" altLang="zh-CN" sz="2400" b="1">
                <a:sym typeface="Symbol" panose="05050102010706020507" pitchFamily="18" charset="2"/>
              </a:rPr>
              <a:t>error</a:t>
            </a:r>
            <a:r>
              <a:rPr kumimoji="0" lang="zh-CN" altLang="en-US" sz="2400">
                <a:sym typeface="Symbol" panose="05050102010706020507" pitchFamily="18" charset="2"/>
              </a:rPr>
              <a:t>，调用错误恢复函数</a:t>
            </a:r>
            <a:endParaRPr kumimoji="0" lang="zh-CN" altLang="en-US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1D546E22-9C0F-48F4-ADB6-39F4D8EAD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4.3  </a:t>
            </a:r>
            <a:r>
              <a:rPr lang="zh-CN" altLang="en-US"/>
              <a:t>非递归预测分析方法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09429E2D-BB60-4997-AB5E-3253CF3EC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输入：符号串</a:t>
            </a:r>
            <a:r>
              <a:rPr lang="en-US" altLang="zh-CN" sz="2400"/>
              <a:t>w</a:t>
            </a:r>
            <a:r>
              <a:rPr lang="zh-CN" altLang="en-US" sz="2400"/>
              <a:t>，文法</a:t>
            </a:r>
            <a:r>
              <a:rPr lang="en-US" altLang="zh-CN" sz="2400"/>
              <a:t>G</a:t>
            </a:r>
            <a:r>
              <a:rPr lang="zh-CN" altLang="en-US" sz="2400"/>
              <a:t>及其预测分析表</a:t>
            </a:r>
            <a:r>
              <a:rPr lang="en-US" altLang="zh-CN" sz="2400"/>
              <a:t>M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输出：若</a:t>
            </a:r>
            <a:r>
              <a:rPr lang="en-US" altLang="zh-CN" sz="2400"/>
              <a:t>w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/>
              <a:t>L(G)</a:t>
            </a:r>
            <a:r>
              <a:rPr lang="zh-CN" altLang="en-US" sz="2400"/>
              <a:t>，</a:t>
            </a:r>
            <a:r>
              <a:rPr lang="en-US" altLang="zh-CN" sz="2400"/>
              <a:t>w</a:t>
            </a:r>
            <a:r>
              <a:rPr lang="zh-CN" altLang="en-US" sz="2400"/>
              <a:t>的一个最左推导；否则，错误提示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zh-CN" altLang="en-US" sz="2400">
                <a:solidFill>
                  <a:schemeClr val="folHlink"/>
                </a:solidFill>
              </a:rPr>
              <a:t>初始：栈中为</a:t>
            </a:r>
            <a:r>
              <a:rPr lang="en-US" altLang="zh-CN" sz="2400">
                <a:solidFill>
                  <a:schemeClr val="folHlink"/>
                </a:solidFill>
              </a:rPr>
              <a:t>$S</a:t>
            </a:r>
            <a:r>
              <a:rPr lang="zh-CN" altLang="en-US" sz="2400">
                <a:solidFill>
                  <a:schemeClr val="folHlink"/>
                </a:solidFill>
              </a:rPr>
              <a:t>（</a:t>
            </a:r>
            <a:r>
              <a:rPr lang="en-US" altLang="zh-CN" sz="2400">
                <a:solidFill>
                  <a:schemeClr val="folHlink"/>
                </a:solidFill>
              </a:rPr>
              <a:t>S</a:t>
            </a:r>
            <a:r>
              <a:rPr lang="zh-CN" altLang="en-US" sz="2400">
                <a:solidFill>
                  <a:schemeClr val="folHlink"/>
                </a:solidFill>
              </a:rPr>
              <a:t>在栈顶），输入缓冲区为</a:t>
            </a:r>
            <a:r>
              <a:rPr lang="en-US" altLang="zh-CN" sz="2400">
                <a:solidFill>
                  <a:schemeClr val="folHlink"/>
                </a:solidFill>
              </a:rPr>
              <a:t>w$</a:t>
            </a:r>
            <a:r>
              <a:rPr lang="zh-CN" altLang="en-US" sz="2400">
                <a:solidFill>
                  <a:schemeClr val="folHlink"/>
                </a:solidFill>
              </a:rPr>
              <a:t>。分析器运行算法：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folHlink"/>
                </a:solidFill>
              </a:rPr>
              <a:t>设置</a:t>
            </a:r>
            <a:r>
              <a:rPr lang="en-US" altLang="zh-CN" sz="2000">
                <a:solidFill>
                  <a:schemeClr val="folHlink"/>
                </a:solidFill>
              </a:rPr>
              <a:t>ip</a:t>
            </a:r>
            <a:r>
              <a:rPr lang="zh-CN" altLang="en-US" sz="2000">
                <a:solidFill>
                  <a:schemeClr val="folHlink"/>
                </a:solidFill>
              </a:rPr>
              <a:t>指向输入缓冲区的第一个符号</a:t>
            </a:r>
            <a:r>
              <a:rPr lang="en-US" altLang="zh-CN" sz="2000">
                <a:solidFill>
                  <a:schemeClr val="folHlink"/>
                </a:solidFill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do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</a:t>
            </a:r>
            <a:r>
              <a:rPr lang="zh-CN" altLang="en-US" sz="2000">
                <a:solidFill>
                  <a:schemeClr val="folHlink"/>
                </a:solidFill>
              </a:rPr>
              <a:t>令</a:t>
            </a:r>
            <a:r>
              <a:rPr lang="en-US" altLang="zh-CN" sz="2000">
                <a:solidFill>
                  <a:schemeClr val="folHlink"/>
                </a:solidFill>
              </a:rPr>
              <a:t>X</a:t>
            </a:r>
            <a:r>
              <a:rPr lang="zh-CN" altLang="en-US" sz="2000">
                <a:solidFill>
                  <a:schemeClr val="folHlink"/>
                </a:solidFill>
              </a:rPr>
              <a:t>为栈顶符号，</a:t>
            </a:r>
            <a:r>
              <a:rPr lang="en-US" altLang="zh-CN" sz="2000">
                <a:solidFill>
                  <a:schemeClr val="folHlink"/>
                </a:solidFill>
              </a:rPr>
              <a:t>a</a:t>
            </a:r>
            <a:r>
              <a:rPr lang="zh-CN" altLang="en-US" sz="2000">
                <a:solidFill>
                  <a:schemeClr val="folHlink"/>
                </a:solidFill>
              </a:rPr>
              <a:t>为</a:t>
            </a:r>
            <a:r>
              <a:rPr lang="en-US" altLang="zh-CN" sz="2000">
                <a:solidFill>
                  <a:schemeClr val="folHlink"/>
                </a:solidFill>
              </a:rPr>
              <a:t>ip</a:t>
            </a:r>
            <a:r>
              <a:rPr lang="zh-CN" altLang="en-US" sz="2000">
                <a:solidFill>
                  <a:schemeClr val="folHlink"/>
                </a:solidFill>
              </a:rPr>
              <a:t>指向符号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folHlink"/>
                </a:solidFill>
              </a:rPr>
              <a:t>	</a:t>
            </a:r>
            <a:r>
              <a:rPr lang="en-US" altLang="zh-CN" sz="2000">
                <a:solidFill>
                  <a:schemeClr val="folHlink"/>
                </a:solidFill>
              </a:rPr>
              <a:t>if (X</a:t>
            </a:r>
            <a:r>
              <a:rPr lang="zh-CN" altLang="en-US" sz="2000">
                <a:solidFill>
                  <a:schemeClr val="folHlink"/>
                </a:solidFill>
              </a:rPr>
              <a:t>为终结符或</a:t>
            </a:r>
            <a:r>
              <a:rPr lang="en-US" altLang="zh-CN" sz="2000">
                <a:solidFill>
                  <a:schemeClr val="folHlink"/>
                </a:solidFill>
              </a:rPr>
              <a:t>$) {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9C431BC-C280-432A-82F6-DBDEB5FF8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4.3</a:t>
            </a:r>
            <a:r>
              <a:rPr lang="zh-CN" altLang="en-US"/>
              <a:t>（续）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EAE80F4-6ACD-439E-9487-157716C46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if (X == a)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	X</a:t>
            </a:r>
            <a:r>
              <a:rPr lang="zh-CN" altLang="en-US" sz="2000">
                <a:solidFill>
                  <a:schemeClr val="folHlink"/>
                </a:solidFill>
              </a:rPr>
              <a:t>弹出栈，</a:t>
            </a:r>
            <a:r>
              <a:rPr lang="en-US" altLang="zh-CN" sz="2000">
                <a:solidFill>
                  <a:schemeClr val="folHlink"/>
                </a:solidFill>
              </a:rPr>
              <a:t>ip</a:t>
            </a:r>
            <a:r>
              <a:rPr lang="zh-CN" altLang="en-US" sz="2000">
                <a:solidFill>
                  <a:schemeClr val="folHlink"/>
                </a:solidFill>
              </a:rPr>
              <a:t>前移</a:t>
            </a:r>
            <a:r>
              <a:rPr lang="en-US" altLang="zh-CN" sz="2000">
                <a:solidFill>
                  <a:schemeClr val="folHlink"/>
                </a:solidFill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	else error();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	} else if (M[X, a] = X 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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…Y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	X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弹出栈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	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将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,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k-1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, …,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压栈，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置于栈顶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	</a:t>
            </a:r>
            <a:r>
              <a:rPr kumimoji="0" lang="zh-CN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输出产生式</a:t>
            </a:r>
            <a:r>
              <a:rPr lang="en-US" altLang="zh-CN" sz="2000">
                <a:solidFill>
                  <a:schemeClr val="folHlink"/>
                </a:solidFill>
              </a:rPr>
              <a:t>X 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 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…Y</a:t>
            </a:r>
            <a:r>
              <a:rPr kumimoji="0" lang="en-US" altLang="zh-CN" sz="2000" baseline="-25000">
                <a:solidFill>
                  <a:schemeClr val="folHlink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	} else error();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} while (X != $);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222C151-0A91-41DB-AE3C-3BB4FD912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4.16</a:t>
            </a:r>
          </a:p>
        </p:txBody>
      </p:sp>
      <p:sp>
        <p:nvSpPr>
          <p:cNvPr id="90115" name="Text Box 5">
            <a:extLst>
              <a:ext uri="{FF2B5EF4-FFF2-40B4-BE49-F238E27FC236}">
                <a16:creationId xmlns:a16="http://schemas.microsoft.com/office/drawing/2014/main" id="{00D9595B-0A88-4920-B3D0-CB98191ED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19200"/>
            <a:ext cx="25908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E  TE’                                                E’  + TE’ | 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16" name="Text Box 6">
            <a:extLst>
              <a:ext uri="{FF2B5EF4-FFF2-40B4-BE49-F238E27FC236}">
                <a16:creationId xmlns:a16="http://schemas.microsoft.com/office/drawing/2014/main" id="{45859BB1-4D06-4E5C-AB92-549371579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28800"/>
            <a:ext cx="28194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FT’                                                T’  * FT’ | 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17" name="Text Box 7">
            <a:extLst>
              <a:ext uri="{FF2B5EF4-FFF2-40B4-BE49-F238E27FC236}">
                <a16:creationId xmlns:a16="http://schemas.microsoft.com/office/drawing/2014/main" id="{5A1F467A-2CAE-46EC-A187-0843CFF0F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36825"/>
            <a:ext cx="201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 ( E )  | id</a:t>
            </a:r>
          </a:p>
        </p:txBody>
      </p:sp>
      <p:sp>
        <p:nvSpPr>
          <p:cNvPr id="90118" name="AutoShape 8">
            <a:extLst>
              <a:ext uri="{FF2B5EF4-FFF2-40B4-BE49-F238E27FC236}">
                <a16:creationId xmlns:a16="http://schemas.microsoft.com/office/drawing/2014/main" id="{898266D0-810A-4D2E-9D34-4EFBEA95CB8C}"/>
              </a:ext>
            </a:extLst>
          </p:cNvPr>
          <p:cNvSpPr>
            <a:spLocks/>
          </p:cNvSpPr>
          <p:nvPr/>
        </p:nvSpPr>
        <p:spPr bwMode="auto">
          <a:xfrm>
            <a:off x="3962400" y="13716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90119" name="Text Box 10">
            <a:extLst>
              <a:ext uri="{FF2B5EF4-FFF2-40B4-BE49-F238E27FC236}">
                <a16:creationId xmlns:a16="http://schemas.microsoft.com/office/drawing/2014/main" id="{A7A3D31D-37BA-42DA-B4B0-60873C369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5908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3333CC"/>
                </a:solidFill>
              </a:rPr>
              <a:t>Table M</a:t>
            </a:r>
          </a:p>
        </p:txBody>
      </p:sp>
      <p:grpSp>
        <p:nvGrpSpPr>
          <p:cNvPr id="90120" name="Group 12">
            <a:extLst>
              <a:ext uri="{FF2B5EF4-FFF2-40B4-BE49-F238E27FC236}">
                <a16:creationId xmlns:a16="http://schemas.microsoft.com/office/drawing/2014/main" id="{83ABF2CE-0C0B-4BBC-8CA2-8CF184398A8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200400"/>
            <a:ext cx="7848600" cy="2667000"/>
            <a:chOff x="720" y="2400"/>
            <a:chExt cx="4944" cy="1680"/>
          </a:xfrm>
        </p:grpSpPr>
        <p:sp>
          <p:nvSpPr>
            <p:cNvPr id="90148" name="Line 13">
              <a:extLst>
                <a:ext uri="{FF2B5EF4-FFF2-40B4-BE49-F238E27FC236}">
                  <a16:creationId xmlns:a16="http://schemas.microsoft.com/office/drawing/2014/main" id="{1F7DC8FA-986B-402B-9D4B-2A11D3935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9" name="Line 14">
              <a:extLst>
                <a:ext uri="{FF2B5EF4-FFF2-40B4-BE49-F238E27FC236}">
                  <a16:creationId xmlns:a16="http://schemas.microsoft.com/office/drawing/2014/main" id="{E98BEF02-35AB-4E49-B882-8F8C080C1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48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0" name="Line 15">
              <a:extLst>
                <a:ext uri="{FF2B5EF4-FFF2-40B4-BE49-F238E27FC236}">
                  <a16:creationId xmlns:a16="http://schemas.microsoft.com/office/drawing/2014/main" id="{A4747471-676F-47CB-931C-645E2EEF1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688"/>
              <a:ext cx="4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1" name="Line 16">
              <a:extLst>
                <a:ext uri="{FF2B5EF4-FFF2-40B4-BE49-F238E27FC236}">
                  <a16:creationId xmlns:a16="http://schemas.microsoft.com/office/drawing/2014/main" id="{C9BD03CB-7252-4299-80D0-20FCCEFD3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8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2" name="Line 17">
              <a:extLst>
                <a:ext uri="{FF2B5EF4-FFF2-40B4-BE49-F238E27FC236}">
                  <a16:creationId xmlns:a16="http://schemas.microsoft.com/office/drawing/2014/main" id="{F43EBB88-04F8-4E8E-B672-A1ACDF3DB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40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3" name="Line 18">
              <a:extLst>
                <a:ext uri="{FF2B5EF4-FFF2-40B4-BE49-F238E27FC236}">
                  <a16:creationId xmlns:a16="http://schemas.microsoft.com/office/drawing/2014/main" id="{523739C9-9AD5-4FB5-A4C5-3930F5B9B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4" y="2400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4" name="Line 19">
              <a:extLst>
                <a:ext uri="{FF2B5EF4-FFF2-40B4-BE49-F238E27FC236}">
                  <a16:creationId xmlns:a16="http://schemas.microsoft.com/office/drawing/2014/main" id="{84CEFD56-3D94-4DA6-9585-093934E8C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48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5" name="Line 20">
              <a:extLst>
                <a:ext uri="{FF2B5EF4-FFF2-40B4-BE49-F238E27FC236}">
                  <a16:creationId xmlns:a16="http://schemas.microsoft.com/office/drawing/2014/main" id="{852D6302-2A32-4C1B-AA12-85C88D057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6" name="Line 21">
              <a:extLst>
                <a:ext uri="{FF2B5EF4-FFF2-40B4-BE49-F238E27FC236}">
                  <a16:creationId xmlns:a16="http://schemas.microsoft.com/office/drawing/2014/main" id="{F5573FE0-DEE3-43E2-94F6-F94D80E8B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7" name="Line 22">
              <a:extLst>
                <a:ext uri="{FF2B5EF4-FFF2-40B4-BE49-F238E27FC236}">
                  <a16:creationId xmlns:a16="http://schemas.microsoft.com/office/drawing/2014/main" id="{12E61259-61A0-4631-90CF-6BD6F26E9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8" name="Line 23">
              <a:extLst>
                <a:ext uri="{FF2B5EF4-FFF2-40B4-BE49-F238E27FC236}">
                  <a16:creationId xmlns:a16="http://schemas.microsoft.com/office/drawing/2014/main" id="{4E8CE0F7-A570-4774-AA4E-C7A8D8425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9" name="Line 24">
              <a:extLst>
                <a:ext uri="{FF2B5EF4-FFF2-40B4-BE49-F238E27FC236}">
                  <a16:creationId xmlns:a16="http://schemas.microsoft.com/office/drawing/2014/main" id="{A4DE660D-EF90-4D45-B1CB-1C08E93AB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0" name="Line 25">
              <a:extLst>
                <a:ext uri="{FF2B5EF4-FFF2-40B4-BE49-F238E27FC236}">
                  <a16:creationId xmlns:a16="http://schemas.microsoft.com/office/drawing/2014/main" id="{9C64ACBC-2C6E-478F-B8EB-493298790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2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1" name="Line 26">
              <a:extLst>
                <a:ext uri="{FF2B5EF4-FFF2-40B4-BE49-F238E27FC236}">
                  <a16:creationId xmlns:a16="http://schemas.microsoft.com/office/drawing/2014/main" id="{D7FD9C2C-9DF0-4227-8DEE-828E96569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36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2" name="Line 27">
              <a:extLst>
                <a:ext uri="{FF2B5EF4-FFF2-40B4-BE49-F238E27FC236}">
                  <a16:creationId xmlns:a16="http://schemas.microsoft.com/office/drawing/2014/main" id="{779B44AC-CE1E-49DC-8D13-DCBE3B2A4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6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3" name="Line 28">
              <a:extLst>
                <a:ext uri="{FF2B5EF4-FFF2-40B4-BE49-F238E27FC236}">
                  <a16:creationId xmlns:a16="http://schemas.microsoft.com/office/drawing/2014/main" id="{BADFF570-D1AA-464F-BF18-3605D558E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84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0121" name="Text Box 29">
            <a:extLst>
              <a:ext uri="{FF2B5EF4-FFF2-40B4-BE49-F238E27FC236}">
                <a16:creationId xmlns:a16="http://schemas.microsoft.com/office/drawing/2014/main" id="{F44BADF1-53B0-49AC-AD90-3FAAF51DC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290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Non-terminal</a:t>
            </a:r>
          </a:p>
        </p:txBody>
      </p:sp>
      <p:sp>
        <p:nvSpPr>
          <p:cNvPr id="90122" name="Text Box 30">
            <a:extLst>
              <a:ext uri="{FF2B5EF4-FFF2-40B4-BE49-F238E27FC236}">
                <a16:creationId xmlns:a16="http://schemas.microsoft.com/office/drawing/2014/main" id="{373221FA-EA53-450F-834B-0D0CD3323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27660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INPUT SYMBOL</a:t>
            </a:r>
          </a:p>
        </p:txBody>
      </p:sp>
      <p:sp>
        <p:nvSpPr>
          <p:cNvPr id="90123" name="Text Box 31">
            <a:extLst>
              <a:ext uri="{FF2B5EF4-FFF2-40B4-BE49-F238E27FC236}">
                <a16:creationId xmlns:a16="http://schemas.microsoft.com/office/drawing/2014/main" id="{D62F07B9-2DF0-4417-AD11-9F34951E5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</a:p>
        </p:txBody>
      </p:sp>
      <p:sp>
        <p:nvSpPr>
          <p:cNvPr id="90124" name="Text Box 32">
            <a:extLst>
              <a:ext uri="{FF2B5EF4-FFF2-40B4-BE49-F238E27FC236}">
                <a16:creationId xmlns:a16="http://schemas.microsoft.com/office/drawing/2014/main" id="{4003AD71-67B6-4F0F-BE4E-3CF4C8F57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</a:p>
        </p:txBody>
      </p:sp>
      <p:sp>
        <p:nvSpPr>
          <p:cNvPr id="90125" name="Text Box 33">
            <a:extLst>
              <a:ext uri="{FF2B5EF4-FFF2-40B4-BE49-F238E27FC236}">
                <a16:creationId xmlns:a16="http://schemas.microsoft.com/office/drawing/2014/main" id="{BCDF7F49-0173-4E25-8ACC-3634067E9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</a:p>
        </p:txBody>
      </p:sp>
      <p:sp>
        <p:nvSpPr>
          <p:cNvPr id="90126" name="Text Box 34">
            <a:extLst>
              <a:ext uri="{FF2B5EF4-FFF2-40B4-BE49-F238E27FC236}">
                <a16:creationId xmlns:a16="http://schemas.microsoft.com/office/drawing/2014/main" id="{7EEBBEEC-4B6C-47E9-8956-82A3C19C6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</a:p>
        </p:txBody>
      </p:sp>
      <p:sp>
        <p:nvSpPr>
          <p:cNvPr id="90127" name="Text Box 35">
            <a:extLst>
              <a:ext uri="{FF2B5EF4-FFF2-40B4-BE49-F238E27FC236}">
                <a16:creationId xmlns:a16="http://schemas.microsoft.com/office/drawing/2014/main" id="{5CB0321D-9E0D-4795-B978-2636BDEB4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</a:p>
        </p:txBody>
      </p:sp>
      <p:sp>
        <p:nvSpPr>
          <p:cNvPr id="90128" name="Text Box 36">
            <a:extLst>
              <a:ext uri="{FF2B5EF4-FFF2-40B4-BE49-F238E27FC236}">
                <a16:creationId xmlns:a16="http://schemas.microsoft.com/office/drawing/2014/main" id="{17169436-12DE-47D9-AC2B-565956DB1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90129" name="Text Box 37">
            <a:extLst>
              <a:ext uri="{FF2B5EF4-FFF2-40B4-BE49-F238E27FC236}">
                <a16:creationId xmlns:a16="http://schemas.microsoft.com/office/drawing/2014/main" id="{E11D27F8-5163-4F58-BDE4-74E29273F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962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90130" name="Text Box 38">
            <a:extLst>
              <a:ext uri="{FF2B5EF4-FFF2-40B4-BE49-F238E27FC236}">
                <a16:creationId xmlns:a16="http://schemas.microsoft.com/office/drawing/2014/main" id="{422C9472-DE28-4B0A-999B-2ACDE98B6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43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</a:p>
        </p:txBody>
      </p:sp>
      <p:sp>
        <p:nvSpPr>
          <p:cNvPr id="90131" name="Text Box 39">
            <a:extLst>
              <a:ext uri="{FF2B5EF4-FFF2-40B4-BE49-F238E27FC236}">
                <a16:creationId xmlns:a16="http://schemas.microsoft.com/office/drawing/2014/main" id="{126B73B0-AF15-4181-A436-117C67A63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724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</a:p>
        </p:txBody>
      </p:sp>
      <p:sp>
        <p:nvSpPr>
          <p:cNvPr id="90132" name="Text Box 40">
            <a:extLst>
              <a:ext uri="{FF2B5EF4-FFF2-40B4-BE49-F238E27FC236}">
                <a16:creationId xmlns:a16="http://schemas.microsoft.com/office/drawing/2014/main" id="{DC3C0D34-51D4-49B8-8A94-7457C2CF9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105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</a:p>
        </p:txBody>
      </p:sp>
      <p:sp>
        <p:nvSpPr>
          <p:cNvPr id="90133" name="Text Box 41">
            <a:extLst>
              <a:ext uri="{FF2B5EF4-FFF2-40B4-BE49-F238E27FC236}">
                <a16:creationId xmlns:a16="http://schemas.microsoft.com/office/drawing/2014/main" id="{4842E8E6-0B99-447F-A5C9-A98665B26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486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</a:p>
        </p:txBody>
      </p:sp>
      <p:sp>
        <p:nvSpPr>
          <p:cNvPr id="90134" name="Text Box 42">
            <a:extLst>
              <a:ext uri="{FF2B5EF4-FFF2-40B4-BE49-F238E27FC236}">
                <a16:creationId xmlns:a16="http://schemas.microsoft.com/office/drawing/2014/main" id="{43A30E73-00C9-4D4C-9390-240B3FB5C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962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TE’</a:t>
            </a:r>
            <a:endParaRPr kumimoji="0" lang="en-US" altLang="zh-CN" sz="2000" b="1"/>
          </a:p>
        </p:txBody>
      </p:sp>
      <p:sp>
        <p:nvSpPr>
          <p:cNvPr id="90135" name="Text Box 43">
            <a:extLst>
              <a:ext uri="{FF2B5EF4-FFF2-40B4-BE49-F238E27FC236}">
                <a16:creationId xmlns:a16="http://schemas.microsoft.com/office/drawing/2014/main" id="{50AB007E-1761-4E00-8499-0318B0DE1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r>
              <a:rPr kumimoji="0" lang="en-US" altLang="zh-CN" sz="2000" b="1">
                <a:sym typeface="Symbol" panose="05050102010706020507" pitchFamily="18" charset="2"/>
              </a:rPr>
              <a:t>FT’</a:t>
            </a:r>
            <a:endParaRPr kumimoji="0" lang="en-US" altLang="zh-CN" sz="2000" b="1"/>
          </a:p>
        </p:txBody>
      </p:sp>
      <p:sp>
        <p:nvSpPr>
          <p:cNvPr id="90136" name="Text Box 44">
            <a:extLst>
              <a:ext uri="{FF2B5EF4-FFF2-40B4-BE49-F238E27FC236}">
                <a16:creationId xmlns:a16="http://schemas.microsoft.com/office/drawing/2014/main" id="{1ECB1AF9-BA2D-4393-8D91-5991542F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486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r>
              <a:rPr kumimoji="0" lang="en-US" altLang="zh-CN" sz="2000" b="1">
                <a:sym typeface="Symbol" panose="05050102010706020507" pitchFamily="18" charset="2"/>
              </a:rPr>
              <a:t>id</a:t>
            </a:r>
            <a:endParaRPr kumimoji="0" lang="en-US" altLang="zh-CN" sz="2000" b="1"/>
          </a:p>
        </p:txBody>
      </p:sp>
      <p:sp>
        <p:nvSpPr>
          <p:cNvPr id="90137" name="Text Box 45">
            <a:extLst>
              <a:ext uri="{FF2B5EF4-FFF2-40B4-BE49-F238E27FC236}">
                <a16:creationId xmlns:a16="http://schemas.microsoft.com/office/drawing/2014/main" id="{E822E462-8CAD-4A3D-9B84-B0340672B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3434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r>
              <a:rPr kumimoji="0" lang="en-US" altLang="zh-CN" sz="2000" b="1">
                <a:sym typeface="Symbol" panose="05050102010706020507" pitchFamily="18" charset="2"/>
              </a:rPr>
              <a:t>+TE’</a:t>
            </a:r>
            <a:endParaRPr kumimoji="0" lang="en-US" altLang="zh-CN" sz="2000" b="1"/>
          </a:p>
        </p:txBody>
      </p:sp>
      <p:sp>
        <p:nvSpPr>
          <p:cNvPr id="90138" name="Text Box 46">
            <a:extLst>
              <a:ext uri="{FF2B5EF4-FFF2-40B4-BE49-F238E27FC236}">
                <a16:creationId xmlns:a16="http://schemas.microsoft.com/office/drawing/2014/main" id="{A7F1B3F8-1BA0-4F8D-A9B9-214A0AC6A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105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39" name="Text Box 47">
            <a:extLst>
              <a:ext uri="{FF2B5EF4-FFF2-40B4-BE49-F238E27FC236}">
                <a16:creationId xmlns:a16="http://schemas.microsoft.com/office/drawing/2014/main" id="{B15F06C2-0685-4EB6-B1CF-ED3F2CDFC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1054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*FT’</a:t>
            </a:r>
            <a:endParaRPr kumimoji="0" lang="en-US" altLang="zh-CN" sz="2000" b="1"/>
          </a:p>
        </p:txBody>
      </p:sp>
      <p:sp>
        <p:nvSpPr>
          <p:cNvPr id="90140" name="Text Box 48">
            <a:extLst>
              <a:ext uri="{FF2B5EF4-FFF2-40B4-BE49-F238E27FC236}">
                <a16:creationId xmlns:a16="http://schemas.microsoft.com/office/drawing/2014/main" id="{6000D5C1-5554-4082-961B-4E719393F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486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r>
              <a:rPr kumimoji="0" lang="en-US" altLang="zh-CN" sz="2000" b="1">
                <a:sym typeface="Symbol" panose="05050102010706020507" pitchFamily="18" charset="2"/>
              </a:rPr>
              <a:t>(E)</a:t>
            </a:r>
            <a:endParaRPr kumimoji="0" lang="en-US" altLang="zh-CN" sz="2000" b="1"/>
          </a:p>
        </p:txBody>
      </p:sp>
      <p:sp>
        <p:nvSpPr>
          <p:cNvPr id="90141" name="Text Box 49">
            <a:extLst>
              <a:ext uri="{FF2B5EF4-FFF2-40B4-BE49-F238E27FC236}">
                <a16:creationId xmlns:a16="http://schemas.microsoft.com/office/drawing/2014/main" id="{57AEE292-E29B-492C-80DA-795268900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724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r>
              <a:rPr kumimoji="0" lang="en-US" altLang="zh-CN" sz="2000" b="1">
                <a:sym typeface="Symbol" panose="05050102010706020507" pitchFamily="18" charset="2"/>
              </a:rPr>
              <a:t>FT’</a:t>
            </a:r>
            <a:endParaRPr kumimoji="0" lang="en-US" altLang="zh-CN" sz="2000" b="1"/>
          </a:p>
        </p:txBody>
      </p:sp>
      <p:sp>
        <p:nvSpPr>
          <p:cNvPr id="90142" name="Text Box 50">
            <a:extLst>
              <a:ext uri="{FF2B5EF4-FFF2-40B4-BE49-F238E27FC236}">
                <a16:creationId xmlns:a16="http://schemas.microsoft.com/office/drawing/2014/main" id="{24785EC4-F898-43BE-BBF6-21AAB7A2D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962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TE’</a:t>
            </a:r>
            <a:endParaRPr kumimoji="0" lang="en-US" altLang="zh-CN" sz="2000" b="1"/>
          </a:p>
        </p:txBody>
      </p:sp>
      <p:sp>
        <p:nvSpPr>
          <p:cNvPr id="90143" name="Text Box 51">
            <a:extLst>
              <a:ext uri="{FF2B5EF4-FFF2-40B4-BE49-F238E27FC236}">
                <a16:creationId xmlns:a16="http://schemas.microsoft.com/office/drawing/2014/main" id="{E2546094-B73D-47FE-9CD8-72A2AC26F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105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44" name="Text Box 52">
            <a:extLst>
              <a:ext uri="{FF2B5EF4-FFF2-40B4-BE49-F238E27FC236}">
                <a16:creationId xmlns:a16="http://schemas.microsoft.com/office/drawing/2014/main" id="{04A602DD-6E2C-4B4C-8F46-4C02A3BF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343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r>
              <a:rPr kumimoji="0" lang="en-US" altLang="zh-CN" sz="2000" b="1"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45" name="Text Box 53">
            <a:extLst>
              <a:ext uri="{FF2B5EF4-FFF2-40B4-BE49-F238E27FC236}">
                <a16:creationId xmlns:a16="http://schemas.microsoft.com/office/drawing/2014/main" id="{8B8AD9F3-543B-44E5-BF8C-E0A4167B8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343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46" name="Text Box 54">
            <a:extLst>
              <a:ext uri="{FF2B5EF4-FFF2-40B4-BE49-F238E27FC236}">
                <a16:creationId xmlns:a16="http://schemas.microsoft.com/office/drawing/2014/main" id="{5E95C867-B5C3-49B9-A6A8-816346D98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105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0147" name="Line 55">
            <a:extLst>
              <a:ext uri="{FF2B5EF4-FFF2-40B4-BE49-F238E27FC236}">
                <a16:creationId xmlns:a16="http://schemas.microsoft.com/office/drawing/2014/main" id="{ECE4C623-5629-4039-AE0E-94D9D5DF7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200400"/>
            <a:ext cx="0" cy="266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B0C86C5-E0B5-419C-9F7E-123255EBE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4.16</a:t>
            </a:r>
            <a:r>
              <a:rPr lang="zh-CN" altLang="en-US"/>
              <a:t>（续）</a:t>
            </a:r>
          </a:p>
        </p:txBody>
      </p:sp>
      <p:sp>
        <p:nvSpPr>
          <p:cNvPr id="91139" name="Text Box 4">
            <a:extLst>
              <a:ext uri="{FF2B5EF4-FFF2-40B4-BE49-F238E27FC236}">
                <a16:creationId xmlns:a16="http://schemas.microsoft.com/office/drawing/2014/main" id="{22D762C3-6FC5-4862-ACD7-3BFE093F3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2766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Expend Input</a:t>
            </a:r>
          </a:p>
        </p:txBody>
      </p:sp>
      <p:sp>
        <p:nvSpPr>
          <p:cNvPr id="91140" name="Line 5">
            <a:extLst>
              <a:ext uri="{FF2B5EF4-FFF2-40B4-BE49-F238E27FC236}">
                <a16:creationId xmlns:a16="http://schemas.microsoft.com/office/drawing/2014/main" id="{0D22D37C-7005-482C-A16D-BC9FF0AC56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733800"/>
            <a:ext cx="12954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1" name="Line 6">
            <a:extLst>
              <a:ext uri="{FF2B5EF4-FFF2-40B4-BE49-F238E27FC236}">
                <a16:creationId xmlns:a16="http://schemas.microsoft.com/office/drawing/2014/main" id="{016DD972-DFE0-46E1-ADFF-9046FBE777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810000"/>
            <a:ext cx="1600200" cy="1676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1142" name="Group 7">
            <a:extLst>
              <a:ext uri="{FF2B5EF4-FFF2-40B4-BE49-F238E27FC236}">
                <a16:creationId xmlns:a16="http://schemas.microsoft.com/office/drawing/2014/main" id="{A3C0F0B9-ADDE-474C-8C1C-A1B866EA2915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447800"/>
            <a:ext cx="5486400" cy="5105400"/>
            <a:chOff x="912" y="768"/>
            <a:chExt cx="3456" cy="3216"/>
          </a:xfrm>
        </p:grpSpPr>
        <p:grpSp>
          <p:nvGrpSpPr>
            <p:cNvPr id="91143" name="Group 8">
              <a:extLst>
                <a:ext uri="{FF2B5EF4-FFF2-40B4-BE49-F238E27FC236}">
                  <a16:creationId xmlns:a16="http://schemas.microsoft.com/office/drawing/2014/main" id="{400738CB-048F-4547-8B26-F39F17173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3264" cy="3216"/>
              <a:chOff x="1632" y="816"/>
              <a:chExt cx="3264" cy="3216"/>
            </a:xfrm>
          </p:grpSpPr>
          <p:sp>
            <p:nvSpPr>
              <p:cNvPr id="91149" name="Line 9">
                <a:extLst>
                  <a:ext uri="{FF2B5EF4-FFF2-40B4-BE49-F238E27FC236}">
                    <a16:creationId xmlns:a16="http://schemas.microsoft.com/office/drawing/2014/main" id="{D9459A9E-BBF5-4870-9269-8B693E41E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816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0" name="Line 10">
                <a:extLst>
                  <a:ext uri="{FF2B5EF4-FFF2-40B4-BE49-F238E27FC236}">
                    <a16:creationId xmlns:a16="http://schemas.microsoft.com/office/drawing/2014/main" id="{CE460C12-E490-463A-B8DD-8E77DD657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864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1" name="Line 11">
                <a:extLst>
                  <a:ext uri="{FF2B5EF4-FFF2-40B4-BE49-F238E27FC236}">
                    <a16:creationId xmlns:a16="http://schemas.microsoft.com/office/drawing/2014/main" id="{1F9B415B-2727-408A-BA03-504176431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056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2" name="Line 12">
                <a:extLst>
                  <a:ext uri="{FF2B5EF4-FFF2-40B4-BE49-F238E27FC236}">
                    <a16:creationId xmlns:a16="http://schemas.microsoft.com/office/drawing/2014/main" id="{75999DFB-7C0F-4DC9-BD45-91F730FDC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4032"/>
                <a:ext cx="3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3" name="Line 13">
                <a:extLst>
                  <a:ext uri="{FF2B5EF4-FFF2-40B4-BE49-F238E27FC236}">
                    <a16:creationId xmlns:a16="http://schemas.microsoft.com/office/drawing/2014/main" id="{44841A0B-9D5A-4E9A-879F-9E5DD6BA1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864"/>
                <a:ext cx="0" cy="31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4" name="Line 14">
                <a:extLst>
                  <a:ext uri="{FF2B5EF4-FFF2-40B4-BE49-F238E27FC236}">
                    <a16:creationId xmlns:a16="http://schemas.microsoft.com/office/drawing/2014/main" id="{54041C0D-B69C-4D50-9205-D30CBFE3D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864"/>
                <a:ext cx="0" cy="31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5" name="Text Box 15">
                <a:extLst>
                  <a:ext uri="{FF2B5EF4-FFF2-40B4-BE49-F238E27FC236}">
                    <a16:creationId xmlns:a16="http://schemas.microsoft.com/office/drawing/2014/main" id="{9F1DE6CD-F96C-437F-B5F2-7692E97E75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104"/>
                <a:ext cx="720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$E’T’id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$E’T’id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$E’T’F*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$E’T’F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$E’T’id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$E’T’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$E’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</a:t>
                </a:r>
              </a:p>
            </p:txBody>
          </p:sp>
          <p:sp>
            <p:nvSpPr>
              <p:cNvPr id="91156" name="Text Box 16">
                <a:extLst>
                  <a:ext uri="{FF2B5EF4-FFF2-40B4-BE49-F238E27FC236}">
                    <a16:creationId xmlns:a16="http://schemas.microsoft.com/office/drawing/2014/main" id="{783BBF27-9C7F-47FA-8F21-5382287409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104"/>
                <a:ext cx="1152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+ 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 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* 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id$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$</a:t>
                </a:r>
              </a:p>
              <a:p>
                <a:pPr algn="r"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>
                    <a:solidFill>
                      <a:srgbClr val="3333CC"/>
                    </a:solidFill>
                  </a:rPr>
                  <a:t>$</a:t>
                </a:r>
              </a:p>
            </p:txBody>
          </p:sp>
          <p:sp>
            <p:nvSpPr>
              <p:cNvPr id="91157" name="Text Box 17">
                <a:extLst>
                  <a:ext uri="{FF2B5EF4-FFF2-40B4-BE49-F238E27FC236}">
                    <a16:creationId xmlns:a16="http://schemas.microsoft.com/office/drawing/2014/main" id="{0CC7945A-6EA1-4E2A-94AF-AC1D8F0C2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1104"/>
                <a:ext cx="960" cy="29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E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TE’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FT’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F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id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600" b="1">
                  <a:latin typeface="Symbol" panose="05050102010706020507" pitchFamily="18" charset="2"/>
                </a:endParaRP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E’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+TE’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FT’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F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id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*FT’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F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/>
                  <a:t>id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T’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  <a:endParaRPr kumimoji="0" lang="en-US" altLang="zh-CN" sz="1600" b="1"/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E’ </a:t>
                </a:r>
                <a:r>
                  <a:rPr kumimoji="0" lang="en-US" altLang="zh-CN" sz="1600" b="1">
                    <a:sym typeface="Symbol" panose="05050102010706020507" pitchFamily="18" charset="2"/>
                  </a:rPr>
                  <a:t> </a:t>
                </a:r>
                <a:r>
                  <a:rPr kumimoji="0" lang="en-US" altLang="zh-CN" sz="1600" b="1">
                    <a:latin typeface="Symbol" panose="05050102010706020507" pitchFamily="18" charset="2"/>
                    <a:sym typeface="Symbol" panose="05050102010706020507" pitchFamily="18" charset="2"/>
                  </a:rPr>
                  <a:t>e</a:t>
                </a:r>
              </a:p>
            </p:txBody>
          </p:sp>
          <p:sp>
            <p:nvSpPr>
              <p:cNvPr id="91158" name="Text Box 18">
                <a:extLst>
                  <a:ext uri="{FF2B5EF4-FFF2-40B4-BE49-F238E27FC236}">
                    <a16:creationId xmlns:a16="http://schemas.microsoft.com/office/drawing/2014/main" id="{1F099EB0-5712-40C0-81C5-865181B383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864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STACK</a:t>
                </a:r>
              </a:p>
            </p:txBody>
          </p:sp>
          <p:sp>
            <p:nvSpPr>
              <p:cNvPr id="91159" name="Text Box 19">
                <a:extLst>
                  <a:ext uri="{FF2B5EF4-FFF2-40B4-BE49-F238E27FC236}">
                    <a16:creationId xmlns:a16="http://schemas.microsoft.com/office/drawing/2014/main" id="{6BD8BC14-D2C4-4B0D-A677-AB9B1166E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864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INPUT</a:t>
                </a:r>
              </a:p>
            </p:txBody>
          </p:sp>
          <p:sp>
            <p:nvSpPr>
              <p:cNvPr id="91160" name="Text Box 20">
                <a:extLst>
                  <a:ext uri="{FF2B5EF4-FFF2-40B4-BE49-F238E27FC236}">
                    <a16:creationId xmlns:a16="http://schemas.microsoft.com/office/drawing/2014/main" id="{D7407013-013C-411F-B079-7CCDDC90B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864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OUTPUT</a:t>
                </a:r>
              </a:p>
            </p:txBody>
          </p:sp>
        </p:grpSp>
        <p:sp>
          <p:nvSpPr>
            <p:cNvPr id="91144" name="Line 21">
              <a:extLst>
                <a:ext uri="{FF2B5EF4-FFF2-40B4-BE49-F238E27FC236}">
                  <a16:creationId xmlns:a16="http://schemas.microsoft.com/office/drawing/2014/main" id="{69F878F8-CC4A-41C8-BAF2-034C3B187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48" y="1728"/>
              <a:ext cx="672" cy="2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5" name="Line 22">
              <a:extLst>
                <a:ext uri="{FF2B5EF4-FFF2-40B4-BE49-F238E27FC236}">
                  <a16:creationId xmlns:a16="http://schemas.microsoft.com/office/drawing/2014/main" id="{8AEACEEB-61EC-49E7-9EA7-2B2B6BC8A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064"/>
              <a:ext cx="720" cy="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6" name="Line 23">
              <a:extLst>
                <a:ext uri="{FF2B5EF4-FFF2-40B4-BE49-F238E27FC236}">
                  <a16:creationId xmlns:a16="http://schemas.microsoft.com/office/drawing/2014/main" id="{C1F0EBDE-3E39-49EF-BA7E-0E0FE4CC1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160"/>
              <a:ext cx="72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7" name="Line 24">
              <a:extLst>
                <a:ext uri="{FF2B5EF4-FFF2-40B4-BE49-F238E27FC236}">
                  <a16:creationId xmlns:a16="http://schemas.microsoft.com/office/drawing/2014/main" id="{954818C9-470B-4952-B7A3-554AC8E25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256"/>
              <a:ext cx="9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8" name="Line 25">
              <a:extLst>
                <a:ext uri="{FF2B5EF4-FFF2-40B4-BE49-F238E27FC236}">
                  <a16:creationId xmlns:a16="http://schemas.microsoft.com/office/drawing/2014/main" id="{E2D914E2-415F-4191-8742-41D156BE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072"/>
              <a:ext cx="9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E3D201B-6A12-45EE-B1C1-CB8D411C6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4.4.5  FIRST</a:t>
            </a:r>
            <a:r>
              <a:rPr lang="zh-CN" altLang="en-US"/>
              <a:t>和</a:t>
            </a:r>
            <a:r>
              <a:rPr lang="en-US" altLang="zh-CN"/>
              <a:t>FOLLOW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80A57997-4E99-4AD6-9673-C7655E37EE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如何构造预测分析表？</a:t>
            </a:r>
          </a:p>
          <a:p>
            <a:pPr lvl="1" eaLnBrk="1" hangingPunct="1"/>
            <a:r>
              <a:rPr lang="zh-CN" altLang="en-US"/>
              <a:t>计算</a:t>
            </a:r>
            <a:r>
              <a:rPr lang="en-US" altLang="zh-CN"/>
              <a:t>FIRST</a:t>
            </a:r>
            <a:r>
              <a:rPr lang="zh-CN" altLang="en-US"/>
              <a:t>和</a:t>
            </a:r>
            <a:r>
              <a:rPr lang="en-US" altLang="zh-CN"/>
              <a:t>FOLLOW</a:t>
            </a:r>
            <a:r>
              <a:rPr lang="zh-CN" altLang="en-US"/>
              <a:t>函数</a:t>
            </a:r>
          </a:p>
          <a:p>
            <a:pPr lvl="1" eaLnBrk="1" hangingPunct="1"/>
            <a:r>
              <a:rPr lang="zh-CN" altLang="en-US"/>
              <a:t>应用构造算法</a:t>
            </a:r>
          </a:p>
          <a:p>
            <a:pPr eaLnBrk="1" hangingPunct="1"/>
            <a:r>
              <a:rPr lang="en-US" altLang="zh-CN"/>
              <a:t>FIRST</a:t>
            </a:r>
            <a:r>
              <a:rPr lang="zh-CN" altLang="en-US"/>
              <a:t>？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FIRST(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：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(T  NT)*</a:t>
            </a:r>
          </a:p>
          <a:p>
            <a:pPr lvl="2" eaLnBrk="1" hangingPunct="1"/>
            <a:r>
              <a:rPr kumimoji="0" lang="zh-CN" altLang="en-US">
                <a:sym typeface="Symbol" panose="05050102010706020507" pitchFamily="18" charset="2"/>
              </a:rPr>
              <a:t>所有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可</a:t>
            </a:r>
            <a:r>
              <a:rPr kumimoji="0" lang="zh-CN" altLang="en-US">
                <a:sym typeface="Symbol" panose="05050102010706020507" pitchFamily="18" charset="2"/>
              </a:rPr>
              <a:t>推导出的符号串的开头终结符的集合</a:t>
            </a:r>
          </a:p>
          <a:p>
            <a:pPr lvl="2" eaLnBrk="1" hangingPunct="1"/>
            <a:r>
              <a:rPr kumimoji="0" lang="zh-CN" altLang="en-US" b="1">
                <a:sym typeface="Symbol" panose="05050102010706020507" pitchFamily="18" charset="2"/>
              </a:rPr>
              <a:t></a:t>
            </a:r>
            <a:r>
              <a:rPr kumimoji="0" lang="en-US" altLang="zh-CN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b="1">
                <a:latin typeface="Symbol" panose="05050102010706020507" pitchFamily="18" charset="2"/>
                <a:sym typeface="Wingdings" panose="05000000000000000000" pitchFamily="2" charset="2"/>
              </a:rPr>
              <a:t>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FIRST(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3DE2C0DC-15A7-4142-805C-72CAA397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479925"/>
            <a:ext cx="22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CF7E4402-B0B7-4B31-9551-6A75D511D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和</a:t>
            </a:r>
            <a:r>
              <a:rPr lang="en-US" altLang="zh-CN"/>
              <a:t>FOLLOW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05FB546-1BF5-4FBA-9161-C6B0D550E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？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FOLLOW(A)</a:t>
            </a:r>
            <a:r>
              <a:rPr kumimoji="0" lang="zh-CN" altLang="en-US">
                <a:sym typeface="Symbol" panose="05050102010706020507" pitchFamily="18" charset="2"/>
              </a:rPr>
              <a:t>：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NT</a:t>
            </a:r>
          </a:p>
          <a:p>
            <a:pPr lvl="2" eaLnBrk="1" hangingPunct="1"/>
            <a:r>
              <a:rPr kumimoji="0" lang="zh-CN" altLang="en-US">
                <a:sym typeface="Symbol" panose="05050102010706020507" pitchFamily="18" charset="2"/>
              </a:rPr>
              <a:t>所有句型中紧接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之后的终结符的集合</a:t>
            </a:r>
          </a:p>
          <a:p>
            <a:pPr lvl="2" eaLnBrk="1" hangingPunct="1"/>
            <a:r>
              <a:rPr kumimoji="0" lang="en-US" altLang="zh-CN" b="1">
                <a:sym typeface="Symbol" panose="05050102010706020507" pitchFamily="18" charset="2"/>
              </a:rPr>
              <a:t>SAa</a:t>
            </a:r>
            <a:r>
              <a:rPr kumimoji="0" lang="en-US" altLang="zh-CN" b="1">
                <a:sym typeface="Wingdings" panose="05000000000000000000" pitchFamily="2" charset="2"/>
              </a:rPr>
              <a:t>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FOLLOW(A)</a:t>
            </a:r>
          </a:p>
          <a:p>
            <a:pPr lvl="2" eaLnBrk="1" hangingPunct="1"/>
            <a:r>
              <a:rPr kumimoji="0" lang="en-US" altLang="zh-CN" b="1">
                <a:sym typeface="Symbol" panose="05050102010706020507" pitchFamily="18" charset="2"/>
              </a:rPr>
              <a:t>SA</a:t>
            </a:r>
            <a:r>
              <a:rPr kumimoji="0" lang="en-US" altLang="zh-CN">
                <a:sym typeface="Wingdings" panose="05000000000000000000" pitchFamily="2" charset="2"/>
              </a:rPr>
              <a:t></a:t>
            </a:r>
            <a:r>
              <a:rPr kumimoji="0" lang="en-US" altLang="zh-CN">
                <a:sym typeface="Symbol" panose="05050102010706020507" pitchFamily="18" charset="2"/>
              </a:rPr>
              <a:t>$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FOLLOW(A)</a:t>
            </a:r>
          </a:p>
        </p:txBody>
      </p:sp>
      <p:sp>
        <p:nvSpPr>
          <p:cNvPr id="93188" name="Text Box 5">
            <a:extLst>
              <a:ext uri="{FF2B5EF4-FFF2-40B4-BE49-F238E27FC236}">
                <a16:creationId xmlns:a16="http://schemas.microsoft.com/office/drawing/2014/main" id="{63C53D7A-9D2D-4C17-9601-56223ABF6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650" y="2895600"/>
            <a:ext cx="22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93189" name="Text Box 6">
            <a:extLst>
              <a:ext uri="{FF2B5EF4-FFF2-40B4-BE49-F238E27FC236}">
                <a16:creationId xmlns:a16="http://schemas.microsoft.com/office/drawing/2014/main" id="{6ABFF8EF-5CFF-4BA1-843E-6D249283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3322638"/>
            <a:ext cx="22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F78EE9CA-D0A6-4538-80C8-51E4EFB9C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计算单个符号的</a:t>
            </a:r>
            <a:r>
              <a:rPr lang="en-US" altLang="zh-CN"/>
              <a:t>FIRST</a:t>
            </a:r>
            <a:r>
              <a:rPr lang="zh-CN" altLang="en-US"/>
              <a:t>函数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74778CB-1FF7-453B-859C-6D8BD2766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若</a:t>
            </a:r>
            <a:r>
              <a:rPr lang="en-US" altLang="zh-CN" sz="2800"/>
              <a:t>X</a:t>
            </a:r>
            <a:r>
              <a:rPr lang="zh-CN" altLang="en-US" sz="2800"/>
              <a:t>是终结符，则</a:t>
            </a:r>
            <a:r>
              <a:rPr lang="en-US" altLang="zh-CN" sz="2800"/>
              <a:t>FIRST(X)={X}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/>
              <a:t>X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，则将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加入</a:t>
            </a:r>
            <a:r>
              <a:rPr kumimoji="0" lang="en-US" altLang="zh-CN" sz="2800">
                <a:sym typeface="Symbol" panose="05050102010706020507" pitchFamily="18" charset="2"/>
              </a:rPr>
              <a:t>FIRST(X)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/>
              <a:t>X</a:t>
            </a:r>
            <a:r>
              <a:rPr kumimoji="0" lang="en-US" altLang="zh-CN" sz="2800">
                <a:sym typeface="Symbol" panose="05050102010706020507" pitchFamily="18" charset="2"/>
              </a:rPr>
              <a:t>Y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Y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…Y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k</a:t>
            </a:r>
            <a:r>
              <a:rPr kumimoji="0" lang="zh-CN" altLang="en-US" sz="2800">
                <a:sym typeface="Symbol" panose="05050102010706020507" pitchFamily="18" charset="2"/>
              </a:rPr>
              <a:t>，则</a:t>
            </a:r>
            <a:br>
              <a:rPr kumimoji="0" lang="zh-CN" altLang="en-US" sz="2800"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			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	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	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3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…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k-1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FIRST(Y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		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FIRST(X) </a:t>
            </a:r>
            <a:b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NOTE: 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一旦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000" baseline="-25000">
                <a:solidFill>
                  <a:srgbClr val="3333CC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，即停止</a:t>
            </a:r>
          </a:p>
          <a:p>
            <a:pPr marL="609600" indent="-609600" eaLnBrk="1" hangingPunct="1"/>
            <a:r>
              <a:rPr kumimoji="0" lang="zh-CN" altLang="en-US" sz="2800">
                <a:sym typeface="Symbol" panose="05050102010706020507" pitchFamily="18" charset="2"/>
              </a:rPr>
              <a:t>重复</a:t>
            </a:r>
            <a:r>
              <a:rPr kumimoji="0" lang="en-US" altLang="zh-CN" sz="2800">
                <a:sym typeface="Symbol" panose="05050102010706020507" pitchFamily="18" charset="2"/>
              </a:rPr>
              <a:t>1</a:t>
            </a:r>
            <a:r>
              <a:rPr kumimoji="0" lang="zh-CN" altLang="en-US" sz="2800">
                <a:sym typeface="Symbol" panose="05050102010706020507" pitchFamily="18" charset="2"/>
              </a:rPr>
              <a:t>－</a:t>
            </a:r>
            <a:r>
              <a:rPr kumimoji="0" lang="en-US" altLang="zh-CN" sz="2800">
                <a:sym typeface="Symbol" panose="05050102010706020507" pitchFamily="18" charset="2"/>
              </a:rPr>
              <a:t>3</a:t>
            </a:r>
            <a:r>
              <a:rPr kumimoji="0" lang="zh-CN" altLang="en-US" sz="2800">
                <a:sym typeface="Symbol" panose="05050102010706020507" pitchFamily="18" charset="2"/>
              </a:rPr>
              <a:t>，直至所有符号的</a:t>
            </a:r>
            <a:r>
              <a:rPr kumimoji="0" lang="en-US" altLang="zh-CN" sz="2800">
                <a:sym typeface="Symbol" panose="05050102010706020507" pitchFamily="18" charset="2"/>
              </a:rPr>
              <a:t>FIRST</a:t>
            </a:r>
            <a:r>
              <a:rPr kumimoji="0" lang="zh-CN" altLang="en-US" sz="2800">
                <a:sym typeface="Symbol" panose="05050102010706020507" pitchFamily="18" charset="2"/>
              </a:rPr>
              <a:t>集都不再变化</a:t>
            </a: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2D9CDED8-CC64-457C-B032-A6CA91C6E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4572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94213" name="Line 5">
            <a:extLst>
              <a:ext uri="{FF2B5EF4-FFF2-40B4-BE49-F238E27FC236}">
                <a16:creationId xmlns:a16="http://schemas.microsoft.com/office/drawing/2014/main" id="{6BCD8750-269E-4EB4-9A39-26FE425B2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4713" y="4724400"/>
            <a:ext cx="290512" cy="338138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4" name="Text Box 6">
            <a:extLst>
              <a:ext uri="{FF2B5EF4-FFF2-40B4-BE49-F238E27FC236}">
                <a16:creationId xmlns:a16="http://schemas.microsoft.com/office/drawing/2014/main" id="{A0DF40BA-7D02-4202-B2F7-89CC2345E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7975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94215" name="Text Box 7">
            <a:extLst>
              <a:ext uri="{FF2B5EF4-FFF2-40B4-BE49-F238E27FC236}">
                <a16:creationId xmlns:a16="http://schemas.microsoft.com/office/drawing/2014/main" id="{0013DE7E-7D31-4DD9-8700-A77504BE0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39725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94216" name="Text Box 8">
            <a:extLst>
              <a:ext uri="{FF2B5EF4-FFF2-40B4-BE49-F238E27FC236}">
                <a16:creationId xmlns:a16="http://schemas.microsoft.com/office/drawing/2014/main" id="{31919F51-8FC7-44C2-AA22-CAC4E611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400843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94217" name="Text Box 9">
            <a:extLst>
              <a:ext uri="{FF2B5EF4-FFF2-40B4-BE49-F238E27FC236}">
                <a16:creationId xmlns:a16="http://schemas.microsoft.com/office/drawing/2014/main" id="{41BE3BE1-E4FE-40B5-8D34-3E49F2F28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1323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6AB8BD25-3BD6-4C2F-B2D1-DC9183628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计算符号串的</a:t>
            </a:r>
            <a:r>
              <a:rPr lang="en-US" altLang="zh-CN"/>
              <a:t>FIRST</a:t>
            </a:r>
            <a:r>
              <a:rPr lang="zh-CN" altLang="en-US"/>
              <a:t>函数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E399904-8B7F-4870-93D6-E5F9F1AEA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lvl="1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FIRST(X</a:t>
            </a:r>
            <a:r>
              <a:rPr kumimoji="0" lang="en-US" altLang="zh-CN" sz="2400" b="1" baseline="-25000"/>
              <a:t>1</a:t>
            </a:r>
            <a:r>
              <a:rPr kumimoji="0" lang="en-US" altLang="zh-CN" sz="2400" b="1"/>
              <a:t> X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 … X</a:t>
            </a:r>
            <a:r>
              <a:rPr kumimoji="0" lang="en-US" altLang="zh-CN" sz="2400" b="1" baseline="-25000"/>
              <a:t>n</a:t>
            </a:r>
            <a:r>
              <a:rPr kumimoji="0" lang="en-US" altLang="zh-CN" sz="2400" b="1"/>
              <a:t> ) = FIRST (X</a:t>
            </a:r>
            <a:r>
              <a:rPr kumimoji="0" lang="en-US" altLang="zh-CN" sz="2400" b="1" baseline="-25000"/>
              <a:t>1</a:t>
            </a:r>
            <a:r>
              <a:rPr kumimoji="0" lang="en-US" altLang="zh-CN" sz="2400" b="1"/>
              <a:t>)  “+”</a:t>
            </a: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                 FIRST(X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)  if 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is in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 b="1">
                <a:sym typeface="Symbol" panose="05050102010706020507" pitchFamily="18" charset="2"/>
              </a:rPr>
              <a:t>)  “+”</a:t>
            </a: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                 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3</a:t>
            </a:r>
            <a:r>
              <a:rPr kumimoji="0" lang="en-US" altLang="zh-CN" sz="2400" b="1">
                <a:sym typeface="Symbol" panose="05050102010706020507" pitchFamily="18" charset="2"/>
              </a:rPr>
              <a:t>)  </a:t>
            </a:r>
            <a:r>
              <a:rPr kumimoji="0" lang="en-US" altLang="zh-CN" sz="2400" b="1"/>
              <a:t>if 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is in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 b="1">
                <a:sym typeface="Symbol" panose="05050102010706020507" pitchFamily="18" charset="2"/>
              </a:rPr>
              <a:t>)  “+”</a:t>
            </a: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                  …</a:t>
            </a:r>
          </a:p>
          <a:p>
            <a:pPr marL="190500" lvl="1" indent="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                 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n</a:t>
            </a:r>
            <a:r>
              <a:rPr kumimoji="0" lang="en-US" altLang="zh-CN" sz="2400" b="1">
                <a:sym typeface="Symbol" panose="05050102010706020507" pitchFamily="18" charset="2"/>
              </a:rPr>
              <a:t>)  </a:t>
            </a:r>
            <a:r>
              <a:rPr kumimoji="0" lang="en-US" altLang="zh-CN" sz="2400" b="1"/>
              <a:t>if 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is in FIRST(X</a:t>
            </a:r>
            <a:r>
              <a:rPr kumimoji="0" lang="en-US" altLang="zh-CN" sz="2400" b="1" baseline="-25000">
                <a:sym typeface="Symbol" panose="05050102010706020507" pitchFamily="18" charset="2"/>
              </a:rPr>
              <a:t>n-1</a:t>
            </a:r>
            <a:r>
              <a:rPr kumimoji="0" lang="en-US" altLang="zh-CN" sz="2400" b="1">
                <a:sym typeface="Symbol" panose="05050102010706020507" pitchFamily="18" charset="2"/>
              </a:rPr>
              <a:t>)</a:t>
            </a:r>
            <a:endParaRPr lang="en-US" altLang="zh-CN" sz="2400"/>
          </a:p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/>
              <a:t>注意：</a:t>
            </a:r>
            <a:r>
              <a:rPr kumimoji="0" lang="zh-CN" altLang="en-US" sz="2800">
                <a:sym typeface="Symbol" panose="05050102010706020507" pitchFamily="18" charset="2"/>
              </a:rPr>
              <a:t>仅当对所有</a:t>
            </a:r>
            <a:r>
              <a:rPr kumimoji="0" lang="en-US" altLang="zh-CN" sz="2800">
                <a:sym typeface="Symbol" panose="05050102010706020507" pitchFamily="18" charset="2"/>
              </a:rPr>
              <a:t>i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800">
                <a:sym typeface="Symbol" panose="05050102010706020507" pitchFamily="18" charset="2"/>
              </a:rPr>
              <a:t>FIRST(X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r>
              <a:rPr kumimoji="0" lang="zh-CN" altLang="en-US" sz="2800">
                <a:sym typeface="Symbol" panose="05050102010706020507" pitchFamily="18" charset="2"/>
              </a:rPr>
              <a:t>，才将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加入</a:t>
            </a:r>
            <a:r>
              <a:rPr kumimoji="0" lang="en-US" altLang="zh-CN" sz="2800">
                <a:sym typeface="Symbol" panose="05050102010706020507" pitchFamily="18" charset="2"/>
              </a:rPr>
              <a:t>FIRST(X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800">
                <a:sym typeface="Symbol" panose="05050102010706020507" pitchFamily="18" charset="2"/>
              </a:rPr>
              <a:t>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 </a:t>
            </a:r>
            <a:r>
              <a:rPr kumimoji="0" lang="en-US" altLang="zh-CN" sz="2800">
                <a:sym typeface="Symbol" panose="05050102010706020507" pitchFamily="18" charset="2"/>
              </a:rPr>
              <a:t>… X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n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C04D1E8F-FDDC-4FC7-ABEA-7B3F89633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4.17</a:t>
            </a:r>
          </a:p>
        </p:txBody>
      </p:sp>
      <p:sp>
        <p:nvSpPr>
          <p:cNvPr id="96259" name="Text Box 4">
            <a:extLst>
              <a:ext uri="{FF2B5EF4-FFF2-40B4-BE49-F238E27FC236}">
                <a16:creationId xmlns:a16="http://schemas.microsoft.com/office/drawing/2014/main" id="{E68629DE-9B01-4A50-B72C-E9E9CEE8B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92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Computing First for:</a:t>
            </a:r>
          </a:p>
        </p:txBody>
      </p:sp>
      <p:grpSp>
        <p:nvGrpSpPr>
          <p:cNvPr id="96260" name="Group 5">
            <a:extLst>
              <a:ext uri="{FF2B5EF4-FFF2-40B4-BE49-F238E27FC236}">
                <a16:creationId xmlns:a16="http://schemas.microsoft.com/office/drawing/2014/main" id="{8B9C83A2-32F7-48D7-B986-ECBFE459CCAF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219200"/>
            <a:ext cx="2057400" cy="1463675"/>
            <a:chOff x="1056" y="864"/>
            <a:chExt cx="1296" cy="922"/>
          </a:xfrm>
        </p:grpSpPr>
        <p:sp>
          <p:nvSpPr>
            <p:cNvPr id="96282" name="Text Box 6">
              <a:extLst>
                <a:ext uri="{FF2B5EF4-FFF2-40B4-BE49-F238E27FC236}">
                  <a16:creationId xmlns:a16="http://schemas.microsoft.com/office/drawing/2014/main" id="{2567B462-6D8E-47CD-B2AD-818BB0AC3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96283" name="Text Box 7">
              <a:extLst>
                <a:ext uri="{FF2B5EF4-FFF2-40B4-BE49-F238E27FC236}">
                  <a16:creationId xmlns:a16="http://schemas.microsoft.com/office/drawing/2014/main" id="{BD8F4CBA-2CA3-4BB4-AF89-2C85630CB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 dirty="0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96284" name="Text Box 8">
              <a:extLst>
                <a:ext uri="{FF2B5EF4-FFF2-40B4-BE49-F238E27FC236}">
                  <a16:creationId xmlns:a16="http://schemas.microsoft.com/office/drawing/2014/main" id="{C900F5B5-FBBE-44C8-9DB6-F3FA41467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36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F   ( E )  | id</a:t>
              </a:r>
            </a:p>
          </p:txBody>
        </p:sp>
      </p:grpSp>
      <p:sp>
        <p:nvSpPr>
          <p:cNvPr id="96261" name="Text Box 9">
            <a:extLst>
              <a:ext uri="{FF2B5EF4-FFF2-40B4-BE49-F238E27FC236}">
                <a16:creationId xmlns:a16="http://schemas.microsoft.com/office/drawing/2014/main" id="{5EF30EA7-1D0D-42F7-8C0E-4D5F89741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124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First(E)</a:t>
            </a:r>
          </a:p>
        </p:txBody>
      </p:sp>
      <p:sp>
        <p:nvSpPr>
          <p:cNvPr id="96262" name="Text Box 10">
            <a:extLst>
              <a:ext uri="{FF2B5EF4-FFF2-40B4-BE49-F238E27FC236}">
                <a16:creationId xmlns:a16="http://schemas.microsoft.com/office/drawing/2014/main" id="{54E6C86A-BEBE-44EE-BF7C-D5228E324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8194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First(TE’)</a:t>
            </a:r>
          </a:p>
        </p:txBody>
      </p:sp>
      <p:sp>
        <p:nvSpPr>
          <p:cNvPr id="96263" name="Text Box 11">
            <a:extLst>
              <a:ext uri="{FF2B5EF4-FFF2-40B4-BE49-F238E27FC236}">
                <a16:creationId xmlns:a16="http://schemas.microsoft.com/office/drawing/2014/main" id="{1A8204BE-3D3C-4D14-83AC-F4B5B11F8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505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First(T)</a:t>
            </a:r>
          </a:p>
        </p:txBody>
      </p:sp>
      <p:sp>
        <p:nvSpPr>
          <p:cNvPr id="96264" name="Text Box 12">
            <a:extLst>
              <a:ext uri="{FF2B5EF4-FFF2-40B4-BE49-F238E27FC236}">
                <a16:creationId xmlns:a16="http://schemas.microsoft.com/office/drawing/2014/main" id="{C9DD82FE-F3D5-4EFB-80C2-A927A9A16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971800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First(T) “+” First(E’)</a:t>
            </a:r>
          </a:p>
        </p:txBody>
      </p:sp>
      <p:sp>
        <p:nvSpPr>
          <p:cNvPr id="96265" name="Text Box 13">
            <a:extLst>
              <a:ext uri="{FF2B5EF4-FFF2-40B4-BE49-F238E27FC236}">
                <a16:creationId xmlns:a16="http://schemas.microsoft.com/office/drawing/2014/main" id="{456ADBD4-F6A5-43AD-9869-D9ABE143D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0386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First(F)</a:t>
            </a:r>
          </a:p>
        </p:txBody>
      </p:sp>
      <p:sp>
        <p:nvSpPr>
          <p:cNvPr id="96266" name="Text Box 14">
            <a:extLst>
              <a:ext uri="{FF2B5EF4-FFF2-40B4-BE49-F238E27FC236}">
                <a16:creationId xmlns:a16="http://schemas.microsoft.com/office/drawing/2014/main" id="{375D83CD-ABDC-4060-A73E-2B738B4C5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244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First((E)) “+” First(id)</a:t>
            </a:r>
          </a:p>
        </p:txBody>
      </p:sp>
      <p:sp>
        <p:nvSpPr>
          <p:cNvPr id="96267" name="Text Box 15">
            <a:extLst>
              <a:ext uri="{FF2B5EF4-FFF2-40B4-BE49-F238E27FC236}">
                <a16:creationId xmlns:a16="http://schemas.microsoft.com/office/drawing/2014/main" id="{C0D4DDE0-4B4A-4DCA-9DC8-9C6E35845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386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First(F) “+” First(T’)</a:t>
            </a:r>
          </a:p>
        </p:txBody>
      </p:sp>
      <p:sp>
        <p:nvSpPr>
          <p:cNvPr id="96268" name="Line 16">
            <a:extLst>
              <a:ext uri="{FF2B5EF4-FFF2-40B4-BE49-F238E27FC236}">
                <a16:creationId xmlns:a16="http://schemas.microsoft.com/office/drawing/2014/main" id="{AD7308EA-FE6D-4637-BC6D-6550381407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971800"/>
            <a:ext cx="3810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9" name="Line 17">
            <a:extLst>
              <a:ext uri="{FF2B5EF4-FFF2-40B4-BE49-F238E27FC236}">
                <a16:creationId xmlns:a16="http://schemas.microsoft.com/office/drawing/2014/main" id="{FB572926-4B88-4AAE-87AF-08EBC3A8A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048000"/>
            <a:ext cx="4572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0" name="Line 18">
            <a:extLst>
              <a:ext uri="{FF2B5EF4-FFF2-40B4-BE49-F238E27FC236}">
                <a16:creationId xmlns:a16="http://schemas.microsoft.com/office/drawing/2014/main" id="{7F123A39-C385-4F69-B03C-BA06547B22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352800"/>
            <a:ext cx="609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1" name="Line 19">
            <a:extLst>
              <a:ext uri="{FF2B5EF4-FFF2-40B4-BE49-F238E27FC236}">
                <a16:creationId xmlns:a16="http://schemas.microsoft.com/office/drawing/2014/main" id="{151D64F2-591C-409D-8522-37C8F56A20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3733800"/>
            <a:ext cx="533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2" name="Line 20">
            <a:extLst>
              <a:ext uri="{FF2B5EF4-FFF2-40B4-BE49-F238E27FC236}">
                <a16:creationId xmlns:a16="http://schemas.microsoft.com/office/drawing/2014/main" id="{68A77040-6F67-4D24-8D9C-59C682108B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1910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3" name="Line 21">
            <a:extLst>
              <a:ext uri="{FF2B5EF4-FFF2-40B4-BE49-F238E27FC236}">
                <a16:creationId xmlns:a16="http://schemas.microsoft.com/office/drawing/2014/main" id="{9D2BE509-ECD7-4067-8AA9-1F740F757A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4343400"/>
            <a:ext cx="1752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4" name="Line 22">
            <a:extLst>
              <a:ext uri="{FF2B5EF4-FFF2-40B4-BE49-F238E27FC236}">
                <a16:creationId xmlns:a16="http://schemas.microsoft.com/office/drawing/2014/main" id="{E740892B-F16A-4F37-A14E-8EA5CA9A28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48768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5" name="Text Box 23">
            <a:extLst>
              <a:ext uri="{FF2B5EF4-FFF2-40B4-BE49-F238E27FC236}">
                <a16:creationId xmlns:a16="http://schemas.microsoft.com/office/drawing/2014/main" id="{5D8F5285-2EFC-4B85-8F8D-D123149EC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724400"/>
            <a:ext cx="160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“(“ and “id”</a:t>
            </a:r>
          </a:p>
        </p:txBody>
      </p:sp>
      <p:sp>
        <p:nvSpPr>
          <p:cNvPr id="96276" name="Text Box 24">
            <a:extLst>
              <a:ext uri="{FF2B5EF4-FFF2-40B4-BE49-F238E27FC236}">
                <a16:creationId xmlns:a16="http://schemas.microsoft.com/office/drawing/2014/main" id="{55783B7A-54E7-4120-B237-505B4B0F4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Not First(E’) since  T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6277" name="Text Box 25">
            <a:extLst>
              <a:ext uri="{FF2B5EF4-FFF2-40B4-BE49-F238E27FC236}">
                <a16:creationId xmlns:a16="http://schemas.microsoft.com/office/drawing/2014/main" id="{DD0977D3-D6A3-49DA-AE28-0F86CE630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1148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Not First(T’) since  F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96278" name="Line 26">
            <a:extLst>
              <a:ext uri="{FF2B5EF4-FFF2-40B4-BE49-F238E27FC236}">
                <a16:creationId xmlns:a16="http://schemas.microsoft.com/office/drawing/2014/main" id="{D2E8B5C8-5DB4-4836-BF77-24D3C93EB2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91000"/>
            <a:ext cx="123825" cy="244475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9" name="Line 27">
            <a:extLst>
              <a:ext uri="{FF2B5EF4-FFF2-40B4-BE49-F238E27FC236}">
                <a16:creationId xmlns:a16="http://schemas.microsoft.com/office/drawing/2014/main" id="{85802BEF-44E4-47DD-8B40-3D9678F6D9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3384550"/>
            <a:ext cx="138113" cy="196850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0" name="Text Box 28">
            <a:extLst>
              <a:ext uri="{FF2B5EF4-FFF2-40B4-BE49-F238E27FC236}">
                <a16:creationId xmlns:a16="http://schemas.microsoft.com/office/drawing/2014/main" id="{B6BDE9A8-6649-4915-B057-CEBC5DFD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323215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*</a:t>
            </a:r>
          </a:p>
        </p:txBody>
      </p:sp>
      <p:sp>
        <p:nvSpPr>
          <p:cNvPr id="96281" name="Text Box 29">
            <a:extLst>
              <a:ext uri="{FF2B5EF4-FFF2-40B4-BE49-F238E27FC236}">
                <a16:creationId xmlns:a16="http://schemas.microsoft.com/office/drawing/2014/main" id="{8108C1E3-41F5-42A5-952E-400BCB577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409892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FECF029-3E51-4158-A769-3AF95A1EC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4.17  </a:t>
            </a:r>
            <a:r>
              <a:rPr lang="zh-CN" altLang="en-US"/>
              <a:t>最终结果</a:t>
            </a:r>
          </a:p>
        </p:txBody>
      </p:sp>
      <p:sp>
        <p:nvSpPr>
          <p:cNvPr id="97283" name="Text Box 29">
            <a:extLst>
              <a:ext uri="{FF2B5EF4-FFF2-40B4-BE49-F238E27FC236}">
                <a16:creationId xmlns:a16="http://schemas.microsoft.com/office/drawing/2014/main" id="{D3CE2935-624D-42A7-BA33-5E2BC9ED4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1876425"/>
            <a:ext cx="69754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Overall:    First(E) = { ( , id }  = First(F)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First(E’) = { + ,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}    First(T’) = { * ,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 First(T) = First(F) = </a:t>
            </a:r>
            <a:r>
              <a:rPr kumimoji="0" lang="en-US" altLang="zh-CN" sz="2400" b="1"/>
              <a:t>{ ( , id } </a:t>
            </a:r>
          </a:p>
        </p:txBody>
      </p:sp>
      <p:sp>
        <p:nvSpPr>
          <p:cNvPr id="97284" name="Rectangle 30">
            <a:extLst>
              <a:ext uri="{FF2B5EF4-FFF2-40B4-BE49-F238E27FC236}">
                <a16:creationId xmlns:a16="http://schemas.microsoft.com/office/drawing/2014/main" id="{CC8604A3-3FF0-40E3-8DE4-6FD6BF1B6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876425"/>
            <a:ext cx="7086600" cy="1524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8A103A3-0AC6-4A86-A34F-6BD283497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98307" name="Text Box 4">
            <a:extLst>
              <a:ext uri="{FF2B5EF4-FFF2-40B4-BE49-F238E27FC236}">
                <a16:creationId xmlns:a16="http://schemas.microsoft.com/office/drawing/2014/main" id="{71D089A7-FE33-4745-967A-012609802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954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Given the production rules:</a:t>
            </a:r>
          </a:p>
        </p:txBody>
      </p:sp>
      <p:sp>
        <p:nvSpPr>
          <p:cNvPr id="98308" name="Text Box 5">
            <a:extLst>
              <a:ext uri="{FF2B5EF4-FFF2-40B4-BE49-F238E27FC236}">
                <a16:creationId xmlns:a16="http://schemas.microsoft.com/office/drawing/2014/main" id="{FF0E8B87-7B5C-46CE-ADC5-FCD95D398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828800"/>
            <a:ext cx="6096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S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  i E t SS’ | 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S’  eS | </a:t>
            </a:r>
            <a:r>
              <a:rPr kumimoji="0" lang="en-US" altLang="zh-CN" sz="24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E   b</a:t>
            </a:r>
          </a:p>
        </p:txBody>
      </p:sp>
      <p:sp>
        <p:nvSpPr>
          <p:cNvPr id="98309" name="Text Box 6">
            <a:extLst>
              <a:ext uri="{FF2B5EF4-FFF2-40B4-BE49-F238E27FC236}">
                <a16:creationId xmlns:a16="http://schemas.microsoft.com/office/drawing/2014/main" id="{42919B16-53AA-4D0F-ADC0-A63817D60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476625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Verify that </a:t>
            </a:r>
          </a:p>
        </p:txBody>
      </p:sp>
      <p:sp>
        <p:nvSpPr>
          <p:cNvPr id="206855" name="Text Box 7">
            <a:extLst>
              <a:ext uri="{FF2B5EF4-FFF2-40B4-BE49-F238E27FC236}">
                <a16:creationId xmlns:a16="http://schemas.microsoft.com/office/drawing/2014/main" id="{AA384566-1BF2-4E77-8725-3CBFF4DC8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962400"/>
            <a:ext cx="4572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First(S) = { i, a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First(S’) = { e,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/>
              <a:t>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First(E) = { b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5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92D4F805-9AC7-4EB2-9F3A-2D37BA7DC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</a:t>
            </a:r>
            <a:r>
              <a:rPr lang="en-US" altLang="zh-CN"/>
              <a:t>FOLLOW(A)——</a:t>
            </a:r>
            <a:r>
              <a:rPr lang="zh-CN" altLang="en-US"/>
              <a:t>非终结符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7A3CD37F-1B8C-4D4F-B357-70BB2864C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$</a:t>
            </a:r>
            <a:r>
              <a:rPr lang="zh-CN" altLang="en-US" sz="2800"/>
              <a:t>加入</a:t>
            </a:r>
            <a:r>
              <a:rPr lang="en-US" altLang="zh-CN" sz="2800"/>
              <a:t>FOLLOW(S)</a:t>
            </a:r>
            <a:r>
              <a:rPr lang="zh-CN" altLang="en-US" sz="2800"/>
              <a:t>，</a:t>
            </a:r>
            <a:r>
              <a:rPr lang="en-US" altLang="zh-CN" sz="2800"/>
              <a:t>S</a:t>
            </a:r>
            <a:r>
              <a:rPr lang="zh-CN" altLang="en-US" sz="2800"/>
              <a:t>为开始符号，</a:t>
            </a:r>
            <a:r>
              <a:rPr lang="en-US" altLang="zh-CN" sz="2800"/>
              <a:t>$</a:t>
            </a:r>
            <a:r>
              <a:rPr lang="zh-CN" altLang="en-US" sz="2800"/>
              <a:t>为输入串结束标记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>
                <a:solidFill>
                  <a:schemeClr val="accent2"/>
                </a:solidFill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B</a:t>
            </a:r>
            <a:r>
              <a:rPr kumimoji="0" lang="zh-CN" altLang="en-US" sz="2800">
                <a:sym typeface="Symbol" panose="05050102010706020507" pitchFamily="18" charset="2"/>
              </a:rPr>
              <a:t>，则</a:t>
            </a:r>
            <a:r>
              <a:rPr kumimoji="0" lang="en-US" altLang="zh-CN" sz="2800">
                <a:sym typeface="Symbol" panose="05050102010706020507" pitchFamily="18" charset="2"/>
              </a:rPr>
              <a:t>FIRST()</a:t>
            </a:r>
            <a:r>
              <a:rPr kumimoji="0" lang="zh-CN" altLang="en-US" sz="2800">
                <a:sym typeface="Symbol" panose="05050102010706020507" pitchFamily="18" charset="2"/>
              </a:rPr>
              <a:t>中符号除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外，均加入</a:t>
            </a:r>
            <a:r>
              <a:rPr kumimoji="0" lang="en-US" altLang="zh-CN" sz="2800">
                <a:sym typeface="Symbol" panose="05050102010706020507" pitchFamily="18" charset="2"/>
              </a:rPr>
              <a:t>FOLLOW(B)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zh-CN" altLang="en-US" sz="280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因为：</a:t>
            </a:r>
            <a:r>
              <a:rPr kumimoji="0" lang="zh-CN" altLang="en-US" sz="2800">
                <a:sym typeface="Symbol" panose="05050102010706020507" pitchFamily="18" charset="2"/>
              </a:rPr>
              <a:t>若有</a:t>
            </a:r>
            <a:r>
              <a:rPr kumimoji="0" lang="zh-CN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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>
                <a:sym typeface="Symbol" panose="05050102010706020507" pitchFamily="18" charset="2"/>
              </a:rPr>
              <a:t>，显然会有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S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B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  <a:endParaRPr kumimoji="0"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/>
              <a:t>若</a:t>
            </a:r>
            <a:r>
              <a:rPr kumimoji="0" lang="en-US" altLang="zh-CN" sz="2800">
                <a:solidFill>
                  <a:schemeClr val="accent2"/>
                </a:solidFill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B</a:t>
            </a:r>
            <a:r>
              <a:rPr kumimoji="0" lang="zh-CN" altLang="en-US" sz="2800">
                <a:sym typeface="Symbol" panose="05050102010706020507" pitchFamily="18" charset="2"/>
              </a:rPr>
              <a:t>或</a:t>
            </a:r>
            <a:r>
              <a:rPr kumimoji="0" lang="en-US" altLang="zh-CN" sz="2800">
                <a:solidFill>
                  <a:schemeClr val="accent2"/>
                </a:solidFill>
              </a:rPr>
              <a:t>A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B</a:t>
            </a:r>
            <a:r>
              <a:rPr kumimoji="0" lang="zh-CN" altLang="en-US" sz="2800">
                <a:sym typeface="Symbol" panose="05050102010706020507" pitchFamily="18" charset="2"/>
              </a:rPr>
              <a:t>且</a:t>
            </a:r>
            <a:r>
              <a:rPr kumimoji="0" lang="zh-CN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</a:t>
            </a:r>
            <a:r>
              <a:rPr kumimoji="0" lang="en-US" altLang="zh-CN" sz="2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>
                <a:sym typeface="Symbol" panose="05050102010706020507" pitchFamily="18" charset="2"/>
              </a:rPr>
              <a:t>，</a:t>
            </a:r>
            <a:r>
              <a:rPr kumimoji="0" lang="en-US" altLang="zh-CN" sz="2800">
                <a:sym typeface="Symbol" panose="05050102010706020507" pitchFamily="18" charset="2"/>
              </a:rPr>
              <a:t>FOLLOW(A)</a:t>
            </a:r>
            <a:r>
              <a:rPr kumimoji="0" lang="zh-CN" altLang="en-US" sz="2800">
                <a:sym typeface="Symbol" panose="05050102010706020507" pitchFamily="18" charset="2"/>
              </a:rPr>
              <a:t>中所有符号加入</a:t>
            </a:r>
            <a:r>
              <a:rPr kumimoji="0" lang="en-US" altLang="zh-CN" sz="2800">
                <a:sym typeface="Symbol" panose="05050102010706020507" pitchFamily="18" charset="2"/>
              </a:rPr>
              <a:t>FOLLOW(B)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zh-CN" altLang="en-US" sz="280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因为：</a:t>
            </a:r>
            <a:r>
              <a:rPr kumimoji="0" lang="zh-CN" altLang="en-US" sz="2800">
                <a:sym typeface="Symbol" panose="05050102010706020507" pitchFamily="18" charset="2"/>
              </a:rPr>
              <a:t>若有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S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zh-CN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，则有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S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B</a:t>
            </a:r>
            <a:r>
              <a:rPr kumimoji="0" lang="en-US" altLang="zh-CN" sz="2800">
                <a:solidFill>
                  <a:srgbClr val="FF3300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olidFill>
                  <a:srgbClr val="8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en-US" altLang="zh-CN" sz="28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99332" name="Text Box 8">
            <a:extLst>
              <a:ext uri="{FF2B5EF4-FFF2-40B4-BE49-F238E27FC236}">
                <a16:creationId xmlns:a16="http://schemas.microsoft.com/office/drawing/2014/main" id="{BBF1634A-4D2A-462B-A914-EA7B4AA74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581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99333" name="Text Box 9">
            <a:extLst>
              <a:ext uri="{FF2B5EF4-FFF2-40B4-BE49-F238E27FC236}">
                <a16:creationId xmlns:a16="http://schemas.microsoft.com/office/drawing/2014/main" id="{C18B33C3-0A24-4AFC-897B-55B22D2D2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124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99334" name="Text Box 10">
            <a:extLst>
              <a:ext uri="{FF2B5EF4-FFF2-40B4-BE49-F238E27FC236}">
                <a16:creationId xmlns:a16="http://schemas.microsoft.com/office/drawing/2014/main" id="{985AE5EE-9C25-40DF-ADB8-4CC8D93E3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124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99335" name="Text Box 11">
            <a:extLst>
              <a:ext uri="{FF2B5EF4-FFF2-40B4-BE49-F238E27FC236}">
                <a16:creationId xmlns:a16="http://schemas.microsoft.com/office/drawing/2014/main" id="{A2889F2A-022C-4407-BAE4-301E5579A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495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99336" name="Text Box 12">
            <a:extLst>
              <a:ext uri="{FF2B5EF4-FFF2-40B4-BE49-F238E27FC236}">
                <a16:creationId xmlns:a16="http://schemas.microsoft.com/office/drawing/2014/main" id="{45536CBD-1BFB-48AF-A965-C88362113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495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0FC3E09-9318-4E35-8749-93B1BD3F5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二次扫描算法计算</a:t>
            </a:r>
            <a:r>
              <a:rPr lang="en-US" altLang="zh-CN"/>
              <a:t>FOLLOW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6938FD85-DE32-4224-A375-B8CFA3EA8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198438" indent="-198438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对所有非终结符</a:t>
            </a:r>
            <a:r>
              <a:rPr lang="en-US" altLang="zh-CN" sz="2800"/>
              <a:t>X</a:t>
            </a:r>
            <a:r>
              <a:rPr lang="zh-CN" altLang="en-US" sz="2800"/>
              <a:t>，</a:t>
            </a:r>
            <a:r>
              <a:rPr lang="en-US" altLang="zh-CN" sz="2800"/>
              <a:t>FOLLOW(X)</a:t>
            </a:r>
            <a:r>
              <a:rPr lang="zh-CN" altLang="en-US" sz="2800"/>
              <a:t>置为空集。</a:t>
            </a:r>
            <a:r>
              <a:rPr lang="en-US" altLang="zh-CN" sz="2800"/>
              <a:t>FOLLOW(S)={$}</a:t>
            </a:r>
            <a:r>
              <a:rPr lang="zh-CN" altLang="en-US" sz="2800"/>
              <a:t>，</a:t>
            </a:r>
            <a:r>
              <a:rPr lang="en-US" altLang="zh-CN" sz="2800"/>
              <a:t>S</a:t>
            </a:r>
            <a:r>
              <a:rPr lang="zh-CN" altLang="en-US" sz="2800"/>
              <a:t>为开始符号</a:t>
            </a:r>
          </a:p>
          <a:p>
            <a:pPr marL="198438" indent="-198438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重复下面步骤，直至所有</a:t>
            </a:r>
            <a:r>
              <a:rPr lang="en-US" altLang="zh-CN" sz="2800"/>
              <a:t>FOLLOW</a:t>
            </a:r>
            <a:r>
              <a:rPr lang="zh-CN" altLang="en-US" sz="2800"/>
              <a:t>集都不再变化</a:t>
            </a:r>
          </a:p>
          <a:p>
            <a:pPr marL="396875" lvl="1" indent="-7938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for </a:t>
            </a:r>
            <a:r>
              <a:rPr lang="zh-CN" altLang="en-US" sz="2400"/>
              <a:t>所有产生式</a:t>
            </a:r>
            <a:r>
              <a:rPr kumimoji="0" lang="en-US" altLang="zh-CN" sz="2400">
                <a:sym typeface="Symbol" panose="05050102010706020507" pitchFamily="18" charset="2"/>
              </a:rPr>
              <a:t>X 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 …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br>
              <a:rPr kumimoji="0" lang="en-US" altLang="zh-CN" sz="2400" baseline="-25000">
                <a:sym typeface="Symbol" panose="05050102010706020507" pitchFamily="18" charset="2"/>
              </a:rPr>
            </a:br>
            <a:r>
              <a:rPr kumimoji="0" lang="en-US" altLang="zh-CN" sz="2400" baseline="-25000">
                <a:sym typeface="Symbol" panose="05050102010706020507" pitchFamily="18" charset="2"/>
              </a:rPr>
              <a:t>     </a:t>
            </a:r>
            <a:r>
              <a:rPr kumimoji="0" lang="en-US" altLang="zh-CN" sz="2400">
                <a:sym typeface="Symbol" panose="05050102010706020507" pitchFamily="18" charset="2"/>
              </a:rPr>
              <a:t>for j = 1 to m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      if 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zh-CN" altLang="en-US" sz="2400">
                <a:sym typeface="Symbol" panose="05050102010706020507" pitchFamily="18" charset="2"/>
              </a:rPr>
              <a:t>为非终结符，则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)=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)(First(X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j+1</a:t>
            </a:r>
            <a:r>
              <a:rPr kumimoji="0" lang="en-US" altLang="zh-CN" sz="2400">
                <a:sym typeface="Symbol" panose="05050102010706020507" pitchFamily="18" charset="2"/>
              </a:rPr>
              <a:t>,…,X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)-{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});</a:t>
            </a:r>
            <a:br>
              <a:rPr kumimoji="0" lang="en-US" altLang="zh-CN" sz="2000" b="1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First(X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j+1</a:t>
            </a:r>
            <a:r>
              <a:rPr kumimoji="0" lang="en-US" altLang="zh-CN" sz="2400">
                <a:sym typeface="Symbol" panose="05050102010706020507" pitchFamily="18" charset="2"/>
              </a:rPr>
              <a:t>,…,X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r>
              <a:rPr kumimoji="0" lang="zh-CN" altLang="en-US" sz="2400">
                <a:sym typeface="Symbol" panose="05050102010706020507" pitchFamily="18" charset="2"/>
              </a:rPr>
              <a:t>或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j+1</a:t>
            </a:r>
            <a:r>
              <a:rPr kumimoji="0" lang="en-US" altLang="zh-CN" sz="2400">
                <a:sym typeface="Symbol" panose="05050102010706020507" pitchFamily="18" charset="2"/>
              </a:rPr>
              <a:t>,…,X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zh-CN" altLang="en-US" sz="2400">
                <a:sym typeface="Symbol" panose="05050102010706020507" pitchFamily="18" charset="2"/>
              </a:rPr>
              <a:t>，则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 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)=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j</a:t>
            </a:r>
            <a:r>
              <a:rPr kumimoji="0" lang="en-US" altLang="zh-CN" sz="2400">
                <a:sym typeface="Symbol" panose="05050102010706020507" pitchFamily="18" charset="2"/>
              </a:rPr>
              <a:t>)</a:t>
            </a:r>
            <a:r>
              <a:rPr kumimoji="0" lang="en-US" altLang="zh-CN" sz="2400"/>
              <a:t>Follow(</a:t>
            </a:r>
            <a:r>
              <a:rPr kumimoji="0" lang="en-US" altLang="zh-CN" sz="2400">
                <a:sym typeface="Symbol" panose="05050102010706020507" pitchFamily="18" charset="2"/>
              </a:rPr>
              <a:t>X);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44F43780-EF58-4B07-8AD4-CCCDAF2AD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4.17</a:t>
            </a:r>
          </a:p>
        </p:txBody>
      </p:sp>
      <p:sp>
        <p:nvSpPr>
          <p:cNvPr id="101379" name="Text Box 4">
            <a:extLst>
              <a:ext uri="{FF2B5EF4-FFF2-40B4-BE49-F238E27FC236}">
                <a16:creationId xmlns:a16="http://schemas.microsoft.com/office/drawing/2014/main" id="{DE41DD0A-743E-4856-896C-9A9D7C36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9200"/>
            <a:ext cx="327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Compute Follow for:</a:t>
            </a:r>
          </a:p>
        </p:txBody>
      </p:sp>
      <p:sp>
        <p:nvSpPr>
          <p:cNvPr id="101380" name="Text Box 6">
            <a:extLst>
              <a:ext uri="{FF2B5EF4-FFF2-40B4-BE49-F238E27FC236}">
                <a16:creationId xmlns:a16="http://schemas.microsoft.com/office/drawing/2014/main" id="{2A9CA87F-4EDF-4DBE-854D-6574B678D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295400"/>
            <a:ext cx="33528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E  TE’ 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E’  + TE’ | 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T  FT’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T’  * FT’ | </a:t>
            </a:r>
            <a:r>
              <a:rPr kumimoji="0" lang="en-US" altLang="zh-CN" sz="24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F   ( E )  | id</a:t>
            </a:r>
          </a:p>
        </p:txBody>
      </p:sp>
      <p:sp>
        <p:nvSpPr>
          <p:cNvPr id="101381" name="Text Box 9">
            <a:extLst>
              <a:ext uri="{FF2B5EF4-FFF2-40B4-BE49-F238E27FC236}">
                <a16:creationId xmlns:a16="http://schemas.microsoft.com/office/drawing/2014/main" id="{B157A2C1-A722-490A-AA31-67557C0CC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0"/>
            <a:ext cx="2468563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	FOLLOW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	</a:t>
            </a:r>
            <a:r>
              <a:rPr kumimoji="0" lang="en-US" altLang="zh-CN" sz="2400" b="1">
                <a:solidFill>
                  <a:srgbClr val="3333CC"/>
                </a:solidFill>
              </a:rPr>
              <a:t>$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	</a:t>
            </a:r>
            <a:r>
              <a:rPr kumimoji="0" lang="en-US" altLang="zh-CN" sz="2400" b="1">
                <a:solidFill>
                  <a:srgbClr val="3333CC"/>
                </a:solidFill>
              </a:rPr>
              <a:t>$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	</a:t>
            </a:r>
            <a:r>
              <a:rPr kumimoji="0" lang="en-US" altLang="zh-CN" sz="2400" b="1">
                <a:solidFill>
                  <a:srgbClr val="3333CC"/>
                </a:solidFill>
              </a:rPr>
              <a:t>+ $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T’	</a:t>
            </a:r>
            <a:r>
              <a:rPr kumimoji="0" lang="en-US" altLang="zh-CN" sz="2400" b="1">
                <a:solidFill>
                  <a:srgbClr val="3333CC"/>
                </a:solidFill>
              </a:rPr>
              <a:t>+ $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F	</a:t>
            </a:r>
            <a:r>
              <a:rPr kumimoji="0" lang="en-US" altLang="zh-CN" sz="2400" b="1">
                <a:solidFill>
                  <a:srgbClr val="3333CC"/>
                </a:solidFill>
              </a:rPr>
              <a:t>+ * $ )</a:t>
            </a:r>
          </a:p>
        </p:txBody>
      </p:sp>
      <p:sp>
        <p:nvSpPr>
          <p:cNvPr id="101382" name="Text Box 10">
            <a:extLst>
              <a:ext uri="{FF2B5EF4-FFF2-40B4-BE49-F238E27FC236}">
                <a16:creationId xmlns:a16="http://schemas.microsoft.com/office/drawing/2014/main" id="{80380C38-213D-46EC-A353-C6C17C596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124200"/>
            <a:ext cx="19970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	FIRST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	</a:t>
            </a:r>
            <a:r>
              <a:rPr kumimoji="0" lang="en-US" altLang="zh-CN" sz="2400" b="1">
                <a:solidFill>
                  <a:srgbClr val="3333CC"/>
                </a:solidFill>
              </a:rPr>
              <a:t>(  id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	</a:t>
            </a:r>
            <a:r>
              <a:rPr kumimoji="0" lang="en-US" altLang="zh-CN" sz="24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 +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	</a:t>
            </a:r>
            <a:r>
              <a:rPr kumimoji="0" lang="en-US" altLang="zh-CN" sz="2400" b="1">
                <a:solidFill>
                  <a:srgbClr val="3333CC"/>
                </a:solidFill>
              </a:rPr>
              <a:t>(  id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T’	 </a:t>
            </a:r>
            <a:r>
              <a:rPr kumimoji="0" lang="en-US" altLang="zh-CN" sz="24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 *</a:t>
            </a:r>
            <a:endParaRPr kumimoji="0" lang="en-US" altLang="zh-CN" sz="2400" b="1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F	</a:t>
            </a:r>
            <a:r>
              <a:rPr kumimoji="0" lang="en-US" altLang="zh-CN" sz="2400" b="1">
                <a:solidFill>
                  <a:srgbClr val="3333CC"/>
                </a:solidFill>
              </a:rPr>
              <a:t>(  id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50CEFC6B-A2B5-4D75-B532-B09ED56F9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102403" name="Text Box 4">
            <a:extLst>
              <a:ext uri="{FF2B5EF4-FFF2-40B4-BE49-F238E27FC236}">
                <a16:creationId xmlns:a16="http://schemas.microsoft.com/office/drawing/2014/main" id="{FB5082EB-3A6B-40B8-8477-C39225D82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295400"/>
            <a:ext cx="2590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</a:rPr>
              <a:t>S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  i E t SS’ | a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S’  eS | </a:t>
            </a:r>
            <a:r>
              <a:rPr kumimoji="0" lang="en-US" altLang="zh-CN" sz="20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E   b</a:t>
            </a:r>
          </a:p>
        </p:txBody>
      </p:sp>
      <p:sp>
        <p:nvSpPr>
          <p:cNvPr id="102404" name="Text Box 5">
            <a:extLst>
              <a:ext uri="{FF2B5EF4-FFF2-40B4-BE49-F238E27FC236}">
                <a16:creationId xmlns:a16="http://schemas.microsoft.com/office/drawing/2014/main" id="{6C14F95E-0370-4651-A4DF-71DEA7A7B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295400"/>
            <a:ext cx="2895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FIRST(S) = { i, a }</a:t>
            </a:r>
            <a:endParaRPr kumimoji="0" lang="en-US" altLang="zh-CN" sz="2000" b="1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FIRST(S’) = { e,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 }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FIRST(E) = { b }</a:t>
            </a:r>
          </a:p>
        </p:txBody>
      </p:sp>
      <p:sp>
        <p:nvSpPr>
          <p:cNvPr id="102405" name="Text Box 6">
            <a:extLst>
              <a:ext uri="{FF2B5EF4-FFF2-40B4-BE49-F238E27FC236}">
                <a16:creationId xmlns:a16="http://schemas.microsoft.com/office/drawing/2014/main" id="{60CAF0F2-4F1D-45C9-B6B8-B70500372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192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Recall:</a:t>
            </a:r>
          </a:p>
        </p:txBody>
      </p:sp>
      <p:sp>
        <p:nvSpPr>
          <p:cNvPr id="102406" name="Text Box 7">
            <a:extLst>
              <a:ext uri="{FF2B5EF4-FFF2-40B4-BE49-F238E27FC236}">
                <a16:creationId xmlns:a16="http://schemas.microsoft.com/office/drawing/2014/main" id="{1CC85D7E-AA82-401E-A825-38F1CC190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667000"/>
            <a:ext cx="7391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FOLLOW(S)</a:t>
            </a:r>
            <a:r>
              <a:rPr kumimoji="0" lang="en-US" altLang="zh-CN" sz="2000" b="1"/>
              <a:t> – </a:t>
            </a:r>
            <a:r>
              <a:rPr kumimoji="0" lang="zh-CN" altLang="en-US" sz="2000" b="1"/>
              <a:t>包含</a:t>
            </a:r>
            <a:r>
              <a:rPr kumimoji="0" lang="en-US" altLang="zh-CN" sz="2000" b="1">
                <a:solidFill>
                  <a:srgbClr val="FF3300"/>
                </a:solidFill>
              </a:rPr>
              <a:t>$</a:t>
            </a:r>
            <a:r>
              <a:rPr kumimoji="0" lang="en-US" altLang="zh-CN" sz="2000" b="1"/>
              <a:t>, S</a:t>
            </a:r>
            <a:r>
              <a:rPr kumimoji="0" lang="zh-CN" altLang="en-US" sz="2000" b="1"/>
              <a:t>是开始符号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       </a:t>
            </a:r>
            <a:r>
              <a:rPr kumimoji="0" lang="en-US" altLang="zh-CN" sz="2000" b="1">
                <a:solidFill>
                  <a:srgbClr val="3333CC"/>
                </a:solidFill>
              </a:rPr>
              <a:t>S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  i E t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SS’</a:t>
            </a:r>
            <a:r>
              <a:rPr kumimoji="0" lang="en-US" altLang="zh-CN" sz="2000" b="1">
                <a:sym typeface="Symbol" panose="05050102010706020507" pitchFamily="18" charset="2"/>
              </a:rPr>
              <a:t> ,  </a:t>
            </a:r>
            <a:r>
              <a:rPr kumimoji="0" lang="zh-CN" altLang="en-US" sz="2000" b="1"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FIRST(S’)</a:t>
            </a:r>
            <a:r>
              <a:rPr kumimoji="0" lang="zh-CN" altLang="en-US" sz="2000" b="1">
                <a:sym typeface="Symbol" panose="05050102010706020507" pitchFamily="18" charset="2"/>
              </a:rPr>
              <a:t>加入 </a:t>
            </a:r>
            <a:r>
              <a:rPr kumimoji="0" lang="en-US" altLang="zh-CN" sz="2000" b="1">
                <a:sym typeface="Symbol" panose="05050102010706020507" pitchFamily="18" charset="2"/>
              </a:rPr>
              <a:t>– </a:t>
            </a:r>
            <a:r>
              <a:rPr kumimoji="0" lang="zh-CN" altLang="en-US" sz="2000" b="1">
                <a:sym typeface="Symbol" panose="05050102010706020507" pitchFamily="18" charset="2"/>
              </a:rPr>
              <a:t>除去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      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S’  </a:t>
            </a:r>
            <a:r>
              <a:rPr kumimoji="0" lang="en-US" altLang="zh-CN" sz="2000" b="1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, </a:t>
            </a:r>
            <a:r>
              <a:rPr kumimoji="0" lang="zh-CN" altLang="en-US" sz="2000" b="1"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FOLLOW(S)</a:t>
            </a:r>
            <a:r>
              <a:rPr kumimoji="0" lang="zh-CN" altLang="en-US" sz="2000" b="1">
                <a:sym typeface="Symbol" panose="05050102010706020507" pitchFamily="18" charset="2"/>
              </a:rPr>
              <a:t>加入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ym typeface="Symbol" panose="05050102010706020507" pitchFamily="18" charset="2"/>
              </a:rPr>
              <a:t>      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S’  eS</a:t>
            </a:r>
            <a:r>
              <a:rPr kumimoji="0" lang="en-US" altLang="zh-CN" sz="2000" b="1">
                <a:sym typeface="Symbol" panose="05050102010706020507" pitchFamily="18" charset="2"/>
              </a:rPr>
              <a:t>, </a:t>
            </a:r>
            <a:r>
              <a:rPr kumimoji="0" lang="zh-CN" altLang="en-US" sz="2000" b="1"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FOLLOW(S’)</a:t>
            </a:r>
            <a:r>
              <a:rPr kumimoji="0" lang="zh-CN" altLang="en-US" sz="2000" b="1">
                <a:sym typeface="Symbol" panose="05050102010706020507" pitchFamily="18" charset="2"/>
              </a:rPr>
              <a:t>加入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ym typeface="Symbol" panose="05050102010706020507" pitchFamily="18" charset="2"/>
              </a:rPr>
              <a:t>       因此，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FOLLOW(S) = { e, $ }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Follow(S’) = Follow(S)</a:t>
            </a:r>
            <a:r>
              <a:rPr kumimoji="0" lang="en-US" altLang="zh-CN" sz="2000" b="1">
                <a:sym typeface="Symbol" panose="05050102010706020507" pitchFamily="18" charset="2"/>
              </a:rPr>
              <a:t>   HOW?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Follow(E) = { t }</a:t>
            </a:r>
          </a:p>
        </p:txBody>
      </p:sp>
      <p:sp>
        <p:nvSpPr>
          <p:cNvPr id="102407" name="Text Box 8">
            <a:extLst>
              <a:ext uri="{FF2B5EF4-FFF2-40B4-BE49-F238E27FC236}">
                <a16:creationId xmlns:a16="http://schemas.microsoft.com/office/drawing/2014/main" id="{BF351281-952D-4EAD-9623-B2E16A2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429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9C794AD-AD63-4CA1-991A-62D44FAEE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</a:p>
        </p:txBody>
      </p:sp>
      <p:sp>
        <p:nvSpPr>
          <p:cNvPr id="103427" name="Text Box 170">
            <a:extLst>
              <a:ext uri="{FF2B5EF4-FFF2-40B4-BE49-F238E27FC236}">
                <a16:creationId xmlns:a16="http://schemas.microsoft.com/office/drawing/2014/main" id="{70D2D517-7670-4096-9192-BE392E021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3428" name="Text Box 171">
            <a:extLst>
              <a:ext uri="{FF2B5EF4-FFF2-40B4-BE49-F238E27FC236}">
                <a16:creationId xmlns:a16="http://schemas.microsoft.com/office/drawing/2014/main" id="{AA04F18D-5A72-43CC-8B8C-9887AD65D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3429" name="Text Box 172">
            <a:extLst>
              <a:ext uri="{FF2B5EF4-FFF2-40B4-BE49-F238E27FC236}">
                <a16:creationId xmlns:a16="http://schemas.microsoft.com/office/drawing/2014/main" id="{05F89EA1-28FF-49D5-A584-AB7AAE267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9088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3430" name="Text Box 173">
            <a:extLst>
              <a:ext uri="{FF2B5EF4-FFF2-40B4-BE49-F238E27FC236}">
                <a16:creationId xmlns:a16="http://schemas.microsoft.com/office/drawing/2014/main" id="{13C86027-DDA8-4C52-8AC0-805299331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100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3431" name="Text Box 174">
            <a:extLst>
              <a:ext uri="{FF2B5EF4-FFF2-40B4-BE49-F238E27FC236}">
                <a16:creationId xmlns:a16="http://schemas.microsoft.com/office/drawing/2014/main" id="{4B7D3BBA-B036-4E59-932B-7C57AE0D4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3434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3432" name="Text Box 175">
            <a:extLst>
              <a:ext uri="{FF2B5EF4-FFF2-40B4-BE49-F238E27FC236}">
                <a16:creationId xmlns:a16="http://schemas.microsoft.com/office/drawing/2014/main" id="{04197AC5-939F-4C03-8788-393E34673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768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3433" name="Text Box 176">
            <a:extLst>
              <a:ext uri="{FF2B5EF4-FFF2-40B4-BE49-F238E27FC236}">
                <a16:creationId xmlns:a16="http://schemas.microsoft.com/office/drawing/2014/main" id="{6C81E790-7A11-4842-911F-F7FE4CE78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8006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3434" name="Text Box 177">
            <a:extLst>
              <a:ext uri="{FF2B5EF4-FFF2-40B4-BE49-F238E27FC236}">
                <a16:creationId xmlns:a16="http://schemas.microsoft.com/office/drawing/2014/main" id="{CD3984A7-4627-451F-8A86-7646099FA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3435" name="Text Box 178">
            <a:extLst>
              <a:ext uri="{FF2B5EF4-FFF2-40B4-BE49-F238E27FC236}">
                <a16:creationId xmlns:a16="http://schemas.microsoft.com/office/drawing/2014/main" id="{66B25626-1F73-4AE5-9988-E41933F1F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63525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3436" name="Text Box 179">
            <a:extLst>
              <a:ext uri="{FF2B5EF4-FFF2-40B4-BE49-F238E27FC236}">
                <a16:creationId xmlns:a16="http://schemas.microsoft.com/office/drawing/2014/main" id="{60B988C7-8ACB-4F26-AD17-9D8859634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4496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3437" name="Freeform 182">
            <a:extLst>
              <a:ext uri="{FF2B5EF4-FFF2-40B4-BE49-F238E27FC236}">
                <a16:creationId xmlns:a16="http://schemas.microsoft.com/office/drawing/2014/main" id="{85CCBA97-7390-4A1F-BCD2-BCF45686BABC}"/>
              </a:ext>
            </a:extLst>
          </p:cNvPr>
          <p:cNvSpPr>
            <a:spLocks/>
          </p:cNvSpPr>
          <p:nvPr/>
        </p:nvSpPr>
        <p:spPr bwMode="auto">
          <a:xfrm>
            <a:off x="763588" y="2755900"/>
            <a:ext cx="2808287" cy="420688"/>
          </a:xfrm>
          <a:custGeom>
            <a:avLst/>
            <a:gdLst>
              <a:gd name="T0" fmla="*/ 0 w 1296"/>
              <a:gd name="T1" fmla="*/ 0 h 264"/>
              <a:gd name="T2" fmla="*/ 2147483646 w 1296"/>
              <a:gd name="T3" fmla="*/ 2147483646 h 264"/>
              <a:gd name="T4" fmla="*/ 2147483646 w 1296"/>
              <a:gd name="T5" fmla="*/ 2147483646 h 264"/>
              <a:gd name="T6" fmla="*/ 2147483646 w 1296"/>
              <a:gd name="T7" fmla="*/ 2147483646 h 264"/>
              <a:gd name="T8" fmla="*/ 2147483646 w 1296"/>
              <a:gd name="T9" fmla="*/ 2147483646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64"/>
              <a:gd name="T17" fmla="*/ 1296 w 1296"/>
              <a:gd name="T18" fmla="*/ 264 h 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64">
                <a:moveTo>
                  <a:pt x="0" y="0"/>
                </a:moveTo>
                <a:cubicBezTo>
                  <a:pt x="52" y="76"/>
                  <a:pt x="104" y="152"/>
                  <a:pt x="240" y="192"/>
                </a:cubicBezTo>
                <a:cubicBezTo>
                  <a:pt x="376" y="232"/>
                  <a:pt x="656" y="232"/>
                  <a:pt x="816" y="240"/>
                </a:cubicBezTo>
                <a:cubicBezTo>
                  <a:pt x="976" y="248"/>
                  <a:pt x="1120" y="264"/>
                  <a:pt x="1200" y="240"/>
                </a:cubicBezTo>
                <a:cubicBezTo>
                  <a:pt x="1280" y="216"/>
                  <a:pt x="1280" y="120"/>
                  <a:pt x="1296" y="9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8" name="Freeform 183">
            <a:extLst>
              <a:ext uri="{FF2B5EF4-FFF2-40B4-BE49-F238E27FC236}">
                <a16:creationId xmlns:a16="http://schemas.microsoft.com/office/drawing/2014/main" id="{E378A257-90CC-468C-AE03-FBE61258463A}"/>
              </a:ext>
            </a:extLst>
          </p:cNvPr>
          <p:cNvSpPr>
            <a:spLocks/>
          </p:cNvSpPr>
          <p:nvPr/>
        </p:nvSpPr>
        <p:spPr bwMode="auto">
          <a:xfrm>
            <a:off x="3733800" y="2819400"/>
            <a:ext cx="1447800" cy="609600"/>
          </a:xfrm>
          <a:custGeom>
            <a:avLst/>
            <a:gdLst>
              <a:gd name="T0" fmla="*/ 0 w 672"/>
              <a:gd name="T1" fmla="*/ 0 h 336"/>
              <a:gd name="T2" fmla="*/ 2147483646 w 672"/>
              <a:gd name="T3" fmla="*/ 2147483646 h 336"/>
              <a:gd name="T4" fmla="*/ 2147483646 w 672"/>
              <a:gd name="T5" fmla="*/ 2147483646 h 336"/>
              <a:gd name="T6" fmla="*/ 2147483646 w 672"/>
              <a:gd name="T7" fmla="*/ 2147483646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336"/>
              <a:gd name="T14" fmla="*/ 672 w 67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336">
                <a:moveTo>
                  <a:pt x="0" y="0"/>
                </a:moveTo>
                <a:cubicBezTo>
                  <a:pt x="24" y="60"/>
                  <a:pt x="48" y="120"/>
                  <a:pt x="144" y="144"/>
                </a:cubicBezTo>
                <a:cubicBezTo>
                  <a:pt x="240" y="168"/>
                  <a:pt x="488" y="112"/>
                  <a:pt x="576" y="144"/>
                </a:cubicBezTo>
                <a:cubicBezTo>
                  <a:pt x="664" y="176"/>
                  <a:pt x="668" y="256"/>
                  <a:pt x="672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9" name="Text Box 184">
            <a:extLst>
              <a:ext uri="{FF2B5EF4-FFF2-40B4-BE49-F238E27FC236}">
                <a16:creationId xmlns:a16="http://schemas.microsoft.com/office/drawing/2014/main" id="{216857F8-EA0E-4C04-B29C-C452D4233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38288"/>
            <a:ext cx="3429000" cy="1030287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First(</a:t>
            </a:r>
            <a:r>
              <a:rPr kumimoji="0" lang="en-US" altLang="zh-CN" sz="2400" b="1" dirty="0"/>
              <a:t>E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) = {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, id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id,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</a:t>
            </a:r>
            <a:r>
              <a:rPr kumimoji="0"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First(T), First(F)</a:t>
            </a:r>
          </a:p>
        </p:txBody>
      </p:sp>
      <p:grpSp>
        <p:nvGrpSpPr>
          <p:cNvPr id="17" name="Group 5">
            <a:extLst>
              <a:ext uri="{FF2B5EF4-FFF2-40B4-BE49-F238E27FC236}">
                <a16:creationId xmlns:a16="http://schemas.microsoft.com/office/drawing/2014/main" id="{47647707-3E5D-49E2-AF99-8EA707F79681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5334000"/>
            <a:ext cx="2057400" cy="1463675"/>
            <a:chOff x="1056" y="864"/>
            <a:chExt cx="1296" cy="922"/>
          </a:xfrm>
        </p:grpSpPr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93380932-BF19-48A1-81BD-7124E7490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E  TE’                                                E’  + TE’ | 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996A3020-C6D8-4A10-B80E-C826849DC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T  FT’                                                T’  * FT’ | </a:t>
              </a:r>
              <a:r>
                <a:rPr kumimoji="0" lang="en-US" altLang="zh-CN" sz="2000" b="1" dirty="0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234B20C1-848C-4E69-9887-10587D0E4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36"/>
              <a:ext cx="10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F   ( E )  | id</a:t>
              </a:r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48FCC948-E356-4EE6-9B6C-81328FC8F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</a:p>
        </p:txBody>
      </p:sp>
      <p:sp>
        <p:nvSpPr>
          <p:cNvPr id="104451" name="Text Box 3">
            <a:extLst>
              <a:ext uri="{FF2B5EF4-FFF2-40B4-BE49-F238E27FC236}">
                <a16:creationId xmlns:a16="http://schemas.microsoft.com/office/drawing/2014/main" id="{60CDF9AF-35AB-4605-A5F3-7BDF6D61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71979337-81C8-4C83-B4C5-7CD2535D3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4453" name="Text Box 5">
            <a:extLst>
              <a:ext uri="{FF2B5EF4-FFF2-40B4-BE49-F238E27FC236}">
                <a16:creationId xmlns:a16="http://schemas.microsoft.com/office/drawing/2014/main" id="{E5F0E5EB-30B7-4C01-B46A-787F30B49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3053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4454" name="Text Box 6">
            <a:extLst>
              <a:ext uri="{FF2B5EF4-FFF2-40B4-BE49-F238E27FC236}">
                <a16:creationId xmlns:a16="http://schemas.microsoft.com/office/drawing/2014/main" id="{0BDBCCB4-8770-4757-8481-DD79F335E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6393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4455" name="Text Box 7">
            <a:extLst>
              <a:ext uri="{FF2B5EF4-FFF2-40B4-BE49-F238E27FC236}">
                <a16:creationId xmlns:a16="http://schemas.microsoft.com/office/drawing/2014/main" id="{A780EB72-1C46-4887-8E60-D813F47AA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97338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 dirty="0">
                <a:sym typeface="Symbol" panose="05050102010706020507" pitchFamily="18" charset="2"/>
              </a:rPr>
              <a:t>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4456" name="Text Box 8">
            <a:extLst>
              <a:ext uri="{FF2B5EF4-FFF2-40B4-BE49-F238E27FC236}">
                <a16:creationId xmlns:a16="http://schemas.microsoft.com/office/drawing/2014/main" id="{80ACFF7B-5C51-406A-8530-BC76B672F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935538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4457" name="Text Box 9">
            <a:extLst>
              <a:ext uri="{FF2B5EF4-FFF2-40B4-BE49-F238E27FC236}">
                <a16:creationId xmlns:a16="http://schemas.microsoft.com/office/drawing/2014/main" id="{1B2B326E-EF96-4D4D-B055-2E41DBF20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859338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4458" name="Text Box 10">
            <a:extLst>
              <a:ext uri="{FF2B5EF4-FFF2-40B4-BE49-F238E27FC236}">
                <a16:creationId xmlns:a16="http://schemas.microsoft.com/office/drawing/2014/main" id="{DF6E4566-117F-4272-9F00-A13C856BB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4459" name="Text Box 11">
            <a:extLst>
              <a:ext uri="{FF2B5EF4-FFF2-40B4-BE49-F238E27FC236}">
                <a16:creationId xmlns:a16="http://schemas.microsoft.com/office/drawing/2014/main" id="{C642060A-E8AB-4122-807D-E8E156462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2" y="2623609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4460" name="Text Box 12">
            <a:extLst>
              <a:ext uri="{FF2B5EF4-FFF2-40B4-BE49-F238E27FC236}">
                <a16:creationId xmlns:a16="http://schemas.microsoft.com/office/drawing/2014/main" id="{2C82C0D2-4068-45A6-970B-2168C89B2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2" y="31829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4461" name="Freeform 13">
            <a:extLst>
              <a:ext uri="{FF2B5EF4-FFF2-40B4-BE49-F238E27FC236}">
                <a16:creationId xmlns:a16="http://schemas.microsoft.com/office/drawing/2014/main" id="{21261A1A-1B6D-41FA-8D43-A0A123E2D540}"/>
              </a:ext>
            </a:extLst>
          </p:cNvPr>
          <p:cNvSpPr>
            <a:spLocks/>
          </p:cNvSpPr>
          <p:nvPr/>
        </p:nvSpPr>
        <p:spPr bwMode="auto">
          <a:xfrm>
            <a:off x="1371600" y="2819400"/>
            <a:ext cx="2336304" cy="211138"/>
          </a:xfrm>
          <a:custGeom>
            <a:avLst/>
            <a:gdLst>
              <a:gd name="T0" fmla="*/ 0 w 1296"/>
              <a:gd name="T1" fmla="*/ 0 h 264"/>
              <a:gd name="T2" fmla="*/ 2147483646 w 1296"/>
              <a:gd name="T3" fmla="*/ 2147483646 h 264"/>
              <a:gd name="T4" fmla="*/ 2147483646 w 1296"/>
              <a:gd name="T5" fmla="*/ 2147483646 h 264"/>
              <a:gd name="T6" fmla="*/ 2147483646 w 1296"/>
              <a:gd name="T7" fmla="*/ 2147483646 h 264"/>
              <a:gd name="T8" fmla="*/ 2147483646 w 1296"/>
              <a:gd name="T9" fmla="*/ 2147483646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64"/>
              <a:gd name="T17" fmla="*/ 1296 w 1296"/>
              <a:gd name="T18" fmla="*/ 264 h 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64">
                <a:moveTo>
                  <a:pt x="0" y="0"/>
                </a:moveTo>
                <a:cubicBezTo>
                  <a:pt x="52" y="76"/>
                  <a:pt x="104" y="152"/>
                  <a:pt x="240" y="192"/>
                </a:cubicBezTo>
                <a:cubicBezTo>
                  <a:pt x="376" y="232"/>
                  <a:pt x="656" y="232"/>
                  <a:pt x="816" y="240"/>
                </a:cubicBezTo>
                <a:cubicBezTo>
                  <a:pt x="976" y="248"/>
                  <a:pt x="1120" y="264"/>
                  <a:pt x="1200" y="240"/>
                </a:cubicBezTo>
                <a:cubicBezTo>
                  <a:pt x="1280" y="216"/>
                  <a:pt x="1280" y="120"/>
                  <a:pt x="1296" y="9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2" name="Text Box 15">
            <a:extLst>
              <a:ext uri="{FF2B5EF4-FFF2-40B4-BE49-F238E27FC236}">
                <a16:creationId xmlns:a16="http://schemas.microsoft.com/office/drawing/2014/main" id="{3A706947-CBDB-4F59-AA16-A9BBB86BC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38288"/>
            <a:ext cx="2971800" cy="1030287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First(</a:t>
            </a:r>
            <a:r>
              <a:rPr kumimoji="0" lang="en-US" altLang="zh-CN" sz="2400" b="1" dirty="0"/>
              <a:t>T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) = {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, id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id,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( </a:t>
            </a:r>
            <a:r>
              <a:rPr kumimoji="0"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First(F)</a:t>
            </a:r>
          </a:p>
        </p:txBody>
      </p:sp>
      <p:sp>
        <p:nvSpPr>
          <p:cNvPr id="104463" name="Freeform 16">
            <a:extLst>
              <a:ext uri="{FF2B5EF4-FFF2-40B4-BE49-F238E27FC236}">
                <a16:creationId xmlns:a16="http://schemas.microsoft.com/office/drawing/2014/main" id="{E94A87B2-7435-4382-A75B-2735F45E46B2}"/>
              </a:ext>
            </a:extLst>
          </p:cNvPr>
          <p:cNvSpPr>
            <a:spLocks/>
          </p:cNvSpPr>
          <p:nvPr/>
        </p:nvSpPr>
        <p:spPr bwMode="auto">
          <a:xfrm>
            <a:off x="923925" y="3397250"/>
            <a:ext cx="4257675" cy="184150"/>
          </a:xfrm>
          <a:custGeom>
            <a:avLst/>
            <a:gdLst>
              <a:gd name="T0" fmla="*/ 0 w 1296"/>
              <a:gd name="T1" fmla="*/ 0 h 264"/>
              <a:gd name="T2" fmla="*/ 2147483646 w 1296"/>
              <a:gd name="T3" fmla="*/ 2147483646 h 264"/>
              <a:gd name="T4" fmla="*/ 2147483646 w 1296"/>
              <a:gd name="T5" fmla="*/ 2147483646 h 264"/>
              <a:gd name="T6" fmla="*/ 2147483646 w 1296"/>
              <a:gd name="T7" fmla="*/ 2147483646 h 264"/>
              <a:gd name="T8" fmla="*/ 2147483646 w 1296"/>
              <a:gd name="T9" fmla="*/ 2147483646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64"/>
              <a:gd name="T17" fmla="*/ 1296 w 1296"/>
              <a:gd name="T18" fmla="*/ 264 h 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64">
                <a:moveTo>
                  <a:pt x="0" y="0"/>
                </a:moveTo>
                <a:cubicBezTo>
                  <a:pt x="52" y="76"/>
                  <a:pt x="104" y="152"/>
                  <a:pt x="240" y="192"/>
                </a:cubicBezTo>
                <a:cubicBezTo>
                  <a:pt x="376" y="232"/>
                  <a:pt x="656" y="232"/>
                  <a:pt x="816" y="240"/>
                </a:cubicBezTo>
                <a:cubicBezTo>
                  <a:pt x="976" y="248"/>
                  <a:pt x="1120" y="264"/>
                  <a:pt x="1200" y="240"/>
                </a:cubicBezTo>
                <a:cubicBezTo>
                  <a:pt x="1280" y="216"/>
                  <a:pt x="1280" y="120"/>
                  <a:pt x="1296" y="9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4" name="Freeform 17">
            <a:extLst>
              <a:ext uri="{FF2B5EF4-FFF2-40B4-BE49-F238E27FC236}">
                <a16:creationId xmlns:a16="http://schemas.microsoft.com/office/drawing/2014/main" id="{8986DD1B-426C-4ECB-905A-524FEFFF3B44}"/>
              </a:ext>
            </a:extLst>
          </p:cNvPr>
          <p:cNvSpPr>
            <a:spLocks/>
          </p:cNvSpPr>
          <p:nvPr/>
        </p:nvSpPr>
        <p:spPr bwMode="auto">
          <a:xfrm>
            <a:off x="4876800" y="4454525"/>
            <a:ext cx="1624013" cy="619125"/>
          </a:xfrm>
          <a:custGeom>
            <a:avLst/>
            <a:gdLst>
              <a:gd name="T0" fmla="*/ 2147483646 w 1023"/>
              <a:gd name="T1" fmla="*/ 0 h 390"/>
              <a:gd name="T2" fmla="*/ 2147483646 w 1023"/>
              <a:gd name="T3" fmla="*/ 2147483646 h 390"/>
              <a:gd name="T4" fmla="*/ 2147483646 w 1023"/>
              <a:gd name="T5" fmla="*/ 2147483646 h 390"/>
              <a:gd name="T6" fmla="*/ 2147483646 w 1023"/>
              <a:gd name="T7" fmla="*/ 2147483646 h 390"/>
              <a:gd name="T8" fmla="*/ 0 w 1023"/>
              <a:gd name="T9" fmla="*/ 2147483646 h 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390"/>
              <a:gd name="T17" fmla="*/ 1023 w 1023"/>
              <a:gd name="T18" fmla="*/ 390 h 3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390">
                <a:moveTo>
                  <a:pt x="1023" y="0"/>
                </a:moveTo>
                <a:cubicBezTo>
                  <a:pt x="962" y="24"/>
                  <a:pt x="775" y="126"/>
                  <a:pt x="654" y="144"/>
                </a:cubicBezTo>
                <a:cubicBezTo>
                  <a:pt x="533" y="162"/>
                  <a:pt x="390" y="100"/>
                  <a:pt x="294" y="108"/>
                </a:cubicBezTo>
                <a:cubicBezTo>
                  <a:pt x="198" y="116"/>
                  <a:pt x="127" y="142"/>
                  <a:pt x="78" y="189"/>
                </a:cubicBezTo>
                <a:cubicBezTo>
                  <a:pt x="29" y="236"/>
                  <a:pt x="16" y="348"/>
                  <a:pt x="0" y="39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5" name="Text Box 18">
            <a:extLst>
              <a:ext uri="{FF2B5EF4-FFF2-40B4-BE49-F238E27FC236}">
                <a16:creationId xmlns:a16="http://schemas.microsoft.com/office/drawing/2014/main" id="{734EFEFB-A69B-439A-A8C5-79FBCFAD8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07365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4AC9859B-D1C9-4CE6-B8BE-439ED9165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</a:p>
        </p:txBody>
      </p:sp>
      <p:sp>
        <p:nvSpPr>
          <p:cNvPr id="105475" name="Text Box 3">
            <a:extLst>
              <a:ext uri="{FF2B5EF4-FFF2-40B4-BE49-F238E27FC236}">
                <a16:creationId xmlns:a16="http://schemas.microsoft.com/office/drawing/2014/main" id="{10CB1645-2762-43A1-A9B9-1A88E281C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5476" name="Text Box 4">
            <a:extLst>
              <a:ext uri="{FF2B5EF4-FFF2-40B4-BE49-F238E27FC236}">
                <a16:creationId xmlns:a16="http://schemas.microsoft.com/office/drawing/2014/main" id="{6B0D993D-7995-4D7F-9D67-CDC0471FF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5477" name="Text Box 5">
            <a:extLst>
              <a:ext uri="{FF2B5EF4-FFF2-40B4-BE49-F238E27FC236}">
                <a16:creationId xmlns:a16="http://schemas.microsoft.com/office/drawing/2014/main" id="{571B6048-AFF3-4A40-9068-220462F82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956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5478" name="Text Box 6">
            <a:extLst>
              <a:ext uri="{FF2B5EF4-FFF2-40B4-BE49-F238E27FC236}">
                <a16:creationId xmlns:a16="http://schemas.microsoft.com/office/drawing/2014/main" id="{F77E65B3-C0FC-4662-9ECE-6408716B8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6576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5479" name="Text Box 7">
            <a:extLst>
              <a:ext uri="{FF2B5EF4-FFF2-40B4-BE49-F238E27FC236}">
                <a16:creationId xmlns:a16="http://schemas.microsoft.com/office/drawing/2014/main" id="{1E8DC182-DBE9-4945-8BE9-E073AC2E6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5480" name="Text Box 8">
            <a:extLst>
              <a:ext uri="{FF2B5EF4-FFF2-40B4-BE49-F238E27FC236}">
                <a16:creationId xmlns:a16="http://schemas.microsoft.com/office/drawing/2014/main" id="{4EF0B561-1A68-4305-A457-4CCA974BA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292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 dirty="0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05481" name="Text Box 9">
            <a:extLst>
              <a:ext uri="{FF2B5EF4-FFF2-40B4-BE49-F238E27FC236}">
                <a16:creationId xmlns:a16="http://schemas.microsoft.com/office/drawing/2014/main" id="{F8634F30-E4AE-46F8-8E3F-8DEA977BC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9530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5482" name="Text Box 10">
            <a:extLst>
              <a:ext uri="{FF2B5EF4-FFF2-40B4-BE49-F238E27FC236}">
                <a16:creationId xmlns:a16="http://schemas.microsoft.com/office/drawing/2014/main" id="{2903AC12-371F-45CA-BE89-6BD0AC424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5483" name="Text Box 11">
            <a:extLst>
              <a:ext uri="{FF2B5EF4-FFF2-40B4-BE49-F238E27FC236}">
                <a16:creationId xmlns:a16="http://schemas.microsoft.com/office/drawing/2014/main" id="{D1A109E3-B5EF-41E6-9B5B-FC541239B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2" y="372639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5484" name="Freeform 13">
            <a:extLst>
              <a:ext uri="{FF2B5EF4-FFF2-40B4-BE49-F238E27FC236}">
                <a16:creationId xmlns:a16="http://schemas.microsoft.com/office/drawing/2014/main" id="{66381ED8-2532-49EB-9EAD-E018EBE18A61}"/>
              </a:ext>
            </a:extLst>
          </p:cNvPr>
          <p:cNvSpPr>
            <a:spLocks/>
          </p:cNvSpPr>
          <p:nvPr/>
        </p:nvSpPr>
        <p:spPr bwMode="auto">
          <a:xfrm>
            <a:off x="3505200" y="4002088"/>
            <a:ext cx="1724025" cy="188912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5" name="Text Box 14">
            <a:extLst>
              <a:ext uri="{FF2B5EF4-FFF2-40B4-BE49-F238E27FC236}">
                <a16:creationId xmlns:a16="http://schemas.microsoft.com/office/drawing/2014/main" id="{3AE0838F-E949-4999-8A92-D1AC09762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38288"/>
            <a:ext cx="2971800" cy="482600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First(</a:t>
            </a:r>
            <a:r>
              <a:rPr kumimoji="0" lang="en-US" altLang="zh-CN" sz="2400" b="1" dirty="0"/>
              <a:t>T’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) = {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* , </a:t>
            </a:r>
            <a:r>
              <a:rPr kumimoji="0" lang="en-US" altLang="zh-CN" sz="2400" b="1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 }</a:t>
            </a:r>
          </a:p>
        </p:txBody>
      </p:sp>
      <p:sp>
        <p:nvSpPr>
          <p:cNvPr id="105486" name="Freeform 16">
            <a:extLst>
              <a:ext uri="{FF2B5EF4-FFF2-40B4-BE49-F238E27FC236}">
                <a16:creationId xmlns:a16="http://schemas.microsoft.com/office/drawing/2014/main" id="{A744DE00-01E4-4280-B4CF-56016A1662B1}"/>
              </a:ext>
            </a:extLst>
          </p:cNvPr>
          <p:cNvSpPr>
            <a:spLocks/>
          </p:cNvSpPr>
          <p:nvPr/>
        </p:nvSpPr>
        <p:spPr bwMode="auto">
          <a:xfrm>
            <a:off x="1143000" y="3262313"/>
            <a:ext cx="4419600" cy="533400"/>
          </a:xfrm>
          <a:custGeom>
            <a:avLst/>
            <a:gdLst>
              <a:gd name="T0" fmla="*/ 2147483646 w 2784"/>
              <a:gd name="T1" fmla="*/ 0 h 336"/>
              <a:gd name="T2" fmla="*/ 2147483646 w 2784"/>
              <a:gd name="T3" fmla="*/ 2147483646 h 336"/>
              <a:gd name="T4" fmla="*/ 2147483646 w 2784"/>
              <a:gd name="T5" fmla="*/ 2147483646 h 336"/>
              <a:gd name="T6" fmla="*/ 2147483646 w 2784"/>
              <a:gd name="T7" fmla="*/ 2147483646 h 336"/>
              <a:gd name="T8" fmla="*/ 0 w 2784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84"/>
              <a:gd name="T16" fmla="*/ 0 h 336"/>
              <a:gd name="T17" fmla="*/ 2784 w 2784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84" h="336">
                <a:moveTo>
                  <a:pt x="2784" y="0"/>
                </a:moveTo>
                <a:cubicBezTo>
                  <a:pt x="2677" y="42"/>
                  <a:pt x="2473" y="236"/>
                  <a:pt x="2142" y="252"/>
                </a:cubicBezTo>
                <a:cubicBezTo>
                  <a:pt x="1811" y="268"/>
                  <a:pt x="1122" y="108"/>
                  <a:pt x="800" y="93"/>
                </a:cubicBezTo>
                <a:cubicBezTo>
                  <a:pt x="478" y="78"/>
                  <a:pt x="346" y="122"/>
                  <a:pt x="212" y="163"/>
                </a:cubicBezTo>
                <a:cubicBezTo>
                  <a:pt x="79" y="203"/>
                  <a:pt x="44" y="300"/>
                  <a:pt x="0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7" name="Text Box 18">
            <a:extLst>
              <a:ext uri="{FF2B5EF4-FFF2-40B4-BE49-F238E27FC236}">
                <a16:creationId xmlns:a16="http://schemas.microsoft.com/office/drawing/2014/main" id="{D26BEE08-0019-4D14-889A-8D39D3353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2623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  <p:sp>
        <p:nvSpPr>
          <p:cNvPr id="105488" name="Freeform 19">
            <a:extLst>
              <a:ext uri="{FF2B5EF4-FFF2-40B4-BE49-F238E27FC236}">
                <a16:creationId xmlns:a16="http://schemas.microsoft.com/office/drawing/2014/main" id="{E7260AB1-4C35-479D-9EE0-EED624F7FDF4}"/>
              </a:ext>
            </a:extLst>
          </p:cNvPr>
          <p:cNvSpPr>
            <a:spLocks/>
          </p:cNvSpPr>
          <p:nvPr/>
        </p:nvSpPr>
        <p:spPr bwMode="auto">
          <a:xfrm>
            <a:off x="1981200" y="4481513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9" name="Text Box 20">
            <a:extLst>
              <a:ext uri="{FF2B5EF4-FFF2-40B4-BE49-F238E27FC236}">
                <a16:creationId xmlns:a16="http://schemas.microsoft.com/office/drawing/2014/main" id="{A5FA77AB-90E1-4566-B9F6-02C1CF020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5577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5490" name="Freeform 21">
            <a:extLst>
              <a:ext uri="{FF2B5EF4-FFF2-40B4-BE49-F238E27FC236}">
                <a16:creationId xmlns:a16="http://schemas.microsoft.com/office/drawing/2014/main" id="{0F80C255-4906-4895-BA32-7176A0D3A306}"/>
              </a:ext>
            </a:extLst>
          </p:cNvPr>
          <p:cNvSpPr>
            <a:spLocks/>
          </p:cNvSpPr>
          <p:nvPr/>
        </p:nvSpPr>
        <p:spPr bwMode="auto">
          <a:xfrm>
            <a:off x="5286375" y="5319713"/>
            <a:ext cx="2714625" cy="4508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91" name="Text Box 22">
            <a:extLst>
              <a:ext uri="{FF2B5EF4-FFF2-40B4-BE49-F238E27FC236}">
                <a16:creationId xmlns:a16="http://schemas.microsoft.com/office/drawing/2014/main" id="{8D00A929-06B2-4ADA-AEB1-982F33209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4244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ABC937A6-3241-4D2B-9828-A4493A33C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</a:p>
        </p:txBody>
      </p:sp>
      <p:sp>
        <p:nvSpPr>
          <p:cNvPr id="106499" name="Text Box 3">
            <a:extLst>
              <a:ext uri="{FF2B5EF4-FFF2-40B4-BE49-F238E27FC236}">
                <a16:creationId xmlns:a16="http://schemas.microsoft.com/office/drawing/2014/main" id="{FC9429DB-9139-4B79-8A63-544420375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6500" name="Text Box 4">
            <a:extLst>
              <a:ext uri="{FF2B5EF4-FFF2-40B4-BE49-F238E27FC236}">
                <a16:creationId xmlns:a16="http://schemas.microsoft.com/office/drawing/2014/main" id="{4D88D24A-C813-4E7B-A8B4-60DE9E4C8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6501" name="Text Box 5">
            <a:extLst>
              <a:ext uri="{FF2B5EF4-FFF2-40B4-BE49-F238E27FC236}">
                <a16:creationId xmlns:a16="http://schemas.microsoft.com/office/drawing/2014/main" id="{25B0B943-E4AB-4BB6-9753-1CAE2FEEC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194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FD625798-48DE-418F-9D49-7899286E2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766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6503" name="Text Box 7">
            <a:extLst>
              <a:ext uri="{FF2B5EF4-FFF2-40B4-BE49-F238E27FC236}">
                <a16:creationId xmlns:a16="http://schemas.microsoft.com/office/drawing/2014/main" id="{4F56DDD8-5B7E-497D-8063-4A3B78ED1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386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6504" name="Text Box 8">
            <a:extLst>
              <a:ext uri="{FF2B5EF4-FFF2-40B4-BE49-F238E27FC236}">
                <a16:creationId xmlns:a16="http://schemas.microsoft.com/office/drawing/2014/main" id="{C5DB735F-492D-4A92-B535-A03E9E67C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768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6505" name="Text Box 9">
            <a:extLst>
              <a:ext uri="{FF2B5EF4-FFF2-40B4-BE49-F238E27FC236}">
                <a16:creationId xmlns:a16="http://schemas.microsoft.com/office/drawing/2014/main" id="{BC57F364-20C7-41A3-8A02-B4101FDB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8006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6506" name="Text Box 10">
            <a:extLst>
              <a:ext uri="{FF2B5EF4-FFF2-40B4-BE49-F238E27FC236}">
                <a16:creationId xmlns:a16="http://schemas.microsoft.com/office/drawing/2014/main" id="{436BEF0E-D6FA-4974-A246-AEC314A41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6507" name="Text Box 11">
            <a:extLst>
              <a:ext uri="{FF2B5EF4-FFF2-40B4-BE49-F238E27FC236}">
                <a16:creationId xmlns:a16="http://schemas.microsoft.com/office/drawing/2014/main" id="{0CAD21C6-AF50-4C87-A987-0CDC63E03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0" y="4176713"/>
            <a:ext cx="45055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6508" name="Freeform 13">
            <a:extLst>
              <a:ext uri="{FF2B5EF4-FFF2-40B4-BE49-F238E27FC236}">
                <a16:creationId xmlns:a16="http://schemas.microsoft.com/office/drawing/2014/main" id="{A390181D-7442-44A1-9D8E-17627B158F5A}"/>
              </a:ext>
            </a:extLst>
          </p:cNvPr>
          <p:cNvSpPr>
            <a:spLocks/>
          </p:cNvSpPr>
          <p:nvPr/>
        </p:nvSpPr>
        <p:spPr bwMode="auto">
          <a:xfrm>
            <a:off x="1219200" y="3567113"/>
            <a:ext cx="1981200" cy="40322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9" name="Text Box 14">
            <a:extLst>
              <a:ext uri="{FF2B5EF4-FFF2-40B4-BE49-F238E27FC236}">
                <a16:creationId xmlns:a16="http://schemas.microsoft.com/office/drawing/2014/main" id="{E8E76BB8-4E7E-4940-9CCF-BE6FA7288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38288"/>
            <a:ext cx="2971800" cy="482600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First(</a:t>
            </a:r>
            <a:r>
              <a:rPr kumimoji="0" lang="en-US" altLang="zh-CN" sz="2400" b="1"/>
              <a:t>E’</a:t>
            </a:r>
            <a:r>
              <a:rPr kumimoji="0" lang="en-US" altLang="zh-CN" sz="2400" b="1">
                <a:solidFill>
                  <a:srgbClr val="FF3300"/>
                </a:solidFill>
              </a:rPr>
              <a:t>) = { </a:t>
            </a:r>
            <a:r>
              <a:rPr kumimoji="0" lang="en-US" altLang="zh-CN" sz="2400" b="1">
                <a:solidFill>
                  <a:schemeClr val="accent2"/>
                </a:solidFill>
              </a:rPr>
              <a:t>+ , </a:t>
            </a:r>
            <a:r>
              <a:rPr kumimoji="0" lang="en-US" altLang="zh-CN" sz="24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rgbClr val="FF3300"/>
                </a:solidFill>
              </a:rPr>
              <a:t> }</a:t>
            </a:r>
          </a:p>
        </p:txBody>
      </p:sp>
      <p:sp>
        <p:nvSpPr>
          <p:cNvPr id="106510" name="Text Box 17">
            <a:extLst>
              <a:ext uri="{FF2B5EF4-FFF2-40B4-BE49-F238E27FC236}">
                <a16:creationId xmlns:a16="http://schemas.microsoft.com/office/drawing/2014/main" id="{2A03703F-5292-448D-899E-1377E51FA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567113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6511" name="Freeform 18">
            <a:extLst>
              <a:ext uri="{FF2B5EF4-FFF2-40B4-BE49-F238E27FC236}">
                <a16:creationId xmlns:a16="http://schemas.microsoft.com/office/drawing/2014/main" id="{DC3AAE5B-D872-4D57-B3AE-D83545558251}"/>
              </a:ext>
            </a:extLst>
          </p:cNvPr>
          <p:cNvSpPr>
            <a:spLocks/>
          </p:cNvSpPr>
          <p:nvPr/>
        </p:nvSpPr>
        <p:spPr bwMode="auto">
          <a:xfrm>
            <a:off x="4267200" y="4481513"/>
            <a:ext cx="1981200" cy="30480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2" name="Freeform 20">
            <a:extLst>
              <a:ext uri="{FF2B5EF4-FFF2-40B4-BE49-F238E27FC236}">
                <a16:creationId xmlns:a16="http://schemas.microsoft.com/office/drawing/2014/main" id="{BE3FA5D6-2FC3-4DD1-9E05-06B2E3980748}"/>
              </a:ext>
            </a:extLst>
          </p:cNvPr>
          <p:cNvSpPr>
            <a:spLocks/>
          </p:cNvSpPr>
          <p:nvPr/>
        </p:nvSpPr>
        <p:spPr bwMode="auto">
          <a:xfrm>
            <a:off x="5562600" y="5243513"/>
            <a:ext cx="2438400" cy="3746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3" name="Text Box 21">
            <a:extLst>
              <a:ext uri="{FF2B5EF4-FFF2-40B4-BE49-F238E27FC236}">
                <a16:creationId xmlns:a16="http://schemas.microsoft.com/office/drawing/2014/main" id="{19EC4C5C-1C54-492F-92AB-AAC0D629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2720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1D248D8-F209-42AE-9D68-6397B22B3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</a:p>
        </p:txBody>
      </p:sp>
      <p:sp>
        <p:nvSpPr>
          <p:cNvPr id="107523" name="Text Box 3">
            <a:extLst>
              <a:ext uri="{FF2B5EF4-FFF2-40B4-BE49-F238E27FC236}">
                <a16:creationId xmlns:a16="http://schemas.microsoft.com/office/drawing/2014/main" id="{CAE6C866-F86F-41AB-A56C-38508E6AD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7524" name="Text Box 4">
            <a:extLst>
              <a:ext uri="{FF2B5EF4-FFF2-40B4-BE49-F238E27FC236}">
                <a16:creationId xmlns:a16="http://schemas.microsoft.com/office/drawing/2014/main" id="{DA466D5E-61CB-401A-87B1-223497072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7525" name="Text Box 5">
            <a:extLst>
              <a:ext uri="{FF2B5EF4-FFF2-40B4-BE49-F238E27FC236}">
                <a16:creationId xmlns:a16="http://schemas.microsoft.com/office/drawing/2014/main" id="{13243011-1F01-42FD-A7DB-5E0FFBD82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71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7526" name="Text Box 6">
            <a:extLst>
              <a:ext uri="{FF2B5EF4-FFF2-40B4-BE49-F238E27FC236}">
                <a16:creationId xmlns:a16="http://schemas.microsoft.com/office/drawing/2014/main" id="{E6981A97-D143-47F1-AE13-E97C57331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702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7527" name="Text Box 7">
            <a:extLst>
              <a:ext uri="{FF2B5EF4-FFF2-40B4-BE49-F238E27FC236}">
                <a16:creationId xmlns:a16="http://schemas.microsoft.com/office/drawing/2014/main" id="{E7712529-8B7A-47DE-9F86-CBDD42290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7528" name="Text Box 8">
            <a:extLst>
              <a:ext uri="{FF2B5EF4-FFF2-40B4-BE49-F238E27FC236}">
                <a16:creationId xmlns:a16="http://schemas.microsoft.com/office/drawing/2014/main" id="{A053DC17-5983-4694-B1B2-FFFFF434C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7529" name="Text Box 9">
            <a:extLst>
              <a:ext uri="{FF2B5EF4-FFF2-40B4-BE49-F238E27FC236}">
                <a16:creationId xmlns:a16="http://schemas.microsoft.com/office/drawing/2014/main" id="{BBDE5A8E-C134-4053-A8A2-961ECCCF5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7244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7530" name="Text Box 10">
            <a:extLst>
              <a:ext uri="{FF2B5EF4-FFF2-40B4-BE49-F238E27FC236}">
                <a16:creationId xmlns:a16="http://schemas.microsoft.com/office/drawing/2014/main" id="{9F31CE1F-6F99-4E9B-9932-EFA3CAC07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7531" name="Text Box 11">
            <a:extLst>
              <a:ext uri="{FF2B5EF4-FFF2-40B4-BE49-F238E27FC236}">
                <a16:creationId xmlns:a16="http://schemas.microsoft.com/office/drawing/2014/main" id="{182D3C29-B6C0-4C10-8F1B-486920D40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494982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7532" name="Freeform 12">
            <a:extLst>
              <a:ext uri="{FF2B5EF4-FFF2-40B4-BE49-F238E27FC236}">
                <a16:creationId xmlns:a16="http://schemas.microsoft.com/office/drawing/2014/main" id="{6F6E8481-FBAE-411B-99D3-B4601AF4CD51}"/>
              </a:ext>
            </a:extLst>
          </p:cNvPr>
          <p:cNvSpPr>
            <a:spLocks/>
          </p:cNvSpPr>
          <p:nvPr/>
        </p:nvSpPr>
        <p:spPr bwMode="auto">
          <a:xfrm>
            <a:off x="2271713" y="2828925"/>
            <a:ext cx="1233487" cy="142875"/>
          </a:xfrm>
          <a:custGeom>
            <a:avLst/>
            <a:gdLst>
              <a:gd name="T0" fmla="*/ 0 w 777"/>
              <a:gd name="T1" fmla="*/ 0 h 232"/>
              <a:gd name="T2" fmla="*/ 2147483646 w 777"/>
              <a:gd name="T3" fmla="*/ 2147483646 h 232"/>
              <a:gd name="T4" fmla="*/ 2147483646 w 777"/>
              <a:gd name="T5" fmla="*/ 2147483646 h 232"/>
              <a:gd name="T6" fmla="*/ 2147483646 w 777"/>
              <a:gd name="T7" fmla="*/ 2147483646 h 232"/>
              <a:gd name="T8" fmla="*/ 2147483646 w 777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7"/>
              <a:gd name="T16" fmla="*/ 0 h 232"/>
              <a:gd name="T17" fmla="*/ 777 w 777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7" h="232">
                <a:moveTo>
                  <a:pt x="0" y="0"/>
                </a:moveTo>
                <a:cubicBezTo>
                  <a:pt x="26" y="34"/>
                  <a:pt x="76" y="156"/>
                  <a:pt x="157" y="194"/>
                </a:cubicBezTo>
                <a:cubicBezTo>
                  <a:pt x="238" y="232"/>
                  <a:pt x="398" y="230"/>
                  <a:pt x="489" y="229"/>
                </a:cubicBezTo>
                <a:cubicBezTo>
                  <a:pt x="581" y="228"/>
                  <a:pt x="659" y="221"/>
                  <a:pt x="707" y="189"/>
                </a:cubicBezTo>
                <a:cubicBezTo>
                  <a:pt x="755" y="158"/>
                  <a:pt x="762" y="73"/>
                  <a:pt x="777" y="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3" name="Text Box 13">
            <a:extLst>
              <a:ext uri="{FF2B5EF4-FFF2-40B4-BE49-F238E27FC236}">
                <a16:creationId xmlns:a16="http://schemas.microsoft.com/office/drawing/2014/main" id="{E7F6E3C8-CA1F-45CC-AD68-D14CF0451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38288"/>
            <a:ext cx="2971800" cy="482600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First(</a:t>
            </a:r>
            <a:r>
              <a:rPr kumimoji="0" lang="en-US" altLang="zh-CN" sz="2400" b="1"/>
              <a:t>F</a:t>
            </a:r>
            <a:r>
              <a:rPr kumimoji="0" lang="en-US" altLang="zh-CN" sz="2400" b="1">
                <a:solidFill>
                  <a:srgbClr val="FF3300"/>
                </a:solidFill>
              </a:rPr>
              <a:t>) = { </a:t>
            </a:r>
            <a:r>
              <a:rPr kumimoji="0" lang="en-US" altLang="zh-CN" sz="2400" b="1">
                <a:solidFill>
                  <a:schemeClr val="accent2"/>
                </a:solidFill>
              </a:rPr>
              <a:t>( , id</a:t>
            </a:r>
            <a:r>
              <a:rPr kumimoji="0" lang="en-US" altLang="zh-CN" sz="2400" b="1">
                <a:solidFill>
                  <a:srgbClr val="FF3300"/>
                </a:solidFill>
              </a:rPr>
              <a:t> }</a:t>
            </a:r>
          </a:p>
        </p:txBody>
      </p:sp>
      <p:sp>
        <p:nvSpPr>
          <p:cNvPr id="107534" name="Freeform 15">
            <a:extLst>
              <a:ext uri="{FF2B5EF4-FFF2-40B4-BE49-F238E27FC236}">
                <a16:creationId xmlns:a16="http://schemas.microsoft.com/office/drawing/2014/main" id="{0DDCAC02-FF79-423B-8446-647BE7480148}"/>
              </a:ext>
            </a:extLst>
          </p:cNvPr>
          <p:cNvSpPr>
            <a:spLocks/>
          </p:cNvSpPr>
          <p:nvPr/>
        </p:nvSpPr>
        <p:spPr bwMode="auto">
          <a:xfrm>
            <a:off x="2209800" y="5184775"/>
            <a:ext cx="2647950" cy="312738"/>
          </a:xfrm>
          <a:custGeom>
            <a:avLst/>
            <a:gdLst>
              <a:gd name="T0" fmla="*/ 0 w 1668"/>
              <a:gd name="T1" fmla="*/ 0 h 197"/>
              <a:gd name="T2" fmla="*/ 2147483646 w 1668"/>
              <a:gd name="T3" fmla="*/ 2147483646 h 197"/>
              <a:gd name="T4" fmla="*/ 2147483646 w 1668"/>
              <a:gd name="T5" fmla="*/ 2147483646 h 197"/>
              <a:gd name="T6" fmla="*/ 2147483646 w 1668"/>
              <a:gd name="T7" fmla="*/ 2147483646 h 197"/>
              <a:gd name="T8" fmla="*/ 2147483646 w 1668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8"/>
              <a:gd name="T16" fmla="*/ 0 h 197"/>
              <a:gd name="T17" fmla="*/ 1668 w 1668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8" h="197">
                <a:moveTo>
                  <a:pt x="0" y="0"/>
                </a:moveTo>
                <a:cubicBezTo>
                  <a:pt x="67" y="57"/>
                  <a:pt x="161" y="113"/>
                  <a:pt x="307" y="144"/>
                </a:cubicBezTo>
                <a:cubicBezTo>
                  <a:pt x="453" y="175"/>
                  <a:pt x="673" y="179"/>
                  <a:pt x="876" y="184"/>
                </a:cubicBezTo>
                <a:cubicBezTo>
                  <a:pt x="1079" y="189"/>
                  <a:pt x="1392" y="197"/>
                  <a:pt x="1524" y="175"/>
                </a:cubicBezTo>
                <a:cubicBezTo>
                  <a:pt x="1656" y="153"/>
                  <a:pt x="1638" y="75"/>
                  <a:pt x="1668" y="4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5" name="Text Box 18">
            <a:extLst>
              <a:ext uri="{FF2B5EF4-FFF2-40B4-BE49-F238E27FC236}">
                <a16:creationId xmlns:a16="http://schemas.microsoft.com/office/drawing/2014/main" id="{63D82A86-8DEB-4798-B1FF-67D221B21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63366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7536" name="Freeform 20">
            <a:extLst>
              <a:ext uri="{FF2B5EF4-FFF2-40B4-BE49-F238E27FC236}">
                <a16:creationId xmlns:a16="http://schemas.microsoft.com/office/drawing/2014/main" id="{9D035A4E-3E3F-4DCB-9713-A30BD9425B75}"/>
              </a:ext>
            </a:extLst>
          </p:cNvPr>
          <p:cNvSpPr>
            <a:spLocks/>
          </p:cNvSpPr>
          <p:nvPr/>
        </p:nvSpPr>
        <p:spPr bwMode="auto">
          <a:xfrm>
            <a:off x="2895600" y="3338513"/>
            <a:ext cx="2216150" cy="198967"/>
          </a:xfrm>
          <a:custGeom>
            <a:avLst/>
            <a:gdLst>
              <a:gd name="T0" fmla="*/ 0 w 777"/>
              <a:gd name="T1" fmla="*/ 0 h 232"/>
              <a:gd name="T2" fmla="*/ 2147483646 w 777"/>
              <a:gd name="T3" fmla="*/ 2147483646 h 232"/>
              <a:gd name="T4" fmla="*/ 2147483646 w 777"/>
              <a:gd name="T5" fmla="*/ 2147483646 h 232"/>
              <a:gd name="T6" fmla="*/ 2147483646 w 777"/>
              <a:gd name="T7" fmla="*/ 2147483646 h 232"/>
              <a:gd name="T8" fmla="*/ 2147483646 w 777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7"/>
              <a:gd name="T16" fmla="*/ 0 h 232"/>
              <a:gd name="T17" fmla="*/ 777 w 777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7" h="232">
                <a:moveTo>
                  <a:pt x="0" y="0"/>
                </a:moveTo>
                <a:cubicBezTo>
                  <a:pt x="26" y="34"/>
                  <a:pt x="76" y="156"/>
                  <a:pt x="157" y="194"/>
                </a:cubicBezTo>
                <a:cubicBezTo>
                  <a:pt x="238" y="232"/>
                  <a:pt x="398" y="230"/>
                  <a:pt x="489" y="229"/>
                </a:cubicBezTo>
                <a:cubicBezTo>
                  <a:pt x="581" y="228"/>
                  <a:pt x="659" y="221"/>
                  <a:pt x="707" y="189"/>
                </a:cubicBezTo>
                <a:cubicBezTo>
                  <a:pt x="755" y="158"/>
                  <a:pt x="762" y="73"/>
                  <a:pt x="777" y="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7" name="Text Box 21">
            <a:extLst>
              <a:ext uri="{FF2B5EF4-FFF2-40B4-BE49-F238E27FC236}">
                <a16:creationId xmlns:a16="http://schemas.microsoft.com/office/drawing/2014/main" id="{2639EAC6-9B10-4C75-9F08-5D5B6B4C5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3576" y="312473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7538" name="Freeform 22">
            <a:extLst>
              <a:ext uri="{FF2B5EF4-FFF2-40B4-BE49-F238E27FC236}">
                <a16:creationId xmlns:a16="http://schemas.microsoft.com/office/drawing/2014/main" id="{64295863-7480-4683-AC55-163A70A10759}"/>
              </a:ext>
            </a:extLst>
          </p:cNvPr>
          <p:cNvSpPr>
            <a:spLocks/>
          </p:cNvSpPr>
          <p:nvPr/>
        </p:nvSpPr>
        <p:spPr bwMode="auto">
          <a:xfrm>
            <a:off x="1676400" y="3937000"/>
            <a:ext cx="3810000" cy="319088"/>
          </a:xfrm>
          <a:custGeom>
            <a:avLst/>
            <a:gdLst>
              <a:gd name="T0" fmla="*/ 2147483646 w 2784"/>
              <a:gd name="T1" fmla="*/ 0 h 336"/>
              <a:gd name="T2" fmla="*/ 2147483646 w 2784"/>
              <a:gd name="T3" fmla="*/ 2147483646 h 336"/>
              <a:gd name="T4" fmla="*/ 2147483646 w 2784"/>
              <a:gd name="T5" fmla="*/ 2147483646 h 336"/>
              <a:gd name="T6" fmla="*/ 2147483646 w 2784"/>
              <a:gd name="T7" fmla="*/ 2147483646 h 336"/>
              <a:gd name="T8" fmla="*/ 0 w 2784"/>
              <a:gd name="T9" fmla="*/ 2147483646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84"/>
              <a:gd name="T16" fmla="*/ 0 h 336"/>
              <a:gd name="T17" fmla="*/ 2784 w 2784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84" h="336">
                <a:moveTo>
                  <a:pt x="2784" y="0"/>
                </a:moveTo>
                <a:cubicBezTo>
                  <a:pt x="2677" y="42"/>
                  <a:pt x="2473" y="236"/>
                  <a:pt x="2142" y="252"/>
                </a:cubicBezTo>
                <a:cubicBezTo>
                  <a:pt x="1811" y="268"/>
                  <a:pt x="1122" y="108"/>
                  <a:pt x="800" y="93"/>
                </a:cubicBezTo>
                <a:cubicBezTo>
                  <a:pt x="478" y="78"/>
                  <a:pt x="346" y="122"/>
                  <a:pt x="212" y="163"/>
                </a:cubicBezTo>
                <a:cubicBezTo>
                  <a:pt x="79" y="203"/>
                  <a:pt x="44" y="300"/>
                  <a:pt x="0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9" name="Text Box 23">
            <a:extLst>
              <a:ext uri="{FF2B5EF4-FFF2-40B4-BE49-F238E27FC236}">
                <a16:creationId xmlns:a16="http://schemas.microsoft.com/office/drawing/2014/main" id="{25A40568-8C3C-428B-B972-DAC65C91A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3386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BD894FCD-F2E2-4403-B0D3-5BE42254C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与预测分析</a:t>
            </a:r>
          </a:p>
        </p:txBody>
      </p:sp>
      <p:sp>
        <p:nvSpPr>
          <p:cNvPr id="108547" name="Text Box 3">
            <a:extLst>
              <a:ext uri="{FF2B5EF4-FFF2-40B4-BE49-F238E27FC236}">
                <a16:creationId xmlns:a16="http://schemas.microsoft.com/office/drawing/2014/main" id="{1D6FC289-B5C4-4872-B054-9A1461AD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8548" name="Text Box 4">
            <a:extLst>
              <a:ext uri="{FF2B5EF4-FFF2-40B4-BE49-F238E27FC236}">
                <a16:creationId xmlns:a16="http://schemas.microsoft.com/office/drawing/2014/main" id="{D858A15A-D5DE-48DC-A53D-391184350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8549" name="Text Box 5">
            <a:extLst>
              <a:ext uri="{FF2B5EF4-FFF2-40B4-BE49-F238E27FC236}">
                <a16:creationId xmlns:a16="http://schemas.microsoft.com/office/drawing/2014/main" id="{5DB7E8B7-3365-4BBD-9952-9C379A9F5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9088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(</a:t>
            </a:r>
            <a:r>
              <a:rPr kumimoji="0" lang="en-US" altLang="zh-CN" sz="2400" b="1" dirty="0"/>
              <a:t> TE’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)</a:t>
            </a:r>
            <a:r>
              <a:rPr kumimoji="0" lang="en-US" altLang="zh-CN" sz="2400" b="1" dirty="0"/>
              <a:t> T’E’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 dirty="0">
                <a:sym typeface="Symbol" panose="05050102010706020507" pitchFamily="18" charset="2"/>
              </a:rPr>
              <a:t>FT’E’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T’E’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 dirty="0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8550" name="Text Box 6">
            <a:extLst>
              <a:ext uri="{FF2B5EF4-FFF2-40B4-BE49-F238E27FC236}">
                <a16:creationId xmlns:a16="http://schemas.microsoft.com/office/drawing/2014/main" id="{4796F9A4-504A-4E4D-A63C-287C98C46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0528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8551" name="Text Box 7">
            <a:extLst>
              <a:ext uri="{FF2B5EF4-FFF2-40B4-BE49-F238E27FC236}">
                <a16:creationId xmlns:a16="http://schemas.microsoft.com/office/drawing/2014/main" id="{BE95EE1E-8C9D-4072-8EE0-5E5331FD3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43488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8552" name="Text Box 8">
            <a:extLst>
              <a:ext uri="{FF2B5EF4-FFF2-40B4-BE49-F238E27FC236}">
                <a16:creationId xmlns:a16="http://schemas.microsoft.com/office/drawing/2014/main" id="{E4B0BD56-E5C3-407C-9BC0-CD23AA5D5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881688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8553" name="Text Box 9">
            <a:extLst>
              <a:ext uri="{FF2B5EF4-FFF2-40B4-BE49-F238E27FC236}">
                <a16:creationId xmlns:a16="http://schemas.microsoft.com/office/drawing/2014/main" id="{04183AAE-85BC-43C3-BB3C-93721F6EA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5805488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8554" name="Text Box 10">
            <a:extLst>
              <a:ext uri="{FF2B5EF4-FFF2-40B4-BE49-F238E27FC236}">
                <a16:creationId xmlns:a16="http://schemas.microsoft.com/office/drawing/2014/main" id="{F5EB01CD-0341-486C-A629-C085D3D9D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endParaRPr kumimoji="0" lang="en-US" altLang="zh-CN" sz="2400" b="1">
              <a:solidFill>
                <a:srgbClr val="FF6699"/>
              </a:solidFill>
            </a:endParaRPr>
          </a:p>
        </p:txBody>
      </p:sp>
      <p:sp>
        <p:nvSpPr>
          <p:cNvPr id="108555" name="Text Box 11">
            <a:extLst>
              <a:ext uri="{FF2B5EF4-FFF2-40B4-BE49-F238E27FC236}">
                <a16:creationId xmlns:a16="http://schemas.microsoft.com/office/drawing/2014/main" id="{33FFF0C9-BF04-4E5E-9BA3-591F51069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603091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56" name="Freeform 12">
            <a:extLst>
              <a:ext uri="{FF2B5EF4-FFF2-40B4-BE49-F238E27FC236}">
                <a16:creationId xmlns:a16="http://schemas.microsoft.com/office/drawing/2014/main" id="{83A38726-9E2D-4006-A783-A3C1D5FEBAD3}"/>
              </a:ext>
            </a:extLst>
          </p:cNvPr>
          <p:cNvSpPr>
            <a:spLocks/>
          </p:cNvSpPr>
          <p:nvPr/>
        </p:nvSpPr>
        <p:spPr bwMode="auto">
          <a:xfrm>
            <a:off x="2271713" y="2828925"/>
            <a:ext cx="1228725" cy="300038"/>
          </a:xfrm>
          <a:custGeom>
            <a:avLst/>
            <a:gdLst>
              <a:gd name="T0" fmla="*/ 0 w 774"/>
              <a:gd name="T1" fmla="*/ 0 h 189"/>
              <a:gd name="T2" fmla="*/ 2147483646 w 774"/>
              <a:gd name="T3" fmla="*/ 2147483646 h 189"/>
              <a:gd name="T4" fmla="*/ 2147483646 w 774"/>
              <a:gd name="T5" fmla="*/ 2147483646 h 189"/>
              <a:gd name="T6" fmla="*/ 2147483646 w 774"/>
              <a:gd name="T7" fmla="*/ 2147483646 h 189"/>
              <a:gd name="T8" fmla="*/ 2147483646 w 774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4"/>
              <a:gd name="T16" fmla="*/ 0 h 189"/>
              <a:gd name="T17" fmla="*/ 774 w 774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4" h="189">
                <a:moveTo>
                  <a:pt x="0" y="0"/>
                </a:moveTo>
                <a:cubicBezTo>
                  <a:pt x="26" y="20"/>
                  <a:pt x="85" y="88"/>
                  <a:pt x="157" y="115"/>
                </a:cubicBezTo>
                <a:cubicBezTo>
                  <a:pt x="229" y="142"/>
                  <a:pt x="350" y="153"/>
                  <a:pt x="432" y="162"/>
                </a:cubicBezTo>
                <a:cubicBezTo>
                  <a:pt x="514" y="171"/>
                  <a:pt x="591" y="189"/>
                  <a:pt x="648" y="171"/>
                </a:cubicBezTo>
                <a:cubicBezTo>
                  <a:pt x="705" y="153"/>
                  <a:pt x="748" y="78"/>
                  <a:pt x="774" y="5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7" name="Freeform 14">
            <a:extLst>
              <a:ext uri="{FF2B5EF4-FFF2-40B4-BE49-F238E27FC236}">
                <a16:creationId xmlns:a16="http://schemas.microsoft.com/office/drawing/2014/main" id="{2C561106-A98D-41BA-92D4-D26F6512FF8E}"/>
              </a:ext>
            </a:extLst>
          </p:cNvPr>
          <p:cNvSpPr>
            <a:spLocks/>
          </p:cNvSpPr>
          <p:nvPr/>
        </p:nvSpPr>
        <p:spPr bwMode="auto">
          <a:xfrm>
            <a:off x="2209800" y="6265863"/>
            <a:ext cx="2647950" cy="312737"/>
          </a:xfrm>
          <a:custGeom>
            <a:avLst/>
            <a:gdLst>
              <a:gd name="T0" fmla="*/ 0 w 1668"/>
              <a:gd name="T1" fmla="*/ 0 h 197"/>
              <a:gd name="T2" fmla="*/ 2147483646 w 1668"/>
              <a:gd name="T3" fmla="*/ 2147483646 h 197"/>
              <a:gd name="T4" fmla="*/ 2147483646 w 1668"/>
              <a:gd name="T5" fmla="*/ 2147483646 h 197"/>
              <a:gd name="T6" fmla="*/ 2147483646 w 1668"/>
              <a:gd name="T7" fmla="*/ 2147483646 h 197"/>
              <a:gd name="T8" fmla="*/ 2147483646 w 1668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8"/>
              <a:gd name="T16" fmla="*/ 0 h 197"/>
              <a:gd name="T17" fmla="*/ 1668 w 1668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8" h="197">
                <a:moveTo>
                  <a:pt x="0" y="0"/>
                </a:moveTo>
                <a:cubicBezTo>
                  <a:pt x="67" y="57"/>
                  <a:pt x="161" y="113"/>
                  <a:pt x="307" y="144"/>
                </a:cubicBezTo>
                <a:cubicBezTo>
                  <a:pt x="453" y="175"/>
                  <a:pt x="673" y="179"/>
                  <a:pt x="876" y="184"/>
                </a:cubicBezTo>
                <a:cubicBezTo>
                  <a:pt x="1079" y="189"/>
                  <a:pt x="1392" y="197"/>
                  <a:pt x="1524" y="175"/>
                </a:cubicBezTo>
                <a:cubicBezTo>
                  <a:pt x="1656" y="153"/>
                  <a:pt x="1638" y="75"/>
                  <a:pt x="1668" y="4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8" name="Text Box 15">
            <a:extLst>
              <a:ext uri="{FF2B5EF4-FFF2-40B4-BE49-F238E27FC236}">
                <a16:creationId xmlns:a16="http://schemas.microsoft.com/office/drawing/2014/main" id="{DA2D73DD-574C-48D6-AB15-4F32CF719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63366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59" name="Freeform 16">
            <a:extLst>
              <a:ext uri="{FF2B5EF4-FFF2-40B4-BE49-F238E27FC236}">
                <a16:creationId xmlns:a16="http://schemas.microsoft.com/office/drawing/2014/main" id="{5BB5BC49-78F2-4862-8BFB-7659E44E2391}"/>
              </a:ext>
            </a:extLst>
          </p:cNvPr>
          <p:cNvSpPr>
            <a:spLocks/>
          </p:cNvSpPr>
          <p:nvPr/>
        </p:nvSpPr>
        <p:spPr bwMode="auto">
          <a:xfrm>
            <a:off x="2895600" y="3657600"/>
            <a:ext cx="2286000" cy="228600"/>
          </a:xfrm>
          <a:custGeom>
            <a:avLst/>
            <a:gdLst>
              <a:gd name="T0" fmla="*/ 0 w 777"/>
              <a:gd name="T1" fmla="*/ 0 h 232"/>
              <a:gd name="T2" fmla="*/ 2147483646 w 777"/>
              <a:gd name="T3" fmla="*/ 2147483646 h 232"/>
              <a:gd name="T4" fmla="*/ 2147483646 w 777"/>
              <a:gd name="T5" fmla="*/ 2147483646 h 232"/>
              <a:gd name="T6" fmla="*/ 2147483646 w 777"/>
              <a:gd name="T7" fmla="*/ 2147483646 h 232"/>
              <a:gd name="T8" fmla="*/ 2147483646 w 777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7"/>
              <a:gd name="T16" fmla="*/ 0 h 232"/>
              <a:gd name="T17" fmla="*/ 777 w 777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7" h="232">
                <a:moveTo>
                  <a:pt x="0" y="0"/>
                </a:moveTo>
                <a:cubicBezTo>
                  <a:pt x="26" y="34"/>
                  <a:pt x="76" y="156"/>
                  <a:pt x="157" y="194"/>
                </a:cubicBezTo>
                <a:cubicBezTo>
                  <a:pt x="238" y="232"/>
                  <a:pt x="398" y="230"/>
                  <a:pt x="489" y="229"/>
                </a:cubicBezTo>
                <a:cubicBezTo>
                  <a:pt x="581" y="228"/>
                  <a:pt x="659" y="221"/>
                  <a:pt x="707" y="189"/>
                </a:cubicBezTo>
                <a:cubicBezTo>
                  <a:pt x="755" y="158"/>
                  <a:pt x="762" y="73"/>
                  <a:pt x="777" y="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0" name="Text Box 17">
            <a:extLst>
              <a:ext uri="{FF2B5EF4-FFF2-40B4-BE49-F238E27FC236}">
                <a16:creationId xmlns:a16="http://schemas.microsoft.com/office/drawing/2014/main" id="{2F2E87AB-44BA-4C23-BF90-28227B9E5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031" y="345440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 dirty="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 dirty="0">
              <a:solidFill>
                <a:srgbClr val="FF3300"/>
              </a:solidFill>
            </a:endParaRPr>
          </a:p>
        </p:txBody>
      </p:sp>
      <p:sp>
        <p:nvSpPr>
          <p:cNvPr id="108561" name="Freeform 18">
            <a:extLst>
              <a:ext uri="{FF2B5EF4-FFF2-40B4-BE49-F238E27FC236}">
                <a16:creationId xmlns:a16="http://schemas.microsoft.com/office/drawing/2014/main" id="{D4792DF4-346E-40B8-A7FA-57474026DE8A}"/>
              </a:ext>
            </a:extLst>
          </p:cNvPr>
          <p:cNvSpPr>
            <a:spLocks/>
          </p:cNvSpPr>
          <p:nvPr/>
        </p:nvSpPr>
        <p:spPr bwMode="auto">
          <a:xfrm>
            <a:off x="1676400" y="4419600"/>
            <a:ext cx="3810000" cy="685800"/>
          </a:xfrm>
          <a:custGeom>
            <a:avLst/>
            <a:gdLst>
              <a:gd name="T0" fmla="*/ 2147483646 w 2400"/>
              <a:gd name="T1" fmla="*/ 0 h 432"/>
              <a:gd name="T2" fmla="*/ 2147483646 w 2400"/>
              <a:gd name="T3" fmla="*/ 2147483646 h 432"/>
              <a:gd name="T4" fmla="*/ 2147483646 w 2400"/>
              <a:gd name="T5" fmla="*/ 2147483646 h 432"/>
              <a:gd name="T6" fmla="*/ 2147483646 w 2400"/>
              <a:gd name="T7" fmla="*/ 2147483646 h 432"/>
              <a:gd name="T8" fmla="*/ 0 w 2400"/>
              <a:gd name="T9" fmla="*/ 2147483646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432"/>
              <a:gd name="T17" fmla="*/ 2400 w 2400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432">
                <a:moveTo>
                  <a:pt x="2400" y="0"/>
                </a:moveTo>
                <a:cubicBezTo>
                  <a:pt x="2308" y="54"/>
                  <a:pt x="2133" y="283"/>
                  <a:pt x="1847" y="324"/>
                </a:cubicBezTo>
                <a:cubicBezTo>
                  <a:pt x="1561" y="365"/>
                  <a:pt x="955" y="251"/>
                  <a:pt x="681" y="249"/>
                </a:cubicBezTo>
                <a:cubicBezTo>
                  <a:pt x="407" y="247"/>
                  <a:pt x="318" y="281"/>
                  <a:pt x="204" y="312"/>
                </a:cubicBezTo>
                <a:cubicBezTo>
                  <a:pt x="90" y="343"/>
                  <a:pt x="43" y="407"/>
                  <a:pt x="0" y="43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2" name="Text Box 19">
            <a:extLst>
              <a:ext uri="{FF2B5EF4-FFF2-40B4-BE49-F238E27FC236}">
                <a16:creationId xmlns:a16="http://schemas.microsoft.com/office/drawing/2014/main" id="{DA9752B1-CC94-4F7B-A9AF-3BED3569D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19112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64" name="Freeform 26">
            <a:extLst>
              <a:ext uri="{FF2B5EF4-FFF2-40B4-BE49-F238E27FC236}">
                <a16:creationId xmlns:a16="http://schemas.microsoft.com/office/drawing/2014/main" id="{5B4D5CEE-7BFD-4F11-B674-075318EAEAA1}"/>
              </a:ext>
            </a:extLst>
          </p:cNvPr>
          <p:cNvSpPr>
            <a:spLocks/>
          </p:cNvSpPr>
          <p:nvPr/>
        </p:nvSpPr>
        <p:spPr bwMode="auto">
          <a:xfrm>
            <a:off x="763588" y="2755900"/>
            <a:ext cx="2889250" cy="560388"/>
          </a:xfrm>
          <a:custGeom>
            <a:avLst/>
            <a:gdLst>
              <a:gd name="T0" fmla="*/ 0 w 1820"/>
              <a:gd name="T1" fmla="*/ 0 h 353"/>
              <a:gd name="T2" fmla="*/ 2147483646 w 1820"/>
              <a:gd name="T3" fmla="*/ 2147483646 h 353"/>
              <a:gd name="T4" fmla="*/ 2147483646 w 1820"/>
              <a:gd name="T5" fmla="*/ 2147483646 h 353"/>
              <a:gd name="T6" fmla="*/ 2147483646 w 1820"/>
              <a:gd name="T7" fmla="*/ 2147483646 h 353"/>
              <a:gd name="T8" fmla="*/ 2147483646 w 1820"/>
              <a:gd name="T9" fmla="*/ 2147483646 h 3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0"/>
              <a:gd name="T16" fmla="*/ 0 h 353"/>
              <a:gd name="T17" fmla="*/ 1820 w 1820"/>
              <a:gd name="T18" fmla="*/ 353 h 3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0" h="353">
                <a:moveTo>
                  <a:pt x="0" y="0"/>
                </a:moveTo>
                <a:cubicBezTo>
                  <a:pt x="71" y="94"/>
                  <a:pt x="141" y="183"/>
                  <a:pt x="328" y="239"/>
                </a:cubicBezTo>
                <a:cubicBezTo>
                  <a:pt x="515" y="295"/>
                  <a:pt x="891" y="321"/>
                  <a:pt x="1121" y="334"/>
                </a:cubicBezTo>
                <a:cubicBezTo>
                  <a:pt x="1351" y="347"/>
                  <a:pt x="1592" y="353"/>
                  <a:pt x="1706" y="316"/>
                </a:cubicBezTo>
                <a:cubicBezTo>
                  <a:pt x="1820" y="279"/>
                  <a:pt x="1785" y="152"/>
                  <a:pt x="1805" y="10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5" name="Freeform 28">
            <a:extLst>
              <a:ext uri="{FF2B5EF4-FFF2-40B4-BE49-F238E27FC236}">
                <a16:creationId xmlns:a16="http://schemas.microsoft.com/office/drawing/2014/main" id="{D7E59B6E-3541-42B6-B4FC-650EFEF9332F}"/>
              </a:ext>
            </a:extLst>
          </p:cNvPr>
          <p:cNvSpPr>
            <a:spLocks/>
          </p:cNvSpPr>
          <p:nvPr/>
        </p:nvSpPr>
        <p:spPr bwMode="auto">
          <a:xfrm>
            <a:off x="1371600" y="2819400"/>
            <a:ext cx="2171700" cy="387350"/>
          </a:xfrm>
          <a:custGeom>
            <a:avLst/>
            <a:gdLst>
              <a:gd name="T0" fmla="*/ 0 w 1368"/>
              <a:gd name="T1" fmla="*/ 0 h 244"/>
              <a:gd name="T2" fmla="*/ 2147483646 w 1368"/>
              <a:gd name="T3" fmla="*/ 2147483646 h 244"/>
              <a:gd name="T4" fmla="*/ 2147483646 w 1368"/>
              <a:gd name="T5" fmla="*/ 2147483646 h 244"/>
              <a:gd name="T6" fmla="*/ 2147483646 w 1368"/>
              <a:gd name="T7" fmla="*/ 2147483646 h 244"/>
              <a:gd name="T8" fmla="*/ 2147483646 w 1368"/>
              <a:gd name="T9" fmla="*/ 2147483646 h 2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8"/>
              <a:gd name="T16" fmla="*/ 0 h 244"/>
              <a:gd name="T17" fmla="*/ 1368 w 1368"/>
              <a:gd name="T18" fmla="*/ 244 h 2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8" h="244">
                <a:moveTo>
                  <a:pt x="0" y="0"/>
                </a:moveTo>
                <a:cubicBezTo>
                  <a:pt x="56" y="69"/>
                  <a:pt x="111" y="138"/>
                  <a:pt x="257" y="175"/>
                </a:cubicBezTo>
                <a:cubicBezTo>
                  <a:pt x="402" y="211"/>
                  <a:pt x="702" y="211"/>
                  <a:pt x="873" y="218"/>
                </a:cubicBezTo>
                <a:cubicBezTo>
                  <a:pt x="1044" y="225"/>
                  <a:pt x="1201" y="244"/>
                  <a:pt x="1283" y="218"/>
                </a:cubicBezTo>
                <a:cubicBezTo>
                  <a:pt x="1365" y="192"/>
                  <a:pt x="1350" y="93"/>
                  <a:pt x="1368" y="6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6" name="Freeform 29">
            <a:extLst>
              <a:ext uri="{FF2B5EF4-FFF2-40B4-BE49-F238E27FC236}">
                <a16:creationId xmlns:a16="http://schemas.microsoft.com/office/drawing/2014/main" id="{7D2F1ED4-ECAA-42F3-8B37-D16192BC2035}"/>
              </a:ext>
            </a:extLst>
          </p:cNvPr>
          <p:cNvSpPr>
            <a:spLocks/>
          </p:cNvSpPr>
          <p:nvPr/>
        </p:nvSpPr>
        <p:spPr bwMode="auto">
          <a:xfrm>
            <a:off x="923925" y="3657600"/>
            <a:ext cx="4319588" cy="471488"/>
          </a:xfrm>
          <a:custGeom>
            <a:avLst/>
            <a:gdLst>
              <a:gd name="T0" fmla="*/ 0 w 2721"/>
              <a:gd name="T1" fmla="*/ 0 h 297"/>
              <a:gd name="T2" fmla="*/ 2147483646 w 2721"/>
              <a:gd name="T3" fmla="*/ 2147483646 h 297"/>
              <a:gd name="T4" fmla="*/ 2147483646 w 2721"/>
              <a:gd name="T5" fmla="*/ 2147483646 h 297"/>
              <a:gd name="T6" fmla="*/ 2147483646 w 2721"/>
              <a:gd name="T7" fmla="*/ 2147483646 h 297"/>
              <a:gd name="T8" fmla="*/ 2147483646 w 2721"/>
              <a:gd name="T9" fmla="*/ 2147483646 h 2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1"/>
              <a:gd name="T16" fmla="*/ 0 h 297"/>
              <a:gd name="T17" fmla="*/ 2721 w 2721"/>
              <a:gd name="T18" fmla="*/ 297 h 2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1" h="297">
                <a:moveTo>
                  <a:pt x="0" y="0"/>
                </a:moveTo>
                <a:cubicBezTo>
                  <a:pt x="108" y="83"/>
                  <a:pt x="215" y="166"/>
                  <a:pt x="497" y="209"/>
                </a:cubicBezTo>
                <a:cubicBezTo>
                  <a:pt x="778" y="253"/>
                  <a:pt x="1358" y="253"/>
                  <a:pt x="1689" y="262"/>
                </a:cubicBezTo>
                <a:cubicBezTo>
                  <a:pt x="2020" y="271"/>
                  <a:pt x="2311" y="297"/>
                  <a:pt x="2483" y="262"/>
                </a:cubicBezTo>
                <a:cubicBezTo>
                  <a:pt x="2655" y="227"/>
                  <a:pt x="2672" y="97"/>
                  <a:pt x="2721" y="5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7" name="Freeform 30">
            <a:extLst>
              <a:ext uri="{FF2B5EF4-FFF2-40B4-BE49-F238E27FC236}">
                <a16:creationId xmlns:a16="http://schemas.microsoft.com/office/drawing/2014/main" id="{7C194C1D-9BCF-4331-9BBD-C398E1A39E9A}"/>
              </a:ext>
            </a:extLst>
          </p:cNvPr>
          <p:cNvSpPr>
            <a:spLocks/>
          </p:cNvSpPr>
          <p:nvPr/>
        </p:nvSpPr>
        <p:spPr bwMode="auto">
          <a:xfrm>
            <a:off x="4876800" y="5400675"/>
            <a:ext cx="1624013" cy="619125"/>
          </a:xfrm>
          <a:custGeom>
            <a:avLst/>
            <a:gdLst>
              <a:gd name="T0" fmla="*/ 2147483646 w 1023"/>
              <a:gd name="T1" fmla="*/ 0 h 390"/>
              <a:gd name="T2" fmla="*/ 2147483646 w 1023"/>
              <a:gd name="T3" fmla="*/ 2147483646 h 390"/>
              <a:gd name="T4" fmla="*/ 2147483646 w 1023"/>
              <a:gd name="T5" fmla="*/ 2147483646 h 390"/>
              <a:gd name="T6" fmla="*/ 2147483646 w 1023"/>
              <a:gd name="T7" fmla="*/ 2147483646 h 390"/>
              <a:gd name="T8" fmla="*/ 0 w 1023"/>
              <a:gd name="T9" fmla="*/ 2147483646 h 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390"/>
              <a:gd name="T17" fmla="*/ 1023 w 1023"/>
              <a:gd name="T18" fmla="*/ 390 h 3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390">
                <a:moveTo>
                  <a:pt x="1023" y="0"/>
                </a:moveTo>
                <a:cubicBezTo>
                  <a:pt x="985" y="42"/>
                  <a:pt x="915" y="206"/>
                  <a:pt x="798" y="252"/>
                </a:cubicBezTo>
                <a:cubicBezTo>
                  <a:pt x="681" y="298"/>
                  <a:pt x="436" y="275"/>
                  <a:pt x="321" y="279"/>
                </a:cubicBezTo>
                <a:cubicBezTo>
                  <a:pt x="206" y="283"/>
                  <a:pt x="158" y="261"/>
                  <a:pt x="105" y="279"/>
                </a:cubicBezTo>
                <a:cubicBezTo>
                  <a:pt x="52" y="297"/>
                  <a:pt x="22" y="367"/>
                  <a:pt x="0" y="39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8" name="Freeform 40">
            <a:extLst>
              <a:ext uri="{FF2B5EF4-FFF2-40B4-BE49-F238E27FC236}">
                <a16:creationId xmlns:a16="http://schemas.microsoft.com/office/drawing/2014/main" id="{F4902B0E-2A4E-4F86-8525-CF3A6F6F1ED8}"/>
              </a:ext>
            </a:extLst>
          </p:cNvPr>
          <p:cNvSpPr>
            <a:spLocks/>
          </p:cNvSpPr>
          <p:nvPr/>
        </p:nvSpPr>
        <p:spPr bwMode="auto">
          <a:xfrm>
            <a:off x="1981200" y="5334000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9" name="Freeform 42">
            <a:extLst>
              <a:ext uri="{FF2B5EF4-FFF2-40B4-BE49-F238E27FC236}">
                <a16:creationId xmlns:a16="http://schemas.microsoft.com/office/drawing/2014/main" id="{BD7509E4-0F8C-44BE-A77A-0117168A1612}"/>
              </a:ext>
            </a:extLst>
          </p:cNvPr>
          <p:cNvSpPr>
            <a:spLocks/>
          </p:cNvSpPr>
          <p:nvPr/>
        </p:nvSpPr>
        <p:spPr bwMode="auto">
          <a:xfrm>
            <a:off x="3733800" y="2819400"/>
            <a:ext cx="1447800" cy="609600"/>
          </a:xfrm>
          <a:custGeom>
            <a:avLst/>
            <a:gdLst>
              <a:gd name="T0" fmla="*/ 0 w 672"/>
              <a:gd name="T1" fmla="*/ 0 h 336"/>
              <a:gd name="T2" fmla="*/ 2147483646 w 672"/>
              <a:gd name="T3" fmla="*/ 2147483646 h 336"/>
              <a:gd name="T4" fmla="*/ 2147483646 w 672"/>
              <a:gd name="T5" fmla="*/ 2147483646 h 336"/>
              <a:gd name="T6" fmla="*/ 2147483646 w 672"/>
              <a:gd name="T7" fmla="*/ 2147483646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336"/>
              <a:gd name="T14" fmla="*/ 672 w 67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336">
                <a:moveTo>
                  <a:pt x="0" y="0"/>
                </a:moveTo>
                <a:cubicBezTo>
                  <a:pt x="24" y="60"/>
                  <a:pt x="48" y="120"/>
                  <a:pt x="144" y="144"/>
                </a:cubicBezTo>
                <a:cubicBezTo>
                  <a:pt x="240" y="168"/>
                  <a:pt x="488" y="112"/>
                  <a:pt x="576" y="144"/>
                </a:cubicBezTo>
                <a:cubicBezTo>
                  <a:pt x="664" y="176"/>
                  <a:pt x="668" y="256"/>
                  <a:pt x="672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0" name="Freeform 43">
            <a:extLst>
              <a:ext uri="{FF2B5EF4-FFF2-40B4-BE49-F238E27FC236}">
                <a16:creationId xmlns:a16="http://schemas.microsoft.com/office/drawing/2014/main" id="{715B6E09-2AB2-46BB-84BD-968E061679A6}"/>
              </a:ext>
            </a:extLst>
          </p:cNvPr>
          <p:cNvSpPr>
            <a:spLocks/>
          </p:cNvSpPr>
          <p:nvPr/>
        </p:nvSpPr>
        <p:spPr bwMode="auto">
          <a:xfrm>
            <a:off x="4271963" y="5429250"/>
            <a:ext cx="1971675" cy="247650"/>
          </a:xfrm>
          <a:custGeom>
            <a:avLst/>
            <a:gdLst>
              <a:gd name="T0" fmla="*/ 0 w 1242"/>
              <a:gd name="T1" fmla="*/ 0 h 156"/>
              <a:gd name="T2" fmla="*/ 2147483646 w 1242"/>
              <a:gd name="T3" fmla="*/ 2147483646 h 156"/>
              <a:gd name="T4" fmla="*/ 2147483646 w 1242"/>
              <a:gd name="T5" fmla="*/ 2147483646 h 156"/>
              <a:gd name="T6" fmla="*/ 2147483646 w 1242"/>
              <a:gd name="T7" fmla="*/ 2147483646 h 156"/>
              <a:gd name="T8" fmla="*/ 2147483646 w 1242"/>
              <a:gd name="T9" fmla="*/ 2147483646 h 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2"/>
              <a:gd name="T16" fmla="*/ 0 h 156"/>
              <a:gd name="T17" fmla="*/ 1242 w 1242"/>
              <a:gd name="T18" fmla="*/ 156 h 1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2" h="156">
                <a:moveTo>
                  <a:pt x="0" y="0"/>
                </a:moveTo>
                <a:cubicBezTo>
                  <a:pt x="42" y="22"/>
                  <a:pt x="123" y="102"/>
                  <a:pt x="252" y="126"/>
                </a:cubicBezTo>
                <a:cubicBezTo>
                  <a:pt x="381" y="150"/>
                  <a:pt x="627" y="142"/>
                  <a:pt x="774" y="144"/>
                </a:cubicBezTo>
                <a:cubicBezTo>
                  <a:pt x="921" y="146"/>
                  <a:pt x="1056" y="156"/>
                  <a:pt x="1134" y="135"/>
                </a:cubicBezTo>
                <a:cubicBezTo>
                  <a:pt x="1212" y="114"/>
                  <a:pt x="1219" y="43"/>
                  <a:pt x="1242" y="18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1" name="Freeform 44">
            <a:extLst>
              <a:ext uri="{FF2B5EF4-FFF2-40B4-BE49-F238E27FC236}">
                <a16:creationId xmlns:a16="http://schemas.microsoft.com/office/drawing/2014/main" id="{87A42236-10F6-407A-9C10-E40E7B188AF1}"/>
              </a:ext>
            </a:extLst>
          </p:cNvPr>
          <p:cNvSpPr>
            <a:spLocks/>
          </p:cNvSpPr>
          <p:nvPr/>
        </p:nvSpPr>
        <p:spPr bwMode="auto">
          <a:xfrm>
            <a:off x="5562600" y="6248400"/>
            <a:ext cx="2438400" cy="3746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2" name="Text Box 45">
            <a:extLst>
              <a:ext uri="{FF2B5EF4-FFF2-40B4-BE49-F238E27FC236}">
                <a16:creationId xmlns:a16="http://schemas.microsoft.com/office/drawing/2014/main" id="{DAB9E7BC-A807-41B5-8C81-25E3F5C93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627697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8573" name="Text Box 46">
            <a:extLst>
              <a:ext uri="{FF2B5EF4-FFF2-40B4-BE49-F238E27FC236}">
                <a16:creationId xmlns:a16="http://schemas.microsoft.com/office/drawing/2014/main" id="{933C7D31-3C2C-40CC-8571-6B644BBAF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4102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8574" name="Text Box 47">
            <a:extLst>
              <a:ext uri="{FF2B5EF4-FFF2-40B4-BE49-F238E27FC236}">
                <a16:creationId xmlns:a16="http://schemas.microsoft.com/office/drawing/2014/main" id="{1B44E22E-ABC8-432D-90A9-6A959CBF6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788" y="518160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75" name="Text Box 48">
            <a:extLst>
              <a:ext uri="{FF2B5EF4-FFF2-40B4-BE49-F238E27FC236}">
                <a16:creationId xmlns:a16="http://schemas.microsoft.com/office/drawing/2014/main" id="{0B59FE0C-3800-4129-82C7-206975230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475" y="411480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08576" name="Freeform 49">
            <a:extLst>
              <a:ext uri="{FF2B5EF4-FFF2-40B4-BE49-F238E27FC236}">
                <a16:creationId xmlns:a16="http://schemas.microsoft.com/office/drawing/2014/main" id="{56BBB603-B5BA-4AD4-86CF-7EA63CF3F56D}"/>
              </a:ext>
            </a:extLst>
          </p:cNvPr>
          <p:cNvSpPr>
            <a:spLocks/>
          </p:cNvSpPr>
          <p:nvPr/>
        </p:nvSpPr>
        <p:spPr bwMode="auto">
          <a:xfrm>
            <a:off x="3505200" y="4397375"/>
            <a:ext cx="1724025" cy="25082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A53D0AB-3043-4B8E-8C4E-E266A5125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</a:p>
        </p:txBody>
      </p:sp>
      <p:sp>
        <p:nvSpPr>
          <p:cNvPr id="109571" name="Text Box 3">
            <a:extLst>
              <a:ext uri="{FF2B5EF4-FFF2-40B4-BE49-F238E27FC236}">
                <a16:creationId xmlns:a16="http://schemas.microsoft.com/office/drawing/2014/main" id="{796EF5DB-CB4A-4236-95AB-167069999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09572" name="Text Box 4">
            <a:extLst>
              <a:ext uri="{FF2B5EF4-FFF2-40B4-BE49-F238E27FC236}">
                <a16:creationId xmlns:a16="http://schemas.microsoft.com/office/drawing/2014/main" id="{48A5B030-0BC1-48BE-A8ED-F431ECEA5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09573" name="Text Box 5">
            <a:extLst>
              <a:ext uri="{FF2B5EF4-FFF2-40B4-BE49-F238E27FC236}">
                <a16:creationId xmlns:a16="http://schemas.microsoft.com/office/drawing/2014/main" id="{C03E4608-05DA-43E9-9D6C-AA6EACB43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71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09574" name="Text Box 6">
            <a:extLst>
              <a:ext uri="{FF2B5EF4-FFF2-40B4-BE49-F238E27FC236}">
                <a16:creationId xmlns:a16="http://schemas.microsoft.com/office/drawing/2014/main" id="{42A24F6E-2D75-4C77-B386-8897726F7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814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09575" name="Text Box 7">
            <a:extLst>
              <a:ext uri="{FF2B5EF4-FFF2-40B4-BE49-F238E27FC236}">
                <a16:creationId xmlns:a16="http://schemas.microsoft.com/office/drawing/2014/main" id="{487C6A36-847E-43A5-B614-3DCB42A30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09576" name="Text Box 8">
            <a:extLst>
              <a:ext uri="{FF2B5EF4-FFF2-40B4-BE49-F238E27FC236}">
                <a16:creationId xmlns:a16="http://schemas.microsoft.com/office/drawing/2014/main" id="{87B3BEE7-F8DC-4D39-90D9-5AE2313BE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9530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09577" name="Text Box 9">
            <a:extLst>
              <a:ext uri="{FF2B5EF4-FFF2-40B4-BE49-F238E27FC236}">
                <a16:creationId xmlns:a16="http://schemas.microsoft.com/office/drawing/2014/main" id="{4A955106-8CE2-4955-8F47-B516A4C16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8768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09578" name="Text Box 10">
            <a:extLst>
              <a:ext uri="{FF2B5EF4-FFF2-40B4-BE49-F238E27FC236}">
                <a16:creationId xmlns:a16="http://schemas.microsoft.com/office/drawing/2014/main" id="{20AB6811-F0AC-482F-A7BE-CBEB7E181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</a:p>
        </p:txBody>
      </p:sp>
      <p:sp>
        <p:nvSpPr>
          <p:cNvPr id="109580" name="Text Box 32">
            <a:extLst>
              <a:ext uri="{FF2B5EF4-FFF2-40B4-BE49-F238E27FC236}">
                <a16:creationId xmlns:a16="http://schemas.microsoft.com/office/drawing/2014/main" id="{57C9E2A3-00F3-4DDC-8B5F-062C5F1E1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38288"/>
            <a:ext cx="2971800" cy="4826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E</a:t>
            </a:r>
            <a:r>
              <a:rPr kumimoji="0" lang="en-US" altLang="zh-CN" sz="2400" b="1">
                <a:solidFill>
                  <a:srgbClr val="FF00FF"/>
                </a:solidFill>
              </a:rPr>
              <a:t>) = { </a:t>
            </a:r>
            <a:r>
              <a:rPr kumimoji="0" lang="en-US" altLang="zh-CN" sz="2400" b="1">
                <a:solidFill>
                  <a:schemeClr val="accent2"/>
                </a:solidFill>
              </a:rPr>
              <a:t>) , $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</a:p>
        </p:txBody>
      </p:sp>
      <p:sp>
        <p:nvSpPr>
          <p:cNvPr id="109581" name="Freeform 33">
            <a:extLst>
              <a:ext uri="{FF2B5EF4-FFF2-40B4-BE49-F238E27FC236}">
                <a16:creationId xmlns:a16="http://schemas.microsoft.com/office/drawing/2014/main" id="{816E8433-2708-402E-867A-654E0994ECEC}"/>
              </a:ext>
            </a:extLst>
          </p:cNvPr>
          <p:cNvSpPr>
            <a:spLocks/>
          </p:cNvSpPr>
          <p:nvPr/>
        </p:nvSpPr>
        <p:spPr bwMode="auto">
          <a:xfrm>
            <a:off x="3733800" y="2438400"/>
            <a:ext cx="200025" cy="74613"/>
          </a:xfrm>
          <a:custGeom>
            <a:avLst/>
            <a:gdLst>
              <a:gd name="T0" fmla="*/ 0 w 96"/>
              <a:gd name="T1" fmla="*/ 2147483646 h 48"/>
              <a:gd name="T2" fmla="*/ 2147483646 w 96"/>
              <a:gd name="T3" fmla="*/ 0 h 48"/>
              <a:gd name="T4" fmla="*/ 2147483646 w 96"/>
              <a:gd name="T5" fmla="*/ 2147483646 h 48"/>
              <a:gd name="T6" fmla="*/ 0 60000 65536"/>
              <a:gd name="T7" fmla="*/ 0 60000 65536"/>
              <a:gd name="T8" fmla="*/ 0 60000 65536"/>
              <a:gd name="T9" fmla="*/ 0 w 96"/>
              <a:gd name="T10" fmla="*/ 0 h 48"/>
              <a:gd name="T11" fmla="*/ 96 w 9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24"/>
                  <a:pt x="96" y="48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2" name="Freeform 34">
            <a:extLst>
              <a:ext uri="{FF2B5EF4-FFF2-40B4-BE49-F238E27FC236}">
                <a16:creationId xmlns:a16="http://schemas.microsoft.com/office/drawing/2014/main" id="{150EEAB2-3E7B-4292-8A51-7C8EED842676}"/>
              </a:ext>
            </a:extLst>
          </p:cNvPr>
          <p:cNvSpPr>
            <a:spLocks/>
          </p:cNvSpPr>
          <p:nvPr/>
        </p:nvSpPr>
        <p:spPr bwMode="auto">
          <a:xfrm>
            <a:off x="222250" y="2819400"/>
            <a:ext cx="7823200" cy="2819400"/>
          </a:xfrm>
          <a:custGeom>
            <a:avLst/>
            <a:gdLst>
              <a:gd name="T0" fmla="*/ 2147483646 w 4928"/>
              <a:gd name="T1" fmla="*/ 0 h 2336"/>
              <a:gd name="T2" fmla="*/ 2147483646 w 4928"/>
              <a:gd name="T3" fmla="*/ 2147483646 h 2336"/>
              <a:gd name="T4" fmla="*/ 2147483646 w 4928"/>
              <a:gd name="T5" fmla="*/ 2147483646 h 2336"/>
              <a:gd name="T6" fmla="*/ 2147483646 w 4928"/>
              <a:gd name="T7" fmla="*/ 2147483646 h 2336"/>
              <a:gd name="T8" fmla="*/ 2147483646 w 4928"/>
              <a:gd name="T9" fmla="*/ 2147483646 h 2336"/>
              <a:gd name="T10" fmla="*/ 2147483646 w 4928"/>
              <a:gd name="T11" fmla="*/ 2147483646 h 2336"/>
              <a:gd name="T12" fmla="*/ 2147483646 w 4928"/>
              <a:gd name="T13" fmla="*/ 2147483646 h 2336"/>
              <a:gd name="T14" fmla="*/ 2147483646 w 4928"/>
              <a:gd name="T15" fmla="*/ 2147483646 h 2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928"/>
              <a:gd name="T25" fmla="*/ 0 h 2336"/>
              <a:gd name="T26" fmla="*/ 4928 w 4928"/>
              <a:gd name="T27" fmla="*/ 2336 h 2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928" h="2336">
                <a:moveTo>
                  <a:pt x="347" y="0"/>
                </a:moveTo>
                <a:cubicBezTo>
                  <a:pt x="240" y="82"/>
                  <a:pt x="133" y="163"/>
                  <a:pt x="90" y="267"/>
                </a:cubicBezTo>
                <a:cubicBezTo>
                  <a:pt x="47" y="371"/>
                  <a:pt x="91" y="338"/>
                  <a:pt x="90" y="624"/>
                </a:cubicBezTo>
                <a:cubicBezTo>
                  <a:pt x="89" y="910"/>
                  <a:pt x="0" y="1710"/>
                  <a:pt x="85" y="1986"/>
                </a:cubicBezTo>
                <a:cubicBezTo>
                  <a:pt x="170" y="2262"/>
                  <a:pt x="73" y="2230"/>
                  <a:pt x="598" y="2283"/>
                </a:cubicBezTo>
                <a:cubicBezTo>
                  <a:pt x="1123" y="2336"/>
                  <a:pt x="2560" y="2300"/>
                  <a:pt x="3235" y="2301"/>
                </a:cubicBezTo>
                <a:cubicBezTo>
                  <a:pt x="3910" y="2302"/>
                  <a:pt x="4368" y="2316"/>
                  <a:pt x="4648" y="2292"/>
                </a:cubicBezTo>
                <a:cubicBezTo>
                  <a:pt x="4928" y="2268"/>
                  <a:pt x="4862" y="2185"/>
                  <a:pt x="4918" y="2157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CF6A787-C679-463D-A4BB-603B762DD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</a:p>
        </p:txBody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0309FF49-018A-4BC6-AA81-1F08E8492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AA44FB18-96AB-42AA-BC41-779432A90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10597" name="Text Box 5">
            <a:extLst>
              <a:ext uri="{FF2B5EF4-FFF2-40B4-BE49-F238E27FC236}">
                <a16:creationId xmlns:a16="http://schemas.microsoft.com/office/drawing/2014/main" id="{73BE2533-BE82-4385-B5E6-0B5CAE51E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8608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B7753A1B-A07E-4BA6-B3F6-F49837918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814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10599" name="Text Box 7">
            <a:extLst>
              <a:ext uri="{FF2B5EF4-FFF2-40B4-BE49-F238E27FC236}">
                <a16:creationId xmlns:a16="http://schemas.microsoft.com/office/drawing/2014/main" id="{794C5965-9841-4806-99EE-0D771175D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10600" name="Text Box 8">
            <a:extLst>
              <a:ext uri="{FF2B5EF4-FFF2-40B4-BE49-F238E27FC236}">
                <a16:creationId xmlns:a16="http://schemas.microsoft.com/office/drawing/2014/main" id="{FD1C3D71-2F8B-404D-A45C-3E762FFFF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768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0601" name="Text Box 9">
            <a:extLst>
              <a:ext uri="{FF2B5EF4-FFF2-40B4-BE49-F238E27FC236}">
                <a16:creationId xmlns:a16="http://schemas.microsoft.com/office/drawing/2014/main" id="{9ACEECA0-A5E7-40C7-9EB3-F64676B30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8006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10602" name="Text Box 10">
            <a:extLst>
              <a:ext uri="{FF2B5EF4-FFF2-40B4-BE49-F238E27FC236}">
                <a16:creationId xmlns:a16="http://schemas.microsoft.com/office/drawing/2014/main" id="{81CB4BA5-7349-481A-9543-75A357CF7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</a:p>
        </p:txBody>
      </p:sp>
      <p:sp>
        <p:nvSpPr>
          <p:cNvPr id="110604" name="Text Box 12">
            <a:extLst>
              <a:ext uri="{FF2B5EF4-FFF2-40B4-BE49-F238E27FC236}">
                <a16:creationId xmlns:a16="http://schemas.microsoft.com/office/drawing/2014/main" id="{587785A8-D72B-470B-AFF6-64731BFD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38288"/>
            <a:ext cx="3200400" cy="4826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T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 , ) , $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</a:p>
        </p:txBody>
      </p:sp>
      <p:sp>
        <p:nvSpPr>
          <p:cNvPr id="110605" name="Freeform 14">
            <a:extLst>
              <a:ext uri="{FF2B5EF4-FFF2-40B4-BE49-F238E27FC236}">
                <a16:creationId xmlns:a16="http://schemas.microsoft.com/office/drawing/2014/main" id="{6D8395B7-C082-4F33-8CD0-AF518879312C}"/>
              </a:ext>
            </a:extLst>
          </p:cNvPr>
          <p:cNvSpPr>
            <a:spLocks/>
          </p:cNvSpPr>
          <p:nvPr/>
        </p:nvSpPr>
        <p:spPr bwMode="auto">
          <a:xfrm>
            <a:off x="219075" y="2282825"/>
            <a:ext cx="7826375" cy="3279775"/>
          </a:xfrm>
          <a:custGeom>
            <a:avLst/>
            <a:gdLst>
              <a:gd name="T0" fmla="*/ 2147483646 w 4930"/>
              <a:gd name="T1" fmla="*/ 2147483646 h 2674"/>
              <a:gd name="T2" fmla="*/ 2147483646 w 4930"/>
              <a:gd name="T3" fmla="*/ 2147483646 h 2674"/>
              <a:gd name="T4" fmla="*/ 2147483646 w 4930"/>
              <a:gd name="T5" fmla="*/ 2147483646 h 2674"/>
              <a:gd name="T6" fmla="*/ 2147483646 w 4930"/>
              <a:gd name="T7" fmla="*/ 2147483646 h 2674"/>
              <a:gd name="T8" fmla="*/ 2147483646 w 4930"/>
              <a:gd name="T9" fmla="*/ 2147483646 h 2674"/>
              <a:gd name="T10" fmla="*/ 2147483646 w 4930"/>
              <a:gd name="T11" fmla="*/ 2147483646 h 2674"/>
              <a:gd name="T12" fmla="*/ 2147483646 w 4930"/>
              <a:gd name="T13" fmla="*/ 2147483646 h 2674"/>
              <a:gd name="T14" fmla="*/ 2147483646 w 4930"/>
              <a:gd name="T15" fmla="*/ 2147483646 h 267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930"/>
              <a:gd name="T25" fmla="*/ 0 h 2674"/>
              <a:gd name="T26" fmla="*/ 4930 w 4930"/>
              <a:gd name="T27" fmla="*/ 2674 h 267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930" h="2674">
                <a:moveTo>
                  <a:pt x="735" y="146"/>
                </a:moveTo>
                <a:cubicBezTo>
                  <a:pt x="684" y="130"/>
                  <a:pt x="538" y="10"/>
                  <a:pt x="429" y="47"/>
                </a:cubicBezTo>
                <a:cubicBezTo>
                  <a:pt x="320" y="84"/>
                  <a:pt x="135" y="0"/>
                  <a:pt x="78" y="371"/>
                </a:cubicBezTo>
                <a:cubicBezTo>
                  <a:pt x="21" y="742"/>
                  <a:pt x="0" y="1900"/>
                  <a:pt x="87" y="2274"/>
                </a:cubicBezTo>
                <a:cubicBezTo>
                  <a:pt x="174" y="2648"/>
                  <a:pt x="75" y="2553"/>
                  <a:pt x="600" y="2613"/>
                </a:cubicBezTo>
                <a:cubicBezTo>
                  <a:pt x="1125" y="2674"/>
                  <a:pt x="2562" y="2633"/>
                  <a:pt x="3237" y="2634"/>
                </a:cubicBezTo>
                <a:cubicBezTo>
                  <a:pt x="3912" y="2635"/>
                  <a:pt x="4370" y="2651"/>
                  <a:pt x="4650" y="2624"/>
                </a:cubicBezTo>
                <a:cubicBezTo>
                  <a:pt x="4930" y="2596"/>
                  <a:pt x="4864" y="2501"/>
                  <a:pt x="4920" y="2469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6" name="Freeform 15">
            <a:extLst>
              <a:ext uri="{FF2B5EF4-FFF2-40B4-BE49-F238E27FC236}">
                <a16:creationId xmlns:a16="http://schemas.microsoft.com/office/drawing/2014/main" id="{6C23A632-F58C-46B7-8AE2-8F9ABCF77DB9}"/>
              </a:ext>
            </a:extLst>
          </p:cNvPr>
          <p:cNvSpPr>
            <a:spLocks/>
          </p:cNvSpPr>
          <p:nvPr/>
        </p:nvSpPr>
        <p:spPr bwMode="auto">
          <a:xfrm>
            <a:off x="457200" y="2971800"/>
            <a:ext cx="2828925" cy="685800"/>
          </a:xfrm>
          <a:custGeom>
            <a:avLst/>
            <a:gdLst>
              <a:gd name="T0" fmla="*/ 2147483646 w 1782"/>
              <a:gd name="T1" fmla="*/ 2147483646 h 555"/>
              <a:gd name="T2" fmla="*/ 2147483646 w 1782"/>
              <a:gd name="T3" fmla="*/ 2147483646 h 555"/>
              <a:gd name="T4" fmla="*/ 2147483646 w 1782"/>
              <a:gd name="T5" fmla="*/ 2147483646 h 555"/>
              <a:gd name="T6" fmla="*/ 2147483646 w 1782"/>
              <a:gd name="T7" fmla="*/ 2147483646 h 555"/>
              <a:gd name="T8" fmla="*/ 2147483646 w 1782"/>
              <a:gd name="T9" fmla="*/ 2147483646 h 555"/>
              <a:gd name="T10" fmla="*/ 2147483646 w 1782"/>
              <a:gd name="T11" fmla="*/ 2147483646 h 555"/>
              <a:gd name="T12" fmla="*/ 2147483646 w 1782"/>
              <a:gd name="T13" fmla="*/ 2147483646 h 5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82"/>
              <a:gd name="T22" fmla="*/ 0 h 555"/>
              <a:gd name="T23" fmla="*/ 1782 w 1782"/>
              <a:gd name="T24" fmla="*/ 555 h 5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82" h="555">
                <a:moveTo>
                  <a:pt x="339" y="72"/>
                </a:moveTo>
                <a:cubicBezTo>
                  <a:pt x="270" y="36"/>
                  <a:pt x="201" y="0"/>
                  <a:pt x="148" y="24"/>
                </a:cubicBezTo>
                <a:cubicBezTo>
                  <a:pt x="95" y="48"/>
                  <a:pt x="32" y="144"/>
                  <a:pt x="21" y="216"/>
                </a:cubicBezTo>
                <a:cubicBezTo>
                  <a:pt x="11" y="288"/>
                  <a:pt x="0" y="408"/>
                  <a:pt x="85" y="456"/>
                </a:cubicBezTo>
                <a:cubicBezTo>
                  <a:pt x="170" y="504"/>
                  <a:pt x="285" y="506"/>
                  <a:pt x="530" y="504"/>
                </a:cubicBezTo>
                <a:cubicBezTo>
                  <a:pt x="775" y="502"/>
                  <a:pt x="1348" y="439"/>
                  <a:pt x="1557" y="447"/>
                </a:cubicBezTo>
                <a:cubicBezTo>
                  <a:pt x="1766" y="455"/>
                  <a:pt x="1735" y="533"/>
                  <a:pt x="1782" y="555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EC5A3921-6C13-4150-92F8-8FBA45AA1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</a:p>
        </p:txBody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9CDC9754-3150-4CC7-8B75-105435908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11620" name="Text Box 4">
            <a:extLst>
              <a:ext uri="{FF2B5EF4-FFF2-40B4-BE49-F238E27FC236}">
                <a16:creationId xmlns:a16="http://schemas.microsoft.com/office/drawing/2014/main" id="{88562C1A-F098-49CE-A041-AC144B2CE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5268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11621" name="Text Box 5">
            <a:extLst>
              <a:ext uri="{FF2B5EF4-FFF2-40B4-BE49-F238E27FC236}">
                <a16:creationId xmlns:a16="http://schemas.microsoft.com/office/drawing/2014/main" id="{A451A2B1-9551-4DB9-BB0D-E3B2D168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71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11622" name="Text Box 6">
            <a:extLst>
              <a:ext uri="{FF2B5EF4-FFF2-40B4-BE49-F238E27FC236}">
                <a16:creationId xmlns:a16="http://schemas.microsoft.com/office/drawing/2014/main" id="{02B68E22-3DCB-4B8E-ABED-3D6A29588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814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11623" name="Text Box 7">
            <a:extLst>
              <a:ext uri="{FF2B5EF4-FFF2-40B4-BE49-F238E27FC236}">
                <a16:creationId xmlns:a16="http://schemas.microsoft.com/office/drawing/2014/main" id="{289E986C-A5B9-4377-9EE1-7CBF7046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91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11624" name="Text Box 8">
            <a:extLst>
              <a:ext uri="{FF2B5EF4-FFF2-40B4-BE49-F238E27FC236}">
                <a16:creationId xmlns:a16="http://schemas.microsoft.com/office/drawing/2014/main" id="{E12546B7-E81B-4C51-A568-EF7E1A38E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1625" name="Text Box 9">
            <a:extLst>
              <a:ext uri="{FF2B5EF4-FFF2-40B4-BE49-F238E27FC236}">
                <a16:creationId xmlns:a16="http://schemas.microsoft.com/office/drawing/2014/main" id="{6E3A96FB-D403-449E-9D61-95439B94F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7244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11626" name="Text Box 10">
            <a:extLst>
              <a:ext uri="{FF2B5EF4-FFF2-40B4-BE49-F238E27FC236}">
                <a16:creationId xmlns:a16="http://schemas.microsoft.com/office/drawing/2014/main" id="{205093AA-3DDE-40A4-BD40-23B041935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</a:p>
        </p:txBody>
      </p:sp>
      <p:sp>
        <p:nvSpPr>
          <p:cNvPr id="111628" name="Text Box 12">
            <a:extLst>
              <a:ext uri="{FF2B5EF4-FFF2-40B4-BE49-F238E27FC236}">
                <a16:creationId xmlns:a16="http://schemas.microsoft.com/office/drawing/2014/main" id="{88AA9CA2-477D-4194-BD21-C2F7E910B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38288"/>
            <a:ext cx="3352800" cy="4826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F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* , + , $, )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</a:p>
        </p:txBody>
      </p:sp>
      <p:sp>
        <p:nvSpPr>
          <p:cNvPr id="111629" name="Freeform 15">
            <a:extLst>
              <a:ext uri="{FF2B5EF4-FFF2-40B4-BE49-F238E27FC236}">
                <a16:creationId xmlns:a16="http://schemas.microsoft.com/office/drawing/2014/main" id="{07FBE3C7-0623-4A03-97B5-48F74C8780D4}"/>
              </a:ext>
            </a:extLst>
          </p:cNvPr>
          <p:cNvSpPr>
            <a:spLocks/>
          </p:cNvSpPr>
          <p:nvPr/>
        </p:nvSpPr>
        <p:spPr bwMode="auto">
          <a:xfrm>
            <a:off x="2895600" y="3338513"/>
            <a:ext cx="390525" cy="319087"/>
          </a:xfrm>
          <a:custGeom>
            <a:avLst/>
            <a:gdLst>
              <a:gd name="T0" fmla="*/ 0 w 246"/>
              <a:gd name="T1" fmla="*/ 0 h 333"/>
              <a:gd name="T2" fmla="*/ 2147483646 w 246"/>
              <a:gd name="T3" fmla="*/ 2147483646 h 333"/>
              <a:gd name="T4" fmla="*/ 2147483646 w 246"/>
              <a:gd name="T5" fmla="*/ 2147483646 h 333"/>
              <a:gd name="T6" fmla="*/ 2147483646 w 246"/>
              <a:gd name="T7" fmla="*/ 2147483646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246"/>
              <a:gd name="T13" fmla="*/ 0 h 333"/>
              <a:gd name="T14" fmla="*/ 246 w 246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6" h="333">
                <a:moveTo>
                  <a:pt x="0" y="0"/>
                </a:moveTo>
                <a:cubicBezTo>
                  <a:pt x="11" y="21"/>
                  <a:pt x="32" y="93"/>
                  <a:pt x="66" y="126"/>
                </a:cubicBezTo>
                <a:cubicBezTo>
                  <a:pt x="100" y="159"/>
                  <a:pt x="171" y="164"/>
                  <a:pt x="201" y="198"/>
                </a:cubicBezTo>
                <a:cubicBezTo>
                  <a:pt x="231" y="232"/>
                  <a:pt x="237" y="305"/>
                  <a:pt x="246" y="333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0" name="Freeform 16">
            <a:extLst>
              <a:ext uri="{FF2B5EF4-FFF2-40B4-BE49-F238E27FC236}">
                <a16:creationId xmlns:a16="http://schemas.microsoft.com/office/drawing/2014/main" id="{BB654E94-1174-42E7-BE73-E3672675B372}"/>
              </a:ext>
            </a:extLst>
          </p:cNvPr>
          <p:cNvSpPr>
            <a:spLocks/>
          </p:cNvSpPr>
          <p:nvPr/>
        </p:nvSpPr>
        <p:spPr bwMode="auto">
          <a:xfrm>
            <a:off x="5486400" y="3948113"/>
            <a:ext cx="762000" cy="395287"/>
          </a:xfrm>
          <a:custGeom>
            <a:avLst/>
            <a:gdLst>
              <a:gd name="T0" fmla="*/ 0 w 246"/>
              <a:gd name="T1" fmla="*/ 0 h 333"/>
              <a:gd name="T2" fmla="*/ 2147483646 w 246"/>
              <a:gd name="T3" fmla="*/ 2147483646 h 333"/>
              <a:gd name="T4" fmla="*/ 2147483646 w 246"/>
              <a:gd name="T5" fmla="*/ 2147483646 h 333"/>
              <a:gd name="T6" fmla="*/ 2147483646 w 246"/>
              <a:gd name="T7" fmla="*/ 2147483646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246"/>
              <a:gd name="T13" fmla="*/ 0 h 333"/>
              <a:gd name="T14" fmla="*/ 246 w 246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6" h="333">
                <a:moveTo>
                  <a:pt x="0" y="0"/>
                </a:moveTo>
                <a:cubicBezTo>
                  <a:pt x="11" y="21"/>
                  <a:pt x="32" y="93"/>
                  <a:pt x="66" y="126"/>
                </a:cubicBezTo>
                <a:cubicBezTo>
                  <a:pt x="100" y="159"/>
                  <a:pt x="171" y="164"/>
                  <a:pt x="201" y="198"/>
                </a:cubicBezTo>
                <a:cubicBezTo>
                  <a:pt x="231" y="232"/>
                  <a:pt x="237" y="305"/>
                  <a:pt x="246" y="333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1" name="Freeform 17">
            <a:extLst>
              <a:ext uri="{FF2B5EF4-FFF2-40B4-BE49-F238E27FC236}">
                <a16:creationId xmlns:a16="http://schemas.microsoft.com/office/drawing/2014/main" id="{FBB7A353-0F6C-4286-8D4E-0A212638DE3B}"/>
              </a:ext>
            </a:extLst>
          </p:cNvPr>
          <p:cNvSpPr>
            <a:spLocks/>
          </p:cNvSpPr>
          <p:nvPr/>
        </p:nvSpPr>
        <p:spPr bwMode="auto">
          <a:xfrm>
            <a:off x="2209800" y="5167313"/>
            <a:ext cx="5819775" cy="395287"/>
          </a:xfrm>
          <a:custGeom>
            <a:avLst/>
            <a:gdLst>
              <a:gd name="T0" fmla="*/ 0 w 3666"/>
              <a:gd name="T1" fmla="*/ 0 h 249"/>
              <a:gd name="T2" fmla="*/ 2147483646 w 3666"/>
              <a:gd name="T3" fmla="*/ 2147483646 h 249"/>
              <a:gd name="T4" fmla="*/ 2147483646 w 3666"/>
              <a:gd name="T5" fmla="*/ 2147483646 h 249"/>
              <a:gd name="T6" fmla="*/ 2147483646 w 3666"/>
              <a:gd name="T7" fmla="*/ 2147483646 h 249"/>
              <a:gd name="T8" fmla="*/ 2147483646 w 3666"/>
              <a:gd name="T9" fmla="*/ 2147483646 h 2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6"/>
              <a:gd name="T16" fmla="*/ 0 h 249"/>
              <a:gd name="T17" fmla="*/ 3666 w 3666"/>
              <a:gd name="T18" fmla="*/ 249 h 2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6" h="249">
                <a:moveTo>
                  <a:pt x="0" y="0"/>
                </a:moveTo>
                <a:cubicBezTo>
                  <a:pt x="147" y="69"/>
                  <a:pt x="352" y="138"/>
                  <a:pt x="671" y="175"/>
                </a:cubicBezTo>
                <a:cubicBezTo>
                  <a:pt x="991" y="213"/>
                  <a:pt x="1472" y="218"/>
                  <a:pt x="1916" y="224"/>
                </a:cubicBezTo>
                <a:cubicBezTo>
                  <a:pt x="2360" y="230"/>
                  <a:pt x="3041" y="249"/>
                  <a:pt x="3333" y="213"/>
                </a:cubicBezTo>
                <a:cubicBezTo>
                  <a:pt x="3625" y="177"/>
                  <a:pt x="3597" y="49"/>
                  <a:pt x="3666" y="6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E76C0BFC-63CB-4561-973A-4043AD7A0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</a:p>
        </p:txBody>
      </p:sp>
      <p:sp>
        <p:nvSpPr>
          <p:cNvPr id="112643" name="Text Box 3">
            <a:extLst>
              <a:ext uri="{FF2B5EF4-FFF2-40B4-BE49-F238E27FC236}">
                <a16:creationId xmlns:a16="http://schemas.microsoft.com/office/drawing/2014/main" id="{8216FA98-9A18-45E9-900E-6219B539B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8288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12644" name="Text Box 10">
            <a:extLst>
              <a:ext uri="{FF2B5EF4-FFF2-40B4-BE49-F238E27FC236}">
                <a16:creationId xmlns:a16="http://schemas.microsoft.com/office/drawing/2014/main" id="{9BC7B98C-9CD3-406A-AA16-494B135C5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51816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</a:p>
        </p:txBody>
      </p:sp>
      <p:sp>
        <p:nvSpPr>
          <p:cNvPr id="112645" name="Text Box 12">
            <a:extLst>
              <a:ext uri="{FF2B5EF4-FFF2-40B4-BE49-F238E27FC236}">
                <a16:creationId xmlns:a16="http://schemas.microsoft.com/office/drawing/2014/main" id="{E0EA0B9B-ED9D-4D4D-AAC9-DF0F0386C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38288"/>
            <a:ext cx="3352800" cy="847725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T’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 , $, )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  <a:br>
              <a:rPr kumimoji="0" lang="en-US" altLang="zh-CN" sz="2400" b="1">
                <a:solidFill>
                  <a:srgbClr val="FF00FF"/>
                </a:solidFill>
              </a:rPr>
            </a:br>
            <a:r>
              <a:rPr kumimoji="0" lang="en-US" altLang="zh-CN" sz="2400" b="1">
                <a:solidFill>
                  <a:srgbClr val="FF00FF"/>
                </a:solidFill>
              </a:rPr>
              <a:t>Follow(</a:t>
            </a:r>
            <a:r>
              <a:rPr kumimoji="0" lang="en-US" altLang="zh-CN" sz="2400" b="1"/>
              <a:t>E’</a:t>
            </a:r>
            <a:r>
              <a:rPr kumimoji="0" lang="en-US" altLang="zh-CN" sz="2400" b="1">
                <a:solidFill>
                  <a:srgbClr val="FF00FF"/>
                </a:solidFill>
              </a:rPr>
              <a:t>) = {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$, )</a:t>
            </a:r>
            <a:r>
              <a:rPr kumimoji="0" lang="en-US" altLang="zh-CN" sz="2400" b="1">
                <a:solidFill>
                  <a:srgbClr val="FF3300"/>
                </a:solidFill>
              </a:rPr>
              <a:t> </a:t>
            </a:r>
            <a:r>
              <a:rPr kumimoji="0" lang="en-US" altLang="zh-CN" sz="2400" b="1">
                <a:solidFill>
                  <a:srgbClr val="FF00FF"/>
                </a:solidFill>
              </a:rPr>
              <a:t>}</a:t>
            </a:r>
          </a:p>
        </p:txBody>
      </p:sp>
      <p:sp>
        <p:nvSpPr>
          <p:cNvPr id="112646" name="Text Box 16">
            <a:extLst>
              <a:ext uri="{FF2B5EF4-FFF2-40B4-BE49-F238E27FC236}">
                <a16:creationId xmlns:a16="http://schemas.microsoft.com/office/drawing/2014/main" id="{16FE7B48-0796-46E6-AC47-5FE7B9D59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12647" name="Text Box 17">
            <a:extLst>
              <a:ext uri="{FF2B5EF4-FFF2-40B4-BE49-F238E27FC236}">
                <a16:creationId xmlns:a16="http://schemas.microsoft.com/office/drawing/2014/main" id="{E187EDDE-B249-4BA2-83A4-CAFC737BA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66975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12648" name="Text Box 18">
            <a:extLst>
              <a:ext uri="{FF2B5EF4-FFF2-40B4-BE49-F238E27FC236}">
                <a16:creationId xmlns:a16="http://schemas.microsoft.com/office/drawing/2014/main" id="{ED6DFB66-7CB4-4757-9E3E-C33EC47CB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28975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12649" name="Text Box 19">
            <a:extLst>
              <a:ext uri="{FF2B5EF4-FFF2-40B4-BE49-F238E27FC236}">
                <a16:creationId xmlns:a16="http://schemas.microsoft.com/office/drawing/2014/main" id="{4C92F44A-7403-4BA4-83AE-69E2500B3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0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12650" name="Text Box 20">
            <a:extLst>
              <a:ext uri="{FF2B5EF4-FFF2-40B4-BE49-F238E27FC236}">
                <a16:creationId xmlns:a16="http://schemas.microsoft.com/office/drawing/2014/main" id="{F439625B-76BB-447B-A7E5-EEAC230D0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48200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2651" name="Text Box 21">
            <a:extLst>
              <a:ext uri="{FF2B5EF4-FFF2-40B4-BE49-F238E27FC236}">
                <a16:creationId xmlns:a16="http://schemas.microsoft.com/office/drawing/2014/main" id="{CFC97786-C0FB-43C9-A491-6BFD2AC82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4572000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12652" name="Freeform 32">
            <a:extLst>
              <a:ext uri="{FF2B5EF4-FFF2-40B4-BE49-F238E27FC236}">
                <a16:creationId xmlns:a16="http://schemas.microsoft.com/office/drawing/2014/main" id="{0C0B070C-9185-406E-8DD2-07AC78F02F66}"/>
              </a:ext>
            </a:extLst>
          </p:cNvPr>
          <p:cNvSpPr>
            <a:spLocks/>
          </p:cNvSpPr>
          <p:nvPr/>
        </p:nvSpPr>
        <p:spPr bwMode="auto">
          <a:xfrm>
            <a:off x="1981200" y="4100513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3" name="Freeform 35">
            <a:extLst>
              <a:ext uri="{FF2B5EF4-FFF2-40B4-BE49-F238E27FC236}">
                <a16:creationId xmlns:a16="http://schemas.microsoft.com/office/drawing/2014/main" id="{11002825-A850-47FC-B72B-C681B80C18E9}"/>
              </a:ext>
            </a:extLst>
          </p:cNvPr>
          <p:cNvSpPr>
            <a:spLocks/>
          </p:cNvSpPr>
          <p:nvPr/>
        </p:nvSpPr>
        <p:spPr bwMode="auto">
          <a:xfrm>
            <a:off x="5562600" y="5014913"/>
            <a:ext cx="2438400" cy="2730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4" name="Text Box 36">
            <a:extLst>
              <a:ext uri="{FF2B5EF4-FFF2-40B4-BE49-F238E27FC236}">
                <a16:creationId xmlns:a16="http://schemas.microsoft.com/office/drawing/2014/main" id="{785A0E57-7EAB-41D4-A2AA-B4A04305B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9672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2655" name="Text Box 37">
            <a:extLst>
              <a:ext uri="{FF2B5EF4-FFF2-40B4-BE49-F238E27FC236}">
                <a16:creationId xmlns:a16="http://schemas.microsoft.com/office/drawing/2014/main" id="{DFEC3441-1ADB-41E5-889F-C7D919AAE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1767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2656" name="Freeform 43">
            <a:extLst>
              <a:ext uri="{FF2B5EF4-FFF2-40B4-BE49-F238E27FC236}">
                <a16:creationId xmlns:a16="http://schemas.microsoft.com/office/drawing/2014/main" id="{609355CB-549A-427A-83C8-FF098175110F}"/>
              </a:ext>
            </a:extLst>
          </p:cNvPr>
          <p:cNvSpPr>
            <a:spLocks/>
          </p:cNvSpPr>
          <p:nvPr/>
        </p:nvSpPr>
        <p:spPr bwMode="auto">
          <a:xfrm>
            <a:off x="3289300" y="2805113"/>
            <a:ext cx="2225675" cy="530225"/>
          </a:xfrm>
          <a:custGeom>
            <a:avLst/>
            <a:gdLst>
              <a:gd name="T0" fmla="*/ 2147483646 w 1402"/>
              <a:gd name="T1" fmla="*/ 0 h 334"/>
              <a:gd name="T2" fmla="*/ 2147483646 w 1402"/>
              <a:gd name="T3" fmla="*/ 2147483646 h 334"/>
              <a:gd name="T4" fmla="*/ 2147483646 w 1402"/>
              <a:gd name="T5" fmla="*/ 2147483646 h 334"/>
              <a:gd name="T6" fmla="*/ 0 w 1402"/>
              <a:gd name="T7" fmla="*/ 2147483646 h 334"/>
              <a:gd name="T8" fmla="*/ 0 60000 65536"/>
              <a:gd name="T9" fmla="*/ 0 60000 65536"/>
              <a:gd name="T10" fmla="*/ 0 60000 65536"/>
              <a:gd name="T11" fmla="*/ 0 60000 65536"/>
              <a:gd name="T12" fmla="*/ 0 w 1402"/>
              <a:gd name="T13" fmla="*/ 0 h 334"/>
              <a:gd name="T14" fmla="*/ 1402 w 1402"/>
              <a:gd name="T15" fmla="*/ 334 h 3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2" h="334">
                <a:moveTo>
                  <a:pt x="1402" y="0"/>
                </a:moveTo>
                <a:cubicBezTo>
                  <a:pt x="1360" y="26"/>
                  <a:pt x="1331" y="144"/>
                  <a:pt x="1150" y="180"/>
                </a:cubicBezTo>
                <a:cubicBezTo>
                  <a:pt x="969" y="216"/>
                  <a:pt x="505" y="191"/>
                  <a:pt x="313" y="217"/>
                </a:cubicBezTo>
                <a:cubicBezTo>
                  <a:pt x="121" y="243"/>
                  <a:pt x="65" y="310"/>
                  <a:pt x="0" y="334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7" name="Freeform 46">
            <a:extLst>
              <a:ext uri="{FF2B5EF4-FFF2-40B4-BE49-F238E27FC236}">
                <a16:creationId xmlns:a16="http://schemas.microsoft.com/office/drawing/2014/main" id="{B5304138-2B0C-420B-801F-A7C55EF6D4F7}"/>
              </a:ext>
            </a:extLst>
          </p:cNvPr>
          <p:cNvSpPr>
            <a:spLocks/>
          </p:cNvSpPr>
          <p:nvPr/>
        </p:nvSpPr>
        <p:spPr bwMode="auto">
          <a:xfrm>
            <a:off x="1219200" y="3563938"/>
            <a:ext cx="342900" cy="342900"/>
          </a:xfrm>
          <a:custGeom>
            <a:avLst/>
            <a:gdLst>
              <a:gd name="T0" fmla="*/ 0 w 216"/>
              <a:gd name="T1" fmla="*/ 0 h 216"/>
              <a:gd name="T2" fmla="*/ 2147483646 w 216"/>
              <a:gd name="T3" fmla="*/ 2147483646 h 216"/>
              <a:gd name="T4" fmla="*/ 2147483646 w 216"/>
              <a:gd name="T5" fmla="*/ 2147483646 h 216"/>
              <a:gd name="T6" fmla="*/ 2147483646 w 216"/>
              <a:gd name="T7" fmla="*/ 0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6"/>
              <a:gd name="T13" fmla="*/ 0 h 216"/>
              <a:gd name="T14" fmla="*/ 216 w 216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" h="216">
                <a:moveTo>
                  <a:pt x="0" y="0"/>
                </a:moveTo>
                <a:cubicBezTo>
                  <a:pt x="8" y="84"/>
                  <a:pt x="16" y="168"/>
                  <a:pt x="48" y="192"/>
                </a:cubicBezTo>
                <a:cubicBezTo>
                  <a:pt x="80" y="216"/>
                  <a:pt x="168" y="176"/>
                  <a:pt x="192" y="144"/>
                </a:cubicBezTo>
                <a:cubicBezTo>
                  <a:pt x="216" y="112"/>
                  <a:pt x="204" y="56"/>
                  <a:pt x="192" y="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8" name="Freeform 47">
            <a:extLst>
              <a:ext uri="{FF2B5EF4-FFF2-40B4-BE49-F238E27FC236}">
                <a16:creationId xmlns:a16="http://schemas.microsoft.com/office/drawing/2014/main" id="{5814BD8D-1727-4010-987E-49B84F58D7F6}"/>
              </a:ext>
            </a:extLst>
          </p:cNvPr>
          <p:cNvSpPr>
            <a:spLocks/>
          </p:cNvSpPr>
          <p:nvPr/>
        </p:nvSpPr>
        <p:spPr bwMode="auto">
          <a:xfrm>
            <a:off x="5257800" y="4525963"/>
            <a:ext cx="2819400" cy="254000"/>
          </a:xfrm>
          <a:custGeom>
            <a:avLst/>
            <a:gdLst>
              <a:gd name="T0" fmla="*/ 2147483646 w 1336"/>
              <a:gd name="T1" fmla="*/ 2147483646 h 112"/>
              <a:gd name="T2" fmla="*/ 2147483646 w 1336"/>
              <a:gd name="T3" fmla="*/ 2147483646 h 112"/>
              <a:gd name="T4" fmla="*/ 2147483646 w 1336"/>
              <a:gd name="T5" fmla="*/ 2147483646 h 112"/>
              <a:gd name="T6" fmla="*/ 2147483646 w 1336"/>
              <a:gd name="T7" fmla="*/ 2147483646 h 112"/>
              <a:gd name="T8" fmla="*/ 2147483646 w 1336"/>
              <a:gd name="T9" fmla="*/ 2147483646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36"/>
              <a:gd name="T16" fmla="*/ 0 h 112"/>
              <a:gd name="T17" fmla="*/ 1336 w 1336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36" h="112">
                <a:moveTo>
                  <a:pt x="40" y="112"/>
                </a:moveTo>
                <a:cubicBezTo>
                  <a:pt x="20" y="72"/>
                  <a:pt x="0" y="32"/>
                  <a:pt x="136" y="16"/>
                </a:cubicBezTo>
                <a:cubicBezTo>
                  <a:pt x="272" y="0"/>
                  <a:pt x="680" y="16"/>
                  <a:pt x="856" y="16"/>
                </a:cubicBezTo>
                <a:cubicBezTo>
                  <a:pt x="1032" y="16"/>
                  <a:pt x="1112" y="0"/>
                  <a:pt x="1192" y="16"/>
                </a:cubicBezTo>
                <a:cubicBezTo>
                  <a:pt x="1272" y="32"/>
                  <a:pt x="1304" y="72"/>
                  <a:pt x="1336" y="112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7D26671-AF5E-4A76-B430-9B7BAA655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与预测分析</a:t>
            </a:r>
          </a:p>
        </p:txBody>
      </p:sp>
      <p:sp>
        <p:nvSpPr>
          <p:cNvPr id="113667" name="Text Box 16">
            <a:extLst>
              <a:ext uri="{FF2B5EF4-FFF2-40B4-BE49-F238E27FC236}">
                <a16:creationId xmlns:a16="http://schemas.microsoft.com/office/drawing/2014/main" id="{0FE74830-BC82-4FB0-9056-E40CD9506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Consider the following derivation:</a:t>
            </a:r>
          </a:p>
        </p:txBody>
      </p:sp>
      <p:sp>
        <p:nvSpPr>
          <p:cNvPr id="113668" name="Text Box 22">
            <a:extLst>
              <a:ext uri="{FF2B5EF4-FFF2-40B4-BE49-F238E27FC236}">
                <a16:creationId xmlns:a16="http://schemas.microsoft.com/office/drawing/2014/main" id="{F0FFC1CD-1A68-446D-81A2-844E4DBE5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52600"/>
            <a:ext cx="51816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</a:rPr>
              <a:t>What’s First for each non-terminal ?</a:t>
            </a:r>
            <a:br>
              <a:rPr kumimoji="0" lang="en-US" altLang="zh-CN" sz="2400" b="1">
                <a:solidFill>
                  <a:srgbClr val="FF3300"/>
                </a:solidFill>
              </a:rPr>
            </a:br>
            <a:r>
              <a:rPr kumimoji="0" lang="en-US" altLang="zh-CN" sz="2400" b="1">
                <a:solidFill>
                  <a:srgbClr val="FF00FF"/>
                </a:solidFill>
              </a:rPr>
              <a:t>What’s Follow for each non-terminal ?</a:t>
            </a:r>
          </a:p>
        </p:txBody>
      </p:sp>
      <p:sp>
        <p:nvSpPr>
          <p:cNvPr id="113669" name="Text Box 44">
            <a:extLst>
              <a:ext uri="{FF2B5EF4-FFF2-40B4-BE49-F238E27FC236}">
                <a16:creationId xmlns:a16="http://schemas.microsoft.com/office/drawing/2014/main" id="{E8373CA7-6C60-4E7C-8C1D-5A1238C4E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3683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13670" name="Text Box 45">
            <a:extLst>
              <a:ext uri="{FF2B5EF4-FFF2-40B4-BE49-F238E27FC236}">
                <a16:creationId xmlns:a16="http://schemas.microsoft.com/office/drawing/2014/main" id="{DAFBFE17-60FE-45AE-BB6A-E0FA8B814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7503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(</a:t>
            </a:r>
            <a:r>
              <a:rPr kumimoji="0" lang="en-US" altLang="zh-CN" sz="2400" b="1"/>
              <a:t> TE’ </a:t>
            </a:r>
            <a:r>
              <a:rPr kumimoji="0" lang="en-US" altLang="zh-CN" sz="2400" b="1">
                <a:solidFill>
                  <a:schemeClr val="accent2"/>
                </a:solidFill>
              </a:rPr>
              <a:t>)</a:t>
            </a:r>
            <a:r>
              <a:rPr kumimoji="0" lang="en-US" altLang="zh-CN" sz="2400" b="1"/>
              <a:t> T’E’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FT’E’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T’E’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13671" name="Text Box 46">
            <a:extLst>
              <a:ext uri="{FF2B5EF4-FFF2-40B4-BE49-F238E27FC236}">
                <a16:creationId xmlns:a16="http://schemas.microsoft.com/office/drawing/2014/main" id="{7C37665D-21A4-487C-819C-0534ED09E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237038"/>
            <a:ext cx="728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2400" b="1">
                <a:sym typeface="Symbol" panose="05050102010706020507" pitchFamily="18" charset="2"/>
              </a:rPr>
              <a:t> E’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13672" name="Text Box 47">
            <a:extLst>
              <a:ext uri="{FF2B5EF4-FFF2-40B4-BE49-F238E27FC236}">
                <a16:creationId xmlns:a16="http://schemas.microsoft.com/office/drawing/2014/main" id="{E6E1A0F9-FCBC-4880-90CF-1834F8D5D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27638"/>
            <a:ext cx="738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>
                <a:sym typeface="Symbol" panose="05050102010706020507" pitchFamily="18" charset="2"/>
              </a:rPr>
              <a:t>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13673" name="Text Box 48">
            <a:extLst>
              <a:ext uri="{FF2B5EF4-FFF2-40B4-BE49-F238E27FC236}">
                <a16:creationId xmlns:a16="http://schemas.microsoft.com/office/drawing/2014/main" id="{B2E7A952-75DF-4535-AC2A-60C3DFD4F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65838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24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 +id  </a:t>
            </a:r>
            <a:r>
              <a:rPr kumimoji="0" lang="en-US" altLang="zh-CN" sz="2400" b="1">
                <a:sym typeface="Symbol" panose="05050102010706020507" pitchFamily="18" charset="2"/>
              </a:rPr>
              <a:t>T’E’ 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13674" name="Text Box 49">
            <a:extLst>
              <a:ext uri="{FF2B5EF4-FFF2-40B4-BE49-F238E27FC236}">
                <a16:creationId xmlns:a16="http://schemas.microsoft.com/office/drawing/2014/main" id="{439F7E81-F53C-41F8-8436-6946EA691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5989638"/>
            <a:ext cx="72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*</a:t>
            </a:r>
          </a:p>
        </p:txBody>
      </p:sp>
      <p:sp>
        <p:nvSpPr>
          <p:cNvPr id="113675" name="Text Box 50">
            <a:extLst>
              <a:ext uri="{FF2B5EF4-FFF2-40B4-BE49-F238E27FC236}">
                <a16:creationId xmlns:a16="http://schemas.microsoft.com/office/drawing/2014/main" id="{7D890808-A1DC-4408-A499-9A2495FA0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621506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76" name="Freeform 51">
            <a:extLst>
              <a:ext uri="{FF2B5EF4-FFF2-40B4-BE49-F238E27FC236}">
                <a16:creationId xmlns:a16="http://schemas.microsoft.com/office/drawing/2014/main" id="{6C1E9449-5208-4C03-B720-E290F7638C81}"/>
              </a:ext>
            </a:extLst>
          </p:cNvPr>
          <p:cNvSpPr>
            <a:spLocks/>
          </p:cNvSpPr>
          <p:nvPr/>
        </p:nvSpPr>
        <p:spPr bwMode="auto">
          <a:xfrm>
            <a:off x="2328863" y="2436813"/>
            <a:ext cx="1200150" cy="320675"/>
          </a:xfrm>
          <a:custGeom>
            <a:avLst/>
            <a:gdLst>
              <a:gd name="T0" fmla="*/ 0 w 756"/>
              <a:gd name="T1" fmla="*/ 2147483646 h 202"/>
              <a:gd name="T2" fmla="*/ 2147483646 w 756"/>
              <a:gd name="T3" fmla="*/ 2147483646 h 202"/>
              <a:gd name="T4" fmla="*/ 2147483646 w 756"/>
              <a:gd name="T5" fmla="*/ 2147483646 h 202"/>
              <a:gd name="T6" fmla="*/ 2147483646 w 756"/>
              <a:gd name="T7" fmla="*/ 2147483646 h 202"/>
              <a:gd name="T8" fmla="*/ 2147483646 w 756"/>
              <a:gd name="T9" fmla="*/ 2147483646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02"/>
              <a:gd name="T17" fmla="*/ 756 w 756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02">
                <a:moveTo>
                  <a:pt x="0" y="193"/>
                </a:moveTo>
                <a:cubicBezTo>
                  <a:pt x="24" y="166"/>
                  <a:pt x="66" y="62"/>
                  <a:pt x="135" y="31"/>
                </a:cubicBezTo>
                <a:cubicBezTo>
                  <a:pt x="204" y="0"/>
                  <a:pt x="332" y="3"/>
                  <a:pt x="414" y="4"/>
                </a:cubicBezTo>
                <a:cubicBezTo>
                  <a:pt x="496" y="5"/>
                  <a:pt x="573" y="7"/>
                  <a:pt x="630" y="40"/>
                </a:cubicBezTo>
                <a:cubicBezTo>
                  <a:pt x="687" y="73"/>
                  <a:pt x="730" y="168"/>
                  <a:pt x="756" y="20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7" name="Text Box 53">
            <a:extLst>
              <a:ext uri="{FF2B5EF4-FFF2-40B4-BE49-F238E27FC236}">
                <a16:creationId xmlns:a16="http://schemas.microsoft.com/office/drawing/2014/main" id="{12F61866-1669-4B14-A7DD-A406283C9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817813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78" name="Text Box 55">
            <a:extLst>
              <a:ext uri="{FF2B5EF4-FFF2-40B4-BE49-F238E27FC236}">
                <a16:creationId xmlns:a16="http://schemas.microsoft.com/office/drawing/2014/main" id="{1E5A1E37-58BC-4D2C-820D-D2C19F019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362902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79" name="Freeform 56">
            <a:extLst>
              <a:ext uri="{FF2B5EF4-FFF2-40B4-BE49-F238E27FC236}">
                <a16:creationId xmlns:a16="http://schemas.microsoft.com/office/drawing/2014/main" id="{053A2A8B-E832-46F4-90E2-782386A672C3}"/>
              </a:ext>
            </a:extLst>
          </p:cNvPr>
          <p:cNvSpPr>
            <a:spLocks/>
          </p:cNvSpPr>
          <p:nvPr/>
        </p:nvSpPr>
        <p:spPr bwMode="auto">
          <a:xfrm>
            <a:off x="1676400" y="4603750"/>
            <a:ext cx="3810000" cy="685800"/>
          </a:xfrm>
          <a:custGeom>
            <a:avLst/>
            <a:gdLst>
              <a:gd name="T0" fmla="*/ 2147483646 w 2400"/>
              <a:gd name="T1" fmla="*/ 0 h 432"/>
              <a:gd name="T2" fmla="*/ 2147483646 w 2400"/>
              <a:gd name="T3" fmla="*/ 2147483646 h 432"/>
              <a:gd name="T4" fmla="*/ 2147483646 w 2400"/>
              <a:gd name="T5" fmla="*/ 2147483646 h 432"/>
              <a:gd name="T6" fmla="*/ 2147483646 w 2400"/>
              <a:gd name="T7" fmla="*/ 2147483646 h 432"/>
              <a:gd name="T8" fmla="*/ 0 w 2400"/>
              <a:gd name="T9" fmla="*/ 2147483646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432"/>
              <a:gd name="T17" fmla="*/ 2400 w 2400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432">
                <a:moveTo>
                  <a:pt x="2400" y="0"/>
                </a:moveTo>
                <a:cubicBezTo>
                  <a:pt x="2308" y="54"/>
                  <a:pt x="2133" y="283"/>
                  <a:pt x="1847" y="324"/>
                </a:cubicBezTo>
                <a:cubicBezTo>
                  <a:pt x="1561" y="365"/>
                  <a:pt x="955" y="251"/>
                  <a:pt x="681" y="249"/>
                </a:cubicBezTo>
                <a:cubicBezTo>
                  <a:pt x="407" y="247"/>
                  <a:pt x="318" y="281"/>
                  <a:pt x="204" y="312"/>
                </a:cubicBezTo>
                <a:cubicBezTo>
                  <a:pt x="90" y="343"/>
                  <a:pt x="43" y="407"/>
                  <a:pt x="0" y="43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0" name="Text Box 57">
            <a:extLst>
              <a:ext uri="{FF2B5EF4-FFF2-40B4-BE49-F238E27FC236}">
                <a16:creationId xmlns:a16="http://schemas.microsoft.com/office/drawing/2014/main" id="{4F7776C1-2BFA-4AA4-B523-F5911372B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375275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81" name="Text Box 58">
            <a:extLst>
              <a:ext uri="{FF2B5EF4-FFF2-40B4-BE49-F238E27FC236}">
                <a16:creationId xmlns:a16="http://schemas.microsoft.com/office/drawing/2014/main" id="{DF459D0F-684E-414B-A6A2-9E3A92B0F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475" y="36274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82" name="Freeform 59">
            <a:extLst>
              <a:ext uri="{FF2B5EF4-FFF2-40B4-BE49-F238E27FC236}">
                <a16:creationId xmlns:a16="http://schemas.microsoft.com/office/drawing/2014/main" id="{D2908B06-75A9-4EEC-9A54-36975C627B13}"/>
              </a:ext>
            </a:extLst>
          </p:cNvPr>
          <p:cNvSpPr>
            <a:spLocks/>
          </p:cNvSpPr>
          <p:nvPr/>
        </p:nvSpPr>
        <p:spPr bwMode="auto">
          <a:xfrm>
            <a:off x="763588" y="2940050"/>
            <a:ext cx="2889250" cy="560388"/>
          </a:xfrm>
          <a:custGeom>
            <a:avLst/>
            <a:gdLst>
              <a:gd name="T0" fmla="*/ 0 w 1820"/>
              <a:gd name="T1" fmla="*/ 0 h 353"/>
              <a:gd name="T2" fmla="*/ 2147483646 w 1820"/>
              <a:gd name="T3" fmla="*/ 2147483646 h 353"/>
              <a:gd name="T4" fmla="*/ 2147483646 w 1820"/>
              <a:gd name="T5" fmla="*/ 2147483646 h 353"/>
              <a:gd name="T6" fmla="*/ 2147483646 w 1820"/>
              <a:gd name="T7" fmla="*/ 2147483646 h 353"/>
              <a:gd name="T8" fmla="*/ 2147483646 w 1820"/>
              <a:gd name="T9" fmla="*/ 2147483646 h 3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0"/>
              <a:gd name="T16" fmla="*/ 0 h 353"/>
              <a:gd name="T17" fmla="*/ 1820 w 1820"/>
              <a:gd name="T18" fmla="*/ 353 h 3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0" h="353">
                <a:moveTo>
                  <a:pt x="0" y="0"/>
                </a:moveTo>
                <a:cubicBezTo>
                  <a:pt x="71" y="94"/>
                  <a:pt x="141" y="183"/>
                  <a:pt x="328" y="239"/>
                </a:cubicBezTo>
                <a:cubicBezTo>
                  <a:pt x="515" y="295"/>
                  <a:pt x="891" y="321"/>
                  <a:pt x="1121" y="334"/>
                </a:cubicBezTo>
                <a:cubicBezTo>
                  <a:pt x="1351" y="347"/>
                  <a:pt x="1592" y="353"/>
                  <a:pt x="1706" y="316"/>
                </a:cubicBezTo>
                <a:cubicBezTo>
                  <a:pt x="1820" y="279"/>
                  <a:pt x="1785" y="152"/>
                  <a:pt x="1805" y="10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3" name="Freeform 60">
            <a:extLst>
              <a:ext uri="{FF2B5EF4-FFF2-40B4-BE49-F238E27FC236}">
                <a16:creationId xmlns:a16="http://schemas.microsoft.com/office/drawing/2014/main" id="{B5DC6788-9C4A-4A41-9F4C-432FB8CC3B3D}"/>
              </a:ext>
            </a:extLst>
          </p:cNvPr>
          <p:cNvSpPr>
            <a:spLocks/>
          </p:cNvSpPr>
          <p:nvPr/>
        </p:nvSpPr>
        <p:spPr bwMode="auto">
          <a:xfrm>
            <a:off x="1371600" y="3003550"/>
            <a:ext cx="2171700" cy="387350"/>
          </a:xfrm>
          <a:custGeom>
            <a:avLst/>
            <a:gdLst>
              <a:gd name="T0" fmla="*/ 0 w 1368"/>
              <a:gd name="T1" fmla="*/ 0 h 244"/>
              <a:gd name="T2" fmla="*/ 2147483646 w 1368"/>
              <a:gd name="T3" fmla="*/ 2147483646 h 244"/>
              <a:gd name="T4" fmla="*/ 2147483646 w 1368"/>
              <a:gd name="T5" fmla="*/ 2147483646 h 244"/>
              <a:gd name="T6" fmla="*/ 2147483646 w 1368"/>
              <a:gd name="T7" fmla="*/ 2147483646 h 244"/>
              <a:gd name="T8" fmla="*/ 2147483646 w 1368"/>
              <a:gd name="T9" fmla="*/ 2147483646 h 2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8"/>
              <a:gd name="T16" fmla="*/ 0 h 244"/>
              <a:gd name="T17" fmla="*/ 1368 w 1368"/>
              <a:gd name="T18" fmla="*/ 244 h 2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8" h="244">
                <a:moveTo>
                  <a:pt x="0" y="0"/>
                </a:moveTo>
                <a:cubicBezTo>
                  <a:pt x="56" y="69"/>
                  <a:pt x="111" y="138"/>
                  <a:pt x="257" y="175"/>
                </a:cubicBezTo>
                <a:cubicBezTo>
                  <a:pt x="402" y="211"/>
                  <a:pt x="702" y="211"/>
                  <a:pt x="873" y="218"/>
                </a:cubicBezTo>
                <a:cubicBezTo>
                  <a:pt x="1044" y="225"/>
                  <a:pt x="1201" y="244"/>
                  <a:pt x="1283" y="218"/>
                </a:cubicBezTo>
                <a:cubicBezTo>
                  <a:pt x="1365" y="192"/>
                  <a:pt x="1350" y="93"/>
                  <a:pt x="1368" y="6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4" name="Freeform 61">
            <a:extLst>
              <a:ext uri="{FF2B5EF4-FFF2-40B4-BE49-F238E27FC236}">
                <a16:creationId xmlns:a16="http://schemas.microsoft.com/office/drawing/2014/main" id="{D314BDA6-5E31-4115-966D-EFFE1A25521E}"/>
              </a:ext>
            </a:extLst>
          </p:cNvPr>
          <p:cNvSpPr>
            <a:spLocks/>
          </p:cNvSpPr>
          <p:nvPr/>
        </p:nvSpPr>
        <p:spPr bwMode="auto">
          <a:xfrm>
            <a:off x="923925" y="3841750"/>
            <a:ext cx="4319588" cy="239713"/>
          </a:xfrm>
          <a:custGeom>
            <a:avLst/>
            <a:gdLst>
              <a:gd name="T0" fmla="*/ 0 w 2721"/>
              <a:gd name="T1" fmla="*/ 0 h 151"/>
              <a:gd name="T2" fmla="*/ 2147483646 w 2721"/>
              <a:gd name="T3" fmla="*/ 2147483646 h 151"/>
              <a:gd name="T4" fmla="*/ 2147483646 w 2721"/>
              <a:gd name="T5" fmla="*/ 2147483646 h 151"/>
              <a:gd name="T6" fmla="*/ 2147483646 w 2721"/>
              <a:gd name="T7" fmla="*/ 2147483646 h 151"/>
              <a:gd name="T8" fmla="*/ 2147483646 w 2721"/>
              <a:gd name="T9" fmla="*/ 2147483646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21"/>
              <a:gd name="T16" fmla="*/ 0 h 151"/>
              <a:gd name="T17" fmla="*/ 2721 w 2721"/>
              <a:gd name="T18" fmla="*/ 151 h 1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21" h="151">
                <a:moveTo>
                  <a:pt x="0" y="0"/>
                </a:moveTo>
                <a:cubicBezTo>
                  <a:pt x="86" y="21"/>
                  <a:pt x="237" y="103"/>
                  <a:pt x="516" y="127"/>
                </a:cubicBezTo>
                <a:cubicBezTo>
                  <a:pt x="795" y="151"/>
                  <a:pt x="1349" y="148"/>
                  <a:pt x="1677" y="145"/>
                </a:cubicBezTo>
                <a:cubicBezTo>
                  <a:pt x="2005" y="142"/>
                  <a:pt x="2309" y="129"/>
                  <a:pt x="2483" y="109"/>
                </a:cubicBezTo>
                <a:cubicBezTo>
                  <a:pt x="2657" y="89"/>
                  <a:pt x="2672" y="40"/>
                  <a:pt x="2721" y="23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5" name="Freeform 64">
            <a:extLst>
              <a:ext uri="{FF2B5EF4-FFF2-40B4-BE49-F238E27FC236}">
                <a16:creationId xmlns:a16="http://schemas.microsoft.com/office/drawing/2014/main" id="{D1077537-A4DE-4D79-B927-6A4E84ED2653}"/>
              </a:ext>
            </a:extLst>
          </p:cNvPr>
          <p:cNvSpPr>
            <a:spLocks/>
          </p:cNvSpPr>
          <p:nvPr/>
        </p:nvSpPr>
        <p:spPr bwMode="auto">
          <a:xfrm>
            <a:off x="1981200" y="5518150"/>
            <a:ext cx="2133600" cy="42227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6" name="Freeform 65">
            <a:extLst>
              <a:ext uri="{FF2B5EF4-FFF2-40B4-BE49-F238E27FC236}">
                <a16:creationId xmlns:a16="http://schemas.microsoft.com/office/drawing/2014/main" id="{B5B03E34-E0C6-47FC-A9ED-8EFEFE8E9EBF}"/>
              </a:ext>
            </a:extLst>
          </p:cNvPr>
          <p:cNvSpPr>
            <a:spLocks/>
          </p:cNvSpPr>
          <p:nvPr/>
        </p:nvSpPr>
        <p:spPr bwMode="auto">
          <a:xfrm>
            <a:off x="3733800" y="3003550"/>
            <a:ext cx="1447800" cy="609600"/>
          </a:xfrm>
          <a:custGeom>
            <a:avLst/>
            <a:gdLst>
              <a:gd name="T0" fmla="*/ 0 w 672"/>
              <a:gd name="T1" fmla="*/ 0 h 336"/>
              <a:gd name="T2" fmla="*/ 2147483646 w 672"/>
              <a:gd name="T3" fmla="*/ 2147483646 h 336"/>
              <a:gd name="T4" fmla="*/ 2147483646 w 672"/>
              <a:gd name="T5" fmla="*/ 2147483646 h 336"/>
              <a:gd name="T6" fmla="*/ 2147483646 w 672"/>
              <a:gd name="T7" fmla="*/ 2147483646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336"/>
              <a:gd name="T14" fmla="*/ 672 w 672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336">
                <a:moveTo>
                  <a:pt x="0" y="0"/>
                </a:moveTo>
                <a:cubicBezTo>
                  <a:pt x="24" y="60"/>
                  <a:pt x="48" y="120"/>
                  <a:pt x="144" y="144"/>
                </a:cubicBezTo>
                <a:cubicBezTo>
                  <a:pt x="240" y="168"/>
                  <a:pt x="488" y="112"/>
                  <a:pt x="576" y="144"/>
                </a:cubicBezTo>
                <a:cubicBezTo>
                  <a:pt x="664" y="176"/>
                  <a:pt x="668" y="256"/>
                  <a:pt x="672" y="33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7" name="Freeform 66">
            <a:extLst>
              <a:ext uri="{FF2B5EF4-FFF2-40B4-BE49-F238E27FC236}">
                <a16:creationId xmlns:a16="http://schemas.microsoft.com/office/drawing/2014/main" id="{53FCB7A1-1344-437A-9D44-C83526BFB8BB}"/>
              </a:ext>
            </a:extLst>
          </p:cNvPr>
          <p:cNvSpPr>
            <a:spLocks/>
          </p:cNvSpPr>
          <p:nvPr/>
        </p:nvSpPr>
        <p:spPr bwMode="auto">
          <a:xfrm>
            <a:off x="4271963" y="5613400"/>
            <a:ext cx="1971675" cy="247650"/>
          </a:xfrm>
          <a:custGeom>
            <a:avLst/>
            <a:gdLst>
              <a:gd name="T0" fmla="*/ 0 w 1242"/>
              <a:gd name="T1" fmla="*/ 0 h 156"/>
              <a:gd name="T2" fmla="*/ 2147483646 w 1242"/>
              <a:gd name="T3" fmla="*/ 2147483646 h 156"/>
              <a:gd name="T4" fmla="*/ 2147483646 w 1242"/>
              <a:gd name="T5" fmla="*/ 2147483646 h 156"/>
              <a:gd name="T6" fmla="*/ 2147483646 w 1242"/>
              <a:gd name="T7" fmla="*/ 2147483646 h 156"/>
              <a:gd name="T8" fmla="*/ 2147483646 w 1242"/>
              <a:gd name="T9" fmla="*/ 2147483646 h 1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2"/>
              <a:gd name="T16" fmla="*/ 0 h 156"/>
              <a:gd name="T17" fmla="*/ 1242 w 1242"/>
              <a:gd name="T18" fmla="*/ 156 h 1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2" h="156">
                <a:moveTo>
                  <a:pt x="0" y="0"/>
                </a:moveTo>
                <a:cubicBezTo>
                  <a:pt x="42" y="22"/>
                  <a:pt x="123" y="102"/>
                  <a:pt x="252" y="126"/>
                </a:cubicBezTo>
                <a:cubicBezTo>
                  <a:pt x="381" y="150"/>
                  <a:pt x="627" y="142"/>
                  <a:pt x="774" y="144"/>
                </a:cubicBezTo>
                <a:cubicBezTo>
                  <a:pt x="921" y="146"/>
                  <a:pt x="1056" y="156"/>
                  <a:pt x="1134" y="135"/>
                </a:cubicBezTo>
                <a:cubicBezTo>
                  <a:pt x="1212" y="114"/>
                  <a:pt x="1219" y="43"/>
                  <a:pt x="1242" y="18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8" name="Freeform 67">
            <a:extLst>
              <a:ext uri="{FF2B5EF4-FFF2-40B4-BE49-F238E27FC236}">
                <a16:creationId xmlns:a16="http://schemas.microsoft.com/office/drawing/2014/main" id="{78BE1D6F-5EE1-49F2-99EE-04F7761251C5}"/>
              </a:ext>
            </a:extLst>
          </p:cNvPr>
          <p:cNvSpPr>
            <a:spLocks/>
          </p:cNvSpPr>
          <p:nvPr/>
        </p:nvSpPr>
        <p:spPr bwMode="auto">
          <a:xfrm>
            <a:off x="5562600" y="6432550"/>
            <a:ext cx="2438400" cy="273050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9" name="Text Box 68">
            <a:extLst>
              <a:ext uri="{FF2B5EF4-FFF2-40B4-BE49-F238E27FC236}">
                <a16:creationId xmlns:a16="http://schemas.microsoft.com/office/drawing/2014/main" id="{580F0F33-CDA3-4E7B-B4D3-A0E9ED188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638492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E’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3690" name="Text Box 69">
            <a:extLst>
              <a:ext uri="{FF2B5EF4-FFF2-40B4-BE49-F238E27FC236}">
                <a16:creationId xmlns:a16="http://schemas.microsoft.com/office/drawing/2014/main" id="{00FB270F-2079-4DDC-AB8B-2B06D8E2B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59435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T’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3691" name="Text Box 70">
            <a:extLst>
              <a:ext uri="{FF2B5EF4-FFF2-40B4-BE49-F238E27FC236}">
                <a16:creationId xmlns:a16="http://schemas.microsoft.com/office/drawing/2014/main" id="{0BC4F507-5803-45F0-AE4C-4DEAE9951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788" y="5365750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92" name="Freeform 71">
            <a:extLst>
              <a:ext uri="{FF2B5EF4-FFF2-40B4-BE49-F238E27FC236}">
                <a16:creationId xmlns:a16="http://schemas.microsoft.com/office/drawing/2014/main" id="{48C4B3C6-C769-4163-802D-2B38958D6CE2}"/>
              </a:ext>
            </a:extLst>
          </p:cNvPr>
          <p:cNvSpPr>
            <a:spLocks/>
          </p:cNvSpPr>
          <p:nvPr/>
        </p:nvSpPr>
        <p:spPr bwMode="auto">
          <a:xfrm>
            <a:off x="3762375" y="2616200"/>
            <a:ext cx="200025" cy="74613"/>
          </a:xfrm>
          <a:custGeom>
            <a:avLst/>
            <a:gdLst>
              <a:gd name="T0" fmla="*/ 0 w 96"/>
              <a:gd name="T1" fmla="*/ 2147483646 h 48"/>
              <a:gd name="T2" fmla="*/ 2147483646 w 96"/>
              <a:gd name="T3" fmla="*/ 0 h 48"/>
              <a:gd name="T4" fmla="*/ 2147483646 w 96"/>
              <a:gd name="T5" fmla="*/ 2147483646 h 48"/>
              <a:gd name="T6" fmla="*/ 0 60000 65536"/>
              <a:gd name="T7" fmla="*/ 0 60000 65536"/>
              <a:gd name="T8" fmla="*/ 0 60000 65536"/>
              <a:gd name="T9" fmla="*/ 0 w 96"/>
              <a:gd name="T10" fmla="*/ 0 h 48"/>
              <a:gd name="T11" fmla="*/ 96 w 9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48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24"/>
                  <a:pt x="96" y="48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3" name="Freeform 72">
            <a:extLst>
              <a:ext uri="{FF2B5EF4-FFF2-40B4-BE49-F238E27FC236}">
                <a16:creationId xmlns:a16="http://schemas.microsoft.com/office/drawing/2014/main" id="{1F9A89F8-0FC3-4733-99D7-77ABF3BC28BB}"/>
              </a:ext>
            </a:extLst>
          </p:cNvPr>
          <p:cNvSpPr>
            <a:spLocks/>
          </p:cNvSpPr>
          <p:nvPr/>
        </p:nvSpPr>
        <p:spPr bwMode="auto">
          <a:xfrm>
            <a:off x="152400" y="2997200"/>
            <a:ext cx="7823200" cy="3860800"/>
          </a:xfrm>
          <a:custGeom>
            <a:avLst/>
            <a:gdLst>
              <a:gd name="T0" fmla="*/ 2147483646 w 4928"/>
              <a:gd name="T1" fmla="*/ 0 h 2336"/>
              <a:gd name="T2" fmla="*/ 2147483646 w 4928"/>
              <a:gd name="T3" fmla="*/ 2147483646 h 2336"/>
              <a:gd name="T4" fmla="*/ 2147483646 w 4928"/>
              <a:gd name="T5" fmla="*/ 2147483646 h 2336"/>
              <a:gd name="T6" fmla="*/ 2147483646 w 4928"/>
              <a:gd name="T7" fmla="*/ 2147483646 h 2336"/>
              <a:gd name="T8" fmla="*/ 2147483646 w 4928"/>
              <a:gd name="T9" fmla="*/ 2147483646 h 2336"/>
              <a:gd name="T10" fmla="*/ 2147483646 w 4928"/>
              <a:gd name="T11" fmla="*/ 2147483646 h 2336"/>
              <a:gd name="T12" fmla="*/ 2147483646 w 4928"/>
              <a:gd name="T13" fmla="*/ 2147483646 h 2336"/>
              <a:gd name="T14" fmla="*/ 2147483646 w 4928"/>
              <a:gd name="T15" fmla="*/ 2147483646 h 2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928"/>
              <a:gd name="T25" fmla="*/ 0 h 2336"/>
              <a:gd name="T26" fmla="*/ 4928 w 4928"/>
              <a:gd name="T27" fmla="*/ 2336 h 2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928" h="2336">
                <a:moveTo>
                  <a:pt x="347" y="0"/>
                </a:moveTo>
                <a:cubicBezTo>
                  <a:pt x="240" y="82"/>
                  <a:pt x="133" y="163"/>
                  <a:pt x="90" y="267"/>
                </a:cubicBezTo>
                <a:cubicBezTo>
                  <a:pt x="47" y="371"/>
                  <a:pt x="91" y="338"/>
                  <a:pt x="90" y="624"/>
                </a:cubicBezTo>
                <a:cubicBezTo>
                  <a:pt x="89" y="910"/>
                  <a:pt x="0" y="1710"/>
                  <a:pt x="85" y="1986"/>
                </a:cubicBezTo>
                <a:cubicBezTo>
                  <a:pt x="170" y="2262"/>
                  <a:pt x="73" y="2230"/>
                  <a:pt x="598" y="2283"/>
                </a:cubicBezTo>
                <a:cubicBezTo>
                  <a:pt x="1123" y="2336"/>
                  <a:pt x="2560" y="2300"/>
                  <a:pt x="3235" y="2301"/>
                </a:cubicBezTo>
                <a:cubicBezTo>
                  <a:pt x="3910" y="2302"/>
                  <a:pt x="4368" y="2316"/>
                  <a:pt x="4648" y="2292"/>
                </a:cubicBezTo>
                <a:cubicBezTo>
                  <a:pt x="4928" y="2268"/>
                  <a:pt x="4862" y="2185"/>
                  <a:pt x="4918" y="2157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4" name="Freeform 73">
            <a:extLst>
              <a:ext uri="{FF2B5EF4-FFF2-40B4-BE49-F238E27FC236}">
                <a16:creationId xmlns:a16="http://schemas.microsoft.com/office/drawing/2014/main" id="{7551ECF5-3886-4528-9E77-4A961BF38DDA}"/>
              </a:ext>
            </a:extLst>
          </p:cNvPr>
          <p:cNvSpPr>
            <a:spLocks/>
          </p:cNvSpPr>
          <p:nvPr/>
        </p:nvSpPr>
        <p:spPr bwMode="auto">
          <a:xfrm>
            <a:off x="381000" y="3462338"/>
            <a:ext cx="2828925" cy="881062"/>
          </a:xfrm>
          <a:custGeom>
            <a:avLst/>
            <a:gdLst>
              <a:gd name="T0" fmla="*/ 2147483646 w 1782"/>
              <a:gd name="T1" fmla="*/ 2147483646 h 555"/>
              <a:gd name="T2" fmla="*/ 2147483646 w 1782"/>
              <a:gd name="T3" fmla="*/ 2147483646 h 555"/>
              <a:gd name="T4" fmla="*/ 2147483646 w 1782"/>
              <a:gd name="T5" fmla="*/ 2147483646 h 555"/>
              <a:gd name="T6" fmla="*/ 2147483646 w 1782"/>
              <a:gd name="T7" fmla="*/ 2147483646 h 555"/>
              <a:gd name="T8" fmla="*/ 2147483646 w 1782"/>
              <a:gd name="T9" fmla="*/ 2147483646 h 555"/>
              <a:gd name="T10" fmla="*/ 2147483646 w 1782"/>
              <a:gd name="T11" fmla="*/ 2147483646 h 555"/>
              <a:gd name="T12" fmla="*/ 2147483646 w 1782"/>
              <a:gd name="T13" fmla="*/ 2147483646 h 5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82"/>
              <a:gd name="T22" fmla="*/ 0 h 555"/>
              <a:gd name="T23" fmla="*/ 1782 w 1782"/>
              <a:gd name="T24" fmla="*/ 555 h 5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82" h="555">
                <a:moveTo>
                  <a:pt x="339" y="72"/>
                </a:moveTo>
                <a:cubicBezTo>
                  <a:pt x="270" y="36"/>
                  <a:pt x="201" y="0"/>
                  <a:pt x="148" y="24"/>
                </a:cubicBezTo>
                <a:cubicBezTo>
                  <a:pt x="95" y="48"/>
                  <a:pt x="32" y="144"/>
                  <a:pt x="21" y="216"/>
                </a:cubicBezTo>
                <a:cubicBezTo>
                  <a:pt x="11" y="288"/>
                  <a:pt x="0" y="408"/>
                  <a:pt x="85" y="456"/>
                </a:cubicBezTo>
                <a:cubicBezTo>
                  <a:pt x="170" y="504"/>
                  <a:pt x="285" y="506"/>
                  <a:pt x="530" y="504"/>
                </a:cubicBezTo>
                <a:cubicBezTo>
                  <a:pt x="775" y="502"/>
                  <a:pt x="1348" y="439"/>
                  <a:pt x="1557" y="447"/>
                </a:cubicBezTo>
                <a:cubicBezTo>
                  <a:pt x="1766" y="455"/>
                  <a:pt x="1735" y="533"/>
                  <a:pt x="1782" y="555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5" name="Freeform 74">
            <a:extLst>
              <a:ext uri="{FF2B5EF4-FFF2-40B4-BE49-F238E27FC236}">
                <a16:creationId xmlns:a16="http://schemas.microsoft.com/office/drawing/2014/main" id="{E0F2526C-8508-411F-84A3-13D90AECD546}"/>
              </a:ext>
            </a:extLst>
          </p:cNvPr>
          <p:cNvSpPr>
            <a:spLocks/>
          </p:cNvSpPr>
          <p:nvPr/>
        </p:nvSpPr>
        <p:spPr bwMode="auto">
          <a:xfrm>
            <a:off x="222250" y="2576513"/>
            <a:ext cx="1120775" cy="952500"/>
          </a:xfrm>
          <a:custGeom>
            <a:avLst/>
            <a:gdLst>
              <a:gd name="T0" fmla="*/ 2147483646 w 706"/>
              <a:gd name="T1" fmla="*/ 2147483646 h 600"/>
              <a:gd name="T2" fmla="*/ 2147483646 w 706"/>
              <a:gd name="T3" fmla="*/ 2147483646 h 600"/>
              <a:gd name="T4" fmla="*/ 2147483646 w 706"/>
              <a:gd name="T5" fmla="*/ 2147483646 h 600"/>
              <a:gd name="T6" fmla="*/ 2147483646 w 706"/>
              <a:gd name="T7" fmla="*/ 2147483646 h 600"/>
              <a:gd name="T8" fmla="*/ 0 60000 65536"/>
              <a:gd name="T9" fmla="*/ 0 60000 65536"/>
              <a:gd name="T10" fmla="*/ 0 60000 65536"/>
              <a:gd name="T11" fmla="*/ 0 60000 65536"/>
              <a:gd name="T12" fmla="*/ 0 w 706"/>
              <a:gd name="T13" fmla="*/ 0 h 600"/>
              <a:gd name="T14" fmla="*/ 706 w 706"/>
              <a:gd name="T15" fmla="*/ 600 h 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6" h="600">
                <a:moveTo>
                  <a:pt x="706" y="96"/>
                </a:moveTo>
                <a:cubicBezTo>
                  <a:pt x="634" y="84"/>
                  <a:pt x="385" y="0"/>
                  <a:pt x="274" y="24"/>
                </a:cubicBezTo>
                <a:cubicBezTo>
                  <a:pt x="163" y="48"/>
                  <a:pt x="80" y="144"/>
                  <a:pt x="40" y="240"/>
                </a:cubicBezTo>
                <a:cubicBezTo>
                  <a:pt x="0" y="336"/>
                  <a:pt x="33" y="525"/>
                  <a:pt x="31" y="60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6" name="Freeform 75">
            <a:extLst>
              <a:ext uri="{FF2B5EF4-FFF2-40B4-BE49-F238E27FC236}">
                <a16:creationId xmlns:a16="http://schemas.microsoft.com/office/drawing/2014/main" id="{BC097549-4078-4E6C-B79B-C778FCDFD2D0}"/>
              </a:ext>
            </a:extLst>
          </p:cNvPr>
          <p:cNvSpPr>
            <a:spLocks/>
          </p:cNvSpPr>
          <p:nvPr/>
        </p:nvSpPr>
        <p:spPr bwMode="auto">
          <a:xfrm>
            <a:off x="3289300" y="3813175"/>
            <a:ext cx="2225675" cy="530225"/>
          </a:xfrm>
          <a:custGeom>
            <a:avLst/>
            <a:gdLst>
              <a:gd name="T0" fmla="*/ 2147483646 w 1402"/>
              <a:gd name="T1" fmla="*/ 0 h 334"/>
              <a:gd name="T2" fmla="*/ 2147483646 w 1402"/>
              <a:gd name="T3" fmla="*/ 2147483646 h 334"/>
              <a:gd name="T4" fmla="*/ 2147483646 w 1402"/>
              <a:gd name="T5" fmla="*/ 2147483646 h 334"/>
              <a:gd name="T6" fmla="*/ 0 w 1402"/>
              <a:gd name="T7" fmla="*/ 2147483646 h 334"/>
              <a:gd name="T8" fmla="*/ 0 60000 65536"/>
              <a:gd name="T9" fmla="*/ 0 60000 65536"/>
              <a:gd name="T10" fmla="*/ 0 60000 65536"/>
              <a:gd name="T11" fmla="*/ 0 60000 65536"/>
              <a:gd name="T12" fmla="*/ 0 w 1402"/>
              <a:gd name="T13" fmla="*/ 0 h 334"/>
              <a:gd name="T14" fmla="*/ 1402 w 1402"/>
              <a:gd name="T15" fmla="*/ 334 h 3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2" h="334">
                <a:moveTo>
                  <a:pt x="1402" y="0"/>
                </a:moveTo>
                <a:cubicBezTo>
                  <a:pt x="1360" y="26"/>
                  <a:pt x="1331" y="144"/>
                  <a:pt x="1150" y="180"/>
                </a:cubicBezTo>
                <a:cubicBezTo>
                  <a:pt x="969" y="216"/>
                  <a:pt x="505" y="191"/>
                  <a:pt x="313" y="217"/>
                </a:cubicBezTo>
                <a:cubicBezTo>
                  <a:pt x="121" y="243"/>
                  <a:pt x="65" y="310"/>
                  <a:pt x="0" y="334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7" name="Text Box 76">
            <a:extLst>
              <a:ext uri="{FF2B5EF4-FFF2-40B4-BE49-F238E27FC236}">
                <a16:creationId xmlns:a16="http://schemas.microsoft.com/office/drawing/2014/main" id="{42A3E8A2-ECA7-4C82-AB4C-1C3B12FE8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3" y="4300538"/>
            <a:ext cx="415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baseline="-25000">
                <a:solidFill>
                  <a:srgbClr val="FF3300"/>
                </a:solidFill>
                <a:sym typeface="Symbol" panose="05050102010706020507" pitchFamily="18" charset="2"/>
              </a:rPr>
              <a:t>＝</a:t>
            </a:r>
            <a:endParaRPr kumimoji="0" lang="zh-CN" altLang="en-US" sz="2400" b="1" baseline="-25000">
              <a:solidFill>
                <a:srgbClr val="FF3300"/>
              </a:solidFill>
            </a:endParaRPr>
          </a:p>
        </p:txBody>
      </p:sp>
      <p:sp>
        <p:nvSpPr>
          <p:cNvPr id="113698" name="Freeform 77">
            <a:extLst>
              <a:ext uri="{FF2B5EF4-FFF2-40B4-BE49-F238E27FC236}">
                <a16:creationId xmlns:a16="http://schemas.microsoft.com/office/drawing/2014/main" id="{ED3BB15D-6C37-4C7B-AFCE-7B200032C116}"/>
              </a:ext>
            </a:extLst>
          </p:cNvPr>
          <p:cNvSpPr>
            <a:spLocks/>
          </p:cNvSpPr>
          <p:nvPr/>
        </p:nvSpPr>
        <p:spPr bwMode="auto">
          <a:xfrm>
            <a:off x="3519488" y="4583113"/>
            <a:ext cx="1724025" cy="250825"/>
          </a:xfrm>
          <a:custGeom>
            <a:avLst/>
            <a:gdLst>
              <a:gd name="T0" fmla="*/ 0 w 2142"/>
              <a:gd name="T1" fmla="*/ 2147483646 h 218"/>
              <a:gd name="T2" fmla="*/ 2147483646 w 2142"/>
              <a:gd name="T3" fmla="*/ 2147483646 h 218"/>
              <a:gd name="T4" fmla="*/ 2147483646 w 2142"/>
              <a:gd name="T5" fmla="*/ 2147483646 h 218"/>
              <a:gd name="T6" fmla="*/ 2147483646 w 2142"/>
              <a:gd name="T7" fmla="*/ 2147483646 h 218"/>
              <a:gd name="T8" fmla="*/ 2147483646 w 2142"/>
              <a:gd name="T9" fmla="*/ 0 h 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42"/>
              <a:gd name="T16" fmla="*/ 0 h 218"/>
              <a:gd name="T17" fmla="*/ 2142 w 2142"/>
              <a:gd name="T18" fmla="*/ 218 h 2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42" h="218">
                <a:moveTo>
                  <a:pt x="0" y="12"/>
                </a:moveTo>
                <a:cubicBezTo>
                  <a:pt x="85" y="77"/>
                  <a:pt x="169" y="142"/>
                  <a:pt x="391" y="176"/>
                </a:cubicBezTo>
                <a:cubicBezTo>
                  <a:pt x="613" y="210"/>
                  <a:pt x="1071" y="218"/>
                  <a:pt x="1330" y="217"/>
                </a:cubicBezTo>
                <a:cubicBezTo>
                  <a:pt x="1589" y="216"/>
                  <a:pt x="1809" y="207"/>
                  <a:pt x="1944" y="171"/>
                </a:cubicBezTo>
                <a:cubicBezTo>
                  <a:pt x="2079" y="135"/>
                  <a:pt x="2101" y="36"/>
                  <a:pt x="2142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9" name="Freeform 78">
            <a:extLst>
              <a:ext uri="{FF2B5EF4-FFF2-40B4-BE49-F238E27FC236}">
                <a16:creationId xmlns:a16="http://schemas.microsoft.com/office/drawing/2014/main" id="{011B9189-3F1D-4AF2-8278-6C49819F3F9E}"/>
              </a:ext>
            </a:extLst>
          </p:cNvPr>
          <p:cNvSpPr>
            <a:spLocks/>
          </p:cNvSpPr>
          <p:nvPr/>
        </p:nvSpPr>
        <p:spPr bwMode="auto">
          <a:xfrm>
            <a:off x="1219200" y="4572000"/>
            <a:ext cx="342900" cy="342900"/>
          </a:xfrm>
          <a:custGeom>
            <a:avLst/>
            <a:gdLst>
              <a:gd name="T0" fmla="*/ 0 w 216"/>
              <a:gd name="T1" fmla="*/ 0 h 216"/>
              <a:gd name="T2" fmla="*/ 2147483646 w 216"/>
              <a:gd name="T3" fmla="*/ 2147483646 h 216"/>
              <a:gd name="T4" fmla="*/ 2147483646 w 216"/>
              <a:gd name="T5" fmla="*/ 2147483646 h 216"/>
              <a:gd name="T6" fmla="*/ 2147483646 w 216"/>
              <a:gd name="T7" fmla="*/ 0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6"/>
              <a:gd name="T13" fmla="*/ 0 h 216"/>
              <a:gd name="T14" fmla="*/ 216 w 216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" h="216">
                <a:moveTo>
                  <a:pt x="0" y="0"/>
                </a:moveTo>
                <a:cubicBezTo>
                  <a:pt x="8" y="84"/>
                  <a:pt x="16" y="168"/>
                  <a:pt x="48" y="192"/>
                </a:cubicBezTo>
                <a:cubicBezTo>
                  <a:pt x="80" y="216"/>
                  <a:pt x="168" y="176"/>
                  <a:pt x="192" y="144"/>
                </a:cubicBezTo>
                <a:cubicBezTo>
                  <a:pt x="216" y="112"/>
                  <a:pt x="204" y="56"/>
                  <a:pt x="192" y="0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00" name="Freeform 79">
            <a:extLst>
              <a:ext uri="{FF2B5EF4-FFF2-40B4-BE49-F238E27FC236}">
                <a16:creationId xmlns:a16="http://schemas.microsoft.com/office/drawing/2014/main" id="{9CFAA0ED-FC99-4A91-B42A-A927A214B26A}"/>
              </a:ext>
            </a:extLst>
          </p:cNvPr>
          <p:cNvSpPr>
            <a:spLocks/>
          </p:cNvSpPr>
          <p:nvPr/>
        </p:nvSpPr>
        <p:spPr bwMode="auto">
          <a:xfrm>
            <a:off x="5257800" y="5943600"/>
            <a:ext cx="2819400" cy="254000"/>
          </a:xfrm>
          <a:custGeom>
            <a:avLst/>
            <a:gdLst>
              <a:gd name="T0" fmla="*/ 2147483646 w 1336"/>
              <a:gd name="T1" fmla="*/ 2147483646 h 112"/>
              <a:gd name="T2" fmla="*/ 2147483646 w 1336"/>
              <a:gd name="T3" fmla="*/ 2147483646 h 112"/>
              <a:gd name="T4" fmla="*/ 2147483646 w 1336"/>
              <a:gd name="T5" fmla="*/ 2147483646 h 112"/>
              <a:gd name="T6" fmla="*/ 2147483646 w 1336"/>
              <a:gd name="T7" fmla="*/ 2147483646 h 112"/>
              <a:gd name="T8" fmla="*/ 2147483646 w 1336"/>
              <a:gd name="T9" fmla="*/ 2147483646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36"/>
              <a:gd name="T16" fmla="*/ 0 h 112"/>
              <a:gd name="T17" fmla="*/ 1336 w 1336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36" h="112">
                <a:moveTo>
                  <a:pt x="40" y="112"/>
                </a:moveTo>
                <a:cubicBezTo>
                  <a:pt x="20" y="72"/>
                  <a:pt x="0" y="32"/>
                  <a:pt x="136" y="16"/>
                </a:cubicBezTo>
                <a:cubicBezTo>
                  <a:pt x="272" y="0"/>
                  <a:pt x="680" y="16"/>
                  <a:pt x="856" y="16"/>
                </a:cubicBezTo>
                <a:cubicBezTo>
                  <a:pt x="1032" y="16"/>
                  <a:pt x="1112" y="0"/>
                  <a:pt x="1192" y="16"/>
                </a:cubicBezTo>
                <a:cubicBezTo>
                  <a:pt x="1272" y="32"/>
                  <a:pt x="1304" y="72"/>
                  <a:pt x="1336" y="112"/>
                </a:cubicBezTo>
              </a:path>
            </a:pathLst>
          </a:custGeom>
          <a:noFill/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ED46D3B8-8151-426C-AD9E-D8BF24AC4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FIRST&amp;FOLLOW</a:t>
            </a:r>
            <a:r>
              <a:rPr lang="zh-CN" altLang="en-US"/>
              <a:t>与预测分析</a:t>
            </a:r>
          </a:p>
        </p:txBody>
      </p:sp>
      <p:sp>
        <p:nvSpPr>
          <p:cNvPr id="114691" name="Text Box 37">
            <a:extLst>
              <a:ext uri="{FF2B5EF4-FFF2-40B4-BE49-F238E27FC236}">
                <a16:creationId xmlns:a16="http://schemas.microsoft.com/office/drawing/2014/main" id="{158909B6-331A-44F0-8AB7-2CC88C8FC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219200"/>
            <a:ext cx="586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Consider the following derivation:</a:t>
            </a:r>
          </a:p>
        </p:txBody>
      </p:sp>
      <p:sp>
        <p:nvSpPr>
          <p:cNvPr id="114692" name="Text Box 38">
            <a:extLst>
              <a:ext uri="{FF2B5EF4-FFF2-40B4-BE49-F238E27FC236}">
                <a16:creationId xmlns:a16="http://schemas.microsoft.com/office/drawing/2014/main" id="{5A9CD52B-7B74-4316-979B-C1EB4F9AE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133600"/>
            <a:ext cx="533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E </a:t>
            </a:r>
            <a:r>
              <a:rPr kumimoji="0" lang="en-US" altLang="zh-CN" sz="1800" b="1">
                <a:sym typeface="Symbol" panose="05050102010706020507" pitchFamily="18" charset="2"/>
              </a:rPr>
              <a:t> TE’  FT’E’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1800" b="1"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</a:p>
        </p:txBody>
      </p:sp>
      <p:sp>
        <p:nvSpPr>
          <p:cNvPr id="114693" name="Text Box 39">
            <a:extLst>
              <a:ext uri="{FF2B5EF4-FFF2-40B4-BE49-F238E27FC236}">
                <a16:creationId xmlns:a16="http://schemas.microsoft.com/office/drawing/2014/main" id="{75044E00-57B7-4DEC-A326-3C7FB69BC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971800"/>
            <a:ext cx="563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chemeClr val="accent2"/>
                </a:solidFill>
              </a:rPr>
              <a:t>(</a:t>
            </a:r>
            <a:r>
              <a:rPr kumimoji="0" lang="en-US" altLang="zh-CN" sz="1800" b="1"/>
              <a:t> TE’ </a:t>
            </a:r>
            <a:r>
              <a:rPr kumimoji="0" lang="en-US" altLang="zh-CN" sz="1800" b="1">
                <a:solidFill>
                  <a:schemeClr val="accent2"/>
                </a:solidFill>
              </a:rPr>
              <a:t>)</a:t>
            </a:r>
            <a:r>
              <a:rPr kumimoji="0" lang="en-US" altLang="zh-CN" sz="1800" b="1"/>
              <a:t> T’E’ </a:t>
            </a:r>
            <a:r>
              <a:rPr kumimoji="0" lang="en-US" altLang="zh-CN" sz="1800" b="1">
                <a:sym typeface="Symbol" panose="05050102010706020507" pitchFamily="18" charset="2"/>
              </a:rPr>
              <a:t>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1800" b="1">
                <a:sym typeface="Symbol" panose="05050102010706020507" pitchFamily="18" charset="2"/>
              </a:rPr>
              <a:t>FT’E’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 )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1800" b="1">
                <a:sym typeface="Symbol" panose="05050102010706020507" pitchFamily="18" charset="2"/>
              </a:rPr>
              <a:t> T’E’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1800" b="1">
                <a:sym typeface="Symbol" panose="05050102010706020507" pitchFamily="18" charset="2"/>
              </a:rPr>
              <a:t> T’E’  </a:t>
            </a:r>
          </a:p>
        </p:txBody>
      </p:sp>
      <p:sp>
        <p:nvSpPr>
          <p:cNvPr id="114694" name="Text Box 40">
            <a:extLst>
              <a:ext uri="{FF2B5EF4-FFF2-40B4-BE49-F238E27FC236}">
                <a16:creationId xmlns:a16="http://schemas.microsoft.com/office/drawing/2014/main" id="{65E69942-0C59-45D4-9D0C-B16B952B3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429000"/>
            <a:ext cx="533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</a:t>
            </a:r>
            <a:r>
              <a:rPr kumimoji="0" lang="en-US" altLang="zh-CN" sz="1800" b="1">
                <a:sym typeface="Symbol" panose="05050102010706020507" pitchFamily="18" charset="2"/>
              </a:rPr>
              <a:t> E’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18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FT’E’  </a:t>
            </a:r>
          </a:p>
        </p:txBody>
      </p:sp>
      <p:sp>
        <p:nvSpPr>
          <p:cNvPr id="114695" name="Text Box 41">
            <a:extLst>
              <a:ext uri="{FF2B5EF4-FFF2-40B4-BE49-F238E27FC236}">
                <a16:creationId xmlns:a16="http://schemas.microsoft.com/office/drawing/2014/main" id="{3A3E40DB-C087-41FB-8423-3836FA914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91000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1800" b="1">
                <a:sym typeface="Symbol" panose="05050102010706020507" pitchFamily="18" charset="2"/>
              </a:rPr>
              <a:t>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1800" b="1">
                <a:sym typeface="Symbol" panose="05050102010706020507" pitchFamily="18" charset="2"/>
              </a:rPr>
              <a:t>TE’  </a:t>
            </a:r>
          </a:p>
        </p:txBody>
      </p:sp>
      <p:sp>
        <p:nvSpPr>
          <p:cNvPr id="114696" name="Text Box 42">
            <a:extLst>
              <a:ext uri="{FF2B5EF4-FFF2-40B4-BE49-F238E27FC236}">
                <a16:creationId xmlns:a16="http://schemas.microsoft.com/office/drawing/2014/main" id="{FCF7A477-BBEB-4B1D-B969-A9942B50B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648200"/>
            <a:ext cx="586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+ </a:t>
            </a:r>
            <a:r>
              <a:rPr kumimoji="0" lang="en-US" altLang="zh-CN" sz="1800" b="1">
                <a:sym typeface="Symbol" panose="05050102010706020507" pitchFamily="18" charset="2"/>
              </a:rPr>
              <a:t>FT’E’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id + id </a:t>
            </a:r>
            <a:r>
              <a:rPr kumimoji="0" lang="en-US" altLang="zh-CN" sz="1800" b="1">
                <a:sym typeface="Symbol" panose="05050102010706020507" pitchFamily="18" charset="2"/>
              </a:rPr>
              <a:t>T’E’ 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 id ) * id + id$</a:t>
            </a:r>
          </a:p>
        </p:txBody>
      </p:sp>
      <p:sp>
        <p:nvSpPr>
          <p:cNvPr id="114697" name="Text Box 43">
            <a:extLst>
              <a:ext uri="{FF2B5EF4-FFF2-40B4-BE49-F238E27FC236}">
                <a16:creationId xmlns:a16="http://schemas.microsoft.com/office/drawing/2014/main" id="{8F2E106D-21F3-4BBD-8DB4-ADE187A3D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572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*</a:t>
            </a:r>
          </a:p>
        </p:txBody>
      </p:sp>
      <p:sp>
        <p:nvSpPr>
          <p:cNvPr id="114698" name="Text Box 44">
            <a:extLst>
              <a:ext uri="{FF2B5EF4-FFF2-40B4-BE49-F238E27FC236}">
                <a16:creationId xmlns:a16="http://schemas.microsoft.com/office/drawing/2014/main" id="{5F36F035-EB35-40BE-B966-F4503B40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600200"/>
            <a:ext cx="54864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00CC00"/>
                </a:solidFill>
              </a:rPr>
              <a:t>What are implications ?              </a:t>
            </a:r>
            <a:r>
              <a:rPr kumimoji="0" lang="en-US" altLang="zh-CN" sz="1800" b="1">
                <a:solidFill>
                  <a:schemeClr val="accent2"/>
                </a:solidFill>
              </a:rPr>
              <a:t>( id ) * id + id$ (input)</a:t>
            </a:r>
            <a:endParaRPr kumimoji="0" lang="en-US" altLang="zh-CN" sz="1800" b="1">
              <a:solidFill>
                <a:srgbClr val="00CC00"/>
              </a:solidFill>
            </a:endParaRPr>
          </a:p>
        </p:txBody>
      </p:sp>
      <p:sp>
        <p:nvSpPr>
          <p:cNvPr id="114699" name="Text Box 45">
            <a:extLst>
              <a:ext uri="{FF2B5EF4-FFF2-40B4-BE49-F238E27FC236}">
                <a16:creationId xmlns:a16="http://schemas.microsoft.com/office/drawing/2014/main" id="{3678BA4B-E72B-40E0-8592-EBCCC3ED7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667000"/>
            <a:ext cx="1295400" cy="361950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1.  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M [ E, ( ]</a:t>
            </a:r>
            <a:endParaRPr kumimoji="0" lang="en-US" altLang="zh-CN" sz="1600" b="1"/>
          </a:p>
        </p:txBody>
      </p:sp>
      <p:sp>
        <p:nvSpPr>
          <p:cNvPr id="114700" name="Line 46">
            <a:extLst>
              <a:ext uri="{FF2B5EF4-FFF2-40B4-BE49-F238E27FC236}">
                <a16:creationId xmlns:a16="http://schemas.microsoft.com/office/drawing/2014/main" id="{8B305AE0-24EA-4BBC-BFD0-A4F341E987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2438400"/>
            <a:ext cx="304800" cy="3048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1" name="Freeform 47">
            <a:extLst>
              <a:ext uri="{FF2B5EF4-FFF2-40B4-BE49-F238E27FC236}">
                <a16:creationId xmlns:a16="http://schemas.microsoft.com/office/drawing/2014/main" id="{90A08654-1EDB-44EC-9400-F38F36A86365}"/>
              </a:ext>
            </a:extLst>
          </p:cNvPr>
          <p:cNvSpPr>
            <a:spLocks/>
          </p:cNvSpPr>
          <p:nvPr/>
        </p:nvSpPr>
        <p:spPr bwMode="auto">
          <a:xfrm>
            <a:off x="1905000" y="1905000"/>
            <a:ext cx="2819400" cy="304800"/>
          </a:xfrm>
          <a:custGeom>
            <a:avLst/>
            <a:gdLst>
              <a:gd name="T0" fmla="*/ 2147483646 w 1776"/>
              <a:gd name="T1" fmla="*/ 0 h 192"/>
              <a:gd name="T2" fmla="*/ 2147483646 w 1776"/>
              <a:gd name="T3" fmla="*/ 2147483646 h 192"/>
              <a:gd name="T4" fmla="*/ 2147483646 w 1776"/>
              <a:gd name="T5" fmla="*/ 2147483646 h 192"/>
              <a:gd name="T6" fmla="*/ 2147483646 w 1776"/>
              <a:gd name="T7" fmla="*/ 2147483646 h 192"/>
              <a:gd name="T8" fmla="*/ 0 w 1776"/>
              <a:gd name="T9" fmla="*/ 2147483646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76"/>
              <a:gd name="T16" fmla="*/ 0 h 192"/>
              <a:gd name="T17" fmla="*/ 1776 w 1776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76" h="192">
                <a:moveTo>
                  <a:pt x="1776" y="0"/>
                </a:moveTo>
                <a:cubicBezTo>
                  <a:pt x="1772" y="20"/>
                  <a:pt x="1768" y="40"/>
                  <a:pt x="1584" y="48"/>
                </a:cubicBezTo>
                <a:cubicBezTo>
                  <a:pt x="1400" y="56"/>
                  <a:pt x="912" y="48"/>
                  <a:pt x="672" y="48"/>
                </a:cubicBezTo>
                <a:cubicBezTo>
                  <a:pt x="432" y="48"/>
                  <a:pt x="256" y="24"/>
                  <a:pt x="144" y="48"/>
                </a:cubicBezTo>
                <a:cubicBezTo>
                  <a:pt x="32" y="72"/>
                  <a:pt x="16" y="132"/>
                  <a:pt x="0" y="192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2" name="Freeform 48">
            <a:extLst>
              <a:ext uri="{FF2B5EF4-FFF2-40B4-BE49-F238E27FC236}">
                <a16:creationId xmlns:a16="http://schemas.microsoft.com/office/drawing/2014/main" id="{537A2105-2C5C-4D18-9FCD-D6C19C1189E9}"/>
              </a:ext>
            </a:extLst>
          </p:cNvPr>
          <p:cNvSpPr>
            <a:spLocks/>
          </p:cNvSpPr>
          <p:nvPr/>
        </p:nvSpPr>
        <p:spPr bwMode="auto">
          <a:xfrm>
            <a:off x="2578100" y="1905000"/>
            <a:ext cx="2222500" cy="381000"/>
          </a:xfrm>
          <a:custGeom>
            <a:avLst/>
            <a:gdLst>
              <a:gd name="T0" fmla="*/ 2147483646 w 1400"/>
              <a:gd name="T1" fmla="*/ 0 h 240"/>
              <a:gd name="T2" fmla="*/ 2147483646 w 1400"/>
              <a:gd name="T3" fmla="*/ 2147483646 h 240"/>
              <a:gd name="T4" fmla="*/ 2147483646 w 1400"/>
              <a:gd name="T5" fmla="*/ 2147483646 h 240"/>
              <a:gd name="T6" fmla="*/ 2147483646 w 1400"/>
              <a:gd name="T7" fmla="*/ 2147483646 h 240"/>
              <a:gd name="T8" fmla="*/ 2147483646 w 1400"/>
              <a:gd name="T9" fmla="*/ 2147483646 h 240"/>
              <a:gd name="T10" fmla="*/ 2147483646 w 1400"/>
              <a:gd name="T11" fmla="*/ 2147483646 h 2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0"/>
              <a:gd name="T19" fmla="*/ 0 h 240"/>
              <a:gd name="T20" fmla="*/ 1400 w 1400"/>
              <a:gd name="T21" fmla="*/ 240 h 2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0" h="240">
                <a:moveTo>
                  <a:pt x="1400" y="0"/>
                </a:moveTo>
                <a:cubicBezTo>
                  <a:pt x="1396" y="40"/>
                  <a:pt x="1392" y="80"/>
                  <a:pt x="1352" y="96"/>
                </a:cubicBezTo>
                <a:cubicBezTo>
                  <a:pt x="1312" y="112"/>
                  <a:pt x="1280" y="96"/>
                  <a:pt x="1160" y="96"/>
                </a:cubicBezTo>
                <a:cubicBezTo>
                  <a:pt x="1040" y="96"/>
                  <a:pt x="808" y="96"/>
                  <a:pt x="632" y="96"/>
                </a:cubicBezTo>
                <a:cubicBezTo>
                  <a:pt x="456" y="96"/>
                  <a:pt x="208" y="72"/>
                  <a:pt x="104" y="96"/>
                </a:cubicBezTo>
                <a:cubicBezTo>
                  <a:pt x="0" y="120"/>
                  <a:pt x="4" y="180"/>
                  <a:pt x="8" y="240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3" name="Freeform 49">
            <a:extLst>
              <a:ext uri="{FF2B5EF4-FFF2-40B4-BE49-F238E27FC236}">
                <a16:creationId xmlns:a16="http://schemas.microsoft.com/office/drawing/2014/main" id="{96FD028B-D2C7-4F45-8518-DFAE9339DDAC}"/>
              </a:ext>
            </a:extLst>
          </p:cNvPr>
          <p:cNvSpPr>
            <a:spLocks/>
          </p:cNvSpPr>
          <p:nvPr/>
        </p:nvSpPr>
        <p:spPr bwMode="auto">
          <a:xfrm>
            <a:off x="3505200" y="1905000"/>
            <a:ext cx="1346200" cy="304800"/>
          </a:xfrm>
          <a:custGeom>
            <a:avLst/>
            <a:gdLst>
              <a:gd name="T0" fmla="*/ 2147483646 w 848"/>
              <a:gd name="T1" fmla="*/ 0 h 192"/>
              <a:gd name="T2" fmla="*/ 2147483646 w 848"/>
              <a:gd name="T3" fmla="*/ 2147483646 h 192"/>
              <a:gd name="T4" fmla="*/ 2147483646 w 848"/>
              <a:gd name="T5" fmla="*/ 2147483646 h 192"/>
              <a:gd name="T6" fmla="*/ 2147483646 w 848"/>
              <a:gd name="T7" fmla="*/ 2147483646 h 192"/>
              <a:gd name="T8" fmla="*/ 0 w 848"/>
              <a:gd name="T9" fmla="*/ 2147483646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192"/>
              <a:gd name="T17" fmla="*/ 848 w 848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192">
                <a:moveTo>
                  <a:pt x="816" y="0"/>
                </a:moveTo>
                <a:cubicBezTo>
                  <a:pt x="832" y="60"/>
                  <a:pt x="848" y="120"/>
                  <a:pt x="816" y="144"/>
                </a:cubicBezTo>
                <a:cubicBezTo>
                  <a:pt x="784" y="168"/>
                  <a:pt x="728" y="144"/>
                  <a:pt x="624" y="144"/>
                </a:cubicBezTo>
                <a:cubicBezTo>
                  <a:pt x="520" y="144"/>
                  <a:pt x="296" y="136"/>
                  <a:pt x="192" y="144"/>
                </a:cubicBezTo>
                <a:cubicBezTo>
                  <a:pt x="88" y="152"/>
                  <a:pt x="44" y="172"/>
                  <a:pt x="0" y="192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4" name="Text Box 50">
            <a:extLst>
              <a:ext uri="{FF2B5EF4-FFF2-40B4-BE49-F238E27FC236}">
                <a16:creationId xmlns:a16="http://schemas.microsoft.com/office/drawing/2014/main" id="{C3D03274-1019-4FEC-82AA-7992A67BA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667000"/>
            <a:ext cx="1219200" cy="3127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2.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T, ( ]</a:t>
            </a:r>
            <a:endParaRPr kumimoji="0" lang="en-US" altLang="zh-CN" sz="1600" b="1"/>
          </a:p>
        </p:txBody>
      </p:sp>
      <p:sp>
        <p:nvSpPr>
          <p:cNvPr id="114705" name="Text Box 51">
            <a:extLst>
              <a:ext uri="{FF2B5EF4-FFF2-40B4-BE49-F238E27FC236}">
                <a16:creationId xmlns:a16="http://schemas.microsoft.com/office/drawing/2014/main" id="{586E0F84-8B8F-458E-9022-6C3EE1E3A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600200"/>
            <a:ext cx="1981200" cy="46529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2250" indent="-2222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1. E </a:t>
            </a:r>
            <a:r>
              <a:rPr kumimoji="0" lang="en-US" altLang="zh-CN" sz="1800" b="1">
                <a:sym typeface="Symbol" panose="05050102010706020507" pitchFamily="18" charset="2"/>
              </a:rPr>
              <a:t> TE’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1800" b="1">
                <a:sym typeface="Symbol" panose="05050102010706020507" pitchFamily="18" charset="2"/>
              </a:rPr>
              <a:t>  in First(TE’)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2. </a:t>
            </a:r>
            <a:r>
              <a:rPr kumimoji="0" lang="en-US" altLang="zh-CN" sz="1800" b="1"/>
              <a:t>T</a:t>
            </a:r>
            <a:r>
              <a:rPr kumimoji="0" lang="en-US" altLang="zh-CN" sz="1800" b="1">
                <a:sym typeface="Symbol" panose="05050102010706020507" pitchFamily="18" charset="2"/>
              </a:rPr>
              <a:t>FT’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1800" b="1">
                <a:sym typeface="Symbol" panose="05050102010706020507" pitchFamily="18" charset="2"/>
              </a:rPr>
              <a:t> in First(FT’)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3. F (E)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1800" b="1">
                <a:sym typeface="Symbol" panose="05050102010706020507" pitchFamily="18" charset="2"/>
              </a:rPr>
              <a:t> in First(‘(E)’)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4. E’ </a:t>
            </a:r>
            <a:r>
              <a: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ym typeface="Symbol" panose="05050102010706020507" pitchFamily="18" charset="2"/>
              </a:rPr>
              <a:t> and </a:t>
            </a:r>
            <a:r>
              <a:rPr kumimoji="0" lang="en-US" altLang="zh-CN" sz="1800" b="1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kumimoji="0" lang="en-US" altLang="zh-CN" sz="1800" b="1">
                <a:sym typeface="Symbol" panose="05050102010706020507" pitchFamily="18" charset="2"/>
              </a:rPr>
              <a:t>in Follow(E’)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5. Since $ in Follow(T’),   T’ </a:t>
            </a:r>
            <a:r>
              <a: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ym typeface="Symbol" panose="05050102010706020507" pitchFamily="18" charset="2"/>
              </a:rPr>
              <a:t>6. Since $ in Follow(E’),   E’ </a:t>
            </a:r>
            <a:r>
              <a:rPr kumimoji="0" lang="en-US" altLang="zh-CN" sz="18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1800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14706" name="Line 52">
            <a:extLst>
              <a:ext uri="{FF2B5EF4-FFF2-40B4-BE49-F238E27FC236}">
                <a16:creationId xmlns:a16="http://schemas.microsoft.com/office/drawing/2014/main" id="{F58CFDBA-A245-488D-8B5E-3338122E65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362200"/>
            <a:ext cx="0" cy="2286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7" name="Text Box 53">
            <a:extLst>
              <a:ext uri="{FF2B5EF4-FFF2-40B4-BE49-F238E27FC236}">
                <a16:creationId xmlns:a16="http://schemas.microsoft.com/office/drawing/2014/main" id="{BD0A2D53-8A56-4E40-972B-4463C5814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667000"/>
            <a:ext cx="1219200" cy="3127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3.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F, ( ]</a:t>
            </a:r>
            <a:endParaRPr kumimoji="0" lang="en-US" altLang="zh-CN" sz="1600" b="1"/>
          </a:p>
        </p:txBody>
      </p:sp>
      <p:sp>
        <p:nvSpPr>
          <p:cNvPr id="114708" name="Line 54">
            <a:extLst>
              <a:ext uri="{FF2B5EF4-FFF2-40B4-BE49-F238E27FC236}">
                <a16:creationId xmlns:a16="http://schemas.microsoft.com/office/drawing/2014/main" id="{A000D03D-3524-4624-9DD9-505A36DDE5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2438400"/>
            <a:ext cx="304800" cy="2286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9" name="Freeform 55">
            <a:extLst>
              <a:ext uri="{FF2B5EF4-FFF2-40B4-BE49-F238E27FC236}">
                <a16:creationId xmlns:a16="http://schemas.microsoft.com/office/drawing/2014/main" id="{B1042027-CEF3-4D52-9155-2EEBDD2002AF}"/>
              </a:ext>
            </a:extLst>
          </p:cNvPr>
          <p:cNvSpPr>
            <a:spLocks/>
          </p:cNvSpPr>
          <p:nvPr/>
        </p:nvSpPr>
        <p:spPr bwMode="auto">
          <a:xfrm>
            <a:off x="2781300" y="1905000"/>
            <a:ext cx="4140200" cy="1676400"/>
          </a:xfrm>
          <a:custGeom>
            <a:avLst/>
            <a:gdLst>
              <a:gd name="T0" fmla="*/ 2147483646 w 2608"/>
              <a:gd name="T1" fmla="*/ 0 h 1200"/>
              <a:gd name="T2" fmla="*/ 2147483646 w 2608"/>
              <a:gd name="T3" fmla="*/ 2147483646 h 1200"/>
              <a:gd name="T4" fmla="*/ 2147483646 w 2608"/>
              <a:gd name="T5" fmla="*/ 2147483646 h 1200"/>
              <a:gd name="T6" fmla="*/ 2147483646 w 2608"/>
              <a:gd name="T7" fmla="*/ 2147483646 h 1200"/>
              <a:gd name="T8" fmla="*/ 2147483646 w 2608"/>
              <a:gd name="T9" fmla="*/ 2147483646 h 1200"/>
              <a:gd name="T10" fmla="*/ 2147483646 w 2608"/>
              <a:gd name="T11" fmla="*/ 2147483646 h 1200"/>
              <a:gd name="T12" fmla="*/ 2147483646 w 2608"/>
              <a:gd name="T13" fmla="*/ 2147483646 h 1200"/>
              <a:gd name="T14" fmla="*/ 2147483646 w 2608"/>
              <a:gd name="T15" fmla="*/ 2147483646 h 12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608"/>
              <a:gd name="T25" fmla="*/ 0 h 1200"/>
              <a:gd name="T26" fmla="*/ 2608 w 2608"/>
              <a:gd name="T27" fmla="*/ 1200 h 12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608" h="1200">
                <a:moveTo>
                  <a:pt x="1464" y="0"/>
                </a:moveTo>
                <a:cubicBezTo>
                  <a:pt x="1464" y="64"/>
                  <a:pt x="1464" y="128"/>
                  <a:pt x="1560" y="192"/>
                </a:cubicBezTo>
                <a:cubicBezTo>
                  <a:pt x="1656" y="256"/>
                  <a:pt x="1888" y="336"/>
                  <a:pt x="2040" y="384"/>
                </a:cubicBezTo>
                <a:cubicBezTo>
                  <a:pt x="2192" y="432"/>
                  <a:pt x="2392" y="384"/>
                  <a:pt x="2472" y="480"/>
                </a:cubicBezTo>
                <a:cubicBezTo>
                  <a:pt x="2552" y="576"/>
                  <a:pt x="2608" y="872"/>
                  <a:pt x="2520" y="960"/>
                </a:cubicBezTo>
                <a:cubicBezTo>
                  <a:pt x="2432" y="1048"/>
                  <a:pt x="2312" y="1000"/>
                  <a:pt x="1944" y="1008"/>
                </a:cubicBezTo>
                <a:cubicBezTo>
                  <a:pt x="1576" y="1016"/>
                  <a:pt x="624" y="976"/>
                  <a:pt x="312" y="1008"/>
                </a:cubicBezTo>
                <a:cubicBezTo>
                  <a:pt x="0" y="1040"/>
                  <a:pt x="36" y="1120"/>
                  <a:pt x="72" y="1200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10" name="Text Box 56">
            <a:extLst>
              <a:ext uri="{FF2B5EF4-FFF2-40B4-BE49-F238E27FC236}">
                <a16:creationId xmlns:a16="http://schemas.microsoft.com/office/drawing/2014/main" id="{C843CB60-9AA6-4993-A29D-1BC0A9D82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86200"/>
            <a:ext cx="1371600" cy="3127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4.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E’, ) ]</a:t>
            </a:r>
            <a:endParaRPr kumimoji="0" lang="en-US" altLang="zh-CN" sz="1600" b="1"/>
          </a:p>
        </p:txBody>
      </p:sp>
      <p:sp>
        <p:nvSpPr>
          <p:cNvPr id="114711" name="Line 57">
            <a:extLst>
              <a:ext uri="{FF2B5EF4-FFF2-40B4-BE49-F238E27FC236}">
                <a16:creationId xmlns:a16="http://schemas.microsoft.com/office/drawing/2014/main" id="{29D6993D-EFD2-498D-8374-7BDBCC64BC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657600"/>
            <a:ext cx="0" cy="2286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12" name="Freeform 58">
            <a:extLst>
              <a:ext uri="{FF2B5EF4-FFF2-40B4-BE49-F238E27FC236}">
                <a16:creationId xmlns:a16="http://schemas.microsoft.com/office/drawing/2014/main" id="{40DA3886-B204-445F-8C8E-DA137AC7329A}"/>
              </a:ext>
            </a:extLst>
          </p:cNvPr>
          <p:cNvSpPr>
            <a:spLocks/>
          </p:cNvSpPr>
          <p:nvPr/>
        </p:nvSpPr>
        <p:spPr bwMode="auto">
          <a:xfrm>
            <a:off x="5410200" y="1905000"/>
            <a:ext cx="1612900" cy="2819400"/>
          </a:xfrm>
          <a:custGeom>
            <a:avLst/>
            <a:gdLst>
              <a:gd name="T0" fmla="*/ 2147483646 w 1016"/>
              <a:gd name="T1" fmla="*/ 0 h 2304"/>
              <a:gd name="T2" fmla="*/ 2147483646 w 1016"/>
              <a:gd name="T3" fmla="*/ 2147483646 h 2304"/>
              <a:gd name="T4" fmla="*/ 2147483646 w 1016"/>
              <a:gd name="T5" fmla="*/ 2147483646 h 2304"/>
              <a:gd name="T6" fmla="*/ 2147483646 w 1016"/>
              <a:gd name="T7" fmla="*/ 2147483646 h 2304"/>
              <a:gd name="T8" fmla="*/ 2147483646 w 1016"/>
              <a:gd name="T9" fmla="*/ 2147483646 h 2304"/>
              <a:gd name="T10" fmla="*/ 2147483646 w 1016"/>
              <a:gd name="T11" fmla="*/ 2147483646 h 2304"/>
              <a:gd name="T12" fmla="*/ 2147483646 w 1016"/>
              <a:gd name="T13" fmla="*/ 2147483646 h 2304"/>
              <a:gd name="T14" fmla="*/ 2147483646 w 1016"/>
              <a:gd name="T15" fmla="*/ 2147483646 h 2304"/>
              <a:gd name="T16" fmla="*/ 2147483646 w 1016"/>
              <a:gd name="T17" fmla="*/ 2147483646 h 2304"/>
              <a:gd name="T18" fmla="*/ 0 w 1016"/>
              <a:gd name="T19" fmla="*/ 2147483646 h 230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16"/>
              <a:gd name="T31" fmla="*/ 0 h 2304"/>
              <a:gd name="T32" fmla="*/ 1016 w 1016"/>
              <a:gd name="T33" fmla="*/ 2304 h 230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16" h="2304">
                <a:moveTo>
                  <a:pt x="384" y="0"/>
                </a:moveTo>
                <a:cubicBezTo>
                  <a:pt x="384" y="72"/>
                  <a:pt x="384" y="144"/>
                  <a:pt x="432" y="192"/>
                </a:cubicBezTo>
                <a:cubicBezTo>
                  <a:pt x="480" y="240"/>
                  <a:pt x="592" y="256"/>
                  <a:pt x="672" y="288"/>
                </a:cubicBezTo>
                <a:cubicBezTo>
                  <a:pt x="752" y="320"/>
                  <a:pt x="856" y="312"/>
                  <a:pt x="912" y="384"/>
                </a:cubicBezTo>
                <a:cubicBezTo>
                  <a:pt x="968" y="456"/>
                  <a:pt x="1000" y="536"/>
                  <a:pt x="1008" y="720"/>
                </a:cubicBezTo>
                <a:cubicBezTo>
                  <a:pt x="1016" y="904"/>
                  <a:pt x="976" y="1264"/>
                  <a:pt x="960" y="1488"/>
                </a:cubicBezTo>
                <a:cubicBezTo>
                  <a:pt x="944" y="1712"/>
                  <a:pt x="992" y="1952"/>
                  <a:pt x="912" y="2064"/>
                </a:cubicBezTo>
                <a:cubicBezTo>
                  <a:pt x="832" y="2176"/>
                  <a:pt x="608" y="2144"/>
                  <a:pt x="480" y="2160"/>
                </a:cubicBezTo>
                <a:cubicBezTo>
                  <a:pt x="352" y="2176"/>
                  <a:pt x="224" y="2136"/>
                  <a:pt x="144" y="2160"/>
                </a:cubicBezTo>
                <a:cubicBezTo>
                  <a:pt x="64" y="2184"/>
                  <a:pt x="32" y="2244"/>
                  <a:pt x="0" y="2304"/>
                </a:cubicBezTo>
              </a:path>
            </a:pathLst>
          </a:custGeom>
          <a:noFill/>
          <a:ln w="25400" cap="flat" cmpd="sng">
            <a:solidFill>
              <a:srgbClr val="00CC00"/>
            </a:solidFill>
            <a:prstDash val="solid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13" name="Text Box 59">
            <a:extLst>
              <a:ext uri="{FF2B5EF4-FFF2-40B4-BE49-F238E27FC236}">
                <a16:creationId xmlns:a16="http://schemas.microsoft.com/office/drawing/2014/main" id="{DE7AC95D-6BDD-4930-BE21-136D3DE2F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029200"/>
            <a:ext cx="1371600" cy="630238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5. </a:t>
            </a:r>
            <a:r>
              <a:rPr kumimoji="0" lang="en-US" altLang="zh-CN" sz="1600" b="1">
                <a:solidFill>
                  <a:srgbClr val="A50021"/>
                </a:solidFill>
              </a:rPr>
              <a:t>M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 [ T’, $ 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ym typeface="Symbol" panose="05050102010706020507" pitchFamily="18" charset="2"/>
              </a:rPr>
              <a:t>6. </a:t>
            </a:r>
            <a:r>
              <a:rPr kumimoji="0" lang="en-US" altLang="zh-CN" sz="1600" b="1">
                <a:solidFill>
                  <a:srgbClr val="A50021"/>
                </a:solidFill>
                <a:sym typeface="Symbol" panose="05050102010706020507" pitchFamily="18" charset="2"/>
              </a:rPr>
              <a:t>M [ E’, $ ]</a:t>
            </a:r>
            <a:endParaRPr kumimoji="0" lang="en-US" altLang="zh-CN" sz="1600" b="1"/>
          </a:p>
        </p:txBody>
      </p:sp>
      <p:sp>
        <p:nvSpPr>
          <p:cNvPr id="114714" name="Text Box 60">
            <a:extLst>
              <a:ext uri="{FF2B5EF4-FFF2-40B4-BE49-F238E27FC236}">
                <a16:creationId xmlns:a16="http://schemas.microsoft.com/office/drawing/2014/main" id="{90A47817-28AB-42E3-A385-BEAEC1CB1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066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A50021"/>
                </a:solidFill>
              </a:rPr>
              <a:t>M - Table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93317665-906A-41FA-B1DA-B091FFC5E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FIRST&amp;FOLLOW</a:t>
            </a:r>
            <a:r>
              <a:rPr lang="zh-CN" altLang="en-US"/>
              <a:t>的作用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65792F6D-EE42-4E1A-8120-CCAAD450E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590800"/>
          </a:xfrm>
        </p:spPr>
        <p:txBody>
          <a:bodyPr/>
          <a:lstStyle/>
          <a:p>
            <a:pPr eaLnBrk="1" hangingPunct="1"/>
            <a:r>
              <a:rPr lang="en-US" altLang="zh-CN"/>
              <a:t>FIRST</a:t>
            </a:r>
          </a:p>
          <a:p>
            <a:pPr lvl="1" eaLnBrk="1" hangingPunct="1"/>
            <a:r>
              <a:rPr lang="zh-CN" altLang="en-US"/>
              <a:t>表示</a:t>
            </a:r>
            <a:r>
              <a:rPr lang="en-US" altLang="zh-CN"/>
              <a:t>NT</a:t>
            </a:r>
            <a:r>
              <a:rPr lang="zh-CN" altLang="en-US"/>
              <a:t>（栈）和</a:t>
            </a:r>
            <a:r>
              <a:rPr lang="en-US" altLang="zh-CN"/>
              <a:t>T</a:t>
            </a:r>
            <a:r>
              <a:rPr lang="zh-CN" altLang="en-US"/>
              <a:t>（输入流）的关系</a:t>
            </a:r>
          </a:p>
          <a:p>
            <a:pPr lvl="1" eaLnBrk="1" hangingPunct="1"/>
            <a:r>
              <a:rPr kumimoji="0" lang="zh-CN" altLang="en-US"/>
              <a:t>若</a:t>
            </a:r>
            <a:r>
              <a:rPr kumimoji="0"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</a:t>
            </a:r>
            <a:r>
              <a:rPr kumimoji="0" lang="zh-CN" altLang="en-US">
                <a:sym typeface="Symbol" panose="05050102010706020507" pitchFamily="18" charset="2"/>
              </a:rPr>
              <a:t>，且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FIRST()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当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在栈顶，输入符号为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br>
              <a:rPr kumimoji="0" lang="en-US" altLang="zh-CN">
                <a:sym typeface="Symbol" panose="05050102010706020507" pitchFamily="18" charset="2"/>
              </a:rPr>
            </a:br>
            <a:r>
              <a:rPr kumimoji="0" lang="en-US" altLang="zh-CN">
                <a:sym typeface="Wingdings" panose="05000000000000000000" pitchFamily="2" charset="2"/>
              </a:rPr>
              <a:t></a:t>
            </a:r>
            <a:r>
              <a:rPr kumimoji="0" lang="zh-CN" altLang="en-US">
                <a:sym typeface="Symbol" panose="05050102010706020507" pitchFamily="18" charset="2"/>
              </a:rPr>
              <a:t>选择</a:t>
            </a:r>
            <a:r>
              <a:rPr kumimoji="0"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</a:t>
            </a:r>
            <a:r>
              <a:rPr kumimoji="0" lang="zh-CN" altLang="en-US">
                <a:sym typeface="Symbol" panose="05050102010706020507" pitchFamily="18" charset="2"/>
              </a:rPr>
              <a:t>进行推导</a:t>
            </a:r>
            <a:r>
              <a:rPr kumimoji="0" lang="en-US" altLang="zh-CN">
                <a:sym typeface="Symbol" panose="05050102010706020507" pitchFamily="18" charset="2"/>
              </a:rPr>
              <a:t>——</a:t>
            </a:r>
            <a:r>
              <a:rPr kumimoji="0" lang="zh-CN" altLang="en-US">
                <a:sym typeface="Symbol" panose="05050102010706020507" pitchFamily="18" charset="2"/>
              </a:rPr>
              <a:t>用替换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190FCB4-5DF7-44CC-B4CB-DC2149309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FIRST</a:t>
            </a:r>
            <a:r>
              <a:rPr lang="zh-CN" altLang="en-US"/>
              <a:t>作用（续）</a:t>
            </a:r>
          </a:p>
        </p:txBody>
      </p:sp>
      <p:sp>
        <p:nvSpPr>
          <p:cNvPr id="116739" name="Text Box 4">
            <a:extLst>
              <a:ext uri="{FF2B5EF4-FFF2-40B4-BE49-F238E27FC236}">
                <a16:creationId xmlns:a16="http://schemas.microsoft.com/office/drawing/2014/main" id="{1C97B79F-476B-4056-B76C-31FF12AC782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371600" y="1549400"/>
            <a:ext cx="7239000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栈			输入缓冲区</a:t>
            </a:r>
            <a:br>
              <a:rPr lang="zh-CN" altLang="en-US" sz="2800" dirty="0">
                <a:solidFill>
                  <a:srgbClr val="3333CC"/>
                </a:solidFill>
              </a:rPr>
            </a:b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</a:rPr>
              <a:t>			ay$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句型：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		</a:t>
            </a:r>
            <a:r>
              <a:rPr lang="zh-CN" altLang="en-US" sz="2800" dirty="0">
                <a:solidFill>
                  <a:srgbClr val="3333CC"/>
                </a:solidFill>
              </a:rPr>
              <a:t>输入：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ay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期待：</a:t>
            </a:r>
            <a:r>
              <a:rPr lang="en-US" altLang="zh-CN" sz="2800" dirty="0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kumimoji="0" lang="en-US" altLang="zh-CN" sz="2800" dirty="0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ay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即：想把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变成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开始的单词串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必然有：</a:t>
            </a:r>
            <a:r>
              <a:rPr kumimoji="0" lang="en-US" altLang="zh-CN" sz="2800" dirty="0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的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FIRST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集合包含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</a:p>
        </p:txBody>
      </p:sp>
      <p:sp>
        <p:nvSpPr>
          <p:cNvPr id="116740" name="Text Box 5">
            <a:extLst>
              <a:ext uri="{FF2B5EF4-FFF2-40B4-BE49-F238E27FC236}">
                <a16:creationId xmlns:a16="http://schemas.microsoft.com/office/drawing/2014/main" id="{DF6CDF98-C033-423D-96F1-659ACFBCE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3200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  <p:pic>
        <p:nvPicPr>
          <p:cNvPr id="116741" name="Picture 6" descr="first">
            <a:extLst>
              <a:ext uri="{FF2B5EF4-FFF2-40B4-BE49-F238E27FC236}">
                <a16:creationId xmlns:a16="http://schemas.microsoft.com/office/drawing/2014/main" id="{F01F36B7-4EEF-40F5-BBF3-B466CE620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052736"/>
            <a:ext cx="2817813" cy="287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7F4DDC21-A220-4B77-B9FB-B1C54A062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的作用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B66E5C38-6D9B-46F0-8504-1AD5F7753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048000"/>
          </a:xfrm>
        </p:spPr>
        <p:txBody>
          <a:bodyPr/>
          <a:lstStyle/>
          <a:p>
            <a:pPr eaLnBrk="1" hangingPunct="1"/>
            <a:r>
              <a:rPr kumimoji="0" lang="en-US" altLang="zh-CN" dirty="0">
                <a:sym typeface="Symbol" panose="05050102010706020507" pitchFamily="18" charset="2"/>
              </a:rPr>
              <a:t>FOLLOW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处理</a:t>
            </a:r>
            <a:r>
              <a:rPr kumimoji="0" lang="en-US" altLang="zh-CN" dirty="0">
                <a:sym typeface="Symbol" panose="05050102010706020507" pitchFamily="18" charset="2"/>
              </a:rPr>
              <a:t>FIRST</a:t>
            </a:r>
            <a:r>
              <a:rPr kumimoji="0" lang="zh-CN" altLang="en-US" dirty="0">
                <a:sym typeface="Symbol" panose="05050102010706020507" pitchFamily="18" charset="2"/>
              </a:rPr>
              <a:t>的冲突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当</a:t>
            </a:r>
            <a:r>
              <a:rPr kumimoji="0" lang="en-US" altLang="zh-CN" dirty="0">
                <a:sym typeface="Symbol" panose="05050102010706020507" pitchFamily="18" charset="2"/>
              </a:rPr>
              <a:t>=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Symbol" panose="05050102010706020507" pitchFamily="18" charset="2"/>
              </a:rPr>
              <a:t>或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ym typeface="Symbol" panose="05050102010706020507" pitchFamily="18" charset="2"/>
              </a:rPr>
              <a:t>，且当前输入符号</a:t>
            </a:r>
            <a:r>
              <a:rPr kumimoji="0" lang="en-US" altLang="zh-CN" dirty="0" err="1">
                <a:sym typeface="Symbol" panose="05050102010706020507" pitchFamily="18" charset="2"/>
              </a:rPr>
              <a:t>b</a:t>
            </a:r>
            <a:r>
              <a:rPr kumimoji="0" lang="en-US" altLang="zh-CN" dirty="0" err="1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dirty="0" err="1">
                <a:sym typeface="Symbol" panose="05050102010706020507" pitchFamily="18" charset="2"/>
              </a:rPr>
              <a:t>FOLLOW</a:t>
            </a:r>
            <a:r>
              <a:rPr kumimoji="0" lang="en-US" altLang="zh-CN" dirty="0">
                <a:sym typeface="Symbol" panose="05050102010706020507" pitchFamily="18" charset="2"/>
              </a:rPr>
              <a:t>(A)  </a:t>
            </a:r>
            <a:r>
              <a:rPr kumimoji="0" lang="en-US" altLang="zh-CN" dirty="0">
                <a:sym typeface="Wingdings" panose="05000000000000000000" pitchFamily="2" charset="2"/>
              </a:rPr>
              <a:t>  </a:t>
            </a:r>
            <a:r>
              <a:rPr kumimoji="0" lang="zh-CN" altLang="en-US" dirty="0">
                <a:sym typeface="Symbol" panose="05050102010706020507" pitchFamily="18" charset="2"/>
              </a:rPr>
              <a:t>选择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</a:t>
            </a: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</a:t>
            </a:r>
            <a:r>
              <a:rPr kumimoji="0" lang="zh-CN" altLang="en-US" dirty="0">
                <a:sym typeface="Symbol" panose="05050102010706020507" pitchFamily="18" charset="2"/>
              </a:rPr>
              <a:t>最终展开为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仍为当前符号</a:t>
            </a:r>
            <a:r>
              <a:rPr kumimoji="0" lang="en-US" altLang="zh-CN" dirty="0">
                <a:sym typeface="Symbol" panose="05050102010706020507" pitchFamily="18" charset="2"/>
              </a:rPr>
              <a:t>——</a:t>
            </a:r>
            <a:r>
              <a:rPr kumimoji="0" lang="zh-CN" altLang="en-US" dirty="0">
                <a:sym typeface="Symbol" panose="05050102010706020507" pitchFamily="18" charset="2"/>
              </a:rPr>
              <a:t>“紧接着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的符号”。</a:t>
            </a: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E38FEB16-CA37-46CC-BDEB-B16A09388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438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D93D0C93-EDF4-4F3B-90AD-7BC177DBB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</a:t>
            </a:r>
            <a:r>
              <a:rPr lang="zh-CN" altLang="en-US"/>
              <a:t>的作用（续）</a:t>
            </a:r>
          </a:p>
        </p:txBody>
      </p:sp>
      <p:sp>
        <p:nvSpPr>
          <p:cNvPr id="118787" name="Text Box 5">
            <a:extLst>
              <a:ext uri="{FF2B5EF4-FFF2-40B4-BE49-F238E27FC236}">
                <a16:creationId xmlns:a16="http://schemas.microsoft.com/office/drawing/2014/main" id="{5E8C414D-8CDA-4081-BB18-24C19AD772B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066800" y="1752600"/>
            <a:ext cx="7239000" cy="4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栈			输入缓冲区</a:t>
            </a:r>
            <a:br>
              <a:rPr lang="zh-CN" altLang="en-US" sz="2800" dirty="0">
                <a:solidFill>
                  <a:srgbClr val="3333CC"/>
                </a:solidFill>
              </a:rPr>
            </a:b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</a:rPr>
              <a:t>			by$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句型：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		</a:t>
            </a:r>
            <a:r>
              <a:rPr lang="zh-CN" altLang="en-US" sz="2800" dirty="0">
                <a:solidFill>
                  <a:srgbClr val="3333CC"/>
                </a:solidFill>
                <a:latin typeface="Symbol" panose="05050102010706020507" pitchFamily="18" charset="2"/>
              </a:rPr>
              <a:t>输入：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by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1000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期待：</a:t>
            </a:r>
            <a:r>
              <a:rPr lang="en-US" altLang="zh-CN" sz="2800" dirty="0">
                <a:solidFill>
                  <a:srgbClr val="3333CC"/>
                </a:solidFill>
              </a:rPr>
              <a:t>A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by</a:t>
            </a:r>
          </a:p>
          <a:p>
            <a:pPr eaLnBrk="1" hangingPunct="1">
              <a:spcBef>
                <a:spcPct val="1000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并期待：</a:t>
            </a:r>
            <a:r>
              <a:rPr lang="en-US" altLang="zh-CN" sz="2800" dirty="0">
                <a:solidFill>
                  <a:srgbClr val="3333CC"/>
                </a:solidFill>
              </a:rPr>
              <a:t>A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e</a:t>
            </a:r>
            <a:r>
              <a:rPr lang="zh-CN" altLang="en-US" sz="2800" dirty="0">
                <a:solidFill>
                  <a:srgbClr val="3333CC"/>
                </a:solidFill>
              </a:rPr>
              <a:t>，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1000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3333CC"/>
                </a:solidFill>
              </a:rPr>
              <a:t>必然有：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3333CC"/>
                </a:solidFill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 by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即：想把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消去，</a:t>
            </a:r>
            <a:r>
              <a:rPr lang="en-US" altLang="zh-CN" sz="2800" dirty="0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zh-CN" altLang="en-US" sz="2800" dirty="0">
                <a:solidFill>
                  <a:srgbClr val="3333CC"/>
                </a:solidFill>
                <a:latin typeface="Symbol" panose="05050102010706020507" pitchFamily="18" charset="2"/>
              </a:rPr>
              <a:t>就必须能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变成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开头的单词串，代回句型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lang="en-US" altLang="zh-CN" sz="2800" dirty="0" err="1">
                <a:solidFill>
                  <a:srgbClr val="3333CC"/>
                </a:solidFill>
                <a:latin typeface="Symbol" panose="05050102010706020507" pitchFamily="18" charset="2"/>
              </a:rPr>
              <a:t>b</a:t>
            </a:r>
            <a:r>
              <a:rPr lang="zh-CN" altLang="en-US" sz="2800" dirty="0">
                <a:solidFill>
                  <a:srgbClr val="3333CC"/>
                </a:solidFill>
                <a:latin typeface="Symbol" panose="05050102010706020507" pitchFamily="18" charset="2"/>
              </a:rPr>
              <a:t>，就得到</a:t>
            </a:r>
            <a:r>
              <a:rPr lang="en-US" altLang="zh-CN" sz="2800" dirty="0" err="1">
                <a:solidFill>
                  <a:srgbClr val="FF3300"/>
                </a:solidFill>
              </a:rPr>
              <a:t>x</a:t>
            </a:r>
            <a:r>
              <a:rPr lang="en-US" altLang="zh-CN" sz="2800" dirty="0" err="1">
                <a:solidFill>
                  <a:srgbClr val="3333CC"/>
                </a:solidFill>
              </a:rPr>
              <a:t>A</a:t>
            </a:r>
            <a:r>
              <a:rPr kumimoji="0" lang="en-US" altLang="zh-CN" sz="2800" dirty="0" err="1">
                <a:solidFill>
                  <a:srgbClr val="3333CC"/>
                </a:solidFill>
                <a:sym typeface="Symbol" panose="05050102010706020507" pitchFamily="18" charset="2"/>
              </a:rPr>
              <a:t>by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存在句型：</a:t>
            </a:r>
            <a:r>
              <a:rPr kumimoji="0" lang="en-US" altLang="zh-CN" sz="2800" dirty="0" err="1">
                <a:solidFill>
                  <a:srgbClr val="3333CC"/>
                </a:solidFill>
                <a:sym typeface="Symbol" panose="05050102010706020507" pitchFamily="18" charset="2"/>
              </a:rPr>
              <a:t>xAby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——b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FOLLOW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</a:p>
        </p:txBody>
      </p:sp>
      <p:pic>
        <p:nvPicPr>
          <p:cNvPr id="118788" name="Picture 6" descr="first">
            <a:extLst>
              <a:ext uri="{FF2B5EF4-FFF2-40B4-BE49-F238E27FC236}">
                <a16:creationId xmlns:a16="http://schemas.microsoft.com/office/drawing/2014/main" id="{55D77B5F-5668-45CA-99D7-4BC4593C2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392238"/>
            <a:ext cx="2817813" cy="28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Text Box 7">
            <a:extLst>
              <a:ext uri="{FF2B5EF4-FFF2-40B4-BE49-F238E27FC236}">
                <a16:creationId xmlns:a16="http://schemas.microsoft.com/office/drawing/2014/main" id="{1E605DDD-85A6-40C9-9725-4E2B2EE09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032" y="306896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9F8E9B7-1B78-2F40-B752-CAA33CC38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040" y="4005064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A6EFAEB-79FF-40CA-8281-4B80F55E8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4.4.6  </a:t>
            </a:r>
            <a:r>
              <a:rPr lang="zh-CN" altLang="en-US"/>
              <a:t>预测分析表的构造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C74EC32C-B095-49A3-9FA7-73792CD1B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算法</a:t>
            </a:r>
            <a:r>
              <a:rPr lang="en-US" altLang="zh-CN" sz="2400"/>
              <a:t>4.4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</a:t>
            </a:r>
            <a:r>
              <a:rPr lang="en-US" altLang="zh-CN" sz="2400"/>
              <a:t>CFG G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输出：预测分析表</a:t>
            </a:r>
            <a:r>
              <a:rPr lang="en-US" altLang="zh-CN" sz="2400"/>
              <a:t>M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对每个产生式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，重复做</a:t>
            </a:r>
            <a:r>
              <a:rPr kumimoji="0" lang="en-US" altLang="zh-CN" sz="2400">
                <a:sym typeface="Symbol" panose="05050102010706020507" pitchFamily="18" charset="2"/>
              </a:rPr>
              <a:t>2</a:t>
            </a:r>
            <a:r>
              <a:rPr kumimoji="0" lang="zh-CN" altLang="en-US" sz="2400">
                <a:sym typeface="Symbol" panose="05050102010706020507" pitchFamily="18" charset="2"/>
              </a:rPr>
              <a:t>、</a:t>
            </a:r>
            <a:r>
              <a:rPr kumimoji="0" lang="en-US" altLang="zh-CN" sz="2400">
                <a:sym typeface="Symbol" panose="05050102010706020507" pitchFamily="18" charset="2"/>
              </a:rPr>
              <a:t>3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对所有的终结符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FIRST()</a:t>
            </a:r>
            <a:r>
              <a:rPr kumimoji="0" lang="zh-CN" altLang="en-US" sz="2400">
                <a:sym typeface="Symbol" panose="05050102010706020507" pitchFamily="18" charset="2"/>
              </a:rPr>
              <a:t>，将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加入</a:t>
            </a:r>
            <a:r>
              <a:rPr kumimoji="0" lang="en-US" altLang="zh-CN" sz="2400">
                <a:sym typeface="Symbol" panose="05050102010706020507" pitchFamily="18" charset="2"/>
              </a:rPr>
              <a:t>M[A,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]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FIRST()</a:t>
            </a:r>
            <a:r>
              <a:rPr kumimoji="0" lang="zh-CN" altLang="en-US" sz="2400">
                <a:sym typeface="Symbol" panose="05050102010706020507" pitchFamily="18" charset="2"/>
              </a:rPr>
              <a:t>：对所有终结符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FOLLOW(A)</a:t>
            </a:r>
            <a:r>
              <a:rPr kumimoji="0" lang="zh-CN" altLang="en-US" sz="2400">
                <a:sym typeface="Symbol" panose="05050102010706020507" pitchFamily="18" charset="2"/>
              </a:rPr>
              <a:t>，将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加入</a:t>
            </a:r>
            <a:r>
              <a:rPr kumimoji="0" lang="en-US" altLang="zh-CN" sz="2400">
                <a:sym typeface="Symbol" panose="05050102010706020507" pitchFamily="18" charset="2"/>
              </a:rPr>
              <a:t>M[A,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]</a:t>
            </a:r>
            <a:r>
              <a:rPr kumimoji="0" lang="zh-CN" altLang="en-US" sz="2400">
                <a:sym typeface="Symbol" panose="05050102010706020507" pitchFamily="18" charset="2"/>
              </a:rPr>
              <a:t>；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$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>
                <a:sym typeface="Symbol" panose="05050102010706020507" pitchFamily="18" charset="2"/>
              </a:rPr>
              <a:t>FOLLOW(A)</a:t>
            </a:r>
            <a:r>
              <a:rPr kumimoji="0" lang="zh-CN" altLang="en-US" sz="2400">
                <a:sym typeface="Symbol" panose="05050102010706020507" pitchFamily="18" charset="2"/>
              </a:rPr>
              <a:t>，将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</a:t>
            </a:r>
            <a:r>
              <a:rPr kumimoji="0" lang="zh-CN" altLang="en-US" sz="2400">
                <a:sym typeface="Symbol" panose="05050102010706020507" pitchFamily="18" charset="2"/>
              </a:rPr>
              <a:t>加入</a:t>
            </a:r>
            <a:r>
              <a:rPr kumimoji="0" lang="en-US" altLang="zh-CN" sz="2400">
                <a:sym typeface="Symbol" panose="05050102010706020507" pitchFamily="18" charset="2"/>
              </a:rPr>
              <a:t>M[A,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$</a:t>
            </a:r>
            <a:r>
              <a:rPr kumimoji="0" lang="en-US" altLang="zh-CN" sz="2400">
                <a:sym typeface="Symbol" panose="05050102010706020507" pitchFamily="18" charset="2"/>
              </a:rPr>
              <a:t>]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所有未定义的表项设置为错误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2C90252-6E26-4EDD-BB47-C6918703E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4.18</a:t>
            </a:r>
          </a:p>
        </p:txBody>
      </p:sp>
      <p:grpSp>
        <p:nvGrpSpPr>
          <p:cNvPr id="120835" name="Group 4">
            <a:extLst>
              <a:ext uri="{FF2B5EF4-FFF2-40B4-BE49-F238E27FC236}">
                <a16:creationId xmlns:a16="http://schemas.microsoft.com/office/drawing/2014/main" id="{7E85EFEC-D190-422A-B43D-55523DF6FB8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219200"/>
            <a:ext cx="2057400" cy="1463675"/>
            <a:chOff x="1056" y="864"/>
            <a:chExt cx="1296" cy="922"/>
          </a:xfrm>
        </p:grpSpPr>
        <p:sp>
          <p:nvSpPr>
            <p:cNvPr id="120845" name="Text Box 5">
              <a:extLst>
                <a:ext uri="{FF2B5EF4-FFF2-40B4-BE49-F238E27FC236}">
                  <a16:creationId xmlns:a16="http://schemas.microsoft.com/office/drawing/2014/main" id="{D5A5503F-141D-4847-A6AD-81692DC83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E  TE’                                                E’ 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 TE’ |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0846" name="Text Box 6">
              <a:extLst>
                <a:ext uri="{FF2B5EF4-FFF2-40B4-BE49-F238E27FC236}">
                  <a16:creationId xmlns:a16="http://schemas.microsoft.com/office/drawing/2014/main" id="{6447AA8D-4982-480E-92F8-EB10CF3C0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T  FT’                                                T’ 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*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 FT’ | </a:t>
              </a:r>
              <a:r>
                <a:rPr kumimoji="0" lang="en-US" altLang="zh-CN" sz="20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0847" name="Text Box 7">
              <a:extLst>
                <a:ext uri="{FF2B5EF4-FFF2-40B4-BE49-F238E27FC236}">
                  <a16:creationId xmlns:a16="http://schemas.microsoft.com/office/drawing/2014/main" id="{30EE0088-0FCD-4617-85CE-217DCAD2E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36"/>
              <a:ext cx="10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ym typeface="Symbol" panose="05050102010706020507" pitchFamily="18" charset="2"/>
                </a:rPr>
                <a:t>F  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(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E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) 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|</a:t>
              </a:r>
              <a:r>
                <a:rPr kumimoji="0"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 id</a:t>
              </a:r>
            </a:p>
          </p:txBody>
        </p:sp>
      </p:grpSp>
      <p:sp>
        <p:nvSpPr>
          <p:cNvPr id="120836" name="Text Box 8">
            <a:extLst>
              <a:ext uri="{FF2B5EF4-FFF2-40B4-BE49-F238E27FC236}">
                <a16:creationId xmlns:a16="http://schemas.microsoft.com/office/drawing/2014/main" id="{91EEA6E1-1022-4D04-B946-C58183C15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295400"/>
            <a:ext cx="2667000" cy="1092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First(E,F,T)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(, id </a:t>
            </a:r>
            <a:r>
              <a:rPr kumimoji="0" lang="en-US" altLang="zh-CN" sz="2000" b="1"/>
              <a:t>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First(E’)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+,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First(T’)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*,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}</a:t>
            </a:r>
          </a:p>
        </p:txBody>
      </p:sp>
      <p:sp>
        <p:nvSpPr>
          <p:cNvPr id="120837" name="Text Box 9">
            <a:extLst>
              <a:ext uri="{FF2B5EF4-FFF2-40B4-BE49-F238E27FC236}">
                <a16:creationId xmlns:a16="http://schemas.microsoft.com/office/drawing/2014/main" id="{544AC7F4-A303-4527-83C7-A602DC665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295400"/>
            <a:ext cx="3048000" cy="1092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Follow(E,E’)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), $</a:t>
            </a:r>
            <a:r>
              <a:rPr kumimoji="0" lang="en-US" altLang="zh-CN" sz="2000" b="1"/>
              <a:t>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Follow(F)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*,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+,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), $ </a:t>
            </a:r>
            <a:r>
              <a:rPr kumimoji="0" lang="en-US" altLang="zh-CN" sz="2000" b="1"/>
              <a:t>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Follow(T,T’)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+,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) , $</a:t>
            </a:r>
            <a:r>
              <a:rPr kumimoji="0" lang="en-US" altLang="zh-CN" sz="2000" b="1"/>
              <a:t>}</a:t>
            </a:r>
          </a:p>
        </p:txBody>
      </p:sp>
      <p:sp>
        <p:nvSpPr>
          <p:cNvPr id="120838" name="Text Box 10">
            <a:extLst>
              <a:ext uri="{FF2B5EF4-FFF2-40B4-BE49-F238E27FC236}">
                <a16:creationId xmlns:a16="http://schemas.microsoft.com/office/drawing/2014/main" id="{965BE0A5-647A-4C44-8D6B-8B584E40B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667000"/>
            <a:ext cx="73152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Expression Example:  E </a:t>
            </a:r>
            <a:r>
              <a:rPr kumimoji="0" lang="en-US" altLang="zh-CN" sz="2000" b="1">
                <a:sym typeface="Symbol" panose="05050102010706020507" pitchFamily="18" charset="2"/>
              </a:rPr>
              <a:t> TE’ : First(TE’) = First(T) = </a:t>
            </a:r>
            <a:r>
              <a:rPr kumimoji="0" lang="en-US" altLang="zh-CN" sz="2000" b="1"/>
              <a:t>{ </a:t>
            </a:r>
            <a:r>
              <a:rPr kumimoji="0" lang="en-US" altLang="zh-CN" sz="2000" b="1">
                <a:solidFill>
                  <a:schemeClr val="accent2"/>
                </a:solidFill>
              </a:rPr>
              <a:t>(, id </a:t>
            </a:r>
            <a:r>
              <a:rPr kumimoji="0" lang="en-US" altLang="zh-CN" sz="2000" b="1"/>
              <a:t>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  M[E, </a:t>
            </a:r>
            <a:r>
              <a:rPr kumimoji="0" lang="en-US" altLang="zh-CN" sz="2000" b="1">
                <a:solidFill>
                  <a:schemeClr val="accent2"/>
                </a:solidFill>
              </a:rPr>
              <a:t>(</a:t>
            </a:r>
            <a:r>
              <a:rPr kumimoji="0" lang="en-US" altLang="zh-CN" sz="2000" b="1"/>
              <a:t> ] : E </a:t>
            </a:r>
            <a:r>
              <a:rPr kumimoji="0" lang="en-US" altLang="zh-CN" sz="2000" b="1">
                <a:sym typeface="Symbol" panose="05050102010706020507" pitchFamily="18" charset="2"/>
              </a:rPr>
              <a:t> TE’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        M[E,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000" b="1">
                <a:sym typeface="Symbol" panose="05050102010706020507" pitchFamily="18" charset="2"/>
              </a:rPr>
              <a:t> ] : </a:t>
            </a:r>
            <a:r>
              <a:rPr kumimoji="0" lang="en-US" altLang="zh-CN" sz="2000" b="1"/>
              <a:t>E </a:t>
            </a:r>
            <a:r>
              <a:rPr kumimoji="0" lang="en-US" altLang="zh-CN" sz="2000" b="1">
                <a:sym typeface="Symbol" panose="05050102010706020507" pitchFamily="18" charset="2"/>
              </a:rPr>
              <a:t> TE’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(</a:t>
            </a:r>
            <a:r>
              <a:rPr kumimoji="0" lang="zh-CN" altLang="en-US" sz="2000" b="1">
                <a:solidFill>
                  <a:srgbClr val="FF3300"/>
                </a:solidFill>
                <a:sym typeface="Symbol" panose="05050102010706020507" pitchFamily="18" charset="2"/>
              </a:rPr>
              <a:t>规则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2)</a:t>
            </a:r>
            <a:r>
              <a:rPr kumimoji="0" lang="en-US" altLang="zh-CN" sz="2000" b="1">
                <a:sym typeface="Symbol" panose="05050102010706020507" pitchFamily="18" charset="2"/>
              </a:rPr>
              <a:t>   E’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TE’ : 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TE’) =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 : M[E’,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] : E’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000" b="1">
                <a:sym typeface="Symbol" panose="05050102010706020507" pitchFamily="18" charset="2"/>
              </a:rPr>
              <a:t>TE’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(</a:t>
            </a:r>
            <a:r>
              <a:rPr kumimoji="0" lang="zh-CN" altLang="en-US" sz="2000" b="1">
                <a:solidFill>
                  <a:srgbClr val="FF3300"/>
                </a:solidFill>
                <a:sym typeface="Symbol" panose="05050102010706020507" pitchFamily="18" charset="2"/>
              </a:rPr>
              <a:t>规则 </a:t>
            </a: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3)</a:t>
            </a:r>
            <a:r>
              <a:rPr kumimoji="0" lang="en-US" altLang="zh-CN" sz="2000" b="1">
                <a:sym typeface="Symbol" panose="05050102010706020507" pitchFamily="18" charset="2"/>
              </a:rPr>
              <a:t>       E’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: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in First(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)     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: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in First(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) </a:t>
            </a:r>
          </a:p>
        </p:txBody>
      </p:sp>
      <p:sp>
        <p:nvSpPr>
          <p:cNvPr id="120839" name="AutoShape 11">
            <a:extLst>
              <a:ext uri="{FF2B5EF4-FFF2-40B4-BE49-F238E27FC236}">
                <a16:creationId xmlns:a16="http://schemas.microsoft.com/office/drawing/2014/main" id="{951479CD-5AA6-45DC-BD50-BFDA0CF1C7CE}"/>
              </a:ext>
            </a:extLst>
          </p:cNvPr>
          <p:cNvSpPr>
            <a:spLocks/>
          </p:cNvSpPr>
          <p:nvPr/>
        </p:nvSpPr>
        <p:spPr bwMode="auto">
          <a:xfrm>
            <a:off x="4191000" y="312420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20840" name="Text Box 12">
            <a:extLst>
              <a:ext uri="{FF2B5EF4-FFF2-40B4-BE49-F238E27FC236}">
                <a16:creationId xmlns:a16="http://schemas.microsoft.com/office/drawing/2014/main" id="{B7DD129D-2A6C-44BD-8798-8770BD4E4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3528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FF3300"/>
                </a:solidFill>
              </a:rPr>
              <a:t>规则</a:t>
            </a:r>
            <a:r>
              <a:rPr kumimoji="0" lang="en-US" altLang="zh-CN" sz="2000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120841" name="Text Box 13">
            <a:extLst>
              <a:ext uri="{FF2B5EF4-FFF2-40B4-BE49-F238E27FC236}">
                <a16:creationId xmlns:a16="http://schemas.microsoft.com/office/drawing/2014/main" id="{EBBEE8AE-CB40-4628-8C9B-E219A27EB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00600"/>
            <a:ext cx="7696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              M[E’, </a:t>
            </a:r>
            <a:r>
              <a:rPr kumimoji="0" lang="en-US" altLang="zh-CN" sz="2000" b="1">
                <a:solidFill>
                  <a:schemeClr val="accent2"/>
                </a:solidFill>
              </a:rPr>
              <a:t>)</a:t>
            </a:r>
            <a:r>
              <a:rPr kumimoji="0" lang="en-US" altLang="zh-CN" sz="2000" b="1"/>
              <a:t>] : </a:t>
            </a:r>
            <a:r>
              <a:rPr kumimoji="0" lang="en-US" altLang="zh-CN" sz="2000" b="1">
                <a:sym typeface="Symbol" panose="05050102010706020507" pitchFamily="18" charset="2"/>
              </a:rPr>
              <a:t>E’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(3.1)</a:t>
            </a:r>
            <a:r>
              <a:rPr kumimoji="0" lang="en-US" altLang="zh-CN" sz="2000" b="1"/>
              <a:t>     M[T’,</a:t>
            </a:r>
            <a:r>
              <a:rPr kumimoji="0" lang="en-US" altLang="zh-CN" sz="2000" b="1">
                <a:solidFill>
                  <a:schemeClr val="accent2"/>
                </a:solidFill>
              </a:rPr>
              <a:t> +</a:t>
            </a:r>
            <a:r>
              <a:rPr kumimoji="0" lang="en-US" altLang="zh-CN" sz="2000" b="1"/>
              <a:t>] :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(3.1)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              M[E’, </a:t>
            </a: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r>
              <a:rPr kumimoji="0" lang="en-US" altLang="zh-CN" sz="2000" b="1"/>
              <a:t>] : </a:t>
            </a:r>
            <a:r>
              <a:rPr kumimoji="0" lang="en-US" altLang="zh-CN" sz="2000" b="1">
                <a:sym typeface="Symbol" panose="05050102010706020507" pitchFamily="18" charset="2"/>
              </a:rPr>
              <a:t>E’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(3.2)</a:t>
            </a:r>
            <a:r>
              <a:rPr kumimoji="0" lang="en-US" altLang="zh-CN" sz="2000" b="1"/>
              <a:t>     M[T’,</a:t>
            </a:r>
            <a:r>
              <a:rPr kumimoji="0" lang="en-US" altLang="zh-CN" sz="2000" b="1">
                <a:solidFill>
                  <a:schemeClr val="accent2"/>
                </a:solidFill>
              </a:rPr>
              <a:t> )</a:t>
            </a:r>
            <a:r>
              <a:rPr kumimoji="0" lang="en-US" altLang="zh-CN" sz="2000" b="1"/>
              <a:t>] :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(3.1)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), $ </a:t>
            </a:r>
            <a:r>
              <a:rPr kumimoji="0" lang="en-US" altLang="zh-CN" sz="2000" b="1">
                <a:solidFill>
                  <a:srgbClr val="00CC00"/>
                </a:solidFill>
                <a:latin typeface="宋体" panose="02010600030101010101" pitchFamily="2" charset="-122"/>
              </a:rPr>
              <a:t>∈</a:t>
            </a:r>
            <a:r>
              <a:rPr kumimoji="0" lang="en-US" altLang="zh-CN" sz="2000" b="1">
                <a:solidFill>
                  <a:srgbClr val="00CC00"/>
                </a:solidFill>
              </a:rPr>
              <a:t>Follow(E’)</a:t>
            </a:r>
            <a:r>
              <a:rPr kumimoji="0" lang="en-US" altLang="zh-CN" sz="2000" b="1"/>
              <a:t>                                    M[T’,</a:t>
            </a:r>
            <a:r>
              <a:rPr kumimoji="0" lang="en-US" altLang="zh-CN" sz="2000" b="1">
                <a:solidFill>
                  <a:schemeClr val="accent2"/>
                </a:solidFill>
              </a:rPr>
              <a:t> $</a:t>
            </a:r>
            <a:r>
              <a:rPr kumimoji="0" lang="en-US" altLang="zh-CN" sz="2000" b="1"/>
              <a:t>] : T’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/>
              <a:t> </a:t>
            </a:r>
            <a:r>
              <a:rPr kumimoji="0" lang="en-US" altLang="zh-CN" sz="2000" b="1">
                <a:solidFill>
                  <a:srgbClr val="FF3300"/>
                </a:solidFill>
              </a:rPr>
              <a:t>(3.2)</a:t>
            </a:r>
          </a:p>
        </p:txBody>
      </p:sp>
      <p:sp>
        <p:nvSpPr>
          <p:cNvPr id="120842" name="Rectangle 14">
            <a:extLst>
              <a:ext uri="{FF2B5EF4-FFF2-40B4-BE49-F238E27FC236}">
                <a16:creationId xmlns:a16="http://schemas.microsoft.com/office/drawing/2014/main" id="{25EC1289-67D7-48FC-81E6-2A750822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414838"/>
            <a:ext cx="7394575" cy="1755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20843" name="Line 15">
            <a:extLst>
              <a:ext uri="{FF2B5EF4-FFF2-40B4-BE49-F238E27FC236}">
                <a16:creationId xmlns:a16="http://schemas.microsoft.com/office/drawing/2014/main" id="{63916C9D-02B9-4EAA-AAF7-99627871E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419600"/>
            <a:ext cx="0" cy="1752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4" name="Rectangle 16">
            <a:extLst>
              <a:ext uri="{FF2B5EF4-FFF2-40B4-BE49-F238E27FC236}">
                <a16:creationId xmlns:a16="http://schemas.microsoft.com/office/drawing/2014/main" id="{0576A47D-3EE4-45A9-8586-8C4B9AAEC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219200"/>
            <a:ext cx="1981200" cy="1447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DFC6ADE1-545E-40D2-B92B-4CB3F3622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4.19</a:t>
            </a:r>
          </a:p>
        </p:txBody>
      </p:sp>
      <p:sp>
        <p:nvSpPr>
          <p:cNvPr id="121859" name="Text Box 4">
            <a:extLst>
              <a:ext uri="{FF2B5EF4-FFF2-40B4-BE49-F238E27FC236}">
                <a16:creationId xmlns:a16="http://schemas.microsoft.com/office/drawing/2014/main" id="{AA8961D2-4B91-475D-947F-F3857B020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95400"/>
            <a:ext cx="2057400" cy="1155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 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 b="1"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t </a:t>
            </a:r>
            <a:r>
              <a:rPr kumimoji="0" lang="en-US" altLang="zh-CN" sz="2000" b="1">
                <a:sym typeface="Symbol" panose="05050102010706020507" pitchFamily="18" charset="2"/>
              </a:rPr>
              <a:t>SS’ |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S’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S |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E  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</a:p>
        </p:txBody>
      </p:sp>
      <p:sp>
        <p:nvSpPr>
          <p:cNvPr id="121860" name="Text Box 5">
            <a:extLst>
              <a:ext uri="{FF2B5EF4-FFF2-40B4-BE49-F238E27FC236}">
                <a16:creationId xmlns:a16="http://schemas.microsoft.com/office/drawing/2014/main" id="{E525BC51-2DA2-4F43-BDAA-6F5CE744E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295400"/>
            <a:ext cx="2286000" cy="1155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First(S) = { </a:t>
            </a:r>
            <a:r>
              <a:rPr kumimoji="0" lang="en-US" altLang="zh-CN" sz="2000" b="1">
                <a:solidFill>
                  <a:schemeClr val="accent2"/>
                </a:solidFill>
              </a:rPr>
              <a:t>i, a</a:t>
            </a:r>
            <a:r>
              <a:rPr kumimoji="0" lang="en-US" altLang="zh-CN" sz="2000" b="1"/>
              <a:t> 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First(S’)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First(E)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21861" name="Text Box 6">
            <a:extLst>
              <a:ext uri="{FF2B5EF4-FFF2-40B4-BE49-F238E27FC236}">
                <a16:creationId xmlns:a16="http://schemas.microsoft.com/office/drawing/2014/main" id="{A3B32120-9C83-410B-B02B-6253CF587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295400"/>
            <a:ext cx="2514600" cy="1155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Follow(S)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$ </a:t>
            </a:r>
            <a:r>
              <a:rPr kumimoji="0" lang="en-US" altLang="zh-CN" sz="2000" b="1"/>
              <a:t>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Follow(S’)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</a:t>
            </a:r>
            <a:r>
              <a:rPr kumimoji="0" lang="en-US" altLang="zh-CN" sz="2000" b="1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$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Follow(E)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t 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21862" name="Text Box 7">
            <a:extLst>
              <a:ext uri="{FF2B5EF4-FFF2-40B4-BE49-F238E27FC236}">
                <a16:creationId xmlns:a16="http://schemas.microsoft.com/office/drawing/2014/main" id="{0CB0DBCB-087C-4B6B-8C6F-5FACAE706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514600"/>
            <a:ext cx="7620000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 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 b="1"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t </a:t>
            </a:r>
            <a:r>
              <a:rPr kumimoji="0" lang="en-US" altLang="zh-CN" sz="2000" b="1">
                <a:sym typeface="Symbol" panose="05050102010706020507" pitchFamily="18" charset="2"/>
              </a:rPr>
              <a:t>SS’                      S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000" b="1">
                <a:sym typeface="Symbol" panose="05050102010706020507" pitchFamily="18" charset="2"/>
              </a:rPr>
              <a:t>                       E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 </a:t>
            </a:r>
            <a:r>
              <a:rPr kumimoji="0" lang="en-US" altLang="zh-CN" sz="2000" b="1"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t </a:t>
            </a:r>
            <a:r>
              <a:rPr kumimoji="0" lang="en-US" altLang="zh-CN" sz="2000" b="1">
                <a:sym typeface="Symbol" panose="05050102010706020507" pitchFamily="18" charset="2"/>
              </a:rPr>
              <a:t>SS’)={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            </a:t>
            </a:r>
            <a:r>
              <a:rPr kumimoji="0" lang="en-US" altLang="zh-CN" sz="2000" b="1">
                <a:sym typeface="Symbol" panose="05050102010706020507" pitchFamily="18" charset="2"/>
              </a:rPr>
              <a:t>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000" b="1">
                <a:sym typeface="Symbol" panose="05050102010706020507" pitchFamily="18" charset="2"/>
              </a:rPr>
              <a:t>) = 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000" b="1">
                <a:sym typeface="Symbol" panose="05050102010706020507" pitchFamily="18" charset="2"/>
              </a:rPr>
              <a:t>}           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) = 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000" b="1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S’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S                               S  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First(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S) = {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}                    First(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) = {</a:t>
            </a:r>
            <a:r>
              <a:rPr kumimoji="0" lang="en-US" altLang="zh-CN" sz="2000" b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b="1">
                <a:sym typeface="Symbol" panose="05050102010706020507" pitchFamily="18" charset="2"/>
              </a:rPr>
              <a:t>}         Follow(S’) = {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e, $</a:t>
            </a:r>
            <a:r>
              <a:rPr kumimoji="0" lang="en-US" altLang="zh-CN" sz="2000" b="1">
                <a:sym typeface="Symbol" panose="05050102010706020507" pitchFamily="18" charset="2"/>
              </a:rPr>
              <a:t> }</a:t>
            </a:r>
          </a:p>
        </p:txBody>
      </p:sp>
      <p:sp>
        <p:nvSpPr>
          <p:cNvPr id="121863" name="Line 8">
            <a:extLst>
              <a:ext uri="{FF2B5EF4-FFF2-40B4-BE49-F238E27FC236}">
                <a16:creationId xmlns:a16="http://schemas.microsoft.com/office/drawing/2014/main" id="{3353FACF-E2A0-45B4-9BA3-D5598DD35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3434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4" name="Line 9">
            <a:extLst>
              <a:ext uri="{FF2B5EF4-FFF2-40B4-BE49-F238E27FC236}">
                <a16:creationId xmlns:a16="http://schemas.microsoft.com/office/drawing/2014/main" id="{B79F1883-24D3-4F52-B29F-DF32F9CC8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4196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5" name="Line 10">
            <a:extLst>
              <a:ext uri="{FF2B5EF4-FFF2-40B4-BE49-F238E27FC236}">
                <a16:creationId xmlns:a16="http://schemas.microsoft.com/office/drawing/2014/main" id="{C6F80D37-175D-4E22-BD85-8DECB57E8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6294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6" name="Line 11">
            <a:extLst>
              <a:ext uri="{FF2B5EF4-FFF2-40B4-BE49-F238E27FC236}">
                <a16:creationId xmlns:a16="http://schemas.microsoft.com/office/drawing/2014/main" id="{0820D449-5974-43D1-8FD2-64AA6AEE2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6388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7" name="Line 12">
            <a:extLst>
              <a:ext uri="{FF2B5EF4-FFF2-40B4-BE49-F238E27FC236}">
                <a16:creationId xmlns:a16="http://schemas.microsoft.com/office/drawing/2014/main" id="{2E685B85-7C87-4EFC-B81A-8EA838EF7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1722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8" name="Line 13">
            <a:extLst>
              <a:ext uri="{FF2B5EF4-FFF2-40B4-BE49-F238E27FC236}">
                <a16:creationId xmlns:a16="http://schemas.microsoft.com/office/drawing/2014/main" id="{9FF43EB6-499B-4F03-BC6B-A9245F085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800600"/>
            <a:ext cx="670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9" name="Line 14">
            <a:extLst>
              <a:ext uri="{FF2B5EF4-FFF2-40B4-BE49-F238E27FC236}">
                <a16:creationId xmlns:a16="http://schemas.microsoft.com/office/drawing/2014/main" id="{D75563C1-945B-4BCD-B9A1-14D3C1072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181600"/>
            <a:ext cx="777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0" name="Line 15">
            <a:extLst>
              <a:ext uri="{FF2B5EF4-FFF2-40B4-BE49-F238E27FC236}">
                <a16:creationId xmlns:a16="http://schemas.microsoft.com/office/drawing/2014/main" id="{3421D66E-2BCA-418F-8B5E-46D32D04D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419600"/>
            <a:ext cx="0" cy="2209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1" name="Line 16">
            <a:extLst>
              <a:ext uri="{FF2B5EF4-FFF2-40B4-BE49-F238E27FC236}">
                <a16:creationId xmlns:a16="http://schemas.microsoft.com/office/drawing/2014/main" id="{D07A8CCE-7DB3-4830-AE7C-90FB42325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2" name="Line 17">
            <a:extLst>
              <a:ext uri="{FF2B5EF4-FFF2-40B4-BE49-F238E27FC236}">
                <a16:creationId xmlns:a16="http://schemas.microsoft.com/office/drawing/2014/main" id="{A5302291-D35D-4147-8456-B472FDC55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3" name="Line 18">
            <a:extLst>
              <a:ext uri="{FF2B5EF4-FFF2-40B4-BE49-F238E27FC236}">
                <a16:creationId xmlns:a16="http://schemas.microsoft.com/office/drawing/2014/main" id="{42D48C0E-8103-4804-BD42-3F119356D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4" name="Line 19">
            <a:extLst>
              <a:ext uri="{FF2B5EF4-FFF2-40B4-BE49-F238E27FC236}">
                <a16:creationId xmlns:a16="http://schemas.microsoft.com/office/drawing/2014/main" id="{9AD3F7B3-BDC1-4AAB-9434-C0865CEF55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5" name="Line 20">
            <a:extLst>
              <a:ext uri="{FF2B5EF4-FFF2-40B4-BE49-F238E27FC236}">
                <a16:creationId xmlns:a16="http://schemas.microsoft.com/office/drawing/2014/main" id="{6EB03D22-DA97-4FAD-BEC3-1E8EDF5C1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8006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6" name="Text Box 21">
            <a:extLst>
              <a:ext uri="{FF2B5EF4-FFF2-40B4-BE49-F238E27FC236}">
                <a16:creationId xmlns:a16="http://schemas.microsoft.com/office/drawing/2014/main" id="{1977DA64-B6A8-4F83-A3B1-D1DDFD579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495800"/>
            <a:ext cx="655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INPUT SYMBOL</a:t>
            </a:r>
          </a:p>
        </p:txBody>
      </p:sp>
      <p:sp>
        <p:nvSpPr>
          <p:cNvPr id="121877" name="Text Box 22">
            <a:extLst>
              <a:ext uri="{FF2B5EF4-FFF2-40B4-BE49-F238E27FC236}">
                <a16:creationId xmlns:a16="http://schemas.microsoft.com/office/drawing/2014/main" id="{5C4FE43E-3101-40E5-966A-BE290018F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</a:t>
            </a:r>
          </a:p>
        </p:txBody>
      </p:sp>
      <p:sp>
        <p:nvSpPr>
          <p:cNvPr id="121878" name="Text Box 23">
            <a:extLst>
              <a:ext uri="{FF2B5EF4-FFF2-40B4-BE49-F238E27FC236}">
                <a16:creationId xmlns:a16="http://schemas.microsoft.com/office/drawing/2014/main" id="{34B6934A-30F7-4A2B-96D7-BBDA44923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21879" name="Text Box 24">
            <a:extLst>
              <a:ext uri="{FF2B5EF4-FFF2-40B4-BE49-F238E27FC236}">
                <a16:creationId xmlns:a16="http://schemas.microsoft.com/office/drawing/2014/main" id="{A440EB34-DB2F-484C-A6B2-02DFD139C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</a:p>
        </p:txBody>
      </p:sp>
      <p:sp>
        <p:nvSpPr>
          <p:cNvPr id="121880" name="Text Box 25">
            <a:extLst>
              <a:ext uri="{FF2B5EF4-FFF2-40B4-BE49-F238E27FC236}">
                <a16:creationId xmlns:a16="http://schemas.microsoft.com/office/drawing/2014/main" id="{90416AB0-EE01-45E2-8AA2-6B67398E5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</a:p>
        </p:txBody>
      </p:sp>
      <p:sp>
        <p:nvSpPr>
          <p:cNvPr id="121881" name="Text Box 26">
            <a:extLst>
              <a:ext uri="{FF2B5EF4-FFF2-40B4-BE49-F238E27FC236}">
                <a16:creationId xmlns:a16="http://schemas.microsoft.com/office/drawing/2014/main" id="{725E6B2C-F879-455A-9FB2-A3B5D891B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121882" name="Text Box 27">
            <a:extLst>
              <a:ext uri="{FF2B5EF4-FFF2-40B4-BE49-F238E27FC236}">
                <a16:creationId xmlns:a16="http://schemas.microsoft.com/office/drawing/2014/main" id="{E749DF02-4901-4EE5-A880-19340D123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181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</a:p>
        </p:txBody>
      </p:sp>
      <p:sp>
        <p:nvSpPr>
          <p:cNvPr id="121883" name="Text Box 28">
            <a:extLst>
              <a:ext uri="{FF2B5EF4-FFF2-40B4-BE49-F238E27FC236}">
                <a16:creationId xmlns:a16="http://schemas.microsoft.com/office/drawing/2014/main" id="{4719AEC7-5A05-4E64-A726-104F81A33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638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S’</a:t>
            </a:r>
          </a:p>
        </p:txBody>
      </p:sp>
      <p:sp>
        <p:nvSpPr>
          <p:cNvPr id="121884" name="Text Box 29">
            <a:extLst>
              <a:ext uri="{FF2B5EF4-FFF2-40B4-BE49-F238E27FC236}">
                <a16:creationId xmlns:a16="http://schemas.microsoft.com/office/drawing/2014/main" id="{88B28295-D3B1-4FB2-BBB6-EF1B42E72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1722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121885" name="Text Box 30">
            <a:extLst>
              <a:ext uri="{FF2B5EF4-FFF2-40B4-BE49-F238E27FC236}">
                <a16:creationId xmlns:a16="http://schemas.microsoft.com/office/drawing/2014/main" id="{AAD96B09-C81F-46EC-A1D0-18FFC65E4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800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b</a:t>
            </a:r>
          </a:p>
        </p:txBody>
      </p:sp>
      <p:sp>
        <p:nvSpPr>
          <p:cNvPr id="121886" name="Text Box 31">
            <a:extLst>
              <a:ext uri="{FF2B5EF4-FFF2-40B4-BE49-F238E27FC236}">
                <a16:creationId xmlns:a16="http://schemas.microsoft.com/office/drawing/2014/main" id="{2E7D1F6C-823E-4BEE-BE4F-807C64494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495800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Non-terminal</a:t>
            </a:r>
          </a:p>
        </p:txBody>
      </p:sp>
      <p:sp>
        <p:nvSpPr>
          <p:cNvPr id="121887" name="Text Box 32">
            <a:extLst>
              <a:ext uri="{FF2B5EF4-FFF2-40B4-BE49-F238E27FC236}">
                <a16:creationId xmlns:a16="http://schemas.microsoft.com/office/drawing/2014/main" id="{4880ECF0-12FA-4F93-9CA4-1F69F1488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816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a</a:t>
            </a:r>
            <a:endParaRPr kumimoji="0" lang="en-US" altLang="zh-CN" sz="2000" b="1"/>
          </a:p>
        </p:txBody>
      </p:sp>
      <p:sp>
        <p:nvSpPr>
          <p:cNvPr id="121888" name="Text Box 33">
            <a:extLst>
              <a:ext uri="{FF2B5EF4-FFF2-40B4-BE49-F238E27FC236}">
                <a16:creationId xmlns:a16="http://schemas.microsoft.com/office/drawing/2014/main" id="{1E4139FA-DCF9-459D-A312-FCF65FE95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816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iEtSS’</a:t>
            </a:r>
            <a:endParaRPr kumimoji="0" lang="en-US" altLang="zh-CN" sz="2000" b="1"/>
          </a:p>
        </p:txBody>
      </p:sp>
      <p:sp>
        <p:nvSpPr>
          <p:cNvPr id="121889" name="Text Box 34">
            <a:extLst>
              <a:ext uri="{FF2B5EF4-FFF2-40B4-BE49-F238E27FC236}">
                <a16:creationId xmlns:a16="http://schemas.microsoft.com/office/drawing/2014/main" id="{C70446F9-BCAB-4ED7-9814-51199C189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715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21890" name="Text Box 35">
            <a:extLst>
              <a:ext uri="{FF2B5EF4-FFF2-40B4-BE49-F238E27FC236}">
                <a16:creationId xmlns:a16="http://schemas.microsoft.com/office/drawing/2014/main" id="{3C8FA1BB-CC9C-40F0-843E-D978F804A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1722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 </a:t>
            </a:r>
            <a:r>
              <a:rPr kumimoji="0" lang="en-US" altLang="zh-CN" sz="2000" b="1">
                <a:sym typeface="Symbol" panose="05050102010706020507" pitchFamily="18" charset="2"/>
              </a:rPr>
              <a:t>b</a:t>
            </a:r>
            <a:endParaRPr kumimoji="0" lang="en-US" altLang="zh-CN" sz="2000" b="1"/>
          </a:p>
        </p:txBody>
      </p:sp>
      <p:sp>
        <p:nvSpPr>
          <p:cNvPr id="121891" name="Text Box 36">
            <a:extLst>
              <a:ext uri="{FF2B5EF4-FFF2-40B4-BE49-F238E27FC236}">
                <a16:creationId xmlns:a16="http://schemas.microsoft.com/office/drawing/2014/main" id="{A574C25E-1C2D-47CB-B17F-E1A71D9C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6388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S’ </a:t>
            </a:r>
            <a:r>
              <a:rPr kumimoji="0" lang="en-US" altLang="zh-CN" sz="2000" b="1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algn="ctr"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ym typeface="Symbol" panose="05050102010706020507" pitchFamily="18" charset="2"/>
              </a:rPr>
              <a:t>S’ eS</a:t>
            </a:r>
          </a:p>
        </p:txBody>
      </p:sp>
      <p:sp>
        <p:nvSpPr>
          <p:cNvPr id="121892" name="Line 37">
            <a:extLst>
              <a:ext uri="{FF2B5EF4-FFF2-40B4-BE49-F238E27FC236}">
                <a16:creationId xmlns:a16="http://schemas.microsoft.com/office/drawing/2014/main" id="{0201C05D-9B3C-4DB3-8FFA-E40735DC4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267200"/>
            <a:ext cx="16002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3" name="Line 38">
            <a:extLst>
              <a:ext uri="{FF2B5EF4-FFF2-40B4-BE49-F238E27FC236}">
                <a16:creationId xmlns:a16="http://schemas.microsoft.com/office/drawing/2014/main" id="{7AB80C80-D2CE-4F12-A121-4FED1AA04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267200"/>
            <a:ext cx="20574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4" name="Line 39">
            <a:extLst>
              <a:ext uri="{FF2B5EF4-FFF2-40B4-BE49-F238E27FC236}">
                <a16:creationId xmlns:a16="http://schemas.microsoft.com/office/drawing/2014/main" id="{2ADCB484-C053-41BB-9E8B-F8290DB3B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267200"/>
            <a:ext cx="16002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5" name="Line 40">
            <a:extLst>
              <a:ext uri="{FF2B5EF4-FFF2-40B4-BE49-F238E27FC236}">
                <a16:creationId xmlns:a16="http://schemas.microsoft.com/office/drawing/2014/main" id="{107EE8C9-49A0-41E1-AC51-6E562A01F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3276600"/>
            <a:ext cx="1600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6" name="Line 41">
            <a:extLst>
              <a:ext uri="{FF2B5EF4-FFF2-40B4-BE49-F238E27FC236}">
                <a16:creationId xmlns:a16="http://schemas.microsoft.com/office/drawing/2014/main" id="{7030AD1B-256F-42A0-81F1-2892385B9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276600"/>
            <a:ext cx="160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7" name="Line 42">
            <a:extLst>
              <a:ext uri="{FF2B5EF4-FFF2-40B4-BE49-F238E27FC236}">
                <a16:creationId xmlns:a16="http://schemas.microsoft.com/office/drawing/2014/main" id="{C9599867-40A2-4E20-9247-E08CD09CC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276600"/>
            <a:ext cx="1905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8" name="Line 43">
            <a:extLst>
              <a:ext uri="{FF2B5EF4-FFF2-40B4-BE49-F238E27FC236}">
                <a16:creationId xmlns:a16="http://schemas.microsoft.com/office/drawing/2014/main" id="{56CA0F8D-6AEF-4B6E-89AB-A158E646F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6172200"/>
            <a:ext cx="7620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9" name="Line 44">
            <a:extLst>
              <a:ext uri="{FF2B5EF4-FFF2-40B4-BE49-F238E27FC236}">
                <a16:creationId xmlns:a16="http://schemas.microsoft.com/office/drawing/2014/main" id="{53A82AF1-BB58-4103-9E91-5DE2D18A1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5867400"/>
            <a:ext cx="7620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0" name="Line 45">
            <a:extLst>
              <a:ext uri="{FF2B5EF4-FFF2-40B4-BE49-F238E27FC236}">
                <a16:creationId xmlns:a16="http://schemas.microsoft.com/office/drawing/2014/main" id="{02B4834B-E0EE-413B-AAF6-8848967CB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762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1" name="Line 46">
            <a:extLst>
              <a:ext uri="{FF2B5EF4-FFF2-40B4-BE49-F238E27FC236}">
                <a16:creationId xmlns:a16="http://schemas.microsoft.com/office/drawing/2014/main" id="{B4C83EC8-834F-4A1B-95BA-06F70A853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6019800"/>
            <a:ext cx="762000" cy="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2" name="Line 47">
            <a:extLst>
              <a:ext uri="{FF2B5EF4-FFF2-40B4-BE49-F238E27FC236}">
                <a16:creationId xmlns:a16="http://schemas.microsoft.com/office/drawing/2014/main" id="{F61BC459-3A96-453B-9ED3-C99063A7C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486400"/>
            <a:ext cx="106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903" name="Line 48">
            <a:extLst>
              <a:ext uri="{FF2B5EF4-FFF2-40B4-BE49-F238E27FC236}">
                <a16:creationId xmlns:a16="http://schemas.microsoft.com/office/drawing/2014/main" id="{33696B9F-F5B2-4627-BCAB-461A386E5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486400"/>
            <a:ext cx="762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3F677BE1-CDE8-4EDD-A770-95D85B4D2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4.4.7  LL(1)</a:t>
            </a:r>
            <a:r>
              <a:rPr lang="zh-CN" altLang="en-US"/>
              <a:t>文法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CA2FFF5-35C3-43B9-9880-7D0DE43EF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4.19</a:t>
            </a:r>
            <a:r>
              <a:rPr lang="zh-CN" altLang="en-US"/>
              <a:t>，</a:t>
            </a:r>
            <a:r>
              <a:rPr lang="en-US" altLang="zh-CN"/>
              <a:t>M[S’, e]</a:t>
            </a:r>
            <a:r>
              <a:rPr lang="zh-CN" altLang="en-US"/>
              <a:t>有两个值</a:t>
            </a:r>
          </a:p>
          <a:p>
            <a:pPr eaLnBrk="1" hangingPunct="1"/>
            <a:r>
              <a:rPr lang="zh-CN" altLang="en-US"/>
              <a:t>预测分析表项无多值</a:t>
            </a:r>
            <a:r>
              <a:rPr lang="en-US" altLang="zh-CN"/>
              <a:t>——</a:t>
            </a:r>
            <a:r>
              <a:rPr lang="en-US" altLang="zh-CN">
                <a:solidFill>
                  <a:schemeClr val="folHlink"/>
                </a:solidFill>
              </a:rPr>
              <a:t>L</a:t>
            </a:r>
            <a:r>
              <a:rPr lang="en-US" altLang="zh-CN">
                <a:solidFill>
                  <a:srgbClr val="FF3300"/>
                </a:solidFill>
              </a:rPr>
              <a:t>L</a:t>
            </a:r>
            <a:r>
              <a:rPr lang="en-US" altLang="zh-CN"/>
              <a:t>(1)</a:t>
            </a:r>
            <a:r>
              <a:rPr lang="zh-CN" altLang="en-US"/>
              <a:t>文法</a:t>
            </a:r>
          </a:p>
          <a:p>
            <a:pPr lvl="1" eaLnBrk="1" hangingPunct="1"/>
            <a:r>
              <a:rPr lang="en-US" altLang="zh-CN"/>
              <a:t>L</a:t>
            </a:r>
            <a:r>
              <a:rPr lang="zh-CN" altLang="en-US"/>
              <a:t>：由左至右扫描输入</a:t>
            </a:r>
          </a:p>
          <a:p>
            <a:pPr lvl="1" eaLnBrk="1" hangingPunct="1"/>
            <a:r>
              <a:rPr lang="en-US" altLang="zh-CN">
                <a:solidFill>
                  <a:srgbClr val="FF3300"/>
                </a:solidFill>
              </a:rPr>
              <a:t>L</a:t>
            </a:r>
            <a:r>
              <a:rPr lang="zh-CN" altLang="en-US"/>
              <a:t>：构造最左推导</a:t>
            </a:r>
          </a:p>
          <a:p>
            <a:pPr lvl="1" eaLnBrk="1" hangingPunct="1"/>
            <a:r>
              <a:rPr lang="en-US" altLang="zh-CN"/>
              <a:t>1</a:t>
            </a:r>
            <a:r>
              <a:rPr lang="zh-CN" altLang="en-US"/>
              <a:t>：向前搜索一个输入符号，结合栈中符号，即可确定分析器动作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E0488146-08FD-4219-A454-D9D92AC85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LL(1)</a:t>
            </a:r>
            <a:r>
              <a:rPr lang="zh-CN" altLang="en-US"/>
              <a:t>文法的特性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72BA1D-A93E-48FE-B328-6C568C0EA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无二义性，无左递归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若</a:t>
            </a:r>
            <a:r>
              <a:rPr kumimoji="0" lang="en-US" altLang="zh-CN">
                <a:sym typeface="Symbol" panose="05050102010706020507" pitchFamily="18" charset="2"/>
              </a:rPr>
              <a:t>A </a:t>
            </a:r>
            <a:r>
              <a:rPr kumimoji="0" lang="zh-CN" altLang="en-US">
                <a:sym typeface="Symbol" panose="05050102010706020507" pitchFamily="18" charset="2"/>
              </a:rPr>
              <a:t>，则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kumimoji="0" lang="zh-CN" altLang="en-US">
                <a:sym typeface="Symbol" panose="05050102010706020507" pitchFamily="18" charset="2"/>
              </a:rPr>
              <a:t>、推导出的符号串，不能以同样的终结符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开头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kumimoji="0" lang="zh-CN" altLang="en-US">
                <a:sym typeface="Symbol" panose="05050102010706020507" pitchFamily="18" charset="2"/>
              </a:rPr>
              <a:t>、至多有一个可推导出</a:t>
            </a:r>
            <a:r>
              <a:rPr kumimoji="0" lang="en-US" altLang="zh-CN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kumimoji="0" lang="zh-CN" altLang="en-US">
                <a:sym typeface="Symbol" panose="05050102010706020507" pitchFamily="18" charset="2"/>
              </a:rPr>
              <a:t>若 </a:t>
            </a:r>
            <a:r>
              <a:rPr kumimoji="0" lang="en-US" altLang="zh-CN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FIRST()</a:t>
            </a:r>
            <a:r>
              <a:rPr kumimoji="0"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∩</a:t>
            </a:r>
            <a:r>
              <a:rPr kumimoji="0" lang="en-US" altLang="zh-CN">
                <a:sym typeface="Symbol" panose="05050102010706020507" pitchFamily="18" charset="2"/>
              </a:rPr>
              <a:t>FOLLOW(A)=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F</a:t>
            </a:r>
          </a:p>
          <a:p>
            <a:pPr marL="609600" indent="-609600" eaLnBrk="1" hangingPunct="1"/>
            <a:r>
              <a:rPr kumimoji="0" lang="zh-CN" altLang="en-US">
                <a:sym typeface="Symbol" panose="05050102010706020507" pitchFamily="18" charset="2"/>
              </a:rPr>
              <a:t>某些语言不存在</a:t>
            </a:r>
            <a:r>
              <a:rPr kumimoji="0" lang="en-US" altLang="zh-CN">
                <a:sym typeface="Symbol" panose="05050102010706020507" pitchFamily="18" charset="2"/>
              </a:rPr>
              <a:t>LL(1)</a:t>
            </a:r>
            <a:r>
              <a:rPr kumimoji="0" lang="zh-CN" altLang="en-US">
                <a:sym typeface="Symbol" panose="05050102010706020507" pitchFamily="18" charset="2"/>
              </a:rPr>
              <a:t>文法，例</a:t>
            </a:r>
            <a:r>
              <a:rPr kumimoji="0" lang="en-US" altLang="zh-CN">
                <a:sym typeface="Symbol" panose="05050102010706020507" pitchFamily="18" charset="2"/>
              </a:rPr>
              <a:t>4.19</a:t>
            </a:r>
          </a:p>
        </p:txBody>
      </p:sp>
      <p:sp>
        <p:nvSpPr>
          <p:cNvPr id="123908" name="Text Box 4">
            <a:extLst>
              <a:ext uri="{FF2B5EF4-FFF2-40B4-BE49-F238E27FC236}">
                <a16:creationId xmlns:a16="http://schemas.microsoft.com/office/drawing/2014/main" id="{C53B0404-EC03-4A7E-9C06-A8AD1E24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E25B5254-F74F-428D-B772-6113EA5B3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4.4.8  </a:t>
            </a:r>
            <a:r>
              <a:rPr lang="zh-CN" altLang="en-US"/>
              <a:t>预测分析法的错误恢复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9355EA23-3639-4F5B-91CE-895A97422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733800"/>
            <a:ext cx="7772400" cy="2819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何时发生错误？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</a:t>
            </a:r>
            <a:r>
              <a:rPr lang="en-US" altLang="zh-CN" sz="2400">
                <a:cs typeface="Times New Roman" panose="02020603050405020304" pitchFamily="18" charset="0"/>
              </a:rPr>
              <a:t>∈</a:t>
            </a:r>
            <a:r>
              <a:rPr lang="en-US" altLang="zh-CN" sz="2400"/>
              <a:t>T</a:t>
            </a:r>
            <a:r>
              <a:rPr lang="zh-CN" altLang="en-US" sz="2400"/>
              <a:t>，</a:t>
            </a:r>
            <a:r>
              <a:rPr lang="en-US" altLang="zh-CN" sz="2400"/>
              <a:t>X</a:t>
            </a:r>
            <a:r>
              <a:rPr lang="en-US" altLang="zh-CN" sz="2400">
                <a:ea typeface="Arial Unicode MS" pitchFamily="34" charset="-122"/>
              </a:rPr>
              <a:t>≠</a:t>
            </a:r>
            <a:r>
              <a:rPr lang="zh-CN" altLang="en-US" sz="2400"/>
              <a:t>输入符号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</a:t>
            </a:r>
            <a:r>
              <a:rPr lang="en-US" altLang="zh-CN" sz="2400">
                <a:cs typeface="Times New Roman" panose="02020603050405020304" pitchFamily="18" charset="0"/>
              </a:rPr>
              <a:t>∈N</a:t>
            </a:r>
            <a:r>
              <a:rPr lang="en-US" altLang="zh-CN" sz="2400"/>
              <a:t>T</a:t>
            </a:r>
            <a:r>
              <a:rPr lang="zh-CN" altLang="en-US" sz="2400"/>
              <a:t>，</a:t>
            </a:r>
            <a:r>
              <a:rPr lang="en-US" altLang="zh-CN" sz="2400"/>
              <a:t>M[X, </a:t>
            </a:r>
            <a:r>
              <a:rPr lang="zh-CN" altLang="en-US" sz="2400"/>
              <a:t>输入符号</a:t>
            </a:r>
            <a:r>
              <a:rPr lang="en-US" altLang="zh-CN" sz="2400"/>
              <a:t>]</a:t>
            </a:r>
            <a:r>
              <a:rPr lang="zh-CN" altLang="en-US" sz="2400"/>
              <a:t>为空</a:t>
            </a:r>
          </a:p>
          <a:p>
            <a:pPr marL="609600" indent="-609600" eaLnBrk="1" hangingPunct="1"/>
            <a:r>
              <a:rPr lang="zh-CN" altLang="en-US" sz="2800"/>
              <a:t>两种策略：</a:t>
            </a:r>
            <a:r>
              <a:rPr lang="en-US" altLang="zh-CN" sz="2800"/>
              <a:t>Panic</a:t>
            </a:r>
            <a:r>
              <a:rPr lang="zh-CN" altLang="en-US" sz="2800"/>
              <a:t>模式、短语级恢复</a:t>
            </a:r>
          </a:p>
        </p:txBody>
      </p:sp>
      <p:grpSp>
        <p:nvGrpSpPr>
          <p:cNvPr id="124932" name="Group 4">
            <a:extLst>
              <a:ext uri="{FF2B5EF4-FFF2-40B4-BE49-F238E27FC236}">
                <a16:creationId xmlns:a16="http://schemas.microsoft.com/office/drawing/2014/main" id="{72AF74E1-E4B9-4F1A-9457-D91209D42EEC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314450"/>
            <a:ext cx="6096000" cy="2384425"/>
            <a:chOff x="1056" y="768"/>
            <a:chExt cx="3840" cy="1600"/>
          </a:xfrm>
        </p:grpSpPr>
        <p:grpSp>
          <p:nvGrpSpPr>
            <p:cNvPr id="124933" name="Group 5">
              <a:extLst>
                <a:ext uri="{FF2B5EF4-FFF2-40B4-BE49-F238E27FC236}">
                  <a16:creationId xmlns:a16="http://schemas.microsoft.com/office/drawing/2014/main" id="{44040AE6-C062-4E1F-9108-3758BD675D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768"/>
              <a:ext cx="960" cy="243"/>
              <a:chOff x="2064" y="1344"/>
              <a:chExt cx="960" cy="243"/>
            </a:xfrm>
          </p:grpSpPr>
          <p:sp>
            <p:nvSpPr>
              <p:cNvPr id="124948" name="Text Box 6">
                <a:extLst>
                  <a:ext uri="{FF2B5EF4-FFF2-40B4-BE49-F238E27FC236}">
                    <a16:creationId xmlns:a16="http://schemas.microsoft.com/office/drawing/2014/main" id="{77F414F2-D50A-4B78-8397-A5E204AC96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600" b="1"/>
              </a:p>
            </p:txBody>
          </p:sp>
          <p:sp>
            <p:nvSpPr>
              <p:cNvPr id="124949" name="Text Box 7">
                <a:extLst>
                  <a:ext uri="{FF2B5EF4-FFF2-40B4-BE49-F238E27FC236}">
                    <a16:creationId xmlns:a16="http://schemas.microsoft.com/office/drawing/2014/main" id="{E8DB6DC4-10BA-4C63-B18B-1CCA35B4D1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a</a:t>
                </a:r>
              </a:p>
            </p:txBody>
          </p:sp>
          <p:sp>
            <p:nvSpPr>
              <p:cNvPr id="124950" name="Text Box 8">
                <a:extLst>
                  <a:ext uri="{FF2B5EF4-FFF2-40B4-BE49-F238E27FC236}">
                    <a16:creationId xmlns:a16="http://schemas.microsoft.com/office/drawing/2014/main" id="{1066988C-A781-466C-B8A1-E34EB4A4A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+</a:t>
                </a:r>
              </a:p>
            </p:txBody>
          </p:sp>
          <p:sp>
            <p:nvSpPr>
              <p:cNvPr id="124951" name="Text Box 9">
                <a:extLst>
                  <a:ext uri="{FF2B5EF4-FFF2-40B4-BE49-F238E27FC236}">
                    <a16:creationId xmlns:a16="http://schemas.microsoft.com/office/drawing/2014/main" id="{03545964-623C-4FE4-8B13-2913F97A1F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b</a:t>
                </a:r>
              </a:p>
            </p:txBody>
          </p:sp>
          <p:sp>
            <p:nvSpPr>
              <p:cNvPr id="124952" name="Text Box 10">
                <a:extLst>
                  <a:ext uri="{FF2B5EF4-FFF2-40B4-BE49-F238E27FC236}">
                    <a16:creationId xmlns:a16="http://schemas.microsoft.com/office/drawing/2014/main" id="{832EE14B-3AA2-43C9-84E8-84195F28E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344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</a:t>
                </a:r>
              </a:p>
            </p:txBody>
          </p:sp>
        </p:grpSp>
        <p:grpSp>
          <p:nvGrpSpPr>
            <p:cNvPr id="124934" name="Group 11">
              <a:extLst>
                <a:ext uri="{FF2B5EF4-FFF2-40B4-BE49-F238E27FC236}">
                  <a16:creationId xmlns:a16="http://schemas.microsoft.com/office/drawing/2014/main" id="{341450FE-9EFC-4704-9897-75D5333361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344"/>
              <a:ext cx="192" cy="963"/>
              <a:chOff x="2880" y="2832"/>
              <a:chExt cx="192" cy="963"/>
            </a:xfrm>
          </p:grpSpPr>
          <p:sp>
            <p:nvSpPr>
              <p:cNvPr id="124944" name="Text Box 12">
                <a:extLst>
                  <a:ext uri="{FF2B5EF4-FFF2-40B4-BE49-F238E27FC236}">
                    <a16:creationId xmlns:a16="http://schemas.microsoft.com/office/drawing/2014/main" id="{799297E1-D307-49EC-AA92-866D2CD984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072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Y</a:t>
                </a:r>
              </a:p>
            </p:txBody>
          </p:sp>
          <p:sp>
            <p:nvSpPr>
              <p:cNvPr id="124945" name="Text Box 13">
                <a:extLst>
                  <a:ext uri="{FF2B5EF4-FFF2-40B4-BE49-F238E27FC236}">
                    <a16:creationId xmlns:a16="http://schemas.microsoft.com/office/drawing/2014/main" id="{2A9C4363-B568-4E85-8676-F72AA61BFD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832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X</a:t>
                </a:r>
              </a:p>
            </p:txBody>
          </p:sp>
          <p:sp>
            <p:nvSpPr>
              <p:cNvPr id="124946" name="Text Box 14">
                <a:extLst>
                  <a:ext uri="{FF2B5EF4-FFF2-40B4-BE49-F238E27FC236}">
                    <a16:creationId xmlns:a16="http://schemas.microsoft.com/office/drawing/2014/main" id="{97E00860-4328-4FE7-8A40-4C79EE074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552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$</a:t>
                </a:r>
              </a:p>
            </p:txBody>
          </p:sp>
          <p:sp>
            <p:nvSpPr>
              <p:cNvPr id="124947" name="Text Box 15">
                <a:extLst>
                  <a:ext uri="{FF2B5EF4-FFF2-40B4-BE49-F238E27FC236}">
                    <a16:creationId xmlns:a16="http://schemas.microsoft.com/office/drawing/2014/main" id="{E05C8359-6F21-41A6-B67B-F4200DC35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313"/>
                <a:ext cx="192" cy="24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 b="1"/>
                  <a:t>Z</a:t>
                </a:r>
              </a:p>
            </p:txBody>
          </p:sp>
        </p:grpSp>
        <p:sp>
          <p:nvSpPr>
            <p:cNvPr id="124935" name="Text Box 16">
              <a:extLst>
                <a:ext uri="{FF2B5EF4-FFF2-40B4-BE49-F238E27FC236}">
                  <a16:creationId xmlns:a16="http://schemas.microsoft.com/office/drawing/2014/main" id="{1884D2EE-4152-4E45-B057-FE9231331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768"/>
              <a:ext cx="52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</a:p>
          </p:txBody>
        </p:sp>
        <p:sp>
          <p:nvSpPr>
            <p:cNvPr id="124936" name="Text Box 17">
              <a:extLst>
                <a:ext uri="{FF2B5EF4-FFF2-40B4-BE49-F238E27FC236}">
                  <a16:creationId xmlns:a16="http://schemas.microsoft.com/office/drawing/2014/main" id="{333040F0-B1B3-44F2-B243-15FE4FFF1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296"/>
              <a:ext cx="1344" cy="4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Predictive Parsing Program</a:t>
              </a:r>
            </a:p>
          </p:txBody>
        </p:sp>
        <p:sp>
          <p:nvSpPr>
            <p:cNvPr id="124937" name="Text Box 18">
              <a:extLst>
                <a:ext uri="{FF2B5EF4-FFF2-40B4-BE49-F238E27FC236}">
                  <a16:creationId xmlns:a16="http://schemas.microsoft.com/office/drawing/2014/main" id="{CE2E706C-C250-4BA3-9259-42C0962CA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344"/>
              <a:ext cx="52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</a:p>
          </p:txBody>
        </p:sp>
        <p:sp>
          <p:nvSpPr>
            <p:cNvPr id="124938" name="Text Box 19">
              <a:extLst>
                <a:ext uri="{FF2B5EF4-FFF2-40B4-BE49-F238E27FC236}">
                  <a16:creationId xmlns:a16="http://schemas.microsoft.com/office/drawing/2014/main" id="{45418EED-D310-4A14-A743-708A55CA9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344"/>
              <a:ext cx="72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Output</a:t>
              </a:r>
            </a:p>
          </p:txBody>
        </p:sp>
        <p:sp>
          <p:nvSpPr>
            <p:cNvPr id="124939" name="Text Box 20">
              <a:extLst>
                <a:ext uri="{FF2B5EF4-FFF2-40B4-BE49-F238E27FC236}">
                  <a16:creationId xmlns:a16="http://schemas.microsoft.com/office/drawing/2014/main" id="{592B383C-AFA6-4C0A-BFBF-6ED3C75D9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920"/>
              <a:ext cx="1344" cy="4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Parsing Table M[A,a]</a:t>
              </a:r>
            </a:p>
          </p:txBody>
        </p:sp>
        <p:sp>
          <p:nvSpPr>
            <p:cNvPr id="124940" name="Line 21">
              <a:extLst>
                <a:ext uri="{FF2B5EF4-FFF2-40B4-BE49-F238E27FC236}">
                  <a16:creationId xmlns:a16="http://schemas.microsoft.com/office/drawing/2014/main" id="{13162124-206A-4B05-8B09-811038A58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008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1" name="Line 22">
              <a:extLst>
                <a:ext uri="{FF2B5EF4-FFF2-40B4-BE49-F238E27FC236}">
                  <a16:creationId xmlns:a16="http://schemas.microsoft.com/office/drawing/2014/main" id="{A816BC2E-6426-4CBE-B7FF-2E64D52D8B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44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2" name="Line 23">
              <a:extLst>
                <a:ext uri="{FF2B5EF4-FFF2-40B4-BE49-F238E27FC236}">
                  <a16:creationId xmlns:a16="http://schemas.microsoft.com/office/drawing/2014/main" id="{6BDA4447-3039-4862-B4DA-19460E6D6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72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3" name="Line 24">
              <a:extLst>
                <a:ext uri="{FF2B5EF4-FFF2-40B4-BE49-F238E27FC236}">
                  <a16:creationId xmlns:a16="http://schemas.microsoft.com/office/drawing/2014/main" id="{4F2E5152-90E0-400C-948D-1684829F8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48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3B409BAD-1B41-4B0E-BAFF-190A79FF0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Panic</a:t>
            </a:r>
            <a:r>
              <a:rPr lang="zh-CN" altLang="en-US"/>
              <a:t>模式恢复策略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C666367-7B9E-422B-AAE2-CB6D6080A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考虑</a:t>
            </a:r>
            <a:r>
              <a:rPr lang="en-US" altLang="zh-CN" sz="2800" dirty="0"/>
              <a:t>NT</a:t>
            </a:r>
            <a:r>
              <a:rPr lang="zh-CN" altLang="en-US" sz="2800" dirty="0"/>
              <a:t>的同步单词集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/>
              <a:t>FOLLOW(A)——</a:t>
            </a:r>
            <a:r>
              <a:rPr lang="zh-CN" altLang="en-US" sz="2400" dirty="0"/>
              <a:t>略过</a:t>
            </a:r>
            <a:r>
              <a:rPr lang="en-US" altLang="zh-CN" sz="2400" dirty="0"/>
              <a:t>A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sym typeface="Wingdings" panose="05000000000000000000" pitchFamily="2" charset="2"/>
              </a:rPr>
              <a:t>FIRST(A)——</a:t>
            </a:r>
            <a:r>
              <a:rPr lang="zh-CN" altLang="en-US" sz="2400" dirty="0">
                <a:sym typeface="Wingdings" panose="05000000000000000000" pitchFamily="2" charset="2"/>
              </a:rPr>
              <a:t>重新开始分析</a:t>
            </a:r>
            <a:r>
              <a:rPr lang="en-US" altLang="zh-CN" sz="2400" dirty="0">
                <a:sym typeface="Wingdings" panose="05000000000000000000" pitchFamily="2" charset="2"/>
              </a:rPr>
              <a:t>A</a:t>
            </a:r>
          </a:p>
          <a:p>
            <a:pPr lvl="1" eaLnBrk="1" hangingPunct="1">
              <a:buClr>
                <a:srgbClr val="FF3300"/>
              </a:buClr>
              <a:buFont typeface=".苹方-简 常规体"/>
              <a:buChar char="？"/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如何相应操作栈和输入缓冲区？如何给出恰当的错误信息？</a:t>
            </a:r>
            <a:endParaRPr lang="en-US" altLang="zh-CN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609600" indent="-609600" eaLnBrk="1" hangingPunct="1"/>
            <a:r>
              <a:rPr lang="zh-CN" altLang="en-US" sz="2800" dirty="0"/>
              <a:t>其他方法</a:t>
            </a:r>
          </a:p>
          <a:p>
            <a:pPr marL="990600" lvl="1" indent="-533400" eaLnBrk="1" hangingPunct="1">
              <a:buFont typeface="+mj-lt"/>
              <a:buAutoNum type="arabicPeriod" startAt="3"/>
            </a:pPr>
            <a:r>
              <a:rPr kumimoji="0" lang="zh-CN" altLang="en-US" sz="2400" dirty="0">
                <a:sym typeface="Symbol" panose="05050102010706020507" pitchFamily="18" charset="2"/>
              </a:rPr>
              <a:t>若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A</a:t>
            </a:r>
            <a:r>
              <a:rPr kumimoji="0" lang="en-US" altLang="zh-CN" sz="2400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 dirty="0">
                <a:sym typeface="Symbol" panose="05050102010706020507" pitchFamily="18" charset="2"/>
              </a:rPr>
              <a:t>，使用它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推迟错误，减少</a:t>
            </a:r>
            <a:r>
              <a:rPr kumimoji="0" lang="en-US" altLang="zh-CN" sz="2400" dirty="0">
                <a:sym typeface="Symbol" panose="05050102010706020507" pitchFamily="18" charset="2"/>
              </a:rPr>
              <a:t>NT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 startAt="3"/>
            </a:pPr>
            <a:r>
              <a:rPr kumimoji="0" lang="zh-CN" altLang="en-US" sz="2400" dirty="0">
                <a:sym typeface="Symbol" panose="05050102010706020507" pitchFamily="18" charset="2"/>
              </a:rPr>
              <a:t>若</a:t>
            </a:r>
            <a:r>
              <a:rPr kumimoji="0" lang="en-US" altLang="zh-CN" sz="2400" dirty="0">
                <a:sym typeface="Symbol" panose="05050102010706020507" pitchFamily="18" charset="2"/>
              </a:rPr>
              <a:t>T</a:t>
            </a:r>
            <a:r>
              <a:rPr kumimoji="0" lang="zh-CN" altLang="en-US" sz="2400" dirty="0">
                <a:sym typeface="Symbol" panose="05050102010706020507" pitchFamily="18" charset="2"/>
              </a:rPr>
              <a:t>不匹配，可弹出它，报告应插入符号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同步集设置为所有其他单词</a:t>
            </a:r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44520064-8B30-47ED-BAD5-B9E2CA296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40005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4E22417F-AF52-441F-9D25-31D6375CD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4.20</a:t>
            </a:r>
          </a:p>
        </p:txBody>
      </p:sp>
      <p:grpSp>
        <p:nvGrpSpPr>
          <p:cNvPr id="126979" name="Group 4">
            <a:extLst>
              <a:ext uri="{FF2B5EF4-FFF2-40B4-BE49-F238E27FC236}">
                <a16:creationId xmlns:a16="http://schemas.microsoft.com/office/drawing/2014/main" id="{98FB760A-49A6-4EA5-AD1B-80392CD1D182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2211388"/>
            <a:ext cx="1066800" cy="366712"/>
            <a:chOff x="1728" y="3360"/>
            <a:chExt cx="672" cy="231"/>
          </a:xfrm>
        </p:grpSpPr>
        <p:sp>
          <p:nvSpPr>
            <p:cNvPr id="127058" name="Text Box 5">
              <a:extLst>
                <a:ext uri="{FF2B5EF4-FFF2-40B4-BE49-F238E27FC236}">
                  <a16:creationId xmlns:a16="http://schemas.microsoft.com/office/drawing/2014/main" id="{D9DD8EB1-5EFD-44DE-8ED7-F9DDACCEB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</a:p>
          </p:txBody>
        </p:sp>
        <p:sp>
          <p:nvSpPr>
            <p:cNvPr id="127059" name="Line 6">
              <a:extLst>
                <a:ext uri="{FF2B5EF4-FFF2-40B4-BE49-F238E27FC236}">
                  <a16:creationId xmlns:a16="http://schemas.microsoft.com/office/drawing/2014/main" id="{91B59298-D5A9-4BF2-B6ED-C68E5C054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0" name="Group 7">
            <a:extLst>
              <a:ext uri="{FF2B5EF4-FFF2-40B4-BE49-F238E27FC236}">
                <a16:creationId xmlns:a16="http://schemas.microsoft.com/office/drawing/2014/main" id="{BB571928-2C7C-4F65-BA8B-E5B90C612577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2973388"/>
            <a:ext cx="1066800" cy="366712"/>
            <a:chOff x="1728" y="3360"/>
            <a:chExt cx="672" cy="231"/>
          </a:xfrm>
        </p:grpSpPr>
        <p:sp>
          <p:nvSpPr>
            <p:cNvPr id="127056" name="Text Box 8">
              <a:extLst>
                <a:ext uri="{FF2B5EF4-FFF2-40B4-BE49-F238E27FC236}">
                  <a16:creationId xmlns:a16="http://schemas.microsoft.com/office/drawing/2014/main" id="{7F23FE98-1729-4CF5-9504-E3DBDC053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</a:p>
          </p:txBody>
        </p:sp>
        <p:sp>
          <p:nvSpPr>
            <p:cNvPr id="127057" name="Line 9">
              <a:extLst>
                <a:ext uri="{FF2B5EF4-FFF2-40B4-BE49-F238E27FC236}">
                  <a16:creationId xmlns:a16="http://schemas.microsoft.com/office/drawing/2014/main" id="{51227817-2D98-47B2-8C67-CBEE16C97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1" name="Group 10">
            <a:extLst>
              <a:ext uri="{FF2B5EF4-FFF2-40B4-BE49-F238E27FC236}">
                <a16:creationId xmlns:a16="http://schemas.microsoft.com/office/drawing/2014/main" id="{097E5A8F-58DD-4B6B-9A03-652859183F40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449388"/>
            <a:ext cx="7848600" cy="2667000"/>
            <a:chOff x="720" y="2400"/>
            <a:chExt cx="4944" cy="1680"/>
          </a:xfrm>
        </p:grpSpPr>
        <p:grpSp>
          <p:nvGrpSpPr>
            <p:cNvPr id="127012" name="Group 11">
              <a:extLst>
                <a:ext uri="{FF2B5EF4-FFF2-40B4-BE49-F238E27FC236}">
                  <a16:creationId xmlns:a16="http://schemas.microsoft.com/office/drawing/2014/main" id="{00A4120F-9BA9-4E8E-BECE-A640665985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400"/>
              <a:ext cx="4944" cy="1680"/>
              <a:chOff x="720" y="2400"/>
              <a:chExt cx="4944" cy="1680"/>
            </a:xfrm>
          </p:grpSpPr>
          <p:sp>
            <p:nvSpPr>
              <p:cNvPr id="127040" name="Line 12">
                <a:extLst>
                  <a:ext uri="{FF2B5EF4-FFF2-40B4-BE49-F238E27FC236}">
                    <a16:creationId xmlns:a16="http://schemas.microsoft.com/office/drawing/2014/main" id="{BDED26C6-C125-477E-8959-26B610541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1" name="Line 13">
                <a:extLst>
                  <a:ext uri="{FF2B5EF4-FFF2-40B4-BE49-F238E27FC236}">
                    <a16:creationId xmlns:a16="http://schemas.microsoft.com/office/drawing/2014/main" id="{DB4B4234-B24E-490F-A937-BC408F227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48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2" name="Line 14">
                <a:extLst>
                  <a:ext uri="{FF2B5EF4-FFF2-40B4-BE49-F238E27FC236}">
                    <a16:creationId xmlns:a16="http://schemas.microsoft.com/office/drawing/2014/main" id="{5339754A-9DAA-4D1E-BB1C-9E2375500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688"/>
                <a:ext cx="42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3" name="Line 15">
                <a:extLst>
                  <a:ext uri="{FF2B5EF4-FFF2-40B4-BE49-F238E27FC236}">
                    <a16:creationId xmlns:a16="http://schemas.microsoft.com/office/drawing/2014/main" id="{67ED9F7D-4125-4971-B8E0-D1F7FFC06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8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4" name="Line 16">
                <a:extLst>
                  <a:ext uri="{FF2B5EF4-FFF2-40B4-BE49-F238E27FC236}">
                    <a16:creationId xmlns:a16="http://schemas.microsoft.com/office/drawing/2014/main" id="{4C47D7E1-E58E-4C4E-BA0E-84FF8BBB2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40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5" name="Line 17">
                <a:extLst>
                  <a:ext uri="{FF2B5EF4-FFF2-40B4-BE49-F238E27FC236}">
                    <a16:creationId xmlns:a16="http://schemas.microsoft.com/office/drawing/2014/main" id="{E507C85B-6FBA-4C4C-83A6-DEDD190E1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4" y="2400"/>
                <a:ext cx="0" cy="16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6" name="Line 18">
                <a:extLst>
                  <a:ext uri="{FF2B5EF4-FFF2-40B4-BE49-F238E27FC236}">
                    <a16:creationId xmlns:a16="http://schemas.microsoft.com/office/drawing/2014/main" id="{14D24889-71F4-4FA6-AC99-DF92F5A79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448"/>
                <a:ext cx="0" cy="16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7" name="Line 19">
                <a:extLst>
                  <a:ext uri="{FF2B5EF4-FFF2-40B4-BE49-F238E27FC236}">
                    <a16:creationId xmlns:a16="http://schemas.microsoft.com/office/drawing/2014/main" id="{15F7F50E-EA84-49B5-A650-913935274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8" name="Line 20">
                <a:extLst>
                  <a:ext uri="{FF2B5EF4-FFF2-40B4-BE49-F238E27FC236}">
                    <a16:creationId xmlns:a16="http://schemas.microsoft.com/office/drawing/2014/main" id="{865540AF-14D2-4347-B36F-A67591882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9" name="Line 21">
                <a:extLst>
                  <a:ext uri="{FF2B5EF4-FFF2-40B4-BE49-F238E27FC236}">
                    <a16:creationId xmlns:a16="http://schemas.microsoft.com/office/drawing/2014/main" id="{8441347D-C1EF-45C8-A868-90F0DBE97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0" name="Line 22">
                <a:extLst>
                  <a:ext uri="{FF2B5EF4-FFF2-40B4-BE49-F238E27FC236}">
                    <a16:creationId xmlns:a16="http://schemas.microsoft.com/office/drawing/2014/main" id="{68865EA9-8622-4419-89F6-9BDACA1DD8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1" name="Line 23">
                <a:extLst>
                  <a:ext uri="{FF2B5EF4-FFF2-40B4-BE49-F238E27FC236}">
                    <a16:creationId xmlns:a16="http://schemas.microsoft.com/office/drawing/2014/main" id="{55E3356E-7C3A-410D-88D8-4AE0D141D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2" name="Line 24">
                <a:extLst>
                  <a:ext uri="{FF2B5EF4-FFF2-40B4-BE49-F238E27FC236}">
                    <a16:creationId xmlns:a16="http://schemas.microsoft.com/office/drawing/2014/main" id="{8B33B816-13F7-478A-823F-28845AB6A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3" name="Line 25">
                <a:extLst>
                  <a:ext uri="{FF2B5EF4-FFF2-40B4-BE49-F238E27FC236}">
                    <a16:creationId xmlns:a16="http://schemas.microsoft.com/office/drawing/2014/main" id="{A7375B5A-FCE0-4F09-B570-083C0313B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36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4" name="Line 26">
                <a:extLst>
                  <a:ext uri="{FF2B5EF4-FFF2-40B4-BE49-F238E27FC236}">
                    <a16:creationId xmlns:a16="http://schemas.microsoft.com/office/drawing/2014/main" id="{A4613EFC-D912-4466-8CE2-E707BEA7B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6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55" name="Line 27">
                <a:extLst>
                  <a:ext uri="{FF2B5EF4-FFF2-40B4-BE49-F238E27FC236}">
                    <a16:creationId xmlns:a16="http://schemas.microsoft.com/office/drawing/2014/main" id="{AF23CBB3-3A2F-4F5A-BC4A-EF5B6D485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84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7013" name="Text Box 28">
              <a:extLst>
                <a:ext uri="{FF2B5EF4-FFF2-40B4-BE49-F238E27FC236}">
                  <a16:creationId xmlns:a16="http://schemas.microsoft.com/office/drawing/2014/main" id="{8C4A8B04-3A79-4963-9DBD-32044278D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544"/>
              <a:ext cx="67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Non-terminal</a:t>
              </a:r>
            </a:p>
          </p:txBody>
        </p:sp>
        <p:sp>
          <p:nvSpPr>
            <p:cNvPr id="127014" name="Text Box 29">
              <a:extLst>
                <a:ext uri="{FF2B5EF4-FFF2-40B4-BE49-F238E27FC236}">
                  <a16:creationId xmlns:a16="http://schemas.microsoft.com/office/drawing/2014/main" id="{AB6978C2-D943-49D6-8E55-897B3B421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448"/>
              <a:ext cx="21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 SYMBOL</a:t>
              </a:r>
            </a:p>
          </p:txBody>
        </p:sp>
        <p:sp>
          <p:nvSpPr>
            <p:cNvPr id="127015" name="Text Box 30">
              <a:extLst>
                <a:ext uri="{FF2B5EF4-FFF2-40B4-BE49-F238E27FC236}">
                  <a16:creationId xmlns:a16="http://schemas.microsoft.com/office/drawing/2014/main" id="{26CAB679-04B2-49EB-9FCD-22B339B18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</a:p>
          </p:txBody>
        </p:sp>
        <p:sp>
          <p:nvSpPr>
            <p:cNvPr id="127016" name="Text Box 31">
              <a:extLst>
                <a:ext uri="{FF2B5EF4-FFF2-40B4-BE49-F238E27FC236}">
                  <a16:creationId xmlns:a16="http://schemas.microsoft.com/office/drawing/2014/main" id="{9C59911A-520E-4098-B7D6-BACE8934B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</a:t>
              </a:r>
            </a:p>
          </p:txBody>
        </p:sp>
        <p:sp>
          <p:nvSpPr>
            <p:cNvPr id="127017" name="Text Box 32">
              <a:extLst>
                <a:ext uri="{FF2B5EF4-FFF2-40B4-BE49-F238E27FC236}">
                  <a16:creationId xmlns:a16="http://schemas.microsoft.com/office/drawing/2014/main" id="{0E2F2E7F-2213-4A18-B2D2-532476896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*</a:t>
              </a:r>
            </a:p>
          </p:txBody>
        </p:sp>
        <p:sp>
          <p:nvSpPr>
            <p:cNvPr id="127018" name="Text Box 33">
              <a:extLst>
                <a:ext uri="{FF2B5EF4-FFF2-40B4-BE49-F238E27FC236}">
                  <a16:creationId xmlns:a16="http://schemas.microsoft.com/office/drawing/2014/main" id="{472AA523-21EE-4FAE-8770-92610A21C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(</a:t>
              </a:r>
            </a:p>
          </p:txBody>
        </p:sp>
        <p:sp>
          <p:nvSpPr>
            <p:cNvPr id="127019" name="Text Box 34">
              <a:extLst>
                <a:ext uri="{FF2B5EF4-FFF2-40B4-BE49-F238E27FC236}">
                  <a16:creationId xmlns:a16="http://schemas.microsoft.com/office/drawing/2014/main" id="{2D6B3F11-A417-41EC-B076-63B468E98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)</a:t>
              </a:r>
            </a:p>
          </p:txBody>
        </p:sp>
        <p:sp>
          <p:nvSpPr>
            <p:cNvPr id="127020" name="Text Box 35">
              <a:extLst>
                <a:ext uri="{FF2B5EF4-FFF2-40B4-BE49-F238E27FC236}">
                  <a16:creationId xmlns:a16="http://schemas.microsoft.com/office/drawing/2014/main" id="{014D46BF-4E28-4A5D-855E-B95B2DCA4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68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</a:t>
              </a:r>
            </a:p>
          </p:txBody>
        </p:sp>
        <p:sp>
          <p:nvSpPr>
            <p:cNvPr id="127021" name="Text Box 36">
              <a:extLst>
                <a:ext uri="{FF2B5EF4-FFF2-40B4-BE49-F238E27FC236}">
                  <a16:creationId xmlns:a16="http://schemas.microsoft.com/office/drawing/2014/main" id="{86CF094C-13EA-4CEA-97A0-EE7CBC53B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88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</a:p>
          </p:txBody>
        </p:sp>
        <p:sp>
          <p:nvSpPr>
            <p:cNvPr id="127022" name="Text Box 37">
              <a:extLst>
                <a:ext uri="{FF2B5EF4-FFF2-40B4-BE49-F238E27FC236}">
                  <a16:creationId xmlns:a16="http://schemas.microsoft.com/office/drawing/2014/main" id="{A03ABEFA-97B9-4108-8B21-E6EBC2A20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12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</a:p>
          </p:txBody>
        </p:sp>
        <p:sp>
          <p:nvSpPr>
            <p:cNvPr id="127023" name="Text Box 38">
              <a:extLst>
                <a:ext uri="{FF2B5EF4-FFF2-40B4-BE49-F238E27FC236}">
                  <a16:creationId xmlns:a16="http://schemas.microsoft.com/office/drawing/2014/main" id="{5C265B7B-A017-4090-A495-72A1CEEEE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36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127024" name="Text Box 39">
              <a:extLst>
                <a:ext uri="{FF2B5EF4-FFF2-40B4-BE49-F238E27FC236}">
                  <a16:creationId xmlns:a16="http://schemas.microsoft.com/office/drawing/2014/main" id="{90DED32B-FC04-4535-89D5-027386F76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6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</a:p>
          </p:txBody>
        </p:sp>
        <p:sp>
          <p:nvSpPr>
            <p:cNvPr id="127025" name="Text Box 40">
              <a:extLst>
                <a:ext uri="{FF2B5EF4-FFF2-40B4-BE49-F238E27FC236}">
                  <a16:creationId xmlns:a16="http://schemas.microsoft.com/office/drawing/2014/main" id="{EE375924-D64E-47F4-AD60-181305EF1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84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</a:p>
          </p:txBody>
        </p:sp>
        <p:sp>
          <p:nvSpPr>
            <p:cNvPr id="127026" name="Text Box 41">
              <a:extLst>
                <a:ext uri="{FF2B5EF4-FFF2-40B4-BE49-F238E27FC236}">
                  <a16:creationId xmlns:a16="http://schemas.microsoft.com/office/drawing/2014/main" id="{B313DBC8-ADE8-4ECB-ABF7-A4D20B90C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8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27027" name="Text Box 42">
              <a:extLst>
                <a:ext uri="{FF2B5EF4-FFF2-40B4-BE49-F238E27FC236}">
                  <a16:creationId xmlns:a16="http://schemas.microsoft.com/office/drawing/2014/main" id="{0DDEAA3D-3678-40B8-854E-1EC2475CE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27028" name="Text Box 43">
              <a:extLst>
                <a:ext uri="{FF2B5EF4-FFF2-40B4-BE49-F238E27FC236}">
                  <a16:creationId xmlns:a16="http://schemas.microsoft.com/office/drawing/2014/main" id="{ACB12D24-E533-4221-8279-C9670022B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4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id</a:t>
              </a:r>
              <a:endParaRPr kumimoji="0" lang="en-US" altLang="zh-CN" sz="1800" b="1"/>
            </a:p>
          </p:txBody>
        </p:sp>
        <p:sp>
          <p:nvSpPr>
            <p:cNvPr id="127029" name="Text Box 44">
              <a:extLst>
                <a:ext uri="{FF2B5EF4-FFF2-40B4-BE49-F238E27FC236}">
                  <a16:creationId xmlns:a16="http://schemas.microsoft.com/office/drawing/2014/main" id="{2FC7903D-C180-4E9C-B393-ED72D5260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120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TE’</a:t>
              </a:r>
              <a:endParaRPr kumimoji="0" lang="en-US" altLang="zh-CN" sz="1800" b="1"/>
            </a:p>
          </p:txBody>
        </p:sp>
        <p:sp>
          <p:nvSpPr>
            <p:cNvPr id="127030" name="Text Box 45">
              <a:extLst>
                <a:ext uri="{FF2B5EF4-FFF2-40B4-BE49-F238E27FC236}">
                  <a16:creationId xmlns:a16="http://schemas.microsoft.com/office/drawing/2014/main" id="{07F543C6-55AA-4DEF-9111-1EB93308B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7031" name="Text Box 46">
              <a:extLst>
                <a:ext uri="{FF2B5EF4-FFF2-40B4-BE49-F238E27FC236}">
                  <a16:creationId xmlns:a16="http://schemas.microsoft.com/office/drawing/2014/main" id="{ADC54396-4500-4FCC-85C1-B5B6E3568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*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FT’</a:t>
              </a:r>
              <a:endParaRPr kumimoji="0" lang="en-US" altLang="zh-CN" sz="1800" b="1"/>
            </a:p>
          </p:txBody>
        </p:sp>
        <p:sp>
          <p:nvSpPr>
            <p:cNvPr id="127032" name="Text Box 47">
              <a:extLst>
                <a:ext uri="{FF2B5EF4-FFF2-40B4-BE49-F238E27FC236}">
                  <a16:creationId xmlns:a16="http://schemas.microsoft.com/office/drawing/2014/main" id="{57E45579-51D5-4441-AE02-D85EF9690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84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(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)</a:t>
              </a:r>
              <a:endParaRPr kumimoji="0" lang="en-US" altLang="zh-CN" sz="1800" b="1"/>
            </a:p>
          </p:txBody>
        </p:sp>
        <p:sp>
          <p:nvSpPr>
            <p:cNvPr id="127033" name="Text Box 48">
              <a:extLst>
                <a:ext uri="{FF2B5EF4-FFF2-40B4-BE49-F238E27FC236}">
                  <a16:creationId xmlns:a16="http://schemas.microsoft.com/office/drawing/2014/main" id="{712B962C-A581-47B2-B7C1-3F638F43E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27034" name="Text Box 49">
              <a:extLst>
                <a:ext uri="{FF2B5EF4-FFF2-40B4-BE49-F238E27FC236}">
                  <a16:creationId xmlns:a16="http://schemas.microsoft.com/office/drawing/2014/main" id="{0CAF7A28-16E1-4C40-B830-BCEC907F1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8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27035" name="Text Box 50">
              <a:extLst>
                <a:ext uri="{FF2B5EF4-FFF2-40B4-BE49-F238E27FC236}">
                  <a16:creationId xmlns:a16="http://schemas.microsoft.com/office/drawing/2014/main" id="{8443EACE-372C-44F5-B09E-FFD45882D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7036" name="Text Box 51">
              <a:extLst>
                <a:ext uri="{FF2B5EF4-FFF2-40B4-BE49-F238E27FC236}">
                  <a16:creationId xmlns:a16="http://schemas.microsoft.com/office/drawing/2014/main" id="{980FF0BD-5073-47DA-9E02-AD2CABB92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7037" name="Text Box 52">
              <a:extLst>
                <a:ext uri="{FF2B5EF4-FFF2-40B4-BE49-F238E27FC236}">
                  <a16:creationId xmlns:a16="http://schemas.microsoft.com/office/drawing/2014/main" id="{73A6E7D9-BEB4-4FE0-B421-004723116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7038" name="Text Box 53">
              <a:extLst>
                <a:ext uri="{FF2B5EF4-FFF2-40B4-BE49-F238E27FC236}">
                  <a16:creationId xmlns:a16="http://schemas.microsoft.com/office/drawing/2014/main" id="{A2E9F7CE-65C5-49D4-8531-55D387B57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60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1800" b="1">
                  <a:solidFill>
                    <a:schemeClr val="accent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7039" name="Line 54">
              <a:extLst>
                <a:ext uri="{FF2B5EF4-FFF2-40B4-BE49-F238E27FC236}">
                  <a16:creationId xmlns:a16="http://schemas.microsoft.com/office/drawing/2014/main" id="{7F0F6459-5406-4CF7-81BD-1BD8F9578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00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6982" name="Group 55">
            <a:extLst>
              <a:ext uri="{FF2B5EF4-FFF2-40B4-BE49-F238E27FC236}">
                <a16:creationId xmlns:a16="http://schemas.microsoft.com/office/drawing/2014/main" id="{91883C2D-CD8B-456F-9F97-17A1B0CF42DB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973388"/>
            <a:ext cx="1066800" cy="366712"/>
            <a:chOff x="1728" y="3360"/>
            <a:chExt cx="672" cy="231"/>
          </a:xfrm>
        </p:grpSpPr>
        <p:sp>
          <p:nvSpPr>
            <p:cNvPr id="127010" name="Text Box 56">
              <a:extLst>
                <a:ext uri="{FF2B5EF4-FFF2-40B4-BE49-F238E27FC236}">
                  <a16:creationId xmlns:a16="http://schemas.microsoft.com/office/drawing/2014/main" id="{96E920F6-6293-4356-9C25-BE777DE55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</a:p>
          </p:txBody>
        </p:sp>
        <p:sp>
          <p:nvSpPr>
            <p:cNvPr id="127011" name="Line 57">
              <a:extLst>
                <a:ext uri="{FF2B5EF4-FFF2-40B4-BE49-F238E27FC236}">
                  <a16:creationId xmlns:a16="http://schemas.microsoft.com/office/drawing/2014/main" id="{28AACA5E-A71D-47E6-B7FC-1C8464FA8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3" name="Group 58">
            <a:extLst>
              <a:ext uri="{FF2B5EF4-FFF2-40B4-BE49-F238E27FC236}">
                <a16:creationId xmlns:a16="http://schemas.microsoft.com/office/drawing/2014/main" id="{F55251B7-81B3-44B1-80A4-6D4733CC7931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735388"/>
            <a:ext cx="1066800" cy="366712"/>
            <a:chOff x="1728" y="3360"/>
            <a:chExt cx="672" cy="231"/>
          </a:xfrm>
        </p:grpSpPr>
        <p:sp>
          <p:nvSpPr>
            <p:cNvPr id="127008" name="Text Box 59">
              <a:extLst>
                <a:ext uri="{FF2B5EF4-FFF2-40B4-BE49-F238E27FC236}">
                  <a16:creationId xmlns:a16="http://schemas.microsoft.com/office/drawing/2014/main" id="{59B1EB8B-4E68-4812-8004-0549E6B51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</a:p>
          </p:txBody>
        </p:sp>
        <p:sp>
          <p:nvSpPr>
            <p:cNvPr id="127009" name="Line 60">
              <a:extLst>
                <a:ext uri="{FF2B5EF4-FFF2-40B4-BE49-F238E27FC236}">
                  <a16:creationId xmlns:a16="http://schemas.microsoft.com/office/drawing/2014/main" id="{EFE3D91C-6A64-48F4-8437-0AD4C7260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984" name="Group 61">
            <a:extLst>
              <a:ext uri="{FF2B5EF4-FFF2-40B4-BE49-F238E27FC236}">
                <a16:creationId xmlns:a16="http://schemas.microsoft.com/office/drawing/2014/main" id="{9909747C-D2DA-43C2-9B94-EC88A5D05ADB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735388"/>
            <a:ext cx="1066800" cy="366712"/>
            <a:chOff x="1728" y="3360"/>
            <a:chExt cx="672" cy="231"/>
          </a:xfrm>
        </p:grpSpPr>
        <p:sp>
          <p:nvSpPr>
            <p:cNvPr id="127006" name="Text Box 62">
              <a:extLst>
                <a:ext uri="{FF2B5EF4-FFF2-40B4-BE49-F238E27FC236}">
                  <a16:creationId xmlns:a16="http://schemas.microsoft.com/office/drawing/2014/main" id="{72BE1118-5C2A-464B-9995-B17D2BF46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</a:p>
          </p:txBody>
        </p:sp>
        <p:sp>
          <p:nvSpPr>
            <p:cNvPr id="127007" name="Line 63">
              <a:extLst>
                <a:ext uri="{FF2B5EF4-FFF2-40B4-BE49-F238E27FC236}">
                  <a16:creationId xmlns:a16="http://schemas.microsoft.com/office/drawing/2014/main" id="{09F8CB16-3912-407B-B1D5-33C77F05E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985" name="Text Box 64">
            <a:extLst>
              <a:ext uri="{FF2B5EF4-FFF2-40B4-BE49-F238E27FC236}">
                <a16:creationId xmlns:a16="http://schemas.microsoft.com/office/drawing/2014/main" id="{B99CA163-C8BE-4635-97A1-F63F1A48D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973388"/>
            <a:ext cx="1066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sync</a:t>
            </a:r>
          </a:p>
        </p:txBody>
      </p:sp>
      <p:sp>
        <p:nvSpPr>
          <p:cNvPr id="126986" name="Line 65">
            <a:extLst>
              <a:ext uri="{FF2B5EF4-FFF2-40B4-BE49-F238E27FC236}">
                <a16:creationId xmlns:a16="http://schemas.microsoft.com/office/drawing/2014/main" id="{AF55FDA3-8D14-4DA5-A18E-49FCE9D70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278188"/>
            <a:ext cx="60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6987" name="Group 66">
            <a:extLst>
              <a:ext uri="{FF2B5EF4-FFF2-40B4-BE49-F238E27FC236}">
                <a16:creationId xmlns:a16="http://schemas.microsoft.com/office/drawing/2014/main" id="{771A5ED6-20F8-4750-85EC-3CC4EDDFBC7B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211388"/>
            <a:ext cx="1066800" cy="366712"/>
            <a:chOff x="1728" y="3360"/>
            <a:chExt cx="672" cy="231"/>
          </a:xfrm>
        </p:grpSpPr>
        <p:sp>
          <p:nvSpPr>
            <p:cNvPr id="127004" name="Text Box 67">
              <a:extLst>
                <a:ext uri="{FF2B5EF4-FFF2-40B4-BE49-F238E27FC236}">
                  <a16:creationId xmlns:a16="http://schemas.microsoft.com/office/drawing/2014/main" id="{F0743865-2AD1-4661-A4A7-1B84388D6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sync</a:t>
              </a:r>
            </a:p>
          </p:txBody>
        </p:sp>
        <p:sp>
          <p:nvSpPr>
            <p:cNvPr id="127005" name="Line 68">
              <a:extLst>
                <a:ext uri="{FF2B5EF4-FFF2-40B4-BE49-F238E27FC236}">
                  <a16:creationId xmlns:a16="http://schemas.microsoft.com/office/drawing/2014/main" id="{672027B9-A2E1-48C8-A337-48BCF08B8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5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988" name="Line 69">
            <a:extLst>
              <a:ext uri="{FF2B5EF4-FFF2-40B4-BE49-F238E27FC236}">
                <a16:creationId xmlns:a16="http://schemas.microsoft.com/office/drawing/2014/main" id="{D17CBD51-EFF0-41C5-81E7-1410414AE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278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9" name="Line 70">
            <a:extLst>
              <a:ext uri="{FF2B5EF4-FFF2-40B4-BE49-F238E27FC236}">
                <a16:creationId xmlns:a16="http://schemas.microsoft.com/office/drawing/2014/main" id="{53C271B7-86A5-4B29-AED8-4533F3D10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659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0" name="Text Box 71">
            <a:extLst>
              <a:ext uri="{FF2B5EF4-FFF2-40B4-BE49-F238E27FC236}">
                <a16:creationId xmlns:a16="http://schemas.microsoft.com/office/drawing/2014/main" id="{08F3AFB7-AA63-4B11-9862-4954A7BCD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6497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rgbClr val="FF3300"/>
                </a:solidFill>
              </a:rPr>
              <a:t>同步集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——FOLLOW</a:t>
            </a:r>
            <a:r>
              <a:rPr kumimoji="0" lang="zh-CN" altLang="en-US" sz="2400" b="1" dirty="0">
                <a:solidFill>
                  <a:srgbClr val="FF3300"/>
                </a:solidFill>
              </a:rPr>
              <a:t>集</a:t>
            </a:r>
          </a:p>
        </p:txBody>
      </p:sp>
      <p:sp>
        <p:nvSpPr>
          <p:cNvPr id="126991" name="Line 72">
            <a:extLst>
              <a:ext uri="{FF2B5EF4-FFF2-40B4-BE49-F238E27FC236}">
                <a16:creationId xmlns:a16="http://schemas.microsoft.com/office/drawing/2014/main" id="{72BA1D6C-DA71-4803-8886-0EACDB6E23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4116388"/>
            <a:ext cx="4572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2" name="Text Box 73">
            <a:extLst>
              <a:ext uri="{FF2B5EF4-FFF2-40B4-BE49-F238E27FC236}">
                <a16:creationId xmlns:a16="http://schemas.microsoft.com/office/drawing/2014/main" id="{CF781191-D39E-4085-8F8A-C604CE5C1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573588"/>
            <a:ext cx="3549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</a:rPr>
              <a:t>跳过输入符号，</a:t>
            </a:r>
            <a:r>
              <a:rPr kumimoji="0" lang="en-US" altLang="zh-CN" sz="2400" b="1">
                <a:solidFill>
                  <a:schemeClr val="accent2"/>
                </a:solidFill>
              </a:rPr>
              <a:t>FIRST</a:t>
            </a:r>
            <a:r>
              <a:rPr kumimoji="0" lang="zh-CN" altLang="en-US" sz="2400" b="1">
                <a:solidFill>
                  <a:schemeClr val="accent2"/>
                </a:solidFill>
              </a:rPr>
              <a:t>集</a:t>
            </a:r>
          </a:p>
        </p:txBody>
      </p:sp>
      <p:sp>
        <p:nvSpPr>
          <p:cNvPr id="126993" name="Line 74">
            <a:extLst>
              <a:ext uri="{FF2B5EF4-FFF2-40B4-BE49-F238E27FC236}">
                <a16:creationId xmlns:a16="http://schemas.microsoft.com/office/drawing/2014/main" id="{AA899943-F425-4562-B810-D9FBD564E6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4600" y="3735388"/>
            <a:ext cx="381000" cy="762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4" name="Line 75">
            <a:extLst>
              <a:ext uri="{FF2B5EF4-FFF2-40B4-BE49-F238E27FC236}">
                <a16:creationId xmlns:a16="http://schemas.microsoft.com/office/drawing/2014/main" id="{5379F110-9E57-4B60-B071-DDD99C229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897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5" name="Line 76">
            <a:extLst>
              <a:ext uri="{FF2B5EF4-FFF2-40B4-BE49-F238E27FC236}">
                <a16:creationId xmlns:a16="http://schemas.microsoft.com/office/drawing/2014/main" id="{8430B441-60AE-418D-AB87-F6DB2901D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897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6" name="Line 77">
            <a:extLst>
              <a:ext uri="{FF2B5EF4-FFF2-40B4-BE49-F238E27FC236}">
                <a16:creationId xmlns:a16="http://schemas.microsoft.com/office/drawing/2014/main" id="{C21C5DDE-0CD5-4F32-A099-F61FC0B58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516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7" name="Line 78">
            <a:extLst>
              <a:ext uri="{FF2B5EF4-FFF2-40B4-BE49-F238E27FC236}">
                <a16:creationId xmlns:a16="http://schemas.microsoft.com/office/drawing/2014/main" id="{A298F14E-DE06-4E15-9DC8-1F7EE6EDB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516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8" name="Line 79">
            <a:extLst>
              <a:ext uri="{FF2B5EF4-FFF2-40B4-BE49-F238E27FC236}">
                <a16:creationId xmlns:a16="http://schemas.microsoft.com/office/drawing/2014/main" id="{CEDB8E00-78E1-4A1E-A5B3-90D04C780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659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9" name="Line 80">
            <a:extLst>
              <a:ext uri="{FF2B5EF4-FFF2-40B4-BE49-F238E27FC236}">
                <a16:creationId xmlns:a16="http://schemas.microsoft.com/office/drawing/2014/main" id="{1F5A5CDE-F2C6-4307-9986-AAE6C9285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897188"/>
            <a:ext cx="609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0" name="Line 81">
            <a:extLst>
              <a:ext uri="{FF2B5EF4-FFF2-40B4-BE49-F238E27FC236}">
                <a16:creationId xmlns:a16="http://schemas.microsoft.com/office/drawing/2014/main" id="{6241B418-9C95-458B-85B6-07F92D092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040188"/>
            <a:ext cx="60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1" name="Line 82">
            <a:extLst>
              <a:ext uri="{FF2B5EF4-FFF2-40B4-BE49-F238E27FC236}">
                <a16:creationId xmlns:a16="http://schemas.microsoft.com/office/drawing/2014/main" id="{0DF340B3-BDEA-49F7-99E3-590AA91D6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040188"/>
            <a:ext cx="60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2" name="Rectangle 86">
            <a:extLst>
              <a:ext uri="{FF2B5EF4-FFF2-40B4-BE49-F238E27FC236}">
                <a16:creationId xmlns:a16="http://schemas.microsoft.com/office/drawing/2014/main" id="{74C3FD99-7285-4A04-A6D7-25E693E787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781800" y="3733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sync</a:t>
            </a:r>
          </a:p>
        </p:txBody>
      </p:sp>
      <p:sp>
        <p:nvSpPr>
          <p:cNvPr id="127003" name="Rectangle 87">
            <a:extLst>
              <a:ext uri="{FF2B5EF4-FFF2-40B4-BE49-F238E27FC236}">
                <a16:creationId xmlns:a16="http://schemas.microsoft.com/office/drawing/2014/main" id="{B555F0B0-42C7-4161-B980-242A802B33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918450" y="3733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</a:rPr>
              <a:t>sync</a:t>
            </a:r>
          </a:p>
        </p:txBody>
      </p:sp>
      <p:sp>
        <p:nvSpPr>
          <p:cNvPr id="84" name="Text Box 71">
            <a:extLst>
              <a:ext uri="{FF2B5EF4-FFF2-40B4-BE49-F238E27FC236}">
                <a16:creationId xmlns:a16="http://schemas.microsoft.com/office/drawing/2014/main" id="{2A630AE2-5A07-465F-8654-90232A67C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856" y="5645149"/>
            <a:ext cx="350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rgbClr val="FF3300"/>
                </a:solidFill>
              </a:rPr>
              <a:t>选择两种方式的原因？</a:t>
            </a:r>
            <a:br>
              <a:rPr kumimoji="0" lang="en-US" altLang="zh-CN" sz="2400" b="1" dirty="0">
                <a:solidFill>
                  <a:srgbClr val="FF3300"/>
                </a:solidFill>
              </a:rPr>
            </a:br>
            <a:r>
              <a:rPr kumimoji="0" lang="zh-CN" altLang="en-US" sz="2400" b="1" dirty="0">
                <a:solidFill>
                  <a:srgbClr val="FF3300"/>
                </a:solidFill>
              </a:rPr>
              <a:t>有什么一般性原则吗？</a:t>
            </a:r>
            <a:endParaRPr kumimoji="0" lang="en-US" altLang="zh-CN" sz="24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C62C365-C4FA-49D5-96EF-E3360739C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4.20</a:t>
            </a:r>
            <a:r>
              <a:rPr lang="zh-CN" altLang="en-US"/>
              <a:t>（续）</a:t>
            </a:r>
          </a:p>
        </p:txBody>
      </p:sp>
      <p:grpSp>
        <p:nvGrpSpPr>
          <p:cNvPr id="128003" name="Group 4">
            <a:extLst>
              <a:ext uri="{FF2B5EF4-FFF2-40B4-BE49-F238E27FC236}">
                <a16:creationId xmlns:a16="http://schemas.microsoft.com/office/drawing/2014/main" id="{3B06A892-6CC1-432C-BB5E-8735639CE0C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219200"/>
            <a:ext cx="5181600" cy="5105400"/>
            <a:chOff x="1632" y="816"/>
            <a:chExt cx="3264" cy="3216"/>
          </a:xfrm>
        </p:grpSpPr>
        <p:sp>
          <p:nvSpPr>
            <p:cNvPr id="128008" name="Line 5">
              <a:extLst>
                <a:ext uri="{FF2B5EF4-FFF2-40B4-BE49-F238E27FC236}">
                  <a16:creationId xmlns:a16="http://schemas.microsoft.com/office/drawing/2014/main" id="{4D1BF9EB-D78F-463F-BB48-E2C8E6048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81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9" name="Line 6">
              <a:extLst>
                <a:ext uri="{FF2B5EF4-FFF2-40B4-BE49-F238E27FC236}">
                  <a16:creationId xmlns:a16="http://schemas.microsoft.com/office/drawing/2014/main" id="{29505436-FB24-49EE-BFC0-09E1FDFDA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864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0" name="Line 7">
              <a:extLst>
                <a:ext uri="{FF2B5EF4-FFF2-40B4-BE49-F238E27FC236}">
                  <a16:creationId xmlns:a16="http://schemas.microsoft.com/office/drawing/2014/main" id="{CA8FD629-4EFD-4747-B21F-0002E5D39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05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1" name="Line 8">
              <a:extLst>
                <a:ext uri="{FF2B5EF4-FFF2-40B4-BE49-F238E27FC236}">
                  <a16:creationId xmlns:a16="http://schemas.microsoft.com/office/drawing/2014/main" id="{6B74FF77-BE32-498B-B7F0-957919CA7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4032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2" name="Line 9">
              <a:extLst>
                <a:ext uri="{FF2B5EF4-FFF2-40B4-BE49-F238E27FC236}">
                  <a16:creationId xmlns:a16="http://schemas.microsoft.com/office/drawing/2014/main" id="{8158E582-4271-434F-839D-E9747F9EA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3" name="Line 10">
              <a:extLst>
                <a:ext uri="{FF2B5EF4-FFF2-40B4-BE49-F238E27FC236}">
                  <a16:creationId xmlns:a16="http://schemas.microsoft.com/office/drawing/2014/main" id="{7B1960AA-A6FC-411B-90E9-2D566C3A1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4" name="Text Box 11">
              <a:extLst>
                <a:ext uri="{FF2B5EF4-FFF2-40B4-BE49-F238E27FC236}">
                  <a16:creationId xmlns:a16="http://schemas.microsoft.com/office/drawing/2014/main" id="{42E61429-20E1-4502-974B-39B7FE8CB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104"/>
              <a:ext cx="720" cy="2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*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endParaRPr kumimoji="0" lang="en-US" altLang="zh-CN" sz="16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$E’T’F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$E’T’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$E’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$</a:t>
              </a:r>
            </a:p>
          </p:txBody>
        </p:sp>
        <p:sp>
          <p:nvSpPr>
            <p:cNvPr id="128015" name="Text Box 12">
              <a:extLst>
                <a:ext uri="{FF2B5EF4-FFF2-40B4-BE49-F238E27FC236}">
                  <a16:creationId xmlns:a16="http://schemas.microsoft.com/office/drawing/2014/main" id="{75FE6AA9-5C5A-4E24-9FEF-E800B5EAA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104"/>
              <a:ext cx="1152" cy="2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 * +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 * + id$ </a:t>
              </a: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* +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* + id$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 id$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id$ </a:t>
              </a:r>
            </a:p>
            <a:p>
              <a:pPr algn="r" eaLnBrk="1" hangingPunct="1">
                <a:lnSpc>
                  <a:spcPct val="4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</a:t>
              </a:r>
            </a:p>
          </p:txBody>
        </p:sp>
        <p:sp>
          <p:nvSpPr>
            <p:cNvPr id="128016" name="Text Box 13">
              <a:extLst>
                <a:ext uri="{FF2B5EF4-FFF2-40B4-BE49-F238E27FC236}">
                  <a16:creationId xmlns:a16="http://schemas.microsoft.com/office/drawing/2014/main" id="{1DFDC64A-71CC-48D7-B83C-41D3C41F7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104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600" b="1"/>
            </a:p>
          </p:txBody>
        </p:sp>
        <p:sp>
          <p:nvSpPr>
            <p:cNvPr id="128017" name="Text Box 14">
              <a:extLst>
                <a:ext uri="{FF2B5EF4-FFF2-40B4-BE49-F238E27FC236}">
                  <a16:creationId xmlns:a16="http://schemas.microsoft.com/office/drawing/2014/main" id="{51F11297-48F7-4E11-BB9C-A5AA69839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</a:p>
          </p:txBody>
        </p:sp>
        <p:sp>
          <p:nvSpPr>
            <p:cNvPr id="128018" name="Text Box 15">
              <a:extLst>
                <a:ext uri="{FF2B5EF4-FFF2-40B4-BE49-F238E27FC236}">
                  <a16:creationId xmlns:a16="http://schemas.microsoft.com/office/drawing/2014/main" id="{89C3970E-A545-4183-BA82-0BE713B1B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</a:p>
          </p:txBody>
        </p:sp>
        <p:sp>
          <p:nvSpPr>
            <p:cNvPr id="128019" name="Text Box 16">
              <a:extLst>
                <a:ext uri="{FF2B5EF4-FFF2-40B4-BE49-F238E27FC236}">
                  <a16:creationId xmlns:a16="http://schemas.microsoft.com/office/drawing/2014/main" id="{F07F2B9E-AD38-40D5-B3A1-BDAF2FEE3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Remark</a:t>
              </a:r>
            </a:p>
          </p:txBody>
        </p:sp>
      </p:grpSp>
      <p:sp>
        <p:nvSpPr>
          <p:cNvPr id="128004" name="Text Box 17">
            <a:extLst>
              <a:ext uri="{FF2B5EF4-FFF2-40B4-BE49-F238E27FC236}">
                <a16:creationId xmlns:a16="http://schemas.microsoft.com/office/drawing/2014/main" id="{9A371AF1-4BC6-47D3-9184-180CBEBFF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581400"/>
            <a:ext cx="2286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error, M[F,+] = synch</a:t>
            </a:r>
          </a:p>
        </p:txBody>
      </p:sp>
      <p:sp>
        <p:nvSpPr>
          <p:cNvPr id="128005" name="Text Box 18">
            <a:extLst>
              <a:ext uri="{FF2B5EF4-FFF2-40B4-BE49-F238E27FC236}">
                <a16:creationId xmlns:a16="http://schemas.microsoft.com/office/drawing/2014/main" id="{579C1FF3-F23A-4400-829A-A53FAFC30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810000"/>
            <a:ext cx="1828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F has been popped</a:t>
            </a:r>
          </a:p>
        </p:txBody>
      </p:sp>
      <p:sp>
        <p:nvSpPr>
          <p:cNvPr id="128006" name="Text Box 19">
            <a:extLst>
              <a:ext uri="{FF2B5EF4-FFF2-40B4-BE49-F238E27FC236}">
                <a16:creationId xmlns:a16="http://schemas.microsoft.com/office/drawing/2014/main" id="{E75AC056-2530-469B-9D69-B30E092F6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67640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error, skip +</a:t>
            </a:r>
          </a:p>
        </p:txBody>
      </p:sp>
      <p:sp>
        <p:nvSpPr>
          <p:cNvPr id="128007" name="Text Box 20">
            <a:extLst>
              <a:ext uri="{FF2B5EF4-FFF2-40B4-BE49-F238E27FC236}">
                <a16:creationId xmlns:a16="http://schemas.microsoft.com/office/drawing/2014/main" id="{E2AC5AAF-6078-4032-95FE-2D89FE88D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94945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id</a:t>
            </a:r>
            <a:r>
              <a:rPr kumimoji="0" lang="en-US" altLang="zh-CN" sz="1600" b="1">
                <a:latin typeface="宋体" panose="02010600030101010101" pitchFamily="2" charset="-122"/>
              </a:rPr>
              <a:t>∈</a:t>
            </a:r>
            <a:r>
              <a:rPr kumimoji="0" lang="en-US" altLang="zh-CN" sz="1600" b="1"/>
              <a:t>FIRST(E)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62082C5-1BAB-475B-8FDD-0443DA8E6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产生错误信息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C8B63F70-7B9C-4BA3-B562-08FCCABC0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保存输入计数（位置）</a:t>
            </a:r>
          </a:p>
          <a:p>
            <a:pPr eaLnBrk="1" hangingPunct="1"/>
            <a:r>
              <a:rPr lang="zh-CN" altLang="en-US" sz="2800"/>
              <a:t>每个非终结符符号化一个抽象语言结构</a:t>
            </a:r>
          </a:p>
          <a:p>
            <a:pPr eaLnBrk="1" hangingPunct="1"/>
            <a:r>
              <a:rPr lang="zh-CN" altLang="en-US" sz="2800"/>
              <a:t>考虑例</a:t>
            </a:r>
            <a:r>
              <a:rPr lang="en-US" altLang="zh-CN" sz="2800"/>
              <a:t>4.20</a:t>
            </a:r>
            <a:r>
              <a:rPr lang="zh-CN" altLang="en-US" sz="2800"/>
              <a:t>文法</a:t>
            </a:r>
          </a:p>
          <a:p>
            <a:pPr lvl="1" eaLnBrk="1" hangingPunct="1"/>
            <a:r>
              <a:rPr lang="en-US" altLang="zh-CN" sz="2400"/>
              <a:t>E</a:t>
            </a:r>
            <a:r>
              <a:rPr lang="zh-CN" altLang="en-US" sz="2400">
                <a:sym typeface="Wingdings" panose="05000000000000000000" pitchFamily="2" charset="2"/>
              </a:rPr>
              <a:t>表示表达式</a:t>
            </a:r>
          </a:p>
          <a:p>
            <a:pPr lvl="2" eaLnBrk="1" hangingPunct="1"/>
            <a:r>
              <a:rPr lang="en-US" altLang="zh-CN" sz="2000"/>
              <a:t>E</a:t>
            </a:r>
            <a:r>
              <a:rPr lang="zh-CN" altLang="en-US" sz="2000"/>
              <a:t>在栈顶，输入符号为</a:t>
            </a:r>
            <a:r>
              <a:rPr lang="en-US" altLang="zh-CN" sz="2000"/>
              <a:t>+</a:t>
            </a:r>
            <a:r>
              <a:rPr lang="zh-CN" altLang="en-US" sz="2000"/>
              <a:t>：“错误位置</a:t>
            </a:r>
            <a:r>
              <a:rPr lang="en-US" altLang="zh-CN" sz="2000"/>
              <a:t>i</a:t>
            </a:r>
            <a:r>
              <a:rPr lang="zh-CN" altLang="en-US" sz="2000"/>
              <a:t>，表达式不能以</a:t>
            </a:r>
            <a:r>
              <a:rPr lang="en-US" altLang="zh-CN" sz="2000"/>
              <a:t>+</a:t>
            </a:r>
            <a:r>
              <a:rPr lang="zh-CN" altLang="en-US" sz="2000"/>
              <a:t>开始”或“错误位置</a:t>
            </a:r>
            <a:r>
              <a:rPr lang="en-US" altLang="zh-CN" sz="2000"/>
              <a:t>i</a:t>
            </a:r>
            <a:r>
              <a:rPr lang="zh-CN" altLang="en-US" sz="2000"/>
              <a:t>，非法表达式”</a:t>
            </a:r>
          </a:p>
          <a:p>
            <a:pPr lvl="2" eaLnBrk="1" hangingPunct="1"/>
            <a:r>
              <a:rPr lang="en-US" altLang="zh-CN" sz="2000"/>
              <a:t>E</a:t>
            </a:r>
            <a:r>
              <a:rPr lang="zh-CN" altLang="en-US" sz="2000"/>
              <a:t>，*的情况类似</a:t>
            </a:r>
          </a:p>
          <a:p>
            <a:pPr lvl="1" eaLnBrk="1" hangingPunct="1"/>
            <a:r>
              <a:rPr lang="en-US" altLang="zh-CN" sz="2400"/>
              <a:t>E’</a:t>
            </a:r>
            <a:r>
              <a:rPr lang="zh-CN" altLang="en-US" sz="2400"/>
              <a:t>表示表达式的结束</a:t>
            </a:r>
          </a:p>
          <a:p>
            <a:pPr lvl="2" eaLnBrk="1" hangingPunct="1"/>
            <a:r>
              <a:rPr lang="en-US" altLang="zh-CN" sz="2000"/>
              <a:t>E’</a:t>
            </a:r>
            <a:r>
              <a:rPr lang="zh-CN" altLang="en-US" sz="2000"/>
              <a:t>，*</a:t>
            </a:r>
            <a:r>
              <a:rPr lang="en-US" altLang="zh-CN" sz="2000"/>
              <a:t>/</a:t>
            </a:r>
            <a:r>
              <a:rPr lang="en-US" altLang="zh-CN" sz="2000" b="1"/>
              <a:t>id</a:t>
            </a:r>
            <a:r>
              <a:rPr lang="zh-CN" altLang="en-US" sz="2000"/>
              <a:t>： “错误：位置</a:t>
            </a:r>
            <a:r>
              <a:rPr lang="en-US" altLang="zh-CN" sz="2000"/>
              <a:t>j</a:t>
            </a:r>
            <a:r>
              <a:rPr lang="zh-CN" altLang="en-US" sz="2000"/>
              <a:t>开始的表达式在位置</a:t>
            </a:r>
            <a:r>
              <a:rPr lang="en-US" altLang="zh-CN" sz="2000"/>
              <a:t>i</a:t>
            </a:r>
            <a:r>
              <a:rPr lang="zh-CN" altLang="en-US" sz="2000"/>
              <a:t>处结构错误”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451933E3-D21A-44F1-88A7-BB557E42B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产生错误信息（续）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DA82BA51-6F48-48B1-ACA3-C8B4AF64B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lvl="1" eaLnBrk="1" hangingPunct="1"/>
            <a:r>
              <a:rPr lang="en-US" altLang="zh-CN" sz="2400"/>
              <a:t>T</a:t>
            </a:r>
            <a:r>
              <a:rPr lang="zh-CN" altLang="en-US" sz="2400">
                <a:sym typeface="Wingdings" panose="05000000000000000000" pitchFamily="2" charset="2"/>
              </a:rPr>
              <a:t>表示加法项</a:t>
            </a:r>
          </a:p>
          <a:p>
            <a:pPr lvl="2" eaLnBrk="1" hangingPunct="1"/>
            <a:r>
              <a:rPr lang="en-US" altLang="zh-CN" sz="2000"/>
              <a:t>T</a:t>
            </a:r>
            <a:r>
              <a:rPr lang="zh-CN" altLang="en-US" sz="2000"/>
              <a:t>，*：“错误位置</a:t>
            </a:r>
            <a:r>
              <a:rPr lang="en-US" altLang="zh-CN" sz="2000"/>
              <a:t>i</a:t>
            </a:r>
            <a:r>
              <a:rPr lang="zh-CN" altLang="en-US" sz="2000"/>
              <a:t>，非法项”</a:t>
            </a:r>
          </a:p>
          <a:p>
            <a:pPr lvl="1" eaLnBrk="1" hangingPunct="1"/>
            <a:r>
              <a:rPr lang="en-US" altLang="zh-CN" sz="2400"/>
              <a:t>T’</a:t>
            </a:r>
            <a:r>
              <a:rPr lang="zh-CN" altLang="en-US" sz="2400"/>
              <a:t>表示项的结束</a:t>
            </a:r>
          </a:p>
          <a:p>
            <a:pPr lvl="2" eaLnBrk="1" hangingPunct="1"/>
            <a:r>
              <a:rPr lang="en-US" altLang="zh-CN" sz="2000"/>
              <a:t>T’</a:t>
            </a:r>
            <a:r>
              <a:rPr lang="zh-CN" altLang="en-US" sz="2000"/>
              <a:t>，</a:t>
            </a:r>
            <a:r>
              <a:rPr lang="en-US" altLang="zh-CN" sz="2000"/>
              <a:t>(</a:t>
            </a:r>
            <a:r>
              <a:rPr lang="zh-CN" altLang="en-US" sz="2000"/>
              <a:t>： “位置</a:t>
            </a:r>
            <a:r>
              <a:rPr lang="en-US" altLang="zh-CN" sz="2000"/>
              <a:t>j</a:t>
            </a:r>
            <a:r>
              <a:rPr lang="zh-CN" altLang="en-US" sz="2000"/>
              <a:t>开始的项在位置</a:t>
            </a:r>
            <a:r>
              <a:rPr lang="en-US" altLang="zh-CN" sz="2000"/>
              <a:t>i</a:t>
            </a:r>
            <a:r>
              <a:rPr lang="zh-CN" altLang="en-US" sz="2000"/>
              <a:t>处结构错误”</a:t>
            </a:r>
          </a:p>
          <a:p>
            <a:pPr lvl="1" eaLnBrk="1" hangingPunct="1"/>
            <a:r>
              <a:rPr lang="en-US" altLang="zh-CN" sz="2400"/>
              <a:t>F</a:t>
            </a:r>
            <a:r>
              <a:rPr lang="zh-CN" altLang="en-US" sz="2400"/>
              <a:t>表示加法</a:t>
            </a:r>
            <a:r>
              <a:rPr lang="en-US" altLang="zh-CN" sz="2400"/>
              <a:t>/</a:t>
            </a:r>
            <a:r>
              <a:rPr lang="zh-CN" altLang="en-US" sz="2400"/>
              <a:t>乘法项</a:t>
            </a:r>
          </a:p>
          <a:p>
            <a:pPr eaLnBrk="1" hangingPunct="1"/>
            <a:r>
              <a:rPr lang="zh-CN" altLang="en-US" sz="2800"/>
              <a:t>同步错误</a:t>
            </a:r>
          </a:p>
          <a:p>
            <a:pPr lvl="1" eaLnBrk="1" hangingPunct="1"/>
            <a:r>
              <a:rPr lang="en-US" altLang="zh-CN" sz="2400"/>
              <a:t>F</a:t>
            </a:r>
            <a:r>
              <a:rPr lang="zh-CN" altLang="en-US" sz="2400"/>
              <a:t>，</a:t>
            </a:r>
            <a:r>
              <a:rPr lang="en-US" altLang="zh-CN" sz="2400"/>
              <a:t>+</a:t>
            </a:r>
            <a:r>
              <a:rPr lang="zh-CN" altLang="en-US" sz="2400"/>
              <a:t>：“位置</a:t>
            </a:r>
            <a:r>
              <a:rPr lang="en-US" altLang="zh-CN" sz="2400"/>
              <a:t>i</a:t>
            </a:r>
            <a:r>
              <a:rPr lang="zh-CN" altLang="en-US" sz="2400"/>
              <a:t>缺少加法</a:t>
            </a:r>
            <a:r>
              <a:rPr lang="en-US" altLang="zh-CN" sz="2400"/>
              <a:t>/</a:t>
            </a:r>
            <a:r>
              <a:rPr lang="zh-CN" altLang="en-US" sz="2400"/>
              <a:t>乘法项”</a:t>
            </a:r>
          </a:p>
          <a:p>
            <a:pPr lvl="1" eaLnBrk="1" hangingPunct="1"/>
            <a:r>
              <a:rPr lang="en-US" altLang="zh-CN" sz="2400"/>
              <a:t>E</a:t>
            </a:r>
            <a:r>
              <a:rPr lang="zh-CN" altLang="en-US" sz="2400"/>
              <a:t>，</a:t>
            </a:r>
            <a:r>
              <a:rPr lang="en-US" altLang="zh-CN" sz="2400"/>
              <a:t>)</a:t>
            </a:r>
            <a:r>
              <a:rPr lang="zh-CN" altLang="en-US" sz="2400"/>
              <a:t>：“位置</a:t>
            </a:r>
            <a:r>
              <a:rPr lang="en-US" altLang="zh-CN" sz="2400"/>
              <a:t>i</a:t>
            </a:r>
            <a:r>
              <a:rPr lang="zh-CN" altLang="en-US" sz="2400"/>
              <a:t>缺少表达式”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1000A500-3AD0-46E9-A625-52FA55576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产生错误信息（续）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8069E892-77FC-4EC1-B603-C04116D5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/>
              <a:t>栈顶终结符与输入符号不匹配</a:t>
            </a:r>
          </a:p>
          <a:p>
            <a:pPr lvl="1" eaLnBrk="1" hangingPunct="1"/>
            <a:r>
              <a:rPr lang="en-US" altLang="zh-CN" b="1" dirty="0"/>
              <a:t>id</a:t>
            </a:r>
            <a:r>
              <a:rPr lang="zh-CN" altLang="en-US" dirty="0"/>
              <a:t>，</a:t>
            </a:r>
            <a:r>
              <a:rPr lang="en-US" altLang="zh-CN" dirty="0"/>
              <a:t>+</a:t>
            </a:r>
            <a:r>
              <a:rPr lang="zh-CN" altLang="en-US" dirty="0"/>
              <a:t>：“位置</a:t>
            </a:r>
            <a:r>
              <a:rPr lang="en-US" altLang="zh-CN" dirty="0" err="1"/>
              <a:t>i</a:t>
            </a:r>
            <a:r>
              <a:rPr lang="zh-CN" altLang="en-US" dirty="0"/>
              <a:t>缺少标识符”</a:t>
            </a:r>
          </a:p>
          <a:p>
            <a:pPr lvl="1" eaLnBrk="1" hangingPunct="1"/>
            <a:r>
              <a:rPr lang="en-US" altLang="zh-CN" dirty="0"/>
              <a:t>)</a:t>
            </a:r>
            <a:r>
              <a:rPr lang="zh-CN" altLang="en-US" dirty="0"/>
              <a:t>，其他符号</a:t>
            </a:r>
          </a:p>
          <a:p>
            <a:pPr lvl="2" eaLnBrk="1" hangingPunct="1"/>
            <a:r>
              <a:rPr lang="zh-CN" altLang="en-US" dirty="0"/>
              <a:t>分析过程中遇到‘</a:t>
            </a:r>
            <a:r>
              <a:rPr lang="en-US" altLang="zh-CN" dirty="0"/>
              <a:t>(</a:t>
            </a:r>
            <a:r>
              <a:rPr lang="zh-CN" altLang="en-US" dirty="0"/>
              <a:t>’，都将位置保存在“左括号栈”中</a:t>
            </a:r>
            <a:r>
              <a:rPr lang="en-US" altLang="zh-CN" dirty="0"/>
              <a:t>——</a:t>
            </a:r>
            <a:r>
              <a:rPr lang="zh-CN" altLang="en-US" dirty="0"/>
              <a:t>实际可用符号栈实现</a:t>
            </a:r>
          </a:p>
          <a:p>
            <a:pPr lvl="2" eaLnBrk="1" hangingPunct="1"/>
            <a:r>
              <a:rPr lang="zh-CN" altLang="en-US" dirty="0"/>
              <a:t>当发现不匹配时，查找左括号栈，恢复括号位置</a:t>
            </a:r>
          </a:p>
          <a:p>
            <a:pPr lvl="2" eaLnBrk="1" hangingPunct="1"/>
            <a:r>
              <a:rPr lang="zh-CN" altLang="en-US" dirty="0"/>
              <a:t>“错误位置</a:t>
            </a:r>
            <a:r>
              <a:rPr lang="en-US" altLang="zh-CN" dirty="0" err="1"/>
              <a:t>i</a:t>
            </a:r>
            <a:r>
              <a:rPr lang="zh-CN" altLang="en-US" dirty="0"/>
              <a:t>：位置</a:t>
            </a:r>
            <a:r>
              <a:rPr lang="en-US" altLang="zh-CN" dirty="0"/>
              <a:t>m</a:t>
            </a:r>
            <a:r>
              <a:rPr lang="zh-CN" altLang="en-US" dirty="0"/>
              <a:t>处左括号无对应右括号”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——</a:t>
            </a:r>
            <a:r>
              <a:rPr lang="zh-CN" altLang="en-US" dirty="0"/>
              <a:t>如 </a:t>
            </a:r>
            <a:r>
              <a:rPr lang="en-US" altLang="zh-CN" dirty="0"/>
              <a:t>(</a:t>
            </a:r>
            <a:r>
              <a:rPr lang="en-US" altLang="zh-CN" b="1" dirty="0"/>
              <a:t>id</a:t>
            </a:r>
            <a:r>
              <a:rPr lang="en-US" altLang="zh-CN" dirty="0"/>
              <a:t> * + (</a:t>
            </a:r>
            <a:r>
              <a:rPr lang="en-US" altLang="zh-CN" b="1" dirty="0"/>
              <a:t>id id</a:t>
            </a:r>
            <a:r>
              <a:rPr lang="en-US" altLang="zh-CN" dirty="0"/>
              <a:t>)$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64FA314-6D51-4D1C-9B2C-C13079BA4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短语级错误恢复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605D1D0F-5589-49C1-95A2-D1DEC4A21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预测分析表空位填入错误处理函数</a:t>
            </a:r>
          </a:p>
          <a:p>
            <a:pPr lvl="1" eaLnBrk="1" hangingPunct="1"/>
            <a:r>
              <a:rPr lang="zh-CN" altLang="en-US"/>
              <a:t>修改栈和（或）输入流，插入、删除、替换</a:t>
            </a:r>
          </a:p>
          <a:p>
            <a:pPr lvl="1" eaLnBrk="1" hangingPunct="1"/>
            <a:r>
              <a:rPr lang="zh-CN" altLang="en-US"/>
              <a:t>输出错误信息</a:t>
            </a:r>
          </a:p>
          <a:p>
            <a:pPr eaLnBrk="1" hangingPunct="1"/>
            <a:r>
              <a:rPr lang="zh-CN" altLang="en-US"/>
              <a:t>问题</a:t>
            </a:r>
          </a:p>
          <a:p>
            <a:pPr lvl="1" eaLnBrk="1" hangingPunct="1"/>
            <a:r>
              <a:rPr lang="zh-CN" altLang="en-US"/>
              <a:t>插入、替换栈符号应小心，避免错误推导</a:t>
            </a:r>
          </a:p>
          <a:p>
            <a:pPr lvl="1" eaLnBrk="1" hangingPunct="1"/>
            <a:r>
              <a:rPr lang="zh-CN" altLang="en-US"/>
              <a:t>避免无限循环</a:t>
            </a:r>
          </a:p>
          <a:p>
            <a:pPr eaLnBrk="1" hangingPunct="1"/>
            <a:r>
              <a:rPr lang="zh-CN" altLang="en-US"/>
              <a:t>与</a:t>
            </a:r>
            <a:r>
              <a:rPr lang="en-US" altLang="zh-CN"/>
              <a:t>Panic</a:t>
            </a:r>
            <a:r>
              <a:rPr lang="zh-CN" altLang="en-US"/>
              <a:t>模式结合使用，更完整的方式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50D5C1A4-B591-4A58-AF75-FA638AEF3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预测分析器的实现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8C52B39B-CC92-46BD-B19B-EED67B436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栈</a:t>
            </a:r>
            <a:r>
              <a:rPr lang="en-US" altLang="zh-CN" sz="2400"/>
              <a:t>——</a:t>
            </a:r>
            <a:r>
              <a:rPr lang="zh-CN" altLang="en-US" sz="2400"/>
              <a:t>容易实现，抽象数据类型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输入流</a:t>
            </a:r>
            <a:r>
              <a:rPr lang="en-US" altLang="zh-CN" sz="2400"/>
              <a:t>——</a:t>
            </a:r>
            <a:r>
              <a:rPr lang="zh-CN" altLang="en-US" sz="2400"/>
              <a:t>词法分析器实现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关键</a:t>
            </a:r>
            <a:r>
              <a:rPr lang="en-US" altLang="zh-CN" sz="2400"/>
              <a:t>——</a:t>
            </a:r>
            <a:r>
              <a:rPr lang="zh-CN" altLang="en-US" sz="2400"/>
              <a:t>如何实现预测分析表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>
                <a:solidFill>
                  <a:srgbClr val="3333CC"/>
                </a:solidFill>
              </a:rPr>
              <a:t>一种方法：指定唯一</a:t>
            </a:r>
            <a:r>
              <a:rPr lang="en-US" altLang="zh-CN" sz="2400">
                <a:solidFill>
                  <a:srgbClr val="3333CC"/>
                </a:solidFill>
              </a:rPr>
              <a:t>ID</a:t>
            </a:r>
            <a:r>
              <a:rPr lang="zh-CN" altLang="en-US" sz="2400">
                <a:solidFill>
                  <a:srgbClr val="3333CC"/>
                </a:solidFill>
              </a:rPr>
              <a:t>表示不同表项内容</a:t>
            </a:r>
          </a:p>
        </p:txBody>
      </p:sp>
      <p:grpSp>
        <p:nvGrpSpPr>
          <p:cNvPr id="133124" name="Group 4">
            <a:extLst>
              <a:ext uri="{FF2B5EF4-FFF2-40B4-BE49-F238E27FC236}">
                <a16:creationId xmlns:a16="http://schemas.microsoft.com/office/drawing/2014/main" id="{258C17BC-F5FD-45CA-ABFB-549FEDAB45B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021013"/>
            <a:ext cx="8077200" cy="2667000"/>
            <a:chOff x="672" y="2112"/>
            <a:chExt cx="5088" cy="1680"/>
          </a:xfrm>
        </p:grpSpPr>
        <p:grpSp>
          <p:nvGrpSpPr>
            <p:cNvPr id="133135" name="Group 5">
              <a:extLst>
                <a:ext uri="{FF2B5EF4-FFF2-40B4-BE49-F238E27FC236}">
                  <a16:creationId xmlns:a16="http://schemas.microsoft.com/office/drawing/2014/main" id="{FB2D3C15-1BBD-43F8-8421-4479FA2BC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112"/>
              <a:ext cx="4944" cy="1680"/>
              <a:chOff x="720" y="2400"/>
              <a:chExt cx="4944" cy="1680"/>
            </a:xfrm>
          </p:grpSpPr>
          <p:sp>
            <p:nvSpPr>
              <p:cNvPr id="133177" name="Line 6">
                <a:extLst>
                  <a:ext uri="{FF2B5EF4-FFF2-40B4-BE49-F238E27FC236}">
                    <a16:creationId xmlns:a16="http://schemas.microsoft.com/office/drawing/2014/main" id="{53A376C7-6CB1-4D5E-B704-151AA32A0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78" name="Line 7">
                <a:extLst>
                  <a:ext uri="{FF2B5EF4-FFF2-40B4-BE49-F238E27FC236}">
                    <a16:creationId xmlns:a16="http://schemas.microsoft.com/office/drawing/2014/main" id="{D7A2F016-136B-48DC-831D-5180DCE20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48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79" name="Line 8">
                <a:extLst>
                  <a:ext uri="{FF2B5EF4-FFF2-40B4-BE49-F238E27FC236}">
                    <a16:creationId xmlns:a16="http://schemas.microsoft.com/office/drawing/2014/main" id="{8E5C8219-9D9A-4736-B5AE-818E47003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688"/>
                <a:ext cx="42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0" name="Line 9">
                <a:extLst>
                  <a:ext uri="{FF2B5EF4-FFF2-40B4-BE49-F238E27FC236}">
                    <a16:creationId xmlns:a16="http://schemas.microsoft.com/office/drawing/2014/main" id="{2375856A-CBD3-4458-A456-50C9754F1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8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1" name="Line 10">
                <a:extLst>
                  <a:ext uri="{FF2B5EF4-FFF2-40B4-BE49-F238E27FC236}">
                    <a16:creationId xmlns:a16="http://schemas.microsoft.com/office/drawing/2014/main" id="{0BD89F3E-BD72-474E-9F29-F775134CC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408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2" name="Line 11">
                <a:extLst>
                  <a:ext uri="{FF2B5EF4-FFF2-40B4-BE49-F238E27FC236}">
                    <a16:creationId xmlns:a16="http://schemas.microsoft.com/office/drawing/2014/main" id="{899CAB06-31F3-47CC-A2D2-46C88CC53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64" y="2400"/>
                <a:ext cx="0" cy="16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3" name="Line 12">
                <a:extLst>
                  <a:ext uri="{FF2B5EF4-FFF2-40B4-BE49-F238E27FC236}">
                    <a16:creationId xmlns:a16="http://schemas.microsoft.com/office/drawing/2014/main" id="{372BA3F3-AD3D-4B29-A2C5-4D829D410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448"/>
                <a:ext cx="0" cy="16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4" name="Line 13">
                <a:extLst>
                  <a:ext uri="{FF2B5EF4-FFF2-40B4-BE49-F238E27FC236}">
                    <a16:creationId xmlns:a16="http://schemas.microsoft.com/office/drawing/2014/main" id="{6B4FDAE0-34BB-4CC4-921B-9626258FB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5" name="Line 14">
                <a:extLst>
                  <a:ext uri="{FF2B5EF4-FFF2-40B4-BE49-F238E27FC236}">
                    <a16:creationId xmlns:a16="http://schemas.microsoft.com/office/drawing/2014/main" id="{C6D4A630-2BDD-4A6E-A932-0978DE70B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6" name="Line 15">
                <a:extLst>
                  <a:ext uri="{FF2B5EF4-FFF2-40B4-BE49-F238E27FC236}">
                    <a16:creationId xmlns:a16="http://schemas.microsoft.com/office/drawing/2014/main" id="{7B22413E-560B-4C4C-9B9F-C156301DF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7" name="Line 16">
                <a:extLst>
                  <a:ext uri="{FF2B5EF4-FFF2-40B4-BE49-F238E27FC236}">
                    <a16:creationId xmlns:a16="http://schemas.microsoft.com/office/drawing/2014/main" id="{284F2A68-3134-4817-BE0D-89A06B585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8" name="Line 17">
                <a:extLst>
                  <a:ext uri="{FF2B5EF4-FFF2-40B4-BE49-F238E27FC236}">
                    <a16:creationId xmlns:a16="http://schemas.microsoft.com/office/drawing/2014/main" id="{8B68420D-F3D7-4FB8-B982-4CB1708B0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0" cy="1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89" name="Line 18">
                <a:extLst>
                  <a:ext uri="{FF2B5EF4-FFF2-40B4-BE49-F238E27FC236}">
                    <a16:creationId xmlns:a16="http://schemas.microsoft.com/office/drawing/2014/main" id="{2E7C89FB-03EC-4A66-9FA1-72C35F287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90" name="Line 19">
                <a:extLst>
                  <a:ext uri="{FF2B5EF4-FFF2-40B4-BE49-F238E27FC236}">
                    <a16:creationId xmlns:a16="http://schemas.microsoft.com/office/drawing/2014/main" id="{01C81FBA-9EB5-40B9-A915-EAB3509E6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36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91" name="Line 20">
                <a:extLst>
                  <a:ext uri="{FF2B5EF4-FFF2-40B4-BE49-F238E27FC236}">
                    <a16:creationId xmlns:a16="http://schemas.microsoft.com/office/drawing/2014/main" id="{A8AF091A-3551-47D1-BF2A-C043F6BC1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60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192" name="Line 21">
                <a:extLst>
                  <a:ext uri="{FF2B5EF4-FFF2-40B4-BE49-F238E27FC236}">
                    <a16:creationId xmlns:a16="http://schemas.microsoft.com/office/drawing/2014/main" id="{0D360B90-A1D7-4BFD-AB86-D8CB43876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3840"/>
                <a:ext cx="4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136" name="Text Box 22">
              <a:extLst>
                <a:ext uri="{FF2B5EF4-FFF2-40B4-BE49-F238E27FC236}">
                  <a16:creationId xmlns:a16="http://schemas.microsoft.com/office/drawing/2014/main" id="{E2EE2A11-8DCD-4D3F-9CAF-DF0E519FE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56"/>
              <a:ext cx="67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Non-terminal</a:t>
              </a:r>
            </a:p>
          </p:txBody>
        </p:sp>
        <p:sp>
          <p:nvSpPr>
            <p:cNvPr id="133137" name="Text Box 23">
              <a:extLst>
                <a:ext uri="{FF2B5EF4-FFF2-40B4-BE49-F238E27FC236}">
                  <a16:creationId xmlns:a16="http://schemas.microsoft.com/office/drawing/2014/main" id="{85E5ABE1-66B1-426A-B3D0-06A278321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160"/>
              <a:ext cx="21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 SYMBOL</a:t>
              </a:r>
            </a:p>
          </p:txBody>
        </p:sp>
        <p:sp>
          <p:nvSpPr>
            <p:cNvPr id="133138" name="Text Box 24">
              <a:extLst>
                <a:ext uri="{FF2B5EF4-FFF2-40B4-BE49-F238E27FC236}">
                  <a16:creationId xmlns:a16="http://schemas.microsoft.com/office/drawing/2014/main" id="{8F4B0688-D112-452C-B446-E176979B3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id</a:t>
              </a:r>
            </a:p>
          </p:txBody>
        </p:sp>
        <p:sp>
          <p:nvSpPr>
            <p:cNvPr id="133139" name="Text Box 25">
              <a:extLst>
                <a:ext uri="{FF2B5EF4-FFF2-40B4-BE49-F238E27FC236}">
                  <a16:creationId xmlns:a16="http://schemas.microsoft.com/office/drawing/2014/main" id="{1017CED2-649F-45A5-9167-06DBD95D8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+</a:t>
              </a:r>
            </a:p>
          </p:txBody>
        </p:sp>
        <p:sp>
          <p:nvSpPr>
            <p:cNvPr id="133140" name="Text Box 26">
              <a:extLst>
                <a:ext uri="{FF2B5EF4-FFF2-40B4-BE49-F238E27FC236}">
                  <a16:creationId xmlns:a16="http://schemas.microsoft.com/office/drawing/2014/main" id="{066A4984-3B7A-4234-91AF-5FDBCCCF5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*</a:t>
              </a:r>
            </a:p>
          </p:txBody>
        </p:sp>
        <p:sp>
          <p:nvSpPr>
            <p:cNvPr id="133141" name="Text Box 27">
              <a:extLst>
                <a:ext uri="{FF2B5EF4-FFF2-40B4-BE49-F238E27FC236}">
                  <a16:creationId xmlns:a16="http://schemas.microsoft.com/office/drawing/2014/main" id="{B47AA206-BF09-468A-87A3-2AA47A2DF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(</a:t>
              </a:r>
            </a:p>
          </p:txBody>
        </p:sp>
        <p:sp>
          <p:nvSpPr>
            <p:cNvPr id="133142" name="Text Box 28">
              <a:extLst>
                <a:ext uri="{FF2B5EF4-FFF2-40B4-BE49-F238E27FC236}">
                  <a16:creationId xmlns:a16="http://schemas.microsoft.com/office/drawing/2014/main" id="{D4CEADA1-ED27-48C0-B77B-E64C78ACB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)</a:t>
              </a:r>
            </a:p>
          </p:txBody>
        </p:sp>
        <p:sp>
          <p:nvSpPr>
            <p:cNvPr id="133143" name="Text Box 29">
              <a:extLst>
                <a:ext uri="{FF2B5EF4-FFF2-40B4-BE49-F238E27FC236}">
                  <a16:creationId xmlns:a16="http://schemas.microsoft.com/office/drawing/2014/main" id="{0546B8F8-7EC9-435E-9678-3E29EA66B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400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>
                  <a:solidFill>
                    <a:schemeClr val="accent2"/>
                  </a:solidFill>
                </a:rPr>
                <a:t>$</a:t>
              </a:r>
            </a:p>
          </p:txBody>
        </p:sp>
        <p:sp>
          <p:nvSpPr>
            <p:cNvPr id="133144" name="Text Box 30">
              <a:extLst>
                <a:ext uri="{FF2B5EF4-FFF2-40B4-BE49-F238E27FC236}">
                  <a16:creationId xmlns:a16="http://schemas.microsoft.com/office/drawing/2014/main" id="{6714B470-00E2-4F42-A151-122A7AA64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59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</a:p>
          </p:txBody>
        </p:sp>
        <p:sp>
          <p:nvSpPr>
            <p:cNvPr id="133145" name="Text Box 31">
              <a:extLst>
                <a:ext uri="{FF2B5EF4-FFF2-40B4-BE49-F238E27FC236}">
                  <a16:creationId xmlns:a16="http://schemas.microsoft.com/office/drawing/2014/main" id="{E85B4B2A-F1C1-446C-B33E-CFA7D7E1A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83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</a:p>
          </p:txBody>
        </p:sp>
        <p:sp>
          <p:nvSpPr>
            <p:cNvPr id="133146" name="Text Box 32">
              <a:extLst>
                <a:ext uri="{FF2B5EF4-FFF2-40B4-BE49-F238E27FC236}">
                  <a16:creationId xmlns:a16="http://schemas.microsoft.com/office/drawing/2014/main" id="{4496A05F-AB3A-4E6D-9ED6-6B001BAB9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07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</a:p>
          </p:txBody>
        </p:sp>
        <p:sp>
          <p:nvSpPr>
            <p:cNvPr id="133147" name="Text Box 33">
              <a:extLst>
                <a:ext uri="{FF2B5EF4-FFF2-40B4-BE49-F238E27FC236}">
                  <a16:creationId xmlns:a16="http://schemas.microsoft.com/office/drawing/2014/main" id="{C8E60404-209C-44C1-9D04-BE4ECB304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31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</a:p>
          </p:txBody>
        </p:sp>
        <p:sp>
          <p:nvSpPr>
            <p:cNvPr id="133148" name="Text Box 34">
              <a:extLst>
                <a:ext uri="{FF2B5EF4-FFF2-40B4-BE49-F238E27FC236}">
                  <a16:creationId xmlns:a16="http://schemas.microsoft.com/office/drawing/2014/main" id="{51889156-5F63-41EF-8BFA-A2B4A692C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552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</a:p>
          </p:txBody>
        </p:sp>
        <p:sp>
          <p:nvSpPr>
            <p:cNvPr id="133149" name="Text Box 35">
              <a:extLst>
                <a:ext uri="{FF2B5EF4-FFF2-40B4-BE49-F238E27FC236}">
                  <a16:creationId xmlns:a16="http://schemas.microsoft.com/office/drawing/2014/main" id="{7595B888-84C7-4978-A70E-B9E9D4EF4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5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33150" name="Text Box 36">
              <a:extLst>
                <a:ext uri="{FF2B5EF4-FFF2-40B4-BE49-F238E27FC236}">
                  <a16:creationId xmlns:a16="http://schemas.microsoft.com/office/drawing/2014/main" id="{B21214EE-AB3F-4994-9949-52746A78A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33151" name="Text Box 37">
              <a:extLst>
                <a:ext uri="{FF2B5EF4-FFF2-40B4-BE49-F238E27FC236}">
                  <a16:creationId xmlns:a16="http://schemas.microsoft.com/office/drawing/2014/main" id="{D5726813-C8D0-4E8A-9E59-C5F20A3F2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55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id</a:t>
              </a:r>
              <a:endParaRPr kumimoji="0" lang="en-US" altLang="zh-CN" sz="1800" b="1"/>
            </a:p>
          </p:txBody>
        </p:sp>
        <p:sp>
          <p:nvSpPr>
            <p:cNvPr id="133152" name="Text Box 38">
              <a:extLst>
                <a:ext uri="{FF2B5EF4-FFF2-40B4-BE49-F238E27FC236}">
                  <a16:creationId xmlns:a16="http://schemas.microsoft.com/office/drawing/2014/main" id="{932C0026-A5B7-4800-A880-DECC12722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83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TE’</a:t>
              </a:r>
              <a:endParaRPr kumimoji="0" lang="en-US" altLang="zh-CN" sz="1800" b="1"/>
            </a:p>
          </p:txBody>
        </p:sp>
        <p:sp>
          <p:nvSpPr>
            <p:cNvPr id="133153" name="Text Box 39">
              <a:extLst>
                <a:ext uri="{FF2B5EF4-FFF2-40B4-BE49-F238E27FC236}">
                  <a16:creationId xmlns:a16="http://schemas.microsoft.com/office/drawing/2014/main" id="{B8140E30-C4CE-4A4D-ACD1-55A197541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  <a:endParaRPr kumimoji="0" lang="en-US" altLang="zh-CN" sz="1800" b="1"/>
            </a:p>
          </p:txBody>
        </p:sp>
        <p:sp>
          <p:nvSpPr>
            <p:cNvPr id="133154" name="Text Box 40">
              <a:extLst>
                <a:ext uri="{FF2B5EF4-FFF2-40B4-BE49-F238E27FC236}">
                  <a16:creationId xmlns:a16="http://schemas.microsoft.com/office/drawing/2014/main" id="{2A36E904-C4C9-4DF7-8BA2-1D071C916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*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FT’</a:t>
              </a:r>
              <a:endParaRPr kumimoji="0" lang="en-US" altLang="zh-CN" sz="1800" b="1"/>
            </a:p>
          </p:txBody>
        </p:sp>
        <p:sp>
          <p:nvSpPr>
            <p:cNvPr id="133155" name="Text Box 41">
              <a:extLst>
                <a:ext uri="{FF2B5EF4-FFF2-40B4-BE49-F238E27FC236}">
                  <a16:creationId xmlns:a16="http://schemas.microsoft.com/office/drawing/2014/main" id="{BB94F335-E9D5-4D55-8EB6-C470986ED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55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F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(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)</a:t>
              </a:r>
              <a:endParaRPr kumimoji="0" lang="en-US" altLang="zh-CN" sz="1800" b="1"/>
            </a:p>
          </p:txBody>
        </p:sp>
        <p:sp>
          <p:nvSpPr>
            <p:cNvPr id="133156" name="Text Box 42">
              <a:extLst>
                <a:ext uri="{FF2B5EF4-FFF2-40B4-BE49-F238E27FC236}">
                  <a16:creationId xmlns:a16="http://schemas.microsoft.com/office/drawing/2014/main" id="{9133CCD9-79E3-4CDB-B216-4100DE3CA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FT’</a:t>
              </a:r>
              <a:endParaRPr kumimoji="0" lang="en-US" altLang="zh-CN" sz="1800" b="1"/>
            </a:p>
          </p:txBody>
        </p:sp>
        <p:sp>
          <p:nvSpPr>
            <p:cNvPr id="133157" name="Text Box 43">
              <a:extLst>
                <a:ext uri="{FF2B5EF4-FFF2-40B4-BE49-F238E27FC236}">
                  <a16:creationId xmlns:a16="http://schemas.microsoft.com/office/drawing/2014/main" id="{AC1A3751-FF2C-4459-BBA7-B2BB5977E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5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TE’</a:t>
              </a:r>
              <a:endParaRPr kumimoji="0" lang="en-US" altLang="zh-CN" sz="1800" b="1"/>
            </a:p>
          </p:txBody>
        </p:sp>
        <p:sp>
          <p:nvSpPr>
            <p:cNvPr id="133158" name="Text Box 44">
              <a:extLst>
                <a:ext uri="{FF2B5EF4-FFF2-40B4-BE49-F238E27FC236}">
                  <a16:creationId xmlns:a16="http://schemas.microsoft.com/office/drawing/2014/main" id="{EEE01E51-122F-43A5-89E7-86AE4ABC2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133159" name="Text Box 45">
              <a:extLst>
                <a:ext uri="{FF2B5EF4-FFF2-40B4-BE49-F238E27FC236}">
                  <a16:creationId xmlns:a16="http://schemas.microsoft.com/office/drawing/2014/main" id="{8DD24B3B-566F-4F06-A674-ED9BD16B9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83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133160" name="Text Box 46">
              <a:extLst>
                <a:ext uri="{FF2B5EF4-FFF2-40B4-BE49-F238E27FC236}">
                  <a16:creationId xmlns:a16="http://schemas.microsoft.com/office/drawing/2014/main" id="{1A73AC96-728D-4EC8-9491-1DB832759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83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E’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133161" name="Text Box 47">
              <a:extLst>
                <a:ext uri="{FF2B5EF4-FFF2-40B4-BE49-F238E27FC236}">
                  <a16:creationId xmlns:a16="http://schemas.microsoft.com/office/drawing/2014/main" id="{7DDB4ECB-22B8-434D-B006-B9E265FCA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T’</a:t>
              </a:r>
              <a:r>
                <a:rPr kumimoji="0" lang="en-US" altLang="zh-CN" sz="1800" b="1">
                  <a:sym typeface="Symbol" panose="05050102010706020507" pitchFamily="18" charset="2"/>
                </a:rPr>
                <a:t></a:t>
              </a:r>
              <a:r>
                <a:rPr kumimoji="0" lang="en-US" altLang="zh-CN" sz="1800" b="1">
                  <a:solidFill>
                    <a:schemeClr val="accent2"/>
                  </a:solidFill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133162" name="Line 48">
              <a:extLst>
                <a:ext uri="{FF2B5EF4-FFF2-40B4-BE49-F238E27FC236}">
                  <a16:creationId xmlns:a16="http://schemas.microsoft.com/office/drawing/2014/main" id="{5B10036F-CF2E-4142-9BCB-AC1F0A2ED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112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163" name="Text Box 49">
              <a:extLst>
                <a:ext uri="{FF2B5EF4-FFF2-40B4-BE49-F238E27FC236}">
                  <a16:creationId xmlns:a16="http://schemas.microsoft.com/office/drawing/2014/main" id="{725E1EBE-1D46-4530-8683-A9671798E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64" name="Line 50">
              <a:extLst>
                <a:ext uri="{FF2B5EF4-FFF2-40B4-BE49-F238E27FC236}">
                  <a16:creationId xmlns:a16="http://schemas.microsoft.com/office/drawing/2014/main" id="{12D2B4B7-D805-40CB-94EC-2620916E0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26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5" name="Text Box 51">
              <a:extLst>
                <a:ext uri="{FF2B5EF4-FFF2-40B4-BE49-F238E27FC236}">
                  <a16:creationId xmlns:a16="http://schemas.microsoft.com/office/drawing/2014/main" id="{00ECE847-8ED6-4C16-AB32-12B892C6E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66" name="Line 52">
              <a:extLst>
                <a:ext uri="{FF2B5EF4-FFF2-40B4-BE49-F238E27FC236}">
                  <a16:creationId xmlns:a16="http://schemas.microsoft.com/office/drawing/2014/main" id="{E8D51FDD-3C04-460F-A50C-A5D0336B6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4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7" name="Text Box 53">
              <a:extLst>
                <a:ext uri="{FF2B5EF4-FFF2-40B4-BE49-F238E27FC236}">
                  <a16:creationId xmlns:a16="http://schemas.microsoft.com/office/drawing/2014/main" id="{8F6717B9-030B-4EC4-AAB2-FA4D909D0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68" name="Line 54">
              <a:extLst>
                <a:ext uri="{FF2B5EF4-FFF2-40B4-BE49-F238E27FC236}">
                  <a16:creationId xmlns:a16="http://schemas.microsoft.com/office/drawing/2014/main" id="{8557E47E-CD0E-4FA4-A2E3-A21DA2C42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74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9" name="Text Box 55">
              <a:extLst>
                <a:ext uri="{FF2B5EF4-FFF2-40B4-BE49-F238E27FC236}">
                  <a16:creationId xmlns:a16="http://schemas.microsoft.com/office/drawing/2014/main" id="{E1914C64-A2A8-4820-B0CB-3CE290439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70" name="Text Box 56">
              <a:extLst>
                <a:ext uri="{FF2B5EF4-FFF2-40B4-BE49-F238E27FC236}">
                  <a16:creationId xmlns:a16="http://schemas.microsoft.com/office/drawing/2014/main" id="{AEFD4907-C651-425E-AA1B-722C14FEB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59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71" name="Text Box 57">
              <a:extLst>
                <a:ext uri="{FF2B5EF4-FFF2-40B4-BE49-F238E27FC236}">
                  <a16:creationId xmlns:a16="http://schemas.microsoft.com/office/drawing/2014/main" id="{2455B80A-E50D-4BC3-A09D-7F768C877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72" name="Text Box 58">
              <a:extLst>
                <a:ext uri="{FF2B5EF4-FFF2-40B4-BE49-F238E27FC236}">
                  <a16:creationId xmlns:a16="http://schemas.microsoft.com/office/drawing/2014/main" id="{02071BC1-E5B0-41CD-B6EB-ABFD8C5B52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55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73" name="Text Box 59">
              <a:extLst>
                <a:ext uri="{FF2B5EF4-FFF2-40B4-BE49-F238E27FC236}">
                  <a16:creationId xmlns:a16="http://schemas.microsoft.com/office/drawing/2014/main" id="{562ADC3A-BE9D-44FC-9B14-57350CC2C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59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74" name="Text Box 60">
              <a:extLst>
                <a:ext uri="{FF2B5EF4-FFF2-40B4-BE49-F238E27FC236}">
                  <a16:creationId xmlns:a16="http://schemas.microsoft.com/office/drawing/2014/main" id="{D557ABE1-8730-4177-8054-DFDAE6D94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072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synch</a:t>
              </a:r>
            </a:p>
          </p:txBody>
        </p:sp>
        <p:sp>
          <p:nvSpPr>
            <p:cNvPr id="133175" name="Line 61">
              <a:extLst>
                <a:ext uri="{FF2B5EF4-FFF2-40B4-BE49-F238E27FC236}">
                  <a16:creationId xmlns:a16="http://schemas.microsoft.com/office/drawing/2014/main" id="{F0F3EA1C-141F-4CAA-B384-90DEB8FB9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6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6" name="Line 62">
              <a:extLst>
                <a:ext uri="{FF2B5EF4-FFF2-40B4-BE49-F238E27FC236}">
                  <a16:creationId xmlns:a16="http://schemas.microsoft.com/office/drawing/2014/main" id="{5A3BCA5F-7189-446B-BC29-FC69E638F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744"/>
              <a:ext cx="3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125" name="Text Box 63">
            <a:extLst>
              <a:ext uri="{FF2B5EF4-FFF2-40B4-BE49-F238E27FC236}">
                <a16:creationId xmlns:a16="http://schemas.microsoft.com/office/drawing/2014/main" id="{7B801D00-D599-48C8-A2EF-F8595C3BC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916613"/>
            <a:ext cx="2133600" cy="8477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</a:rPr>
              <a:t>每个产生式都有唯一的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</a:p>
        </p:txBody>
      </p:sp>
      <p:sp>
        <p:nvSpPr>
          <p:cNvPr id="133126" name="Text Box 64">
            <a:extLst>
              <a:ext uri="{FF2B5EF4-FFF2-40B4-BE49-F238E27FC236}">
                <a16:creationId xmlns:a16="http://schemas.microsoft.com/office/drawing/2014/main" id="{081D6D42-F737-4A46-BF70-9F5FCB691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069013"/>
            <a:ext cx="2057400" cy="482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</a:rPr>
              <a:t>同步动作类似</a:t>
            </a:r>
          </a:p>
        </p:txBody>
      </p:sp>
      <p:sp>
        <p:nvSpPr>
          <p:cNvPr id="133127" name="Text Box 65">
            <a:extLst>
              <a:ext uri="{FF2B5EF4-FFF2-40B4-BE49-F238E27FC236}">
                <a16:creationId xmlns:a16="http://schemas.microsoft.com/office/drawing/2014/main" id="{6B8F4B5E-F92F-4FA5-88C8-6FC68F82D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916613"/>
            <a:ext cx="1752600" cy="847725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FF3300"/>
                </a:solidFill>
              </a:rPr>
              <a:t>空白、错误处理</a:t>
            </a:r>
          </a:p>
        </p:txBody>
      </p:sp>
      <p:sp>
        <p:nvSpPr>
          <p:cNvPr id="133128" name="Line 66">
            <a:extLst>
              <a:ext uri="{FF2B5EF4-FFF2-40B4-BE49-F238E27FC236}">
                <a16:creationId xmlns:a16="http://schemas.microsoft.com/office/drawing/2014/main" id="{9234D76B-D2D7-4F31-80D1-99403D04E2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5611813"/>
            <a:ext cx="76200" cy="30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9" name="Line 67">
            <a:extLst>
              <a:ext uri="{FF2B5EF4-FFF2-40B4-BE49-F238E27FC236}">
                <a16:creationId xmlns:a16="http://schemas.microsoft.com/office/drawing/2014/main" id="{1E3F57EF-3A8D-4159-B8E6-38B47B5C90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849813"/>
            <a:ext cx="914400" cy="1066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0" name="Line 68">
            <a:extLst>
              <a:ext uri="{FF2B5EF4-FFF2-40B4-BE49-F238E27FC236}">
                <a16:creationId xmlns:a16="http://schemas.microsoft.com/office/drawing/2014/main" id="{BFD97070-61CE-4954-9A59-370683B57B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5611813"/>
            <a:ext cx="304800" cy="457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1" name="Line 69">
            <a:extLst>
              <a:ext uri="{FF2B5EF4-FFF2-40B4-BE49-F238E27FC236}">
                <a16:creationId xmlns:a16="http://schemas.microsoft.com/office/drawing/2014/main" id="{8531D824-BCEC-4F41-9478-F8EABE0700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8600" y="5611813"/>
            <a:ext cx="304800" cy="457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2" name="Line 70">
            <a:extLst>
              <a:ext uri="{FF2B5EF4-FFF2-40B4-BE49-F238E27FC236}">
                <a16:creationId xmlns:a16="http://schemas.microsoft.com/office/drawing/2014/main" id="{9C27EA60-7F0F-43C5-8E23-2462B515F4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14800" y="4849813"/>
            <a:ext cx="838200" cy="1219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3" name="Line 71">
            <a:extLst>
              <a:ext uri="{FF2B5EF4-FFF2-40B4-BE49-F238E27FC236}">
                <a16:creationId xmlns:a16="http://schemas.microsoft.com/office/drawing/2014/main" id="{FD089130-4BE2-4D99-B68F-21657A3185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5154613"/>
            <a:ext cx="53340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4" name="Line 72">
            <a:extLst>
              <a:ext uri="{FF2B5EF4-FFF2-40B4-BE49-F238E27FC236}">
                <a16:creationId xmlns:a16="http://schemas.microsoft.com/office/drawing/2014/main" id="{C18AE6A7-BB08-419C-8E16-A89E6CED9C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4392613"/>
            <a:ext cx="990600" cy="1524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494D0BD8-B2F2-41E1-9A69-AEA6A375D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修改后的预测分析表</a:t>
            </a:r>
          </a:p>
        </p:txBody>
      </p:sp>
      <p:grpSp>
        <p:nvGrpSpPr>
          <p:cNvPr id="134147" name="Group 4">
            <a:extLst>
              <a:ext uri="{FF2B5EF4-FFF2-40B4-BE49-F238E27FC236}">
                <a16:creationId xmlns:a16="http://schemas.microsoft.com/office/drawing/2014/main" id="{6DE7E639-F4BF-4667-B917-34AD51B763F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371600"/>
            <a:ext cx="7848600" cy="2667000"/>
            <a:chOff x="720" y="2400"/>
            <a:chExt cx="4944" cy="1680"/>
          </a:xfrm>
        </p:grpSpPr>
        <p:sp>
          <p:nvSpPr>
            <p:cNvPr id="134196" name="Line 5">
              <a:extLst>
                <a:ext uri="{FF2B5EF4-FFF2-40B4-BE49-F238E27FC236}">
                  <a16:creationId xmlns:a16="http://schemas.microsoft.com/office/drawing/2014/main" id="{4CF9765C-9A4B-457A-B467-CC3654137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7" name="Line 6">
              <a:extLst>
                <a:ext uri="{FF2B5EF4-FFF2-40B4-BE49-F238E27FC236}">
                  <a16:creationId xmlns:a16="http://schemas.microsoft.com/office/drawing/2014/main" id="{BAC8B3FC-2F4A-4ADC-ADE3-711C91138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48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8" name="Line 7">
              <a:extLst>
                <a:ext uri="{FF2B5EF4-FFF2-40B4-BE49-F238E27FC236}">
                  <a16:creationId xmlns:a16="http://schemas.microsoft.com/office/drawing/2014/main" id="{68A01C40-C57C-4FA6-AC30-32ADB2C4C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688"/>
              <a:ext cx="4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99" name="Line 8">
              <a:extLst>
                <a:ext uri="{FF2B5EF4-FFF2-40B4-BE49-F238E27FC236}">
                  <a16:creationId xmlns:a16="http://schemas.microsoft.com/office/drawing/2014/main" id="{E8E15143-FDC7-4BAB-81D7-AA5B4B4E5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8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0" name="Line 9">
              <a:extLst>
                <a:ext uri="{FF2B5EF4-FFF2-40B4-BE49-F238E27FC236}">
                  <a16:creationId xmlns:a16="http://schemas.microsoft.com/office/drawing/2014/main" id="{117A92E0-20A3-43A0-A707-F86342CF7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408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1" name="Line 10">
              <a:extLst>
                <a:ext uri="{FF2B5EF4-FFF2-40B4-BE49-F238E27FC236}">
                  <a16:creationId xmlns:a16="http://schemas.microsoft.com/office/drawing/2014/main" id="{DEF67E89-C478-4483-80CE-8F983C7CE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4" y="2400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2" name="Line 11">
              <a:extLst>
                <a:ext uri="{FF2B5EF4-FFF2-40B4-BE49-F238E27FC236}">
                  <a16:creationId xmlns:a16="http://schemas.microsoft.com/office/drawing/2014/main" id="{8902212D-5975-4F38-9365-D9807506B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48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3" name="Line 12">
              <a:extLst>
                <a:ext uri="{FF2B5EF4-FFF2-40B4-BE49-F238E27FC236}">
                  <a16:creationId xmlns:a16="http://schemas.microsoft.com/office/drawing/2014/main" id="{5BE1E5EA-A897-47F3-97B3-7A7820976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4" name="Line 13">
              <a:extLst>
                <a:ext uri="{FF2B5EF4-FFF2-40B4-BE49-F238E27FC236}">
                  <a16:creationId xmlns:a16="http://schemas.microsoft.com/office/drawing/2014/main" id="{3AE726CF-23BF-42B6-8B03-DA0CEDF5B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5" name="Line 14">
              <a:extLst>
                <a:ext uri="{FF2B5EF4-FFF2-40B4-BE49-F238E27FC236}">
                  <a16:creationId xmlns:a16="http://schemas.microsoft.com/office/drawing/2014/main" id="{778D4263-57A1-46EA-B79B-0F4CF98B6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6" name="Line 15">
              <a:extLst>
                <a:ext uri="{FF2B5EF4-FFF2-40B4-BE49-F238E27FC236}">
                  <a16:creationId xmlns:a16="http://schemas.microsoft.com/office/drawing/2014/main" id="{534858B8-865C-47E2-8A6F-60BDA1F63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7" name="Line 16">
              <a:extLst>
                <a:ext uri="{FF2B5EF4-FFF2-40B4-BE49-F238E27FC236}">
                  <a16:creationId xmlns:a16="http://schemas.microsoft.com/office/drawing/2014/main" id="{2F5D99B1-CED0-414A-83EE-DC101D00C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8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8" name="Line 17">
              <a:extLst>
                <a:ext uri="{FF2B5EF4-FFF2-40B4-BE49-F238E27FC236}">
                  <a16:creationId xmlns:a16="http://schemas.microsoft.com/office/drawing/2014/main" id="{88869303-5E1E-4ECB-80B4-3497A9F0D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2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9" name="Line 18">
              <a:extLst>
                <a:ext uri="{FF2B5EF4-FFF2-40B4-BE49-F238E27FC236}">
                  <a16:creationId xmlns:a16="http://schemas.microsoft.com/office/drawing/2014/main" id="{B25A38AB-38D9-40E3-80D6-297F0836E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36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0" name="Line 19">
              <a:extLst>
                <a:ext uri="{FF2B5EF4-FFF2-40B4-BE49-F238E27FC236}">
                  <a16:creationId xmlns:a16="http://schemas.microsoft.com/office/drawing/2014/main" id="{BE8C0C31-D567-46EB-8D8D-FFEB51FDD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60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11" name="Line 20">
              <a:extLst>
                <a:ext uri="{FF2B5EF4-FFF2-40B4-BE49-F238E27FC236}">
                  <a16:creationId xmlns:a16="http://schemas.microsoft.com/office/drawing/2014/main" id="{31D287B3-627E-42F0-9020-B85AF7704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840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148" name="Text Box 21">
            <a:extLst>
              <a:ext uri="{FF2B5EF4-FFF2-40B4-BE49-F238E27FC236}">
                <a16:creationId xmlns:a16="http://schemas.microsoft.com/office/drawing/2014/main" id="{19C192DB-F3CE-4662-A472-CEAF0FC9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002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Non-terminal</a:t>
            </a:r>
          </a:p>
        </p:txBody>
      </p:sp>
      <p:sp>
        <p:nvSpPr>
          <p:cNvPr id="134149" name="Text Box 22">
            <a:extLst>
              <a:ext uri="{FF2B5EF4-FFF2-40B4-BE49-F238E27FC236}">
                <a16:creationId xmlns:a16="http://schemas.microsoft.com/office/drawing/2014/main" id="{20843102-35E7-4FC4-8EB7-12B9A9EF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44780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INPUT SYMBOL</a:t>
            </a:r>
          </a:p>
        </p:txBody>
      </p:sp>
      <p:sp>
        <p:nvSpPr>
          <p:cNvPr id="134150" name="Text Box 23">
            <a:extLst>
              <a:ext uri="{FF2B5EF4-FFF2-40B4-BE49-F238E27FC236}">
                <a16:creationId xmlns:a16="http://schemas.microsoft.com/office/drawing/2014/main" id="{171049F1-70A7-4076-96E7-7418B2843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</a:t>
            </a:r>
          </a:p>
        </p:txBody>
      </p:sp>
      <p:sp>
        <p:nvSpPr>
          <p:cNvPr id="134151" name="Text Box 24">
            <a:extLst>
              <a:ext uri="{FF2B5EF4-FFF2-40B4-BE49-F238E27FC236}">
                <a16:creationId xmlns:a16="http://schemas.microsoft.com/office/drawing/2014/main" id="{9F8DED68-2649-4DF4-A5C8-6BFA6FCF6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34152" name="Text Box 25">
            <a:extLst>
              <a:ext uri="{FF2B5EF4-FFF2-40B4-BE49-F238E27FC236}">
                <a16:creationId xmlns:a16="http://schemas.microsoft.com/office/drawing/2014/main" id="{B2114B16-8F7F-4966-9971-62F9BA2CB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134153" name="Text Box 26">
            <a:extLst>
              <a:ext uri="{FF2B5EF4-FFF2-40B4-BE49-F238E27FC236}">
                <a16:creationId xmlns:a16="http://schemas.microsoft.com/office/drawing/2014/main" id="{9EA61B13-0187-4D59-B5FC-716F7AE5D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(</a:t>
            </a:r>
          </a:p>
        </p:txBody>
      </p:sp>
      <p:sp>
        <p:nvSpPr>
          <p:cNvPr id="134154" name="Text Box 27">
            <a:extLst>
              <a:ext uri="{FF2B5EF4-FFF2-40B4-BE49-F238E27FC236}">
                <a16:creationId xmlns:a16="http://schemas.microsoft.com/office/drawing/2014/main" id="{0CB82CAA-01BC-4870-9FA0-A915766E3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34155" name="Text Box 28">
            <a:extLst>
              <a:ext uri="{FF2B5EF4-FFF2-40B4-BE49-F238E27FC236}">
                <a16:creationId xmlns:a16="http://schemas.microsoft.com/office/drawing/2014/main" id="{0A365A7F-0415-403A-B2BA-88CADE00D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7430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</a:p>
        </p:txBody>
      </p:sp>
      <p:sp>
        <p:nvSpPr>
          <p:cNvPr id="134156" name="Text Box 29">
            <a:extLst>
              <a:ext uri="{FF2B5EF4-FFF2-40B4-BE49-F238E27FC236}">
                <a16:creationId xmlns:a16="http://schemas.microsoft.com/office/drawing/2014/main" id="{2FEC4DEC-81C4-4F13-BAD2-996FFBAEF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134157" name="Text Box 30">
            <a:extLst>
              <a:ext uri="{FF2B5EF4-FFF2-40B4-BE49-F238E27FC236}">
                <a16:creationId xmlns:a16="http://schemas.microsoft.com/office/drawing/2014/main" id="{78664C7A-B5D9-4D5A-B566-89766A373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14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E’</a:t>
            </a:r>
          </a:p>
        </p:txBody>
      </p:sp>
      <p:sp>
        <p:nvSpPr>
          <p:cNvPr id="134158" name="Text Box 31">
            <a:extLst>
              <a:ext uri="{FF2B5EF4-FFF2-40B4-BE49-F238E27FC236}">
                <a16:creationId xmlns:a16="http://schemas.microsoft.com/office/drawing/2014/main" id="{922CD2F2-0E0D-4D66-9847-D32F98635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895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</a:p>
        </p:txBody>
      </p:sp>
      <p:sp>
        <p:nvSpPr>
          <p:cNvPr id="134159" name="Text Box 32">
            <a:extLst>
              <a:ext uri="{FF2B5EF4-FFF2-40B4-BE49-F238E27FC236}">
                <a16:creationId xmlns:a16="http://schemas.microsoft.com/office/drawing/2014/main" id="{57001F43-609D-4F60-A605-3B0804B55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76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T’</a:t>
            </a:r>
          </a:p>
        </p:txBody>
      </p:sp>
      <p:sp>
        <p:nvSpPr>
          <p:cNvPr id="134160" name="Text Box 33">
            <a:extLst>
              <a:ext uri="{FF2B5EF4-FFF2-40B4-BE49-F238E27FC236}">
                <a16:creationId xmlns:a16="http://schemas.microsoft.com/office/drawing/2014/main" id="{78602A01-D272-4606-8533-B06F2A0AD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657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</a:p>
        </p:txBody>
      </p:sp>
      <p:sp>
        <p:nvSpPr>
          <p:cNvPr id="134161" name="Text Box 34">
            <a:extLst>
              <a:ext uri="{FF2B5EF4-FFF2-40B4-BE49-F238E27FC236}">
                <a16:creationId xmlns:a16="http://schemas.microsoft.com/office/drawing/2014/main" id="{6EA3A010-7997-4EA4-A7A3-BF71954F7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134162" name="Text Box 35">
            <a:extLst>
              <a:ext uri="{FF2B5EF4-FFF2-40B4-BE49-F238E27FC236}">
                <a16:creationId xmlns:a16="http://schemas.microsoft.com/office/drawing/2014/main" id="{8EB02E12-B9D8-41A8-8171-708C97FEC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6</a:t>
            </a:r>
            <a:endParaRPr kumimoji="0" lang="en-US" altLang="zh-CN" sz="2000" b="1"/>
          </a:p>
        </p:txBody>
      </p:sp>
      <p:sp>
        <p:nvSpPr>
          <p:cNvPr id="134163" name="Text Box 36">
            <a:extLst>
              <a:ext uri="{FF2B5EF4-FFF2-40B4-BE49-F238E27FC236}">
                <a16:creationId xmlns:a16="http://schemas.microsoft.com/office/drawing/2014/main" id="{BEF51CD4-CD66-4BB2-A642-6BFB67930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34164" name="Text Box 37">
            <a:extLst>
              <a:ext uri="{FF2B5EF4-FFF2-40B4-BE49-F238E27FC236}">
                <a16:creationId xmlns:a16="http://schemas.microsoft.com/office/drawing/2014/main" id="{3918EE57-1061-49A6-BED8-A3BCFCDC3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34165" name="Text Box 38">
            <a:extLst>
              <a:ext uri="{FF2B5EF4-FFF2-40B4-BE49-F238E27FC236}">
                <a16:creationId xmlns:a16="http://schemas.microsoft.com/office/drawing/2014/main" id="{50848079-49D6-499A-8142-7C4C7A552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6</a:t>
            </a:r>
          </a:p>
        </p:txBody>
      </p:sp>
      <p:sp>
        <p:nvSpPr>
          <p:cNvPr id="134166" name="Line 39">
            <a:extLst>
              <a:ext uri="{FF2B5EF4-FFF2-40B4-BE49-F238E27FC236}">
                <a16:creationId xmlns:a16="http://schemas.microsoft.com/office/drawing/2014/main" id="{978CC671-2413-4346-A5FC-FF4FC5798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0" cy="266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7" name="Text Box 40">
            <a:extLst>
              <a:ext uri="{FF2B5EF4-FFF2-40B4-BE49-F238E27FC236}">
                <a16:creationId xmlns:a16="http://schemas.microsoft.com/office/drawing/2014/main" id="{3CCEEE91-99B0-4E07-806B-52A834511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34168" name="Text Box 41">
            <a:extLst>
              <a:ext uri="{FF2B5EF4-FFF2-40B4-BE49-F238E27FC236}">
                <a16:creationId xmlns:a16="http://schemas.microsoft.com/office/drawing/2014/main" id="{B3B06602-F20E-4DBC-92E5-3D1C150DD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34169" name="Text Box 42">
            <a:extLst>
              <a:ext uri="{FF2B5EF4-FFF2-40B4-BE49-F238E27FC236}">
                <a16:creationId xmlns:a16="http://schemas.microsoft.com/office/drawing/2014/main" id="{6D2225CF-F8DC-428E-A7C9-10787E95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34170" name="Text Box 43">
            <a:extLst>
              <a:ext uri="{FF2B5EF4-FFF2-40B4-BE49-F238E27FC236}">
                <a16:creationId xmlns:a16="http://schemas.microsoft.com/office/drawing/2014/main" id="{DCC0B2E0-93FC-4BD3-AFD4-2B810DF43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134171" name="Text Box 44">
            <a:extLst>
              <a:ext uri="{FF2B5EF4-FFF2-40B4-BE49-F238E27FC236}">
                <a16:creationId xmlns:a16="http://schemas.microsoft.com/office/drawing/2014/main" id="{E4DA7F20-5991-4DEB-A108-2987C36E6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6</a:t>
            </a:r>
            <a:endParaRPr kumimoji="0" lang="en-US" altLang="zh-CN" sz="2000" b="1"/>
          </a:p>
        </p:txBody>
      </p:sp>
      <p:sp>
        <p:nvSpPr>
          <p:cNvPr id="134172" name="Text Box 45">
            <a:extLst>
              <a:ext uri="{FF2B5EF4-FFF2-40B4-BE49-F238E27FC236}">
                <a16:creationId xmlns:a16="http://schemas.microsoft.com/office/drawing/2014/main" id="{877BB6D6-C794-4565-B735-23EA0022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134173" name="Text Box 46">
            <a:extLst>
              <a:ext uri="{FF2B5EF4-FFF2-40B4-BE49-F238E27FC236}">
                <a16:creationId xmlns:a16="http://schemas.microsoft.com/office/drawing/2014/main" id="{E8C6B244-1C84-4350-9A5D-DD6256D07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7</a:t>
            </a:r>
            <a:endParaRPr kumimoji="0" lang="en-US" altLang="zh-CN" sz="2000" b="1"/>
          </a:p>
        </p:txBody>
      </p:sp>
      <p:sp>
        <p:nvSpPr>
          <p:cNvPr id="134174" name="Text Box 47">
            <a:extLst>
              <a:ext uri="{FF2B5EF4-FFF2-40B4-BE49-F238E27FC236}">
                <a16:creationId xmlns:a16="http://schemas.microsoft.com/office/drawing/2014/main" id="{D9FDAE78-45B9-4FA3-8DE6-EA6144B9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17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5" name="Text Box 48">
            <a:extLst>
              <a:ext uri="{FF2B5EF4-FFF2-40B4-BE49-F238E27FC236}">
                <a16:creationId xmlns:a16="http://schemas.microsoft.com/office/drawing/2014/main" id="{562EE4B8-E734-4E96-A642-6A1680926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16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6" name="Text Box 49">
            <a:extLst>
              <a:ext uri="{FF2B5EF4-FFF2-40B4-BE49-F238E27FC236}">
                <a16:creationId xmlns:a16="http://schemas.microsoft.com/office/drawing/2014/main" id="{56502159-1C16-41A6-A4FE-FADB9533D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15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7" name="Text Box 50">
            <a:extLst>
              <a:ext uri="{FF2B5EF4-FFF2-40B4-BE49-F238E27FC236}">
                <a16:creationId xmlns:a16="http://schemas.microsoft.com/office/drawing/2014/main" id="{0C2A8F96-999F-482E-B730-1B5E27159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14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8" name="Text Box 51">
            <a:extLst>
              <a:ext uri="{FF2B5EF4-FFF2-40B4-BE49-F238E27FC236}">
                <a16:creationId xmlns:a16="http://schemas.microsoft.com/office/drawing/2014/main" id="{FADA8D2B-0316-4CEE-B805-9923DB0A2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13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79" name="Text Box 52">
            <a:extLst>
              <a:ext uri="{FF2B5EF4-FFF2-40B4-BE49-F238E27FC236}">
                <a16:creationId xmlns:a16="http://schemas.microsoft.com/office/drawing/2014/main" id="{A6A126E7-D826-4D75-B5BF-6320FB3C3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12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0" name="Text Box 53">
            <a:extLst>
              <a:ext uri="{FF2B5EF4-FFF2-40B4-BE49-F238E27FC236}">
                <a16:creationId xmlns:a16="http://schemas.microsoft.com/office/drawing/2014/main" id="{FFF2FCE3-BB98-4042-BED3-E88702E9D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10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1" name="Text Box 54">
            <a:extLst>
              <a:ext uri="{FF2B5EF4-FFF2-40B4-BE49-F238E27FC236}">
                <a16:creationId xmlns:a16="http://schemas.microsoft.com/office/drawing/2014/main" id="{3605E9A7-2860-488A-81D7-1F01492AA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11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2" name="Text Box 55">
            <a:extLst>
              <a:ext uri="{FF2B5EF4-FFF2-40B4-BE49-F238E27FC236}">
                <a16:creationId xmlns:a16="http://schemas.microsoft.com/office/drawing/2014/main" id="{4873A4CF-69C5-4827-80F9-071A97169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  <a:sym typeface="Symbol" panose="05050102010706020507" pitchFamily="18" charset="2"/>
              </a:rPr>
              <a:t>9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4183" name="Text Box 56">
            <a:extLst>
              <a:ext uri="{FF2B5EF4-FFF2-40B4-BE49-F238E27FC236}">
                <a16:creationId xmlns:a16="http://schemas.microsoft.com/office/drawing/2014/main" id="{294554D3-EFEC-4EBA-97CD-5330891B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24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4" name="Text Box 57">
            <a:extLst>
              <a:ext uri="{FF2B5EF4-FFF2-40B4-BE49-F238E27FC236}">
                <a16:creationId xmlns:a16="http://schemas.microsoft.com/office/drawing/2014/main" id="{3C9BFC13-045F-4BD4-8E3C-55E54EADA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895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23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5" name="Text Box 58">
            <a:extLst>
              <a:ext uri="{FF2B5EF4-FFF2-40B4-BE49-F238E27FC236}">
                <a16:creationId xmlns:a16="http://schemas.microsoft.com/office/drawing/2014/main" id="{E999E29D-89DE-445F-92D5-A7E92650C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22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6" name="Text Box 59">
            <a:extLst>
              <a:ext uri="{FF2B5EF4-FFF2-40B4-BE49-F238E27FC236}">
                <a16:creationId xmlns:a16="http://schemas.microsoft.com/office/drawing/2014/main" id="{B3035CA7-EA3E-4F08-ACE4-B0F6C3A5A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21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7" name="Text Box 60">
            <a:extLst>
              <a:ext uri="{FF2B5EF4-FFF2-40B4-BE49-F238E27FC236}">
                <a16:creationId xmlns:a16="http://schemas.microsoft.com/office/drawing/2014/main" id="{F0DC5807-5A37-42F1-9ED3-B8D16BA9E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514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20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8" name="Text Box 61">
            <a:extLst>
              <a:ext uri="{FF2B5EF4-FFF2-40B4-BE49-F238E27FC236}">
                <a16:creationId xmlns:a16="http://schemas.microsoft.com/office/drawing/2014/main" id="{AA516240-9CB9-4896-AB45-8DAE6E24B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18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89" name="Text Box 62">
            <a:extLst>
              <a:ext uri="{FF2B5EF4-FFF2-40B4-BE49-F238E27FC236}">
                <a16:creationId xmlns:a16="http://schemas.microsoft.com/office/drawing/2014/main" id="{7A953ED5-B738-45A8-AAD4-733F8A54B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133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19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90" name="Text Box 63">
            <a:extLst>
              <a:ext uri="{FF2B5EF4-FFF2-40B4-BE49-F238E27FC236}">
                <a16:creationId xmlns:a16="http://schemas.microsoft.com/office/drawing/2014/main" id="{9E927CAC-07A7-4ECC-9AED-F348CF67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  <a:sym typeface="Symbol" panose="05050102010706020507" pitchFamily="18" charset="2"/>
              </a:rPr>
              <a:t>25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134191" name="Text Box 64">
            <a:extLst>
              <a:ext uri="{FF2B5EF4-FFF2-40B4-BE49-F238E27FC236}">
                <a16:creationId xmlns:a16="http://schemas.microsoft.com/office/drawing/2014/main" id="{2EB388FA-A473-40FF-BB59-C11870AB1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5</a:t>
            </a:r>
            <a:endParaRPr kumimoji="0" lang="en-US" altLang="zh-CN" sz="2000" b="1"/>
          </a:p>
        </p:txBody>
      </p:sp>
      <p:sp>
        <p:nvSpPr>
          <p:cNvPr id="134192" name="Text Box 65">
            <a:extLst>
              <a:ext uri="{FF2B5EF4-FFF2-40B4-BE49-F238E27FC236}">
                <a16:creationId xmlns:a16="http://schemas.microsoft.com/office/drawing/2014/main" id="{B0F0FABE-FDCD-4792-BC18-7160350A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343400"/>
            <a:ext cx="2133600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</a:rPr>
              <a:t>1 </a:t>
            </a:r>
            <a:r>
              <a:rPr kumimoji="0" lang="en-US" altLang="zh-CN" sz="2800" b="1"/>
              <a:t>E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TE’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/>
              <a:t>E’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TE’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3 </a:t>
            </a:r>
            <a:r>
              <a:rPr kumimoji="0" lang="en-US" altLang="zh-CN" sz="2800" b="1"/>
              <a:t>E’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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4 </a:t>
            </a:r>
            <a:r>
              <a:rPr kumimoji="0" lang="en-US" altLang="zh-CN" sz="2800" b="1"/>
              <a:t>T</a:t>
            </a:r>
            <a:r>
              <a:rPr kumimoji="0" lang="en-US" altLang="zh-CN" sz="2800" b="1">
                <a:sym typeface="Symbol" panose="05050102010706020507" pitchFamily="18" charset="2"/>
              </a:rPr>
              <a:t>FT’</a:t>
            </a:r>
          </a:p>
        </p:txBody>
      </p:sp>
      <p:sp>
        <p:nvSpPr>
          <p:cNvPr id="134193" name="Text Box 66">
            <a:extLst>
              <a:ext uri="{FF2B5EF4-FFF2-40B4-BE49-F238E27FC236}">
                <a16:creationId xmlns:a16="http://schemas.microsoft.com/office/drawing/2014/main" id="{26E0B82C-DF3D-4694-877B-81D5BDE4E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572000"/>
            <a:ext cx="1371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</a:rPr>
              <a:t>9 – 17 :  Sync Actions</a:t>
            </a:r>
          </a:p>
        </p:txBody>
      </p:sp>
      <p:sp>
        <p:nvSpPr>
          <p:cNvPr id="134194" name="Text Box 67">
            <a:extLst>
              <a:ext uri="{FF2B5EF4-FFF2-40B4-BE49-F238E27FC236}">
                <a16:creationId xmlns:a16="http://schemas.microsoft.com/office/drawing/2014/main" id="{2C73AB54-EBB7-4361-BFBB-DAE1A447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572000"/>
            <a:ext cx="1600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00CC00"/>
                </a:solidFill>
              </a:rPr>
              <a:t>18 – 25 :  Error Handlers</a:t>
            </a:r>
          </a:p>
        </p:txBody>
      </p:sp>
      <p:sp>
        <p:nvSpPr>
          <p:cNvPr id="134195" name="Text Box 68">
            <a:extLst>
              <a:ext uri="{FF2B5EF4-FFF2-40B4-BE49-F238E27FC236}">
                <a16:creationId xmlns:a16="http://schemas.microsoft.com/office/drawing/2014/main" id="{3AC3EACF-2F24-4777-8FA7-088F3726C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4988"/>
            <a:ext cx="2133600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5 </a:t>
            </a:r>
            <a:r>
              <a:rPr kumimoji="0" lang="en-US" altLang="zh-CN" sz="2800" b="1"/>
              <a:t>T’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FT’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6 </a:t>
            </a:r>
            <a:r>
              <a:rPr kumimoji="0" lang="en-US" altLang="zh-CN" sz="2800" b="1"/>
              <a:t>T’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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7 </a:t>
            </a:r>
            <a:r>
              <a:rPr kumimoji="0" lang="en-US" altLang="zh-CN" sz="2800" b="1"/>
              <a:t>F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E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8 </a:t>
            </a:r>
            <a:r>
              <a:rPr kumimoji="0" lang="en-US" altLang="zh-CN" sz="2800" b="1"/>
              <a:t>F</a:t>
            </a:r>
            <a:r>
              <a:rPr kumimoji="0" lang="en-US" altLang="zh-CN" sz="2800" b="1"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0D5FB1C7-4F34-4474-93BC-FFA9D64A2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修改后的预测分析表（续）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64847A3B-3DA5-4E40-B207-B4A48E917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每个</a:t>
            </a:r>
            <a:r>
              <a:rPr lang="en-US" altLang="zh-CN"/>
              <a:t>ID</a:t>
            </a:r>
            <a:r>
              <a:rPr lang="zh-CN" altLang="en-US"/>
              <a:t>（或一组</a:t>
            </a:r>
            <a:r>
              <a:rPr lang="en-US" altLang="zh-CN"/>
              <a:t>ID</a:t>
            </a:r>
            <a:r>
              <a:rPr lang="zh-CN" altLang="en-US"/>
              <a:t>）对应一个函数：</a:t>
            </a:r>
          </a:p>
          <a:p>
            <a:pPr lvl="1" eaLnBrk="1" hangingPunct="1"/>
            <a:r>
              <a:rPr lang="zh-CN" altLang="en-US"/>
              <a:t>使用栈抽象数据类型</a:t>
            </a:r>
          </a:p>
          <a:p>
            <a:pPr lvl="1" eaLnBrk="1" hangingPunct="1"/>
            <a:r>
              <a:rPr lang="zh-CN" altLang="en-US"/>
              <a:t>获取单词</a:t>
            </a:r>
          </a:p>
          <a:p>
            <a:pPr lvl="1" eaLnBrk="1" hangingPunct="1"/>
            <a:r>
              <a:rPr lang="zh-CN" altLang="en-US"/>
              <a:t>打印错误信息</a:t>
            </a:r>
          </a:p>
          <a:p>
            <a:pPr lvl="1" eaLnBrk="1" hangingPunct="1"/>
            <a:r>
              <a:rPr lang="zh-CN" altLang="en-US"/>
              <a:t>打印诊断信息</a:t>
            </a:r>
          </a:p>
          <a:p>
            <a:pPr lvl="1" eaLnBrk="1" hangingPunct="1"/>
            <a:r>
              <a:rPr lang="zh-CN" altLang="en-US"/>
              <a:t>处理错误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22F1B0C8-40FB-4DBA-9261-500A8A89F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程序框架</a:t>
            </a:r>
          </a:p>
        </p:txBody>
      </p:sp>
      <p:sp>
        <p:nvSpPr>
          <p:cNvPr id="136195" name="Text Box 4">
            <a:extLst>
              <a:ext uri="{FF2B5EF4-FFF2-40B4-BE49-F238E27FC236}">
                <a16:creationId xmlns:a16="http://schemas.microsoft.com/office/drawing/2014/main" id="{3772BA1F-FE8D-4937-8558-018F4839D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371600"/>
            <a:ext cx="3962400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state = M[ top(s), current_token ]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switch (state)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  </a:t>
            </a:r>
            <a:r>
              <a:rPr kumimoji="0" lang="en-US" altLang="zh-CN" sz="2000" b="1">
                <a:solidFill>
                  <a:schemeClr val="accent2"/>
                </a:solidFill>
              </a:rPr>
              <a:t>case 1:   proc_E_TE’( ) 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              break ; </a:t>
            </a:r>
          </a:p>
          <a:p>
            <a:pPr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…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case 8:  proc_F_id( ) 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              break 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    </a:t>
            </a:r>
            <a:r>
              <a:rPr kumimoji="0" lang="en-US" altLang="zh-CN" sz="2000" b="1">
                <a:solidFill>
                  <a:srgbClr val="FF3300"/>
                </a:solidFill>
              </a:rPr>
              <a:t>case 9:   proc_sync_9( ) 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              break ; </a:t>
            </a:r>
          </a:p>
          <a:p>
            <a:pPr eaLnBrk="1" hangingPunct="1"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…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case 17:  proc_sync_17( ) 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FF3300"/>
                </a:solidFill>
              </a:rPr>
              <a:t>                    break 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      case 18: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      …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00CC00"/>
                </a:solidFill>
              </a:rPr>
              <a:t>      case 25: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    }</a:t>
            </a:r>
            <a:endParaRPr kumimoji="0" lang="en-US" altLang="zh-CN" sz="2000" b="1">
              <a:solidFill>
                <a:srgbClr val="FF3300"/>
              </a:solidFill>
            </a:endParaRPr>
          </a:p>
        </p:txBody>
      </p:sp>
      <p:sp>
        <p:nvSpPr>
          <p:cNvPr id="136196" name="AutoShape 5">
            <a:extLst>
              <a:ext uri="{FF2B5EF4-FFF2-40B4-BE49-F238E27FC236}">
                <a16:creationId xmlns:a16="http://schemas.microsoft.com/office/drawing/2014/main" id="{0D914536-1418-48C2-8498-7309A825A0FB}"/>
              </a:ext>
            </a:extLst>
          </p:cNvPr>
          <p:cNvSpPr>
            <a:spLocks/>
          </p:cNvSpPr>
          <p:nvPr/>
        </p:nvSpPr>
        <p:spPr bwMode="auto">
          <a:xfrm>
            <a:off x="2667000" y="5334000"/>
            <a:ext cx="457200" cy="914400"/>
          </a:xfrm>
          <a:prstGeom prst="rightBrace">
            <a:avLst>
              <a:gd name="adj1" fmla="val 16667"/>
              <a:gd name="adj2" fmla="val 50000"/>
            </a:avLst>
          </a:prstGeom>
          <a:noFill/>
          <a:ln w="25400">
            <a:solidFill>
              <a:srgbClr val="00CC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197" name="Text Box 6">
            <a:extLst>
              <a:ext uri="{FF2B5EF4-FFF2-40B4-BE49-F238E27FC236}">
                <a16:creationId xmlns:a16="http://schemas.microsoft.com/office/drawing/2014/main" id="{98652210-6259-4C9C-AD5A-141E1E26C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5626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00CC00"/>
                </a:solidFill>
              </a:rPr>
              <a:t>调用错误处理函数</a:t>
            </a:r>
          </a:p>
        </p:txBody>
      </p:sp>
      <p:sp>
        <p:nvSpPr>
          <p:cNvPr id="136198" name="AutoShape 7">
            <a:extLst>
              <a:ext uri="{FF2B5EF4-FFF2-40B4-BE49-F238E27FC236}">
                <a16:creationId xmlns:a16="http://schemas.microsoft.com/office/drawing/2014/main" id="{00E2DF6C-27D7-4158-8CA6-8625D8BE4DD2}"/>
              </a:ext>
            </a:extLst>
          </p:cNvPr>
          <p:cNvSpPr>
            <a:spLocks/>
          </p:cNvSpPr>
          <p:nvPr/>
        </p:nvSpPr>
        <p:spPr bwMode="auto">
          <a:xfrm>
            <a:off x="6019800" y="5254625"/>
            <a:ext cx="228600" cy="987425"/>
          </a:xfrm>
          <a:prstGeom prst="rightBracket">
            <a:avLst>
              <a:gd name="adj" fmla="val 35995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199" name="AutoShape 8">
            <a:extLst>
              <a:ext uri="{FF2B5EF4-FFF2-40B4-BE49-F238E27FC236}">
                <a16:creationId xmlns:a16="http://schemas.microsoft.com/office/drawing/2014/main" id="{C7061AC2-683E-4E84-9BB9-A35599794088}"/>
              </a:ext>
            </a:extLst>
          </p:cNvPr>
          <p:cNvSpPr>
            <a:spLocks/>
          </p:cNvSpPr>
          <p:nvPr/>
        </p:nvSpPr>
        <p:spPr bwMode="auto">
          <a:xfrm>
            <a:off x="6019800" y="3886200"/>
            <a:ext cx="228600" cy="1219200"/>
          </a:xfrm>
          <a:prstGeom prst="rightBracket">
            <a:avLst>
              <a:gd name="adj" fmla="val 444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200" name="AutoShape 9">
            <a:extLst>
              <a:ext uri="{FF2B5EF4-FFF2-40B4-BE49-F238E27FC236}">
                <a16:creationId xmlns:a16="http://schemas.microsoft.com/office/drawing/2014/main" id="{41FA52F0-D7C9-4FF7-87E9-3F45B5F1594E}"/>
              </a:ext>
            </a:extLst>
          </p:cNvPr>
          <p:cNvSpPr>
            <a:spLocks/>
          </p:cNvSpPr>
          <p:nvPr/>
        </p:nvSpPr>
        <p:spPr bwMode="auto">
          <a:xfrm>
            <a:off x="6019800" y="2438400"/>
            <a:ext cx="228600" cy="1219200"/>
          </a:xfrm>
          <a:prstGeom prst="rightBracket">
            <a:avLst>
              <a:gd name="adj" fmla="val 444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Symbol" panose="05050102010706020507" pitchFamily="18" charset="2"/>
            </a:endParaRPr>
          </a:p>
        </p:txBody>
      </p:sp>
      <p:sp>
        <p:nvSpPr>
          <p:cNvPr id="136201" name="Text Box 10">
            <a:extLst>
              <a:ext uri="{FF2B5EF4-FFF2-40B4-BE49-F238E27FC236}">
                <a16:creationId xmlns:a16="http://schemas.microsoft.com/office/drawing/2014/main" id="{F0D2DA9A-BB5F-4252-A813-05CE09A09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334000"/>
            <a:ext cx="2514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某些错误处理可能是相似的</a:t>
            </a:r>
          </a:p>
        </p:txBody>
      </p:sp>
      <p:sp>
        <p:nvSpPr>
          <p:cNvPr id="136202" name="Text Box 11">
            <a:extLst>
              <a:ext uri="{FF2B5EF4-FFF2-40B4-BE49-F238E27FC236}">
                <a16:creationId xmlns:a16="http://schemas.microsoft.com/office/drawing/2014/main" id="{F6827640-D5F4-43EC-8899-3FD3B3C6F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7432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组合</a:t>
            </a:r>
            <a:r>
              <a:rPr kumimoji="0" lang="zh-CN" altLang="en-US" sz="2400" b="1">
                <a:solidFill>
                  <a:srgbClr val="3333CC"/>
                </a:solidFill>
                <a:sym typeface="Symbol" panose="05050102010706020507" pitchFamily="18" charset="2"/>
              </a:rPr>
              <a:t>使用另一个</a:t>
            </a:r>
            <a:r>
              <a:rPr kumimoji="0" lang="en-US" altLang="zh-CN" sz="2400" b="1">
                <a:solidFill>
                  <a:srgbClr val="3333CC"/>
                </a:solidFill>
                <a:sym typeface="Symbol" panose="05050102010706020507" pitchFamily="18" charset="2"/>
              </a:rPr>
              <a:t>switch</a:t>
            </a:r>
            <a:r>
              <a:rPr kumimoji="0" lang="zh-CN" altLang="en-US" sz="2400" b="1">
                <a:solidFill>
                  <a:srgbClr val="3333CC"/>
                </a:solidFill>
                <a:sym typeface="Symbol" panose="05050102010706020507" pitchFamily="18" charset="2"/>
              </a:rPr>
              <a:t>语句</a:t>
            </a:r>
            <a:endParaRPr kumimoji="0" lang="zh-CN" altLang="en-US" sz="2400" b="1">
              <a:solidFill>
                <a:srgbClr val="3333CC"/>
              </a:solidFill>
            </a:endParaRPr>
          </a:p>
        </p:txBody>
      </p:sp>
      <p:sp>
        <p:nvSpPr>
          <p:cNvPr id="136203" name="Text Box 12">
            <a:extLst>
              <a:ext uri="{FF2B5EF4-FFF2-40B4-BE49-F238E27FC236}">
                <a16:creationId xmlns:a16="http://schemas.microsoft.com/office/drawing/2014/main" id="{3AEA292D-B6AF-4CD4-9859-1F2BF88A5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0386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3333CC"/>
                </a:solidFill>
              </a:rPr>
              <a:t>某些同步操作可能是相同的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BEEA8677-B72B-4C02-908F-EC89FD030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的语法分析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849A97D9-2EB8-48E0-A24C-CFAC428E7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expr(int tok)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static char stop[] = { IF, ID, '}', 0 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Tree p = expr1(0);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while (t == ',')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Tree q;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 = gettok();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q = pointer(expr1(0));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p = tree(RIGHT, q-&gt;type, root(value(p)), q);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(tok)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test(tok, stop);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37220" name="Text Box 4">
            <a:extLst>
              <a:ext uri="{FF2B5EF4-FFF2-40B4-BE49-F238E27FC236}">
                <a16:creationId xmlns:a16="http://schemas.microsoft.com/office/drawing/2014/main" id="{F60052B2-A82F-4CC2-ACDC-CE66680B1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91611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赋值表达式</a:t>
            </a:r>
          </a:p>
        </p:txBody>
      </p:sp>
      <p:sp>
        <p:nvSpPr>
          <p:cNvPr id="137221" name="Line 5">
            <a:extLst>
              <a:ext uri="{FF2B5EF4-FFF2-40B4-BE49-F238E27FC236}">
                <a16:creationId xmlns:a16="http://schemas.microsoft.com/office/drawing/2014/main" id="{A006AE3E-F4C8-411C-9304-F77210DE51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79838" y="2133600"/>
            <a:ext cx="1871662" cy="7143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7222" name="Text Box 6">
            <a:extLst>
              <a:ext uri="{FF2B5EF4-FFF2-40B4-BE49-F238E27FC236}">
                <a16:creationId xmlns:a16="http://schemas.microsoft.com/office/drawing/2014/main" id="{5ED4911E-ACE5-4B76-BD47-4B20BF921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565400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表达式序列</a:t>
            </a:r>
          </a:p>
        </p:txBody>
      </p:sp>
      <p:sp>
        <p:nvSpPr>
          <p:cNvPr id="137223" name="Line 7">
            <a:extLst>
              <a:ext uri="{FF2B5EF4-FFF2-40B4-BE49-F238E27FC236}">
                <a16:creationId xmlns:a16="http://schemas.microsoft.com/office/drawing/2014/main" id="{C230E444-C617-4D12-B955-9D3EBB4E48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63938" y="2782888"/>
            <a:ext cx="1871662" cy="7143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7224" name="Text Box 8">
            <a:extLst>
              <a:ext uri="{FF2B5EF4-FFF2-40B4-BE49-F238E27FC236}">
                <a16:creationId xmlns:a16="http://schemas.microsoft.com/office/drawing/2014/main" id="{CD16083A-E400-4BD8-910F-00EC0EBC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652963"/>
            <a:ext cx="2592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错误处理</a:t>
            </a:r>
          </a:p>
        </p:txBody>
      </p:sp>
      <p:sp>
        <p:nvSpPr>
          <p:cNvPr id="137225" name="Line 9">
            <a:extLst>
              <a:ext uri="{FF2B5EF4-FFF2-40B4-BE49-F238E27FC236}">
                <a16:creationId xmlns:a16="http://schemas.microsoft.com/office/drawing/2014/main" id="{6A97A6F6-A3AF-47F1-BA2A-797CED4353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24300" y="4870450"/>
            <a:ext cx="1871663" cy="7143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50050F51-E9F2-4D24-9A12-A8C4B6E71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的语法分析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C9F3B2A5-4648-4B53-80C7-032BA461A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skipto(int tok, char set[])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char *s;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assert(set);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(n = 0; t != EOI &amp;&amp; t != tok; t = gettok())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for (s = set; *s &amp;&amp; kind[t] != *s; s++)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(kind[t] == *s)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break;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(n++ ==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error("skipping");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(n &lt;= 8)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printtoken();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else if (n == 9)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fprint(stderr, " ...");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38244" name="Text Box 10">
            <a:extLst>
              <a:ext uri="{FF2B5EF4-FFF2-40B4-BE49-F238E27FC236}">
                <a16:creationId xmlns:a16="http://schemas.microsoft.com/office/drawing/2014/main" id="{9D2B3B45-4998-428E-8705-6469F7DB4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1989138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其他结构的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FIRST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集</a:t>
            </a:r>
          </a:p>
        </p:txBody>
      </p:sp>
      <p:sp>
        <p:nvSpPr>
          <p:cNvPr id="138245" name="Line 11">
            <a:extLst>
              <a:ext uri="{FF2B5EF4-FFF2-40B4-BE49-F238E27FC236}">
                <a16:creationId xmlns:a16="http://schemas.microsoft.com/office/drawing/2014/main" id="{3C4DC9B0-863E-4325-B802-6C4EC46955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40200" y="1628775"/>
            <a:ext cx="1295400" cy="64928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94A72A6E-40BD-4557-A2C6-A012651D5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的语法分析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5FA7370B-22A4-48C6-A012-002DB06D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(n &gt; 8)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fprint(stderr, " up to");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printtoken();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(n &gt; 0)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fprint(stderr, "\n");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expr0(int tok)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root(expr(tok));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39268" name="Text Box 4">
            <a:extLst>
              <a:ext uri="{FF2B5EF4-FFF2-40B4-BE49-F238E27FC236}">
                <a16:creationId xmlns:a16="http://schemas.microsoft.com/office/drawing/2014/main" id="{2F2FED5A-0873-42AB-8E26-E7C9E0F6D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500438"/>
            <a:ext cx="3598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FOLLOW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中的一个单词</a:t>
            </a:r>
          </a:p>
        </p:txBody>
      </p:sp>
      <p:sp>
        <p:nvSpPr>
          <p:cNvPr id="139269" name="Line 5">
            <a:extLst>
              <a:ext uri="{FF2B5EF4-FFF2-40B4-BE49-F238E27FC236}">
                <a16:creationId xmlns:a16="http://schemas.microsoft.com/office/drawing/2014/main" id="{47D94B1A-6128-4CE2-B217-69840F3112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9113" y="3789363"/>
            <a:ext cx="2089150" cy="5762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17BFA10A-BAC9-40AE-832F-8F0B0E63E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赋值表达式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5B781C1F-9654-485C-B035-35F6B9959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expr1(int tok)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static char stop[] = { IF, ID, 0 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Tree p = expr2();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(t == '='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|| (prec[t] &gt;=  6 &amp;&amp; prec[t] &lt;=  8)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|| (prec[t] &gt;= 11 &amp;&amp; prec[t] &lt;= 13))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int op = 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 = gettok();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(oper[op] == ASGN)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p = asgntree(ASGN, p, value(expr1(0)));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else</a:t>
            </a:r>
          </a:p>
        </p:txBody>
      </p:sp>
      <p:sp>
        <p:nvSpPr>
          <p:cNvPr id="140292" name="Text Box 4">
            <a:extLst>
              <a:ext uri="{FF2B5EF4-FFF2-40B4-BE49-F238E27FC236}">
                <a16:creationId xmlns:a16="http://schemas.microsoft.com/office/drawing/2014/main" id="{E2B8A168-C1EA-49A3-84A9-04923BF78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1773238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条件表达式</a:t>
            </a:r>
          </a:p>
        </p:txBody>
      </p:sp>
      <p:sp>
        <p:nvSpPr>
          <p:cNvPr id="140293" name="Line 5">
            <a:extLst>
              <a:ext uri="{FF2B5EF4-FFF2-40B4-BE49-F238E27FC236}">
                <a16:creationId xmlns:a16="http://schemas.microsoft.com/office/drawing/2014/main" id="{B4F0E112-1318-42B6-984F-4217B3E541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2062163"/>
            <a:ext cx="1728788" cy="7143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0294" name="Text Box 6">
            <a:extLst>
              <a:ext uri="{FF2B5EF4-FFF2-40B4-BE49-F238E27FC236}">
                <a16:creationId xmlns:a16="http://schemas.microsoft.com/office/drawing/2014/main" id="{DF27695E-2C2E-476F-A9CB-9B8B56AD2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213100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多重赋值</a:t>
            </a:r>
          </a:p>
        </p:txBody>
      </p:sp>
      <p:sp>
        <p:nvSpPr>
          <p:cNvPr id="140295" name="Line 7">
            <a:extLst>
              <a:ext uri="{FF2B5EF4-FFF2-40B4-BE49-F238E27FC236}">
                <a16:creationId xmlns:a16="http://schemas.microsoft.com/office/drawing/2014/main" id="{0C99D48F-C327-461D-9AEA-0E4ED66660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7050" y="3716338"/>
            <a:ext cx="71438" cy="7921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05987F2C-EA6A-42DF-BB52-2763C9A48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赋值表达式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2DBB1085-8099-4798-9D88-FF845F151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expect('=');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p = incr(op, p, expr1(0));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(tok)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test(tok, stop);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 incr(int op, Tree v, Tree e)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asgntree(ASGN, v, (*optree[op])(oper[op], v, e));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41316" name="Text Box 4">
            <a:extLst>
              <a:ext uri="{FF2B5EF4-FFF2-40B4-BE49-F238E27FC236}">
                <a16:creationId xmlns:a16="http://schemas.microsoft.com/office/drawing/2014/main" id="{14629A0F-00B3-4C5E-974B-EFF0A2BCE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692150"/>
            <a:ext cx="2087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</a:rPr>
              <a:t>“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运算</a:t>
            </a:r>
            <a:r>
              <a:rPr lang="zh-CN" altLang="en-US" sz="2400" dirty="0">
                <a:solidFill>
                  <a:srgbClr val="FF3300"/>
                </a:solidFill>
              </a:rPr>
              <a:t>”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赋值</a:t>
            </a:r>
          </a:p>
        </p:txBody>
      </p:sp>
      <p:sp>
        <p:nvSpPr>
          <p:cNvPr id="141317" name="Line 5">
            <a:extLst>
              <a:ext uri="{FF2B5EF4-FFF2-40B4-BE49-F238E27FC236}">
                <a16:creationId xmlns:a16="http://schemas.microsoft.com/office/drawing/2014/main" id="{BF5030DA-ECE8-4885-9269-38064634FE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63" y="1052513"/>
            <a:ext cx="2089150" cy="6477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318" name="Line 6">
            <a:extLst>
              <a:ext uri="{FF2B5EF4-FFF2-40B4-BE49-F238E27FC236}">
                <a16:creationId xmlns:a16="http://schemas.microsoft.com/office/drawing/2014/main" id="{A6B151B3-208A-4CB2-9FC3-6F2F9F86A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43663" y="1125538"/>
            <a:ext cx="1008062" cy="367188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319" name="Text Box 7">
            <a:extLst>
              <a:ext uri="{FF2B5EF4-FFF2-40B4-BE49-F238E27FC236}">
                <a16:creationId xmlns:a16="http://schemas.microsoft.com/office/drawing/2014/main" id="{59A0FD26-1F32-4D24-AB07-CCFE9629C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924175"/>
            <a:ext cx="24479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根据不同的运算符创建相应的语法树</a:t>
            </a:r>
          </a:p>
        </p:txBody>
      </p:sp>
      <p:sp>
        <p:nvSpPr>
          <p:cNvPr id="141320" name="Line 8">
            <a:extLst>
              <a:ext uri="{FF2B5EF4-FFF2-40B4-BE49-F238E27FC236}">
                <a16:creationId xmlns:a16="http://schemas.microsoft.com/office/drawing/2014/main" id="{BC253DCE-32AA-4CBA-9AC5-C39A7BC0B0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6825" y="3573463"/>
            <a:ext cx="142875" cy="1584325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39FD7EA4-C7D6-459F-B55F-1B3B075DA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二元表达式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49E7C5E4-770C-48B7-BA74-FC430C4DC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void expr3(int k)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if (k &gt; 13)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unary();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else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expr3(k + 1);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while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pret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[t] == k)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	t =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gettok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	expr3(k + 1);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42340" name="Text Box 4">
            <a:extLst>
              <a:ext uri="{FF2B5EF4-FFF2-40B4-BE49-F238E27FC236}">
                <a16:creationId xmlns:a16="http://schemas.microsoft.com/office/drawing/2014/main" id="{91AD3CD2-2737-4DA3-9F06-27BC4491D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620713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运算符（表达式）优先级</a:t>
            </a:r>
          </a:p>
        </p:txBody>
      </p:sp>
      <p:sp>
        <p:nvSpPr>
          <p:cNvPr id="142341" name="Line 5">
            <a:extLst>
              <a:ext uri="{FF2B5EF4-FFF2-40B4-BE49-F238E27FC236}">
                <a16:creationId xmlns:a16="http://schemas.microsoft.com/office/drawing/2014/main" id="{06CBC6B4-5B2B-4B16-94AA-969A8E9B77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6238" y="836613"/>
            <a:ext cx="2232025" cy="5762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342" name="Text Box 7">
            <a:extLst>
              <a:ext uri="{FF2B5EF4-FFF2-40B4-BE49-F238E27FC236}">
                <a16:creationId xmlns:a16="http://schemas.microsoft.com/office/drawing/2014/main" id="{52B8B241-C97C-411E-9D33-F7CEACA59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5" y="1341438"/>
            <a:ext cx="496887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不妨：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k</a:t>
            </a:r>
            <a:r>
              <a:rPr lang="en-US" altLang="zh-CN" sz="2400" dirty="0">
                <a:solidFill>
                  <a:srgbClr val="FF3300"/>
                </a:solidFill>
              </a:rPr>
              <a:t>——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+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-, k+1</a:t>
            </a:r>
            <a:r>
              <a:rPr lang="en-US" altLang="zh-CN" sz="2400" dirty="0">
                <a:solidFill>
                  <a:srgbClr val="FF3300"/>
                </a:solidFill>
              </a:rPr>
              <a:t>——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*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加减法表达式的结构</a:t>
            </a:r>
            <a:r>
              <a:rPr lang="en-US" altLang="zh-CN" sz="2400" dirty="0">
                <a:solidFill>
                  <a:srgbClr val="FF3300"/>
                </a:solidFill>
              </a:rPr>
              <a:t>——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乘除法表达式（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term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）通过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+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 pitchFamily="34" charset="0"/>
              </a:rPr>
              <a:t>-</a:t>
            </a: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连接的序列</a:t>
            </a:r>
          </a:p>
        </p:txBody>
      </p:sp>
      <p:sp>
        <p:nvSpPr>
          <p:cNvPr id="142343" name="Line 8">
            <a:extLst>
              <a:ext uri="{FF2B5EF4-FFF2-40B4-BE49-F238E27FC236}">
                <a16:creationId xmlns:a16="http://schemas.microsoft.com/office/drawing/2014/main" id="{631DE1F6-64EE-4FDE-BFBC-CD3B6838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2363" y="2708275"/>
            <a:ext cx="1368425" cy="288925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318BA28F-B8FC-43AE-A93B-CA489DE6B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消除递归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B52B9E94-29D5-4C06-BA8F-637B75644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expr3(int k)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k1;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unary();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(k1 = prec[t]; k1 &gt;= k; k1--)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while (pret[t] == k1)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t = gettok();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expr3(k1 + 1);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43003D84-2CDF-43D4-92EF-8F6B6F93B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自顶向下分析</a:t>
            </a:r>
            <a:r>
              <a:rPr lang="en-US" altLang="zh-CN"/>
              <a:t>——</a:t>
            </a:r>
            <a:r>
              <a:rPr lang="zh-CN" altLang="en-US"/>
              <a:t>总结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71487723-4DBC-4781-9213-549D8E822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已经研究了上下文无关文法、语言理论及与语法分析的关系</a:t>
            </a:r>
          </a:p>
          <a:p>
            <a:pPr eaLnBrk="1" hangingPunct="1"/>
            <a:r>
              <a:rPr lang="zh-CN" altLang="en-US"/>
              <a:t>关键：重写文法适应分析方法需求</a:t>
            </a:r>
          </a:p>
          <a:p>
            <a:pPr eaLnBrk="1" hangingPunct="1"/>
            <a:r>
              <a:rPr lang="zh-CN" altLang="en-US"/>
              <a:t>自顶向下分析方法</a:t>
            </a:r>
          </a:p>
          <a:p>
            <a:pPr lvl="1" eaLnBrk="1" hangingPunct="1"/>
            <a:r>
              <a:rPr lang="zh-CN" altLang="en-US"/>
              <a:t>平凡方法：状态转换图 </a:t>
            </a:r>
            <a:r>
              <a:rPr lang="en-US" altLang="zh-CN"/>
              <a:t>&amp; </a:t>
            </a:r>
            <a:r>
              <a:rPr lang="zh-CN" altLang="en-US"/>
              <a:t>递归</a:t>
            </a:r>
          </a:p>
          <a:p>
            <a:pPr lvl="1" eaLnBrk="1" hangingPunct="1"/>
            <a:r>
              <a:rPr lang="zh-CN" altLang="en-US"/>
              <a:t>高效方法：表驱动</a:t>
            </a:r>
          </a:p>
          <a:p>
            <a:pPr eaLnBrk="1" hangingPunct="1"/>
            <a:r>
              <a:rPr lang="zh-CN" altLang="en-US"/>
              <a:t>缺点：不是所有文法满足</a:t>
            </a:r>
            <a:r>
              <a:rPr lang="en-US" altLang="zh-CN"/>
              <a:t>LL(1)</a:t>
            </a:r>
            <a:r>
              <a:rPr lang="zh-CN" altLang="en-US"/>
              <a:t>要求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个状态，转换为等价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最多有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个状态。</a:t>
            </a: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nlogn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baseline="30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n!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endParaRPr lang="zh-CN" altLang="en-US" sz="2600" baseline="30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文本框 3">
            <a:extLst>
              <a:ext uri="{FF2B5EF4-FFF2-40B4-BE49-F238E27FC236}">
                <a16:creationId xmlns:a16="http://schemas.microsoft.com/office/drawing/2014/main" id="{CE6EBD6B-E2E0-4300-81A5-27A0630752C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下面哪个符号串可以区分状态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___________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35" name="文本框 4">
            <a:extLst>
              <a:ext uri="{FF2B5EF4-FFF2-40B4-BE49-F238E27FC236}">
                <a16:creationId xmlns:a16="http://schemas.microsoft.com/office/drawing/2014/main" id="{C15B1663-3578-4B6C-B25E-DCEA9FD249A2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30388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36" name="文本框 5">
            <a:extLst>
              <a:ext uri="{FF2B5EF4-FFF2-40B4-BE49-F238E27FC236}">
                <a16:creationId xmlns:a16="http://schemas.microsoft.com/office/drawing/2014/main" id="{5D23A815-B4D0-4818-9877-63DD0D92DD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37" name="文本框 6">
            <a:extLst>
              <a:ext uri="{FF2B5EF4-FFF2-40B4-BE49-F238E27FC236}">
                <a16:creationId xmlns:a16="http://schemas.microsoft.com/office/drawing/2014/main" id="{A0C65F22-C60E-4AF7-840E-BAD724D1278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bb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38" name="文本框 7">
            <a:extLst>
              <a:ext uri="{FF2B5EF4-FFF2-40B4-BE49-F238E27FC236}">
                <a16:creationId xmlns:a16="http://schemas.microsoft.com/office/drawing/2014/main" id="{E019B409-D56A-4F09-A56F-12AB2959163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>
                <a:latin typeface="Symbol" panose="05050102010706020507" pitchFamily="18" charset="2"/>
              </a:rPr>
              <a:t>以上均不对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39" name="椭圆 8">
            <a:extLst>
              <a:ext uri="{FF2B5EF4-FFF2-40B4-BE49-F238E27FC236}">
                <a16:creationId xmlns:a16="http://schemas.microsoft.com/office/drawing/2014/main" id="{E60F82F9-2FB0-4AE0-8995-5977C82CD14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40" name="椭圆 9">
            <a:extLst>
              <a:ext uri="{FF2B5EF4-FFF2-40B4-BE49-F238E27FC236}">
                <a16:creationId xmlns:a16="http://schemas.microsoft.com/office/drawing/2014/main" id="{61276CD5-8304-4994-B33E-D9C8447CE44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41" name="椭圆 10">
            <a:extLst>
              <a:ext uri="{FF2B5EF4-FFF2-40B4-BE49-F238E27FC236}">
                <a16:creationId xmlns:a16="http://schemas.microsoft.com/office/drawing/2014/main" id="{6DC720A9-98EC-493F-8E01-26D4CA46C85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42" name="椭圆 11">
            <a:extLst>
              <a:ext uri="{FF2B5EF4-FFF2-40B4-BE49-F238E27FC236}">
                <a16:creationId xmlns:a16="http://schemas.microsoft.com/office/drawing/2014/main" id="{FC01D412-4357-4BF7-B267-0612B8170AA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6443" name="矩形: 圆角 12">
            <a:extLst>
              <a:ext uri="{FF2B5EF4-FFF2-40B4-BE49-F238E27FC236}">
                <a16:creationId xmlns:a16="http://schemas.microsoft.com/office/drawing/2014/main" id="{1BCC4175-3E4B-480D-9D43-02934C940BDC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146444" name="Picture 2" descr="18d2">
            <a:extLst>
              <a:ext uri="{FF2B5EF4-FFF2-40B4-BE49-F238E27FC236}">
                <a16:creationId xmlns:a16="http://schemas.microsoft.com/office/drawing/2014/main" id="{1D08FF7F-D24D-4FE9-B9ED-19453624A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5" y="1909763"/>
            <a:ext cx="5137150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6445" name="组合 17">
            <a:extLst>
              <a:ext uri="{FF2B5EF4-FFF2-40B4-BE49-F238E27FC236}">
                <a16:creationId xmlns:a16="http://schemas.microsoft.com/office/drawing/2014/main" id="{FFF97EF7-06E6-4A99-B25F-A0BE69CFE55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6447" name="TitleBackground">
              <a:extLst>
                <a:ext uri="{FF2B5EF4-FFF2-40B4-BE49-F238E27FC236}">
                  <a16:creationId xmlns:a16="http://schemas.microsoft.com/office/drawing/2014/main" id="{FB0A9AD6-3501-4513-8B44-892BDFA4E307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6448" name="ColorBlock">
              <a:extLst>
                <a:ext uri="{FF2B5EF4-FFF2-40B4-BE49-F238E27FC236}">
                  <a16:creationId xmlns:a16="http://schemas.microsoft.com/office/drawing/2014/main" id="{10D1B654-0DBD-47E1-B703-747E2B0FEB96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6449" name="TypeText">
              <a:extLst>
                <a:ext uri="{FF2B5EF4-FFF2-40B4-BE49-F238E27FC236}">
                  <a16:creationId xmlns:a16="http://schemas.microsoft.com/office/drawing/2014/main" id="{55881A68-FC48-412A-AAD5-1D8127CD958A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6450" name="TipText">
              <a:extLst>
                <a:ext uri="{FF2B5EF4-FFF2-40B4-BE49-F238E27FC236}">
                  <a16:creationId xmlns:a16="http://schemas.microsoft.com/office/drawing/2014/main" id="{2E800298-794F-4928-9FD2-E6472873AD1A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6446" name="图片 2">
            <a:extLst>
              <a:ext uri="{FF2B5EF4-FFF2-40B4-BE49-F238E27FC236}">
                <a16:creationId xmlns:a16="http://schemas.microsoft.com/office/drawing/2014/main" id="{7AC42847-1099-42E7-A98C-01C041521CCB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文本框 3">
            <a:extLst>
              <a:ext uri="{FF2B5EF4-FFF2-40B4-BE49-F238E27FC236}">
                <a16:creationId xmlns:a16="http://schemas.microsoft.com/office/drawing/2014/main" id="{57B5BD08-B8C0-4798-8B3D-7F20AE1A1D6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我们倾向于使用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而非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构造词法分析器，是因为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47459" name="文本框 4">
            <a:extLst>
              <a:ext uri="{FF2B5EF4-FFF2-40B4-BE49-F238E27FC236}">
                <a16:creationId xmlns:a16="http://schemas.microsoft.com/office/drawing/2014/main" id="{AB291558-4D55-466A-9783-8195CF3290E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空间占用优于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7460" name="文本框 5">
            <a:extLst>
              <a:ext uri="{FF2B5EF4-FFF2-40B4-BE49-F238E27FC236}">
                <a16:creationId xmlns:a16="http://schemas.microsoft.com/office/drawing/2014/main" id="{0347F6CD-803F-49B0-B415-26E190ECE0CD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时间复杂性优于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7461" name="文本框 6">
            <a:extLst>
              <a:ext uri="{FF2B5EF4-FFF2-40B4-BE49-F238E27FC236}">
                <a16:creationId xmlns:a16="http://schemas.microsoft.com/office/drawing/2014/main" id="{E185C66D-4FF2-471C-8A49-6629E05EE46D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以上皆对</a:t>
            </a:r>
          </a:p>
        </p:txBody>
      </p:sp>
      <p:sp>
        <p:nvSpPr>
          <p:cNvPr id="147462" name="文本框 7">
            <a:extLst>
              <a:ext uri="{FF2B5EF4-FFF2-40B4-BE49-F238E27FC236}">
                <a16:creationId xmlns:a16="http://schemas.microsoft.com/office/drawing/2014/main" id="{146DDDEF-6F7D-4E51-8673-8608648DA87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147463" name="椭圆 8">
            <a:extLst>
              <a:ext uri="{FF2B5EF4-FFF2-40B4-BE49-F238E27FC236}">
                <a16:creationId xmlns:a16="http://schemas.microsoft.com/office/drawing/2014/main" id="{F01D682C-ACEE-4493-B683-4E5E824D5C9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7464" name="椭圆 9">
            <a:extLst>
              <a:ext uri="{FF2B5EF4-FFF2-40B4-BE49-F238E27FC236}">
                <a16:creationId xmlns:a16="http://schemas.microsoft.com/office/drawing/2014/main" id="{1DB2FE3C-39DA-4DAC-A0D8-AA0B4F27DA2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7465" name="椭圆 10">
            <a:extLst>
              <a:ext uri="{FF2B5EF4-FFF2-40B4-BE49-F238E27FC236}">
                <a16:creationId xmlns:a16="http://schemas.microsoft.com/office/drawing/2014/main" id="{06B9292E-A420-4273-8690-11A61FBCD5E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7466" name="椭圆 11">
            <a:extLst>
              <a:ext uri="{FF2B5EF4-FFF2-40B4-BE49-F238E27FC236}">
                <a16:creationId xmlns:a16="http://schemas.microsoft.com/office/drawing/2014/main" id="{80645681-96FE-47AC-BB22-5430B0615C6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7467" name="矩形: 圆角 12">
            <a:extLst>
              <a:ext uri="{FF2B5EF4-FFF2-40B4-BE49-F238E27FC236}">
                <a16:creationId xmlns:a16="http://schemas.microsoft.com/office/drawing/2014/main" id="{F90785C7-C870-4E2A-8A44-20EA54743D28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7468" name="组合 17">
            <a:extLst>
              <a:ext uri="{FF2B5EF4-FFF2-40B4-BE49-F238E27FC236}">
                <a16:creationId xmlns:a16="http://schemas.microsoft.com/office/drawing/2014/main" id="{ED2D6B63-19AD-49A1-9D77-6D91089B516F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7470" name="TitleBackground">
              <a:extLst>
                <a:ext uri="{FF2B5EF4-FFF2-40B4-BE49-F238E27FC236}">
                  <a16:creationId xmlns:a16="http://schemas.microsoft.com/office/drawing/2014/main" id="{D3EB21E9-8F08-4AE2-8E12-3254BF795A94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7471" name="ColorBlock">
              <a:extLst>
                <a:ext uri="{FF2B5EF4-FFF2-40B4-BE49-F238E27FC236}">
                  <a16:creationId xmlns:a16="http://schemas.microsoft.com/office/drawing/2014/main" id="{C6DEAAA3-84BA-46B2-9026-9F5A6E283239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7472" name="TypeText">
              <a:extLst>
                <a:ext uri="{FF2B5EF4-FFF2-40B4-BE49-F238E27FC236}">
                  <a16:creationId xmlns:a16="http://schemas.microsoft.com/office/drawing/2014/main" id="{F1256171-40C6-4FB1-8990-0978DF70EB14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7473" name="TipText">
              <a:extLst>
                <a:ext uri="{FF2B5EF4-FFF2-40B4-BE49-F238E27FC236}">
                  <a16:creationId xmlns:a16="http://schemas.microsoft.com/office/drawing/2014/main" id="{4B87C760-2EEE-4320-B149-C05C77B5E18C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7469" name="图片 2">
            <a:extLst>
              <a:ext uri="{FF2B5EF4-FFF2-40B4-BE49-F238E27FC236}">
                <a16:creationId xmlns:a16="http://schemas.microsoft.com/office/drawing/2014/main" id="{3642FDA3-52C7-4057-BD23-918F6053FA3B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文本框 3">
            <a:extLst>
              <a:ext uri="{FF2B5EF4-FFF2-40B4-BE49-F238E27FC236}">
                <a16:creationId xmlns:a16="http://schemas.microsoft.com/office/drawing/2014/main" id="{2D406775-66B2-4069-8C6A-1969C364B57E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s,t,p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是相同字母表上的正则表达式，则下面正确的是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48483" name="文本框 4">
            <a:extLst>
              <a:ext uri="{FF2B5EF4-FFF2-40B4-BE49-F238E27FC236}">
                <a16:creationId xmlns:a16="http://schemas.microsoft.com/office/drawing/2014/main" id="{BE625FB2-15B6-4C3A-A891-0A4E41D3D1A8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st=ts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84" name="文本框 5">
            <a:extLst>
              <a:ext uri="{FF2B5EF4-FFF2-40B4-BE49-F238E27FC236}">
                <a16:creationId xmlns:a16="http://schemas.microsoft.com/office/drawing/2014/main" id="{838A0783-16E7-46A3-9BB4-4A391DB40224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 | t)p=sp | tp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85" name="文本框 6">
            <a:extLst>
              <a:ext uri="{FF2B5EF4-FFF2-40B4-BE49-F238E27FC236}">
                <a16:creationId xmlns:a16="http://schemas.microsoft.com/office/drawing/2014/main" id="{DCEA14D9-F586-4DE0-BEC5-E1BDAE995F2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(st) | p=(s | p)(t | p)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86" name="文本框 7">
            <a:extLst>
              <a:ext uri="{FF2B5EF4-FFF2-40B4-BE49-F238E27FC236}">
                <a16:creationId xmlns:a16="http://schemas.microsoft.com/office/drawing/2014/main" id="{C3B7FE2A-3C90-4BE6-8CD7-0B533272AB51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 | t)*=s* | t*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87" name="椭圆 8">
            <a:extLst>
              <a:ext uri="{FF2B5EF4-FFF2-40B4-BE49-F238E27FC236}">
                <a16:creationId xmlns:a16="http://schemas.microsoft.com/office/drawing/2014/main" id="{77DEDA35-D7F5-463C-9DE3-67B8A65CB33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88" name="椭圆 9">
            <a:extLst>
              <a:ext uri="{FF2B5EF4-FFF2-40B4-BE49-F238E27FC236}">
                <a16:creationId xmlns:a16="http://schemas.microsoft.com/office/drawing/2014/main" id="{CF88D61E-9A38-4705-81F1-88FB53DCC69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89" name="椭圆 10">
            <a:extLst>
              <a:ext uri="{FF2B5EF4-FFF2-40B4-BE49-F238E27FC236}">
                <a16:creationId xmlns:a16="http://schemas.microsoft.com/office/drawing/2014/main" id="{1D05F124-7FD0-4FDF-87A8-D63C5B67481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90" name="椭圆 11">
            <a:extLst>
              <a:ext uri="{FF2B5EF4-FFF2-40B4-BE49-F238E27FC236}">
                <a16:creationId xmlns:a16="http://schemas.microsoft.com/office/drawing/2014/main" id="{527E150F-0FDF-4173-8328-45567D360DC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8491" name="矩形: 圆角 12">
            <a:extLst>
              <a:ext uri="{FF2B5EF4-FFF2-40B4-BE49-F238E27FC236}">
                <a16:creationId xmlns:a16="http://schemas.microsoft.com/office/drawing/2014/main" id="{539F4D7C-2927-4E8B-A6C6-5064ABF4A5BE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8492" name="组合 17">
            <a:extLst>
              <a:ext uri="{FF2B5EF4-FFF2-40B4-BE49-F238E27FC236}">
                <a16:creationId xmlns:a16="http://schemas.microsoft.com/office/drawing/2014/main" id="{0E5DAEE3-8D41-4C72-AB86-9E0E87AE8DB0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8494" name="TitleBackground">
              <a:extLst>
                <a:ext uri="{FF2B5EF4-FFF2-40B4-BE49-F238E27FC236}">
                  <a16:creationId xmlns:a16="http://schemas.microsoft.com/office/drawing/2014/main" id="{17D04CB8-CE5C-4D2E-8F6F-992FB7DFB7C0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8495" name="ColorBlock">
              <a:extLst>
                <a:ext uri="{FF2B5EF4-FFF2-40B4-BE49-F238E27FC236}">
                  <a16:creationId xmlns:a16="http://schemas.microsoft.com/office/drawing/2014/main" id="{7B35E537-699B-4D88-80D3-E3B95666854B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8496" name="TypeText">
              <a:extLst>
                <a:ext uri="{FF2B5EF4-FFF2-40B4-BE49-F238E27FC236}">
                  <a16:creationId xmlns:a16="http://schemas.microsoft.com/office/drawing/2014/main" id="{C01319FD-35A4-4F6A-90FA-F0DDA685BB2F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8497" name="TipText">
              <a:extLst>
                <a:ext uri="{FF2B5EF4-FFF2-40B4-BE49-F238E27FC236}">
                  <a16:creationId xmlns:a16="http://schemas.microsoft.com/office/drawing/2014/main" id="{84C0E19F-CDC9-4E86-828E-1454E69C8D3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8493" name="图片 2">
            <a:extLst>
              <a:ext uri="{FF2B5EF4-FFF2-40B4-BE49-F238E27FC236}">
                <a16:creationId xmlns:a16="http://schemas.microsoft.com/office/drawing/2014/main" id="{75E608FE-F9FE-456E-982D-246435CA74F5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文本框 3">
            <a:extLst>
              <a:ext uri="{FF2B5EF4-FFF2-40B4-BE49-F238E27FC236}">
                <a16:creationId xmlns:a16="http://schemas.microsoft.com/office/drawing/2014/main" id="{815D84B8-F5EA-433C-93E5-DEA0385C737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下面的正则表达式和上下文无关文法，定义了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__________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的语言。</a:t>
            </a:r>
          </a:p>
        </p:txBody>
      </p:sp>
      <p:sp>
        <p:nvSpPr>
          <p:cNvPr id="149507" name="文本框 4">
            <a:extLst>
              <a:ext uri="{FF2B5EF4-FFF2-40B4-BE49-F238E27FC236}">
                <a16:creationId xmlns:a16="http://schemas.microsoft.com/office/drawing/2014/main" id="{D884AEAF-7686-403B-A932-568623479B6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40052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相同</a:t>
            </a:r>
          </a:p>
        </p:txBody>
      </p:sp>
      <p:sp>
        <p:nvSpPr>
          <p:cNvPr id="149508" name="文本框 5">
            <a:extLst>
              <a:ext uri="{FF2B5EF4-FFF2-40B4-BE49-F238E27FC236}">
                <a16:creationId xmlns:a16="http://schemas.microsoft.com/office/drawing/2014/main" id="{DF87D0D5-4881-4075-8FE4-BB75F285755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8625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不同</a:t>
            </a:r>
          </a:p>
        </p:txBody>
      </p:sp>
      <p:sp>
        <p:nvSpPr>
          <p:cNvPr id="149509" name="椭圆 8">
            <a:extLst>
              <a:ext uri="{FF2B5EF4-FFF2-40B4-BE49-F238E27FC236}">
                <a16:creationId xmlns:a16="http://schemas.microsoft.com/office/drawing/2014/main" id="{8E7F4E6B-2E15-442F-82C8-1F3F99C8840F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40687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9510" name="椭圆 9">
            <a:extLst>
              <a:ext uri="{FF2B5EF4-FFF2-40B4-BE49-F238E27FC236}">
                <a16:creationId xmlns:a16="http://schemas.microsoft.com/office/drawing/2014/main" id="{FD39002C-496D-4EA4-A0C7-AB10F98915B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49260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9511" name="矩形: 圆角 12">
            <a:extLst>
              <a:ext uri="{FF2B5EF4-FFF2-40B4-BE49-F238E27FC236}">
                <a16:creationId xmlns:a16="http://schemas.microsoft.com/office/drawing/2014/main" id="{A7A300BE-B8F3-4C2B-B844-021847C78F97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149512" name="图片 19">
            <a:extLst>
              <a:ext uri="{FF2B5EF4-FFF2-40B4-BE49-F238E27FC236}">
                <a16:creationId xmlns:a16="http://schemas.microsoft.com/office/drawing/2014/main" id="{B2FD2F5D-3E51-4287-98CA-4572E331B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2298700"/>
            <a:ext cx="6143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9513" name="组合 17">
            <a:extLst>
              <a:ext uri="{FF2B5EF4-FFF2-40B4-BE49-F238E27FC236}">
                <a16:creationId xmlns:a16="http://schemas.microsoft.com/office/drawing/2014/main" id="{75D2BF20-E82B-44E8-978E-05D4EA33C21F}"/>
              </a:ext>
            </a:extLst>
          </p:cNvPr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9515" name="TitleBackground">
              <a:extLst>
                <a:ext uri="{FF2B5EF4-FFF2-40B4-BE49-F238E27FC236}">
                  <a16:creationId xmlns:a16="http://schemas.microsoft.com/office/drawing/2014/main" id="{7E3CCDED-E48C-4F3A-8320-E419ADC64CB3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9516" name="ColorBlock">
              <a:extLst>
                <a:ext uri="{FF2B5EF4-FFF2-40B4-BE49-F238E27FC236}">
                  <a16:creationId xmlns:a16="http://schemas.microsoft.com/office/drawing/2014/main" id="{996C2A24-7FF8-459F-B630-D60CCE9194A8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9517" name="TypeText">
              <a:extLst>
                <a:ext uri="{FF2B5EF4-FFF2-40B4-BE49-F238E27FC236}">
                  <a16:creationId xmlns:a16="http://schemas.microsoft.com/office/drawing/2014/main" id="{05BBCF82-19FF-452F-8FB7-0AE03E5AF3B6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9518" name="TipText">
              <a:extLst>
                <a:ext uri="{FF2B5EF4-FFF2-40B4-BE49-F238E27FC236}">
                  <a16:creationId xmlns:a16="http://schemas.microsoft.com/office/drawing/2014/main" id="{158C9CBB-967F-40C5-AF51-0EC1D766DA3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9514" name="图片 2">
            <a:extLst>
              <a:ext uri="{FF2B5EF4-FFF2-40B4-BE49-F238E27FC236}">
                <a16:creationId xmlns:a16="http://schemas.microsoft.com/office/drawing/2014/main" id="{BC16F44A-DEB1-4408-86F4-378FC0D4D37F}"/>
              </a:ext>
            </a:extLst>
          </p:cNvPr>
          <p:cNvPicPr>
            <a:picLocks noChangeArrowheads="1"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文本框 3">
            <a:extLst>
              <a:ext uri="{FF2B5EF4-FFF2-40B4-BE49-F238E27FC236}">
                <a16:creationId xmlns:a16="http://schemas.microsoft.com/office/drawing/2014/main" id="{42F96278-F454-4FF9-BFB5-3FA5DD85F58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下列语言可以用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识别的是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50531" name="文本框 4">
            <a:extLst>
              <a:ext uri="{FF2B5EF4-FFF2-40B4-BE49-F238E27FC236}">
                <a16:creationId xmlns:a16="http://schemas.microsoft.com/office/drawing/2014/main" id="{ABCEB69A-E3D0-4974-AA1D-2E59972E71B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形如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串集合</a:t>
            </a:r>
          </a:p>
        </p:txBody>
      </p:sp>
      <p:sp>
        <p:nvSpPr>
          <p:cNvPr id="150532" name="文本框 5">
            <a:extLst>
              <a:ext uri="{FF2B5EF4-FFF2-40B4-BE49-F238E27FC236}">
                <a16:creationId xmlns:a16="http://schemas.microsoft.com/office/drawing/2014/main" id="{DBCB8915-50F0-4054-874E-FA66DE0629F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形如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xx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的逆序串）的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串集合</a:t>
            </a:r>
          </a:p>
        </p:txBody>
      </p:sp>
      <p:sp>
        <p:nvSpPr>
          <p:cNvPr id="150533" name="文本框 6">
            <a:extLst>
              <a:ext uri="{FF2B5EF4-FFF2-40B4-BE49-F238E27FC236}">
                <a16:creationId xmlns:a16="http://schemas.microsoft.com/office/drawing/2014/main" id="{B82B3197-BFBB-4735-AB87-C26CED7F39A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while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语句集合</a:t>
            </a:r>
          </a:p>
        </p:txBody>
      </p:sp>
      <p:sp>
        <p:nvSpPr>
          <p:cNvPr id="150534" name="文本框 7">
            <a:extLst>
              <a:ext uri="{FF2B5EF4-FFF2-40B4-BE49-F238E27FC236}">
                <a16:creationId xmlns:a16="http://schemas.microsoft.com/office/drawing/2014/main" id="{B022FBD8-50F7-4FA1-8E6C-D01F4ACB052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SLR(1)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文法的活前缀集合</a:t>
            </a:r>
          </a:p>
        </p:txBody>
      </p:sp>
      <p:sp>
        <p:nvSpPr>
          <p:cNvPr id="150535" name="椭圆 8">
            <a:extLst>
              <a:ext uri="{FF2B5EF4-FFF2-40B4-BE49-F238E27FC236}">
                <a16:creationId xmlns:a16="http://schemas.microsoft.com/office/drawing/2014/main" id="{1E75EEC2-B342-40AF-9BFC-45076A199AE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0536" name="椭圆 9">
            <a:extLst>
              <a:ext uri="{FF2B5EF4-FFF2-40B4-BE49-F238E27FC236}">
                <a16:creationId xmlns:a16="http://schemas.microsoft.com/office/drawing/2014/main" id="{DDDDF892-57AA-4117-85C8-3616A7F1255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0537" name="椭圆 10">
            <a:extLst>
              <a:ext uri="{FF2B5EF4-FFF2-40B4-BE49-F238E27FC236}">
                <a16:creationId xmlns:a16="http://schemas.microsoft.com/office/drawing/2014/main" id="{E89F1209-3460-498B-BD53-01BCB7B3F96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0538" name="椭圆 11">
            <a:extLst>
              <a:ext uri="{FF2B5EF4-FFF2-40B4-BE49-F238E27FC236}">
                <a16:creationId xmlns:a16="http://schemas.microsoft.com/office/drawing/2014/main" id="{DBF2B303-7A2C-4AD8-BC43-16E658EF800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0539" name="矩形: 圆角 12">
            <a:extLst>
              <a:ext uri="{FF2B5EF4-FFF2-40B4-BE49-F238E27FC236}">
                <a16:creationId xmlns:a16="http://schemas.microsoft.com/office/drawing/2014/main" id="{E75B69CC-6E21-4484-B812-92147EF76855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50540" name="组合 17">
            <a:extLst>
              <a:ext uri="{FF2B5EF4-FFF2-40B4-BE49-F238E27FC236}">
                <a16:creationId xmlns:a16="http://schemas.microsoft.com/office/drawing/2014/main" id="{46ECE0AF-CE3C-4EFF-8798-B01FD13F71B7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0542" name="TitleBackground">
              <a:extLst>
                <a:ext uri="{FF2B5EF4-FFF2-40B4-BE49-F238E27FC236}">
                  <a16:creationId xmlns:a16="http://schemas.microsoft.com/office/drawing/2014/main" id="{F6F2897F-A85F-40F7-BC9B-634DE043BC89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0543" name="ColorBlock">
              <a:extLst>
                <a:ext uri="{FF2B5EF4-FFF2-40B4-BE49-F238E27FC236}">
                  <a16:creationId xmlns:a16="http://schemas.microsoft.com/office/drawing/2014/main" id="{A2E84B4C-EBB2-4F3B-98E3-43071EFC012E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0544" name="TypeText">
              <a:extLst>
                <a:ext uri="{FF2B5EF4-FFF2-40B4-BE49-F238E27FC236}">
                  <a16:creationId xmlns:a16="http://schemas.microsoft.com/office/drawing/2014/main" id="{86E82D22-7BFC-48EF-9F48-13EB978402E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50545" name="TipText">
              <a:extLst>
                <a:ext uri="{FF2B5EF4-FFF2-40B4-BE49-F238E27FC236}">
                  <a16:creationId xmlns:a16="http://schemas.microsoft.com/office/drawing/2014/main" id="{55ECBEC4-B4FA-48E5-BCE4-61CF6D450B2F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50541" name="图片 2">
            <a:extLst>
              <a:ext uri="{FF2B5EF4-FFF2-40B4-BE49-F238E27FC236}">
                <a16:creationId xmlns:a16="http://schemas.microsoft.com/office/drawing/2014/main" id="{1B7A6752-5FD4-4E09-86CF-C8344AA1BE3D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文本框 3">
            <a:extLst>
              <a:ext uri="{FF2B5EF4-FFF2-40B4-BE49-F238E27FC236}">
                <a16:creationId xmlns:a16="http://schemas.microsoft.com/office/drawing/2014/main" id="{E9B52709-8C40-4E65-9875-65E6D2634B3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下列哪个语言可以用正则表达式描述？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51555" name="文本框 4">
            <a:extLst>
              <a:ext uri="{FF2B5EF4-FFF2-40B4-BE49-F238E27FC236}">
                <a16:creationId xmlns:a16="http://schemas.microsoft.com/office/drawing/2014/main" id="{1B12E32C-F3FF-4DEA-8889-4014B15DCCB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a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| n&gt;=0}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56" name="文本框 5">
            <a:extLst>
              <a:ext uri="{FF2B5EF4-FFF2-40B4-BE49-F238E27FC236}">
                <a16:creationId xmlns:a16="http://schemas.microsoft.com/office/drawing/2014/main" id="{08AE08EC-09D9-4042-B9D7-5FF29F43122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(ab)</a:t>
            </a:r>
            <a:r>
              <a:rPr lang="en-US" altLang="zh-CN" sz="2600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| n&gt;=0}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57" name="文本框 6">
            <a:extLst>
              <a:ext uri="{FF2B5EF4-FFF2-40B4-BE49-F238E27FC236}">
                <a16:creationId xmlns:a16="http://schemas.microsoft.com/office/drawing/2014/main" id="{01726AE9-7810-4299-B0A9-6BE8CEB705B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wcw | w∈(a | b)*}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58" name="文本框 7">
            <a:extLst>
              <a:ext uri="{FF2B5EF4-FFF2-40B4-BE49-F238E27FC236}">
                <a16:creationId xmlns:a16="http://schemas.microsoft.com/office/drawing/2014/main" id="{25164A9F-4DDA-4973-8CD2-1543446C7C27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以上均不对</a:t>
            </a:r>
          </a:p>
        </p:txBody>
      </p:sp>
      <p:sp>
        <p:nvSpPr>
          <p:cNvPr id="151559" name="椭圆 8">
            <a:extLst>
              <a:ext uri="{FF2B5EF4-FFF2-40B4-BE49-F238E27FC236}">
                <a16:creationId xmlns:a16="http://schemas.microsoft.com/office/drawing/2014/main" id="{A9C20B80-91C1-4187-8C4A-13FE431104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60" name="椭圆 9">
            <a:extLst>
              <a:ext uri="{FF2B5EF4-FFF2-40B4-BE49-F238E27FC236}">
                <a16:creationId xmlns:a16="http://schemas.microsoft.com/office/drawing/2014/main" id="{6CE675A6-13F2-4FC7-A296-BE9DDCDFDEB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61" name="椭圆 10">
            <a:extLst>
              <a:ext uri="{FF2B5EF4-FFF2-40B4-BE49-F238E27FC236}">
                <a16:creationId xmlns:a16="http://schemas.microsoft.com/office/drawing/2014/main" id="{2E469C7F-ACB1-4C93-8783-45DDD6AAB0B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62" name="椭圆 11">
            <a:extLst>
              <a:ext uri="{FF2B5EF4-FFF2-40B4-BE49-F238E27FC236}">
                <a16:creationId xmlns:a16="http://schemas.microsoft.com/office/drawing/2014/main" id="{E76EFDD2-C85E-4C73-A78B-35DEBB20A36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1563" name="矩形: 圆角 12">
            <a:extLst>
              <a:ext uri="{FF2B5EF4-FFF2-40B4-BE49-F238E27FC236}">
                <a16:creationId xmlns:a16="http://schemas.microsoft.com/office/drawing/2014/main" id="{40A9743F-53FE-45A5-BAEB-0240E32F014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51564" name="组合 17">
            <a:extLst>
              <a:ext uri="{FF2B5EF4-FFF2-40B4-BE49-F238E27FC236}">
                <a16:creationId xmlns:a16="http://schemas.microsoft.com/office/drawing/2014/main" id="{5C0806DA-7A7E-4F66-9C81-FA701F32F2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1566" name="TitleBackground">
              <a:extLst>
                <a:ext uri="{FF2B5EF4-FFF2-40B4-BE49-F238E27FC236}">
                  <a16:creationId xmlns:a16="http://schemas.microsoft.com/office/drawing/2014/main" id="{B4369EA4-185E-4336-8AE9-1D72C0E33764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1567" name="ColorBlock">
              <a:extLst>
                <a:ext uri="{FF2B5EF4-FFF2-40B4-BE49-F238E27FC236}">
                  <a16:creationId xmlns:a16="http://schemas.microsoft.com/office/drawing/2014/main" id="{AEE56A93-C203-455A-BA39-315BE17BCE5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1568" name="TypeText">
              <a:extLst>
                <a:ext uri="{FF2B5EF4-FFF2-40B4-BE49-F238E27FC236}">
                  <a16:creationId xmlns:a16="http://schemas.microsoft.com/office/drawing/2014/main" id="{FB571403-5B3D-460A-8464-C1560496DE81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51569" name="TipText">
              <a:extLst>
                <a:ext uri="{FF2B5EF4-FFF2-40B4-BE49-F238E27FC236}">
                  <a16:creationId xmlns:a16="http://schemas.microsoft.com/office/drawing/2014/main" id="{9841CBCF-CC54-497A-A2AA-7C5D92291126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51565" name="图片 2">
            <a:extLst>
              <a:ext uri="{FF2B5EF4-FFF2-40B4-BE49-F238E27FC236}">
                <a16:creationId xmlns:a16="http://schemas.microsoft.com/office/drawing/2014/main" id="{2C661F5B-1959-45E4-A948-3BA40CEE78BE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文本框 3">
            <a:extLst>
              <a:ext uri="{FF2B5EF4-FFF2-40B4-BE49-F238E27FC236}">
                <a16:creationId xmlns:a16="http://schemas.microsoft.com/office/drawing/2014/main" id="{3D5A1809-B1BE-49F2-8E2C-6B13978913F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下面等式错误的是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___________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52579" name="文本框 4">
            <a:extLst>
              <a:ext uri="{FF2B5EF4-FFF2-40B4-BE49-F238E27FC236}">
                <a16:creationId xmlns:a16="http://schemas.microsoft.com/office/drawing/2014/main" id="{EDE2BE43-1203-41A6-AE4A-7046329826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(0* | 1)*(2 | 3)=0*(2 | 3) | 1(2 | 3)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0" name="文本框 5">
            <a:extLst>
              <a:ext uri="{FF2B5EF4-FFF2-40B4-BE49-F238E27FC236}">
                <a16:creationId xmlns:a16="http://schemas.microsoft.com/office/drawing/2014/main" id="{A91079DF-7411-4116-A696-3A5B75C215D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(0* | 1)*(2 | 3)=(0* | 1)*2 | (0* | 1)*3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1" name="文本框 6">
            <a:extLst>
              <a:ext uri="{FF2B5EF4-FFF2-40B4-BE49-F238E27FC236}">
                <a16:creationId xmlns:a16="http://schemas.microsoft.com/office/drawing/2014/main" id="{3FAF09BB-39E9-4753-819C-9D9D77829C17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(0* | 1)*(2 | 3)=(0 | 1)*(2 | 3)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2" name="文本框 7">
            <a:extLst>
              <a:ext uri="{FF2B5EF4-FFF2-40B4-BE49-F238E27FC236}">
                <a16:creationId xmlns:a16="http://schemas.microsoft.com/office/drawing/2014/main" id="{5558301C-688B-447A-8820-6FAC623FB73D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(0* | 1)*(2 | 3)=(0 | 1)*2 | (0 | 1)*3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3" name="椭圆 8">
            <a:extLst>
              <a:ext uri="{FF2B5EF4-FFF2-40B4-BE49-F238E27FC236}">
                <a16:creationId xmlns:a16="http://schemas.microsoft.com/office/drawing/2014/main" id="{078E318B-B65E-4745-AFEB-438D5116CA1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4" name="椭圆 9">
            <a:extLst>
              <a:ext uri="{FF2B5EF4-FFF2-40B4-BE49-F238E27FC236}">
                <a16:creationId xmlns:a16="http://schemas.microsoft.com/office/drawing/2014/main" id="{B9D6A3DA-2CD0-4CA7-BD1F-8153D22E9F1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5" name="椭圆 10">
            <a:extLst>
              <a:ext uri="{FF2B5EF4-FFF2-40B4-BE49-F238E27FC236}">
                <a16:creationId xmlns:a16="http://schemas.microsoft.com/office/drawing/2014/main" id="{FF8F0807-0E12-4991-9972-962B1294140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6" name="椭圆 11">
            <a:extLst>
              <a:ext uri="{FF2B5EF4-FFF2-40B4-BE49-F238E27FC236}">
                <a16:creationId xmlns:a16="http://schemas.microsoft.com/office/drawing/2014/main" id="{958DA9F0-40A6-4ED1-BE30-F4C988DF045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2587" name="矩形: 圆角 12">
            <a:extLst>
              <a:ext uri="{FF2B5EF4-FFF2-40B4-BE49-F238E27FC236}">
                <a16:creationId xmlns:a16="http://schemas.microsoft.com/office/drawing/2014/main" id="{EF9089B9-B625-4558-8981-9AD1FADDF0BB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52588" name="组合 17">
            <a:extLst>
              <a:ext uri="{FF2B5EF4-FFF2-40B4-BE49-F238E27FC236}">
                <a16:creationId xmlns:a16="http://schemas.microsoft.com/office/drawing/2014/main" id="{003E56D7-E95A-46E8-818F-F519A823AB51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2590" name="TitleBackground">
              <a:extLst>
                <a:ext uri="{FF2B5EF4-FFF2-40B4-BE49-F238E27FC236}">
                  <a16:creationId xmlns:a16="http://schemas.microsoft.com/office/drawing/2014/main" id="{5F733AF0-4876-4477-8385-E2E4EEB0D98E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2591" name="ColorBlock">
              <a:extLst>
                <a:ext uri="{FF2B5EF4-FFF2-40B4-BE49-F238E27FC236}">
                  <a16:creationId xmlns:a16="http://schemas.microsoft.com/office/drawing/2014/main" id="{96C28713-6E42-4ED0-BE42-AB2FAEF321E1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52592" name="TypeText">
              <a:extLst>
                <a:ext uri="{FF2B5EF4-FFF2-40B4-BE49-F238E27FC236}">
                  <a16:creationId xmlns:a16="http://schemas.microsoft.com/office/drawing/2014/main" id="{203AED70-2D00-49CC-8582-1D971D216A70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52593" name="TipText">
              <a:extLst>
                <a:ext uri="{FF2B5EF4-FFF2-40B4-BE49-F238E27FC236}">
                  <a16:creationId xmlns:a16="http://schemas.microsoft.com/office/drawing/2014/main" id="{A8CDB4C7-937A-4A39-9E7B-AACE9CD99D3F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52589" name="图片 2">
            <a:extLst>
              <a:ext uri="{FF2B5EF4-FFF2-40B4-BE49-F238E27FC236}">
                <a16:creationId xmlns:a16="http://schemas.microsoft.com/office/drawing/2014/main" id="{44EB4D14-E018-4D28-90A5-A276F780F876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itchFamily="18" charset="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itchFamily="18" charset="2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8600</TotalTime>
  <Words>12390</Words>
  <Application>Microsoft Office PowerPoint</Application>
  <PresentationFormat>全屏显示(4:3)</PresentationFormat>
  <Paragraphs>1881</Paragraphs>
  <Slides>153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153</vt:i4>
      </vt:variant>
    </vt:vector>
  </HeadingPairs>
  <TitlesOfParts>
    <vt:vector size="163" baseType="lpstr">
      <vt:lpstr>.苹方-简 常规体</vt:lpstr>
      <vt:lpstr>宋体</vt:lpstr>
      <vt:lpstr>Microsoft Yahei</vt:lpstr>
      <vt:lpstr>Courier New</vt:lpstr>
      <vt:lpstr>Monotype Corsiva</vt:lpstr>
      <vt:lpstr>Symbol</vt:lpstr>
      <vt:lpstr>Tahoma</vt:lpstr>
      <vt:lpstr>Times New Roman</vt:lpstr>
      <vt:lpstr>Wingdings</vt:lpstr>
      <vt:lpstr>Blends</vt:lpstr>
      <vt:lpstr>第四章  语法分析</vt:lpstr>
      <vt:lpstr>学习重点</vt:lpstr>
      <vt:lpstr>概述</vt:lpstr>
      <vt:lpstr>4.1  语法分析器的角色</vt:lpstr>
      <vt:lpstr>三类语法分析器</vt:lpstr>
      <vt:lpstr>4.1.1  语法错误处理</vt:lpstr>
      <vt:lpstr>错误处理目标</vt:lpstr>
      <vt:lpstr>例4.1</vt:lpstr>
      <vt:lpstr>例4.1（续）</vt:lpstr>
      <vt:lpstr>4.1.2  错误恢复策略</vt:lpstr>
      <vt:lpstr>错误恢复策略（续）</vt:lpstr>
      <vt:lpstr>错误恢复策略（续）</vt:lpstr>
      <vt:lpstr>错误恢复策略（续）</vt:lpstr>
      <vt:lpstr>4.2  上下文无关文法</vt:lpstr>
      <vt:lpstr>例4.2：简单表达式</vt:lpstr>
      <vt:lpstr>4.2.1  符号约定</vt:lpstr>
      <vt:lpstr>符号约定（续）</vt:lpstr>
      <vt:lpstr>符号约定（续）</vt:lpstr>
      <vt:lpstr>例4.3  利用符号约定简化文法</vt:lpstr>
      <vt:lpstr>4.2.2  推导（derivation）</vt:lpstr>
      <vt:lpstr>推导（续）</vt:lpstr>
      <vt:lpstr>定义</vt:lpstr>
      <vt:lpstr>推导与语言的关系</vt:lpstr>
      <vt:lpstr>例4.4</vt:lpstr>
      <vt:lpstr>最左推导和最右推导</vt:lpstr>
      <vt:lpstr>4.2.3  语法分析树和推导</vt:lpstr>
      <vt:lpstr>语法树与推导的关系</vt:lpstr>
      <vt:lpstr>例4.5</vt:lpstr>
      <vt:lpstr>例4.5</vt:lpstr>
      <vt:lpstr>4.2.4  二义性文法（例4.6）</vt:lpstr>
      <vt:lpstr>4.3  设计CFG</vt:lpstr>
      <vt:lpstr>正规式与上下文无关文法</vt:lpstr>
      <vt:lpstr>NFACFG</vt:lpstr>
      <vt:lpstr>NFACFG</vt:lpstr>
      <vt:lpstr>为什么还需要正规式？</vt:lpstr>
      <vt:lpstr>4.3.2  CFG的验证</vt:lpstr>
      <vt:lpstr>一、S推导出的句子都L</vt:lpstr>
      <vt:lpstr>二、L中的符号串S都可推导出</vt:lpstr>
      <vt:lpstr>设计CFG练习</vt:lpstr>
      <vt:lpstr>不包含子串011的0/1串</vt:lpstr>
      <vt:lpstr>形如xy(x≠y)的01串</vt:lpstr>
      <vt:lpstr>设计CFG的难点</vt:lpstr>
      <vt:lpstr>CFG的修改</vt:lpstr>
      <vt:lpstr>4.3.3  消除二义性</vt:lpstr>
      <vt:lpstr>无二义性的句子</vt:lpstr>
      <vt:lpstr>二义性句子</vt:lpstr>
      <vt:lpstr>两个语法树</vt:lpstr>
      <vt:lpstr>两个语法树（续）</vt:lpstr>
      <vt:lpstr>消除二义性</vt:lpstr>
      <vt:lpstr>4.3.4  消除左递归</vt:lpstr>
      <vt:lpstr>例4.8</vt:lpstr>
      <vt:lpstr>算法4.1：消除间接左递归</vt:lpstr>
      <vt:lpstr>例4.9</vt:lpstr>
      <vt:lpstr>补充：消除e产生式</vt:lpstr>
      <vt:lpstr>补充：消除e产生式（续）</vt:lpstr>
      <vt:lpstr>补充：消除回路</vt:lpstr>
      <vt:lpstr>4.3.5  提取左公因子</vt:lpstr>
      <vt:lpstr>算法4.2 提取左公因子</vt:lpstr>
      <vt:lpstr>例4.10</vt:lpstr>
      <vt:lpstr>4.3.6  CFG无法描述的语言结构</vt:lpstr>
      <vt:lpstr>CFG无法描述的语言结构(续)</vt:lpstr>
      <vt:lpstr>类似语言可用CFG描述</vt:lpstr>
      <vt:lpstr>L3’用正规式无法描述</vt:lpstr>
      <vt:lpstr>L3’用正规式无法描述（续）</vt:lpstr>
      <vt:lpstr>4.9  Yacc</vt:lpstr>
      <vt:lpstr>Yacc程序（续）</vt:lpstr>
      <vt:lpstr>Yacc程序（续）</vt:lpstr>
      <vt:lpstr>Yacc程序（续）</vt:lpstr>
      <vt:lpstr>Lex程序（续）</vt:lpstr>
      <vt:lpstr>4.9.4  Yacc的错误恢复</vt:lpstr>
      <vt:lpstr>Yacc的错误恢复</vt:lpstr>
      <vt:lpstr>例4.52  台式计算器的错误恢复</vt:lpstr>
      <vt:lpstr>4.4  自顶向下语法分析</vt:lpstr>
      <vt:lpstr>学习内容</vt:lpstr>
      <vt:lpstr>4.4.1  递归下降分析方法</vt:lpstr>
      <vt:lpstr>例4.14</vt:lpstr>
      <vt:lpstr>4.4.2  预测分析方法</vt:lpstr>
      <vt:lpstr>4.4.3  利用状态转换图</vt:lpstr>
      <vt:lpstr>例4.15</vt:lpstr>
      <vt:lpstr>例4.15</vt:lpstr>
      <vt:lpstr>PowerPoint 演示文稿</vt:lpstr>
      <vt:lpstr>使用TD（代码示例）</vt:lpstr>
      <vt:lpstr>使用TD（代码示例）</vt:lpstr>
      <vt:lpstr>使用TD（代码示例）</vt:lpstr>
      <vt:lpstr>TD的化简</vt:lpstr>
      <vt:lpstr>TD的化简</vt:lpstr>
      <vt:lpstr>完整的化简</vt:lpstr>
      <vt:lpstr>4.4.4  非递归预测分析方法</vt:lpstr>
      <vt:lpstr>预测分析器运行方法</vt:lpstr>
      <vt:lpstr>算法4.3  非递归预测分析方法</vt:lpstr>
      <vt:lpstr>算法4.3（续）</vt:lpstr>
      <vt:lpstr>例4.16</vt:lpstr>
      <vt:lpstr>例4.16（续）</vt:lpstr>
      <vt:lpstr>4.4.5  FIRST和FOLLOW</vt:lpstr>
      <vt:lpstr>FIRST和FOLLOW</vt:lpstr>
      <vt:lpstr>计算单个符号的FIRST函数</vt:lpstr>
      <vt:lpstr>计算符号串的FIRST函数</vt:lpstr>
      <vt:lpstr>例4.17</vt:lpstr>
      <vt:lpstr>例4.17  最终结果</vt:lpstr>
      <vt:lpstr>例</vt:lpstr>
      <vt:lpstr>计算FOLLOW(A)——非终结符</vt:lpstr>
      <vt:lpstr>二次扫描算法计算FOLLOW</vt:lpstr>
      <vt:lpstr>例4.17</vt:lpstr>
      <vt:lpstr>例</vt:lpstr>
      <vt:lpstr>FIRST与预测分析</vt:lpstr>
      <vt:lpstr>FIRST与预测分析</vt:lpstr>
      <vt:lpstr>FIRST与预测分析</vt:lpstr>
      <vt:lpstr>FIRST与预测分析</vt:lpstr>
      <vt:lpstr>FIRST与预测分析</vt:lpstr>
      <vt:lpstr>FIRST与预测分析</vt:lpstr>
      <vt:lpstr>FOLLOW与预测分析</vt:lpstr>
      <vt:lpstr>FOLLOW与预测分析</vt:lpstr>
      <vt:lpstr>FOLLOW与预测分析</vt:lpstr>
      <vt:lpstr>FOLLOW与预测分析</vt:lpstr>
      <vt:lpstr>FOLLOW与预测分析</vt:lpstr>
      <vt:lpstr>FIRST&amp;FOLLOW与预测分析</vt:lpstr>
      <vt:lpstr>FIRST&amp;FOLLOW的作用</vt:lpstr>
      <vt:lpstr>FIRST作用（续）</vt:lpstr>
      <vt:lpstr>FOLLOW的作用</vt:lpstr>
      <vt:lpstr>FOLLOW的作用（续）</vt:lpstr>
      <vt:lpstr>4.4.6  预测分析表的构造</vt:lpstr>
      <vt:lpstr>例4.18</vt:lpstr>
      <vt:lpstr>例4.19</vt:lpstr>
      <vt:lpstr>4.4.7  LL(1)文法</vt:lpstr>
      <vt:lpstr>LL(1)文法的特性</vt:lpstr>
      <vt:lpstr>4.4.8  预测分析法的错误恢复</vt:lpstr>
      <vt:lpstr>Panic模式恢复策略</vt:lpstr>
      <vt:lpstr>例4.20</vt:lpstr>
      <vt:lpstr>例4.20（续）</vt:lpstr>
      <vt:lpstr>产生错误信息</vt:lpstr>
      <vt:lpstr>产生错误信息（续）</vt:lpstr>
      <vt:lpstr>产生错误信息（续）</vt:lpstr>
      <vt:lpstr>短语级错误恢复</vt:lpstr>
      <vt:lpstr>预测分析器的实现</vt:lpstr>
      <vt:lpstr>修改后的预测分析表</vt:lpstr>
      <vt:lpstr>修改后的预测分析表（续）</vt:lpstr>
      <vt:lpstr>程序框架</vt:lpstr>
      <vt:lpstr>lcc的语法分析——表达式</vt:lpstr>
      <vt:lpstr>lcc的语法分析——表达式</vt:lpstr>
      <vt:lpstr>lcc的语法分析——表达式</vt:lpstr>
      <vt:lpstr>赋值表达式</vt:lpstr>
      <vt:lpstr>赋值表达式</vt:lpstr>
      <vt:lpstr>二元表达式</vt:lpstr>
      <vt:lpstr>消除递归</vt:lpstr>
      <vt:lpstr>自顶向下分析——总结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刚 王</cp:lastModifiedBy>
  <cp:revision>1145</cp:revision>
  <dcterms:created xsi:type="dcterms:W3CDTF">2003-06-05T11:51:39Z</dcterms:created>
  <dcterms:modified xsi:type="dcterms:W3CDTF">2025-10-17T01:41:30Z</dcterms:modified>
</cp:coreProperties>
</file>